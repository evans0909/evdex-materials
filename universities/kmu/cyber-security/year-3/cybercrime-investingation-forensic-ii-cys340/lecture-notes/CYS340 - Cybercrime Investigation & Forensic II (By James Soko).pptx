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0" r:id="rId1"/>
  </p:sldMasterIdLst>
  <p:notesMasterIdLst>
    <p:notesMasterId r:id="rId1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2"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46" r:id="rId63"/>
    <p:sldId id="347" r:id="rId64"/>
    <p:sldId id="348" r:id="rId65"/>
    <p:sldId id="349" r:id="rId66"/>
    <p:sldId id="350" r:id="rId67"/>
    <p:sldId id="351" r:id="rId68"/>
    <p:sldId id="360" r:id="rId69"/>
    <p:sldId id="361" r:id="rId70"/>
    <p:sldId id="362" r:id="rId71"/>
    <p:sldId id="363" r:id="rId72"/>
    <p:sldId id="364" r:id="rId73"/>
    <p:sldId id="352" r:id="rId74"/>
    <p:sldId id="353" r:id="rId75"/>
    <p:sldId id="354" r:id="rId76"/>
    <p:sldId id="355" r:id="rId77"/>
    <p:sldId id="356" r:id="rId78"/>
    <p:sldId id="357" r:id="rId79"/>
    <p:sldId id="358" r:id="rId80"/>
    <p:sldId id="359" r:id="rId81"/>
    <p:sldId id="365" r:id="rId82"/>
    <p:sldId id="317" r:id="rId83"/>
    <p:sldId id="318" r:id="rId84"/>
    <p:sldId id="319" r:id="rId85"/>
    <p:sldId id="320" r:id="rId86"/>
    <p:sldId id="321" r:id="rId87"/>
    <p:sldId id="322" r:id="rId88"/>
    <p:sldId id="323" r:id="rId89"/>
    <p:sldId id="324" r:id="rId90"/>
    <p:sldId id="329" r:id="rId91"/>
    <p:sldId id="330" r:id="rId92"/>
    <p:sldId id="325" r:id="rId93"/>
    <p:sldId id="326" r:id="rId94"/>
    <p:sldId id="327" r:id="rId95"/>
    <p:sldId id="328" r:id="rId96"/>
    <p:sldId id="331" r:id="rId97"/>
    <p:sldId id="332" r:id="rId98"/>
    <p:sldId id="333" r:id="rId99"/>
    <p:sldId id="334" r:id="rId100"/>
    <p:sldId id="335" r:id="rId101"/>
    <p:sldId id="336" r:id="rId102"/>
    <p:sldId id="337" r:id="rId103"/>
    <p:sldId id="338" r:id="rId104"/>
    <p:sldId id="339" r:id="rId105"/>
    <p:sldId id="340" r:id="rId106"/>
    <p:sldId id="341" r:id="rId107"/>
    <p:sldId id="342" r:id="rId108"/>
    <p:sldId id="343" r:id="rId109"/>
    <p:sldId id="344" r:id="rId110"/>
    <p:sldId id="345" r:id="rId111"/>
    <p:sldId id="366" r:id="rId112"/>
    <p:sldId id="367" r:id="rId113"/>
    <p:sldId id="368" r:id="rId114"/>
    <p:sldId id="369" r:id="rId115"/>
    <p:sldId id="370" r:id="rId116"/>
    <p:sldId id="371" r:id="rId117"/>
    <p:sldId id="372" r:id="rId118"/>
    <p:sldId id="373" r:id="rId119"/>
    <p:sldId id="374" r:id="rId1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0" d="100"/>
          <a:sy n="40" d="100"/>
        </p:scale>
        <p:origin x="36" y="7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35680F-7315-469B-8B2A-72F2D1651894}" type="datetimeFigureOut">
              <a:rPr lang="LID4096" smtClean="0"/>
              <a:t>10/20/2025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8BD83C-C913-488B-923E-880CAD5499E8}" type="slidenum">
              <a:rPr lang="LID4096" smtClean="0"/>
              <a:t>‹#›</a:t>
            </a:fld>
            <a:endParaRPr lang="LID4096"/>
          </a:p>
        </p:txBody>
      </p:sp>
    </p:spTree>
    <p:extLst>
      <p:ext uri="{BB962C8B-B14F-4D97-AF65-F5344CB8AC3E}">
        <p14:creationId xmlns:p14="http://schemas.microsoft.com/office/powerpoint/2010/main" val="215536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D22CE4F1-C285-46CC-B657-86E334108519}" type="datetime1">
              <a:rPr lang="LID4096" smtClean="0"/>
              <a:t>10/20/2025</a:t>
            </a:fld>
            <a:endParaRPr lang="LID4096"/>
          </a:p>
        </p:txBody>
      </p:sp>
      <p:sp>
        <p:nvSpPr>
          <p:cNvPr id="5" name="Footer Placeholder 4"/>
          <p:cNvSpPr>
            <a:spLocks noGrp="1"/>
          </p:cNvSpPr>
          <p:nvPr>
            <p:ph type="ftr" sz="quarter" idx="11"/>
          </p:nvPr>
        </p:nvSpPr>
        <p:spPr>
          <a:xfrm>
            <a:off x="1876424" y="5410201"/>
            <a:ext cx="5124886" cy="365125"/>
          </a:xfrm>
        </p:spPr>
        <p:txBody>
          <a:bodyPr/>
          <a:lstStyle/>
          <a:p>
            <a:r>
              <a:rPr lang="en-US" dirty="0"/>
              <a:t>Prepared by James Soko for Mr. Ngosa Gatham © 2025 Kapasa Makasa University </a:t>
            </a:r>
            <a:endParaRPr lang="LID4096" dirty="0"/>
          </a:p>
        </p:txBody>
      </p:sp>
      <p:sp>
        <p:nvSpPr>
          <p:cNvPr id="6" name="Slide Number Placeholder 5"/>
          <p:cNvSpPr>
            <a:spLocks noGrp="1"/>
          </p:cNvSpPr>
          <p:nvPr>
            <p:ph type="sldNum" sz="quarter" idx="12"/>
          </p:nvPr>
        </p:nvSpPr>
        <p:spPr>
          <a:xfrm>
            <a:off x="9896911" y="5410199"/>
            <a:ext cx="771089" cy="365125"/>
          </a:xfrm>
        </p:spPr>
        <p:txBody>
          <a:bodyPr/>
          <a:lstStyle/>
          <a:p>
            <a:fld id="{E153A30B-AAA6-4D3D-89E9-8F9473C4CEC0}" type="slidenum">
              <a:rPr lang="LID4096" smtClean="0"/>
              <a:t>‹#›</a:t>
            </a:fld>
            <a:endParaRPr lang="LID4096"/>
          </a:p>
        </p:txBody>
      </p:sp>
    </p:spTree>
    <p:extLst>
      <p:ext uri="{BB962C8B-B14F-4D97-AF65-F5344CB8AC3E}">
        <p14:creationId xmlns:p14="http://schemas.microsoft.com/office/powerpoint/2010/main" val="3374645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60B379-6C61-41FB-8B37-AB5D47A063AA}" type="datetime1">
              <a:rPr lang="LID4096" smtClean="0"/>
              <a:t>10/20/2025</a:t>
            </a:fld>
            <a:endParaRPr lang="LID4096"/>
          </a:p>
        </p:txBody>
      </p:sp>
      <p:sp>
        <p:nvSpPr>
          <p:cNvPr id="5" name="Footer Placeholder 4"/>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6" name="Slide Number Placeholder 5"/>
          <p:cNvSpPr>
            <a:spLocks noGrp="1"/>
          </p:cNvSpPr>
          <p:nvPr>
            <p:ph type="sldNum" sz="quarter" idx="12"/>
          </p:nvPr>
        </p:nvSpPr>
        <p:spPr/>
        <p:txBody>
          <a:bodyPr/>
          <a:lstStyle/>
          <a:p>
            <a:fld id="{E153A30B-AAA6-4D3D-89E9-8F9473C4CEC0}" type="slidenum">
              <a:rPr lang="LID4096" smtClean="0"/>
              <a:t>‹#›</a:t>
            </a:fld>
            <a:endParaRPr lang="LID4096"/>
          </a:p>
        </p:txBody>
      </p:sp>
    </p:spTree>
    <p:extLst>
      <p:ext uri="{BB962C8B-B14F-4D97-AF65-F5344CB8AC3E}">
        <p14:creationId xmlns:p14="http://schemas.microsoft.com/office/powerpoint/2010/main" val="3550337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18097A-0685-49BF-8E70-6F81573E54BD}" type="datetime1">
              <a:rPr lang="LID4096" smtClean="0"/>
              <a:t>10/20/2025</a:t>
            </a:fld>
            <a:endParaRPr lang="LID4096"/>
          </a:p>
        </p:txBody>
      </p:sp>
      <p:sp>
        <p:nvSpPr>
          <p:cNvPr id="5" name="Footer Placeholder 4"/>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6" name="Slide Number Placeholder 5"/>
          <p:cNvSpPr>
            <a:spLocks noGrp="1"/>
          </p:cNvSpPr>
          <p:nvPr>
            <p:ph type="sldNum" sz="quarter" idx="12"/>
          </p:nvPr>
        </p:nvSpPr>
        <p:spPr/>
        <p:txBody>
          <a:bodyPr/>
          <a:lstStyle/>
          <a:p>
            <a:fld id="{E153A30B-AAA6-4D3D-89E9-8F9473C4CEC0}" type="slidenum">
              <a:rPr lang="LID4096" smtClean="0"/>
              <a:t>‹#›</a:t>
            </a:fld>
            <a:endParaRPr lang="LID4096"/>
          </a:p>
        </p:txBody>
      </p:sp>
    </p:spTree>
    <p:extLst>
      <p:ext uri="{BB962C8B-B14F-4D97-AF65-F5344CB8AC3E}">
        <p14:creationId xmlns:p14="http://schemas.microsoft.com/office/powerpoint/2010/main" val="2106126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50E190-936C-4979-BF40-CE30445007F4}" type="datetime1">
              <a:rPr lang="LID4096" smtClean="0"/>
              <a:t>10/20/2025</a:t>
            </a:fld>
            <a:endParaRPr lang="LID4096"/>
          </a:p>
        </p:txBody>
      </p:sp>
      <p:sp>
        <p:nvSpPr>
          <p:cNvPr id="6" name="Footer Placeholder 5"/>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7" name="Slide Number Placeholder 6"/>
          <p:cNvSpPr>
            <a:spLocks noGrp="1"/>
          </p:cNvSpPr>
          <p:nvPr>
            <p:ph type="sldNum" sz="quarter" idx="12"/>
          </p:nvPr>
        </p:nvSpPr>
        <p:spPr/>
        <p:txBody>
          <a:bodyPr/>
          <a:lstStyle/>
          <a:p>
            <a:fld id="{E153A30B-AAA6-4D3D-89E9-8F9473C4CEC0}" type="slidenum">
              <a:rPr lang="LID4096" smtClean="0"/>
              <a:t>‹#›</a:t>
            </a:fld>
            <a:endParaRPr lang="LID4096"/>
          </a:p>
        </p:txBody>
      </p:sp>
    </p:spTree>
    <p:extLst>
      <p:ext uri="{BB962C8B-B14F-4D97-AF65-F5344CB8AC3E}">
        <p14:creationId xmlns:p14="http://schemas.microsoft.com/office/powerpoint/2010/main" val="2287443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C97EBD-3605-402B-94C9-E89BA5A3DB23}" type="datetime1">
              <a:rPr lang="LID4096" smtClean="0"/>
              <a:t>10/20/2025</a:t>
            </a:fld>
            <a:endParaRPr lang="LID4096"/>
          </a:p>
        </p:txBody>
      </p:sp>
      <p:sp>
        <p:nvSpPr>
          <p:cNvPr id="8" name="Footer Placeholder 7"/>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9" name="Slide Number Placeholder 8"/>
          <p:cNvSpPr>
            <a:spLocks noGrp="1"/>
          </p:cNvSpPr>
          <p:nvPr>
            <p:ph type="sldNum" sz="quarter" idx="12"/>
          </p:nvPr>
        </p:nvSpPr>
        <p:spPr/>
        <p:txBody>
          <a:bodyPr/>
          <a:lstStyle/>
          <a:p>
            <a:fld id="{E153A30B-AAA6-4D3D-89E9-8F9473C4CEC0}" type="slidenum">
              <a:rPr lang="LID4096" smtClean="0"/>
              <a:t>‹#›</a:t>
            </a:fld>
            <a:endParaRPr lang="LID4096"/>
          </a:p>
        </p:txBody>
      </p:sp>
    </p:spTree>
    <p:extLst>
      <p:ext uri="{BB962C8B-B14F-4D97-AF65-F5344CB8AC3E}">
        <p14:creationId xmlns:p14="http://schemas.microsoft.com/office/powerpoint/2010/main" val="2101139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906D79-C058-4BB4-A2B8-7E575262D015}" type="datetime1">
              <a:rPr lang="LID4096" smtClean="0"/>
              <a:t>10/20/2025</a:t>
            </a:fld>
            <a:endParaRPr lang="LID4096"/>
          </a:p>
        </p:txBody>
      </p:sp>
      <p:sp>
        <p:nvSpPr>
          <p:cNvPr id="4" name="Footer Placeholder 3"/>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p:cNvSpPr>
            <a:spLocks noGrp="1"/>
          </p:cNvSpPr>
          <p:nvPr>
            <p:ph type="sldNum" sz="quarter" idx="12"/>
          </p:nvPr>
        </p:nvSpPr>
        <p:spPr/>
        <p:txBody>
          <a:bodyPr/>
          <a:lstStyle/>
          <a:p>
            <a:fld id="{E153A30B-AAA6-4D3D-89E9-8F9473C4CEC0}" type="slidenum">
              <a:rPr lang="LID4096" smtClean="0"/>
              <a:t>‹#›</a:t>
            </a:fld>
            <a:endParaRPr lang="LID4096"/>
          </a:p>
        </p:txBody>
      </p:sp>
    </p:spTree>
    <p:extLst>
      <p:ext uri="{BB962C8B-B14F-4D97-AF65-F5344CB8AC3E}">
        <p14:creationId xmlns:p14="http://schemas.microsoft.com/office/powerpoint/2010/main" val="2932559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24F2B5-FD91-4ACC-B45B-1893F76F5940}" type="datetime1">
              <a:rPr lang="LID4096" smtClean="0"/>
              <a:t>10/20/2025</a:t>
            </a:fld>
            <a:endParaRPr lang="LID4096"/>
          </a:p>
        </p:txBody>
      </p:sp>
      <p:sp>
        <p:nvSpPr>
          <p:cNvPr id="3" name="Footer Placeholder 2"/>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4" name="Slide Number Placeholder 3"/>
          <p:cNvSpPr>
            <a:spLocks noGrp="1"/>
          </p:cNvSpPr>
          <p:nvPr>
            <p:ph type="sldNum" sz="quarter" idx="12"/>
          </p:nvPr>
        </p:nvSpPr>
        <p:spPr/>
        <p:txBody>
          <a:bodyPr/>
          <a:lstStyle/>
          <a:p>
            <a:fld id="{E153A30B-AAA6-4D3D-89E9-8F9473C4CEC0}" type="slidenum">
              <a:rPr lang="LID4096" smtClean="0"/>
              <a:t>‹#›</a:t>
            </a:fld>
            <a:endParaRPr lang="LID4096"/>
          </a:p>
        </p:txBody>
      </p:sp>
    </p:spTree>
    <p:extLst>
      <p:ext uri="{BB962C8B-B14F-4D97-AF65-F5344CB8AC3E}">
        <p14:creationId xmlns:p14="http://schemas.microsoft.com/office/powerpoint/2010/main" val="81322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F72D02-009D-426F-89A4-868CA287F680}" type="datetime1">
              <a:rPr lang="LID4096" smtClean="0"/>
              <a:t>10/20/2025</a:t>
            </a:fld>
            <a:endParaRPr lang="LID4096"/>
          </a:p>
        </p:txBody>
      </p:sp>
      <p:sp>
        <p:nvSpPr>
          <p:cNvPr id="6" name="Footer Placeholder 5"/>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7" name="Slide Number Placeholder 6"/>
          <p:cNvSpPr>
            <a:spLocks noGrp="1"/>
          </p:cNvSpPr>
          <p:nvPr>
            <p:ph type="sldNum" sz="quarter" idx="12"/>
          </p:nvPr>
        </p:nvSpPr>
        <p:spPr/>
        <p:txBody>
          <a:bodyPr/>
          <a:lstStyle/>
          <a:p>
            <a:fld id="{E153A30B-AAA6-4D3D-89E9-8F9473C4CEC0}" type="slidenum">
              <a:rPr lang="LID4096" smtClean="0"/>
              <a:t>‹#›</a:t>
            </a:fld>
            <a:endParaRPr lang="LID4096"/>
          </a:p>
        </p:txBody>
      </p:sp>
    </p:spTree>
    <p:extLst>
      <p:ext uri="{BB962C8B-B14F-4D97-AF65-F5344CB8AC3E}">
        <p14:creationId xmlns:p14="http://schemas.microsoft.com/office/powerpoint/2010/main" val="3781038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0330AC7-E7B4-4BD8-8D8C-FDEE45711B96}" type="datetime1">
              <a:rPr lang="LID4096" smtClean="0"/>
              <a:t>10/20/2025</a:t>
            </a:fld>
            <a:endParaRPr lang="LID4096"/>
          </a:p>
        </p:txBody>
      </p:sp>
      <p:sp>
        <p:nvSpPr>
          <p:cNvPr id="6" name="Footer Placeholder 5"/>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7" name="Slide Number Placeholder 6"/>
          <p:cNvSpPr>
            <a:spLocks noGrp="1"/>
          </p:cNvSpPr>
          <p:nvPr>
            <p:ph type="sldNum" sz="quarter" idx="12"/>
          </p:nvPr>
        </p:nvSpPr>
        <p:spPr/>
        <p:txBody>
          <a:bodyPr/>
          <a:lstStyle/>
          <a:p>
            <a:fld id="{E153A30B-AAA6-4D3D-89E9-8F9473C4CEC0}" type="slidenum">
              <a:rPr lang="LID4096" smtClean="0"/>
              <a:t>‹#›</a:t>
            </a:fld>
            <a:endParaRPr lang="LID4096"/>
          </a:p>
        </p:txBody>
      </p:sp>
    </p:spTree>
    <p:extLst>
      <p:ext uri="{BB962C8B-B14F-4D97-AF65-F5344CB8AC3E}">
        <p14:creationId xmlns:p14="http://schemas.microsoft.com/office/powerpoint/2010/main" val="916479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98C425-11D9-49DE-924D-05D819597809}" type="datetime1">
              <a:rPr lang="LID4096" smtClean="0"/>
              <a:t>10/20/2025</a:t>
            </a:fld>
            <a:endParaRPr lang="LID4096"/>
          </a:p>
        </p:txBody>
      </p:sp>
      <p:sp>
        <p:nvSpPr>
          <p:cNvPr id="6" name="Footer Placeholder 5"/>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7" name="Slide Number Placeholder 6"/>
          <p:cNvSpPr>
            <a:spLocks noGrp="1"/>
          </p:cNvSpPr>
          <p:nvPr>
            <p:ph type="sldNum" sz="quarter" idx="12"/>
          </p:nvPr>
        </p:nvSpPr>
        <p:spPr/>
        <p:txBody>
          <a:bodyPr/>
          <a:lstStyle/>
          <a:p>
            <a:fld id="{E153A30B-AAA6-4D3D-89E9-8F9473C4CEC0}" type="slidenum">
              <a:rPr lang="LID4096" smtClean="0"/>
              <a:t>‹#›</a:t>
            </a:fld>
            <a:endParaRPr lang="LID4096"/>
          </a:p>
        </p:txBody>
      </p:sp>
    </p:spTree>
    <p:extLst>
      <p:ext uri="{BB962C8B-B14F-4D97-AF65-F5344CB8AC3E}">
        <p14:creationId xmlns:p14="http://schemas.microsoft.com/office/powerpoint/2010/main" val="354948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951535-F3CD-4490-888A-65C2142C8303}" type="datetime1">
              <a:rPr lang="LID4096" smtClean="0"/>
              <a:t>10/20/2025</a:t>
            </a:fld>
            <a:endParaRPr lang="LID4096"/>
          </a:p>
        </p:txBody>
      </p:sp>
      <p:sp>
        <p:nvSpPr>
          <p:cNvPr id="6" name="Footer Placeholder 5"/>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7" name="Slide Number Placeholder 6"/>
          <p:cNvSpPr>
            <a:spLocks noGrp="1"/>
          </p:cNvSpPr>
          <p:nvPr>
            <p:ph type="sldNum" sz="quarter" idx="12"/>
          </p:nvPr>
        </p:nvSpPr>
        <p:spPr/>
        <p:txBody>
          <a:bodyPr/>
          <a:lstStyle/>
          <a:p>
            <a:fld id="{E153A30B-AAA6-4D3D-89E9-8F9473C4CEC0}" type="slidenum">
              <a:rPr lang="LID4096" smtClean="0"/>
              <a:t>‹#›</a:t>
            </a:fld>
            <a:endParaRPr lang="LID4096"/>
          </a:p>
        </p:txBody>
      </p:sp>
    </p:spTree>
    <p:extLst>
      <p:ext uri="{BB962C8B-B14F-4D97-AF65-F5344CB8AC3E}">
        <p14:creationId xmlns:p14="http://schemas.microsoft.com/office/powerpoint/2010/main" val="9307132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5950B4F-D0EE-475C-BF2D-C7C70F4A7A46}" type="datetime1">
              <a:rPr lang="LID4096" smtClean="0"/>
              <a:t>10/20/2025</a:t>
            </a:fld>
            <a:endParaRPr lang="LID4096"/>
          </a:p>
        </p:txBody>
      </p:sp>
      <p:sp>
        <p:nvSpPr>
          <p:cNvPr id="6" name="Footer Placeholder 5"/>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7" name="Slide Number Placeholder 6"/>
          <p:cNvSpPr>
            <a:spLocks noGrp="1"/>
          </p:cNvSpPr>
          <p:nvPr>
            <p:ph type="sldNum" sz="quarter" idx="12"/>
          </p:nvPr>
        </p:nvSpPr>
        <p:spPr/>
        <p:txBody>
          <a:bodyPr/>
          <a:lstStyle/>
          <a:p>
            <a:fld id="{E153A30B-AAA6-4D3D-89E9-8F9473C4CEC0}" type="slidenum">
              <a:rPr lang="LID4096" smtClean="0"/>
              <a:t>‹#›</a:t>
            </a:fld>
            <a:endParaRPr lang="LID4096"/>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963832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0207AF-0BA9-4EEE-AC5F-0A4BD8C0BEC7}" type="datetime1">
              <a:rPr lang="LID4096" smtClean="0"/>
              <a:t>10/20/2025</a:t>
            </a:fld>
            <a:endParaRPr lang="LID4096"/>
          </a:p>
        </p:txBody>
      </p:sp>
      <p:sp>
        <p:nvSpPr>
          <p:cNvPr id="6" name="Footer Placeholder 5"/>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7" name="Slide Number Placeholder 6"/>
          <p:cNvSpPr>
            <a:spLocks noGrp="1"/>
          </p:cNvSpPr>
          <p:nvPr>
            <p:ph type="sldNum" sz="quarter" idx="12"/>
          </p:nvPr>
        </p:nvSpPr>
        <p:spPr/>
        <p:txBody>
          <a:bodyPr/>
          <a:lstStyle/>
          <a:p>
            <a:fld id="{E153A30B-AAA6-4D3D-89E9-8F9473C4CEC0}" type="slidenum">
              <a:rPr lang="LID4096" smtClean="0"/>
              <a:t>‹#›</a:t>
            </a:fld>
            <a:endParaRPr lang="LID4096"/>
          </a:p>
        </p:txBody>
      </p:sp>
    </p:spTree>
    <p:extLst>
      <p:ext uri="{BB962C8B-B14F-4D97-AF65-F5344CB8AC3E}">
        <p14:creationId xmlns:p14="http://schemas.microsoft.com/office/powerpoint/2010/main" val="11383742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F330344-39DA-4C1E-8DA3-54DC61C515C0}" type="datetime1">
              <a:rPr lang="LID4096" smtClean="0"/>
              <a:t>10/20/2025</a:t>
            </a:fld>
            <a:endParaRPr lang="LID4096"/>
          </a:p>
        </p:txBody>
      </p:sp>
      <p:sp>
        <p:nvSpPr>
          <p:cNvPr id="4" name="Footer Placeholder 3"/>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p:cNvSpPr>
            <a:spLocks noGrp="1"/>
          </p:cNvSpPr>
          <p:nvPr>
            <p:ph type="sldNum" sz="quarter" idx="12"/>
          </p:nvPr>
        </p:nvSpPr>
        <p:spPr/>
        <p:txBody>
          <a:bodyPr/>
          <a:lstStyle/>
          <a:p>
            <a:fld id="{E153A30B-AAA6-4D3D-89E9-8F9473C4CEC0}" type="slidenum">
              <a:rPr lang="LID4096" smtClean="0"/>
              <a:t>‹#›</a:t>
            </a:fld>
            <a:endParaRPr lang="LID4096"/>
          </a:p>
        </p:txBody>
      </p:sp>
    </p:spTree>
    <p:extLst>
      <p:ext uri="{BB962C8B-B14F-4D97-AF65-F5344CB8AC3E}">
        <p14:creationId xmlns:p14="http://schemas.microsoft.com/office/powerpoint/2010/main" val="18866416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935BA18-E71C-4CFB-8E1C-1F89E852029A}" type="datetime1">
              <a:rPr lang="LID4096" smtClean="0"/>
              <a:t>10/20/2025</a:t>
            </a:fld>
            <a:endParaRPr lang="LID4096"/>
          </a:p>
        </p:txBody>
      </p:sp>
      <p:sp>
        <p:nvSpPr>
          <p:cNvPr id="4" name="Footer Placeholder 3"/>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p:cNvSpPr>
            <a:spLocks noGrp="1"/>
          </p:cNvSpPr>
          <p:nvPr>
            <p:ph type="sldNum" sz="quarter" idx="12"/>
          </p:nvPr>
        </p:nvSpPr>
        <p:spPr/>
        <p:txBody>
          <a:bodyPr/>
          <a:lstStyle/>
          <a:p>
            <a:fld id="{E153A30B-AAA6-4D3D-89E9-8F9473C4CEC0}" type="slidenum">
              <a:rPr lang="LID4096" smtClean="0"/>
              <a:t>‹#›</a:t>
            </a:fld>
            <a:endParaRPr lang="LID4096"/>
          </a:p>
        </p:txBody>
      </p:sp>
    </p:spTree>
    <p:extLst>
      <p:ext uri="{BB962C8B-B14F-4D97-AF65-F5344CB8AC3E}">
        <p14:creationId xmlns:p14="http://schemas.microsoft.com/office/powerpoint/2010/main" val="4239326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8D75C9-5CE6-4EA9-87D9-B77BB34404E9}" type="datetime1">
              <a:rPr lang="LID4096" smtClean="0"/>
              <a:t>10/20/2025</a:t>
            </a:fld>
            <a:endParaRPr lang="LID4096"/>
          </a:p>
        </p:txBody>
      </p:sp>
      <p:sp>
        <p:nvSpPr>
          <p:cNvPr id="5" name="Footer Placeholder 4"/>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6" name="Slide Number Placeholder 5"/>
          <p:cNvSpPr>
            <a:spLocks noGrp="1"/>
          </p:cNvSpPr>
          <p:nvPr>
            <p:ph type="sldNum" sz="quarter" idx="12"/>
          </p:nvPr>
        </p:nvSpPr>
        <p:spPr/>
        <p:txBody>
          <a:bodyPr/>
          <a:lstStyle/>
          <a:p>
            <a:fld id="{E153A30B-AAA6-4D3D-89E9-8F9473C4CEC0}" type="slidenum">
              <a:rPr lang="LID4096" smtClean="0"/>
              <a:t>‹#›</a:t>
            </a:fld>
            <a:endParaRPr lang="LID4096"/>
          </a:p>
        </p:txBody>
      </p:sp>
    </p:spTree>
    <p:extLst>
      <p:ext uri="{BB962C8B-B14F-4D97-AF65-F5344CB8AC3E}">
        <p14:creationId xmlns:p14="http://schemas.microsoft.com/office/powerpoint/2010/main" val="29344633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E4B0E8-1D8D-4A5F-94F5-57EA5DFF6F92}" type="datetime1">
              <a:rPr lang="LID4096" smtClean="0"/>
              <a:t>10/20/2025</a:t>
            </a:fld>
            <a:endParaRPr lang="LID4096"/>
          </a:p>
        </p:txBody>
      </p:sp>
      <p:sp>
        <p:nvSpPr>
          <p:cNvPr id="5" name="Footer Placeholder 4"/>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6" name="Slide Number Placeholder 5"/>
          <p:cNvSpPr>
            <a:spLocks noGrp="1"/>
          </p:cNvSpPr>
          <p:nvPr>
            <p:ph type="sldNum" sz="quarter" idx="12"/>
          </p:nvPr>
        </p:nvSpPr>
        <p:spPr/>
        <p:txBody>
          <a:bodyPr/>
          <a:lstStyle/>
          <a:p>
            <a:fld id="{E153A30B-AAA6-4D3D-89E9-8F9473C4CEC0}" type="slidenum">
              <a:rPr lang="LID4096" smtClean="0"/>
              <a:t>‹#›</a:t>
            </a:fld>
            <a:endParaRPr lang="LID4096"/>
          </a:p>
        </p:txBody>
      </p:sp>
    </p:spTree>
    <p:extLst>
      <p:ext uri="{BB962C8B-B14F-4D97-AF65-F5344CB8AC3E}">
        <p14:creationId xmlns:p14="http://schemas.microsoft.com/office/powerpoint/2010/main" val="1803839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CE307BE-E146-4DF1-9FF1-949715624330}" type="datetime1">
              <a:rPr lang="LID4096" smtClean="0"/>
              <a:t>10/20/2025</a:t>
            </a:fld>
            <a:endParaRPr lang="LID4096"/>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r>
              <a:rPr lang="en-US" dirty="0"/>
              <a:t>Prepared by James Soko for Mr. Ngosa Gatham © 2025 Kapasa Makasa University </a:t>
            </a:r>
            <a:endParaRPr lang="LID4096"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153A30B-AAA6-4D3D-89E9-8F9473C4CEC0}" type="slidenum">
              <a:rPr lang="LID4096" smtClean="0"/>
              <a:t>‹#›</a:t>
            </a:fld>
            <a:endParaRPr lang="LID4096"/>
          </a:p>
        </p:txBody>
      </p:sp>
    </p:spTree>
    <p:extLst>
      <p:ext uri="{BB962C8B-B14F-4D97-AF65-F5344CB8AC3E}">
        <p14:creationId xmlns:p14="http://schemas.microsoft.com/office/powerpoint/2010/main" val="668875496"/>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hf hd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tmp"/><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image" Target="../media/image14.tmp"/><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5.xml"/><Relationship Id="rId4" Type="http://schemas.openxmlformats.org/officeDocument/2006/relationships/image" Target="../media/image18.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27426-CD42-4AC4-9B0A-2D3C6D68F3E8}"/>
              </a:ext>
            </a:extLst>
          </p:cNvPr>
          <p:cNvSpPr>
            <a:spLocks noGrp="1"/>
          </p:cNvSpPr>
          <p:nvPr>
            <p:ph type="ctrTitle"/>
          </p:nvPr>
        </p:nvSpPr>
        <p:spPr/>
        <p:txBody>
          <a:bodyPr/>
          <a:lstStyle/>
          <a:p>
            <a:pPr algn="ctr"/>
            <a:r>
              <a:rPr lang="en-US" b="1" dirty="0"/>
              <a:t>Cybercrime investigation &amp; forensic ii</a:t>
            </a:r>
            <a:endParaRPr lang="LID4096" b="1" dirty="0"/>
          </a:p>
        </p:txBody>
      </p:sp>
      <p:sp>
        <p:nvSpPr>
          <p:cNvPr id="3" name="Subtitle 2">
            <a:extLst>
              <a:ext uri="{FF2B5EF4-FFF2-40B4-BE49-F238E27FC236}">
                <a16:creationId xmlns:a16="http://schemas.microsoft.com/office/drawing/2014/main" id="{43E47010-96A1-4330-A609-C543F692C5C1}"/>
              </a:ext>
            </a:extLst>
          </p:cNvPr>
          <p:cNvSpPr>
            <a:spLocks noGrp="1"/>
          </p:cNvSpPr>
          <p:nvPr>
            <p:ph type="subTitle" idx="1"/>
          </p:nvPr>
        </p:nvSpPr>
        <p:spPr/>
        <p:txBody>
          <a:bodyPr/>
          <a:lstStyle/>
          <a:p>
            <a:pPr algn="ctr"/>
            <a:r>
              <a:rPr lang="en-US" b="1" dirty="0"/>
              <a:t>CYS340</a:t>
            </a:r>
            <a:endParaRPr lang="LID4096" b="1" dirty="0"/>
          </a:p>
        </p:txBody>
      </p:sp>
    </p:spTree>
    <p:extLst>
      <p:ext uri="{BB962C8B-B14F-4D97-AF65-F5344CB8AC3E}">
        <p14:creationId xmlns:p14="http://schemas.microsoft.com/office/powerpoint/2010/main" val="781907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BF75D9-C35B-4B85-A81E-603322025CD8}"/>
              </a:ext>
            </a:extLst>
          </p:cNvPr>
          <p:cNvSpPr>
            <a:spLocks noGrp="1"/>
          </p:cNvSpPr>
          <p:nvPr>
            <p:ph type="title"/>
          </p:nvPr>
        </p:nvSpPr>
        <p:spPr/>
        <p:txBody>
          <a:bodyPr/>
          <a:lstStyle/>
          <a:p>
            <a:pPr algn="ctr"/>
            <a:r>
              <a:rPr lang="en-US" b="1" dirty="0"/>
              <a:t>Digital forensics | overview </a:t>
            </a:r>
            <a:endParaRPr lang="LID4096" b="1" dirty="0"/>
          </a:p>
        </p:txBody>
      </p:sp>
      <p:sp>
        <p:nvSpPr>
          <p:cNvPr id="5" name="Text Placeholder 4">
            <a:extLst>
              <a:ext uri="{FF2B5EF4-FFF2-40B4-BE49-F238E27FC236}">
                <a16:creationId xmlns:a16="http://schemas.microsoft.com/office/drawing/2014/main" id="{16432862-DC4D-44C8-941A-B66D1D8907CF}"/>
              </a:ext>
            </a:extLst>
          </p:cNvPr>
          <p:cNvSpPr>
            <a:spLocks noGrp="1"/>
          </p:cNvSpPr>
          <p:nvPr>
            <p:ph type="body" idx="1"/>
          </p:nvPr>
        </p:nvSpPr>
        <p:spPr/>
        <p:txBody>
          <a:bodyPr/>
          <a:lstStyle/>
          <a:p>
            <a:pPr algn="ctr"/>
            <a:r>
              <a:rPr lang="en-US" b="1" dirty="0"/>
              <a:t>Lecture 1</a:t>
            </a:r>
            <a:endParaRPr lang="LID4096" b="1" dirty="0"/>
          </a:p>
        </p:txBody>
      </p:sp>
      <p:sp>
        <p:nvSpPr>
          <p:cNvPr id="2" name="Footer Placeholder 1">
            <a:extLst>
              <a:ext uri="{FF2B5EF4-FFF2-40B4-BE49-F238E27FC236}">
                <a16:creationId xmlns:a16="http://schemas.microsoft.com/office/drawing/2014/main" id="{63C33DD8-B5DE-45BF-8350-1E9F503C5509}"/>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3" name="Slide Number Placeholder 2">
            <a:extLst>
              <a:ext uri="{FF2B5EF4-FFF2-40B4-BE49-F238E27FC236}">
                <a16:creationId xmlns:a16="http://schemas.microsoft.com/office/drawing/2014/main" id="{E40054E0-DBD2-4366-A9CF-3AC9076B89C3}"/>
              </a:ext>
            </a:extLst>
          </p:cNvPr>
          <p:cNvSpPr>
            <a:spLocks noGrp="1"/>
          </p:cNvSpPr>
          <p:nvPr>
            <p:ph type="sldNum" sz="quarter" idx="12"/>
          </p:nvPr>
        </p:nvSpPr>
        <p:spPr/>
        <p:txBody>
          <a:bodyPr/>
          <a:lstStyle/>
          <a:p>
            <a:fld id="{E153A30B-AAA6-4D3D-89E9-8F9473C4CEC0}" type="slidenum">
              <a:rPr lang="LID4096" smtClean="0"/>
              <a:t>2</a:t>
            </a:fld>
            <a:endParaRPr lang="LID4096"/>
          </a:p>
        </p:txBody>
      </p:sp>
    </p:spTree>
    <p:extLst>
      <p:ext uri="{BB962C8B-B14F-4D97-AF65-F5344CB8AC3E}">
        <p14:creationId xmlns:p14="http://schemas.microsoft.com/office/powerpoint/2010/main" val="574574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CA070C-A265-4AB1-BFB3-DB3F86E1B7B2}"/>
              </a:ext>
            </a:extLst>
          </p:cNvPr>
          <p:cNvSpPr>
            <a:spLocks noGrp="1"/>
          </p:cNvSpPr>
          <p:nvPr>
            <p:ph type="title"/>
          </p:nvPr>
        </p:nvSpPr>
        <p:spPr/>
        <p:txBody>
          <a:bodyPr/>
          <a:lstStyle/>
          <a:p>
            <a:pPr algn="ctr"/>
            <a:r>
              <a:rPr lang="en-US" b="1" dirty="0"/>
              <a:t>Introduction </a:t>
            </a:r>
            <a:endParaRPr lang="LID4096" b="1" dirty="0"/>
          </a:p>
        </p:txBody>
      </p:sp>
      <p:sp>
        <p:nvSpPr>
          <p:cNvPr id="5" name="Content Placeholder 4">
            <a:extLst>
              <a:ext uri="{FF2B5EF4-FFF2-40B4-BE49-F238E27FC236}">
                <a16:creationId xmlns:a16="http://schemas.microsoft.com/office/drawing/2014/main" id="{1B1DAF9A-61C2-4E8D-8BC6-4C287B0B3133}"/>
              </a:ext>
            </a:extLst>
          </p:cNvPr>
          <p:cNvSpPr>
            <a:spLocks noGrp="1"/>
          </p:cNvSpPr>
          <p:nvPr>
            <p:ph idx="1"/>
          </p:nvPr>
        </p:nvSpPr>
        <p:spPr/>
        <p:txBody>
          <a:bodyPr/>
          <a:lstStyle/>
          <a:p>
            <a:r>
              <a:rPr lang="en-US" dirty="0"/>
              <a:t> </a:t>
            </a:r>
            <a:r>
              <a:rPr lang="en-US" b="1" i="0" dirty="0">
                <a:solidFill>
                  <a:srgbClr val="EEF0FF"/>
                </a:solidFill>
                <a:effectLst/>
                <a:latin typeface="Google Sans"/>
              </a:rPr>
              <a:t>Cybercrime</a:t>
            </a:r>
            <a:r>
              <a:rPr lang="en-US" b="0" i="0" dirty="0">
                <a:solidFill>
                  <a:srgbClr val="EEF0FF"/>
                </a:solidFill>
                <a:effectLst/>
                <a:latin typeface="Google Sans"/>
              </a:rPr>
              <a:t> is </a:t>
            </a:r>
            <a:r>
              <a:rPr lang="en-US" dirty="0"/>
              <a:t>any illegal or criminal activity </a:t>
            </a:r>
            <a:r>
              <a:rPr lang="en-US" dirty="0">
                <a:solidFill>
                  <a:srgbClr val="EEF0FF"/>
                </a:solidFill>
                <a:latin typeface="Google Sans"/>
              </a:rPr>
              <a:t>carried out by means of computers or the internet.</a:t>
            </a:r>
          </a:p>
          <a:p>
            <a:pPr marL="0" indent="0">
              <a:buNone/>
            </a:pPr>
            <a:endParaRPr lang="en-US" b="0" i="0" dirty="0">
              <a:solidFill>
                <a:srgbClr val="EEF0FF"/>
              </a:solidFill>
              <a:effectLst/>
              <a:latin typeface="Google Sans"/>
            </a:endParaRPr>
          </a:p>
        </p:txBody>
      </p:sp>
      <p:sp>
        <p:nvSpPr>
          <p:cNvPr id="2" name="Footer Placeholder 1">
            <a:extLst>
              <a:ext uri="{FF2B5EF4-FFF2-40B4-BE49-F238E27FC236}">
                <a16:creationId xmlns:a16="http://schemas.microsoft.com/office/drawing/2014/main" id="{E44FDB36-FE6C-42C7-9E05-AB6CE63AA3D6}"/>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3" name="Slide Number Placeholder 2">
            <a:extLst>
              <a:ext uri="{FF2B5EF4-FFF2-40B4-BE49-F238E27FC236}">
                <a16:creationId xmlns:a16="http://schemas.microsoft.com/office/drawing/2014/main" id="{6DAAACBE-5A97-4430-9329-4C4D355A3AC8}"/>
              </a:ext>
            </a:extLst>
          </p:cNvPr>
          <p:cNvSpPr>
            <a:spLocks noGrp="1"/>
          </p:cNvSpPr>
          <p:nvPr>
            <p:ph type="sldNum" sz="quarter" idx="12"/>
          </p:nvPr>
        </p:nvSpPr>
        <p:spPr/>
        <p:txBody>
          <a:bodyPr/>
          <a:lstStyle/>
          <a:p>
            <a:fld id="{E153A30B-AAA6-4D3D-89E9-8F9473C4CEC0}" type="slidenum">
              <a:rPr lang="LID4096" smtClean="0"/>
              <a:t>3</a:t>
            </a:fld>
            <a:endParaRPr lang="LID4096"/>
          </a:p>
        </p:txBody>
      </p:sp>
    </p:spTree>
    <p:extLst>
      <p:ext uri="{BB962C8B-B14F-4D97-AF65-F5344CB8AC3E}">
        <p14:creationId xmlns:p14="http://schemas.microsoft.com/office/powerpoint/2010/main" val="971466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469C3-7A94-4025-91FA-F314552ECD9C}"/>
              </a:ext>
            </a:extLst>
          </p:cNvPr>
          <p:cNvSpPr>
            <a:spLocks noGrp="1"/>
          </p:cNvSpPr>
          <p:nvPr>
            <p:ph type="title"/>
          </p:nvPr>
        </p:nvSpPr>
        <p:spPr/>
        <p:txBody>
          <a:bodyPr/>
          <a:lstStyle/>
          <a:p>
            <a:pPr algn="ctr"/>
            <a:r>
              <a:rPr lang="en-US" b="1" dirty="0"/>
              <a:t>Cybercrime investigators </a:t>
            </a:r>
            <a:endParaRPr lang="LID4096" b="1" dirty="0"/>
          </a:p>
        </p:txBody>
      </p:sp>
      <p:sp>
        <p:nvSpPr>
          <p:cNvPr id="3" name="Content Placeholder 2">
            <a:extLst>
              <a:ext uri="{FF2B5EF4-FFF2-40B4-BE49-F238E27FC236}">
                <a16:creationId xmlns:a16="http://schemas.microsoft.com/office/drawing/2014/main" id="{A5374031-6C64-49BB-AFE7-0AD242697E35}"/>
              </a:ext>
            </a:extLst>
          </p:cNvPr>
          <p:cNvSpPr>
            <a:spLocks noGrp="1"/>
          </p:cNvSpPr>
          <p:nvPr>
            <p:ph idx="1"/>
          </p:nvPr>
        </p:nvSpPr>
        <p:spPr/>
        <p:txBody>
          <a:bodyPr>
            <a:normAutofit fontScale="85000" lnSpcReduction="10000"/>
          </a:bodyPr>
          <a:lstStyle/>
          <a:p>
            <a:r>
              <a:rPr lang="en-US" dirty="0"/>
              <a:t> </a:t>
            </a:r>
            <a:r>
              <a:rPr lang="en-US" b="1" dirty="0"/>
              <a:t>Cybercrime investigators </a:t>
            </a:r>
            <a:r>
              <a:rPr lang="en-US" dirty="0"/>
              <a:t>are law enforcement professionals who specialize in investigating computer-related crimes. </a:t>
            </a:r>
          </a:p>
          <a:p>
            <a:r>
              <a:rPr lang="en-US" dirty="0"/>
              <a:t> According to Act no. 2 of 2021 PART I (Preliminary Provision) “</a:t>
            </a:r>
            <a:r>
              <a:rPr lang="en-US" b="1" dirty="0"/>
              <a:t>Law Enforcement</a:t>
            </a:r>
            <a:r>
              <a:rPr lang="en-US" dirty="0"/>
              <a:t>” means – </a:t>
            </a:r>
          </a:p>
          <a:p>
            <a:pPr marL="457200" indent="-457200">
              <a:buFont typeface="+mj-lt"/>
              <a:buAutoNum type="alphaLcParenR"/>
            </a:pPr>
            <a:r>
              <a:rPr lang="en-US" dirty="0"/>
              <a:t> a police officer above the rank of sub-inspector;</a:t>
            </a:r>
          </a:p>
          <a:p>
            <a:pPr marL="457200" indent="-457200">
              <a:buFont typeface="+mj-lt"/>
              <a:buAutoNum type="alphaLcParenR"/>
            </a:pPr>
            <a:r>
              <a:rPr lang="en-US" dirty="0"/>
              <a:t>an officer of the Anti-Corruption Commission;</a:t>
            </a:r>
          </a:p>
          <a:p>
            <a:pPr marL="457200" indent="-457200">
              <a:buFont typeface="+mj-lt"/>
              <a:buAutoNum type="alphaLcParenR"/>
            </a:pPr>
            <a:r>
              <a:rPr lang="en-US" dirty="0"/>
              <a:t>an officer of the Drug Enforcement Commission;</a:t>
            </a:r>
          </a:p>
          <a:p>
            <a:pPr marL="457200" indent="-457200">
              <a:buFont typeface="+mj-lt"/>
              <a:buAutoNum type="alphaLcParenR"/>
            </a:pPr>
            <a:r>
              <a:rPr lang="en-US" dirty="0"/>
              <a:t>an officer of the Zambia Security Intelligence Service; and</a:t>
            </a:r>
          </a:p>
          <a:p>
            <a:pPr marL="457200" indent="-457200">
              <a:buFont typeface="+mj-lt"/>
              <a:buAutoNum type="alphaLcParenR"/>
            </a:pPr>
            <a:r>
              <a:rPr lang="en-US" dirty="0"/>
              <a:t>any other person appointed by the Minister for purposes of this Act;</a:t>
            </a:r>
            <a:endParaRPr lang="LID4096" dirty="0"/>
          </a:p>
        </p:txBody>
      </p:sp>
      <p:sp>
        <p:nvSpPr>
          <p:cNvPr id="4" name="Footer Placeholder 3">
            <a:extLst>
              <a:ext uri="{FF2B5EF4-FFF2-40B4-BE49-F238E27FC236}">
                <a16:creationId xmlns:a16="http://schemas.microsoft.com/office/drawing/2014/main" id="{C4647886-2D5F-46B2-8F3A-09294CB9ACEA}"/>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045FD6FC-B084-4C10-8281-B8B3111684D1}"/>
              </a:ext>
            </a:extLst>
          </p:cNvPr>
          <p:cNvSpPr>
            <a:spLocks noGrp="1"/>
          </p:cNvSpPr>
          <p:nvPr>
            <p:ph type="sldNum" sz="quarter" idx="12"/>
          </p:nvPr>
        </p:nvSpPr>
        <p:spPr/>
        <p:txBody>
          <a:bodyPr/>
          <a:lstStyle/>
          <a:p>
            <a:fld id="{E153A30B-AAA6-4D3D-89E9-8F9473C4CEC0}" type="slidenum">
              <a:rPr lang="LID4096" smtClean="0"/>
              <a:t>4</a:t>
            </a:fld>
            <a:endParaRPr lang="LID4096"/>
          </a:p>
        </p:txBody>
      </p:sp>
    </p:spTree>
    <p:extLst>
      <p:ext uri="{BB962C8B-B14F-4D97-AF65-F5344CB8AC3E}">
        <p14:creationId xmlns:p14="http://schemas.microsoft.com/office/powerpoint/2010/main" val="740037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EE294-40AC-4D25-93AB-62C648C332ED}"/>
              </a:ext>
            </a:extLst>
          </p:cNvPr>
          <p:cNvSpPr>
            <a:spLocks noGrp="1"/>
          </p:cNvSpPr>
          <p:nvPr>
            <p:ph type="title"/>
          </p:nvPr>
        </p:nvSpPr>
        <p:spPr/>
        <p:txBody>
          <a:bodyPr/>
          <a:lstStyle/>
          <a:p>
            <a:pPr algn="ctr"/>
            <a:r>
              <a:rPr lang="en-US" b="1" dirty="0"/>
              <a:t>Cybercrime investigators (continues…)</a:t>
            </a:r>
            <a:endParaRPr lang="LID4096" dirty="0"/>
          </a:p>
        </p:txBody>
      </p:sp>
      <p:sp>
        <p:nvSpPr>
          <p:cNvPr id="3" name="Content Placeholder 2">
            <a:extLst>
              <a:ext uri="{FF2B5EF4-FFF2-40B4-BE49-F238E27FC236}">
                <a16:creationId xmlns:a16="http://schemas.microsoft.com/office/drawing/2014/main" id="{C47DB34C-9787-4B97-B9F4-EF8ABC3CD83A}"/>
              </a:ext>
            </a:extLst>
          </p:cNvPr>
          <p:cNvSpPr>
            <a:spLocks noGrp="1"/>
          </p:cNvSpPr>
          <p:nvPr>
            <p:ph idx="1"/>
          </p:nvPr>
        </p:nvSpPr>
        <p:spPr/>
        <p:txBody>
          <a:bodyPr/>
          <a:lstStyle/>
          <a:p>
            <a:r>
              <a:rPr lang="en-US" dirty="0"/>
              <a:t> They use their knowledge of </a:t>
            </a:r>
            <a:r>
              <a:rPr lang="en-US" b="1" dirty="0"/>
              <a:t>computer science</a:t>
            </a:r>
            <a:r>
              <a:rPr lang="en-US" dirty="0"/>
              <a:t>, </a:t>
            </a:r>
            <a:r>
              <a:rPr lang="en-US" b="1" dirty="0"/>
              <a:t>law</a:t>
            </a:r>
            <a:r>
              <a:rPr lang="en-US" dirty="0"/>
              <a:t>, and </a:t>
            </a:r>
            <a:r>
              <a:rPr lang="en-US" b="1" dirty="0"/>
              <a:t>investigative techniques</a:t>
            </a:r>
            <a:r>
              <a:rPr lang="en-US" dirty="0"/>
              <a:t> to gather evidence and identify suspects. </a:t>
            </a:r>
          </a:p>
          <a:p>
            <a:r>
              <a:rPr lang="en-US" dirty="0"/>
              <a:t> Cybercrime investigators may work for </a:t>
            </a:r>
            <a:r>
              <a:rPr lang="en-US" b="1" dirty="0"/>
              <a:t>law enforcement agencies</a:t>
            </a:r>
            <a:r>
              <a:rPr lang="en-US" dirty="0"/>
              <a:t>, </a:t>
            </a:r>
            <a:r>
              <a:rPr lang="en-US" b="1" dirty="0"/>
              <a:t>government agencies</a:t>
            </a:r>
            <a:r>
              <a:rPr lang="en-US" dirty="0"/>
              <a:t>, or </a:t>
            </a:r>
            <a:r>
              <a:rPr lang="en-US" b="1" dirty="0"/>
              <a:t>private companies.</a:t>
            </a:r>
          </a:p>
          <a:p>
            <a:r>
              <a:rPr lang="en-US" dirty="0"/>
              <a:t>Their job duties may include conducting </a:t>
            </a:r>
            <a:r>
              <a:rPr lang="en-US" b="1" dirty="0"/>
              <a:t>investigations</a:t>
            </a:r>
            <a:r>
              <a:rPr lang="en-US" dirty="0"/>
              <a:t>, </a:t>
            </a:r>
            <a:r>
              <a:rPr lang="en-US" b="1" dirty="0"/>
              <a:t>preparing reports</a:t>
            </a:r>
            <a:r>
              <a:rPr lang="en-US" dirty="0"/>
              <a:t>, and </a:t>
            </a:r>
            <a:r>
              <a:rPr lang="en-US" b="1" dirty="0"/>
              <a:t>providing testimony in court</a:t>
            </a:r>
            <a:r>
              <a:rPr lang="en-US" dirty="0"/>
              <a:t>.</a:t>
            </a:r>
          </a:p>
          <a:p>
            <a:endParaRPr lang="LID4096" dirty="0"/>
          </a:p>
        </p:txBody>
      </p:sp>
      <p:sp>
        <p:nvSpPr>
          <p:cNvPr id="4" name="Footer Placeholder 3">
            <a:extLst>
              <a:ext uri="{FF2B5EF4-FFF2-40B4-BE49-F238E27FC236}">
                <a16:creationId xmlns:a16="http://schemas.microsoft.com/office/drawing/2014/main" id="{2B290B07-109E-4DF7-B12F-D6BD5D0E6641}"/>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4059B28F-AEAF-4C1C-9EA7-35CD31E71248}"/>
              </a:ext>
            </a:extLst>
          </p:cNvPr>
          <p:cNvSpPr>
            <a:spLocks noGrp="1"/>
          </p:cNvSpPr>
          <p:nvPr>
            <p:ph type="sldNum" sz="quarter" idx="12"/>
          </p:nvPr>
        </p:nvSpPr>
        <p:spPr/>
        <p:txBody>
          <a:bodyPr/>
          <a:lstStyle/>
          <a:p>
            <a:fld id="{E153A30B-AAA6-4D3D-89E9-8F9473C4CEC0}" type="slidenum">
              <a:rPr lang="LID4096" smtClean="0"/>
              <a:t>5</a:t>
            </a:fld>
            <a:endParaRPr lang="LID4096"/>
          </a:p>
        </p:txBody>
      </p:sp>
    </p:spTree>
    <p:extLst>
      <p:ext uri="{BB962C8B-B14F-4D97-AF65-F5344CB8AC3E}">
        <p14:creationId xmlns:p14="http://schemas.microsoft.com/office/powerpoint/2010/main" val="2766800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FC950-73C7-4D48-8FE6-346AC5735FE2}"/>
              </a:ext>
            </a:extLst>
          </p:cNvPr>
          <p:cNvSpPr>
            <a:spLocks noGrp="1"/>
          </p:cNvSpPr>
          <p:nvPr>
            <p:ph type="title"/>
          </p:nvPr>
        </p:nvSpPr>
        <p:spPr/>
        <p:txBody>
          <a:bodyPr/>
          <a:lstStyle/>
          <a:p>
            <a:pPr algn="ctr"/>
            <a:r>
              <a:rPr lang="en-US" b="1" dirty="0"/>
              <a:t>Cybercrime investigation</a:t>
            </a:r>
            <a:endParaRPr lang="LID4096" b="1" dirty="0"/>
          </a:p>
        </p:txBody>
      </p:sp>
      <p:sp>
        <p:nvSpPr>
          <p:cNvPr id="3" name="Content Placeholder 2">
            <a:extLst>
              <a:ext uri="{FF2B5EF4-FFF2-40B4-BE49-F238E27FC236}">
                <a16:creationId xmlns:a16="http://schemas.microsoft.com/office/drawing/2014/main" id="{E09B404E-F071-4B1D-8011-94E474F31F00}"/>
              </a:ext>
            </a:extLst>
          </p:cNvPr>
          <p:cNvSpPr>
            <a:spLocks noGrp="1"/>
          </p:cNvSpPr>
          <p:nvPr>
            <p:ph idx="1"/>
          </p:nvPr>
        </p:nvSpPr>
        <p:spPr/>
        <p:txBody>
          <a:bodyPr/>
          <a:lstStyle/>
          <a:p>
            <a:r>
              <a:rPr lang="en-US" dirty="0"/>
              <a:t>Is the process of using digital forensics to identify and prosecute cybercriminals, or</a:t>
            </a:r>
          </a:p>
          <a:p>
            <a:r>
              <a:rPr lang="en-US" dirty="0"/>
              <a:t> Is the process of identifying, analyzing, and mitigating computer-based crimes and other forms of malicious activity that occur in cyberspace. </a:t>
            </a:r>
          </a:p>
          <a:p>
            <a:r>
              <a:rPr lang="en-US" dirty="0"/>
              <a:t>It involves the use of specialized tools and techniques to investigate various types of cybercrimes, such as </a:t>
            </a:r>
            <a:r>
              <a:rPr lang="en-US" b="1" dirty="0"/>
              <a:t>hacking</a:t>
            </a:r>
            <a:r>
              <a:rPr lang="en-US" dirty="0"/>
              <a:t>, </a:t>
            </a:r>
            <a:r>
              <a:rPr lang="en-US" b="1" dirty="0"/>
              <a:t>phishing</a:t>
            </a:r>
            <a:r>
              <a:rPr lang="en-US" dirty="0"/>
              <a:t>, </a:t>
            </a:r>
            <a:r>
              <a:rPr lang="en-US" b="1" dirty="0"/>
              <a:t>malware</a:t>
            </a:r>
            <a:r>
              <a:rPr lang="en-US" dirty="0"/>
              <a:t>, </a:t>
            </a:r>
            <a:r>
              <a:rPr lang="en-US" b="1" dirty="0"/>
              <a:t>data breaches</a:t>
            </a:r>
            <a:r>
              <a:rPr lang="en-US" dirty="0"/>
              <a:t>, and </a:t>
            </a:r>
            <a:r>
              <a:rPr lang="en-US" b="1" dirty="0"/>
              <a:t>identity theft</a:t>
            </a:r>
            <a:r>
              <a:rPr lang="en-US" dirty="0"/>
              <a:t>.</a:t>
            </a:r>
          </a:p>
          <a:p>
            <a:endParaRPr lang="LID4096" dirty="0"/>
          </a:p>
        </p:txBody>
      </p:sp>
      <p:sp>
        <p:nvSpPr>
          <p:cNvPr id="4" name="Footer Placeholder 3">
            <a:extLst>
              <a:ext uri="{FF2B5EF4-FFF2-40B4-BE49-F238E27FC236}">
                <a16:creationId xmlns:a16="http://schemas.microsoft.com/office/drawing/2014/main" id="{6294AB91-EC68-4049-9BD2-65E3C2F10823}"/>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28AA5988-3C1C-416B-A24E-0F1D8996C6B5}"/>
              </a:ext>
            </a:extLst>
          </p:cNvPr>
          <p:cNvSpPr>
            <a:spLocks noGrp="1"/>
          </p:cNvSpPr>
          <p:nvPr>
            <p:ph type="sldNum" sz="quarter" idx="12"/>
          </p:nvPr>
        </p:nvSpPr>
        <p:spPr/>
        <p:txBody>
          <a:bodyPr/>
          <a:lstStyle/>
          <a:p>
            <a:fld id="{E153A30B-AAA6-4D3D-89E9-8F9473C4CEC0}" type="slidenum">
              <a:rPr lang="LID4096" smtClean="0"/>
              <a:t>6</a:t>
            </a:fld>
            <a:endParaRPr lang="LID4096"/>
          </a:p>
        </p:txBody>
      </p:sp>
    </p:spTree>
    <p:extLst>
      <p:ext uri="{BB962C8B-B14F-4D97-AF65-F5344CB8AC3E}">
        <p14:creationId xmlns:p14="http://schemas.microsoft.com/office/powerpoint/2010/main" val="1339985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B81D4-E125-4A4E-9C5D-A2A432F8A998}"/>
              </a:ext>
            </a:extLst>
          </p:cNvPr>
          <p:cNvSpPr>
            <a:spLocks noGrp="1"/>
          </p:cNvSpPr>
          <p:nvPr>
            <p:ph type="title"/>
          </p:nvPr>
        </p:nvSpPr>
        <p:spPr/>
        <p:txBody>
          <a:bodyPr/>
          <a:lstStyle/>
          <a:p>
            <a:pPr algn="ctr"/>
            <a:r>
              <a:rPr lang="en-US" b="1" dirty="0"/>
              <a:t>Top 5 Cybercrimes</a:t>
            </a:r>
            <a:endParaRPr lang="LID4096" b="1" dirty="0"/>
          </a:p>
        </p:txBody>
      </p:sp>
      <p:sp>
        <p:nvSpPr>
          <p:cNvPr id="3" name="Content Placeholder 2">
            <a:extLst>
              <a:ext uri="{FF2B5EF4-FFF2-40B4-BE49-F238E27FC236}">
                <a16:creationId xmlns:a16="http://schemas.microsoft.com/office/drawing/2014/main" id="{0F1F5F75-88A5-48E5-9503-35EC4A03E8BE}"/>
              </a:ext>
            </a:extLst>
          </p:cNvPr>
          <p:cNvSpPr>
            <a:spLocks noGrp="1"/>
          </p:cNvSpPr>
          <p:nvPr>
            <p:ph idx="1"/>
          </p:nvPr>
        </p:nvSpPr>
        <p:spPr/>
        <p:txBody>
          <a:bodyPr/>
          <a:lstStyle/>
          <a:p>
            <a:pPr marL="457200" indent="-457200">
              <a:buFont typeface="+mj-lt"/>
              <a:buAutoNum type="arabicPeriod"/>
            </a:pPr>
            <a:r>
              <a:rPr lang="en-US" dirty="0"/>
              <a:t> </a:t>
            </a:r>
            <a:r>
              <a:rPr lang="en-US" b="1" dirty="0"/>
              <a:t>Phishing and Scam</a:t>
            </a:r>
          </a:p>
          <a:p>
            <a:pPr algn="l"/>
            <a:r>
              <a:rPr lang="en-US" dirty="0"/>
              <a:t> </a:t>
            </a:r>
            <a:r>
              <a:rPr lang="en-US" b="1" dirty="0"/>
              <a:t>Phishing</a:t>
            </a:r>
            <a:r>
              <a:rPr lang="en-US" dirty="0"/>
              <a:t> is a form of social engineering and a scam where attackers deceive people into revealing sensitive information or installing malware such as viruses, worms and trojans through attachments or links sent via email by impersonating a legitimate organization or entity.</a:t>
            </a:r>
          </a:p>
          <a:p>
            <a:pPr algn="l"/>
            <a:r>
              <a:rPr lang="en-US" b="0" i="0" dirty="0">
                <a:solidFill>
                  <a:srgbClr val="E8E8E8"/>
                </a:solidFill>
                <a:effectLst/>
                <a:latin typeface="Google Sans"/>
              </a:rPr>
              <a:t> </a:t>
            </a:r>
            <a:r>
              <a:rPr lang="en-US" b="1" i="0" dirty="0">
                <a:solidFill>
                  <a:srgbClr val="E8E8E8"/>
                </a:solidFill>
                <a:effectLst/>
                <a:latin typeface="Google Sans"/>
              </a:rPr>
              <a:t>Scam</a:t>
            </a:r>
            <a:r>
              <a:rPr lang="en-US" b="0" i="0" dirty="0">
                <a:solidFill>
                  <a:srgbClr val="E8E8E8"/>
                </a:solidFill>
                <a:effectLst/>
                <a:latin typeface="Google Sans"/>
              </a:rPr>
              <a:t> is a dishonest scheme; a fraud, similar to swindle, tric</a:t>
            </a:r>
            <a:r>
              <a:rPr lang="en-US" dirty="0">
                <a:solidFill>
                  <a:srgbClr val="E8E8E8"/>
                </a:solidFill>
                <a:latin typeface="Google Sans"/>
              </a:rPr>
              <a:t>k, etc.</a:t>
            </a:r>
            <a:endParaRPr lang="en-US" b="0" i="0" dirty="0">
              <a:solidFill>
                <a:srgbClr val="E8E8E8"/>
              </a:solidFill>
              <a:effectLst/>
              <a:latin typeface="Google Sans"/>
            </a:endParaRPr>
          </a:p>
        </p:txBody>
      </p:sp>
      <p:sp>
        <p:nvSpPr>
          <p:cNvPr id="4" name="Footer Placeholder 3">
            <a:extLst>
              <a:ext uri="{FF2B5EF4-FFF2-40B4-BE49-F238E27FC236}">
                <a16:creationId xmlns:a16="http://schemas.microsoft.com/office/drawing/2014/main" id="{E25E7E12-6110-4D1B-8B21-E95868B297F4}"/>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C69DD065-7AA2-4358-872F-380C2C751B9A}"/>
              </a:ext>
            </a:extLst>
          </p:cNvPr>
          <p:cNvSpPr>
            <a:spLocks noGrp="1"/>
          </p:cNvSpPr>
          <p:nvPr>
            <p:ph type="sldNum" sz="quarter" idx="12"/>
          </p:nvPr>
        </p:nvSpPr>
        <p:spPr/>
        <p:txBody>
          <a:bodyPr/>
          <a:lstStyle/>
          <a:p>
            <a:fld id="{E153A30B-AAA6-4D3D-89E9-8F9473C4CEC0}" type="slidenum">
              <a:rPr lang="LID4096" smtClean="0"/>
              <a:t>7</a:t>
            </a:fld>
            <a:endParaRPr lang="LID4096"/>
          </a:p>
        </p:txBody>
      </p:sp>
    </p:spTree>
    <p:extLst>
      <p:ext uri="{BB962C8B-B14F-4D97-AF65-F5344CB8AC3E}">
        <p14:creationId xmlns:p14="http://schemas.microsoft.com/office/powerpoint/2010/main" val="2049557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38869-9A21-4B73-A6E3-1A1D78732DD4}"/>
              </a:ext>
            </a:extLst>
          </p:cNvPr>
          <p:cNvSpPr>
            <a:spLocks noGrp="1"/>
          </p:cNvSpPr>
          <p:nvPr>
            <p:ph type="title"/>
          </p:nvPr>
        </p:nvSpPr>
        <p:spPr/>
        <p:txBody>
          <a:bodyPr/>
          <a:lstStyle/>
          <a:p>
            <a:pPr algn="ctr"/>
            <a:r>
              <a:rPr lang="en-US" b="1" dirty="0"/>
              <a:t>Top 5 Cybercrimes (Continues…)</a:t>
            </a:r>
            <a:endParaRPr lang="LID4096" dirty="0"/>
          </a:p>
        </p:txBody>
      </p:sp>
      <p:sp>
        <p:nvSpPr>
          <p:cNvPr id="3" name="Content Placeholder 2">
            <a:extLst>
              <a:ext uri="{FF2B5EF4-FFF2-40B4-BE49-F238E27FC236}">
                <a16:creationId xmlns:a16="http://schemas.microsoft.com/office/drawing/2014/main" id="{6F1F1849-E2DB-485A-8A20-62187FE852AF}"/>
              </a:ext>
            </a:extLst>
          </p:cNvPr>
          <p:cNvSpPr>
            <a:spLocks noGrp="1"/>
          </p:cNvSpPr>
          <p:nvPr>
            <p:ph idx="1"/>
          </p:nvPr>
        </p:nvSpPr>
        <p:spPr/>
        <p:txBody>
          <a:bodyPr>
            <a:normAutofit lnSpcReduction="10000"/>
          </a:bodyPr>
          <a:lstStyle/>
          <a:p>
            <a:pPr marL="457200" indent="-457200">
              <a:buAutoNum type="arabicPeriod" startAt="2"/>
            </a:pPr>
            <a:r>
              <a:rPr lang="en-US" dirty="0"/>
              <a:t> </a:t>
            </a:r>
            <a:r>
              <a:rPr lang="en-US" b="1" dirty="0"/>
              <a:t>Identity Theft</a:t>
            </a:r>
          </a:p>
          <a:p>
            <a:r>
              <a:rPr lang="en-US" dirty="0"/>
              <a:t> The fraudulent practice of using another person's name and personal information in order to obtain credit, loans, etc.</a:t>
            </a:r>
          </a:p>
          <a:p>
            <a:pPr marL="0" indent="0">
              <a:buNone/>
            </a:pPr>
            <a:endParaRPr lang="en-US" dirty="0"/>
          </a:p>
          <a:p>
            <a:pPr marL="457200" indent="-457200">
              <a:buAutoNum type="arabicPeriod" startAt="3"/>
            </a:pPr>
            <a:r>
              <a:rPr lang="en-US" dirty="0"/>
              <a:t> </a:t>
            </a:r>
            <a:r>
              <a:rPr lang="en-US" b="1" dirty="0"/>
              <a:t>Ransomware Attack </a:t>
            </a:r>
          </a:p>
          <a:p>
            <a:r>
              <a:rPr lang="en-US" dirty="0"/>
              <a:t> Is a type of malware that encrypts the victim's personal data until a ransom is paid. </a:t>
            </a:r>
          </a:p>
        </p:txBody>
      </p:sp>
      <p:sp>
        <p:nvSpPr>
          <p:cNvPr id="4" name="Footer Placeholder 3">
            <a:extLst>
              <a:ext uri="{FF2B5EF4-FFF2-40B4-BE49-F238E27FC236}">
                <a16:creationId xmlns:a16="http://schemas.microsoft.com/office/drawing/2014/main" id="{CC25DB43-1B87-4AF8-BF48-91605AA1E646}"/>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35041176-F8CA-48AA-BAC2-09D19A7DA55B}"/>
              </a:ext>
            </a:extLst>
          </p:cNvPr>
          <p:cNvSpPr>
            <a:spLocks noGrp="1"/>
          </p:cNvSpPr>
          <p:nvPr>
            <p:ph type="sldNum" sz="quarter" idx="12"/>
          </p:nvPr>
        </p:nvSpPr>
        <p:spPr/>
        <p:txBody>
          <a:bodyPr/>
          <a:lstStyle/>
          <a:p>
            <a:fld id="{E153A30B-AAA6-4D3D-89E9-8F9473C4CEC0}" type="slidenum">
              <a:rPr lang="LID4096" smtClean="0"/>
              <a:t>8</a:t>
            </a:fld>
            <a:endParaRPr lang="LID4096"/>
          </a:p>
        </p:txBody>
      </p:sp>
    </p:spTree>
    <p:extLst>
      <p:ext uri="{BB962C8B-B14F-4D97-AF65-F5344CB8AC3E}">
        <p14:creationId xmlns:p14="http://schemas.microsoft.com/office/powerpoint/2010/main" val="3112113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53E13-96DC-41E7-AA44-E2EFAAA6B54E}"/>
              </a:ext>
            </a:extLst>
          </p:cNvPr>
          <p:cNvSpPr>
            <a:spLocks noGrp="1"/>
          </p:cNvSpPr>
          <p:nvPr>
            <p:ph type="title"/>
          </p:nvPr>
        </p:nvSpPr>
        <p:spPr/>
        <p:txBody>
          <a:bodyPr/>
          <a:lstStyle/>
          <a:p>
            <a:pPr algn="ctr"/>
            <a:r>
              <a:rPr lang="en-US" b="1" dirty="0"/>
              <a:t>Top 5 Cybercrimes (Continues…)</a:t>
            </a:r>
            <a:endParaRPr lang="LID4096" dirty="0"/>
          </a:p>
        </p:txBody>
      </p:sp>
      <p:sp>
        <p:nvSpPr>
          <p:cNvPr id="3" name="Content Placeholder 2">
            <a:extLst>
              <a:ext uri="{FF2B5EF4-FFF2-40B4-BE49-F238E27FC236}">
                <a16:creationId xmlns:a16="http://schemas.microsoft.com/office/drawing/2014/main" id="{1E95802E-7B31-4252-81BB-FCD9763C3A5F}"/>
              </a:ext>
            </a:extLst>
          </p:cNvPr>
          <p:cNvSpPr>
            <a:spLocks noGrp="1"/>
          </p:cNvSpPr>
          <p:nvPr>
            <p:ph idx="1"/>
          </p:nvPr>
        </p:nvSpPr>
        <p:spPr/>
        <p:txBody>
          <a:bodyPr>
            <a:normAutofit fontScale="92500" lnSpcReduction="10000"/>
          </a:bodyPr>
          <a:lstStyle/>
          <a:p>
            <a:pPr marL="457200" indent="-457200">
              <a:buAutoNum type="arabicPeriod" startAt="4"/>
            </a:pPr>
            <a:r>
              <a:rPr lang="en-US" dirty="0"/>
              <a:t> </a:t>
            </a:r>
            <a:r>
              <a:rPr lang="en-US" b="1" dirty="0"/>
              <a:t>Hacking/Misusing Computer Networks</a:t>
            </a:r>
          </a:p>
          <a:p>
            <a:r>
              <a:rPr lang="en-US" dirty="0"/>
              <a:t> The gaining of unauthorized access to data in a system or computer.</a:t>
            </a:r>
          </a:p>
          <a:p>
            <a:pPr marL="0" indent="0">
              <a:buNone/>
            </a:pPr>
            <a:endParaRPr lang="en-US" dirty="0"/>
          </a:p>
          <a:p>
            <a:pPr marL="457200" indent="-457200">
              <a:buAutoNum type="arabicPeriod" startAt="5"/>
            </a:pPr>
            <a:r>
              <a:rPr lang="en-US" b="1" dirty="0"/>
              <a:t>Internet Fraud </a:t>
            </a:r>
          </a:p>
          <a:p>
            <a:r>
              <a:rPr lang="en-US" dirty="0"/>
              <a:t> Also known as </a:t>
            </a:r>
            <a:r>
              <a:rPr lang="en-US" b="1" dirty="0"/>
              <a:t>online fraud</a:t>
            </a:r>
            <a:r>
              <a:rPr lang="en-US" dirty="0"/>
              <a:t>, refers to any deceptive practice that uses the internet to trick individuals or businesses into giving up personal information, money, or property, often by presenting false offers, scams, or misleading information through emails, websites, or online platforms to gain financial advantage. </a:t>
            </a:r>
          </a:p>
        </p:txBody>
      </p:sp>
      <p:sp>
        <p:nvSpPr>
          <p:cNvPr id="4" name="Footer Placeholder 3">
            <a:extLst>
              <a:ext uri="{FF2B5EF4-FFF2-40B4-BE49-F238E27FC236}">
                <a16:creationId xmlns:a16="http://schemas.microsoft.com/office/drawing/2014/main" id="{189517F1-76FB-4F18-8755-7B4FFE5B8EE1}"/>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BBBF3B9B-49E5-4962-B719-BEE677D65243}"/>
              </a:ext>
            </a:extLst>
          </p:cNvPr>
          <p:cNvSpPr>
            <a:spLocks noGrp="1"/>
          </p:cNvSpPr>
          <p:nvPr>
            <p:ph type="sldNum" sz="quarter" idx="12"/>
          </p:nvPr>
        </p:nvSpPr>
        <p:spPr/>
        <p:txBody>
          <a:bodyPr/>
          <a:lstStyle/>
          <a:p>
            <a:fld id="{E153A30B-AAA6-4D3D-89E9-8F9473C4CEC0}" type="slidenum">
              <a:rPr lang="LID4096" smtClean="0"/>
              <a:t>9</a:t>
            </a:fld>
            <a:endParaRPr lang="LID4096"/>
          </a:p>
        </p:txBody>
      </p:sp>
    </p:spTree>
    <p:extLst>
      <p:ext uri="{BB962C8B-B14F-4D97-AF65-F5344CB8AC3E}">
        <p14:creationId xmlns:p14="http://schemas.microsoft.com/office/powerpoint/2010/main" val="1134781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C26EB-19BA-418B-87B1-092664EA5BAD}"/>
              </a:ext>
            </a:extLst>
          </p:cNvPr>
          <p:cNvSpPr>
            <a:spLocks noGrp="1"/>
          </p:cNvSpPr>
          <p:nvPr>
            <p:ph type="title"/>
          </p:nvPr>
        </p:nvSpPr>
        <p:spPr/>
        <p:txBody>
          <a:bodyPr/>
          <a:lstStyle/>
          <a:p>
            <a:pPr algn="ctr"/>
            <a:r>
              <a:rPr lang="en-US" b="1" dirty="0"/>
              <a:t>PROTECTING AGAINST CYBERCRIMES </a:t>
            </a:r>
            <a:endParaRPr lang="LID4096" b="1" dirty="0"/>
          </a:p>
        </p:txBody>
      </p:sp>
      <p:sp>
        <p:nvSpPr>
          <p:cNvPr id="3" name="Content Placeholder 2">
            <a:extLst>
              <a:ext uri="{FF2B5EF4-FFF2-40B4-BE49-F238E27FC236}">
                <a16:creationId xmlns:a16="http://schemas.microsoft.com/office/drawing/2014/main" id="{006A2F80-26F8-44C2-BC87-18861378E305}"/>
              </a:ext>
            </a:extLst>
          </p:cNvPr>
          <p:cNvSpPr>
            <a:spLocks noGrp="1"/>
          </p:cNvSpPr>
          <p:nvPr>
            <p:ph idx="1"/>
          </p:nvPr>
        </p:nvSpPr>
        <p:spPr/>
        <p:txBody>
          <a:bodyPr/>
          <a:lstStyle/>
          <a:p>
            <a:r>
              <a:rPr lang="en-US" dirty="0"/>
              <a:t> It is important for businesses and individuals to take </a:t>
            </a:r>
            <a:r>
              <a:rPr lang="en-US" b="1" dirty="0"/>
              <a:t>proactive measures </a:t>
            </a:r>
            <a:r>
              <a:rPr lang="en-US" dirty="0"/>
              <a:t>to protect against these types of cybercrimes, such as </a:t>
            </a:r>
            <a:r>
              <a:rPr lang="en-US" b="1" dirty="0"/>
              <a:t>implementing strong security measures</a:t>
            </a:r>
            <a:r>
              <a:rPr lang="en-US" dirty="0"/>
              <a:t> and </a:t>
            </a:r>
            <a:r>
              <a:rPr lang="en-US" b="1" dirty="0"/>
              <a:t>staying vigilant against suspicious activity</a:t>
            </a:r>
            <a:r>
              <a:rPr lang="en-US" dirty="0"/>
              <a:t>.</a:t>
            </a:r>
          </a:p>
          <a:p>
            <a:pPr marL="457200" indent="-457200">
              <a:buFont typeface="+mj-lt"/>
              <a:buAutoNum type="arabicPeriod"/>
            </a:pPr>
            <a:r>
              <a:rPr lang="en-US" dirty="0"/>
              <a:t> Installing and regularly updating </a:t>
            </a:r>
            <a:r>
              <a:rPr lang="en-US" b="1" dirty="0"/>
              <a:t>anti-virus software</a:t>
            </a:r>
          </a:p>
          <a:p>
            <a:pPr marL="457200" indent="-457200">
              <a:buFont typeface="+mj-lt"/>
              <a:buAutoNum type="arabicPeriod"/>
            </a:pPr>
            <a:r>
              <a:rPr lang="en-US" b="1" dirty="0"/>
              <a:t> </a:t>
            </a:r>
            <a:r>
              <a:rPr lang="en-US" dirty="0"/>
              <a:t>Use</a:t>
            </a:r>
            <a:r>
              <a:rPr lang="en-US" b="1" dirty="0"/>
              <a:t> Multi-factor authentication (MFA)</a:t>
            </a:r>
          </a:p>
          <a:p>
            <a:pPr marL="457200" indent="-457200">
              <a:buFont typeface="+mj-lt"/>
              <a:buAutoNum type="arabicPeriod"/>
            </a:pPr>
            <a:r>
              <a:rPr lang="en-US" b="1" dirty="0"/>
              <a:t> </a:t>
            </a:r>
            <a:r>
              <a:rPr lang="en-US" dirty="0"/>
              <a:t>Use</a:t>
            </a:r>
            <a:r>
              <a:rPr lang="en-US" b="1" dirty="0"/>
              <a:t> strong passwords</a:t>
            </a:r>
            <a:endParaRPr lang="LID4096" b="1" dirty="0"/>
          </a:p>
        </p:txBody>
      </p:sp>
      <p:sp>
        <p:nvSpPr>
          <p:cNvPr id="4" name="Footer Placeholder 3">
            <a:extLst>
              <a:ext uri="{FF2B5EF4-FFF2-40B4-BE49-F238E27FC236}">
                <a16:creationId xmlns:a16="http://schemas.microsoft.com/office/drawing/2014/main" id="{2FE06574-1CCA-4972-9A99-7A0CAC317ED3}"/>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AD5B4675-EC15-418C-BDE8-8ABDB93427F8}"/>
              </a:ext>
            </a:extLst>
          </p:cNvPr>
          <p:cNvSpPr>
            <a:spLocks noGrp="1"/>
          </p:cNvSpPr>
          <p:nvPr>
            <p:ph type="sldNum" sz="quarter" idx="12"/>
          </p:nvPr>
        </p:nvSpPr>
        <p:spPr/>
        <p:txBody>
          <a:bodyPr/>
          <a:lstStyle/>
          <a:p>
            <a:fld id="{E153A30B-AAA6-4D3D-89E9-8F9473C4CEC0}" type="slidenum">
              <a:rPr lang="LID4096" smtClean="0"/>
              <a:t>10</a:t>
            </a:fld>
            <a:endParaRPr lang="LID4096"/>
          </a:p>
        </p:txBody>
      </p:sp>
    </p:spTree>
    <p:extLst>
      <p:ext uri="{BB962C8B-B14F-4D97-AF65-F5344CB8AC3E}">
        <p14:creationId xmlns:p14="http://schemas.microsoft.com/office/powerpoint/2010/main" val="3978072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22364-5AB7-44DC-95A1-298102E4B11D}"/>
              </a:ext>
            </a:extLst>
          </p:cNvPr>
          <p:cNvSpPr>
            <a:spLocks noGrp="1"/>
          </p:cNvSpPr>
          <p:nvPr>
            <p:ph type="title"/>
          </p:nvPr>
        </p:nvSpPr>
        <p:spPr/>
        <p:txBody>
          <a:bodyPr/>
          <a:lstStyle/>
          <a:p>
            <a:pPr algn="ctr"/>
            <a:r>
              <a:rPr lang="en-US" b="1" dirty="0"/>
              <a:t>Types of Cyber Criminals</a:t>
            </a:r>
            <a:endParaRPr lang="LID4096" dirty="0"/>
          </a:p>
        </p:txBody>
      </p:sp>
      <p:sp>
        <p:nvSpPr>
          <p:cNvPr id="3" name="Content Placeholder 2">
            <a:extLst>
              <a:ext uri="{FF2B5EF4-FFF2-40B4-BE49-F238E27FC236}">
                <a16:creationId xmlns:a16="http://schemas.microsoft.com/office/drawing/2014/main" id="{72721B93-FA9B-4B03-A520-025C45EA2982}"/>
              </a:ext>
            </a:extLst>
          </p:cNvPr>
          <p:cNvSpPr>
            <a:spLocks noGrp="1"/>
          </p:cNvSpPr>
          <p:nvPr>
            <p:ph idx="1"/>
          </p:nvPr>
        </p:nvSpPr>
        <p:spPr/>
        <p:txBody>
          <a:bodyPr/>
          <a:lstStyle/>
          <a:p>
            <a:pPr marL="457200" indent="-457200">
              <a:buFont typeface="+mj-lt"/>
              <a:buAutoNum type="arabicPeriod"/>
            </a:pPr>
            <a:r>
              <a:rPr lang="en-US" dirty="0"/>
              <a:t> </a:t>
            </a:r>
            <a:r>
              <a:rPr lang="en-US" b="1" dirty="0"/>
              <a:t>Hackers /Attackers </a:t>
            </a:r>
          </a:p>
          <a:p>
            <a:r>
              <a:rPr lang="en-US" dirty="0"/>
              <a:t> Individuals who use their expertise to gain unauthorized access to computer systems or networks for various reasons such as stealing data or causing damage. </a:t>
            </a:r>
          </a:p>
          <a:p>
            <a:r>
              <a:rPr lang="en-US" dirty="0"/>
              <a:t>They can be motivated by financial gain, political or social causes, or simply a desire to test their skills.</a:t>
            </a:r>
          </a:p>
          <a:p>
            <a:endParaRPr lang="LID4096" dirty="0"/>
          </a:p>
        </p:txBody>
      </p:sp>
      <p:sp>
        <p:nvSpPr>
          <p:cNvPr id="4" name="Footer Placeholder 3">
            <a:extLst>
              <a:ext uri="{FF2B5EF4-FFF2-40B4-BE49-F238E27FC236}">
                <a16:creationId xmlns:a16="http://schemas.microsoft.com/office/drawing/2014/main" id="{F97401C6-D9FF-4161-A39C-F958B42639EA}"/>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6A85A8AF-0B6F-4616-86E6-C50E89041897}"/>
              </a:ext>
            </a:extLst>
          </p:cNvPr>
          <p:cNvSpPr>
            <a:spLocks noGrp="1"/>
          </p:cNvSpPr>
          <p:nvPr>
            <p:ph type="sldNum" sz="quarter" idx="12"/>
          </p:nvPr>
        </p:nvSpPr>
        <p:spPr/>
        <p:txBody>
          <a:bodyPr/>
          <a:lstStyle/>
          <a:p>
            <a:fld id="{E153A30B-AAA6-4D3D-89E9-8F9473C4CEC0}" type="slidenum">
              <a:rPr lang="LID4096" smtClean="0"/>
              <a:t>11</a:t>
            </a:fld>
            <a:endParaRPr lang="LID4096"/>
          </a:p>
        </p:txBody>
      </p:sp>
    </p:spTree>
    <p:extLst>
      <p:ext uri="{BB962C8B-B14F-4D97-AF65-F5344CB8AC3E}">
        <p14:creationId xmlns:p14="http://schemas.microsoft.com/office/powerpoint/2010/main" val="1345763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E65F7-42C6-4009-B3AB-66384D2E0ADA}"/>
              </a:ext>
            </a:extLst>
          </p:cNvPr>
          <p:cNvSpPr>
            <a:spLocks noGrp="1"/>
          </p:cNvSpPr>
          <p:nvPr>
            <p:ph type="title"/>
          </p:nvPr>
        </p:nvSpPr>
        <p:spPr/>
        <p:txBody>
          <a:bodyPr/>
          <a:lstStyle/>
          <a:p>
            <a:pPr algn="ctr"/>
            <a:r>
              <a:rPr lang="en-US" b="1" dirty="0"/>
              <a:t>Types of Cyber Criminals (continues…)</a:t>
            </a:r>
            <a:endParaRPr lang="LID4096" dirty="0"/>
          </a:p>
        </p:txBody>
      </p:sp>
      <p:sp>
        <p:nvSpPr>
          <p:cNvPr id="3" name="Content Placeholder 2">
            <a:extLst>
              <a:ext uri="{FF2B5EF4-FFF2-40B4-BE49-F238E27FC236}">
                <a16:creationId xmlns:a16="http://schemas.microsoft.com/office/drawing/2014/main" id="{43256087-8CD3-406A-B839-C498253997B9}"/>
              </a:ext>
            </a:extLst>
          </p:cNvPr>
          <p:cNvSpPr>
            <a:spLocks noGrp="1"/>
          </p:cNvSpPr>
          <p:nvPr>
            <p:ph idx="1"/>
          </p:nvPr>
        </p:nvSpPr>
        <p:spPr/>
        <p:txBody>
          <a:bodyPr>
            <a:normAutofit lnSpcReduction="10000"/>
          </a:bodyPr>
          <a:lstStyle/>
          <a:p>
            <a:pPr marL="457200" indent="-457200">
              <a:buAutoNum type="arabicPeriod" startAt="2"/>
            </a:pPr>
            <a:r>
              <a:rPr lang="en-US" dirty="0"/>
              <a:t> </a:t>
            </a:r>
            <a:r>
              <a:rPr lang="en-US" b="1" dirty="0"/>
              <a:t>Insiders</a:t>
            </a:r>
          </a:p>
          <a:p>
            <a:r>
              <a:rPr lang="en-US" dirty="0"/>
              <a:t>Individuals who have authorized access to computer systems or networks but misuse their access for personal gain or to harm the organization. </a:t>
            </a:r>
          </a:p>
          <a:p>
            <a:pPr marL="0" indent="0">
              <a:buNone/>
            </a:pPr>
            <a:endParaRPr lang="en-US" dirty="0"/>
          </a:p>
          <a:p>
            <a:pPr marL="457200" indent="-457200">
              <a:buAutoNum type="arabicPeriod" startAt="3"/>
            </a:pPr>
            <a:r>
              <a:rPr lang="en-US" dirty="0"/>
              <a:t> </a:t>
            </a:r>
            <a:r>
              <a:rPr lang="en-US" b="1" dirty="0"/>
              <a:t>Organized Crime Groups</a:t>
            </a:r>
          </a:p>
          <a:p>
            <a:r>
              <a:rPr lang="en-US" dirty="0"/>
              <a:t>Groups of individuals who engage in cybercrime for financial gain or other criminal activities. </a:t>
            </a:r>
          </a:p>
        </p:txBody>
      </p:sp>
      <p:sp>
        <p:nvSpPr>
          <p:cNvPr id="4" name="Footer Placeholder 3">
            <a:extLst>
              <a:ext uri="{FF2B5EF4-FFF2-40B4-BE49-F238E27FC236}">
                <a16:creationId xmlns:a16="http://schemas.microsoft.com/office/drawing/2014/main" id="{77A5A0B8-ED42-4E06-8EF8-29789A213033}"/>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CC089175-5DDB-4DE5-9501-4BF5B1A141F3}"/>
              </a:ext>
            </a:extLst>
          </p:cNvPr>
          <p:cNvSpPr>
            <a:spLocks noGrp="1"/>
          </p:cNvSpPr>
          <p:nvPr>
            <p:ph type="sldNum" sz="quarter" idx="12"/>
          </p:nvPr>
        </p:nvSpPr>
        <p:spPr/>
        <p:txBody>
          <a:bodyPr/>
          <a:lstStyle/>
          <a:p>
            <a:fld id="{E153A30B-AAA6-4D3D-89E9-8F9473C4CEC0}" type="slidenum">
              <a:rPr lang="LID4096" smtClean="0"/>
              <a:t>12</a:t>
            </a:fld>
            <a:endParaRPr lang="LID4096"/>
          </a:p>
        </p:txBody>
      </p:sp>
    </p:spTree>
    <p:extLst>
      <p:ext uri="{BB962C8B-B14F-4D97-AF65-F5344CB8AC3E}">
        <p14:creationId xmlns:p14="http://schemas.microsoft.com/office/powerpoint/2010/main" val="1497710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4F842-8B1F-4DDC-A8CC-CE6D306C5DCC}"/>
              </a:ext>
            </a:extLst>
          </p:cNvPr>
          <p:cNvSpPr>
            <a:spLocks noGrp="1"/>
          </p:cNvSpPr>
          <p:nvPr>
            <p:ph type="title"/>
          </p:nvPr>
        </p:nvSpPr>
        <p:spPr/>
        <p:txBody>
          <a:bodyPr/>
          <a:lstStyle/>
          <a:p>
            <a:pPr algn="ctr"/>
            <a:r>
              <a:rPr lang="en-US" b="1" dirty="0"/>
              <a:t>Types of Cyber Criminals (continues…)</a:t>
            </a:r>
            <a:endParaRPr lang="LID4096" dirty="0"/>
          </a:p>
        </p:txBody>
      </p:sp>
      <p:sp>
        <p:nvSpPr>
          <p:cNvPr id="3" name="Content Placeholder 2">
            <a:extLst>
              <a:ext uri="{FF2B5EF4-FFF2-40B4-BE49-F238E27FC236}">
                <a16:creationId xmlns:a16="http://schemas.microsoft.com/office/drawing/2014/main" id="{D8FE4710-313B-4796-A787-398A34D5CE14}"/>
              </a:ext>
            </a:extLst>
          </p:cNvPr>
          <p:cNvSpPr>
            <a:spLocks noGrp="1"/>
          </p:cNvSpPr>
          <p:nvPr>
            <p:ph idx="1"/>
          </p:nvPr>
        </p:nvSpPr>
        <p:spPr/>
        <p:txBody>
          <a:bodyPr/>
          <a:lstStyle/>
          <a:p>
            <a:pPr marL="457200" indent="-457200">
              <a:buAutoNum type="arabicPeriod" startAt="4"/>
            </a:pPr>
            <a:r>
              <a:rPr lang="en-US" dirty="0"/>
              <a:t> </a:t>
            </a:r>
            <a:r>
              <a:rPr lang="en-US" b="1" dirty="0"/>
              <a:t>National / States</a:t>
            </a:r>
          </a:p>
          <a:p>
            <a:r>
              <a:rPr lang="en-US" dirty="0"/>
              <a:t>Governments or state-sponsored groups use cyber-attacks for political or military purposes. </a:t>
            </a:r>
          </a:p>
          <a:p>
            <a:r>
              <a:rPr lang="en-US" dirty="0"/>
              <a:t>Nation-states can use cyber-attacks to gather intelligence, disrupt systems, or gain a strategic advantage over other countries.</a:t>
            </a:r>
          </a:p>
          <a:p>
            <a:pPr marL="0" indent="0">
              <a:buNone/>
            </a:pPr>
            <a:endParaRPr lang="en-US" dirty="0"/>
          </a:p>
          <a:p>
            <a:pPr marL="0" indent="0">
              <a:buNone/>
            </a:pPr>
            <a:endParaRPr lang="en-US" dirty="0"/>
          </a:p>
          <a:p>
            <a:pPr marL="457200" indent="-457200">
              <a:buAutoNum type="arabicPeriod" startAt="4"/>
            </a:pPr>
            <a:endParaRPr lang="en-US" dirty="0"/>
          </a:p>
        </p:txBody>
      </p:sp>
      <p:sp>
        <p:nvSpPr>
          <p:cNvPr id="4" name="Footer Placeholder 3">
            <a:extLst>
              <a:ext uri="{FF2B5EF4-FFF2-40B4-BE49-F238E27FC236}">
                <a16:creationId xmlns:a16="http://schemas.microsoft.com/office/drawing/2014/main" id="{35629978-02DE-4A1C-B12E-753A36F0E8FD}"/>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3DDDB0A5-9410-4EF1-A513-6E16983B8A33}"/>
              </a:ext>
            </a:extLst>
          </p:cNvPr>
          <p:cNvSpPr>
            <a:spLocks noGrp="1"/>
          </p:cNvSpPr>
          <p:nvPr>
            <p:ph type="sldNum" sz="quarter" idx="12"/>
          </p:nvPr>
        </p:nvSpPr>
        <p:spPr/>
        <p:txBody>
          <a:bodyPr/>
          <a:lstStyle/>
          <a:p>
            <a:fld id="{E153A30B-AAA6-4D3D-89E9-8F9473C4CEC0}" type="slidenum">
              <a:rPr lang="LID4096" smtClean="0"/>
              <a:t>13</a:t>
            </a:fld>
            <a:endParaRPr lang="LID4096"/>
          </a:p>
        </p:txBody>
      </p:sp>
    </p:spTree>
    <p:extLst>
      <p:ext uri="{BB962C8B-B14F-4D97-AF65-F5344CB8AC3E}">
        <p14:creationId xmlns:p14="http://schemas.microsoft.com/office/powerpoint/2010/main" val="4289639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80D04-43C5-4094-AE15-DF55D50ADDF2}"/>
              </a:ext>
            </a:extLst>
          </p:cNvPr>
          <p:cNvSpPr>
            <a:spLocks noGrp="1"/>
          </p:cNvSpPr>
          <p:nvPr>
            <p:ph type="title"/>
          </p:nvPr>
        </p:nvSpPr>
        <p:spPr/>
        <p:txBody>
          <a:bodyPr/>
          <a:lstStyle/>
          <a:p>
            <a:pPr algn="ctr"/>
            <a:r>
              <a:rPr lang="en-US" b="1" dirty="0"/>
              <a:t>Types of Cyber Criminals (continues…)</a:t>
            </a:r>
            <a:endParaRPr lang="LID4096" dirty="0"/>
          </a:p>
        </p:txBody>
      </p:sp>
      <p:sp>
        <p:nvSpPr>
          <p:cNvPr id="3" name="Content Placeholder 2">
            <a:extLst>
              <a:ext uri="{FF2B5EF4-FFF2-40B4-BE49-F238E27FC236}">
                <a16:creationId xmlns:a16="http://schemas.microsoft.com/office/drawing/2014/main" id="{B0528234-660B-49BD-ABC1-AC9048E95A9C}"/>
              </a:ext>
            </a:extLst>
          </p:cNvPr>
          <p:cNvSpPr>
            <a:spLocks noGrp="1"/>
          </p:cNvSpPr>
          <p:nvPr>
            <p:ph idx="1"/>
          </p:nvPr>
        </p:nvSpPr>
        <p:spPr/>
        <p:txBody>
          <a:bodyPr/>
          <a:lstStyle/>
          <a:p>
            <a:pPr marL="457200" indent="-457200">
              <a:buAutoNum type="arabicPeriod" startAt="5"/>
            </a:pPr>
            <a:r>
              <a:rPr lang="en-US" dirty="0"/>
              <a:t> </a:t>
            </a:r>
            <a:r>
              <a:rPr lang="en-US" b="1" dirty="0"/>
              <a:t>Cyberterrorists</a:t>
            </a:r>
          </a:p>
          <a:p>
            <a:r>
              <a:rPr lang="en-US" dirty="0"/>
              <a:t>Individuals or groups that use cyber-attacks to cause fear, disrupt systems, or harm individuals or organizations. </a:t>
            </a:r>
          </a:p>
          <a:p>
            <a:r>
              <a:rPr lang="en-US" dirty="0"/>
              <a:t>They can be motivated by political or social causes.</a:t>
            </a:r>
          </a:p>
        </p:txBody>
      </p:sp>
      <p:sp>
        <p:nvSpPr>
          <p:cNvPr id="4" name="Footer Placeholder 3">
            <a:extLst>
              <a:ext uri="{FF2B5EF4-FFF2-40B4-BE49-F238E27FC236}">
                <a16:creationId xmlns:a16="http://schemas.microsoft.com/office/drawing/2014/main" id="{19B40262-848A-48E0-B097-1555327B1508}"/>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283A03B2-A7AD-4DDB-BF8F-A51EAB236B2F}"/>
              </a:ext>
            </a:extLst>
          </p:cNvPr>
          <p:cNvSpPr>
            <a:spLocks noGrp="1"/>
          </p:cNvSpPr>
          <p:nvPr>
            <p:ph type="sldNum" sz="quarter" idx="12"/>
          </p:nvPr>
        </p:nvSpPr>
        <p:spPr/>
        <p:txBody>
          <a:bodyPr/>
          <a:lstStyle/>
          <a:p>
            <a:fld id="{E153A30B-AAA6-4D3D-89E9-8F9473C4CEC0}" type="slidenum">
              <a:rPr lang="LID4096" smtClean="0"/>
              <a:t>14</a:t>
            </a:fld>
            <a:endParaRPr lang="LID4096"/>
          </a:p>
        </p:txBody>
      </p:sp>
    </p:spTree>
    <p:extLst>
      <p:ext uri="{BB962C8B-B14F-4D97-AF65-F5344CB8AC3E}">
        <p14:creationId xmlns:p14="http://schemas.microsoft.com/office/powerpoint/2010/main" val="2023841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1AD4E-4DF0-4FDA-AE48-418E8E20DB29}"/>
              </a:ext>
            </a:extLst>
          </p:cNvPr>
          <p:cNvSpPr>
            <a:spLocks noGrp="1"/>
          </p:cNvSpPr>
          <p:nvPr>
            <p:ph type="title"/>
          </p:nvPr>
        </p:nvSpPr>
        <p:spPr/>
        <p:txBody>
          <a:bodyPr/>
          <a:lstStyle/>
          <a:p>
            <a:pPr algn="ctr"/>
            <a:r>
              <a:rPr lang="en-US" b="1" dirty="0"/>
              <a:t>Digital forensics </a:t>
            </a:r>
            <a:endParaRPr lang="LID4096" b="1" dirty="0"/>
          </a:p>
        </p:txBody>
      </p:sp>
      <p:sp>
        <p:nvSpPr>
          <p:cNvPr id="3" name="Content Placeholder 2">
            <a:extLst>
              <a:ext uri="{FF2B5EF4-FFF2-40B4-BE49-F238E27FC236}">
                <a16:creationId xmlns:a16="http://schemas.microsoft.com/office/drawing/2014/main" id="{98EC0BE2-621F-4BC1-922B-5FEE379D6963}"/>
              </a:ext>
            </a:extLst>
          </p:cNvPr>
          <p:cNvSpPr>
            <a:spLocks noGrp="1"/>
          </p:cNvSpPr>
          <p:nvPr>
            <p:ph idx="1"/>
          </p:nvPr>
        </p:nvSpPr>
        <p:spPr/>
        <p:txBody>
          <a:bodyPr>
            <a:normAutofit/>
          </a:bodyPr>
          <a:lstStyle/>
          <a:p>
            <a:r>
              <a:rPr lang="en-US" dirty="0"/>
              <a:t> </a:t>
            </a:r>
            <a:r>
              <a:rPr lang="en-US" b="1" dirty="0"/>
              <a:t>Cybercrime investigation </a:t>
            </a:r>
            <a:r>
              <a:rPr lang="en-US" dirty="0"/>
              <a:t>techniques involve a combination of </a:t>
            </a:r>
            <a:r>
              <a:rPr lang="en-US" b="1" dirty="0"/>
              <a:t>technical</a:t>
            </a:r>
            <a:r>
              <a:rPr lang="en-US" dirty="0"/>
              <a:t> and </a:t>
            </a:r>
            <a:r>
              <a:rPr lang="en-US" b="1" dirty="0"/>
              <a:t>non-technical</a:t>
            </a:r>
            <a:r>
              <a:rPr lang="en-US" dirty="0"/>
              <a:t> methods for gathering evidence and identifying suspects. </a:t>
            </a:r>
          </a:p>
          <a:p>
            <a:r>
              <a:rPr lang="en-US" dirty="0"/>
              <a:t>One of the most important techniques used in cybercrime investigation is </a:t>
            </a:r>
            <a:r>
              <a:rPr lang="en-US" b="1" dirty="0"/>
              <a:t>digital forensics</a:t>
            </a:r>
            <a:r>
              <a:rPr lang="en-US" dirty="0"/>
              <a:t>.</a:t>
            </a:r>
          </a:p>
          <a:p>
            <a:r>
              <a:rPr lang="en-US" dirty="0"/>
              <a:t> </a:t>
            </a:r>
            <a:r>
              <a:rPr lang="en-US" b="1" dirty="0"/>
              <a:t>Digital forensics </a:t>
            </a:r>
            <a:r>
              <a:rPr lang="en-US" dirty="0"/>
              <a:t>involves the collection, preservation, and analysis of digital evidence. </a:t>
            </a:r>
          </a:p>
          <a:p>
            <a:endParaRPr lang="LID4096" dirty="0"/>
          </a:p>
        </p:txBody>
      </p:sp>
      <p:sp>
        <p:nvSpPr>
          <p:cNvPr id="4" name="Footer Placeholder 3">
            <a:extLst>
              <a:ext uri="{FF2B5EF4-FFF2-40B4-BE49-F238E27FC236}">
                <a16:creationId xmlns:a16="http://schemas.microsoft.com/office/drawing/2014/main" id="{DC4D9CCA-6CE0-485C-BA47-7B3D7034FF1C}"/>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155E1D13-B011-4F75-AC02-73DE535C6E11}"/>
              </a:ext>
            </a:extLst>
          </p:cNvPr>
          <p:cNvSpPr>
            <a:spLocks noGrp="1"/>
          </p:cNvSpPr>
          <p:nvPr>
            <p:ph type="sldNum" sz="quarter" idx="12"/>
          </p:nvPr>
        </p:nvSpPr>
        <p:spPr/>
        <p:txBody>
          <a:bodyPr/>
          <a:lstStyle/>
          <a:p>
            <a:fld id="{E153A30B-AAA6-4D3D-89E9-8F9473C4CEC0}" type="slidenum">
              <a:rPr lang="LID4096" smtClean="0"/>
              <a:t>15</a:t>
            </a:fld>
            <a:endParaRPr lang="LID4096"/>
          </a:p>
        </p:txBody>
      </p:sp>
    </p:spTree>
    <p:extLst>
      <p:ext uri="{BB962C8B-B14F-4D97-AF65-F5344CB8AC3E}">
        <p14:creationId xmlns:p14="http://schemas.microsoft.com/office/powerpoint/2010/main" val="4045373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5AD72-956E-4F9E-A9F0-DBA2275EA0A1}"/>
              </a:ext>
            </a:extLst>
          </p:cNvPr>
          <p:cNvSpPr>
            <a:spLocks noGrp="1"/>
          </p:cNvSpPr>
          <p:nvPr>
            <p:ph type="title"/>
          </p:nvPr>
        </p:nvSpPr>
        <p:spPr/>
        <p:txBody>
          <a:bodyPr/>
          <a:lstStyle/>
          <a:p>
            <a:pPr algn="ctr"/>
            <a:r>
              <a:rPr lang="en-US" b="1" dirty="0"/>
              <a:t>Digital forensics (continues…)</a:t>
            </a:r>
            <a:endParaRPr lang="LID4096" dirty="0"/>
          </a:p>
        </p:txBody>
      </p:sp>
      <p:sp>
        <p:nvSpPr>
          <p:cNvPr id="3" name="Content Placeholder 2">
            <a:extLst>
              <a:ext uri="{FF2B5EF4-FFF2-40B4-BE49-F238E27FC236}">
                <a16:creationId xmlns:a16="http://schemas.microsoft.com/office/drawing/2014/main" id="{BD9C598D-8F21-483C-9475-F273CC7C888F}"/>
              </a:ext>
            </a:extLst>
          </p:cNvPr>
          <p:cNvSpPr>
            <a:spLocks noGrp="1"/>
          </p:cNvSpPr>
          <p:nvPr>
            <p:ph idx="1"/>
          </p:nvPr>
        </p:nvSpPr>
        <p:spPr/>
        <p:txBody>
          <a:bodyPr/>
          <a:lstStyle/>
          <a:p>
            <a:r>
              <a:rPr lang="en-US" dirty="0"/>
              <a:t> Digital forensics can include;</a:t>
            </a:r>
          </a:p>
          <a:p>
            <a:pPr marL="457200" indent="-457200">
              <a:buFont typeface="+mj-lt"/>
              <a:buAutoNum type="arabicPeriod"/>
            </a:pPr>
            <a:r>
              <a:rPr lang="en-US" dirty="0"/>
              <a:t>The </a:t>
            </a:r>
            <a:r>
              <a:rPr lang="en-US" b="1" dirty="0"/>
              <a:t>recovery of deleted files</a:t>
            </a:r>
            <a:r>
              <a:rPr lang="en-US" dirty="0"/>
              <a:t>, </a:t>
            </a:r>
          </a:p>
          <a:p>
            <a:pPr marL="457200" indent="-457200">
              <a:buFont typeface="+mj-lt"/>
              <a:buAutoNum type="arabicPeriod"/>
            </a:pPr>
            <a:r>
              <a:rPr lang="en-US" b="1" dirty="0"/>
              <a:t>analyzing metadata</a:t>
            </a:r>
            <a:r>
              <a:rPr lang="en-US" dirty="0"/>
              <a:t>, and </a:t>
            </a:r>
          </a:p>
          <a:p>
            <a:pPr marL="457200" indent="-457200">
              <a:buFont typeface="+mj-lt"/>
              <a:buAutoNum type="arabicPeriod"/>
            </a:pPr>
            <a:r>
              <a:rPr lang="en-US" b="1" dirty="0"/>
              <a:t>examining network traffic logs</a:t>
            </a:r>
            <a:r>
              <a:rPr lang="en-US" dirty="0"/>
              <a:t>. </a:t>
            </a:r>
          </a:p>
          <a:p>
            <a:endParaRPr lang="LID4096" dirty="0"/>
          </a:p>
        </p:txBody>
      </p:sp>
      <p:sp>
        <p:nvSpPr>
          <p:cNvPr id="4" name="Footer Placeholder 3">
            <a:extLst>
              <a:ext uri="{FF2B5EF4-FFF2-40B4-BE49-F238E27FC236}">
                <a16:creationId xmlns:a16="http://schemas.microsoft.com/office/drawing/2014/main" id="{19BB6BCB-590D-496F-AF90-1C4C6887B0D7}"/>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FEB1E09E-6936-44A3-83C1-E353AEABCC0A}"/>
              </a:ext>
            </a:extLst>
          </p:cNvPr>
          <p:cNvSpPr>
            <a:spLocks noGrp="1"/>
          </p:cNvSpPr>
          <p:nvPr>
            <p:ph type="sldNum" sz="quarter" idx="12"/>
          </p:nvPr>
        </p:nvSpPr>
        <p:spPr/>
        <p:txBody>
          <a:bodyPr/>
          <a:lstStyle/>
          <a:p>
            <a:fld id="{E153A30B-AAA6-4D3D-89E9-8F9473C4CEC0}" type="slidenum">
              <a:rPr lang="LID4096" smtClean="0"/>
              <a:t>16</a:t>
            </a:fld>
            <a:endParaRPr lang="LID4096"/>
          </a:p>
        </p:txBody>
      </p:sp>
    </p:spTree>
    <p:extLst>
      <p:ext uri="{BB962C8B-B14F-4D97-AF65-F5344CB8AC3E}">
        <p14:creationId xmlns:p14="http://schemas.microsoft.com/office/powerpoint/2010/main" val="1295091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9914A-27A3-4710-BD70-0E064FA8F471}"/>
              </a:ext>
            </a:extLst>
          </p:cNvPr>
          <p:cNvSpPr>
            <a:spLocks noGrp="1"/>
          </p:cNvSpPr>
          <p:nvPr>
            <p:ph type="title"/>
          </p:nvPr>
        </p:nvSpPr>
        <p:spPr/>
        <p:txBody>
          <a:bodyPr/>
          <a:lstStyle/>
          <a:p>
            <a:pPr algn="ctr"/>
            <a:r>
              <a:rPr lang="en-US" b="1" dirty="0"/>
              <a:t>Cybercrime Investigation Techniques</a:t>
            </a:r>
            <a:endParaRPr lang="LID4096" dirty="0"/>
          </a:p>
        </p:txBody>
      </p:sp>
      <p:sp>
        <p:nvSpPr>
          <p:cNvPr id="3" name="Content Placeholder 2">
            <a:extLst>
              <a:ext uri="{FF2B5EF4-FFF2-40B4-BE49-F238E27FC236}">
                <a16:creationId xmlns:a16="http://schemas.microsoft.com/office/drawing/2014/main" id="{AB5B5C29-6D42-4360-BD89-3AA49595F828}"/>
              </a:ext>
            </a:extLst>
          </p:cNvPr>
          <p:cNvSpPr>
            <a:spLocks noGrp="1"/>
          </p:cNvSpPr>
          <p:nvPr>
            <p:ph idx="1"/>
          </p:nvPr>
        </p:nvSpPr>
        <p:spPr/>
        <p:txBody>
          <a:bodyPr>
            <a:normAutofit fontScale="85000" lnSpcReduction="20000"/>
          </a:bodyPr>
          <a:lstStyle/>
          <a:p>
            <a:pPr marL="457200" indent="-457200">
              <a:buFont typeface="+mj-lt"/>
              <a:buAutoNum type="arabicPeriod"/>
            </a:pPr>
            <a:r>
              <a:rPr lang="en-US" dirty="0"/>
              <a:t> </a:t>
            </a:r>
            <a:r>
              <a:rPr lang="en-US" b="1" dirty="0"/>
              <a:t>Conducting interviews with witnesses</a:t>
            </a:r>
            <a:endParaRPr lang="en-US" dirty="0"/>
          </a:p>
          <a:p>
            <a:pPr marL="457200" indent="-457200">
              <a:buFont typeface="+mj-lt"/>
              <a:buAutoNum type="arabicPeriod"/>
            </a:pPr>
            <a:r>
              <a:rPr lang="en-US" dirty="0"/>
              <a:t>Reviewing </a:t>
            </a:r>
            <a:r>
              <a:rPr lang="en-US" b="1" dirty="0"/>
              <a:t>surveillance footage</a:t>
            </a:r>
            <a:endParaRPr lang="en-US" dirty="0"/>
          </a:p>
          <a:p>
            <a:pPr marL="457200" indent="-457200">
              <a:buFont typeface="+mj-lt"/>
              <a:buAutoNum type="arabicPeriod"/>
            </a:pPr>
            <a:r>
              <a:rPr lang="en-US" b="1" dirty="0"/>
              <a:t>Analyzing financial records to track the flow of money</a:t>
            </a:r>
            <a:endParaRPr lang="en-US" dirty="0"/>
          </a:p>
          <a:p>
            <a:pPr marL="457200" indent="-457200">
              <a:buFont typeface="+mj-lt"/>
              <a:buAutoNum type="arabicPeriod"/>
            </a:pPr>
            <a:r>
              <a:rPr lang="en-US" dirty="0"/>
              <a:t>Use </a:t>
            </a:r>
            <a:r>
              <a:rPr lang="en-US" b="1" dirty="0"/>
              <a:t>social engineering techniques </a:t>
            </a:r>
            <a:r>
              <a:rPr lang="en-US" dirty="0"/>
              <a:t>to gather information about suspects, such as posing as potential victims or using fake social media profiles to gain access to information.</a:t>
            </a:r>
          </a:p>
          <a:p>
            <a:pPr marL="457200" indent="-457200">
              <a:buFont typeface="+mj-lt"/>
              <a:buAutoNum type="arabicPeriod"/>
            </a:pPr>
            <a:r>
              <a:rPr lang="en-US" b="1" dirty="0"/>
              <a:t>Collaboration and Specialization Unit </a:t>
            </a:r>
            <a:r>
              <a:rPr lang="en-US" dirty="0"/>
              <a:t>– Cybercrime investigations often involve multiple agencies and organizations, and it's important for investigators to work together to share information and resources.</a:t>
            </a:r>
          </a:p>
          <a:p>
            <a:pPr marL="457200" indent="-457200">
              <a:buFont typeface="+mj-lt"/>
              <a:buAutoNum type="arabicPeriod"/>
            </a:pPr>
            <a:r>
              <a:rPr lang="en-US" dirty="0"/>
              <a:t> </a:t>
            </a:r>
            <a:r>
              <a:rPr lang="en-US" b="1" dirty="0"/>
              <a:t>Digital Forensics </a:t>
            </a:r>
          </a:p>
          <a:p>
            <a:pPr marL="457200" indent="-457200">
              <a:buFont typeface="+mj-lt"/>
              <a:buAutoNum type="arabicPeriod"/>
            </a:pPr>
            <a:endParaRPr lang="LID4096" dirty="0"/>
          </a:p>
        </p:txBody>
      </p:sp>
      <p:sp>
        <p:nvSpPr>
          <p:cNvPr id="4" name="Footer Placeholder 3">
            <a:extLst>
              <a:ext uri="{FF2B5EF4-FFF2-40B4-BE49-F238E27FC236}">
                <a16:creationId xmlns:a16="http://schemas.microsoft.com/office/drawing/2014/main" id="{0AC5827B-CCBC-4E6D-9A50-FB4C5BF00A62}"/>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F6D0920B-5DF1-4260-8D37-364041A6773A}"/>
              </a:ext>
            </a:extLst>
          </p:cNvPr>
          <p:cNvSpPr>
            <a:spLocks noGrp="1"/>
          </p:cNvSpPr>
          <p:nvPr>
            <p:ph type="sldNum" sz="quarter" idx="12"/>
          </p:nvPr>
        </p:nvSpPr>
        <p:spPr/>
        <p:txBody>
          <a:bodyPr/>
          <a:lstStyle/>
          <a:p>
            <a:fld id="{E153A30B-AAA6-4D3D-89E9-8F9473C4CEC0}" type="slidenum">
              <a:rPr lang="LID4096" smtClean="0"/>
              <a:t>17</a:t>
            </a:fld>
            <a:endParaRPr lang="LID4096"/>
          </a:p>
        </p:txBody>
      </p:sp>
    </p:spTree>
    <p:extLst>
      <p:ext uri="{BB962C8B-B14F-4D97-AF65-F5344CB8AC3E}">
        <p14:creationId xmlns:p14="http://schemas.microsoft.com/office/powerpoint/2010/main" val="517874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23A98-2C7A-492F-9573-CCB5F164A96E}"/>
              </a:ext>
            </a:extLst>
          </p:cNvPr>
          <p:cNvSpPr>
            <a:spLocks noGrp="1"/>
          </p:cNvSpPr>
          <p:nvPr>
            <p:ph type="title"/>
          </p:nvPr>
        </p:nvSpPr>
        <p:spPr/>
        <p:txBody>
          <a:bodyPr/>
          <a:lstStyle/>
          <a:p>
            <a:pPr algn="ctr"/>
            <a:r>
              <a:rPr lang="en-US" b="1" dirty="0"/>
              <a:t>Cybercrime Investigation Tools</a:t>
            </a:r>
            <a:endParaRPr lang="LID4096" dirty="0"/>
          </a:p>
        </p:txBody>
      </p:sp>
      <p:sp>
        <p:nvSpPr>
          <p:cNvPr id="3" name="Content Placeholder 2">
            <a:extLst>
              <a:ext uri="{FF2B5EF4-FFF2-40B4-BE49-F238E27FC236}">
                <a16:creationId xmlns:a16="http://schemas.microsoft.com/office/drawing/2014/main" id="{D1E32518-3296-4064-82DC-7F226B149553}"/>
              </a:ext>
            </a:extLst>
          </p:cNvPr>
          <p:cNvSpPr>
            <a:spLocks noGrp="1"/>
          </p:cNvSpPr>
          <p:nvPr>
            <p:ph type="body" idx="1"/>
          </p:nvPr>
        </p:nvSpPr>
        <p:spPr/>
        <p:txBody>
          <a:bodyPr>
            <a:normAutofit lnSpcReduction="10000"/>
          </a:bodyPr>
          <a:lstStyle/>
          <a:p>
            <a:pPr algn="ctr"/>
            <a:r>
              <a:rPr lang="en-US" b="1" dirty="0"/>
              <a:t>Digital Forensic Software</a:t>
            </a:r>
          </a:p>
        </p:txBody>
      </p:sp>
      <p:sp>
        <p:nvSpPr>
          <p:cNvPr id="6" name="Text Placeholder 5">
            <a:extLst>
              <a:ext uri="{FF2B5EF4-FFF2-40B4-BE49-F238E27FC236}">
                <a16:creationId xmlns:a16="http://schemas.microsoft.com/office/drawing/2014/main" id="{D6862067-1A8D-49DE-B7A8-F80410D91871}"/>
              </a:ext>
            </a:extLst>
          </p:cNvPr>
          <p:cNvSpPr>
            <a:spLocks noGrp="1"/>
          </p:cNvSpPr>
          <p:nvPr>
            <p:ph type="body" sz="half" idx="15"/>
          </p:nvPr>
        </p:nvSpPr>
        <p:spPr/>
        <p:txBody>
          <a:bodyPr>
            <a:normAutofit/>
          </a:bodyPr>
          <a:lstStyle/>
          <a:p>
            <a:pPr marL="457200" indent="-457200">
              <a:buFont typeface="+mj-lt"/>
              <a:buAutoNum type="arabicPeriod"/>
            </a:pPr>
            <a:r>
              <a:rPr lang="en-US" sz="2400" dirty="0"/>
              <a:t>EnCase</a:t>
            </a:r>
          </a:p>
          <a:p>
            <a:pPr marL="457200" indent="-457200">
              <a:buFont typeface="+mj-lt"/>
              <a:buAutoNum type="arabicPeriod"/>
            </a:pPr>
            <a:r>
              <a:rPr lang="en-US" sz="2400" dirty="0"/>
              <a:t>FTK</a:t>
            </a:r>
          </a:p>
          <a:p>
            <a:pPr marL="457200" indent="-457200">
              <a:buFont typeface="+mj-lt"/>
              <a:buAutoNum type="arabicPeriod"/>
            </a:pPr>
            <a:r>
              <a:rPr lang="en-US" sz="2400" dirty="0"/>
              <a:t>Autopsy</a:t>
            </a:r>
          </a:p>
        </p:txBody>
      </p:sp>
      <p:sp>
        <p:nvSpPr>
          <p:cNvPr id="4" name="Text Placeholder 3">
            <a:extLst>
              <a:ext uri="{FF2B5EF4-FFF2-40B4-BE49-F238E27FC236}">
                <a16:creationId xmlns:a16="http://schemas.microsoft.com/office/drawing/2014/main" id="{B5523061-0834-4771-BD7F-9EF1BB1CF2D7}"/>
              </a:ext>
            </a:extLst>
          </p:cNvPr>
          <p:cNvSpPr>
            <a:spLocks noGrp="1"/>
          </p:cNvSpPr>
          <p:nvPr>
            <p:ph type="body" sz="quarter" idx="3"/>
          </p:nvPr>
        </p:nvSpPr>
        <p:spPr/>
        <p:txBody>
          <a:bodyPr/>
          <a:lstStyle/>
          <a:p>
            <a:pPr algn="ctr"/>
            <a:r>
              <a:rPr lang="en-US" b="1" dirty="0"/>
              <a:t>Network Analysis Tools</a:t>
            </a:r>
          </a:p>
        </p:txBody>
      </p:sp>
      <p:sp>
        <p:nvSpPr>
          <p:cNvPr id="7" name="Text Placeholder 6">
            <a:extLst>
              <a:ext uri="{FF2B5EF4-FFF2-40B4-BE49-F238E27FC236}">
                <a16:creationId xmlns:a16="http://schemas.microsoft.com/office/drawing/2014/main" id="{3AF92D38-4E59-40A9-8997-65CAAF678FB1}"/>
              </a:ext>
            </a:extLst>
          </p:cNvPr>
          <p:cNvSpPr>
            <a:spLocks noGrp="1"/>
          </p:cNvSpPr>
          <p:nvPr>
            <p:ph type="body" sz="half" idx="16"/>
          </p:nvPr>
        </p:nvSpPr>
        <p:spPr/>
        <p:txBody>
          <a:bodyPr>
            <a:normAutofit/>
          </a:bodyPr>
          <a:lstStyle/>
          <a:p>
            <a:pPr marL="457200" indent="-457200">
              <a:buFont typeface="+mj-lt"/>
              <a:buAutoNum type="arabicPeriod"/>
            </a:pPr>
            <a:r>
              <a:rPr lang="en-US" sz="2400" dirty="0"/>
              <a:t>Wireshark</a:t>
            </a:r>
          </a:p>
          <a:p>
            <a:pPr marL="457200" indent="-457200">
              <a:buFont typeface="+mj-lt"/>
              <a:buAutoNum type="arabicPeriod"/>
            </a:pPr>
            <a:r>
              <a:rPr lang="en-US" sz="2400" dirty="0"/>
              <a:t>Tcpdump</a:t>
            </a:r>
          </a:p>
          <a:p>
            <a:pPr marL="457200" indent="-457200">
              <a:buFont typeface="+mj-lt"/>
              <a:buAutoNum type="arabicPeriod"/>
            </a:pPr>
            <a:r>
              <a:rPr lang="en-US" sz="2400" dirty="0"/>
              <a:t>Netscout</a:t>
            </a:r>
          </a:p>
          <a:p>
            <a:endParaRPr lang="LID4096" sz="2400" dirty="0"/>
          </a:p>
        </p:txBody>
      </p:sp>
      <p:sp>
        <p:nvSpPr>
          <p:cNvPr id="5" name="Text Placeholder 4">
            <a:extLst>
              <a:ext uri="{FF2B5EF4-FFF2-40B4-BE49-F238E27FC236}">
                <a16:creationId xmlns:a16="http://schemas.microsoft.com/office/drawing/2014/main" id="{07946921-A60E-46C5-965A-33D6BEFEA214}"/>
              </a:ext>
            </a:extLst>
          </p:cNvPr>
          <p:cNvSpPr>
            <a:spLocks noGrp="1"/>
          </p:cNvSpPr>
          <p:nvPr>
            <p:ph type="body" sz="quarter" idx="13"/>
          </p:nvPr>
        </p:nvSpPr>
        <p:spPr/>
        <p:txBody>
          <a:bodyPr/>
          <a:lstStyle/>
          <a:p>
            <a:pPr algn="ctr"/>
            <a:r>
              <a:rPr lang="en-US" sz="2400" b="1" dirty="0"/>
              <a:t>Malware Analysis Tools</a:t>
            </a:r>
            <a:endParaRPr lang="LID4096" dirty="0"/>
          </a:p>
        </p:txBody>
      </p:sp>
      <p:sp>
        <p:nvSpPr>
          <p:cNvPr id="8" name="Text Placeholder 7">
            <a:extLst>
              <a:ext uri="{FF2B5EF4-FFF2-40B4-BE49-F238E27FC236}">
                <a16:creationId xmlns:a16="http://schemas.microsoft.com/office/drawing/2014/main" id="{521EABE3-1F33-42E2-B6A1-D95C00362C14}"/>
              </a:ext>
            </a:extLst>
          </p:cNvPr>
          <p:cNvSpPr>
            <a:spLocks noGrp="1"/>
          </p:cNvSpPr>
          <p:nvPr>
            <p:ph type="body" sz="half" idx="17"/>
          </p:nvPr>
        </p:nvSpPr>
        <p:spPr/>
        <p:txBody>
          <a:bodyPr>
            <a:normAutofit/>
          </a:bodyPr>
          <a:lstStyle/>
          <a:p>
            <a:pPr marL="457200" indent="-457200">
              <a:buFont typeface="+mj-lt"/>
              <a:buAutoNum type="arabicPeriod"/>
            </a:pPr>
            <a:r>
              <a:rPr lang="en-US" sz="2400" dirty="0"/>
              <a:t> IDA Pro</a:t>
            </a:r>
          </a:p>
          <a:p>
            <a:pPr marL="457200" indent="-457200">
              <a:buFont typeface="+mj-lt"/>
              <a:buAutoNum type="arabicPeriod"/>
            </a:pPr>
            <a:r>
              <a:rPr lang="en-US" sz="2400" dirty="0"/>
              <a:t>OllyDbg</a:t>
            </a:r>
          </a:p>
          <a:p>
            <a:pPr marL="457200" indent="-457200">
              <a:buFont typeface="+mj-lt"/>
              <a:buAutoNum type="arabicPeriod"/>
            </a:pPr>
            <a:r>
              <a:rPr lang="en-US" sz="2400" dirty="0"/>
              <a:t>Binary Ninja</a:t>
            </a:r>
            <a:endParaRPr lang="LID4096" sz="2400" dirty="0"/>
          </a:p>
        </p:txBody>
      </p:sp>
      <p:sp>
        <p:nvSpPr>
          <p:cNvPr id="9" name="Footer Placeholder 8">
            <a:extLst>
              <a:ext uri="{FF2B5EF4-FFF2-40B4-BE49-F238E27FC236}">
                <a16:creationId xmlns:a16="http://schemas.microsoft.com/office/drawing/2014/main" id="{CA5B12E3-F8C4-4CD7-97A7-2780FD636A43}"/>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10" name="Slide Number Placeholder 9">
            <a:extLst>
              <a:ext uri="{FF2B5EF4-FFF2-40B4-BE49-F238E27FC236}">
                <a16:creationId xmlns:a16="http://schemas.microsoft.com/office/drawing/2014/main" id="{6FA1AE67-7493-46ED-AB17-59BA41904D20}"/>
              </a:ext>
            </a:extLst>
          </p:cNvPr>
          <p:cNvSpPr>
            <a:spLocks noGrp="1"/>
          </p:cNvSpPr>
          <p:nvPr>
            <p:ph type="sldNum" sz="quarter" idx="12"/>
          </p:nvPr>
        </p:nvSpPr>
        <p:spPr/>
        <p:txBody>
          <a:bodyPr/>
          <a:lstStyle/>
          <a:p>
            <a:fld id="{E153A30B-AAA6-4D3D-89E9-8F9473C4CEC0}" type="slidenum">
              <a:rPr lang="LID4096" smtClean="0"/>
              <a:t>18</a:t>
            </a:fld>
            <a:endParaRPr lang="LID4096"/>
          </a:p>
        </p:txBody>
      </p:sp>
    </p:spTree>
    <p:extLst>
      <p:ext uri="{BB962C8B-B14F-4D97-AF65-F5344CB8AC3E}">
        <p14:creationId xmlns:p14="http://schemas.microsoft.com/office/powerpoint/2010/main" val="2926568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D91B3-54D6-406A-8A5F-EEBADA422442}"/>
              </a:ext>
            </a:extLst>
          </p:cNvPr>
          <p:cNvSpPr>
            <a:spLocks noGrp="1"/>
          </p:cNvSpPr>
          <p:nvPr>
            <p:ph type="title"/>
          </p:nvPr>
        </p:nvSpPr>
        <p:spPr/>
        <p:txBody>
          <a:bodyPr/>
          <a:lstStyle/>
          <a:p>
            <a:pPr algn="ctr"/>
            <a:r>
              <a:rPr lang="en-US" b="1" dirty="0"/>
              <a:t>Cybercrime Investigation Tools (Continues…)</a:t>
            </a:r>
            <a:endParaRPr lang="LID4096" dirty="0"/>
          </a:p>
        </p:txBody>
      </p:sp>
      <p:sp>
        <p:nvSpPr>
          <p:cNvPr id="4" name="Text Placeholder 3">
            <a:extLst>
              <a:ext uri="{FF2B5EF4-FFF2-40B4-BE49-F238E27FC236}">
                <a16:creationId xmlns:a16="http://schemas.microsoft.com/office/drawing/2014/main" id="{BA1D7453-A400-4F11-94E9-DC7F4A4FA792}"/>
              </a:ext>
            </a:extLst>
          </p:cNvPr>
          <p:cNvSpPr>
            <a:spLocks noGrp="1"/>
          </p:cNvSpPr>
          <p:nvPr>
            <p:ph type="body" idx="1"/>
          </p:nvPr>
        </p:nvSpPr>
        <p:spPr/>
        <p:txBody>
          <a:bodyPr/>
          <a:lstStyle/>
          <a:p>
            <a:pPr algn="ctr"/>
            <a:r>
              <a:rPr lang="en-US" sz="2400" b="1" dirty="0"/>
              <a:t>Password Recovery Tools</a:t>
            </a:r>
            <a:endParaRPr lang="LID4096" dirty="0"/>
          </a:p>
        </p:txBody>
      </p:sp>
      <p:sp>
        <p:nvSpPr>
          <p:cNvPr id="5" name="Content Placeholder 4">
            <a:extLst>
              <a:ext uri="{FF2B5EF4-FFF2-40B4-BE49-F238E27FC236}">
                <a16:creationId xmlns:a16="http://schemas.microsoft.com/office/drawing/2014/main" id="{A6CA60B3-3DF5-476B-B5F3-2771D46FAD6B}"/>
              </a:ext>
            </a:extLst>
          </p:cNvPr>
          <p:cNvSpPr>
            <a:spLocks noGrp="1"/>
          </p:cNvSpPr>
          <p:nvPr>
            <p:ph sz="half" idx="2"/>
          </p:nvPr>
        </p:nvSpPr>
        <p:spPr/>
        <p:txBody>
          <a:bodyPr/>
          <a:lstStyle/>
          <a:p>
            <a:pPr marL="457200" indent="-457200">
              <a:buFont typeface="+mj-lt"/>
              <a:buAutoNum type="arabicPeriod"/>
            </a:pPr>
            <a:r>
              <a:rPr lang="en-US" dirty="0"/>
              <a:t> Cain</a:t>
            </a:r>
          </a:p>
          <a:p>
            <a:pPr marL="457200" indent="-457200">
              <a:buFont typeface="+mj-lt"/>
              <a:buAutoNum type="arabicPeriod"/>
            </a:pPr>
            <a:r>
              <a:rPr lang="en-US" dirty="0"/>
              <a:t>Abel</a:t>
            </a:r>
          </a:p>
          <a:p>
            <a:pPr marL="457200" indent="-457200">
              <a:buFont typeface="+mj-lt"/>
              <a:buAutoNum type="arabicPeriod"/>
            </a:pPr>
            <a:r>
              <a:rPr lang="en-US" dirty="0"/>
              <a:t>John the Ripper</a:t>
            </a:r>
          </a:p>
          <a:p>
            <a:pPr marL="457200" indent="-457200">
              <a:buFont typeface="+mj-lt"/>
              <a:buAutoNum type="arabicPeriod"/>
            </a:pPr>
            <a:r>
              <a:rPr lang="en-US" dirty="0"/>
              <a:t>Hashcat</a:t>
            </a:r>
            <a:endParaRPr lang="LID4096" dirty="0"/>
          </a:p>
        </p:txBody>
      </p:sp>
      <p:sp>
        <p:nvSpPr>
          <p:cNvPr id="6" name="Text Placeholder 5">
            <a:extLst>
              <a:ext uri="{FF2B5EF4-FFF2-40B4-BE49-F238E27FC236}">
                <a16:creationId xmlns:a16="http://schemas.microsoft.com/office/drawing/2014/main" id="{A88A3ED1-A981-4FE8-98D4-84F15C7FFE25}"/>
              </a:ext>
            </a:extLst>
          </p:cNvPr>
          <p:cNvSpPr>
            <a:spLocks noGrp="1"/>
          </p:cNvSpPr>
          <p:nvPr>
            <p:ph type="body" sz="quarter" idx="3"/>
          </p:nvPr>
        </p:nvSpPr>
        <p:spPr/>
        <p:txBody>
          <a:bodyPr/>
          <a:lstStyle/>
          <a:p>
            <a:pPr algn="ctr"/>
            <a:r>
              <a:rPr lang="en-US" sz="2400" b="1" dirty="0"/>
              <a:t>Social Media Analysis Tools</a:t>
            </a:r>
            <a:endParaRPr lang="LID4096" dirty="0"/>
          </a:p>
        </p:txBody>
      </p:sp>
      <p:sp>
        <p:nvSpPr>
          <p:cNvPr id="7" name="Content Placeholder 6">
            <a:extLst>
              <a:ext uri="{FF2B5EF4-FFF2-40B4-BE49-F238E27FC236}">
                <a16:creationId xmlns:a16="http://schemas.microsoft.com/office/drawing/2014/main" id="{F6E1EB6E-E82F-4BE6-AAB1-C4C9117A5C7D}"/>
              </a:ext>
            </a:extLst>
          </p:cNvPr>
          <p:cNvSpPr>
            <a:spLocks noGrp="1"/>
          </p:cNvSpPr>
          <p:nvPr>
            <p:ph sz="quarter" idx="4"/>
          </p:nvPr>
        </p:nvSpPr>
        <p:spPr/>
        <p:txBody>
          <a:bodyPr/>
          <a:lstStyle/>
          <a:p>
            <a:pPr marL="457200" indent="-457200">
              <a:buFont typeface="+mj-lt"/>
              <a:buAutoNum type="arabicPeriod"/>
            </a:pPr>
            <a:r>
              <a:rPr lang="en-US" dirty="0"/>
              <a:t> Hootsuite</a:t>
            </a:r>
          </a:p>
          <a:p>
            <a:pPr marL="457200" indent="-457200">
              <a:buFont typeface="+mj-lt"/>
              <a:buAutoNum type="arabicPeriod"/>
            </a:pPr>
            <a:r>
              <a:rPr lang="en-US" dirty="0"/>
              <a:t>Followerwonk</a:t>
            </a:r>
          </a:p>
          <a:p>
            <a:pPr marL="457200" indent="-457200">
              <a:buFont typeface="+mj-lt"/>
              <a:buAutoNum type="arabicPeriod"/>
            </a:pPr>
            <a:r>
              <a:rPr lang="en-US" dirty="0"/>
              <a:t>Mention</a:t>
            </a:r>
            <a:endParaRPr lang="LID4096" dirty="0"/>
          </a:p>
        </p:txBody>
      </p:sp>
      <p:sp>
        <p:nvSpPr>
          <p:cNvPr id="3" name="Footer Placeholder 2">
            <a:extLst>
              <a:ext uri="{FF2B5EF4-FFF2-40B4-BE49-F238E27FC236}">
                <a16:creationId xmlns:a16="http://schemas.microsoft.com/office/drawing/2014/main" id="{791827F1-455E-4BF6-AB56-64EDEFB74F12}"/>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8" name="Slide Number Placeholder 7">
            <a:extLst>
              <a:ext uri="{FF2B5EF4-FFF2-40B4-BE49-F238E27FC236}">
                <a16:creationId xmlns:a16="http://schemas.microsoft.com/office/drawing/2014/main" id="{74925647-59A9-4F7F-BBDB-F9EC94AFDFC4}"/>
              </a:ext>
            </a:extLst>
          </p:cNvPr>
          <p:cNvSpPr>
            <a:spLocks noGrp="1"/>
          </p:cNvSpPr>
          <p:nvPr>
            <p:ph type="sldNum" sz="quarter" idx="12"/>
          </p:nvPr>
        </p:nvSpPr>
        <p:spPr/>
        <p:txBody>
          <a:bodyPr/>
          <a:lstStyle/>
          <a:p>
            <a:fld id="{E153A30B-AAA6-4D3D-89E9-8F9473C4CEC0}" type="slidenum">
              <a:rPr lang="LID4096" smtClean="0"/>
              <a:t>19</a:t>
            </a:fld>
            <a:endParaRPr lang="LID4096"/>
          </a:p>
        </p:txBody>
      </p:sp>
    </p:spTree>
    <p:extLst>
      <p:ext uri="{BB962C8B-B14F-4D97-AF65-F5344CB8AC3E}">
        <p14:creationId xmlns:p14="http://schemas.microsoft.com/office/powerpoint/2010/main" val="2885381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E9F1DAD-9EEB-44E4-AA8C-3634D37D7656}"/>
              </a:ext>
            </a:extLst>
          </p:cNvPr>
          <p:cNvSpPr>
            <a:spLocks noGrp="1"/>
          </p:cNvSpPr>
          <p:nvPr>
            <p:ph type="title"/>
          </p:nvPr>
        </p:nvSpPr>
        <p:spPr/>
        <p:txBody>
          <a:bodyPr/>
          <a:lstStyle/>
          <a:p>
            <a:pPr algn="ctr"/>
            <a:r>
              <a:rPr lang="en-US" b="1" dirty="0"/>
              <a:t>Digital forensics </a:t>
            </a:r>
            <a:endParaRPr lang="LID4096" b="1" dirty="0"/>
          </a:p>
        </p:txBody>
      </p:sp>
      <p:sp>
        <p:nvSpPr>
          <p:cNvPr id="8" name="Text Placeholder 7">
            <a:extLst>
              <a:ext uri="{FF2B5EF4-FFF2-40B4-BE49-F238E27FC236}">
                <a16:creationId xmlns:a16="http://schemas.microsoft.com/office/drawing/2014/main" id="{21A6444F-4629-427B-AC8B-2D610CA8B3FC}"/>
              </a:ext>
            </a:extLst>
          </p:cNvPr>
          <p:cNvSpPr>
            <a:spLocks noGrp="1"/>
          </p:cNvSpPr>
          <p:nvPr>
            <p:ph type="body" idx="1"/>
          </p:nvPr>
        </p:nvSpPr>
        <p:spPr/>
        <p:txBody>
          <a:bodyPr/>
          <a:lstStyle/>
          <a:p>
            <a:pPr algn="ctr"/>
            <a:r>
              <a:rPr lang="en-US" b="1" dirty="0"/>
              <a:t>Lecture 2</a:t>
            </a:r>
            <a:endParaRPr lang="LID4096" b="1" dirty="0"/>
          </a:p>
        </p:txBody>
      </p:sp>
      <p:sp>
        <p:nvSpPr>
          <p:cNvPr id="2" name="Footer Placeholder 1">
            <a:extLst>
              <a:ext uri="{FF2B5EF4-FFF2-40B4-BE49-F238E27FC236}">
                <a16:creationId xmlns:a16="http://schemas.microsoft.com/office/drawing/2014/main" id="{70FBB935-F32F-4FA6-88B9-1924B9EE0B5F}"/>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3" name="Slide Number Placeholder 2">
            <a:extLst>
              <a:ext uri="{FF2B5EF4-FFF2-40B4-BE49-F238E27FC236}">
                <a16:creationId xmlns:a16="http://schemas.microsoft.com/office/drawing/2014/main" id="{972F8F9D-5409-4AEF-8848-07A7C98A8809}"/>
              </a:ext>
            </a:extLst>
          </p:cNvPr>
          <p:cNvSpPr>
            <a:spLocks noGrp="1"/>
          </p:cNvSpPr>
          <p:nvPr>
            <p:ph type="sldNum" sz="quarter" idx="12"/>
          </p:nvPr>
        </p:nvSpPr>
        <p:spPr/>
        <p:txBody>
          <a:bodyPr/>
          <a:lstStyle/>
          <a:p>
            <a:fld id="{E153A30B-AAA6-4D3D-89E9-8F9473C4CEC0}" type="slidenum">
              <a:rPr lang="LID4096" smtClean="0"/>
              <a:t>20</a:t>
            </a:fld>
            <a:endParaRPr lang="LID4096"/>
          </a:p>
        </p:txBody>
      </p:sp>
    </p:spTree>
    <p:extLst>
      <p:ext uri="{BB962C8B-B14F-4D97-AF65-F5344CB8AC3E}">
        <p14:creationId xmlns:p14="http://schemas.microsoft.com/office/powerpoint/2010/main" val="3360683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BDE81C4-8C80-4656-9FC5-52C77AD5A0BB}"/>
              </a:ext>
            </a:extLst>
          </p:cNvPr>
          <p:cNvSpPr>
            <a:spLocks noGrp="1"/>
          </p:cNvSpPr>
          <p:nvPr>
            <p:ph type="title"/>
          </p:nvPr>
        </p:nvSpPr>
        <p:spPr/>
        <p:txBody>
          <a:bodyPr/>
          <a:lstStyle/>
          <a:p>
            <a:pPr algn="ctr"/>
            <a:r>
              <a:rPr lang="en-US" b="1" dirty="0"/>
              <a:t>Introduction </a:t>
            </a:r>
            <a:endParaRPr lang="LID4096" b="1" dirty="0"/>
          </a:p>
        </p:txBody>
      </p:sp>
      <p:sp>
        <p:nvSpPr>
          <p:cNvPr id="5" name="Content Placeholder 4">
            <a:extLst>
              <a:ext uri="{FF2B5EF4-FFF2-40B4-BE49-F238E27FC236}">
                <a16:creationId xmlns:a16="http://schemas.microsoft.com/office/drawing/2014/main" id="{7C4E83ED-C1AE-4C22-A9B9-11BC5035101B}"/>
              </a:ext>
            </a:extLst>
          </p:cNvPr>
          <p:cNvSpPr>
            <a:spLocks noGrp="1"/>
          </p:cNvSpPr>
          <p:nvPr>
            <p:ph idx="1"/>
          </p:nvPr>
        </p:nvSpPr>
        <p:spPr/>
        <p:txBody>
          <a:bodyPr>
            <a:normAutofit fontScale="92500"/>
          </a:bodyPr>
          <a:lstStyle/>
          <a:p>
            <a:r>
              <a:rPr lang="en-US" dirty="0"/>
              <a:t> </a:t>
            </a:r>
            <a:r>
              <a:rPr lang="en-US" b="1" dirty="0"/>
              <a:t>Forensics</a:t>
            </a:r>
            <a:r>
              <a:rPr lang="en-US" dirty="0"/>
              <a:t> is the scientific analysis of people, places and things to collect evidence during crime investigations, that helps to prove innocence or guilt in court, or</a:t>
            </a:r>
          </a:p>
          <a:p>
            <a:r>
              <a:rPr lang="en-US" dirty="0"/>
              <a:t> Is the art and science of investigating digital crimes and breaches. </a:t>
            </a:r>
          </a:p>
          <a:p>
            <a:r>
              <a:rPr lang="en-US" b="1" dirty="0"/>
              <a:t>Computer forensic </a:t>
            </a:r>
            <a:r>
              <a:rPr lang="en-US" dirty="0"/>
              <a:t>(digital forensics or cyber forensics) is a branch of digital forensic science that uses technology and investigative techniques to analyze data from computer systems, networks, wireless communications, and storage devices. </a:t>
            </a:r>
          </a:p>
          <a:p>
            <a:endParaRPr lang="LID4096" dirty="0"/>
          </a:p>
        </p:txBody>
      </p:sp>
      <p:sp>
        <p:nvSpPr>
          <p:cNvPr id="2" name="Footer Placeholder 1">
            <a:extLst>
              <a:ext uri="{FF2B5EF4-FFF2-40B4-BE49-F238E27FC236}">
                <a16:creationId xmlns:a16="http://schemas.microsoft.com/office/drawing/2014/main" id="{7F32B2B4-6A70-496A-9AA2-C555927AF558}"/>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3" name="Slide Number Placeholder 2">
            <a:extLst>
              <a:ext uri="{FF2B5EF4-FFF2-40B4-BE49-F238E27FC236}">
                <a16:creationId xmlns:a16="http://schemas.microsoft.com/office/drawing/2014/main" id="{DD018A2A-9F92-4B34-AFBD-FFDA61368852}"/>
              </a:ext>
            </a:extLst>
          </p:cNvPr>
          <p:cNvSpPr>
            <a:spLocks noGrp="1"/>
          </p:cNvSpPr>
          <p:nvPr>
            <p:ph type="sldNum" sz="quarter" idx="12"/>
          </p:nvPr>
        </p:nvSpPr>
        <p:spPr/>
        <p:txBody>
          <a:bodyPr/>
          <a:lstStyle/>
          <a:p>
            <a:fld id="{E153A30B-AAA6-4D3D-89E9-8F9473C4CEC0}" type="slidenum">
              <a:rPr lang="LID4096" smtClean="0"/>
              <a:t>21</a:t>
            </a:fld>
            <a:endParaRPr lang="LID4096"/>
          </a:p>
        </p:txBody>
      </p:sp>
    </p:spTree>
    <p:extLst>
      <p:ext uri="{BB962C8B-B14F-4D97-AF65-F5344CB8AC3E}">
        <p14:creationId xmlns:p14="http://schemas.microsoft.com/office/powerpoint/2010/main" val="2112639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4FCD7-E748-402D-918B-DB5C8484EC38}"/>
              </a:ext>
            </a:extLst>
          </p:cNvPr>
          <p:cNvSpPr>
            <a:spLocks noGrp="1"/>
          </p:cNvSpPr>
          <p:nvPr>
            <p:ph type="title"/>
          </p:nvPr>
        </p:nvSpPr>
        <p:spPr/>
        <p:txBody>
          <a:bodyPr/>
          <a:lstStyle/>
          <a:p>
            <a:pPr algn="ctr"/>
            <a:r>
              <a:rPr lang="en-GB" b="1" dirty="0"/>
              <a:t>Characteristics of Computer Forensics </a:t>
            </a:r>
            <a:endParaRPr lang="LID4096" b="1" dirty="0"/>
          </a:p>
        </p:txBody>
      </p:sp>
      <p:sp>
        <p:nvSpPr>
          <p:cNvPr id="3" name="Content Placeholder 2">
            <a:extLst>
              <a:ext uri="{FF2B5EF4-FFF2-40B4-BE49-F238E27FC236}">
                <a16:creationId xmlns:a16="http://schemas.microsoft.com/office/drawing/2014/main" id="{C7C415B9-0470-4AC4-A5CC-22D2427DD0A9}"/>
              </a:ext>
            </a:extLst>
          </p:cNvPr>
          <p:cNvSpPr>
            <a:spLocks noGrp="1"/>
          </p:cNvSpPr>
          <p:nvPr>
            <p:ph idx="1"/>
          </p:nvPr>
        </p:nvSpPr>
        <p:spPr/>
        <p:txBody>
          <a:bodyPr>
            <a:normAutofit fontScale="85000" lnSpcReduction="10000"/>
          </a:bodyPr>
          <a:lstStyle/>
          <a:p>
            <a:pPr marL="457200" indent="-457200">
              <a:buFont typeface="+mj-lt"/>
              <a:buAutoNum type="arabicPeriod"/>
            </a:pPr>
            <a:r>
              <a:rPr lang="en-US" dirty="0"/>
              <a:t> </a:t>
            </a:r>
            <a:r>
              <a:rPr lang="en-US" b="1" dirty="0"/>
              <a:t>Identification and Collection (Acquisition) </a:t>
            </a:r>
            <a:r>
              <a:rPr lang="en-US" dirty="0"/>
              <a:t>– Involves identifying and collecting digital evidence from electronic devices.</a:t>
            </a:r>
          </a:p>
          <a:p>
            <a:pPr marL="457200" indent="-457200">
              <a:buFont typeface="+mj-lt"/>
              <a:buAutoNum type="arabicPeriod"/>
            </a:pPr>
            <a:r>
              <a:rPr lang="en-US" dirty="0"/>
              <a:t> </a:t>
            </a:r>
            <a:r>
              <a:rPr lang="en-US" b="1" dirty="0"/>
              <a:t>Preservation</a:t>
            </a:r>
            <a:r>
              <a:rPr lang="en-US" dirty="0"/>
              <a:t> – Involves creating working copies (forensic images) and isolating or securing digital devices from unauthorized access.</a:t>
            </a:r>
          </a:p>
          <a:p>
            <a:pPr marL="457200" indent="-457200">
              <a:buFont typeface="+mj-lt"/>
              <a:buAutoNum type="arabicPeriod"/>
            </a:pPr>
            <a:r>
              <a:rPr lang="en-US" dirty="0"/>
              <a:t> </a:t>
            </a:r>
            <a:r>
              <a:rPr lang="en-US" b="1" dirty="0"/>
              <a:t>Overview</a:t>
            </a:r>
            <a:r>
              <a:rPr lang="en-US" dirty="0"/>
              <a:t> – Involves choosing the right method and approach for analysis.</a:t>
            </a:r>
          </a:p>
          <a:p>
            <a:pPr marL="457200" indent="-457200">
              <a:buFont typeface="+mj-lt"/>
              <a:buAutoNum type="arabicPeriod"/>
            </a:pPr>
            <a:r>
              <a:rPr lang="en-US" dirty="0"/>
              <a:t> </a:t>
            </a:r>
            <a:r>
              <a:rPr lang="en-US" b="1" dirty="0"/>
              <a:t>Analysis</a:t>
            </a:r>
            <a:r>
              <a:rPr lang="en-US" dirty="0"/>
              <a:t> – Involves the examination of data to extract relevant information in order to collect facts.</a:t>
            </a:r>
          </a:p>
          <a:p>
            <a:pPr marL="457200" indent="-457200">
              <a:buFont typeface="+mj-lt"/>
              <a:buAutoNum type="arabicPeriod"/>
            </a:pPr>
            <a:r>
              <a:rPr lang="en-US" dirty="0"/>
              <a:t> </a:t>
            </a:r>
            <a:r>
              <a:rPr lang="en-US" b="1" dirty="0"/>
              <a:t>Reporting</a:t>
            </a:r>
            <a:r>
              <a:rPr lang="en-US" dirty="0"/>
              <a:t> – Involves the documentation and presentation of evidence to legal bodies.</a:t>
            </a:r>
            <a:endParaRPr lang="LID4096" dirty="0"/>
          </a:p>
        </p:txBody>
      </p:sp>
      <p:sp>
        <p:nvSpPr>
          <p:cNvPr id="4" name="Footer Placeholder 3">
            <a:extLst>
              <a:ext uri="{FF2B5EF4-FFF2-40B4-BE49-F238E27FC236}">
                <a16:creationId xmlns:a16="http://schemas.microsoft.com/office/drawing/2014/main" id="{81DC086E-2E3A-40D5-A3AD-283678241565}"/>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BC771466-5125-404F-84EF-0BA087FC6526}"/>
              </a:ext>
            </a:extLst>
          </p:cNvPr>
          <p:cNvSpPr>
            <a:spLocks noGrp="1"/>
          </p:cNvSpPr>
          <p:nvPr>
            <p:ph type="sldNum" sz="quarter" idx="12"/>
          </p:nvPr>
        </p:nvSpPr>
        <p:spPr/>
        <p:txBody>
          <a:bodyPr/>
          <a:lstStyle/>
          <a:p>
            <a:fld id="{E153A30B-AAA6-4D3D-89E9-8F9473C4CEC0}" type="slidenum">
              <a:rPr lang="LID4096" smtClean="0"/>
              <a:t>22</a:t>
            </a:fld>
            <a:endParaRPr lang="LID4096"/>
          </a:p>
        </p:txBody>
      </p:sp>
    </p:spTree>
    <p:extLst>
      <p:ext uri="{BB962C8B-B14F-4D97-AF65-F5344CB8AC3E}">
        <p14:creationId xmlns:p14="http://schemas.microsoft.com/office/powerpoint/2010/main" val="2459720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9E8D5-3B28-449A-AC2D-F0A3659E0505}"/>
              </a:ext>
            </a:extLst>
          </p:cNvPr>
          <p:cNvSpPr>
            <a:spLocks noGrp="1"/>
          </p:cNvSpPr>
          <p:nvPr>
            <p:ph type="title"/>
          </p:nvPr>
        </p:nvSpPr>
        <p:spPr/>
        <p:txBody>
          <a:bodyPr/>
          <a:lstStyle/>
          <a:p>
            <a:pPr algn="ctr"/>
            <a:r>
              <a:rPr lang="en-GB" b="1" dirty="0"/>
              <a:t>Need for Digital Forensic</a:t>
            </a:r>
            <a:endParaRPr lang="LID4096" b="1" dirty="0"/>
          </a:p>
        </p:txBody>
      </p:sp>
      <p:sp>
        <p:nvSpPr>
          <p:cNvPr id="3" name="Content Placeholder 2">
            <a:extLst>
              <a:ext uri="{FF2B5EF4-FFF2-40B4-BE49-F238E27FC236}">
                <a16:creationId xmlns:a16="http://schemas.microsoft.com/office/drawing/2014/main" id="{01E180B4-C718-43ED-9C2F-37BD3ABF4492}"/>
              </a:ext>
            </a:extLst>
          </p:cNvPr>
          <p:cNvSpPr>
            <a:spLocks noGrp="1"/>
          </p:cNvSpPr>
          <p:nvPr>
            <p:ph idx="1"/>
          </p:nvPr>
        </p:nvSpPr>
        <p:spPr/>
        <p:txBody>
          <a:bodyPr/>
          <a:lstStyle/>
          <a:p>
            <a:pPr marL="457200" indent="-457200">
              <a:buFont typeface="+mj-lt"/>
              <a:buAutoNum type="arabicPeriod"/>
            </a:pPr>
            <a:r>
              <a:rPr lang="en-US" dirty="0"/>
              <a:t> It helps the companies </a:t>
            </a:r>
            <a:r>
              <a:rPr lang="en-US" b="1" dirty="0"/>
              <a:t>gather important information </a:t>
            </a:r>
            <a:r>
              <a:rPr lang="en-US" dirty="0"/>
              <a:t>on their computer systems or networks potentially being compromised.</a:t>
            </a:r>
          </a:p>
          <a:p>
            <a:pPr marL="457200" indent="-457200">
              <a:buFont typeface="+mj-lt"/>
              <a:buAutoNum type="arabicPeriod"/>
            </a:pPr>
            <a:r>
              <a:rPr lang="en-US" dirty="0"/>
              <a:t> To </a:t>
            </a:r>
            <a:r>
              <a:rPr lang="en-US" b="1" dirty="0"/>
              <a:t>produce evidence in the court</a:t>
            </a:r>
            <a:r>
              <a:rPr lang="en-US" dirty="0"/>
              <a:t>, which can lead to the punishment of the culprit.</a:t>
            </a:r>
          </a:p>
          <a:p>
            <a:pPr marL="457200" indent="-457200">
              <a:buFont typeface="+mj-lt"/>
              <a:buAutoNum type="arabicPeriod"/>
            </a:pPr>
            <a:r>
              <a:rPr lang="en-US" dirty="0"/>
              <a:t> Efficiently </a:t>
            </a:r>
            <a:r>
              <a:rPr lang="en-US" b="1" dirty="0"/>
              <a:t>tracks down cyber criminals </a:t>
            </a:r>
            <a:r>
              <a:rPr lang="en-US" dirty="0"/>
              <a:t>from anywhere in the world.</a:t>
            </a:r>
          </a:p>
          <a:p>
            <a:pPr marL="457200" indent="-457200">
              <a:buFont typeface="+mj-lt"/>
              <a:buAutoNum type="arabicPeriod"/>
            </a:pPr>
            <a:r>
              <a:rPr lang="en-US" dirty="0"/>
              <a:t> Helps to </a:t>
            </a:r>
            <a:r>
              <a:rPr lang="en-US" b="1" dirty="0"/>
              <a:t>protect</a:t>
            </a:r>
            <a:r>
              <a:rPr lang="en-US" dirty="0"/>
              <a:t> the organization’s money and valuable time.</a:t>
            </a:r>
            <a:endParaRPr lang="LID4096" dirty="0"/>
          </a:p>
        </p:txBody>
      </p:sp>
      <p:sp>
        <p:nvSpPr>
          <p:cNvPr id="4" name="Footer Placeholder 3">
            <a:extLst>
              <a:ext uri="{FF2B5EF4-FFF2-40B4-BE49-F238E27FC236}">
                <a16:creationId xmlns:a16="http://schemas.microsoft.com/office/drawing/2014/main" id="{D563DB2D-2231-4EFB-9559-C1FE47D56589}"/>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ADE03D68-AB5D-48E7-9138-61A89C6C4023}"/>
              </a:ext>
            </a:extLst>
          </p:cNvPr>
          <p:cNvSpPr>
            <a:spLocks noGrp="1"/>
          </p:cNvSpPr>
          <p:nvPr>
            <p:ph type="sldNum" sz="quarter" idx="12"/>
          </p:nvPr>
        </p:nvSpPr>
        <p:spPr/>
        <p:txBody>
          <a:bodyPr/>
          <a:lstStyle/>
          <a:p>
            <a:fld id="{E153A30B-AAA6-4D3D-89E9-8F9473C4CEC0}" type="slidenum">
              <a:rPr lang="LID4096" smtClean="0"/>
              <a:t>23</a:t>
            </a:fld>
            <a:endParaRPr lang="LID4096"/>
          </a:p>
        </p:txBody>
      </p:sp>
    </p:spTree>
    <p:extLst>
      <p:ext uri="{BB962C8B-B14F-4D97-AF65-F5344CB8AC3E}">
        <p14:creationId xmlns:p14="http://schemas.microsoft.com/office/powerpoint/2010/main" val="35372819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526D2-B62C-41EC-83BC-F65BE99DDF47}"/>
              </a:ext>
            </a:extLst>
          </p:cNvPr>
          <p:cNvSpPr>
            <a:spLocks noGrp="1"/>
          </p:cNvSpPr>
          <p:nvPr>
            <p:ph type="title"/>
          </p:nvPr>
        </p:nvSpPr>
        <p:spPr/>
        <p:txBody>
          <a:bodyPr/>
          <a:lstStyle/>
          <a:p>
            <a:pPr algn="ctr"/>
            <a:r>
              <a:rPr lang="en-US" b="1" dirty="0"/>
              <a:t>DIGITAL INVESTIGATION RULES AND REGULATIONS</a:t>
            </a:r>
            <a:endParaRPr lang="LID4096" b="1" dirty="0"/>
          </a:p>
        </p:txBody>
      </p:sp>
      <p:sp>
        <p:nvSpPr>
          <p:cNvPr id="3" name="Content Placeholder 2">
            <a:extLst>
              <a:ext uri="{FF2B5EF4-FFF2-40B4-BE49-F238E27FC236}">
                <a16:creationId xmlns:a16="http://schemas.microsoft.com/office/drawing/2014/main" id="{4AF4E20E-69AD-4086-9F05-A40B1322AC4E}"/>
              </a:ext>
            </a:extLst>
          </p:cNvPr>
          <p:cNvSpPr>
            <a:spLocks noGrp="1"/>
          </p:cNvSpPr>
          <p:nvPr>
            <p:ph idx="1"/>
          </p:nvPr>
        </p:nvSpPr>
        <p:spPr/>
        <p:txBody>
          <a:bodyPr>
            <a:normAutofit fontScale="85000" lnSpcReduction="10000"/>
          </a:bodyPr>
          <a:lstStyle/>
          <a:p>
            <a:pPr marL="457200" indent="-457200">
              <a:buFont typeface="+mj-lt"/>
              <a:buAutoNum type="arabicPeriod"/>
            </a:pPr>
            <a:r>
              <a:rPr lang="en-US" dirty="0"/>
              <a:t> </a:t>
            </a:r>
            <a:r>
              <a:rPr lang="en-US" b="1" dirty="0"/>
              <a:t>Preservation of Evidence </a:t>
            </a:r>
            <a:r>
              <a:rPr lang="en-US" dirty="0"/>
              <a:t>– No possible evidence is damaged, destroyed, or compromised by the forensic procedures used to investigate the computer.</a:t>
            </a:r>
          </a:p>
          <a:p>
            <a:pPr marL="457200" indent="-457200">
              <a:buFont typeface="+mj-lt"/>
              <a:buAutoNum type="arabicPeriod"/>
            </a:pPr>
            <a:r>
              <a:rPr lang="en-US" dirty="0"/>
              <a:t> </a:t>
            </a:r>
            <a:r>
              <a:rPr lang="en-US" b="1" dirty="0"/>
              <a:t>Prevention of Contamination of Evidence </a:t>
            </a:r>
            <a:r>
              <a:rPr lang="en-US" dirty="0"/>
              <a:t>–</a:t>
            </a:r>
            <a:r>
              <a:rPr lang="en-US" b="1" dirty="0"/>
              <a:t> </a:t>
            </a:r>
            <a:r>
              <a:rPr lang="en-US" dirty="0"/>
              <a:t>No possible computer malware is introduced to the computer being investigated during the analysis process.</a:t>
            </a:r>
          </a:p>
          <a:p>
            <a:pPr marL="457200" indent="-457200">
              <a:buFont typeface="+mj-lt"/>
              <a:buAutoNum type="arabicPeriod"/>
            </a:pPr>
            <a:r>
              <a:rPr lang="en-US" dirty="0"/>
              <a:t> </a:t>
            </a:r>
            <a:r>
              <a:rPr lang="en-US" b="1" dirty="0"/>
              <a:t>Accountability of Evidence </a:t>
            </a:r>
            <a:r>
              <a:rPr lang="en-US" dirty="0"/>
              <a:t>– A continuing chain of custody is established and maintained.</a:t>
            </a:r>
          </a:p>
          <a:p>
            <a:pPr marL="457200" indent="-457200">
              <a:buFont typeface="+mj-lt"/>
              <a:buAutoNum type="arabicPeriod"/>
            </a:pPr>
            <a:r>
              <a:rPr lang="en-US" dirty="0"/>
              <a:t> </a:t>
            </a:r>
            <a:r>
              <a:rPr lang="en-US" b="1" dirty="0"/>
              <a:t>Ethics of Investigation </a:t>
            </a:r>
            <a:r>
              <a:rPr lang="en-US" dirty="0"/>
              <a:t>– Details of the client-attorney relationship are not disclosed if obtained during a forensic process in order to maintain professional ethics and legality.</a:t>
            </a:r>
          </a:p>
          <a:p>
            <a:pPr marL="457200" indent="-457200">
              <a:buFont typeface="+mj-lt"/>
              <a:buAutoNum type="arabicPeriod"/>
            </a:pPr>
            <a:r>
              <a:rPr lang="en-US" dirty="0"/>
              <a:t> Normal operations are affected for a limited period of time, if at all.</a:t>
            </a:r>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LID4096" dirty="0"/>
          </a:p>
        </p:txBody>
      </p:sp>
      <p:sp>
        <p:nvSpPr>
          <p:cNvPr id="4" name="Footer Placeholder 3">
            <a:extLst>
              <a:ext uri="{FF2B5EF4-FFF2-40B4-BE49-F238E27FC236}">
                <a16:creationId xmlns:a16="http://schemas.microsoft.com/office/drawing/2014/main" id="{4241ADED-F6A4-44AA-B190-72B6C7E75E91}"/>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518869C4-ED55-439C-8AD4-1DD5542C7E68}"/>
              </a:ext>
            </a:extLst>
          </p:cNvPr>
          <p:cNvSpPr>
            <a:spLocks noGrp="1"/>
          </p:cNvSpPr>
          <p:nvPr>
            <p:ph type="sldNum" sz="quarter" idx="12"/>
          </p:nvPr>
        </p:nvSpPr>
        <p:spPr/>
        <p:txBody>
          <a:bodyPr/>
          <a:lstStyle/>
          <a:p>
            <a:fld id="{E153A30B-AAA6-4D3D-89E9-8F9473C4CEC0}" type="slidenum">
              <a:rPr lang="LID4096" smtClean="0"/>
              <a:t>24</a:t>
            </a:fld>
            <a:endParaRPr lang="LID4096"/>
          </a:p>
        </p:txBody>
      </p:sp>
    </p:spTree>
    <p:extLst>
      <p:ext uri="{BB962C8B-B14F-4D97-AF65-F5344CB8AC3E}">
        <p14:creationId xmlns:p14="http://schemas.microsoft.com/office/powerpoint/2010/main" val="2447316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92E28-3AB4-4FA8-B871-FE9DB2CCAF96}"/>
              </a:ext>
            </a:extLst>
          </p:cNvPr>
          <p:cNvSpPr>
            <a:spLocks noGrp="1"/>
          </p:cNvSpPr>
          <p:nvPr>
            <p:ph type="title"/>
          </p:nvPr>
        </p:nvSpPr>
        <p:spPr/>
        <p:txBody>
          <a:bodyPr/>
          <a:lstStyle/>
          <a:p>
            <a:pPr algn="ctr"/>
            <a:r>
              <a:rPr lang="en-GB" b="1" dirty="0"/>
              <a:t>ROLES &amp; Uses of Digital Forensic</a:t>
            </a:r>
            <a:endParaRPr lang="LID4096" b="1" dirty="0"/>
          </a:p>
        </p:txBody>
      </p:sp>
      <p:graphicFrame>
        <p:nvGraphicFramePr>
          <p:cNvPr id="4" name="Table 4">
            <a:extLst>
              <a:ext uri="{FF2B5EF4-FFF2-40B4-BE49-F238E27FC236}">
                <a16:creationId xmlns:a16="http://schemas.microsoft.com/office/drawing/2014/main" id="{FB02A1F8-21FE-44D2-A3DD-DA717AEECD60}"/>
              </a:ext>
            </a:extLst>
          </p:cNvPr>
          <p:cNvGraphicFramePr>
            <a:graphicFrameLocks noGrp="1"/>
          </p:cNvGraphicFramePr>
          <p:nvPr>
            <p:ph idx="1"/>
            <p:extLst>
              <p:ext uri="{D42A27DB-BD31-4B8C-83A1-F6EECF244321}">
                <p14:modId xmlns:p14="http://schemas.microsoft.com/office/powerpoint/2010/main" val="909525374"/>
              </p:ext>
            </p:extLst>
          </p:nvPr>
        </p:nvGraphicFramePr>
        <p:xfrm>
          <a:off x="1141413" y="2249488"/>
          <a:ext cx="9906000" cy="4023360"/>
        </p:xfrm>
        <a:graphic>
          <a:graphicData uri="http://schemas.openxmlformats.org/drawingml/2006/table">
            <a:tbl>
              <a:tblPr firstRow="1" bandRow="1">
                <a:tableStyleId>{5C22544A-7EE6-4342-B048-85BDC9FD1C3A}</a:tableStyleId>
              </a:tblPr>
              <a:tblGrid>
                <a:gridCol w="1651000">
                  <a:extLst>
                    <a:ext uri="{9D8B030D-6E8A-4147-A177-3AD203B41FA5}">
                      <a16:colId xmlns:a16="http://schemas.microsoft.com/office/drawing/2014/main" val="2085821035"/>
                    </a:ext>
                  </a:extLst>
                </a:gridCol>
                <a:gridCol w="1651000">
                  <a:extLst>
                    <a:ext uri="{9D8B030D-6E8A-4147-A177-3AD203B41FA5}">
                      <a16:colId xmlns:a16="http://schemas.microsoft.com/office/drawing/2014/main" val="2241556481"/>
                    </a:ext>
                  </a:extLst>
                </a:gridCol>
                <a:gridCol w="1651000">
                  <a:extLst>
                    <a:ext uri="{9D8B030D-6E8A-4147-A177-3AD203B41FA5}">
                      <a16:colId xmlns:a16="http://schemas.microsoft.com/office/drawing/2014/main" val="3221015346"/>
                    </a:ext>
                  </a:extLst>
                </a:gridCol>
                <a:gridCol w="1651000">
                  <a:extLst>
                    <a:ext uri="{9D8B030D-6E8A-4147-A177-3AD203B41FA5}">
                      <a16:colId xmlns:a16="http://schemas.microsoft.com/office/drawing/2014/main" val="397403206"/>
                    </a:ext>
                  </a:extLst>
                </a:gridCol>
                <a:gridCol w="1651000">
                  <a:extLst>
                    <a:ext uri="{9D8B030D-6E8A-4147-A177-3AD203B41FA5}">
                      <a16:colId xmlns:a16="http://schemas.microsoft.com/office/drawing/2014/main" val="2551303358"/>
                    </a:ext>
                  </a:extLst>
                </a:gridCol>
                <a:gridCol w="1651000">
                  <a:extLst>
                    <a:ext uri="{9D8B030D-6E8A-4147-A177-3AD203B41FA5}">
                      <a16:colId xmlns:a16="http://schemas.microsoft.com/office/drawing/2014/main" val="4160360577"/>
                    </a:ext>
                  </a:extLst>
                </a:gridCol>
              </a:tblGrid>
              <a:tr h="370840">
                <a:tc>
                  <a:txBody>
                    <a:bodyPr/>
                    <a:lstStyle/>
                    <a:p>
                      <a:r>
                        <a:rPr lang="en-GB" dirty="0">
                          <a:solidFill>
                            <a:schemeClr val="tx1"/>
                          </a:solidFill>
                        </a:rPr>
                        <a:t>Criminal Prosecutors </a:t>
                      </a:r>
                    </a:p>
                  </a:txBody>
                  <a:tcPr>
                    <a:noFill/>
                  </a:tcPr>
                </a:tc>
                <a:tc>
                  <a:txBody>
                    <a:bodyPr/>
                    <a:lstStyle/>
                    <a:p>
                      <a:r>
                        <a:rPr lang="en-GB" dirty="0">
                          <a:solidFill>
                            <a:schemeClr val="tx1"/>
                          </a:solidFill>
                        </a:rPr>
                        <a:t>Civil Litigations</a:t>
                      </a:r>
                    </a:p>
                    <a:p>
                      <a:endParaRPr lang="LID4096" dirty="0">
                        <a:solidFill>
                          <a:schemeClr val="tx1"/>
                        </a:solidFill>
                      </a:endParaRPr>
                    </a:p>
                  </a:txBody>
                  <a:tcPr>
                    <a:noFill/>
                  </a:tcPr>
                </a:tc>
                <a:tc>
                  <a:txBody>
                    <a:bodyPr/>
                    <a:lstStyle/>
                    <a:p>
                      <a:r>
                        <a:rPr lang="en-GB" dirty="0">
                          <a:solidFill>
                            <a:schemeClr val="tx1"/>
                          </a:solidFill>
                        </a:rPr>
                        <a:t>Insurance Companies</a:t>
                      </a:r>
                    </a:p>
                  </a:txBody>
                  <a:tcPr>
                    <a:noFill/>
                  </a:tcPr>
                </a:tc>
                <a:tc>
                  <a:txBody>
                    <a:bodyPr/>
                    <a:lstStyle/>
                    <a:p>
                      <a:r>
                        <a:rPr lang="en-GB" dirty="0">
                          <a:solidFill>
                            <a:schemeClr val="tx1"/>
                          </a:solidFill>
                        </a:rPr>
                        <a:t>Large Corporations</a:t>
                      </a:r>
                    </a:p>
                  </a:txBody>
                  <a:tcPr>
                    <a:noFill/>
                  </a:tcPr>
                </a:tc>
                <a:tc>
                  <a:txBody>
                    <a:bodyPr/>
                    <a:lstStyle/>
                    <a:p>
                      <a:r>
                        <a:rPr lang="en-GB" dirty="0">
                          <a:solidFill>
                            <a:schemeClr val="tx1"/>
                          </a:solidFill>
                        </a:rPr>
                        <a:t>Law Enforcement </a:t>
                      </a:r>
                    </a:p>
                  </a:txBody>
                  <a:tcPr>
                    <a:noFill/>
                  </a:tcPr>
                </a:tc>
                <a:tc>
                  <a:txBody>
                    <a:bodyPr/>
                    <a:lstStyle/>
                    <a:p>
                      <a:r>
                        <a:rPr lang="en-GB" dirty="0">
                          <a:solidFill>
                            <a:schemeClr val="tx1"/>
                          </a:solidFill>
                        </a:rPr>
                        <a:t>Any Individual </a:t>
                      </a:r>
                    </a:p>
                    <a:p>
                      <a:endParaRPr lang="LID4096" dirty="0">
                        <a:solidFill>
                          <a:schemeClr val="tx1"/>
                        </a:solidFill>
                      </a:endParaRPr>
                    </a:p>
                  </a:txBody>
                  <a:tcPr>
                    <a:noFill/>
                  </a:tcPr>
                </a:tc>
                <a:extLst>
                  <a:ext uri="{0D108BD9-81ED-4DB2-BD59-A6C34878D82A}">
                    <a16:rowId xmlns:a16="http://schemas.microsoft.com/office/drawing/2014/main" val="802282703"/>
                  </a:ext>
                </a:extLst>
              </a:tr>
              <a:tr h="370840">
                <a:tc>
                  <a:txBody>
                    <a:bodyPr/>
                    <a:lstStyle/>
                    <a:p>
                      <a:r>
                        <a:rPr lang="en-US" dirty="0">
                          <a:solidFill>
                            <a:schemeClr val="tx1"/>
                          </a:solidFill>
                        </a:rPr>
                        <a:t>Child Pornography cases</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Fraud</a:t>
                      </a:r>
                    </a:p>
                    <a:p>
                      <a:endParaRPr lang="LID4096" dirty="0">
                        <a:solidFill>
                          <a:schemeClr val="tx1"/>
                        </a:solidFill>
                      </a:endParaRPr>
                    </a:p>
                  </a:txBody>
                  <a:tcPr>
                    <a:noFill/>
                  </a:tcPr>
                </a:tc>
                <a:tc>
                  <a:txBody>
                    <a:bodyPr/>
                    <a:lstStyle/>
                    <a:p>
                      <a:r>
                        <a:rPr lang="en-US" dirty="0">
                          <a:solidFill>
                            <a:schemeClr val="tx1"/>
                          </a:solidFill>
                        </a:rPr>
                        <a:t>False Accident Reports</a:t>
                      </a:r>
                    </a:p>
                  </a:txBody>
                  <a:tcPr>
                    <a:noFill/>
                  </a:tcPr>
                </a:tc>
                <a:tc>
                  <a:txBody>
                    <a:bodyPr/>
                    <a:lstStyle/>
                    <a:p>
                      <a:r>
                        <a:rPr lang="en-GB" dirty="0">
                          <a:solidFill>
                            <a:schemeClr val="tx1"/>
                          </a:solidFill>
                        </a:rPr>
                        <a:t>Embezzlement</a:t>
                      </a:r>
                    </a:p>
                  </a:txBody>
                  <a:tcPr>
                    <a:noFill/>
                  </a:tcPr>
                </a:tc>
                <a:tc>
                  <a:txBody>
                    <a:bodyPr/>
                    <a:lstStyle/>
                    <a:p>
                      <a:endParaRPr lang="LID4096">
                        <a:solidFill>
                          <a:schemeClr val="tx1"/>
                        </a:solidFill>
                      </a:endParaRPr>
                    </a:p>
                  </a:txBody>
                  <a:tcPr>
                    <a:noFill/>
                  </a:tcPr>
                </a:tc>
                <a:tc>
                  <a:txBody>
                    <a:bodyPr/>
                    <a:lstStyle/>
                    <a:p>
                      <a:r>
                        <a:rPr lang="en-US" dirty="0">
                          <a:solidFill>
                            <a:schemeClr val="tx1"/>
                          </a:solidFill>
                        </a:rPr>
                        <a:t>Sexual harassment</a:t>
                      </a:r>
                    </a:p>
                  </a:txBody>
                  <a:tcPr>
                    <a:noFill/>
                  </a:tcPr>
                </a:tc>
                <a:extLst>
                  <a:ext uri="{0D108BD9-81ED-4DB2-BD59-A6C34878D82A}">
                    <a16:rowId xmlns:a16="http://schemas.microsoft.com/office/drawing/2014/main" val="256718429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Homicides</a:t>
                      </a:r>
                    </a:p>
                    <a:p>
                      <a:endParaRPr lang="LID4096" dirty="0">
                        <a:solidFill>
                          <a:schemeClr val="tx1"/>
                        </a:solidFill>
                      </a:endParaRPr>
                    </a:p>
                  </a:txBody>
                  <a:tcPr>
                    <a:noFill/>
                  </a:tcPr>
                </a:tc>
                <a:tc>
                  <a:txBody>
                    <a:bodyPr/>
                    <a:lstStyle/>
                    <a:p>
                      <a:r>
                        <a:rPr lang="en-US" dirty="0">
                          <a:solidFill>
                            <a:schemeClr val="tx1"/>
                          </a:solidFill>
                        </a:rPr>
                        <a:t>Copyright</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Workman’s Compensation Cases</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chemeClr val="tx1"/>
                          </a:solidFill>
                        </a:rPr>
                        <a:t>Insider Trading</a:t>
                      </a:r>
                    </a:p>
                    <a:p>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Age discrimination</a:t>
                      </a:r>
                    </a:p>
                  </a:txBody>
                  <a:tcPr>
                    <a:noFill/>
                  </a:tcPr>
                </a:tc>
                <a:extLst>
                  <a:ext uri="{0D108BD9-81ED-4DB2-BD59-A6C34878D82A}">
                    <a16:rowId xmlns:a16="http://schemas.microsoft.com/office/drawing/2014/main" val="330386603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Embezzlement</a:t>
                      </a:r>
                    </a:p>
                    <a:p>
                      <a:endParaRPr lang="LID4096"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Divorce</a:t>
                      </a:r>
                    </a:p>
                    <a:p>
                      <a:endParaRPr lang="LID4096" dirty="0">
                        <a:solidFill>
                          <a:schemeClr val="tx1"/>
                        </a:solidFill>
                      </a:endParaRPr>
                    </a:p>
                  </a:txBody>
                  <a:tcPr>
                    <a:noFill/>
                  </a:tcPr>
                </a:tc>
                <a:tc>
                  <a:txBody>
                    <a:bodyPr/>
                    <a:lstStyle/>
                    <a:p>
                      <a:endParaRPr lang="LID4096">
                        <a:solidFill>
                          <a:schemeClr val="tx1"/>
                        </a:solidFill>
                      </a:endParaRPr>
                    </a:p>
                  </a:txBody>
                  <a:tcPr>
                    <a:noFill/>
                  </a:tcPr>
                </a:tc>
                <a:tc>
                  <a:txBody>
                    <a:bodyPr/>
                    <a:lstStyle/>
                    <a:p>
                      <a:endParaRPr lang="LID4096">
                        <a:solidFill>
                          <a:schemeClr val="tx1"/>
                        </a:solidFill>
                      </a:endParaRPr>
                    </a:p>
                  </a:txBody>
                  <a:tcPr>
                    <a:noFill/>
                  </a:tcPr>
                </a:tc>
                <a:tc>
                  <a:txBody>
                    <a:bodyPr/>
                    <a:lstStyle/>
                    <a:p>
                      <a:endParaRPr lang="LID4096">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Wrongful termination from job</a:t>
                      </a:r>
                    </a:p>
                  </a:txBody>
                  <a:tcPr>
                    <a:noFill/>
                  </a:tcPr>
                </a:tc>
                <a:extLst>
                  <a:ext uri="{0D108BD9-81ED-4DB2-BD59-A6C34878D82A}">
                    <a16:rowId xmlns:a16="http://schemas.microsoft.com/office/drawing/2014/main" val="33133352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Financial Fraud</a:t>
                      </a:r>
                    </a:p>
                    <a:p>
                      <a:endParaRPr lang="LID4096"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Breach of Contract</a:t>
                      </a:r>
                    </a:p>
                  </a:txBody>
                  <a:tcPr>
                    <a:noFill/>
                  </a:tcPr>
                </a:tc>
                <a:tc>
                  <a:txBody>
                    <a:bodyPr/>
                    <a:lstStyle/>
                    <a:p>
                      <a:endParaRPr lang="LID4096">
                        <a:solidFill>
                          <a:schemeClr val="tx1"/>
                        </a:solidFill>
                      </a:endParaRPr>
                    </a:p>
                  </a:txBody>
                  <a:tcPr>
                    <a:noFill/>
                  </a:tcPr>
                </a:tc>
                <a:tc>
                  <a:txBody>
                    <a:bodyPr/>
                    <a:lstStyle/>
                    <a:p>
                      <a:endParaRPr lang="LID4096">
                        <a:solidFill>
                          <a:schemeClr val="tx1"/>
                        </a:solidFill>
                      </a:endParaRPr>
                    </a:p>
                  </a:txBody>
                  <a:tcPr>
                    <a:noFill/>
                  </a:tcPr>
                </a:tc>
                <a:tc>
                  <a:txBody>
                    <a:bodyPr/>
                    <a:lstStyle/>
                    <a:p>
                      <a:endParaRPr lang="LID4096">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Background checks</a:t>
                      </a:r>
                    </a:p>
                  </a:txBody>
                  <a:tcPr>
                    <a:noFill/>
                  </a:tcPr>
                </a:tc>
                <a:extLst>
                  <a:ext uri="{0D108BD9-81ED-4DB2-BD59-A6C34878D82A}">
                    <a16:rowId xmlns:a16="http://schemas.microsoft.com/office/drawing/2014/main" val="1824426964"/>
                  </a:ext>
                </a:extLst>
              </a:tr>
            </a:tbl>
          </a:graphicData>
        </a:graphic>
      </p:graphicFrame>
      <p:sp>
        <p:nvSpPr>
          <p:cNvPr id="3" name="Footer Placeholder 2">
            <a:extLst>
              <a:ext uri="{FF2B5EF4-FFF2-40B4-BE49-F238E27FC236}">
                <a16:creationId xmlns:a16="http://schemas.microsoft.com/office/drawing/2014/main" id="{DB751AE0-620B-412C-94F4-D9DF97C357DD}"/>
              </a:ext>
            </a:extLst>
          </p:cNvPr>
          <p:cNvSpPr>
            <a:spLocks noGrp="1"/>
          </p:cNvSpPr>
          <p:nvPr>
            <p:ph type="ftr" sz="quarter" idx="11"/>
          </p:nvPr>
        </p:nvSpPr>
        <p:spPr>
          <a:xfrm>
            <a:off x="1141413" y="6272848"/>
            <a:ext cx="6239309" cy="365125"/>
          </a:xfrm>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4D88D573-5BB5-4087-9ABE-06E70FDA6403}"/>
              </a:ext>
            </a:extLst>
          </p:cNvPr>
          <p:cNvSpPr>
            <a:spLocks noGrp="1"/>
          </p:cNvSpPr>
          <p:nvPr>
            <p:ph type="sldNum" sz="quarter" idx="12"/>
          </p:nvPr>
        </p:nvSpPr>
        <p:spPr>
          <a:xfrm>
            <a:off x="10276322" y="6272848"/>
            <a:ext cx="771089" cy="365125"/>
          </a:xfrm>
        </p:spPr>
        <p:txBody>
          <a:bodyPr/>
          <a:lstStyle/>
          <a:p>
            <a:fld id="{E153A30B-AAA6-4D3D-89E9-8F9473C4CEC0}" type="slidenum">
              <a:rPr lang="LID4096" smtClean="0"/>
              <a:t>25</a:t>
            </a:fld>
            <a:endParaRPr lang="LID4096" dirty="0"/>
          </a:p>
        </p:txBody>
      </p:sp>
    </p:spTree>
    <p:extLst>
      <p:ext uri="{BB962C8B-B14F-4D97-AF65-F5344CB8AC3E}">
        <p14:creationId xmlns:p14="http://schemas.microsoft.com/office/powerpoint/2010/main" val="3103094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61F3D-3E26-4770-B8CB-6001716938A0}"/>
              </a:ext>
            </a:extLst>
          </p:cNvPr>
          <p:cNvSpPr>
            <a:spLocks noGrp="1"/>
          </p:cNvSpPr>
          <p:nvPr>
            <p:ph type="title"/>
          </p:nvPr>
        </p:nvSpPr>
        <p:spPr/>
        <p:txBody>
          <a:bodyPr/>
          <a:lstStyle/>
          <a:p>
            <a:pPr algn="ctr"/>
            <a:r>
              <a:rPr lang="en-US" b="1" dirty="0"/>
              <a:t>Key Steps in a Forensic Investigation</a:t>
            </a:r>
            <a:endParaRPr lang="LID4096" b="1" dirty="0"/>
          </a:p>
        </p:txBody>
      </p:sp>
      <p:sp>
        <p:nvSpPr>
          <p:cNvPr id="3" name="Content Placeholder 2">
            <a:extLst>
              <a:ext uri="{FF2B5EF4-FFF2-40B4-BE49-F238E27FC236}">
                <a16:creationId xmlns:a16="http://schemas.microsoft.com/office/drawing/2014/main" id="{1EED21E3-3ED6-4DA3-AD12-8B3C97266093}"/>
              </a:ext>
            </a:extLst>
          </p:cNvPr>
          <p:cNvSpPr>
            <a:spLocks noGrp="1"/>
          </p:cNvSpPr>
          <p:nvPr>
            <p:ph idx="1"/>
          </p:nvPr>
        </p:nvSpPr>
        <p:spPr/>
        <p:txBody>
          <a:bodyPr>
            <a:normAutofit fontScale="77500" lnSpcReduction="20000"/>
          </a:bodyPr>
          <a:lstStyle/>
          <a:p>
            <a:pPr marL="457200" indent="-457200">
              <a:buFont typeface="+mj-lt"/>
              <a:buAutoNum type="arabicPeriod"/>
            </a:pPr>
            <a:r>
              <a:rPr lang="en-US" dirty="0"/>
              <a:t> </a:t>
            </a:r>
            <a:r>
              <a:rPr lang="en-US" b="1" dirty="0"/>
              <a:t>Initial Response </a:t>
            </a:r>
            <a:r>
              <a:rPr lang="en-US" dirty="0"/>
              <a:t>– The investigation is initiated the moment the computer crime is suspected.</a:t>
            </a:r>
          </a:p>
          <a:p>
            <a:pPr marL="457200" indent="-457200">
              <a:buFont typeface="+mj-lt"/>
              <a:buAutoNum type="arabicPeriod"/>
            </a:pPr>
            <a:r>
              <a:rPr lang="en-US" dirty="0"/>
              <a:t> </a:t>
            </a:r>
            <a:r>
              <a:rPr lang="en-US" b="1" dirty="0"/>
              <a:t>Photographing The Crime Scene </a:t>
            </a:r>
            <a:r>
              <a:rPr lang="en-US" dirty="0"/>
              <a:t>– The immediate response is to collect preliminary evidence. </a:t>
            </a:r>
          </a:p>
          <a:p>
            <a:pPr marL="457200" indent="-457200">
              <a:buFont typeface="+mj-lt"/>
              <a:buAutoNum type="arabicPeriod"/>
            </a:pPr>
            <a:r>
              <a:rPr lang="en-US" dirty="0"/>
              <a:t> </a:t>
            </a:r>
            <a:r>
              <a:rPr lang="en-US" b="1" dirty="0"/>
              <a:t>Court Warrant </a:t>
            </a:r>
            <a:r>
              <a:rPr lang="en-US" dirty="0"/>
              <a:t>– A court warrant for seizure (if required) is obtained.</a:t>
            </a:r>
          </a:p>
          <a:p>
            <a:pPr marL="457200" indent="-457200">
              <a:buFont typeface="+mj-lt"/>
              <a:buAutoNum type="arabicPeriod"/>
            </a:pPr>
            <a:r>
              <a:rPr lang="en-US" dirty="0"/>
              <a:t> First responder procedures are performed.</a:t>
            </a:r>
          </a:p>
          <a:p>
            <a:pPr marL="457200" indent="-457200">
              <a:buFont typeface="+mj-lt"/>
              <a:buAutoNum type="arabicPeriod"/>
            </a:pPr>
            <a:r>
              <a:rPr lang="en-US" dirty="0"/>
              <a:t> </a:t>
            </a:r>
            <a:r>
              <a:rPr lang="en-US" b="1" dirty="0"/>
              <a:t>Seizure</a:t>
            </a:r>
            <a:r>
              <a:rPr lang="en-US" dirty="0"/>
              <a:t> – Evidence is seized at the crime scene. After seizure, the evidence is numbered and safely secured.</a:t>
            </a:r>
          </a:p>
          <a:p>
            <a:pPr marL="457200" indent="-457200">
              <a:buFont typeface="+mj-lt"/>
              <a:buAutoNum type="arabicPeriod"/>
            </a:pPr>
            <a:r>
              <a:rPr lang="en-US" dirty="0"/>
              <a:t> The evidence is securely transported to the forensic laboratory.</a:t>
            </a:r>
          </a:p>
          <a:p>
            <a:pPr marL="457200" indent="-457200">
              <a:buFont typeface="+mj-lt"/>
              <a:buAutoNum type="arabicPeriod"/>
            </a:pPr>
            <a:r>
              <a:rPr lang="en-US" dirty="0"/>
              <a:t> </a:t>
            </a:r>
            <a:r>
              <a:rPr lang="en-US" b="1" dirty="0"/>
              <a:t>Creating Forensic Disk Images </a:t>
            </a:r>
            <a:r>
              <a:rPr lang="en-US" dirty="0"/>
              <a:t>– Two bit-stream copies of the evidence are created. The original disk must not be tampered with as it might change the time stamps.</a:t>
            </a:r>
          </a:p>
          <a:p>
            <a:pPr marL="457200" indent="-457200">
              <a:buFont typeface="+mj-lt"/>
              <a:buAutoNum type="arabicPeriod"/>
            </a:pPr>
            <a:endParaRPr lang="LID4096" dirty="0"/>
          </a:p>
        </p:txBody>
      </p:sp>
      <p:sp>
        <p:nvSpPr>
          <p:cNvPr id="4" name="Footer Placeholder 3">
            <a:extLst>
              <a:ext uri="{FF2B5EF4-FFF2-40B4-BE49-F238E27FC236}">
                <a16:creationId xmlns:a16="http://schemas.microsoft.com/office/drawing/2014/main" id="{EEFFEE1E-05F2-4023-9D91-989DF1B9A53E}"/>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6A8BE8FF-5722-4B64-ABAD-458A445F2414}"/>
              </a:ext>
            </a:extLst>
          </p:cNvPr>
          <p:cNvSpPr>
            <a:spLocks noGrp="1"/>
          </p:cNvSpPr>
          <p:nvPr>
            <p:ph type="sldNum" sz="quarter" idx="12"/>
          </p:nvPr>
        </p:nvSpPr>
        <p:spPr/>
        <p:txBody>
          <a:bodyPr/>
          <a:lstStyle/>
          <a:p>
            <a:fld id="{E153A30B-AAA6-4D3D-89E9-8F9473C4CEC0}" type="slidenum">
              <a:rPr lang="LID4096" smtClean="0"/>
              <a:t>26</a:t>
            </a:fld>
            <a:endParaRPr lang="LID4096"/>
          </a:p>
        </p:txBody>
      </p:sp>
    </p:spTree>
    <p:extLst>
      <p:ext uri="{BB962C8B-B14F-4D97-AF65-F5344CB8AC3E}">
        <p14:creationId xmlns:p14="http://schemas.microsoft.com/office/powerpoint/2010/main" val="1327630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7C47C-EC3A-4D99-81E0-D234CD83A0E5}"/>
              </a:ext>
            </a:extLst>
          </p:cNvPr>
          <p:cNvSpPr>
            <a:spLocks noGrp="1"/>
          </p:cNvSpPr>
          <p:nvPr>
            <p:ph type="title"/>
          </p:nvPr>
        </p:nvSpPr>
        <p:spPr/>
        <p:txBody>
          <a:bodyPr/>
          <a:lstStyle/>
          <a:p>
            <a:pPr algn="ctr"/>
            <a:r>
              <a:rPr lang="en-US" b="1" dirty="0"/>
              <a:t>Key Steps in a Forensic Investigation (Continues…) </a:t>
            </a:r>
            <a:endParaRPr lang="LID4096" dirty="0"/>
          </a:p>
        </p:txBody>
      </p:sp>
      <p:sp>
        <p:nvSpPr>
          <p:cNvPr id="3" name="Content Placeholder 2">
            <a:extLst>
              <a:ext uri="{FF2B5EF4-FFF2-40B4-BE49-F238E27FC236}">
                <a16:creationId xmlns:a16="http://schemas.microsoft.com/office/drawing/2014/main" id="{137F17E1-A6DA-4DA8-8712-A7A0AC1E79BE}"/>
              </a:ext>
            </a:extLst>
          </p:cNvPr>
          <p:cNvSpPr>
            <a:spLocks noGrp="1"/>
          </p:cNvSpPr>
          <p:nvPr>
            <p:ph idx="1"/>
          </p:nvPr>
        </p:nvSpPr>
        <p:spPr/>
        <p:txBody>
          <a:bodyPr/>
          <a:lstStyle/>
          <a:p>
            <a:pPr marL="457200" indent="-457200">
              <a:buAutoNum type="arabicPeriod" startAt="8"/>
            </a:pPr>
            <a:r>
              <a:rPr lang="en-US" dirty="0"/>
              <a:t> </a:t>
            </a:r>
            <a:r>
              <a:rPr lang="en-US" b="1" dirty="0"/>
              <a:t>Generate Hash Value (s) </a:t>
            </a:r>
            <a:r>
              <a:rPr lang="en-US" dirty="0"/>
              <a:t>– An MD5/SHA-256 checksum is generated on the images.</a:t>
            </a:r>
          </a:p>
          <a:p>
            <a:pPr marL="457200" indent="-457200">
              <a:buAutoNum type="arabicPeriod" startAt="8"/>
            </a:pPr>
            <a:r>
              <a:rPr lang="en-US" dirty="0"/>
              <a:t> </a:t>
            </a:r>
            <a:r>
              <a:rPr lang="en-US" b="1" dirty="0"/>
              <a:t>Prepare a Chain of Custody </a:t>
            </a:r>
            <a:r>
              <a:rPr lang="en-US" dirty="0"/>
              <a:t>– Any change to this chain calls into questioning the admissibility of the evidence.</a:t>
            </a:r>
          </a:p>
          <a:p>
            <a:pPr marL="457200" indent="-457200">
              <a:buAutoNum type="arabicPeriod" startAt="8"/>
            </a:pPr>
            <a:r>
              <a:rPr lang="en-US" dirty="0"/>
              <a:t> </a:t>
            </a:r>
            <a:r>
              <a:rPr lang="en-US" b="1" dirty="0"/>
              <a:t>Prepare a Forensic Report </a:t>
            </a:r>
            <a:r>
              <a:rPr lang="en-US" dirty="0"/>
              <a:t>– It describes the forensic method (s) and recovery tools used.</a:t>
            </a:r>
          </a:p>
          <a:p>
            <a:pPr marL="457200" indent="-457200">
              <a:buAutoNum type="arabicPeriod" startAt="8"/>
            </a:pPr>
            <a:endParaRPr lang="en-US" dirty="0"/>
          </a:p>
        </p:txBody>
      </p:sp>
      <p:sp>
        <p:nvSpPr>
          <p:cNvPr id="4" name="Footer Placeholder 3">
            <a:extLst>
              <a:ext uri="{FF2B5EF4-FFF2-40B4-BE49-F238E27FC236}">
                <a16:creationId xmlns:a16="http://schemas.microsoft.com/office/drawing/2014/main" id="{30F51FE6-A97B-4647-BACA-4BFEC4097B96}"/>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DD7D3549-5016-413A-9610-DAB0DE2AE538}"/>
              </a:ext>
            </a:extLst>
          </p:cNvPr>
          <p:cNvSpPr>
            <a:spLocks noGrp="1"/>
          </p:cNvSpPr>
          <p:nvPr>
            <p:ph type="sldNum" sz="quarter" idx="12"/>
          </p:nvPr>
        </p:nvSpPr>
        <p:spPr/>
        <p:txBody>
          <a:bodyPr/>
          <a:lstStyle/>
          <a:p>
            <a:fld id="{E153A30B-AAA6-4D3D-89E9-8F9473C4CEC0}" type="slidenum">
              <a:rPr lang="LID4096" smtClean="0"/>
              <a:t>27</a:t>
            </a:fld>
            <a:endParaRPr lang="LID4096"/>
          </a:p>
        </p:txBody>
      </p:sp>
    </p:spTree>
    <p:extLst>
      <p:ext uri="{BB962C8B-B14F-4D97-AF65-F5344CB8AC3E}">
        <p14:creationId xmlns:p14="http://schemas.microsoft.com/office/powerpoint/2010/main" val="25178619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92A5D-968E-441F-A3CA-F96C3DFFAA33}"/>
              </a:ext>
            </a:extLst>
          </p:cNvPr>
          <p:cNvSpPr>
            <a:spLocks noGrp="1"/>
          </p:cNvSpPr>
          <p:nvPr>
            <p:ph type="title"/>
          </p:nvPr>
        </p:nvSpPr>
        <p:spPr/>
        <p:txBody>
          <a:bodyPr/>
          <a:lstStyle/>
          <a:p>
            <a:pPr algn="ctr"/>
            <a:r>
              <a:rPr lang="en-US" b="1" dirty="0"/>
              <a:t>Tasks That are performed by Forensic Investigator</a:t>
            </a:r>
            <a:endParaRPr lang="LID4096" b="1" dirty="0"/>
          </a:p>
        </p:txBody>
      </p:sp>
      <p:sp>
        <p:nvSpPr>
          <p:cNvPr id="3" name="Content Placeholder 2">
            <a:extLst>
              <a:ext uri="{FF2B5EF4-FFF2-40B4-BE49-F238E27FC236}">
                <a16:creationId xmlns:a16="http://schemas.microsoft.com/office/drawing/2014/main" id="{E72D6C3B-E4B6-4B4F-A4FC-0D560355B0F3}"/>
              </a:ext>
            </a:extLst>
          </p:cNvPr>
          <p:cNvSpPr>
            <a:spLocks noGrp="1"/>
          </p:cNvSpPr>
          <p:nvPr>
            <p:ph idx="1"/>
          </p:nvPr>
        </p:nvSpPr>
        <p:spPr/>
        <p:txBody>
          <a:bodyPr>
            <a:normAutofit fontScale="92500" lnSpcReduction="20000"/>
          </a:bodyPr>
          <a:lstStyle/>
          <a:p>
            <a:pPr marL="457200" indent="-457200">
              <a:buFont typeface="+mj-lt"/>
              <a:buAutoNum type="arabicPeriod"/>
            </a:pPr>
            <a:r>
              <a:rPr lang="en-US" dirty="0"/>
              <a:t> </a:t>
            </a:r>
            <a:r>
              <a:rPr lang="en-US" b="1" dirty="0"/>
              <a:t>Data Recovery </a:t>
            </a:r>
            <a:r>
              <a:rPr lang="en-US" dirty="0"/>
              <a:t>– Recovers data of investigative value from computers involved in crimes.</a:t>
            </a:r>
          </a:p>
          <a:p>
            <a:pPr marL="457200" indent="-457200">
              <a:buFont typeface="+mj-lt"/>
              <a:buAutoNum type="arabicPeriod"/>
            </a:pPr>
            <a:r>
              <a:rPr lang="en-US" dirty="0"/>
              <a:t> </a:t>
            </a:r>
            <a:r>
              <a:rPr lang="en-US" b="1" dirty="0"/>
              <a:t>Secure The Evidence </a:t>
            </a:r>
            <a:r>
              <a:rPr lang="en-US" dirty="0"/>
              <a:t>– Ensures that the evidence is not damaged in any way.</a:t>
            </a:r>
          </a:p>
          <a:p>
            <a:pPr marL="457200" indent="-457200">
              <a:buFont typeface="+mj-lt"/>
              <a:buAutoNum type="arabicPeriod"/>
            </a:pPr>
            <a:r>
              <a:rPr lang="en-US" dirty="0"/>
              <a:t> </a:t>
            </a:r>
            <a:r>
              <a:rPr lang="en-US" b="1" dirty="0"/>
              <a:t>Creating Forensic Image (s) </a:t>
            </a:r>
            <a:r>
              <a:rPr lang="en-US" dirty="0"/>
              <a:t>– Creates an image of the original evidence without tampering with it to maintain the original evidence’s integrity.</a:t>
            </a:r>
          </a:p>
          <a:p>
            <a:pPr marL="457200" indent="-457200">
              <a:buFont typeface="+mj-lt"/>
              <a:buAutoNum type="arabicPeriod"/>
            </a:pPr>
            <a:r>
              <a:rPr lang="en-US" dirty="0"/>
              <a:t> </a:t>
            </a:r>
            <a:r>
              <a:rPr lang="en-US" b="1" dirty="0"/>
              <a:t>Prepares a Forensic Report</a:t>
            </a:r>
          </a:p>
          <a:p>
            <a:pPr marL="457200" indent="-457200">
              <a:buFont typeface="+mj-lt"/>
              <a:buAutoNum type="arabicPeriod"/>
            </a:pPr>
            <a:r>
              <a:rPr lang="en-US" b="1" dirty="0"/>
              <a:t> Provides Expertise Testimony </a:t>
            </a:r>
            <a:r>
              <a:rPr lang="en-US" dirty="0"/>
              <a:t>– Addresses the issue in a court of law and attempts to win the case by testifying in court.</a:t>
            </a:r>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LID4096" dirty="0"/>
          </a:p>
        </p:txBody>
      </p:sp>
      <p:sp>
        <p:nvSpPr>
          <p:cNvPr id="4" name="Footer Placeholder 3">
            <a:extLst>
              <a:ext uri="{FF2B5EF4-FFF2-40B4-BE49-F238E27FC236}">
                <a16:creationId xmlns:a16="http://schemas.microsoft.com/office/drawing/2014/main" id="{6217F206-74E2-47D4-9D5E-7F419139DCD6}"/>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0B13EEE2-6556-4EC3-A0E0-D2E1D8BB6513}"/>
              </a:ext>
            </a:extLst>
          </p:cNvPr>
          <p:cNvSpPr>
            <a:spLocks noGrp="1"/>
          </p:cNvSpPr>
          <p:nvPr>
            <p:ph type="sldNum" sz="quarter" idx="12"/>
          </p:nvPr>
        </p:nvSpPr>
        <p:spPr/>
        <p:txBody>
          <a:bodyPr/>
          <a:lstStyle/>
          <a:p>
            <a:fld id="{E153A30B-AAA6-4D3D-89E9-8F9473C4CEC0}" type="slidenum">
              <a:rPr lang="LID4096" smtClean="0"/>
              <a:t>28</a:t>
            </a:fld>
            <a:endParaRPr lang="LID4096"/>
          </a:p>
        </p:txBody>
      </p:sp>
    </p:spTree>
    <p:extLst>
      <p:ext uri="{BB962C8B-B14F-4D97-AF65-F5344CB8AC3E}">
        <p14:creationId xmlns:p14="http://schemas.microsoft.com/office/powerpoint/2010/main" val="34034088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03A0F-D059-4819-BD2F-B8EAC3DC8C64}"/>
              </a:ext>
            </a:extLst>
          </p:cNvPr>
          <p:cNvSpPr>
            <a:spLocks noGrp="1"/>
          </p:cNvSpPr>
          <p:nvPr>
            <p:ph type="title"/>
          </p:nvPr>
        </p:nvSpPr>
        <p:spPr/>
        <p:txBody>
          <a:bodyPr/>
          <a:lstStyle/>
          <a:p>
            <a:pPr algn="ctr"/>
            <a:r>
              <a:rPr lang="en-GB" b="1" dirty="0"/>
              <a:t>Locard's Exchange Principle</a:t>
            </a:r>
            <a:endParaRPr lang="LID4096" b="1" dirty="0"/>
          </a:p>
        </p:txBody>
      </p:sp>
      <p:sp>
        <p:nvSpPr>
          <p:cNvPr id="3" name="Content Placeholder 2">
            <a:extLst>
              <a:ext uri="{FF2B5EF4-FFF2-40B4-BE49-F238E27FC236}">
                <a16:creationId xmlns:a16="http://schemas.microsoft.com/office/drawing/2014/main" id="{021FA54D-44F2-4DA0-ACB4-B7073D75D703}"/>
              </a:ext>
            </a:extLst>
          </p:cNvPr>
          <p:cNvSpPr>
            <a:spLocks noGrp="1"/>
          </p:cNvSpPr>
          <p:nvPr>
            <p:ph idx="1"/>
          </p:nvPr>
        </p:nvSpPr>
        <p:spPr/>
        <p:txBody>
          <a:bodyPr/>
          <a:lstStyle/>
          <a:p>
            <a:pPr>
              <a:buFont typeface="Wingdings" panose="05000000000000000000" pitchFamily="2" charset="2"/>
              <a:buChar char="q"/>
            </a:pPr>
            <a:r>
              <a:rPr lang="en-US" dirty="0"/>
              <a:t> States “</a:t>
            </a:r>
            <a:r>
              <a:rPr lang="en-US" b="1" dirty="0"/>
              <a:t>in the physical world, when perpetrators enter or leave a crime scene, they will leave something behind and take something with them</a:t>
            </a:r>
            <a:r>
              <a:rPr lang="en-US" dirty="0"/>
              <a:t>”. </a:t>
            </a:r>
          </a:p>
          <a:p>
            <a:r>
              <a:rPr lang="en-US" dirty="0"/>
              <a:t>Examples include </a:t>
            </a:r>
            <a:r>
              <a:rPr lang="en-US" b="1" dirty="0"/>
              <a:t>DNA</a:t>
            </a:r>
            <a:r>
              <a:rPr lang="en-US" dirty="0"/>
              <a:t>, </a:t>
            </a:r>
            <a:r>
              <a:rPr lang="en-US" b="1" dirty="0"/>
              <a:t>latent prints</a:t>
            </a:r>
            <a:r>
              <a:rPr lang="en-US" dirty="0"/>
              <a:t>, </a:t>
            </a:r>
            <a:r>
              <a:rPr lang="en-US" b="1" dirty="0"/>
              <a:t>hair</a:t>
            </a:r>
            <a:r>
              <a:rPr lang="en-US" dirty="0"/>
              <a:t>, and </a:t>
            </a:r>
            <a:r>
              <a:rPr lang="en-US" b="1" dirty="0"/>
              <a:t>fibers</a:t>
            </a:r>
            <a:r>
              <a:rPr lang="en-US" dirty="0"/>
              <a:t>.</a:t>
            </a:r>
          </a:p>
          <a:p>
            <a:r>
              <a:rPr lang="en-US" dirty="0"/>
              <a:t> In digital forensics, </a:t>
            </a:r>
            <a:r>
              <a:rPr lang="en-US" b="1" dirty="0"/>
              <a:t>registry keys </a:t>
            </a:r>
            <a:r>
              <a:rPr lang="en-US" dirty="0"/>
              <a:t>and </a:t>
            </a:r>
            <a:r>
              <a:rPr lang="en-US" b="1" dirty="0"/>
              <a:t>log files </a:t>
            </a:r>
            <a:r>
              <a:rPr lang="en-US" dirty="0"/>
              <a:t>can serve as footprints left by the perpetrator (s).</a:t>
            </a:r>
          </a:p>
          <a:p>
            <a:endParaRPr lang="LID4096" dirty="0"/>
          </a:p>
        </p:txBody>
      </p:sp>
      <p:sp>
        <p:nvSpPr>
          <p:cNvPr id="4" name="Footer Placeholder 3">
            <a:extLst>
              <a:ext uri="{FF2B5EF4-FFF2-40B4-BE49-F238E27FC236}">
                <a16:creationId xmlns:a16="http://schemas.microsoft.com/office/drawing/2014/main" id="{BE76808D-4DE9-4027-BB14-035C28904837}"/>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DDC80EC8-6E4C-41D3-A458-9CEF40D5850B}"/>
              </a:ext>
            </a:extLst>
          </p:cNvPr>
          <p:cNvSpPr>
            <a:spLocks noGrp="1"/>
          </p:cNvSpPr>
          <p:nvPr>
            <p:ph type="sldNum" sz="quarter" idx="12"/>
          </p:nvPr>
        </p:nvSpPr>
        <p:spPr/>
        <p:txBody>
          <a:bodyPr/>
          <a:lstStyle/>
          <a:p>
            <a:fld id="{E153A30B-AAA6-4D3D-89E9-8F9473C4CEC0}" type="slidenum">
              <a:rPr lang="LID4096" smtClean="0"/>
              <a:t>29</a:t>
            </a:fld>
            <a:endParaRPr lang="LID4096"/>
          </a:p>
        </p:txBody>
      </p:sp>
    </p:spTree>
    <p:extLst>
      <p:ext uri="{BB962C8B-B14F-4D97-AF65-F5344CB8AC3E}">
        <p14:creationId xmlns:p14="http://schemas.microsoft.com/office/powerpoint/2010/main" val="12637421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05DDF-D7EB-43D1-ACC6-822993B08A3E}"/>
              </a:ext>
            </a:extLst>
          </p:cNvPr>
          <p:cNvSpPr>
            <a:spLocks noGrp="1"/>
          </p:cNvSpPr>
          <p:nvPr>
            <p:ph type="title"/>
          </p:nvPr>
        </p:nvSpPr>
        <p:spPr/>
        <p:txBody>
          <a:bodyPr/>
          <a:lstStyle/>
          <a:p>
            <a:pPr algn="ctr"/>
            <a:r>
              <a:rPr lang="en-US" b="1" dirty="0"/>
              <a:t>ORGANIZATIONS INVOLVED IN DIGITAL FORENSICS</a:t>
            </a:r>
            <a:endParaRPr lang="LID4096" b="1" dirty="0"/>
          </a:p>
        </p:txBody>
      </p:sp>
      <p:sp>
        <p:nvSpPr>
          <p:cNvPr id="3" name="Content Placeholder 2">
            <a:extLst>
              <a:ext uri="{FF2B5EF4-FFF2-40B4-BE49-F238E27FC236}">
                <a16:creationId xmlns:a16="http://schemas.microsoft.com/office/drawing/2014/main" id="{60E159B6-6107-4E4D-8292-659D157C89F1}"/>
              </a:ext>
            </a:extLst>
          </p:cNvPr>
          <p:cNvSpPr>
            <a:spLocks noGrp="1"/>
          </p:cNvSpPr>
          <p:nvPr>
            <p:ph idx="1"/>
          </p:nvPr>
        </p:nvSpPr>
        <p:spPr/>
        <p:txBody>
          <a:bodyPr>
            <a:normAutofit fontScale="92500" lnSpcReduction="20000"/>
          </a:bodyPr>
          <a:lstStyle/>
          <a:p>
            <a:pPr marL="457200" indent="-457200">
              <a:buFont typeface="+mj-lt"/>
              <a:buAutoNum type="arabicPeriod"/>
            </a:pPr>
            <a:r>
              <a:rPr lang="en-US" dirty="0"/>
              <a:t> </a:t>
            </a:r>
            <a:r>
              <a:rPr lang="en-US" b="1" dirty="0"/>
              <a:t>Scientific Working Group on Digital Evidence (SWGDE) of 1998</a:t>
            </a:r>
          </a:p>
          <a:p>
            <a:r>
              <a:rPr lang="en-US" dirty="0"/>
              <a:t>Is made up of “federal government agency, state or local law enforcement agency involved in the digital and multi-media forensic profession”.</a:t>
            </a:r>
          </a:p>
          <a:p>
            <a:r>
              <a:rPr lang="en-US" dirty="0"/>
              <a:t> The federal Bureau of Investigation has supported formation of:</a:t>
            </a:r>
          </a:p>
          <a:p>
            <a:pPr marL="514350" indent="-514350">
              <a:buFont typeface="+mj-lt"/>
              <a:buAutoNum type="romanLcPeriod"/>
            </a:pPr>
            <a:r>
              <a:rPr lang="en-US" dirty="0"/>
              <a:t>Scientific Working Groups (SWGs)</a:t>
            </a:r>
          </a:p>
          <a:p>
            <a:pPr marL="514350" indent="-514350">
              <a:buFont typeface="+mj-lt"/>
              <a:buAutoNum type="romanLcPeriod"/>
            </a:pPr>
            <a:r>
              <a:rPr lang="en-US" dirty="0"/>
              <a:t>Technical Working Groups (TWGs) </a:t>
            </a:r>
          </a:p>
          <a:p>
            <a:pPr marL="514350" indent="-514350">
              <a:buFont typeface="+mj-lt"/>
              <a:buAutoNum type="romanLcPeriod"/>
            </a:pPr>
            <a:r>
              <a:rPr lang="en-US" dirty="0"/>
              <a:t> Scientific Working Group for DNA Analysis Methods (SWGDAM) </a:t>
            </a:r>
          </a:p>
          <a:p>
            <a:pPr marL="514350" indent="-514350">
              <a:buFont typeface="+mj-lt"/>
              <a:buAutoNum type="romanLcPeriod"/>
            </a:pPr>
            <a:r>
              <a:rPr lang="en-US" dirty="0"/>
              <a:t>Scientific Working Group for Firearms and Toolmarks (SWGGUN)</a:t>
            </a:r>
          </a:p>
        </p:txBody>
      </p:sp>
      <p:sp>
        <p:nvSpPr>
          <p:cNvPr id="4" name="Footer Placeholder 3">
            <a:extLst>
              <a:ext uri="{FF2B5EF4-FFF2-40B4-BE49-F238E27FC236}">
                <a16:creationId xmlns:a16="http://schemas.microsoft.com/office/drawing/2014/main" id="{E714D606-1F39-4AC0-8F8E-D7B1D819785D}"/>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5FA8FFA7-8AFD-41AB-B228-13DDD431B3C3}"/>
              </a:ext>
            </a:extLst>
          </p:cNvPr>
          <p:cNvSpPr>
            <a:spLocks noGrp="1"/>
          </p:cNvSpPr>
          <p:nvPr>
            <p:ph type="sldNum" sz="quarter" idx="12"/>
          </p:nvPr>
        </p:nvSpPr>
        <p:spPr/>
        <p:txBody>
          <a:bodyPr/>
          <a:lstStyle/>
          <a:p>
            <a:fld id="{E153A30B-AAA6-4D3D-89E9-8F9473C4CEC0}" type="slidenum">
              <a:rPr lang="LID4096" smtClean="0"/>
              <a:t>30</a:t>
            </a:fld>
            <a:endParaRPr lang="LID4096"/>
          </a:p>
        </p:txBody>
      </p:sp>
    </p:spTree>
    <p:extLst>
      <p:ext uri="{BB962C8B-B14F-4D97-AF65-F5344CB8AC3E}">
        <p14:creationId xmlns:p14="http://schemas.microsoft.com/office/powerpoint/2010/main" val="15257807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89714-6B39-45E3-8B38-23C17666F684}"/>
              </a:ext>
            </a:extLst>
          </p:cNvPr>
          <p:cNvSpPr>
            <a:spLocks noGrp="1"/>
          </p:cNvSpPr>
          <p:nvPr>
            <p:ph type="title"/>
          </p:nvPr>
        </p:nvSpPr>
        <p:spPr/>
        <p:txBody>
          <a:bodyPr/>
          <a:lstStyle/>
          <a:p>
            <a:pPr algn="ctr"/>
            <a:r>
              <a:rPr lang="en-US" b="1" dirty="0"/>
              <a:t>ORGANIZATIONS INVOLVED IN DIGITAL FORENSICS (Continues…)</a:t>
            </a:r>
            <a:endParaRPr lang="LID4096" dirty="0"/>
          </a:p>
        </p:txBody>
      </p:sp>
      <p:sp>
        <p:nvSpPr>
          <p:cNvPr id="3" name="Content Placeholder 2">
            <a:extLst>
              <a:ext uri="{FF2B5EF4-FFF2-40B4-BE49-F238E27FC236}">
                <a16:creationId xmlns:a16="http://schemas.microsoft.com/office/drawing/2014/main" id="{8266517D-87E1-4A47-858E-CCEA916E97D8}"/>
              </a:ext>
            </a:extLst>
          </p:cNvPr>
          <p:cNvSpPr>
            <a:spLocks noGrp="1"/>
          </p:cNvSpPr>
          <p:nvPr>
            <p:ph idx="1"/>
          </p:nvPr>
        </p:nvSpPr>
        <p:spPr/>
        <p:txBody>
          <a:bodyPr>
            <a:normAutofit lnSpcReduction="10000"/>
          </a:bodyPr>
          <a:lstStyle/>
          <a:p>
            <a:pPr marL="457200" indent="-457200">
              <a:buAutoNum type="arabicPeriod" startAt="2"/>
            </a:pPr>
            <a:r>
              <a:rPr lang="en-US" dirty="0"/>
              <a:t> </a:t>
            </a:r>
            <a:r>
              <a:rPr lang="en-US" b="1" dirty="0"/>
              <a:t>American Academy of Forensic Sciences (AAFS)</a:t>
            </a:r>
          </a:p>
          <a:p>
            <a:r>
              <a:rPr lang="en-US" dirty="0"/>
              <a:t> Members of the Academy work for:</a:t>
            </a:r>
          </a:p>
          <a:p>
            <a:pPr marL="514350" indent="-514350">
              <a:buFont typeface="+mj-lt"/>
              <a:buAutoNum type="romanLcPeriod"/>
            </a:pPr>
            <a:r>
              <a:rPr lang="en-US" dirty="0"/>
              <a:t>National Institute of Standards and Technology (NIST) </a:t>
            </a:r>
          </a:p>
          <a:p>
            <a:pPr marL="514350" indent="-514350">
              <a:buFont typeface="+mj-lt"/>
              <a:buAutoNum type="romanLcPeriod"/>
            </a:pPr>
            <a:r>
              <a:rPr lang="en-US" dirty="0"/>
              <a:t>National Academy of Sciences (NAS). </a:t>
            </a:r>
          </a:p>
          <a:p>
            <a:pPr marL="514350" indent="-514350">
              <a:buFont typeface="+mj-lt"/>
              <a:buAutoNum type="romanLcPeriod"/>
            </a:pPr>
            <a:r>
              <a:rPr lang="en-US" dirty="0"/>
              <a:t> Scientific Working Group on Digital Evidence (SWGDE).</a:t>
            </a:r>
          </a:p>
          <a:p>
            <a:r>
              <a:rPr lang="en-US" dirty="0"/>
              <a:t> It has approximately six thousand members and is divided into “eleven sections spanning the forensic enterprise.” </a:t>
            </a:r>
          </a:p>
        </p:txBody>
      </p:sp>
      <p:sp>
        <p:nvSpPr>
          <p:cNvPr id="4" name="Footer Placeholder 3">
            <a:extLst>
              <a:ext uri="{FF2B5EF4-FFF2-40B4-BE49-F238E27FC236}">
                <a16:creationId xmlns:a16="http://schemas.microsoft.com/office/drawing/2014/main" id="{9C5575AE-7E58-44A5-AE7A-22AE5E91EC5B}"/>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9DE8706E-8C80-48FA-8173-D04BB188B1FB}"/>
              </a:ext>
            </a:extLst>
          </p:cNvPr>
          <p:cNvSpPr>
            <a:spLocks noGrp="1"/>
          </p:cNvSpPr>
          <p:nvPr>
            <p:ph type="sldNum" sz="quarter" idx="12"/>
          </p:nvPr>
        </p:nvSpPr>
        <p:spPr/>
        <p:txBody>
          <a:bodyPr/>
          <a:lstStyle/>
          <a:p>
            <a:fld id="{E153A30B-AAA6-4D3D-89E9-8F9473C4CEC0}" type="slidenum">
              <a:rPr lang="LID4096" smtClean="0"/>
              <a:t>31</a:t>
            </a:fld>
            <a:endParaRPr lang="LID4096"/>
          </a:p>
        </p:txBody>
      </p:sp>
    </p:spTree>
    <p:extLst>
      <p:ext uri="{BB962C8B-B14F-4D97-AF65-F5344CB8AC3E}">
        <p14:creationId xmlns:p14="http://schemas.microsoft.com/office/powerpoint/2010/main" val="22415262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CC2CA-4AD2-4714-B639-C79E043BC578}"/>
              </a:ext>
            </a:extLst>
          </p:cNvPr>
          <p:cNvSpPr>
            <a:spLocks noGrp="1"/>
          </p:cNvSpPr>
          <p:nvPr>
            <p:ph type="title"/>
          </p:nvPr>
        </p:nvSpPr>
        <p:spPr/>
        <p:txBody>
          <a:bodyPr/>
          <a:lstStyle/>
          <a:p>
            <a:pPr algn="ctr"/>
            <a:r>
              <a:rPr lang="en-US" b="1" dirty="0"/>
              <a:t>ORGANIZATIONS INVOLVED IN DIGITAL FORENSICS (Continues…)</a:t>
            </a:r>
            <a:endParaRPr lang="LID4096" dirty="0"/>
          </a:p>
        </p:txBody>
      </p:sp>
      <p:sp>
        <p:nvSpPr>
          <p:cNvPr id="3" name="Content Placeholder 2">
            <a:extLst>
              <a:ext uri="{FF2B5EF4-FFF2-40B4-BE49-F238E27FC236}">
                <a16:creationId xmlns:a16="http://schemas.microsoft.com/office/drawing/2014/main" id="{400418D7-4919-4AF5-8B64-C098D175FC81}"/>
              </a:ext>
            </a:extLst>
          </p:cNvPr>
          <p:cNvSpPr>
            <a:spLocks noGrp="1"/>
          </p:cNvSpPr>
          <p:nvPr>
            <p:ph idx="1"/>
          </p:nvPr>
        </p:nvSpPr>
        <p:spPr/>
        <p:txBody>
          <a:bodyPr/>
          <a:lstStyle/>
          <a:p>
            <a:pPr marL="457200" indent="-457200">
              <a:buAutoNum type="arabicPeriod" startAt="3"/>
            </a:pPr>
            <a:r>
              <a:rPr lang="en-US" dirty="0"/>
              <a:t> </a:t>
            </a:r>
            <a:r>
              <a:rPr lang="en-US" b="1" dirty="0"/>
              <a:t>American Society of Crime Laboratory Directors/Laboratory Accreditation Board </a:t>
            </a:r>
          </a:p>
          <a:p>
            <a:r>
              <a:rPr lang="en-US" dirty="0"/>
              <a:t> Is the “oldest and most well known crime/forensic laboratory accrediting body in the world.” </a:t>
            </a:r>
          </a:p>
          <a:p>
            <a:endParaRPr lang="en-US" dirty="0"/>
          </a:p>
        </p:txBody>
      </p:sp>
      <p:sp>
        <p:nvSpPr>
          <p:cNvPr id="4" name="Footer Placeholder 3">
            <a:extLst>
              <a:ext uri="{FF2B5EF4-FFF2-40B4-BE49-F238E27FC236}">
                <a16:creationId xmlns:a16="http://schemas.microsoft.com/office/drawing/2014/main" id="{BCCBB014-174D-40D4-9559-18329D2D46E1}"/>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04EF7748-22DC-4257-B8F2-49BD82A7B8E1}"/>
              </a:ext>
            </a:extLst>
          </p:cNvPr>
          <p:cNvSpPr>
            <a:spLocks noGrp="1"/>
          </p:cNvSpPr>
          <p:nvPr>
            <p:ph type="sldNum" sz="quarter" idx="12"/>
          </p:nvPr>
        </p:nvSpPr>
        <p:spPr/>
        <p:txBody>
          <a:bodyPr/>
          <a:lstStyle/>
          <a:p>
            <a:fld id="{E153A30B-AAA6-4D3D-89E9-8F9473C4CEC0}" type="slidenum">
              <a:rPr lang="LID4096" smtClean="0"/>
              <a:t>32</a:t>
            </a:fld>
            <a:endParaRPr lang="LID4096"/>
          </a:p>
        </p:txBody>
      </p:sp>
    </p:spTree>
    <p:extLst>
      <p:ext uri="{BB962C8B-B14F-4D97-AF65-F5344CB8AC3E}">
        <p14:creationId xmlns:p14="http://schemas.microsoft.com/office/powerpoint/2010/main" val="19410051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B9CCE-5515-49CD-BA6E-3D38EA10ECBE}"/>
              </a:ext>
            </a:extLst>
          </p:cNvPr>
          <p:cNvSpPr>
            <a:spLocks noGrp="1"/>
          </p:cNvSpPr>
          <p:nvPr>
            <p:ph type="title"/>
          </p:nvPr>
        </p:nvSpPr>
        <p:spPr/>
        <p:txBody>
          <a:bodyPr/>
          <a:lstStyle/>
          <a:p>
            <a:pPr algn="ctr"/>
            <a:r>
              <a:rPr lang="en-US" b="1" dirty="0"/>
              <a:t>ORGANIZATIONS INVOLVED IN DIGITAL FORENSICS (Continues…)</a:t>
            </a:r>
            <a:endParaRPr lang="LID4096" dirty="0"/>
          </a:p>
        </p:txBody>
      </p:sp>
      <p:sp>
        <p:nvSpPr>
          <p:cNvPr id="3" name="Content Placeholder 2">
            <a:extLst>
              <a:ext uri="{FF2B5EF4-FFF2-40B4-BE49-F238E27FC236}">
                <a16:creationId xmlns:a16="http://schemas.microsoft.com/office/drawing/2014/main" id="{7CCD373E-B93B-4702-9982-AAD5704E0682}"/>
              </a:ext>
            </a:extLst>
          </p:cNvPr>
          <p:cNvSpPr>
            <a:spLocks noGrp="1"/>
          </p:cNvSpPr>
          <p:nvPr>
            <p:ph idx="1"/>
          </p:nvPr>
        </p:nvSpPr>
        <p:spPr/>
        <p:txBody>
          <a:bodyPr>
            <a:normAutofit fontScale="92500"/>
          </a:bodyPr>
          <a:lstStyle/>
          <a:p>
            <a:pPr marL="457200" indent="-457200">
              <a:buAutoNum type="arabicPeriod" startAt="4"/>
            </a:pPr>
            <a:r>
              <a:rPr lang="en-US" dirty="0"/>
              <a:t> </a:t>
            </a:r>
            <a:r>
              <a:rPr lang="en-US" b="1" dirty="0"/>
              <a:t>National Institute of Standards and Technology (NIST) of 1901</a:t>
            </a:r>
          </a:p>
          <a:p>
            <a:r>
              <a:rPr lang="en-US" b="1" dirty="0"/>
              <a:t> </a:t>
            </a:r>
            <a:r>
              <a:rPr lang="en-US" dirty="0"/>
              <a:t>It was the first federal physical science research laboratory.</a:t>
            </a:r>
          </a:p>
          <a:p>
            <a:r>
              <a:rPr lang="en-US" dirty="0"/>
              <a:t> It is heavily involved in digital forensics. Some of the programs and projects include:</a:t>
            </a:r>
          </a:p>
          <a:p>
            <a:pPr marL="514350" indent="-514350">
              <a:buFont typeface="+mj-lt"/>
              <a:buAutoNum type="romanLcPeriod"/>
            </a:pPr>
            <a:r>
              <a:rPr lang="en-US" dirty="0"/>
              <a:t>National Initiative Cyber Security Education (NICE)</a:t>
            </a:r>
          </a:p>
          <a:p>
            <a:pPr marL="514350" indent="-514350">
              <a:buFont typeface="+mj-lt"/>
              <a:buAutoNum type="romanLcPeriod"/>
            </a:pPr>
            <a:r>
              <a:rPr lang="en-US" dirty="0"/>
              <a:t>National Software References Library</a:t>
            </a:r>
          </a:p>
          <a:p>
            <a:pPr marL="514350" indent="-514350">
              <a:buFont typeface="+mj-lt"/>
              <a:buAutoNum type="romanLcPeriod"/>
            </a:pPr>
            <a:r>
              <a:rPr lang="en-US" dirty="0"/>
              <a:t>Computer Forensic Tool Testing</a:t>
            </a:r>
          </a:p>
          <a:p>
            <a:endParaRPr lang="en-US" b="1" dirty="0"/>
          </a:p>
        </p:txBody>
      </p:sp>
      <p:sp>
        <p:nvSpPr>
          <p:cNvPr id="4" name="Footer Placeholder 3">
            <a:extLst>
              <a:ext uri="{FF2B5EF4-FFF2-40B4-BE49-F238E27FC236}">
                <a16:creationId xmlns:a16="http://schemas.microsoft.com/office/drawing/2014/main" id="{BEB6C053-E488-42B9-9B33-4D2567168C40}"/>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5F26B56E-B7B9-408E-9453-26A3BAD6D501}"/>
              </a:ext>
            </a:extLst>
          </p:cNvPr>
          <p:cNvSpPr>
            <a:spLocks noGrp="1"/>
          </p:cNvSpPr>
          <p:nvPr>
            <p:ph type="sldNum" sz="quarter" idx="12"/>
          </p:nvPr>
        </p:nvSpPr>
        <p:spPr/>
        <p:txBody>
          <a:bodyPr/>
          <a:lstStyle/>
          <a:p>
            <a:fld id="{E153A30B-AAA6-4D3D-89E9-8F9473C4CEC0}" type="slidenum">
              <a:rPr lang="LID4096" smtClean="0"/>
              <a:t>33</a:t>
            </a:fld>
            <a:endParaRPr lang="LID4096"/>
          </a:p>
        </p:txBody>
      </p:sp>
    </p:spTree>
    <p:extLst>
      <p:ext uri="{BB962C8B-B14F-4D97-AF65-F5344CB8AC3E}">
        <p14:creationId xmlns:p14="http://schemas.microsoft.com/office/powerpoint/2010/main" val="31033691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F28AF-AB29-4824-BC73-369686192AA6}"/>
              </a:ext>
            </a:extLst>
          </p:cNvPr>
          <p:cNvSpPr>
            <a:spLocks noGrp="1"/>
          </p:cNvSpPr>
          <p:nvPr>
            <p:ph type="title"/>
          </p:nvPr>
        </p:nvSpPr>
        <p:spPr/>
        <p:txBody>
          <a:bodyPr/>
          <a:lstStyle/>
          <a:p>
            <a:pPr algn="ctr"/>
            <a:r>
              <a:rPr lang="en-US" b="1" dirty="0"/>
              <a:t>ORGANIZATIONS INVOLVED IN DIGITAL FORENSICS (Continues…)</a:t>
            </a:r>
            <a:endParaRPr lang="LID4096" dirty="0"/>
          </a:p>
        </p:txBody>
      </p:sp>
      <p:sp>
        <p:nvSpPr>
          <p:cNvPr id="3" name="Content Placeholder 2">
            <a:extLst>
              <a:ext uri="{FF2B5EF4-FFF2-40B4-BE49-F238E27FC236}">
                <a16:creationId xmlns:a16="http://schemas.microsoft.com/office/drawing/2014/main" id="{33FA7C30-F254-475C-ADB4-E9E67F0EE957}"/>
              </a:ext>
            </a:extLst>
          </p:cNvPr>
          <p:cNvSpPr>
            <a:spLocks noGrp="1"/>
          </p:cNvSpPr>
          <p:nvPr>
            <p:ph idx="1"/>
          </p:nvPr>
        </p:nvSpPr>
        <p:spPr/>
        <p:txBody>
          <a:bodyPr/>
          <a:lstStyle/>
          <a:p>
            <a:pPr marL="457200" indent="-457200">
              <a:buAutoNum type="arabicPeriod" startAt="5"/>
            </a:pPr>
            <a:r>
              <a:rPr lang="en-US" dirty="0"/>
              <a:t> </a:t>
            </a:r>
            <a:r>
              <a:rPr lang="en-US" b="1" dirty="0"/>
              <a:t>American Society for Testing and Materials (ASTM) of 1898</a:t>
            </a:r>
          </a:p>
          <a:p>
            <a:r>
              <a:rPr lang="en-US" dirty="0"/>
              <a:t> Comprises about 30,000 members broken into 141 committees. </a:t>
            </a:r>
          </a:p>
          <a:p>
            <a:r>
              <a:rPr lang="en-US" dirty="0"/>
              <a:t>The Forensics Sciences committee (E30), is further divided into several subcommittees. </a:t>
            </a:r>
          </a:p>
          <a:p>
            <a:pPr marL="514350" indent="-514350">
              <a:buFont typeface="+mj-lt"/>
              <a:buAutoNum type="romanLcPeriod"/>
            </a:pPr>
            <a:r>
              <a:rPr lang="en-US" dirty="0"/>
              <a:t>The Digital and Multimedia Evidence (E30.12)</a:t>
            </a:r>
          </a:p>
          <a:p>
            <a:pPr marL="457200" indent="-457200">
              <a:buAutoNum type="arabicPeriod" startAt="5"/>
            </a:pPr>
            <a:endParaRPr lang="en-US" dirty="0"/>
          </a:p>
        </p:txBody>
      </p:sp>
      <p:sp>
        <p:nvSpPr>
          <p:cNvPr id="4" name="Footer Placeholder 3">
            <a:extLst>
              <a:ext uri="{FF2B5EF4-FFF2-40B4-BE49-F238E27FC236}">
                <a16:creationId xmlns:a16="http://schemas.microsoft.com/office/drawing/2014/main" id="{4761E1AC-EE0E-4618-8856-79619C40724B}"/>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2EEB015C-C57B-41F6-9EC8-22AC7637FC0E}"/>
              </a:ext>
            </a:extLst>
          </p:cNvPr>
          <p:cNvSpPr>
            <a:spLocks noGrp="1"/>
          </p:cNvSpPr>
          <p:nvPr>
            <p:ph type="sldNum" sz="quarter" idx="12"/>
          </p:nvPr>
        </p:nvSpPr>
        <p:spPr/>
        <p:txBody>
          <a:bodyPr/>
          <a:lstStyle/>
          <a:p>
            <a:fld id="{E153A30B-AAA6-4D3D-89E9-8F9473C4CEC0}" type="slidenum">
              <a:rPr lang="LID4096" smtClean="0"/>
              <a:t>34</a:t>
            </a:fld>
            <a:endParaRPr lang="LID4096"/>
          </a:p>
        </p:txBody>
      </p:sp>
    </p:spTree>
    <p:extLst>
      <p:ext uri="{BB962C8B-B14F-4D97-AF65-F5344CB8AC3E}">
        <p14:creationId xmlns:p14="http://schemas.microsoft.com/office/powerpoint/2010/main" val="34618241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53D0E-E7A6-4129-A089-EC448AA44765}"/>
              </a:ext>
            </a:extLst>
          </p:cNvPr>
          <p:cNvSpPr>
            <a:spLocks noGrp="1"/>
          </p:cNvSpPr>
          <p:nvPr>
            <p:ph type="title"/>
          </p:nvPr>
        </p:nvSpPr>
        <p:spPr/>
        <p:txBody>
          <a:bodyPr/>
          <a:lstStyle/>
          <a:p>
            <a:pPr algn="ctr"/>
            <a:r>
              <a:rPr lang="en-GB" b="1" dirty="0"/>
              <a:t>Computer/Digital Forensics Tools</a:t>
            </a:r>
            <a:endParaRPr lang="LID4096" b="1" dirty="0"/>
          </a:p>
        </p:txBody>
      </p:sp>
      <p:sp>
        <p:nvSpPr>
          <p:cNvPr id="3" name="Content Placeholder 2">
            <a:extLst>
              <a:ext uri="{FF2B5EF4-FFF2-40B4-BE49-F238E27FC236}">
                <a16:creationId xmlns:a16="http://schemas.microsoft.com/office/drawing/2014/main" id="{9A7A13FB-D3B8-4100-B4B2-F3D2D129BB19}"/>
              </a:ext>
            </a:extLst>
          </p:cNvPr>
          <p:cNvSpPr>
            <a:spLocks noGrp="1"/>
          </p:cNvSpPr>
          <p:nvPr>
            <p:ph idx="1"/>
          </p:nvPr>
        </p:nvSpPr>
        <p:spPr/>
        <p:txBody>
          <a:bodyPr>
            <a:normAutofit fontScale="85000" lnSpcReduction="20000"/>
          </a:bodyPr>
          <a:lstStyle/>
          <a:p>
            <a:r>
              <a:rPr lang="en-US" dirty="0"/>
              <a:t> The goal of Computer forensics is to perform crime investigations by using evidence from digital data to find who was the responsible for that particular crime. </a:t>
            </a:r>
          </a:p>
          <a:p>
            <a:pPr marL="457200" indent="-457200">
              <a:buFont typeface="+mj-lt"/>
              <a:buAutoNum type="arabicPeriod"/>
            </a:pPr>
            <a:r>
              <a:rPr lang="en-US" dirty="0"/>
              <a:t> </a:t>
            </a:r>
            <a:r>
              <a:rPr lang="en-US" b="1" dirty="0"/>
              <a:t>Digital Forensics Framework (DFF) </a:t>
            </a:r>
            <a:r>
              <a:rPr lang="en-US" dirty="0"/>
              <a:t>– Open Source </a:t>
            </a:r>
          </a:p>
          <a:p>
            <a:r>
              <a:rPr lang="en-US" dirty="0"/>
              <a:t> Has a command line and graphical interface.</a:t>
            </a:r>
          </a:p>
          <a:p>
            <a:r>
              <a:rPr lang="en-US" dirty="0"/>
              <a:t> Is used to investigate hard drives, volatile memory, create reports about user and system activities.</a:t>
            </a:r>
          </a:p>
          <a:p>
            <a:r>
              <a:rPr lang="en-US" dirty="0"/>
              <a:t> Can also be used for digital chain of custody, to access the remote or local devices, forensics of Windows or Linux OS, recovery of hidden deleted files, quick search for files’ meta data, and various other things.</a:t>
            </a:r>
            <a:endParaRPr lang="LID4096" dirty="0"/>
          </a:p>
        </p:txBody>
      </p:sp>
      <p:sp>
        <p:nvSpPr>
          <p:cNvPr id="4" name="Footer Placeholder 3">
            <a:extLst>
              <a:ext uri="{FF2B5EF4-FFF2-40B4-BE49-F238E27FC236}">
                <a16:creationId xmlns:a16="http://schemas.microsoft.com/office/drawing/2014/main" id="{DF195540-84B6-42E7-857E-A1155E37932F}"/>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E70208A0-1AEA-4D55-B7A7-E774108A2305}"/>
              </a:ext>
            </a:extLst>
          </p:cNvPr>
          <p:cNvSpPr>
            <a:spLocks noGrp="1"/>
          </p:cNvSpPr>
          <p:nvPr>
            <p:ph type="sldNum" sz="quarter" idx="12"/>
          </p:nvPr>
        </p:nvSpPr>
        <p:spPr/>
        <p:txBody>
          <a:bodyPr/>
          <a:lstStyle/>
          <a:p>
            <a:fld id="{E153A30B-AAA6-4D3D-89E9-8F9473C4CEC0}" type="slidenum">
              <a:rPr lang="LID4096" smtClean="0"/>
              <a:t>35</a:t>
            </a:fld>
            <a:endParaRPr lang="LID4096"/>
          </a:p>
        </p:txBody>
      </p:sp>
    </p:spTree>
    <p:extLst>
      <p:ext uri="{BB962C8B-B14F-4D97-AF65-F5344CB8AC3E}">
        <p14:creationId xmlns:p14="http://schemas.microsoft.com/office/powerpoint/2010/main" val="37467371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59E56-5427-48F3-ACDC-BB3AE7E1EF16}"/>
              </a:ext>
            </a:extLst>
          </p:cNvPr>
          <p:cNvSpPr>
            <a:spLocks noGrp="1"/>
          </p:cNvSpPr>
          <p:nvPr>
            <p:ph type="title"/>
          </p:nvPr>
        </p:nvSpPr>
        <p:spPr/>
        <p:txBody>
          <a:bodyPr/>
          <a:lstStyle/>
          <a:p>
            <a:pPr algn="ctr"/>
            <a:r>
              <a:rPr lang="en-GB" b="1" dirty="0"/>
              <a:t>Computer/Digital Forensics Tools (continues…) </a:t>
            </a:r>
            <a:endParaRPr lang="LID4096" dirty="0"/>
          </a:p>
        </p:txBody>
      </p:sp>
      <p:sp>
        <p:nvSpPr>
          <p:cNvPr id="3" name="Content Placeholder 2">
            <a:extLst>
              <a:ext uri="{FF2B5EF4-FFF2-40B4-BE49-F238E27FC236}">
                <a16:creationId xmlns:a16="http://schemas.microsoft.com/office/drawing/2014/main" id="{9B8D3A62-605B-41CB-89E4-CCC38D57B3BB}"/>
              </a:ext>
            </a:extLst>
          </p:cNvPr>
          <p:cNvSpPr>
            <a:spLocks noGrp="1"/>
          </p:cNvSpPr>
          <p:nvPr>
            <p:ph idx="1"/>
          </p:nvPr>
        </p:nvSpPr>
        <p:spPr/>
        <p:txBody>
          <a:bodyPr/>
          <a:lstStyle/>
          <a:p>
            <a:pPr marL="514350" indent="-514350">
              <a:buFont typeface="+mj-lt"/>
              <a:buAutoNum type="romanLcPeriod"/>
            </a:pPr>
            <a:r>
              <a:rPr lang="en-US" b="1" dirty="0"/>
              <a:t>Bulk Extractor (DFF)</a:t>
            </a:r>
          </a:p>
          <a:p>
            <a:r>
              <a:rPr lang="en-US" dirty="0"/>
              <a:t> Scans the disk images, file or directory of files to extract useful information.</a:t>
            </a:r>
          </a:p>
          <a:p>
            <a:pPr marL="0" indent="0">
              <a:buNone/>
            </a:pPr>
            <a:endParaRPr lang="en-US" dirty="0"/>
          </a:p>
          <a:p>
            <a:pPr marL="514350" indent="-514350">
              <a:buAutoNum type="romanLcPeriod" startAt="2"/>
            </a:pPr>
            <a:r>
              <a:rPr lang="en-US" dirty="0"/>
              <a:t> </a:t>
            </a:r>
            <a:r>
              <a:rPr lang="en-US" b="1" dirty="0"/>
              <a:t>Bulk Extractor Viewer (BEViewer) </a:t>
            </a:r>
          </a:p>
          <a:p>
            <a:r>
              <a:rPr lang="en-US" dirty="0"/>
              <a:t> Is a User Interface for browsing features that have been extracted from the Bulk Extractor forensic tool.</a:t>
            </a:r>
          </a:p>
        </p:txBody>
      </p:sp>
      <p:sp>
        <p:nvSpPr>
          <p:cNvPr id="4" name="Footer Placeholder 3">
            <a:extLst>
              <a:ext uri="{FF2B5EF4-FFF2-40B4-BE49-F238E27FC236}">
                <a16:creationId xmlns:a16="http://schemas.microsoft.com/office/drawing/2014/main" id="{32D80070-A503-4A75-A966-CA6D8D771BD7}"/>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F29F9DE3-3742-418B-9D60-02B2BFA3BFBE}"/>
              </a:ext>
            </a:extLst>
          </p:cNvPr>
          <p:cNvSpPr>
            <a:spLocks noGrp="1"/>
          </p:cNvSpPr>
          <p:nvPr>
            <p:ph type="sldNum" sz="quarter" idx="12"/>
          </p:nvPr>
        </p:nvSpPr>
        <p:spPr/>
        <p:txBody>
          <a:bodyPr/>
          <a:lstStyle/>
          <a:p>
            <a:fld id="{E153A30B-AAA6-4D3D-89E9-8F9473C4CEC0}" type="slidenum">
              <a:rPr lang="LID4096" smtClean="0"/>
              <a:t>36</a:t>
            </a:fld>
            <a:endParaRPr lang="LID4096"/>
          </a:p>
        </p:txBody>
      </p:sp>
    </p:spTree>
    <p:extLst>
      <p:ext uri="{BB962C8B-B14F-4D97-AF65-F5344CB8AC3E}">
        <p14:creationId xmlns:p14="http://schemas.microsoft.com/office/powerpoint/2010/main" val="14102612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3DF7E-2308-4A81-9667-627CDC61F404}"/>
              </a:ext>
            </a:extLst>
          </p:cNvPr>
          <p:cNvSpPr>
            <a:spLocks noGrp="1"/>
          </p:cNvSpPr>
          <p:nvPr>
            <p:ph type="title"/>
          </p:nvPr>
        </p:nvSpPr>
        <p:spPr/>
        <p:txBody>
          <a:bodyPr/>
          <a:lstStyle/>
          <a:p>
            <a:pPr algn="ctr"/>
            <a:r>
              <a:rPr lang="en-GB" b="1" dirty="0"/>
              <a:t>Computer/Digital Forensics Tools (continues…) </a:t>
            </a:r>
            <a:endParaRPr lang="LID4096" dirty="0"/>
          </a:p>
        </p:txBody>
      </p:sp>
      <p:sp>
        <p:nvSpPr>
          <p:cNvPr id="3" name="Content Placeholder 2">
            <a:extLst>
              <a:ext uri="{FF2B5EF4-FFF2-40B4-BE49-F238E27FC236}">
                <a16:creationId xmlns:a16="http://schemas.microsoft.com/office/drawing/2014/main" id="{0EEA6CCA-F1AF-4A26-97CB-1429F0F4FA1E}"/>
              </a:ext>
            </a:extLst>
          </p:cNvPr>
          <p:cNvSpPr>
            <a:spLocks noGrp="1"/>
          </p:cNvSpPr>
          <p:nvPr>
            <p:ph idx="1"/>
          </p:nvPr>
        </p:nvSpPr>
        <p:spPr/>
        <p:txBody>
          <a:bodyPr>
            <a:normAutofit fontScale="92500" lnSpcReduction="20000"/>
          </a:bodyPr>
          <a:lstStyle/>
          <a:p>
            <a:pPr marL="457200" indent="-457200">
              <a:buAutoNum type="arabicPeriod" startAt="2"/>
            </a:pPr>
            <a:r>
              <a:rPr lang="en-US" dirty="0"/>
              <a:t> </a:t>
            </a:r>
            <a:r>
              <a:rPr lang="en-US" b="1" dirty="0"/>
              <a:t>Volatility Framework </a:t>
            </a:r>
          </a:p>
          <a:p>
            <a:r>
              <a:rPr lang="en-US" dirty="0"/>
              <a:t> Is an open source memory forensics tool written in Python.</a:t>
            </a:r>
          </a:p>
          <a:p>
            <a:r>
              <a:rPr lang="en-US" dirty="0"/>
              <a:t> Is a command-line tool that is supported on Windows, MacOS and Linux.</a:t>
            </a:r>
          </a:p>
          <a:p>
            <a:pPr marL="0" indent="0">
              <a:buNone/>
            </a:pPr>
            <a:endParaRPr lang="en-US" dirty="0"/>
          </a:p>
          <a:p>
            <a:pPr marL="457200" indent="-457200">
              <a:buAutoNum type="arabicPeriod" startAt="3"/>
            </a:pPr>
            <a:r>
              <a:rPr lang="en-US" dirty="0"/>
              <a:t> </a:t>
            </a:r>
            <a:r>
              <a:rPr lang="en-US" b="1" dirty="0"/>
              <a:t>FTK Imager</a:t>
            </a:r>
          </a:p>
          <a:p>
            <a:r>
              <a:rPr lang="en-US" dirty="0"/>
              <a:t> Is a data preview and imaging tool used to acquire data (evidence) in a forensically sound manner by creating copies of data without making changes to the original evidence. </a:t>
            </a:r>
          </a:p>
        </p:txBody>
      </p:sp>
      <p:sp>
        <p:nvSpPr>
          <p:cNvPr id="4" name="Footer Placeholder 3">
            <a:extLst>
              <a:ext uri="{FF2B5EF4-FFF2-40B4-BE49-F238E27FC236}">
                <a16:creationId xmlns:a16="http://schemas.microsoft.com/office/drawing/2014/main" id="{E454BFC3-B9F3-490C-B999-BC133BF2DD27}"/>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2C041EF6-1512-471C-B10D-5AFDED0F206A}"/>
              </a:ext>
            </a:extLst>
          </p:cNvPr>
          <p:cNvSpPr>
            <a:spLocks noGrp="1"/>
          </p:cNvSpPr>
          <p:nvPr>
            <p:ph type="sldNum" sz="quarter" idx="12"/>
          </p:nvPr>
        </p:nvSpPr>
        <p:spPr/>
        <p:txBody>
          <a:bodyPr/>
          <a:lstStyle/>
          <a:p>
            <a:fld id="{E153A30B-AAA6-4D3D-89E9-8F9473C4CEC0}" type="slidenum">
              <a:rPr lang="LID4096" smtClean="0"/>
              <a:t>37</a:t>
            </a:fld>
            <a:endParaRPr lang="LID4096"/>
          </a:p>
        </p:txBody>
      </p:sp>
    </p:spTree>
    <p:extLst>
      <p:ext uri="{BB962C8B-B14F-4D97-AF65-F5344CB8AC3E}">
        <p14:creationId xmlns:p14="http://schemas.microsoft.com/office/powerpoint/2010/main" val="29590034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2577D-FAE2-446D-9E5D-88E494947DE8}"/>
              </a:ext>
            </a:extLst>
          </p:cNvPr>
          <p:cNvSpPr>
            <a:spLocks noGrp="1"/>
          </p:cNvSpPr>
          <p:nvPr>
            <p:ph type="title"/>
          </p:nvPr>
        </p:nvSpPr>
        <p:spPr/>
        <p:txBody>
          <a:bodyPr/>
          <a:lstStyle/>
          <a:p>
            <a:pPr algn="ctr"/>
            <a:r>
              <a:rPr lang="en-GB" b="1" dirty="0"/>
              <a:t>Computer/Digital Forensics Tools (continues…) </a:t>
            </a:r>
            <a:endParaRPr lang="LID4096" dirty="0"/>
          </a:p>
        </p:txBody>
      </p:sp>
      <p:sp>
        <p:nvSpPr>
          <p:cNvPr id="3" name="Content Placeholder 2">
            <a:extLst>
              <a:ext uri="{FF2B5EF4-FFF2-40B4-BE49-F238E27FC236}">
                <a16:creationId xmlns:a16="http://schemas.microsoft.com/office/drawing/2014/main" id="{A2C70686-0D38-41AB-B7BB-06F2B619219F}"/>
              </a:ext>
            </a:extLst>
          </p:cNvPr>
          <p:cNvSpPr>
            <a:spLocks noGrp="1"/>
          </p:cNvSpPr>
          <p:nvPr>
            <p:ph idx="1"/>
          </p:nvPr>
        </p:nvSpPr>
        <p:spPr/>
        <p:txBody>
          <a:bodyPr/>
          <a:lstStyle/>
          <a:p>
            <a:pPr marL="457200" indent="-457200">
              <a:buAutoNum type="arabicPeriod" startAt="4"/>
            </a:pPr>
            <a:r>
              <a:rPr lang="en-US" dirty="0"/>
              <a:t> </a:t>
            </a:r>
            <a:r>
              <a:rPr lang="en-US" b="1" dirty="0"/>
              <a:t>Autopsy</a:t>
            </a:r>
          </a:p>
          <a:p>
            <a:r>
              <a:rPr lang="en-US" dirty="0"/>
              <a:t> Is a digital forensics platform and graphical interface to The Sleuth Kit® and other digital forensics tools. </a:t>
            </a:r>
          </a:p>
          <a:p>
            <a:r>
              <a:rPr lang="en-US" dirty="0"/>
              <a:t>Is used by law enforcement, military, and corporate examiners to investigate what happened on a computer. </a:t>
            </a:r>
          </a:p>
          <a:p>
            <a:r>
              <a:rPr lang="en-US" dirty="0"/>
              <a:t>You can even use it to recover photos from your camera's memory card.</a:t>
            </a:r>
          </a:p>
        </p:txBody>
      </p:sp>
      <p:sp>
        <p:nvSpPr>
          <p:cNvPr id="4" name="Footer Placeholder 3">
            <a:extLst>
              <a:ext uri="{FF2B5EF4-FFF2-40B4-BE49-F238E27FC236}">
                <a16:creationId xmlns:a16="http://schemas.microsoft.com/office/drawing/2014/main" id="{01E27A87-24A5-4BD8-8A09-BE2F44922675}"/>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5052A094-A5E4-4FC2-96BE-752CB0AD089B}"/>
              </a:ext>
            </a:extLst>
          </p:cNvPr>
          <p:cNvSpPr>
            <a:spLocks noGrp="1"/>
          </p:cNvSpPr>
          <p:nvPr>
            <p:ph type="sldNum" sz="quarter" idx="12"/>
          </p:nvPr>
        </p:nvSpPr>
        <p:spPr/>
        <p:txBody>
          <a:bodyPr/>
          <a:lstStyle/>
          <a:p>
            <a:fld id="{E153A30B-AAA6-4D3D-89E9-8F9473C4CEC0}" type="slidenum">
              <a:rPr lang="LID4096" smtClean="0"/>
              <a:t>38</a:t>
            </a:fld>
            <a:endParaRPr lang="LID4096"/>
          </a:p>
        </p:txBody>
      </p:sp>
    </p:spTree>
    <p:extLst>
      <p:ext uri="{BB962C8B-B14F-4D97-AF65-F5344CB8AC3E}">
        <p14:creationId xmlns:p14="http://schemas.microsoft.com/office/powerpoint/2010/main" val="4913815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3352A-28C0-41FB-A6E5-DD24BF91BD9B}"/>
              </a:ext>
            </a:extLst>
          </p:cNvPr>
          <p:cNvSpPr>
            <a:spLocks noGrp="1"/>
          </p:cNvSpPr>
          <p:nvPr>
            <p:ph type="title"/>
          </p:nvPr>
        </p:nvSpPr>
        <p:spPr/>
        <p:txBody>
          <a:bodyPr/>
          <a:lstStyle/>
          <a:p>
            <a:pPr algn="ctr"/>
            <a:r>
              <a:rPr lang="en-GB" b="1" dirty="0"/>
              <a:t>Computer/Digital Forensics Tools (continues…) </a:t>
            </a:r>
            <a:endParaRPr lang="LID4096" dirty="0"/>
          </a:p>
        </p:txBody>
      </p:sp>
      <p:sp>
        <p:nvSpPr>
          <p:cNvPr id="3" name="Content Placeholder 2">
            <a:extLst>
              <a:ext uri="{FF2B5EF4-FFF2-40B4-BE49-F238E27FC236}">
                <a16:creationId xmlns:a16="http://schemas.microsoft.com/office/drawing/2014/main" id="{BC1B2A1A-EB3E-4030-92DB-037D3B2742F3}"/>
              </a:ext>
            </a:extLst>
          </p:cNvPr>
          <p:cNvSpPr>
            <a:spLocks noGrp="1"/>
          </p:cNvSpPr>
          <p:nvPr>
            <p:ph idx="1"/>
          </p:nvPr>
        </p:nvSpPr>
        <p:spPr/>
        <p:txBody>
          <a:bodyPr/>
          <a:lstStyle/>
          <a:p>
            <a:pPr marL="457200" indent="-457200">
              <a:buAutoNum type="arabicPeriod" startAt="5"/>
            </a:pPr>
            <a:r>
              <a:rPr lang="en-US" dirty="0"/>
              <a:t> </a:t>
            </a:r>
            <a:r>
              <a:rPr lang="en-US" b="1" dirty="0"/>
              <a:t>Encase</a:t>
            </a:r>
          </a:p>
          <a:p>
            <a:r>
              <a:rPr lang="en-US" dirty="0"/>
              <a:t> Is a digital forensic and investigation software that helps investigators collect, preserve, and analyze electronic evidence.</a:t>
            </a:r>
          </a:p>
          <a:p>
            <a:r>
              <a:rPr lang="en-US" dirty="0"/>
              <a:t> Was developed by Guidance Software and OpenText in 1998.</a:t>
            </a:r>
          </a:p>
        </p:txBody>
      </p:sp>
      <p:sp>
        <p:nvSpPr>
          <p:cNvPr id="4" name="Footer Placeholder 3">
            <a:extLst>
              <a:ext uri="{FF2B5EF4-FFF2-40B4-BE49-F238E27FC236}">
                <a16:creationId xmlns:a16="http://schemas.microsoft.com/office/drawing/2014/main" id="{D4E7A80F-0AE8-40BC-A192-CA377AEC184C}"/>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10FC1A8C-7BB2-4148-BF26-0913FBF997D9}"/>
              </a:ext>
            </a:extLst>
          </p:cNvPr>
          <p:cNvSpPr>
            <a:spLocks noGrp="1"/>
          </p:cNvSpPr>
          <p:nvPr>
            <p:ph type="sldNum" sz="quarter" idx="12"/>
          </p:nvPr>
        </p:nvSpPr>
        <p:spPr/>
        <p:txBody>
          <a:bodyPr/>
          <a:lstStyle/>
          <a:p>
            <a:fld id="{E153A30B-AAA6-4D3D-89E9-8F9473C4CEC0}" type="slidenum">
              <a:rPr lang="LID4096" smtClean="0"/>
              <a:t>39</a:t>
            </a:fld>
            <a:endParaRPr lang="LID4096"/>
          </a:p>
        </p:txBody>
      </p:sp>
    </p:spTree>
    <p:extLst>
      <p:ext uri="{BB962C8B-B14F-4D97-AF65-F5344CB8AC3E}">
        <p14:creationId xmlns:p14="http://schemas.microsoft.com/office/powerpoint/2010/main" val="29263110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A2D12-FCF8-4140-BA97-2227EC044BF3}"/>
              </a:ext>
            </a:extLst>
          </p:cNvPr>
          <p:cNvSpPr>
            <a:spLocks noGrp="1"/>
          </p:cNvSpPr>
          <p:nvPr>
            <p:ph type="title"/>
          </p:nvPr>
        </p:nvSpPr>
        <p:spPr/>
        <p:txBody>
          <a:bodyPr/>
          <a:lstStyle/>
          <a:p>
            <a:pPr algn="ctr"/>
            <a:r>
              <a:rPr lang="en-US" b="1" dirty="0"/>
              <a:t>Footprints </a:t>
            </a:r>
            <a:endParaRPr lang="LID4096" b="1" dirty="0"/>
          </a:p>
        </p:txBody>
      </p:sp>
      <p:sp>
        <p:nvSpPr>
          <p:cNvPr id="3" name="Content Placeholder 2">
            <a:extLst>
              <a:ext uri="{FF2B5EF4-FFF2-40B4-BE49-F238E27FC236}">
                <a16:creationId xmlns:a16="http://schemas.microsoft.com/office/drawing/2014/main" id="{7D989589-FE54-4BD5-B991-E2A4CB217FA0}"/>
              </a:ext>
            </a:extLst>
          </p:cNvPr>
          <p:cNvSpPr>
            <a:spLocks noGrp="1"/>
          </p:cNvSpPr>
          <p:nvPr>
            <p:ph idx="1"/>
          </p:nvPr>
        </p:nvSpPr>
        <p:spPr/>
        <p:txBody>
          <a:bodyPr>
            <a:normAutofit fontScale="92500" lnSpcReduction="20000"/>
          </a:bodyPr>
          <a:lstStyle/>
          <a:p>
            <a:r>
              <a:rPr lang="en-US" dirty="0"/>
              <a:t> A </a:t>
            </a:r>
            <a:r>
              <a:rPr lang="en-US" b="1" dirty="0"/>
              <a:t>digital footprint </a:t>
            </a:r>
            <a:r>
              <a:rPr lang="en-US" dirty="0"/>
              <a:t>is any information about a particular person that exists on the internet as a result of their online activity.</a:t>
            </a:r>
          </a:p>
          <a:p>
            <a:pPr marL="457200" indent="-457200">
              <a:buFont typeface="+mj-lt"/>
              <a:buAutoNum type="arabicPeriod"/>
            </a:pPr>
            <a:r>
              <a:rPr lang="en-US" dirty="0"/>
              <a:t> </a:t>
            </a:r>
            <a:r>
              <a:rPr lang="en-US" b="1" dirty="0"/>
              <a:t>Active Digital Footprint </a:t>
            </a:r>
            <a:r>
              <a:rPr lang="en-US" dirty="0"/>
              <a:t>– Is data that you intentionally share online.</a:t>
            </a:r>
          </a:p>
          <a:p>
            <a:pPr marL="514350" indent="-514350">
              <a:buFont typeface="+mj-lt"/>
              <a:buAutoNum type="romanLcPeriod"/>
            </a:pPr>
            <a:r>
              <a:rPr lang="en-US" dirty="0"/>
              <a:t> Posting on social media</a:t>
            </a:r>
          </a:p>
          <a:p>
            <a:pPr marL="514350" indent="-514350">
              <a:buFont typeface="+mj-lt"/>
              <a:buAutoNum type="romanLcPeriod"/>
            </a:pPr>
            <a:r>
              <a:rPr lang="en-US" dirty="0"/>
              <a:t> Completing online forms, such as for account registration or subscribing to a newsletter</a:t>
            </a:r>
          </a:p>
          <a:p>
            <a:pPr marL="514350" indent="-514350">
              <a:buFont typeface="+mj-lt"/>
              <a:buAutoNum type="romanLcPeriod"/>
            </a:pPr>
            <a:r>
              <a:rPr lang="en-US" dirty="0"/>
              <a:t> Writing reviews or leaving feedback for services</a:t>
            </a:r>
          </a:p>
          <a:p>
            <a:pPr marL="514350" indent="-514350">
              <a:buFont typeface="+mj-lt"/>
              <a:buAutoNum type="romanLcPeriod"/>
            </a:pPr>
            <a:r>
              <a:rPr lang="en-US" dirty="0"/>
              <a:t> Sending emails</a:t>
            </a:r>
          </a:p>
        </p:txBody>
      </p:sp>
      <p:sp>
        <p:nvSpPr>
          <p:cNvPr id="4" name="Footer Placeholder 3">
            <a:extLst>
              <a:ext uri="{FF2B5EF4-FFF2-40B4-BE49-F238E27FC236}">
                <a16:creationId xmlns:a16="http://schemas.microsoft.com/office/drawing/2014/main" id="{F6CCACCA-1197-4719-A628-A7B1D34BAC6D}"/>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4F089F4A-D45C-4A09-9226-B89FBA018EE5}"/>
              </a:ext>
            </a:extLst>
          </p:cNvPr>
          <p:cNvSpPr>
            <a:spLocks noGrp="1"/>
          </p:cNvSpPr>
          <p:nvPr>
            <p:ph type="sldNum" sz="quarter" idx="12"/>
          </p:nvPr>
        </p:nvSpPr>
        <p:spPr/>
        <p:txBody>
          <a:bodyPr/>
          <a:lstStyle/>
          <a:p>
            <a:fld id="{E153A30B-AAA6-4D3D-89E9-8F9473C4CEC0}" type="slidenum">
              <a:rPr lang="LID4096" smtClean="0"/>
              <a:t>40</a:t>
            </a:fld>
            <a:endParaRPr lang="LID4096"/>
          </a:p>
        </p:txBody>
      </p:sp>
    </p:spTree>
    <p:extLst>
      <p:ext uri="{BB962C8B-B14F-4D97-AF65-F5344CB8AC3E}">
        <p14:creationId xmlns:p14="http://schemas.microsoft.com/office/powerpoint/2010/main" val="24133145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26A96-6FA9-4959-907C-FABD40C84D67}"/>
              </a:ext>
            </a:extLst>
          </p:cNvPr>
          <p:cNvSpPr>
            <a:spLocks noGrp="1"/>
          </p:cNvSpPr>
          <p:nvPr>
            <p:ph type="title"/>
          </p:nvPr>
        </p:nvSpPr>
        <p:spPr/>
        <p:txBody>
          <a:bodyPr/>
          <a:lstStyle/>
          <a:p>
            <a:pPr algn="ctr"/>
            <a:r>
              <a:rPr lang="en-US" b="1" dirty="0"/>
              <a:t>Footprints  (Continues…)</a:t>
            </a:r>
            <a:endParaRPr lang="LID4096" dirty="0"/>
          </a:p>
        </p:txBody>
      </p:sp>
      <p:sp>
        <p:nvSpPr>
          <p:cNvPr id="3" name="Content Placeholder 2">
            <a:extLst>
              <a:ext uri="{FF2B5EF4-FFF2-40B4-BE49-F238E27FC236}">
                <a16:creationId xmlns:a16="http://schemas.microsoft.com/office/drawing/2014/main" id="{EB2BBB07-3B34-4C1D-A223-B601E5DEC070}"/>
              </a:ext>
            </a:extLst>
          </p:cNvPr>
          <p:cNvSpPr>
            <a:spLocks noGrp="1"/>
          </p:cNvSpPr>
          <p:nvPr>
            <p:ph idx="1"/>
          </p:nvPr>
        </p:nvSpPr>
        <p:spPr/>
        <p:txBody>
          <a:bodyPr>
            <a:normAutofit lnSpcReduction="10000"/>
          </a:bodyPr>
          <a:lstStyle/>
          <a:p>
            <a:pPr marL="457200" indent="-457200">
              <a:buAutoNum type="arabicPeriod" startAt="2"/>
            </a:pPr>
            <a:r>
              <a:rPr lang="en-US" dirty="0"/>
              <a:t> </a:t>
            </a:r>
            <a:r>
              <a:rPr lang="en-US" b="1" dirty="0"/>
              <a:t>Passive Digital Footprint </a:t>
            </a:r>
          </a:p>
          <a:p>
            <a:r>
              <a:rPr lang="en-US" dirty="0"/>
              <a:t> Refers to the trail of data a person leaves behind online without intentionally sharing it.</a:t>
            </a:r>
          </a:p>
          <a:p>
            <a:pPr marL="514350" indent="-514350">
              <a:buFont typeface="+mj-lt"/>
              <a:buAutoNum type="romanLcPeriod"/>
            </a:pPr>
            <a:r>
              <a:rPr lang="en-US" dirty="0"/>
              <a:t> IP address</a:t>
            </a:r>
          </a:p>
          <a:p>
            <a:pPr marL="514350" indent="-514350">
              <a:buFont typeface="+mj-lt"/>
              <a:buAutoNum type="romanLcPeriod"/>
            </a:pPr>
            <a:r>
              <a:rPr lang="en-US" dirty="0"/>
              <a:t> Browsing history</a:t>
            </a:r>
          </a:p>
          <a:p>
            <a:pPr marL="514350" indent="-514350">
              <a:buFont typeface="+mj-lt"/>
              <a:buAutoNum type="romanLcPeriod"/>
            </a:pPr>
            <a:r>
              <a:rPr lang="en-US" dirty="0"/>
              <a:t> location data collected by websites</a:t>
            </a:r>
          </a:p>
          <a:p>
            <a:pPr marL="514350" indent="-514350">
              <a:buFont typeface="+mj-lt"/>
              <a:buAutoNum type="romanLcPeriod"/>
            </a:pPr>
            <a:r>
              <a:rPr lang="en-US" dirty="0"/>
              <a:t> Information gathered through cookies</a:t>
            </a:r>
          </a:p>
        </p:txBody>
      </p:sp>
      <p:sp>
        <p:nvSpPr>
          <p:cNvPr id="4" name="Footer Placeholder 3">
            <a:extLst>
              <a:ext uri="{FF2B5EF4-FFF2-40B4-BE49-F238E27FC236}">
                <a16:creationId xmlns:a16="http://schemas.microsoft.com/office/drawing/2014/main" id="{F8A55190-EC9B-4012-9D75-BF78E112FD49}"/>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2504EB46-E891-483E-B877-CC6358E88CDF}"/>
              </a:ext>
            </a:extLst>
          </p:cNvPr>
          <p:cNvSpPr>
            <a:spLocks noGrp="1"/>
          </p:cNvSpPr>
          <p:nvPr>
            <p:ph type="sldNum" sz="quarter" idx="12"/>
          </p:nvPr>
        </p:nvSpPr>
        <p:spPr/>
        <p:txBody>
          <a:bodyPr/>
          <a:lstStyle/>
          <a:p>
            <a:fld id="{E153A30B-AAA6-4D3D-89E9-8F9473C4CEC0}" type="slidenum">
              <a:rPr lang="LID4096" smtClean="0"/>
              <a:t>41</a:t>
            </a:fld>
            <a:endParaRPr lang="LID4096"/>
          </a:p>
        </p:txBody>
      </p:sp>
    </p:spTree>
    <p:extLst>
      <p:ext uri="{BB962C8B-B14F-4D97-AF65-F5344CB8AC3E}">
        <p14:creationId xmlns:p14="http://schemas.microsoft.com/office/powerpoint/2010/main" val="18761381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7D0A4-224D-4C7E-8FA6-75B9B5F0035E}"/>
              </a:ext>
            </a:extLst>
          </p:cNvPr>
          <p:cNvSpPr>
            <a:spLocks noGrp="1"/>
          </p:cNvSpPr>
          <p:nvPr>
            <p:ph type="title"/>
          </p:nvPr>
        </p:nvSpPr>
        <p:spPr/>
        <p:txBody>
          <a:bodyPr/>
          <a:lstStyle/>
          <a:p>
            <a:pPr algn="ctr"/>
            <a:r>
              <a:rPr lang="en-US" altLang="en-US" sz="3600" b="1" dirty="0"/>
              <a:t>Questions</a:t>
            </a:r>
            <a:endParaRPr lang="LID4096" dirty="0"/>
          </a:p>
        </p:txBody>
      </p:sp>
      <p:sp>
        <p:nvSpPr>
          <p:cNvPr id="3" name="Content Placeholder 2">
            <a:extLst>
              <a:ext uri="{FF2B5EF4-FFF2-40B4-BE49-F238E27FC236}">
                <a16:creationId xmlns:a16="http://schemas.microsoft.com/office/drawing/2014/main" id="{91078A30-34F6-4CF4-B13E-8A9F8784D209}"/>
              </a:ext>
            </a:extLst>
          </p:cNvPr>
          <p:cNvSpPr>
            <a:spLocks noGrp="1"/>
          </p:cNvSpPr>
          <p:nvPr>
            <p:ph idx="1"/>
          </p:nvPr>
        </p:nvSpPr>
        <p:spPr/>
        <p:txBody>
          <a:bodyPr>
            <a:normAutofit fontScale="92500" lnSpcReduction="20000"/>
          </a:bodyPr>
          <a:lstStyle/>
          <a:p>
            <a:pPr marL="457200" indent="-457200">
              <a:buFont typeface="+mj-lt"/>
              <a:buAutoNum type="arabicPeriod"/>
            </a:pPr>
            <a:r>
              <a:rPr lang="en-US" dirty="0"/>
              <a:t> Define Digital Forensics? What is difference in role of a CFI and FI?</a:t>
            </a:r>
          </a:p>
          <a:p>
            <a:pPr marL="457200" indent="-457200">
              <a:buFont typeface="+mj-lt"/>
              <a:buAutoNum type="arabicPeriod"/>
            </a:pPr>
            <a:r>
              <a:rPr lang="en-US" dirty="0"/>
              <a:t>Explain uses of Digital Forensics </a:t>
            </a:r>
          </a:p>
          <a:p>
            <a:pPr marL="457200" indent="-457200">
              <a:buFont typeface="+mj-lt"/>
              <a:buAutoNum type="arabicPeriod"/>
            </a:pPr>
            <a:r>
              <a:rPr lang="en-US" dirty="0"/>
              <a:t>What is Locard's Exchange Principle </a:t>
            </a:r>
          </a:p>
          <a:p>
            <a:pPr marL="457200" indent="-457200">
              <a:buFont typeface="+mj-lt"/>
              <a:buAutoNum type="arabicPeriod"/>
            </a:pPr>
            <a:r>
              <a:rPr lang="en-US" dirty="0"/>
              <a:t>What is the role of Organization in CFI?</a:t>
            </a:r>
          </a:p>
          <a:p>
            <a:pPr marL="457200" indent="-457200">
              <a:buFont typeface="+mj-lt"/>
              <a:buAutoNum type="arabicPeriod"/>
            </a:pPr>
            <a:r>
              <a:rPr lang="en-US" dirty="0"/>
              <a:t>List major organization governing standards of Digital forensics.  </a:t>
            </a:r>
          </a:p>
          <a:p>
            <a:pPr marL="457200" indent="-457200">
              <a:buFont typeface="+mj-lt"/>
              <a:buAutoNum type="arabicPeriod"/>
            </a:pPr>
            <a:r>
              <a:rPr lang="en-US" dirty="0"/>
              <a:t>What will happen if the organizations like NIST, SWGDE, AAFS and ASTM does not exist?</a:t>
            </a:r>
          </a:p>
          <a:p>
            <a:pPr marL="457200" indent="-457200">
              <a:buFont typeface="+mj-lt"/>
              <a:buAutoNum type="arabicPeriod"/>
            </a:pPr>
            <a:r>
              <a:rPr lang="en-US" dirty="0"/>
              <a:t>What is Role of the Digital Forensic Examiner in the Judicial System?</a:t>
            </a:r>
          </a:p>
        </p:txBody>
      </p:sp>
      <p:sp>
        <p:nvSpPr>
          <p:cNvPr id="4" name="Footer Placeholder 3">
            <a:extLst>
              <a:ext uri="{FF2B5EF4-FFF2-40B4-BE49-F238E27FC236}">
                <a16:creationId xmlns:a16="http://schemas.microsoft.com/office/drawing/2014/main" id="{BF16AA29-190F-4665-A43E-6E3933A2132D}"/>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7DE96780-7356-4FAB-8126-C812E7A3427A}"/>
              </a:ext>
            </a:extLst>
          </p:cNvPr>
          <p:cNvSpPr>
            <a:spLocks noGrp="1"/>
          </p:cNvSpPr>
          <p:nvPr>
            <p:ph type="sldNum" sz="quarter" idx="12"/>
          </p:nvPr>
        </p:nvSpPr>
        <p:spPr/>
        <p:txBody>
          <a:bodyPr/>
          <a:lstStyle/>
          <a:p>
            <a:fld id="{E153A30B-AAA6-4D3D-89E9-8F9473C4CEC0}" type="slidenum">
              <a:rPr lang="LID4096" smtClean="0"/>
              <a:t>42</a:t>
            </a:fld>
            <a:endParaRPr lang="LID4096"/>
          </a:p>
        </p:txBody>
      </p:sp>
    </p:spTree>
    <p:extLst>
      <p:ext uri="{BB962C8B-B14F-4D97-AF65-F5344CB8AC3E}">
        <p14:creationId xmlns:p14="http://schemas.microsoft.com/office/powerpoint/2010/main" val="34099135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8CE96-5459-4475-BD02-E60B2BF25107}"/>
              </a:ext>
            </a:extLst>
          </p:cNvPr>
          <p:cNvSpPr>
            <a:spLocks noGrp="1"/>
          </p:cNvSpPr>
          <p:nvPr>
            <p:ph type="title"/>
          </p:nvPr>
        </p:nvSpPr>
        <p:spPr/>
        <p:txBody>
          <a:bodyPr/>
          <a:lstStyle/>
          <a:p>
            <a:pPr algn="ctr"/>
            <a:r>
              <a:rPr lang="en-US" b="1" dirty="0"/>
              <a:t>ANSWERS </a:t>
            </a:r>
            <a:endParaRPr lang="LID4096" b="1" dirty="0"/>
          </a:p>
        </p:txBody>
      </p:sp>
      <p:sp>
        <p:nvSpPr>
          <p:cNvPr id="3" name="Content Placeholder 2">
            <a:extLst>
              <a:ext uri="{FF2B5EF4-FFF2-40B4-BE49-F238E27FC236}">
                <a16:creationId xmlns:a16="http://schemas.microsoft.com/office/drawing/2014/main" id="{A3FEB47F-83A0-47DE-A815-F5698A3EFD41}"/>
              </a:ext>
            </a:extLst>
          </p:cNvPr>
          <p:cNvSpPr>
            <a:spLocks noGrp="1"/>
          </p:cNvSpPr>
          <p:nvPr>
            <p:ph idx="1"/>
          </p:nvPr>
        </p:nvSpPr>
        <p:spPr/>
        <p:txBody>
          <a:bodyPr/>
          <a:lstStyle/>
          <a:p>
            <a:pPr marL="0" indent="0">
              <a:buNone/>
            </a:pPr>
            <a:r>
              <a:rPr lang="en-US" sz="3200" b="1" dirty="0"/>
              <a:t>Q1.1</a:t>
            </a:r>
          </a:p>
          <a:p>
            <a:pPr>
              <a:buFont typeface="Wingdings" panose="05000000000000000000" pitchFamily="2" charset="2"/>
              <a:buChar char="q"/>
            </a:pPr>
            <a:r>
              <a:rPr lang="en-US" dirty="0"/>
              <a:t> </a:t>
            </a:r>
            <a:r>
              <a:rPr lang="en-US" b="1" dirty="0"/>
              <a:t>CFI (Certified Forensic Investigator) </a:t>
            </a:r>
            <a:r>
              <a:rPr lang="en-US" dirty="0"/>
              <a:t>–  is a forensic investigator who has earned a recognized certification, demonstrating advanced expertise in forensic practices, particularly in areas like fraud and financial crimes.</a:t>
            </a:r>
          </a:p>
          <a:p>
            <a:pPr>
              <a:buFont typeface="Wingdings" panose="05000000000000000000" pitchFamily="2" charset="2"/>
              <a:buChar char="q"/>
            </a:pPr>
            <a:r>
              <a:rPr lang="en-US" dirty="0"/>
              <a:t> </a:t>
            </a:r>
            <a:r>
              <a:rPr lang="en-US" b="1" dirty="0"/>
              <a:t>FI (Forensic Investigator)</a:t>
            </a:r>
            <a:r>
              <a:rPr lang="en-US" dirty="0"/>
              <a:t> – is a general term for any investigator working in the forensic field, but they may not have formal certification or the same specialized knowledge as a CFI.</a:t>
            </a:r>
            <a:endParaRPr lang="LID4096" dirty="0"/>
          </a:p>
        </p:txBody>
      </p:sp>
      <p:sp>
        <p:nvSpPr>
          <p:cNvPr id="4" name="Footer Placeholder 3">
            <a:extLst>
              <a:ext uri="{FF2B5EF4-FFF2-40B4-BE49-F238E27FC236}">
                <a16:creationId xmlns:a16="http://schemas.microsoft.com/office/drawing/2014/main" id="{16867461-6341-48C8-8F47-322AA7495E20}"/>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4D133424-842F-4ABC-9BD5-D3CAB5BE5488}"/>
              </a:ext>
            </a:extLst>
          </p:cNvPr>
          <p:cNvSpPr>
            <a:spLocks noGrp="1"/>
          </p:cNvSpPr>
          <p:nvPr>
            <p:ph type="sldNum" sz="quarter" idx="12"/>
          </p:nvPr>
        </p:nvSpPr>
        <p:spPr/>
        <p:txBody>
          <a:bodyPr/>
          <a:lstStyle/>
          <a:p>
            <a:fld id="{E153A30B-AAA6-4D3D-89E9-8F9473C4CEC0}" type="slidenum">
              <a:rPr lang="LID4096" smtClean="0"/>
              <a:t>43</a:t>
            </a:fld>
            <a:endParaRPr lang="LID4096"/>
          </a:p>
        </p:txBody>
      </p:sp>
    </p:spTree>
    <p:extLst>
      <p:ext uri="{BB962C8B-B14F-4D97-AF65-F5344CB8AC3E}">
        <p14:creationId xmlns:p14="http://schemas.microsoft.com/office/powerpoint/2010/main" val="40216380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1D6B9-440C-4969-95D0-6E1E8DA193DD}"/>
              </a:ext>
            </a:extLst>
          </p:cNvPr>
          <p:cNvSpPr>
            <a:spLocks noGrp="1"/>
          </p:cNvSpPr>
          <p:nvPr>
            <p:ph type="title"/>
          </p:nvPr>
        </p:nvSpPr>
        <p:spPr/>
        <p:txBody>
          <a:bodyPr/>
          <a:lstStyle/>
          <a:p>
            <a:pPr algn="ctr"/>
            <a:r>
              <a:rPr lang="en-US" b="1" dirty="0"/>
              <a:t>ANSWERS (continues…) </a:t>
            </a:r>
            <a:endParaRPr lang="LID4096" dirty="0"/>
          </a:p>
        </p:txBody>
      </p:sp>
      <p:sp>
        <p:nvSpPr>
          <p:cNvPr id="3" name="Content Placeholder 2">
            <a:extLst>
              <a:ext uri="{FF2B5EF4-FFF2-40B4-BE49-F238E27FC236}">
                <a16:creationId xmlns:a16="http://schemas.microsoft.com/office/drawing/2014/main" id="{9ED97168-615C-46BA-B76F-A16404CB68AD}"/>
              </a:ext>
            </a:extLst>
          </p:cNvPr>
          <p:cNvSpPr>
            <a:spLocks noGrp="1"/>
          </p:cNvSpPr>
          <p:nvPr>
            <p:ph idx="1"/>
          </p:nvPr>
        </p:nvSpPr>
        <p:spPr/>
        <p:txBody>
          <a:bodyPr/>
          <a:lstStyle/>
          <a:p>
            <a:pPr marL="0" indent="0">
              <a:buNone/>
            </a:pPr>
            <a:r>
              <a:rPr lang="en-US" sz="3200" b="1" dirty="0"/>
              <a:t>Q4</a:t>
            </a:r>
          </a:p>
          <a:p>
            <a:pPr>
              <a:buFont typeface="Wingdings" panose="05000000000000000000" pitchFamily="2" charset="2"/>
              <a:buChar char="q"/>
            </a:pPr>
            <a:r>
              <a:rPr lang="en-US" dirty="0"/>
              <a:t> The role of an Organization in CFI is to </a:t>
            </a:r>
            <a:r>
              <a:rPr lang="en-US" b="1" dirty="0"/>
              <a:t>provide certification</a:t>
            </a:r>
            <a:r>
              <a:rPr lang="en-US" dirty="0"/>
              <a:t>, </a:t>
            </a:r>
            <a:r>
              <a:rPr lang="en-US" b="1" dirty="0"/>
              <a:t>set professional standards</a:t>
            </a:r>
            <a:r>
              <a:rPr lang="en-US" dirty="0"/>
              <a:t>, and </a:t>
            </a:r>
            <a:r>
              <a:rPr lang="en-US" b="1" dirty="0"/>
              <a:t>offer ongoing training and resources to support forensic investigators</a:t>
            </a:r>
            <a:r>
              <a:rPr lang="en-US" dirty="0"/>
              <a:t> in maintaining their expertise and ethical practices.</a:t>
            </a:r>
            <a:endParaRPr lang="LID4096" dirty="0"/>
          </a:p>
        </p:txBody>
      </p:sp>
      <p:sp>
        <p:nvSpPr>
          <p:cNvPr id="4" name="Footer Placeholder 3">
            <a:extLst>
              <a:ext uri="{FF2B5EF4-FFF2-40B4-BE49-F238E27FC236}">
                <a16:creationId xmlns:a16="http://schemas.microsoft.com/office/drawing/2014/main" id="{DBCAFC47-96A1-437E-9668-07E426161535}"/>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60094294-72DD-4DFD-A35F-EE7DC936064F}"/>
              </a:ext>
            </a:extLst>
          </p:cNvPr>
          <p:cNvSpPr>
            <a:spLocks noGrp="1"/>
          </p:cNvSpPr>
          <p:nvPr>
            <p:ph type="sldNum" sz="quarter" idx="12"/>
          </p:nvPr>
        </p:nvSpPr>
        <p:spPr/>
        <p:txBody>
          <a:bodyPr/>
          <a:lstStyle/>
          <a:p>
            <a:fld id="{E153A30B-AAA6-4D3D-89E9-8F9473C4CEC0}" type="slidenum">
              <a:rPr lang="LID4096" smtClean="0"/>
              <a:t>44</a:t>
            </a:fld>
            <a:endParaRPr lang="LID4096"/>
          </a:p>
        </p:txBody>
      </p:sp>
    </p:spTree>
    <p:extLst>
      <p:ext uri="{BB962C8B-B14F-4D97-AF65-F5344CB8AC3E}">
        <p14:creationId xmlns:p14="http://schemas.microsoft.com/office/powerpoint/2010/main" val="37396789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FEF99-0944-415C-BD18-60850D41CBC1}"/>
              </a:ext>
            </a:extLst>
          </p:cNvPr>
          <p:cNvSpPr>
            <a:spLocks noGrp="1"/>
          </p:cNvSpPr>
          <p:nvPr>
            <p:ph type="title"/>
          </p:nvPr>
        </p:nvSpPr>
        <p:spPr/>
        <p:txBody>
          <a:bodyPr/>
          <a:lstStyle/>
          <a:p>
            <a:pPr algn="ctr"/>
            <a:r>
              <a:rPr lang="en-US" b="1" dirty="0"/>
              <a:t>ANSWERS (continues…) </a:t>
            </a:r>
            <a:endParaRPr lang="LID4096" dirty="0"/>
          </a:p>
        </p:txBody>
      </p:sp>
      <p:sp>
        <p:nvSpPr>
          <p:cNvPr id="3" name="Content Placeholder 2">
            <a:extLst>
              <a:ext uri="{FF2B5EF4-FFF2-40B4-BE49-F238E27FC236}">
                <a16:creationId xmlns:a16="http://schemas.microsoft.com/office/drawing/2014/main" id="{F58C5AAB-9927-4C30-B45B-0629844FDD29}"/>
              </a:ext>
            </a:extLst>
          </p:cNvPr>
          <p:cNvSpPr>
            <a:spLocks noGrp="1"/>
          </p:cNvSpPr>
          <p:nvPr>
            <p:ph idx="1"/>
          </p:nvPr>
        </p:nvSpPr>
        <p:spPr/>
        <p:txBody>
          <a:bodyPr/>
          <a:lstStyle/>
          <a:p>
            <a:pPr marL="0" indent="0">
              <a:buNone/>
            </a:pPr>
            <a:r>
              <a:rPr lang="en-US" sz="3200" b="1" dirty="0"/>
              <a:t>Q6</a:t>
            </a:r>
          </a:p>
          <a:p>
            <a:pPr>
              <a:buFont typeface="Wingdings" panose="05000000000000000000" pitchFamily="2" charset="2"/>
              <a:buChar char="q"/>
            </a:pPr>
            <a:r>
              <a:rPr lang="en-US" dirty="0"/>
              <a:t> Lack of Standardization</a:t>
            </a:r>
          </a:p>
          <a:p>
            <a:pPr>
              <a:buFont typeface="Wingdings" panose="05000000000000000000" pitchFamily="2" charset="2"/>
              <a:buChar char="q"/>
            </a:pPr>
            <a:r>
              <a:rPr lang="en-US" dirty="0"/>
              <a:t> Inconsistent Quality and Accuracy</a:t>
            </a:r>
          </a:p>
          <a:p>
            <a:pPr>
              <a:buFont typeface="Wingdings" panose="05000000000000000000" pitchFamily="2" charset="2"/>
              <a:buChar char="q"/>
            </a:pPr>
            <a:r>
              <a:rPr lang="en-US" dirty="0"/>
              <a:t> Limited Professional Development</a:t>
            </a:r>
          </a:p>
          <a:p>
            <a:pPr>
              <a:buFont typeface="Wingdings" panose="05000000000000000000" pitchFamily="2" charset="2"/>
              <a:buChar char="q"/>
            </a:pPr>
            <a:r>
              <a:rPr lang="en-US" dirty="0"/>
              <a:t> Weak Legal Framework</a:t>
            </a:r>
            <a:endParaRPr lang="LID4096" dirty="0"/>
          </a:p>
        </p:txBody>
      </p:sp>
      <p:sp>
        <p:nvSpPr>
          <p:cNvPr id="4" name="Footer Placeholder 3">
            <a:extLst>
              <a:ext uri="{FF2B5EF4-FFF2-40B4-BE49-F238E27FC236}">
                <a16:creationId xmlns:a16="http://schemas.microsoft.com/office/drawing/2014/main" id="{CC3DBC75-06D5-4D11-87A8-6A3FA0314C86}"/>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5968F031-892D-4C47-8751-A0CC50950E1C}"/>
              </a:ext>
            </a:extLst>
          </p:cNvPr>
          <p:cNvSpPr>
            <a:spLocks noGrp="1"/>
          </p:cNvSpPr>
          <p:nvPr>
            <p:ph type="sldNum" sz="quarter" idx="12"/>
          </p:nvPr>
        </p:nvSpPr>
        <p:spPr/>
        <p:txBody>
          <a:bodyPr/>
          <a:lstStyle/>
          <a:p>
            <a:fld id="{E153A30B-AAA6-4D3D-89E9-8F9473C4CEC0}" type="slidenum">
              <a:rPr lang="LID4096" smtClean="0"/>
              <a:t>45</a:t>
            </a:fld>
            <a:endParaRPr lang="LID4096"/>
          </a:p>
        </p:txBody>
      </p:sp>
    </p:spTree>
    <p:extLst>
      <p:ext uri="{BB962C8B-B14F-4D97-AF65-F5344CB8AC3E}">
        <p14:creationId xmlns:p14="http://schemas.microsoft.com/office/powerpoint/2010/main" val="35360201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8C91C-190A-4D58-A677-CFD764D51BB8}"/>
              </a:ext>
            </a:extLst>
          </p:cNvPr>
          <p:cNvSpPr>
            <a:spLocks noGrp="1"/>
          </p:cNvSpPr>
          <p:nvPr>
            <p:ph type="title"/>
          </p:nvPr>
        </p:nvSpPr>
        <p:spPr/>
        <p:txBody>
          <a:bodyPr/>
          <a:lstStyle/>
          <a:p>
            <a:pPr algn="ctr"/>
            <a:r>
              <a:rPr lang="en-US" b="1" dirty="0"/>
              <a:t>ANSWERS (continues…) </a:t>
            </a:r>
            <a:endParaRPr lang="LID4096" dirty="0"/>
          </a:p>
        </p:txBody>
      </p:sp>
      <p:sp>
        <p:nvSpPr>
          <p:cNvPr id="3" name="Content Placeholder 2">
            <a:extLst>
              <a:ext uri="{FF2B5EF4-FFF2-40B4-BE49-F238E27FC236}">
                <a16:creationId xmlns:a16="http://schemas.microsoft.com/office/drawing/2014/main" id="{89A5B499-247A-4C31-887A-81FD9372041F}"/>
              </a:ext>
            </a:extLst>
          </p:cNvPr>
          <p:cNvSpPr>
            <a:spLocks noGrp="1"/>
          </p:cNvSpPr>
          <p:nvPr>
            <p:ph idx="1"/>
          </p:nvPr>
        </p:nvSpPr>
        <p:spPr/>
        <p:txBody>
          <a:bodyPr/>
          <a:lstStyle/>
          <a:p>
            <a:pPr marL="0" indent="0">
              <a:buNone/>
            </a:pPr>
            <a:r>
              <a:rPr lang="en-US" sz="3200" b="1" dirty="0"/>
              <a:t>Q7</a:t>
            </a:r>
          </a:p>
          <a:p>
            <a:pPr>
              <a:buFont typeface="Wingdings" panose="05000000000000000000" pitchFamily="2" charset="2"/>
              <a:buChar char="q"/>
            </a:pPr>
            <a:r>
              <a:rPr lang="en-US" dirty="0"/>
              <a:t> Collection and Preservation of Digital Evidence</a:t>
            </a:r>
          </a:p>
          <a:p>
            <a:pPr>
              <a:buFont typeface="Wingdings" panose="05000000000000000000" pitchFamily="2" charset="2"/>
              <a:buChar char="q"/>
            </a:pPr>
            <a:r>
              <a:rPr lang="en-US" dirty="0"/>
              <a:t> Analysis of Digital Evidence</a:t>
            </a:r>
          </a:p>
          <a:p>
            <a:pPr>
              <a:buFont typeface="Wingdings" panose="05000000000000000000" pitchFamily="2" charset="2"/>
              <a:buChar char="q"/>
            </a:pPr>
            <a:r>
              <a:rPr lang="en-US" dirty="0"/>
              <a:t> Expert Testimony</a:t>
            </a:r>
          </a:p>
          <a:p>
            <a:pPr>
              <a:buFont typeface="Wingdings" panose="05000000000000000000" pitchFamily="2" charset="2"/>
              <a:buChar char="q"/>
            </a:pPr>
            <a:r>
              <a:rPr lang="en-US" dirty="0"/>
              <a:t> Ensuring Chain of Custody</a:t>
            </a:r>
            <a:endParaRPr lang="LID4096" dirty="0"/>
          </a:p>
        </p:txBody>
      </p:sp>
      <p:sp>
        <p:nvSpPr>
          <p:cNvPr id="4" name="Footer Placeholder 3">
            <a:extLst>
              <a:ext uri="{FF2B5EF4-FFF2-40B4-BE49-F238E27FC236}">
                <a16:creationId xmlns:a16="http://schemas.microsoft.com/office/drawing/2014/main" id="{DC238D69-5F49-42A6-B879-FF0D95F2EA0C}"/>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D8771EAD-A3C5-4E7C-8429-1ECF4B5AD903}"/>
              </a:ext>
            </a:extLst>
          </p:cNvPr>
          <p:cNvSpPr>
            <a:spLocks noGrp="1"/>
          </p:cNvSpPr>
          <p:nvPr>
            <p:ph type="sldNum" sz="quarter" idx="12"/>
          </p:nvPr>
        </p:nvSpPr>
        <p:spPr/>
        <p:txBody>
          <a:bodyPr/>
          <a:lstStyle/>
          <a:p>
            <a:fld id="{E153A30B-AAA6-4D3D-89E9-8F9473C4CEC0}" type="slidenum">
              <a:rPr lang="LID4096" smtClean="0"/>
              <a:t>46</a:t>
            </a:fld>
            <a:endParaRPr lang="LID4096"/>
          </a:p>
        </p:txBody>
      </p:sp>
    </p:spTree>
    <p:extLst>
      <p:ext uri="{BB962C8B-B14F-4D97-AF65-F5344CB8AC3E}">
        <p14:creationId xmlns:p14="http://schemas.microsoft.com/office/powerpoint/2010/main" val="36225698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0592B6E-8EE0-4CCF-BAA6-970A510D9AAD}"/>
              </a:ext>
            </a:extLst>
          </p:cNvPr>
          <p:cNvSpPr>
            <a:spLocks noGrp="1"/>
          </p:cNvSpPr>
          <p:nvPr>
            <p:ph type="ctrTitle"/>
          </p:nvPr>
        </p:nvSpPr>
        <p:spPr/>
        <p:txBody>
          <a:bodyPr/>
          <a:lstStyle/>
          <a:p>
            <a:pPr algn="ctr"/>
            <a:r>
              <a:rPr lang="en-US" b="1" dirty="0"/>
              <a:t>FILE CARVING AND DATA RECOVERY</a:t>
            </a:r>
            <a:endParaRPr lang="LID4096" b="1" dirty="0"/>
          </a:p>
        </p:txBody>
      </p:sp>
      <p:sp>
        <p:nvSpPr>
          <p:cNvPr id="5" name="Text Placeholder 4">
            <a:extLst>
              <a:ext uri="{FF2B5EF4-FFF2-40B4-BE49-F238E27FC236}">
                <a16:creationId xmlns:a16="http://schemas.microsoft.com/office/drawing/2014/main" id="{811ACA43-2CC3-470F-8545-BAC21868AC10}"/>
              </a:ext>
            </a:extLst>
          </p:cNvPr>
          <p:cNvSpPr>
            <a:spLocks noGrp="1"/>
          </p:cNvSpPr>
          <p:nvPr>
            <p:ph type="subTitle" idx="1"/>
          </p:nvPr>
        </p:nvSpPr>
        <p:spPr/>
        <p:txBody>
          <a:bodyPr/>
          <a:lstStyle/>
          <a:p>
            <a:pPr algn="ctr"/>
            <a:r>
              <a:rPr lang="en-US" b="1" dirty="0"/>
              <a:t>Lecture 3</a:t>
            </a:r>
            <a:endParaRPr lang="LID4096" b="1" dirty="0"/>
          </a:p>
        </p:txBody>
      </p:sp>
    </p:spTree>
    <p:extLst>
      <p:ext uri="{BB962C8B-B14F-4D97-AF65-F5344CB8AC3E}">
        <p14:creationId xmlns:p14="http://schemas.microsoft.com/office/powerpoint/2010/main" val="42437085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3A197-41B5-4D28-8586-755BF939DEAA}"/>
              </a:ext>
            </a:extLst>
          </p:cNvPr>
          <p:cNvSpPr>
            <a:spLocks noGrp="1"/>
          </p:cNvSpPr>
          <p:nvPr>
            <p:ph type="title"/>
          </p:nvPr>
        </p:nvSpPr>
        <p:spPr/>
        <p:txBody>
          <a:bodyPr/>
          <a:lstStyle/>
          <a:p>
            <a:pPr algn="ctr"/>
            <a:r>
              <a:rPr lang="en-US" b="1" dirty="0"/>
              <a:t>Computer data</a:t>
            </a:r>
            <a:endParaRPr lang="LID4096" b="1" dirty="0"/>
          </a:p>
        </p:txBody>
      </p:sp>
      <p:sp>
        <p:nvSpPr>
          <p:cNvPr id="3" name="Content Placeholder 2">
            <a:extLst>
              <a:ext uri="{FF2B5EF4-FFF2-40B4-BE49-F238E27FC236}">
                <a16:creationId xmlns:a16="http://schemas.microsoft.com/office/drawing/2014/main" id="{6164835B-A959-4CF9-80A7-05274CE6D383}"/>
              </a:ext>
            </a:extLst>
          </p:cNvPr>
          <p:cNvSpPr>
            <a:spLocks noGrp="1"/>
          </p:cNvSpPr>
          <p:nvPr>
            <p:ph idx="1"/>
          </p:nvPr>
        </p:nvSpPr>
        <p:spPr/>
        <p:txBody>
          <a:bodyPr>
            <a:normAutofit fontScale="92500" lnSpcReduction="20000"/>
          </a:bodyPr>
          <a:lstStyle/>
          <a:p>
            <a:r>
              <a:rPr lang="en-US" dirty="0"/>
              <a:t> </a:t>
            </a:r>
            <a:r>
              <a:rPr lang="en-US" b="1" dirty="0"/>
              <a:t>Computer data </a:t>
            </a:r>
            <a:r>
              <a:rPr lang="en-US" dirty="0"/>
              <a:t>is information processed or stored by a computer.</a:t>
            </a:r>
          </a:p>
          <a:p>
            <a:r>
              <a:rPr lang="en-US" dirty="0"/>
              <a:t> This information may be in the form of;</a:t>
            </a:r>
          </a:p>
          <a:p>
            <a:pPr marL="514350" indent="-514350">
              <a:buFont typeface="+mj-lt"/>
              <a:buAutoNum type="romanLcPeriod"/>
            </a:pPr>
            <a:r>
              <a:rPr lang="en-US" dirty="0"/>
              <a:t>text documents, </a:t>
            </a:r>
          </a:p>
          <a:p>
            <a:pPr marL="514350" indent="-514350">
              <a:buFont typeface="+mj-lt"/>
              <a:buAutoNum type="romanLcPeriod"/>
            </a:pPr>
            <a:r>
              <a:rPr lang="en-US" dirty="0"/>
              <a:t>images, </a:t>
            </a:r>
          </a:p>
          <a:p>
            <a:pPr marL="514350" indent="-514350">
              <a:buFont typeface="+mj-lt"/>
              <a:buAutoNum type="romanLcPeriod"/>
            </a:pPr>
            <a:r>
              <a:rPr lang="en-US" dirty="0"/>
              <a:t>audio clips, </a:t>
            </a:r>
          </a:p>
          <a:p>
            <a:pPr marL="514350" indent="-514350">
              <a:buFont typeface="+mj-lt"/>
              <a:buAutoNum type="romanLcPeriod"/>
            </a:pPr>
            <a:r>
              <a:rPr lang="en-US" dirty="0"/>
              <a:t>software programs etc.</a:t>
            </a:r>
          </a:p>
          <a:p>
            <a:r>
              <a:rPr lang="en-US" dirty="0"/>
              <a:t> Computer data may be processed by the computer's </a:t>
            </a:r>
            <a:r>
              <a:rPr lang="en-US" b="1" dirty="0"/>
              <a:t>CPU</a:t>
            </a:r>
            <a:r>
              <a:rPr lang="en-US" dirty="0"/>
              <a:t> and is stored in </a:t>
            </a:r>
            <a:r>
              <a:rPr lang="en-US" b="1" dirty="0"/>
              <a:t>files</a:t>
            </a:r>
            <a:r>
              <a:rPr lang="en-US" dirty="0"/>
              <a:t> and </a:t>
            </a:r>
            <a:r>
              <a:rPr lang="en-US" b="1" dirty="0"/>
              <a:t>folders</a:t>
            </a:r>
            <a:r>
              <a:rPr lang="en-US" dirty="0"/>
              <a:t> on the computer's hard disk.</a:t>
            </a:r>
          </a:p>
        </p:txBody>
      </p:sp>
      <p:sp>
        <p:nvSpPr>
          <p:cNvPr id="4" name="Footer Placeholder 3">
            <a:extLst>
              <a:ext uri="{FF2B5EF4-FFF2-40B4-BE49-F238E27FC236}">
                <a16:creationId xmlns:a16="http://schemas.microsoft.com/office/drawing/2014/main" id="{FCCDE5A9-AC54-4405-BA6B-568D5AC318D0}"/>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87354DF1-4065-48A6-BFA8-2AE2B5D01E81}"/>
              </a:ext>
            </a:extLst>
          </p:cNvPr>
          <p:cNvSpPr>
            <a:spLocks noGrp="1"/>
          </p:cNvSpPr>
          <p:nvPr>
            <p:ph type="sldNum" sz="quarter" idx="12"/>
          </p:nvPr>
        </p:nvSpPr>
        <p:spPr/>
        <p:txBody>
          <a:bodyPr/>
          <a:lstStyle/>
          <a:p>
            <a:fld id="{E153A30B-AAA6-4D3D-89E9-8F9473C4CEC0}" type="slidenum">
              <a:rPr lang="LID4096" smtClean="0"/>
              <a:t>48</a:t>
            </a:fld>
            <a:endParaRPr lang="LID4096"/>
          </a:p>
        </p:txBody>
      </p:sp>
    </p:spTree>
    <p:extLst>
      <p:ext uri="{BB962C8B-B14F-4D97-AF65-F5344CB8AC3E}">
        <p14:creationId xmlns:p14="http://schemas.microsoft.com/office/powerpoint/2010/main" val="27280317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622C6-DCDA-4039-8A37-2BE5DFDDB3E9}"/>
              </a:ext>
            </a:extLst>
          </p:cNvPr>
          <p:cNvSpPr>
            <a:spLocks noGrp="1"/>
          </p:cNvSpPr>
          <p:nvPr>
            <p:ph type="title"/>
          </p:nvPr>
        </p:nvSpPr>
        <p:spPr/>
        <p:txBody>
          <a:bodyPr/>
          <a:lstStyle/>
          <a:p>
            <a:pPr algn="ctr"/>
            <a:r>
              <a:rPr lang="en-US" b="1" dirty="0"/>
              <a:t>DATA RECOVERY </a:t>
            </a:r>
            <a:endParaRPr lang="LID4096" b="1" dirty="0"/>
          </a:p>
        </p:txBody>
      </p:sp>
      <p:sp>
        <p:nvSpPr>
          <p:cNvPr id="3" name="Content Placeholder 2">
            <a:extLst>
              <a:ext uri="{FF2B5EF4-FFF2-40B4-BE49-F238E27FC236}">
                <a16:creationId xmlns:a16="http://schemas.microsoft.com/office/drawing/2014/main" id="{00ACF1D3-17B1-4452-B3AB-94F8984BC376}"/>
              </a:ext>
            </a:extLst>
          </p:cNvPr>
          <p:cNvSpPr>
            <a:spLocks noGrp="1"/>
          </p:cNvSpPr>
          <p:nvPr>
            <p:ph idx="1"/>
          </p:nvPr>
        </p:nvSpPr>
        <p:spPr/>
        <p:txBody>
          <a:bodyPr>
            <a:normAutofit fontScale="92500"/>
          </a:bodyPr>
          <a:lstStyle/>
          <a:p>
            <a:r>
              <a:rPr lang="en-US" dirty="0"/>
              <a:t> </a:t>
            </a:r>
            <a:r>
              <a:rPr lang="en-US" b="1" dirty="0"/>
              <a:t>Data recovery </a:t>
            </a:r>
            <a:r>
              <a:rPr lang="en-US" dirty="0"/>
              <a:t>is the process of retrieving lost, deleted, corrupted, or inaccessible data from a storage device, often using specialized software and techniques to scan the device, identify recoverable data, and restore it to a usable format. </a:t>
            </a:r>
          </a:p>
          <a:p>
            <a:r>
              <a:rPr lang="en-US" dirty="0"/>
              <a:t> </a:t>
            </a:r>
            <a:r>
              <a:rPr lang="en-US" b="1" dirty="0"/>
              <a:t>Uses</a:t>
            </a:r>
            <a:r>
              <a:rPr lang="en-US" dirty="0"/>
              <a:t> of data recovery include;</a:t>
            </a:r>
          </a:p>
          <a:p>
            <a:pPr marL="514350" indent="-514350">
              <a:buFont typeface="+mj-lt"/>
              <a:buAutoNum type="romanLcPeriod"/>
            </a:pPr>
            <a:r>
              <a:rPr lang="en-US" dirty="0"/>
              <a:t> Recover important lost files</a:t>
            </a:r>
          </a:p>
          <a:p>
            <a:pPr marL="514350" indent="-514350">
              <a:buFont typeface="+mj-lt"/>
              <a:buAutoNum type="romanLcPeriod"/>
            </a:pPr>
            <a:r>
              <a:rPr lang="en-US" dirty="0"/>
              <a:t> Locate illegal data</a:t>
            </a:r>
          </a:p>
          <a:p>
            <a:pPr marL="514350" indent="-514350">
              <a:buFont typeface="+mj-lt"/>
              <a:buAutoNum type="romanLcPeriod"/>
            </a:pPr>
            <a:r>
              <a:rPr lang="en-US" dirty="0"/>
              <a:t> Prosecute criminals based on discovered data</a:t>
            </a:r>
          </a:p>
        </p:txBody>
      </p:sp>
      <p:sp>
        <p:nvSpPr>
          <p:cNvPr id="4" name="Footer Placeholder 3">
            <a:extLst>
              <a:ext uri="{FF2B5EF4-FFF2-40B4-BE49-F238E27FC236}">
                <a16:creationId xmlns:a16="http://schemas.microsoft.com/office/drawing/2014/main" id="{7B30FA29-E805-4560-9A3E-5B32895CA2EF}"/>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572215EA-471E-4D27-B951-8C260A67DCC6}"/>
              </a:ext>
            </a:extLst>
          </p:cNvPr>
          <p:cNvSpPr>
            <a:spLocks noGrp="1"/>
          </p:cNvSpPr>
          <p:nvPr>
            <p:ph type="sldNum" sz="quarter" idx="12"/>
          </p:nvPr>
        </p:nvSpPr>
        <p:spPr/>
        <p:txBody>
          <a:bodyPr/>
          <a:lstStyle/>
          <a:p>
            <a:fld id="{E153A30B-AAA6-4D3D-89E9-8F9473C4CEC0}" type="slidenum">
              <a:rPr lang="LID4096" smtClean="0"/>
              <a:t>49</a:t>
            </a:fld>
            <a:endParaRPr lang="LID4096"/>
          </a:p>
        </p:txBody>
      </p:sp>
    </p:spTree>
    <p:extLst>
      <p:ext uri="{BB962C8B-B14F-4D97-AF65-F5344CB8AC3E}">
        <p14:creationId xmlns:p14="http://schemas.microsoft.com/office/powerpoint/2010/main" val="24313512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2B34A-5445-4F8E-B0E3-DA0CE7F5A985}"/>
              </a:ext>
            </a:extLst>
          </p:cNvPr>
          <p:cNvSpPr>
            <a:spLocks noGrp="1"/>
          </p:cNvSpPr>
          <p:nvPr>
            <p:ph type="title"/>
          </p:nvPr>
        </p:nvSpPr>
        <p:spPr/>
        <p:txBody>
          <a:bodyPr/>
          <a:lstStyle/>
          <a:p>
            <a:pPr algn="ctr"/>
            <a:r>
              <a:rPr lang="en-GB" b="1" dirty="0"/>
              <a:t>Software data recovery </a:t>
            </a:r>
            <a:endParaRPr lang="LID4096" b="1" dirty="0"/>
          </a:p>
        </p:txBody>
      </p:sp>
      <p:sp>
        <p:nvSpPr>
          <p:cNvPr id="3" name="Content Placeholder 2">
            <a:extLst>
              <a:ext uri="{FF2B5EF4-FFF2-40B4-BE49-F238E27FC236}">
                <a16:creationId xmlns:a16="http://schemas.microsoft.com/office/drawing/2014/main" id="{154E0B16-2627-483E-A2EA-B16A1A0B9D88}"/>
              </a:ext>
            </a:extLst>
          </p:cNvPr>
          <p:cNvSpPr>
            <a:spLocks noGrp="1"/>
          </p:cNvSpPr>
          <p:nvPr>
            <p:ph idx="1"/>
          </p:nvPr>
        </p:nvSpPr>
        <p:spPr/>
        <p:txBody>
          <a:bodyPr>
            <a:normAutofit fontScale="92500" lnSpcReduction="10000"/>
          </a:bodyPr>
          <a:lstStyle/>
          <a:p>
            <a:r>
              <a:rPr lang="en-US" dirty="0"/>
              <a:t> </a:t>
            </a:r>
            <a:r>
              <a:rPr lang="en-US" b="1" dirty="0"/>
              <a:t>Software data recovery </a:t>
            </a:r>
            <a:r>
              <a:rPr lang="en-US" dirty="0"/>
              <a:t>refers to the process of using specialized computer programs to retrieve lost, deleted, or damaged data from a storage device like a hard drive, USB stick, or memory card, by scanning the device for remnants of the data and attempting to restore it to a usable state.</a:t>
            </a:r>
          </a:p>
          <a:p>
            <a:r>
              <a:rPr lang="en-US" dirty="0"/>
              <a:t> Tools may include;</a:t>
            </a:r>
          </a:p>
          <a:p>
            <a:pPr marL="514350" indent="-514350">
              <a:buFont typeface="+mj-lt"/>
              <a:buAutoNum type="romanLcPeriod"/>
            </a:pPr>
            <a:r>
              <a:rPr lang="en-US" dirty="0"/>
              <a:t> Windows File Recovery</a:t>
            </a:r>
          </a:p>
          <a:p>
            <a:pPr marL="514350" indent="-514350">
              <a:buFont typeface="+mj-lt"/>
              <a:buAutoNum type="romanLcPeriod"/>
            </a:pPr>
            <a:r>
              <a:rPr lang="en-US" dirty="0"/>
              <a:t> EaseUS Data Recovery Wizard</a:t>
            </a:r>
          </a:p>
          <a:p>
            <a:pPr marL="514350" indent="-514350">
              <a:buFont typeface="+mj-lt"/>
              <a:buAutoNum type="romanLcPeriod"/>
            </a:pPr>
            <a:r>
              <a:rPr lang="en-US" dirty="0"/>
              <a:t> Stellar Data Recovery</a:t>
            </a:r>
            <a:endParaRPr lang="LID4096" dirty="0"/>
          </a:p>
        </p:txBody>
      </p:sp>
      <p:sp>
        <p:nvSpPr>
          <p:cNvPr id="4" name="Footer Placeholder 3">
            <a:extLst>
              <a:ext uri="{FF2B5EF4-FFF2-40B4-BE49-F238E27FC236}">
                <a16:creationId xmlns:a16="http://schemas.microsoft.com/office/drawing/2014/main" id="{ECE30AC6-7F72-44E9-844D-A0706041BCD2}"/>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98E67B57-56AA-462A-B52F-8097E04F4429}"/>
              </a:ext>
            </a:extLst>
          </p:cNvPr>
          <p:cNvSpPr>
            <a:spLocks noGrp="1"/>
          </p:cNvSpPr>
          <p:nvPr>
            <p:ph type="sldNum" sz="quarter" idx="12"/>
          </p:nvPr>
        </p:nvSpPr>
        <p:spPr/>
        <p:txBody>
          <a:bodyPr/>
          <a:lstStyle/>
          <a:p>
            <a:fld id="{E153A30B-AAA6-4D3D-89E9-8F9473C4CEC0}" type="slidenum">
              <a:rPr lang="LID4096" smtClean="0"/>
              <a:t>50</a:t>
            </a:fld>
            <a:endParaRPr lang="LID4096"/>
          </a:p>
        </p:txBody>
      </p:sp>
    </p:spTree>
    <p:extLst>
      <p:ext uri="{BB962C8B-B14F-4D97-AF65-F5344CB8AC3E}">
        <p14:creationId xmlns:p14="http://schemas.microsoft.com/office/powerpoint/2010/main" val="29086825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3DC8-EA2A-4968-80D6-80F7979FBB0C}"/>
              </a:ext>
            </a:extLst>
          </p:cNvPr>
          <p:cNvSpPr>
            <a:spLocks noGrp="1"/>
          </p:cNvSpPr>
          <p:nvPr>
            <p:ph type="title"/>
          </p:nvPr>
        </p:nvSpPr>
        <p:spPr/>
        <p:txBody>
          <a:bodyPr/>
          <a:lstStyle/>
          <a:p>
            <a:pPr algn="ctr"/>
            <a:r>
              <a:rPr lang="en-US" b="1" dirty="0"/>
              <a:t>Bad track of a hard disk </a:t>
            </a:r>
            <a:endParaRPr lang="LID4096" b="1" dirty="0"/>
          </a:p>
        </p:txBody>
      </p:sp>
      <p:sp>
        <p:nvSpPr>
          <p:cNvPr id="3" name="Content Placeholder 2">
            <a:extLst>
              <a:ext uri="{FF2B5EF4-FFF2-40B4-BE49-F238E27FC236}">
                <a16:creationId xmlns:a16="http://schemas.microsoft.com/office/drawing/2014/main" id="{D7E2EB67-EEB4-4432-BA53-A32E6C65151C}"/>
              </a:ext>
            </a:extLst>
          </p:cNvPr>
          <p:cNvSpPr>
            <a:spLocks noGrp="1"/>
          </p:cNvSpPr>
          <p:nvPr>
            <p:ph idx="1"/>
          </p:nvPr>
        </p:nvSpPr>
        <p:spPr/>
        <p:txBody>
          <a:bodyPr/>
          <a:lstStyle/>
          <a:p>
            <a:pPr marL="457200" indent="-457200">
              <a:buFont typeface="+mj-lt"/>
              <a:buAutoNum type="arabicPeriod"/>
            </a:pPr>
            <a:r>
              <a:rPr lang="en-US" dirty="0"/>
              <a:t> </a:t>
            </a:r>
            <a:r>
              <a:rPr lang="en-US" b="1" dirty="0"/>
              <a:t>Logical</a:t>
            </a:r>
            <a:r>
              <a:rPr lang="en-US" dirty="0"/>
              <a:t> – is mainly caused by incorrect operation, and it can be restored by software.</a:t>
            </a:r>
          </a:p>
          <a:p>
            <a:pPr marL="457200" indent="-457200">
              <a:buFont typeface="+mj-lt"/>
              <a:buAutoNum type="arabicPeriod"/>
            </a:pPr>
            <a:r>
              <a:rPr lang="en-US" dirty="0"/>
              <a:t> </a:t>
            </a:r>
            <a:r>
              <a:rPr lang="en-US" b="1" dirty="0"/>
              <a:t>Physical</a:t>
            </a:r>
            <a:r>
              <a:rPr lang="en-US" dirty="0"/>
              <a:t> – is caused by physical damage, which is real damage, we can restore it by changing the partition or sector.</a:t>
            </a:r>
            <a:endParaRPr lang="LID4096" dirty="0"/>
          </a:p>
        </p:txBody>
      </p:sp>
      <p:sp>
        <p:nvSpPr>
          <p:cNvPr id="4" name="Footer Placeholder 3">
            <a:extLst>
              <a:ext uri="{FF2B5EF4-FFF2-40B4-BE49-F238E27FC236}">
                <a16:creationId xmlns:a16="http://schemas.microsoft.com/office/drawing/2014/main" id="{303D5A4C-CF21-4B9A-A26B-AFA1E3B62106}"/>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7A1E617F-EDC4-465A-A108-89815C7E9188}"/>
              </a:ext>
            </a:extLst>
          </p:cNvPr>
          <p:cNvSpPr>
            <a:spLocks noGrp="1"/>
          </p:cNvSpPr>
          <p:nvPr>
            <p:ph type="sldNum" sz="quarter" idx="12"/>
          </p:nvPr>
        </p:nvSpPr>
        <p:spPr/>
        <p:txBody>
          <a:bodyPr/>
          <a:lstStyle/>
          <a:p>
            <a:fld id="{E153A30B-AAA6-4D3D-89E9-8F9473C4CEC0}" type="slidenum">
              <a:rPr lang="LID4096" smtClean="0"/>
              <a:t>51</a:t>
            </a:fld>
            <a:endParaRPr lang="LID4096"/>
          </a:p>
        </p:txBody>
      </p:sp>
    </p:spTree>
    <p:extLst>
      <p:ext uri="{BB962C8B-B14F-4D97-AF65-F5344CB8AC3E}">
        <p14:creationId xmlns:p14="http://schemas.microsoft.com/office/powerpoint/2010/main" val="12594671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42897-7C55-4C7E-97CD-A18CF34CE999}"/>
              </a:ext>
            </a:extLst>
          </p:cNvPr>
          <p:cNvSpPr>
            <a:spLocks noGrp="1"/>
          </p:cNvSpPr>
          <p:nvPr>
            <p:ph type="title"/>
          </p:nvPr>
        </p:nvSpPr>
        <p:spPr/>
        <p:txBody>
          <a:bodyPr/>
          <a:lstStyle/>
          <a:p>
            <a:pPr algn="ctr"/>
            <a:r>
              <a:rPr lang="en-US" b="1" dirty="0"/>
              <a:t>Recovery methods </a:t>
            </a:r>
            <a:endParaRPr lang="LID4096" b="1" dirty="0"/>
          </a:p>
        </p:txBody>
      </p:sp>
      <p:sp>
        <p:nvSpPr>
          <p:cNvPr id="3" name="Content Placeholder 2">
            <a:extLst>
              <a:ext uri="{FF2B5EF4-FFF2-40B4-BE49-F238E27FC236}">
                <a16:creationId xmlns:a16="http://schemas.microsoft.com/office/drawing/2014/main" id="{40D68A4D-50F7-41D5-B14C-66424BC5D35B}"/>
              </a:ext>
            </a:extLst>
          </p:cNvPr>
          <p:cNvSpPr>
            <a:spLocks noGrp="1"/>
          </p:cNvSpPr>
          <p:nvPr>
            <p:ph idx="1"/>
          </p:nvPr>
        </p:nvSpPr>
        <p:spPr/>
        <p:txBody>
          <a:bodyPr/>
          <a:lstStyle/>
          <a:p>
            <a:pPr marL="457200" indent="-457200">
              <a:buFont typeface="+mj-lt"/>
              <a:buAutoNum type="arabicPeriod"/>
            </a:pPr>
            <a:r>
              <a:rPr lang="en-US" dirty="0"/>
              <a:t> Recycle bin</a:t>
            </a:r>
          </a:p>
          <a:p>
            <a:pPr marL="457200" indent="-457200">
              <a:buFont typeface="+mj-lt"/>
              <a:buAutoNum type="arabicPeriod"/>
            </a:pPr>
            <a:r>
              <a:rPr lang="en-US" dirty="0"/>
              <a:t> Using data recovery software</a:t>
            </a:r>
          </a:p>
          <a:p>
            <a:pPr marL="457200" indent="-457200">
              <a:buFont typeface="+mj-lt"/>
              <a:buAutoNum type="arabicPeriod"/>
            </a:pPr>
            <a:r>
              <a:rPr lang="en-US" dirty="0"/>
              <a:t> Restoring data from backups stored on external drives or in the cloud</a:t>
            </a:r>
            <a:endParaRPr lang="LID4096" dirty="0"/>
          </a:p>
        </p:txBody>
      </p:sp>
      <p:sp>
        <p:nvSpPr>
          <p:cNvPr id="4" name="Footer Placeholder 3">
            <a:extLst>
              <a:ext uri="{FF2B5EF4-FFF2-40B4-BE49-F238E27FC236}">
                <a16:creationId xmlns:a16="http://schemas.microsoft.com/office/drawing/2014/main" id="{725B630F-B5B9-4D9C-8DC8-5AEB10D35E89}"/>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DA2E9D69-21B2-4FEA-A4F1-E024B1CABFBB}"/>
              </a:ext>
            </a:extLst>
          </p:cNvPr>
          <p:cNvSpPr>
            <a:spLocks noGrp="1"/>
          </p:cNvSpPr>
          <p:nvPr>
            <p:ph type="sldNum" sz="quarter" idx="12"/>
          </p:nvPr>
        </p:nvSpPr>
        <p:spPr/>
        <p:txBody>
          <a:bodyPr/>
          <a:lstStyle/>
          <a:p>
            <a:fld id="{E153A30B-AAA6-4D3D-89E9-8F9473C4CEC0}" type="slidenum">
              <a:rPr lang="LID4096" smtClean="0"/>
              <a:t>52</a:t>
            </a:fld>
            <a:endParaRPr lang="LID4096"/>
          </a:p>
        </p:txBody>
      </p:sp>
    </p:spTree>
    <p:extLst>
      <p:ext uri="{BB962C8B-B14F-4D97-AF65-F5344CB8AC3E}">
        <p14:creationId xmlns:p14="http://schemas.microsoft.com/office/powerpoint/2010/main" val="37165911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5F2B5-9726-43E4-8684-79E6AC14A961}"/>
              </a:ext>
            </a:extLst>
          </p:cNvPr>
          <p:cNvSpPr>
            <a:spLocks noGrp="1"/>
          </p:cNvSpPr>
          <p:nvPr>
            <p:ph type="title"/>
          </p:nvPr>
        </p:nvSpPr>
        <p:spPr/>
        <p:txBody>
          <a:bodyPr/>
          <a:lstStyle/>
          <a:p>
            <a:pPr algn="ctr"/>
            <a:r>
              <a:rPr lang="en-US" b="1" dirty="0"/>
              <a:t>Data loss </a:t>
            </a:r>
            <a:endParaRPr lang="LID4096" b="1" dirty="0"/>
          </a:p>
        </p:txBody>
      </p:sp>
      <p:sp>
        <p:nvSpPr>
          <p:cNvPr id="3" name="Content Placeholder 2">
            <a:extLst>
              <a:ext uri="{FF2B5EF4-FFF2-40B4-BE49-F238E27FC236}">
                <a16:creationId xmlns:a16="http://schemas.microsoft.com/office/drawing/2014/main" id="{57BB3010-F43F-401B-8403-7F9014D15551}"/>
              </a:ext>
            </a:extLst>
          </p:cNvPr>
          <p:cNvSpPr>
            <a:spLocks noGrp="1"/>
          </p:cNvSpPr>
          <p:nvPr>
            <p:ph idx="1"/>
          </p:nvPr>
        </p:nvSpPr>
        <p:spPr>
          <a:xfrm>
            <a:off x="1057330" y="2087373"/>
            <a:ext cx="9905999" cy="3541714"/>
          </a:xfrm>
        </p:spPr>
        <p:txBody>
          <a:bodyPr/>
          <a:lstStyle/>
          <a:p>
            <a:r>
              <a:rPr lang="en-US" dirty="0"/>
              <a:t> Reasons… </a:t>
            </a:r>
          </a:p>
          <a:p>
            <a:pPr marL="0" indent="0">
              <a:buNone/>
            </a:pPr>
            <a:endParaRPr lang="LID4096" dirty="0"/>
          </a:p>
        </p:txBody>
      </p:sp>
      <p:sp>
        <p:nvSpPr>
          <p:cNvPr id="4" name="Oval 3">
            <a:extLst>
              <a:ext uri="{FF2B5EF4-FFF2-40B4-BE49-F238E27FC236}">
                <a16:creationId xmlns:a16="http://schemas.microsoft.com/office/drawing/2014/main" id="{E2DEA0AC-C943-40C4-92FA-62AB81FE1E4A}"/>
              </a:ext>
            </a:extLst>
          </p:cNvPr>
          <p:cNvSpPr/>
          <p:nvPr/>
        </p:nvSpPr>
        <p:spPr>
          <a:xfrm>
            <a:off x="3993930" y="2249487"/>
            <a:ext cx="3878317" cy="372066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6" name="Straight Connector 5">
            <a:extLst>
              <a:ext uri="{FF2B5EF4-FFF2-40B4-BE49-F238E27FC236}">
                <a16:creationId xmlns:a16="http://schemas.microsoft.com/office/drawing/2014/main" id="{890A82D1-687D-482D-93AC-9EB147471EAE}"/>
              </a:ext>
            </a:extLst>
          </p:cNvPr>
          <p:cNvCxnSpPr>
            <a:cxnSpLocks/>
          </p:cNvCxnSpPr>
          <p:nvPr/>
        </p:nvCxnSpPr>
        <p:spPr>
          <a:xfrm>
            <a:off x="4813738" y="2590526"/>
            <a:ext cx="1119350" cy="16661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676131E-F802-437E-A280-10476A4FF39F}"/>
              </a:ext>
            </a:extLst>
          </p:cNvPr>
          <p:cNvCxnSpPr>
            <a:cxnSpLocks/>
          </p:cNvCxnSpPr>
          <p:nvPr/>
        </p:nvCxnSpPr>
        <p:spPr>
          <a:xfrm>
            <a:off x="5933088" y="4267201"/>
            <a:ext cx="1638299" cy="8218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9E4B784-4FDC-4737-87BE-96D66FD96C32}"/>
              </a:ext>
            </a:extLst>
          </p:cNvPr>
          <p:cNvCxnSpPr>
            <a:endCxn id="4" idx="3"/>
          </p:cNvCxnSpPr>
          <p:nvPr/>
        </p:nvCxnSpPr>
        <p:spPr>
          <a:xfrm flipH="1">
            <a:off x="4561896" y="4267474"/>
            <a:ext cx="1371192" cy="11577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612FAC-16AC-4958-9B56-C4367364A13D}"/>
              </a:ext>
            </a:extLst>
          </p:cNvPr>
          <p:cNvCxnSpPr>
            <a:cxnSpLocks/>
            <a:endCxn id="4" idx="4"/>
          </p:cNvCxnSpPr>
          <p:nvPr/>
        </p:nvCxnSpPr>
        <p:spPr>
          <a:xfrm>
            <a:off x="5933088" y="4267200"/>
            <a:ext cx="1" cy="17029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9205363-8CB3-43DE-84EA-2BEBEB81A3F8}"/>
              </a:ext>
            </a:extLst>
          </p:cNvPr>
          <p:cNvCxnSpPr>
            <a:cxnSpLocks/>
          </p:cNvCxnSpPr>
          <p:nvPr/>
        </p:nvCxnSpPr>
        <p:spPr>
          <a:xfrm>
            <a:off x="5933088" y="4267200"/>
            <a:ext cx="914996" cy="14504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DE4164C-7EBA-47A5-9C2A-B04CF117D507}"/>
              </a:ext>
            </a:extLst>
          </p:cNvPr>
          <p:cNvCxnSpPr>
            <a:cxnSpLocks/>
            <a:endCxn id="4" idx="5"/>
          </p:cNvCxnSpPr>
          <p:nvPr/>
        </p:nvCxnSpPr>
        <p:spPr>
          <a:xfrm>
            <a:off x="5933087" y="4267200"/>
            <a:ext cx="1371194" cy="11580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4BB402C5-EFC2-4E64-B50E-A96ABBC06F1C}"/>
              </a:ext>
            </a:extLst>
          </p:cNvPr>
          <p:cNvSpPr/>
          <p:nvPr/>
        </p:nvSpPr>
        <p:spPr>
          <a:xfrm>
            <a:off x="6390586" y="2333297"/>
            <a:ext cx="2185855" cy="62011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2" name="Rectangle 31">
            <a:extLst>
              <a:ext uri="{FF2B5EF4-FFF2-40B4-BE49-F238E27FC236}">
                <a16:creationId xmlns:a16="http://schemas.microsoft.com/office/drawing/2014/main" id="{0D71A379-D5E3-420D-ADD5-592D115E61E8}"/>
              </a:ext>
            </a:extLst>
          </p:cNvPr>
          <p:cNvSpPr/>
          <p:nvPr/>
        </p:nvSpPr>
        <p:spPr>
          <a:xfrm>
            <a:off x="3121572" y="3410882"/>
            <a:ext cx="1923394" cy="564236"/>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3" name="Rectangle 32">
            <a:extLst>
              <a:ext uri="{FF2B5EF4-FFF2-40B4-BE49-F238E27FC236}">
                <a16:creationId xmlns:a16="http://schemas.microsoft.com/office/drawing/2014/main" id="{730DA6DB-7381-4B26-9E5B-1B637BB9E95F}"/>
              </a:ext>
            </a:extLst>
          </p:cNvPr>
          <p:cNvSpPr/>
          <p:nvPr/>
        </p:nvSpPr>
        <p:spPr>
          <a:xfrm>
            <a:off x="3887220" y="5621900"/>
            <a:ext cx="1371190" cy="507544"/>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4" name="Rectangle 33">
            <a:extLst>
              <a:ext uri="{FF2B5EF4-FFF2-40B4-BE49-F238E27FC236}">
                <a16:creationId xmlns:a16="http://schemas.microsoft.com/office/drawing/2014/main" id="{A1268297-0BB0-48F7-B476-B62CA1539811}"/>
              </a:ext>
            </a:extLst>
          </p:cNvPr>
          <p:cNvSpPr/>
          <p:nvPr/>
        </p:nvSpPr>
        <p:spPr>
          <a:xfrm>
            <a:off x="6164316" y="5801985"/>
            <a:ext cx="1487200" cy="437497"/>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5" name="Rectangle 34">
            <a:extLst>
              <a:ext uri="{FF2B5EF4-FFF2-40B4-BE49-F238E27FC236}">
                <a16:creationId xmlns:a16="http://schemas.microsoft.com/office/drawing/2014/main" id="{B92991C6-243F-481C-ADC7-936D79813499}"/>
              </a:ext>
            </a:extLst>
          </p:cNvPr>
          <p:cNvSpPr/>
          <p:nvPr/>
        </p:nvSpPr>
        <p:spPr>
          <a:xfrm>
            <a:off x="7037176" y="4532097"/>
            <a:ext cx="1638297" cy="43092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6" name="Rectangle 35">
            <a:extLst>
              <a:ext uri="{FF2B5EF4-FFF2-40B4-BE49-F238E27FC236}">
                <a16:creationId xmlns:a16="http://schemas.microsoft.com/office/drawing/2014/main" id="{C6C27E39-28FA-47D8-80D7-CF7555256140}"/>
              </a:ext>
            </a:extLst>
          </p:cNvPr>
          <p:cNvSpPr/>
          <p:nvPr/>
        </p:nvSpPr>
        <p:spPr>
          <a:xfrm>
            <a:off x="6983304" y="5227918"/>
            <a:ext cx="1776249" cy="430925"/>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7" name="Rectangle 36">
            <a:extLst>
              <a:ext uri="{FF2B5EF4-FFF2-40B4-BE49-F238E27FC236}">
                <a16:creationId xmlns:a16="http://schemas.microsoft.com/office/drawing/2014/main" id="{A7437C72-9DBA-4D9C-A57F-B52AAB256197}"/>
              </a:ext>
            </a:extLst>
          </p:cNvPr>
          <p:cNvSpPr/>
          <p:nvPr/>
        </p:nvSpPr>
        <p:spPr>
          <a:xfrm>
            <a:off x="5779504" y="3047448"/>
            <a:ext cx="1524777"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42%</a:t>
            </a:r>
          </a:p>
        </p:txBody>
      </p:sp>
      <p:sp>
        <p:nvSpPr>
          <p:cNvPr id="38" name="Rectangle 37">
            <a:extLst>
              <a:ext uri="{FF2B5EF4-FFF2-40B4-BE49-F238E27FC236}">
                <a16:creationId xmlns:a16="http://schemas.microsoft.com/office/drawing/2014/main" id="{C60DA8F7-4F78-4308-A15E-4CC58BCFB4D6}"/>
              </a:ext>
            </a:extLst>
          </p:cNvPr>
          <p:cNvSpPr/>
          <p:nvPr/>
        </p:nvSpPr>
        <p:spPr>
          <a:xfrm>
            <a:off x="4657519" y="4949021"/>
            <a:ext cx="1545906" cy="584775"/>
          </a:xfrm>
          <a:prstGeom prst="rect">
            <a:avLst/>
          </a:prstGeom>
          <a:noFill/>
        </p:spPr>
        <p:txBody>
          <a:bodyPr wrap="square" lIns="91440" tIns="45720" rIns="91440" bIns="45720">
            <a:spAutoFit/>
          </a:bodyPr>
          <a:lstStyle/>
          <a:p>
            <a:pPr algn="ctr"/>
            <a:r>
              <a:rPr lang="en-US" sz="3200" dirty="0">
                <a:ln w="0"/>
                <a:effectLst>
                  <a:outerShdw blurRad="38100" dist="19050" dir="2700000" algn="tl" rotWithShape="0">
                    <a:schemeClr val="dk1">
                      <a:alpha val="40000"/>
                    </a:schemeClr>
                  </a:outerShdw>
                </a:effectLst>
              </a:rPr>
              <a:t>13</a:t>
            </a:r>
            <a:r>
              <a:rPr lang="en-US" sz="3200" b="0" cap="none" spc="0" dirty="0">
                <a:ln w="0"/>
                <a:solidFill>
                  <a:schemeClr val="tx1"/>
                </a:solidFill>
                <a:effectLst>
                  <a:outerShdw blurRad="38100" dist="19050" dir="2700000" algn="tl" rotWithShape="0">
                    <a:schemeClr val="dk1">
                      <a:alpha val="40000"/>
                    </a:schemeClr>
                  </a:outerShdw>
                </a:effectLst>
              </a:rPr>
              <a:t>%</a:t>
            </a:r>
          </a:p>
        </p:txBody>
      </p:sp>
      <p:sp>
        <p:nvSpPr>
          <p:cNvPr id="39" name="Rectangle 38">
            <a:extLst>
              <a:ext uri="{FF2B5EF4-FFF2-40B4-BE49-F238E27FC236}">
                <a16:creationId xmlns:a16="http://schemas.microsoft.com/office/drawing/2014/main" id="{0446DC23-D109-43B6-A34E-EA9333BDC0A8}"/>
              </a:ext>
            </a:extLst>
          </p:cNvPr>
          <p:cNvSpPr/>
          <p:nvPr/>
        </p:nvSpPr>
        <p:spPr>
          <a:xfrm>
            <a:off x="4083269" y="3893339"/>
            <a:ext cx="1524776"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30</a:t>
            </a:r>
            <a:r>
              <a:rPr lang="en-US" sz="5400" b="0" cap="none" spc="0" dirty="0">
                <a:ln w="0"/>
                <a:solidFill>
                  <a:schemeClr val="tx1"/>
                </a:solidFill>
                <a:effectLst>
                  <a:outerShdw blurRad="38100" dist="19050" dir="2700000" algn="tl" rotWithShape="0">
                    <a:schemeClr val="dk1">
                      <a:alpha val="40000"/>
                    </a:schemeClr>
                  </a:outerShdw>
                </a:effectLst>
              </a:rPr>
              <a:t>%</a:t>
            </a:r>
          </a:p>
        </p:txBody>
      </p:sp>
      <p:sp>
        <p:nvSpPr>
          <p:cNvPr id="40" name="Rectangle 39">
            <a:extLst>
              <a:ext uri="{FF2B5EF4-FFF2-40B4-BE49-F238E27FC236}">
                <a16:creationId xmlns:a16="http://schemas.microsoft.com/office/drawing/2014/main" id="{98BE1BC4-B672-4A44-9D28-528798D39C6B}"/>
              </a:ext>
            </a:extLst>
          </p:cNvPr>
          <p:cNvSpPr/>
          <p:nvPr/>
        </p:nvSpPr>
        <p:spPr>
          <a:xfrm>
            <a:off x="5501897" y="5204483"/>
            <a:ext cx="1545906" cy="461665"/>
          </a:xfrm>
          <a:prstGeom prst="rect">
            <a:avLst/>
          </a:prstGeom>
          <a:noFill/>
        </p:spPr>
        <p:txBody>
          <a:bodyPr wrap="squar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7%</a:t>
            </a:r>
          </a:p>
        </p:txBody>
      </p:sp>
      <p:sp>
        <p:nvSpPr>
          <p:cNvPr id="41" name="Rectangle 40">
            <a:extLst>
              <a:ext uri="{FF2B5EF4-FFF2-40B4-BE49-F238E27FC236}">
                <a16:creationId xmlns:a16="http://schemas.microsoft.com/office/drawing/2014/main" id="{4CC0346D-3653-44F2-A16A-FDDA0A420C0A}"/>
              </a:ext>
            </a:extLst>
          </p:cNvPr>
          <p:cNvSpPr/>
          <p:nvPr/>
        </p:nvSpPr>
        <p:spPr>
          <a:xfrm>
            <a:off x="5903510" y="4947930"/>
            <a:ext cx="1545906" cy="338554"/>
          </a:xfrm>
          <a:prstGeom prst="rect">
            <a:avLst/>
          </a:prstGeom>
          <a:noFill/>
        </p:spPr>
        <p:txBody>
          <a:bodyPr wrap="square" lIns="91440" tIns="45720" rIns="91440" bIns="45720">
            <a:spAutoFit/>
          </a:bodyPr>
          <a:lstStyle/>
          <a:p>
            <a:pPr algn="ctr"/>
            <a:r>
              <a:rPr lang="en-US" sz="1600" dirty="0">
                <a:ln w="0"/>
                <a:effectLst>
                  <a:outerShdw blurRad="38100" dist="19050" dir="2700000" algn="tl" rotWithShape="0">
                    <a:schemeClr val="dk1">
                      <a:alpha val="40000"/>
                    </a:schemeClr>
                  </a:outerShdw>
                </a:effectLst>
              </a:rPr>
              <a:t>5</a:t>
            </a:r>
            <a:r>
              <a:rPr lang="en-US" sz="1600" b="0" cap="none" spc="0" dirty="0">
                <a:ln w="0"/>
                <a:solidFill>
                  <a:schemeClr val="tx1"/>
                </a:solidFill>
                <a:effectLst>
                  <a:outerShdw blurRad="38100" dist="19050" dir="2700000" algn="tl" rotWithShape="0">
                    <a:schemeClr val="dk1">
                      <a:alpha val="40000"/>
                    </a:schemeClr>
                  </a:outerShdw>
                </a:effectLst>
              </a:rPr>
              <a:t>%</a:t>
            </a:r>
          </a:p>
        </p:txBody>
      </p:sp>
      <p:sp>
        <p:nvSpPr>
          <p:cNvPr id="42" name="Rectangle 41">
            <a:extLst>
              <a:ext uri="{FF2B5EF4-FFF2-40B4-BE49-F238E27FC236}">
                <a16:creationId xmlns:a16="http://schemas.microsoft.com/office/drawing/2014/main" id="{146515CB-2048-43CC-B551-31D11677911B}"/>
              </a:ext>
            </a:extLst>
          </p:cNvPr>
          <p:cNvSpPr/>
          <p:nvPr/>
        </p:nvSpPr>
        <p:spPr>
          <a:xfrm>
            <a:off x="5997041" y="4665676"/>
            <a:ext cx="1545906" cy="276999"/>
          </a:xfrm>
          <a:prstGeom prst="rect">
            <a:avLst/>
          </a:prstGeom>
          <a:noFill/>
        </p:spPr>
        <p:txBody>
          <a:bodyPr wrap="square" lIns="91440" tIns="45720" rIns="91440" bIns="45720">
            <a:spAutoFit/>
          </a:bodyPr>
          <a:lstStyle/>
          <a:p>
            <a:pPr algn="ctr"/>
            <a:r>
              <a:rPr lang="en-US" sz="1200" dirty="0">
                <a:ln w="0"/>
                <a:effectLst>
                  <a:outerShdw blurRad="38100" dist="19050" dir="2700000" algn="tl" rotWithShape="0">
                    <a:schemeClr val="dk1">
                      <a:alpha val="40000"/>
                    </a:schemeClr>
                  </a:outerShdw>
                </a:effectLst>
              </a:rPr>
              <a:t>3</a:t>
            </a:r>
            <a:r>
              <a:rPr lang="en-US" sz="1200" b="0" cap="none" spc="0" dirty="0">
                <a:ln w="0"/>
                <a:solidFill>
                  <a:schemeClr val="tx1"/>
                </a:solidFill>
                <a:effectLst>
                  <a:outerShdw blurRad="38100" dist="19050" dir="2700000" algn="tl" rotWithShape="0">
                    <a:schemeClr val="dk1">
                      <a:alpha val="40000"/>
                    </a:schemeClr>
                  </a:outerShdw>
                </a:effectLst>
              </a:rPr>
              <a:t>%</a:t>
            </a:r>
          </a:p>
        </p:txBody>
      </p:sp>
      <p:sp>
        <p:nvSpPr>
          <p:cNvPr id="43" name="Rectangle 42">
            <a:extLst>
              <a:ext uri="{FF2B5EF4-FFF2-40B4-BE49-F238E27FC236}">
                <a16:creationId xmlns:a16="http://schemas.microsoft.com/office/drawing/2014/main" id="{9EFEC1A9-86C2-49D0-B1D4-6244B27F7957}"/>
              </a:ext>
            </a:extLst>
          </p:cNvPr>
          <p:cNvSpPr/>
          <p:nvPr/>
        </p:nvSpPr>
        <p:spPr>
          <a:xfrm>
            <a:off x="5587502" y="2436336"/>
            <a:ext cx="3910889" cy="400110"/>
          </a:xfrm>
          <a:prstGeom prst="rect">
            <a:avLst/>
          </a:prstGeom>
          <a:noFill/>
        </p:spPr>
        <p:txBody>
          <a:bodyPr wrap="squar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Hardware Failure</a:t>
            </a:r>
          </a:p>
        </p:txBody>
      </p:sp>
      <p:sp>
        <p:nvSpPr>
          <p:cNvPr id="44" name="Rectangle 43">
            <a:extLst>
              <a:ext uri="{FF2B5EF4-FFF2-40B4-BE49-F238E27FC236}">
                <a16:creationId xmlns:a16="http://schemas.microsoft.com/office/drawing/2014/main" id="{0545603E-D3C0-483B-8489-6C3F86FC4B70}"/>
              </a:ext>
            </a:extLst>
          </p:cNvPr>
          <p:cNvSpPr/>
          <p:nvPr/>
        </p:nvSpPr>
        <p:spPr>
          <a:xfrm>
            <a:off x="2112543" y="3493229"/>
            <a:ext cx="3910889" cy="400110"/>
          </a:xfrm>
          <a:prstGeom prst="rect">
            <a:avLst/>
          </a:prstGeom>
          <a:noFill/>
        </p:spPr>
        <p:txBody>
          <a:bodyPr wrap="square" lIns="91440" tIns="45720" rIns="91440" bIns="45720">
            <a:spAutoFit/>
          </a:bodyPr>
          <a:lstStyle/>
          <a:p>
            <a:pPr algn="ctr"/>
            <a:r>
              <a:rPr lang="en-US" sz="2000" dirty="0">
                <a:ln w="0"/>
                <a:effectLst>
                  <a:outerShdw blurRad="38100" dist="19050" dir="2700000" algn="tl" rotWithShape="0">
                    <a:schemeClr val="dk1">
                      <a:alpha val="40000"/>
                    </a:schemeClr>
                  </a:outerShdw>
                </a:effectLst>
              </a:rPr>
              <a:t>Human</a:t>
            </a:r>
            <a:r>
              <a:rPr lang="en-US" sz="2000" b="0" cap="none" spc="0" dirty="0">
                <a:ln w="0"/>
                <a:solidFill>
                  <a:schemeClr val="tx1"/>
                </a:solidFill>
                <a:effectLst>
                  <a:outerShdw blurRad="38100" dist="19050" dir="2700000" algn="tl" rotWithShape="0">
                    <a:schemeClr val="dk1">
                      <a:alpha val="40000"/>
                    </a:schemeClr>
                  </a:outerShdw>
                </a:effectLst>
              </a:rPr>
              <a:t> Failure</a:t>
            </a:r>
          </a:p>
        </p:txBody>
      </p:sp>
      <p:sp>
        <p:nvSpPr>
          <p:cNvPr id="45" name="Rectangle 44">
            <a:extLst>
              <a:ext uri="{FF2B5EF4-FFF2-40B4-BE49-F238E27FC236}">
                <a16:creationId xmlns:a16="http://schemas.microsoft.com/office/drawing/2014/main" id="{3191ACF3-A084-4427-A929-EDCC34162CAE}"/>
              </a:ext>
            </a:extLst>
          </p:cNvPr>
          <p:cNvSpPr/>
          <p:nvPr/>
        </p:nvSpPr>
        <p:spPr>
          <a:xfrm>
            <a:off x="2606451" y="5688875"/>
            <a:ext cx="3910889" cy="400110"/>
          </a:xfrm>
          <a:prstGeom prst="rect">
            <a:avLst/>
          </a:prstGeom>
          <a:noFill/>
        </p:spPr>
        <p:txBody>
          <a:bodyPr wrap="square" lIns="91440" tIns="45720" rIns="91440" bIns="45720">
            <a:spAutoFit/>
          </a:bodyPr>
          <a:lstStyle/>
          <a:p>
            <a:pPr algn="ctr"/>
            <a:r>
              <a:rPr lang="en-US" sz="2000" dirty="0">
                <a:ln w="0"/>
                <a:effectLst>
                  <a:outerShdw blurRad="38100" dist="19050" dir="2700000" algn="tl" rotWithShape="0">
                    <a:schemeClr val="dk1">
                      <a:alpha val="40000"/>
                    </a:schemeClr>
                  </a:outerShdw>
                </a:effectLst>
              </a:rPr>
              <a:t>Virus</a:t>
            </a:r>
            <a:endParaRPr lang="en-US" sz="2000" b="0" cap="none" spc="0" dirty="0">
              <a:ln w="0"/>
              <a:solidFill>
                <a:schemeClr val="tx1"/>
              </a:solidFill>
              <a:effectLst>
                <a:outerShdw blurRad="38100" dist="19050" dir="2700000" algn="tl" rotWithShape="0">
                  <a:schemeClr val="dk1">
                    <a:alpha val="40000"/>
                  </a:schemeClr>
                </a:outerShdw>
              </a:effectLst>
            </a:endParaRPr>
          </a:p>
        </p:txBody>
      </p:sp>
      <p:sp>
        <p:nvSpPr>
          <p:cNvPr id="46" name="Rectangle 45">
            <a:extLst>
              <a:ext uri="{FF2B5EF4-FFF2-40B4-BE49-F238E27FC236}">
                <a16:creationId xmlns:a16="http://schemas.microsoft.com/office/drawing/2014/main" id="{F12F8702-D581-4226-B859-A85F7F856A8B}"/>
              </a:ext>
            </a:extLst>
          </p:cNvPr>
          <p:cNvSpPr/>
          <p:nvPr/>
        </p:nvSpPr>
        <p:spPr>
          <a:xfrm>
            <a:off x="4899235" y="5817256"/>
            <a:ext cx="3910889" cy="400110"/>
          </a:xfrm>
          <a:prstGeom prst="rect">
            <a:avLst/>
          </a:prstGeom>
          <a:noFill/>
        </p:spPr>
        <p:txBody>
          <a:bodyPr wrap="square" lIns="91440" tIns="45720" rIns="91440" bIns="45720">
            <a:spAutoFit/>
          </a:bodyPr>
          <a:lstStyle/>
          <a:p>
            <a:pPr algn="ctr"/>
            <a:r>
              <a:rPr lang="en-US" sz="2000" dirty="0">
                <a:ln w="0"/>
                <a:effectLst>
                  <a:outerShdw blurRad="38100" dist="19050" dir="2700000" algn="tl" rotWithShape="0">
                    <a:schemeClr val="dk1">
                      <a:alpha val="40000"/>
                    </a:schemeClr>
                  </a:outerShdw>
                </a:effectLst>
              </a:rPr>
              <a:t>Theft</a:t>
            </a:r>
            <a:endParaRPr lang="en-US" sz="2000" b="0" cap="none" spc="0" dirty="0">
              <a:ln w="0"/>
              <a:solidFill>
                <a:schemeClr val="tx1"/>
              </a:solidFill>
              <a:effectLst>
                <a:outerShdw blurRad="38100" dist="19050" dir="2700000" algn="tl" rotWithShape="0">
                  <a:schemeClr val="dk1">
                    <a:alpha val="40000"/>
                  </a:schemeClr>
                </a:outerShdw>
              </a:effectLst>
            </a:endParaRPr>
          </a:p>
        </p:txBody>
      </p:sp>
      <p:sp>
        <p:nvSpPr>
          <p:cNvPr id="47" name="Rectangle 46">
            <a:extLst>
              <a:ext uri="{FF2B5EF4-FFF2-40B4-BE49-F238E27FC236}">
                <a16:creationId xmlns:a16="http://schemas.microsoft.com/office/drawing/2014/main" id="{4D7E2813-7D0D-4F91-96A2-00BEBFD12157}"/>
              </a:ext>
            </a:extLst>
          </p:cNvPr>
          <p:cNvSpPr/>
          <p:nvPr/>
        </p:nvSpPr>
        <p:spPr>
          <a:xfrm>
            <a:off x="5933086" y="5267375"/>
            <a:ext cx="3910889" cy="338554"/>
          </a:xfrm>
          <a:prstGeom prst="rect">
            <a:avLst/>
          </a:prstGeom>
          <a:noFill/>
        </p:spPr>
        <p:txBody>
          <a:bodyPr wrap="square" lIns="91440" tIns="45720" rIns="91440" bIns="45720">
            <a:spAutoFit/>
          </a:bodyPr>
          <a:lstStyle/>
          <a:p>
            <a:pPr algn="ctr"/>
            <a:r>
              <a:rPr lang="en-US" sz="1600" dirty="0">
                <a:ln w="0"/>
                <a:effectLst>
                  <a:outerShdw blurRad="38100" dist="19050" dir="2700000" algn="tl" rotWithShape="0">
                    <a:schemeClr val="dk1">
                      <a:alpha val="40000"/>
                    </a:schemeClr>
                  </a:outerShdw>
                </a:effectLst>
              </a:rPr>
              <a:t>Software Corruption</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48" name="Rectangle 47">
            <a:extLst>
              <a:ext uri="{FF2B5EF4-FFF2-40B4-BE49-F238E27FC236}">
                <a16:creationId xmlns:a16="http://schemas.microsoft.com/office/drawing/2014/main" id="{9B31662B-B808-40A7-8E67-77C2B3248EE8}"/>
              </a:ext>
            </a:extLst>
          </p:cNvPr>
          <p:cNvSpPr/>
          <p:nvPr/>
        </p:nvSpPr>
        <p:spPr>
          <a:xfrm>
            <a:off x="5963731" y="4580365"/>
            <a:ext cx="3771460" cy="307777"/>
          </a:xfrm>
          <a:prstGeom prst="rect">
            <a:avLst/>
          </a:prstGeom>
          <a:noFill/>
        </p:spPr>
        <p:txBody>
          <a:bodyPr wrap="square" lIns="91440" tIns="45720" rIns="91440" bIns="45720">
            <a:spAutoFit/>
          </a:bodyPr>
          <a:lstStyle/>
          <a:p>
            <a:pPr algn="ctr"/>
            <a:r>
              <a:rPr lang="en-US" sz="1400" b="0" cap="none" spc="0" dirty="0">
                <a:ln w="0"/>
                <a:solidFill>
                  <a:schemeClr val="bg1"/>
                </a:solidFill>
                <a:effectLst>
                  <a:outerShdw blurRad="38100" dist="19050" dir="2700000" algn="tl" rotWithShape="0">
                    <a:schemeClr val="dk1">
                      <a:alpha val="40000"/>
                    </a:schemeClr>
                  </a:outerShdw>
                </a:effectLst>
              </a:rPr>
              <a:t>Hardware Destruction</a:t>
            </a:r>
          </a:p>
        </p:txBody>
      </p:sp>
      <p:sp>
        <p:nvSpPr>
          <p:cNvPr id="5" name="Footer Placeholder 4">
            <a:extLst>
              <a:ext uri="{FF2B5EF4-FFF2-40B4-BE49-F238E27FC236}">
                <a16:creationId xmlns:a16="http://schemas.microsoft.com/office/drawing/2014/main" id="{DA5DFFC2-F8B2-45C4-9F52-997349D0DD60}"/>
              </a:ext>
            </a:extLst>
          </p:cNvPr>
          <p:cNvSpPr>
            <a:spLocks noGrp="1"/>
          </p:cNvSpPr>
          <p:nvPr>
            <p:ph type="ftr" sz="quarter" idx="11"/>
          </p:nvPr>
        </p:nvSpPr>
        <p:spPr>
          <a:xfrm>
            <a:off x="1141413" y="6239466"/>
            <a:ext cx="6239309" cy="365125"/>
          </a:xfrm>
        </p:spPr>
        <p:txBody>
          <a:bodyPr/>
          <a:lstStyle/>
          <a:p>
            <a:r>
              <a:rPr lang="en-US" dirty="0"/>
              <a:t>Prepared by James Soko for Mr. Ngosa Gatham © 2025 Kapasa Makasa University </a:t>
            </a:r>
            <a:endParaRPr lang="LID4096" dirty="0"/>
          </a:p>
        </p:txBody>
      </p:sp>
      <p:sp>
        <p:nvSpPr>
          <p:cNvPr id="7" name="Slide Number Placeholder 6">
            <a:extLst>
              <a:ext uri="{FF2B5EF4-FFF2-40B4-BE49-F238E27FC236}">
                <a16:creationId xmlns:a16="http://schemas.microsoft.com/office/drawing/2014/main" id="{47CD08C4-1FB4-4E48-88D1-E279A6C617B3}"/>
              </a:ext>
            </a:extLst>
          </p:cNvPr>
          <p:cNvSpPr>
            <a:spLocks noGrp="1"/>
          </p:cNvSpPr>
          <p:nvPr>
            <p:ph type="sldNum" sz="quarter" idx="12"/>
          </p:nvPr>
        </p:nvSpPr>
        <p:spPr/>
        <p:txBody>
          <a:bodyPr/>
          <a:lstStyle/>
          <a:p>
            <a:fld id="{E153A30B-AAA6-4D3D-89E9-8F9473C4CEC0}" type="slidenum">
              <a:rPr lang="LID4096" smtClean="0"/>
              <a:t>53</a:t>
            </a:fld>
            <a:endParaRPr lang="LID4096"/>
          </a:p>
        </p:txBody>
      </p:sp>
    </p:spTree>
    <p:extLst>
      <p:ext uri="{BB962C8B-B14F-4D97-AF65-F5344CB8AC3E}">
        <p14:creationId xmlns:p14="http://schemas.microsoft.com/office/powerpoint/2010/main" val="42485548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00DDA-82A2-4287-99F3-B325121B25E6}"/>
              </a:ext>
            </a:extLst>
          </p:cNvPr>
          <p:cNvSpPr>
            <a:spLocks noGrp="1"/>
          </p:cNvSpPr>
          <p:nvPr>
            <p:ph type="title"/>
          </p:nvPr>
        </p:nvSpPr>
        <p:spPr/>
        <p:txBody>
          <a:bodyPr/>
          <a:lstStyle/>
          <a:p>
            <a:pPr algn="ctr"/>
            <a:r>
              <a:rPr lang="en-US" b="1" dirty="0"/>
              <a:t>Hard disk</a:t>
            </a:r>
            <a:endParaRPr lang="LID4096" b="1" dirty="0"/>
          </a:p>
        </p:txBody>
      </p:sp>
      <p:sp>
        <p:nvSpPr>
          <p:cNvPr id="3" name="Content Placeholder 2">
            <a:extLst>
              <a:ext uri="{FF2B5EF4-FFF2-40B4-BE49-F238E27FC236}">
                <a16:creationId xmlns:a16="http://schemas.microsoft.com/office/drawing/2014/main" id="{13679384-4F1D-4A72-B215-AB4275E6C3CF}"/>
              </a:ext>
            </a:extLst>
          </p:cNvPr>
          <p:cNvSpPr>
            <a:spLocks noGrp="1"/>
          </p:cNvSpPr>
          <p:nvPr>
            <p:ph idx="1"/>
          </p:nvPr>
        </p:nvSpPr>
        <p:spPr/>
        <p:txBody>
          <a:bodyPr/>
          <a:lstStyle/>
          <a:p>
            <a:r>
              <a:rPr lang="en-US" dirty="0"/>
              <a:t> Is a magnetic storage medium for a computer.</a:t>
            </a:r>
          </a:p>
          <a:p>
            <a:r>
              <a:rPr lang="en-US" dirty="0"/>
              <a:t> When hard disk is firstly made in the factory, it is usually	“blank”.</a:t>
            </a:r>
          </a:p>
          <a:p>
            <a:r>
              <a:rPr lang="en-US" dirty="0"/>
              <a:t> Only after partitioning tracks and sectors, we can save data on hard disk.</a:t>
            </a:r>
          </a:p>
          <a:p>
            <a:pPr marL="0" indent="0">
              <a:buNone/>
            </a:pPr>
            <a:endParaRPr lang="LID4096" dirty="0"/>
          </a:p>
        </p:txBody>
      </p:sp>
      <p:pic>
        <p:nvPicPr>
          <p:cNvPr id="5" name="Picture 4">
            <a:extLst>
              <a:ext uri="{FF2B5EF4-FFF2-40B4-BE49-F238E27FC236}">
                <a16:creationId xmlns:a16="http://schemas.microsoft.com/office/drawing/2014/main" id="{907466DD-5C8E-465C-8118-C7B66237CB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7394" y="3769273"/>
            <a:ext cx="3752193" cy="2872773"/>
          </a:xfrm>
          <a:prstGeom prst="rect">
            <a:avLst/>
          </a:prstGeom>
        </p:spPr>
      </p:pic>
      <p:sp>
        <p:nvSpPr>
          <p:cNvPr id="4" name="Footer Placeholder 3">
            <a:extLst>
              <a:ext uri="{FF2B5EF4-FFF2-40B4-BE49-F238E27FC236}">
                <a16:creationId xmlns:a16="http://schemas.microsoft.com/office/drawing/2014/main" id="{15EC3FB4-00BE-44F7-8885-3B8B22EDACA3}"/>
              </a:ext>
            </a:extLst>
          </p:cNvPr>
          <p:cNvSpPr>
            <a:spLocks noGrp="1"/>
          </p:cNvSpPr>
          <p:nvPr>
            <p:ph type="ftr" sz="quarter" idx="11"/>
          </p:nvPr>
        </p:nvSpPr>
        <p:spPr>
          <a:xfrm>
            <a:off x="1141412" y="6459483"/>
            <a:ext cx="6239309" cy="365125"/>
          </a:xfrm>
        </p:spPr>
        <p:txBody>
          <a:bodyPr/>
          <a:lstStyle/>
          <a:p>
            <a:r>
              <a:rPr lang="en-US" dirty="0"/>
              <a:t>Prepared by James Soko for Mr. Ngosa Gatham © 2025 Kapasa Makasa University </a:t>
            </a:r>
            <a:endParaRPr lang="LID4096" dirty="0"/>
          </a:p>
        </p:txBody>
      </p:sp>
      <p:sp>
        <p:nvSpPr>
          <p:cNvPr id="6" name="Slide Number Placeholder 5">
            <a:extLst>
              <a:ext uri="{FF2B5EF4-FFF2-40B4-BE49-F238E27FC236}">
                <a16:creationId xmlns:a16="http://schemas.microsoft.com/office/drawing/2014/main" id="{9135D554-8896-45F3-87E8-CC4B92B5CFEA}"/>
              </a:ext>
            </a:extLst>
          </p:cNvPr>
          <p:cNvSpPr>
            <a:spLocks noGrp="1"/>
          </p:cNvSpPr>
          <p:nvPr>
            <p:ph type="sldNum" sz="quarter" idx="12"/>
          </p:nvPr>
        </p:nvSpPr>
        <p:spPr/>
        <p:txBody>
          <a:bodyPr/>
          <a:lstStyle/>
          <a:p>
            <a:fld id="{E153A30B-AAA6-4D3D-89E9-8F9473C4CEC0}" type="slidenum">
              <a:rPr lang="LID4096" smtClean="0"/>
              <a:t>54</a:t>
            </a:fld>
            <a:endParaRPr lang="LID4096"/>
          </a:p>
        </p:txBody>
      </p:sp>
    </p:spTree>
    <p:extLst>
      <p:ext uri="{BB962C8B-B14F-4D97-AF65-F5344CB8AC3E}">
        <p14:creationId xmlns:p14="http://schemas.microsoft.com/office/powerpoint/2010/main" val="18824459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2677E-0F1C-44C2-8FE5-75AD777770D4}"/>
              </a:ext>
            </a:extLst>
          </p:cNvPr>
          <p:cNvSpPr>
            <a:spLocks noGrp="1"/>
          </p:cNvSpPr>
          <p:nvPr>
            <p:ph type="title"/>
          </p:nvPr>
        </p:nvSpPr>
        <p:spPr>
          <a:xfrm>
            <a:off x="1141417" y="0"/>
            <a:ext cx="9905998" cy="1478570"/>
          </a:xfrm>
        </p:spPr>
        <p:txBody>
          <a:bodyPr/>
          <a:lstStyle/>
          <a:p>
            <a:pPr algn="ctr"/>
            <a:r>
              <a:rPr lang="en-US" b="1" dirty="0"/>
              <a:t>Data storage region of a hard drive </a:t>
            </a:r>
            <a:endParaRPr lang="LID4096" b="1" dirty="0"/>
          </a:p>
        </p:txBody>
      </p:sp>
      <p:graphicFrame>
        <p:nvGraphicFramePr>
          <p:cNvPr id="4" name="Table 4">
            <a:extLst>
              <a:ext uri="{FF2B5EF4-FFF2-40B4-BE49-F238E27FC236}">
                <a16:creationId xmlns:a16="http://schemas.microsoft.com/office/drawing/2014/main" id="{A7203723-DD41-4156-BED2-6E0B05F43F69}"/>
              </a:ext>
            </a:extLst>
          </p:cNvPr>
          <p:cNvGraphicFramePr>
            <a:graphicFrameLocks noGrp="1"/>
          </p:cNvGraphicFramePr>
          <p:nvPr>
            <p:ph idx="1"/>
            <p:extLst>
              <p:ext uri="{D42A27DB-BD31-4B8C-83A1-F6EECF244321}">
                <p14:modId xmlns:p14="http://schemas.microsoft.com/office/powerpoint/2010/main" val="3680630354"/>
              </p:ext>
            </p:extLst>
          </p:nvPr>
        </p:nvGraphicFramePr>
        <p:xfrm>
          <a:off x="241737" y="1282535"/>
          <a:ext cx="11676994" cy="4655809"/>
        </p:xfrm>
        <a:graphic>
          <a:graphicData uri="http://schemas.openxmlformats.org/drawingml/2006/table">
            <a:tbl>
              <a:tblPr firstRow="1" bandRow="1">
                <a:tableStyleId>{5C22544A-7EE6-4342-B048-85BDC9FD1C3A}</a:tableStyleId>
              </a:tblPr>
              <a:tblGrid>
                <a:gridCol w="1668142">
                  <a:extLst>
                    <a:ext uri="{9D8B030D-6E8A-4147-A177-3AD203B41FA5}">
                      <a16:colId xmlns:a16="http://schemas.microsoft.com/office/drawing/2014/main" val="478518102"/>
                    </a:ext>
                  </a:extLst>
                </a:gridCol>
                <a:gridCol w="1668142">
                  <a:extLst>
                    <a:ext uri="{9D8B030D-6E8A-4147-A177-3AD203B41FA5}">
                      <a16:colId xmlns:a16="http://schemas.microsoft.com/office/drawing/2014/main" val="211892657"/>
                    </a:ext>
                  </a:extLst>
                </a:gridCol>
                <a:gridCol w="1668142">
                  <a:extLst>
                    <a:ext uri="{9D8B030D-6E8A-4147-A177-3AD203B41FA5}">
                      <a16:colId xmlns:a16="http://schemas.microsoft.com/office/drawing/2014/main" val="2982128550"/>
                    </a:ext>
                  </a:extLst>
                </a:gridCol>
                <a:gridCol w="1668142">
                  <a:extLst>
                    <a:ext uri="{9D8B030D-6E8A-4147-A177-3AD203B41FA5}">
                      <a16:colId xmlns:a16="http://schemas.microsoft.com/office/drawing/2014/main" val="202470206"/>
                    </a:ext>
                  </a:extLst>
                </a:gridCol>
                <a:gridCol w="1668142">
                  <a:extLst>
                    <a:ext uri="{9D8B030D-6E8A-4147-A177-3AD203B41FA5}">
                      <a16:colId xmlns:a16="http://schemas.microsoft.com/office/drawing/2014/main" val="28798713"/>
                    </a:ext>
                  </a:extLst>
                </a:gridCol>
                <a:gridCol w="1668142">
                  <a:extLst>
                    <a:ext uri="{9D8B030D-6E8A-4147-A177-3AD203B41FA5}">
                      <a16:colId xmlns:a16="http://schemas.microsoft.com/office/drawing/2014/main" val="4151974951"/>
                    </a:ext>
                  </a:extLst>
                </a:gridCol>
                <a:gridCol w="1668142">
                  <a:extLst>
                    <a:ext uri="{9D8B030D-6E8A-4147-A177-3AD203B41FA5}">
                      <a16:colId xmlns:a16="http://schemas.microsoft.com/office/drawing/2014/main" val="1669313836"/>
                    </a:ext>
                  </a:extLst>
                </a:gridCol>
              </a:tblGrid>
              <a:tr h="409981">
                <a:tc>
                  <a:txBody>
                    <a:bodyPr/>
                    <a:lstStyle/>
                    <a:p>
                      <a:endParaRPr lang="LID4096" dirty="0">
                        <a:solidFill>
                          <a:schemeClr val="tx1"/>
                        </a:solidFill>
                      </a:endParaRPr>
                    </a:p>
                  </a:txBody>
                  <a:tcPr>
                    <a:noFill/>
                  </a:tcPr>
                </a:tc>
                <a:tc>
                  <a:txBody>
                    <a:bodyPr/>
                    <a:lstStyle/>
                    <a:p>
                      <a:r>
                        <a:rPr lang="en-US" dirty="0">
                          <a:solidFill>
                            <a:schemeClr val="tx1"/>
                          </a:solidFill>
                        </a:rPr>
                        <a:t>MBR (63)</a:t>
                      </a:r>
                      <a:endParaRPr lang="LID4096" dirty="0">
                        <a:solidFill>
                          <a:schemeClr val="tx1"/>
                        </a:solidFill>
                      </a:endParaRPr>
                    </a:p>
                  </a:txBody>
                  <a:tcPr>
                    <a:noFill/>
                  </a:tcPr>
                </a:tc>
                <a:tc>
                  <a:txBody>
                    <a:bodyPr/>
                    <a:lstStyle/>
                    <a:p>
                      <a:r>
                        <a:rPr lang="en-US" dirty="0">
                          <a:solidFill>
                            <a:schemeClr val="tx1"/>
                          </a:solidFill>
                        </a:rPr>
                        <a:t>DBR (32)</a:t>
                      </a:r>
                      <a:endParaRPr lang="LID4096" dirty="0">
                        <a:solidFill>
                          <a:schemeClr val="tx1"/>
                        </a:solidFill>
                      </a:endParaRPr>
                    </a:p>
                  </a:txBody>
                  <a:tcPr>
                    <a:noFill/>
                  </a:tcPr>
                </a:tc>
                <a:tc>
                  <a:txBody>
                    <a:bodyPr/>
                    <a:lstStyle/>
                    <a:p>
                      <a:r>
                        <a:rPr lang="en-US" dirty="0">
                          <a:solidFill>
                            <a:schemeClr val="tx1"/>
                          </a:solidFill>
                        </a:rPr>
                        <a:t>FAT1</a:t>
                      </a:r>
                      <a:endParaRPr lang="LID4096" dirty="0">
                        <a:solidFill>
                          <a:schemeClr val="tx1"/>
                        </a:solidFill>
                      </a:endParaRPr>
                    </a:p>
                  </a:txBody>
                  <a:tcPr>
                    <a:noFill/>
                  </a:tcPr>
                </a:tc>
                <a:tc>
                  <a:txBody>
                    <a:bodyPr/>
                    <a:lstStyle/>
                    <a:p>
                      <a:r>
                        <a:rPr lang="en-US" dirty="0">
                          <a:solidFill>
                            <a:schemeClr val="tx1"/>
                          </a:solidFill>
                        </a:rPr>
                        <a:t>FAT2</a:t>
                      </a:r>
                      <a:endParaRPr lang="LID4096" dirty="0">
                        <a:solidFill>
                          <a:schemeClr val="tx1"/>
                        </a:solidFill>
                      </a:endParaRPr>
                    </a:p>
                  </a:txBody>
                  <a:tcPr>
                    <a:noFill/>
                  </a:tcPr>
                </a:tc>
                <a:tc>
                  <a:txBody>
                    <a:bodyPr/>
                    <a:lstStyle/>
                    <a:p>
                      <a:r>
                        <a:rPr lang="en-US" dirty="0">
                          <a:solidFill>
                            <a:schemeClr val="tx1"/>
                          </a:solidFill>
                        </a:rPr>
                        <a:t>DIR(32)</a:t>
                      </a:r>
                      <a:endParaRPr lang="LID4096" dirty="0">
                        <a:solidFill>
                          <a:schemeClr val="tx1"/>
                        </a:solidFill>
                      </a:endParaRPr>
                    </a:p>
                  </a:txBody>
                  <a:tcPr>
                    <a:noFill/>
                  </a:tcPr>
                </a:tc>
                <a:tc>
                  <a:txBody>
                    <a:bodyPr/>
                    <a:lstStyle/>
                    <a:p>
                      <a:r>
                        <a:rPr lang="en-US" dirty="0">
                          <a:solidFill>
                            <a:schemeClr val="tx1"/>
                          </a:solidFill>
                        </a:rPr>
                        <a:t>DATA</a:t>
                      </a:r>
                      <a:endParaRPr lang="LID4096" dirty="0">
                        <a:solidFill>
                          <a:schemeClr val="tx1"/>
                        </a:solidFill>
                      </a:endParaRPr>
                    </a:p>
                  </a:txBody>
                  <a:tcPr>
                    <a:noFill/>
                  </a:tcPr>
                </a:tc>
                <a:extLst>
                  <a:ext uri="{0D108BD9-81ED-4DB2-BD59-A6C34878D82A}">
                    <a16:rowId xmlns:a16="http://schemas.microsoft.com/office/drawing/2014/main" val="2944575363"/>
                  </a:ext>
                </a:extLst>
              </a:tr>
              <a:tr h="707638">
                <a:tc>
                  <a:txBody>
                    <a:bodyPr/>
                    <a:lstStyle/>
                    <a:p>
                      <a:r>
                        <a:rPr lang="en-US" b="1" dirty="0">
                          <a:solidFill>
                            <a:schemeClr val="tx1"/>
                          </a:solidFill>
                        </a:rPr>
                        <a:t>INTIALS</a:t>
                      </a:r>
                      <a:r>
                        <a:rPr lang="en-US" dirty="0">
                          <a:solidFill>
                            <a:schemeClr val="tx1"/>
                          </a:solidFill>
                        </a:rPr>
                        <a:t> </a:t>
                      </a:r>
                      <a:endParaRPr lang="LID4096" dirty="0">
                        <a:solidFill>
                          <a:schemeClr val="tx1"/>
                        </a:solidFill>
                      </a:endParaRPr>
                    </a:p>
                  </a:txBody>
                  <a:tcPr>
                    <a:noFill/>
                  </a:tcPr>
                </a:tc>
                <a:tc>
                  <a:txBody>
                    <a:bodyPr/>
                    <a:lstStyle/>
                    <a:p>
                      <a:r>
                        <a:rPr lang="en-US" dirty="0">
                          <a:solidFill>
                            <a:schemeClr val="tx1"/>
                          </a:solidFill>
                        </a:rPr>
                        <a:t>Master Boot Directory</a:t>
                      </a:r>
                      <a:endParaRPr lang="LID4096" dirty="0">
                        <a:solidFill>
                          <a:schemeClr val="tx1"/>
                        </a:solidFill>
                      </a:endParaRPr>
                    </a:p>
                  </a:txBody>
                  <a:tcPr>
                    <a:noFill/>
                  </a:tcPr>
                </a:tc>
                <a:tc>
                  <a:txBody>
                    <a:bodyPr/>
                    <a:lstStyle/>
                    <a:p>
                      <a:r>
                        <a:rPr lang="en-US" dirty="0">
                          <a:solidFill>
                            <a:schemeClr val="tx1"/>
                          </a:solidFill>
                        </a:rPr>
                        <a:t>Dos Boot Directory</a:t>
                      </a:r>
                      <a:endParaRPr lang="LID4096" dirty="0">
                        <a:solidFill>
                          <a:schemeClr val="tx1"/>
                        </a:solidFill>
                      </a:endParaRPr>
                    </a:p>
                  </a:txBody>
                  <a:tcPr>
                    <a:noFill/>
                  </a:tcPr>
                </a:tc>
                <a:tc>
                  <a:txBody>
                    <a:bodyPr/>
                    <a:lstStyle/>
                    <a:p>
                      <a:r>
                        <a:rPr lang="en-US" dirty="0">
                          <a:solidFill>
                            <a:schemeClr val="tx1"/>
                          </a:solidFill>
                        </a:rPr>
                        <a:t>File Allocation Table 1</a:t>
                      </a:r>
                      <a:endParaRPr lang="LID4096" dirty="0">
                        <a:solidFill>
                          <a:schemeClr val="tx1"/>
                        </a:solidFill>
                      </a:endParaRPr>
                    </a:p>
                  </a:txBody>
                  <a:tcPr>
                    <a:noFill/>
                  </a:tcPr>
                </a:tc>
                <a:tc>
                  <a:txBody>
                    <a:bodyPr/>
                    <a:lstStyle/>
                    <a:p>
                      <a:r>
                        <a:rPr lang="en-US" dirty="0">
                          <a:solidFill>
                            <a:schemeClr val="tx1"/>
                          </a:solidFill>
                        </a:rPr>
                        <a:t>File Allocation Table 2</a:t>
                      </a:r>
                      <a:endParaRPr lang="LID4096" dirty="0">
                        <a:solidFill>
                          <a:schemeClr val="tx1"/>
                        </a:solidFill>
                      </a:endParaRPr>
                    </a:p>
                  </a:txBody>
                  <a:tcPr>
                    <a:noFill/>
                  </a:tcPr>
                </a:tc>
                <a:tc>
                  <a:txBody>
                    <a:bodyPr/>
                    <a:lstStyle/>
                    <a:p>
                      <a:r>
                        <a:rPr lang="en-US" dirty="0">
                          <a:solidFill>
                            <a:schemeClr val="tx1"/>
                          </a:solidFill>
                        </a:rPr>
                        <a:t>Directory</a:t>
                      </a:r>
                      <a:endParaRPr lang="LID4096" dirty="0">
                        <a:solidFill>
                          <a:schemeClr val="tx1"/>
                        </a:solidFill>
                      </a:endParaRPr>
                    </a:p>
                  </a:txBody>
                  <a:tcPr>
                    <a:noFill/>
                  </a:tcPr>
                </a:tc>
                <a:tc>
                  <a:txBody>
                    <a:bodyPr/>
                    <a:lstStyle/>
                    <a:p>
                      <a:r>
                        <a:rPr lang="en-US" dirty="0">
                          <a:solidFill>
                            <a:schemeClr val="tx1"/>
                          </a:solidFill>
                        </a:rPr>
                        <a:t>Data</a:t>
                      </a:r>
                      <a:endParaRPr lang="LID4096" dirty="0">
                        <a:solidFill>
                          <a:schemeClr val="tx1"/>
                        </a:solidFill>
                      </a:endParaRPr>
                    </a:p>
                  </a:txBody>
                  <a:tcPr>
                    <a:noFill/>
                  </a:tcPr>
                </a:tc>
                <a:extLst>
                  <a:ext uri="{0D108BD9-81ED-4DB2-BD59-A6C34878D82A}">
                    <a16:rowId xmlns:a16="http://schemas.microsoft.com/office/drawing/2014/main" val="3465307223"/>
                  </a:ext>
                </a:extLst>
              </a:tr>
              <a:tr h="2224005">
                <a:tc>
                  <a:txBody>
                    <a:bodyPr/>
                    <a:lstStyle/>
                    <a:p>
                      <a:r>
                        <a:rPr lang="en-US" b="1" dirty="0">
                          <a:solidFill>
                            <a:schemeClr val="tx1"/>
                          </a:solidFill>
                        </a:rPr>
                        <a:t>DESCRIPTION</a:t>
                      </a:r>
                      <a:endParaRPr lang="LID4096" b="1" dirty="0">
                        <a:solidFill>
                          <a:schemeClr val="tx1"/>
                        </a:solidFill>
                      </a:endParaRPr>
                    </a:p>
                  </a:txBody>
                  <a:tcPr>
                    <a:noFill/>
                  </a:tcPr>
                </a:tc>
                <a:tc>
                  <a:txBody>
                    <a:bodyPr/>
                    <a:lstStyle/>
                    <a:p>
                      <a:r>
                        <a:rPr lang="en-US" dirty="0">
                          <a:solidFill>
                            <a:schemeClr val="tx1"/>
                          </a:solidFill>
                        </a:rPr>
                        <a:t>Stores partition table and bootloader</a:t>
                      </a:r>
                      <a:endParaRPr lang="LID4096" dirty="0">
                        <a:solidFill>
                          <a:schemeClr val="tx1"/>
                        </a:solidFill>
                      </a:endParaRPr>
                    </a:p>
                  </a:txBody>
                  <a:tcPr>
                    <a:noFill/>
                  </a:tcPr>
                </a:tc>
                <a:tc>
                  <a:txBody>
                    <a:bodyPr/>
                    <a:lstStyle/>
                    <a:p>
                      <a:r>
                        <a:rPr lang="en-US" dirty="0">
                          <a:solidFill>
                            <a:schemeClr val="tx1"/>
                          </a:solidFill>
                        </a:rPr>
                        <a:t>Contains boot code, BIOS Parameter Block (BPB), and FAT structure details</a:t>
                      </a:r>
                      <a:endParaRPr lang="LID4096" dirty="0">
                        <a:solidFill>
                          <a:schemeClr val="tx1"/>
                        </a:solidFill>
                      </a:endParaRPr>
                    </a:p>
                  </a:txBody>
                  <a:tcPr>
                    <a:noFill/>
                  </a:tcPr>
                </a:tc>
                <a:tc>
                  <a:txBody>
                    <a:bodyPr/>
                    <a:lstStyle/>
                    <a:p>
                      <a:r>
                        <a:rPr lang="en-US" dirty="0">
                          <a:solidFill>
                            <a:schemeClr val="tx1"/>
                          </a:solidFill>
                        </a:rPr>
                        <a:t>Maps file allocation and tracks used/unused clusters</a:t>
                      </a:r>
                      <a:endParaRPr lang="LID4096" dirty="0">
                        <a:solidFill>
                          <a:schemeClr val="tx1"/>
                        </a:solidFill>
                      </a:endParaRPr>
                    </a:p>
                  </a:txBody>
                  <a:tcPr>
                    <a:noFill/>
                  </a:tcPr>
                </a:tc>
                <a:tc>
                  <a:txBody>
                    <a:bodyPr/>
                    <a:lstStyle/>
                    <a:p>
                      <a:r>
                        <a:rPr lang="en-US" dirty="0">
                          <a:solidFill>
                            <a:schemeClr val="tx1"/>
                          </a:solidFill>
                        </a:rPr>
                        <a:t>Backup copy of FAT1 for redundancy</a:t>
                      </a:r>
                      <a:endParaRPr lang="LID4096" dirty="0">
                        <a:solidFill>
                          <a:schemeClr val="tx1"/>
                        </a:solidFill>
                      </a:endParaRPr>
                    </a:p>
                  </a:txBody>
                  <a:tcPr>
                    <a:noFill/>
                  </a:tcPr>
                </a:tc>
                <a:tc>
                  <a:txBody>
                    <a:bodyPr/>
                    <a:lstStyle/>
                    <a:p>
                      <a:r>
                        <a:rPr lang="en-GB" dirty="0">
                          <a:solidFill>
                            <a:schemeClr val="tx1"/>
                          </a:solidFill>
                        </a:rPr>
                        <a:t>Stores metadata (filenames, attributes, timestamps) for files and directories</a:t>
                      </a:r>
                      <a:endParaRPr lang="LID4096" dirty="0">
                        <a:solidFill>
                          <a:schemeClr val="tx1"/>
                        </a:solidFill>
                      </a:endParaRPr>
                    </a:p>
                  </a:txBody>
                  <a:tcPr>
                    <a:noFill/>
                  </a:tcPr>
                </a:tc>
                <a:tc>
                  <a:txBody>
                    <a:bodyPr/>
                    <a:lstStyle/>
                    <a:p>
                      <a:r>
                        <a:rPr lang="en-US" dirty="0">
                          <a:solidFill>
                            <a:schemeClr val="tx1"/>
                          </a:solidFill>
                        </a:rPr>
                        <a:t>Holds actual file contents, organized into clusters</a:t>
                      </a:r>
                      <a:endParaRPr lang="LID4096" dirty="0">
                        <a:solidFill>
                          <a:schemeClr val="tx1"/>
                        </a:solidFill>
                      </a:endParaRPr>
                    </a:p>
                  </a:txBody>
                  <a:tcPr>
                    <a:noFill/>
                  </a:tcPr>
                </a:tc>
                <a:extLst>
                  <a:ext uri="{0D108BD9-81ED-4DB2-BD59-A6C34878D82A}">
                    <a16:rowId xmlns:a16="http://schemas.microsoft.com/office/drawing/2014/main" val="3125507275"/>
                  </a:ext>
                </a:extLst>
              </a:tr>
              <a:tr h="1314185">
                <a:tc>
                  <a:txBody>
                    <a:bodyPr/>
                    <a:lstStyle/>
                    <a:p>
                      <a:r>
                        <a:rPr lang="en-US" b="1" dirty="0">
                          <a:solidFill>
                            <a:schemeClr val="tx1"/>
                          </a:solidFill>
                        </a:rPr>
                        <a:t>SIZE</a:t>
                      </a:r>
                      <a:endParaRPr lang="LID4096" b="1" dirty="0">
                        <a:solidFill>
                          <a:schemeClr val="tx1"/>
                        </a:solidFill>
                      </a:endParaRPr>
                    </a:p>
                  </a:txBody>
                  <a:tcPr>
                    <a:noFill/>
                  </a:tcPr>
                </a:tc>
                <a:tc>
                  <a:txBody>
                    <a:bodyPr/>
                    <a:lstStyle/>
                    <a:p>
                      <a:r>
                        <a:rPr lang="en-GB" dirty="0">
                          <a:solidFill>
                            <a:schemeClr val="tx1"/>
                          </a:solidFill>
                        </a:rPr>
                        <a:t>512 bytes</a:t>
                      </a:r>
                      <a:endParaRPr lang="LID4096" dirty="0">
                        <a:solidFill>
                          <a:schemeClr val="tx1"/>
                        </a:solidFill>
                      </a:endParaRPr>
                    </a:p>
                  </a:txBody>
                  <a:tcPr>
                    <a:noFill/>
                  </a:tcPr>
                </a:tc>
                <a:tc>
                  <a:txBody>
                    <a:bodyPr/>
                    <a:lstStyle/>
                    <a:p>
                      <a:r>
                        <a:rPr lang="en-GB" dirty="0">
                          <a:solidFill>
                            <a:schemeClr val="tx1"/>
                          </a:solidFill>
                        </a:rPr>
                        <a:t>512 bytes</a:t>
                      </a:r>
                      <a:endParaRPr lang="LID4096" dirty="0">
                        <a:solidFill>
                          <a:schemeClr val="tx1"/>
                        </a:solidFill>
                      </a:endParaRPr>
                    </a:p>
                  </a:txBody>
                  <a:tcPr>
                    <a:noFill/>
                  </a:tcPr>
                </a:tc>
                <a:tc>
                  <a:txBody>
                    <a:bodyPr/>
                    <a:lstStyle/>
                    <a:p>
                      <a:r>
                        <a:rPr lang="en-GB" dirty="0">
                          <a:solidFill>
                            <a:schemeClr val="tx1"/>
                          </a:solidFill>
                        </a:rPr>
                        <a:t>Varies (depends on partition size)</a:t>
                      </a:r>
                      <a:endParaRPr lang="LID4096" dirty="0">
                        <a:solidFill>
                          <a:schemeClr val="tx1"/>
                        </a:solidFill>
                      </a:endParaRPr>
                    </a:p>
                  </a:txBody>
                  <a:tcPr>
                    <a:noFill/>
                  </a:tcPr>
                </a:tc>
                <a:tc>
                  <a:txBody>
                    <a:bodyPr/>
                    <a:lstStyle/>
                    <a:p>
                      <a:r>
                        <a:rPr lang="en-GB" dirty="0">
                          <a:solidFill>
                            <a:schemeClr val="tx1"/>
                          </a:solidFill>
                        </a:rPr>
                        <a:t>Same as FAT1</a:t>
                      </a:r>
                      <a:endParaRPr lang="LID4096" dirty="0">
                        <a:solidFill>
                          <a:schemeClr val="tx1"/>
                        </a:solidFill>
                      </a:endParaRPr>
                    </a:p>
                  </a:txBody>
                  <a:tcPr>
                    <a:noFill/>
                  </a:tcPr>
                </a:tc>
                <a:tc>
                  <a:txBody>
                    <a:bodyPr/>
                    <a:lstStyle/>
                    <a:p>
                      <a:r>
                        <a:rPr lang="en-US" dirty="0">
                          <a:solidFill>
                            <a:schemeClr val="tx1"/>
                          </a:solidFill>
                        </a:rPr>
                        <a:t>Fixed size in FAT12/16, dynamic in FAT32</a:t>
                      </a:r>
                      <a:endParaRPr lang="LID4096" dirty="0">
                        <a:solidFill>
                          <a:schemeClr val="tx1"/>
                        </a:solidFill>
                      </a:endParaRPr>
                    </a:p>
                  </a:txBody>
                  <a:tcPr>
                    <a:noFill/>
                  </a:tcPr>
                </a:tc>
                <a:tc>
                  <a:txBody>
                    <a:bodyPr/>
                    <a:lstStyle/>
                    <a:p>
                      <a:r>
                        <a:rPr lang="en-US" dirty="0">
                          <a:solidFill>
                            <a:schemeClr val="tx1"/>
                          </a:solidFill>
                        </a:rPr>
                        <a:t>Remaining space on the disk</a:t>
                      </a:r>
                      <a:endParaRPr lang="LID4096" dirty="0">
                        <a:solidFill>
                          <a:schemeClr val="tx1"/>
                        </a:solidFill>
                      </a:endParaRPr>
                    </a:p>
                  </a:txBody>
                  <a:tcPr>
                    <a:noFill/>
                  </a:tcPr>
                </a:tc>
                <a:extLst>
                  <a:ext uri="{0D108BD9-81ED-4DB2-BD59-A6C34878D82A}">
                    <a16:rowId xmlns:a16="http://schemas.microsoft.com/office/drawing/2014/main" val="3795250460"/>
                  </a:ext>
                </a:extLst>
              </a:tr>
            </a:tbl>
          </a:graphicData>
        </a:graphic>
      </p:graphicFrame>
      <p:sp>
        <p:nvSpPr>
          <p:cNvPr id="3" name="Footer Placeholder 2">
            <a:extLst>
              <a:ext uri="{FF2B5EF4-FFF2-40B4-BE49-F238E27FC236}">
                <a16:creationId xmlns:a16="http://schemas.microsoft.com/office/drawing/2014/main" id="{5E88F25D-5072-430E-85B4-004FF486A4DE}"/>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3D38BC93-3004-4A9B-8195-FF6A75AD088C}"/>
              </a:ext>
            </a:extLst>
          </p:cNvPr>
          <p:cNvSpPr>
            <a:spLocks noGrp="1"/>
          </p:cNvSpPr>
          <p:nvPr>
            <p:ph type="sldNum" sz="quarter" idx="12"/>
          </p:nvPr>
        </p:nvSpPr>
        <p:spPr/>
        <p:txBody>
          <a:bodyPr/>
          <a:lstStyle/>
          <a:p>
            <a:fld id="{E153A30B-AAA6-4D3D-89E9-8F9473C4CEC0}" type="slidenum">
              <a:rPr lang="LID4096" smtClean="0"/>
              <a:t>55</a:t>
            </a:fld>
            <a:endParaRPr lang="LID4096"/>
          </a:p>
        </p:txBody>
      </p:sp>
    </p:spTree>
    <p:extLst>
      <p:ext uri="{BB962C8B-B14F-4D97-AF65-F5344CB8AC3E}">
        <p14:creationId xmlns:p14="http://schemas.microsoft.com/office/powerpoint/2010/main" val="19096928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4F546-475F-4556-9ACA-B16B0C548E88}"/>
              </a:ext>
            </a:extLst>
          </p:cNvPr>
          <p:cNvSpPr>
            <a:spLocks noGrp="1"/>
          </p:cNvSpPr>
          <p:nvPr>
            <p:ph type="title"/>
          </p:nvPr>
        </p:nvSpPr>
        <p:spPr/>
        <p:txBody>
          <a:bodyPr/>
          <a:lstStyle/>
          <a:p>
            <a:pPr algn="ctr"/>
            <a:r>
              <a:rPr lang="en-US" b="1" dirty="0"/>
              <a:t>File deletion </a:t>
            </a:r>
            <a:endParaRPr lang="LID4096" b="1" dirty="0"/>
          </a:p>
        </p:txBody>
      </p:sp>
      <p:sp>
        <p:nvSpPr>
          <p:cNvPr id="3" name="Content Placeholder 2">
            <a:extLst>
              <a:ext uri="{FF2B5EF4-FFF2-40B4-BE49-F238E27FC236}">
                <a16:creationId xmlns:a16="http://schemas.microsoft.com/office/drawing/2014/main" id="{EA46FB34-018A-43F7-A82D-4EFFAE0B262D}"/>
              </a:ext>
            </a:extLst>
          </p:cNvPr>
          <p:cNvSpPr>
            <a:spLocks noGrp="1"/>
          </p:cNvSpPr>
          <p:nvPr>
            <p:ph idx="1"/>
          </p:nvPr>
        </p:nvSpPr>
        <p:spPr/>
        <p:txBody>
          <a:bodyPr/>
          <a:lstStyle/>
          <a:p>
            <a:r>
              <a:rPr lang="en-US" dirty="0"/>
              <a:t> When deleting a file, the system only makes a deletion mark on this file’s directory entry, marking clusters it covers in FAT as “empty”; clusters in DATA remains original file’s contents.</a:t>
            </a:r>
          </a:p>
          <a:p>
            <a:r>
              <a:rPr lang="en-US" dirty="0"/>
              <a:t> There is a </a:t>
            </a:r>
            <a:r>
              <a:rPr lang="en-US" b="1" dirty="0"/>
              <a:t>Recycle Bin </a:t>
            </a:r>
            <a:r>
              <a:rPr lang="en-US" dirty="0"/>
              <a:t>in Windows, which automatically establishes a folder "RECYCLED" (under root directory of each disk partition) with hiding attribute to save temporarily deleted files.</a:t>
            </a:r>
          </a:p>
          <a:p>
            <a:endParaRPr lang="LID4096" dirty="0"/>
          </a:p>
        </p:txBody>
      </p:sp>
      <p:sp>
        <p:nvSpPr>
          <p:cNvPr id="4" name="Footer Placeholder 3">
            <a:extLst>
              <a:ext uri="{FF2B5EF4-FFF2-40B4-BE49-F238E27FC236}">
                <a16:creationId xmlns:a16="http://schemas.microsoft.com/office/drawing/2014/main" id="{C1A1D44A-561E-4078-9F14-D179761D6505}"/>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5648CE8E-73C1-41C3-B7C8-D2635F34E98B}"/>
              </a:ext>
            </a:extLst>
          </p:cNvPr>
          <p:cNvSpPr>
            <a:spLocks noGrp="1"/>
          </p:cNvSpPr>
          <p:nvPr>
            <p:ph type="sldNum" sz="quarter" idx="12"/>
          </p:nvPr>
        </p:nvSpPr>
        <p:spPr/>
        <p:txBody>
          <a:bodyPr/>
          <a:lstStyle/>
          <a:p>
            <a:fld id="{E153A30B-AAA6-4D3D-89E9-8F9473C4CEC0}" type="slidenum">
              <a:rPr lang="LID4096" smtClean="0"/>
              <a:t>56</a:t>
            </a:fld>
            <a:endParaRPr lang="LID4096"/>
          </a:p>
        </p:txBody>
      </p:sp>
    </p:spTree>
    <p:extLst>
      <p:ext uri="{BB962C8B-B14F-4D97-AF65-F5344CB8AC3E}">
        <p14:creationId xmlns:p14="http://schemas.microsoft.com/office/powerpoint/2010/main" val="38290967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F6B0E-751F-4BAD-B499-85D7771B16E9}"/>
              </a:ext>
            </a:extLst>
          </p:cNvPr>
          <p:cNvSpPr>
            <a:spLocks noGrp="1"/>
          </p:cNvSpPr>
          <p:nvPr>
            <p:ph type="title"/>
          </p:nvPr>
        </p:nvSpPr>
        <p:spPr/>
        <p:txBody>
          <a:bodyPr/>
          <a:lstStyle/>
          <a:p>
            <a:pPr algn="ctr"/>
            <a:r>
              <a:rPr lang="en-US" b="1" dirty="0"/>
              <a:t>File deletion (continues…)</a:t>
            </a:r>
            <a:endParaRPr lang="LID4096" dirty="0"/>
          </a:p>
        </p:txBody>
      </p:sp>
      <p:sp>
        <p:nvSpPr>
          <p:cNvPr id="3" name="Content Placeholder 2">
            <a:extLst>
              <a:ext uri="{FF2B5EF4-FFF2-40B4-BE49-F238E27FC236}">
                <a16:creationId xmlns:a16="http://schemas.microsoft.com/office/drawing/2014/main" id="{EF907209-701F-474F-882F-1DB0BD0D1DBF}"/>
              </a:ext>
            </a:extLst>
          </p:cNvPr>
          <p:cNvSpPr>
            <a:spLocks noGrp="1"/>
          </p:cNvSpPr>
          <p:nvPr>
            <p:ph idx="1"/>
          </p:nvPr>
        </p:nvSpPr>
        <p:spPr/>
        <p:txBody>
          <a:bodyPr>
            <a:normAutofit fontScale="92500" lnSpcReduction="20000"/>
          </a:bodyPr>
          <a:lstStyle/>
          <a:p>
            <a:pPr marL="457200" indent="-457200">
              <a:buFont typeface="+mj-lt"/>
              <a:buAutoNum type="arabicPeriod"/>
            </a:pPr>
            <a:r>
              <a:rPr lang="en-US" dirty="0"/>
              <a:t> </a:t>
            </a:r>
            <a:r>
              <a:rPr lang="en-US" b="1" dirty="0"/>
              <a:t>Fast Deletion</a:t>
            </a:r>
          </a:p>
          <a:p>
            <a:r>
              <a:rPr lang="en-US" dirty="0"/>
              <a:t> Is just to put them into Recycle Bin. </a:t>
            </a:r>
          </a:p>
          <a:p>
            <a:r>
              <a:rPr lang="en-US" dirty="0"/>
              <a:t>In this situation, the data can be recovered.</a:t>
            </a:r>
          </a:p>
          <a:p>
            <a:pPr marL="0" indent="0">
              <a:buNone/>
            </a:pPr>
            <a:endParaRPr lang="en-US" dirty="0"/>
          </a:p>
          <a:p>
            <a:pPr marL="457200" indent="-457200">
              <a:buAutoNum type="arabicPeriod" startAt="2"/>
            </a:pPr>
            <a:r>
              <a:rPr lang="en-US" dirty="0"/>
              <a:t> </a:t>
            </a:r>
            <a:r>
              <a:rPr lang="en-US" b="1" dirty="0"/>
              <a:t>Complete Deletion </a:t>
            </a:r>
          </a:p>
          <a:p>
            <a:r>
              <a:rPr lang="en-US" dirty="0"/>
              <a:t> Refers to the process of permanently removing a file from a storage device, where the data is completely overwritten, making it virtually impossible to recover using standard data recovery tools.</a:t>
            </a:r>
          </a:p>
        </p:txBody>
      </p:sp>
      <p:sp>
        <p:nvSpPr>
          <p:cNvPr id="4" name="Footer Placeholder 3">
            <a:extLst>
              <a:ext uri="{FF2B5EF4-FFF2-40B4-BE49-F238E27FC236}">
                <a16:creationId xmlns:a16="http://schemas.microsoft.com/office/drawing/2014/main" id="{D39596A5-EF4F-433B-87E8-1D3E81474198}"/>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5DA98EDC-B7FB-4225-82D2-EAFF582B440A}"/>
              </a:ext>
            </a:extLst>
          </p:cNvPr>
          <p:cNvSpPr>
            <a:spLocks noGrp="1"/>
          </p:cNvSpPr>
          <p:nvPr>
            <p:ph type="sldNum" sz="quarter" idx="12"/>
          </p:nvPr>
        </p:nvSpPr>
        <p:spPr/>
        <p:txBody>
          <a:bodyPr/>
          <a:lstStyle/>
          <a:p>
            <a:fld id="{E153A30B-AAA6-4D3D-89E9-8F9473C4CEC0}" type="slidenum">
              <a:rPr lang="LID4096" smtClean="0"/>
              <a:t>57</a:t>
            </a:fld>
            <a:endParaRPr lang="LID4096"/>
          </a:p>
        </p:txBody>
      </p:sp>
    </p:spTree>
    <p:extLst>
      <p:ext uri="{BB962C8B-B14F-4D97-AF65-F5344CB8AC3E}">
        <p14:creationId xmlns:p14="http://schemas.microsoft.com/office/powerpoint/2010/main" val="41793006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E833D-8097-4BE5-81C3-5D6A5945B90A}"/>
              </a:ext>
            </a:extLst>
          </p:cNvPr>
          <p:cNvSpPr>
            <a:spLocks noGrp="1"/>
          </p:cNvSpPr>
          <p:nvPr>
            <p:ph type="title"/>
          </p:nvPr>
        </p:nvSpPr>
        <p:spPr/>
        <p:txBody>
          <a:bodyPr/>
          <a:lstStyle/>
          <a:p>
            <a:pPr algn="ctr"/>
            <a:r>
              <a:rPr lang="en-US" b="1" dirty="0"/>
              <a:t>HIGH LEVEL Formatting </a:t>
            </a:r>
            <a:endParaRPr lang="LID4096" b="1" dirty="0"/>
          </a:p>
        </p:txBody>
      </p:sp>
      <p:sp>
        <p:nvSpPr>
          <p:cNvPr id="4" name="Text Placeholder 3">
            <a:extLst>
              <a:ext uri="{FF2B5EF4-FFF2-40B4-BE49-F238E27FC236}">
                <a16:creationId xmlns:a16="http://schemas.microsoft.com/office/drawing/2014/main" id="{DC538A45-A621-4141-ACF9-A4FFA98848A2}"/>
              </a:ext>
            </a:extLst>
          </p:cNvPr>
          <p:cNvSpPr>
            <a:spLocks noGrp="1"/>
          </p:cNvSpPr>
          <p:nvPr>
            <p:ph type="body" idx="1"/>
          </p:nvPr>
        </p:nvSpPr>
        <p:spPr/>
        <p:txBody>
          <a:bodyPr/>
          <a:lstStyle/>
          <a:p>
            <a:pPr algn="ctr"/>
            <a:r>
              <a:rPr lang="en-US" b="1" dirty="0"/>
              <a:t>Fast high level formatting</a:t>
            </a:r>
            <a:endParaRPr lang="LID4096" b="1" dirty="0"/>
          </a:p>
        </p:txBody>
      </p:sp>
      <p:pic>
        <p:nvPicPr>
          <p:cNvPr id="9" name="Content Placeholder 8">
            <a:extLst>
              <a:ext uri="{FF2B5EF4-FFF2-40B4-BE49-F238E27FC236}">
                <a16:creationId xmlns:a16="http://schemas.microsoft.com/office/drawing/2014/main" id="{A8E9C707-9FA0-41BF-B706-88AE097C21D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797367" y="3073400"/>
            <a:ext cx="1566479" cy="2717800"/>
          </a:xfrm>
        </p:spPr>
      </p:pic>
      <p:sp>
        <p:nvSpPr>
          <p:cNvPr id="6" name="Text Placeholder 5">
            <a:extLst>
              <a:ext uri="{FF2B5EF4-FFF2-40B4-BE49-F238E27FC236}">
                <a16:creationId xmlns:a16="http://schemas.microsoft.com/office/drawing/2014/main" id="{8E2DA514-9098-4776-8A5B-CF26C53E6634}"/>
              </a:ext>
            </a:extLst>
          </p:cNvPr>
          <p:cNvSpPr>
            <a:spLocks noGrp="1"/>
          </p:cNvSpPr>
          <p:nvPr>
            <p:ph type="body" sz="quarter" idx="3"/>
          </p:nvPr>
        </p:nvSpPr>
        <p:spPr/>
        <p:txBody>
          <a:bodyPr/>
          <a:lstStyle/>
          <a:p>
            <a:pPr algn="ctr"/>
            <a:r>
              <a:rPr lang="en-US" b="1" dirty="0"/>
              <a:t>Complete high level formatting </a:t>
            </a:r>
            <a:endParaRPr lang="LID4096" b="1" dirty="0"/>
          </a:p>
        </p:txBody>
      </p:sp>
      <p:pic>
        <p:nvPicPr>
          <p:cNvPr id="11" name="Content Placeholder 10">
            <a:extLst>
              <a:ext uri="{FF2B5EF4-FFF2-40B4-BE49-F238E27FC236}">
                <a16:creationId xmlns:a16="http://schemas.microsoft.com/office/drawing/2014/main" id="{6BF93F3E-A2ED-4BF6-AB3E-2DC9E46AA2EE}"/>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7934860" y="3073397"/>
            <a:ext cx="1578497" cy="2717800"/>
          </a:xfrm>
        </p:spPr>
      </p:pic>
      <p:sp>
        <p:nvSpPr>
          <p:cNvPr id="3" name="Footer Placeholder 2">
            <a:extLst>
              <a:ext uri="{FF2B5EF4-FFF2-40B4-BE49-F238E27FC236}">
                <a16:creationId xmlns:a16="http://schemas.microsoft.com/office/drawing/2014/main" id="{376017A3-92A1-44E3-8DB1-4ADA2E5C6F62}"/>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A14366C0-91DC-4F83-BDFC-C04F4A041A78}"/>
              </a:ext>
            </a:extLst>
          </p:cNvPr>
          <p:cNvSpPr>
            <a:spLocks noGrp="1"/>
          </p:cNvSpPr>
          <p:nvPr>
            <p:ph type="sldNum" sz="quarter" idx="12"/>
          </p:nvPr>
        </p:nvSpPr>
        <p:spPr/>
        <p:txBody>
          <a:bodyPr/>
          <a:lstStyle/>
          <a:p>
            <a:fld id="{E153A30B-AAA6-4D3D-89E9-8F9473C4CEC0}" type="slidenum">
              <a:rPr lang="LID4096" smtClean="0"/>
              <a:t>58</a:t>
            </a:fld>
            <a:endParaRPr lang="LID4096"/>
          </a:p>
        </p:txBody>
      </p:sp>
    </p:spTree>
    <p:extLst>
      <p:ext uri="{BB962C8B-B14F-4D97-AF65-F5344CB8AC3E}">
        <p14:creationId xmlns:p14="http://schemas.microsoft.com/office/powerpoint/2010/main" val="6641712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39E6E36-05CF-4950-AEFF-F564DD71389A}"/>
              </a:ext>
            </a:extLst>
          </p:cNvPr>
          <p:cNvSpPr>
            <a:spLocks noGrp="1"/>
          </p:cNvSpPr>
          <p:nvPr>
            <p:ph type="title"/>
          </p:nvPr>
        </p:nvSpPr>
        <p:spPr/>
        <p:txBody>
          <a:bodyPr/>
          <a:lstStyle/>
          <a:p>
            <a:pPr algn="ctr"/>
            <a:r>
              <a:rPr lang="en-US" b="1" dirty="0"/>
              <a:t>FAT VS. NTFS</a:t>
            </a:r>
            <a:endParaRPr lang="LID4096" b="1" dirty="0"/>
          </a:p>
        </p:txBody>
      </p:sp>
      <p:graphicFrame>
        <p:nvGraphicFramePr>
          <p:cNvPr id="9" name="Table 9">
            <a:extLst>
              <a:ext uri="{FF2B5EF4-FFF2-40B4-BE49-F238E27FC236}">
                <a16:creationId xmlns:a16="http://schemas.microsoft.com/office/drawing/2014/main" id="{56374C60-93EF-451A-AFC0-5CBC70CFC0B3}"/>
              </a:ext>
            </a:extLst>
          </p:cNvPr>
          <p:cNvGraphicFramePr>
            <a:graphicFrameLocks noGrp="1"/>
          </p:cNvGraphicFramePr>
          <p:nvPr>
            <p:ph idx="1"/>
            <p:extLst>
              <p:ext uri="{D42A27DB-BD31-4B8C-83A1-F6EECF244321}">
                <p14:modId xmlns:p14="http://schemas.microsoft.com/office/powerpoint/2010/main" val="3432800967"/>
              </p:ext>
            </p:extLst>
          </p:nvPr>
        </p:nvGraphicFramePr>
        <p:xfrm>
          <a:off x="1141413" y="2249488"/>
          <a:ext cx="9906000" cy="3672840"/>
        </p:xfrm>
        <a:graphic>
          <a:graphicData uri="http://schemas.openxmlformats.org/drawingml/2006/table">
            <a:tbl>
              <a:tblPr firstRow="1" bandRow="1">
                <a:tableStyleId>{5C22544A-7EE6-4342-B048-85BDC9FD1C3A}</a:tableStyleId>
              </a:tblPr>
              <a:tblGrid>
                <a:gridCol w="2369042">
                  <a:extLst>
                    <a:ext uri="{9D8B030D-6E8A-4147-A177-3AD203B41FA5}">
                      <a16:colId xmlns:a16="http://schemas.microsoft.com/office/drawing/2014/main" val="2455967869"/>
                    </a:ext>
                  </a:extLst>
                </a:gridCol>
                <a:gridCol w="3699642">
                  <a:extLst>
                    <a:ext uri="{9D8B030D-6E8A-4147-A177-3AD203B41FA5}">
                      <a16:colId xmlns:a16="http://schemas.microsoft.com/office/drawing/2014/main" val="3095790392"/>
                    </a:ext>
                  </a:extLst>
                </a:gridCol>
                <a:gridCol w="3837316">
                  <a:extLst>
                    <a:ext uri="{9D8B030D-6E8A-4147-A177-3AD203B41FA5}">
                      <a16:colId xmlns:a16="http://schemas.microsoft.com/office/drawing/2014/main" val="1078448245"/>
                    </a:ext>
                  </a:extLst>
                </a:gridCol>
              </a:tblGrid>
              <a:tr h="370840">
                <a:tc>
                  <a:txBody>
                    <a:bodyPr/>
                    <a:lstStyle/>
                    <a:p>
                      <a:endParaRPr lang="LID4096" dirty="0">
                        <a:solidFill>
                          <a:schemeClr val="tx1"/>
                        </a:solidFill>
                      </a:endParaRPr>
                    </a:p>
                  </a:txBody>
                  <a:tcPr>
                    <a:noFill/>
                  </a:tcPr>
                </a:tc>
                <a:tc>
                  <a:txBody>
                    <a:bodyPr/>
                    <a:lstStyle/>
                    <a:p>
                      <a:r>
                        <a:rPr lang="en-US" dirty="0">
                          <a:solidFill>
                            <a:schemeClr val="tx1"/>
                          </a:solidFill>
                        </a:rPr>
                        <a:t>File Allocation Table (FAT)</a:t>
                      </a:r>
                      <a:endParaRPr lang="LID4096" dirty="0">
                        <a:solidFill>
                          <a:schemeClr val="tx1"/>
                        </a:solidFill>
                      </a:endParaRPr>
                    </a:p>
                  </a:txBody>
                  <a:tcPr>
                    <a:noFill/>
                  </a:tcPr>
                </a:tc>
                <a:tc>
                  <a:txBody>
                    <a:bodyPr/>
                    <a:lstStyle/>
                    <a:p>
                      <a:r>
                        <a:rPr lang="en-US" dirty="0">
                          <a:solidFill>
                            <a:schemeClr val="tx1"/>
                          </a:solidFill>
                        </a:rPr>
                        <a:t>New Technology File System (NTFS)</a:t>
                      </a:r>
                      <a:endParaRPr lang="LID4096" dirty="0">
                        <a:solidFill>
                          <a:schemeClr val="tx1"/>
                        </a:solidFill>
                      </a:endParaRPr>
                    </a:p>
                  </a:txBody>
                  <a:tcPr>
                    <a:noFill/>
                  </a:tcPr>
                </a:tc>
                <a:extLst>
                  <a:ext uri="{0D108BD9-81ED-4DB2-BD59-A6C34878D82A}">
                    <a16:rowId xmlns:a16="http://schemas.microsoft.com/office/drawing/2014/main" val="1965013463"/>
                  </a:ext>
                </a:extLst>
              </a:tr>
              <a:tr h="370840">
                <a:tc>
                  <a:txBody>
                    <a:bodyPr/>
                    <a:lstStyle/>
                    <a:p>
                      <a:r>
                        <a:rPr lang="en-GB" b="1" dirty="0">
                          <a:solidFill>
                            <a:schemeClr val="tx1"/>
                          </a:solidFill>
                        </a:rPr>
                        <a:t>Developed By</a:t>
                      </a:r>
                      <a:endParaRPr lang="LID4096" b="1" dirty="0">
                        <a:solidFill>
                          <a:schemeClr val="tx1"/>
                        </a:solidFill>
                      </a:endParaRPr>
                    </a:p>
                  </a:txBody>
                  <a:tcPr>
                    <a:noFill/>
                  </a:tcPr>
                </a:tc>
                <a:tc>
                  <a:txBody>
                    <a:bodyPr/>
                    <a:lstStyle/>
                    <a:p>
                      <a:r>
                        <a:rPr lang="en-GB" dirty="0">
                          <a:solidFill>
                            <a:schemeClr val="tx1"/>
                          </a:solidFill>
                        </a:rPr>
                        <a:t>Microsoft (1977)</a:t>
                      </a:r>
                      <a:endParaRPr lang="LID4096" dirty="0">
                        <a:solidFill>
                          <a:schemeClr val="tx1"/>
                        </a:solidFill>
                      </a:endParaRPr>
                    </a:p>
                  </a:txBody>
                  <a:tcPr>
                    <a:noFill/>
                  </a:tcPr>
                </a:tc>
                <a:tc>
                  <a:txBody>
                    <a:bodyPr/>
                    <a:lstStyle/>
                    <a:p>
                      <a:r>
                        <a:rPr lang="en-GB" dirty="0">
                          <a:solidFill>
                            <a:schemeClr val="tx1"/>
                          </a:solidFill>
                        </a:rPr>
                        <a:t>Microsoft (1993)</a:t>
                      </a:r>
                      <a:endParaRPr lang="LID4096" dirty="0">
                        <a:solidFill>
                          <a:schemeClr val="tx1"/>
                        </a:solidFill>
                      </a:endParaRPr>
                    </a:p>
                  </a:txBody>
                  <a:tcPr>
                    <a:noFill/>
                  </a:tcPr>
                </a:tc>
                <a:extLst>
                  <a:ext uri="{0D108BD9-81ED-4DB2-BD59-A6C34878D82A}">
                    <a16:rowId xmlns:a16="http://schemas.microsoft.com/office/drawing/2014/main" val="530360562"/>
                  </a:ext>
                </a:extLst>
              </a:tr>
              <a:tr h="370840">
                <a:tc>
                  <a:txBody>
                    <a:bodyPr/>
                    <a:lstStyle/>
                    <a:p>
                      <a:r>
                        <a:rPr lang="en-GB" b="1" dirty="0">
                          <a:solidFill>
                            <a:schemeClr val="tx1"/>
                          </a:solidFill>
                        </a:rPr>
                        <a:t>Maximum File Size</a:t>
                      </a:r>
                      <a:endParaRPr lang="LID4096" b="1" dirty="0">
                        <a:solidFill>
                          <a:schemeClr val="tx1"/>
                        </a:solidFill>
                      </a:endParaRPr>
                    </a:p>
                  </a:txBody>
                  <a:tcPr>
                    <a:noFill/>
                  </a:tcPr>
                </a:tc>
                <a:tc>
                  <a:txBody>
                    <a:bodyPr/>
                    <a:lstStyle/>
                    <a:p>
                      <a:r>
                        <a:rPr lang="en-GB" dirty="0">
                          <a:solidFill>
                            <a:schemeClr val="tx1"/>
                          </a:solidFill>
                        </a:rPr>
                        <a:t>4GB (FAT32), 2GB (FAT16)</a:t>
                      </a:r>
                      <a:endParaRPr lang="LID4096" dirty="0">
                        <a:solidFill>
                          <a:schemeClr val="tx1"/>
                        </a:solidFill>
                      </a:endParaRPr>
                    </a:p>
                  </a:txBody>
                  <a:tcPr>
                    <a:noFill/>
                  </a:tcPr>
                </a:tc>
                <a:tc>
                  <a:txBody>
                    <a:bodyPr/>
                    <a:lstStyle/>
                    <a:p>
                      <a:r>
                        <a:rPr lang="en-US" dirty="0">
                          <a:solidFill>
                            <a:schemeClr val="tx1"/>
                          </a:solidFill>
                        </a:rPr>
                        <a:t>16TB (with default cluster size) or 256TB</a:t>
                      </a:r>
                      <a:endParaRPr lang="LID4096" dirty="0">
                        <a:solidFill>
                          <a:schemeClr val="tx1"/>
                        </a:solidFill>
                      </a:endParaRPr>
                    </a:p>
                  </a:txBody>
                  <a:tcPr>
                    <a:noFill/>
                  </a:tcPr>
                </a:tc>
                <a:extLst>
                  <a:ext uri="{0D108BD9-81ED-4DB2-BD59-A6C34878D82A}">
                    <a16:rowId xmlns:a16="http://schemas.microsoft.com/office/drawing/2014/main" val="3164432905"/>
                  </a:ext>
                </a:extLst>
              </a:tr>
              <a:tr h="370840">
                <a:tc>
                  <a:txBody>
                    <a:bodyPr/>
                    <a:lstStyle/>
                    <a:p>
                      <a:r>
                        <a:rPr lang="en-GB" b="1" dirty="0">
                          <a:solidFill>
                            <a:schemeClr val="tx1"/>
                          </a:solidFill>
                        </a:rPr>
                        <a:t>Maximum Volume Size</a:t>
                      </a:r>
                      <a:endParaRPr lang="LID4096" b="1" dirty="0">
                        <a:solidFill>
                          <a:schemeClr val="tx1"/>
                        </a:solidFill>
                      </a:endParaRPr>
                    </a:p>
                  </a:txBody>
                  <a:tcPr>
                    <a:noFill/>
                  </a:tcPr>
                </a:tc>
                <a:tc>
                  <a:txBody>
                    <a:bodyPr/>
                    <a:lstStyle/>
                    <a:p>
                      <a:r>
                        <a:rPr lang="en-GB" dirty="0">
                          <a:solidFill>
                            <a:schemeClr val="tx1"/>
                          </a:solidFill>
                        </a:rPr>
                        <a:t>2TB (FAT32), 4GB (FAT16)</a:t>
                      </a:r>
                      <a:endParaRPr lang="LID4096" dirty="0">
                        <a:solidFill>
                          <a:schemeClr val="tx1"/>
                        </a:solidFill>
                      </a:endParaRPr>
                    </a:p>
                  </a:txBody>
                  <a:tcPr>
                    <a:noFill/>
                  </a:tcPr>
                </a:tc>
                <a:tc>
                  <a:txBody>
                    <a:bodyPr/>
                    <a:lstStyle/>
                    <a:p>
                      <a:r>
                        <a:rPr lang="en-GB" dirty="0">
                          <a:solidFill>
                            <a:schemeClr val="tx1"/>
                          </a:solidFill>
                        </a:rPr>
                        <a:t>8PB (Petabytes) or 256TB</a:t>
                      </a:r>
                      <a:endParaRPr lang="LID4096" dirty="0">
                        <a:solidFill>
                          <a:schemeClr val="tx1"/>
                        </a:solidFill>
                      </a:endParaRPr>
                    </a:p>
                  </a:txBody>
                  <a:tcPr>
                    <a:noFill/>
                  </a:tcPr>
                </a:tc>
                <a:extLst>
                  <a:ext uri="{0D108BD9-81ED-4DB2-BD59-A6C34878D82A}">
                    <a16:rowId xmlns:a16="http://schemas.microsoft.com/office/drawing/2014/main" val="1842779671"/>
                  </a:ext>
                </a:extLst>
              </a:tr>
              <a:tr h="370840">
                <a:tc>
                  <a:txBody>
                    <a:bodyPr/>
                    <a:lstStyle/>
                    <a:p>
                      <a:r>
                        <a:rPr lang="en-GB" b="1" dirty="0">
                          <a:solidFill>
                            <a:schemeClr val="tx1"/>
                          </a:solidFill>
                        </a:rPr>
                        <a:t>Security Features</a:t>
                      </a:r>
                      <a:endParaRPr lang="LID4096" b="1" dirty="0">
                        <a:solidFill>
                          <a:schemeClr val="tx1"/>
                        </a:solidFill>
                      </a:endParaRPr>
                    </a:p>
                  </a:txBody>
                  <a:tcPr>
                    <a:noFill/>
                  </a:tcPr>
                </a:tc>
                <a:tc>
                  <a:txBody>
                    <a:bodyPr/>
                    <a:lstStyle/>
                    <a:p>
                      <a:r>
                        <a:rPr lang="en-GB" dirty="0">
                          <a:solidFill>
                            <a:schemeClr val="tx1"/>
                          </a:solidFill>
                        </a:rPr>
                        <a:t>None (Basic file attributes)</a:t>
                      </a:r>
                      <a:endParaRPr lang="LID4096" dirty="0">
                        <a:solidFill>
                          <a:schemeClr val="tx1"/>
                        </a:solidFill>
                      </a:endParaRPr>
                    </a:p>
                  </a:txBody>
                  <a:tcPr>
                    <a:noFill/>
                  </a:tcPr>
                </a:tc>
                <a:tc>
                  <a:txBody>
                    <a:bodyPr/>
                    <a:lstStyle/>
                    <a:p>
                      <a:r>
                        <a:rPr lang="en-US" dirty="0">
                          <a:solidFill>
                            <a:schemeClr val="tx1"/>
                          </a:solidFill>
                        </a:rPr>
                        <a:t>Supports file encryption and access control (ACLs)</a:t>
                      </a:r>
                      <a:endParaRPr lang="LID4096" dirty="0">
                        <a:solidFill>
                          <a:schemeClr val="tx1"/>
                        </a:solidFill>
                      </a:endParaRPr>
                    </a:p>
                  </a:txBody>
                  <a:tcPr>
                    <a:noFill/>
                  </a:tcPr>
                </a:tc>
                <a:extLst>
                  <a:ext uri="{0D108BD9-81ED-4DB2-BD59-A6C34878D82A}">
                    <a16:rowId xmlns:a16="http://schemas.microsoft.com/office/drawing/2014/main" val="1569226361"/>
                  </a:ext>
                </a:extLst>
              </a:tr>
              <a:tr h="370840">
                <a:tc>
                  <a:txBody>
                    <a:bodyPr/>
                    <a:lstStyle/>
                    <a:p>
                      <a:r>
                        <a:rPr lang="en-GB" b="1" dirty="0">
                          <a:solidFill>
                            <a:schemeClr val="tx1"/>
                          </a:solidFill>
                        </a:rPr>
                        <a:t>Performance</a:t>
                      </a:r>
                      <a:endParaRPr lang="LID4096" b="1" dirty="0">
                        <a:solidFill>
                          <a:schemeClr val="tx1"/>
                        </a:solidFill>
                      </a:endParaRPr>
                    </a:p>
                  </a:txBody>
                  <a:tcPr>
                    <a:noFill/>
                  </a:tcPr>
                </a:tc>
                <a:tc>
                  <a:txBody>
                    <a:bodyPr/>
                    <a:lstStyle/>
                    <a:p>
                      <a:r>
                        <a:rPr lang="en-GB" dirty="0">
                          <a:solidFill>
                            <a:schemeClr val="tx1"/>
                          </a:solidFill>
                        </a:rPr>
                        <a:t>Slower for large files</a:t>
                      </a:r>
                      <a:endParaRPr lang="LID4096" dirty="0">
                        <a:solidFill>
                          <a:schemeClr val="tx1"/>
                        </a:solidFill>
                      </a:endParaRPr>
                    </a:p>
                  </a:txBody>
                  <a:tcPr>
                    <a:noFill/>
                  </a:tcPr>
                </a:tc>
                <a:tc>
                  <a:txBody>
                    <a:bodyPr/>
                    <a:lstStyle/>
                    <a:p>
                      <a:r>
                        <a:rPr lang="en-US" dirty="0">
                          <a:solidFill>
                            <a:schemeClr val="tx1"/>
                          </a:solidFill>
                        </a:rPr>
                        <a:t>Faster due to file compression and indexing</a:t>
                      </a:r>
                      <a:endParaRPr lang="LID4096" dirty="0">
                        <a:solidFill>
                          <a:schemeClr val="tx1"/>
                        </a:solidFill>
                      </a:endParaRPr>
                    </a:p>
                  </a:txBody>
                  <a:tcPr>
                    <a:noFill/>
                  </a:tcPr>
                </a:tc>
                <a:extLst>
                  <a:ext uri="{0D108BD9-81ED-4DB2-BD59-A6C34878D82A}">
                    <a16:rowId xmlns:a16="http://schemas.microsoft.com/office/drawing/2014/main" val="360706952"/>
                  </a:ext>
                </a:extLst>
              </a:tr>
              <a:tr h="370840">
                <a:tc>
                  <a:txBody>
                    <a:bodyPr/>
                    <a:lstStyle/>
                    <a:p>
                      <a:r>
                        <a:rPr lang="en-GB" b="1" dirty="0">
                          <a:solidFill>
                            <a:schemeClr val="tx1"/>
                          </a:solidFill>
                        </a:rPr>
                        <a:t>Used in</a:t>
                      </a:r>
                      <a:endParaRPr lang="LID4096" b="1" dirty="0">
                        <a:solidFill>
                          <a:schemeClr val="tx1"/>
                        </a:solidFill>
                      </a:endParaRPr>
                    </a:p>
                  </a:txBody>
                  <a:tcPr>
                    <a:noFill/>
                  </a:tcPr>
                </a:tc>
                <a:tc>
                  <a:txBody>
                    <a:bodyPr/>
                    <a:lstStyle/>
                    <a:p>
                      <a:r>
                        <a:rPr lang="en-US" dirty="0">
                          <a:solidFill>
                            <a:schemeClr val="tx1"/>
                          </a:solidFill>
                        </a:rPr>
                        <a:t>USB drives, memory cards, older systems</a:t>
                      </a:r>
                      <a:endParaRPr lang="LID4096" dirty="0">
                        <a:solidFill>
                          <a:schemeClr val="tx1"/>
                        </a:solidFill>
                      </a:endParaRPr>
                    </a:p>
                  </a:txBody>
                  <a:tcPr>
                    <a:noFill/>
                  </a:tcPr>
                </a:tc>
                <a:tc>
                  <a:txBody>
                    <a:bodyPr/>
                    <a:lstStyle/>
                    <a:p>
                      <a:r>
                        <a:rPr lang="en-GB" dirty="0">
                          <a:solidFill>
                            <a:schemeClr val="tx1"/>
                          </a:solidFill>
                        </a:rPr>
                        <a:t>Modern Windows systems, SSDs, enterprise storage</a:t>
                      </a:r>
                      <a:endParaRPr lang="LID4096" dirty="0">
                        <a:solidFill>
                          <a:schemeClr val="tx1"/>
                        </a:solidFill>
                      </a:endParaRPr>
                    </a:p>
                  </a:txBody>
                  <a:tcPr>
                    <a:noFill/>
                  </a:tcPr>
                </a:tc>
                <a:extLst>
                  <a:ext uri="{0D108BD9-81ED-4DB2-BD59-A6C34878D82A}">
                    <a16:rowId xmlns:a16="http://schemas.microsoft.com/office/drawing/2014/main" val="1379364389"/>
                  </a:ext>
                </a:extLst>
              </a:tr>
            </a:tbl>
          </a:graphicData>
        </a:graphic>
      </p:graphicFrame>
      <p:sp>
        <p:nvSpPr>
          <p:cNvPr id="2" name="Footer Placeholder 1">
            <a:extLst>
              <a:ext uri="{FF2B5EF4-FFF2-40B4-BE49-F238E27FC236}">
                <a16:creationId xmlns:a16="http://schemas.microsoft.com/office/drawing/2014/main" id="{1619B59B-F495-4F60-9096-4D70881F6D1F}"/>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3" name="Slide Number Placeholder 2">
            <a:extLst>
              <a:ext uri="{FF2B5EF4-FFF2-40B4-BE49-F238E27FC236}">
                <a16:creationId xmlns:a16="http://schemas.microsoft.com/office/drawing/2014/main" id="{94A46191-18DD-4C5A-ABED-BA1FAD279774}"/>
              </a:ext>
            </a:extLst>
          </p:cNvPr>
          <p:cNvSpPr>
            <a:spLocks noGrp="1"/>
          </p:cNvSpPr>
          <p:nvPr>
            <p:ph type="sldNum" sz="quarter" idx="12"/>
          </p:nvPr>
        </p:nvSpPr>
        <p:spPr/>
        <p:txBody>
          <a:bodyPr/>
          <a:lstStyle/>
          <a:p>
            <a:fld id="{E153A30B-AAA6-4D3D-89E9-8F9473C4CEC0}" type="slidenum">
              <a:rPr lang="LID4096" smtClean="0"/>
              <a:t>59</a:t>
            </a:fld>
            <a:endParaRPr lang="LID4096"/>
          </a:p>
        </p:txBody>
      </p:sp>
    </p:spTree>
    <p:extLst>
      <p:ext uri="{BB962C8B-B14F-4D97-AF65-F5344CB8AC3E}">
        <p14:creationId xmlns:p14="http://schemas.microsoft.com/office/powerpoint/2010/main" val="32336097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93C33-1029-45FB-982B-663823AD6E04}"/>
              </a:ext>
            </a:extLst>
          </p:cNvPr>
          <p:cNvSpPr>
            <a:spLocks noGrp="1"/>
          </p:cNvSpPr>
          <p:nvPr>
            <p:ph type="title"/>
          </p:nvPr>
        </p:nvSpPr>
        <p:spPr/>
        <p:txBody>
          <a:bodyPr/>
          <a:lstStyle/>
          <a:p>
            <a:pPr algn="ctr"/>
            <a:r>
              <a:rPr lang="en-US" b="1" dirty="0"/>
              <a:t>Deletion techniques </a:t>
            </a:r>
            <a:endParaRPr lang="LID4096" b="1" dirty="0"/>
          </a:p>
        </p:txBody>
      </p:sp>
      <p:sp>
        <p:nvSpPr>
          <p:cNvPr id="3" name="Content Placeholder 2">
            <a:extLst>
              <a:ext uri="{FF2B5EF4-FFF2-40B4-BE49-F238E27FC236}">
                <a16:creationId xmlns:a16="http://schemas.microsoft.com/office/drawing/2014/main" id="{D560D591-1854-4496-92D8-47E4A765F369}"/>
              </a:ext>
            </a:extLst>
          </p:cNvPr>
          <p:cNvSpPr>
            <a:spLocks noGrp="1"/>
          </p:cNvSpPr>
          <p:nvPr>
            <p:ph idx="1"/>
          </p:nvPr>
        </p:nvSpPr>
        <p:spPr/>
        <p:txBody>
          <a:bodyPr/>
          <a:lstStyle/>
          <a:p>
            <a:pPr marL="457200" indent="-457200">
              <a:buFont typeface="+mj-lt"/>
              <a:buAutoNum type="arabicPeriod"/>
            </a:pPr>
            <a:r>
              <a:rPr lang="en-US" dirty="0"/>
              <a:t> </a:t>
            </a:r>
            <a:r>
              <a:rPr lang="en-US" b="1" dirty="0"/>
              <a:t>Multiple Overwrites</a:t>
            </a:r>
          </a:p>
          <a:p>
            <a:pPr marL="457200" indent="-457200">
              <a:buFont typeface="+mj-lt"/>
              <a:buAutoNum type="arabicPeriod"/>
            </a:pPr>
            <a:r>
              <a:rPr lang="en-US" dirty="0"/>
              <a:t> </a:t>
            </a:r>
            <a:r>
              <a:rPr lang="en-US" b="1" dirty="0"/>
              <a:t>Extreme Physical Destruction</a:t>
            </a:r>
          </a:p>
          <a:p>
            <a:pPr marL="514350" indent="-514350">
              <a:buFont typeface="+mj-lt"/>
              <a:buAutoNum type="romanLcPeriod"/>
            </a:pPr>
            <a:r>
              <a:rPr lang="en-US" dirty="0"/>
              <a:t> Chainsaws</a:t>
            </a:r>
          </a:p>
          <a:p>
            <a:pPr marL="514350" indent="-514350">
              <a:buFont typeface="+mj-lt"/>
              <a:buAutoNum type="romanLcPeriod"/>
            </a:pPr>
            <a:r>
              <a:rPr lang="en-US" dirty="0"/>
              <a:t> Drop in a volcano</a:t>
            </a:r>
          </a:p>
          <a:p>
            <a:pPr marL="514350" indent="-514350">
              <a:buFont typeface="+mj-lt"/>
              <a:buAutoNum type="romanLcPeriod"/>
            </a:pPr>
            <a:r>
              <a:rPr lang="en-US" dirty="0"/>
              <a:t> Sledge hammers</a:t>
            </a:r>
          </a:p>
        </p:txBody>
      </p:sp>
      <p:sp>
        <p:nvSpPr>
          <p:cNvPr id="4" name="Footer Placeholder 3">
            <a:extLst>
              <a:ext uri="{FF2B5EF4-FFF2-40B4-BE49-F238E27FC236}">
                <a16:creationId xmlns:a16="http://schemas.microsoft.com/office/drawing/2014/main" id="{6BE4E4BD-2FA4-442D-A198-EEE6E47B749C}"/>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8000C930-18CB-431D-AD0F-5045E33DDF2E}"/>
              </a:ext>
            </a:extLst>
          </p:cNvPr>
          <p:cNvSpPr>
            <a:spLocks noGrp="1"/>
          </p:cNvSpPr>
          <p:nvPr>
            <p:ph type="sldNum" sz="quarter" idx="12"/>
          </p:nvPr>
        </p:nvSpPr>
        <p:spPr/>
        <p:txBody>
          <a:bodyPr/>
          <a:lstStyle/>
          <a:p>
            <a:fld id="{E153A30B-AAA6-4D3D-89E9-8F9473C4CEC0}" type="slidenum">
              <a:rPr lang="LID4096" smtClean="0"/>
              <a:t>60</a:t>
            </a:fld>
            <a:endParaRPr lang="LID4096"/>
          </a:p>
        </p:txBody>
      </p:sp>
    </p:spTree>
    <p:extLst>
      <p:ext uri="{BB962C8B-B14F-4D97-AF65-F5344CB8AC3E}">
        <p14:creationId xmlns:p14="http://schemas.microsoft.com/office/powerpoint/2010/main" val="30079342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A00AF1-6B24-48FC-8E96-2E3E3F00D31B}"/>
              </a:ext>
            </a:extLst>
          </p:cNvPr>
          <p:cNvSpPr>
            <a:spLocks noGrp="1"/>
          </p:cNvSpPr>
          <p:nvPr>
            <p:ph type="ctrTitle"/>
          </p:nvPr>
        </p:nvSpPr>
        <p:spPr/>
        <p:txBody>
          <a:bodyPr/>
          <a:lstStyle/>
          <a:p>
            <a:pPr algn="ctr"/>
            <a:r>
              <a:rPr lang="en-US" b="1" dirty="0"/>
              <a:t>Hard disk drive (hdd)</a:t>
            </a:r>
            <a:endParaRPr lang="LID4096" b="1" dirty="0"/>
          </a:p>
        </p:txBody>
      </p:sp>
      <p:sp>
        <p:nvSpPr>
          <p:cNvPr id="5" name="Subtitle 4">
            <a:extLst>
              <a:ext uri="{FF2B5EF4-FFF2-40B4-BE49-F238E27FC236}">
                <a16:creationId xmlns:a16="http://schemas.microsoft.com/office/drawing/2014/main" id="{CADB99E6-9D8C-440F-A6AD-F06A798B65B0}"/>
              </a:ext>
            </a:extLst>
          </p:cNvPr>
          <p:cNvSpPr>
            <a:spLocks noGrp="1"/>
          </p:cNvSpPr>
          <p:nvPr>
            <p:ph type="subTitle" idx="1"/>
          </p:nvPr>
        </p:nvSpPr>
        <p:spPr/>
        <p:txBody>
          <a:bodyPr/>
          <a:lstStyle/>
          <a:p>
            <a:pPr algn="ctr"/>
            <a:r>
              <a:rPr lang="en-US" b="1" dirty="0"/>
              <a:t>Lecture 4</a:t>
            </a:r>
            <a:endParaRPr lang="LID4096" b="1" dirty="0"/>
          </a:p>
        </p:txBody>
      </p:sp>
    </p:spTree>
    <p:extLst>
      <p:ext uri="{BB962C8B-B14F-4D97-AF65-F5344CB8AC3E}">
        <p14:creationId xmlns:p14="http://schemas.microsoft.com/office/powerpoint/2010/main" val="5542161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C9407-9099-448C-BB03-E5B0A4A990FE}"/>
              </a:ext>
            </a:extLst>
          </p:cNvPr>
          <p:cNvSpPr>
            <a:spLocks noGrp="1"/>
          </p:cNvSpPr>
          <p:nvPr>
            <p:ph type="title"/>
          </p:nvPr>
        </p:nvSpPr>
        <p:spPr/>
        <p:txBody>
          <a:bodyPr/>
          <a:lstStyle/>
          <a:p>
            <a:pPr algn="ctr"/>
            <a:r>
              <a:rPr lang="en-US" b="1" dirty="0"/>
              <a:t>Main components for Hard disk drive</a:t>
            </a:r>
            <a:endParaRPr lang="LID4096" b="1" dirty="0"/>
          </a:p>
        </p:txBody>
      </p:sp>
      <p:sp>
        <p:nvSpPr>
          <p:cNvPr id="3" name="Content Placeholder 2">
            <a:extLst>
              <a:ext uri="{FF2B5EF4-FFF2-40B4-BE49-F238E27FC236}">
                <a16:creationId xmlns:a16="http://schemas.microsoft.com/office/drawing/2014/main" id="{A9E9A947-73CF-4915-AFC9-39477701C476}"/>
              </a:ext>
            </a:extLst>
          </p:cNvPr>
          <p:cNvSpPr>
            <a:spLocks noGrp="1"/>
          </p:cNvSpPr>
          <p:nvPr>
            <p:ph idx="1"/>
          </p:nvPr>
        </p:nvSpPr>
        <p:spPr/>
        <p:txBody>
          <a:bodyPr/>
          <a:lstStyle/>
          <a:p>
            <a:r>
              <a:rPr lang="en-US" dirty="0"/>
              <a:t>HDD were invented in 1954 by IBM.</a:t>
            </a:r>
          </a:p>
          <a:p>
            <a:r>
              <a:rPr lang="en-US" dirty="0"/>
              <a:t>It’s main components include – </a:t>
            </a:r>
          </a:p>
          <a:p>
            <a:pPr marL="0" indent="0">
              <a:buNone/>
            </a:pPr>
            <a:endParaRPr lang="en-US" dirty="0"/>
          </a:p>
          <a:p>
            <a:endParaRPr lang="en-US" dirty="0"/>
          </a:p>
          <a:p>
            <a:endParaRPr lang="LID4096" dirty="0"/>
          </a:p>
        </p:txBody>
      </p:sp>
      <p:sp>
        <p:nvSpPr>
          <p:cNvPr id="4" name="Footer Placeholder 3">
            <a:extLst>
              <a:ext uri="{FF2B5EF4-FFF2-40B4-BE49-F238E27FC236}">
                <a16:creationId xmlns:a16="http://schemas.microsoft.com/office/drawing/2014/main" id="{9AF86E5F-A8D0-4B3F-9EFA-E878A6BB2A0F}"/>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85261791-6D7E-4ABC-B77C-D94570EC805E}"/>
              </a:ext>
            </a:extLst>
          </p:cNvPr>
          <p:cNvSpPr>
            <a:spLocks noGrp="1"/>
          </p:cNvSpPr>
          <p:nvPr>
            <p:ph type="sldNum" sz="quarter" idx="12"/>
          </p:nvPr>
        </p:nvSpPr>
        <p:spPr/>
        <p:txBody>
          <a:bodyPr/>
          <a:lstStyle/>
          <a:p>
            <a:fld id="{E153A30B-AAA6-4D3D-89E9-8F9473C4CEC0}" type="slidenum">
              <a:rPr lang="LID4096" smtClean="0"/>
              <a:t>62</a:t>
            </a:fld>
            <a:endParaRPr lang="LID4096"/>
          </a:p>
        </p:txBody>
      </p:sp>
      <p:pic>
        <p:nvPicPr>
          <p:cNvPr id="6" name="Picture 5">
            <a:extLst>
              <a:ext uri="{FF2B5EF4-FFF2-40B4-BE49-F238E27FC236}">
                <a16:creationId xmlns:a16="http://schemas.microsoft.com/office/drawing/2014/main" id="{F6559D86-3721-4CD3-A2E5-AD366AE9ACF2}"/>
              </a:ext>
            </a:extLst>
          </p:cNvPr>
          <p:cNvPicPr>
            <a:picLocks noChangeAspect="1"/>
          </p:cNvPicPr>
          <p:nvPr/>
        </p:nvPicPr>
        <p:blipFill>
          <a:blip r:embed="rId2"/>
          <a:stretch>
            <a:fillRect/>
          </a:stretch>
        </p:blipFill>
        <p:spPr>
          <a:xfrm>
            <a:off x="1481948" y="3401161"/>
            <a:ext cx="5558233" cy="2390040"/>
          </a:xfrm>
          <a:prstGeom prst="rect">
            <a:avLst/>
          </a:prstGeom>
        </p:spPr>
      </p:pic>
    </p:spTree>
    <p:extLst>
      <p:ext uri="{BB962C8B-B14F-4D97-AF65-F5344CB8AC3E}">
        <p14:creationId xmlns:p14="http://schemas.microsoft.com/office/powerpoint/2010/main" val="28040959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7D491-48C2-485A-9998-DD29617A9768}"/>
              </a:ext>
            </a:extLst>
          </p:cNvPr>
          <p:cNvSpPr>
            <a:spLocks noGrp="1"/>
          </p:cNvSpPr>
          <p:nvPr>
            <p:ph type="title"/>
          </p:nvPr>
        </p:nvSpPr>
        <p:spPr/>
        <p:txBody>
          <a:bodyPr/>
          <a:lstStyle/>
          <a:p>
            <a:pPr algn="ctr"/>
            <a:r>
              <a:rPr lang="en-US" b="1" dirty="0"/>
              <a:t>Main components for Hard disk drive (Continues…)</a:t>
            </a:r>
            <a:endParaRPr lang="LID4096" b="1" dirty="0"/>
          </a:p>
        </p:txBody>
      </p:sp>
      <p:sp>
        <p:nvSpPr>
          <p:cNvPr id="3" name="Content Placeholder 2">
            <a:extLst>
              <a:ext uri="{FF2B5EF4-FFF2-40B4-BE49-F238E27FC236}">
                <a16:creationId xmlns:a16="http://schemas.microsoft.com/office/drawing/2014/main" id="{E3783B1D-A72C-4CB2-AC73-89648334B713}"/>
              </a:ext>
            </a:extLst>
          </p:cNvPr>
          <p:cNvSpPr>
            <a:spLocks noGrp="1"/>
          </p:cNvSpPr>
          <p:nvPr>
            <p:ph idx="1"/>
          </p:nvPr>
        </p:nvSpPr>
        <p:spPr/>
        <p:txBody>
          <a:bodyPr/>
          <a:lstStyle/>
          <a:p>
            <a:pPr marL="457200" indent="-457200">
              <a:buFont typeface="+mj-lt"/>
              <a:buAutoNum type="arabicPeriod"/>
            </a:pPr>
            <a:r>
              <a:rPr lang="en-US" b="1" dirty="0"/>
              <a:t>Disk Platter </a:t>
            </a:r>
            <a:r>
              <a:rPr lang="en-US" dirty="0"/>
              <a:t>– is made up of a magnetic material, in the flat disk part of the drive and it stores data.</a:t>
            </a:r>
          </a:p>
          <a:p>
            <a:pPr marL="457200" indent="-457200">
              <a:buFont typeface="+mj-lt"/>
              <a:buAutoNum type="arabicPeriod"/>
            </a:pPr>
            <a:r>
              <a:rPr lang="en-US" b="1" dirty="0"/>
              <a:t>Stepper Motor </a:t>
            </a:r>
            <a:r>
              <a:rPr lang="en-US" dirty="0"/>
              <a:t>– is used for controlling read/write head position.</a:t>
            </a:r>
          </a:p>
          <a:p>
            <a:pPr marL="457200" indent="-457200">
              <a:buFont typeface="+mj-lt"/>
              <a:buAutoNum type="arabicPeriod"/>
            </a:pPr>
            <a:r>
              <a:rPr lang="en-US" b="1" dirty="0"/>
              <a:t>Spindle Motor </a:t>
            </a:r>
            <a:r>
              <a:rPr lang="en-US" dirty="0"/>
              <a:t>– controls the platter.</a:t>
            </a:r>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LID4096" dirty="0"/>
          </a:p>
        </p:txBody>
      </p:sp>
      <p:sp>
        <p:nvSpPr>
          <p:cNvPr id="4" name="Footer Placeholder 3">
            <a:extLst>
              <a:ext uri="{FF2B5EF4-FFF2-40B4-BE49-F238E27FC236}">
                <a16:creationId xmlns:a16="http://schemas.microsoft.com/office/drawing/2014/main" id="{46577976-5E15-4839-881C-F077D49056F3}"/>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49B4ABC3-5FA6-4C72-B1FF-DE1D01226827}"/>
              </a:ext>
            </a:extLst>
          </p:cNvPr>
          <p:cNvSpPr>
            <a:spLocks noGrp="1"/>
          </p:cNvSpPr>
          <p:nvPr>
            <p:ph type="sldNum" sz="quarter" idx="12"/>
          </p:nvPr>
        </p:nvSpPr>
        <p:spPr/>
        <p:txBody>
          <a:bodyPr/>
          <a:lstStyle/>
          <a:p>
            <a:fld id="{E153A30B-AAA6-4D3D-89E9-8F9473C4CEC0}" type="slidenum">
              <a:rPr lang="LID4096" smtClean="0"/>
              <a:t>63</a:t>
            </a:fld>
            <a:endParaRPr lang="LID4096"/>
          </a:p>
        </p:txBody>
      </p:sp>
    </p:spTree>
    <p:extLst>
      <p:ext uri="{BB962C8B-B14F-4D97-AF65-F5344CB8AC3E}">
        <p14:creationId xmlns:p14="http://schemas.microsoft.com/office/powerpoint/2010/main" val="28344546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6D3ED-B320-48E2-B07A-9E6C0D3DDF72}"/>
              </a:ext>
            </a:extLst>
          </p:cNvPr>
          <p:cNvSpPr>
            <a:spLocks noGrp="1"/>
          </p:cNvSpPr>
          <p:nvPr>
            <p:ph type="title"/>
          </p:nvPr>
        </p:nvSpPr>
        <p:spPr/>
        <p:txBody>
          <a:bodyPr/>
          <a:lstStyle/>
          <a:p>
            <a:pPr algn="ctr"/>
            <a:r>
              <a:rPr lang="en-GB" b="1" dirty="0"/>
              <a:t>READ AND WRITE HEAD</a:t>
            </a:r>
            <a:endParaRPr lang="LID4096" b="1" dirty="0"/>
          </a:p>
        </p:txBody>
      </p:sp>
      <p:sp>
        <p:nvSpPr>
          <p:cNvPr id="3" name="Content Placeholder 2">
            <a:extLst>
              <a:ext uri="{FF2B5EF4-FFF2-40B4-BE49-F238E27FC236}">
                <a16:creationId xmlns:a16="http://schemas.microsoft.com/office/drawing/2014/main" id="{88610819-B5F8-477D-852E-5E0A4EA715D8}"/>
              </a:ext>
            </a:extLst>
          </p:cNvPr>
          <p:cNvSpPr>
            <a:spLocks noGrp="1"/>
          </p:cNvSpPr>
          <p:nvPr>
            <p:ph idx="1"/>
          </p:nvPr>
        </p:nvSpPr>
        <p:spPr/>
        <p:txBody>
          <a:bodyPr>
            <a:normAutofit fontScale="92500" lnSpcReduction="10000"/>
          </a:bodyPr>
          <a:lstStyle/>
          <a:p>
            <a:r>
              <a:rPr lang="en-US" dirty="0"/>
              <a:t>The heads read and write the information to the drive platter.</a:t>
            </a:r>
          </a:p>
          <a:p>
            <a:r>
              <a:rPr lang="en-US" dirty="0"/>
              <a:t>The head arm is used for read and write operations.</a:t>
            </a:r>
          </a:p>
          <a:p>
            <a:r>
              <a:rPr lang="en-US" dirty="0"/>
              <a:t>Below is a disk structure – </a:t>
            </a:r>
          </a:p>
          <a:p>
            <a:pPr marL="457200" indent="-457200">
              <a:buFont typeface="+mj-lt"/>
              <a:buAutoNum type="alphaUcPeriod"/>
            </a:pPr>
            <a:r>
              <a:rPr lang="en-US" dirty="0"/>
              <a:t>Track</a:t>
            </a:r>
          </a:p>
          <a:p>
            <a:pPr marL="457200" indent="-457200">
              <a:buFont typeface="+mj-lt"/>
              <a:buAutoNum type="alphaUcPeriod"/>
            </a:pPr>
            <a:r>
              <a:rPr lang="en-US" dirty="0"/>
              <a:t>Sector</a:t>
            </a:r>
          </a:p>
          <a:p>
            <a:pPr marL="457200" indent="-457200">
              <a:buFont typeface="+mj-lt"/>
              <a:buAutoNum type="alphaUcPeriod"/>
            </a:pPr>
            <a:r>
              <a:rPr lang="en-US" dirty="0"/>
              <a:t>Cylinder</a:t>
            </a:r>
          </a:p>
          <a:p>
            <a:pPr marL="457200" indent="-457200">
              <a:buFont typeface="+mj-lt"/>
              <a:buAutoNum type="alphaUcPeriod"/>
            </a:pPr>
            <a:r>
              <a:rPr lang="en-US" dirty="0"/>
              <a:t>Storage Capacity </a:t>
            </a:r>
          </a:p>
          <a:p>
            <a:endParaRPr lang="en-US" dirty="0"/>
          </a:p>
          <a:p>
            <a:endParaRPr lang="LID4096" dirty="0"/>
          </a:p>
        </p:txBody>
      </p:sp>
      <p:sp>
        <p:nvSpPr>
          <p:cNvPr id="4" name="Footer Placeholder 3">
            <a:extLst>
              <a:ext uri="{FF2B5EF4-FFF2-40B4-BE49-F238E27FC236}">
                <a16:creationId xmlns:a16="http://schemas.microsoft.com/office/drawing/2014/main" id="{84EB5A01-B11E-433C-BE92-B1A5969A313C}"/>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3631F116-0058-434B-ADAD-7A122AC778E2}"/>
              </a:ext>
            </a:extLst>
          </p:cNvPr>
          <p:cNvSpPr>
            <a:spLocks noGrp="1"/>
          </p:cNvSpPr>
          <p:nvPr>
            <p:ph type="sldNum" sz="quarter" idx="12"/>
          </p:nvPr>
        </p:nvSpPr>
        <p:spPr/>
        <p:txBody>
          <a:bodyPr/>
          <a:lstStyle/>
          <a:p>
            <a:fld id="{E153A30B-AAA6-4D3D-89E9-8F9473C4CEC0}" type="slidenum">
              <a:rPr lang="LID4096" smtClean="0"/>
              <a:t>64</a:t>
            </a:fld>
            <a:endParaRPr lang="LID4096"/>
          </a:p>
        </p:txBody>
      </p:sp>
      <p:pic>
        <p:nvPicPr>
          <p:cNvPr id="6" name="Picture 5">
            <a:extLst>
              <a:ext uri="{FF2B5EF4-FFF2-40B4-BE49-F238E27FC236}">
                <a16:creationId xmlns:a16="http://schemas.microsoft.com/office/drawing/2014/main" id="{88BA74D4-35E4-40D4-A0FF-3E931EDEDA5F}"/>
              </a:ext>
            </a:extLst>
          </p:cNvPr>
          <p:cNvPicPr>
            <a:picLocks noChangeAspect="1"/>
          </p:cNvPicPr>
          <p:nvPr/>
        </p:nvPicPr>
        <p:blipFill>
          <a:blip r:embed="rId2"/>
          <a:stretch>
            <a:fillRect/>
          </a:stretch>
        </p:blipFill>
        <p:spPr>
          <a:xfrm>
            <a:off x="4019597" y="3429000"/>
            <a:ext cx="3118431" cy="2669050"/>
          </a:xfrm>
          <a:prstGeom prst="rect">
            <a:avLst/>
          </a:prstGeom>
        </p:spPr>
      </p:pic>
    </p:spTree>
    <p:extLst>
      <p:ext uri="{BB962C8B-B14F-4D97-AF65-F5344CB8AC3E}">
        <p14:creationId xmlns:p14="http://schemas.microsoft.com/office/powerpoint/2010/main" val="14416515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077FA-695D-4DCA-8291-E9D5BC8AAE13}"/>
              </a:ext>
            </a:extLst>
          </p:cNvPr>
          <p:cNvSpPr>
            <a:spLocks noGrp="1"/>
          </p:cNvSpPr>
          <p:nvPr>
            <p:ph type="title"/>
          </p:nvPr>
        </p:nvSpPr>
        <p:spPr/>
        <p:txBody>
          <a:bodyPr/>
          <a:lstStyle/>
          <a:p>
            <a:pPr algn="ctr"/>
            <a:r>
              <a:rPr lang="en-GB" b="1" dirty="0"/>
              <a:t>Partition for HDD</a:t>
            </a:r>
            <a:endParaRPr lang="LID4096" b="1" dirty="0"/>
          </a:p>
        </p:txBody>
      </p:sp>
      <p:sp>
        <p:nvSpPr>
          <p:cNvPr id="3" name="Content Placeholder 2">
            <a:extLst>
              <a:ext uri="{FF2B5EF4-FFF2-40B4-BE49-F238E27FC236}">
                <a16:creationId xmlns:a16="http://schemas.microsoft.com/office/drawing/2014/main" id="{B7312012-C28A-4B6F-8D44-7EC88398B468}"/>
              </a:ext>
            </a:extLst>
          </p:cNvPr>
          <p:cNvSpPr>
            <a:spLocks noGrp="1"/>
          </p:cNvSpPr>
          <p:nvPr>
            <p:ph idx="1"/>
          </p:nvPr>
        </p:nvSpPr>
        <p:spPr/>
        <p:txBody>
          <a:bodyPr/>
          <a:lstStyle/>
          <a:p>
            <a:pPr marL="457200" indent="-457200">
              <a:buFont typeface="+mj-lt"/>
              <a:buAutoNum type="arabicPeriod"/>
            </a:pPr>
            <a:r>
              <a:rPr lang="en-GB" b="1" dirty="0"/>
              <a:t>Primary Partition </a:t>
            </a:r>
            <a:r>
              <a:rPr lang="en-GB" dirty="0"/>
              <a:t>– </a:t>
            </a:r>
            <a:r>
              <a:rPr lang="en-US" dirty="0"/>
              <a:t>used to boot the operating system.</a:t>
            </a:r>
          </a:p>
          <a:p>
            <a:pPr marL="457200" indent="-457200">
              <a:buFont typeface="+mj-lt"/>
              <a:buAutoNum type="arabicPeriod"/>
            </a:pPr>
            <a:r>
              <a:rPr lang="en-GB" b="1" dirty="0"/>
              <a:t>Extended Partition </a:t>
            </a:r>
            <a:r>
              <a:rPr lang="en-GB" dirty="0"/>
              <a:t>– </a:t>
            </a:r>
            <a:r>
              <a:rPr lang="en-US" dirty="0"/>
              <a:t>can be subdivided into multiple logical partitions.</a:t>
            </a:r>
          </a:p>
          <a:p>
            <a:pPr marL="457200" indent="-457200">
              <a:buFont typeface="+mj-lt"/>
              <a:buAutoNum type="arabicPeriod"/>
            </a:pPr>
            <a:r>
              <a:rPr lang="en-US" b="1" dirty="0"/>
              <a:t>Logical Partition </a:t>
            </a:r>
            <a:r>
              <a:rPr lang="en-US" dirty="0"/>
              <a:t>– </a:t>
            </a:r>
          </a:p>
          <a:p>
            <a:pPr marL="457200" indent="-457200">
              <a:buFont typeface="+mj-lt"/>
              <a:buAutoNum type="arabicPeriod"/>
            </a:pPr>
            <a:r>
              <a:rPr lang="en-US" b="1" dirty="0"/>
              <a:t>Active Partition </a:t>
            </a:r>
            <a:r>
              <a:rPr lang="en-US" dirty="0"/>
              <a:t>– </a:t>
            </a:r>
            <a:endParaRPr lang="LID4096" dirty="0"/>
          </a:p>
        </p:txBody>
      </p:sp>
      <p:sp>
        <p:nvSpPr>
          <p:cNvPr id="4" name="Footer Placeholder 3">
            <a:extLst>
              <a:ext uri="{FF2B5EF4-FFF2-40B4-BE49-F238E27FC236}">
                <a16:creationId xmlns:a16="http://schemas.microsoft.com/office/drawing/2014/main" id="{80E9F2C6-4467-4439-BC68-724199D20987}"/>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1CE409FC-3849-48AC-B7FF-27515E212EDD}"/>
              </a:ext>
            </a:extLst>
          </p:cNvPr>
          <p:cNvSpPr>
            <a:spLocks noGrp="1"/>
          </p:cNvSpPr>
          <p:nvPr>
            <p:ph type="sldNum" sz="quarter" idx="12"/>
          </p:nvPr>
        </p:nvSpPr>
        <p:spPr/>
        <p:txBody>
          <a:bodyPr/>
          <a:lstStyle/>
          <a:p>
            <a:fld id="{E153A30B-AAA6-4D3D-89E9-8F9473C4CEC0}" type="slidenum">
              <a:rPr lang="LID4096" smtClean="0"/>
              <a:t>65</a:t>
            </a:fld>
            <a:endParaRPr lang="LID4096"/>
          </a:p>
        </p:txBody>
      </p:sp>
    </p:spTree>
    <p:extLst>
      <p:ext uri="{BB962C8B-B14F-4D97-AF65-F5344CB8AC3E}">
        <p14:creationId xmlns:p14="http://schemas.microsoft.com/office/powerpoint/2010/main" val="21180010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599E-3A3E-45F7-8384-0F0AB3B76FF8}"/>
              </a:ext>
            </a:extLst>
          </p:cNvPr>
          <p:cNvSpPr>
            <a:spLocks noGrp="1"/>
          </p:cNvSpPr>
          <p:nvPr>
            <p:ph type="title"/>
          </p:nvPr>
        </p:nvSpPr>
        <p:spPr/>
        <p:txBody>
          <a:bodyPr/>
          <a:lstStyle/>
          <a:p>
            <a:pPr algn="ctr"/>
            <a:r>
              <a:rPr lang="en-US" b="1" dirty="0"/>
              <a:t>TYPES OF INTERFACEING IN HDD</a:t>
            </a:r>
            <a:endParaRPr lang="LID4096" b="1" dirty="0"/>
          </a:p>
        </p:txBody>
      </p:sp>
      <p:sp>
        <p:nvSpPr>
          <p:cNvPr id="3" name="Content Placeholder 2">
            <a:extLst>
              <a:ext uri="{FF2B5EF4-FFF2-40B4-BE49-F238E27FC236}">
                <a16:creationId xmlns:a16="http://schemas.microsoft.com/office/drawing/2014/main" id="{D3708150-C4D5-4151-B409-B9A370C27678}"/>
              </a:ext>
            </a:extLst>
          </p:cNvPr>
          <p:cNvSpPr>
            <a:spLocks noGrp="1"/>
          </p:cNvSpPr>
          <p:nvPr>
            <p:ph idx="1"/>
          </p:nvPr>
        </p:nvSpPr>
        <p:spPr/>
        <p:txBody>
          <a:bodyPr/>
          <a:lstStyle/>
          <a:p>
            <a:pPr marL="457200" indent="-457200">
              <a:buFont typeface="+mj-lt"/>
              <a:buAutoNum type="arabicPeriod"/>
            </a:pPr>
            <a:r>
              <a:rPr lang="en-GB" b="1" dirty="0"/>
              <a:t>Integrated Device Electronics (IDE) </a:t>
            </a:r>
            <a:r>
              <a:rPr lang="en-GB" dirty="0"/>
              <a:t>– also known as Parallel Advanced Technology Attachment (PATA).</a:t>
            </a:r>
          </a:p>
          <a:p>
            <a:pPr marL="457200" indent="-457200">
              <a:buFont typeface="+mj-lt"/>
              <a:buAutoNum type="arabicPeriod"/>
            </a:pPr>
            <a:r>
              <a:rPr lang="en-GB" b="1" dirty="0"/>
              <a:t>Serial Advanced Technology Attachment (SATA) </a:t>
            </a:r>
            <a:r>
              <a:rPr lang="en-GB" dirty="0"/>
              <a:t>– </a:t>
            </a:r>
            <a:r>
              <a:rPr lang="en-US" dirty="0"/>
              <a:t>It is the latest high-speed type of hard drive connectors.</a:t>
            </a:r>
          </a:p>
          <a:p>
            <a:pPr marL="457200" indent="-457200">
              <a:buFont typeface="+mj-lt"/>
              <a:buAutoNum type="arabicPeriod"/>
            </a:pPr>
            <a:r>
              <a:rPr lang="en-US" dirty="0"/>
              <a:t>Small Computer System Interface (SCSI) – </a:t>
            </a:r>
          </a:p>
          <a:p>
            <a:pPr marL="457200" indent="-457200">
              <a:buFont typeface="+mj-lt"/>
              <a:buAutoNum type="arabicPeriod"/>
            </a:pPr>
            <a:endParaRPr lang="en-GB" dirty="0"/>
          </a:p>
          <a:p>
            <a:pPr marL="457200" indent="-457200">
              <a:buFont typeface="+mj-lt"/>
              <a:buAutoNum type="arabicPeriod"/>
            </a:pPr>
            <a:endParaRPr lang="LID4096" dirty="0"/>
          </a:p>
        </p:txBody>
      </p:sp>
      <p:sp>
        <p:nvSpPr>
          <p:cNvPr id="4" name="Footer Placeholder 3">
            <a:extLst>
              <a:ext uri="{FF2B5EF4-FFF2-40B4-BE49-F238E27FC236}">
                <a16:creationId xmlns:a16="http://schemas.microsoft.com/office/drawing/2014/main" id="{B965180B-4A00-4969-9227-A2D39BF6F63C}"/>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79FDED5D-A1C1-4F2E-A407-B35E58666E06}"/>
              </a:ext>
            </a:extLst>
          </p:cNvPr>
          <p:cNvSpPr>
            <a:spLocks noGrp="1"/>
          </p:cNvSpPr>
          <p:nvPr>
            <p:ph type="sldNum" sz="quarter" idx="12"/>
          </p:nvPr>
        </p:nvSpPr>
        <p:spPr/>
        <p:txBody>
          <a:bodyPr/>
          <a:lstStyle/>
          <a:p>
            <a:fld id="{E153A30B-AAA6-4D3D-89E9-8F9473C4CEC0}" type="slidenum">
              <a:rPr lang="LID4096" smtClean="0"/>
              <a:t>66</a:t>
            </a:fld>
            <a:endParaRPr lang="LID4096"/>
          </a:p>
        </p:txBody>
      </p:sp>
    </p:spTree>
    <p:extLst>
      <p:ext uri="{BB962C8B-B14F-4D97-AF65-F5344CB8AC3E}">
        <p14:creationId xmlns:p14="http://schemas.microsoft.com/office/powerpoint/2010/main" val="29199949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9AAAD-9172-4B65-9CFA-FDB2843D7D8F}"/>
              </a:ext>
            </a:extLst>
          </p:cNvPr>
          <p:cNvSpPr>
            <a:spLocks noGrp="1"/>
          </p:cNvSpPr>
          <p:nvPr>
            <p:ph type="title"/>
          </p:nvPr>
        </p:nvSpPr>
        <p:spPr>
          <a:xfrm>
            <a:off x="1141411" y="174634"/>
            <a:ext cx="9905998" cy="1478570"/>
          </a:xfrm>
        </p:spPr>
        <p:txBody>
          <a:bodyPr/>
          <a:lstStyle/>
          <a:p>
            <a:pPr algn="ctr"/>
            <a:r>
              <a:rPr lang="en-US" b="1" dirty="0"/>
              <a:t>HDD Capacity and Size Information</a:t>
            </a:r>
            <a:endParaRPr lang="LID4096" b="1" dirty="0"/>
          </a:p>
        </p:txBody>
      </p:sp>
      <p:graphicFrame>
        <p:nvGraphicFramePr>
          <p:cNvPr id="6" name="Table 6">
            <a:extLst>
              <a:ext uri="{FF2B5EF4-FFF2-40B4-BE49-F238E27FC236}">
                <a16:creationId xmlns:a16="http://schemas.microsoft.com/office/drawing/2014/main" id="{AD2979D5-6474-4229-8AB4-59812C1BAF40}"/>
              </a:ext>
            </a:extLst>
          </p:cNvPr>
          <p:cNvGraphicFramePr>
            <a:graphicFrameLocks noGrp="1"/>
          </p:cNvGraphicFramePr>
          <p:nvPr>
            <p:ph idx="1"/>
            <p:extLst>
              <p:ext uri="{D42A27DB-BD31-4B8C-83A1-F6EECF244321}">
                <p14:modId xmlns:p14="http://schemas.microsoft.com/office/powerpoint/2010/main" val="2682302495"/>
              </p:ext>
            </p:extLst>
          </p:nvPr>
        </p:nvGraphicFramePr>
        <p:xfrm>
          <a:off x="1141409" y="1557481"/>
          <a:ext cx="9906000" cy="4450080"/>
        </p:xfrm>
        <a:graphic>
          <a:graphicData uri="http://schemas.openxmlformats.org/drawingml/2006/table">
            <a:tbl>
              <a:tblPr firstRow="1" bandRow="1">
                <a:tableStyleId>{5C22544A-7EE6-4342-B048-85BDC9FD1C3A}</a:tableStyleId>
              </a:tblPr>
              <a:tblGrid>
                <a:gridCol w="4953000">
                  <a:extLst>
                    <a:ext uri="{9D8B030D-6E8A-4147-A177-3AD203B41FA5}">
                      <a16:colId xmlns:a16="http://schemas.microsoft.com/office/drawing/2014/main" val="3469935574"/>
                    </a:ext>
                  </a:extLst>
                </a:gridCol>
                <a:gridCol w="4953000">
                  <a:extLst>
                    <a:ext uri="{9D8B030D-6E8A-4147-A177-3AD203B41FA5}">
                      <a16:colId xmlns:a16="http://schemas.microsoft.com/office/drawing/2014/main" val="2380492068"/>
                    </a:ext>
                  </a:extLst>
                </a:gridCol>
              </a:tblGrid>
              <a:tr h="370840">
                <a:tc>
                  <a:txBody>
                    <a:bodyPr/>
                    <a:lstStyle/>
                    <a:p>
                      <a:r>
                        <a:rPr lang="en-US" dirty="0">
                          <a:solidFill>
                            <a:schemeClr val="tx1"/>
                          </a:solidFill>
                        </a:rPr>
                        <a:t>Term</a:t>
                      </a:r>
                      <a:endParaRPr lang="LID4096" dirty="0">
                        <a:solidFill>
                          <a:schemeClr val="tx1"/>
                        </a:solidFill>
                      </a:endParaRPr>
                    </a:p>
                  </a:txBody>
                  <a:tcPr>
                    <a:noFill/>
                  </a:tcPr>
                </a:tc>
                <a:tc>
                  <a:txBody>
                    <a:bodyPr/>
                    <a:lstStyle/>
                    <a:p>
                      <a:r>
                        <a:rPr lang="en-US" dirty="0">
                          <a:solidFill>
                            <a:schemeClr val="tx1"/>
                          </a:solidFill>
                        </a:rPr>
                        <a:t>Equal To</a:t>
                      </a:r>
                      <a:endParaRPr lang="LID4096" dirty="0">
                        <a:solidFill>
                          <a:schemeClr val="tx1"/>
                        </a:solidFill>
                      </a:endParaRPr>
                    </a:p>
                  </a:txBody>
                  <a:tcPr>
                    <a:noFill/>
                  </a:tcPr>
                </a:tc>
                <a:extLst>
                  <a:ext uri="{0D108BD9-81ED-4DB2-BD59-A6C34878D82A}">
                    <a16:rowId xmlns:a16="http://schemas.microsoft.com/office/drawing/2014/main" val="2017674733"/>
                  </a:ext>
                </a:extLst>
              </a:tr>
              <a:tr h="370840">
                <a:tc>
                  <a:txBody>
                    <a:bodyPr/>
                    <a:lstStyle/>
                    <a:p>
                      <a:r>
                        <a:rPr lang="en-US" dirty="0">
                          <a:solidFill>
                            <a:schemeClr val="tx1"/>
                          </a:solidFill>
                        </a:rPr>
                        <a:t>Bit</a:t>
                      </a:r>
                      <a:endParaRPr lang="LID4096" dirty="0">
                        <a:solidFill>
                          <a:schemeClr val="tx1"/>
                        </a:solidFill>
                      </a:endParaRPr>
                    </a:p>
                  </a:txBody>
                  <a:tcPr>
                    <a:noFill/>
                  </a:tcPr>
                </a:tc>
                <a:tc>
                  <a:txBody>
                    <a:bodyPr/>
                    <a:lstStyle/>
                    <a:p>
                      <a:r>
                        <a:rPr lang="en-US" dirty="0">
                          <a:solidFill>
                            <a:schemeClr val="tx1"/>
                          </a:solidFill>
                        </a:rPr>
                        <a:t>0 or 1</a:t>
                      </a:r>
                      <a:endParaRPr lang="LID4096" dirty="0">
                        <a:solidFill>
                          <a:schemeClr val="tx1"/>
                        </a:solidFill>
                      </a:endParaRPr>
                    </a:p>
                  </a:txBody>
                  <a:tcPr>
                    <a:noFill/>
                  </a:tcPr>
                </a:tc>
                <a:extLst>
                  <a:ext uri="{0D108BD9-81ED-4DB2-BD59-A6C34878D82A}">
                    <a16:rowId xmlns:a16="http://schemas.microsoft.com/office/drawing/2014/main" val="3580987600"/>
                  </a:ext>
                </a:extLst>
              </a:tr>
              <a:tr h="370840">
                <a:tc>
                  <a:txBody>
                    <a:bodyPr/>
                    <a:lstStyle/>
                    <a:p>
                      <a:r>
                        <a:rPr lang="en-US" dirty="0">
                          <a:solidFill>
                            <a:schemeClr val="tx1"/>
                          </a:solidFill>
                        </a:rPr>
                        <a:t>Kilo Bit (kb)</a:t>
                      </a:r>
                      <a:endParaRPr lang="LID4096" dirty="0">
                        <a:solidFill>
                          <a:schemeClr val="tx1"/>
                        </a:solidFill>
                      </a:endParaRPr>
                    </a:p>
                  </a:txBody>
                  <a:tcPr>
                    <a:noFill/>
                  </a:tcPr>
                </a:tc>
                <a:tc>
                  <a:txBody>
                    <a:bodyPr/>
                    <a:lstStyle/>
                    <a:p>
                      <a:r>
                        <a:rPr lang="en-US" dirty="0">
                          <a:solidFill>
                            <a:schemeClr val="tx1"/>
                          </a:solidFill>
                        </a:rPr>
                        <a:t>1024 bits</a:t>
                      </a:r>
                      <a:endParaRPr lang="LID4096" dirty="0">
                        <a:solidFill>
                          <a:schemeClr val="tx1"/>
                        </a:solidFill>
                      </a:endParaRPr>
                    </a:p>
                  </a:txBody>
                  <a:tcPr>
                    <a:noFill/>
                  </a:tcPr>
                </a:tc>
                <a:extLst>
                  <a:ext uri="{0D108BD9-81ED-4DB2-BD59-A6C34878D82A}">
                    <a16:rowId xmlns:a16="http://schemas.microsoft.com/office/drawing/2014/main" val="2326818383"/>
                  </a:ext>
                </a:extLst>
              </a:tr>
              <a:tr h="370840">
                <a:tc>
                  <a:txBody>
                    <a:bodyPr/>
                    <a:lstStyle/>
                    <a:p>
                      <a:r>
                        <a:rPr lang="en-US" dirty="0">
                          <a:solidFill>
                            <a:schemeClr val="tx1"/>
                          </a:solidFill>
                        </a:rPr>
                        <a:t>Byte</a:t>
                      </a:r>
                      <a:endParaRPr lang="LID4096" dirty="0">
                        <a:solidFill>
                          <a:schemeClr val="tx1"/>
                        </a:solidFill>
                      </a:endParaRPr>
                    </a:p>
                  </a:txBody>
                  <a:tcPr>
                    <a:noFill/>
                  </a:tcPr>
                </a:tc>
                <a:tc>
                  <a:txBody>
                    <a:bodyPr/>
                    <a:lstStyle/>
                    <a:p>
                      <a:r>
                        <a:rPr lang="en-US" dirty="0">
                          <a:solidFill>
                            <a:schemeClr val="tx1"/>
                          </a:solidFill>
                        </a:rPr>
                        <a:t>8 bits</a:t>
                      </a:r>
                      <a:endParaRPr lang="LID4096" dirty="0">
                        <a:solidFill>
                          <a:schemeClr val="tx1"/>
                        </a:solidFill>
                      </a:endParaRPr>
                    </a:p>
                  </a:txBody>
                  <a:tcPr>
                    <a:noFill/>
                  </a:tcPr>
                </a:tc>
                <a:extLst>
                  <a:ext uri="{0D108BD9-81ED-4DB2-BD59-A6C34878D82A}">
                    <a16:rowId xmlns:a16="http://schemas.microsoft.com/office/drawing/2014/main" val="3399722852"/>
                  </a:ext>
                </a:extLst>
              </a:tr>
              <a:tr h="370840">
                <a:tc>
                  <a:txBody>
                    <a:bodyPr/>
                    <a:lstStyle/>
                    <a:p>
                      <a:r>
                        <a:rPr lang="en-US" dirty="0">
                          <a:solidFill>
                            <a:schemeClr val="tx1"/>
                          </a:solidFill>
                        </a:rPr>
                        <a:t>Kilobyte (KB)</a:t>
                      </a:r>
                      <a:endParaRPr lang="LID4096" dirty="0">
                        <a:solidFill>
                          <a:schemeClr val="tx1"/>
                        </a:solidFill>
                      </a:endParaRPr>
                    </a:p>
                  </a:txBody>
                  <a:tcPr>
                    <a:noFill/>
                  </a:tcPr>
                </a:tc>
                <a:tc>
                  <a:txBody>
                    <a:bodyPr/>
                    <a:lstStyle/>
                    <a:p>
                      <a:r>
                        <a:rPr lang="en-US" dirty="0">
                          <a:solidFill>
                            <a:schemeClr val="tx1"/>
                          </a:solidFill>
                        </a:rPr>
                        <a:t>1024 bytes </a:t>
                      </a:r>
                      <a:endParaRPr lang="LID4096" dirty="0">
                        <a:solidFill>
                          <a:schemeClr val="tx1"/>
                        </a:solidFill>
                      </a:endParaRPr>
                    </a:p>
                  </a:txBody>
                  <a:tcPr>
                    <a:noFill/>
                  </a:tcPr>
                </a:tc>
                <a:extLst>
                  <a:ext uri="{0D108BD9-81ED-4DB2-BD59-A6C34878D82A}">
                    <a16:rowId xmlns:a16="http://schemas.microsoft.com/office/drawing/2014/main" val="1427191546"/>
                  </a:ext>
                </a:extLst>
              </a:tr>
              <a:tr h="370840">
                <a:tc>
                  <a:txBody>
                    <a:bodyPr/>
                    <a:lstStyle/>
                    <a:p>
                      <a:r>
                        <a:rPr lang="en-US" dirty="0">
                          <a:solidFill>
                            <a:schemeClr val="tx1"/>
                          </a:solidFill>
                        </a:rPr>
                        <a:t>Megabyte (MB)</a:t>
                      </a:r>
                      <a:endParaRPr lang="LID4096" dirty="0">
                        <a:solidFill>
                          <a:schemeClr val="tx1"/>
                        </a:solidFill>
                      </a:endParaRPr>
                    </a:p>
                  </a:txBody>
                  <a:tcPr>
                    <a:noFill/>
                  </a:tcPr>
                </a:tc>
                <a:tc>
                  <a:txBody>
                    <a:bodyPr/>
                    <a:lstStyle/>
                    <a:p>
                      <a:r>
                        <a:rPr lang="en-US" dirty="0">
                          <a:solidFill>
                            <a:schemeClr val="tx1"/>
                          </a:solidFill>
                        </a:rPr>
                        <a:t>1024 kilobytes </a:t>
                      </a:r>
                      <a:endParaRPr lang="LID4096" dirty="0">
                        <a:solidFill>
                          <a:schemeClr val="tx1"/>
                        </a:solidFill>
                      </a:endParaRPr>
                    </a:p>
                  </a:txBody>
                  <a:tcPr>
                    <a:noFill/>
                  </a:tcPr>
                </a:tc>
                <a:extLst>
                  <a:ext uri="{0D108BD9-81ED-4DB2-BD59-A6C34878D82A}">
                    <a16:rowId xmlns:a16="http://schemas.microsoft.com/office/drawing/2014/main" val="388723272"/>
                  </a:ext>
                </a:extLst>
              </a:tr>
              <a:tr h="370840">
                <a:tc>
                  <a:txBody>
                    <a:bodyPr/>
                    <a:lstStyle/>
                    <a:p>
                      <a:r>
                        <a:rPr lang="en-US" dirty="0">
                          <a:solidFill>
                            <a:schemeClr val="tx1"/>
                          </a:solidFill>
                        </a:rPr>
                        <a:t>Gigabyte (GB)</a:t>
                      </a:r>
                      <a:endParaRPr lang="LID4096" dirty="0">
                        <a:solidFill>
                          <a:schemeClr val="tx1"/>
                        </a:solidFill>
                      </a:endParaRPr>
                    </a:p>
                  </a:txBody>
                  <a:tcPr>
                    <a:noFill/>
                  </a:tcPr>
                </a:tc>
                <a:tc>
                  <a:txBody>
                    <a:bodyPr/>
                    <a:lstStyle/>
                    <a:p>
                      <a:r>
                        <a:rPr lang="en-US" dirty="0">
                          <a:solidFill>
                            <a:schemeClr val="tx1"/>
                          </a:solidFill>
                        </a:rPr>
                        <a:t>1024 megabytes</a:t>
                      </a:r>
                      <a:endParaRPr lang="LID4096" dirty="0">
                        <a:solidFill>
                          <a:schemeClr val="tx1"/>
                        </a:solidFill>
                      </a:endParaRPr>
                    </a:p>
                  </a:txBody>
                  <a:tcPr>
                    <a:noFill/>
                  </a:tcPr>
                </a:tc>
                <a:extLst>
                  <a:ext uri="{0D108BD9-81ED-4DB2-BD59-A6C34878D82A}">
                    <a16:rowId xmlns:a16="http://schemas.microsoft.com/office/drawing/2014/main" val="1981706029"/>
                  </a:ext>
                </a:extLst>
              </a:tr>
              <a:tr h="370840">
                <a:tc>
                  <a:txBody>
                    <a:bodyPr/>
                    <a:lstStyle/>
                    <a:p>
                      <a:r>
                        <a:rPr lang="en-US" dirty="0">
                          <a:solidFill>
                            <a:schemeClr val="tx1"/>
                          </a:solidFill>
                        </a:rPr>
                        <a:t>Terabyte (TB)</a:t>
                      </a:r>
                      <a:endParaRPr lang="LID4096" dirty="0">
                        <a:solidFill>
                          <a:schemeClr val="tx1"/>
                        </a:solidFill>
                      </a:endParaRPr>
                    </a:p>
                  </a:txBody>
                  <a:tcPr>
                    <a:noFill/>
                  </a:tcPr>
                </a:tc>
                <a:tc>
                  <a:txBody>
                    <a:bodyPr/>
                    <a:lstStyle/>
                    <a:p>
                      <a:r>
                        <a:rPr lang="en-US" dirty="0">
                          <a:solidFill>
                            <a:schemeClr val="tx1"/>
                          </a:solidFill>
                        </a:rPr>
                        <a:t>1024 gigabytes </a:t>
                      </a:r>
                      <a:endParaRPr lang="LID4096" dirty="0">
                        <a:solidFill>
                          <a:schemeClr val="tx1"/>
                        </a:solidFill>
                      </a:endParaRPr>
                    </a:p>
                  </a:txBody>
                  <a:tcPr>
                    <a:noFill/>
                  </a:tcPr>
                </a:tc>
                <a:extLst>
                  <a:ext uri="{0D108BD9-81ED-4DB2-BD59-A6C34878D82A}">
                    <a16:rowId xmlns:a16="http://schemas.microsoft.com/office/drawing/2014/main" val="2759056818"/>
                  </a:ext>
                </a:extLst>
              </a:tr>
              <a:tr h="370840">
                <a:tc>
                  <a:txBody>
                    <a:bodyPr/>
                    <a:lstStyle/>
                    <a:p>
                      <a:r>
                        <a:rPr lang="en-US" dirty="0">
                          <a:solidFill>
                            <a:schemeClr val="tx1"/>
                          </a:solidFill>
                        </a:rPr>
                        <a:t>Petabyte (PB)</a:t>
                      </a:r>
                      <a:endParaRPr lang="LID4096" dirty="0">
                        <a:solidFill>
                          <a:schemeClr val="tx1"/>
                        </a:solidFill>
                      </a:endParaRPr>
                    </a:p>
                  </a:txBody>
                  <a:tcPr>
                    <a:noFill/>
                  </a:tcPr>
                </a:tc>
                <a:tc>
                  <a:txBody>
                    <a:bodyPr/>
                    <a:lstStyle/>
                    <a:p>
                      <a:r>
                        <a:rPr lang="en-US" dirty="0">
                          <a:solidFill>
                            <a:schemeClr val="tx1"/>
                          </a:solidFill>
                        </a:rPr>
                        <a:t>1024 terabytes </a:t>
                      </a:r>
                      <a:endParaRPr lang="LID4096" dirty="0">
                        <a:solidFill>
                          <a:schemeClr val="tx1"/>
                        </a:solidFill>
                      </a:endParaRPr>
                    </a:p>
                  </a:txBody>
                  <a:tcPr>
                    <a:noFill/>
                  </a:tcPr>
                </a:tc>
                <a:extLst>
                  <a:ext uri="{0D108BD9-81ED-4DB2-BD59-A6C34878D82A}">
                    <a16:rowId xmlns:a16="http://schemas.microsoft.com/office/drawing/2014/main" val="2098708664"/>
                  </a:ext>
                </a:extLst>
              </a:tr>
              <a:tr h="370840">
                <a:tc>
                  <a:txBody>
                    <a:bodyPr/>
                    <a:lstStyle/>
                    <a:p>
                      <a:r>
                        <a:rPr lang="en-US" dirty="0">
                          <a:solidFill>
                            <a:schemeClr val="tx1"/>
                          </a:solidFill>
                        </a:rPr>
                        <a:t>Exabyte (EB)</a:t>
                      </a:r>
                      <a:endParaRPr lang="LID4096" dirty="0">
                        <a:solidFill>
                          <a:schemeClr val="tx1"/>
                        </a:solidFill>
                      </a:endParaRPr>
                    </a:p>
                  </a:txBody>
                  <a:tcPr>
                    <a:noFill/>
                  </a:tcPr>
                </a:tc>
                <a:tc>
                  <a:txBody>
                    <a:bodyPr/>
                    <a:lstStyle/>
                    <a:p>
                      <a:r>
                        <a:rPr lang="en-US" dirty="0">
                          <a:solidFill>
                            <a:schemeClr val="tx1"/>
                          </a:solidFill>
                        </a:rPr>
                        <a:t>1024 petabytes </a:t>
                      </a:r>
                      <a:endParaRPr lang="LID4096" dirty="0">
                        <a:solidFill>
                          <a:schemeClr val="tx1"/>
                        </a:solidFill>
                      </a:endParaRPr>
                    </a:p>
                  </a:txBody>
                  <a:tcPr>
                    <a:noFill/>
                  </a:tcPr>
                </a:tc>
                <a:extLst>
                  <a:ext uri="{0D108BD9-81ED-4DB2-BD59-A6C34878D82A}">
                    <a16:rowId xmlns:a16="http://schemas.microsoft.com/office/drawing/2014/main" val="3839496522"/>
                  </a:ext>
                </a:extLst>
              </a:tr>
              <a:tr h="370840">
                <a:tc>
                  <a:txBody>
                    <a:bodyPr/>
                    <a:lstStyle/>
                    <a:p>
                      <a:r>
                        <a:rPr lang="en-US" dirty="0">
                          <a:solidFill>
                            <a:schemeClr val="tx1"/>
                          </a:solidFill>
                        </a:rPr>
                        <a:t>Zettabyte (ZB)</a:t>
                      </a:r>
                      <a:endParaRPr lang="LID4096" dirty="0">
                        <a:solidFill>
                          <a:schemeClr val="tx1"/>
                        </a:solidFill>
                      </a:endParaRPr>
                    </a:p>
                  </a:txBody>
                  <a:tcPr>
                    <a:noFill/>
                  </a:tcPr>
                </a:tc>
                <a:tc>
                  <a:txBody>
                    <a:bodyPr/>
                    <a:lstStyle/>
                    <a:p>
                      <a:r>
                        <a:rPr lang="en-US" dirty="0">
                          <a:solidFill>
                            <a:schemeClr val="tx1"/>
                          </a:solidFill>
                        </a:rPr>
                        <a:t>1024 exabytes  </a:t>
                      </a:r>
                      <a:endParaRPr lang="LID4096" dirty="0">
                        <a:solidFill>
                          <a:schemeClr val="tx1"/>
                        </a:solidFill>
                      </a:endParaRPr>
                    </a:p>
                  </a:txBody>
                  <a:tcPr>
                    <a:noFill/>
                  </a:tcPr>
                </a:tc>
                <a:extLst>
                  <a:ext uri="{0D108BD9-81ED-4DB2-BD59-A6C34878D82A}">
                    <a16:rowId xmlns:a16="http://schemas.microsoft.com/office/drawing/2014/main" val="3324571546"/>
                  </a:ext>
                </a:extLst>
              </a:tr>
              <a:tr h="370840">
                <a:tc>
                  <a:txBody>
                    <a:bodyPr/>
                    <a:lstStyle/>
                    <a:p>
                      <a:r>
                        <a:rPr lang="en-US" dirty="0">
                          <a:solidFill>
                            <a:schemeClr val="tx1"/>
                          </a:solidFill>
                        </a:rPr>
                        <a:t>Yottabyte (YB)</a:t>
                      </a:r>
                      <a:endParaRPr lang="LID4096" dirty="0">
                        <a:solidFill>
                          <a:schemeClr val="tx1"/>
                        </a:solidFill>
                      </a:endParaRPr>
                    </a:p>
                  </a:txBody>
                  <a:tcPr>
                    <a:noFill/>
                  </a:tcPr>
                </a:tc>
                <a:tc>
                  <a:txBody>
                    <a:bodyPr/>
                    <a:lstStyle/>
                    <a:p>
                      <a:r>
                        <a:rPr lang="en-US" dirty="0">
                          <a:solidFill>
                            <a:schemeClr val="tx1"/>
                          </a:solidFill>
                        </a:rPr>
                        <a:t>1024 zettabyte </a:t>
                      </a:r>
                      <a:endParaRPr lang="LID4096" dirty="0">
                        <a:solidFill>
                          <a:schemeClr val="tx1"/>
                        </a:solidFill>
                      </a:endParaRPr>
                    </a:p>
                  </a:txBody>
                  <a:tcPr>
                    <a:noFill/>
                  </a:tcPr>
                </a:tc>
                <a:extLst>
                  <a:ext uri="{0D108BD9-81ED-4DB2-BD59-A6C34878D82A}">
                    <a16:rowId xmlns:a16="http://schemas.microsoft.com/office/drawing/2014/main" val="298465071"/>
                  </a:ext>
                </a:extLst>
              </a:tr>
            </a:tbl>
          </a:graphicData>
        </a:graphic>
      </p:graphicFrame>
      <p:sp>
        <p:nvSpPr>
          <p:cNvPr id="4" name="Footer Placeholder 3">
            <a:extLst>
              <a:ext uri="{FF2B5EF4-FFF2-40B4-BE49-F238E27FC236}">
                <a16:creationId xmlns:a16="http://schemas.microsoft.com/office/drawing/2014/main" id="{3922B68C-8A0B-481A-B5DD-EF2C16A80F53}"/>
              </a:ext>
            </a:extLst>
          </p:cNvPr>
          <p:cNvSpPr>
            <a:spLocks noGrp="1"/>
          </p:cNvSpPr>
          <p:nvPr>
            <p:ph type="ftr" sz="quarter" idx="11"/>
          </p:nvPr>
        </p:nvSpPr>
        <p:spPr>
          <a:xfrm>
            <a:off x="1141409" y="6158483"/>
            <a:ext cx="6239309" cy="365125"/>
          </a:xfrm>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A993A3FD-DF46-48AF-B3DA-064038FCC73D}"/>
              </a:ext>
            </a:extLst>
          </p:cNvPr>
          <p:cNvSpPr>
            <a:spLocks noGrp="1"/>
          </p:cNvSpPr>
          <p:nvPr>
            <p:ph type="sldNum" sz="quarter" idx="12"/>
          </p:nvPr>
        </p:nvSpPr>
        <p:spPr>
          <a:xfrm>
            <a:off x="10276320" y="6164740"/>
            <a:ext cx="771089" cy="365125"/>
          </a:xfrm>
        </p:spPr>
        <p:txBody>
          <a:bodyPr/>
          <a:lstStyle/>
          <a:p>
            <a:fld id="{E153A30B-AAA6-4D3D-89E9-8F9473C4CEC0}" type="slidenum">
              <a:rPr lang="LID4096" smtClean="0"/>
              <a:t>67</a:t>
            </a:fld>
            <a:endParaRPr lang="LID4096" dirty="0"/>
          </a:p>
        </p:txBody>
      </p:sp>
    </p:spTree>
    <p:extLst>
      <p:ext uri="{BB962C8B-B14F-4D97-AF65-F5344CB8AC3E}">
        <p14:creationId xmlns:p14="http://schemas.microsoft.com/office/powerpoint/2010/main" val="36894193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9E32968-8A42-40D7-B1CA-98F261A4824A}"/>
              </a:ext>
            </a:extLst>
          </p:cNvPr>
          <p:cNvSpPr>
            <a:spLocks noGrp="1"/>
          </p:cNvSpPr>
          <p:nvPr>
            <p:ph type="ctrTitle"/>
          </p:nvPr>
        </p:nvSpPr>
        <p:spPr/>
        <p:txBody>
          <a:bodyPr/>
          <a:lstStyle/>
          <a:p>
            <a:pPr algn="ctr"/>
            <a:r>
              <a:rPr lang="en-US" b="1" dirty="0"/>
              <a:t>Multi-Media Forensics </a:t>
            </a:r>
            <a:endParaRPr lang="LID4096" b="1" dirty="0"/>
          </a:p>
        </p:txBody>
      </p:sp>
      <p:sp>
        <p:nvSpPr>
          <p:cNvPr id="9" name="Subtitle 8">
            <a:extLst>
              <a:ext uri="{FF2B5EF4-FFF2-40B4-BE49-F238E27FC236}">
                <a16:creationId xmlns:a16="http://schemas.microsoft.com/office/drawing/2014/main" id="{C046CFEB-6A70-4612-9476-370F916E6FCB}"/>
              </a:ext>
            </a:extLst>
          </p:cNvPr>
          <p:cNvSpPr>
            <a:spLocks noGrp="1"/>
          </p:cNvSpPr>
          <p:nvPr>
            <p:ph type="subTitle" idx="1"/>
          </p:nvPr>
        </p:nvSpPr>
        <p:spPr/>
        <p:txBody>
          <a:bodyPr/>
          <a:lstStyle/>
          <a:p>
            <a:pPr algn="ctr"/>
            <a:r>
              <a:rPr lang="en-US" b="1" dirty="0"/>
              <a:t>Lecture 5.1</a:t>
            </a:r>
            <a:endParaRPr lang="LID4096" b="1" dirty="0"/>
          </a:p>
        </p:txBody>
      </p:sp>
      <p:sp>
        <p:nvSpPr>
          <p:cNvPr id="4" name="Footer Placeholder 3">
            <a:extLst>
              <a:ext uri="{FF2B5EF4-FFF2-40B4-BE49-F238E27FC236}">
                <a16:creationId xmlns:a16="http://schemas.microsoft.com/office/drawing/2014/main" id="{525002A4-18DF-4F29-ADA8-87BDFAB472B7}"/>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BA9C03FA-9BD4-4A1C-B747-6D0044FAAE49}"/>
              </a:ext>
            </a:extLst>
          </p:cNvPr>
          <p:cNvSpPr>
            <a:spLocks noGrp="1"/>
          </p:cNvSpPr>
          <p:nvPr>
            <p:ph type="sldNum" sz="quarter" idx="12"/>
          </p:nvPr>
        </p:nvSpPr>
        <p:spPr/>
        <p:txBody>
          <a:bodyPr/>
          <a:lstStyle/>
          <a:p>
            <a:fld id="{E153A30B-AAA6-4D3D-89E9-8F9473C4CEC0}" type="slidenum">
              <a:rPr lang="LID4096" smtClean="0"/>
              <a:t>68</a:t>
            </a:fld>
            <a:endParaRPr lang="LID4096"/>
          </a:p>
        </p:txBody>
      </p:sp>
    </p:spTree>
    <p:extLst>
      <p:ext uri="{BB962C8B-B14F-4D97-AF65-F5344CB8AC3E}">
        <p14:creationId xmlns:p14="http://schemas.microsoft.com/office/powerpoint/2010/main" val="16515429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2F087-AD85-4AC1-BBF9-0D3C81A394C1}"/>
              </a:ext>
            </a:extLst>
          </p:cNvPr>
          <p:cNvSpPr>
            <a:spLocks noGrp="1"/>
          </p:cNvSpPr>
          <p:nvPr>
            <p:ph type="title"/>
          </p:nvPr>
        </p:nvSpPr>
        <p:spPr/>
        <p:txBody>
          <a:bodyPr/>
          <a:lstStyle/>
          <a:p>
            <a:pPr algn="ctr"/>
            <a:r>
              <a:rPr lang="en-GB" b="1" dirty="0"/>
              <a:t>Classification of multimedia</a:t>
            </a:r>
            <a:endParaRPr lang="LID4096" b="1" dirty="0"/>
          </a:p>
        </p:txBody>
      </p:sp>
      <p:sp>
        <p:nvSpPr>
          <p:cNvPr id="3" name="Content Placeholder 2">
            <a:extLst>
              <a:ext uri="{FF2B5EF4-FFF2-40B4-BE49-F238E27FC236}">
                <a16:creationId xmlns:a16="http://schemas.microsoft.com/office/drawing/2014/main" id="{5CD34A9F-8FAF-4702-8B6E-E3D1B7807E09}"/>
              </a:ext>
            </a:extLst>
          </p:cNvPr>
          <p:cNvSpPr>
            <a:spLocks noGrp="1"/>
          </p:cNvSpPr>
          <p:nvPr>
            <p:ph sz="half" idx="1"/>
          </p:nvPr>
        </p:nvSpPr>
        <p:spPr/>
        <p:txBody>
          <a:bodyPr>
            <a:normAutofit fontScale="92500" lnSpcReduction="20000"/>
          </a:bodyPr>
          <a:lstStyle/>
          <a:p>
            <a:pPr marL="457200" indent="-457200">
              <a:buFont typeface="+mj-lt"/>
              <a:buAutoNum type="arabicPeriod"/>
            </a:pPr>
            <a:r>
              <a:rPr lang="en-GB" b="1" dirty="0"/>
              <a:t>Text </a:t>
            </a:r>
            <a:r>
              <a:rPr lang="en-GB" dirty="0"/>
              <a:t>- ASCII/Unicode, HTML, PDF</a:t>
            </a:r>
          </a:p>
          <a:p>
            <a:pPr marL="457200" indent="-457200">
              <a:buFont typeface="+mj-lt"/>
              <a:buAutoNum type="arabicPeriod"/>
            </a:pPr>
            <a:r>
              <a:rPr lang="en-GB" b="1" dirty="0"/>
              <a:t>Audio</a:t>
            </a:r>
            <a:r>
              <a:rPr lang="en-GB" dirty="0"/>
              <a:t> – Sound, music, speech</a:t>
            </a:r>
          </a:p>
          <a:p>
            <a:pPr marL="457200" indent="-457200">
              <a:buFont typeface="+mj-lt"/>
              <a:buAutoNum type="arabicPeriod"/>
            </a:pPr>
            <a:r>
              <a:rPr lang="en-GB" b="1" dirty="0"/>
              <a:t>Still Image </a:t>
            </a:r>
            <a:r>
              <a:rPr lang="en-GB" dirty="0"/>
              <a:t>- photo, scanned image</a:t>
            </a:r>
          </a:p>
          <a:p>
            <a:pPr marL="457200" indent="-457200">
              <a:buFont typeface="+mj-lt"/>
              <a:buAutoNum type="arabicPeriod"/>
            </a:pPr>
            <a:r>
              <a:rPr lang="en-GB" b="1" dirty="0"/>
              <a:t>Video (Moving Images) </a:t>
            </a:r>
            <a:r>
              <a:rPr lang="en-GB" dirty="0"/>
              <a:t>– Movie</a:t>
            </a:r>
          </a:p>
          <a:p>
            <a:pPr marL="457200" indent="-457200">
              <a:buFont typeface="+mj-lt"/>
              <a:buAutoNum type="arabicPeriod"/>
            </a:pPr>
            <a:r>
              <a:rPr lang="en-GB" b="1" dirty="0"/>
              <a:t>Graphics</a:t>
            </a:r>
            <a:r>
              <a:rPr lang="en-GB" dirty="0"/>
              <a:t> – Computer produced image</a:t>
            </a:r>
          </a:p>
        </p:txBody>
      </p:sp>
      <p:sp>
        <p:nvSpPr>
          <p:cNvPr id="6" name="Content Placeholder 5">
            <a:extLst>
              <a:ext uri="{FF2B5EF4-FFF2-40B4-BE49-F238E27FC236}">
                <a16:creationId xmlns:a16="http://schemas.microsoft.com/office/drawing/2014/main" id="{854E0B29-5153-43D8-A6FC-F406F4BCBF66}"/>
              </a:ext>
            </a:extLst>
          </p:cNvPr>
          <p:cNvSpPr>
            <a:spLocks noGrp="1"/>
          </p:cNvSpPr>
          <p:nvPr>
            <p:ph sz="half" idx="2"/>
          </p:nvPr>
        </p:nvSpPr>
        <p:spPr/>
        <p:txBody>
          <a:bodyPr>
            <a:normAutofit fontScale="92500" lnSpcReduction="20000"/>
          </a:bodyPr>
          <a:lstStyle/>
          <a:p>
            <a:pPr marL="457200" indent="-457200">
              <a:buAutoNum type="arabicPeriod" startAt="6"/>
            </a:pPr>
            <a:r>
              <a:rPr lang="en-GB" b="1" dirty="0"/>
              <a:t>Animation</a:t>
            </a:r>
            <a:r>
              <a:rPr lang="en-GB" dirty="0"/>
              <a:t> – A sequence of graphics images</a:t>
            </a:r>
          </a:p>
          <a:p>
            <a:pPr marL="457200" indent="-457200">
              <a:buAutoNum type="arabicPeriod" startAt="6"/>
            </a:pPr>
            <a:r>
              <a:rPr lang="en-GB" b="1" dirty="0"/>
              <a:t>Discrete Media (DM, Static) </a:t>
            </a:r>
            <a:r>
              <a:rPr lang="en-GB" dirty="0"/>
              <a:t>– text, image, graphics</a:t>
            </a:r>
          </a:p>
          <a:p>
            <a:pPr marL="457200" indent="-457200">
              <a:buAutoNum type="arabicPeriod" startAt="6"/>
            </a:pPr>
            <a:r>
              <a:rPr lang="en-GB" b="1" dirty="0"/>
              <a:t>Continuous Media (CM, Dynamic) </a:t>
            </a:r>
            <a:r>
              <a:rPr lang="en-GB" dirty="0"/>
              <a:t>– audio, video, animation</a:t>
            </a:r>
          </a:p>
          <a:p>
            <a:pPr marL="457200" indent="-457200">
              <a:buAutoNum type="arabicPeriod" startAt="6"/>
            </a:pPr>
            <a:r>
              <a:rPr lang="en-GB" b="1" dirty="0"/>
              <a:t>Captured vs Synthesized media</a:t>
            </a:r>
          </a:p>
          <a:p>
            <a:pPr marL="457200" indent="-457200">
              <a:buAutoNum type="arabicPeriod" startAt="6"/>
            </a:pPr>
            <a:r>
              <a:rPr lang="en-GB" b="1" dirty="0"/>
              <a:t>Standalone vs Networked media</a:t>
            </a:r>
          </a:p>
          <a:p>
            <a:pPr marL="0" indent="0">
              <a:buNone/>
            </a:pPr>
            <a:endParaRPr lang="LID4096" dirty="0"/>
          </a:p>
        </p:txBody>
      </p:sp>
      <p:sp>
        <p:nvSpPr>
          <p:cNvPr id="4" name="Footer Placeholder 3">
            <a:extLst>
              <a:ext uri="{FF2B5EF4-FFF2-40B4-BE49-F238E27FC236}">
                <a16:creationId xmlns:a16="http://schemas.microsoft.com/office/drawing/2014/main" id="{E5BB9AD5-F335-4E1E-839B-C2D2000C70E4}"/>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0B137808-AB99-41FC-85AA-384A665C2AE4}"/>
              </a:ext>
            </a:extLst>
          </p:cNvPr>
          <p:cNvSpPr>
            <a:spLocks noGrp="1"/>
          </p:cNvSpPr>
          <p:nvPr>
            <p:ph type="sldNum" sz="quarter" idx="12"/>
          </p:nvPr>
        </p:nvSpPr>
        <p:spPr/>
        <p:txBody>
          <a:bodyPr/>
          <a:lstStyle/>
          <a:p>
            <a:fld id="{E153A30B-AAA6-4D3D-89E9-8F9473C4CEC0}" type="slidenum">
              <a:rPr lang="LID4096" smtClean="0"/>
              <a:t>69</a:t>
            </a:fld>
            <a:endParaRPr lang="LID4096"/>
          </a:p>
        </p:txBody>
      </p:sp>
    </p:spTree>
    <p:extLst>
      <p:ext uri="{BB962C8B-B14F-4D97-AF65-F5344CB8AC3E}">
        <p14:creationId xmlns:p14="http://schemas.microsoft.com/office/powerpoint/2010/main" val="4785213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5ADD6A-2CA9-4D7A-9074-75DBAFF4F116}"/>
              </a:ext>
            </a:extLst>
          </p:cNvPr>
          <p:cNvSpPr>
            <a:spLocks noGrp="1"/>
          </p:cNvSpPr>
          <p:nvPr>
            <p:ph type="title"/>
          </p:nvPr>
        </p:nvSpPr>
        <p:spPr/>
        <p:txBody>
          <a:bodyPr/>
          <a:lstStyle/>
          <a:p>
            <a:pPr algn="ctr"/>
            <a:r>
              <a:rPr lang="en-GB" b="1" dirty="0"/>
              <a:t>multimedia</a:t>
            </a:r>
            <a:endParaRPr lang="LID4096" b="1" dirty="0"/>
          </a:p>
        </p:txBody>
      </p:sp>
      <p:sp>
        <p:nvSpPr>
          <p:cNvPr id="8" name="Content Placeholder 7">
            <a:extLst>
              <a:ext uri="{FF2B5EF4-FFF2-40B4-BE49-F238E27FC236}">
                <a16:creationId xmlns:a16="http://schemas.microsoft.com/office/drawing/2014/main" id="{440C74F3-B9A6-4906-96B6-C949B6CFBEFA}"/>
              </a:ext>
            </a:extLst>
          </p:cNvPr>
          <p:cNvSpPr>
            <a:spLocks noGrp="1"/>
          </p:cNvSpPr>
          <p:nvPr>
            <p:ph idx="1"/>
          </p:nvPr>
        </p:nvSpPr>
        <p:spPr/>
        <p:txBody>
          <a:bodyPr/>
          <a:lstStyle/>
          <a:p>
            <a:r>
              <a:rPr lang="en-US" b="1" dirty="0"/>
              <a:t>Multimedia</a:t>
            </a:r>
            <a:r>
              <a:rPr lang="en-US" dirty="0"/>
              <a:t> is a combination of text, sound, graphics, video, and animation delivers by computer or any other electronic media.</a:t>
            </a:r>
          </a:p>
        </p:txBody>
      </p:sp>
      <p:sp>
        <p:nvSpPr>
          <p:cNvPr id="5" name="Footer Placeholder 4">
            <a:extLst>
              <a:ext uri="{FF2B5EF4-FFF2-40B4-BE49-F238E27FC236}">
                <a16:creationId xmlns:a16="http://schemas.microsoft.com/office/drawing/2014/main" id="{579399F8-694B-4635-935E-6AAC918D5EF3}"/>
              </a:ext>
            </a:extLst>
          </p:cNvPr>
          <p:cNvSpPr>
            <a:spLocks noGrp="1"/>
          </p:cNvSpPr>
          <p:nvPr>
            <p:ph type="ftr" sz="quarter" idx="11"/>
          </p:nvPr>
        </p:nvSpPr>
        <p:spPr>
          <a:xfrm>
            <a:off x="1141412" y="6417716"/>
            <a:ext cx="6239309" cy="365125"/>
          </a:xfrm>
        </p:spPr>
        <p:txBody>
          <a:bodyPr/>
          <a:lstStyle/>
          <a:p>
            <a:r>
              <a:rPr lang="en-US" dirty="0"/>
              <a:t>Prepared by James Soko for Mr. Ngosa Gatham © 2025 Kapasa Makasa University </a:t>
            </a:r>
            <a:endParaRPr lang="LID4096" dirty="0"/>
          </a:p>
        </p:txBody>
      </p:sp>
      <p:sp>
        <p:nvSpPr>
          <p:cNvPr id="6" name="Slide Number Placeholder 5">
            <a:extLst>
              <a:ext uri="{FF2B5EF4-FFF2-40B4-BE49-F238E27FC236}">
                <a16:creationId xmlns:a16="http://schemas.microsoft.com/office/drawing/2014/main" id="{7402057D-9CFA-46AD-9C4C-C954C6B33056}"/>
              </a:ext>
            </a:extLst>
          </p:cNvPr>
          <p:cNvSpPr>
            <a:spLocks noGrp="1"/>
          </p:cNvSpPr>
          <p:nvPr>
            <p:ph type="sldNum" sz="quarter" idx="12"/>
          </p:nvPr>
        </p:nvSpPr>
        <p:spPr>
          <a:xfrm>
            <a:off x="10276322" y="6293238"/>
            <a:ext cx="771089" cy="365125"/>
          </a:xfrm>
        </p:spPr>
        <p:txBody>
          <a:bodyPr/>
          <a:lstStyle/>
          <a:p>
            <a:fld id="{E153A30B-AAA6-4D3D-89E9-8F9473C4CEC0}" type="slidenum">
              <a:rPr lang="LID4096" smtClean="0"/>
              <a:t>70</a:t>
            </a:fld>
            <a:endParaRPr lang="LID4096" dirty="0"/>
          </a:p>
        </p:txBody>
      </p:sp>
      <p:pic>
        <p:nvPicPr>
          <p:cNvPr id="9" name="Picture 8">
            <a:extLst>
              <a:ext uri="{FF2B5EF4-FFF2-40B4-BE49-F238E27FC236}">
                <a16:creationId xmlns:a16="http://schemas.microsoft.com/office/drawing/2014/main" id="{8D8402E6-BB73-4270-8E0E-CA3829DB340F}"/>
              </a:ext>
            </a:extLst>
          </p:cNvPr>
          <p:cNvPicPr>
            <a:picLocks noChangeAspect="1"/>
          </p:cNvPicPr>
          <p:nvPr/>
        </p:nvPicPr>
        <p:blipFill>
          <a:blip r:embed="rId2"/>
          <a:stretch>
            <a:fillRect/>
          </a:stretch>
        </p:blipFill>
        <p:spPr>
          <a:xfrm>
            <a:off x="4551989" y="4020344"/>
            <a:ext cx="3084843" cy="798645"/>
          </a:xfrm>
          <a:prstGeom prst="rect">
            <a:avLst/>
          </a:prstGeom>
        </p:spPr>
      </p:pic>
      <p:pic>
        <p:nvPicPr>
          <p:cNvPr id="10" name="Picture 9">
            <a:extLst>
              <a:ext uri="{FF2B5EF4-FFF2-40B4-BE49-F238E27FC236}">
                <a16:creationId xmlns:a16="http://schemas.microsoft.com/office/drawing/2014/main" id="{EE23DE7E-A240-470E-A99B-A2C4993709A7}"/>
              </a:ext>
            </a:extLst>
          </p:cNvPr>
          <p:cNvPicPr>
            <a:picLocks noChangeAspect="1"/>
          </p:cNvPicPr>
          <p:nvPr/>
        </p:nvPicPr>
        <p:blipFill>
          <a:blip r:embed="rId3"/>
          <a:stretch>
            <a:fillRect/>
          </a:stretch>
        </p:blipFill>
        <p:spPr>
          <a:xfrm>
            <a:off x="1499692" y="3212101"/>
            <a:ext cx="1664352" cy="1072989"/>
          </a:xfrm>
          <a:prstGeom prst="rect">
            <a:avLst/>
          </a:prstGeom>
        </p:spPr>
      </p:pic>
      <p:pic>
        <p:nvPicPr>
          <p:cNvPr id="11" name="Picture 10">
            <a:extLst>
              <a:ext uri="{FF2B5EF4-FFF2-40B4-BE49-F238E27FC236}">
                <a16:creationId xmlns:a16="http://schemas.microsoft.com/office/drawing/2014/main" id="{91394116-3D54-46CF-A0EE-8BD44DB3EAD5}"/>
              </a:ext>
            </a:extLst>
          </p:cNvPr>
          <p:cNvPicPr>
            <a:picLocks noChangeAspect="1"/>
          </p:cNvPicPr>
          <p:nvPr/>
        </p:nvPicPr>
        <p:blipFill>
          <a:blip r:embed="rId4"/>
          <a:stretch>
            <a:fillRect/>
          </a:stretch>
        </p:blipFill>
        <p:spPr>
          <a:xfrm>
            <a:off x="8606540" y="3212101"/>
            <a:ext cx="1957887" cy="995915"/>
          </a:xfrm>
          <a:prstGeom prst="rect">
            <a:avLst/>
          </a:prstGeom>
        </p:spPr>
      </p:pic>
      <p:pic>
        <p:nvPicPr>
          <p:cNvPr id="12" name="Picture 11">
            <a:extLst>
              <a:ext uri="{FF2B5EF4-FFF2-40B4-BE49-F238E27FC236}">
                <a16:creationId xmlns:a16="http://schemas.microsoft.com/office/drawing/2014/main" id="{95D594C5-9C3B-4AD2-93A1-939EC2440E73}"/>
              </a:ext>
            </a:extLst>
          </p:cNvPr>
          <p:cNvPicPr>
            <a:picLocks noChangeAspect="1"/>
          </p:cNvPicPr>
          <p:nvPr/>
        </p:nvPicPr>
        <p:blipFill>
          <a:blip r:embed="rId5"/>
          <a:stretch>
            <a:fillRect/>
          </a:stretch>
        </p:blipFill>
        <p:spPr>
          <a:xfrm>
            <a:off x="1371083" y="5094168"/>
            <a:ext cx="1869267" cy="1072989"/>
          </a:xfrm>
          <a:prstGeom prst="rect">
            <a:avLst/>
          </a:prstGeom>
        </p:spPr>
      </p:pic>
      <p:pic>
        <p:nvPicPr>
          <p:cNvPr id="13" name="Picture 12">
            <a:extLst>
              <a:ext uri="{FF2B5EF4-FFF2-40B4-BE49-F238E27FC236}">
                <a16:creationId xmlns:a16="http://schemas.microsoft.com/office/drawing/2014/main" id="{DF32D263-FD8A-40AA-818B-CC38BCE31E8C}"/>
              </a:ext>
            </a:extLst>
          </p:cNvPr>
          <p:cNvPicPr>
            <a:picLocks noChangeAspect="1"/>
          </p:cNvPicPr>
          <p:nvPr/>
        </p:nvPicPr>
        <p:blipFill>
          <a:blip r:embed="rId6"/>
          <a:stretch>
            <a:fillRect/>
          </a:stretch>
        </p:blipFill>
        <p:spPr>
          <a:xfrm>
            <a:off x="4744029" y="5576395"/>
            <a:ext cx="2700762" cy="841321"/>
          </a:xfrm>
          <a:prstGeom prst="rect">
            <a:avLst/>
          </a:prstGeom>
        </p:spPr>
      </p:pic>
      <p:pic>
        <p:nvPicPr>
          <p:cNvPr id="14" name="Picture 13">
            <a:extLst>
              <a:ext uri="{FF2B5EF4-FFF2-40B4-BE49-F238E27FC236}">
                <a16:creationId xmlns:a16="http://schemas.microsoft.com/office/drawing/2014/main" id="{E90F288C-8E6B-402D-9D26-D0E0330A723A}"/>
              </a:ext>
            </a:extLst>
          </p:cNvPr>
          <p:cNvPicPr>
            <a:picLocks noChangeAspect="1"/>
          </p:cNvPicPr>
          <p:nvPr/>
        </p:nvPicPr>
        <p:blipFill>
          <a:blip r:embed="rId7"/>
          <a:stretch>
            <a:fillRect/>
          </a:stretch>
        </p:blipFill>
        <p:spPr>
          <a:xfrm>
            <a:off x="8606540" y="5094168"/>
            <a:ext cx="1957887" cy="969348"/>
          </a:xfrm>
          <a:prstGeom prst="rect">
            <a:avLst/>
          </a:prstGeom>
        </p:spPr>
      </p:pic>
      <p:cxnSp>
        <p:nvCxnSpPr>
          <p:cNvPr id="18" name="Straight Arrow Connector 17">
            <a:extLst>
              <a:ext uri="{FF2B5EF4-FFF2-40B4-BE49-F238E27FC236}">
                <a16:creationId xmlns:a16="http://schemas.microsoft.com/office/drawing/2014/main" id="{D054D2BF-C139-4D76-B34C-261CDC4735EF}"/>
              </a:ext>
            </a:extLst>
          </p:cNvPr>
          <p:cNvCxnSpPr>
            <a:stCxn id="9" idx="3"/>
            <a:endCxn id="11" idx="1"/>
          </p:cNvCxnSpPr>
          <p:nvPr/>
        </p:nvCxnSpPr>
        <p:spPr>
          <a:xfrm flipV="1">
            <a:off x="7636832" y="3710059"/>
            <a:ext cx="969708" cy="7096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0AF90C2-4FB9-4DD9-A75E-1204FAA0D895}"/>
              </a:ext>
            </a:extLst>
          </p:cNvPr>
          <p:cNvCxnSpPr>
            <a:stCxn id="9" idx="1"/>
            <a:endCxn id="10" idx="3"/>
          </p:cNvCxnSpPr>
          <p:nvPr/>
        </p:nvCxnSpPr>
        <p:spPr>
          <a:xfrm flipH="1" flipV="1">
            <a:off x="3164044" y="3748596"/>
            <a:ext cx="1387945" cy="6710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E3A5752-A0BC-4137-A670-8E89AA9E10F5}"/>
              </a:ext>
            </a:extLst>
          </p:cNvPr>
          <p:cNvCxnSpPr>
            <a:stCxn id="9" idx="2"/>
            <a:endCxn id="13" idx="0"/>
          </p:cNvCxnSpPr>
          <p:nvPr/>
        </p:nvCxnSpPr>
        <p:spPr>
          <a:xfrm flipH="1">
            <a:off x="6094410" y="4818989"/>
            <a:ext cx="1" cy="75740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766CCA9-7BCD-41A2-9F84-A96B3339D14C}"/>
              </a:ext>
            </a:extLst>
          </p:cNvPr>
          <p:cNvCxnSpPr>
            <a:stCxn id="9" idx="1"/>
            <a:endCxn id="12" idx="3"/>
          </p:cNvCxnSpPr>
          <p:nvPr/>
        </p:nvCxnSpPr>
        <p:spPr>
          <a:xfrm flipH="1">
            <a:off x="3240350" y="4419667"/>
            <a:ext cx="1311639" cy="12109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EAC8825-0E7E-46FF-8495-576754597263}"/>
              </a:ext>
            </a:extLst>
          </p:cNvPr>
          <p:cNvCxnSpPr>
            <a:stCxn id="9" idx="3"/>
            <a:endCxn id="14" idx="1"/>
          </p:cNvCxnSpPr>
          <p:nvPr/>
        </p:nvCxnSpPr>
        <p:spPr>
          <a:xfrm>
            <a:off x="7636832" y="4419667"/>
            <a:ext cx="969708" cy="11591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1427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33DF2-F32A-4572-8799-130BA62A5BBA}"/>
              </a:ext>
            </a:extLst>
          </p:cNvPr>
          <p:cNvSpPr>
            <a:spLocks noGrp="1"/>
          </p:cNvSpPr>
          <p:nvPr>
            <p:ph type="title"/>
          </p:nvPr>
        </p:nvSpPr>
        <p:spPr/>
        <p:txBody>
          <a:bodyPr/>
          <a:lstStyle/>
          <a:p>
            <a:pPr algn="ctr"/>
            <a:r>
              <a:rPr lang="en-GB" b="1" dirty="0"/>
              <a:t>Use area of Multimedia </a:t>
            </a:r>
            <a:endParaRPr lang="LID4096" b="1" dirty="0"/>
          </a:p>
        </p:txBody>
      </p:sp>
      <p:sp>
        <p:nvSpPr>
          <p:cNvPr id="3" name="Content Placeholder 2">
            <a:extLst>
              <a:ext uri="{FF2B5EF4-FFF2-40B4-BE49-F238E27FC236}">
                <a16:creationId xmlns:a16="http://schemas.microsoft.com/office/drawing/2014/main" id="{96471353-F5EB-4F5F-ADEC-D41974D8EE64}"/>
              </a:ext>
            </a:extLst>
          </p:cNvPr>
          <p:cNvSpPr>
            <a:spLocks noGrp="1"/>
          </p:cNvSpPr>
          <p:nvPr>
            <p:ph idx="1"/>
          </p:nvPr>
        </p:nvSpPr>
        <p:spPr/>
        <p:txBody>
          <a:bodyPr/>
          <a:lstStyle/>
          <a:p>
            <a:pPr marL="457200" indent="-457200">
              <a:buFont typeface="+mj-lt"/>
              <a:buAutoNum type="arabicPeriod"/>
            </a:pPr>
            <a:r>
              <a:rPr lang="en-GB" b="1" dirty="0"/>
              <a:t>Business</a:t>
            </a:r>
            <a:r>
              <a:rPr lang="en-GB" dirty="0"/>
              <a:t> – </a:t>
            </a:r>
            <a:r>
              <a:rPr lang="en-US" dirty="0"/>
              <a:t>application  for  multimedia  include presentation, Training,  advertisement,  video, conferencing and etc. </a:t>
            </a:r>
          </a:p>
          <a:p>
            <a:pPr marL="457200" indent="-457200">
              <a:buFont typeface="+mj-lt"/>
              <a:buAutoNum type="arabicPeriod"/>
            </a:pPr>
            <a:r>
              <a:rPr lang="en-GB" b="1" dirty="0"/>
              <a:t>Education</a:t>
            </a:r>
            <a:r>
              <a:rPr lang="en-GB" dirty="0"/>
              <a:t> – </a:t>
            </a:r>
            <a:r>
              <a:rPr lang="en-US" dirty="0"/>
              <a:t>Multimedia is a better form of teaching in schools and colleges.</a:t>
            </a:r>
          </a:p>
          <a:p>
            <a:pPr marL="457200" indent="-457200">
              <a:buFont typeface="+mj-lt"/>
              <a:buAutoNum type="arabicPeriod"/>
            </a:pPr>
            <a:r>
              <a:rPr lang="en-US" b="1" dirty="0"/>
              <a:t>Home </a:t>
            </a:r>
          </a:p>
          <a:p>
            <a:pPr marL="457200" indent="-457200">
              <a:buFont typeface="+mj-lt"/>
              <a:buAutoNum type="arabicPeriod"/>
            </a:pPr>
            <a:r>
              <a:rPr lang="en-US" b="1" dirty="0"/>
              <a:t>Public</a:t>
            </a:r>
            <a:endParaRPr lang="LID4096" b="1" dirty="0"/>
          </a:p>
        </p:txBody>
      </p:sp>
      <p:sp>
        <p:nvSpPr>
          <p:cNvPr id="4" name="Footer Placeholder 3">
            <a:extLst>
              <a:ext uri="{FF2B5EF4-FFF2-40B4-BE49-F238E27FC236}">
                <a16:creationId xmlns:a16="http://schemas.microsoft.com/office/drawing/2014/main" id="{E4931F2B-62E3-4DF6-8B72-145DB4012449}"/>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DF55EA73-0366-4657-A421-6266E7635F2E}"/>
              </a:ext>
            </a:extLst>
          </p:cNvPr>
          <p:cNvSpPr>
            <a:spLocks noGrp="1"/>
          </p:cNvSpPr>
          <p:nvPr>
            <p:ph type="sldNum" sz="quarter" idx="12"/>
          </p:nvPr>
        </p:nvSpPr>
        <p:spPr/>
        <p:txBody>
          <a:bodyPr/>
          <a:lstStyle/>
          <a:p>
            <a:fld id="{E153A30B-AAA6-4D3D-89E9-8F9473C4CEC0}" type="slidenum">
              <a:rPr lang="LID4096" smtClean="0"/>
              <a:t>71</a:t>
            </a:fld>
            <a:endParaRPr lang="LID4096"/>
          </a:p>
        </p:txBody>
      </p:sp>
    </p:spTree>
    <p:extLst>
      <p:ext uri="{BB962C8B-B14F-4D97-AF65-F5344CB8AC3E}">
        <p14:creationId xmlns:p14="http://schemas.microsoft.com/office/powerpoint/2010/main" val="23858214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1E468-5D11-45F2-94A7-B33D56FC1B65}"/>
              </a:ext>
            </a:extLst>
          </p:cNvPr>
          <p:cNvSpPr>
            <a:spLocks noGrp="1"/>
          </p:cNvSpPr>
          <p:nvPr>
            <p:ph type="title"/>
          </p:nvPr>
        </p:nvSpPr>
        <p:spPr/>
        <p:txBody>
          <a:bodyPr/>
          <a:lstStyle/>
          <a:p>
            <a:pPr algn="ctr"/>
            <a:r>
              <a:rPr lang="en-GB" b="1" dirty="0"/>
              <a:t>Elements of multimedia</a:t>
            </a:r>
            <a:endParaRPr lang="LID4096" b="1" dirty="0"/>
          </a:p>
        </p:txBody>
      </p:sp>
      <p:sp>
        <p:nvSpPr>
          <p:cNvPr id="3" name="Content Placeholder 2">
            <a:extLst>
              <a:ext uri="{FF2B5EF4-FFF2-40B4-BE49-F238E27FC236}">
                <a16:creationId xmlns:a16="http://schemas.microsoft.com/office/drawing/2014/main" id="{0B2BF715-31A0-47A1-AF99-EDAA25874506}"/>
              </a:ext>
            </a:extLst>
          </p:cNvPr>
          <p:cNvSpPr>
            <a:spLocks noGrp="1"/>
          </p:cNvSpPr>
          <p:nvPr>
            <p:ph idx="1"/>
          </p:nvPr>
        </p:nvSpPr>
        <p:spPr/>
        <p:txBody>
          <a:bodyPr>
            <a:normAutofit fontScale="85000" lnSpcReduction="10000"/>
          </a:bodyPr>
          <a:lstStyle/>
          <a:p>
            <a:pPr marL="457200" indent="-457200">
              <a:buFont typeface="+mj-lt"/>
              <a:buAutoNum type="arabicPeriod"/>
            </a:pPr>
            <a:r>
              <a:rPr lang="en-GB" b="1" dirty="0"/>
              <a:t>Text</a:t>
            </a:r>
            <a:r>
              <a:rPr lang="en-US" dirty="0"/>
              <a:t> – can have different font and size to suit the presentation.</a:t>
            </a:r>
          </a:p>
          <a:p>
            <a:pPr marL="457200" indent="-457200">
              <a:buFont typeface="+mj-lt"/>
              <a:buAutoNum type="arabicPeriod"/>
            </a:pPr>
            <a:r>
              <a:rPr lang="en-US" b="1" dirty="0"/>
              <a:t>Image</a:t>
            </a:r>
            <a:r>
              <a:rPr lang="en-US" dirty="0"/>
              <a:t> – It is the most important and interesting component of multimedia.</a:t>
            </a:r>
          </a:p>
          <a:p>
            <a:pPr marL="457200" indent="-457200">
              <a:buFont typeface="+mj-lt"/>
              <a:buAutoNum type="arabicPeriod"/>
            </a:pPr>
            <a:r>
              <a:rPr lang="en-US" b="1" dirty="0"/>
              <a:t>Sound</a:t>
            </a:r>
            <a:r>
              <a:rPr lang="en-US" dirty="0"/>
              <a:t> – It is categorized by frequency ,web length, amplitude, speech etc. </a:t>
            </a:r>
            <a:r>
              <a:rPr lang="en-US" b="1" dirty="0"/>
              <a:t>Mono</a:t>
            </a:r>
            <a:r>
              <a:rPr lang="en-US" dirty="0"/>
              <a:t> uses a single audio channel and applied in public address systems e.g., podcasts, while </a:t>
            </a:r>
            <a:r>
              <a:rPr lang="en-US" b="1" dirty="0"/>
              <a:t>stereo</a:t>
            </a:r>
            <a:r>
              <a:rPr lang="en-US" dirty="0"/>
              <a:t> uses two channels (left and right) and applied in music, movies, video games etc.</a:t>
            </a:r>
          </a:p>
          <a:p>
            <a:pPr marL="457200" indent="-457200">
              <a:buFont typeface="+mj-lt"/>
              <a:buAutoNum type="arabicPeriod"/>
            </a:pPr>
            <a:r>
              <a:rPr lang="en-US" b="1" dirty="0"/>
              <a:t>Animation </a:t>
            </a:r>
            <a:r>
              <a:rPr lang="en-US" dirty="0"/>
              <a:t>– animation makes static presentations come alive. </a:t>
            </a:r>
          </a:p>
          <a:p>
            <a:pPr marL="457200" indent="-457200">
              <a:buFont typeface="+mj-lt"/>
              <a:buAutoNum type="arabicPeriod"/>
            </a:pPr>
            <a:r>
              <a:rPr lang="en-US" b="1" dirty="0"/>
              <a:t>Video</a:t>
            </a:r>
            <a:r>
              <a:rPr lang="en-US" dirty="0"/>
              <a:t> – It is the technology of capturing, recording, processing, transmitting, and reconstructing moving pictures. </a:t>
            </a:r>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GB" dirty="0"/>
          </a:p>
        </p:txBody>
      </p:sp>
      <p:sp>
        <p:nvSpPr>
          <p:cNvPr id="4" name="Footer Placeholder 3">
            <a:extLst>
              <a:ext uri="{FF2B5EF4-FFF2-40B4-BE49-F238E27FC236}">
                <a16:creationId xmlns:a16="http://schemas.microsoft.com/office/drawing/2014/main" id="{684F78C2-7E2D-4765-B6FE-23C2C93D3F3D}"/>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BC728734-74A8-4E8E-A94C-E15051CE63EC}"/>
              </a:ext>
            </a:extLst>
          </p:cNvPr>
          <p:cNvSpPr>
            <a:spLocks noGrp="1"/>
          </p:cNvSpPr>
          <p:nvPr>
            <p:ph type="sldNum" sz="quarter" idx="12"/>
          </p:nvPr>
        </p:nvSpPr>
        <p:spPr/>
        <p:txBody>
          <a:bodyPr/>
          <a:lstStyle/>
          <a:p>
            <a:fld id="{E153A30B-AAA6-4D3D-89E9-8F9473C4CEC0}" type="slidenum">
              <a:rPr lang="LID4096" smtClean="0"/>
              <a:t>72</a:t>
            </a:fld>
            <a:endParaRPr lang="LID4096"/>
          </a:p>
        </p:txBody>
      </p:sp>
    </p:spTree>
    <p:extLst>
      <p:ext uri="{BB962C8B-B14F-4D97-AF65-F5344CB8AC3E}">
        <p14:creationId xmlns:p14="http://schemas.microsoft.com/office/powerpoint/2010/main" val="24611328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9E32968-8A42-40D7-B1CA-98F261A4824A}"/>
              </a:ext>
            </a:extLst>
          </p:cNvPr>
          <p:cNvSpPr>
            <a:spLocks noGrp="1"/>
          </p:cNvSpPr>
          <p:nvPr>
            <p:ph type="ctrTitle"/>
          </p:nvPr>
        </p:nvSpPr>
        <p:spPr/>
        <p:txBody>
          <a:bodyPr/>
          <a:lstStyle/>
          <a:p>
            <a:pPr algn="ctr"/>
            <a:r>
              <a:rPr lang="en-US" b="1" dirty="0"/>
              <a:t>Multi-Media Forensics </a:t>
            </a:r>
            <a:br>
              <a:rPr lang="en-US" b="1" dirty="0"/>
            </a:br>
            <a:r>
              <a:rPr lang="en-US" b="1" dirty="0"/>
              <a:t>(Audio &amp; Video)</a:t>
            </a:r>
            <a:endParaRPr lang="LID4096" b="1" dirty="0"/>
          </a:p>
        </p:txBody>
      </p:sp>
      <p:sp>
        <p:nvSpPr>
          <p:cNvPr id="9" name="Subtitle 8">
            <a:extLst>
              <a:ext uri="{FF2B5EF4-FFF2-40B4-BE49-F238E27FC236}">
                <a16:creationId xmlns:a16="http://schemas.microsoft.com/office/drawing/2014/main" id="{C046CFEB-6A70-4612-9476-370F916E6FCB}"/>
              </a:ext>
            </a:extLst>
          </p:cNvPr>
          <p:cNvSpPr>
            <a:spLocks noGrp="1"/>
          </p:cNvSpPr>
          <p:nvPr>
            <p:ph type="subTitle" idx="1"/>
          </p:nvPr>
        </p:nvSpPr>
        <p:spPr/>
        <p:txBody>
          <a:bodyPr/>
          <a:lstStyle/>
          <a:p>
            <a:pPr algn="ctr"/>
            <a:r>
              <a:rPr lang="en-US" b="1" dirty="0"/>
              <a:t>Lecture 5.2</a:t>
            </a:r>
            <a:endParaRPr lang="LID4096" b="1" dirty="0"/>
          </a:p>
        </p:txBody>
      </p:sp>
      <p:sp>
        <p:nvSpPr>
          <p:cNvPr id="4" name="Footer Placeholder 3">
            <a:extLst>
              <a:ext uri="{FF2B5EF4-FFF2-40B4-BE49-F238E27FC236}">
                <a16:creationId xmlns:a16="http://schemas.microsoft.com/office/drawing/2014/main" id="{525002A4-18DF-4F29-ADA8-87BDFAB472B7}"/>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BA9C03FA-9BD4-4A1C-B747-6D0044FAAE49}"/>
              </a:ext>
            </a:extLst>
          </p:cNvPr>
          <p:cNvSpPr>
            <a:spLocks noGrp="1"/>
          </p:cNvSpPr>
          <p:nvPr>
            <p:ph type="sldNum" sz="quarter" idx="12"/>
          </p:nvPr>
        </p:nvSpPr>
        <p:spPr/>
        <p:txBody>
          <a:bodyPr/>
          <a:lstStyle/>
          <a:p>
            <a:fld id="{E153A30B-AAA6-4D3D-89E9-8F9473C4CEC0}" type="slidenum">
              <a:rPr lang="LID4096" smtClean="0"/>
              <a:t>73</a:t>
            </a:fld>
            <a:endParaRPr lang="LID4096"/>
          </a:p>
        </p:txBody>
      </p:sp>
    </p:spTree>
    <p:extLst>
      <p:ext uri="{BB962C8B-B14F-4D97-AF65-F5344CB8AC3E}">
        <p14:creationId xmlns:p14="http://schemas.microsoft.com/office/powerpoint/2010/main" val="3247832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27E74-D4F6-4D6E-953B-8E220D812EEC}"/>
              </a:ext>
            </a:extLst>
          </p:cNvPr>
          <p:cNvSpPr>
            <a:spLocks noGrp="1"/>
          </p:cNvSpPr>
          <p:nvPr>
            <p:ph type="title"/>
          </p:nvPr>
        </p:nvSpPr>
        <p:spPr/>
        <p:txBody>
          <a:bodyPr/>
          <a:lstStyle/>
          <a:p>
            <a:pPr algn="ctr"/>
            <a:r>
              <a:rPr lang="en-GB" b="1" dirty="0"/>
              <a:t>Introduction</a:t>
            </a:r>
            <a:endParaRPr lang="LID4096" b="1" dirty="0"/>
          </a:p>
        </p:txBody>
      </p:sp>
      <p:sp>
        <p:nvSpPr>
          <p:cNvPr id="3" name="Content Placeholder 2">
            <a:extLst>
              <a:ext uri="{FF2B5EF4-FFF2-40B4-BE49-F238E27FC236}">
                <a16:creationId xmlns:a16="http://schemas.microsoft.com/office/drawing/2014/main" id="{49773F97-4118-4368-87AE-AA856505431B}"/>
              </a:ext>
            </a:extLst>
          </p:cNvPr>
          <p:cNvSpPr>
            <a:spLocks noGrp="1"/>
          </p:cNvSpPr>
          <p:nvPr>
            <p:ph idx="1"/>
          </p:nvPr>
        </p:nvSpPr>
        <p:spPr/>
        <p:txBody>
          <a:bodyPr>
            <a:normAutofit fontScale="92500" lnSpcReduction="10000"/>
          </a:bodyPr>
          <a:lstStyle/>
          <a:p>
            <a:r>
              <a:rPr lang="en-US" dirty="0"/>
              <a:t>Unlike other forms of forensic evidence, </a:t>
            </a:r>
            <a:r>
              <a:rPr lang="en-US" b="1" dirty="0"/>
              <a:t>audio</a:t>
            </a:r>
            <a:r>
              <a:rPr lang="en-US" dirty="0"/>
              <a:t> and </a:t>
            </a:r>
            <a:r>
              <a:rPr lang="en-US" b="1" dirty="0"/>
              <a:t>video</a:t>
            </a:r>
            <a:r>
              <a:rPr lang="en-US" dirty="0"/>
              <a:t> recordings can provide a real-time, eyewitness account at a crime so investigators can watch or hear what transpired.</a:t>
            </a:r>
          </a:p>
          <a:p>
            <a:r>
              <a:rPr lang="en-GB" b="1" dirty="0"/>
              <a:t>Authentication of recordings </a:t>
            </a:r>
            <a:r>
              <a:rPr lang="en-GB" dirty="0"/>
              <a:t>– </a:t>
            </a:r>
          </a:p>
          <a:p>
            <a:pPr marL="514350" indent="-514350">
              <a:buFont typeface="+mj-lt"/>
              <a:buAutoNum type="romanLcPeriod"/>
            </a:pPr>
            <a:r>
              <a:rPr lang="en-US" dirty="0"/>
              <a:t>Lighting conditions can be examined to estimate the time of day or environmental conditions at the same time of the recording.</a:t>
            </a:r>
          </a:p>
          <a:p>
            <a:pPr marL="514350" indent="-514350">
              <a:buFont typeface="+mj-lt"/>
              <a:buAutoNum type="romanLcPeriod"/>
            </a:pPr>
            <a:r>
              <a:rPr lang="en-US" dirty="0"/>
              <a:t>Unnatural waveform present in the audio or video signal may indicate that an edit has been made.</a:t>
            </a:r>
            <a:endParaRPr lang="LID4096" dirty="0"/>
          </a:p>
        </p:txBody>
      </p:sp>
      <p:sp>
        <p:nvSpPr>
          <p:cNvPr id="4" name="Footer Placeholder 3">
            <a:extLst>
              <a:ext uri="{FF2B5EF4-FFF2-40B4-BE49-F238E27FC236}">
                <a16:creationId xmlns:a16="http://schemas.microsoft.com/office/drawing/2014/main" id="{B7A6EEF9-6809-4C60-9100-13387E6B6B52}"/>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C2DC2073-7A97-4059-93DA-34A712170EAD}"/>
              </a:ext>
            </a:extLst>
          </p:cNvPr>
          <p:cNvSpPr>
            <a:spLocks noGrp="1"/>
          </p:cNvSpPr>
          <p:nvPr>
            <p:ph type="sldNum" sz="quarter" idx="12"/>
          </p:nvPr>
        </p:nvSpPr>
        <p:spPr/>
        <p:txBody>
          <a:bodyPr/>
          <a:lstStyle/>
          <a:p>
            <a:fld id="{E153A30B-AAA6-4D3D-89E9-8F9473C4CEC0}" type="slidenum">
              <a:rPr lang="LID4096" smtClean="0"/>
              <a:t>74</a:t>
            </a:fld>
            <a:endParaRPr lang="LID4096"/>
          </a:p>
        </p:txBody>
      </p:sp>
    </p:spTree>
    <p:extLst>
      <p:ext uri="{BB962C8B-B14F-4D97-AF65-F5344CB8AC3E}">
        <p14:creationId xmlns:p14="http://schemas.microsoft.com/office/powerpoint/2010/main" val="35290089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20335-782D-405C-8CDE-58F000EFBBBC}"/>
              </a:ext>
            </a:extLst>
          </p:cNvPr>
          <p:cNvSpPr>
            <a:spLocks noGrp="1"/>
          </p:cNvSpPr>
          <p:nvPr>
            <p:ph type="title"/>
          </p:nvPr>
        </p:nvSpPr>
        <p:spPr/>
        <p:txBody>
          <a:bodyPr/>
          <a:lstStyle/>
          <a:p>
            <a:pPr algn="ctr"/>
            <a:r>
              <a:rPr lang="en-US" b="1" dirty="0"/>
              <a:t>Types of video and audio</a:t>
            </a:r>
            <a:endParaRPr lang="LID4096" b="1" dirty="0"/>
          </a:p>
        </p:txBody>
      </p:sp>
      <p:sp>
        <p:nvSpPr>
          <p:cNvPr id="3" name="Content Placeholder 2">
            <a:extLst>
              <a:ext uri="{FF2B5EF4-FFF2-40B4-BE49-F238E27FC236}">
                <a16:creationId xmlns:a16="http://schemas.microsoft.com/office/drawing/2014/main" id="{B18406F7-D5EC-43E2-8F56-889AF8E7133B}"/>
              </a:ext>
            </a:extLst>
          </p:cNvPr>
          <p:cNvSpPr>
            <a:spLocks noGrp="1"/>
          </p:cNvSpPr>
          <p:nvPr>
            <p:ph idx="1"/>
          </p:nvPr>
        </p:nvSpPr>
        <p:spPr/>
        <p:txBody>
          <a:bodyPr>
            <a:normAutofit lnSpcReduction="10000"/>
          </a:bodyPr>
          <a:lstStyle/>
          <a:p>
            <a:pPr marL="457200" indent="-457200">
              <a:buFont typeface="+mj-lt"/>
              <a:buAutoNum type="arabicPeriod"/>
            </a:pPr>
            <a:r>
              <a:rPr lang="en-GB" b="1" dirty="0"/>
              <a:t>Digital</a:t>
            </a:r>
          </a:p>
          <a:p>
            <a:r>
              <a:rPr lang="en-US" dirty="0"/>
              <a:t>Half of all Closed-Circuit Television (CCTV) evidence seized by the police today is digital.</a:t>
            </a:r>
          </a:p>
          <a:p>
            <a:r>
              <a:rPr lang="en-US" dirty="0"/>
              <a:t>Digital video recorders come in two general types, </a:t>
            </a:r>
            <a:r>
              <a:rPr lang="en-US" b="1" dirty="0"/>
              <a:t>embedded stand-alone </a:t>
            </a:r>
            <a:r>
              <a:rPr lang="en-US" dirty="0"/>
              <a:t>and </a:t>
            </a:r>
            <a:r>
              <a:rPr lang="en-US" b="1" dirty="0"/>
              <a:t>PC-based</a:t>
            </a:r>
            <a:r>
              <a:rPr lang="en-US" dirty="0"/>
              <a:t>, both types generally record the audio and video to Hard Drives, Secure Digital (SD) cards.</a:t>
            </a:r>
          </a:p>
          <a:p>
            <a:r>
              <a:rPr lang="en-US" dirty="0"/>
              <a:t>Digital video and audio </a:t>
            </a:r>
            <a:r>
              <a:rPr lang="en-US" b="1" dirty="0"/>
              <a:t>recording devices </a:t>
            </a:r>
            <a:r>
              <a:rPr lang="en-US" dirty="0"/>
              <a:t>include CDs/DVDs and USB.</a:t>
            </a:r>
          </a:p>
          <a:p>
            <a:endParaRPr lang="LID4096" dirty="0"/>
          </a:p>
        </p:txBody>
      </p:sp>
      <p:sp>
        <p:nvSpPr>
          <p:cNvPr id="4" name="Footer Placeholder 3">
            <a:extLst>
              <a:ext uri="{FF2B5EF4-FFF2-40B4-BE49-F238E27FC236}">
                <a16:creationId xmlns:a16="http://schemas.microsoft.com/office/drawing/2014/main" id="{D9609FEA-422E-4A69-9AAE-CD74254D3BB3}"/>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C6BB46B6-B8E7-482D-81FC-889B55EE9235}"/>
              </a:ext>
            </a:extLst>
          </p:cNvPr>
          <p:cNvSpPr>
            <a:spLocks noGrp="1"/>
          </p:cNvSpPr>
          <p:nvPr>
            <p:ph type="sldNum" sz="quarter" idx="12"/>
          </p:nvPr>
        </p:nvSpPr>
        <p:spPr/>
        <p:txBody>
          <a:bodyPr/>
          <a:lstStyle/>
          <a:p>
            <a:fld id="{E153A30B-AAA6-4D3D-89E9-8F9473C4CEC0}" type="slidenum">
              <a:rPr lang="LID4096" smtClean="0"/>
              <a:t>75</a:t>
            </a:fld>
            <a:endParaRPr lang="LID4096"/>
          </a:p>
        </p:txBody>
      </p:sp>
    </p:spTree>
    <p:extLst>
      <p:ext uri="{BB962C8B-B14F-4D97-AF65-F5344CB8AC3E}">
        <p14:creationId xmlns:p14="http://schemas.microsoft.com/office/powerpoint/2010/main" val="25699316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A1B35-9C97-41A2-89B1-8BEC3AA00019}"/>
              </a:ext>
            </a:extLst>
          </p:cNvPr>
          <p:cNvSpPr>
            <a:spLocks noGrp="1"/>
          </p:cNvSpPr>
          <p:nvPr>
            <p:ph type="title"/>
          </p:nvPr>
        </p:nvSpPr>
        <p:spPr/>
        <p:txBody>
          <a:bodyPr/>
          <a:lstStyle/>
          <a:p>
            <a:pPr algn="ctr"/>
            <a:r>
              <a:rPr lang="en-US" b="1" dirty="0"/>
              <a:t>Types of video and audio (Continues…)</a:t>
            </a:r>
            <a:endParaRPr lang="LID4096" b="1" dirty="0"/>
          </a:p>
        </p:txBody>
      </p:sp>
      <p:sp>
        <p:nvSpPr>
          <p:cNvPr id="3" name="Content Placeholder 2">
            <a:extLst>
              <a:ext uri="{FF2B5EF4-FFF2-40B4-BE49-F238E27FC236}">
                <a16:creationId xmlns:a16="http://schemas.microsoft.com/office/drawing/2014/main" id="{1E5F0A57-F605-4130-A424-3938A57C10E4}"/>
              </a:ext>
            </a:extLst>
          </p:cNvPr>
          <p:cNvSpPr>
            <a:spLocks noGrp="1"/>
          </p:cNvSpPr>
          <p:nvPr>
            <p:ph idx="1"/>
          </p:nvPr>
        </p:nvSpPr>
        <p:spPr/>
        <p:txBody>
          <a:bodyPr/>
          <a:lstStyle/>
          <a:p>
            <a:pPr marL="457200" indent="-457200">
              <a:buAutoNum type="arabicPeriod" startAt="2"/>
            </a:pPr>
            <a:r>
              <a:rPr lang="en-US" b="1" dirty="0"/>
              <a:t>Analog</a:t>
            </a:r>
          </a:p>
          <a:p>
            <a:r>
              <a:rPr lang="en-US" dirty="0"/>
              <a:t>Every playback of the tape will degrade the recorded images. </a:t>
            </a:r>
          </a:p>
          <a:p>
            <a:endParaRPr lang="en-US" dirty="0"/>
          </a:p>
        </p:txBody>
      </p:sp>
      <p:sp>
        <p:nvSpPr>
          <p:cNvPr id="4" name="Footer Placeholder 3">
            <a:extLst>
              <a:ext uri="{FF2B5EF4-FFF2-40B4-BE49-F238E27FC236}">
                <a16:creationId xmlns:a16="http://schemas.microsoft.com/office/drawing/2014/main" id="{2BE9E5A6-0F76-42E9-ACA3-174818F6A78D}"/>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CFD455FB-1888-4058-B9C4-3A143CDFABB5}"/>
              </a:ext>
            </a:extLst>
          </p:cNvPr>
          <p:cNvSpPr>
            <a:spLocks noGrp="1"/>
          </p:cNvSpPr>
          <p:nvPr>
            <p:ph type="sldNum" sz="quarter" idx="12"/>
          </p:nvPr>
        </p:nvSpPr>
        <p:spPr/>
        <p:txBody>
          <a:bodyPr/>
          <a:lstStyle/>
          <a:p>
            <a:fld id="{E153A30B-AAA6-4D3D-89E9-8F9473C4CEC0}" type="slidenum">
              <a:rPr lang="LID4096" smtClean="0"/>
              <a:t>76</a:t>
            </a:fld>
            <a:endParaRPr lang="LID4096"/>
          </a:p>
        </p:txBody>
      </p:sp>
    </p:spTree>
    <p:extLst>
      <p:ext uri="{BB962C8B-B14F-4D97-AF65-F5344CB8AC3E}">
        <p14:creationId xmlns:p14="http://schemas.microsoft.com/office/powerpoint/2010/main" val="404559873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1A6DF-7BFA-4C60-88D4-1AD6853AC840}"/>
              </a:ext>
            </a:extLst>
          </p:cNvPr>
          <p:cNvSpPr>
            <a:spLocks noGrp="1"/>
          </p:cNvSpPr>
          <p:nvPr>
            <p:ph type="title"/>
          </p:nvPr>
        </p:nvSpPr>
        <p:spPr/>
        <p:txBody>
          <a:bodyPr/>
          <a:lstStyle/>
          <a:p>
            <a:pPr algn="ctr"/>
            <a:r>
              <a:rPr lang="en-US" b="1" dirty="0"/>
              <a:t>Important evidence to be recorded</a:t>
            </a:r>
            <a:endParaRPr lang="LID4096" b="1" dirty="0"/>
          </a:p>
        </p:txBody>
      </p:sp>
      <p:sp>
        <p:nvSpPr>
          <p:cNvPr id="3" name="Content Placeholder 2">
            <a:extLst>
              <a:ext uri="{FF2B5EF4-FFF2-40B4-BE49-F238E27FC236}">
                <a16:creationId xmlns:a16="http://schemas.microsoft.com/office/drawing/2014/main" id="{62D10466-0171-43A8-B2E4-43E98E3AE2A8}"/>
              </a:ext>
            </a:extLst>
          </p:cNvPr>
          <p:cNvSpPr>
            <a:spLocks noGrp="1"/>
          </p:cNvSpPr>
          <p:nvPr>
            <p:ph idx="1"/>
          </p:nvPr>
        </p:nvSpPr>
        <p:spPr/>
        <p:txBody>
          <a:bodyPr/>
          <a:lstStyle/>
          <a:p>
            <a:pPr marL="514350" indent="-514350">
              <a:buFont typeface="+mj-lt"/>
              <a:buAutoNum type="romanLcPeriod"/>
            </a:pPr>
            <a:r>
              <a:rPr lang="en-US" dirty="0"/>
              <a:t>Make and model of the recording device.</a:t>
            </a:r>
          </a:p>
          <a:p>
            <a:pPr marL="514350" indent="-514350">
              <a:buFont typeface="+mj-lt"/>
              <a:buAutoNum type="romanLcPeriod"/>
            </a:pPr>
            <a:r>
              <a:rPr lang="en-US" dirty="0"/>
              <a:t>How many cameras are connected and recording.</a:t>
            </a:r>
          </a:p>
          <a:p>
            <a:pPr marL="514350" indent="-514350">
              <a:buFont typeface="+mj-lt"/>
              <a:buAutoNum type="romanLcPeriod"/>
            </a:pPr>
            <a:r>
              <a:rPr lang="en-US" dirty="0"/>
              <a:t>Whether it is recording in time-lapse mode.</a:t>
            </a:r>
          </a:p>
          <a:p>
            <a:pPr marL="514350" indent="-514350">
              <a:buFont typeface="+mj-lt"/>
              <a:buAutoNum type="romanLcPeriod"/>
            </a:pPr>
            <a:r>
              <a:rPr lang="en-US" dirty="0"/>
              <a:t>The current time/date, and the time/date on the recorder’s display</a:t>
            </a:r>
          </a:p>
          <a:p>
            <a:pPr marL="514350" indent="-514350">
              <a:buFont typeface="+mj-lt"/>
              <a:buAutoNum type="romanLcPeriod"/>
            </a:pPr>
            <a:r>
              <a:rPr lang="en-GB" dirty="0"/>
              <a:t>Cameras’ positions.</a:t>
            </a:r>
          </a:p>
        </p:txBody>
      </p:sp>
      <p:sp>
        <p:nvSpPr>
          <p:cNvPr id="4" name="Footer Placeholder 3">
            <a:extLst>
              <a:ext uri="{FF2B5EF4-FFF2-40B4-BE49-F238E27FC236}">
                <a16:creationId xmlns:a16="http://schemas.microsoft.com/office/drawing/2014/main" id="{827F22FA-610E-43AD-8343-453C665CC92E}"/>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DF273C83-DB90-4926-BB74-CC7148C1F2E4}"/>
              </a:ext>
            </a:extLst>
          </p:cNvPr>
          <p:cNvSpPr>
            <a:spLocks noGrp="1"/>
          </p:cNvSpPr>
          <p:nvPr>
            <p:ph type="sldNum" sz="quarter" idx="12"/>
          </p:nvPr>
        </p:nvSpPr>
        <p:spPr/>
        <p:txBody>
          <a:bodyPr/>
          <a:lstStyle/>
          <a:p>
            <a:fld id="{E153A30B-AAA6-4D3D-89E9-8F9473C4CEC0}" type="slidenum">
              <a:rPr lang="LID4096" smtClean="0"/>
              <a:t>77</a:t>
            </a:fld>
            <a:endParaRPr lang="LID4096"/>
          </a:p>
        </p:txBody>
      </p:sp>
    </p:spTree>
    <p:extLst>
      <p:ext uri="{BB962C8B-B14F-4D97-AF65-F5344CB8AC3E}">
        <p14:creationId xmlns:p14="http://schemas.microsoft.com/office/powerpoint/2010/main" val="41269303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64487-4E03-4E19-B1E5-0D279A7FE417}"/>
              </a:ext>
            </a:extLst>
          </p:cNvPr>
          <p:cNvSpPr>
            <a:spLocks noGrp="1"/>
          </p:cNvSpPr>
          <p:nvPr>
            <p:ph type="title"/>
          </p:nvPr>
        </p:nvSpPr>
        <p:spPr/>
        <p:txBody>
          <a:bodyPr/>
          <a:lstStyle/>
          <a:p>
            <a:pPr algn="ctr"/>
            <a:r>
              <a:rPr lang="en-GB" b="1" dirty="0"/>
              <a:t>Who Conducts the Analysis</a:t>
            </a:r>
            <a:endParaRPr lang="LID4096" b="1" dirty="0"/>
          </a:p>
        </p:txBody>
      </p:sp>
      <p:sp>
        <p:nvSpPr>
          <p:cNvPr id="3" name="Content Placeholder 2">
            <a:extLst>
              <a:ext uri="{FF2B5EF4-FFF2-40B4-BE49-F238E27FC236}">
                <a16:creationId xmlns:a16="http://schemas.microsoft.com/office/drawing/2014/main" id="{87D84397-6A3F-4AAF-96EA-E59922A9BFC1}"/>
              </a:ext>
            </a:extLst>
          </p:cNvPr>
          <p:cNvSpPr>
            <a:spLocks noGrp="1"/>
          </p:cNvSpPr>
          <p:nvPr>
            <p:ph idx="1"/>
          </p:nvPr>
        </p:nvSpPr>
        <p:spPr/>
        <p:txBody>
          <a:bodyPr/>
          <a:lstStyle/>
          <a:p>
            <a:r>
              <a:rPr lang="en-US" b="1" dirty="0"/>
              <a:t>American Society of Crime Laboratory Directors / Laboratory Accreditation Board </a:t>
            </a:r>
            <a:r>
              <a:rPr lang="en-US" dirty="0"/>
              <a:t>differentiates the audio and/or video analysis into four parts – </a:t>
            </a:r>
          </a:p>
          <a:p>
            <a:pPr marL="457200" indent="-457200">
              <a:buFont typeface="+mj-lt"/>
              <a:buAutoNum type="arabicPeriod"/>
            </a:pPr>
            <a:r>
              <a:rPr lang="en-GB" dirty="0"/>
              <a:t>Forensic audio analysis</a:t>
            </a:r>
          </a:p>
          <a:p>
            <a:pPr marL="457200" indent="-457200">
              <a:buFont typeface="+mj-lt"/>
              <a:buAutoNum type="arabicPeriod"/>
            </a:pPr>
            <a:r>
              <a:rPr lang="en-GB" dirty="0"/>
              <a:t>Forensic video analysis</a:t>
            </a:r>
          </a:p>
          <a:p>
            <a:pPr marL="457200" indent="-457200">
              <a:buFont typeface="+mj-lt"/>
              <a:buAutoNum type="arabicPeriod"/>
            </a:pPr>
            <a:r>
              <a:rPr lang="en-GB" dirty="0"/>
              <a:t>Image analysis</a:t>
            </a:r>
          </a:p>
          <a:p>
            <a:pPr marL="457200" indent="-457200">
              <a:buFont typeface="+mj-lt"/>
              <a:buAutoNum type="arabicPeriod"/>
            </a:pPr>
            <a:r>
              <a:rPr lang="en-GB" dirty="0"/>
              <a:t>Computer forensics</a:t>
            </a:r>
            <a:endParaRPr lang="LID4096" dirty="0"/>
          </a:p>
        </p:txBody>
      </p:sp>
      <p:sp>
        <p:nvSpPr>
          <p:cNvPr id="4" name="Footer Placeholder 3">
            <a:extLst>
              <a:ext uri="{FF2B5EF4-FFF2-40B4-BE49-F238E27FC236}">
                <a16:creationId xmlns:a16="http://schemas.microsoft.com/office/drawing/2014/main" id="{E0ADCA94-8895-4A05-8FAA-364D39E5EFA3}"/>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A21868A4-6E20-4903-B606-10DC821EB8C8}"/>
              </a:ext>
            </a:extLst>
          </p:cNvPr>
          <p:cNvSpPr>
            <a:spLocks noGrp="1"/>
          </p:cNvSpPr>
          <p:nvPr>
            <p:ph type="sldNum" sz="quarter" idx="12"/>
          </p:nvPr>
        </p:nvSpPr>
        <p:spPr/>
        <p:txBody>
          <a:bodyPr/>
          <a:lstStyle/>
          <a:p>
            <a:fld id="{E153A30B-AAA6-4D3D-89E9-8F9473C4CEC0}" type="slidenum">
              <a:rPr lang="LID4096" smtClean="0"/>
              <a:t>78</a:t>
            </a:fld>
            <a:endParaRPr lang="LID4096"/>
          </a:p>
        </p:txBody>
      </p:sp>
    </p:spTree>
    <p:extLst>
      <p:ext uri="{BB962C8B-B14F-4D97-AF65-F5344CB8AC3E}">
        <p14:creationId xmlns:p14="http://schemas.microsoft.com/office/powerpoint/2010/main" val="36368158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5EE2D-A1EB-4DAE-B486-E7156B007504}"/>
              </a:ext>
            </a:extLst>
          </p:cNvPr>
          <p:cNvSpPr>
            <a:spLocks noGrp="1"/>
          </p:cNvSpPr>
          <p:nvPr>
            <p:ph type="title"/>
          </p:nvPr>
        </p:nvSpPr>
        <p:spPr/>
        <p:txBody>
          <a:bodyPr/>
          <a:lstStyle/>
          <a:p>
            <a:pPr algn="ctr"/>
            <a:r>
              <a:rPr lang="en-US" b="1" dirty="0"/>
              <a:t>How the analysis is performed</a:t>
            </a:r>
            <a:endParaRPr lang="LID4096" b="1" dirty="0"/>
          </a:p>
        </p:txBody>
      </p:sp>
      <p:sp>
        <p:nvSpPr>
          <p:cNvPr id="3" name="Content Placeholder 2">
            <a:extLst>
              <a:ext uri="{FF2B5EF4-FFF2-40B4-BE49-F238E27FC236}">
                <a16:creationId xmlns:a16="http://schemas.microsoft.com/office/drawing/2014/main" id="{9D00C75C-2B86-46DB-84CA-8E947F52695C}"/>
              </a:ext>
            </a:extLst>
          </p:cNvPr>
          <p:cNvSpPr>
            <a:spLocks noGrp="1"/>
          </p:cNvSpPr>
          <p:nvPr>
            <p:ph idx="1"/>
          </p:nvPr>
        </p:nvSpPr>
        <p:spPr/>
        <p:txBody>
          <a:bodyPr/>
          <a:lstStyle/>
          <a:p>
            <a:pPr marL="514350" indent="-514350">
              <a:buFont typeface="+mj-lt"/>
              <a:buAutoNum type="romanLcPeriod"/>
            </a:pPr>
            <a:r>
              <a:rPr lang="en-US" dirty="0"/>
              <a:t>First step is to simply listen to or view the recorded footage.</a:t>
            </a:r>
          </a:p>
          <a:p>
            <a:pPr marL="514350" indent="-514350">
              <a:buFont typeface="+mj-lt"/>
              <a:buAutoNum type="romanLcPeriod"/>
            </a:pPr>
            <a:r>
              <a:rPr lang="en-US" dirty="0"/>
              <a:t>Locate the area of interest to be enhanced or examined using specialized devices and software.</a:t>
            </a:r>
          </a:p>
          <a:p>
            <a:pPr marL="514350" indent="-514350">
              <a:buFont typeface="+mj-lt"/>
              <a:buAutoNum type="romanLcPeriod"/>
            </a:pPr>
            <a:r>
              <a:rPr lang="en-US" dirty="0"/>
              <a:t>Before processing a working copy of the evidence may be created.</a:t>
            </a:r>
          </a:p>
        </p:txBody>
      </p:sp>
      <p:sp>
        <p:nvSpPr>
          <p:cNvPr id="4" name="Footer Placeholder 3">
            <a:extLst>
              <a:ext uri="{FF2B5EF4-FFF2-40B4-BE49-F238E27FC236}">
                <a16:creationId xmlns:a16="http://schemas.microsoft.com/office/drawing/2014/main" id="{821BC0B6-413F-47B7-93C4-B801B56A65EF}"/>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11CEFCA2-18C4-4A82-9D24-85ACE44F253F}"/>
              </a:ext>
            </a:extLst>
          </p:cNvPr>
          <p:cNvSpPr>
            <a:spLocks noGrp="1"/>
          </p:cNvSpPr>
          <p:nvPr>
            <p:ph type="sldNum" sz="quarter" idx="12"/>
          </p:nvPr>
        </p:nvSpPr>
        <p:spPr/>
        <p:txBody>
          <a:bodyPr/>
          <a:lstStyle/>
          <a:p>
            <a:fld id="{E153A30B-AAA6-4D3D-89E9-8F9473C4CEC0}" type="slidenum">
              <a:rPr lang="LID4096" smtClean="0"/>
              <a:t>79</a:t>
            </a:fld>
            <a:endParaRPr lang="LID4096"/>
          </a:p>
        </p:txBody>
      </p:sp>
    </p:spTree>
    <p:extLst>
      <p:ext uri="{BB962C8B-B14F-4D97-AF65-F5344CB8AC3E}">
        <p14:creationId xmlns:p14="http://schemas.microsoft.com/office/powerpoint/2010/main" val="29908321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72CA-3875-4F69-A7A0-E2E3A4DABD90}"/>
              </a:ext>
            </a:extLst>
          </p:cNvPr>
          <p:cNvSpPr>
            <a:spLocks noGrp="1"/>
          </p:cNvSpPr>
          <p:nvPr>
            <p:ph type="title"/>
          </p:nvPr>
        </p:nvSpPr>
        <p:spPr/>
        <p:txBody>
          <a:bodyPr/>
          <a:lstStyle/>
          <a:p>
            <a:pPr algn="ctr"/>
            <a:r>
              <a:rPr lang="en-GB" b="1" dirty="0"/>
              <a:t>Video Enhancement Technique</a:t>
            </a:r>
            <a:endParaRPr lang="LID4096" b="1" dirty="0"/>
          </a:p>
        </p:txBody>
      </p:sp>
      <p:sp>
        <p:nvSpPr>
          <p:cNvPr id="3" name="Content Placeholder 2">
            <a:extLst>
              <a:ext uri="{FF2B5EF4-FFF2-40B4-BE49-F238E27FC236}">
                <a16:creationId xmlns:a16="http://schemas.microsoft.com/office/drawing/2014/main" id="{C4CF0CAC-D1CA-4D19-A80C-78727CCA980B}"/>
              </a:ext>
            </a:extLst>
          </p:cNvPr>
          <p:cNvSpPr>
            <a:spLocks noGrp="1"/>
          </p:cNvSpPr>
          <p:nvPr>
            <p:ph idx="1"/>
          </p:nvPr>
        </p:nvSpPr>
        <p:spPr/>
        <p:txBody>
          <a:bodyPr>
            <a:normAutofit lnSpcReduction="10000"/>
          </a:bodyPr>
          <a:lstStyle/>
          <a:p>
            <a:pPr marL="457200" indent="-457200">
              <a:buFont typeface="+mj-lt"/>
              <a:buAutoNum type="arabicPeriod"/>
            </a:pPr>
            <a:r>
              <a:rPr lang="en-GB" b="1" dirty="0"/>
              <a:t>Sharpening</a:t>
            </a:r>
            <a:r>
              <a:rPr lang="en-GB" dirty="0"/>
              <a:t> – </a:t>
            </a:r>
            <a:r>
              <a:rPr lang="en-US" dirty="0"/>
              <a:t>Makes edges of images in the recording become more clear and distinct.</a:t>
            </a:r>
          </a:p>
          <a:p>
            <a:pPr marL="457200" indent="-457200">
              <a:buFont typeface="+mj-lt"/>
              <a:buAutoNum type="arabicPeriod"/>
            </a:pPr>
            <a:r>
              <a:rPr lang="en-GB" b="1" dirty="0"/>
              <a:t>Stabilization</a:t>
            </a:r>
            <a:r>
              <a:rPr lang="en-GB" dirty="0"/>
              <a:t> – </a:t>
            </a:r>
            <a:r>
              <a:rPr lang="en-US" dirty="0"/>
              <a:t>Reduces the amount of movement in the video, producing the smoothest possible playback.</a:t>
            </a:r>
          </a:p>
          <a:p>
            <a:pPr marL="457200" indent="-457200">
              <a:buFont typeface="+mj-lt"/>
              <a:buAutoNum type="arabicPeriod"/>
            </a:pPr>
            <a:r>
              <a:rPr lang="en-GB" b="1" dirty="0"/>
              <a:t>Masking</a:t>
            </a:r>
            <a:r>
              <a:rPr lang="en-GB" dirty="0"/>
              <a:t> – </a:t>
            </a:r>
            <a:r>
              <a:rPr lang="en-US" dirty="0"/>
              <a:t> Covers the face or areas of the video that may protect a witness, victim or law enforcement officer.</a:t>
            </a:r>
          </a:p>
          <a:p>
            <a:pPr marL="457200" indent="-457200">
              <a:buFont typeface="+mj-lt"/>
              <a:buAutoNum type="arabicPeriod"/>
            </a:pPr>
            <a:r>
              <a:rPr lang="en-US" b="1" dirty="0"/>
              <a:t>Demultiplexing</a:t>
            </a:r>
            <a:r>
              <a:rPr lang="en-US" dirty="0"/>
              <a:t> – Allows for isolation of each camera.</a:t>
            </a:r>
          </a:p>
          <a:p>
            <a:pPr marL="457200" indent="-457200">
              <a:buFont typeface="+mj-lt"/>
              <a:buAutoNum type="arabicPeriod"/>
            </a:pPr>
            <a:endParaRPr lang="LID4096" dirty="0"/>
          </a:p>
        </p:txBody>
      </p:sp>
      <p:sp>
        <p:nvSpPr>
          <p:cNvPr id="4" name="Footer Placeholder 3">
            <a:extLst>
              <a:ext uri="{FF2B5EF4-FFF2-40B4-BE49-F238E27FC236}">
                <a16:creationId xmlns:a16="http://schemas.microsoft.com/office/drawing/2014/main" id="{C5E85A9C-B8BF-4A85-818F-3893312AB792}"/>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A02E783B-C5E2-49A5-9222-8D953CBEC141}"/>
              </a:ext>
            </a:extLst>
          </p:cNvPr>
          <p:cNvSpPr>
            <a:spLocks noGrp="1"/>
          </p:cNvSpPr>
          <p:nvPr>
            <p:ph type="sldNum" sz="quarter" idx="12"/>
          </p:nvPr>
        </p:nvSpPr>
        <p:spPr/>
        <p:txBody>
          <a:bodyPr/>
          <a:lstStyle/>
          <a:p>
            <a:fld id="{E153A30B-AAA6-4D3D-89E9-8F9473C4CEC0}" type="slidenum">
              <a:rPr lang="LID4096" smtClean="0"/>
              <a:t>80</a:t>
            </a:fld>
            <a:endParaRPr lang="LID4096"/>
          </a:p>
        </p:txBody>
      </p:sp>
    </p:spTree>
    <p:extLst>
      <p:ext uri="{BB962C8B-B14F-4D97-AF65-F5344CB8AC3E}">
        <p14:creationId xmlns:p14="http://schemas.microsoft.com/office/powerpoint/2010/main" val="26656799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847D2-4410-4BDB-B8D9-45AC05062ADE}"/>
              </a:ext>
            </a:extLst>
          </p:cNvPr>
          <p:cNvSpPr>
            <a:spLocks noGrp="1"/>
          </p:cNvSpPr>
          <p:nvPr>
            <p:ph type="title"/>
          </p:nvPr>
        </p:nvSpPr>
        <p:spPr/>
        <p:txBody>
          <a:bodyPr/>
          <a:lstStyle/>
          <a:p>
            <a:pPr algn="ctr"/>
            <a:r>
              <a:rPr lang="en-GB" b="1" dirty="0"/>
              <a:t>Audio Enhancement Techniques</a:t>
            </a:r>
            <a:endParaRPr lang="LID4096" b="1" dirty="0"/>
          </a:p>
        </p:txBody>
      </p:sp>
      <p:sp>
        <p:nvSpPr>
          <p:cNvPr id="3" name="Content Placeholder 2">
            <a:extLst>
              <a:ext uri="{FF2B5EF4-FFF2-40B4-BE49-F238E27FC236}">
                <a16:creationId xmlns:a16="http://schemas.microsoft.com/office/drawing/2014/main" id="{BF4A684F-DD77-4018-A019-12D656E2BE47}"/>
              </a:ext>
            </a:extLst>
          </p:cNvPr>
          <p:cNvSpPr>
            <a:spLocks noGrp="1"/>
          </p:cNvSpPr>
          <p:nvPr>
            <p:ph idx="1"/>
          </p:nvPr>
        </p:nvSpPr>
        <p:spPr/>
        <p:txBody>
          <a:bodyPr/>
          <a:lstStyle/>
          <a:p>
            <a:pPr marL="457200" indent="-457200">
              <a:buFont typeface="+mj-lt"/>
              <a:buAutoNum type="arabicPeriod"/>
            </a:pPr>
            <a:r>
              <a:rPr lang="en-GB" b="1" dirty="0"/>
              <a:t>Frequency Equalization </a:t>
            </a:r>
            <a:r>
              <a:rPr lang="en-GB" dirty="0"/>
              <a:t>– </a:t>
            </a:r>
            <a:r>
              <a:rPr lang="en-US" dirty="0"/>
              <a:t>Highly precise equalizers can be used to boost (using </a:t>
            </a:r>
            <a:r>
              <a:rPr lang="en-US" b="1" dirty="0"/>
              <a:t>amplification</a:t>
            </a:r>
            <a:r>
              <a:rPr lang="en-US" dirty="0"/>
              <a:t>) or cut specific bands of frequencies and high noisy sound can be analyzed by a </a:t>
            </a:r>
            <a:r>
              <a:rPr lang="en-US" b="1" dirty="0"/>
              <a:t>spectrum analyzer</a:t>
            </a:r>
            <a:r>
              <a:rPr lang="en-US" dirty="0"/>
              <a:t>.</a:t>
            </a:r>
          </a:p>
          <a:p>
            <a:pPr marL="457200" indent="-457200">
              <a:buFont typeface="+mj-lt"/>
              <a:buAutoNum type="arabicPeriod"/>
            </a:pPr>
            <a:r>
              <a:rPr lang="en-GB" b="1" dirty="0"/>
              <a:t>Compression</a:t>
            </a:r>
            <a:r>
              <a:rPr lang="en-GB" dirty="0"/>
              <a:t> – </a:t>
            </a:r>
            <a:r>
              <a:rPr lang="en-US" dirty="0"/>
              <a:t>Faint sounds in the recording can be boosted by compressing.</a:t>
            </a:r>
            <a:endParaRPr lang="LID4096" dirty="0"/>
          </a:p>
        </p:txBody>
      </p:sp>
      <p:sp>
        <p:nvSpPr>
          <p:cNvPr id="4" name="Footer Placeholder 3">
            <a:extLst>
              <a:ext uri="{FF2B5EF4-FFF2-40B4-BE49-F238E27FC236}">
                <a16:creationId xmlns:a16="http://schemas.microsoft.com/office/drawing/2014/main" id="{9D5F11DE-D9DE-4637-9454-F8D4FA6F77E9}"/>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81784DFE-33A4-4036-92FC-95F9AA8BCED5}"/>
              </a:ext>
            </a:extLst>
          </p:cNvPr>
          <p:cNvSpPr>
            <a:spLocks noGrp="1"/>
          </p:cNvSpPr>
          <p:nvPr>
            <p:ph type="sldNum" sz="quarter" idx="12"/>
          </p:nvPr>
        </p:nvSpPr>
        <p:spPr/>
        <p:txBody>
          <a:bodyPr/>
          <a:lstStyle/>
          <a:p>
            <a:fld id="{E153A30B-AAA6-4D3D-89E9-8F9473C4CEC0}" type="slidenum">
              <a:rPr lang="LID4096" smtClean="0"/>
              <a:t>81</a:t>
            </a:fld>
            <a:endParaRPr lang="LID4096"/>
          </a:p>
        </p:txBody>
      </p:sp>
    </p:spTree>
    <p:extLst>
      <p:ext uri="{BB962C8B-B14F-4D97-AF65-F5344CB8AC3E}">
        <p14:creationId xmlns:p14="http://schemas.microsoft.com/office/powerpoint/2010/main" val="41434087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0D87AED-4E8C-4E41-BE19-E3262CAD5285}"/>
              </a:ext>
            </a:extLst>
          </p:cNvPr>
          <p:cNvSpPr>
            <a:spLocks noGrp="1"/>
          </p:cNvSpPr>
          <p:nvPr>
            <p:ph type="ctrTitle"/>
          </p:nvPr>
        </p:nvSpPr>
        <p:spPr/>
        <p:txBody>
          <a:bodyPr/>
          <a:lstStyle/>
          <a:p>
            <a:pPr algn="ctr"/>
            <a:r>
              <a:rPr lang="en-US" b="1" dirty="0"/>
              <a:t>Malware Forensics</a:t>
            </a:r>
            <a:endParaRPr lang="LID4096" b="1" dirty="0"/>
          </a:p>
        </p:txBody>
      </p:sp>
      <p:sp>
        <p:nvSpPr>
          <p:cNvPr id="11" name="Subtitle 10">
            <a:extLst>
              <a:ext uri="{FF2B5EF4-FFF2-40B4-BE49-F238E27FC236}">
                <a16:creationId xmlns:a16="http://schemas.microsoft.com/office/drawing/2014/main" id="{756E4D77-AF2E-45B5-B12E-390F719F8BE4}"/>
              </a:ext>
            </a:extLst>
          </p:cNvPr>
          <p:cNvSpPr>
            <a:spLocks noGrp="1"/>
          </p:cNvSpPr>
          <p:nvPr>
            <p:ph type="subTitle" idx="1"/>
          </p:nvPr>
        </p:nvSpPr>
        <p:spPr/>
        <p:txBody>
          <a:bodyPr/>
          <a:lstStyle/>
          <a:p>
            <a:pPr algn="ctr"/>
            <a:r>
              <a:rPr lang="en-US" b="1" dirty="0"/>
              <a:t>Lecture 6</a:t>
            </a:r>
            <a:endParaRPr lang="LID4096" b="1" dirty="0"/>
          </a:p>
        </p:txBody>
      </p:sp>
      <p:sp>
        <p:nvSpPr>
          <p:cNvPr id="4" name="Footer Placeholder 3">
            <a:extLst>
              <a:ext uri="{FF2B5EF4-FFF2-40B4-BE49-F238E27FC236}">
                <a16:creationId xmlns:a16="http://schemas.microsoft.com/office/drawing/2014/main" id="{00456912-6F98-4142-88D1-4FD9D142DE45}"/>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DE38CFD3-77A9-4CCE-8B86-302C4D6E1E02}"/>
              </a:ext>
            </a:extLst>
          </p:cNvPr>
          <p:cNvSpPr>
            <a:spLocks noGrp="1"/>
          </p:cNvSpPr>
          <p:nvPr>
            <p:ph type="sldNum" sz="quarter" idx="12"/>
          </p:nvPr>
        </p:nvSpPr>
        <p:spPr/>
        <p:txBody>
          <a:bodyPr/>
          <a:lstStyle/>
          <a:p>
            <a:fld id="{E153A30B-AAA6-4D3D-89E9-8F9473C4CEC0}" type="slidenum">
              <a:rPr lang="LID4096" smtClean="0"/>
              <a:t>82</a:t>
            </a:fld>
            <a:endParaRPr lang="LID4096"/>
          </a:p>
        </p:txBody>
      </p:sp>
    </p:spTree>
    <p:extLst>
      <p:ext uri="{BB962C8B-B14F-4D97-AF65-F5344CB8AC3E}">
        <p14:creationId xmlns:p14="http://schemas.microsoft.com/office/powerpoint/2010/main" val="30703626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FBBDF-D37C-4710-BBB8-10D802A2E6CD}"/>
              </a:ext>
            </a:extLst>
          </p:cNvPr>
          <p:cNvSpPr>
            <a:spLocks noGrp="1"/>
          </p:cNvSpPr>
          <p:nvPr>
            <p:ph type="title"/>
          </p:nvPr>
        </p:nvSpPr>
        <p:spPr/>
        <p:txBody>
          <a:bodyPr/>
          <a:lstStyle/>
          <a:p>
            <a:pPr algn="ctr"/>
            <a:r>
              <a:rPr lang="en-US" b="1" dirty="0"/>
              <a:t>Malware </a:t>
            </a:r>
            <a:endParaRPr lang="LID4096" b="1" dirty="0"/>
          </a:p>
        </p:txBody>
      </p:sp>
      <p:sp>
        <p:nvSpPr>
          <p:cNvPr id="3" name="Content Placeholder 2">
            <a:extLst>
              <a:ext uri="{FF2B5EF4-FFF2-40B4-BE49-F238E27FC236}">
                <a16:creationId xmlns:a16="http://schemas.microsoft.com/office/drawing/2014/main" id="{A9582418-64D1-4E18-8D07-D6AA808472CD}"/>
              </a:ext>
            </a:extLst>
          </p:cNvPr>
          <p:cNvSpPr>
            <a:spLocks noGrp="1"/>
          </p:cNvSpPr>
          <p:nvPr>
            <p:ph idx="1"/>
          </p:nvPr>
        </p:nvSpPr>
        <p:spPr/>
        <p:txBody>
          <a:bodyPr/>
          <a:lstStyle/>
          <a:p>
            <a:r>
              <a:rPr lang="en-US" dirty="0"/>
              <a:t>The word </a:t>
            </a:r>
            <a:r>
              <a:rPr lang="en-US" b="1" dirty="0"/>
              <a:t>MALWARE</a:t>
            </a:r>
            <a:r>
              <a:rPr lang="en-US" dirty="0"/>
              <a:t> comes from the combination of </a:t>
            </a:r>
            <a:r>
              <a:rPr lang="en-US" b="1" dirty="0"/>
              <a:t>Malicious</a:t>
            </a:r>
            <a:r>
              <a:rPr lang="en-US" dirty="0"/>
              <a:t> and </a:t>
            </a:r>
            <a:r>
              <a:rPr lang="en-US" b="1" dirty="0"/>
              <a:t>Software</a:t>
            </a:r>
            <a:r>
              <a:rPr lang="en-US" dirty="0"/>
              <a:t>.</a:t>
            </a:r>
          </a:p>
          <a:p>
            <a:r>
              <a:rPr lang="en-US" dirty="0"/>
              <a:t> In  Spanish, ‘</a:t>
            </a:r>
            <a:r>
              <a:rPr lang="en-US" b="1" dirty="0"/>
              <a:t>MAL</a:t>
            </a:r>
            <a:r>
              <a:rPr lang="en-US" dirty="0"/>
              <a:t>’ is a prefix that means, ‘</a:t>
            </a:r>
            <a:r>
              <a:rPr lang="en-US" b="1" dirty="0"/>
              <a:t>BAD</a:t>
            </a:r>
            <a:r>
              <a:rPr lang="en-US" dirty="0"/>
              <a:t>’ , making the term ‘</a:t>
            </a:r>
            <a:r>
              <a:rPr lang="en-US" b="1" dirty="0"/>
              <a:t>bad ware</a:t>
            </a:r>
            <a:r>
              <a:rPr lang="en-US" dirty="0"/>
              <a:t>’.</a:t>
            </a:r>
          </a:p>
          <a:p>
            <a:r>
              <a:rPr lang="en-US" dirty="0"/>
              <a:t>Malware is program that is specifically designed to gain access or damage a computer without the knowledge of the owner.</a:t>
            </a:r>
          </a:p>
          <a:p>
            <a:r>
              <a:rPr lang="en-US" dirty="0"/>
              <a:t>It’s purpose include </a:t>
            </a:r>
            <a:r>
              <a:rPr lang="en-US" b="1" dirty="0"/>
              <a:t>stealing</a:t>
            </a:r>
            <a:r>
              <a:rPr lang="en-US" dirty="0"/>
              <a:t>, </a:t>
            </a:r>
            <a:r>
              <a:rPr lang="en-US" b="1" dirty="0"/>
              <a:t>encrypting</a:t>
            </a:r>
            <a:r>
              <a:rPr lang="en-US" dirty="0"/>
              <a:t>, </a:t>
            </a:r>
            <a:r>
              <a:rPr lang="en-US" b="1" dirty="0"/>
              <a:t>deleting</a:t>
            </a:r>
            <a:r>
              <a:rPr lang="en-US" dirty="0"/>
              <a:t>, </a:t>
            </a:r>
            <a:r>
              <a:rPr lang="en-US" b="1" dirty="0"/>
              <a:t>altering</a:t>
            </a:r>
            <a:r>
              <a:rPr lang="en-US" dirty="0"/>
              <a:t> and </a:t>
            </a:r>
            <a:r>
              <a:rPr lang="en-US" b="1" dirty="0"/>
              <a:t>monitoring</a:t>
            </a:r>
            <a:r>
              <a:rPr lang="en-US" dirty="0"/>
              <a:t> user data.</a:t>
            </a:r>
          </a:p>
          <a:p>
            <a:endParaRPr lang="LID4096" dirty="0"/>
          </a:p>
        </p:txBody>
      </p:sp>
      <p:sp>
        <p:nvSpPr>
          <p:cNvPr id="4" name="Footer Placeholder 3">
            <a:extLst>
              <a:ext uri="{FF2B5EF4-FFF2-40B4-BE49-F238E27FC236}">
                <a16:creationId xmlns:a16="http://schemas.microsoft.com/office/drawing/2014/main" id="{AEBB93FB-C7D2-431C-993D-1CBBA105D310}"/>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505150B9-3251-413C-A601-8C85A62E5538}"/>
              </a:ext>
            </a:extLst>
          </p:cNvPr>
          <p:cNvSpPr>
            <a:spLocks noGrp="1"/>
          </p:cNvSpPr>
          <p:nvPr>
            <p:ph type="sldNum" sz="quarter" idx="12"/>
          </p:nvPr>
        </p:nvSpPr>
        <p:spPr/>
        <p:txBody>
          <a:bodyPr/>
          <a:lstStyle/>
          <a:p>
            <a:fld id="{E153A30B-AAA6-4D3D-89E9-8F9473C4CEC0}" type="slidenum">
              <a:rPr lang="LID4096" smtClean="0"/>
              <a:t>83</a:t>
            </a:fld>
            <a:endParaRPr lang="LID4096"/>
          </a:p>
        </p:txBody>
      </p:sp>
    </p:spTree>
    <p:extLst>
      <p:ext uri="{BB962C8B-B14F-4D97-AF65-F5344CB8AC3E}">
        <p14:creationId xmlns:p14="http://schemas.microsoft.com/office/powerpoint/2010/main" val="151940985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10E2-C182-4789-9BCF-97B81ED3CD34}"/>
              </a:ext>
            </a:extLst>
          </p:cNvPr>
          <p:cNvSpPr>
            <a:spLocks noGrp="1"/>
          </p:cNvSpPr>
          <p:nvPr>
            <p:ph type="title"/>
          </p:nvPr>
        </p:nvSpPr>
        <p:spPr/>
        <p:txBody>
          <a:bodyPr/>
          <a:lstStyle/>
          <a:p>
            <a:pPr algn="ctr"/>
            <a:r>
              <a:rPr lang="en-US" b="1" dirty="0"/>
              <a:t>History of Malware </a:t>
            </a:r>
            <a:endParaRPr lang="LID4096" b="1" dirty="0"/>
          </a:p>
        </p:txBody>
      </p:sp>
      <p:sp>
        <p:nvSpPr>
          <p:cNvPr id="3" name="Content Placeholder 2">
            <a:extLst>
              <a:ext uri="{FF2B5EF4-FFF2-40B4-BE49-F238E27FC236}">
                <a16:creationId xmlns:a16="http://schemas.microsoft.com/office/drawing/2014/main" id="{1F9D2B9A-3325-4133-A8F3-93F5577C1A55}"/>
              </a:ext>
            </a:extLst>
          </p:cNvPr>
          <p:cNvSpPr>
            <a:spLocks noGrp="1"/>
          </p:cNvSpPr>
          <p:nvPr>
            <p:ph idx="1"/>
          </p:nvPr>
        </p:nvSpPr>
        <p:spPr/>
        <p:txBody>
          <a:bodyPr>
            <a:normAutofit fontScale="92500"/>
          </a:bodyPr>
          <a:lstStyle/>
          <a:p>
            <a:r>
              <a:rPr lang="en-US" dirty="0"/>
              <a:t>People first started writing malware in the 1970s and early 1980s. They were written as experiments or  pranks for fun.</a:t>
            </a:r>
          </a:p>
          <a:p>
            <a:r>
              <a:rPr lang="en-US" dirty="0"/>
              <a:t>‘</a:t>
            </a:r>
            <a:r>
              <a:rPr lang="en-US" b="1" dirty="0"/>
              <a:t>Creeper Virus</a:t>
            </a:r>
            <a:r>
              <a:rPr lang="en-US" dirty="0"/>
              <a:t>’ created in 1971 was an experiment which did not cause damage but did foretell the future of malware with its quick spread through systems. </a:t>
            </a:r>
          </a:p>
          <a:p>
            <a:r>
              <a:rPr lang="en-US" dirty="0"/>
              <a:t>‘</a:t>
            </a:r>
            <a:r>
              <a:rPr lang="en-US" b="1" dirty="0"/>
              <a:t>Reaper</a:t>
            </a:r>
            <a:r>
              <a:rPr lang="en-US" dirty="0"/>
              <a:t>’ was created to hunt and destroy Creeper, one of the first examples of an ‘</a:t>
            </a:r>
            <a:r>
              <a:rPr lang="en-US" b="1" dirty="0"/>
              <a:t>anti-virus</a:t>
            </a:r>
            <a:r>
              <a:rPr lang="en-US" dirty="0"/>
              <a:t>’ program.</a:t>
            </a:r>
          </a:p>
          <a:p>
            <a:r>
              <a:rPr lang="en-US" dirty="0"/>
              <a:t>Term ‘</a:t>
            </a:r>
            <a:r>
              <a:rPr lang="en-US" b="1" dirty="0"/>
              <a:t>malware</a:t>
            </a:r>
            <a:r>
              <a:rPr lang="en-US" dirty="0"/>
              <a:t>’ was coined in 1990 and its use increased in the early 2000s.</a:t>
            </a:r>
          </a:p>
          <a:p>
            <a:endParaRPr lang="LID4096" dirty="0"/>
          </a:p>
        </p:txBody>
      </p:sp>
      <p:sp>
        <p:nvSpPr>
          <p:cNvPr id="4" name="Footer Placeholder 3">
            <a:extLst>
              <a:ext uri="{FF2B5EF4-FFF2-40B4-BE49-F238E27FC236}">
                <a16:creationId xmlns:a16="http://schemas.microsoft.com/office/drawing/2014/main" id="{31B0D8C8-218B-49D2-9A46-8DF6554058BC}"/>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53CCBF34-6547-4AA6-9FBA-B73B34AABCE0}"/>
              </a:ext>
            </a:extLst>
          </p:cNvPr>
          <p:cNvSpPr>
            <a:spLocks noGrp="1"/>
          </p:cNvSpPr>
          <p:nvPr>
            <p:ph type="sldNum" sz="quarter" idx="12"/>
          </p:nvPr>
        </p:nvSpPr>
        <p:spPr/>
        <p:txBody>
          <a:bodyPr/>
          <a:lstStyle/>
          <a:p>
            <a:fld id="{E153A30B-AAA6-4D3D-89E9-8F9473C4CEC0}" type="slidenum">
              <a:rPr lang="LID4096" smtClean="0"/>
              <a:t>84</a:t>
            </a:fld>
            <a:endParaRPr lang="LID4096"/>
          </a:p>
        </p:txBody>
      </p:sp>
    </p:spTree>
    <p:extLst>
      <p:ext uri="{BB962C8B-B14F-4D97-AF65-F5344CB8AC3E}">
        <p14:creationId xmlns:p14="http://schemas.microsoft.com/office/powerpoint/2010/main" val="164277565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22E59-5F78-497D-AB75-EC42C5853FBA}"/>
              </a:ext>
            </a:extLst>
          </p:cNvPr>
          <p:cNvSpPr>
            <a:spLocks noGrp="1"/>
          </p:cNvSpPr>
          <p:nvPr>
            <p:ph type="title"/>
          </p:nvPr>
        </p:nvSpPr>
        <p:spPr/>
        <p:txBody>
          <a:bodyPr/>
          <a:lstStyle/>
          <a:p>
            <a:pPr algn="ctr"/>
            <a:r>
              <a:rPr lang="en-US" b="1" dirty="0"/>
              <a:t>Distribution or Infection Methods of a Malware </a:t>
            </a:r>
            <a:endParaRPr lang="LID4096" b="1" dirty="0"/>
          </a:p>
        </p:txBody>
      </p:sp>
      <p:sp>
        <p:nvSpPr>
          <p:cNvPr id="3" name="Content Placeholder 2">
            <a:extLst>
              <a:ext uri="{FF2B5EF4-FFF2-40B4-BE49-F238E27FC236}">
                <a16:creationId xmlns:a16="http://schemas.microsoft.com/office/drawing/2014/main" id="{CED67EC6-98AB-45D8-839C-2941092DC0C3}"/>
              </a:ext>
            </a:extLst>
          </p:cNvPr>
          <p:cNvSpPr>
            <a:spLocks noGrp="1"/>
          </p:cNvSpPr>
          <p:nvPr>
            <p:ph idx="1"/>
          </p:nvPr>
        </p:nvSpPr>
        <p:spPr/>
        <p:txBody>
          <a:bodyPr/>
          <a:lstStyle/>
          <a:p>
            <a:pPr marL="457200" indent="-457200">
              <a:buFont typeface="+mj-lt"/>
              <a:buAutoNum type="alphaLcParenR"/>
            </a:pPr>
            <a:r>
              <a:rPr lang="en-US" dirty="0"/>
              <a:t>Delivered physically to a system through a storage media device such as an USB drive.</a:t>
            </a:r>
          </a:p>
          <a:p>
            <a:pPr marL="457200" indent="-457200">
              <a:buFont typeface="+mj-lt"/>
              <a:buAutoNum type="alphaLcParenR"/>
            </a:pPr>
            <a:r>
              <a:rPr lang="en-GB" dirty="0"/>
              <a:t>Drive-by-Downloads via the Internet.</a:t>
            </a:r>
          </a:p>
          <a:p>
            <a:pPr marL="457200" indent="-457200">
              <a:buFont typeface="+mj-lt"/>
              <a:buAutoNum type="alphaLcParenR"/>
            </a:pPr>
            <a:r>
              <a:rPr lang="en-US" dirty="0"/>
              <a:t>Spam E-mails and Phishing Attacks.</a:t>
            </a:r>
          </a:p>
          <a:p>
            <a:pPr marL="457200" indent="-457200">
              <a:buFont typeface="+mj-lt"/>
              <a:buAutoNum type="alphaLcParenR"/>
            </a:pPr>
            <a:r>
              <a:rPr lang="en-GB" dirty="0"/>
              <a:t>Bundled with other software.</a:t>
            </a:r>
          </a:p>
          <a:p>
            <a:pPr marL="457200" indent="-457200">
              <a:buFont typeface="+mj-lt"/>
              <a:buAutoNum type="alphaLcParenR"/>
            </a:pPr>
            <a:r>
              <a:rPr lang="en-US" dirty="0"/>
              <a:t>Accessing hacked or compromised webpages.</a:t>
            </a:r>
          </a:p>
        </p:txBody>
      </p:sp>
      <p:sp>
        <p:nvSpPr>
          <p:cNvPr id="4" name="Footer Placeholder 3">
            <a:extLst>
              <a:ext uri="{FF2B5EF4-FFF2-40B4-BE49-F238E27FC236}">
                <a16:creationId xmlns:a16="http://schemas.microsoft.com/office/drawing/2014/main" id="{F197DB03-CD92-4432-A22D-C36CB5787369}"/>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B9B52FB8-53A1-4C0B-8AA0-8DB953573C51}"/>
              </a:ext>
            </a:extLst>
          </p:cNvPr>
          <p:cNvSpPr>
            <a:spLocks noGrp="1"/>
          </p:cNvSpPr>
          <p:nvPr>
            <p:ph type="sldNum" sz="quarter" idx="12"/>
          </p:nvPr>
        </p:nvSpPr>
        <p:spPr/>
        <p:txBody>
          <a:bodyPr/>
          <a:lstStyle/>
          <a:p>
            <a:fld id="{E153A30B-AAA6-4D3D-89E9-8F9473C4CEC0}" type="slidenum">
              <a:rPr lang="LID4096" smtClean="0"/>
              <a:t>85</a:t>
            </a:fld>
            <a:endParaRPr lang="LID4096"/>
          </a:p>
        </p:txBody>
      </p:sp>
    </p:spTree>
    <p:extLst>
      <p:ext uri="{BB962C8B-B14F-4D97-AF65-F5344CB8AC3E}">
        <p14:creationId xmlns:p14="http://schemas.microsoft.com/office/powerpoint/2010/main" val="104496170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3DC03-F273-4478-B672-B8E59C76CD0A}"/>
              </a:ext>
            </a:extLst>
          </p:cNvPr>
          <p:cNvSpPr>
            <a:spLocks noGrp="1"/>
          </p:cNvSpPr>
          <p:nvPr>
            <p:ph type="title"/>
          </p:nvPr>
        </p:nvSpPr>
        <p:spPr/>
        <p:txBody>
          <a:bodyPr/>
          <a:lstStyle/>
          <a:p>
            <a:pPr algn="ctr"/>
            <a:r>
              <a:rPr lang="en-US" b="1" dirty="0"/>
              <a:t>The 5 STAGEs OF MALWARE ATTACK</a:t>
            </a:r>
            <a:endParaRPr lang="LID4096" b="1" dirty="0"/>
          </a:p>
        </p:txBody>
      </p:sp>
      <p:sp>
        <p:nvSpPr>
          <p:cNvPr id="3" name="Content Placeholder 2">
            <a:extLst>
              <a:ext uri="{FF2B5EF4-FFF2-40B4-BE49-F238E27FC236}">
                <a16:creationId xmlns:a16="http://schemas.microsoft.com/office/drawing/2014/main" id="{D4514BE5-7864-483E-A9D2-502EAB7B5386}"/>
              </a:ext>
            </a:extLst>
          </p:cNvPr>
          <p:cNvSpPr>
            <a:spLocks noGrp="1"/>
          </p:cNvSpPr>
          <p:nvPr>
            <p:ph idx="1"/>
          </p:nvPr>
        </p:nvSpPr>
        <p:spPr/>
        <p:txBody>
          <a:bodyPr/>
          <a:lstStyle/>
          <a:p>
            <a:pPr marL="0" indent="0">
              <a:buNone/>
            </a:pPr>
            <a:r>
              <a:rPr lang="en-US" dirty="0"/>
              <a:t>.</a:t>
            </a:r>
            <a:endParaRPr lang="LID4096" dirty="0"/>
          </a:p>
        </p:txBody>
      </p:sp>
      <p:sp>
        <p:nvSpPr>
          <p:cNvPr id="4" name="Footer Placeholder 3">
            <a:extLst>
              <a:ext uri="{FF2B5EF4-FFF2-40B4-BE49-F238E27FC236}">
                <a16:creationId xmlns:a16="http://schemas.microsoft.com/office/drawing/2014/main" id="{CFD14D58-D024-4B1F-B514-4B18BE036F7C}"/>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51AD5074-E319-4CE9-8CC1-062D60C39B89}"/>
              </a:ext>
            </a:extLst>
          </p:cNvPr>
          <p:cNvSpPr>
            <a:spLocks noGrp="1"/>
          </p:cNvSpPr>
          <p:nvPr>
            <p:ph type="sldNum" sz="quarter" idx="12"/>
          </p:nvPr>
        </p:nvSpPr>
        <p:spPr/>
        <p:txBody>
          <a:bodyPr/>
          <a:lstStyle/>
          <a:p>
            <a:fld id="{E153A30B-AAA6-4D3D-89E9-8F9473C4CEC0}" type="slidenum">
              <a:rPr lang="LID4096" smtClean="0"/>
              <a:t>86</a:t>
            </a:fld>
            <a:endParaRPr lang="LID4096"/>
          </a:p>
        </p:txBody>
      </p:sp>
      <p:sp>
        <p:nvSpPr>
          <p:cNvPr id="6" name="Rectangle 5">
            <a:extLst>
              <a:ext uri="{FF2B5EF4-FFF2-40B4-BE49-F238E27FC236}">
                <a16:creationId xmlns:a16="http://schemas.microsoft.com/office/drawing/2014/main" id="{3DD28C38-8842-415A-AF97-87C9FECF7B11}"/>
              </a:ext>
            </a:extLst>
          </p:cNvPr>
          <p:cNvSpPr/>
          <p:nvPr/>
        </p:nvSpPr>
        <p:spPr>
          <a:xfrm>
            <a:off x="5033913" y="2366128"/>
            <a:ext cx="2083324" cy="66930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7" name="Rectangle 6">
            <a:extLst>
              <a:ext uri="{FF2B5EF4-FFF2-40B4-BE49-F238E27FC236}">
                <a16:creationId xmlns:a16="http://schemas.microsoft.com/office/drawing/2014/main" id="{62A45C05-1D6F-4962-9ABB-8AA6CC2E9C5D}"/>
              </a:ext>
            </a:extLst>
          </p:cNvPr>
          <p:cNvSpPr/>
          <p:nvPr/>
        </p:nvSpPr>
        <p:spPr>
          <a:xfrm>
            <a:off x="9200561" y="3517769"/>
            <a:ext cx="2083324" cy="66930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Rectangle 7">
            <a:extLst>
              <a:ext uri="{FF2B5EF4-FFF2-40B4-BE49-F238E27FC236}">
                <a16:creationId xmlns:a16="http://schemas.microsoft.com/office/drawing/2014/main" id="{384E8B21-75BC-4C28-8342-0FE188B5F9D8}"/>
              </a:ext>
            </a:extLst>
          </p:cNvPr>
          <p:cNvSpPr/>
          <p:nvPr/>
        </p:nvSpPr>
        <p:spPr>
          <a:xfrm>
            <a:off x="7117237" y="4955733"/>
            <a:ext cx="2083324" cy="66930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9" name="Rectangle 8">
            <a:extLst>
              <a:ext uri="{FF2B5EF4-FFF2-40B4-BE49-F238E27FC236}">
                <a16:creationId xmlns:a16="http://schemas.microsoft.com/office/drawing/2014/main" id="{63BFAC92-7F9C-4907-8772-02B42BE1083A}"/>
              </a:ext>
            </a:extLst>
          </p:cNvPr>
          <p:cNvSpPr/>
          <p:nvPr/>
        </p:nvSpPr>
        <p:spPr>
          <a:xfrm>
            <a:off x="2950589" y="4955732"/>
            <a:ext cx="2083324" cy="66930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Rectangle 9">
            <a:extLst>
              <a:ext uri="{FF2B5EF4-FFF2-40B4-BE49-F238E27FC236}">
                <a16:creationId xmlns:a16="http://schemas.microsoft.com/office/drawing/2014/main" id="{DCB8A956-C4EE-410D-9290-CDEDE535B300}"/>
              </a:ext>
            </a:extLst>
          </p:cNvPr>
          <p:cNvSpPr/>
          <p:nvPr/>
        </p:nvSpPr>
        <p:spPr>
          <a:xfrm>
            <a:off x="867265" y="3517769"/>
            <a:ext cx="2083324" cy="66930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2" name="Straight Arrow Connector 11">
            <a:extLst>
              <a:ext uri="{FF2B5EF4-FFF2-40B4-BE49-F238E27FC236}">
                <a16:creationId xmlns:a16="http://schemas.microsoft.com/office/drawing/2014/main" id="{7CBF87F5-11F6-4CC3-83B0-F746B7869E1B}"/>
              </a:ext>
            </a:extLst>
          </p:cNvPr>
          <p:cNvCxnSpPr>
            <a:stCxn id="6" idx="3"/>
            <a:endCxn id="7" idx="1"/>
          </p:cNvCxnSpPr>
          <p:nvPr/>
        </p:nvCxnSpPr>
        <p:spPr>
          <a:xfrm>
            <a:off x="7117237" y="2700780"/>
            <a:ext cx="2083324" cy="11516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94E6781-9FBC-4CD4-80DE-4B528C75BF1C}"/>
              </a:ext>
            </a:extLst>
          </p:cNvPr>
          <p:cNvCxnSpPr>
            <a:stCxn id="7" idx="1"/>
            <a:endCxn id="8" idx="0"/>
          </p:cNvCxnSpPr>
          <p:nvPr/>
        </p:nvCxnSpPr>
        <p:spPr>
          <a:xfrm flipH="1">
            <a:off x="8158899" y="3852421"/>
            <a:ext cx="1041662" cy="11033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1CFB69E-356E-4B4E-A395-9D3F15771352}"/>
              </a:ext>
            </a:extLst>
          </p:cNvPr>
          <p:cNvCxnSpPr>
            <a:stCxn id="8" idx="1"/>
            <a:endCxn id="9" idx="3"/>
          </p:cNvCxnSpPr>
          <p:nvPr/>
        </p:nvCxnSpPr>
        <p:spPr>
          <a:xfrm flipH="1" flipV="1">
            <a:off x="5033913" y="5290384"/>
            <a:ext cx="208332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E78E750-DE59-4446-AAD3-DDBFABA16A4C}"/>
              </a:ext>
            </a:extLst>
          </p:cNvPr>
          <p:cNvCxnSpPr>
            <a:stCxn id="9" idx="0"/>
            <a:endCxn id="10" idx="3"/>
          </p:cNvCxnSpPr>
          <p:nvPr/>
        </p:nvCxnSpPr>
        <p:spPr>
          <a:xfrm flipH="1" flipV="1">
            <a:off x="2950589" y="3852421"/>
            <a:ext cx="1041662" cy="11033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40404C0-DEDC-4A07-AB26-3A6500522FE4}"/>
              </a:ext>
            </a:extLst>
          </p:cNvPr>
          <p:cNvCxnSpPr>
            <a:stCxn id="10" idx="3"/>
            <a:endCxn id="6" idx="1"/>
          </p:cNvCxnSpPr>
          <p:nvPr/>
        </p:nvCxnSpPr>
        <p:spPr>
          <a:xfrm flipV="1">
            <a:off x="2950589" y="2700780"/>
            <a:ext cx="2083324" cy="11516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B45F32C3-B87A-4336-8FA0-F8FCF9D3192B}"/>
              </a:ext>
            </a:extLst>
          </p:cNvPr>
          <p:cNvSpPr/>
          <p:nvPr/>
        </p:nvSpPr>
        <p:spPr>
          <a:xfrm>
            <a:off x="5627375" y="2411437"/>
            <a:ext cx="896399" cy="523220"/>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Entry</a:t>
            </a:r>
          </a:p>
        </p:txBody>
      </p:sp>
      <p:sp>
        <p:nvSpPr>
          <p:cNvPr id="23" name="Rectangle 22">
            <a:extLst>
              <a:ext uri="{FF2B5EF4-FFF2-40B4-BE49-F238E27FC236}">
                <a16:creationId xmlns:a16="http://schemas.microsoft.com/office/drawing/2014/main" id="{3BDE4B63-2F94-40E9-8A0E-2C82771F4915}"/>
              </a:ext>
            </a:extLst>
          </p:cNvPr>
          <p:cNvSpPr/>
          <p:nvPr/>
        </p:nvSpPr>
        <p:spPr>
          <a:xfrm>
            <a:off x="9359613" y="3590810"/>
            <a:ext cx="1765227" cy="523220"/>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Distribution</a:t>
            </a:r>
          </a:p>
        </p:txBody>
      </p:sp>
      <p:sp>
        <p:nvSpPr>
          <p:cNvPr id="24" name="Rectangle 23">
            <a:extLst>
              <a:ext uri="{FF2B5EF4-FFF2-40B4-BE49-F238E27FC236}">
                <a16:creationId xmlns:a16="http://schemas.microsoft.com/office/drawing/2014/main" id="{CB3EC348-E0DD-4C45-A1CC-0EFFA01F0223}"/>
              </a:ext>
            </a:extLst>
          </p:cNvPr>
          <p:cNvSpPr/>
          <p:nvPr/>
        </p:nvSpPr>
        <p:spPr>
          <a:xfrm>
            <a:off x="7581659" y="5004062"/>
            <a:ext cx="1154483" cy="523220"/>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Exploit</a:t>
            </a:r>
          </a:p>
        </p:txBody>
      </p:sp>
      <p:sp>
        <p:nvSpPr>
          <p:cNvPr id="25" name="Rectangle 24">
            <a:extLst>
              <a:ext uri="{FF2B5EF4-FFF2-40B4-BE49-F238E27FC236}">
                <a16:creationId xmlns:a16="http://schemas.microsoft.com/office/drawing/2014/main" id="{DFDA3A4E-9524-4FD5-98FA-297F126F5710}"/>
              </a:ext>
            </a:extLst>
          </p:cNvPr>
          <p:cNvSpPr/>
          <p:nvPr/>
        </p:nvSpPr>
        <p:spPr>
          <a:xfrm>
            <a:off x="3302094" y="5004062"/>
            <a:ext cx="1370889" cy="523220"/>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Infection</a:t>
            </a:r>
          </a:p>
        </p:txBody>
      </p:sp>
      <p:sp>
        <p:nvSpPr>
          <p:cNvPr id="26" name="Rectangle 25">
            <a:extLst>
              <a:ext uri="{FF2B5EF4-FFF2-40B4-BE49-F238E27FC236}">
                <a16:creationId xmlns:a16="http://schemas.microsoft.com/office/drawing/2014/main" id="{1DABC04A-2C75-4208-9722-8CB8FE0A72F4}"/>
              </a:ext>
            </a:extLst>
          </p:cNvPr>
          <p:cNvSpPr/>
          <p:nvPr/>
        </p:nvSpPr>
        <p:spPr>
          <a:xfrm>
            <a:off x="1153431" y="3590810"/>
            <a:ext cx="1501566" cy="523220"/>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Execution</a:t>
            </a:r>
          </a:p>
        </p:txBody>
      </p:sp>
    </p:spTree>
    <p:extLst>
      <p:ext uri="{BB962C8B-B14F-4D97-AF65-F5344CB8AC3E}">
        <p14:creationId xmlns:p14="http://schemas.microsoft.com/office/powerpoint/2010/main" val="237996903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7DC7F-A389-4C06-8E46-F0B58592C4CB}"/>
              </a:ext>
            </a:extLst>
          </p:cNvPr>
          <p:cNvSpPr>
            <a:spLocks noGrp="1"/>
          </p:cNvSpPr>
          <p:nvPr>
            <p:ph type="title"/>
          </p:nvPr>
        </p:nvSpPr>
        <p:spPr/>
        <p:txBody>
          <a:bodyPr/>
          <a:lstStyle/>
          <a:p>
            <a:pPr algn="ctr"/>
            <a:r>
              <a:rPr lang="en-GB" b="1" dirty="0"/>
              <a:t>TYPES OF MALWARE</a:t>
            </a:r>
            <a:endParaRPr lang="LID4096" b="1" dirty="0"/>
          </a:p>
        </p:txBody>
      </p:sp>
      <p:sp>
        <p:nvSpPr>
          <p:cNvPr id="3" name="Content Placeholder 2">
            <a:extLst>
              <a:ext uri="{FF2B5EF4-FFF2-40B4-BE49-F238E27FC236}">
                <a16:creationId xmlns:a16="http://schemas.microsoft.com/office/drawing/2014/main" id="{4DE87AC7-0CCF-499C-A751-C7A65B9208DC}"/>
              </a:ext>
            </a:extLst>
          </p:cNvPr>
          <p:cNvSpPr>
            <a:spLocks noGrp="1"/>
          </p:cNvSpPr>
          <p:nvPr>
            <p:ph idx="1"/>
          </p:nvPr>
        </p:nvSpPr>
        <p:spPr/>
        <p:txBody>
          <a:bodyPr>
            <a:normAutofit fontScale="92500"/>
          </a:bodyPr>
          <a:lstStyle/>
          <a:p>
            <a:pPr marL="457200" indent="-457200">
              <a:buFont typeface="+mj-lt"/>
              <a:buAutoNum type="arabicPeriod"/>
            </a:pPr>
            <a:r>
              <a:rPr lang="en-GB" b="1" dirty="0"/>
              <a:t>Virus</a:t>
            </a:r>
          </a:p>
          <a:p>
            <a:r>
              <a:rPr lang="en-US" dirty="0"/>
              <a:t>Is a computer program that infects a host computer and then spreads when executed.</a:t>
            </a:r>
          </a:p>
          <a:p>
            <a:pPr marL="514350" indent="-514350">
              <a:buFont typeface="+mj-lt"/>
              <a:buAutoNum type="romanLcPeriod"/>
            </a:pPr>
            <a:r>
              <a:rPr lang="en-US" b="1" dirty="0"/>
              <a:t>Boot Sector </a:t>
            </a:r>
            <a:r>
              <a:rPr lang="en-US" dirty="0"/>
              <a:t>– infects the boot sector of disk storage (MBR).</a:t>
            </a:r>
          </a:p>
          <a:p>
            <a:pPr marL="514350" indent="-514350">
              <a:buFont typeface="+mj-lt"/>
              <a:buAutoNum type="romanLcPeriod"/>
            </a:pPr>
            <a:r>
              <a:rPr lang="en-US" b="1" dirty="0"/>
              <a:t>Macro</a:t>
            </a:r>
            <a:r>
              <a:rPr lang="en-US" dirty="0"/>
              <a:t> – exploits the macro language of a program like Microsoft Word or Excel.</a:t>
            </a:r>
          </a:p>
          <a:p>
            <a:pPr marL="514350" indent="-514350">
              <a:buFont typeface="+mj-lt"/>
              <a:buAutoNum type="romanLcPeriod"/>
            </a:pPr>
            <a:r>
              <a:rPr lang="en-US" b="1" dirty="0"/>
              <a:t>Logic/Time Bomb </a:t>
            </a:r>
            <a:r>
              <a:rPr lang="en-US" dirty="0"/>
              <a:t>– malicious code embedded in a program that executes when certain conditions are met.</a:t>
            </a:r>
            <a:endParaRPr lang="LID4096" dirty="0"/>
          </a:p>
        </p:txBody>
      </p:sp>
      <p:sp>
        <p:nvSpPr>
          <p:cNvPr id="4" name="Footer Placeholder 3">
            <a:extLst>
              <a:ext uri="{FF2B5EF4-FFF2-40B4-BE49-F238E27FC236}">
                <a16:creationId xmlns:a16="http://schemas.microsoft.com/office/drawing/2014/main" id="{F7B838CB-B5B7-411B-BB02-C509A62A4F63}"/>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374CBD72-9DDA-4AE9-B96C-39CA7A7C25C6}"/>
              </a:ext>
            </a:extLst>
          </p:cNvPr>
          <p:cNvSpPr>
            <a:spLocks noGrp="1"/>
          </p:cNvSpPr>
          <p:nvPr>
            <p:ph type="sldNum" sz="quarter" idx="12"/>
          </p:nvPr>
        </p:nvSpPr>
        <p:spPr/>
        <p:txBody>
          <a:bodyPr/>
          <a:lstStyle/>
          <a:p>
            <a:fld id="{E153A30B-AAA6-4D3D-89E9-8F9473C4CEC0}" type="slidenum">
              <a:rPr lang="LID4096" smtClean="0"/>
              <a:t>87</a:t>
            </a:fld>
            <a:endParaRPr lang="LID4096"/>
          </a:p>
        </p:txBody>
      </p:sp>
    </p:spTree>
    <p:extLst>
      <p:ext uri="{BB962C8B-B14F-4D97-AF65-F5344CB8AC3E}">
        <p14:creationId xmlns:p14="http://schemas.microsoft.com/office/powerpoint/2010/main" val="124855290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0F184-4F9E-4B1C-BF47-855FAAD5B453}"/>
              </a:ext>
            </a:extLst>
          </p:cNvPr>
          <p:cNvSpPr>
            <a:spLocks noGrp="1"/>
          </p:cNvSpPr>
          <p:nvPr>
            <p:ph type="title"/>
          </p:nvPr>
        </p:nvSpPr>
        <p:spPr/>
        <p:txBody>
          <a:bodyPr/>
          <a:lstStyle/>
          <a:p>
            <a:pPr algn="ctr"/>
            <a:r>
              <a:rPr lang="en-GB" b="1" dirty="0"/>
              <a:t>TYPES OF MALWARE (Continues…)</a:t>
            </a:r>
            <a:endParaRPr lang="LID4096" dirty="0"/>
          </a:p>
        </p:txBody>
      </p:sp>
      <p:sp>
        <p:nvSpPr>
          <p:cNvPr id="3" name="Content Placeholder 2">
            <a:extLst>
              <a:ext uri="{FF2B5EF4-FFF2-40B4-BE49-F238E27FC236}">
                <a16:creationId xmlns:a16="http://schemas.microsoft.com/office/drawing/2014/main" id="{C92677CF-856E-49CE-B371-EED70C97891E}"/>
              </a:ext>
            </a:extLst>
          </p:cNvPr>
          <p:cNvSpPr>
            <a:spLocks noGrp="1"/>
          </p:cNvSpPr>
          <p:nvPr>
            <p:ph idx="1"/>
          </p:nvPr>
        </p:nvSpPr>
        <p:spPr/>
        <p:txBody>
          <a:bodyPr>
            <a:normAutofit lnSpcReduction="10000"/>
          </a:bodyPr>
          <a:lstStyle/>
          <a:p>
            <a:pPr marL="457200" indent="-457200">
              <a:buAutoNum type="arabicPeriod" startAt="2"/>
            </a:pPr>
            <a:r>
              <a:rPr lang="en-US" b="1" dirty="0"/>
              <a:t>Worms</a:t>
            </a:r>
          </a:p>
          <a:p>
            <a:r>
              <a:rPr lang="en-US" dirty="0"/>
              <a:t>are very similar to a virus, but it can send copies of itself to other nodes on a computer network without having to be carried by an infected host file.</a:t>
            </a:r>
          </a:p>
          <a:p>
            <a:pPr marL="514350" indent="-514350">
              <a:buFont typeface="+mj-lt"/>
              <a:buAutoNum type="romanLcPeriod"/>
            </a:pPr>
            <a:r>
              <a:rPr lang="en-US" b="1" dirty="0"/>
              <a:t>Email</a:t>
            </a:r>
            <a:r>
              <a:rPr lang="en-US" dirty="0"/>
              <a:t> – spreads itself through an email and can hide itself in messages as a link or an attachment that will redirect the user to an infected website.</a:t>
            </a:r>
          </a:p>
          <a:p>
            <a:pPr marL="514350" indent="-514350">
              <a:buFont typeface="+mj-lt"/>
              <a:buAutoNum type="romanLcPeriod"/>
            </a:pPr>
            <a:r>
              <a:rPr lang="en-US" b="1" dirty="0"/>
              <a:t>Instant Messaging </a:t>
            </a:r>
            <a:r>
              <a:rPr lang="en-US" dirty="0"/>
              <a:t>– a link that will redirect the user to an infected website will be shared though an IM like WhatsApp.</a:t>
            </a:r>
          </a:p>
          <a:p>
            <a:endParaRPr lang="en-US" dirty="0"/>
          </a:p>
        </p:txBody>
      </p:sp>
      <p:sp>
        <p:nvSpPr>
          <p:cNvPr id="4" name="Footer Placeholder 3">
            <a:extLst>
              <a:ext uri="{FF2B5EF4-FFF2-40B4-BE49-F238E27FC236}">
                <a16:creationId xmlns:a16="http://schemas.microsoft.com/office/drawing/2014/main" id="{ECCB5C3D-6CC2-4530-8F62-F2236AF53A81}"/>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B18D2343-D438-4E71-AB07-43D96D0A551E}"/>
              </a:ext>
            </a:extLst>
          </p:cNvPr>
          <p:cNvSpPr>
            <a:spLocks noGrp="1"/>
          </p:cNvSpPr>
          <p:nvPr>
            <p:ph type="sldNum" sz="quarter" idx="12"/>
          </p:nvPr>
        </p:nvSpPr>
        <p:spPr/>
        <p:txBody>
          <a:bodyPr/>
          <a:lstStyle/>
          <a:p>
            <a:fld id="{E153A30B-AAA6-4D3D-89E9-8F9473C4CEC0}" type="slidenum">
              <a:rPr lang="LID4096" smtClean="0"/>
              <a:t>88</a:t>
            </a:fld>
            <a:endParaRPr lang="LID4096"/>
          </a:p>
        </p:txBody>
      </p:sp>
    </p:spTree>
    <p:extLst>
      <p:ext uri="{BB962C8B-B14F-4D97-AF65-F5344CB8AC3E}">
        <p14:creationId xmlns:p14="http://schemas.microsoft.com/office/powerpoint/2010/main" val="352748075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8F61E-0B2A-4735-9F2F-F80C0F4AC286}"/>
              </a:ext>
            </a:extLst>
          </p:cNvPr>
          <p:cNvSpPr>
            <a:spLocks noGrp="1"/>
          </p:cNvSpPr>
          <p:nvPr>
            <p:ph type="title"/>
          </p:nvPr>
        </p:nvSpPr>
        <p:spPr/>
        <p:txBody>
          <a:bodyPr/>
          <a:lstStyle/>
          <a:p>
            <a:pPr algn="ctr"/>
            <a:r>
              <a:rPr lang="en-GB" b="1" dirty="0"/>
              <a:t>TYPES OF MALWARE (Continues…)</a:t>
            </a:r>
            <a:endParaRPr lang="LID4096" dirty="0"/>
          </a:p>
        </p:txBody>
      </p:sp>
      <p:sp>
        <p:nvSpPr>
          <p:cNvPr id="3" name="Content Placeholder 2">
            <a:extLst>
              <a:ext uri="{FF2B5EF4-FFF2-40B4-BE49-F238E27FC236}">
                <a16:creationId xmlns:a16="http://schemas.microsoft.com/office/drawing/2014/main" id="{AEE4B5F1-8ACB-4658-8BA4-8718CC918801}"/>
              </a:ext>
            </a:extLst>
          </p:cNvPr>
          <p:cNvSpPr>
            <a:spLocks noGrp="1"/>
          </p:cNvSpPr>
          <p:nvPr>
            <p:ph idx="1"/>
          </p:nvPr>
        </p:nvSpPr>
        <p:spPr/>
        <p:txBody>
          <a:bodyPr>
            <a:normAutofit/>
          </a:bodyPr>
          <a:lstStyle/>
          <a:p>
            <a:pPr marL="457200" indent="-457200">
              <a:buAutoNum type="arabicPeriod" startAt="3"/>
            </a:pPr>
            <a:r>
              <a:rPr lang="en-US" b="1" dirty="0"/>
              <a:t>Trojan Horse </a:t>
            </a:r>
          </a:p>
          <a:p>
            <a:r>
              <a:rPr lang="en-US" dirty="0"/>
              <a:t>is a program that appears harmless, but is, in fact, malicious. </a:t>
            </a:r>
          </a:p>
          <a:p>
            <a:pPr marL="514350" indent="-514350">
              <a:buFont typeface="+mj-lt"/>
              <a:buAutoNum type="romanLcPeriod"/>
            </a:pPr>
            <a:r>
              <a:rPr lang="en-US" b="1" dirty="0"/>
              <a:t>Remote Access Trojans (RATs) </a:t>
            </a:r>
            <a:r>
              <a:rPr lang="en-US" dirty="0"/>
              <a:t>– allow attackers to take control of the victim’s computer remotely.</a:t>
            </a:r>
          </a:p>
          <a:p>
            <a:pPr marL="514350" indent="-514350">
              <a:buFont typeface="+mj-lt"/>
              <a:buAutoNum type="romanLcPeriod"/>
            </a:pPr>
            <a:r>
              <a:rPr lang="en-US" b="1" dirty="0"/>
              <a:t>DDoS Trojans </a:t>
            </a:r>
            <a:r>
              <a:rPr lang="en-US" dirty="0"/>
              <a:t>– turn infected machines into bots to flood target </a:t>
            </a:r>
            <a:r>
              <a:rPr lang="en-US"/>
              <a:t>servers.</a:t>
            </a:r>
            <a:endParaRPr lang="en-US" dirty="0"/>
          </a:p>
        </p:txBody>
      </p:sp>
      <p:sp>
        <p:nvSpPr>
          <p:cNvPr id="4" name="Footer Placeholder 3">
            <a:extLst>
              <a:ext uri="{FF2B5EF4-FFF2-40B4-BE49-F238E27FC236}">
                <a16:creationId xmlns:a16="http://schemas.microsoft.com/office/drawing/2014/main" id="{EBC0FD3B-52EA-4890-B3B8-A02395E34E33}"/>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4B681C58-096E-462D-94D2-80511428199F}"/>
              </a:ext>
            </a:extLst>
          </p:cNvPr>
          <p:cNvSpPr>
            <a:spLocks noGrp="1"/>
          </p:cNvSpPr>
          <p:nvPr>
            <p:ph type="sldNum" sz="quarter" idx="12"/>
          </p:nvPr>
        </p:nvSpPr>
        <p:spPr/>
        <p:txBody>
          <a:bodyPr/>
          <a:lstStyle/>
          <a:p>
            <a:fld id="{E153A30B-AAA6-4D3D-89E9-8F9473C4CEC0}" type="slidenum">
              <a:rPr lang="LID4096" smtClean="0"/>
              <a:t>89</a:t>
            </a:fld>
            <a:endParaRPr lang="LID4096"/>
          </a:p>
        </p:txBody>
      </p:sp>
    </p:spTree>
    <p:extLst>
      <p:ext uri="{BB962C8B-B14F-4D97-AF65-F5344CB8AC3E}">
        <p14:creationId xmlns:p14="http://schemas.microsoft.com/office/powerpoint/2010/main" val="12080392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BC3A4-BE86-435B-B7C1-D26F025B2EF8}"/>
              </a:ext>
            </a:extLst>
          </p:cNvPr>
          <p:cNvSpPr>
            <a:spLocks noGrp="1"/>
          </p:cNvSpPr>
          <p:nvPr>
            <p:ph type="title"/>
          </p:nvPr>
        </p:nvSpPr>
        <p:spPr/>
        <p:txBody>
          <a:bodyPr/>
          <a:lstStyle/>
          <a:p>
            <a:pPr algn="ctr"/>
            <a:r>
              <a:rPr lang="en-GB" b="1" dirty="0"/>
              <a:t>TYPES OF MALWARE (Continues…)</a:t>
            </a:r>
            <a:endParaRPr lang="LID4096" dirty="0"/>
          </a:p>
        </p:txBody>
      </p:sp>
      <p:sp>
        <p:nvSpPr>
          <p:cNvPr id="3" name="Content Placeholder 2">
            <a:extLst>
              <a:ext uri="{FF2B5EF4-FFF2-40B4-BE49-F238E27FC236}">
                <a16:creationId xmlns:a16="http://schemas.microsoft.com/office/drawing/2014/main" id="{5EA22771-1762-4B1F-8F10-5EDD76B54A8E}"/>
              </a:ext>
            </a:extLst>
          </p:cNvPr>
          <p:cNvSpPr>
            <a:spLocks noGrp="1"/>
          </p:cNvSpPr>
          <p:nvPr>
            <p:ph idx="1"/>
          </p:nvPr>
        </p:nvSpPr>
        <p:spPr/>
        <p:txBody>
          <a:bodyPr/>
          <a:lstStyle/>
          <a:p>
            <a:pPr marL="514350" indent="-514350">
              <a:buAutoNum type="romanLcPeriod" startAt="3"/>
            </a:pPr>
            <a:r>
              <a:rPr lang="en-US" b="1" dirty="0"/>
              <a:t>Rootkit</a:t>
            </a:r>
            <a:r>
              <a:rPr lang="en-US" dirty="0"/>
              <a:t> </a:t>
            </a:r>
          </a:p>
          <a:p>
            <a:r>
              <a:rPr lang="en-US" dirty="0"/>
              <a:t>It is a computer program designed to provide continued privileged access to a computer while actively hiding its presence.</a:t>
            </a:r>
          </a:p>
          <a:p>
            <a:r>
              <a:rPr lang="en-US" dirty="0"/>
              <a:t>Originally, a rootkit was a collection of tools that enabled administrator-level access to a computer or network.</a:t>
            </a:r>
          </a:p>
          <a:p>
            <a:endParaRPr lang="en-US" dirty="0"/>
          </a:p>
        </p:txBody>
      </p:sp>
      <p:sp>
        <p:nvSpPr>
          <p:cNvPr id="4" name="Footer Placeholder 3">
            <a:extLst>
              <a:ext uri="{FF2B5EF4-FFF2-40B4-BE49-F238E27FC236}">
                <a16:creationId xmlns:a16="http://schemas.microsoft.com/office/drawing/2014/main" id="{BCA99746-7CAC-49DE-B658-908803965A52}"/>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CEECC9EA-D5F2-4E50-A044-BD082B52E44E}"/>
              </a:ext>
            </a:extLst>
          </p:cNvPr>
          <p:cNvSpPr>
            <a:spLocks noGrp="1"/>
          </p:cNvSpPr>
          <p:nvPr>
            <p:ph type="sldNum" sz="quarter" idx="12"/>
          </p:nvPr>
        </p:nvSpPr>
        <p:spPr/>
        <p:txBody>
          <a:bodyPr/>
          <a:lstStyle/>
          <a:p>
            <a:fld id="{E153A30B-AAA6-4D3D-89E9-8F9473C4CEC0}" type="slidenum">
              <a:rPr lang="LID4096" smtClean="0"/>
              <a:t>90</a:t>
            </a:fld>
            <a:endParaRPr lang="LID4096"/>
          </a:p>
        </p:txBody>
      </p:sp>
    </p:spTree>
    <p:extLst>
      <p:ext uri="{BB962C8B-B14F-4D97-AF65-F5344CB8AC3E}">
        <p14:creationId xmlns:p14="http://schemas.microsoft.com/office/powerpoint/2010/main" val="365931791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DBF64-49B2-434A-A09A-090B635205BC}"/>
              </a:ext>
            </a:extLst>
          </p:cNvPr>
          <p:cNvSpPr>
            <a:spLocks noGrp="1"/>
          </p:cNvSpPr>
          <p:nvPr>
            <p:ph type="title"/>
          </p:nvPr>
        </p:nvSpPr>
        <p:spPr/>
        <p:txBody>
          <a:bodyPr/>
          <a:lstStyle/>
          <a:p>
            <a:pPr algn="ctr"/>
            <a:r>
              <a:rPr lang="en-GB" b="1" dirty="0"/>
              <a:t>TYPES OF MALWARE (Continues…)</a:t>
            </a:r>
            <a:endParaRPr lang="LID4096" dirty="0"/>
          </a:p>
        </p:txBody>
      </p:sp>
      <p:sp>
        <p:nvSpPr>
          <p:cNvPr id="3" name="Content Placeholder 2">
            <a:extLst>
              <a:ext uri="{FF2B5EF4-FFF2-40B4-BE49-F238E27FC236}">
                <a16:creationId xmlns:a16="http://schemas.microsoft.com/office/drawing/2014/main" id="{B87E64CE-C3F9-47EE-AD9E-4AE0DBBD8C5D}"/>
              </a:ext>
            </a:extLst>
          </p:cNvPr>
          <p:cNvSpPr>
            <a:spLocks noGrp="1"/>
          </p:cNvSpPr>
          <p:nvPr>
            <p:ph idx="1"/>
          </p:nvPr>
        </p:nvSpPr>
        <p:spPr/>
        <p:txBody>
          <a:bodyPr/>
          <a:lstStyle/>
          <a:p>
            <a:pPr marL="514350" indent="-514350">
              <a:buFont typeface="Arial" panose="020B0604020202020204" pitchFamily="34" charset="0"/>
              <a:buAutoNum type="romanLcPeriod" startAt="4"/>
            </a:pPr>
            <a:r>
              <a:rPr lang="en-US" b="1" dirty="0"/>
              <a:t>Fake Antivirus Trojans (Scareware)</a:t>
            </a:r>
          </a:p>
          <a:p>
            <a:r>
              <a:rPr lang="en-US" dirty="0"/>
              <a:t>is a type  of malware designed to trick victims into purchasing and  downloading useless and potentially  dangerous software.</a:t>
            </a:r>
          </a:p>
        </p:txBody>
      </p:sp>
      <p:sp>
        <p:nvSpPr>
          <p:cNvPr id="4" name="Footer Placeholder 3">
            <a:extLst>
              <a:ext uri="{FF2B5EF4-FFF2-40B4-BE49-F238E27FC236}">
                <a16:creationId xmlns:a16="http://schemas.microsoft.com/office/drawing/2014/main" id="{E263D2B1-9160-4629-921C-B3031716E93E}"/>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3F4043D3-6B93-4CAF-8676-AA0650684D56}"/>
              </a:ext>
            </a:extLst>
          </p:cNvPr>
          <p:cNvSpPr>
            <a:spLocks noGrp="1"/>
          </p:cNvSpPr>
          <p:nvPr>
            <p:ph type="sldNum" sz="quarter" idx="12"/>
          </p:nvPr>
        </p:nvSpPr>
        <p:spPr/>
        <p:txBody>
          <a:bodyPr/>
          <a:lstStyle/>
          <a:p>
            <a:fld id="{E153A30B-AAA6-4D3D-89E9-8F9473C4CEC0}" type="slidenum">
              <a:rPr lang="LID4096" smtClean="0"/>
              <a:t>91</a:t>
            </a:fld>
            <a:endParaRPr lang="LID4096"/>
          </a:p>
        </p:txBody>
      </p:sp>
    </p:spTree>
    <p:extLst>
      <p:ext uri="{BB962C8B-B14F-4D97-AF65-F5344CB8AC3E}">
        <p14:creationId xmlns:p14="http://schemas.microsoft.com/office/powerpoint/2010/main" val="345341109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7A884-70BD-4EA3-A01F-905F3A182188}"/>
              </a:ext>
            </a:extLst>
          </p:cNvPr>
          <p:cNvSpPr>
            <a:spLocks noGrp="1"/>
          </p:cNvSpPr>
          <p:nvPr>
            <p:ph type="title"/>
          </p:nvPr>
        </p:nvSpPr>
        <p:spPr/>
        <p:txBody>
          <a:bodyPr/>
          <a:lstStyle/>
          <a:p>
            <a:pPr algn="ctr"/>
            <a:r>
              <a:rPr lang="en-GB" b="1" dirty="0"/>
              <a:t>TYPES OF MALWARE (Continues…)</a:t>
            </a:r>
            <a:endParaRPr lang="LID4096" dirty="0"/>
          </a:p>
        </p:txBody>
      </p:sp>
      <p:sp>
        <p:nvSpPr>
          <p:cNvPr id="3" name="Content Placeholder 2">
            <a:extLst>
              <a:ext uri="{FF2B5EF4-FFF2-40B4-BE49-F238E27FC236}">
                <a16:creationId xmlns:a16="http://schemas.microsoft.com/office/drawing/2014/main" id="{1EE74F42-E684-4A30-A233-DA6B7F9A5375}"/>
              </a:ext>
            </a:extLst>
          </p:cNvPr>
          <p:cNvSpPr>
            <a:spLocks noGrp="1"/>
          </p:cNvSpPr>
          <p:nvPr>
            <p:ph idx="1"/>
          </p:nvPr>
        </p:nvSpPr>
        <p:spPr/>
        <p:txBody>
          <a:bodyPr>
            <a:normAutofit fontScale="77500" lnSpcReduction="20000"/>
          </a:bodyPr>
          <a:lstStyle/>
          <a:p>
            <a:pPr marL="514350" indent="-514350">
              <a:buAutoNum type="romanLcPeriod" startAt="5"/>
            </a:pPr>
            <a:r>
              <a:rPr lang="en-US" b="1" dirty="0"/>
              <a:t>Ransomware </a:t>
            </a:r>
          </a:p>
          <a:p>
            <a:r>
              <a:rPr lang="en-US" dirty="0"/>
              <a:t>Is a type of malicious software (malware) that encrypts a victim’s files or locks their system, making data inaccessible until a ransom is paid, usually in cryptocurrency (e.g., Bitcoin).</a:t>
            </a:r>
          </a:p>
          <a:p>
            <a:r>
              <a:rPr lang="en-US" dirty="0"/>
              <a:t>Originated in Russia, 2005-2006. </a:t>
            </a:r>
          </a:p>
          <a:p>
            <a:r>
              <a:rPr lang="en-GB" dirty="0"/>
              <a:t>Types of Ransomware</a:t>
            </a:r>
            <a:r>
              <a:rPr lang="en-US" dirty="0"/>
              <a:t> include;</a:t>
            </a:r>
          </a:p>
          <a:p>
            <a:pPr marL="457200" indent="-457200">
              <a:buFont typeface="+mj-lt"/>
              <a:buAutoNum type="alphaLcParenR"/>
            </a:pPr>
            <a:r>
              <a:rPr lang="en-US" b="1" dirty="0"/>
              <a:t>Crypto-ransomware (2013) </a:t>
            </a:r>
            <a:r>
              <a:rPr lang="en-US" dirty="0"/>
              <a:t>– Encrypts files (e.g., WannaCry, Locky, CryptoLocker).</a:t>
            </a:r>
          </a:p>
          <a:p>
            <a:pPr marL="457200" indent="-457200">
              <a:buFont typeface="+mj-lt"/>
              <a:buAutoNum type="alphaLcParenR"/>
            </a:pPr>
            <a:r>
              <a:rPr lang="en-US" b="1" dirty="0"/>
              <a:t>Locker Ransomware </a:t>
            </a:r>
            <a:r>
              <a:rPr lang="en-US" dirty="0"/>
              <a:t>– Locks access to the computer (e.g., WinLocker).</a:t>
            </a:r>
          </a:p>
          <a:p>
            <a:pPr marL="457200" indent="-457200">
              <a:buFont typeface="+mj-lt"/>
              <a:buAutoNum type="alphaLcParenR"/>
            </a:pPr>
            <a:r>
              <a:rPr lang="en-US" b="1" dirty="0"/>
              <a:t>Double Extortion </a:t>
            </a:r>
            <a:r>
              <a:rPr lang="en-US" dirty="0"/>
              <a:t>– Steals data before encryption and threatens to leak it if ransom isn't paid (e.g., Maze, REvil).</a:t>
            </a:r>
          </a:p>
          <a:p>
            <a:endParaRPr lang="en-US" dirty="0"/>
          </a:p>
        </p:txBody>
      </p:sp>
      <p:sp>
        <p:nvSpPr>
          <p:cNvPr id="4" name="Footer Placeholder 3">
            <a:extLst>
              <a:ext uri="{FF2B5EF4-FFF2-40B4-BE49-F238E27FC236}">
                <a16:creationId xmlns:a16="http://schemas.microsoft.com/office/drawing/2014/main" id="{0233A885-241F-4F80-BF62-3D5218147E4A}"/>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E3AACCBD-B8DF-44C6-8BDA-88ECD5302BF2}"/>
              </a:ext>
            </a:extLst>
          </p:cNvPr>
          <p:cNvSpPr>
            <a:spLocks noGrp="1"/>
          </p:cNvSpPr>
          <p:nvPr>
            <p:ph type="sldNum" sz="quarter" idx="12"/>
          </p:nvPr>
        </p:nvSpPr>
        <p:spPr/>
        <p:txBody>
          <a:bodyPr/>
          <a:lstStyle/>
          <a:p>
            <a:fld id="{E153A30B-AAA6-4D3D-89E9-8F9473C4CEC0}" type="slidenum">
              <a:rPr lang="LID4096" smtClean="0"/>
              <a:t>92</a:t>
            </a:fld>
            <a:endParaRPr lang="LID4096"/>
          </a:p>
        </p:txBody>
      </p:sp>
    </p:spTree>
    <p:extLst>
      <p:ext uri="{BB962C8B-B14F-4D97-AF65-F5344CB8AC3E}">
        <p14:creationId xmlns:p14="http://schemas.microsoft.com/office/powerpoint/2010/main" val="218761723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9415B-786E-444D-A483-057D255E57E2}"/>
              </a:ext>
            </a:extLst>
          </p:cNvPr>
          <p:cNvSpPr>
            <a:spLocks noGrp="1"/>
          </p:cNvSpPr>
          <p:nvPr>
            <p:ph type="title"/>
          </p:nvPr>
        </p:nvSpPr>
        <p:spPr/>
        <p:txBody>
          <a:bodyPr/>
          <a:lstStyle/>
          <a:p>
            <a:pPr algn="ctr"/>
            <a:r>
              <a:rPr lang="en-GB" b="1" dirty="0"/>
              <a:t>TYPES OF MALWARE (Continues…)</a:t>
            </a:r>
            <a:endParaRPr lang="LID4096" dirty="0"/>
          </a:p>
        </p:txBody>
      </p:sp>
      <p:sp>
        <p:nvSpPr>
          <p:cNvPr id="3" name="Content Placeholder 2">
            <a:extLst>
              <a:ext uri="{FF2B5EF4-FFF2-40B4-BE49-F238E27FC236}">
                <a16:creationId xmlns:a16="http://schemas.microsoft.com/office/drawing/2014/main" id="{40D367AB-3A5C-468A-B4CC-D978D50B4095}"/>
              </a:ext>
            </a:extLst>
          </p:cNvPr>
          <p:cNvSpPr>
            <a:spLocks noGrp="1"/>
          </p:cNvSpPr>
          <p:nvPr>
            <p:ph idx="1"/>
          </p:nvPr>
        </p:nvSpPr>
        <p:spPr/>
        <p:txBody>
          <a:bodyPr/>
          <a:lstStyle/>
          <a:p>
            <a:pPr marL="0" indent="0">
              <a:buNone/>
            </a:pPr>
            <a:r>
              <a:rPr lang="en-GB" b="1" dirty="0"/>
              <a:t>How It Works</a:t>
            </a:r>
          </a:p>
          <a:p>
            <a:pPr marL="457200" indent="-457200">
              <a:buFont typeface="+mj-lt"/>
              <a:buAutoNum type="alphaLcParenR"/>
            </a:pPr>
            <a:r>
              <a:rPr lang="en-GB" b="1" dirty="0"/>
              <a:t>Infection</a:t>
            </a:r>
            <a:r>
              <a:rPr lang="en-GB" dirty="0"/>
              <a:t> – </a:t>
            </a:r>
            <a:r>
              <a:rPr lang="en-US" dirty="0"/>
              <a:t>Often spread via phishing emails, malicious links, or infected </a:t>
            </a:r>
            <a:r>
              <a:rPr lang="en-US"/>
              <a:t>downloads.</a:t>
            </a:r>
          </a:p>
          <a:p>
            <a:pPr marL="457200" indent="-457200">
              <a:buFont typeface="+mj-lt"/>
              <a:buAutoNum type="alphaLcParenR"/>
            </a:pPr>
            <a:endParaRPr lang="LID4096" dirty="0"/>
          </a:p>
        </p:txBody>
      </p:sp>
      <p:sp>
        <p:nvSpPr>
          <p:cNvPr id="4" name="Footer Placeholder 3">
            <a:extLst>
              <a:ext uri="{FF2B5EF4-FFF2-40B4-BE49-F238E27FC236}">
                <a16:creationId xmlns:a16="http://schemas.microsoft.com/office/drawing/2014/main" id="{C222F830-2FE5-4212-82D2-D0CD7AB497F8}"/>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70B52F20-5E94-487D-8C60-DD418BBAC52B}"/>
              </a:ext>
            </a:extLst>
          </p:cNvPr>
          <p:cNvSpPr>
            <a:spLocks noGrp="1"/>
          </p:cNvSpPr>
          <p:nvPr>
            <p:ph type="sldNum" sz="quarter" idx="12"/>
          </p:nvPr>
        </p:nvSpPr>
        <p:spPr/>
        <p:txBody>
          <a:bodyPr/>
          <a:lstStyle/>
          <a:p>
            <a:fld id="{E153A30B-AAA6-4D3D-89E9-8F9473C4CEC0}" type="slidenum">
              <a:rPr lang="LID4096" smtClean="0"/>
              <a:t>93</a:t>
            </a:fld>
            <a:endParaRPr lang="LID4096"/>
          </a:p>
        </p:txBody>
      </p:sp>
    </p:spTree>
    <p:extLst>
      <p:ext uri="{BB962C8B-B14F-4D97-AF65-F5344CB8AC3E}">
        <p14:creationId xmlns:p14="http://schemas.microsoft.com/office/powerpoint/2010/main" val="228095751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2DB29-AD56-438D-9E42-4D39CA5DD8FB}"/>
              </a:ext>
            </a:extLst>
          </p:cNvPr>
          <p:cNvSpPr>
            <a:spLocks noGrp="1"/>
          </p:cNvSpPr>
          <p:nvPr>
            <p:ph type="title"/>
          </p:nvPr>
        </p:nvSpPr>
        <p:spPr/>
        <p:txBody>
          <a:bodyPr/>
          <a:lstStyle/>
          <a:p>
            <a:pPr algn="ctr"/>
            <a:r>
              <a:rPr lang="en-GB" b="1" dirty="0"/>
              <a:t>TYPES OF MALWARE (Continues…)</a:t>
            </a:r>
            <a:endParaRPr lang="LID4096" dirty="0"/>
          </a:p>
        </p:txBody>
      </p:sp>
      <p:sp>
        <p:nvSpPr>
          <p:cNvPr id="3" name="Content Placeholder 2">
            <a:extLst>
              <a:ext uri="{FF2B5EF4-FFF2-40B4-BE49-F238E27FC236}">
                <a16:creationId xmlns:a16="http://schemas.microsoft.com/office/drawing/2014/main" id="{5903DCBC-C013-40EB-B672-2D1749B90242}"/>
              </a:ext>
            </a:extLst>
          </p:cNvPr>
          <p:cNvSpPr>
            <a:spLocks noGrp="1"/>
          </p:cNvSpPr>
          <p:nvPr>
            <p:ph idx="1"/>
          </p:nvPr>
        </p:nvSpPr>
        <p:spPr/>
        <p:txBody>
          <a:bodyPr>
            <a:normAutofit fontScale="92500" lnSpcReduction="20000"/>
          </a:bodyPr>
          <a:lstStyle/>
          <a:p>
            <a:pPr marL="514350" indent="-514350">
              <a:buAutoNum type="romanLcPeriod" startAt="6"/>
            </a:pPr>
            <a:r>
              <a:rPr lang="en-US" b="1" dirty="0"/>
              <a:t>Spyware</a:t>
            </a:r>
          </a:p>
          <a:p>
            <a:r>
              <a:rPr lang="en-US" dirty="0"/>
              <a:t>is a program that get installed without the user’s permission to monitor the user’s  activities on the internet and transmit the information to the third party.</a:t>
            </a:r>
          </a:p>
          <a:p>
            <a:r>
              <a:rPr lang="en-US" dirty="0"/>
              <a:t>Types include;</a:t>
            </a:r>
          </a:p>
          <a:p>
            <a:pPr marL="457200" indent="-457200">
              <a:buFont typeface="+mj-lt"/>
              <a:buAutoNum type="alphaLcParenR"/>
            </a:pPr>
            <a:r>
              <a:rPr lang="en-US" dirty="0"/>
              <a:t>Tracking cookies </a:t>
            </a:r>
          </a:p>
          <a:p>
            <a:pPr marL="457200" indent="-457200">
              <a:buFont typeface="+mj-lt"/>
              <a:buAutoNum type="alphaLcParenR"/>
            </a:pPr>
            <a:r>
              <a:rPr lang="en-US" dirty="0"/>
              <a:t>System monitors</a:t>
            </a:r>
          </a:p>
          <a:p>
            <a:pPr marL="457200" indent="-457200">
              <a:buFont typeface="+mj-lt"/>
              <a:buAutoNum type="alphaLcParenR"/>
            </a:pPr>
            <a:r>
              <a:rPr lang="en-US" dirty="0"/>
              <a:t>Commercial cell phone spywares </a:t>
            </a:r>
          </a:p>
          <a:p>
            <a:pPr marL="457200" indent="-457200">
              <a:buFont typeface="+mj-lt"/>
              <a:buAutoNum type="alphaLcParenR"/>
            </a:pPr>
            <a:r>
              <a:rPr lang="en-US" dirty="0"/>
              <a:t>Keyloggers </a:t>
            </a:r>
          </a:p>
        </p:txBody>
      </p:sp>
      <p:sp>
        <p:nvSpPr>
          <p:cNvPr id="4" name="Footer Placeholder 3">
            <a:extLst>
              <a:ext uri="{FF2B5EF4-FFF2-40B4-BE49-F238E27FC236}">
                <a16:creationId xmlns:a16="http://schemas.microsoft.com/office/drawing/2014/main" id="{67B0A0CD-FD83-4EA9-B6C6-9844E9695FE5}"/>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BC327130-FADB-4670-BE04-F28918D1018F}"/>
              </a:ext>
            </a:extLst>
          </p:cNvPr>
          <p:cNvSpPr>
            <a:spLocks noGrp="1"/>
          </p:cNvSpPr>
          <p:nvPr>
            <p:ph type="sldNum" sz="quarter" idx="12"/>
          </p:nvPr>
        </p:nvSpPr>
        <p:spPr/>
        <p:txBody>
          <a:bodyPr/>
          <a:lstStyle/>
          <a:p>
            <a:fld id="{E153A30B-AAA6-4D3D-89E9-8F9473C4CEC0}" type="slidenum">
              <a:rPr lang="LID4096" smtClean="0"/>
              <a:t>94</a:t>
            </a:fld>
            <a:endParaRPr lang="LID4096"/>
          </a:p>
        </p:txBody>
      </p:sp>
    </p:spTree>
    <p:extLst>
      <p:ext uri="{BB962C8B-B14F-4D97-AF65-F5344CB8AC3E}">
        <p14:creationId xmlns:p14="http://schemas.microsoft.com/office/powerpoint/2010/main" val="60305438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1B6-1162-4F59-BA03-BD4B9D083F93}"/>
              </a:ext>
            </a:extLst>
          </p:cNvPr>
          <p:cNvSpPr>
            <a:spLocks noGrp="1"/>
          </p:cNvSpPr>
          <p:nvPr>
            <p:ph type="title"/>
          </p:nvPr>
        </p:nvSpPr>
        <p:spPr/>
        <p:txBody>
          <a:bodyPr/>
          <a:lstStyle/>
          <a:p>
            <a:pPr algn="ctr"/>
            <a:r>
              <a:rPr lang="en-GB" b="1" dirty="0"/>
              <a:t>TYPES OF MALWARE (Continues…)</a:t>
            </a:r>
            <a:endParaRPr lang="LID4096" dirty="0"/>
          </a:p>
        </p:txBody>
      </p:sp>
      <p:sp>
        <p:nvSpPr>
          <p:cNvPr id="3" name="Content Placeholder 2">
            <a:extLst>
              <a:ext uri="{FF2B5EF4-FFF2-40B4-BE49-F238E27FC236}">
                <a16:creationId xmlns:a16="http://schemas.microsoft.com/office/drawing/2014/main" id="{843964D4-94E3-4A41-BADD-DB9A30F8EA23}"/>
              </a:ext>
            </a:extLst>
          </p:cNvPr>
          <p:cNvSpPr>
            <a:spLocks noGrp="1"/>
          </p:cNvSpPr>
          <p:nvPr>
            <p:ph idx="1"/>
          </p:nvPr>
        </p:nvSpPr>
        <p:spPr/>
        <p:txBody>
          <a:bodyPr/>
          <a:lstStyle/>
          <a:p>
            <a:pPr marL="514350" indent="-514350">
              <a:buAutoNum type="romanLcPeriod" startAt="7"/>
            </a:pPr>
            <a:r>
              <a:rPr lang="en-US" b="1" dirty="0"/>
              <a:t>Adware</a:t>
            </a:r>
          </a:p>
          <a:p>
            <a:r>
              <a:rPr lang="en-US" dirty="0"/>
              <a:t>is a software where advertising banners are displayed while any program is running.</a:t>
            </a:r>
          </a:p>
          <a:p>
            <a:endParaRPr lang="en-US" dirty="0"/>
          </a:p>
        </p:txBody>
      </p:sp>
      <p:sp>
        <p:nvSpPr>
          <p:cNvPr id="4" name="Footer Placeholder 3">
            <a:extLst>
              <a:ext uri="{FF2B5EF4-FFF2-40B4-BE49-F238E27FC236}">
                <a16:creationId xmlns:a16="http://schemas.microsoft.com/office/drawing/2014/main" id="{4846889A-B240-475B-85C9-6294902B478B}"/>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903F5EEB-F80E-4AA6-8801-97D7B30FD171}"/>
              </a:ext>
            </a:extLst>
          </p:cNvPr>
          <p:cNvSpPr>
            <a:spLocks noGrp="1"/>
          </p:cNvSpPr>
          <p:nvPr>
            <p:ph type="sldNum" sz="quarter" idx="12"/>
          </p:nvPr>
        </p:nvSpPr>
        <p:spPr/>
        <p:txBody>
          <a:bodyPr/>
          <a:lstStyle/>
          <a:p>
            <a:fld id="{E153A30B-AAA6-4D3D-89E9-8F9473C4CEC0}" type="slidenum">
              <a:rPr lang="LID4096" smtClean="0"/>
              <a:t>95</a:t>
            </a:fld>
            <a:endParaRPr lang="LID4096"/>
          </a:p>
        </p:txBody>
      </p:sp>
    </p:spTree>
    <p:extLst>
      <p:ext uri="{BB962C8B-B14F-4D97-AF65-F5344CB8AC3E}">
        <p14:creationId xmlns:p14="http://schemas.microsoft.com/office/powerpoint/2010/main" val="153338624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1AF53-9BF3-48EB-BF7F-FF3BE00D844D}"/>
              </a:ext>
            </a:extLst>
          </p:cNvPr>
          <p:cNvSpPr>
            <a:spLocks noGrp="1"/>
          </p:cNvSpPr>
          <p:nvPr>
            <p:ph type="title"/>
          </p:nvPr>
        </p:nvSpPr>
        <p:spPr/>
        <p:txBody>
          <a:bodyPr/>
          <a:lstStyle/>
          <a:p>
            <a:pPr algn="ctr"/>
            <a:r>
              <a:rPr lang="en-IN" b="1" dirty="0"/>
              <a:t>Protecting Against Malware</a:t>
            </a:r>
            <a:endParaRPr lang="LID4096" dirty="0"/>
          </a:p>
        </p:txBody>
      </p:sp>
      <p:sp>
        <p:nvSpPr>
          <p:cNvPr id="3" name="Content Placeholder 2">
            <a:extLst>
              <a:ext uri="{FF2B5EF4-FFF2-40B4-BE49-F238E27FC236}">
                <a16:creationId xmlns:a16="http://schemas.microsoft.com/office/drawing/2014/main" id="{85094FD7-8DBC-4A23-B030-486122494AF7}"/>
              </a:ext>
            </a:extLst>
          </p:cNvPr>
          <p:cNvSpPr>
            <a:spLocks noGrp="1"/>
          </p:cNvSpPr>
          <p:nvPr>
            <p:ph idx="1"/>
          </p:nvPr>
        </p:nvSpPr>
        <p:spPr/>
        <p:txBody>
          <a:bodyPr>
            <a:normAutofit lnSpcReduction="10000"/>
          </a:bodyPr>
          <a:lstStyle/>
          <a:p>
            <a:pPr marL="457200" indent="-457200">
              <a:buFont typeface="+mj-lt"/>
              <a:buAutoNum type="arabicPeriod"/>
            </a:pPr>
            <a:r>
              <a:rPr lang="en-US" b="1" dirty="0"/>
              <a:t>Anti-malware/virus software</a:t>
            </a:r>
          </a:p>
          <a:p>
            <a:r>
              <a:rPr lang="en-US" dirty="0"/>
              <a:t>Are computer programs intended to identify and eliminate computer viruses.</a:t>
            </a:r>
          </a:p>
          <a:p>
            <a:r>
              <a:rPr lang="en-US" dirty="0"/>
              <a:t>For example, </a:t>
            </a:r>
            <a:r>
              <a:rPr lang="en-US" b="1" dirty="0"/>
              <a:t>Microsoft Security Essentials </a:t>
            </a:r>
            <a:r>
              <a:rPr lang="en-US" dirty="0"/>
              <a:t>(for Windows XP, Vista, and Windows 7) and </a:t>
            </a:r>
            <a:r>
              <a:rPr lang="en-US" b="1" dirty="0"/>
              <a:t>Windows Defender </a:t>
            </a:r>
            <a:r>
              <a:rPr lang="en-US" dirty="0"/>
              <a:t>(for Windows 8, 10 and 11) provides real-time protection. </a:t>
            </a:r>
          </a:p>
          <a:p>
            <a:r>
              <a:rPr lang="en-US" dirty="0"/>
              <a:t>The </a:t>
            </a:r>
            <a:r>
              <a:rPr lang="en-US" b="1" dirty="0"/>
              <a:t>Windows Malicious Software Removal Tool </a:t>
            </a:r>
            <a:r>
              <a:rPr lang="en-US" dirty="0"/>
              <a:t>removes malicious software from the system.</a:t>
            </a:r>
          </a:p>
          <a:p>
            <a:endParaRPr lang="LID4096" dirty="0"/>
          </a:p>
        </p:txBody>
      </p:sp>
      <p:sp>
        <p:nvSpPr>
          <p:cNvPr id="4" name="Footer Placeholder 3">
            <a:extLst>
              <a:ext uri="{FF2B5EF4-FFF2-40B4-BE49-F238E27FC236}">
                <a16:creationId xmlns:a16="http://schemas.microsoft.com/office/drawing/2014/main" id="{ED2270BE-EE98-4AFB-A53D-E136174EB31A}"/>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BEBED10A-B463-468E-8FFF-158A05923470}"/>
              </a:ext>
            </a:extLst>
          </p:cNvPr>
          <p:cNvSpPr>
            <a:spLocks noGrp="1"/>
          </p:cNvSpPr>
          <p:nvPr>
            <p:ph type="sldNum" sz="quarter" idx="12"/>
          </p:nvPr>
        </p:nvSpPr>
        <p:spPr/>
        <p:txBody>
          <a:bodyPr/>
          <a:lstStyle/>
          <a:p>
            <a:fld id="{E153A30B-AAA6-4D3D-89E9-8F9473C4CEC0}" type="slidenum">
              <a:rPr lang="LID4096" smtClean="0"/>
              <a:t>96</a:t>
            </a:fld>
            <a:endParaRPr lang="LID4096"/>
          </a:p>
        </p:txBody>
      </p:sp>
    </p:spTree>
    <p:extLst>
      <p:ext uri="{BB962C8B-B14F-4D97-AF65-F5344CB8AC3E}">
        <p14:creationId xmlns:p14="http://schemas.microsoft.com/office/powerpoint/2010/main" val="147395785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C4932-B85B-47F5-AB3E-A23A3D4B8CB1}"/>
              </a:ext>
            </a:extLst>
          </p:cNvPr>
          <p:cNvSpPr>
            <a:spLocks noGrp="1"/>
          </p:cNvSpPr>
          <p:nvPr>
            <p:ph type="title"/>
          </p:nvPr>
        </p:nvSpPr>
        <p:spPr/>
        <p:txBody>
          <a:bodyPr/>
          <a:lstStyle/>
          <a:p>
            <a:pPr algn="ctr"/>
            <a:r>
              <a:rPr lang="en-IN" b="1" dirty="0"/>
              <a:t>Protecting Against Malware (Continues…)</a:t>
            </a:r>
            <a:endParaRPr lang="LID4096" dirty="0"/>
          </a:p>
        </p:txBody>
      </p:sp>
      <p:sp>
        <p:nvSpPr>
          <p:cNvPr id="3" name="Content Placeholder 2">
            <a:extLst>
              <a:ext uri="{FF2B5EF4-FFF2-40B4-BE49-F238E27FC236}">
                <a16:creationId xmlns:a16="http://schemas.microsoft.com/office/drawing/2014/main" id="{00D97795-215C-4F2A-B814-3016E6C9D2C2}"/>
              </a:ext>
            </a:extLst>
          </p:cNvPr>
          <p:cNvSpPr>
            <a:spLocks noGrp="1"/>
          </p:cNvSpPr>
          <p:nvPr>
            <p:ph idx="1"/>
          </p:nvPr>
        </p:nvSpPr>
        <p:spPr/>
        <p:txBody>
          <a:bodyPr/>
          <a:lstStyle/>
          <a:p>
            <a:r>
              <a:rPr lang="en-US" dirty="0"/>
              <a:t>Example of anti-virus softwares include;</a:t>
            </a:r>
          </a:p>
          <a:p>
            <a:pPr marL="514350" indent="-514350">
              <a:buFont typeface="+mj-lt"/>
              <a:buAutoNum type="romanLcPeriod"/>
            </a:pPr>
            <a:r>
              <a:rPr lang="en-GB" dirty="0"/>
              <a:t>BitDefender</a:t>
            </a:r>
          </a:p>
          <a:p>
            <a:pPr marL="514350" indent="-514350">
              <a:buFont typeface="+mj-lt"/>
              <a:buAutoNum type="romanLcPeriod"/>
            </a:pPr>
            <a:r>
              <a:rPr lang="en-GB" dirty="0"/>
              <a:t>Norton AntiVirus (NAV) </a:t>
            </a:r>
          </a:p>
          <a:p>
            <a:pPr marL="514350" indent="-514350">
              <a:buFont typeface="+mj-lt"/>
              <a:buAutoNum type="romanLcPeriod"/>
            </a:pPr>
            <a:r>
              <a:rPr lang="en-GB" dirty="0"/>
              <a:t>McAfee </a:t>
            </a:r>
          </a:p>
          <a:p>
            <a:pPr marL="514350" indent="-514350">
              <a:buFont typeface="+mj-lt"/>
              <a:buAutoNum type="romanLcPeriod"/>
            </a:pPr>
            <a:r>
              <a:rPr lang="en-GB" dirty="0"/>
              <a:t>Sophos</a:t>
            </a:r>
          </a:p>
          <a:p>
            <a:pPr marL="514350" indent="-514350">
              <a:buFont typeface="+mj-lt"/>
              <a:buAutoNum type="romanLcPeriod"/>
            </a:pPr>
            <a:r>
              <a:rPr lang="en-GB" dirty="0"/>
              <a:t>Kasperski</a:t>
            </a:r>
            <a:r>
              <a:rPr lang="en-US" dirty="0"/>
              <a:t> </a:t>
            </a:r>
            <a:endParaRPr lang="en-GB" dirty="0"/>
          </a:p>
        </p:txBody>
      </p:sp>
      <p:sp>
        <p:nvSpPr>
          <p:cNvPr id="4" name="Footer Placeholder 3">
            <a:extLst>
              <a:ext uri="{FF2B5EF4-FFF2-40B4-BE49-F238E27FC236}">
                <a16:creationId xmlns:a16="http://schemas.microsoft.com/office/drawing/2014/main" id="{13B374FF-1EE6-486B-A28E-32DF690FD41C}"/>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2B402426-8A7A-4675-A5FD-A65A4B23DC28}"/>
              </a:ext>
            </a:extLst>
          </p:cNvPr>
          <p:cNvSpPr>
            <a:spLocks noGrp="1"/>
          </p:cNvSpPr>
          <p:nvPr>
            <p:ph type="sldNum" sz="quarter" idx="12"/>
          </p:nvPr>
        </p:nvSpPr>
        <p:spPr/>
        <p:txBody>
          <a:bodyPr/>
          <a:lstStyle/>
          <a:p>
            <a:fld id="{E153A30B-AAA6-4D3D-89E9-8F9473C4CEC0}" type="slidenum">
              <a:rPr lang="LID4096" smtClean="0"/>
              <a:t>97</a:t>
            </a:fld>
            <a:endParaRPr lang="LID4096"/>
          </a:p>
        </p:txBody>
      </p:sp>
    </p:spTree>
    <p:extLst>
      <p:ext uri="{BB962C8B-B14F-4D97-AF65-F5344CB8AC3E}">
        <p14:creationId xmlns:p14="http://schemas.microsoft.com/office/powerpoint/2010/main" val="201576373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95070-DDA0-4F96-B4CB-87CD1F2D42DC}"/>
              </a:ext>
            </a:extLst>
          </p:cNvPr>
          <p:cNvSpPr>
            <a:spLocks noGrp="1"/>
          </p:cNvSpPr>
          <p:nvPr>
            <p:ph type="title"/>
          </p:nvPr>
        </p:nvSpPr>
        <p:spPr/>
        <p:txBody>
          <a:bodyPr/>
          <a:lstStyle/>
          <a:p>
            <a:pPr algn="ctr"/>
            <a:r>
              <a:rPr lang="en-IN" b="1" dirty="0"/>
              <a:t>Protecting Against Malware (Continues…)</a:t>
            </a:r>
            <a:endParaRPr lang="LID4096" dirty="0"/>
          </a:p>
        </p:txBody>
      </p:sp>
      <p:sp>
        <p:nvSpPr>
          <p:cNvPr id="3" name="Content Placeholder 2">
            <a:extLst>
              <a:ext uri="{FF2B5EF4-FFF2-40B4-BE49-F238E27FC236}">
                <a16:creationId xmlns:a16="http://schemas.microsoft.com/office/drawing/2014/main" id="{FAB93026-3C89-4BB7-8E12-4FEAAC32C670}"/>
              </a:ext>
            </a:extLst>
          </p:cNvPr>
          <p:cNvSpPr>
            <a:spLocks noGrp="1"/>
          </p:cNvSpPr>
          <p:nvPr>
            <p:ph idx="1"/>
          </p:nvPr>
        </p:nvSpPr>
        <p:spPr/>
        <p:txBody>
          <a:bodyPr>
            <a:normAutofit fontScale="92500" lnSpcReduction="20000"/>
          </a:bodyPr>
          <a:lstStyle/>
          <a:p>
            <a:pPr marL="0" indent="0">
              <a:buNone/>
            </a:pPr>
            <a:r>
              <a:rPr lang="en-US" b="1" dirty="0"/>
              <a:t>Types of anti-virus </a:t>
            </a:r>
          </a:p>
          <a:p>
            <a:pPr marL="457200" indent="-457200">
              <a:buFont typeface="+mj-lt"/>
              <a:buAutoNum type="alphaLcParenR"/>
            </a:pPr>
            <a:r>
              <a:rPr lang="en-GB" b="1" dirty="0"/>
              <a:t>Specific Scanning (signature detection)</a:t>
            </a:r>
          </a:p>
          <a:p>
            <a:r>
              <a:rPr lang="en-US" dirty="0"/>
              <a:t>The application scans files to look for known viruses matching definitions in a “</a:t>
            </a:r>
            <a:r>
              <a:rPr lang="en-US" b="1" dirty="0"/>
              <a:t>virus dictionary</a:t>
            </a:r>
            <a:r>
              <a:rPr lang="en-US" dirty="0"/>
              <a:t>”.</a:t>
            </a:r>
          </a:p>
          <a:p>
            <a:r>
              <a:rPr lang="en-US" dirty="0"/>
              <a:t>After recognizing the malicious software the antivirus software can take one of the following actions;</a:t>
            </a:r>
          </a:p>
          <a:p>
            <a:r>
              <a:rPr lang="en-US" b="1" dirty="0"/>
              <a:t>Repair</a:t>
            </a:r>
            <a:r>
              <a:rPr lang="en-US" dirty="0"/>
              <a:t>, </a:t>
            </a:r>
            <a:r>
              <a:rPr lang="en-US" b="1" dirty="0"/>
              <a:t>quarantine</a:t>
            </a:r>
            <a:r>
              <a:rPr lang="en-US" dirty="0"/>
              <a:t> or </a:t>
            </a:r>
            <a:r>
              <a:rPr lang="en-US" b="1" dirty="0"/>
              <a:t>delete</a:t>
            </a:r>
            <a:r>
              <a:rPr lang="en-US" dirty="0"/>
              <a:t> the file completely.</a:t>
            </a:r>
          </a:p>
          <a:p>
            <a:r>
              <a:rPr lang="en-US" dirty="0"/>
              <a:t>A signature-based is completely </a:t>
            </a:r>
            <a:r>
              <a:rPr lang="en-US" b="1" dirty="0"/>
              <a:t>blind to new attacks </a:t>
            </a:r>
            <a:r>
              <a:rPr lang="en-US" dirty="0"/>
              <a:t>that are yet to be recorded. </a:t>
            </a:r>
          </a:p>
          <a:p>
            <a:endParaRPr lang="en-US" dirty="0"/>
          </a:p>
          <a:p>
            <a:endParaRPr lang="en-GB" dirty="0"/>
          </a:p>
          <a:p>
            <a:endParaRPr lang="LID4096" dirty="0"/>
          </a:p>
        </p:txBody>
      </p:sp>
      <p:sp>
        <p:nvSpPr>
          <p:cNvPr id="4" name="Footer Placeholder 3">
            <a:extLst>
              <a:ext uri="{FF2B5EF4-FFF2-40B4-BE49-F238E27FC236}">
                <a16:creationId xmlns:a16="http://schemas.microsoft.com/office/drawing/2014/main" id="{63DCDBCA-A09D-4BCC-AC6E-095059A9D03E}"/>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79DE4468-1548-451B-863F-58875556AA8D}"/>
              </a:ext>
            </a:extLst>
          </p:cNvPr>
          <p:cNvSpPr>
            <a:spLocks noGrp="1"/>
          </p:cNvSpPr>
          <p:nvPr>
            <p:ph type="sldNum" sz="quarter" idx="12"/>
          </p:nvPr>
        </p:nvSpPr>
        <p:spPr/>
        <p:txBody>
          <a:bodyPr/>
          <a:lstStyle/>
          <a:p>
            <a:fld id="{E153A30B-AAA6-4D3D-89E9-8F9473C4CEC0}" type="slidenum">
              <a:rPr lang="LID4096" smtClean="0"/>
              <a:t>98</a:t>
            </a:fld>
            <a:endParaRPr lang="LID4096"/>
          </a:p>
        </p:txBody>
      </p:sp>
    </p:spTree>
    <p:extLst>
      <p:ext uri="{BB962C8B-B14F-4D97-AF65-F5344CB8AC3E}">
        <p14:creationId xmlns:p14="http://schemas.microsoft.com/office/powerpoint/2010/main" val="295982572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D6CAC-BC85-4AF6-899C-8729B9B718D6}"/>
              </a:ext>
            </a:extLst>
          </p:cNvPr>
          <p:cNvSpPr>
            <a:spLocks noGrp="1"/>
          </p:cNvSpPr>
          <p:nvPr>
            <p:ph type="title"/>
          </p:nvPr>
        </p:nvSpPr>
        <p:spPr/>
        <p:txBody>
          <a:bodyPr/>
          <a:lstStyle/>
          <a:p>
            <a:pPr algn="ctr"/>
            <a:r>
              <a:rPr lang="en-IN" b="1" dirty="0"/>
              <a:t>Protecting Against Malware (Continues…)</a:t>
            </a:r>
            <a:endParaRPr lang="LID4096" dirty="0"/>
          </a:p>
        </p:txBody>
      </p:sp>
      <p:sp>
        <p:nvSpPr>
          <p:cNvPr id="3" name="Content Placeholder 2">
            <a:extLst>
              <a:ext uri="{FF2B5EF4-FFF2-40B4-BE49-F238E27FC236}">
                <a16:creationId xmlns:a16="http://schemas.microsoft.com/office/drawing/2014/main" id="{BFE83B8D-C723-4990-BCD4-C734AEDF2F5E}"/>
              </a:ext>
            </a:extLst>
          </p:cNvPr>
          <p:cNvSpPr>
            <a:spLocks noGrp="1"/>
          </p:cNvSpPr>
          <p:nvPr>
            <p:ph idx="1"/>
          </p:nvPr>
        </p:nvSpPr>
        <p:spPr/>
        <p:txBody>
          <a:bodyPr>
            <a:normAutofit fontScale="92500"/>
          </a:bodyPr>
          <a:lstStyle/>
          <a:p>
            <a:pPr marL="457200" indent="-457200">
              <a:buAutoNum type="alphaLcParenR" startAt="2"/>
            </a:pPr>
            <a:r>
              <a:rPr lang="en-US" b="1" dirty="0"/>
              <a:t>Generic Scanning (suspicious behavior approach)</a:t>
            </a:r>
          </a:p>
          <a:p>
            <a:r>
              <a:rPr lang="en-US" dirty="0"/>
              <a:t>is used when new viruses appear, in this method the software does not look for a specific signature but instead monitors the behavior of all applications.</a:t>
            </a:r>
          </a:p>
          <a:p>
            <a:r>
              <a:rPr lang="en-US" dirty="0"/>
              <a:t>If anything questionable is found by the software the application is </a:t>
            </a:r>
            <a:r>
              <a:rPr lang="en-US" b="1" dirty="0"/>
              <a:t>quarantined</a:t>
            </a:r>
            <a:r>
              <a:rPr lang="en-US" dirty="0"/>
              <a:t> and a warning is broadcasted to the user about what the program may be trying to do. </a:t>
            </a:r>
          </a:p>
          <a:p>
            <a:r>
              <a:rPr lang="en-US" dirty="0"/>
              <a:t>If the software is found to be a virus the user can send it to a virus vendor so that they release the antivirus software to stop its spread. </a:t>
            </a:r>
          </a:p>
          <a:p>
            <a:endParaRPr lang="en-US" dirty="0"/>
          </a:p>
          <a:p>
            <a:endParaRPr lang="en-US" dirty="0"/>
          </a:p>
        </p:txBody>
      </p:sp>
      <p:sp>
        <p:nvSpPr>
          <p:cNvPr id="4" name="Footer Placeholder 3">
            <a:extLst>
              <a:ext uri="{FF2B5EF4-FFF2-40B4-BE49-F238E27FC236}">
                <a16:creationId xmlns:a16="http://schemas.microsoft.com/office/drawing/2014/main" id="{04E64CF8-A5F1-4AC1-B833-48CDD9EE0004}"/>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B81C531A-E826-4B0E-B68E-6AC1556FF32C}"/>
              </a:ext>
            </a:extLst>
          </p:cNvPr>
          <p:cNvSpPr>
            <a:spLocks noGrp="1"/>
          </p:cNvSpPr>
          <p:nvPr>
            <p:ph type="sldNum" sz="quarter" idx="12"/>
          </p:nvPr>
        </p:nvSpPr>
        <p:spPr/>
        <p:txBody>
          <a:bodyPr/>
          <a:lstStyle/>
          <a:p>
            <a:fld id="{E153A30B-AAA6-4D3D-89E9-8F9473C4CEC0}" type="slidenum">
              <a:rPr lang="LID4096" smtClean="0"/>
              <a:t>99</a:t>
            </a:fld>
            <a:endParaRPr lang="LID4096"/>
          </a:p>
        </p:txBody>
      </p:sp>
    </p:spTree>
    <p:extLst>
      <p:ext uri="{BB962C8B-B14F-4D97-AF65-F5344CB8AC3E}">
        <p14:creationId xmlns:p14="http://schemas.microsoft.com/office/powerpoint/2010/main" val="9610358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1CE2AFA-7151-4500-B4E2-61523D711CDB}"/>
              </a:ext>
            </a:extLst>
          </p:cNvPr>
          <p:cNvSpPr>
            <a:spLocks noGrp="1"/>
          </p:cNvSpPr>
          <p:nvPr>
            <p:ph type="ctrTitle"/>
          </p:nvPr>
        </p:nvSpPr>
        <p:spPr/>
        <p:txBody>
          <a:bodyPr/>
          <a:lstStyle/>
          <a:p>
            <a:pPr algn="ctr"/>
            <a:r>
              <a:rPr lang="en-US" b="1" dirty="0"/>
              <a:t>Cloud Forensics</a:t>
            </a:r>
            <a:endParaRPr lang="LID4096" b="1" dirty="0"/>
          </a:p>
        </p:txBody>
      </p:sp>
      <p:sp>
        <p:nvSpPr>
          <p:cNvPr id="7" name="Subtitle 6">
            <a:extLst>
              <a:ext uri="{FF2B5EF4-FFF2-40B4-BE49-F238E27FC236}">
                <a16:creationId xmlns:a16="http://schemas.microsoft.com/office/drawing/2014/main" id="{962A2EE5-296D-43B6-8878-A606C9D49642}"/>
              </a:ext>
            </a:extLst>
          </p:cNvPr>
          <p:cNvSpPr>
            <a:spLocks noGrp="1"/>
          </p:cNvSpPr>
          <p:nvPr>
            <p:ph type="subTitle" idx="1"/>
          </p:nvPr>
        </p:nvSpPr>
        <p:spPr/>
        <p:txBody>
          <a:bodyPr/>
          <a:lstStyle/>
          <a:p>
            <a:pPr algn="ctr"/>
            <a:r>
              <a:rPr lang="en-US" b="1" dirty="0"/>
              <a:t>UNIT 7</a:t>
            </a:r>
            <a:endParaRPr lang="LID4096" b="1" dirty="0"/>
          </a:p>
        </p:txBody>
      </p:sp>
      <p:sp>
        <p:nvSpPr>
          <p:cNvPr id="4" name="Footer Placeholder 3">
            <a:extLst>
              <a:ext uri="{FF2B5EF4-FFF2-40B4-BE49-F238E27FC236}">
                <a16:creationId xmlns:a16="http://schemas.microsoft.com/office/drawing/2014/main" id="{1E368D73-9A04-469B-BFDA-C81E0B9148BA}"/>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E59B8677-3A61-43EF-8A4B-D0841FC6B65F}"/>
              </a:ext>
            </a:extLst>
          </p:cNvPr>
          <p:cNvSpPr>
            <a:spLocks noGrp="1"/>
          </p:cNvSpPr>
          <p:nvPr>
            <p:ph type="sldNum" sz="quarter" idx="12"/>
          </p:nvPr>
        </p:nvSpPr>
        <p:spPr/>
        <p:txBody>
          <a:bodyPr/>
          <a:lstStyle/>
          <a:p>
            <a:fld id="{E153A30B-AAA6-4D3D-89E9-8F9473C4CEC0}" type="slidenum">
              <a:rPr lang="LID4096" smtClean="0"/>
              <a:t>100</a:t>
            </a:fld>
            <a:endParaRPr lang="LID4096"/>
          </a:p>
        </p:txBody>
      </p:sp>
    </p:spTree>
    <p:extLst>
      <p:ext uri="{BB962C8B-B14F-4D97-AF65-F5344CB8AC3E}">
        <p14:creationId xmlns:p14="http://schemas.microsoft.com/office/powerpoint/2010/main" val="130999706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62DC9-98F6-4652-B413-B16A47CB2913}"/>
              </a:ext>
            </a:extLst>
          </p:cNvPr>
          <p:cNvSpPr>
            <a:spLocks noGrp="1"/>
          </p:cNvSpPr>
          <p:nvPr>
            <p:ph type="title"/>
          </p:nvPr>
        </p:nvSpPr>
        <p:spPr/>
        <p:txBody>
          <a:bodyPr/>
          <a:lstStyle/>
          <a:p>
            <a:pPr algn="ctr"/>
            <a:r>
              <a:rPr lang="en-US" b="1" dirty="0"/>
              <a:t>Types of Clouds </a:t>
            </a:r>
            <a:endParaRPr lang="LID4096" b="1" dirty="0"/>
          </a:p>
        </p:txBody>
      </p:sp>
      <p:sp>
        <p:nvSpPr>
          <p:cNvPr id="3" name="Content Placeholder 2">
            <a:extLst>
              <a:ext uri="{FF2B5EF4-FFF2-40B4-BE49-F238E27FC236}">
                <a16:creationId xmlns:a16="http://schemas.microsoft.com/office/drawing/2014/main" id="{A22737C0-4086-4D76-9E98-056056405C25}"/>
              </a:ext>
            </a:extLst>
          </p:cNvPr>
          <p:cNvSpPr>
            <a:spLocks noGrp="1"/>
          </p:cNvSpPr>
          <p:nvPr>
            <p:ph idx="1"/>
          </p:nvPr>
        </p:nvSpPr>
        <p:spPr/>
        <p:txBody>
          <a:bodyPr>
            <a:normAutofit/>
          </a:bodyPr>
          <a:lstStyle/>
          <a:p>
            <a:r>
              <a:rPr lang="en-US" b="1" dirty="0"/>
              <a:t>Cloud computing </a:t>
            </a:r>
            <a:r>
              <a:rPr lang="en-US" dirty="0"/>
              <a:t>is a technology that uses the internet and central remote servers to maintain data and applications.</a:t>
            </a:r>
          </a:p>
          <a:p>
            <a:r>
              <a:rPr lang="en-US" dirty="0"/>
              <a:t>Types of cloud include; </a:t>
            </a:r>
          </a:p>
          <a:p>
            <a:pPr marL="457200" indent="-457200">
              <a:buFont typeface="+mj-lt"/>
              <a:buAutoNum type="arabicPeriod"/>
            </a:pPr>
            <a:r>
              <a:rPr lang="en-US" b="1" dirty="0"/>
              <a:t>Public</a:t>
            </a:r>
            <a:r>
              <a:rPr lang="en-US" dirty="0"/>
              <a:t> – The cloud is open to the wider public.</a:t>
            </a:r>
          </a:p>
          <a:p>
            <a:pPr marL="457200" indent="-457200">
              <a:buAutoNum type="arabicPeriod" startAt="2"/>
            </a:pPr>
            <a:r>
              <a:rPr lang="en-GB" b="1" dirty="0"/>
              <a:t>Private</a:t>
            </a:r>
            <a:r>
              <a:rPr lang="en-US" dirty="0"/>
              <a:t> – The cloud is implemented within the private premises of an institution.</a:t>
            </a:r>
            <a:endParaRPr lang="en-GB" dirty="0"/>
          </a:p>
        </p:txBody>
      </p:sp>
      <p:sp>
        <p:nvSpPr>
          <p:cNvPr id="4" name="Footer Placeholder 3">
            <a:extLst>
              <a:ext uri="{FF2B5EF4-FFF2-40B4-BE49-F238E27FC236}">
                <a16:creationId xmlns:a16="http://schemas.microsoft.com/office/drawing/2014/main" id="{10E7EB83-4964-453E-9F36-92FBBEFD5833}"/>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A7B10F60-563D-4C15-8F7C-0242E8C6DA48}"/>
              </a:ext>
            </a:extLst>
          </p:cNvPr>
          <p:cNvSpPr>
            <a:spLocks noGrp="1"/>
          </p:cNvSpPr>
          <p:nvPr>
            <p:ph type="sldNum" sz="quarter" idx="12"/>
          </p:nvPr>
        </p:nvSpPr>
        <p:spPr/>
        <p:txBody>
          <a:bodyPr/>
          <a:lstStyle/>
          <a:p>
            <a:fld id="{E153A30B-AAA6-4D3D-89E9-8F9473C4CEC0}" type="slidenum">
              <a:rPr lang="LID4096" smtClean="0"/>
              <a:t>101</a:t>
            </a:fld>
            <a:endParaRPr lang="LID4096"/>
          </a:p>
        </p:txBody>
      </p:sp>
    </p:spTree>
    <p:extLst>
      <p:ext uri="{BB962C8B-B14F-4D97-AF65-F5344CB8AC3E}">
        <p14:creationId xmlns:p14="http://schemas.microsoft.com/office/powerpoint/2010/main" val="254158467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6AEC6-E9F3-4F55-8C21-2740B7747291}"/>
              </a:ext>
            </a:extLst>
          </p:cNvPr>
          <p:cNvSpPr>
            <a:spLocks noGrp="1"/>
          </p:cNvSpPr>
          <p:nvPr>
            <p:ph type="title"/>
          </p:nvPr>
        </p:nvSpPr>
        <p:spPr/>
        <p:txBody>
          <a:bodyPr/>
          <a:lstStyle/>
          <a:p>
            <a:pPr algn="ctr"/>
            <a:r>
              <a:rPr lang="en-US" b="1" dirty="0"/>
              <a:t>Types of Clouds (Continues…)</a:t>
            </a:r>
            <a:endParaRPr lang="LID4096" dirty="0"/>
          </a:p>
        </p:txBody>
      </p:sp>
      <p:sp>
        <p:nvSpPr>
          <p:cNvPr id="3" name="Content Placeholder 2">
            <a:extLst>
              <a:ext uri="{FF2B5EF4-FFF2-40B4-BE49-F238E27FC236}">
                <a16:creationId xmlns:a16="http://schemas.microsoft.com/office/drawing/2014/main" id="{0F4BE558-C9F1-4BF3-BC2B-5EE49F9BF795}"/>
              </a:ext>
            </a:extLst>
          </p:cNvPr>
          <p:cNvSpPr>
            <a:spLocks noGrp="1"/>
          </p:cNvSpPr>
          <p:nvPr>
            <p:ph idx="1"/>
          </p:nvPr>
        </p:nvSpPr>
        <p:spPr/>
        <p:txBody>
          <a:bodyPr/>
          <a:lstStyle/>
          <a:p>
            <a:pPr marL="457200" indent="-457200">
              <a:buAutoNum type="arabicPeriod" startAt="3"/>
            </a:pPr>
            <a:r>
              <a:rPr lang="en-US" b="1" dirty="0"/>
              <a:t>Hybrid/Heterogeneous </a:t>
            </a:r>
            <a:r>
              <a:rPr lang="en-US" dirty="0"/>
              <a:t>– A combination of both Public and Private clouds.</a:t>
            </a:r>
          </a:p>
          <a:p>
            <a:pPr marL="457200" indent="-457200">
              <a:buAutoNum type="arabicPeriod" startAt="3"/>
            </a:pPr>
            <a:r>
              <a:rPr lang="en-US" b="1" dirty="0"/>
              <a:t>Community</a:t>
            </a:r>
            <a:r>
              <a:rPr lang="en-US" dirty="0"/>
              <a:t> – The cloud is characterized by a multi-administrative domain involving different deployment models (public, private, and hybrid), and it is specifically designed to address the needs of a specific industry.</a:t>
            </a:r>
          </a:p>
        </p:txBody>
      </p:sp>
      <p:sp>
        <p:nvSpPr>
          <p:cNvPr id="4" name="Footer Placeholder 3">
            <a:extLst>
              <a:ext uri="{FF2B5EF4-FFF2-40B4-BE49-F238E27FC236}">
                <a16:creationId xmlns:a16="http://schemas.microsoft.com/office/drawing/2014/main" id="{0DA5EA76-2A0E-46B4-B68C-F66A3CBBE81F}"/>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E972C37E-02A2-4D94-9FA7-44D53990C803}"/>
              </a:ext>
            </a:extLst>
          </p:cNvPr>
          <p:cNvSpPr>
            <a:spLocks noGrp="1"/>
          </p:cNvSpPr>
          <p:nvPr>
            <p:ph type="sldNum" sz="quarter" idx="12"/>
          </p:nvPr>
        </p:nvSpPr>
        <p:spPr/>
        <p:txBody>
          <a:bodyPr/>
          <a:lstStyle/>
          <a:p>
            <a:fld id="{E153A30B-AAA6-4D3D-89E9-8F9473C4CEC0}" type="slidenum">
              <a:rPr lang="LID4096" smtClean="0"/>
              <a:t>102</a:t>
            </a:fld>
            <a:endParaRPr lang="LID4096"/>
          </a:p>
        </p:txBody>
      </p:sp>
    </p:spTree>
    <p:extLst>
      <p:ext uri="{BB962C8B-B14F-4D97-AF65-F5344CB8AC3E}">
        <p14:creationId xmlns:p14="http://schemas.microsoft.com/office/powerpoint/2010/main" val="280621397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85805-289C-43C2-92F9-BF462C27E5F4}"/>
              </a:ext>
            </a:extLst>
          </p:cNvPr>
          <p:cNvSpPr>
            <a:spLocks noGrp="1"/>
          </p:cNvSpPr>
          <p:nvPr>
            <p:ph type="title"/>
          </p:nvPr>
        </p:nvSpPr>
        <p:spPr/>
        <p:txBody>
          <a:bodyPr/>
          <a:lstStyle/>
          <a:p>
            <a:pPr algn="ctr"/>
            <a:r>
              <a:rPr lang="en-US" b="1" dirty="0"/>
              <a:t>Cloud Service Models</a:t>
            </a:r>
            <a:endParaRPr lang="LID4096" b="1" dirty="0"/>
          </a:p>
        </p:txBody>
      </p:sp>
      <p:graphicFrame>
        <p:nvGraphicFramePr>
          <p:cNvPr id="6" name="Table 6">
            <a:extLst>
              <a:ext uri="{FF2B5EF4-FFF2-40B4-BE49-F238E27FC236}">
                <a16:creationId xmlns:a16="http://schemas.microsoft.com/office/drawing/2014/main" id="{EED8F76F-40DC-4A81-BFC1-75E592F376F8}"/>
              </a:ext>
            </a:extLst>
          </p:cNvPr>
          <p:cNvGraphicFramePr>
            <a:graphicFrameLocks noGrp="1"/>
          </p:cNvGraphicFramePr>
          <p:nvPr>
            <p:ph idx="1"/>
            <p:extLst>
              <p:ext uri="{D42A27DB-BD31-4B8C-83A1-F6EECF244321}">
                <p14:modId xmlns:p14="http://schemas.microsoft.com/office/powerpoint/2010/main" val="1999337823"/>
              </p:ext>
            </p:extLst>
          </p:nvPr>
        </p:nvGraphicFramePr>
        <p:xfrm>
          <a:off x="1141413" y="2249488"/>
          <a:ext cx="9906000" cy="2839720"/>
        </p:xfrm>
        <a:graphic>
          <a:graphicData uri="http://schemas.openxmlformats.org/drawingml/2006/table">
            <a:tbl>
              <a:tblPr firstRow="1" bandRow="1">
                <a:tableStyleId>{5C22544A-7EE6-4342-B048-85BDC9FD1C3A}</a:tableStyleId>
              </a:tblPr>
              <a:tblGrid>
                <a:gridCol w="1521888">
                  <a:extLst>
                    <a:ext uri="{9D8B030D-6E8A-4147-A177-3AD203B41FA5}">
                      <a16:colId xmlns:a16="http://schemas.microsoft.com/office/drawing/2014/main" val="891611462"/>
                    </a:ext>
                  </a:extLst>
                </a:gridCol>
                <a:gridCol w="2246050">
                  <a:extLst>
                    <a:ext uri="{9D8B030D-6E8A-4147-A177-3AD203B41FA5}">
                      <a16:colId xmlns:a16="http://schemas.microsoft.com/office/drawing/2014/main" val="1126809388"/>
                    </a:ext>
                  </a:extLst>
                </a:gridCol>
                <a:gridCol w="3009531">
                  <a:extLst>
                    <a:ext uri="{9D8B030D-6E8A-4147-A177-3AD203B41FA5}">
                      <a16:colId xmlns:a16="http://schemas.microsoft.com/office/drawing/2014/main" val="3740726487"/>
                    </a:ext>
                  </a:extLst>
                </a:gridCol>
                <a:gridCol w="3128531">
                  <a:extLst>
                    <a:ext uri="{9D8B030D-6E8A-4147-A177-3AD203B41FA5}">
                      <a16:colId xmlns:a16="http://schemas.microsoft.com/office/drawing/2014/main" val="3063482539"/>
                    </a:ext>
                  </a:extLst>
                </a:gridCol>
              </a:tblGrid>
              <a:tr h="370840">
                <a:tc>
                  <a:txBody>
                    <a:bodyPr/>
                    <a:lstStyle/>
                    <a:p>
                      <a:r>
                        <a:rPr lang="en-US" dirty="0">
                          <a:solidFill>
                            <a:schemeClr val="tx1"/>
                          </a:solidFill>
                        </a:rPr>
                        <a:t>Service Model </a:t>
                      </a:r>
                      <a:endParaRPr lang="LID4096" dirty="0">
                        <a:solidFill>
                          <a:schemeClr val="tx1"/>
                        </a:solidFill>
                      </a:endParaRPr>
                    </a:p>
                  </a:txBody>
                  <a:tcPr>
                    <a:noFill/>
                  </a:tcPr>
                </a:tc>
                <a:tc>
                  <a:txBody>
                    <a:bodyPr/>
                    <a:lstStyle/>
                    <a:p>
                      <a:r>
                        <a:rPr lang="en-US" dirty="0">
                          <a:solidFill>
                            <a:schemeClr val="tx1"/>
                          </a:solidFill>
                        </a:rPr>
                        <a:t>Who Uses It</a:t>
                      </a:r>
                      <a:endParaRPr lang="LID4096" dirty="0">
                        <a:solidFill>
                          <a:schemeClr val="tx1"/>
                        </a:solidFill>
                      </a:endParaRPr>
                    </a:p>
                  </a:txBody>
                  <a:tcPr>
                    <a:noFill/>
                  </a:tcPr>
                </a:tc>
                <a:tc>
                  <a:txBody>
                    <a:bodyPr/>
                    <a:lstStyle/>
                    <a:p>
                      <a:r>
                        <a:rPr lang="en-US" dirty="0">
                          <a:solidFill>
                            <a:schemeClr val="tx1"/>
                          </a:solidFill>
                        </a:rPr>
                        <a:t>Available Services</a:t>
                      </a:r>
                      <a:endParaRPr lang="LID4096" dirty="0">
                        <a:solidFill>
                          <a:schemeClr val="tx1"/>
                        </a:solidFill>
                      </a:endParaRPr>
                    </a:p>
                  </a:txBody>
                  <a:tcPr>
                    <a:noFill/>
                  </a:tcPr>
                </a:tc>
                <a:tc>
                  <a:txBody>
                    <a:bodyPr/>
                    <a:lstStyle/>
                    <a:p>
                      <a:r>
                        <a:rPr lang="en-US" dirty="0">
                          <a:solidFill>
                            <a:schemeClr val="tx1"/>
                          </a:solidFill>
                        </a:rPr>
                        <a:t>Why Use It</a:t>
                      </a:r>
                      <a:endParaRPr lang="LID4096" dirty="0">
                        <a:solidFill>
                          <a:schemeClr val="tx1"/>
                        </a:solidFill>
                      </a:endParaRPr>
                    </a:p>
                  </a:txBody>
                  <a:tcPr>
                    <a:noFill/>
                  </a:tcPr>
                </a:tc>
                <a:extLst>
                  <a:ext uri="{0D108BD9-81ED-4DB2-BD59-A6C34878D82A}">
                    <a16:rowId xmlns:a16="http://schemas.microsoft.com/office/drawing/2014/main" val="1712393331"/>
                  </a:ext>
                </a:extLst>
              </a:tr>
              <a:tr h="370840">
                <a:tc>
                  <a:txBody>
                    <a:bodyPr/>
                    <a:lstStyle/>
                    <a:p>
                      <a:r>
                        <a:rPr lang="en-US" dirty="0">
                          <a:solidFill>
                            <a:schemeClr val="tx1"/>
                          </a:solidFill>
                        </a:rPr>
                        <a:t>SaaS</a:t>
                      </a:r>
                      <a:endParaRPr lang="LID4096" dirty="0">
                        <a:solidFill>
                          <a:schemeClr val="tx1"/>
                        </a:solidFill>
                      </a:endParaRPr>
                    </a:p>
                  </a:txBody>
                  <a:tcPr>
                    <a:noFill/>
                  </a:tcPr>
                </a:tc>
                <a:tc>
                  <a:txBody>
                    <a:bodyPr/>
                    <a:lstStyle/>
                    <a:p>
                      <a:r>
                        <a:rPr lang="en-US" dirty="0">
                          <a:solidFill>
                            <a:schemeClr val="tx1"/>
                          </a:solidFill>
                        </a:rPr>
                        <a:t>Agency Staff Members</a:t>
                      </a:r>
                      <a:endParaRPr lang="LID4096" dirty="0">
                        <a:solidFill>
                          <a:schemeClr val="tx1"/>
                        </a:solidFill>
                      </a:endParaRPr>
                    </a:p>
                  </a:txBody>
                  <a:tcPr>
                    <a:noFill/>
                  </a:tcPr>
                </a:tc>
                <a:tc>
                  <a:txBody>
                    <a:bodyPr/>
                    <a:lstStyle/>
                    <a:p>
                      <a:r>
                        <a:rPr lang="en-US" dirty="0">
                          <a:solidFill>
                            <a:schemeClr val="tx1"/>
                          </a:solidFill>
                        </a:rPr>
                        <a:t>Software applications such as email</a:t>
                      </a:r>
                      <a:endParaRPr lang="LID4096" dirty="0">
                        <a:solidFill>
                          <a:schemeClr val="tx1"/>
                        </a:solidFill>
                      </a:endParaRPr>
                    </a:p>
                  </a:txBody>
                  <a:tcPr>
                    <a:noFill/>
                  </a:tcPr>
                </a:tc>
                <a:tc>
                  <a:txBody>
                    <a:bodyPr/>
                    <a:lstStyle/>
                    <a:p>
                      <a:r>
                        <a:rPr lang="en-US" dirty="0">
                          <a:solidFill>
                            <a:schemeClr val="tx1"/>
                          </a:solidFill>
                        </a:rPr>
                        <a:t>Complete business tasks that are typically performed locally on a computer </a:t>
                      </a:r>
                      <a:endParaRPr lang="LID4096" dirty="0">
                        <a:solidFill>
                          <a:schemeClr val="tx1"/>
                        </a:solidFill>
                      </a:endParaRPr>
                    </a:p>
                  </a:txBody>
                  <a:tcPr>
                    <a:noFill/>
                  </a:tcPr>
                </a:tc>
                <a:extLst>
                  <a:ext uri="{0D108BD9-81ED-4DB2-BD59-A6C34878D82A}">
                    <a16:rowId xmlns:a16="http://schemas.microsoft.com/office/drawing/2014/main" val="326690894"/>
                  </a:ext>
                </a:extLst>
              </a:tr>
              <a:tr h="370840">
                <a:tc>
                  <a:txBody>
                    <a:bodyPr/>
                    <a:lstStyle/>
                    <a:p>
                      <a:r>
                        <a:rPr lang="en-US" dirty="0">
                          <a:solidFill>
                            <a:schemeClr val="tx1"/>
                          </a:solidFill>
                        </a:rPr>
                        <a:t>PaaS</a:t>
                      </a:r>
                      <a:endParaRPr lang="LID4096" dirty="0">
                        <a:solidFill>
                          <a:schemeClr val="tx1"/>
                        </a:solidFill>
                      </a:endParaRPr>
                    </a:p>
                  </a:txBody>
                  <a:tcPr>
                    <a:noFill/>
                  </a:tcPr>
                </a:tc>
                <a:tc>
                  <a:txBody>
                    <a:bodyPr/>
                    <a:lstStyle/>
                    <a:p>
                      <a:r>
                        <a:rPr lang="en-US" dirty="0">
                          <a:solidFill>
                            <a:schemeClr val="tx1"/>
                          </a:solidFill>
                        </a:rPr>
                        <a:t>Developers and Application Managers</a:t>
                      </a:r>
                      <a:endParaRPr lang="LID4096" dirty="0">
                        <a:solidFill>
                          <a:schemeClr val="tx1"/>
                        </a:solidFill>
                      </a:endParaRPr>
                    </a:p>
                  </a:txBody>
                  <a:tcPr>
                    <a:noFill/>
                  </a:tcPr>
                </a:tc>
                <a:tc>
                  <a:txBody>
                    <a:bodyPr/>
                    <a:lstStyle/>
                    <a:p>
                      <a:r>
                        <a:rPr lang="en-US" dirty="0">
                          <a:solidFill>
                            <a:schemeClr val="tx1"/>
                          </a:solidFill>
                        </a:rPr>
                        <a:t>Service for creating, testing, managing, and hosting software applications</a:t>
                      </a:r>
                      <a:endParaRPr lang="LID4096" dirty="0">
                        <a:solidFill>
                          <a:schemeClr val="tx1"/>
                        </a:solidFill>
                      </a:endParaRPr>
                    </a:p>
                  </a:txBody>
                  <a:tcPr>
                    <a:noFill/>
                  </a:tcPr>
                </a:tc>
                <a:tc>
                  <a:txBody>
                    <a:bodyPr/>
                    <a:lstStyle/>
                    <a:p>
                      <a:r>
                        <a:rPr lang="en-US" dirty="0">
                          <a:solidFill>
                            <a:schemeClr val="tx1"/>
                          </a:solidFill>
                        </a:rPr>
                        <a:t>Establish a common and consistent platform for application development </a:t>
                      </a:r>
                      <a:endParaRPr lang="LID4096" dirty="0">
                        <a:solidFill>
                          <a:schemeClr val="tx1"/>
                        </a:solidFill>
                      </a:endParaRPr>
                    </a:p>
                  </a:txBody>
                  <a:tcPr>
                    <a:noFill/>
                  </a:tcPr>
                </a:tc>
                <a:extLst>
                  <a:ext uri="{0D108BD9-81ED-4DB2-BD59-A6C34878D82A}">
                    <a16:rowId xmlns:a16="http://schemas.microsoft.com/office/drawing/2014/main" val="97742139"/>
                  </a:ext>
                </a:extLst>
              </a:tr>
              <a:tr h="370840">
                <a:tc>
                  <a:txBody>
                    <a:bodyPr/>
                    <a:lstStyle/>
                    <a:p>
                      <a:r>
                        <a:rPr lang="en-US" dirty="0">
                          <a:solidFill>
                            <a:schemeClr val="tx1"/>
                          </a:solidFill>
                        </a:rPr>
                        <a:t>IaaS</a:t>
                      </a:r>
                      <a:endParaRPr lang="LID4096" dirty="0">
                        <a:solidFill>
                          <a:schemeClr val="tx1"/>
                        </a:solidFill>
                      </a:endParaRPr>
                    </a:p>
                  </a:txBody>
                  <a:tcPr>
                    <a:noFill/>
                  </a:tcPr>
                </a:tc>
                <a:tc>
                  <a:txBody>
                    <a:bodyPr/>
                    <a:lstStyle/>
                    <a:p>
                      <a:r>
                        <a:rPr lang="en-US" dirty="0">
                          <a:solidFill>
                            <a:schemeClr val="tx1"/>
                          </a:solidFill>
                        </a:rPr>
                        <a:t>IT System Managers </a:t>
                      </a:r>
                      <a:endParaRPr lang="LID4096" dirty="0">
                        <a:solidFill>
                          <a:schemeClr val="tx1"/>
                        </a:solidFill>
                      </a:endParaRPr>
                    </a:p>
                  </a:txBody>
                  <a:tcPr>
                    <a:noFill/>
                  </a:tcPr>
                </a:tc>
                <a:tc>
                  <a:txBody>
                    <a:bodyPr/>
                    <a:lstStyle/>
                    <a:p>
                      <a:r>
                        <a:rPr lang="en-US" dirty="0">
                          <a:solidFill>
                            <a:schemeClr val="tx1"/>
                          </a:solidFill>
                        </a:rPr>
                        <a:t>Virtual machines, storage and backup services</a:t>
                      </a:r>
                      <a:endParaRPr lang="LID4096" dirty="0">
                        <a:solidFill>
                          <a:schemeClr val="tx1"/>
                        </a:solidFill>
                      </a:endParaRPr>
                    </a:p>
                  </a:txBody>
                  <a:tcPr>
                    <a:noFill/>
                  </a:tcPr>
                </a:tc>
                <a:tc>
                  <a:txBody>
                    <a:bodyPr/>
                    <a:lstStyle/>
                    <a:p>
                      <a:r>
                        <a:rPr lang="en-US" dirty="0">
                          <a:solidFill>
                            <a:schemeClr val="tx1"/>
                          </a:solidFill>
                        </a:rPr>
                        <a:t>Build a customized computing environment </a:t>
                      </a:r>
                      <a:endParaRPr lang="LID4096" dirty="0">
                        <a:solidFill>
                          <a:schemeClr val="tx1"/>
                        </a:solidFill>
                      </a:endParaRPr>
                    </a:p>
                  </a:txBody>
                  <a:tcPr>
                    <a:noFill/>
                  </a:tcPr>
                </a:tc>
                <a:extLst>
                  <a:ext uri="{0D108BD9-81ED-4DB2-BD59-A6C34878D82A}">
                    <a16:rowId xmlns:a16="http://schemas.microsoft.com/office/drawing/2014/main" val="2657928646"/>
                  </a:ext>
                </a:extLst>
              </a:tr>
            </a:tbl>
          </a:graphicData>
        </a:graphic>
      </p:graphicFrame>
      <p:sp>
        <p:nvSpPr>
          <p:cNvPr id="4" name="Footer Placeholder 3">
            <a:extLst>
              <a:ext uri="{FF2B5EF4-FFF2-40B4-BE49-F238E27FC236}">
                <a16:creationId xmlns:a16="http://schemas.microsoft.com/office/drawing/2014/main" id="{11EB7ECA-25C0-484F-A2B9-7F2BC10AEE5B}"/>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29A497B1-E435-4ED8-9CBC-13D1F7F0F1FA}"/>
              </a:ext>
            </a:extLst>
          </p:cNvPr>
          <p:cNvSpPr>
            <a:spLocks noGrp="1"/>
          </p:cNvSpPr>
          <p:nvPr>
            <p:ph type="sldNum" sz="quarter" idx="12"/>
          </p:nvPr>
        </p:nvSpPr>
        <p:spPr/>
        <p:txBody>
          <a:bodyPr/>
          <a:lstStyle/>
          <a:p>
            <a:fld id="{E153A30B-AAA6-4D3D-89E9-8F9473C4CEC0}" type="slidenum">
              <a:rPr lang="LID4096" smtClean="0"/>
              <a:t>103</a:t>
            </a:fld>
            <a:endParaRPr lang="LID4096"/>
          </a:p>
        </p:txBody>
      </p:sp>
    </p:spTree>
    <p:extLst>
      <p:ext uri="{BB962C8B-B14F-4D97-AF65-F5344CB8AC3E}">
        <p14:creationId xmlns:p14="http://schemas.microsoft.com/office/powerpoint/2010/main" val="253911970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30205-E189-44BF-A1F9-F9BF9F3AB20D}"/>
              </a:ext>
            </a:extLst>
          </p:cNvPr>
          <p:cNvSpPr>
            <a:spLocks noGrp="1"/>
          </p:cNvSpPr>
          <p:nvPr>
            <p:ph type="title"/>
          </p:nvPr>
        </p:nvSpPr>
        <p:spPr/>
        <p:txBody>
          <a:bodyPr/>
          <a:lstStyle/>
          <a:p>
            <a:pPr algn="ctr"/>
            <a:r>
              <a:rPr lang="en-GB" b="1" dirty="0"/>
              <a:t>Cloud Computing Framework</a:t>
            </a:r>
            <a:endParaRPr lang="LID4096" b="1" dirty="0"/>
          </a:p>
        </p:txBody>
      </p:sp>
      <p:pic>
        <p:nvPicPr>
          <p:cNvPr id="13" name="Content Placeholder 12">
            <a:extLst>
              <a:ext uri="{FF2B5EF4-FFF2-40B4-BE49-F238E27FC236}">
                <a16:creationId xmlns:a16="http://schemas.microsoft.com/office/drawing/2014/main" id="{17A184B0-CDFD-4F0C-A33C-24D0EBB9B085}"/>
              </a:ext>
            </a:extLst>
          </p:cNvPr>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t="4268"/>
          <a:stretch/>
        </p:blipFill>
        <p:spPr>
          <a:xfrm>
            <a:off x="1141414" y="2379215"/>
            <a:ext cx="4878387" cy="3082320"/>
          </a:xfrm>
        </p:spPr>
      </p:pic>
      <p:pic>
        <p:nvPicPr>
          <p:cNvPr id="6" name="Content Placeholder 5">
            <a:extLst>
              <a:ext uri="{FF2B5EF4-FFF2-40B4-BE49-F238E27FC236}">
                <a16:creationId xmlns:a16="http://schemas.microsoft.com/office/drawing/2014/main" id="{6916638E-6987-4FF8-919A-0EA9FC4F9AAB}"/>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58503" y="2249488"/>
            <a:ext cx="4702606" cy="3541712"/>
          </a:xfrm>
        </p:spPr>
      </p:pic>
      <p:sp>
        <p:nvSpPr>
          <p:cNvPr id="4" name="Footer Placeholder 3">
            <a:extLst>
              <a:ext uri="{FF2B5EF4-FFF2-40B4-BE49-F238E27FC236}">
                <a16:creationId xmlns:a16="http://schemas.microsoft.com/office/drawing/2014/main" id="{B3AF06B4-7FFA-4BD1-A4B2-AAEA0A052D7D}"/>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C79F019E-7D0B-4C49-A9DF-ADB60C8A67B7}"/>
              </a:ext>
            </a:extLst>
          </p:cNvPr>
          <p:cNvSpPr>
            <a:spLocks noGrp="1"/>
          </p:cNvSpPr>
          <p:nvPr>
            <p:ph type="sldNum" sz="quarter" idx="12"/>
          </p:nvPr>
        </p:nvSpPr>
        <p:spPr/>
        <p:txBody>
          <a:bodyPr/>
          <a:lstStyle/>
          <a:p>
            <a:fld id="{E153A30B-AAA6-4D3D-89E9-8F9473C4CEC0}" type="slidenum">
              <a:rPr lang="LID4096" smtClean="0"/>
              <a:t>104</a:t>
            </a:fld>
            <a:endParaRPr lang="LID4096"/>
          </a:p>
        </p:txBody>
      </p:sp>
    </p:spTree>
    <p:extLst>
      <p:ext uri="{BB962C8B-B14F-4D97-AF65-F5344CB8AC3E}">
        <p14:creationId xmlns:p14="http://schemas.microsoft.com/office/powerpoint/2010/main" val="316992117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3142D36-E657-4128-A3E7-23B1B2EFCAFA}"/>
              </a:ext>
            </a:extLst>
          </p:cNvPr>
          <p:cNvSpPr>
            <a:spLocks noGrp="1"/>
          </p:cNvSpPr>
          <p:nvPr>
            <p:ph type="title"/>
          </p:nvPr>
        </p:nvSpPr>
        <p:spPr/>
        <p:txBody>
          <a:bodyPr/>
          <a:lstStyle/>
          <a:p>
            <a:pPr algn="ctr"/>
            <a:r>
              <a:rPr lang="en-US" b="1" dirty="0"/>
              <a:t>Forensics </a:t>
            </a:r>
            <a:endParaRPr lang="LID4096" b="1" dirty="0"/>
          </a:p>
        </p:txBody>
      </p:sp>
      <p:sp>
        <p:nvSpPr>
          <p:cNvPr id="8" name="Content Placeholder 7">
            <a:extLst>
              <a:ext uri="{FF2B5EF4-FFF2-40B4-BE49-F238E27FC236}">
                <a16:creationId xmlns:a16="http://schemas.microsoft.com/office/drawing/2014/main" id="{E014CE58-288B-479A-A456-3F0B3B7A3EA1}"/>
              </a:ext>
            </a:extLst>
          </p:cNvPr>
          <p:cNvSpPr>
            <a:spLocks noGrp="1"/>
          </p:cNvSpPr>
          <p:nvPr>
            <p:ph idx="1"/>
          </p:nvPr>
        </p:nvSpPr>
        <p:spPr/>
        <p:txBody>
          <a:bodyPr>
            <a:normAutofit fontScale="85000" lnSpcReduction="20000"/>
          </a:bodyPr>
          <a:lstStyle/>
          <a:p>
            <a:r>
              <a:rPr lang="en-US" b="1" dirty="0">
                <a:hlinkClick r:id="rId2" action="ppaction://hlinksldjump">
                  <a:extLst>
                    <a:ext uri="{A12FA001-AC4F-418D-AE19-62706E023703}">
                      <ahyp:hlinkClr xmlns:ahyp="http://schemas.microsoft.com/office/drawing/2018/hyperlinkcolor" val="tx"/>
                    </a:ext>
                  </a:extLst>
                </a:hlinkClick>
              </a:rPr>
              <a:t>Digital forensics </a:t>
            </a:r>
            <a:r>
              <a:rPr lang="en-US" dirty="0"/>
              <a:t>involves the collection, preservation, and analysis of digital evidence. </a:t>
            </a:r>
          </a:p>
          <a:p>
            <a:r>
              <a:rPr lang="en-US" b="1" dirty="0"/>
              <a:t>Cloud  forensics  </a:t>
            </a:r>
            <a:r>
              <a:rPr lang="en-US" dirty="0"/>
              <a:t>is  the  application  of  digital  forensics  science  in  cloud  computing environments.</a:t>
            </a:r>
          </a:p>
          <a:p>
            <a:r>
              <a:rPr lang="en-US" b="1" dirty="0"/>
              <a:t>Technically</a:t>
            </a:r>
            <a:r>
              <a:rPr lang="en-US" dirty="0"/>
              <a:t>, it consists of a </a:t>
            </a:r>
            <a:r>
              <a:rPr lang="en-US" b="1" dirty="0"/>
              <a:t>hybrid forensic approach </a:t>
            </a:r>
            <a:r>
              <a:rPr lang="en-US" dirty="0"/>
              <a:t>(e.g., </a:t>
            </a:r>
            <a:r>
              <a:rPr lang="en-US" b="1" dirty="0"/>
              <a:t>remote</a:t>
            </a:r>
            <a:r>
              <a:rPr lang="en-US" dirty="0"/>
              <a:t>, </a:t>
            </a:r>
            <a:r>
              <a:rPr lang="en-US" b="1" dirty="0"/>
              <a:t>virtual</a:t>
            </a:r>
            <a:r>
              <a:rPr lang="en-US" dirty="0"/>
              <a:t>, </a:t>
            </a:r>
            <a:r>
              <a:rPr lang="en-US" b="1" dirty="0"/>
              <a:t>network</a:t>
            </a:r>
            <a:r>
              <a:rPr lang="en-US" dirty="0"/>
              <a:t>, </a:t>
            </a:r>
            <a:r>
              <a:rPr lang="en-US" b="1" dirty="0"/>
              <a:t>live</a:t>
            </a:r>
            <a:r>
              <a:rPr lang="en-US" dirty="0"/>
              <a:t>) towards the generation of digital evidence. </a:t>
            </a:r>
          </a:p>
          <a:p>
            <a:r>
              <a:rPr lang="en-US" b="1" dirty="0"/>
              <a:t>Organizationally</a:t>
            </a:r>
            <a:r>
              <a:rPr lang="en-US" dirty="0"/>
              <a:t>, it involves </a:t>
            </a:r>
            <a:r>
              <a:rPr lang="en-US" b="1" dirty="0"/>
              <a:t>interactions</a:t>
            </a:r>
            <a:r>
              <a:rPr lang="en-US" dirty="0"/>
              <a:t> among cloud actors (i.e., </a:t>
            </a:r>
            <a:r>
              <a:rPr lang="en-US" b="1" dirty="0"/>
              <a:t>cloud provider</a:t>
            </a:r>
            <a:r>
              <a:rPr lang="en-US" dirty="0"/>
              <a:t>, </a:t>
            </a:r>
            <a:r>
              <a:rPr lang="en-US" b="1" dirty="0"/>
              <a:t>consumer</a:t>
            </a:r>
            <a:r>
              <a:rPr lang="en-US" dirty="0"/>
              <a:t>, </a:t>
            </a:r>
            <a:r>
              <a:rPr lang="en-US" b="1" dirty="0"/>
              <a:t>broker</a:t>
            </a:r>
            <a:r>
              <a:rPr lang="en-US" dirty="0"/>
              <a:t>, </a:t>
            </a:r>
            <a:r>
              <a:rPr lang="en-US" b="1" dirty="0"/>
              <a:t>carrier</a:t>
            </a:r>
            <a:r>
              <a:rPr lang="en-US" dirty="0"/>
              <a:t>, </a:t>
            </a:r>
            <a:r>
              <a:rPr lang="en-US" b="1" dirty="0"/>
              <a:t>auditor</a:t>
            </a:r>
            <a:r>
              <a:rPr lang="en-US" dirty="0"/>
              <a:t>) for the purpose of facilitating both internal and external investigations.</a:t>
            </a:r>
          </a:p>
          <a:p>
            <a:r>
              <a:rPr lang="en-US" dirty="0"/>
              <a:t> </a:t>
            </a:r>
            <a:r>
              <a:rPr lang="en-US" b="1" dirty="0"/>
              <a:t>Legally</a:t>
            </a:r>
            <a:r>
              <a:rPr lang="en-US" dirty="0"/>
              <a:t>, it often implies </a:t>
            </a:r>
            <a:r>
              <a:rPr lang="en-US" b="1" dirty="0"/>
              <a:t>multi-jurisdictional</a:t>
            </a:r>
            <a:r>
              <a:rPr lang="en-US" dirty="0"/>
              <a:t> and </a:t>
            </a:r>
            <a:r>
              <a:rPr lang="en-US" b="1" dirty="0"/>
              <a:t>multi- tenant </a:t>
            </a:r>
            <a:r>
              <a:rPr lang="en-US" dirty="0"/>
              <a:t>situations.</a:t>
            </a:r>
          </a:p>
          <a:p>
            <a:endParaRPr lang="LID4096" dirty="0"/>
          </a:p>
        </p:txBody>
      </p:sp>
      <p:sp>
        <p:nvSpPr>
          <p:cNvPr id="5" name="Footer Placeholder 4">
            <a:extLst>
              <a:ext uri="{FF2B5EF4-FFF2-40B4-BE49-F238E27FC236}">
                <a16:creationId xmlns:a16="http://schemas.microsoft.com/office/drawing/2014/main" id="{0F140D91-6AD7-4D6F-A17D-52847073269E}"/>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6" name="Slide Number Placeholder 5">
            <a:extLst>
              <a:ext uri="{FF2B5EF4-FFF2-40B4-BE49-F238E27FC236}">
                <a16:creationId xmlns:a16="http://schemas.microsoft.com/office/drawing/2014/main" id="{6BE615F6-7698-4911-9E2D-57F8A211B6FF}"/>
              </a:ext>
            </a:extLst>
          </p:cNvPr>
          <p:cNvSpPr>
            <a:spLocks noGrp="1"/>
          </p:cNvSpPr>
          <p:nvPr>
            <p:ph type="sldNum" sz="quarter" idx="12"/>
          </p:nvPr>
        </p:nvSpPr>
        <p:spPr/>
        <p:txBody>
          <a:bodyPr/>
          <a:lstStyle/>
          <a:p>
            <a:fld id="{E153A30B-AAA6-4D3D-89E9-8F9473C4CEC0}" type="slidenum">
              <a:rPr lang="LID4096" smtClean="0"/>
              <a:t>105</a:t>
            </a:fld>
            <a:endParaRPr lang="LID4096"/>
          </a:p>
        </p:txBody>
      </p:sp>
    </p:spTree>
    <p:extLst>
      <p:ext uri="{BB962C8B-B14F-4D97-AF65-F5344CB8AC3E}">
        <p14:creationId xmlns:p14="http://schemas.microsoft.com/office/powerpoint/2010/main" val="264389084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AB1A1-8D63-4BE3-8C9A-5DFBA7F1D3E6}"/>
              </a:ext>
            </a:extLst>
          </p:cNvPr>
          <p:cNvSpPr>
            <a:spLocks noGrp="1"/>
          </p:cNvSpPr>
          <p:nvPr>
            <p:ph type="title"/>
          </p:nvPr>
        </p:nvSpPr>
        <p:spPr/>
        <p:txBody>
          <a:bodyPr/>
          <a:lstStyle/>
          <a:p>
            <a:pPr algn="ctr"/>
            <a:r>
              <a:rPr lang="en-GB" b="1" dirty="0"/>
              <a:t>Actors in Cloud Computing</a:t>
            </a:r>
            <a:endParaRPr lang="LID4096" b="1" dirty="0"/>
          </a:p>
        </p:txBody>
      </p:sp>
      <p:sp>
        <p:nvSpPr>
          <p:cNvPr id="3" name="Content Placeholder 2">
            <a:extLst>
              <a:ext uri="{FF2B5EF4-FFF2-40B4-BE49-F238E27FC236}">
                <a16:creationId xmlns:a16="http://schemas.microsoft.com/office/drawing/2014/main" id="{3322432F-C71C-4828-9D8B-767C55D788A8}"/>
              </a:ext>
            </a:extLst>
          </p:cNvPr>
          <p:cNvSpPr>
            <a:spLocks noGrp="1"/>
          </p:cNvSpPr>
          <p:nvPr>
            <p:ph idx="1"/>
          </p:nvPr>
        </p:nvSpPr>
        <p:spPr/>
        <p:txBody>
          <a:bodyPr>
            <a:normAutofit fontScale="85000" lnSpcReduction="20000"/>
          </a:bodyPr>
          <a:lstStyle/>
          <a:p>
            <a:pPr marL="457200" indent="-457200">
              <a:buFont typeface="+mj-lt"/>
              <a:buAutoNum type="arabicPeriod"/>
            </a:pPr>
            <a:r>
              <a:rPr lang="en-GB" b="1" dirty="0"/>
              <a:t>Consumer </a:t>
            </a:r>
            <a:r>
              <a:rPr lang="en-GB" dirty="0"/>
              <a:t>– </a:t>
            </a:r>
            <a:r>
              <a:rPr lang="en-US" dirty="0"/>
              <a:t>A person or organization that maintains a business relationship with, and </a:t>
            </a:r>
            <a:r>
              <a:rPr lang="en-US" b="1" dirty="0"/>
              <a:t>uses services </a:t>
            </a:r>
            <a:r>
              <a:rPr lang="en-US" dirty="0"/>
              <a:t>from the Cloud Providers.</a:t>
            </a:r>
          </a:p>
          <a:p>
            <a:pPr marL="457200" indent="-457200">
              <a:buFont typeface="+mj-lt"/>
              <a:buAutoNum type="arabicPeriod"/>
            </a:pPr>
            <a:r>
              <a:rPr lang="en-US" b="1" dirty="0"/>
              <a:t>Provider</a:t>
            </a:r>
            <a:r>
              <a:rPr lang="en-US" dirty="0"/>
              <a:t> – A person, organization, or entity responsible for </a:t>
            </a:r>
            <a:r>
              <a:rPr lang="en-US" b="1" dirty="0"/>
              <a:t>making a service available</a:t>
            </a:r>
            <a:r>
              <a:rPr lang="en-US" dirty="0"/>
              <a:t> to interested parties.</a:t>
            </a:r>
          </a:p>
          <a:p>
            <a:pPr marL="457200" indent="-457200">
              <a:buFont typeface="+mj-lt"/>
              <a:buAutoNum type="arabicPeriod"/>
            </a:pPr>
            <a:r>
              <a:rPr lang="en-US" b="1" dirty="0"/>
              <a:t>Auditor</a:t>
            </a:r>
            <a:r>
              <a:rPr lang="en-US" dirty="0"/>
              <a:t> – A party that can </a:t>
            </a:r>
            <a:r>
              <a:rPr lang="en-US" b="1" dirty="0"/>
              <a:t>conduct independent assessment of cloud services</a:t>
            </a:r>
            <a:r>
              <a:rPr lang="en-US" dirty="0"/>
              <a:t>.</a:t>
            </a:r>
          </a:p>
          <a:p>
            <a:pPr marL="457200" indent="-457200">
              <a:buFont typeface="+mj-lt"/>
              <a:buAutoNum type="arabicPeriod"/>
            </a:pPr>
            <a:r>
              <a:rPr lang="en-US" b="1" dirty="0"/>
              <a:t>Broker</a:t>
            </a:r>
            <a:r>
              <a:rPr lang="en-US" dirty="0"/>
              <a:t> – An entity </a:t>
            </a:r>
            <a:r>
              <a:rPr lang="en-US" b="1" dirty="0"/>
              <a:t>negotiates relationships </a:t>
            </a:r>
            <a:r>
              <a:rPr lang="en-US" dirty="0"/>
              <a:t>between Cloud Providers and Cloud Consumers.</a:t>
            </a:r>
          </a:p>
          <a:p>
            <a:pPr marL="457200" indent="-457200">
              <a:buFont typeface="+mj-lt"/>
              <a:buAutoNum type="arabicPeriod"/>
            </a:pPr>
            <a:r>
              <a:rPr lang="en-US" b="1" dirty="0"/>
              <a:t>Carrier</a:t>
            </a:r>
            <a:r>
              <a:rPr lang="en-US" dirty="0"/>
              <a:t> – An </a:t>
            </a:r>
            <a:r>
              <a:rPr lang="en-US" b="1" dirty="0"/>
              <a:t>intermediary</a:t>
            </a:r>
            <a:r>
              <a:rPr lang="en-US" dirty="0"/>
              <a:t> that </a:t>
            </a:r>
            <a:r>
              <a:rPr lang="en-US" b="1" dirty="0"/>
              <a:t>provides connectivity </a:t>
            </a:r>
            <a:r>
              <a:rPr lang="en-US" dirty="0"/>
              <a:t>and </a:t>
            </a:r>
            <a:r>
              <a:rPr lang="en-US" b="1" dirty="0"/>
              <a:t>transport</a:t>
            </a:r>
            <a:r>
              <a:rPr lang="en-US" dirty="0"/>
              <a:t> of cloud services from Cloud Providers to Cloud Consumers.</a:t>
            </a:r>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LID4096" dirty="0"/>
          </a:p>
        </p:txBody>
      </p:sp>
      <p:sp>
        <p:nvSpPr>
          <p:cNvPr id="4" name="Footer Placeholder 3">
            <a:extLst>
              <a:ext uri="{FF2B5EF4-FFF2-40B4-BE49-F238E27FC236}">
                <a16:creationId xmlns:a16="http://schemas.microsoft.com/office/drawing/2014/main" id="{37D39B39-6DDC-49DB-9914-49025847C383}"/>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6A074676-A19C-4225-B4A1-27A3DA12B793}"/>
              </a:ext>
            </a:extLst>
          </p:cNvPr>
          <p:cNvSpPr>
            <a:spLocks noGrp="1"/>
          </p:cNvSpPr>
          <p:nvPr>
            <p:ph type="sldNum" sz="quarter" idx="12"/>
          </p:nvPr>
        </p:nvSpPr>
        <p:spPr/>
        <p:txBody>
          <a:bodyPr/>
          <a:lstStyle/>
          <a:p>
            <a:fld id="{E153A30B-AAA6-4D3D-89E9-8F9473C4CEC0}" type="slidenum">
              <a:rPr lang="LID4096" smtClean="0"/>
              <a:t>106</a:t>
            </a:fld>
            <a:endParaRPr lang="LID4096"/>
          </a:p>
        </p:txBody>
      </p:sp>
    </p:spTree>
    <p:extLst>
      <p:ext uri="{BB962C8B-B14F-4D97-AF65-F5344CB8AC3E}">
        <p14:creationId xmlns:p14="http://schemas.microsoft.com/office/powerpoint/2010/main" val="390269080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EA44C7E-D9AE-4379-A0A5-1941AEAD8B86}"/>
              </a:ext>
            </a:extLst>
          </p:cNvPr>
          <p:cNvSpPr>
            <a:spLocks noGrp="1"/>
          </p:cNvSpPr>
          <p:nvPr>
            <p:ph type="title"/>
          </p:nvPr>
        </p:nvSpPr>
        <p:spPr/>
        <p:txBody>
          <a:bodyPr/>
          <a:lstStyle/>
          <a:p>
            <a:pPr algn="ctr"/>
            <a:r>
              <a:rPr lang="en-GB" b="1" dirty="0"/>
              <a:t>Scenarios</a:t>
            </a:r>
            <a:r>
              <a:rPr lang="en-GB" b="1" spc="-35" dirty="0"/>
              <a:t> </a:t>
            </a:r>
            <a:r>
              <a:rPr lang="en-GB" b="1" dirty="0"/>
              <a:t>in</a:t>
            </a:r>
            <a:r>
              <a:rPr lang="en-GB" b="1" spc="-25" dirty="0"/>
              <a:t> </a:t>
            </a:r>
            <a:r>
              <a:rPr lang="en-GB" b="1" dirty="0"/>
              <a:t>Cloud</a:t>
            </a:r>
            <a:endParaRPr lang="LID4096" b="1" dirty="0"/>
          </a:p>
        </p:txBody>
      </p:sp>
      <p:sp>
        <p:nvSpPr>
          <p:cNvPr id="7" name="Text Placeholder 6">
            <a:extLst>
              <a:ext uri="{FF2B5EF4-FFF2-40B4-BE49-F238E27FC236}">
                <a16:creationId xmlns:a16="http://schemas.microsoft.com/office/drawing/2014/main" id="{F9E23C3B-592F-42A9-B51B-99FEA302E8B7}"/>
              </a:ext>
            </a:extLst>
          </p:cNvPr>
          <p:cNvSpPr>
            <a:spLocks noGrp="1"/>
          </p:cNvSpPr>
          <p:nvPr>
            <p:ph type="body" idx="1"/>
          </p:nvPr>
        </p:nvSpPr>
        <p:spPr/>
        <p:txBody>
          <a:bodyPr/>
          <a:lstStyle/>
          <a:p>
            <a:pPr algn="ctr"/>
            <a:r>
              <a:rPr lang="en-US" b="1" dirty="0"/>
              <a:t>Scenario 1</a:t>
            </a:r>
            <a:endParaRPr lang="LID4096" b="1" dirty="0"/>
          </a:p>
        </p:txBody>
      </p:sp>
      <p:pic>
        <p:nvPicPr>
          <p:cNvPr id="17" name="Picture Placeholder 16">
            <a:extLst>
              <a:ext uri="{FF2B5EF4-FFF2-40B4-BE49-F238E27FC236}">
                <a16:creationId xmlns:a16="http://schemas.microsoft.com/office/drawing/2014/main" id="{DD2B3C97-FC74-418E-B63A-288594077BF5}"/>
              </a:ext>
            </a:extLst>
          </p:cNvPr>
          <p:cNvPicPr>
            <a:picLocks noGrp="1" noChangeAspect="1"/>
          </p:cNvPicPr>
          <p:nvPr>
            <p:ph type="pic" idx="15"/>
          </p:nvPr>
        </p:nvPicPr>
        <p:blipFill rotWithShape="1">
          <a:blip r:embed="rId2">
            <a:extLst>
              <a:ext uri="{28A0092B-C50C-407E-A947-70E740481C1C}">
                <a14:useLocalDpi xmlns:a14="http://schemas.microsoft.com/office/drawing/2010/main" val="0"/>
              </a:ext>
            </a:extLst>
          </a:blip>
          <a:srcRect/>
          <a:stretch/>
        </p:blipFill>
        <p:spPr>
          <a:xfrm>
            <a:off x="1141413" y="2666998"/>
            <a:ext cx="3240000" cy="1545349"/>
          </a:xfrm>
        </p:spPr>
      </p:pic>
      <p:sp>
        <p:nvSpPr>
          <p:cNvPr id="11" name="Text Placeholder 10">
            <a:extLst>
              <a:ext uri="{FF2B5EF4-FFF2-40B4-BE49-F238E27FC236}">
                <a16:creationId xmlns:a16="http://schemas.microsoft.com/office/drawing/2014/main" id="{1C8CF40E-FFE4-42E4-B522-D0ED1C768DD3}"/>
              </a:ext>
            </a:extLst>
          </p:cNvPr>
          <p:cNvSpPr>
            <a:spLocks noGrp="1"/>
          </p:cNvSpPr>
          <p:nvPr>
            <p:ph type="body" sz="half" idx="18"/>
          </p:nvPr>
        </p:nvSpPr>
        <p:spPr/>
        <p:txBody>
          <a:bodyPr>
            <a:normAutofit lnSpcReduction="10000"/>
          </a:bodyPr>
          <a:lstStyle/>
          <a:p>
            <a:r>
              <a:rPr lang="en-US" dirty="0"/>
              <a:t>Cloud consumer interacts with the cloud broker instead of contacting a cloud provider directly.</a:t>
            </a:r>
          </a:p>
        </p:txBody>
      </p:sp>
      <p:sp>
        <p:nvSpPr>
          <p:cNvPr id="8" name="Text Placeholder 7">
            <a:extLst>
              <a:ext uri="{FF2B5EF4-FFF2-40B4-BE49-F238E27FC236}">
                <a16:creationId xmlns:a16="http://schemas.microsoft.com/office/drawing/2014/main" id="{62B5C06F-CE95-440F-BE94-6749A7F281DE}"/>
              </a:ext>
            </a:extLst>
          </p:cNvPr>
          <p:cNvSpPr>
            <a:spLocks noGrp="1"/>
          </p:cNvSpPr>
          <p:nvPr>
            <p:ph type="body" sz="quarter" idx="3"/>
          </p:nvPr>
        </p:nvSpPr>
        <p:spPr/>
        <p:txBody>
          <a:bodyPr/>
          <a:lstStyle/>
          <a:p>
            <a:pPr algn="ctr"/>
            <a:r>
              <a:rPr lang="en-US" b="1" dirty="0"/>
              <a:t>Scenario 2</a:t>
            </a:r>
            <a:endParaRPr lang="LID4096" b="1" dirty="0"/>
          </a:p>
        </p:txBody>
      </p:sp>
      <p:sp>
        <p:nvSpPr>
          <p:cNvPr id="12" name="Text Placeholder 11">
            <a:extLst>
              <a:ext uri="{FF2B5EF4-FFF2-40B4-BE49-F238E27FC236}">
                <a16:creationId xmlns:a16="http://schemas.microsoft.com/office/drawing/2014/main" id="{7FFF5929-E350-4EDE-A01A-B418999E06BD}"/>
              </a:ext>
            </a:extLst>
          </p:cNvPr>
          <p:cNvSpPr>
            <a:spLocks noGrp="1"/>
          </p:cNvSpPr>
          <p:nvPr>
            <p:ph type="body" sz="half" idx="19"/>
          </p:nvPr>
        </p:nvSpPr>
        <p:spPr/>
        <p:txBody>
          <a:bodyPr>
            <a:normAutofit lnSpcReduction="10000"/>
          </a:bodyPr>
          <a:lstStyle/>
          <a:p>
            <a:r>
              <a:rPr lang="en-US" dirty="0"/>
              <a:t>Cloud carriers provide the connectivity and transport of cloud services from cloud providers to cloud consumers.</a:t>
            </a:r>
          </a:p>
        </p:txBody>
      </p:sp>
      <p:sp>
        <p:nvSpPr>
          <p:cNvPr id="9" name="Text Placeholder 8">
            <a:extLst>
              <a:ext uri="{FF2B5EF4-FFF2-40B4-BE49-F238E27FC236}">
                <a16:creationId xmlns:a16="http://schemas.microsoft.com/office/drawing/2014/main" id="{38FF9D1B-BB07-4CFB-9F50-8CDDEC4997A5}"/>
              </a:ext>
            </a:extLst>
          </p:cNvPr>
          <p:cNvSpPr>
            <a:spLocks noGrp="1"/>
          </p:cNvSpPr>
          <p:nvPr>
            <p:ph type="body" sz="quarter" idx="13"/>
          </p:nvPr>
        </p:nvSpPr>
        <p:spPr/>
        <p:txBody>
          <a:bodyPr/>
          <a:lstStyle/>
          <a:p>
            <a:pPr algn="ctr"/>
            <a:r>
              <a:rPr lang="en-US" b="1" dirty="0"/>
              <a:t>Scenario 3</a:t>
            </a:r>
            <a:endParaRPr lang="LID4096" dirty="0"/>
          </a:p>
        </p:txBody>
      </p:sp>
      <p:pic>
        <p:nvPicPr>
          <p:cNvPr id="21" name="Picture Placeholder 20">
            <a:extLst>
              <a:ext uri="{FF2B5EF4-FFF2-40B4-BE49-F238E27FC236}">
                <a16:creationId xmlns:a16="http://schemas.microsoft.com/office/drawing/2014/main" id="{732B78B4-5459-44D3-B6E7-01148EFC9BFB}"/>
              </a:ext>
            </a:extLst>
          </p:cNvPr>
          <p:cNvPicPr>
            <a:picLocks noGrp="1" noChangeAspect="1"/>
          </p:cNvPicPr>
          <p:nvPr>
            <p:ph type="pic" idx="22"/>
          </p:nvPr>
        </p:nvPicPr>
        <p:blipFill rotWithShape="1">
          <a:blip r:embed="rId3">
            <a:extLst>
              <a:ext uri="{28A0092B-C50C-407E-A947-70E740481C1C}">
                <a14:useLocalDpi xmlns:a14="http://schemas.microsoft.com/office/drawing/2010/main" val="0"/>
              </a:ext>
            </a:extLst>
          </a:blip>
          <a:srcRect l="534" r="534"/>
          <a:stretch/>
        </p:blipFill>
        <p:spPr>
          <a:xfrm>
            <a:off x="7852442" y="2666998"/>
            <a:ext cx="3169812" cy="1512000"/>
          </a:xfrm>
        </p:spPr>
      </p:pic>
      <p:sp>
        <p:nvSpPr>
          <p:cNvPr id="13" name="Text Placeholder 12">
            <a:extLst>
              <a:ext uri="{FF2B5EF4-FFF2-40B4-BE49-F238E27FC236}">
                <a16:creationId xmlns:a16="http://schemas.microsoft.com/office/drawing/2014/main" id="{45F2425D-1874-4E08-8662-8F68AD14237E}"/>
              </a:ext>
            </a:extLst>
          </p:cNvPr>
          <p:cNvSpPr>
            <a:spLocks noGrp="1"/>
          </p:cNvSpPr>
          <p:nvPr>
            <p:ph type="body" sz="half" idx="20"/>
          </p:nvPr>
        </p:nvSpPr>
        <p:spPr/>
        <p:txBody>
          <a:bodyPr>
            <a:normAutofit lnSpcReduction="10000"/>
          </a:bodyPr>
          <a:lstStyle/>
          <a:p>
            <a:r>
              <a:rPr lang="en-US" dirty="0"/>
              <a:t>Cloud auditor conducts independent assessments for the operation and security of the cloud service.</a:t>
            </a:r>
          </a:p>
        </p:txBody>
      </p:sp>
      <p:sp>
        <p:nvSpPr>
          <p:cNvPr id="4" name="Footer Placeholder 3">
            <a:extLst>
              <a:ext uri="{FF2B5EF4-FFF2-40B4-BE49-F238E27FC236}">
                <a16:creationId xmlns:a16="http://schemas.microsoft.com/office/drawing/2014/main" id="{A8C41C30-3763-4FB5-968E-92107085A05B}"/>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782C8E1C-22D5-4E13-8F83-C14410AA299F}"/>
              </a:ext>
            </a:extLst>
          </p:cNvPr>
          <p:cNvSpPr>
            <a:spLocks noGrp="1"/>
          </p:cNvSpPr>
          <p:nvPr>
            <p:ph type="sldNum" sz="quarter" idx="12"/>
          </p:nvPr>
        </p:nvSpPr>
        <p:spPr/>
        <p:txBody>
          <a:bodyPr/>
          <a:lstStyle/>
          <a:p>
            <a:fld id="{E153A30B-AAA6-4D3D-89E9-8F9473C4CEC0}" type="slidenum">
              <a:rPr lang="LID4096" smtClean="0"/>
              <a:t>107</a:t>
            </a:fld>
            <a:endParaRPr lang="LID4096"/>
          </a:p>
        </p:txBody>
      </p:sp>
      <p:pic>
        <p:nvPicPr>
          <p:cNvPr id="25" name="Picture Placeholder 24">
            <a:extLst>
              <a:ext uri="{FF2B5EF4-FFF2-40B4-BE49-F238E27FC236}">
                <a16:creationId xmlns:a16="http://schemas.microsoft.com/office/drawing/2014/main" id="{5FB28ED7-4DB6-4C44-A237-AC2C789C84F0}"/>
              </a:ext>
            </a:extLst>
          </p:cNvPr>
          <p:cNvPicPr>
            <a:picLocks noGrp="1" noChangeAspect="1"/>
          </p:cNvPicPr>
          <p:nvPr>
            <p:ph type="pic" idx="21"/>
          </p:nvPr>
        </p:nvPicPr>
        <p:blipFill rotWithShape="1">
          <a:blip r:embed="rId4">
            <a:extLst>
              <a:ext uri="{28A0092B-C50C-407E-A947-70E740481C1C}">
                <a14:useLocalDpi xmlns:a14="http://schemas.microsoft.com/office/drawing/2010/main" val="0"/>
              </a:ext>
            </a:extLst>
          </a:blip>
          <a:srcRect l="4196" r="4196"/>
          <a:stretch/>
        </p:blipFill>
        <p:spPr>
          <a:xfrm>
            <a:off x="4489053" y="2666998"/>
            <a:ext cx="3198940" cy="1524000"/>
          </a:xfrm>
        </p:spPr>
      </p:pic>
    </p:spTree>
    <p:extLst>
      <p:ext uri="{BB962C8B-B14F-4D97-AF65-F5344CB8AC3E}">
        <p14:creationId xmlns:p14="http://schemas.microsoft.com/office/powerpoint/2010/main" val="291040824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6DD4E17-D2B6-4387-8E2A-32D5B3ACA9BF}"/>
              </a:ext>
            </a:extLst>
          </p:cNvPr>
          <p:cNvSpPr>
            <a:spLocks noGrp="1"/>
          </p:cNvSpPr>
          <p:nvPr>
            <p:ph type="title"/>
          </p:nvPr>
        </p:nvSpPr>
        <p:spPr/>
        <p:txBody>
          <a:bodyPr/>
          <a:lstStyle/>
          <a:p>
            <a:pPr algn="ctr"/>
            <a:r>
              <a:rPr lang="en-GB" b="1" dirty="0"/>
              <a:t>Actors in Cloud Computing (Continues…)</a:t>
            </a:r>
            <a:endParaRPr lang="LID4096" dirty="0"/>
          </a:p>
        </p:txBody>
      </p:sp>
      <p:sp>
        <p:nvSpPr>
          <p:cNvPr id="15" name="Content Placeholder 14">
            <a:extLst>
              <a:ext uri="{FF2B5EF4-FFF2-40B4-BE49-F238E27FC236}">
                <a16:creationId xmlns:a16="http://schemas.microsoft.com/office/drawing/2014/main" id="{02D6CEBB-639B-4BF7-B426-BC56F0BB1317}"/>
              </a:ext>
            </a:extLst>
          </p:cNvPr>
          <p:cNvSpPr>
            <a:spLocks noGrp="1"/>
          </p:cNvSpPr>
          <p:nvPr>
            <p:ph idx="1"/>
          </p:nvPr>
        </p:nvSpPr>
        <p:spPr/>
        <p:txBody>
          <a:bodyPr/>
          <a:lstStyle/>
          <a:p>
            <a:r>
              <a:rPr lang="en-US" b="1" dirty="0"/>
              <a:t>Service Level Agreements (SLAs) </a:t>
            </a:r>
            <a:r>
              <a:rPr lang="en-US" dirty="0"/>
              <a:t>cover the quality of service, security, remedies for performance failures.</a:t>
            </a:r>
          </a:p>
          <a:p>
            <a:r>
              <a:rPr lang="en-US" b="1" dirty="0"/>
              <a:t>Cloud Providers </a:t>
            </a:r>
            <a:r>
              <a:rPr lang="en-US" dirty="0"/>
              <a:t>offer services like SaaS, PaaS and IaaS.</a:t>
            </a:r>
          </a:p>
          <a:p>
            <a:r>
              <a:rPr lang="en-US" b="1" dirty="0"/>
              <a:t>Audits</a:t>
            </a:r>
            <a:r>
              <a:rPr lang="en-US" dirty="0"/>
              <a:t> are performed to verify conformance to standards.</a:t>
            </a:r>
          </a:p>
          <a:p>
            <a:r>
              <a:rPr lang="en-US" dirty="0"/>
              <a:t>Integration of cloud services can be complex for consumers. Hence cloud broker, is needed.</a:t>
            </a:r>
          </a:p>
          <a:p>
            <a:endParaRPr lang="en-US" dirty="0"/>
          </a:p>
          <a:p>
            <a:endParaRPr lang="en-US" dirty="0"/>
          </a:p>
          <a:p>
            <a:endParaRPr lang="LID4096" dirty="0"/>
          </a:p>
        </p:txBody>
      </p:sp>
      <p:sp>
        <p:nvSpPr>
          <p:cNvPr id="12" name="Footer Placeholder 11">
            <a:extLst>
              <a:ext uri="{FF2B5EF4-FFF2-40B4-BE49-F238E27FC236}">
                <a16:creationId xmlns:a16="http://schemas.microsoft.com/office/drawing/2014/main" id="{9FFFB7C2-0DFA-41C2-9949-D111222F2143}"/>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13" name="Slide Number Placeholder 12">
            <a:extLst>
              <a:ext uri="{FF2B5EF4-FFF2-40B4-BE49-F238E27FC236}">
                <a16:creationId xmlns:a16="http://schemas.microsoft.com/office/drawing/2014/main" id="{A2315355-F038-4E52-8955-F260E298CDD5}"/>
              </a:ext>
            </a:extLst>
          </p:cNvPr>
          <p:cNvSpPr>
            <a:spLocks noGrp="1"/>
          </p:cNvSpPr>
          <p:nvPr>
            <p:ph type="sldNum" sz="quarter" idx="12"/>
          </p:nvPr>
        </p:nvSpPr>
        <p:spPr/>
        <p:txBody>
          <a:bodyPr/>
          <a:lstStyle/>
          <a:p>
            <a:fld id="{E153A30B-AAA6-4D3D-89E9-8F9473C4CEC0}" type="slidenum">
              <a:rPr lang="LID4096" smtClean="0"/>
              <a:t>108</a:t>
            </a:fld>
            <a:endParaRPr lang="LID4096"/>
          </a:p>
        </p:txBody>
      </p:sp>
    </p:spTree>
    <p:extLst>
      <p:ext uri="{BB962C8B-B14F-4D97-AF65-F5344CB8AC3E}">
        <p14:creationId xmlns:p14="http://schemas.microsoft.com/office/powerpoint/2010/main" val="318824225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609F9-EABB-4CE6-A1AE-A1BD467DDFA4}"/>
              </a:ext>
            </a:extLst>
          </p:cNvPr>
          <p:cNvSpPr>
            <a:spLocks noGrp="1"/>
          </p:cNvSpPr>
          <p:nvPr>
            <p:ph type="title"/>
          </p:nvPr>
        </p:nvSpPr>
        <p:spPr/>
        <p:txBody>
          <a:bodyPr/>
          <a:lstStyle/>
          <a:p>
            <a:pPr algn="ctr"/>
            <a:r>
              <a:rPr lang="en-GB" b="1" dirty="0"/>
              <a:t>Actors in Cloud Computing (Continues…)</a:t>
            </a:r>
            <a:endParaRPr lang="LID4096" dirty="0"/>
          </a:p>
        </p:txBody>
      </p:sp>
      <p:sp>
        <p:nvSpPr>
          <p:cNvPr id="3" name="Content Placeholder 2">
            <a:extLst>
              <a:ext uri="{FF2B5EF4-FFF2-40B4-BE49-F238E27FC236}">
                <a16:creationId xmlns:a16="http://schemas.microsoft.com/office/drawing/2014/main" id="{AFDF3693-DA01-4DCA-B08B-32D1F0441FB7}"/>
              </a:ext>
            </a:extLst>
          </p:cNvPr>
          <p:cNvSpPr>
            <a:spLocks noGrp="1"/>
          </p:cNvSpPr>
          <p:nvPr>
            <p:ph idx="1"/>
          </p:nvPr>
        </p:nvSpPr>
        <p:spPr/>
        <p:txBody>
          <a:bodyPr>
            <a:normAutofit fontScale="92500" lnSpcReduction="10000"/>
          </a:bodyPr>
          <a:lstStyle/>
          <a:p>
            <a:r>
              <a:rPr lang="en-US" dirty="0"/>
              <a:t>In general, a cloud broker can provide services in three categories:</a:t>
            </a:r>
          </a:p>
          <a:p>
            <a:pPr marL="514350" indent="-514350">
              <a:buFont typeface="+mj-lt"/>
              <a:buAutoNum type="romanLcPeriod"/>
            </a:pPr>
            <a:r>
              <a:rPr lang="en-US" b="1" dirty="0"/>
              <a:t>Service Intermediation </a:t>
            </a:r>
            <a:r>
              <a:rPr lang="en-US" dirty="0"/>
              <a:t>– broker (a third-party service or system) stands between the consumer and the actual service provider to enhance or improve the service being delivered.</a:t>
            </a:r>
          </a:p>
          <a:p>
            <a:pPr marL="514350" indent="-514350">
              <a:buFont typeface="+mj-lt"/>
              <a:buAutoNum type="romanLcPeriod"/>
            </a:pPr>
            <a:r>
              <a:rPr lang="en-US" b="1" dirty="0"/>
              <a:t>Service Aggregation </a:t>
            </a:r>
            <a:r>
              <a:rPr lang="en-US" dirty="0"/>
              <a:t>– Broker combines and integrates multiple services into one or more new services (mash up).</a:t>
            </a:r>
          </a:p>
          <a:p>
            <a:pPr marL="514350" indent="-514350">
              <a:buFont typeface="+mj-lt"/>
              <a:buAutoNum type="romanLcPeriod"/>
            </a:pPr>
            <a:r>
              <a:rPr lang="en-US" b="1" dirty="0"/>
              <a:t>Service Arbitrage </a:t>
            </a:r>
            <a:r>
              <a:rPr lang="en-US" dirty="0"/>
              <a:t>– It is similar to service aggregation with the flexibility to choose services from multiple agencies.</a:t>
            </a:r>
          </a:p>
          <a:p>
            <a:endParaRPr lang="LID4096" dirty="0"/>
          </a:p>
        </p:txBody>
      </p:sp>
      <p:sp>
        <p:nvSpPr>
          <p:cNvPr id="4" name="Footer Placeholder 3">
            <a:extLst>
              <a:ext uri="{FF2B5EF4-FFF2-40B4-BE49-F238E27FC236}">
                <a16:creationId xmlns:a16="http://schemas.microsoft.com/office/drawing/2014/main" id="{77AACE8F-7206-46F5-A797-90E774FB5AB2}"/>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CABF57A6-156E-43B0-BBC6-3CFD9F95BDD7}"/>
              </a:ext>
            </a:extLst>
          </p:cNvPr>
          <p:cNvSpPr>
            <a:spLocks noGrp="1"/>
          </p:cNvSpPr>
          <p:nvPr>
            <p:ph type="sldNum" sz="quarter" idx="12"/>
          </p:nvPr>
        </p:nvSpPr>
        <p:spPr/>
        <p:txBody>
          <a:bodyPr/>
          <a:lstStyle/>
          <a:p>
            <a:fld id="{E153A30B-AAA6-4D3D-89E9-8F9473C4CEC0}" type="slidenum">
              <a:rPr lang="LID4096" smtClean="0"/>
              <a:t>109</a:t>
            </a:fld>
            <a:endParaRPr lang="LID4096"/>
          </a:p>
        </p:txBody>
      </p:sp>
    </p:spTree>
    <p:extLst>
      <p:ext uri="{BB962C8B-B14F-4D97-AF65-F5344CB8AC3E}">
        <p14:creationId xmlns:p14="http://schemas.microsoft.com/office/powerpoint/2010/main" val="21468579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8B743-A377-4A04-A4FA-D07F1AE2BCB4}"/>
              </a:ext>
            </a:extLst>
          </p:cNvPr>
          <p:cNvSpPr>
            <a:spLocks noGrp="1"/>
          </p:cNvSpPr>
          <p:nvPr>
            <p:ph type="title"/>
          </p:nvPr>
        </p:nvSpPr>
        <p:spPr/>
        <p:txBody>
          <a:bodyPr/>
          <a:lstStyle/>
          <a:p>
            <a:pPr algn="ctr"/>
            <a:r>
              <a:rPr lang="en-GB" b="1" dirty="0"/>
              <a:t>Actors in Cloud Computing (Continues…)</a:t>
            </a:r>
            <a:endParaRPr lang="LID4096" dirty="0"/>
          </a:p>
        </p:txBody>
      </p:sp>
      <p:sp>
        <p:nvSpPr>
          <p:cNvPr id="3" name="Content Placeholder 2">
            <a:extLst>
              <a:ext uri="{FF2B5EF4-FFF2-40B4-BE49-F238E27FC236}">
                <a16:creationId xmlns:a16="http://schemas.microsoft.com/office/drawing/2014/main" id="{4B556093-3239-4D79-9AF1-3C3B88138391}"/>
              </a:ext>
            </a:extLst>
          </p:cNvPr>
          <p:cNvSpPr>
            <a:spLocks noGrp="1"/>
          </p:cNvSpPr>
          <p:nvPr>
            <p:ph idx="1"/>
          </p:nvPr>
        </p:nvSpPr>
        <p:spPr/>
        <p:txBody>
          <a:bodyPr/>
          <a:lstStyle/>
          <a:p>
            <a:r>
              <a:rPr lang="en-US" dirty="0"/>
              <a:t>The distribution of cloud services is normally provided by </a:t>
            </a:r>
            <a:r>
              <a:rPr lang="en-US" b="1" dirty="0"/>
              <a:t>network</a:t>
            </a:r>
            <a:r>
              <a:rPr lang="en-US" dirty="0"/>
              <a:t> and </a:t>
            </a:r>
            <a:r>
              <a:rPr lang="en-US" b="1" dirty="0"/>
              <a:t>telecommunication carriers </a:t>
            </a:r>
            <a:r>
              <a:rPr lang="en-US" dirty="0"/>
              <a:t>or a transport agent.</a:t>
            </a:r>
          </a:p>
          <a:p>
            <a:r>
              <a:rPr lang="en-US" b="1" dirty="0"/>
              <a:t>Transport agent </a:t>
            </a:r>
            <a:r>
              <a:rPr lang="en-US" dirty="0"/>
              <a:t>refers to a business organization that provides physical transport of storage media such as high-capacity hard drives.</a:t>
            </a:r>
          </a:p>
          <a:p>
            <a:pPr marL="0" indent="0">
              <a:buNone/>
            </a:pPr>
            <a:endParaRPr lang="LID4096" dirty="0"/>
          </a:p>
        </p:txBody>
      </p:sp>
      <p:sp>
        <p:nvSpPr>
          <p:cNvPr id="4" name="Footer Placeholder 3">
            <a:extLst>
              <a:ext uri="{FF2B5EF4-FFF2-40B4-BE49-F238E27FC236}">
                <a16:creationId xmlns:a16="http://schemas.microsoft.com/office/drawing/2014/main" id="{95DC1D20-C106-4C25-B453-BE5AFD0327E5}"/>
              </a:ext>
            </a:extLst>
          </p:cNvPr>
          <p:cNvSpPr>
            <a:spLocks noGrp="1"/>
          </p:cNvSpPr>
          <p:nvPr>
            <p:ph type="ftr" sz="quarter" idx="11"/>
          </p:nvPr>
        </p:nvSpPr>
        <p:spPr>
          <a:xfrm>
            <a:off x="1247943" y="6385503"/>
            <a:ext cx="6239309" cy="365125"/>
          </a:xfrm>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ACEFC9DA-5F38-4CFF-B0B2-FBCA91F3F412}"/>
              </a:ext>
            </a:extLst>
          </p:cNvPr>
          <p:cNvSpPr>
            <a:spLocks noGrp="1"/>
          </p:cNvSpPr>
          <p:nvPr>
            <p:ph type="sldNum" sz="quarter" idx="12"/>
          </p:nvPr>
        </p:nvSpPr>
        <p:spPr/>
        <p:txBody>
          <a:bodyPr/>
          <a:lstStyle/>
          <a:p>
            <a:fld id="{E153A30B-AAA6-4D3D-89E9-8F9473C4CEC0}" type="slidenum">
              <a:rPr lang="LID4096" smtClean="0"/>
              <a:t>110</a:t>
            </a:fld>
            <a:endParaRPr lang="LID4096"/>
          </a:p>
        </p:txBody>
      </p:sp>
      <p:pic>
        <p:nvPicPr>
          <p:cNvPr id="9" name="Picture 8">
            <a:extLst>
              <a:ext uri="{FF2B5EF4-FFF2-40B4-BE49-F238E27FC236}">
                <a16:creationId xmlns:a16="http://schemas.microsoft.com/office/drawing/2014/main" id="{9FFBEA27-2C8B-47DF-974A-AFE097083D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4682" y="4289895"/>
            <a:ext cx="4007056" cy="2095608"/>
          </a:xfrm>
          <a:prstGeom prst="rect">
            <a:avLst/>
          </a:prstGeom>
        </p:spPr>
      </p:pic>
    </p:spTree>
    <p:extLst>
      <p:ext uri="{BB962C8B-B14F-4D97-AF65-F5344CB8AC3E}">
        <p14:creationId xmlns:p14="http://schemas.microsoft.com/office/powerpoint/2010/main" val="13149293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1BF88D6-0E4C-46FF-B126-F119C17A2C83}"/>
              </a:ext>
            </a:extLst>
          </p:cNvPr>
          <p:cNvSpPr>
            <a:spLocks noGrp="1"/>
          </p:cNvSpPr>
          <p:nvPr>
            <p:ph type="ctrTitle"/>
          </p:nvPr>
        </p:nvSpPr>
        <p:spPr/>
        <p:txBody>
          <a:bodyPr/>
          <a:lstStyle/>
          <a:p>
            <a:pPr algn="ctr"/>
            <a:r>
              <a:rPr lang="en-US" b="1" dirty="0"/>
              <a:t>Memory Forensics </a:t>
            </a:r>
            <a:endParaRPr lang="LID4096" b="1" dirty="0"/>
          </a:p>
        </p:txBody>
      </p:sp>
      <p:sp>
        <p:nvSpPr>
          <p:cNvPr id="7" name="Subtitle 6">
            <a:extLst>
              <a:ext uri="{FF2B5EF4-FFF2-40B4-BE49-F238E27FC236}">
                <a16:creationId xmlns:a16="http://schemas.microsoft.com/office/drawing/2014/main" id="{C06057A9-371A-4D2D-8F5F-8E5429247223}"/>
              </a:ext>
            </a:extLst>
          </p:cNvPr>
          <p:cNvSpPr>
            <a:spLocks noGrp="1"/>
          </p:cNvSpPr>
          <p:nvPr>
            <p:ph type="subTitle" idx="1"/>
          </p:nvPr>
        </p:nvSpPr>
        <p:spPr/>
        <p:txBody>
          <a:bodyPr/>
          <a:lstStyle/>
          <a:p>
            <a:pPr algn="ctr"/>
            <a:r>
              <a:rPr lang="en-US" b="1" dirty="0"/>
              <a:t>Lecture 8</a:t>
            </a:r>
            <a:endParaRPr lang="LID4096" b="1" dirty="0"/>
          </a:p>
        </p:txBody>
      </p:sp>
      <p:sp>
        <p:nvSpPr>
          <p:cNvPr id="4" name="Footer Placeholder 3">
            <a:extLst>
              <a:ext uri="{FF2B5EF4-FFF2-40B4-BE49-F238E27FC236}">
                <a16:creationId xmlns:a16="http://schemas.microsoft.com/office/drawing/2014/main" id="{C8F620A0-CD4D-48A9-A526-1EB283F6E02C}"/>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AB76B688-A33B-4B11-88F4-FC6D23EEA163}"/>
              </a:ext>
            </a:extLst>
          </p:cNvPr>
          <p:cNvSpPr>
            <a:spLocks noGrp="1"/>
          </p:cNvSpPr>
          <p:nvPr>
            <p:ph type="sldNum" sz="quarter" idx="12"/>
          </p:nvPr>
        </p:nvSpPr>
        <p:spPr/>
        <p:txBody>
          <a:bodyPr/>
          <a:lstStyle/>
          <a:p>
            <a:fld id="{E153A30B-AAA6-4D3D-89E9-8F9473C4CEC0}" type="slidenum">
              <a:rPr lang="LID4096" smtClean="0"/>
              <a:t>111</a:t>
            </a:fld>
            <a:endParaRPr lang="LID4096"/>
          </a:p>
        </p:txBody>
      </p:sp>
    </p:spTree>
    <p:extLst>
      <p:ext uri="{BB962C8B-B14F-4D97-AF65-F5344CB8AC3E}">
        <p14:creationId xmlns:p14="http://schemas.microsoft.com/office/powerpoint/2010/main" val="321861630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09E80-E641-4769-BC43-9BCE1328FCB2}"/>
              </a:ext>
            </a:extLst>
          </p:cNvPr>
          <p:cNvSpPr>
            <a:spLocks noGrp="1"/>
          </p:cNvSpPr>
          <p:nvPr>
            <p:ph type="title"/>
          </p:nvPr>
        </p:nvSpPr>
        <p:spPr/>
        <p:txBody>
          <a:bodyPr/>
          <a:lstStyle/>
          <a:p>
            <a:pPr algn="ctr"/>
            <a:r>
              <a:rPr lang="en-GB" b="1" dirty="0"/>
              <a:t>INTRODUCTION</a:t>
            </a:r>
            <a:endParaRPr lang="LID4096" b="1" dirty="0"/>
          </a:p>
        </p:txBody>
      </p:sp>
      <p:sp>
        <p:nvSpPr>
          <p:cNvPr id="3" name="Content Placeholder 2">
            <a:extLst>
              <a:ext uri="{FF2B5EF4-FFF2-40B4-BE49-F238E27FC236}">
                <a16:creationId xmlns:a16="http://schemas.microsoft.com/office/drawing/2014/main" id="{925B3078-744A-4D5B-9F5D-C1536682264E}"/>
              </a:ext>
            </a:extLst>
          </p:cNvPr>
          <p:cNvSpPr>
            <a:spLocks noGrp="1"/>
          </p:cNvSpPr>
          <p:nvPr>
            <p:ph idx="1"/>
          </p:nvPr>
        </p:nvSpPr>
        <p:spPr/>
        <p:txBody>
          <a:bodyPr>
            <a:normAutofit fontScale="92500"/>
          </a:bodyPr>
          <a:lstStyle/>
          <a:p>
            <a:r>
              <a:rPr lang="en-US" dirty="0"/>
              <a:t>While a system is on, </a:t>
            </a:r>
            <a:r>
              <a:rPr lang="en-US" b="1" dirty="0"/>
              <a:t>Random Access Memory (RAM) </a:t>
            </a:r>
            <a:r>
              <a:rPr lang="en-US" dirty="0"/>
              <a:t>contains critical information about the current state of the system.</a:t>
            </a:r>
          </a:p>
          <a:p>
            <a:r>
              <a:rPr lang="en-US" dirty="0"/>
              <a:t>By capturing an entire copy of RAM and analyzing it on a separate computer, it is possible to reconstruct the state of the original system, including the applications the user was running and the files or network connections that existed at the time.</a:t>
            </a:r>
          </a:p>
          <a:p>
            <a:r>
              <a:rPr lang="en-US" dirty="0"/>
              <a:t>Processes, files and programs are run in memory (</a:t>
            </a:r>
            <a:r>
              <a:rPr lang="en-US" b="1" dirty="0"/>
              <a:t>volatile information</a:t>
            </a:r>
            <a:r>
              <a:rPr lang="en-US" dirty="0"/>
              <a:t>), and a </a:t>
            </a:r>
            <a:r>
              <a:rPr lang="en-US" b="1" dirty="0"/>
              <a:t>snapshot</a:t>
            </a:r>
            <a:r>
              <a:rPr lang="en-US" dirty="0"/>
              <a:t> (memory dump) can be captured by a forensic investigator.</a:t>
            </a:r>
          </a:p>
        </p:txBody>
      </p:sp>
      <p:sp>
        <p:nvSpPr>
          <p:cNvPr id="4" name="Footer Placeholder 3">
            <a:extLst>
              <a:ext uri="{FF2B5EF4-FFF2-40B4-BE49-F238E27FC236}">
                <a16:creationId xmlns:a16="http://schemas.microsoft.com/office/drawing/2014/main" id="{04D4D571-77B0-42B9-ADF0-AE1998FEA196}"/>
              </a:ext>
            </a:extLst>
          </p:cNvPr>
          <p:cNvSpPr>
            <a:spLocks noGrp="1"/>
          </p:cNvSpPr>
          <p:nvPr>
            <p:ph type="ftr" sz="quarter" idx="11"/>
          </p:nvPr>
        </p:nvSpPr>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F9D527AB-EEED-4AD2-AC70-BD41A01D83A8}"/>
              </a:ext>
            </a:extLst>
          </p:cNvPr>
          <p:cNvSpPr>
            <a:spLocks noGrp="1"/>
          </p:cNvSpPr>
          <p:nvPr>
            <p:ph type="sldNum" sz="quarter" idx="12"/>
          </p:nvPr>
        </p:nvSpPr>
        <p:spPr/>
        <p:txBody>
          <a:bodyPr/>
          <a:lstStyle/>
          <a:p>
            <a:fld id="{E153A30B-AAA6-4D3D-89E9-8F9473C4CEC0}" type="slidenum">
              <a:rPr lang="LID4096" smtClean="0"/>
              <a:t>112</a:t>
            </a:fld>
            <a:endParaRPr lang="LID4096"/>
          </a:p>
        </p:txBody>
      </p:sp>
    </p:spTree>
    <p:extLst>
      <p:ext uri="{BB962C8B-B14F-4D97-AF65-F5344CB8AC3E}">
        <p14:creationId xmlns:p14="http://schemas.microsoft.com/office/powerpoint/2010/main" val="19530418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15761-96B0-407D-B206-D73B887E45DD}"/>
              </a:ext>
            </a:extLst>
          </p:cNvPr>
          <p:cNvSpPr>
            <a:spLocks noGrp="1"/>
          </p:cNvSpPr>
          <p:nvPr>
            <p:ph type="title"/>
          </p:nvPr>
        </p:nvSpPr>
        <p:spPr/>
        <p:txBody>
          <a:bodyPr/>
          <a:lstStyle/>
          <a:p>
            <a:pPr algn="ctr"/>
            <a:r>
              <a:rPr lang="en-GB" b="1" dirty="0"/>
              <a:t>WHAT IS MEMORY FORENSICS?</a:t>
            </a:r>
            <a:endParaRPr lang="LID4096" b="1" dirty="0"/>
          </a:p>
        </p:txBody>
      </p:sp>
      <p:sp>
        <p:nvSpPr>
          <p:cNvPr id="3" name="Content Placeholder 2">
            <a:extLst>
              <a:ext uri="{FF2B5EF4-FFF2-40B4-BE49-F238E27FC236}">
                <a16:creationId xmlns:a16="http://schemas.microsoft.com/office/drawing/2014/main" id="{70E2F9B0-C560-49D6-970D-CCA72778D603}"/>
              </a:ext>
            </a:extLst>
          </p:cNvPr>
          <p:cNvSpPr>
            <a:spLocks noGrp="1"/>
          </p:cNvSpPr>
          <p:nvPr>
            <p:ph idx="1"/>
          </p:nvPr>
        </p:nvSpPr>
        <p:spPr/>
        <p:txBody>
          <a:bodyPr/>
          <a:lstStyle/>
          <a:p>
            <a:r>
              <a:rPr lang="en-US" b="1" dirty="0"/>
              <a:t>Memory forensics </a:t>
            </a:r>
            <a:r>
              <a:rPr lang="en-US" dirty="0"/>
              <a:t>refers to finding and extracting forensic artifacts from a computer’s physical memory.</a:t>
            </a:r>
          </a:p>
          <a:p>
            <a:r>
              <a:rPr lang="en-US" dirty="0"/>
              <a:t>Below are some differences between memory forensics and disk forensics.</a:t>
            </a:r>
          </a:p>
          <a:p>
            <a:pPr marL="0" indent="0">
              <a:buNone/>
            </a:pPr>
            <a:endParaRPr lang="en-US" dirty="0"/>
          </a:p>
          <a:p>
            <a:endParaRPr lang="LID4096" dirty="0"/>
          </a:p>
        </p:txBody>
      </p:sp>
      <p:sp>
        <p:nvSpPr>
          <p:cNvPr id="4" name="Footer Placeholder 3">
            <a:extLst>
              <a:ext uri="{FF2B5EF4-FFF2-40B4-BE49-F238E27FC236}">
                <a16:creationId xmlns:a16="http://schemas.microsoft.com/office/drawing/2014/main" id="{6DE82E84-7F32-4AC0-8C14-EDC8E243FC73}"/>
              </a:ext>
            </a:extLst>
          </p:cNvPr>
          <p:cNvSpPr>
            <a:spLocks noGrp="1"/>
          </p:cNvSpPr>
          <p:nvPr>
            <p:ph type="ftr" sz="quarter" idx="11"/>
          </p:nvPr>
        </p:nvSpPr>
        <p:spPr>
          <a:xfrm>
            <a:off x="1141412" y="6124073"/>
            <a:ext cx="6239309" cy="365125"/>
          </a:xfrm>
        </p:spPr>
        <p:txBody>
          <a:bodyPr/>
          <a:lstStyle/>
          <a:p>
            <a:r>
              <a:rPr lang="en-US" dirty="0"/>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87799283-2C5B-4271-A1EF-17622B4DB275}"/>
              </a:ext>
            </a:extLst>
          </p:cNvPr>
          <p:cNvSpPr>
            <a:spLocks noGrp="1"/>
          </p:cNvSpPr>
          <p:nvPr>
            <p:ph type="sldNum" sz="quarter" idx="12"/>
          </p:nvPr>
        </p:nvSpPr>
        <p:spPr>
          <a:xfrm>
            <a:off x="10276322" y="6056919"/>
            <a:ext cx="771089" cy="365125"/>
          </a:xfrm>
        </p:spPr>
        <p:txBody>
          <a:bodyPr/>
          <a:lstStyle/>
          <a:p>
            <a:fld id="{E153A30B-AAA6-4D3D-89E9-8F9473C4CEC0}" type="slidenum">
              <a:rPr lang="LID4096" smtClean="0"/>
              <a:t>113</a:t>
            </a:fld>
            <a:endParaRPr lang="LID4096" dirty="0"/>
          </a:p>
        </p:txBody>
      </p:sp>
      <p:graphicFrame>
        <p:nvGraphicFramePr>
          <p:cNvPr id="6" name="Table 6">
            <a:extLst>
              <a:ext uri="{FF2B5EF4-FFF2-40B4-BE49-F238E27FC236}">
                <a16:creationId xmlns:a16="http://schemas.microsoft.com/office/drawing/2014/main" id="{9EC16ECB-2669-41FF-8489-A173EE438B3F}"/>
              </a:ext>
            </a:extLst>
          </p:cNvPr>
          <p:cNvGraphicFramePr>
            <a:graphicFrameLocks noGrp="1"/>
          </p:cNvGraphicFramePr>
          <p:nvPr>
            <p:extLst>
              <p:ext uri="{D42A27DB-BD31-4B8C-83A1-F6EECF244321}">
                <p14:modId xmlns:p14="http://schemas.microsoft.com/office/powerpoint/2010/main" val="3725919470"/>
              </p:ext>
            </p:extLst>
          </p:nvPr>
        </p:nvGraphicFramePr>
        <p:xfrm>
          <a:off x="1508217" y="3980260"/>
          <a:ext cx="9082843" cy="1752600"/>
        </p:xfrm>
        <a:graphic>
          <a:graphicData uri="http://schemas.openxmlformats.org/drawingml/2006/table">
            <a:tbl>
              <a:tblPr firstRow="1" bandRow="1">
                <a:tableStyleId>{5C22544A-7EE6-4342-B048-85BDC9FD1C3A}</a:tableStyleId>
              </a:tblPr>
              <a:tblGrid>
                <a:gridCol w="1092940">
                  <a:extLst>
                    <a:ext uri="{9D8B030D-6E8A-4147-A177-3AD203B41FA5}">
                      <a16:colId xmlns:a16="http://schemas.microsoft.com/office/drawing/2014/main" val="195292541"/>
                    </a:ext>
                  </a:extLst>
                </a:gridCol>
                <a:gridCol w="3533313">
                  <a:extLst>
                    <a:ext uri="{9D8B030D-6E8A-4147-A177-3AD203B41FA5}">
                      <a16:colId xmlns:a16="http://schemas.microsoft.com/office/drawing/2014/main" val="1092857805"/>
                    </a:ext>
                  </a:extLst>
                </a:gridCol>
                <a:gridCol w="4456590">
                  <a:extLst>
                    <a:ext uri="{9D8B030D-6E8A-4147-A177-3AD203B41FA5}">
                      <a16:colId xmlns:a16="http://schemas.microsoft.com/office/drawing/2014/main" val="1750864114"/>
                    </a:ext>
                  </a:extLst>
                </a:gridCol>
              </a:tblGrid>
              <a:tr h="370840">
                <a:tc>
                  <a:txBody>
                    <a:bodyPr/>
                    <a:lstStyle/>
                    <a:p>
                      <a:r>
                        <a:rPr lang="en-US" dirty="0">
                          <a:solidFill>
                            <a:schemeClr val="tx1"/>
                          </a:solidFill>
                        </a:rPr>
                        <a:t>Feature</a:t>
                      </a:r>
                      <a:endParaRPr lang="LID4096" dirty="0">
                        <a:solidFill>
                          <a:schemeClr val="tx1"/>
                        </a:solidFill>
                      </a:endParaRPr>
                    </a:p>
                  </a:txBody>
                  <a:tcPr>
                    <a:noFill/>
                  </a:tcPr>
                </a:tc>
                <a:tc>
                  <a:txBody>
                    <a:bodyPr/>
                    <a:lstStyle/>
                    <a:p>
                      <a:r>
                        <a:rPr lang="en-US" dirty="0">
                          <a:solidFill>
                            <a:schemeClr val="tx1"/>
                          </a:solidFill>
                        </a:rPr>
                        <a:t>Memory Forensics </a:t>
                      </a:r>
                      <a:endParaRPr lang="LID4096" dirty="0">
                        <a:solidFill>
                          <a:schemeClr val="tx1"/>
                        </a:solidFill>
                      </a:endParaRPr>
                    </a:p>
                  </a:txBody>
                  <a:tcPr>
                    <a:noFill/>
                  </a:tcPr>
                </a:tc>
                <a:tc>
                  <a:txBody>
                    <a:bodyPr/>
                    <a:lstStyle/>
                    <a:p>
                      <a:r>
                        <a:rPr lang="en-US" dirty="0">
                          <a:solidFill>
                            <a:schemeClr val="tx1"/>
                          </a:solidFill>
                        </a:rPr>
                        <a:t>Hard Disk Forensics </a:t>
                      </a:r>
                      <a:endParaRPr lang="LID4096" dirty="0">
                        <a:solidFill>
                          <a:schemeClr val="tx1"/>
                        </a:solidFill>
                      </a:endParaRPr>
                    </a:p>
                  </a:txBody>
                  <a:tcPr>
                    <a:noFill/>
                  </a:tcPr>
                </a:tc>
                <a:extLst>
                  <a:ext uri="{0D108BD9-81ED-4DB2-BD59-A6C34878D82A}">
                    <a16:rowId xmlns:a16="http://schemas.microsoft.com/office/drawing/2014/main" val="1736115441"/>
                  </a:ext>
                </a:extLst>
              </a:tr>
              <a:tr h="370840">
                <a:tc>
                  <a:txBody>
                    <a:bodyPr/>
                    <a:lstStyle/>
                    <a:p>
                      <a:r>
                        <a:rPr lang="en-US" dirty="0">
                          <a:solidFill>
                            <a:schemeClr val="tx1"/>
                          </a:solidFill>
                        </a:rPr>
                        <a:t>Image </a:t>
                      </a:r>
                      <a:endParaRPr lang="LID4096" dirty="0">
                        <a:solidFill>
                          <a:schemeClr val="tx1"/>
                        </a:solidFill>
                      </a:endParaRPr>
                    </a:p>
                  </a:txBody>
                  <a:tcPr>
                    <a:noFill/>
                  </a:tcPr>
                </a:tc>
                <a:tc>
                  <a:txBody>
                    <a:bodyPr/>
                    <a:lstStyle/>
                    <a:p>
                      <a:r>
                        <a:rPr lang="en-US" dirty="0">
                          <a:solidFill>
                            <a:schemeClr val="tx1"/>
                          </a:solidFill>
                        </a:rPr>
                        <a:t>Snapshot (memory dump)</a:t>
                      </a:r>
                      <a:endParaRPr lang="LID4096" dirty="0">
                        <a:solidFill>
                          <a:schemeClr val="tx1"/>
                        </a:solidFill>
                      </a:endParaRPr>
                    </a:p>
                  </a:txBody>
                  <a:tcPr>
                    <a:noFill/>
                  </a:tcPr>
                </a:tc>
                <a:tc>
                  <a:txBody>
                    <a:bodyPr/>
                    <a:lstStyle/>
                    <a:p>
                      <a:r>
                        <a:rPr lang="en-US" dirty="0">
                          <a:solidFill>
                            <a:schemeClr val="tx1"/>
                          </a:solidFill>
                        </a:rPr>
                        <a:t>Disk image and mostly used for data revery </a:t>
                      </a:r>
                      <a:endParaRPr lang="LID4096" dirty="0">
                        <a:solidFill>
                          <a:schemeClr val="tx1"/>
                        </a:solidFill>
                      </a:endParaRPr>
                    </a:p>
                  </a:txBody>
                  <a:tcPr>
                    <a:noFill/>
                  </a:tcPr>
                </a:tc>
                <a:extLst>
                  <a:ext uri="{0D108BD9-81ED-4DB2-BD59-A6C34878D82A}">
                    <a16:rowId xmlns:a16="http://schemas.microsoft.com/office/drawing/2014/main" val="1810312882"/>
                  </a:ext>
                </a:extLst>
              </a:tr>
              <a:tr h="370840">
                <a:tc>
                  <a:txBody>
                    <a:bodyPr/>
                    <a:lstStyle/>
                    <a:p>
                      <a:r>
                        <a:rPr lang="en-US" dirty="0">
                          <a:solidFill>
                            <a:schemeClr val="tx1"/>
                          </a:solidFill>
                        </a:rPr>
                        <a:t>State</a:t>
                      </a:r>
                      <a:endParaRPr lang="LID4096" dirty="0">
                        <a:solidFill>
                          <a:schemeClr val="tx1"/>
                        </a:solidFill>
                      </a:endParaRPr>
                    </a:p>
                  </a:txBody>
                  <a:tcPr>
                    <a:noFill/>
                  </a:tcPr>
                </a:tc>
                <a:tc>
                  <a:txBody>
                    <a:bodyPr/>
                    <a:lstStyle/>
                    <a:p>
                      <a:r>
                        <a:rPr lang="en-US" dirty="0">
                          <a:solidFill>
                            <a:schemeClr val="tx1"/>
                          </a:solidFill>
                        </a:rPr>
                        <a:t>Live response </a:t>
                      </a:r>
                      <a:endParaRPr lang="LID4096" dirty="0">
                        <a:solidFill>
                          <a:schemeClr val="tx1"/>
                        </a:solidFill>
                      </a:endParaRPr>
                    </a:p>
                  </a:txBody>
                  <a:tcPr>
                    <a:noFill/>
                  </a:tcPr>
                </a:tc>
                <a:tc>
                  <a:txBody>
                    <a:bodyPr/>
                    <a:lstStyle/>
                    <a:p>
                      <a:r>
                        <a:rPr lang="en-US" dirty="0">
                          <a:solidFill>
                            <a:schemeClr val="tx1"/>
                          </a:solidFill>
                        </a:rPr>
                        <a:t>Post mortem </a:t>
                      </a:r>
                      <a:endParaRPr lang="LID4096" dirty="0">
                        <a:solidFill>
                          <a:schemeClr val="tx1"/>
                        </a:solidFill>
                      </a:endParaRPr>
                    </a:p>
                  </a:txBody>
                  <a:tcPr>
                    <a:noFill/>
                  </a:tcPr>
                </a:tc>
                <a:extLst>
                  <a:ext uri="{0D108BD9-81ED-4DB2-BD59-A6C34878D82A}">
                    <a16:rowId xmlns:a16="http://schemas.microsoft.com/office/drawing/2014/main" val="3929693422"/>
                  </a:ext>
                </a:extLst>
              </a:tr>
              <a:tr h="370840">
                <a:tc>
                  <a:txBody>
                    <a:bodyPr/>
                    <a:lstStyle/>
                    <a:p>
                      <a:r>
                        <a:rPr lang="en-US" dirty="0">
                          <a:solidFill>
                            <a:schemeClr val="tx1"/>
                          </a:solidFill>
                        </a:rPr>
                        <a:t>Volatility </a:t>
                      </a:r>
                      <a:endParaRPr lang="LID4096" dirty="0">
                        <a:solidFill>
                          <a:schemeClr val="tx1"/>
                        </a:solidFill>
                      </a:endParaRPr>
                    </a:p>
                  </a:txBody>
                  <a:tcPr>
                    <a:noFill/>
                  </a:tcPr>
                </a:tc>
                <a:tc>
                  <a:txBody>
                    <a:bodyPr/>
                    <a:lstStyle/>
                    <a:p>
                      <a:r>
                        <a:rPr lang="en-US" dirty="0">
                          <a:solidFill>
                            <a:schemeClr val="tx1"/>
                          </a:solidFill>
                        </a:rPr>
                        <a:t>Data is volatile and can be lost when the machine is powered off</a:t>
                      </a:r>
                      <a:endParaRPr lang="LID4096" dirty="0">
                        <a:solidFill>
                          <a:schemeClr val="tx1"/>
                        </a:solidFill>
                      </a:endParaRPr>
                    </a:p>
                  </a:txBody>
                  <a:tcPr>
                    <a:noFill/>
                  </a:tcPr>
                </a:tc>
                <a:tc>
                  <a:txBody>
                    <a:bodyPr/>
                    <a:lstStyle/>
                    <a:p>
                      <a:r>
                        <a:rPr lang="en-US" dirty="0">
                          <a:solidFill>
                            <a:schemeClr val="tx1"/>
                          </a:solidFill>
                        </a:rPr>
                        <a:t>Non-volatile data</a:t>
                      </a:r>
                      <a:endParaRPr lang="LID4096" dirty="0">
                        <a:solidFill>
                          <a:schemeClr val="tx1"/>
                        </a:solidFill>
                      </a:endParaRPr>
                    </a:p>
                  </a:txBody>
                  <a:tcPr>
                    <a:noFill/>
                  </a:tcPr>
                </a:tc>
                <a:extLst>
                  <a:ext uri="{0D108BD9-81ED-4DB2-BD59-A6C34878D82A}">
                    <a16:rowId xmlns:a16="http://schemas.microsoft.com/office/drawing/2014/main" val="3400957062"/>
                  </a:ext>
                </a:extLst>
              </a:tr>
            </a:tbl>
          </a:graphicData>
        </a:graphic>
      </p:graphicFrame>
    </p:spTree>
    <p:extLst>
      <p:ext uri="{BB962C8B-B14F-4D97-AF65-F5344CB8AC3E}">
        <p14:creationId xmlns:p14="http://schemas.microsoft.com/office/powerpoint/2010/main" val="81393501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3AF96-DEE4-47D7-A6F7-E6662B8B45DC}"/>
              </a:ext>
            </a:extLst>
          </p:cNvPr>
          <p:cNvSpPr>
            <a:spLocks noGrp="1"/>
          </p:cNvSpPr>
          <p:nvPr>
            <p:ph type="title"/>
          </p:nvPr>
        </p:nvSpPr>
        <p:spPr/>
        <p:txBody>
          <a:bodyPr/>
          <a:lstStyle/>
          <a:p>
            <a:pPr algn="ctr"/>
            <a:r>
              <a:rPr lang="en-GB" b="1" dirty="0"/>
              <a:t>WHY MEMORY FORENSICS?</a:t>
            </a:r>
            <a:endParaRPr lang="LID4096" b="1" dirty="0"/>
          </a:p>
        </p:txBody>
      </p:sp>
      <p:sp>
        <p:nvSpPr>
          <p:cNvPr id="3" name="Content Placeholder 2">
            <a:extLst>
              <a:ext uri="{FF2B5EF4-FFF2-40B4-BE49-F238E27FC236}">
                <a16:creationId xmlns:a16="http://schemas.microsoft.com/office/drawing/2014/main" id="{812F1D75-E10C-4F32-9C0F-872F8297B4AD}"/>
              </a:ext>
            </a:extLst>
          </p:cNvPr>
          <p:cNvSpPr>
            <a:spLocks noGrp="1"/>
          </p:cNvSpPr>
          <p:nvPr>
            <p:ph idx="1"/>
          </p:nvPr>
        </p:nvSpPr>
        <p:spPr/>
        <p:txBody>
          <a:bodyPr/>
          <a:lstStyle/>
          <a:p>
            <a:pPr marL="457200" indent="-457200">
              <a:buFont typeface="+mj-lt"/>
              <a:buAutoNum type="arabicPeriod"/>
            </a:pPr>
            <a:r>
              <a:rPr lang="en-US" b="1" dirty="0"/>
              <a:t>Hiding Data </a:t>
            </a:r>
            <a:r>
              <a:rPr lang="en-US" dirty="0"/>
              <a:t>– Attackers may hide data in the memory by means of memory injection and it only resides in memory not hard disk.</a:t>
            </a:r>
            <a:endParaRPr lang="LID4096" dirty="0"/>
          </a:p>
        </p:txBody>
      </p:sp>
      <p:sp>
        <p:nvSpPr>
          <p:cNvPr id="4" name="Footer Placeholder 3">
            <a:extLst>
              <a:ext uri="{FF2B5EF4-FFF2-40B4-BE49-F238E27FC236}">
                <a16:creationId xmlns:a16="http://schemas.microsoft.com/office/drawing/2014/main" id="{AB427685-47C7-465F-AB05-3CB1D3851CB6}"/>
              </a:ext>
            </a:extLst>
          </p:cNvPr>
          <p:cNvSpPr>
            <a:spLocks noGrp="1"/>
          </p:cNvSpPr>
          <p:nvPr>
            <p:ph type="ftr" sz="quarter" idx="11"/>
          </p:nvPr>
        </p:nvSpPr>
        <p:spPr/>
        <p:txBody>
          <a:bodyPr/>
          <a:lstStyle/>
          <a:p>
            <a:r>
              <a:rPr lang="en-US"/>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78FB9978-25A1-4F1D-B9DD-47A800179609}"/>
              </a:ext>
            </a:extLst>
          </p:cNvPr>
          <p:cNvSpPr>
            <a:spLocks noGrp="1"/>
          </p:cNvSpPr>
          <p:nvPr>
            <p:ph type="sldNum" sz="quarter" idx="12"/>
          </p:nvPr>
        </p:nvSpPr>
        <p:spPr/>
        <p:txBody>
          <a:bodyPr/>
          <a:lstStyle/>
          <a:p>
            <a:fld id="{E153A30B-AAA6-4D3D-89E9-8F9473C4CEC0}" type="slidenum">
              <a:rPr lang="LID4096" smtClean="0"/>
              <a:t>114</a:t>
            </a:fld>
            <a:endParaRPr lang="LID4096"/>
          </a:p>
        </p:txBody>
      </p:sp>
    </p:spTree>
    <p:extLst>
      <p:ext uri="{BB962C8B-B14F-4D97-AF65-F5344CB8AC3E}">
        <p14:creationId xmlns:p14="http://schemas.microsoft.com/office/powerpoint/2010/main" val="230901752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32726-D0C7-49A1-B5E3-0DF7335FD93F}"/>
              </a:ext>
            </a:extLst>
          </p:cNvPr>
          <p:cNvSpPr>
            <a:spLocks noGrp="1"/>
          </p:cNvSpPr>
          <p:nvPr>
            <p:ph type="title"/>
          </p:nvPr>
        </p:nvSpPr>
        <p:spPr/>
        <p:txBody>
          <a:bodyPr/>
          <a:lstStyle/>
          <a:p>
            <a:pPr algn="ctr"/>
            <a:r>
              <a:rPr lang="en-GB" b="1" dirty="0"/>
              <a:t>DATA ACQUISITION METHODS IN Memory Forensics</a:t>
            </a:r>
            <a:endParaRPr lang="LID4096" b="1" dirty="0"/>
          </a:p>
        </p:txBody>
      </p:sp>
      <p:sp>
        <p:nvSpPr>
          <p:cNvPr id="3" name="Content Placeholder 2">
            <a:extLst>
              <a:ext uri="{FF2B5EF4-FFF2-40B4-BE49-F238E27FC236}">
                <a16:creationId xmlns:a16="http://schemas.microsoft.com/office/drawing/2014/main" id="{F35BF5DD-D659-4401-B633-CA3BF25EC36C}"/>
              </a:ext>
            </a:extLst>
          </p:cNvPr>
          <p:cNvSpPr>
            <a:spLocks noGrp="1"/>
          </p:cNvSpPr>
          <p:nvPr>
            <p:ph idx="1"/>
          </p:nvPr>
        </p:nvSpPr>
        <p:spPr/>
        <p:txBody>
          <a:bodyPr/>
          <a:lstStyle/>
          <a:p>
            <a:pPr marL="457200" indent="-457200">
              <a:buFont typeface="+mj-lt"/>
              <a:buAutoNum type="arabicPeriod"/>
            </a:pPr>
            <a:r>
              <a:rPr lang="en-GB" b="1" dirty="0"/>
              <a:t>Hardware-based acquisition</a:t>
            </a:r>
          </a:p>
          <a:p>
            <a:r>
              <a:rPr lang="en-US" dirty="0"/>
              <a:t>Suspends the processor and uses direct memory access to obtain a copy of memory when the </a:t>
            </a:r>
            <a:r>
              <a:rPr lang="en-US" b="1" dirty="0"/>
              <a:t>PCI</a:t>
            </a:r>
            <a:r>
              <a:rPr lang="en-US" dirty="0"/>
              <a:t> card is plugged in the computer system and a copy of the memory is transferred to an external storage device. </a:t>
            </a:r>
          </a:p>
          <a:p>
            <a:r>
              <a:rPr lang="en-US" dirty="0"/>
              <a:t>The card is installed into a PCI bus slot before an incident occur.</a:t>
            </a:r>
          </a:p>
          <a:p>
            <a:r>
              <a:rPr lang="en-US" dirty="0"/>
              <a:t>It is more </a:t>
            </a:r>
            <a:r>
              <a:rPr lang="en-US" b="1" dirty="0"/>
              <a:t>reliable</a:t>
            </a:r>
            <a:r>
              <a:rPr lang="en-US" dirty="0"/>
              <a:t> and difficult for an attacker to corrupt, however, they are </a:t>
            </a:r>
            <a:r>
              <a:rPr lang="en-US" b="1" dirty="0"/>
              <a:t>costly</a:t>
            </a:r>
            <a:r>
              <a:rPr lang="en-US" dirty="0"/>
              <a:t>. </a:t>
            </a:r>
            <a:endParaRPr lang="LID4096" dirty="0"/>
          </a:p>
        </p:txBody>
      </p:sp>
      <p:sp>
        <p:nvSpPr>
          <p:cNvPr id="4" name="Footer Placeholder 3">
            <a:extLst>
              <a:ext uri="{FF2B5EF4-FFF2-40B4-BE49-F238E27FC236}">
                <a16:creationId xmlns:a16="http://schemas.microsoft.com/office/drawing/2014/main" id="{1A682634-5F47-4651-BD9F-7CCD099722B8}"/>
              </a:ext>
            </a:extLst>
          </p:cNvPr>
          <p:cNvSpPr>
            <a:spLocks noGrp="1"/>
          </p:cNvSpPr>
          <p:nvPr>
            <p:ph type="ftr" sz="quarter" idx="11"/>
          </p:nvPr>
        </p:nvSpPr>
        <p:spPr/>
        <p:txBody>
          <a:bodyPr/>
          <a:lstStyle/>
          <a:p>
            <a:r>
              <a:rPr lang="en-US"/>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15938087-BDD1-4E8E-BD80-732A6D6423A4}"/>
              </a:ext>
            </a:extLst>
          </p:cNvPr>
          <p:cNvSpPr>
            <a:spLocks noGrp="1"/>
          </p:cNvSpPr>
          <p:nvPr>
            <p:ph type="sldNum" sz="quarter" idx="12"/>
          </p:nvPr>
        </p:nvSpPr>
        <p:spPr/>
        <p:txBody>
          <a:bodyPr/>
          <a:lstStyle/>
          <a:p>
            <a:fld id="{E153A30B-AAA6-4D3D-89E9-8F9473C4CEC0}" type="slidenum">
              <a:rPr lang="LID4096" smtClean="0"/>
              <a:t>115</a:t>
            </a:fld>
            <a:endParaRPr lang="LID4096"/>
          </a:p>
        </p:txBody>
      </p:sp>
    </p:spTree>
    <p:extLst>
      <p:ext uri="{BB962C8B-B14F-4D97-AF65-F5344CB8AC3E}">
        <p14:creationId xmlns:p14="http://schemas.microsoft.com/office/powerpoint/2010/main" val="219646041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3F1FD-64FA-4B90-809B-BBB5066EE32D}"/>
              </a:ext>
            </a:extLst>
          </p:cNvPr>
          <p:cNvSpPr>
            <a:spLocks noGrp="1"/>
          </p:cNvSpPr>
          <p:nvPr>
            <p:ph type="title"/>
          </p:nvPr>
        </p:nvSpPr>
        <p:spPr/>
        <p:txBody>
          <a:bodyPr/>
          <a:lstStyle/>
          <a:p>
            <a:pPr algn="ctr"/>
            <a:r>
              <a:rPr lang="en-US" b="1" dirty="0"/>
              <a:t>DATA ACQUISITION METHODS IN Memory Forensics (Continues…)</a:t>
            </a:r>
            <a:endParaRPr lang="LID4096" b="1" dirty="0"/>
          </a:p>
        </p:txBody>
      </p:sp>
      <p:sp>
        <p:nvSpPr>
          <p:cNvPr id="3" name="Content Placeholder 2">
            <a:extLst>
              <a:ext uri="{FF2B5EF4-FFF2-40B4-BE49-F238E27FC236}">
                <a16:creationId xmlns:a16="http://schemas.microsoft.com/office/drawing/2014/main" id="{FA7E8AC5-297B-46A5-9B08-BBAA81CBB48C}"/>
              </a:ext>
            </a:extLst>
          </p:cNvPr>
          <p:cNvSpPr>
            <a:spLocks noGrp="1"/>
          </p:cNvSpPr>
          <p:nvPr>
            <p:ph idx="1"/>
          </p:nvPr>
        </p:nvSpPr>
        <p:spPr/>
        <p:txBody>
          <a:bodyPr>
            <a:normAutofit lnSpcReduction="10000"/>
          </a:bodyPr>
          <a:lstStyle/>
          <a:p>
            <a:pPr marL="457200" indent="-457200">
              <a:buAutoNum type="arabicPeriod" startAt="2"/>
            </a:pPr>
            <a:r>
              <a:rPr lang="en-US" b="1" dirty="0"/>
              <a:t>Software-based acquisition </a:t>
            </a:r>
          </a:p>
          <a:p>
            <a:r>
              <a:rPr lang="en-US" dirty="0"/>
              <a:t>Is often carried out using a </a:t>
            </a:r>
            <a:r>
              <a:rPr lang="en-US" b="1" dirty="0"/>
              <a:t>trusted toolkit </a:t>
            </a:r>
            <a:r>
              <a:rPr lang="en-US" dirty="0"/>
              <a:t>by forensic examiners.</a:t>
            </a:r>
          </a:p>
          <a:p>
            <a:r>
              <a:rPr lang="en-US" dirty="0"/>
              <a:t>This method can also collect volatile memory content using tools built in the operating system.</a:t>
            </a:r>
          </a:p>
          <a:p>
            <a:r>
              <a:rPr lang="en-US" dirty="0"/>
              <a:t>Drawbacks of software-based acquisition are that it </a:t>
            </a:r>
            <a:r>
              <a:rPr lang="en-US" b="1" dirty="0"/>
              <a:t>may alter contents of memory</a:t>
            </a:r>
            <a:r>
              <a:rPr lang="en-US" dirty="0"/>
              <a:t>, and potentially overwrite data relevant to an investigation. </a:t>
            </a:r>
          </a:p>
          <a:p>
            <a:r>
              <a:rPr lang="en-US" dirty="0"/>
              <a:t>However, they are </a:t>
            </a:r>
            <a:r>
              <a:rPr lang="en-US" b="1" dirty="0"/>
              <a:t>cost-effective</a:t>
            </a:r>
            <a:r>
              <a:rPr lang="en-US" dirty="0"/>
              <a:t>.</a:t>
            </a:r>
          </a:p>
        </p:txBody>
      </p:sp>
      <p:sp>
        <p:nvSpPr>
          <p:cNvPr id="4" name="Footer Placeholder 3">
            <a:extLst>
              <a:ext uri="{FF2B5EF4-FFF2-40B4-BE49-F238E27FC236}">
                <a16:creationId xmlns:a16="http://schemas.microsoft.com/office/drawing/2014/main" id="{9717E64C-18AE-43F6-A27F-23FFA33652DF}"/>
              </a:ext>
            </a:extLst>
          </p:cNvPr>
          <p:cNvSpPr>
            <a:spLocks noGrp="1"/>
          </p:cNvSpPr>
          <p:nvPr>
            <p:ph type="ftr" sz="quarter" idx="11"/>
          </p:nvPr>
        </p:nvSpPr>
        <p:spPr/>
        <p:txBody>
          <a:bodyPr/>
          <a:lstStyle/>
          <a:p>
            <a:r>
              <a:rPr lang="en-US"/>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23B4488E-8F1F-40EC-B63F-5C61D08982C7}"/>
              </a:ext>
            </a:extLst>
          </p:cNvPr>
          <p:cNvSpPr>
            <a:spLocks noGrp="1"/>
          </p:cNvSpPr>
          <p:nvPr>
            <p:ph type="sldNum" sz="quarter" idx="12"/>
          </p:nvPr>
        </p:nvSpPr>
        <p:spPr/>
        <p:txBody>
          <a:bodyPr/>
          <a:lstStyle/>
          <a:p>
            <a:fld id="{E153A30B-AAA6-4D3D-89E9-8F9473C4CEC0}" type="slidenum">
              <a:rPr lang="LID4096" smtClean="0"/>
              <a:t>116</a:t>
            </a:fld>
            <a:endParaRPr lang="LID4096"/>
          </a:p>
        </p:txBody>
      </p:sp>
    </p:spTree>
    <p:extLst>
      <p:ext uri="{BB962C8B-B14F-4D97-AF65-F5344CB8AC3E}">
        <p14:creationId xmlns:p14="http://schemas.microsoft.com/office/powerpoint/2010/main" val="38286137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ACD3E-0DBB-4C30-B42D-2D9F2722D10E}"/>
              </a:ext>
            </a:extLst>
          </p:cNvPr>
          <p:cNvSpPr>
            <a:spLocks noGrp="1"/>
          </p:cNvSpPr>
          <p:nvPr>
            <p:ph type="title"/>
          </p:nvPr>
        </p:nvSpPr>
        <p:spPr/>
        <p:txBody>
          <a:bodyPr/>
          <a:lstStyle/>
          <a:p>
            <a:pPr algn="ctr"/>
            <a:r>
              <a:rPr lang="en-US" b="1" dirty="0"/>
              <a:t>FORMATS OF DATA ACQUIRED IN Memory Forensics </a:t>
            </a:r>
            <a:endParaRPr lang="LID4096" b="1" dirty="0"/>
          </a:p>
        </p:txBody>
      </p:sp>
      <p:sp>
        <p:nvSpPr>
          <p:cNvPr id="3" name="Content Placeholder 2">
            <a:extLst>
              <a:ext uri="{FF2B5EF4-FFF2-40B4-BE49-F238E27FC236}">
                <a16:creationId xmlns:a16="http://schemas.microsoft.com/office/drawing/2014/main" id="{9C045244-00B7-401C-AD3C-A59E828C2463}"/>
              </a:ext>
            </a:extLst>
          </p:cNvPr>
          <p:cNvSpPr>
            <a:spLocks noGrp="1"/>
          </p:cNvSpPr>
          <p:nvPr>
            <p:ph idx="1"/>
          </p:nvPr>
        </p:nvSpPr>
        <p:spPr/>
        <p:txBody>
          <a:bodyPr>
            <a:normAutofit fontScale="92500" lnSpcReduction="10000"/>
          </a:bodyPr>
          <a:lstStyle/>
          <a:p>
            <a:pPr marL="457200" indent="-457200">
              <a:buFont typeface="+mj-lt"/>
              <a:buAutoNum type="arabicPeriod"/>
            </a:pPr>
            <a:r>
              <a:rPr lang="en-US" b="1" dirty="0"/>
              <a:t>RAW</a:t>
            </a:r>
            <a:r>
              <a:rPr lang="en-US" dirty="0"/>
              <a:t> – extracted from a live environment.</a:t>
            </a:r>
          </a:p>
          <a:p>
            <a:pPr marL="457200" indent="-457200">
              <a:buFont typeface="+mj-lt"/>
              <a:buAutoNum type="arabicPeriod"/>
            </a:pPr>
            <a:r>
              <a:rPr lang="en-US" b="1" dirty="0"/>
              <a:t>Crash Dump </a:t>
            </a:r>
            <a:r>
              <a:rPr lang="en-US" dirty="0"/>
              <a:t>– information gathered by the operating system.</a:t>
            </a:r>
          </a:p>
          <a:p>
            <a:pPr marL="457200" indent="-457200">
              <a:buFont typeface="+mj-lt"/>
              <a:buAutoNum type="arabicPeriod"/>
            </a:pPr>
            <a:r>
              <a:rPr lang="en-GB" b="1" dirty="0"/>
              <a:t>Hibernation File </a:t>
            </a:r>
            <a:r>
              <a:rPr lang="en-GB" dirty="0"/>
              <a:t>– </a:t>
            </a:r>
            <a:r>
              <a:rPr lang="en-US" dirty="0"/>
              <a:t>a saved snapshot that your operating system can return to after hibernating.</a:t>
            </a:r>
          </a:p>
          <a:p>
            <a:pPr marL="457200" indent="-457200">
              <a:buFont typeface="+mj-lt"/>
              <a:buAutoNum type="arabicPeriod"/>
            </a:pPr>
            <a:r>
              <a:rPr lang="en-GB" b="1" dirty="0"/>
              <a:t>VMWare Snapshot </a:t>
            </a:r>
            <a:r>
              <a:rPr lang="en-GB" dirty="0"/>
              <a:t>– </a:t>
            </a:r>
            <a:r>
              <a:rPr lang="en-US" dirty="0"/>
              <a:t>this is a snapshot of a virtual machine, which saves its state as it was at the exact moment that the snapshot was generated.</a:t>
            </a:r>
          </a:p>
          <a:p>
            <a:pPr marL="457200" indent="-457200">
              <a:buFont typeface="+mj-lt"/>
              <a:buAutoNum type="arabicPeriod"/>
            </a:pPr>
            <a:r>
              <a:rPr lang="en-US" b="1" dirty="0"/>
              <a:t>Page File </a:t>
            </a:r>
            <a:r>
              <a:rPr lang="en-US" dirty="0"/>
              <a:t>– this is a file that stores similar information that is stored in your system RAM.</a:t>
            </a:r>
            <a:endParaRPr lang="LID4096" dirty="0"/>
          </a:p>
        </p:txBody>
      </p:sp>
      <p:sp>
        <p:nvSpPr>
          <p:cNvPr id="4" name="Footer Placeholder 3">
            <a:extLst>
              <a:ext uri="{FF2B5EF4-FFF2-40B4-BE49-F238E27FC236}">
                <a16:creationId xmlns:a16="http://schemas.microsoft.com/office/drawing/2014/main" id="{B291603E-A4BC-439C-9555-DD367C90FBD7}"/>
              </a:ext>
            </a:extLst>
          </p:cNvPr>
          <p:cNvSpPr>
            <a:spLocks noGrp="1"/>
          </p:cNvSpPr>
          <p:nvPr>
            <p:ph type="ftr" sz="quarter" idx="11"/>
          </p:nvPr>
        </p:nvSpPr>
        <p:spPr/>
        <p:txBody>
          <a:bodyPr/>
          <a:lstStyle/>
          <a:p>
            <a:r>
              <a:rPr lang="en-US"/>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25486ACE-9FFF-4B12-93A3-98AED32A56AF}"/>
              </a:ext>
            </a:extLst>
          </p:cNvPr>
          <p:cNvSpPr>
            <a:spLocks noGrp="1"/>
          </p:cNvSpPr>
          <p:nvPr>
            <p:ph type="sldNum" sz="quarter" idx="12"/>
          </p:nvPr>
        </p:nvSpPr>
        <p:spPr/>
        <p:txBody>
          <a:bodyPr/>
          <a:lstStyle/>
          <a:p>
            <a:fld id="{E153A30B-AAA6-4D3D-89E9-8F9473C4CEC0}" type="slidenum">
              <a:rPr lang="LID4096" smtClean="0"/>
              <a:t>117</a:t>
            </a:fld>
            <a:endParaRPr lang="LID4096"/>
          </a:p>
        </p:txBody>
      </p:sp>
    </p:spTree>
    <p:extLst>
      <p:ext uri="{BB962C8B-B14F-4D97-AF65-F5344CB8AC3E}">
        <p14:creationId xmlns:p14="http://schemas.microsoft.com/office/powerpoint/2010/main" val="140239991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E5936-B5E9-4291-B7C3-63C4B8EB322D}"/>
              </a:ext>
            </a:extLst>
          </p:cNvPr>
          <p:cNvSpPr>
            <a:spLocks noGrp="1"/>
          </p:cNvSpPr>
          <p:nvPr>
            <p:ph type="title"/>
          </p:nvPr>
        </p:nvSpPr>
        <p:spPr/>
        <p:txBody>
          <a:bodyPr/>
          <a:lstStyle/>
          <a:p>
            <a:pPr algn="ctr"/>
            <a:r>
              <a:rPr lang="en-GB" b="1" dirty="0"/>
              <a:t>MEMORY FORENSIC TOOLS</a:t>
            </a:r>
            <a:endParaRPr lang="LID4096" b="1" dirty="0"/>
          </a:p>
        </p:txBody>
      </p:sp>
      <p:sp>
        <p:nvSpPr>
          <p:cNvPr id="3" name="Content Placeholder 2">
            <a:extLst>
              <a:ext uri="{FF2B5EF4-FFF2-40B4-BE49-F238E27FC236}">
                <a16:creationId xmlns:a16="http://schemas.microsoft.com/office/drawing/2014/main" id="{888E5884-303C-48B2-B0FB-1E43C81B86A5}"/>
              </a:ext>
            </a:extLst>
          </p:cNvPr>
          <p:cNvSpPr>
            <a:spLocks noGrp="1"/>
          </p:cNvSpPr>
          <p:nvPr>
            <p:ph idx="1"/>
          </p:nvPr>
        </p:nvSpPr>
        <p:spPr/>
        <p:txBody>
          <a:bodyPr>
            <a:normAutofit fontScale="92500" lnSpcReduction="20000"/>
          </a:bodyPr>
          <a:lstStyle/>
          <a:p>
            <a:pPr marL="457200" indent="-457200">
              <a:buFont typeface="+mj-lt"/>
              <a:buAutoNum type="arabicPeriod"/>
            </a:pPr>
            <a:r>
              <a:rPr lang="en-GB" b="1" dirty="0"/>
              <a:t>Volatility Suite </a:t>
            </a:r>
            <a:r>
              <a:rPr lang="en-GB" dirty="0"/>
              <a:t>– </a:t>
            </a:r>
            <a:r>
              <a:rPr lang="en-US" dirty="0"/>
              <a:t>is an open source suite of programs for analyzing RAM, and has support for Windows, Linux and MacOS. </a:t>
            </a:r>
          </a:p>
          <a:p>
            <a:pPr marL="457200" indent="-457200">
              <a:buFont typeface="+mj-lt"/>
              <a:buAutoNum type="arabicPeriod"/>
            </a:pPr>
            <a:r>
              <a:rPr lang="en-US" b="1" dirty="0"/>
              <a:t>Rekall</a:t>
            </a:r>
            <a:r>
              <a:rPr lang="en-US" dirty="0"/>
              <a:t> – This is an end-to-end solution for incident responders and investigators, and features both acquisition and analysis tools. </a:t>
            </a:r>
          </a:p>
          <a:p>
            <a:pPr marL="457200" indent="-457200">
              <a:buFont typeface="+mj-lt"/>
              <a:buAutoNum type="arabicPeriod"/>
            </a:pPr>
            <a:r>
              <a:rPr lang="en-GB" b="1" dirty="0"/>
              <a:t>Helix ISO </a:t>
            </a:r>
            <a:r>
              <a:rPr lang="en-GB" dirty="0"/>
              <a:t>– </a:t>
            </a:r>
            <a:r>
              <a:rPr lang="en-US" dirty="0"/>
              <a:t>This is a bootable live CD as well as a standalone application that makes it very easy for you to capture a memory dump or memory image of a system.</a:t>
            </a:r>
          </a:p>
          <a:p>
            <a:pPr marL="457200" indent="-457200">
              <a:buFont typeface="+mj-lt"/>
              <a:buAutoNum type="arabicPeriod"/>
            </a:pPr>
            <a:r>
              <a:rPr lang="en-GB" b="1" dirty="0"/>
              <a:t>Belkasoft RAM Capturer </a:t>
            </a:r>
            <a:r>
              <a:rPr lang="en-GB" dirty="0"/>
              <a:t>– </a:t>
            </a:r>
            <a:r>
              <a:rPr lang="en-US" dirty="0"/>
              <a:t>This is another forensic tool that allows for the volatile section of system memory to be captured to a file. </a:t>
            </a:r>
            <a:endParaRPr lang="LID4096" dirty="0"/>
          </a:p>
        </p:txBody>
      </p:sp>
      <p:sp>
        <p:nvSpPr>
          <p:cNvPr id="4" name="Footer Placeholder 3">
            <a:extLst>
              <a:ext uri="{FF2B5EF4-FFF2-40B4-BE49-F238E27FC236}">
                <a16:creationId xmlns:a16="http://schemas.microsoft.com/office/drawing/2014/main" id="{54903496-9D2D-4E8E-BCB3-FB921ABBF341}"/>
              </a:ext>
            </a:extLst>
          </p:cNvPr>
          <p:cNvSpPr>
            <a:spLocks noGrp="1"/>
          </p:cNvSpPr>
          <p:nvPr>
            <p:ph type="ftr" sz="quarter" idx="11"/>
          </p:nvPr>
        </p:nvSpPr>
        <p:spPr/>
        <p:txBody>
          <a:bodyPr/>
          <a:lstStyle/>
          <a:p>
            <a:r>
              <a:rPr lang="en-US"/>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69E150CB-18C3-4CF3-9D29-1305B06AD008}"/>
              </a:ext>
            </a:extLst>
          </p:cNvPr>
          <p:cNvSpPr>
            <a:spLocks noGrp="1"/>
          </p:cNvSpPr>
          <p:nvPr>
            <p:ph type="sldNum" sz="quarter" idx="12"/>
          </p:nvPr>
        </p:nvSpPr>
        <p:spPr/>
        <p:txBody>
          <a:bodyPr/>
          <a:lstStyle/>
          <a:p>
            <a:fld id="{E153A30B-AAA6-4D3D-89E9-8F9473C4CEC0}" type="slidenum">
              <a:rPr lang="LID4096" smtClean="0"/>
              <a:t>118</a:t>
            </a:fld>
            <a:endParaRPr lang="LID4096"/>
          </a:p>
        </p:txBody>
      </p:sp>
    </p:spTree>
    <p:extLst>
      <p:ext uri="{BB962C8B-B14F-4D97-AF65-F5344CB8AC3E}">
        <p14:creationId xmlns:p14="http://schemas.microsoft.com/office/powerpoint/2010/main" val="325787544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539E263-CBCB-4D34-8EA4-8DFB185EC43B}"/>
              </a:ext>
            </a:extLst>
          </p:cNvPr>
          <p:cNvSpPr>
            <a:spLocks noGrp="1"/>
          </p:cNvSpPr>
          <p:nvPr>
            <p:ph type="title"/>
          </p:nvPr>
        </p:nvSpPr>
        <p:spPr>
          <a:xfrm>
            <a:off x="1141411" y="2689715"/>
            <a:ext cx="9905998" cy="1478570"/>
          </a:xfrm>
        </p:spPr>
        <p:txBody>
          <a:bodyPr>
            <a:normAutofit fontScale="90000"/>
          </a:bodyPr>
          <a:lstStyle/>
          <a:p>
            <a:pPr algn="ctr"/>
            <a:r>
              <a:rPr lang="en-US" b="1" dirty="0"/>
              <a:t>These notes are 85% done, you are advised on check the handout of cloud forensics and the need for memory forensics.</a:t>
            </a:r>
            <a:endParaRPr lang="LID4096" b="1" dirty="0"/>
          </a:p>
        </p:txBody>
      </p:sp>
      <p:sp>
        <p:nvSpPr>
          <p:cNvPr id="4" name="Footer Placeholder 3">
            <a:extLst>
              <a:ext uri="{FF2B5EF4-FFF2-40B4-BE49-F238E27FC236}">
                <a16:creationId xmlns:a16="http://schemas.microsoft.com/office/drawing/2014/main" id="{10A33D94-0BDF-4DEF-8586-0B0D4178ACD3}"/>
              </a:ext>
            </a:extLst>
          </p:cNvPr>
          <p:cNvSpPr>
            <a:spLocks noGrp="1"/>
          </p:cNvSpPr>
          <p:nvPr>
            <p:ph type="ftr" sz="quarter" idx="11"/>
          </p:nvPr>
        </p:nvSpPr>
        <p:spPr/>
        <p:txBody>
          <a:bodyPr/>
          <a:lstStyle/>
          <a:p>
            <a:r>
              <a:rPr lang="en-US"/>
              <a:t>Prepared by James Soko for Mr. Ngosa Gatham © 2025 Kapasa Makasa University </a:t>
            </a:r>
            <a:endParaRPr lang="LID4096" dirty="0"/>
          </a:p>
        </p:txBody>
      </p:sp>
      <p:sp>
        <p:nvSpPr>
          <p:cNvPr id="5" name="Slide Number Placeholder 4">
            <a:extLst>
              <a:ext uri="{FF2B5EF4-FFF2-40B4-BE49-F238E27FC236}">
                <a16:creationId xmlns:a16="http://schemas.microsoft.com/office/drawing/2014/main" id="{5EC8ABDE-4B90-485E-B75A-45CD337FC217}"/>
              </a:ext>
            </a:extLst>
          </p:cNvPr>
          <p:cNvSpPr>
            <a:spLocks noGrp="1"/>
          </p:cNvSpPr>
          <p:nvPr>
            <p:ph type="sldNum" sz="quarter" idx="12"/>
          </p:nvPr>
        </p:nvSpPr>
        <p:spPr/>
        <p:txBody>
          <a:bodyPr/>
          <a:lstStyle/>
          <a:p>
            <a:fld id="{E153A30B-AAA6-4D3D-89E9-8F9473C4CEC0}" type="slidenum">
              <a:rPr lang="LID4096" smtClean="0"/>
              <a:t>119</a:t>
            </a:fld>
            <a:endParaRPr lang="LID4096"/>
          </a:p>
        </p:txBody>
      </p:sp>
    </p:spTree>
    <p:extLst>
      <p:ext uri="{BB962C8B-B14F-4D97-AF65-F5344CB8AC3E}">
        <p14:creationId xmlns:p14="http://schemas.microsoft.com/office/powerpoint/2010/main" val="42850628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6443</TotalTime>
  <Words>8278</Words>
  <Application>Microsoft Office PowerPoint</Application>
  <PresentationFormat>Widescreen</PresentationFormat>
  <Paragraphs>940</Paragraphs>
  <Slides>119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119</vt:i4>
      </vt:variant>
    </vt:vector>
  </HeadingPairs>
  <TitlesOfParts>
    <vt:vector size="125" baseType="lpstr">
      <vt:lpstr>Arial</vt:lpstr>
      <vt:lpstr>Calibri</vt:lpstr>
      <vt:lpstr>Google Sans</vt:lpstr>
      <vt:lpstr>Tw Cen MT</vt:lpstr>
      <vt:lpstr>Wingdings</vt:lpstr>
      <vt:lpstr>Circuit</vt:lpstr>
      <vt:lpstr>Cybercrime investigation &amp; forensic ii</vt:lpstr>
      <vt:lpstr>Digital forensics | overview </vt:lpstr>
      <vt:lpstr>Introduction </vt:lpstr>
      <vt:lpstr>Cybercrime investigators </vt:lpstr>
      <vt:lpstr>Cybercrime investigators (continues…)</vt:lpstr>
      <vt:lpstr>Cybercrime investigation</vt:lpstr>
      <vt:lpstr>Top 5 Cybercrimes</vt:lpstr>
      <vt:lpstr>Top 5 Cybercrimes (Continues…)</vt:lpstr>
      <vt:lpstr>Top 5 Cybercrimes (Continues…)</vt:lpstr>
      <vt:lpstr>PROTECTING AGAINST CYBERCRIMES </vt:lpstr>
      <vt:lpstr>Types of Cyber Criminals</vt:lpstr>
      <vt:lpstr>Types of Cyber Criminals (continues…)</vt:lpstr>
      <vt:lpstr>Types of Cyber Criminals (continues…)</vt:lpstr>
      <vt:lpstr>Types of Cyber Criminals (continues…)</vt:lpstr>
      <vt:lpstr>Digital forensics </vt:lpstr>
      <vt:lpstr>Digital forensics (continues…)</vt:lpstr>
      <vt:lpstr>Cybercrime Investigation Techniques</vt:lpstr>
      <vt:lpstr>Cybercrime Investigation Tools</vt:lpstr>
      <vt:lpstr>Cybercrime Investigation Tools (Continues…)</vt:lpstr>
      <vt:lpstr>Digital forensics </vt:lpstr>
      <vt:lpstr>Introduction </vt:lpstr>
      <vt:lpstr>Characteristics of Computer Forensics </vt:lpstr>
      <vt:lpstr>Need for Digital Forensic</vt:lpstr>
      <vt:lpstr>DIGITAL INVESTIGATION RULES AND REGULATIONS</vt:lpstr>
      <vt:lpstr>ROLES &amp; Uses of Digital Forensic</vt:lpstr>
      <vt:lpstr>Key Steps in a Forensic Investigation</vt:lpstr>
      <vt:lpstr>Key Steps in a Forensic Investigation (Continues…) </vt:lpstr>
      <vt:lpstr>Tasks That are performed by Forensic Investigator</vt:lpstr>
      <vt:lpstr>Locard's Exchange Principle</vt:lpstr>
      <vt:lpstr>ORGANIZATIONS INVOLVED IN DIGITAL FORENSICS</vt:lpstr>
      <vt:lpstr>ORGANIZATIONS INVOLVED IN DIGITAL FORENSICS (Continues…)</vt:lpstr>
      <vt:lpstr>ORGANIZATIONS INVOLVED IN DIGITAL FORENSICS (Continues…)</vt:lpstr>
      <vt:lpstr>ORGANIZATIONS INVOLVED IN DIGITAL FORENSICS (Continues…)</vt:lpstr>
      <vt:lpstr>ORGANIZATIONS INVOLVED IN DIGITAL FORENSICS (Continues…)</vt:lpstr>
      <vt:lpstr>Computer/Digital Forensics Tools</vt:lpstr>
      <vt:lpstr>Computer/Digital Forensics Tools (continues…) </vt:lpstr>
      <vt:lpstr>Computer/Digital Forensics Tools (continues…) </vt:lpstr>
      <vt:lpstr>Computer/Digital Forensics Tools (continues…) </vt:lpstr>
      <vt:lpstr>Computer/Digital Forensics Tools (continues…) </vt:lpstr>
      <vt:lpstr>Footprints </vt:lpstr>
      <vt:lpstr>Footprints  (Continues…)</vt:lpstr>
      <vt:lpstr>Questions</vt:lpstr>
      <vt:lpstr>ANSWERS </vt:lpstr>
      <vt:lpstr>ANSWERS (continues…) </vt:lpstr>
      <vt:lpstr>ANSWERS (continues…) </vt:lpstr>
      <vt:lpstr>ANSWERS (continues…) </vt:lpstr>
      <vt:lpstr>FILE CARVING AND DATA RECOVERY</vt:lpstr>
      <vt:lpstr>Computer data</vt:lpstr>
      <vt:lpstr>DATA RECOVERY </vt:lpstr>
      <vt:lpstr>Software data recovery </vt:lpstr>
      <vt:lpstr>Bad track of a hard disk </vt:lpstr>
      <vt:lpstr>Recovery methods </vt:lpstr>
      <vt:lpstr>Data loss </vt:lpstr>
      <vt:lpstr>Hard disk</vt:lpstr>
      <vt:lpstr>Data storage region of a hard drive </vt:lpstr>
      <vt:lpstr>File deletion </vt:lpstr>
      <vt:lpstr>File deletion (continues…)</vt:lpstr>
      <vt:lpstr>HIGH LEVEL Formatting </vt:lpstr>
      <vt:lpstr>FAT VS. NTFS</vt:lpstr>
      <vt:lpstr>Deletion techniques </vt:lpstr>
      <vt:lpstr>Hard disk drive (hdd)</vt:lpstr>
      <vt:lpstr>Main components for Hard disk drive</vt:lpstr>
      <vt:lpstr>Main components for Hard disk drive (Continues…)</vt:lpstr>
      <vt:lpstr>READ AND WRITE HEAD</vt:lpstr>
      <vt:lpstr>Partition for HDD</vt:lpstr>
      <vt:lpstr>TYPES OF INTERFACEING IN HDD</vt:lpstr>
      <vt:lpstr>HDD Capacity and Size Information</vt:lpstr>
      <vt:lpstr>Multi-Media Forensics </vt:lpstr>
      <vt:lpstr>Classification of multimedia</vt:lpstr>
      <vt:lpstr>multimedia</vt:lpstr>
      <vt:lpstr>Use area of Multimedia </vt:lpstr>
      <vt:lpstr>Elements of multimedia</vt:lpstr>
      <vt:lpstr>Multi-Media Forensics  (Audio &amp; Video)</vt:lpstr>
      <vt:lpstr>Introduction</vt:lpstr>
      <vt:lpstr>Types of video and audio</vt:lpstr>
      <vt:lpstr>Types of video and audio (Continues…)</vt:lpstr>
      <vt:lpstr>Important evidence to be recorded</vt:lpstr>
      <vt:lpstr>Who Conducts the Analysis</vt:lpstr>
      <vt:lpstr>How the analysis is performed</vt:lpstr>
      <vt:lpstr>Video Enhancement Technique</vt:lpstr>
      <vt:lpstr>Audio Enhancement Techniques</vt:lpstr>
      <vt:lpstr>Malware Forensics</vt:lpstr>
      <vt:lpstr>Malware </vt:lpstr>
      <vt:lpstr>History of Malware </vt:lpstr>
      <vt:lpstr>Distribution or Infection Methods of a Malware </vt:lpstr>
      <vt:lpstr>The 5 STAGEs OF MALWARE ATTACK</vt:lpstr>
      <vt:lpstr>TYPES OF MALWARE</vt:lpstr>
      <vt:lpstr>TYPES OF MALWARE (Continues…)</vt:lpstr>
      <vt:lpstr>TYPES OF MALWARE (Continues…)</vt:lpstr>
      <vt:lpstr>TYPES OF MALWARE (Continues…)</vt:lpstr>
      <vt:lpstr>TYPES OF MALWARE (Continues…)</vt:lpstr>
      <vt:lpstr>TYPES OF MALWARE (Continues…)</vt:lpstr>
      <vt:lpstr>TYPES OF MALWARE (Continues…)</vt:lpstr>
      <vt:lpstr>TYPES OF MALWARE (Continues…)</vt:lpstr>
      <vt:lpstr>TYPES OF MALWARE (Continues…)</vt:lpstr>
      <vt:lpstr>Protecting Against Malware</vt:lpstr>
      <vt:lpstr>Protecting Against Malware (Continues…)</vt:lpstr>
      <vt:lpstr>Protecting Against Malware (Continues…)</vt:lpstr>
      <vt:lpstr>Protecting Against Malware (Continues…)</vt:lpstr>
      <vt:lpstr>Cloud Forensics</vt:lpstr>
      <vt:lpstr>Types of Clouds </vt:lpstr>
      <vt:lpstr>Types of Clouds (Continues…)</vt:lpstr>
      <vt:lpstr>Cloud Service Models</vt:lpstr>
      <vt:lpstr>Cloud Computing Framework</vt:lpstr>
      <vt:lpstr>Forensics </vt:lpstr>
      <vt:lpstr>Actors in Cloud Computing</vt:lpstr>
      <vt:lpstr>Scenarios in Cloud</vt:lpstr>
      <vt:lpstr>Actors in Cloud Computing (Continues…)</vt:lpstr>
      <vt:lpstr>Actors in Cloud Computing (Continues…)</vt:lpstr>
      <vt:lpstr>Actors in Cloud Computing (Continues…)</vt:lpstr>
      <vt:lpstr>Memory Forensics </vt:lpstr>
      <vt:lpstr>INTRODUCTION</vt:lpstr>
      <vt:lpstr>WHAT IS MEMORY FORENSICS?</vt:lpstr>
      <vt:lpstr>WHY MEMORY FORENSICS?</vt:lpstr>
      <vt:lpstr>DATA ACQUISITION METHODS IN Memory Forensics</vt:lpstr>
      <vt:lpstr>DATA ACQUISITION METHODS IN Memory Forensics (Continues…)</vt:lpstr>
      <vt:lpstr>FORMATS OF DATA ACQUIRED IN Memory Forensics </vt:lpstr>
      <vt:lpstr>MEMORY FORENSIC TOOLS</vt:lpstr>
      <vt:lpstr>These notes are 85% done, you are advised on check the handout of cloud forensics and the need for memory forensics.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Cybercrime investigation &amp; forensic ii</dc:title>
  <dc:creator>James Soko</dc:creator>
  <cp:lastModifiedBy>James Soko</cp:lastModifiedBy>
  <cp:revision>374</cp:revision>
  <dcterms:created xsi:type="dcterms:W3CDTF">2025-02-24T17:22:47Z</dcterms:created>
  <dcterms:modified xsi:type="dcterms:W3CDTF">2025-10-20T21:44:16Z</dcterms:modified>
</cp:coreProperties>
</file>