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74" r:id="rId14"/>
    <p:sldId id="275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35" autoAdjust="0"/>
    <p:restoredTop sz="94660"/>
  </p:normalViewPr>
  <p:slideViewPr>
    <p:cSldViewPr snapToGrid="0">
      <p:cViewPr varScale="1">
        <p:scale>
          <a:sx n="72" d="100"/>
          <a:sy n="72" d="100"/>
        </p:scale>
        <p:origin x="45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DC834A-FD5E-4ADF-8232-42C2B86E8184}" type="datetimeFigureOut">
              <a:rPr lang="LID4096" smtClean="0"/>
              <a:t>09/18/2025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4EA8F5-99F1-4EC4-85E8-CF5F36C2FF1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6601941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D1A5DD89-EC5C-4649-BABB-A08E10D0C1C1}" type="datetime1">
              <a:rPr lang="LID4096" smtClean="0"/>
              <a:t>09/18/2025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r>
              <a:rPr lang="en-US"/>
              <a:t>PREPARED BY JAMES SOKO FOR CYBER SECURITY THIRD YEAR CLASS</a:t>
            </a:r>
            <a:endParaRPr lang="LID4096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16BDD9D1-ED79-4BA9-B421-8B973A218A5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7860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E58F3-86A3-42B6-88D2-11406B00C921}" type="datetime1">
              <a:rPr lang="LID4096" smtClean="0"/>
              <a:t>09/18/2025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JAMES SOKO FOR CYBER SECURITY THIRD YEAR CLASS</a:t>
            </a:r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DD9D1-ED79-4BA9-B421-8B973A218A5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65460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075E7-1AF7-40F3-82E3-150CB8EC5480}" type="datetime1">
              <a:rPr lang="LID4096" smtClean="0"/>
              <a:t>09/18/2025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JAMES SOKO FOR CYBER SECURITY THIRD YEAR CLASS</a:t>
            </a:r>
            <a:endParaRPr lang="LID4096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DD9D1-ED79-4BA9-B421-8B973A218A5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424239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ECCEF-698D-412D-A629-D50F1DD0CC00}" type="datetime1">
              <a:rPr lang="LID4096" smtClean="0"/>
              <a:t>09/18/2025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JAMES SOKO FOR CYBER SECURITY THIRD YEAR CLASS</a:t>
            </a:r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DD9D1-ED79-4BA9-B421-8B973A218A5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595689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84B2F-7F85-4664-9B5E-5D1BD13D00B6}" type="datetime1">
              <a:rPr lang="LID4096" smtClean="0"/>
              <a:t>09/18/2025</a:t>
            </a:fld>
            <a:endParaRPr lang="LID4096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JAMES SOKO FOR CYBER SECURITY THIRD YEAR CLASS</a:t>
            </a:r>
            <a:endParaRPr lang="LID4096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DD9D1-ED79-4BA9-B421-8B973A218A5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65484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F864B-0B85-4897-86A7-B88B083EAC27}" type="datetime1">
              <a:rPr lang="LID4096" smtClean="0"/>
              <a:t>09/18/2025</a:t>
            </a:fld>
            <a:endParaRPr lang="LID4096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JAMES SOKO FOR CYBER SECURITY THIRD YEAR CLASS</a:t>
            </a:r>
            <a:endParaRPr lang="LID4096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DD9D1-ED79-4BA9-B421-8B973A218A5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71990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A42F4-7F2D-4402-A4E0-01BD6CB12ABE}" type="datetime1">
              <a:rPr lang="LID4096" smtClean="0"/>
              <a:t>09/18/2025</a:t>
            </a:fld>
            <a:endParaRPr lang="LID4096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JAMES SOKO FOR CYBER SECURITY THIRD YEAR CLASS</a:t>
            </a:r>
            <a:endParaRPr lang="LID4096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DD9D1-ED79-4BA9-B421-8B973A218A5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426530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E19B5-3B00-4F94-AD9E-A598911D5CCB}" type="datetime1">
              <a:rPr lang="LID4096" smtClean="0"/>
              <a:t>09/18/2025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JAMES SOKO FOR CYBER SECURITY THIRD YEAR CLASS</a:t>
            </a:r>
            <a:endParaRPr lang="LID4096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DD9D1-ED79-4BA9-B421-8B973A218A5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303822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76CD1-12E1-4366-A209-CD925CBB553D}" type="datetime1">
              <a:rPr lang="LID4096" smtClean="0"/>
              <a:t>09/18/2025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JAMES SOKO FOR CYBER SECURITY THIRD YEAR CLASS</a:t>
            </a:r>
            <a:endParaRPr lang="LID4096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DD9D1-ED79-4BA9-B421-8B973A218A5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8368663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2697B-936F-4621-92FA-7CA4A6DC6CA0}" type="datetime1">
              <a:rPr lang="LID4096" smtClean="0"/>
              <a:t>09/18/2025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JAMES SOKO FOR CYBER SECURITY THIRD YEAR CLASS</a:t>
            </a:r>
            <a:endParaRPr lang="LID4096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DD9D1-ED79-4BA9-B421-8B973A218A5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2551975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5FD43-4165-4667-833A-2366DC89BCD5}" type="datetime1">
              <a:rPr lang="LID4096" smtClean="0"/>
              <a:t>09/18/2025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JAMES SOKO FOR CYBER SECURITY THIRD YEAR CLASS</a:t>
            </a:r>
            <a:endParaRPr lang="LID4096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DD9D1-ED79-4BA9-B421-8B973A218A5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756266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CE8FF-A172-4006-91BB-984FB13A3838}" type="datetime1">
              <a:rPr lang="LID4096" smtClean="0"/>
              <a:t>09/18/2025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JAMES SOKO FOR CYBER SECURITY THIRD YEAR CLASS</a:t>
            </a:r>
            <a:endParaRPr lang="LID4096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DD9D1-ED79-4BA9-B421-8B973A218A5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679602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6EEA3-07B3-4039-B456-4945FA1102A2}" type="datetime1">
              <a:rPr lang="LID4096" smtClean="0"/>
              <a:t>09/18/2025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JAMES SOKO FOR CYBER SECURITY THIRD YEAR CLASS</a:t>
            </a:r>
            <a:endParaRPr lang="LID4096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DD9D1-ED79-4BA9-B421-8B973A218A5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984885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7C678-08B3-4B35-8DF4-CDBCFD5230DD}" type="datetime1">
              <a:rPr lang="LID4096" smtClean="0"/>
              <a:t>09/18/2025</a:t>
            </a:fld>
            <a:endParaRPr lang="LID4096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JAMES SOKO FOR CYBER SECURITY THIRD YEAR CLASS</a:t>
            </a:r>
            <a:endParaRPr lang="LID4096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DD9D1-ED79-4BA9-B421-8B973A218A5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005695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83908-801C-45B9-839E-92D3570979F5}" type="datetime1">
              <a:rPr lang="LID4096" smtClean="0"/>
              <a:t>09/18/2025</a:t>
            </a:fld>
            <a:endParaRPr lang="LID4096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r>
              <a:rPr lang="en-US"/>
              <a:t>PREPARED BY JAMES SOKO FOR CYBER SECURITY THIRD YEAR CLASS</a:t>
            </a:r>
            <a:endParaRPr lang="LID4096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DD9D1-ED79-4BA9-B421-8B973A218A5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027533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7EC593FF-00CB-4A09-86AB-DA56AE1F9433}" type="datetime1">
              <a:rPr lang="LID4096" smtClean="0"/>
              <a:t>09/18/2025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JAMES SOKO FOR CYBER SECURITY THIRD YEAR CLASS</a:t>
            </a:r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DD9D1-ED79-4BA9-B421-8B973A218A5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089453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95BDC674-DA7E-47FD-A666-046E6C6A4181}" type="datetime1">
              <a:rPr lang="LID4096" smtClean="0"/>
              <a:t>09/18/2025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JAMES SOKO FOR CYBER SECURITY THIRD YEAR CLASS</a:t>
            </a:r>
            <a:endParaRPr lang="LID4096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DD9D1-ED79-4BA9-B421-8B973A218A5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63543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C62504E1-8FB3-4CBC-813D-6C9D06B3ED32}" type="datetime1">
              <a:rPr lang="LID4096" smtClean="0"/>
              <a:t>09/18/2025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r>
              <a:rPr lang="en-US"/>
              <a:t>PREPARED BY JAMES SOKO FOR CYBER SECURITY THIRD YEAR CLASS</a:t>
            </a:r>
            <a:endParaRPr lang="LID4096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16BDD9D1-ED79-4BA9-B421-8B973A218A5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045807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hd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getintopc.com/softwares/drawing/edrawmax-ultimate-2025-free-download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3.e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4.e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43707-DF81-4231-A77E-0C5B1578418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6600" b="1" dirty="0"/>
              <a:t>PERT CHARTS </a:t>
            </a:r>
            <a:endParaRPr lang="LID4096" sz="66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447CF7-CEE8-4706-9D1E-DB9E34CA99E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1900" b="1" dirty="0"/>
              <a:t>PROJECT EVALUATION &amp; REVIEW TECHNIQUE </a:t>
            </a:r>
            <a:endParaRPr lang="LID4096" sz="1900" b="1" dirty="0"/>
          </a:p>
        </p:txBody>
      </p:sp>
    </p:spTree>
    <p:extLst>
      <p:ext uri="{BB962C8B-B14F-4D97-AF65-F5344CB8AC3E}">
        <p14:creationId xmlns:p14="http://schemas.microsoft.com/office/powerpoint/2010/main" val="2904830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90BFF-F3ED-468C-80FE-54B3E920D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Objectives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6B3BB0-0DDA-40B6-85B9-B6A4F2863C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en-US" dirty="0"/>
              <a:t>Learn how to Install </a:t>
            </a:r>
            <a:r>
              <a:rPr lang="en-US" b="1" dirty="0">
                <a:hlinkClick r:id="rId2"/>
              </a:rPr>
              <a:t>EdrawMax</a:t>
            </a:r>
            <a:r>
              <a:rPr lang="en-US" dirty="0"/>
              <a:t>.</a:t>
            </a:r>
          </a:p>
          <a:p>
            <a:pPr>
              <a:buFont typeface="+mj-lt"/>
              <a:buAutoNum type="arabicPeriod"/>
            </a:pPr>
            <a:r>
              <a:rPr lang="en-US" dirty="0"/>
              <a:t>Understand how to draw PERT Charts.</a:t>
            </a: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0BA059-6584-4DAA-88CD-A0685FC6D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JAMES SOKO FOR CYBER SECURITY THIRD YEAR CLASS</a:t>
            </a:r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8B5796-2689-4753-92C9-B82F4B76B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DD9D1-ED79-4BA9-B421-8B973A218A59}" type="slidenum">
              <a:rPr lang="LID4096" smtClean="0"/>
              <a:t>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886609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C184A3D-FAF2-437C-88FB-4059168D6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PERT Charts</a:t>
            </a:r>
            <a:endParaRPr lang="LID4096" b="1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D48DAA-484B-4E65-BD62-F2615EDD00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EdrawMax</a:t>
            </a:r>
            <a:endParaRPr lang="LID4096" b="1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B1DE58-1ED5-4111-8D04-C1F826CC8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JAMES SOKO FOR CYBER SECURITY THIRD YEAR CLASS</a:t>
            </a:r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598EE3-7F1C-4528-BAA1-5CF93D49F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DD9D1-ED79-4BA9-B421-8B973A218A59}" type="slidenum">
              <a:rPr lang="LID4096" smtClean="0"/>
              <a:t>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8187578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14235DF-262B-4181-91F2-4B4C43F75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CHARTER 1</a:t>
            </a:r>
            <a:endParaRPr lang="LID4096" b="1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C33BCA8-75F6-40BE-9797-B65D84EB7D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b="1" dirty="0"/>
              <a:t>Question 1</a:t>
            </a:r>
            <a:endParaRPr lang="LID4096" b="1" dirty="0"/>
          </a:p>
        </p:txBody>
      </p:sp>
      <p:graphicFrame>
        <p:nvGraphicFramePr>
          <p:cNvPr id="12" name="Table 12">
            <a:extLst>
              <a:ext uri="{FF2B5EF4-FFF2-40B4-BE49-F238E27FC236}">
                <a16:creationId xmlns:a16="http://schemas.microsoft.com/office/drawing/2014/main" id="{121E47B4-C262-4A82-84D4-4426AFF9996B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745371882"/>
              </p:ext>
            </p:extLst>
          </p:nvPr>
        </p:nvGraphicFramePr>
        <p:xfrm>
          <a:off x="1155700" y="3179763"/>
          <a:ext cx="4824412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2206">
                  <a:extLst>
                    <a:ext uri="{9D8B030D-6E8A-4147-A177-3AD203B41FA5}">
                      <a16:colId xmlns:a16="http://schemas.microsoft.com/office/drawing/2014/main" val="404108313"/>
                    </a:ext>
                  </a:extLst>
                </a:gridCol>
                <a:gridCol w="2412206">
                  <a:extLst>
                    <a:ext uri="{9D8B030D-6E8A-4147-A177-3AD203B41FA5}">
                      <a16:colId xmlns:a16="http://schemas.microsoft.com/office/drawing/2014/main" val="6630873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Activities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Dependencies 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52126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76231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07698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86424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52752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C,D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7001624"/>
                  </a:ext>
                </a:extLst>
              </a:tr>
            </a:tbl>
          </a:graphicData>
        </a:graphic>
      </p:graphicFrame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3007255-4265-4135-8F3C-09189BABCB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US" b="1" dirty="0"/>
              <a:t>PERT Chart</a:t>
            </a:r>
            <a:endParaRPr lang="LID4096" b="1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0F8E430A-FC17-400F-840E-13EF3EDFC4FC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.</a:t>
            </a:r>
            <a:endParaRPr lang="LID4096" dirty="0"/>
          </a:p>
        </p:txBody>
      </p:sp>
      <p:graphicFrame>
        <p:nvGraphicFramePr>
          <p:cNvPr id="89" name="Object 88">
            <a:extLst>
              <a:ext uri="{FF2B5EF4-FFF2-40B4-BE49-F238E27FC236}">
                <a16:creationId xmlns:a16="http://schemas.microsoft.com/office/drawing/2014/main" id="{44BBE30F-BC45-4AC7-99F8-6FAD2F4A750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5092584"/>
              </p:ext>
            </p:extLst>
          </p:nvPr>
        </p:nvGraphicFramePr>
        <p:xfrm>
          <a:off x="6308295" y="3283204"/>
          <a:ext cx="5391893" cy="21957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0" name="Edraw.Document" r:id="rId3" imgW="4475880" imgH="1822885" progId="EdrawMax.EdrawDocument.1">
                  <p:embed/>
                </p:oleObj>
              </mc:Choice>
              <mc:Fallback>
                <p:oleObj name="Edraw.Document" r:id="rId3" imgW="4475880" imgH="1822885" progId="EdrawMax.Edraw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308295" y="3283204"/>
                        <a:ext cx="5391893" cy="21957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" name="Footer Placeholder 89">
            <a:extLst>
              <a:ext uri="{FF2B5EF4-FFF2-40B4-BE49-F238E27FC236}">
                <a16:creationId xmlns:a16="http://schemas.microsoft.com/office/drawing/2014/main" id="{8F964864-98D0-4D21-8BC9-3F9885635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JAMES SOKO FOR CYBER SECURITY THIRD YEAR CLASS</a:t>
            </a:r>
            <a:endParaRPr lang="LID4096"/>
          </a:p>
        </p:txBody>
      </p:sp>
      <p:sp>
        <p:nvSpPr>
          <p:cNvPr id="91" name="Slide Number Placeholder 90">
            <a:extLst>
              <a:ext uri="{FF2B5EF4-FFF2-40B4-BE49-F238E27FC236}">
                <a16:creationId xmlns:a16="http://schemas.microsoft.com/office/drawing/2014/main" id="{AD45DC88-B961-466D-801B-8A6F7C10C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DD9D1-ED79-4BA9-B421-8B973A218A59}" type="slidenum">
              <a:rPr lang="LID4096" smtClean="0"/>
              <a:t>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9636311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0C369-AFCC-4179-BB21-DF466A75D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CHARTER 1 (Continues…)</a:t>
            </a:r>
            <a:endParaRPr lang="LID4096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464A41-7680-42C5-98C6-5F088FE77B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55327" y="2226428"/>
            <a:ext cx="4825157" cy="576262"/>
          </a:xfrm>
        </p:spPr>
        <p:txBody>
          <a:bodyPr/>
          <a:lstStyle/>
          <a:p>
            <a:pPr algn="ctr"/>
            <a:r>
              <a:rPr lang="en-US" b="1" dirty="0"/>
              <a:t>Question 2</a:t>
            </a:r>
            <a:endParaRPr lang="LID4096" b="1" dirty="0"/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5DD4C678-8078-45CE-B4A9-880FCE3DA93C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933306441"/>
              </p:ext>
            </p:extLst>
          </p:nvPr>
        </p:nvGraphicFramePr>
        <p:xfrm>
          <a:off x="1156072" y="2802690"/>
          <a:ext cx="4824412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2206">
                  <a:extLst>
                    <a:ext uri="{9D8B030D-6E8A-4147-A177-3AD203B41FA5}">
                      <a16:colId xmlns:a16="http://schemas.microsoft.com/office/drawing/2014/main" val="1330250483"/>
                    </a:ext>
                  </a:extLst>
                </a:gridCol>
                <a:gridCol w="2412206">
                  <a:extLst>
                    <a:ext uri="{9D8B030D-6E8A-4147-A177-3AD203B41FA5}">
                      <a16:colId xmlns:a16="http://schemas.microsoft.com/office/drawing/2014/main" val="932920524"/>
                    </a:ext>
                  </a:extLst>
                </a:gridCol>
              </a:tblGrid>
              <a:tr h="319388">
                <a:tc>
                  <a:txBody>
                    <a:bodyPr/>
                    <a:lstStyle/>
                    <a:p>
                      <a:r>
                        <a:rPr lang="en-US" dirty="0"/>
                        <a:t>Activities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Dependencies 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5514440"/>
                  </a:ext>
                </a:extLst>
              </a:tr>
              <a:tr h="319388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2615650"/>
                  </a:ext>
                </a:extLst>
              </a:tr>
              <a:tr h="319388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6455666"/>
                  </a:ext>
                </a:extLst>
              </a:tr>
              <a:tr h="319388"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3925199"/>
                  </a:ext>
                </a:extLst>
              </a:tr>
              <a:tr h="319388"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0814954"/>
                  </a:ext>
                </a:extLst>
              </a:tr>
              <a:tr h="319388">
                <a:tc>
                  <a:txBody>
                    <a:bodyPr/>
                    <a:lstStyle/>
                    <a:p>
                      <a:r>
                        <a:rPr lang="en-US" dirty="0"/>
                        <a:t>E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7426620"/>
                  </a:ext>
                </a:extLst>
              </a:tr>
              <a:tr h="319388"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0853727"/>
                  </a:ext>
                </a:extLst>
              </a:tr>
              <a:tr h="319388">
                <a:tc>
                  <a:txBody>
                    <a:bodyPr/>
                    <a:lstStyle/>
                    <a:p>
                      <a:r>
                        <a:rPr lang="en-US" dirty="0"/>
                        <a:t>G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5877335"/>
                  </a:ext>
                </a:extLst>
              </a:tr>
              <a:tr h="319388">
                <a:tc>
                  <a:txBody>
                    <a:bodyPr/>
                    <a:lstStyle/>
                    <a:p>
                      <a:r>
                        <a:rPr lang="en-US" dirty="0"/>
                        <a:t>H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G,F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4528192"/>
                  </a:ext>
                </a:extLst>
              </a:tr>
              <a:tr h="319388">
                <a:tc>
                  <a:txBody>
                    <a:bodyPr/>
                    <a:lstStyle/>
                    <a:p>
                      <a:r>
                        <a:rPr lang="en-US" dirty="0"/>
                        <a:t>I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C,H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803834"/>
                  </a:ext>
                </a:extLst>
              </a:tr>
              <a:tr h="319388">
                <a:tc>
                  <a:txBody>
                    <a:bodyPr/>
                    <a:lstStyle/>
                    <a:p>
                      <a:r>
                        <a:rPr lang="en-US" dirty="0"/>
                        <a:t>J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9951307"/>
                  </a:ext>
                </a:extLst>
              </a:tr>
            </a:tbl>
          </a:graphicData>
        </a:graphic>
      </p:graphicFrame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4272F0-2818-4100-9555-EF92013DD4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08712" y="2226428"/>
            <a:ext cx="4825159" cy="576262"/>
          </a:xfrm>
        </p:spPr>
        <p:txBody>
          <a:bodyPr/>
          <a:lstStyle/>
          <a:p>
            <a:pPr algn="ctr"/>
            <a:r>
              <a:rPr lang="en-US" b="1" dirty="0"/>
              <a:t>PERT Chart</a:t>
            </a:r>
            <a:endParaRPr lang="LID4096" b="1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8BE8EE-8CCA-4918-AB38-45D32EA5E6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08711" y="2802690"/>
            <a:ext cx="4825159" cy="284003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.</a:t>
            </a:r>
            <a:endParaRPr lang="LID4096" dirty="0"/>
          </a:p>
        </p:txBody>
      </p: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8EEB98AF-4501-49F3-BA78-9D910C55C5B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7719624"/>
              </p:ext>
            </p:extLst>
          </p:nvPr>
        </p:nvGraphicFramePr>
        <p:xfrm>
          <a:off x="6186715" y="3382840"/>
          <a:ext cx="5804180" cy="28957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9" name="Edraw.Document" r:id="rId3" imgW="7935480" imgH="3959416" progId="EdrawMax.EdrawDocument.1">
                  <p:embed/>
                </p:oleObj>
              </mc:Choice>
              <mc:Fallback>
                <p:oleObj name="Edraw.Document" r:id="rId3" imgW="7935480" imgH="3959416" progId="EdrawMax.Edraw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186715" y="3382840"/>
                        <a:ext cx="5804180" cy="28957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5F8BABF-FC88-46F4-864E-A99620D5D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30944" y="6409870"/>
            <a:ext cx="3859795" cy="304801"/>
          </a:xfrm>
        </p:spPr>
        <p:txBody>
          <a:bodyPr/>
          <a:lstStyle/>
          <a:p>
            <a:r>
              <a:rPr lang="en-US" dirty="0"/>
              <a:t>PREPARED BY JAMES SOKO FOR CYBER SECURITY THIRD YEAR CLASS</a:t>
            </a:r>
            <a:endParaRPr lang="LID4096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B4E6205-9055-48F2-B3CF-E44B64B58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DD9D1-ED79-4BA9-B421-8B973A218A59}" type="slidenum">
              <a:rPr lang="LID4096" smtClean="0"/>
              <a:t>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131912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3EAB402-A880-420E-BC5D-9E42AAC7D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Forward &amp; Backward Pass</a:t>
            </a:r>
            <a:endParaRPr lang="LID4096" b="1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04DF9EA-9E37-4DB4-A841-D01F93BD8A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Slack, Critical Path &amp; Project Duration</a:t>
            </a:r>
            <a:endParaRPr lang="LID4096" b="1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A481139-3A61-4DFF-8D00-5A0DCE562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JAMES SOKO FOR CYBER SECURITY THIRD YEAR CLASS</a:t>
            </a:r>
            <a:endParaRPr lang="LID4096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F2B256D-3993-48B9-915A-0915D656C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DD9D1-ED79-4BA9-B421-8B973A218A59}" type="slidenum">
              <a:rPr lang="LID4096" smtClean="0"/>
              <a:t>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9042031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75A0C57-0468-4E9A-B125-732064896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CHARPTER 2</a:t>
            </a:r>
            <a:endParaRPr lang="LID4096" b="1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96C7C4-9779-4984-88AE-9083D0D25B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12899" y="2197974"/>
            <a:ext cx="4825157" cy="576262"/>
          </a:xfrm>
        </p:spPr>
        <p:txBody>
          <a:bodyPr/>
          <a:lstStyle/>
          <a:p>
            <a:pPr algn="ctr"/>
            <a:r>
              <a:rPr lang="en-US" b="1" dirty="0"/>
              <a:t>Question 1</a:t>
            </a:r>
            <a:endParaRPr lang="LID4096" b="1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BC2F6B2-A1B9-481C-A83D-5740D50395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54954" y="2774236"/>
            <a:ext cx="4825158" cy="2840039"/>
          </a:xfrm>
        </p:spPr>
        <p:txBody>
          <a:bodyPr/>
          <a:lstStyle/>
          <a:p>
            <a:pPr>
              <a:buFont typeface="+mj-lt"/>
              <a:buAutoNum type="arabicPeriod"/>
            </a:pPr>
            <a:r>
              <a:rPr lang="en-US" dirty="0"/>
              <a:t>Construct a network diagram.</a:t>
            </a:r>
          </a:p>
          <a:p>
            <a:pPr>
              <a:buFont typeface="+mj-lt"/>
              <a:buAutoNum type="arabicPeriod"/>
            </a:pPr>
            <a:r>
              <a:rPr lang="en-US" dirty="0"/>
              <a:t>Find the critical path.</a:t>
            </a:r>
          </a:p>
          <a:p>
            <a:pPr>
              <a:buFont typeface="+mj-lt"/>
              <a:buAutoNum type="arabicPeriod"/>
            </a:pPr>
            <a:r>
              <a:rPr lang="en-US" dirty="0"/>
              <a:t>Determine the duration the project is likely to take you to complete.</a:t>
            </a:r>
          </a:p>
          <a:p>
            <a:pPr marL="0" indent="0">
              <a:buNone/>
            </a:pPr>
            <a:endParaRPr lang="LID4096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2805772-51F7-4AF4-874D-415DBB5896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75063" y="2027238"/>
            <a:ext cx="4825159" cy="576262"/>
          </a:xfrm>
        </p:spPr>
        <p:txBody>
          <a:bodyPr/>
          <a:lstStyle/>
          <a:p>
            <a:pPr algn="ctr"/>
            <a:r>
              <a:rPr lang="en-US" b="1" dirty="0"/>
              <a:t>Data</a:t>
            </a:r>
            <a:endParaRPr lang="LID4096" b="1" dirty="0"/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7DC16B7D-2013-42AD-B5A8-1A6AEFBE75B1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1347464986"/>
              </p:ext>
            </p:extLst>
          </p:nvPr>
        </p:nvGraphicFramePr>
        <p:xfrm>
          <a:off x="6096000" y="2753680"/>
          <a:ext cx="5983287" cy="410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263">
                  <a:extLst>
                    <a:ext uri="{9D8B030D-6E8A-4147-A177-3AD203B41FA5}">
                      <a16:colId xmlns:a16="http://schemas.microsoft.com/office/drawing/2014/main" val="2101922408"/>
                    </a:ext>
                  </a:extLst>
                </a:gridCol>
                <a:gridCol w="2303172">
                  <a:extLst>
                    <a:ext uri="{9D8B030D-6E8A-4147-A177-3AD203B41FA5}">
                      <a16:colId xmlns:a16="http://schemas.microsoft.com/office/drawing/2014/main" val="32252946"/>
                    </a:ext>
                  </a:extLst>
                </a:gridCol>
                <a:gridCol w="2155852">
                  <a:extLst>
                    <a:ext uri="{9D8B030D-6E8A-4147-A177-3AD203B41FA5}">
                      <a16:colId xmlns:a16="http://schemas.microsoft.com/office/drawing/2014/main" val="1349984739"/>
                    </a:ext>
                  </a:extLst>
                </a:gridCol>
              </a:tblGrid>
              <a:tr h="446720">
                <a:tc>
                  <a:txBody>
                    <a:bodyPr/>
                    <a:lstStyle/>
                    <a:p>
                      <a:r>
                        <a:rPr lang="en-US" dirty="0"/>
                        <a:t>Activities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Dependencies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Duration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5856457"/>
                  </a:ext>
                </a:extLst>
              </a:tr>
              <a:tr h="341124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6120144"/>
                  </a:ext>
                </a:extLst>
              </a:tr>
              <a:tr h="341124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6429075"/>
                  </a:ext>
                </a:extLst>
              </a:tr>
              <a:tr h="341124"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6101344"/>
                  </a:ext>
                </a:extLst>
              </a:tr>
              <a:tr h="341124"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7634155"/>
                  </a:ext>
                </a:extLst>
              </a:tr>
              <a:tr h="341124">
                <a:tc>
                  <a:txBody>
                    <a:bodyPr/>
                    <a:lstStyle/>
                    <a:p>
                      <a:r>
                        <a:rPr lang="en-US" dirty="0"/>
                        <a:t>E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3470116"/>
                  </a:ext>
                </a:extLst>
              </a:tr>
              <a:tr h="341124"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9567430"/>
                  </a:ext>
                </a:extLst>
              </a:tr>
              <a:tr h="341124">
                <a:tc>
                  <a:txBody>
                    <a:bodyPr/>
                    <a:lstStyle/>
                    <a:p>
                      <a:r>
                        <a:rPr lang="en-US" dirty="0"/>
                        <a:t>G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4140415"/>
                  </a:ext>
                </a:extLst>
              </a:tr>
              <a:tr h="341124">
                <a:tc>
                  <a:txBody>
                    <a:bodyPr/>
                    <a:lstStyle/>
                    <a:p>
                      <a:r>
                        <a:rPr lang="en-US" dirty="0"/>
                        <a:t>H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4438048"/>
                  </a:ext>
                </a:extLst>
              </a:tr>
              <a:tr h="341124">
                <a:tc>
                  <a:txBody>
                    <a:bodyPr/>
                    <a:lstStyle/>
                    <a:p>
                      <a:r>
                        <a:rPr lang="en-US" dirty="0"/>
                        <a:t>I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8173263"/>
                  </a:ext>
                </a:extLst>
              </a:tr>
              <a:tr h="341124">
                <a:tc>
                  <a:txBody>
                    <a:bodyPr/>
                    <a:lstStyle/>
                    <a:p>
                      <a:r>
                        <a:rPr lang="en-US" dirty="0"/>
                        <a:t>J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G,H,I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872571"/>
                  </a:ext>
                </a:extLst>
              </a:tr>
            </a:tbl>
          </a:graphicData>
        </a:graphic>
      </p:graphicFrame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A257202C-4672-4B5E-A6A0-C3C1D38F9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JAMES SOKO FOR CYBER SECURITY THIRD YEAR CLASS</a:t>
            </a:r>
            <a:endParaRPr lang="LID4096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97FBAC46-A0FB-4FC6-8A5D-105FF63B3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DD9D1-ED79-4BA9-B421-8B973A218A59}" type="slidenum">
              <a:rPr lang="LID4096" smtClean="0"/>
              <a:t>7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428070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DE3E3D1-CCB4-406E-AB2B-ECE8582A0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CHARPTER 2 (Continues…)</a:t>
            </a:r>
            <a:endParaRPr lang="LID4096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8C852A0-40E8-4737-B30F-50AB022927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.</a:t>
            </a:r>
            <a:endParaRPr lang="LID4096" dirty="0"/>
          </a:p>
        </p:txBody>
      </p:sp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FCD4679E-77DC-4316-99EF-3C9DF0F5D82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6624608"/>
              </p:ext>
            </p:extLst>
          </p:nvPr>
        </p:nvGraphicFramePr>
        <p:xfrm>
          <a:off x="2581439" y="2336124"/>
          <a:ext cx="7797474" cy="45218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5" name="Edraw.Document" r:id="rId3" imgW="6386400" imgH="3702960" progId="EdrawMax.EdrawDocument.1">
                  <p:embed/>
                </p:oleObj>
              </mc:Choice>
              <mc:Fallback>
                <p:oleObj name="Edraw.Document" r:id="rId3" imgW="6386400" imgH="3702960" progId="EdrawMax.Edraw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581439" y="2336124"/>
                        <a:ext cx="7797474" cy="45218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AC4BCD8-BA03-41EC-9828-EA14594CD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JAMES SOKO FOR CYBER SECURITY THIRD YEAR CLASS</a:t>
            </a:r>
            <a:endParaRPr lang="LID4096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D9A1813-A2FE-4CF3-8275-68E55DF7C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DD9D1-ED79-4BA9-B421-8B973A218A59}" type="slidenum">
              <a:rPr lang="LID4096" smtClean="0"/>
              <a:t>8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263271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EA8D6D7-48C4-4AB8-8A6F-EF3CAA451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PERT Chart</a:t>
            </a:r>
            <a:endParaRPr lang="LID4096" b="1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3D9925-9199-4A9A-BE86-02E6ABE761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Drawing a Pert Chart using A Statement</a:t>
            </a:r>
            <a:endParaRPr lang="LID4096" b="1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045451-0032-48B7-8FE3-AEC634E94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JAMES SOKO FOR CYBER SECURITY THIRD YEAR CLASS</a:t>
            </a:r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79F463-AC64-499E-BA17-AEECD40D3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DD9D1-ED79-4BA9-B421-8B973A218A59}" type="slidenum">
              <a:rPr lang="LID4096" smtClean="0"/>
              <a:t>9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964004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264010A-C7F3-4E2B-AEAD-84E376047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CHARPTER 3</a:t>
            </a:r>
            <a:endParaRPr lang="LID4096" b="1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821500B-E121-416C-A5C6-9B2BB945CE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pt-BR" dirty="0"/>
              <a:t>E &gt; B, C; F, G &gt; D; H,I &gt; E, F; J &gt; I, G; K &gt; H; B &gt; A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3F8B66-DD64-49BC-A163-A36C1DC3C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JAMES SOKO FOR CYBER SECURITY THIRD YEAR CLASS</a:t>
            </a:r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20E7C8-593E-408C-B4CB-312DE60BE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DD9D1-ED79-4BA9-B421-8B973A218A59}" type="slidenum">
              <a:rPr lang="LID4096" smtClean="0"/>
              <a:t>10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448999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FA0D272-6F8E-4712-9529-2F335FB62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PERT Chart	</a:t>
            </a:r>
            <a:endParaRPr lang="LID4096" b="1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90B6153-CA10-4DB7-9C38-EF0F14AE6D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ES, EF, LF, LS, TF, FF, IND F, INT F &amp; TAIL AND HEAD SLACK</a:t>
            </a:r>
            <a:endParaRPr lang="LID4096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78692E-8ADA-4C23-AB59-3612F87AA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JAMES SOKO FOR CYBER SECURITY THIRD YEAR CLASS</a:t>
            </a:r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7E6AF9-B6DC-4953-BBDF-49E797EE4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DD9D1-ED79-4BA9-B421-8B973A218A59}" type="slidenum">
              <a:rPr lang="LID4096" smtClean="0"/>
              <a:t>11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160569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13EA737-B2C9-47AB-944D-07A2E36CF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CHAPTER 4</a:t>
            </a:r>
            <a:endParaRPr lang="LID4096" b="1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C298CB9-F66F-4998-8AF1-AE824C9ADD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55327" y="2162164"/>
            <a:ext cx="4825157" cy="576262"/>
          </a:xfrm>
        </p:spPr>
        <p:txBody>
          <a:bodyPr/>
          <a:lstStyle/>
          <a:p>
            <a:pPr algn="ctr"/>
            <a:r>
              <a:rPr lang="en-US" b="1" dirty="0"/>
              <a:t>Data</a:t>
            </a:r>
            <a:endParaRPr lang="LID4096" b="1" dirty="0"/>
          </a:p>
        </p:txBody>
      </p:sp>
      <p:graphicFrame>
        <p:nvGraphicFramePr>
          <p:cNvPr id="11" name="Table 11">
            <a:extLst>
              <a:ext uri="{FF2B5EF4-FFF2-40B4-BE49-F238E27FC236}">
                <a16:creationId xmlns:a16="http://schemas.microsoft.com/office/drawing/2014/main" id="{3EF2CD31-48AD-494E-A273-3731196BC4AB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63947669"/>
              </p:ext>
            </p:extLst>
          </p:nvPr>
        </p:nvGraphicFramePr>
        <p:xfrm>
          <a:off x="1155699" y="2738426"/>
          <a:ext cx="4824412" cy="407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2206">
                  <a:extLst>
                    <a:ext uri="{9D8B030D-6E8A-4147-A177-3AD203B41FA5}">
                      <a16:colId xmlns:a16="http://schemas.microsoft.com/office/drawing/2014/main" val="1995494410"/>
                    </a:ext>
                  </a:extLst>
                </a:gridCol>
                <a:gridCol w="2412206">
                  <a:extLst>
                    <a:ext uri="{9D8B030D-6E8A-4147-A177-3AD203B41FA5}">
                      <a16:colId xmlns:a16="http://schemas.microsoft.com/office/drawing/2014/main" val="28062869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Activities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Duration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98882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 – 2 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48240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 – 3 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88663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 – 5 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27932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 – 3 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82175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 – 4 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48119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 – 4 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88160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 – 5 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29320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 – 6 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09818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 – 6 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71708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 – 6 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6282243"/>
                  </a:ext>
                </a:extLst>
              </a:tr>
            </a:tbl>
          </a:graphicData>
        </a:graphic>
      </p:graphicFrame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0C2123B-44AF-4467-B303-997612B19B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US" b="1" dirty="0"/>
              <a:t>Question 1</a:t>
            </a:r>
            <a:endParaRPr lang="LID4096" b="1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ABB8C68-A8D8-46F9-912C-7B2CC2FDE4DD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en-US" dirty="0"/>
              <a:t>Calculate the Earliest Finish (EF), Eeliest Start (ES), Latest Finish (LF) and Latest Start (LS).</a:t>
            </a:r>
          </a:p>
          <a:p>
            <a:pPr>
              <a:buFont typeface="+mj-lt"/>
              <a:buAutoNum type="arabicPeriod"/>
            </a:pPr>
            <a:r>
              <a:rPr lang="en-US" dirty="0"/>
              <a:t>Compute the Total Float (TF), Free Float (FF), Independent Float (IND F) and Interfering Float (INT F).</a:t>
            </a:r>
          </a:p>
          <a:p>
            <a:pPr marL="0" indent="0">
              <a:buNone/>
            </a:pP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46C84F-D738-4B2A-BAEC-A8CF07B02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08712" y="6291262"/>
            <a:ext cx="3859795" cy="304801"/>
          </a:xfrm>
        </p:spPr>
        <p:txBody>
          <a:bodyPr/>
          <a:lstStyle/>
          <a:p>
            <a:r>
              <a:rPr lang="en-US" dirty="0"/>
              <a:t>PREPARED BY JAMES SOKO FOR CYBER SECURITY THIRD YEAR CLASS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52E5F6-83DE-492E-90B5-CBB1033AF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DD9D1-ED79-4BA9-B421-8B973A218A59}" type="slidenum">
              <a:rPr lang="LID4096" smtClean="0"/>
              <a:t>12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9318253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40BC94E-188D-4A44-9F94-F8CEC0CE4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PERT Chart</a:t>
            </a:r>
            <a:endParaRPr lang="LID4096" b="1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9AB1AB9-1072-4D30-BDBE-1320BA1D1D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To, tm, tp, te, Variance &amp; Standard Deviation </a:t>
            </a:r>
            <a:endParaRPr lang="LID4096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F9DB01-11D2-4B93-8601-36A66DB9B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JAMES SOKO FOR CYBER SECURITY THIRD YEAR CLASS</a:t>
            </a:r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DED415-2D55-4442-B8A3-33879BAE9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DD9D1-ED79-4BA9-B421-8B973A218A59}" type="slidenum">
              <a:rPr lang="LID4096" smtClean="0"/>
              <a:t>13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988606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B325223-29D2-4740-A099-77132511F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CHAPTER 5</a:t>
            </a:r>
            <a:endParaRPr lang="LID4096" b="1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04E9801-A8FD-4982-8C3E-7A936F3D5A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Will cover this chapter on 19</a:t>
            </a:r>
            <a:r>
              <a:rPr lang="en-US" baseline="30000" dirty="0"/>
              <a:t>th</a:t>
            </a:r>
            <a:r>
              <a:rPr lang="en-US" dirty="0"/>
              <a:t> September, 2025. Time to be communicated, and the venue still stands….. M202.</a:t>
            </a: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9C41F1-68B3-4027-ABF2-C486D92BB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JAMES SOKO FOR CYBER SECURITY THIRD YEAR CLASS</a:t>
            </a:r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D72021-1E36-4566-B18D-9193DDDD5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DD9D1-ED79-4BA9-B421-8B973A218A59}" type="slidenum">
              <a:rPr lang="LID4096" smtClean="0"/>
              <a:t>14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1441550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339</TotalTime>
  <Words>503</Words>
  <Application>Microsoft Office PowerPoint</Application>
  <PresentationFormat>Widescreen</PresentationFormat>
  <Paragraphs>149</Paragraphs>
  <Slides>14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Century Gothic</vt:lpstr>
      <vt:lpstr>Wingdings 3</vt:lpstr>
      <vt:lpstr>Ion Boardroom</vt:lpstr>
      <vt:lpstr>Edraw.Document</vt:lpstr>
      <vt:lpstr>PERT CHARTS </vt:lpstr>
      <vt:lpstr>Objectives</vt:lpstr>
      <vt:lpstr>PERT Charts</vt:lpstr>
      <vt:lpstr>CHARTER 1</vt:lpstr>
      <vt:lpstr>CHARTER 1 (Continues…)</vt:lpstr>
      <vt:lpstr>Forward &amp; Backward Pass</vt:lpstr>
      <vt:lpstr>CHARPTER 2</vt:lpstr>
      <vt:lpstr>CHARPTER 2 (Continues…)</vt:lpstr>
      <vt:lpstr>PERT Chart</vt:lpstr>
      <vt:lpstr>CHARPTER 3</vt:lpstr>
      <vt:lpstr>PERT Chart </vt:lpstr>
      <vt:lpstr>CHAPTER 4</vt:lpstr>
      <vt:lpstr>PERT Chart</vt:lpstr>
      <vt:lpstr>CHAPTER 5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PERT CHARTS</dc:title>
  <dc:creator>James Soko</dc:creator>
  <cp:lastModifiedBy>James Soko</cp:lastModifiedBy>
  <cp:revision>60</cp:revision>
  <dcterms:created xsi:type="dcterms:W3CDTF">2025-09-17T09:07:24Z</dcterms:created>
  <dcterms:modified xsi:type="dcterms:W3CDTF">2025-09-18T15:20:35Z</dcterms:modified>
</cp:coreProperties>
</file>