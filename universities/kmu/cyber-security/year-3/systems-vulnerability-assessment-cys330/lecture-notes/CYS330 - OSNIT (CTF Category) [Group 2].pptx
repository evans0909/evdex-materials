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65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749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492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129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155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978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414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130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4714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69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3371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9821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7329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124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2690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6924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636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8728F84-C3C3-407A-AB94-93D1333E3BDD}" type="datetimeFigureOut">
              <a:rPr lang="LID4096" smtClean="0"/>
              <a:t>03/17/2025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0C0AE50-79E1-4B49-BE4B-E608B139EFF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572527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" TargetMode="External"/><Relationship Id="rId2" Type="http://schemas.openxmlformats.org/officeDocument/2006/relationships/hyperlink" Target="https://github.com/sherlock-project/sherlock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hyperlink" Target="https://cybertalents.com/challenges/osc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hyperlink" Target="https://bitly.com/3frKIAX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astebin.com/u/rzsdw2iwug77eda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7" Type="http://schemas.openxmlformats.org/officeDocument/2006/relationships/image" Target="../media/image17.png"/><Relationship Id="rId2" Type="http://schemas.openxmlformats.org/officeDocument/2006/relationships/hyperlink" Target="https://web.archive.org/web/*/https:/disqus.com/by/soremanzo/*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tmp"/><Relationship Id="rId5" Type="http://schemas.openxmlformats.org/officeDocument/2006/relationships/image" Target="../media/image15.tmp"/><Relationship Id="rId4" Type="http://schemas.openxmlformats.org/officeDocument/2006/relationships/image" Target="../media/image14.tm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osintframework.com/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E2D0-ED90-4B28-8A6D-A189D7983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Open source intelligence (osINT)</a:t>
            </a:r>
            <a:endParaRPr lang="LID4096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69CFA-1C9F-445F-A4C9-D948188AD5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CTF Challenges</a:t>
            </a:r>
            <a:endParaRPr lang="LID4096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13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2DF4-E3C2-4B9F-97D7-BC52F857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Group 2 members &amp; their objectives</a:t>
            </a:r>
            <a:endParaRPr lang="LID4096" sz="3200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A87733-2D3C-4116-BF1E-64E98227F97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39732148"/>
              </p:ext>
            </p:extLst>
          </p:nvPr>
        </p:nvGraphicFramePr>
        <p:xfrm>
          <a:off x="684213" y="685800"/>
          <a:ext cx="4937124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2522">
                  <a:extLst>
                    <a:ext uri="{9D8B030D-6E8A-4147-A177-3AD203B41FA5}">
                      <a16:colId xmlns:a16="http://schemas.microsoft.com/office/drawing/2014/main" val="952910244"/>
                    </a:ext>
                  </a:extLst>
                </a:gridCol>
                <a:gridCol w="1854602">
                  <a:extLst>
                    <a:ext uri="{9D8B030D-6E8A-4147-A177-3AD203B41FA5}">
                      <a16:colId xmlns:a16="http://schemas.microsoft.com/office/drawing/2014/main" val="37633755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108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James Soko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20231392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9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Boyd Phiri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20231939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99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Albertina Mwewa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20231875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006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Ben Zulu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20231886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88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Obed Mwape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20231799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082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Alinuswe Simbeye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20231271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428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Violet Kikumbaila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20231791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312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Cindy Ngandalo 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22175202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228950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88EB98-342C-4380-9EDF-FE05D8F64A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Understand OSINT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Understand the use of Sherlock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Understand the use of WayBack Machine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Understand the OSINT Framework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OSINT in Systems Vulnerability Assessment </a:t>
            </a:r>
            <a:endParaRPr lang="LID4096" sz="2400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13CDFC-BB06-47C0-82F9-C54B3A90A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517" y="1971535"/>
            <a:ext cx="1158270" cy="145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5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71831F-7995-49AF-B733-09EF21D1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OSNIT DEFINATION 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850CB-6DC4-4680-8186-BF842039E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400" b="1" dirty="0">
                <a:solidFill>
                  <a:schemeClr val="tx1"/>
                </a:solidFill>
              </a:rPr>
              <a:t>OSINT</a:t>
            </a:r>
            <a:r>
              <a:rPr lang="en-US" sz="2400" dirty="0">
                <a:solidFill>
                  <a:schemeClr val="tx1"/>
                </a:solidFill>
              </a:rPr>
              <a:t>, or </a:t>
            </a:r>
            <a:r>
              <a:rPr lang="en-US" sz="2400" b="1" dirty="0">
                <a:solidFill>
                  <a:schemeClr val="tx1"/>
                </a:solidFill>
              </a:rPr>
              <a:t>Open-Source Intelligence</a:t>
            </a:r>
            <a:r>
              <a:rPr lang="en-US" sz="2400" dirty="0">
                <a:solidFill>
                  <a:schemeClr val="tx1"/>
                </a:solidFill>
              </a:rPr>
              <a:t>, is the practice of gathering, analyzing, and disseminating information from publicly available sources to address specific intelligence requirements. </a:t>
            </a:r>
          </a:p>
          <a:p>
            <a:r>
              <a:rPr lang="en-US" sz="2400" dirty="0">
                <a:solidFill>
                  <a:schemeClr val="tx1"/>
                </a:solidFill>
              </a:rPr>
              <a:t> In the context of </a:t>
            </a:r>
            <a:r>
              <a:rPr lang="en-US" sz="2400" b="1" dirty="0">
                <a:solidFill>
                  <a:schemeClr val="tx1"/>
                </a:solidFill>
              </a:rPr>
              <a:t>Capture The Flag (CTF) </a:t>
            </a:r>
            <a:r>
              <a:rPr lang="en-US" sz="2400" dirty="0">
                <a:solidFill>
                  <a:schemeClr val="tx1"/>
                </a:solidFill>
              </a:rPr>
              <a:t>competitions, OSINT, or Open Source Intelligence, refers to the practice of gathering and analyzing publicly available information to solve challenges and find hidden flags. </a:t>
            </a:r>
            <a:endParaRPr lang="LID4096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43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71AF-EFD5-4C91-9506-08A8C3516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OSNIT TOOLS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93A30-4274-4CC9-A7A8-037919FD96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Sherlock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 This is a Linux command line tools that is used to search through different platforms(e.g.: twitter, Facebook) for the presence of the account of the username that you will provide to it.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 Install on Linux terminal with </a:t>
            </a:r>
            <a:r>
              <a:rPr lang="en-US" b="1" dirty="0">
                <a:solidFill>
                  <a:schemeClr val="tx1"/>
                </a:solidFill>
              </a:rPr>
              <a:t>sudo apt install sherlock </a:t>
            </a:r>
            <a:r>
              <a:rPr lang="en-US" dirty="0">
                <a:solidFill>
                  <a:schemeClr val="tx1"/>
                </a:solidFill>
              </a:rPr>
              <a:t>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 Download the tool on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EC0F2-56A4-4D05-99E5-2D2BDD48AC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2"/>
            </a:pPr>
            <a:r>
              <a:rPr lang="en-US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Way Back Machine</a:t>
            </a:r>
            <a:endParaRPr lang="en-US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The WayBack Machine is an online tool that allows users to access archived versions of websites from the past.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provides a timeline of snapshots to analyze the evolution and growth of a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can as well as retrieve information that may no longer be available on the current website.</a:t>
            </a:r>
          </a:p>
        </p:txBody>
      </p:sp>
    </p:spTree>
    <p:extLst>
      <p:ext uri="{BB962C8B-B14F-4D97-AF65-F5344CB8AC3E}">
        <p14:creationId xmlns:p14="http://schemas.microsoft.com/office/powerpoint/2010/main" val="345324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71E7-2F89-445F-9C57-3A02271C1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Cyber talents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ADDD-93EF-4DC6-B56B-86B4B8E69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Sign up for </a:t>
            </a:r>
            <a:r>
              <a:rPr lang="en-US" sz="2800" b="1" dirty="0">
                <a:solidFill>
                  <a:schemeClr val="tx1"/>
                </a:solidFill>
              </a:rPr>
              <a:t>CyberTalents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Practice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Source Cyber Intelligence </a:t>
            </a:r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377223-9CB4-41F1-B071-F1CA95468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13" y="1996275"/>
            <a:ext cx="4132211" cy="277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2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E818-BD0A-4B13-8224-0EF06D26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0261-9DB9-41A9-91AA-DA2418408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b="1" dirty="0">
                <a:solidFill>
                  <a:schemeClr val="tx1"/>
                </a:solidFill>
              </a:rPr>
              <a:t>Challenges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sz="36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AF66C-44A8-4319-B80C-88D4F46CF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47" y="1415071"/>
            <a:ext cx="8198271" cy="1162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57D7CE-AA5C-4F4A-A80F-4A770BB1A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47" y="2612933"/>
            <a:ext cx="8223673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4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E23E-A91A-46E8-9B62-4F769B90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Missing person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4A6B3-340C-4CF3-9EA4-5BA75051A1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Downloading the attached PDF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2636C4-EDE3-4D81-A5AF-2CA5A4B16C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117" y="1165225"/>
            <a:ext cx="4807671" cy="482917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39B93D-FBDD-47F6-841C-ECC466747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209" y="1457107"/>
            <a:ext cx="5073911" cy="33593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79DF8C-748D-4E1A-810D-F34E532CC5C6}"/>
              </a:ext>
            </a:extLst>
          </p:cNvPr>
          <p:cNvSpPr/>
          <p:nvPr/>
        </p:nvSpPr>
        <p:spPr>
          <a:xfrm>
            <a:off x="7334054" y="4562573"/>
            <a:ext cx="1348033" cy="2538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895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18C11-F0AB-4188-9045-DD264E08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Missing person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EFDF5-08F8-4CF2-A961-E09693DF8A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NOTE:</a:t>
            </a:r>
            <a:r>
              <a:rPr lang="en-US" sz="2800" dirty="0">
                <a:solidFill>
                  <a:schemeClr val="tx1"/>
                </a:solidFill>
              </a:rPr>
              <a:t> We are left with this link  </a:t>
            </a:r>
            <a:r>
              <a:rPr lang="en-US" sz="28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https://bitly.com/3frKIAX</a:t>
            </a:r>
            <a:r>
              <a:rPr lang="en-US" sz="2800" dirty="0">
                <a:solidFill>
                  <a:schemeClr val="tx1"/>
                </a:solidFill>
              </a:rPr>
              <a:t> from the sticky note.</a:t>
            </a:r>
          </a:p>
          <a:p>
            <a:r>
              <a:rPr lang="en-US" sz="2800" dirty="0">
                <a:solidFill>
                  <a:schemeClr val="tx1"/>
                </a:solidFill>
              </a:rPr>
              <a:t> This link redirects us to X (Twitter)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A764F-A8E3-42DF-B52E-DA8A956DAA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 Notice the username from the URL</a:t>
            </a: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sz="32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8DAD33-828C-4ABB-B27E-B3CF2399CA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" t="-210" r="-1"/>
          <a:stretch/>
        </p:blipFill>
        <p:spPr>
          <a:xfrm>
            <a:off x="6309884" y="1649690"/>
            <a:ext cx="5135269" cy="11312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E16CE7-FBB7-461B-9D10-970B3B611CB9}"/>
              </a:ext>
            </a:extLst>
          </p:cNvPr>
          <p:cNvSpPr/>
          <p:nvPr/>
        </p:nvSpPr>
        <p:spPr>
          <a:xfrm>
            <a:off x="8275372" y="2342604"/>
            <a:ext cx="1593130" cy="301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257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79DA-4DD9-430A-9C28-31B23865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Missing person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1390-07F9-441B-BE85-47AB4E1D6B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 We use the sherlock tool to find this missing user.</a:t>
            </a:r>
          </a:p>
          <a:p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sherlock rzsdw2iwug77eda</a:t>
            </a:r>
            <a:endParaRPr lang="LID4096" sz="2400" b="1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D33667-E5AF-49FF-A3D6-4E635D33D5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288" y="214647"/>
            <a:ext cx="6216594" cy="408642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30602C-D593-4EA7-8C43-7C97316B27E9}"/>
              </a:ext>
            </a:extLst>
          </p:cNvPr>
          <p:cNvSpPr/>
          <p:nvPr/>
        </p:nvSpPr>
        <p:spPr>
          <a:xfrm>
            <a:off x="6096000" y="2818614"/>
            <a:ext cx="4037814" cy="2545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676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5643-1FBC-448C-9788-1EADE8C8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Missing person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6E79-42EE-499F-9E8E-9F420126B1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Notice the date using the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Pastebin URL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7C496-027A-487C-A961-1D40674D4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034" y="685801"/>
            <a:ext cx="4934479" cy="361526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 flag{dd-mm-yyyy_hh:mm}</a:t>
            </a:r>
          </a:p>
          <a:p>
            <a:r>
              <a:rPr lang="en-US" sz="2400" dirty="0">
                <a:solidFill>
                  <a:schemeClr val="tx1"/>
                </a:solidFill>
              </a:rPr>
              <a:t> flag{14-04-2021_08:07}</a:t>
            </a:r>
          </a:p>
          <a:p>
            <a:r>
              <a:rPr lang="en-US" sz="2400" dirty="0">
                <a:solidFill>
                  <a:schemeClr val="tx1"/>
                </a:solidFill>
              </a:rPr>
              <a:t> This flag is incorrect, because we’ve identified the timestamp is he last seen online not the day he went missing.</a:t>
            </a:r>
            <a:endParaRPr lang="LID4096" sz="2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731E40-8951-4B3C-8673-68FE0E46C9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9" r="57629" b="63024"/>
          <a:stretch/>
        </p:blipFill>
        <p:spPr>
          <a:xfrm>
            <a:off x="1055802" y="1616740"/>
            <a:ext cx="5165889" cy="175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0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EC5D-6DF4-4A92-A981-D70BCD88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Missing person (continues…)</a:t>
            </a:r>
            <a:endParaRPr lang="LID4096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9420-CBD2-42F5-98B2-9E83B11114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Remember a sticky note was left in his room and bitly link on it.</a:t>
            </a:r>
          </a:p>
          <a:p>
            <a:r>
              <a:rPr lang="en-US" dirty="0">
                <a:solidFill>
                  <a:schemeClr val="tx1"/>
                </a:solidFill>
              </a:rPr>
              <a:t> Lets now find out when that link was created.</a:t>
            </a: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3999F-D665-4C5B-92BD-7CF8C14D52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 The + at the end of a Bitly link will: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 Help view the full original URL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Help us click on the analytics (if public)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Help us see when the link was created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sz="18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779BF-64A6-4D00-A3F9-051830CEC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410" y="2493433"/>
            <a:ext cx="5010407" cy="28004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DD1215-9DFB-4073-B6A2-1C89467BE342}"/>
              </a:ext>
            </a:extLst>
          </p:cNvPr>
          <p:cNvSpPr/>
          <p:nvPr/>
        </p:nvSpPr>
        <p:spPr>
          <a:xfrm>
            <a:off x="6409410" y="4213781"/>
            <a:ext cx="1329996" cy="2735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E69C41-E8F9-4A9E-8176-7D4A3E90BD6D}"/>
              </a:ext>
            </a:extLst>
          </p:cNvPr>
          <p:cNvSpPr/>
          <p:nvPr/>
        </p:nvSpPr>
        <p:spPr>
          <a:xfrm>
            <a:off x="7739406" y="2493433"/>
            <a:ext cx="1329996" cy="273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350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998CC-D110-4EAF-9269-E72A9845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Missing person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13A86-EF2D-45DC-991A-87B0788977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flag{dd-mm-yyyy_hh:mm}</a:t>
            </a:r>
          </a:p>
          <a:p>
            <a:r>
              <a:rPr lang="en-US" sz="2400" dirty="0">
                <a:solidFill>
                  <a:schemeClr val="tx1"/>
                </a:solidFill>
              </a:rPr>
              <a:t> flag{17-05-2021_09:29}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B8B65-450F-4C66-B377-4A4A5A42A2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 Finally we’ve got our flag.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C809A-DB1A-4B6A-9492-B89035222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841" y="2493433"/>
            <a:ext cx="3711279" cy="49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72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B57C-201D-4B7C-B90E-A3847A13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Invincible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6BB6-0224-4EB3-9AC0-E03840F922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Our threat intelligence team has noticed suspicious behavior from the user "</a:t>
            </a:r>
            <a:r>
              <a:rPr lang="en-US" b="1" dirty="0">
                <a:solidFill>
                  <a:schemeClr val="tx1"/>
                </a:solidFill>
              </a:rPr>
              <a:t>soremanzo</a:t>
            </a:r>
            <a:r>
              <a:rPr lang="en-US" dirty="0">
                <a:solidFill>
                  <a:schemeClr val="tx1"/>
                </a:solidFill>
              </a:rPr>
              <a:t>" , Can you trace him and find what he is trying to hide.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6D1B3-5A72-4AD3-AC56-6C33862D12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Based on the knowledge we’ve gained in the first challenge, will use </a:t>
            </a:r>
            <a:r>
              <a:rPr lang="en-US" b="1" dirty="0">
                <a:solidFill>
                  <a:schemeClr val="tx1"/>
                </a:solidFill>
              </a:rPr>
              <a:t>sherlock</a:t>
            </a:r>
            <a:r>
              <a:rPr lang="en-US" dirty="0">
                <a:solidFill>
                  <a:schemeClr val="tx1"/>
                </a:solidFill>
              </a:rPr>
              <a:t> tool to search for this user.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DE118-FEBB-4AAF-AC02-5F9A2EDAA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581" y="1934188"/>
            <a:ext cx="5716033" cy="38538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D732BB-3181-44F6-88C9-4C1497C41FE6}"/>
              </a:ext>
            </a:extLst>
          </p:cNvPr>
          <p:cNvSpPr/>
          <p:nvPr/>
        </p:nvSpPr>
        <p:spPr>
          <a:xfrm>
            <a:off x="6523348" y="2988297"/>
            <a:ext cx="3026005" cy="2450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764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E55B-B94D-4C78-8AC7-FBACED2A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Invincible (continues…)</a:t>
            </a:r>
            <a:endParaRPr lang="LID4096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5105-F0CB-4E40-BECF-CF217E281D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It seems like the user deleted the flag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7BD45-1CE0-4937-A04A-CCC8C7714E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Use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Way Back Machine </a:t>
            </a:r>
            <a:r>
              <a:rPr lang="en-US" dirty="0">
                <a:solidFill>
                  <a:schemeClr val="tx1"/>
                </a:solidFill>
              </a:rPr>
              <a:t>to see the changes that were made on this site.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F82614-DA70-4236-BED6-2D8D47DA2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79" y="1565212"/>
            <a:ext cx="3812417" cy="32822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A3DE50-23A7-449F-8D7B-59841C117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28" y="1858400"/>
            <a:ext cx="4941393" cy="10073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EBA26BE-AC6A-4978-8F50-CB3A13BC5F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28" y="2990778"/>
            <a:ext cx="4941393" cy="1403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DE418FF-DFE3-4E70-968A-7F47DA59E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28" y="4543977"/>
            <a:ext cx="4941393" cy="14034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95C63D-7783-4B91-85FA-342FDC047E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428" y="6004043"/>
            <a:ext cx="4941394" cy="62351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CCBF805-CBA3-4DA6-930C-681832D21631}"/>
              </a:ext>
            </a:extLst>
          </p:cNvPr>
          <p:cNvSpPr/>
          <p:nvPr/>
        </p:nvSpPr>
        <p:spPr>
          <a:xfrm>
            <a:off x="6457361" y="2554664"/>
            <a:ext cx="1677971" cy="24984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C935ED-5552-48D4-96AC-A06DC965AB92}"/>
              </a:ext>
            </a:extLst>
          </p:cNvPr>
          <p:cNvSpPr/>
          <p:nvPr/>
        </p:nvSpPr>
        <p:spPr>
          <a:xfrm>
            <a:off x="8229600" y="3429000"/>
            <a:ext cx="1838227" cy="18146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50DABB-CB23-4EAA-BA28-049EE898B0B0}"/>
              </a:ext>
            </a:extLst>
          </p:cNvPr>
          <p:cNvSpPr/>
          <p:nvPr/>
        </p:nvSpPr>
        <p:spPr>
          <a:xfrm>
            <a:off x="7456602" y="5646656"/>
            <a:ext cx="2978870" cy="18853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B2BECE-7420-4FAD-B146-721E07C9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Systems vulnerability assessment </a:t>
            </a:r>
            <a:endParaRPr lang="LID4096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257EE8E-D807-4550-82EB-B89BE90B0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4620974"/>
              </p:ext>
            </p:extLst>
          </p:nvPr>
        </p:nvGraphicFramePr>
        <p:xfrm>
          <a:off x="684213" y="685800"/>
          <a:ext cx="10939036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086">
                  <a:extLst>
                    <a:ext uri="{9D8B030D-6E8A-4147-A177-3AD203B41FA5}">
                      <a16:colId xmlns:a16="http://schemas.microsoft.com/office/drawing/2014/main" val="3661164877"/>
                    </a:ext>
                  </a:extLst>
                </a:gridCol>
                <a:gridCol w="3214540">
                  <a:extLst>
                    <a:ext uri="{9D8B030D-6E8A-4147-A177-3AD203B41FA5}">
                      <a16:colId xmlns:a16="http://schemas.microsoft.com/office/drawing/2014/main" val="318675598"/>
                    </a:ext>
                  </a:extLst>
                </a:gridCol>
                <a:gridCol w="6193410">
                  <a:extLst>
                    <a:ext uri="{9D8B030D-6E8A-4147-A177-3AD203B41FA5}">
                      <a16:colId xmlns:a16="http://schemas.microsoft.com/office/drawing/2014/main" val="3555551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Tool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in Vulnerability Assessment 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887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WayBack Machine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Archives old versions of websites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Find exposed credentials, admin portals, or sensitive data.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Analyze past security flaws and outdated technologies.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security changes over time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48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Sherlock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chemeClr val="tx1"/>
                          </a:solidFill>
                        </a:rPr>
                        <a:t>Finds usernames across platforms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Identify exposed usernames for credential attacks.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Detect impersonation and phishing risks.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Support reconnaissance for penetration testing.</a:t>
                      </a:r>
                      <a:endParaRPr lang="LID4096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69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466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EC16D6-290B-41B8-96AA-0D51FAA8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OSINT FRAME WORK</a:t>
            </a:r>
            <a:endParaRPr lang="LID4096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BFED0A-3344-4839-A834-09774B56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OSINT framework </a:t>
            </a:r>
            <a:r>
              <a:rPr lang="en-US" sz="2400" dirty="0">
                <a:solidFill>
                  <a:schemeClr val="tx1"/>
                </a:solidFill>
              </a:rPr>
              <a:t>focused on gathering information from free tools or resources.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The intention is to help people find free OSINT resources.</a:t>
            </a:r>
            <a:endParaRPr lang="LID4096" sz="2400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A482F8-F0EB-4452-B72C-F4699688E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6200"/>
            <a:ext cx="4706930" cy="152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5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AECB47-651C-4702-9AE5-84B51034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84" y="2799934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END OF PRESENTATION</a:t>
            </a:r>
            <a:endParaRPr lang="LID4096" sz="4800" b="1" dirty="0"/>
          </a:p>
        </p:txBody>
      </p:sp>
    </p:spTree>
    <p:extLst>
      <p:ext uri="{BB962C8B-B14F-4D97-AF65-F5344CB8AC3E}">
        <p14:creationId xmlns:p14="http://schemas.microsoft.com/office/powerpoint/2010/main" val="95816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311</TotalTime>
  <Words>668</Words>
  <Application>Microsoft Office PowerPoint</Application>
  <PresentationFormat>Widescreen</PresentationFormat>
  <Paragraphs>119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Wingdings</vt:lpstr>
      <vt:lpstr>Wingdings 3</vt:lpstr>
      <vt:lpstr>Slice</vt:lpstr>
      <vt:lpstr>Open source intelligence (osINT)</vt:lpstr>
      <vt:lpstr>Group 2 members &amp; their objectives</vt:lpstr>
      <vt:lpstr>OSNIT DEFINATION </vt:lpstr>
      <vt:lpstr>OSNIT TOOLS </vt:lpstr>
      <vt:lpstr>Cyber talents </vt:lpstr>
      <vt:lpstr>CHALLENGE </vt:lpstr>
      <vt:lpstr>Missing person </vt:lpstr>
      <vt:lpstr>Missing person (continues…)</vt:lpstr>
      <vt:lpstr>Missing person (continues…)</vt:lpstr>
      <vt:lpstr>Missing person (continues…)</vt:lpstr>
      <vt:lpstr>Missing person (continues…)</vt:lpstr>
      <vt:lpstr>Missing person (continues…)</vt:lpstr>
      <vt:lpstr>Invincible </vt:lpstr>
      <vt:lpstr>Invincible (continues…)</vt:lpstr>
      <vt:lpstr>Systems vulnerability assessment </vt:lpstr>
      <vt:lpstr>OSINT FRAME WORK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source intelligence (osnit)</dc:title>
  <dc:creator>James Soko</dc:creator>
  <cp:lastModifiedBy>James Soko</cp:lastModifiedBy>
  <cp:revision>63</cp:revision>
  <dcterms:created xsi:type="dcterms:W3CDTF">2025-03-16T07:22:37Z</dcterms:created>
  <dcterms:modified xsi:type="dcterms:W3CDTF">2025-03-17T07:40:20Z</dcterms:modified>
</cp:coreProperties>
</file>