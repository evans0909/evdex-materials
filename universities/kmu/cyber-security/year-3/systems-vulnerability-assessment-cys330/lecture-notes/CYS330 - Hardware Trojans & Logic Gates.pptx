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8" r:id="rId1"/>
  </p:sldMasterIdLst>
  <p:notesMasterIdLst>
    <p:notesMasterId r:id="rId12"/>
  </p:notesMasterIdLst>
  <p:sldIdLst>
    <p:sldId id="256" r:id="rId2"/>
    <p:sldId id="284" r:id="rId3"/>
    <p:sldId id="315" r:id="rId4"/>
    <p:sldId id="316" r:id="rId5"/>
    <p:sldId id="317" r:id="rId6"/>
    <p:sldId id="318" r:id="rId7"/>
    <p:sldId id="319" r:id="rId8"/>
    <p:sldId id="412" r:id="rId9"/>
    <p:sldId id="413" r:id="rId10"/>
    <p:sldId id="41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4970E8-EBEC-4B17-9981-540EDA20007C}" type="datetimeFigureOut">
              <a:rPr lang="LID4096" smtClean="0"/>
              <a:t>10/15/2025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9CDA2F-4A61-4AB9-9F67-F800E174193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01630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C75C900B-D37D-4BA7-A9BE-6F8F4C730E73}" type="datetime1">
              <a:rPr lang="LID4096" smtClean="0"/>
              <a:t>10/15/2025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39951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EE4D7-4899-4AC0-8A2B-971563879D03}" type="datetime1">
              <a:rPr lang="LID4096" smtClean="0"/>
              <a:t>10/15/2025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13755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DAA27-34EF-419A-A21B-B62F6FC47252}" type="datetime1">
              <a:rPr lang="LID4096" smtClean="0"/>
              <a:t>10/15/2025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97202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9C8D-BA9F-45CB-97CC-20C0D1B48E29}" type="datetime1">
              <a:rPr lang="LID4096" smtClean="0"/>
              <a:t>10/15/2025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08531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4776C-42A2-45CC-AE47-D4FF21D12911}" type="datetime1">
              <a:rPr lang="LID4096" smtClean="0"/>
              <a:t>10/15/2025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97340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A6F3-D201-4388-AF48-65415D5FE10C}" type="datetime1">
              <a:rPr lang="LID4096" smtClean="0"/>
              <a:t>10/15/2025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22669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A3DF2-0D13-4ADA-B534-60CBDCC4C3D0}" type="datetime1">
              <a:rPr lang="LID4096" smtClean="0"/>
              <a:t>10/15/2025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42715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63457-F0B3-4C98-A8C1-3723A765C8D7}" type="datetime1">
              <a:rPr lang="LID4096" smtClean="0"/>
              <a:t>10/15/2025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75285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2EB19-8909-4F21-B1E7-29411BE5F101}" type="datetime1">
              <a:rPr lang="LID4096" smtClean="0"/>
              <a:t>10/15/2025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66784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220D5-17EC-44DA-B4FF-83A376CE1AE8}" type="datetime1">
              <a:rPr lang="LID4096" smtClean="0"/>
              <a:t>10/15/2025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08030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1F22B-A096-4D72-8B1F-A2065347EC63}" type="datetime1">
              <a:rPr lang="LID4096" smtClean="0"/>
              <a:t>10/15/2025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73823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BAA9-3BC4-4530-A52B-89CAD9A46DB8}" type="datetime1">
              <a:rPr lang="LID4096" smtClean="0"/>
              <a:t>10/15/2025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13037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D2EEC-E7AF-483A-8F76-12FF7F8594A4}" type="datetime1">
              <a:rPr lang="LID4096" smtClean="0"/>
              <a:t>10/15/2025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419911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ED23B-6EDA-4F9E-99F9-577FD3B41D55}" type="datetime1">
              <a:rPr lang="LID4096" smtClean="0"/>
              <a:t>10/15/2025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617733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FA0EB-0A94-484B-B852-9E3410130E9D}" type="datetime1">
              <a:rPr lang="LID4096" smtClean="0"/>
              <a:t>10/15/2025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18296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F95DD-E87D-48C2-A21D-16BF9416B98D}" type="datetime1">
              <a:rPr lang="LID4096" smtClean="0"/>
              <a:t>10/15/2025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766619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8917D-6DD0-4440-8F79-CC7921395BC0}" type="datetime1">
              <a:rPr lang="LID4096" smtClean="0"/>
              <a:t>10/15/2025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02104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5E4E13-8CE7-48B4-8974-A9E684A5CB96}" type="datetime1">
              <a:rPr lang="LID4096" smtClean="0"/>
              <a:t>10/15/2025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11B12-96E3-4CC6-8596-5FF84CCB8B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677180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2563E-0582-4479-AA30-39CF2A0801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SYSTEMS VULNERABILITY ASSESSMENT</a:t>
            </a:r>
            <a:endParaRPr lang="LID4096" sz="4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54F849-F28B-4C96-A026-398C506075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/>
              <a:t>CYS330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2467572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F1FD01-75D7-4233-B3E6-356667EE18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/>
              <a:t>OPERATING SYSTEM </a:t>
            </a:r>
            <a:endParaRPr lang="LID4096" b="1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182BB3E-A2B4-4640-95B3-8447C845F7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/>
              <a:t>SCHEDULING ALGORITHMS 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4136364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A8297-C4AA-465F-8118-80810D694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Hardware Trojans (HT)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83A82-3D8A-46DA-8F45-8725DB0B6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A </a:t>
            </a:r>
            <a:r>
              <a:rPr lang="en-US" b="1" dirty="0"/>
              <a:t>hardware trojan </a:t>
            </a:r>
            <a:r>
              <a:rPr lang="en-US" dirty="0"/>
              <a:t>is a malicious modification of an integrated circuit’s circuitry, designed to disrupt operations, steal data, or cause physical harm or death.</a:t>
            </a:r>
          </a:p>
          <a:p>
            <a:r>
              <a:rPr lang="en-US" dirty="0"/>
              <a:t> These modifications can be inserted during the design or manufacturing stages, often through untrust third-party components or intellectual property cores.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663F3-5C42-4D42-A064-6701EAC4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9F1A83-DC44-4171-BF3D-63790BB9F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81487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2769B-B609-4B4F-BE6C-E1068E583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Characteristics of Hardware Trojans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140B1-1ACA-4CAA-9ED5-7A72679B0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/>
              <a:t>Size</a:t>
            </a:r>
            <a:r>
              <a:rPr lang="en-US" dirty="0"/>
              <a:t> – This refers to the number of components added or modified. Trojans can range from </a:t>
            </a:r>
            <a:r>
              <a:rPr lang="en-US" b="1" dirty="0"/>
              <a:t>small transistors </a:t>
            </a:r>
            <a:r>
              <a:rPr lang="en-US" dirty="0"/>
              <a:t>to </a:t>
            </a:r>
            <a:r>
              <a:rPr lang="en-US" b="1" dirty="0"/>
              <a:t>large circuits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/>
              <a:t>Distribution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/>
              <a:t>Tight Distribution </a:t>
            </a:r>
            <a:r>
              <a:rPr lang="en-US" dirty="0"/>
              <a:t>– Trojan components are located close together in the layout. 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/>
              <a:t>Loose Distribution </a:t>
            </a:r>
            <a:r>
              <a:rPr lang="en-US" dirty="0"/>
              <a:t>– Components are dispersed across the chip making detection harder 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7924D6-38EC-4CE9-B698-C0B65CF08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1B73A6-DC37-43FD-8C7B-C353CC64D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86884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418F8-79A1-4947-B2B5-7C8467047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Characteristics of Hardware Trojans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B9291-2F5B-47E7-A7DF-A9C40C460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457200" indent="-457200">
              <a:buAutoNum type="arabicPeriod" startAt="3"/>
            </a:pPr>
            <a:r>
              <a:rPr lang="en-US" dirty="0"/>
              <a:t> </a:t>
            </a:r>
            <a:r>
              <a:rPr lang="en-US" b="1" dirty="0"/>
              <a:t>Structure </a:t>
            </a:r>
            <a:r>
              <a:rPr lang="en-US" dirty="0"/>
              <a:t>– Changes in the physical layout can alter the chips (IC) dimensions or component placement.</a:t>
            </a:r>
          </a:p>
          <a:p>
            <a:pPr marL="457200" indent="-457200">
              <a:buAutoNum type="arabicPeriod" startAt="3"/>
            </a:pPr>
            <a:r>
              <a:rPr lang="en-US" dirty="0"/>
              <a:t> </a:t>
            </a:r>
            <a:r>
              <a:rPr lang="en-US" b="1" dirty="0"/>
              <a:t>Type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/>
              <a:t>Functional Trojans – </a:t>
            </a:r>
            <a:r>
              <a:rPr lang="en-US" dirty="0"/>
              <a:t>These involve adding or deleting components such as transistors or logic gates to modify chip’s functionality.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/>
              <a:t>Parametric Trojans </a:t>
            </a:r>
            <a:r>
              <a:rPr lang="en-US" dirty="0"/>
              <a:t>– These involve modifying existing components such as thinning wires or weakening transistors, to affect the chip’s reliability or performance.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9F72DB-139E-49E4-8F57-A27096C93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1D9F97-C6E0-4A72-9F10-E97EDAB83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75993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DBAB1-4161-4DE7-87C8-C503C7C55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Impact of Hardware Trojans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2BBBF-F694-46AB-8AC8-5BB66550B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 Data Breaches and Intellectual Property Theft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System Malfunction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Performance Degradation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Reputational Damage and Financial Costs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Denial – of – service (DoS) Attacks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2C0762-3680-4E2B-8FE7-ED2A9C2F8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A9946-35A4-4425-80BF-167BCC909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68806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F0F63-2478-4760-898E-7236387C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Mitigation and Remediation techniques of HT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3D571-9372-480D-8779-4FB58132C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 Detection Techniques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Collaborative Methods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Message Authentication Codes (MACs)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F8896F-1868-4552-A32C-E783BE9DB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8AE637-BFB8-474B-A8FA-D59502E54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77524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4A4D8-80D6-4191-AB5C-A933BFA64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Logic Gates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B1245-ECF1-4F8D-9621-38B3EC7666D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NOT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3E78DB-CB0C-424B-B794-BC9ABC12153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TRUTH TABLE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FCB432-DCE8-4BD6-90FF-D4A12FE0E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6B5346-142D-4427-AB52-DA6D59BED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8</a:t>
            </a:fld>
            <a:endParaRPr lang="LID4096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665CF4A2-AC26-42CF-ABB3-8E03C6AA313F}"/>
              </a:ext>
            </a:extLst>
          </p:cNvPr>
          <p:cNvSpPr/>
          <p:nvPr/>
        </p:nvSpPr>
        <p:spPr>
          <a:xfrm rot="5400000">
            <a:off x="3091992" y="3572759"/>
            <a:ext cx="612742" cy="641022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13BA8E2-D17F-40C6-BD0D-3D0931C20005}"/>
              </a:ext>
            </a:extLst>
          </p:cNvPr>
          <p:cNvSpPr/>
          <p:nvPr/>
        </p:nvSpPr>
        <p:spPr>
          <a:xfrm>
            <a:off x="3718874" y="3801360"/>
            <a:ext cx="249811" cy="20738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BFCC175-DE4F-4583-8716-18A19EBCCBBD}"/>
              </a:ext>
            </a:extLst>
          </p:cNvPr>
          <p:cNvCxnSpPr>
            <a:stCxn id="8" idx="6"/>
          </p:cNvCxnSpPr>
          <p:nvPr/>
        </p:nvCxnSpPr>
        <p:spPr>
          <a:xfrm flipV="1">
            <a:off x="3968685" y="3905054"/>
            <a:ext cx="98038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F165220-55EA-48BF-A133-71FC506115B8}"/>
              </a:ext>
            </a:extLst>
          </p:cNvPr>
          <p:cNvCxnSpPr>
            <a:stCxn id="7" idx="3"/>
          </p:cNvCxnSpPr>
          <p:nvPr/>
        </p:nvCxnSpPr>
        <p:spPr>
          <a:xfrm flipH="1">
            <a:off x="2055043" y="3893270"/>
            <a:ext cx="1022809" cy="117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962EC228-24D6-4D81-B357-BBE190B24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777688"/>
              </p:ext>
            </p:extLst>
          </p:nvPr>
        </p:nvGraphicFramePr>
        <p:xfrm>
          <a:off x="6340050" y="3087121"/>
          <a:ext cx="478357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9744">
                  <a:extLst>
                    <a:ext uri="{9D8B030D-6E8A-4147-A177-3AD203B41FA5}">
                      <a16:colId xmlns:a16="http://schemas.microsoft.com/office/drawing/2014/main" val="3444165849"/>
                    </a:ext>
                  </a:extLst>
                </a:gridCol>
                <a:gridCol w="2403835">
                  <a:extLst>
                    <a:ext uri="{9D8B030D-6E8A-4147-A177-3AD203B41FA5}">
                      <a16:colId xmlns:a16="http://schemas.microsoft.com/office/drawing/2014/main" val="39930287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INPUT (a)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OUTPUT (a`)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7148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6912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666207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00BBB36B-2D7E-48B6-BF6D-2ACB9408CD6B}"/>
              </a:ext>
            </a:extLst>
          </p:cNvPr>
          <p:cNvSpPr/>
          <p:nvPr/>
        </p:nvSpPr>
        <p:spPr>
          <a:xfrm>
            <a:off x="2349288" y="3429000"/>
            <a:ext cx="38343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26517D-0D0A-48BF-BC4F-9822A3EEEDB2}"/>
              </a:ext>
            </a:extLst>
          </p:cNvPr>
          <p:cNvSpPr/>
          <p:nvPr/>
        </p:nvSpPr>
        <p:spPr>
          <a:xfrm>
            <a:off x="4213007" y="3370049"/>
            <a:ext cx="50366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a`</a:t>
            </a:r>
          </a:p>
        </p:txBody>
      </p:sp>
    </p:spTree>
    <p:extLst>
      <p:ext uri="{BB962C8B-B14F-4D97-AF65-F5344CB8AC3E}">
        <p14:creationId xmlns:p14="http://schemas.microsoft.com/office/powerpoint/2010/main" val="186354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4A4D8-80D6-4191-AB5C-A933BFA64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Logic Gates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B1245-ECF1-4F8D-9621-38B3EC7666D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>
              <a:buAutoNum type="arabicPeriod" startAt="2"/>
            </a:pPr>
            <a:r>
              <a:rPr lang="en-US" b="1" dirty="0"/>
              <a:t>AND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3E78DB-CB0C-424B-B794-BC9ABC12153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TRUTH TABLE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FCB432-DCE8-4BD6-90FF-D4A12FE0E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6B5346-142D-4427-AB52-DA6D59BED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9</a:t>
            </a:fld>
            <a:endParaRPr lang="LID4096"/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962EC228-24D6-4D81-B357-BBE190B24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715805"/>
              </p:ext>
            </p:extLst>
          </p:nvPr>
        </p:nvGraphicFramePr>
        <p:xfrm>
          <a:off x="6340050" y="3087121"/>
          <a:ext cx="478357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9164">
                  <a:extLst>
                    <a:ext uri="{9D8B030D-6E8A-4147-A177-3AD203B41FA5}">
                      <a16:colId xmlns:a16="http://schemas.microsoft.com/office/drawing/2014/main" val="3444165849"/>
                    </a:ext>
                  </a:extLst>
                </a:gridCol>
                <a:gridCol w="1589164">
                  <a:extLst>
                    <a:ext uri="{9D8B030D-6E8A-4147-A177-3AD203B41FA5}">
                      <a16:colId xmlns:a16="http://schemas.microsoft.com/office/drawing/2014/main" val="289634769"/>
                    </a:ext>
                  </a:extLst>
                </a:gridCol>
                <a:gridCol w="1605251">
                  <a:extLst>
                    <a:ext uri="{9D8B030D-6E8A-4147-A177-3AD203B41FA5}">
                      <a16:colId xmlns:a16="http://schemas.microsoft.com/office/drawing/2014/main" val="39930287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INPUT (a)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INPUT (b)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OUTPUT (ab)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7148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6912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666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6435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205656"/>
                  </a:ext>
                </a:extLst>
              </a:tr>
            </a:tbl>
          </a:graphicData>
        </a:graphic>
      </p:graphicFrame>
      <p:sp>
        <p:nvSpPr>
          <p:cNvPr id="9" name="Flowchart: Delay 8">
            <a:extLst>
              <a:ext uri="{FF2B5EF4-FFF2-40B4-BE49-F238E27FC236}">
                <a16:creationId xmlns:a16="http://schemas.microsoft.com/office/drawing/2014/main" id="{C5A6C877-82D5-4524-A480-7BA26FCC2442}"/>
              </a:ext>
            </a:extLst>
          </p:cNvPr>
          <p:cNvSpPr/>
          <p:nvPr/>
        </p:nvSpPr>
        <p:spPr>
          <a:xfrm>
            <a:off x="2366128" y="3621461"/>
            <a:ext cx="1432874" cy="702297"/>
          </a:xfrm>
          <a:prstGeom prst="flowChartDelay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9EEF4FD-BB6D-4E04-A076-6E82AAEAA391}"/>
              </a:ext>
            </a:extLst>
          </p:cNvPr>
          <p:cNvCxnSpPr/>
          <p:nvPr/>
        </p:nvCxnSpPr>
        <p:spPr>
          <a:xfrm flipH="1">
            <a:off x="1291472" y="3789575"/>
            <a:ext cx="10746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52A6643-9E78-424C-BE5E-28018143464A}"/>
              </a:ext>
            </a:extLst>
          </p:cNvPr>
          <p:cNvCxnSpPr/>
          <p:nvPr/>
        </p:nvCxnSpPr>
        <p:spPr>
          <a:xfrm flipH="1">
            <a:off x="1274190" y="4111657"/>
            <a:ext cx="10746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A5EF957-AC2A-4D3F-8C55-210BDA72F8BF}"/>
              </a:ext>
            </a:extLst>
          </p:cNvPr>
          <p:cNvCxnSpPr>
            <a:stCxn id="9" idx="3"/>
          </p:cNvCxnSpPr>
          <p:nvPr/>
        </p:nvCxnSpPr>
        <p:spPr>
          <a:xfrm flipV="1">
            <a:off x="3799002" y="3972609"/>
            <a:ext cx="989814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14024A8-A19A-4360-A797-D28917330795}"/>
              </a:ext>
            </a:extLst>
          </p:cNvPr>
          <p:cNvSpPr/>
          <p:nvPr/>
        </p:nvSpPr>
        <p:spPr>
          <a:xfrm>
            <a:off x="989009" y="3491001"/>
            <a:ext cx="38343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645A9F-1574-4E5A-9049-9EA724FB01F1}"/>
              </a:ext>
            </a:extLst>
          </p:cNvPr>
          <p:cNvSpPr/>
          <p:nvPr/>
        </p:nvSpPr>
        <p:spPr>
          <a:xfrm>
            <a:off x="989008" y="3826540"/>
            <a:ext cx="38343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0CFE1C-90B8-41FC-83B9-2E629A855FFF}"/>
              </a:ext>
            </a:extLst>
          </p:cNvPr>
          <p:cNvSpPr/>
          <p:nvPr/>
        </p:nvSpPr>
        <p:spPr>
          <a:xfrm>
            <a:off x="3953607" y="3466961"/>
            <a:ext cx="58221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ab</a:t>
            </a:r>
          </a:p>
        </p:txBody>
      </p:sp>
    </p:spTree>
    <p:extLst>
      <p:ext uri="{BB962C8B-B14F-4D97-AF65-F5344CB8AC3E}">
        <p14:creationId xmlns:p14="http://schemas.microsoft.com/office/powerpoint/2010/main" val="2688413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4A4D8-80D6-4191-AB5C-A933BFA64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Logic Gates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B1245-ECF1-4F8D-9621-38B3EC7666D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>
              <a:buAutoNum type="arabicPeriod" startAt="3"/>
            </a:pPr>
            <a:r>
              <a:rPr lang="en-US" b="1" dirty="0"/>
              <a:t>OR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3E78DB-CB0C-424B-B794-BC9ABC12153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TRUTH TABLE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FCB432-DCE8-4BD6-90FF-D4A12FE0E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Paul M. Mutunda © 2025 Kapasa Makasa University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6B5346-142D-4427-AB52-DA6D59BED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11B12-96E3-4CC6-8596-5FF84CCB8B40}" type="slidenum">
              <a:rPr lang="LID4096" smtClean="0"/>
              <a:t>10</a:t>
            </a:fld>
            <a:endParaRPr lang="LID4096"/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962EC228-24D6-4D81-B357-BBE190B24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009984"/>
              </p:ext>
            </p:extLst>
          </p:nvPr>
        </p:nvGraphicFramePr>
        <p:xfrm>
          <a:off x="6340050" y="3087121"/>
          <a:ext cx="495326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9164">
                  <a:extLst>
                    <a:ext uri="{9D8B030D-6E8A-4147-A177-3AD203B41FA5}">
                      <a16:colId xmlns:a16="http://schemas.microsoft.com/office/drawing/2014/main" val="3444165849"/>
                    </a:ext>
                  </a:extLst>
                </a:gridCol>
                <a:gridCol w="1589164">
                  <a:extLst>
                    <a:ext uri="{9D8B030D-6E8A-4147-A177-3AD203B41FA5}">
                      <a16:colId xmlns:a16="http://schemas.microsoft.com/office/drawing/2014/main" val="289634769"/>
                    </a:ext>
                  </a:extLst>
                </a:gridCol>
                <a:gridCol w="1774933">
                  <a:extLst>
                    <a:ext uri="{9D8B030D-6E8A-4147-A177-3AD203B41FA5}">
                      <a16:colId xmlns:a16="http://schemas.microsoft.com/office/drawing/2014/main" val="39930287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INPUT (a)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INPUT (b)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OUTPUT (a + b)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7148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6912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666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6435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205656"/>
                  </a:ext>
                </a:extLst>
              </a:tr>
            </a:tbl>
          </a:graphicData>
        </a:graphic>
      </p:graphicFrame>
      <p:sp>
        <p:nvSpPr>
          <p:cNvPr id="9" name="Flowchart: Delay 8">
            <a:extLst>
              <a:ext uri="{FF2B5EF4-FFF2-40B4-BE49-F238E27FC236}">
                <a16:creationId xmlns:a16="http://schemas.microsoft.com/office/drawing/2014/main" id="{C5A6C877-82D5-4524-A480-7BA26FCC2442}"/>
              </a:ext>
            </a:extLst>
          </p:cNvPr>
          <p:cNvSpPr/>
          <p:nvPr/>
        </p:nvSpPr>
        <p:spPr>
          <a:xfrm>
            <a:off x="2366128" y="3621461"/>
            <a:ext cx="1432874" cy="702297"/>
          </a:xfrm>
          <a:prstGeom prst="flowChartDelay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9EEF4FD-BB6D-4E04-A076-6E82AAEAA391}"/>
              </a:ext>
            </a:extLst>
          </p:cNvPr>
          <p:cNvCxnSpPr/>
          <p:nvPr/>
        </p:nvCxnSpPr>
        <p:spPr>
          <a:xfrm flipH="1">
            <a:off x="1291472" y="3789575"/>
            <a:ext cx="10746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52A6643-9E78-424C-BE5E-28018143464A}"/>
              </a:ext>
            </a:extLst>
          </p:cNvPr>
          <p:cNvCxnSpPr/>
          <p:nvPr/>
        </p:nvCxnSpPr>
        <p:spPr>
          <a:xfrm flipH="1">
            <a:off x="1274190" y="4111657"/>
            <a:ext cx="10746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A5EF957-AC2A-4D3F-8C55-210BDA72F8BF}"/>
              </a:ext>
            </a:extLst>
          </p:cNvPr>
          <p:cNvCxnSpPr>
            <a:stCxn id="9" idx="3"/>
          </p:cNvCxnSpPr>
          <p:nvPr/>
        </p:nvCxnSpPr>
        <p:spPr>
          <a:xfrm flipV="1">
            <a:off x="3799002" y="3972609"/>
            <a:ext cx="989814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14024A8-A19A-4360-A797-D28917330795}"/>
              </a:ext>
            </a:extLst>
          </p:cNvPr>
          <p:cNvSpPr/>
          <p:nvPr/>
        </p:nvSpPr>
        <p:spPr>
          <a:xfrm>
            <a:off x="989009" y="3491001"/>
            <a:ext cx="38343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645A9F-1574-4E5A-9049-9EA724FB01F1}"/>
              </a:ext>
            </a:extLst>
          </p:cNvPr>
          <p:cNvSpPr/>
          <p:nvPr/>
        </p:nvSpPr>
        <p:spPr>
          <a:xfrm>
            <a:off x="989008" y="3826540"/>
            <a:ext cx="38343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0CFE1C-90B8-41FC-83B9-2E629A855FFF}"/>
              </a:ext>
            </a:extLst>
          </p:cNvPr>
          <p:cNvSpPr/>
          <p:nvPr/>
        </p:nvSpPr>
        <p:spPr>
          <a:xfrm>
            <a:off x="3734798" y="3466961"/>
            <a:ext cx="101983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+ b</a:t>
            </a:r>
          </a:p>
        </p:txBody>
      </p:sp>
    </p:spTree>
    <p:extLst>
      <p:ext uri="{BB962C8B-B14F-4D97-AF65-F5344CB8AC3E}">
        <p14:creationId xmlns:p14="http://schemas.microsoft.com/office/powerpoint/2010/main" val="31536657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6917</TotalTime>
  <Words>475</Words>
  <Application>Microsoft Office PowerPoint</Application>
  <PresentationFormat>Widescreen</PresentationFormat>
  <Paragraphs>96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Tw Cen MT</vt:lpstr>
      <vt:lpstr>Circuit</vt:lpstr>
      <vt:lpstr>SYSTEMS VULNERABILITY ASSESSMENT</vt:lpstr>
      <vt:lpstr>OPERATING SYSTEM </vt:lpstr>
      <vt:lpstr>Hardware Trojans (HT)</vt:lpstr>
      <vt:lpstr>Characteristics of Hardware Trojans</vt:lpstr>
      <vt:lpstr>Characteristics of Hardware Trojans (continues…)</vt:lpstr>
      <vt:lpstr>Impact of Hardware Trojans </vt:lpstr>
      <vt:lpstr>Mitigation and Remediation techniques of HT</vt:lpstr>
      <vt:lpstr>Logic Gates</vt:lpstr>
      <vt:lpstr>Logic Gates (Continues…)</vt:lpstr>
      <vt:lpstr>Logic Gates (Continues…)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SYSTEMS VULNERABILITY ASSESSMENT</dc:title>
  <dc:creator>James Soko</dc:creator>
  <cp:lastModifiedBy>James Soko</cp:lastModifiedBy>
  <cp:revision>559</cp:revision>
  <dcterms:created xsi:type="dcterms:W3CDTF">2025-03-10T06:53:39Z</dcterms:created>
  <dcterms:modified xsi:type="dcterms:W3CDTF">2025-10-15T07:34:52Z</dcterms:modified>
</cp:coreProperties>
</file>