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C834A-FD5E-4ADF-8232-42C2B86E8184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EA8F5-99F1-4EC4-85E8-CF5F36C2FF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019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1A5DD89-EC5C-4649-BABB-A08E10D0C1C1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86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58F3-86A3-42B6-88D2-11406B00C921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546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075E7-1AF7-40F3-82E3-150CB8EC5480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242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CCEF-698D-412D-A629-D50F1DD0CC00}" type="datetime1">
              <a:rPr lang="LID4096" smtClean="0"/>
              <a:t>09/19/2025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56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4B2F-7F85-4664-9B5E-5D1BD13D00B6}" type="datetime1">
              <a:rPr lang="LID4096" smtClean="0"/>
              <a:t>09/19/2025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54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F864B-0B85-4897-86A7-B88B083EAC27}" type="datetime1">
              <a:rPr lang="LID4096" smtClean="0"/>
              <a:t>09/19/2025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199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A42F4-7F2D-4402-A4E0-01BD6CB12ABE}" type="datetime1">
              <a:rPr lang="LID4096" smtClean="0"/>
              <a:t>09/19/2025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65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19B5-3B00-4F94-AD9E-A598911D5CCB}" type="datetime1">
              <a:rPr lang="LID4096" smtClean="0"/>
              <a:t>09/19/2025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038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6CD1-12E1-4366-A209-CD925CBB553D}" type="datetime1">
              <a:rPr lang="LID4096" smtClean="0"/>
              <a:t>09/19/2025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686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2697B-936F-4621-92FA-7CA4A6DC6CA0}" type="datetime1">
              <a:rPr lang="LID4096" smtClean="0"/>
              <a:t>09/19/2025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19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FD43-4165-4667-833A-2366DC89BCD5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5626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CE8FF-A172-4006-91BB-984FB13A3838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7960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EEA3-07B3-4039-B456-4945FA1102A2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8488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7C678-08B3-4B35-8DF4-CDBCFD5230DD}" type="datetime1">
              <a:rPr lang="LID4096" smtClean="0"/>
              <a:t>09/19/2025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0569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83908-801C-45B9-839E-92D3570979F5}" type="datetime1">
              <a:rPr lang="LID4096" smtClean="0"/>
              <a:t>09/19/2025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2753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EC593FF-00CB-4A09-86AB-DA56AE1F9433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8945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5BDC674-DA7E-47FD-A666-046E6C6A4181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54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62504E1-8FB3-4CBC-813D-6C9D06B3ED32}" type="datetime1">
              <a:rPr lang="LID4096" smtClean="0"/>
              <a:t>09/19/2025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6BDD9D1-ED79-4BA9-B421-8B973A218A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458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tintopc.com/softwares/drawing/edrawmax-ultimate-2025-free-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3707-DF81-4231-A77E-0C5B15784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b="1" dirty="0"/>
              <a:t>PERT CHARTS </a:t>
            </a:r>
            <a:endParaRPr lang="LID4096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47CF7-CEE8-4706-9D1E-DB9E34CA99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900" b="1" dirty="0"/>
              <a:t>PROJECT EVALUATION &amp; REVIEW TECHNIQUE </a:t>
            </a:r>
            <a:endParaRPr lang="LID4096" sz="1900" b="1" dirty="0"/>
          </a:p>
        </p:txBody>
      </p:sp>
    </p:spTree>
    <p:extLst>
      <p:ext uri="{BB962C8B-B14F-4D97-AF65-F5344CB8AC3E}">
        <p14:creationId xmlns:p14="http://schemas.microsoft.com/office/powerpoint/2010/main" val="29048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0BFF-F3ED-468C-80FE-54B3E920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3BB0-0DDA-40B6-85B9-B6A4F2863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Learn how to Install </a:t>
            </a:r>
            <a:r>
              <a:rPr lang="en-US" b="1" dirty="0">
                <a:hlinkClick r:id="rId2"/>
              </a:rPr>
              <a:t>EdrawMax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Understand how to draw PERT Charts.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BA059-6584-4DAA-88CD-A0685FC6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B5796-2689-4753-92C9-B82F4B76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866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184A3D-FAF2-437C-88FB-4059168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Charts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48DAA-484B-4E65-BD62-F2615EDD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EdrawMax</a:t>
            </a:r>
            <a:endParaRPr lang="LID4096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1DE58-1ED5-4111-8D04-C1F826CC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98EE3-7F1C-4528-BAA1-5CF93D49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875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4235DF-262B-4181-91F2-4B4C43F7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CHARTER 1</a:t>
            </a:r>
            <a:endParaRPr lang="LID4096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33BCA8-75F6-40BE-9797-B65D84EB7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121E47B4-C262-4A82-84D4-4426AFF999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5371882"/>
              </p:ext>
            </p:extLst>
          </p:nvPr>
        </p:nvGraphicFramePr>
        <p:xfrm>
          <a:off x="1155700" y="3179763"/>
          <a:ext cx="48244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404108313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6630873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1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23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76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642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7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01624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007255-4265-4135-8F3C-09189BABC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8E430A-FC17-400F-840E-13EF3EDFC4F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44BBE30F-BC45-4AC7-99F8-6FAD2F4A7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92584"/>
              </p:ext>
            </p:extLst>
          </p:nvPr>
        </p:nvGraphicFramePr>
        <p:xfrm>
          <a:off x="6308295" y="3283204"/>
          <a:ext cx="5391893" cy="219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draw.Document" r:id="rId3" imgW="4475880" imgH="1822885" progId="EdrawMax.EdrawDocument.1">
                  <p:embed/>
                </p:oleObj>
              </mc:Choice>
              <mc:Fallback>
                <p:oleObj name="Edraw.Document" r:id="rId3" imgW="4475880" imgH="1822885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08295" y="3283204"/>
                        <a:ext cx="5391893" cy="2195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8F964864-98D0-4D21-8BC9-3F988563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91" name="Slide Number Placeholder 90">
            <a:extLst>
              <a:ext uri="{FF2B5EF4-FFF2-40B4-BE49-F238E27FC236}">
                <a16:creationId xmlns:a16="http://schemas.microsoft.com/office/drawing/2014/main" id="{AD45DC88-B961-466D-801B-8A6F7C10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363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C369-AFCC-4179-BB21-DF466A75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CHARTER 1 (Continues…)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64A41-7680-42C5-98C6-5F088FE7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327" y="2226428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Question 2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DD4C678-8078-45CE-B4A9-880FCE3DA9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3306441"/>
              </p:ext>
            </p:extLst>
          </p:nvPr>
        </p:nvGraphicFramePr>
        <p:xfrm>
          <a:off x="1156072" y="2802690"/>
          <a:ext cx="48244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1330250483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932920524"/>
                    </a:ext>
                  </a:extLst>
                </a:gridCol>
              </a:tblGrid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51444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61565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455666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25199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14954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26620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853727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877335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G,F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528192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C,H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03834"/>
                  </a:ext>
                </a:extLst>
              </a:tr>
              <a:tr h="319388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951307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272F0-2818-4100-9555-EF92013DD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2226428"/>
            <a:ext cx="4825159" cy="576262"/>
          </a:xfrm>
        </p:spPr>
        <p:txBody>
          <a:bodyPr/>
          <a:lstStyle/>
          <a:p>
            <a:pPr algn="ctr"/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BE8EE-8CCA-4918-AB38-45D32EA5E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1" y="2802690"/>
            <a:ext cx="4825159" cy="28400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EEB98AF-4501-49F3-BA78-9D910C55C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719624"/>
              </p:ext>
            </p:extLst>
          </p:nvPr>
        </p:nvGraphicFramePr>
        <p:xfrm>
          <a:off x="6186715" y="3382840"/>
          <a:ext cx="5804180" cy="2895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Edraw.Document" r:id="rId3" imgW="7935480" imgH="3959416" progId="EdrawMax.EdrawDocument.1">
                  <p:embed/>
                </p:oleObj>
              </mc:Choice>
              <mc:Fallback>
                <p:oleObj name="Edraw.Document" r:id="rId3" imgW="7935480" imgH="3959416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86715" y="3382840"/>
                        <a:ext cx="5804180" cy="2895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5F8BABF-FC88-46F4-864E-A99620D5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30944" y="6409870"/>
            <a:ext cx="3859795" cy="304801"/>
          </a:xfrm>
        </p:spPr>
        <p:txBody>
          <a:bodyPr/>
          <a:lstStyle/>
          <a:p>
            <a:r>
              <a:rPr lang="en-US" dirty="0"/>
              <a:t>PREPARED BY JAMES SOKO FOR CYBER SECURITY THIRD YEAR CLASS</a:t>
            </a:r>
            <a:endParaRPr lang="LID4096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4E6205-9055-48F2-B3CF-E44B64B5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319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EAB402-A880-420E-BC5D-9E42AAC7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Forward &amp; Backward Pass</a:t>
            </a:r>
            <a:endParaRPr lang="LID4096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4DF9EA-9E37-4DB4-A841-D01F93BD8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Slack, Critical Path &amp; Project Duration</a:t>
            </a:r>
            <a:endParaRPr lang="LID4096" b="1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481139-3A61-4DFF-8D00-5A0DCE56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2B256D-3993-48B9-915A-0915D656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420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5A0C57-0468-4E9A-B125-73206489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2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6C7C4-9779-4984-88AE-9083D0D2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2899" y="2197974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2F6B2-A1B9-481C-A83D-5740D5039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774236"/>
            <a:ext cx="4825158" cy="284003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Construct a network diagram.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the critical path.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the duration the project is likely to take you to complete.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805772-51F7-4AF4-874D-415DBB589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063" y="2027238"/>
            <a:ext cx="4825159" cy="576262"/>
          </a:xfrm>
        </p:spPr>
        <p:txBody>
          <a:bodyPr/>
          <a:lstStyle/>
          <a:p>
            <a:pPr algn="ctr"/>
            <a:r>
              <a:rPr lang="en-US" b="1" dirty="0"/>
              <a:t>Data</a:t>
            </a:r>
            <a:endParaRPr lang="LID4096" b="1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DC16B7D-2013-42AD-B5A8-1A6AEFBE75B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347464986"/>
              </p:ext>
            </p:extLst>
          </p:nvPr>
        </p:nvGraphicFramePr>
        <p:xfrm>
          <a:off x="6096000" y="2753680"/>
          <a:ext cx="5983287" cy="410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263">
                  <a:extLst>
                    <a:ext uri="{9D8B030D-6E8A-4147-A177-3AD203B41FA5}">
                      <a16:colId xmlns:a16="http://schemas.microsoft.com/office/drawing/2014/main" val="2101922408"/>
                    </a:ext>
                  </a:extLst>
                </a:gridCol>
                <a:gridCol w="2303172">
                  <a:extLst>
                    <a:ext uri="{9D8B030D-6E8A-4147-A177-3AD203B41FA5}">
                      <a16:colId xmlns:a16="http://schemas.microsoft.com/office/drawing/2014/main" val="32252946"/>
                    </a:ext>
                  </a:extLst>
                </a:gridCol>
                <a:gridCol w="2155852">
                  <a:extLst>
                    <a:ext uri="{9D8B030D-6E8A-4147-A177-3AD203B41FA5}">
                      <a16:colId xmlns:a16="http://schemas.microsoft.com/office/drawing/2014/main" val="1349984739"/>
                    </a:ext>
                  </a:extLst>
                </a:gridCol>
              </a:tblGrid>
              <a:tr h="44672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56457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120144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2907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01344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63415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470116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567430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40415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438048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173263"/>
                  </a:ext>
                </a:extLst>
              </a:tr>
              <a:tr h="341124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G,H,I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72571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257202C-4672-4B5E-A6A0-C3C1D38F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7FBAC46-A0FB-4FC6-8A5D-105FF63B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28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E3E3D1-CCB4-406E-AB2B-ECE8582A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2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C852A0-40E8-4737-B30F-50AB02292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CD4679E-77DC-4316-99EF-3C9DF0F5D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624608"/>
              </p:ext>
            </p:extLst>
          </p:nvPr>
        </p:nvGraphicFramePr>
        <p:xfrm>
          <a:off x="2581439" y="2336124"/>
          <a:ext cx="7797474" cy="452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draw.Document" r:id="rId3" imgW="6386400" imgH="3702960" progId="EdrawMax.EdrawDocument.1">
                  <p:embed/>
                </p:oleObj>
              </mc:Choice>
              <mc:Fallback>
                <p:oleObj name="Edraw.Document" r:id="rId3" imgW="6386400" imgH="3702960" progId="EdrawMax.Edraw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1439" y="2336124"/>
                        <a:ext cx="7797474" cy="4521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AC4BCD8-BA03-41EC-9828-EA14594C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9A1813-A2FE-4CF3-8275-68E55DF7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632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8D6D7-48C4-4AB8-8A6F-EF3CAA45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D9925-9199-4A9A-BE86-02E6ABE76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Drawing a Pert Chart using A Statement</a:t>
            </a:r>
            <a:endParaRPr lang="LID4096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45451-0032-48B7-8FE3-AEC634E9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9F463-AC64-499E-BA17-AEECD40D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640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64010A-C7F3-4E2B-AEAD-84E37604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3</a:t>
            </a:r>
            <a:endParaRPr lang="LID4096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606678-82FD-4E24-BDB4-8FCD4DD7D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2485427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21500B-E121-416C-A5C6-9B2BB945C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9516" y="3044293"/>
            <a:ext cx="4825158" cy="284003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pt-BR" dirty="0"/>
              <a:t>E &gt; B, C; F, G &gt; D; H,I &gt; E, F; J &gt; I, G; K &gt; H; B &gt; A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634CF1D-71FD-4D09-B0BF-2896EA7B991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42995276"/>
              </p:ext>
            </p:extLst>
          </p:nvPr>
        </p:nvGraphicFramePr>
        <p:xfrm>
          <a:off x="5980112" y="2467493"/>
          <a:ext cx="60897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491">
                  <a:extLst>
                    <a:ext uri="{9D8B030D-6E8A-4147-A177-3AD203B41FA5}">
                      <a16:colId xmlns:a16="http://schemas.microsoft.com/office/drawing/2014/main" val="3690141037"/>
                    </a:ext>
                  </a:extLst>
                </a:gridCol>
                <a:gridCol w="2938226">
                  <a:extLst>
                    <a:ext uri="{9D8B030D-6E8A-4147-A177-3AD203B41FA5}">
                      <a16:colId xmlns:a16="http://schemas.microsoft.com/office/drawing/2014/main" val="3456187802"/>
                    </a:ext>
                  </a:extLst>
                </a:gridCol>
              </a:tblGrid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Dependencies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000922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65094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249795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506595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147198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B,C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22461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00316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851285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E,F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358526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E,F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486155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I,G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06874"/>
                  </a:ext>
                </a:extLst>
              </a:tr>
              <a:tr h="330354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33153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F8B66-DD64-49BC-A163-A36C1DC3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0E7C8-593E-408C-B4CB-312DE60B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489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FC76DE6-DA95-4D32-BF42-A3E0F4FE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CHARPTER 3 (Continues…)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312784-F112-4B87-BDF0-F64422D4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6F28F6-8D41-41D2-A452-490F135C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11</a:t>
            </a:fld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656EAC3-DF0B-4688-918D-1068939DF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43" y="2354925"/>
            <a:ext cx="9949896" cy="3927591"/>
          </a:xfrm>
        </p:spPr>
      </p:pic>
    </p:spTree>
    <p:extLst>
      <p:ext uri="{BB962C8B-B14F-4D97-AF65-F5344CB8AC3E}">
        <p14:creationId xmlns:p14="http://schemas.microsoft.com/office/powerpoint/2010/main" val="119325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A0D272-6F8E-4712-9529-2F335FB6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	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0B6153-CA10-4DB7-9C38-EF0F14AE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ES, EF, LF, LS, TF, FF, IND F, INT F &amp; TAIL AND HEAD SLACK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8692E-8ADA-4C23-AB59-3612F87A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E6AF9-B6DC-4953-BBDF-49E797EE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605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3EA737-B2C9-47AB-944D-07A2E36C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298CB9-F66F-4998-8AF1-AE824C9AD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327" y="2162164"/>
            <a:ext cx="4825157" cy="576262"/>
          </a:xfrm>
        </p:spPr>
        <p:txBody>
          <a:bodyPr/>
          <a:lstStyle/>
          <a:p>
            <a:pPr algn="ctr"/>
            <a:r>
              <a:rPr lang="en-US" b="1" dirty="0"/>
              <a:t>Data</a:t>
            </a:r>
            <a:endParaRPr lang="LID4096" b="1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EF2CD31-48AD-494E-A273-3731196BC4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947669"/>
              </p:ext>
            </p:extLst>
          </p:nvPr>
        </p:nvGraphicFramePr>
        <p:xfrm>
          <a:off x="1155699" y="2738426"/>
          <a:ext cx="48244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1995494410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2806286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88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2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866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9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1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93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8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7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82243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C2123B-44AF-4467-B303-997612B19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ABB8C68-A8D8-46F9-912C-7B2CC2FDE4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Calculate the Earliest Finish (EF), Eeliest Start (ES), Latest Finish (LF) and Latest Start (LS).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Total Float (TF), Free Float (FF), Independent Float (IND F) and Interfering Float (INT F).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6C84F-D738-4B2A-BAEC-A8CF07B0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08712" y="6291262"/>
            <a:ext cx="3859795" cy="304801"/>
          </a:xfrm>
        </p:spPr>
        <p:txBody>
          <a:bodyPr/>
          <a:lstStyle/>
          <a:p>
            <a:r>
              <a:rPr lang="en-US" dirty="0"/>
              <a:t>PREPARED BY JAMES SOKO FOR CYBER SECURITY THIRD YEAR CLASS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2E5F6-83DE-492E-90B5-CBB1033A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1825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E81594-78E8-46A8-BDFB-60705D59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 (Continues…)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01CD15-E38B-4800-8016-A3695875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EA9FBD-A026-4325-BB5D-5E2C8D1D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14</a:t>
            </a:fld>
            <a:endParaRPr lang="LID4096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5E84987C-E750-478E-8F9C-D20500429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49" y="2316083"/>
            <a:ext cx="7622830" cy="4075755"/>
          </a:xfrm>
        </p:spPr>
      </p:pic>
    </p:spTree>
    <p:extLst>
      <p:ext uri="{BB962C8B-B14F-4D97-AF65-F5344CB8AC3E}">
        <p14:creationId xmlns:p14="http://schemas.microsoft.com/office/powerpoint/2010/main" val="2096719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8B65-1305-4F7D-AE24-42D01668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10C6C1-1F61-4496-AAC5-5A61E47CE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155125"/>
              </p:ext>
            </p:extLst>
          </p:nvPr>
        </p:nvGraphicFramePr>
        <p:xfrm>
          <a:off x="1226722" y="2312598"/>
          <a:ext cx="88249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70716216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14334784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63572638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73895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 (t)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 = ES + 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5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71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8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7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1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9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6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3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87143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8B2EB-D8B6-41F1-9E3C-0E370AA0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DAC2C-8743-4FEE-9752-C837F273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659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8B65-1305-4F7D-AE24-42D01668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10C6C1-1F61-4496-AAC5-5A61E47CE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225430"/>
              </p:ext>
            </p:extLst>
          </p:nvPr>
        </p:nvGraphicFramePr>
        <p:xfrm>
          <a:off x="1226722" y="2312598"/>
          <a:ext cx="88249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70716216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14334784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63572638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73895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Duration (t)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 = LF - 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5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71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8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7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1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9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6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3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87143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8B2EB-D8B6-41F1-9E3C-0E370AA0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DAC2C-8743-4FEE-9752-C837F273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806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8B65-1305-4F7D-AE24-42D01668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10C6C1-1F61-4496-AAC5-5A61E47CE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600209"/>
              </p:ext>
            </p:extLst>
          </p:nvPr>
        </p:nvGraphicFramePr>
        <p:xfrm>
          <a:off x="1226722" y="2312598"/>
          <a:ext cx="882491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70716216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14334784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635726385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73895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= LS – ES 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5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71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8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7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1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9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6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3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87143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8B2EB-D8B6-41F1-9E3C-0E370AA0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DAC2C-8743-4FEE-9752-C837F273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2020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8B65-1305-4F7D-AE24-42D01668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4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10C6C1-1F61-4496-AAC5-5A61E47CE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551827"/>
              </p:ext>
            </p:extLst>
          </p:nvPr>
        </p:nvGraphicFramePr>
        <p:xfrm>
          <a:off x="1226722" y="2312598"/>
          <a:ext cx="1005679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637">
                  <a:extLst>
                    <a:ext uri="{9D8B030D-6E8A-4147-A177-3AD203B41FA5}">
                      <a16:colId xmlns:a16="http://schemas.microsoft.com/office/drawing/2014/main" val="707162165"/>
                    </a:ext>
                  </a:extLst>
                </a:gridCol>
                <a:gridCol w="1660124">
                  <a:extLst>
                    <a:ext uri="{9D8B030D-6E8A-4147-A177-3AD203B41FA5}">
                      <a16:colId xmlns:a16="http://schemas.microsoft.com/office/drawing/2014/main" val="1143347846"/>
                    </a:ext>
                  </a:extLst>
                </a:gridCol>
                <a:gridCol w="2024109">
                  <a:extLst>
                    <a:ext uri="{9D8B030D-6E8A-4147-A177-3AD203B41FA5}">
                      <a16:colId xmlns:a16="http://schemas.microsoft.com/office/drawing/2014/main" val="635726385"/>
                    </a:ext>
                  </a:extLst>
                </a:gridCol>
                <a:gridCol w="452761">
                  <a:extLst>
                    <a:ext uri="{9D8B030D-6E8A-4147-A177-3AD203B41FA5}">
                      <a16:colId xmlns:a16="http://schemas.microsoft.com/office/drawing/2014/main" val="173895794"/>
                    </a:ext>
                  </a:extLst>
                </a:gridCol>
                <a:gridCol w="1482571">
                  <a:extLst>
                    <a:ext uri="{9D8B030D-6E8A-4147-A177-3AD203B41FA5}">
                      <a16:colId xmlns:a16="http://schemas.microsoft.com/office/drawing/2014/main" val="1299724711"/>
                    </a:ext>
                  </a:extLst>
                </a:gridCol>
                <a:gridCol w="1500326">
                  <a:extLst>
                    <a:ext uri="{9D8B030D-6E8A-4147-A177-3AD203B41FA5}">
                      <a16:colId xmlns:a16="http://schemas.microsoft.com/office/drawing/2014/main" val="1257641164"/>
                    </a:ext>
                  </a:extLst>
                </a:gridCol>
                <a:gridCol w="1722268">
                  <a:extLst>
                    <a:ext uri="{9D8B030D-6E8A-4147-A177-3AD203B41FA5}">
                      <a16:colId xmlns:a16="http://schemas.microsoft.com/office/drawing/2014/main" val="4042190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 Slack (T)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Slack (H)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 = TF – H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 = FF – T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 F = TF - FF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5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71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8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7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1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96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6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3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87143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8B2EB-D8B6-41F1-9E3C-0E370AA0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DAC2C-8743-4FEE-9752-C837F273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995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0BC94E-188D-4A44-9F94-F8CEC0CE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AB1AB9-1072-4D30-BDBE-1320BA1D1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To, tm, tp, te, Variance &amp; Standard Deviation 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9DB01-11D2-4B93-8601-36A66DB9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ED415-2D55-4442-B8A3-33879BAE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860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325223-29D2-4740-A099-77132511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5</a:t>
            </a:r>
            <a:endParaRPr lang="LID4096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06D73C-7FDE-425B-AB7E-60FCCDC67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Data</a:t>
            </a:r>
            <a:endParaRPr lang="LID4096" b="1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A6742DF5-0F7E-4D85-8859-9FDC0438DB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3895210"/>
              </p:ext>
            </p:extLst>
          </p:nvPr>
        </p:nvGraphicFramePr>
        <p:xfrm>
          <a:off x="2123493" y="3163564"/>
          <a:ext cx="30133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026">
                  <a:extLst>
                    <a:ext uri="{9D8B030D-6E8A-4147-A177-3AD203B41FA5}">
                      <a16:colId xmlns:a16="http://schemas.microsoft.com/office/drawing/2014/main" val="3890355256"/>
                    </a:ext>
                  </a:extLst>
                </a:gridCol>
                <a:gridCol w="577048">
                  <a:extLst>
                    <a:ext uri="{9D8B030D-6E8A-4147-A177-3AD203B41FA5}">
                      <a16:colId xmlns:a16="http://schemas.microsoft.com/office/drawing/2014/main" val="725081321"/>
                    </a:ext>
                  </a:extLst>
                </a:gridCol>
                <a:gridCol w="559294">
                  <a:extLst>
                    <a:ext uri="{9D8B030D-6E8A-4147-A177-3AD203B41FA5}">
                      <a16:colId xmlns:a16="http://schemas.microsoft.com/office/drawing/2014/main" val="2115035581"/>
                    </a:ext>
                  </a:extLst>
                </a:gridCol>
                <a:gridCol w="617997">
                  <a:extLst>
                    <a:ext uri="{9D8B030D-6E8A-4147-A177-3AD203B41FA5}">
                      <a16:colId xmlns:a16="http://schemas.microsoft.com/office/drawing/2014/main" val="384674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43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19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8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905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7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56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7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9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– 7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665299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B93C93-98FA-4032-84DB-EC8B3F0E7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Question 1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4A0119D-9E07-4CCF-A189-45A5351A1D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Draw the corresponding network diagram.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expected duration for each activity. 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the expected variance of each activity. 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the expected critical path variance.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the standard deviation of each activity.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C41F1-68B3-4027-ABF2-C486D92B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08712" y="6212522"/>
            <a:ext cx="3859795" cy="304801"/>
          </a:xfrm>
        </p:spPr>
        <p:txBody>
          <a:bodyPr/>
          <a:lstStyle/>
          <a:p>
            <a:r>
              <a:rPr lang="en-US" dirty="0"/>
              <a:t>PREPARED BY JAMES SOKO FOR CYBER SECURITY THIRD YEAR CLASS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72021-1E36-4566-B18D-9193DDD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4415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7735E9B-44E2-4EEF-B5CC-21A0E9DC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5 (Continues…)</a:t>
            </a:r>
            <a:endParaRPr lang="LID4096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56F76312-FFCE-412F-AFFF-1C9C6F4B14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512747"/>
              </p:ext>
            </p:extLst>
          </p:nvPr>
        </p:nvGraphicFramePr>
        <p:xfrm>
          <a:off x="1155700" y="2603500"/>
          <a:ext cx="1015445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782">
                  <a:extLst>
                    <a:ext uri="{9D8B030D-6E8A-4147-A177-3AD203B41FA5}">
                      <a16:colId xmlns:a16="http://schemas.microsoft.com/office/drawing/2014/main" val="3426780932"/>
                    </a:ext>
                  </a:extLst>
                </a:gridCol>
                <a:gridCol w="470516">
                  <a:extLst>
                    <a:ext uri="{9D8B030D-6E8A-4147-A177-3AD203B41FA5}">
                      <a16:colId xmlns:a16="http://schemas.microsoft.com/office/drawing/2014/main" val="635271500"/>
                    </a:ext>
                  </a:extLst>
                </a:gridCol>
                <a:gridCol w="461639">
                  <a:extLst>
                    <a:ext uri="{9D8B030D-6E8A-4147-A177-3AD203B41FA5}">
                      <a16:colId xmlns:a16="http://schemas.microsoft.com/office/drawing/2014/main" val="2434860777"/>
                    </a:ext>
                  </a:extLst>
                </a:gridCol>
                <a:gridCol w="506027">
                  <a:extLst>
                    <a:ext uri="{9D8B030D-6E8A-4147-A177-3AD203B41FA5}">
                      <a16:colId xmlns:a16="http://schemas.microsoft.com/office/drawing/2014/main" val="1517524787"/>
                    </a:ext>
                  </a:extLst>
                </a:gridCol>
                <a:gridCol w="1447060">
                  <a:extLst>
                    <a:ext uri="{9D8B030D-6E8A-4147-A177-3AD203B41FA5}">
                      <a16:colId xmlns:a16="http://schemas.microsoft.com/office/drawing/2014/main" val="3859375430"/>
                    </a:ext>
                  </a:extLst>
                </a:gridCol>
                <a:gridCol w="2876365">
                  <a:extLst>
                    <a:ext uri="{9D8B030D-6E8A-4147-A177-3AD203B41FA5}">
                      <a16:colId xmlns:a16="http://schemas.microsoft.com/office/drawing/2014/main" val="3592588375"/>
                    </a:ext>
                  </a:extLst>
                </a:gridCol>
                <a:gridCol w="2095130">
                  <a:extLst>
                    <a:ext uri="{9D8B030D-6E8A-4147-A177-3AD203B41FA5}">
                      <a16:colId xmlns:a16="http://schemas.microsoft.com/office/drawing/2014/main" val="1332430791"/>
                    </a:ext>
                  </a:extLst>
                </a:gridCol>
                <a:gridCol w="1020932">
                  <a:extLst>
                    <a:ext uri="{9D8B030D-6E8A-4147-A177-3AD203B41FA5}">
                      <a16:colId xmlns:a16="http://schemas.microsoft.com/office/drawing/2014/main" val="800878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Activities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4tm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 = (to + tp + 4tm) ÷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σ = (tp – to) ÷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σ²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43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2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4(2) = 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 + 3 + 8) ÷ 6 = 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(3 – 1) ÷ 6 = 0.33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767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3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4(6) = 24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 + 7 + 24) ÷ 6 =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(7 – 5) ÷ 6 = 0.33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60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– 4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4(5) = 20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(3 + 7 + 20) ÷ 6 = 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(7 – 3) ÷ 6 = 0.66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38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4(7) = 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 + 9 + 28) ÷ 6 = 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(9 – 5) ÷ 6 = 0.66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26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– 5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4(4) = 16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 + 6 + 16) ÷ 6 = 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(6 – 2) ÷ 6 = 0.66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75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 – 6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4(5) = 20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 + 6 + 20) ÷ 6 = 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(6 – 4) ÷ 6 = 0.33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45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 – 7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4(6) = 24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 + 8 + 24) ÷ 6 = 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(8 – 4) ÷ 6 = 0.66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38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 – 7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4(3) = 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 + 4 + 12) ÷ 6 = 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 – 2) ÷ 6 = 0.33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809373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1F815B-BBA8-4258-96D7-10B3F066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FA2CEF-1E78-47B3-820B-22312400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869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5891-C962-4E81-B422-E4F5060D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5 (Continues…)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A5271-21A3-4F48-BE1D-69A02C4C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7C616-E08F-4C9D-A699-3CDAA392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22</a:t>
            </a:fld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7C5F243-ADD8-474A-BB00-1F095B876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496" y="2381558"/>
            <a:ext cx="8152223" cy="4010280"/>
          </a:xfrm>
        </p:spPr>
      </p:pic>
    </p:spTree>
    <p:extLst>
      <p:ext uri="{BB962C8B-B14F-4D97-AF65-F5344CB8AC3E}">
        <p14:creationId xmlns:p14="http://schemas.microsoft.com/office/powerpoint/2010/main" val="3370111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6773DD-0677-4949-8D5D-2C2D653D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PERT Charts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C63256-2DE1-430D-9636-FAB6DD54A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Real World Application in System Vulnerability Assessment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9E64-009F-4A79-AF81-688CFDF1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638FC-3835-49D9-90DE-EE053F45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819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6243C1-4B28-45A3-8189-CE4FF491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CHAPTER 6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4FC628-39D4-4969-A1DD-25EA58DC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chapter will be covered on Monday, to finish our PERT Chart revisions, the venue is still M202 and time will be communicated through a WhatsApp voting poll.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7B822-89D5-4C2E-88CD-755D2FC3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JAMES SOKO FOR CYBER SECURITY THIRD YEAR CLASS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CB6B2-3161-434E-82FA-89C1E355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DD9D1-ED79-4BA9-B421-8B973A218A59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7993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417</TotalTime>
  <Words>1398</Words>
  <Application>Microsoft Office PowerPoint</Application>
  <PresentationFormat>Widescreen</PresentationFormat>
  <Paragraphs>526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Century Gothic</vt:lpstr>
      <vt:lpstr>Wingdings 3</vt:lpstr>
      <vt:lpstr>Ion Boardroom</vt:lpstr>
      <vt:lpstr>Edraw.Document</vt:lpstr>
      <vt:lpstr>PERT CHARTS </vt:lpstr>
      <vt:lpstr>Objectives</vt:lpstr>
      <vt:lpstr>PERT Charts</vt:lpstr>
      <vt:lpstr>CHARTER 1</vt:lpstr>
      <vt:lpstr>CHARTER 1 (Continues…)</vt:lpstr>
      <vt:lpstr>Forward &amp; Backward Pass</vt:lpstr>
      <vt:lpstr>CHARPTER 2</vt:lpstr>
      <vt:lpstr>CHARPTER 2 (Continues…)</vt:lpstr>
      <vt:lpstr>PERT Chart</vt:lpstr>
      <vt:lpstr>CHARPTER 3</vt:lpstr>
      <vt:lpstr>CHARPTER 3 (Continues…)</vt:lpstr>
      <vt:lpstr>PERT Chart </vt:lpstr>
      <vt:lpstr>CHAPTER 4</vt:lpstr>
      <vt:lpstr>CHAPTER 4 (Continues…)</vt:lpstr>
      <vt:lpstr>CHAPTER 4 (Continues…)</vt:lpstr>
      <vt:lpstr>CHAPTER 4 (Continues…)</vt:lpstr>
      <vt:lpstr>CHAPTER 4 (Continues…)</vt:lpstr>
      <vt:lpstr>CHAPTER 4 (Continues…)</vt:lpstr>
      <vt:lpstr>PERT Chart</vt:lpstr>
      <vt:lpstr>CHAPTER 5</vt:lpstr>
      <vt:lpstr>CHAPTER 5 (Continues…)</vt:lpstr>
      <vt:lpstr>CHAPTER 5 (Continues…)</vt:lpstr>
      <vt:lpstr>PERT Charts</vt:lpstr>
      <vt:lpstr>CHAPTER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 CHARTS</dc:title>
  <dc:creator>James Soko</dc:creator>
  <cp:lastModifiedBy>James Soko</cp:lastModifiedBy>
  <cp:revision>75</cp:revision>
  <dcterms:created xsi:type="dcterms:W3CDTF">2025-09-17T09:07:24Z</dcterms:created>
  <dcterms:modified xsi:type="dcterms:W3CDTF">2025-09-19T12:02:04Z</dcterms:modified>
</cp:coreProperties>
</file>