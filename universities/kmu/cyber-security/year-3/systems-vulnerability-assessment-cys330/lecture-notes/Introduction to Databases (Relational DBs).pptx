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56" r:id="rId2"/>
    <p:sldId id="287" r:id="rId3"/>
    <p:sldId id="257" r:id="rId4"/>
    <p:sldId id="258" r:id="rId5"/>
    <p:sldId id="262" r:id="rId6"/>
    <p:sldId id="260" r:id="rId7"/>
    <p:sldId id="261" r:id="rId8"/>
    <p:sldId id="263" r:id="rId9"/>
    <p:sldId id="264" r:id="rId10"/>
    <p:sldId id="272" r:id="rId11"/>
    <p:sldId id="265" r:id="rId12"/>
    <p:sldId id="266" r:id="rId13"/>
    <p:sldId id="273" r:id="rId14"/>
    <p:sldId id="274" r:id="rId15"/>
    <p:sldId id="275" r:id="rId16"/>
    <p:sldId id="276" r:id="rId17"/>
    <p:sldId id="277" r:id="rId18"/>
    <p:sldId id="278" r:id="rId19"/>
    <p:sldId id="283" r:id="rId20"/>
    <p:sldId id="284" r:id="rId21"/>
    <p:sldId id="285" r:id="rId22"/>
    <p:sldId id="286" r:id="rId23"/>
    <p:sldId id="288" r:id="rId24"/>
    <p:sldId id="289" r:id="rId25"/>
    <p:sldId id="290" r:id="rId26"/>
    <p:sldId id="291" r:id="rId27"/>
    <p:sldId id="267" r:id="rId28"/>
    <p:sldId id="268" r:id="rId29"/>
    <p:sldId id="269" r:id="rId30"/>
    <p:sldId id="270" r:id="rId31"/>
    <p:sldId id="279" r:id="rId32"/>
    <p:sldId id="280" r:id="rId33"/>
    <p:sldId id="271" r:id="rId34"/>
    <p:sldId id="281" r:id="rId35"/>
    <p:sldId id="282"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9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05FF41-C91F-4D0A-AC1A-6A311AF7BC68}" type="datetimeFigureOut">
              <a:rPr lang="LID4096" smtClean="0"/>
              <a:t>09/22/2025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C11684-C1AF-4FF3-A36B-0ED6360B3D81}" type="slidenum">
              <a:rPr lang="LID4096" smtClean="0"/>
              <a:t>‹#›</a:t>
            </a:fld>
            <a:endParaRPr lang="LID4096"/>
          </a:p>
        </p:txBody>
      </p:sp>
    </p:spTree>
    <p:extLst>
      <p:ext uri="{BB962C8B-B14F-4D97-AF65-F5344CB8AC3E}">
        <p14:creationId xmlns:p14="http://schemas.microsoft.com/office/powerpoint/2010/main" val="3931114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CF8B035-6C81-4088-993F-982C4FDECED2}" type="datetime1">
              <a:rPr lang="LID4096" smtClean="0"/>
              <a:t>09/22/2025</a:t>
            </a:fld>
            <a:endParaRPr lang="LID4096"/>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GB" dirty="0"/>
              <a:t>Prepared by James Soko for Mr. Paul M. Mutunda © Kapasa Makasa University</a:t>
            </a:r>
            <a:endParaRPr lang="LID4096"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286258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E1750-D992-438F-9758-E06FC362919F}"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138779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2BFBE-7F2C-4EAC-A04D-A7DC74F31AEE}"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2873700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21BFF5-B26E-44C0-AA8F-CBBECA22AD0F}" type="datetime1">
              <a:rPr lang="LID4096" smtClean="0"/>
              <a:t>09/22/2025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7" name="Slide Number Placeholder 6"/>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307684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60FABF-2F4C-4F5C-9E4C-8441816735B5}" type="datetime1">
              <a:rPr lang="LID4096" smtClean="0"/>
              <a:t>09/22/2025</a:t>
            </a:fld>
            <a:endParaRPr lang="LID4096"/>
          </a:p>
        </p:txBody>
      </p:sp>
      <p:sp>
        <p:nvSpPr>
          <p:cNvPr id="8" name="Footer Placeholder 7"/>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9" name="Slide Number Placeholder 8"/>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341327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182639-2B2D-488C-92FB-5BEB8597CC55}" type="datetime1">
              <a:rPr lang="LID4096" smtClean="0"/>
              <a:t>09/22/2025</a:t>
            </a:fld>
            <a:endParaRPr lang="LID4096"/>
          </a:p>
        </p:txBody>
      </p:sp>
      <p:sp>
        <p:nvSpPr>
          <p:cNvPr id="4" name="Footer Placeholder 3"/>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716996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4CE0ED-1B3C-4D2D-8E12-0500EB39F761}" type="datetime1">
              <a:rPr lang="LID4096" smtClean="0"/>
              <a:t>09/22/2025</a:t>
            </a:fld>
            <a:endParaRPr lang="LID4096"/>
          </a:p>
        </p:txBody>
      </p:sp>
      <p:sp>
        <p:nvSpPr>
          <p:cNvPr id="3" name="Footer Placeholder 2"/>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637343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A39CEA-55FF-44A4-88DD-490133F42B63}" type="datetime1">
              <a:rPr lang="LID4096" smtClean="0"/>
              <a:t>09/22/2025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1134702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5454EC-331E-4C16-9508-3CA3DF898268}" type="datetime1">
              <a:rPr lang="LID4096" smtClean="0"/>
              <a:t>09/22/2025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3951993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302E98-C7FE-4AEB-9E77-079077AB7F1E}" type="datetime1">
              <a:rPr lang="LID4096" smtClean="0"/>
              <a:t>09/22/2025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1826761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B6BF4B-DEB8-467B-A2EF-809972CCCFB9}"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3127274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CAF9A8-51E1-420C-B215-76AF9405DA8A}"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1588133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3FB758-95C0-40AD-B267-95A99A38B1AA}"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386230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1CC1B1-BFE5-487A-A19E-CE717108D9AD}" type="datetime1">
              <a:rPr lang="LID4096" smtClean="0"/>
              <a:t>09/22/2025</a:t>
            </a:fld>
            <a:endParaRPr lang="LID4096"/>
          </a:p>
        </p:txBody>
      </p:sp>
      <p:sp>
        <p:nvSpPr>
          <p:cNvPr id="8" name="Footer Placeholder 7"/>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9" name="Slide Number Placeholder 8"/>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2399484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C28DD5E-5AFE-4EB5-8AAD-635E8195365F}" type="datetime1">
              <a:rPr lang="LID4096" smtClean="0"/>
              <a:t>09/22/2025</a:t>
            </a:fld>
            <a:endParaRPr lang="LID4096"/>
          </a:p>
        </p:txBody>
      </p:sp>
      <p:sp>
        <p:nvSpPr>
          <p:cNvPr id="8" name="Footer Placeholder 7"/>
          <p:cNvSpPr>
            <a:spLocks noGrp="1"/>
          </p:cNvSpPr>
          <p:nvPr>
            <p:ph type="ftr" sz="quarter" idx="11"/>
          </p:nvPr>
        </p:nvSpPr>
        <p:spPr>
          <a:xfrm>
            <a:off x="561111" y="6391838"/>
            <a:ext cx="3644282" cy="304801"/>
          </a:xfrm>
        </p:spPr>
        <p:txBody>
          <a:bodyPr/>
          <a:lstStyle/>
          <a:p>
            <a:r>
              <a:rPr lang="en-GB" dirty="0"/>
              <a:t>Prepared by James Soko for Mr. Paul M. Mutunda © Kapasa Makasa University</a:t>
            </a:r>
            <a:endParaRPr lang="LID4096" dirty="0"/>
          </a:p>
        </p:txBody>
      </p:sp>
      <p:sp>
        <p:nvSpPr>
          <p:cNvPr id="9" name="Slide Number Placeholder 8"/>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2213307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ECF36E3-12CE-4D8E-89C9-D3D8A4CFABDD}"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179704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60C1B8D-16ED-4876-9EC1-CA08B0A778E5}" type="datetime1">
              <a:rPr lang="LID4096" smtClean="0"/>
              <a:t>09/22/2025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1DA0CA-E6E7-4A00-872A-D06185C48FFB}" type="slidenum">
              <a:rPr lang="LID4096" smtClean="0"/>
              <a:t>‹#›</a:t>
            </a:fld>
            <a:endParaRPr lang="LID4096"/>
          </a:p>
        </p:txBody>
      </p:sp>
    </p:spTree>
    <p:extLst>
      <p:ext uri="{BB962C8B-B14F-4D97-AF65-F5344CB8AC3E}">
        <p14:creationId xmlns:p14="http://schemas.microsoft.com/office/powerpoint/2010/main" val="2952110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9F1232C-9660-4335-B6A2-0CE792A196BC}" type="datetime1">
              <a:rPr lang="LID4096" smtClean="0"/>
              <a:t>09/22/2025</a:t>
            </a:fld>
            <a:endParaRPr lang="LID4096"/>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GB" dirty="0"/>
              <a:t>Prepared by James Soko for Mr. Paul M. Mutunda © Kapasa Makasa University</a:t>
            </a:r>
            <a:endParaRPr lang="LID4096"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D1DA0CA-E6E7-4A00-872A-D06185C48FFB}" type="slidenum">
              <a:rPr lang="LID4096" smtClean="0"/>
              <a:t>‹#›</a:t>
            </a:fld>
            <a:endParaRPr lang="LID4096"/>
          </a:p>
        </p:txBody>
      </p:sp>
    </p:spTree>
    <p:extLst>
      <p:ext uri="{BB962C8B-B14F-4D97-AF65-F5344CB8AC3E}">
        <p14:creationId xmlns:p14="http://schemas.microsoft.com/office/powerpoint/2010/main" val="2055024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4.xml"/><Relationship Id="rId4" Type="http://schemas.openxmlformats.org/officeDocument/2006/relationships/image" Target="../media/image9.tmp"/></Relationships>
</file>

<file path=ppt/slides/_rels/slide8.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4.xml"/><Relationship Id="rId5" Type="http://schemas.openxmlformats.org/officeDocument/2006/relationships/image" Target="../media/image15.tmp"/><Relationship Id="rId4" Type="http://schemas.openxmlformats.org/officeDocument/2006/relationships/image" Target="../media/image14.tm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4.xml"/><Relationship Id="rId5" Type="http://schemas.openxmlformats.org/officeDocument/2006/relationships/image" Target="../media/image19.tmp"/><Relationship Id="rId4" Type="http://schemas.openxmlformats.org/officeDocument/2006/relationships/image" Target="../media/image18.tmp"/></Relationships>
</file>

<file path=ppt/slides/_rels/slide12.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3.tmp"/><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4.xml"/><Relationship Id="rId4" Type="http://schemas.openxmlformats.org/officeDocument/2006/relationships/image" Target="../media/image27.tm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tmp"/><Relationship Id="rId1" Type="http://schemas.openxmlformats.org/officeDocument/2006/relationships/slideLayout" Target="../slideLayouts/slideLayout4.xml"/><Relationship Id="rId5" Type="http://schemas.openxmlformats.org/officeDocument/2006/relationships/image" Target="../media/image34.tmp"/><Relationship Id="rId4" Type="http://schemas.openxmlformats.org/officeDocument/2006/relationships/image" Target="../media/image33.tmp"/></Relationships>
</file>

<file path=ppt/slides/_rels/slide21.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image" Target="../media/image35.tmp"/><Relationship Id="rId1" Type="http://schemas.openxmlformats.org/officeDocument/2006/relationships/slideLayout" Target="../slideLayouts/slideLayout4.xml"/><Relationship Id="rId4" Type="http://schemas.openxmlformats.org/officeDocument/2006/relationships/image" Target="../media/image37.tmp"/></Relationships>
</file>

<file path=ppt/slides/_rels/slide22.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4.xml"/><Relationship Id="rId4" Type="http://schemas.openxmlformats.org/officeDocument/2006/relationships/image" Target="../media/image40.tmp"/></Relationships>
</file>

<file path=ppt/slides/_rels/slide23.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image" Target="../media/image44.tmp"/><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6AB1-4D91-4280-9CAC-5274F2DB1893}"/>
              </a:ext>
            </a:extLst>
          </p:cNvPr>
          <p:cNvSpPr>
            <a:spLocks noGrp="1"/>
          </p:cNvSpPr>
          <p:nvPr>
            <p:ph type="ctrTitle"/>
          </p:nvPr>
        </p:nvSpPr>
        <p:spPr/>
        <p:txBody>
          <a:bodyPr/>
          <a:lstStyle/>
          <a:p>
            <a:r>
              <a:rPr lang="en-US" b="1" dirty="0"/>
              <a:t>Introduction to Databases</a:t>
            </a:r>
            <a:endParaRPr lang="LID4096" b="1" dirty="0"/>
          </a:p>
        </p:txBody>
      </p:sp>
      <p:sp>
        <p:nvSpPr>
          <p:cNvPr id="3" name="Subtitle 2">
            <a:extLst>
              <a:ext uri="{FF2B5EF4-FFF2-40B4-BE49-F238E27FC236}">
                <a16:creationId xmlns:a16="http://schemas.microsoft.com/office/drawing/2014/main" id="{3C1F288A-C6F9-43AD-8893-6180D5CED2BB}"/>
              </a:ext>
            </a:extLst>
          </p:cNvPr>
          <p:cNvSpPr>
            <a:spLocks noGrp="1"/>
          </p:cNvSpPr>
          <p:nvPr>
            <p:ph type="subTitle" idx="1"/>
          </p:nvPr>
        </p:nvSpPr>
        <p:spPr/>
        <p:txBody>
          <a:bodyPr/>
          <a:lstStyle/>
          <a:p>
            <a:r>
              <a:rPr lang="en-US" b="1" dirty="0"/>
              <a:t>Relational Databases</a:t>
            </a:r>
            <a:endParaRPr lang="LID4096" b="1" dirty="0"/>
          </a:p>
        </p:txBody>
      </p:sp>
    </p:spTree>
    <p:extLst>
      <p:ext uri="{BB962C8B-B14F-4D97-AF65-F5344CB8AC3E}">
        <p14:creationId xmlns:p14="http://schemas.microsoft.com/office/powerpoint/2010/main" val="31141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9F8B8B-A279-474F-9EE0-05597691C3BB}"/>
              </a:ext>
            </a:extLst>
          </p:cNvPr>
          <p:cNvSpPr>
            <a:spLocks noGrp="1"/>
          </p:cNvSpPr>
          <p:nvPr>
            <p:ph type="title"/>
          </p:nvPr>
        </p:nvSpPr>
        <p:spPr/>
        <p:txBody>
          <a:bodyPr/>
          <a:lstStyle/>
          <a:p>
            <a:r>
              <a:rPr lang="en-US" b="1" dirty="0"/>
              <a:t>Access</a:t>
            </a:r>
            <a:endParaRPr lang="LID4096" b="1" dirty="0"/>
          </a:p>
        </p:txBody>
      </p:sp>
      <p:sp>
        <p:nvSpPr>
          <p:cNvPr id="7" name="Text Placeholder 6">
            <a:extLst>
              <a:ext uri="{FF2B5EF4-FFF2-40B4-BE49-F238E27FC236}">
                <a16:creationId xmlns:a16="http://schemas.microsoft.com/office/drawing/2014/main" id="{BF20F16D-0F4C-423C-8F5C-260C6C53EA8F}"/>
              </a:ext>
            </a:extLst>
          </p:cNvPr>
          <p:cNvSpPr>
            <a:spLocks noGrp="1"/>
          </p:cNvSpPr>
          <p:nvPr>
            <p:ph type="body" idx="1"/>
          </p:nvPr>
        </p:nvSpPr>
        <p:spPr/>
        <p:txBody>
          <a:bodyPr/>
          <a:lstStyle/>
          <a:p>
            <a:r>
              <a:rPr lang="en-US" b="1" dirty="0"/>
              <a:t>Microsoft </a:t>
            </a:r>
            <a:endParaRPr lang="LID4096" b="1" dirty="0"/>
          </a:p>
        </p:txBody>
      </p:sp>
      <p:sp>
        <p:nvSpPr>
          <p:cNvPr id="4" name="Footer Placeholder 3">
            <a:extLst>
              <a:ext uri="{FF2B5EF4-FFF2-40B4-BE49-F238E27FC236}">
                <a16:creationId xmlns:a16="http://schemas.microsoft.com/office/drawing/2014/main" id="{48A0E521-6112-49A4-80AF-01E69DBFAD25}"/>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7E5A915D-BCFE-4175-8BC0-630145B8ED32}"/>
              </a:ext>
            </a:extLst>
          </p:cNvPr>
          <p:cNvSpPr>
            <a:spLocks noGrp="1"/>
          </p:cNvSpPr>
          <p:nvPr>
            <p:ph type="sldNum" sz="quarter" idx="12"/>
          </p:nvPr>
        </p:nvSpPr>
        <p:spPr/>
        <p:txBody>
          <a:bodyPr/>
          <a:lstStyle/>
          <a:p>
            <a:fld id="{1D1DA0CA-E6E7-4A00-872A-D06185C48FFB}" type="slidenum">
              <a:rPr lang="LID4096" smtClean="0"/>
              <a:t>2</a:t>
            </a:fld>
            <a:endParaRPr lang="LID4096"/>
          </a:p>
        </p:txBody>
      </p:sp>
    </p:spTree>
    <p:extLst>
      <p:ext uri="{BB962C8B-B14F-4D97-AF65-F5344CB8AC3E}">
        <p14:creationId xmlns:p14="http://schemas.microsoft.com/office/powerpoint/2010/main" val="1541161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C7739-BAF3-4A35-8194-A68A39FF7F21}"/>
              </a:ext>
            </a:extLst>
          </p:cNvPr>
          <p:cNvSpPr>
            <a:spLocks noGrp="1"/>
          </p:cNvSpPr>
          <p:nvPr>
            <p:ph type="title"/>
          </p:nvPr>
        </p:nvSpPr>
        <p:spPr/>
        <p:txBody>
          <a:bodyPr/>
          <a:lstStyle/>
          <a:p>
            <a:pPr algn="ctr"/>
            <a:r>
              <a:rPr lang="en-US" b="1" dirty="0"/>
              <a:t>Introduction</a:t>
            </a:r>
            <a:endParaRPr lang="LID4096" b="1" dirty="0"/>
          </a:p>
        </p:txBody>
      </p:sp>
      <p:sp>
        <p:nvSpPr>
          <p:cNvPr id="3" name="Content Placeholder 2">
            <a:extLst>
              <a:ext uri="{FF2B5EF4-FFF2-40B4-BE49-F238E27FC236}">
                <a16:creationId xmlns:a16="http://schemas.microsoft.com/office/drawing/2014/main" id="{93A53AE8-E23C-46F5-8751-B70024AAE587}"/>
              </a:ext>
            </a:extLst>
          </p:cNvPr>
          <p:cNvSpPr>
            <a:spLocks noGrp="1"/>
          </p:cNvSpPr>
          <p:nvPr>
            <p:ph sz="half" idx="1"/>
          </p:nvPr>
        </p:nvSpPr>
        <p:spPr/>
        <p:txBody>
          <a:bodyPr/>
          <a:lstStyle/>
          <a:p>
            <a:r>
              <a:rPr lang="en-US" b="1" dirty="0"/>
              <a:t>Structured Query Language (SQL) </a:t>
            </a:r>
            <a:r>
              <a:rPr lang="en-US" dirty="0"/>
              <a:t>is a programming language designed to manage data stored in relational databases. </a:t>
            </a:r>
          </a:p>
          <a:p>
            <a:pPr>
              <a:buFont typeface="+mj-lt"/>
              <a:buAutoNum type="arabicPeriod"/>
            </a:pPr>
            <a:r>
              <a:rPr lang="en-US" dirty="0"/>
              <a:t>Right click on your preferred Folder (e.g., Desktop) and select </a:t>
            </a:r>
            <a:r>
              <a:rPr lang="en-US" b="1" dirty="0"/>
              <a:t>New</a:t>
            </a:r>
            <a:r>
              <a:rPr lang="en-US" dirty="0"/>
              <a:t> → </a:t>
            </a:r>
            <a:r>
              <a:rPr lang="en-US" b="1" dirty="0"/>
              <a:t>Microsoft Access Database </a:t>
            </a:r>
          </a:p>
          <a:p>
            <a:pPr marL="0" indent="0">
              <a:buNone/>
            </a:pPr>
            <a:endParaRPr lang="LID4096" dirty="0"/>
          </a:p>
        </p:txBody>
      </p:sp>
      <p:sp>
        <p:nvSpPr>
          <p:cNvPr id="8" name="Content Placeholder 7">
            <a:extLst>
              <a:ext uri="{FF2B5EF4-FFF2-40B4-BE49-F238E27FC236}">
                <a16:creationId xmlns:a16="http://schemas.microsoft.com/office/drawing/2014/main" id="{A07790CD-F95F-4211-BE7F-4E67CB5CFE59}"/>
              </a:ext>
            </a:extLst>
          </p:cNvPr>
          <p:cNvSpPr>
            <a:spLocks noGrp="1"/>
          </p:cNvSpPr>
          <p:nvPr>
            <p:ph sz="half" idx="2"/>
          </p:nvPr>
        </p:nvSpPr>
        <p:spPr/>
        <p:txBody>
          <a:bodyPr/>
          <a:lstStyle/>
          <a:p>
            <a:pPr>
              <a:buAutoNum type="arabicPeriod" startAt="2"/>
            </a:pPr>
            <a:r>
              <a:rPr lang="en-US" dirty="0"/>
              <a:t>Rename your database (e.g., STUDENTS)</a:t>
            </a:r>
          </a:p>
          <a:p>
            <a:pPr>
              <a:buAutoNum type="arabicPeriod" startAt="2"/>
            </a:pPr>
            <a:endParaRPr lang="en-US" dirty="0"/>
          </a:p>
          <a:p>
            <a:pPr>
              <a:buAutoNum type="arabicPeriod" startAt="2"/>
            </a:pPr>
            <a:endParaRPr lang="en-US" dirty="0"/>
          </a:p>
          <a:p>
            <a:pPr>
              <a:buAutoNum type="arabicPeriod" startAt="2"/>
            </a:pPr>
            <a:endParaRPr lang="en-US" dirty="0"/>
          </a:p>
          <a:p>
            <a:pPr>
              <a:buAutoNum type="arabicPeriod" startAt="2"/>
            </a:pPr>
            <a:endParaRPr lang="en-US" dirty="0"/>
          </a:p>
          <a:p>
            <a:pPr>
              <a:buAutoNum type="arabicPeriod" startAt="2"/>
            </a:pPr>
            <a:r>
              <a:rPr lang="en-US" dirty="0"/>
              <a:t>Open your database.</a:t>
            </a:r>
          </a:p>
          <a:p>
            <a:pPr marL="0" indent="0">
              <a:buNone/>
            </a:pPr>
            <a:endParaRPr lang="en-US" dirty="0"/>
          </a:p>
          <a:p>
            <a:pPr>
              <a:buAutoNum type="arabicPeriod" startAt="3"/>
            </a:pPr>
            <a:endParaRPr lang="en-US" dirty="0"/>
          </a:p>
          <a:p>
            <a:pPr>
              <a:buAutoNum type="arabicPeriod" startAt="3"/>
            </a:pPr>
            <a:endParaRPr lang="en-US" dirty="0"/>
          </a:p>
          <a:p>
            <a:pPr>
              <a:buAutoNum type="arabicPeriod" startAt="3"/>
            </a:pPr>
            <a:endParaRPr lang="en-US" dirty="0"/>
          </a:p>
          <a:p>
            <a:pPr>
              <a:buAutoNum type="arabicPeriod" startAt="3"/>
            </a:pPr>
            <a:endParaRPr lang="en-US" dirty="0"/>
          </a:p>
          <a:p>
            <a:pPr marL="0" indent="0">
              <a:buNone/>
            </a:pPr>
            <a:endParaRPr lang="en-US" b="1"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F84DED5A-1C09-413E-8A59-E2DA15D3FB18}"/>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28886BBE-862C-4457-A6B6-504877216486}"/>
              </a:ext>
            </a:extLst>
          </p:cNvPr>
          <p:cNvSpPr>
            <a:spLocks noGrp="1"/>
          </p:cNvSpPr>
          <p:nvPr>
            <p:ph type="sldNum" sz="quarter" idx="12"/>
          </p:nvPr>
        </p:nvSpPr>
        <p:spPr/>
        <p:txBody>
          <a:bodyPr/>
          <a:lstStyle/>
          <a:p>
            <a:fld id="{1D1DA0CA-E6E7-4A00-872A-D06185C48FFB}" type="slidenum">
              <a:rPr lang="LID4096" smtClean="0"/>
              <a:t>3</a:t>
            </a:fld>
            <a:endParaRPr lang="LID4096"/>
          </a:p>
        </p:txBody>
      </p:sp>
      <p:pic>
        <p:nvPicPr>
          <p:cNvPr id="9" name="Picture 8">
            <a:extLst>
              <a:ext uri="{FF2B5EF4-FFF2-40B4-BE49-F238E27FC236}">
                <a16:creationId xmlns:a16="http://schemas.microsoft.com/office/drawing/2014/main" id="{0D6161AD-B1BD-46CF-A9C3-A4B151627FE3}"/>
              </a:ext>
            </a:extLst>
          </p:cNvPr>
          <p:cNvPicPr>
            <a:picLocks noChangeAspect="1"/>
          </p:cNvPicPr>
          <p:nvPr/>
        </p:nvPicPr>
        <p:blipFill rotWithShape="1">
          <a:blip r:embed="rId2">
            <a:extLst>
              <a:ext uri="{28A0092B-C50C-407E-A947-70E740481C1C}">
                <a14:useLocalDpi xmlns:a14="http://schemas.microsoft.com/office/drawing/2010/main" val="0"/>
              </a:ext>
            </a:extLst>
          </a:blip>
          <a:srcRect t="20862" b="22343"/>
          <a:stretch/>
        </p:blipFill>
        <p:spPr>
          <a:xfrm>
            <a:off x="1523325" y="4928527"/>
            <a:ext cx="4685387" cy="576728"/>
          </a:xfrm>
          <a:prstGeom prst="rect">
            <a:avLst/>
          </a:prstGeom>
        </p:spPr>
      </p:pic>
      <p:pic>
        <p:nvPicPr>
          <p:cNvPr id="13" name="Picture 12">
            <a:extLst>
              <a:ext uri="{FF2B5EF4-FFF2-40B4-BE49-F238E27FC236}">
                <a16:creationId xmlns:a16="http://schemas.microsoft.com/office/drawing/2014/main" id="{BEB34E28-EDF8-4209-A0CF-8574C7C42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5368" y="3429000"/>
            <a:ext cx="1204294" cy="1113972"/>
          </a:xfrm>
          <a:prstGeom prst="rect">
            <a:avLst/>
          </a:prstGeom>
        </p:spPr>
      </p:pic>
    </p:spTree>
    <p:extLst>
      <p:ext uri="{BB962C8B-B14F-4D97-AF65-F5344CB8AC3E}">
        <p14:creationId xmlns:p14="http://schemas.microsoft.com/office/powerpoint/2010/main" val="3392045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FC060-5BA5-4E24-91CF-E95954DB7F43}"/>
              </a:ext>
            </a:extLst>
          </p:cNvPr>
          <p:cNvSpPr>
            <a:spLocks noGrp="1"/>
          </p:cNvSpPr>
          <p:nvPr>
            <p:ph type="title"/>
          </p:nvPr>
        </p:nvSpPr>
        <p:spPr/>
        <p:txBody>
          <a:bodyPr/>
          <a:lstStyle/>
          <a:p>
            <a:pPr algn="ctr"/>
            <a:r>
              <a:rPr lang="en-US" b="1" dirty="0"/>
              <a:t>Relational Database</a:t>
            </a:r>
            <a:endParaRPr lang="LID4096" b="1" dirty="0"/>
          </a:p>
        </p:txBody>
      </p:sp>
      <p:sp>
        <p:nvSpPr>
          <p:cNvPr id="7" name="Content Placeholder 6">
            <a:extLst>
              <a:ext uri="{FF2B5EF4-FFF2-40B4-BE49-F238E27FC236}">
                <a16:creationId xmlns:a16="http://schemas.microsoft.com/office/drawing/2014/main" id="{D5B4F6C8-9ED5-430C-B165-CD0BD2C4048D}"/>
              </a:ext>
            </a:extLst>
          </p:cNvPr>
          <p:cNvSpPr>
            <a:spLocks noGrp="1"/>
          </p:cNvSpPr>
          <p:nvPr>
            <p:ph idx="1"/>
          </p:nvPr>
        </p:nvSpPr>
        <p:spPr/>
        <p:txBody>
          <a:bodyPr/>
          <a:lstStyle/>
          <a:p>
            <a:r>
              <a:rPr lang="en-US" dirty="0"/>
              <a:t>A </a:t>
            </a:r>
            <a:r>
              <a:rPr lang="en-US" b="1" dirty="0"/>
              <a:t>relational database </a:t>
            </a:r>
            <a:r>
              <a:rPr lang="en-US" dirty="0"/>
              <a:t>is a type of database that organizes data into</a:t>
            </a:r>
            <a:r>
              <a:rPr lang="en-US" b="1" dirty="0"/>
              <a:t> rows </a:t>
            </a:r>
            <a:r>
              <a:rPr lang="en-US" dirty="0"/>
              <a:t>and </a:t>
            </a:r>
            <a:r>
              <a:rPr lang="en-US" b="1" dirty="0"/>
              <a:t>columns</a:t>
            </a:r>
            <a:r>
              <a:rPr lang="en-US" dirty="0"/>
              <a:t>.</a:t>
            </a:r>
          </a:p>
          <a:p>
            <a:r>
              <a:rPr lang="en-US" b="1" dirty="0"/>
              <a:t>Rows </a:t>
            </a:r>
            <a:r>
              <a:rPr lang="en-US" dirty="0"/>
              <a:t>are commonly referred to as </a:t>
            </a:r>
            <a:r>
              <a:rPr lang="en-US" b="1" dirty="0"/>
              <a:t>records </a:t>
            </a:r>
            <a:r>
              <a:rPr lang="en-US" dirty="0"/>
              <a:t>or tuples and </a:t>
            </a:r>
            <a:r>
              <a:rPr lang="en-US" b="1" dirty="0"/>
              <a:t>columns </a:t>
            </a:r>
            <a:r>
              <a:rPr lang="en-US" dirty="0"/>
              <a:t>are referred to as </a:t>
            </a:r>
            <a:r>
              <a:rPr lang="en-US" b="1" dirty="0"/>
              <a:t>fields</a:t>
            </a:r>
            <a:r>
              <a:rPr lang="en-US" dirty="0"/>
              <a:t> or attributes.</a:t>
            </a:r>
          </a:p>
          <a:p>
            <a:r>
              <a:rPr lang="en-US" dirty="0"/>
              <a:t>A </a:t>
            </a:r>
            <a:r>
              <a:rPr lang="en-US" b="1" dirty="0"/>
              <a:t>key</a:t>
            </a:r>
            <a:r>
              <a:rPr lang="en-US" dirty="0"/>
              <a:t> is a column or a set of columns used to uniquely identify each row (or record) in a table and to establish relationships between different tables.</a:t>
            </a:r>
          </a:p>
          <a:p>
            <a:pPr marL="0" indent="0">
              <a:buNone/>
            </a:pPr>
            <a:endParaRPr lang="en-US" dirty="0"/>
          </a:p>
        </p:txBody>
      </p:sp>
      <p:sp>
        <p:nvSpPr>
          <p:cNvPr id="5" name="Footer Placeholder 4">
            <a:extLst>
              <a:ext uri="{FF2B5EF4-FFF2-40B4-BE49-F238E27FC236}">
                <a16:creationId xmlns:a16="http://schemas.microsoft.com/office/drawing/2014/main" id="{15AAF7F4-F98D-4446-B472-014421376386}"/>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ED2C4481-025F-4038-B2BC-1FE8EC2270E8}"/>
              </a:ext>
            </a:extLst>
          </p:cNvPr>
          <p:cNvSpPr>
            <a:spLocks noGrp="1"/>
          </p:cNvSpPr>
          <p:nvPr>
            <p:ph type="sldNum" sz="quarter" idx="12"/>
          </p:nvPr>
        </p:nvSpPr>
        <p:spPr/>
        <p:txBody>
          <a:bodyPr/>
          <a:lstStyle/>
          <a:p>
            <a:fld id="{1D1DA0CA-E6E7-4A00-872A-D06185C48FFB}" type="slidenum">
              <a:rPr lang="LID4096" smtClean="0"/>
              <a:t>4</a:t>
            </a:fld>
            <a:endParaRPr lang="LID4096"/>
          </a:p>
        </p:txBody>
      </p:sp>
      <p:pic>
        <p:nvPicPr>
          <p:cNvPr id="9" name="Picture 8">
            <a:extLst>
              <a:ext uri="{FF2B5EF4-FFF2-40B4-BE49-F238E27FC236}">
                <a16:creationId xmlns:a16="http://schemas.microsoft.com/office/drawing/2014/main" id="{D6E90D1B-09E2-47F0-BF1E-56F955B68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428" y="4938133"/>
            <a:ext cx="3859794" cy="1274131"/>
          </a:xfrm>
          <a:prstGeom prst="rect">
            <a:avLst/>
          </a:prstGeom>
        </p:spPr>
      </p:pic>
    </p:spTree>
    <p:extLst>
      <p:ext uri="{BB962C8B-B14F-4D97-AF65-F5344CB8AC3E}">
        <p14:creationId xmlns:p14="http://schemas.microsoft.com/office/powerpoint/2010/main" val="2173297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A0FA7B-39CA-4A0A-812A-06AA41E81611}"/>
              </a:ext>
            </a:extLst>
          </p:cNvPr>
          <p:cNvSpPr>
            <a:spLocks noGrp="1"/>
          </p:cNvSpPr>
          <p:nvPr>
            <p:ph type="title"/>
          </p:nvPr>
        </p:nvSpPr>
        <p:spPr/>
        <p:txBody>
          <a:bodyPr/>
          <a:lstStyle/>
          <a:p>
            <a:pPr algn="ctr"/>
            <a:r>
              <a:rPr lang="en-US" b="1" dirty="0"/>
              <a:t>SQL View</a:t>
            </a:r>
            <a:endParaRPr lang="LID4096" b="1" dirty="0"/>
          </a:p>
        </p:txBody>
      </p:sp>
      <p:sp>
        <p:nvSpPr>
          <p:cNvPr id="3" name="Content Placeholder 2">
            <a:extLst>
              <a:ext uri="{FF2B5EF4-FFF2-40B4-BE49-F238E27FC236}">
                <a16:creationId xmlns:a16="http://schemas.microsoft.com/office/drawing/2014/main" id="{E3D7F4B6-CA61-4BAC-9B89-37D2AB83B6D7}"/>
              </a:ext>
            </a:extLst>
          </p:cNvPr>
          <p:cNvSpPr>
            <a:spLocks noGrp="1"/>
          </p:cNvSpPr>
          <p:nvPr>
            <p:ph sz="half" idx="1"/>
          </p:nvPr>
        </p:nvSpPr>
        <p:spPr/>
        <p:txBody>
          <a:bodyPr/>
          <a:lstStyle/>
          <a:p>
            <a:pPr>
              <a:buFont typeface="+mj-lt"/>
              <a:buAutoNum type="arabicPeriod"/>
            </a:pPr>
            <a:r>
              <a:rPr lang="en-US" dirty="0"/>
              <a:t>Click on </a:t>
            </a:r>
            <a:r>
              <a:rPr lang="en-US" b="1" dirty="0"/>
              <a:t>Create</a:t>
            </a:r>
            <a:r>
              <a:rPr lang="en-US" dirty="0"/>
              <a:t> and select </a:t>
            </a:r>
            <a:r>
              <a:rPr lang="en-US" b="1" dirty="0"/>
              <a:t>Query Design</a:t>
            </a:r>
          </a:p>
          <a:p>
            <a:pPr>
              <a:buFont typeface="+mj-lt"/>
              <a:buAutoNum type="arabicPeriod"/>
            </a:pPr>
            <a:endParaRPr lang="en-US" b="1" dirty="0"/>
          </a:p>
          <a:p>
            <a:pPr>
              <a:buFont typeface="+mj-lt"/>
              <a:buAutoNum type="arabicPeriod"/>
            </a:pPr>
            <a:endParaRPr lang="en-US" b="1" dirty="0"/>
          </a:p>
          <a:p>
            <a:pPr>
              <a:buFont typeface="+mj-lt"/>
              <a:buAutoNum type="arabicPeriod"/>
            </a:pPr>
            <a:endParaRPr lang="en-US" b="1" dirty="0"/>
          </a:p>
          <a:p>
            <a:pPr>
              <a:buFont typeface="+mj-lt"/>
              <a:buAutoNum type="arabicPeriod"/>
            </a:pPr>
            <a:endParaRPr lang="en-US" b="1" dirty="0"/>
          </a:p>
          <a:p>
            <a:pPr>
              <a:buFont typeface="+mj-lt"/>
              <a:buAutoNum type="arabicPeriod"/>
            </a:pPr>
            <a:endParaRPr lang="en-US" b="1" dirty="0"/>
          </a:p>
          <a:p>
            <a:pPr>
              <a:buFont typeface="+mj-lt"/>
              <a:buAutoNum type="arabicPeriod"/>
            </a:pPr>
            <a:endParaRPr lang="en-US" b="1" dirty="0"/>
          </a:p>
          <a:p>
            <a:pPr marL="0" indent="0">
              <a:buNone/>
            </a:pPr>
            <a:endParaRPr lang="en-US" b="1" dirty="0"/>
          </a:p>
          <a:p>
            <a:pPr marL="0" indent="0">
              <a:buNone/>
            </a:pPr>
            <a:endParaRPr lang="en-US" dirty="0"/>
          </a:p>
          <a:p>
            <a:pPr marL="0" indent="0">
              <a:buNone/>
            </a:pPr>
            <a:endParaRPr lang="LID4096" dirty="0"/>
          </a:p>
        </p:txBody>
      </p:sp>
      <p:sp>
        <p:nvSpPr>
          <p:cNvPr id="9" name="Content Placeholder 8">
            <a:extLst>
              <a:ext uri="{FF2B5EF4-FFF2-40B4-BE49-F238E27FC236}">
                <a16:creationId xmlns:a16="http://schemas.microsoft.com/office/drawing/2014/main" id="{1E1546DB-D69B-4FCC-A442-ED807A585A5D}"/>
              </a:ext>
            </a:extLst>
          </p:cNvPr>
          <p:cNvSpPr>
            <a:spLocks noGrp="1"/>
          </p:cNvSpPr>
          <p:nvPr>
            <p:ph sz="half" idx="2"/>
          </p:nvPr>
        </p:nvSpPr>
        <p:spPr/>
        <p:txBody>
          <a:bodyPr/>
          <a:lstStyle/>
          <a:p>
            <a:pPr>
              <a:buAutoNum type="arabicPeriod" startAt="2"/>
            </a:pPr>
            <a:r>
              <a:rPr lang="en-US" dirty="0"/>
              <a:t>Then click on </a:t>
            </a:r>
            <a:r>
              <a:rPr lang="en-US" b="1" dirty="0"/>
              <a:t>SQL View</a:t>
            </a:r>
          </a:p>
          <a:p>
            <a:pPr marL="0" indent="0">
              <a:buNone/>
            </a:pPr>
            <a:endParaRPr lang="en-US" b="1" dirty="0"/>
          </a:p>
          <a:p>
            <a:pPr marL="0" indent="0">
              <a:buNone/>
            </a:pPr>
            <a:endParaRPr lang="LID4096" dirty="0"/>
          </a:p>
        </p:txBody>
      </p:sp>
      <p:sp>
        <p:nvSpPr>
          <p:cNvPr id="4" name="Footer Placeholder 3">
            <a:extLst>
              <a:ext uri="{FF2B5EF4-FFF2-40B4-BE49-F238E27FC236}">
                <a16:creationId xmlns:a16="http://schemas.microsoft.com/office/drawing/2014/main" id="{523F9FA4-F833-4CCC-A06C-B712E22FAAFB}"/>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241CD33B-9351-4624-BEF8-98380251665A}"/>
              </a:ext>
            </a:extLst>
          </p:cNvPr>
          <p:cNvSpPr>
            <a:spLocks noGrp="1"/>
          </p:cNvSpPr>
          <p:nvPr>
            <p:ph type="sldNum" sz="quarter" idx="12"/>
          </p:nvPr>
        </p:nvSpPr>
        <p:spPr/>
        <p:txBody>
          <a:bodyPr/>
          <a:lstStyle/>
          <a:p>
            <a:fld id="{1D1DA0CA-E6E7-4A00-872A-D06185C48FFB}" type="slidenum">
              <a:rPr lang="LID4096" smtClean="0"/>
              <a:t>5</a:t>
            </a:fld>
            <a:endParaRPr lang="LID4096"/>
          </a:p>
        </p:txBody>
      </p:sp>
      <p:pic>
        <p:nvPicPr>
          <p:cNvPr id="7" name="Picture 6">
            <a:extLst>
              <a:ext uri="{FF2B5EF4-FFF2-40B4-BE49-F238E27FC236}">
                <a16:creationId xmlns:a16="http://schemas.microsoft.com/office/drawing/2014/main" id="{2AA34731-AD88-425D-891F-7E325F919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4555" y="3388949"/>
            <a:ext cx="4679459" cy="2123843"/>
          </a:xfrm>
          <a:prstGeom prst="rect">
            <a:avLst/>
          </a:prstGeom>
        </p:spPr>
      </p:pic>
      <p:pic>
        <p:nvPicPr>
          <p:cNvPr id="11" name="Picture 10">
            <a:extLst>
              <a:ext uri="{FF2B5EF4-FFF2-40B4-BE49-F238E27FC236}">
                <a16:creationId xmlns:a16="http://schemas.microsoft.com/office/drawing/2014/main" id="{A3144AB5-6789-4FD3-B834-F5FBF1F12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4918" y="3057505"/>
            <a:ext cx="1036208" cy="1660771"/>
          </a:xfrm>
          <a:prstGeom prst="rect">
            <a:avLst/>
          </a:prstGeom>
        </p:spPr>
      </p:pic>
    </p:spTree>
    <p:extLst>
      <p:ext uri="{BB962C8B-B14F-4D97-AF65-F5344CB8AC3E}">
        <p14:creationId xmlns:p14="http://schemas.microsoft.com/office/powerpoint/2010/main" val="2811435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A175FEE-7607-4F06-81AA-4C36CBC234C3}"/>
              </a:ext>
            </a:extLst>
          </p:cNvPr>
          <p:cNvSpPr>
            <a:spLocks noGrp="1"/>
          </p:cNvSpPr>
          <p:nvPr>
            <p:ph type="title"/>
          </p:nvPr>
        </p:nvSpPr>
        <p:spPr/>
        <p:txBody>
          <a:bodyPr/>
          <a:lstStyle/>
          <a:p>
            <a:pPr algn="ctr"/>
            <a:r>
              <a:rPr lang="en-US" b="1" dirty="0"/>
              <a:t>SQL Query </a:t>
            </a:r>
            <a:endParaRPr lang="LID4096" b="1" dirty="0"/>
          </a:p>
        </p:txBody>
      </p:sp>
      <p:sp>
        <p:nvSpPr>
          <p:cNvPr id="8" name="Content Placeholder 7">
            <a:extLst>
              <a:ext uri="{FF2B5EF4-FFF2-40B4-BE49-F238E27FC236}">
                <a16:creationId xmlns:a16="http://schemas.microsoft.com/office/drawing/2014/main" id="{249347EB-27E3-4E76-9C8D-031513762F3B}"/>
              </a:ext>
            </a:extLst>
          </p:cNvPr>
          <p:cNvSpPr>
            <a:spLocks noGrp="1"/>
          </p:cNvSpPr>
          <p:nvPr>
            <p:ph idx="1"/>
          </p:nvPr>
        </p:nvSpPr>
        <p:spPr/>
        <p:txBody>
          <a:bodyPr/>
          <a:lstStyle/>
          <a:p>
            <a:r>
              <a:rPr lang="en-US" b="1" dirty="0"/>
              <a:t>SQL queries </a:t>
            </a:r>
            <a:r>
              <a:rPr lang="en-US" dirty="0"/>
              <a:t>(also known as </a:t>
            </a:r>
            <a:r>
              <a:rPr lang="en-US" b="1" dirty="0"/>
              <a:t>SQL commands </a:t>
            </a:r>
            <a:r>
              <a:rPr lang="en-US" dirty="0"/>
              <a:t>or </a:t>
            </a:r>
            <a:r>
              <a:rPr lang="en-US" b="1" dirty="0"/>
              <a:t>SQL statements</a:t>
            </a:r>
            <a:r>
              <a:rPr lang="en-US" dirty="0"/>
              <a:t>) allow users to easily manage data in database.</a:t>
            </a:r>
          </a:p>
          <a:p>
            <a:r>
              <a:rPr lang="en-US" dirty="0"/>
              <a:t>We want our SQL Query to </a:t>
            </a:r>
            <a:r>
              <a:rPr lang="en-US" b="1" dirty="0"/>
              <a:t>CREATE </a:t>
            </a:r>
            <a:r>
              <a:rPr lang="en-US" dirty="0"/>
              <a:t>the fields shown below;</a:t>
            </a:r>
          </a:p>
          <a:p>
            <a:pPr marL="0" indent="0">
              <a:buNone/>
            </a:pPr>
            <a:endParaRPr lang="en-US" dirty="0"/>
          </a:p>
        </p:txBody>
      </p:sp>
      <p:sp>
        <p:nvSpPr>
          <p:cNvPr id="5" name="Footer Placeholder 4">
            <a:extLst>
              <a:ext uri="{FF2B5EF4-FFF2-40B4-BE49-F238E27FC236}">
                <a16:creationId xmlns:a16="http://schemas.microsoft.com/office/drawing/2014/main" id="{297DFA3B-05BE-419C-9EE7-D9B12A1DF127}"/>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97508087-2349-43EC-95CF-4D02233C4DA6}"/>
              </a:ext>
            </a:extLst>
          </p:cNvPr>
          <p:cNvSpPr>
            <a:spLocks noGrp="1"/>
          </p:cNvSpPr>
          <p:nvPr>
            <p:ph type="sldNum" sz="quarter" idx="12"/>
          </p:nvPr>
        </p:nvSpPr>
        <p:spPr/>
        <p:txBody>
          <a:bodyPr/>
          <a:lstStyle/>
          <a:p>
            <a:fld id="{1D1DA0CA-E6E7-4A00-872A-D06185C48FFB}" type="slidenum">
              <a:rPr lang="LID4096" smtClean="0"/>
              <a:t>6</a:t>
            </a:fld>
            <a:endParaRPr lang="LID4096"/>
          </a:p>
        </p:txBody>
      </p:sp>
      <p:graphicFrame>
        <p:nvGraphicFramePr>
          <p:cNvPr id="9" name="Table 9">
            <a:extLst>
              <a:ext uri="{FF2B5EF4-FFF2-40B4-BE49-F238E27FC236}">
                <a16:creationId xmlns:a16="http://schemas.microsoft.com/office/drawing/2014/main" id="{DB31B91A-23A6-40F6-ABD2-68C66F2AAF5E}"/>
              </a:ext>
            </a:extLst>
          </p:cNvPr>
          <p:cNvGraphicFramePr>
            <a:graphicFrameLocks noGrp="1"/>
          </p:cNvGraphicFramePr>
          <p:nvPr>
            <p:extLst>
              <p:ext uri="{D42A27DB-BD31-4B8C-83A1-F6EECF244321}">
                <p14:modId xmlns:p14="http://schemas.microsoft.com/office/powerpoint/2010/main" val="1004983533"/>
              </p:ext>
            </p:extLst>
          </p:nvPr>
        </p:nvGraphicFramePr>
        <p:xfrm>
          <a:off x="1583266" y="3784599"/>
          <a:ext cx="8128000" cy="1854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090385682"/>
                    </a:ext>
                  </a:extLst>
                </a:gridCol>
                <a:gridCol w="1625600">
                  <a:extLst>
                    <a:ext uri="{9D8B030D-6E8A-4147-A177-3AD203B41FA5}">
                      <a16:colId xmlns:a16="http://schemas.microsoft.com/office/drawing/2014/main" val="2107419238"/>
                    </a:ext>
                  </a:extLst>
                </a:gridCol>
                <a:gridCol w="1625600">
                  <a:extLst>
                    <a:ext uri="{9D8B030D-6E8A-4147-A177-3AD203B41FA5}">
                      <a16:colId xmlns:a16="http://schemas.microsoft.com/office/drawing/2014/main" val="684790612"/>
                    </a:ext>
                  </a:extLst>
                </a:gridCol>
                <a:gridCol w="1625600">
                  <a:extLst>
                    <a:ext uri="{9D8B030D-6E8A-4147-A177-3AD203B41FA5}">
                      <a16:colId xmlns:a16="http://schemas.microsoft.com/office/drawing/2014/main" val="1305865998"/>
                    </a:ext>
                  </a:extLst>
                </a:gridCol>
                <a:gridCol w="1625600">
                  <a:extLst>
                    <a:ext uri="{9D8B030D-6E8A-4147-A177-3AD203B41FA5}">
                      <a16:colId xmlns:a16="http://schemas.microsoft.com/office/drawing/2014/main" val="3133099521"/>
                    </a:ext>
                  </a:extLst>
                </a:gridCol>
              </a:tblGrid>
              <a:tr h="370840">
                <a:tc>
                  <a:txBody>
                    <a:bodyPr/>
                    <a:lstStyle/>
                    <a:p>
                      <a:r>
                        <a:rPr lang="en-US" dirty="0"/>
                        <a:t>S_I_N</a:t>
                      </a:r>
                      <a:endParaRPr lang="LID4096" dirty="0"/>
                    </a:p>
                  </a:txBody>
                  <a:tcPr/>
                </a:tc>
                <a:tc>
                  <a:txBody>
                    <a:bodyPr/>
                    <a:lstStyle/>
                    <a:p>
                      <a:r>
                        <a:rPr lang="en-US" dirty="0"/>
                        <a:t>FIRST_NAME</a:t>
                      </a:r>
                      <a:endParaRPr lang="LID4096" dirty="0"/>
                    </a:p>
                  </a:txBody>
                  <a:tcPr/>
                </a:tc>
                <a:tc>
                  <a:txBody>
                    <a:bodyPr/>
                    <a:lstStyle/>
                    <a:p>
                      <a:r>
                        <a:rPr lang="en-US" dirty="0"/>
                        <a:t>LAST_NAME</a:t>
                      </a:r>
                      <a:endParaRPr lang="LID4096" dirty="0"/>
                    </a:p>
                  </a:txBody>
                  <a:tcPr/>
                </a:tc>
                <a:tc>
                  <a:txBody>
                    <a:bodyPr/>
                    <a:lstStyle/>
                    <a:p>
                      <a:r>
                        <a:rPr lang="en-US" dirty="0"/>
                        <a:t>GENDER</a:t>
                      </a:r>
                      <a:endParaRPr lang="LID4096" dirty="0"/>
                    </a:p>
                  </a:txBody>
                  <a:tcPr/>
                </a:tc>
                <a:tc>
                  <a:txBody>
                    <a:bodyPr/>
                    <a:lstStyle/>
                    <a:p>
                      <a:r>
                        <a:rPr lang="en-US" dirty="0"/>
                        <a:t>PROGRAM</a:t>
                      </a:r>
                      <a:endParaRPr lang="LID4096" dirty="0"/>
                    </a:p>
                  </a:txBody>
                  <a:tcPr/>
                </a:tc>
                <a:extLst>
                  <a:ext uri="{0D108BD9-81ED-4DB2-BD59-A6C34878D82A}">
                    <a16:rowId xmlns:a16="http://schemas.microsoft.com/office/drawing/2014/main" val="538986528"/>
                  </a:ext>
                </a:extLst>
              </a:tr>
              <a:tr h="370840">
                <a:tc>
                  <a:txBody>
                    <a:bodyPr/>
                    <a:lstStyle/>
                    <a:p>
                      <a:endParaRPr lang="LID4096" dirty="0"/>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extLst>
                  <a:ext uri="{0D108BD9-81ED-4DB2-BD59-A6C34878D82A}">
                    <a16:rowId xmlns:a16="http://schemas.microsoft.com/office/drawing/2014/main" val="431482830"/>
                  </a:ext>
                </a:extLst>
              </a:tr>
              <a:tr h="370840">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extLst>
                  <a:ext uri="{0D108BD9-81ED-4DB2-BD59-A6C34878D82A}">
                    <a16:rowId xmlns:a16="http://schemas.microsoft.com/office/drawing/2014/main" val="2256083094"/>
                  </a:ext>
                </a:extLst>
              </a:tr>
              <a:tr h="370840">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extLst>
                  <a:ext uri="{0D108BD9-81ED-4DB2-BD59-A6C34878D82A}">
                    <a16:rowId xmlns:a16="http://schemas.microsoft.com/office/drawing/2014/main" val="2429243281"/>
                  </a:ext>
                </a:extLst>
              </a:tr>
              <a:tr h="370840">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dirty="0"/>
                    </a:p>
                  </a:txBody>
                  <a:tcPr/>
                </a:tc>
                <a:extLst>
                  <a:ext uri="{0D108BD9-81ED-4DB2-BD59-A6C34878D82A}">
                    <a16:rowId xmlns:a16="http://schemas.microsoft.com/office/drawing/2014/main" val="2735603102"/>
                  </a:ext>
                </a:extLst>
              </a:tr>
            </a:tbl>
          </a:graphicData>
        </a:graphic>
      </p:graphicFrame>
    </p:spTree>
    <p:extLst>
      <p:ext uri="{BB962C8B-B14F-4D97-AF65-F5344CB8AC3E}">
        <p14:creationId xmlns:p14="http://schemas.microsoft.com/office/powerpoint/2010/main" val="387808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E81F4-09DD-4851-B7F3-5C36EC515194}"/>
              </a:ext>
            </a:extLst>
          </p:cNvPr>
          <p:cNvSpPr>
            <a:spLocks noGrp="1"/>
          </p:cNvSpPr>
          <p:nvPr>
            <p:ph type="title"/>
          </p:nvPr>
        </p:nvSpPr>
        <p:spPr/>
        <p:txBody>
          <a:bodyPr/>
          <a:lstStyle/>
          <a:p>
            <a:pPr algn="ctr"/>
            <a:r>
              <a:rPr lang="en-US" b="1" dirty="0"/>
              <a:t>CREATE TABLE</a:t>
            </a:r>
            <a:endParaRPr lang="LID4096" b="1" dirty="0"/>
          </a:p>
        </p:txBody>
      </p:sp>
      <p:sp>
        <p:nvSpPr>
          <p:cNvPr id="3" name="Content Placeholder 2">
            <a:extLst>
              <a:ext uri="{FF2B5EF4-FFF2-40B4-BE49-F238E27FC236}">
                <a16:creationId xmlns:a16="http://schemas.microsoft.com/office/drawing/2014/main" id="{8E7452A0-7481-4032-AEDA-E618EF0C9700}"/>
              </a:ext>
            </a:extLst>
          </p:cNvPr>
          <p:cNvSpPr>
            <a:spLocks noGrp="1"/>
          </p:cNvSpPr>
          <p:nvPr>
            <p:ph sz="half" idx="1"/>
          </p:nvPr>
        </p:nvSpPr>
        <p:spPr/>
        <p:txBody>
          <a:bodyPr/>
          <a:lstStyle/>
          <a:p>
            <a:pPr>
              <a:buFont typeface="+mj-lt"/>
              <a:buAutoNum type="arabicPeriod"/>
            </a:pPr>
            <a:r>
              <a:rPr lang="en-US" dirty="0"/>
              <a:t>Write the SQL Command below;</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r>
              <a:rPr lang="en-US" dirty="0"/>
              <a:t>Click on Run!</a:t>
            </a:r>
          </a:p>
          <a:p>
            <a:pPr marL="0" indent="0">
              <a:buNone/>
            </a:pPr>
            <a:endParaRPr lang="en-US" dirty="0"/>
          </a:p>
          <a:p>
            <a:pPr marL="0" indent="0">
              <a:buNone/>
            </a:pPr>
            <a:endParaRPr lang="LID4096" dirty="0"/>
          </a:p>
        </p:txBody>
      </p:sp>
      <p:sp>
        <p:nvSpPr>
          <p:cNvPr id="12" name="Content Placeholder 11">
            <a:extLst>
              <a:ext uri="{FF2B5EF4-FFF2-40B4-BE49-F238E27FC236}">
                <a16:creationId xmlns:a16="http://schemas.microsoft.com/office/drawing/2014/main" id="{5BEB3D1C-0483-4DED-A645-58461D207C46}"/>
              </a:ext>
            </a:extLst>
          </p:cNvPr>
          <p:cNvSpPr>
            <a:spLocks noGrp="1"/>
          </p:cNvSpPr>
          <p:nvPr>
            <p:ph sz="half" idx="2"/>
          </p:nvPr>
        </p:nvSpPr>
        <p:spPr/>
        <p:txBody>
          <a:bodyPr/>
          <a:lstStyle/>
          <a:p>
            <a:r>
              <a:rPr lang="en-US" dirty="0"/>
              <a:t>Here is our desired </a:t>
            </a:r>
            <a:r>
              <a:rPr lang="en-US" b="1" dirty="0"/>
              <a:t>TABLE</a:t>
            </a:r>
          </a:p>
          <a:p>
            <a:endParaRPr lang="en-US" dirty="0"/>
          </a:p>
          <a:p>
            <a:endParaRPr lang="en-US" dirty="0"/>
          </a:p>
          <a:p>
            <a:pPr marL="0" indent="0">
              <a:buNone/>
            </a:pPr>
            <a:r>
              <a:rPr lang="en-US" dirty="0"/>
              <a:t>    CREATE TABLE table_name (</a:t>
            </a:r>
          </a:p>
          <a:p>
            <a:pPr marL="0" indent="0">
              <a:buNone/>
            </a:pPr>
            <a:r>
              <a:rPr lang="en-US" dirty="0"/>
              <a:t>     column_1 datatype, </a:t>
            </a:r>
          </a:p>
          <a:p>
            <a:pPr marL="0" indent="0">
              <a:buNone/>
            </a:pPr>
            <a:r>
              <a:rPr lang="en-US" dirty="0"/>
              <a:t>     column_2 datatype, </a:t>
            </a:r>
          </a:p>
          <a:p>
            <a:pPr marL="0" indent="0">
              <a:buNone/>
            </a:pPr>
            <a:r>
              <a:rPr lang="en-US" dirty="0"/>
              <a:t>     column_3 datatype</a:t>
            </a:r>
          </a:p>
          <a:p>
            <a:pPr marL="0" indent="0">
              <a:buNone/>
            </a:pPr>
            <a:r>
              <a:rPr lang="en-US" dirty="0"/>
              <a:t>    );</a:t>
            </a:r>
          </a:p>
          <a:p>
            <a:pPr marL="0" indent="0">
              <a:buNone/>
            </a:pPr>
            <a:endParaRPr lang="en-US" dirty="0"/>
          </a:p>
          <a:p>
            <a:pPr marL="0" indent="0">
              <a:buNone/>
            </a:pPr>
            <a:endParaRPr lang="LID4096" dirty="0"/>
          </a:p>
        </p:txBody>
      </p:sp>
      <p:sp>
        <p:nvSpPr>
          <p:cNvPr id="4" name="Footer Placeholder 3">
            <a:extLst>
              <a:ext uri="{FF2B5EF4-FFF2-40B4-BE49-F238E27FC236}">
                <a16:creationId xmlns:a16="http://schemas.microsoft.com/office/drawing/2014/main" id="{13A320D0-7534-400E-9A48-CA5FF39DD1AB}"/>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F326B539-E600-4688-9B23-5BBEC72B927C}"/>
              </a:ext>
            </a:extLst>
          </p:cNvPr>
          <p:cNvSpPr>
            <a:spLocks noGrp="1"/>
          </p:cNvSpPr>
          <p:nvPr>
            <p:ph type="sldNum" sz="quarter" idx="12"/>
          </p:nvPr>
        </p:nvSpPr>
        <p:spPr/>
        <p:txBody>
          <a:bodyPr/>
          <a:lstStyle/>
          <a:p>
            <a:fld id="{1D1DA0CA-E6E7-4A00-872A-D06185C48FFB}" type="slidenum">
              <a:rPr lang="LID4096" smtClean="0"/>
              <a:t>7</a:t>
            </a:fld>
            <a:endParaRPr lang="LID4096"/>
          </a:p>
        </p:txBody>
      </p:sp>
      <p:pic>
        <p:nvPicPr>
          <p:cNvPr id="11" name="Picture 10">
            <a:extLst>
              <a:ext uri="{FF2B5EF4-FFF2-40B4-BE49-F238E27FC236}">
                <a16:creationId xmlns:a16="http://schemas.microsoft.com/office/drawing/2014/main" id="{238F38FC-C219-4462-8872-2434AF9EE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098" y="5051444"/>
            <a:ext cx="400071" cy="552478"/>
          </a:xfrm>
          <a:prstGeom prst="rect">
            <a:avLst/>
          </a:prstGeom>
        </p:spPr>
      </p:pic>
      <p:pic>
        <p:nvPicPr>
          <p:cNvPr id="14" name="Picture 13">
            <a:extLst>
              <a:ext uri="{FF2B5EF4-FFF2-40B4-BE49-F238E27FC236}">
                <a16:creationId xmlns:a16="http://schemas.microsoft.com/office/drawing/2014/main" id="{E21F9F77-5AFC-446A-B871-5626C9298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1098" y="3046057"/>
            <a:ext cx="1876435" cy="1483609"/>
          </a:xfrm>
          <a:prstGeom prst="rect">
            <a:avLst/>
          </a:prstGeom>
        </p:spPr>
      </p:pic>
      <p:pic>
        <p:nvPicPr>
          <p:cNvPr id="16" name="Picture 15">
            <a:extLst>
              <a:ext uri="{FF2B5EF4-FFF2-40B4-BE49-F238E27FC236}">
                <a16:creationId xmlns:a16="http://schemas.microsoft.com/office/drawing/2014/main" id="{9740E1AC-6415-4172-9A9C-9A393C5074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7744" y="3046057"/>
            <a:ext cx="4775445" cy="628682"/>
          </a:xfrm>
          <a:prstGeom prst="rect">
            <a:avLst/>
          </a:prstGeom>
        </p:spPr>
      </p:pic>
    </p:spTree>
    <p:extLst>
      <p:ext uri="{BB962C8B-B14F-4D97-AF65-F5344CB8AC3E}">
        <p14:creationId xmlns:p14="http://schemas.microsoft.com/office/powerpoint/2010/main" val="1184806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2188-B508-4662-B4CC-37CCE9264027}"/>
              </a:ext>
            </a:extLst>
          </p:cNvPr>
          <p:cNvSpPr>
            <a:spLocks noGrp="1"/>
          </p:cNvSpPr>
          <p:nvPr>
            <p:ph type="title"/>
          </p:nvPr>
        </p:nvSpPr>
        <p:spPr/>
        <p:txBody>
          <a:bodyPr/>
          <a:lstStyle/>
          <a:p>
            <a:pPr algn="ctr"/>
            <a:r>
              <a:rPr lang="en-US" b="1" dirty="0"/>
              <a:t>INSERT INTO</a:t>
            </a:r>
            <a:endParaRPr lang="LID4096" b="1" dirty="0"/>
          </a:p>
        </p:txBody>
      </p:sp>
      <p:sp>
        <p:nvSpPr>
          <p:cNvPr id="3" name="Content Placeholder 2">
            <a:extLst>
              <a:ext uri="{FF2B5EF4-FFF2-40B4-BE49-F238E27FC236}">
                <a16:creationId xmlns:a16="http://schemas.microsoft.com/office/drawing/2014/main" id="{9F7EBB8D-BF03-4E54-92F1-86DCC3FCE676}"/>
              </a:ext>
            </a:extLst>
          </p:cNvPr>
          <p:cNvSpPr>
            <a:spLocks noGrp="1"/>
          </p:cNvSpPr>
          <p:nvPr>
            <p:ph sz="half" idx="1"/>
          </p:nvPr>
        </p:nvSpPr>
        <p:spPr/>
        <p:txBody>
          <a:bodyPr/>
          <a:lstStyle/>
          <a:p>
            <a:r>
              <a:rPr lang="en-US" dirty="0"/>
              <a:t>Now are goal is to add some records to our database as shown below;</a:t>
            </a:r>
          </a:p>
          <a:p>
            <a:pPr marL="0" indent="0">
              <a:buNone/>
            </a:pPr>
            <a:endParaRPr lang="LID4096" dirty="0"/>
          </a:p>
        </p:txBody>
      </p:sp>
      <p:sp>
        <p:nvSpPr>
          <p:cNvPr id="4" name="Content Placeholder 3">
            <a:extLst>
              <a:ext uri="{FF2B5EF4-FFF2-40B4-BE49-F238E27FC236}">
                <a16:creationId xmlns:a16="http://schemas.microsoft.com/office/drawing/2014/main" id="{421B35F4-B29B-4200-9AF4-75582CB5505C}"/>
              </a:ext>
            </a:extLst>
          </p:cNvPr>
          <p:cNvSpPr>
            <a:spLocks noGrp="1"/>
          </p:cNvSpPr>
          <p:nvPr>
            <p:ph sz="half" idx="2"/>
          </p:nvPr>
        </p:nvSpPr>
        <p:spPr>
          <a:xfrm>
            <a:off x="6956981" y="2603501"/>
            <a:ext cx="4825159" cy="3416300"/>
          </a:xfrm>
        </p:spPr>
        <p:txBody>
          <a:bodyPr/>
          <a:lstStyle/>
          <a:p>
            <a:pPr>
              <a:buFont typeface="+mj-lt"/>
              <a:buAutoNum type="arabicPeriod"/>
            </a:pPr>
            <a:r>
              <a:rPr lang="en-US" dirty="0"/>
              <a:t>Write the SQL Query below;</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r>
              <a:rPr lang="en-US" dirty="0"/>
              <a:t>Select the table (Students) then click on </a:t>
            </a:r>
            <a:r>
              <a:rPr lang="en-US" b="1" dirty="0"/>
              <a:t>View</a:t>
            </a:r>
            <a:r>
              <a:rPr lang="en-US" dirty="0"/>
              <a:t> → </a:t>
            </a:r>
            <a:r>
              <a:rPr lang="en-US" b="1" dirty="0"/>
              <a:t>Design View </a:t>
            </a:r>
            <a:r>
              <a:rPr lang="en-US" dirty="0"/>
              <a:t>→ </a:t>
            </a:r>
            <a:r>
              <a:rPr lang="en-US" b="1" dirty="0"/>
              <a:t>Datasheet View</a:t>
            </a:r>
          </a:p>
          <a:p>
            <a:pPr marL="0" indent="0">
              <a:buNone/>
            </a:pPr>
            <a:endParaRPr lang="en-US" dirty="0"/>
          </a:p>
          <a:p>
            <a:pPr marL="0" indent="0">
              <a:buNone/>
            </a:pPr>
            <a:endParaRPr lang="LID4096" dirty="0"/>
          </a:p>
        </p:txBody>
      </p:sp>
      <p:sp>
        <p:nvSpPr>
          <p:cNvPr id="5" name="Footer Placeholder 4">
            <a:extLst>
              <a:ext uri="{FF2B5EF4-FFF2-40B4-BE49-F238E27FC236}">
                <a16:creationId xmlns:a16="http://schemas.microsoft.com/office/drawing/2014/main" id="{A004F841-BF7F-4F04-AC61-18A90DFCD4A5}"/>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FAF7F2E1-B407-4290-BF80-96FDB0AC9CA1}"/>
              </a:ext>
            </a:extLst>
          </p:cNvPr>
          <p:cNvSpPr>
            <a:spLocks noGrp="1"/>
          </p:cNvSpPr>
          <p:nvPr>
            <p:ph type="sldNum" sz="quarter" idx="12"/>
          </p:nvPr>
        </p:nvSpPr>
        <p:spPr/>
        <p:txBody>
          <a:bodyPr/>
          <a:lstStyle/>
          <a:p>
            <a:fld id="{1D1DA0CA-E6E7-4A00-872A-D06185C48FFB}" type="slidenum">
              <a:rPr lang="LID4096" smtClean="0"/>
              <a:t>8</a:t>
            </a:fld>
            <a:endParaRPr lang="LID4096"/>
          </a:p>
        </p:txBody>
      </p:sp>
      <p:graphicFrame>
        <p:nvGraphicFramePr>
          <p:cNvPr id="8" name="Table 8">
            <a:extLst>
              <a:ext uri="{FF2B5EF4-FFF2-40B4-BE49-F238E27FC236}">
                <a16:creationId xmlns:a16="http://schemas.microsoft.com/office/drawing/2014/main" id="{9335204F-E72F-4F6F-8097-5EDBF5992DB8}"/>
              </a:ext>
            </a:extLst>
          </p:cNvPr>
          <p:cNvGraphicFramePr>
            <a:graphicFrameLocks noGrp="1"/>
          </p:cNvGraphicFramePr>
          <p:nvPr>
            <p:extLst>
              <p:ext uri="{D42A27DB-BD31-4B8C-83A1-F6EECF244321}">
                <p14:modId xmlns:p14="http://schemas.microsoft.com/office/powerpoint/2010/main" val="4157894228"/>
              </p:ext>
            </p:extLst>
          </p:nvPr>
        </p:nvGraphicFramePr>
        <p:xfrm>
          <a:off x="1598367" y="3547707"/>
          <a:ext cx="5358614" cy="1854200"/>
        </p:xfrm>
        <a:graphic>
          <a:graphicData uri="http://schemas.openxmlformats.org/drawingml/2006/table">
            <a:tbl>
              <a:tblPr firstRow="1" bandRow="1">
                <a:tableStyleId>{5C22544A-7EE6-4342-B048-85BDC9FD1C3A}</a:tableStyleId>
              </a:tblPr>
              <a:tblGrid>
                <a:gridCol w="880882">
                  <a:extLst>
                    <a:ext uri="{9D8B030D-6E8A-4147-A177-3AD203B41FA5}">
                      <a16:colId xmlns:a16="http://schemas.microsoft.com/office/drawing/2014/main" val="4185520913"/>
                    </a:ext>
                  </a:extLst>
                </a:gridCol>
                <a:gridCol w="1055803">
                  <a:extLst>
                    <a:ext uri="{9D8B030D-6E8A-4147-A177-3AD203B41FA5}">
                      <a16:colId xmlns:a16="http://schemas.microsoft.com/office/drawing/2014/main" val="3477580020"/>
                    </a:ext>
                  </a:extLst>
                </a:gridCol>
                <a:gridCol w="1055802">
                  <a:extLst>
                    <a:ext uri="{9D8B030D-6E8A-4147-A177-3AD203B41FA5}">
                      <a16:colId xmlns:a16="http://schemas.microsoft.com/office/drawing/2014/main" val="418928853"/>
                    </a:ext>
                  </a:extLst>
                </a:gridCol>
                <a:gridCol w="838985">
                  <a:extLst>
                    <a:ext uri="{9D8B030D-6E8A-4147-A177-3AD203B41FA5}">
                      <a16:colId xmlns:a16="http://schemas.microsoft.com/office/drawing/2014/main" val="4002893691"/>
                    </a:ext>
                  </a:extLst>
                </a:gridCol>
                <a:gridCol w="1527142">
                  <a:extLst>
                    <a:ext uri="{9D8B030D-6E8A-4147-A177-3AD203B41FA5}">
                      <a16:colId xmlns:a16="http://schemas.microsoft.com/office/drawing/2014/main" val="3672194389"/>
                    </a:ext>
                  </a:extLst>
                </a:gridCol>
              </a:tblGrid>
              <a:tr h="370840">
                <a:tc>
                  <a:txBody>
                    <a:bodyPr/>
                    <a:lstStyle/>
                    <a:p>
                      <a:r>
                        <a:rPr lang="en-US" sz="1200" dirty="0"/>
                        <a:t>S_I_N</a:t>
                      </a:r>
                      <a:endParaRPr lang="LID4096" sz="1200" dirty="0"/>
                    </a:p>
                  </a:txBody>
                  <a:tcPr/>
                </a:tc>
                <a:tc>
                  <a:txBody>
                    <a:bodyPr/>
                    <a:lstStyle/>
                    <a:p>
                      <a:r>
                        <a:rPr lang="en-US" sz="1200" dirty="0"/>
                        <a:t>FIRST_NAME</a:t>
                      </a:r>
                      <a:endParaRPr lang="LID4096" sz="1200" dirty="0"/>
                    </a:p>
                  </a:txBody>
                  <a:tcPr/>
                </a:tc>
                <a:tc>
                  <a:txBody>
                    <a:bodyPr/>
                    <a:lstStyle/>
                    <a:p>
                      <a:r>
                        <a:rPr lang="en-US" sz="1200" dirty="0"/>
                        <a:t>LAST_NAME</a:t>
                      </a:r>
                      <a:endParaRPr lang="LID4096" sz="1200" dirty="0"/>
                    </a:p>
                  </a:txBody>
                  <a:tcPr/>
                </a:tc>
                <a:tc>
                  <a:txBody>
                    <a:bodyPr/>
                    <a:lstStyle/>
                    <a:p>
                      <a:r>
                        <a:rPr lang="en-US" sz="1200" dirty="0"/>
                        <a:t>GENDER</a:t>
                      </a:r>
                      <a:endParaRPr lang="LID4096" sz="1200" dirty="0"/>
                    </a:p>
                  </a:txBody>
                  <a:tcPr/>
                </a:tc>
                <a:tc>
                  <a:txBody>
                    <a:bodyPr/>
                    <a:lstStyle/>
                    <a:p>
                      <a:r>
                        <a:rPr lang="en-US" sz="1200" dirty="0"/>
                        <a:t>PROGRAM</a:t>
                      </a:r>
                      <a:endParaRPr lang="LID4096" sz="1200" dirty="0"/>
                    </a:p>
                  </a:txBody>
                  <a:tcPr/>
                </a:tc>
                <a:extLst>
                  <a:ext uri="{0D108BD9-81ED-4DB2-BD59-A6C34878D82A}">
                    <a16:rowId xmlns:a16="http://schemas.microsoft.com/office/drawing/2014/main" val="2857463239"/>
                  </a:ext>
                </a:extLst>
              </a:tr>
              <a:tr h="370840">
                <a:tc>
                  <a:txBody>
                    <a:bodyPr/>
                    <a:lstStyle/>
                    <a:p>
                      <a:r>
                        <a:rPr lang="en-US" sz="1200" dirty="0"/>
                        <a:t>20231392</a:t>
                      </a:r>
                      <a:endParaRPr lang="LID4096" sz="1200" dirty="0"/>
                    </a:p>
                  </a:txBody>
                  <a:tcPr/>
                </a:tc>
                <a:tc>
                  <a:txBody>
                    <a:bodyPr/>
                    <a:lstStyle/>
                    <a:p>
                      <a:r>
                        <a:rPr lang="en-US" sz="1200" dirty="0"/>
                        <a:t>JAMES</a:t>
                      </a:r>
                      <a:endParaRPr lang="LID4096" sz="1200" dirty="0"/>
                    </a:p>
                  </a:txBody>
                  <a:tcPr/>
                </a:tc>
                <a:tc>
                  <a:txBody>
                    <a:bodyPr/>
                    <a:lstStyle/>
                    <a:p>
                      <a:r>
                        <a:rPr lang="en-US" sz="1200" dirty="0"/>
                        <a:t>SOKO</a:t>
                      </a:r>
                      <a:endParaRPr lang="LID4096" sz="1200" dirty="0"/>
                    </a:p>
                  </a:txBody>
                  <a:tcPr/>
                </a:tc>
                <a:tc>
                  <a:txBody>
                    <a:bodyPr/>
                    <a:lstStyle/>
                    <a:p>
                      <a:r>
                        <a:rPr lang="en-US" sz="1200" dirty="0"/>
                        <a:t>MALE</a:t>
                      </a:r>
                      <a:endParaRPr lang="LID4096" sz="1200" dirty="0"/>
                    </a:p>
                  </a:txBody>
                  <a:tcPr/>
                </a:tc>
                <a:tc>
                  <a:txBody>
                    <a:bodyPr/>
                    <a:lstStyle/>
                    <a:p>
                      <a:r>
                        <a:rPr lang="en-US" sz="1200" dirty="0"/>
                        <a:t>CYBER SECURITY</a:t>
                      </a:r>
                      <a:endParaRPr lang="LID4096" sz="1200" dirty="0"/>
                    </a:p>
                  </a:txBody>
                  <a:tcPr/>
                </a:tc>
                <a:extLst>
                  <a:ext uri="{0D108BD9-81ED-4DB2-BD59-A6C34878D82A}">
                    <a16:rowId xmlns:a16="http://schemas.microsoft.com/office/drawing/2014/main" val="4207719642"/>
                  </a:ext>
                </a:extLst>
              </a:tr>
              <a:tr h="370840">
                <a:tc>
                  <a:txBody>
                    <a:bodyPr/>
                    <a:lstStyle/>
                    <a:p>
                      <a:r>
                        <a:rPr lang="en-US" sz="1200" dirty="0"/>
                        <a:t>20231947</a:t>
                      </a:r>
                      <a:endParaRPr lang="LID4096" sz="1200" dirty="0"/>
                    </a:p>
                  </a:txBody>
                  <a:tcPr/>
                </a:tc>
                <a:tc>
                  <a:txBody>
                    <a:bodyPr/>
                    <a:lstStyle/>
                    <a:p>
                      <a:r>
                        <a:rPr lang="en-US" sz="1200" dirty="0"/>
                        <a:t>EVANS</a:t>
                      </a:r>
                      <a:endParaRPr lang="LID4096" sz="1200" dirty="0"/>
                    </a:p>
                  </a:txBody>
                  <a:tcPr/>
                </a:tc>
                <a:tc>
                  <a:txBody>
                    <a:bodyPr/>
                    <a:lstStyle/>
                    <a:p>
                      <a:r>
                        <a:rPr lang="en-US" sz="1200" dirty="0"/>
                        <a:t>BWALYA</a:t>
                      </a:r>
                      <a:endParaRPr lang="LID4096" sz="1200" dirty="0"/>
                    </a:p>
                  </a:txBody>
                  <a:tcPr/>
                </a:tc>
                <a:tc>
                  <a:txBody>
                    <a:bodyPr/>
                    <a:lstStyle/>
                    <a:p>
                      <a:r>
                        <a:rPr lang="en-US" sz="1200" dirty="0"/>
                        <a:t>MALE</a:t>
                      </a:r>
                      <a:endParaRPr lang="LID4096" sz="1200" dirty="0"/>
                    </a:p>
                  </a:txBody>
                  <a:tcPr/>
                </a:tc>
                <a:tc>
                  <a:txBody>
                    <a:bodyPr/>
                    <a:lstStyle/>
                    <a:p>
                      <a:r>
                        <a:rPr lang="en-US" sz="1200" dirty="0"/>
                        <a:t>CYBER SECURITY</a:t>
                      </a:r>
                      <a:endParaRPr lang="LID4096" sz="1200" dirty="0"/>
                    </a:p>
                  </a:txBody>
                  <a:tcPr/>
                </a:tc>
                <a:extLst>
                  <a:ext uri="{0D108BD9-81ED-4DB2-BD59-A6C34878D82A}">
                    <a16:rowId xmlns:a16="http://schemas.microsoft.com/office/drawing/2014/main" val="2595630945"/>
                  </a:ext>
                </a:extLst>
              </a:tr>
              <a:tr h="370840">
                <a:tc>
                  <a:txBody>
                    <a:bodyPr/>
                    <a:lstStyle/>
                    <a:p>
                      <a:r>
                        <a:rPr lang="en-US" sz="1200" dirty="0"/>
                        <a:t>20231552</a:t>
                      </a:r>
                      <a:endParaRPr lang="LID4096" sz="1200" dirty="0"/>
                    </a:p>
                  </a:txBody>
                  <a:tcPr/>
                </a:tc>
                <a:tc>
                  <a:txBody>
                    <a:bodyPr/>
                    <a:lstStyle/>
                    <a:p>
                      <a:r>
                        <a:rPr lang="en-US" sz="1200" dirty="0"/>
                        <a:t>FAITH</a:t>
                      </a:r>
                      <a:endParaRPr lang="LID4096" sz="1200" dirty="0"/>
                    </a:p>
                  </a:txBody>
                  <a:tcPr/>
                </a:tc>
                <a:tc>
                  <a:txBody>
                    <a:bodyPr/>
                    <a:lstStyle/>
                    <a:p>
                      <a:r>
                        <a:rPr lang="en-US" sz="1200" dirty="0"/>
                        <a:t>MOONO</a:t>
                      </a:r>
                      <a:endParaRPr lang="LID4096" sz="1200" dirty="0"/>
                    </a:p>
                  </a:txBody>
                  <a:tcPr/>
                </a:tc>
                <a:tc>
                  <a:txBody>
                    <a:bodyPr/>
                    <a:lstStyle/>
                    <a:p>
                      <a:r>
                        <a:rPr lang="en-US" sz="1200" dirty="0"/>
                        <a:t>FEMALE</a:t>
                      </a:r>
                      <a:endParaRPr lang="LID4096" sz="1200" dirty="0"/>
                    </a:p>
                  </a:txBody>
                  <a:tcPr/>
                </a:tc>
                <a:tc>
                  <a:txBody>
                    <a:bodyPr/>
                    <a:lstStyle/>
                    <a:p>
                      <a:r>
                        <a:rPr lang="en-US" sz="1200" dirty="0"/>
                        <a:t>CYBER SECURITY</a:t>
                      </a:r>
                      <a:endParaRPr lang="LID4096" sz="1200" dirty="0"/>
                    </a:p>
                  </a:txBody>
                  <a:tcPr/>
                </a:tc>
                <a:extLst>
                  <a:ext uri="{0D108BD9-81ED-4DB2-BD59-A6C34878D82A}">
                    <a16:rowId xmlns:a16="http://schemas.microsoft.com/office/drawing/2014/main" val="336334639"/>
                  </a:ext>
                </a:extLst>
              </a:tr>
              <a:tr h="370840">
                <a:tc>
                  <a:txBody>
                    <a:bodyPr/>
                    <a:lstStyle/>
                    <a:p>
                      <a:r>
                        <a:rPr lang="en-US" sz="1200" dirty="0"/>
                        <a:t>20230145</a:t>
                      </a:r>
                      <a:endParaRPr lang="LID4096" sz="1200" dirty="0"/>
                    </a:p>
                  </a:txBody>
                  <a:tcPr/>
                </a:tc>
                <a:tc>
                  <a:txBody>
                    <a:bodyPr/>
                    <a:lstStyle/>
                    <a:p>
                      <a:r>
                        <a:rPr lang="en-US" sz="1200" dirty="0"/>
                        <a:t>ROSARIA</a:t>
                      </a:r>
                      <a:endParaRPr lang="LID4096" sz="1200" dirty="0"/>
                    </a:p>
                  </a:txBody>
                  <a:tcPr/>
                </a:tc>
                <a:tc>
                  <a:txBody>
                    <a:bodyPr/>
                    <a:lstStyle/>
                    <a:p>
                      <a:r>
                        <a:rPr lang="en-US" sz="1200" dirty="0"/>
                        <a:t>PHIRI</a:t>
                      </a:r>
                      <a:endParaRPr lang="LID4096" sz="1200" dirty="0"/>
                    </a:p>
                  </a:txBody>
                  <a:tcPr/>
                </a:tc>
                <a:tc>
                  <a:txBody>
                    <a:bodyPr/>
                    <a:lstStyle/>
                    <a:p>
                      <a:r>
                        <a:rPr lang="en-US" sz="1200" dirty="0"/>
                        <a:t>FEMALE</a:t>
                      </a:r>
                      <a:endParaRPr lang="LID4096" sz="1200" dirty="0"/>
                    </a:p>
                  </a:txBody>
                  <a:tcPr/>
                </a:tc>
                <a:tc>
                  <a:txBody>
                    <a:bodyPr/>
                    <a:lstStyle/>
                    <a:p>
                      <a:r>
                        <a:rPr lang="en-US" sz="1200" dirty="0"/>
                        <a:t>CYBER SECURITY</a:t>
                      </a:r>
                      <a:endParaRPr lang="LID4096" sz="1200" dirty="0"/>
                    </a:p>
                  </a:txBody>
                  <a:tcPr/>
                </a:tc>
                <a:extLst>
                  <a:ext uri="{0D108BD9-81ED-4DB2-BD59-A6C34878D82A}">
                    <a16:rowId xmlns:a16="http://schemas.microsoft.com/office/drawing/2014/main" val="1164198611"/>
                  </a:ext>
                </a:extLst>
              </a:tr>
            </a:tbl>
          </a:graphicData>
        </a:graphic>
      </p:graphicFrame>
      <p:pic>
        <p:nvPicPr>
          <p:cNvPr id="10" name="Picture 9">
            <a:extLst>
              <a:ext uri="{FF2B5EF4-FFF2-40B4-BE49-F238E27FC236}">
                <a16:creationId xmlns:a16="http://schemas.microsoft.com/office/drawing/2014/main" id="{EC9BDC57-974B-441C-BDF1-1A0FF9E7B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0394" y="3111483"/>
            <a:ext cx="4381746" cy="883417"/>
          </a:xfrm>
          <a:prstGeom prst="rect">
            <a:avLst/>
          </a:prstGeom>
        </p:spPr>
      </p:pic>
      <p:pic>
        <p:nvPicPr>
          <p:cNvPr id="12" name="Picture 11">
            <a:extLst>
              <a:ext uri="{FF2B5EF4-FFF2-40B4-BE49-F238E27FC236}">
                <a16:creationId xmlns:a16="http://schemas.microsoft.com/office/drawing/2014/main" id="{D35AFC9F-247F-4C4C-A43C-E721B8857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0394" y="5229330"/>
            <a:ext cx="4737343" cy="838243"/>
          </a:xfrm>
          <a:prstGeom prst="rect">
            <a:avLst/>
          </a:prstGeom>
        </p:spPr>
      </p:pic>
    </p:spTree>
    <p:extLst>
      <p:ext uri="{BB962C8B-B14F-4D97-AF65-F5344CB8AC3E}">
        <p14:creationId xmlns:p14="http://schemas.microsoft.com/office/powerpoint/2010/main" val="2160992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9093-1256-4219-8BC2-881F94BF5A7A}"/>
              </a:ext>
            </a:extLst>
          </p:cNvPr>
          <p:cNvSpPr>
            <a:spLocks noGrp="1"/>
          </p:cNvSpPr>
          <p:nvPr>
            <p:ph type="title"/>
          </p:nvPr>
        </p:nvSpPr>
        <p:spPr/>
        <p:txBody>
          <a:bodyPr/>
          <a:lstStyle/>
          <a:p>
            <a:pPr algn="ctr"/>
            <a:r>
              <a:rPr lang="en-US" b="1" dirty="0"/>
              <a:t>INSERT INTO (Syntax) </a:t>
            </a:r>
            <a:endParaRPr lang="LID4096" dirty="0"/>
          </a:p>
        </p:txBody>
      </p:sp>
      <p:sp>
        <p:nvSpPr>
          <p:cNvPr id="3" name="Content Placeholder 2">
            <a:extLst>
              <a:ext uri="{FF2B5EF4-FFF2-40B4-BE49-F238E27FC236}">
                <a16:creationId xmlns:a16="http://schemas.microsoft.com/office/drawing/2014/main" id="{3BAB0352-2371-40D8-86C9-94EEB20EF352}"/>
              </a:ext>
            </a:extLst>
          </p:cNvPr>
          <p:cNvSpPr>
            <a:spLocks noGrp="1"/>
          </p:cNvSpPr>
          <p:nvPr>
            <p:ph sz="half" idx="1"/>
          </p:nvPr>
        </p:nvSpPr>
        <p:spPr/>
        <p:txBody>
          <a:bodyPr>
            <a:normAutofit/>
          </a:bodyPr>
          <a:lstStyle/>
          <a:p>
            <a:pPr marL="0" indent="0">
              <a:buNone/>
            </a:pPr>
            <a:r>
              <a:rPr lang="en-US" sz="1600" dirty="0"/>
              <a:t>INSERT INTO table_name (column_1, column_2)</a:t>
            </a:r>
          </a:p>
          <a:p>
            <a:pPr marL="0" indent="0">
              <a:buNone/>
            </a:pPr>
            <a:r>
              <a:rPr lang="en-US" sz="1600" dirty="0"/>
              <a:t>VALUES (‘value_1’, ‘value_2’);</a:t>
            </a:r>
          </a:p>
          <a:p>
            <a:pPr marL="0" indent="0">
              <a:buNone/>
            </a:pPr>
            <a:endParaRPr lang="LID4096" sz="1600" dirty="0"/>
          </a:p>
        </p:txBody>
      </p:sp>
      <p:sp>
        <p:nvSpPr>
          <p:cNvPr id="4" name="Content Placeholder 3">
            <a:extLst>
              <a:ext uri="{FF2B5EF4-FFF2-40B4-BE49-F238E27FC236}">
                <a16:creationId xmlns:a16="http://schemas.microsoft.com/office/drawing/2014/main" id="{E6073F05-7166-4FF1-A360-6104FE56CA28}"/>
              </a:ext>
            </a:extLst>
          </p:cNvPr>
          <p:cNvSpPr>
            <a:spLocks noGrp="1"/>
          </p:cNvSpPr>
          <p:nvPr>
            <p:ph sz="half" idx="2"/>
          </p:nvPr>
        </p:nvSpPr>
        <p:spPr/>
        <p:txBody>
          <a:bodyPr/>
          <a:lstStyle/>
          <a:p>
            <a:pPr marL="0" indent="0">
              <a:buNone/>
            </a:pPr>
            <a:r>
              <a:rPr lang="en-US" dirty="0"/>
              <a:t>INSERT INTO table_name</a:t>
            </a:r>
          </a:p>
          <a:p>
            <a:pPr marL="0" indent="0">
              <a:buNone/>
            </a:pPr>
            <a:r>
              <a:rPr lang="en-US" dirty="0"/>
              <a:t>VALUES (“value_1”, “value_2”);</a:t>
            </a:r>
          </a:p>
          <a:p>
            <a:pPr marL="0" indent="0">
              <a:buNone/>
            </a:pPr>
            <a:endParaRPr lang="LID4096" dirty="0"/>
          </a:p>
        </p:txBody>
      </p:sp>
      <p:sp>
        <p:nvSpPr>
          <p:cNvPr id="5" name="Footer Placeholder 4">
            <a:extLst>
              <a:ext uri="{FF2B5EF4-FFF2-40B4-BE49-F238E27FC236}">
                <a16:creationId xmlns:a16="http://schemas.microsoft.com/office/drawing/2014/main" id="{CA30685A-6844-4518-B426-272CB29CBE7D}"/>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B4E559D9-7EBD-4068-A02A-8B77C6B04F6B}"/>
              </a:ext>
            </a:extLst>
          </p:cNvPr>
          <p:cNvSpPr>
            <a:spLocks noGrp="1"/>
          </p:cNvSpPr>
          <p:nvPr>
            <p:ph type="sldNum" sz="quarter" idx="12"/>
          </p:nvPr>
        </p:nvSpPr>
        <p:spPr/>
        <p:txBody>
          <a:bodyPr/>
          <a:lstStyle/>
          <a:p>
            <a:fld id="{1D1DA0CA-E6E7-4A00-872A-D06185C48FFB}" type="slidenum">
              <a:rPr lang="LID4096" smtClean="0"/>
              <a:t>9</a:t>
            </a:fld>
            <a:endParaRPr lang="LID4096"/>
          </a:p>
        </p:txBody>
      </p:sp>
      <p:pic>
        <p:nvPicPr>
          <p:cNvPr id="10" name="Picture 9">
            <a:extLst>
              <a:ext uri="{FF2B5EF4-FFF2-40B4-BE49-F238E27FC236}">
                <a16:creationId xmlns:a16="http://schemas.microsoft.com/office/drawing/2014/main" id="{DEC977D9-6AF8-4E63-9187-F4165660C0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2379" y="3379509"/>
            <a:ext cx="4720696" cy="796565"/>
          </a:xfrm>
          <a:prstGeom prst="rect">
            <a:avLst/>
          </a:prstGeom>
        </p:spPr>
      </p:pic>
      <p:pic>
        <p:nvPicPr>
          <p:cNvPr id="12" name="Picture 11">
            <a:extLst>
              <a:ext uri="{FF2B5EF4-FFF2-40B4-BE49-F238E27FC236}">
                <a16:creationId xmlns:a16="http://schemas.microsoft.com/office/drawing/2014/main" id="{0AFB2410-3E6A-477B-8558-7A4B58DC3F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4244" y="4360478"/>
            <a:ext cx="4851649" cy="1028753"/>
          </a:xfrm>
          <a:prstGeom prst="rect">
            <a:avLst/>
          </a:prstGeom>
        </p:spPr>
      </p:pic>
      <p:pic>
        <p:nvPicPr>
          <p:cNvPr id="14" name="Picture 13">
            <a:extLst>
              <a:ext uri="{FF2B5EF4-FFF2-40B4-BE49-F238E27FC236}">
                <a16:creationId xmlns:a16="http://schemas.microsoft.com/office/drawing/2014/main" id="{EED01ACF-D8E4-43FC-BB6F-72F2BE94C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8005" y="3379509"/>
            <a:ext cx="5271649" cy="796565"/>
          </a:xfrm>
          <a:prstGeom prst="rect">
            <a:avLst/>
          </a:prstGeom>
        </p:spPr>
      </p:pic>
      <p:pic>
        <p:nvPicPr>
          <p:cNvPr id="8" name="Picture 7">
            <a:extLst>
              <a:ext uri="{FF2B5EF4-FFF2-40B4-BE49-F238E27FC236}">
                <a16:creationId xmlns:a16="http://schemas.microsoft.com/office/drawing/2014/main" id="{840C39FB-2607-4AFB-BD53-1FE903BBC5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8005" y="4311650"/>
            <a:ext cx="5271649" cy="1262127"/>
          </a:xfrm>
          <a:prstGeom prst="rect">
            <a:avLst/>
          </a:prstGeom>
        </p:spPr>
      </p:pic>
    </p:spTree>
    <p:extLst>
      <p:ext uri="{BB962C8B-B14F-4D97-AF65-F5344CB8AC3E}">
        <p14:creationId xmlns:p14="http://schemas.microsoft.com/office/powerpoint/2010/main" val="1671696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7CA03-B71A-4B8B-B140-54D93A450A80}"/>
              </a:ext>
            </a:extLst>
          </p:cNvPr>
          <p:cNvSpPr>
            <a:spLocks noGrp="1"/>
          </p:cNvSpPr>
          <p:nvPr>
            <p:ph type="title"/>
          </p:nvPr>
        </p:nvSpPr>
        <p:spPr/>
        <p:txBody>
          <a:bodyPr/>
          <a:lstStyle/>
          <a:p>
            <a:pPr algn="ctr"/>
            <a:r>
              <a:rPr lang="en-US" b="1" dirty="0"/>
              <a:t>INSERT INTO – Multiple Records</a:t>
            </a:r>
            <a:endParaRPr lang="LID4096" dirty="0"/>
          </a:p>
        </p:txBody>
      </p:sp>
      <p:sp>
        <p:nvSpPr>
          <p:cNvPr id="3" name="Content Placeholder 2">
            <a:extLst>
              <a:ext uri="{FF2B5EF4-FFF2-40B4-BE49-F238E27FC236}">
                <a16:creationId xmlns:a16="http://schemas.microsoft.com/office/drawing/2014/main" id="{F3A20A44-6E37-4B22-B7F8-7E21912FBB54}"/>
              </a:ext>
            </a:extLst>
          </p:cNvPr>
          <p:cNvSpPr>
            <a:spLocks noGrp="1"/>
          </p:cNvSpPr>
          <p:nvPr>
            <p:ph sz="half" idx="1"/>
          </p:nvPr>
        </p:nvSpPr>
        <p:spPr/>
        <p:txBody>
          <a:bodyPr/>
          <a:lstStyle/>
          <a:p>
            <a:pPr marL="0" indent="0">
              <a:buNone/>
            </a:pPr>
            <a:r>
              <a:rPr lang="en-US" dirty="0"/>
              <a:t>INSERT INTO table_name</a:t>
            </a:r>
          </a:p>
          <a:p>
            <a:pPr marL="0" indent="0">
              <a:buNone/>
            </a:pPr>
            <a:r>
              <a:rPr lang="en-US" dirty="0"/>
              <a:t>VALUES (“column_1”, “column_2”),</a:t>
            </a:r>
          </a:p>
          <a:p>
            <a:pPr marL="0" indent="0">
              <a:buNone/>
            </a:pPr>
            <a:r>
              <a:rPr lang="en-US" dirty="0"/>
              <a:t>              (“column_1”, “column_2”),</a:t>
            </a:r>
          </a:p>
          <a:p>
            <a:pPr marL="0" indent="0">
              <a:buNone/>
            </a:pPr>
            <a:r>
              <a:rPr lang="en-US" dirty="0"/>
              <a:t>              (“column_1”, “column_2”),</a:t>
            </a:r>
          </a:p>
          <a:p>
            <a:pPr marL="0" indent="0">
              <a:buNone/>
            </a:pPr>
            <a:r>
              <a:rPr lang="en-US" dirty="0"/>
              <a:t>              (“column_1”, “column_2”);</a:t>
            </a:r>
            <a:endParaRPr lang="LID4096" dirty="0"/>
          </a:p>
        </p:txBody>
      </p:sp>
      <p:sp>
        <p:nvSpPr>
          <p:cNvPr id="4" name="Content Placeholder 3">
            <a:extLst>
              <a:ext uri="{FF2B5EF4-FFF2-40B4-BE49-F238E27FC236}">
                <a16:creationId xmlns:a16="http://schemas.microsoft.com/office/drawing/2014/main" id="{A7FAC667-9B4D-4C2C-9EB1-DCDE164613D4}"/>
              </a:ext>
            </a:extLst>
          </p:cNvPr>
          <p:cNvSpPr>
            <a:spLocks noGrp="1"/>
          </p:cNvSpPr>
          <p:nvPr>
            <p:ph sz="half" idx="2"/>
          </p:nvPr>
        </p:nvSpPr>
        <p:spPr/>
        <p:txBody>
          <a:bodyPr>
            <a:normAutofit/>
          </a:bodyPr>
          <a:lstStyle/>
          <a:p>
            <a:pPr marL="0" indent="0">
              <a:buNone/>
            </a:pPr>
            <a:r>
              <a:rPr lang="en-US" sz="1100" dirty="0"/>
              <a:t>INSERT INTO students</a:t>
            </a:r>
          </a:p>
          <a:p>
            <a:pPr marL="0" indent="0">
              <a:buNone/>
            </a:pPr>
            <a:r>
              <a:rPr lang="en-US" sz="1100" dirty="0"/>
              <a:t>VALUES (20231392, “JAMES”, “SOKO”, “MALE”, “CYBER SECURITY”),</a:t>
            </a:r>
          </a:p>
          <a:p>
            <a:pPr marL="0" indent="0">
              <a:buNone/>
            </a:pPr>
            <a:r>
              <a:rPr lang="en-US" sz="1100" dirty="0"/>
              <a:t> (20231947, “EVANS”, “BWALYA”, “MALE”, “CYBER SECURITY”),</a:t>
            </a:r>
          </a:p>
          <a:p>
            <a:pPr marL="0" indent="0">
              <a:buNone/>
            </a:pPr>
            <a:r>
              <a:rPr lang="en-US" sz="1100" dirty="0"/>
              <a:t> (20231552, “FAITH”, “MOONO”, “FEMALE”, “CYBER SECURITY”),</a:t>
            </a:r>
          </a:p>
          <a:p>
            <a:pPr marL="0" indent="0">
              <a:buNone/>
            </a:pPr>
            <a:r>
              <a:rPr lang="en-US" sz="1100" dirty="0"/>
              <a:t> (20230145, “ROSARIA”, “PHIRI”, “FEMALE”, “CYBER SECURITY”);</a:t>
            </a:r>
            <a:endParaRPr lang="LID4096" sz="1100" dirty="0"/>
          </a:p>
          <a:p>
            <a:pPr marL="0" indent="0">
              <a:buNone/>
            </a:pPr>
            <a:endParaRPr lang="LID4096" sz="1100" dirty="0"/>
          </a:p>
        </p:txBody>
      </p:sp>
      <p:sp>
        <p:nvSpPr>
          <p:cNvPr id="5" name="Footer Placeholder 4">
            <a:extLst>
              <a:ext uri="{FF2B5EF4-FFF2-40B4-BE49-F238E27FC236}">
                <a16:creationId xmlns:a16="http://schemas.microsoft.com/office/drawing/2014/main" id="{969EABAB-2D88-430C-A74A-48264DB4F84D}"/>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4511F82D-9CA2-4BCB-A6F8-7E4C5516C309}"/>
              </a:ext>
            </a:extLst>
          </p:cNvPr>
          <p:cNvSpPr>
            <a:spLocks noGrp="1"/>
          </p:cNvSpPr>
          <p:nvPr>
            <p:ph type="sldNum" sz="quarter" idx="12"/>
          </p:nvPr>
        </p:nvSpPr>
        <p:spPr/>
        <p:txBody>
          <a:bodyPr/>
          <a:lstStyle/>
          <a:p>
            <a:fld id="{1D1DA0CA-E6E7-4A00-872A-D06185C48FFB}" type="slidenum">
              <a:rPr lang="LID4096" smtClean="0"/>
              <a:t>10</a:t>
            </a:fld>
            <a:endParaRPr lang="LID4096"/>
          </a:p>
        </p:txBody>
      </p:sp>
    </p:spTree>
    <p:extLst>
      <p:ext uri="{BB962C8B-B14F-4D97-AF65-F5344CB8AC3E}">
        <p14:creationId xmlns:p14="http://schemas.microsoft.com/office/powerpoint/2010/main" val="1504893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1AAAA-F82A-4EB2-BF7E-93DA41656186}"/>
              </a:ext>
            </a:extLst>
          </p:cNvPr>
          <p:cNvSpPr>
            <a:spLocks noGrp="1"/>
          </p:cNvSpPr>
          <p:nvPr>
            <p:ph type="title"/>
          </p:nvPr>
        </p:nvSpPr>
        <p:spPr/>
        <p:txBody>
          <a:bodyPr/>
          <a:lstStyle/>
          <a:p>
            <a:pPr algn="ctr"/>
            <a:r>
              <a:rPr lang="en-US" b="1" dirty="0"/>
              <a:t>SELECT </a:t>
            </a:r>
            <a:endParaRPr lang="LID4096" b="1" dirty="0"/>
          </a:p>
        </p:txBody>
      </p:sp>
      <p:sp>
        <p:nvSpPr>
          <p:cNvPr id="3" name="Content Placeholder 2">
            <a:extLst>
              <a:ext uri="{FF2B5EF4-FFF2-40B4-BE49-F238E27FC236}">
                <a16:creationId xmlns:a16="http://schemas.microsoft.com/office/drawing/2014/main" id="{C98B2796-9542-4557-BBCE-33FA224D00C8}"/>
              </a:ext>
            </a:extLst>
          </p:cNvPr>
          <p:cNvSpPr>
            <a:spLocks noGrp="1"/>
          </p:cNvSpPr>
          <p:nvPr>
            <p:ph sz="half" idx="1"/>
          </p:nvPr>
        </p:nvSpPr>
        <p:spPr/>
        <p:txBody>
          <a:bodyPr/>
          <a:lstStyle/>
          <a:p>
            <a:r>
              <a:rPr lang="en-US" dirty="0"/>
              <a:t>At this point we would like to </a:t>
            </a:r>
            <a:r>
              <a:rPr lang="en-US" b="1" dirty="0"/>
              <a:t>SELECT</a:t>
            </a:r>
            <a:r>
              <a:rPr lang="en-US" dirty="0"/>
              <a:t> only female students </a:t>
            </a:r>
            <a:r>
              <a:rPr lang="en-US" b="1" dirty="0"/>
              <a:t>FROM</a:t>
            </a:r>
            <a:r>
              <a:rPr lang="en-US" dirty="0"/>
              <a:t> our database.</a:t>
            </a:r>
          </a:p>
          <a:p>
            <a:pPr>
              <a:buFont typeface="+mj-lt"/>
              <a:buAutoNum type="arabicPeriod"/>
            </a:pPr>
            <a:r>
              <a:rPr lang="en-US" dirty="0"/>
              <a:t>Here is the syntax to SELECT the entire column minus targeting something such as females </a:t>
            </a:r>
          </a:p>
          <a:p>
            <a:pPr marL="0" indent="0">
              <a:buNone/>
            </a:pPr>
            <a:endParaRPr lang="LID4096" dirty="0"/>
          </a:p>
        </p:txBody>
      </p:sp>
      <p:sp>
        <p:nvSpPr>
          <p:cNvPr id="4" name="Content Placeholder 3">
            <a:extLst>
              <a:ext uri="{FF2B5EF4-FFF2-40B4-BE49-F238E27FC236}">
                <a16:creationId xmlns:a16="http://schemas.microsoft.com/office/drawing/2014/main" id="{3AA649E5-4A42-4C03-9D6C-FB6DAC695CBA}"/>
              </a:ext>
            </a:extLst>
          </p:cNvPr>
          <p:cNvSpPr>
            <a:spLocks noGrp="1"/>
          </p:cNvSpPr>
          <p:nvPr>
            <p:ph sz="half" idx="2"/>
          </p:nvPr>
        </p:nvSpPr>
        <p:spPr/>
        <p:txBody>
          <a:bodyPr/>
          <a:lstStyle/>
          <a:p>
            <a:pPr>
              <a:buAutoNum type="arabicPeriod" startAt="2"/>
            </a:pPr>
            <a:r>
              <a:rPr lang="en-US" dirty="0"/>
              <a:t>Now we </a:t>
            </a:r>
            <a:r>
              <a:rPr lang="en-US" b="1" dirty="0"/>
              <a:t>SELECT</a:t>
            </a:r>
            <a:r>
              <a:rPr lang="en-US" dirty="0"/>
              <a:t> GENDER </a:t>
            </a:r>
            <a:r>
              <a:rPr lang="en-US" b="1" dirty="0"/>
              <a:t>FROM</a:t>
            </a:r>
            <a:r>
              <a:rPr lang="en-US" dirty="0"/>
              <a:t> Students </a:t>
            </a:r>
            <a:r>
              <a:rPr lang="en-US" b="1" dirty="0"/>
              <a:t>WHERE</a:t>
            </a:r>
            <a:r>
              <a:rPr lang="en-US" dirty="0"/>
              <a:t> GENDER = “FEMALE”;</a:t>
            </a:r>
          </a:p>
          <a:p>
            <a:pPr marL="0" indent="0">
              <a:buNone/>
            </a:pPr>
            <a:r>
              <a:rPr lang="en-US" dirty="0"/>
              <a:t> </a:t>
            </a:r>
          </a:p>
        </p:txBody>
      </p:sp>
      <p:sp>
        <p:nvSpPr>
          <p:cNvPr id="5" name="Footer Placeholder 4">
            <a:extLst>
              <a:ext uri="{FF2B5EF4-FFF2-40B4-BE49-F238E27FC236}">
                <a16:creationId xmlns:a16="http://schemas.microsoft.com/office/drawing/2014/main" id="{2E365035-FE0D-413A-868F-27DECACFC91C}"/>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2263DBF4-E169-4736-96BE-FBDCE1955E8D}"/>
              </a:ext>
            </a:extLst>
          </p:cNvPr>
          <p:cNvSpPr>
            <a:spLocks noGrp="1"/>
          </p:cNvSpPr>
          <p:nvPr>
            <p:ph type="sldNum" sz="quarter" idx="12"/>
          </p:nvPr>
        </p:nvSpPr>
        <p:spPr/>
        <p:txBody>
          <a:bodyPr/>
          <a:lstStyle/>
          <a:p>
            <a:fld id="{1D1DA0CA-E6E7-4A00-872A-D06185C48FFB}" type="slidenum">
              <a:rPr lang="LID4096" smtClean="0"/>
              <a:t>11</a:t>
            </a:fld>
            <a:endParaRPr lang="LID4096"/>
          </a:p>
        </p:txBody>
      </p:sp>
      <p:pic>
        <p:nvPicPr>
          <p:cNvPr id="10" name="Picture 9">
            <a:extLst>
              <a:ext uri="{FF2B5EF4-FFF2-40B4-BE49-F238E27FC236}">
                <a16:creationId xmlns:a16="http://schemas.microsoft.com/office/drawing/2014/main" id="{7651B18F-2BE8-4544-A332-C86142379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8814" y="4519647"/>
            <a:ext cx="1830823" cy="1014532"/>
          </a:xfrm>
          <a:prstGeom prst="rect">
            <a:avLst/>
          </a:prstGeom>
        </p:spPr>
      </p:pic>
      <p:pic>
        <p:nvPicPr>
          <p:cNvPr id="12" name="Picture 11">
            <a:extLst>
              <a:ext uri="{FF2B5EF4-FFF2-40B4-BE49-F238E27FC236}">
                <a16:creationId xmlns:a16="http://schemas.microsoft.com/office/drawing/2014/main" id="{F0EB51CD-6423-4B9B-82EA-710FCD28C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7533" y="4519647"/>
            <a:ext cx="1924149" cy="1244664"/>
          </a:xfrm>
          <a:prstGeom prst="rect">
            <a:avLst/>
          </a:prstGeom>
        </p:spPr>
      </p:pic>
      <p:pic>
        <p:nvPicPr>
          <p:cNvPr id="8" name="Picture 7">
            <a:extLst>
              <a:ext uri="{FF2B5EF4-FFF2-40B4-BE49-F238E27FC236}">
                <a16:creationId xmlns:a16="http://schemas.microsoft.com/office/drawing/2014/main" id="{1D46E3DF-4566-46DB-8DCE-08B5016603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417" y="4519647"/>
            <a:ext cx="2797093" cy="1495476"/>
          </a:xfrm>
          <a:prstGeom prst="rect">
            <a:avLst/>
          </a:prstGeom>
        </p:spPr>
      </p:pic>
      <p:pic>
        <p:nvPicPr>
          <p:cNvPr id="11" name="Picture 10">
            <a:extLst>
              <a:ext uri="{FF2B5EF4-FFF2-40B4-BE49-F238E27FC236}">
                <a16:creationId xmlns:a16="http://schemas.microsoft.com/office/drawing/2014/main" id="{07D7E176-3C0D-4EEF-8DFB-17B449613D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7417" y="3215480"/>
            <a:ext cx="2792050" cy="1007727"/>
          </a:xfrm>
          <a:prstGeom prst="rect">
            <a:avLst/>
          </a:prstGeom>
        </p:spPr>
      </p:pic>
    </p:spTree>
    <p:extLst>
      <p:ext uri="{BB962C8B-B14F-4D97-AF65-F5344CB8AC3E}">
        <p14:creationId xmlns:p14="http://schemas.microsoft.com/office/powerpoint/2010/main" val="2787826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8C403-0D0D-4149-B9A4-3AE559F0A7CD}"/>
              </a:ext>
            </a:extLst>
          </p:cNvPr>
          <p:cNvSpPr>
            <a:spLocks noGrp="1"/>
          </p:cNvSpPr>
          <p:nvPr>
            <p:ph type="title"/>
          </p:nvPr>
        </p:nvSpPr>
        <p:spPr/>
        <p:txBody>
          <a:bodyPr/>
          <a:lstStyle/>
          <a:p>
            <a:pPr algn="ctr"/>
            <a:r>
              <a:rPr lang="en-US" b="1" dirty="0"/>
              <a:t>ALTER TABLE</a:t>
            </a:r>
            <a:endParaRPr lang="LID4096" b="1" dirty="0"/>
          </a:p>
        </p:txBody>
      </p:sp>
      <p:sp>
        <p:nvSpPr>
          <p:cNvPr id="3" name="Content Placeholder 2">
            <a:extLst>
              <a:ext uri="{FF2B5EF4-FFF2-40B4-BE49-F238E27FC236}">
                <a16:creationId xmlns:a16="http://schemas.microsoft.com/office/drawing/2014/main" id="{E839327A-0EAD-4AAF-97E1-AF0E1EC1CFC3}"/>
              </a:ext>
            </a:extLst>
          </p:cNvPr>
          <p:cNvSpPr>
            <a:spLocks noGrp="1"/>
          </p:cNvSpPr>
          <p:nvPr>
            <p:ph sz="half" idx="1"/>
          </p:nvPr>
        </p:nvSpPr>
        <p:spPr/>
        <p:txBody>
          <a:bodyPr/>
          <a:lstStyle/>
          <a:p>
            <a:r>
              <a:rPr lang="en-US" dirty="0"/>
              <a:t>After realizing that we need a column that as AGE, we advise you to </a:t>
            </a:r>
            <a:r>
              <a:rPr lang="en-US" b="1" dirty="0"/>
              <a:t>ALTER</a:t>
            </a:r>
            <a:r>
              <a:rPr lang="en-US" dirty="0"/>
              <a:t> the TABLE and </a:t>
            </a:r>
            <a:r>
              <a:rPr lang="en-US" b="1" dirty="0"/>
              <a:t>ADD</a:t>
            </a:r>
            <a:r>
              <a:rPr lang="en-US" dirty="0"/>
              <a:t> another field </a:t>
            </a:r>
          </a:p>
          <a:p>
            <a:r>
              <a:rPr lang="en-US" dirty="0"/>
              <a:t>Make sure the </a:t>
            </a:r>
            <a:r>
              <a:rPr lang="en-US" b="1" dirty="0"/>
              <a:t>Students</a:t>
            </a:r>
            <a:r>
              <a:rPr lang="en-US" dirty="0"/>
              <a:t> table is not open in Datasheet View or Design View.</a:t>
            </a:r>
          </a:p>
          <a:p>
            <a:pPr marL="0" indent="0">
              <a:buNone/>
            </a:pPr>
            <a:endParaRPr lang="en-US" dirty="0"/>
          </a:p>
          <a:p>
            <a:pPr marL="0" indent="0">
              <a:buNone/>
            </a:pPr>
            <a:endParaRPr lang="LID4096" dirty="0"/>
          </a:p>
        </p:txBody>
      </p:sp>
      <p:sp>
        <p:nvSpPr>
          <p:cNvPr id="4" name="Content Placeholder 3">
            <a:extLst>
              <a:ext uri="{FF2B5EF4-FFF2-40B4-BE49-F238E27FC236}">
                <a16:creationId xmlns:a16="http://schemas.microsoft.com/office/drawing/2014/main" id="{FF86FD71-1552-49C4-BDC1-D56D45651717}"/>
              </a:ext>
            </a:extLst>
          </p:cNvPr>
          <p:cNvSpPr>
            <a:spLocks noGrp="1"/>
          </p:cNvSpPr>
          <p:nvPr>
            <p:ph sz="half" idx="2"/>
          </p:nvPr>
        </p:nvSpPr>
        <p:spPr/>
        <p:txBody>
          <a:bodyPr/>
          <a:lstStyle/>
          <a:p>
            <a:r>
              <a:rPr lang="en-US" dirty="0"/>
              <a:t>Here is our updated table</a:t>
            </a:r>
          </a:p>
          <a:p>
            <a:endParaRPr lang="en-US" dirty="0"/>
          </a:p>
          <a:p>
            <a:endParaRPr lang="en-US" dirty="0"/>
          </a:p>
          <a:p>
            <a:endParaRPr lang="en-US" dirty="0"/>
          </a:p>
          <a:p>
            <a:endParaRPr lang="en-US" dirty="0"/>
          </a:p>
          <a:p>
            <a:pPr marL="0" indent="0">
              <a:buNone/>
            </a:pPr>
            <a:endParaRPr lang="LID4096" dirty="0"/>
          </a:p>
        </p:txBody>
      </p:sp>
      <p:sp>
        <p:nvSpPr>
          <p:cNvPr id="5" name="Footer Placeholder 4">
            <a:extLst>
              <a:ext uri="{FF2B5EF4-FFF2-40B4-BE49-F238E27FC236}">
                <a16:creationId xmlns:a16="http://schemas.microsoft.com/office/drawing/2014/main" id="{3EDDFC55-078E-4BA2-AB94-EE9DD68851D1}"/>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48B67202-4A95-48DB-AC95-083EF4D9F663}"/>
              </a:ext>
            </a:extLst>
          </p:cNvPr>
          <p:cNvSpPr>
            <a:spLocks noGrp="1"/>
          </p:cNvSpPr>
          <p:nvPr>
            <p:ph type="sldNum" sz="quarter" idx="12"/>
          </p:nvPr>
        </p:nvSpPr>
        <p:spPr/>
        <p:txBody>
          <a:bodyPr/>
          <a:lstStyle/>
          <a:p>
            <a:fld id="{1D1DA0CA-E6E7-4A00-872A-D06185C48FFB}" type="slidenum">
              <a:rPr lang="LID4096" smtClean="0"/>
              <a:t>12</a:t>
            </a:fld>
            <a:endParaRPr lang="LID4096"/>
          </a:p>
        </p:txBody>
      </p:sp>
      <p:pic>
        <p:nvPicPr>
          <p:cNvPr id="10" name="Picture 9">
            <a:extLst>
              <a:ext uri="{FF2B5EF4-FFF2-40B4-BE49-F238E27FC236}">
                <a16:creationId xmlns:a16="http://schemas.microsoft.com/office/drawing/2014/main" id="{46239F9A-EECE-4CE9-8E49-417336ACA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666" y="4582361"/>
            <a:ext cx="2990614" cy="1639434"/>
          </a:xfrm>
          <a:prstGeom prst="rect">
            <a:avLst/>
          </a:prstGeom>
        </p:spPr>
      </p:pic>
      <p:pic>
        <p:nvPicPr>
          <p:cNvPr id="9" name="Picture 8">
            <a:extLst>
              <a:ext uri="{FF2B5EF4-FFF2-40B4-BE49-F238E27FC236}">
                <a16:creationId xmlns:a16="http://schemas.microsoft.com/office/drawing/2014/main" id="{BAA0EE8C-6CCD-4952-8164-1FD466FCE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7206" y="3061686"/>
            <a:ext cx="4967617" cy="1001268"/>
          </a:xfrm>
          <a:prstGeom prst="rect">
            <a:avLst/>
          </a:prstGeom>
        </p:spPr>
      </p:pic>
    </p:spTree>
    <p:extLst>
      <p:ext uri="{BB962C8B-B14F-4D97-AF65-F5344CB8AC3E}">
        <p14:creationId xmlns:p14="http://schemas.microsoft.com/office/powerpoint/2010/main" val="2817787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A2E7-EF83-4F77-BAE7-B119D59421D2}"/>
              </a:ext>
            </a:extLst>
          </p:cNvPr>
          <p:cNvSpPr>
            <a:spLocks noGrp="1"/>
          </p:cNvSpPr>
          <p:nvPr>
            <p:ph type="title"/>
          </p:nvPr>
        </p:nvSpPr>
        <p:spPr/>
        <p:txBody>
          <a:bodyPr/>
          <a:lstStyle/>
          <a:p>
            <a:pPr algn="ctr"/>
            <a:r>
              <a:rPr lang="en-US" b="1" dirty="0"/>
              <a:t>ALTER TABLE (Continues…)</a:t>
            </a:r>
            <a:endParaRPr lang="LID4096" dirty="0"/>
          </a:p>
        </p:txBody>
      </p:sp>
      <p:sp>
        <p:nvSpPr>
          <p:cNvPr id="3" name="Content Placeholder 2">
            <a:extLst>
              <a:ext uri="{FF2B5EF4-FFF2-40B4-BE49-F238E27FC236}">
                <a16:creationId xmlns:a16="http://schemas.microsoft.com/office/drawing/2014/main" id="{FC90EEF0-81B4-4C6E-B69D-E499D828589A}"/>
              </a:ext>
            </a:extLst>
          </p:cNvPr>
          <p:cNvSpPr>
            <a:spLocks noGrp="1"/>
          </p:cNvSpPr>
          <p:nvPr>
            <p:ph sz="half" idx="1"/>
          </p:nvPr>
        </p:nvSpPr>
        <p:spPr/>
        <p:txBody>
          <a:bodyPr/>
          <a:lstStyle/>
          <a:p>
            <a:r>
              <a:rPr lang="en-US" dirty="0"/>
              <a:t>Let’s assume we want to </a:t>
            </a:r>
            <a:r>
              <a:rPr lang="en-US" b="1" dirty="0"/>
              <a:t>DROP</a:t>
            </a:r>
            <a:r>
              <a:rPr lang="en-US" dirty="0"/>
              <a:t> the field </a:t>
            </a:r>
            <a:r>
              <a:rPr lang="en-US" b="1" dirty="0"/>
              <a:t>AGE</a:t>
            </a:r>
            <a:r>
              <a:rPr lang="en-US" dirty="0"/>
              <a:t>.</a:t>
            </a:r>
          </a:p>
          <a:p>
            <a:r>
              <a:rPr lang="en-US" dirty="0"/>
              <a:t>Below is the query we can input:</a:t>
            </a:r>
          </a:p>
          <a:p>
            <a:pPr marL="0" indent="0">
              <a:buNone/>
            </a:pPr>
            <a:endParaRPr lang="en-US" dirty="0"/>
          </a:p>
          <a:p>
            <a:pPr marL="0" indent="0">
              <a:buNone/>
            </a:pPr>
            <a:r>
              <a:rPr lang="en-US" dirty="0"/>
              <a:t>      ALTER TABLE students</a:t>
            </a:r>
          </a:p>
          <a:p>
            <a:pPr marL="0" indent="0">
              <a:buNone/>
            </a:pPr>
            <a:r>
              <a:rPr lang="en-US" dirty="0"/>
              <a:t>      DROP AGE;</a:t>
            </a:r>
            <a:endParaRPr lang="LID4096" dirty="0"/>
          </a:p>
        </p:txBody>
      </p:sp>
      <p:sp>
        <p:nvSpPr>
          <p:cNvPr id="4" name="Content Placeholder 3">
            <a:extLst>
              <a:ext uri="{FF2B5EF4-FFF2-40B4-BE49-F238E27FC236}">
                <a16:creationId xmlns:a16="http://schemas.microsoft.com/office/drawing/2014/main" id="{338649C5-2D67-43E8-B37C-B2EEC912F01C}"/>
              </a:ext>
            </a:extLst>
          </p:cNvPr>
          <p:cNvSpPr>
            <a:spLocks noGrp="1"/>
          </p:cNvSpPr>
          <p:nvPr>
            <p:ph sz="half" idx="2"/>
          </p:nvPr>
        </p:nvSpPr>
        <p:spPr/>
        <p:txBody>
          <a:bodyPr/>
          <a:lstStyle/>
          <a:p>
            <a:r>
              <a:rPr lang="en-US" dirty="0"/>
              <a:t>After realizing that the data type of the </a:t>
            </a:r>
            <a:r>
              <a:rPr lang="en-US" b="1" dirty="0"/>
              <a:t>S_I_N</a:t>
            </a:r>
            <a:r>
              <a:rPr lang="en-US" dirty="0"/>
              <a:t> and </a:t>
            </a:r>
            <a:r>
              <a:rPr lang="en-US" b="1" dirty="0"/>
              <a:t>AGE</a:t>
            </a:r>
            <a:r>
              <a:rPr lang="en-US" dirty="0"/>
              <a:t> is </a:t>
            </a:r>
            <a:r>
              <a:rPr lang="en-US" b="1" dirty="0"/>
              <a:t>VARCHAR</a:t>
            </a:r>
            <a:r>
              <a:rPr lang="en-US" dirty="0"/>
              <a:t>.</a:t>
            </a:r>
          </a:p>
          <a:p>
            <a:r>
              <a:rPr lang="en-US" dirty="0"/>
              <a:t>You are tasked to </a:t>
            </a:r>
            <a:r>
              <a:rPr lang="en-US" b="1" dirty="0"/>
              <a:t>MODIFY</a:t>
            </a:r>
            <a:r>
              <a:rPr lang="en-US" dirty="0"/>
              <a:t> the datatype to </a:t>
            </a:r>
            <a:r>
              <a:rPr lang="en-US" b="1" dirty="0"/>
              <a:t>INT</a:t>
            </a:r>
            <a:r>
              <a:rPr lang="en-US" dirty="0"/>
              <a:t>.</a:t>
            </a:r>
          </a:p>
          <a:p>
            <a:pPr marL="0" indent="0">
              <a:buNone/>
            </a:pPr>
            <a:endParaRPr lang="LID4096" dirty="0"/>
          </a:p>
        </p:txBody>
      </p:sp>
      <p:sp>
        <p:nvSpPr>
          <p:cNvPr id="5" name="Footer Placeholder 4">
            <a:extLst>
              <a:ext uri="{FF2B5EF4-FFF2-40B4-BE49-F238E27FC236}">
                <a16:creationId xmlns:a16="http://schemas.microsoft.com/office/drawing/2014/main" id="{13B030E1-7508-45E4-AA9F-3CF0C0BC9FE4}"/>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C706CC1A-D09A-4C27-BCF9-F9651DF8312B}"/>
              </a:ext>
            </a:extLst>
          </p:cNvPr>
          <p:cNvSpPr>
            <a:spLocks noGrp="1"/>
          </p:cNvSpPr>
          <p:nvPr>
            <p:ph type="sldNum" sz="quarter" idx="12"/>
          </p:nvPr>
        </p:nvSpPr>
        <p:spPr/>
        <p:txBody>
          <a:bodyPr/>
          <a:lstStyle/>
          <a:p>
            <a:fld id="{1D1DA0CA-E6E7-4A00-872A-D06185C48FFB}" type="slidenum">
              <a:rPr lang="LID4096" smtClean="0"/>
              <a:t>13</a:t>
            </a:fld>
            <a:endParaRPr lang="LID4096"/>
          </a:p>
        </p:txBody>
      </p:sp>
      <p:pic>
        <p:nvPicPr>
          <p:cNvPr id="8" name="Picture 7">
            <a:extLst>
              <a:ext uri="{FF2B5EF4-FFF2-40B4-BE49-F238E27FC236}">
                <a16:creationId xmlns:a16="http://schemas.microsoft.com/office/drawing/2014/main" id="{FBFECB36-F7C8-453E-84BD-FEE56BB7B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56" y="4013184"/>
            <a:ext cx="3878018" cy="1778214"/>
          </a:xfrm>
          <a:prstGeom prst="rect">
            <a:avLst/>
          </a:prstGeom>
        </p:spPr>
      </p:pic>
    </p:spTree>
    <p:extLst>
      <p:ext uri="{BB962C8B-B14F-4D97-AF65-F5344CB8AC3E}">
        <p14:creationId xmlns:p14="http://schemas.microsoft.com/office/powerpoint/2010/main" val="288005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72B4-2CEE-4D05-8C6F-98876F14F39A}"/>
              </a:ext>
            </a:extLst>
          </p:cNvPr>
          <p:cNvSpPr>
            <a:spLocks noGrp="1"/>
          </p:cNvSpPr>
          <p:nvPr>
            <p:ph type="title"/>
          </p:nvPr>
        </p:nvSpPr>
        <p:spPr/>
        <p:txBody>
          <a:bodyPr/>
          <a:lstStyle/>
          <a:p>
            <a:pPr algn="ctr"/>
            <a:r>
              <a:rPr lang="en-US" b="1" dirty="0"/>
              <a:t>UPDATE</a:t>
            </a:r>
            <a:endParaRPr lang="LID4096" b="1" dirty="0"/>
          </a:p>
        </p:txBody>
      </p:sp>
      <p:sp>
        <p:nvSpPr>
          <p:cNvPr id="3" name="Content Placeholder 2">
            <a:extLst>
              <a:ext uri="{FF2B5EF4-FFF2-40B4-BE49-F238E27FC236}">
                <a16:creationId xmlns:a16="http://schemas.microsoft.com/office/drawing/2014/main" id="{4D08292B-7724-4C14-9BBB-6118EBCD2533}"/>
              </a:ext>
            </a:extLst>
          </p:cNvPr>
          <p:cNvSpPr>
            <a:spLocks noGrp="1"/>
          </p:cNvSpPr>
          <p:nvPr>
            <p:ph sz="half" idx="1"/>
          </p:nvPr>
        </p:nvSpPr>
        <p:spPr/>
        <p:txBody>
          <a:bodyPr/>
          <a:lstStyle/>
          <a:p>
            <a:r>
              <a:rPr lang="en-US" dirty="0"/>
              <a:t>Your task is to </a:t>
            </a:r>
            <a:r>
              <a:rPr lang="en-US" b="1" dirty="0"/>
              <a:t>UPDATE </a:t>
            </a:r>
            <a:r>
              <a:rPr lang="en-US" dirty="0"/>
              <a:t>AGE field with the following</a:t>
            </a:r>
          </a:p>
          <a:p>
            <a:pPr marL="0" indent="0">
              <a:buNone/>
            </a:pPr>
            <a:endParaRPr lang="en-US" dirty="0"/>
          </a:p>
          <a:p>
            <a:endParaRPr lang="LID4096" dirty="0"/>
          </a:p>
        </p:txBody>
      </p:sp>
      <p:sp>
        <p:nvSpPr>
          <p:cNvPr id="4" name="Content Placeholder 3">
            <a:extLst>
              <a:ext uri="{FF2B5EF4-FFF2-40B4-BE49-F238E27FC236}">
                <a16:creationId xmlns:a16="http://schemas.microsoft.com/office/drawing/2014/main" id="{C7AB9516-4C6B-4F23-9061-846AD64AB854}"/>
              </a:ext>
            </a:extLst>
          </p:cNvPr>
          <p:cNvSpPr>
            <a:spLocks noGrp="1"/>
          </p:cNvSpPr>
          <p:nvPr>
            <p:ph sz="half" idx="2"/>
          </p:nvPr>
        </p:nvSpPr>
        <p:spPr/>
        <p:txBody>
          <a:bodyPr/>
          <a:lstStyle/>
          <a:p>
            <a:r>
              <a:rPr lang="en-US" dirty="0"/>
              <a:t>Do the same for the rest of the data</a:t>
            </a:r>
          </a:p>
          <a:p>
            <a:endParaRPr lang="en-US" dirty="0"/>
          </a:p>
          <a:p>
            <a:endParaRPr lang="en-US" dirty="0"/>
          </a:p>
          <a:p>
            <a:endParaRPr lang="en-US" dirty="0"/>
          </a:p>
          <a:p>
            <a:endParaRPr lang="en-US" dirty="0"/>
          </a:p>
          <a:p>
            <a:endParaRPr lang="en-US" dirty="0"/>
          </a:p>
          <a:p>
            <a:r>
              <a:rPr lang="en-US" dirty="0"/>
              <a:t>Update statements will allow you to edit records in a table.</a:t>
            </a:r>
          </a:p>
          <a:p>
            <a:pPr marL="0" indent="0">
              <a:buNone/>
            </a:pPr>
            <a:endParaRPr lang="LID4096" dirty="0"/>
          </a:p>
        </p:txBody>
      </p:sp>
      <p:sp>
        <p:nvSpPr>
          <p:cNvPr id="5" name="Footer Placeholder 4">
            <a:extLst>
              <a:ext uri="{FF2B5EF4-FFF2-40B4-BE49-F238E27FC236}">
                <a16:creationId xmlns:a16="http://schemas.microsoft.com/office/drawing/2014/main" id="{14BB64AD-95CF-4018-BD6B-E21BAB526D4D}"/>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53B4287B-369F-4A8F-B4DB-6BD605857C8E}"/>
              </a:ext>
            </a:extLst>
          </p:cNvPr>
          <p:cNvSpPr>
            <a:spLocks noGrp="1"/>
          </p:cNvSpPr>
          <p:nvPr>
            <p:ph type="sldNum" sz="quarter" idx="12"/>
          </p:nvPr>
        </p:nvSpPr>
        <p:spPr/>
        <p:txBody>
          <a:bodyPr/>
          <a:lstStyle/>
          <a:p>
            <a:fld id="{1D1DA0CA-E6E7-4A00-872A-D06185C48FFB}" type="slidenum">
              <a:rPr lang="LID4096" smtClean="0"/>
              <a:t>14</a:t>
            </a:fld>
            <a:endParaRPr lang="LID4096"/>
          </a:p>
        </p:txBody>
      </p:sp>
      <p:pic>
        <p:nvPicPr>
          <p:cNvPr id="9" name="Picture 8">
            <a:extLst>
              <a:ext uri="{FF2B5EF4-FFF2-40B4-BE49-F238E27FC236}">
                <a16:creationId xmlns:a16="http://schemas.microsoft.com/office/drawing/2014/main" id="{253C2C7E-EF0B-4181-A919-74A404BBA7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089" y="3076556"/>
            <a:ext cx="3952851" cy="1783603"/>
          </a:xfrm>
          <a:prstGeom prst="rect">
            <a:avLst/>
          </a:prstGeom>
        </p:spPr>
      </p:pic>
      <p:pic>
        <p:nvPicPr>
          <p:cNvPr id="11" name="Picture 10">
            <a:extLst>
              <a:ext uri="{FF2B5EF4-FFF2-40B4-BE49-F238E27FC236}">
                <a16:creationId xmlns:a16="http://schemas.microsoft.com/office/drawing/2014/main" id="{A6570287-347F-456F-8A09-50925BB928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789" y="3347989"/>
            <a:ext cx="4669640" cy="941208"/>
          </a:xfrm>
          <a:prstGeom prst="rect">
            <a:avLst/>
          </a:prstGeom>
        </p:spPr>
      </p:pic>
    </p:spTree>
    <p:extLst>
      <p:ext uri="{BB962C8B-B14F-4D97-AF65-F5344CB8AC3E}">
        <p14:creationId xmlns:p14="http://schemas.microsoft.com/office/powerpoint/2010/main" val="3219392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EA90F-ABCE-4298-8F61-BBCD67A75E71}"/>
              </a:ext>
            </a:extLst>
          </p:cNvPr>
          <p:cNvSpPr>
            <a:spLocks noGrp="1"/>
          </p:cNvSpPr>
          <p:nvPr>
            <p:ph type="title"/>
          </p:nvPr>
        </p:nvSpPr>
        <p:spPr/>
        <p:txBody>
          <a:bodyPr/>
          <a:lstStyle/>
          <a:p>
            <a:pPr algn="ctr"/>
            <a:r>
              <a:rPr lang="en-US" b="1" dirty="0"/>
              <a:t>DELETE</a:t>
            </a:r>
            <a:endParaRPr lang="LID4096" b="1" dirty="0"/>
          </a:p>
        </p:txBody>
      </p:sp>
      <p:sp>
        <p:nvSpPr>
          <p:cNvPr id="3" name="Content Placeholder 2">
            <a:extLst>
              <a:ext uri="{FF2B5EF4-FFF2-40B4-BE49-F238E27FC236}">
                <a16:creationId xmlns:a16="http://schemas.microsoft.com/office/drawing/2014/main" id="{B9644C8A-6D5E-4C8D-ADBF-939FF766D40F}"/>
              </a:ext>
            </a:extLst>
          </p:cNvPr>
          <p:cNvSpPr>
            <a:spLocks noGrp="1"/>
          </p:cNvSpPr>
          <p:nvPr>
            <p:ph sz="half" idx="1"/>
          </p:nvPr>
        </p:nvSpPr>
        <p:spPr/>
        <p:txBody>
          <a:bodyPr/>
          <a:lstStyle/>
          <a:p>
            <a:r>
              <a:rPr lang="en-US" dirty="0"/>
              <a:t>Let’s </a:t>
            </a:r>
            <a:r>
              <a:rPr lang="en-US" b="1" dirty="0"/>
              <a:t>INSERT INTO students</a:t>
            </a:r>
            <a:r>
              <a:rPr lang="en-US" dirty="0"/>
              <a:t> with </a:t>
            </a:r>
            <a:r>
              <a:rPr lang="en-US" b="1" dirty="0"/>
              <a:t>VALUES</a:t>
            </a:r>
          </a:p>
          <a:p>
            <a:endParaRPr lang="en-US" dirty="0"/>
          </a:p>
          <a:p>
            <a:endParaRPr lang="en-US" dirty="0"/>
          </a:p>
          <a:p>
            <a:endParaRPr lang="en-US" dirty="0"/>
          </a:p>
          <a:p>
            <a:r>
              <a:rPr lang="en-US" dirty="0"/>
              <a:t>Our goal is to </a:t>
            </a:r>
            <a:r>
              <a:rPr lang="en-US" b="1" dirty="0"/>
              <a:t>DELETE FROM students </a:t>
            </a:r>
            <a:r>
              <a:rPr lang="en-US" dirty="0"/>
              <a:t>the record for David Zulu because he is not part of the Cyber Security class.</a:t>
            </a:r>
          </a:p>
          <a:p>
            <a:pPr marL="0" indent="0">
              <a:buNone/>
            </a:pPr>
            <a:endParaRPr lang="LID4096" dirty="0"/>
          </a:p>
        </p:txBody>
      </p:sp>
      <p:sp>
        <p:nvSpPr>
          <p:cNvPr id="4" name="Content Placeholder 3">
            <a:extLst>
              <a:ext uri="{FF2B5EF4-FFF2-40B4-BE49-F238E27FC236}">
                <a16:creationId xmlns:a16="http://schemas.microsoft.com/office/drawing/2014/main" id="{0547AB9D-EEBB-44CF-9B68-CE6C2C668B39}"/>
              </a:ext>
            </a:extLst>
          </p:cNvPr>
          <p:cNvSpPr>
            <a:spLocks noGrp="1"/>
          </p:cNvSpPr>
          <p:nvPr>
            <p:ph sz="half" idx="2"/>
          </p:nvPr>
        </p:nvSpPr>
        <p:spPr/>
        <p:txBody>
          <a:bodyPr/>
          <a:lstStyle/>
          <a:p>
            <a:r>
              <a:rPr lang="en-US" dirty="0"/>
              <a:t>DELETE command is used to remove data from the database.</a:t>
            </a:r>
          </a:p>
          <a:p>
            <a:r>
              <a:rPr lang="en-US" dirty="0"/>
              <a:t>In this case, the entire record will be deleted.</a:t>
            </a:r>
          </a:p>
          <a:p>
            <a:pPr marL="0" indent="0">
              <a:buNone/>
            </a:pPr>
            <a:endParaRPr lang="en-US" dirty="0"/>
          </a:p>
          <a:p>
            <a:endParaRPr lang="LID4096" dirty="0"/>
          </a:p>
        </p:txBody>
      </p:sp>
      <p:sp>
        <p:nvSpPr>
          <p:cNvPr id="5" name="Footer Placeholder 4">
            <a:extLst>
              <a:ext uri="{FF2B5EF4-FFF2-40B4-BE49-F238E27FC236}">
                <a16:creationId xmlns:a16="http://schemas.microsoft.com/office/drawing/2014/main" id="{83C9B2CD-A363-4FE2-A576-3427A5658108}"/>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C3D57C8D-38DD-4754-98F9-0AF042033010}"/>
              </a:ext>
            </a:extLst>
          </p:cNvPr>
          <p:cNvSpPr>
            <a:spLocks noGrp="1"/>
          </p:cNvSpPr>
          <p:nvPr>
            <p:ph type="sldNum" sz="quarter" idx="12"/>
          </p:nvPr>
        </p:nvSpPr>
        <p:spPr/>
        <p:txBody>
          <a:bodyPr/>
          <a:lstStyle/>
          <a:p>
            <a:fld id="{1D1DA0CA-E6E7-4A00-872A-D06185C48FFB}" type="slidenum">
              <a:rPr lang="LID4096" smtClean="0"/>
              <a:t>15</a:t>
            </a:fld>
            <a:endParaRPr lang="LID4096"/>
          </a:p>
        </p:txBody>
      </p:sp>
      <p:pic>
        <p:nvPicPr>
          <p:cNvPr id="10" name="Picture 9">
            <a:extLst>
              <a:ext uri="{FF2B5EF4-FFF2-40B4-BE49-F238E27FC236}">
                <a16:creationId xmlns:a16="http://schemas.microsoft.com/office/drawing/2014/main" id="{94FFE51B-47D9-4544-9F8B-2A0D69055C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971" y="2978082"/>
            <a:ext cx="4644283" cy="1084872"/>
          </a:xfrm>
          <a:prstGeom prst="rect">
            <a:avLst/>
          </a:prstGeom>
        </p:spPr>
      </p:pic>
      <p:pic>
        <p:nvPicPr>
          <p:cNvPr id="12" name="Picture 11">
            <a:extLst>
              <a:ext uri="{FF2B5EF4-FFF2-40B4-BE49-F238E27FC236}">
                <a16:creationId xmlns:a16="http://schemas.microsoft.com/office/drawing/2014/main" id="{2AAEEACD-476F-4888-A069-56F31B32E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7142" y="3947788"/>
            <a:ext cx="3926866" cy="1114556"/>
          </a:xfrm>
          <a:prstGeom prst="rect">
            <a:avLst/>
          </a:prstGeom>
        </p:spPr>
      </p:pic>
      <p:pic>
        <p:nvPicPr>
          <p:cNvPr id="14" name="Picture 13">
            <a:extLst>
              <a:ext uri="{FF2B5EF4-FFF2-40B4-BE49-F238E27FC236}">
                <a16:creationId xmlns:a16="http://schemas.microsoft.com/office/drawing/2014/main" id="{9ED5F2CC-F7F1-45CF-9983-E129EC6A13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7142" y="5152260"/>
            <a:ext cx="3966501" cy="937456"/>
          </a:xfrm>
          <a:prstGeom prst="rect">
            <a:avLst/>
          </a:prstGeom>
        </p:spPr>
      </p:pic>
    </p:spTree>
    <p:extLst>
      <p:ext uri="{BB962C8B-B14F-4D97-AF65-F5344CB8AC3E}">
        <p14:creationId xmlns:p14="http://schemas.microsoft.com/office/powerpoint/2010/main" val="388114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EF261D-5189-4C4D-A82B-B198144AA594}"/>
              </a:ext>
            </a:extLst>
          </p:cNvPr>
          <p:cNvSpPr>
            <a:spLocks noGrp="1"/>
          </p:cNvSpPr>
          <p:nvPr>
            <p:ph type="title"/>
          </p:nvPr>
        </p:nvSpPr>
        <p:spPr/>
        <p:txBody>
          <a:bodyPr/>
          <a:lstStyle/>
          <a:p>
            <a:pPr algn="ctr"/>
            <a:r>
              <a:rPr lang="en-US" b="1" dirty="0"/>
              <a:t>Operators</a:t>
            </a:r>
            <a:endParaRPr lang="LID4096" b="1" dirty="0"/>
          </a:p>
        </p:txBody>
      </p:sp>
      <p:sp>
        <p:nvSpPr>
          <p:cNvPr id="8" name="Text Placeholder 7">
            <a:extLst>
              <a:ext uri="{FF2B5EF4-FFF2-40B4-BE49-F238E27FC236}">
                <a16:creationId xmlns:a16="http://schemas.microsoft.com/office/drawing/2014/main" id="{4B013FF0-BDE0-47DA-84AB-5BE4149598AD}"/>
              </a:ext>
            </a:extLst>
          </p:cNvPr>
          <p:cNvSpPr>
            <a:spLocks noGrp="1"/>
          </p:cNvSpPr>
          <p:nvPr>
            <p:ph type="body" idx="1"/>
          </p:nvPr>
        </p:nvSpPr>
        <p:spPr>
          <a:xfrm>
            <a:off x="1155327" y="2142066"/>
            <a:ext cx="4825157" cy="576262"/>
          </a:xfrm>
        </p:spPr>
        <p:txBody>
          <a:bodyPr/>
          <a:lstStyle/>
          <a:p>
            <a:pPr algn="ctr"/>
            <a:r>
              <a:rPr lang="en-GB" b="1" dirty="0"/>
              <a:t>Comparison Operators</a:t>
            </a:r>
            <a:endParaRPr lang="LID4096" b="1" dirty="0"/>
          </a:p>
        </p:txBody>
      </p:sp>
      <p:graphicFrame>
        <p:nvGraphicFramePr>
          <p:cNvPr id="12" name="Table 12">
            <a:extLst>
              <a:ext uri="{FF2B5EF4-FFF2-40B4-BE49-F238E27FC236}">
                <a16:creationId xmlns:a16="http://schemas.microsoft.com/office/drawing/2014/main" id="{784049B7-D1FF-4D79-9039-A19E6AA1DCEB}"/>
              </a:ext>
            </a:extLst>
          </p:cNvPr>
          <p:cNvGraphicFramePr>
            <a:graphicFrameLocks noGrp="1"/>
          </p:cNvGraphicFramePr>
          <p:nvPr>
            <p:ph sz="half" idx="2"/>
            <p:extLst>
              <p:ext uri="{D42A27DB-BD31-4B8C-83A1-F6EECF244321}">
                <p14:modId xmlns:p14="http://schemas.microsoft.com/office/powerpoint/2010/main" val="517810624"/>
              </p:ext>
            </p:extLst>
          </p:nvPr>
        </p:nvGraphicFramePr>
        <p:xfrm>
          <a:off x="1154581" y="2721257"/>
          <a:ext cx="4824412" cy="3708400"/>
        </p:xfrm>
        <a:graphic>
          <a:graphicData uri="http://schemas.openxmlformats.org/drawingml/2006/table">
            <a:tbl>
              <a:tblPr firstRow="1" bandRow="1">
                <a:tableStyleId>{5C22544A-7EE6-4342-B048-85BDC9FD1C3A}</a:tableStyleId>
              </a:tblPr>
              <a:tblGrid>
                <a:gridCol w="1428363">
                  <a:extLst>
                    <a:ext uri="{9D8B030D-6E8A-4147-A177-3AD203B41FA5}">
                      <a16:colId xmlns:a16="http://schemas.microsoft.com/office/drawing/2014/main" val="4208397960"/>
                    </a:ext>
                  </a:extLst>
                </a:gridCol>
                <a:gridCol w="3396049">
                  <a:extLst>
                    <a:ext uri="{9D8B030D-6E8A-4147-A177-3AD203B41FA5}">
                      <a16:colId xmlns:a16="http://schemas.microsoft.com/office/drawing/2014/main" val="1644306087"/>
                    </a:ext>
                  </a:extLst>
                </a:gridCol>
              </a:tblGrid>
              <a:tr h="370840">
                <a:tc>
                  <a:txBody>
                    <a:bodyPr/>
                    <a:lstStyle/>
                    <a:p>
                      <a:r>
                        <a:rPr lang="en-US" dirty="0"/>
                        <a:t>Symbol</a:t>
                      </a:r>
                      <a:endParaRPr lang="LID4096" dirty="0"/>
                    </a:p>
                  </a:txBody>
                  <a:tcPr/>
                </a:tc>
                <a:tc>
                  <a:txBody>
                    <a:bodyPr/>
                    <a:lstStyle/>
                    <a:p>
                      <a:r>
                        <a:rPr lang="en-US" dirty="0"/>
                        <a:t>Meaning</a:t>
                      </a:r>
                      <a:endParaRPr lang="LID4096" dirty="0"/>
                    </a:p>
                  </a:txBody>
                  <a:tcPr/>
                </a:tc>
                <a:extLst>
                  <a:ext uri="{0D108BD9-81ED-4DB2-BD59-A6C34878D82A}">
                    <a16:rowId xmlns:a16="http://schemas.microsoft.com/office/drawing/2014/main" val="2718435594"/>
                  </a:ext>
                </a:extLst>
              </a:tr>
              <a:tr h="370840">
                <a:tc>
                  <a:txBody>
                    <a:bodyPr/>
                    <a:lstStyle/>
                    <a:p>
                      <a:r>
                        <a:rPr lang="en-US" dirty="0"/>
                        <a:t>=</a:t>
                      </a:r>
                      <a:endParaRPr lang="LID4096" dirty="0"/>
                    </a:p>
                  </a:txBody>
                  <a:tcPr/>
                </a:tc>
                <a:tc>
                  <a:txBody>
                    <a:bodyPr/>
                    <a:lstStyle/>
                    <a:p>
                      <a:r>
                        <a:rPr lang="en-GB" dirty="0"/>
                        <a:t>Equal to</a:t>
                      </a:r>
                      <a:endParaRPr lang="LID4096" dirty="0"/>
                    </a:p>
                  </a:txBody>
                  <a:tcPr/>
                </a:tc>
                <a:extLst>
                  <a:ext uri="{0D108BD9-81ED-4DB2-BD59-A6C34878D82A}">
                    <a16:rowId xmlns:a16="http://schemas.microsoft.com/office/drawing/2014/main" val="2532122437"/>
                  </a:ext>
                </a:extLst>
              </a:tr>
              <a:tr h="370840">
                <a:tc>
                  <a:txBody>
                    <a:bodyPr/>
                    <a:lstStyle/>
                    <a:p>
                      <a:r>
                        <a:rPr lang="en-GB" dirty="0"/>
                        <a:t>&lt;&gt; or !=</a:t>
                      </a:r>
                      <a:endParaRPr lang="LID4096" dirty="0"/>
                    </a:p>
                  </a:txBody>
                  <a:tcPr/>
                </a:tc>
                <a:tc>
                  <a:txBody>
                    <a:bodyPr/>
                    <a:lstStyle/>
                    <a:p>
                      <a:r>
                        <a:rPr lang="en-US" dirty="0"/>
                        <a:t>Not equal to</a:t>
                      </a:r>
                      <a:endParaRPr lang="LID4096" dirty="0"/>
                    </a:p>
                  </a:txBody>
                  <a:tcPr/>
                </a:tc>
                <a:extLst>
                  <a:ext uri="{0D108BD9-81ED-4DB2-BD59-A6C34878D82A}">
                    <a16:rowId xmlns:a16="http://schemas.microsoft.com/office/drawing/2014/main" val="1190727049"/>
                  </a:ext>
                </a:extLst>
              </a:tr>
              <a:tr h="370840">
                <a:tc>
                  <a:txBody>
                    <a:bodyPr/>
                    <a:lstStyle/>
                    <a:p>
                      <a:r>
                        <a:rPr lang="en-US" dirty="0"/>
                        <a:t>&gt;</a:t>
                      </a:r>
                      <a:endParaRPr lang="LID4096" dirty="0"/>
                    </a:p>
                  </a:txBody>
                  <a:tcPr/>
                </a:tc>
                <a:tc>
                  <a:txBody>
                    <a:bodyPr/>
                    <a:lstStyle/>
                    <a:p>
                      <a:r>
                        <a:rPr lang="en-GB" dirty="0"/>
                        <a:t>Greater than</a:t>
                      </a:r>
                      <a:endParaRPr lang="LID4096" dirty="0"/>
                    </a:p>
                  </a:txBody>
                  <a:tcPr/>
                </a:tc>
                <a:extLst>
                  <a:ext uri="{0D108BD9-81ED-4DB2-BD59-A6C34878D82A}">
                    <a16:rowId xmlns:a16="http://schemas.microsoft.com/office/drawing/2014/main" val="1033271056"/>
                  </a:ext>
                </a:extLst>
              </a:tr>
              <a:tr h="370840">
                <a:tc>
                  <a:txBody>
                    <a:bodyPr/>
                    <a:lstStyle/>
                    <a:p>
                      <a:r>
                        <a:rPr lang="en-US" dirty="0"/>
                        <a:t>&lt;</a:t>
                      </a:r>
                      <a:endParaRPr lang="LID4096" dirty="0"/>
                    </a:p>
                  </a:txBody>
                  <a:tcPr/>
                </a:tc>
                <a:tc>
                  <a:txBody>
                    <a:bodyPr/>
                    <a:lstStyle/>
                    <a:p>
                      <a:r>
                        <a:rPr lang="en-US" dirty="0"/>
                        <a:t>Less than</a:t>
                      </a:r>
                      <a:endParaRPr lang="LID4096" dirty="0"/>
                    </a:p>
                  </a:txBody>
                  <a:tcPr/>
                </a:tc>
                <a:extLst>
                  <a:ext uri="{0D108BD9-81ED-4DB2-BD59-A6C34878D82A}">
                    <a16:rowId xmlns:a16="http://schemas.microsoft.com/office/drawing/2014/main" val="1948694413"/>
                  </a:ext>
                </a:extLst>
              </a:tr>
              <a:tr h="370840">
                <a:tc>
                  <a:txBody>
                    <a:bodyPr/>
                    <a:lstStyle/>
                    <a:p>
                      <a:r>
                        <a:rPr lang="en-US" dirty="0"/>
                        <a:t>&gt;=</a:t>
                      </a:r>
                      <a:endParaRPr lang="LID4096" dirty="0"/>
                    </a:p>
                  </a:txBody>
                  <a:tcPr/>
                </a:tc>
                <a:tc>
                  <a:txBody>
                    <a:bodyPr/>
                    <a:lstStyle/>
                    <a:p>
                      <a:r>
                        <a:rPr lang="en-US" dirty="0"/>
                        <a:t>Greater than or equal to</a:t>
                      </a:r>
                      <a:endParaRPr lang="LID4096" dirty="0"/>
                    </a:p>
                  </a:txBody>
                  <a:tcPr/>
                </a:tc>
                <a:extLst>
                  <a:ext uri="{0D108BD9-81ED-4DB2-BD59-A6C34878D82A}">
                    <a16:rowId xmlns:a16="http://schemas.microsoft.com/office/drawing/2014/main" val="1170348496"/>
                  </a:ext>
                </a:extLst>
              </a:tr>
              <a:tr h="370840">
                <a:tc>
                  <a:txBody>
                    <a:bodyPr/>
                    <a:lstStyle/>
                    <a:p>
                      <a:r>
                        <a:rPr lang="en-US" dirty="0"/>
                        <a:t>&lt;=</a:t>
                      </a:r>
                      <a:endParaRPr lang="LID4096" dirty="0"/>
                    </a:p>
                  </a:txBody>
                  <a:tcPr/>
                </a:tc>
                <a:tc>
                  <a:txBody>
                    <a:bodyPr/>
                    <a:lstStyle/>
                    <a:p>
                      <a:r>
                        <a:rPr lang="en-US" dirty="0"/>
                        <a:t>Less than or equal to</a:t>
                      </a:r>
                      <a:endParaRPr lang="LID4096" dirty="0"/>
                    </a:p>
                  </a:txBody>
                  <a:tcPr/>
                </a:tc>
                <a:extLst>
                  <a:ext uri="{0D108BD9-81ED-4DB2-BD59-A6C34878D82A}">
                    <a16:rowId xmlns:a16="http://schemas.microsoft.com/office/drawing/2014/main" val="257839378"/>
                  </a:ext>
                </a:extLst>
              </a:tr>
              <a:tr h="370840">
                <a:tc>
                  <a:txBody>
                    <a:bodyPr/>
                    <a:lstStyle/>
                    <a:p>
                      <a:r>
                        <a:rPr lang="en-US" dirty="0"/>
                        <a:t>BETWEEN</a:t>
                      </a:r>
                      <a:endParaRPr lang="LID4096" dirty="0"/>
                    </a:p>
                  </a:txBody>
                  <a:tcPr/>
                </a:tc>
                <a:tc>
                  <a:txBody>
                    <a:bodyPr/>
                    <a:lstStyle/>
                    <a:p>
                      <a:r>
                        <a:rPr lang="en-GB" dirty="0"/>
                        <a:t>Within a range</a:t>
                      </a:r>
                      <a:endParaRPr lang="LID4096" dirty="0"/>
                    </a:p>
                  </a:txBody>
                  <a:tcPr/>
                </a:tc>
                <a:extLst>
                  <a:ext uri="{0D108BD9-81ED-4DB2-BD59-A6C34878D82A}">
                    <a16:rowId xmlns:a16="http://schemas.microsoft.com/office/drawing/2014/main" val="176375172"/>
                  </a:ext>
                </a:extLst>
              </a:tr>
              <a:tr h="370840">
                <a:tc>
                  <a:txBody>
                    <a:bodyPr/>
                    <a:lstStyle/>
                    <a:p>
                      <a:r>
                        <a:rPr lang="en-US" dirty="0"/>
                        <a:t>LIKE</a:t>
                      </a:r>
                      <a:endParaRPr lang="LID4096" dirty="0"/>
                    </a:p>
                  </a:txBody>
                  <a:tcPr/>
                </a:tc>
                <a:tc>
                  <a:txBody>
                    <a:bodyPr/>
                    <a:lstStyle/>
                    <a:p>
                      <a:r>
                        <a:rPr lang="en-GB" dirty="0"/>
                        <a:t>Pattern matching</a:t>
                      </a:r>
                      <a:endParaRPr lang="LID4096" dirty="0"/>
                    </a:p>
                  </a:txBody>
                  <a:tcPr/>
                </a:tc>
                <a:extLst>
                  <a:ext uri="{0D108BD9-81ED-4DB2-BD59-A6C34878D82A}">
                    <a16:rowId xmlns:a16="http://schemas.microsoft.com/office/drawing/2014/main" val="2955891651"/>
                  </a:ext>
                </a:extLst>
              </a:tr>
              <a:tr h="370840">
                <a:tc>
                  <a:txBody>
                    <a:bodyPr/>
                    <a:lstStyle/>
                    <a:p>
                      <a:r>
                        <a:rPr lang="en-US" dirty="0"/>
                        <a:t>IN</a:t>
                      </a:r>
                      <a:endParaRPr lang="LID4096" dirty="0"/>
                    </a:p>
                  </a:txBody>
                  <a:tcPr/>
                </a:tc>
                <a:tc>
                  <a:txBody>
                    <a:bodyPr/>
                    <a:lstStyle/>
                    <a:p>
                      <a:r>
                        <a:rPr lang="en-US" dirty="0"/>
                        <a:t>Matches any value in a list</a:t>
                      </a:r>
                      <a:endParaRPr lang="LID4096" dirty="0"/>
                    </a:p>
                  </a:txBody>
                  <a:tcPr/>
                </a:tc>
                <a:extLst>
                  <a:ext uri="{0D108BD9-81ED-4DB2-BD59-A6C34878D82A}">
                    <a16:rowId xmlns:a16="http://schemas.microsoft.com/office/drawing/2014/main" val="3575232586"/>
                  </a:ext>
                </a:extLst>
              </a:tr>
            </a:tbl>
          </a:graphicData>
        </a:graphic>
      </p:graphicFrame>
      <p:sp>
        <p:nvSpPr>
          <p:cNvPr id="10" name="Text Placeholder 9">
            <a:extLst>
              <a:ext uri="{FF2B5EF4-FFF2-40B4-BE49-F238E27FC236}">
                <a16:creationId xmlns:a16="http://schemas.microsoft.com/office/drawing/2014/main" id="{C1FB281F-7D7F-4591-A3C5-746E5F95EA93}"/>
              </a:ext>
            </a:extLst>
          </p:cNvPr>
          <p:cNvSpPr>
            <a:spLocks noGrp="1"/>
          </p:cNvSpPr>
          <p:nvPr>
            <p:ph type="body" sz="quarter" idx="3"/>
          </p:nvPr>
        </p:nvSpPr>
        <p:spPr>
          <a:xfrm>
            <a:off x="6572464" y="2142066"/>
            <a:ext cx="4825159" cy="576262"/>
          </a:xfrm>
        </p:spPr>
        <p:txBody>
          <a:bodyPr/>
          <a:lstStyle/>
          <a:p>
            <a:pPr algn="ctr"/>
            <a:r>
              <a:rPr lang="en-GB" b="1" dirty="0"/>
              <a:t>Logical Operators</a:t>
            </a:r>
            <a:endParaRPr lang="LID4096" b="1" dirty="0"/>
          </a:p>
        </p:txBody>
      </p:sp>
      <p:graphicFrame>
        <p:nvGraphicFramePr>
          <p:cNvPr id="13" name="Table 13">
            <a:extLst>
              <a:ext uri="{FF2B5EF4-FFF2-40B4-BE49-F238E27FC236}">
                <a16:creationId xmlns:a16="http://schemas.microsoft.com/office/drawing/2014/main" id="{525BA10D-A6DB-46BA-9350-93227E056B3D}"/>
              </a:ext>
            </a:extLst>
          </p:cNvPr>
          <p:cNvGraphicFramePr>
            <a:graphicFrameLocks noGrp="1"/>
          </p:cNvGraphicFramePr>
          <p:nvPr>
            <p:ph sz="quarter" idx="4"/>
            <p:extLst>
              <p:ext uri="{D42A27DB-BD31-4B8C-83A1-F6EECF244321}">
                <p14:modId xmlns:p14="http://schemas.microsoft.com/office/powerpoint/2010/main" val="926979677"/>
              </p:ext>
            </p:extLst>
          </p:nvPr>
        </p:nvGraphicFramePr>
        <p:xfrm>
          <a:off x="6216364" y="2718328"/>
          <a:ext cx="5414536" cy="1483360"/>
        </p:xfrm>
        <a:graphic>
          <a:graphicData uri="http://schemas.openxmlformats.org/drawingml/2006/table">
            <a:tbl>
              <a:tblPr firstRow="1" bandRow="1">
                <a:tableStyleId>{5C22544A-7EE6-4342-B048-85BDC9FD1C3A}</a:tableStyleId>
              </a:tblPr>
              <a:tblGrid>
                <a:gridCol w="1002792">
                  <a:extLst>
                    <a:ext uri="{9D8B030D-6E8A-4147-A177-3AD203B41FA5}">
                      <a16:colId xmlns:a16="http://schemas.microsoft.com/office/drawing/2014/main" val="3231223138"/>
                    </a:ext>
                  </a:extLst>
                </a:gridCol>
                <a:gridCol w="4411744">
                  <a:extLst>
                    <a:ext uri="{9D8B030D-6E8A-4147-A177-3AD203B41FA5}">
                      <a16:colId xmlns:a16="http://schemas.microsoft.com/office/drawing/2014/main" val="3656091534"/>
                    </a:ext>
                  </a:extLst>
                </a:gridCol>
              </a:tblGrid>
              <a:tr h="370840">
                <a:tc>
                  <a:txBody>
                    <a:bodyPr/>
                    <a:lstStyle/>
                    <a:p>
                      <a:r>
                        <a:rPr lang="en-US" dirty="0"/>
                        <a:t>Symbol </a:t>
                      </a:r>
                      <a:endParaRPr lang="LID4096" dirty="0"/>
                    </a:p>
                  </a:txBody>
                  <a:tcPr/>
                </a:tc>
                <a:tc>
                  <a:txBody>
                    <a:bodyPr/>
                    <a:lstStyle/>
                    <a:p>
                      <a:r>
                        <a:rPr lang="en-US" dirty="0"/>
                        <a:t>Meaning</a:t>
                      </a:r>
                      <a:endParaRPr lang="LID4096" dirty="0"/>
                    </a:p>
                  </a:txBody>
                  <a:tcPr/>
                </a:tc>
                <a:extLst>
                  <a:ext uri="{0D108BD9-81ED-4DB2-BD59-A6C34878D82A}">
                    <a16:rowId xmlns:a16="http://schemas.microsoft.com/office/drawing/2014/main" val="3417776854"/>
                  </a:ext>
                </a:extLst>
              </a:tr>
              <a:tr h="370840">
                <a:tc>
                  <a:txBody>
                    <a:bodyPr/>
                    <a:lstStyle/>
                    <a:p>
                      <a:r>
                        <a:rPr lang="en-US" dirty="0"/>
                        <a:t>AND</a:t>
                      </a:r>
                      <a:endParaRPr lang="LID4096" dirty="0"/>
                    </a:p>
                  </a:txBody>
                  <a:tcPr/>
                </a:tc>
                <a:tc>
                  <a:txBody>
                    <a:bodyPr/>
                    <a:lstStyle/>
                    <a:p>
                      <a:r>
                        <a:rPr lang="en-US" dirty="0"/>
                        <a:t>Both conditions must be true</a:t>
                      </a:r>
                      <a:endParaRPr lang="LID4096" dirty="0"/>
                    </a:p>
                  </a:txBody>
                  <a:tcPr/>
                </a:tc>
                <a:extLst>
                  <a:ext uri="{0D108BD9-81ED-4DB2-BD59-A6C34878D82A}">
                    <a16:rowId xmlns:a16="http://schemas.microsoft.com/office/drawing/2014/main" val="3595743531"/>
                  </a:ext>
                </a:extLst>
              </a:tr>
              <a:tr h="370840">
                <a:tc>
                  <a:txBody>
                    <a:bodyPr/>
                    <a:lstStyle/>
                    <a:p>
                      <a:r>
                        <a:rPr lang="en-US" dirty="0"/>
                        <a:t>OR</a:t>
                      </a:r>
                      <a:endParaRPr lang="LID4096" dirty="0"/>
                    </a:p>
                  </a:txBody>
                  <a:tcPr/>
                </a:tc>
                <a:tc>
                  <a:txBody>
                    <a:bodyPr/>
                    <a:lstStyle/>
                    <a:p>
                      <a:r>
                        <a:rPr lang="en-US" dirty="0"/>
                        <a:t>At least one condition must be true</a:t>
                      </a:r>
                      <a:endParaRPr lang="LID4096" dirty="0"/>
                    </a:p>
                  </a:txBody>
                  <a:tcPr/>
                </a:tc>
                <a:extLst>
                  <a:ext uri="{0D108BD9-81ED-4DB2-BD59-A6C34878D82A}">
                    <a16:rowId xmlns:a16="http://schemas.microsoft.com/office/drawing/2014/main" val="4105714015"/>
                  </a:ext>
                </a:extLst>
              </a:tr>
              <a:tr h="370840">
                <a:tc>
                  <a:txBody>
                    <a:bodyPr/>
                    <a:lstStyle/>
                    <a:p>
                      <a:r>
                        <a:rPr lang="en-US" dirty="0"/>
                        <a:t>NOT</a:t>
                      </a:r>
                      <a:endParaRPr lang="LID4096" dirty="0"/>
                    </a:p>
                  </a:txBody>
                  <a:tcPr/>
                </a:tc>
                <a:tc>
                  <a:txBody>
                    <a:bodyPr/>
                    <a:lstStyle/>
                    <a:p>
                      <a:r>
                        <a:rPr lang="en-GB" dirty="0"/>
                        <a:t>Negates a condition</a:t>
                      </a:r>
                      <a:endParaRPr lang="LID4096" dirty="0"/>
                    </a:p>
                  </a:txBody>
                  <a:tcPr/>
                </a:tc>
                <a:extLst>
                  <a:ext uri="{0D108BD9-81ED-4DB2-BD59-A6C34878D82A}">
                    <a16:rowId xmlns:a16="http://schemas.microsoft.com/office/drawing/2014/main" val="2041558619"/>
                  </a:ext>
                </a:extLst>
              </a:tr>
            </a:tbl>
          </a:graphicData>
        </a:graphic>
      </p:graphicFrame>
      <p:sp>
        <p:nvSpPr>
          <p:cNvPr id="5" name="Footer Placeholder 4">
            <a:extLst>
              <a:ext uri="{FF2B5EF4-FFF2-40B4-BE49-F238E27FC236}">
                <a16:creationId xmlns:a16="http://schemas.microsoft.com/office/drawing/2014/main" id="{888F2246-3190-4127-99D3-40606A4A8613}"/>
              </a:ext>
            </a:extLst>
          </p:cNvPr>
          <p:cNvSpPr>
            <a:spLocks noGrp="1"/>
          </p:cNvSpPr>
          <p:nvPr>
            <p:ph type="ftr" sz="quarter" idx="11"/>
          </p:nvPr>
        </p:nvSpPr>
        <p:spPr>
          <a:xfrm>
            <a:off x="6213009" y="6429657"/>
            <a:ext cx="3859795" cy="304801"/>
          </a:xfrm>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0CE39459-6489-49AE-96D3-FC339937E8F1}"/>
              </a:ext>
            </a:extLst>
          </p:cNvPr>
          <p:cNvSpPr>
            <a:spLocks noGrp="1"/>
          </p:cNvSpPr>
          <p:nvPr>
            <p:ph type="sldNum" sz="quarter" idx="12"/>
          </p:nvPr>
        </p:nvSpPr>
        <p:spPr/>
        <p:txBody>
          <a:bodyPr/>
          <a:lstStyle/>
          <a:p>
            <a:fld id="{1D1DA0CA-E6E7-4A00-872A-D06185C48FFB}" type="slidenum">
              <a:rPr lang="LID4096" smtClean="0"/>
              <a:t>16</a:t>
            </a:fld>
            <a:endParaRPr lang="LID4096"/>
          </a:p>
        </p:txBody>
      </p:sp>
    </p:spTree>
    <p:extLst>
      <p:ext uri="{BB962C8B-B14F-4D97-AF65-F5344CB8AC3E}">
        <p14:creationId xmlns:p14="http://schemas.microsoft.com/office/powerpoint/2010/main" val="3010027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F7715-ABFC-4FB6-92FD-ACAB28074282}"/>
              </a:ext>
            </a:extLst>
          </p:cNvPr>
          <p:cNvSpPr>
            <a:spLocks noGrp="1"/>
          </p:cNvSpPr>
          <p:nvPr>
            <p:ph type="title"/>
          </p:nvPr>
        </p:nvSpPr>
        <p:spPr/>
        <p:txBody>
          <a:bodyPr/>
          <a:lstStyle/>
          <a:p>
            <a:pPr algn="ctr"/>
            <a:r>
              <a:rPr lang="en-US" b="1" dirty="0"/>
              <a:t>BETWEEN </a:t>
            </a:r>
            <a:endParaRPr lang="LID4096" b="1" dirty="0"/>
          </a:p>
        </p:txBody>
      </p:sp>
      <p:sp>
        <p:nvSpPr>
          <p:cNvPr id="4" name="Content Placeholder 3">
            <a:extLst>
              <a:ext uri="{FF2B5EF4-FFF2-40B4-BE49-F238E27FC236}">
                <a16:creationId xmlns:a16="http://schemas.microsoft.com/office/drawing/2014/main" id="{F52D0F19-68E2-4B08-A69E-2B34DA714202}"/>
              </a:ext>
            </a:extLst>
          </p:cNvPr>
          <p:cNvSpPr>
            <a:spLocks noGrp="1"/>
          </p:cNvSpPr>
          <p:nvPr>
            <p:ph sz="half" idx="1"/>
          </p:nvPr>
        </p:nvSpPr>
        <p:spPr/>
        <p:txBody>
          <a:bodyPr/>
          <a:lstStyle/>
          <a:p>
            <a:r>
              <a:rPr lang="en-US" dirty="0"/>
              <a:t>Let’s assume we are interested in students who are </a:t>
            </a:r>
            <a:r>
              <a:rPr lang="en-US" b="1" dirty="0"/>
              <a:t>BETWEEN</a:t>
            </a:r>
            <a:r>
              <a:rPr lang="en-US" dirty="0"/>
              <a:t> the AGE of 23 – 25.</a:t>
            </a:r>
          </a:p>
          <a:p>
            <a:pPr marL="0" indent="0">
              <a:buNone/>
            </a:pPr>
            <a:endParaRPr lang="LID4096" dirty="0"/>
          </a:p>
        </p:txBody>
      </p:sp>
      <p:sp>
        <p:nvSpPr>
          <p:cNvPr id="9" name="Content Placeholder 8">
            <a:extLst>
              <a:ext uri="{FF2B5EF4-FFF2-40B4-BE49-F238E27FC236}">
                <a16:creationId xmlns:a16="http://schemas.microsoft.com/office/drawing/2014/main" id="{1874E9AC-B26B-4585-8942-BF7A6940F8AD}"/>
              </a:ext>
            </a:extLst>
          </p:cNvPr>
          <p:cNvSpPr>
            <a:spLocks noGrp="1"/>
          </p:cNvSpPr>
          <p:nvPr>
            <p:ph sz="half" idx="2"/>
          </p:nvPr>
        </p:nvSpPr>
        <p:spPr/>
        <p:txBody>
          <a:bodyPr/>
          <a:lstStyle/>
          <a:p>
            <a:r>
              <a:rPr lang="en-US" dirty="0"/>
              <a:t>In this case we used a wildcard </a:t>
            </a:r>
            <a:r>
              <a:rPr lang="en-US" b="1" dirty="0"/>
              <a:t>*</a:t>
            </a:r>
            <a:r>
              <a:rPr lang="en-US" dirty="0"/>
              <a:t> which means we are </a:t>
            </a:r>
            <a:r>
              <a:rPr lang="en-US" b="1" dirty="0"/>
              <a:t>SELECT</a:t>
            </a:r>
            <a:r>
              <a:rPr lang="en-US" dirty="0"/>
              <a:t>ing everything from the table.</a:t>
            </a:r>
          </a:p>
          <a:p>
            <a:endParaRPr lang="en-US" dirty="0"/>
          </a:p>
          <a:p>
            <a:endParaRPr lang="en-US" dirty="0"/>
          </a:p>
          <a:p>
            <a:endParaRPr lang="en-US" dirty="0"/>
          </a:p>
          <a:p>
            <a:r>
              <a:rPr lang="en-US" b="1" dirty="0"/>
              <a:t>NOTE: </a:t>
            </a:r>
            <a:r>
              <a:rPr lang="en-US" dirty="0"/>
              <a:t>All this while we where </a:t>
            </a:r>
            <a:r>
              <a:rPr lang="en-US" b="1" dirty="0"/>
              <a:t>SELECT</a:t>
            </a:r>
            <a:r>
              <a:rPr lang="en-US" dirty="0"/>
              <a:t>ing a specific field e.g., AGE and we could only see that very field.</a:t>
            </a:r>
          </a:p>
          <a:p>
            <a:pPr marL="0" indent="0">
              <a:buNone/>
            </a:pPr>
            <a:endParaRPr lang="LID4096" dirty="0"/>
          </a:p>
        </p:txBody>
      </p:sp>
      <p:sp>
        <p:nvSpPr>
          <p:cNvPr id="7" name="Footer Placeholder 6">
            <a:extLst>
              <a:ext uri="{FF2B5EF4-FFF2-40B4-BE49-F238E27FC236}">
                <a16:creationId xmlns:a16="http://schemas.microsoft.com/office/drawing/2014/main" id="{726DD534-2B40-490B-AA1C-B959360AFD7C}"/>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8" name="Slide Number Placeholder 7">
            <a:extLst>
              <a:ext uri="{FF2B5EF4-FFF2-40B4-BE49-F238E27FC236}">
                <a16:creationId xmlns:a16="http://schemas.microsoft.com/office/drawing/2014/main" id="{11CA9A77-2935-476A-8050-C9E2C61E0072}"/>
              </a:ext>
            </a:extLst>
          </p:cNvPr>
          <p:cNvSpPr>
            <a:spLocks noGrp="1"/>
          </p:cNvSpPr>
          <p:nvPr>
            <p:ph type="sldNum" sz="quarter" idx="12"/>
          </p:nvPr>
        </p:nvSpPr>
        <p:spPr/>
        <p:txBody>
          <a:bodyPr/>
          <a:lstStyle/>
          <a:p>
            <a:fld id="{1D1DA0CA-E6E7-4A00-872A-D06185C48FFB}" type="slidenum">
              <a:rPr lang="LID4096" smtClean="0"/>
              <a:t>17</a:t>
            </a:fld>
            <a:endParaRPr lang="LID4096"/>
          </a:p>
        </p:txBody>
      </p:sp>
      <p:pic>
        <p:nvPicPr>
          <p:cNvPr id="13" name="Picture 12">
            <a:extLst>
              <a:ext uri="{FF2B5EF4-FFF2-40B4-BE49-F238E27FC236}">
                <a16:creationId xmlns:a16="http://schemas.microsoft.com/office/drawing/2014/main" id="{23A67595-0DAC-4B62-9C03-78B8AA9CC2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754" y="3588827"/>
            <a:ext cx="4135496" cy="1482794"/>
          </a:xfrm>
          <a:prstGeom prst="rect">
            <a:avLst/>
          </a:prstGeom>
        </p:spPr>
      </p:pic>
      <p:pic>
        <p:nvPicPr>
          <p:cNvPr id="15" name="Picture 14">
            <a:extLst>
              <a:ext uri="{FF2B5EF4-FFF2-40B4-BE49-F238E27FC236}">
                <a16:creationId xmlns:a16="http://schemas.microsoft.com/office/drawing/2014/main" id="{EDE08229-DB05-4823-A511-2635C5F3B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1331" y="3588827"/>
            <a:ext cx="5102608" cy="1039734"/>
          </a:xfrm>
          <a:prstGeom prst="rect">
            <a:avLst/>
          </a:prstGeom>
        </p:spPr>
      </p:pic>
    </p:spTree>
    <p:extLst>
      <p:ext uri="{BB962C8B-B14F-4D97-AF65-F5344CB8AC3E}">
        <p14:creationId xmlns:p14="http://schemas.microsoft.com/office/powerpoint/2010/main" val="243346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FF576-4CC4-4175-AB2A-59613F3338E6}"/>
              </a:ext>
            </a:extLst>
          </p:cNvPr>
          <p:cNvSpPr>
            <a:spLocks noGrp="1"/>
          </p:cNvSpPr>
          <p:nvPr>
            <p:ph type="title"/>
          </p:nvPr>
        </p:nvSpPr>
        <p:spPr/>
        <p:txBody>
          <a:bodyPr/>
          <a:lstStyle/>
          <a:p>
            <a:pPr algn="ctr"/>
            <a:r>
              <a:rPr lang="en-US" b="1" dirty="0"/>
              <a:t>LIKE</a:t>
            </a:r>
            <a:endParaRPr lang="LID4096" b="1" dirty="0"/>
          </a:p>
        </p:txBody>
      </p:sp>
      <p:sp>
        <p:nvSpPr>
          <p:cNvPr id="3" name="Content Placeholder 2">
            <a:extLst>
              <a:ext uri="{FF2B5EF4-FFF2-40B4-BE49-F238E27FC236}">
                <a16:creationId xmlns:a16="http://schemas.microsoft.com/office/drawing/2014/main" id="{23FA5EE5-09B9-4E21-B717-6DC0C3789C59}"/>
              </a:ext>
            </a:extLst>
          </p:cNvPr>
          <p:cNvSpPr>
            <a:spLocks noGrp="1"/>
          </p:cNvSpPr>
          <p:nvPr>
            <p:ph sz="half" idx="1"/>
          </p:nvPr>
        </p:nvSpPr>
        <p:spPr>
          <a:xfrm>
            <a:off x="561110" y="2564479"/>
            <a:ext cx="4825158" cy="3416301"/>
          </a:xfrm>
        </p:spPr>
        <p:txBody>
          <a:bodyPr/>
          <a:lstStyle/>
          <a:p>
            <a:r>
              <a:rPr lang="en-US" dirty="0"/>
              <a:t>To understand this query, first we need to INSERT a new record shown below.</a:t>
            </a:r>
          </a:p>
          <a:p>
            <a:pPr marL="0" indent="0">
              <a:buNone/>
            </a:pPr>
            <a:endParaRPr lang="LID4096" dirty="0"/>
          </a:p>
        </p:txBody>
      </p:sp>
      <p:sp>
        <p:nvSpPr>
          <p:cNvPr id="4" name="Content Placeholder 3">
            <a:extLst>
              <a:ext uri="{FF2B5EF4-FFF2-40B4-BE49-F238E27FC236}">
                <a16:creationId xmlns:a16="http://schemas.microsoft.com/office/drawing/2014/main" id="{166E5914-F48E-45F7-89AA-C2435F051F1D}"/>
              </a:ext>
            </a:extLst>
          </p:cNvPr>
          <p:cNvSpPr>
            <a:spLocks noGrp="1"/>
          </p:cNvSpPr>
          <p:nvPr>
            <p:ph sz="half" idx="2"/>
          </p:nvPr>
        </p:nvSpPr>
        <p:spPr>
          <a:xfrm>
            <a:off x="6830881" y="2586348"/>
            <a:ext cx="4825159" cy="3416300"/>
          </a:xfrm>
        </p:spPr>
        <p:txBody>
          <a:bodyPr/>
          <a:lstStyle/>
          <a:p>
            <a:r>
              <a:rPr lang="en-US" dirty="0"/>
              <a:t>Now let’s just filter students who started pursuing their programs in 2023.</a:t>
            </a:r>
          </a:p>
          <a:p>
            <a:pPr marL="0" indent="0">
              <a:buNone/>
            </a:pPr>
            <a:endParaRPr lang="en-US" dirty="0"/>
          </a:p>
          <a:p>
            <a:pPr marL="0" indent="0">
              <a:buNone/>
            </a:pPr>
            <a:r>
              <a:rPr lang="en-US" dirty="0"/>
              <a:t>      SELECT *</a:t>
            </a:r>
          </a:p>
          <a:p>
            <a:pPr marL="0" indent="0">
              <a:buNone/>
            </a:pPr>
            <a:r>
              <a:rPr lang="en-US" dirty="0"/>
              <a:t>      FROM students</a:t>
            </a:r>
          </a:p>
          <a:p>
            <a:pPr marL="0" indent="0">
              <a:buNone/>
            </a:pPr>
            <a:r>
              <a:rPr lang="en-US" dirty="0"/>
              <a:t>      WHERE S_I_N LIKE '2023%';</a:t>
            </a:r>
            <a:endParaRPr lang="LID4096" dirty="0"/>
          </a:p>
        </p:txBody>
      </p:sp>
      <p:sp>
        <p:nvSpPr>
          <p:cNvPr id="5" name="Footer Placeholder 4">
            <a:extLst>
              <a:ext uri="{FF2B5EF4-FFF2-40B4-BE49-F238E27FC236}">
                <a16:creationId xmlns:a16="http://schemas.microsoft.com/office/drawing/2014/main" id="{96E9118F-F4AE-45AD-B245-39296EA6F19F}"/>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25C56585-DA4F-488D-883C-A5A56C5D268E}"/>
              </a:ext>
            </a:extLst>
          </p:cNvPr>
          <p:cNvSpPr>
            <a:spLocks noGrp="1"/>
          </p:cNvSpPr>
          <p:nvPr>
            <p:ph type="sldNum" sz="quarter" idx="12"/>
          </p:nvPr>
        </p:nvSpPr>
        <p:spPr/>
        <p:txBody>
          <a:bodyPr/>
          <a:lstStyle/>
          <a:p>
            <a:fld id="{1D1DA0CA-E6E7-4A00-872A-D06185C48FFB}" type="slidenum">
              <a:rPr lang="LID4096" smtClean="0"/>
              <a:t>18</a:t>
            </a:fld>
            <a:endParaRPr lang="LID4096"/>
          </a:p>
        </p:txBody>
      </p:sp>
      <p:graphicFrame>
        <p:nvGraphicFramePr>
          <p:cNvPr id="8" name="Table 8">
            <a:extLst>
              <a:ext uri="{FF2B5EF4-FFF2-40B4-BE49-F238E27FC236}">
                <a16:creationId xmlns:a16="http://schemas.microsoft.com/office/drawing/2014/main" id="{A562D3E5-C9AA-4196-822B-52ACB550F630}"/>
              </a:ext>
            </a:extLst>
          </p:cNvPr>
          <p:cNvGraphicFramePr>
            <a:graphicFrameLocks noGrp="1"/>
          </p:cNvGraphicFramePr>
          <p:nvPr>
            <p:extLst>
              <p:ext uri="{D42A27DB-BD31-4B8C-83A1-F6EECF244321}">
                <p14:modId xmlns:p14="http://schemas.microsoft.com/office/powerpoint/2010/main" val="283827363"/>
              </p:ext>
            </p:extLst>
          </p:nvPr>
        </p:nvGraphicFramePr>
        <p:xfrm>
          <a:off x="1011020" y="3436070"/>
          <a:ext cx="5613139" cy="370840"/>
        </p:xfrm>
        <a:graphic>
          <a:graphicData uri="http://schemas.openxmlformats.org/drawingml/2006/table">
            <a:tbl>
              <a:tblPr firstRow="1" bandRow="1">
                <a:tableStyleId>{5C22544A-7EE6-4342-B048-85BDC9FD1C3A}</a:tableStyleId>
              </a:tblPr>
              <a:tblGrid>
                <a:gridCol w="890310">
                  <a:extLst>
                    <a:ext uri="{9D8B030D-6E8A-4147-A177-3AD203B41FA5}">
                      <a16:colId xmlns:a16="http://schemas.microsoft.com/office/drawing/2014/main" val="1076966182"/>
                    </a:ext>
                  </a:extLst>
                </a:gridCol>
                <a:gridCol w="867266">
                  <a:extLst>
                    <a:ext uri="{9D8B030D-6E8A-4147-A177-3AD203B41FA5}">
                      <a16:colId xmlns:a16="http://schemas.microsoft.com/office/drawing/2014/main" val="4263841643"/>
                    </a:ext>
                  </a:extLst>
                </a:gridCol>
                <a:gridCol w="1442301">
                  <a:extLst>
                    <a:ext uri="{9D8B030D-6E8A-4147-A177-3AD203B41FA5}">
                      <a16:colId xmlns:a16="http://schemas.microsoft.com/office/drawing/2014/main" val="2563158654"/>
                    </a:ext>
                  </a:extLst>
                </a:gridCol>
                <a:gridCol w="603315">
                  <a:extLst>
                    <a:ext uri="{9D8B030D-6E8A-4147-A177-3AD203B41FA5}">
                      <a16:colId xmlns:a16="http://schemas.microsoft.com/office/drawing/2014/main" val="451883017"/>
                    </a:ext>
                  </a:extLst>
                </a:gridCol>
                <a:gridCol w="1385741">
                  <a:extLst>
                    <a:ext uri="{9D8B030D-6E8A-4147-A177-3AD203B41FA5}">
                      <a16:colId xmlns:a16="http://schemas.microsoft.com/office/drawing/2014/main" val="2288653526"/>
                    </a:ext>
                  </a:extLst>
                </a:gridCol>
                <a:gridCol w="424206">
                  <a:extLst>
                    <a:ext uri="{9D8B030D-6E8A-4147-A177-3AD203B41FA5}">
                      <a16:colId xmlns:a16="http://schemas.microsoft.com/office/drawing/2014/main" val="4066691279"/>
                    </a:ext>
                  </a:extLst>
                </a:gridCol>
              </a:tblGrid>
              <a:tr h="370840">
                <a:tc>
                  <a:txBody>
                    <a:bodyPr/>
                    <a:lstStyle/>
                    <a:p>
                      <a:r>
                        <a:rPr lang="en-US" sz="1200" dirty="0"/>
                        <a:t>20240001</a:t>
                      </a:r>
                      <a:endParaRPr lang="LID4096" sz="1200" dirty="0"/>
                    </a:p>
                  </a:txBody>
                  <a:tcPr/>
                </a:tc>
                <a:tc>
                  <a:txBody>
                    <a:bodyPr/>
                    <a:lstStyle/>
                    <a:p>
                      <a:r>
                        <a:rPr lang="en-US" sz="1200" dirty="0"/>
                        <a:t>AARON</a:t>
                      </a:r>
                      <a:endParaRPr lang="LID4096" sz="1200" dirty="0"/>
                    </a:p>
                  </a:txBody>
                  <a:tcPr/>
                </a:tc>
                <a:tc>
                  <a:txBody>
                    <a:bodyPr/>
                    <a:lstStyle/>
                    <a:p>
                      <a:r>
                        <a:rPr lang="en-US" sz="1200" dirty="0"/>
                        <a:t>NYAKAPANDA</a:t>
                      </a:r>
                      <a:endParaRPr lang="LID4096" sz="1200" dirty="0"/>
                    </a:p>
                  </a:txBody>
                  <a:tcPr/>
                </a:tc>
                <a:tc>
                  <a:txBody>
                    <a:bodyPr/>
                    <a:lstStyle/>
                    <a:p>
                      <a:r>
                        <a:rPr lang="en-US" sz="1200" dirty="0"/>
                        <a:t>MALE</a:t>
                      </a:r>
                      <a:endParaRPr lang="LID4096" sz="1200" dirty="0"/>
                    </a:p>
                  </a:txBody>
                  <a:tcPr/>
                </a:tc>
                <a:tc>
                  <a:txBody>
                    <a:bodyPr/>
                    <a:lstStyle/>
                    <a:p>
                      <a:r>
                        <a:rPr lang="en-US" sz="1200" dirty="0"/>
                        <a:t>CYBER SECURITY</a:t>
                      </a:r>
                      <a:endParaRPr lang="LID4096" sz="1200" dirty="0"/>
                    </a:p>
                  </a:txBody>
                  <a:tcPr/>
                </a:tc>
                <a:tc>
                  <a:txBody>
                    <a:bodyPr/>
                    <a:lstStyle/>
                    <a:p>
                      <a:r>
                        <a:rPr lang="en-US" sz="1200" dirty="0"/>
                        <a:t>22</a:t>
                      </a:r>
                      <a:endParaRPr lang="LID4096" sz="1200" dirty="0"/>
                    </a:p>
                  </a:txBody>
                  <a:tcPr/>
                </a:tc>
                <a:extLst>
                  <a:ext uri="{0D108BD9-81ED-4DB2-BD59-A6C34878D82A}">
                    <a16:rowId xmlns:a16="http://schemas.microsoft.com/office/drawing/2014/main" val="675783890"/>
                  </a:ext>
                </a:extLst>
              </a:tr>
            </a:tbl>
          </a:graphicData>
        </a:graphic>
      </p:graphicFrame>
      <p:pic>
        <p:nvPicPr>
          <p:cNvPr id="10" name="Picture 9">
            <a:extLst>
              <a:ext uri="{FF2B5EF4-FFF2-40B4-BE49-F238E27FC236}">
                <a16:creationId xmlns:a16="http://schemas.microsoft.com/office/drawing/2014/main" id="{7C00124F-31A6-4F06-BEB9-DC50433FD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226" y="3934315"/>
            <a:ext cx="5715294" cy="1327218"/>
          </a:xfrm>
          <a:prstGeom prst="rect">
            <a:avLst/>
          </a:prstGeom>
        </p:spPr>
      </p:pic>
    </p:spTree>
    <p:extLst>
      <p:ext uri="{BB962C8B-B14F-4D97-AF65-F5344CB8AC3E}">
        <p14:creationId xmlns:p14="http://schemas.microsoft.com/office/powerpoint/2010/main" val="1367756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7597B5-8072-461B-9003-613035C789BD}"/>
              </a:ext>
            </a:extLst>
          </p:cNvPr>
          <p:cNvSpPr>
            <a:spLocks noGrp="1"/>
          </p:cNvSpPr>
          <p:nvPr>
            <p:ph type="title"/>
          </p:nvPr>
        </p:nvSpPr>
        <p:spPr/>
        <p:txBody>
          <a:bodyPr/>
          <a:lstStyle/>
          <a:p>
            <a:pPr algn="ctr"/>
            <a:r>
              <a:rPr lang="en-GB" b="1" dirty="0"/>
              <a:t>Logical Operators</a:t>
            </a:r>
            <a:endParaRPr lang="LID4096" b="1" dirty="0"/>
          </a:p>
        </p:txBody>
      </p:sp>
      <p:sp>
        <p:nvSpPr>
          <p:cNvPr id="8" name="Text Placeholder 7">
            <a:extLst>
              <a:ext uri="{FF2B5EF4-FFF2-40B4-BE49-F238E27FC236}">
                <a16:creationId xmlns:a16="http://schemas.microsoft.com/office/drawing/2014/main" id="{722F828B-A19D-4E3E-80DF-05133ADEA509}"/>
              </a:ext>
            </a:extLst>
          </p:cNvPr>
          <p:cNvSpPr>
            <a:spLocks noGrp="1"/>
          </p:cNvSpPr>
          <p:nvPr>
            <p:ph type="body" idx="1"/>
          </p:nvPr>
        </p:nvSpPr>
        <p:spPr/>
        <p:txBody>
          <a:bodyPr/>
          <a:lstStyle/>
          <a:p>
            <a:pPr algn="ctr"/>
            <a:r>
              <a:rPr lang="en-US" b="1" dirty="0"/>
              <a:t>AND</a:t>
            </a:r>
            <a:endParaRPr lang="LID4096" b="1" dirty="0"/>
          </a:p>
        </p:txBody>
      </p:sp>
      <p:graphicFrame>
        <p:nvGraphicFramePr>
          <p:cNvPr id="12" name="Table 12">
            <a:extLst>
              <a:ext uri="{FF2B5EF4-FFF2-40B4-BE49-F238E27FC236}">
                <a16:creationId xmlns:a16="http://schemas.microsoft.com/office/drawing/2014/main" id="{D8BFD609-C8CB-40B3-8F76-B2ACB1D977D9}"/>
              </a:ext>
            </a:extLst>
          </p:cNvPr>
          <p:cNvGraphicFramePr>
            <a:graphicFrameLocks noGrp="1"/>
          </p:cNvGraphicFramePr>
          <p:nvPr>
            <p:ph sz="half" idx="2"/>
            <p:extLst>
              <p:ext uri="{D42A27DB-BD31-4B8C-83A1-F6EECF244321}">
                <p14:modId xmlns:p14="http://schemas.microsoft.com/office/powerpoint/2010/main" val="3277702933"/>
              </p:ext>
            </p:extLst>
          </p:nvPr>
        </p:nvGraphicFramePr>
        <p:xfrm>
          <a:off x="1155700" y="3179763"/>
          <a:ext cx="4824411" cy="1854200"/>
        </p:xfrm>
        <a:graphic>
          <a:graphicData uri="http://schemas.openxmlformats.org/drawingml/2006/table">
            <a:tbl>
              <a:tblPr firstRow="1" bandRow="1">
                <a:tableStyleId>{5C22544A-7EE6-4342-B048-85BDC9FD1C3A}</a:tableStyleId>
              </a:tblPr>
              <a:tblGrid>
                <a:gridCol w="1608137">
                  <a:extLst>
                    <a:ext uri="{9D8B030D-6E8A-4147-A177-3AD203B41FA5}">
                      <a16:colId xmlns:a16="http://schemas.microsoft.com/office/drawing/2014/main" val="3871714346"/>
                    </a:ext>
                  </a:extLst>
                </a:gridCol>
                <a:gridCol w="1608137">
                  <a:extLst>
                    <a:ext uri="{9D8B030D-6E8A-4147-A177-3AD203B41FA5}">
                      <a16:colId xmlns:a16="http://schemas.microsoft.com/office/drawing/2014/main" val="2119337178"/>
                    </a:ext>
                  </a:extLst>
                </a:gridCol>
                <a:gridCol w="1608137">
                  <a:extLst>
                    <a:ext uri="{9D8B030D-6E8A-4147-A177-3AD203B41FA5}">
                      <a16:colId xmlns:a16="http://schemas.microsoft.com/office/drawing/2014/main" val="2168211716"/>
                    </a:ext>
                  </a:extLst>
                </a:gridCol>
              </a:tblGrid>
              <a:tr h="370840">
                <a:tc>
                  <a:txBody>
                    <a:bodyPr/>
                    <a:lstStyle/>
                    <a:p>
                      <a:r>
                        <a:rPr lang="en-US" dirty="0"/>
                        <a:t>X</a:t>
                      </a:r>
                      <a:endParaRPr lang="LID4096" dirty="0"/>
                    </a:p>
                  </a:txBody>
                  <a:tcPr/>
                </a:tc>
                <a:tc>
                  <a:txBody>
                    <a:bodyPr/>
                    <a:lstStyle/>
                    <a:p>
                      <a:r>
                        <a:rPr lang="en-US" dirty="0"/>
                        <a:t>Y</a:t>
                      </a:r>
                      <a:endParaRPr lang="LID4096" dirty="0"/>
                    </a:p>
                  </a:txBody>
                  <a:tcPr/>
                </a:tc>
                <a:tc>
                  <a:txBody>
                    <a:bodyPr/>
                    <a:lstStyle/>
                    <a:p>
                      <a:r>
                        <a:rPr lang="en-US" dirty="0"/>
                        <a:t>Z</a:t>
                      </a:r>
                      <a:endParaRPr lang="LID4096" dirty="0"/>
                    </a:p>
                  </a:txBody>
                  <a:tcPr/>
                </a:tc>
                <a:extLst>
                  <a:ext uri="{0D108BD9-81ED-4DB2-BD59-A6C34878D82A}">
                    <a16:rowId xmlns:a16="http://schemas.microsoft.com/office/drawing/2014/main" val="1707984449"/>
                  </a:ext>
                </a:extLst>
              </a:tr>
              <a:tr h="370840">
                <a:tc>
                  <a:txBody>
                    <a:bodyPr/>
                    <a:lstStyle/>
                    <a:p>
                      <a:r>
                        <a:rPr lang="en-US" dirty="0"/>
                        <a:t>0</a:t>
                      </a:r>
                      <a:endParaRPr lang="LID4096" dirty="0"/>
                    </a:p>
                  </a:txBody>
                  <a:tcPr/>
                </a:tc>
                <a:tc>
                  <a:txBody>
                    <a:bodyPr/>
                    <a:lstStyle/>
                    <a:p>
                      <a:r>
                        <a:rPr lang="en-US" dirty="0"/>
                        <a:t>0</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2896435466"/>
                  </a:ext>
                </a:extLst>
              </a:tr>
              <a:tr h="370840">
                <a:tc>
                  <a:txBody>
                    <a:bodyPr/>
                    <a:lstStyle/>
                    <a:p>
                      <a:r>
                        <a:rPr lang="en-US" dirty="0"/>
                        <a:t>0</a:t>
                      </a:r>
                      <a:endParaRPr lang="LID4096" dirty="0"/>
                    </a:p>
                  </a:txBody>
                  <a:tcPr/>
                </a:tc>
                <a:tc>
                  <a:txBody>
                    <a:bodyPr/>
                    <a:lstStyle/>
                    <a:p>
                      <a:r>
                        <a:rPr lang="en-US" dirty="0"/>
                        <a:t>1</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372429821"/>
                  </a:ext>
                </a:extLst>
              </a:tr>
              <a:tr h="370840">
                <a:tc>
                  <a:txBody>
                    <a:bodyPr/>
                    <a:lstStyle/>
                    <a:p>
                      <a:r>
                        <a:rPr lang="en-US" dirty="0"/>
                        <a:t>1</a:t>
                      </a:r>
                      <a:endParaRPr lang="LID4096" dirty="0"/>
                    </a:p>
                  </a:txBody>
                  <a:tcPr/>
                </a:tc>
                <a:tc>
                  <a:txBody>
                    <a:bodyPr/>
                    <a:lstStyle/>
                    <a:p>
                      <a:r>
                        <a:rPr lang="en-US" dirty="0"/>
                        <a:t>0</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3995072031"/>
                  </a:ext>
                </a:extLst>
              </a:tr>
              <a:tr h="370840">
                <a:tc>
                  <a:txBody>
                    <a:bodyPr/>
                    <a:lstStyle/>
                    <a:p>
                      <a:r>
                        <a:rPr lang="en-US" dirty="0"/>
                        <a:t>1</a:t>
                      </a:r>
                      <a:endParaRPr lang="LID4096" dirty="0"/>
                    </a:p>
                  </a:txBody>
                  <a:tcPr/>
                </a:tc>
                <a:tc>
                  <a:txBody>
                    <a:bodyPr/>
                    <a:lstStyle/>
                    <a:p>
                      <a:r>
                        <a:rPr lang="en-US" dirty="0"/>
                        <a:t>1</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2939152993"/>
                  </a:ext>
                </a:extLst>
              </a:tr>
            </a:tbl>
          </a:graphicData>
        </a:graphic>
      </p:graphicFrame>
      <p:sp>
        <p:nvSpPr>
          <p:cNvPr id="10" name="Text Placeholder 9">
            <a:extLst>
              <a:ext uri="{FF2B5EF4-FFF2-40B4-BE49-F238E27FC236}">
                <a16:creationId xmlns:a16="http://schemas.microsoft.com/office/drawing/2014/main" id="{8D61FEA0-B0CD-42A1-8A8F-4273EFA47127}"/>
              </a:ext>
            </a:extLst>
          </p:cNvPr>
          <p:cNvSpPr>
            <a:spLocks noGrp="1"/>
          </p:cNvSpPr>
          <p:nvPr>
            <p:ph type="body" sz="quarter" idx="3"/>
          </p:nvPr>
        </p:nvSpPr>
        <p:spPr/>
        <p:txBody>
          <a:bodyPr/>
          <a:lstStyle/>
          <a:p>
            <a:pPr algn="ctr"/>
            <a:r>
              <a:rPr lang="en-US" b="1" dirty="0"/>
              <a:t>OR</a:t>
            </a:r>
            <a:endParaRPr lang="LID4096" b="1" dirty="0"/>
          </a:p>
        </p:txBody>
      </p:sp>
      <p:graphicFrame>
        <p:nvGraphicFramePr>
          <p:cNvPr id="13" name="Table 13">
            <a:extLst>
              <a:ext uri="{FF2B5EF4-FFF2-40B4-BE49-F238E27FC236}">
                <a16:creationId xmlns:a16="http://schemas.microsoft.com/office/drawing/2014/main" id="{AC88C424-C373-4167-930D-8C3A4AA50C88}"/>
              </a:ext>
            </a:extLst>
          </p:cNvPr>
          <p:cNvGraphicFramePr>
            <a:graphicFrameLocks noGrp="1"/>
          </p:cNvGraphicFramePr>
          <p:nvPr>
            <p:ph sz="quarter" idx="4"/>
            <p:extLst>
              <p:ext uri="{D42A27DB-BD31-4B8C-83A1-F6EECF244321}">
                <p14:modId xmlns:p14="http://schemas.microsoft.com/office/powerpoint/2010/main" val="1375326085"/>
              </p:ext>
            </p:extLst>
          </p:nvPr>
        </p:nvGraphicFramePr>
        <p:xfrm>
          <a:off x="6208713" y="3179763"/>
          <a:ext cx="4824411" cy="1854200"/>
        </p:xfrm>
        <a:graphic>
          <a:graphicData uri="http://schemas.openxmlformats.org/drawingml/2006/table">
            <a:tbl>
              <a:tblPr firstRow="1" bandRow="1">
                <a:tableStyleId>{5C22544A-7EE6-4342-B048-85BDC9FD1C3A}</a:tableStyleId>
              </a:tblPr>
              <a:tblGrid>
                <a:gridCol w="1608137">
                  <a:extLst>
                    <a:ext uri="{9D8B030D-6E8A-4147-A177-3AD203B41FA5}">
                      <a16:colId xmlns:a16="http://schemas.microsoft.com/office/drawing/2014/main" val="1785380730"/>
                    </a:ext>
                  </a:extLst>
                </a:gridCol>
                <a:gridCol w="1608137">
                  <a:extLst>
                    <a:ext uri="{9D8B030D-6E8A-4147-A177-3AD203B41FA5}">
                      <a16:colId xmlns:a16="http://schemas.microsoft.com/office/drawing/2014/main" val="4016860129"/>
                    </a:ext>
                  </a:extLst>
                </a:gridCol>
                <a:gridCol w="1608137">
                  <a:extLst>
                    <a:ext uri="{9D8B030D-6E8A-4147-A177-3AD203B41FA5}">
                      <a16:colId xmlns:a16="http://schemas.microsoft.com/office/drawing/2014/main" val="495139334"/>
                    </a:ext>
                  </a:extLst>
                </a:gridCol>
              </a:tblGrid>
              <a:tr h="370840">
                <a:tc>
                  <a:txBody>
                    <a:bodyPr/>
                    <a:lstStyle/>
                    <a:p>
                      <a:r>
                        <a:rPr lang="en-US" dirty="0"/>
                        <a:t>X</a:t>
                      </a:r>
                      <a:endParaRPr lang="LID4096" dirty="0"/>
                    </a:p>
                  </a:txBody>
                  <a:tcPr/>
                </a:tc>
                <a:tc>
                  <a:txBody>
                    <a:bodyPr/>
                    <a:lstStyle/>
                    <a:p>
                      <a:r>
                        <a:rPr lang="en-US" dirty="0"/>
                        <a:t>Y</a:t>
                      </a:r>
                      <a:endParaRPr lang="LID4096" dirty="0"/>
                    </a:p>
                  </a:txBody>
                  <a:tcPr/>
                </a:tc>
                <a:tc>
                  <a:txBody>
                    <a:bodyPr/>
                    <a:lstStyle/>
                    <a:p>
                      <a:r>
                        <a:rPr lang="en-US" dirty="0"/>
                        <a:t>Z</a:t>
                      </a:r>
                      <a:endParaRPr lang="LID4096" dirty="0"/>
                    </a:p>
                  </a:txBody>
                  <a:tcPr/>
                </a:tc>
                <a:extLst>
                  <a:ext uri="{0D108BD9-81ED-4DB2-BD59-A6C34878D82A}">
                    <a16:rowId xmlns:a16="http://schemas.microsoft.com/office/drawing/2014/main" val="1963956800"/>
                  </a:ext>
                </a:extLst>
              </a:tr>
              <a:tr h="370840">
                <a:tc>
                  <a:txBody>
                    <a:bodyPr/>
                    <a:lstStyle/>
                    <a:p>
                      <a:r>
                        <a:rPr lang="en-US" dirty="0"/>
                        <a:t>0</a:t>
                      </a:r>
                      <a:endParaRPr lang="LID4096" dirty="0"/>
                    </a:p>
                  </a:txBody>
                  <a:tcPr/>
                </a:tc>
                <a:tc>
                  <a:txBody>
                    <a:bodyPr/>
                    <a:lstStyle/>
                    <a:p>
                      <a:r>
                        <a:rPr lang="en-US" dirty="0"/>
                        <a:t>0</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2376936858"/>
                  </a:ext>
                </a:extLst>
              </a:tr>
              <a:tr h="370840">
                <a:tc>
                  <a:txBody>
                    <a:bodyPr/>
                    <a:lstStyle/>
                    <a:p>
                      <a:r>
                        <a:rPr lang="en-US" dirty="0"/>
                        <a:t>0</a:t>
                      </a:r>
                      <a:endParaRPr lang="LID4096" dirty="0"/>
                    </a:p>
                  </a:txBody>
                  <a:tcPr/>
                </a:tc>
                <a:tc>
                  <a:txBody>
                    <a:bodyPr/>
                    <a:lstStyle/>
                    <a:p>
                      <a:r>
                        <a:rPr lang="en-US" dirty="0"/>
                        <a:t>1</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1012188020"/>
                  </a:ext>
                </a:extLst>
              </a:tr>
              <a:tr h="370840">
                <a:tc>
                  <a:txBody>
                    <a:bodyPr/>
                    <a:lstStyle/>
                    <a:p>
                      <a:r>
                        <a:rPr lang="en-US" dirty="0"/>
                        <a:t>1</a:t>
                      </a:r>
                      <a:endParaRPr lang="LID4096" dirty="0"/>
                    </a:p>
                  </a:txBody>
                  <a:tcPr/>
                </a:tc>
                <a:tc>
                  <a:txBody>
                    <a:bodyPr/>
                    <a:lstStyle/>
                    <a:p>
                      <a:r>
                        <a:rPr lang="en-US" dirty="0"/>
                        <a:t>0</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4006454340"/>
                  </a:ext>
                </a:extLst>
              </a:tr>
              <a:tr h="370840">
                <a:tc>
                  <a:txBody>
                    <a:bodyPr/>
                    <a:lstStyle/>
                    <a:p>
                      <a:r>
                        <a:rPr lang="en-US" dirty="0"/>
                        <a:t>1</a:t>
                      </a:r>
                      <a:endParaRPr lang="LID4096" dirty="0"/>
                    </a:p>
                  </a:txBody>
                  <a:tcPr/>
                </a:tc>
                <a:tc>
                  <a:txBody>
                    <a:bodyPr/>
                    <a:lstStyle/>
                    <a:p>
                      <a:r>
                        <a:rPr lang="en-US" dirty="0"/>
                        <a:t>1</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2009412090"/>
                  </a:ext>
                </a:extLst>
              </a:tr>
            </a:tbl>
          </a:graphicData>
        </a:graphic>
      </p:graphicFrame>
      <p:sp>
        <p:nvSpPr>
          <p:cNvPr id="5" name="Footer Placeholder 4">
            <a:extLst>
              <a:ext uri="{FF2B5EF4-FFF2-40B4-BE49-F238E27FC236}">
                <a16:creationId xmlns:a16="http://schemas.microsoft.com/office/drawing/2014/main" id="{B8FEF1E7-E09A-4DF2-9E59-C5393D59B5E3}"/>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56EB5A73-7BEA-489C-99B2-05895AE45771}"/>
              </a:ext>
            </a:extLst>
          </p:cNvPr>
          <p:cNvSpPr>
            <a:spLocks noGrp="1"/>
          </p:cNvSpPr>
          <p:nvPr>
            <p:ph type="sldNum" sz="quarter" idx="12"/>
          </p:nvPr>
        </p:nvSpPr>
        <p:spPr/>
        <p:txBody>
          <a:bodyPr/>
          <a:lstStyle/>
          <a:p>
            <a:fld id="{1D1DA0CA-E6E7-4A00-872A-D06185C48FFB}" type="slidenum">
              <a:rPr lang="LID4096" smtClean="0"/>
              <a:t>19</a:t>
            </a:fld>
            <a:endParaRPr lang="LID4096"/>
          </a:p>
        </p:txBody>
      </p:sp>
      <p:graphicFrame>
        <p:nvGraphicFramePr>
          <p:cNvPr id="2" name="Table 2">
            <a:extLst>
              <a:ext uri="{FF2B5EF4-FFF2-40B4-BE49-F238E27FC236}">
                <a16:creationId xmlns:a16="http://schemas.microsoft.com/office/drawing/2014/main" id="{9D22B81F-4E04-4FDC-8048-FC47469BAB0B}"/>
              </a:ext>
            </a:extLst>
          </p:cNvPr>
          <p:cNvGraphicFramePr>
            <a:graphicFrameLocks noGrp="1"/>
          </p:cNvGraphicFramePr>
          <p:nvPr>
            <p:extLst>
              <p:ext uri="{D42A27DB-BD31-4B8C-83A1-F6EECF244321}">
                <p14:modId xmlns:p14="http://schemas.microsoft.com/office/powerpoint/2010/main" val="904040335"/>
              </p:ext>
            </p:extLst>
          </p:nvPr>
        </p:nvGraphicFramePr>
        <p:xfrm>
          <a:off x="4558383" y="5033963"/>
          <a:ext cx="3661790" cy="1828800"/>
        </p:xfrm>
        <a:graphic>
          <a:graphicData uri="http://schemas.openxmlformats.org/drawingml/2006/table">
            <a:tbl>
              <a:tblPr firstRow="1" bandRow="1">
                <a:tableStyleId>{5C22544A-7EE6-4342-B048-85BDC9FD1C3A}</a:tableStyleId>
              </a:tblPr>
              <a:tblGrid>
                <a:gridCol w="1830895">
                  <a:extLst>
                    <a:ext uri="{9D8B030D-6E8A-4147-A177-3AD203B41FA5}">
                      <a16:colId xmlns:a16="http://schemas.microsoft.com/office/drawing/2014/main" val="3496264369"/>
                    </a:ext>
                  </a:extLst>
                </a:gridCol>
                <a:gridCol w="1830895">
                  <a:extLst>
                    <a:ext uri="{9D8B030D-6E8A-4147-A177-3AD203B41FA5}">
                      <a16:colId xmlns:a16="http://schemas.microsoft.com/office/drawing/2014/main" val="1992774226"/>
                    </a:ext>
                  </a:extLst>
                </a:gridCol>
              </a:tblGrid>
              <a:tr h="270846">
                <a:tc>
                  <a:txBody>
                    <a:bodyPr/>
                    <a:lstStyle/>
                    <a:p>
                      <a:r>
                        <a:rPr lang="en-US" dirty="0"/>
                        <a:t>EXPRESSING </a:t>
                      </a:r>
                      <a:endParaRPr lang="LID4096" dirty="0"/>
                    </a:p>
                  </a:txBody>
                  <a:tcPr/>
                </a:tc>
                <a:tc>
                  <a:txBody>
                    <a:bodyPr/>
                    <a:lstStyle/>
                    <a:p>
                      <a:r>
                        <a:rPr lang="en-US" dirty="0"/>
                        <a:t>COMMENT</a:t>
                      </a:r>
                      <a:endParaRPr lang="LID4096" dirty="0"/>
                    </a:p>
                  </a:txBody>
                  <a:tcPr/>
                </a:tc>
                <a:extLst>
                  <a:ext uri="{0D108BD9-81ED-4DB2-BD59-A6C34878D82A}">
                    <a16:rowId xmlns:a16="http://schemas.microsoft.com/office/drawing/2014/main" val="4074233654"/>
                  </a:ext>
                </a:extLst>
              </a:tr>
              <a:tr h="270846">
                <a:tc>
                  <a:txBody>
                    <a:bodyPr/>
                    <a:lstStyle/>
                    <a:p>
                      <a:r>
                        <a:rPr lang="en-US" dirty="0"/>
                        <a:t>0=0</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2763523006"/>
                  </a:ext>
                </a:extLst>
              </a:tr>
              <a:tr h="270846">
                <a:tc>
                  <a:txBody>
                    <a:bodyPr/>
                    <a:lstStyle/>
                    <a:p>
                      <a:r>
                        <a:rPr lang="en-US" dirty="0"/>
                        <a:t>0=1</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3226156544"/>
                  </a:ext>
                </a:extLst>
              </a:tr>
              <a:tr h="270846">
                <a:tc>
                  <a:txBody>
                    <a:bodyPr/>
                    <a:lstStyle/>
                    <a:p>
                      <a:r>
                        <a:rPr lang="en-US" dirty="0"/>
                        <a:t>1=0</a:t>
                      </a:r>
                      <a:endParaRPr lang="LID4096" dirty="0"/>
                    </a:p>
                  </a:txBody>
                  <a:tcPr/>
                </a:tc>
                <a:tc>
                  <a:txBody>
                    <a:bodyPr/>
                    <a:lstStyle/>
                    <a:p>
                      <a:r>
                        <a:rPr lang="en-US" dirty="0"/>
                        <a:t>False</a:t>
                      </a:r>
                      <a:endParaRPr lang="LID4096" dirty="0"/>
                    </a:p>
                  </a:txBody>
                  <a:tcPr/>
                </a:tc>
                <a:extLst>
                  <a:ext uri="{0D108BD9-81ED-4DB2-BD59-A6C34878D82A}">
                    <a16:rowId xmlns:a16="http://schemas.microsoft.com/office/drawing/2014/main" val="2649516317"/>
                  </a:ext>
                </a:extLst>
              </a:tr>
              <a:tr h="270846">
                <a:tc>
                  <a:txBody>
                    <a:bodyPr/>
                    <a:lstStyle/>
                    <a:p>
                      <a:r>
                        <a:rPr lang="en-US" dirty="0"/>
                        <a:t>1=1</a:t>
                      </a:r>
                      <a:endParaRPr lang="LID4096" dirty="0"/>
                    </a:p>
                  </a:txBody>
                  <a:tcPr/>
                </a:tc>
                <a:tc>
                  <a:txBody>
                    <a:bodyPr/>
                    <a:lstStyle/>
                    <a:p>
                      <a:r>
                        <a:rPr lang="en-US" dirty="0"/>
                        <a:t>True</a:t>
                      </a:r>
                      <a:endParaRPr lang="LID4096" dirty="0"/>
                    </a:p>
                  </a:txBody>
                  <a:tcPr/>
                </a:tc>
                <a:extLst>
                  <a:ext uri="{0D108BD9-81ED-4DB2-BD59-A6C34878D82A}">
                    <a16:rowId xmlns:a16="http://schemas.microsoft.com/office/drawing/2014/main" val="3370025647"/>
                  </a:ext>
                </a:extLst>
              </a:tr>
            </a:tbl>
          </a:graphicData>
        </a:graphic>
      </p:graphicFrame>
    </p:spTree>
    <p:extLst>
      <p:ext uri="{BB962C8B-B14F-4D97-AF65-F5344CB8AC3E}">
        <p14:creationId xmlns:p14="http://schemas.microsoft.com/office/powerpoint/2010/main" val="2623203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F0DCF-D7A4-4726-92E3-ED16E0034370}"/>
              </a:ext>
            </a:extLst>
          </p:cNvPr>
          <p:cNvSpPr>
            <a:spLocks noGrp="1"/>
          </p:cNvSpPr>
          <p:nvPr>
            <p:ph type="title"/>
          </p:nvPr>
        </p:nvSpPr>
        <p:spPr/>
        <p:txBody>
          <a:bodyPr/>
          <a:lstStyle/>
          <a:p>
            <a:pPr algn="ctr"/>
            <a:r>
              <a:rPr lang="en-US" b="1" dirty="0"/>
              <a:t>AND – True Statement</a:t>
            </a:r>
            <a:endParaRPr lang="LID4096" b="1" dirty="0"/>
          </a:p>
        </p:txBody>
      </p:sp>
      <p:sp>
        <p:nvSpPr>
          <p:cNvPr id="9" name="Content Placeholder 8">
            <a:extLst>
              <a:ext uri="{FF2B5EF4-FFF2-40B4-BE49-F238E27FC236}">
                <a16:creationId xmlns:a16="http://schemas.microsoft.com/office/drawing/2014/main" id="{6F1F0740-AF8A-4585-8B60-1084E40B59FA}"/>
              </a:ext>
            </a:extLst>
          </p:cNvPr>
          <p:cNvSpPr>
            <a:spLocks noGrp="1"/>
          </p:cNvSpPr>
          <p:nvPr>
            <p:ph sz="half" idx="1"/>
          </p:nvPr>
        </p:nvSpPr>
        <p:spPr/>
        <p:txBody>
          <a:bodyPr/>
          <a:lstStyle/>
          <a:p>
            <a:r>
              <a:rPr lang="en-US" dirty="0"/>
              <a:t>Let’s look for a </a:t>
            </a:r>
            <a:r>
              <a:rPr lang="en-US" b="1" dirty="0"/>
              <a:t>MALE</a:t>
            </a:r>
            <a:r>
              <a:rPr lang="en-US" dirty="0"/>
              <a:t> student who is </a:t>
            </a:r>
            <a:r>
              <a:rPr lang="en-US" b="1" dirty="0"/>
              <a:t>25</a:t>
            </a:r>
            <a:r>
              <a:rPr lang="en-US" dirty="0"/>
              <a:t> years old.</a:t>
            </a:r>
          </a:p>
          <a:p>
            <a:pPr marL="0" indent="0">
              <a:buNone/>
            </a:pPr>
            <a:endParaRPr lang="LID4096" dirty="0"/>
          </a:p>
        </p:txBody>
      </p:sp>
      <p:sp>
        <p:nvSpPr>
          <p:cNvPr id="10" name="Content Placeholder 9">
            <a:extLst>
              <a:ext uri="{FF2B5EF4-FFF2-40B4-BE49-F238E27FC236}">
                <a16:creationId xmlns:a16="http://schemas.microsoft.com/office/drawing/2014/main" id="{D919067A-F440-4CE8-848F-81A4C5129E02}"/>
              </a:ext>
            </a:extLst>
          </p:cNvPr>
          <p:cNvSpPr>
            <a:spLocks noGrp="1"/>
          </p:cNvSpPr>
          <p:nvPr>
            <p:ph sz="half" idx="2"/>
          </p:nvPr>
        </p:nvSpPr>
        <p:spPr/>
        <p:txBody>
          <a:bodyPr/>
          <a:lstStyle/>
          <a:p>
            <a:r>
              <a:rPr lang="en-US" b="1" dirty="0"/>
              <a:t>NOTE:</a:t>
            </a:r>
            <a:r>
              <a:rPr lang="en-US" dirty="0"/>
              <a:t> Both statements are true</a:t>
            </a:r>
          </a:p>
          <a:p>
            <a:pPr marL="0" indent="0">
              <a:buNone/>
            </a:pPr>
            <a:endParaRPr lang="LID4096" dirty="0"/>
          </a:p>
        </p:txBody>
      </p:sp>
      <p:sp>
        <p:nvSpPr>
          <p:cNvPr id="7" name="Footer Placeholder 6">
            <a:extLst>
              <a:ext uri="{FF2B5EF4-FFF2-40B4-BE49-F238E27FC236}">
                <a16:creationId xmlns:a16="http://schemas.microsoft.com/office/drawing/2014/main" id="{C08DFD7B-CE79-4F0F-9EE9-370FCD5C3933}"/>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8" name="Slide Number Placeholder 7">
            <a:extLst>
              <a:ext uri="{FF2B5EF4-FFF2-40B4-BE49-F238E27FC236}">
                <a16:creationId xmlns:a16="http://schemas.microsoft.com/office/drawing/2014/main" id="{D961993F-9D1B-46AA-BC88-42A8B599A3B7}"/>
              </a:ext>
            </a:extLst>
          </p:cNvPr>
          <p:cNvSpPr>
            <a:spLocks noGrp="1"/>
          </p:cNvSpPr>
          <p:nvPr>
            <p:ph type="sldNum" sz="quarter" idx="12"/>
          </p:nvPr>
        </p:nvSpPr>
        <p:spPr/>
        <p:txBody>
          <a:bodyPr/>
          <a:lstStyle/>
          <a:p>
            <a:fld id="{1D1DA0CA-E6E7-4A00-872A-D06185C48FFB}" type="slidenum">
              <a:rPr lang="LID4096" smtClean="0"/>
              <a:t>20</a:t>
            </a:fld>
            <a:endParaRPr lang="LID4096"/>
          </a:p>
        </p:txBody>
      </p:sp>
      <p:pic>
        <p:nvPicPr>
          <p:cNvPr id="14" name="Picture 13">
            <a:extLst>
              <a:ext uri="{FF2B5EF4-FFF2-40B4-BE49-F238E27FC236}">
                <a16:creationId xmlns:a16="http://schemas.microsoft.com/office/drawing/2014/main" id="{B0515F93-3CB2-4566-944C-49C545BCF1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8932" y="3318648"/>
            <a:ext cx="4236260" cy="1544185"/>
          </a:xfrm>
          <a:prstGeom prst="rect">
            <a:avLst/>
          </a:prstGeom>
        </p:spPr>
      </p:pic>
      <p:pic>
        <p:nvPicPr>
          <p:cNvPr id="16" name="Picture 15">
            <a:extLst>
              <a:ext uri="{FF2B5EF4-FFF2-40B4-BE49-F238E27FC236}">
                <a16:creationId xmlns:a16="http://schemas.microsoft.com/office/drawing/2014/main" id="{44B80BD2-AB27-4D11-BD93-7258DFE4D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932" y="4977030"/>
            <a:ext cx="4236260" cy="607197"/>
          </a:xfrm>
          <a:prstGeom prst="rect">
            <a:avLst/>
          </a:prstGeom>
        </p:spPr>
      </p:pic>
      <p:pic>
        <p:nvPicPr>
          <p:cNvPr id="18" name="Picture 17">
            <a:extLst>
              <a:ext uri="{FF2B5EF4-FFF2-40B4-BE49-F238E27FC236}">
                <a16:creationId xmlns:a16="http://schemas.microsoft.com/office/drawing/2014/main" id="{1D569BDB-FB24-404C-903C-AE7FC10A49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4440" y="3089257"/>
            <a:ext cx="3986701" cy="1398613"/>
          </a:xfrm>
          <a:prstGeom prst="rect">
            <a:avLst/>
          </a:prstGeom>
        </p:spPr>
      </p:pic>
      <p:pic>
        <p:nvPicPr>
          <p:cNvPr id="20" name="Picture 19">
            <a:extLst>
              <a:ext uri="{FF2B5EF4-FFF2-40B4-BE49-F238E27FC236}">
                <a16:creationId xmlns:a16="http://schemas.microsoft.com/office/drawing/2014/main" id="{59D50F86-EAB6-47E2-93B6-E99D684FCE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0792" y="4601143"/>
            <a:ext cx="3980349" cy="1400978"/>
          </a:xfrm>
          <a:prstGeom prst="rect">
            <a:avLst/>
          </a:prstGeom>
        </p:spPr>
      </p:pic>
    </p:spTree>
    <p:extLst>
      <p:ext uri="{BB962C8B-B14F-4D97-AF65-F5344CB8AC3E}">
        <p14:creationId xmlns:p14="http://schemas.microsoft.com/office/powerpoint/2010/main" val="3037037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E4A2-4EA4-4251-B836-C16251613AE1}"/>
              </a:ext>
            </a:extLst>
          </p:cNvPr>
          <p:cNvSpPr>
            <a:spLocks noGrp="1"/>
          </p:cNvSpPr>
          <p:nvPr>
            <p:ph type="title"/>
          </p:nvPr>
        </p:nvSpPr>
        <p:spPr/>
        <p:txBody>
          <a:bodyPr/>
          <a:lstStyle/>
          <a:p>
            <a:pPr algn="ctr"/>
            <a:r>
              <a:rPr lang="en-US" b="1" dirty="0"/>
              <a:t>AND – False Statement</a:t>
            </a:r>
            <a:endParaRPr lang="LID4096" dirty="0"/>
          </a:p>
        </p:txBody>
      </p:sp>
      <p:sp>
        <p:nvSpPr>
          <p:cNvPr id="3" name="Content Placeholder 2">
            <a:extLst>
              <a:ext uri="{FF2B5EF4-FFF2-40B4-BE49-F238E27FC236}">
                <a16:creationId xmlns:a16="http://schemas.microsoft.com/office/drawing/2014/main" id="{BF6E74C9-B841-4A42-8C87-B2FD72DC531E}"/>
              </a:ext>
            </a:extLst>
          </p:cNvPr>
          <p:cNvSpPr>
            <a:spLocks noGrp="1"/>
          </p:cNvSpPr>
          <p:nvPr>
            <p:ph sz="half" idx="1"/>
          </p:nvPr>
        </p:nvSpPr>
        <p:spPr/>
        <p:txBody>
          <a:bodyPr/>
          <a:lstStyle/>
          <a:p>
            <a:r>
              <a:rPr lang="en-US" dirty="0"/>
              <a:t>Notice the statements below will give us blank results:</a:t>
            </a:r>
          </a:p>
          <a:p>
            <a:pPr marL="0" indent="0">
              <a:buNone/>
            </a:pPr>
            <a:endParaRPr lang="LID4096" dirty="0"/>
          </a:p>
        </p:txBody>
      </p:sp>
      <p:sp>
        <p:nvSpPr>
          <p:cNvPr id="4" name="Content Placeholder 3">
            <a:extLst>
              <a:ext uri="{FF2B5EF4-FFF2-40B4-BE49-F238E27FC236}">
                <a16:creationId xmlns:a16="http://schemas.microsoft.com/office/drawing/2014/main" id="{7D45399E-B5FE-486D-96A5-7A207ED2E164}"/>
              </a:ext>
            </a:extLst>
          </p:cNvPr>
          <p:cNvSpPr>
            <a:spLocks noGrp="1"/>
          </p:cNvSpPr>
          <p:nvPr>
            <p:ph sz="half" idx="2"/>
          </p:nvPr>
        </p:nvSpPr>
        <p:spPr/>
        <p:txBody>
          <a:bodyPr/>
          <a:lstStyle/>
          <a:p>
            <a:r>
              <a:rPr lang="en-US" dirty="0"/>
              <a:t>Results:</a:t>
            </a:r>
          </a:p>
          <a:p>
            <a:endParaRPr lang="en-US" dirty="0"/>
          </a:p>
          <a:p>
            <a:endParaRPr lang="en-US" dirty="0"/>
          </a:p>
          <a:p>
            <a:r>
              <a:rPr lang="en-US" b="1" dirty="0"/>
              <a:t>AND</a:t>
            </a:r>
            <a:r>
              <a:rPr lang="en-US" dirty="0"/>
              <a:t> works when both statements are true.</a:t>
            </a:r>
          </a:p>
          <a:p>
            <a:r>
              <a:rPr lang="en-US" b="1" dirty="0"/>
              <a:t>SOKO</a:t>
            </a:r>
            <a:r>
              <a:rPr lang="en-US" dirty="0"/>
              <a:t> is available in </a:t>
            </a:r>
            <a:r>
              <a:rPr lang="en-US" b="1" dirty="0"/>
              <a:t>LAST_NAME </a:t>
            </a:r>
            <a:r>
              <a:rPr lang="en-US" dirty="0"/>
              <a:t>hence true but </a:t>
            </a:r>
            <a:r>
              <a:rPr lang="en-US" b="1" dirty="0"/>
              <a:t>1=0</a:t>
            </a:r>
            <a:r>
              <a:rPr lang="en-US" dirty="0"/>
              <a:t> and </a:t>
            </a:r>
            <a:r>
              <a:rPr lang="en-US" b="1" dirty="0"/>
              <a:t>0=1</a:t>
            </a:r>
            <a:r>
              <a:rPr lang="en-US" dirty="0"/>
              <a:t> is not true.</a:t>
            </a:r>
          </a:p>
          <a:p>
            <a:r>
              <a:rPr lang="en-US" dirty="0"/>
              <a:t>This results in a blank result.</a:t>
            </a:r>
          </a:p>
          <a:p>
            <a:pPr marL="0" indent="0">
              <a:buNone/>
            </a:pPr>
            <a:endParaRPr lang="LID4096" dirty="0"/>
          </a:p>
        </p:txBody>
      </p:sp>
      <p:sp>
        <p:nvSpPr>
          <p:cNvPr id="5" name="Footer Placeholder 4">
            <a:extLst>
              <a:ext uri="{FF2B5EF4-FFF2-40B4-BE49-F238E27FC236}">
                <a16:creationId xmlns:a16="http://schemas.microsoft.com/office/drawing/2014/main" id="{ABFD5E2F-E7E6-4990-A207-C0175CDC0103}"/>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F58B6D2A-D866-46E9-9C30-FEA6BCEA6C9A}"/>
              </a:ext>
            </a:extLst>
          </p:cNvPr>
          <p:cNvSpPr>
            <a:spLocks noGrp="1"/>
          </p:cNvSpPr>
          <p:nvPr>
            <p:ph type="sldNum" sz="quarter" idx="12"/>
          </p:nvPr>
        </p:nvSpPr>
        <p:spPr/>
        <p:txBody>
          <a:bodyPr/>
          <a:lstStyle/>
          <a:p>
            <a:fld id="{1D1DA0CA-E6E7-4A00-872A-D06185C48FFB}" type="slidenum">
              <a:rPr lang="LID4096" smtClean="0"/>
              <a:t>21</a:t>
            </a:fld>
            <a:endParaRPr lang="LID4096"/>
          </a:p>
        </p:txBody>
      </p:sp>
      <p:pic>
        <p:nvPicPr>
          <p:cNvPr id="10" name="Picture 9">
            <a:extLst>
              <a:ext uri="{FF2B5EF4-FFF2-40B4-BE49-F238E27FC236}">
                <a16:creationId xmlns:a16="http://schemas.microsoft.com/office/drawing/2014/main" id="{945057DC-F371-449C-81A2-924FA9D86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7034" y="3290395"/>
            <a:ext cx="4085036" cy="1424389"/>
          </a:xfrm>
          <a:prstGeom prst="rect">
            <a:avLst/>
          </a:prstGeom>
        </p:spPr>
      </p:pic>
      <p:pic>
        <p:nvPicPr>
          <p:cNvPr id="12" name="Picture 11">
            <a:extLst>
              <a:ext uri="{FF2B5EF4-FFF2-40B4-BE49-F238E27FC236}">
                <a16:creationId xmlns:a16="http://schemas.microsoft.com/office/drawing/2014/main" id="{462B1CB6-00E8-4D5B-B642-05C0902559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7034" y="4811187"/>
            <a:ext cx="4085036" cy="1451262"/>
          </a:xfrm>
          <a:prstGeom prst="rect">
            <a:avLst/>
          </a:prstGeom>
        </p:spPr>
      </p:pic>
      <p:pic>
        <p:nvPicPr>
          <p:cNvPr id="14" name="Picture 13">
            <a:extLst>
              <a:ext uri="{FF2B5EF4-FFF2-40B4-BE49-F238E27FC236}">
                <a16:creationId xmlns:a16="http://schemas.microsoft.com/office/drawing/2014/main" id="{56E7CF61-1963-4CDE-AF78-C8764E1907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2589" y="3095608"/>
            <a:ext cx="5022937" cy="580846"/>
          </a:xfrm>
          <a:prstGeom prst="rect">
            <a:avLst/>
          </a:prstGeom>
        </p:spPr>
      </p:pic>
    </p:spTree>
    <p:extLst>
      <p:ext uri="{BB962C8B-B14F-4D97-AF65-F5344CB8AC3E}">
        <p14:creationId xmlns:p14="http://schemas.microsoft.com/office/powerpoint/2010/main" val="2347843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91A3-60CB-439C-B3A9-2DFB51B25F76}"/>
              </a:ext>
            </a:extLst>
          </p:cNvPr>
          <p:cNvSpPr>
            <a:spLocks noGrp="1"/>
          </p:cNvSpPr>
          <p:nvPr>
            <p:ph type="title"/>
          </p:nvPr>
        </p:nvSpPr>
        <p:spPr/>
        <p:txBody>
          <a:bodyPr/>
          <a:lstStyle/>
          <a:p>
            <a:pPr algn="ctr"/>
            <a:r>
              <a:rPr lang="en-US" b="1" dirty="0"/>
              <a:t>OR</a:t>
            </a:r>
            <a:endParaRPr lang="LID4096" b="1" dirty="0"/>
          </a:p>
        </p:txBody>
      </p:sp>
      <p:sp>
        <p:nvSpPr>
          <p:cNvPr id="3" name="Content Placeholder 2">
            <a:extLst>
              <a:ext uri="{FF2B5EF4-FFF2-40B4-BE49-F238E27FC236}">
                <a16:creationId xmlns:a16="http://schemas.microsoft.com/office/drawing/2014/main" id="{6CAD9E24-30F5-4964-B150-DFA350ECE26C}"/>
              </a:ext>
            </a:extLst>
          </p:cNvPr>
          <p:cNvSpPr>
            <a:spLocks noGrp="1"/>
          </p:cNvSpPr>
          <p:nvPr>
            <p:ph sz="half" idx="1"/>
          </p:nvPr>
        </p:nvSpPr>
        <p:spPr/>
        <p:txBody>
          <a:bodyPr/>
          <a:lstStyle/>
          <a:p>
            <a:r>
              <a:rPr lang="en-US" dirty="0"/>
              <a:t>Let’s look for a student who is </a:t>
            </a:r>
            <a:r>
              <a:rPr lang="en-US" b="1" dirty="0"/>
              <a:t>25</a:t>
            </a:r>
            <a:r>
              <a:rPr lang="en-US" dirty="0"/>
              <a:t> years old.</a:t>
            </a:r>
          </a:p>
          <a:p>
            <a:pPr marL="0" indent="0">
              <a:buNone/>
            </a:pPr>
            <a:endParaRPr lang="en-US" dirty="0"/>
          </a:p>
          <a:p>
            <a:endParaRPr lang="LID4096" dirty="0"/>
          </a:p>
        </p:txBody>
      </p:sp>
      <p:sp>
        <p:nvSpPr>
          <p:cNvPr id="4" name="Content Placeholder 3">
            <a:extLst>
              <a:ext uri="{FF2B5EF4-FFF2-40B4-BE49-F238E27FC236}">
                <a16:creationId xmlns:a16="http://schemas.microsoft.com/office/drawing/2014/main" id="{95D2D0DC-058F-4421-9169-F5BECAB09D20}"/>
              </a:ext>
            </a:extLst>
          </p:cNvPr>
          <p:cNvSpPr>
            <a:spLocks noGrp="1"/>
          </p:cNvSpPr>
          <p:nvPr>
            <p:ph sz="half" idx="2"/>
          </p:nvPr>
        </p:nvSpPr>
        <p:spPr/>
        <p:txBody>
          <a:bodyPr/>
          <a:lstStyle/>
          <a:p>
            <a:r>
              <a:rPr lang="en-US" dirty="0"/>
              <a:t>Notice that </a:t>
            </a:r>
            <a:r>
              <a:rPr lang="en-US" b="1" dirty="0"/>
              <a:t>0=1</a:t>
            </a:r>
            <a:r>
              <a:rPr lang="en-US" dirty="0"/>
              <a:t> is false and only </a:t>
            </a:r>
            <a:r>
              <a:rPr lang="en-US" b="1" dirty="0"/>
              <a:t>25</a:t>
            </a:r>
            <a:r>
              <a:rPr lang="en-US" dirty="0"/>
              <a:t> is true, hence we are getting that result.</a:t>
            </a:r>
          </a:p>
          <a:p>
            <a:r>
              <a:rPr lang="en-US" dirty="0"/>
              <a:t>If both statements become true then will have all students popping up.</a:t>
            </a:r>
          </a:p>
          <a:p>
            <a:pPr marL="0" indent="0">
              <a:buNone/>
            </a:pPr>
            <a:endParaRPr lang="LID4096" dirty="0"/>
          </a:p>
        </p:txBody>
      </p:sp>
      <p:sp>
        <p:nvSpPr>
          <p:cNvPr id="5" name="Footer Placeholder 4">
            <a:extLst>
              <a:ext uri="{FF2B5EF4-FFF2-40B4-BE49-F238E27FC236}">
                <a16:creationId xmlns:a16="http://schemas.microsoft.com/office/drawing/2014/main" id="{0F0F8D53-05C9-49A4-B7D7-55B0DF7E5B4A}"/>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7F5E75FA-45D9-4B8D-87E6-86E4C5C4AA57}"/>
              </a:ext>
            </a:extLst>
          </p:cNvPr>
          <p:cNvSpPr>
            <a:spLocks noGrp="1"/>
          </p:cNvSpPr>
          <p:nvPr>
            <p:ph type="sldNum" sz="quarter" idx="12"/>
          </p:nvPr>
        </p:nvSpPr>
        <p:spPr/>
        <p:txBody>
          <a:bodyPr/>
          <a:lstStyle/>
          <a:p>
            <a:fld id="{1D1DA0CA-E6E7-4A00-872A-D06185C48FFB}" type="slidenum">
              <a:rPr lang="LID4096" smtClean="0"/>
              <a:t>22</a:t>
            </a:fld>
            <a:endParaRPr lang="LID4096"/>
          </a:p>
        </p:txBody>
      </p:sp>
      <p:pic>
        <p:nvPicPr>
          <p:cNvPr id="10" name="Picture 9">
            <a:extLst>
              <a:ext uri="{FF2B5EF4-FFF2-40B4-BE49-F238E27FC236}">
                <a16:creationId xmlns:a16="http://schemas.microsoft.com/office/drawing/2014/main" id="{BE7BBBA3-398A-4246-A030-94A346182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0682" y="3337698"/>
            <a:ext cx="4157375" cy="1499381"/>
          </a:xfrm>
          <a:prstGeom prst="rect">
            <a:avLst/>
          </a:prstGeom>
        </p:spPr>
      </p:pic>
      <p:pic>
        <p:nvPicPr>
          <p:cNvPr id="12" name="Picture 11">
            <a:extLst>
              <a:ext uri="{FF2B5EF4-FFF2-40B4-BE49-F238E27FC236}">
                <a16:creationId xmlns:a16="http://schemas.microsoft.com/office/drawing/2014/main" id="{EA2ABA3D-C112-4010-84E5-72514F109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0682" y="4919877"/>
            <a:ext cx="4157375" cy="620847"/>
          </a:xfrm>
          <a:prstGeom prst="rect">
            <a:avLst/>
          </a:prstGeom>
        </p:spPr>
      </p:pic>
      <p:pic>
        <p:nvPicPr>
          <p:cNvPr id="14" name="Picture 13">
            <a:extLst>
              <a:ext uri="{FF2B5EF4-FFF2-40B4-BE49-F238E27FC236}">
                <a16:creationId xmlns:a16="http://schemas.microsoft.com/office/drawing/2014/main" id="{93BB2E6A-12B3-435E-82AF-FCD9FB6384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0792" y="3971907"/>
            <a:ext cx="4140606" cy="1457385"/>
          </a:xfrm>
          <a:prstGeom prst="rect">
            <a:avLst/>
          </a:prstGeom>
        </p:spPr>
      </p:pic>
    </p:spTree>
    <p:extLst>
      <p:ext uri="{BB962C8B-B14F-4D97-AF65-F5344CB8AC3E}">
        <p14:creationId xmlns:p14="http://schemas.microsoft.com/office/powerpoint/2010/main" val="1538862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C25E-2EBA-4B6C-8C04-CE49A9E91DC5}"/>
              </a:ext>
            </a:extLst>
          </p:cNvPr>
          <p:cNvSpPr>
            <a:spLocks noGrp="1"/>
          </p:cNvSpPr>
          <p:nvPr>
            <p:ph type="title"/>
          </p:nvPr>
        </p:nvSpPr>
        <p:spPr/>
        <p:txBody>
          <a:bodyPr/>
          <a:lstStyle/>
          <a:p>
            <a:pPr algn="ctr"/>
            <a:r>
              <a:rPr lang="en-US" b="1" dirty="0"/>
              <a:t>PRIMARY KEY</a:t>
            </a:r>
            <a:endParaRPr lang="LID4096" b="1" dirty="0"/>
          </a:p>
        </p:txBody>
      </p:sp>
      <p:sp>
        <p:nvSpPr>
          <p:cNvPr id="3" name="Content Placeholder 2">
            <a:extLst>
              <a:ext uri="{FF2B5EF4-FFF2-40B4-BE49-F238E27FC236}">
                <a16:creationId xmlns:a16="http://schemas.microsoft.com/office/drawing/2014/main" id="{FB3E6F40-35FB-47F4-BD1D-6B9862EA5EA9}"/>
              </a:ext>
            </a:extLst>
          </p:cNvPr>
          <p:cNvSpPr>
            <a:spLocks noGrp="1"/>
          </p:cNvSpPr>
          <p:nvPr>
            <p:ph sz="half" idx="1"/>
          </p:nvPr>
        </p:nvSpPr>
        <p:spPr/>
        <p:txBody>
          <a:bodyPr/>
          <a:lstStyle/>
          <a:p>
            <a:r>
              <a:rPr lang="en-US" dirty="0"/>
              <a:t>In our case, </a:t>
            </a:r>
            <a:r>
              <a:rPr lang="en-US" b="1" dirty="0"/>
              <a:t>S_I_N</a:t>
            </a:r>
            <a:r>
              <a:rPr lang="en-US" dirty="0"/>
              <a:t> is unique to each and every student, hence we would like to make it has our </a:t>
            </a:r>
            <a:r>
              <a:rPr lang="en-US" b="1" dirty="0"/>
              <a:t>PRIMARY KEY</a:t>
            </a:r>
            <a:r>
              <a:rPr lang="en-US" dirty="0"/>
              <a:t>.</a:t>
            </a:r>
          </a:p>
          <a:p>
            <a:pPr marL="0" indent="0">
              <a:buNone/>
            </a:pPr>
            <a:endParaRPr lang="LID4096" dirty="0"/>
          </a:p>
        </p:txBody>
      </p:sp>
      <p:sp>
        <p:nvSpPr>
          <p:cNvPr id="4" name="Content Placeholder 3">
            <a:extLst>
              <a:ext uri="{FF2B5EF4-FFF2-40B4-BE49-F238E27FC236}">
                <a16:creationId xmlns:a16="http://schemas.microsoft.com/office/drawing/2014/main" id="{EAD4C298-8FBB-4276-96B5-B74A0BADA346}"/>
              </a:ext>
            </a:extLst>
          </p:cNvPr>
          <p:cNvSpPr>
            <a:spLocks noGrp="1"/>
          </p:cNvSpPr>
          <p:nvPr>
            <p:ph sz="half" idx="2"/>
          </p:nvPr>
        </p:nvSpPr>
        <p:spPr/>
        <p:txBody>
          <a:bodyPr/>
          <a:lstStyle/>
          <a:p>
            <a:r>
              <a:rPr lang="en-US" dirty="0"/>
              <a:t>Otherwise, we can even do this when </a:t>
            </a:r>
            <a:r>
              <a:rPr lang="en-US" b="1" dirty="0"/>
              <a:t>CREAT</a:t>
            </a:r>
            <a:r>
              <a:rPr lang="en-US" dirty="0"/>
              <a:t>ing the </a:t>
            </a:r>
            <a:r>
              <a:rPr lang="en-US" b="1" dirty="0"/>
              <a:t>TABLE </a:t>
            </a:r>
          </a:p>
          <a:p>
            <a:pPr marL="0" indent="0">
              <a:buNone/>
            </a:pPr>
            <a:endParaRPr lang="en-US" dirty="0"/>
          </a:p>
          <a:p>
            <a:pPr marL="0" indent="0">
              <a:buNone/>
            </a:pPr>
            <a:r>
              <a:rPr lang="en-US" dirty="0"/>
              <a:t>     CREATE TABLE students (</a:t>
            </a:r>
          </a:p>
          <a:p>
            <a:pPr marL="0" indent="0">
              <a:buNone/>
            </a:pPr>
            <a:r>
              <a:rPr lang="en-US" dirty="0"/>
              <a:t>       S_I_N INT PRIMARY KEY</a:t>
            </a:r>
          </a:p>
          <a:p>
            <a:pPr marL="0" indent="0">
              <a:buNone/>
            </a:pPr>
            <a:r>
              <a:rPr lang="en-US" dirty="0"/>
              <a:t>     );</a:t>
            </a:r>
          </a:p>
          <a:p>
            <a:pPr marL="0" indent="0">
              <a:buNone/>
            </a:pPr>
            <a:endParaRPr lang="en-US" dirty="0"/>
          </a:p>
          <a:p>
            <a:pPr>
              <a:buFont typeface="Wingdings" panose="05000000000000000000" pitchFamily="2" charset="2"/>
              <a:buChar char="q"/>
            </a:pPr>
            <a:r>
              <a:rPr lang="en-US" dirty="0"/>
              <a:t>Each </a:t>
            </a:r>
            <a:r>
              <a:rPr lang="en-US" b="1" dirty="0"/>
              <a:t>S_I_N</a:t>
            </a:r>
            <a:r>
              <a:rPr lang="en-US" dirty="0"/>
              <a:t> must be unique and </a:t>
            </a:r>
            <a:r>
              <a:rPr lang="en-US" b="1" dirty="0"/>
              <a:t>NOT NULL</a:t>
            </a:r>
            <a:r>
              <a:rPr lang="en-US" dirty="0"/>
              <a:t> because it’s a </a:t>
            </a:r>
            <a:r>
              <a:rPr lang="en-US" b="1" dirty="0"/>
              <a:t>PRIMARY KEY</a:t>
            </a:r>
            <a:r>
              <a:rPr lang="en-US" dirty="0"/>
              <a:t>.</a:t>
            </a:r>
          </a:p>
          <a:p>
            <a:pPr marL="0" indent="0">
              <a:buNone/>
            </a:pPr>
            <a:endParaRPr lang="en-US" dirty="0"/>
          </a:p>
        </p:txBody>
      </p:sp>
      <p:sp>
        <p:nvSpPr>
          <p:cNvPr id="5" name="Footer Placeholder 4">
            <a:extLst>
              <a:ext uri="{FF2B5EF4-FFF2-40B4-BE49-F238E27FC236}">
                <a16:creationId xmlns:a16="http://schemas.microsoft.com/office/drawing/2014/main" id="{084FED4E-855C-4B99-91FA-3AB247512901}"/>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471B3B05-699B-407E-89CF-14A9938FF854}"/>
              </a:ext>
            </a:extLst>
          </p:cNvPr>
          <p:cNvSpPr>
            <a:spLocks noGrp="1"/>
          </p:cNvSpPr>
          <p:nvPr>
            <p:ph type="sldNum" sz="quarter" idx="12"/>
          </p:nvPr>
        </p:nvSpPr>
        <p:spPr/>
        <p:txBody>
          <a:bodyPr/>
          <a:lstStyle/>
          <a:p>
            <a:fld id="{1D1DA0CA-E6E7-4A00-872A-D06185C48FFB}" type="slidenum">
              <a:rPr lang="LID4096" smtClean="0"/>
              <a:t>23</a:t>
            </a:fld>
            <a:endParaRPr lang="LID4096"/>
          </a:p>
        </p:txBody>
      </p:sp>
      <p:pic>
        <p:nvPicPr>
          <p:cNvPr id="8" name="Picture 7">
            <a:extLst>
              <a:ext uri="{FF2B5EF4-FFF2-40B4-BE49-F238E27FC236}">
                <a16:creationId xmlns:a16="http://schemas.microsoft.com/office/drawing/2014/main" id="{71B790F0-53F8-432E-990F-26E03413C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129" y="3605149"/>
            <a:ext cx="4025673" cy="1776030"/>
          </a:xfrm>
          <a:prstGeom prst="rect">
            <a:avLst/>
          </a:prstGeom>
        </p:spPr>
      </p:pic>
    </p:spTree>
    <p:extLst>
      <p:ext uri="{BB962C8B-B14F-4D97-AF65-F5344CB8AC3E}">
        <p14:creationId xmlns:p14="http://schemas.microsoft.com/office/powerpoint/2010/main" val="2315981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92C1-58DA-43C0-801D-91BA8BDFB86A}"/>
              </a:ext>
            </a:extLst>
          </p:cNvPr>
          <p:cNvSpPr>
            <a:spLocks noGrp="1"/>
          </p:cNvSpPr>
          <p:nvPr>
            <p:ph type="title"/>
          </p:nvPr>
        </p:nvSpPr>
        <p:spPr/>
        <p:txBody>
          <a:bodyPr/>
          <a:lstStyle/>
          <a:p>
            <a:pPr algn="ctr"/>
            <a:r>
              <a:rPr lang="en-US" b="1" dirty="0"/>
              <a:t>FOREIGN KEY</a:t>
            </a:r>
            <a:endParaRPr lang="LID4096" b="1" dirty="0"/>
          </a:p>
        </p:txBody>
      </p:sp>
      <p:sp>
        <p:nvSpPr>
          <p:cNvPr id="3" name="Content Placeholder 2">
            <a:extLst>
              <a:ext uri="{FF2B5EF4-FFF2-40B4-BE49-F238E27FC236}">
                <a16:creationId xmlns:a16="http://schemas.microsoft.com/office/drawing/2014/main" id="{FFBB6672-9B91-4841-A491-8697F9D1C9DE}"/>
              </a:ext>
            </a:extLst>
          </p:cNvPr>
          <p:cNvSpPr>
            <a:spLocks noGrp="1"/>
          </p:cNvSpPr>
          <p:nvPr>
            <p:ph sz="half" idx="1"/>
          </p:nvPr>
        </p:nvSpPr>
        <p:spPr>
          <a:xfrm>
            <a:off x="447944" y="2578121"/>
            <a:ext cx="4825158" cy="3416301"/>
          </a:xfrm>
        </p:spPr>
        <p:txBody>
          <a:bodyPr/>
          <a:lstStyle/>
          <a:p>
            <a:r>
              <a:rPr lang="en-US" dirty="0"/>
              <a:t>Now let’s </a:t>
            </a:r>
            <a:r>
              <a:rPr lang="en-US" b="1" dirty="0"/>
              <a:t>CREATE</a:t>
            </a:r>
            <a:r>
              <a:rPr lang="en-US" dirty="0"/>
              <a:t> a new </a:t>
            </a:r>
            <a:r>
              <a:rPr lang="en-US" b="1" dirty="0"/>
              <a:t>TABLE</a:t>
            </a:r>
            <a:r>
              <a:rPr lang="en-US" dirty="0"/>
              <a:t> called </a:t>
            </a:r>
            <a:r>
              <a:rPr lang="en-US" b="1" dirty="0"/>
              <a:t>results</a:t>
            </a:r>
            <a:r>
              <a:rPr lang="en-US" dirty="0"/>
              <a:t> with the records given below:</a:t>
            </a:r>
          </a:p>
          <a:p>
            <a:pPr marL="0" indent="0">
              <a:buNone/>
            </a:pPr>
            <a:endParaRPr lang="LID4096" dirty="0"/>
          </a:p>
        </p:txBody>
      </p:sp>
      <p:sp>
        <p:nvSpPr>
          <p:cNvPr id="8" name="Content Placeholder 7">
            <a:extLst>
              <a:ext uri="{FF2B5EF4-FFF2-40B4-BE49-F238E27FC236}">
                <a16:creationId xmlns:a16="http://schemas.microsoft.com/office/drawing/2014/main" id="{F13DC1C8-2F1A-4F60-B5C2-D7FF7B29CB00}"/>
              </a:ext>
            </a:extLst>
          </p:cNvPr>
          <p:cNvSpPr>
            <a:spLocks noGrp="1"/>
          </p:cNvSpPr>
          <p:nvPr>
            <p:ph sz="half" idx="2"/>
          </p:nvPr>
        </p:nvSpPr>
        <p:spPr>
          <a:xfrm>
            <a:off x="6825007" y="2578121"/>
            <a:ext cx="4825159" cy="3416300"/>
          </a:xfrm>
        </p:spPr>
        <p:txBody>
          <a:bodyPr/>
          <a:lstStyle/>
          <a:p>
            <a:r>
              <a:rPr lang="en-US" dirty="0"/>
              <a:t>Here is our query:</a:t>
            </a:r>
          </a:p>
          <a:p>
            <a:pPr marL="0" indent="0">
              <a:buNone/>
            </a:pPr>
            <a:endParaRPr lang="LID4096" dirty="0"/>
          </a:p>
        </p:txBody>
      </p:sp>
      <p:sp>
        <p:nvSpPr>
          <p:cNvPr id="5" name="Footer Placeholder 4">
            <a:extLst>
              <a:ext uri="{FF2B5EF4-FFF2-40B4-BE49-F238E27FC236}">
                <a16:creationId xmlns:a16="http://schemas.microsoft.com/office/drawing/2014/main" id="{9B9ECCC2-BBAB-4315-9B60-55A3E0BB6730}"/>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06CFE4BF-00E3-4F49-9198-96E150D95129}"/>
              </a:ext>
            </a:extLst>
          </p:cNvPr>
          <p:cNvSpPr>
            <a:spLocks noGrp="1"/>
          </p:cNvSpPr>
          <p:nvPr>
            <p:ph type="sldNum" sz="quarter" idx="12"/>
          </p:nvPr>
        </p:nvSpPr>
        <p:spPr/>
        <p:txBody>
          <a:bodyPr/>
          <a:lstStyle/>
          <a:p>
            <a:fld id="{1D1DA0CA-E6E7-4A00-872A-D06185C48FFB}" type="slidenum">
              <a:rPr lang="LID4096" smtClean="0"/>
              <a:t>24</a:t>
            </a:fld>
            <a:endParaRPr lang="LID4096"/>
          </a:p>
        </p:txBody>
      </p:sp>
      <p:graphicFrame>
        <p:nvGraphicFramePr>
          <p:cNvPr id="7" name="Table 7">
            <a:extLst>
              <a:ext uri="{FF2B5EF4-FFF2-40B4-BE49-F238E27FC236}">
                <a16:creationId xmlns:a16="http://schemas.microsoft.com/office/drawing/2014/main" id="{CF0E6C18-E079-406D-BEC0-6F692A8DCCCD}"/>
              </a:ext>
            </a:extLst>
          </p:cNvPr>
          <p:cNvGraphicFramePr>
            <a:graphicFrameLocks noGrp="1"/>
          </p:cNvGraphicFramePr>
          <p:nvPr>
            <p:extLst>
              <p:ext uri="{D42A27DB-BD31-4B8C-83A1-F6EECF244321}">
                <p14:modId xmlns:p14="http://schemas.microsoft.com/office/powerpoint/2010/main" val="3934710852"/>
              </p:ext>
            </p:extLst>
          </p:nvPr>
        </p:nvGraphicFramePr>
        <p:xfrm>
          <a:off x="872503" y="3359171"/>
          <a:ext cx="5660273" cy="1854200"/>
        </p:xfrm>
        <a:graphic>
          <a:graphicData uri="http://schemas.openxmlformats.org/drawingml/2006/table">
            <a:tbl>
              <a:tblPr firstRow="1" bandRow="1">
                <a:tableStyleId>{5C22544A-7EE6-4342-B048-85BDC9FD1C3A}</a:tableStyleId>
              </a:tblPr>
              <a:tblGrid>
                <a:gridCol w="1220247">
                  <a:extLst>
                    <a:ext uri="{9D8B030D-6E8A-4147-A177-3AD203B41FA5}">
                      <a16:colId xmlns:a16="http://schemas.microsoft.com/office/drawing/2014/main" val="1785815193"/>
                    </a:ext>
                  </a:extLst>
                </a:gridCol>
                <a:gridCol w="999242">
                  <a:extLst>
                    <a:ext uri="{9D8B030D-6E8A-4147-A177-3AD203B41FA5}">
                      <a16:colId xmlns:a16="http://schemas.microsoft.com/office/drawing/2014/main" val="2078466773"/>
                    </a:ext>
                  </a:extLst>
                </a:gridCol>
                <a:gridCol w="1168923">
                  <a:extLst>
                    <a:ext uri="{9D8B030D-6E8A-4147-A177-3AD203B41FA5}">
                      <a16:colId xmlns:a16="http://schemas.microsoft.com/office/drawing/2014/main" val="1502529780"/>
                    </a:ext>
                  </a:extLst>
                </a:gridCol>
                <a:gridCol w="1263193">
                  <a:extLst>
                    <a:ext uri="{9D8B030D-6E8A-4147-A177-3AD203B41FA5}">
                      <a16:colId xmlns:a16="http://schemas.microsoft.com/office/drawing/2014/main" val="2622225392"/>
                    </a:ext>
                  </a:extLst>
                </a:gridCol>
                <a:gridCol w="1008668">
                  <a:extLst>
                    <a:ext uri="{9D8B030D-6E8A-4147-A177-3AD203B41FA5}">
                      <a16:colId xmlns:a16="http://schemas.microsoft.com/office/drawing/2014/main" val="2644510454"/>
                    </a:ext>
                  </a:extLst>
                </a:gridCol>
              </a:tblGrid>
              <a:tr h="370840">
                <a:tc>
                  <a:txBody>
                    <a:bodyPr/>
                    <a:lstStyle/>
                    <a:p>
                      <a:r>
                        <a:rPr lang="en-US" sz="1600" dirty="0"/>
                        <a:t>S_I_N</a:t>
                      </a:r>
                      <a:endParaRPr lang="LID4096" sz="1600" dirty="0"/>
                    </a:p>
                  </a:txBody>
                  <a:tcPr/>
                </a:tc>
                <a:tc>
                  <a:txBody>
                    <a:bodyPr/>
                    <a:lstStyle/>
                    <a:p>
                      <a:r>
                        <a:rPr lang="en-US" sz="1600" dirty="0"/>
                        <a:t>CA /40</a:t>
                      </a:r>
                      <a:endParaRPr lang="LID4096" sz="1600" dirty="0"/>
                    </a:p>
                  </a:txBody>
                  <a:tcPr/>
                </a:tc>
                <a:tc>
                  <a:txBody>
                    <a:bodyPr/>
                    <a:lstStyle/>
                    <a:p>
                      <a:r>
                        <a:rPr lang="en-US" sz="1600" dirty="0"/>
                        <a:t>EXAM /60</a:t>
                      </a:r>
                      <a:endParaRPr lang="LID4096" sz="1600" dirty="0"/>
                    </a:p>
                  </a:txBody>
                  <a:tcPr/>
                </a:tc>
                <a:tc>
                  <a:txBody>
                    <a:bodyPr/>
                    <a:lstStyle/>
                    <a:p>
                      <a:r>
                        <a:rPr lang="en-US" sz="1600" dirty="0"/>
                        <a:t>TOTAL /100</a:t>
                      </a:r>
                      <a:endParaRPr lang="LID4096" sz="1600" dirty="0"/>
                    </a:p>
                  </a:txBody>
                  <a:tcPr/>
                </a:tc>
                <a:tc>
                  <a:txBody>
                    <a:bodyPr/>
                    <a:lstStyle/>
                    <a:p>
                      <a:r>
                        <a:rPr lang="en-US" sz="1600" dirty="0"/>
                        <a:t>GRADE</a:t>
                      </a:r>
                      <a:endParaRPr lang="LID4096" sz="1600" dirty="0"/>
                    </a:p>
                  </a:txBody>
                  <a:tcPr/>
                </a:tc>
                <a:extLst>
                  <a:ext uri="{0D108BD9-81ED-4DB2-BD59-A6C34878D82A}">
                    <a16:rowId xmlns:a16="http://schemas.microsoft.com/office/drawing/2014/main" val="3716163771"/>
                  </a:ext>
                </a:extLst>
              </a:tr>
              <a:tr h="370840">
                <a:tc>
                  <a:txBody>
                    <a:bodyPr/>
                    <a:lstStyle/>
                    <a:p>
                      <a:r>
                        <a:rPr lang="en-US" sz="1600" dirty="0"/>
                        <a:t>20231392</a:t>
                      </a:r>
                      <a:endParaRPr lang="LID4096" sz="1600" dirty="0"/>
                    </a:p>
                  </a:txBody>
                  <a:tcPr/>
                </a:tc>
                <a:tc>
                  <a:txBody>
                    <a:bodyPr/>
                    <a:lstStyle/>
                    <a:p>
                      <a:r>
                        <a:rPr lang="en-US" sz="1600" dirty="0"/>
                        <a:t>30.2</a:t>
                      </a:r>
                      <a:endParaRPr lang="LID4096" sz="1600" dirty="0"/>
                    </a:p>
                  </a:txBody>
                  <a:tcPr/>
                </a:tc>
                <a:tc>
                  <a:txBody>
                    <a:bodyPr/>
                    <a:lstStyle/>
                    <a:p>
                      <a:r>
                        <a:rPr lang="en-US" sz="1600" dirty="0"/>
                        <a:t>50</a:t>
                      </a:r>
                      <a:endParaRPr lang="LID4096" sz="1600" dirty="0"/>
                    </a:p>
                  </a:txBody>
                  <a:tcPr/>
                </a:tc>
                <a:tc>
                  <a:txBody>
                    <a:bodyPr/>
                    <a:lstStyle/>
                    <a:p>
                      <a:r>
                        <a:rPr lang="en-US" sz="1600" dirty="0"/>
                        <a:t>80.2</a:t>
                      </a:r>
                      <a:endParaRPr lang="LID4096" sz="1600" dirty="0"/>
                    </a:p>
                  </a:txBody>
                  <a:tcPr/>
                </a:tc>
                <a:tc>
                  <a:txBody>
                    <a:bodyPr/>
                    <a:lstStyle/>
                    <a:p>
                      <a:r>
                        <a:rPr lang="en-US" sz="1600" dirty="0"/>
                        <a:t>A</a:t>
                      </a:r>
                      <a:endParaRPr lang="LID4096" sz="1600" dirty="0"/>
                    </a:p>
                  </a:txBody>
                  <a:tcPr/>
                </a:tc>
                <a:extLst>
                  <a:ext uri="{0D108BD9-81ED-4DB2-BD59-A6C34878D82A}">
                    <a16:rowId xmlns:a16="http://schemas.microsoft.com/office/drawing/2014/main" val="3222865810"/>
                  </a:ext>
                </a:extLst>
              </a:tr>
              <a:tr h="370840">
                <a:tc>
                  <a:txBody>
                    <a:bodyPr/>
                    <a:lstStyle/>
                    <a:p>
                      <a:r>
                        <a:rPr lang="en-US" sz="1600" dirty="0"/>
                        <a:t>20231947</a:t>
                      </a:r>
                      <a:endParaRPr lang="LID4096" sz="1600" dirty="0"/>
                    </a:p>
                  </a:txBody>
                  <a:tcPr/>
                </a:tc>
                <a:tc>
                  <a:txBody>
                    <a:bodyPr/>
                    <a:lstStyle/>
                    <a:p>
                      <a:r>
                        <a:rPr lang="en-US" sz="1600" dirty="0"/>
                        <a:t>26.6</a:t>
                      </a:r>
                      <a:endParaRPr lang="LID4096" sz="1600" dirty="0"/>
                    </a:p>
                  </a:txBody>
                  <a:tcPr/>
                </a:tc>
                <a:tc>
                  <a:txBody>
                    <a:bodyPr/>
                    <a:lstStyle/>
                    <a:p>
                      <a:r>
                        <a:rPr lang="en-US" sz="1600" dirty="0"/>
                        <a:t>55</a:t>
                      </a:r>
                      <a:endParaRPr lang="LID4096" sz="1600" dirty="0"/>
                    </a:p>
                  </a:txBody>
                  <a:tcPr/>
                </a:tc>
                <a:tc>
                  <a:txBody>
                    <a:bodyPr/>
                    <a:lstStyle/>
                    <a:p>
                      <a:r>
                        <a:rPr lang="en-US" sz="1600" dirty="0"/>
                        <a:t>81.6</a:t>
                      </a:r>
                      <a:endParaRPr lang="LID4096" sz="1600" dirty="0"/>
                    </a:p>
                  </a:txBody>
                  <a:tcPr/>
                </a:tc>
                <a:tc>
                  <a:txBody>
                    <a:bodyPr/>
                    <a:lstStyle/>
                    <a:p>
                      <a:r>
                        <a:rPr lang="en-US" sz="1600" dirty="0"/>
                        <a:t>A</a:t>
                      </a:r>
                      <a:endParaRPr lang="LID4096" sz="1600" dirty="0"/>
                    </a:p>
                  </a:txBody>
                  <a:tcPr/>
                </a:tc>
                <a:extLst>
                  <a:ext uri="{0D108BD9-81ED-4DB2-BD59-A6C34878D82A}">
                    <a16:rowId xmlns:a16="http://schemas.microsoft.com/office/drawing/2014/main" val="3724337972"/>
                  </a:ext>
                </a:extLst>
              </a:tr>
              <a:tr h="370840">
                <a:tc>
                  <a:txBody>
                    <a:bodyPr/>
                    <a:lstStyle/>
                    <a:p>
                      <a:r>
                        <a:rPr lang="en-US" sz="1600" dirty="0"/>
                        <a:t>20231552</a:t>
                      </a:r>
                      <a:endParaRPr lang="LID4096" sz="1600" dirty="0"/>
                    </a:p>
                  </a:txBody>
                  <a:tcPr/>
                </a:tc>
                <a:tc>
                  <a:txBody>
                    <a:bodyPr/>
                    <a:lstStyle/>
                    <a:p>
                      <a:r>
                        <a:rPr lang="en-US" sz="1600" dirty="0"/>
                        <a:t>30.3</a:t>
                      </a:r>
                      <a:endParaRPr lang="LID4096" sz="1600" dirty="0"/>
                    </a:p>
                  </a:txBody>
                  <a:tcPr/>
                </a:tc>
                <a:tc>
                  <a:txBody>
                    <a:bodyPr/>
                    <a:lstStyle/>
                    <a:p>
                      <a:r>
                        <a:rPr lang="en-US" sz="1600" dirty="0"/>
                        <a:t>56</a:t>
                      </a:r>
                      <a:endParaRPr lang="LID4096" sz="1600" dirty="0"/>
                    </a:p>
                  </a:txBody>
                  <a:tcPr/>
                </a:tc>
                <a:tc>
                  <a:txBody>
                    <a:bodyPr/>
                    <a:lstStyle/>
                    <a:p>
                      <a:r>
                        <a:rPr lang="en-US" sz="1600" dirty="0"/>
                        <a:t>86.3</a:t>
                      </a:r>
                      <a:endParaRPr lang="LID4096" sz="1600" dirty="0"/>
                    </a:p>
                  </a:txBody>
                  <a:tcPr/>
                </a:tc>
                <a:tc>
                  <a:txBody>
                    <a:bodyPr/>
                    <a:lstStyle/>
                    <a:p>
                      <a:r>
                        <a:rPr lang="en-US" sz="1600" dirty="0"/>
                        <a:t>A</a:t>
                      </a:r>
                      <a:endParaRPr lang="LID4096" sz="1600" dirty="0"/>
                    </a:p>
                  </a:txBody>
                  <a:tcPr/>
                </a:tc>
                <a:extLst>
                  <a:ext uri="{0D108BD9-81ED-4DB2-BD59-A6C34878D82A}">
                    <a16:rowId xmlns:a16="http://schemas.microsoft.com/office/drawing/2014/main" val="1506379856"/>
                  </a:ext>
                </a:extLst>
              </a:tr>
              <a:tr h="370840">
                <a:tc>
                  <a:txBody>
                    <a:bodyPr/>
                    <a:lstStyle/>
                    <a:p>
                      <a:r>
                        <a:rPr lang="en-US" sz="1600" dirty="0"/>
                        <a:t>20230145</a:t>
                      </a:r>
                      <a:endParaRPr lang="LID4096" sz="1600" dirty="0"/>
                    </a:p>
                  </a:txBody>
                  <a:tcPr/>
                </a:tc>
                <a:tc>
                  <a:txBody>
                    <a:bodyPr/>
                    <a:lstStyle/>
                    <a:p>
                      <a:r>
                        <a:rPr lang="en-US" sz="1600" dirty="0"/>
                        <a:t>24.6</a:t>
                      </a:r>
                      <a:endParaRPr lang="LID4096" sz="1600" dirty="0"/>
                    </a:p>
                  </a:txBody>
                  <a:tcPr/>
                </a:tc>
                <a:tc>
                  <a:txBody>
                    <a:bodyPr/>
                    <a:lstStyle/>
                    <a:p>
                      <a:r>
                        <a:rPr lang="en-US" sz="1600" dirty="0"/>
                        <a:t>48</a:t>
                      </a:r>
                      <a:endParaRPr lang="LID4096" sz="1600" dirty="0"/>
                    </a:p>
                  </a:txBody>
                  <a:tcPr/>
                </a:tc>
                <a:tc>
                  <a:txBody>
                    <a:bodyPr/>
                    <a:lstStyle/>
                    <a:p>
                      <a:r>
                        <a:rPr lang="en-US" sz="1600" dirty="0"/>
                        <a:t>72.6</a:t>
                      </a:r>
                      <a:endParaRPr lang="LID4096" sz="1600" dirty="0"/>
                    </a:p>
                  </a:txBody>
                  <a:tcPr/>
                </a:tc>
                <a:tc>
                  <a:txBody>
                    <a:bodyPr/>
                    <a:lstStyle/>
                    <a:p>
                      <a:r>
                        <a:rPr lang="en-US" sz="1600" dirty="0"/>
                        <a:t>B+</a:t>
                      </a:r>
                      <a:endParaRPr lang="LID4096" sz="1600" dirty="0"/>
                    </a:p>
                  </a:txBody>
                  <a:tcPr/>
                </a:tc>
                <a:extLst>
                  <a:ext uri="{0D108BD9-81ED-4DB2-BD59-A6C34878D82A}">
                    <a16:rowId xmlns:a16="http://schemas.microsoft.com/office/drawing/2014/main" val="867582502"/>
                  </a:ext>
                </a:extLst>
              </a:tr>
            </a:tbl>
          </a:graphicData>
        </a:graphic>
      </p:graphicFrame>
      <p:pic>
        <p:nvPicPr>
          <p:cNvPr id="12" name="Picture 11">
            <a:extLst>
              <a:ext uri="{FF2B5EF4-FFF2-40B4-BE49-F238E27FC236}">
                <a16:creationId xmlns:a16="http://schemas.microsoft.com/office/drawing/2014/main" id="{CD0BF476-D3CA-4070-9F13-222D04D7B5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6842" y="3066950"/>
            <a:ext cx="4353323" cy="2514725"/>
          </a:xfrm>
          <a:prstGeom prst="rect">
            <a:avLst/>
          </a:prstGeom>
        </p:spPr>
      </p:pic>
    </p:spTree>
    <p:extLst>
      <p:ext uri="{BB962C8B-B14F-4D97-AF65-F5344CB8AC3E}">
        <p14:creationId xmlns:p14="http://schemas.microsoft.com/office/powerpoint/2010/main" val="2058513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05AB-B4C6-472F-820E-75C878ACA52B}"/>
              </a:ext>
            </a:extLst>
          </p:cNvPr>
          <p:cNvSpPr>
            <a:spLocks noGrp="1"/>
          </p:cNvSpPr>
          <p:nvPr>
            <p:ph type="title"/>
          </p:nvPr>
        </p:nvSpPr>
        <p:spPr/>
        <p:txBody>
          <a:bodyPr/>
          <a:lstStyle/>
          <a:p>
            <a:pPr algn="ctr"/>
            <a:r>
              <a:rPr lang="en-US" b="1" dirty="0"/>
              <a:t>FOREIGN KEY (Continues…)</a:t>
            </a:r>
            <a:endParaRPr lang="LID4096" dirty="0"/>
          </a:p>
        </p:txBody>
      </p:sp>
      <p:sp>
        <p:nvSpPr>
          <p:cNvPr id="3" name="Content Placeholder 2">
            <a:extLst>
              <a:ext uri="{FF2B5EF4-FFF2-40B4-BE49-F238E27FC236}">
                <a16:creationId xmlns:a16="http://schemas.microsoft.com/office/drawing/2014/main" id="{26BFADA6-9E9D-4078-BCB6-1E4CD9AE1824}"/>
              </a:ext>
            </a:extLst>
          </p:cNvPr>
          <p:cNvSpPr>
            <a:spLocks noGrp="1"/>
          </p:cNvSpPr>
          <p:nvPr>
            <p:ph sz="half" idx="1"/>
          </p:nvPr>
        </p:nvSpPr>
        <p:spPr/>
        <p:txBody>
          <a:bodyPr/>
          <a:lstStyle/>
          <a:p>
            <a:r>
              <a:rPr lang="en-US" dirty="0"/>
              <a:t>Now let’s </a:t>
            </a:r>
            <a:r>
              <a:rPr lang="en-US" b="1" dirty="0"/>
              <a:t>INSERT</a:t>
            </a:r>
            <a:r>
              <a:rPr lang="en-US" dirty="0"/>
              <a:t> the records…</a:t>
            </a:r>
          </a:p>
          <a:p>
            <a:pPr marL="0" indent="0">
              <a:buNone/>
            </a:pPr>
            <a:endParaRPr lang="en-US" dirty="0"/>
          </a:p>
          <a:p>
            <a:pPr marL="0" indent="0">
              <a:buNone/>
            </a:pPr>
            <a:r>
              <a:rPr lang="en-US" dirty="0"/>
              <a:t>      INSERT INTO results</a:t>
            </a:r>
          </a:p>
          <a:p>
            <a:pPr marL="0" indent="0">
              <a:buNone/>
            </a:pPr>
            <a:r>
              <a:rPr lang="en-US" dirty="0"/>
              <a:t>      VALUES (20231392, 30.2, 50, 80.2, "A"),</a:t>
            </a:r>
          </a:p>
          <a:p>
            <a:pPr marL="0" indent="0">
              <a:buNone/>
            </a:pPr>
            <a:r>
              <a:rPr lang="en-US" dirty="0"/>
              <a:t>                    (20231947, 26.6, 55, 81.6, "A"),</a:t>
            </a:r>
          </a:p>
          <a:p>
            <a:pPr marL="0" indent="0">
              <a:buNone/>
            </a:pPr>
            <a:r>
              <a:rPr lang="en-US" dirty="0"/>
              <a:t>                    (20231552, 30.3, 56, 86.3, "A"),</a:t>
            </a:r>
          </a:p>
          <a:p>
            <a:pPr marL="0" indent="0">
              <a:buNone/>
            </a:pPr>
            <a:r>
              <a:rPr lang="en-US" dirty="0"/>
              <a:t>                    (20230145, 24.6, 48, 72.6, "B+");</a:t>
            </a:r>
          </a:p>
          <a:p>
            <a:pPr marL="0" indent="0">
              <a:buNone/>
            </a:pPr>
            <a:endParaRPr lang="LID4096" dirty="0"/>
          </a:p>
        </p:txBody>
      </p:sp>
      <p:sp>
        <p:nvSpPr>
          <p:cNvPr id="4" name="Content Placeholder 3">
            <a:extLst>
              <a:ext uri="{FF2B5EF4-FFF2-40B4-BE49-F238E27FC236}">
                <a16:creationId xmlns:a16="http://schemas.microsoft.com/office/drawing/2014/main" id="{99479A6E-E848-4AD3-99F0-3C417263822E}"/>
              </a:ext>
            </a:extLst>
          </p:cNvPr>
          <p:cNvSpPr>
            <a:spLocks noGrp="1"/>
          </p:cNvSpPr>
          <p:nvPr>
            <p:ph sz="half" idx="2"/>
          </p:nvPr>
        </p:nvSpPr>
        <p:spPr/>
        <p:txBody>
          <a:bodyPr/>
          <a:lstStyle/>
          <a:p>
            <a:r>
              <a:rPr lang="en-US" b="1" dirty="0"/>
              <a:t>NOTE:</a:t>
            </a:r>
            <a:r>
              <a:rPr lang="en-US" dirty="0"/>
              <a:t> Inserting multiple </a:t>
            </a:r>
            <a:r>
              <a:rPr lang="en-US" b="1" dirty="0"/>
              <a:t>VALUES</a:t>
            </a:r>
            <a:r>
              <a:rPr lang="en-US" dirty="0"/>
              <a:t> is not supported in Microsoft Access Database.</a:t>
            </a:r>
          </a:p>
          <a:p>
            <a:pPr marL="0" indent="0">
              <a:buNone/>
            </a:pPr>
            <a:endParaRPr lang="LID4096" dirty="0"/>
          </a:p>
        </p:txBody>
      </p:sp>
      <p:sp>
        <p:nvSpPr>
          <p:cNvPr id="5" name="Footer Placeholder 4">
            <a:extLst>
              <a:ext uri="{FF2B5EF4-FFF2-40B4-BE49-F238E27FC236}">
                <a16:creationId xmlns:a16="http://schemas.microsoft.com/office/drawing/2014/main" id="{0746F542-14E9-463E-BE6F-281355723AAA}"/>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F224D211-A98D-419D-8D2F-9B8D8ACA0CEC}"/>
              </a:ext>
            </a:extLst>
          </p:cNvPr>
          <p:cNvSpPr>
            <a:spLocks noGrp="1"/>
          </p:cNvSpPr>
          <p:nvPr>
            <p:ph type="sldNum" sz="quarter" idx="12"/>
          </p:nvPr>
        </p:nvSpPr>
        <p:spPr/>
        <p:txBody>
          <a:bodyPr/>
          <a:lstStyle/>
          <a:p>
            <a:fld id="{1D1DA0CA-E6E7-4A00-872A-D06185C48FFB}" type="slidenum">
              <a:rPr lang="LID4096" smtClean="0"/>
              <a:t>25</a:t>
            </a:fld>
            <a:endParaRPr lang="LID4096"/>
          </a:p>
        </p:txBody>
      </p:sp>
      <p:pic>
        <p:nvPicPr>
          <p:cNvPr id="8" name="Picture 7">
            <a:extLst>
              <a:ext uri="{FF2B5EF4-FFF2-40B4-BE49-F238E27FC236}">
                <a16:creationId xmlns:a16="http://schemas.microsoft.com/office/drawing/2014/main" id="{5A190C48-C5E5-4C9E-9A42-4C8339543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8115" y="3608340"/>
            <a:ext cx="4963988" cy="1234289"/>
          </a:xfrm>
          <a:prstGeom prst="rect">
            <a:avLst/>
          </a:prstGeom>
        </p:spPr>
      </p:pic>
    </p:spTree>
    <p:extLst>
      <p:ext uri="{BB962C8B-B14F-4D97-AF65-F5344CB8AC3E}">
        <p14:creationId xmlns:p14="http://schemas.microsoft.com/office/powerpoint/2010/main" val="42978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1C207-7CFE-484C-B2EB-66A0B7B096C0}"/>
              </a:ext>
            </a:extLst>
          </p:cNvPr>
          <p:cNvSpPr>
            <a:spLocks noGrp="1"/>
          </p:cNvSpPr>
          <p:nvPr>
            <p:ph type="title"/>
          </p:nvPr>
        </p:nvSpPr>
        <p:spPr/>
        <p:txBody>
          <a:bodyPr/>
          <a:lstStyle/>
          <a:p>
            <a:pPr algn="ctr"/>
            <a:r>
              <a:rPr lang="en-US" b="1" dirty="0"/>
              <a:t>FOREIGN KEY (Continues…)</a:t>
            </a:r>
            <a:endParaRPr lang="LID4096" dirty="0"/>
          </a:p>
        </p:txBody>
      </p:sp>
      <p:sp>
        <p:nvSpPr>
          <p:cNvPr id="3" name="Content Placeholder 2">
            <a:extLst>
              <a:ext uri="{FF2B5EF4-FFF2-40B4-BE49-F238E27FC236}">
                <a16:creationId xmlns:a16="http://schemas.microsoft.com/office/drawing/2014/main" id="{EBEBA6C0-29F8-4883-AB2F-2591E7B0359A}"/>
              </a:ext>
            </a:extLst>
          </p:cNvPr>
          <p:cNvSpPr>
            <a:spLocks noGrp="1"/>
          </p:cNvSpPr>
          <p:nvPr>
            <p:ph sz="half" idx="1"/>
          </p:nvPr>
        </p:nvSpPr>
        <p:spPr/>
        <p:txBody>
          <a:bodyPr/>
          <a:lstStyle/>
          <a:p>
            <a:r>
              <a:rPr lang="en-US" dirty="0"/>
              <a:t>Now, let’s search the results for </a:t>
            </a:r>
            <a:r>
              <a:rPr lang="en-US" b="1" dirty="0"/>
              <a:t>JAMES SOKO</a:t>
            </a:r>
            <a:r>
              <a:rPr lang="en-US" dirty="0"/>
              <a:t> but only the </a:t>
            </a:r>
            <a:r>
              <a:rPr lang="en-US" b="1" dirty="0"/>
              <a:t>GRADE</a:t>
            </a:r>
            <a:r>
              <a:rPr lang="en-US" dirty="0"/>
              <a:t>…</a:t>
            </a:r>
          </a:p>
          <a:p>
            <a:pPr marL="0" indent="0">
              <a:buNone/>
            </a:pPr>
            <a:endParaRPr lang="en-US" dirty="0"/>
          </a:p>
        </p:txBody>
      </p:sp>
      <p:sp>
        <p:nvSpPr>
          <p:cNvPr id="4" name="Content Placeholder 3">
            <a:extLst>
              <a:ext uri="{FF2B5EF4-FFF2-40B4-BE49-F238E27FC236}">
                <a16:creationId xmlns:a16="http://schemas.microsoft.com/office/drawing/2014/main" id="{C8AE79DE-6448-46F2-AC5B-BAC1487F4C5D}"/>
              </a:ext>
            </a:extLst>
          </p:cNvPr>
          <p:cNvSpPr>
            <a:spLocks noGrp="1"/>
          </p:cNvSpPr>
          <p:nvPr>
            <p:ph sz="half" idx="2"/>
          </p:nvPr>
        </p:nvSpPr>
        <p:spPr/>
        <p:txBody>
          <a:bodyPr>
            <a:normAutofit/>
          </a:bodyPr>
          <a:lstStyle/>
          <a:p>
            <a:pPr marL="0" indent="0" algn="ctr">
              <a:buNone/>
            </a:pPr>
            <a:r>
              <a:rPr lang="en-US" sz="2000" b="1" dirty="0">
                <a:solidFill>
                  <a:srgbClr val="FF0000"/>
                </a:solidFill>
              </a:rPr>
              <a:t>NOTICE</a:t>
            </a:r>
          </a:p>
          <a:p>
            <a:pPr marL="0" indent="0" algn="ctr">
              <a:buNone/>
            </a:pPr>
            <a:r>
              <a:rPr lang="en-US" sz="2000" dirty="0"/>
              <a:t>This PowerPoint presentation was prepared by Soko James with the purpose of covering the SQL Commands we did in class with Mr. Paul M. Mutunda. Any private information used in this handout e.g., SIN and CA was for the purpose of mimicking our course and not disclosing private info.</a:t>
            </a:r>
            <a:endParaRPr lang="LID4096" sz="2000" dirty="0"/>
          </a:p>
        </p:txBody>
      </p:sp>
      <p:sp>
        <p:nvSpPr>
          <p:cNvPr id="5" name="Footer Placeholder 4">
            <a:extLst>
              <a:ext uri="{FF2B5EF4-FFF2-40B4-BE49-F238E27FC236}">
                <a16:creationId xmlns:a16="http://schemas.microsoft.com/office/drawing/2014/main" id="{DD98523B-8C8D-470A-AC32-D4721FA548E7}"/>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04A012E7-81AA-4772-B91A-EBD3CCAC838D}"/>
              </a:ext>
            </a:extLst>
          </p:cNvPr>
          <p:cNvSpPr>
            <a:spLocks noGrp="1"/>
          </p:cNvSpPr>
          <p:nvPr>
            <p:ph type="sldNum" sz="quarter" idx="12"/>
          </p:nvPr>
        </p:nvSpPr>
        <p:spPr/>
        <p:txBody>
          <a:bodyPr/>
          <a:lstStyle/>
          <a:p>
            <a:fld id="{1D1DA0CA-E6E7-4A00-872A-D06185C48FFB}" type="slidenum">
              <a:rPr lang="LID4096" smtClean="0"/>
              <a:t>26</a:t>
            </a:fld>
            <a:endParaRPr lang="LID4096"/>
          </a:p>
        </p:txBody>
      </p:sp>
      <p:pic>
        <p:nvPicPr>
          <p:cNvPr id="10" name="Picture 9">
            <a:extLst>
              <a:ext uri="{FF2B5EF4-FFF2-40B4-BE49-F238E27FC236}">
                <a16:creationId xmlns:a16="http://schemas.microsoft.com/office/drawing/2014/main" id="{D8D7C99E-6D4C-4600-BB5B-9CB95548F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430" y="3330390"/>
            <a:ext cx="4588922" cy="1269890"/>
          </a:xfrm>
          <a:prstGeom prst="rect">
            <a:avLst/>
          </a:prstGeom>
        </p:spPr>
      </p:pic>
      <p:pic>
        <p:nvPicPr>
          <p:cNvPr id="12" name="Picture 11">
            <a:extLst>
              <a:ext uri="{FF2B5EF4-FFF2-40B4-BE49-F238E27FC236}">
                <a16:creationId xmlns:a16="http://schemas.microsoft.com/office/drawing/2014/main" id="{DC133AE8-A64D-4BB3-98BF-11A11F5625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1430" y="4794818"/>
            <a:ext cx="4587282" cy="1279242"/>
          </a:xfrm>
          <a:prstGeom prst="rect">
            <a:avLst/>
          </a:prstGeom>
        </p:spPr>
      </p:pic>
    </p:spTree>
    <p:extLst>
      <p:ext uri="{BB962C8B-B14F-4D97-AF65-F5344CB8AC3E}">
        <p14:creationId xmlns:p14="http://schemas.microsoft.com/office/powerpoint/2010/main" val="1984228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61BCE4-789E-409B-9465-5CFDBE36FA76}"/>
              </a:ext>
            </a:extLst>
          </p:cNvPr>
          <p:cNvSpPr>
            <a:spLocks noGrp="1"/>
          </p:cNvSpPr>
          <p:nvPr>
            <p:ph type="ctrTitle"/>
          </p:nvPr>
        </p:nvSpPr>
        <p:spPr/>
        <p:txBody>
          <a:bodyPr/>
          <a:lstStyle/>
          <a:p>
            <a:r>
              <a:rPr lang="en-US" b="1" dirty="0"/>
              <a:t>QUESTIONS</a:t>
            </a:r>
            <a:endParaRPr lang="LID4096" b="1" dirty="0"/>
          </a:p>
        </p:txBody>
      </p:sp>
      <p:sp>
        <p:nvSpPr>
          <p:cNvPr id="8" name="Subtitle 7">
            <a:extLst>
              <a:ext uri="{FF2B5EF4-FFF2-40B4-BE49-F238E27FC236}">
                <a16:creationId xmlns:a16="http://schemas.microsoft.com/office/drawing/2014/main" id="{A0F92D1A-1018-4499-B4C4-2A84F4412879}"/>
              </a:ext>
            </a:extLst>
          </p:cNvPr>
          <p:cNvSpPr>
            <a:spLocks noGrp="1"/>
          </p:cNvSpPr>
          <p:nvPr>
            <p:ph type="subTitle" idx="1"/>
          </p:nvPr>
        </p:nvSpPr>
        <p:spPr/>
        <p:txBody>
          <a:bodyPr/>
          <a:lstStyle/>
          <a:p>
            <a:r>
              <a:rPr lang="en-US" b="1" dirty="0"/>
              <a:t>CYS330</a:t>
            </a:r>
            <a:endParaRPr lang="LID4096" b="1" dirty="0"/>
          </a:p>
        </p:txBody>
      </p:sp>
      <p:sp>
        <p:nvSpPr>
          <p:cNvPr id="5" name="Footer Placeholder 4">
            <a:extLst>
              <a:ext uri="{FF2B5EF4-FFF2-40B4-BE49-F238E27FC236}">
                <a16:creationId xmlns:a16="http://schemas.microsoft.com/office/drawing/2014/main" id="{77F76B12-A1E4-40DF-85C7-72BB10013BF1}"/>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72B68438-B13E-4D1F-80AE-E03F7A4CA896}"/>
              </a:ext>
            </a:extLst>
          </p:cNvPr>
          <p:cNvSpPr>
            <a:spLocks noGrp="1"/>
          </p:cNvSpPr>
          <p:nvPr>
            <p:ph type="sldNum" sz="quarter" idx="12"/>
          </p:nvPr>
        </p:nvSpPr>
        <p:spPr/>
        <p:txBody>
          <a:bodyPr/>
          <a:lstStyle/>
          <a:p>
            <a:fld id="{1D1DA0CA-E6E7-4A00-872A-D06185C48FFB}" type="slidenum">
              <a:rPr lang="LID4096" smtClean="0"/>
              <a:t>27</a:t>
            </a:fld>
            <a:endParaRPr lang="LID4096"/>
          </a:p>
        </p:txBody>
      </p:sp>
    </p:spTree>
    <p:extLst>
      <p:ext uri="{BB962C8B-B14F-4D97-AF65-F5344CB8AC3E}">
        <p14:creationId xmlns:p14="http://schemas.microsoft.com/office/powerpoint/2010/main" val="2861889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6FC2-8455-43D0-957C-5652E8C0EB1E}"/>
              </a:ext>
            </a:extLst>
          </p:cNvPr>
          <p:cNvSpPr>
            <a:spLocks noGrp="1"/>
          </p:cNvSpPr>
          <p:nvPr>
            <p:ph type="title"/>
          </p:nvPr>
        </p:nvSpPr>
        <p:spPr/>
        <p:txBody>
          <a:bodyPr/>
          <a:lstStyle/>
          <a:p>
            <a:pPr algn="ctr"/>
            <a:r>
              <a:rPr lang="en-US" b="1" dirty="0"/>
              <a:t>QUESTION 1</a:t>
            </a:r>
            <a:endParaRPr lang="LID4096" b="1" dirty="0"/>
          </a:p>
        </p:txBody>
      </p:sp>
      <p:sp>
        <p:nvSpPr>
          <p:cNvPr id="3" name="Content Placeholder 2">
            <a:extLst>
              <a:ext uri="{FF2B5EF4-FFF2-40B4-BE49-F238E27FC236}">
                <a16:creationId xmlns:a16="http://schemas.microsoft.com/office/drawing/2014/main" id="{86B2CB82-C287-4772-9923-C50A96B8FCA3}"/>
              </a:ext>
            </a:extLst>
          </p:cNvPr>
          <p:cNvSpPr>
            <a:spLocks noGrp="1"/>
          </p:cNvSpPr>
          <p:nvPr>
            <p:ph idx="1"/>
          </p:nvPr>
        </p:nvSpPr>
        <p:spPr/>
        <p:txBody>
          <a:bodyPr/>
          <a:lstStyle/>
          <a:p>
            <a:pPr>
              <a:buFont typeface="+mj-lt"/>
              <a:buAutoNum type="arabicPeriod"/>
            </a:pPr>
            <a:r>
              <a:rPr lang="en-US" dirty="0"/>
              <a:t>With so much experience in bug bounty, analyze the two snippet codes given below.</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Courier New" panose="02070309020205020404" pitchFamily="49" charset="0"/>
              <a:buChar char="o"/>
            </a:pPr>
            <a:r>
              <a:rPr lang="en-US" dirty="0"/>
              <a:t>SELECT * FROM Customers WHERE CustomerID = 111 or 1=1;</a:t>
            </a:r>
          </a:p>
          <a:p>
            <a:pPr>
              <a:buFont typeface="Courier New" panose="02070309020205020404" pitchFamily="49" charset="0"/>
              <a:buChar char="o"/>
            </a:pPr>
            <a:r>
              <a:rPr lang="en-US" dirty="0"/>
              <a:t>SELECT CustomerID, Name, Password FROM Customer WHERE CustomerID = 111 or 1=1;</a:t>
            </a:r>
          </a:p>
          <a:p>
            <a:pPr marL="0" indent="0">
              <a:buNone/>
            </a:pPr>
            <a:endParaRPr lang="LID4096" dirty="0"/>
          </a:p>
        </p:txBody>
      </p:sp>
      <p:sp>
        <p:nvSpPr>
          <p:cNvPr id="4" name="Footer Placeholder 3">
            <a:extLst>
              <a:ext uri="{FF2B5EF4-FFF2-40B4-BE49-F238E27FC236}">
                <a16:creationId xmlns:a16="http://schemas.microsoft.com/office/drawing/2014/main" id="{0F893DE7-EA16-4F91-84EC-C49C5678A11D}"/>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41E08365-DAA8-4148-8EE3-1C2BC1486CCD}"/>
              </a:ext>
            </a:extLst>
          </p:cNvPr>
          <p:cNvSpPr>
            <a:spLocks noGrp="1"/>
          </p:cNvSpPr>
          <p:nvPr>
            <p:ph type="sldNum" sz="quarter" idx="12"/>
          </p:nvPr>
        </p:nvSpPr>
        <p:spPr/>
        <p:txBody>
          <a:bodyPr/>
          <a:lstStyle/>
          <a:p>
            <a:fld id="{1D1DA0CA-E6E7-4A00-872A-D06185C48FFB}" type="slidenum">
              <a:rPr lang="LID4096" smtClean="0"/>
              <a:t>28</a:t>
            </a:fld>
            <a:endParaRPr lang="LID4096"/>
          </a:p>
        </p:txBody>
      </p:sp>
      <p:graphicFrame>
        <p:nvGraphicFramePr>
          <p:cNvPr id="6" name="Table 6">
            <a:extLst>
              <a:ext uri="{FF2B5EF4-FFF2-40B4-BE49-F238E27FC236}">
                <a16:creationId xmlns:a16="http://schemas.microsoft.com/office/drawing/2014/main" id="{336830E8-0574-4D09-816A-25F889EEB2B7}"/>
              </a:ext>
            </a:extLst>
          </p:cNvPr>
          <p:cNvGraphicFramePr>
            <a:graphicFrameLocks noGrp="1"/>
          </p:cNvGraphicFramePr>
          <p:nvPr>
            <p:extLst>
              <p:ext uri="{D42A27DB-BD31-4B8C-83A1-F6EECF244321}">
                <p14:modId xmlns:p14="http://schemas.microsoft.com/office/powerpoint/2010/main" val="1451412163"/>
              </p:ext>
            </p:extLst>
          </p:nvPr>
        </p:nvGraphicFramePr>
        <p:xfrm>
          <a:off x="1623786" y="3294555"/>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828116546"/>
                    </a:ext>
                  </a:extLst>
                </a:gridCol>
                <a:gridCol w="2709333">
                  <a:extLst>
                    <a:ext uri="{9D8B030D-6E8A-4147-A177-3AD203B41FA5}">
                      <a16:colId xmlns:a16="http://schemas.microsoft.com/office/drawing/2014/main" val="1096517587"/>
                    </a:ext>
                  </a:extLst>
                </a:gridCol>
                <a:gridCol w="2709333">
                  <a:extLst>
                    <a:ext uri="{9D8B030D-6E8A-4147-A177-3AD203B41FA5}">
                      <a16:colId xmlns:a16="http://schemas.microsoft.com/office/drawing/2014/main" val="274839577"/>
                    </a:ext>
                  </a:extLst>
                </a:gridCol>
              </a:tblGrid>
              <a:tr h="370840">
                <a:tc>
                  <a:txBody>
                    <a:bodyPr/>
                    <a:lstStyle/>
                    <a:p>
                      <a:r>
                        <a:rPr lang="en-US" dirty="0"/>
                        <a:t>CustomerID</a:t>
                      </a:r>
                      <a:endParaRPr lang="LID4096" dirty="0"/>
                    </a:p>
                  </a:txBody>
                  <a:tcPr/>
                </a:tc>
                <a:tc>
                  <a:txBody>
                    <a:bodyPr/>
                    <a:lstStyle/>
                    <a:p>
                      <a:r>
                        <a:rPr lang="en-US" dirty="0"/>
                        <a:t>Name</a:t>
                      </a:r>
                      <a:endParaRPr lang="LID4096" dirty="0"/>
                    </a:p>
                  </a:txBody>
                  <a:tcPr/>
                </a:tc>
                <a:tc>
                  <a:txBody>
                    <a:bodyPr/>
                    <a:lstStyle/>
                    <a:p>
                      <a:r>
                        <a:rPr lang="en-US" dirty="0"/>
                        <a:t>Password</a:t>
                      </a:r>
                      <a:endParaRPr lang="LID4096" dirty="0"/>
                    </a:p>
                  </a:txBody>
                  <a:tcPr/>
                </a:tc>
                <a:extLst>
                  <a:ext uri="{0D108BD9-81ED-4DB2-BD59-A6C34878D82A}">
                    <a16:rowId xmlns:a16="http://schemas.microsoft.com/office/drawing/2014/main" val="1718592549"/>
                  </a:ext>
                </a:extLst>
              </a:tr>
              <a:tr h="370840">
                <a:tc>
                  <a:txBody>
                    <a:bodyPr/>
                    <a:lstStyle/>
                    <a:p>
                      <a:r>
                        <a:rPr lang="en-US" dirty="0"/>
                        <a:t>111</a:t>
                      </a:r>
                      <a:endParaRPr lang="LID4096" dirty="0"/>
                    </a:p>
                  </a:txBody>
                  <a:tcPr/>
                </a:tc>
                <a:tc>
                  <a:txBody>
                    <a:bodyPr/>
                    <a:lstStyle/>
                    <a:p>
                      <a:r>
                        <a:rPr lang="en-US" dirty="0"/>
                        <a:t>Henry Mutale</a:t>
                      </a:r>
                      <a:endParaRPr lang="LID4096" dirty="0"/>
                    </a:p>
                  </a:txBody>
                  <a:tcPr/>
                </a:tc>
                <a:tc>
                  <a:txBody>
                    <a:bodyPr/>
                    <a:lstStyle/>
                    <a:p>
                      <a:r>
                        <a:rPr lang="en-US" dirty="0"/>
                        <a:t>3434a</a:t>
                      </a:r>
                      <a:endParaRPr lang="LID4096" dirty="0"/>
                    </a:p>
                  </a:txBody>
                  <a:tcPr/>
                </a:tc>
                <a:extLst>
                  <a:ext uri="{0D108BD9-81ED-4DB2-BD59-A6C34878D82A}">
                    <a16:rowId xmlns:a16="http://schemas.microsoft.com/office/drawing/2014/main" val="2765187907"/>
                  </a:ext>
                </a:extLst>
              </a:tr>
              <a:tr h="370840">
                <a:tc>
                  <a:txBody>
                    <a:bodyPr/>
                    <a:lstStyle/>
                    <a:p>
                      <a:r>
                        <a:rPr lang="en-US" dirty="0"/>
                        <a:t>222</a:t>
                      </a:r>
                      <a:endParaRPr lang="LID4096" dirty="0"/>
                    </a:p>
                  </a:txBody>
                  <a:tcPr/>
                </a:tc>
                <a:tc>
                  <a:txBody>
                    <a:bodyPr/>
                    <a:lstStyle/>
                    <a:p>
                      <a:r>
                        <a:rPr lang="en-US" dirty="0"/>
                        <a:t>James Soko</a:t>
                      </a:r>
                      <a:endParaRPr lang="LID4096" dirty="0"/>
                    </a:p>
                  </a:txBody>
                  <a:tcPr/>
                </a:tc>
                <a:tc>
                  <a:txBody>
                    <a:bodyPr/>
                    <a:lstStyle/>
                    <a:p>
                      <a:r>
                        <a:rPr lang="en-US" dirty="0"/>
                        <a:t>@0396</a:t>
                      </a:r>
                      <a:endParaRPr lang="LID4096" dirty="0"/>
                    </a:p>
                  </a:txBody>
                  <a:tcPr/>
                </a:tc>
                <a:extLst>
                  <a:ext uri="{0D108BD9-81ED-4DB2-BD59-A6C34878D82A}">
                    <a16:rowId xmlns:a16="http://schemas.microsoft.com/office/drawing/2014/main" val="1959916147"/>
                  </a:ext>
                </a:extLst>
              </a:tr>
              <a:tr h="370840">
                <a:tc>
                  <a:txBody>
                    <a:bodyPr/>
                    <a:lstStyle/>
                    <a:p>
                      <a:r>
                        <a:rPr lang="en-US" dirty="0"/>
                        <a:t>333</a:t>
                      </a:r>
                      <a:endParaRPr lang="LID4096" dirty="0"/>
                    </a:p>
                  </a:txBody>
                  <a:tcPr/>
                </a:tc>
                <a:tc>
                  <a:txBody>
                    <a:bodyPr/>
                    <a:lstStyle/>
                    <a:p>
                      <a:r>
                        <a:rPr lang="en-US" dirty="0"/>
                        <a:t>Evans Bwalya</a:t>
                      </a:r>
                      <a:endParaRPr lang="LID4096" dirty="0"/>
                    </a:p>
                  </a:txBody>
                  <a:tcPr/>
                </a:tc>
                <a:tc>
                  <a:txBody>
                    <a:bodyPr/>
                    <a:lstStyle/>
                    <a:p>
                      <a:r>
                        <a:rPr lang="en-US" dirty="0"/>
                        <a:t>Mafia123</a:t>
                      </a:r>
                      <a:endParaRPr lang="LID4096" dirty="0"/>
                    </a:p>
                  </a:txBody>
                  <a:tcPr/>
                </a:tc>
                <a:extLst>
                  <a:ext uri="{0D108BD9-81ED-4DB2-BD59-A6C34878D82A}">
                    <a16:rowId xmlns:a16="http://schemas.microsoft.com/office/drawing/2014/main" val="439329693"/>
                  </a:ext>
                </a:extLst>
              </a:tr>
            </a:tbl>
          </a:graphicData>
        </a:graphic>
      </p:graphicFrame>
    </p:spTree>
    <p:extLst>
      <p:ext uri="{BB962C8B-B14F-4D97-AF65-F5344CB8AC3E}">
        <p14:creationId xmlns:p14="http://schemas.microsoft.com/office/powerpoint/2010/main" val="3771865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AB01-8B31-4912-A403-2583BA783FDD}"/>
              </a:ext>
            </a:extLst>
          </p:cNvPr>
          <p:cNvSpPr>
            <a:spLocks noGrp="1"/>
          </p:cNvSpPr>
          <p:nvPr>
            <p:ph type="title"/>
          </p:nvPr>
        </p:nvSpPr>
        <p:spPr/>
        <p:txBody>
          <a:bodyPr/>
          <a:lstStyle/>
          <a:p>
            <a:pPr algn="ctr"/>
            <a:r>
              <a:rPr lang="en-US" b="1" dirty="0"/>
              <a:t>QUESTION 1 (Continues…)</a:t>
            </a:r>
            <a:endParaRPr lang="LID4096" dirty="0"/>
          </a:p>
        </p:txBody>
      </p:sp>
      <p:sp>
        <p:nvSpPr>
          <p:cNvPr id="3" name="Content Placeholder 2">
            <a:extLst>
              <a:ext uri="{FF2B5EF4-FFF2-40B4-BE49-F238E27FC236}">
                <a16:creationId xmlns:a16="http://schemas.microsoft.com/office/drawing/2014/main" id="{CB3F1747-AA5E-4F7C-A1ED-A557240B8517}"/>
              </a:ext>
            </a:extLst>
          </p:cNvPr>
          <p:cNvSpPr>
            <a:spLocks noGrp="1"/>
          </p:cNvSpPr>
          <p:nvPr>
            <p:ph idx="1"/>
          </p:nvPr>
        </p:nvSpPr>
        <p:spPr/>
        <p:txBody>
          <a:bodyPr/>
          <a:lstStyle/>
          <a:p>
            <a:pPr>
              <a:buFont typeface="+mj-lt"/>
              <a:buAutoNum type="alphaLcParenR"/>
            </a:pPr>
            <a:r>
              <a:rPr lang="en-US" dirty="0"/>
              <a:t>With the aid of an object given, explain the difference between the two lines of SQL codes. [5]</a:t>
            </a:r>
          </a:p>
          <a:p>
            <a:pPr>
              <a:buFont typeface="+mj-lt"/>
              <a:buAutoNum type="alphaLcParenR"/>
            </a:pPr>
            <a:r>
              <a:rPr lang="en-US" dirty="0"/>
              <a:t>Briefly explain why it posses a vulnerability in a named database. [5]</a:t>
            </a:r>
          </a:p>
          <a:p>
            <a:pPr>
              <a:buFont typeface="+mj-lt"/>
              <a:buAutoNum type="alphaLcParenR"/>
            </a:pPr>
            <a:r>
              <a:rPr lang="en-US" dirty="0"/>
              <a:t>Provide tangible solutions to the business entity using this database based on your experience in Cybersecurity related matters. [5]</a:t>
            </a:r>
            <a:endParaRPr lang="LID4096" dirty="0"/>
          </a:p>
        </p:txBody>
      </p:sp>
      <p:sp>
        <p:nvSpPr>
          <p:cNvPr id="4" name="Footer Placeholder 3">
            <a:extLst>
              <a:ext uri="{FF2B5EF4-FFF2-40B4-BE49-F238E27FC236}">
                <a16:creationId xmlns:a16="http://schemas.microsoft.com/office/drawing/2014/main" id="{529A0B0A-9273-42ED-994D-6C59B3034C99}"/>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0E2BA262-A396-431C-A45A-1B4F45001E23}"/>
              </a:ext>
            </a:extLst>
          </p:cNvPr>
          <p:cNvSpPr>
            <a:spLocks noGrp="1"/>
          </p:cNvSpPr>
          <p:nvPr>
            <p:ph type="sldNum" sz="quarter" idx="12"/>
          </p:nvPr>
        </p:nvSpPr>
        <p:spPr/>
        <p:txBody>
          <a:bodyPr/>
          <a:lstStyle/>
          <a:p>
            <a:fld id="{1D1DA0CA-E6E7-4A00-872A-D06185C48FFB}" type="slidenum">
              <a:rPr lang="LID4096" smtClean="0"/>
              <a:t>29</a:t>
            </a:fld>
            <a:endParaRPr lang="LID4096"/>
          </a:p>
        </p:txBody>
      </p:sp>
    </p:spTree>
    <p:extLst>
      <p:ext uri="{BB962C8B-B14F-4D97-AF65-F5344CB8AC3E}">
        <p14:creationId xmlns:p14="http://schemas.microsoft.com/office/powerpoint/2010/main" val="2738725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F9BC-6E2F-4D70-9646-94959BD4860D}"/>
              </a:ext>
            </a:extLst>
          </p:cNvPr>
          <p:cNvSpPr>
            <a:spLocks noGrp="1"/>
          </p:cNvSpPr>
          <p:nvPr>
            <p:ph type="title"/>
          </p:nvPr>
        </p:nvSpPr>
        <p:spPr/>
        <p:txBody>
          <a:bodyPr/>
          <a:lstStyle/>
          <a:p>
            <a:pPr algn="ctr"/>
            <a:r>
              <a:rPr lang="en-US" b="1" dirty="0"/>
              <a:t>QUESTION 2</a:t>
            </a:r>
            <a:endParaRPr lang="LID4096" dirty="0"/>
          </a:p>
        </p:txBody>
      </p:sp>
      <p:graphicFrame>
        <p:nvGraphicFramePr>
          <p:cNvPr id="6" name="Table 6">
            <a:extLst>
              <a:ext uri="{FF2B5EF4-FFF2-40B4-BE49-F238E27FC236}">
                <a16:creationId xmlns:a16="http://schemas.microsoft.com/office/drawing/2014/main" id="{F3CC267C-DF1C-4B78-A2C9-455CC9376833}"/>
              </a:ext>
            </a:extLst>
          </p:cNvPr>
          <p:cNvGraphicFramePr>
            <a:graphicFrameLocks noGrp="1"/>
          </p:cNvGraphicFramePr>
          <p:nvPr>
            <p:ph idx="1"/>
            <p:extLst>
              <p:ext uri="{D42A27DB-BD31-4B8C-83A1-F6EECF244321}">
                <p14:modId xmlns:p14="http://schemas.microsoft.com/office/powerpoint/2010/main" val="4012888642"/>
              </p:ext>
            </p:extLst>
          </p:nvPr>
        </p:nvGraphicFramePr>
        <p:xfrm>
          <a:off x="454479" y="2414198"/>
          <a:ext cx="11283042" cy="3977640"/>
        </p:xfrm>
        <a:graphic>
          <a:graphicData uri="http://schemas.openxmlformats.org/drawingml/2006/table">
            <a:tbl>
              <a:tblPr firstRow="1" bandRow="1">
                <a:tableStyleId>{5C22544A-7EE6-4342-B048-85BDC9FD1C3A}</a:tableStyleId>
              </a:tblPr>
              <a:tblGrid>
                <a:gridCol w="800100">
                  <a:extLst>
                    <a:ext uri="{9D8B030D-6E8A-4147-A177-3AD203B41FA5}">
                      <a16:colId xmlns:a16="http://schemas.microsoft.com/office/drawing/2014/main" val="3642546851"/>
                    </a:ext>
                  </a:extLst>
                </a:gridCol>
                <a:gridCol w="1730828">
                  <a:extLst>
                    <a:ext uri="{9D8B030D-6E8A-4147-A177-3AD203B41FA5}">
                      <a16:colId xmlns:a16="http://schemas.microsoft.com/office/drawing/2014/main" val="3043880631"/>
                    </a:ext>
                  </a:extLst>
                </a:gridCol>
                <a:gridCol w="1371600">
                  <a:extLst>
                    <a:ext uri="{9D8B030D-6E8A-4147-A177-3AD203B41FA5}">
                      <a16:colId xmlns:a16="http://schemas.microsoft.com/office/drawing/2014/main" val="4092959134"/>
                    </a:ext>
                  </a:extLst>
                </a:gridCol>
                <a:gridCol w="816429">
                  <a:extLst>
                    <a:ext uri="{9D8B030D-6E8A-4147-A177-3AD203B41FA5}">
                      <a16:colId xmlns:a16="http://schemas.microsoft.com/office/drawing/2014/main" val="1537072770"/>
                    </a:ext>
                  </a:extLst>
                </a:gridCol>
                <a:gridCol w="2759528">
                  <a:extLst>
                    <a:ext uri="{9D8B030D-6E8A-4147-A177-3AD203B41FA5}">
                      <a16:colId xmlns:a16="http://schemas.microsoft.com/office/drawing/2014/main" val="3205604548"/>
                    </a:ext>
                  </a:extLst>
                </a:gridCol>
                <a:gridCol w="2122715">
                  <a:extLst>
                    <a:ext uri="{9D8B030D-6E8A-4147-A177-3AD203B41FA5}">
                      <a16:colId xmlns:a16="http://schemas.microsoft.com/office/drawing/2014/main" val="408006772"/>
                    </a:ext>
                  </a:extLst>
                </a:gridCol>
                <a:gridCol w="1681842">
                  <a:extLst>
                    <a:ext uri="{9D8B030D-6E8A-4147-A177-3AD203B41FA5}">
                      <a16:colId xmlns:a16="http://schemas.microsoft.com/office/drawing/2014/main" val="1383161421"/>
                    </a:ext>
                  </a:extLst>
                </a:gridCol>
              </a:tblGrid>
              <a:tr h="370840">
                <a:tc>
                  <a:txBody>
                    <a:bodyPr/>
                    <a:lstStyle/>
                    <a:p>
                      <a:r>
                        <a:rPr lang="en-US" dirty="0"/>
                        <a:t>Ref No.</a:t>
                      </a:r>
                      <a:endParaRPr lang="LID4096" dirty="0"/>
                    </a:p>
                  </a:txBody>
                  <a:tcPr/>
                </a:tc>
                <a:tc>
                  <a:txBody>
                    <a:bodyPr/>
                    <a:lstStyle/>
                    <a:p>
                      <a:r>
                        <a:rPr lang="en-US" dirty="0"/>
                        <a:t>Manufacturer</a:t>
                      </a:r>
                      <a:endParaRPr lang="LID4096" dirty="0"/>
                    </a:p>
                  </a:txBody>
                  <a:tcPr/>
                </a:tc>
                <a:tc>
                  <a:txBody>
                    <a:bodyPr/>
                    <a:lstStyle/>
                    <a:p>
                      <a:r>
                        <a:rPr lang="en-US" dirty="0"/>
                        <a:t>Model</a:t>
                      </a:r>
                      <a:endParaRPr lang="LID4096" dirty="0"/>
                    </a:p>
                  </a:txBody>
                  <a:tcPr/>
                </a:tc>
                <a:tc>
                  <a:txBody>
                    <a:bodyPr/>
                    <a:lstStyle/>
                    <a:p>
                      <a:r>
                        <a:rPr lang="en-US" dirty="0"/>
                        <a:t>Doors</a:t>
                      </a:r>
                      <a:endParaRPr lang="LID4096" dirty="0"/>
                    </a:p>
                  </a:txBody>
                  <a:tcPr/>
                </a:tc>
                <a:tc>
                  <a:txBody>
                    <a:bodyPr/>
                    <a:lstStyle/>
                    <a:p>
                      <a:r>
                        <a:rPr lang="en-US" dirty="0"/>
                        <a:t>0 – 100 Kph time (sec)</a:t>
                      </a:r>
                      <a:endParaRPr lang="LID4096" dirty="0"/>
                    </a:p>
                  </a:txBody>
                  <a:tcPr/>
                </a:tc>
                <a:tc>
                  <a:txBody>
                    <a:bodyPr/>
                    <a:lstStyle/>
                    <a:p>
                      <a:r>
                        <a:rPr lang="en-US" dirty="0"/>
                        <a:t>Top speed (kph)</a:t>
                      </a:r>
                      <a:endParaRPr lang="LID4096" dirty="0"/>
                    </a:p>
                  </a:txBody>
                  <a:tcPr/>
                </a:tc>
                <a:tc>
                  <a:txBody>
                    <a:bodyPr/>
                    <a:lstStyle/>
                    <a:p>
                      <a:r>
                        <a:rPr lang="en-US" dirty="0"/>
                        <a:t>Price (ZMK)</a:t>
                      </a:r>
                      <a:endParaRPr lang="LID4096" dirty="0"/>
                    </a:p>
                  </a:txBody>
                  <a:tcPr/>
                </a:tc>
                <a:extLst>
                  <a:ext uri="{0D108BD9-81ED-4DB2-BD59-A6C34878D82A}">
                    <a16:rowId xmlns:a16="http://schemas.microsoft.com/office/drawing/2014/main" val="170876472"/>
                  </a:ext>
                </a:extLst>
              </a:tr>
              <a:tr h="370840">
                <a:tc>
                  <a:txBody>
                    <a:bodyPr/>
                    <a:lstStyle/>
                    <a:p>
                      <a:r>
                        <a:rPr lang="en-US" dirty="0"/>
                        <a:t>1015</a:t>
                      </a:r>
                      <a:endParaRPr lang="LID4096" dirty="0"/>
                    </a:p>
                  </a:txBody>
                  <a:tcPr/>
                </a:tc>
                <a:tc>
                  <a:txBody>
                    <a:bodyPr/>
                    <a:lstStyle/>
                    <a:p>
                      <a:r>
                        <a:rPr lang="en-US" dirty="0"/>
                        <a:t>Bentley</a:t>
                      </a:r>
                      <a:endParaRPr lang="LID4096" dirty="0"/>
                    </a:p>
                  </a:txBody>
                  <a:tcPr/>
                </a:tc>
                <a:tc>
                  <a:txBody>
                    <a:bodyPr/>
                    <a:lstStyle/>
                    <a:p>
                      <a:r>
                        <a:rPr lang="en-US" dirty="0"/>
                        <a:t>Arnage</a:t>
                      </a:r>
                      <a:endParaRPr lang="LID4096" dirty="0"/>
                    </a:p>
                  </a:txBody>
                  <a:tcPr/>
                </a:tc>
                <a:tc>
                  <a:txBody>
                    <a:bodyPr/>
                    <a:lstStyle/>
                    <a:p>
                      <a:r>
                        <a:rPr lang="en-US" dirty="0"/>
                        <a:t>4</a:t>
                      </a:r>
                      <a:endParaRPr lang="LID4096" dirty="0"/>
                    </a:p>
                  </a:txBody>
                  <a:tcPr/>
                </a:tc>
                <a:tc>
                  <a:txBody>
                    <a:bodyPr/>
                    <a:lstStyle/>
                    <a:p>
                      <a:r>
                        <a:rPr lang="en-US" dirty="0"/>
                        <a:t>6.0</a:t>
                      </a:r>
                      <a:endParaRPr lang="LID4096" dirty="0"/>
                    </a:p>
                  </a:txBody>
                  <a:tcPr/>
                </a:tc>
                <a:tc>
                  <a:txBody>
                    <a:bodyPr/>
                    <a:lstStyle/>
                    <a:p>
                      <a:r>
                        <a:rPr lang="en-US" dirty="0"/>
                        <a:t>250</a:t>
                      </a:r>
                      <a:endParaRPr lang="LID4096" dirty="0"/>
                    </a:p>
                  </a:txBody>
                  <a:tcPr/>
                </a:tc>
                <a:tc>
                  <a:txBody>
                    <a:bodyPr/>
                    <a:lstStyle/>
                    <a:p>
                      <a:r>
                        <a:rPr lang="en-US" dirty="0"/>
                        <a:t>300000</a:t>
                      </a:r>
                      <a:endParaRPr lang="LID4096" dirty="0"/>
                    </a:p>
                  </a:txBody>
                  <a:tcPr/>
                </a:tc>
                <a:extLst>
                  <a:ext uri="{0D108BD9-81ED-4DB2-BD59-A6C34878D82A}">
                    <a16:rowId xmlns:a16="http://schemas.microsoft.com/office/drawing/2014/main" val="2832684366"/>
                  </a:ext>
                </a:extLst>
              </a:tr>
              <a:tr h="370840">
                <a:tc>
                  <a:txBody>
                    <a:bodyPr/>
                    <a:lstStyle/>
                    <a:p>
                      <a:r>
                        <a:rPr lang="en-US" dirty="0"/>
                        <a:t>1023</a:t>
                      </a:r>
                      <a:endParaRPr lang="LID4096" dirty="0"/>
                    </a:p>
                  </a:txBody>
                  <a:tcPr/>
                </a:tc>
                <a:tc>
                  <a:txBody>
                    <a:bodyPr/>
                    <a:lstStyle/>
                    <a:p>
                      <a:r>
                        <a:rPr lang="en-US" dirty="0"/>
                        <a:t>Porsche </a:t>
                      </a:r>
                      <a:endParaRPr lang="LID4096" dirty="0"/>
                    </a:p>
                  </a:txBody>
                  <a:tcPr/>
                </a:tc>
                <a:tc>
                  <a:txBody>
                    <a:bodyPr/>
                    <a:lstStyle/>
                    <a:p>
                      <a:r>
                        <a:rPr lang="en-US" dirty="0"/>
                        <a:t>Boxster</a:t>
                      </a:r>
                      <a:endParaRPr lang="LID4096" dirty="0"/>
                    </a:p>
                  </a:txBody>
                  <a:tcPr/>
                </a:tc>
                <a:tc>
                  <a:txBody>
                    <a:bodyPr/>
                    <a:lstStyle/>
                    <a:p>
                      <a:r>
                        <a:rPr lang="en-US" dirty="0"/>
                        <a:t>2</a:t>
                      </a:r>
                      <a:endParaRPr lang="LID4096" dirty="0"/>
                    </a:p>
                  </a:txBody>
                  <a:tcPr/>
                </a:tc>
                <a:tc>
                  <a:txBody>
                    <a:bodyPr/>
                    <a:lstStyle/>
                    <a:p>
                      <a:r>
                        <a:rPr lang="en-US" dirty="0"/>
                        <a:t>5.5</a:t>
                      </a:r>
                      <a:endParaRPr lang="LID4096" dirty="0"/>
                    </a:p>
                  </a:txBody>
                  <a:tcPr/>
                </a:tc>
                <a:tc>
                  <a:txBody>
                    <a:bodyPr/>
                    <a:lstStyle/>
                    <a:p>
                      <a:r>
                        <a:rPr lang="en-US" dirty="0"/>
                        <a:t>266</a:t>
                      </a:r>
                      <a:endParaRPr lang="LID4096" dirty="0"/>
                    </a:p>
                  </a:txBody>
                  <a:tcPr/>
                </a:tc>
                <a:tc>
                  <a:txBody>
                    <a:bodyPr/>
                    <a:lstStyle/>
                    <a:p>
                      <a:r>
                        <a:rPr lang="en-US" dirty="0"/>
                        <a:t>55000</a:t>
                      </a:r>
                      <a:endParaRPr lang="LID4096" dirty="0"/>
                    </a:p>
                  </a:txBody>
                  <a:tcPr/>
                </a:tc>
                <a:extLst>
                  <a:ext uri="{0D108BD9-81ED-4DB2-BD59-A6C34878D82A}">
                    <a16:rowId xmlns:a16="http://schemas.microsoft.com/office/drawing/2014/main" val="437999705"/>
                  </a:ext>
                </a:extLst>
              </a:tr>
              <a:tr h="370840">
                <a:tc>
                  <a:txBody>
                    <a:bodyPr/>
                    <a:lstStyle/>
                    <a:p>
                      <a:r>
                        <a:rPr lang="en-US" dirty="0"/>
                        <a:t>1158</a:t>
                      </a:r>
                      <a:endParaRPr lang="LID4096" dirty="0"/>
                    </a:p>
                  </a:txBody>
                  <a:tcPr/>
                </a:tc>
                <a:tc>
                  <a:txBody>
                    <a:bodyPr/>
                    <a:lstStyle/>
                    <a:p>
                      <a:r>
                        <a:rPr lang="en-US" dirty="0"/>
                        <a:t>Fiat</a:t>
                      </a:r>
                      <a:endParaRPr lang="LID4096" dirty="0"/>
                    </a:p>
                  </a:txBody>
                  <a:tcPr/>
                </a:tc>
                <a:tc>
                  <a:txBody>
                    <a:bodyPr/>
                    <a:lstStyle/>
                    <a:p>
                      <a:r>
                        <a:rPr lang="en-US" dirty="0"/>
                        <a:t>Stile</a:t>
                      </a:r>
                      <a:endParaRPr lang="LID4096" dirty="0"/>
                    </a:p>
                  </a:txBody>
                  <a:tcPr/>
                </a:tc>
                <a:tc>
                  <a:txBody>
                    <a:bodyPr/>
                    <a:lstStyle/>
                    <a:p>
                      <a:r>
                        <a:rPr lang="en-US" dirty="0"/>
                        <a:t>5</a:t>
                      </a:r>
                      <a:endParaRPr lang="LID4096" dirty="0"/>
                    </a:p>
                  </a:txBody>
                  <a:tcPr/>
                </a:tc>
                <a:tc>
                  <a:txBody>
                    <a:bodyPr/>
                    <a:lstStyle/>
                    <a:p>
                      <a:r>
                        <a:rPr lang="en-US" dirty="0"/>
                        <a:t>12.4</a:t>
                      </a:r>
                      <a:endParaRPr lang="LID4096" dirty="0"/>
                    </a:p>
                  </a:txBody>
                  <a:tcPr/>
                </a:tc>
                <a:tc>
                  <a:txBody>
                    <a:bodyPr/>
                    <a:lstStyle/>
                    <a:p>
                      <a:r>
                        <a:rPr lang="en-US" dirty="0"/>
                        <a:t>170</a:t>
                      </a:r>
                      <a:endParaRPr lang="LID4096" dirty="0"/>
                    </a:p>
                  </a:txBody>
                  <a:tcPr/>
                </a:tc>
                <a:tc>
                  <a:txBody>
                    <a:bodyPr/>
                    <a:lstStyle/>
                    <a:p>
                      <a:r>
                        <a:rPr lang="en-US" dirty="0"/>
                        <a:t>14000</a:t>
                      </a:r>
                      <a:endParaRPr lang="LID4096" dirty="0"/>
                    </a:p>
                  </a:txBody>
                  <a:tcPr/>
                </a:tc>
                <a:extLst>
                  <a:ext uri="{0D108BD9-81ED-4DB2-BD59-A6C34878D82A}">
                    <a16:rowId xmlns:a16="http://schemas.microsoft.com/office/drawing/2014/main" val="1448724253"/>
                  </a:ext>
                </a:extLst>
              </a:tr>
              <a:tr h="370840">
                <a:tc>
                  <a:txBody>
                    <a:bodyPr/>
                    <a:lstStyle/>
                    <a:p>
                      <a:r>
                        <a:rPr lang="en-US" dirty="0"/>
                        <a:t>1911</a:t>
                      </a:r>
                      <a:endParaRPr lang="LID4096" dirty="0"/>
                    </a:p>
                  </a:txBody>
                  <a:tcPr/>
                </a:tc>
                <a:tc>
                  <a:txBody>
                    <a:bodyPr/>
                    <a:lstStyle/>
                    <a:p>
                      <a:r>
                        <a:rPr lang="en-US" dirty="0"/>
                        <a:t>Maserati</a:t>
                      </a:r>
                      <a:endParaRPr lang="LID4096" dirty="0"/>
                    </a:p>
                  </a:txBody>
                  <a:tcPr/>
                </a:tc>
                <a:tc>
                  <a:txBody>
                    <a:bodyPr/>
                    <a:lstStyle/>
                    <a:p>
                      <a:r>
                        <a:rPr lang="en-US" dirty="0"/>
                        <a:t>GT</a:t>
                      </a:r>
                      <a:endParaRPr lang="LID4096" dirty="0"/>
                    </a:p>
                  </a:txBody>
                  <a:tcPr/>
                </a:tc>
                <a:tc>
                  <a:txBody>
                    <a:bodyPr/>
                    <a:lstStyle/>
                    <a:p>
                      <a:r>
                        <a:rPr lang="en-US" dirty="0"/>
                        <a:t>2</a:t>
                      </a:r>
                      <a:endParaRPr lang="LID4096" dirty="0"/>
                    </a:p>
                  </a:txBody>
                  <a:tcPr/>
                </a:tc>
                <a:tc>
                  <a:txBody>
                    <a:bodyPr/>
                    <a:lstStyle/>
                    <a:p>
                      <a:r>
                        <a:rPr lang="en-US" dirty="0"/>
                        <a:t>4.8</a:t>
                      </a:r>
                      <a:endParaRPr lang="LID4096" dirty="0"/>
                    </a:p>
                  </a:txBody>
                  <a:tcPr/>
                </a:tc>
                <a:tc>
                  <a:txBody>
                    <a:bodyPr/>
                    <a:lstStyle/>
                    <a:p>
                      <a:r>
                        <a:rPr lang="en-US" dirty="0"/>
                        <a:t>288</a:t>
                      </a:r>
                      <a:endParaRPr lang="LID4096" dirty="0"/>
                    </a:p>
                  </a:txBody>
                  <a:tcPr/>
                </a:tc>
                <a:tc>
                  <a:txBody>
                    <a:bodyPr/>
                    <a:lstStyle/>
                    <a:p>
                      <a:r>
                        <a:rPr lang="en-US" dirty="0"/>
                        <a:t>105000</a:t>
                      </a:r>
                      <a:endParaRPr lang="LID4096" dirty="0"/>
                    </a:p>
                  </a:txBody>
                  <a:tcPr/>
                </a:tc>
                <a:extLst>
                  <a:ext uri="{0D108BD9-81ED-4DB2-BD59-A6C34878D82A}">
                    <a16:rowId xmlns:a16="http://schemas.microsoft.com/office/drawing/2014/main" val="3282420294"/>
                  </a:ext>
                </a:extLst>
              </a:tr>
              <a:tr h="370840">
                <a:tc>
                  <a:txBody>
                    <a:bodyPr/>
                    <a:lstStyle/>
                    <a:p>
                      <a:r>
                        <a:rPr lang="en-US" dirty="0"/>
                        <a:t>2051</a:t>
                      </a:r>
                      <a:endParaRPr lang="LID4096" dirty="0"/>
                    </a:p>
                  </a:txBody>
                  <a:tcPr/>
                </a:tc>
                <a:tc>
                  <a:txBody>
                    <a:bodyPr/>
                    <a:lstStyle/>
                    <a:p>
                      <a:r>
                        <a:rPr lang="en-US" dirty="0"/>
                        <a:t>Lexus</a:t>
                      </a:r>
                      <a:endParaRPr lang="LID4096" dirty="0"/>
                    </a:p>
                  </a:txBody>
                  <a:tcPr/>
                </a:tc>
                <a:tc>
                  <a:txBody>
                    <a:bodyPr/>
                    <a:lstStyle/>
                    <a:p>
                      <a:r>
                        <a:rPr lang="en-US" dirty="0"/>
                        <a:t>GS</a:t>
                      </a:r>
                      <a:endParaRPr lang="LID4096" dirty="0"/>
                    </a:p>
                  </a:txBody>
                  <a:tcPr/>
                </a:tc>
                <a:tc>
                  <a:txBody>
                    <a:bodyPr/>
                    <a:lstStyle/>
                    <a:p>
                      <a:r>
                        <a:rPr lang="en-US" dirty="0"/>
                        <a:t>4</a:t>
                      </a:r>
                      <a:endParaRPr lang="LID4096" dirty="0"/>
                    </a:p>
                  </a:txBody>
                  <a:tcPr/>
                </a:tc>
                <a:tc>
                  <a:txBody>
                    <a:bodyPr/>
                    <a:lstStyle/>
                    <a:p>
                      <a:r>
                        <a:rPr lang="en-US" dirty="0"/>
                        <a:t>6.3</a:t>
                      </a:r>
                      <a:endParaRPr lang="LID4096" dirty="0"/>
                    </a:p>
                  </a:txBody>
                  <a:tcPr/>
                </a:tc>
                <a:tc>
                  <a:txBody>
                    <a:bodyPr/>
                    <a:lstStyle/>
                    <a:p>
                      <a:r>
                        <a:rPr lang="en-US" dirty="0"/>
                        <a:t>250</a:t>
                      </a:r>
                      <a:endParaRPr lang="LID4096" dirty="0"/>
                    </a:p>
                  </a:txBody>
                  <a:tcPr/>
                </a:tc>
                <a:tc>
                  <a:txBody>
                    <a:bodyPr/>
                    <a:lstStyle/>
                    <a:p>
                      <a:r>
                        <a:rPr lang="en-US" dirty="0"/>
                        <a:t>95000</a:t>
                      </a:r>
                      <a:endParaRPr lang="LID4096" dirty="0"/>
                    </a:p>
                  </a:txBody>
                  <a:tcPr/>
                </a:tc>
                <a:extLst>
                  <a:ext uri="{0D108BD9-81ED-4DB2-BD59-A6C34878D82A}">
                    <a16:rowId xmlns:a16="http://schemas.microsoft.com/office/drawing/2014/main" val="687245776"/>
                  </a:ext>
                </a:extLst>
              </a:tr>
              <a:tr h="370840">
                <a:tc>
                  <a:txBody>
                    <a:bodyPr/>
                    <a:lstStyle/>
                    <a:p>
                      <a:r>
                        <a:rPr lang="en-US" dirty="0"/>
                        <a:t>2081</a:t>
                      </a:r>
                      <a:endParaRPr lang="LID4096" dirty="0"/>
                    </a:p>
                  </a:txBody>
                  <a:tcPr/>
                </a:tc>
                <a:tc>
                  <a:txBody>
                    <a:bodyPr/>
                    <a:lstStyle/>
                    <a:p>
                      <a:r>
                        <a:rPr lang="en-US" dirty="0"/>
                        <a:t>Renault </a:t>
                      </a:r>
                      <a:endParaRPr lang="LID4096" dirty="0"/>
                    </a:p>
                  </a:txBody>
                  <a:tcPr/>
                </a:tc>
                <a:tc>
                  <a:txBody>
                    <a:bodyPr/>
                    <a:lstStyle/>
                    <a:p>
                      <a:r>
                        <a:rPr lang="en-US" dirty="0"/>
                        <a:t>Laguna</a:t>
                      </a:r>
                      <a:endParaRPr lang="LID4096" dirty="0"/>
                    </a:p>
                  </a:txBody>
                  <a:tcPr/>
                </a:tc>
                <a:tc>
                  <a:txBody>
                    <a:bodyPr/>
                    <a:lstStyle/>
                    <a:p>
                      <a:r>
                        <a:rPr lang="en-US" dirty="0"/>
                        <a:t>5</a:t>
                      </a:r>
                      <a:endParaRPr lang="LID4096" dirty="0"/>
                    </a:p>
                  </a:txBody>
                  <a:tcPr/>
                </a:tc>
                <a:tc>
                  <a:txBody>
                    <a:bodyPr/>
                    <a:lstStyle/>
                    <a:p>
                      <a:r>
                        <a:rPr lang="en-US" dirty="0"/>
                        <a:t>8.4</a:t>
                      </a:r>
                      <a:endParaRPr lang="LID4096" dirty="0"/>
                    </a:p>
                  </a:txBody>
                  <a:tcPr/>
                </a:tc>
                <a:tc>
                  <a:txBody>
                    <a:bodyPr/>
                    <a:lstStyle/>
                    <a:p>
                      <a:r>
                        <a:rPr lang="en-US" dirty="0"/>
                        <a:t>220</a:t>
                      </a:r>
                      <a:endParaRPr lang="LID4096" dirty="0"/>
                    </a:p>
                  </a:txBody>
                  <a:tcPr/>
                </a:tc>
                <a:tc>
                  <a:txBody>
                    <a:bodyPr/>
                    <a:lstStyle/>
                    <a:p>
                      <a:r>
                        <a:rPr lang="en-US" dirty="0"/>
                        <a:t>25000</a:t>
                      </a:r>
                      <a:endParaRPr lang="LID4096" dirty="0"/>
                    </a:p>
                  </a:txBody>
                  <a:tcPr/>
                </a:tc>
                <a:extLst>
                  <a:ext uri="{0D108BD9-81ED-4DB2-BD59-A6C34878D82A}">
                    <a16:rowId xmlns:a16="http://schemas.microsoft.com/office/drawing/2014/main" val="2172181858"/>
                  </a:ext>
                </a:extLst>
              </a:tr>
              <a:tr h="370840">
                <a:tc>
                  <a:txBody>
                    <a:bodyPr/>
                    <a:lstStyle/>
                    <a:p>
                      <a:r>
                        <a:rPr lang="en-US" dirty="0"/>
                        <a:t>2516</a:t>
                      </a:r>
                      <a:endParaRPr lang="LID4096" dirty="0"/>
                    </a:p>
                  </a:txBody>
                  <a:tcPr/>
                </a:tc>
                <a:tc>
                  <a:txBody>
                    <a:bodyPr/>
                    <a:lstStyle/>
                    <a:p>
                      <a:r>
                        <a:rPr lang="en-US" dirty="0"/>
                        <a:t>Porsche</a:t>
                      </a:r>
                      <a:endParaRPr lang="LID4096" dirty="0"/>
                    </a:p>
                  </a:txBody>
                  <a:tcPr/>
                </a:tc>
                <a:tc>
                  <a:txBody>
                    <a:bodyPr/>
                    <a:lstStyle/>
                    <a:p>
                      <a:r>
                        <a:rPr lang="en-US" dirty="0"/>
                        <a:t>Cayenne</a:t>
                      </a:r>
                      <a:endParaRPr lang="LID4096" dirty="0"/>
                    </a:p>
                  </a:txBody>
                  <a:tcPr/>
                </a:tc>
                <a:tc>
                  <a:txBody>
                    <a:bodyPr/>
                    <a:lstStyle/>
                    <a:p>
                      <a:r>
                        <a:rPr lang="en-US" dirty="0"/>
                        <a:t>5</a:t>
                      </a:r>
                      <a:endParaRPr lang="LID4096" dirty="0"/>
                    </a:p>
                  </a:txBody>
                  <a:tcPr/>
                </a:tc>
                <a:tc>
                  <a:txBody>
                    <a:bodyPr/>
                    <a:lstStyle/>
                    <a:p>
                      <a:r>
                        <a:rPr lang="en-US" dirty="0"/>
                        <a:t>5.6</a:t>
                      </a:r>
                      <a:endParaRPr lang="LID4096" dirty="0"/>
                    </a:p>
                  </a:txBody>
                  <a:tcPr/>
                </a:tc>
                <a:tc>
                  <a:txBody>
                    <a:bodyPr/>
                    <a:lstStyle/>
                    <a:p>
                      <a:r>
                        <a:rPr lang="en-US" dirty="0"/>
                        <a:t>260</a:t>
                      </a:r>
                      <a:endParaRPr lang="LID4096" dirty="0"/>
                    </a:p>
                  </a:txBody>
                  <a:tcPr/>
                </a:tc>
                <a:tc>
                  <a:txBody>
                    <a:bodyPr/>
                    <a:lstStyle/>
                    <a:p>
                      <a:r>
                        <a:rPr lang="en-US" dirty="0"/>
                        <a:t>13000</a:t>
                      </a:r>
                      <a:endParaRPr lang="LID4096" dirty="0"/>
                    </a:p>
                  </a:txBody>
                  <a:tcPr/>
                </a:tc>
                <a:extLst>
                  <a:ext uri="{0D108BD9-81ED-4DB2-BD59-A6C34878D82A}">
                    <a16:rowId xmlns:a16="http://schemas.microsoft.com/office/drawing/2014/main" val="2858704049"/>
                  </a:ext>
                </a:extLst>
              </a:tr>
              <a:tr h="370840">
                <a:tc>
                  <a:txBody>
                    <a:bodyPr/>
                    <a:lstStyle/>
                    <a:p>
                      <a:r>
                        <a:rPr lang="en-US" dirty="0"/>
                        <a:t>3331</a:t>
                      </a:r>
                      <a:endParaRPr lang="LID4096" dirty="0"/>
                    </a:p>
                  </a:txBody>
                  <a:tcPr/>
                </a:tc>
                <a:tc>
                  <a:txBody>
                    <a:bodyPr/>
                    <a:lstStyle/>
                    <a:p>
                      <a:r>
                        <a:rPr lang="en-US" dirty="0"/>
                        <a:t>VW</a:t>
                      </a:r>
                      <a:endParaRPr lang="LID4096" dirty="0"/>
                    </a:p>
                  </a:txBody>
                  <a:tcPr/>
                </a:tc>
                <a:tc>
                  <a:txBody>
                    <a:bodyPr/>
                    <a:lstStyle/>
                    <a:p>
                      <a:r>
                        <a:rPr lang="en-US" dirty="0"/>
                        <a:t>Golf</a:t>
                      </a:r>
                      <a:endParaRPr lang="LID4096" dirty="0"/>
                    </a:p>
                  </a:txBody>
                  <a:tcPr/>
                </a:tc>
                <a:tc>
                  <a:txBody>
                    <a:bodyPr/>
                    <a:lstStyle/>
                    <a:p>
                      <a:r>
                        <a:rPr lang="en-US" dirty="0"/>
                        <a:t>3</a:t>
                      </a:r>
                      <a:endParaRPr lang="LID4096" dirty="0"/>
                    </a:p>
                  </a:txBody>
                  <a:tcPr/>
                </a:tc>
                <a:tc>
                  <a:txBody>
                    <a:bodyPr/>
                    <a:lstStyle/>
                    <a:p>
                      <a:r>
                        <a:rPr lang="en-US" dirty="0"/>
                        <a:t>9.3</a:t>
                      </a:r>
                      <a:endParaRPr lang="LID4096" dirty="0"/>
                    </a:p>
                  </a:txBody>
                  <a:tcPr/>
                </a:tc>
                <a:tc>
                  <a:txBody>
                    <a:bodyPr/>
                    <a:lstStyle/>
                    <a:p>
                      <a:r>
                        <a:rPr lang="en-US" dirty="0"/>
                        <a:t>200</a:t>
                      </a:r>
                      <a:endParaRPr lang="LID4096" dirty="0"/>
                    </a:p>
                  </a:txBody>
                  <a:tcPr/>
                </a:tc>
                <a:tc>
                  <a:txBody>
                    <a:bodyPr/>
                    <a:lstStyle/>
                    <a:p>
                      <a:r>
                        <a:rPr lang="en-US" dirty="0"/>
                        <a:t>27500</a:t>
                      </a:r>
                      <a:endParaRPr lang="LID4096" dirty="0"/>
                    </a:p>
                  </a:txBody>
                  <a:tcPr/>
                </a:tc>
                <a:extLst>
                  <a:ext uri="{0D108BD9-81ED-4DB2-BD59-A6C34878D82A}">
                    <a16:rowId xmlns:a16="http://schemas.microsoft.com/office/drawing/2014/main" val="1590439944"/>
                  </a:ext>
                </a:extLst>
              </a:tr>
              <a:tr h="370840">
                <a:tc>
                  <a:txBody>
                    <a:bodyPr/>
                    <a:lstStyle/>
                    <a:p>
                      <a:r>
                        <a:rPr lang="en-US" dirty="0"/>
                        <a:t>3456</a:t>
                      </a:r>
                      <a:endParaRPr lang="LID4096" dirty="0"/>
                    </a:p>
                  </a:txBody>
                  <a:tcPr/>
                </a:tc>
                <a:tc>
                  <a:txBody>
                    <a:bodyPr/>
                    <a:lstStyle/>
                    <a:p>
                      <a:r>
                        <a:rPr lang="en-US" dirty="0"/>
                        <a:t>Lotus</a:t>
                      </a:r>
                      <a:endParaRPr lang="LID4096" dirty="0"/>
                    </a:p>
                  </a:txBody>
                  <a:tcPr/>
                </a:tc>
                <a:tc>
                  <a:txBody>
                    <a:bodyPr/>
                    <a:lstStyle/>
                    <a:p>
                      <a:r>
                        <a:rPr lang="en-US" dirty="0"/>
                        <a:t>Elise</a:t>
                      </a:r>
                      <a:endParaRPr lang="LID4096" dirty="0"/>
                    </a:p>
                  </a:txBody>
                  <a:tcPr/>
                </a:tc>
                <a:tc>
                  <a:txBody>
                    <a:bodyPr/>
                    <a:lstStyle/>
                    <a:p>
                      <a:r>
                        <a:rPr lang="en-US" dirty="0"/>
                        <a:t>2</a:t>
                      </a:r>
                      <a:endParaRPr lang="LID4096" dirty="0"/>
                    </a:p>
                  </a:txBody>
                  <a:tcPr/>
                </a:tc>
                <a:tc>
                  <a:txBody>
                    <a:bodyPr/>
                    <a:lstStyle/>
                    <a:p>
                      <a:r>
                        <a:rPr lang="en-US" dirty="0"/>
                        <a:t>5.2</a:t>
                      </a:r>
                      <a:endParaRPr lang="LID4096" dirty="0"/>
                    </a:p>
                  </a:txBody>
                  <a:tcPr/>
                </a:tc>
                <a:tc>
                  <a:txBody>
                    <a:bodyPr/>
                    <a:lstStyle/>
                    <a:p>
                      <a:r>
                        <a:rPr lang="en-US" dirty="0"/>
                        <a:t>205</a:t>
                      </a:r>
                      <a:endParaRPr lang="LID4096" dirty="0"/>
                    </a:p>
                  </a:txBody>
                  <a:tcPr/>
                </a:tc>
                <a:tc>
                  <a:txBody>
                    <a:bodyPr/>
                    <a:lstStyle/>
                    <a:p>
                      <a:r>
                        <a:rPr lang="en-US" dirty="0"/>
                        <a:t>42500</a:t>
                      </a:r>
                      <a:endParaRPr lang="LID4096" dirty="0"/>
                    </a:p>
                  </a:txBody>
                  <a:tcPr/>
                </a:tc>
                <a:extLst>
                  <a:ext uri="{0D108BD9-81ED-4DB2-BD59-A6C34878D82A}">
                    <a16:rowId xmlns:a16="http://schemas.microsoft.com/office/drawing/2014/main" val="2740041897"/>
                  </a:ext>
                </a:extLst>
              </a:tr>
            </a:tbl>
          </a:graphicData>
        </a:graphic>
      </p:graphicFrame>
      <p:sp>
        <p:nvSpPr>
          <p:cNvPr id="4" name="Footer Placeholder 3">
            <a:extLst>
              <a:ext uri="{FF2B5EF4-FFF2-40B4-BE49-F238E27FC236}">
                <a16:creationId xmlns:a16="http://schemas.microsoft.com/office/drawing/2014/main" id="{AB0C6BDB-F058-4B8E-BE7E-A2C2E559AB11}"/>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CF23D4EC-7A50-4ECE-AC7C-91BA473C34B1}"/>
              </a:ext>
            </a:extLst>
          </p:cNvPr>
          <p:cNvSpPr>
            <a:spLocks noGrp="1"/>
          </p:cNvSpPr>
          <p:nvPr>
            <p:ph type="sldNum" sz="quarter" idx="12"/>
          </p:nvPr>
        </p:nvSpPr>
        <p:spPr/>
        <p:txBody>
          <a:bodyPr/>
          <a:lstStyle/>
          <a:p>
            <a:fld id="{1D1DA0CA-E6E7-4A00-872A-D06185C48FFB}" type="slidenum">
              <a:rPr lang="LID4096" smtClean="0"/>
              <a:t>30</a:t>
            </a:fld>
            <a:endParaRPr lang="LID4096"/>
          </a:p>
        </p:txBody>
      </p:sp>
    </p:spTree>
    <p:extLst>
      <p:ext uri="{BB962C8B-B14F-4D97-AF65-F5344CB8AC3E}">
        <p14:creationId xmlns:p14="http://schemas.microsoft.com/office/powerpoint/2010/main" val="2368633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1435-9EC8-4467-B515-35B2738DB9BC}"/>
              </a:ext>
            </a:extLst>
          </p:cNvPr>
          <p:cNvSpPr>
            <a:spLocks noGrp="1"/>
          </p:cNvSpPr>
          <p:nvPr>
            <p:ph type="title"/>
          </p:nvPr>
        </p:nvSpPr>
        <p:spPr/>
        <p:txBody>
          <a:bodyPr/>
          <a:lstStyle/>
          <a:p>
            <a:pPr algn="ctr"/>
            <a:r>
              <a:rPr lang="en-US" b="1" dirty="0"/>
              <a:t>QUESTION 2 – Answers </a:t>
            </a:r>
            <a:endParaRPr lang="LID4096" b="1" dirty="0"/>
          </a:p>
        </p:txBody>
      </p:sp>
      <p:sp>
        <p:nvSpPr>
          <p:cNvPr id="3" name="Content Placeholder 2">
            <a:extLst>
              <a:ext uri="{FF2B5EF4-FFF2-40B4-BE49-F238E27FC236}">
                <a16:creationId xmlns:a16="http://schemas.microsoft.com/office/drawing/2014/main" id="{B4408259-E83B-4A0B-905E-927204971C2A}"/>
              </a:ext>
            </a:extLst>
          </p:cNvPr>
          <p:cNvSpPr>
            <a:spLocks noGrp="1"/>
          </p:cNvSpPr>
          <p:nvPr>
            <p:ph idx="1"/>
          </p:nvPr>
        </p:nvSpPr>
        <p:spPr/>
        <p:txBody>
          <a:bodyPr/>
          <a:lstStyle/>
          <a:p>
            <a:pPr>
              <a:buFont typeface="+mj-lt"/>
              <a:buAutoNum type="arabicPeriod"/>
            </a:pPr>
            <a:r>
              <a:rPr lang="en-US" dirty="0"/>
              <a:t>Will first </a:t>
            </a:r>
            <a:r>
              <a:rPr lang="en-US" b="1" dirty="0"/>
              <a:t>CREATE TABLE </a:t>
            </a:r>
            <a:r>
              <a:rPr lang="en-US" dirty="0"/>
              <a:t>cars</a:t>
            </a:r>
          </a:p>
          <a:p>
            <a:pPr marL="0" indent="0">
              <a:buNone/>
            </a:pPr>
            <a:endParaRPr lang="LID4096" dirty="0"/>
          </a:p>
        </p:txBody>
      </p:sp>
      <p:sp>
        <p:nvSpPr>
          <p:cNvPr id="4" name="Footer Placeholder 3">
            <a:extLst>
              <a:ext uri="{FF2B5EF4-FFF2-40B4-BE49-F238E27FC236}">
                <a16:creationId xmlns:a16="http://schemas.microsoft.com/office/drawing/2014/main" id="{8972BCE4-60CA-4E2D-B9D6-6FD2EB0D0F9B}"/>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D63A4FC4-1AFB-4476-9F41-D1922AD8F7DB}"/>
              </a:ext>
            </a:extLst>
          </p:cNvPr>
          <p:cNvSpPr>
            <a:spLocks noGrp="1"/>
          </p:cNvSpPr>
          <p:nvPr>
            <p:ph type="sldNum" sz="quarter" idx="12"/>
          </p:nvPr>
        </p:nvSpPr>
        <p:spPr/>
        <p:txBody>
          <a:bodyPr/>
          <a:lstStyle/>
          <a:p>
            <a:fld id="{1D1DA0CA-E6E7-4A00-872A-D06185C48FFB}" type="slidenum">
              <a:rPr lang="LID4096" smtClean="0"/>
              <a:t>31</a:t>
            </a:fld>
            <a:endParaRPr lang="LID4096"/>
          </a:p>
        </p:txBody>
      </p:sp>
      <p:pic>
        <p:nvPicPr>
          <p:cNvPr id="7" name="Picture 6">
            <a:extLst>
              <a:ext uri="{FF2B5EF4-FFF2-40B4-BE49-F238E27FC236}">
                <a16:creationId xmlns:a16="http://schemas.microsoft.com/office/drawing/2014/main" id="{4D081519-1718-436F-BABE-EAF82F6E8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2930" y="3121008"/>
            <a:ext cx="3470410" cy="2611513"/>
          </a:xfrm>
          <a:prstGeom prst="rect">
            <a:avLst/>
          </a:prstGeom>
        </p:spPr>
      </p:pic>
      <p:pic>
        <p:nvPicPr>
          <p:cNvPr id="9" name="Picture 8">
            <a:extLst>
              <a:ext uri="{FF2B5EF4-FFF2-40B4-BE49-F238E27FC236}">
                <a16:creationId xmlns:a16="http://schemas.microsoft.com/office/drawing/2014/main" id="{51C2C315-D8DF-4C3B-9CD1-93D22D6AB5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151" y="2748970"/>
            <a:ext cx="6515100" cy="1276350"/>
          </a:xfrm>
          <a:prstGeom prst="rect">
            <a:avLst/>
          </a:prstGeom>
        </p:spPr>
      </p:pic>
    </p:spTree>
    <p:extLst>
      <p:ext uri="{BB962C8B-B14F-4D97-AF65-F5344CB8AC3E}">
        <p14:creationId xmlns:p14="http://schemas.microsoft.com/office/powerpoint/2010/main" val="2885352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0445-7181-428C-BD3D-CC77B3BB3824}"/>
              </a:ext>
            </a:extLst>
          </p:cNvPr>
          <p:cNvSpPr>
            <a:spLocks noGrp="1"/>
          </p:cNvSpPr>
          <p:nvPr>
            <p:ph type="title"/>
          </p:nvPr>
        </p:nvSpPr>
        <p:spPr/>
        <p:txBody>
          <a:bodyPr/>
          <a:lstStyle/>
          <a:p>
            <a:pPr algn="ctr"/>
            <a:r>
              <a:rPr lang="en-US" b="1" dirty="0"/>
              <a:t>QUESTION 2 – Answers (Continues…)</a:t>
            </a:r>
            <a:endParaRPr lang="LID4096" dirty="0"/>
          </a:p>
        </p:txBody>
      </p:sp>
      <p:sp>
        <p:nvSpPr>
          <p:cNvPr id="3" name="Content Placeholder 2">
            <a:extLst>
              <a:ext uri="{FF2B5EF4-FFF2-40B4-BE49-F238E27FC236}">
                <a16:creationId xmlns:a16="http://schemas.microsoft.com/office/drawing/2014/main" id="{5CF0B0AA-2642-40E3-B830-493302BE2162}"/>
              </a:ext>
            </a:extLst>
          </p:cNvPr>
          <p:cNvSpPr>
            <a:spLocks noGrp="1"/>
          </p:cNvSpPr>
          <p:nvPr>
            <p:ph idx="1"/>
          </p:nvPr>
        </p:nvSpPr>
        <p:spPr/>
        <p:txBody>
          <a:bodyPr/>
          <a:lstStyle/>
          <a:p>
            <a:pPr>
              <a:buAutoNum type="arabicPeriod" startAt="2"/>
            </a:pPr>
            <a:r>
              <a:rPr lang="en-US" b="1" dirty="0"/>
              <a:t>INSERT INTO cars </a:t>
            </a:r>
            <a:r>
              <a:rPr lang="en-US" dirty="0"/>
              <a:t>the </a:t>
            </a:r>
            <a:r>
              <a:rPr lang="en-US" b="1" dirty="0"/>
              <a:t>VALUES</a:t>
            </a:r>
            <a:r>
              <a:rPr lang="en-US" dirty="0"/>
              <a:t> given in the table</a:t>
            </a:r>
          </a:p>
          <a:p>
            <a:pPr marL="0" indent="0">
              <a:buNone/>
            </a:pPr>
            <a:endParaRPr lang="en-US" dirty="0"/>
          </a:p>
        </p:txBody>
      </p:sp>
      <p:sp>
        <p:nvSpPr>
          <p:cNvPr id="4" name="Footer Placeholder 3">
            <a:extLst>
              <a:ext uri="{FF2B5EF4-FFF2-40B4-BE49-F238E27FC236}">
                <a16:creationId xmlns:a16="http://schemas.microsoft.com/office/drawing/2014/main" id="{E14F9748-0DCC-4C61-9F53-692F70E257C9}"/>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7655B17B-C5D8-4350-8622-E097EA359EE4}"/>
              </a:ext>
            </a:extLst>
          </p:cNvPr>
          <p:cNvSpPr>
            <a:spLocks noGrp="1"/>
          </p:cNvSpPr>
          <p:nvPr>
            <p:ph type="sldNum" sz="quarter" idx="12"/>
          </p:nvPr>
        </p:nvSpPr>
        <p:spPr/>
        <p:txBody>
          <a:bodyPr/>
          <a:lstStyle/>
          <a:p>
            <a:fld id="{1D1DA0CA-E6E7-4A00-872A-D06185C48FFB}" type="slidenum">
              <a:rPr lang="LID4096" smtClean="0"/>
              <a:t>32</a:t>
            </a:fld>
            <a:endParaRPr lang="LID4096"/>
          </a:p>
        </p:txBody>
      </p:sp>
      <p:pic>
        <p:nvPicPr>
          <p:cNvPr id="7" name="Picture 6">
            <a:extLst>
              <a:ext uri="{FF2B5EF4-FFF2-40B4-BE49-F238E27FC236}">
                <a16:creationId xmlns:a16="http://schemas.microsoft.com/office/drawing/2014/main" id="{C6577861-DCE2-468F-8E51-A01A0707C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725" y="3049313"/>
            <a:ext cx="4486275" cy="2295525"/>
          </a:xfrm>
          <a:prstGeom prst="rect">
            <a:avLst/>
          </a:prstGeom>
        </p:spPr>
      </p:pic>
      <p:pic>
        <p:nvPicPr>
          <p:cNvPr id="9" name="Picture 8">
            <a:extLst>
              <a:ext uri="{FF2B5EF4-FFF2-40B4-BE49-F238E27FC236}">
                <a16:creationId xmlns:a16="http://schemas.microsoft.com/office/drawing/2014/main" id="{A09E310F-50B4-4B60-8081-07106FD7A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123" y="2991414"/>
            <a:ext cx="5461262" cy="2991264"/>
          </a:xfrm>
          <a:prstGeom prst="rect">
            <a:avLst/>
          </a:prstGeom>
        </p:spPr>
      </p:pic>
    </p:spTree>
    <p:extLst>
      <p:ext uri="{BB962C8B-B14F-4D97-AF65-F5344CB8AC3E}">
        <p14:creationId xmlns:p14="http://schemas.microsoft.com/office/powerpoint/2010/main" val="727756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DDB1-EFCF-421D-851D-B9E6BA1DB4FF}"/>
              </a:ext>
            </a:extLst>
          </p:cNvPr>
          <p:cNvSpPr>
            <a:spLocks noGrp="1"/>
          </p:cNvSpPr>
          <p:nvPr>
            <p:ph type="title"/>
          </p:nvPr>
        </p:nvSpPr>
        <p:spPr/>
        <p:txBody>
          <a:bodyPr/>
          <a:lstStyle/>
          <a:p>
            <a:pPr algn="ctr"/>
            <a:r>
              <a:rPr lang="en-US" b="1" dirty="0"/>
              <a:t>QUESTION 2 (Continues…)</a:t>
            </a:r>
            <a:endParaRPr lang="LID4096" dirty="0"/>
          </a:p>
        </p:txBody>
      </p:sp>
      <p:sp>
        <p:nvSpPr>
          <p:cNvPr id="3" name="Content Placeholder 2">
            <a:extLst>
              <a:ext uri="{FF2B5EF4-FFF2-40B4-BE49-F238E27FC236}">
                <a16:creationId xmlns:a16="http://schemas.microsoft.com/office/drawing/2014/main" id="{EB69E020-2730-495D-B896-3E1CFE13764F}"/>
              </a:ext>
            </a:extLst>
          </p:cNvPr>
          <p:cNvSpPr>
            <a:spLocks noGrp="1"/>
          </p:cNvSpPr>
          <p:nvPr>
            <p:ph idx="1"/>
          </p:nvPr>
        </p:nvSpPr>
        <p:spPr/>
        <p:txBody>
          <a:bodyPr/>
          <a:lstStyle/>
          <a:p>
            <a:pPr>
              <a:buFont typeface="+mj-lt"/>
              <a:buAutoNum type="alphaLcParenR"/>
            </a:pPr>
            <a:r>
              <a:rPr lang="en-US" dirty="0"/>
              <a:t>How many records are shown in the section of the database above?</a:t>
            </a:r>
          </a:p>
          <a:p>
            <a:pPr>
              <a:buFont typeface="+mj-lt"/>
              <a:buAutoNum type="alphaLcParenR"/>
            </a:pPr>
            <a:r>
              <a:rPr lang="en-US" dirty="0"/>
              <a:t>How many fields are shown in the section part of this database?</a:t>
            </a:r>
          </a:p>
          <a:p>
            <a:pPr>
              <a:buFont typeface="+mj-lt"/>
              <a:buAutoNum type="alphaLcParenR"/>
            </a:pPr>
            <a:r>
              <a:rPr lang="en-US" dirty="0"/>
              <a:t>If the following query was input</a:t>
            </a:r>
          </a:p>
          <a:p>
            <a:pPr marL="0" indent="0">
              <a:buNone/>
            </a:pPr>
            <a:r>
              <a:rPr lang="en-US" dirty="0"/>
              <a:t>     (Top Speed (kph) &gt; 250 OR (Doors = 2)</a:t>
            </a:r>
          </a:p>
          <a:p>
            <a:pPr marL="0" indent="0">
              <a:buNone/>
            </a:pPr>
            <a:r>
              <a:rPr lang="en-US" dirty="0"/>
              <a:t>      Using Ref No. only, which items would be outputs?</a:t>
            </a:r>
          </a:p>
          <a:p>
            <a:pPr>
              <a:buAutoNum type="alphaLcParenR" startAt="4"/>
            </a:pPr>
            <a:r>
              <a:rPr lang="en-US" dirty="0"/>
              <a:t>Write down a query which outputs cars  which costs more than K60000 and have a 0 – 100 kph time (sec) of less than 7.0</a:t>
            </a:r>
          </a:p>
        </p:txBody>
      </p:sp>
      <p:sp>
        <p:nvSpPr>
          <p:cNvPr id="4" name="Footer Placeholder 3">
            <a:extLst>
              <a:ext uri="{FF2B5EF4-FFF2-40B4-BE49-F238E27FC236}">
                <a16:creationId xmlns:a16="http://schemas.microsoft.com/office/drawing/2014/main" id="{B08170E0-39F1-4264-8FE6-99DE22D65C8D}"/>
              </a:ext>
            </a:extLst>
          </p:cNvPr>
          <p:cNvSpPr>
            <a:spLocks noGrp="1"/>
          </p:cNvSpPr>
          <p:nvPr>
            <p:ph type="ftr" sz="quarter" idx="11"/>
          </p:nvPr>
        </p:nvSpPr>
        <p:spPr/>
        <p:txBody>
          <a:bodyPr/>
          <a:lstStyle/>
          <a:p>
            <a:r>
              <a:rPr lang="en-GB" dirty="0"/>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73C38DCD-9C9B-42D6-87F0-F319250D884B}"/>
              </a:ext>
            </a:extLst>
          </p:cNvPr>
          <p:cNvSpPr>
            <a:spLocks noGrp="1"/>
          </p:cNvSpPr>
          <p:nvPr>
            <p:ph type="sldNum" sz="quarter" idx="12"/>
          </p:nvPr>
        </p:nvSpPr>
        <p:spPr/>
        <p:txBody>
          <a:bodyPr/>
          <a:lstStyle/>
          <a:p>
            <a:fld id="{1D1DA0CA-E6E7-4A00-872A-D06185C48FFB}" type="slidenum">
              <a:rPr lang="LID4096" smtClean="0"/>
              <a:t>33</a:t>
            </a:fld>
            <a:endParaRPr lang="LID4096"/>
          </a:p>
        </p:txBody>
      </p:sp>
    </p:spTree>
    <p:extLst>
      <p:ext uri="{BB962C8B-B14F-4D97-AF65-F5344CB8AC3E}">
        <p14:creationId xmlns:p14="http://schemas.microsoft.com/office/powerpoint/2010/main" val="144824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A39972-82DE-4F9B-94CF-398BAC2B76B2}"/>
              </a:ext>
            </a:extLst>
          </p:cNvPr>
          <p:cNvSpPr>
            <a:spLocks noGrp="1"/>
          </p:cNvSpPr>
          <p:nvPr>
            <p:ph type="title"/>
          </p:nvPr>
        </p:nvSpPr>
        <p:spPr/>
        <p:txBody>
          <a:bodyPr/>
          <a:lstStyle/>
          <a:p>
            <a:pPr algn="ctr"/>
            <a:r>
              <a:rPr lang="en-US" b="1" dirty="0"/>
              <a:t>QUESTION 2 – Answers (Continues…)</a:t>
            </a:r>
            <a:endParaRPr lang="LID4096" dirty="0"/>
          </a:p>
        </p:txBody>
      </p:sp>
      <p:sp>
        <p:nvSpPr>
          <p:cNvPr id="3" name="Content Placeholder 2">
            <a:extLst>
              <a:ext uri="{FF2B5EF4-FFF2-40B4-BE49-F238E27FC236}">
                <a16:creationId xmlns:a16="http://schemas.microsoft.com/office/drawing/2014/main" id="{9DB92798-AABD-4835-B014-AF276BA4ABB8}"/>
              </a:ext>
            </a:extLst>
          </p:cNvPr>
          <p:cNvSpPr>
            <a:spLocks noGrp="1"/>
          </p:cNvSpPr>
          <p:nvPr>
            <p:ph sz="half" idx="1"/>
          </p:nvPr>
        </p:nvSpPr>
        <p:spPr/>
        <p:txBody>
          <a:bodyPr/>
          <a:lstStyle/>
          <a:p>
            <a:pPr>
              <a:buAutoNum type="alphaLcParenR" startAt="3"/>
            </a:pPr>
            <a:r>
              <a:rPr lang="en-US" dirty="0"/>
              <a:t>Hence the answer is:</a:t>
            </a:r>
          </a:p>
          <a:p>
            <a:pPr marL="400050" indent="-400050">
              <a:buFont typeface="+mj-lt"/>
              <a:buAutoNum type="romanLcPeriod"/>
            </a:pPr>
            <a:r>
              <a:rPr lang="en-US" dirty="0"/>
              <a:t>1023</a:t>
            </a:r>
          </a:p>
          <a:p>
            <a:pPr marL="400050" indent="-400050">
              <a:buFont typeface="+mj-lt"/>
              <a:buAutoNum type="romanLcPeriod"/>
            </a:pPr>
            <a:r>
              <a:rPr lang="en-US" dirty="0"/>
              <a:t>1911</a:t>
            </a:r>
          </a:p>
          <a:p>
            <a:pPr marL="400050" indent="-400050">
              <a:buFont typeface="+mj-lt"/>
              <a:buAutoNum type="romanLcPeriod"/>
            </a:pPr>
            <a:r>
              <a:rPr lang="en-US" dirty="0"/>
              <a:t>2516</a:t>
            </a:r>
          </a:p>
          <a:p>
            <a:pPr marL="400050" indent="-400050">
              <a:buFont typeface="+mj-lt"/>
              <a:buAutoNum type="romanLcPeriod"/>
            </a:pPr>
            <a:r>
              <a:rPr lang="en-US" dirty="0"/>
              <a:t>3456</a:t>
            </a:r>
          </a:p>
          <a:p>
            <a:pPr marL="0" indent="0">
              <a:buNone/>
            </a:pPr>
            <a:endParaRPr lang="en-US" dirty="0"/>
          </a:p>
        </p:txBody>
      </p:sp>
      <p:sp>
        <p:nvSpPr>
          <p:cNvPr id="9" name="Content Placeholder 8">
            <a:extLst>
              <a:ext uri="{FF2B5EF4-FFF2-40B4-BE49-F238E27FC236}">
                <a16:creationId xmlns:a16="http://schemas.microsoft.com/office/drawing/2014/main" id="{26DA73BD-8BCD-4207-95F7-6FA73F722E9A}"/>
              </a:ext>
            </a:extLst>
          </p:cNvPr>
          <p:cNvSpPr>
            <a:spLocks noGrp="1"/>
          </p:cNvSpPr>
          <p:nvPr>
            <p:ph sz="half" idx="2"/>
          </p:nvPr>
        </p:nvSpPr>
        <p:spPr/>
        <p:txBody>
          <a:bodyPr/>
          <a:lstStyle/>
          <a:p>
            <a:endParaRPr lang="LID4096"/>
          </a:p>
        </p:txBody>
      </p:sp>
      <p:sp>
        <p:nvSpPr>
          <p:cNvPr id="4" name="Footer Placeholder 3">
            <a:extLst>
              <a:ext uri="{FF2B5EF4-FFF2-40B4-BE49-F238E27FC236}">
                <a16:creationId xmlns:a16="http://schemas.microsoft.com/office/drawing/2014/main" id="{9A8F4A45-9571-4645-BFC6-DA9C7D1FA8E1}"/>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5" name="Slide Number Placeholder 4">
            <a:extLst>
              <a:ext uri="{FF2B5EF4-FFF2-40B4-BE49-F238E27FC236}">
                <a16:creationId xmlns:a16="http://schemas.microsoft.com/office/drawing/2014/main" id="{D9C3883C-1E71-4829-80C9-F6CF948CD46C}"/>
              </a:ext>
            </a:extLst>
          </p:cNvPr>
          <p:cNvSpPr>
            <a:spLocks noGrp="1"/>
          </p:cNvSpPr>
          <p:nvPr>
            <p:ph type="sldNum" sz="quarter" idx="12"/>
          </p:nvPr>
        </p:nvSpPr>
        <p:spPr/>
        <p:txBody>
          <a:bodyPr/>
          <a:lstStyle/>
          <a:p>
            <a:fld id="{1D1DA0CA-E6E7-4A00-872A-D06185C48FFB}" type="slidenum">
              <a:rPr lang="LID4096" smtClean="0"/>
              <a:t>34</a:t>
            </a:fld>
            <a:endParaRPr lang="LID4096"/>
          </a:p>
        </p:txBody>
      </p:sp>
      <p:pic>
        <p:nvPicPr>
          <p:cNvPr id="7" name="Picture 6">
            <a:extLst>
              <a:ext uri="{FF2B5EF4-FFF2-40B4-BE49-F238E27FC236}">
                <a16:creationId xmlns:a16="http://schemas.microsoft.com/office/drawing/2014/main" id="{A3941E7A-4113-4625-8A0A-E4B2770CF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9714" y="2344737"/>
            <a:ext cx="6457950" cy="3933825"/>
          </a:xfrm>
          <a:prstGeom prst="rect">
            <a:avLst/>
          </a:prstGeom>
        </p:spPr>
      </p:pic>
    </p:spTree>
    <p:extLst>
      <p:ext uri="{BB962C8B-B14F-4D97-AF65-F5344CB8AC3E}">
        <p14:creationId xmlns:p14="http://schemas.microsoft.com/office/powerpoint/2010/main" val="405005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A292E7A-3B0A-4C0C-8617-F8871E5AA48B}"/>
              </a:ext>
            </a:extLst>
          </p:cNvPr>
          <p:cNvSpPr>
            <a:spLocks noGrp="1"/>
          </p:cNvSpPr>
          <p:nvPr>
            <p:ph type="title"/>
          </p:nvPr>
        </p:nvSpPr>
        <p:spPr/>
        <p:txBody>
          <a:bodyPr/>
          <a:lstStyle/>
          <a:p>
            <a:pPr algn="ctr"/>
            <a:r>
              <a:rPr lang="en-US" b="1" dirty="0"/>
              <a:t>QUESTION 2 – Answers (Continues…)</a:t>
            </a:r>
            <a:endParaRPr lang="LID4096" dirty="0"/>
          </a:p>
        </p:txBody>
      </p:sp>
      <p:sp>
        <p:nvSpPr>
          <p:cNvPr id="3" name="Content Placeholder 2">
            <a:extLst>
              <a:ext uri="{FF2B5EF4-FFF2-40B4-BE49-F238E27FC236}">
                <a16:creationId xmlns:a16="http://schemas.microsoft.com/office/drawing/2014/main" id="{D13B5B07-B7F3-4F9F-8C80-4300D00AECC9}"/>
              </a:ext>
            </a:extLst>
          </p:cNvPr>
          <p:cNvSpPr>
            <a:spLocks noGrp="1"/>
          </p:cNvSpPr>
          <p:nvPr>
            <p:ph idx="1"/>
          </p:nvPr>
        </p:nvSpPr>
        <p:spPr/>
        <p:txBody>
          <a:bodyPr/>
          <a:lstStyle/>
          <a:p>
            <a:pPr>
              <a:buAutoNum type="alphaLcParenR" startAt="4"/>
            </a:pPr>
            <a:r>
              <a:rPr lang="en-US" dirty="0"/>
              <a:t>The query is</a:t>
            </a:r>
          </a:p>
          <a:p>
            <a:pPr marL="0" indent="0">
              <a:buNone/>
            </a:pPr>
            <a:endParaRPr lang="en-US" dirty="0"/>
          </a:p>
        </p:txBody>
      </p:sp>
      <p:sp>
        <p:nvSpPr>
          <p:cNvPr id="5" name="Footer Placeholder 4">
            <a:extLst>
              <a:ext uri="{FF2B5EF4-FFF2-40B4-BE49-F238E27FC236}">
                <a16:creationId xmlns:a16="http://schemas.microsoft.com/office/drawing/2014/main" id="{3018E224-CD28-4082-8E1E-E862087F1885}"/>
              </a:ext>
            </a:extLst>
          </p:cNvPr>
          <p:cNvSpPr>
            <a:spLocks noGrp="1"/>
          </p:cNvSpPr>
          <p:nvPr>
            <p:ph type="ftr" sz="quarter" idx="11"/>
          </p:nvPr>
        </p:nvSpPr>
        <p:spPr/>
        <p:txBody>
          <a:bodyPr/>
          <a:lstStyle/>
          <a:p>
            <a:r>
              <a:rPr lang="en-GB"/>
              <a:t>Prepared by James Soko for Mr. Paul M. Mutunda © Kapasa Makasa University</a:t>
            </a:r>
            <a:endParaRPr lang="LID4096" dirty="0"/>
          </a:p>
        </p:txBody>
      </p:sp>
      <p:sp>
        <p:nvSpPr>
          <p:cNvPr id="6" name="Slide Number Placeholder 5">
            <a:extLst>
              <a:ext uri="{FF2B5EF4-FFF2-40B4-BE49-F238E27FC236}">
                <a16:creationId xmlns:a16="http://schemas.microsoft.com/office/drawing/2014/main" id="{3FDD79CC-C241-41B0-A129-7A9722DA55A0}"/>
              </a:ext>
            </a:extLst>
          </p:cNvPr>
          <p:cNvSpPr>
            <a:spLocks noGrp="1"/>
          </p:cNvSpPr>
          <p:nvPr>
            <p:ph type="sldNum" sz="quarter" idx="12"/>
          </p:nvPr>
        </p:nvSpPr>
        <p:spPr/>
        <p:txBody>
          <a:bodyPr/>
          <a:lstStyle/>
          <a:p>
            <a:fld id="{1D1DA0CA-E6E7-4A00-872A-D06185C48FFB}" type="slidenum">
              <a:rPr lang="LID4096" smtClean="0"/>
              <a:t>35</a:t>
            </a:fld>
            <a:endParaRPr lang="LID4096"/>
          </a:p>
        </p:txBody>
      </p:sp>
      <p:pic>
        <p:nvPicPr>
          <p:cNvPr id="10" name="Picture 9">
            <a:extLst>
              <a:ext uri="{FF2B5EF4-FFF2-40B4-BE49-F238E27FC236}">
                <a16:creationId xmlns:a16="http://schemas.microsoft.com/office/drawing/2014/main" id="{22D4B072-7176-459A-9EBB-87B02FC3D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5469" y="2563812"/>
            <a:ext cx="6840898" cy="3758398"/>
          </a:xfrm>
          <a:prstGeom prst="rect">
            <a:avLst/>
          </a:prstGeom>
        </p:spPr>
      </p:pic>
    </p:spTree>
    <p:extLst>
      <p:ext uri="{BB962C8B-B14F-4D97-AF65-F5344CB8AC3E}">
        <p14:creationId xmlns:p14="http://schemas.microsoft.com/office/powerpoint/2010/main" val="133210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2858</TotalTime>
  <Words>2242</Words>
  <Application>Microsoft Office PowerPoint</Application>
  <PresentationFormat>Widescreen</PresentationFormat>
  <Paragraphs>484</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Century Gothic</vt:lpstr>
      <vt:lpstr>Courier New</vt:lpstr>
      <vt:lpstr>Wingdings</vt:lpstr>
      <vt:lpstr>Wingdings 3</vt:lpstr>
      <vt:lpstr>Ion Boardroom</vt:lpstr>
      <vt:lpstr>Introduction to Databases</vt:lpstr>
      <vt:lpstr>Access</vt:lpstr>
      <vt:lpstr>Introduction</vt:lpstr>
      <vt:lpstr>Relational Database</vt:lpstr>
      <vt:lpstr>SQL View</vt:lpstr>
      <vt:lpstr>SQL Query </vt:lpstr>
      <vt:lpstr>CREATE TABLE</vt:lpstr>
      <vt:lpstr>INSERT INTO</vt:lpstr>
      <vt:lpstr>INSERT INTO (Syntax) </vt:lpstr>
      <vt:lpstr>INSERT INTO – Multiple Records</vt:lpstr>
      <vt:lpstr>SELECT </vt:lpstr>
      <vt:lpstr>ALTER TABLE</vt:lpstr>
      <vt:lpstr>ALTER TABLE (Continues…)</vt:lpstr>
      <vt:lpstr>UPDATE</vt:lpstr>
      <vt:lpstr>DELETE</vt:lpstr>
      <vt:lpstr>Operators</vt:lpstr>
      <vt:lpstr>BETWEEN </vt:lpstr>
      <vt:lpstr>LIKE</vt:lpstr>
      <vt:lpstr>Logical Operators</vt:lpstr>
      <vt:lpstr>AND – True Statement</vt:lpstr>
      <vt:lpstr>AND – False Statement</vt:lpstr>
      <vt:lpstr>OR</vt:lpstr>
      <vt:lpstr>PRIMARY KEY</vt:lpstr>
      <vt:lpstr>FOREIGN KEY</vt:lpstr>
      <vt:lpstr>FOREIGN KEY (Continues…)</vt:lpstr>
      <vt:lpstr>FOREIGN KEY (Continues…)</vt:lpstr>
      <vt:lpstr>QUESTIONS</vt:lpstr>
      <vt:lpstr>QUESTION 1</vt:lpstr>
      <vt:lpstr>QUESTION 1 (Continues…)</vt:lpstr>
      <vt:lpstr>QUESTION 2</vt:lpstr>
      <vt:lpstr>QUESTION 2 – Answers </vt:lpstr>
      <vt:lpstr>QUESTION 2 – Answers (Continues…)</vt:lpstr>
      <vt:lpstr>QUESTION 2 (Continues…)</vt:lpstr>
      <vt:lpstr>QUESTION 2 – Answers (Continues…)</vt:lpstr>
      <vt:lpstr>QUESTION 2 – Answers (Continues…)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Access</dc:title>
  <dc:creator>James Soko</dc:creator>
  <cp:lastModifiedBy>James Soko</cp:lastModifiedBy>
  <cp:revision>124</cp:revision>
  <dcterms:created xsi:type="dcterms:W3CDTF">2025-09-07T20:26:34Z</dcterms:created>
  <dcterms:modified xsi:type="dcterms:W3CDTF">2025-09-22T10:57:09Z</dcterms:modified>
</cp:coreProperties>
</file>