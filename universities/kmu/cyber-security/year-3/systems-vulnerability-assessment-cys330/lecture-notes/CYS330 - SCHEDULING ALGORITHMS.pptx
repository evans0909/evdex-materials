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</p:sldMasterIdLst>
  <p:notesMasterIdLst>
    <p:notesMasterId r:id="rId14"/>
  </p:notesMasterIdLst>
  <p:sldIdLst>
    <p:sldId id="284" r:id="rId2"/>
    <p:sldId id="315" r:id="rId3"/>
    <p:sldId id="316" r:id="rId4"/>
    <p:sldId id="317" r:id="rId5"/>
    <p:sldId id="318" r:id="rId6"/>
    <p:sldId id="319" r:id="rId7"/>
    <p:sldId id="285" r:id="rId8"/>
    <p:sldId id="279" r:id="rId9"/>
    <p:sldId id="283" r:id="rId10"/>
    <p:sldId id="280" r:id="rId11"/>
    <p:sldId id="281" r:id="rId12"/>
    <p:sldId id="28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4970E8-EBEC-4B17-9981-540EDA20007C}" type="datetimeFigureOut">
              <a:rPr lang="LID4096" smtClean="0"/>
              <a:t>09/16/2025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9CDA2F-4A61-4AB9-9F67-F800E174193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01630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75C900B-D37D-4BA7-A9BE-6F8F4C730E73}" type="datetime1">
              <a:rPr lang="LID4096" smtClean="0"/>
              <a:t>09/16/2025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39951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EE4D7-4899-4AC0-8A2B-971563879D03}" type="datetime1">
              <a:rPr lang="LID4096" smtClean="0"/>
              <a:t>09/16/2025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3755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DAA27-34EF-419A-A21B-B62F6FC47252}" type="datetime1">
              <a:rPr lang="LID4096" smtClean="0"/>
              <a:t>09/16/2025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7202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9C8D-BA9F-45CB-97CC-20C0D1B48E29}" type="datetime1">
              <a:rPr lang="LID4096" smtClean="0"/>
              <a:t>09/16/2025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8531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776C-42A2-45CC-AE47-D4FF21D12911}" type="datetime1">
              <a:rPr lang="LID4096" smtClean="0"/>
              <a:t>09/16/2025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97340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A6F3-D201-4388-AF48-65415D5FE10C}" type="datetime1">
              <a:rPr lang="LID4096" smtClean="0"/>
              <a:t>09/16/2025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22669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A3DF2-0D13-4ADA-B534-60CBDCC4C3D0}" type="datetime1">
              <a:rPr lang="LID4096" smtClean="0"/>
              <a:t>09/16/2025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2715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63457-F0B3-4C98-A8C1-3723A765C8D7}" type="datetime1">
              <a:rPr lang="LID4096" smtClean="0"/>
              <a:t>09/16/2025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75285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EB19-8909-4F21-B1E7-29411BE5F101}" type="datetime1">
              <a:rPr lang="LID4096" smtClean="0"/>
              <a:t>09/16/2025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678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20D5-17EC-44DA-B4FF-83A376CE1AE8}" type="datetime1">
              <a:rPr lang="LID4096" smtClean="0"/>
              <a:t>09/16/2025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08030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1F22B-A096-4D72-8B1F-A2065347EC63}" type="datetime1">
              <a:rPr lang="LID4096" smtClean="0"/>
              <a:t>09/16/2025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3823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BAA9-3BC4-4530-A52B-89CAD9A46DB8}" type="datetime1">
              <a:rPr lang="LID4096" smtClean="0"/>
              <a:t>09/16/2025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1303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2EEC-E7AF-483A-8F76-12FF7F8594A4}" type="datetime1">
              <a:rPr lang="LID4096" smtClean="0"/>
              <a:t>09/16/2025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41991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ED23B-6EDA-4F9E-99F9-577FD3B41D55}" type="datetime1">
              <a:rPr lang="LID4096" smtClean="0"/>
              <a:t>09/16/2025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61773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A0EB-0A94-484B-B852-9E3410130E9D}" type="datetime1">
              <a:rPr lang="LID4096" smtClean="0"/>
              <a:t>09/16/2025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1829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F95DD-E87D-48C2-A21D-16BF9416B98D}" type="datetime1">
              <a:rPr lang="LID4096" smtClean="0"/>
              <a:t>09/16/2025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766619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8917D-6DD0-4440-8F79-CC7921395BC0}" type="datetime1">
              <a:rPr lang="LID4096" smtClean="0"/>
              <a:t>09/16/2025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02104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E4E13-8CE7-48B4-8974-A9E684A5CB96}" type="datetime1">
              <a:rPr lang="LID4096" smtClean="0"/>
              <a:t>09/16/2025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77180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VSMAjMfJ6KQ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VSMAjMfJ6KQ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F1FD01-75D7-4233-B3E6-356667EE18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OPERATING SYSTEM </a:t>
            </a:r>
            <a:endParaRPr lang="LID4096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182BB3E-A2B4-4640-95B3-8447C845F7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SCHEDULING ALGORITHMS 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4136364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A8297-C4AA-465F-8118-80810D694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Hardware Trojans (HT)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83A82-3D8A-46DA-8F45-8725DB0B6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 </a:t>
            </a:r>
            <a:r>
              <a:rPr lang="en-US" b="1" dirty="0"/>
              <a:t>hardware trojan </a:t>
            </a:r>
            <a:r>
              <a:rPr lang="en-US" dirty="0"/>
              <a:t>is a malicious modification of an integrated circuit’s circuitry, designed to disrupt operations, steal data, or cause physical harm or death.</a:t>
            </a:r>
          </a:p>
          <a:p>
            <a:r>
              <a:rPr lang="en-US" dirty="0"/>
              <a:t> These modifications can be inserted during the design or manufacturing stages, often through untrust third-party components or intellectual property cores.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663F3-5C42-4D42-A064-6701EAC4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F1A83-DC44-4171-BF3D-63790BB9F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81487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2769B-B609-4B4F-BE6C-E1068E583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Characteristics of Hardware Trojans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140B1-1ACA-4CAA-9ED5-7A72679B0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Size</a:t>
            </a:r>
            <a:r>
              <a:rPr lang="en-US" dirty="0"/>
              <a:t> – This refers to the number of components added or modified. Trojans can range from </a:t>
            </a:r>
            <a:r>
              <a:rPr lang="en-US" b="1" dirty="0"/>
              <a:t>small transistors </a:t>
            </a:r>
            <a:r>
              <a:rPr lang="en-US" dirty="0"/>
              <a:t>to </a:t>
            </a:r>
            <a:r>
              <a:rPr lang="en-US" b="1" dirty="0"/>
              <a:t>large circuits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Distribution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Tight Distribution </a:t>
            </a:r>
            <a:r>
              <a:rPr lang="en-US" dirty="0"/>
              <a:t>– Trojan components are located close together in the layout. 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Loose Distribution </a:t>
            </a:r>
            <a:r>
              <a:rPr lang="en-US" dirty="0"/>
              <a:t>– Components are dispersed across the chip making detection harder 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924D6-38EC-4CE9-B698-C0B65CF08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B73A6-DC37-43FD-8C7B-C353CC64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86884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418F8-79A1-4947-B2B5-7C8467047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Characteristics of Hardware Trojans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B9291-2F5B-47E7-A7DF-A9C40C460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AutoNum type="arabicPeriod" startAt="3"/>
            </a:pPr>
            <a:r>
              <a:rPr lang="en-US" dirty="0"/>
              <a:t> </a:t>
            </a:r>
            <a:r>
              <a:rPr lang="en-US" b="1" dirty="0"/>
              <a:t>Structure </a:t>
            </a:r>
            <a:r>
              <a:rPr lang="en-US" dirty="0"/>
              <a:t>– Changes in the physical layout can alter the chips (IC) dimensions or component placement.</a:t>
            </a:r>
          </a:p>
          <a:p>
            <a:pPr marL="457200" indent="-457200">
              <a:buAutoNum type="arabicPeriod" startAt="3"/>
            </a:pPr>
            <a:r>
              <a:rPr lang="en-US" dirty="0"/>
              <a:t> </a:t>
            </a:r>
            <a:r>
              <a:rPr lang="en-US" b="1" dirty="0"/>
              <a:t>Type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Functional Trojans – </a:t>
            </a:r>
            <a:r>
              <a:rPr lang="en-US" dirty="0"/>
              <a:t>These involve adding or deleting components such as transistors or logic gates to modify chip’s functionality.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Parametric Trojans </a:t>
            </a:r>
            <a:r>
              <a:rPr lang="en-US" dirty="0"/>
              <a:t>– These involve modifying existing components such as thinning wires or weakening transistors, to affect the chip’s reliability or performance.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F72DB-139E-49E4-8F57-A27096C93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1D9F97-C6E0-4A72-9F10-E97EDAB8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75993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BAB1-4161-4DE7-87C8-C503C7C55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Impact of Hardware Trojans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2BBBF-F694-46AB-8AC8-5BB66550B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 Data Breaches and Intellectual Property Theft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System Malfunction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Performance Degradation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Reputational Damage and Financial Costs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Denial – of – service (DoS) Attacks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2C0762-3680-4E2B-8FE7-ED2A9C2F8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A9946-35A4-4425-80BF-167BCC90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8806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F0F63-2478-4760-898E-7236387C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Mitigation and Remediation techniques of HT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3D571-9372-480D-8779-4FB58132C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 Detection Techniques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Collaborative Methods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Message Authentication Codes (MACs)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F8896F-1868-4552-A32C-E783BE9DB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AE637-BFB8-474B-A8FA-D59502E54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77524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4E196-ECAA-47FB-9E3F-B1C37A70E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QUESTION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B585D-F751-4BA0-9A96-9AE55F849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Calculate the average waiting time and average turnaround time. For: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First Come First Serve (FCFS) Scheduling Algorithm </a:t>
            </a:r>
            <a:endParaRPr lang="LID4096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0648CC-9C85-48D5-A0D3-65AA68F9A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350F89-7097-4DD0-9ED3-FFDF0467C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9340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98FFD-8752-463D-B069-192DCB67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FIRST COME FIRST SERVED SCHEDULING </a:t>
            </a:r>
            <a:endParaRPr lang="LID4096" b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85ADF66-C7F7-417A-953D-93D7D07BBE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8721115"/>
              </p:ext>
            </p:extLst>
          </p:nvPr>
        </p:nvGraphicFramePr>
        <p:xfrm>
          <a:off x="1141413" y="2249488"/>
          <a:ext cx="492002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4018">
                  <a:extLst>
                    <a:ext uri="{9D8B030D-6E8A-4147-A177-3AD203B41FA5}">
                      <a16:colId xmlns:a16="http://schemas.microsoft.com/office/drawing/2014/main" val="3259569738"/>
                    </a:ext>
                  </a:extLst>
                </a:gridCol>
                <a:gridCol w="1649691">
                  <a:extLst>
                    <a:ext uri="{9D8B030D-6E8A-4147-A177-3AD203B41FA5}">
                      <a16:colId xmlns:a16="http://schemas.microsoft.com/office/drawing/2014/main" val="3735439937"/>
                    </a:ext>
                  </a:extLst>
                </a:gridCol>
                <a:gridCol w="1376313">
                  <a:extLst>
                    <a:ext uri="{9D8B030D-6E8A-4147-A177-3AD203B41FA5}">
                      <a16:colId xmlns:a16="http://schemas.microsoft.com/office/drawing/2014/main" val="849490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PROCESS ID (PID)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ARRIVAL TIME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BURST TIME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757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166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LID4096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6</a:t>
                      </a:r>
                      <a:endParaRPr lang="LID4096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4</a:t>
                      </a:r>
                      <a:endParaRPr lang="LID4096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052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3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0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3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78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00"/>
                          </a:solidFill>
                        </a:rPr>
                        <a:t>4</a:t>
                      </a:r>
                      <a:endParaRPr lang="LID4096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00"/>
                          </a:solidFill>
                        </a:rPr>
                        <a:t>6</a:t>
                      </a:r>
                      <a:endParaRPr lang="LID4096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00"/>
                          </a:solidFill>
                        </a:rPr>
                        <a:t>2</a:t>
                      </a:r>
                      <a:endParaRPr lang="LID4096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68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5</a:t>
                      </a:r>
                      <a:endParaRPr lang="LID4096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5</a:t>
                      </a:r>
                      <a:endParaRPr lang="LID4096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4</a:t>
                      </a:r>
                      <a:endParaRPr lang="LID4096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588860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67BA528-E0CF-4954-A452-109479C1B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556949"/>
              </p:ext>
            </p:extLst>
          </p:nvPr>
        </p:nvGraphicFramePr>
        <p:xfrm>
          <a:off x="1141413" y="5335948"/>
          <a:ext cx="696686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509">
                  <a:extLst>
                    <a:ext uri="{9D8B030D-6E8A-4147-A177-3AD203B41FA5}">
                      <a16:colId xmlns:a16="http://schemas.microsoft.com/office/drawing/2014/main" val="3992945678"/>
                    </a:ext>
                  </a:extLst>
                </a:gridCol>
                <a:gridCol w="466193">
                  <a:extLst>
                    <a:ext uri="{9D8B030D-6E8A-4147-A177-3AD203B41FA5}">
                      <a16:colId xmlns:a16="http://schemas.microsoft.com/office/drawing/2014/main" val="106958232"/>
                    </a:ext>
                  </a:extLst>
                </a:gridCol>
                <a:gridCol w="633351">
                  <a:extLst>
                    <a:ext uri="{9D8B030D-6E8A-4147-A177-3AD203B41FA5}">
                      <a16:colId xmlns:a16="http://schemas.microsoft.com/office/drawing/2014/main" val="1264120263"/>
                    </a:ext>
                  </a:extLst>
                </a:gridCol>
                <a:gridCol w="633351">
                  <a:extLst>
                    <a:ext uri="{9D8B030D-6E8A-4147-A177-3AD203B41FA5}">
                      <a16:colId xmlns:a16="http://schemas.microsoft.com/office/drawing/2014/main" val="3272547500"/>
                    </a:ext>
                  </a:extLst>
                </a:gridCol>
                <a:gridCol w="633351">
                  <a:extLst>
                    <a:ext uri="{9D8B030D-6E8A-4147-A177-3AD203B41FA5}">
                      <a16:colId xmlns:a16="http://schemas.microsoft.com/office/drawing/2014/main" val="2153086451"/>
                    </a:ext>
                  </a:extLst>
                </a:gridCol>
                <a:gridCol w="633351">
                  <a:extLst>
                    <a:ext uri="{9D8B030D-6E8A-4147-A177-3AD203B41FA5}">
                      <a16:colId xmlns:a16="http://schemas.microsoft.com/office/drawing/2014/main" val="603620903"/>
                    </a:ext>
                  </a:extLst>
                </a:gridCol>
                <a:gridCol w="633351">
                  <a:extLst>
                    <a:ext uri="{9D8B030D-6E8A-4147-A177-3AD203B41FA5}">
                      <a16:colId xmlns:a16="http://schemas.microsoft.com/office/drawing/2014/main" val="2076616152"/>
                    </a:ext>
                  </a:extLst>
                </a:gridCol>
                <a:gridCol w="633351">
                  <a:extLst>
                    <a:ext uri="{9D8B030D-6E8A-4147-A177-3AD203B41FA5}">
                      <a16:colId xmlns:a16="http://schemas.microsoft.com/office/drawing/2014/main" val="4265462682"/>
                    </a:ext>
                  </a:extLst>
                </a:gridCol>
                <a:gridCol w="633351">
                  <a:extLst>
                    <a:ext uri="{9D8B030D-6E8A-4147-A177-3AD203B41FA5}">
                      <a16:colId xmlns:a16="http://schemas.microsoft.com/office/drawing/2014/main" val="3116988156"/>
                    </a:ext>
                  </a:extLst>
                </a:gridCol>
                <a:gridCol w="633351">
                  <a:extLst>
                    <a:ext uri="{9D8B030D-6E8A-4147-A177-3AD203B41FA5}">
                      <a16:colId xmlns:a16="http://schemas.microsoft.com/office/drawing/2014/main" val="2148279406"/>
                    </a:ext>
                  </a:extLst>
                </a:gridCol>
                <a:gridCol w="633351">
                  <a:extLst>
                    <a:ext uri="{9D8B030D-6E8A-4147-A177-3AD203B41FA5}">
                      <a16:colId xmlns:a16="http://schemas.microsoft.com/office/drawing/2014/main" val="1456288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TIME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574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PID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69875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9C86FE8-E109-47AE-A808-39BD43E87E2C}"/>
              </a:ext>
            </a:extLst>
          </p:cNvPr>
          <p:cNvSpPr/>
          <p:nvPr/>
        </p:nvSpPr>
        <p:spPr>
          <a:xfrm>
            <a:off x="2872889" y="4474528"/>
            <a:ext cx="35039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Gantt Chart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A1EE5D44-46C3-48D5-9884-FFDD77150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949029"/>
              </p:ext>
            </p:extLst>
          </p:nvPr>
        </p:nvGraphicFramePr>
        <p:xfrm>
          <a:off x="6376797" y="2249488"/>
          <a:ext cx="243630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6932">
                  <a:extLst>
                    <a:ext uri="{9D8B030D-6E8A-4147-A177-3AD203B41FA5}">
                      <a16:colId xmlns:a16="http://schemas.microsoft.com/office/drawing/2014/main" val="2843696860"/>
                    </a:ext>
                  </a:extLst>
                </a:gridCol>
                <a:gridCol w="518474">
                  <a:extLst>
                    <a:ext uri="{9D8B030D-6E8A-4147-A177-3AD203B41FA5}">
                      <a16:colId xmlns:a16="http://schemas.microsoft.com/office/drawing/2014/main" val="12272266"/>
                    </a:ext>
                  </a:extLst>
                </a:gridCol>
                <a:gridCol w="716437">
                  <a:extLst>
                    <a:ext uri="{9D8B030D-6E8A-4147-A177-3AD203B41FA5}">
                      <a16:colId xmlns:a16="http://schemas.microsoft.com/office/drawing/2014/main" val="2026640846"/>
                    </a:ext>
                  </a:extLst>
                </a:gridCol>
                <a:gridCol w="584462">
                  <a:extLst>
                    <a:ext uri="{9D8B030D-6E8A-4147-A177-3AD203B41FA5}">
                      <a16:colId xmlns:a16="http://schemas.microsoft.com/office/drawing/2014/main" val="2163443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PID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C.T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T.A.T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W.T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101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762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LID4096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17</a:t>
                      </a:r>
                      <a:endParaRPr lang="LID4096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11</a:t>
                      </a:r>
                      <a:endParaRPr lang="LID4096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7</a:t>
                      </a:r>
                      <a:endParaRPr lang="LID4096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184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3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3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3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0</a:t>
                      </a:r>
                      <a:endParaRPr lang="LID4096" b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91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00"/>
                          </a:solidFill>
                        </a:rPr>
                        <a:t>4</a:t>
                      </a:r>
                      <a:endParaRPr lang="LID4096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00"/>
                          </a:solidFill>
                        </a:rPr>
                        <a:t>19</a:t>
                      </a:r>
                      <a:endParaRPr lang="LID4096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00"/>
                          </a:solidFill>
                        </a:rPr>
                        <a:t>13</a:t>
                      </a:r>
                      <a:endParaRPr lang="LID4096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00"/>
                          </a:solidFill>
                        </a:rPr>
                        <a:t>11</a:t>
                      </a:r>
                      <a:endParaRPr lang="LID4096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084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5</a:t>
                      </a:r>
                      <a:endParaRPr lang="LID4096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13</a:t>
                      </a:r>
                      <a:endParaRPr lang="LID4096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8</a:t>
                      </a:r>
                      <a:endParaRPr lang="LID4096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4</a:t>
                      </a:r>
                      <a:endParaRPr lang="LID4096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854582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1EF84537-A5F5-4B42-AE85-C532C9D25DC8}"/>
              </a:ext>
            </a:extLst>
          </p:cNvPr>
          <p:cNvSpPr/>
          <p:nvPr/>
        </p:nvSpPr>
        <p:spPr>
          <a:xfrm>
            <a:off x="8920857" y="2249488"/>
            <a:ext cx="2970749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T.A.T = C.T – ARRIVAL TIME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BC399C-06CB-4408-BE6E-C34907D3A97E}"/>
              </a:ext>
            </a:extLst>
          </p:cNvPr>
          <p:cNvSpPr/>
          <p:nvPr/>
        </p:nvSpPr>
        <p:spPr>
          <a:xfrm>
            <a:off x="8988503" y="2601943"/>
            <a:ext cx="283545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W.T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T.A.T – BURST TIME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DB0172-6AEB-45D2-ABF1-4561341E9B20}"/>
              </a:ext>
            </a:extLst>
          </p:cNvPr>
          <p:cNvSpPr/>
          <p:nvPr/>
        </p:nvSpPr>
        <p:spPr>
          <a:xfrm>
            <a:off x="8988503" y="3154453"/>
            <a:ext cx="250581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C.T = Completion Time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2AC562-A082-4403-929C-F672AC11FB32}"/>
              </a:ext>
            </a:extLst>
          </p:cNvPr>
          <p:cNvSpPr/>
          <p:nvPr/>
        </p:nvSpPr>
        <p:spPr>
          <a:xfrm>
            <a:off x="8933584" y="3455838"/>
            <a:ext cx="279403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T.A.T = Turn Around Time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F65B3D-FEAF-48B0-A4EF-0E8C57C6D6EF}"/>
              </a:ext>
            </a:extLst>
          </p:cNvPr>
          <p:cNvSpPr/>
          <p:nvPr/>
        </p:nvSpPr>
        <p:spPr>
          <a:xfrm>
            <a:off x="8920857" y="3743931"/>
            <a:ext cx="225170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W.T = Waiting Time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A0BD73-852C-410C-8A0F-20301E8017B0}"/>
              </a:ext>
            </a:extLst>
          </p:cNvPr>
          <p:cNvSpPr/>
          <p:nvPr/>
        </p:nvSpPr>
        <p:spPr>
          <a:xfrm>
            <a:off x="3347846" y="5627839"/>
            <a:ext cx="141416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Idle time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35D8A0-C42C-4D49-830F-24AAF8EDC300}"/>
              </a:ext>
            </a:extLst>
          </p:cNvPr>
          <p:cNvSpPr/>
          <p:nvPr/>
        </p:nvSpPr>
        <p:spPr>
          <a:xfrm>
            <a:off x="9068436" y="4627115"/>
            <a:ext cx="236795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Calculations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08CE7D-9A9C-472F-9F17-53DA2B002D03}"/>
              </a:ext>
            </a:extLst>
          </p:cNvPr>
          <p:cNvSpPr/>
          <p:nvPr/>
        </p:nvSpPr>
        <p:spPr>
          <a:xfrm>
            <a:off x="9499060" y="5140256"/>
            <a:ext cx="1484702" cy="16312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+ 3 = 3</a:t>
            </a:r>
          </a:p>
          <a:p>
            <a:pPr algn="ctr"/>
            <a:r>
              <a:rPr lang="en-US" sz="2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+ 5 = 9</a:t>
            </a:r>
          </a:p>
          <a:p>
            <a:pPr algn="ctr"/>
            <a:r>
              <a:rPr lang="en-US" sz="2000" b="1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 </a:t>
            </a:r>
            <a:r>
              <a:rPr lang="en-US" sz="20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+ 4 = 13</a:t>
            </a:r>
          </a:p>
          <a:p>
            <a:pPr algn="ctr"/>
            <a:r>
              <a:rPr lang="en-US" sz="20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 + 4 = 17</a:t>
            </a:r>
          </a:p>
          <a:p>
            <a:pPr algn="ctr"/>
            <a:r>
              <a:rPr lang="en-US" sz="20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 + 2 = 19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FE60A1-2A3E-4DFE-A4ED-76D35A652EA3}"/>
              </a:ext>
            </a:extLst>
          </p:cNvPr>
          <p:cNvSpPr/>
          <p:nvPr/>
        </p:nvSpPr>
        <p:spPr>
          <a:xfrm>
            <a:off x="6316953" y="4456123"/>
            <a:ext cx="136813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Average =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4C39B1-670C-43CB-89A0-401F90EE36DC}"/>
              </a:ext>
            </a:extLst>
          </p:cNvPr>
          <p:cNvSpPr/>
          <p:nvPr/>
        </p:nvSpPr>
        <p:spPr>
          <a:xfrm>
            <a:off x="7550880" y="4448841"/>
            <a:ext cx="166263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       4.4 units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4ECAA75E-2925-476A-A5FF-BFE7CE0B5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3" y="6307609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0EB7133-AAB3-4DE9-86D2-3089AC9A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63" y="6487867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8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976107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CA706-C41C-463A-98B1-9DE3AB502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FIRST COME FIRST SERVED SCHEDULING </a:t>
            </a:r>
            <a:r>
              <a:rPr lang="en-GB" b="1" dirty="0"/>
              <a:t>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9287D-786B-40BB-816F-4AC062AAA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Convoy Effect</a:t>
            </a:r>
          </a:p>
          <a:p>
            <a:pPr marL="0" indent="0">
              <a:buNone/>
            </a:pPr>
            <a:r>
              <a:rPr lang="en-US" dirty="0"/>
              <a:t> If process with higher burst time arrived before the processes with smaller burst time, then, smaller processes have to wait for a long time for longer processes to release the CPU.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E063A7-0070-4D52-8B87-5BBA154E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39458-AA42-4F1D-98C4-F4106FC8A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59442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98FFD-8752-463D-B069-192DCB67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SHORTEST JOB FIRST – Non pre-emptive </a:t>
            </a:r>
            <a:endParaRPr lang="LID4096" b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85ADF66-C7F7-417A-953D-93D7D07BBE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0499232"/>
              </p:ext>
            </p:extLst>
          </p:nvPr>
        </p:nvGraphicFramePr>
        <p:xfrm>
          <a:off x="1141413" y="2249488"/>
          <a:ext cx="492002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4018">
                  <a:extLst>
                    <a:ext uri="{9D8B030D-6E8A-4147-A177-3AD203B41FA5}">
                      <a16:colId xmlns:a16="http://schemas.microsoft.com/office/drawing/2014/main" val="3259569738"/>
                    </a:ext>
                  </a:extLst>
                </a:gridCol>
                <a:gridCol w="1649691">
                  <a:extLst>
                    <a:ext uri="{9D8B030D-6E8A-4147-A177-3AD203B41FA5}">
                      <a16:colId xmlns:a16="http://schemas.microsoft.com/office/drawing/2014/main" val="3735439937"/>
                    </a:ext>
                  </a:extLst>
                </a:gridCol>
                <a:gridCol w="1376313">
                  <a:extLst>
                    <a:ext uri="{9D8B030D-6E8A-4147-A177-3AD203B41FA5}">
                      <a16:colId xmlns:a16="http://schemas.microsoft.com/office/drawing/2014/main" val="849490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PROCESS ID (PID)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ARRIVAL TIME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BURST TIME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757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166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LID4096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LID4096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4</a:t>
                      </a:r>
                      <a:endParaRPr lang="LID4096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052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2</a:t>
                      </a:r>
                      <a:endParaRPr lang="LID4096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4</a:t>
                      </a:r>
                      <a:endParaRPr lang="LID4096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LID4096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78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LID4096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00"/>
                          </a:solidFill>
                        </a:rPr>
                        <a:t>5</a:t>
                      </a:r>
                      <a:endParaRPr lang="LID4096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00"/>
                          </a:solidFill>
                        </a:rPr>
                        <a:t>4</a:t>
                      </a:r>
                      <a:endParaRPr lang="LID4096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688198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67BA528-E0CF-4954-A452-109479C1B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875360"/>
              </p:ext>
            </p:extLst>
          </p:nvPr>
        </p:nvGraphicFramePr>
        <p:xfrm>
          <a:off x="1141413" y="5335948"/>
          <a:ext cx="380010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801">
                  <a:extLst>
                    <a:ext uri="{9D8B030D-6E8A-4147-A177-3AD203B41FA5}">
                      <a16:colId xmlns:a16="http://schemas.microsoft.com/office/drawing/2014/main" val="3992945678"/>
                    </a:ext>
                  </a:extLst>
                </a:gridCol>
                <a:gridCol w="503901">
                  <a:extLst>
                    <a:ext uri="{9D8B030D-6E8A-4147-A177-3AD203B41FA5}">
                      <a16:colId xmlns:a16="http://schemas.microsoft.com/office/drawing/2014/main" val="106958232"/>
                    </a:ext>
                  </a:extLst>
                </a:gridCol>
                <a:gridCol w="633351">
                  <a:extLst>
                    <a:ext uri="{9D8B030D-6E8A-4147-A177-3AD203B41FA5}">
                      <a16:colId xmlns:a16="http://schemas.microsoft.com/office/drawing/2014/main" val="1264120263"/>
                    </a:ext>
                  </a:extLst>
                </a:gridCol>
                <a:gridCol w="633351">
                  <a:extLst>
                    <a:ext uri="{9D8B030D-6E8A-4147-A177-3AD203B41FA5}">
                      <a16:colId xmlns:a16="http://schemas.microsoft.com/office/drawing/2014/main" val="3272547500"/>
                    </a:ext>
                  </a:extLst>
                </a:gridCol>
                <a:gridCol w="633351">
                  <a:extLst>
                    <a:ext uri="{9D8B030D-6E8A-4147-A177-3AD203B41FA5}">
                      <a16:colId xmlns:a16="http://schemas.microsoft.com/office/drawing/2014/main" val="2153086451"/>
                    </a:ext>
                  </a:extLst>
                </a:gridCol>
                <a:gridCol w="633351">
                  <a:extLst>
                    <a:ext uri="{9D8B030D-6E8A-4147-A177-3AD203B41FA5}">
                      <a16:colId xmlns:a16="http://schemas.microsoft.com/office/drawing/2014/main" val="603620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TIME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574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PID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69875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9C86FE8-E109-47AE-A808-39BD43E87E2C}"/>
              </a:ext>
            </a:extLst>
          </p:cNvPr>
          <p:cNvSpPr/>
          <p:nvPr/>
        </p:nvSpPr>
        <p:spPr>
          <a:xfrm>
            <a:off x="1289512" y="4412618"/>
            <a:ext cx="35039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Gantt Chart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A1EE5D44-46C3-48D5-9884-FFDD77150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410594"/>
              </p:ext>
            </p:extLst>
          </p:nvPr>
        </p:nvGraphicFramePr>
        <p:xfrm>
          <a:off x="6376797" y="2249488"/>
          <a:ext cx="243630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6932">
                  <a:extLst>
                    <a:ext uri="{9D8B030D-6E8A-4147-A177-3AD203B41FA5}">
                      <a16:colId xmlns:a16="http://schemas.microsoft.com/office/drawing/2014/main" val="2843696860"/>
                    </a:ext>
                  </a:extLst>
                </a:gridCol>
                <a:gridCol w="518474">
                  <a:extLst>
                    <a:ext uri="{9D8B030D-6E8A-4147-A177-3AD203B41FA5}">
                      <a16:colId xmlns:a16="http://schemas.microsoft.com/office/drawing/2014/main" val="12272266"/>
                    </a:ext>
                  </a:extLst>
                </a:gridCol>
                <a:gridCol w="716437">
                  <a:extLst>
                    <a:ext uri="{9D8B030D-6E8A-4147-A177-3AD203B41FA5}">
                      <a16:colId xmlns:a16="http://schemas.microsoft.com/office/drawing/2014/main" val="2026640846"/>
                    </a:ext>
                  </a:extLst>
                </a:gridCol>
                <a:gridCol w="584462">
                  <a:extLst>
                    <a:ext uri="{9D8B030D-6E8A-4147-A177-3AD203B41FA5}">
                      <a16:colId xmlns:a16="http://schemas.microsoft.com/office/drawing/2014/main" val="2163443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PID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C.T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T.A.T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W.T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101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LID4096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762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LID4096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12</a:t>
                      </a:r>
                      <a:endParaRPr lang="LID4096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10</a:t>
                      </a:r>
                      <a:endParaRPr lang="LID4096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6</a:t>
                      </a:r>
                      <a:endParaRPr lang="LID4096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184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2</a:t>
                      </a:r>
                      <a:endParaRPr lang="LID4096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8</a:t>
                      </a:r>
                      <a:endParaRPr lang="LID4096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4</a:t>
                      </a:r>
                      <a:endParaRPr lang="LID4096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3</a:t>
                      </a:r>
                      <a:endParaRPr lang="LID4096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91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00"/>
                          </a:solidFill>
                        </a:rPr>
                        <a:t>3</a:t>
                      </a:r>
                      <a:endParaRPr lang="LID4096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00"/>
                          </a:solidFill>
                        </a:rPr>
                        <a:t>16</a:t>
                      </a:r>
                      <a:endParaRPr lang="LID4096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00"/>
                          </a:solidFill>
                        </a:rPr>
                        <a:t>11</a:t>
                      </a:r>
                      <a:endParaRPr lang="LID4096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FF00"/>
                          </a:solidFill>
                        </a:rPr>
                        <a:t>7</a:t>
                      </a:r>
                      <a:endParaRPr lang="LID4096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08452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1E5DD32D-3A7C-47FC-B788-86F1FF8AFA4C}"/>
              </a:ext>
            </a:extLst>
          </p:cNvPr>
          <p:cNvSpPr/>
          <p:nvPr/>
        </p:nvSpPr>
        <p:spPr>
          <a:xfrm>
            <a:off x="8920857" y="2249488"/>
            <a:ext cx="2970749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T.A.T = C.T – ARRIVAL TIME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35547C-390E-4B95-896B-7F5EDBE122BC}"/>
              </a:ext>
            </a:extLst>
          </p:cNvPr>
          <p:cNvSpPr/>
          <p:nvPr/>
        </p:nvSpPr>
        <p:spPr>
          <a:xfrm>
            <a:off x="8988503" y="2601943"/>
            <a:ext cx="283545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W.T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T.A.T – BURST TIME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F681C5-E0F4-4B17-9F6E-17B61E13BF20}"/>
              </a:ext>
            </a:extLst>
          </p:cNvPr>
          <p:cNvSpPr/>
          <p:nvPr/>
        </p:nvSpPr>
        <p:spPr>
          <a:xfrm>
            <a:off x="9068436" y="4627115"/>
            <a:ext cx="236795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Calculations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629B74-243B-4E26-A119-3C32BCF8AD16}"/>
              </a:ext>
            </a:extLst>
          </p:cNvPr>
          <p:cNvSpPr/>
          <p:nvPr/>
        </p:nvSpPr>
        <p:spPr>
          <a:xfrm>
            <a:off x="9483831" y="5140256"/>
            <a:ext cx="1515158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+ 7 = 7</a:t>
            </a:r>
          </a:p>
          <a:p>
            <a:pPr algn="ctr"/>
            <a:r>
              <a:rPr lang="en-US" sz="2000" b="1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 + 1= 8</a:t>
            </a:r>
          </a:p>
          <a:p>
            <a:pPr algn="ctr"/>
            <a:r>
              <a:rPr lang="en-US" sz="2000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 + 4 = 12</a:t>
            </a:r>
          </a:p>
          <a:p>
            <a:pPr algn="ctr"/>
            <a:r>
              <a:rPr lang="en-US" sz="20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 + 4 = 16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048B6D-6597-4EB0-9BCC-D1F44B992393}"/>
              </a:ext>
            </a:extLst>
          </p:cNvPr>
          <p:cNvSpPr/>
          <p:nvPr/>
        </p:nvSpPr>
        <p:spPr>
          <a:xfrm>
            <a:off x="6533999" y="4103688"/>
            <a:ext cx="236680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Average = 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4 units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09FE73-DF93-4332-89C5-C141811CA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3" y="6385645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D063269-2A36-4C83-8CC3-9DA716919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3367" y="6459872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4347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98FFD-8752-463D-B069-192DCB67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SHORTEST JOB FIRST – pre-emptive </a:t>
            </a:r>
            <a:endParaRPr lang="LID4096" b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85ADF66-C7F7-417A-953D-93D7D07BBE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5524939"/>
              </p:ext>
            </p:extLst>
          </p:nvPr>
        </p:nvGraphicFramePr>
        <p:xfrm>
          <a:off x="1141413" y="2249488"/>
          <a:ext cx="492002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4018">
                  <a:extLst>
                    <a:ext uri="{9D8B030D-6E8A-4147-A177-3AD203B41FA5}">
                      <a16:colId xmlns:a16="http://schemas.microsoft.com/office/drawing/2014/main" val="3259569738"/>
                    </a:ext>
                  </a:extLst>
                </a:gridCol>
                <a:gridCol w="1649691">
                  <a:extLst>
                    <a:ext uri="{9D8B030D-6E8A-4147-A177-3AD203B41FA5}">
                      <a16:colId xmlns:a16="http://schemas.microsoft.com/office/drawing/2014/main" val="3735439937"/>
                    </a:ext>
                  </a:extLst>
                </a:gridCol>
                <a:gridCol w="1376313">
                  <a:extLst>
                    <a:ext uri="{9D8B030D-6E8A-4147-A177-3AD203B41FA5}">
                      <a16:colId xmlns:a16="http://schemas.microsoft.com/office/drawing/2014/main" val="849490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PROCESS ID (PID)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ARRIVAL TIME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BURST TIME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757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 –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 = 5</a:t>
                      </a:r>
                      <a:endParaRPr lang="LID4096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166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 –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 = 2</a:t>
                      </a:r>
                      <a:endParaRPr lang="LID4096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052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78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688198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67BA528-E0CF-4954-A452-109479C1B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711683"/>
              </p:ext>
            </p:extLst>
          </p:nvPr>
        </p:nvGraphicFramePr>
        <p:xfrm>
          <a:off x="1141413" y="5335948"/>
          <a:ext cx="38001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746">
                  <a:extLst>
                    <a:ext uri="{9D8B030D-6E8A-4147-A177-3AD203B41FA5}">
                      <a16:colId xmlns:a16="http://schemas.microsoft.com/office/drawing/2014/main" val="3992945678"/>
                    </a:ext>
                  </a:extLst>
                </a:gridCol>
                <a:gridCol w="285006">
                  <a:extLst>
                    <a:ext uri="{9D8B030D-6E8A-4147-A177-3AD203B41FA5}">
                      <a16:colId xmlns:a16="http://schemas.microsoft.com/office/drawing/2014/main" val="106958232"/>
                    </a:ext>
                  </a:extLst>
                </a:gridCol>
                <a:gridCol w="398287">
                  <a:extLst>
                    <a:ext uri="{9D8B030D-6E8A-4147-A177-3AD203B41FA5}">
                      <a16:colId xmlns:a16="http://schemas.microsoft.com/office/drawing/2014/main" val="1264120263"/>
                    </a:ext>
                  </a:extLst>
                </a:gridCol>
                <a:gridCol w="475013">
                  <a:extLst>
                    <a:ext uri="{9D8B030D-6E8A-4147-A177-3AD203B41FA5}">
                      <a16:colId xmlns:a16="http://schemas.microsoft.com/office/drawing/2014/main" val="3272547500"/>
                    </a:ext>
                  </a:extLst>
                </a:gridCol>
                <a:gridCol w="475013">
                  <a:extLst>
                    <a:ext uri="{9D8B030D-6E8A-4147-A177-3AD203B41FA5}">
                      <a16:colId xmlns:a16="http://schemas.microsoft.com/office/drawing/2014/main" val="2153086451"/>
                    </a:ext>
                  </a:extLst>
                </a:gridCol>
                <a:gridCol w="475013">
                  <a:extLst>
                    <a:ext uri="{9D8B030D-6E8A-4147-A177-3AD203B41FA5}">
                      <a16:colId xmlns:a16="http://schemas.microsoft.com/office/drawing/2014/main" val="603620903"/>
                    </a:ext>
                  </a:extLst>
                </a:gridCol>
                <a:gridCol w="475013">
                  <a:extLst>
                    <a:ext uri="{9D8B030D-6E8A-4147-A177-3AD203B41FA5}">
                      <a16:colId xmlns:a16="http://schemas.microsoft.com/office/drawing/2014/main" val="1766816134"/>
                    </a:ext>
                  </a:extLst>
                </a:gridCol>
                <a:gridCol w="475013">
                  <a:extLst>
                    <a:ext uri="{9D8B030D-6E8A-4147-A177-3AD203B41FA5}">
                      <a16:colId xmlns:a16="http://schemas.microsoft.com/office/drawing/2014/main" val="381175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TIME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574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PID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69875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9C86FE8-E109-47AE-A808-39BD43E87E2C}"/>
              </a:ext>
            </a:extLst>
          </p:cNvPr>
          <p:cNvSpPr/>
          <p:nvPr/>
        </p:nvSpPr>
        <p:spPr>
          <a:xfrm>
            <a:off x="1289512" y="4412618"/>
            <a:ext cx="35039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Gantt Chart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A1EE5D44-46C3-48D5-9884-FFDD77150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434824"/>
              </p:ext>
            </p:extLst>
          </p:nvPr>
        </p:nvGraphicFramePr>
        <p:xfrm>
          <a:off x="6376797" y="2249488"/>
          <a:ext cx="243630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6932">
                  <a:extLst>
                    <a:ext uri="{9D8B030D-6E8A-4147-A177-3AD203B41FA5}">
                      <a16:colId xmlns:a16="http://schemas.microsoft.com/office/drawing/2014/main" val="2843696860"/>
                    </a:ext>
                  </a:extLst>
                </a:gridCol>
                <a:gridCol w="518474">
                  <a:extLst>
                    <a:ext uri="{9D8B030D-6E8A-4147-A177-3AD203B41FA5}">
                      <a16:colId xmlns:a16="http://schemas.microsoft.com/office/drawing/2014/main" val="12272266"/>
                    </a:ext>
                  </a:extLst>
                </a:gridCol>
                <a:gridCol w="716437">
                  <a:extLst>
                    <a:ext uri="{9D8B030D-6E8A-4147-A177-3AD203B41FA5}">
                      <a16:colId xmlns:a16="http://schemas.microsoft.com/office/drawing/2014/main" val="2026640846"/>
                    </a:ext>
                  </a:extLst>
                </a:gridCol>
                <a:gridCol w="584462">
                  <a:extLst>
                    <a:ext uri="{9D8B030D-6E8A-4147-A177-3AD203B41FA5}">
                      <a16:colId xmlns:a16="http://schemas.microsoft.com/office/drawing/2014/main" val="2163443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PID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C.T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T.A.T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W.T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101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762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184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91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084524"/>
                  </a:ext>
                </a:extLst>
              </a:tr>
            </a:tbl>
          </a:graphicData>
        </a:graphic>
      </p:graphicFrame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9B62F1A9-7DA0-4412-AE0A-8D90E6D55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755211"/>
              </p:ext>
            </p:extLst>
          </p:nvPr>
        </p:nvGraphicFramePr>
        <p:xfrm>
          <a:off x="5326695" y="5335948"/>
          <a:ext cx="17811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251">
                  <a:extLst>
                    <a:ext uri="{9D8B030D-6E8A-4147-A177-3AD203B41FA5}">
                      <a16:colId xmlns:a16="http://schemas.microsoft.com/office/drawing/2014/main" val="3772243025"/>
                    </a:ext>
                  </a:extLst>
                </a:gridCol>
                <a:gridCol w="337607">
                  <a:extLst>
                    <a:ext uri="{9D8B030D-6E8A-4147-A177-3AD203B41FA5}">
                      <a16:colId xmlns:a16="http://schemas.microsoft.com/office/drawing/2014/main" val="3987506619"/>
                    </a:ext>
                  </a:extLst>
                </a:gridCol>
                <a:gridCol w="395926">
                  <a:extLst>
                    <a:ext uri="{9D8B030D-6E8A-4147-A177-3AD203B41FA5}">
                      <a16:colId xmlns:a16="http://schemas.microsoft.com/office/drawing/2014/main" val="657321909"/>
                    </a:ext>
                  </a:extLst>
                </a:gridCol>
                <a:gridCol w="372331">
                  <a:extLst>
                    <a:ext uri="{9D8B030D-6E8A-4147-A177-3AD203B41FA5}">
                      <a16:colId xmlns:a16="http://schemas.microsoft.com/office/drawing/2014/main" val="1033373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TIME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557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PID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91370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A8E77B2-09B9-463C-A9D1-48CFFEDADB1A}"/>
              </a:ext>
            </a:extLst>
          </p:cNvPr>
          <p:cNvSpPr/>
          <p:nvPr/>
        </p:nvSpPr>
        <p:spPr>
          <a:xfrm>
            <a:off x="5326695" y="4874283"/>
            <a:ext cx="180735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Read Queue 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CB9F94-EE40-4874-B123-BC16E9E459CA}"/>
              </a:ext>
            </a:extLst>
          </p:cNvPr>
          <p:cNvSpPr/>
          <p:nvPr/>
        </p:nvSpPr>
        <p:spPr>
          <a:xfrm>
            <a:off x="7667324" y="5148731"/>
            <a:ext cx="2970749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T.A.T = C.T – ARRIVAL TIME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1738AB-B076-4752-A8EB-609BA3CD59EB}"/>
              </a:ext>
            </a:extLst>
          </p:cNvPr>
          <p:cNvSpPr/>
          <p:nvPr/>
        </p:nvSpPr>
        <p:spPr>
          <a:xfrm>
            <a:off x="7734970" y="5506733"/>
            <a:ext cx="283545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W.T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T.A.T – BURST TIME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0F84A-B534-4B40-86CE-067AAA774721}"/>
              </a:ext>
            </a:extLst>
          </p:cNvPr>
          <p:cNvSpPr/>
          <p:nvPr/>
        </p:nvSpPr>
        <p:spPr>
          <a:xfrm>
            <a:off x="6477658" y="4071835"/>
            <a:ext cx="284610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Average = 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2.5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units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5161EF5-6248-4F80-93DB-34985C7D3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3" y="6285813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FB3DA0F-C941-40D7-B73C-9CC2DC17A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5306" y="6348037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11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94323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98FFD-8752-463D-B069-192DCB67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PRIORITY SHEDULING ALGORITHM </a:t>
            </a:r>
            <a:endParaRPr lang="LID4096" b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85ADF66-C7F7-417A-953D-93D7D07BBE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3750299"/>
              </p:ext>
            </p:extLst>
          </p:nvPr>
        </p:nvGraphicFramePr>
        <p:xfrm>
          <a:off x="1141413" y="2249488"/>
          <a:ext cx="646601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560">
                  <a:extLst>
                    <a:ext uri="{9D8B030D-6E8A-4147-A177-3AD203B41FA5}">
                      <a16:colId xmlns:a16="http://schemas.microsoft.com/office/drawing/2014/main" val="748133817"/>
                    </a:ext>
                  </a:extLst>
                </a:gridCol>
                <a:gridCol w="1865064">
                  <a:extLst>
                    <a:ext uri="{9D8B030D-6E8A-4147-A177-3AD203B41FA5}">
                      <a16:colId xmlns:a16="http://schemas.microsoft.com/office/drawing/2014/main" val="3259569738"/>
                    </a:ext>
                  </a:extLst>
                </a:gridCol>
                <a:gridCol w="1715678">
                  <a:extLst>
                    <a:ext uri="{9D8B030D-6E8A-4147-A177-3AD203B41FA5}">
                      <a16:colId xmlns:a16="http://schemas.microsoft.com/office/drawing/2014/main" val="3735439937"/>
                    </a:ext>
                  </a:extLst>
                </a:gridCol>
                <a:gridCol w="1517716">
                  <a:extLst>
                    <a:ext uri="{9D8B030D-6E8A-4147-A177-3AD203B41FA5}">
                      <a16:colId xmlns:a16="http://schemas.microsoft.com/office/drawing/2014/main" val="849490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PRIORITIVE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PROCESS ID (PID)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ARRIVAL TIME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BURST TIME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757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166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052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78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688198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67BA528-E0CF-4954-A452-109479C1B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284701"/>
              </p:ext>
            </p:extLst>
          </p:nvPr>
        </p:nvGraphicFramePr>
        <p:xfrm>
          <a:off x="1141413" y="5335948"/>
          <a:ext cx="325723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070">
                  <a:extLst>
                    <a:ext uri="{9D8B030D-6E8A-4147-A177-3AD203B41FA5}">
                      <a16:colId xmlns:a16="http://schemas.microsoft.com/office/drawing/2014/main" val="3992945678"/>
                    </a:ext>
                  </a:extLst>
                </a:gridCol>
                <a:gridCol w="407674">
                  <a:extLst>
                    <a:ext uri="{9D8B030D-6E8A-4147-A177-3AD203B41FA5}">
                      <a16:colId xmlns:a16="http://schemas.microsoft.com/office/drawing/2014/main" val="106958232"/>
                    </a:ext>
                  </a:extLst>
                </a:gridCol>
                <a:gridCol w="542872">
                  <a:extLst>
                    <a:ext uri="{9D8B030D-6E8A-4147-A177-3AD203B41FA5}">
                      <a16:colId xmlns:a16="http://schemas.microsoft.com/office/drawing/2014/main" val="1264120263"/>
                    </a:ext>
                  </a:extLst>
                </a:gridCol>
                <a:gridCol w="542872">
                  <a:extLst>
                    <a:ext uri="{9D8B030D-6E8A-4147-A177-3AD203B41FA5}">
                      <a16:colId xmlns:a16="http://schemas.microsoft.com/office/drawing/2014/main" val="3272547500"/>
                    </a:ext>
                  </a:extLst>
                </a:gridCol>
                <a:gridCol w="542872">
                  <a:extLst>
                    <a:ext uri="{9D8B030D-6E8A-4147-A177-3AD203B41FA5}">
                      <a16:colId xmlns:a16="http://schemas.microsoft.com/office/drawing/2014/main" val="2153086451"/>
                    </a:ext>
                  </a:extLst>
                </a:gridCol>
                <a:gridCol w="542872">
                  <a:extLst>
                    <a:ext uri="{9D8B030D-6E8A-4147-A177-3AD203B41FA5}">
                      <a16:colId xmlns:a16="http://schemas.microsoft.com/office/drawing/2014/main" val="603620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TIME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574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PID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69875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9C86FE8-E109-47AE-A808-39BD43E87E2C}"/>
              </a:ext>
            </a:extLst>
          </p:cNvPr>
          <p:cNvSpPr/>
          <p:nvPr/>
        </p:nvSpPr>
        <p:spPr>
          <a:xfrm>
            <a:off x="1018075" y="4439147"/>
            <a:ext cx="35039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Gantt Chart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A1EE5D44-46C3-48D5-9884-FFDD77150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787034"/>
              </p:ext>
            </p:extLst>
          </p:nvPr>
        </p:nvGraphicFramePr>
        <p:xfrm>
          <a:off x="7922792" y="2239145"/>
          <a:ext cx="243630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6932">
                  <a:extLst>
                    <a:ext uri="{9D8B030D-6E8A-4147-A177-3AD203B41FA5}">
                      <a16:colId xmlns:a16="http://schemas.microsoft.com/office/drawing/2014/main" val="2843696860"/>
                    </a:ext>
                  </a:extLst>
                </a:gridCol>
                <a:gridCol w="518474">
                  <a:extLst>
                    <a:ext uri="{9D8B030D-6E8A-4147-A177-3AD203B41FA5}">
                      <a16:colId xmlns:a16="http://schemas.microsoft.com/office/drawing/2014/main" val="12272266"/>
                    </a:ext>
                  </a:extLst>
                </a:gridCol>
                <a:gridCol w="716437">
                  <a:extLst>
                    <a:ext uri="{9D8B030D-6E8A-4147-A177-3AD203B41FA5}">
                      <a16:colId xmlns:a16="http://schemas.microsoft.com/office/drawing/2014/main" val="2026640846"/>
                    </a:ext>
                  </a:extLst>
                </a:gridCol>
                <a:gridCol w="584462">
                  <a:extLst>
                    <a:ext uri="{9D8B030D-6E8A-4147-A177-3AD203B41FA5}">
                      <a16:colId xmlns:a16="http://schemas.microsoft.com/office/drawing/2014/main" val="2163443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PID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C.T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T.A.T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W.T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101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762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184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91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084524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28F4ABB9-5346-4F5D-81D8-90ADAE612DE6}"/>
              </a:ext>
            </a:extLst>
          </p:cNvPr>
          <p:cNvSpPr/>
          <p:nvPr/>
        </p:nvSpPr>
        <p:spPr>
          <a:xfrm>
            <a:off x="2897721" y="1687238"/>
            <a:ext cx="663906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Consider the lowest number to be the highest priority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01682A-6F48-4FDE-8543-F51F4C702928}"/>
              </a:ext>
            </a:extLst>
          </p:cNvPr>
          <p:cNvSpPr/>
          <p:nvPr/>
        </p:nvSpPr>
        <p:spPr>
          <a:xfrm>
            <a:off x="5600201" y="5043560"/>
            <a:ext cx="464518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T.A.T = C.T – ARRIVAL TIME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02646B-F5DB-45AB-9352-6A9D20B230EC}"/>
              </a:ext>
            </a:extLst>
          </p:cNvPr>
          <p:cNvSpPr/>
          <p:nvPr/>
        </p:nvSpPr>
        <p:spPr>
          <a:xfrm>
            <a:off x="5707796" y="5695950"/>
            <a:ext cx="44299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W.T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T.A.T – BURST TIME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8DFFAA-D736-4470-AAE1-6510B0004877}"/>
              </a:ext>
            </a:extLst>
          </p:cNvPr>
          <p:cNvSpPr/>
          <p:nvPr/>
        </p:nvSpPr>
        <p:spPr>
          <a:xfrm>
            <a:off x="7922792" y="4093345"/>
            <a:ext cx="28316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Average = 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9.5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5.5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units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ECB004-381C-47B7-845B-D95632E05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3" y="6204030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D266FE-C2B7-4221-8029-07F517A4E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750006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6461</TotalTime>
  <Words>999</Words>
  <Application>Microsoft Office PowerPoint</Application>
  <PresentationFormat>Widescreen</PresentationFormat>
  <Paragraphs>305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Tw Cen MT</vt:lpstr>
      <vt:lpstr>Wingdings</vt:lpstr>
      <vt:lpstr>Circuit</vt:lpstr>
      <vt:lpstr>OPERATING SYSTEM </vt:lpstr>
      <vt:lpstr>Hardware Trojans (HT)</vt:lpstr>
      <vt:lpstr>Characteristics of Hardware Trojans</vt:lpstr>
      <vt:lpstr>Characteristics of Hardware Trojans (continues…)</vt:lpstr>
      <vt:lpstr>Impact of Hardware Trojans </vt:lpstr>
      <vt:lpstr>Mitigation and Remediation techniques of HT</vt:lpstr>
      <vt:lpstr>QUESTION </vt:lpstr>
      <vt:lpstr>FIRST COME FIRST SERVED SCHEDULING </vt:lpstr>
      <vt:lpstr>FIRST COME FIRST SERVED SCHEDULING (CONTINUES…)</vt:lpstr>
      <vt:lpstr>SHORTEST JOB FIRST – Non pre-emptive </vt:lpstr>
      <vt:lpstr>SHORTEST JOB FIRST – pre-emptive </vt:lpstr>
      <vt:lpstr>PRIORITY SHEDULING ALGORITHM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VULNERABILITY ASSESSMENT</dc:title>
  <dc:creator>James Soko</dc:creator>
  <cp:lastModifiedBy>James Soko</cp:lastModifiedBy>
  <cp:revision>546</cp:revision>
  <dcterms:created xsi:type="dcterms:W3CDTF">2025-03-10T06:53:39Z</dcterms:created>
  <dcterms:modified xsi:type="dcterms:W3CDTF">2025-09-16T16:55:37Z</dcterms:modified>
</cp:coreProperties>
</file>