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28"/>
  </p:notesMasterIdLst>
  <p:sldIdLst>
    <p:sldId id="385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412" r:id="rId12"/>
    <p:sldId id="397" r:id="rId13"/>
    <p:sldId id="396" r:id="rId14"/>
    <p:sldId id="398" r:id="rId15"/>
    <p:sldId id="399" r:id="rId16"/>
    <p:sldId id="403" r:id="rId17"/>
    <p:sldId id="400" r:id="rId18"/>
    <p:sldId id="404" r:id="rId19"/>
    <p:sldId id="401" r:id="rId20"/>
    <p:sldId id="405" r:id="rId21"/>
    <p:sldId id="402" r:id="rId22"/>
    <p:sldId id="406" r:id="rId23"/>
    <p:sldId id="408" r:id="rId24"/>
    <p:sldId id="409" r:id="rId25"/>
    <p:sldId id="410" r:id="rId26"/>
    <p:sldId id="41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970E8-EBEC-4B17-9981-540EDA20007C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CDA2F-4A61-4AB9-9F67-F800E17419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16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75C900B-D37D-4BA7-A9BE-6F8F4C730E73}" type="datetime1">
              <a:rPr lang="LID4096" smtClean="0"/>
              <a:t>10/13/2025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995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4D7-4899-4AC0-8A2B-971563879D03}" type="datetime1">
              <a:rPr lang="LID4096" smtClean="0"/>
              <a:t>10/13/2025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75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AA27-34EF-419A-A21B-B62F6FC47252}" type="datetime1">
              <a:rPr lang="LID4096" smtClean="0"/>
              <a:t>10/13/2025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720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9C8D-BA9F-45CB-97CC-20C0D1B48E29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853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76C-42A2-45CC-AE47-D4FF21D12911}" type="datetime1">
              <a:rPr lang="LID4096" smtClean="0"/>
              <a:t>10/13/2025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734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A6F3-D201-4388-AF48-65415D5FE10C}" type="datetime1">
              <a:rPr lang="LID4096" smtClean="0"/>
              <a:t>10/13/2025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66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A3DF2-0D13-4ADA-B534-60CBDCC4C3D0}" type="datetime1">
              <a:rPr lang="LID4096" smtClean="0"/>
              <a:t>10/13/2025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271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3457-F0B3-4C98-A8C1-3723A765C8D7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2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EB19-8909-4F21-B1E7-29411BE5F101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678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0D5-17EC-44DA-B4FF-83A376CE1AE8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03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F22B-A096-4D72-8B1F-A2065347EC63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382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BAA9-3BC4-4530-A52B-89CAD9A46DB8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303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2EEC-E7AF-483A-8F76-12FF7F8594A4}" type="datetime1">
              <a:rPr lang="LID4096" smtClean="0"/>
              <a:t>10/13/2025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991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ED23B-6EDA-4F9E-99F9-577FD3B41D55}" type="datetime1">
              <a:rPr lang="LID4096" smtClean="0"/>
              <a:t>10/13/2025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177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A0EB-0A94-484B-B852-9E3410130E9D}" type="datetime1">
              <a:rPr lang="LID4096" smtClean="0"/>
              <a:t>10/13/2025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829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F95DD-E87D-48C2-A21D-16BF9416B98D}" type="datetime1">
              <a:rPr lang="LID4096" smtClean="0"/>
              <a:t>10/13/2025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661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917D-6DD0-4440-8F79-CC7921395BC0}" type="datetime1">
              <a:rPr lang="LID4096" smtClean="0"/>
              <a:t>10/13/2025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210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E4E13-8CE7-48B4-8974-A9E684A5CB96}" type="datetime1">
              <a:rPr lang="LID4096" smtClean="0"/>
              <a:t>10/13/2025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771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234CB3-29F0-4A4C-845E-4ACACD8B9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TEST 2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E9FC4A2-FED0-4B47-B747-3F0B3E522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ANSWERS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53697-3340-4A45-8D3B-BF2F87A2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9CE1F-5996-4C61-BF6F-B33CC035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89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9DA8-EDAE-4801-8467-EA7D3F90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032B-5628-42B1-AEC2-760BDA378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Question one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 overflow counts for about 23% according to the CVSS of the attack and therefore, requires deep knowledge and understanding in order to easily identify and mitigate it as a vulnerability. This introduces one’s and two’s compliment numbers in binary number system which the computer is believed to be using.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Add the following numbers in two’s compliment using 8 bits. Determine whether an overflow has occurred. Show all your working. [6 Marks]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CE6E6-D9EB-4E63-9A5B-3CB22AF1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5D005-5CD7-44A1-8A54-D3D7879F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340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-47 and 19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80BAF-A997-4E55-9EDA-E0957AFBAE5B}"/>
              </a:ext>
            </a:extLst>
          </p:cNvPr>
          <p:cNvSpPr/>
          <p:nvPr/>
        </p:nvSpPr>
        <p:spPr>
          <a:xfrm>
            <a:off x="1642922" y="2807080"/>
            <a:ext cx="35894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-47 + 19 or 19 – 47 = -28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83461" y="2807079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458178" y="3129985"/>
            <a:ext cx="33634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0    1 0 0 1 1 = 19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31352-14CE-441D-8AFF-5FA9E2FC680B}"/>
              </a:ext>
            </a:extLst>
          </p:cNvPr>
          <p:cNvSpPr/>
          <p:nvPr/>
        </p:nvSpPr>
        <p:spPr>
          <a:xfrm>
            <a:off x="6514283" y="35586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= 47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09F68-335E-41A7-AACE-D9A41F4B950C}"/>
              </a:ext>
            </a:extLst>
          </p:cNvPr>
          <p:cNvSpPr/>
          <p:nvPr/>
        </p:nvSpPr>
        <p:spPr>
          <a:xfrm>
            <a:off x="6514283" y="3941910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47’s 1’s compliment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1959B-7929-4365-B688-121405CC8AB8}"/>
              </a:ext>
            </a:extLst>
          </p:cNvPr>
          <p:cNvSpPr/>
          <p:nvPr/>
        </p:nvSpPr>
        <p:spPr>
          <a:xfrm>
            <a:off x="8717809" y="4292170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C148C-61B0-4E22-88DF-10A28C701185}"/>
              </a:ext>
            </a:extLst>
          </p:cNvPr>
          <p:cNvSpPr/>
          <p:nvPr/>
        </p:nvSpPr>
        <p:spPr>
          <a:xfrm>
            <a:off x="6541453" y="4264816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8997D2-0B51-4CDF-A17D-9E88D8B280AD}"/>
              </a:ext>
            </a:extLst>
          </p:cNvPr>
          <p:cNvCxnSpPr>
            <a:cxnSpLocks/>
          </p:cNvCxnSpPr>
          <p:nvPr/>
        </p:nvCxnSpPr>
        <p:spPr>
          <a:xfrm>
            <a:off x="6736378" y="4753835"/>
            <a:ext cx="224256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1E32F-50B4-4F2D-B5DE-F9FC5F5A3C90}"/>
              </a:ext>
            </a:extLst>
          </p:cNvPr>
          <p:cNvSpPr/>
          <p:nvPr/>
        </p:nvSpPr>
        <p:spPr>
          <a:xfrm>
            <a:off x="6541453" y="4748060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47’s 2’s compliment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D84D76-DD40-4041-90DF-18451FAABDD1}"/>
              </a:ext>
            </a:extLst>
          </p:cNvPr>
          <p:cNvSpPr/>
          <p:nvPr/>
        </p:nvSpPr>
        <p:spPr>
          <a:xfrm>
            <a:off x="1738186" y="3377314"/>
            <a:ext cx="150874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 + (-47)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8153E-08E6-4B6A-B88B-46569C8939D0}"/>
              </a:ext>
            </a:extLst>
          </p:cNvPr>
          <p:cNvSpPr/>
          <p:nvPr/>
        </p:nvSpPr>
        <p:spPr>
          <a:xfrm>
            <a:off x="1738186" y="3840261"/>
            <a:ext cx="33634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0    1 0 0 1 1 = 19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555AA7-A7F4-479D-A843-01695170DC3D}"/>
              </a:ext>
            </a:extLst>
          </p:cNvPr>
          <p:cNvSpPr/>
          <p:nvPr/>
        </p:nvSpPr>
        <p:spPr>
          <a:xfrm>
            <a:off x="1795299" y="4241315"/>
            <a:ext cx="47189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47’s 2’s comp.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A3555-4B66-4A7C-A481-1FFBF2E183C8}"/>
              </a:ext>
            </a:extLst>
          </p:cNvPr>
          <p:cNvSpPr/>
          <p:nvPr/>
        </p:nvSpPr>
        <p:spPr>
          <a:xfrm>
            <a:off x="1447996" y="4245298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1555423" y="4726481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6F6B1-9E20-4C72-B229-4C540AB8E231}"/>
              </a:ext>
            </a:extLst>
          </p:cNvPr>
          <p:cNvSpPr/>
          <p:nvPr/>
        </p:nvSpPr>
        <p:spPr>
          <a:xfrm>
            <a:off x="1814938" y="4745011"/>
            <a:ext cx="25555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94F56D-521F-4D18-9E21-A01891B2CD57}"/>
              </a:ext>
            </a:extLst>
          </p:cNvPr>
          <p:cNvCxnSpPr/>
          <p:nvPr/>
        </p:nvCxnSpPr>
        <p:spPr>
          <a:xfrm>
            <a:off x="7220932" y="2696066"/>
            <a:ext cx="65988" cy="2510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658278-0A08-4B67-B916-B7807A5AC955}"/>
              </a:ext>
            </a:extLst>
          </p:cNvPr>
          <p:cNvCxnSpPr/>
          <p:nvPr/>
        </p:nvCxnSpPr>
        <p:spPr>
          <a:xfrm>
            <a:off x="2545237" y="3838979"/>
            <a:ext cx="0" cy="1477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89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98 and 74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80BAF-A997-4E55-9EDA-E0957AFBAE5B}"/>
              </a:ext>
            </a:extLst>
          </p:cNvPr>
          <p:cNvSpPr/>
          <p:nvPr/>
        </p:nvSpPr>
        <p:spPr>
          <a:xfrm>
            <a:off x="1738186" y="2792789"/>
            <a:ext cx="21243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98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74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172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83461" y="2807079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514283" y="312998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1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31352-14CE-441D-8AFF-5FA9E2FC680B}"/>
              </a:ext>
            </a:extLst>
          </p:cNvPr>
          <p:cNvSpPr/>
          <p:nvPr/>
        </p:nvSpPr>
        <p:spPr>
          <a:xfrm>
            <a:off x="6514283" y="35586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1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74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C148C-61B0-4E22-88DF-10A28C701185}"/>
              </a:ext>
            </a:extLst>
          </p:cNvPr>
          <p:cNvSpPr/>
          <p:nvPr/>
        </p:nvSpPr>
        <p:spPr>
          <a:xfrm>
            <a:off x="6139550" y="3549170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6271900" y="4019063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6F6B1-9E20-4C72-B229-4C540AB8E231}"/>
              </a:ext>
            </a:extLst>
          </p:cNvPr>
          <p:cNvSpPr/>
          <p:nvPr/>
        </p:nvSpPr>
        <p:spPr>
          <a:xfrm>
            <a:off x="6599243" y="4033015"/>
            <a:ext cx="33329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0 1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172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E55C45-EF2D-44E6-B06D-0356C7114E40}"/>
              </a:ext>
            </a:extLst>
          </p:cNvPr>
          <p:cNvCxnSpPr/>
          <p:nvPr/>
        </p:nvCxnSpPr>
        <p:spPr>
          <a:xfrm>
            <a:off x="6853287" y="2792789"/>
            <a:ext cx="0" cy="1701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9503D49-41BC-45DF-9A68-62A7694FA9F3}"/>
              </a:ext>
            </a:extLst>
          </p:cNvPr>
          <p:cNvSpPr/>
          <p:nvPr/>
        </p:nvSpPr>
        <p:spPr>
          <a:xfrm>
            <a:off x="1329735" y="4909575"/>
            <a:ext cx="32807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has occurred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1AE78B-8F3A-476A-ACD5-77187CCB5FE4}"/>
              </a:ext>
            </a:extLst>
          </p:cNvPr>
          <p:cNvCxnSpPr>
            <a:stCxn id="24" idx="1"/>
            <a:endCxn id="15" idx="3"/>
          </p:cNvCxnSpPr>
          <p:nvPr/>
        </p:nvCxnSpPr>
        <p:spPr>
          <a:xfrm flipH="1">
            <a:off x="4610505" y="4263848"/>
            <a:ext cx="1988738" cy="876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60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1FF9-C9F9-48DB-B225-9E9BAF85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DD62-6BC6-4FFB-9A50-6E797A657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2"/>
            </a:pPr>
            <a:r>
              <a:rPr lang="en-US" dirty="0"/>
              <a:t>Add the following numbers in one’s compliment using 8 bits. Determine whether an overflow has occurred. [6 Marks]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25 and -56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DC3D1-11A6-4BA1-A28B-9C35573F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7647A-0EF7-4433-AC55-14F9D905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755A2-5A8F-4A83-8D82-1E258FA8E67F}"/>
              </a:ext>
            </a:extLst>
          </p:cNvPr>
          <p:cNvSpPr/>
          <p:nvPr/>
        </p:nvSpPr>
        <p:spPr>
          <a:xfrm>
            <a:off x="1642910" y="3674508"/>
            <a:ext cx="23262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(-56) = -31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11C8D-9394-4D16-A78C-98A4B817E49A}"/>
              </a:ext>
            </a:extLst>
          </p:cNvPr>
          <p:cNvSpPr/>
          <p:nvPr/>
        </p:nvSpPr>
        <p:spPr>
          <a:xfrm>
            <a:off x="6781554" y="3674507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34A1C-8914-47D8-BCD3-0AADBDE841FE}"/>
              </a:ext>
            </a:extLst>
          </p:cNvPr>
          <p:cNvSpPr/>
          <p:nvPr/>
        </p:nvSpPr>
        <p:spPr>
          <a:xfrm>
            <a:off x="7104531" y="4020344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42A68-0EB4-492D-83A3-6F82A1828E6A}"/>
              </a:ext>
            </a:extLst>
          </p:cNvPr>
          <p:cNvSpPr/>
          <p:nvPr/>
        </p:nvSpPr>
        <p:spPr>
          <a:xfrm>
            <a:off x="7104531" y="440357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0 = 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467041-19CD-4038-931F-D56203B6871D}"/>
              </a:ext>
            </a:extLst>
          </p:cNvPr>
          <p:cNvSpPr/>
          <p:nvPr/>
        </p:nvSpPr>
        <p:spPr>
          <a:xfrm>
            <a:off x="7010263" y="4726480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0 0 1 1 1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56’s 1’s comp.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EFFC01-0E4D-458F-B87A-5C531AC5DC90}"/>
              </a:ext>
            </a:extLst>
          </p:cNvPr>
          <p:cNvSpPr/>
          <p:nvPr/>
        </p:nvSpPr>
        <p:spPr>
          <a:xfrm>
            <a:off x="1625656" y="4177208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AFD52D-50B2-4A32-BAA4-75F01C9CDFE4}"/>
              </a:ext>
            </a:extLst>
          </p:cNvPr>
          <p:cNvSpPr/>
          <p:nvPr/>
        </p:nvSpPr>
        <p:spPr>
          <a:xfrm>
            <a:off x="1295326" y="4574839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7B9A1F-6A31-4E25-98CE-E5DD0BCE77AC}"/>
              </a:ext>
            </a:extLst>
          </p:cNvPr>
          <p:cNvCxnSpPr/>
          <p:nvPr/>
        </p:nvCxnSpPr>
        <p:spPr>
          <a:xfrm>
            <a:off x="1295326" y="5022104"/>
            <a:ext cx="277705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465193F-A280-43D2-9F88-35723D98B2AC}"/>
              </a:ext>
            </a:extLst>
          </p:cNvPr>
          <p:cNvSpPr/>
          <p:nvPr/>
        </p:nvSpPr>
        <p:spPr>
          <a:xfrm>
            <a:off x="1537385" y="4560439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0 0 1 1 1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56’s 1’s comp.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7F85CE-60AA-46E8-9264-7B87A9A3B2B7}"/>
              </a:ext>
            </a:extLst>
          </p:cNvPr>
          <p:cNvSpPr/>
          <p:nvPr/>
        </p:nvSpPr>
        <p:spPr>
          <a:xfrm>
            <a:off x="1583352" y="5050904"/>
            <a:ext cx="33473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1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0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-31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BD618-DF7A-44C9-BEF9-AB47B3351640}"/>
              </a:ext>
            </a:extLst>
          </p:cNvPr>
          <p:cNvCxnSpPr/>
          <p:nvPr/>
        </p:nvCxnSpPr>
        <p:spPr>
          <a:xfrm>
            <a:off x="7814821" y="3674507"/>
            <a:ext cx="0" cy="1513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FC8737-8928-46DE-ABD3-0F0CD8666E2F}"/>
              </a:ext>
            </a:extLst>
          </p:cNvPr>
          <p:cNvCxnSpPr/>
          <p:nvPr/>
        </p:nvCxnSpPr>
        <p:spPr>
          <a:xfrm>
            <a:off x="2356701" y="4177208"/>
            <a:ext cx="0" cy="14128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30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-77 and -77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79287" y="633173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6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80BAF-A997-4E55-9EDA-E0957AFBAE5B}"/>
              </a:ext>
            </a:extLst>
          </p:cNvPr>
          <p:cNvSpPr/>
          <p:nvPr/>
        </p:nvSpPr>
        <p:spPr>
          <a:xfrm>
            <a:off x="1662277" y="2767905"/>
            <a:ext cx="25987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77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(-77)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-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154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83461" y="2807079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514283" y="3129985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77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09F68-335E-41A7-AACE-D9A41F4B950C}"/>
              </a:ext>
            </a:extLst>
          </p:cNvPr>
          <p:cNvSpPr/>
          <p:nvPr/>
        </p:nvSpPr>
        <p:spPr>
          <a:xfrm>
            <a:off x="6514283" y="3538028"/>
            <a:ext cx="54369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77’s 1’s compliment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A3555-4B66-4A7C-A481-1FFBF2E183C8}"/>
              </a:ext>
            </a:extLst>
          </p:cNvPr>
          <p:cNvSpPr/>
          <p:nvPr/>
        </p:nvSpPr>
        <p:spPr>
          <a:xfrm>
            <a:off x="1417492" y="3708171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75A36-DC3A-41E3-BEE4-56D36E7FE52B}"/>
              </a:ext>
            </a:extLst>
          </p:cNvPr>
          <p:cNvCxnSpPr/>
          <p:nvPr/>
        </p:nvCxnSpPr>
        <p:spPr>
          <a:xfrm flipV="1">
            <a:off x="1430241" y="4159809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699D3-30BD-4566-9130-D58EA4B233D7}"/>
              </a:ext>
            </a:extLst>
          </p:cNvPr>
          <p:cNvSpPr/>
          <p:nvPr/>
        </p:nvSpPr>
        <p:spPr>
          <a:xfrm>
            <a:off x="1662277" y="3292849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77’s 1’s comp.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38877B-EDB8-430C-948C-C5649FF6DFB8}"/>
              </a:ext>
            </a:extLst>
          </p:cNvPr>
          <p:cNvSpPr/>
          <p:nvPr/>
        </p:nvSpPr>
        <p:spPr>
          <a:xfrm>
            <a:off x="1662277" y="3709695"/>
            <a:ext cx="48021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0  1    1 0 0 1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77’s 1’s comp.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EAC4EF-4FA8-4D18-A782-06C583F059F4}"/>
              </a:ext>
            </a:extLst>
          </p:cNvPr>
          <p:cNvSpPr/>
          <p:nvPr/>
        </p:nvSpPr>
        <p:spPr>
          <a:xfrm>
            <a:off x="1260049" y="4226589"/>
            <a:ext cx="30460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57CF57-F399-459E-A0CF-FCEDE3CA797D}"/>
              </a:ext>
            </a:extLst>
          </p:cNvPr>
          <p:cNvSpPr/>
          <p:nvPr/>
        </p:nvSpPr>
        <p:spPr>
          <a:xfrm>
            <a:off x="1468775" y="6149713"/>
            <a:ext cx="34086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as occurred 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89AF03-D221-41DC-9042-6B7D3508AA2A}"/>
              </a:ext>
            </a:extLst>
          </p:cNvPr>
          <p:cNvCxnSpPr/>
          <p:nvPr/>
        </p:nvCxnSpPr>
        <p:spPr>
          <a:xfrm>
            <a:off x="6825006" y="2767905"/>
            <a:ext cx="0" cy="1231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6990DD5-40E6-4E98-BF3D-0DC22372B9D4}"/>
              </a:ext>
            </a:extLst>
          </p:cNvPr>
          <p:cNvSpPr/>
          <p:nvPr/>
        </p:nvSpPr>
        <p:spPr>
          <a:xfrm>
            <a:off x="3377314" y="4633842"/>
            <a:ext cx="9204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BD954E-CBCB-499A-9319-DCFE785FECE2}"/>
              </a:ext>
            </a:extLst>
          </p:cNvPr>
          <p:cNvCxnSpPr/>
          <p:nvPr/>
        </p:nvCxnSpPr>
        <p:spPr>
          <a:xfrm flipV="1">
            <a:off x="1468775" y="5060143"/>
            <a:ext cx="2705642" cy="215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717C2EB-B347-42BC-8FB0-49CE40A843A2}"/>
              </a:ext>
            </a:extLst>
          </p:cNvPr>
          <p:cNvSpPr/>
          <p:nvPr/>
        </p:nvSpPr>
        <p:spPr>
          <a:xfrm>
            <a:off x="1733905" y="4624062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49A5B6-BCC9-4B50-BACA-6D080509877C}"/>
              </a:ext>
            </a:extLst>
          </p:cNvPr>
          <p:cNvSpPr/>
          <p:nvPr/>
        </p:nvSpPr>
        <p:spPr>
          <a:xfrm>
            <a:off x="1251732" y="5081722"/>
            <a:ext cx="30460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FFAB1E-90F8-4653-AA22-D67AC38D91D9}"/>
              </a:ext>
            </a:extLst>
          </p:cNvPr>
          <p:cNvCxnSpPr/>
          <p:nvPr/>
        </p:nvCxnSpPr>
        <p:spPr>
          <a:xfrm>
            <a:off x="2123756" y="3268744"/>
            <a:ext cx="0" cy="23779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FADB2A-8C53-42CC-9307-77DA085523D2}"/>
              </a:ext>
            </a:extLst>
          </p:cNvPr>
          <p:cNvCxnSpPr/>
          <p:nvPr/>
        </p:nvCxnSpPr>
        <p:spPr>
          <a:xfrm>
            <a:off x="1928830" y="5543387"/>
            <a:ext cx="0" cy="522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11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0EB5-0374-4C31-8C79-E04D3C20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58B8-49BB-4043-A60A-13D360C4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3"/>
            </a:pPr>
            <a:r>
              <a:rPr lang="en-US" dirty="0"/>
              <a:t>Subtract the following numbers in one’s compliment using 8 bits. Determine whether an overflow has occurred.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66 – (-78) = 144</a:t>
            </a:r>
          </a:p>
          <a:p>
            <a:pPr marL="0" indent="0">
              <a:buNone/>
            </a:pPr>
            <a:r>
              <a:rPr lang="en-US" dirty="0"/>
              <a:t>This is the same as 66 + (78)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C0745-E614-441C-8F00-2DEBE35D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5217" y="635657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ED227-0A4B-4E5C-8E15-72EB72B2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7</a:t>
            </a:fld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35153-6516-4D24-860D-CFEFCEEE597E}"/>
              </a:ext>
            </a:extLst>
          </p:cNvPr>
          <p:cNvSpPr/>
          <p:nvPr/>
        </p:nvSpPr>
        <p:spPr>
          <a:xfrm>
            <a:off x="6494546" y="3429000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71B25-7EE1-4862-818F-D3ABFA791C1F}"/>
              </a:ext>
            </a:extLst>
          </p:cNvPr>
          <p:cNvSpPr/>
          <p:nvPr/>
        </p:nvSpPr>
        <p:spPr>
          <a:xfrm>
            <a:off x="6815941" y="3789511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0   1  0    0 0 0 1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66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31F236-84F1-411B-811C-02FD744258FB}"/>
              </a:ext>
            </a:extLst>
          </p:cNvPr>
          <p:cNvSpPr/>
          <p:nvPr/>
        </p:nvSpPr>
        <p:spPr>
          <a:xfrm>
            <a:off x="6815940" y="4199012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0   1  0    0 1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DA9BC-080D-4000-A22B-127235BF55F0}"/>
              </a:ext>
            </a:extLst>
          </p:cNvPr>
          <p:cNvSpPr/>
          <p:nvPr/>
        </p:nvSpPr>
        <p:spPr>
          <a:xfrm>
            <a:off x="6506931" y="4180736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F370F9-2CA0-4AB6-AB6E-94FE4B2BEC63}"/>
              </a:ext>
            </a:extLst>
          </p:cNvPr>
          <p:cNvCxnSpPr/>
          <p:nvPr/>
        </p:nvCxnSpPr>
        <p:spPr>
          <a:xfrm>
            <a:off x="6587773" y="4660676"/>
            <a:ext cx="269606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29C24-64BE-4A36-B2FA-44E39096DD30}"/>
              </a:ext>
            </a:extLst>
          </p:cNvPr>
          <p:cNvSpPr/>
          <p:nvPr/>
        </p:nvSpPr>
        <p:spPr>
          <a:xfrm>
            <a:off x="6331039" y="4608513"/>
            <a:ext cx="312777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1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1 0 0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D0D22A0-AF36-44B1-8AE5-6BA2533E674B}"/>
              </a:ext>
            </a:extLst>
          </p:cNvPr>
          <p:cNvCxnSpPr/>
          <p:nvPr/>
        </p:nvCxnSpPr>
        <p:spPr>
          <a:xfrm>
            <a:off x="7041822" y="5070178"/>
            <a:ext cx="0" cy="41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B590921-C54B-495B-AD9B-A24BCCF04785}"/>
              </a:ext>
            </a:extLst>
          </p:cNvPr>
          <p:cNvSpPr/>
          <p:nvPr/>
        </p:nvSpPr>
        <p:spPr>
          <a:xfrm>
            <a:off x="6587773" y="5631657"/>
            <a:ext cx="34086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overflow as occurred 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B4D82F-68D0-43D8-AD3C-248AA610C3D4}"/>
              </a:ext>
            </a:extLst>
          </p:cNvPr>
          <p:cNvCxnSpPr/>
          <p:nvPr/>
        </p:nvCxnSpPr>
        <p:spPr>
          <a:xfrm>
            <a:off x="6587773" y="5107664"/>
            <a:ext cx="269606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31AA91-84CD-4CDD-AEA0-9BF53A20C3E4}"/>
              </a:ext>
            </a:extLst>
          </p:cNvPr>
          <p:cNvCxnSpPr/>
          <p:nvPr/>
        </p:nvCxnSpPr>
        <p:spPr>
          <a:xfrm>
            <a:off x="7145518" y="3337089"/>
            <a:ext cx="0" cy="20044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53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80BC-EEE8-4EF3-9523-3799B29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21B1-84CD-42FC-AE8F-C6D81F8E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72 – 25 = 47 is 72 + (-25)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E584F-FFC1-4558-B1D6-832D7209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434A-80B0-4536-9363-3B04364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8</a:t>
            </a:fld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F1267-2763-4FD9-A2D3-44FDDA124E12}"/>
              </a:ext>
            </a:extLst>
          </p:cNvPr>
          <p:cNvSpPr/>
          <p:nvPr/>
        </p:nvSpPr>
        <p:spPr>
          <a:xfrm>
            <a:off x="6194052" y="2391451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B3D5C-D73E-4E0A-9D8A-FBB3CC7E7967}"/>
              </a:ext>
            </a:extLst>
          </p:cNvPr>
          <p:cNvSpPr/>
          <p:nvPr/>
        </p:nvSpPr>
        <p:spPr>
          <a:xfrm>
            <a:off x="6514283" y="2714357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0 = 72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31352-14CE-441D-8AFF-5FA9E2FC680B}"/>
              </a:ext>
            </a:extLst>
          </p:cNvPr>
          <p:cNvSpPr/>
          <p:nvPr/>
        </p:nvSpPr>
        <p:spPr>
          <a:xfrm>
            <a:off x="6514283" y="3087153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45E744-1895-4B65-988C-96BBA8588645}"/>
              </a:ext>
            </a:extLst>
          </p:cNvPr>
          <p:cNvSpPr/>
          <p:nvPr/>
        </p:nvSpPr>
        <p:spPr>
          <a:xfrm>
            <a:off x="6514283" y="3440010"/>
            <a:ext cx="54914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= 25’s 1’s Compliment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63AD9A-1D4B-46B9-A9E8-E8F8A5EA3431}"/>
              </a:ext>
            </a:extLst>
          </p:cNvPr>
          <p:cNvSpPr/>
          <p:nvPr/>
        </p:nvSpPr>
        <p:spPr>
          <a:xfrm>
            <a:off x="1515345" y="3547856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0 = 72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8D63A6-4B02-4401-8D85-23624D57D3D4}"/>
              </a:ext>
            </a:extLst>
          </p:cNvPr>
          <p:cNvSpPr/>
          <p:nvPr/>
        </p:nvSpPr>
        <p:spPr>
          <a:xfrm>
            <a:off x="1515345" y="4043639"/>
            <a:ext cx="54914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= 25’s 1’s Compliment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D573E7-7C25-4640-B906-A9B1555B21D9}"/>
              </a:ext>
            </a:extLst>
          </p:cNvPr>
          <p:cNvCxnSpPr/>
          <p:nvPr/>
        </p:nvCxnSpPr>
        <p:spPr>
          <a:xfrm>
            <a:off x="1515345" y="4507348"/>
            <a:ext cx="25250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2F3F585-FB63-4B21-BE07-4469BB0D01A3}"/>
              </a:ext>
            </a:extLst>
          </p:cNvPr>
          <p:cNvSpPr/>
          <p:nvPr/>
        </p:nvSpPr>
        <p:spPr>
          <a:xfrm>
            <a:off x="1268088" y="4046768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099E0D-7D28-4143-8E0D-BE074A88129A}"/>
              </a:ext>
            </a:extLst>
          </p:cNvPr>
          <p:cNvSpPr/>
          <p:nvPr/>
        </p:nvSpPr>
        <p:spPr>
          <a:xfrm>
            <a:off x="1036749" y="4524367"/>
            <a:ext cx="312777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0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0  1    0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09B623-9523-4045-85D0-D5360C82C20E}"/>
              </a:ext>
            </a:extLst>
          </p:cNvPr>
          <p:cNvSpPr/>
          <p:nvPr/>
        </p:nvSpPr>
        <p:spPr>
          <a:xfrm>
            <a:off x="3757512" y="4887573"/>
            <a:ext cx="348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B18AC80-4E85-4FD8-AA1A-BA8139D63DFA}"/>
              </a:ext>
            </a:extLst>
          </p:cNvPr>
          <p:cNvCxnSpPr/>
          <p:nvPr/>
        </p:nvCxnSpPr>
        <p:spPr>
          <a:xfrm>
            <a:off x="1499149" y="5349238"/>
            <a:ext cx="25250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0A910505-080C-4456-977D-6FD0394B787F}"/>
              </a:ext>
            </a:extLst>
          </p:cNvPr>
          <p:cNvSpPr/>
          <p:nvPr/>
        </p:nvSpPr>
        <p:spPr>
          <a:xfrm>
            <a:off x="1251892" y="4888858"/>
            <a:ext cx="38985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en-US" sz="24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B8F18C7-379E-403E-BBF4-28EED2BF2B32}"/>
              </a:ext>
            </a:extLst>
          </p:cNvPr>
          <p:cNvSpPr/>
          <p:nvPr/>
        </p:nvSpPr>
        <p:spPr>
          <a:xfrm>
            <a:off x="1141653" y="5337825"/>
            <a:ext cx="30460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0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0  1    0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1 1 1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AB711AB-9D61-4302-9218-8D960EDFA1B9}"/>
              </a:ext>
            </a:extLst>
          </p:cNvPr>
          <p:cNvCxnSpPr/>
          <p:nvPr/>
        </p:nvCxnSpPr>
        <p:spPr>
          <a:xfrm>
            <a:off x="1926146" y="3176022"/>
            <a:ext cx="0" cy="2623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03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82CC-8073-49E8-865F-7FDA1D03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7435-2B4D-4E1A-AA43-302F4F3B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4"/>
            </a:pPr>
            <a:r>
              <a:rPr lang="en-US" dirty="0"/>
              <a:t>Subtract the following numbers in two’s compliment using an octet. Determine whether an overflow has occurred. [6 Marks]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70 – 32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30DE3-99D8-4FAA-8AAA-D42FD25F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316" y="631477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F2431-5342-45D0-BB54-27593A60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314773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9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ADC02-C470-45A5-ADEB-DCC178A8ABF7}"/>
              </a:ext>
            </a:extLst>
          </p:cNvPr>
          <p:cNvSpPr/>
          <p:nvPr/>
        </p:nvSpPr>
        <p:spPr>
          <a:xfrm>
            <a:off x="1651865" y="3759349"/>
            <a:ext cx="222368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(-32)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1E3C2-3407-4A35-B409-844C67DC5900}"/>
              </a:ext>
            </a:extLst>
          </p:cNvPr>
          <p:cNvSpPr/>
          <p:nvPr/>
        </p:nvSpPr>
        <p:spPr>
          <a:xfrm>
            <a:off x="6655965" y="3759348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1F0C7-BDBF-4715-A3DC-DD5BAC4CB183}"/>
              </a:ext>
            </a:extLst>
          </p:cNvPr>
          <p:cNvSpPr/>
          <p:nvPr/>
        </p:nvSpPr>
        <p:spPr>
          <a:xfrm>
            <a:off x="7025110" y="4142579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= 7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ABB4C-D2D2-44E5-AB04-6417C16EF491}"/>
              </a:ext>
            </a:extLst>
          </p:cNvPr>
          <p:cNvSpPr/>
          <p:nvPr/>
        </p:nvSpPr>
        <p:spPr>
          <a:xfrm>
            <a:off x="7025109" y="4493032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0   0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0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3C6E2-9F37-41F3-9624-BA75DE8E974B}"/>
              </a:ext>
            </a:extLst>
          </p:cNvPr>
          <p:cNvSpPr/>
          <p:nvPr/>
        </p:nvSpPr>
        <p:spPr>
          <a:xfrm>
            <a:off x="6849848" y="4836905"/>
            <a:ext cx="48824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1 1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 1’s comp.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DF409-2311-4726-B16A-B20505588F31}"/>
              </a:ext>
            </a:extLst>
          </p:cNvPr>
          <p:cNvSpPr/>
          <p:nvPr/>
        </p:nvSpPr>
        <p:spPr>
          <a:xfrm>
            <a:off x="9149436" y="5234713"/>
            <a:ext cx="4299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6EB423-DB7E-4673-87C9-33E63D37E8DF}"/>
              </a:ext>
            </a:extLst>
          </p:cNvPr>
          <p:cNvSpPr/>
          <p:nvPr/>
        </p:nvSpPr>
        <p:spPr>
          <a:xfrm>
            <a:off x="7025109" y="5234713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5CB651-2B59-498E-B2BB-B12106DB612A}"/>
              </a:ext>
            </a:extLst>
          </p:cNvPr>
          <p:cNvCxnSpPr/>
          <p:nvPr/>
        </p:nvCxnSpPr>
        <p:spPr>
          <a:xfrm>
            <a:off x="7025109" y="5696378"/>
            <a:ext cx="251337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69C03-00CE-46A0-B12D-8EC1B4594ABF}"/>
              </a:ext>
            </a:extLst>
          </p:cNvPr>
          <p:cNvSpPr/>
          <p:nvPr/>
        </p:nvSpPr>
        <p:spPr>
          <a:xfrm>
            <a:off x="7025109" y="5712767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1    0 0 0 0 0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32’s 2’s comp.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EB889-91F8-4E6D-B8C9-A2EB261AE595}"/>
              </a:ext>
            </a:extLst>
          </p:cNvPr>
          <p:cNvSpPr/>
          <p:nvPr/>
        </p:nvSpPr>
        <p:spPr>
          <a:xfrm>
            <a:off x="1647820" y="4313610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= 7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973A1-3055-448D-822E-B998523F8BCC}"/>
              </a:ext>
            </a:extLst>
          </p:cNvPr>
          <p:cNvSpPr/>
          <p:nvPr/>
        </p:nvSpPr>
        <p:spPr>
          <a:xfrm>
            <a:off x="1636138" y="4696841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1    0 0 0 0 0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32’s 2’s comp.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5246A0-F7DA-459B-9721-ACF4523AC500}"/>
              </a:ext>
            </a:extLst>
          </p:cNvPr>
          <p:cNvCxnSpPr>
            <a:endCxn id="17" idx="2"/>
          </p:cNvCxnSpPr>
          <p:nvPr/>
        </p:nvCxnSpPr>
        <p:spPr>
          <a:xfrm>
            <a:off x="1470581" y="5158506"/>
            <a:ext cx="25250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2A00A-945C-4AB5-81F4-67E466C1670A}"/>
              </a:ext>
            </a:extLst>
          </p:cNvPr>
          <p:cNvSpPr/>
          <p:nvPr/>
        </p:nvSpPr>
        <p:spPr>
          <a:xfrm>
            <a:off x="1365265" y="4696841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AE09DD-6947-4692-AADD-6C8923577BB4}"/>
              </a:ext>
            </a:extLst>
          </p:cNvPr>
          <p:cNvSpPr/>
          <p:nvPr/>
        </p:nvSpPr>
        <p:spPr>
          <a:xfrm>
            <a:off x="1245054" y="5215703"/>
            <a:ext cx="365997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6B5C26-50EA-447E-A0BD-B9BF6EB7A563}"/>
              </a:ext>
            </a:extLst>
          </p:cNvPr>
          <p:cNvCxnSpPr/>
          <p:nvPr/>
        </p:nvCxnSpPr>
        <p:spPr>
          <a:xfrm>
            <a:off x="7296346" y="3759348"/>
            <a:ext cx="0" cy="255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9A36CA-D5BD-45F3-8512-58198F23E992}"/>
              </a:ext>
            </a:extLst>
          </p:cNvPr>
          <p:cNvCxnSpPr/>
          <p:nvPr/>
        </p:nvCxnSpPr>
        <p:spPr>
          <a:xfrm>
            <a:off x="2026763" y="4313610"/>
            <a:ext cx="0" cy="147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57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82CC-8073-49E8-865F-7FDA1D03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7435-2B4D-4E1A-AA43-302F4F3B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US" dirty="0"/>
              <a:t>99 – (71)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30DE3-99D8-4FAA-8AAA-D42FD25F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6770" y="630128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F2431-5342-45D0-BB54-27593A60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314773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10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ADC02-C470-45A5-ADEB-DCC178A8ABF7}"/>
              </a:ext>
            </a:extLst>
          </p:cNvPr>
          <p:cNvSpPr/>
          <p:nvPr/>
        </p:nvSpPr>
        <p:spPr>
          <a:xfrm>
            <a:off x="1647822" y="2780667"/>
            <a:ext cx="222368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 +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(-71)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1E3C2-3407-4A35-B409-844C67DC5900}"/>
              </a:ext>
            </a:extLst>
          </p:cNvPr>
          <p:cNvSpPr/>
          <p:nvPr/>
        </p:nvSpPr>
        <p:spPr>
          <a:xfrm>
            <a:off x="6655965" y="2965201"/>
            <a:ext cx="2882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128 64 32 16 8 4 2 1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1F0C7-BDBF-4715-A3DC-DD5BAC4CB183}"/>
              </a:ext>
            </a:extLst>
          </p:cNvPr>
          <p:cNvSpPr/>
          <p:nvPr/>
        </p:nvSpPr>
        <p:spPr>
          <a:xfrm>
            <a:off x="7025108" y="3312364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ABB4C-D2D2-44E5-AB04-6417C16EF491}"/>
              </a:ext>
            </a:extLst>
          </p:cNvPr>
          <p:cNvSpPr/>
          <p:nvPr/>
        </p:nvSpPr>
        <p:spPr>
          <a:xfrm>
            <a:off x="7025107" y="3693902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0   1  0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71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3C6E2-9F37-41F3-9624-BA75DE8E974B}"/>
              </a:ext>
            </a:extLst>
          </p:cNvPr>
          <p:cNvSpPr/>
          <p:nvPr/>
        </p:nvSpPr>
        <p:spPr>
          <a:xfrm>
            <a:off x="6861605" y="4130180"/>
            <a:ext cx="48824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1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0  1    1 1 0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71’s 1’s comp.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DF409-2311-4726-B16A-B20505588F31}"/>
              </a:ext>
            </a:extLst>
          </p:cNvPr>
          <p:cNvSpPr/>
          <p:nvPr/>
        </p:nvSpPr>
        <p:spPr>
          <a:xfrm>
            <a:off x="9169638" y="4547788"/>
            <a:ext cx="4299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6EB423-DB7E-4673-87C9-33E63D37E8DF}"/>
              </a:ext>
            </a:extLst>
          </p:cNvPr>
          <p:cNvSpPr/>
          <p:nvPr/>
        </p:nvSpPr>
        <p:spPr>
          <a:xfrm>
            <a:off x="7032564" y="4526418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5CB651-2B59-498E-B2BB-B12106DB612A}"/>
              </a:ext>
            </a:extLst>
          </p:cNvPr>
          <p:cNvCxnSpPr/>
          <p:nvPr/>
        </p:nvCxnSpPr>
        <p:spPr>
          <a:xfrm>
            <a:off x="7025109" y="5092025"/>
            <a:ext cx="251337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69C03-00CE-46A0-B12D-8EC1B4594ABF}"/>
              </a:ext>
            </a:extLst>
          </p:cNvPr>
          <p:cNvSpPr/>
          <p:nvPr/>
        </p:nvSpPr>
        <p:spPr>
          <a:xfrm>
            <a:off x="7032564" y="5127535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 2’s comp.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EB889-91F8-4E6D-B8C9-A2EB261AE595}"/>
              </a:ext>
            </a:extLst>
          </p:cNvPr>
          <p:cNvSpPr/>
          <p:nvPr/>
        </p:nvSpPr>
        <p:spPr>
          <a:xfrm>
            <a:off x="1647822" y="3320764"/>
            <a:ext cx="3251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0   1  1   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973A1-3055-448D-822E-B998523F8BCC}"/>
              </a:ext>
            </a:extLst>
          </p:cNvPr>
          <p:cNvSpPr/>
          <p:nvPr/>
        </p:nvSpPr>
        <p:spPr>
          <a:xfrm>
            <a:off x="1656875" y="3742558"/>
            <a:ext cx="47189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0  1    </a:t>
            </a:r>
            <a:r>
              <a:rPr lang="en-US" sz="2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1 0 0 1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71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 2’s comp.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5246A0-F7DA-459B-9721-ACF4523AC500}"/>
              </a:ext>
            </a:extLst>
          </p:cNvPr>
          <p:cNvCxnSpPr>
            <a:endCxn id="17" idx="2"/>
          </p:cNvCxnSpPr>
          <p:nvPr/>
        </p:nvCxnSpPr>
        <p:spPr>
          <a:xfrm>
            <a:off x="1491318" y="4204223"/>
            <a:ext cx="25250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2A00A-945C-4AB5-81F4-67E466C1670A}"/>
              </a:ext>
            </a:extLst>
          </p:cNvPr>
          <p:cNvSpPr/>
          <p:nvPr/>
        </p:nvSpPr>
        <p:spPr>
          <a:xfrm>
            <a:off x="1376770" y="3742558"/>
            <a:ext cx="38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AE09DD-6947-4692-AADD-6C8923577BB4}"/>
              </a:ext>
            </a:extLst>
          </p:cNvPr>
          <p:cNvSpPr/>
          <p:nvPr/>
        </p:nvSpPr>
        <p:spPr>
          <a:xfrm>
            <a:off x="1204178" y="4218713"/>
            <a:ext cx="374173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 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0    1 1 </a:t>
            </a: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0 0 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2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09B6A-E1CD-4745-94E0-6151CABFA4BB}"/>
              </a:ext>
            </a:extLst>
          </p:cNvPr>
          <p:cNvCxnSpPr/>
          <p:nvPr/>
        </p:nvCxnSpPr>
        <p:spPr>
          <a:xfrm>
            <a:off x="7422414" y="3320764"/>
            <a:ext cx="0" cy="2344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F3AF42-1CFD-44F6-B503-5DBEB80A8482}"/>
              </a:ext>
            </a:extLst>
          </p:cNvPr>
          <p:cNvCxnSpPr/>
          <p:nvPr/>
        </p:nvCxnSpPr>
        <p:spPr>
          <a:xfrm>
            <a:off x="2055043" y="3320764"/>
            <a:ext cx="0" cy="1534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27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A0A4-A72C-475F-98DF-7D72809E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BINARY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9CC90-BA97-43AC-8D98-7949435F8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dirty="0"/>
              <a:t>What is an overflow? [1 Mark]</a:t>
            </a:r>
          </a:p>
          <a:p>
            <a:pPr marL="0" indent="0">
              <a:buNone/>
            </a:pPr>
            <a:r>
              <a:rPr lang="en-US" dirty="0"/>
              <a:t>	Based on these calculations, an overflow occurs when you expect your 	result as a positive or negative and get a different result. For example, 	adding two positive numbers and getting a negative result.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E786B-10DD-42B6-B7FC-032BC08B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CB82C-0B4C-49E0-99B4-4CEF54E0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6763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9B0E-F348-48AE-A212-1EFEFBB0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2B98-6447-42D0-94E1-2E204A1EA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two [25 Marks]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Mitigation and Remediation require planning in advance. PERT can be used to visualize these plans and make it easy for IT and Project Managers to follow through.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Construct a network diagram with the data given below. [5 Marks]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7BFE6-42D1-48DB-AA25-38D6D0C4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9B16E-11C3-4453-80BB-6E4D8CE9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0120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1A2B-8140-4AC3-8343-579D333B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1A40-6856-484A-B747-D07751C3D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1FBD6-DC69-40E8-B9F9-4D4F432404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PERT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CE5-4166-4F4E-924B-55C3E8E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F777-59DB-463C-A1E4-E172ABB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7411" y="6380915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13</a:t>
            </a:fld>
            <a:endParaRPr lang="LID4096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9757A3-DC04-48CB-8E43-E77C129E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3984"/>
              </p:ext>
            </p:extLst>
          </p:nvPr>
        </p:nvGraphicFramePr>
        <p:xfrm>
          <a:off x="1484671" y="2888451"/>
          <a:ext cx="395882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418">
                  <a:extLst>
                    <a:ext uri="{9D8B030D-6E8A-4147-A177-3AD203B41FA5}">
                      <a16:colId xmlns:a16="http://schemas.microsoft.com/office/drawing/2014/main" val="916816838"/>
                    </a:ext>
                  </a:extLst>
                </a:gridCol>
                <a:gridCol w="1577069">
                  <a:extLst>
                    <a:ext uri="{9D8B030D-6E8A-4147-A177-3AD203B41FA5}">
                      <a16:colId xmlns:a16="http://schemas.microsoft.com/office/drawing/2014/main" val="1341280851"/>
                    </a:ext>
                  </a:extLst>
                </a:gridCol>
                <a:gridCol w="1312334">
                  <a:extLst>
                    <a:ext uri="{9D8B030D-6E8A-4147-A177-3AD203B41FA5}">
                      <a16:colId xmlns:a16="http://schemas.microsoft.com/office/drawing/2014/main" val="3177267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84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9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0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C,D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618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5C958DF-E075-4BBC-8CE6-767EC7AEE888}"/>
              </a:ext>
            </a:extLst>
          </p:cNvPr>
          <p:cNvSpPr/>
          <p:nvPr/>
        </p:nvSpPr>
        <p:spPr>
          <a:xfrm>
            <a:off x="7041221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216EB5-C924-45E0-877D-ACBE927B9050}"/>
              </a:ext>
            </a:extLst>
          </p:cNvPr>
          <p:cNvSpPr/>
          <p:nvPr/>
        </p:nvSpPr>
        <p:spPr>
          <a:xfrm>
            <a:off x="8913427" y="3057427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0AFC9E-B799-470B-8073-00E68B5FEB39}"/>
              </a:ext>
            </a:extLst>
          </p:cNvPr>
          <p:cNvSpPr/>
          <p:nvPr/>
        </p:nvSpPr>
        <p:spPr>
          <a:xfrm>
            <a:off x="10824017" y="3051928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66801C-F467-48E0-B4C0-0693CBB81602}"/>
              </a:ext>
            </a:extLst>
          </p:cNvPr>
          <p:cNvSpPr/>
          <p:nvPr/>
        </p:nvSpPr>
        <p:spPr>
          <a:xfrm>
            <a:off x="5908102" y="4204355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9E04B8-C0D5-4F80-88B2-C9CB9DE20040}"/>
              </a:ext>
            </a:extLst>
          </p:cNvPr>
          <p:cNvSpPr/>
          <p:nvPr/>
        </p:nvSpPr>
        <p:spPr>
          <a:xfrm>
            <a:off x="7041221" y="5339024"/>
            <a:ext cx="772998" cy="7541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D930B-058C-401A-8A1D-E1F6AD286FB1}"/>
              </a:ext>
            </a:extLst>
          </p:cNvPr>
          <p:cNvCxnSpPr>
            <a:stCxn id="12" idx="7"/>
            <a:endCxn id="9" idx="3"/>
          </p:cNvCxnSpPr>
          <p:nvPr/>
        </p:nvCxnSpPr>
        <p:spPr>
          <a:xfrm flipV="1">
            <a:off x="6567897" y="3701129"/>
            <a:ext cx="586527" cy="613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F4E928-A460-4AAF-85FB-C8BB75F373D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7814219" y="3434499"/>
            <a:ext cx="1099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022CE-9295-4D8D-B1F0-7CBBBCFBA4E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9686425" y="3429000"/>
            <a:ext cx="1137592" cy="5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939D23-5DA1-4072-AE84-3C515EE42016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567897" y="4848057"/>
            <a:ext cx="586527" cy="60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996616-37EF-4A55-90DB-B601303992CA}"/>
              </a:ext>
            </a:extLst>
          </p:cNvPr>
          <p:cNvCxnSpPr>
            <a:stCxn id="13" idx="6"/>
            <a:endCxn id="10" idx="4"/>
          </p:cNvCxnSpPr>
          <p:nvPr/>
        </p:nvCxnSpPr>
        <p:spPr>
          <a:xfrm flipV="1">
            <a:off x="7814219" y="3811571"/>
            <a:ext cx="1485707" cy="1904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DBE123-1D07-4A5C-B445-0FFD9FE29F97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6294601" y="4204355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BB6050-1622-4975-B425-6602FF801E5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7427720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69C70C-7548-4736-A92B-4B4C177BFCE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7427720" y="5339024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7B9D03-E3D6-42DF-8E50-998CB0281AD5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11210516" y="3051928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E82565-223D-4E02-9055-94B539711F96}"/>
              </a:ext>
            </a:extLst>
          </p:cNvPr>
          <p:cNvCxnSpPr>
            <a:stCxn id="12" idx="6"/>
          </p:cNvCxnSpPr>
          <p:nvPr/>
        </p:nvCxnSpPr>
        <p:spPr>
          <a:xfrm flipH="1">
            <a:off x="6294601" y="4581427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CF4AA8-3E03-4A7D-AF85-8C15610CAFCF}"/>
              </a:ext>
            </a:extLst>
          </p:cNvPr>
          <p:cNvCxnSpPr>
            <a:stCxn id="9" idx="6"/>
          </p:cNvCxnSpPr>
          <p:nvPr/>
        </p:nvCxnSpPr>
        <p:spPr>
          <a:xfrm flipH="1" flipV="1">
            <a:off x="7427720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3F6C0-A9CB-4C66-A6E4-5EE4B3A1D0CC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9299926" y="3057427"/>
            <a:ext cx="0" cy="754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DC72AC-9153-4323-AF78-B45E0BE19D2C}"/>
              </a:ext>
            </a:extLst>
          </p:cNvPr>
          <p:cNvCxnSpPr>
            <a:stCxn id="13" idx="6"/>
          </p:cNvCxnSpPr>
          <p:nvPr/>
        </p:nvCxnSpPr>
        <p:spPr>
          <a:xfrm flipH="1">
            <a:off x="7427720" y="5716096"/>
            <a:ext cx="3864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6F08C4-3684-4E41-80CA-6399D2BE258F}"/>
              </a:ext>
            </a:extLst>
          </p:cNvPr>
          <p:cNvCxnSpPr>
            <a:stCxn id="10" idx="6"/>
          </p:cNvCxnSpPr>
          <p:nvPr/>
        </p:nvCxnSpPr>
        <p:spPr>
          <a:xfrm flipH="1" flipV="1">
            <a:off x="9299926" y="3429000"/>
            <a:ext cx="386499" cy="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C5D821-5501-4632-A554-C4ACE7450308}"/>
              </a:ext>
            </a:extLst>
          </p:cNvPr>
          <p:cNvCxnSpPr>
            <a:stCxn id="11" idx="6"/>
          </p:cNvCxnSpPr>
          <p:nvPr/>
        </p:nvCxnSpPr>
        <p:spPr>
          <a:xfrm flipH="1">
            <a:off x="11210515" y="3429000"/>
            <a:ext cx="3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AD0A7DC-77A7-4FED-8F58-B0FB454AC33C}"/>
              </a:ext>
            </a:extLst>
          </p:cNvPr>
          <p:cNvSpPr/>
          <p:nvPr/>
        </p:nvSpPr>
        <p:spPr>
          <a:xfrm>
            <a:off x="6744077" y="3797037"/>
            <a:ext cx="3080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8F13DE-CF13-4264-B3AB-7BFE071130FF}"/>
              </a:ext>
            </a:extLst>
          </p:cNvPr>
          <p:cNvSpPr/>
          <p:nvPr/>
        </p:nvSpPr>
        <p:spPr>
          <a:xfrm>
            <a:off x="6726591" y="4958499"/>
            <a:ext cx="2872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D7308-7746-43A6-842B-5F89284BF11B}"/>
              </a:ext>
            </a:extLst>
          </p:cNvPr>
          <p:cNvSpPr/>
          <p:nvPr/>
        </p:nvSpPr>
        <p:spPr>
          <a:xfrm>
            <a:off x="8525214" y="481020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3F4B29-539E-4F6B-9FB6-A06BC22E4012}"/>
              </a:ext>
            </a:extLst>
          </p:cNvPr>
          <p:cNvSpPr/>
          <p:nvPr/>
        </p:nvSpPr>
        <p:spPr>
          <a:xfrm>
            <a:off x="8455756" y="4581427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FC035-0F84-460C-B427-09CABE8EBD69}"/>
              </a:ext>
            </a:extLst>
          </p:cNvPr>
          <p:cNvSpPr/>
          <p:nvPr/>
        </p:nvSpPr>
        <p:spPr>
          <a:xfrm>
            <a:off x="9976327" y="3265222"/>
            <a:ext cx="27443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712B1-3887-4A39-A6B0-0AC0799DFBF3}"/>
              </a:ext>
            </a:extLst>
          </p:cNvPr>
          <p:cNvSpPr/>
          <p:nvPr/>
        </p:nvSpPr>
        <p:spPr>
          <a:xfrm>
            <a:off x="5954203" y="4350594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FDAFAD-7288-4CB8-BA6F-961E3B0D62F8}"/>
              </a:ext>
            </a:extLst>
          </p:cNvPr>
          <p:cNvSpPr/>
          <p:nvPr/>
        </p:nvSpPr>
        <p:spPr>
          <a:xfrm>
            <a:off x="7068131" y="3193426"/>
            <a:ext cx="3545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D073B-0761-4D88-B379-F89277E6F35F}"/>
              </a:ext>
            </a:extLst>
          </p:cNvPr>
          <p:cNvSpPr/>
          <p:nvPr/>
        </p:nvSpPr>
        <p:spPr>
          <a:xfrm>
            <a:off x="7049636" y="548051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7968D2-E27C-4318-A0F6-5940C816C70D}"/>
              </a:ext>
            </a:extLst>
          </p:cNvPr>
          <p:cNvSpPr/>
          <p:nvPr/>
        </p:nvSpPr>
        <p:spPr>
          <a:xfrm>
            <a:off x="8952105" y="3181579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DF8ED1-1BC5-475A-955C-5A450C0160CA}"/>
              </a:ext>
            </a:extLst>
          </p:cNvPr>
          <p:cNvSpPr/>
          <p:nvPr/>
        </p:nvSpPr>
        <p:spPr>
          <a:xfrm>
            <a:off x="10852465" y="3193426"/>
            <a:ext cx="3545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B9F4E8-6672-4E08-8013-EF3C8D69FDDC}"/>
              </a:ext>
            </a:extLst>
          </p:cNvPr>
          <p:cNvSpPr/>
          <p:nvPr/>
        </p:nvSpPr>
        <p:spPr>
          <a:xfrm>
            <a:off x="6505979" y="3625178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6AA59-0A40-421F-B9FA-1C33758C811D}"/>
              </a:ext>
            </a:extLst>
          </p:cNvPr>
          <p:cNvSpPr/>
          <p:nvPr/>
        </p:nvSpPr>
        <p:spPr>
          <a:xfrm>
            <a:off x="8045634" y="2963254"/>
            <a:ext cx="52450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(10)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91B68B-B65E-42E9-A40F-B8A283C39E05}"/>
              </a:ext>
            </a:extLst>
          </p:cNvPr>
          <p:cNvSpPr/>
          <p:nvPr/>
        </p:nvSpPr>
        <p:spPr>
          <a:xfrm>
            <a:off x="9880477" y="2936884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(6)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CD3A5F-5F0A-405B-8135-6F41494D08A7}"/>
              </a:ext>
            </a:extLst>
          </p:cNvPr>
          <p:cNvSpPr/>
          <p:nvPr/>
        </p:nvSpPr>
        <p:spPr>
          <a:xfrm>
            <a:off x="6483980" y="5110897"/>
            <a:ext cx="41069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EFC529-4E3C-419A-8973-1D4A05E6F7E3}"/>
              </a:ext>
            </a:extLst>
          </p:cNvPr>
          <p:cNvSpPr/>
          <p:nvPr/>
        </p:nvSpPr>
        <p:spPr>
          <a:xfrm>
            <a:off x="8285894" y="3417622"/>
            <a:ext cx="3080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6DF513-C01D-4FB9-BD44-6C239838D1CC}"/>
              </a:ext>
            </a:extLst>
          </p:cNvPr>
          <p:cNvSpPr/>
          <p:nvPr/>
        </p:nvSpPr>
        <p:spPr>
          <a:xfrm>
            <a:off x="6298127" y="4555420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6C13860-F605-4954-B716-FFCE1F6EC269}"/>
              </a:ext>
            </a:extLst>
          </p:cNvPr>
          <p:cNvSpPr/>
          <p:nvPr/>
        </p:nvSpPr>
        <p:spPr>
          <a:xfrm>
            <a:off x="7429199" y="3394412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945FCA-FAAC-47E5-8413-4F57BFC76C8E}"/>
              </a:ext>
            </a:extLst>
          </p:cNvPr>
          <p:cNvSpPr/>
          <p:nvPr/>
        </p:nvSpPr>
        <p:spPr>
          <a:xfrm>
            <a:off x="7429199" y="5697415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4FB4A3-6E35-400C-AD8C-671B23A65137}"/>
              </a:ext>
            </a:extLst>
          </p:cNvPr>
          <p:cNvSpPr/>
          <p:nvPr/>
        </p:nvSpPr>
        <p:spPr>
          <a:xfrm>
            <a:off x="9233727" y="3412411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8B6607-42BC-4100-9310-340FD7610FC0}"/>
              </a:ext>
            </a:extLst>
          </p:cNvPr>
          <p:cNvSpPr/>
          <p:nvPr/>
        </p:nvSpPr>
        <p:spPr>
          <a:xfrm>
            <a:off x="11171162" y="3425870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5E6BF1-CFE4-46BD-AB38-F5CB60791892}"/>
              </a:ext>
            </a:extLst>
          </p:cNvPr>
          <p:cNvSpPr/>
          <p:nvPr/>
        </p:nvSpPr>
        <p:spPr>
          <a:xfrm>
            <a:off x="6290128" y="4294189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15A153-6F84-4BDB-9AC6-8DC74FB21C62}"/>
              </a:ext>
            </a:extLst>
          </p:cNvPr>
          <p:cNvSpPr/>
          <p:nvPr/>
        </p:nvSpPr>
        <p:spPr>
          <a:xfrm>
            <a:off x="7420958" y="3106638"/>
            <a:ext cx="29848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235446-345C-4D7C-AA5F-2A858199D7F3}"/>
              </a:ext>
            </a:extLst>
          </p:cNvPr>
          <p:cNvSpPr/>
          <p:nvPr/>
        </p:nvSpPr>
        <p:spPr>
          <a:xfrm>
            <a:off x="9220830" y="3106087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38A71C-5EA6-427E-9B1D-1697E50AA4DD}"/>
              </a:ext>
            </a:extLst>
          </p:cNvPr>
          <p:cNvSpPr/>
          <p:nvPr/>
        </p:nvSpPr>
        <p:spPr>
          <a:xfrm>
            <a:off x="7379342" y="5400742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FAB02E-679F-441B-8AED-BD365EE2C255}"/>
              </a:ext>
            </a:extLst>
          </p:cNvPr>
          <p:cNvSpPr/>
          <p:nvPr/>
        </p:nvSpPr>
        <p:spPr>
          <a:xfrm>
            <a:off x="11176839" y="3102524"/>
            <a:ext cx="4122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DE9198-2212-4C5B-AC67-9A470CE6636F}"/>
              </a:ext>
            </a:extLst>
          </p:cNvPr>
          <p:cNvSpPr/>
          <p:nvPr/>
        </p:nvSpPr>
        <p:spPr>
          <a:xfrm>
            <a:off x="5704146" y="3878725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3596158-582B-417E-A76A-F3DD94ECA39D}"/>
              </a:ext>
            </a:extLst>
          </p:cNvPr>
          <p:cNvSpPr/>
          <p:nvPr/>
        </p:nvSpPr>
        <p:spPr>
          <a:xfrm>
            <a:off x="6918691" y="2725682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9D85D7C-CE8F-49A8-8C37-4A51BC6C4C2E}"/>
              </a:ext>
            </a:extLst>
          </p:cNvPr>
          <p:cNvSpPr/>
          <p:nvPr/>
        </p:nvSpPr>
        <p:spPr>
          <a:xfrm>
            <a:off x="8823842" y="2725682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941C79-FE23-45F7-B2D2-24D43525FF61}"/>
              </a:ext>
            </a:extLst>
          </p:cNvPr>
          <p:cNvSpPr/>
          <p:nvPr/>
        </p:nvSpPr>
        <p:spPr>
          <a:xfrm>
            <a:off x="10699175" y="2694115"/>
            <a:ext cx="9806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B5473E1-13D8-45C5-A3E9-A611CC94EECA}"/>
              </a:ext>
            </a:extLst>
          </p:cNvPr>
          <p:cNvSpPr/>
          <p:nvPr/>
        </p:nvSpPr>
        <p:spPr>
          <a:xfrm>
            <a:off x="6951070" y="6139741"/>
            <a:ext cx="10944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0144A8-77DF-4EA1-86D9-11182C01A53E}"/>
              </a:ext>
            </a:extLst>
          </p:cNvPr>
          <p:cNvCxnSpPr>
            <a:stCxn id="70" idx="3"/>
          </p:cNvCxnSpPr>
          <p:nvPr/>
        </p:nvCxnSpPr>
        <p:spPr>
          <a:xfrm>
            <a:off x="6684799" y="4048002"/>
            <a:ext cx="209871" cy="2461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704EF63-66FB-4275-A1B5-C13E41F4CEF2}"/>
              </a:ext>
            </a:extLst>
          </p:cNvPr>
          <p:cNvCxnSpPr/>
          <p:nvPr/>
        </p:nvCxnSpPr>
        <p:spPr>
          <a:xfrm>
            <a:off x="6744077" y="3955586"/>
            <a:ext cx="209871" cy="2461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8730B7-85A5-4844-9805-7CAB102241BD}"/>
              </a:ext>
            </a:extLst>
          </p:cNvPr>
          <p:cNvCxnSpPr/>
          <p:nvPr/>
        </p:nvCxnSpPr>
        <p:spPr>
          <a:xfrm>
            <a:off x="8185293" y="3327076"/>
            <a:ext cx="0" cy="26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CA3310-9C57-48AB-9FDB-C733B88B4DA0}"/>
              </a:ext>
            </a:extLst>
          </p:cNvPr>
          <p:cNvCxnSpPr/>
          <p:nvPr/>
        </p:nvCxnSpPr>
        <p:spPr>
          <a:xfrm>
            <a:off x="8285894" y="3327076"/>
            <a:ext cx="0" cy="26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030B6D4-CA26-4825-8C85-6965410223CE}"/>
              </a:ext>
            </a:extLst>
          </p:cNvPr>
          <p:cNvCxnSpPr/>
          <p:nvPr/>
        </p:nvCxnSpPr>
        <p:spPr>
          <a:xfrm>
            <a:off x="10301898" y="3310756"/>
            <a:ext cx="0" cy="26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FCB65E0-23BE-4E66-9490-D25EF1B2B106}"/>
              </a:ext>
            </a:extLst>
          </p:cNvPr>
          <p:cNvCxnSpPr/>
          <p:nvPr/>
        </p:nvCxnSpPr>
        <p:spPr>
          <a:xfrm>
            <a:off x="10389642" y="3319850"/>
            <a:ext cx="0" cy="26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294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80C4FF-EB3D-4370-854B-23E728CF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B14B32-A3A6-4623-9C1B-84BDDB482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lphaLcParenR" startAt="2"/>
            </a:pPr>
            <a:r>
              <a:rPr lang="en-US" dirty="0"/>
              <a:t>Compute the Project duration. [2 Marks]</a:t>
            </a:r>
          </a:p>
          <a:p>
            <a:pPr marL="457200" indent="-457200">
              <a:buAutoNum type="alphaLcParenR" startAt="2"/>
            </a:pPr>
            <a:endParaRPr lang="en-US" dirty="0"/>
          </a:p>
          <a:p>
            <a:pPr marL="457200" indent="-457200">
              <a:buAutoNum type="alphaLcParenR" startAt="2"/>
            </a:pPr>
            <a:endParaRPr lang="en-US" dirty="0"/>
          </a:p>
          <a:p>
            <a:pPr marL="457200" indent="-457200">
              <a:buAutoNum type="alphaLcParenR" startAt="2"/>
            </a:pPr>
            <a:r>
              <a:rPr lang="en-US" dirty="0"/>
              <a:t>Determine the critical path. [10 Marks]</a:t>
            </a:r>
          </a:p>
          <a:p>
            <a:pPr marL="457200" indent="-457200">
              <a:buAutoNum type="alphaLcParenR" startAt="2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R" startAt="2"/>
            </a:pPr>
            <a:r>
              <a:rPr lang="en-US" dirty="0"/>
              <a:t>Draw a project network for a remediation plan from the following statement E &gt; B, C; F, G &gt; D; H,I &gt; E, F; J &gt; I, G; K &gt; H; B &gt; A;. [8 Marks]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B855B-C646-4274-9B2D-DEB3039C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40BD-5A50-4797-9B58-7EAC3742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14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836D0-3A9A-456E-8BA8-12B0B004C8AB}"/>
              </a:ext>
            </a:extLst>
          </p:cNvPr>
          <p:cNvSpPr/>
          <p:nvPr/>
        </p:nvSpPr>
        <p:spPr>
          <a:xfrm>
            <a:off x="1662113" y="2827292"/>
            <a:ext cx="502592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Duration of The Project 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 + 10 + 6 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= 21 Days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B67787-9255-439F-8CC1-B1DA0F37D5F1}"/>
              </a:ext>
            </a:extLst>
          </p:cNvPr>
          <p:cNvSpPr/>
          <p:nvPr/>
        </p:nvSpPr>
        <p:spPr>
          <a:xfrm>
            <a:off x="1595321" y="4263079"/>
            <a:ext cx="46783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(CMP) 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1 – 2 – 4 – 5 </a:t>
            </a:r>
          </a:p>
        </p:txBody>
      </p:sp>
    </p:spTree>
    <p:extLst>
      <p:ext uri="{BB962C8B-B14F-4D97-AF65-F5344CB8AC3E}">
        <p14:creationId xmlns:p14="http://schemas.microsoft.com/office/powerpoint/2010/main" val="125885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7C2A-F242-4F7F-931C-453EDE06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98D3-7082-456E-B470-BC76851AE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C7EE1-F5EC-452E-8BF0-9FE6A167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36E16-FC8B-449F-BCD4-E3676926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4874" y="6335391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15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82CEB58-AE27-4A88-B359-652818B37603}"/>
              </a:ext>
            </a:extLst>
          </p:cNvPr>
          <p:cNvGraphicFramePr>
            <a:graphicFrameLocks noGrp="1"/>
          </p:cNvGraphicFramePr>
          <p:nvPr/>
        </p:nvGraphicFramePr>
        <p:xfrm>
          <a:off x="9158640" y="2314703"/>
          <a:ext cx="286051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808">
                  <a:extLst>
                    <a:ext uri="{9D8B030D-6E8A-4147-A177-3AD203B41FA5}">
                      <a16:colId xmlns:a16="http://schemas.microsoft.com/office/drawing/2014/main" val="3398499393"/>
                    </a:ext>
                  </a:extLst>
                </a:gridCol>
                <a:gridCol w="1583703">
                  <a:extLst>
                    <a:ext uri="{9D8B030D-6E8A-4147-A177-3AD203B41FA5}">
                      <a16:colId xmlns:a16="http://schemas.microsoft.com/office/drawing/2014/main" val="88389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Predecessors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1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99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78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4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356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B, C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4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59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23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E, 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2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E, 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1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I, 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9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07194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A8007C38-2FF2-46FC-B68E-8A3A130EC764}"/>
              </a:ext>
            </a:extLst>
          </p:cNvPr>
          <p:cNvSpPr/>
          <p:nvPr/>
        </p:nvSpPr>
        <p:spPr>
          <a:xfrm>
            <a:off x="376304" y="4147793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5BD9B6-782C-4C78-8761-9337048EB0B3}"/>
              </a:ext>
            </a:extLst>
          </p:cNvPr>
          <p:cNvSpPr/>
          <p:nvPr/>
        </p:nvSpPr>
        <p:spPr>
          <a:xfrm>
            <a:off x="1683487" y="307797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802D513-99B6-4858-AB96-EAC468319D2E}"/>
              </a:ext>
            </a:extLst>
          </p:cNvPr>
          <p:cNvSpPr/>
          <p:nvPr/>
        </p:nvSpPr>
        <p:spPr>
          <a:xfrm>
            <a:off x="1683487" y="5244446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D87766-3A9E-42E3-A11F-31636050A350}"/>
              </a:ext>
            </a:extLst>
          </p:cNvPr>
          <p:cNvSpPr/>
          <p:nvPr/>
        </p:nvSpPr>
        <p:spPr>
          <a:xfrm>
            <a:off x="3060416" y="412491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86800-BC34-41A5-9213-BE995B4D35AF}"/>
              </a:ext>
            </a:extLst>
          </p:cNvPr>
          <p:cNvCxnSpPr>
            <a:stCxn id="9" idx="6"/>
            <a:endCxn id="39" idx="2"/>
          </p:cNvCxnSpPr>
          <p:nvPr/>
        </p:nvCxnSpPr>
        <p:spPr>
          <a:xfrm flipV="1">
            <a:off x="989046" y="3351353"/>
            <a:ext cx="694441" cy="1069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336EC-4563-4CAC-BD26-FE856AEF43A3}"/>
              </a:ext>
            </a:extLst>
          </p:cNvPr>
          <p:cNvCxnSpPr>
            <a:stCxn id="9" idx="6"/>
            <a:endCxn id="45" idx="2"/>
          </p:cNvCxnSpPr>
          <p:nvPr/>
        </p:nvCxnSpPr>
        <p:spPr>
          <a:xfrm flipV="1">
            <a:off x="989046" y="4398293"/>
            <a:ext cx="2071370" cy="22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198427-0B1D-4970-A378-503A37D811E0}"/>
              </a:ext>
            </a:extLst>
          </p:cNvPr>
          <p:cNvCxnSpPr>
            <a:stCxn id="9" idx="6"/>
            <a:endCxn id="43" idx="2"/>
          </p:cNvCxnSpPr>
          <p:nvPr/>
        </p:nvCxnSpPr>
        <p:spPr>
          <a:xfrm>
            <a:off x="989046" y="4421171"/>
            <a:ext cx="694441" cy="1096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8A2B43B-CDA9-4A65-AEBD-4AB913EF259E}"/>
              </a:ext>
            </a:extLst>
          </p:cNvPr>
          <p:cNvSpPr/>
          <p:nvPr/>
        </p:nvSpPr>
        <p:spPr>
          <a:xfrm>
            <a:off x="4826979" y="4117999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46C599-F46F-48A1-8C7A-6762CB213464}"/>
              </a:ext>
            </a:extLst>
          </p:cNvPr>
          <p:cNvCxnSpPr>
            <a:stCxn id="45" idx="6"/>
            <a:endCxn id="49" idx="2"/>
          </p:cNvCxnSpPr>
          <p:nvPr/>
        </p:nvCxnSpPr>
        <p:spPr>
          <a:xfrm flipV="1">
            <a:off x="3673158" y="4391377"/>
            <a:ext cx="1153821" cy="6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10C441-138D-4472-B3BD-F59807944932}"/>
              </a:ext>
            </a:extLst>
          </p:cNvPr>
          <p:cNvCxnSpPr>
            <a:cxnSpLocks/>
            <a:stCxn id="43" idx="6"/>
          </p:cNvCxnSpPr>
          <p:nvPr/>
        </p:nvCxnSpPr>
        <p:spPr>
          <a:xfrm flipV="1">
            <a:off x="2296229" y="4496177"/>
            <a:ext cx="2435418" cy="1021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46DD447-03AE-4C39-A0A8-3DE78B28D034}"/>
              </a:ext>
            </a:extLst>
          </p:cNvPr>
          <p:cNvSpPr/>
          <p:nvPr/>
        </p:nvSpPr>
        <p:spPr>
          <a:xfrm>
            <a:off x="6321518" y="3077975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27BE8DB-A892-4A4C-A27F-36210D560336}"/>
              </a:ext>
            </a:extLst>
          </p:cNvPr>
          <p:cNvSpPr/>
          <p:nvPr/>
        </p:nvSpPr>
        <p:spPr>
          <a:xfrm>
            <a:off x="6321518" y="5244446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B205D5-A695-4D4C-BED6-C238AB462D29}"/>
              </a:ext>
            </a:extLst>
          </p:cNvPr>
          <p:cNvCxnSpPr>
            <a:cxnSpLocks/>
            <a:stCxn id="49" idx="6"/>
            <a:endCxn id="54" idx="2"/>
          </p:cNvCxnSpPr>
          <p:nvPr/>
        </p:nvCxnSpPr>
        <p:spPr>
          <a:xfrm flipV="1">
            <a:off x="5439721" y="3351353"/>
            <a:ext cx="881797" cy="1040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72E03D3-6502-48C5-B44B-17184D1A7759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5439721" y="4391377"/>
            <a:ext cx="824477" cy="1040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02754C-DC0A-4E6D-8AFA-CC712B66AAEA}"/>
              </a:ext>
            </a:extLst>
          </p:cNvPr>
          <p:cNvCxnSpPr>
            <a:stCxn id="43" idx="6"/>
            <a:endCxn id="56" idx="2"/>
          </p:cNvCxnSpPr>
          <p:nvPr/>
        </p:nvCxnSpPr>
        <p:spPr>
          <a:xfrm>
            <a:off x="2296229" y="5517824"/>
            <a:ext cx="40252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91B8DCE-C0E2-430D-A176-E049FA8C453A}"/>
              </a:ext>
            </a:extLst>
          </p:cNvPr>
          <p:cNvSpPr/>
          <p:nvPr/>
        </p:nvSpPr>
        <p:spPr>
          <a:xfrm>
            <a:off x="7970471" y="4116724"/>
            <a:ext cx="612742" cy="546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596B13C-CE24-4FF5-85BC-D7E8BC4106C9}"/>
              </a:ext>
            </a:extLst>
          </p:cNvPr>
          <p:cNvCxnSpPr>
            <a:stCxn id="54" idx="6"/>
            <a:endCxn id="61" idx="2"/>
          </p:cNvCxnSpPr>
          <p:nvPr/>
        </p:nvCxnSpPr>
        <p:spPr>
          <a:xfrm>
            <a:off x="6934260" y="3351353"/>
            <a:ext cx="1036211" cy="1038749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25B8F74-7A17-478D-831F-6B879AD51F1F}"/>
              </a:ext>
            </a:extLst>
          </p:cNvPr>
          <p:cNvCxnSpPr>
            <a:stCxn id="56" idx="6"/>
            <a:endCxn id="61" idx="2"/>
          </p:cNvCxnSpPr>
          <p:nvPr/>
        </p:nvCxnSpPr>
        <p:spPr>
          <a:xfrm flipV="1">
            <a:off x="6934260" y="4390102"/>
            <a:ext cx="1036211" cy="112772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5F84E7E-2DE7-48FF-910D-F109BDFCD117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682675" y="4147793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3F6049F-74C1-41CA-979F-75C77761DEA9}"/>
              </a:ext>
            </a:extLst>
          </p:cNvPr>
          <p:cNvCxnSpPr>
            <a:stCxn id="39" idx="0"/>
            <a:endCxn id="39" idx="4"/>
          </p:cNvCxnSpPr>
          <p:nvPr/>
        </p:nvCxnSpPr>
        <p:spPr>
          <a:xfrm>
            <a:off x="1989858" y="307797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757B7AF-7790-48A5-A1AB-B4B0237B9AA7}"/>
              </a:ext>
            </a:extLst>
          </p:cNvPr>
          <p:cNvCxnSpPr>
            <a:stCxn id="45" idx="0"/>
            <a:endCxn id="45" idx="4"/>
          </p:cNvCxnSpPr>
          <p:nvPr/>
        </p:nvCxnSpPr>
        <p:spPr>
          <a:xfrm>
            <a:off x="3366787" y="412491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BBF8B46-092E-4E71-AF3F-EE5EBBA31451}"/>
              </a:ext>
            </a:extLst>
          </p:cNvPr>
          <p:cNvCxnSpPr>
            <a:stCxn id="43" idx="0"/>
            <a:endCxn id="43" idx="4"/>
          </p:cNvCxnSpPr>
          <p:nvPr/>
        </p:nvCxnSpPr>
        <p:spPr>
          <a:xfrm>
            <a:off x="1989858" y="5244446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7302BB5-6B55-440B-88C8-588ABE4F5D50}"/>
              </a:ext>
            </a:extLst>
          </p:cNvPr>
          <p:cNvCxnSpPr>
            <a:cxnSpLocks/>
            <a:stCxn id="49" idx="0"/>
            <a:endCxn id="49" idx="4"/>
          </p:cNvCxnSpPr>
          <p:nvPr/>
        </p:nvCxnSpPr>
        <p:spPr>
          <a:xfrm>
            <a:off x="5133350" y="4117999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E200B2C-059E-4565-8C0C-6F4B54032BAE}"/>
              </a:ext>
            </a:extLst>
          </p:cNvPr>
          <p:cNvCxnSpPr>
            <a:stCxn id="54" idx="0"/>
            <a:endCxn id="54" idx="4"/>
          </p:cNvCxnSpPr>
          <p:nvPr/>
        </p:nvCxnSpPr>
        <p:spPr>
          <a:xfrm>
            <a:off x="6627889" y="3077975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7B2395F-48EB-45D0-9ABF-E6339F98ECB1}"/>
              </a:ext>
            </a:extLst>
          </p:cNvPr>
          <p:cNvCxnSpPr>
            <a:stCxn id="56" idx="0"/>
            <a:endCxn id="56" idx="4"/>
          </p:cNvCxnSpPr>
          <p:nvPr/>
        </p:nvCxnSpPr>
        <p:spPr>
          <a:xfrm>
            <a:off x="6627889" y="5244446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1261504-F0D5-46D4-95E0-0D9FF5955146}"/>
              </a:ext>
            </a:extLst>
          </p:cNvPr>
          <p:cNvCxnSpPr>
            <a:stCxn id="61" idx="0"/>
            <a:endCxn id="61" idx="4"/>
          </p:cNvCxnSpPr>
          <p:nvPr/>
        </p:nvCxnSpPr>
        <p:spPr>
          <a:xfrm>
            <a:off x="8276842" y="4116724"/>
            <a:ext cx="0" cy="546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5A11750-F73E-4D07-85B0-357A3CA70373}"/>
              </a:ext>
            </a:extLst>
          </p:cNvPr>
          <p:cNvCxnSpPr>
            <a:stCxn id="61" idx="6"/>
          </p:cNvCxnSpPr>
          <p:nvPr/>
        </p:nvCxnSpPr>
        <p:spPr>
          <a:xfrm flipH="1" flipV="1">
            <a:off x="8276842" y="4390101"/>
            <a:ext cx="30637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402B844-E7D7-4036-84AB-5E1D70989660}"/>
              </a:ext>
            </a:extLst>
          </p:cNvPr>
          <p:cNvCxnSpPr>
            <a:stCxn id="54" idx="6"/>
          </p:cNvCxnSpPr>
          <p:nvPr/>
        </p:nvCxnSpPr>
        <p:spPr>
          <a:xfrm flipH="1" flipV="1">
            <a:off x="6625632" y="3351352"/>
            <a:ext cx="30862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DAF705-D01E-427C-A308-492EF473AFBA}"/>
              </a:ext>
            </a:extLst>
          </p:cNvPr>
          <p:cNvCxnSpPr>
            <a:stCxn id="56" idx="6"/>
          </p:cNvCxnSpPr>
          <p:nvPr/>
        </p:nvCxnSpPr>
        <p:spPr>
          <a:xfrm flipH="1" flipV="1">
            <a:off x="6627888" y="5517823"/>
            <a:ext cx="3063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D6855B-84C7-44B6-81D1-36F048350994}"/>
              </a:ext>
            </a:extLst>
          </p:cNvPr>
          <p:cNvCxnSpPr>
            <a:stCxn id="39" idx="6"/>
          </p:cNvCxnSpPr>
          <p:nvPr/>
        </p:nvCxnSpPr>
        <p:spPr>
          <a:xfrm flipH="1" flipV="1">
            <a:off x="1944134" y="3351352"/>
            <a:ext cx="35209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775D1E1-D7F5-4870-B931-CAE23D97E091}"/>
              </a:ext>
            </a:extLst>
          </p:cNvPr>
          <p:cNvCxnSpPr>
            <a:stCxn id="45" idx="6"/>
          </p:cNvCxnSpPr>
          <p:nvPr/>
        </p:nvCxnSpPr>
        <p:spPr>
          <a:xfrm flipH="1">
            <a:off x="3366786" y="4398293"/>
            <a:ext cx="306372" cy="5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A0F5325-CA7A-4CDF-9A1E-423B94A38601}"/>
              </a:ext>
            </a:extLst>
          </p:cNvPr>
          <p:cNvCxnSpPr>
            <a:stCxn id="49" idx="6"/>
          </p:cNvCxnSpPr>
          <p:nvPr/>
        </p:nvCxnSpPr>
        <p:spPr>
          <a:xfrm flipH="1" flipV="1">
            <a:off x="5132222" y="4387177"/>
            <a:ext cx="307499" cy="4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81EFD15-24C7-4F20-9C23-1F74D7C2B3CE}"/>
              </a:ext>
            </a:extLst>
          </p:cNvPr>
          <p:cNvCxnSpPr>
            <a:cxnSpLocks/>
            <a:stCxn id="43" idx="6"/>
          </p:cNvCxnSpPr>
          <p:nvPr/>
        </p:nvCxnSpPr>
        <p:spPr>
          <a:xfrm flipH="1" flipV="1">
            <a:off x="1989857" y="5517823"/>
            <a:ext cx="3063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A08F946-4143-41E9-B4FD-D8BA701F337C}"/>
              </a:ext>
            </a:extLst>
          </p:cNvPr>
          <p:cNvCxnSpPr>
            <a:cxnSpLocks/>
            <a:stCxn id="9" idx="6"/>
          </p:cNvCxnSpPr>
          <p:nvPr/>
        </p:nvCxnSpPr>
        <p:spPr>
          <a:xfrm flipH="1" flipV="1">
            <a:off x="662566" y="4421170"/>
            <a:ext cx="32648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59520E4-29A5-42A1-86CD-E535DE78729D}"/>
              </a:ext>
            </a:extLst>
          </p:cNvPr>
          <p:cNvSpPr/>
          <p:nvPr/>
        </p:nvSpPr>
        <p:spPr>
          <a:xfrm>
            <a:off x="390425" y="4231376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63F258-45F5-4732-B28D-F178D73C1841}"/>
              </a:ext>
            </a:extLst>
          </p:cNvPr>
          <p:cNvSpPr/>
          <p:nvPr/>
        </p:nvSpPr>
        <p:spPr>
          <a:xfrm>
            <a:off x="1697609" y="3151297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C6AA3AF-D2F6-4B81-8993-2B9CBC8DA2BE}"/>
              </a:ext>
            </a:extLst>
          </p:cNvPr>
          <p:cNvSpPr/>
          <p:nvPr/>
        </p:nvSpPr>
        <p:spPr>
          <a:xfrm>
            <a:off x="3067756" y="4202999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720220D-A5EC-434D-84BE-E6C94A9F5AC7}"/>
              </a:ext>
            </a:extLst>
          </p:cNvPr>
          <p:cNvCxnSpPr>
            <a:stCxn id="39" idx="6"/>
          </p:cNvCxnSpPr>
          <p:nvPr/>
        </p:nvCxnSpPr>
        <p:spPr>
          <a:xfrm>
            <a:off x="2296229" y="3351353"/>
            <a:ext cx="654361" cy="915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428B73-041F-47DF-BF0D-E25792F243EF}"/>
              </a:ext>
            </a:extLst>
          </p:cNvPr>
          <p:cNvSpPr/>
          <p:nvPr/>
        </p:nvSpPr>
        <p:spPr>
          <a:xfrm>
            <a:off x="1708667" y="5300104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5410483-A0B6-4DB9-A6FE-8DFC65697E32}"/>
              </a:ext>
            </a:extLst>
          </p:cNvPr>
          <p:cNvSpPr/>
          <p:nvPr/>
        </p:nvSpPr>
        <p:spPr>
          <a:xfrm>
            <a:off x="4835768" y="4187122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4FC9A64-0E18-4F3A-83EC-16434D4E23DF}"/>
              </a:ext>
            </a:extLst>
          </p:cNvPr>
          <p:cNvSpPr/>
          <p:nvPr/>
        </p:nvSpPr>
        <p:spPr>
          <a:xfrm>
            <a:off x="6330496" y="5317768"/>
            <a:ext cx="3257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5307738-5662-4420-A1D2-596EA3C0803D}"/>
              </a:ext>
            </a:extLst>
          </p:cNvPr>
          <p:cNvSpPr/>
          <p:nvPr/>
        </p:nvSpPr>
        <p:spPr>
          <a:xfrm>
            <a:off x="6356676" y="3151297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093CED2-609C-483A-B226-C1800C5C0283}"/>
              </a:ext>
            </a:extLst>
          </p:cNvPr>
          <p:cNvSpPr/>
          <p:nvPr/>
        </p:nvSpPr>
        <p:spPr>
          <a:xfrm>
            <a:off x="7994962" y="4187122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68E8FAB-C135-46BB-8F41-C9452A3D9E89}"/>
              </a:ext>
            </a:extLst>
          </p:cNvPr>
          <p:cNvSpPr/>
          <p:nvPr/>
        </p:nvSpPr>
        <p:spPr>
          <a:xfrm>
            <a:off x="1217402" y="3608804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4291B85-B08E-483D-8104-64C31C826AD9}"/>
              </a:ext>
            </a:extLst>
          </p:cNvPr>
          <p:cNvSpPr/>
          <p:nvPr/>
        </p:nvSpPr>
        <p:spPr>
          <a:xfrm>
            <a:off x="2489219" y="3607934"/>
            <a:ext cx="31290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59657B8-3F92-49E8-8F09-9C36C7B573C4}"/>
              </a:ext>
            </a:extLst>
          </p:cNvPr>
          <p:cNvSpPr/>
          <p:nvPr/>
        </p:nvSpPr>
        <p:spPr>
          <a:xfrm>
            <a:off x="1809862" y="4231376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A5F543B-DC6B-46B6-9BD6-B79F7CE0A2A3}"/>
              </a:ext>
            </a:extLst>
          </p:cNvPr>
          <p:cNvSpPr/>
          <p:nvPr/>
        </p:nvSpPr>
        <p:spPr>
          <a:xfrm>
            <a:off x="1191908" y="4753908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F57095E-0ED0-4DF3-89E1-68FE425077DA}"/>
              </a:ext>
            </a:extLst>
          </p:cNvPr>
          <p:cNvSpPr/>
          <p:nvPr/>
        </p:nvSpPr>
        <p:spPr>
          <a:xfrm>
            <a:off x="3978408" y="4194780"/>
            <a:ext cx="2968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23286E0-9030-4C10-9755-79504D45A08D}"/>
              </a:ext>
            </a:extLst>
          </p:cNvPr>
          <p:cNvSpPr/>
          <p:nvPr/>
        </p:nvSpPr>
        <p:spPr>
          <a:xfrm>
            <a:off x="3459570" y="4780970"/>
            <a:ext cx="2968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04D456B-EBA2-40B8-8CCA-6F4DAA758C65}"/>
              </a:ext>
            </a:extLst>
          </p:cNvPr>
          <p:cNvSpPr/>
          <p:nvPr/>
        </p:nvSpPr>
        <p:spPr>
          <a:xfrm>
            <a:off x="4123423" y="5300104"/>
            <a:ext cx="38183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9C440F4-0244-46AF-B463-13596C1B9BAB}"/>
              </a:ext>
            </a:extLst>
          </p:cNvPr>
          <p:cNvSpPr/>
          <p:nvPr/>
        </p:nvSpPr>
        <p:spPr>
          <a:xfrm>
            <a:off x="5746348" y="3670440"/>
            <a:ext cx="34015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0EA29C0-BBED-4183-86B5-C41A2A430AB7}"/>
              </a:ext>
            </a:extLst>
          </p:cNvPr>
          <p:cNvSpPr/>
          <p:nvPr/>
        </p:nvSpPr>
        <p:spPr>
          <a:xfrm>
            <a:off x="5750787" y="4728121"/>
            <a:ext cx="24077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F4CAD2A-4675-42B0-9ED8-589DAF4B60A8}"/>
              </a:ext>
            </a:extLst>
          </p:cNvPr>
          <p:cNvSpPr/>
          <p:nvPr/>
        </p:nvSpPr>
        <p:spPr>
          <a:xfrm>
            <a:off x="7261152" y="4844336"/>
            <a:ext cx="2840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9BB75E7-EB7A-4191-AB5C-6B0C2EF47BF0}"/>
              </a:ext>
            </a:extLst>
          </p:cNvPr>
          <p:cNvSpPr/>
          <p:nvPr/>
        </p:nvSpPr>
        <p:spPr>
          <a:xfrm>
            <a:off x="7180578" y="3550975"/>
            <a:ext cx="3257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45985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FBA9-7F9E-4A4F-BB57-1F0FA375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F05BE-DC86-429E-A279-3033DE268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Three [25 Marks]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Activities of a remediation plan has been assigned to you to come up with the project network which is scheduled to be presented in a managing meeting.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Draw a network diagram for the remediation plan project. [5 Marks]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9992C-D57C-416C-9E6C-A277724F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1603B-6ADA-4D34-84B6-401D7815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5286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3293-16EC-436A-8D11-8117973B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867EAF-E24D-4E29-B45B-FE34663631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249488"/>
          <a:ext cx="24596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276">
                  <a:extLst>
                    <a:ext uri="{9D8B030D-6E8A-4147-A177-3AD203B41FA5}">
                      <a16:colId xmlns:a16="http://schemas.microsoft.com/office/drawing/2014/main" val="3059672655"/>
                    </a:ext>
                  </a:extLst>
                </a:gridCol>
                <a:gridCol w="1178350">
                  <a:extLst>
                    <a:ext uri="{9D8B030D-6E8A-4147-A177-3AD203B41FA5}">
                      <a16:colId xmlns:a16="http://schemas.microsoft.com/office/drawing/2014/main" val="408930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93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40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05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5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5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62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1425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9C2E6-CA48-41D0-A82D-055D946C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3046" y="621514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D1EEA-3EEE-4A6C-997C-9BD59FBD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17</a:t>
            </a:fld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DACF7C-3DA9-43AA-A80D-BEA405DF2C67}"/>
              </a:ext>
            </a:extLst>
          </p:cNvPr>
          <p:cNvSpPr/>
          <p:nvPr/>
        </p:nvSpPr>
        <p:spPr>
          <a:xfrm>
            <a:off x="3879515" y="3822381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A9F797-6D59-4758-9C43-D690916DBED4}"/>
              </a:ext>
            </a:extLst>
          </p:cNvPr>
          <p:cNvSpPr/>
          <p:nvPr/>
        </p:nvSpPr>
        <p:spPr>
          <a:xfrm>
            <a:off x="4982451" y="2896390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6D26A1-FDEC-4980-9883-D6AA55287355}"/>
              </a:ext>
            </a:extLst>
          </p:cNvPr>
          <p:cNvSpPr/>
          <p:nvPr/>
        </p:nvSpPr>
        <p:spPr>
          <a:xfrm>
            <a:off x="5068677" y="4736105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8C3842-3F8E-4F77-9118-5FA6409C8385}"/>
              </a:ext>
            </a:extLst>
          </p:cNvPr>
          <p:cNvSpPr/>
          <p:nvPr/>
        </p:nvSpPr>
        <p:spPr>
          <a:xfrm>
            <a:off x="10907811" y="2930203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DCF303-43AA-4205-BFE2-B6DB6634AEA0}"/>
              </a:ext>
            </a:extLst>
          </p:cNvPr>
          <p:cNvCxnSpPr>
            <a:stCxn id="7" idx="6"/>
            <a:endCxn id="10" idx="3"/>
          </p:cNvCxnSpPr>
          <p:nvPr/>
        </p:nvCxnSpPr>
        <p:spPr>
          <a:xfrm flipV="1">
            <a:off x="4468306" y="3367258"/>
            <a:ext cx="600371" cy="730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AF9F71-BCC9-4050-A001-17695724AB1C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468306" y="4098209"/>
            <a:ext cx="600371" cy="913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043C83C-A792-4070-86F3-FDEA138F37A5}"/>
              </a:ext>
            </a:extLst>
          </p:cNvPr>
          <p:cNvSpPr/>
          <p:nvPr/>
        </p:nvSpPr>
        <p:spPr>
          <a:xfrm>
            <a:off x="7525207" y="4719889"/>
            <a:ext cx="588791" cy="5516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AF264-6F14-4A69-A767-E301C4281C14}"/>
              </a:ext>
            </a:extLst>
          </p:cNvPr>
          <p:cNvCxnSpPr>
            <a:stCxn id="10" idx="6"/>
            <a:endCxn id="19" idx="2"/>
          </p:cNvCxnSpPr>
          <p:nvPr/>
        </p:nvCxnSpPr>
        <p:spPr>
          <a:xfrm>
            <a:off x="5571242" y="3172218"/>
            <a:ext cx="1953965" cy="1823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AE0D60-16B4-4781-A99E-84F4FC5C9FA6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8113998" y="3320642"/>
            <a:ext cx="2726827" cy="1675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EE5F30-5A2A-4F2D-A287-952E8337DFFB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5571242" y="3172218"/>
            <a:ext cx="5336569" cy="33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E290755-85F0-49D9-995F-71F84BE5C356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4173911" y="3822381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DA437A-26AC-4D18-BF3A-AAF1C064A46F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5276847" y="2896390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A2DE4A-B598-4E67-BB1F-1052F7D30497}"/>
              </a:ext>
            </a:extLst>
          </p:cNvPr>
          <p:cNvCxnSpPr>
            <a:stCxn id="11" idx="0"/>
            <a:endCxn id="11" idx="4"/>
          </p:cNvCxnSpPr>
          <p:nvPr/>
        </p:nvCxnSpPr>
        <p:spPr>
          <a:xfrm>
            <a:off x="5363073" y="4736105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827B34-AE51-45D3-9F75-74BFDE6C9234}"/>
              </a:ext>
            </a:extLst>
          </p:cNvPr>
          <p:cNvCxnSpPr>
            <a:stCxn id="19" idx="0"/>
            <a:endCxn id="19" idx="4"/>
          </p:cNvCxnSpPr>
          <p:nvPr/>
        </p:nvCxnSpPr>
        <p:spPr>
          <a:xfrm>
            <a:off x="7819603" y="4719889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F30E8D-B66C-4DA0-8D6A-14B387B98EEC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11202207" y="2930203"/>
            <a:ext cx="0" cy="551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A6DF83-5937-4E98-8AC6-0FDD2E98783A}"/>
              </a:ext>
            </a:extLst>
          </p:cNvPr>
          <p:cNvCxnSpPr>
            <a:stCxn id="7" idx="6"/>
          </p:cNvCxnSpPr>
          <p:nvPr/>
        </p:nvCxnSpPr>
        <p:spPr>
          <a:xfrm flipH="1">
            <a:off x="4173910" y="4098209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500B580-1EB3-4612-BD6D-F80BF216C1EA}"/>
              </a:ext>
            </a:extLst>
          </p:cNvPr>
          <p:cNvCxnSpPr>
            <a:stCxn id="10" idx="6"/>
          </p:cNvCxnSpPr>
          <p:nvPr/>
        </p:nvCxnSpPr>
        <p:spPr>
          <a:xfrm flipH="1">
            <a:off x="5276846" y="3172218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5ADF148-5B76-4443-826B-6D4AD4E90691}"/>
              </a:ext>
            </a:extLst>
          </p:cNvPr>
          <p:cNvCxnSpPr>
            <a:stCxn id="11" idx="6"/>
          </p:cNvCxnSpPr>
          <p:nvPr/>
        </p:nvCxnSpPr>
        <p:spPr>
          <a:xfrm flipH="1">
            <a:off x="5363072" y="5011933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CA2F3A-5D55-4E7E-95C1-B613CD657DC2}"/>
              </a:ext>
            </a:extLst>
          </p:cNvPr>
          <p:cNvCxnSpPr>
            <a:stCxn id="19" idx="6"/>
          </p:cNvCxnSpPr>
          <p:nvPr/>
        </p:nvCxnSpPr>
        <p:spPr>
          <a:xfrm flipH="1">
            <a:off x="7819602" y="4995717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ACD1C3-8CB7-4F18-8FA8-A9CEF0B54F9E}"/>
              </a:ext>
            </a:extLst>
          </p:cNvPr>
          <p:cNvCxnSpPr>
            <a:stCxn id="12" idx="6"/>
          </p:cNvCxnSpPr>
          <p:nvPr/>
        </p:nvCxnSpPr>
        <p:spPr>
          <a:xfrm flipH="1">
            <a:off x="11202206" y="3206031"/>
            <a:ext cx="294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4458DE5-B051-4B7C-B744-CABB4CAFDD8F}"/>
              </a:ext>
            </a:extLst>
          </p:cNvPr>
          <p:cNvSpPr/>
          <p:nvPr/>
        </p:nvSpPr>
        <p:spPr>
          <a:xfrm>
            <a:off x="3921615" y="394245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16EF91-8678-4F6B-8902-9BF1041FDDA8}"/>
              </a:ext>
            </a:extLst>
          </p:cNvPr>
          <p:cNvSpPr/>
          <p:nvPr/>
        </p:nvSpPr>
        <p:spPr>
          <a:xfrm>
            <a:off x="4987264" y="2947158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DD4BE-6424-4D2D-A358-8FBF28962056}"/>
              </a:ext>
            </a:extLst>
          </p:cNvPr>
          <p:cNvSpPr/>
          <p:nvPr/>
        </p:nvSpPr>
        <p:spPr>
          <a:xfrm>
            <a:off x="5079096" y="4813194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1F3DC5-3437-4F98-9E3E-3BED63737FB6}"/>
              </a:ext>
            </a:extLst>
          </p:cNvPr>
          <p:cNvSpPr/>
          <p:nvPr/>
        </p:nvSpPr>
        <p:spPr>
          <a:xfrm>
            <a:off x="10883744" y="303236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23299CF-7C1B-4646-9DDC-D0C9BFC1B789}"/>
              </a:ext>
            </a:extLst>
          </p:cNvPr>
          <p:cNvCxnSpPr>
            <a:stCxn id="11" idx="6"/>
            <a:endCxn id="19" idx="2"/>
          </p:cNvCxnSpPr>
          <p:nvPr/>
        </p:nvCxnSpPr>
        <p:spPr>
          <a:xfrm flipV="1">
            <a:off x="5657468" y="4995717"/>
            <a:ext cx="1867739" cy="162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7C128D6-2DA1-43DA-9CB7-C55E3A4A39FA}"/>
              </a:ext>
            </a:extLst>
          </p:cNvPr>
          <p:cNvSpPr/>
          <p:nvPr/>
        </p:nvSpPr>
        <p:spPr>
          <a:xfrm>
            <a:off x="7525207" y="480679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7EB477-B7DE-4D50-A595-DD79C2572DAD}"/>
              </a:ext>
            </a:extLst>
          </p:cNvPr>
          <p:cNvSpPr/>
          <p:nvPr/>
        </p:nvSpPr>
        <p:spPr>
          <a:xfrm>
            <a:off x="9285333" y="400470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9C20A4-BEC7-4D5F-AA2C-7940E2E0FC75}"/>
              </a:ext>
            </a:extLst>
          </p:cNvPr>
          <p:cNvSpPr/>
          <p:nvPr/>
        </p:nvSpPr>
        <p:spPr>
          <a:xfrm>
            <a:off x="4594063" y="351378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E914820-2D0D-49B3-8C1A-521CC521BD52}"/>
              </a:ext>
            </a:extLst>
          </p:cNvPr>
          <p:cNvSpPr/>
          <p:nvPr/>
        </p:nvSpPr>
        <p:spPr>
          <a:xfrm>
            <a:off x="4587759" y="4474431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17277C-FE65-4943-8411-F6119F92925C}"/>
              </a:ext>
            </a:extLst>
          </p:cNvPr>
          <p:cNvSpPr/>
          <p:nvPr/>
        </p:nvSpPr>
        <p:spPr>
          <a:xfrm>
            <a:off x="6209596" y="3750556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E018C4-6EEB-463A-B9B8-1D5F475B7923}"/>
              </a:ext>
            </a:extLst>
          </p:cNvPr>
          <p:cNvSpPr/>
          <p:nvPr/>
        </p:nvSpPr>
        <p:spPr>
          <a:xfrm>
            <a:off x="6418794" y="4813194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F641BE9-6743-428E-B4C2-9303FA6D2E58}"/>
              </a:ext>
            </a:extLst>
          </p:cNvPr>
          <p:cNvSpPr/>
          <p:nvPr/>
        </p:nvSpPr>
        <p:spPr>
          <a:xfrm>
            <a:off x="7558511" y="4395509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6F44AE2-E755-45EF-8435-C5A4D6DD6434}"/>
              </a:ext>
            </a:extLst>
          </p:cNvPr>
          <p:cNvSpPr/>
          <p:nvPr/>
        </p:nvSpPr>
        <p:spPr>
          <a:xfrm>
            <a:off x="7724842" y="3008607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A7F257-05BD-4BC4-BF13-F6FC2493FBC4}"/>
              </a:ext>
            </a:extLst>
          </p:cNvPr>
          <p:cNvSpPr/>
          <p:nvPr/>
        </p:nvSpPr>
        <p:spPr>
          <a:xfrm>
            <a:off x="5176635" y="312872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444B7AA-8BFD-4A51-BE1E-FA6D79310DF4}"/>
              </a:ext>
            </a:extLst>
          </p:cNvPr>
          <p:cNvSpPr/>
          <p:nvPr/>
        </p:nvSpPr>
        <p:spPr>
          <a:xfrm>
            <a:off x="5272427" y="496245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A7B3569-7CF7-416F-9105-4BA65A9C6CD6}"/>
              </a:ext>
            </a:extLst>
          </p:cNvPr>
          <p:cNvSpPr/>
          <p:nvPr/>
        </p:nvSpPr>
        <p:spPr>
          <a:xfrm>
            <a:off x="11087729" y="311673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4ABEA5E-6E17-4435-B398-1ECE03C94298}"/>
              </a:ext>
            </a:extLst>
          </p:cNvPr>
          <p:cNvSpPr/>
          <p:nvPr/>
        </p:nvSpPr>
        <p:spPr>
          <a:xfrm>
            <a:off x="7725048" y="4905210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3FBD43-AAB9-4068-8FB9-72C53CEDD919}"/>
              </a:ext>
            </a:extLst>
          </p:cNvPr>
          <p:cNvSpPr/>
          <p:nvPr/>
        </p:nvSpPr>
        <p:spPr>
          <a:xfrm>
            <a:off x="7732670" y="4667085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6519A2E-DB9A-4D27-B281-0732475D6849}"/>
              </a:ext>
            </a:extLst>
          </p:cNvPr>
          <p:cNvSpPr/>
          <p:nvPr/>
        </p:nvSpPr>
        <p:spPr>
          <a:xfrm>
            <a:off x="11116798" y="2869282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03D520-D893-457D-AAE9-A275E0ED2886}"/>
              </a:ext>
            </a:extLst>
          </p:cNvPr>
          <p:cNvSpPr/>
          <p:nvPr/>
        </p:nvSpPr>
        <p:spPr>
          <a:xfrm>
            <a:off x="5255804" y="4719123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7EB019-D1E0-4B7C-AF15-88585F9E1E9E}"/>
              </a:ext>
            </a:extLst>
          </p:cNvPr>
          <p:cNvSpPr/>
          <p:nvPr/>
        </p:nvSpPr>
        <p:spPr>
          <a:xfrm>
            <a:off x="5178076" y="2900406"/>
            <a:ext cx="4379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291D3E-7309-4182-894E-A218EE8B8639}"/>
              </a:ext>
            </a:extLst>
          </p:cNvPr>
          <p:cNvSpPr/>
          <p:nvPr/>
        </p:nvSpPr>
        <p:spPr>
          <a:xfrm>
            <a:off x="4111535" y="3809402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E7B9D60-7667-4C8F-9B6A-2F2D10264402}"/>
              </a:ext>
            </a:extLst>
          </p:cNvPr>
          <p:cNvSpPr/>
          <p:nvPr/>
        </p:nvSpPr>
        <p:spPr>
          <a:xfrm>
            <a:off x="4160345" y="4042795"/>
            <a:ext cx="3113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70B27F0-EDAC-401F-93DD-01C01DE63F96}"/>
              </a:ext>
            </a:extLst>
          </p:cNvPr>
          <p:cNvSpPr/>
          <p:nvPr/>
        </p:nvSpPr>
        <p:spPr>
          <a:xfrm>
            <a:off x="4699676" y="256087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3D1420D-9806-4772-841A-FD8C6AC7EF11}"/>
              </a:ext>
            </a:extLst>
          </p:cNvPr>
          <p:cNvSpPr/>
          <p:nvPr/>
        </p:nvSpPr>
        <p:spPr>
          <a:xfrm>
            <a:off x="10661929" y="2543774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3BB9C3E-F4F9-4FD8-81B2-F0E011640358}"/>
              </a:ext>
            </a:extLst>
          </p:cNvPr>
          <p:cNvSpPr/>
          <p:nvPr/>
        </p:nvSpPr>
        <p:spPr>
          <a:xfrm>
            <a:off x="4813033" y="5245712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1A08908-9737-4584-97FA-0446B5A5A085}"/>
              </a:ext>
            </a:extLst>
          </p:cNvPr>
          <p:cNvSpPr/>
          <p:nvPr/>
        </p:nvSpPr>
        <p:spPr>
          <a:xfrm>
            <a:off x="7272355" y="5267293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6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AB158D-A49B-4997-9AC9-1959A8F8007F}"/>
              </a:ext>
            </a:extLst>
          </p:cNvPr>
          <p:cNvSpPr/>
          <p:nvPr/>
        </p:nvSpPr>
        <p:spPr>
          <a:xfrm>
            <a:off x="3614406" y="4306261"/>
            <a:ext cx="1080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Slack = 0</a:t>
            </a:r>
            <a:endParaRPr lang="LID4096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4EC946-B77E-408A-8B43-87FC9754C37B}"/>
              </a:ext>
            </a:extLst>
          </p:cNvPr>
          <p:cNvCxnSpPr/>
          <p:nvPr/>
        </p:nvCxnSpPr>
        <p:spPr>
          <a:xfrm>
            <a:off x="8352908" y="3054616"/>
            <a:ext cx="0" cy="26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005FE22-6A15-46EF-96AF-3C54ABE9C655}"/>
              </a:ext>
            </a:extLst>
          </p:cNvPr>
          <p:cNvCxnSpPr/>
          <p:nvPr/>
        </p:nvCxnSpPr>
        <p:spPr>
          <a:xfrm>
            <a:off x="8474430" y="3072506"/>
            <a:ext cx="0" cy="26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C8C891-224D-4EB2-A555-238DF003A0F2}"/>
              </a:ext>
            </a:extLst>
          </p:cNvPr>
          <p:cNvCxnSpPr/>
          <p:nvPr/>
        </p:nvCxnSpPr>
        <p:spPr>
          <a:xfrm>
            <a:off x="4510406" y="3793820"/>
            <a:ext cx="225274" cy="2204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61BD4E8-8DF7-4962-83B8-9D18C5174E58}"/>
              </a:ext>
            </a:extLst>
          </p:cNvPr>
          <p:cNvCxnSpPr/>
          <p:nvPr/>
        </p:nvCxnSpPr>
        <p:spPr>
          <a:xfrm>
            <a:off x="4578460" y="3730009"/>
            <a:ext cx="225274" cy="2204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084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9D27-C323-440E-9B2B-E2AAA4BF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620C-9CFC-4766-B2E8-360A48C00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2"/>
            </a:pPr>
            <a:r>
              <a:rPr lang="en-US" dirty="0"/>
              <a:t>Determine the critical path and find the Earliest Start (ES), Earliest Finish (EF), Latest Start (LS), and Latest Finish (LF) Time. [10 Marks]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45F76-29F3-4972-A5FA-48D70B1E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F149A-10EF-440D-B8A8-1950DE3F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18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59722-D548-437D-85E1-0738EA5B015F}"/>
              </a:ext>
            </a:extLst>
          </p:cNvPr>
          <p:cNvSpPr/>
          <p:nvPr/>
        </p:nvSpPr>
        <p:spPr>
          <a:xfrm>
            <a:off x="1529585" y="3429000"/>
            <a:ext cx="34427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2 – 5   </a:t>
            </a:r>
            <a:endParaRPr lang="LID4096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394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8F97-654C-4A90-A4F8-791E25C3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1D803E-EC0B-4F29-8330-7A09B1212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728415"/>
              </p:ext>
            </p:extLst>
          </p:nvPr>
        </p:nvGraphicFramePr>
        <p:xfrm>
          <a:off x="962304" y="2464947"/>
          <a:ext cx="38265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(ES +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76004-EDD9-4EC3-99AF-47269C70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304" y="638289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0BB7E-88CF-4083-A31F-066B2A80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19</a:t>
            </a:fld>
            <a:endParaRPr lang="LID4096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B95158-B623-46CC-A677-F537E7166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7140852"/>
              </p:ext>
            </p:extLst>
          </p:nvPr>
        </p:nvGraphicFramePr>
        <p:xfrm>
          <a:off x="5128793" y="2464947"/>
          <a:ext cx="38265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27">
                  <a:extLst>
                    <a:ext uri="{9D8B030D-6E8A-4147-A177-3AD203B41FA5}">
                      <a16:colId xmlns:a16="http://schemas.microsoft.com/office/drawing/2014/main" val="1512541129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1055802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(LF - 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42FF3F88-C02E-4507-BD78-50669B923D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459598"/>
              </p:ext>
            </p:extLst>
          </p:nvPr>
        </p:nvGraphicFramePr>
        <p:xfrm>
          <a:off x="9280688" y="2464947"/>
          <a:ext cx="194900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621">
                  <a:extLst>
                    <a:ext uri="{9D8B030D-6E8A-4147-A177-3AD203B41FA5}">
                      <a16:colId xmlns:a16="http://schemas.microsoft.com/office/drawing/2014/main" val="1892696810"/>
                    </a:ext>
                  </a:extLst>
                </a:gridCol>
                <a:gridCol w="487853">
                  <a:extLst>
                    <a:ext uri="{9D8B030D-6E8A-4147-A177-3AD203B41FA5}">
                      <a16:colId xmlns:a16="http://schemas.microsoft.com/office/drawing/2014/main" val="1535858461"/>
                    </a:ext>
                  </a:extLst>
                </a:gridCol>
                <a:gridCol w="961534">
                  <a:extLst>
                    <a:ext uri="{9D8B030D-6E8A-4147-A177-3AD203B41FA5}">
                      <a16:colId xmlns:a16="http://schemas.microsoft.com/office/drawing/2014/main" val="412610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(LS - ES)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2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5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4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49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4FD3-0AB0-419F-82F5-DD604F3D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2A810-AC15-43D5-8D7F-36D18DD8E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 startAt="4"/>
            </a:pPr>
            <a:r>
              <a:rPr lang="en-US" dirty="0"/>
              <a:t>Calculate the Total Float (TF), Free Float (FF), Independent Float (IND F), and the Interfering Float (INT F). [10 Marks]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51530-AFA6-4B58-A3F9-20D19EB9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510B3-7A1F-43C7-A771-F6022C72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3248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6415-536F-4A33-AA8E-66365CC7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A098CCF-5D70-4361-9AAE-8AA14E0BF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239239"/>
              </p:ext>
            </p:extLst>
          </p:nvPr>
        </p:nvGraphicFramePr>
        <p:xfrm>
          <a:off x="3384590" y="2557621"/>
          <a:ext cx="541964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40">
                  <a:extLst>
                    <a:ext uri="{9D8B030D-6E8A-4147-A177-3AD203B41FA5}">
                      <a16:colId xmlns:a16="http://schemas.microsoft.com/office/drawing/2014/main" val="3657819466"/>
                    </a:ext>
                  </a:extLst>
                </a:gridCol>
                <a:gridCol w="443059">
                  <a:extLst>
                    <a:ext uri="{9D8B030D-6E8A-4147-A177-3AD203B41FA5}">
                      <a16:colId xmlns:a16="http://schemas.microsoft.com/office/drawing/2014/main" val="3164874566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95882201"/>
                    </a:ext>
                  </a:extLst>
                </a:gridCol>
                <a:gridCol w="471341">
                  <a:extLst>
                    <a:ext uri="{9D8B030D-6E8A-4147-A177-3AD203B41FA5}">
                      <a16:colId xmlns:a16="http://schemas.microsoft.com/office/drawing/2014/main" val="3443212205"/>
                    </a:ext>
                  </a:extLst>
                </a:gridCol>
                <a:gridCol w="1027521">
                  <a:extLst>
                    <a:ext uri="{9D8B030D-6E8A-4147-A177-3AD203B41FA5}">
                      <a16:colId xmlns:a16="http://schemas.microsoft.com/office/drawing/2014/main" val="1328624491"/>
                    </a:ext>
                  </a:extLst>
                </a:gridCol>
                <a:gridCol w="970961">
                  <a:extLst>
                    <a:ext uri="{9D8B030D-6E8A-4147-A177-3AD203B41FA5}">
                      <a16:colId xmlns:a16="http://schemas.microsoft.com/office/drawing/2014/main" val="1502003886"/>
                    </a:ext>
                  </a:extLst>
                </a:gridCol>
                <a:gridCol w="1027522">
                  <a:extLst>
                    <a:ext uri="{9D8B030D-6E8A-4147-A177-3AD203B41FA5}">
                      <a16:colId xmlns:a16="http://schemas.microsoft.com/office/drawing/2014/main" val="130799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TF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H)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(FF – T)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 F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(TF – FF)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2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6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3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06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4 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6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4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79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6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5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3097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2ABE0-BE7E-4E55-AB78-7EEEE011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239482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BDF17-0748-4027-AD8C-FC3CBBC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1759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E480-4A9A-44FD-B958-5CB7CA26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EB5B-14C2-4E9E-B35C-104A587B7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four [25 Marks]</a:t>
            </a:r>
          </a:p>
          <a:p>
            <a:pPr marL="0" indent="0">
              <a:buNone/>
            </a:pPr>
            <a:r>
              <a:rPr lang="en-US" dirty="0"/>
              <a:t>The following have been given for your convenient as an IT Manager in charge of all ICT work related project.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D72B71-71A5-4F0E-9C67-E67C871AF2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EBA0D-D2A2-4E3F-976C-0A278C5D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6D8F0-93AB-408E-984C-C1291C43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7761" y="6347875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22</a:t>
            </a:fld>
            <a:endParaRPr lang="LID4096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12D752-8B97-451D-B306-0C57F365A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52406"/>
              </p:ext>
            </p:extLst>
          </p:nvPr>
        </p:nvGraphicFramePr>
        <p:xfrm>
          <a:off x="6655245" y="2233662"/>
          <a:ext cx="488308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656">
                  <a:extLst>
                    <a:ext uri="{9D8B030D-6E8A-4147-A177-3AD203B41FA5}">
                      <a16:colId xmlns:a16="http://schemas.microsoft.com/office/drawing/2014/main" val="4133946612"/>
                    </a:ext>
                  </a:extLst>
                </a:gridCol>
                <a:gridCol w="1168923">
                  <a:extLst>
                    <a:ext uri="{9D8B030D-6E8A-4147-A177-3AD203B41FA5}">
                      <a16:colId xmlns:a16="http://schemas.microsoft.com/office/drawing/2014/main" val="2380117571"/>
                    </a:ext>
                  </a:extLst>
                </a:gridCol>
                <a:gridCol w="1319753">
                  <a:extLst>
                    <a:ext uri="{9D8B030D-6E8A-4147-A177-3AD203B41FA5}">
                      <a16:colId xmlns:a16="http://schemas.microsoft.com/office/drawing/2014/main" val="1749997764"/>
                    </a:ext>
                  </a:extLst>
                </a:gridCol>
                <a:gridCol w="1319752">
                  <a:extLst>
                    <a:ext uri="{9D8B030D-6E8A-4147-A177-3AD203B41FA5}">
                      <a16:colId xmlns:a16="http://schemas.microsoft.com/office/drawing/2014/main" val="1490675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Optimistic (O or to)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Pessimistic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(P or tp)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Most Likely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(M or tm)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996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1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0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–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02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62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26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 –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51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3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37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 –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4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964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1FF8-DAD0-4532-BA69-136016E7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C466C-7A86-4504-8683-D886108EF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en-US" dirty="0"/>
              <a:t>Draw the corresponding network diagram.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D5D28-68D1-475A-9D2E-BB03E012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5D522-EC3B-4356-9E36-16F1AEA0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23</a:t>
            </a:fld>
            <a:endParaRPr lang="LID4096" dirty="0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72E7F944-1584-4145-BD28-4A162E703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85" y="2950358"/>
            <a:ext cx="6884123" cy="284084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4D0576B-30FE-4187-A2A7-4F731874E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67" y="2673502"/>
            <a:ext cx="834937" cy="369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5D93C9-A905-4F40-980D-B9CCDCCFA01B}"/>
              </a:ext>
            </a:extLst>
          </p:cNvPr>
          <p:cNvCxnSpPr/>
          <p:nvPr/>
        </p:nvCxnSpPr>
        <p:spPr>
          <a:xfrm flipH="1">
            <a:off x="3214540" y="4157221"/>
            <a:ext cx="179109" cy="1696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646ED1-5A1E-4EF2-8994-7A796568A6A7}"/>
              </a:ext>
            </a:extLst>
          </p:cNvPr>
          <p:cNvCxnSpPr/>
          <p:nvPr/>
        </p:nvCxnSpPr>
        <p:spPr>
          <a:xfrm flipH="1">
            <a:off x="3261674" y="4242062"/>
            <a:ext cx="207390" cy="1979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7680E5-584A-4199-85BB-CF68CED36BDB}"/>
              </a:ext>
            </a:extLst>
          </p:cNvPr>
          <p:cNvCxnSpPr/>
          <p:nvPr/>
        </p:nvCxnSpPr>
        <p:spPr>
          <a:xfrm>
            <a:off x="6400800" y="5326144"/>
            <a:ext cx="0" cy="2262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0893FA-DC4B-4AC9-878E-4CB48DDC10BB}"/>
              </a:ext>
            </a:extLst>
          </p:cNvPr>
          <p:cNvCxnSpPr/>
          <p:nvPr/>
        </p:nvCxnSpPr>
        <p:spPr>
          <a:xfrm>
            <a:off x="6513922" y="5307291"/>
            <a:ext cx="0" cy="2828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060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3439-36C0-482F-AD03-1271A8F1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5409-879B-410A-950E-B1D6CA26F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lphaLcParenR" startAt="2"/>
            </a:pPr>
            <a:r>
              <a:rPr lang="en-US" dirty="0"/>
              <a:t>Compute the expected duration for each activity. [5 Marks]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7CBD93-61C7-4E01-AADD-ADAC0B021C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C157F-AD5F-42A5-A600-F2495CD3D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F203F-6504-4A5E-A09F-746BEB3A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248400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24</a:t>
            </a:fld>
            <a:endParaRPr lang="LID4096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B186A2-CAD5-4F1D-A008-FF11DF3D9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446831"/>
              </p:ext>
            </p:extLst>
          </p:nvPr>
        </p:nvGraphicFramePr>
        <p:xfrm>
          <a:off x="6694024" y="2357436"/>
          <a:ext cx="39678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033">
                  <a:extLst>
                    <a:ext uri="{9D8B030D-6E8A-4147-A177-3AD203B41FA5}">
                      <a16:colId xmlns:a16="http://schemas.microsoft.com/office/drawing/2014/main" val="2201911990"/>
                    </a:ext>
                  </a:extLst>
                </a:gridCol>
                <a:gridCol w="2619808">
                  <a:extLst>
                    <a:ext uri="{9D8B030D-6E8A-4147-A177-3AD203B41FA5}">
                      <a16:colId xmlns:a16="http://schemas.microsoft.com/office/drawing/2014/main" val="3033722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4tm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 = to + 4tm + tp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91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(3 + 24 + 15) / 6 =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791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(2 + 20 + 14) / 6 = 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4(12) = 48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(6 + 48 + 30) / 6 = 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(2 + 20 + 8) / 6 =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5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4(11) = 44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(5 + 44 + 17) / 6 = 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98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4(6) = 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(3 + 24 + 15) / 6 = 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55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4(9) = 36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(3 + 36 + 27) / 6 = 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43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4(4) = 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(1 + 16 + 7) / 6 = 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59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4(5) = 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(2 + 20 + 8) / 6 = 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937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397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6368-47EC-4962-BC0D-8FF9A358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E728E-E2A3-4D82-90DB-BDBF6D3C24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lphaLcParenR" startAt="3"/>
            </a:pPr>
            <a:r>
              <a:rPr lang="en-US" dirty="0"/>
              <a:t>Calculate the expected variance of each activity. [5 Marks]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57E83-E7D8-4A21-BD62-8B4A8F3D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E040D-F829-4E0A-B4FE-9696E115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25</a:t>
            </a:fld>
            <a:endParaRPr lang="LID4096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6A9A7F-23AC-4E80-A607-55EBADFC8C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75776" y="1787323"/>
            <a:ext cx="1832174" cy="501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84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6B96-825E-483A-B008-EFBA6262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PERT Chart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BF182-61DA-4107-AF50-A9062E34AA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lphaLcParenR" startAt="4"/>
            </a:pPr>
            <a:r>
              <a:rPr lang="en-US" dirty="0"/>
              <a:t>Determine the expected critical path variance. [5 Marks]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E418E-35BB-418D-AF9B-C30F6FD32E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lphaLcParenR" startAt="5"/>
            </a:pPr>
            <a:r>
              <a:rPr lang="en-US" dirty="0"/>
              <a:t>Compute the standard deviation of each activity. [5 Marks]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D9877-8319-4813-AC1C-9CDA7F56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FFA6-77C5-421A-9C23-A2C1AA0A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750" y="644651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26</a:t>
            </a:fld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100F6-8288-4084-950D-B72BA302EC02}"/>
              </a:ext>
            </a:extLst>
          </p:cNvPr>
          <p:cNvSpPr/>
          <p:nvPr/>
        </p:nvSpPr>
        <p:spPr>
          <a:xfrm>
            <a:off x="1572257" y="3429000"/>
            <a:ext cx="34427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Path = 1 – 4 – 7  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6A155-801A-4ADC-844B-9CEEE23A62CE}"/>
              </a:ext>
            </a:extLst>
          </p:cNvPr>
          <p:cNvSpPr/>
          <p:nvPr/>
        </p:nvSpPr>
        <p:spPr>
          <a:xfrm>
            <a:off x="1572257" y="3982740"/>
            <a:ext cx="364330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Critical Variance = 16 + 16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= 32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E93C28-9CA8-4581-AF6E-14DC5919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079" y="2794365"/>
            <a:ext cx="1828959" cy="38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26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6333</TotalTime>
  <Words>2413</Words>
  <Application>Microsoft Office PowerPoint</Application>
  <PresentationFormat>Widescreen</PresentationFormat>
  <Paragraphs>532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Tw Cen MT</vt:lpstr>
      <vt:lpstr>Circuit</vt:lpstr>
      <vt:lpstr>TEST 2</vt:lpstr>
      <vt:lpstr>BINARY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BINARY (Continues…)</vt:lpstr>
      <vt:lpstr>PERT Chart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  <vt:lpstr>PERT Chart (Continues…)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VULNERABILITY ASSESSMENT</dc:title>
  <dc:creator>James Soko</dc:creator>
  <cp:lastModifiedBy>James Soko</cp:lastModifiedBy>
  <cp:revision>554</cp:revision>
  <dcterms:created xsi:type="dcterms:W3CDTF">2025-03-10T06:53:39Z</dcterms:created>
  <dcterms:modified xsi:type="dcterms:W3CDTF">2025-10-13T16:19:39Z</dcterms:modified>
</cp:coreProperties>
</file>