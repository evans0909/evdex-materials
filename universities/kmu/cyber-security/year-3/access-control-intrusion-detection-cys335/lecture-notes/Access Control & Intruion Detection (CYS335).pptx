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75"/>
  </p:notesMasterIdLst>
  <p:sldIdLst>
    <p:sldId id="256" r:id="rId2"/>
    <p:sldId id="300" r:id="rId3"/>
    <p:sldId id="258" r:id="rId4"/>
    <p:sldId id="259" r:id="rId5"/>
    <p:sldId id="257" r:id="rId6"/>
    <p:sldId id="260" r:id="rId7"/>
    <p:sldId id="261" r:id="rId8"/>
    <p:sldId id="262" r:id="rId9"/>
    <p:sldId id="293" r:id="rId10"/>
    <p:sldId id="294" r:id="rId11"/>
    <p:sldId id="295" r:id="rId12"/>
    <p:sldId id="296" r:id="rId13"/>
    <p:sldId id="265" r:id="rId14"/>
    <p:sldId id="266" r:id="rId15"/>
    <p:sldId id="267" r:id="rId16"/>
    <p:sldId id="289" r:id="rId17"/>
    <p:sldId id="263" r:id="rId18"/>
    <p:sldId id="298" r:id="rId19"/>
    <p:sldId id="264" r:id="rId20"/>
    <p:sldId id="297" r:id="rId21"/>
    <p:sldId id="290" r:id="rId22"/>
    <p:sldId id="291" r:id="rId23"/>
    <p:sldId id="292" r:id="rId24"/>
    <p:sldId id="299" r:id="rId25"/>
    <p:sldId id="314" r:id="rId26"/>
    <p:sldId id="315" r:id="rId27"/>
    <p:sldId id="316" r:id="rId28"/>
    <p:sldId id="317" r:id="rId29"/>
    <p:sldId id="318" r:id="rId30"/>
    <p:sldId id="319" r:id="rId31"/>
    <p:sldId id="320" r:id="rId32"/>
    <p:sldId id="321" r:id="rId33"/>
    <p:sldId id="322" r:id="rId34"/>
    <p:sldId id="323" r:id="rId35"/>
    <p:sldId id="278" r:id="rId36"/>
    <p:sldId id="279" r:id="rId37"/>
    <p:sldId id="280" r:id="rId38"/>
    <p:sldId id="304" r:id="rId39"/>
    <p:sldId id="305" r:id="rId40"/>
    <p:sldId id="303" r:id="rId41"/>
    <p:sldId id="282" r:id="rId42"/>
    <p:sldId id="301" r:id="rId43"/>
    <p:sldId id="302" r:id="rId44"/>
    <p:sldId id="283" r:id="rId45"/>
    <p:sldId id="284" r:id="rId46"/>
    <p:sldId id="285" r:id="rId47"/>
    <p:sldId id="286" r:id="rId48"/>
    <p:sldId id="306" r:id="rId49"/>
    <p:sldId id="287" r:id="rId50"/>
    <p:sldId id="309" r:id="rId51"/>
    <p:sldId id="310" r:id="rId52"/>
    <p:sldId id="288" r:id="rId53"/>
    <p:sldId id="311" r:id="rId54"/>
    <p:sldId id="307" r:id="rId55"/>
    <p:sldId id="312" r:id="rId56"/>
    <p:sldId id="324" r:id="rId57"/>
    <p:sldId id="325" r:id="rId58"/>
    <p:sldId id="313" r:id="rId59"/>
    <p:sldId id="326" r:id="rId60"/>
    <p:sldId id="268" r:id="rId61"/>
    <p:sldId id="269" r:id="rId62"/>
    <p:sldId id="270" r:id="rId63"/>
    <p:sldId id="271" r:id="rId64"/>
    <p:sldId id="272" r:id="rId65"/>
    <p:sldId id="273" r:id="rId66"/>
    <p:sldId id="274" r:id="rId67"/>
    <p:sldId id="275" r:id="rId68"/>
    <p:sldId id="276" r:id="rId69"/>
    <p:sldId id="277" r:id="rId70"/>
    <p:sldId id="328" r:id="rId71"/>
    <p:sldId id="330" r:id="rId72"/>
    <p:sldId id="329" r:id="rId73"/>
    <p:sldId id="331" r:id="rId7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928D2B-48A0-4412-AB02-D69DF899FC33}" type="datetimeFigureOut">
              <a:rPr lang="LID4096" smtClean="0"/>
              <a:t>11/16/2025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7E8BA-4125-481E-BF49-9C4024F63B8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20984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D082E5D-0717-4ED8-A92C-BE06FBB97859}" type="datetime1">
              <a:rPr lang="LID4096" smtClean="0"/>
              <a:t>11/16/2025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B10C918F-28F9-499A-8F02-9326C5EC51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38504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6AAF7-8934-4E16-8AAC-0B241C3C8694}" type="datetime1">
              <a:rPr lang="LID4096" smtClean="0"/>
              <a:t>11/16/2025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04719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8A1B3-A2FE-4B79-829A-CB164F6B1BD4}" type="datetime1">
              <a:rPr lang="LID4096" smtClean="0"/>
              <a:t>11/16/2025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08322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6EFE3-9AC1-4582-82B6-0095D9D0F15B}" type="datetime1">
              <a:rPr lang="LID4096" smtClean="0"/>
              <a:t>11/16/2025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75696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F7977-E973-457F-BF98-BB886E0AA1B3}" type="datetime1">
              <a:rPr lang="LID4096" smtClean="0"/>
              <a:t>11/16/2025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98611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A0A7-AC7A-4A9D-B0FD-47F719EC3CE5}" type="datetime1">
              <a:rPr lang="LID4096" smtClean="0"/>
              <a:t>11/16/2025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8081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336B0-9BDA-4130-B202-ECA08A9C2BD9}" type="datetime1">
              <a:rPr lang="LID4096" smtClean="0"/>
              <a:t>11/16/2025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7853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86AA9-5754-4558-A461-A386B20E909F}" type="datetime1">
              <a:rPr lang="LID4096" smtClean="0"/>
              <a:t>11/16/2025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56581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435EC-FF7D-4871-A6A7-89E23F784201}" type="datetime1">
              <a:rPr lang="LID4096" smtClean="0"/>
              <a:t>11/16/2025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7466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8864-2FA6-4B06-9857-618D8DD0F40A}" type="datetime1">
              <a:rPr lang="LID4096" smtClean="0"/>
              <a:t>11/16/2025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62966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5D057-A179-4C15-A7FD-976DF30A238B}" type="datetime1">
              <a:rPr lang="LID4096" smtClean="0"/>
              <a:t>11/16/2025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186519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A9297-EAD9-4D3B-8F4A-DCB1E10B8597}" type="datetime1">
              <a:rPr lang="LID4096" smtClean="0"/>
              <a:t>11/16/2025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‹#›</a:t>
            </a:fld>
            <a:endParaRPr lang="LID4096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03542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44309-7E12-4542-B48F-2EAD46DBB2E1}" type="datetime1">
              <a:rPr lang="LID4096" smtClean="0"/>
              <a:t>11/16/2025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309448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AAE2D-7FBA-4301-B31E-2232C5285420}" type="datetime1">
              <a:rPr lang="LID4096" smtClean="0"/>
              <a:t>11/16/2025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501350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B953-034A-4D6A-80AE-11AF7448E8FB}" type="datetime1">
              <a:rPr lang="LID4096" smtClean="0"/>
              <a:t>11/16/2025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306214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C66B1-6C91-4629-9ADA-AC9740BFEDE5}" type="datetime1">
              <a:rPr lang="LID4096" smtClean="0"/>
              <a:t>11/16/2025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577695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0D689-CD86-4853-ADAB-BE2BFA69389D}" type="datetime1">
              <a:rPr lang="LID4096" smtClean="0"/>
              <a:t>11/16/2025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25385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27B21-AC61-443C-B9BD-554F21937F6F}" type="datetime1">
              <a:rPr lang="LID4096" smtClean="0"/>
              <a:t>11/16/2025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C918F-28F9-499A-8F02-9326C5EC51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442875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4AD12-6B40-47A3-BB44-3A6AF9B3C1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/>
              <a:t>Access Control &amp; Intrusion Detection </a:t>
            </a:r>
            <a:endParaRPr lang="LID4096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1DB8BF-8346-4641-8CF8-D12BF68246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GB" b="1" dirty="0"/>
              <a:t>CYS335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3325175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5662CD4-9DFB-4350-949A-2986996C49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/>
              <a:t>Intrusion Detection &amp; Prevention systems </a:t>
            </a:r>
            <a:endParaRPr lang="LID4096" b="1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2464F23-C687-4B6C-87CD-B304B04CB2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CHAPTER ONE</a:t>
            </a:r>
            <a:endParaRPr lang="LID4096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4A410D-83BB-4701-BA33-7BF99FB5E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9B8D98-90B0-422C-AEAD-689FD641E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84534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BE6BBF7-76BB-46AF-93C0-8AB0F21597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b="1" dirty="0"/>
              <a:t>INTRUSION DETECTION SYSTEMS</a:t>
            </a:r>
            <a:endParaRPr lang="LID4096" b="1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D7D38A4-B85B-4826-A562-B1578D936D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UNIT 1</a:t>
            </a:r>
            <a:endParaRPr lang="LID4096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184916-8CB0-4533-8692-9F83C4C67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E2C674-F8BE-4941-AD44-E34DB159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24944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8B99E-5890-4FE0-976F-A81B7F811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HISTRORY OF INTRUSION DETECTION SYSTEMS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61E0C-D6E5-4DBD-8C5B-6F6CDBC37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System administrators performed intrusion detection by sitting in front of a console and monitoring user activities.</a:t>
            </a:r>
          </a:p>
          <a:p>
            <a:r>
              <a:rPr lang="en-US" dirty="0"/>
              <a:t>Although effective enough at the time, this early form of intrusion detection was </a:t>
            </a:r>
            <a:r>
              <a:rPr lang="en-US" b="1" dirty="0"/>
              <a:t>ad hoc </a:t>
            </a:r>
            <a:r>
              <a:rPr lang="en-US" dirty="0"/>
              <a:t>and not scalable.</a:t>
            </a:r>
          </a:p>
          <a:p>
            <a:r>
              <a:rPr lang="en-US" dirty="0"/>
              <a:t>The next step in intrusion detection involved </a:t>
            </a:r>
            <a:r>
              <a:rPr lang="en-US" b="1" dirty="0"/>
              <a:t>audit logs</a:t>
            </a:r>
            <a:r>
              <a:rPr lang="en-US" dirty="0"/>
              <a:t>, which system administrators reviewed for evidence of unusual or malicious behavior.</a:t>
            </a:r>
          </a:p>
          <a:p>
            <a:r>
              <a:rPr lang="en-US" dirty="0"/>
              <a:t>As storage became cheaper, audit logs moved </a:t>
            </a:r>
            <a:r>
              <a:rPr lang="en-US" b="1" dirty="0"/>
              <a:t>online</a:t>
            </a:r>
            <a:r>
              <a:rPr lang="en-US" dirty="0"/>
              <a:t> and researchers developed programs to analyze the data.</a:t>
            </a:r>
          </a:p>
          <a:p>
            <a:r>
              <a:rPr lang="en-US" dirty="0"/>
              <a:t>In the early '90s, researchers developed </a:t>
            </a:r>
            <a:r>
              <a:rPr lang="en-US" b="1" dirty="0"/>
              <a:t>real-time Intrusion Detection Systems </a:t>
            </a:r>
            <a:r>
              <a:rPr lang="en-US" dirty="0"/>
              <a:t>that reviewed audit data as it was produced.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494D66-3AC7-4B2E-93C0-D98E76018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0692F6-7257-4045-AC7B-7D6C878DA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91468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ECD7E-8420-44BB-AE21-67C64E6C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Intrusion Detection Overview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D34E0-3140-40FE-B33A-9D7DAAD21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device that generates alerts when it observes potentially malicious traffic is called an </a:t>
            </a:r>
            <a:r>
              <a:rPr lang="en-US" b="1" dirty="0"/>
              <a:t>Intrusion Detection System (IDS)</a:t>
            </a:r>
            <a:r>
              <a:rPr lang="en-US" dirty="0"/>
              <a:t>.</a:t>
            </a:r>
            <a:r>
              <a:rPr lang="en-US" b="1" dirty="0"/>
              <a:t> </a:t>
            </a:r>
          </a:p>
          <a:p>
            <a:r>
              <a:rPr lang="en-US" dirty="0"/>
              <a:t>IDSs can be </a:t>
            </a:r>
            <a:r>
              <a:rPr lang="en-US" b="1" dirty="0"/>
              <a:t>software applications </a:t>
            </a:r>
            <a:r>
              <a:rPr lang="en-US" dirty="0"/>
              <a:t>that are installed on endpoints or dedicated </a:t>
            </a:r>
            <a:r>
              <a:rPr lang="en-US" b="1" dirty="0"/>
              <a:t>hardware</a:t>
            </a:r>
            <a:r>
              <a:rPr lang="en-US" dirty="0"/>
              <a:t> devices that are connected to the network.</a:t>
            </a:r>
          </a:p>
          <a:p>
            <a:r>
              <a:rPr lang="en-US" dirty="0"/>
              <a:t>The goal of intrusion detection is seemingly simple, to </a:t>
            </a:r>
            <a:r>
              <a:rPr lang="en-US" b="1" dirty="0"/>
              <a:t>detect intrusions</a:t>
            </a:r>
            <a:r>
              <a:rPr lang="en-US" dirty="0"/>
              <a:t>.</a:t>
            </a:r>
          </a:p>
          <a:p>
            <a:r>
              <a:rPr lang="en-US" dirty="0"/>
              <a:t>If there is no </a:t>
            </a:r>
            <a:r>
              <a:rPr lang="en-US" b="1" dirty="0"/>
              <a:t>manifestation </a:t>
            </a:r>
            <a:r>
              <a:rPr lang="en-US" dirty="0"/>
              <a:t>or if the information it contains is untrustworthy, then the system cannot detect the intrusion.</a:t>
            </a:r>
          </a:p>
          <a:p>
            <a:endParaRPr lang="en-US" dirty="0"/>
          </a:p>
          <a:p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4D0F46-459A-4132-8809-F91282663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D88A3F-F45E-432D-B054-90C706857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91867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6DF4C-C6A1-44AA-A394-0AF2CF03C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32924"/>
            <a:ext cx="9905998" cy="1478570"/>
          </a:xfrm>
        </p:spPr>
        <p:txBody>
          <a:bodyPr/>
          <a:lstStyle/>
          <a:p>
            <a:pPr algn="ctr"/>
            <a:r>
              <a:rPr lang="en-GB" b="1" dirty="0"/>
              <a:t>Detection techniques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2A192-3EC8-44D2-BC43-EEADD080B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3961" y="1291815"/>
            <a:ext cx="9905999" cy="3541714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1800" b="1" dirty="0"/>
              <a:t>Anomaly Detection</a:t>
            </a:r>
          </a:p>
          <a:p>
            <a:r>
              <a:rPr lang="en-US" sz="1800" dirty="0"/>
              <a:t>Creates a traffic </a:t>
            </a:r>
            <a:r>
              <a:rPr lang="en-US" sz="1800" b="1" dirty="0"/>
              <a:t>profile</a:t>
            </a:r>
            <a:r>
              <a:rPr lang="en-US" sz="1800" dirty="0"/>
              <a:t> as it observes traffic in normal operation. </a:t>
            </a:r>
          </a:p>
          <a:p>
            <a:r>
              <a:rPr lang="en-US" sz="1800" dirty="0"/>
              <a:t>It then looks for packet streams that are statistically unusual.</a:t>
            </a:r>
          </a:p>
          <a:p>
            <a:r>
              <a:rPr lang="en-US" sz="1800" dirty="0"/>
              <a:t>The great thing about anomaly-based IDS systems is that they </a:t>
            </a:r>
            <a:r>
              <a:rPr lang="en-US" sz="1800" b="1" dirty="0"/>
              <a:t>don’t rely on previous knowledge</a:t>
            </a:r>
            <a:r>
              <a:rPr lang="en-US" sz="1800" dirty="0"/>
              <a:t> about existing attacks.</a:t>
            </a:r>
          </a:p>
          <a:p>
            <a:r>
              <a:rPr lang="en-US" sz="1800" dirty="0"/>
              <a:t>Anomaly detection uses models of the intended behavior of users and applications, interpreting deviations from this "</a:t>
            </a:r>
            <a:r>
              <a:rPr lang="en-US" sz="1800" b="1" dirty="0"/>
              <a:t>normal</a:t>
            </a:r>
            <a:r>
              <a:rPr lang="en-US" sz="1800" dirty="0"/>
              <a:t>" behavior as a problem.</a:t>
            </a:r>
          </a:p>
          <a:p>
            <a:r>
              <a:rPr lang="en-US" sz="1800" dirty="0"/>
              <a:t>A basic assumption of anomaly detection is that </a:t>
            </a:r>
            <a:r>
              <a:rPr lang="en-US" sz="1800" b="1" dirty="0"/>
              <a:t>attacks differ from normal behavior</a:t>
            </a:r>
            <a:r>
              <a:rPr lang="en-US" sz="1800" dirty="0"/>
              <a:t>.</a:t>
            </a:r>
          </a:p>
          <a:p>
            <a:r>
              <a:rPr lang="en-US" sz="1800" dirty="0"/>
              <a:t>The main advantage of anomaly detection systems is that they </a:t>
            </a:r>
            <a:r>
              <a:rPr lang="en-US" sz="1800" b="1" dirty="0"/>
              <a:t>can detect previously unknown attacks</a:t>
            </a:r>
            <a:r>
              <a:rPr lang="en-US" sz="1800" dirty="0"/>
              <a:t>.</a:t>
            </a:r>
          </a:p>
          <a:p>
            <a:r>
              <a:rPr lang="en-US" sz="1800" dirty="0"/>
              <a:t>In actual systems, however, the advantage of detecting previously unknown attacks is paid for in terms of </a:t>
            </a:r>
            <a:r>
              <a:rPr lang="en-US" sz="1800" b="1" dirty="0"/>
              <a:t>high false positive rates</a:t>
            </a:r>
            <a:r>
              <a:rPr lang="en-US" sz="1800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63C38F-3429-4E01-AA9B-28D5258D5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1" y="6066784"/>
            <a:ext cx="6239309" cy="365125"/>
          </a:xfrm>
        </p:spPr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6A558F-77C6-49D3-BE23-AEDB76C45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2727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ACD34-F282-423C-82CE-5B63195CD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Detection techniques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650B9-9D20-4EE8-9E2C-D941F7ED7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457200" indent="-457200">
              <a:buAutoNum type="arabicPeriod" startAt="2"/>
            </a:pPr>
            <a:r>
              <a:rPr lang="en-US" b="1" dirty="0"/>
              <a:t>Misuse Detection</a:t>
            </a:r>
          </a:p>
          <a:p>
            <a:r>
              <a:rPr lang="en-US" dirty="0"/>
              <a:t> Essentially define what's wrong.</a:t>
            </a:r>
          </a:p>
          <a:p>
            <a:r>
              <a:rPr lang="en-US" dirty="0"/>
              <a:t>They contain attack descriptions (or "</a:t>
            </a:r>
            <a:r>
              <a:rPr lang="en-US" b="1" dirty="0"/>
              <a:t>signatures</a:t>
            </a:r>
            <a:r>
              <a:rPr lang="en-US" dirty="0"/>
              <a:t>") and match them against the audit data stream, looking for evidence of known attacks.</a:t>
            </a:r>
          </a:p>
          <a:p>
            <a:r>
              <a:rPr lang="en-US" dirty="0"/>
              <a:t>The </a:t>
            </a:r>
            <a:r>
              <a:rPr lang="en-US" b="1" dirty="0"/>
              <a:t>main advantage </a:t>
            </a:r>
            <a:r>
              <a:rPr lang="en-US" dirty="0"/>
              <a:t>of misuse detection systems is that they focus analysis on the audit data and typically </a:t>
            </a:r>
            <a:r>
              <a:rPr lang="en-US" b="1" dirty="0"/>
              <a:t>produce few false positives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main disadvantage </a:t>
            </a:r>
            <a:r>
              <a:rPr lang="en-US" dirty="0"/>
              <a:t>of misuse detection systems is that they </a:t>
            </a:r>
            <a:r>
              <a:rPr lang="en-US" b="1" dirty="0"/>
              <a:t>can detect only known attacks </a:t>
            </a:r>
            <a:r>
              <a:rPr lang="en-US" dirty="0"/>
              <a:t>for which they have a defined signature. </a:t>
            </a:r>
          </a:p>
          <a:p>
            <a:r>
              <a:rPr lang="en-US" dirty="0"/>
              <a:t>As new attacks are discovered, developers must model and add them to the signature database.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06AEF5-3569-4F5F-B73C-34D16017A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7E0F93-FEDB-4721-BF0E-984417AF0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5274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4698A-58C8-4CBC-B9F7-ABBD7758F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Detection techniques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95390-5087-451B-A135-9FDA59937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3"/>
            </a:pPr>
            <a:r>
              <a:rPr lang="en-US" b="1" dirty="0"/>
              <a:t>Signature-based Detection</a:t>
            </a:r>
          </a:p>
          <a:p>
            <a:r>
              <a:rPr lang="en-US" dirty="0"/>
              <a:t>Maintains a database of attack signatures against which it compares network packets.</a:t>
            </a:r>
          </a:p>
          <a:p>
            <a:r>
              <a:rPr lang="en-US" dirty="0"/>
              <a:t> If a packet triggers a match to one of the signatures, the IDS flags it.</a:t>
            </a:r>
          </a:p>
          <a:p>
            <a:r>
              <a:rPr lang="en-US" dirty="0"/>
              <a:t>In other words, a signature-based IDS is completely </a:t>
            </a:r>
            <a:r>
              <a:rPr lang="en-US" b="1" dirty="0"/>
              <a:t>blind to new attacks </a:t>
            </a:r>
            <a:r>
              <a:rPr lang="en-US" dirty="0"/>
              <a:t>that have yet to be recorded.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47B261-1696-4820-9ABB-63AC63919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A9491B-6991-44D0-811F-9E7968EC1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1396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9C7BE-1012-4CA2-8051-EA0547A1F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Detection techniques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B8E3C-0142-481D-BC9B-61B13DE3C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4"/>
            </a:pPr>
            <a:r>
              <a:rPr lang="en-US" b="1" dirty="0"/>
              <a:t>Hybrid Detection Method</a:t>
            </a:r>
          </a:p>
          <a:p>
            <a:r>
              <a:rPr lang="en-US" dirty="0"/>
              <a:t>Uses both </a:t>
            </a:r>
            <a:r>
              <a:rPr lang="en-US" b="1" dirty="0"/>
              <a:t>Signature </a:t>
            </a:r>
            <a:r>
              <a:rPr lang="en-US" dirty="0"/>
              <a:t>and </a:t>
            </a:r>
            <a:r>
              <a:rPr lang="en-US" b="1" dirty="0"/>
              <a:t>Anomaly</a:t>
            </a:r>
            <a:r>
              <a:rPr lang="en-US" dirty="0"/>
              <a:t>-based intrusion detection methods.</a:t>
            </a:r>
          </a:p>
          <a:p>
            <a:r>
              <a:rPr lang="en-US" dirty="0"/>
              <a:t>However, the main reason behind the development of a hybrid detection system is to identify more potential attacks with </a:t>
            </a:r>
            <a:r>
              <a:rPr lang="en-US" b="1" dirty="0"/>
              <a:t>fewer errors</a:t>
            </a:r>
            <a:r>
              <a:rPr lang="en-US" dirty="0"/>
              <a:t>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CE92E4-5080-44D6-810F-40AB0724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3EE399-876E-4196-B6B0-8098DA3A6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8591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B1B39-DCBE-4A08-847F-CB0FBF3D5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Top Intrusion Detection System Tools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AD64C-B150-4FCB-82B7-48356AF6B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McAfee</a:t>
            </a:r>
            <a:r>
              <a:rPr lang="en-GB" dirty="0"/>
              <a:t> </a:t>
            </a:r>
          </a:p>
          <a:p>
            <a:r>
              <a:rPr lang="en-US" dirty="0"/>
              <a:t>Is an IDS designed to identify </a:t>
            </a:r>
            <a:r>
              <a:rPr lang="en-US" b="1" dirty="0"/>
              <a:t>real-time</a:t>
            </a:r>
            <a:r>
              <a:rPr lang="en-US" dirty="0"/>
              <a:t> malicious activities.</a:t>
            </a:r>
          </a:p>
          <a:p>
            <a:r>
              <a:rPr lang="en-US" dirty="0"/>
              <a:t>It uses both </a:t>
            </a:r>
            <a:r>
              <a:rPr lang="en-US" b="1" dirty="0"/>
              <a:t>signature </a:t>
            </a:r>
            <a:r>
              <a:rPr lang="en-US" dirty="0"/>
              <a:t>and </a:t>
            </a:r>
            <a:r>
              <a:rPr lang="en-US" b="1" dirty="0"/>
              <a:t>anomaly</a:t>
            </a:r>
            <a:r>
              <a:rPr lang="en-US" dirty="0"/>
              <a:t> methods to identify the threats with emulation techniques.</a:t>
            </a:r>
          </a:p>
          <a:p>
            <a:r>
              <a:rPr lang="en-US" dirty="0"/>
              <a:t>Therefore, McAfee is a </a:t>
            </a:r>
            <a:r>
              <a:rPr lang="en-US" b="1" dirty="0"/>
              <a:t>scalable</a:t>
            </a:r>
            <a:r>
              <a:rPr lang="en-US" dirty="0"/>
              <a:t> application.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F63DEE-FBBB-4462-8EF8-629E105A8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F5584E-F0D9-454C-8D26-F01CA3F4D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57191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EB0B7-3E2A-45C6-8882-C6295DB92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Top Intrusion Detection System Tools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96266-7869-4E9A-AA7B-C222E3C48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2"/>
            </a:pPr>
            <a:r>
              <a:rPr lang="en-US" b="1" dirty="0"/>
              <a:t>Suricata</a:t>
            </a:r>
          </a:p>
          <a:p>
            <a:r>
              <a:rPr lang="en-US" dirty="0"/>
              <a:t>It is an </a:t>
            </a:r>
            <a:r>
              <a:rPr lang="en-US" b="1" dirty="0"/>
              <a:t>open-source </a:t>
            </a:r>
            <a:r>
              <a:rPr lang="en-US" dirty="0"/>
              <a:t>tool based on a </a:t>
            </a:r>
            <a:r>
              <a:rPr lang="en-US" b="1" dirty="0"/>
              <a:t>Network Intrusion Detection System (NIDS)</a:t>
            </a:r>
            <a:r>
              <a:rPr lang="en-US" dirty="0"/>
              <a:t>.</a:t>
            </a:r>
          </a:p>
          <a:p>
            <a:r>
              <a:rPr lang="en-US" dirty="0"/>
              <a:t>It detects identified threats and malicious activity in </a:t>
            </a:r>
            <a:r>
              <a:rPr lang="en-US" b="1" dirty="0"/>
              <a:t>real-time</a:t>
            </a:r>
            <a:r>
              <a:rPr lang="en-US" dirty="0"/>
              <a:t>. </a:t>
            </a:r>
          </a:p>
          <a:p>
            <a:r>
              <a:rPr lang="en-US" dirty="0"/>
              <a:t>It uses a </a:t>
            </a:r>
            <a:r>
              <a:rPr lang="en-US" b="1" dirty="0"/>
              <a:t>Signature-based </a:t>
            </a:r>
            <a:r>
              <a:rPr lang="en-US" dirty="0"/>
              <a:t>method to identify the known threats or intrusion.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155079-7FE6-4B68-BE68-BCEE2AA7B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DEAE2D-52EA-443F-AA02-C23BE406A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95127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04C3A-C97B-441C-B05F-4705E34C1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Top Intrusion Detection System Tools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F6BA8-F7B3-442B-B5B3-903C2552E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3"/>
            </a:pPr>
            <a:r>
              <a:rPr lang="en-US" b="1" dirty="0"/>
              <a:t>Cisco Stealthwatch</a:t>
            </a:r>
          </a:p>
          <a:p>
            <a:r>
              <a:rPr lang="en-US" dirty="0"/>
              <a:t>Cisco designed Stealthwatch with </a:t>
            </a:r>
            <a:r>
              <a:rPr lang="en-US" b="1" dirty="0"/>
              <a:t>NIDS</a:t>
            </a:r>
            <a:r>
              <a:rPr lang="en-US" dirty="0"/>
              <a:t> and </a:t>
            </a:r>
            <a:r>
              <a:rPr lang="en-US" b="1" dirty="0"/>
              <a:t>HIDS</a:t>
            </a:r>
            <a:r>
              <a:rPr lang="en-US" dirty="0"/>
              <a:t>.</a:t>
            </a:r>
          </a:p>
          <a:p>
            <a:r>
              <a:rPr lang="en-US" dirty="0"/>
              <a:t> It is compatible with </a:t>
            </a:r>
            <a:r>
              <a:rPr lang="en-US" b="1" dirty="0"/>
              <a:t>Windows</a:t>
            </a:r>
            <a:r>
              <a:rPr lang="en-US" dirty="0"/>
              <a:t>, </a:t>
            </a:r>
            <a:r>
              <a:rPr lang="en-US" b="1" dirty="0"/>
              <a:t>Linux</a:t>
            </a:r>
            <a:r>
              <a:rPr lang="en-US" dirty="0"/>
              <a:t>, and </a:t>
            </a:r>
            <a:r>
              <a:rPr lang="en-US" b="1" dirty="0"/>
              <a:t>MacOS</a:t>
            </a:r>
            <a:r>
              <a:rPr lang="en-US" dirty="0"/>
              <a:t> operating systems.</a:t>
            </a:r>
          </a:p>
          <a:p>
            <a:r>
              <a:rPr lang="en-US" dirty="0"/>
              <a:t>it uses </a:t>
            </a:r>
            <a:r>
              <a:rPr lang="en-US" b="1" dirty="0"/>
              <a:t>machine learning </a:t>
            </a:r>
            <a:r>
              <a:rPr lang="en-US" dirty="0"/>
              <a:t>to create baselines of patterns which is acceptable.</a:t>
            </a:r>
          </a:p>
          <a:p>
            <a:r>
              <a:rPr lang="en-US" dirty="0"/>
              <a:t>One of the best features of this tool is that it can also detect intrusion and suspicious activities in the encrypted network without decrypting it.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9029C4-EE10-4A73-8A47-8FEAE4C5B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87789E-64EB-40A0-9161-766861A83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9041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ABEDA-2738-44B8-A237-39720082E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Response: After the intrusion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61DF9-2999-4899-9FA7-4507B5884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An intrusion detection system's </a:t>
            </a:r>
            <a:r>
              <a:rPr lang="en-US" b="1" dirty="0"/>
              <a:t>response</a:t>
            </a:r>
            <a:r>
              <a:rPr lang="en-US" dirty="0"/>
              <a:t> is its output or action upon detecting a problem. </a:t>
            </a:r>
          </a:p>
          <a:p>
            <a:r>
              <a:rPr lang="en-US" dirty="0"/>
              <a:t>A response can take many different forms; the most common is to </a:t>
            </a:r>
            <a:r>
              <a:rPr lang="en-US" b="1" dirty="0"/>
              <a:t>generate an alert</a:t>
            </a:r>
            <a:r>
              <a:rPr lang="en-US" dirty="0"/>
              <a:t> that describes the detected intrusion. </a:t>
            </a:r>
          </a:p>
          <a:p>
            <a:r>
              <a:rPr lang="en-US" dirty="0"/>
              <a:t>There are also more </a:t>
            </a:r>
            <a:r>
              <a:rPr lang="en-US" b="1" dirty="0"/>
              <a:t>aggressive responses</a:t>
            </a:r>
            <a:r>
              <a:rPr lang="en-US" dirty="0"/>
              <a:t>, such as </a:t>
            </a:r>
            <a:r>
              <a:rPr lang="en-US" b="1" dirty="0"/>
              <a:t>sounding a siren</a:t>
            </a:r>
            <a:r>
              <a:rPr lang="en-US" dirty="0"/>
              <a:t>, or even </a:t>
            </a:r>
            <a:r>
              <a:rPr lang="en-US" b="1" dirty="0"/>
              <a:t>mounting a counter-attack</a:t>
            </a:r>
            <a:r>
              <a:rPr lang="en-US" dirty="0"/>
              <a:t>.</a:t>
            </a:r>
          </a:p>
          <a:p>
            <a:r>
              <a:rPr lang="en-US" dirty="0"/>
              <a:t>A </a:t>
            </a:r>
            <a:r>
              <a:rPr lang="en-US" b="1" dirty="0"/>
              <a:t>counterattack</a:t>
            </a:r>
            <a:r>
              <a:rPr lang="en-US" dirty="0"/>
              <a:t> might include reconfiguring a router to block the attacker's address or even attacking the culprit. </a:t>
            </a:r>
          </a:p>
          <a:p>
            <a:r>
              <a:rPr lang="en-US" dirty="0"/>
              <a:t>Obviously, </a:t>
            </a:r>
            <a:r>
              <a:rPr lang="en-US" b="1" dirty="0"/>
              <a:t>aggressive responses can be dangerous</a:t>
            </a:r>
            <a:r>
              <a:rPr lang="en-US" dirty="0"/>
              <a:t>, since they could be launched against innocent victims.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24D779-D342-4065-88C0-F66ED4A5D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6AA8D-0C35-477F-87B2-AF94CB2CC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75380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50C27-9D63-494B-95C1-7D91EF7E8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 of Threats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F5B90-897D-49F4-9DA5-67B2929A0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Internal Threats</a:t>
            </a:r>
          </a:p>
          <a:p>
            <a:r>
              <a:rPr lang="en-US" dirty="0"/>
              <a:t>The term “</a:t>
            </a:r>
            <a:r>
              <a:rPr lang="en-US" b="1" dirty="0"/>
              <a:t>internal attack</a:t>
            </a:r>
            <a:r>
              <a:rPr lang="en-US" dirty="0"/>
              <a:t>” is used to describe an attack being implemented from a person or organization with some level of authorized access on your network. </a:t>
            </a:r>
          </a:p>
          <a:p>
            <a:r>
              <a:rPr lang="en-US" dirty="0"/>
              <a:t>Internal attacks are performed from within the trusted area of the network.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45DBBE-F817-47C7-88FF-BFD79E500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C34A6-144A-4360-BFF1-69C9C59E6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73907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CE462-E269-4761-A464-D4CEBD6DE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 of Threats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DED1F-AFB2-4C4A-831B-BECC98CF7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2"/>
            </a:pPr>
            <a:r>
              <a:rPr lang="en-US" b="1" dirty="0"/>
              <a:t>External Threats</a:t>
            </a:r>
          </a:p>
          <a:p>
            <a:r>
              <a:rPr lang="en-US" dirty="0"/>
              <a:t>Includes anyone that doesn’t have authorized access to the internal network but attempts to gain access. </a:t>
            </a:r>
          </a:p>
          <a:p>
            <a:r>
              <a:rPr lang="en-US" dirty="0"/>
              <a:t>External threats are what companies spend the most time and money trying to prevent.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58FCCF-8FE5-4C6D-822A-86B90A70B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E524B2-6CC8-4EC4-A95B-F46CD738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24551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B21EE-36BC-4090-8A44-0F8A63533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Need of Intrusion Detection Systems (IDS)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CAB28-E68D-4294-BED8-D263F5981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Monitor</a:t>
            </a:r>
            <a:r>
              <a:rPr lang="en-US" dirty="0"/>
              <a:t> inbound and outbound network traffic.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Analyze</a:t>
            </a:r>
            <a:r>
              <a:rPr lang="en-US" dirty="0"/>
              <a:t> the patterns in the network continuously.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Send an </a:t>
            </a:r>
            <a:r>
              <a:rPr lang="en-US" b="1" dirty="0"/>
              <a:t>alarm</a:t>
            </a:r>
            <a:r>
              <a:rPr lang="en-US" dirty="0"/>
              <a:t> immediately after detecting unwanted intrusion and activities in the network. 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6D602B-5164-43B9-8C3E-E6738CFF5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EC62A1-848B-4754-A228-8C916A09F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53937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38C12-DB2F-4C45-9104-BB2EE97EF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types of Intrusion Detection Systems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F6E1E-A9D8-4B3A-A9FC-7099379CD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Network Intrusion Detection System (NIDS)</a:t>
            </a:r>
          </a:p>
          <a:p>
            <a:r>
              <a:rPr lang="en-US" dirty="0"/>
              <a:t>NIDS </a:t>
            </a:r>
            <a:r>
              <a:rPr lang="en-US" b="1" dirty="0"/>
              <a:t>monitors</a:t>
            </a:r>
            <a:r>
              <a:rPr lang="en-US" dirty="0"/>
              <a:t> the traffic on the network from all devices. </a:t>
            </a:r>
          </a:p>
          <a:p>
            <a:r>
              <a:rPr lang="en-US" dirty="0"/>
              <a:t>Similarly, it examines the traffic passing on the entire subnet and verifies it with the packet metadata and content. </a:t>
            </a:r>
          </a:p>
          <a:p>
            <a:r>
              <a:rPr lang="en-US" dirty="0"/>
              <a:t>If NIDS detects any intrusion in the network, a warning alert is sent to the admin of that network.</a:t>
            </a:r>
          </a:p>
          <a:p>
            <a:r>
              <a:rPr lang="en-US" dirty="0"/>
              <a:t>Instead of analyzing information that originates and resides on a computer, network-based IDS uses techniques like “</a:t>
            </a:r>
            <a:r>
              <a:rPr lang="en-US" b="1" dirty="0"/>
              <a:t>packet-sniffing</a:t>
            </a:r>
            <a:r>
              <a:rPr lang="en-US" dirty="0"/>
              <a:t>” to pull data from TCP/IP or other protocol packets traveling along the network.</a:t>
            </a:r>
          </a:p>
          <a:p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E14A2-E418-4112-9760-3D9C192E3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C04DE5-D8F5-46A8-91A4-9584B092F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42671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990F1-B8CF-44F7-8A4A-95F08B8F8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-3142"/>
            <a:ext cx="9905998" cy="1478570"/>
          </a:xfrm>
        </p:spPr>
        <p:txBody>
          <a:bodyPr/>
          <a:lstStyle/>
          <a:p>
            <a:pPr algn="ctr"/>
            <a:r>
              <a:rPr lang="en-US" b="1" dirty="0"/>
              <a:t>types of Intrusion Detection Systems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76736-E63C-4BA9-B60D-ABE618677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1475428"/>
            <a:ext cx="9905999" cy="3541714"/>
          </a:xfrm>
        </p:spPr>
        <p:txBody>
          <a:bodyPr/>
          <a:lstStyle/>
          <a:p>
            <a:r>
              <a:rPr lang="en-US" dirty="0"/>
              <a:t> NIDS usually </a:t>
            </a:r>
            <a:r>
              <a:rPr lang="en-US" b="1" dirty="0"/>
              <a:t>require promiscuous network </a:t>
            </a:r>
            <a:r>
              <a:rPr lang="en-US" dirty="0"/>
              <a:t>access in order to analyze all traffic, including all uncast traffic.</a:t>
            </a:r>
          </a:p>
          <a:p>
            <a:r>
              <a:rPr lang="en-US" dirty="0"/>
              <a:t>The NIDS sniffs the internal interface of the firewall in </a:t>
            </a:r>
            <a:r>
              <a:rPr lang="en-US" b="1" dirty="0"/>
              <a:t>read-only</a:t>
            </a:r>
            <a:r>
              <a:rPr lang="en-US" dirty="0"/>
              <a:t> mode and sends alerts to a NIDS Management server via a different (i.e., read/write) network interface.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F31CB-44E3-4273-A25B-294942277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1" y="6487233"/>
            <a:ext cx="6239309" cy="365125"/>
          </a:xfrm>
        </p:spPr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0D0290-1825-4EAD-937F-FB5691A6C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1" y="6487232"/>
            <a:ext cx="771089" cy="365125"/>
          </a:xfrm>
        </p:spPr>
        <p:txBody>
          <a:bodyPr/>
          <a:lstStyle/>
          <a:p>
            <a:fld id="{B10C918F-28F9-499A-8F02-9326C5EC5173}" type="slidenum">
              <a:rPr lang="LID4096" smtClean="0"/>
              <a:t>18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205AC9-EE1C-464E-87CD-123E3AB5C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672" y="3873027"/>
            <a:ext cx="4394426" cy="262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5316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69192-4229-4DD9-BFAC-2437EF89B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types of Intrusion Detection Systems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A8B4D-1D12-4D52-91EB-878B9708A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AutoNum type="arabicPeriod" startAt="2"/>
            </a:pPr>
            <a:r>
              <a:rPr lang="en-US" b="1" dirty="0"/>
              <a:t>Host Intrusion Detection System (HIDS)</a:t>
            </a:r>
          </a:p>
          <a:p>
            <a:r>
              <a:rPr lang="en-US" dirty="0"/>
              <a:t>Organizations install a HIDS on independent networked devices.</a:t>
            </a:r>
          </a:p>
          <a:p>
            <a:r>
              <a:rPr lang="en-US" dirty="0"/>
              <a:t>HIDS examines the incoming and outgoing traffic of the </a:t>
            </a:r>
            <a:r>
              <a:rPr lang="en-US" b="1" dirty="0"/>
              <a:t>device only</a:t>
            </a:r>
            <a:r>
              <a:rPr lang="en-US" dirty="0"/>
              <a:t>.</a:t>
            </a:r>
          </a:p>
          <a:p>
            <a:r>
              <a:rPr lang="en-US" dirty="0"/>
              <a:t>It detects suspicious activities on the device and alerts the administrator.</a:t>
            </a:r>
          </a:p>
          <a:p>
            <a:r>
              <a:rPr lang="en-US" dirty="0"/>
              <a:t>its network card operates in </a:t>
            </a:r>
            <a:r>
              <a:rPr lang="en-US" b="1" dirty="0"/>
              <a:t>no promiscuous mode</a:t>
            </a:r>
            <a:r>
              <a:rPr lang="en-US" dirty="0"/>
              <a:t>.</a:t>
            </a:r>
          </a:p>
          <a:p>
            <a:r>
              <a:rPr lang="en-US" dirty="0"/>
              <a:t>No promiscuous mode of operation can be an advantage in some cases, because not all NICs are capable of promiscuous mode.</a:t>
            </a:r>
          </a:p>
          <a:p>
            <a:r>
              <a:rPr lang="en-US" dirty="0"/>
              <a:t>Promiscuous mode can be CPU intensive for a </a:t>
            </a:r>
            <a:r>
              <a:rPr lang="en-US" b="1" dirty="0"/>
              <a:t>slow</a:t>
            </a:r>
            <a:r>
              <a:rPr lang="en-US" dirty="0"/>
              <a:t> host machine.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24E38B-2059-4ACE-AE19-FBC890FFD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FC5C2-472F-4D33-80DA-1668AD05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7958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28BE5-7261-4845-A8C2-01DC234EE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-129685"/>
            <a:ext cx="9905998" cy="1478570"/>
          </a:xfrm>
        </p:spPr>
        <p:txBody>
          <a:bodyPr/>
          <a:lstStyle/>
          <a:p>
            <a:pPr algn="ctr"/>
            <a:r>
              <a:rPr lang="en-US" b="1" dirty="0"/>
              <a:t>types of Intrusion Detection Systems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6915A-3926-4B18-B5B6-4CB73ECF8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0" y="1348885"/>
            <a:ext cx="9905999" cy="3541714"/>
          </a:xfrm>
        </p:spPr>
        <p:txBody>
          <a:bodyPr/>
          <a:lstStyle/>
          <a:p>
            <a:r>
              <a:rPr lang="en-US" dirty="0"/>
              <a:t>Many host-based IDSs </a:t>
            </a:r>
            <a:r>
              <a:rPr lang="en-US" b="1" dirty="0"/>
              <a:t>depend on signature </a:t>
            </a:r>
            <a:r>
              <a:rPr lang="en-US" dirty="0"/>
              <a:t>or string matching to detect threats, and they can be defeated by simply changing a tool enough that the signature no longer matches.</a:t>
            </a:r>
          </a:p>
          <a:p>
            <a:r>
              <a:rPr lang="en-US" dirty="0"/>
              <a:t>Host-based systems were the first type of IDS to be developed and implemented.</a:t>
            </a:r>
          </a:p>
          <a:p>
            <a:r>
              <a:rPr lang="en-US" dirty="0"/>
              <a:t>These programs are highly </a:t>
            </a:r>
            <a:r>
              <a:rPr lang="en-US" b="1" dirty="0"/>
              <a:t>effective for detecting insider abuses</a:t>
            </a:r>
            <a:r>
              <a:rPr lang="en-US" dirty="0"/>
              <a:t>.</a:t>
            </a:r>
          </a:p>
          <a:p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0EE79C-9D70-4ECE-832E-51D4EA173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0" y="6360690"/>
            <a:ext cx="6239309" cy="365125"/>
          </a:xfrm>
        </p:spPr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F6F2C6-0B5D-4E9E-B8CC-117803AC7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462" y="6360689"/>
            <a:ext cx="771089" cy="365125"/>
          </a:xfrm>
        </p:spPr>
        <p:txBody>
          <a:bodyPr/>
          <a:lstStyle/>
          <a:p>
            <a:fld id="{B10C918F-28F9-499A-8F02-9326C5EC5173}" type="slidenum">
              <a:rPr lang="LID4096" smtClean="0"/>
              <a:t>20</a:t>
            </a:fld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C8CFF4-7FDC-48DB-A562-05E712FEDA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993" y="4302652"/>
            <a:ext cx="6007317" cy="206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7740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F2338-EF82-4F99-9E97-6681DECB2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types of Intrusion Detection Systems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66600-3C8A-4827-8922-1C29F9920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3"/>
            </a:pPr>
            <a:r>
              <a:rPr lang="en-US" b="1" dirty="0"/>
              <a:t>Protocol-based Intrusion Detection System (PIDS)</a:t>
            </a:r>
          </a:p>
          <a:p>
            <a:r>
              <a:rPr lang="en-US" dirty="0"/>
              <a:t>Organizations set up a PIDS at the front end of the server. </a:t>
            </a:r>
          </a:p>
          <a:p>
            <a:r>
              <a:rPr lang="en-US" dirty="0"/>
              <a:t>It interprets the protocols between the server and the user. </a:t>
            </a:r>
          </a:p>
          <a:p>
            <a:r>
              <a:rPr lang="en-US" dirty="0"/>
              <a:t>PIDS monitors the HTTPS server regularly to secure the web.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F4E40C-850C-4291-B5A4-CD4A381CD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190EE-39F6-497B-8B35-F08389DBA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35309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15C5E-D1DC-461C-8415-15ACD6B1C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types of Intrusion Detection Systems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6DABC-E874-421C-A7DE-7112ADC86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4"/>
            </a:pPr>
            <a:r>
              <a:rPr lang="en-US" b="1" dirty="0"/>
              <a:t>Application Protocol-based IDS (APIDS)</a:t>
            </a:r>
          </a:p>
          <a:p>
            <a:r>
              <a:rPr lang="en-US" dirty="0"/>
              <a:t>Similarly, APIDS is set up within a group of servers.</a:t>
            </a:r>
          </a:p>
          <a:p>
            <a:r>
              <a:rPr lang="en-US" dirty="0"/>
              <a:t>It interprets communication with the applications within the server to detect the intrusion.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D47CD9-6C1D-4917-BDFA-96F04459B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3A3A4-0E4B-45BE-AAD6-F4D440F5D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22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395145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2CB72-87DC-4B27-9C8A-5EB09D89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types of Intrusion Detection Systems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FB5BC-6D5F-487C-B766-2267E1CBE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5"/>
            </a:pPr>
            <a:r>
              <a:rPr lang="en-US" b="1" dirty="0"/>
              <a:t>Hybrid Intrusion Detection System</a:t>
            </a:r>
          </a:p>
          <a:p>
            <a:r>
              <a:rPr lang="en-US" dirty="0"/>
              <a:t>is a </a:t>
            </a:r>
            <a:r>
              <a:rPr lang="en-US" b="1" dirty="0"/>
              <a:t>mixture</a:t>
            </a:r>
            <a:r>
              <a:rPr lang="en-US" dirty="0"/>
              <a:t> of two different IDS (</a:t>
            </a:r>
            <a:r>
              <a:rPr lang="en-US" b="1" dirty="0"/>
              <a:t>host</a:t>
            </a:r>
            <a:r>
              <a:rPr lang="en-US" dirty="0"/>
              <a:t> agents with </a:t>
            </a:r>
            <a:r>
              <a:rPr lang="en-US" b="1" dirty="0"/>
              <a:t>network</a:t>
            </a:r>
            <a:r>
              <a:rPr lang="en-US" dirty="0"/>
              <a:t> information).</a:t>
            </a:r>
          </a:p>
          <a:p>
            <a:r>
              <a:rPr lang="en-US" dirty="0"/>
              <a:t>Hybrid System is </a:t>
            </a:r>
            <a:r>
              <a:rPr lang="en-US" b="1" dirty="0"/>
              <a:t>more responsive </a:t>
            </a:r>
            <a:r>
              <a:rPr lang="en-US" dirty="0"/>
              <a:t>and </a:t>
            </a:r>
            <a:r>
              <a:rPr lang="en-US" b="1" dirty="0"/>
              <a:t>effective </a:t>
            </a:r>
            <a:r>
              <a:rPr lang="en-US" dirty="0"/>
              <a:t>as compared to other IDS.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FFC181-B7EC-402C-A7F9-59CB75FED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3E683C-DD9D-4706-8200-3C021558A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23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207679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196898-73CF-458D-A0EF-9FDABC43E1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b="1" dirty="0"/>
              <a:t>Intrusion Prevention Systems (IPS)</a:t>
            </a:r>
            <a:endParaRPr lang="LID4096" b="1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A5EFBF9-8956-42F8-8D1B-4E63914E30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Unit 2</a:t>
            </a:r>
            <a:endParaRPr lang="LID4096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41649B-75BB-4523-B83C-1F3B7C847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C2CA29-D110-4001-B9C5-B3BED9C11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24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161915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93ECE-B2A0-4845-BE2C-306B8B2E2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Intrusion Prevention Systems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FBA80-3CB0-4876-AE87-64B0D14F7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IPS is a form of network security that works to </a:t>
            </a:r>
            <a:r>
              <a:rPr lang="en-US" b="1" dirty="0"/>
              <a:t>detect and prevent </a:t>
            </a:r>
            <a:r>
              <a:rPr lang="en-US" dirty="0"/>
              <a:t>identified threats.</a:t>
            </a:r>
          </a:p>
          <a:p>
            <a:r>
              <a:rPr lang="en-US" dirty="0"/>
              <a:t>The IPS reports these events to system administrators and takes preventative action, such as closing access points and configuring firewalls to prevent future attacks.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FD2850-BE32-45F3-AD18-CDAB88D37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782C33-DFB6-4EEC-A04A-02F47540D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25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213679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66C66-26F0-462E-9774-B48B4C309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How Do Intrusion Prevention Systems Work?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D224A-FF34-452E-A621-7D7CBC3F5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Intrusion prevention systems work by scanning all network traffic.</a:t>
            </a:r>
          </a:p>
          <a:p>
            <a:r>
              <a:rPr lang="en-US" dirty="0"/>
              <a:t>The IPS performs </a:t>
            </a:r>
            <a:r>
              <a:rPr lang="en-US" b="1" dirty="0"/>
              <a:t>real-time</a:t>
            </a:r>
            <a:r>
              <a:rPr lang="en-US" dirty="0"/>
              <a:t> packet inspection, deeply inspecting every packet that travels across the network.</a:t>
            </a:r>
          </a:p>
          <a:p>
            <a:r>
              <a:rPr lang="en-US" dirty="0"/>
              <a:t>If any malicious or suspicious packets are detected, the IPS will carry out one of the following actions: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Terminate the TCP session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Reconfigure the firewall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Remove or replace any malicious content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DA6082-1643-45C0-A8F1-DD53BFFBF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4233A9-B49D-4AB7-926C-47630C43B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26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83147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678C9-79BC-4975-B023-4C860B916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HOW DO INTRUSION PREVENTION SYSTEMS DETECT MALICIOUS ACTIVITY?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A359D-9383-4478-A780-EDEFB4072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Signature-based Detection</a:t>
            </a:r>
          </a:p>
          <a:p>
            <a:r>
              <a:rPr lang="en-US" dirty="0"/>
              <a:t>Involves a dictionary of uniquely identifiable signatures located in the code of each exploit.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Exploit-facing</a:t>
            </a:r>
            <a:r>
              <a:rPr lang="en-GB" dirty="0"/>
              <a:t> – </a:t>
            </a:r>
            <a:r>
              <a:rPr lang="en-US" dirty="0"/>
              <a:t>detect malicious activity based on common attack patterns.</a:t>
            </a:r>
            <a:endParaRPr lang="en-GB" dirty="0"/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Vulnerability-facing</a:t>
            </a:r>
            <a:r>
              <a:rPr lang="en-GB" dirty="0"/>
              <a:t> – </a:t>
            </a:r>
            <a:r>
              <a:rPr lang="en-US" dirty="0"/>
              <a:t>attempt to detect malicious activity by identifying specific vulnerabilities.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634E91-99C0-4BDC-B846-CCBB3BA31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25EEB8-1E69-4F2A-90CB-8517944F3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27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751311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745A1-60A6-4F69-80E2-AE240AA58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HOW DO INTRUSION PREVENTION SYSTEMS DETECT MALICIOUS ACTIVITY?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5E8BA-FD24-408E-B8FC-46AB2798E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2"/>
            </a:pPr>
            <a:r>
              <a:rPr lang="en-US" b="1" dirty="0"/>
              <a:t>Statistical Anomaly-based Detection</a:t>
            </a:r>
          </a:p>
          <a:p>
            <a:r>
              <a:rPr lang="en-US" dirty="0"/>
              <a:t>Detection randomly sample network traffic and then compare the samples to a predetermined baseline performance level.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E6DF47-9503-486A-8F64-1FCBC5E4D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347DC6-74F5-44E1-A199-7FCB0D99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28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551088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4AF27-7C06-439C-B9C8-3614AB575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Types of Prevention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EB0F5-3935-4E0C-A830-1872430A0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Signature-Based</a:t>
            </a:r>
            <a:r>
              <a:rPr lang="en-GB" dirty="0"/>
              <a:t> – </a:t>
            </a:r>
            <a:r>
              <a:rPr lang="en-US" dirty="0"/>
              <a:t>uses predefined signatures of well-known network threats.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Anomaly-Based</a:t>
            </a:r>
            <a:r>
              <a:rPr lang="en-GB" dirty="0"/>
              <a:t> – </a:t>
            </a:r>
            <a:r>
              <a:rPr lang="en-US" dirty="0"/>
              <a:t>monitors for any abnormal or unexpected behavior on the network.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Policy-Based</a:t>
            </a:r>
            <a:r>
              <a:rPr lang="en-GB" dirty="0"/>
              <a:t> – </a:t>
            </a:r>
            <a:r>
              <a:rPr lang="en-US" dirty="0"/>
              <a:t>This approach requires administrators to configure security policies according to organizational security policies and the network infrastructure.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7C6D61-11BC-42AC-BFF4-6A0D4CBE8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CDB09-1FD6-4D64-A2EF-76BE72CDD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29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65345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67234-11FF-4167-837D-D15CAF082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Types of INTRUSION PREVENTION SYSTEM (IPS)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7DC9-08AF-4804-8BAA-096C6FCF7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Network-based Intrusion Prevention System (NIPS) </a:t>
            </a:r>
            <a:r>
              <a:rPr lang="en-US" dirty="0"/>
              <a:t>– This type of intrusion prevention system has the ability to </a:t>
            </a:r>
            <a:r>
              <a:rPr lang="en-US" b="1" dirty="0"/>
              <a:t>monitor the whole network</a:t>
            </a:r>
            <a:r>
              <a:rPr lang="en-US" dirty="0"/>
              <a:t> and look for suspicious traffic by reviewing protocol activity.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Wireless Intrusion Prevention Systems (WIPS) </a:t>
            </a:r>
            <a:r>
              <a:rPr lang="en-US" dirty="0"/>
              <a:t>–  Only monitor wireless networks for suspicious activity by reviewing wireless networking protocols.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Network Behaviour Analysis (NBA) </a:t>
            </a:r>
            <a:r>
              <a:rPr lang="en-GB" dirty="0"/>
              <a:t>–</a:t>
            </a:r>
            <a:r>
              <a:rPr lang="en-US" dirty="0"/>
              <a:t> Looks at network traffic in an effort to locate threats that cause unusual traffic flows, including distributed denial of service (DDoS) attacks and policy violations.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Host-based Intrusion Prevention System (HIPS) </a:t>
            </a:r>
            <a:r>
              <a:rPr lang="en-US" dirty="0"/>
              <a:t>– Is an installed software package that looks into suspicious activity that occurs within a single host.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D1EED-61EF-4EB4-B0D5-5D1FDE375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A217D-E241-4686-9E7E-AF644A1DB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30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139555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A9DE-48E5-4699-AE45-3A8E1FF6E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Anatomy of Intrusion Analysis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7FD8F-8D3E-4BF1-8F77-CCB0668F9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Pre-Processing</a:t>
            </a:r>
            <a:r>
              <a:rPr lang="en-GB" dirty="0"/>
              <a:t> – </a:t>
            </a:r>
            <a:r>
              <a:rPr lang="en-US" dirty="0"/>
              <a:t>The data is collected about the intrusions, vulnerabilities and attacks and then it is putted down into classification scheme or pattern descriptors.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Analysis</a:t>
            </a:r>
            <a:r>
              <a:rPr lang="en-GB" dirty="0"/>
              <a:t> – </a:t>
            </a:r>
            <a:r>
              <a:rPr lang="en-US" dirty="0"/>
              <a:t>Once the processing is completed, the analysis stage begins. The analysis engine looks for defined patterns that are known as attacks.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Response</a:t>
            </a:r>
            <a:r>
              <a:rPr lang="en-GB" dirty="0"/>
              <a:t> – </a:t>
            </a:r>
            <a:r>
              <a:rPr lang="en-US" dirty="0"/>
              <a:t>The inline sensor can provide real time prevention through an automated response.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Refinement</a:t>
            </a:r>
            <a:r>
              <a:rPr lang="en-GB" dirty="0"/>
              <a:t> – </a:t>
            </a:r>
            <a:r>
              <a:rPr lang="en-US" dirty="0"/>
              <a:t>This gives the opportunity to reduce false-positive levels and to have a more accurate security tool.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BAB2E4-98A2-4DE5-93B2-F000CB94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DD73CD-A8AA-40A1-8F1E-C4AD6B2FD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31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520274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348A6-9BE2-4106-8F68-B9AD1F875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What is a vulnerability assessment?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78256-40CB-44F4-A3FC-794EF4B08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vulnerability assessment </a:t>
            </a:r>
            <a:r>
              <a:rPr lang="en-US" dirty="0"/>
              <a:t>is the process of defining, identifying, classifying and prioritizing vulnerabilities in computer systems, applications and network infrastructures. </a:t>
            </a:r>
          </a:p>
          <a:p>
            <a:r>
              <a:rPr lang="en-US" dirty="0"/>
              <a:t>The process is sometimes referred to as vulnerability assessment/</a:t>
            </a:r>
            <a:r>
              <a:rPr lang="en-US" b="1" dirty="0"/>
              <a:t>penetration testing</a:t>
            </a:r>
            <a:r>
              <a:rPr lang="en-US" dirty="0"/>
              <a:t>, or </a:t>
            </a:r>
            <a:r>
              <a:rPr lang="en-US" b="1" dirty="0"/>
              <a:t>VAPT</a:t>
            </a:r>
            <a:r>
              <a:rPr lang="en-US" dirty="0"/>
              <a:t>.</a:t>
            </a:r>
          </a:p>
          <a:p>
            <a:r>
              <a:rPr lang="en-GB" dirty="0"/>
              <a:t>Importance of vulnerability assessments include – 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Provides an organization with details on any </a:t>
            </a:r>
            <a:r>
              <a:rPr lang="en-US" b="1" dirty="0"/>
              <a:t>security weaknesses (Vulnerability Identification) 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Assess the risks </a:t>
            </a:r>
            <a:r>
              <a:rPr lang="en-US" dirty="0"/>
              <a:t>associated with those weaknesses </a:t>
            </a:r>
            <a:r>
              <a:rPr lang="en-US" b="1" dirty="0"/>
              <a:t>(Risk Assessment). 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Strengthening the Security Posture </a:t>
            </a:r>
          </a:p>
          <a:p>
            <a:pPr marL="514350" indent="-514350">
              <a:buFont typeface="+mj-lt"/>
              <a:buAutoNum type="romanLcPeriod"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1A4CF-3528-4BF4-A717-FA94ECCB1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C36CF8-61CA-4C64-8D5B-F83B0E32D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32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564423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C8CAE-EC87-4F73-9907-0C96F92A1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Types of vulnerability assessments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E7444-8C6F-4326-A619-B839BD6CF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Network-based scans </a:t>
            </a:r>
            <a:r>
              <a:rPr lang="en-GB" dirty="0"/>
              <a:t>– </a:t>
            </a:r>
            <a:r>
              <a:rPr lang="en-US" dirty="0"/>
              <a:t>are used to identify possible network security attacks. 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Host-based scans </a:t>
            </a:r>
            <a:r>
              <a:rPr lang="en-GB" dirty="0"/>
              <a:t>– </a:t>
            </a:r>
            <a:r>
              <a:rPr lang="en-US" dirty="0"/>
              <a:t>are used to locate and identify vulnerabilities in servers, workstations or other network hosts.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Application scans </a:t>
            </a:r>
            <a:r>
              <a:rPr lang="en-US" dirty="0"/>
              <a:t>– test websites to detect known software vulnerabilities and incorrect configurations in network or web applications. 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A2F6BC-C776-4371-9490-792EC0E0D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366956-5440-4DC9-B456-54F3166CB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33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592193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B9913-24D1-43EC-A259-BC6FA25B6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Credential analysis non credential analysis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D45FB-DAAA-46CC-8A3D-D2FB8E8CD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Credential-based Vulnerability Assessments </a:t>
            </a:r>
            <a:r>
              <a:rPr lang="en-GB" dirty="0"/>
              <a:t>– </a:t>
            </a:r>
            <a:r>
              <a:rPr lang="en-US" dirty="0"/>
              <a:t>which make use of the admin account, do a more thorough check by looking for problems that cannot be seen from the network.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Non-credentialed Scans </a:t>
            </a:r>
            <a:r>
              <a:rPr lang="en-GB" dirty="0"/>
              <a:t>– </a:t>
            </a:r>
            <a:r>
              <a:rPr lang="en-US" dirty="0"/>
              <a:t>provide a quick view of vulnerabilities by only looking at network services exposed by the host.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7E441-6AD2-4EE2-A6C2-8193862CC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B3B733-EFBE-4562-A14A-12D46FFA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34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757691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D466424-2170-4821-ABE8-703E0BF1AE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/>
              <a:t>Snort </a:t>
            </a:r>
            <a:endParaRPr lang="LID4096" b="1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23752C2-19F1-4102-8FCA-C75B678595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Unit 3</a:t>
            </a:r>
            <a:endParaRPr lang="LID4096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58C90-3DA8-484B-82B2-6125976F1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75A3F2-A7C0-4979-927B-26ADC95B2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35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227158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B572D-1782-4DA5-A64D-5C2E36809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Introduction to Snort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05867-BD1B-4D44-B2CF-47F32FDF9A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b="1" dirty="0"/>
              <a:t>Snort</a:t>
            </a:r>
            <a:r>
              <a:rPr lang="en-US" dirty="0"/>
              <a:t> is an open-source network based Intrusion Detection System (IDS) which is written in C programming language.</a:t>
            </a:r>
          </a:p>
          <a:p>
            <a:r>
              <a:rPr lang="en-US" dirty="0"/>
              <a:t> It was developed in 1998 by Martin Roesch. </a:t>
            </a:r>
          </a:p>
          <a:p>
            <a:r>
              <a:rPr lang="en-US" dirty="0"/>
              <a:t>Now it is developed by Cisco. </a:t>
            </a:r>
            <a:endParaRPr lang="LID4096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C511B18-59A0-49BB-B3C1-31B6E3FAC7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460396"/>
            <a:ext cx="5733854" cy="3054284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BB271E-664A-446C-AF40-361A5BC4B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60B560-BAFE-4DAA-A6EB-06F776B94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36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42973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8964B37-C37A-4856-9983-B79FC4AD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Snort Features </a:t>
            </a:r>
            <a:endParaRPr lang="LID4096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EDC4BC7-B485-44C6-8972-EDFF204DF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It is based on library packet capture tool.</a:t>
            </a:r>
          </a:p>
          <a:p>
            <a:r>
              <a:rPr lang="en-US" dirty="0"/>
              <a:t>Its features include: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Real-time traffic monitor </a:t>
            </a:r>
            <a:r>
              <a:rPr lang="en-GB" dirty="0"/>
              <a:t>– </a:t>
            </a:r>
            <a:r>
              <a:rPr lang="en-US" dirty="0"/>
              <a:t>used to monitor the traffic that goes in and out of a network.</a:t>
            </a: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Content matching </a:t>
            </a:r>
            <a:r>
              <a:rPr lang="en-GB" dirty="0"/>
              <a:t>– </a:t>
            </a:r>
            <a:r>
              <a:rPr lang="en-US" dirty="0"/>
              <a:t>collates rules by the protocol.</a:t>
            </a: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Creates logs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Default and Local Rules</a:t>
            </a:r>
            <a:endParaRPr lang="LID4096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3F78D-F164-4057-836B-B574E759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46CAF-BB2B-4826-9ABA-850C6DF0E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37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930742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00E1C-780D-4F5F-99B9-405A11975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Setting Up Your Home Network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2FD21-E2B9-430F-95C0-AA0A939DB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Identify your active network interface.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r>
              <a:rPr lang="en-US" dirty="0"/>
              <a:t>Alternatively, you can use </a:t>
            </a:r>
            <a:r>
              <a:rPr lang="en-US" b="1" dirty="0"/>
              <a:t>ifconfig</a:t>
            </a:r>
            <a:r>
              <a:rPr lang="en-US" dirty="0"/>
              <a:t> and </a:t>
            </a:r>
            <a:r>
              <a:rPr lang="en-US" b="1" dirty="0"/>
              <a:t>ip addr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FCFD28-4EA5-4F70-ADE2-56AE5C871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2664D5-5B76-4F86-925C-3AB7DBFDF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38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32D633-E560-44E6-9AFF-75B3B16A1E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413" y="2704486"/>
            <a:ext cx="7798525" cy="257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5516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8F532-91FD-4426-B91C-9376CE306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Setting Up Your Home Network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4EFFE-3C00-4A31-875D-3016F746C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Edit the </a:t>
            </a:r>
            <a:r>
              <a:rPr lang="en-US" b="1" dirty="0"/>
              <a:t>snort.lua </a:t>
            </a:r>
            <a:r>
              <a:rPr lang="en-US" dirty="0"/>
              <a:t>or </a:t>
            </a:r>
            <a:r>
              <a:rPr lang="en-US" b="1" dirty="0" err="1"/>
              <a:t>snort.conf</a:t>
            </a:r>
            <a:r>
              <a:rPr lang="en-US" b="1" dirty="0"/>
              <a:t> </a:t>
            </a:r>
            <a:r>
              <a:rPr lang="en-US" dirty="0"/>
              <a:t>file using </a:t>
            </a:r>
            <a:r>
              <a:rPr lang="en-US" b="1" dirty="0"/>
              <a:t>nano</a:t>
            </a:r>
            <a:r>
              <a:rPr lang="en-US" dirty="0"/>
              <a:t> command.</a:t>
            </a:r>
          </a:p>
          <a:p>
            <a:pPr marL="0" indent="0">
              <a:buNone/>
            </a:pPr>
            <a:r>
              <a:rPr lang="en-US" dirty="0"/>
              <a:t>     From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                            To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6DDB20-94AF-4CA1-9144-294939FC3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387" y="6436571"/>
            <a:ext cx="6239309" cy="365125"/>
          </a:xfrm>
        </p:spPr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C54B29-18F0-4E8A-9DED-FA0FF0C3C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87784" y="6436571"/>
            <a:ext cx="771089" cy="365125"/>
          </a:xfrm>
        </p:spPr>
        <p:txBody>
          <a:bodyPr/>
          <a:lstStyle/>
          <a:p>
            <a:fld id="{B10C918F-28F9-499A-8F02-9326C5EC5173}" type="slidenum">
              <a:rPr lang="LID4096" smtClean="0"/>
              <a:t>39</a:t>
            </a:fld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9585B8-F4AA-4E86-8FE5-2E755C308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076" y="3350637"/>
            <a:ext cx="5171933" cy="16073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BF5F69-115B-439B-BD2C-05DA24891F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3003" y="4958001"/>
            <a:ext cx="4722728" cy="147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560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FDEA1-F06F-4544-AA21-435DFE17B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Packet Sniffing Mode Configurations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688A6-818B-4686-A128-418468D1D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Edit the snort configuration file with </a:t>
            </a:r>
            <a:r>
              <a:rPr lang="en-US" b="1" dirty="0"/>
              <a:t>nano snort.lua </a:t>
            </a:r>
            <a:r>
              <a:rPr lang="en-US" dirty="0"/>
              <a:t>or </a:t>
            </a:r>
            <a:r>
              <a:rPr lang="en-US" b="1" dirty="0"/>
              <a:t>nano snort.conf </a:t>
            </a:r>
          </a:p>
          <a:p>
            <a:pPr marL="0" indent="0">
              <a:buNone/>
            </a:pPr>
            <a:r>
              <a:rPr lang="en-US" dirty="0"/>
              <a:t>   From						 To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9BF812-D7D5-4F1D-B4EF-6A3DEF40A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403423-6031-48F4-B23C-1457E3F51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40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72D088-BA7A-4387-B76B-C18CD90BD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103" y="3271931"/>
            <a:ext cx="5140514" cy="25192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C47978-348F-4575-89D7-1EE346518D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579" y="3271931"/>
            <a:ext cx="5222049" cy="251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0388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74D33-B5AD-44E4-9DCB-D6D83EE1C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Snort Command Line Options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1E49D-C5AF-4740-827F-78F0197A2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Run Snort in </a:t>
            </a:r>
            <a:r>
              <a:rPr lang="en-US" b="1" dirty="0"/>
              <a:t>packet sniffing mode </a:t>
            </a:r>
            <a:r>
              <a:rPr lang="en-US" dirty="0"/>
              <a:t>using the configuration file.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-c</a:t>
            </a:r>
            <a:r>
              <a:rPr lang="en-US" dirty="0"/>
              <a:t> allows you to specify which configuration file you want to use. In snort v3 </a:t>
            </a:r>
            <a:r>
              <a:rPr lang="en-US" b="1" dirty="0"/>
              <a:t>snort.lua </a:t>
            </a:r>
            <a:r>
              <a:rPr lang="en-US" dirty="0"/>
              <a:t>is used while in v2 </a:t>
            </a:r>
            <a:r>
              <a:rPr lang="en-US" b="1" dirty="0"/>
              <a:t>snort.conf </a:t>
            </a:r>
            <a:r>
              <a:rPr lang="en-US" dirty="0"/>
              <a:t>is used.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-i </a:t>
            </a:r>
            <a:r>
              <a:rPr lang="en-US" dirty="0"/>
              <a:t>specifies which interface Snort should listen on e.g., Ethernet (</a:t>
            </a:r>
            <a:r>
              <a:rPr lang="en-US" b="1" dirty="0"/>
              <a:t>eth0</a:t>
            </a:r>
            <a:r>
              <a:rPr lang="en-US" dirty="0"/>
              <a:t>) 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8F4FA5-3653-4131-9456-F61D4DB89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E09A78-3AA3-47C2-ACCC-BDDF21796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41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D515C8-F8EE-401E-94B1-D2F2D4FF85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951"/>
          <a:stretch/>
        </p:blipFill>
        <p:spPr>
          <a:xfrm>
            <a:off x="1483023" y="2791895"/>
            <a:ext cx="7368746" cy="139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3539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8636A-BB82-4B81-9690-F8C08D382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Snort Command Line Options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CA6B6-9B3A-4D11-9F56-FDF4A326C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romanLcPeriod" startAt="3"/>
            </a:pPr>
            <a:r>
              <a:rPr lang="en-US" b="1" dirty="0"/>
              <a:t>-V </a:t>
            </a:r>
            <a:r>
              <a:rPr lang="en-US" dirty="0"/>
              <a:t>displays the Snort </a:t>
            </a:r>
            <a:r>
              <a:rPr lang="en-US" b="1" dirty="0"/>
              <a:t>version</a:t>
            </a:r>
            <a:r>
              <a:rPr lang="en-US" dirty="0"/>
              <a:t> number and then exits. </a:t>
            </a:r>
          </a:p>
          <a:p>
            <a:pPr marL="514350" indent="-514350">
              <a:buAutoNum type="romanLcPeriod" startAt="3"/>
            </a:pPr>
            <a:r>
              <a:rPr lang="en-US" b="1" dirty="0"/>
              <a:t>-?</a:t>
            </a:r>
            <a:r>
              <a:rPr lang="en-US" dirty="0"/>
              <a:t> lists all switches and </a:t>
            </a:r>
            <a:r>
              <a:rPr lang="en-US" b="1" dirty="0"/>
              <a:t>options</a:t>
            </a:r>
            <a:r>
              <a:rPr lang="en-US" dirty="0"/>
              <a:t> and then exits.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8459BC-C039-4DD0-A306-72128DE78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A73CAA-1B91-4FFA-BF87-03F5EE269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42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7C54B1-C17A-4FF6-9C97-D92111E210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"/>
          <a:stretch/>
        </p:blipFill>
        <p:spPr>
          <a:xfrm>
            <a:off x="1791092" y="3428999"/>
            <a:ext cx="9256317" cy="236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8644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C0776-5080-4F3C-9245-99107925F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Snort Command Line Options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2A1DC-5A53-4CA6-A0B7-F0AF02E6E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Snort itself uses something called </a:t>
            </a:r>
            <a:r>
              <a:rPr lang="en-US" b="1" dirty="0"/>
              <a:t>Data Acquisition library (DAQ) </a:t>
            </a:r>
            <a:r>
              <a:rPr lang="en-US" dirty="0"/>
              <a:t>to make abstract calls to packet capture libraries.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Run Snort in inline mode (ensure interface and bridge setup if required)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r>
              <a:rPr lang="en-US" b="1" dirty="0"/>
              <a:t>--daq afpacket </a:t>
            </a:r>
            <a:r>
              <a:rPr lang="en-US" dirty="0"/>
              <a:t>tells Snort to use the </a:t>
            </a:r>
            <a:r>
              <a:rPr lang="en-US" b="1" dirty="0"/>
              <a:t>AFPacket DAQ module</a:t>
            </a:r>
            <a:r>
              <a:rPr lang="en-US" dirty="0"/>
              <a:t>.</a:t>
            </a:r>
          </a:p>
          <a:p>
            <a:pPr marL="514350" indent="-514350">
              <a:buAutoNum type="romanLcPeriod" startAt="5"/>
            </a:pPr>
            <a:r>
              <a:rPr lang="en-US" b="1" dirty="0"/>
              <a:t>-Q</a:t>
            </a:r>
            <a:r>
              <a:rPr lang="en-US" dirty="0"/>
              <a:t> enables </a:t>
            </a:r>
            <a:r>
              <a:rPr lang="en-US" b="1" dirty="0"/>
              <a:t>inline mode </a:t>
            </a:r>
            <a:r>
              <a:rPr lang="en-US" dirty="0"/>
              <a:t>(for IPS).</a:t>
            </a:r>
          </a:p>
          <a:p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C20E69-474E-4DC2-8E5A-0C2EC1F3A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3242D2-2E77-4DB0-A414-8C6D5630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43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ACDE0F-D15D-4866-85D4-89C0557CC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979" y="3745289"/>
            <a:ext cx="8546948" cy="76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7362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5CA94-43B0-47A7-A86F-8D49470F3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Snort Alert Modes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2A97F-D009-41B5-9430-D9FABC712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view these snort alert modes via nano </a:t>
            </a:r>
            <a:r>
              <a:rPr lang="en-US" b="1" dirty="0"/>
              <a:t>/etc/snort/snort.lua </a:t>
            </a:r>
            <a:r>
              <a:rPr lang="en-US" dirty="0"/>
              <a:t>in v3 and </a:t>
            </a:r>
            <a:r>
              <a:rPr lang="en-US" b="1" dirty="0"/>
              <a:t>/etc/snort/snort.conf </a:t>
            </a:r>
            <a:r>
              <a:rPr lang="en-US" dirty="0"/>
              <a:t>in v2.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3D8A5-66A6-45CE-98DA-2B1746272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77A57-1748-42A7-B8FE-9D69E6CBE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44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A012F7-CEB7-49B7-A8A6-0AC46AC0F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384" y="3245682"/>
            <a:ext cx="7044020" cy="270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792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84A6F-50EB-4A31-B9BB-8BF580231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Snort Alert Modes &amp; Snort Command Line Options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1B4E8-245D-4581-B9CE-1B54B76BC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Fast</a:t>
            </a:r>
            <a:r>
              <a:rPr lang="en-GB" dirty="0"/>
              <a:t> 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514350" indent="-514350">
              <a:buAutoNum type="romanLcPeriod" startAt="6"/>
            </a:pPr>
            <a:r>
              <a:rPr lang="en-GB" b="1" dirty="0"/>
              <a:t>-A </a:t>
            </a:r>
            <a:r>
              <a:rPr lang="en-US" dirty="0"/>
              <a:t>generates an alert using one of the specified alert-modes: </a:t>
            </a:r>
            <a:r>
              <a:rPr lang="en-US" b="1" dirty="0"/>
              <a:t>fast</a:t>
            </a:r>
            <a:r>
              <a:rPr lang="en-US" dirty="0"/>
              <a:t>, </a:t>
            </a:r>
            <a:r>
              <a:rPr lang="en-US" b="1" dirty="0"/>
              <a:t>full</a:t>
            </a:r>
            <a:r>
              <a:rPr lang="en-US" dirty="0"/>
              <a:t>,     </a:t>
            </a:r>
            <a:r>
              <a:rPr lang="en-US" b="1" dirty="0"/>
              <a:t>none</a:t>
            </a:r>
            <a:r>
              <a:rPr lang="en-US" dirty="0"/>
              <a:t>, and </a:t>
            </a:r>
            <a:r>
              <a:rPr lang="en-US" b="1" dirty="0"/>
              <a:t>unsock</a:t>
            </a:r>
            <a:r>
              <a:rPr lang="en-US" dirty="0"/>
              <a:t>. </a:t>
            </a:r>
          </a:p>
          <a:p>
            <a:r>
              <a:rPr lang="en-US" dirty="0"/>
              <a:t>Snort alerts report the </a:t>
            </a:r>
            <a:r>
              <a:rPr lang="en-US" b="1" dirty="0"/>
              <a:t>timestamp</a:t>
            </a:r>
            <a:r>
              <a:rPr lang="en-US" dirty="0"/>
              <a:t>, send an </a:t>
            </a:r>
            <a:r>
              <a:rPr lang="en-US" b="1" dirty="0"/>
              <a:t>alert message</a:t>
            </a:r>
            <a:r>
              <a:rPr lang="en-US" dirty="0"/>
              <a:t>, show the source and destination </a:t>
            </a:r>
            <a:r>
              <a:rPr lang="en-US" b="1" dirty="0"/>
              <a:t>IP address </a:t>
            </a:r>
            <a:r>
              <a:rPr lang="en-US" dirty="0"/>
              <a:t>and </a:t>
            </a:r>
            <a:r>
              <a:rPr lang="en-US" b="1" dirty="0"/>
              <a:t>port</a:t>
            </a:r>
            <a:r>
              <a:rPr lang="en-US" dirty="0"/>
              <a:t>. </a:t>
            </a:r>
            <a:endParaRPr lang="en-GB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0CCFB-711E-43D5-AD7A-4F4705BE0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23326-217F-4204-86A2-BCFFA3E0F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45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BDBC9D-9C72-474F-A2EB-4386C9B654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4" t="-3968"/>
          <a:stretch/>
        </p:blipFill>
        <p:spPr>
          <a:xfrm>
            <a:off x="1668545" y="2791171"/>
            <a:ext cx="5561814" cy="63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1140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1DD5-2A44-4E91-842D-996B6B300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Snort Alert Modes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910B7-D591-4A2A-A9A7-E0CF4CFC6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AutoNum type="arabicPeriod" startAt="2"/>
            </a:pPr>
            <a:r>
              <a:rPr lang="en-US" b="1" dirty="0"/>
              <a:t>Full</a:t>
            </a:r>
          </a:p>
          <a:p>
            <a:r>
              <a:rPr lang="en-US" dirty="0"/>
              <a:t> Is the </a:t>
            </a:r>
            <a:r>
              <a:rPr lang="en-US" b="1" dirty="0"/>
              <a:t>default alert mode</a:t>
            </a:r>
            <a:r>
              <a:rPr lang="en-US" dirty="0"/>
              <a:t>.</a:t>
            </a:r>
          </a:p>
          <a:p>
            <a:r>
              <a:rPr lang="en-US" dirty="0"/>
              <a:t>Additionally to the information printed in the fast mode, the full mode shows the </a:t>
            </a:r>
            <a:r>
              <a:rPr lang="en-US" b="1" dirty="0"/>
              <a:t>TTL</a:t>
            </a:r>
            <a:r>
              <a:rPr lang="en-US" dirty="0"/>
              <a:t>, packet headers and datagram </a:t>
            </a:r>
            <a:r>
              <a:rPr lang="en-US" b="1" dirty="0"/>
              <a:t>length</a:t>
            </a:r>
            <a:r>
              <a:rPr lang="en-US" dirty="0"/>
              <a:t>, </a:t>
            </a:r>
            <a:r>
              <a:rPr lang="en-US" b="1" dirty="0"/>
              <a:t>service</a:t>
            </a:r>
            <a:r>
              <a:rPr lang="en-US" dirty="0"/>
              <a:t>, ICMP type, window size, </a:t>
            </a:r>
            <a:r>
              <a:rPr lang="en-US" b="1" dirty="0"/>
              <a:t>ACK</a:t>
            </a:r>
            <a:r>
              <a:rPr lang="en-US" dirty="0"/>
              <a:t> and sequence number. 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AutoNum type="arabicPeriod" startAt="3"/>
            </a:pPr>
            <a:r>
              <a:rPr lang="en-US" b="1" dirty="0"/>
              <a:t>Console</a:t>
            </a:r>
            <a:r>
              <a:rPr lang="en-US" dirty="0"/>
              <a:t> – prints fast alerts in the console.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936B6F-47EC-4AB9-871C-65D593765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EBE64D-063D-4035-9108-CFB0391F5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46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794964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232C-5D96-47E1-9758-05E76217D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Snort Alert Modes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4D5D7-0B86-41EE-BFCE-1A563E1CA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4"/>
            </a:pPr>
            <a:r>
              <a:rPr lang="en-US" b="1" dirty="0"/>
              <a:t>None</a:t>
            </a:r>
            <a:r>
              <a:rPr lang="en-US" dirty="0"/>
              <a:t> – With this mode, Snort </a:t>
            </a:r>
            <a:r>
              <a:rPr lang="en-US" b="1" dirty="0"/>
              <a:t>does not generate alerts</a:t>
            </a:r>
            <a:r>
              <a:rPr lang="en-US" dirty="0"/>
              <a:t>. </a:t>
            </a:r>
          </a:p>
          <a:p>
            <a:pPr marL="457200" indent="-457200">
              <a:buAutoNum type="arabicPeriod" startAt="4"/>
            </a:pPr>
            <a:r>
              <a:rPr lang="en-US" b="1" dirty="0"/>
              <a:t>Unsock</a:t>
            </a:r>
            <a:r>
              <a:rPr lang="en-US" dirty="0"/>
              <a:t> –  This is useful to </a:t>
            </a:r>
            <a:r>
              <a:rPr lang="en-US" b="1" dirty="0"/>
              <a:t>export alert </a:t>
            </a:r>
            <a:r>
              <a:rPr lang="en-US" dirty="0"/>
              <a:t>reports to other programs through </a:t>
            </a:r>
            <a:r>
              <a:rPr lang="en-US" b="1" dirty="0"/>
              <a:t>Unix sockets</a:t>
            </a:r>
            <a:r>
              <a:rPr lang="en-US" dirty="0"/>
              <a:t>.</a:t>
            </a:r>
          </a:p>
          <a:p>
            <a:pPr marL="457200" indent="-457200">
              <a:buAutoNum type="arabicPeriod" startAt="4"/>
            </a:pPr>
            <a:r>
              <a:rPr lang="en-US" b="1" dirty="0"/>
              <a:t>Cmg</a:t>
            </a:r>
            <a:r>
              <a:rPr lang="en-US" dirty="0"/>
              <a:t> – This alerts mode was developed by Snort for </a:t>
            </a:r>
            <a:r>
              <a:rPr lang="en-US" b="1" dirty="0"/>
              <a:t>testing purposes</a:t>
            </a:r>
            <a:r>
              <a:rPr lang="en-US" dirty="0"/>
              <a:t>; it prints a full alert on the console without saving logs.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16D11-B157-4573-8FFB-DDC6A5473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31302C-7BBE-4BD1-ACA3-4BF90B5B5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47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692987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E25BBB1-9A2E-44BF-87F8-DD451A9BB3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/>
              <a:t>Snort Rules</a:t>
            </a:r>
            <a:endParaRPr lang="LID4096" b="1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3C63910-6886-408E-BAAC-BB06CEECD3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Unit 4</a:t>
            </a:r>
            <a:endParaRPr lang="LID4096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28B1A2-C8EF-41B5-A79B-9FE8B215C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66A20F-C3BD-47EC-8387-E9834BD42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48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23874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5F740-A50E-41B2-B0EC-E85C79F4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Working with Snort Rules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3CD7B-A43C-4EAC-B4DF-42119E3D8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Provide a sample Snort rule to detect HTTP traffic on port 80 and explain its structure.</a:t>
            </a:r>
          </a:p>
          <a:p>
            <a:r>
              <a:rPr lang="en-US" dirty="0"/>
              <a:t>Navigate to nano </a:t>
            </a:r>
            <a:r>
              <a:rPr lang="en-US" b="1" dirty="0"/>
              <a:t>/etc/snort/rules/local.rules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B05062-CEDB-4204-819C-B4AE1252F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869C41-46AB-4F32-965E-5A72A3018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49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2BBA60-C5D3-40B5-B94B-37CD4A92D1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829" y="3809899"/>
            <a:ext cx="6680543" cy="198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6747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EEF69-41AF-4DAC-9985-905815CBC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Rule Header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6FEC9-E739-4DE7-825E-BC6144FA7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Action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alert</a:t>
            </a:r>
            <a:r>
              <a:rPr lang="en-GB" dirty="0"/>
              <a:t> – </a:t>
            </a:r>
            <a:r>
              <a:rPr lang="en-US" dirty="0"/>
              <a:t> </a:t>
            </a:r>
            <a:r>
              <a:rPr lang="en-US" b="1" dirty="0"/>
              <a:t>alerts the network administrator </a:t>
            </a:r>
            <a:r>
              <a:rPr lang="en-US" dirty="0"/>
              <a:t>upon detecting a potential threat. </a:t>
            </a:r>
            <a:endParaRPr lang="en-GB" dirty="0"/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drop</a:t>
            </a:r>
            <a:r>
              <a:rPr lang="en-GB" dirty="0"/>
              <a:t> – </a:t>
            </a:r>
            <a:r>
              <a:rPr lang="en-US" dirty="0"/>
              <a:t>used in IPS (Intrusion Prevention System) mode to </a:t>
            </a:r>
            <a:r>
              <a:rPr lang="en-US" b="1" dirty="0"/>
              <a:t>block malicious traffic</a:t>
            </a:r>
            <a:r>
              <a:rPr lang="en-US" dirty="0"/>
              <a:t>.</a:t>
            </a:r>
            <a:endParaRPr lang="en-GB" dirty="0"/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pass</a:t>
            </a:r>
            <a:r>
              <a:rPr lang="en-GB" dirty="0"/>
              <a:t> – ignores the packet.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log</a:t>
            </a:r>
            <a:r>
              <a:rPr lang="en-GB" dirty="0"/>
              <a:t> – </a:t>
            </a:r>
            <a:r>
              <a:rPr lang="en-US" b="1" dirty="0"/>
              <a:t>records packet data </a:t>
            </a:r>
            <a:r>
              <a:rPr lang="en-US" dirty="0"/>
              <a:t>(headers and payload) but does not alert.</a:t>
            </a:r>
            <a:endParaRPr lang="en-GB" dirty="0"/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activate </a:t>
            </a:r>
            <a:r>
              <a:rPr lang="en-GB" dirty="0"/>
              <a:t>– </a:t>
            </a:r>
            <a:r>
              <a:rPr lang="en-US" dirty="0"/>
              <a:t>generates an alert and then </a:t>
            </a:r>
            <a:r>
              <a:rPr lang="en-US" b="1" dirty="0"/>
              <a:t>activates another rule </a:t>
            </a:r>
            <a:r>
              <a:rPr lang="en-US" dirty="0"/>
              <a:t>(a dynamic rule).</a:t>
            </a:r>
            <a:endParaRPr lang="en-GB" dirty="0"/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dynamic</a:t>
            </a:r>
            <a:r>
              <a:rPr lang="en-GB" dirty="0"/>
              <a:t> – </a:t>
            </a:r>
            <a:r>
              <a:rPr lang="en-US" dirty="0"/>
              <a:t>does nothing until activated by an activate rule.</a:t>
            </a:r>
            <a:endParaRPr lang="en-GB" dirty="0"/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reject</a:t>
            </a:r>
            <a:r>
              <a:rPr lang="en-GB" dirty="0"/>
              <a:t> – </a:t>
            </a:r>
            <a:r>
              <a:rPr lang="en-US" b="1" dirty="0"/>
              <a:t>drops the packet </a:t>
            </a:r>
            <a:r>
              <a:rPr lang="en-US" dirty="0"/>
              <a:t>and sends a TCP reset (for TCP) or ICMP unreachable (for UDP/ICMP).</a:t>
            </a:r>
            <a:endParaRPr lang="en-GB" dirty="0"/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sdrop (Silent Drop) </a:t>
            </a:r>
            <a:r>
              <a:rPr lang="en-GB" dirty="0"/>
              <a:t>– </a:t>
            </a:r>
            <a:r>
              <a:rPr lang="en-US" dirty="0"/>
              <a:t>silently drops the packet without alerting or logging.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EBB24-A005-4043-B13A-CFEB7760D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D77A29-13D0-4E37-B7A3-D2EF887A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50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12091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E8B4A-C24A-4543-9A46-64721757D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Rule Header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6DB0B-0FE2-4E94-A374-EAB5A6493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AutoNum type="arabicPeriod" startAt="2"/>
            </a:pPr>
            <a:r>
              <a:rPr lang="en-US" b="1" dirty="0"/>
              <a:t>Protocol</a:t>
            </a:r>
            <a:r>
              <a:rPr lang="en-US" dirty="0"/>
              <a:t> – you may key in the Protocol address that you need e.g., </a:t>
            </a:r>
            <a:r>
              <a:rPr lang="en-US" b="1" dirty="0"/>
              <a:t>tcp</a:t>
            </a:r>
            <a:r>
              <a:rPr lang="en-US" dirty="0"/>
              <a:t>.</a:t>
            </a:r>
          </a:p>
          <a:p>
            <a:pPr marL="457200" indent="-457200">
              <a:buAutoNum type="arabicPeriod" startAt="2"/>
            </a:pPr>
            <a:r>
              <a:rPr lang="en-US" b="1" dirty="0"/>
              <a:t>Source IP Address </a:t>
            </a:r>
            <a:r>
              <a:rPr lang="en-US" dirty="0"/>
              <a:t>– For example, </a:t>
            </a:r>
            <a:r>
              <a:rPr lang="en-US" b="1" dirty="0"/>
              <a:t>172.24.20.0</a:t>
            </a:r>
            <a:r>
              <a:rPr lang="en-US" dirty="0"/>
              <a:t> or </a:t>
            </a:r>
            <a:r>
              <a:rPr lang="en-US" b="1" dirty="0"/>
              <a:t>any</a:t>
            </a:r>
          </a:p>
          <a:p>
            <a:pPr marL="457200" indent="-457200">
              <a:buAutoNum type="arabicPeriod" startAt="2"/>
            </a:pPr>
            <a:r>
              <a:rPr lang="en-US" b="1" dirty="0"/>
              <a:t>Source Port – </a:t>
            </a:r>
            <a:r>
              <a:rPr lang="en-US" dirty="0"/>
              <a:t>computers generally have 65,536 TCP Ports (e.g., </a:t>
            </a:r>
            <a:r>
              <a:rPr lang="en-US" b="1" dirty="0"/>
              <a:t>80</a:t>
            </a:r>
            <a:r>
              <a:rPr lang="en-US" dirty="0"/>
              <a:t> for HTTP) and if you wish, you may again key-in ‘</a:t>
            </a:r>
            <a:r>
              <a:rPr lang="en-US" b="1" dirty="0"/>
              <a:t>any</a:t>
            </a:r>
            <a:r>
              <a:rPr lang="en-US" dirty="0"/>
              <a:t>’ to define all such ports in the rule.</a:t>
            </a:r>
          </a:p>
          <a:p>
            <a:pPr marL="457200" indent="-457200">
              <a:buAutoNum type="arabicPeriod" startAt="2"/>
            </a:pPr>
            <a:r>
              <a:rPr lang="en-US" b="1" dirty="0"/>
              <a:t>Flow</a:t>
            </a:r>
            <a:r>
              <a:rPr lang="en-US" dirty="0"/>
              <a:t> –  refers to the </a:t>
            </a:r>
            <a:r>
              <a:rPr lang="en-US" b="1" dirty="0"/>
              <a:t>direction</a:t>
            </a:r>
            <a:r>
              <a:rPr lang="en-US" dirty="0"/>
              <a:t> of the traffic and denoted by </a:t>
            </a:r>
            <a:r>
              <a:rPr lang="en-US" b="1" dirty="0"/>
              <a:t>-&gt;</a:t>
            </a:r>
            <a:r>
              <a:rPr lang="en-US" dirty="0"/>
              <a:t> </a:t>
            </a:r>
          </a:p>
          <a:p>
            <a:pPr marL="457200" indent="-457200">
              <a:buAutoNum type="arabicPeriod" startAt="2"/>
            </a:pPr>
            <a:r>
              <a:rPr lang="en-US" b="1" dirty="0"/>
              <a:t>Destination IP Address</a:t>
            </a:r>
          </a:p>
          <a:p>
            <a:pPr marL="457200" indent="-457200">
              <a:buAutoNum type="arabicPeriod" startAt="2"/>
            </a:pPr>
            <a:r>
              <a:rPr lang="en-US" b="1" dirty="0"/>
              <a:t>Destination Port</a:t>
            </a:r>
          </a:p>
          <a:p>
            <a:pPr marL="457200" indent="-457200">
              <a:buAutoNum type="arabicPeriod" startAt="2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C4ADCD-0E58-49A0-B09F-E21797637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74A475-F087-4CE3-928A-240B6A98C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51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837970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56537-F74B-49F6-A861-074903C8C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Working with Snort Rules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8ACB3-515C-4FCA-BD90-FE4D65C54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Below is our local rule: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msg</a:t>
            </a:r>
            <a:r>
              <a:rPr lang="en-US" dirty="0"/>
              <a:t> is the message displayed after the detection.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sid </a:t>
            </a:r>
            <a:r>
              <a:rPr lang="en-US" dirty="0"/>
              <a:t>is the snort ID (below 1 million for default rules and above that are local rules)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rev</a:t>
            </a:r>
            <a:r>
              <a:rPr lang="en-US" dirty="0"/>
              <a:t> is the revision number.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553B40-C4F5-4047-8B62-33FC155AD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B3AFE5-4F19-4663-A328-037BFF749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52</a:t>
            </a:fld>
            <a:endParaRPr lang="LID4096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BA3499-88D5-4AF9-8389-6507261E1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322" y="2671518"/>
            <a:ext cx="7048363" cy="159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2410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C5631-F0EB-4A1E-8F53-97EEB29CC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Snort Rules Examples and Cheat sheet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7E403-4444-490D-89C8-676BC1C80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NOTE: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You can replace </a:t>
            </a:r>
            <a:r>
              <a:rPr lang="en-US" b="1" dirty="0"/>
              <a:t>any</a:t>
            </a:r>
            <a:r>
              <a:rPr lang="en-US" dirty="0"/>
              <a:t> with an IP Address e.g., </a:t>
            </a:r>
            <a:r>
              <a:rPr lang="en-US" b="1" dirty="0"/>
              <a:t>172.24.20.0/24 </a:t>
            </a:r>
            <a:r>
              <a:rPr lang="en-US" dirty="0"/>
              <a:t>or port e.g., </a:t>
            </a:r>
            <a:r>
              <a:rPr lang="en-US" b="1" dirty="0"/>
              <a:t>21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You can also replace the IP Address </a:t>
            </a:r>
            <a:r>
              <a:rPr lang="en-US" b="1" dirty="0"/>
              <a:t>172.24.20.0/24 </a:t>
            </a:r>
            <a:r>
              <a:rPr lang="en-US" dirty="0"/>
              <a:t>with</a:t>
            </a:r>
            <a:r>
              <a:rPr lang="en-US" b="1" dirty="0"/>
              <a:t> $HOME_NET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You can also replace any with </a:t>
            </a:r>
            <a:r>
              <a:rPr lang="en-US" b="1" dirty="0"/>
              <a:t>$EXTERNAL_NET </a:t>
            </a:r>
            <a:r>
              <a:rPr lang="en-US" dirty="0"/>
              <a:t>if specified in the configuration file.</a:t>
            </a:r>
          </a:p>
          <a:p>
            <a:pPr marL="457200" indent="-457200">
              <a:buFont typeface="+mj-lt"/>
              <a:buAutoNum type="arabicPeriod"/>
            </a:pPr>
            <a:endParaRPr lang="LID4096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B6CBC6-6E96-4489-AD6C-F46B79D05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E3022-5250-4CD7-8B8B-9161ABAC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53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690443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5F345-3439-4E5D-B673-067728FC8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Configuring Local Rules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849EB-6448-4C85-9AE9-445A231D6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Edit the snort configuration file and include the local rule path.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DF3DE-E2B4-4A07-82F6-64B2A9420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2" y="6398602"/>
            <a:ext cx="6239309" cy="365125"/>
          </a:xfrm>
        </p:spPr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D29811-FD05-4440-A86B-C954939AC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2" y="6378800"/>
            <a:ext cx="771089" cy="365125"/>
          </a:xfrm>
        </p:spPr>
        <p:txBody>
          <a:bodyPr/>
          <a:lstStyle/>
          <a:p>
            <a:fld id="{B10C918F-28F9-499A-8F02-9326C5EC5173}" type="slidenum">
              <a:rPr lang="LID4096" smtClean="0"/>
              <a:t>54</a:t>
            </a:fld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37C3B4-4668-4812-94D0-A7325DC34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704" y="2812196"/>
            <a:ext cx="7267797" cy="356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0735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AEFF4-3DA1-4613-90FE-FBB088A37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Snort Command Line Options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699F7-8C8E-48C6-BBFC-D29028E17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Test your snort configurations for any errors.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 marL="514350" indent="-514350">
              <a:buAutoNum type="romanLcPeriod" startAt="7"/>
            </a:pPr>
            <a:r>
              <a:rPr lang="en-US" b="1" dirty="0"/>
              <a:t>-T  </a:t>
            </a:r>
            <a:r>
              <a:rPr lang="en-US" dirty="0"/>
              <a:t>starts Snort in self-test mode. Useful for </a:t>
            </a:r>
            <a:r>
              <a:rPr lang="en-US" b="1" dirty="0"/>
              <a:t>debugging</a:t>
            </a:r>
            <a:r>
              <a:rPr lang="en-US" dirty="0"/>
              <a:t> Snort before it is run in daemon mode or before it is launched on a production box. Can be used for </a:t>
            </a:r>
            <a:r>
              <a:rPr lang="en-US" b="1" dirty="0"/>
              <a:t>testing the correctness </a:t>
            </a:r>
            <a:r>
              <a:rPr lang="en-US" dirty="0"/>
              <a:t>of your configuration files. 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57791A-07CF-4E0B-B1B9-D3378280A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3E5049-32CB-4CF6-88A8-C251F4091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55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5A8475-AA6D-420E-9D68-4E39033FE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453" y="2830356"/>
            <a:ext cx="6000100" cy="6869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C0B8B8-4C23-4F8A-8B28-2D1A4366EB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180" b="-1"/>
          <a:stretch/>
        </p:blipFill>
        <p:spPr>
          <a:xfrm>
            <a:off x="1720453" y="3517283"/>
            <a:ext cx="9167706" cy="76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4942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16F6E-217C-4923-AE22-675F54180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The Snort Configuration File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03B59-ECC5-43C3-948F-0A7072F3D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sample configuration file </a:t>
            </a:r>
            <a:r>
              <a:rPr lang="en-US" b="1" dirty="0"/>
              <a:t>snort.conf </a:t>
            </a:r>
            <a:r>
              <a:rPr lang="en-US" dirty="0"/>
              <a:t>is included in the Snort distribution.</a:t>
            </a:r>
          </a:p>
          <a:p>
            <a:r>
              <a:rPr lang="en-US" dirty="0"/>
              <a:t>You use the </a:t>
            </a:r>
            <a:r>
              <a:rPr lang="en-US" b="1" dirty="0"/>
              <a:t>-c</a:t>
            </a:r>
            <a:r>
              <a:rPr lang="en-US" dirty="0"/>
              <a:t> command line switch to specify the name of the configuration file.</a:t>
            </a:r>
          </a:p>
          <a:p>
            <a:r>
              <a:rPr lang="en-US" dirty="0"/>
              <a:t>This file contains six basic sections (KEYWORD: </a:t>
            </a:r>
            <a:r>
              <a:rPr lang="en-US" b="1" dirty="0">
                <a:solidFill>
                  <a:srgbClr val="FF0000"/>
                </a:solidFill>
              </a:rPr>
              <a:t>P</a:t>
            </a:r>
            <a:r>
              <a:rPr lang="en-US" b="1" dirty="0">
                <a:solidFill>
                  <a:srgbClr val="FFC000"/>
                </a:solidFill>
              </a:rPr>
              <a:t>R</a:t>
            </a:r>
            <a:r>
              <a:rPr lang="en-US" b="1" dirty="0">
                <a:solidFill>
                  <a:schemeClr val="bg1"/>
                </a:solidFill>
              </a:rPr>
              <a:t>O</a:t>
            </a:r>
            <a:r>
              <a:rPr lang="en-US" b="1" dirty="0">
                <a:solidFill>
                  <a:srgbClr val="0070C0"/>
                </a:solidFill>
              </a:rPr>
              <a:t>P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3"/>
                </a:solidFill>
              </a:rPr>
              <a:t>A</a:t>
            </a:r>
            <a:r>
              <a:rPr lang="en-US" b="1" dirty="0"/>
              <a:t>V</a:t>
            </a:r>
            <a:r>
              <a:rPr lang="en-US" dirty="0"/>
              <a:t>):</a:t>
            </a:r>
          </a:p>
          <a:p>
            <a:r>
              <a:rPr lang="en-US"/>
              <a:t>Parameter, Rule, </a:t>
            </a:r>
            <a:r>
              <a:rPr lang="en-US" dirty="0"/>
              <a:t>Output, Preprocessor, Action</a:t>
            </a:r>
            <a:r>
              <a:rPr lang="en-US"/>
              <a:t>, Variables (PROP AV)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Variable definitions </a:t>
            </a:r>
            <a:r>
              <a:rPr lang="en-GB" dirty="0"/>
              <a:t>– </a:t>
            </a:r>
            <a:r>
              <a:rPr lang="en-US" dirty="0"/>
              <a:t>where you define different variables.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>
                <a:solidFill>
                  <a:srgbClr val="FF0000"/>
                </a:solidFill>
              </a:rPr>
              <a:t>Configure parameters </a:t>
            </a:r>
            <a:r>
              <a:rPr lang="en-GB" dirty="0"/>
              <a:t>– </a:t>
            </a:r>
            <a:r>
              <a:rPr lang="en-US" dirty="0"/>
              <a:t> specify different Snort configuration options.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1E4808-F225-47EC-B2BE-9E2CCBB71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93EBE-B1BB-4B0E-ACBA-F93B2218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56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078462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E303D-F543-4DF2-B2C2-D0DD80DC3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The Snort Configuration File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2128C-015B-45AA-827E-036E8075F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 startAt="3"/>
            </a:pPr>
            <a:r>
              <a:rPr lang="en-US" b="1" dirty="0">
                <a:solidFill>
                  <a:srgbClr val="0070C0"/>
                </a:solidFill>
              </a:rPr>
              <a:t>Preprocessor configuration </a:t>
            </a:r>
            <a:r>
              <a:rPr lang="en-US" dirty="0"/>
              <a:t>– are used to perform certain actions before a packet is operated by the main Snort detection engine.</a:t>
            </a:r>
          </a:p>
          <a:p>
            <a:pPr marL="457200" indent="-457200">
              <a:buAutoNum type="arabicPeriod" startAt="3"/>
            </a:pPr>
            <a:r>
              <a:rPr lang="en-US" b="1" dirty="0">
                <a:solidFill>
                  <a:schemeClr val="bg1"/>
                </a:solidFill>
              </a:rPr>
              <a:t>Output module configuration </a:t>
            </a:r>
            <a:r>
              <a:rPr lang="en-US" dirty="0"/>
              <a:t>– control how Snort data will be logged.</a:t>
            </a:r>
          </a:p>
          <a:p>
            <a:pPr marL="457200" indent="-457200">
              <a:buAutoNum type="arabicPeriod" startAt="3"/>
            </a:pPr>
            <a:r>
              <a:rPr lang="en-US" b="1" dirty="0">
                <a:solidFill>
                  <a:schemeClr val="accent3"/>
                </a:solidFill>
              </a:rPr>
              <a:t>Defining new action types </a:t>
            </a:r>
          </a:p>
          <a:p>
            <a:pPr marL="457200" indent="-457200">
              <a:buAutoNum type="arabicPeriod" startAt="3"/>
            </a:pPr>
            <a:r>
              <a:rPr lang="en-US" b="1" dirty="0">
                <a:solidFill>
                  <a:srgbClr val="FFC000"/>
                </a:solidFill>
              </a:rPr>
              <a:t>Rules configuration and include files </a:t>
            </a:r>
            <a:r>
              <a:rPr lang="en-US" dirty="0"/>
              <a:t>– These files are then included inside the main configuration file using the </a:t>
            </a:r>
            <a:r>
              <a:rPr lang="en-US" b="1" dirty="0"/>
              <a:t>include</a:t>
            </a:r>
            <a:r>
              <a:rPr lang="en-US" dirty="0"/>
              <a:t> keyword.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37A880-66A3-4429-8D87-59409D1DE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9D02A2-55B1-461E-84E4-AE9933EAF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57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391846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FE4FA1-617B-471E-8214-63B8A50DCB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b="1" dirty="0"/>
              <a:t>Analysis Console for Intrusion Databases (ACID)</a:t>
            </a:r>
            <a:endParaRPr lang="LID4096" b="1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A70AC1D-31DA-4A13-91CD-191ACE9C02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Unit 5</a:t>
            </a:r>
            <a:endParaRPr lang="LID4096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9C4786-9D88-4D84-9D3C-74FDBD4F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29241-DA39-40C4-B1B1-1C34B2AE0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58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917040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A9512-911B-46AF-9EE0-25CBF8A93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NOTICE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E6F8B-6E65-4775-B50C-CFDDBBA23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slides will be added before Monday, for now study the lecture slides.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407824-51D1-48AA-8C59-3BF0C849F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8DEFD-48B2-4CEC-88BC-72AC51A6C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59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977656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B0AFC72-8D2F-4F06-8356-E04EC0C100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/>
              <a:t>Access Control</a:t>
            </a:r>
            <a:endParaRPr lang="LID4096" b="1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2D504D7-EE58-4B55-B474-5E740A74E9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Chapter Two</a:t>
            </a:r>
            <a:endParaRPr lang="LID4096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624459-DC83-42C3-9925-75EC54193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6D869-A9E3-46FA-872B-7B4B018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60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693833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B5DFD-A37B-4A7C-98C6-91020CC56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What Is Access Control?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897C7-E73F-4B18-8208-A0014570B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Granting or denying approval to use specific resources.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Identification </a:t>
            </a:r>
            <a:r>
              <a:rPr lang="en-GB" dirty="0"/>
              <a:t>– Presenting credentials.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Authentication </a:t>
            </a:r>
            <a:r>
              <a:rPr lang="en-GB" dirty="0"/>
              <a:t>– Checking the credentials.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Authorization</a:t>
            </a:r>
            <a:r>
              <a:rPr lang="en-GB" dirty="0"/>
              <a:t> – </a:t>
            </a:r>
            <a:r>
              <a:rPr lang="en-US" dirty="0"/>
              <a:t>Granting permission to take action.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Access</a:t>
            </a:r>
            <a:r>
              <a:rPr lang="en-US" dirty="0"/>
              <a:t> – Right given to access specific resources.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8F1552-A5E8-4565-8FB8-337808FAF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F87C8E-5D56-4674-8431-82DECCDB4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61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6639668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62A93-BE69-4E0C-B0EB-1080BF847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Access Control Terminology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8D516-DACD-439D-AE7F-EC02E40E7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5"/>
            </a:pPr>
            <a:r>
              <a:rPr lang="en-US" b="1" dirty="0"/>
              <a:t>Object</a:t>
            </a:r>
            <a:r>
              <a:rPr lang="en-US" dirty="0"/>
              <a:t> – Specific resource (e.g., file)</a:t>
            </a:r>
          </a:p>
          <a:p>
            <a:pPr marL="457200" indent="-457200">
              <a:buAutoNum type="arabicPeriod" startAt="5"/>
            </a:pPr>
            <a:r>
              <a:rPr lang="en-US" b="1" dirty="0"/>
              <a:t>Subject</a:t>
            </a:r>
            <a:r>
              <a:rPr lang="en-US" dirty="0"/>
              <a:t> – User or process functioning on behalf of a user (i.e., computer user)</a:t>
            </a:r>
          </a:p>
          <a:p>
            <a:pPr marL="457200" indent="-457200">
              <a:buAutoNum type="arabicPeriod" startAt="5"/>
            </a:pPr>
            <a:r>
              <a:rPr lang="en-US" b="1" dirty="0"/>
              <a:t>Operation</a:t>
            </a:r>
            <a:r>
              <a:rPr lang="en-US" dirty="0"/>
              <a:t> – Action taken by the subject over an object (e.g., deleting a file)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F34959-13BC-42CF-92C2-4654A916D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EE0B83-1CB2-47A4-8FC5-7E49EBBAA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62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1763218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27A5DF6-32D7-4F49-A9F8-8E8B34268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Access Control Terminology (Continues…)</a:t>
            </a:r>
            <a:endParaRPr lang="LID4096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4FA329C-F2D9-4F1A-8F9A-82FEBA34966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3" y="2407255"/>
            <a:ext cx="4878387" cy="3226178"/>
          </a:xfr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FDAF813-EFEA-4738-A3CD-377E420E8B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marL="457200" indent="-457200">
              <a:buAutoNum type="arabicPeriod" startAt="8"/>
            </a:pPr>
            <a:r>
              <a:rPr lang="en-US" b="1" dirty="0"/>
              <a:t>Owner</a:t>
            </a:r>
            <a:r>
              <a:rPr lang="en-US" dirty="0"/>
              <a:t> – Determines the level of security needed to the data.</a:t>
            </a:r>
          </a:p>
          <a:p>
            <a:pPr marL="457200" indent="-457200">
              <a:buAutoNum type="arabicPeriod" startAt="8"/>
            </a:pPr>
            <a:r>
              <a:rPr lang="en-US" b="1" dirty="0"/>
              <a:t>Custodian</a:t>
            </a:r>
            <a:r>
              <a:rPr lang="en-US" dirty="0"/>
              <a:t> – Assigned by the owner to review security settings.</a:t>
            </a:r>
          </a:p>
          <a:p>
            <a:pPr marL="457200" indent="-457200">
              <a:buAutoNum type="arabicPeriod" startAt="8"/>
            </a:pPr>
            <a:r>
              <a:rPr lang="en-US" dirty="0"/>
              <a:t> </a:t>
            </a:r>
            <a:r>
              <a:rPr lang="en-US" b="1" dirty="0"/>
              <a:t>End User </a:t>
            </a:r>
            <a:r>
              <a:rPr lang="en-US" dirty="0"/>
              <a:t>– Accesses the information and does not circumvent security based on the organizations guidelines.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539BF-CB99-4A16-8274-DAEB6C8C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6A1FA-6358-438E-830F-1A24B8E0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63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3514594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FDBD248-B1E5-44A8-BD0D-E5CA92050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Access Control Models</a:t>
            </a:r>
            <a:endParaRPr lang="LID4096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5F1B98B-091C-40E1-AC5D-D732EBD5BDB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Mandatory Access Control (MAC)</a:t>
            </a:r>
          </a:p>
          <a:p>
            <a:r>
              <a:rPr lang="en-US" dirty="0"/>
              <a:t>Most restrictive access control model.</a:t>
            </a:r>
          </a:p>
          <a:p>
            <a:r>
              <a:rPr lang="en-US" dirty="0"/>
              <a:t>Typically found in military settings.</a:t>
            </a:r>
          </a:p>
          <a:p>
            <a:r>
              <a:rPr lang="en-US" dirty="0"/>
              <a:t>It has two elements – 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Labels</a:t>
            </a:r>
            <a:r>
              <a:rPr lang="en-US" dirty="0"/>
              <a:t> – indicate level of privilege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Levels</a:t>
            </a:r>
            <a:endParaRPr lang="LID4096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8F8F4C-ACEF-4399-BAE3-547CE37B33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MAC grants permissions by matching object labels with subject labels.</a:t>
            </a:r>
          </a:p>
          <a:p>
            <a:r>
              <a:rPr lang="en-US" dirty="0"/>
              <a:t>To determine if file may be opened: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Compare object and subject labels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Subject must have equal or greater level than object to be granted access</a:t>
            </a:r>
            <a:endParaRPr lang="LID4096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E8D9E-E0C2-4F86-942F-B2EAEDC6F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ADC46-FD67-42FC-91DF-D47F5850F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64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6785627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0820A-8C70-42AD-9A0A-D0CB8A5CD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Access Control Models (Continues…)</a:t>
            </a:r>
            <a:endParaRPr lang="LID4096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F4D8352-FFB6-4992-BC80-43FE04FD2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major implementations of MAC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Lattice model </a:t>
            </a:r>
            <a:r>
              <a:rPr lang="en-GB" dirty="0"/>
              <a:t>– 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Bell-LaPadula</a:t>
            </a:r>
            <a:r>
              <a:rPr lang="en-GB" dirty="0"/>
              <a:t> – </a:t>
            </a:r>
            <a:r>
              <a:rPr lang="en-US" dirty="0"/>
              <a:t>Subjects may not create a new object or perform specific functions on lower level objects.</a:t>
            </a:r>
            <a:endParaRPr lang="LID4096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758FD-E778-44ED-ADFD-FCFB9193C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F5F93-5BA2-4ED1-801A-135241564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65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7363979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815D8-2F30-4732-BC2A-33A0A720F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Access Control Models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772DC-C7BE-4D49-9451-3B16C708C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2"/>
            </a:pPr>
            <a:r>
              <a:rPr lang="en-US" b="1" dirty="0"/>
              <a:t>Discretionary Access Control (DAC)</a:t>
            </a:r>
          </a:p>
          <a:p>
            <a:r>
              <a:rPr lang="en-US" dirty="0"/>
              <a:t>Least restrictive model.</a:t>
            </a:r>
          </a:p>
          <a:p>
            <a:r>
              <a:rPr lang="en-US" dirty="0"/>
              <a:t>Every object has an owner.</a:t>
            </a:r>
          </a:p>
          <a:p>
            <a:r>
              <a:rPr lang="en-US" dirty="0"/>
              <a:t>Owners have total control over their objects.</a:t>
            </a:r>
          </a:p>
          <a:p>
            <a:r>
              <a:rPr lang="en-US" dirty="0"/>
              <a:t>Owners can give permissions to other subjects over their objects.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A9CF33-F5E2-4250-A18E-045EB7598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79932A-7DE2-4F23-B8B3-A3C873808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66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4908556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2B8FE-22FA-40AA-9A67-BFC33638A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Access Control Models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94100-06F6-49F3-BFE5-F17B80C280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AutoNum type="arabicPeriod" startAt="3"/>
            </a:pPr>
            <a:r>
              <a:rPr lang="en-US" b="1" dirty="0"/>
              <a:t>Role Based Access Control (RBAC)</a:t>
            </a:r>
          </a:p>
          <a:p>
            <a:r>
              <a:rPr lang="en-US" dirty="0"/>
              <a:t>Also called </a:t>
            </a:r>
            <a:r>
              <a:rPr lang="en-US" b="1" dirty="0"/>
              <a:t>Non-discretionary Access Control</a:t>
            </a:r>
            <a:r>
              <a:rPr lang="en-US" dirty="0"/>
              <a:t>.</a:t>
            </a:r>
          </a:p>
          <a:p>
            <a:r>
              <a:rPr lang="en-US" dirty="0"/>
              <a:t>Access permissions are based on user’s job function.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A959C9-CE40-40C8-8E22-DBD27D4218F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AutoNum type="arabicPeriod" startAt="4"/>
            </a:pPr>
            <a:r>
              <a:rPr lang="en-US" b="1" dirty="0"/>
              <a:t>Rule Based Access Control (RBAC)</a:t>
            </a:r>
          </a:p>
          <a:p>
            <a:r>
              <a:rPr lang="en-US" dirty="0"/>
              <a:t>Dynamically assigns roles to subjects based on a set of rules defined by a custodian.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D21BBC-6563-4B07-A190-A493EBDDF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82CA5-AF86-43B2-BD1C-32820D4BB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67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8833072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FCC7EA2-B16E-4634-A5C2-2D57CFE4B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Best Practices for Access Control</a:t>
            </a:r>
            <a:endParaRPr lang="LID4096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E201952-CD28-4DCE-A3F1-72516C839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Separation of duties </a:t>
            </a:r>
            <a:r>
              <a:rPr lang="en-GB" dirty="0"/>
              <a:t>– </a:t>
            </a:r>
            <a:r>
              <a:rPr lang="en-US" dirty="0"/>
              <a:t>Fraud can result from single user being trusted with complete control of a process.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Job rotation </a:t>
            </a:r>
            <a:r>
              <a:rPr lang="en-US" dirty="0"/>
              <a:t>– Limits amount of time individuals are in a position to manipulate security configurations.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Least privilege </a:t>
            </a:r>
            <a:r>
              <a:rPr lang="en-GB" dirty="0"/>
              <a:t>– </a:t>
            </a:r>
            <a:r>
              <a:rPr lang="en-US" dirty="0"/>
              <a:t>Helps reduce attack surface by eliminating unnecessary privileges.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Implicit deny </a:t>
            </a:r>
            <a:r>
              <a:rPr lang="en-GB" dirty="0"/>
              <a:t>– </a:t>
            </a:r>
            <a:r>
              <a:rPr lang="en-US" dirty="0"/>
              <a:t>If a condition is not explicitly met, access request is rejected.</a:t>
            </a:r>
            <a:endParaRPr lang="LID4096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9DDB4-E9D1-48FA-9B00-CCC14F8A8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3CCC9-8E60-4BBB-BF6A-9F5F6BA8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68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3154253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FF77D-31DA-47E0-8DB6-394DBF710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Access Control Lists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DAF2F-ECA0-420F-8B5A-2E248AE38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of permissions attached to an object.</a:t>
            </a:r>
          </a:p>
          <a:p>
            <a:r>
              <a:rPr lang="en-US" dirty="0"/>
              <a:t>When subject requests to perform an operation, system checks ACL for an approved entry.</a:t>
            </a:r>
          </a:p>
          <a:p>
            <a:r>
              <a:rPr lang="en-US" dirty="0"/>
              <a:t>Each entry in the ACL table is called Access Control Entry (ACE).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904F20-769B-4CCA-987D-A9F8DCAAC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637E4-B57F-485B-80B8-116C6B3F2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69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8161175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ABCA3-4F0B-4D76-A351-1FE06233C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Authentication Services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864D4-CFC7-4BCE-984A-321C6732ED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Authentication</a:t>
            </a:r>
            <a:r>
              <a:rPr lang="en-GB" dirty="0"/>
              <a:t> is process of verifying credentials.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Remote Authentication Dial-In User Service (RADIUS)</a:t>
            </a:r>
          </a:p>
          <a:p>
            <a:r>
              <a:rPr lang="en-GB" dirty="0"/>
              <a:t>Developed in 1992</a:t>
            </a:r>
          </a:p>
          <a:p>
            <a:r>
              <a:rPr lang="en-GB" b="1" dirty="0"/>
              <a:t>RADIUS client </a:t>
            </a:r>
            <a:r>
              <a:rPr lang="en-GB" dirty="0"/>
              <a:t>are </a:t>
            </a:r>
            <a:r>
              <a:rPr lang="en-US" dirty="0"/>
              <a:t>devices such as a Wireless AP responsible for sending user credentials and connection parameters to the RADIUS server.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11651D2-04DB-436C-B906-6DCB26E082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7A6407-945D-4C69-B9CC-6050A1CC5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B0DEE-97BB-43D2-9714-D24959390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70</a:t>
            </a:fld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39EC44-BD56-4DCE-AABF-521ABE509C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698" y="2249485"/>
            <a:ext cx="5627930" cy="354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78243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795EE-A585-4B2F-A07C-DCB82C30C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53632"/>
            <a:ext cx="9905998" cy="1478570"/>
          </a:xfrm>
        </p:spPr>
        <p:txBody>
          <a:bodyPr/>
          <a:lstStyle/>
          <a:p>
            <a:pPr algn="ctr"/>
            <a:r>
              <a:rPr lang="en-US" b="1" dirty="0"/>
              <a:t>Terminal Access Controller Access </a:t>
            </a:r>
            <a:br>
              <a:rPr lang="en-US" b="1" dirty="0"/>
            </a:br>
            <a:r>
              <a:rPr lang="en-US" b="1" dirty="0"/>
              <a:t>Control System Plus (TACACS+)</a:t>
            </a:r>
            <a:endParaRPr lang="LID4096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3A78B75-7D15-4465-A89C-439C5E746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93077"/>
            <a:ext cx="9905999" cy="3541714"/>
          </a:xfrm>
        </p:spPr>
        <p:txBody>
          <a:bodyPr/>
          <a:lstStyle/>
          <a:p>
            <a:pPr marL="457200" indent="-457200">
              <a:buAutoNum type="arabicPeriod" startAt="2"/>
            </a:pPr>
            <a:r>
              <a:rPr lang="en-US" b="1" dirty="0"/>
              <a:t>Terminal Access Controller Access Control System Plus (TACACS+) </a:t>
            </a:r>
          </a:p>
          <a:p>
            <a:r>
              <a:rPr lang="en-US" dirty="0"/>
              <a:t>Is an authentication service similar to RADIUS which was developed by </a:t>
            </a:r>
            <a:r>
              <a:rPr lang="en-US" b="1" dirty="0"/>
              <a:t>Cisco</a:t>
            </a:r>
            <a:r>
              <a:rPr lang="en-US" dirty="0"/>
              <a:t> Systems.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10958-E718-48A9-AC74-45DC10539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2" y="6408486"/>
            <a:ext cx="6239309" cy="365125"/>
          </a:xfrm>
        </p:spPr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ECAF0-7BD0-40F2-B8C1-1184DB5D7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2929" y="6398111"/>
            <a:ext cx="771089" cy="365125"/>
          </a:xfrm>
        </p:spPr>
        <p:txBody>
          <a:bodyPr/>
          <a:lstStyle/>
          <a:p>
            <a:fld id="{B10C918F-28F9-499A-8F02-9326C5EC5173}" type="slidenum">
              <a:rPr lang="LID4096" smtClean="0"/>
              <a:t>71</a:t>
            </a:fld>
            <a:endParaRPr lang="LID4096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B065837F-B8AE-4DB4-80AB-A05CBE801E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42175"/>
              </p:ext>
            </p:extLst>
          </p:nvPr>
        </p:nvGraphicFramePr>
        <p:xfrm>
          <a:off x="1513526" y="3429000"/>
          <a:ext cx="10392528" cy="276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8853">
                  <a:extLst>
                    <a:ext uri="{9D8B030D-6E8A-4147-A177-3AD203B41FA5}">
                      <a16:colId xmlns:a16="http://schemas.microsoft.com/office/drawing/2014/main" val="1493307700"/>
                    </a:ext>
                  </a:extLst>
                </a:gridCol>
                <a:gridCol w="3855563">
                  <a:extLst>
                    <a:ext uri="{9D8B030D-6E8A-4147-A177-3AD203B41FA5}">
                      <a16:colId xmlns:a16="http://schemas.microsoft.com/office/drawing/2014/main" val="3062062113"/>
                    </a:ext>
                  </a:extLst>
                </a:gridCol>
                <a:gridCol w="3978112">
                  <a:extLst>
                    <a:ext uri="{9D8B030D-6E8A-4147-A177-3AD203B41FA5}">
                      <a16:colId xmlns:a16="http://schemas.microsoft.com/office/drawing/2014/main" val="4147293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RADIUS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TACACS+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204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Protocol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UDP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TCP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895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Transport Characteristics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Connectionless, faster but less reliable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Connection-oriented, more reliable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6704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Encryption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Encrypts the password in the packet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Encrypts the entire packet payload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021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Authentication &amp; Authorization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Combined Processes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Separate Processes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51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Typical use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Remote user network access authentication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Device administration (routers, switches)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716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694911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2458ADE-FE4B-4B3E-8887-292A49257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Authentication Services (Continues…)</a:t>
            </a: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094FE7-8EA3-4D2A-A35C-AE5D0073D6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  <a:p>
            <a:pPr marL="457200" indent="-457200">
              <a:buAutoNum type="arabicPeriod" startAt="3"/>
            </a:pPr>
            <a:r>
              <a:rPr lang="en-US" b="1" dirty="0"/>
              <a:t>Kerberos</a:t>
            </a:r>
          </a:p>
          <a:p>
            <a:r>
              <a:rPr lang="en-US" dirty="0"/>
              <a:t>Authentication system developed at MIT.</a:t>
            </a:r>
          </a:p>
          <a:p>
            <a:r>
              <a:rPr lang="en-US" dirty="0"/>
              <a:t>Uses </a:t>
            </a:r>
            <a:r>
              <a:rPr lang="en-US" b="1" dirty="0"/>
              <a:t>encryption</a:t>
            </a:r>
            <a:r>
              <a:rPr lang="en-US" dirty="0"/>
              <a:t> and </a:t>
            </a:r>
            <a:r>
              <a:rPr lang="en-US" b="1" dirty="0"/>
              <a:t>authentication</a:t>
            </a:r>
            <a:r>
              <a:rPr lang="en-US" dirty="0"/>
              <a:t> for security.</a:t>
            </a:r>
          </a:p>
          <a:p>
            <a:r>
              <a:rPr lang="en-US" b="1" dirty="0"/>
              <a:t>Kerberos</a:t>
            </a:r>
            <a:r>
              <a:rPr lang="en-US" dirty="0"/>
              <a:t> is a protocol for authenticating service requests between trusted hosts across an untrusted network, such as the internet. 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A3595D1-BA06-4C21-AE63-92E87E8BFA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732388"/>
            <a:ext cx="5789160" cy="305881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F73E3-FC50-499A-B5DF-97327500A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1B3A5-DAFA-451E-B5F0-4B3442683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72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7860662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2350CD7-406C-4612-94CA-3CC2FE72C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Authentication Services (Continues…)</a:t>
            </a: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59527FC-AD75-4D47-A58C-232F5746E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4"/>
            </a:pPr>
            <a:r>
              <a:rPr lang="en-US" b="1" dirty="0"/>
              <a:t>Lightweight Directory Access Protocol (LDAP)</a:t>
            </a:r>
          </a:p>
          <a:p>
            <a:r>
              <a:rPr lang="en-US" dirty="0"/>
              <a:t>Keeps track of network resources and user’s privileges to those resources.</a:t>
            </a:r>
          </a:p>
          <a:p>
            <a:r>
              <a:rPr lang="en-US" b="1" dirty="0"/>
              <a:t>LDAP</a:t>
            </a:r>
            <a:r>
              <a:rPr lang="en-US" dirty="0"/>
              <a:t> is a simpler subset of DAP which was designed to run over TCP/IP.</a:t>
            </a:r>
          </a:p>
          <a:p>
            <a:r>
              <a:rPr lang="en-US" dirty="0"/>
              <a:t>Grants or denies access based on its information.</a:t>
            </a:r>
          </a:p>
          <a:p>
            <a:r>
              <a:rPr lang="en-US" b="1" dirty="0"/>
              <a:t>X.500 </a:t>
            </a:r>
            <a:r>
              <a:rPr lang="en-US" dirty="0"/>
              <a:t>standard defines protocol for client application to access the DAP.</a:t>
            </a:r>
          </a:p>
          <a:p>
            <a:r>
              <a:rPr lang="en-US" b="1" dirty="0"/>
              <a:t>Weakness of LDAP </a:t>
            </a:r>
            <a:r>
              <a:rPr lang="en-US" dirty="0"/>
              <a:t>can be subject to </a:t>
            </a:r>
            <a:r>
              <a:rPr lang="en-US" b="1" dirty="0"/>
              <a:t>LDAP injection attacks</a:t>
            </a:r>
            <a:r>
              <a:rPr lang="en-US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84349-7F97-4264-BB71-1784226E5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Mr. Walubita N. © 2025 Kapasa Makasa University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3701F-5220-4DAD-BB45-40650F8BB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C918F-28F9-499A-8F02-9326C5EC5173}" type="slidenum">
              <a:rPr lang="LID4096" smtClean="0"/>
              <a:t>73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503773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4138</TotalTime>
  <Words>4963</Words>
  <Application>Microsoft Office PowerPoint</Application>
  <PresentationFormat>Widescreen</PresentationFormat>
  <Paragraphs>516</Paragraphs>
  <Slides>73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8" baseType="lpstr">
      <vt:lpstr>Arial</vt:lpstr>
      <vt:lpstr>Calibri</vt:lpstr>
      <vt:lpstr>Tw Cen MT</vt:lpstr>
      <vt:lpstr>Wingdings</vt:lpstr>
      <vt:lpstr>Circuit</vt:lpstr>
      <vt:lpstr>Access Control &amp; Intrusion Detection </vt:lpstr>
      <vt:lpstr>Intrusion Detection &amp; Prevention systems </vt:lpstr>
      <vt:lpstr>INTRUSION DETECTION SYSTEMS</vt:lpstr>
      <vt:lpstr>HISTRORY OF INTRUSION DETECTION SYSTEMS</vt:lpstr>
      <vt:lpstr>Intrusion Detection Overview</vt:lpstr>
      <vt:lpstr>Detection techniques</vt:lpstr>
      <vt:lpstr>Detection techniques (Continues…)</vt:lpstr>
      <vt:lpstr>Detection techniques (Continues…)</vt:lpstr>
      <vt:lpstr>Detection techniques (Continues…)</vt:lpstr>
      <vt:lpstr>Top Intrusion Detection System Tools</vt:lpstr>
      <vt:lpstr>Top Intrusion Detection System Tools (Continues…)</vt:lpstr>
      <vt:lpstr>Top Intrusion Detection System Tools (Continues…)</vt:lpstr>
      <vt:lpstr>Response: After the intrusion</vt:lpstr>
      <vt:lpstr>Type of Threats </vt:lpstr>
      <vt:lpstr>Type of Threats (Continues…)</vt:lpstr>
      <vt:lpstr>Need of Intrusion Detection Systems (IDS)</vt:lpstr>
      <vt:lpstr>types of Intrusion Detection Systems</vt:lpstr>
      <vt:lpstr>types of Intrusion Detection Systems (Continues…)</vt:lpstr>
      <vt:lpstr>types of Intrusion Detection Systems (Continues…)</vt:lpstr>
      <vt:lpstr>types of Intrusion Detection Systems (Continues…)</vt:lpstr>
      <vt:lpstr>types of Intrusion Detection Systems (Continues…)</vt:lpstr>
      <vt:lpstr>types of Intrusion Detection Systems (Continues…)</vt:lpstr>
      <vt:lpstr>types of Intrusion Detection Systems (Continues…)</vt:lpstr>
      <vt:lpstr>Intrusion Prevention Systems (IPS)</vt:lpstr>
      <vt:lpstr>Intrusion Prevention Systems</vt:lpstr>
      <vt:lpstr>How Do Intrusion Prevention Systems Work?</vt:lpstr>
      <vt:lpstr>HOW DO INTRUSION PREVENTION SYSTEMS DETECT MALICIOUS ACTIVITY?</vt:lpstr>
      <vt:lpstr>HOW DO INTRUSION PREVENTION SYSTEMS DETECT MALICIOUS ACTIVITY? (Continues…)</vt:lpstr>
      <vt:lpstr>Types of Prevention</vt:lpstr>
      <vt:lpstr>Types of INTRUSION PREVENTION SYSTEM (IPS)</vt:lpstr>
      <vt:lpstr>Anatomy of Intrusion Analysis</vt:lpstr>
      <vt:lpstr>What is a vulnerability assessment?</vt:lpstr>
      <vt:lpstr>Types of vulnerability assessments</vt:lpstr>
      <vt:lpstr>Credential analysis non credential analysis</vt:lpstr>
      <vt:lpstr>Snort </vt:lpstr>
      <vt:lpstr>Introduction to Snort</vt:lpstr>
      <vt:lpstr>Snort Features </vt:lpstr>
      <vt:lpstr>Setting Up Your Home Network </vt:lpstr>
      <vt:lpstr>Setting Up Your Home Network (Continues…)</vt:lpstr>
      <vt:lpstr>Packet Sniffing Mode Configurations </vt:lpstr>
      <vt:lpstr>Snort Command Line Options</vt:lpstr>
      <vt:lpstr>Snort Command Line Options (Continues…)</vt:lpstr>
      <vt:lpstr>Snort Command Line Options (Continues…)</vt:lpstr>
      <vt:lpstr>Snort Alert Modes</vt:lpstr>
      <vt:lpstr>Snort Alert Modes &amp; Snort Command Line Options (Continues…)</vt:lpstr>
      <vt:lpstr>Snort Alert Modes (Continues…)</vt:lpstr>
      <vt:lpstr>Snort Alert Modes (Continues…)</vt:lpstr>
      <vt:lpstr>Snort Rules</vt:lpstr>
      <vt:lpstr>Working with Snort Rules</vt:lpstr>
      <vt:lpstr>Rule Header</vt:lpstr>
      <vt:lpstr>Rule Header (Continues…)</vt:lpstr>
      <vt:lpstr>Working with Snort Rules (Continues…)</vt:lpstr>
      <vt:lpstr>Snort Rules Examples and Cheat sheet</vt:lpstr>
      <vt:lpstr>Configuring Local Rules</vt:lpstr>
      <vt:lpstr>Snort Command Line Options (Continues…)</vt:lpstr>
      <vt:lpstr>The Snort Configuration File</vt:lpstr>
      <vt:lpstr>The Snort Configuration File (Continues…)</vt:lpstr>
      <vt:lpstr>Analysis Console for Intrusion Databases (ACID)</vt:lpstr>
      <vt:lpstr>NOTICE </vt:lpstr>
      <vt:lpstr>Access Control</vt:lpstr>
      <vt:lpstr>What Is Access Control?</vt:lpstr>
      <vt:lpstr>Access Control Terminology</vt:lpstr>
      <vt:lpstr>Access Control Terminology (Continues…)</vt:lpstr>
      <vt:lpstr>Access Control Models</vt:lpstr>
      <vt:lpstr>Access Control Models (Continues…)</vt:lpstr>
      <vt:lpstr>Access Control Models (Continues…)</vt:lpstr>
      <vt:lpstr>Access Control Models (Continues…)</vt:lpstr>
      <vt:lpstr>Best Practices for Access Control</vt:lpstr>
      <vt:lpstr>Access Control Lists</vt:lpstr>
      <vt:lpstr>Authentication Services</vt:lpstr>
      <vt:lpstr>Terminal Access Controller Access  Control System Plus (TACACS+)</vt:lpstr>
      <vt:lpstr>Authentication Services (Continues…)</vt:lpstr>
      <vt:lpstr>Authentication Services (Continues…)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 Control &amp; Intrusion Detection ()</dc:title>
  <dc:creator>James Soko</dc:creator>
  <cp:lastModifiedBy>James Soko</cp:lastModifiedBy>
  <cp:revision>345</cp:revision>
  <dcterms:created xsi:type="dcterms:W3CDTF">2025-08-04T07:37:46Z</dcterms:created>
  <dcterms:modified xsi:type="dcterms:W3CDTF">2025-11-16T17:12:09Z</dcterms:modified>
</cp:coreProperties>
</file>