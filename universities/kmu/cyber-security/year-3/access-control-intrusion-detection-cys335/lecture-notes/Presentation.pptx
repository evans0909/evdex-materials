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65" r:id="rId5"/>
    <p:sldId id="268" r:id="rId6"/>
    <p:sldId id="259" r:id="rId7"/>
    <p:sldId id="261" r:id="rId8"/>
    <p:sldId id="260" r:id="rId9"/>
    <p:sldId id="262" r:id="rId10"/>
    <p:sldId id="266" r:id="rId11"/>
    <p:sldId id="264" r:id="rId12"/>
    <p:sldId id="267"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79" d="100"/>
          <a:sy n="79" d="100"/>
        </p:scale>
        <p:origin x="86" y="17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2/3/2026</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extLst>
              <a:ext uri="{BEBA8EAE-BF5A-486C-A8C5-ECC9F3942E4B}">
                <a14:imgProps xmlns:a14="http://schemas.microsoft.com/office/drawing/2010/main">
                  <a14:imgLayer r:embed="rId14">
                    <a14:imgEffect>
                      <a14:sharpenSoften amount="-100000"/>
                    </a14:imgEffect>
                  </a14:imgLayer>
                </a14:imgProps>
              </a:ext>
            </a:extLst>
          </a:blip>
          <a:srcRect/>
          <a:stretch>
            <a:fillRect t="-7000" b="-7000"/>
          </a:stretch>
        </a:blipFill>
        <a:effectLst/>
      </p:bgPr>
    </p:bg>
    <p:spTree>
      <p:nvGrpSpPr>
        <p:cNvPr id="1" name=""/>
        <p:cNvGrpSpPr/>
        <p:nvPr/>
      </p:nvGrpSpPr>
      <p:grpSpPr>
        <a:xfrm>
          <a:off x="0" y="0"/>
          <a:ext cx="0" cy="0"/>
          <a:chOff x="0" y="0"/>
          <a:chExt cx="0" cy="0"/>
        </a:xfrm>
      </p:grpSpPr>
      <p:pic>
        <p:nvPicPr>
          <p:cNvPr id="1026" name="Picture 2"/>
          <p:cNvPicPr>
            <a:picLocks noChangeAspect="1"/>
          </p:cNvPicPr>
          <p:nvPr/>
        </p:nvPicPr>
        <p:blipFill>
          <a:blip r:embed="rId15"/>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2/3/2026</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23030" y="2085603"/>
            <a:ext cx="9563759" cy="2686793"/>
          </a:xfrm>
        </p:spPr>
        <p:txBody>
          <a:bodyPr>
            <a:noAutofit/>
          </a:bodyPr>
          <a:lstStyle/>
          <a:p>
            <a:r>
              <a:rPr lang="en-US" altLang="en-GB" sz="6000" b="1" dirty="0">
                <a:latin typeface="Cambria" panose="02040503050406030204" pitchFamily="18" charset="0"/>
                <a:ea typeface="Cambria" panose="02040503050406030204" pitchFamily="18" charset="0"/>
                <a:cs typeface="Lucida Console" panose="020B0609040504020204" charset="0"/>
              </a:rPr>
              <a:t>ACCESS CONTROL AND INTRUSION DETECTION</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custDataLst>
              <p:tags r:id="rId1"/>
            </p:custDataLst>
            <p:extLst>
              <p:ext uri="{D42A27DB-BD31-4B8C-83A1-F6EECF244321}">
                <p14:modId xmlns:p14="http://schemas.microsoft.com/office/powerpoint/2010/main" val="3884722516"/>
              </p:ext>
            </p:extLst>
          </p:nvPr>
        </p:nvGraphicFramePr>
        <p:xfrm>
          <a:off x="827744" y="307213"/>
          <a:ext cx="5479522" cy="5665384"/>
        </p:xfrm>
        <a:graphic>
          <a:graphicData uri="http://schemas.openxmlformats.org/drawingml/2006/table">
            <a:tbl>
              <a:tblPr firstRow="1" bandRow="1">
                <a:tableStyleId>{5C22544A-7EE6-4342-B048-85BDC9FD1C3A}</a:tableStyleId>
              </a:tblPr>
              <a:tblGrid>
                <a:gridCol w="2810214">
                  <a:extLst>
                    <a:ext uri="{9D8B030D-6E8A-4147-A177-3AD203B41FA5}">
                      <a16:colId xmlns:a16="http://schemas.microsoft.com/office/drawing/2014/main" val="20000"/>
                    </a:ext>
                  </a:extLst>
                </a:gridCol>
                <a:gridCol w="2669308">
                  <a:extLst>
                    <a:ext uri="{9D8B030D-6E8A-4147-A177-3AD203B41FA5}">
                      <a16:colId xmlns:a16="http://schemas.microsoft.com/office/drawing/2014/main" val="20001"/>
                    </a:ext>
                  </a:extLst>
                </a:gridCol>
              </a:tblGrid>
              <a:tr h="0">
                <a:tc>
                  <a:txBody>
                    <a:bodyPr/>
                    <a:lstStyle/>
                    <a:p>
                      <a:pPr>
                        <a:buNone/>
                      </a:pPr>
                      <a:r>
                        <a:rPr lang="en-GB" altLang="en-US" sz="2000" dirty="0">
                          <a:latin typeface="Cambria" panose="02040503050406030204" pitchFamily="18" charset="0"/>
                          <a:ea typeface="Cambria" panose="02040503050406030204" pitchFamily="18" charset="0"/>
                          <a:cs typeface="Lucida Console" panose="020B0609040504020204" charset="0"/>
                        </a:rPr>
                        <a:t>NAME</a:t>
                      </a:r>
                    </a:p>
                  </a:txBody>
                  <a:tcPr/>
                </a:tc>
                <a:tc>
                  <a:txBody>
                    <a:bodyPr/>
                    <a:lstStyle/>
                    <a:p>
                      <a:pPr>
                        <a:buNone/>
                      </a:pPr>
                      <a:r>
                        <a:rPr lang="en-GB" altLang="en-US" sz="2000" dirty="0">
                          <a:latin typeface="Cambria" panose="02040503050406030204" pitchFamily="18" charset="0"/>
                          <a:ea typeface="Cambria" panose="02040503050406030204" pitchFamily="18" charset="0"/>
                          <a:cs typeface="Lucida Console" panose="020B0609040504020204" charset="0"/>
                        </a:rPr>
                        <a:t>STUDENT NUMBER</a:t>
                      </a:r>
                    </a:p>
                  </a:txBody>
                  <a:tcPr/>
                </a:tc>
                <a:extLst>
                  <a:ext uri="{0D108BD9-81ED-4DB2-BD59-A6C34878D82A}">
                    <a16:rowId xmlns:a16="http://schemas.microsoft.com/office/drawing/2014/main" val="10000"/>
                  </a:ext>
                </a:extLst>
              </a:tr>
              <a:tr h="399108">
                <a:tc>
                  <a:txBody>
                    <a:bodyPr/>
                    <a:lstStyle/>
                    <a:p>
                      <a:pPr>
                        <a:buNone/>
                      </a:pPr>
                      <a:r>
                        <a:rPr lang="en-US" altLang="en-GB" sz="2000">
                          <a:latin typeface="Cambria" panose="02040503050406030204" pitchFamily="18" charset="0"/>
                          <a:ea typeface="Cambria" panose="02040503050406030204" pitchFamily="18" charset="0"/>
                          <a:cs typeface="Lucida Console" panose="020B0609040504020204" charset="0"/>
                        </a:rPr>
                        <a:t>MWILA KAPAYA</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20241367</a:t>
                      </a:r>
                    </a:p>
                  </a:txBody>
                  <a:tcPr/>
                </a:tc>
                <a:extLst>
                  <a:ext uri="{0D108BD9-81ED-4DB2-BD59-A6C34878D82A}">
                    <a16:rowId xmlns:a16="http://schemas.microsoft.com/office/drawing/2014/main" val="10001"/>
                  </a:ext>
                </a:extLst>
              </a:tr>
              <a:tr h="399108">
                <a:tc>
                  <a:txBody>
                    <a:bodyPr/>
                    <a:lstStyle/>
                    <a:p>
                      <a:pPr>
                        <a:buNone/>
                      </a:pPr>
                      <a:r>
                        <a:rPr lang="en-US" altLang="en-GB" sz="2000">
                          <a:latin typeface="Cambria" panose="02040503050406030204" pitchFamily="18" charset="0"/>
                          <a:ea typeface="Cambria" panose="02040503050406030204" pitchFamily="18" charset="0"/>
                          <a:cs typeface="Lucida Console" panose="020B0609040504020204" charset="0"/>
                        </a:rPr>
                        <a:t>RODNEY</a:t>
                      </a:r>
                      <a:r>
                        <a:rPr lang="en-GB" altLang="en-US" sz="2000">
                          <a:latin typeface="Cambria" panose="02040503050406030204" pitchFamily="18" charset="0"/>
                          <a:ea typeface="Cambria" panose="02040503050406030204" pitchFamily="18" charset="0"/>
                          <a:cs typeface="Lucida Console" panose="020B0609040504020204" charset="0"/>
                        </a:rPr>
                        <a:t> </a:t>
                      </a:r>
                      <a:r>
                        <a:rPr lang="en-US" altLang="en-GB" sz="2000">
                          <a:latin typeface="Cambria" panose="02040503050406030204" pitchFamily="18" charset="0"/>
                          <a:ea typeface="Cambria" panose="02040503050406030204" pitchFamily="18" charset="0"/>
                          <a:cs typeface="Lucida Console" panose="020B0609040504020204" charset="0"/>
                        </a:rPr>
                        <a:t>CHANDA</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20241141</a:t>
                      </a:r>
                    </a:p>
                  </a:txBody>
                  <a:tcPr/>
                </a:tc>
                <a:extLst>
                  <a:ext uri="{0D108BD9-81ED-4DB2-BD59-A6C34878D82A}">
                    <a16:rowId xmlns:a16="http://schemas.microsoft.com/office/drawing/2014/main" val="10002"/>
                  </a:ext>
                </a:extLst>
              </a:tr>
              <a:tr h="399108">
                <a:tc>
                  <a:txBody>
                    <a:bodyPr/>
                    <a:lstStyle/>
                    <a:p>
                      <a:pPr>
                        <a:buNone/>
                      </a:pPr>
                      <a:r>
                        <a:rPr lang="en-US" altLang="en-GB" sz="2000" dirty="0">
                          <a:latin typeface="Cambria" panose="02040503050406030204" pitchFamily="18" charset="0"/>
                          <a:ea typeface="Cambria" panose="02040503050406030204" pitchFamily="18" charset="0"/>
                          <a:cs typeface="Lucida Console" panose="020B0609040504020204" charset="0"/>
                        </a:rPr>
                        <a:t>DALITSO JERE</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20241482</a:t>
                      </a:r>
                    </a:p>
                  </a:txBody>
                  <a:tcPr/>
                </a:tc>
                <a:extLst>
                  <a:ext uri="{0D108BD9-81ED-4DB2-BD59-A6C34878D82A}">
                    <a16:rowId xmlns:a16="http://schemas.microsoft.com/office/drawing/2014/main" val="10003"/>
                  </a:ext>
                </a:extLst>
              </a:tr>
              <a:tr h="399108">
                <a:tc>
                  <a:txBody>
                    <a:bodyPr/>
                    <a:lstStyle/>
                    <a:p>
                      <a:pPr>
                        <a:buNone/>
                      </a:pPr>
                      <a:r>
                        <a:rPr lang="en-US" altLang="en-GB" sz="2000">
                          <a:latin typeface="Cambria" panose="02040503050406030204" pitchFamily="18" charset="0"/>
                          <a:ea typeface="Cambria" panose="02040503050406030204" pitchFamily="18" charset="0"/>
                          <a:cs typeface="Lucida Console" panose="020B0609040504020204" charset="0"/>
                        </a:rPr>
                        <a:t>KINGPIN KANGWA</a:t>
                      </a:r>
                    </a:p>
                  </a:txBody>
                  <a:tcPr/>
                </a:tc>
                <a:tc>
                  <a:txBody>
                    <a:bodyPr/>
                    <a:lstStyle/>
                    <a:p>
                      <a:pPr>
                        <a:buNone/>
                      </a:pPr>
                      <a:r>
                        <a:rPr lang="en-GB" altLang="en-US" sz="2000" dirty="0">
                          <a:latin typeface="Cambria" panose="02040503050406030204" pitchFamily="18" charset="0"/>
                          <a:ea typeface="Cambria" panose="02040503050406030204" pitchFamily="18" charset="0"/>
                          <a:cs typeface="Lucida Console" panose="020B0609040504020204" charset="0"/>
                        </a:rPr>
                        <a:t>20241740</a:t>
                      </a:r>
                    </a:p>
                  </a:txBody>
                  <a:tcPr/>
                </a:tc>
                <a:extLst>
                  <a:ext uri="{0D108BD9-81ED-4DB2-BD59-A6C34878D82A}">
                    <a16:rowId xmlns:a16="http://schemas.microsoft.com/office/drawing/2014/main" val="10004"/>
                  </a:ext>
                </a:extLst>
              </a:tr>
              <a:tr h="399108">
                <a:tc>
                  <a:txBody>
                    <a:bodyPr/>
                    <a:lstStyle/>
                    <a:p>
                      <a:pPr>
                        <a:buNone/>
                      </a:pPr>
                      <a:r>
                        <a:rPr lang="en-US" altLang="en-GB" sz="2000">
                          <a:latin typeface="Cambria" panose="02040503050406030204" pitchFamily="18" charset="0"/>
                          <a:ea typeface="Cambria" panose="02040503050406030204" pitchFamily="18" charset="0"/>
                          <a:cs typeface="Lucida Console" panose="020B0609040504020204" charset="0"/>
                        </a:rPr>
                        <a:t>FLORENCE MWANJE</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20241410</a:t>
                      </a:r>
                    </a:p>
                  </a:txBody>
                  <a:tcPr/>
                </a:tc>
                <a:extLst>
                  <a:ext uri="{0D108BD9-81ED-4DB2-BD59-A6C34878D82A}">
                    <a16:rowId xmlns:a16="http://schemas.microsoft.com/office/drawing/2014/main" val="10005"/>
                  </a:ext>
                </a:extLst>
              </a:tr>
              <a:tr h="399108">
                <a:tc>
                  <a:txBody>
                    <a:bodyPr/>
                    <a:lstStyle/>
                    <a:p>
                      <a:pPr>
                        <a:buNone/>
                      </a:pPr>
                      <a:r>
                        <a:rPr lang="en-US" altLang="en-GB" sz="2000">
                          <a:latin typeface="Cambria" panose="02040503050406030204" pitchFamily="18" charset="0"/>
                          <a:ea typeface="Cambria" panose="02040503050406030204" pitchFamily="18" charset="0"/>
                          <a:cs typeface="Lucida Console" panose="020B0609040504020204" charset="0"/>
                        </a:rPr>
                        <a:t>AARON NYAKAPANDA</a:t>
                      </a:r>
                    </a:p>
                  </a:txBody>
                  <a:tcPr/>
                </a:tc>
                <a:tc>
                  <a:txBody>
                    <a:bodyPr/>
                    <a:lstStyle/>
                    <a:p>
                      <a:pPr>
                        <a:buNone/>
                      </a:pPr>
                      <a:r>
                        <a:rPr lang="en-GB" altLang="en-US" sz="2000" dirty="0">
                          <a:latin typeface="Cambria" panose="02040503050406030204" pitchFamily="18" charset="0"/>
                          <a:ea typeface="Cambria" panose="02040503050406030204" pitchFamily="18" charset="0"/>
                          <a:cs typeface="Lucida Console" panose="020B0609040504020204" charset="0"/>
                        </a:rPr>
                        <a:t>20241442</a:t>
                      </a:r>
                    </a:p>
                  </a:txBody>
                  <a:tcPr/>
                </a:tc>
                <a:extLst>
                  <a:ext uri="{0D108BD9-81ED-4DB2-BD59-A6C34878D82A}">
                    <a16:rowId xmlns:a16="http://schemas.microsoft.com/office/drawing/2014/main" val="10006"/>
                  </a:ext>
                </a:extLst>
              </a:tr>
              <a:tr h="399108">
                <a:tc>
                  <a:txBody>
                    <a:bodyPr/>
                    <a:lstStyle/>
                    <a:p>
                      <a:pPr>
                        <a:buNone/>
                      </a:pPr>
                      <a:r>
                        <a:rPr lang="en-US" altLang="en-GB" sz="2000">
                          <a:latin typeface="Cambria" panose="02040503050406030204" pitchFamily="18" charset="0"/>
                          <a:ea typeface="Cambria" panose="02040503050406030204" pitchFamily="18" charset="0"/>
                          <a:cs typeface="Lucida Console" panose="020B0609040504020204" charset="0"/>
                        </a:rPr>
                        <a:t>MAVIKA JULIUS</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20241809</a:t>
                      </a:r>
                    </a:p>
                  </a:txBody>
                  <a:tcPr/>
                </a:tc>
                <a:extLst>
                  <a:ext uri="{0D108BD9-81ED-4DB2-BD59-A6C34878D82A}">
                    <a16:rowId xmlns:a16="http://schemas.microsoft.com/office/drawing/2014/main" val="10007"/>
                  </a:ext>
                </a:extLst>
              </a:tr>
              <a:tr h="399108">
                <a:tc>
                  <a:txBody>
                    <a:bodyPr/>
                    <a:lstStyle/>
                    <a:p>
                      <a:pPr>
                        <a:buNone/>
                      </a:pPr>
                      <a:r>
                        <a:rPr lang="en-US" altLang="en-GB" sz="2000">
                          <a:latin typeface="Cambria" panose="02040503050406030204" pitchFamily="18" charset="0"/>
                          <a:ea typeface="Cambria" panose="02040503050406030204" pitchFamily="18" charset="0"/>
                          <a:cs typeface="Lucida Console" panose="020B0609040504020204" charset="0"/>
                        </a:rPr>
                        <a:t>CHINYANTA GLADYS </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20241468</a:t>
                      </a:r>
                    </a:p>
                  </a:txBody>
                  <a:tcPr/>
                </a:tc>
                <a:extLst>
                  <a:ext uri="{0D108BD9-81ED-4DB2-BD59-A6C34878D82A}">
                    <a16:rowId xmlns:a16="http://schemas.microsoft.com/office/drawing/2014/main" val="10008"/>
                  </a:ext>
                </a:extLst>
              </a:tr>
              <a:tr h="479848">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BLESSING CHAMBESHI</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20241128</a:t>
                      </a:r>
                    </a:p>
                  </a:txBody>
                  <a:tcPr/>
                </a:tc>
                <a:extLst>
                  <a:ext uri="{0D108BD9-81ED-4DB2-BD59-A6C34878D82A}">
                    <a16:rowId xmlns:a16="http://schemas.microsoft.com/office/drawing/2014/main" val="10009"/>
                  </a:ext>
                </a:extLst>
              </a:tr>
              <a:tr h="399108">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NSEKO MUTALE</a:t>
                      </a:r>
                    </a:p>
                  </a:txBody>
                  <a:tcPr/>
                </a:tc>
                <a:tc>
                  <a:txBody>
                    <a:bodyPr/>
                    <a:lstStyle/>
                    <a:p>
                      <a:pPr>
                        <a:buNone/>
                      </a:pPr>
                      <a:r>
                        <a:rPr lang="en-GB" altLang="en-US" sz="2000" dirty="0">
                          <a:latin typeface="Cambria" panose="02040503050406030204" pitchFamily="18" charset="0"/>
                          <a:ea typeface="Cambria" panose="02040503050406030204" pitchFamily="18" charset="0"/>
                          <a:cs typeface="Lucida Console" panose="020B0609040504020204" charset="0"/>
                        </a:rPr>
                        <a:t>20232028</a:t>
                      </a:r>
                    </a:p>
                  </a:txBody>
                  <a:tcPr/>
                </a:tc>
                <a:extLst>
                  <a:ext uri="{0D108BD9-81ED-4DB2-BD59-A6C34878D82A}">
                    <a16:rowId xmlns:a16="http://schemas.microsoft.com/office/drawing/2014/main" val="10010"/>
                  </a:ext>
                </a:extLst>
              </a:tr>
              <a:tr h="399108">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JOY NG’AMBI</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a:t>
                      </a:r>
                      <a:r>
                        <a:rPr lang="en-US" altLang="en-US" sz="2000">
                          <a:latin typeface="Cambria" panose="02040503050406030204" pitchFamily="18" charset="0"/>
                          <a:ea typeface="Cambria" panose="02040503050406030204" pitchFamily="18" charset="0"/>
                          <a:cs typeface="Lucida Console" panose="020B0609040504020204" charset="0"/>
                        </a:rPr>
                        <a:t>3524</a:t>
                      </a:r>
                      <a:endParaRPr lang="en-GB" altLang="en-US" sz="2000">
                        <a:latin typeface="Cambria" panose="02040503050406030204" pitchFamily="18" charset="0"/>
                        <a:ea typeface="Cambria" panose="02040503050406030204" pitchFamily="18" charset="0"/>
                        <a:cs typeface="Lucida Console" panose="020B0609040504020204" charset="0"/>
                      </a:endParaRPr>
                    </a:p>
                  </a:txBody>
                  <a:tcPr/>
                </a:tc>
                <a:extLst>
                  <a:ext uri="{0D108BD9-81ED-4DB2-BD59-A6C34878D82A}">
                    <a16:rowId xmlns:a16="http://schemas.microsoft.com/office/drawing/2014/main" val="10011"/>
                  </a:ext>
                </a:extLst>
              </a:tr>
              <a:tr h="399108">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INAMBAO AKUFUNA</a:t>
                      </a:r>
                    </a:p>
                  </a:txBody>
                  <a:tcPr/>
                </a:tc>
                <a:tc>
                  <a:txBody>
                    <a:bodyPr/>
                    <a:lstStyle/>
                    <a:p>
                      <a:pPr>
                        <a:buNone/>
                      </a:pPr>
                      <a:r>
                        <a:rPr lang="en-GB" altLang="en-US" sz="2000">
                          <a:latin typeface="Cambria" panose="02040503050406030204" pitchFamily="18" charset="0"/>
                          <a:ea typeface="Cambria" panose="02040503050406030204" pitchFamily="18" charset="0"/>
                          <a:cs typeface="Lucida Console" panose="020B0609040504020204" charset="0"/>
                        </a:rPr>
                        <a:t>20241819</a:t>
                      </a:r>
                    </a:p>
                  </a:txBody>
                  <a:tcPr/>
                </a:tc>
                <a:extLst>
                  <a:ext uri="{0D108BD9-81ED-4DB2-BD59-A6C34878D82A}">
                    <a16:rowId xmlns:a16="http://schemas.microsoft.com/office/drawing/2014/main" val="10012"/>
                  </a:ext>
                </a:extLst>
              </a:tr>
              <a:tr h="399108">
                <a:tc>
                  <a:txBody>
                    <a:bodyPr/>
                    <a:lstStyle/>
                    <a:p>
                      <a:pPr>
                        <a:buNone/>
                      </a:pPr>
                      <a:r>
                        <a:rPr lang="en-US" altLang="en-US" sz="2000">
                          <a:latin typeface="Cambria" panose="02040503050406030204" pitchFamily="18" charset="0"/>
                          <a:ea typeface="Cambria" panose="02040503050406030204" pitchFamily="18" charset="0"/>
                          <a:cs typeface="Lucida Console" panose="020B0609040504020204" charset="0"/>
                        </a:rPr>
                        <a:t>EMMANUEL KAMOTO</a:t>
                      </a:r>
                      <a:endParaRPr lang="en-GB" altLang="en-US" sz="2000">
                        <a:latin typeface="Cambria" panose="02040503050406030204" pitchFamily="18" charset="0"/>
                        <a:ea typeface="Cambria" panose="02040503050406030204" pitchFamily="18" charset="0"/>
                        <a:cs typeface="Lucida Console" panose="020B0609040504020204" charset="0"/>
                      </a:endParaRPr>
                    </a:p>
                  </a:txBody>
                  <a:tcPr/>
                </a:tc>
                <a:tc>
                  <a:txBody>
                    <a:bodyPr/>
                    <a:lstStyle/>
                    <a:p>
                      <a:pPr>
                        <a:buNone/>
                      </a:pPr>
                      <a:r>
                        <a:rPr lang="en-US" altLang="en-US" sz="2000" dirty="0">
                          <a:latin typeface="Cambria" panose="02040503050406030204" pitchFamily="18" charset="0"/>
                          <a:ea typeface="Cambria" panose="02040503050406030204" pitchFamily="18" charset="0"/>
                          <a:cs typeface="Lucida Console" panose="020B0609040504020204" charset="0"/>
                        </a:rPr>
                        <a:t>20241074</a:t>
                      </a:r>
                      <a:endParaRPr lang="en-GB" altLang="en-US" sz="2000" dirty="0">
                        <a:latin typeface="Cambria" panose="02040503050406030204" pitchFamily="18" charset="0"/>
                        <a:ea typeface="Cambria" panose="02040503050406030204" pitchFamily="18" charset="0"/>
                        <a:cs typeface="Lucida Console" panose="020B0609040504020204" charset="0"/>
                      </a:endParaRPr>
                    </a:p>
                  </a:txBody>
                  <a:tcPr/>
                </a:tc>
                <a:extLst>
                  <a:ext uri="{0D108BD9-81ED-4DB2-BD59-A6C34878D82A}">
                    <a16:rowId xmlns:a16="http://schemas.microsoft.com/office/drawing/2014/main" val="497289124"/>
                  </a:ext>
                </a:extLst>
              </a:tr>
            </a:tbl>
          </a:graphicData>
        </a:graphic>
      </p:graphicFrame>
      <p:sp>
        <p:nvSpPr>
          <p:cNvPr id="8" name="Text Box 7"/>
          <p:cNvSpPr txBox="1"/>
          <p:nvPr/>
        </p:nvSpPr>
        <p:spPr>
          <a:xfrm>
            <a:off x="7253185" y="4791816"/>
            <a:ext cx="3793506" cy="546735"/>
          </a:xfrm>
          <a:prstGeom prst="rect">
            <a:avLst/>
          </a:prstGeom>
          <a:noFill/>
        </p:spPr>
        <p:txBody>
          <a:bodyPr wrap="square" rtlCol="0">
            <a:noAutofit/>
          </a:bodyPr>
          <a:lstStyle/>
          <a:p>
            <a:r>
              <a:rPr lang="en-GB" altLang="en-US" sz="3200" dirty="0">
                <a:latin typeface="Cambria" panose="02040503050406030204" pitchFamily="18" charset="0"/>
                <a:ea typeface="Cambria" panose="02040503050406030204" pitchFamily="18" charset="0"/>
                <a:cs typeface="Lucida Console" panose="020B0609040504020204" charset="0"/>
              </a:rPr>
              <a:t>GROUP 1 MEMBERS</a:t>
            </a:r>
          </a:p>
        </p:txBody>
      </p:sp>
      <p:pic>
        <p:nvPicPr>
          <p:cNvPr id="3" name="Picture 2">
            <a:extLst>
              <a:ext uri="{FF2B5EF4-FFF2-40B4-BE49-F238E27FC236}">
                <a16:creationId xmlns:a16="http://schemas.microsoft.com/office/drawing/2014/main" id="{B743CF5A-EE87-3B93-122A-A8D4B77CC3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82495" y="729672"/>
            <a:ext cx="2795978" cy="370378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4285" y="1014095"/>
            <a:ext cx="3360420" cy="1115695"/>
          </a:xfrm>
        </p:spPr>
        <p:txBody>
          <a:bodyPr>
            <a:normAutofit/>
          </a:bodyPr>
          <a:lstStyle/>
          <a:p>
            <a:r>
              <a:rPr lang="en-GB" altLang="en-US" sz="4800" b="1" dirty="0">
                <a:latin typeface="Lucida Console" panose="020B0609040504020204" charset="0"/>
                <a:cs typeface="Lucida Console" panose="020B0609040504020204" charset="0"/>
              </a:rPr>
              <a:t>QUESTION</a:t>
            </a:r>
          </a:p>
        </p:txBody>
      </p:sp>
      <p:sp>
        <p:nvSpPr>
          <p:cNvPr id="3" name="Content Placeholder 2"/>
          <p:cNvSpPr>
            <a:spLocks noGrp="1"/>
          </p:cNvSpPr>
          <p:nvPr>
            <p:ph idx="1"/>
          </p:nvPr>
        </p:nvSpPr>
        <p:spPr>
          <a:xfrm>
            <a:off x="838200" y="2498090"/>
            <a:ext cx="10515600" cy="2244090"/>
          </a:xfrm>
        </p:spPr>
        <p:txBody>
          <a:bodyPr/>
          <a:lstStyle/>
          <a:p>
            <a:r>
              <a:rPr lang="en-GB" altLang="en-US" sz="4000" dirty="0">
                <a:latin typeface="Cambria" panose="02040503050406030204" pitchFamily="18" charset="0"/>
                <a:ea typeface="Cambria" panose="02040503050406030204" pitchFamily="18" charset="0"/>
                <a:cs typeface="Lucida Console" panose="020B0609040504020204" charset="0"/>
              </a:rPr>
              <a:t>Profiling the attacker from script-kiddies to state-sponsored groups.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23155" y="444270"/>
            <a:ext cx="3784772" cy="1062990"/>
          </a:xfrm>
        </p:spPr>
        <p:txBody>
          <a:bodyPr/>
          <a:lstStyle/>
          <a:p>
            <a:r>
              <a:rPr lang="en-GB" altLang="en-US" sz="4800" b="1" dirty="0">
                <a:latin typeface="Cambria" panose="02040503050406030204" pitchFamily="18" charset="0"/>
                <a:ea typeface="Cambria" panose="02040503050406030204" pitchFamily="18" charset="0"/>
                <a:cs typeface="Lucida Console" panose="020B0609040504020204" charset="0"/>
              </a:rPr>
              <a:t>Introduction</a:t>
            </a:r>
          </a:p>
        </p:txBody>
      </p:sp>
      <p:sp>
        <p:nvSpPr>
          <p:cNvPr id="3" name="Content Placeholder 2"/>
          <p:cNvSpPr>
            <a:spLocks noGrp="1"/>
          </p:cNvSpPr>
          <p:nvPr>
            <p:ph idx="1"/>
          </p:nvPr>
        </p:nvSpPr>
        <p:spPr>
          <a:xfrm>
            <a:off x="708561" y="1647495"/>
            <a:ext cx="10972800" cy="3563010"/>
          </a:xfrm>
        </p:spPr>
        <p:txBody>
          <a:bodyPr/>
          <a:lstStyle/>
          <a:p>
            <a:r>
              <a:rPr lang="en-GB" altLang="en-US" sz="3600" dirty="0">
                <a:latin typeface="Cambria" panose="02040503050406030204" pitchFamily="18" charset="0"/>
                <a:ea typeface="Cambria" panose="02040503050406030204" pitchFamily="18" charset="0"/>
                <a:cs typeface="Lucida Console" panose="020B0609040504020204" charset="0"/>
              </a:rPr>
              <a:t>Attacker profiling helps organisations understand who is attacking, why they attack, and how sophisticated they are.</a:t>
            </a:r>
          </a:p>
          <a:p>
            <a:r>
              <a:rPr lang="en-GB" altLang="en-US" sz="3600" dirty="0">
                <a:latin typeface="Cambria" panose="02040503050406030204" pitchFamily="18" charset="0"/>
                <a:ea typeface="Cambria" panose="02040503050406030204" pitchFamily="18" charset="0"/>
                <a:cs typeface="Lucida Console" panose="020B0609040504020204" charset="0"/>
              </a:rPr>
              <a:t>Attackers range from low level to highly organised and government groups.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4305" y="198871"/>
            <a:ext cx="6303389" cy="1196975"/>
          </a:xfrm>
        </p:spPr>
        <p:txBody>
          <a:bodyPr/>
          <a:lstStyle/>
          <a:p>
            <a:r>
              <a:rPr lang="en-US" altLang="en-US" sz="4800" b="1" dirty="0">
                <a:latin typeface="Cambria" panose="02040503050406030204" pitchFamily="18" charset="0"/>
                <a:ea typeface="Cambria" panose="02040503050406030204" pitchFamily="18" charset="0"/>
                <a:cs typeface="Lucida Console" panose="020B0609040504020204" charset="0"/>
              </a:rPr>
              <a:t>A</a:t>
            </a:r>
            <a:r>
              <a:rPr lang="en-GB" altLang="en-US" sz="4800" b="1" dirty="0" err="1">
                <a:latin typeface="Cambria" panose="02040503050406030204" pitchFamily="18" charset="0"/>
                <a:ea typeface="Cambria" panose="02040503050406030204" pitchFamily="18" charset="0"/>
                <a:cs typeface="Lucida Console" panose="020B0609040504020204" charset="0"/>
              </a:rPr>
              <a:t>ttacker</a:t>
            </a:r>
            <a:r>
              <a:rPr lang="en-GB" altLang="en-US" sz="4800" b="1" dirty="0">
                <a:latin typeface="Cambria" panose="02040503050406030204" pitchFamily="18" charset="0"/>
                <a:ea typeface="Cambria" panose="02040503050406030204" pitchFamily="18" charset="0"/>
                <a:cs typeface="Lucida Console" panose="020B0609040504020204" charset="0"/>
              </a:rPr>
              <a:t> </a:t>
            </a:r>
            <a:r>
              <a:rPr lang="en-US" altLang="en-US" sz="4800" b="1" dirty="0">
                <a:latin typeface="Cambria" panose="02040503050406030204" pitchFamily="18" charset="0"/>
                <a:ea typeface="Cambria" panose="02040503050406030204" pitchFamily="18" charset="0"/>
                <a:cs typeface="Lucida Console" panose="020B0609040504020204" charset="0"/>
              </a:rPr>
              <a:t>P</a:t>
            </a:r>
            <a:r>
              <a:rPr lang="en-GB" altLang="en-US" sz="4800" b="1" dirty="0" err="1">
                <a:latin typeface="Cambria" panose="02040503050406030204" pitchFamily="18" charset="0"/>
                <a:ea typeface="Cambria" panose="02040503050406030204" pitchFamily="18" charset="0"/>
                <a:cs typeface="Lucida Console" panose="020B0609040504020204" charset="0"/>
              </a:rPr>
              <a:t>rofiling</a:t>
            </a:r>
            <a:endParaRPr lang="en-GB" altLang="en-US" sz="4800" b="1" dirty="0">
              <a:latin typeface="Cambria" panose="02040503050406030204" pitchFamily="18" charset="0"/>
              <a:ea typeface="Cambria" panose="02040503050406030204" pitchFamily="18" charset="0"/>
              <a:cs typeface="Lucida Console" panose="020B0609040504020204" charset="0"/>
            </a:endParaRPr>
          </a:p>
        </p:txBody>
      </p:sp>
      <p:sp>
        <p:nvSpPr>
          <p:cNvPr id="3" name="Content Placeholder 2"/>
          <p:cNvSpPr>
            <a:spLocks noGrp="1"/>
          </p:cNvSpPr>
          <p:nvPr>
            <p:ph idx="1"/>
          </p:nvPr>
        </p:nvSpPr>
        <p:spPr>
          <a:xfrm>
            <a:off x="609600" y="1909206"/>
            <a:ext cx="10972800" cy="3039588"/>
          </a:xfrm>
        </p:spPr>
        <p:txBody>
          <a:bodyPr/>
          <a:lstStyle/>
          <a:p>
            <a:r>
              <a:rPr lang="en-GB" altLang="en-US" sz="3600" dirty="0">
                <a:latin typeface="Cambria" panose="02040503050406030204" pitchFamily="18" charset="0"/>
                <a:ea typeface="Cambria" panose="02040503050406030204" pitchFamily="18" charset="0"/>
                <a:cs typeface="Lucida Console" panose="020B0609040504020204" charset="0"/>
              </a:rPr>
              <a:t>Attacker profiling is the process of identifying and analysing the type of attackers, their skills, motives, resources and behaviour in order to understand how and why an attack is carried out, so that better security and response decisions can be made.</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15835" y="346115"/>
            <a:ext cx="4360330" cy="836139"/>
          </a:xfrm>
        </p:spPr>
        <p:txBody>
          <a:bodyPr>
            <a:normAutofit/>
          </a:bodyPr>
          <a:lstStyle/>
          <a:p>
            <a:r>
              <a:rPr lang="en-GB" altLang="en-US" sz="4800" b="1" dirty="0">
                <a:latin typeface="Cambria" panose="02040503050406030204" pitchFamily="18" charset="0"/>
                <a:ea typeface="Cambria" panose="02040503050406030204" pitchFamily="18" charset="0"/>
                <a:cs typeface="Lucida Console" panose="020B0609040504020204" charset="0"/>
              </a:rPr>
              <a:t>Script Kiddies</a:t>
            </a:r>
          </a:p>
        </p:txBody>
      </p:sp>
      <p:sp>
        <p:nvSpPr>
          <p:cNvPr id="3" name="Content Placeholder 2"/>
          <p:cNvSpPr>
            <a:spLocks noGrp="1"/>
          </p:cNvSpPr>
          <p:nvPr>
            <p:ph idx="1"/>
          </p:nvPr>
        </p:nvSpPr>
        <p:spPr>
          <a:xfrm>
            <a:off x="636905" y="1797710"/>
            <a:ext cx="10918190" cy="3946071"/>
          </a:xfrm>
        </p:spPr>
        <p:txBody>
          <a:bodyPr>
            <a:noAutofit/>
          </a:bodyPr>
          <a:lstStyle/>
          <a:p>
            <a:r>
              <a:rPr lang="en-US" altLang="en-GB" sz="3600" dirty="0">
                <a:latin typeface="Cambria" panose="02040503050406030204" pitchFamily="18" charset="0"/>
                <a:ea typeface="Cambria" panose="02040503050406030204" pitchFamily="18" charset="0"/>
                <a:cs typeface="Lucida Console" panose="020B0609040504020204" charset="0"/>
              </a:rPr>
              <a:t>Script Kiddies are unskilled or novice individuals who engage in hacking activities using pre-written software, tools, and scripts developed by others, without understanding the underlying mechanics or code. The term itself often shortened to "</a:t>
            </a:r>
            <a:r>
              <a:rPr lang="en-US" altLang="en-GB" sz="3600" dirty="0" err="1">
                <a:latin typeface="Cambria" panose="02040503050406030204" pitchFamily="18" charset="0"/>
                <a:ea typeface="Cambria" panose="02040503050406030204" pitchFamily="18" charset="0"/>
                <a:cs typeface="Lucida Console" panose="020B0609040504020204" charset="0"/>
              </a:rPr>
              <a:t>skiddies</a:t>
            </a:r>
            <a:r>
              <a:rPr lang="en-US" altLang="en-GB" sz="3600" dirty="0">
                <a:latin typeface="Cambria" panose="02040503050406030204" pitchFamily="18" charset="0"/>
                <a:ea typeface="Cambria" panose="02040503050406030204" pitchFamily="18" charset="0"/>
                <a:cs typeface="Lucida Console" panose="020B0609040504020204" charset="0"/>
              </a:rPr>
              <a:t>“ is generally derogatory, implying a lack of expertise, creativity, or original skill.</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2459" y="461879"/>
            <a:ext cx="5567082" cy="1141681"/>
          </a:xfrm>
        </p:spPr>
        <p:txBody>
          <a:bodyPr>
            <a:noAutofit/>
          </a:bodyPr>
          <a:lstStyle/>
          <a:p>
            <a:r>
              <a:rPr lang="en-US" altLang="en-GB" sz="4800" b="1" dirty="0">
                <a:latin typeface="Cambria" panose="02040503050406030204" pitchFamily="18" charset="0"/>
                <a:ea typeface="Cambria" panose="02040503050406030204" pitchFamily="18" charset="0"/>
                <a:cs typeface="Lucida Console" panose="020B0609040504020204" charset="0"/>
                <a:sym typeface="+mn-ea"/>
              </a:rPr>
              <a:t>Key Characteristics</a:t>
            </a:r>
          </a:p>
        </p:txBody>
      </p:sp>
      <p:sp>
        <p:nvSpPr>
          <p:cNvPr id="3" name="Content Placeholder 2"/>
          <p:cNvSpPr>
            <a:spLocks noGrp="1"/>
          </p:cNvSpPr>
          <p:nvPr>
            <p:ph idx="1"/>
          </p:nvPr>
        </p:nvSpPr>
        <p:spPr>
          <a:xfrm>
            <a:off x="609600" y="1881970"/>
            <a:ext cx="10972800" cy="2909331"/>
          </a:xfrm>
        </p:spPr>
        <p:txBody>
          <a:bodyPr>
            <a:noAutofit/>
          </a:bodyPr>
          <a:lstStyle/>
          <a:p>
            <a:r>
              <a:rPr lang="en-GB" altLang="en-US" sz="3600" dirty="0">
                <a:cs typeface="Lucida Console" panose="020B0609040504020204" charset="0"/>
              </a:rPr>
              <a:t>Low skill level, they rely on existing tools/scripts</a:t>
            </a:r>
          </a:p>
          <a:p>
            <a:r>
              <a:rPr lang="en-GB" altLang="en-US" sz="3600" dirty="0">
                <a:cs typeface="Lucida Console" panose="020B0609040504020204" charset="0"/>
              </a:rPr>
              <a:t>Motives: curiosity, bragging rights, causing trouble</a:t>
            </a:r>
          </a:p>
          <a:p>
            <a:r>
              <a:rPr lang="en-GB" altLang="en-US" sz="3600" dirty="0">
                <a:cs typeface="Lucida Console" panose="020B0609040504020204" charset="0"/>
              </a:rPr>
              <a:t>Targets: often random, opportunistic attacks</a:t>
            </a:r>
          </a:p>
          <a:p>
            <a:r>
              <a:rPr lang="en-GB" altLang="en-US" sz="3600" dirty="0">
                <a:cs typeface="Lucida Console" panose="020B0609040504020204" charset="0"/>
              </a:rPr>
              <a:t>Techniques: use pre-made malware, exploit kits.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1648" y="866815"/>
            <a:ext cx="4848703" cy="874355"/>
          </a:xfrm>
        </p:spPr>
        <p:txBody>
          <a:bodyPr>
            <a:noAutofit/>
          </a:bodyPr>
          <a:lstStyle/>
          <a:p>
            <a:pPr algn="ctr"/>
            <a:r>
              <a:rPr lang="en-GB" altLang="en-US" sz="4800" b="1" dirty="0">
                <a:latin typeface="Cambria" panose="02040503050406030204" pitchFamily="18" charset="0"/>
                <a:ea typeface="Cambria" panose="02040503050406030204" pitchFamily="18" charset="0"/>
                <a:cs typeface="Lucida Console" panose="020B0609040504020204" charset="0"/>
              </a:rPr>
              <a:t>Hacktivists</a:t>
            </a:r>
          </a:p>
        </p:txBody>
      </p:sp>
      <p:sp>
        <p:nvSpPr>
          <p:cNvPr id="3" name="Content Placeholder 2"/>
          <p:cNvSpPr>
            <a:spLocks noGrp="1"/>
          </p:cNvSpPr>
          <p:nvPr>
            <p:ph idx="1"/>
          </p:nvPr>
        </p:nvSpPr>
        <p:spPr>
          <a:xfrm>
            <a:off x="609600" y="2122442"/>
            <a:ext cx="10972800" cy="2613116"/>
          </a:xfrm>
        </p:spPr>
        <p:txBody>
          <a:bodyPr>
            <a:normAutofit fontScale="90000" lnSpcReduction="10000"/>
          </a:bodyPr>
          <a:lstStyle/>
          <a:p>
            <a:r>
              <a:rPr lang="en-GB" altLang="en-US" sz="4000" dirty="0">
                <a:latin typeface="Cambria" panose="02040503050406030204" pitchFamily="18" charset="0"/>
                <a:ea typeface="Cambria" panose="02040503050406030204" pitchFamily="18" charset="0"/>
                <a:cs typeface="Lucida Console" panose="020B0609040504020204" charset="0"/>
              </a:rPr>
              <a:t>They are politically or socially motivated</a:t>
            </a:r>
          </a:p>
          <a:p>
            <a:r>
              <a:rPr lang="en-GB" altLang="en-US" sz="4000" dirty="0">
                <a:latin typeface="Cambria" panose="02040503050406030204" pitchFamily="18" charset="0"/>
                <a:ea typeface="Cambria" panose="02040503050406030204" pitchFamily="18" charset="0"/>
                <a:cs typeface="Lucida Console" panose="020B0609040504020204" charset="0"/>
              </a:rPr>
              <a:t>They target specific causes or motivations.</a:t>
            </a:r>
          </a:p>
          <a:p>
            <a:r>
              <a:rPr lang="en-GB" altLang="en-US" sz="4000" dirty="0">
                <a:latin typeface="Cambria" panose="02040503050406030204" pitchFamily="18" charset="0"/>
                <a:ea typeface="Cambria" panose="02040503050406030204" pitchFamily="18" charset="0"/>
                <a:cs typeface="Lucida Console" panose="020B0609040504020204" charset="0"/>
              </a:rPr>
              <a:t>Skills: moderate to high, use known exploits</a:t>
            </a:r>
          </a:p>
          <a:p>
            <a:r>
              <a:rPr lang="en-GB" altLang="en-US" sz="4000" dirty="0">
                <a:latin typeface="Cambria" panose="02040503050406030204" pitchFamily="18" charset="0"/>
                <a:ea typeface="Cambria" panose="02040503050406030204" pitchFamily="18" charset="0"/>
                <a:cs typeface="Lucida Console" panose="020B0609040504020204" charset="0"/>
              </a:rPr>
              <a:t>Examples: anonymous, legion of the </a:t>
            </a:r>
            <a:r>
              <a:rPr lang="en-GB" altLang="en-US" sz="4000" dirty="0" err="1">
                <a:latin typeface="Cambria" panose="02040503050406030204" pitchFamily="18" charset="0"/>
                <a:ea typeface="Cambria" panose="02040503050406030204" pitchFamily="18" charset="0"/>
                <a:cs typeface="Lucida Console" panose="020B0609040504020204" charset="0"/>
              </a:rPr>
              <a:t>chedah</a:t>
            </a:r>
            <a:r>
              <a:rPr lang="en-GB" altLang="en-US" sz="4000" dirty="0">
                <a:latin typeface="Cambria" panose="02040503050406030204" pitchFamily="18" charset="0"/>
                <a:ea typeface="Cambria" panose="02040503050406030204" pitchFamily="18" charset="0"/>
                <a:cs typeface="Lucida Console" panose="020B0609040504020204" charset="0"/>
              </a:rPr>
              <a:t> (</a:t>
            </a:r>
            <a:r>
              <a:rPr lang="en-GB" altLang="en-US" sz="4000" dirty="0" err="1">
                <a:latin typeface="Cambria" panose="02040503050406030204" pitchFamily="18" charset="0"/>
                <a:ea typeface="Cambria" panose="02040503050406030204" pitchFamily="18" charset="0"/>
                <a:cs typeface="Lucida Console" panose="020B0609040504020204" charset="0"/>
              </a:rPr>
              <a:t>LotC</a:t>
            </a:r>
            <a:r>
              <a:rPr lang="en-GB" altLang="en-US" sz="4000" dirty="0">
                <a:latin typeface="Cambria" panose="02040503050406030204" pitchFamily="18" charset="0"/>
                <a:ea typeface="Cambria" panose="02040503050406030204" pitchFamily="18" charset="0"/>
                <a:cs typeface="Lucida Console" panose="020B0609040504020204" charset="0"/>
              </a:rPr>
              <a:t>).</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2665" y="627511"/>
            <a:ext cx="4690436" cy="1231555"/>
          </a:xfrm>
        </p:spPr>
        <p:txBody>
          <a:bodyPr/>
          <a:lstStyle/>
          <a:p>
            <a:r>
              <a:rPr lang="en-GB" altLang="en-US" sz="4800" b="1" dirty="0">
                <a:latin typeface="Cambria" panose="02040503050406030204" pitchFamily="18" charset="0"/>
                <a:ea typeface="Cambria" panose="02040503050406030204" pitchFamily="18" charset="0"/>
                <a:cs typeface="Lucida Console" panose="020B0609040504020204" charset="0"/>
              </a:rPr>
              <a:t>Cyber Criminals</a:t>
            </a:r>
          </a:p>
        </p:txBody>
      </p:sp>
      <p:sp>
        <p:nvSpPr>
          <p:cNvPr id="3" name="Content Placeholder 2"/>
          <p:cNvSpPr>
            <a:spLocks noGrp="1"/>
          </p:cNvSpPr>
          <p:nvPr>
            <p:ph idx="1"/>
          </p:nvPr>
        </p:nvSpPr>
        <p:spPr>
          <a:xfrm>
            <a:off x="485898" y="2099210"/>
            <a:ext cx="10440603" cy="3230171"/>
          </a:xfrm>
        </p:spPr>
        <p:txBody>
          <a:bodyPr>
            <a:noAutofit/>
          </a:bodyPr>
          <a:lstStyle/>
          <a:p>
            <a:r>
              <a:rPr lang="en-GB" altLang="en-US" sz="3600" dirty="0">
                <a:latin typeface="Cambria" panose="02040503050406030204" pitchFamily="18" charset="0"/>
                <a:ea typeface="Cambria" panose="02040503050406030204" pitchFamily="18" charset="0"/>
                <a:cs typeface="Lucida Console" panose="020B0609040504020204" charset="0"/>
              </a:rPr>
              <a:t>Financial gain, steal data, ransomware</a:t>
            </a:r>
          </a:p>
          <a:p>
            <a:r>
              <a:rPr lang="en-GB" altLang="en-US" sz="3600" dirty="0">
                <a:latin typeface="Cambria" panose="02040503050406030204" pitchFamily="18" charset="0"/>
                <a:ea typeface="Cambria" panose="02040503050406030204" pitchFamily="18" charset="0"/>
                <a:cs typeface="Lucida Console" panose="020B0609040504020204" charset="0"/>
              </a:rPr>
              <a:t>they are skilled, organized, often work in groups</a:t>
            </a:r>
          </a:p>
          <a:p>
            <a:r>
              <a:rPr lang="en-GB" altLang="en-US" sz="3600" dirty="0">
                <a:latin typeface="Cambria" panose="02040503050406030204" pitchFamily="18" charset="0"/>
                <a:ea typeface="Cambria" panose="02040503050406030204" pitchFamily="18" charset="0"/>
                <a:cs typeface="Lucida Console" panose="020B0609040504020204" charset="0"/>
              </a:rPr>
              <a:t>Targets: businesses, individuals with valuable data</a:t>
            </a:r>
          </a:p>
          <a:p>
            <a:r>
              <a:rPr lang="en-GB" altLang="en-US" sz="3600" dirty="0">
                <a:latin typeface="Cambria" panose="02040503050406030204" pitchFamily="18" charset="0"/>
                <a:ea typeface="Cambria" panose="02040503050406030204" pitchFamily="18" charset="0"/>
                <a:cs typeface="Lucida Console" panose="020B0609040504020204" charset="0"/>
              </a:rPr>
              <a:t>Techniques: phishing, malware, exploit kits</a:t>
            </a:r>
          </a:p>
          <a:p>
            <a:endParaRPr lang="en-GB" altLang="en-US" sz="3600" dirty="0">
              <a:latin typeface="Cambria" panose="02040503050406030204" pitchFamily="18" charset="0"/>
              <a:ea typeface="Cambria" panose="02040503050406030204" pitchFamily="18" charset="0"/>
              <a:cs typeface="Lucida Console" panose="020B0609040504020204"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4480" y="476456"/>
            <a:ext cx="5630429" cy="1214549"/>
          </a:xfrm>
        </p:spPr>
        <p:txBody>
          <a:bodyPr/>
          <a:lstStyle/>
          <a:p>
            <a:r>
              <a:rPr lang="en-US" altLang="en-US" sz="4800" b="1" dirty="0">
                <a:latin typeface="Cambria" panose="02040503050406030204" pitchFamily="18" charset="0"/>
                <a:ea typeface="Cambria" panose="02040503050406030204" pitchFamily="18" charset="0"/>
                <a:cs typeface="Lucida Console" panose="020B0609040504020204" charset="0"/>
              </a:rPr>
              <a:t>I</a:t>
            </a:r>
            <a:r>
              <a:rPr lang="en-GB" altLang="en-US" sz="4800" b="1" dirty="0" err="1">
                <a:latin typeface="Cambria" panose="02040503050406030204" pitchFamily="18" charset="0"/>
                <a:ea typeface="Cambria" panose="02040503050406030204" pitchFamily="18" charset="0"/>
                <a:cs typeface="Lucida Console" panose="020B0609040504020204" charset="0"/>
              </a:rPr>
              <a:t>nsider</a:t>
            </a:r>
            <a:r>
              <a:rPr lang="en-GB" altLang="en-US" sz="4800" b="1" dirty="0">
                <a:latin typeface="Cambria" panose="02040503050406030204" pitchFamily="18" charset="0"/>
                <a:ea typeface="Cambria" panose="02040503050406030204" pitchFamily="18" charset="0"/>
                <a:cs typeface="Lucida Console" panose="020B0609040504020204" charset="0"/>
              </a:rPr>
              <a:t> </a:t>
            </a:r>
            <a:r>
              <a:rPr lang="en-US" altLang="en-US" sz="4800" b="1" dirty="0">
                <a:latin typeface="Cambria" panose="02040503050406030204" pitchFamily="18" charset="0"/>
                <a:ea typeface="Cambria" panose="02040503050406030204" pitchFamily="18" charset="0"/>
                <a:cs typeface="Lucida Console" panose="020B0609040504020204" charset="0"/>
              </a:rPr>
              <a:t>A</a:t>
            </a:r>
            <a:r>
              <a:rPr lang="en-GB" altLang="en-US" sz="4800" b="1" dirty="0" err="1">
                <a:latin typeface="Cambria" panose="02040503050406030204" pitchFamily="18" charset="0"/>
                <a:ea typeface="Cambria" panose="02040503050406030204" pitchFamily="18" charset="0"/>
                <a:cs typeface="Lucida Console" panose="020B0609040504020204" charset="0"/>
              </a:rPr>
              <a:t>ttackers</a:t>
            </a:r>
            <a:endParaRPr lang="en-GB" altLang="en-US" sz="4800" b="1" dirty="0">
              <a:latin typeface="Cambria" panose="02040503050406030204" pitchFamily="18" charset="0"/>
              <a:ea typeface="Cambria" panose="02040503050406030204" pitchFamily="18" charset="0"/>
              <a:cs typeface="Lucida Console" panose="020B0609040504020204" charset="0"/>
            </a:endParaRPr>
          </a:p>
        </p:txBody>
      </p:sp>
      <p:sp>
        <p:nvSpPr>
          <p:cNvPr id="3" name="Content Placeholder 2"/>
          <p:cNvSpPr>
            <a:spLocks noGrp="1"/>
          </p:cNvSpPr>
          <p:nvPr>
            <p:ph idx="1"/>
          </p:nvPr>
        </p:nvSpPr>
        <p:spPr>
          <a:xfrm>
            <a:off x="606837" y="1738626"/>
            <a:ext cx="10972800" cy="3380748"/>
          </a:xfrm>
        </p:spPr>
        <p:txBody>
          <a:bodyPr>
            <a:noAutofit/>
          </a:bodyPr>
          <a:lstStyle/>
          <a:p>
            <a:r>
              <a:rPr lang="en-GB" altLang="en-US" sz="3600" dirty="0">
                <a:latin typeface="Cambria" panose="02040503050406030204" pitchFamily="18" charset="0"/>
                <a:ea typeface="Cambria" panose="02040503050406030204" pitchFamily="18" charset="0"/>
                <a:cs typeface="Lucida Console" panose="020B0609040504020204" charset="0"/>
              </a:rPr>
              <a:t>Are legitimate users such as employee or students.</a:t>
            </a:r>
          </a:p>
          <a:p>
            <a:r>
              <a:rPr lang="en-GB" altLang="en-US" sz="3600" dirty="0">
                <a:latin typeface="Cambria" panose="02040503050406030204" pitchFamily="18" charset="0"/>
                <a:ea typeface="Cambria" panose="02040503050406030204" pitchFamily="18" charset="0"/>
                <a:cs typeface="Lucida Console" panose="020B0609040504020204" charset="0"/>
              </a:rPr>
              <a:t>Already have authorized access to  systems.</a:t>
            </a:r>
          </a:p>
          <a:p>
            <a:r>
              <a:rPr lang="en-GB" altLang="en-US" sz="3600" dirty="0">
                <a:latin typeface="Cambria" panose="02040503050406030204" pitchFamily="18" charset="0"/>
                <a:ea typeface="Cambria" panose="02040503050406030204" pitchFamily="18" charset="0"/>
                <a:cs typeface="Lucida Console" panose="020B0609040504020204" charset="0"/>
              </a:rPr>
              <a:t>May abuse privileges for personal benefit or revenge.</a:t>
            </a:r>
          </a:p>
          <a:p>
            <a:r>
              <a:rPr lang="en-GB" altLang="en-US" sz="3600" dirty="0">
                <a:latin typeface="Cambria" panose="02040503050406030204" pitchFamily="18" charset="0"/>
                <a:ea typeface="Cambria" panose="02040503050406030204" pitchFamily="18" charset="0"/>
                <a:cs typeface="Lucida Console" panose="020B0609040504020204" charset="0"/>
              </a:rPr>
              <a:t>very dangerous because they bypass many security controls.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5926" y="369618"/>
            <a:ext cx="6920510" cy="1100941"/>
          </a:xfrm>
        </p:spPr>
        <p:txBody>
          <a:bodyPr/>
          <a:lstStyle/>
          <a:p>
            <a:r>
              <a:rPr lang="en-US" altLang="en-US" sz="4800" b="1" dirty="0">
                <a:latin typeface="Cambria" panose="02040503050406030204" pitchFamily="18" charset="0"/>
                <a:ea typeface="Cambria" panose="02040503050406030204" pitchFamily="18" charset="0"/>
                <a:cs typeface="Lucida Console" panose="020B0609040504020204" charset="0"/>
              </a:rPr>
              <a:t>S</a:t>
            </a:r>
            <a:r>
              <a:rPr lang="en-GB" altLang="en-US" sz="4800" b="1" dirty="0" err="1">
                <a:latin typeface="Cambria" panose="02040503050406030204" pitchFamily="18" charset="0"/>
                <a:ea typeface="Cambria" panose="02040503050406030204" pitchFamily="18" charset="0"/>
                <a:cs typeface="Lucida Console" panose="020B0609040504020204" charset="0"/>
              </a:rPr>
              <a:t>tate</a:t>
            </a:r>
            <a:r>
              <a:rPr lang="en-GB" altLang="en-US" sz="4800" b="1" dirty="0">
                <a:latin typeface="Cambria" panose="02040503050406030204" pitchFamily="18" charset="0"/>
                <a:ea typeface="Cambria" panose="02040503050406030204" pitchFamily="18" charset="0"/>
                <a:cs typeface="Lucida Console" panose="020B0609040504020204" charset="0"/>
              </a:rPr>
              <a:t> </a:t>
            </a:r>
            <a:r>
              <a:rPr lang="en-US" altLang="en-US" sz="4800" b="1" dirty="0">
                <a:latin typeface="Cambria" panose="02040503050406030204" pitchFamily="18" charset="0"/>
                <a:ea typeface="Cambria" panose="02040503050406030204" pitchFamily="18" charset="0"/>
                <a:cs typeface="Lucida Console" panose="020B0609040504020204" charset="0"/>
              </a:rPr>
              <a:t>S</a:t>
            </a:r>
            <a:r>
              <a:rPr lang="en-GB" altLang="en-US" sz="4800" b="1" dirty="0" err="1">
                <a:latin typeface="Cambria" panose="02040503050406030204" pitchFamily="18" charset="0"/>
                <a:ea typeface="Cambria" panose="02040503050406030204" pitchFamily="18" charset="0"/>
                <a:cs typeface="Lucida Console" panose="020B0609040504020204" charset="0"/>
              </a:rPr>
              <a:t>ponsored</a:t>
            </a:r>
            <a:r>
              <a:rPr lang="en-GB" altLang="en-US" sz="4800" b="1" dirty="0">
                <a:latin typeface="Cambria" panose="02040503050406030204" pitchFamily="18" charset="0"/>
                <a:ea typeface="Cambria" panose="02040503050406030204" pitchFamily="18" charset="0"/>
                <a:cs typeface="Lucida Console" panose="020B0609040504020204" charset="0"/>
              </a:rPr>
              <a:t> </a:t>
            </a:r>
            <a:r>
              <a:rPr lang="en-US" altLang="en-US" sz="4800" b="1" dirty="0">
                <a:latin typeface="Cambria" panose="02040503050406030204" pitchFamily="18" charset="0"/>
                <a:ea typeface="Cambria" panose="02040503050406030204" pitchFamily="18" charset="0"/>
                <a:cs typeface="Lucida Console" panose="020B0609040504020204" charset="0"/>
              </a:rPr>
              <a:t>G</a:t>
            </a:r>
            <a:r>
              <a:rPr lang="en-GB" altLang="en-US" sz="4800" b="1" dirty="0" err="1">
                <a:latin typeface="Cambria" panose="02040503050406030204" pitchFamily="18" charset="0"/>
                <a:ea typeface="Cambria" panose="02040503050406030204" pitchFamily="18" charset="0"/>
                <a:cs typeface="Lucida Console" panose="020B0609040504020204" charset="0"/>
              </a:rPr>
              <a:t>roups</a:t>
            </a:r>
            <a:endParaRPr lang="en-GB" altLang="en-US" sz="4800" b="1" dirty="0">
              <a:latin typeface="Cambria" panose="02040503050406030204" pitchFamily="18" charset="0"/>
              <a:ea typeface="Cambria" panose="02040503050406030204" pitchFamily="18" charset="0"/>
              <a:cs typeface="Lucida Console" panose="020B0609040504020204" charset="0"/>
            </a:endParaRPr>
          </a:p>
        </p:txBody>
      </p:sp>
      <p:sp>
        <p:nvSpPr>
          <p:cNvPr id="3" name="Content Placeholder 2"/>
          <p:cNvSpPr>
            <a:spLocks noGrp="1"/>
          </p:cNvSpPr>
          <p:nvPr>
            <p:ph idx="1"/>
          </p:nvPr>
        </p:nvSpPr>
        <p:spPr>
          <a:xfrm>
            <a:off x="821789" y="1696150"/>
            <a:ext cx="10972800" cy="3835153"/>
          </a:xfrm>
        </p:spPr>
        <p:txBody>
          <a:bodyPr>
            <a:noAutofit/>
          </a:bodyPr>
          <a:lstStyle/>
          <a:p>
            <a:r>
              <a:rPr lang="en-GB" altLang="en-US" sz="3600" dirty="0">
                <a:latin typeface="Cambria" panose="02040503050406030204" pitchFamily="18" charset="0"/>
                <a:ea typeface="Cambria" panose="02040503050406030204" pitchFamily="18" charset="0"/>
                <a:cs typeface="Lucida Console" panose="020B0609040504020204" charset="0"/>
              </a:rPr>
              <a:t>Supported or funded by national government</a:t>
            </a:r>
          </a:p>
          <a:p>
            <a:r>
              <a:rPr lang="en-GB" altLang="en-US" sz="3600" dirty="0">
                <a:latin typeface="Cambria" panose="02040503050406030204" pitchFamily="18" charset="0"/>
                <a:ea typeface="Cambria" panose="02040503050406030204" pitchFamily="18" charset="0"/>
                <a:cs typeface="Lucida Console" panose="020B0609040504020204" charset="0"/>
              </a:rPr>
              <a:t>Have advanced tools, infrastructure and expert teams.</a:t>
            </a:r>
          </a:p>
          <a:p>
            <a:r>
              <a:rPr lang="en-GB" altLang="en-US" sz="3600" dirty="0">
                <a:latin typeface="Cambria" panose="02040503050406030204" pitchFamily="18" charset="0"/>
                <a:ea typeface="Cambria" panose="02040503050406030204" pitchFamily="18" charset="0"/>
                <a:cs typeface="Lucida Console" panose="020B0609040504020204" charset="0"/>
              </a:rPr>
              <a:t>Target government systems, critical infrastructure and research institutions.</a:t>
            </a:r>
          </a:p>
          <a:p>
            <a:r>
              <a:rPr lang="en-GB" altLang="en-US" sz="3600" dirty="0">
                <a:latin typeface="Cambria" panose="02040503050406030204" pitchFamily="18" charset="0"/>
                <a:ea typeface="Cambria" panose="02040503050406030204" pitchFamily="18" charset="0"/>
                <a:cs typeface="Lucida Console" panose="020B0609040504020204" charset="0"/>
              </a:rPr>
              <a:t>Motivation is national security, political influence and intelligence gathering</a:t>
            </a:r>
          </a:p>
          <a:p>
            <a:endParaRPr lang="en-GB" altLang="en-US" sz="3200" dirty="0">
              <a:latin typeface="Cambria" panose="02040503050406030204" pitchFamily="18" charset="0"/>
              <a:ea typeface="Cambria" panose="02040503050406030204" pitchFamily="18" charset="0"/>
              <a:cs typeface="Lucida Console" panose="020B0609040504020204" charset="0"/>
            </a:endParaRP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610" y="1318895"/>
            <a:ext cx="3131820" cy="3323590"/>
          </a:xfrm>
        </p:spPr>
        <p:txBody>
          <a:bodyPr/>
          <a:lstStyle/>
          <a:p>
            <a:r>
              <a:rPr lang="en-GB" altLang="en-US" b="1" dirty="0">
                <a:latin typeface="Cambria" panose="02040503050406030204" pitchFamily="18" charset="0"/>
                <a:ea typeface="Cambria" panose="02040503050406030204" pitchFamily="18" charset="0"/>
                <a:cs typeface="Lucida Console" panose="020B0609040504020204" charset="0"/>
              </a:rPr>
              <a:t>CONCLUSION</a:t>
            </a:r>
          </a:p>
        </p:txBody>
      </p:sp>
      <p:sp>
        <p:nvSpPr>
          <p:cNvPr id="3" name="Content Placeholder 2"/>
          <p:cNvSpPr>
            <a:spLocks noGrp="1"/>
          </p:cNvSpPr>
          <p:nvPr>
            <p:ph idx="1"/>
          </p:nvPr>
        </p:nvSpPr>
        <p:spPr>
          <a:xfrm>
            <a:off x="3567430" y="1073005"/>
            <a:ext cx="8293735" cy="4711989"/>
          </a:xfrm>
        </p:spPr>
        <p:txBody>
          <a:bodyPr>
            <a:noAutofit/>
          </a:bodyPr>
          <a:lstStyle/>
          <a:p>
            <a:r>
              <a:rPr lang="en-GB" altLang="en-US" sz="3600" dirty="0">
                <a:latin typeface="Cambria" panose="02040503050406030204" pitchFamily="18" charset="0"/>
                <a:ea typeface="Cambria" panose="02040503050406030204" pitchFamily="18" charset="0"/>
                <a:cs typeface="Lucida Console" panose="020B0609040504020204" charset="0"/>
              </a:rPr>
              <a:t>Attackers differ in skill, resources and motivation.</a:t>
            </a:r>
          </a:p>
          <a:p>
            <a:r>
              <a:rPr lang="en-GB" altLang="en-US" sz="3600" dirty="0">
                <a:latin typeface="Cambria" panose="02040503050406030204" pitchFamily="18" charset="0"/>
                <a:ea typeface="Cambria" panose="02040503050406030204" pitchFamily="18" charset="0"/>
                <a:cs typeface="Lucida Console" panose="020B0609040504020204" charset="0"/>
              </a:rPr>
              <a:t>Understanding attacker profiles helps organisations design better security and response strategies.</a:t>
            </a:r>
          </a:p>
          <a:p>
            <a:r>
              <a:rPr lang="en-GB" altLang="en-US" sz="3600" dirty="0">
                <a:latin typeface="Cambria" panose="02040503050406030204" pitchFamily="18" charset="0"/>
                <a:ea typeface="Cambria" panose="02040503050406030204" pitchFamily="18" charset="0"/>
                <a:cs typeface="Lucida Console" panose="020B0609040504020204" charset="0"/>
              </a:rPr>
              <a:t>The level threat increases significantly from script kiddies to state sponsored groups.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3059222" y="2534285"/>
            <a:ext cx="6825557" cy="894715"/>
          </a:xfrm>
        </p:spPr>
        <p:txBody>
          <a:bodyPr/>
          <a:lstStyle/>
          <a:p>
            <a:r>
              <a:rPr lang="en-GB" altLang="en-US" sz="4800" b="1" dirty="0">
                <a:latin typeface="Cambria" panose="02040503050406030204" pitchFamily="18" charset="0"/>
                <a:ea typeface="Cambria" panose="02040503050406030204" pitchFamily="18" charset="0"/>
                <a:cs typeface="Lucida Console" panose="020B0609040504020204" charset="0"/>
              </a:rPr>
              <a:t>END OF PRESENTATION</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38*477"/>
  <p:tag name="TABLE_ENDDRAG_RECT" val="19*14*438*477"/>
</p:tagLst>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426</Words>
  <Application>Microsoft Office PowerPoint</Application>
  <PresentationFormat>Widescreen</PresentationFormat>
  <Paragraphs>69</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Lucida Console</vt:lpstr>
      <vt:lpstr>Orange Waves</vt:lpstr>
      <vt:lpstr>ACCESS CONTROL AND INTRUSION DETECTION</vt:lpstr>
      <vt:lpstr>PowerPoint Presentation</vt:lpstr>
      <vt:lpstr>QUESTION</vt:lpstr>
      <vt:lpstr>Introduction</vt:lpstr>
      <vt:lpstr>Attacker Profiling</vt:lpstr>
      <vt:lpstr>Script Kiddies</vt:lpstr>
      <vt:lpstr>Key Characteristics</vt:lpstr>
      <vt:lpstr>Hacktivists</vt:lpstr>
      <vt:lpstr>Cyber Criminals</vt:lpstr>
      <vt:lpstr>Insider Attackers</vt:lpstr>
      <vt:lpstr>State Sponsored Groups</vt:lpstr>
      <vt:lpstr>CONCLUSION</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Aaron Nyakapanda</dc:creator>
  <cp:lastModifiedBy>Aaron Nyakapanda</cp:lastModifiedBy>
  <cp:revision>24</cp:revision>
  <dcterms:created xsi:type="dcterms:W3CDTF">2025-07-23T00:59:00Z</dcterms:created>
  <dcterms:modified xsi:type="dcterms:W3CDTF">2026-02-03T21:42:06Z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3FF083220516418EB608990C48E76F41_11</vt:lpwstr>
  </property>
  <property fmtid="{D5CDD505-2E9C-101B-9397-08002B2CF9AE}" pid="3" name="KSOProductBuildVer">
    <vt:lpwstr>2057-12.2.0.23149</vt:lpwstr>
  </property>
</Properties>
</file>