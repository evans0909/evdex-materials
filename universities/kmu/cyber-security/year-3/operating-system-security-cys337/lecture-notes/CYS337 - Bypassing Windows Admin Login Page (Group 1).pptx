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34"/>
  </p:notesMasterIdLst>
  <p:sldIdLst>
    <p:sldId id="256" r:id="rId2"/>
    <p:sldId id="276" r:id="rId3"/>
    <p:sldId id="286" r:id="rId4"/>
    <p:sldId id="287" r:id="rId5"/>
    <p:sldId id="288" r:id="rId6"/>
    <p:sldId id="277" r:id="rId7"/>
    <p:sldId id="260" r:id="rId8"/>
    <p:sldId id="257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58" r:id="rId19"/>
    <p:sldId id="272" r:id="rId20"/>
    <p:sldId id="273" r:id="rId21"/>
    <p:sldId id="274" r:id="rId22"/>
    <p:sldId id="275" r:id="rId23"/>
    <p:sldId id="261" r:id="rId24"/>
    <p:sldId id="263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615" autoAdjust="0"/>
  </p:normalViewPr>
  <p:slideViewPr>
    <p:cSldViewPr snapToGrid="0">
      <p:cViewPr varScale="1">
        <p:scale>
          <a:sx n="64" d="100"/>
          <a:sy n="64" d="100"/>
        </p:scale>
        <p:origin x="7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E12C1-22DC-40D7-AEA4-501338130143}" type="datetimeFigureOut">
              <a:rPr lang="LID4096" smtClean="0"/>
              <a:t>04/16/2025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3423D0-D418-4326-9120-1F2846B7526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832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423D0-D418-4326-9120-1F2846B7526A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3204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11F1924C-DA7D-4CEC-B2E3-45AE2B5BC9A4}" type="datetime1">
              <a:rPr lang="LID4096" smtClean="0"/>
              <a:t>04/16/2025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207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9EA4-A21A-4788-A2E6-F30A72E5F288}" type="datetime1">
              <a:rPr lang="LID4096" smtClean="0"/>
              <a:t>04/16/2025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2293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614EBA4C-048B-4203-9EE2-9DB8F1F24948}" type="datetime1">
              <a:rPr lang="LID4096" smtClean="0"/>
              <a:t>04/16/2025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31205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E684B07-BA5E-44BB-AD17-3BE2562656D4}" type="datetime1">
              <a:rPr lang="LID4096" smtClean="0"/>
              <a:t>04/16/2025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53904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BE49A5A-CB26-4D63-99EB-331EA1B01EFE}" type="datetime1">
              <a:rPr lang="LID4096" smtClean="0"/>
              <a:t>04/16/2025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3298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D8107-6DBC-4E66-8B75-B98D3C3FCEC1}" type="datetime1">
              <a:rPr lang="LID4096" smtClean="0"/>
              <a:t>04/16/2025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57083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A37B68D5-C902-476F-BCBB-215DE55D6D93}" type="datetime1">
              <a:rPr lang="LID4096" smtClean="0"/>
              <a:t>04/16/2025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93498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4F663-B133-4338-951C-774995DD962F}" type="datetime1">
              <a:rPr lang="LID4096" smtClean="0"/>
              <a:t>04/16/2025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451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4BCAC63-B903-4014-8E1D-CD694C7BBF9B}" type="datetime1">
              <a:rPr lang="LID4096" smtClean="0"/>
              <a:t>04/16/2025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1823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2F1D4-A17C-4329-B9B1-6A46582DB483}" type="datetime1">
              <a:rPr lang="LID4096" smtClean="0"/>
              <a:t>04/16/2025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01816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704D138-300A-4191-8D85-94C5DC228FE7}" type="datetime1">
              <a:rPr lang="LID4096" smtClean="0"/>
              <a:t>04/16/2025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0743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1000" t="90000" r="9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34F4F-6A6A-4647-B8DE-42C988155887}" type="datetime1">
              <a:rPr lang="LID4096" smtClean="0"/>
              <a:t>04/16/2025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21561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tmp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rufus.ie/en/" TargetMode="External"/><Relationship Id="rId2" Type="http://schemas.openxmlformats.org/officeDocument/2006/relationships/hyperlink" Target="https://www.hirensbootcd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oweriso.com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D073-2ADF-4572-9D43-B8F1A2C80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Operating System Security</a:t>
            </a:r>
            <a:endParaRPr lang="LID4096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ACED3-7494-46DA-A20E-F27AB385EA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CYS337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4046489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62261-0003-40F2-A62C-952D0E28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Members of Group 1</a:t>
            </a:r>
            <a:endParaRPr lang="LID4096" b="1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09634D2-F89E-4734-B1A1-FFC0AF2F2B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3529607"/>
              </p:ext>
            </p:extLst>
          </p:nvPr>
        </p:nvGraphicFramePr>
        <p:xfrm>
          <a:off x="5118100" y="803275"/>
          <a:ext cx="6281738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869">
                  <a:extLst>
                    <a:ext uri="{9D8B030D-6E8A-4147-A177-3AD203B41FA5}">
                      <a16:colId xmlns:a16="http://schemas.microsoft.com/office/drawing/2014/main" val="1139270887"/>
                    </a:ext>
                  </a:extLst>
                </a:gridCol>
                <a:gridCol w="3140869">
                  <a:extLst>
                    <a:ext uri="{9D8B030D-6E8A-4147-A177-3AD203B41FA5}">
                      <a16:colId xmlns:a16="http://schemas.microsoft.com/office/drawing/2014/main" val="4281514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STUDENT NAME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STUDENT NUMBER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713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01. James Soko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20231392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096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02. Evans Bwalya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20231947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95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03. George Mwape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22175203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424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04. Victor Chola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20231349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411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05. Ndhlovu Cuthbelt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20231784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69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06. Ernest Washeni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20230180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752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07. Bethsaida Chileshe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20230495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787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08. Demetries Mwape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20231512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782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09.Obed Mwape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20231799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758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10. Rosaria Phiri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20230145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70024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05C16-9118-496A-808E-DE76E9560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2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E64054-C65F-4964-A50F-059C14F70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23324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62261-0003-40F2-A62C-952D0E28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Members of Group 1  (Continues…)</a:t>
            </a:r>
            <a:endParaRPr lang="LID4096" b="1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09634D2-F89E-4734-B1A1-FFC0AF2F2B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0640044"/>
              </p:ext>
            </p:extLst>
          </p:nvPr>
        </p:nvGraphicFramePr>
        <p:xfrm>
          <a:off x="5118100" y="803275"/>
          <a:ext cx="6281738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869">
                  <a:extLst>
                    <a:ext uri="{9D8B030D-6E8A-4147-A177-3AD203B41FA5}">
                      <a16:colId xmlns:a16="http://schemas.microsoft.com/office/drawing/2014/main" val="1139270887"/>
                    </a:ext>
                  </a:extLst>
                </a:gridCol>
                <a:gridCol w="3140869">
                  <a:extLst>
                    <a:ext uri="{9D8B030D-6E8A-4147-A177-3AD203B41FA5}">
                      <a16:colId xmlns:a16="http://schemas.microsoft.com/office/drawing/2014/main" val="4281514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STUDENT NAME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STUDENT NUMBER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713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11. Violet Kikumbaila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20231791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096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12. Florence Mate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20231587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95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13. Boyd Phiri Jr.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20231939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424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14. Esther Ngoma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20230442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411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15. Samuel Chishimba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20232073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69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16. Angela Bwalya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20231710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752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17. Chembo Major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22175219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787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18. Mukwasa Joshua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20231950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782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19. Howard Musakanya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20231490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758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20. Mary Chanda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20231336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70024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05C16-9118-496A-808E-DE76E9560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3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F5F947-035E-4143-BD22-7406BBC69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5028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62261-0003-40F2-A62C-952D0E28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Members of Group 1 (Continues…)</a:t>
            </a:r>
            <a:endParaRPr lang="LID4096" b="1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09634D2-F89E-4734-B1A1-FFC0AF2F2B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9142480"/>
              </p:ext>
            </p:extLst>
          </p:nvPr>
        </p:nvGraphicFramePr>
        <p:xfrm>
          <a:off x="5118100" y="803275"/>
          <a:ext cx="6281738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869">
                  <a:extLst>
                    <a:ext uri="{9D8B030D-6E8A-4147-A177-3AD203B41FA5}">
                      <a16:colId xmlns:a16="http://schemas.microsoft.com/office/drawing/2014/main" val="1139270887"/>
                    </a:ext>
                  </a:extLst>
                </a:gridCol>
                <a:gridCol w="3140869">
                  <a:extLst>
                    <a:ext uri="{9D8B030D-6E8A-4147-A177-3AD203B41FA5}">
                      <a16:colId xmlns:a16="http://schemas.microsoft.com/office/drawing/2014/main" val="4281514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STUDENT NAME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STUDENT NUMBER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713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21. Lawrence Tembo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20232016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096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22.Gabriel Kapambwe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20230192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95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23. Henry Mutale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20231604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424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24. Chimuka Muntanga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20231270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411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25. Jamin Sibeleki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20230492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69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26. Alice M. Chota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22175367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752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27. Nathan Chintu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22175221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787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28. Tracy Tembo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20231854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782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29. Courage Silweya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20230099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758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30. Mwape Champo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20230030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70024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05C16-9118-496A-808E-DE76E9560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4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E10A3-DBDE-4135-9E02-96CBF6C04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26786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62261-0003-40F2-A62C-952D0E28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Members of Group 1  (Continues…)</a:t>
            </a:r>
            <a:endParaRPr lang="LID4096" b="1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09634D2-F89E-4734-B1A1-FFC0AF2F2B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1321519"/>
              </p:ext>
            </p:extLst>
          </p:nvPr>
        </p:nvGraphicFramePr>
        <p:xfrm>
          <a:off x="5118100" y="803275"/>
          <a:ext cx="6281738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869">
                  <a:extLst>
                    <a:ext uri="{9D8B030D-6E8A-4147-A177-3AD203B41FA5}">
                      <a16:colId xmlns:a16="http://schemas.microsoft.com/office/drawing/2014/main" val="1139270887"/>
                    </a:ext>
                  </a:extLst>
                </a:gridCol>
                <a:gridCol w="3140869">
                  <a:extLst>
                    <a:ext uri="{9D8B030D-6E8A-4147-A177-3AD203B41FA5}">
                      <a16:colId xmlns:a16="http://schemas.microsoft.com/office/drawing/2014/main" val="4281514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STUDENT NAME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STUDENT NUMBER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713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31. Albertina Mwewa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20231875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096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32. Dyton Ng'ambi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20230163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95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33. Mwape Musonda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20231716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424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34. Alinuswe Simbeye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20231271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411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35. Ebby Mwale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20231492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69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36. Cindy Ngandalo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22175202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752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37. Ben Zulu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20231886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787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38. Chimba Chanda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20232011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782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39.  Denson Chishala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20231413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758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40. Jackson Maaka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20230450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70024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05C16-9118-496A-808E-DE76E9560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8AE721-EC2D-40A9-8D22-5FC40AFAE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7512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5E616-0D65-4785-A492-5C8CE5ABB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Question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0B9E5-095C-49CA-AE50-A8CB82657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Hacking Windows Admin login Account Using </a:t>
            </a:r>
            <a:r>
              <a:rPr lang="en-US" sz="2400" b="1" dirty="0"/>
              <a:t>CMD</a:t>
            </a:r>
            <a:r>
              <a:rPr lang="en-GB" sz="2400" dirty="0"/>
              <a:t> or any tool of your choice (</a:t>
            </a:r>
            <a:r>
              <a:rPr lang="en-GB" sz="2400" b="1" dirty="0"/>
              <a:t>Hiren’s BootCD PE</a:t>
            </a:r>
            <a:r>
              <a:rPr lang="en-GB" sz="2400" dirty="0"/>
              <a:t>).</a:t>
            </a:r>
          </a:p>
          <a:p>
            <a:r>
              <a:rPr lang="en-GB" sz="2400" dirty="0"/>
              <a:t>Question by Mr. Mwashi Matela</a:t>
            </a:r>
          </a:p>
          <a:p>
            <a:r>
              <a:rPr lang="en-GB" sz="2400" dirty="0"/>
              <a:t>Due on the 16</a:t>
            </a:r>
            <a:r>
              <a:rPr lang="en-GB" sz="2400" baseline="30000" dirty="0"/>
              <a:t>th</a:t>
            </a:r>
            <a:r>
              <a:rPr lang="en-GB" sz="2400" dirty="0"/>
              <a:t> of April, 2025.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3CD7E-BD81-4966-9A3B-46C57EF5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B2C997-52FA-498F-9175-C4094B500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44916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83C135-155C-4998-9D1D-A9D21309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Forgotten Your Password?</a:t>
            </a:r>
            <a:endParaRPr lang="LID4096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7E06B5-2DC6-4163-9FFC-AD2AC6F5A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Bypassing Forgotten Password Using CMD</a:t>
            </a:r>
            <a:endParaRPr lang="LID4096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BF65C-128F-44A1-83BB-7FC6F3053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7</a:t>
            </a:fld>
            <a:endParaRPr lang="LID4096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2C5A02-9328-4786-992E-D2A137030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7720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4693-58BC-474E-A5A6-BF4176EDD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Repair Mode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E171B-27F5-4D60-A5C7-D56419322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Go into Windows </a:t>
            </a:r>
            <a:r>
              <a:rPr lang="en-US" b="1" dirty="0"/>
              <a:t>repair mode</a:t>
            </a:r>
            <a:r>
              <a:rPr lang="en-US" dirty="0"/>
              <a:t>, by forcing shutdown three (3) times.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C690CAE-05CE-475D-9305-637614D53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8</a:t>
            </a:fld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BDBFF6-CDCE-41B5-B96B-B56ECC04A20F}"/>
              </a:ext>
            </a:extLst>
          </p:cNvPr>
          <p:cNvSpPr/>
          <p:nvPr/>
        </p:nvSpPr>
        <p:spPr>
          <a:xfrm>
            <a:off x="5949108" y="3899971"/>
            <a:ext cx="1828800" cy="2533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384FA3-11B4-4F25-845B-D547FB56E9BA}"/>
              </a:ext>
            </a:extLst>
          </p:cNvPr>
          <p:cNvSpPr/>
          <p:nvPr/>
        </p:nvSpPr>
        <p:spPr>
          <a:xfrm>
            <a:off x="9364337" y="3679634"/>
            <a:ext cx="1652530" cy="4737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9D5AF13-8B3E-455E-8D4B-944B9957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53FA40-6962-4EE9-9F7F-DE585A16E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927" y="1546600"/>
            <a:ext cx="5398033" cy="406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42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90B9E-8A8B-42C4-9EDC-C94BCD943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Advanced Options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4C6E6-E26D-4CB5-8D52-19244EE8C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on </a:t>
            </a:r>
            <a:r>
              <a:rPr lang="en-US" b="1" dirty="0"/>
              <a:t>Advanced Options </a:t>
            </a:r>
            <a:r>
              <a:rPr lang="en-US" dirty="0"/>
              <a:t>→ </a:t>
            </a:r>
            <a:r>
              <a:rPr lang="en-US" b="1" dirty="0"/>
              <a:t>Trouble Shoot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F0F41-D2B3-4766-96F5-AEDFCAFCA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9</a:t>
            </a:fld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8C3099-A296-4A01-9EE1-B383301C24FB}"/>
              </a:ext>
            </a:extLst>
          </p:cNvPr>
          <p:cNvSpPr/>
          <p:nvPr/>
        </p:nvSpPr>
        <p:spPr>
          <a:xfrm>
            <a:off x="9188067" y="3260993"/>
            <a:ext cx="892367" cy="39660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7BBE90-2FCD-4287-A8C6-4EB49BA891C8}"/>
              </a:ext>
            </a:extLst>
          </p:cNvPr>
          <p:cNvSpPr/>
          <p:nvPr/>
        </p:nvSpPr>
        <p:spPr>
          <a:xfrm>
            <a:off x="5508434" y="5541484"/>
            <a:ext cx="2622014" cy="53087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DAF8E03-9860-4D92-9F17-4BD69CC3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C0AADD-AA68-443A-B0C6-18D8EA41D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043" y="1717347"/>
            <a:ext cx="6281874" cy="17018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6E91EEC-4EE7-4FB5-9A42-23A2BC7DF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042" y="3467158"/>
            <a:ext cx="6274122" cy="277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19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69D0-AA55-4BC3-BB35-BBDB28EAB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Recovery Options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7D64D-2740-43E5-A43F-F8369ABF9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Advanced Options </a:t>
            </a:r>
            <a:r>
              <a:rPr lang="en-US" dirty="0"/>
              <a:t>→ </a:t>
            </a:r>
            <a:r>
              <a:rPr lang="en-US" b="1" dirty="0"/>
              <a:t>See More Recovery Options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E7673-7E6D-4C40-B58A-395F6BC7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10</a:t>
            </a:fld>
            <a:endParaRPr lang="LID4096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9B838E-32F6-4B57-BD98-EBF05177BA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3" t="7969" r="18850" b="26590"/>
          <a:stretch/>
        </p:blipFill>
        <p:spPr>
          <a:xfrm>
            <a:off x="5423339" y="3469752"/>
            <a:ext cx="6053959" cy="27451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9643BC2-1B20-445A-8BB8-8A4F7E4A1CB2}"/>
              </a:ext>
            </a:extLst>
          </p:cNvPr>
          <p:cNvSpPr/>
          <p:nvPr/>
        </p:nvSpPr>
        <p:spPr>
          <a:xfrm>
            <a:off x="6096000" y="2434728"/>
            <a:ext cx="2882747" cy="5138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BD8748-5CA7-4C75-AE93-B8023DCB8A69}"/>
              </a:ext>
            </a:extLst>
          </p:cNvPr>
          <p:cNvSpPr/>
          <p:nvPr/>
        </p:nvSpPr>
        <p:spPr>
          <a:xfrm>
            <a:off x="5916058" y="5871990"/>
            <a:ext cx="2313542" cy="2849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57FFA5C-D846-4409-A909-B488AB54E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453E34-3CA8-43AE-BA4C-45EB70946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339" y="1375195"/>
            <a:ext cx="6053959" cy="201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19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5C386-9983-4E9F-BECE-C874A544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Image Recovery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E3E73-B31A-415A-800F-C14955787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System Image Recovery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953914-A44D-4ADA-9954-A22D7C486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11</a:t>
            </a:fld>
            <a:endParaRPr lang="LID4096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063ADF-4CF8-466C-8C08-51062AC0BB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7" t="4667" r="37816" b="61532"/>
          <a:stretch/>
        </p:blipFill>
        <p:spPr>
          <a:xfrm>
            <a:off x="5433847" y="1528730"/>
            <a:ext cx="4309243" cy="231805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6C1EFF8-DA52-4E41-831D-182B3E6F68D2}"/>
              </a:ext>
            </a:extLst>
          </p:cNvPr>
          <p:cNvSpPr/>
          <p:nvPr/>
        </p:nvSpPr>
        <p:spPr>
          <a:xfrm>
            <a:off x="6096000" y="2349925"/>
            <a:ext cx="2783595" cy="12636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31267F2-B2A2-49F6-9B29-72137C24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1810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13A20-5C6D-47B6-98C3-EBE5F3D6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Image Recovery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2E4DD-BA24-448B-B064-1D9DFFCAB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ever will pop up on the screen, click on </a:t>
            </a:r>
            <a:r>
              <a:rPr lang="en-US" b="1" dirty="0"/>
              <a:t>Cancel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LID4096" dirty="0"/>
          </a:p>
          <a:p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37B82F-C685-49FD-A478-538238C5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12</a:t>
            </a:fld>
            <a:endParaRPr lang="LID4096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D011B6-0825-46B6-9996-56C5D42D5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0B0001-DBC6-488F-9152-2C70AEF41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760" y="1316793"/>
            <a:ext cx="5517124" cy="456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95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ECD17-5FF0-4DC3-AA2A-AFA7943EC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Image Recovery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47223-A649-4F3D-8094-70481BF6D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Select a </a:t>
            </a:r>
            <a:r>
              <a:rPr lang="en-US" b="1" dirty="0"/>
              <a:t>system image backup </a:t>
            </a:r>
            <a:r>
              <a:rPr lang="en-US" dirty="0"/>
              <a:t>→ </a:t>
            </a:r>
            <a:r>
              <a:rPr lang="en-US" b="1" dirty="0"/>
              <a:t>Next &gt;</a:t>
            </a:r>
            <a:r>
              <a:rPr lang="en-US" dirty="0"/>
              <a:t> → </a:t>
            </a:r>
            <a:r>
              <a:rPr lang="en-US" b="1" dirty="0"/>
              <a:t>Advanced…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05E97-C18E-429D-95B0-1AFC34EE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13</a:t>
            </a:fld>
            <a:endParaRPr lang="LID4096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8C01F50-2363-4212-8728-88FF1EDD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A2B0530-6C55-4BCC-8188-4B86A04A1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677" y="1639841"/>
            <a:ext cx="3219615" cy="25845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8C08ED-BC9C-48DC-9D7C-1D8D3B4AC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897" y="1639841"/>
            <a:ext cx="3225966" cy="257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86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70006-CD33-4980-804B-D36ABC9E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Image Recovery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2D5C6-3194-4AC3-958E-54030A2FE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new window will pop, click </a:t>
            </a:r>
            <a:r>
              <a:rPr lang="en-US" b="1" dirty="0"/>
              <a:t>Install a Driver </a:t>
            </a:r>
            <a:r>
              <a:rPr lang="en-US" dirty="0"/>
              <a:t>→ </a:t>
            </a:r>
            <a:r>
              <a:rPr lang="en-US" b="1" dirty="0"/>
              <a:t>OK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8166C-4A71-4E1C-BC76-26E970892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14</a:t>
            </a:fld>
            <a:endParaRPr lang="LID4096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36549E6-58E4-4AB0-B531-ABDABC45C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658962-7729-4A67-8B76-1D8DFD68D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435" y="1308182"/>
            <a:ext cx="3276769" cy="27433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1776A9-8A9B-45E4-BA96-39D120F902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496" y="1308182"/>
            <a:ext cx="3276768" cy="274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63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BBD99-F33A-454E-9230-3EF460645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Local Disk (C) / (D)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56827-89F0-48B9-A8FB-A57705250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on </a:t>
            </a:r>
            <a:r>
              <a:rPr lang="en-US" b="1" dirty="0"/>
              <a:t>This PC </a:t>
            </a:r>
            <a:r>
              <a:rPr lang="en-US" dirty="0"/>
              <a:t>→ </a:t>
            </a:r>
            <a:r>
              <a:rPr lang="en-US" b="1" dirty="0"/>
              <a:t>Local Disk (C) / (D)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4594D-C053-4C32-9A60-49973AB2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15</a:t>
            </a:fld>
            <a:endParaRPr lang="LID4096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FE96CF9-FC3A-4966-83FD-2AF2DE52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182A61-D0F3-4C39-A4DD-8805D6E73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120" y="1417052"/>
            <a:ext cx="5943200" cy="445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057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BD043-D379-4E56-A0E4-BD467B421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System32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FAD97-48FA-4D36-811B-EC818DB2A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Navigate the Folders;</a:t>
            </a:r>
          </a:p>
          <a:p>
            <a:r>
              <a:rPr lang="en-US" dirty="0"/>
              <a:t> </a:t>
            </a:r>
            <a:r>
              <a:rPr lang="en-US" b="1" dirty="0"/>
              <a:t>Windows</a:t>
            </a:r>
            <a:r>
              <a:rPr lang="en-US" dirty="0"/>
              <a:t> → </a:t>
            </a:r>
            <a:r>
              <a:rPr lang="en-US" b="1" dirty="0"/>
              <a:t>System32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6F6A0-9D59-461D-AE96-FC6DBDDC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16</a:t>
            </a:fld>
            <a:endParaRPr lang="LID4096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1002748-1391-4106-B0BA-B2A94A76A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5CFDFEC-528B-4C64-958C-1EE542A90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114" y="1527557"/>
            <a:ext cx="5834166" cy="21190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8250B60-5AF9-417B-81C8-C29F46DCD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114" y="3809689"/>
            <a:ext cx="5834166" cy="224211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12F91B6-0365-45BE-8F37-9C35F732E8C8}"/>
              </a:ext>
            </a:extLst>
          </p:cNvPr>
          <p:cNvSpPr/>
          <p:nvPr/>
        </p:nvSpPr>
        <p:spPr>
          <a:xfrm>
            <a:off x="6665205" y="2864386"/>
            <a:ext cx="848299" cy="1983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2D60D2-F0A3-43D2-A809-154898DCD938}"/>
              </a:ext>
            </a:extLst>
          </p:cNvPr>
          <p:cNvSpPr/>
          <p:nvPr/>
        </p:nvSpPr>
        <p:spPr>
          <a:xfrm>
            <a:off x="6665205" y="4726236"/>
            <a:ext cx="848299" cy="1652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52200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6CD7-5FE1-4CA5-98BB-147251FFA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Utility Manager (Utilman)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65523-BE1B-4ADD-8776-64EBBC980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file called </a:t>
            </a:r>
            <a:r>
              <a:rPr lang="en-US" b="1" dirty="0"/>
              <a:t>Utilman</a:t>
            </a:r>
            <a:r>
              <a:rPr lang="en-US" dirty="0"/>
              <a:t> and </a:t>
            </a:r>
            <a:r>
              <a:rPr lang="en-US" b="1" dirty="0"/>
              <a:t>Rename</a:t>
            </a:r>
            <a:r>
              <a:rPr lang="en-US" dirty="0"/>
              <a:t> it (e.g., </a:t>
            </a:r>
            <a:r>
              <a:rPr lang="en-US" b="1" dirty="0"/>
              <a:t>Utilman12</a:t>
            </a:r>
            <a:r>
              <a:rPr lang="en-US" dirty="0"/>
              <a:t>) and </a:t>
            </a:r>
            <a:r>
              <a:rPr lang="en-US" b="1" dirty="0"/>
              <a:t>Refresh</a:t>
            </a:r>
            <a:r>
              <a:rPr lang="en-US" dirty="0"/>
              <a:t> the screen.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7D617-76FE-4CED-B47D-E7977048A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17</a:t>
            </a:fld>
            <a:endParaRPr lang="LID4096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8B7A3EAE-8ACD-47EB-B766-AE1824A1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8FFD10F-98DE-4D1E-95F9-7AF6041B8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695" y="1524382"/>
            <a:ext cx="5884585" cy="222135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B5816AE-F3B7-4A1A-B225-47E3A488F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694" y="3824743"/>
            <a:ext cx="5900625" cy="240232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61B045A-C82B-47FC-B0F8-C41CA7FB313A}"/>
              </a:ext>
            </a:extLst>
          </p:cNvPr>
          <p:cNvSpPr/>
          <p:nvPr/>
        </p:nvSpPr>
        <p:spPr>
          <a:xfrm>
            <a:off x="6610120" y="2599981"/>
            <a:ext cx="749147" cy="143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3C67A8-045D-410A-8AF3-EB58824F8212}"/>
              </a:ext>
            </a:extLst>
          </p:cNvPr>
          <p:cNvSpPr/>
          <p:nvPr/>
        </p:nvSpPr>
        <p:spPr>
          <a:xfrm>
            <a:off x="6610120" y="4902506"/>
            <a:ext cx="892367" cy="154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6557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D7D6-906B-4651-A5AD-EA8710F23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Command Prompt (CMD)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458EA-E460-4C52-92E1-976AA1CC9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Locate </a:t>
            </a:r>
            <a:r>
              <a:rPr lang="en-US" b="1" dirty="0"/>
              <a:t>cmd</a:t>
            </a:r>
            <a:r>
              <a:rPr lang="en-US" dirty="0"/>
              <a:t> and </a:t>
            </a:r>
            <a:r>
              <a:rPr lang="en-US" b="1" dirty="0"/>
              <a:t>Rename</a:t>
            </a:r>
            <a:r>
              <a:rPr lang="en-US" dirty="0"/>
              <a:t> it to </a:t>
            </a:r>
            <a:r>
              <a:rPr lang="en-US" b="1" dirty="0"/>
              <a:t>Utilman</a:t>
            </a:r>
            <a:r>
              <a:rPr lang="en-US" dirty="0"/>
              <a:t> and </a:t>
            </a:r>
            <a:r>
              <a:rPr lang="en-US" b="1" dirty="0"/>
              <a:t>Refresh</a:t>
            </a:r>
            <a:r>
              <a:rPr lang="en-US" dirty="0"/>
              <a:t> the screen.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595A81-6DF9-4B1D-9464-A7DB52B09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18</a:t>
            </a:fld>
            <a:endParaRPr lang="LID4096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475210-EC3C-4B37-B781-48C3E40D2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724C2B-B277-4193-ACEA-403658A3C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628" y="1521207"/>
            <a:ext cx="5928652" cy="2257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93D8E1-2E8C-4927-822F-83C549887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628" y="3859280"/>
            <a:ext cx="5928652" cy="225757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42E976E-2A5F-41D8-9D41-2386883B9112}"/>
              </a:ext>
            </a:extLst>
          </p:cNvPr>
          <p:cNvSpPr/>
          <p:nvPr/>
        </p:nvSpPr>
        <p:spPr>
          <a:xfrm>
            <a:off x="6577070" y="2467778"/>
            <a:ext cx="594911" cy="14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8F0A38-4562-4BC9-ABCB-A81CF969E71D}"/>
              </a:ext>
            </a:extLst>
          </p:cNvPr>
          <p:cNvSpPr/>
          <p:nvPr/>
        </p:nvSpPr>
        <p:spPr>
          <a:xfrm>
            <a:off x="6561030" y="4594034"/>
            <a:ext cx="875356" cy="3525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14624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B95E0-B29E-4CCE-8BFE-BDDAD9E6B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Accessibility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09F8C-D2B5-4636-AA54-94259AADB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Close all the windows or tabs then click on </a:t>
            </a:r>
            <a:r>
              <a:rPr lang="en-US" b="1" dirty="0"/>
              <a:t>Continue</a:t>
            </a:r>
            <a:r>
              <a:rPr lang="en-US" dirty="0"/>
              <a:t>, wait for your Computer to restart and click on the Magic Icon (</a:t>
            </a:r>
            <a:r>
              <a:rPr lang="en-US" b="1" dirty="0"/>
              <a:t>Accessibility</a:t>
            </a:r>
            <a:r>
              <a:rPr lang="en-US" dirty="0"/>
              <a:t>) which is next to the Internet Icon.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E191CA-757B-47DF-ADEB-AEB56920A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19</a:t>
            </a:fld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E3B340-4C9A-440D-9416-C653C5AA5A3F}"/>
              </a:ext>
            </a:extLst>
          </p:cNvPr>
          <p:cNvSpPr/>
          <p:nvPr/>
        </p:nvSpPr>
        <p:spPr>
          <a:xfrm>
            <a:off x="10862631" y="5838940"/>
            <a:ext cx="297456" cy="3200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4411544-FE08-4E4E-90BB-439BE4769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8C082E-4734-494B-A359-C404892C6B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974"/>
          <a:stretch/>
        </p:blipFill>
        <p:spPr>
          <a:xfrm>
            <a:off x="5439803" y="1882744"/>
            <a:ext cx="3100000" cy="25240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4269D1-278C-4A7B-90F9-0F1335BF7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9258" y="1882744"/>
            <a:ext cx="2959669" cy="25240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F481C5-175F-4290-93D3-7C99FE7608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251" y="4582003"/>
            <a:ext cx="2622013" cy="81626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D4BCF5D-C679-475F-8C97-A31A0E05EC5F}"/>
              </a:ext>
            </a:extLst>
          </p:cNvPr>
          <p:cNvSpPr/>
          <p:nvPr/>
        </p:nvSpPr>
        <p:spPr>
          <a:xfrm>
            <a:off x="8659258" y="4704202"/>
            <a:ext cx="495759" cy="53982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75216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7E9DD-6FDF-4616-A55F-E37BB597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User Accounts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5885E-692D-4A9D-9606-3A44A3222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Command Prompt </a:t>
            </a:r>
            <a:r>
              <a:rPr lang="en-US" dirty="0"/>
              <a:t>will appear, type in the command;</a:t>
            </a:r>
          </a:p>
          <a:p>
            <a:r>
              <a:rPr lang="en-US" dirty="0"/>
              <a:t> </a:t>
            </a:r>
            <a:r>
              <a:rPr lang="en-US" b="1" dirty="0"/>
              <a:t>control userpasswords2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81C6BD-534D-4513-9A62-64364594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20</a:t>
            </a:fld>
            <a:endParaRPr lang="LID4096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40F05D4-776A-48CB-8AF1-35B854C90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C050D1-4692-416C-860F-BF8A1BC56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190" y="1575279"/>
            <a:ext cx="5864090" cy="141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863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A8E40-0934-45FA-B8D8-7277B789C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User Accounts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81625-1709-407D-9C21-A63A90B6B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Then under </a:t>
            </a:r>
            <a:r>
              <a:rPr lang="en-US" b="1" dirty="0"/>
              <a:t>User Accounts</a:t>
            </a:r>
            <a:r>
              <a:rPr lang="en-US" dirty="0"/>
              <a:t>, click </a:t>
            </a:r>
            <a:r>
              <a:rPr lang="en-US" b="1" dirty="0"/>
              <a:t>Reset Password…</a:t>
            </a:r>
          </a:p>
          <a:p>
            <a:r>
              <a:rPr lang="en-US" dirty="0"/>
              <a:t>Enter New Password or leave it blank and click on </a:t>
            </a:r>
            <a:r>
              <a:rPr lang="en-US" b="1" dirty="0"/>
              <a:t>OK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1F02A-A1D2-4698-8AE2-094944B64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21</a:t>
            </a:fld>
            <a:endParaRPr lang="LID4096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5999FCE-C7BB-4CEF-B9A5-8EADF680F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A2BEC5-9BE9-41FF-85B0-3001AA9925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423" y="1839915"/>
            <a:ext cx="3680628" cy="421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60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834BF-F5DC-45EE-92BA-234EDA20F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Login Page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573E8-F436-4F61-9060-FDD8AED12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Close the </a:t>
            </a:r>
            <a:r>
              <a:rPr lang="en-US" b="1" dirty="0"/>
              <a:t>Command Prompt </a:t>
            </a:r>
            <a:r>
              <a:rPr lang="en-US" dirty="0"/>
              <a:t>then </a:t>
            </a:r>
            <a:r>
              <a:rPr lang="en-US" b="1" dirty="0"/>
              <a:t>Sign In </a:t>
            </a:r>
            <a:r>
              <a:rPr lang="en-US" dirty="0"/>
              <a:t>with or without a password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233CF-7EC3-49CE-A8FB-343A81666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22</a:t>
            </a:fld>
            <a:endParaRPr lang="LID4096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F328081-6995-4C8E-B7BF-912DF1FC8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2AC61F-8E3E-48EE-AF1D-34CD1B4F1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9190" y="1477020"/>
            <a:ext cx="6407479" cy="475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749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495E58F-5483-467D-BEDD-E6C81262F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Forgotten Your Password?</a:t>
            </a:r>
            <a:endParaRPr lang="LID4096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6661ADE-4F58-4A6C-8126-DB449BDD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Bypassing Forgotten Password Using Hirens BootCD PE</a:t>
            </a:r>
            <a:endParaRPr lang="LID4096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D729A-3A09-4886-9E7F-8A777CC2E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23</a:t>
            </a:fld>
            <a:endParaRPr lang="LID4096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C146423-5584-4705-80BF-ACC3DCBF8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1504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A45C21A-E015-45FF-B3DE-9E4805793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Creating a Bootable Device</a:t>
            </a:r>
            <a:endParaRPr lang="LID4096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ED3BD-71BF-4877-9696-8D7644C2E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you’ve downloaded </a:t>
            </a:r>
            <a:r>
              <a:rPr lang="en-US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Hiren’s BootCD PE </a:t>
            </a:r>
            <a:r>
              <a:rPr lang="en-US" dirty="0"/>
              <a:t>from the actual web, the file will be written as .iso</a:t>
            </a:r>
          </a:p>
          <a:p>
            <a:r>
              <a:rPr lang="en-US" dirty="0"/>
              <a:t>Use a booting tool such as </a:t>
            </a:r>
            <a:r>
              <a:rPr lang="en-US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Rufus</a:t>
            </a:r>
            <a:r>
              <a:rPr lang="en-US" dirty="0"/>
              <a:t> or </a:t>
            </a:r>
            <a:r>
              <a:rPr lang="en-US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PowerISO</a:t>
            </a:r>
            <a:r>
              <a:rPr lang="en-US" b="1" dirty="0"/>
              <a:t> </a:t>
            </a:r>
            <a:r>
              <a:rPr lang="en-US" dirty="0"/>
              <a:t>to make the .iso file bootable into your USB drive.</a:t>
            </a:r>
          </a:p>
          <a:p>
            <a:pPr marL="0" indent="0">
              <a:buNone/>
            </a:pPr>
            <a:r>
              <a:rPr lang="en-GB" b="1" dirty="0"/>
              <a:t>OR</a:t>
            </a:r>
          </a:p>
          <a:p>
            <a:r>
              <a:rPr lang="en-US" dirty="0"/>
              <a:t>If you have the Hiren’s BootCD PE as a folder, copy the files into an USB drive and you are ready to go.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EBE17-EFD8-4872-A7AD-CA7E590F4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24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7B9257-296A-44F3-A009-ED9F5801C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685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57D71-70CC-419A-9991-3C388CCF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Boot Menu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3DA75-538E-46D5-BC8B-917011CD4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Shutdown</a:t>
            </a:r>
            <a:r>
              <a:rPr lang="en-US" dirty="0"/>
              <a:t> and </a:t>
            </a:r>
            <a:r>
              <a:rPr lang="en-US" b="1" dirty="0"/>
              <a:t>restart </a:t>
            </a:r>
            <a:r>
              <a:rPr lang="en-US" dirty="0"/>
              <a:t>your PC into the </a:t>
            </a:r>
            <a:r>
              <a:rPr lang="en-US" b="1" dirty="0"/>
              <a:t>Boot menu </a:t>
            </a:r>
            <a:r>
              <a:rPr lang="en-US" dirty="0"/>
              <a:t>by pressing </a:t>
            </a:r>
            <a:r>
              <a:rPr lang="en-US" b="1" dirty="0"/>
              <a:t>F12</a:t>
            </a:r>
            <a:r>
              <a:rPr lang="en-US" dirty="0"/>
              <a:t> repeatedly depending on your manufacturer.</a:t>
            </a:r>
          </a:p>
          <a:p>
            <a:r>
              <a:rPr lang="en-US" dirty="0"/>
              <a:t>Select the bootable USB drive e.g., UEFI: </a:t>
            </a:r>
            <a:r>
              <a:rPr lang="en-US" b="1" dirty="0"/>
              <a:t>VendorCoProductCode 2.00, Partition 1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5A7D45-FEE2-48FD-98A0-FDDC71104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25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D74ABE-F883-413F-A47B-A3334664F7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5" t="4667" b="55823"/>
          <a:stretch/>
        </p:blipFill>
        <p:spPr>
          <a:xfrm>
            <a:off x="5453349" y="2807116"/>
            <a:ext cx="5946971" cy="3244692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6E7DFC-0F6C-4158-A53B-E597AF94B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93247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84E0-CC85-45E4-8223-B4EF61CA4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Hiren’s BootCD PE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6BA95-8FC5-4F74-96D1-C1F2A361C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Wait for Hiren’s BootCD PE to initialize and load up.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0EB4B-B985-423E-B6FD-20EEB30A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26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C2EC2B-14CA-4017-BB88-9DECE66CE1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36" b="35904"/>
          <a:stretch/>
        </p:blipFill>
        <p:spPr>
          <a:xfrm>
            <a:off x="5463218" y="1178804"/>
            <a:ext cx="5937102" cy="6830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576313-63AA-42F5-9DD8-3B35173A6B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0" t="25382" b="32691"/>
          <a:stretch/>
        </p:blipFill>
        <p:spPr>
          <a:xfrm>
            <a:off x="5463218" y="1989795"/>
            <a:ext cx="5921062" cy="3689401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1581655-A0BA-4D99-8531-F65DAF76E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858617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6A968-74D7-4172-9F27-DE218FE7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Utilities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4F1CA-5A3D-4198-89F5-575FCC970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Navigate to the folder called </a:t>
            </a:r>
            <a:r>
              <a:rPr lang="en-US" b="1" dirty="0"/>
              <a:t>Utilities</a:t>
            </a:r>
            <a:r>
              <a:rPr lang="en-US" dirty="0"/>
              <a:t> (Located on the Desktop)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940CF-7854-4701-B728-E2284003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27</a:t>
            </a:fld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FC4726-9AFC-42E8-966C-7A460817C3D7}"/>
              </a:ext>
            </a:extLst>
          </p:cNvPr>
          <p:cNvSpPr/>
          <p:nvPr/>
        </p:nvSpPr>
        <p:spPr>
          <a:xfrm>
            <a:off x="5508434" y="2599981"/>
            <a:ext cx="396607" cy="4627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1CB3ED-D934-4CC4-9B31-121EA498A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D4A877-0D86-4D3D-B624-64FDA72ED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458" y="1589413"/>
            <a:ext cx="5984862" cy="294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468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57B9F-459D-49DC-9A17-BC8A6428A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Security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B7DF6-9E2A-4859-BC93-0CBD4012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Navigate to the folder called </a:t>
            </a:r>
            <a:r>
              <a:rPr lang="en-US" b="1" dirty="0"/>
              <a:t>Security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CB6D87-B9C2-4B32-8647-B8594D16A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28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A1CC5F-6450-4F48-A699-36A0293B3A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3" t="15423" r="23895" b="19999"/>
          <a:stretch/>
        </p:blipFill>
        <p:spPr>
          <a:xfrm>
            <a:off x="5442333" y="1213106"/>
            <a:ext cx="6202496" cy="44287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FAB27D6-2CA9-465C-B853-1208D9996306}"/>
              </a:ext>
            </a:extLst>
          </p:cNvPr>
          <p:cNvSpPr/>
          <p:nvPr/>
        </p:nvSpPr>
        <p:spPr>
          <a:xfrm>
            <a:off x="6841475" y="4329629"/>
            <a:ext cx="705079" cy="2313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2EC64D3-80EA-498A-A5EB-969F14D6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16606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881FF-659D-411E-BCE6-B8F904E7E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Passwords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85106-61F4-4736-A87B-2DCD07FBB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Navigate to the folder called </a:t>
            </a:r>
            <a:r>
              <a:rPr lang="en-US" b="1" dirty="0"/>
              <a:t>Passwords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5A88E-AF30-489A-9207-097CEBB8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29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C4B1F4-0F55-497A-A0DE-BF57DEE015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3" t="9334" r="23414" b="56466"/>
          <a:stretch/>
        </p:blipFill>
        <p:spPr>
          <a:xfrm>
            <a:off x="5420298" y="1177179"/>
            <a:ext cx="6466901" cy="234549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3BD9F0-9861-4374-A1AB-0C5C2B7B27E1}"/>
              </a:ext>
            </a:extLst>
          </p:cNvPr>
          <p:cNvSpPr/>
          <p:nvPr/>
        </p:nvSpPr>
        <p:spPr>
          <a:xfrm>
            <a:off x="6984694" y="3018622"/>
            <a:ext cx="914400" cy="2974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A3276AE-5452-43CB-88D9-7D7CA916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8209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DA04B-9A0B-4804-B534-B05121735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NT Password Edit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91006-DB75-4324-B31A-9939FDACA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Tools → </a:t>
            </a:r>
            <a:r>
              <a:rPr lang="en-GB" b="1" dirty="0"/>
              <a:t>NT Password Edit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55FDC8-1917-48E3-B2CF-77986280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30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BA0A5E-3B85-4579-9BFE-DFC0A4BED4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6" t="14137" r="17751" b="52289"/>
          <a:stretch/>
        </p:blipFill>
        <p:spPr>
          <a:xfrm>
            <a:off x="5387249" y="1198661"/>
            <a:ext cx="6281873" cy="24809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5956D5-EE4C-4249-800D-620A170A47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15582" r="31316" b="54057"/>
          <a:stretch/>
        </p:blipFill>
        <p:spPr>
          <a:xfrm>
            <a:off x="5387248" y="3765272"/>
            <a:ext cx="6281873" cy="22865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DC353B5-794F-44B6-9B58-CE9D776B0A41}"/>
              </a:ext>
            </a:extLst>
          </p:cNvPr>
          <p:cNvSpPr/>
          <p:nvPr/>
        </p:nvSpPr>
        <p:spPr>
          <a:xfrm>
            <a:off x="6731306" y="2919470"/>
            <a:ext cx="1167788" cy="308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37A3C9-9C21-48D7-8C40-2FD7DE84139D}"/>
              </a:ext>
            </a:extLst>
          </p:cNvPr>
          <p:cNvSpPr/>
          <p:nvPr/>
        </p:nvSpPr>
        <p:spPr>
          <a:xfrm>
            <a:off x="5607586" y="5497417"/>
            <a:ext cx="980501" cy="253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3E81FD2-B8DB-4841-8B3D-4BBD08E7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57771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021C2-FD67-4ECC-B9A3-C2FD6E82A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Changing The User Password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8C3A2-B6F8-4200-AB89-5C9BF1E41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Change the password </a:t>
            </a:r>
            <a:r>
              <a:rPr lang="en-GB" dirty="0"/>
              <a:t>for the user and </a:t>
            </a:r>
            <a:r>
              <a:rPr lang="en-GB" b="1" dirty="0"/>
              <a:t>shutdown</a:t>
            </a:r>
            <a:r>
              <a:rPr lang="en-GB" dirty="0"/>
              <a:t> Hiren’s BootCD PE.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FBF3C7-9DB9-4E6B-95B6-5921E9554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31</a:t>
            </a:fld>
            <a:endParaRPr lang="LID4096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49A28E-BADB-4E0F-A166-8767092A63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2" t="37269" r="45342" b="27538"/>
          <a:stretch/>
        </p:blipFill>
        <p:spPr>
          <a:xfrm>
            <a:off x="5431315" y="1630495"/>
            <a:ext cx="4021158" cy="17723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EF623D-AE29-4A51-9DA4-7B8C14C9F0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5" b="26265"/>
          <a:stretch/>
        </p:blipFill>
        <p:spPr>
          <a:xfrm>
            <a:off x="5431315" y="3455111"/>
            <a:ext cx="4979824" cy="277195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81662F2-15CF-4884-B4A7-01F386589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0903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8732C77-F44A-4EE0-A191-321429425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Questions?</a:t>
            </a:r>
            <a:endParaRPr lang="LID4096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D5E8B2B-8DAC-420D-8733-E28987960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End of Presentation</a:t>
            </a:r>
            <a:endParaRPr lang="LID4096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676D1-4B4D-42D4-B345-4863EF64A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32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002B-28FF-4E60-90A7-E36EA694F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Group 1 Members for Mr. Mwashi Matela | © 2025 Kapasa Makasa University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73129239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C0CB9708-C445-4049-9D7F-4C8684E69A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783</TotalTime>
  <Words>1264</Words>
  <Application>Microsoft Office PowerPoint</Application>
  <PresentationFormat>Widescreen</PresentationFormat>
  <Paragraphs>396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Calibri</vt:lpstr>
      <vt:lpstr>Calibri Light</vt:lpstr>
      <vt:lpstr>Rockwell</vt:lpstr>
      <vt:lpstr>Wingdings</vt:lpstr>
      <vt:lpstr>Atlas</vt:lpstr>
      <vt:lpstr>Operating System Security</vt:lpstr>
      <vt:lpstr>Members of Group 1</vt:lpstr>
      <vt:lpstr>Members of Group 1  (Continues…)</vt:lpstr>
      <vt:lpstr>Members of Group 1 (Continues…)</vt:lpstr>
      <vt:lpstr>Members of Group 1  (Continues…)</vt:lpstr>
      <vt:lpstr>Question</vt:lpstr>
      <vt:lpstr>Forgotten Your Password?</vt:lpstr>
      <vt:lpstr>Repair Mode</vt:lpstr>
      <vt:lpstr>Advanced Options</vt:lpstr>
      <vt:lpstr>Recovery Options </vt:lpstr>
      <vt:lpstr>Image Recovery</vt:lpstr>
      <vt:lpstr>Image Recovery (Continues…)</vt:lpstr>
      <vt:lpstr>Image Recovery (Continues…)</vt:lpstr>
      <vt:lpstr>Image Recovery (Continues…)</vt:lpstr>
      <vt:lpstr>Local Disk (C) / (D)</vt:lpstr>
      <vt:lpstr>System32</vt:lpstr>
      <vt:lpstr>Utility Manager (Utilman) </vt:lpstr>
      <vt:lpstr>Command Prompt (CMD)</vt:lpstr>
      <vt:lpstr>Accessibility </vt:lpstr>
      <vt:lpstr>User Accounts</vt:lpstr>
      <vt:lpstr>User Accounts (Continues…)</vt:lpstr>
      <vt:lpstr>Login Page</vt:lpstr>
      <vt:lpstr>Forgotten Your Password?</vt:lpstr>
      <vt:lpstr>Creating a Bootable Device</vt:lpstr>
      <vt:lpstr>Boot Menu</vt:lpstr>
      <vt:lpstr>Hiren’s BootCD PE</vt:lpstr>
      <vt:lpstr>Utilities </vt:lpstr>
      <vt:lpstr>Security</vt:lpstr>
      <vt:lpstr>Passwords</vt:lpstr>
      <vt:lpstr>NT Password Edit</vt:lpstr>
      <vt:lpstr>Changing The User Password 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</dc:title>
  <dc:creator>James Soko</dc:creator>
  <cp:lastModifiedBy>James Soko</cp:lastModifiedBy>
  <cp:revision>75</cp:revision>
  <dcterms:created xsi:type="dcterms:W3CDTF">2025-02-26T16:23:36Z</dcterms:created>
  <dcterms:modified xsi:type="dcterms:W3CDTF">2025-04-16T10:54:44Z</dcterms:modified>
</cp:coreProperties>
</file>