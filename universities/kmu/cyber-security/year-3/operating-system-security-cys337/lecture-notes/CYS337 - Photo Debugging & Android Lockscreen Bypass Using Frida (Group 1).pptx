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1" r:id="rId3"/>
    <p:sldId id="292" r:id="rId4"/>
    <p:sldId id="293" r:id="rId5"/>
    <p:sldId id="300" r:id="rId6"/>
    <p:sldId id="301" r:id="rId7"/>
    <p:sldId id="273" r:id="rId8"/>
    <p:sldId id="261" r:id="rId9"/>
    <p:sldId id="323" r:id="rId10"/>
    <p:sldId id="305" r:id="rId11"/>
    <p:sldId id="322" r:id="rId12"/>
    <p:sldId id="259" r:id="rId13"/>
    <p:sldId id="260" r:id="rId14"/>
    <p:sldId id="325" r:id="rId15"/>
    <p:sldId id="326" r:id="rId16"/>
    <p:sldId id="327" r:id="rId17"/>
    <p:sldId id="328" r:id="rId18"/>
    <p:sldId id="329" r:id="rId19"/>
    <p:sldId id="283" r:id="rId20"/>
    <p:sldId id="321" r:id="rId21"/>
    <p:sldId id="290" r:id="rId22"/>
    <p:sldId id="274" r:id="rId23"/>
    <p:sldId id="306" r:id="rId24"/>
    <p:sldId id="265" r:id="rId25"/>
    <p:sldId id="266" r:id="rId26"/>
    <p:sldId id="267" r:id="rId27"/>
    <p:sldId id="271" r:id="rId28"/>
    <p:sldId id="276" r:id="rId29"/>
    <p:sldId id="307" r:id="rId30"/>
    <p:sldId id="308" r:id="rId31"/>
    <p:sldId id="268" r:id="rId32"/>
    <p:sldId id="269" r:id="rId33"/>
    <p:sldId id="309" r:id="rId34"/>
    <p:sldId id="311" r:id="rId35"/>
    <p:sldId id="310" r:id="rId36"/>
    <p:sldId id="312" r:id="rId37"/>
    <p:sldId id="324" r:id="rId38"/>
    <p:sldId id="314" r:id="rId39"/>
    <p:sldId id="313" r:id="rId40"/>
    <p:sldId id="270" r:id="rId41"/>
    <p:sldId id="275" r:id="rId42"/>
    <p:sldId id="277" r:id="rId43"/>
    <p:sldId id="272" r:id="rId44"/>
    <p:sldId id="278" r:id="rId45"/>
    <p:sldId id="279" r:id="rId46"/>
    <p:sldId id="287" r:id="rId47"/>
    <p:sldId id="288" r:id="rId48"/>
    <p:sldId id="294" r:id="rId49"/>
    <p:sldId id="295" r:id="rId50"/>
    <p:sldId id="296" r:id="rId51"/>
    <p:sldId id="316" r:id="rId52"/>
    <p:sldId id="282" r:id="rId53"/>
    <p:sldId id="285" r:id="rId54"/>
    <p:sldId id="286" r:id="rId55"/>
    <p:sldId id="284" r:id="rId56"/>
    <p:sldId id="317" r:id="rId57"/>
    <p:sldId id="318" r:id="rId58"/>
    <p:sldId id="319" r:id="rId59"/>
    <p:sldId id="302" r:id="rId60"/>
    <p:sldId id="303" r:id="rId61"/>
    <p:sldId id="320" r:id="rId62"/>
    <p:sldId id="304" r:id="rId63"/>
    <p:sldId id="330" r:id="rId64"/>
    <p:sldId id="331" r:id="rId65"/>
    <p:sldId id="332" r:id="rId66"/>
    <p:sldId id="333" r:id="rId67"/>
    <p:sldId id="334" r:id="rId68"/>
    <p:sldId id="297" r:id="rId69"/>
    <p:sldId id="298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806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87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777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535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2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01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733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17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86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216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084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B0FCF50-1E33-4F38-BB69-8C23184A8245}" type="datetimeFigureOut">
              <a:rPr lang="LID4096" smtClean="0"/>
              <a:t>05/20/2025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874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hyperlink" Target="https://drive.google.com/file/d/15NTGldkW4Osi0gd0Xlf1ZFvaTlc-wGnu/view?usp=drive_lin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xiftool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hyperlink" Target="https://github.com/frida/frida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tm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hyperlink" Target="https://developer.android.com/tools/releases/platform-tool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hyperlink" Target="https://www.bluestacks.com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hyperlink" Target="https://www.memuplay.com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hyperlink" Target="https://github.com/0xArab/diva-apk-file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tmp"/><Relationship Id="rId4" Type="http://schemas.openxmlformats.org/officeDocument/2006/relationships/image" Target="../media/image40.tm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tmp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hyperlink" Target="https://drive.google.com/file/d/15DZpW8_HJrsg2icyLRG1N5e77wWQlLbo/view?usp=driv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tmp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hyperlink" Target="https://developer.android.com/studio/run/win-us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tm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tm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twrp.me/dell/dellstreak7.html" TargetMode="External"/><Relationship Id="rId2" Type="http://schemas.openxmlformats.org/officeDocument/2006/relationships/hyperlink" Target="https://twrp.me/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31.xml"/><Relationship Id="rId4" Type="http://schemas.openxmlformats.org/officeDocument/2006/relationships/hyperlink" Target="https://dl.twrp.me/kelly/twrp-3.7.0_11-0-kelly.img.html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gal1337/CiLocks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2EBA-6D7A-40AA-8B86-1CA9CEBF15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Operating system security (CYS337) 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AD0FA-0CAB-4782-A947-C63BE2610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b="1" dirty="0"/>
              <a:t>PHOTO DEBUGGING &amp; ANDROID APP DEBUGGING PLUS PIN BYPASS</a:t>
            </a:r>
          </a:p>
          <a:p>
            <a:r>
              <a:rPr lang="en-US" sz="1600" b="1" dirty="0"/>
              <a:t>A Presentation by Group 1 Kapasa Makasa University 3</a:t>
            </a:r>
            <a:r>
              <a:rPr lang="en-US" sz="1600" b="1" baseline="30000" dirty="0"/>
              <a:t>rd</a:t>
            </a:r>
            <a:r>
              <a:rPr lang="en-US" sz="1600" b="1" dirty="0"/>
              <a:t> Year Cybersecurity Students</a:t>
            </a:r>
          </a:p>
          <a:p>
            <a:r>
              <a:rPr lang="en-US" sz="1800" b="1" dirty="0"/>
              <a:t>Prepared for Mr. Mwashi Matela</a:t>
            </a:r>
            <a:endParaRPr lang="LID4096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1BF2A-B719-4EC0-90C9-5BAD645A1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846" y="1066997"/>
            <a:ext cx="960307" cy="12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3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91922"/>
              </p:ext>
            </p:extLst>
          </p:nvPr>
        </p:nvGraphicFramePr>
        <p:xfrm>
          <a:off x="3883208" y="2299061"/>
          <a:ext cx="44255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462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332197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James Soko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20231392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Evans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20231947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Mary Chanda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20231336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Alinaswe Simfukwe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20231405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Nelson Kapinga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20231839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Denson Chishala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20231413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Cuthbelt  Ndhlovu   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20231784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Gabriel Hichintu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9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Nkonde Anthony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20230032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36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Gabriel Kapampwe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20230192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6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47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1(Continues…)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624398"/>
              </p:ext>
            </p:extLst>
          </p:nvPr>
        </p:nvGraphicFramePr>
        <p:xfrm>
          <a:off x="3883208" y="2299061"/>
          <a:ext cx="44255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39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612620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Angela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Asneli Banda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Samuel Chshimba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20232073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Bethsaida Chileshe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20230495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Mwape Musonda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Malupande Luckson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22175237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Henry Mutale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20231604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Chembo Major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9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Praise Kabwe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36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George Mwape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22175203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6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149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1(Continues…)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483998"/>
              </p:ext>
            </p:extLst>
          </p:nvPr>
        </p:nvGraphicFramePr>
        <p:xfrm>
          <a:off x="3883208" y="2299061"/>
          <a:ext cx="44255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39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612620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Violet Kikumbaila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20231791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Florence Mate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20231587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Nchimunya Faith Moono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20231552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Elvis Sonkwe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20231254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Ebby Mwale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20231492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Alinet Hangoba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20231685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26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ABD6-460D-4847-9545-6F881D60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1441-0ECE-4D71-BDB3-6F00C24CA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</a:t>
            </a:r>
            <a:r>
              <a:rPr lang="en-US" b="1" dirty="0"/>
              <a:t>photo debugging </a:t>
            </a:r>
            <a:r>
              <a:rPr lang="en-US" dirty="0"/>
              <a:t>using </a:t>
            </a:r>
            <a:r>
              <a:rPr lang="en-US" b="1" dirty="0"/>
              <a:t>exiftool </a:t>
            </a:r>
            <a:r>
              <a:rPr lang="en-US" dirty="0"/>
              <a:t>and other methods including Open Source Intelligence (OSINT) with </a:t>
            </a:r>
            <a:r>
              <a:rPr lang="en-US" b="1" dirty="0"/>
              <a:t>Google Images</a:t>
            </a:r>
            <a:r>
              <a:rPr lang="en-US" dirty="0"/>
              <a:t>.</a:t>
            </a:r>
          </a:p>
          <a:p>
            <a:r>
              <a:rPr lang="en-US" dirty="0"/>
              <a:t>Understanding what an </a:t>
            </a:r>
            <a:r>
              <a:rPr lang="en-US" b="1" dirty="0"/>
              <a:t>Emulator</a:t>
            </a:r>
            <a:r>
              <a:rPr lang="en-US" dirty="0"/>
              <a:t> is and how to install </a:t>
            </a:r>
            <a:r>
              <a:rPr lang="en-US" b="1" dirty="0"/>
              <a:t>Android Emulators </a:t>
            </a:r>
            <a:r>
              <a:rPr lang="en-US" dirty="0"/>
              <a:t>like </a:t>
            </a:r>
            <a:r>
              <a:rPr lang="en-US" b="1" dirty="0"/>
              <a:t>Bluestacks 5</a:t>
            </a:r>
            <a:r>
              <a:rPr lang="en-US" dirty="0"/>
              <a:t> and </a:t>
            </a:r>
            <a:r>
              <a:rPr lang="en-US" b="1" dirty="0"/>
              <a:t>MEmu</a:t>
            </a:r>
            <a:r>
              <a:rPr lang="en-US" dirty="0"/>
              <a:t>.</a:t>
            </a:r>
          </a:p>
          <a:p>
            <a:r>
              <a:rPr lang="en-US" dirty="0"/>
              <a:t>Understanding what </a:t>
            </a:r>
            <a:r>
              <a:rPr lang="en-US" b="1" dirty="0"/>
              <a:t>frida</a:t>
            </a:r>
            <a:r>
              <a:rPr lang="en-US" dirty="0"/>
              <a:t> is and how to install its dependencies like </a:t>
            </a:r>
            <a:r>
              <a:rPr lang="en-US" b="1" dirty="0"/>
              <a:t>Python</a:t>
            </a:r>
            <a:r>
              <a:rPr lang="en-US" dirty="0"/>
              <a:t>, </a:t>
            </a:r>
            <a:r>
              <a:rPr lang="en-US" b="1" dirty="0"/>
              <a:t>frida-tools</a:t>
            </a:r>
            <a:r>
              <a:rPr lang="en-US" dirty="0"/>
              <a:t>, </a:t>
            </a:r>
            <a:r>
              <a:rPr lang="en-US" b="1" dirty="0"/>
              <a:t>objections</a:t>
            </a:r>
            <a:r>
              <a:rPr lang="en-US" dirty="0"/>
              <a:t> and the right </a:t>
            </a:r>
            <a:r>
              <a:rPr lang="en-US" b="1" dirty="0"/>
              <a:t>Frida Android Server </a:t>
            </a:r>
            <a:r>
              <a:rPr lang="en-US" dirty="0"/>
              <a:t>on </a:t>
            </a:r>
            <a:r>
              <a:rPr lang="en-US" b="1" dirty="0"/>
              <a:t>Windows</a:t>
            </a:r>
            <a:r>
              <a:rPr lang="en-US" dirty="0"/>
              <a:t>.</a:t>
            </a:r>
          </a:p>
          <a:p>
            <a:r>
              <a:rPr lang="en-US" dirty="0"/>
              <a:t>Understanding what </a:t>
            </a:r>
            <a:r>
              <a:rPr lang="en-US" b="1" dirty="0"/>
              <a:t>SDK platform-tools </a:t>
            </a:r>
            <a:r>
              <a:rPr lang="en-US" dirty="0"/>
              <a:t>are, how to install and set up the </a:t>
            </a:r>
            <a:r>
              <a:rPr lang="en-US" b="1" dirty="0"/>
              <a:t>Environmental Variable </a:t>
            </a:r>
            <a:r>
              <a:rPr lang="en-US" dirty="0"/>
              <a:t>Path.</a:t>
            </a:r>
          </a:p>
        </p:txBody>
      </p:sp>
    </p:spTree>
    <p:extLst>
      <p:ext uri="{BB962C8B-B14F-4D97-AF65-F5344CB8AC3E}">
        <p14:creationId xmlns:p14="http://schemas.microsoft.com/office/powerpoint/2010/main" val="371636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44BB-78B8-4449-BA54-BA72E86B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091C-544B-4850-8AD8-59758279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how to </a:t>
            </a:r>
            <a:r>
              <a:rPr lang="en-US" b="1" dirty="0"/>
              <a:t>bypass</a:t>
            </a:r>
            <a:r>
              <a:rPr lang="en-US" dirty="0"/>
              <a:t> an </a:t>
            </a:r>
            <a:r>
              <a:rPr lang="en-US" b="1" dirty="0"/>
              <a:t>Android lock screen </a:t>
            </a:r>
            <a:r>
              <a:rPr lang="en-US" dirty="0"/>
              <a:t>on both the </a:t>
            </a:r>
            <a:r>
              <a:rPr lang="en-US" b="1" dirty="0"/>
              <a:t>Actual Device </a:t>
            </a:r>
            <a:r>
              <a:rPr lang="en-US" dirty="0"/>
              <a:t>and </a:t>
            </a:r>
            <a:r>
              <a:rPr lang="en-US" b="1" dirty="0"/>
              <a:t>Emulator</a:t>
            </a:r>
            <a:r>
              <a:rPr lang="en-US" dirty="0"/>
              <a:t> using </a:t>
            </a:r>
            <a:r>
              <a:rPr lang="en-US" b="1" dirty="0"/>
              <a:t>adb</a:t>
            </a:r>
            <a:r>
              <a:rPr lang="en-US" dirty="0"/>
              <a:t>.</a:t>
            </a:r>
          </a:p>
          <a:p>
            <a:r>
              <a:rPr lang="en-US" dirty="0"/>
              <a:t>Understanding how to </a:t>
            </a:r>
            <a:r>
              <a:rPr lang="en-US" b="1" dirty="0"/>
              <a:t>debug</a:t>
            </a:r>
            <a:r>
              <a:rPr lang="en-US" dirty="0"/>
              <a:t> or </a:t>
            </a:r>
            <a:r>
              <a:rPr lang="en-US" b="1" dirty="0"/>
              <a:t>manipulate</a:t>
            </a:r>
            <a:r>
              <a:rPr lang="en-US" dirty="0"/>
              <a:t> </a:t>
            </a:r>
            <a:r>
              <a:rPr lang="en-US" b="1" dirty="0"/>
              <a:t>Android Apps </a:t>
            </a:r>
            <a:r>
              <a:rPr lang="en-US" dirty="0"/>
              <a:t>using </a:t>
            </a:r>
            <a:r>
              <a:rPr lang="en-US" b="1" dirty="0"/>
              <a:t>frida</a:t>
            </a:r>
            <a:r>
              <a:rPr lang="en-US" dirty="0"/>
              <a:t>.</a:t>
            </a:r>
          </a:p>
          <a:p>
            <a:r>
              <a:rPr lang="en-US" dirty="0"/>
              <a:t>Understanding the </a:t>
            </a:r>
            <a:r>
              <a:rPr lang="en-US" b="1" dirty="0"/>
              <a:t>Android OS vulnerabilities </a:t>
            </a:r>
            <a:r>
              <a:rPr lang="en-US" dirty="0"/>
              <a:t>and how to </a:t>
            </a:r>
            <a:r>
              <a:rPr lang="en-US" b="1" dirty="0"/>
              <a:t>exploit</a:t>
            </a:r>
            <a:r>
              <a:rPr lang="en-US" dirty="0"/>
              <a:t> them using the </a:t>
            </a:r>
            <a:r>
              <a:rPr lang="en-US" b="1" dirty="0"/>
              <a:t>Fat-Rat</a:t>
            </a:r>
            <a:r>
              <a:rPr lang="en-US" dirty="0"/>
              <a:t> and </a:t>
            </a:r>
            <a:r>
              <a:rPr lang="en-US" b="1" dirty="0"/>
              <a:t>Remediation</a:t>
            </a:r>
            <a:r>
              <a:rPr lang="en-US" dirty="0"/>
              <a:t> plans towards them.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1436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5498D-FE4F-4B3E-B53B-3FC316D7F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Photo Debugging </a:t>
            </a:r>
            <a:endParaRPr lang="LID4096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FAD0D3E-68C1-4E35-9F84-89FDA66D4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Using ExifTool, Google Images and Other Manual Methods </a:t>
            </a:r>
            <a:endParaRPr lang="LID4096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4FCF0-37EF-49D2-A5B5-6264F60C1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963" y="378054"/>
            <a:ext cx="4015995" cy="34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4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1D88-0E4E-4F36-AF4A-CE16CBED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682E-A73E-4356-B67F-286EA840A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 the following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Where the photo was </a:t>
            </a:r>
            <a:r>
              <a:rPr lang="en-US" b="1" dirty="0"/>
              <a:t>taken from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Device used</a:t>
            </a:r>
            <a:r>
              <a:rPr lang="en-US" dirty="0"/>
              <a:t>,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Time </a:t>
            </a:r>
            <a:r>
              <a:rPr lang="en-US" dirty="0"/>
              <a:t>and </a:t>
            </a:r>
            <a:r>
              <a:rPr lang="en-US" b="1" dirty="0"/>
              <a:t>date</a:t>
            </a:r>
            <a:r>
              <a:rPr lang="en-US" dirty="0"/>
              <a:t>,</a:t>
            </a:r>
            <a:r>
              <a:rPr lang="en-US" b="1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Operating Systems </a:t>
            </a:r>
            <a:r>
              <a:rPr lang="en-US" dirty="0"/>
              <a:t>running on that same device and as well as other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Relevant information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99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A634F3-F614-44CF-A2B1-78BD263A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Analyzing image metadata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7BD55-526A-4BD4-AAA6-CD31493D4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880" y="3558188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5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63C6-4D00-4545-BF82-A5ECF4A6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6EC7-0B0D-4CCB-B6FC-BD2389207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Analyzing image metadata </a:t>
            </a:r>
            <a:r>
              <a:rPr lang="en-US" dirty="0"/>
              <a:t>involves extracting and interpreting data embedded within an image file that describes attributes such as the camera settings, location, creation date, and even editing history. </a:t>
            </a:r>
          </a:p>
          <a:p>
            <a:r>
              <a:rPr lang="en-US" dirty="0"/>
              <a:t>This metadata is typically stored in formats like </a:t>
            </a:r>
            <a:r>
              <a:rPr lang="en-US" b="1" dirty="0"/>
              <a:t>EXIF (Exchangeable Image File Format)</a:t>
            </a:r>
            <a:r>
              <a:rPr lang="en-US" dirty="0"/>
              <a:t>.</a:t>
            </a:r>
          </a:p>
          <a:p>
            <a:r>
              <a:rPr lang="en-GB" b="1" dirty="0"/>
              <a:t>Metadata Extraction Tools </a:t>
            </a:r>
            <a:r>
              <a:rPr lang="en-GB" dirty="0"/>
              <a:t>include the exiftool</a:t>
            </a:r>
          </a:p>
        </p:txBody>
      </p:sp>
    </p:spTree>
    <p:extLst>
      <p:ext uri="{BB962C8B-B14F-4D97-AF65-F5344CB8AC3E}">
        <p14:creationId xmlns:p14="http://schemas.microsoft.com/office/powerpoint/2010/main" val="216643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FB81-E6C1-4C17-8C4D-ACF9D1CA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369C-B961-4220-9580-3552A609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Not all images have metadata </a:t>
            </a:r>
            <a:r>
              <a:rPr lang="en-US" dirty="0"/>
              <a:t>– PNGs often have limited metadata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Metadata can be edited or erased </a:t>
            </a:r>
            <a:r>
              <a:rPr lang="en-US" dirty="0"/>
              <a:t>– Social media uploads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Privacy Risk </a:t>
            </a:r>
            <a:r>
              <a:rPr lang="en-US" dirty="0"/>
              <a:t>— GPS and author info can reveal sensitive data.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5185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D3D9-721B-4842-9F95-C191BB50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Online Image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5E2D-F1EC-4B5A-9944-6EC9F81EA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photo received via Email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Save it to your preferred </a:t>
            </a:r>
            <a:r>
              <a:rPr lang="en-US" b="1" dirty="0"/>
              <a:t>Folder</a:t>
            </a:r>
            <a:r>
              <a:rPr lang="en-US" dirty="0"/>
              <a:t>, in this case </a:t>
            </a:r>
            <a:r>
              <a:rPr lang="en-US" b="1" dirty="0"/>
              <a:t>Labs</a:t>
            </a:r>
            <a:r>
              <a:rPr lang="en-US" dirty="0"/>
              <a:t> under </a:t>
            </a:r>
            <a:r>
              <a:rPr lang="en-US" b="1" dirty="0"/>
              <a:t>Operating System Security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EA4BE-7178-435B-B226-74806D93C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44" y="3159067"/>
            <a:ext cx="7331574" cy="53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65177-89D5-4E4D-9E10-D386F4BBFA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"/>
          <a:stretch/>
        </p:blipFill>
        <p:spPr>
          <a:xfrm>
            <a:off x="2557144" y="4458877"/>
            <a:ext cx="7899806" cy="195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2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15F4-D354-407A-936A-02DF1507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Online Image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2822-66BE-4A68-A2DD-947A89765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Download </a:t>
            </a:r>
            <a:r>
              <a:rPr lang="en-US" dirty="0"/>
              <a:t>and </a:t>
            </a:r>
            <a:r>
              <a:rPr lang="en-US" b="1" dirty="0"/>
              <a:t>install</a:t>
            </a:r>
            <a:r>
              <a:rPr lang="en-US" dirty="0"/>
              <a:t> exiftool in Linux with </a:t>
            </a:r>
            <a:r>
              <a:rPr lang="en-US" b="1" dirty="0"/>
              <a:t>sudo apt-get install exiftool </a:t>
            </a:r>
            <a:r>
              <a:rPr lang="en-US" dirty="0"/>
              <a:t>and examine the image (100106491.jpg) meta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the </a:t>
            </a:r>
            <a:r>
              <a:rPr lang="en-US" b="1" dirty="0"/>
              <a:t>metadata was erased </a:t>
            </a:r>
            <a:r>
              <a:rPr lang="en-US" dirty="0"/>
              <a:t>and just showed the recent device info.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2D0BF-83A7-477C-B56F-56BBD68F3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482" y="3232010"/>
            <a:ext cx="7186113" cy="21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3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8405-4A87-4EE5-A831-5FFB510E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in a Zipped File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5C5B6-3FAD-4AF6-B816-2CAC2392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Mr. Mwashi Matela sent the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images.zip </a:t>
            </a:r>
            <a:r>
              <a:rPr lang="en-US" dirty="0"/>
              <a:t>via WhatsApp, </a:t>
            </a:r>
            <a:r>
              <a:rPr lang="en-US" b="1" dirty="0"/>
              <a:t>extract</a:t>
            </a:r>
            <a:r>
              <a:rPr lang="en-US" dirty="0"/>
              <a:t> the zipped file then navigate to the extracted Folder called </a:t>
            </a:r>
            <a:r>
              <a:rPr lang="en-US" b="1" dirty="0"/>
              <a:t>images</a:t>
            </a:r>
            <a:r>
              <a:rPr lang="en-US" dirty="0"/>
              <a:t>.</a:t>
            </a:r>
          </a:p>
          <a:p>
            <a:r>
              <a:rPr lang="en-US" dirty="0"/>
              <a:t>Double click on the photo to open it then right click to check the </a:t>
            </a:r>
            <a:r>
              <a:rPr lang="en-US" b="1" dirty="0"/>
              <a:t>file info </a:t>
            </a:r>
            <a:r>
              <a:rPr lang="en-US" dirty="0"/>
              <a:t>and view the </a:t>
            </a:r>
            <a:r>
              <a:rPr lang="en-US" b="1" dirty="0"/>
              <a:t>metadata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F337C-543D-49DA-9450-EDC995D4B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493" y="3951864"/>
            <a:ext cx="5643981" cy="264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58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4BA8-05EC-4A33-9396-1D173632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in a Zipped File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5754-0B6E-4D06-BFF3-2C2F5633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the </a:t>
            </a:r>
            <a:r>
              <a:rPr lang="en-US" b="1" dirty="0"/>
              <a:t>ExifTool</a:t>
            </a:r>
            <a:r>
              <a:rPr lang="en-US" dirty="0"/>
              <a:t> on their official website and select for Windows based on your device architecture. </a:t>
            </a:r>
          </a:p>
          <a:p>
            <a:r>
              <a:rPr lang="en-US" b="1" dirty="0"/>
              <a:t>Unzip</a:t>
            </a:r>
            <a:r>
              <a:rPr lang="en-US" dirty="0"/>
              <a:t> the exiftool zipped file, navigate to the unzipped folder and </a:t>
            </a:r>
            <a:r>
              <a:rPr lang="en-US" b="1" dirty="0"/>
              <a:t>rename</a:t>
            </a:r>
            <a:r>
              <a:rPr lang="en-US" dirty="0"/>
              <a:t> the executable file </a:t>
            </a:r>
            <a:r>
              <a:rPr lang="en-US" b="1" dirty="0"/>
              <a:t>exiftool</a:t>
            </a:r>
            <a:r>
              <a:rPr lang="en-US" dirty="0"/>
              <a:t>.</a:t>
            </a:r>
          </a:p>
          <a:p>
            <a:r>
              <a:rPr lang="en-US" b="1" dirty="0"/>
              <a:t>Copy</a:t>
            </a:r>
            <a:r>
              <a:rPr lang="en-US" dirty="0"/>
              <a:t> and </a:t>
            </a:r>
            <a:r>
              <a:rPr lang="en-US" b="1" dirty="0"/>
              <a:t>paste</a:t>
            </a:r>
            <a:r>
              <a:rPr lang="en-US" dirty="0"/>
              <a:t> the unzipped Folder on your </a:t>
            </a:r>
            <a:r>
              <a:rPr lang="en-US" b="1" dirty="0"/>
              <a:t>C:\ </a:t>
            </a:r>
            <a:r>
              <a:rPr lang="en-US" dirty="0"/>
              <a:t>drive and paste the target image in the exiftool-13.29_64 folder.</a:t>
            </a:r>
          </a:p>
          <a:p>
            <a:r>
              <a:rPr lang="en-US" dirty="0"/>
              <a:t>Inside the C:\ drive, open CMD and run the commands below</a:t>
            </a:r>
          </a:p>
          <a:p>
            <a:r>
              <a:rPr lang="en-US" b="1" dirty="0"/>
              <a:t>cd exiftool-13.29_64</a:t>
            </a:r>
          </a:p>
          <a:p>
            <a:r>
              <a:rPr lang="en-US" b="1" dirty="0"/>
              <a:t>exiftool-13.29_64&gt;exiftool.exe IMG_1286.jpg</a:t>
            </a:r>
          </a:p>
          <a:p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99608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88BD-44FD-41EF-B497-5A38C3E8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ExifTool Results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8076B-0111-4B92-A2B0-C91D5BA19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display all the information during the presentation, but here are some relevant information.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49B5D3-5984-44F1-B6D1-AA3F4B968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242" y="3018794"/>
            <a:ext cx="5734345" cy="37657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DD12A2-7450-4125-8D9D-362D12D92A6D}"/>
              </a:ext>
            </a:extLst>
          </p:cNvPr>
          <p:cNvSpPr/>
          <p:nvPr/>
        </p:nvSpPr>
        <p:spPr>
          <a:xfrm>
            <a:off x="4677878" y="5740027"/>
            <a:ext cx="3330341" cy="285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2A8561-B7C8-4A4D-B66D-B354CDD9167C}"/>
              </a:ext>
            </a:extLst>
          </p:cNvPr>
          <p:cNvSpPr/>
          <p:nvPr/>
        </p:nvSpPr>
        <p:spPr>
          <a:xfrm>
            <a:off x="4677878" y="6497053"/>
            <a:ext cx="5659655" cy="285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982CAE-220E-4B71-80BA-24E6CA9FB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3311679"/>
            <a:ext cx="4324147" cy="798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21CD36-7A62-44D8-8E31-29E540D73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4129705"/>
            <a:ext cx="4324146" cy="952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D042F9-ECA1-4D55-A1C4-E70A28633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5114605"/>
            <a:ext cx="4324146" cy="11100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E1470-7837-47E5-ABEF-F526A284EA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6269659"/>
            <a:ext cx="4324146" cy="2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1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2117-FACE-4768-959F-D269B44B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Google Images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B796-B66A-40BC-A8D7-C1413E411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know the location, will use Google Images search as shown below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369FA-136B-4F30-8A32-425170792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23" y="3076146"/>
            <a:ext cx="6358697" cy="344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12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6F0F-8778-4E2E-AC94-8F7AAED9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Google Images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83085-094C-44DC-B1F3-38983BA6B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the </a:t>
            </a:r>
            <a:r>
              <a:rPr lang="en-US" b="1" dirty="0"/>
              <a:t>logo </a:t>
            </a:r>
            <a:r>
              <a:rPr lang="en-US" dirty="0"/>
              <a:t>on the Image and the name </a:t>
            </a:r>
            <a:r>
              <a:rPr lang="en-US" b="1" dirty="0"/>
              <a:t>Southern Sun Ridgeway</a:t>
            </a:r>
            <a:r>
              <a:rPr lang="en-US" dirty="0"/>
              <a:t>, will utilize that to filter our search. We have our </a:t>
            </a:r>
            <a:r>
              <a:rPr lang="en-US" b="1" dirty="0"/>
              <a:t>location</a:t>
            </a:r>
            <a:r>
              <a:rPr lang="en-US" dirty="0"/>
              <a:t>!!!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14127-2F2E-48CD-8E2D-2FB7521E9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94" y="3273511"/>
            <a:ext cx="7904468" cy="24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0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664F-C7E7-4B0D-9852-71FCBACA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7FC5B1-9D89-4FE9-8B5B-644018BBB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444363"/>
              </p:ext>
            </p:extLst>
          </p:nvPr>
        </p:nvGraphicFramePr>
        <p:xfrm>
          <a:off x="2230438" y="2638425"/>
          <a:ext cx="77311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671">
                  <a:extLst>
                    <a:ext uri="{9D8B030D-6E8A-4147-A177-3AD203B41FA5}">
                      <a16:colId xmlns:a16="http://schemas.microsoft.com/office/drawing/2014/main" val="1974648331"/>
                    </a:ext>
                  </a:extLst>
                </a:gridCol>
                <a:gridCol w="5957453">
                  <a:extLst>
                    <a:ext uri="{9D8B030D-6E8A-4147-A177-3AD203B41FA5}">
                      <a16:colId xmlns:a16="http://schemas.microsoft.com/office/drawing/2014/main" val="1617767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META DATA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INFORMATION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9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Southern Sun Ridgeway Hotel - Lusaka, Zambia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29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Device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Canon EOS 70D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08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Firmware (OS)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1.1.1 (Canon proprietary RTOS)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8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Date/Time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July 29, 2023 at 04:20 PM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65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5472 x 3648 1.5 MB 240 dpi 24 bit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19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Software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Adobe Photoshop Lightroom Classic 8.0 (Windows)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58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973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DE4E53-6209-4ED5-94F7-8CE1BDAC3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Android Vulnerabilities &amp; Ways To Bypass The Lock screen </a:t>
            </a:r>
            <a:endParaRPr lang="LID4096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9BDFF3-1D76-45F3-80BE-A043C6F64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Using frida, adb, fastboot, CiLocks &amp; Fat-Rat</a:t>
            </a:r>
            <a:endParaRPr lang="LID4096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BDFDD-D573-4CBC-8815-7032CADB6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02" y="395187"/>
            <a:ext cx="19145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87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64EF79-2046-482F-9FA1-51DC411A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5D734-F34B-4931-8317-02FDDABB1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and Install </a:t>
            </a:r>
            <a:r>
              <a:rPr lang="en-US" b="1" dirty="0"/>
              <a:t>Bluestacks 5</a:t>
            </a:r>
          </a:p>
          <a:p>
            <a:r>
              <a:rPr lang="en-US" dirty="0"/>
              <a:t>Research on the security </a:t>
            </a:r>
            <a:r>
              <a:rPr lang="en-US" b="1" dirty="0"/>
              <a:t>vulnerabilities</a:t>
            </a:r>
            <a:r>
              <a:rPr lang="en-US" dirty="0"/>
              <a:t> of Android Operating System </a:t>
            </a:r>
          </a:p>
          <a:p>
            <a:r>
              <a:rPr lang="en-US" dirty="0"/>
              <a:t>Crack password locked Android Operating System using a tool called </a:t>
            </a:r>
            <a:r>
              <a:rPr lang="en-US" b="1" dirty="0"/>
              <a:t>Frida</a:t>
            </a:r>
          </a:p>
        </p:txBody>
      </p:sp>
    </p:spTree>
    <p:extLst>
      <p:ext uri="{BB962C8B-B14F-4D97-AF65-F5344CB8AC3E}">
        <p14:creationId xmlns:p14="http://schemas.microsoft.com/office/powerpoint/2010/main" val="3160257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5DE7D-BC5A-4FF2-81A8-99C6A340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132857"/>
            <a:ext cx="7729728" cy="1188720"/>
          </a:xfrm>
        </p:spPr>
        <p:txBody>
          <a:bodyPr/>
          <a:lstStyle/>
          <a:p>
            <a:r>
              <a:rPr lang="en-US" b="1" dirty="0"/>
              <a:t>Frida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C28E50-5632-4EF0-85C5-4BCBA1293A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18"/>
          <a:stretch/>
        </p:blipFill>
        <p:spPr>
          <a:xfrm>
            <a:off x="4256595" y="2080673"/>
            <a:ext cx="4293516" cy="113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12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F5AA-871F-4444-A568-32E862B5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FC90-654B-4267-97A9-5573D0A8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Frida</a:t>
            </a:r>
            <a:r>
              <a:rPr lang="en-US" dirty="0"/>
              <a:t> is an open-source dynamic instrumentation framework primarily used for dynamically analyzing and manipulating the behavior of mobile apps.</a:t>
            </a:r>
          </a:p>
          <a:p>
            <a:r>
              <a:rPr lang="en-US" dirty="0"/>
              <a:t>It is commonly used for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Reverse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Bypass root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Monitor API usage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Security testing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Modify app behaviour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6650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6C23-2E23-4081-ADF2-EF434F6E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&amp; Frida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AE2F-281D-46EE-8675-9F4F6F12C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en-US" dirty="0"/>
              <a:t> for Windows.</a:t>
            </a:r>
          </a:p>
          <a:p>
            <a:r>
              <a:rPr lang="en-US" dirty="0"/>
              <a:t>Open </a:t>
            </a:r>
            <a:r>
              <a:rPr lang="en-US" b="1" dirty="0"/>
              <a:t>Command Prompt (CMD) </a:t>
            </a:r>
            <a:r>
              <a:rPr lang="en-US" dirty="0"/>
              <a:t>and install Frida with the command </a:t>
            </a:r>
            <a:r>
              <a:rPr lang="en-US" b="1" dirty="0"/>
              <a:t>python -m pip install frida </a:t>
            </a:r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4C2BDE-BFF1-4B10-A0BD-D3A7992D8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241" y="3810483"/>
            <a:ext cx="6750588" cy="21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56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1AA0-4285-4BC8-B00C-A3086FE4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Frida Server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7604-7A1D-4F07-9DD2-A077579A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need to </a:t>
            </a:r>
            <a:r>
              <a:rPr lang="en-US" b="1" dirty="0"/>
              <a:t>install</a:t>
            </a:r>
            <a:r>
              <a:rPr lang="en-US" dirty="0"/>
              <a:t> the </a:t>
            </a:r>
            <a:r>
              <a:rPr lang="en-US" b="1" dirty="0"/>
              <a:t>Frida Server </a:t>
            </a:r>
            <a:r>
              <a:rPr lang="en-US" dirty="0"/>
              <a:t>with the command </a:t>
            </a:r>
            <a:r>
              <a:rPr lang="en-US" b="1" dirty="0"/>
              <a:t>python -m pip install frida-tools</a:t>
            </a:r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0F74C-450D-41AF-AC06-B76A72AFC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89" y="3379508"/>
            <a:ext cx="7045798" cy="224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5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1AA0-4285-4BC8-B00C-A3086FE4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7604-7A1D-4F07-9DD2-A077579A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need to </a:t>
            </a:r>
            <a:r>
              <a:rPr lang="en-US" b="1" dirty="0"/>
              <a:t>install</a:t>
            </a:r>
            <a:r>
              <a:rPr lang="en-US" dirty="0"/>
              <a:t> the </a:t>
            </a:r>
            <a:r>
              <a:rPr lang="en-US" b="1" dirty="0"/>
              <a:t>Objection </a:t>
            </a:r>
            <a:r>
              <a:rPr lang="en-US" dirty="0"/>
              <a:t>with the command </a:t>
            </a:r>
            <a:r>
              <a:rPr lang="en-US" b="1" dirty="0"/>
              <a:t>python -m pip install objection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5EDBC-E027-4D89-B450-D2DCBD37B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01" y="3356005"/>
            <a:ext cx="7239748" cy="23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3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3C48-38FF-4EFE-900E-55282F7F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Device Architecture &amp; Frida Version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1DA8-12D4-4569-A15D-C76BC066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device architecture with the command </a:t>
            </a:r>
            <a:r>
              <a:rPr lang="en-US" b="1" dirty="0"/>
              <a:t>adb shell getprop ro.product.cpu.abi</a:t>
            </a:r>
            <a:r>
              <a:rPr lang="en-US" dirty="0"/>
              <a:t> via Command Prompt (CMD)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 the Frida version with the command </a:t>
            </a:r>
            <a:r>
              <a:rPr lang="en-US" b="1" dirty="0"/>
              <a:t>frida --version </a:t>
            </a:r>
            <a:r>
              <a:rPr lang="en-US" dirty="0"/>
              <a:t>via CMD.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390E8-62BA-41AB-ABA6-E3D4A84C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32" y="3299230"/>
            <a:ext cx="4000706" cy="78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B4072-E394-496D-BE08-5B5D6D116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32" y="4571302"/>
            <a:ext cx="2546481" cy="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17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2663-FB54-4602-96F4-E9A5C765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Frida Android Server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3A64-7801-4FDC-AE85-3D136411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Device Architecture and the Frida Version, download the Android Frida Server via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/>
              <a:t>.</a:t>
            </a:r>
          </a:p>
          <a:p>
            <a:r>
              <a:rPr lang="en-US" dirty="0"/>
              <a:t>To filter your search, use Ctrl + F and type Android then locate your target file.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Extract </a:t>
            </a:r>
            <a:r>
              <a:rPr lang="en-US" dirty="0"/>
              <a:t>the downloaded file, </a:t>
            </a:r>
            <a:r>
              <a:rPr lang="en-US" b="1" dirty="0"/>
              <a:t>rename</a:t>
            </a:r>
            <a:r>
              <a:rPr lang="en-US" dirty="0"/>
              <a:t> the file inside to frida.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C9B3C-2CC4-4DD8-84A2-0FFC38646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33" y="4049328"/>
            <a:ext cx="2641736" cy="279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56971-0BD2-4084-9395-003CC737C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33" y="4813373"/>
            <a:ext cx="5679194" cy="85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4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8B3F2F-C1BE-4BAD-B8DE-7254C7B4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SDK Platform-Tools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3F40D-DFDC-4253-BABD-4F9A669A1D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8" r="31594" b="11013"/>
          <a:stretch/>
        </p:blipFill>
        <p:spPr>
          <a:xfrm>
            <a:off x="2714920" y="1931018"/>
            <a:ext cx="1244338" cy="141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87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D61501-A7A8-4A7A-B52B-F9545C9B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75A47-5101-4FE2-B6AC-F64FB0E0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Android SDK Platform-Tools </a:t>
            </a:r>
            <a:r>
              <a:rPr lang="en-US" dirty="0"/>
              <a:t>is a component for the Android SDK. </a:t>
            </a:r>
          </a:p>
          <a:p>
            <a:r>
              <a:rPr lang="en-US" dirty="0"/>
              <a:t>They are a collection of command-line tools provided by </a:t>
            </a:r>
            <a:r>
              <a:rPr lang="en-US" b="1" dirty="0"/>
              <a:t>Google</a:t>
            </a:r>
            <a:r>
              <a:rPr lang="en-US" dirty="0"/>
              <a:t> that are essential for Android development and debugging.</a:t>
            </a:r>
          </a:p>
          <a:p>
            <a:r>
              <a:rPr lang="en-US" dirty="0"/>
              <a:t>They include tools that interface with the Android platform, primarily </a:t>
            </a:r>
            <a:r>
              <a:rPr lang="en-US" b="1" dirty="0"/>
              <a:t>adb</a:t>
            </a:r>
            <a:r>
              <a:rPr lang="en-US" dirty="0"/>
              <a:t> </a:t>
            </a:r>
            <a:r>
              <a:rPr lang="en-US" b="1" dirty="0"/>
              <a:t>(Android Debug Bridge)</a:t>
            </a:r>
            <a:r>
              <a:rPr lang="en-US" dirty="0"/>
              <a:t> and </a:t>
            </a:r>
            <a:r>
              <a:rPr lang="en-US" b="1" dirty="0"/>
              <a:t>fastboot</a:t>
            </a:r>
            <a:r>
              <a:rPr lang="en-US" dirty="0"/>
              <a:t>.</a:t>
            </a:r>
          </a:p>
          <a:p>
            <a:r>
              <a:rPr lang="en-US" dirty="0"/>
              <a:t>Some features may require </a:t>
            </a:r>
            <a:r>
              <a:rPr lang="en-US" b="1" dirty="0"/>
              <a:t>USB debugging </a:t>
            </a:r>
            <a:r>
              <a:rPr lang="en-US" dirty="0"/>
              <a:t>enabled on the Android device.</a:t>
            </a:r>
          </a:p>
          <a:p>
            <a:r>
              <a:rPr lang="en-US" b="1" dirty="0"/>
              <a:t>OEM drivers </a:t>
            </a:r>
            <a:r>
              <a:rPr lang="en-US" dirty="0"/>
              <a:t>may be required for Windows users to detect the device properly.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13072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B7BF-9A4B-4BD8-AAFF-C41BFAF3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2BF9-22B9-4719-B5C4-531B26619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Android SDK Platform-Tools for Windows.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Extract </a:t>
            </a:r>
            <a:r>
              <a:rPr lang="en-US" dirty="0"/>
              <a:t>the zipped Folder, move the extracted Folder to </a:t>
            </a:r>
            <a:r>
              <a:rPr lang="en-US" b="1" dirty="0"/>
              <a:t>Local Disk (C) </a:t>
            </a:r>
            <a:r>
              <a:rPr lang="en-US" dirty="0"/>
              <a:t>inside the </a:t>
            </a:r>
            <a:r>
              <a:rPr lang="en-US" b="1" dirty="0"/>
              <a:t>Windows</a:t>
            </a:r>
            <a:r>
              <a:rPr lang="en-US" dirty="0"/>
              <a:t> Folder e.g., </a:t>
            </a:r>
            <a:r>
              <a:rPr lang="en-US" b="1" dirty="0"/>
              <a:t>C:\Windows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2239C-E087-4812-8534-F82196D6F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221" y="3284754"/>
            <a:ext cx="4635738" cy="115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34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463A-2E84-4FBC-A3C7-4D5015AB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Environmental Variables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ED35A-DB5A-4706-91B8-366962D8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add the path </a:t>
            </a:r>
            <a:r>
              <a:rPr lang="en-US" b="1" dirty="0"/>
              <a:t>C:\Windows\platform-tools </a:t>
            </a:r>
            <a:r>
              <a:rPr lang="en-US" dirty="0"/>
              <a:t>to the </a:t>
            </a:r>
            <a:r>
              <a:rPr lang="en-US" b="1" dirty="0"/>
              <a:t>Environmental Variables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Restart</a:t>
            </a:r>
            <a:r>
              <a:rPr lang="en-US" dirty="0"/>
              <a:t> your computer for the changes to be effective.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FC643-2218-4CC2-B915-37FBD5FEF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30" y="3299264"/>
            <a:ext cx="4692891" cy="19940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AE2DE0-A134-4480-86C1-439DDB19E043}"/>
              </a:ext>
            </a:extLst>
          </p:cNvPr>
          <p:cNvSpPr/>
          <p:nvPr/>
        </p:nvSpPr>
        <p:spPr>
          <a:xfrm>
            <a:off x="2762054" y="4892511"/>
            <a:ext cx="1480008" cy="150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7739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E9B5D-24E3-49C9-8A45-5E31B8D7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Android Emulators 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D83F3-6C1F-4D81-84F2-389224FD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1038225"/>
            <a:ext cx="19145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58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68B8A8-5CDA-4638-9E81-3B5BA9F3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BAA6-7306-4395-B866-B07BC5DD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emulator</a:t>
            </a:r>
            <a:r>
              <a:rPr lang="en-US" dirty="0"/>
              <a:t> is a software or hardware tool that allows a system (typically a computer) to behave like another system. </a:t>
            </a:r>
          </a:p>
          <a:p>
            <a:r>
              <a:rPr lang="en-US" dirty="0"/>
              <a:t>An </a:t>
            </a:r>
            <a:r>
              <a:rPr lang="en-US" b="1" dirty="0"/>
              <a:t>Android emulator </a:t>
            </a:r>
            <a:r>
              <a:rPr lang="en-US" dirty="0"/>
              <a:t>simulates Android devices on your computer, allowing you to run, test, or analyze Android apps without needing a physical device. </a:t>
            </a:r>
          </a:p>
          <a:p>
            <a:r>
              <a:rPr lang="en-US" dirty="0"/>
              <a:t>They're essential for </a:t>
            </a:r>
            <a:r>
              <a:rPr lang="en-US" b="1" dirty="0"/>
              <a:t>developers</a:t>
            </a:r>
            <a:r>
              <a:rPr lang="en-US" dirty="0"/>
              <a:t>, </a:t>
            </a:r>
            <a:r>
              <a:rPr lang="en-US" b="1" dirty="0"/>
              <a:t>testers</a:t>
            </a:r>
            <a:r>
              <a:rPr lang="en-US" dirty="0"/>
              <a:t>, </a:t>
            </a:r>
            <a:r>
              <a:rPr lang="en-US" b="1" dirty="0"/>
              <a:t>reverse engineers</a:t>
            </a:r>
            <a:r>
              <a:rPr lang="en-US" dirty="0"/>
              <a:t>, and </a:t>
            </a:r>
            <a:r>
              <a:rPr lang="en-US" b="1" dirty="0"/>
              <a:t>gamers</a:t>
            </a:r>
            <a:r>
              <a:rPr lang="en-US" dirty="0"/>
              <a:t>.</a:t>
            </a:r>
          </a:p>
          <a:p>
            <a:r>
              <a:rPr lang="en-US" dirty="0"/>
              <a:t>Why Use an Android Emulator?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App Development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Penetration Testing, Reverse Engineering,  Automation or Scripting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Gaming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7249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4500-3DC7-47EA-884C-5955B929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Bluestacks</a:t>
            </a:r>
            <a:endParaRPr lang="LID4096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EF9A5-2962-4918-A7E9-981605D71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359" y="295179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21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BFBA-430A-42AA-BF11-B4DA334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69C4D-BC1C-43C2-B3E7-ABE6C656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BlueStacks </a:t>
            </a:r>
            <a:r>
              <a:rPr lang="en-US" dirty="0"/>
              <a:t>is one of the most popular Android emulators, mainly designed to let you run Android apps and games on Windows or macOS with excellent performance and ease of use. </a:t>
            </a:r>
          </a:p>
          <a:p>
            <a:r>
              <a:rPr lang="en-US" dirty="0"/>
              <a:t>Unlike developer-focused emulators, BlueStacks is optimized for </a:t>
            </a:r>
            <a:r>
              <a:rPr lang="en-US" b="1" dirty="0"/>
              <a:t>gaming</a:t>
            </a:r>
            <a:r>
              <a:rPr lang="en-US" dirty="0"/>
              <a:t> and casual use.</a:t>
            </a:r>
          </a:p>
          <a:p>
            <a:r>
              <a:rPr lang="en-GB" dirty="0"/>
              <a:t>BlueStacks </a:t>
            </a:r>
            <a:r>
              <a:rPr lang="en-GB" b="1" dirty="0"/>
              <a:t>Versions</a:t>
            </a:r>
            <a:r>
              <a:rPr lang="en-GB" dirty="0"/>
              <a:t> include </a:t>
            </a:r>
            <a:r>
              <a:rPr lang="en-GB" b="1" dirty="0"/>
              <a:t>3</a:t>
            </a:r>
            <a:r>
              <a:rPr lang="en-GB" dirty="0"/>
              <a:t>,  </a:t>
            </a:r>
            <a:r>
              <a:rPr lang="en-GB" b="1" dirty="0"/>
              <a:t>4</a:t>
            </a:r>
            <a:r>
              <a:rPr lang="en-GB" dirty="0"/>
              <a:t>,  </a:t>
            </a:r>
            <a:r>
              <a:rPr lang="en-GB" b="1" dirty="0"/>
              <a:t>X</a:t>
            </a:r>
            <a:r>
              <a:rPr lang="en-GB" dirty="0"/>
              <a:t>, </a:t>
            </a:r>
            <a:r>
              <a:rPr lang="en-GB" b="1" dirty="0"/>
              <a:t>5</a:t>
            </a:r>
            <a:r>
              <a:rPr lang="en-GB" dirty="0"/>
              <a:t> and </a:t>
            </a:r>
            <a:r>
              <a:rPr lang="en-GB" b="1" dirty="0"/>
              <a:t>Air</a:t>
            </a:r>
            <a:r>
              <a:rPr lang="en-GB" dirty="0"/>
              <a:t>.</a:t>
            </a:r>
          </a:p>
          <a:p>
            <a:r>
              <a:rPr lang="en-GB" dirty="0"/>
              <a:t>Some </a:t>
            </a:r>
            <a:r>
              <a:rPr lang="en-GB" b="1" dirty="0"/>
              <a:t>limitations</a:t>
            </a:r>
            <a:r>
              <a:rPr lang="en-GB" dirty="0"/>
              <a:t> include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Limited developer features (e.g., no native adb shell unless tweaked)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Limited device settings (e.g., no option to enable device security like a PIN)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57592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807CE1-3861-4706-B743-8EAA94BE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4119A-083F-4A50-B92B-22CA6D40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</a:t>
            </a:r>
            <a:r>
              <a:rPr lang="en-US" dirty="0"/>
              <a:t>the Android Emulator Bluestacks.</a:t>
            </a:r>
          </a:p>
          <a:p>
            <a:r>
              <a:rPr lang="en-US" b="1" dirty="0"/>
              <a:t>Install</a:t>
            </a:r>
            <a:r>
              <a:rPr lang="en-US" dirty="0"/>
              <a:t> via the </a:t>
            </a:r>
            <a:r>
              <a:rPr lang="en-US" b="1" dirty="0"/>
              <a:t>BlueStacksInstaller.exe </a:t>
            </a:r>
            <a:r>
              <a:rPr lang="en-US" dirty="0"/>
              <a:t>based on the version downloaded.</a:t>
            </a:r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3C2D0-6E6D-4023-B3ED-CB1D98672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927" y="3429000"/>
            <a:ext cx="5643546" cy="323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49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25116-E25C-4315-85B1-AF606205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MEmu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06F2D-C5BB-4310-A903-2ACF68E22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1388845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15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6398-841D-4239-89D8-B3602B9C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6C22-FD41-4E3F-9A41-CDDD2B1BA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MEmu</a:t>
            </a:r>
            <a:r>
              <a:rPr lang="en-US" dirty="0"/>
              <a:t> is a popular free Android emulator for Windows that is known for its gaming performance, customizability, and support for multiple Android versions.</a:t>
            </a:r>
          </a:p>
          <a:p>
            <a:r>
              <a:rPr lang="en-US" dirty="0"/>
              <a:t>It was first launched in 2015 by </a:t>
            </a:r>
            <a:r>
              <a:rPr lang="en-US" b="1" dirty="0"/>
              <a:t>Microvirt,</a:t>
            </a:r>
            <a:r>
              <a:rPr lang="en-US" dirty="0"/>
              <a:t> a software company based in </a:t>
            </a:r>
            <a:r>
              <a:rPr lang="en-US" b="1" dirty="0"/>
              <a:t>China</a:t>
            </a:r>
            <a:r>
              <a:rPr lang="en-US" dirty="0"/>
              <a:t>, with the aim of providing a high-performance Android emulator for gamers and general users on Windows PCs.</a:t>
            </a:r>
          </a:p>
          <a:p>
            <a:r>
              <a:rPr lang="en-US" dirty="0"/>
              <a:t>It over comes the limitation of Bluestacks (unable to set up device lock screen), hence it will be used in our demonstration.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3942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6A0F-CF2A-4FAC-B1A4-8018E010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10F1-DBE1-4412-AA7F-971A4EBF7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the Android Emulator </a:t>
            </a:r>
            <a:r>
              <a:rPr lang="en-US" b="1" dirty="0"/>
              <a:t>MEmu</a:t>
            </a:r>
            <a:r>
              <a:rPr lang="en-US" dirty="0"/>
              <a:t>.</a:t>
            </a:r>
          </a:p>
          <a:p>
            <a:r>
              <a:rPr lang="en-US" b="1" dirty="0"/>
              <a:t>Install </a:t>
            </a:r>
            <a:r>
              <a:rPr lang="en-US" dirty="0"/>
              <a:t>it by rejecting other options.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Restart</a:t>
            </a:r>
            <a:r>
              <a:rPr lang="en-US" dirty="0"/>
              <a:t> your computer.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A6492-C57A-40F2-BFD7-8D85C302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14" y="3356545"/>
            <a:ext cx="3172648" cy="18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4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7DDB-A162-4D9B-BF89-FBC369248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 Settings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50DA-CBAE-4087-A066-3171D8E8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MEmu, go to the </a:t>
            </a:r>
            <a:r>
              <a:rPr lang="en-US" b="1" dirty="0"/>
              <a:t>Settings</a:t>
            </a:r>
            <a:r>
              <a:rPr lang="en-US" dirty="0"/>
              <a:t>, then under </a:t>
            </a:r>
            <a:r>
              <a:rPr lang="en-US" b="1" dirty="0"/>
              <a:t>Display</a:t>
            </a:r>
            <a:r>
              <a:rPr lang="en-US" dirty="0"/>
              <a:t> select </a:t>
            </a:r>
            <a:r>
              <a:rPr lang="en-US" b="1" dirty="0"/>
              <a:t>Phone </a:t>
            </a:r>
            <a:r>
              <a:rPr lang="en-US" dirty="0"/>
              <a:t>and</a:t>
            </a:r>
            <a:r>
              <a:rPr lang="en-US" b="1" dirty="0"/>
              <a:t> Restart Now</a:t>
            </a:r>
            <a:r>
              <a:rPr lang="en-US" dirty="0"/>
              <a:t>.</a:t>
            </a: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FF611-99B7-40D0-84BD-7D24BEC47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92" y="3253946"/>
            <a:ext cx="1905098" cy="32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18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0C47-78EC-4980-BAF3-353245C3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Activating Frida Android Server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E0AB-9DFE-4D70-91B6-87479430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Copy</a:t>
            </a:r>
            <a:r>
              <a:rPr lang="en-US" dirty="0"/>
              <a:t> and </a:t>
            </a:r>
            <a:r>
              <a:rPr lang="en-US" b="1" dirty="0"/>
              <a:t>paste</a:t>
            </a:r>
            <a:r>
              <a:rPr lang="en-US" dirty="0"/>
              <a:t> frida inside the Emulator you are using via Program Files </a:t>
            </a:r>
            <a:r>
              <a:rPr lang="en-US" b="1" dirty="0"/>
              <a:t>D:\Program Files\Microvirt\MEmu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 the command </a:t>
            </a:r>
            <a:r>
              <a:rPr lang="en-US" b="1" dirty="0"/>
              <a:t>adb devices </a:t>
            </a:r>
            <a:r>
              <a:rPr lang="en-US" dirty="0"/>
              <a:t>via CMD to see if the frida server is active.</a:t>
            </a: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4E0C2-07E0-4F1B-BB12-B4D65E5D1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723" y="3283848"/>
            <a:ext cx="2722568" cy="854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75BB5-60F5-4AFA-B2CA-29FF4B9BB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722" y="4573508"/>
            <a:ext cx="3797223" cy="140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11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A848-B22C-4C5A-B77A-78D7DD65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Making Frida Executable using adb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59D87-9C57-4A06-9204-2055A71EE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CMD inside the path </a:t>
            </a:r>
            <a:r>
              <a:rPr lang="en-US" b="1" dirty="0"/>
              <a:t>D:\Program Files\Microvirt\MEmu </a:t>
            </a:r>
            <a:r>
              <a:rPr lang="en-US" dirty="0"/>
              <a:t>where the frida server is, the run the command </a:t>
            </a:r>
            <a:r>
              <a:rPr lang="en-US" b="1" dirty="0"/>
              <a:t>adb push -p frida /data/local/tmp</a:t>
            </a:r>
          </a:p>
          <a:p>
            <a:r>
              <a:rPr lang="en-US" dirty="0"/>
              <a:t>Run the commands below</a:t>
            </a:r>
          </a:p>
          <a:p>
            <a:r>
              <a:rPr lang="en-US" b="1" dirty="0"/>
              <a:t>adb shell</a:t>
            </a:r>
          </a:p>
          <a:p>
            <a:r>
              <a:rPr lang="en-US" b="1" dirty="0"/>
              <a:t>cd data/local/tmp</a:t>
            </a:r>
          </a:p>
          <a:p>
            <a:r>
              <a:rPr lang="en-US" b="1" dirty="0"/>
              <a:t>ls</a:t>
            </a:r>
          </a:p>
          <a:p>
            <a:r>
              <a:rPr lang="en-US" b="1" dirty="0"/>
              <a:t>chmod +x frida</a:t>
            </a:r>
          </a:p>
          <a:p>
            <a:r>
              <a:rPr lang="en-US" b="1" dirty="0"/>
              <a:t>/data/local/tmp/frida &amp;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9081D-D272-4F54-B7A6-501FC1726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91" y="3429000"/>
            <a:ext cx="5016758" cy="1866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ABA46A-BBB1-43C6-B505-864068400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91" y="5435211"/>
            <a:ext cx="5016758" cy="78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74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2222-0D29-42DD-9897-13B830A6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5AEA-93F2-4F91-BDA3-36E78F146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diva-apk-file via GitHub.</a:t>
            </a:r>
          </a:p>
          <a:p>
            <a:r>
              <a:rPr lang="en-US" b="1" dirty="0"/>
              <a:t>Extract</a:t>
            </a:r>
            <a:r>
              <a:rPr lang="en-US" dirty="0"/>
              <a:t> the file and </a:t>
            </a:r>
            <a:r>
              <a:rPr lang="en-US" b="1" dirty="0"/>
              <a:t>copy</a:t>
            </a:r>
            <a:r>
              <a:rPr lang="en-US" dirty="0"/>
              <a:t> the </a:t>
            </a:r>
            <a:r>
              <a:rPr lang="en-US" b="1" dirty="0"/>
              <a:t>DivaApplication.apk </a:t>
            </a:r>
            <a:r>
              <a:rPr lang="en-US" dirty="0"/>
              <a:t>to the Emulator or Android Device.</a:t>
            </a:r>
          </a:p>
          <a:p>
            <a:r>
              <a:rPr lang="en-US" dirty="0"/>
              <a:t>Inside MEmu, use the APK button to add DivaApplication.apk by selecting it from the Folder it in saved on your PC.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1BB0A-1DF6-4B67-8EC7-F050273D1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15" y="4416364"/>
            <a:ext cx="5154138" cy="205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78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9C83-6F69-46D1-9E0D-BDC9EF12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Diva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D868-C437-4CDB-8415-4BE442F3D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a new CMD and enter the command </a:t>
            </a:r>
            <a:r>
              <a:rPr lang="en-US" b="1" dirty="0"/>
              <a:t>frida-ps -Uai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72523-139D-4DC7-87C0-85854DEE9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521" y="3041138"/>
            <a:ext cx="5642934" cy="33785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427F16-64F7-4BAE-9C30-8DD24220CB02}"/>
              </a:ext>
            </a:extLst>
          </p:cNvPr>
          <p:cNvSpPr/>
          <p:nvPr/>
        </p:nvSpPr>
        <p:spPr>
          <a:xfrm>
            <a:off x="3148553" y="5316718"/>
            <a:ext cx="3516198" cy="1696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96326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CEE5-31A3-428A-81B1-0432432F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a PIN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131C-6D5C-4E6D-A3F3-CB1D16D6EA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Open MUme, go to the </a:t>
            </a:r>
            <a:r>
              <a:rPr lang="en-US" b="1" dirty="0"/>
              <a:t>Settings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Tap on </a:t>
            </a:r>
            <a:r>
              <a:rPr lang="en-US" b="1" dirty="0"/>
              <a:t>Security &amp; Location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 Device security select device 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A1043-DFBC-49EF-9B0C-4D1C4A3ED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Choose screen lock </a:t>
            </a:r>
            <a:r>
              <a:rPr lang="en-US" dirty="0"/>
              <a:t>option, in our case will use </a:t>
            </a:r>
            <a:r>
              <a:rPr lang="en-US" b="1" dirty="0"/>
              <a:t>PIN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0C830-6BBB-4F1A-B713-53E1732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238" y="3111483"/>
            <a:ext cx="3111660" cy="635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E65D-A561-4907-BF64-C8C924AF2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29" y="4266498"/>
            <a:ext cx="2784819" cy="795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BB1A9-1172-4F16-82B5-FF0D304C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35" y="5527044"/>
            <a:ext cx="2935649" cy="9868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7BBEBA-2113-4880-9808-251A74F8C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865" y="3359146"/>
            <a:ext cx="2724378" cy="13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104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2DDD-0AAC-476C-9ABA-ABE1FEB6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Bypassing The PIN Using adb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C1EB-1264-4D81-88F6-B4B36775BC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now verify that the MEmu phone is </a:t>
            </a:r>
            <a:r>
              <a:rPr lang="en-US" b="1" dirty="0"/>
              <a:t>locked</a:t>
            </a:r>
            <a:r>
              <a:rPr lang="en-US" dirty="0"/>
              <a:t> with a PIN.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1B683-95E6-4DF6-B195-36393DC2C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Windows CMD and run the commands below to bypass the PIN.</a:t>
            </a:r>
          </a:p>
          <a:p>
            <a:r>
              <a:rPr lang="en-US" b="1" dirty="0"/>
              <a:t>adb devices</a:t>
            </a:r>
          </a:p>
          <a:p>
            <a:r>
              <a:rPr lang="en-US" b="1" dirty="0"/>
              <a:t>adb shell</a:t>
            </a:r>
          </a:p>
          <a:p>
            <a:r>
              <a:rPr lang="en-US" b="1" dirty="0"/>
              <a:t>cd data/system</a:t>
            </a:r>
          </a:p>
          <a:p>
            <a:r>
              <a:rPr lang="en-US" b="1" dirty="0"/>
              <a:t>rm locksettings.db</a:t>
            </a:r>
          </a:p>
          <a:p>
            <a:r>
              <a:rPr lang="en-US" b="1" dirty="0"/>
              <a:t>exit</a:t>
            </a:r>
          </a:p>
          <a:p>
            <a:r>
              <a:rPr lang="en-US" dirty="0"/>
              <a:t>Now, </a:t>
            </a:r>
            <a:r>
              <a:rPr lang="en-US" b="1" dirty="0"/>
              <a:t>reboot </a:t>
            </a:r>
            <a:r>
              <a:rPr lang="en-US" dirty="0"/>
              <a:t>your </a:t>
            </a:r>
            <a:r>
              <a:rPr lang="en-US" b="1" dirty="0"/>
              <a:t>MEmu phone </a:t>
            </a:r>
            <a:r>
              <a:rPr lang="en-US" dirty="0"/>
              <a:t>by restarting it.</a:t>
            </a:r>
          </a:p>
          <a:p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C4F9E-E965-4198-B3BC-EA6B1FD1F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15" y="3303482"/>
            <a:ext cx="1926994" cy="3272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A1A2B1-5204-4F7D-A82F-C95A455B5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264" y="3303482"/>
            <a:ext cx="3438900" cy="1805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B4DEB5-57C1-423A-BB8F-B1CA45377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700" y="3303483"/>
            <a:ext cx="1926994" cy="326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87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7048-FED7-44B2-9617-45F24CE7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Debugging The DIVA Android Application Using Frida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400B-F288-4E3C-98B9-3C53B89731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Now, developers can </a:t>
            </a:r>
            <a:r>
              <a:rPr lang="en-US" b="1" dirty="0"/>
              <a:t>manipulate</a:t>
            </a:r>
            <a:r>
              <a:rPr lang="en-US" dirty="0"/>
              <a:t> the Android applications on the Emulator (Memu) such as </a:t>
            </a:r>
            <a:r>
              <a:rPr lang="en-US" b="1" dirty="0"/>
              <a:t>di.va.apk</a:t>
            </a:r>
          </a:p>
          <a:p>
            <a:r>
              <a:rPr lang="en-US" dirty="0"/>
              <a:t>The commands to achieve the above are shown below</a:t>
            </a:r>
          </a:p>
          <a:p>
            <a:r>
              <a:rPr lang="en-US" b="1" dirty="0"/>
              <a:t>adb devices</a:t>
            </a:r>
          </a:p>
          <a:p>
            <a:r>
              <a:rPr lang="en-US" b="1" dirty="0"/>
              <a:t>frida-ps -Uai</a:t>
            </a:r>
          </a:p>
          <a:p>
            <a:r>
              <a:rPr lang="en-US" b="1" dirty="0"/>
              <a:t>adb shell am start -n jakhar.aseem.diva/.MainActivity</a:t>
            </a:r>
          </a:p>
          <a:p>
            <a:r>
              <a:rPr lang="en-US" b="1" dirty="0"/>
              <a:t>adb shell pidof jakhar.aseem.diva</a:t>
            </a:r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C2F759-6BC8-4B65-A8B0-ED03980F65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814" y="2253005"/>
            <a:ext cx="6259398" cy="4345757"/>
          </a:xfrm>
        </p:spPr>
      </p:pic>
    </p:spTree>
    <p:extLst>
      <p:ext uri="{BB962C8B-B14F-4D97-AF65-F5344CB8AC3E}">
        <p14:creationId xmlns:p14="http://schemas.microsoft.com/office/powerpoint/2010/main" val="4178173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FD4BA5-62E7-4BE6-8694-D7B54E8DC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FRIDA ANDROID SERVER ACTIVATION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38398-10C9-49D2-B1F4-94B2F7475B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Now open a new CMD and enter the commands below</a:t>
            </a:r>
          </a:p>
          <a:p>
            <a:r>
              <a:rPr lang="en-GB" b="1" dirty="0"/>
              <a:t>adb shell</a:t>
            </a:r>
          </a:p>
          <a:p>
            <a:r>
              <a:rPr lang="en-GB" b="1" dirty="0"/>
              <a:t>cd data/local/tmp</a:t>
            </a:r>
          </a:p>
          <a:p>
            <a:r>
              <a:rPr lang="en-GB" b="1" dirty="0"/>
              <a:t>./frida &amp;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083448-EBE2-4BF6-81AC-2E82DA7C5F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Go back to the previous terminal and enter the command below </a:t>
            </a:r>
          </a:p>
          <a:p>
            <a:r>
              <a:rPr lang="en-US" b="1" dirty="0"/>
              <a:t>frida -U -p 2625 jakhar.aseem.diva</a:t>
            </a:r>
          </a:p>
          <a:p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64E525-3D63-4360-A52B-EF5E1DFD3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GAINING ACCESS TO AN APPLICAION VIA FRIDA</a:t>
            </a:r>
            <a:endParaRPr lang="LID4096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83C13C-9AFC-48A8-B6FA-9942FBD4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Debugging The DIVA Android Application Using Frida (Continues…)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4A735D-7A6D-4D70-9F6C-1E3351FD0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32" y="4959153"/>
            <a:ext cx="3937852" cy="1592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0909F6-4E21-4B2E-B4B1-853C372EC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234" y="4131588"/>
            <a:ext cx="4407198" cy="263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464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EECD-BA04-45FA-81A2-03D6C47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Debugging The DIVA Android Application Using Frida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A3724-0D40-4B4B-881E-91EEC6CD4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load the diva.apk via frida with 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1ADD5-6C9A-41B4-96C3-818BB6C2F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960" y="3032567"/>
            <a:ext cx="8330680" cy="3101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BB059-643B-49BA-AF6F-69D85A8F8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55" y="3032567"/>
            <a:ext cx="1829551" cy="312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6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62E32-925E-4DFB-8F12-2985CFD0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Actual Device 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91AFF-9045-4A06-9E4E-82B27CF9B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242" y="121203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64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B67E-A775-4D90-B488-0D7084FE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Developer 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CFFA-6201-46FC-9AB0-5347A570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</a:t>
            </a:r>
            <a:r>
              <a:rPr lang="en-US" b="1" dirty="0"/>
              <a:t>USB Debugging </a:t>
            </a:r>
            <a:r>
              <a:rPr lang="en-US" dirty="0"/>
              <a:t>on Your Android Phone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Settings</a:t>
            </a:r>
            <a:r>
              <a:rPr lang="en-US" dirty="0"/>
              <a:t> &gt; </a:t>
            </a:r>
            <a:r>
              <a:rPr lang="en-US" b="1" dirty="0"/>
              <a:t>About phone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Tap on </a:t>
            </a:r>
            <a:r>
              <a:rPr lang="en-US" b="1" dirty="0"/>
              <a:t>Build number </a:t>
            </a:r>
            <a:r>
              <a:rPr lang="en-US" dirty="0"/>
              <a:t>7 times to unlock Developer options.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</a:t>
            </a:r>
            <a:r>
              <a:rPr lang="en-US" b="1" dirty="0"/>
              <a:t>Settings</a:t>
            </a:r>
            <a:r>
              <a:rPr lang="en-US" dirty="0"/>
              <a:t>, then go to </a:t>
            </a:r>
            <a:r>
              <a:rPr lang="en-US" b="1" dirty="0"/>
              <a:t>System</a:t>
            </a:r>
            <a:r>
              <a:rPr lang="en-US" dirty="0"/>
              <a:t> &gt; </a:t>
            </a:r>
            <a:r>
              <a:rPr lang="en-US" b="1" dirty="0"/>
              <a:t>Developer options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USB debugging </a:t>
            </a:r>
            <a:r>
              <a:rPr lang="en-US" dirty="0"/>
              <a:t>and </a:t>
            </a:r>
            <a:r>
              <a:rPr lang="en-US" b="1" dirty="0"/>
              <a:t>OEM unlocking</a:t>
            </a:r>
            <a:r>
              <a:rPr lang="en-US" dirty="0"/>
              <a:t>.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92977-2CD7-45B7-82FD-A03BF5259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731" y="4702936"/>
            <a:ext cx="5639710" cy="17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483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B56E-D78C-4B7C-BD9C-5B5859F1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Android Drivers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BE80-7B22-43ED-B571-5D31FEAF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Preen Windows + X, then select Device Manager, locate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the official driver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675A1-79C4-4D4D-98B5-CC6D90412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126" y="3060681"/>
            <a:ext cx="2888994" cy="691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6F9F4-51CC-434E-A78D-BFC5B0676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126" y="4356629"/>
            <a:ext cx="4654789" cy="1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8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1AE2-5D06-4C28-B9C8-68EB736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Android Drivers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BE5C-B2E2-40C8-A16E-958662C0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the drivers and choose Android Bootloader Interface.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7932B-ECD0-4E57-BE36-5BCBD020A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08" y="3125355"/>
            <a:ext cx="4013406" cy="2334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E00D4-BFE3-4EC1-BA5B-45B0F0BA8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984" y="3125354"/>
            <a:ext cx="3263071" cy="13335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5C8210-58A3-49B6-8A99-9E9BEC28C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987" y="4621412"/>
            <a:ext cx="3264068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1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20AF-5372-48B7-9676-A7E15252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TWRP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A8AC-979B-4E11-9BF8-48AD2451F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TWRP for your PC device model e.g., </a:t>
            </a:r>
            <a:r>
              <a:rPr lang="en-US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DELL</a:t>
            </a:r>
            <a:r>
              <a:rPr lang="en-US" dirty="0"/>
              <a:t> or </a:t>
            </a:r>
            <a:r>
              <a:rPr lang="en-US" b="1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Tecno</a:t>
            </a:r>
            <a:r>
              <a:rPr lang="en-US" dirty="0"/>
              <a:t>.</a:t>
            </a:r>
          </a:p>
          <a:p>
            <a:r>
              <a:rPr lang="en-US" b="1" dirty="0"/>
              <a:t>Copy</a:t>
            </a:r>
            <a:r>
              <a:rPr lang="en-US" dirty="0"/>
              <a:t> the file into the same folder as your </a:t>
            </a:r>
            <a:r>
              <a:rPr lang="en-US" b="1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platform-tools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your </a:t>
            </a:r>
            <a:r>
              <a:rPr lang="en-US" b="1" dirty="0">
                <a:solidFill>
                  <a:schemeClr val="tx1"/>
                </a:solidFill>
              </a:rPr>
              <a:t>User</a:t>
            </a:r>
            <a:r>
              <a:rPr lang="en-US" dirty="0">
                <a:solidFill>
                  <a:schemeClr val="tx1"/>
                </a:solidFill>
              </a:rPr>
              <a:t> folder plus the </a:t>
            </a:r>
            <a:r>
              <a:rPr lang="en-US" b="1" dirty="0">
                <a:solidFill>
                  <a:schemeClr val="tx1"/>
                </a:solidFill>
              </a:rPr>
              <a:t>C </a:t>
            </a:r>
            <a:r>
              <a:rPr lang="en-US" dirty="0">
                <a:solidFill>
                  <a:schemeClr val="tx1"/>
                </a:solidFill>
              </a:rPr>
              <a:t>drive</a:t>
            </a:r>
            <a:r>
              <a:rPr lang="en-US" dirty="0"/>
              <a:t>. Rename the image to </a:t>
            </a:r>
            <a:r>
              <a:rPr lang="en-US" b="1" dirty="0">
                <a:solidFill>
                  <a:schemeClr val="tx1"/>
                </a:solidFill>
              </a:rPr>
              <a:t>twrp.img.</a:t>
            </a:r>
            <a:endParaRPr lang="en-US" dirty="0"/>
          </a:p>
          <a:p>
            <a:r>
              <a:rPr lang="en-US" dirty="0"/>
              <a:t>Connect your device to PC and run the commands</a:t>
            </a:r>
          </a:p>
          <a:p>
            <a:r>
              <a:rPr lang="en-GB" b="1" dirty="0"/>
              <a:t>adb reboot bootloader</a:t>
            </a:r>
          </a:p>
          <a:p>
            <a:r>
              <a:rPr lang="en-GB" b="1" dirty="0"/>
              <a:t>fastboot devices</a:t>
            </a:r>
          </a:p>
          <a:p>
            <a:r>
              <a:rPr lang="en-GB" b="1" dirty="0"/>
              <a:t>fastboot flashing unlock</a:t>
            </a:r>
          </a:p>
          <a:p>
            <a:r>
              <a:rPr lang="en-US" b="1" dirty="0"/>
              <a:t>fastboot flash recovery twrp.img</a:t>
            </a:r>
          </a:p>
          <a:p>
            <a:r>
              <a:rPr lang="en-GB" b="1" dirty="0"/>
              <a:t>fastboot boot twrp.img</a:t>
            </a:r>
          </a:p>
        </p:txBody>
      </p:sp>
    </p:spTree>
    <p:extLst>
      <p:ext uri="{BB962C8B-B14F-4D97-AF65-F5344CB8AC3E}">
        <p14:creationId xmlns:p14="http://schemas.microsoft.com/office/powerpoint/2010/main" val="12122847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A56411-5F9C-4F87-BBF0-C6BE8AE4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Other Tools Used To Bypass An Android Lock Screen </a:t>
            </a:r>
            <a:endParaRPr lang="LID4096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57E32D-722D-448C-BF3F-D5A1BB8EB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02" y="3429000"/>
            <a:ext cx="19145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838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36B-25B2-46F3-AE0F-CA05E580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CiLocks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5194780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762EDB-4EF6-45E4-9636-FA646AC1A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BAB87-607D-4021-9E42-C7A5EC94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CiLocks</a:t>
            </a:r>
            <a:r>
              <a:rPr lang="en-US" dirty="0"/>
              <a:t> is a security toolkit designed for Android and iOS devices, primarily aimed at penetration testers, ethical hackers, and security researchers. </a:t>
            </a:r>
          </a:p>
          <a:p>
            <a:r>
              <a:rPr lang="en-US" dirty="0"/>
              <a:t>Features include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Crack Interface lock screen,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Metasploit and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More Android or iOS Hacking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44006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80AA-C2FA-444A-B44A-78D3446D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Download &amp; Execution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10F5-FA4F-43AB-A1FD-10338B0F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your Linux </a:t>
            </a:r>
            <a:r>
              <a:rPr lang="en-US" b="1" dirty="0"/>
              <a:t>terminal</a:t>
            </a:r>
            <a:r>
              <a:rPr lang="en-US" dirty="0"/>
              <a:t> in your preferred Folder and download </a:t>
            </a:r>
            <a:r>
              <a:rPr lang="en-US" b="1" dirty="0"/>
              <a:t>CiLocks</a:t>
            </a:r>
            <a:r>
              <a:rPr lang="en-US" dirty="0"/>
              <a:t> with command </a:t>
            </a:r>
            <a:r>
              <a:rPr lang="en-US" b="1" dirty="0"/>
              <a:t>git clone </a:t>
            </a:r>
            <a:r>
              <a:rPr lang="en-US" b="1" dirty="0">
                <a:hlinkClick r:id="rId2"/>
              </a:rPr>
              <a:t>https://github.com/tegal1337/CiLocks</a:t>
            </a:r>
            <a:r>
              <a:rPr lang="en-US" b="1" dirty="0"/>
              <a:t> </a:t>
            </a:r>
            <a:r>
              <a:rPr lang="en-US" dirty="0"/>
              <a:t>or download the zip file via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/>
              <a:t>.</a:t>
            </a:r>
          </a:p>
          <a:p>
            <a:r>
              <a:rPr lang="en-US" b="1" dirty="0"/>
              <a:t>Change directory </a:t>
            </a:r>
            <a:r>
              <a:rPr lang="en-US" dirty="0"/>
              <a:t>into CiLocks with the command </a:t>
            </a:r>
            <a:r>
              <a:rPr lang="en-US" b="1" dirty="0"/>
              <a:t>cd CiLocks</a:t>
            </a:r>
          </a:p>
          <a:p>
            <a:r>
              <a:rPr lang="en-US" dirty="0"/>
              <a:t>Give it </a:t>
            </a:r>
            <a:r>
              <a:rPr lang="en-US" b="1" dirty="0"/>
              <a:t>Executable permissions </a:t>
            </a:r>
            <a:r>
              <a:rPr lang="en-US" dirty="0"/>
              <a:t>with the command </a:t>
            </a:r>
            <a:r>
              <a:rPr lang="en-US" b="1" dirty="0"/>
              <a:t>chmod +x cilocks</a:t>
            </a:r>
          </a:p>
          <a:p>
            <a:r>
              <a:rPr lang="en-US" dirty="0"/>
              <a:t>Switch to a </a:t>
            </a:r>
            <a:r>
              <a:rPr lang="en-US" b="1" dirty="0"/>
              <a:t>root</a:t>
            </a:r>
            <a:r>
              <a:rPr lang="en-US" dirty="0"/>
              <a:t> user with the command </a:t>
            </a:r>
            <a:r>
              <a:rPr lang="en-US" b="1" dirty="0"/>
              <a:t>sudo su </a:t>
            </a:r>
            <a:r>
              <a:rPr lang="en-US" dirty="0"/>
              <a:t>and run the too with </a:t>
            </a:r>
            <a:r>
              <a:rPr lang="en-US" b="1" dirty="0"/>
              <a:t>bash cilocks</a:t>
            </a:r>
            <a:r>
              <a:rPr lang="en-US" dirty="0"/>
              <a:t> or </a:t>
            </a:r>
            <a:r>
              <a:rPr lang="en-US" b="1" dirty="0"/>
              <a:t>./cilocks</a:t>
            </a: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34874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80AA-C2FA-444A-B44A-78D3446D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10F5-FA4F-43AB-A1FD-10338B0F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choose the option according the pin length the target phone is having or use a custom built wordlist.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B0696-716E-4216-8D8C-B48D211B9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95" y="3312923"/>
            <a:ext cx="3321931" cy="32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20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F92390-E311-4004-BB17-A631D88F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Android OS Vulnerabilities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EA9D-78BA-4DA5-B3D8-7B7FDC304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025" y="847575"/>
            <a:ext cx="1914525" cy="2390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F0120B-8BEB-4EB0-A12C-4318AFD4FB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7" r="18915" b="40799"/>
          <a:stretch/>
        </p:blipFill>
        <p:spPr>
          <a:xfrm>
            <a:off x="8324569" y="3633988"/>
            <a:ext cx="1636295" cy="91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37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BE9F-35F1-40B6-9841-16BF6285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E433-6FB8-4DCF-9354-1D320A38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devices face critical security challenges with 70% of mobile malware  targeting them. </a:t>
            </a:r>
          </a:p>
          <a:p>
            <a:r>
              <a:rPr lang="en-US" dirty="0"/>
              <a:t>Almost all malware exploits unpatched vulnerabilities. </a:t>
            </a:r>
          </a:p>
          <a:p>
            <a:r>
              <a:rPr lang="en-US" dirty="0"/>
              <a:t>Nearly half of users operate outdated systems. </a:t>
            </a:r>
          </a:p>
          <a:p>
            <a:r>
              <a:rPr lang="en-US" dirty="0"/>
              <a:t>This presentation covers key threats and a hands-on lab to explore malicious APK creation and detection.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266623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024E-D8CB-4DA2-A87A-A65A07E2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Android Vulnerabilities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2544-5B81-4801-9948-07ABE5AD4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Insecure App Permissions</a:t>
            </a:r>
          </a:p>
          <a:p>
            <a:r>
              <a:rPr lang="en-US" dirty="0"/>
              <a:t>60% of apps request excessive permissions risking data exposure.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 startAt="2"/>
            </a:pPr>
            <a:r>
              <a:rPr lang="en-US" b="1" dirty="0"/>
              <a:t>Outdated OS</a:t>
            </a:r>
          </a:p>
          <a:p>
            <a:r>
              <a:rPr lang="en-US" dirty="0"/>
              <a:t>Over 350 critical vulnerabilities linger in Android 10 and below.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b="1" dirty="0"/>
              <a:t>Malicious APKs</a:t>
            </a:r>
          </a:p>
          <a:p>
            <a:r>
              <a:rPr lang="en-US" dirty="0"/>
              <a:t> Google blocked more than 2 million harmful apps in 2023.</a:t>
            </a:r>
          </a:p>
        </p:txBody>
      </p:sp>
    </p:spTree>
    <p:extLst>
      <p:ext uri="{BB962C8B-B14F-4D97-AF65-F5344CB8AC3E}">
        <p14:creationId xmlns:p14="http://schemas.microsoft.com/office/powerpoint/2010/main" val="929464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BD8A-6E85-446C-8388-AA2B64A1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Android Vulnerabilities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BDAA-A245-4F8D-94F0-F76548461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AutoNum type="arabicPeriod" startAt="4"/>
            </a:pPr>
            <a:r>
              <a:rPr lang="en-US" b="1" dirty="0"/>
              <a:t>Unsecured Connections</a:t>
            </a:r>
          </a:p>
          <a:p>
            <a:r>
              <a:rPr lang="en-US" dirty="0"/>
              <a:t>78% of public Wi-Fi networks lack encryption, exposing users.</a:t>
            </a:r>
          </a:p>
          <a:p>
            <a:endParaRPr lang="en-US" dirty="0"/>
          </a:p>
          <a:p>
            <a:pPr marL="342900" indent="-342900">
              <a:buAutoNum type="arabicPeriod" startAt="5"/>
            </a:pPr>
            <a:r>
              <a:rPr lang="en-US" b="1" dirty="0"/>
              <a:t>Root Exploits</a:t>
            </a:r>
          </a:p>
          <a:p>
            <a:r>
              <a:rPr lang="en-US" dirty="0"/>
              <a:t>Attackers escalate privileges bypassing Android 9s sandbox protections.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 startAt="6"/>
            </a:pPr>
            <a:r>
              <a:rPr lang="en-US" b="1" dirty="0"/>
              <a:t>ADB Misuse</a:t>
            </a:r>
          </a:p>
          <a:p>
            <a:r>
              <a:rPr lang="en-US" dirty="0"/>
              <a:t>Enabled debugging allows remote code execution risks.</a:t>
            </a:r>
          </a:p>
        </p:txBody>
      </p:sp>
    </p:spTree>
    <p:extLst>
      <p:ext uri="{BB962C8B-B14F-4D97-AF65-F5344CB8AC3E}">
        <p14:creationId xmlns:p14="http://schemas.microsoft.com/office/powerpoint/2010/main" val="16529511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4BBF-6E17-41C9-94C6-5BA95992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Android Vulnerabilities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D359-EB5D-4C4B-B26C-36E3A2A6E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 startAt="8"/>
            </a:pPr>
            <a:r>
              <a:rPr lang="en-US" dirty="0"/>
              <a:t> </a:t>
            </a:r>
            <a:r>
              <a:rPr lang="en-US" b="1" dirty="0"/>
              <a:t>WebView Vulnerabilities</a:t>
            </a:r>
          </a:p>
          <a:p>
            <a:r>
              <a:rPr lang="en-US" dirty="0"/>
              <a:t>Outdated components permit dynamic code execution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090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0A7D-A385-4313-A0BD-B083E847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Android </a:t>
            </a:r>
            <a:br>
              <a:rPr lang="en-GB" b="1" dirty="0"/>
            </a:br>
            <a:r>
              <a:rPr lang="en-GB" b="1" dirty="0"/>
              <a:t>Penetration Testing using FAT-RAT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1C35-B3D9-46F5-A459-E0A80EA9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Setup Tools </a:t>
            </a:r>
            <a:r>
              <a:rPr lang="en-GB" dirty="0"/>
              <a:t>– </a:t>
            </a:r>
            <a:r>
              <a:rPr lang="en-US" dirty="0"/>
              <a:t>Prepare FatRat, APK Signer, and APKTool for exercises.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Generate Malicious APK </a:t>
            </a:r>
            <a:r>
              <a:rPr lang="en-GB" dirty="0"/>
              <a:t>– </a:t>
            </a:r>
            <a:r>
              <a:rPr lang="en-US" dirty="0"/>
              <a:t>Create payloads with FatRat targeting Android.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Decompile App </a:t>
            </a:r>
            <a:r>
              <a:rPr lang="en-GB" dirty="0"/>
              <a:t>– </a:t>
            </a:r>
            <a:r>
              <a:rPr lang="en-US" dirty="0"/>
              <a:t>Use APKTool to analyze and modify legitimate apps.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 Inject Payload </a:t>
            </a:r>
            <a:r>
              <a:rPr lang="en-GB" dirty="0"/>
              <a:t>– </a:t>
            </a:r>
            <a:r>
              <a:rPr lang="en-US" dirty="0"/>
              <a:t> Insert malicious code into decompiled app.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Recompile &amp; Sign </a:t>
            </a:r>
            <a:r>
              <a:rPr lang="en-GB" dirty="0"/>
              <a:t>– </a:t>
            </a:r>
            <a:r>
              <a:rPr lang="en-US" dirty="0"/>
              <a:t>Rebuild app and sign with APK Signer for installation.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Analyse Attack </a:t>
            </a:r>
            <a:r>
              <a:rPr lang="en-GB" dirty="0"/>
              <a:t>– </a:t>
            </a:r>
            <a:r>
              <a:rPr lang="en-US" dirty="0"/>
              <a:t>Detect indicators of intent interception and hijacking.</a:t>
            </a:r>
          </a:p>
          <a:p>
            <a:pPr marL="342900" indent="-342900">
              <a:buFont typeface="+mj-lt"/>
              <a:buAutoNum type="arabicPeriod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883596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4622C-BFA7-4AE7-8FEE-BB3C6F224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 For Users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F80A2B-00F0-43FC-A93A-688516E6D5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 Install apps from official Google Play only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Keep OS and apps updated to reduce risk by 80%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Review app permissions carefully before granting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Disable ADB when not in use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Avoid unsecured public Wi-Fi networks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C2619-05F7-44A7-9EC9-8A4504B12B9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 Implement certificate pinning for secure connections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Validate all intent sources and use explicit intents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Harden WebView and apply runtime permission checks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E25C82-40CE-4030-B871-7301973D79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 For Developers</a:t>
            </a:r>
            <a:endParaRPr lang="LID4096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6D4FA-895B-412B-A916-B24AC9F2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Security Remediation Strategies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970151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D4AE-89EC-4131-9628-685462FD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84B3-E3FF-4FCF-8A47-99F7D193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Image Analysis </a:t>
            </a:r>
            <a:r>
              <a:rPr lang="en-GB" dirty="0"/>
              <a:t>– Used </a:t>
            </a:r>
            <a:r>
              <a:rPr lang="en-GB" b="1" dirty="0"/>
              <a:t>ExifTool,</a:t>
            </a:r>
            <a:r>
              <a:rPr lang="en-GB" dirty="0"/>
              <a:t> </a:t>
            </a:r>
            <a:r>
              <a:rPr lang="en-GB" b="1" dirty="0"/>
              <a:t>Google Images</a:t>
            </a:r>
            <a:r>
              <a:rPr lang="en-GB" dirty="0"/>
              <a:t>, and manual file checks to extract or infer location and device info from images.</a:t>
            </a:r>
          </a:p>
          <a:p>
            <a:r>
              <a:rPr lang="en-GB" b="1" dirty="0"/>
              <a:t>Lock screen Bypass</a:t>
            </a:r>
          </a:p>
          <a:p>
            <a:pPr marL="400050" indent="-400050">
              <a:buFont typeface="+mj-lt"/>
              <a:buAutoNum type="romanLcPeriod"/>
            </a:pPr>
            <a:r>
              <a:rPr lang="en-GB" b="1" dirty="0"/>
              <a:t>Emulator (MEmu) </a:t>
            </a:r>
            <a:r>
              <a:rPr lang="en-GB" dirty="0"/>
              <a:t>– Bypass via </a:t>
            </a:r>
            <a:r>
              <a:rPr lang="en-GB" b="1" dirty="0"/>
              <a:t>adb</a:t>
            </a:r>
            <a:r>
              <a:rPr lang="en-GB" dirty="0"/>
              <a:t> by deleting lock files.</a:t>
            </a:r>
          </a:p>
          <a:p>
            <a:pPr marL="400050" indent="-400050">
              <a:buFont typeface="+mj-lt"/>
              <a:buAutoNum type="romanLcPeriod"/>
            </a:pPr>
            <a:r>
              <a:rPr lang="en-GB" b="1" dirty="0"/>
              <a:t>Real Device </a:t>
            </a:r>
            <a:r>
              <a:rPr lang="en-GB" dirty="0"/>
              <a:t>– Used </a:t>
            </a:r>
            <a:r>
              <a:rPr lang="en-GB" b="1" dirty="0"/>
              <a:t>TWRP,</a:t>
            </a:r>
            <a:r>
              <a:rPr lang="en-GB" dirty="0"/>
              <a:t>  </a:t>
            </a:r>
            <a:r>
              <a:rPr lang="en-GB" b="1" dirty="0"/>
              <a:t>adb,</a:t>
            </a:r>
            <a:r>
              <a:rPr lang="en-GB" dirty="0"/>
              <a:t> and </a:t>
            </a:r>
            <a:r>
              <a:rPr lang="en-GB" b="1" dirty="0"/>
              <a:t>fastboot</a:t>
            </a:r>
            <a:r>
              <a:rPr lang="en-GB" dirty="0"/>
              <a:t> to access and remove credentials (bootloader unlock needed).</a:t>
            </a:r>
          </a:p>
          <a:p>
            <a:r>
              <a:rPr lang="en-GB" b="1" dirty="0"/>
              <a:t>App Debugging (DIVA + Frida) </a:t>
            </a:r>
            <a:r>
              <a:rPr lang="en-GB" dirty="0"/>
              <a:t>– Hooked insecure functions to reveal hardcoded data, poor storage, and bypass protections.</a:t>
            </a:r>
          </a:p>
          <a:p>
            <a:r>
              <a:rPr lang="en-GB" b="1" dirty="0"/>
              <a:t>Exploitation (FatRat) </a:t>
            </a:r>
            <a:r>
              <a:rPr lang="en-GB" dirty="0"/>
              <a:t>– Created trojan APKs exploiting OS flaws for remote access.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435351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EA3E9-793E-4F68-9ABE-2358D4D9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Questions?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4F57-2DA3-4E69-BD9E-61425B697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888" y="2315852"/>
            <a:ext cx="34861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787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1558</TotalTime>
  <Words>2581</Words>
  <Application>Microsoft Office PowerPoint</Application>
  <PresentationFormat>Widescreen</PresentationFormat>
  <Paragraphs>410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Gill Sans MT</vt:lpstr>
      <vt:lpstr>Parcel</vt:lpstr>
      <vt:lpstr>Operating system security (CYS337) </vt:lpstr>
      <vt:lpstr>Group 1</vt:lpstr>
      <vt:lpstr>Group 1(Continues…)</vt:lpstr>
      <vt:lpstr>Group 1(Continues…)</vt:lpstr>
      <vt:lpstr>Objectives</vt:lpstr>
      <vt:lpstr>Objectives (Continues…)</vt:lpstr>
      <vt:lpstr>Photo Debugging </vt:lpstr>
      <vt:lpstr>QUESTION</vt:lpstr>
      <vt:lpstr>Analyzing image metadata</vt:lpstr>
      <vt:lpstr>Introduction</vt:lpstr>
      <vt:lpstr>Limitations</vt:lpstr>
      <vt:lpstr>Online Image</vt:lpstr>
      <vt:lpstr>Online Image (Continues…)</vt:lpstr>
      <vt:lpstr>Image in a Zipped File </vt:lpstr>
      <vt:lpstr>Image in a Zipped File (Continues…)</vt:lpstr>
      <vt:lpstr>ExifTool Results </vt:lpstr>
      <vt:lpstr>Google Images </vt:lpstr>
      <vt:lpstr>Google Images  (Continues…)</vt:lpstr>
      <vt:lpstr>Results</vt:lpstr>
      <vt:lpstr>Android Vulnerabilities &amp; Ways To Bypass The Lock screen </vt:lpstr>
      <vt:lpstr>Question</vt:lpstr>
      <vt:lpstr>Frida</vt:lpstr>
      <vt:lpstr>Introduction</vt:lpstr>
      <vt:lpstr>Python &amp; Frida</vt:lpstr>
      <vt:lpstr>Frida Server</vt:lpstr>
      <vt:lpstr>Objection</vt:lpstr>
      <vt:lpstr>Device Architecture &amp; Frida Version</vt:lpstr>
      <vt:lpstr>Frida Android Server </vt:lpstr>
      <vt:lpstr>SDK Platform-Tools </vt:lpstr>
      <vt:lpstr>Introduction </vt:lpstr>
      <vt:lpstr>Download </vt:lpstr>
      <vt:lpstr>Environmental Variables </vt:lpstr>
      <vt:lpstr>Android Emulators </vt:lpstr>
      <vt:lpstr>Introduction </vt:lpstr>
      <vt:lpstr>Bluestacks</vt:lpstr>
      <vt:lpstr>Introduction </vt:lpstr>
      <vt:lpstr>Download</vt:lpstr>
      <vt:lpstr>MEmu</vt:lpstr>
      <vt:lpstr>Introduction</vt:lpstr>
      <vt:lpstr>Download</vt:lpstr>
      <vt:lpstr>Display Settings </vt:lpstr>
      <vt:lpstr>Activating Frida Android Server</vt:lpstr>
      <vt:lpstr>Making Frida Executable using adb</vt:lpstr>
      <vt:lpstr>Diva</vt:lpstr>
      <vt:lpstr>Diva (continues…)</vt:lpstr>
      <vt:lpstr>Setting Up a PIN</vt:lpstr>
      <vt:lpstr>Bypassing The PIN Using adb</vt:lpstr>
      <vt:lpstr>Debugging The DIVA Android Application Using Frida</vt:lpstr>
      <vt:lpstr>Debugging The DIVA Android Application Using Frida (Continues…)</vt:lpstr>
      <vt:lpstr>Debugging The DIVA Android Application Using Frida (Continues…)</vt:lpstr>
      <vt:lpstr>Actual Device </vt:lpstr>
      <vt:lpstr>Developer Options</vt:lpstr>
      <vt:lpstr>Android Drivers</vt:lpstr>
      <vt:lpstr>Android Drivers (Continues…)</vt:lpstr>
      <vt:lpstr>TWRP</vt:lpstr>
      <vt:lpstr>Other Tools Used To Bypass An Android Lock Screen </vt:lpstr>
      <vt:lpstr>CiLocks</vt:lpstr>
      <vt:lpstr>Introduction</vt:lpstr>
      <vt:lpstr>Download &amp; Execution </vt:lpstr>
      <vt:lpstr>Options</vt:lpstr>
      <vt:lpstr>Android OS Vulnerabilities</vt:lpstr>
      <vt:lpstr>Introduction</vt:lpstr>
      <vt:lpstr>Key Android Vulnerabilities</vt:lpstr>
      <vt:lpstr>Key Android Vulnerabilities (Continues…)</vt:lpstr>
      <vt:lpstr>Key Android Vulnerabilities (Continues…)</vt:lpstr>
      <vt:lpstr>Android  Penetration Testing using FAT-RAT</vt:lpstr>
      <vt:lpstr>Security Remediation Strategies</vt:lpstr>
      <vt:lpstr>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Soko</dc:creator>
  <cp:lastModifiedBy>James Soko</cp:lastModifiedBy>
  <cp:revision>395</cp:revision>
  <dcterms:created xsi:type="dcterms:W3CDTF">2025-05-15T20:35:44Z</dcterms:created>
  <dcterms:modified xsi:type="dcterms:W3CDTF">2025-05-20T13:47:59Z</dcterms:modified>
</cp:coreProperties>
</file>