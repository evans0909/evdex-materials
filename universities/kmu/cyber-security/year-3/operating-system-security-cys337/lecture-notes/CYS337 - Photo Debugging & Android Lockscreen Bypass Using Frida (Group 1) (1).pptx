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91" r:id="rId3"/>
    <p:sldId id="292" r:id="rId4"/>
    <p:sldId id="293" r:id="rId5"/>
    <p:sldId id="300" r:id="rId6"/>
    <p:sldId id="301" r:id="rId7"/>
    <p:sldId id="273" r:id="rId8"/>
    <p:sldId id="261" r:id="rId9"/>
    <p:sldId id="323" r:id="rId10"/>
    <p:sldId id="305" r:id="rId11"/>
    <p:sldId id="322" r:id="rId12"/>
    <p:sldId id="259" r:id="rId13"/>
    <p:sldId id="260" r:id="rId14"/>
    <p:sldId id="283" r:id="rId15"/>
    <p:sldId id="321" r:id="rId16"/>
    <p:sldId id="290" r:id="rId17"/>
    <p:sldId id="274" r:id="rId18"/>
    <p:sldId id="306" r:id="rId19"/>
    <p:sldId id="265" r:id="rId20"/>
    <p:sldId id="266" r:id="rId21"/>
    <p:sldId id="267" r:id="rId22"/>
    <p:sldId id="271" r:id="rId23"/>
    <p:sldId id="276" r:id="rId24"/>
    <p:sldId id="307" r:id="rId25"/>
    <p:sldId id="308" r:id="rId26"/>
    <p:sldId id="268" r:id="rId27"/>
    <p:sldId id="269" r:id="rId28"/>
    <p:sldId id="309" r:id="rId29"/>
    <p:sldId id="311" r:id="rId30"/>
    <p:sldId id="310" r:id="rId31"/>
    <p:sldId id="312" r:id="rId32"/>
    <p:sldId id="324" r:id="rId33"/>
    <p:sldId id="314" r:id="rId34"/>
    <p:sldId id="313" r:id="rId35"/>
    <p:sldId id="270" r:id="rId36"/>
    <p:sldId id="275" r:id="rId37"/>
    <p:sldId id="277" r:id="rId38"/>
    <p:sldId id="272" r:id="rId39"/>
    <p:sldId id="278" r:id="rId40"/>
    <p:sldId id="279" r:id="rId41"/>
    <p:sldId id="287" r:id="rId42"/>
    <p:sldId id="288" r:id="rId43"/>
    <p:sldId id="294" r:id="rId44"/>
    <p:sldId id="295" r:id="rId45"/>
    <p:sldId id="296" r:id="rId46"/>
    <p:sldId id="316" r:id="rId47"/>
    <p:sldId id="282" r:id="rId48"/>
    <p:sldId id="285" r:id="rId49"/>
    <p:sldId id="286" r:id="rId50"/>
    <p:sldId id="284" r:id="rId51"/>
    <p:sldId id="317" r:id="rId52"/>
    <p:sldId id="318" r:id="rId53"/>
    <p:sldId id="319" r:id="rId54"/>
    <p:sldId id="302" r:id="rId55"/>
    <p:sldId id="303" r:id="rId56"/>
    <p:sldId id="320" r:id="rId57"/>
    <p:sldId id="304" r:id="rId58"/>
    <p:sldId id="297" r:id="rId59"/>
    <p:sldId id="298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644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38063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05/19/2025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59879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07777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05/19/2025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85356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05/19/2025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1522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05/19/2025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50127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05/19/2025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873351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05/19/2025</a:t>
            </a:fld>
            <a:endParaRPr lang="LID4096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60176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8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9B0FCF50-1E33-4F38-BB69-8C23184A8245}" type="datetimeFigureOut">
              <a:rPr lang="LID4096" smtClean="0"/>
              <a:t>05/19/2025</a:t>
            </a:fld>
            <a:endParaRPr lang="LID4096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228604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621697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0FCF50-1E33-4F38-BB69-8C23184A8245}" type="datetimeFigureOut">
              <a:rPr lang="LID4096" smtClean="0"/>
              <a:t>05/19/2025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0844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9B0FCF50-1E33-4F38-BB69-8C23184A8245}" type="datetimeFigureOut">
              <a:rPr lang="LID4096" smtClean="0"/>
              <a:t>05/19/2025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56119F64-BA11-4137-80C4-F39685D58A91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578747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tmp"/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tmp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tmp"/><Relationship Id="rId2" Type="http://schemas.openxmlformats.org/officeDocument/2006/relationships/hyperlink" Target="https://www.python.org/downloads/windows/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tmp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tmp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tmp"/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tmp"/><Relationship Id="rId2" Type="http://schemas.openxmlformats.org/officeDocument/2006/relationships/hyperlink" Target="https://github.com/frida/frida/releases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tmp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hyperlink" Target="https://developer.android.com/tools/releases/platform-tools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tmp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tmp"/><Relationship Id="rId2" Type="http://schemas.openxmlformats.org/officeDocument/2006/relationships/hyperlink" Target="https://www.bluestacks.com/" TargetMode="Externa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tmp"/><Relationship Id="rId2" Type="http://schemas.openxmlformats.org/officeDocument/2006/relationships/hyperlink" Target="https://www.memuplay.com/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tmp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tmp"/><Relationship Id="rId2" Type="http://schemas.openxmlformats.org/officeDocument/2006/relationships/image" Target="../media/image21.tmp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mp"/><Relationship Id="rId2" Type="http://schemas.openxmlformats.org/officeDocument/2006/relationships/image" Target="../media/image23.tmp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tmp"/><Relationship Id="rId2" Type="http://schemas.openxmlformats.org/officeDocument/2006/relationships/hyperlink" Target="https://github.com/0xArab/diva-apk-file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tmp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tmp"/><Relationship Id="rId2" Type="http://schemas.openxmlformats.org/officeDocument/2006/relationships/image" Target="../media/image27.tmp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0.tmp"/><Relationship Id="rId4" Type="http://schemas.openxmlformats.org/officeDocument/2006/relationships/image" Target="../media/image29.tmp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tmp"/><Relationship Id="rId2" Type="http://schemas.openxmlformats.org/officeDocument/2006/relationships/image" Target="../media/image31.tmp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tmp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tmp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tmp"/><Relationship Id="rId2" Type="http://schemas.openxmlformats.org/officeDocument/2006/relationships/image" Target="../media/image35.tmp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tmp"/><Relationship Id="rId2" Type="http://schemas.openxmlformats.org/officeDocument/2006/relationships/hyperlink" Target="https://drive.google.com/file/d/15DZpW8_HJrsg2icyLRG1N5e77wWQlLbo/view?usp=drive_link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tmp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mp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tmp"/><Relationship Id="rId2" Type="http://schemas.openxmlformats.org/officeDocument/2006/relationships/hyperlink" Target="https://developer.android.com/studio/run/win-usb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tmp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tmp"/><Relationship Id="rId2" Type="http://schemas.openxmlformats.org/officeDocument/2006/relationships/image" Target="../media/image42.tmp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tmp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hyperlink" Target="https://twrp.me/dell/dellstreak7.html" TargetMode="External"/><Relationship Id="rId2" Type="http://schemas.openxmlformats.org/officeDocument/2006/relationships/hyperlink" Target="https://twrp.me/" TargetMode="External"/><Relationship Id="rId1" Type="http://schemas.openxmlformats.org/officeDocument/2006/relationships/slideLayout" Target="../slideLayouts/slideLayout2.xml"/><Relationship Id="rId5" Type="http://schemas.openxmlformats.org/officeDocument/2006/relationships/slide" Target="slide26.xml"/><Relationship Id="rId4" Type="http://schemas.openxmlformats.org/officeDocument/2006/relationships/hyperlink" Target="https://dl.twrp.me/kelly/twrp-3.7.0_11-0-kelly.img.html" TargetMode="Externa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tegal1337/CiLocks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tmp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22EBA-6D7A-40AA-8B86-1CA9CEBF15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Operating system security (CYS337) </a:t>
            </a:r>
            <a:endParaRPr lang="LID4096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8AD0FA-0CAB-4782-A947-C63BE26102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4400" b="1" dirty="0"/>
              <a:t>PHOTO DEBUGGING &amp; ANDROID APP DEBUGGING PLUS PIN BYPASS</a:t>
            </a:r>
          </a:p>
          <a:p>
            <a:r>
              <a:rPr lang="en-US" sz="1600" b="1" dirty="0"/>
              <a:t>A Presentation by Group 1 Kapasa Makasa University 3</a:t>
            </a:r>
            <a:r>
              <a:rPr lang="en-US" sz="1600" b="1" baseline="30000" dirty="0"/>
              <a:t>rd</a:t>
            </a:r>
            <a:r>
              <a:rPr lang="en-US" sz="1600" b="1" dirty="0"/>
              <a:t> Year Cybersecurity Students</a:t>
            </a:r>
          </a:p>
          <a:p>
            <a:r>
              <a:rPr lang="en-US" sz="1800" b="1" dirty="0"/>
              <a:t>Prepared for Mr. Mwashi Matela</a:t>
            </a:r>
            <a:endParaRPr lang="LID4096" sz="1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E91BF2A-B719-4EC0-90C9-5BAD645A14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5846" y="1066997"/>
            <a:ext cx="960307" cy="1208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83318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5766-C0E0-4B65-9244-8A11CE94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1</a:t>
            </a:r>
            <a:endParaRPr lang="LID4096" b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3CA0009-28EC-48DE-82A3-99E054FEB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45191922"/>
              </p:ext>
            </p:extLst>
          </p:nvPr>
        </p:nvGraphicFramePr>
        <p:xfrm>
          <a:off x="3883208" y="2299061"/>
          <a:ext cx="442558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462">
                  <a:extLst>
                    <a:ext uri="{9D8B030D-6E8A-4147-A177-3AD203B41FA5}">
                      <a16:colId xmlns:a16="http://schemas.microsoft.com/office/drawing/2014/main" val="1525554563"/>
                    </a:ext>
                  </a:extLst>
                </a:gridCol>
                <a:gridCol w="2332197">
                  <a:extLst>
                    <a:ext uri="{9D8B030D-6E8A-4147-A177-3AD203B41FA5}">
                      <a16:colId xmlns:a16="http://schemas.microsoft.com/office/drawing/2014/main" val="2422175711"/>
                    </a:ext>
                  </a:extLst>
                </a:gridCol>
                <a:gridCol w="1168924">
                  <a:extLst>
                    <a:ext uri="{9D8B030D-6E8A-4147-A177-3AD203B41FA5}">
                      <a16:colId xmlns:a16="http://schemas.microsoft.com/office/drawing/2014/main" val="2374818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S.I.N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17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James Soko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20231392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90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Evans Bwalya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20231947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74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Mary Chanda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20231336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3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Alinaswe Simfukwe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20231405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61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Nelson Kapinga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20231839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331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Denson Chishala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20231413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477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Cuthbelt  Ndhlovu   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20231784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20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Gabriel Hichintu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20231919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695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Nkonde Anthony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20230032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365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Gabriel Kapampwe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20230192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68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5478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5766-C0E0-4B65-9244-8A11CE94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1(Continues…)</a:t>
            </a:r>
            <a:endParaRPr lang="LID4096" b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3CA0009-28EC-48DE-82A3-99E054FEB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4624398"/>
              </p:ext>
            </p:extLst>
          </p:nvPr>
        </p:nvGraphicFramePr>
        <p:xfrm>
          <a:off x="3883208" y="2299061"/>
          <a:ext cx="442558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039">
                  <a:extLst>
                    <a:ext uri="{9D8B030D-6E8A-4147-A177-3AD203B41FA5}">
                      <a16:colId xmlns:a16="http://schemas.microsoft.com/office/drawing/2014/main" val="1525554563"/>
                    </a:ext>
                  </a:extLst>
                </a:gridCol>
                <a:gridCol w="2612620">
                  <a:extLst>
                    <a:ext uri="{9D8B030D-6E8A-4147-A177-3AD203B41FA5}">
                      <a16:colId xmlns:a16="http://schemas.microsoft.com/office/drawing/2014/main" val="2422175711"/>
                    </a:ext>
                  </a:extLst>
                </a:gridCol>
                <a:gridCol w="1168924">
                  <a:extLst>
                    <a:ext uri="{9D8B030D-6E8A-4147-A177-3AD203B41FA5}">
                      <a16:colId xmlns:a16="http://schemas.microsoft.com/office/drawing/2014/main" val="2374818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S.I.N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17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Angela Bwalya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20231710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90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Asneli Banda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20231926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74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Samuel Chshimba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20232073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3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Bethsaida Chileshe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20230495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61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Mwape Musonda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20231716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331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Malupande Luckson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22175237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477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Henry Mutale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20231604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20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Chembo Major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22175219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695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19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Praise Kabwe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22175214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365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George Mwape 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22175203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68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11149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5766-C0E0-4B65-9244-8A11CE940B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Group 1(Continues…)</a:t>
            </a:r>
            <a:endParaRPr lang="LID4096" b="1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53CA0009-28EC-48DE-82A3-99E054FEB6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76209086"/>
              </p:ext>
            </p:extLst>
          </p:nvPr>
        </p:nvGraphicFramePr>
        <p:xfrm>
          <a:off x="3883208" y="2299061"/>
          <a:ext cx="4425583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4039">
                  <a:extLst>
                    <a:ext uri="{9D8B030D-6E8A-4147-A177-3AD203B41FA5}">
                      <a16:colId xmlns:a16="http://schemas.microsoft.com/office/drawing/2014/main" val="1525554563"/>
                    </a:ext>
                  </a:extLst>
                </a:gridCol>
                <a:gridCol w="2612620">
                  <a:extLst>
                    <a:ext uri="{9D8B030D-6E8A-4147-A177-3AD203B41FA5}">
                      <a16:colId xmlns:a16="http://schemas.microsoft.com/office/drawing/2014/main" val="2422175711"/>
                    </a:ext>
                  </a:extLst>
                </a:gridCol>
                <a:gridCol w="1168924">
                  <a:extLst>
                    <a:ext uri="{9D8B030D-6E8A-4147-A177-3AD203B41FA5}">
                      <a16:colId xmlns:a16="http://schemas.microsoft.com/office/drawing/2014/main" val="237481831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NO.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NAME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S.I.N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51787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Violet Kikumbaila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20231791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59025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Florence Mate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20231587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37476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23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Nchimunya Faith Moono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20231552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5389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Elvis Sonkwe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20231254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8614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25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53317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26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0477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27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7202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16956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29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403654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30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068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61263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AABD6-460D-4847-9545-6F881D601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891441-0ECE-4D71-BDB3-6F00C24CAA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Understanding </a:t>
            </a:r>
            <a:r>
              <a:rPr lang="en-US" b="1" dirty="0"/>
              <a:t>photo debugging </a:t>
            </a:r>
            <a:r>
              <a:rPr lang="en-US" dirty="0"/>
              <a:t>using </a:t>
            </a:r>
            <a:r>
              <a:rPr lang="en-US" b="1" dirty="0"/>
              <a:t>exiftool</a:t>
            </a:r>
            <a:r>
              <a:rPr lang="en-US" dirty="0"/>
              <a:t>, </a:t>
            </a:r>
            <a:r>
              <a:rPr lang="en-US" b="1" dirty="0"/>
              <a:t>steghide</a:t>
            </a:r>
            <a:r>
              <a:rPr lang="en-US" dirty="0"/>
              <a:t>, and other methods including Open Source Intelligence.</a:t>
            </a:r>
          </a:p>
          <a:p>
            <a:r>
              <a:rPr lang="en-US" dirty="0"/>
              <a:t>Understanding what an </a:t>
            </a:r>
            <a:r>
              <a:rPr lang="en-US" b="1" dirty="0"/>
              <a:t>Emulator</a:t>
            </a:r>
            <a:r>
              <a:rPr lang="en-US" dirty="0"/>
              <a:t> is and how to install </a:t>
            </a:r>
            <a:r>
              <a:rPr lang="en-US" b="1" dirty="0"/>
              <a:t>Android Emulators </a:t>
            </a:r>
            <a:r>
              <a:rPr lang="en-US" dirty="0"/>
              <a:t>like </a:t>
            </a:r>
            <a:r>
              <a:rPr lang="en-US" b="1" dirty="0"/>
              <a:t>Bluestacks 5</a:t>
            </a:r>
            <a:r>
              <a:rPr lang="en-US" dirty="0"/>
              <a:t> and </a:t>
            </a:r>
            <a:r>
              <a:rPr lang="en-US" b="1" dirty="0"/>
              <a:t>MEmu</a:t>
            </a:r>
            <a:r>
              <a:rPr lang="en-US" dirty="0"/>
              <a:t>.</a:t>
            </a:r>
          </a:p>
          <a:p>
            <a:r>
              <a:rPr lang="en-US" dirty="0"/>
              <a:t>Understanding what </a:t>
            </a:r>
            <a:r>
              <a:rPr lang="en-US" b="1" dirty="0"/>
              <a:t>frida</a:t>
            </a:r>
            <a:r>
              <a:rPr lang="en-US" dirty="0"/>
              <a:t> is and how to install its dependencies like </a:t>
            </a:r>
            <a:r>
              <a:rPr lang="en-US" b="1" dirty="0"/>
              <a:t>Python</a:t>
            </a:r>
            <a:r>
              <a:rPr lang="en-US" dirty="0"/>
              <a:t>, </a:t>
            </a:r>
            <a:r>
              <a:rPr lang="en-US" b="1" dirty="0"/>
              <a:t>frida-tools</a:t>
            </a:r>
            <a:r>
              <a:rPr lang="en-US" dirty="0"/>
              <a:t>, </a:t>
            </a:r>
            <a:r>
              <a:rPr lang="en-US" b="1" dirty="0"/>
              <a:t>objections</a:t>
            </a:r>
            <a:r>
              <a:rPr lang="en-US" dirty="0"/>
              <a:t> and the right </a:t>
            </a:r>
            <a:r>
              <a:rPr lang="en-US" b="1" dirty="0"/>
              <a:t>Frida Android Server </a:t>
            </a:r>
            <a:r>
              <a:rPr lang="en-US" dirty="0"/>
              <a:t>on </a:t>
            </a:r>
            <a:r>
              <a:rPr lang="en-US" b="1" dirty="0"/>
              <a:t>Windows</a:t>
            </a:r>
            <a:r>
              <a:rPr lang="en-US" dirty="0"/>
              <a:t>.</a:t>
            </a:r>
          </a:p>
          <a:p>
            <a:r>
              <a:rPr lang="en-US" dirty="0"/>
              <a:t>Understanding what </a:t>
            </a:r>
            <a:r>
              <a:rPr lang="en-US" b="1" dirty="0"/>
              <a:t>platform-tools </a:t>
            </a:r>
            <a:r>
              <a:rPr lang="en-US" dirty="0"/>
              <a:t>are, how to install and set up the </a:t>
            </a:r>
            <a:r>
              <a:rPr lang="en-US" b="1" dirty="0"/>
              <a:t>Environmental Variable </a:t>
            </a:r>
            <a:r>
              <a:rPr lang="en-US" dirty="0"/>
              <a:t>Path.</a:t>
            </a:r>
          </a:p>
        </p:txBody>
      </p:sp>
    </p:spTree>
    <p:extLst>
      <p:ext uri="{BB962C8B-B14F-4D97-AF65-F5344CB8AC3E}">
        <p14:creationId xmlns:p14="http://schemas.microsoft.com/office/powerpoint/2010/main" val="37163652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144BB-78B8-4449-BA54-BA72E86B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Objectives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5091C-544B-4850-8AD8-597582796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how to </a:t>
            </a:r>
            <a:r>
              <a:rPr lang="en-US" b="1" dirty="0"/>
              <a:t>bypass</a:t>
            </a:r>
            <a:r>
              <a:rPr lang="en-US" dirty="0"/>
              <a:t> an </a:t>
            </a:r>
            <a:r>
              <a:rPr lang="en-US" b="1" dirty="0"/>
              <a:t>Android lock screen </a:t>
            </a:r>
            <a:r>
              <a:rPr lang="en-US" dirty="0"/>
              <a:t>on both the </a:t>
            </a:r>
            <a:r>
              <a:rPr lang="en-US" b="1" dirty="0"/>
              <a:t>Actual Device </a:t>
            </a:r>
            <a:r>
              <a:rPr lang="en-US" dirty="0"/>
              <a:t>and </a:t>
            </a:r>
            <a:r>
              <a:rPr lang="en-US" b="1" dirty="0"/>
              <a:t>Emulator</a:t>
            </a:r>
            <a:r>
              <a:rPr lang="en-US" dirty="0"/>
              <a:t> using </a:t>
            </a:r>
            <a:r>
              <a:rPr lang="en-US" b="1" dirty="0"/>
              <a:t>adb</a:t>
            </a:r>
            <a:r>
              <a:rPr lang="en-US" dirty="0"/>
              <a:t>.</a:t>
            </a:r>
          </a:p>
          <a:p>
            <a:r>
              <a:rPr lang="en-US" dirty="0"/>
              <a:t>Understanding how to </a:t>
            </a:r>
            <a:r>
              <a:rPr lang="en-US" b="1" dirty="0"/>
              <a:t>debug</a:t>
            </a:r>
            <a:r>
              <a:rPr lang="en-US" dirty="0"/>
              <a:t> or </a:t>
            </a:r>
            <a:r>
              <a:rPr lang="en-US" b="1" dirty="0"/>
              <a:t>manipulate</a:t>
            </a:r>
            <a:r>
              <a:rPr lang="en-US" dirty="0"/>
              <a:t> </a:t>
            </a:r>
            <a:r>
              <a:rPr lang="en-US" b="1" dirty="0"/>
              <a:t>Android Apps </a:t>
            </a:r>
            <a:r>
              <a:rPr lang="en-US" dirty="0"/>
              <a:t>using </a:t>
            </a:r>
            <a:r>
              <a:rPr lang="en-US" b="1" dirty="0"/>
              <a:t>frida</a:t>
            </a:r>
            <a:r>
              <a:rPr lang="en-US" dirty="0"/>
              <a:t>.</a:t>
            </a:r>
          </a:p>
          <a:p>
            <a:r>
              <a:rPr lang="en-US" dirty="0"/>
              <a:t>Understanding the </a:t>
            </a:r>
            <a:r>
              <a:rPr lang="en-US" b="1" dirty="0"/>
              <a:t>Android OS vulnerabilities </a:t>
            </a:r>
            <a:r>
              <a:rPr lang="en-US" dirty="0"/>
              <a:t>and how to </a:t>
            </a:r>
            <a:r>
              <a:rPr lang="en-US" b="1" dirty="0"/>
              <a:t>exploit</a:t>
            </a:r>
            <a:r>
              <a:rPr lang="en-US" dirty="0"/>
              <a:t> them using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7143640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05498D-FE4F-4B3E-B53B-3FC316D7F69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/>
              <a:t>Photo Debugging </a:t>
            </a:r>
            <a:endParaRPr lang="LID4096" b="1" dirty="0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FAD0D3E-68C1-4E35-9F84-89FDA66D418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Using exiftool, steghide and Other Manual Methods </a:t>
            </a:r>
            <a:endParaRPr lang="LID4096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FF4FCF0-37EF-49D2-A5B5-6264F60C1F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1963" y="378054"/>
            <a:ext cx="4015995" cy="3400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7744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81D88-0E4E-4F36-AF4A-CE16CBED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E682E-A73E-4356-B67F-286EA840AC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photo</a:t>
            </a:r>
            <a:r>
              <a:rPr lang="en-US" dirty="0"/>
              <a:t> has undergone a </a:t>
            </a:r>
            <a:r>
              <a:rPr lang="en-US" b="1" dirty="0"/>
              <a:t>cryptographic synthesis</a:t>
            </a:r>
            <a:r>
              <a:rPr lang="en-US" dirty="0"/>
              <a:t> and you should avail the following information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Where the photo was </a:t>
            </a:r>
            <a:r>
              <a:rPr lang="en-US" b="1" dirty="0"/>
              <a:t>taken from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Device used</a:t>
            </a:r>
            <a:r>
              <a:rPr lang="en-US" dirty="0"/>
              <a:t>,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Time </a:t>
            </a:r>
            <a:r>
              <a:rPr lang="en-US" dirty="0"/>
              <a:t>and </a:t>
            </a:r>
            <a:r>
              <a:rPr lang="en-US" b="1" dirty="0"/>
              <a:t>date</a:t>
            </a:r>
            <a:r>
              <a:rPr lang="en-US" dirty="0"/>
              <a:t>,</a:t>
            </a:r>
            <a:r>
              <a:rPr lang="en-US" b="1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Operating Systems </a:t>
            </a:r>
            <a:r>
              <a:rPr lang="en-US" dirty="0"/>
              <a:t>running on that same device and as well as other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Relevant information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29936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7A634F3-F614-44CF-A2B1-78BD263A01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Analyzing image metadata</a:t>
            </a:r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157BD55-526A-4BD4-AAA6-CD31493D4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5880" y="3558188"/>
            <a:ext cx="2705100" cy="1685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657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7763C6-4D00-4545-BF82-A5ECF4A66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696EC7-0B0D-4CCB-B6FC-BD2389207C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Analyzing image metadata </a:t>
            </a:r>
            <a:r>
              <a:rPr lang="en-US" dirty="0"/>
              <a:t>involves extracting and interpreting data embedded within an image file that describes attributes such as the camera settings, location, creation date, and even editing history. </a:t>
            </a:r>
          </a:p>
          <a:p>
            <a:r>
              <a:rPr lang="en-US" dirty="0"/>
              <a:t>This metadata is typically stored in formats like </a:t>
            </a:r>
            <a:r>
              <a:rPr lang="en-US" b="1" dirty="0"/>
              <a:t>EXIF (Exchangeable Image File Format)</a:t>
            </a:r>
            <a:r>
              <a:rPr lang="en-US" dirty="0"/>
              <a:t>.</a:t>
            </a:r>
          </a:p>
          <a:p>
            <a:r>
              <a:rPr lang="en-GB" b="1" dirty="0"/>
              <a:t>Metadata Extraction Tools </a:t>
            </a:r>
            <a:r>
              <a:rPr lang="en-GB" dirty="0"/>
              <a:t>include the exiftool</a:t>
            </a:r>
          </a:p>
        </p:txBody>
      </p:sp>
    </p:spTree>
    <p:extLst>
      <p:ext uri="{BB962C8B-B14F-4D97-AF65-F5344CB8AC3E}">
        <p14:creationId xmlns:p14="http://schemas.microsoft.com/office/powerpoint/2010/main" val="2166430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36FB81-E6C1-4C17-8C4D-ACF9D1CA5A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Limitations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9D369C-B961-4220-9580-3552A60980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b="1" dirty="0"/>
              <a:t>Not all images have metadata </a:t>
            </a:r>
            <a:r>
              <a:rPr lang="en-US" dirty="0"/>
              <a:t>– PNGs often have limited metadata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Metadata can be edited or erased </a:t>
            </a:r>
            <a:r>
              <a:rPr lang="en-US" dirty="0"/>
              <a:t>– Social media uploads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/>
              <a:t>Privacy Risk </a:t>
            </a:r>
            <a:r>
              <a:rPr lang="en-US" dirty="0"/>
              <a:t>— GPS and author info can reveal sensitive data.</a:t>
            </a:r>
          </a:p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3518584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2D3D9-721B-4842-9F95-C191BB509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Download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085E2D-F1EC-4B5A-9944-6EC9F81EAB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the photo received via Email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Save it to your preferred </a:t>
            </a:r>
            <a:r>
              <a:rPr lang="en-US" b="1" dirty="0"/>
              <a:t>Folder</a:t>
            </a:r>
            <a:r>
              <a:rPr lang="en-US" dirty="0"/>
              <a:t>, in this case </a:t>
            </a:r>
            <a:r>
              <a:rPr lang="en-US" b="1" dirty="0"/>
              <a:t>Labs</a:t>
            </a:r>
            <a:r>
              <a:rPr lang="en-US" dirty="0"/>
              <a:t> under </a:t>
            </a:r>
            <a:r>
              <a:rPr lang="en-US" b="1" dirty="0"/>
              <a:t>Operating System Security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1EA4BE-7178-435B-B226-74806D93C3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7144" y="3159067"/>
            <a:ext cx="7331574" cy="53986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0F65177-89D5-4E4D-9E10-D386F4BBFAE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81"/>
          <a:stretch/>
        </p:blipFill>
        <p:spPr>
          <a:xfrm>
            <a:off x="2557144" y="4458877"/>
            <a:ext cx="7899806" cy="1953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720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15F4-D354-407A-936A-02DF15076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Image Meta Data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272822-66BE-4A68-A2DD-947A897657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/>
              <a:t>Download </a:t>
            </a:r>
            <a:r>
              <a:rPr lang="en-US" dirty="0"/>
              <a:t>and </a:t>
            </a:r>
            <a:r>
              <a:rPr lang="en-US" b="1" dirty="0"/>
              <a:t>install</a:t>
            </a:r>
            <a:r>
              <a:rPr lang="en-US" dirty="0"/>
              <a:t> exiftool in Linux with </a:t>
            </a:r>
            <a:r>
              <a:rPr lang="en-US" b="1" dirty="0"/>
              <a:t>sudo apt-get install exiftool </a:t>
            </a:r>
            <a:r>
              <a:rPr lang="en-US" dirty="0"/>
              <a:t>and examine the image (100106491.jpg) meta data.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Useful information here might include the modification date for Forensic purposes.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62D0BF-83A7-477C-B56F-56BBD68F3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9482" y="3232010"/>
            <a:ext cx="7186113" cy="21318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9531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0664F-C7E7-4B0D-9852-71FCBACA9D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Results</a:t>
            </a:r>
            <a:endParaRPr lang="LID4096" b="1" dirty="0"/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4A7FC5B1-9D89-4FE9-8B5B-644018BBBBE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3216419"/>
              </p:ext>
            </p:extLst>
          </p:nvPr>
        </p:nvGraphicFramePr>
        <p:xfrm>
          <a:off x="2230438" y="2638425"/>
          <a:ext cx="773112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65562">
                  <a:extLst>
                    <a:ext uri="{9D8B030D-6E8A-4147-A177-3AD203B41FA5}">
                      <a16:colId xmlns:a16="http://schemas.microsoft.com/office/drawing/2014/main" val="1974648331"/>
                    </a:ext>
                  </a:extLst>
                </a:gridCol>
                <a:gridCol w="3865562">
                  <a:extLst>
                    <a:ext uri="{9D8B030D-6E8A-4147-A177-3AD203B41FA5}">
                      <a16:colId xmlns:a16="http://schemas.microsoft.com/office/drawing/2014/main" val="16177674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META DATA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MORE INFORMATION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82957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Location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1329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Device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Tecno Pop 8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70872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OS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Android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75881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Modification Date/Time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May 17, 2025 at 12:21:53 PM (UTC+1)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6510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>
                          <a:solidFill>
                            <a:schemeClr val="tx1"/>
                          </a:solidFill>
                        </a:rPr>
                        <a:t>Access Date/Time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May 17, 2025 at 12:22:10 PM (UTC+1)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61939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Other</a:t>
                      </a:r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95589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LID4096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LID4096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4288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6973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4DE4E53-6209-4ED5-94F7-8CE1BDAC3D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Android Vulnerabilities &amp; Ways To Bypass The Lock screen </a:t>
            </a:r>
            <a:endParaRPr lang="LID4096" b="1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CD9BDFF3-1D76-45F3-80BE-A043C6F647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Using frida, adb, CiLocks &amp; </a:t>
            </a:r>
            <a:endParaRPr lang="LID4096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A0BDFDD-D573-4CBC-8815-7032CADB61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6502" y="395187"/>
            <a:ext cx="191452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2873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64EF79-2046-482F-9FA1-51DC411A4C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C5D734-F34B-4931-8317-02FDDABB1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and Install </a:t>
            </a:r>
            <a:r>
              <a:rPr lang="en-US" b="1" dirty="0"/>
              <a:t>Bluestacks 5</a:t>
            </a:r>
          </a:p>
          <a:p>
            <a:r>
              <a:rPr lang="en-US" dirty="0"/>
              <a:t>Research on the security </a:t>
            </a:r>
            <a:r>
              <a:rPr lang="en-US" b="1" dirty="0"/>
              <a:t>vulnerabilities</a:t>
            </a:r>
            <a:r>
              <a:rPr lang="en-US" dirty="0"/>
              <a:t> of Android Operating System </a:t>
            </a:r>
          </a:p>
          <a:p>
            <a:r>
              <a:rPr lang="en-US" dirty="0"/>
              <a:t>Crack password locked Android Operating System using a tool called </a:t>
            </a:r>
            <a:r>
              <a:rPr lang="en-US" b="1" dirty="0"/>
              <a:t>Frida</a:t>
            </a:r>
          </a:p>
        </p:txBody>
      </p:sp>
    </p:spTree>
    <p:extLst>
      <p:ext uri="{BB962C8B-B14F-4D97-AF65-F5344CB8AC3E}">
        <p14:creationId xmlns:p14="http://schemas.microsoft.com/office/powerpoint/2010/main" val="31602577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D25DE7D-BC5A-4FF2-81A8-99C6A340F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3132857"/>
            <a:ext cx="7729728" cy="1188720"/>
          </a:xfrm>
        </p:spPr>
        <p:txBody>
          <a:bodyPr/>
          <a:lstStyle/>
          <a:p>
            <a:r>
              <a:rPr lang="en-US" b="1" dirty="0"/>
              <a:t>Frida</a:t>
            </a:r>
            <a:endParaRPr lang="LID4096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FC28E50-5632-4EF0-85C5-4BCBA1293A5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5618"/>
          <a:stretch/>
        </p:blipFill>
        <p:spPr>
          <a:xfrm>
            <a:off x="4256595" y="2080673"/>
            <a:ext cx="4293516" cy="1133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126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F5AA-871F-4444-A568-32E862B534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FCFC90-654B-4267-97A9-5573D0A85D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Frida</a:t>
            </a:r>
            <a:r>
              <a:rPr lang="en-US" dirty="0"/>
              <a:t> is an open-source dynamic instrumentation framework primarily used for dynamically analyzing and manipulating the behavior of mobile apps.</a:t>
            </a:r>
          </a:p>
          <a:p>
            <a:r>
              <a:rPr lang="en-US" dirty="0"/>
              <a:t>It is commonly used for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Reverse engineering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Bypass root detection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Monitor API usage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Security testing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Modify app behaviour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5665008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6C23-2E23-4081-ADF2-EF434F6EE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Python &amp; Frida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67AE2F-281D-46EE-8675-9F4F6F12C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Download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python</a:t>
            </a:r>
            <a:r>
              <a:rPr lang="en-US" dirty="0"/>
              <a:t> for Windows.</a:t>
            </a:r>
          </a:p>
          <a:p>
            <a:r>
              <a:rPr lang="en-US" dirty="0"/>
              <a:t>Open </a:t>
            </a:r>
            <a:r>
              <a:rPr lang="en-US" b="1" dirty="0"/>
              <a:t>Command Prompt (CMD) </a:t>
            </a:r>
            <a:r>
              <a:rPr lang="en-US" dirty="0"/>
              <a:t>and install Frida with the command </a:t>
            </a:r>
            <a:r>
              <a:rPr lang="en-US" b="1" dirty="0"/>
              <a:t>python -m pip install frida </a:t>
            </a:r>
          </a:p>
          <a:p>
            <a:pPr marL="0" indent="0">
              <a:buNone/>
            </a:pPr>
            <a:endParaRPr lang="LID4096" b="1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4C2BDE-BFF1-4B10-A0BD-D3A7992D8F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4241" y="3810483"/>
            <a:ext cx="6750588" cy="21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6562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1AA0-4285-4BC8-B00C-A3086FE46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Frida Server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B7604-7A1D-4F07-9DD2-A077579AD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Next, we need to </a:t>
            </a:r>
            <a:r>
              <a:rPr lang="en-US" b="1" dirty="0"/>
              <a:t>install</a:t>
            </a:r>
            <a:r>
              <a:rPr lang="en-US" dirty="0"/>
              <a:t> the </a:t>
            </a:r>
            <a:r>
              <a:rPr lang="en-US" b="1" dirty="0"/>
              <a:t>Frida Server </a:t>
            </a:r>
            <a:r>
              <a:rPr lang="en-US" dirty="0"/>
              <a:t>with the command </a:t>
            </a:r>
            <a:r>
              <a:rPr lang="en-US" b="1" dirty="0"/>
              <a:t>python -m pip install frida-tools</a:t>
            </a:r>
          </a:p>
          <a:p>
            <a:pPr marL="0" indent="0">
              <a:buNone/>
            </a:pPr>
            <a:endParaRPr lang="LID4096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0F74C-450D-41AF-AC06-B76A72AFC4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0689" y="3379508"/>
            <a:ext cx="7045798" cy="2248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25298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A1AA0-4285-4BC8-B00C-A3086FE46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Objection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EB7604-7A1D-4F07-9DD2-A077579AD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Next, we need to </a:t>
            </a:r>
            <a:r>
              <a:rPr lang="en-US" b="1" dirty="0"/>
              <a:t>install</a:t>
            </a:r>
            <a:r>
              <a:rPr lang="en-US" dirty="0"/>
              <a:t> the </a:t>
            </a:r>
            <a:r>
              <a:rPr lang="en-US" b="1" dirty="0"/>
              <a:t>Objection </a:t>
            </a:r>
            <a:r>
              <a:rPr lang="en-US" dirty="0"/>
              <a:t>with the command </a:t>
            </a:r>
            <a:r>
              <a:rPr lang="en-US" b="1" dirty="0"/>
              <a:t>python -m pip install objection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endParaRPr lang="LID4096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55EDBC-E027-4D89-B450-D2DCBD37B1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4701" y="3356005"/>
            <a:ext cx="7239748" cy="2309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53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C3C48-38FF-4EFE-900E-55282F7F2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Device Architecture &amp; Frida Version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E11DA8-12D4-4569-A15D-C76BC066CB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Check the device architecture with the command </a:t>
            </a:r>
            <a:r>
              <a:rPr lang="en-US" b="1" dirty="0"/>
              <a:t>adb shell getprop ro.product.cpu.abi</a:t>
            </a:r>
            <a:r>
              <a:rPr lang="en-US" dirty="0"/>
              <a:t> via Command Prompt (CMD)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Check the Frida version with the command </a:t>
            </a:r>
            <a:r>
              <a:rPr lang="en-US" b="1" dirty="0"/>
              <a:t>frida --version </a:t>
            </a:r>
            <a:r>
              <a:rPr lang="en-US" dirty="0"/>
              <a:t>via CMD.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09390E8-62BA-41AB-ABA6-E3D4A84CE0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32" y="3299230"/>
            <a:ext cx="4000706" cy="78744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ACB4072-E394-496D-BE08-5B5D6D11684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7932" y="4571302"/>
            <a:ext cx="2546481" cy="78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63175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832663-FB54-4602-96F4-E9A5C7654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Frida Android Server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D93A64-7801-4FDC-AE85-3D136411A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Based on the Device Architecture and the Frida Version, download the Android Frida Server via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dirty="0"/>
              <a:t>.</a:t>
            </a:r>
          </a:p>
          <a:p>
            <a:r>
              <a:rPr lang="en-US" dirty="0"/>
              <a:t>To filter your search, use Ctrl + F and type Android then locate your target file.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Extract </a:t>
            </a:r>
            <a:r>
              <a:rPr lang="en-US" dirty="0"/>
              <a:t>the downloaded file, </a:t>
            </a:r>
            <a:r>
              <a:rPr lang="en-US" b="1" dirty="0"/>
              <a:t>rename</a:t>
            </a:r>
            <a:r>
              <a:rPr lang="en-US" dirty="0"/>
              <a:t> the file inside to frida.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4C9B3C-2CC4-4DD8-84A2-0FFC38646E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833" y="4049328"/>
            <a:ext cx="2641736" cy="27941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D156971-0BD2-4084-9395-003CC737C8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833" y="4813373"/>
            <a:ext cx="5679194" cy="85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43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48B3F2F-C1BE-4BAD-B8DE-7254C7B48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SDK Platform-Tools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9146870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6D61501-A7A8-4A7A-B52B-F9545C9BA1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C75A47-5101-4FE2-B6AC-F64FB0E0DE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Android SDK Platform-Tools </a:t>
            </a:r>
            <a:r>
              <a:rPr lang="en-US" dirty="0"/>
              <a:t>is a component for the Android SDK. </a:t>
            </a:r>
          </a:p>
          <a:p>
            <a:r>
              <a:rPr lang="en-US" dirty="0"/>
              <a:t>They are a collection of command-line tools provided by </a:t>
            </a:r>
            <a:r>
              <a:rPr lang="en-US" b="1" dirty="0"/>
              <a:t>Google</a:t>
            </a:r>
            <a:r>
              <a:rPr lang="en-US" dirty="0"/>
              <a:t> that are essential for Android development and debugging.</a:t>
            </a:r>
          </a:p>
          <a:p>
            <a:r>
              <a:rPr lang="en-US" dirty="0"/>
              <a:t>They include tools that interface with the Android platform, primarily </a:t>
            </a:r>
            <a:r>
              <a:rPr lang="en-US" b="1" dirty="0"/>
              <a:t>adb</a:t>
            </a:r>
            <a:r>
              <a:rPr lang="en-US" dirty="0"/>
              <a:t> </a:t>
            </a:r>
            <a:r>
              <a:rPr lang="en-US" b="1" dirty="0"/>
              <a:t>(Android Debug Bridge)</a:t>
            </a:r>
            <a:r>
              <a:rPr lang="en-US" dirty="0"/>
              <a:t> and </a:t>
            </a:r>
            <a:r>
              <a:rPr lang="en-US" b="1" dirty="0"/>
              <a:t>fastboot</a:t>
            </a:r>
            <a:r>
              <a:rPr lang="en-US" dirty="0"/>
              <a:t>.</a:t>
            </a:r>
          </a:p>
          <a:p>
            <a:r>
              <a:rPr lang="en-US" dirty="0"/>
              <a:t>Some features may require </a:t>
            </a:r>
            <a:r>
              <a:rPr lang="en-US" b="1" dirty="0"/>
              <a:t>USB debugging </a:t>
            </a:r>
            <a:r>
              <a:rPr lang="en-US" dirty="0"/>
              <a:t>enabled on the Android device.</a:t>
            </a:r>
          </a:p>
          <a:p>
            <a:r>
              <a:rPr lang="en-US" b="1" dirty="0"/>
              <a:t>OEM drivers </a:t>
            </a:r>
            <a:r>
              <a:rPr lang="en-US" dirty="0"/>
              <a:t>may be required for Windows users to detect the device properly.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11130722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1B7BF-9A4B-4BD8-AAFF-C41BFAF38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Download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162BF9-22B9-4719-B5C4-531B266198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Finally,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/>
              <a:t> Android SDK Platform-Tools for Windows.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b="1" dirty="0"/>
              <a:t>Extract </a:t>
            </a:r>
            <a:r>
              <a:rPr lang="en-US" dirty="0"/>
              <a:t>the zipped Folder, move the extracted Folder to </a:t>
            </a:r>
            <a:r>
              <a:rPr lang="en-US" b="1" dirty="0"/>
              <a:t>Local Disk (C) </a:t>
            </a:r>
            <a:r>
              <a:rPr lang="en-US" dirty="0"/>
              <a:t>inside the </a:t>
            </a:r>
            <a:r>
              <a:rPr lang="en-US" b="1" dirty="0"/>
              <a:t>Windows</a:t>
            </a:r>
            <a:r>
              <a:rPr lang="en-US" dirty="0"/>
              <a:t> Folder e.g., </a:t>
            </a:r>
            <a:r>
              <a:rPr lang="en-US" b="1" dirty="0"/>
              <a:t>C:\Windows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22239C-E087-4812-8534-F82196D6F0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221" y="3284754"/>
            <a:ext cx="4635738" cy="1155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323438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03463A-2E84-4FBC-A3C7-4D5015AB63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Environmental Variables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ED35A-DB5A-4706-91B8-366962D87D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Now, add the path </a:t>
            </a:r>
            <a:r>
              <a:rPr lang="en-US" b="1" dirty="0"/>
              <a:t>C:\Windows\platform-tools </a:t>
            </a:r>
            <a:r>
              <a:rPr lang="en-US" dirty="0"/>
              <a:t>to the </a:t>
            </a:r>
            <a:r>
              <a:rPr lang="en-US" b="1" dirty="0"/>
              <a:t>Environmental Variables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Restart</a:t>
            </a:r>
            <a:r>
              <a:rPr lang="en-US" dirty="0"/>
              <a:t> your computer for the changes to be effective.</a:t>
            </a:r>
          </a:p>
          <a:p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4FC643-2218-4CC2-B915-37FBD5FEF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0630" y="3299264"/>
            <a:ext cx="4692891" cy="199400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DAE2DE0-A134-4480-86C1-439DDB19E043}"/>
              </a:ext>
            </a:extLst>
          </p:cNvPr>
          <p:cNvSpPr/>
          <p:nvPr/>
        </p:nvSpPr>
        <p:spPr>
          <a:xfrm>
            <a:off x="2762054" y="4892511"/>
            <a:ext cx="1480008" cy="1508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9277397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44E9B5D-24E3-49C9-8A45-5E31B8D700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Android Emulators 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237858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B68B8A8-5CDA-4638-9E81-3B5BA9F34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155BAA6-7306-4395-B866-B07BC5DD1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</a:t>
            </a:r>
            <a:r>
              <a:rPr lang="en-US" b="1" dirty="0"/>
              <a:t>emulator</a:t>
            </a:r>
            <a:r>
              <a:rPr lang="en-US" dirty="0"/>
              <a:t> is a software or hardware tool that allows a system (typically a computer) to behave like another system. </a:t>
            </a:r>
          </a:p>
          <a:p>
            <a:r>
              <a:rPr lang="en-US" dirty="0"/>
              <a:t>An </a:t>
            </a:r>
            <a:r>
              <a:rPr lang="en-US" b="1" dirty="0"/>
              <a:t>Android emulator </a:t>
            </a:r>
            <a:r>
              <a:rPr lang="en-US" dirty="0"/>
              <a:t>simulates Android devices on your computer, allowing you to run, test, or analyze Android apps without needing a physical device. </a:t>
            </a:r>
          </a:p>
          <a:p>
            <a:r>
              <a:rPr lang="en-US" dirty="0"/>
              <a:t>They're essential for </a:t>
            </a:r>
            <a:r>
              <a:rPr lang="en-US" b="1" dirty="0"/>
              <a:t>developers</a:t>
            </a:r>
            <a:r>
              <a:rPr lang="en-US" dirty="0"/>
              <a:t>, </a:t>
            </a:r>
            <a:r>
              <a:rPr lang="en-US" b="1" dirty="0"/>
              <a:t>testers</a:t>
            </a:r>
            <a:r>
              <a:rPr lang="en-US" dirty="0"/>
              <a:t>, </a:t>
            </a:r>
            <a:r>
              <a:rPr lang="en-US" b="1" dirty="0"/>
              <a:t>reverse engineers</a:t>
            </a:r>
            <a:r>
              <a:rPr lang="en-US" dirty="0"/>
              <a:t>, and </a:t>
            </a:r>
            <a:r>
              <a:rPr lang="en-US" b="1" dirty="0"/>
              <a:t>gamers</a:t>
            </a:r>
            <a:r>
              <a:rPr lang="en-US" dirty="0"/>
              <a:t>.</a:t>
            </a:r>
          </a:p>
          <a:p>
            <a:r>
              <a:rPr lang="en-US" dirty="0"/>
              <a:t>Why Use an Android Emulator?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App Development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Penetration Testing, Reverse Engineering,  Automation or Scripting</a:t>
            </a:r>
          </a:p>
          <a:p>
            <a:pPr marL="342900" indent="-342900">
              <a:buFont typeface="+mj-lt"/>
              <a:buAutoNum type="arabicPeriod"/>
            </a:pPr>
            <a:r>
              <a:rPr lang="en-GB" dirty="0"/>
              <a:t>Gaming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657249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84500-3DC7-47EA-884C-5955B9293D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Bluestacks 5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35156214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006BFBA-430A-42AA-BF11-B4DA3341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 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D669C4D-BC1C-43C2-B3E7-ABE6C656FC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BlueStacks </a:t>
            </a:r>
            <a:r>
              <a:rPr lang="en-US" dirty="0"/>
              <a:t>is one of the most popular Android emulators, mainly designed to let you run Android apps and games on Windows or macOS with excellent performance and ease of use. </a:t>
            </a:r>
          </a:p>
          <a:p>
            <a:r>
              <a:rPr lang="en-US" dirty="0"/>
              <a:t>Unlike developer-focused emulators, BlueStacks is optimized for </a:t>
            </a:r>
            <a:r>
              <a:rPr lang="en-US" b="1" dirty="0"/>
              <a:t>gaming</a:t>
            </a:r>
            <a:r>
              <a:rPr lang="en-US" dirty="0"/>
              <a:t> and casual use.</a:t>
            </a:r>
          </a:p>
          <a:p>
            <a:r>
              <a:rPr lang="en-GB" dirty="0"/>
              <a:t>BlueStacks </a:t>
            </a:r>
            <a:r>
              <a:rPr lang="en-GB" b="1" dirty="0"/>
              <a:t>Versions</a:t>
            </a:r>
            <a:r>
              <a:rPr lang="en-GB" dirty="0"/>
              <a:t> include </a:t>
            </a:r>
            <a:r>
              <a:rPr lang="en-GB" b="1" dirty="0"/>
              <a:t>3</a:t>
            </a:r>
            <a:r>
              <a:rPr lang="en-GB" dirty="0"/>
              <a:t>,  </a:t>
            </a:r>
            <a:r>
              <a:rPr lang="en-GB" b="1" dirty="0"/>
              <a:t>4</a:t>
            </a:r>
            <a:r>
              <a:rPr lang="en-GB" dirty="0"/>
              <a:t>,  </a:t>
            </a:r>
            <a:r>
              <a:rPr lang="en-GB" b="1" dirty="0"/>
              <a:t>X</a:t>
            </a:r>
            <a:r>
              <a:rPr lang="en-GB" dirty="0"/>
              <a:t>, </a:t>
            </a:r>
            <a:r>
              <a:rPr lang="en-GB" b="1" dirty="0"/>
              <a:t>5</a:t>
            </a:r>
            <a:r>
              <a:rPr lang="en-GB" dirty="0"/>
              <a:t> and </a:t>
            </a:r>
            <a:r>
              <a:rPr lang="en-GB" b="1" dirty="0"/>
              <a:t>Air</a:t>
            </a:r>
            <a:r>
              <a:rPr lang="en-GB" dirty="0"/>
              <a:t>.</a:t>
            </a:r>
          </a:p>
          <a:p>
            <a:r>
              <a:rPr lang="en-GB" dirty="0"/>
              <a:t>Some </a:t>
            </a:r>
            <a:r>
              <a:rPr lang="en-GB" b="1" dirty="0"/>
              <a:t>limitations</a:t>
            </a:r>
            <a:r>
              <a:rPr lang="en-GB" dirty="0"/>
              <a:t> include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Limited developer features (e.g., no native adb shell unless tweaked)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Limited device settings (e.g., no option to enable device security like a PIN) 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6575925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F807CE1-3861-4706-B743-8EAA94BE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Download</a:t>
            </a:r>
            <a:endParaRPr lang="LID4096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4119A-083F-4A50-B92B-22CA6D403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 </a:t>
            </a:r>
            <a:r>
              <a:rPr lang="en-US" dirty="0"/>
              <a:t>the Android Emulator Bluestacks.</a:t>
            </a:r>
          </a:p>
          <a:p>
            <a:r>
              <a:rPr lang="en-US" b="1" dirty="0"/>
              <a:t>Install</a:t>
            </a:r>
            <a:r>
              <a:rPr lang="en-US" dirty="0"/>
              <a:t> via the </a:t>
            </a:r>
            <a:r>
              <a:rPr lang="en-US" b="1" dirty="0"/>
              <a:t>BlueStacksInstaller.exe </a:t>
            </a:r>
            <a:r>
              <a:rPr lang="en-US" dirty="0"/>
              <a:t>based on the version downloaded.</a:t>
            </a:r>
          </a:p>
          <a:p>
            <a:pPr marL="0" indent="0">
              <a:buNone/>
            </a:pPr>
            <a:endParaRPr lang="en-US" dirty="0"/>
          </a:p>
          <a:p>
            <a:endParaRPr lang="LID4096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3C2D0-6E6D-4023-B3ED-CB1D98672B8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7927" y="3429000"/>
            <a:ext cx="5643546" cy="3237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44999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4225116-E25C-4315-85B1-AF6062057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MEmu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259071590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F6398-841D-4239-89D8-B3602B9CCD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1E6C22-FD41-4E3F-9A41-CDDD2B1BAE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MEmu</a:t>
            </a:r>
            <a:r>
              <a:rPr lang="en-US" dirty="0"/>
              <a:t> is a popular free Android emulator for Windows that is known for its gaming performance, customizability, and support for multiple Android versions.</a:t>
            </a:r>
          </a:p>
          <a:p>
            <a:r>
              <a:rPr lang="en-US" dirty="0"/>
              <a:t>It was first launched in 2015 by </a:t>
            </a:r>
            <a:r>
              <a:rPr lang="en-US" b="1" dirty="0"/>
              <a:t>Microvirt,</a:t>
            </a:r>
            <a:r>
              <a:rPr lang="en-US" dirty="0"/>
              <a:t> a software company based in </a:t>
            </a:r>
            <a:r>
              <a:rPr lang="en-US" b="1" dirty="0"/>
              <a:t>China</a:t>
            </a:r>
            <a:r>
              <a:rPr lang="en-US" dirty="0"/>
              <a:t>, with the aim of providing a high-performance Android emulator for gamers and general users on Windows PCs.</a:t>
            </a:r>
          </a:p>
          <a:p>
            <a:r>
              <a:rPr lang="en-US" dirty="0"/>
              <a:t>It over comes the limitation of Bluestacks (unable to set up device lock screen), hence it will be used in our demonstration.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8394252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136A0F-CF2A-4FAC-B1A4-8018E01058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Download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AB10F1-DBE1-4412-AA7F-971A4EBF7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/>
              <a:t> the Android Emulator </a:t>
            </a:r>
            <a:r>
              <a:rPr lang="en-US" b="1" dirty="0"/>
              <a:t>MEmu</a:t>
            </a:r>
            <a:r>
              <a:rPr lang="en-US" dirty="0"/>
              <a:t>.</a:t>
            </a:r>
          </a:p>
          <a:p>
            <a:r>
              <a:rPr lang="en-US" b="1" dirty="0"/>
              <a:t>Install </a:t>
            </a:r>
            <a:r>
              <a:rPr lang="en-US" dirty="0"/>
              <a:t>it by rejecting other options.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Restart</a:t>
            </a:r>
            <a:r>
              <a:rPr lang="en-US" dirty="0"/>
              <a:t> your computer.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83A6492-C57A-40F2-BFD7-8D85C30283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014" y="3356545"/>
            <a:ext cx="3172648" cy="1875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42404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7DDB-A162-4D9B-BF89-FBC369248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Display Settings 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DE50DA-CBAE-4087-A066-3171D8E8A0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MEmu, go to the </a:t>
            </a:r>
            <a:r>
              <a:rPr lang="en-US" b="1" dirty="0"/>
              <a:t>Settings</a:t>
            </a:r>
            <a:r>
              <a:rPr lang="en-US" dirty="0"/>
              <a:t>, then under </a:t>
            </a:r>
            <a:r>
              <a:rPr lang="en-US" b="1" dirty="0"/>
              <a:t>Display</a:t>
            </a:r>
            <a:r>
              <a:rPr lang="en-US" dirty="0"/>
              <a:t> select </a:t>
            </a:r>
            <a:r>
              <a:rPr lang="en-US" b="1" dirty="0"/>
              <a:t>Phone </a:t>
            </a:r>
            <a:r>
              <a:rPr lang="en-US" dirty="0"/>
              <a:t>and</a:t>
            </a:r>
            <a:r>
              <a:rPr lang="en-US" b="1" dirty="0"/>
              <a:t> Restart Now</a:t>
            </a:r>
            <a:r>
              <a:rPr lang="en-US" dirty="0"/>
              <a:t>.</a:t>
            </a:r>
            <a:endParaRPr lang="LID4096" dirty="0"/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BFF611-99B7-40D0-84BD-7D24BEC47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492" y="3253946"/>
            <a:ext cx="1905098" cy="3248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191842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D0C47-78EC-4980-BAF3-353245C3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Activating Frida Android Server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58E0AB-9DFE-4D70-91B6-8747943012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Copy</a:t>
            </a:r>
            <a:r>
              <a:rPr lang="en-US" dirty="0"/>
              <a:t> and </a:t>
            </a:r>
            <a:r>
              <a:rPr lang="en-US" b="1" dirty="0"/>
              <a:t>paste</a:t>
            </a:r>
            <a:r>
              <a:rPr lang="en-US" dirty="0"/>
              <a:t> frida inside the Emulator you are using via Program Files </a:t>
            </a:r>
            <a:r>
              <a:rPr lang="en-US" b="1" dirty="0"/>
              <a:t>D:\Program Files\Microvirt\MEmu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Run the command </a:t>
            </a:r>
            <a:r>
              <a:rPr lang="en-US" b="1" dirty="0"/>
              <a:t>adb devices </a:t>
            </a:r>
            <a:r>
              <a:rPr lang="en-US" dirty="0"/>
              <a:t>via CMD to see if the frida server is active.</a:t>
            </a:r>
            <a:endParaRPr lang="LID4096" dirty="0"/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E4E0C2-07E0-4F1B-BB12-B4D65E5D1D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723" y="3283848"/>
            <a:ext cx="2722568" cy="8545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E75BB5-60F5-4AFA-B2CA-29FF4B9BB7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4722" y="4573508"/>
            <a:ext cx="3797223" cy="1403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3111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BA848-B22C-4C5A-B77A-78D7DD65A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Making Frida Executable using adb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59D87-9C57-4A06-9204-2055A71EEA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Open CMD inside the path </a:t>
            </a:r>
            <a:r>
              <a:rPr lang="en-US" b="1" dirty="0"/>
              <a:t>D:\Program Files\Microvirt\MEmu </a:t>
            </a:r>
            <a:r>
              <a:rPr lang="en-US" dirty="0"/>
              <a:t>where the frida server is, the run the command </a:t>
            </a:r>
            <a:r>
              <a:rPr lang="en-US" b="1" dirty="0"/>
              <a:t>adb push -p frida /data/local/tmp</a:t>
            </a:r>
          </a:p>
          <a:p>
            <a:r>
              <a:rPr lang="en-US" dirty="0"/>
              <a:t>Run the commands below</a:t>
            </a:r>
          </a:p>
          <a:p>
            <a:r>
              <a:rPr lang="en-US" b="1" dirty="0"/>
              <a:t>adb shell</a:t>
            </a:r>
          </a:p>
          <a:p>
            <a:r>
              <a:rPr lang="en-US" b="1" dirty="0"/>
              <a:t>cd data/local/tmp</a:t>
            </a:r>
          </a:p>
          <a:p>
            <a:r>
              <a:rPr lang="en-US" b="1" dirty="0"/>
              <a:t>ls</a:t>
            </a:r>
          </a:p>
          <a:p>
            <a:r>
              <a:rPr lang="en-US" b="1" dirty="0"/>
              <a:t>chmod +x frida</a:t>
            </a:r>
          </a:p>
          <a:p>
            <a:r>
              <a:rPr lang="en-US" b="1" dirty="0"/>
              <a:t>/data/local/tmp/frida &amp;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D9081D-D272-4F54-B7A6-501FC17267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191" y="3429000"/>
            <a:ext cx="5016758" cy="18669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ABA46A-BBB1-43C6-B505-864068400A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5191" y="5435211"/>
            <a:ext cx="5016758" cy="789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2742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02222-0D29-42DD-9897-13B830A6A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Diva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25AEA-93F2-4F91-BDA3-36E78F146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/>
              <a:t> diva-apk-file via GitHub.</a:t>
            </a:r>
          </a:p>
          <a:p>
            <a:r>
              <a:rPr lang="en-US" b="1" dirty="0"/>
              <a:t>Extract</a:t>
            </a:r>
            <a:r>
              <a:rPr lang="en-US" dirty="0"/>
              <a:t> the file and </a:t>
            </a:r>
            <a:r>
              <a:rPr lang="en-US" b="1" dirty="0"/>
              <a:t>copy</a:t>
            </a:r>
            <a:r>
              <a:rPr lang="en-US" dirty="0"/>
              <a:t> the </a:t>
            </a:r>
            <a:r>
              <a:rPr lang="en-US" b="1" dirty="0"/>
              <a:t>DivaApplication.apk </a:t>
            </a:r>
            <a:r>
              <a:rPr lang="en-US" dirty="0"/>
              <a:t>to the Emulator or Android Device.</a:t>
            </a:r>
          </a:p>
          <a:p>
            <a:r>
              <a:rPr lang="en-US" dirty="0"/>
              <a:t>Inside MEmu, use the APK button to add DivaApplication.apk by selecting it from the Folder it in saved on your PC.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61BB0A-1DF6-4B67-8EC7-F050273D12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6415" y="4416364"/>
            <a:ext cx="5154138" cy="2050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77842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4E9C83-6F69-46D1-9E0D-BDC9EF12F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Diva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BFD868-C437-4CDB-8415-4BE442F3D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a new CMD and enter the command </a:t>
            </a:r>
            <a:r>
              <a:rPr lang="en-US" b="1" dirty="0"/>
              <a:t>frida-ps -Uai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472523-139D-4DC7-87C0-85854DEE9E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5521" y="3041138"/>
            <a:ext cx="5642934" cy="33785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66427F16-64F7-4BAE-9C30-8DD24220CB02}"/>
              </a:ext>
            </a:extLst>
          </p:cNvPr>
          <p:cNvSpPr/>
          <p:nvPr/>
        </p:nvSpPr>
        <p:spPr>
          <a:xfrm>
            <a:off x="3148553" y="5316718"/>
            <a:ext cx="3516198" cy="16968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96326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CCEE5-31A3-428A-81B1-0432432F14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Setting Up a PIN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6B131C-6D5C-4E6D-A3F3-CB1D16D6EA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Open MUme, go to the </a:t>
            </a:r>
            <a:r>
              <a:rPr lang="en-US" b="1" dirty="0"/>
              <a:t>Settings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Tap on </a:t>
            </a:r>
            <a:r>
              <a:rPr lang="en-US" b="1" dirty="0"/>
              <a:t>Security &amp; Location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Under Device security select device lock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3A1043-DFBC-49EF-9B0C-4D1C4A3EDA8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b="1" dirty="0"/>
              <a:t>Choose screen lock </a:t>
            </a:r>
            <a:r>
              <a:rPr lang="en-US" dirty="0"/>
              <a:t>option, in our case will use </a:t>
            </a:r>
            <a:r>
              <a:rPr lang="en-US" b="1" dirty="0"/>
              <a:t>PIN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10C830-6BBB-4F1A-B713-53E173222E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1238" y="3111483"/>
            <a:ext cx="3111660" cy="63503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C2FE65D-A561-4907-BF64-C8C924AF2D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729" y="4266498"/>
            <a:ext cx="2784819" cy="79569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BBBB1A9-1172-4F16-82B5-FF0D304C76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47435" y="5527044"/>
            <a:ext cx="2935649" cy="98687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A7BBEBA-2113-4880-9808-251A74F8CE9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5865" y="3359146"/>
            <a:ext cx="2724378" cy="1382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1104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492DDD-0AAC-476C-9ABA-ABE1FEB66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Bypassing The PIN Using adb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0C1EB-1264-4D81-88F6-B4B36775BC7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You can now verify that the MEmu phone is </a:t>
            </a:r>
            <a:r>
              <a:rPr lang="en-US" b="1" dirty="0"/>
              <a:t>locked</a:t>
            </a:r>
            <a:r>
              <a:rPr lang="en-US" dirty="0"/>
              <a:t> with a PIN.</a:t>
            </a:r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01B683-95E6-4DF6-B195-36393DC2C5F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Open Windows CMD and run the commands below to bypass the PIN.</a:t>
            </a:r>
          </a:p>
          <a:p>
            <a:r>
              <a:rPr lang="en-US" b="1" dirty="0"/>
              <a:t>adb devices</a:t>
            </a:r>
          </a:p>
          <a:p>
            <a:r>
              <a:rPr lang="en-US" b="1" dirty="0"/>
              <a:t>adb shell</a:t>
            </a:r>
          </a:p>
          <a:p>
            <a:r>
              <a:rPr lang="en-US" b="1" dirty="0"/>
              <a:t>cd data/system</a:t>
            </a:r>
          </a:p>
          <a:p>
            <a:r>
              <a:rPr lang="en-US" b="1" dirty="0"/>
              <a:t>rm locksettings.db</a:t>
            </a:r>
          </a:p>
          <a:p>
            <a:r>
              <a:rPr lang="en-US" b="1" dirty="0"/>
              <a:t>exit</a:t>
            </a:r>
          </a:p>
          <a:p>
            <a:r>
              <a:rPr lang="en-US" dirty="0"/>
              <a:t>Now, </a:t>
            </a:r>
            <a:r>
              <a:rPr lang="en-US" b="1" dirty="0"/>
              <a:t>reboot </a:t>
            </a:r>
            <a:r>
              <a:rPr lang="en-US" dirty="0"/>
              <a:t>your </a:t>
            </a:r>
            <a:r>
              <a:rPr lang="en-US" b="1" dirty="0"/>
              <a:t>MEmu phone </a:t>
            </a:r>
            <a:r>
              <a:rPr lang="en-US" dirty="0"/>
              <a:t>by restarting it.</a:t>
            </a:r>
          </a:p>
          <a:p>
            <a:endParaRPr lang="LID4096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FEC4F9E-E965-4198-B3BC-EA6B1FD1FC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9715" y="3303482"/>
            <a:ext cx="1926994" cy="327298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CA1A2B1-5204-4F7D-A82F-C95A455B56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6264" y="3303482"/>
            <a:ext cx="3438900" cy="18058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8B4DEB5-57C1-423A-BB8F-B1CA45377E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0700" y="3303483"/>
            <a:ext cx="1926994" cy="32652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41878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DA7048-FED7-44B2-9617-45F24CE76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Debugging The DIVA Android Application Using Frida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F400B-F288-4E3C-98B9-3C53B89731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Now, developers can </a:t>
            </a:r>
            <a:r>
              <a:rPr lang="en-US" b="1" dirty="0"/>
              <a:t>manipulate</a:t>
            </a:r>
            <a:r>
              <a:rPr lang="en-US" dirty="0"/>
              <a:t> the Android applications on the Emulator (Memu) such as </a:t>
            </a:r>
            <a:r>
              <a:rPr lang="en-US" b="1" dirty="0"/>
              <a:t>di.va.apk</a:t>
            </a:r>
          </a:p>
          <a:p>
            <a:r>
              <a:rPr lang="en-US" dirty="0"/>
              <a:t>The commands to achieve the above are shown below</a:t>
            </a:r>
          </a:p>
          <a:p>
            <a:r>
              <a:rPr lang="en-US" b="1" dirty="0"/>
              <a:t>adb devices</a:t>
            </a:r>
          </a:p>
          <a:p>
            <a:r>
              <a:rPr lang="en-US" b="1" dirty="0"/>
              <a:t>frida-ps -Uai</a:t>
            </a:r>
          </a:p>
          <a:p>
            <a:r>
              <a:rPr lang="en-US" b="1" dirty="0"/>
              <a:t>adb shell am start -n jakhar.aseem.diva/.MainActivity</a:t>
            </a:r>
          </a:p>
          <a:p>
            <a:r>
              <a:rPr lang="en-US" b="1" dirty="0"/>
              <a:t>adb shell pidof jakhar.aseem.diva</a:t>
            </a:r>
          </a:p>
          <a:p>
            <a:pPr marL="0" indent="0">
              <a:buNone/>
            </a:pPr>
            <a:endParaRPr lang="en-US" dirty="0"/>
          </a:p>
          <a:p>
            <a:endParaRPr lang="LID4096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0C2F759-6BC8-4B65-A8B0-ED03980F653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1814" y="2253005"/>
            <a:ext cx="6259398" cy="4345757"/>
          </a:xfrm>
        </p:spPr>
      </p:pic>
    </p:spTree>
    <p:extLst>
      <p:ext uri="{BB962C8B-B14F-4D97-AF65-F5344CB8AC3E}">
        <p14:creationId xmlns:p14="http://schemas.microsoft.com/office/powerpoint/2010/main" val="41781737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CFD4BA5-62E7-4BE6-8694-D7B54E8DC6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FRIDA ANDROID SERVER ACTIVATION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38398-10C9-49D2-B1F4-94B2F7475B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GB" dirty="0"/>
              <a:t>Now open a new CMD and enter the commands below</a:t>
            </a:r>
          </a:p>
          <a:p>
            <a:r>
              <a:rPr lang="en-GB" b="1" dirty="0"/>
              <a:t>adb shell</a:t>
            </a:r>
          </a:p>
          <a:p>
            <a:r>
              <a:rPr lang="en-GB" b="1" dirty="0"/>
              <a:t>cd data/local/tmp</a:t>
            </a:r>
          </a:p>
          <a:p>
            <a:r>
              <a:rPr lang="en-GB" b="1" dirty="0"/>
              <a:t>./frida &amp;</a:t>
            </a:r>
          </a:p>
          <a:p>
            <a:pPr marL="0" indent="0">
              <a:buNone/>
            </a:pPr>
            <a:endParaRPr lang="en-GB" dirty="0"/>
          </a:p>
          <a:p>
            <a:pPr marL="0" indent="0">
              <a:buNone/>
            </a:pPr>
            <a:endParaRPr lang="LID4096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D083448-EBE2-4BF6-81AC-2E82DA7C5FF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/>
          </a:bodyPr>
          <a:lstStyle/>
          <a:p>
            <a:r>
              <a:rPr lang="en-US" dirty="0"/>
              <a:t>Go back to the previous terminal and enter the command below </a:t>
            </a:r>
          </a:p>
          <a:p>
            <a:r>
              <a:rPr lang="en-US" b="1" dirty="0"/>
              <a:t>frida -U -p 2625 jakhar.aseem.diva</a:t>
            </a:r>
          </a:p>
          <a:p>
            <a:endParaRPr lang="LID4096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064E525-3D63-4360-A52B-EF5E1DFD31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b="1" dirty="0"/>
              <a:t>GAINING ACCESS TO AN APPLICAION VIA FRIDA</a:t>
            </a:r>
            <a:endParaRPr lang="LID4096" b="1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A83C13C-9AFC-48A8-B6FA-9942FBD413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Debugging The DIVA Android Application Using Frida (Continues…)</a:t>
            </a:r>
            <a:endParaRPr lang="LID409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A4A735D-7A6D-4D70-9F6C-1E3351FD0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15832" y="4959153"/>
            <a:ext cx="3937852" cy="159247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0909F6-4E21-4B2E-B4B1-853C372EC9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9234" y="4131588"/>
            <a:ext cx="4407198" cy="2637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3464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5EECD-BA04-45FA-81A2-03D6C4799E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Debugging The DIVA Android Application Using Frida (Continues…)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CA3724-0D40-4B4B-881E-91EEC6CD4E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Let’s load the diva.apk via frida with a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script</a:t>
            </a:r>
            <a:endParaRPr lang="en-US" b="1" dirty="0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21ADD5-6C9A-41B4-96C3-818BB6C2FC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1960" y="3032567"/>
            <a:ext cx="8330680" cy="31019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4FBB059-643B-49BA-AF6F-69D85A8F82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6555" y="3032567"/>
            <a:ext cx="1829551" cy="3121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5166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3D62E32-925E-4DFB-8F12-2985CFD01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Actual Device 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8708645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9B67E-A775-4D90-B488-0D7084FE49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Developer Options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5ACFFA-6201-46FC-9AB0-5347A570CC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Enable </a:t>
            </a:r>
            <a:r>
              <a:rPr lang="en-US" b="1" dirty="0"/>
              <a:t>USB Debugging </a:t>
            </a:r>
            <a:r>
              <a:rPr lang="en-US" dirty="0"/>
              <a:t>on Your Android Phone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 to </a:t>
            </a:r>
            <a:r>
              <a:rPr lang="en-US" b="1" dirty="0"/>
              <a:t>Settings</a:t>
            </a:r>
            <a:r>
              <a:rPr lang="en-US" dirty="0"/>
              <a:t> &gt; </a:t>
            </a:r>
            <a:r>
              <a:rPr lang="en-US" b="1" dirty="0"/>
              <a:t>About phone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Tap on </a:t>
            </a:r>
            <a:r>
              <a:rPr lang="en-US" b="1" dirty="0"/>
              <a:t>Build number </a:t>
            </a:r>
            <a:r>
              <a:rPr lang="en-US" dirty="0"/>
              <a:t>7 times to unlock Developer options.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Go back to </a:t>
            </a:r>
            <a:r>
              <a:rPr lang="en-US" b="1" dirty="0"/>
              <a:t>Settings</a:t>
            </a:r>
            <a:r>
              <a:rPr lang="en-US" dirty="0"/>
              <a:t>, then go to </a:t>
            </a:r>
            <a:r>
              <a:rPr lang="en-US" b="1" dirty="0"/>
              <a:t>System</a:t>
            </a:r>
            <a:r>
              <a:rPr lang="en-US" dirty="0"/>
              <a:t> &gt; </a:t>
            </a:r>
            <a:r>
              <a:rPr lang="en-US" b="1" dirty="0"/>
              <a:t>Developer options</a:t>
            </a:r>
            <a:r>
              <a:rPr lang="en-US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Enable </a:t>
            </a:r>
            <a:r>
              <a:rPr lang="en-US" b="1" dirty="0"/>
              <a:t>USB debugging </a:t>
            </a:r>
            <a:r>
              <a:rPr lang="en-US" dirty="0"/>
              <a:t>and </a:t>
            </a:r>
            <a:r>
              <a:rPr lang="en-US" b="1" dirty="0"/>
              <a:t>OEM unlocking</a:t>
            </a:r>
            <a:r>
              <a:rPr lang="en-US" dirty="0"/>
              <a:t>.</a:t>
            </a: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E92977-2CD7-45B7-82FD-A03BF52598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4731" y="4702936"/>
            <a:ext cx="5639710" cy="179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5483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1EB56E-D78C-4B7C-BD9C-5B5859F12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Android Drivers</a:t>
            </a:r>
            <a:endParaRPr lang="LID4096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7ABE80-7B22-43ED-B571-5D31FEAFC9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Preen Windows + X, then select Device Manager, locate</a:t>
            </a:r>
          </a:p>
          <a:p>
            <a:endParaRPr lang="en-US" dirty="0"/>
          </a:p>
          <a:p>
            <a:endParaRPr lang="en-US" dirty="0"/>
          </a:p>
          <a:p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/>
              <a:t> the official driver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F675A1-79C4-4D4D-98B5-CC6D904124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126" y="3060681"/>
            <a:ext cx="2888994" cy="6911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276F9F4-51CC-434E-A78D-BFC5B0676E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126" y="4356629"/>
            <a:ext cx="4654789" cy="108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63828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F1AE2-5D06-4C28-B9C8-68EB736E19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Android Drivers (Continues…)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8BE5C-B2E2-40C8-A16E-958662C063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Update the drivers and choose Android Bootloader Interface.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987932B-ECD0-4E57-BE36-5BCBD020AC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1008" y="3125355"/>
            <a:ext cx="4013406" cy="23343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BE00D4-BFE3-4EC1-BA5B-45B0F0BA8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8984" y="3125354"/>
            <a:ext cx="3263071" cy="133352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55C8210-58A3-49B6-8A99-9E9BEC28CA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987" y="4621412"/>
            <a:ext cx="3264068" cy="83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4910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520AF-5372-48B7-9676-A7E15252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TWRT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2A8AC-979B-4E11-9BF8-48AD2451F7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Download</a:t>
            </a:r>
            <a:r>
              <a:rPr lang="en-US" dirty="0"/>
              <a:t> TWRT for your PC device model e.g., </a:t>
            </a:r>
            <a:r>
              <a:rPr lang="en-US" b="1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DELL</a:t>
            </a:r>
            <a:r>
              <a:rPr lang="en-US" dirty="0"/>
              <a:t> or </a:t>
            </a:r>
            <a:r>
              <a:rPr lang="en-US" b="1" dirty="0">
                <a:solidFill>
                  <a:schemeClr val="tx1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Tecno</a:t>
            </a:r>
            <a:r>
              <a:rPr lang="en-US" dirty="0"/>
              <a:t>.</a:t>
            </a:r>
          </a:p>
          <a:p>
            <a:r>
              <a:rPr lang="en-US" b="1" dirty="0"/>
              <a:t>Copy</a:t>
            </a:r>
            <a:r>
              <a:rPr lang="en-US" dirty="0"/>
              <a:t> the file into the same folder as your </a:t>
            </a:r>
            <a:r>
              <a:rPr lang="en-US" b="1" dirty="0">
                <a:solidFill>
                  <a:schemeClr val="tx1"/>
                </a:solidFill>
                <a:hlinkClick r:id="rId5" action="ppaction://hlinksldjum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platform-tools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dirty="0">
                <a:solidFill>
                  <a:schemeClr val="tx1"/>
                </a:solidFill>
              </a:rPr>
              <a:t>and your </a:t>
            </a:r>
            <a:r>
              <a:rPr lang="en-US" b="1" dirty="0">
                <a:solidFill>
                  <a:schemeClr val="tx1"/>
                </a:solidFill>
              </a:rPr>
              <a:t>User</a:t>
            </a:r>
            <a:r>
              <a:rPr lang="en-US" dirty="0">
                <a:solidFill>
                  <a:schemeClr val="tx1"/>
                </a:solidFill>
              </a:rPr>
              <a:t> folder plus the </a:t>
            </a:r>
            <a:r>
              <a:rPr lang="en-US" b="1" dirty="0">
                <a:solidFill>
                  <a:schemeClr val="tx1"/>
                </a:solidFill>
              </a:rPr>
              <a:t>C </a:t>
            </a:r>
            <a:r>
              <a:rPr lang="en-US" dirty="0">
                <a:solidFill>
                  <a:schemeClr val="tx1"/>
                </a:solidFill>
              </a:rPr>
              <a:t>drive</a:t>
            </a:r>
            <a:r>
              <a:rPr lang="en-US" dirty="0"/>
              <a:t>. Rename the image to </a:t>
            </a:r>
            <a:r>
              <a:rPr lang="en-US" b="1" dirty="0">
                <a:solidFill>
                  <a:schemeClr val="tx1"/>
                </a:solidFill>
              </a:rPr>
              <a:t>twrp.img.</a:t>
            </a:r>
            <a:endParaRPr lang="en-US" dirty="0"/>
          </a:p>
          <a:p>
            <a:r>
              <a:rPr lang="en-US" dirty="0"/>
              <a:t>Connect your device to PC and run the commands</a:t>
            </a:r>
          </a:p>
          <a:p>
            <a:r>
              <a:rPr lang="en-GB" b="1" dirty="0"/>
              <a:t>adb reboot bootloader</a:t>
            </a:r>
          </a:p>
          <a:p>
            <a:r>
              <a:rPr lang="en-GB" b="1" dirty="0"/>
              <a:t>fastboot devices</a:t>
            </a:r>
          </a:p>
          <a:p>
            <a:r>
              <a:rPr lang="en-GB" b="1" dirty="0"/>
              <a:t>fastboot flashing unlock</a:t>
            </a:r>
          </a:p>
          <a:p>
            <a:r>
              <a:rPr lang="en-US" b="1" dirty="0"/>
              <a:t>fastboot flash recovery twrp.img</a:t>
            </a:r>
          </a:p>
          <a:p>
            <a:r>
              <a:rPr lang="en-GB" b="1" dirty="0"/>
              <a:t>fastboot boot twrp.img</a:t>
            </a:r>
          </a:p>
        </p:txBody>
      </p:sp>
    </p:spTree>
    <p:extLst>
      <p:ext uri="{BB962C8B-B14F-4D97-AF65-F5344CB8AC3E}">
        <p14:creationId xmlns:p14="http://schemas.microsoft.com/office/powerpoint/2010/main" val="121228479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A56411-5F9C-4F87-BBF0-C6BE8AE4A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Other Tools Used To Bypass An Android Lock Screen 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182848384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78836B-25B2-46F3-AE0F-CA05E5804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CiLocks</a:t>
            </a:r>
            <a:endParaRPr lang="LID4096" b="1" dirty="0"/>
          </a:p>
        </p:txBody>
      </p:sp>
    </p:spTree>
    <p:extLst>
      <p:ext uri="{BB962C8B-B14F-4D97-AF65-F5344CB8AC3E}">
        <p14:creationId xmlns:p14="http://schemas.microsoft.com/office/powerpoint/2010/main" val="15194780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1762EDB-4EF6-45E4-9636-FA646AC1A5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LID4096" b="1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30BAB87-607D-4021-9E42-C7A5EC94E4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CiLocks</a:t>
            </a:r>
            <a:r>
              <a:rPr lang="en-US" dirty="0"/>
              <a:t> is a security toolkit designed for Android and iOS devices, primarily aimed at penetration testers, ethical hackers, and security researchers. </a:t>
            </a:r>
          </a:p>
          <a:p>
            <a:r>
              <a:rPr lang="en-US" dirty="0"/>
              <a:t>Features include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Crack Interface lock screen,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Metasploit and </a:t>
            </a:r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More Android or iOS Hacking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944006918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80AA-C2FA-444A-B44A-78D3446D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Download &amp; Execution 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A10F5-FA4F-43AB-A1FD-10338B0FC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Open your Linux </a:t>
            </a:r>
            <a:r>
              <a:rPr lang="en-US" b="1" dirty="0"/>
              <a:t>terminal</a:t>
            </a:r>
            <a:r>
              <a:rPr lang="en-US" dirty="0"/>
              <a:t> in your preferred Folder and download </a:t>
            </a:r>
            <a:r>
              <a:rPr lang="en-US" b="1" dirty="0"/>
              <a:t>CiLocks</a:t>
            </a:r>
            <a:r>
              <a:rPr lang="en-US" dirty="0"/>
              <a:t> with command </a:t>
            </a:r>
            <a:r>
              <a:rPr lang="en-US" b="1" dirty="0"/>
              <a:t>git clone </a:t>
            </a:r>
            <a:r>
              <a:rPr lang="en-US" b="1" dirty="0">
                <a:hlinkClick r:id="rId2"/>
              </a:rPr>
              <a:t>https://github.com/tegal1337/CiLocks</a:t>
            </a:r>
            <a:r>
              <a:rPr lang="en-US" b="1" dirty="0"/>
              <a:t> </a:t>
            </a:r>
            <a:r>
              <a:rPr lang="en-US" dirty="0"/>
              <a:t>or download the zip file via </a:t>
            </a:r>
            <a:r>
              <a:rPr lang="en-US" b="1" dirty="0">
                <a:solidFill>
                  <a:schemeClr val="tx1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dirty="0"/>
              <a:t>.</a:t>
            </a:r>
          </a:p>
          <a:p>
            <a:r>
              <a:rPr lang="en-US" b="1" dirty="0"/>
              <a:t>Change directory </a:t>
            </a:r>
            <a:r>
              <a:rPr lang="en-US" dirty="0"/>
              <a:t>into CiLocks with the command </a:t>
            </a:r>
            <a:r>
              <a:rPr lang="en-US" b="1" dirty="0"/>
              <a:t>cd CiLocks</a:t>
            </a:r>
          </a:p>
          <a:p>
            <a:r>
              <a:rPr lang="en-US" dirty="0"/>
              <a:t>Give it </a:t>
            </a:r>
            <a:r>
              <a:rPr lang="en-US" b="1" dirty="0"/>
              <a:t>Executable permissions </a:t>
            </a:r>
            <a:r>
              <a:rPr lang="en-US" dirty="0"/>
              <a:t>with the command </a:t>
            </a:r>
            <a:r>
              <a:rPr lang="en-US" b="1" dirty="0"/>
              <a:t>chmod +x cilocks</a:t>
            </a:r>
          </a:p>
          <a:p>
            <a:r>
              <a:rPr lang="en-US" dirty="0"/>
              <a:t>Switch to a </a:t>
            </a:r>
            <a:r>
              <a:rPr lang="en-US" b="1" dirty="0"/>
              <a:t>root</a:t>
            </a:r>
            <a:r>
              <a:rPr lang="en-US" dirty="0"/>
              <a:t> user with the command </a:t>
            </a:r>
            <a:r>
              <a:rPr lang="en-US" b="1" dirty="0"/>
              <a:t>sudo su </a:t>
            </a:r>
            <a:r>
              <a:rPr lang="en-US" dirty="0"/>
              <a:t>and run the too with </a:t>
            </a:r>
            <a:r>
              <a:rPr lang="en-US" b="1" dirty="0"/>
              <a:t>bash cilocks</a:t>
            </a:r>
            <a:r>
              <a:rPr lang="en-US" dirty="0"/>
              <a:t> or </a:t>
            </a:r>
            <a:r>
              <a:rPr lang="en-US" b="1" dirty="0"/>
              <a:t>./cilocks</a:t>
            </a:r>
          </a:p>
          <a:p>
            <a:pPr marL="0" indent="0">
              <a:buNone/>
            </a:pP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233487439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780AA-C2FA-444A-B44A-78D3446D8C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Options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1A10F5-FA4F-43AB-A1FD-10338B0FCA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Then choose the option according the pin length the target phone is having or use a custom built wordlist.</a:t>
            </a:r>
          </a:p>
          <a:p>
            <a:pPr marL="0" indent="0">
              <a:buNone/>
            </a:pPr>
            <a:endParaRPr lang="LID4096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1B0696-716E-4216-8D8C-B48D211B94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0395" y="3312923"/>
            <a:ext cx="3321931" cy="32113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82074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2F92390-E311-4004-BB17-A631D88F00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2834640"/>
            <a:ext cx="7729728" cy="1188720"/>
          </a:xfrm>
        </p:spPr>
        <p:txBody>
          <a:bodyPr/>
          <a:lstStyle/>
          <a:p>
            <a:r>
              <a:rPr lang="en-US" b="1" dirty="0"/>
              <a:t>Android OS Vulnerabilities</a:t>
            </a:r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8936374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D0BE9F-35F1-40B6-9841-16BF6285E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Introduction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CBE433-6FB8-4DCF-9354-1D320A3884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 dirty="0"/>
          </a:p>
        </p:txBody>
      </p:sp>
    </p:spTree>
    <p:extLst>
      <p:ext uri="{BB962C8B-B14F-4D97-AF65-F5344CB8AC3E}">
        <p14:creationId xmlns:p14="http://schemas.microsoft.com/office/powerpoint/2010/main" val="312666237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6D4AE-89EC-4131-9628-685462FDB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  <a:endParaRPr lang="LID4096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A084B3-E3FF-4FCF-8A47-99F7D19373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4353510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6DEA3E9-793E-4F68-9ABE-2358D4D98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Questions?</a:t>
            </a:r>
            <a:endParaRPr lang="LID4096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7834F57-2DA3-4E69-BD9E-61425B697E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0888" y="2315852"/>
            <a:ext cx="348615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827877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71C241A9-A460-4AD1-916F-25308628A5B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1312</TotalTime>
  <Words>1954</Words>
  <Application>Microsoft Office PowerPoint</Application>
  <PresentationFormat>Widescreen</PresentationFormat>
  <Paragraphs>343</Paragraphs>
  <Slides>59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Gill Sans MT</vt:lpstr>
      <vt:lpstr>Parcel</vt:lpstr>
      <vt:lpstr>Operating system security (CYS337) </vt:lpstr>
      <vt:lpstr>Group 1</vt:lpstr>
      <vt:lpstr>Group 1(Continues…)</vt:lpstr>
      <vt:lpstr>Group 1(Continues…)</vt:lpstr>
      <vt:lpstr>Objectives</vt:lpstr>
      <vt:lpstr>Objectives (Continues…)</vt:lpstr>
      <vt:lpstr>Photo Debugging </vt:lpstr>
      <vt:lpstr>QUESTION</vt:lpstr>
      <vt:lpstr>Analyzing image metadata</vt:lpstr>
      <vt:lpstr>Introduction</vt:lpstr>
      <vt:lpstr>Limitations</vt:lpstr>
      <vt:lpstr>Image Download </vt:lpstr>
      <vt:lpstr>Image Meta Data</vt:lpstr>
      <vt:lpstr>Results</vt:lpstr>
      <vt:lpstr>Android Vulnerabilities &amp; Ways To Bypass The Lock screen </vt:lpstr>
      <vt:lpstr>Question</vt:lpstr>
      <vt:lpstr>Frida</vt:lpstr>
      <vt:lpstr>Introduction</vt:lpstr>
      <vt:lpstr>Python &amp; Frida</vt:lpstr>
      <vt:lpstr>Frida Server</vt:lpstr>
      <vt:lpstr>Objection</vt:lpstr>
      <vt:lpstr>Device Architecture &amp; Frida Version</vt:lpstr>
      <vt:lpstr>Frida Android Server </vt:lpstr>
      <vt:lpstr>SDK Platform-Tools </vt:lpstr>
      <vt:lpstr>Introduction </vt:lpstr>
      <vt:lpstr>Download </vt:lpstr>
      <vt:lpstr>Environmental Variables </vt:lpstr>
      <vt:lpstr>Android Emulators </vt:lpstr>
      <vt:lpstr>Introduction </vt:lpstr>
      <vt:lpstr>Bluestacks 5</vt:lpstr>
      <vt:lpstr>Introduction </vt:lpstr>
      <vt:lpstr>Download</vt:lpstr>
      <vt:lpstr>MEmu</vt:lpstr>
      <vt:lpstr>Introduction</vt:lpstr>
      <vt:lpstr>Download</vt:lpstr>
      <vt:lpstr>Display Settings </vt:lpstr>
      <vt:lpstr>Activating Frida Android Server</vt:lpstr>
      <vt:lpstr>Making Frida Executable using adb</vt:lpstr>
      <vt:lpstr>Diva</vt:lpstr>
      <vt:lpstr>Diva (continues…)</vt:lpstr>
      <vt:lpstr>Setting Up a PIN</vt:lpstr>
      <vt:lpstr>Bypassing The PIN Using adb</vt:lpstr>
      <vt:lpstr>Debugging The DIVA Android Application Using Frida</vt:lpstr>
      <vt:lpstr>Debugging The DIVA Android Application Using Frida (Continues…)</vt:lpstr>
      <vt:lpstr>Debugging The DIVA Android Application Using Frida (Continues…)</vt:lpstr>
      <vt:lpstr>Actual Device </vt:lpstr>
      <vt:lpstr>Developer Options</vt:lpstr>
      <vt:lpstr>Android Drivers</vt:lpstr>
      <vt:lpstr>Android Drivers (Continues…)</vt:lpstr>
      <vt:lpstr>TWRT</vt:lpstr>
      <vt:lpstr>Other Tools Used To Bypass An Android Lock Screen </vt:lpstr>
      <vt:lpstr>CiLocks</vt:lpstr>
      <vt:lpstr>Introduction</vt:lpstr>
      <vt:lpstr>Download &amp; Execution </vt:lpstr>
      <vt:lpstr>Options</vt:lpstr>
      <vt:lpstr>Android OS Vulnerabilities</vt:lpstr>
      <vt:lpstr>Introduction</vt:lpstr>
      <vt:lpstr>Conclusion</vt:lpstr>
      <vt:lpstr>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Soko</dc:creator>
  <cp:lastModifiedBy>James Soko</cp:lastModifiedBy>
  <cp:revision>316</cp:revision>
  <dcterms:created xsi:type="dcterms:W3CDTF">2025-05-15T20:35:44Z</dcterms:created>
  <dcterms:modified xsi:type="dcterms:W3CDTF">2025-05-20T00:24:41Z</dcterms:modified>
</cp:coreProperties>
</file>