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oftware_as_a_servic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9B65BCE-AEA0-4BB5-9FB4-D64A5B23F3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692400" y="1871663"/>
            <a:ext cx="6815138" cy="1514475"/>
          </a:xfrm>
        </p:spPr>
        <p:txBody>
          <a:bodyPr/>
          <a:lstStyle/>
          <a:p>
            <a:r>
              <a:rPr lang="en-US" altLang="en-US" dirty="0">
                <a:ln>
                  <a:noFill/>
                </a:ln>
              </a:rPr>
              <a:t>Operating Systems Security-History</a:t>
            </a:r>
            <a:endParaRPr lang="en-GB" altLang="en-US" dirty="0">
              <a:ln>
                <a:noFill/>
              </a:ln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5A0FB-18DF-42FB-9D86-AB4737A1B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400" y="3657600"/>
            <a:ext cx="6815138" cy="1320800"/>
          </a:xfrm>
        </p:spPr>
        <p:txBody>
          <a:bodyPr rtlCol="0">
            <a:normAutofit lnSpcReduction="10000"/>
          </a:bodyPr>
          <a:lstStyle/>
          <a:p>
            <a:pPr fontAlgn="auto">
              <a:buFont typeface="Arial"/>
              <a:buNone/>
              <a:defRPr/>
            </a:pPr>
            <a:r>
              <a:rPr lang="en-US" dirty="0"/>
              <a:t>Eng Mwashi Matela PhD</a:t>
            </a:r>
          </a:p>
          <a:p>
            <a:pPr fontAlgn="auto">
              <a:buFont typeface="Arial"/>
              <a:buNone/>
              <a:defRPr/>
            </a:pPr>
            <a:r>
              <a:rPr lang="en-US" dirty="0"/>
              <a:t>mwashimwashi@gmail.com</a:t>
            </a:r>
          </a:p>
          <a:p>
            <a:pPr fontAlgn="auto">
              <a:buFont typeface="Arial"/>
              <a:buNone/>
              <a:defRPr/>
            </a:pPr>
            <a:r>
              <a:rPr lang="en-US" dirty="0"/>
              <a:t>0979846659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BBF4-1F95-4347-BAEF-DEB3D94D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Windows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5BC31-4041-494C-A1E9-B08E4BE2C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History of Windows OS</a:t>
            </a:r>
          </a:p>
          <a:p>
            <a:pPr marL="90170" marR="357505" algn="just">
              <a:lnSpc>
                <a:spcPct val="113000"/>
              </a:lnSpc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history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personal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began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earnest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1977,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introduction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microcomputer. When the microprocessor was developed, it was possible to create computers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affordable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purchase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private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individuals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could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buy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them.</a:t>
            </a:r>
          </a:p>
          <a:p>
            <a:pPr marL="90170" marR="357505" algn="just">
              <a:lnSpc>
                <a:spcPct val="113000"/>
              </a:lnSpc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When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IBM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(International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Business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Machines)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began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producing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Personal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1980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created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need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computer.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IBM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approached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request.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not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developing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at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time,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but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since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mid-1970s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been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leader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development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tools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programming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language,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BASIC.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acquired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by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purchasing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from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Seattle Computer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Products,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then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made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changes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suited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PCs.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called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99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315A-6D02-401F-A171-79EB0F34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MS-DOS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301A8-2C3B-4B83-882A-E64CAF940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29920" marR="2626995" indent="-540385" algn="just">
              <a:lnSpc>
                <a:spcPct val="227000"/>
              </a:lnSpc>
              <a:spcBef>
                <a:spcPts val="850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got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name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1.0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DOS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=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Disk</a:t>
            </a:r>
            <a:r>
              <a:rPr lang="en-ZM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6870" algn="just">
              <a:lnSpc>
                <a:spcPct val="113000"/>
              </a:lnSpc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based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simple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communication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between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computer.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entered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commands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screen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using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keyboard,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mouse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used to a limited extent at this point.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814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most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common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PCs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before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Windows,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 base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first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Windows.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therefore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continued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live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long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after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introduction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algn="just">
              <a:spcBef>
                <a:spcPts val="205"/>
              </a:spcBef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 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 has made many versions of MS-DOS, with MS-DOS 8.0 being the latest version,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which was launched in the year 2000.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770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588D-5975-472F-81E0-D46EA99A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Versions of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E4ADC-E78E-48EB-A1FC-FD512F355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 development of operating systems with a graphical user interface started in the 1980s,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which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when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decided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give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graphical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interface.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 created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graphical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program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purpose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called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Windows.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first,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not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separate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system,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instead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graphical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application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 operating system.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1.0 was the first version and came in 1983, though the first versions of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(1.0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2.0)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were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success.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reason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little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software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Windows, while the existing software was unstable and simple. It was not until Windows 3.0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 then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3.1 that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became widely taken into use.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08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63DF46-FBEA-4820-BD79-D5D7E7D148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967757"/>
              </p:ext>
            </p:extLst>
          </p:nvPr>
        </p:nvGraphicFramePr>
        <p:xfrm>
          <a:off x="1344705" y="1246094"/>
          <a:ext cx="9457765" cy="46437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800462">
                  <a:extLst>
                    <a:ext uri="{9D8B030D-6E8A-4147-A177-3AD203B41FA5}">
                      <a16:colId xmlns:a16="http://schemas.microsoft.com/office/drawing/2014/main" val="389645221"/>
                    </a:ext>
                  </a:extLst>
                </a:gridCol>
                <a:gridCol w="1718833">
                  <a:extLst>
                    <a:ext uri="{9D8B030D-6E8A-4147-A177-3AD203B41FA5}">
                      <a16:colId xmlns:a16="http://schemas.microsoft.com/office/drawing/2014/main" val="2412563385"/>
                    </a:ext>
                  </a:extLst>
                </a:gridCol>
                <a:gridCol w="3938470">
                  <a:extLst>
                    <a:ext uri="{9D8B030D-6E8A-4147-A177-3AD203B41FA5}">
                      <a16:colId xmlns:a16="http://schemas.microsoft.com/office/drawing/2014/main" val="1825481815"/>
                    </a:ext>
                  </a:extLst>
                </a:gridCol>
              </a:tblGrid>
              <a:tr h="773953"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Version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Release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About</a:t>
                      </a:r>
                      <a:r>
                        <a:rPr lang="en-US" sz="1800" spc="30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the</a:t>
                      </a:r>
                      <a:r>
                        <a:rPr lang="en-US" sz="1800" spc="30">
                          <a:effectLst/>
                        </a:rPr>
                        <a:t> </a:t>
                      </a:r>
                      <a:r>
                        <a:rPr lang="en-US" sz="1800" spc="-10">
                          <a:effectLst/>
                        </a:rPr>
                        <a:t>version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81414060"/>
                  </a:ext>
                </a:extLst>
              </a:tr>
              <a:tr h="773953"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5">
                          <a:effectLst/>
                        </a:rPr>
                        <a:t>3.0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effectLst/>
                        </a:rPr>
                        <a:t>1990</a:t>
                      </a:r>
                      <a:endParaRPr lang="en-GB" sz="1800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Ten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million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copies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 spc="-10">
                          <a:effectLst/>
                        </a:rPr>
                        <a:t>sold.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3344506"/>
                  </a:ext>
                </a:extLst>
              </a:tr>
              <a:tr h="773953"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5">
                          <a:effectLst/>
                        </a:rPr>
                        <a:t>3.1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1991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Windows</a:t>
                      </a:r>
                      <a:r>
                        <a:rPr lang="en-US" sz="1800" spc="-20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becomes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widespread.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67276695"/>
                  </a:ext>
                </a:extLst>
              </a:tr>
              <a:tr h="773953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5">
                          <a:effectLst/>
                        </a:rPr>
                        <a:t>95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1995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New</a:t>
                      </a:r>
                      <a:r>
                        <a:rPr lang="en-US" sz="1800" spc="-3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and</a:t>
                      </a:r>
                      <a:r>
                        <a:rPr lang="en-US" sz="1800" spc="-2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improved</a:t>
                      </a:r>
                      <a:r>
                        <a:rPr lang="en-US" sz="1800" spc="-2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version.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42324604"/>
                  </a:ext>
                </a:extLst>
              </a:tr>
              <a:tr h="773953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effectLst/>
                        </a:rPr>
                        <a:t>Windows</a:t>
                      </a:r>
                      <a:r>
                        <a:rPr lang="en-US" sz="1800" spc="-45" dirty="0">
                          <a:effectLst/>
                        </a:rPr>
                        <a:t> </a:t>
                      </a:r>
                      <a:r>
                        <a:rPr lang="en-US" sz="1800" spc="-25" dirty="0">
                          <a:effectLst/>
                        </a:rPr>
                        <a:t>98</a:t>
                      </a:r>
                      <a:endParaRPr lang="en-GB" sz="1800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1998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Integrating</a:t>
                      </a:r>
                      <a:r>
                        <a:rPr lang="en-US" sz="1800" spc="-3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the</a:t>
                      </a:r>
                      <a:r>
                        <a:rPr lang="en-US" sz="1800" spc="-3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Internet.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99718373"/>
                  </a:ext>
                </a:extLst>
              </a:tr>
              <a:tr h="773953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10">
                          <a:effectLst/>
                        </a:rPr>
                        <a:t>Millennium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 dirty="0">
                          <a:effectLst/>
                        </a:rPr>
                        <a:t>Focus</a:t>
                      </a:r>
                      <a:r>
                        <a:rPr lang="en-US" sz="1800" spc="-50" dirty="0">
                          <a:effectLst/>
                        </a:rPr>
                        <a:t> </a:t>
                      </a:r>
                      <a:r>
                        <a:rPr lang="en-US" sz="1800" spc="-30" dirty="0">
                          <a:effectLst/>
                        </a:rPr>
                        <a:t>on</a:t>
                      </a:r>
                      <a:r>
                        <a:rPr lang="en-US" sz="1800" spc="-45" dirty="0">
                          <a:effectLst/>
                        </a:rPr>
                        <a:t> </a:t>
                      </a:r>
                      <a:r>
                        <a:rPr lang="en-US" sz="1800" spc="-30" dirty="0">
                          <a:effectLst/>
                        </a:rPr>
                        <a:t>multimedia.</a:t>
                      </a:r>
                      <a:endParaRPr lang="en-GB" sz="1800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18947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26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B85F0-DCB1-4917-AE91-82238540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01120"/>
            <a:ext cx="9601196" cy="3318936"/>
          </a:xfrm>
        </p:spPr>
        <p:txBody>
          <a:bodyPr>
            <a:normAutofit fontScale="77500" lnSpcReduction="20000"/>
          </a:bodyPr>
          <a:lstStyle/>
          <a:p>
            <a:r>
              <a:rPr lang="en-US" sz="1800" spc="-10" dirty="0"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perating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systems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95,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98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Millennium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were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quite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similar,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they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were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therefore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called Windows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9x.</a:t>
            </a:r>
          </a:p>
          <a:p>
            <a:pPr marL="0" indent="0" algn="just">
              <a:buNone/>
            </a:pPr>
            <a:r>
              <a:rPr lang="en-US" sz="1800" b="1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b="1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b="1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95</a:t>
            </a:r>
            <a:endParaRPr lang="en-GB" sz="1800" b="1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560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95 was a major improvement from earlier versions of Windows, central to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being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enhanced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usability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better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networking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capabilities.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features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95 were multitasking and the automatic detection and configuration of equipment (Plug and Play).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0" indent="0" algn="just">
              <a:spcBef>
                <a:spcPts val="5"/>
              </a:spcBef>
              <a:spcAft>
                <a:spcPts val="0"/>
              </a:spcAft>
              <a:buNone/>
            </a:pPr>
            <a:endParaRPr lang="en-US" sz="1800" b="1" i="1" spc="-25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0" indent="0" algn="just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 b="1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b="1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b="1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98</a:t>
            </a:r>
            <a:endParaRPr lang="en-GB" sz="1800" b="1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98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upgrade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improvement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95,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wanted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implement the Internet in Windows at this time. As a result, Windows 98 contained Internet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Explorer and other programs for the Internet.</a:t>
            </a:r>
          </a:p>
          <a:p>
            <a:pPr marL="0" marR="357505" indent="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800" b="1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b="1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b="1" i="1" spc="-25" dirty="0" err="1"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Millenium</a:t>
            </a:r>
            <a:endParaRPr lang="en-US" sz="1800" spc="-1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Millennium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last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release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series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based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9x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platform,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aimed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domestic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market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focus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multimedia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631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25BA-8222-47A6-8C23-541B213C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2D614-DD0F-4365-92F5-04C554D14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Computers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acquired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more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more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memory,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higher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processor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speed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more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disk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space.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could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handle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memory,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could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run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multiple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applications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simultaneously,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need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system.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led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developing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NT,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which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stands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Technology.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 released the first version of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NT in 1993 and called it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NT 3.1,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because it came at the time when Windows 3.1 was in use. Windows NT 3.1 had the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same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appearance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interface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3.1,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but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they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were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completely</a:t>
            </a:r>
            <a:r>
              <a:rPr lang="en-US" sz="1800" spc="-6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different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systems.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algn="just">
              <a:spcBef>
                <a:spcPts val="5"/>
              </a:spcBef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came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1996,</a:t>
            </a:r>
            <a:r>
              <a:rPr lang="en-US" sz="1800" spc="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two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basic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</a:t>
            </a:r>
            <a:r>
              <a:rPr lang="en-US" sz="1800" spc="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being: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 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1143000" lvl="2" indent="-228600">
              <a:spcBef>
                <a:spcPts val="210"/>
              </a:spcBef>
              <a:spcAft>
                <a:spcPts val="0"/>
              </a:spcAft>
              <a:buSzPts val="1200"/>
              <a:buFont typeface="Book Antiqua" panose="02040602050305030304" pitchFamily="18" charset="0"/>
              <a:buChar char="•"/>
              <a:tabLst>
                <a:tab pos="629285" algn="l"/>
              </a:tabLst>
            </a:pPr>
            <a:r>
              <a:rPr lang="en-US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pc="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pc="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endParaRPr lang="en-GB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1143000" lvl="2" indent="-228600">
              <a:spcBef>
                <a:spcPts val="210"/>
              </a:spcBef>
              <a:buSzPts val="1200"/>
              <a:buFont typeface="Book Antiqua" panose="02040602050305030304" pitchFamily="18" charset="0"/>
              <a:buChar char="•"/>
              <a:tabLst>
                <a:tab pos="629285" algn="l"/>
              </a:tabLst>
            </a:pPr>
            <a:r>
              <a:rPr lang="en-US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Workstation</a:t>
            </a:r>
            <a:endParaRPr lang="en-GB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838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1E2D2-8F4E-4FDE-8C70-C46ED28A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designed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local networks. Windows NT 4.0 Workstation was designed for use on both home computers and</a:t>
            </a:r>
            <a:r>
              <a:rPr lang="en-US" sz="1800" spc="1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workstations,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but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primarily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used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by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companies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workstations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local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networks.</a:t>
            </a:r>
          </a:p>
          <a:p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advanced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32-bit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designed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secure,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stable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flexible,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thus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making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possible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multiple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processors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same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computer. Windows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could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utilize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large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memory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large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hard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drives,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which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meant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well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scalable.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introduced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part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system’s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security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model,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order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workstation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modern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you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must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registered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user.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define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multiple users on a workstation, and each user has certain rights to files and to access system resources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general.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221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AA95-42A5-4C9B-81BC-E5ACCF09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Windows Versions based on Windows NT</a:t>
            </a:r>
            <a:br>
              <a:rPr lang="en-GB" dirty="0"/>
            </a:b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i="1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i="1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basis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i="1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current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</a:t>
            </a:r>
            <a:r>
              <a:rPr lang="en-US" sz="1800" i="1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i="1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endParaRPr lang="en-GB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17ABBE-7F80-41D2-A85D-5E18B4827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709389"/>
              </p:ext>
            </p:extLst>
          </p:nvPr>
        </p:nvGraphicFramePr>
        <p:xfrm>
          <a:off x="1295402" y="2160490"/>
          <a:ext cx="9829798" cy="406101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29375">
                  <a:extLst>
                    <a:ext uri="{9D8B030D-6E8A-4147-A177-3AD203B41FA5}">
                      <a16:colId xmlns:a16="http://schemas.microsoft.com/office/drawing/2014/main" val="4127979298"/>
                    </a:ext>
                  </a:extLst>
                </a:gridCol>
                <a:gridCol w="1579855">
                  <a:extLst>
                    <a:ext uri="{9D8B030D-6E8A-4147-A177-3AD203B41FA5}">
                      <a16:colId xmlns:a16="http://schemas.microsoft.com/office/drawing/2014/main" val="2284360932"/>
                    </a:ext>
                  </a:extLst>
                </a:gridCol>
                <a:gridCol w="5620568">
                  <a:extLst>
                    <a:ext uri="{9D8B030D-6E8A-4147-A177-3AD203B41FA5}">
                      <a16:colId xmlns:a16="http://schemas.microsoft.com/office/drawing/2014/main" val="3524792543"/>
                    </a:ext>
                  </a:extLst>
                </a:gridCol>
              </a:tblGrid>
              <a:tr h="578566">
                <a:tc>
                  <a:txBody>
                    <a:bodyPr/>
                    <a:lstStyle/>
                    <a:p>
                      <a:pPr marL="12700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effectLst/>
                        </a:rPr>
                        <a:t>Version</a:t>
                      </a:r>
                      <a:endParaRPr lang="en-GB" sz="1800" b="1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</a:rPr>
                        <a:t>Release</a:t>
                      </a:r>
                      <a:endParaRPr lang="en-GB" sz="1800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About</a:t>
                      </a:r>
                      <a:r>
                        <a:rPr lang="en-US" sz="1800" spc="30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the</a:t>
                      </a:r>
                      <a:r>
                        <a:rPr lang="en-US" sz="1800" spc="30">
                          <a:effectLst/>
                        </a:rPr>
                        <a:t> </a:t>
                      </a:r>
                      <a:r>
                        <a:rPr lang="en-US" sz="1800" spc="-10">
                          <a:effectLst/>
                        </a:rPr>
                        <a:t>version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07138352"/>
                  </a:ext>
                </a:extLst>
              </a:tr>
              <a:tr h="578566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2000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Was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not</a:t>
                      </a:r>
                      <a:r>
                        <a:rPr lang="en-US" sz="1800" spc="-3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intended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for</a:t>
                      </a:r>
                      <a:r>
                        <a:rPr lang="en-US" sz="1800" spc="-3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home</a:t>
                      </a:r>
                      <a:r>
                        <a:rPr lang="en-US" sz="1800" spc="-3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computers.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98014438"/>
                  </a:ext>
                </a:extLst>
              </a:tr>
              <a:tr h="578566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5">
                          <a:effectLst/>
                        </a:rPr>
                        <a:t>XP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2001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40">
                          <a:effectLst/>
                        </a:rPr>
                        <a:t>Both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 spc="-40">
                          <a:effectLst/>
                        </a:rPr>
                        <a:t>for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 spc="-40">
                          <a:effectLst/>
                        </a:rPr>
                        <a:t>home</a:t>
                      </a:r>
                      <a:r>
                        <a:rPr lang="en-US" sz="1800" spc="-10">
                          <a:effectLst/>
                        </a:rPr>
                        <a:t> </a:t>
                      </a:r>
                      <a:r>
                        <a:rPr lang="en-US" sz="1800" spc="-40">
                          <a:effectLst/>
                        </a:rPr>
                        <a:t>computers</a:t>
                      </a:r>
                      <a:r>
                        <a:rPr lang="en-US" sz="1800" spc="-15">
                          <a:effectLst/>
                        </a:rPr>
                        <a:t> </a:t>
                      </a:r>
                      <a:r>
                        <a:rPr lang="en-US" sz="1800" spc="-40">
                          <a:effectLst/>
                        </a:rPr>
                        <a:t>and</a:t>
                      </a:r>
                      <a:r>
                        <a:rPr lang="en-US" sz="1800" spc="-10">
                          <a:effectLst/>
                        </a:rPr>
                        <a:t> </a:t>
                      </a:r>
                      <a:r>
                        <a:rPr lang="en-US" sz="1800" spc="-40">
                          <a:effectLst/>
                        </a:rPr>
                        <a:t>workstations.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76401236"/>
                  </a:ext>
                </a:extLst>
              </a:tr>
              <a:tr h="578566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Vista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2006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New user interface with Windows Aero.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59539660"/>
                  </a:ext>
                </a:extLst>
              </a:tr>
              <a:tr h="578566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50">
                          <a:effectLst/>
                        </a:rPr>
                        <a:t>7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2009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Emphasis</a:t>
                      </a:r>
                      <a:r>
                        <a:rPr lang="en-US" sz="1800" spc="35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on</a:t>
                      </a:r>
                      <a:r>
                        <a:rPr lang="en-US" sz="1800" spc="35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functionality</a:t>
                      </a:r>
                      <a:r>
                        <a:rPr lang="en-US" sz="1800" spc="35">
                          <a:effectLst/>
                        </a:rPr>
                        <a:t> </a:t>
                      </a:r>
                      <a:r>
                        <a:rPr lang="en-US" sz="1800">
                          <a:effectLst/>
                        </a:rPr>
                        <a:t>and</a:t>
                      </a:r>
                      <a:r>
                        <a:rPr lang="en-US" sz="1800" spc="35">
                          <a:effectLst/>
                        </a:rPr>
                        <a:t> </a:t>
                      </a:r>
                      <a:r>
                        <a:rPr lang="en-US" sz="1800" spc="-10">
                          <a:effectLst/>
                        </a:rPr>
                        <a:t>performance.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93081941"/>
                  </a:ext>
                </a:extLst>
              </a:tr>
              <a:tr h="578566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50">
                          <a:effectLst/>
                        </a:rPr>
                        <a:t>8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2012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New</a:t>
                      </a:r>
                      <a:r>
                        <a:rPr lang="en-US" sz="1800" spc="-50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graphical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interface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Microsoft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Metro.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5760543"/>
                  </a:ext>
                </a:extLst>
              </a:tr>
              <a:tr h="589621"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5">
                          <a:effectLst/>
                        </a:rPr>
                        <a:t>10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marR="6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2015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Better</a:t>
                      </a:r>
                      <a:r>
                        <a:rPr lang="en-US" sz="1800" spc="7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functionality</a:t>
                      </a:r>
                      <a:r>
                        <a:rPr lang="en-US" sz="1800" spc="7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between</a:t>
                      </a:r>
                      <a:r>
                        <a:rPr lang="en-US" sz="1800" spc="75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different</a:t>
                      </a:r>
                      <a:r>
                        <a:rPr lang="en-US" sz="1800" spc="70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classes</a:t>
                      </a:r>
                      <a:r>
                        <a:rPr lang="en-US" sz="1800" spc="75" dirty="0">
                          <a:effectLst/>
                        </a:rPr>
                        <a:t> </a:t>
                      </a:r>
                      <a:r>
                        <a:rPr lang="en-US" sz="1800" dirty="0">
                          <a:effectLst/>
                        </a:rPr>
                        <a:t>of</a:t>
                      </a:r>
                      <a:r>
                        <a:rPr lang="en-US" sz="1800" spc="70" dirty="0">
                          <a:effectLst/>
                        </a:rPr>
                        <a:t> </a:t>
                      </a:r>
                      <a:r>
                        <a:rPr lang="en-US" sz="1800" spc="-10" dirty="0">
                          <a:effectLst/>
                        </a:rPr>
                        <a:t>device.</a:t>
                      </a:r>
                      <a:endParaRPr lang="en-GB" sz="1800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71475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7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963D-E1D8-4C88-A49C-94EC36FE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has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become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widespread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computer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world,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today </a:t>
            </a: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you can find variations of the original Windows NT on laptops, desktops, servers and Xbox </a:t>
            </a:r>
            <a:r>
              <a:rPr lang="en-US" sz="1800" i="1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consoles</a:t>
            </a:r>
            <a:r>
              <a:rPr lang="en-US" sz="1800" i="1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worldwide.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5AB73-47A9-42C8-9D05-FA4D882DD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1800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2000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2000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(Windows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5.0)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built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4.0.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addition,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2000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most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useful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qualities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98,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such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support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Plug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Play.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2000’s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available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several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versions.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workstations,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were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several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servers.</a:t>
            </a:r>
          </a:p>
          <a:p>
            <a:pPr marL="0" indent="0" algn="just"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1800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XP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814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Launched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August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2001,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XP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5.1)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been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most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popular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 of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Windows, based on the number of copies sold.</a:t>
            </a:r>
          </a:p>
          <a:p>
            <a:pPr marL="0" indent="0" algn="just">
              <a:spcBef>
                <a:spcPts val="5"/>
              </a:spcBef>
              <a:spcAft>
                <a:spcPts val="0"/>
              </a:spcAft>
              <a:buNone/>
            </a:pPr>
            <a:endParaRPr lang="en-US" sz="1800" i="1" spc="-3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0" indent="0" algn="just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 i="1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Vista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Launched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November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2006,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Vista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6.0)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contained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hundreds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 new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revised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features.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814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94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2E7B-3050-4F98-9161-16AB3C734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45944"/>
            <a:ext cx="9601196" cy="429210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1800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7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7 (Windows NT 6.1) came in October 2009. Unlike previous versions of Windows, Windows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7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did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not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contain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many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features,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basically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being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more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upgrade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Vista.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objective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7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had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increased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functionality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performance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over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previous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versions.</a:t>
            </a:r>
          </a:p>
          <a:p>
            <a:pPr marL="0" indent="0" algn="just">
              <a:buNone/>
            </a:pPr>
            <a:r>
              <a:rPr lang="en-US" sz="1800" i="1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8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687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8 (Windows NT 6.2) came in October 2012, and contained a new graphical interface known as Metro, which is used for tablets, laptops, desktops and Windows Phone.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Optimized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touch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screens,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Metro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can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also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controlled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mouse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keyboard.</a:t>
            </a:r>
          </a:p>
          <a:p>
            <a:pPr marL="0" marR="357505" indent="0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10</a:t>
            </a:r>
          </a:p>
          <a:p>
            <a:pPr marL="0" marR="357505" indent="0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 10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10.0)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came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July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2015.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10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intended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last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will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11.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Instead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Update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will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update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existing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10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versions.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At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this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point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there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have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been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three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such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updates,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 November</a:t>
            </a:r>
            <a:r>
              <a:rPr lang="en-US" sz="1800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2015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(version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1511),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one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July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2016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(version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1607)</a:t>
            </a:r>
            <a:r>
              <a:rPr lang="en-US" sz="1800" spc="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one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Mars</a:t>
            </a:r>
            <a:r>
              <a:rPr lang="en-US" sz="1800" spc="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2017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(version</a:t>
            </a:r>
            <a:r>
              <a:rPr lang="en-US" sz="1800" spc="9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1703).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687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166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F441-EF9D-4C07-8C81-68468328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 described Windows 10 as an </a:t>
            </a:r>
            <a:r>
              <a:rPr lang="en-US" sz="1800" i="1" u="none" strike="noStrike" dirty="0">
                <a:solidFill>
                  <a:srgbClr val="0000FF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  <a:hlinkClick r:id="rId2"/>
              </a:rPr>
              <a:t>operating system as a service</a:t>
            </a: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 would receive ongoing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updates to its features and functionality.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10 harmonizes the user experience and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functionality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between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different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classes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device,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addresses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shortcomings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interface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were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introduced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8.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10 has become a shared platform known as OneCore, and it runs on PCs, phones, the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Xbox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game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console,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HoloLens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Internet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Things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(IoT)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devices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such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 Raspberry Pi 2.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1888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98D1-E9BE-48ED-8353-92668D55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138A6-0928-4F55-B61E-D21A0D57A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 has made several versions of the Windows operating system adapted to act as a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local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networks.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433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Microsoft’s first attempt at creating an operating system with network features was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3.11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(1992).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Another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name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3.11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Workgroups,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 this version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had some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additional features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 gave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 support: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0" indent="0">
              <a:spcBef>
                <a:spcPts val="205"/>
              </a:spcBef>
              <a:buNone/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 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0" lvl="0" indent="0">
              <a:spcBef>
                <a:spcPts val="210"/>
              </a:spcBef>
              <a:buSzPts val="1200"/>
              <a:buNone/>
              <a:tabLst>
                <a:tab pos="629920" algn="l"/>
              </a:tabLst>
            </a:pP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Network</a:t>
            </a:r>
            <a:r>
              <a:rPr lang="en-US" sz="1800" spc="10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cards</a:t>
            </a:r>
            <a:r>
              <a:rPr lang="en-US" sz="1800" spc="105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</a:t>
            </a:r>
            <a:r>
              <a:rPr lang="en-US" sz="1800" spc="10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cables</a:t>
            </a:r>
            <a:endParaRPr lang="en-GB" sz="1800" spc="0" dirty="0">
              <a:effectLst/>
              <a:latin typeface="Book Antiqua" panose="0204060205030503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lvl="0" indent="0">
              <a:spcBef>
                <a:spcPts val="210"/>
              </a:spcBef>
              <a:buSzPts val="1200"/>
              <a:buNone/>
              <a:tabLst>
                <a:tab pos="629920" algn="l"/>
              </a:tabLst>
            </a:pP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Sharing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directories,</a:t>
            </a:r>
            <a:r>
              <a:rPr lang="en-US" sz="1800" spc="12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disks</a:t>
            </a:r>
            <a:r>
              <a:rPr lang="en-US" sz="1800" spc="115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</a:t>
            </a:r>
            <a:r>
              <a:rPr lang="en-US" sz="1800" spc="12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printers</a:t>
            </a:r>
            <a:endParaRPr lang="en-GB" sz="1800" spc="0" dirty="0">
              <a:effectLst/>
              <a:latin typeface="Book Antiqua" panose="0204060205030503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pPr marL="0" lvl="0" indent="0">
              <a:spcBef>
                <a:spcPts val="210"/>
              </a:spcBef>
              <a:buSzPts val="1200"/>
              <a:buNone/>
              <a:tabLst>
                <a:tab pos="629920" algn="l"/>
              </a:tabLst>
            </a:pP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E-mail</a:t>
            </a:r>
            <a:r>
              <a:rPr lang="en-US" sz="1800" spc="145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and</a:t>
            </a:r>
            <a:r>
              <a:rPr lang="en-US" sz="1800" spc="15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instant</a:t>
            </a:r>
            <a:r>
              <a:rPr lang="en-US" sz="1800" spc="15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messaging</a:t>
            </a:r>
            <a:r>
              <a:rPr lang="en-US" sz="1800" spc="15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functionality</a:t>
            </a:r>
            <a:endParaRPr lang="en-GB" sz="1800" spc="0" dirty="0">
              <a:effectLst/>
              <a:latin typeface="Book Antiqua" panose="02040602050305030304" pitchFamily="18" charset="0"/>
              <a:ea typeface="Wingdings" panose="05000000000000000000" pitchFamily="2" charset="2"/>
              <a:cs typeface="Wingdings" panose="05000000000000000000" pitchFamily="2" charset="2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66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537B-BB37-43BE-8113-D98F14A2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However, it was with</a:t>
            </a:r>
            <a:r>
              <a:rPr lang="en-US" sz="2200" spc="-3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NT that Microsoft began developing a network operating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22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intended</a:t>
            </a:r>
            <a:r>
              <a:rPr lang="en-US" sz="22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22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act</a:t>
            </a:r>
            <a:r>
              <a:rPr lang="en-US" sz="22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22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22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22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server.</a:t>
            </a:r>
            <a:br>
              <a:rPr lang="en-GB" sz="44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</a:b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012941-5032-424D-B708-48B482CB8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791974"/>
              </p:ext>
            </p:extLst>
          </p:nvPr>
        </p:nvGraphicFramePr>
        <p:xfrm>
          <a:off x="1631576" y="2106706"/>
          <a:ext cx="8955741" cy="396239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678063">
                  <a:extLst>
                    <a:ext uri="{9D8B030D-6E8A-4147-A177-3AD203B41FA5}">
                      <a16:colId xmlns:a16="http://schemas.microsoft.com/office/drawing/2014/main" val="1289341469"/>
                    </a:ext>
                  </a:extLst>
                </a:gridCol>
                <a:gridCol w="2277678">
                  <a:extLst>
                    <a:ext uri="{9D8B030D-6E8A-4147-A177-3AD203B41FA5}">
                      <a16:colId xmlns:a16="http://schemas.microsoft.com/office/drawing/2014/main" val="3016681530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Version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Release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02750447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30">
                          <a:effectLst/>
                        </a:rPr>
                        <a:t>Windows</a:t>
                      </a:r>
                      <a:r>
                        <a:rPr lang="en-US" sz="1800" spc="-2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NT</a:t>
                      </a:r>
                      <a:r>
                        <a:rPr lang="en-US" sz="1800" spc="-2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4.0</a:t>
                      </a:r>
                      <a:r>
                        <a:rPr lang="en-US" sz="1800" spc="-25">
                          <a:effectLst/>
                        </a:rPr>
                        <a:t> </a:t>
                      </a:r>
                      <a:r>
                        <a:rPr lang="en-US" sz="1800" spc="-30">
                          <a:effectLst/>
                        </a:rPr>
                        <a:t>Server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1996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39284300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Server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2000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2000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9922165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Server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2003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2003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231899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Server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2008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2008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1124023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Server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2012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2012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21107009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12700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</a:rPr>
                        <a:t>Windows</a:t>
                      </a:r>
                      <a:r>
                        <a:rPr lang="en-US" sz="1800" spc="-45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Server</a:t>
                      </a:r>
                      <a:r>
                        <a:rPr lang="en-US" sz="1800" spc="-40">
                          <a:effectLst/>
                        </a:rPr>
                        <a:t> </a:t>
                      </a:r>
                      <a:r>
                        <a:rPr lang="en-US" sz="1800" spc="-20">
                          <a:effectLst/>
                        </a:rPr>
                        <a:t>2016</a:t>
                      </a:r>
                      <a:endParaRPr lang="en-GB" sz="180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 dirty="0">
                          <a:effectLst/>
                        </a:rPr>
                        <a:t>2016</a:t>
                      </a:r>
                      <a:endParaRPr lang="en-GB" sz="1800" dirty="0">
                        <a:effectLst/>
                        <a:latin typeface="Lucida Sans" panose="020B0602030504020204" pitchFamily="34" charset="0"/>
                        <a:ea typeface="Lucida Sans" panose="020B0602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9744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385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3C540-18C6-45D2-A445-BDB8B437B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037" y="1230155"/>
            <a:ext cx="9601196" cy="4220385"/>
          </a:xfrm>
        </p:spPr>
        <p:txBody>
          <a:bodyPr>
            <a:normAutofit fontScale="85000" lnSpcReduction="10000"/>
          </a:bodyPr>
          <a:lstStyle/>
          <a:p>
            <a:pPr marL="90170" algn="just">
              <a:spcBef>
                <a:spcPts val="5"/>
              </a:spcBef>
              <a:spcAft>
                <a:spcPts val="0"/>
              </a:spcAft>
            </a:pP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i="1" spc="8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i="1" spc="8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i="1" spc="9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first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got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proper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adapted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task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local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area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network,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could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many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users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algn="just"/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Server</a:t>
            </a:r>
            <a:r>
              <a:rPr lang="en-US" sz="1800" i="1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2000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6870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sequel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4.0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2000.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main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novelty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 Windows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2000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Active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Directory,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which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Microsoft’s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directory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service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managing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users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resources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local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area</a:t>
            </a:r>
            <a:r>
              <a:rPr lang="en-US" sz="1800" spc="-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network.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algn="just"/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Server</a:t>
            </a:r>
            <a:r>
              <a:rPr lang="en-US" sz="1800" i="1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2003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Built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XP,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2003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had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several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improvements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over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 2000. New in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Server 2003 was the Internet Information Services (IIS)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used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create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web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pages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servers.</a:t>
            </a:r>
          </a:p>
          <a:p>
            <a:pPr marL="90170" algn="just"/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Server</a:t>
            </a:r>
            <a:r>
              <a:rPr lang="en-US" sz="1800" i="1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2008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Launched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February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2008,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2008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upgrade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 2003.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2008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had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enhancements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Active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Directory,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Group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Policy,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disk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management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security.</a:t>
            </a: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endParaRPr lang="en-US" sz="1800" spc="-1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5"/>
              </a:spcBef>
              <a:spcAft>
                <a:spcPts val="0"/>
              </a:spcAft>
            </a:pP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8175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7294-A7A6-4AEC-A755-DC3F89FD7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90170" algn="just">
              <a:spcBef>
                <a:spcPts val="680"/>
              </a:spcBef>
              <a:spcAft>
                <a:spcPts val="0"/>
              </a:spcAft>
            </a:pP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Server</a:t>
            </a:r>
            <a:r>
              <a:rPr lang="en-US" sz="1800" i="1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2012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7505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2012,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also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called</a:t>
            </a:r>
            <a:r>
              <a:rPr lang="en-US" sz="1800" spc="-7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8,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debuted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September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2012.</a:t>
            </a:r>
            <a:r>
              <a:rPr lang="en-US" sz="1800" spc="-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-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2012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better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support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virtualization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cloud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(Cloud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Computing).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2012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includes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file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(</a:t>
            </a:r>
            <a:r>
              <a:rPr lang="en-US" sz="1800" spc="-10" dirty="0" err="1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ReFS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),</a:t>
            </a:r>
            <a:r>
              <a:rPr lang="en-US" sz="1800" spc="-4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but this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file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only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used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by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file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servers.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algn="just"/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 Server</a:t>
            </a:r>
            <a:r>
              <a:rPr lang="en-US" sz="1800" i="1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i="1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2016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90170" marR="356870" algn="just">
              <a:lnSpc>
                <a:spcPct val="113000"/>
              </a:lnSpc>
              <a:spcBef>
                <a:spcPts val="810"/>
              </a:spcBef>
              <a:spcAft>
                <a:spcPts val="0"/>
              </a:spcAft>
            </a:pP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With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2016,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aims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assist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customers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modernizing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on</a:t>
            </a:r>
            <a:r>
              <a:rPr lang="en-US" sz="1800" spc="-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premise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data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centers,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making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easier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move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workloads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out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its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Azure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public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cloud.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New</a:t>
            </a:r>
            <a:r>
              <a:rPr lang="en-US" sz="1800" spc="-5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 Windows Server 2016 is Nano Server. Nano Server is a scaled down, purpose-built operating system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designed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to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run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modern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cloud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applications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act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platform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7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containers.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Support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containers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another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standout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features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8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8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8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2016.</a:t>
            </a:r>
            <a:endParaRPr lang="en-GB" sz="180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350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B743-74D1-4FA1-9EED-DA19E2B9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spc="0" dirty="0"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CONTROL</a:t>
            </a:r>
            <a:r>
              <a:rPr lang="en-US" sz="4400" b="1" spc="295" dirty="0"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 </a:t>
            </a:r>
            <a:r>
              <a:rPr lang="en-US" sz="4400" b="1" spc="-10" dirty="0">
                <a:effectLst/>
                <a:latin typeface="Gill Sans MT" panose="020B0502020104020203" pitchFamily="34" charset="0"/>
                <a:ea typeface="Gill Sans MT" panose="020B0502020104020203" pitchFamily="34" charset="0"/>
                <a:cs typeface="Gill Sans MT" panose="020B0502020104020203" pitchFamily="34" charset="0"/>
              </a:rPr>
              <a:t>QUESTIONS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57DF1-C9F5-40FA-9613-6002407E4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Bef>
                <a:spcPts val="845"/>
              </a:spcBef>
              <a:buSzPts val="1200"/>
              <a:buFont typeface="Book Antiqua" panose="02040602050305030304" pitchFamily="18" charset="0"/>
              <a:buAutoNum type="arabicPeriod"/>
              <a:tabLst>
                <a:tab pos="629920" algn="l"/>
              </a:tabLst>
            </a:pP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At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what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point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time</a:t>
            </a:r>
            <a:r>
              <a:rPr lang="en-US" sz="1200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taken</a:t>
            </a:r>
            <a:r>
              <a:rPr lang="en-US" sz="1200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into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use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as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operating</a:t>
            </a:r>
            <a:r>
              <a:rPr lang="en-US" sz="1200" spc="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system?</a:t>
            </a:r>
            <a:endParaRPr lang="en-GB" sz="1100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342900" lvl="0" indent="-342900">
              <a:spcBef>
                <a:spcPts val="210"/>
              </a:spcBef>
              <a:buSzPts val="1200"/>
              <a:buFont typeface="Book Antiqua" panose="02040602050305030304" pitchFamily="18" charset="0"/>
              <a:buAutoNum type="arabicPeriod"/>
              <a:tabLst>
                <a:tab pos="629920" algn="l"/>
              </a:tabLst>
            </a:pP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What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was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task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MS-DOS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first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2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1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Windows?</a:t>
            </a:r>
            <a:endParaRPr lang="en-GB" sz="1100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342900" lvl="0" indent="-342900">
              <a:spcBef>
                <a:spcPts val="210"/>
              </a:spcBef>
              <a:buSzPts val="1200"/>
              <a:buFont typeface="Book Antiqua" panose="02040602050305030304" pitchFamily="18" charset="0"/>
              <a:buAutoNum type="arabicPeriod"/>
              <a:tabLst>
                <a:tab pos="629920" algn="l"/>
              </a:tabLst>
            </a:pP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Mention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some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reasons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that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Microsoft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developed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NT.</a:t>
            </a:r>
            <a:endParaRPr lang="en-GB" sz="1100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342900" lvl="0" indent="-342900">
              <a:spcBef>
                <a:spcPts val="210"/>
              </a:spcBef>
              <a:buSzPts val="1200"/>
              <a:buFont typeface="Book Antiqua" panose="02040602050305030304" pitchFamily="18" charset="0"/>
              <a:buAutoNum type="arabicPeriod"/>
              <a:tabLst>
                <a:tab pos="629920" algn="l"/>
              </a:tabLst>
            </a:pP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Mention</a:t>
            </a:r>
            <a:r>
              <a:rPr lang="en-US" sz="1200" spc="18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some</a:t>
            </a:r>
            <a:r>
              <a:rPr lang="en-US" sz="1200" spc="18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differences</a:t>
            </a:r>
            <a:r>
              <a:rPr lang="en-US" sz="1200" spc="18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between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18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NT</a:t>
            </a:r>
            <a:r>
              <a:rPr lang="en-US" sz="1200" spc="18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200" spc="16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18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9x.</a:t>
            </a:r>
            <a:endParaRPr lang="en-GB" sz="1100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342900" lvl="0" indent="-342900">
              <a:spcBef>
                <a:spcPts val="205"/>
              </a:spcBef>
              <a:buSzPts val="1200"/>
              <a:buFont typeface="Book Antiqua" panose="02040602050305030304" pitchFamily="18" charset="0"/>
              <a:buAutoNum type="arabicPeriod"/>
              <a:tabLst>
                <a:tab pos="629920" algn="l"/>
              </a:tabLst>
            </a:pP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Mention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some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differences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between</a:t>
            </a:r>
            <a:r>
              <a:rPr lang="en-US" sz="1200" spc="1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Server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and</a:t>
            </a:r>
            <a:r>
              <a:rPr lang="en-US" sz="1200" spc="12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15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</a:t>
            </a:r>
            <a:r>
              <a:rPr lang="en-US" sz="1200" spc="14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2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PCs.</a:t>
            </a:r>
            <a:endParaRPr lang="en-GB" sz="1100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pPr marL="342900" lvl="0" indent="-342900">
              <a:spcBef>
                <a:spcPts val="210"/>
              </a:spcBef>
              <a:buSzPts val="1200"/>
              <a:buFont typeface="Book Antiqua" panose="02040602050305030304" pitchFamily="18" charset="0"/>
              <a:buAutoNum type="arabicPeriod"/>
              <a:tabLst>
                <a:tab pos="629920" algn="l"/>
              </a:tabLst>
            </a:pP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How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is</a:t>
            </a:r>
            <a:r>
              <a:rPr lang="en-US" sz="12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10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different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from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earlier</a:t>
            </a:r>
            <a:r>
              <a:rPr lang="en-US" sz="1200" spc="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versions</a:t>
            </a:r>
            <a:r>
              <a:rPr lang="en-US" sz="1200" spc="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of</a:t>
            </a:r>
            <a:r>
              <a:rPr lang="en-US" sz="1200" spc="-15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</a:t>
            </a:r>
            <a:r>
              <a:rPr lang="en-US" sz="1200" spc="-3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Windows?</a:t>
            </a:r>
            <a:endParaRPr lang="en-GB" sz="1100" spc="0" dirty="0">
              <a:effectLst/>
              <a:latin typeface="Book Antiqua" panose="02040602050305030304" pitchFamily="18" charset="0"/>
              <a:ea typeface="Book Antiqua" panose="02040602050305030304" pitchFamily="18" charset="0"/>
              <a:cs typeface="Book Antiqua" panose="0204060205030503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350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BEAD-C62D-4CA2-9C0B-143DE48E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277097"/>
            <a:ext cx="9601196" cy="1303867"/>
          </a:xfrm>
        </p:spPr>
        <p:txBody>
          <a:bodyPr/>
          <a:lstStyle/>
          <a:p>
            <a:r>
              <a:rPr lang="en-GB" dirty="0"/>
              <a:t>Any Question ?</a:t>
            </a:r>
          </a:p>
        </p:txBody>
      </p:sp>
    </p:spTree>
    <p:extLst>
      <p:ext uri="{BB962C8B-B14F-4D97-AF65-F5344CB8AC3E}">
        <p14:creationId xmlns:p14="http://schemas.microsoft.com/office/powerpoint/2010/main" val="1344221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279</TotalTime>
  <Words>1910</Words>
  <Application>Microsoft Office PowerPoint</Application>
  <PresentationFormat>Widescreen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 Antiqua</vt:lpstr>
      <vt:lpstr>Garamond</vt:lpstr>
      <vt:lpstr>Gill Sans MT</vt:lpstr>
      <vt:lpstr>Lucida Sans</vt:lpstr>
      <vt:lpstr>Organic</vt:lpstr>
      <vt:lpstr>Operating Systems Security-History</vt:lpstr>
      <vt:lpstr>Introduction to Windows OS</vt:lpstr>
      <vt:lpstr>MS-DOS</vt:lpstr>
      <vt:lpstr>First Versions of Windows</vt:lpstr>
      <vt:lpstr>PowerPoint Presentation</vt:lpstr>
      <vt:lpstr>PowerPoint Presentation</vt:lpstr>
      <vt:lpstr>Windows NT</vt:lpstr>
      <vt:lpstr>PowerPoint Presentation</vt:lpstr>
      <vt:lpstr>Windows Versions based on Windows NT Windows NT operating system is the basis for the current versions of Windows</vt:lpstr>
      <vt:lpstr>Windows NT has become a widespread operating system in the computer world, as today you can find variations of the original Windows NT on laptops, desktops, servers and Xbox consoles worldwide.</vt:lpstr>
      <vt:lpstr>PowerPoint Presentation</vt:lpstr>
      <vt:lpstr>PowerPoint Presentation</vt:lpstr>
      <vt:lpstr>Windows Server</vt:lpstr>
      <vt:lpstr>However, it was with Windows NT that Microsoft began developing a network operating system intended to act as a server. </vt:lpstr>
      <vt:lpstr>PowerPoint Presentation</vt:lpstr>
      <vt:lpstr>PowerPoint Presentation</vt:lpstr>
      <vt:lpstr>CONTROL QUESTIONS</vt:lpstr>
      <vt:lpstr>Any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Security</dc:title>
  <dc:creator>Thabo Malama;Enf Mwashi Matela PhD</dc:creator>
  <cp:lastModifiedBy>Aaron Nyakapanda</cp:lastModifiedBy>
  <cp:revision>11</cp:revision>
  <dcterms:created xsi:type="dcterms:W3CDTF">2025-04-08T06:55:45Z</dcterms:created>
  <dcterms:modified xsi:type="dcterms:W3CDTF">2026-07-29T11:10:14Z</dcterms:modified>
</cp:coreProperties>
</file>