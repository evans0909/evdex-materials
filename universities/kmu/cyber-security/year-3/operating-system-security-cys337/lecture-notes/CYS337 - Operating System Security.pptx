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 id="274" r:id="rId21"/>
    <p:sldId id="276" r:id="rId22"/>
    <p:sldId id="277" r:id="rId23"/>
    <p:sldId id="278" r:id="rId24"/>
    <p:sldId id="285" r:id="rId25"/>
    <p:sldId id="279" r:id="rId26"/>
    <p:sldId id="280" r:id="rId27"/>
    <p:sldId id="281" r:id="rId28"/>
    <p:sldId id="286" r:id="rId29"/>
    <p:sldId id="287" r:id="rId30"/>
    <p:sldId id="282" r:id="rId31"/>
    <p:sldId id="283" r:id="rId32"/>
    <p:sldId id="284"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59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BB3DA3-D149-45E7-8D4F-264C254ABECD}" type="datetimeFigureOut">
              <a:rPr lang="LID4096" smtClean="0"/>
              <a:t>11/05/2025</a:t>
            </a:fld>
            <a:endParaRPr lang="LID4096"/>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4F5B8A-8AF1-4672-A837-EF77AF510591}" type="slidenum">
              <a:rPr lang="LID4096" smtClean="0"/>
              <a:t>‹#›</a:t>
            </a:fld>
            <a:endParaRPr lang="LID4096"/>
          </a:p>
        </p:txBody>
      </p:sp>
    </p:spTree>
    <p:extLst>
      <p:ext uri="{BB962C8B-B14F-4D97-AF65-F5344CB8AC3E}">
        <p14:creationId xmlns:p14="http://schemas.microsoft.com/office/powerpoint/2010/main" val="27625829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10E4C9AD-17FD-444C-BFD3-2D023E6A4780}" type="datetime1">
              <a:rPr lang="LID4096" smtClean="0"/>
              <a:t>11/05/2025</a:t>
            </a:fld>
            <a:endParaRPr lang="LID4096"/>
          </a:p>
        </p:txBody>
      </p:sp>
      <p:sp>
        <p:nvSpPr>
          <p:cNvPr id="5" name="Footer Placeholder 4"/>
          <p:cNvSpPr>
            <a:spLocks noGrp="1"/>
          </p:cNvSpPr>
          <p:nvPr>
            <p:ph type="ftr" sz="quarter" idx="11"/>
          </p:nvPr>
        </p:nvSpPr>
        <p:spPr>
          <a:xfrm>
            <a:off x="1876424" y="5410201"/>
            <a:ext cx="5124886" cy="365125"/>
          </a:xfrm>
        </p:spPr>
        <p:txBody>
          <a:bodyPr/>
          <a:lstStyle/>
          <a:p>
            <a:r>
              <a:rPr lang="en-US"/>
              <a:t>PREPARED BY JAMES SOKO FOR MR. MWASHI MATELA © 2025 KAPASA MAKASA UNIVERSITY</a:t>
            </a:r>
            <a:endParaRPr lang="LID4096"/>
          </a:p>
        </p:txBody>
      </p:sp>
      <p:sp>
        <p:nvSpPr>
          <p:cNvPr id="6" name="Slide Number Placeholder 5"/>
          <p:cNvSpPr>
            <a:spLocks noGrp="1"/>
          </p:cNvSpPr>
          <p:nvPr>
            <p:ph type="sldNum" sz="quarter" idx="12"/>
          </p:nvPr>
        </p:nvSpPr>
        <p:spPr>
          <a:xfrm>
            <a:off x="9896911" y="5410199"/>
            <a:ext cx="771089" cy="365125"/>
          </a:xfrm>
        </p:spPr>
        <p:txBody>
          <a:bodyPr/>
          <a:lstStyle/>
          <a:p>
            <a:fld id="{69F7B4AB-723F-4112-894E-5DEBD965FC4E}" type="slidenum">
              <a:rPr lang="LID4096" smtClean="0"/>
              <a:t>‹#›</a:t>
            </a:fld>
            <a:endParaRPr lang="LID4096"/>
          </a:p>
        </p:txBody>
      </p:sp>
    </p:spTree>
    <p:extLst>
      <p:ext uri="{BB962C8B-B14F-4D97-AF65-F5344CB8AC3E}">
        <p14:creationId xmlns:p14="http://schemas.microsoft.com/office/powerpoint/2010/main" val="21991110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BDDC4A-47AE-4C32-9535-6A0D3659ED67}" type="datetime1">
              <a:rPr lang="LID4096" smtClean="0"/>
              <a:t>11/05/2025</a:t>
            </a:fld>
            <a:endParaRPr lang="LID4096"/>
          </a:p>
        </p:txBody>
      </p:sp>
      <p:sp>
        <p:nvSpPr>
          <p:cNvPr id="5" name="Footer Placeholder 4"/>
          <p:cNvSpPr>
            <a:spLocks noGrp="1"/>
          </p:cNvSpPr>
          <p:nvPr>
            <p:ph type="ftr" sz="quarter" idx="11"/>
          </p:nvPr>
        </p:nvSpPr>
        <p:spPr/>
        <p:txBody>
          <a:bodyPr/>
          <a:lstStyle/>
          <a:p>
            <a:r>
              <a:rPr lang="en-US"/>
              <a:t>PREPARED BY JAMES SOKO FOR MR. MWASHI MATELA © 2025 KAPASA MAKASA UNIVERSITY</a:t>
            </a:r>
            <a:endParaRPr lang="LID4096"/>
          </a:p>
        </p:txBody>
      </p:sp>
      <p:sp>
        <p:nvSpPr>
          <p:cNvPr id="6" name="Slide Number Placeholder 5"/>
          <p:cNvSpPr>
            <a:spLocks noGrp="1"/>
          </p:cNvSpPr>
          <p:nvPr>
            <p:ph type="sldNum" sz="quarter" idx="12"/>
          </p:nvPr>
        </p:nvSpPr>
        <p:spPr/>
        <p:txBody>
          <a:bodyPr/>
          <a:lstStyle/>
          <a:p>
            <a:fld id="{69F7B4AB-723F-4112-894E-5DEBD965FC4E}" type="slidenum">
              <a:rPr lang="LID4096" smtClean="0"/>
              <a:t>‹#›</a:t>
            </a:fld>
            <a:endParaRPr lang="LID4096"/>
          </a:p>
        </p:txBody>
      </p:sp>
    </p:spTree>
    <p:extLst>
      <p:ext uri="{BB962C8B-B14F-4D97-AF65-F5344CB8AC3E}">
        <p14:creationId xmlns:p14="http://schemas.microsoft.com/office/powerpoint/2010/main" val="1592101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B13C96A-6D7F-4576-8F05-3314BC4B46EE}" type="datetime1">
              <a:rPr lang="LID4096" smtClean="0"/>
              <a:t>11/05/2025</a:t>
            </a:fld>
            <a:endParaRPr lang="LID4096"/>
          </a:p>
        </p:txBody>
      </p:sp>
      <p:sp>
        <p:nvSpPr>
          <p:cNvPr id="5" name="Footer Placeholder 4"/>
          <p:cNvSpPr>
            <a:spLocks noGrp="1"/>
          </p:cNvSpPr>
          <p:nvPr>
            <p:ph type="ftr" sz="quarter" idx="11"/>
          </p:nvPr>
        </p:nvSpPr>
        <p:spPr/>
        <p:txBody>
          <a:bodyPr/>
          <a:lstStyle/>
          <a:p>
            <a:r>
              <a:rPr lang="en-US"/>
              <a:t>PREPARED BY JAMES SOKO FOR MR. MWASHI MATELA © 2025 KAPASA MAKASA UNIVERSITY</a:t>
            </a:r>
            <a:endParaRPr lang="LID4096"/>
          </a:p>
        </p:txBody>
      </p:sp>
      <p:sp>
        <p:nvSpPr>
          <p:cNvPr id="6" name="Slide Number Placeholder 5"/>
          <p:cNvSpPr>
            <a:spLocks noGrp="1"/>
          </p:cNvSpPr>
          <p:nvPr>
            <p:ph type="sldNum" sz="quarter" idx="12"/>
          </p:nvPr>
        </p:nvSpPr>
        <p:spPr/>
        <p:txBody>
          <a:bodyPr/>
          <a:lstStyle/>
          <a:p>
            <a:fld id="{69F7B4AB-723F-4112-894E-5DEBD965FC4E}" type="slidenum">
              <a:rPr lang="LID4096" smtClean="0"/>
              <a:t>‹#›</a:t>
            </a:fld>
            <a:endParaRPr lang="LID4096"/>
          </a:p>
        </p:txBody>
      </p:sp>
    </p:spTree>
    <p:extLst>
      <p:ext uri="{BB962C8B-B14F-4D97-AF65-F5344CB8AC3E}">
        <p14:creationId xmlns:p14="http://schemas.microsoft.com/office/powerpoint/2010/main" val="11666141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9509398-CC4D-4ABE-9A2C-0AAAD0087014}" type="datetime1">
              <a:rPr lang="LID4096" smtClean="0"/>
              <a:t>11/05/2025</a:t>
            </a:fld>
            <a:endParaRPr lang="LID4096"/>
          </a:p>
        </p:txBody>
      </p:sp>
      <p:sp>
        <p:nvSpPr>
          <p:cNvPr id="6" name="Footer Placeholder 5"/>
          <p:cNvSpPr>
            <a:spLocks noGrp="1"/>
          </p:cNvSpPr>
          <p:nvPr>
            <p:ph type="ftr" sz="quarter" idx="11"/>
          </p:nvPr>
        </p:nvSpPr>
        <p:spPr/>
        <p:txBody>
          <a:bodyPr/>
          <a:lstStyle/>
          <a:p>
            <a:r>
              <a:rPr lang="en-US"/>
              <a:t>PREPARED BY JAMES SOKO FOR MR. MWASHI MATELA © 2025 KAPASA MAKASA UNIVERSITY</a:t>
            </a:r>
            <a:endParaRPr lang="LID4096"/>
          </a:p>
        </p:txBody>
      </p:sp>
      <p:sp>
        <p:nvSpPr>
          <p:cNvPr id="7" name="Slide Number Placeholder 6"/>
          <p:cNvSpPr>
            <a:spLocks noGrp="1"/>
          </p:cNvSpPr>
          <p:nvPr>
            <p:ph type="sldNum" sz="quarter" idx="12"/>
          </p:nvPr>
        </p:nvSpPr>
        <p:spPr/>
        <p:txBody>
          <a:bodyPr/>
          <a:lstStyle/>
          <a:p>
            <a:fld id="{69F7B4AB-723F-4112-894E-5DEBD965FC4E}" type="slidenum">
              <a:rPr lang="LID4096" smtClean="0"/>
              <a:t>‹#›</a:t>
            </a:fld>
            <a:endParaRPr lang="LID4096"/>
          </a:p>
        </p:txBody>
      </p:sp>
    </p:spTree>
    <p:extLst>
      <p:ext uri="{BB962C8B-B14F-4D97-AF65-F5344CB8AC3E}">
        <p14:creationId xmlns:p14="http://schemas.microsoft.com/office/powerpoint/2010/main" val="17423142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3F62043-63B2-4B0D-B370-F4F892B50E17}" type="datetime1">
              <a:rPr lang="LID4096" smtClean="0"/>
              <a:t>11/05/2025</a:t>
            </a:fld>
            <a:endParaRPr lang="LID4096"/>
          </a:p>
        </p:txBody>
      </p:sp>
      <p:sp>
        <p:nvSpPr>
          <p:cNvPr id="8" name="Footer Placeholder 7"/>
          <p:cNvSpPr>
            <a:spLocks noGrp="1"/>
          </p:cNvSpPr>
          <p:nvPr>
            <p:ph type="ftr" sz="quarter" idx="11"/>
          </p:nvPr>
        </p:nvSpPr>
        <p:spPr/>
        <p:txBody>
          <a:bodyPr/>
          <a:lstStyle/>
          <a:p>
            <a:r>
              <a:rPr lang="en-US"/>
              <a:t>PREPARED BY JAMES SOKO FOR MR. MWASHI MATELA © 2025 KAPASA MAKASA UNIVERSITY</a:t>
            </a:r>
            <a:endParaRPr lang="LID4096"/>
          </a:p>
        </p:txBody>
      </p:sp>
      <p:sp>
        <p:nvSpPr>
          <p:cNvPr id="9" name="Slide Number Placeholder 8"/>
          <p:cNvSpPr>
            <a:spLocks noGrp="1"/>
          </p:cNvSpPr>
          <p:nvPr>
            <p:ph type="sldNum" sz="quarter" idx="12"/>
          </p:nvPr>
        </p:nvSpPr>
        <p:spPr/>
        <p:txBody>
          <a:bodyPr/>
          <a:lstStyle/>
          <a:p>
            <a:fld id="{69F7B4AB-723F-4112-894E-5DEBD965FC4E}" type="slidenum">
              <a:rPr lang="LID4096" smtClean="0"/>
              <a:t>‹#›</a:t>
            </a:fld>
            <a:endParaRPr lang="LID4096"/>
          </a:p>
        </p:txBody>
      </p:sp>
    </p:spTree>
    <p:extLst>
      <p:ext uri="{BB962C8B-B14F-4D97-AF65-F5344CB8AC3E}">
        <p14:creationId xmlns:p14="http://schemas.microsoft.com/office/powerpoint/2010/main" val="2331151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0E830B3-8570-497C-8EDE-DA79F36DE228}" type="datetime1">
              <a:rPr lang="LID4096" smtClean="0"/>
              <a:t>11/05/2025</a:t>
            </a:fld>
            <a:endParaRPr lang="LID4096"/>
          </a:p>
        </p:txBody>
      </p:sp>
      <p:sp>
        <p:nvSpPr>
          <p:cNvPr id="4" name="Footer Placeholder 3"/>
          <p:cNvSpPr>
            <a:spLocks noGrp="1"/>
          </p:cNvSpPr>
          <p:nvPr>
            <p:ph type="ftr" sz="quarter" idx="11"/>
          </p:nvPr>
        </p:nvSpPr>
        <p:spPr/>
        <p:txBody>
          <a:bodyPr/>
          <a:lstStyle/>
          <a:p>
            <a:r>
              <a:rPr lang="en-US"/>
              <a:t>PREPARED BY JAMES SOKO FOR MR. MWASHI MATELA © 2025 KAPASA MAKASA UNIVERSITY</a:t>
            </a:r>
            <a:endParaRPr lang="LID4096"/>
          </a:p>
        </p:txBody>
      </p:sp>
      <p:sp>
        <p:nvSpPr>
          <p:cNvPr id="5" name="Slide Number Placeholder 4"/>
          <p:cNvSpPr>
            <a:spLocks noGrp="1"/>
          </p:cNvSpPr>
          <p:nvPr>
            <p:ph type="sldNum" sz="quarter" idx="12"/>
          </p:nvPr>
        </p:nvSpPr>
        <p:spPr/>
        <p:txBody>
          <a:bodyPr/>
          <a:lstStyle/>
          <a:p>
            <a:fld id="{69F7B4AB-723F-4112-894E-5DEBD965FC4E}" type="slidenum">
              <a:rPr lang="LID4096" smtClean="0"/>
              <a:t>‹#›</a:t>
            </a:fld>
            <a:endParaRPr lang="LID4096"/>
          </a:p>
        </p:txBody>
      </p:sp>
    </p:spTree>
    <p:extLst>
      <p:ext uri="{BB962C8B-B14F-4D97-AF65-F5344CB8AC3E}">
        <p14:creationId xmlns:p14="http://schemas.microsoft.com/office/powerpoint/2010/main" val="3572580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31FE29-9B72-4EDF-953B-3D9205951BA5}" type="datetime1">
              <a:rPr lang="LID4096" smtClean="0"/>
              <a:t>11/05/2025</a:t>
            </a:fld>
            <a:endParaRPr lang="LID4096"/>
          </a:p>
        </p:txBody>
      </p:sp>
      <p:sp>
        <p:nvSpPr>
          <p:cNvPr id="3" name="Footer Placeholder 2"/>
          <p:cNvSpPr>
            <a:spLocks noGrp="1"/>
          </p:cNvSpPr>
          <p:nvPr>
            <p:ph type="ftr" sz="quarter" idx="11"/>
          </p:nvPr>
        </p:nvSpPr>
        <p:spPr/>
        <p:txBody>
          <a:bodyPr/>
          <a:lstStyle/>
          <a:p>
            <a:r>
              <a:rPr lang="en-US"/>
              <a:t>PREPARED BY JAMES SOKO FOR MR. MWASHI MATELA © 2025 KAPASA MAKASA UNIVERSITY</a:t>
            </a:r>
            <a:endParaRPr lang="LID4096"/>
          </a:p>
        </p:txBody>
      </p:sp>
      <p:sp>
        <p:nvSpPr>
          <p:cNvPr id="4" name="Slide Number Placeholder 3"/>
          <p:cNvSpPr>
            <a:spLocks noGrp="1"/>
          </p:cNvSpPr>
          <p:nvPr>
            <p:ph type="sldNum" sz="quarter" idx="12"/>
          </p:nvPr>
        </p:nvSpPr>
        <p:spPr/>
        <p:txBody>
          <a:bodyPr/>
          <a:lstStyle/>
          <a:p>
            <a:fld id="{69F7B4AB-723F-4112-894E-5DEBD965FC4E}" type="slidenum">
              <a:rPr lang="LID4096" smtClean="0"/>
              <a:t>‹#›</a:t>
            </a:fld>
            <a:endParaRPr lang="LID4096"/>
          </a:p>
        </p:txBody>
      </p:sp>
    </p:spTree>
    <p:extLst>
      <p:ext uri="{BB962C8B-B14F-4D97-AF65-F5344CB8AC3E}">
        <p14:creationId xmlns:p14="http://schemas.microsoft.com/office/powerpoint/2010/main" val="3405957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A31D35-C7FD-4C85-A40A-EC65C15E6EA0}" type="datetime1">
              <a:rPr lang="LID4096" smtClean="0"/>
              <a:t>11/05/2025</a:t>
            </a:fld>
            <a:endParaRPr lang="LID4096"/>
          </a:p>
        </p:txBody>
      </p:sp>
      <p:sp>
        <p:nvSpPr>
          <p:cNvPr id="6" name="Footer Placeholder 5"/>
          <p:cNvSpPr>
            <a:spLocks noGrp="1"/>
          </p:cNvSpPr>
          <p:nvPr>
            <p:ph type="ftr" sz="quarter" idx="11"/>
          </p:nvPr>
        </p:nvSpPr>
        <p:spPr/>
        <p:txBody>
          <a:bodyPr/>
          <a:lstStyle/>
          <a:p>
            <a:r>
              <a:rPr lang="en-US"/>
              <a:t>PREPARED BY JAMES SOKO FOR MR. MWASHI MATELA © 2025 KAPASA MAKASA UNIVERSITY</a:t>
            </a:r>
            <a:endParaRPr lang="LID4096"/>
          </a:p>
        </p:txBody>
      </p:sp>
      <p:sp>
        <p:nvSpPr>
          <p:cNvPr id="7" name="Slide Number Placeholder 6"/>
          <p:cNvSpPr>
            <a:spLocks noGrp="1"/>
          </p:cNvSpPr>
          <p:nvPr>
            <p:ph type="sldNum" sz="quarter" idx="12"/>
          </p:nvPr>
        </p:nvSpPr>
        <p:spPr/>
        <p:txBody>
          <a:bodyPr/>
          <a:lstStyle/>
          <a:p>
            <a:fld id="{69F7B4AB-723F-4112-894E-5DEBD965FC4E}" type="slidenum">
              <a:rPr lang="LID4096" smtClean="0"/>
              <a:t>‹#›</a:t>
            </a:fld>
            <a:endParaRPr lang="LID4096"/>
          </a:p>
        </p:txBody>
      </p:sp>
    </p:spTree>
    <p:extLst>
      <p:ext uri="{BB962C8B-B14F-4D97-AF65-F5344CB8AC3E}">
        <p14:creationId xmlns:p14="http://schemas.microsoft.com/office/powerpoint/2010/main" val="3489561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7563001-284E-4482-930F-BD7F793BACF4}" type="datetime1">
              <a:rPr lang="LID4096" smtClean="0"/>
              <a:t>11/05/2025</a:t>
            </a:fld>
            <a:endParaRPr lang="LID4096"/>
          </a:p>
        </p:txBody>
      </p:sp>
      <p:sp>
        <p:nvSpPr>
          <p:cNvPr id="6" name="Footer Placeholder 5"/>
          <p:cNvSpPr>
            <a:spLocks noGrp="1"/>
          </p:cNvSpPr>
          <p:nvPr>
            <p:ph type="ftr" sz="quarter" idx="11"/>
          </p:nvPr>
        </p:nvSpPr>
        <p:spPr/>
        <p:txBody>
          <a:bodyPr/>
          <a:lstStyle/>
          <a:p>
            <a:r>
              <a:rPr lang="en-US"/>
              <a:t>PREPARED BY JAMES SOKO FOR MR. MWASHI MATELA © 2025 KAPASA MAKASA UNIVERSITY</a:t>
            </a:r>
            <a:endParaRPr lang="LID4096"/>
          </a:p>
        </p:txBody>
      </p:sp>
      <p:sp>
        <p:nvSpPr>
          <p:cNvPr id="7" name="Slide Number Placeholder 6"/>
          <p:cNvSpPr>
            <a:spLocks noGrp="1"/>
          </p:cNvSpPr>
          <p:nvPr>
            <p:ph type="sldNum" sz="quarter" idx="12"/>
          </p:nvPr>
        </p:nvSpPr>
        <p:spPr/>
        <p:txBody>
          <a:bodyPr/>
          <a:lstStyle/>
          <a:p>
            <a:fld id="{69F7B4AB-723F-4112-894E-5DEBD965FC4E}" type="slidenum">
              <a:rPr lang="LID4096" smtClean="0"/>
              <a:t>‹#›</a:t>
            </a:fld>
            <a:endParaRPr lang="LID4096"/>
          </a:p>
        </p:txBody>
      </p:sp>
    </p:spTree>
    <p:extLst>
      <p:ext uri="{BB962C8B-B14F-4D97-AF65-F5344CB8AC3E}">
        <p14:creationId xmlns:p14="http://schemas.microsoft.com/office/powerpoint/2010/main" val="2067729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A05F258-016F-4889-B856-0FEBBEA2AC75}" type="datetime1">
              <a:rPr lang="LID4096" smtClean="0"/>
              <a:t>11/05/2025</a:t>
            </a:fld>
            <a:endParaRPr lang="LID4096"/>
          </a:p>
        </p:txBody>
      </p:sp>
      <p:sp>
        <p:nvSpPr>
          <p:cNvPr id="6" name="Footer Placeholder 5"/>
          <p:cNvSpPr>
            <a:spLocks noGrp="1"/>
          </p:cNvSpPr>
          <p:nvPr>
            <p:ph type="ftr" sz="quarter" idx="11"/>
          </p:nvPr>
        </p:nvSpPr>
        <p:spPr/>
        <p:txBody>
          <a:bodyPr/>
          <a:lstStyle/>
          <a:p>
            <a:r>
              <a:rPr lang="en-US"/>
              <a:t>PREPARED BY JAMES SOKO FOR MR. MWASHI MATELA © 2025 KAPASA MAKASA UNIVERSITY</a:t>
            </a:r>
            <a:endParaRPr lang="LID4096"/>
          </a:p>
        </p:txBody>
      </p:sp>
      <p:sp>
        <p:nvSpPr>
          <p:cNvPr id="7" name="Slide Number Placeholder 6"/>
          <p:cNvSpPr>
            <a:spLocks noGrp="1"/>
          </p:cNvSpPr>
          <p:nvPr>
            <p:ph type="sldNum" sz="quarter" idx="12"/>
          </p:nvPr>
        </p:nvSpPr>
        <p:spPr/>
        <p:txBody>
          <a:bodyPr/>
          <a:lstStyle/>
          <a:p>
            <a:fld id="{69F7B4AB-723F-4112-894E-5DEBD965FC4E}" type="slidenum">
              <a:rPr lang="LID4096" smtClean="0"/>
              <a:t>‹#›</a:t>
            </a:fld>
            <a:endParaRPr lang="LID4096"/>
          </a:p>
        </p:txBody>
      </p:sp>
    </p:spTree>
    <p:extLst>
      <p:ext uri="{BB962C8B-B14F-4D97-AF65-F5344CB8AC3E}">
        <p14:creationId xmlns:p14="http://schemas.microsoft.com/office/powerpoint/2010/main" val="33449369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585AB60-CF6F-4A53-90F9-D9D923EDC7A7}" type="datetime1">
              <a:rPr lang="LID4096" smtClean="0"/>
              <a:t>11/05/2025</a:t>
            </a:fld>
            <a:endParaRPr lang="LID4096"/>
          </a:p>
        </p:txBody>
      </p:sp>
      <p:sp>
        <p:nvSpPr>
          <p:cNvPr id="6" name="Footer Placeholder 5"/>
          <p:cNvSpPr>
            <a:spLocks noGrp="1"/>
          </p:cNvSpPr>
          <p:nvPr>
            <p:ph type="ftr" sz="quarter" idx="11"/>
          </p:nvPr>
        </p:nvSpPr>
        <p:spPr/>
        <p:txBody>
          <a:bodyPr/>
          <a:lstStyle/>
          <a:p>
            <a:r>
              <a:rPr lang="en-US"/>
              <a:t>PREPARED BY JAMES SOKO FOR MR. MWASHI MATELA © 2025 KAPASA MAKASA UNIVERSITY</a:t>
            </a:r>
            <a:endParaRPr lang="LID4096"/>
          </a:p>
        </p:txBody>
      </p:sp>
      <p:sp>
        <p:nvSpPr>
          <p:cNvPr id="7" name="Slide Number Placeholder 6"/>
          <p:cNvSpPr>
            <a:spLocks noGrp="1"/>
          </p:cNvSpPr>
          <p:nvPr>
            <p:ph type="sldNum" sz="quarter" idx="12"/>
          </p:nvPr>
        </p:nvSpPr>
        <p:spPr/>
        <p:txBody>
          <a:bodyPr/>
          <a:lstStyle/>
          <a:p>
            <a:fld id="{69F7B4AB-723F-4112-894E-5DEBD965FC4E}" type="slidenum">
              <a:rPr lang="LID4096" smtClean="0"/>
              <a:t>‹#›</a:t>
            </a:fld>
            <a:endParaRPr lang="LID4096"/>
          </a:p>
        </p:txBody>
      </p:sp>
    </p:spTree>
    <p:extLst>
      <p:ext uri="{BB962C8B-B14F-4D97-AF65-F5344CB8AC3E}">
        <p14:creationId xmlns:p14="http://schemas.microsoft.com/office/powerpoint/2010/main" val="22334203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99D22E-8AAC-4450-9BAB-1406F5A5AED3}" type="datetime1">
              <a:rPr lang="LID4096" smtClean="0"/>
              <a:t>11/05/2025</a:t>
            </a:fld>
            <a:endParaRPr lang="LID4096"/>
          </a:p>
        </p:txBody>
      </p:sp>
      <p:sp>
        <p:nvSpPr>
          <p:cNvPr id="6" name="Footer Placeholder 5"/>
          <p:cNvSpPr>
            <a:spLocks noGrp="1"/>
          </p:cNvSpPr>
          <p:nvPr>
            <p:ph type="ftr" sz="quarter" idx="11"/>
          </p:nvPr>
        </p:nvSpPr>
        <p:spPr/>
        <p:txBody>
          <a:bodyPr/>
          <a:lstStyle/>
          <a:p>
            <a:r>
              <a:rPr lang="en-US"/>
              <a:t>PREPARED BY JAMES SOKO FOR MR. MWASHI MATELA © 2025 KAPASA MAKASA UNIVERSITY</a:t>
            </a:r>
            <a:endParaRPr lang="LID4096"/>
          </a:p>
        </p:txBody>
      </p:sp>
      <p:sp>
        <p:nvSpPr>
          <p:cNvPr id="7" name="Slide Number Placeholder 6"/>
          <p:cNvSpPr>
            <a:spLocks noGrp="1"/>
          </p:cNvSpPr>
          <p:nvPr>
            <p:ph type="sldNum" sz="quarter" idx="12"/>
          </p:nvPr>
        </p:nvSpPr>
        <p:spPr/>
        <p:txBody>
          <a:bodyPr/>
          <a:lstStyle/>
          <a:p>
            <a:fld id="{69F7B4AB-723F-4112-894E-5DEBD965FC4E}" type="slidenum">
              <a:rPr lang="LID4096" smtClean="0"/>
              <a:t>‹#›</a:t>
            </a:fld>
            <a:endParaRPr lang="LID4096"/>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6920636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AE7B1FA-DF98-4709-9544-1ADA80CCDD8E}" type="datetime1">
              <a:rPr lang="LID4096" smtClean="0"/>
              <a:t>11/05/2025</a:t>
            </a:fld>
            <a:endParaRPr lang="LID4096"/>
          </a:p>
        </p:txBody>
      </p:sp>
      <p:sp>
        <p:nvSpPr>
          <p:cNvPr id="6" name="Footer Placeholder 5"/>
          <p:cNvSpPr>
            <a:spLocks noGrp="1"/>
          </p:cNvSpPr>
          <p:nvPr>
            <p:ph type="ftr" sz="quarter" idx="11"/>
          </p:nvPr>
        </p:nvSpPr>
        <p:spPr/>
        <p:txBody>
          <a:bodyPr/>
          <a:lstStyle/>
          <a:p>
            <a:r>
              <a:rPr lang="en-US"/>
              <a:t>PREPARED BY JAMES SOKO FOR MR. MWASHI MATELA © 2025 KAPASA MAKASA UNIVERSITY</a:t>
            </a:r>
            <a:endParaRPr lang="LID4096"/>
          </a:p>
        </p:txBody>
      </p:sp>
      <p:sp>
        <p:nvSpPr>
          <p:cNvPr id="7" name="Slide Number Placeholder 6"/>
          <p:cNvSpPr>
            <a:spLocks noGrp="1"/>
          </p:cNvSpPr>
          <p:nvPr>
            <p:ph type="sldNum" sz="quarter" idx="12"/>
          </p:nvPr>
        </p:nvSpPr>
        <p:spPr/>
        <p:txBody>
          <a:bodyPr/>
          <a:lstStyle/>
          <a:p>
            <a:fld id="{69F7B4AB-723F-4112-894E-5DEBD965FC4E}" type="slidenum">
              <a:rPr lang="LID4096" smtClean="0"/>
              <a:t>‹#›</a:t>
            </a:fld>
            <a:endParaRPr lang="LID4096"/>
          </a:p>
        </p:txBody>
      </p:sp>
    </p:spTree>
    <p:extLst>
      <p:ext uri="{BB962C8B-B14F-4D97-AF65-F5344CB8AC3E}">
        <p14:creationId xmlns:p14="http://schemas.microsoft.com/office/powerpoint/2010/main" val="27018644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938A053-44F2-417F-8FF1-3A52BDE49960}" type="datetime1">
              <a:rPr lang="LID4096" smtClean="0"/>
              <a:t>11/05/2025</a:t>
            </a:fld>
            <a:endParaRPr lang="LID4096"/>
          </a:p>
        </p:txBody>
      </p:sp>
      <p:sp>
        <p:nvSpPr>
          <p:cNvPr id="4" name="Footer Placeholder 3"/>
          <p:cNvSpPr>
            <a:spLocks noGrp="1"/>
          </p:cNvSpPr>
          <p:nvPr>
            <p:ph type="ftr" sz="quarter" idx="11"/>
          </p:nvPr>
        </p:nvSpPr>
        <p:spPr/>
        <p:txBody>
          <a:bodyPr/>
          <a:lstStyle/>
          <a:p>
            <a:r>
              <a:rPr lang="en-US"/>
              <a:t>PREPARED BY JAMES SOKO FOR MR. MWASHI MATELA © 2025 KAPASA MAKASA UNIVERSITY</a:t>
            </a:r>
            <a:endParaRPr lang="LID4096"/>
          </a:p>
        </p:txBody>
      </p:sp>
      <p:sp>
        <p:nvSpPr>
          <p:cNvPr id="5" name="Slide Number Placeholder 4"/>
          <p:cNvSpPr>
            <a:spLocks noGrp="1"/>
          </p:cNvSpPr>
          <p:nvPr>
            <p:ph type="sldNum" sz="quarter" idx="12"/>
          </p:nvPr>
        </p:nvSpPr>
        <p:spPr/>
        <p:txBody>
          <a:bodyPr/>
          <a:lstStyle/>
          <a:p>
            <a:fld id="{69F7B4AB-723F-4112-894E-5DEBD965FC4E}" type="slidenum">
              <a:rPr lang="LID4096" smtClean="0"/>
              <a:t>‹#›</a:t>
            </a:fld>
            <a:endParaRPr lang="LID4096"/>
          </a:p>
        </p:txBody>
      </p:sp>
    </p:spTree>
    <p:extLst>
      <p:ext uri="{BB962C8B-B14F-4D97-AF65-F5344CB8AC3E}">
        <p14:creationId xmlns:p14="http://schemas.microsoft.com/office/powerpoint/2010/main" val="34261794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36983E0-2E44-4709-8E31-CB6FF8A22D5D}" type="datetime1">
              <a:rPr lang="LID4096" smtClean="0"/>
              <a:t>11/05/2025</a:t>
            </a:fld>
            <a:endParaRPr lang="LID4096"/>
          </a:p>
        </p:txBody>
      </p:sp>
      <p:sp>
        <p:nvSpPr>
          <p:cNvPr id="4" name="Footer Placeholder 3"/>
          <p:cNvSpPr>
            <a:spLocks noGrp="1"/>
          </p:cNvSpPr>
          <p:nvPr>
            <p:ph type="ftr" sz="quarter" idx="11"/>
          </p:nvPr>
        </p:nvSpPr>
        <p:spPr/>
        <p:txBody>
          <a:bodyPr/>
          <a:lstStyle/>
          <a:p>
            <a:r>
              <a:rPr lang="en-US"/>
              <a:t>PREPARED BY JAMES SOKO FOR MR. MWASHI MATELA © 2025 KAPASA MAKASA UNIVERSITY</a:t>
            </a:r>
            <a:endParaRPr lang="LID4096"/>
          </a:p>
        </p:txBody>
      </p:sp>
      <p:sp>
        <p:nvSpPr>
          <p:cNvPr id="5" name="Slide Number Placeholder 4"/>
          <p:cNvSpPr>
            <a:spLocks noGrp="1"/>
          </p:cNvSpPr>
          <p:nvPr>
            <p:ph type="sldNum" sz="quarter" idx="12"/>
          </p:nvPr>
        </p:nvSpPr>
        <p:spPr/>
        <p:txBody>
          <a:bodyPr/>
          <a:lstStyle/>
          <a:p>
            <a:fld id="{69F7B4AB-723F-4112-894E-5DEBD965FC4E}" type="slidenum">
              <a:rPr lang="LID4096" smtClean="0"/>
              <a:t>‹#›</a:t>
            </a:fld>
            <a:endParaRPr lang="LID4096"/>
          </a:p>
        </p:txBody>
      </p:sp>
    </p:spTree>
    <p:extLst>
      <p:ext uri="{BB962C8B-B14F-4D97-AF65-F5344CB8AC3E}">
        <p14:creationId xmlns:p14="http://schemas.microsoft.com/office/powerpoint/2010/main" val="13177974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5A390E-FE62-4290-A230-B9EBD0E210B3}" type="datetime1">
              <a:rPr lang="LID4096" smtClean="0"/>
              <a:t>11/05/2025</a:t>
            </a:fld>
            <a:endParaRPr lang="LID4096"/>
          </a:p>
        </p:txBody>
      </p:sp>
      <p:sp>
        <p:nvSpPr>
          <p:cNvPr id="5" name="Footer Placeholder 4"/>
          <p:cNvSpPr>
            <a:spLocks noGrp="1"/>
          </p:cNvSpPr>
          <p:nvPr>
            <p:ph type="ftr" sz="quarter" idx="11"/>
          </p:nvPr>
        </p:nvSpPr>
        <p:spPr/>
        <p:txBody>
          <a:bodyPr/>
          <a:lstStyle/>
          <a:p>
            <a:r>
              <a:rPr lang="en-US"/>
              <a:t>PREPARED BY JAMES SOKO FOR MR. MWASHI MATELA © 2025 KAPASA MAKASA UNIVERSITY</a:t>
            </a:r>
            <a:endParaRPr lang="LID4096"/>
          </a:p>
        </p:txBody>
      </p:sp>
      <p:sp>
        <p:nvSpPr>
          <p:cNvPr id="6" name="Slide Number Placeholder 5"/>
          <p:cNvSpPr>
            <a:spLocks noGrp="1"/>
          </p:cNvSpPr>
          <p:nvPr>
            <p:ph type="sldNum" sz="quarter" idx="12"/>
          </p:nvPr>
        </p:nvSpPr>
        <p:spPr/>
        <p:txBody>
          <a:bodyPr/>
          <a:lstStyle/>
          <a:p>
            <a:fld id="{69F7B4AB-723F-4112-894E-5DEBD965FC4E}" type="slidenum">
              <a:rPr lang="LID4096" smtClean="0"/>
              <a:t>‹#›</a:t>
            </a:fld>
            <a:endParaRPr lang="LID4096"/>
          </a:p>
        </p:txBody>
      </p:sp>
    </p:spTree>
    <p:extLst>
      <p:ext uri="{BB962C8B-B14F-4D97-AF65-F5344CB8AC3E}">
        <p14:creationId xmlns:p14="http://schemas.microsoft.com/office/powerpoint/2010/main" val="12992268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64D209-47A3-4136-A989-682C9CDA23F6}" type="datetime1">
              <a:rPr lang="LID4096" smtClean="0"/>
              <a:t>11/05/2025</a:t>
            </a:fld>
            <a:endParaRPr lang="LID4096"/>
          </a:p>
        </p:txBody>
      </p:sp>
      <p:sp>
        <p:nvSpPr>
          <p:cNvPr id="5" name="Footer Placeholder 4"/>
          <p:cNvSpPr>
            <a:spLocks noGrp="1"/>
          </p:cNvSpPr>
          <p:nvPr>
            <p:ph type="ftr" sz="quarter" idx="11"/>
          </p:nvPr>
        </p:nvSpPr>
        <p:spPr/>
        <p:txBody>
          <a:bodyPr/>
          <a:lstStyle/>
          <a:p>
            <a:r>
              <a:rPr lang="en-US"/>
              <a:t>PREPARED BY JAMES SOKO FOR MR. MWASHI MATELA © 2025 KAPASA MAKASA UNIVERSITY</a:t>
            </a:r>
            <a:endParaRPr lang="LID4096"/>
          </a:p>
        </p:txBody>
      </p:sp>
      <p:sp>
        <p:nvSpPr>
          <p:cNvPr id="6" name="Slide Number Placeholder 5"/>
          <p:cNvSpPr>
            <a:spLocks noGrp="1"/>
          </p:cNvSpPr>
          <p:nvPr>
            <p:ph type="sldNum" sz="quarter" idx="12"/>
          </p:nvPr>
        </p:nvSpPr>
        <p:spPr/>
        <p:txBody>
          <a:bodyPr/>
          <a:lstStyle/>
          <a:p>
            <a:fld id="{69F7B4AB-723F-4112-894E-5DEBD965FC4E}" type="slidenum">
              <a:rPr lang="LID4096" smtClean="0"/>
              <a:t>‹#›</a:t>
            </a:fld>
            <a:endParaRPr lang="LID4096"/>
          </a:p>
        </p:txBody>
      </p:sp>
    </p:spTree>
    <p:extLst>
      <p:ext uri="{BB962C8B-B14F-4D97-AF65-F5344CB8AC3E}">
        <p14:creationId xmlns:p14="http://schemas.microsoft.com/office/powerpoint/2010/main" val="720259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B301423-8683-4909-9DC6-7FDB0DD169E9}" type="datetime1">
              <a:rPr lang="LID4096" smtClean="0"/>
              <a:t>11/05/2025</a:t>
            </a:fld>
            <a:endParaRPr lang="LID4096"/>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r>
              <a:rPr lang="en-US"/>
              <a:t>PREPARED BY JAMES SOKO FOR MR. MWASHI MATELA © 2025 KAPASA MAKASA UNIVERSITY</a:t>
            </a:r>
            <a:endParaRPr lang="LID4096"/>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9F7B4AB-723F-4112-894E-5DEBD965FC4E}" type="slidenum">
              <a:rPr lang="LID4096" smtClean="0"/>
              <a:t>‹#›</a:t>
            </a:fld>
            <a:endParaRPr lang="LID4096"/>
          </a:p>
        </p:txBody>
      </p:sp>
    </p:spTree>
    <p:extLst>
      <p:ext uri="{BB962C8B-B14F-4D97-AF65-F5344CB8AC3E}">
        <p14:creationId xmlns:p14="http://schemas.microsoft.com/office/powerpoint/2010/main" val="211878358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E7B04-0784-4669-B0DC-AB20D7989EA8}"/>
              </a:ext>
            </a:extLst>
          </p:cNvPr>
          <p:cNvSpPr>
            <a:spLocks noGrp="1"/>
          </p:cNvSpPr>
          <p:nvPr>
            <p:ph type="ctrTitle"/>
          </p:nvPr>
        </p:nvSpPr>
        <p:spPr/>
        <p:txBody>
          <a:bodyPr/>
          <a:lstStyle/>
          <a:p>
            <a:pPr algn="ctr"/>
            <a:r>
              <a:rPr lang="en-GB" b="1" dirty="0"/>
              <a:t>Operating system security </a:t>
            </a:r>
            <a:endParaRPr lang="LID4096" b="1" dirty="0"/>
          </a:p>
        </p:txBody>
      </p:sp>
      <p:sp>
        <p:nvSpPr>
          <p:cNvPr id="3" name="Subtitle 2">
            <a:extLst>
              <a:ext uri="{FF2B5EF4-FFF2-40B4-BE49-F238E27FC236}">
                <a16:creationId xmlns:a16="http://schemas.microsoft.com/office/drawing/2014/main" id="{06DF8445-D4A8-4830-A77D-51E1C6C8495C}"/>
              </a:ext>
            </a:extLst>
          </p:cNvPr>
          <p:cNvSpPr>
            <a:spLocks noGrp="1"/>
          </p:cNvSpPr>
          <p:nvPr>
            <p:ph type="subTitle" idx="1"/>
          </p:nvPr>
        </p:nvSpPr>
        <p:spPr/>
        <p:txBody>
          <a:bodyPr/>
          <a:lstStyle/>
          <a:p>
            <a:pPr algn="ctr"/>
            <a:r>
              <a:rPr lang="en-GB" b="1" dirty="0"/>
              <a:t>CYS337</a:t>
            </a:r>
            <a:endParaRPr lang="LID4096" b="1" dirty="0"/>
          </a:p>
        </p:txBody>
      </p:sp>
    </p:spTree>
    <p:extLst>
      <p:ext uri="{BB962C8B-B14F-4D97-AF65-F5344CB8AC3E}">
        <p14:creationId xmlns:p14="http://schemas.microsoft.com/office/powerpoint/2010/main" val="938791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F409B1D-B161-4249-BB0A-B77F14B160B2}"/>
              </a:ext>
            </a:extLst>
          </p:cNvPr>
          <p:cNvSpPr>
            <a:spLocks noGrp="1"/>
          </p:cNvSpPr>
          <p:nvPr>
            <p:ph type="ctrTitle"/>
          </p:nvPr>
        </p:nvSpPr>
        <p:spPr/>
        <p:txBody>
          <a:bodyPr/>
          <a:lstStyle/>
          <a:p>
            <a:pPr algn="ctr"/>
            <a:r>
              <a:rPr lang="en-GB" b="1" dirty="0"/>
              <a:t>Introduction </a:t>
            </a:r>
            <a:endParaRPr lang="LID4096" b="1" dirty="0"/>
          </a:p>
        </p:txBody>
      </p:sp>
      <p:sp>
        <p:nvSpPr>
          <p:cNvPr id="5" name="Subtitle 4">
            <a:extLst>
              <a:ext uri="{FF2B5EF4-FFF2-40B4-BE49-F238E27FC236}">
                <a16:creationId xmlns:a16="http://schemas.microsoft.com/office/drawing/2014/main" id="{99CE1C09-2F2B-418E-AEEB-6A8DA3CEF192}"/>
              </a:ext>
            </a:extLst>
          </p:cNvPr>
          <p:cNvSpPr>
            <a:spLocks noGrp="1"/>
          </p:cNvSpPr>
          <p:nvPr>
            <p:ph type="subTitle" idx="1"/>
          </p:nvPr>
        </p:nvSpPr>
        <p:spPr/>
        <p:txBody>
          <a:bodyPr/>
          <a:lstStyle/>
          <a:p>
            <a:pPr algn="ctr"/>
            <a:r>
              <a:rPr lang="en-GB" b="1" dirty="0"/>
              <a:t>UNIT 1</a:t>
            </a:r>
            <a:endParaRPr lang="LID4096" b="1" dirty="0"/>
          </a:p>
        </p:txBody>
      </p:sp>
    </p:spTree>
    <p:extLst>
      <p:ext uri="{BB962C8B-B14F-4D97-AF65-F5344CB8AC3E}">
        <p14:creationId xmlns:p14="http://schemas.microsoft.com/office/powerpoint/2010/main" val="26745367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14815-5AD2-4ABE-A1B8-9F2FEC068C85}"/>
              </a:ext>
            </a:extLst>
          </p:cNvPr>
          <p:cNvSpPr>
            <a:spLocks noGrp="1"/>
          </p:cNvSpPr>
          <p:nvPr>
            <p:ph type="title"/>
          </p:nvPr>
        </p:nvSpPr>
        <p:spPr/>
        <p:txBody>
          <a:bodyPr/>
          <a:lstStyle/>
          <a:p>
            <a:pPr algn="ctr"/>
            <a:r>
              <a:rPr lang="en-US" b="1" dirty="0"/>
              <a:t>Operating System</a:t>
            </a:r>
            <a:endParaRPr lang="LID4096" b="1" dirty="0"/>
          </a:p>
        </p:txBody>
      </p:sp>
      <p:sp>
        <p:nvSpPr>
          <p:cNvPr id="3" name="Content Placeholder 2">
            <a:extLst>
              <a:ext uri="{FF2B5EF4-FFF2-40B4-BE49-F238E27FC236}">
                <a16:creationId xmlns:a16="http://schemas.microsoft.com/office/drawing/2014/main" id="{80BCE9EA-3B65-4077-A410-FCBB278FBF4E}"/>
              </a:ext>
            </a:extLst>
          </p:cNvPr>
          <p:cNvSpPr>
            <a:spLocks noGrp="1"/>
          </p:cNvSpPr>
          <p:nvPr>
            <p:ph idx="1"/>
          </p:nvPr>
        </p:nvSpPr>
        <p:spPr/>
        <p:txBody>
          <a:bodyPr>
            <a:normAutofit fontScale="92500"/>
          </a:bodyPr>
          <a:lstStyle/>
          <a:p>
            <a:r>
              <a:rPr lang="en-US" dirty="0"/>
              <a:t>An </a:t>
            </a:r>
            <a:r>
              <a:rPr lang="en-US" b="1" dirty="0"/>
              <a:t>Operating System (OS) </a:t>
            </a:r>
            <a:r>
              <a:rPr lang="en-US" dirty="0"/>
              <a:t>is system software that manages computer hardware and software resources, and provides common services for computer programs.</a:t>
            </a:r>
          </a:p>
          <a:p>
            <a:r>
              <a:rPr lang="en-US" dirty="0"/>
              <a:t>An </a:t>
            </a:r>
            <a:r>
              <a:rPr lang="en-US" b="1" dirty="0"/>
              <a:t>Operating System (OS) </a:t>
            </a:r>
            <a:r>
              <a:rPr lang="en-US" dirty="0"/>
              <a:t>is a core Software that manages a Computers hardware and software resources, acting as an interface between a user and the computer’s hardware to enable communication and execution of programs.</a:t>
            </a:r>
          </a:p>
          <a:p>
            <a:r>
              <a:rPr lang="en-US" b="1" dirty="0"/>
              <a:t>Operating System Security</a:t>
            </a:r>
            <a:r>
              <a:rPr lang="en-US" dirty="0"/>
              <a:t>, or </a:t>
            </a:r>
            <a:r>
              <a:rPr lang="en-US" b="1" dirty="0"/>
              <a:t>OS Security</a:t>
            </a:r>
            <a:r>
              <a:rPr lang="en-US" dirty="0"/>
              <a:t>, refers to the policies and mechanisms designed to protect an operating system from threats and unauthorized access.</a:t>
            </a:r>
          </a:p>
          <a:p>
            <a:endParaRPr lang="LID4096" dirty="0"/>
          </a:p>
        </p:txBody>
      </p:sp>
      <p:sp>
        <p:nvSpPr>
          <p:cNvPr id="4" name="Footer Placeholder 3">
            <a:extLst>
              <a:ext uri="{FF2B5EF4-FFF2-40B4-BE49-F238E27FC236}">
                <a16:creationId xmlns:a16="http://schemas.microsoft.com/office/drawing/2014/main" id="{ADC0AF69-4EF2-4E90-948E-EE085D08D01C}"/>
              </a:ext>
            </a:extLst>
          </p:cNvPr>
          <p:cNvSpPr>
            <a:spLocks noGrp="1"/>
          </p:cNvSpPr>
          <p:nvPr>
            <p:ph type="ftr" sz="quarter" idx="11"/>
          </p:nvPr>
        </p:nvSpPr>
        <p:spPr/>
        <p:txBody>
          <a:bodyPr/>
          <a:lstStyle/>
          <a:p>
            <a:r>
              <a:rPr lang="en-US"/>
              <a:t>PREPARED BY JAMES SOKO FOR MR. MWASHI MATELA © 2025 KAPASA MAKASA UNIVERSITY</a:t>
            </a:r>
            <a:endParaRPr lang="LID4096"/>
          </a:p>
        </p:txBody>
      </p:sp>
      <p:sp>
        <p:nvSpPr>
          <p:cNvPr id="5" name="Slide Number Placeholder 4">
            <a:extLst>
              <a:ext uri="{FF2B5EF4-FFF2-40B4-BE49-F238E27FC236}">
                <a16:creationId xmlns:a16="http://schemas.microsoft.com/office/drawing/2014/main" id="{45B51AD0-3FAD-4B70-A878-3274D7FFFC84}"/>
              </a:ext>
            </a:extLst>
          </p:cNvPr>
          <p:cNvSpPr>
            <a:spLocks noGrp="1"/>
          </p:cNvSpPr>
          <p:nvPr>
            <p:ph type="sldNum" sz="quarter" idx="12"/>
          </p:nvPr>
        </p:nvSpPr>
        <p:spPr/>
        <p:txBody>
          <a:bodyPr/>
          <a:lstStyle/>
          <a:p>
            <a:fld id="{69F7B4AB-723F-4112-894E-5DEBD965FC4E}" type="slidenum">
              <a:rPr lang="LID4096" smtClean="0"/>
              <a:t>3</a:t>
            </a:fld>
            <a:endParaRPr lang="LID4096"/>
          </a:p>
        </p:txBody>
      </p:sp>
    </p:spTree>
    <p:extLst>
      <p:ext uri="{BB962C8B-B14F-4D97-AF65-F5344CB8AC3E}">
        <p14:creationId xmlns:p14="http://schemas.microsoft.com/office/powerpoint/2010/main" val="3274196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652F7-16E0-416D-B5D7-8D11F268EC1A}"/>
              </a:ext>
            </a:extLst>
          </p:cNvPr>
          <p:cNvSpPr>
            <a:spLocks noGrp="1"/>
          </p:cNvSpPr>
          <p:nvPr>
            <p:ph type="title"/>
          </p:nvPr>
        </p:nvSpPr>
        <p:spPr/>
        <p:txBody>
          <a:bodyPr/>
          <a:lstStyle/>
          <a:p>
            <a:pPr algn="ctr"/>
            <a:r>
              <a:rPr lang="en-GB" b="1" dirty="0"/>
              <a:t>Software &amp; Hardware</a:t>
            </a:r>
            <a:endParaRPr lang="LID4096" b="1" dirty="0"/>
          </a:p>
        </p:txBody>
      </p:sp>
      <p:sp>
        <p:nvSpPr>
          <p:cNvPr id="3" name="Content Placeholder 2">
            <a:extLst>
              <a:ext uri="{FF2B5EF4-FFF2-40B4-BE49-F238E27FC236}">
                <a16:creationId xmlns:a16="http://schemas.microsoft.com/office/drawing/2014/main" id="{C8DB25DC-7A44-4C25-921A-7CCC69D11E99}"/>
              </a:ext>
            </a:extLst>
          </p:cNvPr>
          <p:cNvSpPr>
            <a:spLocks noGrp="1"/>
          </p:cNvSpPr>
          <p:nvPr>
            <p:ph idx="1"/>
          </p:nvPr>
        </p:nvSpPr>
        <p:spPr/>
        <p:txBody>
          <a:bodyPr/>
          <a:lstStyle/>
          <a:p>
            <a:r>
              <a:rPr lang="en-GB" dirty="0"/>
              <a:t>A </a:t>
            </a:r>
            <a:r>
              <a:rPr lang="en-GB" b="1" dirty="0"/>
              <a:t>Software</a:t>
            </a:r>
            <a:r>
              <a:rPr lang="en-GB" dirty="0"/>
              <a:t> </a:t>
            </a:r>
            <a:r>
              <a:rPr lang="en-US" dirty="0"/>
              <a:t>is a line of code or set of instructions that tell a Computer what to do by enabling it to perform specific tasks.</a:t>
            </a:r>
          </a:p>
          <a:p>
            <a:r>
              <a:rPr lang="en-US" dirty="0"/>
              <a:t>A </a:t>
            </a:r>
            <a:r>
              <a:rPr lang="en-US" b="1" dirty="0"/>
              <a:t>Hardware</a:t>
            </a:r>
            <a:r>
              <a:rPr lang="en-US" dirty="0"/>
              <a:t> is generally any physical components or devices that make up a Computer System such as Monitor, Mouse, Keypad etc.</a:t>
            </a:r>
          </a:p>
          <a:p>
            <a:endParaRPr lang="en-US" dirty="0"/>
          </a:p>
          <a:p>
            <a:endParaRPr lang="LID4096" dirty="0"/>
          </a:p>
        </p:txBody>
      </p:sp>
      <p:sp>
        <p:nvSpPr>
          <p:cNvPr id="4" name="Footer Placeholder 3">
            <a:extLst>
              <a:ext uri="{FF2B5EF4-FFF2-40B4-BE49-F238E27FC236}">
                <a16:creationId xmlns:a16="http://schemas.microsoft.com/office/drawing/2014/main" id="{A4387C87-62B8-4535-8C03-3E5224CF79B1}"/>
              </a:ext>
            </a:extLst>
          </p:cNvPr>
          <p:cNvSpPr>
            <a:spLocks noGrp="1"/>
          </p:cNvSpPr>
          <p:nvPr>
            <p:ph type="ftr" sz="quarter" idx="11"/>
          </p:nvPr>
        </p:nvSpPr>
        <p:spPr/>
        <p:txBody>
          <a:bodyPr/>
          <a:lstStyle/>
          <a:p>
            <a:r>
              <a:rPr lang="en-US"/>
              <a:t>PREPARED BY JAMES SOKO FOR MR. MWASHI MATELA © 2025 KAPASA MAKASA UNIVERSITY</a:t>
            </a:r>
            <a:endParaRPr lang="LID4096"/>
          </a:p>
        </p:txBody>
      </p:sp>
      <p:sp>
        <p:nvSpPr>
          <p:cNvPr id="5" name="Slide Number Placeholder 4">
            <a:extLst>
              <a:ext uri="{FF2B5EF4-FFF2-40B4-BE49-F238E27FC236}">
                <a16:creationId xmlns:a16="http://schemas.microsoft.com/office/drawing/2014/main" id="{8E1E59B9-F72F-4DAF-9436-03D390C8A16F}"/>
              </a:ext>
            </a:extLst>
          </p:cNvPr>
          <p:cNvSpPr>
            <a:spLocks noGrp="1"/>
          </p:cNvSpPr>
          <p:nvPr>
            <p:ph type="sldNum" sz="quarter" idx="12"/>
          </p:nvPr>
        </p:nvSpPr>
        <p:spPr/>
        <p:txBody>
          <a:bodyPr/>
          <a:lstStyle/>
          <a:p>
            <a:fld id="{69F7B4AB-723F-4112-894E-5DEBD965FC4E}" type="slidenum">
              <a:rPr lang="LID4096" smtClean="0"/>
              <a:t>4</a:t>
            </a:fld>
            <a:endParaRPr lang="LID4096"/>
          </a:p>
        </p:txBody>
      </p:sp>
    </p:spTree>
    <p:extLst>
      <p:ext uri="{BB962C8B-B14F-4D97-AF65-F5344CB8AC3E}">
        <p14:creationId xmlns:p14="http://schemas.microsoft.com/office/powerpoint/2010/main" val="2401315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869CB-FE9D-4742-BB03-50D3274D2C0B}"/>
              </a:ext>
            </a:extLst>
          </p:cNvPr>
          <p:cNvSpPr>
            <a:spLocks noGrp="1"/>
          </p:cNvSpPr>
          <p:nvPr>
            <p:ph type="title"/>
          </p:nvPr>
        </p:nvSpPr>
        <p:spPr/>
        <p:txBody>
          <a:bodyPr/>
          <a:lstStyle/>
          <a:p>
            <a:pPr algn="ctr"/>
            <a:r>
              <a:rPr lang="en-US" b="1" dirty="0"/>
              <a:t>Major functions of an Operating System</a:t>
            </a:r>
            <a:endParaRPr lang="LID4096" b="1" dirty="0"/>
          </a:p>
        </p:txBody>
      </p:sp>
      <p:sp>
        <p:nvSpPr>
          <p:cNvPr id="3" name="Content Placeholder 2">
            <a:extLst>
              <a:ext uri="{FF2B5EF4-FFF2-40B4-BE49-F238E27FC236}">
                <a16:creationId xmlns:a16="http://schemas.microsoft.com/office/drawing/2014/main" id="{66C5C822-B434-4986-9D40-EB14AD4BAC32}"/>
              </a:ext>
            </a:extLst>
          </p:cNvPr>
          <p:cNvSpPr>
            <a:spLocks noGrp="1"/>
          </p:cNvSpPr>
          <p:nvPr>
            <p:ph idx="1"/>
          </p:nvPr>
        </p:nvSpPr>
        <p:spPr/>
        <p:txBody>
          <a:bodyPr>
            <a:normAutofit fontScale="92500"/>
          </a:bodyPr>
          <a:lstStyle/>
          <a:p>
            <a:pPr marL="457200" indent="-457200">
              <a:buFont typeface="+mj-lt"/>
              <a:buAutoNum type="arabicPeriod"/>
            </a:pPr>
            <a:r>
              <a:rPr lang="en-GB" b="1" dirty="0"/>
              <a:t>Resource Management </a:t>
            </a:r>
            <a:r>
              <a:rPr lang="en-GB" dirty="0"/>
              <a:t>– </a:t>
            </a:r>
            <a:r>
              <a:rPr lang="en-US" dirty="0"/>
              <a:t>An OS allocates and manages computer resources such as CPU, Memory Storage and Input/Output devices to  ensure smooth and efficient operation. </a:t>
            </a:r>
          </a:p>
          <a:p>
            <a:pPr marL="457200" indent="-457200">
              <a:buFont typeface="+mj-lt"/>
              <a:buAutoNum type="arabicPeriod"/>
            </a:pPr>
            <a:r>
              <a:rPr lang="en-US" b="1" dirty="0"/>
              <a:t>User Interface </a:t>
            </a:r>
            <a:r>
              <a:rPr lang="en-US" dirty="0"/>
              <a:t>– An OS provides a way for users to interact with the computer either through </a:t>
            </a:r>
            <a:r>
              <a:rPr lang="en-US" b="1" dirty="0"/>
              <a:t>Graphical User Interface (GUI)</a:t>
            </a:r>
            <a:r>
              <a:rPr lang="en-US" dirty="0"/>
              <a:t> or </a:t>
            </a:r>
            <a:r>
              <a:rPr lang="en-US" b="1" dirty="0"/>
              <a:t>Command Line Interface (CLI)</a:t>
            </a:r>
            <a:r>
              <a:rPr lang="en-US" dirty="0"/>
              <a:t>.</a:t>
            </a:r>
          </a:p>
          <a:p>
            <a:pPr marL="457200" indent="-457200">
              <a:buFont typeface="+mj-lt"/>
              <a:buAutoNum type="arabicPeriod"/>
            </a:pPr>
            <a:r>
              <a:rPr lang="en-US" b="1" dirty="0"/>
              <a:t>Application Execution </a:t>
            </a:r>
            <a:r>
              <a:rPr lang="en-US" dirty="0"/>
              <a:t>– An OS loads and executes applications , ensuring that they run efficiently without conflicts.</a:t>
            </a:r>
          </a:p>
          <a:p>
            <a:pPr marL="457200" indent="-457200">
              <a:buFont typeface="+mj-lt"/>
              <a:buAutoNum type="arabicPeriod"/>
            </a:pPr>
            <a:endParaRPr lang="en-US" dirty="0"/>
          </a:p>
          <a:p>
            <a:pPr marL="457200" indent="-457200">
              <a:buFont typeface="+mj-lt"/>
              <a:buAutoNum type="arabicPeriod"/>
            </a:pPr>
            <a:endParaRPr lang="LID4096" dirty="0"/>
          </a:p>
        </p:txBody>
      </p:sp>
      <p:sp>
        <p:nvSpPr>
          <p:cNvPr id="4" name="Footer Placeholder 3">
            <a:extLst>
              <a:ext uri="{FF2B5EF4-FFF2-40B4-BE49-F238E27FC236}">
                <a16:creationId xmlns:a16="http://schemas.microsoft.com/office/drawing/2014/main" id="{A258A3CF-3853-4777-9E3B-19952D570AF0}"/>
              </a:ext>
            </a:extLst>
          </p:cNvPr>
          <p:cNvSpPr>
            <a:spLocks noGrp="1"/>
          </p:cNvSpPr>
          <p:nvPr>
            <p:ph type="ftr" sz="quarter" idx="11"/>
          </p:nvPr>
        </p:nvSpPr>
        <p:spPr/>
        <p:txBody>
          <a:bodyPr/>
          <a:lstStyle/>
          <a:p>
            <a:r>
              <a:rPr lang="en-US"/>
              <a:t>PREPARED BY JAMES SOKO FOR MR. MWASHI MATELA © 2025 KAPASA MAKASA UNIVERSITY</a:t>
            </a:r>
            <a:endParaRPr lang="LID4096"/>
          </a:p>
        </p:txBody>
      </p:sp>
      <p:sp>
        <p:nvSpPr>
          <p:cNvPr id="5" name="Slide Number Placeholder 4">
            <a:extLst>
              <a:ext uri="{FF2B5EF4-FFF2-40B4-BE49-F238E27FC236}">
                <a16:creationId xmlns:a16="http://schemas.microsoft.com/office/drawing/2014/main" id="{C57D3B34-A82A-4757-94DA-350CA4911E0E}"/>
              </a:ext>
            </a:extLst>
          </p:cNvPr>
          <p:cNvSpPr>
            <a:spLocks noGrp="1"/>
          </p:cNvSpPr>
          <p:nvPr>
            <p:ph type="sldNum" sz="quarter" idx="12"/>
          </p:nvPr>
        </p:nvSpPr>
        <p:spPr/>
        <p:txBody>
          <a:bodyPr/>
          <a:lstStyle/>
          <a:p>
            <a:fld id="{69F7B4AB-723F-4112-894E-5DEBD965FC4E}" type="slidenum">
              <a:rPr lang="LID4096" smtClean="0"/>
              <a:t>5</a:t>
            </a:fld>
            <a:endParaRPr lang="LID4096"/>
          </a:p>
        </p:txBody>
      </p:sp>
    </p:spTree>
    <p:extLst>
      <p:ext uri="{BB962C8B-B14F-4D97-AF65-F5344CB8AC3E}">
        <p14:creationId xmlns:p14="http://schemas.microsoft.com/office/powerpoint/2010/main" val="3956939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A8A3E-F4E5-4125-94BC-8D19F2DE06EB}"/>
              </a:ext>
            </a:extLst>
          </p:cNvPr>
          <p:cNvSpPr>
            <a:spLocks noGrp="1"/>
          </p:cNvSpPr>
          <p:nvPr>
            <p:ph type="title"/>
          </p:nvPr>
        </p:nvSpPr>
        <p:spPr/>
        <p:txBody>
          <a:bodyPr/>
          <a:lstStyle/>
          <a:p>
            <a:pPr algn="ctr"/>
            <a:r>
              <a:rPr lang="en-US" b="1" dirty="0"/>
              <a:t>Major functions of an Operating System (Continues…)</a:t>
            </a:r>
            <a:endParaRPr lang="LID4096" b="1" dirty="0"/>
          </a:p>
        </p:txBody>
      </p:sp>
      <p:sp>
        <p:nvSpPr>
          <p:cNvPr id="3" name="Content Placeholder 2">
            <a:extLst>
              <a:ext uri="{FF2B5EF4-FFF2-40B4-BE49-F238E27FC236}">
                <a16:creationId xmlns:a16="http://schemas.microsoft.com/office/drawing/2014/main" id="{367540F6-C157-4083-902A-6AA97CABD175}"/>
              </a:ext>
            </a:extLst>
          </p:cNvPr>
          <p:cNvSpPr>
            <a:spLocks noGrp="1"/>
          </p:cNvSpPr>
          <p:nvPr>
            <p:ph idx="1"/>
          </p:nvPr>
        </p:nvSpPr>
        <p:spPr/>
        <p:txBody>
          <a:bodyPr/>
          <a:lstStyle/>
          <a:p>
            <a:pPr marL="457200" indent="-457200">
              <a:buAutoNum type="arabicPeriod" startAt="4"/>
            </a:pPr>
            <a:r>
              <a:rPr lang="en-GB" b="1" dirty="0"/>
              <a:t>Process Management </a:t>
            </a:r>
            <a:r>
              <a:rPr lang="en-GB" dirty="0"/>
              <a:t>– </a:t>
            </a:r>
            <a:r>
              <a:rPr lang="en-US" dirty="0"/>
              <a:t>OS manages the execution of programs (processes), including starting , stopping and switching between them. </a:t>
            </a:r>
          </a:p>
          <a:p>
            <a:pPr marL="457200" indent="-457200">
              <a:buAutoNum type="arabicPeriod" startAt="4"/>
            </a:pPr>
            <a:r>
              <a:rPr lang="en-GB" b="1" dirty="0"/>
              <a:t>Memory Management </a:t>
            </a:r>
            <a:r>
              <a:rPr lang="en-GB" dirty="0"/>
              <a:t>– </a:t>
            </a:r>
            <a:r>
              <a:rPr lang="en-US" dirty="0"/>
              <a:t>OS allocates and manages computer memory, ensuring that programs have necessary space to run.</a:t>
            </a:r>
          </a:p>
          <a:p>
            <a:pPr marL="457200" indent="-457200">
              <a:buAutoNum type="arabicPeriod" startAt="4"/>
            </a:pPr>
            <a:r>
              <a:rPr lang="en-GB" b="1" dirty="0"/>
              <a:t>File System Management </a:t>
            </a:r>
            <a:r>
              <a:rPr lang="en-GB" dirty="0"/>
              <a:t>– </a:t>
            </a:r>
            <a:r>
              <a:rPr lang="en-US" dirty="0"/>
              <a:t>An OS organizes and manages files and directories on storage devices allowing users to store, retrieve and manipulate data.</a:t>
            </a:r>
            <a:endParaRPr lang="en-GB" dirty="0"/>
          </a:p>
          <a:p>
            <a:pPr marL="457200" indent="-457200">
              <a:buAutoNum type="arabicPeriod" startAt="4"/>
            </a:pPr>
            <a:endParaRPr lang="en-GB" dirty="0"/>
          </a:p>
        </p:txBody>
      </p:sp>
      <p:sp>
        <p:nvSpPr>
          <p:cNvPr id="4" name="Footer Placeholder 3">
            <a:extLst>
              <a:ext uri="{FF2B5EF4-FFF2-40B4-BE49-F238E27FC236}">
                <a16:creationId xmlns:a16="http://schemas.microsoft.com/office/drawing/2014/main" id="{0BBADFC5-8C10-4CCE-8F00-F85957C3DF14}"/>
              </a:ext>
            </a:extLst>
          </p:cNvPr>
          <p:cNvSpPr>
            <a:spLocks noGrp="1"/>
          </p:cNvSpPr>
          <p:nvPr>
            <p:ph type="ftr" sz="quarter" idx="11"/>
          </p:nvPr>
        </p:nvSpPr>
        <p:spPr/>
        <p:txBody>
          <a:bodyPr/>
          <a:lstStyle/>
          <a:p>
            <a:r>
              <a:rPr lang="en-US"/>
              <a:t>PREPARED BY JAMES SOKO FOR MR. MWASHI MATELA © 2025 KAPASA MAKASA UNIVERSITY</a:t>
            </a:r>
            <a:endParaRPr lang="LID4096"/>
          </a:p>
        </p:txBody>
      </p:sp>
      <p:sp>
        <p:nvSpPr>
          <p:cNvPr id="5" name="Slide Number Placeholder 4">
            <a:extLst>
              <a:ext uri="{FF2B5EF4-FFF2-40B4-BE49-F238E27FC236}">
                <a16:creationId xmlns:a16="http://schemas.microsoft.com/office/drawing/2014/main" id="{A1685299-886C-4BFE-8949-6F80D1BC6B63}"/>
              </a:ext>
            </a:extLst>
          </p:cNvPr>
          <p:cNvSpPr>
            <a:spLocks noGrp="1"/>
          </p:cNvSpPr>
          <p:nvPr>
            <p:ph type="sldNum" sz="quarter" idx="12"/>
          </p:nvPr>
        </p:nvSpPr>
        <p:spPr/>
        <p:txBody>
          <a:bodyPr/>
          <a:lstStyle/>
          <a:p>
            <a:fld id="{69F7B4AB-723F-4112-894E-5DEBD965FC4E}" type="slidenum">
              <a:rPr lang="LID4096" smtClean="0"/>
              <a:t>6</a:t>
            </a:fld>
            <a:endParaRPr lang="LID4096"/>
          </a:p>
        </p:txBody>
      </p:sp>
    </p:spTree>
    <p:extLst>
      <p:ext uri="{BB962C8B-B14F-4D97-AF65-F5344CB8AC3E}">
        <p14:creationId xmlns:p14="http://schemas.microsoft.com/office/powerpoint/2010/main" val="1913570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848A7-2B0A-492D-A344-0274E22806FF}"/>
              </a:ext>
            </a:extLst>
          </p:cNvPr>
          <p:cNvSpPr>
            <a:spLocks noGrp="1"/>
          </p:cNvSpPr>
          <p:nvPr>
            <p:ph type="title"/>
          </p:nvPr>
        </p:nvSpPr>
        <p:spPr/>
        <p:txBody>
          <a:bodyPr/>
          <a:lstStyle/>
          <a:p>
            <a:pPr algn="ctr"/>
            <a:r>
              <a:rPr lang="en-US" b="1" dirty="0"/>
              <a:t>Major functions of an Operating System (Continues…)</a:t>
            </a:r>
            <a:endParaRPr lang="LID4096" b="1" dirty="0"/>
          </a:p>
        </p:txBody>
      </p:sp>
      <p:sp>
        <p:nvSpPr>
          <p:cNvPr id="3" name="Content Placeholder 2">
            <a:extLst>
              <a:ext uri="{FF2B5EF4-FFF2-40B4-BE49-F238E27FC236}">
                <a16:creationId xmlns:a16="http://schemas.microsoft.com/office/drawing/2014/main" id="{44B048C4-D557-421F-99A1-479A7B2E5BDA}"/>
              </a:ext>
            </a:extLst>
          </p:cNvPr>
          <p:cNvSpPr>
            <a:spLocks noGrp="1"/>
          </p:cNvSpPr>
          <p:nvPr>
            <p:ph idx="1"/>
          </p:nvPr>
        </p:nvSpPr>
        <p:spPr/>
        <p:txBody>
          <a:bodyPr/>
          <a:lstStyle/>
          <a:p>
            <a:pPr marL="457200" indent="-457200">
              <a:buAutoNum type="arabicPeriod" startAt="7"/>
            </a:pPr>
            <a:r>
              <a:rPr lang="en-GB" b="1" dirty="0"/>
              <a:t>Device Management </a:t>
            </a:r>
            <a:r>
              <a:rPr lang="en-GB" dirty="0"/>
              <a:t>– </a:t>
            </a:r>
            <a:r>
              <a:rPr lang="en-US" dirty="0"/>
              <a:t>OS controls and manages hardware devices, such as printers , scanners and network interfaces allowing them to communicate with the computer. </a:t>
            </a:r>
          </a:p>
          <a:p>
            <a:pPr marL="457200" indent="-457200">
              <a:buAutoNum type="arabicPeriod" startAt="7"/>
            </a:pPr>
            <a:r>
              <a:rPr lang="en-GB" b="1" dirty="0"/>
              <a:t>Security and Access Control </a:t>
            </a:r>
            <a:r>
              <a:rPr lang="en-GB" dirty="0"/>
              <a:t>– </a:t>
            </a:r>
            <a:r>
              <a:rPr lang="en-US" dirty="0"/>
              <a:t>OS implements security measures to protect the system and data from unauthorized access and malicious activity.</a:t>
            </a:r>
          </a:p>
        </p:txBody>
      </p:sp>
      <p:sp>
        <p:nvSpPr>
          <p:cNvPr id="4" name="Footer Placeholder 3">
            <a:extLst>
              <a:ext uri="{FF2B5EF4-FFF2-40B4-BE49-F238E27FC236}">
                <a16:creationId xmlns:a16="http://schemas.microsoft.com/office/drawing/2014/main" id="{709841D0-360E-4BEF-ACA7-645010B2E78E}"/>
              </a:ext>
            </a:extLst>
          </p:cNvPr>
          <p:cNvSpPr>
            <a:spLocks noGrp="1"/>
          </p:cNvSpPr>
          <p:nvPr>
            <p:ph type="ftr" sz="quarter" idx="11"/>
          </p:nvPr>
        </p:nvSpPr>
        <p:spPr/>
        <p:txBody>
          <a:bodyPr/>
          <a:lstStyle/>
          <a:p>
            <a:r>
              <a:rPr lang="en-US"/>
              <a:t>PREPARED BY JAMES SOKO FOR MR. MWASHI MATELA © 2025 KAPASA MAKASA UNIVERSITY</a:t>
            </a:r>
            <a:endParaRPr lang="LID4096"/>
          </a:p>
        </p:txBody>
      </p:sp>
      <p:sp>
        <p:nvSpPr>
          <p:cNvPr id="5" name="Slide Number Placeholder 4">
            <a:extLst>
              <a:ext uri="{FF2B5EF4-FFF2-40B4-BE49-F238E27FC236}">
                <a16:creationId xmlns:a16="http://schemas.microsoft.com/office/drawing/2014/main" id="{C9A5C7C4-C439-44B3-9576-4DDE3088D8A9}"/>
              </a:ext>
            </a:extLst>
          </p:cNvPr>
          <p:cNvSpPr>
            <a:spLocks noGrp="1"/>
          </p:cNvSpPr>
          <p:nvPr>
            <p:ph type="sldNum" sz="quarter" idx="12"/>
          </p:nvPr>
        </p:nvSpPr>
        <p:spPr/>
        <p:txBody>
          <a:bodyPr/>
          <a:lstStyle/>
          <a:p>
            <a:fld id="{69F7B4AB-723F-4112-894E-5DEBD965FC4E}" type="slidenum">
              <a:rPr lang="LID4096" smtClean="0"/>
              <a:t>7</a:t>
            </a:fld>
            <a:endParaRPr lang="LID4096"/>
          </a:p>
        </p:txBody>
      </p:sp>
    </p:spTree>
    <p:extLst>
      <p:ext uri="{BB962C8B-B14F-4D97-AF65-F5344CB8AC3E}">
        <p14:creationId xmlns:p14="http://schemas.microsoft.com/office/powerpoint/2010/main" val="3627377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C12AA02-4382-40D7-BBFC-069DF3481975}"/>
              </a:ext>
            </a:extLst>
          </p:cNvPr>
          <p:cNvSpPr>
            <a:spLocks noGrp="1"/>
          </p:cNvSpPr>
          <p:nvPr>
            <p:ph type="ctrTitle"/>
          </p:nvPr>
        </p:nvSpPr>
        <p:spPr/>
        <p:txBody>
          <a:bodyPr/>
          <a:lstStyle/>
          <a:p>
            <a:pPr algn="ctr"/>
            <a:r>
              <a:rPr lang="en-GB" b="1" dirty="0"/>
              <a:t>Windows</a:t>
            </a:r>
            <a:endParaRPr lang="LID4096" b="1" dirty="0"/>
          </a:p>
        </p:txBody>
      </p:sp>
      <p:sp>
        <p:nvSpPr>
          <p:cNvPr id="5" name="Subtitle 4">
            <a:extLst>
              <a:ext uri="{FF2B5EF4-FFF2-40B4-BE49-F238E27FC236}">
                <a16:creationId xmlns:a16="http://schemas.microsoft.com/office/drawing/2014/main" id="{435B9907-C7B1-4F7E-8668-8FBEBDD21BF0}"/>
              </a:ext>
            </a:extLst>
          </p:cNvPr>
          <p:cNvSpPr>
            <a:spLocks noGrp="1"/>
          </p:cNvSpPr>
          <p:nvPr>
            <p:ph type="subTitle" idx="1"/>
          </p:nvPr>
        </p:nvSpPr>
        <p:spPr/>
        <p:txBody>
          <a:bodyPr/>
          <a:lstStyle/>
          <a:p>
            <a:pPr algn="ctr"/>
            <a:r>
              <a:rPr lang="en-GB" b="1" dirty="0"/>
              <a:t>UNIT 2</a:t>
            </a:r>
            <a:endParaRPr lang="LID4096" b="1" dirty="0"/>
          </a:p>
        </p:txBody>
      </p:sp>
    </p:spTree>
    <p:extLst>
      <p:ext uri="{BB962C8B-B14F-4D97-AF65-F5344CB8AC3E}">
        <p14:creationId xmlns:p14="http://schemas.microsoft.com/office/powerpoint/2010/main" val="1712683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ECBFF-B7EC-4336-8702-5B6D06D252DE}"/>
              </a:ext>
            </a:extLst>
          </p:cNvPr>
          <p:cNvSpPr>
            <a:spLocks noGrp="1"/>
          </p:cNvSpPr>
          <p:nvPr>
            <p:ph type="title"/>
          </p:nvPr>
        </p:nvSpPr>
        <p:spPr/>
        <p:txBody>
          <a:bodyPr/>
          <a:lstStyle/>
          <a:p>
            <a:pPr algn="ctr"/>
            <a:r>
              <a:rPr lang="en-GB" b="1" dirty="0"/>
              <a:t>History of Windows OS</a:t>
            </a:r>
            <a:endParaRPr lang="LID4096" b="1" dirty="0"/>
          </a:p>
        </p:txBody>
      </p:sp>
      <p:sp>
        <p:nvSpPr>
          <p:cNvPr id="3" name="Content Placeholder 2">
            <a:extLst>
              <a:ext uri="{FF2B5EF4-FFF2-40B4-BE49-F238E27FC236}">
                <a16:creationId xmlns:a16="http://schemas.microsoft.com/office/drawing/2014/main" id="{53E66351-A127-4C4F-9F05-B31272A231EE}"/>
              </a:ext>
            </a:extLst>
          </p:cNvPr>
          <p:cNvSpPr>
            <a:spLocks noGrp="1"/>
          </p:cNvSpPr>
          <p:nvPr>
            <p:ph idx="1"/>
          </p:nvPr>
        </p:nvSpPr>
        <p:spPr/>
        <p:txBody>
          <a:bodyPr>
            <a:normAutofit fontScale="92500" lnSpcReduction="10000"/>
          </a:bodyPr>
          <a:lstStyle/>
          <a:p>
            <a:r>
              <a:rPr lang="en-US" dirty="0"/>
              <a:t>When </a:t>
            </a:r>
            <a:r>
              <a:rPr lang="en-US" b="1" dirty="0"/>
              <a:t>IBM (International Business Machines) </a:t>
            </a:r>
            <a:r>
              <a:rPr lang="en-US" dirty="0"/>
              <a:t>began producing a Personal Computer in 1980 it created a need for an operating system for this new computer. </a:t>
            </a:r>
          </a:p>
          <a:p>
            <a:r>
              <a:rPr lang="en-US" dirty="0"/>
              <a:t>IBM approached </a:t>
            </a:r>
            <a:r>
              <a:rPr lang="en-US" b="1" dirty="0"/>
              <a:t>Microsoft</a:t>
            </a:r>
            <a:r>
              <a:rPr lang="en-US" dirty="0"/>
              <a:t> with a request. </a:t>
            </a:r>
          </a:p>
          <a:p>
            <a:r>
              <a:rPr lang="en-US" dirty="0"/>
              <a:t>Microsoft acquired an operating system by purchasing it from </a:t>
            </a:r>
            <a:r>
              <a:rPr lang="en-US" b="1" dirty="0"/>
              <a:t>Seattle Computer Products</a:t>
            </a:r>
            <a:r>
              <a:rPr lang="en-US" dirty="0"/>
              <a:t>, and then made changes to this system so that it was suited for PCs. </a:t>
            </a:r>
          </a:p>
          <a:p>
            <a:r>
              <a:rPr lang="en-US" dirty="0"/>
              <a:t>Seattle Computer Products developed the Operating System </a:t>
            </a:r>
            <a:r>
              <a:rPr lang="en-US" b="1" dirty="0"/>
              <a:t>86-DOS</a:t>
            </a:r>
            <a:r>
              <a:rPr lang="en-US" dirty="0"/>
              <a:t>. It would be bought by Microsoft and turned into </a:t>
            </a:r>
            <a:r>
              <a:rPr lang="en-US" b="1" dirty="0"/>
              <a:t>Microsoft Disk Operating System</a:t>
            </a:r>
            <a:r>
              <a:rPr lang="en-US" dirty="0"/>
              <a:t> (</a:t>
            </a:r>
            <a:r>
              <a:rPr lang="en-US" b="1" dirty="0"/>
              <a:t>MS-DOS) (1981)</a:t>
            </a:r>
            <a:r>
              <a:rPr lang="en-US" dirty="0"/>
              <a:t>, otherwise known as simply "</a:t>
            </a:r>
            <a:r>
              <a:rPr lang="en-US" b="1" dirty="0"/>
              <a:t>DOS</a:t>
            </a:r>
            <a:r>
              <a:rPr lang="en-US" dirty="0"/>
              <a:t>".</a:t>
            </a:r>
          </a:p>
        </p:txBody>
      </p:sp>
      <p:sp>
        <p:nvSpPr>
          <p:cNvPr id="4" name="Footer Placeholder 3">
            <a:extLst>
              <a:ext uri="{FF2B5EF4-FFF2-40B4-BE49-F238E27FC236}">
                <a16:creationId xmlns:a16="http://schemas.microsoft.com/office/drawing/2014/main" id="{9255666D-9664-4D02-887B-E3739BE4A2D1}"/>
              </a:ext>
            </a:extLst>
          </p:cNvPr>
          <p:cNvSpPr>
            <a:spLocks noGrp="1"/>
          </p:cNvSpPr>
          <p:nvPr>
            <p:ph type="ftr" sz="quarter" idx="11"/>
          </p:nvPr>
        </p:nvSpPr>
        <p:spPr/>
        <p:txBody>
          <a:bodyPr/>
          <a:lstStyle/>
          <a:p>
            <a:r>
              <a:rPr lang="en-US"/>
              <a:t>PREPARED BY JAMES SOKO FOR MR. MWASHI MATELA © 2025 KAPASA MAKASA UNIVERSITY</a:t>
            </a:r>
            <a:endParaRPr lang="LID4096"/>
          </a:p>
        </p:txBody>
      </p:sp>
      <p:sp>
        <p:nvSpPr>
          <p:cNvPr id="5" name="Slide Number Placeholder 4">
            <a:extLst>
              <a:ext uri="{FF2B5EF4-FFF2-40B4-BE49-F238E27FC236}">
                <a16:creationId xmlns:a16="http://schemas.microsoft.com/office/drawing/2014/main" id="{4F5DDE93-A83A-44E0-A9C2-7822C28C7439}"/>
              </a:ext>
            </a:extLst>
          </p:cNvPr>
          <p:cNvSpPr>
            <a:spLocks noGrp="1"/>
          </p:cNvSpPr>
          <p:nvPr>
            <p:ph type="sldNum" sz="quarter" idx="12"/>
          </p:nvPr>
        </p:nvSpPr>
        <p:spPr/>
        <p:txBody>
          <a:bodyPr/>
          <a:lstStyle/>
          <a:p>
            <a:fld id="{69F7B4AB-723F-4112-894E-5DEBD965FC4E}" type="slidenum">
              <a:rPr lang="LID4096" smtClean="0"/>
              <a:t>9</a:t>
            </a:fld>
            <a:endParaRPr lang="LID4096"/>
          </a:p>
        </p:txBody>
      </p:sp>
    </p:spTree>
    <p:extLst>
      <p:ext uri="{BB962C8B-B14F-4D97-AF65-F5344CB8AC3E}">
        <p14:creationId xmlns:p14="http://schemas.microsoft.com/office/powerpoint/2010/main" val="3770705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C495F-57CB-4B0D-ACBD-745ED6301DA8}"/>
              </a:ext>
            </a:extLst>
          </p:cNvPr>
          <p:cNvSpPr>
            <a:spLocks noGrp="1"/>
          </p:cNvSpPr>
          <p:nvPr>
            <p:ph type="title"/>
          </p:nvPr>
        </p:nvSpPr>
        <p:spPr/>
        <p:txBody>
          <a:bodyPr/>
          <a:lstStyle/>
          <a:p>
            <a:pPr algn="ctr"/>
            <a:r>
              <a:rPr lang="en-GB" b="1" dirty="0"/>
              <a:t>MS-DOS</a:t>
            </a:r>
            <a:endParaRPr lang="LID4096" b="1" dirty="0"/>
          </a:p>
        </p:txBody>
      </p:sp>
      <p:sp>
        <p:nvSpPr>
          <p:cNvPr id="3" name="Content Placeholder 2">
            <a:extLst>
              <a:ext uri="{FF2B5EF4-FFF2-40B4-BE49-F238E27FC236}">
                <a16:creationId xmlns:a16="http://schemas.microsoft.com/office/drawing/2014/main" id="{FDEEB588-DD62-498E-B4EE-E4B16A853C9F}"/>
              </a:ext>
            </a:extLst>
          </p:cNvPr>
          <p:cNvSpPr>
            <a:spLocks noGrp="1"/>
          </p:cNvSpPr>
          <p:nvPr>
            <p:ph idx="1"/>
          </p:nvPr>
        </p:nvSpPr>
        <p:spPr/>
        <p:txBody>
          <a:bodyPr>
            <a:normAutofit/>
          </a:bodyPr>
          <a:lstStyle/>
          <a:p>
            <a:r>
              <a:rPr lang="en-US" dirty="0"/>
              <a:t>The new Operating System got the name </a:t>
            </a:r>
            <a:r>
              <a:rPr lang="en-US" b="1" dirty="0"/>
              <a:t>MS-DOS 1.0</a:t>
            </a:r>
          </a:p>
          <a:p>
            <a:r>
              <a:rPr lang="en-US" dirty="0"/>
              <a:t>MS-DOS was an Operating System based on a simple communication between user and computer. </a:t>
            </a:r>
          </a:p>
          <a:p>
            <a:r>
              <a:rPr lang="en-US" dirty="0"/>
              <a:t>The user entered commands on the screen using the keyboard, as a mouse was used to a limited extent at this point.</a:t>
            </a:r>
          </a:p>
          <a:p>
            <a:r>
              <a:rPr lang="en-US" dirty="0"/>
              <a:t>Microsoft has made many versions of MS-DOS, with </a:t>
            </a:r>
            <a:r>
              <a:rPr lang="en-US" b="1" dirty="0"/>
              <a:t>MS-DOS 8.0 </a:t>
            </a:r>
            <a:r>
              <a:rPr lang="en-US" dirty="0"/>
              <a:t>being the latest version, which was launched in the year 2000.</a:t>
            </a:r>
          </a:p>
        </p:txBody>
      </p:sp>
      <p:sp>
        <p:nvSpPr>
          <p:cNvPr id="4" name="Footer Placeholder 3">
            <a:extLst>
              <a:ext uri="{FF2B5EF4-FFF2-40B4-BE49-F238E27FC236}">
                <a16:creationId xmlns:a16="http://schemas.microsoft.com/office/drawing/2014/main" id="{E666AA91-4511-4F71-8D68-44FC3DEED34D}"/>
              </a:ext>
            </a:extLst>
          </p:cNvPr>
          <p:cNvSpPr>
            <a:spLocks noGrp="1"/>
          </p:cNvSpPr>
          <p:nvPr>
            <p:ph type="ftr" sz="quarter" idx="11"/>
          </p:nvPr>
        </p:nvSpPr>
        <p:spPr/>
        <p:txBody>
          <a:bodyPr/>
          <a:lstStyle/>
          <a:p>
            <a:r>
              <a:rPr lang="en-US"/>
              <a:t>PREPARED BY JAMES SOKO FOR MR. MWASHI MATELA © 2025 KAPASA MAKASA UNIVERSITY</a:t>
            </a:r>
            <a:endParaRPr lang="LID4096"/>
          </a:p>
        </p:txBody>
      </p:sp>
      <p:sp>
        <p:nvSpPr>
          <p:cNvPr id="5" name="Slide Number Placeholder 4">
            <a:extLst>
              <a:ext uri="{FF2B5EF4-FFF2-40B4-BE49-F238E27FC236}">
                <a16:creationId xmlns:a16="http://schemas.microsoft.com/office/drawing/2014/main" id="{C12BBB45-1B37-4970-A24A-B5B8BCA34194}"/>
              </a:ext>
            </a:extLst>
          </p:cNvPr>
          <p:cNvSpPr>
            <a:spLocks noGrp="1"/>
          </p:cNvSpPr>
          <p:nvPr>
            <p:ph type="sldNum" sz="quarter" idx="12"/>
          </p:nvPr>
        </p:nvSpPr>
        <p:spPr/>
        <p:txBody>
          <a:bodyPr/>
          <a:lstStyle/>
          <a:p>
            <a:fld id="{69F7B4AB-723F-4112-894E-5DEBD965FC4E}" type="slidenum">
              <a:rPr lang="LID4096" smtClean="0"/>
              <a:t>10</a:t>
            </a:fld>
            <a:endParaRPr lang="LID4096"/>
          </a:p>
        </p:txBody>
      </p:sp>
    </p:spTree>
    <p:extLst>
      <p:ext uri="{BB962C8B-B14F-4D97-AF65-F5344CB8AC3E}">
        <p14:creationId xmlns:p14="http://schemas.microsoft.com/office/powerpoint/2010/main" val="1110750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EB0E9-7BC3-4A81-98FD-1D3ABA961514}"/>
              </a:ext>
            </a:extLst>
          </p:cNvPr>
          <p:cNvSpPr>
            <a:spLocks noGrp="1"/>
          </p:cNvSpPr>
          <p:nvPr>
            <p:ph type="title"/>
          </p:nvPr>
        </p:nvSpPr>
        <p:spPr/>
        <p:txBody>
          <a:bodyPr/>
          <a:lstStyle/>
          <a:p>
            <a:pPr algn="ctr"/>
            <a:r>
              <a:rPr lang="en-GB" b="1" dirty="0"/>
              <a:t>First Versions of Windows</a:t>
            </a:r>
            <a:endParaRPr lang="LID4096" b="1" dirty="0"/>
          </a:p>
        </p:txBody>
      </p:sp>
      <p:sp>
        <p:nvSpPr>
          <p:cNvPr id="3" name="Content Placeholder 2">
            <a:extLst>
              <a:ext uri="{FF2B5EF4-FFF2-40B4-BE49-F238E27FC236}">
                <a16:creationId xmlns:a16="http://schemas.microsoft.com/office/drawing/2014/main" id="{7D1EEF3D-7C98-4BCB-9EB4-AFF01AD225CF}"/>
              </a:ext>
            </a:extLst>
          </p:cNvPr>
          <p:cNvSpPr>
            <a:spLocks noGrp="1"/>
          </p:cNvSpPr>
          <p:nvPr>
            <p:ph idx="1"/>
          </p:nvPr>
        </p:nvSpPr>
        <p:spPr/>
        <p:txBody>
          <a:bodyPr>
            <a:normAutofit fontScale="85000" lnSpcReduction="20000"/>
          </a:bodyPr>
          <a:lstStyle/>
          <a:p>
            <a:r>
              <a:rPr lang="en-US" dirty="0"/>
              <a:t>The development of Operating Systems with a </a:t>
            </a:r>
            <a:r>
              <a:rPr lang="en-US" b="1" dirty="0"/>
              <a:t>Graphical User Interface </a:t>
            </a:r>
            <a:r>
              <a:rPr lang="en-US" dirty="0"/>
              <a:t>started in the 1980s, which was when Microsoft decided to give MS-DOS a Graphical User Interface. </a:t>
            </a:r>
          </a:p>
          <a:p>
            <a:r>
              <a:rPr lang="en-US" dirty="0"/>
              <a:t>Microsoft created a graphical program for this purpose called </a:t>
            </a:r>
            <a:r>
              <a:rPr lang="en-US" b="1" dirty="0"/>
              <a:t>Windows</a:t>
            </a:r>
            <a:r>
              <a:rPr lang="en-US" dirty="0"/>
              <a:t>. </a:t>
            </a:r>
          </a:p>
          <a:p>
            <a:r>
              <a:rPr lang="en-US" dirty="0"/>
              <a:t>At first, Windows was not a separate Operating System, but instead a graphical application that used MS-DOS as operating system.</a:t>
            </a:r>
          </a:p>
          <a:p>
            <a:r>
              <a:rPr lang="en-US" b="1" dirty="0"/>
              <a:t>Windows 1.0 </a:t>
            </a:r>
            <a:r>
              <a:rPr lang="en-US" dirty="0"/>
              <a:t>was the first version and came in 1983, though the first versions of Windows (1.0 and 2.0) were not a success because of being </a:t>
            </a:r>
            <a:r>
              <a:rPr lang="en-US" b="1" dirty="0"/>
              <a:t>unstable</a:t>
            </a:r>
            <a:r>
              <a:rPr lang="en-US" dirty="0"/>
              <a:t> and </a:t>
            </a:r>
            <a:r>
              <a:rPr lang="en-US" b="1" dirty="0"/>
              <a:t>simple</a:t>
            </a:r>
            <a:r>
              <a:rPr lang="en-US" dirty="0"/>
              <a:t>.</a:t>
            </a:r>
          </a:p>
          <a:p>
            <a:r>
              <a:rPr lang="en-US" dirty="0"/>
              <a:t>It was not until </a:t>
            </a:r>
            <a:r>
              <a:rPr lang="en-US" b="1" dirty="0"/>
              <a:t>Windows 3.0 </a:t>
            </a:r>
            <a:r>
              <a:rPr lang="en-US" dirty="0"/>
              <a:t>and then </a:t>
            </a:r>
            <a:r>
              <a:rPr lang="en-US" b="1" dirty="0"/>
              <a:t>Windows 3.1</a:t>
            </a:r>
            <a:r>
              <a:rPr lang="en-US" dirty="0"/>
              <a:t> that Windows became widely taken into use.</a:t>
            </a:r>
          </a:p>
        </p:txBody>
      </p:sp>
      <p:sp>
        <p:nvSpPr>
          <p:cNvPr id="4" name="Footer Placeholder 3">
            <a:extLst>
              <a:ext uri="{FF2B5EF4-FFF2-40B4-BE49-F238E27FC236}">
                <a16:creationId xmlns:a16="http://schemas.microsoft.com/office/drawing/2014/main" id="{3BB29B17-5248-40B6-9111-F09A69801E55}"/>
              </a:ext>
            </a:extLst>
          </p:cNvPr>
          <p:cNvSpPr>
            <a:spLocks noGrp="1"/>
          </p:cNvSpPr>
          <p:nvPr>
            <p:ph type="ftr" sz="quarter" idx="11"/>
          </p:nvPr>
        </p:nvSpPr>
        <p:spPr/>
        <p:txBody>
          <a:bodyPr/>
          <a:lstStyle/>
          <a:p>
            <a:r>
              <a:rPr lang="en-US"/>
              <a:t>PREPARED BY JAMES SOKO FOR MR. MWASHI MATELA © 2025 KAPASA MAKASA UNIVERSITY</a:t>
            </a:r>
            <a:endParaRPr lang="LID4096"/>
          </a:p>
        </p:txBody>
      </p:sp>
      <p:sp>
        <p:nvSpPr>
          <p:cNvPr id="5" name="Slide Number Placeholder 4">
            <a:extLst>
              <a:ext uri="{FF2B5EF4-FFF2-40B4-BE49-F238E27FC236}">
                <a16:creationId xmlns:a16="http://schemas.microsoft.com/office/drawing/2014/main" id="{35346364-813F-421A-A95A-AD366DA955FB}"/>
              </a:ext>
            </a:extLst>
          </p:cNvPr>
          <p:cNvSpPr>
            <a:spLocks noGrp="1"/>
          </p:cNvSpPr>
          <p:nvPr>
            <p:ph type="sldNum" sz="quarter" idx="12"/>
          </p:nvPr>
        </p:nvSpPr>
        <p:spPr/>
        <p:txBody>
          <a:bodyPr/>
          <a:lstStyle/>
          <a:p>
            <a:fld id="{69F7B4AB-723F-4112-894E-5DEBD965FC4E}" type="slidenum">
              <a:rPr lang="LID4096" smtClean="0"/>
              <a:t>11</a:t>
            </a:fld>
            <a:endParaRPr lang="LID4096"/>
          </a:p>
        </p:txBody>
      </p:sp>
    </p:spTree>
    <p:extLst>
      <p:ext uri="{BB962C8B-B14F-4D97-AF65-F5344CB8AC3E}">
        <p14:creationId xmlns:p14="http://schemas.microsoft.com/office/powerpoint/2010/main" val="39665208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59B4D-0202-472A-9D23-00832A5A1CC1}"/>
              </a:ext>
            </a:extLst>
          </p:cNvPr>
          <p:cNvSpPr>
            <a:spLocks noGrp="1"/>
          </p:cNvSpPr>
          <p:nvPr>
            <p:ph type="title"/>
          </p:nvPr>
        </p:nvSpPr>
        <p:spPr/>
        <p:txBody>
          <a:bodyPr/>
          <a:lstStyle/>
          <a:p>
            <a:pPr algn="ctr"/>
            <a:r>
              <a:rPr lang="en-GB" b="1" dirty="0"/>
              <a:t>Windows Versions </a:t>
            </a:r>
            <a:endParaRPr lang="LID4096" b="1" dirty="0"/>
          </a:p>
        </p:txBody>
      </p:sp>
      <p:graphicFrame>
        <p:nvGraphicFramePr>
          <p:cNvPr id="4" name="Table 4">
            <a:extLst>
              <a:ext uri="{FF2B5EF4-FFF2-40B4-BE49-F238E27FC236}">
                <a16:creationId xmlns:a16="http://schemas.microsoft.com/office/drawing/2014/main" id="{96DDB613-C943-44D3-B44D-C901B8D34F3D}"/>
              </a:ext>
            </a:extLst>
          </p:cNvPr>
          <p:cNvGraphicFramePr>
            <a:graphicFrameLocks noGrp="1"/>
          </p:cNvGraphicFramePr>
          <p:nvPr>
            <p:ph idx="1"/>
            <p:extLst>
              <p:ext uri="{D42A27DB-BD31-4B8C-83A1-F6EECF244321}">
                <p14:modId xmlns:p14="http://schemas.microsoft.com/office/powerpoint/2010/main" val="1200523074"/>
              </p:ext>
            </p:extLst>
          </p:nvPr>
        </p:nvGraphicFramePr>
        <p:xfrm>
          <a:off x="1141413" y="2249488"/>
          <a:ext cx="9906000" cy="3108960"/>
        </p:xfrm>
        <a:graphic>
          <a:graphicData uri="http://schemas.openxmlformats.org/drawingml/2006/table">
            <a:tbl>
              <a:tblPr firstRow="1" bandRow="1">
                <a:tableStyleId>{5C22544A-7EE6-4342-B048-85BDC9FD1C3A}</a:tableStyleId>
              </a:tblPr>
              <a:tblGrid>
                <a:gridCol w="3553135">
                  <a:extLst>
                    <a:ext uri="{9D8B030D-6E8A-4147-A177-3AD203B41FA5}">
                      <a16:colId xmlns:a16="http://schemas.microsoft.com/office/drawing/2014/main" val="470609138"/>
                    </a:ext>
                  </a:extLst>
                </a:gridCol>
                <a:gridCol w="1668545">
                  <a:extLst>
                    <a:ext uri="{9D8B030D-6E8A-4147-A177-3AD203B41FA5}">
                      <a16:colId xmlns:a16="http://schemas.microsoft.com/office/drawing/2014/main" val="2254205129"/>
                    </a:ext>
                  </a:extLst>
                </a:gridCol>
                <a:gridCol w="4684320">
                  <a:extLst>
                    <a:ext uri="{9D8B030D-6E8A-4147-A177-3AD203B41FA5}">
                      <a16:colId xmlns:a16="http://schemas.microsoft.com/office/drawing/2014/main" val="4228637349"/>
                    </a:ext>
                  </a:extLst>
                </a:gridCol>
              </a:tblGrid>
              <a:tr h="370840">
                <a:tc>
                  <a:txBody>
                    <a:bodyPr/>
                    <a:lstStyle/>
                    <a:p>
                      <a:r>
                        <a:rPr lang="en-GB" sz="2800" dirty="0">
                          <a:solidFill>
                            <a:schemeClr val="tx1"/>
                          </a:solidFill>
                        </a:rPr>
                        <a:t>Version</a:t>
                      </a:r>
                      <a:endParaRPr lang="LID4096" sz="2800" dirty="0">
                        <a:solidFill>
                          <a:schemeClr val="tx1"/>
                        </a:solidFill>
                      </a:endParaRPr>
                    </a:p>
                  </a:txBody>
                  <a:tcPr>
                    <a:noFill/>
                  </a:tcPr>
                </a:tc>
                <a:tc>
                  <a:txBody>
                    <a:bodyPr/>
                    <a:lstStyle/>
                    <a:p>
                      <a:r>
                        <a:rPr lang="en-GB" sz="2800" dirty="0">
                          <a:solidFill>
                            <a:schemeClr val="tx1"/>
                          </a:solidFill>
                        </a:rPr>
                        <a:t>Release</a:t>
                      </a:r>
                      <a:endParaRPr lang="LID4096" sz="2800" dirty="0">
                        <a:solidFill>
                          <a:schemeClr val="tx1"/>
                        </a:solidFill>
                      </a:endParaRPr>
                    </a:p>
                  </a:txBody>
                  <a:tcPr>
                    <a:noFill/>
                  </a:tcPr>
                </a:tc>
                <a:tc>
                  <a:txBody>
                    <a:bodyPr/>
                    <a:lstStyle/>
                    <a:p>
                      <a:r>
                        <a:rPr lang="en-GB" sz="2800" dirty="0">
                          <a:solidFill>
                            <a:schemeClr val="tx1"/>
                          </a:solidFill>
                        </a:rPr>
                        <a:t>About the version</a:t>
                      </a:r>
                      <a:endParaRPr lang="LID4096" sz="2800" dirty="0">
                        <a:solidFill>
                          <a:schemeClr val="tx1"/>
                        </a:solidFill>
                      </a:endParaRPr>
                    </a:p>
                  </a:txBody>
                  <a:tcPr>
                    <a:noFill/>
                  </a:tcPr>
                </a:tc>
                <a:extLst>
                  <a:ext uri="{0D108BD9-81ED-4DB2-BD59-A6C34878D82A}">
                    <a16:rowId xmlns:a16="http://schemas.microsoft.com/office/drawing/2014/main" val="4048571739"/>
                  </a:ext>
                </a:extLst>
              </a:tr>
              <a:tr h="370840">
                <a:tc>
                  <a:txBody>
                    <a:bodyPr/>
                    <a:lstStyle/>
                    <a:p>
                      <a:r>
                        <a:rPr lang="en-GB" sz="2800" dirty="0">
                          <a:solidFill>
                            <a:schemeClr val="tx1"/>
                          </a:solidFill>
                        </a:rPr>
                        <a:t>Windows 3.0</a:t>
                      </a:r>
                      <a:endParaRPr lang="LID4096" sz="2800" dirty="0">
                        <a:solidFill>
                          <a:schemeClr val="tx1"/>
                        </a:solidFill>
                      </a:endParaRPr>
                    </a:p>
                  </a:txBody>
                  <a:tcPr>
                    <a:noFill/>
                  </a:tcPr>
                </a:tc>
                <a:tc>
                  <a:txBody>
                    <a:bodyPr/>
                    <a:lstStyle/>
                    <a:p>
                      <a:r>
                        <a:rPr lang="en-GB" sz="2800" dirty="0">
                          <a:solidFill>
                            <a:schemeClr val="tx1"/>
                          </a:solidFill>
                        </a:rPr>
                        <a:t>1990</a:t>
                      </a:r>
                      <a:endParaRPr lang="LID4096" sz="2800" dirty="0">
                        <a:solidFill>
                          <a:schemeClr val="tx1"/>
                        </a:solidFill>
                      </a:endParaRPr>
                    </a:p>
                  </a:txBody>
                  <a:tcPr>
                    <a:noFill/>
                  </a:tcPr>
                </a:tc>
                <a:tc>
                  <a:txBody>
                    <a:bodyPr/>
                    <a:lstStyle/>
                    <a:p>
                      <a:r>
                        <a:rPr lang="en-GB" sz="2800" dirty="0">
                          <a:solidFill>
                            <a:schemeClr val="tx1"/>
                          </a:solidFill>
                        </a:rPr>
                        <a:t>Ten million copies sold</a:t>
                      </a:r>
                      <a:endParaRPr lang="LID4096" sz="2800" dirty="0">
                        <a:solidFill>
                          <a:schemeClr val="tx1"/>
                        </a:solidFill>
                      </a:endParaRPr>
                    </a:p>
                  </a:txBody>
                  <a:tcPr>
                    <a:noFill/>
                  </a:tcPr>
                </a:tc>
                <a:extLst>
                  <a:ext uri="{0D108BD9-81ED-4DB2-BD59-A6C34878D82A}">
                    <a16:rowId xmlns:a16="http://schemas.microsoft.com/office/drawing/2014/main" val="3138101652"/>
                  </a:ext>
                </a:extLst>
              </a:tr>
              <a:tr h="370840">
                <a:tc>
                  <a:txBody>
                    <a:bodyPr/>
                    <a:lstStyle/>
                    <a:p>
                      <a:r>
                        <a:rPr lang="en-GB" sz="2800" dirty="0">
                          <a:solidFill>
                            <a:schemeClr val="tx1"/>
                          </a:solidFill>
                        </a:rPr>
                        <a:t>Windows 3.1</a:t>
                      </a:r>
                      <a:endParaRPr lang="LID4096" sz="2800" dirty="0">
                        <a:solidFill>
                          <a:schemeClr val="tx1"/>
                        </a:solidFill>
                      </a:endParaRPr>
                    </a:p>
                  </a:txBody>
                  <a:tcPr>
                    <a:noFill/>
                  </a:tcPr>
                </a:tc>
                <a:tc>
                  <a:txBody>
                    <a:bodyPr/>
                    <a:lstStyle/>
                    <a:p>
                      <a:r>
                        <a:rPr lang="en-GB" sz="2800" dirty="0">
                          <a:solidFill>
                            <a:schemeClr val="tx1"/>
                          </a:solidFill>
                        </a:rPr>
                        <a:t>1991</a:t>
                      </a:r>
                      <a:endParaRPr lang="LID4096" sz="2800" dirty="0">
                        <a:solidFill>
                          <a:schemeClr val="tx1"/>
                        </a:solidFill>
                      </a:endParaRPr>
                    </a:p>
                  </a:txBody>
                  <a:tcPr>
                    <a:noFill/>
                  </a:tcPr>
                </a:tc>
                <a:tc>
                  <a:txBody>
                    <a:bodyPr/>
                    <a:lstStyle/>
                    <a:p>
                      <a:r>
                        <a:rPr lang="en-GB" sz="2800" dirty="0">
                          <a:solidFill>
                            <a:schemeClr val="tx1"/>
                          </a:solidFill>
                        </a:rPr>
                        <a:t>Windows become widespread </a:t>
                      </a:r>
                      <a:endParaRPr lang="LID4096" sz="2800" dirty="0">
                        <a:solidFill>
                          <a:schemeClr val="tx1"/>
                        </a:solidFill>
                      </a:endParaRPr>
                    </a:p>
                  </a:txBody>
                  <a:tcPr>
                    <a:noFill/>
                  </a:tcPr>
                </a:tc>
                <a:extLst>
                  <a:ext uri="{0D108BD9-81ED-4DB2-BD59-A6C34878D82A}">
                    <a16:rowId xmlns:a16="http://schemas.microsoft.com/office/drawing/2014/main" val="1742847624"/>
                  </a:ext>
                </a:extLst>
              </a:tr>
              <a:tr h="370840">
                <a:tc>
                  <a:txBody>
                    <a:bodyPr/>
                    <a:lstStyle/>
                    <a:p>
                      <a:r>
                        <a:rPr lang="en-GB" sz="2800" dirty="0">
                          <a:solidFill>
                            <a:schemeClr val="tx1"/>
                          </a:solidFill>
                        </a:rPr>
                        <a:t>Windows 95</a:t>
                      </a:r>
                      <a:endParaRPr lang="LID4096" sz="2800" dirty="0">
                        <a:solidFill>
                          <a:schemeClr val="tx1"/>
                        </a:solidFill>
                      </a:endParaRPr>
                    </a:p>
                  </a:txBody>
                  <a:tcPr>
                    <a:noFill/>
                  </a:tcPr>
                </a:tc>
                <a:tc>
                  <a:txBody>
                    <a:bodyPr/>
                    <a:lstStyle/>
                    <a:p>
                      <a:r>
                        <a:rPr lang="en-GB" sz="2800" dirty="0">
                          <a:solidFill>
                            <a:schemeClr val="tx1"/>
                          </a:solidFill>
                        </a:rPr>
                        <a:t>1995</a:t>
                      </a:r>
                      <a:endParaRPr lang="LID4096" sz="2800" dirty="0">
                        <a:solidFill>
                          <a:schemeClr val="tx1"/>
                        </a:solidFill>
                      </a:endParaRPr>
                    </a:p>
                  </a:txBody>
                  <a:tcPr>
                    <a:noFill/>
                  </a:tcPr>
                </a:tc>
                <a:tc>
                  <a:txBody>
                    <a:bodyPr/>
                    <a:lstStyle/>
                    <a:p>
                      <a:r>
                        <a:rPr lang="en-GB" sz="2800" dirty="0">
                          <a:solidFill>
                            <a:schemeClr val="tx1"/>
                          </a:solidFill>
                        </a:rPr>
                        <a:t>New and improved version</a:t>
                      </a:r>
                      <a:endParaRPr lang="LID4096" sz="2800" dirty="0">
                        <a:solidFill>
                          <a:schemeClr val="tx1"/>
                        </a:solidFill>
                      </a:endParaRPr>
                    </a:p>
                  </a:txBody>
                  <a:tcPr>
                    <a:noFill/>
                  </a:tcPr>
                </a:tc>
                <a:extLst>
                  <a:ext uri="{0D108BD9-81ED-4DB2-BD59-A6C34878D82A}">
                    <a16:rowId xmlns:a16="http://schemas.microsoft.com/office/drawing/2014/main" val="331161771"/>
                  </a:ext>
                </a:extLst>
              </a:tr>
              <a:tr h="370840">
                <a:tc>
                  <a:txBody>
                    <a:bodyPr/>
                    <a:lstStyle/>
                    <a:p>
                      <a:r>
                        <a:rPr lang="en-GB" sz="2800" dirty="0">
                          <a:solidFill>
                            <a:schemeClr val="tx1"/>
                          </a:solidFill>
                        </a:rPr>
                        <a:t>Windows 98</a:t>
                      </a:r>
                      <a:endParaRPr lang="LID4096" sz="2800" dirty="0">
                        <a:solidFill>
                          <a:schemeClr val="tx1"/>
                        </a:solidFill>
                      </a:endParaRPr>
                    </a:p>
                  </a:txBody>
                  <a:tcPr>
                    <a:noFill/>
                  </a:tcPr>
                </a:tc>
                <a:tc>
                  <a:txBody>
                    <a:bodyPr/>
                    <a:lstStyle/>
                    <a:p>
                      <a:r>
                        <a:rPr lang="en-GB" sz="2800" dirty="0">
                          <a:solidFill>
                            <a:schemeClr val="tx1"/>
                          </a:solidFill>
                        </a:rPr>
                        <a:t>1998</a:t>
                      </a:r>
                      <a:endParaRPr lang="LID4096" sz="2800" dirty="0">
                        <a:solidFill>
                          <a:schemeClr val="tx1"/>
                        </a:solidFill>
                      </a:endParaRPr>
                    </a:p>
                  </a:txBody>
                  <a:tcPr>
                    <a:noFill/>
                  </a:tcPr>
                </a:tc>
                <a:tc>
                  <a:txBody>
                    <a:bodyPr/>
                    <a:lstStyle/>
                    <a:p>
                      <a:r>
                        <a:rPr lang="en-GB" sz="2800" dirty="0">
                          <a:solidFill>
                            <a:schemeClr val="tx1"/>
                          </a:solidFill>
                        </a:rPr>
                        <a:t>Integrating the internet </a:t>
                      </a:r>
                      <a:endParaRPr lang="LID4096" sz="2800" dirty="0">
                        <a:solidFill>
                          <a:schemeClr val="tx1"/>
                        </a:solidFill>
                      </a:endParaRPr>
                    </a:p>
                  </a:txBody>
                  <a:tcPr>
                    <a:noFill/>
                  </a:tcPr>
                </a:tc>
                <a:extLst>
                  <a:ext uri="{0D108BD9-81ED-4DB2-BD59-A6C34878D82A}">
                    <a16:rowId xmlns:a16="http://schemas.microsoft.com/office/drawing/2014/main" val="1764097829"/>
                  </a:ext>
                </a:extLst>
              </a:tr>
              <a:tr h="370840">
                <a:tc>
                  <a:txBody>
                    <a:bodyPr/>
                    <a:lstStyle/>
                    <a:p>
                      <a:r>
                        <a:rPr lang="en-GB" sz="2800" dirty="0">
                          <a:solidFill>
                            <a:schemeClr val="tx1"/>
                          </a:solidFill>
                        </a:rPr>
                        <a:t>Windows Millennium </a:t>
                      </a:r>
                      <a:endParaRPr lang="LID4096" sz="2800" dirty="0">
                        <a:solidFill>
                          <a:schemeClr val="tx1"/>
                        </a:solidFill>
                      </a:endParaRPr>
                    </a:p>
                  </a:txBody>
                  <a:tcPr>
                    <a:noFill/>
                  </a:tcPr>
                </a:tc>
                <a:tc>
                  <a:txBody>
                    <a:bodyPr/>
                    <a:lstStyle/>
                    <a:p>
                      <a:r>
                        <a:rPr lang="en-GB" sz="2800" dirty="0">
                          <a:solidFill>
                            <a:schemeClr val="tx1"/>
                          </a:solidFill>
                        </a:rPr>
                        <a:t>2000</a:t>
                      </a:r>
                      <a:endParaRPr lang="LID4096" sz="2800" dirty="0">
                        <a:solidFill>
                          <a:schemeClr val="tx1"/>
                        </a:solidFill>
                      </a:endParaRPr>
                    </a:p>
                  </a:txBody>
                  <a:tcPr>
                    <a:noFill/>
                  </a:tcPr>
                </a:tc>
                <a:tc>
                  <a:txBody>
                    <a:bodyPr/>
                    <a:lstStyle/>
                    <a:p>
                      <a:r>
                        <a:rPr lang="en-GB" sz="2800" dirty="0">
                          <a:solidFill>
                            <a:schemeClr val="tx1"/>
                          </a:solidFill>
                        </a:rPr>
                        <a:t>Focus on multimedia </a:t>
                      </a:r>
                      <a:endParaRPr lang="LID4096" sz="2800" dirty="0">
                        <a:solidFill>
                          <a:schemeClr val="tx1"/>
                        </a:solidFill>
                      </a:endParaRPr>
                    </a:p>
                  </a:txBody>
                  <a:tcPr>
                    <a:noFill/>
                  </a:tcPr>
                </a:tc>
                <a:extLst>
                  <a:ext uri="{0D108BD9-81ED-4DB2-BD59-A6C34878D82A}">
                    <a16:rowId xmlns:a16="http://schemas.microsoft.com/office/drawing/2014/main" val="184978477"/>
                  </a:ext>
                </a:extLst>
              </a:tr>
            </a:tbl>
          </a:graphicData>
        </a:graphic>
      </p:graphicFrame>
      <p:sp>
        <p:nvSpPr>
          <p:cNvPr id="3" name="Footer Placeholder 2">
            <a:extLst>
              <a:ext uri="{FF2B5EF4-FFF2-40B4-BE49-F238E27FC236}">
                <a16:creationId xmlns:a16="http://schemas.microsoft.com/office/drawing/2014/main" id="{A3CC4FFB-B13E-4FA0-8D03-18779D4B757A}"/>
              </a:ext>
            </a:extLst>
          </p:cNvPr>
          <p:cNvSpPr>
            <a:spLocks noGrp="1"/>
          </p:cNvSpPr>
          <p:nvPr>
            <p:ph type="ftr" sz="quarter" idx="11"/>
          </p:nvPr>
        </p:nvSpPr>
        <p:spPr/>
        <p:txBody>
          <a:bodyPr/>
          <a:lstStyle/>
          <a:p>
            <a:r>
              <a:rPr lang="en-US"/>
              <a:t>PREPARED BY JAMES SOKO FOR MR. MWASHI MATELA © 2025 KAPASA MAKASA UNIVERSITY</a:t>
            </a:r>
            <a:endParaRPr lang="LID4096"/>
          </a:p>
        </p:txBody>
      </p:sp>
      <p:sp>
        <p:nvSpPr>
          <p:cNvPr id="5" name="Slide Number Placeholder 4">
            <a:extLst>
              <a:ext uri="{FF2B5EF4-FFF2-40B4-BE49-F238E27FC236}">
                <a16:creationId xmlns:a16="http://schemas.microsoft.com/office/drawing/2014/main" id="{D43EF600-1CDC-49A9-8E2F-B506FB6FDAA8}"/>
              </a:ext>
            </a:extLst>
          </p:cNvPr>
          <p:cNvSpPr>
            <a:spLocks noGrp="1"/>
          </p:cNvSpPr>
          <p:nvPr>
            <p:ph type="sldNum" sz="quarter" idx="12"/>
          </p:nvPr>
        </p:nvSpPr>
        <p:spPr/>
        <p:txBody>
          <a:bodyPr/>
          <a:lstStyle/>
          <a:p>
            <a:fld id="{69F7B4AB-723F-4112-894E-5DEBD965FC4E}" type="slidenum">
              <a:rPr lang="LID4096" smtClean="0"/>
              <a:t>12</a:t>
            </a:fld>
            <a:endParaRPr lang="LID4096"/>
          </a:p>
        </p:txBody>
      </p:sp>
    </p:spTree>
    <p:extLst>
      <p:ext uri="{BB962C8B-B14F-4D97-AF65-F5344CB8AC3E}">
        <p14:creationId xmlns:p14="http://schemas.microsoft.com/office/powerpoint/2010/main" val="5279283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D4398-87DA-4053-BEC7-C08EFC98B535}"/>
              </a:ext>
            </a:extLst>
          </p:cNvPr>
          <p:cNvSpPr>
            <a:spLocks noGrp="1"/>
          </p:cNvSpPr>
          <p:nvPr>
            <p:ph type="title"/>
          </p:nvPr>
        </p:nvSpPr>
        <p:spPr/>
        <p:txBody>
          <a:bodyPr/>
          <a:lstStyle/>
          <a:p>
            <a:pPr algn="ctr"/>
            <a:r>
              <a:rPr lang="en-GB" b="1" dirty="0"/>
              <a:t>Windows 9x</a:t>
            </a:r>
            <a:endParaRPr lang="LID4096" b="1" dirty="0"/>
          </a:p>
        </p:txBody>
      </p:sp>
      <p:sp>
        <p:nvSpPr>
          <p:cNvPr id="3" name="Content Placeholder 2">
            <a:extLst>
              <a:ext uri="{FF2B5EF4-FFF2-40B4-BE49-F238E27FC236}">
                <a16:creationId xmlns:a16="http://schemas.microsoft.com/office/drawing/2014/main" id="{CED926BC-F752-4A97-9CCA-4E85E1C2E442}"/>
              </a:ext>
            </a:extLst>
          </p:cNvPr>
          <p:cNvSpPr>
            <a:spLocks noGrp="1"/>
          </p:cNvSpPr>
          <p:nvPr>
            <p:ph idx="1"/>
          </p:nvPr>
        </p:nvSpPr>
        <p:spPr/>
        <p:txBody>
          <a:bodyPr>
            <a:normAutofit fontScale="92500" lnSpcReduction="20000"/>
          </a:bodyPr>
          <a:lstStyle/>
          <a:p>
            <a:pPr marL="457200" indent="-457200">
              <a:buFont typeface="+mj-lt"/>
              <a:buAutoNum type="arabicPeriod"/>
            </a:pPr>
            <a:r>
              <a:rPr lang="en-US" b="1" dirty="0"/>
              <a:t>Windows 95 </a:t>
            </a:r>
            <a:r>
              <a:rPr lang="en-US" dirty="0"/>
              <a:t>– Was a major </a:t>
            </a:r>
            <a:r>
              <a:rPr lang="en-US" b="1" dirty="0"/>
              <a:t>improvement</a:t>
            </a:r>
            <a:r>
              <a:rPr lang="en-US" dirty="0"/>
              <a:t> from earlier versions of Windows, central to this being an enhanced usability and better networking capabilities. The new features in Windows 95 were multitasking, automatic detection and configuration of equipment (Plug and Play).</a:t>
            </a:r>
          </a:p>
          <a:p>
            <a:pPr marL="457200" indent="-457200">
              <a:buFont typeface="+mj-lt"/>
              <a:buAutoNum type="arabicPeriod"/>
            </a:pPr>
            <a:r>
              <a:rPr lang="en-US" b="1" dirty="0"/>
              <a:t>Windows 98 </a:t>
            </a:r>
            <a:r>
              <a:rPr lang="en-US" dirty="0"/>
              <a:t>– Was an upgrade and improvement of Windows 95, as Microsoft wanted to implement the </a:t>
            </a:r>
            <a:r>
              <a:rPr lang="en-US" b="1" dirty="0"/>
              <a:t>Internet</a:t>
            </a:r>
            <a:r>
              <a:rPr lang="en-US" dirty="0"/>
              <a:t> in Windows at this time. As a result, Windows 98 contained </a:t>
            </a:r>
            <a:r>
              <a:rPr lang="en-US" b="1" dirty="0"/>
              <a:t>Internet Explorer </a:t>
            </a:r>
            <a:r>
              <a:rPr lang="en-US" dirty="0"/>
              <a:t>(known as </a:t>
            </a:r>
            <a:r>
              <a:rPr lang="en-US" b="1" dirty="0"/>
              <a:t>Edge</a:t>
            </a:r>
            <a:r>
              <a:rPr lang="en-US" dirty="0"/>
              <a:t>) and other programs for the Internet.</a:t>
            </a:r>
          </a:p>
          <a:p>
            <a:pPr marL="457200" indent="-457200">
              <a:buFont typeface="+mj-lt"/>
              <a:buAutoNum type="arabicPeriod"/>
            </a:pPr>
            <a:r>
              <a:rPr lang="en-US" b="1" dirty="0"/>
              <a:t>Windows Millennium </a:t>
            </a:r>
            <a:r>
              <a:rPr lang="en-US" dirty="0"/>
              <a:t>– Was the last release in the series based on the Windows 9x platform, and was aimed at the domestic market with a focus on </a:t>
            </a:r>
            <a:r>
              <a:rPr lang="en-US" b="1" dirty="0"/>
              <a:t>multimedia</a:t>
            </a:r>
            <a:r>
              <a:rPr lang="en-US" dirty="0"/>
              <a:t>.</a:t>
            </a:r>
          </a:p>
          <a:p>
            <a:pPr marL="457200" indent="-457200">
              <a:buFont typeface="+mj-lt"/>
              <a:buAutoNum type="arabicPeriod"/>
            </a:pPr>
            <a:endParaRPr lang="en-US" dirty="0"/>
          </a:p>
          <a:p>
            <a:pPr marL="457200" indent="-457200">
              <a:buFont typeface="+mj-lt"/>
              <a:buAutoNum type="arabicPeriod"/>
            </a:pPr>
            <a:endParaRPr lang="LID4096" dirty="0"/>
          </a:p>
        </p:txBody>
      </p:sp>
      <p:sp>
        <p:nvSpPr>
          <p:cNvPr id="4" name="Footer Placeholder 3">
            <a:extLst>
              <a:ext uri="{FF2B5EF4-FFF2-40B4-BE49-F238E27FC236}">
                <a16:creationId xmlns:a16="http://schemas.microsoft.com/office/drawing/2014/main" id="{8289A104-F120-4E20-AE1F-08E5939E04BF}"/>
              </a:ext>
            </a:extLst>
          </p:cNvPr>
          <p:cNvSpPr>
            <a:spLocks noGrp="1"/>
          </p:cNvSpPr>
          <p:nvPr>
            <p:ph type="ftr" sz="quarter" idx="11"/>
          </p:nvPr>
        </p:nvSpPr>
        <p:spPr/>
        <p:txBody>
          <a:bodyPr/>
          <a:lstStyle/>
          <a:p>
            <a:r>
              <a:rPr lang="en-US"/>
              <a:t>PREPARED BY JAMES SOKO FOR MR. MWASHI MATELA © 2025 KAPASA MAKASA UNIVERSITY</a:t>
            </a:r>
            <a:endParaRPr lang="LID4096"/>
          </a:p>
        </p:txBody>
      </p:sp>
      <p:sp>
        <p:nvSpPr>
          <p:cNvPr id="5" name="Slide Number Placeholder 4">
            <a:extLst>
              <a:ext uri="{FF2B5EF4-FFF2-40B4-BE49-F238E27FC236}">
                <a16:creationId xmlns:a16="http://schemas.microsoft.com/office/drawing/2014/main" id="{56F59124-3937-45B8-8093-BFF8F6F08E3A}"/>
              </a:ext>
            </a:extLst>
          </p:cNvPr>
          <p:cNvSpPr>
            <a:spLocks noGrp="1"/>
          </p:cNvSpPr>
          <p:nvPr>
            <p:ph type="sldNum" sz="quarter" idx="12"/>
          </p:nvPr>
        </p:nvSpPr>
        <p:spPr/>
        <p:txBody>
          <a:bodyPr/>
          <a:lstStyle/>
          <a:p>
            <a:fld id="{69F7B4AB-723F-4112-894E-5DEBD965FC4E}" type="slidenum">
              <a:rPr lang="LID4096" smtClean="0"/>
              <a:t>13</a:t>
            </a:fld>
            <a:endParaRPr lang="LID4096"/>
          </a:p>
        </p:txBody>
      </p:sp>
    </p:spTree>
    <p:extLst>
      <p:ext uri="{BB962C8B-B14F-4D97-AF65-F5344CB8AC3E}">
        <p14:creationId xmlns:p14="http://schemas.microsoft.com/office/powerpoint/2010/main" val="32736977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B2DE6-739C-45B9-8144-594D2F650796}"/>
              </a:ext>
            </a:extLst>
          </p:cNvPr>
          <p:cNvSpPr>
            <a:spLocks noGrp="1"/>
          </p:cNvSpPr>
          <p:nvPr>
            <p:ph type="title"/>
          </p:nvPr>
        </p:nvSpPr>
        <p:spPr/>
        <p:txBody>
          <a:bodyPr/>
          <a:lstStyle/>
          <a:p>
            <a:pPr algn="ctr"/>
            <a:r>
              <a:rPr lang="en-GB" b="1" dirty="0"/>
              <a:t>Windows NT</a:t>
            </a:r>
            <a:endParaRPr lang="LID4096" b="1" dirty="0"/>
          </a:p>
        </p:txBody>
      </p:sp>
      <p:sp>
        <p:nvSpPr>
          <p:cNvPr id="3" name="Content Placeholder 2">
            <a:extLst>
              <a:ext uri="{FF2B5EF4-FFF2-40B4-BE49-F238E27FC236}">
                <a16:creationId xmlns:a16="http://schemas.microsoft.com/office/drawing/2014/main" id="{8BC47625-6077-4301-9F4D-6E5313734534}"/>
              </a:ext>
            </a:extLst>
          </p:cNvPr>
          <p:cNvSpPr>
            <a:spLocks noGrp="1"/>
          </p:cNvSpPr>
          <p:nvPr>
            <p:ph idx="1"/>
          </p:nvPr>
        </p:nvSpPr>
        <p:spPr/>
        <p:txBody>
          <a:bodyPr>
            <a:normAutofit/>
          </a:bodyPr>
          <a:lstStyle/>
          <a:p>
            <a:r>
              <a:rPr lang="en-US" dirty="0"/>
              <a:t>MS-DOS could not handle a lot of memory, and could not run multiple applications simultaneously, so there was a need for a new Operating System.</a:t>
            </a:r>
          </a:p>
          <a:p>
            <a:r>
              <a:rPr lang="en-US" dirty="0"/>
              <a:t> This led to the development of </a:t>
            </a:r>
            <a:r>
              <a:rPr lang="en-US" b="1" dirty="0"/>
              <a:t>Windows New Technology (NT).</a:t>
            </a:r>
          </a:p>
          <a:p>
            <a:r>
              <a:rPr lang="en-US" dirty="0"/>
              <a:t>Microsoft released the first version of Windows NT in 1993 and called it </a:t>
            </a:r>
            <a:r>
              <a:rPr lang="en-US" b="1" dirty="0"/>
              <a:t>Windows NT 3.1</a:t>
            </a:r>
            <a:r>
              <a:rPr lang="en-US" dirty="0"/>
              <a:t>, because it came at the time when Windows 3.1 was in use. </a:t>
            </a:r>
          </a:p>
          <a:p>
            <a:r>
              <a:rPr lang="en-US" dirty="0"/>
              <a:t>Windows NT 3.1 had the same appearance and user interface as Windows 3.1, but they were completely different Operating Systems.</a:t>
            </a:r>
          </a:p>
        </p:txBody>
      </p:sp>
      <p:sp>
        <p:nvSpPr>
          <p:cNvPr id="4" name="Footer Placeholder 3">
            <a:extLst>
              <a:ext uri="{FF2B5EF4-FFF2-40B4-BE49-F238E27FC236}">
                <a16:creationId xmlns:a16="http://schemas.microsoft.com/office/drawing/2014/main" id="{C56015E0-5B21-4C67-8ACC-F596F763863F}"/>
              </a:ext>
            </a:extLst>
          </p:cNvPr>
          <p:cNvSpPr>
            <a:spLocks noGrp="1"/>
          </p:cNvSpPr>
          <p:nvPr>
            <p:ph type="ftr" sz="quarter" idx="11"/>
          </p:nvPr>
        </p:nvSpPr>
        <p:spPr/>
        <p:txBody>
          <a:bodyPr/>
          <a:lstStyle/>
          <a:p>
            <a:r>
              <a:rPr lang="en-US"/>
              <a:t>PREPARED BY JAMES SOKO FOR MR. MWASHI MATELA © 2025 KAPASA MAKASA UNIVERSITY</a:t>
            </a:r>
            <a:endParaRPr lang="LID4096"/>
          </a:p>
        </p:txBody>
      </p:sp>
      <p:sp>
        <p:nvSpPr>
          <p:cNvPr id="5" name="Slide Number Placeholder 4">
            <a:extLst>
              <a:ext uri="{FF2B5EF4-FFF2-40B4-BE49-F238E27FC236}">
                <a16:creationId xmlns:a16="http://schemas.microsoft.com/office/drawing/2014/main" id="{2B3A6A1E-A96F-4EF3-8400-8C1E4AE3E336}"/>
              </a:ext>
            </a:extLst>
          </p:cNvPr>
          <p:cNvSpPr>
            <a:spLocks noGrp="1"/>
          </p:cNvSpPr>
          <p:nvPr>
            <p:ph type="sldNum" sz="quarter" idx="12"/>
          </p:nvPr>
        </p:nvSpPr>
        <p:spPr/>
        <p:txBody>
          <a:bodyPr/>
          <a:lstStyle/>
          <a:p>
            <a:fld id="{69F7B4AB-723F-4112-894E-5DEBD965FC4E}" type="slidenum">
              <a:rPr lang="LID4096" smtClean="0"/>
              <a:t>14</a:t>
            </a:fld>
            <a:endParaRPr lang="LID4096"/>
          </a:p>
        </p:txBody>
      </p:sp>
    </p:spTree>
    <p:extLst>
      <p:ext uri="{BB962C8B-B14F-4D97-AF65-F5344CB8AC3E}">
        <p14:creationId xmlns:p14="http://schemas.microsoft.com/office/powerpoint/2010/main" val="26382862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BA5B1-D7C2-42D8-B28B-39843E1F0C71}"/>
              </a:ext>
            </a:extLst>
          </p:cNvPr>
          <p:cNvSpPr>
            <a:spLocks noGrp="1"/>
          </p:cNvSpPr>
          <p:nvPr>
            <p:ph type="title"/>
          </p:nvPr>
        </p:nvSpPr>
        <p:spPr/>
        <p:txBody>
          <a:bodyPr/>
          <a:lstStyle/>
          <a:p>
            <a:pPr algn="ctr"/>
            <a:r>
              <a:rPr lang="en-GB" b="1" dirty="0"/>
              <a:t>Windows NT 4.0</a:t>
            </a:r>
            <a:endParaRPr lang="LID4096" b="1" dirty="0"/>
          </a:p>
        </p:txBody>
      </p:sp>
      <p:sp>
        <p:nvSpPr>
          <p:cNvPr id="3" name="Content Placeholder 2">
            <a:extLst>
              <a:ext uri="{FF2B5EF4-FFF2-40B4-BE49-F238E27FC236}">
                <a16:creationId xmlns:a16="http://schemas.microsoft.com/office/drawing/2014/main" id="{4AC7A04C-2B7E-42F9-816A-597B18C19184}"/>
              </a:ext>
            </a:extLst>
          </p:cNvPr>
          <p:cNvSpPr>
            <a:spLocks noGrp="1"/>
          </p:cNvSpPr>
          <p:nvPr>
            <p:ph idx="1"/>
          </p:nvPr>
        </p:nvSpPr>
        <p:spPr/>
        <p:txBody>
          <a:bodyPr>
            <a:normAutofit lnSpcReduction="10000"/>
          </a:bodyPr>
          <a:lstStyle/>
          <a:p>
            <a:r>
              <a:rPr lang="en-US" b="1" dirty="0"/>
              <a:t>Windows NT 4.0 </a:t>
            </a:r>
            <a:r>
              <a:rPr lang="en-US" dirty="0"/>
              <a:t>came in 1996, with the two basic versions: </a:t>
            </a:r>
          </a:p>
          <a:p>
            <a:pPr marL="457200" indent="-457200">
              <a:buFont typeface="+mj-lt"/>
              <a:buAutoNum type="arabicPeriod"/>
            </a:pPr>
            <a:r>
              <a:rPr lang="en-US" b="1" dirty="0"/>
              <a:t>Windows NT Server</a:t>
            </a:r>
          </a:p>
          <a:p>
            <a:pPr>
              <a:buFont typeface="Wingdings" panose="05000000000000000000" pitchFamily="2" charset="2"/>
              <a:buChar char="ü"/>
            </a:pPr>
            <a:r>
              <a:rPr lang="en-US" dirty="0"/>
              <a:t>Was a network operating system designed to be used on servers in local networks. </a:t>
            </a:r>
          </a:p>
          <a:p>
            <a:pPr marL="457200" indent="-457200">
              <a:buAutoNum type="arabicPeriod" startAt="2"/>
            </a:pPr>
            <a:r>
              <a:rPr lang="en-US" b="1" dirty="0"/>
              <a:t>Windows NT Workstation</a:t>
            </a:r>
          </a:p>
          <a:p>
            <a:pPr>
              <a:buFont typeface="Wingdings" panose="05000000000000000000" pitchFamily="2" charset="2"/>
              <a:buChar char="ü"/>
            </a:pPr>
            <a:r>
              <a:rPr lang="en-US" dirty="0"/>
              <a:t>Was designed for use on both home computers and workstations, but was primarily used by companies as workstations in local networks.</a:t>
            </a:r>
          </a:p>
          <a:p>
            <a:endParaRPr lang="LID4096" dirty="0"/>
          </a:p>
        </p:txBody>
      </p:sp>
      <p:sp>
        <p:nvSpPr>
          <p:cNvPr id="4" name="Footer Placeholder 3">
            <a:extLst>
              <a:ext uri="{FF2B5EF4-FFF2-40B4-BE49-F238E27FC236}">
                <a16:creationId xmlns:a16="http://schemas.microsoft.com/office/drawing/2014/main" id="{FEEC47ED-B7F7-4919-ADA9-99E4F1E563BF}"/>
              </a:ext>
            </a:extLst>
          </p:cNvPr>
          <p:cNvSpPr>
            <a:spLocks noGrp="1"/>
          </p:cNvSpPr>
          <p:nvPr>
            <p:ph type="ftr" sz="quarter" idx="11"/>
          </p:nvPr>
        </p:nvSpPr>
        <p:spPr/>
        <p:txBody>
          <a:bodyPr/>
          <a:lstStyle/>
          <a:p>
            <a:r>
              <a:rPr lang="en-US"/>
              <a:t>PREPARED BY JAMES SOKO FOR MR. MWASHI MATELA © 2025 KAPASA MAKASA UNIVERSITY</a:t>
            </a:r>
            <a:endParaRPr lang="LID4096"/>
          </a:p>
        </p:txBody>
      </p:sp>
      <p:sp>
        <p:nvSpPr>
          <p:cNvPr id="5" name="Slide Number Placeholder 4">
            <a:extLst>
              <a:ext uri="{FF2B5EF4-FFF2-40B4-BE49-F238E27FC236}">
                <a16:creationId xmlns:a16="http://schemas.microsoft.com/office/drawing/2014/main" id="{9F96F870-3A79-4390-A14B-DF7BF3E5950F}"/>
              </a:ext>
            </a:extLst>
          </p:cNvPr>
          <p:cNvSpPr>
            <a:spLocks noGrp="1"/>
          </p:cNvSpPr>
          <p:nvPr>
            <p:ph type="sldNum" sz="quarter" idx="12"/>
          </p:nvPr>
        </p:nvSpPr>
        <p:spPr/>
        <p:txBody>
          <a:bodyPr/>
          <a:lstStyle/>
          <a:p>
            <a:fld id="{69F7B4AB-723F-4112-894E-5DEBD965FC4E}" type="slidenum">
              <a:rPr lang="LID4096" smtClean="0"/>
              <a:t>15</a:t>
            </a:fld>
            <a:endParaRPr lang="LID4096"/>
          </a:p>
        </p:txBody>
      </p:sp>
    </p:spTree>
    <p:extLst>
      <p:ext uri="{BB962C8B-B14F-4D97-AF65-F5344CB8AC3E}">
        <p14:creationId xmlns:p14="http://schemas.microsoft.com/office/powerpoint/2010/main" val="12224390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E0F9D-06FE-49BF-9312-9AADE3FEF738}"/>
              </a:ext>
            </a:extLst>
          </p:cNvPr>
          <p:cNvSpPr>
            <a:spLocks noGrp="1"/>
          </p:cNvSpPr>
          <p:nvPr>
            <p:ph type="title"/>
          </p:nvPr>
        </p:nvSpPr>
        <p:spPr/>
        <p:txBody>
          <a:bodyPr/>
          <a:lstStyle/>
          <a:p>
            <a:pPr algn="ctr"/>
            <a:r>
              <a:rPr lang="en-GB" b="1" dirty="0"/>
              <a:t>Windows NT 4.0 (Continues…)</a:t>
            </a:r>
            <a:endParaRPr lang="LID4096" dirty="0"/>
          </a:p>
        </p:txBody>
      </p:sp>
      <p:sp>
        <p:nvSpPr>
          <p:cNvPr id="3" name="Content Placeholder 2">
            <a:extLst>
              <a:ext uri="{FF2B5EF4-FFF2-40B4-BE49-F238E27FC236}">
                <a16:creationId xmlns:a16="http://schemas.microsoft.com/office/drawing/2014/main" id="{7FE7BFF3-FC76-4D3D-BA46-5CBB4F700D1B}"/>
              </a:ext>
            </a:extLst>
          </p:cNvPr>
          <p:cNvSpPr>
            <a:spLocks noGrp="1"/>
          </p:cNvSpPr>
          <p:nvPr>
            <p:ph idx="1"/>
          </p:nvPr>
        </p:nvSpPr>
        <p:spPr/>
        <p:txBody>
          <a:bodyPr>
            <a:normAutofit fontScale="92500" lnSpcReduction="20000"/>
          </a:bodyPr>
          <a:lstStyle/>
          <a:p>
            <a:r>
              <a:rPr lang="en-US" b="1" dirty="0"/>
              <a:t>Windows NT 4.0 </a:t>
            </a:r>
            <a:r>
              <a:rPr lang="en-US" dirty="0"/>
              <a:t>was an advanced </a:t>
            </a:r>
            <a:r>
              <a:rPr lang="en-US" b="1" dirty="0"/>
              <a:t>32-bit</a:t>
            </a:r>
            <a:r>
              <a:rPr lang="en-US" dirty="0"/>
              <a:t> Operating System designed to be </a:t>
            </a:r>
            <a:r>
              <a:rPr lang="en-US" b="1" dirty="0"/>
              <a:t>secure</a:t>
            </a:r>
            <a:r>
              <a:rPr lang="en-US" dirty="0"/>
              <a:t>, </a:t>
            </a:r>
            <a:r>
              <a:rPr lang="en-US" b="1" dirty="0"/>
              <a:t>stable</a:t>
            </a:r>
            <a:r>
              <a:rPr lang="en-US" dirty="0"/>
              <a:t> and </a:t>
            </a:r>
            <a:r>
              <a:rPr lang="en-US" b="1" dirty="0"/>
              <a:t>flexible</a:t>
            </a:r>
            <a:r>
              <a:rPr lang="en-US" dirty="0"/>
              <a:t>, thus making it possible to use </a:t>
            </a:r>
            <a:r>
              <a:rPr lang="en-US" b="1" dirty="0"/>
              <a:t>multiple processors </a:t>
            </a:r>
            <a:r>
              <a:rPr lang="en-US" dirty="0"/>
              <a:t>on the same computer. </a:t>
            </a:r>
          </a:p>
          <a:p>
            <a:r>
              <a:rPr lang="en-US" dirty="0"/>
              <a:t>Windows NT 4.0 could utilize a large memory and large hard drives, which meant that the operating system was well </a:t>
            </a:r>
            <a:r>
              <a:rPr lang="en-US" b="1" dirty="0"/>
              <a:t>scalable</a:t>
            </a:r>
            <a:r>
              <a:rPr lang="en-US" dirty="0"/>
              <a:t>.</a:t>
            </a:r>
          </a:p>
          <a:p>
            <a:r>
              <a:rPr lang="en-US" dirty="0"/>
              <a:t>Windows NT introduced </a:t>
            </a:r>
            <a:r>
              <a:rPr lang="en-US" b="1" dirty="0"/>
              <a:t>users</a:t>
            </a:r>
            <a:r>
              <a:rPr lang="en-US" dirty="0"/>
              <a:t> as a part of the system’s security model, so in order to use a workstation in a modern Windows system you must be a registered user. </a:t>
            </a:r>
          </a:p>
          <a:p>
            <a:r>
              <a:rPr lang="en-US" dirty="0"/>
              <a:t>One can define multiple users on a workstation, and each user has certain rights to files and to access system resources in general.</a:t>
            </a:r>
          </a:p>
          <a:p>
            <a:pPr marL="0" indent="0">
              <a:buNone/>
            </a:pPr>
            <a:endParaRPr lang="LID4096" dirty="0"/>
          </a:p>
        </p:txBody>
      </p:sp>
      <p:sp>
        <p:nvSpPr>
          <p:cNvPr id="4" name="Footer Placeholder 3">
            <a:extLst>
              <a:ext uri="{FF2B5EF4-FFF2-40B4-BE49-F238E27FC236}">
                <a16:creationId xmlns:a16="http://schemas.microsoft.com/office/drawing/2014/main" id="{66706EEB-B816-49BA-987E-82D05DD759A8}"/>
              </a:ext>
            </a:extLst>
          </p:cNvPr>
          <p:cNvSpPr>
            <a:spLocks noGrp="1"/>
          </p:cNvSpPr>
          <p:nvPr>
            <p:ph type="ftr" sz="quarter" idx="11"/>
          </p:nvPr>
        </p:nvSpPr>
        <p:spPr/>
        <p:txBody>
          <a:bodyPr/>
          <a:lstStyle/>
          <a:p>
            <a:r>
              <a:rPr lang="en-US"/>
              <a:t>PREPARED BY JAMES SOKO FOR MR. MWASHI MATELA © 2025 KAPASA MAKASA UNIVERSITY</a:t>
            </a:r>
            <a:endParaRPr lang="LID4096"/>
          </a:p>
        </p:txBody>
      </p:sp>
      <p:sp>
        <p:nvSpPr>
          <p:cNvPr id="5" name="Slide Number Placeholder 4">
            <a:extLst>
              <a:ext uri="{FF2B5EF4-FFF2-40B4-BE49-F238E27FC236}">
                <a16:creationId xmlns:a16="http://schemas.microsoft.com/office/drawing/2014/main" id="{279F6D0F-42C1-4509-9460-F048BCEC34E7}"/>
              </a:ext>
            </a:extLst>
          </p:cNvPr>
          <p:cNvSpPr>
            <a:spLocks noGrp="1"/>
          </p:cNvSpPr>
          <p:nvPr>
            <p:ph type="sldNum" sz="quarter" idx="12"/>
          </p:nvPr>
        </p:nvSpPr>
        <p:spPr/>
        <p:txBody>
          <a:bodyPr/>
          <a:lstStyle/>
          <a:p>
            <a:fld id="{69F7B4AB-723F-4112-894E-5DEBD965FC4E}" type="slidenum">
              <a:rPr lang="LID4096" smtClean="0"/>
              <a:t>16</a:t>
            </a:fld>
            <a:endParaRPr lang="LID4096"/>
          </a:p>
        </p:txBody>
      </p:sp>
    </p:spTree>
    <p:extLst>
      <p:ext uri="{BB962C8B-B14F-4D97-AF65-F5344CB8AC3E}">
        <p14:creationId xmlns:p14="http://schemas.microsoft.com/office/powerpoint/2010/main" val="26778334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8B318-D5A5-4341-B3D3-FC61E6D8055E}"/>
              </a:ext>
            </a:extLst>
          </p:cNvPr>
          <p:cNvSpPr>
            <a:spLocks noGrp="1"/>
          </p:cNvSpPr>
          <p:nvPr>
            <p:ph type="title"/>
          </p:nvPr>
        </p:nvSpPr>
        <p:spPr/>
        <p:txBody>
          <a:bodyPr/>
          <a:lstStyle/>
          <a:p>
            <a:pPr algn="ctr"/>
            <a:r>
              <a:rPr lang="en-GB" b="1" dirty="0"/>
              <a:t>Windows NT Versions</a:t>
            </a:r>
            <a:endParaRPr lang="LID4096" b="1" dirty="0"/>
          </a:p>
        </p:txBody>
      </p:sp>
      <p:graphicFrame>
        <p:nvGraphicFramePr>
          <p:cNvPr id="4" name="Table 4">
            <a:extLst>
              <a:ext uri="{FF2B5EF4-FFF2-40B4-BE49-F238E27FC236}">
                <a16:creationId xmlns:a16="http://schemas.microsoft.com/office/drawing/2014/main" id="{1BDEA2D3-D6D6-4A54-A8EB-B2EFB272AA3B}"/>
              </a:ext>
            </a:extLst>
          </p:cNvPr>
          <p:cNvGraphicFramePr>
            <a:graphicFrameLocks noGrp="1"/>
          </p:cNvGraphicFramePr>
          <p:nvPr>
            <p:ph idx="1"/>
            <p:extLst>
              <p:ext uri="{D42A27DB-BD31-4B8C-83A1-F6EECF244321}">
                <p14:modId xmlns:p14="http://schemas.microsoft.com/office/powerpoint/2010/main" val="3291526335"/>
              </p:ext>
            </p:extLst>
          </p:nvPr>
        </p:nvGraphicFramePr>
        <p:xfrm>
          <a:off x="1141413" y="2249488"/>
          <a:ext cx="9906000" cy="4023360"/>
        </p:xfrm>
        <a:graphic>
          <a:graphicData uri="http://schemas.openxmlformats.org/drawingml/2006/table">
            <a:tbl>
              <a:tblPr firstRow="1" bandRow="1">
                <a:tableStyleId>{5C22544A-7EE6-4342-B048-85BDC9FD1C3A}</a:tableStyleId>
              </a:tblPr>
              <a:tblGrid>
                <a:gridCol w="2214529">
                  <a:extLst>
                    <a:ext uri="{9D8B030D-6E8A-4147-A177-3AD203B41FA5}">
                      <a16:colId xmlns:a16="http://schemas.microsoft.com/office/drawing/2014/main" val="2405391751"/>
                    </a:ext>
                  </a:extLst>
                </a:gridCol>
                <a:gridCol w="1310326">
                  <a:extLst>
                    <a:ext uri="{9D8B030D-6E8A-4147-A177-3AD203B41FA5}">
                      <a16:colId xmlns:a16="http://schemas.microsoft.com/office/drawing/2014/main" val="1317008607"/>
                    </a:ext>
                  </a:extLst>
                </a:gridCol>
                <a:gridCol w="6381145">
                  <a:extLst>
                    <a:ext uri="{9D8B030D-6E8A-4147-A177-3AD203B41FA5}">
                      <a16:colId xmlns:a16="http://schemas.microsoft.com/office/drawing/2014/main" val="1166021888"/>
                    </a:ext>
                  </a:extLst>
                </a:gridCol>
              </a:tblGrid>
              <a:tr h="370840">
                <a:tc>
                  <a:txBody>
                    <a:bodyPr/>
                    <a:lstStyle/>
                    <a:p>
                      <a:r>
                        <a:rPr lang="en-GB" sz="2400" dirty="0">
                          <a:solidFill>
                            <a:schemeClr val="tx1"/>
                          </a:solidFill>
                        </a:rPr>
                        <a:t>Version</a:t>
                      </a:r>
                      <a:endParaRPr lang="LID4096" sz="2400" dirty="0">
                        <a:solidFill>
                          <a:schemeClr val="tx1"/>
                        </a:solidFill>
                      </a:endParaRPr>
                    </a:p>
                  </a:txBody>
                  <a:tcPr>
                    <a:noFill/>
                  </a:tcPr>
                </a:tc>
                <a:tc>
                  <a:txBody>
                    <a:bodyPr/>
                    <a:lstStyle/>
                    <a:p>
                      <a:r>
                        <a:rPr lang="en-GB" sz="2400" dirty="0">
                          <a:solidFill>
                            <a:schemeClr val="tx1"/>
                          </a:solidFill>
                        </a:rPr>
                        <a:t>Release</a:t>
                      </a:r>
                      <a:endParaRPr lang="LID4096" sz="2400" dirty="0">
                        <a:solidFill>
                          <a:schemeClr val="tx1"/>
                        </a:solidFill>
                      </a:endParaRPr>
                    </a:p>
                  </a:txBody>
                  <a:tcPr>
                    <a:noFill/>
                  </a:tcPr>
                </a:tc>
                <a:tc>
                  <a:txBody>
                    <a:bodyPr/>
                    <a:lstStyle/>
                    <a:p>
                      <a:r>
                        <a:rPr lang="en-GB" sz="2400" dirty="0">
                          <a:solidFill>
                            <a:schemeClr val="tx1"/>
                          </a:solidFill>
                        </a:rPr>
                        <a:t>About release </a:t>
                      </a:r>
                      <a:endParaRPr lang="LID4096" sz="2400" dirty="0">
                        <a:solidFill>
                          <a:schemeClr val="tx1"/>
                        </a:solidFill>
                      </a:endParaRPr>
                    </a:p>
                  </a:txBody>
                  <a:tcPr>
                    <a:noFill/>
                  </a:tcPr>
                </a:tc>
                <a:extLst>
                  <a:ext uri="{0D108BD9-81ED-4DB2-BD59-A6C34878D82A}">
                    <a16:rowId xmlns:a16="http://schemas.microsoft.com/office/drawing/2014/main" val="684088029"/>
                  </a:ext>
                </a:extLst>
              </a:tr>
              <a:tr h="370840">
                <a:tc>
                  <a:txBody>
                    <a:bodyPr/>
                    <a:lstStyle/>
                    <a:p>
                      <a:r>
                        <a:rPr lang="en-GB" sz="2400" dirty="0">
                          <a:solidFill>
                            <a:schemeClr val="tx1"/>
                          </a:solidFill>
                        </a:rPr>
                        <a:t>Windows 2000</a:t>
                      </a:r>
                      <a:endParaRPr lang="LID4096" sz="2400" dirty="0">
                        <a:solidFill>
                          <a:schemeClr val="tx1"/>
                        </a:solidFill>
                      </a:endParaRPr>
                    </a:p>
                  </a:txBody>
                  <a:tcPr>
                    <a:noFill/>
                  </a:tcPr>
                </a:tc>
                <a:tc>
                  <a:txBody>
                    <a:bodyPr/>
                    <a:lstStyle/>
                    <a:p>
                      <a:r>
                        <a:rPr lang="en-GB" sz="2400" dirty="0">
                          <a:solidFill>
                            <a:schemeClr val="tx1"/>
                          </a:solidFill>
                        </a:rPr>
                        <a:t>2000</a:t>
                      </a:r>
                      <a:endParaRPr lang="LID4096" sz="2400" dirty="0">
                        <a:solidFill>
                          <a:schemeClr val="tx1"/>
                        </a:solidFill>
                      </a:endParaRPr>
                    </a:p>
                  </a:txBody>
                  <a:tcPr>
                    <a:noFill/>
                  </a:tcPr>
                </a:tc>
                <a:tc>
                  <a:txBody>
                    <a:bodyPr/>
                    <a:lstStyle/>
                    <a:p>
                      <a:r>
                        <a:rPr lang="en-GB" sz="2400" dirty="0">
                          <a:solidFill>
                            <a:schemeClr val="tx1"/>
                          </a:solidFill>
                        </a:rPr>
                        <a:t>Was not intended for home computers</a:t>
                      </a:r>
                      <a:endParaRPr lang="LID4096" sz="2400" dirty="0">
                        <a:solidFill>
                          <a:schemeClr val="tx1"/>
                        </a:solidFill>
                      </a:endParaRPr>
                    </a:p>
                  </a:txBody>
                  <a:tcPr>
                    <a:noFill/>
                  </a:tcPr>
                </a:tc>
                <a:extLst>
                  <a:ext uri="{0D108BD9-81ED-4DB2-BD59-A6C34878D82A}">
                    <a16:rowId xmlns:a16="http://schemas.microsoft.com/office/drawing/2014/main" val="2408183191"/>
                  </a:ext>
                </a:extLst>
              </a:tr>
              <a:tr h="370840">
                <a:tc>
                  <a:txBody>
                    <a:bodyPr/>
                    <a:lstStyle/>
                    <a:p>
                      <a:r>
                        <a:rPr lang="en-GB" sz="2400" dirty="0">
                          <a:solidFill>
                            <a:schemeClr val="tx1"/>
                          </a:solidFill>
                        </a:rPr>
                        <a:t>Windows XP</a:t>
                      </a:r>
                      <a:endParaRPr lang="LID4096" sz="2400" dirty="0">
                        <a:solidFill>
                          <a:schemeClr val="tx1"/>
                        </a:solidFill>
                      </a:endParaRPr>
                    </a:p>
                  </a:txBody>
                  <a:tcPr>
                    <a:noFill/>
                  </a:tcPr>
                </a:tc>
                <a:tc>
                  <a:txBody>
                    <a:bodyPr/>
                    <a:lstStyle/>
                    <a:p>
                      <a:r>
                        <a:rPr lang="en-GB" sz="2400" dirty="0">
                          <a:solidFill>
                            <a:schemeClr val="tx1"/>
                          </a:solidFill>
                        </a:rPr>
                        <a:t>2001</a:t>
                      </a:r>
                      <a:endParaRPr lang="LID4096" sz="2400" dirty="0">
                        <a:solidFill>
                          <a:schemeClr val="tx1"/>
                        </a:solidFill>
                      </a:endParaRPr>
                    </a:p>
                  </a:txBody>
                  <a:tcPr>
                    <a:noFill/>
                  </a:tcPr>
                </a:tc>
                <a:tc>
                  <a:txBody>
                    <a:bodyPr/>
                    <a:lstStyle/>
                    <a:p>
                      <a:r>
                        <a:rPr lang="en-GB" sz="2400" dirty="0">
                          <a:solidFill>
                            <a:schemeClr val="tx1"/>
                          </a:solidFill>
                        </a:rPr>
                        <a:t>Both for home computers and workstations </a:t>
                      </a:r>
                      <a:endParaRPr lang="LID4096" sz="2400" dirty="0">
                        <a:solidFill>
                          <a:schemeClr val="tx1"/>
                        </a:solidFill>
                      </a:endParaRPr>
                    </a:p>
                  </a:txBody>
                  <a:tcPr>
                    <a:noFill/>
                  </a:tcPr>
                </a:tc>
                <a:extLst>
                  <a:ext uri="{0D108BD9-81ED-4DB2-BD59-A6C34878D82A}">
                    <a16:rowId xmlns:a16="http://schemas.microsoft.com/office/drawing/2014/main" val="1908224050"/>
                  </a:ext>
                </a:extLst>
              </a:tr>
              <a:tr h="370840">
                <a:tc>
                  <a:txBody>
                    <a:bodyPr/>
                    <a:lstStyle/>
                    <a:p>
                      <a:r>
                        <a:rPr lang="en-GB" sz="2400" dirty="0">
                          <a:solidFill>
                            <a:schemeClr val="tx1"/>
                          </a:solidFill>
                        </a:rPr>
                        <a:t>Windows Vista</a:t>
                      </a:r>
                      <a:endParaRPr lang="LID4096" sz="2400" dirty="0">
                        <a:solidFill>
                          <a:schemeClr val="tx1"/>
                        </a:solidFill>
                      </a:endParaRPr>
                    </a:p>
                  </a:txBody>
                  <a:tcPr>
                    <a:noFill/>
                  </a:tcPr>
                </a:tc>
                <a:tc>
                  <a:txBody>
                    <a:bodyPr/>
                    <a:lstStyle/>
                    <a:p>
                      <a:r>
                        <a:rPr lang="en-GB" sz="2400" dirty="0">
                          <a:solidFill>
                            <a:schemeClr val="tx1"/>
                          </a:solidFill>
                        </a:rPr>
                        <a:t>2006</a:t>
                      </a:r>
                      <a:endParaRPr lang="LID4096" sz="2400" dirty="0">
                        <a:solidFill>
                          <a:schemeClr val="tx1"/>
                        </a:solidFill>
                      </a:endParaRPr>
                    </a:p>
                  </a:txBody>
                  <a:tcPr>
                    <a:noFill/>
                  </a:tcPr>
                </a:tc>
                <a:tc>
                  <a:txBody>
                    <a:bodyPr/>
                    <a:lstStyle/>
                    <a:p>
                      <a:r>
                        <a:rPr lang="en-GB" sz="2400" dirty="0">
                          <a:solidFill>
                            <a:schemeClr val="tx1"/>
                          </a:solidFill>
                        </a:rPr>
                        <a:t>New user interface for Aero</a:t>
                      </a:r>
                      <a:endParaRPr lang="LID4096" sz="2400" dirty="0">
                        <a:solidFill>
                          <a:schemeClr val="tx1"/>
                        </a:solidFill>
                      </a:endParaRPr>
                    </a:p>
                  </a:txBody>
                  <a:tcPr>
                    <a:noFill/>
                  </a:tcPr>
                </a:tc>
                <a:extLst>
                  <a:ext uri="{0D108BD9-81ED-4DB2-BD59-A6C34878D82A}">
                    <a16:rowId xmlns:a16="http://schemas.microsoft.com/office/drawing/2014/main" val="4286459896"/>
                  </a:ext>
                </a:extLst>
              </a:tr>
              <a:tr h="370840">
                <a:tc>
                  <a:txBody>
                    <a:bodyPr/>
                    <a:lstStyle/>
                    <a:p>
                      <a:r>
                        <a:rPr lang="en-GB" sz="2400" dirty="0">
                          <a:solidFill>
                            <a:schemeClr val="tx1"/>
                          </a:solidFill>
                        </a:rPr>
                        <a:t>Windows 7</a:t>
                      </a:r>
                      <a:endParaRPr lang="LID4096" sz="2400" dirty="0">
                        <a:solidFill>
                          <a:schemeClr val="tx1"/>
                        </a:solidFill>
                      </a:endParaRPr>
                    </a:p>
                  </a:txBody>
                  <a:tcPr>
                    <a:noFill/>
                  </a:tcPr>
                </a:tc>
                <a:tc>
                  <a:txBody>
                    <a:bodyPr/>
                    <a:lstStyle/>
                    <a:p>
                      <a:r>
                        <a:rPr lang="en-GB" sz="2400" dirty="0">
                          <a:solidFill>
                            <a:schemeClr val="tx1"/>
                          </a:solidFill>
                        </a:rPr>
                        <a:t>2009</a:t>
                      </a:r>
                      <a:endParaRPr lang="LID4096" sz="2400" dirty="0">
                        <a:solidFill>
                          <a:schemeClr val="tx1"/>
                        </a:solidFill>
                      </a:endParaRPr>
                    </a:p>
                  </a:txBody>
                  <a:tcPr>
                    <a:noFill/>
                  </a:tcPr>
                </a:tc>
                <a:tc>
                  <a:txBody>
                    <a:bodyPr/>
                    <a:lstStyle/>
                    <a:p>
                      <a:r>
                        <a:rPr lang="en-GB" sz="2400" dirty="0">
                          <a:solidFill>
                            <a:schemeClr val="tx1"/>
                          </a:solidFill>
                        </a:rPr>
                        <a:t>Emphasis on functionality and performance </a:t>
                      </a:r>
                      <a:endParaRPr lang="LID4096" sz="2400" dirty="0">
                        <a:solidFill>
                          <a:schemeClr val="tx1"/>
                        </a:solidFill>
                      </a:endParaRPr>
                    </a:p>
                  </a:txBody>
                  <a:tcPr>
                    <a:noFill/>
                  </a:tcPr>
                </a:tc>
                <a:extLst>
                  <a:ext uri="{0D108BD9-81ED-4DB2-BD59-A6C34878D82A}">
                    <a16:rowId xmlns:a16="http://schemas.microsoft.com/office/drawing/2014/main" val="727208135"/>
                  </a:ext>
                </a:extLst>
              </a:tr>
              <a:tr h="370840">
                <a:tc>
                  <a:txBody>
                    <a:bodyPr/>
                    <a:lstStyle/>
                    <a:p>
                      <a:r>
                        <a:rPr lang="en-GB" sz="2400" dirty="0">
                          <a:solidFill>
                            <a:schemeClr val="tx1"/>
                          </a:solidFill>
                        </a:rPr>
                        <a:t>Windows 8</a:t>
                      </a:r>
                      <a:endParaRPr lang="LID4096" sz="2400" dirty="0">
                        <a:solidFill>
                          <a:schemeClr val="tx1"/>
                        </a:solidFill>
                      </a:endParaRPr>
                    </a:p>
                  </a:txBody>
                  <a:tcPr>
                    <a:noFill/>
                  </a:tcPr>
                </a:tc>
                <a:tc>
                  <a:txBody>
                    <a:bodyPr/>
                    <a:lstStyle/>
                    <a:p>
                      <a:r>
                        <a:rPr lang="en-GB" sz="2400" dirty="0">
                          <a:solidFill>
                            <a:schemeClr val="tx1"/>
                          </a:solidFill>
                        </a:rPr>
                        <a:t>2012</a:t>
                      </a:r>
                      <a:endParaRPr lang="LID4096" sz="2400" dirty="0">
                        <a:solidFill>
                          <a:schemeClr val="tx1"/>
                        </a:solidFill>
                      </a:endParaRPr>
                    </a:p>
                  </a:txBody>
                  <a:tcPr>
                    <a:noFill/>
                  </a:tcPr>
                </a:tc>
                <a:tc>
                  <a:txBody>
                    <a:bodyPr/>
                    <a:lstStyle/>
                    <a:p>
                      <a:r>
                        <a:rPr lang="en-GB" sz="2400" dirty="0">
                          <a:solidFill>
                            <a:schemeClr val="tx1"/>
                          </a:solidFill>
                        </a:rPr>
                        <a:t>New Graphical User Interface Microsoft Metro</a:t>
                      </a:r>
                      <a:endParaRPr lang="LID4096" sz="2400" dirty="0">
                        <a:solidFill>
                          <a:schemeClr val="tx1"/>
                        </a:solidFill>
                      </a:endParaRPr>
                    </a:p>
                  </a:txBody>
                  <a:tcPr>
                    <a:noFill/>
                  </a:tcPr>
                </a:tc>
                <a:extLst>
                  <a:ext uri="{0D108BD9-81ED-4DB2-BD59-A6C34878D82A}">
                    <a16:rowId xmlns:a16="http://schemas.microsoft.com/office/drawing/2014/main" val="1078847054"/>
                  </a:ext>
                </a:extLst>
              </a:tr>
              <a:tr h="370840">
                <a:tc>
                  <a:txBody>
                    <a:bodyPr/>
                    <a:lstStyle/>
                    <a:p>
                      <a:r>
                        <a:rPr lang="en-GB" sz="2400" dirty="0">
                          <a:solidFill>
                            <a:schemeClr val="tx1"/>
                          </a:solidFill>
                        </a:rPr>
                        <a:t>Windows 10</a:t>
                      </a:r>
                      <a:endParaRPr lang="LID4096" sz="2400" dirty="0">
                        <a:solidFill>
                          <a:schemeClr val="tx1"/>
                        </a:solidFill>
                      </a:endParaRPr>
                    </a:p>
                  </a:txBody>
                  <a:tcPr>
                    <a:noFill/>
                  </a:tcPr>
                </a:tc>
                <a:tc>
                  <a:txBody>
                    <a:bodyPr/>
                    <a:lstStyle/>
                    <a:p>
                      <a:r>
                        <a:rPr lang="en-GB" sz="2400" dirty="0">
                          <a:solidFill>
                            <a:schemeClr val="tx1"/>
                          </a:solidFill>
                        </a:rPr>
                        <a:t>2015</a:t>
                      </a:r>
                      <a:endParaRPr lang="LID4096" sz="2400" dirty="0">
                        <a:solidFill>
                          <a:schemeClr val="tx1"/>
                        </a:solidFill>
                      </a:endParaRPr>
                    </a:p>
                  </a:txBody>
                  <a:tcPr>
                    <a:noFill/>
                  </a:tcPr>
                </a:tc>
                <a:tc>
                  <a:txBody>
                    <a:bodyPr/>
                    <a:lstStyle/>
                    <a:p>
                      <a:r>
                        <a:rPr lang="en-GB" sz="2400" dirty="0">
                          <a:solidFill>
                            <a:schemeClr val="tx1"/>
                          </a:solidFill>
                        </a:rPr>
                        <a:t>Better functionality between different classes of devices</a:t>
                      </a:r>
                      <a:endParaRPr lang="LID4096" sz="2400" dirty="0">
                        <a:solidFill>
                          <a:schemeClr val="tx1"/>
                        </a:solidFill>
                      </a:endParaRPr>
                    </a:p>
                  </a:txBody>
                  <a:tcPr>
                    <a:noFill/>
                  </a:tcPr>
                </a:tc>
                <a:extLst>
                  <a:ext uri="{0D108BD9-81ED-4DB2-BD59-A6C34878D82A}">
                    <a16:rowId xmlns:a16="http://schemas.microsoft.com/office/drawing/2014/main" val="3171029790"/>
                  </a:ext>
                </a:extLst>
              </a:tr>
              <a:tr h="370840">
                <a:tc>
                  <a:txBody>
                    <a:bodyPr/>
                    <a:lstStyle/>
                    <a:p>
                      <a:r>
                        <a:rPr lang="en-GB" sz="2400" dirty="0">
                          <a:solidFill>
                            <a:schemeClr val="tx1"/>
                          </a:solidFill>
                        </a:rPr>
                        <a:t>Windows 11</a:t>
                      </a:r>
                      <a:endParaRPr lang="LID4096" sz="2400" dirty="0">
                        <a:solidFill>
                          <a:schemeClr val="tx1"/>
                        </a:solidFill>
                      </a:endParaRPr>
                    </a:p>
                  </a:txBody>
                  <a:tcPr>
                    <a:noFill/>
                  </a:tcPr>
                </a:tc>
                <a:tc>
                  <a:txBody>
                    <a:bodyPr/>
                    <a:lstStyle/>
                    <a:p>
                      <a:r>
                        <a:rPr lang="en-GB" sz="2400" dirty="0">
                          <a:solidFill>
                            <a:schemeClr val="tx1"/>
                          </a:solidFill>
                        </a:rPr>
                        <a:t>2021</a:t>
                      </a:r>
                      <a:endParaRPr lang="LID4096" sz="2400" dirty="0">
                        <a:solidFill>
                          <a:schemeClr val="tx1"/>
                        </a:solidFill>
                      </a:endParaRPr>
                    </a:p>
                  </a:txBody>
                  <a:tcPr>
                    <a:noFill/>
                  </a:tcPr>
                </a:tc>
                <a:tc>
                  <a:txBody>
                    <a:bodyPr/>
                    <a:lstStyle/>
                    <a:p>
                      <a:endParaRPr lang="LID4096" sz="2400" dirty="0">
                        <a:solidFill>
                          <a:schemeClr val="tx1"/>
                        </a:solidFill>
                      </a:endParaRPr>
                    </a:p>
                  </a:txBody>
                  <a:tcPr>
                    <a:noFill/>
                  </a:tcPr>
                </a:tc>
                <a:extLst>
                  <a:ext uri="{0D108BD9-81ED-4DB2-BD59-A6C34878D82A}">
                    <a16:rowId xmlns:a16="http://schemas.microsoft.com/office/drawing/2014/main" val="3841605578"/>
                  </a:ext>
                </a:extLst>
              </a:tr>
            </a:tbl>
          </a:graphicData>
        </a:graphic>
      </p:graphicFrame>
      <p:sp>
        <p:nvSpPr>
          <p:cNvPr id="3" name="Footer Placeholder 2">
            <a:extLst>
              <a:ext uri="{FF2B5EF4-FFF2-40B4-BE49-F238E27FC236}">
                <a16:creationId xmlns:a16="http://schemas.microsoft.com/office/drawing/2014/main" id="{C93F7995-74F9-49E0-90B9-C497D8792EB1}"/>
              </a:ext>
            </a:extLst>
          </p:cNvPr>
          <p:cNvSpPr>
            <a:spLocks noGrp="1"/>
          </p:cNvSpPr>
          <p:nvPr>
            <p:ph type="ftr" sz="quarter" idx="11"/>
          </p:nvPr>
        </p:nvSpPr>
        <p:spPr>
          <a:xfrm>
            <a:off x="1141413" y="6425248"/>
            <a:ext cx="6239309" cy="365125"/>
          </a:xfrm>
        </p:spPr>
        <p:txBody>
          <a:bodyPr/>
          <a:lstStyle/>
          <a:p>
            <a:r>
              <a:rPr lang="en-US" dirty="0"/>
              <a:t>PREPARED BY JAMES SOKO FOR MR. MWASHI MATELA © 2025 KAPASA MAKASA UNIVERSITY</a:t>
            </a:r>
            <a:endParaRPr lang="LID4096" dirty="0"/>
          </a:p>
        </p:txBody>
      </p:sp>
      <p:sp>
        <p:nvSpPr>
          <p:cNvPr id="5" name="Slide Number Placeholder 4">
            <a:extLst>
              <a:ext uri="{FF2B5EF4-FFF2-40B4-BE49-F238E27FC236}">
                <a16:creationId xmlns:a16="http://schemas.microsoft.com/office/drawing/2014/main" id="{4B012E74-4551-463A-A23F-0C6AC1896912}"/>
              </a:ext>
            </a:extLst>
          </p:cNvPr>
          <p:cNvSpPr>
            <a:spLocks noGrp="1"/>
          </p:cNvSpPr>
          <p:nvPr>
            <p:ph type="sldNum" sz="quarter" idx="12"/>
          </p:nvPr>
        </p:nvSpPr>
        <p:spPr>
          <a:xfrm>
            <a:off x="10276322" y="6425247"/>
            <a:ext cx="771089" cy="365125"/>
          </a:xfrm>
        </p:spPr>
        <p:txBody>
          <a:bodyPr/>
          <a:lstStyle/>
          <a:p>
            <a:fld id="{69F7B4AB-723F-4112-894E-5DEBD965FC4E}" type="slidenum">
              <a:rPr lang="LID4096" smtClean="0"/>
              <a:t>17</a:t>
            </a:fld>
            <a:endParaRPr lang="LID4096" dirty="0"/>
          </a:p>
        </p:txBody>
      </p:sp>
    </p:spTree>
    <p:extLst>
      <p:ext uri="{BB962C8B-B14F-4D97-AF65-F5344CB8AC3E}">
        <p14:creationId xmlns:p14="http://schemas.microsoft.com/office/powerpoint/2010/main" val="38713208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46436C3-028F-42E6-B258-B37732C83312}"/>
              </a:ext>
            </a:extLst>
          </p:cNvPr>
          <p:cNvSpPr>
            <a:spLocks noGrp="1"/>
          </p:cNvSpPr>
          <p:nvPr>
            <p:ph type="title"/>
          </p:nvPr>
        </p:nvSpPr>
        <p:spPr/>
        <p:txBody>
          <a:bodyPr/>
          <a:lstStyle/>
          <a:p>
            <a:pPr algn="ctr"/>
            <a:r>
              <a:rPr lang="en-GB" b="1" dirty="0"/>
              <a:t>Windows NT Versions (Continues…)</a:t>
            </a:r>
            <a:endParaRPr lang="LID4096" dirty="0"/>
          </a:p>
        </p:txBody>
      </p:sp>
      <p:sp>
        <p:nvSpPr>
          <p:cNvPr id="3" name="Content Placeholder 2">
            <a:extLst>
              <a:ext uri="{FF2B5EF4-FFF2-40B4-BE49-F238E27FC236}">
                <a16:creationId xmlns:a16="http://schemas.microsoft.com/office/drawing/2014/main" id="{6808167A-5A5A-4EDB-A7D6-17E751D9E72E}"/>
              </a:ext>
            </a:extLst>
          </p:cNvPr>
          <p:cNvSpPr>
            <a:spLocks noGrp="1"/>
          </p:cNvSpPr>
          <p:nvPr>
            <p:ph sz="half" idx="1"/>
          </p:nvPr>
        </p:nvSpPr>
        <p:spPr/>
        <p:txBody>
          <a:bodyPr/>
          <a:lstStyle/>
          <a:p>
            <a:pPr>
              <a:buFont typeface="Wingdings" panose="05000000000000000000" pitchFamily="2" charset="2"/>
              <a:buChar char="ü"/>
            </a:pPr>
            <a:r>
              <a:rPr lang="en-GB" b="1" dirty="0"/>
              <a:t>Windows 2000 (Windows NT 5.0) </a:t>
            </a:r>
          </a:p>
          <a:p>
            <a:r>
              <a:rPr lang="en-US" dirty="0"/>
              <a:t>Was built on Windows NT 4.0. </a:t>
            </a:r>
          </a:p>
          <a:p>
            <a:r>
              <a:rPr lang="en-US" dirty="0"/>
              <a:t>Support for Plug and Play. </a:t>
            </a:r>
          </a:p>
          <a:p>
            <a:r>
              <a:rPr lang="en-US" dirty="0"/>
              <a:t>Had both the server and workstation version.</a:t>
            </a:r>
          </a:p>
          <a:p>
            <a:pPr>
              <a:buFont typeface="Wingdings" panose="05000000000000000000" pitchFamily="2" charset="2"/>
              <a:buChar char="ü"/>
            </a:pPr>
            <a:r>
              <a:rPr lang="en-GB" b="1" dirty="0"/>
              <a:t>Windows XP (Windows NT 5.1)</a:t>
            </a:r>
          </a:p>
          <a:p>
            <a:endParaRPr lang="LID4096" dirty="0"/>
          </a:p>
        </p:txBody>
      </p:sp>
      <p:sp>
        <p:nvSpPr>
          <p:cNvPr id="5" name="Content Placeholder 4">
            <a:extLst>
              <a:ext uri="{FF2B5EF4-FFF2-40B4-BE49-F238E27FC236}">
                <a16:creationId xmlns:a16="http://schemas.microsoft.com/office/drawing/2014/main" id="{E1805FBA-5AE4-41B3-A7D8-D324EFE18934}"/>
              </a:ext>
            </a:extLst>
          </p:cNvPr>
          <p:cNvSpPr>
            <a:spLocks noGrp="1"/>
          </p:cNvSpPr>
          <p:nvPr>
            <p:ph sz="half" idx="2"/>
          </p:nvPr>
        </p:nvSpPr>
        <p:spPr/>
        <p:txBody>
          <a:bodyPr/>
          <a:lstStyle/>
          <a:p>
            <a:pPr>
              <a:buFont typeface="Wingdings" panose="05000000000000000000" pitchFamily="2" charset="2"/>
              <a:buChar char="ü"/>
            </a:pPr>
            <a:r>
              <a:rPr lang="en-GB" b="1" dirty="0"/>
              <a:t>Windows Vista (Windows NT 6.0)</a:t>
            </a:r>
          </a:p>
          <a:p>
            <a:pPr>
              <a:buFont typeface="Wingdings" panose="05000000000000000000" pitchFamily="2" charset="2"/>
              <a:buChar char="ü"/>
            </a:pPr>
            <a:r>
              <a:rPr lang="en-US" b="1" dirty="0"/>
              <a:t>Windows 7 (Windows NT 6.1) </a:t>
            </a:r>
          </a:p>
          <a:p>
            <a:pPr>
              <a:buFont typeface="Wingdings" panose="05000000000000000000" pitchFamily="2" charset="2"/>
              <a:buChar char="ü"/>
            </a:pPr>
            <a:r>
              <a:rPr lang="en-US" b="1" dirty="0"/>
              <a:t>Windows 8 (Windows NT 6.2) </a:t>
            </a:r>
          </a:p>
          <a:p>
            <a:r>
              <a:rPr lang="en-US" dirty="0"/>
              <a:t>Used for tablets, laptops, desktops and Windows Phone. </a:t>
            </a:r>
          </a:p>
          <a:p>
            <a:pPr>
              <a:buFont typeface="Wingdings" panose="05000000000000000000" pitchFamily="2" charset="2"/>
              <a:buChar char="ü"/>
            </a:pPr>
            <a:r>
              <a:rPr lang="en-US" b="1" dirty="0"/>
              <a:t>Windows  10 (Windows NT 10.0) </a:t>
            </a:r>
            <a:endParaRPr lang="en-GB" b="1" dirty="0"/>
          </a:p>
        </p:txBody>
      </p:sp>
      <p:sp>
        <p:nvSpPr>
          <p:cNvPr id="2" name="Footer Placeholder 1">
            <a:extLst>
              <a:ext uri="{FF2B5EF4-FFF2-40B4-BE49-F238E27FC236}">
                <a16:creationId xmlns:a16="http://schemas.microsoft.com/office/drawing/2014/main" id="{92BA2A08-61F4-43F1-9A40-B5503BF44A68}"/>
              </a:ext>
            </a:extLst>
          </p:cNvPr>
          <p:cNvSpPr>
            <a:spLocks noGrp="1"/>
          </p:cNvSpPr>
          <p:nvPr>
            <p:ph type="ftr" sz="quarter" idx="11"/>
          </p:nvPr>
        </p:nvSpPr>
        <p:spPr/>
        <p:txBody>
          <a:bodyPr/>
          <a:lstStyle/>
          <a:p>
            <a:r>
              <a:rPr lang="en-US"/>
              <a:t>PREPARED BY JAMES SOKO FOR MR. MWASHI MATELA © 2025 KAPASA MAKASA UNIVERSITY</a:t>
            </a:r>
            <a:endParaRPr lang="LID4096"/>
          </a:p>
        </p:txBody>
      </p:sp>
      <p:sp>
        <p:nvSpPr>
          <p:cNvPr id="6" name="Slide Number Placeholder 5">
            <a:extLst>
              <a:ext uri="{FF2B5EF4-FFF2-40B4-BE49-F238E27FC236}">
                <a16:creationId xmlns:a16="http://schemas.microsoft.com/office/drawing/2014/main" id="{413878EA-5C80-42AC-955A-8D915EDA920F}"/>
              </a:ext>
            </a:extLst>
          </p:cNvPr>
          <p:cNvSpPr>
            <a:spLocks noGrp="1"/>
          </p:cNvSpPr>
          <p:nvPr>
            <p:ph type="sldNum" sz="quarter" idx="12"/>
          </p:nvPr>
        </p:nvSpPr>
        <p:spPr/>
        <p:txBody>
          <a:bodyPr/>
          <a:lstStyle/>
          <a:p>
            <a:fld id="{69F7B4AB-723F-4112-894E-5DEBD965FC4E}" type="slidenum">
              <a:rPr lang="LID4096" smtClean="0"/>
              <a:t>18</a:t>
            </a:fld>
            <a:endParaRPr lang="LID4096"/>
          </a:p>
        </p:txBody>
      </p:sp>
    </p:spTree>
    <p:extLst>
      <p:ext uri="{BB962C8B-B14F-4D97-AF65-F5344CB8AC3E}">
        <p14:creationId xmlns:p14="http://schemas.microsoft.com/office/powerpoint/2010/main" val="37668813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158F6B4-6146-4B9B-847E-F5DF772DE7E1}"/>
              </a:ext>
            </a:extLst>
          </p:cNvPr>
          <p:cNvSpPr>
            <a:spLocks noGrp="1"/>
          </p:cNvSpPr>
          <p:nvPr>
            <p:ph type="title"/>
          </p:nvPr>
        </p:nvSpPr>
        <p:spPr/>
        <p:txBody>
          <a:bodyPr/>
          <a:lstStyle/>
          <a:p>
            <a:pPr algn="ctr"/>
            <a:r>
              <a:rPr lang="en-GB" b="1" dirty="0"/>
              <a:t>Windows NT Versions (Continues…)</a:t>
            </a:r>
            <a:endParaRPr lang="LID4096" dirty="0"/>
          </a:p>
        </p:txBody>
      </p:sp>
      <p:sp>
        <p:nvSpPr>
          <p:cNvPr id="6" name="Content Placeholder 5">
            <a:extLst>
              <a:ext uri="{FF2B5EF4-FFF2-40B4-BE49-F238E27FC236}">
                <a16:creationId xmlns:a16="http://schemas.microsoft.com/office/drawing/2014/main" id="{CFCAB3D9-F259-4DA6-BA86-CB3825321192}"/>
              </a:ext>
            </a:extLst>
          </p:cNvPr>
          <p:cNvSpPr>
            <a:spLocks noGrp="1"/>
          </p:cNvSpPr>
          <p:nvPr>
            <p:ph idx="1"/>
          </p:nvPr>
        </p:nvSpPr>
        <p:spPr/>
        <p:txBody>
          <a:bodyPr/>
          <a:lstStyle/>
          <a:p>
            <a:r>
              <a:rPr lang="en-US" dirty="0"/>
              <a:t>Microsoft described </a:t>
            </a:r>
            <a:r>
              <a:rPr lang="en-US" b="1" dirty="0"/>
              <a:t>Windows 10 </a:t>
            </a:r>
            <a:r>
              <a:rPr lang="en-US" dirty="0"/>
              <a:t>as an Operating System as a service that would receive ongoing updates to its features and functionality. </a:t>
            </a:r>
          </a:p>
          <a:p>
            <a:r>
              <a:rPr lang="en-US" dirty="0"/>
              <a:t>Windows 10 has become a shared platform known as </a:t>
            </a:r>
            <a:r>
              <a:rPr lang="en-US" b="1" dirty="0"/>
              <a:t>OneCore</a:t>
            </a:r>
            <a:r>
              <a:rPr lang="en-US" dirty="0"/>
              <a:t>, and it runs on </a:t>
            </a:r>
            <a:r>
              <a:rPr lang="en-US" b="1" dirty="0"/>
              <a:t>PCs</a:t>
            </a:r>
            <a:r>
              <a:rPr lang="en-US" dirty="0"/>
              <a:t>, </a:t>
            </a:r>
            <a:r>
              <a:rPr lang="en-US" b="1" dirty="0"/>
              <a:t>phones</a:t>
            </a:r>
            <a:r>
              <a:rPr lang="en-US" dirty="0"/>
              <a:t>, the </a:t>
            </a:r>
            <a:r>
              <a:rPr lang="en-US" b="1" dirty="0"/>
              <a:t>Xbox</a:t>
            </a:r>
            <a:r>
              <a:rPr lang="en-US" dirty="0"/>
              <a:t> One game console, the </a:t>
            </a:r>
            <a:r>
              <a:rPr lang="en-US" b="1" dirty="0"/>
              <a:t>HoloLens</a:t>
            </a:r>
            <a:r>
              <a:rPr lang="en-US" dirty="0"/>
              <a:t> </a:t>
            </a:r>
            <a:r>
              <a:rPr lang="en-US" b="1" dirty="0"/>
              <a:t>and Internet of Things (IoT)</a:t>
            </a:r>
            <a:r>
              <a:rPr lang="en-US" dirty="0"/>
              <a:t> devices such as Raspberry Pi 2.</a:t>
            </a:r>
          </a:p>
        </p:txBody>
      </p:sp>
      <p:sp>
        <p:nvSpPr>
          <p:cNvPr id="2" name="Footer Placeholder 1">
            <a:extLst>
              <a:ext uri="{FF2B5EF4-FFF2-40B4-BE49-F238E27FC236}">
                <a16:creationId xmlns:a16="http://schemas.microsoft.com/office/drawing/2014/main" id="{71E75FFC-FB4B-44C2-AAA7-7CB75555061D}"/>
              </a:ext>
            </a:extLst>
          </p:cNvPr>
          <p:cNvSpPr>
            <a:spLocks noGrp="1"/>
          </p:cNvSpPr>
          <p:nvPr>
            <p:ph type="ftr" sz="quarter" idx="11"/>
          </p:nvPr>
        </p:nvSpPr>
        <p:spPr/>
        <p:txBody>
          <a:bodyPr/>
          <a:lstStyle/>
          <a:p>
            <a:r>
              <a:rPr lang="en-US"/>
              <a:t>PREPARED BY JAMES SOKO FOR MR. MWASHI MATELA © 2025 KAPASA MAKASA UNIVERSITY</a:t>
            </a:r>
            <a:endParaRPr lang="LID4096"/>
          </a:p>
        </p:txBody>
      </p:sp>
      <p:sp>
        <p:nvSpPr>
          <p:cNvPr id="3" name="Slide Number Placeholder 2">
            <a:extLst>
              <a:ext uri="{FF2B5EF4-FFF2-40B4-BE49-F238E27FC236}">
                <a16:creationId xmlns:a16="http://schemas.microsoft.com/office/drawing/2014/main" id="{57CDBC29-9A9F-454D-B68E-8EB257840C50}"/>
              </a:ext>
            </a:extLst>
          </p:cNvPr>
          <p:cNvSpPr>
            <a:spLocks noGrp="1"/>
          </p:cNvSpPr>
          <p:nvPr>
            <p:ph type="sldNum" sz="quarter" idx="12"/>
          </p:nvPr>
        </p:nvSpPr>
        <p:spPr/>
        <p:txBody>
          <a:bodyPr/>
          <a:lstStyle/>
          <a:p>
            <a:fld id="{69F7B4AB-723F-4112-894E-5DEBD965FC4E}" type="slidenum">
              <a:rPr lang="LID4096" smtClean="0"/>
              <a:t>19</a:t>
            </a:fld>
            <a:endParaRPr lang="LID4096"/>
          </a:p>
        </p:txBody>
      </p:sp>
    </p:spTree>
    <p:extLst>
      <p:ext uri="{BB962C8B-B14F-4D97-AF65-F5344CB8AC3E}">
        <p14:creationId xmlns:p14="http://schemas.microsoft.com/office/powerpoint/2010/main" val="21538355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A22CCA7-5F96-48B6-9BEB-FCD2B334CA81}"/>
              </a:ext>
            </a:extLst>
          </p:cNvPr>
          <p:cNvSpPr>
            <a:spLocks noGrp="1"/>
          </p:cNvSpPr>
          <p:nvPr>
            <p:ph type="title"/>
          </p:nvPr>
        </p:nvSpPr>
        <p:spPr/>
        <p:txBody>
          <a:bodyPr/>
          <a:lstStyle/>
          <a:p>
            <a:pPr algn="ctr"/>
            <a:r>
              <a:rPr lang="en-GB" b="1" dirty="0"/>
              <a:t>Windows Server </a:t>
            </a:r>
            <a:endParaRPr lang="LID4096" b="1" dirty="0"/>
          </a:p>
        </p:txBody>
      </p:sp>
      <p:sp>
        <p:nvSpPr>
          <p:cNvPr id="6" name="Content Placeholder 5">
            <a:extLst>
              <a:ext uri="{FF2B5EF4-FFF2-40B4-BE49-F238E27FC236}">
                <a16:creationId xmlns:a16="http://schemas.microsoft.com/office/drawing/2014/main" id="{E5A20D47-A571-4534-96C0-C181A6612EEF}"/>
              </a:ext>
            </a:extLst>
          </p:cNvPr>
          <p:cNvSpPr>
            <a:spLocks noGrp="1"/>
          </p:cNvSpPr>
          <p:nvPr>
            <p:ph idx="1"/>
          </p:nvPr>
        </p:nvSpPr>
        <p:spPr/>
        <p:txBody>
          <a:bodyPr>
            <a:normAutofit fontScale="85000" lnSpcReduction="20000"/>
          </a:bodyPr>
          <a:lstStyle/>
          <a:p>
            <a:r>
              <a:rPr lang="en-US" dirty="0"/>
              <a:t>Microsoft’s first attempt at creating an operating system with network features was </a:t>
            </a:r>
            <a:r>
              <a:rPr lang="en-US" b="1" dirty="0"/>
              <a:t>Windows 3.11 </a:t>
            </a:r>
            <a:r>
              <a:rPr lang="en-US" dirty="0"/>
              <a:t>(1992). </a:t>
            </a:r>
          </a:p>
          <a:p>
            <a:r>
              <a:rPr lang="en-US" dirty="0"/>
              <a:t>Another name for Windows 3.11 is </a:t>
            </a:r>
            <a:r>
              <a:rPr lang="en-US" b="1" dirty="0"/>
              <a:t>Windows for Workgroups</a:t>
            </a:r>
            <a:r>
              <a:rPr lang="en-US" dirty="0"/>
              <a:t>, and this version had some additional features that gave network support:</a:t>
            </a:r>
          </a:p>
          <a:p>
            <a:pPr>
              <a:buFont typeface="Wingdings" panose="05000000000000000000" pitchFamily="2" charset="2"/>
              <a:buChar char="ü"/>
            </a:pPr>
            <a:r>
              <a:rPr lang="en-US" b="1" dirty="0"/>
              <a:t>Network cards and cables</a:t>
            </a:r>
          </a:p>
          <a:p>
            <a:pPr>
              <a:buFont typeface="Wingdings" panose="05000000000000000000" pitchFamily="2" charset="2"/>
              <a:buChar char="ü"/>
            </a:pPr>
            <a:r>
              <a:rPr lang="en-US" b="1" dirty="0"/>
              <a:t>Sharing directories, disks and printers</a:t>
            </a:r>
          </a:p>
          <a:p>
            <a:pPr>
              <a:buFont typeface="Wingdings" panose="05000000000000000000" pitchFamily="2" charset="2"/>
              <a:buChar char="ü"/>
            </a:pPr>
            <a:r>
              <a:rPr lang="en-US" b="1" dirty="0"/>
              <a:t>E-mail and instant messaging functionality</a:t>
            </a:r>
          </a:p>
          <a:p>
            <a:r>
              <a:rPr lang="en-US" dirty="0"/>
              <a:t>However, it was with </a:t>
            </a:r>
            <a:r>
              <a:rPr lang="en-US" b="1" dirty="0"/>
              <a:t>Windows NT </a:t>
            </a:r>
            <a:r>
              <a:rPr lang="en-US" dirty="0"/>
              <a:t>that Microsoft began developing a network operating system intended to act as a servers.</a:t>
            </a:r>
          </a:p>
          <a:p>
            <a:endParaRPr lang="LID4096" dirty="0"/>
          </a:p>
        </p:txBody>
      </p:sp>
      <p:sp>
        <p:nvSpPr>
          <p:cNvPr id="2" name="Footer Placeholder 1">
            <a:extLst>
              <a:ext uri="{FF2B5EF4-FFF2-40B4-BE49-F238E27FC236}">
                <a16:creationId xmlns:a16="http://schemas.microsoft.com/office/drawing/2014/main" id="{EE3C79EE-8228-4D98-BBAE-B94A755A0302}"/>
              </a:ext>
            </a:extLst>
          </p:cNvPr>
          <p:cNvSpPr>
            <a:spLocks noGrp="1"/>
          </p:cNvSpPr>
          <p:nvPr>
            <p:ph type="ftr" sz="quarter" idx="11"/>
          </p:nvPr>
        </p:nvSpPr>
        <p:spPr/>
        <p:txBody>
          <a:bodyPr/>
          <a:lstStyle/>
          <a:p>
            <a:r>
              <a:rPr lang="en-US"/>
              <a:t>PREPARED BY JAMES SOKO FOR MR. MWASHI MATELA © 2025 KAPASA MAKASA UNIVERSITY</a:t>
            </a:r>
            <a:endParaRPr lang="LID4096"/>
          </a:p>
        </p:txBody>
      </p:sp>
      <p:sp>
        <p:nvSpPr>
          <p:cNvPr id="3" name="Slide Number Placeholder 2">
            <a:extLst>
              <a:ext uri="{FF2B5EF4-FFF2-40B4-BE49-F238E27FC236}">
                <a16:creationId xmlns:a16="http://schemas.microsoft.com/office/drawing/2014/main" id="{F503E15E-97FB-4FF5-8253-3EE41BAB6B78}"/>
              </a:ext>
            </a:extLst>
          </p:cNvPr>
          <p:cNvSpPr>
            <a:spLocks noGrp="1"/>
          </p:cNvSpPr>
          <p:nvPr>
            <p:ph type="sldNum" sz="quarter" idx="12"/>
          </p:nvPr>
        </p:nvSpPr>
        <p:spPr/>
        <p:txBody>
          <a:bodyPr/>
          <a:lstStyle/>
          <a:p>
            <a:fld id="{69F7B4AB-723F-4112-894E-5DEBD965FC4E}" type="slidenum">
              <a:rPr lang="LID4096" smtClean="0"/>
              <a:t>20</a:t>
            </a:fld>
            <a:endParaRPr lang="LID4096"/>
          </a:p>
        </p:txBody>
      </p:sp>
    </p:spTree>
    <p:extLst>
      <p:ext uri="{BB962C8B-B14F-4D97-AF65-F5344CB8AC3E}">
        <p14:creationId xmlns:p14="http://schemas.microsoft.com/office/powerpoint/2010/main" val="17021773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5B164-347E-41F7-9652-C7CDE69B6EAD}"/>
              </a:ext>
            </a:extLst>
          </p:cNvPr>
          <p:cNvSpPr>
            <a:spLocks noGrp="1"/>
          </p:cNvSpPr>
          <p:nvPr>
            <p:ph type="title"/>
          </p:nvPr>
        </p:nvSpPr>
        <p:spPr/>
        <p:txBody>
          <a:bodyPr/>
          <a:lstStyle/>
          <a:p>
            <a:pPr algn="ctr"/>
            <a:r>
              <a:rPr lang="en-GB" b="1" dirty="0"/>
              <a:t>Windows Server (Continues…)</a:t>
            </a:r>
            <a:endParaRPr lang="LID4096" dirty="0"/>
          </a:p>
        </p:txBody>
      </p:sp>
      <p:graphicFrame>
        <p:nvGraphicFramePr>
          <p:cNvPr id="4" name="Table 4">
            <a:extLst>
              <a:ext uri="{FF2B5EF4-FFF2-40B4-BE49-F238E27FC236}">
                <a16:creationId xmlns:a16="http://schemas.microsoft.com/office/drawing/2014/main" id="{87E49CF9-0222-4733-AB8B-57D571AEC207}"/>
              </a:ext>
            </a:extLst>
          </p:cNvPr>
          <p:cNvGraphicFramePr>
            <a:graphicFrameLocks noGrp="1"/>
          </p:cNvGraphicFramePr>
          <p:nvPr>
            <p:ph idx="1"/>
            <p:extLst>
              <p:ext uri="{D42A27DB-BD31-4B8C-83A1-F6EECF244321}">
                <p14:modId xmlns:p14="http://schemas.microsoft.com/office/powerpoint/2010/main" val="3862225175"/>
              </p:ext>
            </p:extLst>
          </p:nvPr>
        </p:nvGraphicFramePr>
        <p:xfrm>
          <a:off x="2913652" y="2287195"/>
          <a:ext cx="6004105" cy="4053840"/>
        </p:xfrm>
        <a:graphic>
          <a:graphicData uri="http://schemas.openxmlformats.org/drawingml/2006/table">
            <a:tbl>
              <a:tblPr firstRow="1" bandRow="1">
                <a:tableStyleId>{5C22544A-7EE6-4342-B048-85BDC9FD1C3A}</a:tableStyleId>
              </a:tblPr>
              <a:tblGrid>
                <a:gridCol w="4297853">
                  <a:extLst>
                    <a:ext uri="{9D8B030D-6E8A-4147-A177-3AD203B41FA5}">
                      <a16:colId xmlns:a16="http://schemas.microsoft.com/office/drawing/2014/main" val="712014118"/>
                    </a:ext>
                  </a:extLst>
                </a:gridCol>
                <a:gridCol w="1706252">
                  <a:extLst>
                    <a:ext uri="{9D8B030D-6E8A-4147-A177-3AD203B41FA5}">
                      <a16:colId xmlns:a16="http://schemas.microsoft.com/office/drawing/2014/main" val="3994103662"/>
                    </a:ext>
                  </a:extLst>
                </a:gridCol>
              </a:tblGrid>
              <a:tr h="370840">
                <a:tc>
                  <a:txBody>
                    <a:bodyPr/>
                    <a:lstStyle/>
                    <a:p>
                      <a:r>
                        <a:rPr lang="en-GB" sz="3200" dirty="0">
                          <a:solidFill>
                            <a:schemeClr val="tx1"/>
                          </a:solidFill>
                        </a:rPr>
                        <a:t>Version</a:t>
                      </a:r>
                      <a:endParaRPr lang="LID4096" sz="3200" dirty="0">
                        <a:solidFill>
                          <a:schemeClr val="tx1"/>
                        </a:solidFill>
                      </a:endParaRPr>
                    </a:p>
                  </a:txBody>
                  <a:tcPr>
                    <a:noFill/>
                  </a:tcPr>
                </a:tc>
                <a:tc>
                  <a:txBody>
                    <a:bodyPr/>
                    <a:lstStyle/>
                    <a:p>
                      <a:r>
                        <a:rPr lang="en-GB" sz="3200" dirty="0">
                          <a:solidFill>
                            <a:schemeClr val="tx1"/>
                          </a:solidFill>
                        </a:rPr>
                        <a:t>Release</a:t>
                      </a:r>
                      <a:endParaRPr lang="LID4096" sz="3200" dirty="0">
                        <a:solidFill>
                          <a:schemeClr val="tx1"/>
                        </a:solidFill>
                      </a:endParaRPr>
                    </a:p>
                  </a:txBody>
                  <a:tcPr>
                    <a:noFill/>
                  </a:tcPr>
                </a:tc>
                <a:extLst>
                  <a:ext uri="{0D108BD9-81ED-4DB2-BD59-A6C34878D82A}">
                    <a16:rowId xmlns:a16="http://schemas.microsoft.com/office/drawing/2014/main" val="2730817403"/>
                  </a:ext>
                </a:extLst>
              </a:tr>
              <a:tr h="370840">
                <a:tc>
                  <a:txBody>
                    <a:bodyPr/>
                    <a:lstStyle/>
                    <a:p>
                      <a:r>
                        <a:rPr lang="en-GB" sz="3200" dirty="0">
                          <a:solidFill>
                            <a:schemeClr val="tx1"/>
                          </a:solidFill>
                        </a:rPr>
                        <a:t>Windows NT 4.0 Server</a:t>
                      </a:r>
                      <a:endParaRPr lang="LID4096" sz="3200" dirty="0">
                        <a:solidFill>
                          <a:schemeClr val="tx1"/>
                        </a:solidFill>
                      </a:endParaRPr>
                    </a:p>
                  </a:txBody>
                  <a:tcPr>
                    <a:noFill/>
                  </a:tcPr>
                </a:tc>
                <a:tc>
                  <a:txBody>
                    <a:bodyPr/>
                    <a:lstStyle/>
                    <a:p>
                      <a:r>
                        <a:rPr lang="en-GB" sz="3200" dirty="0">
                          <a:solidFill>
                            <a:schemeClr val="tx1"/>
                          </a:solidFill>
                        </a:rPr>
                        <a:t>1996</a:t>
                      </a:r>
                      <a:endParaRPr lang="LID4096" sz="3200" dirty="0">
                        <a:solidFill>
                          <a:schemeClr val="tx1"/>
                        </a:solidFill>
                      </a:endParaRPr>
                    </a:p>
                  </a:txBody>
                  <a:tcPr>
                    <a:noFill/>
                  </a:tcPr>
                </a:tc>
                <a:extLst>
                  <a:ext uri="{0D108BD9-81ED-4DB2-BD59-A6C34878D82A}">
                    <a16:rowId xmlns:a16="http://schemas.microsoft.com/office/drawing/2014/main" val="3464700948"/>
                  </a:ext>
                </a:extLst>
              </a:tr>
              <a:tr h="370840">
                <a:tc>
                  <a:txBody>
                    <a:bodyPr/>
                    <a:lstStyle/>
                    <a:p>
                      <a:r>
                        <a:rPr lang="en-GB" sz="3200" dirty="0">
                          <a:solidFill>
                            <a:schemeClr val="tx1"/>
                          </a:solidFill>
                        </a:rPr>
                        <a:t>Windows Server 2000</a:t>
                      </a:r>
                      <a:endParaRPr lang="LID4096" sz="3200" dirty="0">
                        <a:solidFill>
                          <a:schemeClr val="tx1"/>
                        </a:solidFill>
                      </a:endParaRPr>
                    </a:p>
                  </a:txBody>
                  <a:tcPr>
                    <a:noFill/>
                  </a:tcPr>
                </a:tc>
                <a:tc>
                  <a:txBody>
                    <a:bodyPr/>
                    <a:lstStyle/>
                    <a:p>
                      <a:r>
                        <a:rPr lang="en-GB" sz="3200" dirty="0">
                          <a:solidFill>
                            <a:schemeClr val="tx1"/>
                          </a:solidFill>
                        </a:rPr>
                        <a:t>2000</a:t>
                      </a:r>
                      <a:endParaRPr lang="LID4096" sz="3200" dirty="0">
                        <a:solidFill>
                          <a:schemeClr val="tx1"/>
                        </a:solidFill>
                      </a:endParaRPr>
                    </a:p>
                  </a:txBody>
                  <a:tcPr>
                    <a:noFill/>
                  </a:tcPr>
                </a:tc>
                <a:extLst>
                  <a:ext uri="{0D108BD9-81ED-4DB2-BD59-A6C34878D82A}">
                    <a16:rowId xmlns:a16="http://schemas.microsoft.com/office/drawing/2014/main" val="293985424"/>
                  </a:ext>
                </a:extLst>
              </a:tr>
              <a:tr h="370840">
                <a:tc>
                  <a:txBody>
                    <a:bodyPr/>
                    <a:lstStyle/>
                    <a:p>
                      <a:r>
                        <a:rPr lang="en-GB" sz="3200" dirty="0">
                          <a:solidFill>
                            <a:schemeClr val="tx1"/>
                          </a:solidFill>
                        </a:rPr>
                        <a:t>Windows Server 2003</a:t>
                      </a:r>
                      <a:endParaRPr lang="LID4096" sz="3200" dirty="0">
                        <a:solidFill>
                          <a:schemeClr val="tx1"/>
                        </a:solidFill>
                      </a:endParaRPr>
                    </a:p>
                  </a:txBody>
                  <a:tcPr>
                    <a:noFill/>
                  </a:tcPr>
                </a:tc>
                <a:tc>
                  <a:txBody>
                    <a:bodyPr/>
                    <a:lstStyle/>
                    <a:p>
                      <a:r>
                        <a:rPr lang="en-GB" sz="3200" dirty="0">
                          <a:solidFill>
                            <a:schemeClr val="tx1"/>
                          </a:solidFill>
                        </a:rPr>
                        <a:t>2003</a:t>
                      </a:r>
                      <a:endParaRPr lang="LID4096" sz="3200" dirty="0">
                        <a:solidFill>
                          <a:schemeClr val="tx1"/>
                        </a:solidFill>
                      </a:endParaRPr>
                    </a:p>
                  </a:txBody>
                  <a:tcPr>
                    <a:noFill/>
                  </a:tcPr>
                </a:tc>
                <a:extLst>
                  <a:ext uri="{0D108BD9-81ED-4DB2-BD59-A6C34878D82A}">
                    <a16:rowId xmlns:a16="http://schemas.microsoft.com/office/drawing/2014/main" val="2258367580"/>
                  </a:ext>
                </a:extLst>
              </a:tr>
              <a:tr h="370840">
                <a:tc>
                  <a:txBody>
                    <a:bodyPr/>
                    <a:lstStyle/>
                    <a:p>
                      <a:r>
                        <a:rPr lang="en-GB" sz="3200" dirty="0">
                          <a:solidFill>
                            <a:schemeClr val="tx1"/>
                          </a:solidFill>
                        </a:rPr>
                        <a:t>Windows Server 2008</a:t>
                      </a:r>
                      <a:endParaRPr lang="LID4096" sz="3200" dirty="0">
                        <a:solidFill>
                          <a:schemeClr val="tx1"/>
                        </a:solidFill>
                      </a:endParaRPr>
                    </a:p>
                  </a:txBody>
                  <a:tcPr>
                    <a:noFill/>
                  </a:tcPr>
                </a:tc>
                <a:tc>
                  <a:txBody>
                    <a:bodyPr/>
                    <a:lstStyle/>
                    <a:p>
                      <a:r>
                        <a:rPr lang="en-GB" sz="3200" dirty="0">
                          <a:solidFill>
                            <a:schemeClr val="tx1"/>
                          </a:solidFill>
                        </a:rPr>
                        <a:t>2008</a:t>
                      </a:r>
                      <a:endParaRPr lang="LID4096" sz="3200" dirty="0">
                        <a:solidFill>
                          <a:schemeClr val="tx1"/>
                        </a:solidFill>
                      </a:endParaRPr>
                    </a:p>
                  </a:txBody>
                  <a:tcPr>
                    <a:noFill/>
                  </a:tcPr>
                </a:tc>
                <a:extLst>
                  <a:ext uri="{0D108BD9-81ED-4DB2-BD59-A6C34878D82A}">
                    <a16:rowId xmlns:a16="http://schemas.microsoft.com/office/drawing/2014/main" val="3070014853"/>
                  </a:ext>
                </a:extLst>
              </a:tr>
              <a:tr h="370840">
                <a:tc>
                  <a:txBody>
                    <a:bodyPr/>
                    <a:lstStyle/>
                    <a:p>
                      <a:r>
                        <a:rPr lang="en-GB" sz="3200" dirty="0">
                          <a:solidFill>
                            <a:schemeClr val="tx1"/>
                          </a:solidFill>
                        </a:rPr>
                        <a:t>Windows Server 2012</a:t>
                      </a:r>
                      <a:endParaRPr lang="LID4096" sz="3200" dirty="0">
                        <a:solidFill>
                          <a:schemeClr val="tx1"/>
                        </a:solidFill>
                      </a:endParaRPr>
                    </a:p>
                  </a:txBody>
                  <a:tcPr>
                    <a:noFill/>
                  </a:tcPr>
                </a:tc>
                <a:tc>
                  <a:txBody>
                    <a:bodyPr/>
                    <a:lstStyle/>
                    <a:p>
                      <a:r>
                        <a:rPr lang="en-GB" sz="3200" dirty="0">
                          <a:solidFill>
                            <a:schemeClr val="tx1"/>
                          </a:solidFill>
                        </a:rPr>
                        <a:t>2012</a:t>
                      </a:r>
                      <a:endParaRPr lang="LID4096" sz="3200" dirty="0">
                        <a:solidFill>
                          <a:schemeClr val="tx1"/>
                        </a:solidFill>
                      </a:endParaRPr>
                    </a:p>
                  </a:txBody>
                  <a:tcPr>
                    <a:noFill/>
                  </a:tcPr>
                </a:tc>
                <a:extLst>
                  <a:ext uri="{0D108BD9-81ED-4DB2-BD59-A6C34878D82A}">
                    <a16:rowId xmlns:a16="http://schemas.microsoft.com/office/drawing/2014/main" val="2966124698"/>
                  </a:ext>
                </a:extLst>
              </a:tr>
              <a:tr h="370840">
                <a:tc>
                  <a:txBody>
                    <a:bodyPr/>
                    <a:lstStyle/>
                    <a:p>
                      <a:r>
                        <a:rPr lang="en-GB" sz="3200" dirty="0">
                          <a:solidFill>
                            <a:schemeClr val="tx1"/>
                          </a:solidFill>
                        </a:rPr>
                        <a:t>Windows Server 2016</a:t>
                      </a:r>
                      <a:endParaRPr lang="LID4096" sz="3200" dirty="0">
                        <a:solidFill>
                          <a:schemeClr val="tx1"/>
                        </a:solidFill>
                      </a:endParaRPr>
                    </a:p>
                  </a:txBody>
                  <a:tcPr>
                    <a:noFill/>
                  </a:tcPr>
                </a:tc>
                <a:tc>
                  <a:txBody>
                    <a:bodyPr/>
                    <a:lstStyle/>
                    <a:p>
                      <a:r>
                        <a:rPr lang="en-GB" sz="3200" dirty="0">
                          <a:solidFill>
                            <a:schemeClr val="tx1"/>
                          </a:solidFill>
                        </a:rPr>
                        <a:t>2016</a:t>
                      </a:r>
                      <a:endParaRPr lang="LID4096" sz="3200" dirty="0">
                        <a:solidFill>
                          <a:schemeClr val="tx1"/>
                        </a:solidFill>
                      </a:endParaRPr>
                    </a:p>
                  </a:txBody>
                  <a:tcPr>
                    <a:noFill/>
                  </a:tcPr>
                </a:tc>
                <a:extLst>
                  <a:ext uri="{0D108BD9-81ED-4DB2-BD59-A6C34878D82A}">
                    <a16:rowId xmlns:a16="http://schemas.microsoft.com/office/drawing/2014/main" val="340503312"/>
                  </a:ext>
                </a:extLst>
              </a:tr>
            </a:tbl>
          </a:graphicData>
        </a:graphic>
      </p:graphicFrame>
      <p:sp>
        <p:nvSpPr>
          <p:cNvPr id="3" name="Footer Placeholder 2">
            <a:extLst>
              <a:ext uri="{FF2B5EF4-FFF2-40B4-BE49-F238E27FC236}">
                <a16:creationId xmlns:a16="http://schemas.microsoft.com/office/drawing/2014/main" id="{18358373-EDB1-48C1-9CFE-D1CC70BD5085}"/>
              </a:ext>
            </a:extLst>
          </p:cNvPr>
          <p:cNvSpPr>
            <a:spLocks noGrp="1"/>
          </p:cNvSpPr>
          <p:nvPr>
            <p:ph type="ftr" sz="quarter" idx="11"/>
          </p:nvPr>
        </p:nvSpPr>
        <p:spPr>
          <a:xfrm>
            <a:off x="1141413" y="6492875"/>
            <a:ext cx="6239309" cy="365125"/>
          </a:xfrm>
        </p:spPr>
        <p:txBody>
          <a:bodyPr/>
          <a:lstStyle/>
          <a:p>
            <a:r>
              <a:rPr lang="en-US" dirty="0"/>
              <a:t>PREPARED BY JAMES SOKO FOR MR. MWASHI MATELA © 2025 KAPASA MAKASA UNIVERSITY</a:t>
            </a:r>
            <a:endParaRPr lang="LID4096" dirty="0"/>
          </a:p>
        </p:txBody>
      </p:sp>
      <p:sp>
        <p:nvSpPr>
          <p:cNvPr id="5" name="Slide Number Placeholder 4">
            <a:extLst>
              <a:ext uri="{FF2B5EF4-FFF2-40B4-BE49-F238E27FC236}">
                <a16:creationId xmlns:a16="http://schemas.microsoft.com/office/drawing/2014/main" id="{55DA8C00-399F-4978-A691-0EAA8C7EB0AB}"/>
              </a:ext>
            </a:extLst>
          </p:cNvPr>
          <p:cNvSpPr>
            <a:spLocks noGrp="1"/>
          </p:cNvSpPr>
          <p:nvPr>
            <p:ph type="sldNum" sz="quarter" idx="12"/>
          </p:nvPr>
        </p:nvSpPr>
        <p:spPr>
          <a:xfrm>
            <a:off x="10276322" y="6492874"/>
            <a:ext cx="771089" cy="365125"/>
          </a:xfrm>
        </p:spPr>
        <p:txBody>
          <a:bodyPr/>
          <a:lstStyle/>
          <a:p>
            <a:fld id="{69F7B4AB-723F-4112-894E-5DEBD965FC4E}" type="slidenum">
              <a:rPr lang="LID4096" smtClean="0"/>
              <a:t>21</a:t>
            </a:fld>
            <a:endParaRPr lang="LID4096"/>
          </a:p>
        </p:txBody>
      </p:sp>
    </p:spTree>
    <p:extLst>
      <p:ext uri="{BB962C8B-B14F-4D97-AF65-F5344CB8AC3E}">
        <p14:creationId xmlns:p14="http://schemas.microsoft.com/office/powerpoint/2010/main" val="13635912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47E9C-7806-43CF-A558-6136B5214771}"/>
              </a:ext>
            </a:extLst>
          </p:cNvPr>
          <p:cNvSpPr>
            <a:spLocks noGrp="1"/>
          </p:cNvSpPr>
          <p:nvPr>
            <p:ph type="title"/>
          </p:nvPr>
        </p:nvSpPr>
        <p:spPr/>
        <p:txBody>
          <a:bodyPr/>
          <a:lstStyle/>
          <a:p>
            <a:pPr algn="ctr"/>
            <a:r>
              <a:rPr lang="en-GB" b="1" dirty="0"/>
              <a:t>Windows Server (Continues…)</a:t>
            </a:r>
            <a:endParaRPr lang="LID4096" b="1" dirty="0"/>
          </a:p>
        </p:txBody>
      </p:sp>
      <p:sp>
        <p:nvSpPr>
          <p:cNvPr id="3" name="Content Placeholder 2">
            <a:extLst>
              <a:ext uri="{FF2B5EF4-FFF2-40B4-BE49-F238E27FC236}">
                <a16:creationId xmlns:a16="http://schemas.microsoft.com/office/drawing/2014/main" id="{CE759C8C-0BB1-4BFB-8D02-9C66CD38043E}"/>
              </a:ext>
            </a:extLst>
          </p:cNvPr>
          <p:cNvSpPr>
            <a:spLocks noGrp="1"/>
          </p:cNvSpPr>
          <p:nvPr>
            <p:ph sz="half" idx="1"/>
          </p:nvPr>
        </p:nvSpPr>
        <p:spPr/>
        <p:txBody>
          <a:bodyPr>
            <a:normAutofit fontScale="85000" lnSpcReduction="20000"/>
          </a:bodyPr>
          <a:lstStyle/>
          <a:p>
            <a:pPr marL="457200" indent="-457200">
              <a:buFont typeface="+mj-lt"/>
              <a:buAutoNum type="arabicPeriod"/>
            </a:pPr>
            <a:r>
              <a:rPr lang="en-GB" b="1" dirty="0"/>
              <a:t>Windows NT 4.0 Server</a:t>
            </a:r>
          </a:p>
          <a:p>
            <a:r>
              <a:rPr lang="en-US" dirty="0"/>
              <a:t>Could serve many users in a network.</a:t>
            </a:r>
          </a:p>
          <a:p>
            <a:pPr marL="457200" indent="-457200">
              <a:buAutoNum type="arabicPeriod" startAt="2"/>
            </a:pPr>
            <a:r>
              <a:rPr lang="en-US" b="1" dirty="0"/>
              <a:t>Windows Server 2000</a:t>
            </a:r>
          </a:p>
          <a:p>
            <a:r>
              <a:rPr lang="en-US" dirty="0"/>
              <a:t>The main novelty was </a:t>
            </a:r>
            <a:r>
              <a:rPr lang="en-US" b="1" dirty="0"/>
              <a:t>Active Directory</a:t>
            </a:r>
          </a:p>
          <a:p>
            <a:r>
              <a:rPr lang="en-US" dirty="0"/>
              <a:t>Which is Microsoft’s directory service for managing users and resources in a local area network.</a:t>
            </a:r>
          </a:p>
          <a:p>
            <a:endParaRPr lang="en-US" dirty="0"/>
          </a:p>
          <a:p>
            <a:endParaRPr lang="LID4096" dirty="0"/>
          </a:p>
        </p:txBody>
      </p:sp>
      <p:sp>
        <p:nvSpPr>
          <p:cNvPr id="4" name="Content Placeholder 3">
            <a:extLst>
              <a:ext uri="{FF2B5EF4-FFF2-40B4-BE49-F238E27FC236}">
                <a16:creationId xmlns:a16="http://schemas.microsoft.com/office/drawing/2014/main" id="{63715541-6975-4E9D-94B2-5CBF90D23ED5}"/>
              </a:ext>
            </a:extLst>
          </p:cNvPr>
          <p:cNvSpPr>
            <a:spLocks noGrp="1"/>
          </p:cNvSpPr>
          <p:nvPr>
            <p:ph sz="half" idx="2"/>
          </p:nvPr>
        </p:nvSpPr>
        <p:spPr/>
        <p:txBody>
          <a:bodyPr>
            <a:normAutofit fontScale="85000" lnSpcReduction="20000"/>
          </a:bodyPr>
          <a:lstStyle/>
          <a:p>
            <a:pPr marL="457200" indent="-457200">
              <a:buAutoNum type="arabicPeriod" startAt="3"/>
            </a:pPr>
            <a:r>
              <a:rPr lang="en-GB" b="1" dirty="0"/>
              <a:t>Windows Server 2003</a:t>
            </a:r>
          </a:p>
          <a:p>
            <a:r>
              <a:rPr lang="en-GB" dirty="0"/>
              <a:t>Built on Windows XP.</a:t>
            </a:r>
          </a:p>
          <a:p>
            <a:r>
              <a:rPr lang="en-GB" dirty="0"/>
              <a:t>Features included </a:t>
            </a:r>
            <a:r>
              <a:rPr lang="en-US" dirty="0"/>
              <a:t>the </a:t>
            </a:r>
            <a:r>
              <a:rPr lang="en-US" b="1" dirty="0"/>
              <a:t>Internet Information Services (IIS)</a:t>
            </a:r>
            <a:r>
              <a:rPr lang="en-US" dirty="0"/>
              <a:t> used to create web pages for servers.</a:t>
            </a:r>
          </a:p>
          <a:p>
            <a:pPr marL="457200" indent="-457200">
              <a:buAutoNum type="arabicPeriod" startAt="4"/>
            </a:pPr>
            <a:r>
              <a:rPr lang="en-US" b="1" dirty="0"/>
              <a:t>Windows Server 2008</a:t>
            </a:r>
          </a:p>
          <a:p>
            <a:r>
              <a:rPr lang="en-US" dirty="0"/>
              <a:t>Had enhancements to </a:t>
            </a:r>
            <a:r>
              <a:rPr lang="en-US" b="1" dirty="0"/>
              <a:t>Active Directory</a:t>
            </a:r>
            <a:r>
              <a:rPr lang="en-US" dirty="0"/>
              <a:t>, </a:t>
            </a:r>
            <a:r>
              <a:rPr lang="en-US" b="1" dirty="0"/>
              <a:t>Group Policy</a:t>
            </a:r>
            <a:r>
              <a:rPr lang="en-US" dirty="0"/>
              <a:t>, </a:t>
            </a:r>
            <a:r>
              <a:rPr lang="en-US" b="1" dirty="0"/>
              <a:t>disk management </a:t>
            </a:r>
            <a:r>
              <a:rPr lang="en-US" dirty="0"/>
              <a:t>and </a:t>
            </a:r>
            <a:r>
              <a:rPr lang="en-US" b="1" dirty="0"/>
              <a:t>security</a:t>
            </a:r>
            <a:r>
              <a:rPr lang="en-US" dirty="0"/>
              <a:t>.</a:t>
            </a:r>
          </a:p>
          <a:p>
            <a:endParaRPr lang="en-GB" dirty="0"/>
          </a:p>
        </p:txBody>
      </p:sp>
      <p:sp>
        <p:nvSpPr>
          <p:cNvPr id="5" name="Footer Placeholder 4">
            <a:extLst>
              <a:ext uri="{FF2B5EF4-FFF2-40B4-BE49-F238E27FC236}">
                <a16:creationId xmlns:a16="http://schemas.microsoft.com/office/drawing/2014/main" id="{B23DA9FD-69D5-4D65-BFF2-9A977C000C33}"/>
              </a:ext>
            </a:extLst>
          </p:cNvPr>
          <p:cNvSpPr>
            <a:spLocks noGrp="1"/>
          </p:cNvSpPr>
          <p:nvPr>
            <p:ph type="ftr" sz="quarter" idx="11"/>
          </p:nvPr>
        </p:nvSpPr>
        <p:spPr/>
        <p:txBody>
          <a:bodyPr/>
          <a:lstStyle/>
          <a:p>
            <a:r>
              <a:rPr lang="en-US"/>
              <a:t>PREPARED BY JAMES SOKO FOR MR. MWASHI MATELA © 2025 KAPASA MAKASA UNIVERSITY</a:t>
            </a:r>
            <a:endParaRPr lang="LID4096"/>
          </a:p>
        </p:txBody>
      </p:sp>
      <p:sp>
        <p:nvSpPr>
          <p:cNvPr id="6" name="Slide Number Placeholder 5">
            <a:extLst>
              <a:ext uri="{FF2B5EF4-FFF2-40B4-BE49-F238E27FC236}">
                <a16:creationId xmlns:a16="http://schemas.microsoft.com/office/drawing/2014/main" id="{283ECA10-76A1-4528-A990-75E72A24CC52}"/>
              </a:ext>
            </a:extLst>
          </p:cNvPr>
          <p:cNvSpPr>
            <a:spLocks noGrp="1"/>
          </p:cNvSpPr>
          <p:nvPr>
            <p:ph type="sldNum" sz="quarter" idx="12"/>
          </p:nvPr>
        </p:nvSpPr>
        <p:spPr/>
        <p:txBody>
          <a:bodyPr/>
          <a:lstStyle/>
          <a:p>
            <a:fld id="{69F7B4AB-723F-4112-894E-5DEBD965FC4E}" type="slidenum">
              <a:rPr lang="LID4096" smtClean="0"/>
              <a:t>22</a:t>
            </a:fld>
            <a:endParaRPr lang="LID4096"/>
          </a:p>
        </p:txBody>
      </p:sp>
    </p:spTree>
    <p:extLst>
      <p:ext uri="{BB962C8B-B14F-4D97-AF65-F5344CB8AC3E}">
        <p14:creationId xmlns:p14="http://schemas.microsoft.com/office/powerpoint/2010/main" val="2684323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0B1DF-183F-47D8-996D-DA75B761D9A0}"/>
              </a:ext>
            </a:extLst>
          </p:cNvPr>
          <p:cNvSpPr>
            <a:spLocks noGrp="1"/>
          </p:cNvSpPr>
          <p:nvPr>
            <p:ph type="title"/>
          </p:nvPr>
        </p:nvSpPr>
        <p:spPr/>
        <p:txBody>
          <a:bodyPr/>
          <a:lstStyle/>
          <a:p>
            <a:pPr algn="ctr"/>
            <a:r>
              <a:rPr lang="en-GB" b="1" dirty="0"/>
              <a:t>Windows Server (Continues…)</a:t>
            </a:r>
            <a:endParaRPr lang="LID4096" dirty="0"/>
          </a:p>
        </p:txBody>
      </p:sp>
      <p:sp>
        <p:nvSpPr>
          <p:cNvPr id="3" name="Content Placeholder 2">
            <a:extLst>
              <a:ext uri="{FF2B5EF4-FFF2-40B4-BE49-F238E27FC236}">
                <a16:creationId xmlns:a16="http://schemas.microsoft.com/office/drawing/2014/main" id="{D2CE7F3D-CCD7-435A-8B2C-4C7D416054DC}"/>
              </a:ext>
            </a:extLst>
          </p:cNvPr>
          <p:cNvSpPr>
            <a:spLocks noGrp="1"/>
          </p:cNvSpPr>
          <p:nvPr>
            <p:ph sz="half" idx="1"/>
          </p:nvPr>
        </p:nvSpPr>
        <p:spPr/>
        <p:txBody>
          <a:bodyPr>
            <a:normAutofit/>
          </a:bodyPr>
          <a:lstStyle/>
          <a:p>
            <a:pPr marL="457200" indent="-457200">
              <a:buAutoNum type="arabicPeriod" startAt="5"/>
            </a:pPr>
            <a:r>
              <a:rPr lang="en-GB" b="1" dirty="0"/>
              <a:t>Windows Server 2012 (Windows Server 8)</a:t>
            </a:r>
          </a:p>
          <a:p>
            <a:r>
              <a:rPr lang="en-US" dirty="0"/>
              <a:t>Better support for Server </a:t>
            </a:r>
            <a:r>
              <a:rPr lang="en-US" b="1" dirty="0"/>
              <a:t>virtualization</a:t>
            </a:r>
            <a:r>
              <a:rPr lang="en-US" dirty="0"/>
              <a:t> and the use of the cloud (</a:t>
            </a:r>
            <a:r>
              <a:rPr lang="en-US" b="1" dirty="0"/>
              <a:t>Cloud Computing</a:t>
            </a:r>
            <a:r>
              <a:rPr lang="en-US" dirty="0"/>
              <a:t>).</a:t>
            </a:r>
          </a:p>
          <a:p>
            <a:r>
              <a:rPr lang="en-US" dirty="0"/>
              <a:t>Includes a new </a:t>
            </a:r>
            <a:r>
              <a:rPr lang="en-US" b="1" dirty="0"/>
              <a:t>file system (ReFS)</a:t>
            </a:r>
            <a:r>
              <a:rPr lang="en-US" dirty="0"/>
              <a:t>, but it is only used by File Servers.</a:t>
            </a:r>
            <a:endParaRPr lang="en-GB" dirty="0"/>
          </a:p>
        </p:txBody>
      </p:sp>
      <p:sp>
        <p:nvSpPr>
          <p:cNvPr id="4" name="Content Placeholder 3">
            <a:extLst>
              <a:ext uri="{FF2B5EF4-FFF2-40B4-BE49-F238E27FC236}">
                <a16:creationId xmlns:a16="http://schemas.microsoft.com/office/drawing/2014/main" id="{B6D68597-1FA0-4EAB-85DC-939E223160C1}"/>
              </a:ext>
            </a:extLst>
          </p:cNvPr>
          <p:cNvSpPr>
            <a:spLocks noGrp="1"/>
          </p:cNvSpPr>
          <p:nvPr>
            <p:ph sz="half" idx="2"/>
          </p:nvPr>
        </p:nvSpPr>
        <p:spPr/>
        <p:txBody>
          <a:bodyPr>
            <a:normAutofit/>
          </a:bodyPr>
          <a:lstStyle/>
          <a:p>
            <a:pPr marL="457200" indent="-457200">
              <a:buAutoNum type="arabicPeriod" startAt="6"/>
            </a:pPr>
            <a:r>
              <a:rPr lang="en-GB" b="1" dirty="0"/>
              <a:t>Windows Server 2016</a:t>
            </a:r>
          </a:p>
          <a:p>
            <a:r>
              <a:rPr lang="en-GB" dirty="0"/>
              <a:t>Has a </a:t>
            </a:r>
            <a:r>
              <a:rPr lang="en-GB" b="1" dirty="0"/>
              <a:t>Nano Server</a:t>
            </a:r>
            <a:r>
              <a:rPr lang="en-GB" dirty="0"/>
              <a:t>. </a:t>
            </a:r>
          </a:p>
          <a:p>
            <a:r>
              <a:rPr lang="en-US" dirty="0"/>
              <a:t>Nano Server is a scaled down, purpose-built operating system designed to run modern cloud applications and act as a </a:t>
            </a:r>
            <a:r>
              <a:rPr lang="en-US" b="1" dirty="0"/>
              <a:t>platform for containers</a:t>
            </a:r>
            <a:r>
              <a:rPr lang="en-US" dirty="0"/>
              <a:t>. </a:t>
            </a:r>
            <a:endParaRPr lang="en-GB" dirty="0"/>
          </a:p>
        </p:txBody>
      </p:sp>
      <p:sp>
        <p:nvSpPr>
          <p:cNvPr id="5" name="Footer Placeholder 4">
            <a:extLst>
              <a:ext uri="{FF2B5EF4-FFF2-40B4-BE49-F238E27FC236}">
                <a16:creationId xmlns:a16="http://schemas.microsoft.com/office/drawing/2014/main" id="{42B8170B-1C37-4030-BB8A-E1A0D89623A4}"/>
              </a:ext>
            </a:extLst>
          </p:cNvPr>
          <p:cNvSpPr>
            <a:spLocks noGrp="1"/>
          </p:cNvSpPr>
          <p:nvPr>
            <p:ph type="ftr" sz="quarter" idx="11"/>
          </p:nvPr>
        </p:nvSpPr>
        <p:spPr/>
        <p:txBody>
          <a:bodyPr/>
          <a:lstStyle/>
          <a:p>
            <a:r>
              <a:rPr lang="en-US"/>
              <a:t>PREPARED BY JAMES SOKO FOR MR. MWASHI MATELA © 2025 KAPASA MAKASA UNIVERSITY</a:t>
            </a:r>
            <a:endParaRPr lang="LID4096"/>
          </a:p>
        </p:txBody>
      </p:sp>
      <p:sp>
        <p:nvSpPr>
          <p:cNvPr id="6" name="Slide Number Placeholder 5">
            <a:extLst>
              <a:ext uri="{FF2B5EF4-FFF2-40B4-BE49-F238E27FC236}">
                <a16:creationId xmlns:a16="http://schemas.microsoft.com/office/drawing/2014/main" id="{E407FF5C-D383-4879-8D0C-A243F35FC97B}"/>
              </a:ext>
            </a:extLst>
          </p:cNvPr>
          <p:cNvSpPr>
            <a:spLocks noGrp="1"/>
          </p:cNvSpPr>
          <p:nvPr>
            <p:ph type="sldNum" sz="quarter" idx="12"/>
          </p:nvPr>
        </p:nvSpPr>
        <p:spPr/>
        <p:txBody>
          <a:bodyPr/>
          <a:lstStyle/>
          <a:p>
            <a:fld id="{69F7B4AB-723F-4112-894E-5DEBD965FC4E}" type="slidenum">
              <a:rPr lang="LID4096" smtClean="0"/>
              <a:t>23</a:t>
            </a:fld>
            <a:endParaRPr lang="LID4096"/>
          </a:p>
        </p:txBody>
      </p:sp>
    </p:spTree>
    <p:extLst>
      <p:ext uri="{BB962C8B-B14F-4D97-AF65-F5344CB8AC3E}">
        <p14:creationId xmlns:p14="http://schemas.microsoft.com/office/powerpoint/2010/main" val="21427386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59E34A89-7461-431F-8D34-7EA68DBC29F6}"/>
              </a:ext>
            </a:extLst>
          </p:cNvPr>
          <p:cNvGraphicFramePr>
            <a:graphicFrameLocks noGrp="1"/>
          </p:cNvGraphicFramePr>
          <p:nvPr>
            <p:ph idx="1"/>
            <p:extLst>
              <p:ext uri="{D42A27DB-BD31-4B8C-83A1-F6EECF244321}">
                <p14:modId xmlns:p14="http://schemas.microsoft.com/office/powerpoint/2010/main" val="1501232678"/>
              </p:ext>
            </p:extLst>
          </p:nvPr>
        </p:nvGraphicFramePr>
        <p:xfrm>
          <a:off x="1056572" y="71590"/>
          <a:ext cx="9905997" cy="6352185"/>
        </p:xfrm>
        <a:graphic>
          <a:graphicData uri="http://schemas.openxmlformats.org/drawingml/2006/table">
            <a:tbl>
              <a:tblPr/>
              <a:tblGrid>
                <a:gridCol w="819362">
                  <a:extLst>
                    <a:ext uri="{9D8B030D-6E8A-4147-A177-3AD203B41FA5}">
                      <a16:colId xmlns:a16="http://schemas.microsoft.com/office/drawing/2014/main" val="469449402"/>
                    </a:ext>
                  </a:extLst>
                </a:gridCol>
                <a:gridCol w="3695307">
                  <a:extLst>
                    <a:ext uri="{9D8B030D-6E8A-4147-A177-3AD203B41FA5}">
                      <a16:colId xmlns:a16="http://schemas.microsoft.com/office/drawing/2014/main" val="2428435171"/>
                    </a:ext>
                  </a:extLst>
                </a:gridCol>
                <a:gridCol w="5391328">
                  <a:extLst>
                    <a:ext uri="{9D8B030D-6E8A-4147-A177-3AD203B41FA5}">
                      <a16:colId xmlns:a16="http://schemas.microsoft.com/office/drawing/2014/main" val="3247925620"/>
                    </a:ext>
                  </a:extLst>
                </a:gridCol>
              </a:tblGrid>
              <a:tr h="119590">
                <a:tc>
                  <a:txBody>
                    <a:bodyPr/>
                    <a:lstStyle/>
                    <a:p>
                      <a:r>
                        <a:rPr lang="en-GB" sz="1600" b="1">
                          <a:solidFill>
                            <a:schemeClr val="tx1"/>
                          </a:solidFill>
                        </a:rPr>
                        <a:t>Year</a:t>
                      </a:r>
                      <a:endParaRPr lang="en-GB" sz="1600">
                        <a:solidFill>
                          <a:schemeClr val="tx1"/>
                        </a:solidFill>
                      </a:endParaRPr>
                    </a:p>
                  </a:txBody>
                  <a:tcPr marL="24942" marR="24942" marT="12471" marB="12471" anchor="ctr">
                    <a:lnL>
                      <a:noFill/>
                    </a:lnL>
                    <a:lnR>
                      <a:noFill/>
                    </a:lnR>
                    <a:lnT>
                      <a:noFill/>
                    </a:lnT>
                    <a:lnB>
                      <a:noFill/>
                    </a:lnB>
                  </a:tcPr>
                </a:tc>
                <a:tc>
                  <a:txBody>
                    <a:bodyPr/>
                    <a:lstStyle/>
                    <a:p>
                      <a:r>
                        <a:rPr lang="en-GB" sz="1600" b="1">
                          <a:solidFill>
                            <a:schemeClr val="tx1"/>
                          </a:solidFill>
                        </a:rPr>
                        <a:t>Version/Release</a:t>
                      </a:r>
                      <a:endParaRPr lang="en-GB" sz="1600">
                        <a:solidFill>
                          <a:schemeClr val="tx1"/>
                        </a:solidFill>
                      </a:endParaRPr>
                    </a:p>
                  </a:txBody>
                  <a:tcPr marL="24942" marR="24942" marT="12471" marB="12471" anchor="ctr">
                    <a:lnL>
                      <a:noFill/>
                    </a:lnL>
                    <a:lnR>
                      <a:noFill/>
                    </a:lnR>
                    <a:lnT>
                      <a:noFill/>
                    </a:lnT>
                    <a:lnB>
                      <a:noFill/>
                    </a:lnB>
                  </a:tcPr>
                </a:tc>
                <a:tc>
                  <a:txBody>
                    <a:bodyPr/>
                    <a:lstStyle/>
                    <a:p>
                      <a:r>
                        <a:rPr lang="en-GB" sz="1600" b="1" dirty="0">
                          <a:solidFill>
                            <a:schemeClr val="tx1"/>
                          </a:solidFill>
                        </a:rPr>
                        <a:t>Key Highlights</a:t>
                      </a:r>
                      <a:endParaRPr lang="en-GB" sz="1600" dirty="0">
                        <a:solidFill>
                          <a:schemeClr val="tx1"/>
                        </a:solidFill>
                      </a:endParaRPr>
                    </a:p>
                  </a:txBody>
                  <a:tcPr marL="24942" marR="24942" marT="12471" marB="12471" anchor="ctr">
                    <a:lnL>
                      <a:noFill/>
                    </a:lnL>
                    <a:lnR>
                      <a:noFill/>
                    </a:lnR>
                    <a:lnT>
                      <a:noFill/>
                    </a:lnT>
                    <a:lnB>
                      <a:noFill/>
                    </a:lnB>
                  </a:tcPr>
                </a:tc>
                <a:extLst>
                  <a:ext uri="{0D108BD9-81ED-4DB2-BD59-A6C34878D82A}">
                    <a16:rowId xmlns:a16="http://schemas.microsoft.com/office/drawing/2014/main" val="2628793922"/>
                  </a:ext>
                </a:extLst>
              </a:tr>
              <a:tr h="206436">
                <a:tc>
                  <a:txBody>
                    <a:bodyPr/>
                    <a:lstStyle/>
                    <a:p>
                      <a:r>
                        <a:rPr lang="en-ZM" sz="1600" b="1">
                          <a:solidFill>
                            <a:schemeClr val="tx1"/>
                          </a:solidFill>
                        </a:rPr>
                        <a:t>1983</a:t>
                      </a:r>
                      <a:endParaRPr lang="en-ZM" sz="1600">
                        <a:solidFill>
                          <a:schemeClr val="tx1"/>
                        </a:solidFill>
                      </a:endParaRPr>
                    </a:p>
                  </a:txBody>
                  <a:tcPr marL="24942" marR="24942" marT="12471" marB="12471" anchor="ctr">
                    <a:lnL>
                      <a:noFill/>
                    </a:lnL>
                    <a:lnR>
                      <a:noFill/>
                    </a:lnR>
                    <a:lnT>
                      <a:noFill/>
                    </a:lnT>
                    <a:lnB>
                      <a:noFill/>
                    </a:lnB>
                  </a:tcPr>
                </a:tc>
                <a:tc>
                  <a:txBody>
                    <a:bodyPr/>
                    <a:lstStyle/>
                    <a:p>
                      <a:r>
                        <a:rPr lang="en-GB" sz="1600" i="1" dirty="0">
                          <a:solidFill>
                            <a:schemeClr val="tx1"/>
                          </a:solidFill>
                        </a:rPr>
                        <a:t>Windows Announced</a:t>
                      </a:r>
                      <a:endParaRPr lang="en-GB" sz="1600" dirty="0">
                        <a:solidFill>
                          <a:schemeClr val="tx1"/>
                        </a:solidFill>
                      </a:endParaRPr>
                    </a:p>
                  </a:txBody>
                  <a:tcPr marL="24942" marR="24942" marT="12471" marB="12471" anchor="ctr">
                    <a:lnL>
                      <a:noFill/>
                    </a:lnL>
                    <a:lnR>
                      <a:noFill/>
                    </a:lnR>
                    <a:lnT>
                      <a:noFill/>
                    </a:lnT>
                    <a:lnB>
                      <a:noFill/>
                    </a:lnB>
                  </a:tcPr>
                </a:tc>
                <a:tc>
                  <a:txBody>
                    <a:bodyPr/>
                    <a:lstStyle/>
                    <a:p>
                      <a:r>
                        <a:rPr lang="en-US" sz="1600" dirty="0">
                          <a:solidFill>
                            <a:schemeClr val="tx1"/>
                          </a:solidFill>
                        </a:rPr>
                        <a:t>Microsoft announces Windows as a GUI for MS-DOS.</a:t>
                      </a:r>
                    </a:p>
                  </a:txBody>
                  <a:tcPr marL="24942" marR="24942" marT="12471" marB="12471" anchor="ctr">
                    <a:lnL>
                      <a:noFill/>
                    </a:lnL>
                    <a:lnR>
                      <a:noFill/>
                    </a:lnR>
                    <a:lnT>
                      <a:noFill/>
                    </a:lnT>
                    <a:lnB>
                      <a:noFill/>
                    </a:lnB>
                  </a:tcPr>
                </a:tc>
                <a:extLst>
                  <a:ext uri="{0D108BD9-81ED-4DB2-BD59-A6C34878D82A}">
                    <a16:rowId xmlns:a16="http://schemas.microsoft.com/office/drawing/2014/main" val="189693434"/>
                  </a:ext>
                </a:extLst>
              </a:tr>
              <a:tr h="206436">
                <a:tc>
                  <a:txBody>
                    <a:bodyPr/>
                    <a:lstStyle/>
                    <a:p>
                      <a:r>
                        <a:rPr lang="en-ZM" sz="1600" b="1">
                          <a:solidFill>
                            <a:schemeClr val="tx1"/>
                          </a:solidFill>
                        </a:rPr>
                        <a:t>1985</a:t>
                      </a:r>
                      <a:endParaRPr lang="en-ZM" sz="1600">
                        <a:solidFill>
                          <a:schemeClr val="tx1"/>
                        </a:solidFill>
                      </a:endParaRPr>
                    </a:p>
                  </a:txBody>
                  <a:tcPr marL="24942" marR="24942" marT="12471" marB="12471" anchor="ctr">
                    <a:lnL>
                      <a:noFill/>
                    </a:lnL>
                    <a:lnR>
                      <a:noFill/>
                    </a:lnR>
                    <a:lnT>
                      <a:noFill/>
                    </a:lnT>
                    <a:lnB>
                      <a:noFill/>
                    </a:lnB>
                  </a:tcPr>
                </a:tc>
                <a:tc>
                  <a:txBody>
                    <a:bodyPr/>
                    <a:lstStyle/>
                    <a:p>
                      <a:r>
                        <a:rPr lang="en-GB" sz="1600" b="1">
                          <a:solidFill>
                            <a:schemeClr val="tx1"/>
                          </a:solidFill>
                        </a:rPr>
                        <a:t>Windows 1.0</a:t>
                      </a:r>
                      <a:endParaRPr lang="en-GB" sz="1600">
                        <a:solidFill>
                          <a:schemeClr val="tx1"/>
                        </a:solidFill>
                      </a:endParaRPr>
                    </a:p>
                  </a:txBody>
                  <a:tcPr marL="24942" marR="24942" marT="12471" marB="12471" anchor="ctr">
                    <a:lnL>
                      <a:noFill/>
                    </a:lnL>
                    <a:lnR>
                      <a:noFill/>
                    </a:lnR>
                    <a:lnT>
                      <a:noFill/>
                    </a:lnT>
                    <a:lnB>
                      <a:noFill/>
                    </a:lnB>
                  </a:tcPr>
                </a:tc>
                <a:tc>
                  <a:txBody>
                    <a:bodyPr/>
                    <a:lstStyle/>
                    <a:p>
                      <a:r>
                        <a:rPr lang="en-US" sz="1600">
                          <a:solidFill>
                            <a:schemeClr val="tx1"/>
                          </a:solidFill>
                        </a:rPr>
                        <a:t>First GUI; ran on top of MS-DOS; limited features.</a:t>
                      </a:r>
                    </a:p>
                  </a:txBody>
                  <a:tcPr marL="24942" marR="24942" marT="12471" marB="12471" anchor="ctr">
                    <a:lnL>
                      <a:noFill/>
                    </a:lnL>
                    <a:lnR>
                      <a:noFill/>
                    </a:lnR>
                    <a:lnT>
                      <a:noFill/>
                    </a:lnT>
                    <a:lnB>
                      <a:noFill/>
                    </a:lnB>
                  </a:tcPr>
                </a:tc>
                <a:extLst>
                  <a:ext uri="{0D108BD9-81ED-4DB2-BD59-A6C34878D82A}">
                    <a16:rowId xmlns:a16="http://schemas.microsoft.com/office/drawing/2014/main" val="4101053411"/>
                  </a:ext>
                </a:extLst>
              </a:tr>
              <a:tr h="294909">
                <a:tc>
                  <a:txBody>
                    <a:bodyPr/>
                    <a:lstStyle/>
                    <a:p>
                      <a:r>
                        <a:rPr lang="en-ZM" sz="1600" b="1">
                          <a:solidFill>
                            <a:schemeClr val="tx1"/>
                          </a:solidFill>
                        </a:rPr>
                        <a:t>1987</a:t>
                      </a:r>
                      <a:endParaRPr lang="en-ZM" sz="1600">
                        <a:solidFill>
                          <a:schemeClr val="tx1"/>
                        </a:solidFill>
                      </a:endParaRPr>
                    </a:p>
                  </a:txBody>
                  <a:tcPr marL="24942" marR="24942" marT="12471" marB="12471" anchor="ctr">
                    <a:lnL>
                      <a:noFill/>
                    </a:lnL>
                    <a:lnR>
                      <a:noFill/>
                    </a:lnR>
                    <a:lnT>
                      <a:noFill/>
                    </a:lnT>
                    <a:lnB>
                      <a:noFill/>
                    </a:lnB>
                  </a:tcPr>
                </a:tc>
                <a:tc>
                  <a:txBody>
                    <a:bodyPr/>
                    <a:lstStyle/>
                    <a:p>
                      <a:r>
                        <a:rPr lang="en-GB" sz="1600" b="1">
                          <a:solidFill>
                            <a:schemeClr val="tx1"/>
                          </a:solidFill>
                        </a:rPr>
                        <a:t>Windows 2.0</a:t>
                      </a:r>
                      <a:endParaRPr lang="en-GB" sz="1600">
                        <a:solidFill>
                          <a:schemeClr val="tx1"/>
                        </a:solidFill>
                      </a:endParaRPr>
                    </a:p>
                  </a:txBody>
                  <a:tcPr marL="24942" marR="24942" marT="12471" marB="12471" anchor="ctr">
                    <a:lnL>
                      <a:noFill/>
                    </a:lnL>
                    <a:lnR>
                      <a:noFill/>
                    </a:lnR>
                    <a:lnT>
                      <a:noFill/>
                    </a:lnT>
                    <a:lnB>
                      <a:noFill/>
                    </a:lnB>
                  </a:tcPr>
                </a:tc>
                <a:tc>
                  <a:txBody>
                    <a:bodyPr/>
                    <a:lstStyle/>
                    <a:p>
                      <a:r>
                        <a:rPr lang="en-US" sz="1600" dirty="0">
                          <a:solidFill>
                            <a:schemeClr val="tx1"/>
                          </a:solidFill>
                        </a:rPr>
                        <a:t>Overlapping windows; better support for graphics and expanded memory.</a:t>
                      </a:r>
                    </a:p>
                  </a:txBody>
                  <a:tcPr marL="24942" marR="24942" marT="12471" marB="12471" anchor="ctr">
                    <a:lnL>
                      <a:noFill/>
                    </a:lnL>
                    <a:lnR>
                      <a:noFill/>
                    </a:lnR>
                    <a:lnT>
                      <a:noFill/>
                    </a:lnT>
                    <a:lnB>
                      <a:noFill/>
                    </a:lnB>
                  </a:tcPr>
                </a:tc>
                <a:extLst>
                  <a:ext uri="{0D108BD9-81ED-4DB2-BD59-A6C34878D82A}">
                    <a16:rowId xmlns:a16="http://schemas.microsoft.com/office/drawing/2014/main" val="4140800017"/>
                  </a:ext>
                </a:extLst>
              </a:tr>
              <a:tr h="294909">
                <a:tc>
                  <a:txBody>
                    <a:bodyPr/>
                    <a:lstStyle/>
                    <a:p>
                      <a:r>
                        <a:rPr lang="en-ZM" sz="1600" b="1">
                          <a:solidFill>
                            <a:schemeClr val="tx1"/>
                          </a:solidFill>
                        </a:rPr>
                        <a:t>1990</a:t>
                      </a:r>
                      <a:endParaRPr lang="en-ZM" sz="1600">
                        <a:solidFill>
                          <a:schemeClr val="tx1"/>
                        </a:solidFill>
                      </a:endParaRPr>
                    </a:p>
                  </a:txBody>
                  <a:tcPr marL="24942" marR="24942" marT="12471" marB="12471" anchor="ctr">
                    <a:lnL>
                      <a:noFill/>
                    </a:lnL>
                    <a:lnR>
                      <a:noFill/>
                    </a:lnR>
                    <a:lnT>
                      <a:noFill/>
                    </a:lnT>
                    <a:lnB>
                      <a:noFill/>
                    </a:lnB>
                  </a:tcPr>
                </a:tc>
                <a:tc>
                  <a:txBody>
                    <a:bodyPr/>
                    <a:lstStyle/>
                    <a:p>
                      <a:r>
                        <a:rPr lang="en-GB" sz="1600" b="1" dirty="0">
                          <a:solidFill>
                            <a:schemeClr val="tx1"/>
                          </a:solidFill>
                        </a:rPr>
                        <a:t>Windows 3.0</a:t>
                      </a:r>
                      <a:endParaRPr lang="en-GB" sz="1600" dirty="0">
                        <a:solidFill>
                          <a:schemeClr val="tx1"/>
                        </a:solidFill>
                      </a:endParaRPr>
                    </a:p>
                  </a:txBody>
                  <a:tcPr marL="24942" marR="24942" marT="12471" marB="12471" anchor="ctr">
                    <a:lnL>
                      <a:noFill/>
                    </a:lnL>
                    <a:lnR>
                      <a:noFill/>
                    </a:lnR>
                    <a:lnT>
                      <a:noFill/>
                    </a:lnT>
                    <a:lnB>
                      <a:noFill/>
                    </a:lnB>
                  </a:tcPr>
                </a:tc>
                <a:tc>
                  <a:txBody>
                    <a:bodyPr/>
                    <a:lstStyle/>
                    <a:p>
                      <a:r>
                        <a:rPr lang="en-US" sz="1600">
                          <a:solidFill>
                            <a:schemeClr val="tx1"/>
                          </a:solidFill>
                        </a:rPr>
                        <a:t>Major success; introduced Program Manager and File Manager.</a:t>
                      </a:r>
                    </a:p>
                  </a:txBody>
                  <a:tcPr marL="24942" marR="24942" marT="12471" marB="12471" anchor="ctr">
                    <a:lnL>
                      <a:noFill/>
                    </a:lnL>
                    <a:lnR>
                      <a:noFill/>
                    </a:lnR>
                    <a:lnT>
                      <a:noFill/>
                    </a:lnT>
                    <a:lnB>
                      <a:noFill/>
                    </a:lnB>
                  </a:tcPr>
                </a:tc>
                <a:extLst>
                  <a:ext uri="{0D108BD9-81ED-4DB2-BD59-A6C34878D82A}">
                    <a16:rowId xmlns:a16="http://schemas.microsoft.com/office/drawing/2014/main" val="3838193777"/>
                  </a:ext>
                </a:extLst>
              </a:tr>
              <a:tr h="206436">
                <a:tc>
                  <a:txBody>
                    <a:bodyPr/>
                    <a:lstStyle/>
                    <a:p>
                      <a:r>
                        <a:rPr lang="en-ZM" sz="1600" b="1">
                          <a:solidFill>
                            <a:schemeClr val="tx1"/>
                          </a:solidFill>
                        </a:rPr>
                        <a:t>1992</a:t>
                      </a:r>
                      <a:endParaRPr lang="en-ZM" sz="1600">
                        <a:solidFill>
                          <a:schemeClr val="tx1"/>
                        </a:solidFill>
                      </a:endParaRPr>
                    </a:p>
                  </a:txBody>
                  <a:tcPr marL="24942" marR="24942" marT="12471" marB="12471" anchor="ctr">
                    <a:lnL>
                      <a:noFill/>
                    </a:lnL>
                    <a:lnR>
                      <a:noFill/>
                    </a:lnR>
                    <a:lnT>
                      <a:noFill/>
                    </a:lnT>
                    <a:lnB>
                      <a:noFill/>
                    </a:lnB>
                  </a:tcPr>
                </a:tc>
                <a:tc>
                  <a:txBody>
                    <a:bodyPr/>
                    <a:lstStyle/>
                    <a:p>
                      <a:r>
                        <a:rPr lang="en-GB" sz="1600" b="1">
                          <a:solidFill>
                            <a:schemeClr val="tx1"/>
                          </a:solidFill>
                        </a:rPr>
                        <a:t>Windows 3.1</a:t>
                      </a:r>
                      <a:endParaRPr lang="en-GB" sz="1600">
                        <a:solidFill>
                          <a:schemeClr val="tx1"/>
                        </a:solidFill>
                      </a:endParaRPr>
                    </a:p>
                  </a:txBody>
                  <a:tcPr marL="24942" marR="24942" marT="12471" marB="12471" anchor="ctr">
                    <a:lnL>
                      <a:noFill/>
                    </a:lnL>
                    <a:lnR>
                      <a:noFill/>
                    </a:lnR>
                    <a:lnT>
                      <a:noFill/>
                    </a:lnT>
                    <a:lnB>
                      <a:noFill/>
                    </a:lnB>
                  </a:tcPr>
                </a:tc>
                <a:tc>
                  <a:txBody>
                    <a:bodyPr/>
                    <a:lstStyle/>
                    <a:p>
                      <a:r>
                        <a:rPr lang="en-US" sz="1600">
                          <a:solidFill>
                            <a:schemeClr val="tx1"/>
                          </a:solidFill>
                        </a:rPr>
                        <a:t>TrueType fonts, multimedia support; widely used.</a:t>
                      </a:r>
                    </a:p>
                  </a:txBody>
                  <a:tcPr marL="24942" marR="24942" marT="12471" marB="12471" anchor="ctr">
                    <a:lnL>
                      <a:noFill/>
                    </a:lnL>
                    <a:lnR>
                      <a:noFill/>
                    </a:lnR>
                    <a:lnT>
                      <a:noFill/>
                    </a:lnT>
                    <a:lnB>
                      <a:noFill/>
                    </a:lnB>
                  </a:tcPr>
                </a:tc>
                <a:extLst>
                  <a:ext uri="{0D108BD9-81ED-4DB2-BD59-A6C34878D82A}">
                    <a16:rowId xmlns:a16="http://schemas.microsoft.com/office/drawing/2014/main" val="3377564862"/>
                  </a:ext>
                </a:extLst>
              </a:tr>
              <a:tr h="206436">
                <a:tc>
                  <a:txBody>
                    <a:bodyPr/>
                    <a:lstStyle/>
                    <a:p>
                      <a:r>
                        <a:rPr lang="en-ZM" sz="1600" b="1">
                          <a:solidFill>
                            <a:schemeClr val="tx1"/>
                          </a:solidFill>
                        </a:rPr>
                        <a:t>1993</a:t>
                      </a:r>
                      <a:endParaRPr lang="en-ZM" sz="1600">
                        <a:solidFill>
                          <a:schemeClr val="tx1"/>
                        </a:solidFill>
                      </a:endParaRPr>
                    </a:p>
                  </a:txBody>
                  <a:tcPr marL="24942" marR="24942" marT="12471" marB="12471" anchor="ctr">
                    <a:lnL>
                      <a:noFill/>
                    </a:lnL>
                    <a:lnR>
                      <a:noFill/>
                    </a:lnR>
                    <a:lnT>
                      <a:noFill/>
                    </a:lnT>
                    <a:lnB>
                      <a:noFill/>
                    </a:lnB>
                  </a:tcPr>
                </a:tc>
                <a:tc>
                  <a:txBody>
                    <a:bodyPr/>
                    <a:lstStyle/>
                    <a:p>
                      <a:r>
                        <a:rPr lang="en-GB" sz="1600" b="1">
                          <a:solidFill>
                            <a:schemeClr val="tx1"/>
                          </a:solidFill>
                        </a:rPr>
                        <a:t>Windows NT 3.1</a:t>
                      </a:r>
                      <a:endParaRPr lang="en-GB" sz="1600">
                        <a:solidFill>
                          <a:schemeClr val="tx1"/>
                        </a:solidFill>
                      </a:endParaRPr>
                    </a:p>
                  </a:txBody>
                  <a:tcPr marL="24942" marR="24942" marT="12471" marB="12471" anchor="ctr">
                    <a:lnL>
                      <a:noFill/>
                    </a:lnL>
                    <a:lnR>
                      <a:noFill/>
                    </a:lnR>
                    <a:lnT>
                      <a:noFill/>
                    </a:lnT>
                    <a:lnB>
                      <a:noFill/>
                    </a:lnB>
                  </a:tcPr>
                </a:tc>
                <a:tc>
                  <a:txBody>
                    <a:bodyPr/>
                    <a:lstStyle/>
                    <a:p>
                      <a:r>
                        <a:rPr lang="en-US" sz="1600">
                          <a:solidFill>
                            <a:schemeClr val="tx1"/>
                          </a:solidFill>
                        </a:rPr>
                        <a:t>First version of Windows NT (New Technology); built for enterprise.</a:t>
                      </a:r>
                    </a:p>
                  </a:txBody>
                  <a:tcPr marL="24942" marR="24942" marT="12471" marB="12471" anchor="ctr">
                    <a:lnL>
                      <a:noFill/>
                    </a:lnL>
                    <a:lnR>
                      <a:noFill/>
                    </a:lnR>
                    <a:lnT>
                      <a:noFill/>
                    </a:lnT>
                    <a:lnB>
                      <a:noFill/>
                    </a:lnB>
                  </a:tcPr>
                </a:tc>
                <a:extLst>
                  <a:ext uri="{0D108BD9-81ED-4DB2-BD59-A6C34878D82A}">
                    <a16:rowId xmlns:a16="http://schemas.microsoft.com/office/drawing/2014/main" val="2256368414"/>
                  </a:ext>
                </a:extLst>
              </a:tr>
              <a:tr h="294909">
                <a:tc>
                  <a:txBody>
                    <a:bodyPr/>
                    <a:lstStyle/>
                    <a:p>
                      <a:r>
                        <a:rPr lang="en-ZM" sz="1600" b="1">
                          <a:solidFill>
                            <a:schemeClr val="tx1"/>
                          </a:solidFill>
                        </a:rPr>
                        <a:t>1995</a:t>
                      </a:r>
                      <a:endParaRPr lang="en-ZM" sz="1600">
                        <a:solidFill>
                          <a:schemeClr val="tx1"/>
                        </a:solidFill>
                      </a:endParaRPr>
                    </a:p>
                  </a:txBody>
                  <a:tcPr marL="24942" marR="24942" marT="12471" marB="12471" anchor="ctr">
                    <a:lnL>
                      <a:noFill/>
                    </a:lnL>
                    <a:lnR>
                      <a:noFill/>
                    </a:lnR>
                    <a:lnT>
                      <a:noFill/>
                    </a:lnT>
                    <a:lnB>
                      <a:noFill/>
                    </a:lnB>
                  </a:tcPr>
                </a:tc>
                <a:tc>
                  <a:txBody>
                    <a:bodyPr/>
                    <a:lstStyle/>
                    <a:p>
                      <a:r>
                        <a:rPr lang="en-GB" sz="1600" b="1" dirty="0">
                          <a:solidFill>
                            <a:schemeClr val="tx1"/>
                          </a:solidFill>
                        </a:rPr>
                        <a:t>Windows 95</a:t>
                      </a:r>
                      <a:endParaRPr lang="en-GB" sz="1600" dirty="0">
                        <a:solidFill>
                          <a:schemeClr val="tx1"/>
                        </a:solidFill>
                      </a:endParaRPr>
                    </a:p>
                  </a:txBody>
                  <a:tcPr marL="24942" marR="24942" marT="12471" marB="12471" anchor="ctr">
                    <a:lnL>
                      <a:noFill/>
                    </a:lnL>
                    <a:lnR>
                      <a:noFill/>
                    </a:lnR>
                    <a:lnT>
                      <a:noFill/>
                    </a:lnT>
                    <a:lnB>
                      <a:noFill/>
                    </a:lnB>
                  </a:tcPr>
                </a:tc>
                <a:tc>
                  <a:txBody>
                    <a:bodyPr/>
                    <a:lstStyle/>
                    <a:p>
                      <a:r>
                        <a:rPr lang="en-US" sz="1600">
                          <a:solidFill>
                            <a:schemeClr val="tx1"/>
                          </a:solidFill>
                        </a:rPr>
                        <a:t>32-bit OS, Plug and Play, Start Menu, Taskbar; MS-DOS still underneath.</a:t>
                      </a:r>
                    </a:p>
                  </a:txBody>
                  <a:tcPr marL="24942" marR="24942" marT="12471" marB="12471" anchor="ctr">
                    <a:lnL>
                      <a:noFill/>
                    </a:lnL>
                    <a:lnR>
                      <a:noFill/>
                    </a:lnR>
                    <a:lnT>
                      <a:noFill/>
                    </a:lnT>
                    <a:lnB>
                      <a:noFill/>
                    </a:lnB>
                  </a:tcPr>
                </a:tc>
                <a:extLst>
                  <a:ext uri="{0D108BD9-81ED-4DB2-BD59-A6C34878D82A}">
                    <a16:rowId xmlns:a16="http://schemas.microsoft.com/office/drawing/2014/main" val="1228157432"/>
                  </a:ext>
                </a:extLst>
              </a:tr>
              <a:tr h="206436">
                <a:tc>
                  <a:txBody>
                    <a:bodyPr/>
                    <a:lstStyle/>
                    <a:p>
                      <a:r>
                        <a:rPr lang="en-ZM" sz="1600" b="1">
                          <a:solidFill>
                            <a:schemeClr val="tx1"/>
                          </a:solidFill>
                        </a:rPr>
                        <a:t>1996</a:t>
                      </a:r>
                      <a:endParaRPr lang="en-ZM" sz="1600">
                        <a:solidFill>
                          <a:schemeClr val="tx1"/>
                        </a:solidFill>
                      </a:endParaRPr>
                    </a:p>
                  </a:txBody>
                  <a:tcPr marL="24942" marR="24942" marT="12471" marB="12471" anchor="ctr">
                    <a:lnL>
                      <a:noFill/>
                    </a:lnL>
                    <a:lnR>
                      <a:noFill/>
                    </a:lnR>
                    <a:lnT>
                      <a:noFill/>
                    </a:lnT>
                    <a:lnB>
                      <a:noFill/>
                    </a:lnB>
                  </a:tcPr>
                </a:tc>
                <a:tc>
                  <a:txBody>
                    <a:bodyPr/>
                    <a:lstStyle/>
                    <a:p>
                      <a:r>
                        <a:rPr lang="en-GB" sz="1600" b="1">
                          <a:solidFill>
                            <a:schemeClr val="tx1"/>
                          </a:solidFill>
                        </a:rPr>
                        <a:t>Windows NT 4.0</a:t>
                      </a:r>
                      <a:endParaRPr lang="en-GB" sz="1600">
                        <a:solidFill>
                          <a:schemeClr val="tx1"/>
                        </a:solidFill>
                      </a:endParaRPr>
                    </a:p>
                  </a:txBody>
                  <a:tcPr marL="24942" marR="24942" marT="12471" marB="12471" anchor="ctr">
                    <a:lnL>
                      <a:noFill/>
                    </a:lnL>
                    <a:lnR>
                      <a:noFill/>
                    </a:lnR>
                    <a:lnT>
                      <a:noFill/>
                    </a:lnT>
                    <a:lnB>
                      <a:noFill/>
                    </a:lnB>
                  </a:tcPr>
                </a:tc>
                <a:tc>
                  <a:txBody>
                    <a:bodyPr/>
                    <a:lstStyle/>
                    <a:p>
                      <a:r>
                        <a:rPr lang="en-US" sz="1600">
                          <a:solidFill>
                            <a:schemeClr val="tx1"/>
                          </a:solidFill>
                        </a:rPr>
                        <a:t>NT stability with a Windows 95-style interface.</a:t>
                      </a:r>
                    </a:p>
                  </a:txBody>
                  <a:tcPr marL="24942" marR="24942" marT="12471" marB="12471" anchor="ctr">
                    <a:lnL>
                      <a:noFill/>
                    </a:lnL>
                    <a:lnR>
                      <a:noFill/>
                    </a:lnR>
                    <a:lnT>
                      <a:noFill/>
                    </a:lnT>
                    <a:lnB>
                      <a:noFill/>
                    </a:lnB>
                  </a:tcPr>
                </a:tc>
                <a:extLst>
                  <a:ext uri="{0D108BD9-81ED-4DB2-BD59-A6C34878D82A}">
                    <a16:rowId xmlns:a16="http://schemas.microsoft.com/office/drawing/2014/main" val="1790226018"/>
                  </a:ext>
                </a:extLst>
              </a:tr>
              <a:tr h="206436">
                <a:tc>
                  <a:txBody>
                    <a:bodyPr/>
                    <a:lstStyle/>
                    <a:p>
                      <a:r>
                        <a:rPr lang="en-ZM" sz="1600" b="1">
                          <a:solidFill>
                            <a:schemeClr val="tx1"/>
                          </a:solidFill>
                        </a:rPr>
                        <a:t>1998</a:t>
                      </a:r>
                      <a:endParaRPr lang="en-ZM" sz="1600">
                        <a:solidFill>
                          <a:schemeClr val="tx1"/>
                        </a:solidFill>
                      </a:endParaRPr>
                    </a:p>
                  </a:txBody>
                  <a:tcPr marL="24942" marR="24942" marT="12471" marB="12471" anchor="ctr">
                    <a:lnL>
                      <a:noFill/>
                    </a:lnL>
                    <a:lnR>
                      <a:noFill/>
                    </a:lnR>
                    <a:lnT>
                      <a:noFill/>
                    </a:lnT>
                    <a:lnB>
                      <a:noFill/>
                    </a:lnB>
                  </a:tcPr>
                </a:tc>
                <a:tc>
                  <a:txBody>
                    <a:bodyPr/>
                    <a:lstStyle/>
                    <a:p>
                      <a:r>
                        <a:rPr lang="en-GB" sz="1600" b="1">
                          <a:solidFill>
                            <a:schemeClr val="tx1"/>
                          </a:solidFill>
                        </a:rPr>
                        <a:t>Windows 98</a:t>
                      </a:r>
                      <a:endParaRPr lang="en-GB" sz="1600">
                        <a:solidFill>
                          <a:schemeClr val="tx1"/>
                        </a:solidFill>
                      </a:endParaRPr>
                    </a:p>
                  </a:txBody>
                  <a:tcPr marL="24942" marR="24942" marT="12471" marB="12471" anchor="ctr">
                    <a:lnL>
                      <a:noFill/>
                    </a:lnL>
                    <a:lnR>
                      <a:noFill/>
                    </a:lnR>
                    <a:lnT>
                      <a:noFill/>
                    </a:lnT>
                    <a:lnB>
                      <a:noFill/>
                    </a:lnB>
                  </a:tcPr>
                </a:tc>
                <a:tc>
                  <a:txBody>
                    <a:bodyPr/>
                    <a:lstStyle/>
                    <a:p>
                      <a:r>
                        <a:rPr lang="en-GB" sz="1600">
                          <a:solidFill>
                            <a:schemeClr val="tx1"/>
                          </a:solidFill>
                        </a:rPr>
                        <a:t>Internet Explorer integrated; USB support.</a:t>
                      </a:r>
                    </a:p>
                  </a:txBody>
                  <a:tcPr marL="24942" marR="24942" marT="12471" marB="12471" anchor="ctr">
                    <a:lnL>
                      <a:noFill/>
                    </a:lnL>
                    <a:lnR>
                      <a:noFill/>
                    </a:lnR>
                    <a:lnT>
                      <a:noFill/>
                    </a:lnT>
                    <a:lnB>
                      <a:noFill/>
                    </a:lnB>
                  </a:tcPr>
                </a:tc>
                <a:extLst>
                  <a:ext uri="{0D108BD9-81ED-4DB2-BD59-A6C34878D82A}">
                    <a16:rowId xmlns:a16="http://schemas.microsoft.com/office/drawing/2014/main" val="2888283511"/>
                  </a:ext>
                </a:extLst>
              </a:tr>
              <a:tr h="206436">
                <a:tc>
                  <a:txBody>
                    <a:bodyPr/>
                    <a:lstStyle/>
                    <a:p>
                      <a:r>
                        <a:rPr lang="en-ZM" sz="1600" b="1">
                          <a:solidFill>
                            <a:schemeClr val="tx1"/>
                          </a:solidFill>
                        </a:rPr>
                        <a:t>2000</a:t>
                      </a:r>
                      <a:endParaRPr lang="en-ZM" sz="1600">
                        <a:solidFill>
                          <a:schemeClr val="tx1"/>
                        </a:solidFill>
                      </a:endParaRPr>
                    </a:p>
                  </a:txBody>
                  <a:tcPr marL="24942" marR="24942" marT="12471" marB="12471" anchor="ctr">
                    <a:lnL>
                      <a:noFill/>
                    </a:lnL>
                    <a:lnR>
                      <a:noFill/>
                    </a:lnR>
                    <a:lnT>
                      <a:noFill/>
                    </a:lnT>
                    <a:lnB>
                      <a:noFill/>
                    </a:lnB>
                  </a:tcPr>
                </a:tc>
                <a:tc>
                  <a:txBody>
                    <a:bodyPr/>
                    <a:lstStyle/>
                    <a:p>
                      <a:r>
                        <a:rPr lang="en-GB" sz="1600" b="1">
                          <a:solidFill>
                            <a:schemeClr val="tx1"/>
                          </a:solidFill>
                        </a:rPr>
                        <a:t>Windows 2000</a:t>
                      </a:r>
                      <a:endParaRPr lang="en-GB" sz="1600">
                        <a:solidFill>
                          <a:schemeClr val="tx1"/>
                        </a:solidFill>
                      </a:endParaRPr>
                    </a:p>
                  </a:txBody>
                  <a:tcPr marL="24942" marR="24942" marT="12471" marB="12471" anchor="ctr">
                    <a:lnL>
                      <a:noFill/>
                    </a:lnL>
                    <a:lnR>
                      <a:noFill/>
                    </a:lnR>
                    <a:lnT>
                      <a:noFill/>
                    </a:lnT>
                    <a:lnB>
                      <a:noFill/>
                    </a:lnB>
                  </a:tcPr>
                </a:tc>
                <a:tc>
                  <a:txBody>
                    <a:bodyPr/>
                    <a:lstStyle/>
                    <a:p>
                      <a:r>
                        <a:rPr lang="en-US" sz="1600">
                          <a:solidFill>
                            <a:schemeClr val="tx1"/>
                          </a:solidFill>
                        </a:rPr>
                        <a:t>Based on NT; aimed at business users.</a:t>
                      </a:r>
                    </a:p>
                  </a:txBody>
                  <a:tcPr marL="24942" marR="24942" marT="12471" marB="12471" anchor="ctr">
                    <a:lnL>
                      <a:noFill/>
                    </a:lnL>
                    <a:lnR>
                      <a:noFill/>
                    </a:lnR>
                    <a:lnT>
                      <a:noFill/>
                    </a:lnT>
                    <a:lnB>
                      <a:noFill/>
                    </a:lnB>
                  </a:tcPr>
                </a:tc>
                <a:extLst>
                  <a:ext uri="{0D108BD9-81ED-4DB2-BD59-A6C34878D82A}">
                    <a16:rowId xmlns:a16="http://schemas.microsoft.com/office/drawing/2014/main" val="2670602195"/>
                  </a:ext>
                </a:extLst>
              </a:tr>
              <a:tr h="206436">
                <a:tc>
                  <a:txBody>
                    <a:bodyPr/>
                    <a:lstStyle/>
                    <a:p>
                      <a:r>
                        <a:rPr lang="en-ZM" sz="1600" b="1">
                          <a:solidFill>
                            <a:schemeClr val="tx1"/>
                          </a:solidFill>
                        </a:rPr>
                        <a:t>2000</a:t>
                      </a:r>
                      <a:endParaRPr lang="en-ZM" sz="1600">
                        <a:solidFill>
                          <a:schemeClr val="tx1"/>
                        </a:solidFill>
                      </a:endParaRPr>
                    </a:p>
                  </a:txBody>
                  <a:tcPr marL="24942" marR="24942" marT="12471" marB="12471" anchor="ctr">
                    <a:lnL>
                      <a:noFill/>
                    </a:lnL>
                    <a:lnR>
                      <a:noFill/>
                    </a:lnR>
                    <a:lnT>
                      <a:noFill/>
                    </a:lnT>
                    <a:lnB>
                      <a:noFill/>
                    </a:lnB>
                  </a:tcPr>
                </a:tc>
                <a:tc>
                  <a:txBody>
                    <a:bodyPr/>
                    <a:lstStyle/>
                    <a:p>
                      <a:r>
                        <a:rPr lang="en-GB" sz="1600" b="1">
                          <a:solidFill>
                            <a:schemeClr val="tx1"/>
                          </a:solidFill>
                        </a:rPr>
                        <a:t>Windows ME (Millennium Edition)</a:t>
                      </a:r>
                      <a:endParaRPr lang="en-GB" sz="1600">
                        <a:solidFill>
                          <a:schemeClr val="tx1"/>
                        </a:solidFill>
                      </a:endParaRPr>
                    </a:p>
                  </a:txBody>
                  <a:tcPr marL="24942" marR="24942" marT="12471" marB="12471" anchor="ctr">
                    <a:lnL>
                      <a:noFill/>
                    </a:lnL>
                    <a:lnR>
                      <a:noFill/>
                    </a:lnR>
                    <a:lnT>
                      <a:noFill/>
                    </a:lnT>
                    <a:lnB>
                      <a:noFill/>
                    </a:lnB>
                  </a:tcPr>
                </a:tc>
                <a:tc>
                  <a:txBody>
                    <a:bodyPr/>
                    <a:lstStyle/>
                    <a:p>
                      <a:r>
                        <a:rPr lang="en-US" sz="1600">
                          <a:solidFill>
                            <a:schemeClr val="tx1"/>
                          </a:solidFill>
                        </a:rPr>
                        <a:t>Last DOS-based Windows; buggy and unpopular.</a:t>
                      </a:r>
                    </a:p>
                  </a:txBody>
                  <a:tcPr marL="24942" marR="24942" marT="12471" marB="12471" anchor="ctr">
                    <a:lnL>
                      <a:noFill/>
                    </a:lnL>
                    <a:lnR>
                      <a:noFill/>
                    </a:lnR>
                    <a:lnT>
                      <a:noFill/>
                    </a:lnT>
                    <a:lnB>
                      <a:noFill/>
                    </a:lnB>
                  </a:tcPr>
                </a:tc>
                <a:extLst>
                  <a:ext uri="{0D108BD9-81ED-4DB2-BD59-A6C34878D82A}">
                    <a16:rowId xmlns:a16="http://schemas.microsoft.com/office/drawing/2014/main" val="3298973324"/>
                  </a:ext>
                </a:extLst>
              </a:tr>
              <a:tr h="206436">
                <a:tc>
                  <a:txBody>
                    <a:bodyPr/>
                    <a:lstStyle/>
                    <a:p>
                      <a:r>
                        <a:rPr lang="en-ZM" sz="1600" b="1">
                          <a:solidFill>
                            <a:schemeClr val="tx1"/>
                          </a:solidFill>
                        </a:rPr>
                        <a:t>2001</a:t>
                      </a:r>
                      <a:endParaRPr lang="en-ZM" sz="1600">
                        <a:solidFill>
                          <a:schemeClr val="tx1"/>
                        </a:solidFill>
                      </a:endParaRPr>
                    </a:p>
                  </a:txBody>
                  <a:tcPr marL="24942" marR="24942" marT="12471" marB="12471" anchor="ctr">
                    <a:lnL>
                      <a:noFill/>
                    </a:lnL>
                    <a:lnR>
                      <a:noFill/>
                    </a:lnR>
                    <a:lnT>
                      <a:noFill/>
                    </a:lnT>
                    <a:lnB>
                      <a:noFill/>
                    </a:lnB>
                  </a:tcPr>
                </a:tc>
                <a:tc>
                  <a:txBody>
                    <a:bodyPr/>
                    <a:lstStyle/>
                    <a:p>
                      <a:r>
                        <a:rPr lang="en-GB" sz="1600" b="1">
                          <a:solidFill>
                            <a:schemeClr val="tx1"/>
                          </a:solidFill>
                        </a:rPr>
                        <a:t>Windows XP</a:t>
                      </a:r>
                      <a:endParaRPr lang="en-GB" sz="1600">
                        <a:solidFill>
                          <a:schemeClr val="tx1"/>
                        </a:solidFill>
                      </a:endParaRPr>
                    </a:p>
                  </a:txBody>
                  <a:tcPr marL="24942" marR="24942" marT="12471" marB="12471" anchor="ctr">
                    <a:lnL>
                      <a:noFill/>
                    </a:lnL>
                    <a:lnR>
                      <a:noFill/>
                    </a:lnR>
                    <a:lnT>
                      <a:noFill/>
                    </a:lnT>
                    <a:lnB>
                      <a:noFill/>
                    </a:lnB>
                  </a:tcPr>
                </a:tc>
                <a:tc>
                  <a:txBody>
                    <a:bodyPr/>
                    <a:lstStyle/>
                    <a:p>
                      <a:r>
                        <a:rPr lang="en-US" sz="1600">
                          <a:solidFill>
                            <a:schemeClr val="tx1"/>
                          </a:solidFill>
                        </a:rPr>
                        <a:t>Unified NT and 9x lines; user-friendly, long-lasting.</a:t>
                      </a:r>
                    </a:p>
                  </a:txBody>
                  <a:tcPr marL="24942" marR="24942" marT="12471" marB="12471" anchor="ctr">
                    <a:lnL>
                      <a:noFill/>
                    </a:lnL>
                    <a:lnR>
                      <a:noFill/>
                    </a:lnR>
                    <a:lnT>
                      <a:noFill/>
                    </a:lnT>
                    <a:lnB>
                      <a:noFill/>
                    </a:lnB>
                  </a:tcPr>
                </a:tc>
                <a:extLst>
                  <a:ext uri="{0D108BD9-81ED-4DB2-BD59-A6C34878D82A}">
                    <a16:rowId xmlns:a16="http://schemas.microsoft.com/office/drawing/2014/main" val="3041524815"/>
                  </a:ext>
                </a:extLst>
              </a:tr>
              <a:tr h="206436">
                <a:tc>
                  <a:txBody>
                    <a:bodyPr/>
                    <a:lstStyle/>
                    <a:p>
                      <a:r>
                        <a:rPr lang="en-ZM" sz="1600" b="1">
                          <a:solidFill>
                            <a:schemeClr val="tx1"/>
                          </a:solidFill>
                        </a:rPr>
                        <a:t>2007</a:t>
                      </a:r>
                      <a:endParaRPr lang="en-ZM" sz="1600">
                        <a:solidFill>
                          <a:schemeClr val="tx1"/>
                        </a:solidFill>
                      </a:endParaRPr>
                    </a:p>
                  </a:txBody>
                  <a:tcPr marL="24942" marR="24942" marT="12471" marB="12471" anchor="ctr">
                    <a:lnL>
                      <a:noFill/>
                    </a:lnL>
                    <a:lnR>
                      <a:noFill/>
                    </a:lnR>
                    <a:lnT>
                      <a:noFill/>
                    </a:lnT>
                    <a:lnB>
                      <a:noFill/>
                    </a:lnB>
                  </a:tcPr>
                </a:tc>
                <a:tc>
                  <a:txBody>
                    <a:bodyPr/>
                    <a:lstStyle/>
                    <a:p>
                      <a:r>
                        <a:rPr lang="en-GB" sz="1600" b="1">
                          <a:solidFill>
                            <a:schemeClr val="tx1"/>
                          </a:solidFill>
                        </a:rPr>
                        <a:t>Windows Vista</a:t>
                      </a:r>
                      <a:endParaRPr lang="en-GB" sz="1600">
                        <a:solidFill>
                          <a:schemeClr val="tx1"/>
                        </a:solidFill>
                      </a:endParaRPr>
                    </a:p>
                  </a:txBody>
                  <a:tcPr marL="24942" marR="24942" marT="12471" marB="12471" anchor="ctr">
                    <a:lnL>
                      <a:noFill/>
                    </a:lnL>
                    <a:lnR>
                      <a:noFill/>
                    </a:lnR>
                    <a:lnT>
                      <a:noFill/>
                    </a:lnT>
                    <a:lnB>
                      <a:noFill/>
                    </a:lnB>
                  </a:tcPr>
                </a:tc>
                <a:tc>
                  <a:txBody>
                    <a:bodyPr/>
                    <a:lstStyle/>
                    <a:p>
                      <a:r>
                        <a:rPr lang="en-US" sz="1600">
                          <a:solidFill>
                            <a:schemeClr val="tx1"/>
                          </a:solidFill>
                        </a:rPr>
                        <a:t>New Aero UI, UAC security; resource-heavy, mixed reception.</a:t>
                      </a:r>
                    </a:p>
                  </a:txBody>
                  <a:tcPr marL="24942" marR="24942" marT="12471" marB="12471" anchor="ctr">
                    <a:lnL>
                      <a:noFill/>
                    </a:lnL>
                    <a:lnR>
                      <a:noFill/>
                    </a:lnR>
                    <a:lnT>
                      <a:noFill/>
                    </a:lnT>
                    <a:lnB>
                      <a:noFill/>
                    </a:lnB>
                  </a:tcPr>
                </a:tc>
                <a:extLst>
                  <a:ext uri="{0D108BD9-81ED-4DB2-BD59-A6C34878D82A}">
                    <a16:rowId xmlns:a16="http://schemas.microsoft.com/office/drawing/2014/main" val="3615344674"/>
                  </a:ext>
                </a:extLst>
              </a:tr>
              <a:tr h="206436">
                <a:tc>
                  <a:txBody>
                    <a:bodyPr/>
                    <a:lstStyle/>
                    <a:p>
                      <a:r>
                        <a:rPr lang="en-ZM" sz="1600" b="1">
                          <a:solidFill>
                            <a:schemeClr val="tx1"/>
                          </a:solidFill>
                        </a:rPr>
                        <a:t>2009</a:t>
                      </a:r>
                      <a:endParaRPr lang="en-ZM" sz="1600">
                        <a:solidFill>
                          <a:schemeClr val="tx1"/>
                        </a:solidFill>
                      </a:endParaRPr>
                    </a:p>
                  </a:txBody>
                  <a:tcPr marL="24942" marR="24942" marT="12471" marB="12471" anchor="ctr">
                    <a:lnL>
                      <a:noFill/>
                    </a:lnL>
                    <a:lnR>
                      <a:noFill/>
                    </a:lnR>
                    <a:lnT>
                      <a:noFill/>
                    </a:lnT>
                    <a:lnB>
                      <a:noFill/>
                    </a:lnB>
                  </a:tcPr>
                </a:tc>
                <a:tc>
                  <a:txBody>
                    <a:bodyPr/>
                    <a:lstStyle/>
                    <a:p>
                      <a:r>
                        <a:rPr lang="en-GB" sz="1600" b="1">
                          <a:solidFill>
                            <a:schemeClr val="tx1"/>
                          </a:solidFill>
                        </a:rPr>
                        <a:t>Windows 7</a:t>
                      </a:r>
                      <a:endParaRPr lang="en-GB" sz="1600">
                        <a:solidFill>
                          <a:schemeClr val="tx1"/>
                        </a:solidFill>
                      </a:endParaRPr>
                    </a:p>
                  </a:txBody>
                  <a:tcPr marL="24942" marR="24942" marT="12471" marB="12471" anchor="ctr">
                    <a:lnL>
                      <a:noFill/>
                    </a:lnL>
                    <a:lnR>
                      <a:noFill/>
                    </a:lnR>
                    <a:lnT>
                      <a:noFill/>
                    </a:lnT>
                    <a:lnB>
                      <a:noFill/>
                    </a:lnB>
                  </a:tcPr>
                </a:tc>
                <a:tc>
                  <a:txBody>
                    <a:bodyPr/>
                    <a:lstStyle/>
                    <a:p>
                      <a:r>
                        <a:rPr lang="en-GB" sz="1600">
                          <a:solidFill>
                            <a:schemeClr val="tx1"/>
                          </a:solidFill>
                        </a:rPr>
                        <a:t>Performance-focused; hugely popular.</a:t>
                      </a:r>
                    </a:p>
                  </a:txBody>
                  <a:tcPr marL="24942" marR="24942" marT="12471" marB="12471" anchor="ctr">
                    <a:lnL>
                      <a:noFill/>
                    </a:lnL>
                    <a:lnR>
                      <a:noFill/>
                    </a:lnR>
                    <a:lnT>
                      <a:noFill/>
                    </a:lnT>
                    <a:lnB>
                      <a:noFill/>
                    </a:lnB>
                  </a:tcPr>
                </a:tc>
                <a:extLst>
                  <a:ext uri="{0D108BD9-81ED-4DB2-BD59-A6C34878D82A}">
                    <a16:rowId xmlns:a16="http://schemas.microsoft.com/office/drawing/2014/main" val="1063107093"/>
                  </a:ext>
                </a:extLst>
              </a:tr>
              <a:tr h="206436">
                <a:tc>
                  <a:txBody>
                    <a:bodyPr/>
                    <a:lstStyle/>
                    <a:p>
                      <a:r>
                        <a:rPr lang="en-ZM" sz="1600" b="1">
                          <a:solidFill>
                            <a:schemeClr val="tx1"/>
                          </a:solidFill>
                        </a:rPr>
                        <a:t>2012</a:t>
                      </a:r>
                      <a:endParaRPr lang="en-ZM" sz="1600">
                        <a:solidFill>
                          <a:schemeClr val="tx1"/>
                        </a:solidFill>
                      </a:endParaRPr>
                    </a:p>
                  </a:txBody>
                  <a:tcPr marL="24942" marR="24942" marT="12471" marB="12471" anchor="ctr">
                    <a:lnL>
                      <a:noFill/>
                    </a:lnL>
                    <a:lnR>
                      <a:noFill/>
                    </a:lnR>
                    <a:lnT>
                      <a:noFill/>
                    </a:lnT>
                    <a:lnB>
                      <a:noFill/>
                    </a:lnB>
                  </a:tcPr>
                </a:tc>
                <a:tc>
                  <a:txBody>
                    <a:bodyPr/>
                    <a:lstStyle/>
                    <a:p>
                      <a:r>
                        <a:rPr lang="en-GB" sz="1600" b="1">
                          <a:solidFill>
                            <a:schemeClr val="tx1"/>
                          </a:solidFill>
                        </a:rPr>
                        <a:t>Windows 8</a:t>
                      </a:r>
                      <a:endParaRPr lang="en-GB" sz="1600">
                        <a:solidFill>
                          <a:schemeClr val="tx1"/>
                        </a:solidFill>
                      </a:endParaRPr>
                    </a:p>
                  </a:txBody>
                  <a:tcPr marL="24942" marR="24942" marT="12471" marB="12471" anchor="ctr">
                    <a:lnL>
                      <a:noFill/>
                    </a:lnL>
                    <a:lnR>
                      <a:noFill/>
                    </a:lnR>
                    <a:lnT>
                      <a:noFill/>
                    </a:lnT>
                    <a:lnB>
                      <a:noFill/>
                    </a:lnB>
                  </a:tcPr>
                </a:tc>
                <a:tc>
                  <a:txBody>
                    <a:bodyPr/>
                    <a:lstStyle/>
                    <a:p>
                      <a:r>
                        <a:rPr lang="en-US" sz="1600">
                          <a:solidFill>
                            <a:schemeClr val="tx1"/>
                          </a:solidFill>
                        </a:rPr>
                        <a:t>Touch-first UI, removed Start Menu; poorly received.</a:t>
                      </a:r>
                    </a:p>
                  </a:txBody>
                  <a:tcPr marL="24942" marR="24942" marT="12471" marB="12471" anchor="ctr">
                    <a:lnL>
                      <a:noFill/>
                    </a:lnL>
                    <a:lnR>
                      <a:noFill/>
                    </a:lnR>
                    <a:lnT>
                      <a:noFill/>
                    </a:lnT>
                    <a:lnB>
                      <a:noFill/>
                    </a:lnB>
                  </a:tcPr>
                </a:tc>
                <a:extLst>
                  <a:ext uri="{0D108BD9-81ED-4DB2-BD59-A6C34878D82A}">
                    <a16:rowId xmlns:a16="http://schemas.microsoft.com/office/drawing/2014/main" val="393753324"/>
                  </a:ext>
                </a:extLst>
              </a:tr>
              <a:tr h="206436">
                <a:tc>
                  <a:txBody>
                    <a:bodyPr/>
                    <a:lstStyle/>
                    <a:p>
                      <a:r>
                        <a:rPr lang="en-ZM" sz="1600" b="1">
                          <a:solidFill>
                            <a:schemeClr val="tx1"/>
                          </a:solidFill>
                        </a:rPr>
                        <a:t>2013</a:t>
                      </a:r>
                      <a:endParaRPr lang="en-ZM" sz="1600">
                        <a:solidFill>
                          <a:schemeClr val="tx1"/>
                        </a:solidFill>
                      </a:endParaRPr>
                    </a:p>
                  </a:txBody>
                  <a:tcPr marL="24942" marR="24942" marT="12471" marB="12471" anchor="ctr">
                    <a:lnL>
                      <a:noFill/>
                    </a:lnL>
                    <a:lnR>
                      <a:noFill/>
                    </a:lnR>
                    <a:lnT>
                      <a:noFill/>
                    </a:lnT>
                    <a:lnB>
                      <a:noFill/>
                    </a:lnB>
                  </a:tcPr>
                </a:tc>
                <a:tc>
                  <a:txBody>
                    <a:bodyPr/>
                    <a:lstStyle/>
                    <a:p>
                      <a:r>
                        <a:rPr lang="en-GB" sz="1600" b="1">
                          <a:solidFill>
                            <a:schemeClr val="tx1"/>
                          </a:solidFill>
                        </a:rPr>
                        <a:t>Windows 8.1</a:t>
                      </a:r>
                      <a:endParaRPr lang="en-GB" sz="1600">
                        <a:solidFill>
                          <a:schemeClr val="tx1"/>
                        </a:solidFill>
                      </a:endParaRPr>
                    </a:p>
                  </a:txBody>
                  <a:tcPr marL="24942" marR="24942" marT="12471" marB="12471" anchor="ctr">
                    <a:lnL>
                      <a:noFill/>
                    </a:lnL>
                    <a:lnR>
                      <a:noFill/>
                    </a:lnR>
                    <a:lnT>
                      <a:noFill/>
                    </a:lnT>
                    <a:lnB>
                      <a:noFill/>
                    </a:lnB>
                  </a:tcPr>
                </a:tc>
                <a:tc>
                  <a:txBody>
                    <a:bodyPr/>
                    <a:lstStyle/>
                    <a:p>
                      <a:r>
                        <a:rPr lang="en-US" sz="1600">
                          <a:solidFill>
                            <a:schemeClr val="tx1"/>
                          </a:solidFill>
                        </a:rPr>
                        <a:t>Improvements to 8; reintroduced Start button.</a:t>
                      </a:r>
                    </a:p>
                  </a:txBody>
                  <a:tcPr marL="24942" marR="24942" marT="12471" marB="12471" anchor="ctr">
                    <a:lnL>
                      <a:noFill/>
                    </a:lnL>
                    <a:lnR>
                      <a:noFill/>
                    </a:lnR>
                    <a:lnT>
                      <a:noFill/>
                    </a:lnT>
                    <a:lnB>
                      <a:noFill/>
                    </a:lnB>
                  </a:tcPr>
                </a:tc>
                <a:extLst>
                  <a:ext uri="{0D108BD9-81ED-4DB2-BD59-A6C34878D82A}">
                    <a16:rowId xmlns:a16="http://schemas.microsoft.com/office/drawing/2014/main" val="2443044008"/>
                  </a:ext>
                </a:extLst>
              </a:tr>
              <a:tr h="206436">
                <a:tc>
                  <a:txBody>
                    <a:bodyPr/>
                    <a:lstStyle/>
                    <a:p>
                      <a:r>
                        <a:rPr lang="en-ZM" sz="1600" b="1">
                          <a:solidFill>
                            <a:schemeClr val="tx1"/>
                          </a:solidFill>
                        </a:rPr>
                        <a:t>2015</a:t>
                      </a:r>
                      <a:endParaRPr lang="en-ZM" sz="1600">
                        <a:solidFill>
                          <a:schemeClr val="tx1"/>
                        </a:solidFill>
                      </a:endParaRPr>
                    </a:p>
                  </a:txBody>
                  <a:tcPr marL="24942" marR="24942" marT="12471" marB="12471" anchor="ctr">
                    <a:lnL>
                      <a:noFill/>
                    </a:lnL>
                    <a:lnR>
                      <a:noFill/>
                    </a:lnR>
                    <a:lnT>
                      <a:noFill/>
                    </a:lnT>
                    <a:lnB>
                      <a:noFill/>
                    </a:lnB>
                  </a:tcPr>
                </a:tc>
                <a:tc>
                  <a:txBody>
                    <a:bodyPr/>
                    <a:lstStyle/>
                    <a:p>
                      <a:r>
                        <a:rPr lang="en-GB" sz="1600" b="1">
                          <a:solidFill>
                            <a:schemeClr val="tx1"/>
                          </a:solidFill>
                        </a:rPr>
                        <a:t>Windows 10</a:t>
                      </a:r>
                      <a:endParaRPr lang="en-GB" sz="1600">
                        <a:solidFill>
                          <a:schemeClr val="tx1"/>
                        </a:solidFill>
                      </a:endParaRPr>
                    </a:p>
                  </a:txBody>
                  <a:tcPr marL="24942" marR="24942" marT="12471" marB="12471" anchor="ctr">
                    <a:lnL>
                      <a:noFill/>
                    </a:lnL>
                    <a:lnR>
                      <a:noFill/>
                    </a:lnR>
                    <a:lnT>
                      <a:noFill/>
                    </a:lnT>
                    <a:lnB>
                      <a:noFill/>
                    </a:lnB>
                  </a:tcPr>
                </a:tc>
                <a:tc>
                  <a:txBody>
                    <a:bodyPr/>
                    <a:lstStyle/>
                    <a:p>
                      <a:r>
                        <a:rPr lang="en-GB" sz="1600">
                          <a:solidFill>
                            <a:schemeClr val="tx1"/>
                          </a:solidFill>
                        </a:rPr>
                        <a:t>"Windows as a Service," regular updates, Cortana, Edge browser.</a:t>
                      </a:r>
                    </a:p>
                  </a:txBody>
                  <a:tcPr marL="24942" marR="24942" marT="12471" marB="12471" anchor="ctr">
                    <a:lnL>
                      <a:noFill/>
                    </a:lnL>
                    <a:lnR>
                      <a:noFill/>
                    </a:lnR>
                    <a:lnT>
                      <a:noFill/>
                    </a:lnT>
                    <a:lnB>
                      <a:noFill/>
                    </a:lnB>
                  </a:tcPr>
                </a:tc>
                <a:extLst>
                  <a:ext uri="{0D108BD9-81ED-4DB2-BD59-A6C34878D82A}">
                    <a16:rowId xmlns:a16="http://schemas.microsoft.com/office/drawing/2014/main" val="2164083720"/>
                  </a:ext>
                </a:extLst>
              </a:tr>
              <a:tr h="294909">
                <a:tc>
                  <a:txBody>
                    <a:bodyPr/>
                    <a:lstStyle/>
                    <a:p>
                      <a:r>
                        <a:rPr lang="en-ZM" sz="1600" b="1">
                          <a:solidFill>
                            <a:schemeClr val="tx1"/>
                          </a:solidFill>
                        </a:rPr>
                        <a:t>2021</a:t>
                      </a:r>
                      <a:endParaRPr lang="en-ZM" sz="1600">
                        <a:solidFill>
                          <a:schemeClr val="tx1"/>
                        </a:solidFill>
                      </a:endParaRPr>
                    </a:p>
                  </a:txBody>
                  <a:tcPr marL="24942" marR="24942" marT="12471" marB="12471" anchor="ctr">
                    <a:lnL>
                      <a:noFill/>
                    </a:lnL>
                    <a:lnR>
                      <a:noFill/>
                    </a:lnR>
                    <a:lnT>
                      <a:noFill/>
                    </a:lnT>
                    <a:lnB>
                      <a:noFill/>
                    </a:lnB>
                  </a:tcPr>
                </a:tc>
                <a:tc>
                  <a:txBody>
                    <a:bodyPr/>
                    <a:lstStyle/>
                    <a:p>
                      <a:r>
                        <a:rPr lang="en-GB" sz="1600" b="1">
                          <a:solidFill>
                            <a:schemeClr val="tx1"/>
                          </a:solidFill>
                        </a:rPr>
                        <a:t>Windows 11</a:t>
                      </a:r>
                      <a:endParaRPr lang="en-GB" sz="1600">
                        <a:solidFill>
                          <a:schemeClr val="tx1"/>
                        </a:solidFill>
                      </a:endParaRPr>
                    </a:p>
                  </a:txBody>
                  <a:tcPr marL="24942" marR="24942" marT="12471" marB="12471" anchor="ctr">
                    <a:lnL>
                      <a:noFill/>
                    </a:lnL>
                    <a:lnR>
                      <a:noFill/>
                    </a:lnR>
                    <a:lnT>
                      <a:noFill/>
                    </a:lnT>
                    <a:lnB>
                      <a:noFill/>
                    </a:lnB>
                  </a:tcPr>
                </a:tc>
                <a:tc>
                  <a:txBody>
                    <a:bodyPr/>
                    <a:lstStyle/>
                    <a:p>
                      <a:r>
                        <a:rPr lang="en-US" sz="1600" dirty="0">
                          <a:solidFill>
                            <a:schemeClr val="tx1"/>
                          </a:solidFill>
                        </a:rPr>
                        <a:t>New UI, Snap Layouts, centered Start, enhanced performance and gaming features.</a:t>
                      </a:r>
                    </a:p>
                  </a:txBody>
                  <a:tcPr marL="24942" marR="24942" marT="12471" marB="12471" anchor="ctr">
                    <a:lnL>
                      <a:noFill/>
                    </a:lnL>
                    <a:lnR>
                      <a:noFill/>
                    </a:lnR>
                    <a:lnT>
                      <a:noFill/>
                    </a:lnT>
                    <a:lnB>
                      <a:noFill/>
                    </a:lnB>
                  </a:tcPr>
                </a:tc>
                <a:extLst>
                  <a:ext uri="{0D108BD9-81ED-4DB2-BD59-A6C34878D82A}">
                    <a16:rowId xmlns:a16="http://schemas.microsoft.com/office/drawing/2014/main" val="2039755977"/>
                  </a:ext>
                </a:extLst>
              </a:tr>
            </a:tbl>
          </a:graphicData>
        </a:graphic>
      </p:graphicFrame>
      <p:sp>
        <p:nvSpPr>
          <p:cNvPr id="2" name="Footer Placeholder 1">
            <a:extLst>
              <a:ext uri="{FF2B5EF4-FFF2-40B4-BE49-F238E27FC236}">
                <a16:creationId xmlns:a16="http://schemas.microsoft.com/office/drawing/2014/main" id="{809B7551-7C32-45C4-A397-A7B707146408}"/>
              </a:ext>
            </a:extLst>
          </p:cNvPr>
          <p:cNvSpPr>
            <a:spLocks noGrp="1"/>
          </p:cNvSpPr>
          <p:nvPr>
            <p:ph type="ftr" sz="quarter" idx="11"/>
          </p:nvPr>
        </p:nvSpPr>
        <p:spPr>
          <a:xfrm>
            <a:off x="1056572" y="6421285"/>
            <a:ext cx="6239309" cy="365125"/>
          </a:xfrm>
        </p:spPr>
        <p:txBody>
          <a:bodyPr/>
          <a:lstStyle/>
          <a:p>
            <a:r>
              <a:rPr lang="en-US" dirty="0"/>
              <a:t>PREPARED BY JAMES SOKO FOR MR. MWASHI MATELA © 2025 KAPASA MAKASA UNIVERSITY</a:t>
            </a:r>
            <a:endParaRPr lang="LID4096" dirty="0"/>
          </a:p>
        </p:txBody>
      </p:sp>
      <p:sp>
        <p:nvSpPr>
          <p:cNvPr id="3" name="Slide Number Placeholder 2">
            <a:extLst>
              <a:ext uri="{FF2B5EF4-FFF2-40B4-BE49-F238E27FC236}">
                <a16:creationId xmlns:a16="http://schemas.microsoft.com/office/drawing/2014/main" id="{9CBB76D9-DDB8-45A5-AE85-30672CA4347C}"/>
              </a:ext>
            </a:extLst>
          </p:cNvPr>
          <p:cNvSpPr>
            <a:spLocks noGrp="1"/>
          </p:cNvSpPr>
          <p:nvPr>
            <p:ph type="sldNum" sz="quarter" idx="12"/>
          </p:nvPr>
        </p:nvSpPr>
        <p:spPr>
          <a:xfrm>
            <a:off x="10191480" y="6421284"/>
            <a:ext cx="771089" cy="365125"/>
          </a:xfrm>
        </p:spPr>
        <p:txBody>
          <a:bodyPr/>
          <a:lstStyle/>
          <a:p>
            <a:fld id="{69F7B4AB-723F-4112-894E-5DEBD965FC4E}" type="slidenum">
              <a:rPr lang="LID4096" smtClean="0"/>
              <a:t>24</a:t>
            </a:fld>
            <a:endParaRPr lang="LID4096" dirty="0"/>
          </a:p>
        </p:txBody>
      </p:sp>
    </p:spTree>
    <p:extLst>
      <p:ext uri="{BB962C8B-B14F-4D97-AF65-F5344CB8AC3E}">
        <p14:creationId xmlns:p14="http://schemas.microsoft.com/office/powerpoint/2010/main" val="23188493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DA46B9A-CE9E-42E2-B94A-F679C88CFB62}"/>
              </a:ext>
            </a:extLst>
          </p:cNvPr>
          <p:cNvSpPr>
            <a:spLocks noGrp="1"/>
          </p:cNvSpPr>
          <p:nvPr>
            <p:ph type="title"/>
          </p:nvPr>
        </p:nvSpPr>
        <p:spPr/>
        <p:txBody>
          <a:bodyPr/>
          <a:lstStyle/>
          <a:p>
            <a:pPr algn="ctr"/>
            <a:r>
              <a:rPr lang="en-GB" b="1" dirty="0"/>
              <a:t>Questions</a:t>
            </a:r>
            <a:endParaRPr lang="LID4096" b="1" dirty="0"/>
          </a:p>
        </p:txBody>
      </p:sp>
      <p:sp>
        <p:nvSpPr>
          <p:cNvPr id="6" name="Content Placeholder 5">
            <a:extLst>
              <a:ext uri="{FF2B5EF4-FFF2-40B4-BE49-F238E27FC236}">
                <a16:creationId xmlns:a16="http://schemas.microsoft.com/office/drawing/2014/main" id="{32388EA5-6F9C-4945-84CC-2436D0E584F3}"/>
              </a:ext>
            </a:extLst>
          </p:cNvPr>
          <p:cNvSpPr>
            <a:spLocks noGrp="1"/>
          </p:cNvSpPr>
          <p:nvPr>
            <p:ph idx="1"/>
          </p:nvPr>
        </p:nvSpPr>
        <p:spPr/>
        <p:txBody>
          <a:bodyPr/>
          <a:lstStyle/>
          <a:p>
            <a:pPr marL="457200" indent="-457200">
              <a:buFont typeface="+mj-lt"/>
              <a:buAutoNum type="arabicPeriod"/>
            </a:pPr>
            <a:r>
              <a:rPr lang="en-US" dirty="0"/>
              <a:t>At what point in time was Windows taken into use as an operating system?</a:t>
            </a:r>
          </a:p>
          <a:p>
            <a:pPr marL="457200" indent="-457200">
              <a:buFont typeface="+mj-lt"/>
              <a:buAutoNum type="arabicPeriod"/>
            </a:pPr>
            <a:r>
              <a:rPr lang="en-US" dirty="0"/>
              <a:t>What was the task of MS-DOS in the first versions of Windows?</a:t>
            </a:r>
          </a:p>
          <a:p>
            <a:pPr marL="457200" indent="-457200">
              <a:buFont typeface="+mj-lt"/>
              <a:buAutoNum type="arabicPeriod"/>
            </a:pPr>
            <a:r>
              <a:rPr lang="en-US" dirty="0"/>
              <a:t>Mention some reasons that Microsoft developed Windows NT.</a:t>
            </a:r>
          </a:p>
          <a:p>
            <a:pPr marL="457200" indent="-457200">
              <a:buFont typeface="+mj-lt"/>
              <a:buAutoNum type="arabicPeriod"/>
            </a:pPr>
            <a:r>
              <a:rPr lang="en-US" dirty="0"/>
              <a:t>Mention some differences between Windows NT and Windows 9x.</a:t>
            </a:r>
          </a:p>
          <a:p>
            <a:pPr marL="457200" indent="-457200">
              <a:buFont typeface="+mj-lt"/>
              <a:buAutoNum type="arabicPeriod"/>
            </a:pPr>
            <a:r>
              <a:rPr lang="en-US" dirty="0"/>
              <a:t>Mention some differences between Windows Server and Windows for PCs.</a:t>
            </a:r>
          </a:p>
          <a:p>
            <a:pPr marL="457200" indent="-457200">
              <a:buFont typeface="+mj-lt"/>
              <a:buAutoNum type="arabicPeriod"/>
            </a:pPr>
            <a:r>
              <a:rPr lang="en-US" dirty="0"/>
              <a:t>How is Windows 10 different from earlier versions of Windows?</a:t>
            </a:r>
          </a:p>
          <a:p>
            <a:pPr marL="0" indent="0">
              <a:buNone/>
            </a:pPr>
            <a:endParaRPr lang="en-US" dirty="0"/>
          </a:p>
          <a:p>
            <a:pPr marL="0" indent="0">
              <a:buNone/>
            </a:pPr>
            <a:endParaRPr lang="LID4096" dirty="0"/>
          </a:p>
        </p:txBody>
      </p:sp>
      <p:sp>
        <p:nvSpPr>
          <p:cNvPr id="2" name="Footer Placeholder 1">
            <a:extLst>
              <a:ext uri="{FF2B5EF4-FFF2-40B4-BE49-F238E27FC236}">
                <a16:creationId xmlns:a16="http://schemas.microsoft.com/office/drawing/2014/main" id="{7201E753-A6A2-40B0-885A-5D7C32331FF1}"/>
              </a:ext>
            </a:extLst>
          </p:cNvPr>
          <p:cNvSpPr>
            <a:spLocks noGrp="1"/>
          </p:cNvSpPr>
          <p:nvPr>
            <p:ph type="ftr" sz="quarter" idx="11"/>
          </p:nvPr>
        </p:nvSpPr>
        <p:spPr/>
        <p:txBody>
          <a:bodyPr/>
          <a:lstStyle/>
          <a:p>
            <a:r>
              <a:rPr lang="en-US"/>
              <a:t>PREPARED BY JAMES SOKO FOR MR. MWASHI MATELA © 2025 KAPASA MAKASA UNIVERSITY</a:t>
            </a:r>
            <a:endParaRPr lang="LID4096"/>
          </a:p>
        </p:txBody>
      </p:sp>
      <p:sp>
        <p:nvSpPr>
          <p:cNvPr id="3" name="Slide Number Placeholder 2">
            <a:extLst>
              <a:ext uri="{FF2B5EF4-FFF2-40B4-BE49-F238E27FC236}">
                <a16:creationId xmlns:a16="http://schemas.microsoft.com/office/drawing/2014/main" id="{21160A1B-FF25-4EB5-9850-FABC7119DD98}"/>
              </a:ext>
            </a:extLst>
          </p:cNvPr>
          <p:cNvSpPr>
            <a:spLocks noGrp="1"/>
          </p:cNvSpPr>
          <p:nvPr>
            <p:ph type="sldNum" sz="quarter" idx="12"/>
          </p:nvPr>
        </p:nvSpPr>
        <p:spPr/>
        <p:txBody>
          <a:bodyPr/>
          <a:lstStyle/>
          <a:p>
            <a:fld id="{69F7B4AB-723F-4112-894E-5DEBD965FC4E}" type="slidenum">
              <a:rPr lang="LID4096" smtClean="0"/>
              <a:t>25</a:t>
            </a:fld>
            <a:endParaRPr lang="LID4096"/>
          </a:p>
        </p:txBody>
      </p:sp>
    </p:spTree>
    <p:extLst>
      <p:ext uri="{BB962C8B-B14F-4D97-AF65-F5344CB8AC3E}">
        <p14:creationId xmlns:p14="http://schemas.microsoft.com/office/powerpoint/2010/main" val="27798849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80EA8-6A37-4DDD-90A7-21A18C106A44}"/>
              </a:ext>
            </a:extLst>
          </p:cNvPr>
          <p:cNvSpPr>
            <a:spLocks noGrp="1"/>
          </p:cNvSpPr>
          <p:nvPr>
            <p:ph type="title"/>
          </p:nvPr>
        </p:nvSpPr>
        <p:spPr/>
        <p:txBody>
          <a:bodyPr/>
          <a:lstStyle/>
          <a:p>
            <a:pPr algn="ctr"/>
            <a:r>
              <a:rPr lang="en-US" b="1" dirty="0"/>
              <a:t>Test 1</a:t>
            </a:r>
            <a:endParaRPr lang="LID4096" b="1" dirty="0"/>
          </a:p>
        </p:txBody>
      </p:sp>
      <p:sp>
        <p:nvSpPr>
          <p:cNvPr id="3" name="Content Placeholder 2">
            <a:extLst>
              <a:ext uri="{FF2B5EF4-FFF2-40B4-BE49-F238E27FC236}">
                <a16:creationId xmlns:a16="http://schemas.microsoft.com/office/drawing/2014/main" id="{F2A8946D-2991-43FF-B90C-E91CEAE5131A}"/>
              </a:ext>
            </a:extLst>
          </p:cNvPr>
          <p:cNvSpPr>
            <a:spLocks noGrp="1"/>
          </p:cNvSpPr>
          <p:nvPr>
            <p:ph idx="1"/>
          </p:nvPr>
        </p:nvSpPr>
        <p:spPr/>
        <p:txBody>
          <a:bodyPr>
            <a:noAutofit/>
          </a:bodyPr>
          <a:lstStyle/>
          <a:p>
            <a:pPr marL="0" indent="0">
              <a:buNone/>
            </a:pPr>
            <a:r>
              <a:rPr lang="en-US" sz="1800" dirty="0"/>
              <a:t>1</a:t>
            </a:r>
            <a:r>
              <a:rPr lang="en-US" sz="1800" b="1" dirty="0"/>
              <a:t>.  </a:t>
            </a:r>
            <a:r>
              <a:rPr lang="en-US" sz="1800" dirty="0"/>
              <a:t>At what point in time was Windows taken into use as an operating system? </a:t>
            </a:r>
          </a:p>
          <a:p>
            <a:pPr>
              <a:buFont typeface="Wingdings" panose="05000000000000000000" pitchFamily="2" charset="2"/>
              <a:buChar char="§"/>
            </a:pPr>
            <a:r>
              <a:rPr lang="en-US" sz="1800" dirty="0"/>
              <a:t>1990 </a:t>
            </a:r>
          </a:p>
          <a:p>
            <a:pPr marL="0" indent="0">
              <a:buNone/>
            </a:pPr>
            <a:r>
              <a:rPr lang="en-US" sz="1800" dirty="0"/>
              <a:t>2.  What was the task of MS-DOS in the first versions of Windows?</a:t>
            </a:r>
          </a:p>
          <a:p>
            <a:pPr>
              <a:buFont typeface="Wingdings" panose="05000000000000000000" pitchFamily="2" charset="2"/>
              <a:buChar char="§"/>
            </a:pPr>
            <a:r>
              <a:rPr lang="en-US" sz="1800" dirty="0"/>
              <a:t>In the early versions of Windows (Windows 1.0 through 3.11), MS-DOS served as the underlying operating system, providing the core functionality for running applications and managing the computer's resources. </a:t>
            </a:r>
          </a:p>
          <a:p>
            <a:pPr>
              <a:buFont typeface="Wingdings" panose="05000000000000000000" pitchFamily="2" charset="2"/>
              <a:buChar char="§"/>
            </a:pPr>
            <a:r>
              <a:rPr lang="en-US" sz="1800" dirty="0"/>
              <a:t>Tasks included multitasking, providing user interface, disk management and active directory.</a:t>
            </a:r>
          </a:p>
          <a:p>
            <a:pPr>
              <a:buFont typeface="Wingdings" panose="05000000000000000000" pitchFamily="2" charset="2"/>
              <a:buChar char="§"/>
            </a:pPr>
            <a:r>
              <a:rPr lang="en-US" sz="1800" dirty="0"/>
              <a:t>MS-DOS acted as the base operating system from which the later versions of Windows were built on.</a:t>
            </a:r>
          </a:p>
          <a:p>
            <a:pPr marL="0" indent="0">
              <a:buNone/>
            </a:pPr>
            <a:endParaRPr lang="en-US" sz="1800" dirty="0"/>
          </a:p>
          <a:p>
            <a:pPr marL="457200" indent="-457200">
              <a:buFont typeface="+mj-lt"/>
              <a:buAutoNum type="arabicPeriod"/>
            </a:pPr>
            <a:endParaRPr lang="en-US" sz="1800" dirty="0"/>
          </a:p>
          <a:p>
            <a:pPr marL="457200" indent="-457200">
              <a:buFont typeface="+mj-lt"/>
              <a:buAutoNum type="arabicPeriod"/>
            </a:pPr>
            <a:endParaRPr lang="LID4096" sz="1800" dirty="0"/>
          </a:p>
        </p:txBody>
      </p:sp>
      <p:sp>
        <p:nvSpPr>
          <p:cNvPr id="4" name="Footer Placeholder 3">
            <a:extLst>
              <a:ext uri="{FF2B5EF4-FFF2-40B4-BE49-F238E27FC236}">
                <a16:creationId xmlns:a16="http://schemas.microsoft.com/office/drawing/2014/main" id="{11C079B1-FD7F-4D24-8142-993AE272DF07}"/>
              </a:ext>
            </a:extLst>
          </p:cNvPr>
          <p:cNvSpPr>
            <a:spLocks noGrp="1"/>
          </p:cNvSpPr>
          <p:nvPr>
            <p:ph type="ftr" sz="quarter" idx="11"/>
          </p:nvPr>
        </p:nvSpPr>
        <p:spPr/>
        <p:txBody>
          <a:bodyPr/>
          <a:lstStyle/>
          <a:p>
            <a:r>
              <a:rPr lang="en-US"/>
              <a:t>PREPARED BY JAMES SOKO FOR MR. MWASHI MATELA © 2025 KAPASA MAKASA UNIVERSITY</a:t>
            </a:r>
            <a:endParaRPr lang="LID4096"/>
          </a:p>
        </p:txBody>
      </p:sp>
      <p:sp>
        <p:nvSpPr>
          <p:cNvPr id="5" name="Slide Number Placeholder 4">
            <a:extLst>
              <a:ext uri="{FF2B5EF4-FFF2-40B4-BE49-F238E27FC236}">
                <a16:creationId xmlns:a16="http://schemas.microsoft.com/office/drawing/2014/main" id="{FD20B5A7-B70E-438D-ADAE-7E4F0411C090}"/>
              </a:ext>
            </a:extLst>
          </p:cNvPr>
          <p:cNvSpPr>
            <a:spLocks noGrp="1"/>
          </p:cNvSpPr>
          <p:nvPr>
            <p:ph type="sldNum" sz="quarter" idx="12"/>
          </p:nvPr>
        </p:nvSpPr>
        <p:spPr/>
        <p:txBody>
          <a:bodyPr/>
          <a:lstStyle/>
          <a:p>
            <a:fld id="{69F7B4AB-723F-4112-894E-5DEBD965FC4E}" type="slidenum">
              <a:rPr lang="LID4096" smtClean="0"/>
              <a:t>26</a:t>
            </a:fld>
            <a:endParaRPr lang="LID4096"/>
          </a:p>
        </p:txBody>
      </p:sp>
    </p:spTree>
    <p:extLst>
      <p:ext uri="{BB962C8B-B14F-4D97-AF65-F5344CB8AC3E}">
        <p14:creationId xmlns:p14="http://schemas.microsoft.com/office/powerpoint/2010/main" val="21299217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1861A-4D97-486E-AF95-38980D0E51D3}"/>
              </a:ext>
            </a:extLst>
          </p:cNvPr>
          <p:cNvSpPr>
            <a:spLocks noGrp="1"/>
          </p:cNvSpPr>
          <p:nvPr>
            <p:ph type="title"/>
          </p:nvPr>
        </p:nvSpPr>
        <p:spPr/>
        <p:txBody>
          <a:bodyPr/>
          <a:lstStyle/>
          <a:p>
            <a:pPr algn="ctr"/>
            <a:r>
              <a:rPr lang="en-GB" b="1" dirty="0"/>
              <a:t>TEST 1 (Continues…)</a:t>
            </a:r>
            <a:endParaRPr lang="LID4096" b="1" dirty="0"/>
          </a:p>
        </p:txBody>
      </p:sp>
      <p:sp>
        <p:nvSpPr>
          <p:cNvPr id="3" name="Content Placeholder 2">
            <a:extLst>
              <a:ext uri="{FF2B5EF4-FFF2-40B4-BE49-F238E27FC236}">
                <a16:creationId xmlns:a16="http://schemas.microsoft.com/office/drawing/2014/main" id="{83017C73-797A-49B9-B6AB-8867DE35BF13}"/>
              </a:ext>
            </a:extLst>
          </p:cNvPr>
          <p:cNvSpPr>
            <a:spLocks noGrp="1"/>
          </p:cNvSpPr>
          <p:nvPr>
            <p:ph idx="1"/>
          </p:nvPr>
        </p:nvSpPr>
        <p:spPr/>
        <p:txBody>
          <a:bodyPr>
            <a:noAutofit/>
          </a:bodyPr>
          <a:lstStyle/>
          <a:p>
            <a:pPr marL="0" indent="0">
              <a:buNone/>
            </a:pPr>
            <a:r>
              <a:rPr lang="en-US" dirty="0"/>
              <a:t>3.   Mention some two reasons that Microsoft developed Windows NT.</a:t>
            </a:r>
          </a:p>
          <a:p>
            <a:pPr>
              <a:buFont typeface="Wingdings" panose="05000000000000000000" pitchFamily="2" charset="2"/>
              <a:buChar char="§"/>
            </a:pPr>
            <a:r>
              <a:rPr lang="en-US" dirty="0"/>
              <a:t>MS-DOS could not handle a lot of memory, and could not run multiple applications simultaneously, so there was a need for a new Operating System.</a:t>
            </a:r>
          </a:p>
          <a:p>
            <a:pPr marL="514350" indent="-514350">
              <a:buFont typeface="+mj-lt"/>
              <a:buAutoNum type="romanLcPeriod"/>
            </a:pPr>
            <a:r>
              <a:rPr lang="en-US" dirty="0"/>
              <a:t>Windows NT 4.0 was an advanced 32-bit Operating System designed to be </a:t>
            </a:r>
            <a:r>
              <a:rPr lang="en-US" b="1" dirty="0"/>
              <a:t>secure</a:t>
            </a:r>
            <a:r>
              <a:rPr lang="en-US" dirty="0"/>
              <a:t>, </a:t>
            </a:r>
            <a:r>
              <a:rPr lang="en-US" b="1" dirty="0"/>
              <a:t>stable</a:t>
            </a:r>
            <a:r>
              <a:rPr lang="en-US" dirty="0"/>
              <a:t> and </a:t>
            </a:r>
            <a:r>
              <a:rPr lang="en-US" b="1" dirty="0"/>
              <a:t>flexible</a:t>
            </a:r>
            <a:r>
              <a:rPr lang="en-US" dirty="0"/>
              <a:t>, thus making it possible to use </a:t>
            </a:r>
            <a:r>
              <a:rPr lang="en-US" b="1" dirty="0"/>
              <a:t>multiple processors </a:t>
            </a:r>
            <a:r>
              <a:rPr lang="en-US" dirty="0"/>
              <a:t>on the same computer. </a:t>
            </a:r>
          </a:p>
          <a:p>
            <a:pPr marL="514350" indent="-514350">
              <a:buFont typeface="+mj-lt"/>
              <a:buAutoNum type="romanLcPeriod"/>
            </a:pPr>
            <a:r>
              <a:rPr lang="en-US" dirty="0"/>
              <a:t>Windows NT 4.0 could utilize a large memory and large hard drives, which meant that the operating system was well </a:t>
            </a:r>
            <a:r>
              <a:rPr lang="en-US" b="1" dirty="0"/>
              <a:t>scalable</a:t>
            </a:r>
            <a:r>
              <a:rPr lang="en-US" dirty="0"/>
              <a:t>.</a:t>
            </a:r>
          </a:p>
        </p:txBody>
      </p:sp>
      <p:sp>
        <p:nvSpPr>
          <p:cNvPr id="4" name="Footer Placeholder 3">
            <a:extLst>
              <a:ext uri="{FF2B5EF4-FFF2-40B4-BE49-F238E27FC236}">
                <a16:creationId xmlns:a16="http://schemas.microsoft.com/office/drawing/2014/main" id="{5769730F-7FB0-4B0C-8212-DD0837219318}"/>
              </a:ext>
            </a:extLst>
          </p:cNvPr>
          <p:cNvSpPr>
            <a:spLocks noGrp="1"/>
          </p:cNvSpPr>
          <p:nvPr>
            <p:ph type="ftr" sz="quarter" idx="11"/>
          </p:nvPr>
        </p:nvSpPr>
        <p:spPr>
          <a:xfrm>
            <a:off x="1141412" y="6249347"/>
            <a:ext cx="6239309" cy="365125"/>
          </a:xfrm>
        </p:spPr>
        <p:txBody>
          <a:bodyPr/>
          <a:lstStyle/>
          <a:p>
            <a:r>
              <a:rPr lang="en-US" dirty="0"/>
              <a:t>PREPARED BY JAMES SOKO FOR MR. MWASHI MATELA © 2025 KAPASA MAKASA UNIVERSITY</a:t>
            </a:r>
            <a:endParaRPr lang="LID4096" dirty="0"/>
          </a:p>
        </p:txBody>
      </p:sp>
      <p:sp>
        <p:nvSpPr>
          <p:cNvPr id="5" name="Slide Number Placeholder 4">
            <a:extLst>
              <a:ext uri="{FF2B5EF4-FFF2-40B4-BE49-F238E27FC236}">
                <a16:creationId xmlns:a16="http://schemas.microsoft.com/office/drawing/2014/main" id="{F7C3A9CA-FAE3-40E4-A3B9-1CF36DAAB61B}"/>
              </a:ext>
            </a:extLst>
          </p:cNvPr>
          <p:cNvSpPr>
            <a:spLocks noGrp="1"/>
          </p:cNvSpPr>
          <p:nvPr>
            <p:ph type="sldNum" sz="quarter" idx="12"/>
          </p:nvPr>
        </p:nvSpPr>
        <p:spPr>
          <a:xfrm>
            <a:off x="10276322" y="6249347"/>
            <a:ext cx="771089" cy="365125"/>
          </a:xfrm>
        </p:spPr>
        <p:txBody>
          <a:bodyPr/>
          <a:lstStyle/>
          <a:p>
            <a:fld id="{69F7B4AB-723F-4112-894E-5DEBD965FC4E}" type="slidenum">
              <a:rPr lang="LID4096" smtClean="0"/>
              <a:t>27</a:t>
            </a:fld>
            <a:endParaRPr lang="LID4096" dirty="0"/>
          </a:p>
        </p:txBody>
      </p:sp>
    </p:spTree>
    <p:extLst>
      <p:ext uri="{BB962C8B-B14F-4D97-AF65-F5344CB8AC3E}">
        <p14:creationId xmlns:p14="http://schemas.microsoft.com/office/powerpoint/2010/main" val="8456162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F6D96-D0DF-47AF-9DCB-B115C9221128}"/>
              </a:ext>
            </a:extLst>
          </p:cNvPr>
          <p:cNvSpPr>
            <a:spLocks noGrp="1"/>
          </p:cNvSpPr>
          <p:nvPr>
            <p:ph type="title"/>
          </p:nvPr>
        </p:nvSpPr>
        <p:spPr/>
        <p:txBody>
          <a:bodyPr/>
          <a:lstStyle/>
          <a:p>
            <a:pPr algn="ctr"/>
            <a:r>
              <a:rPr lang="en-GB" b="1" dirty="0"/>
              <a:t>TEST 1 (Continues…)</a:t>
            </a:r>
            <a:endParaRPr lang="LID4096" dirty="0"/>
          </a:p>
        </p:txBody>
      </p:sp>
      <p:sp>
        <p:nvSpPr>
          <p:cNvPr id="3" name="Content Placeholder 2">
            <a:extLst>
              <a:ext uri="{FF2B5EF4-FFF2-40B4-BE49-F238E27FC236}">
                <a16:creationId xmlns:a16="http://schemas.microsoft.com/office/drawing/2014/main" id="{48A28799-3F07-47EB-9A4F-2538B225B6DC}"/>
              </a:ext>
            </a:extLst>
          </p:cNvPr>
          <p:cNvSpPr>
            <a:spLocks noGrp="1"/>
          </p:cNvSpPr>
          <p:nvPr>
            <p:ph idx="1"/>
          </p:nvPr>
        </p:nvSpPr>
        <p:spPr/>
        <p:txBody>
          <a:bodyPr>
            <a:normAutofit/>
          </a:bodyPr>
          <a:lstStyle/>
          <a:p>
            <a:pPr marL="0" indent="0">
              <a:buNone/>
            </a:pPr>
            <a:r>
              <a:rPr lang="en-US" dirty="0"/>
              <a:t>4. List two differences between Windows NT and Windows 9x.</a:t>
            </a:r>
          </a:p>
          <a:p>
            <a:pPr marL="514350" indent="-514350">
              <a:buFont typeface="+mj-lt"/>
              <a:buAutoNum type="romanLcPeriod"/>
            </a:pPr>
            <a:r>
              <a:rPr lang="en-US" b="1" dirty="0"/>
              <a:t>Security &amp; Stability </a:t>
            </a:r>
          </a:p>
          <a:p>
            <a:pPr>
              <a:buFont typeface="Wingdings" panose="05000000000000000000" pitchFamily="2" charset="2"/>
              <a:buChar char="§"/>
            </a:pPr>
            <a:r>
              <a:rPr lang="en-US" dirty="0"/>
              <a:t>Windows NT was stable and secure while Windows 9x was less secure which made it more vulnerable.</a:t>
            </a:r>
          </a:p>
          <a:p>
            <a:pPr marL="514350" indent="-514350">
              <a:buAutoNum type="romanLcPeriod" startAt="2"/>
            </a:pPr>
            <a:r>
              <a:rPr lang="en-US" b="1" dirty="0"/>
              <a:t>Processing Power</a:t>
            </a:r>
          </a:p>
          <a:p>
            <a:pPr>
              <a:buFont typeface="Wingdings" panose="05000000000000000000" pitchFamily="2" charset="2"/>
              <a:buChar char="§"/>
            </a:pPr>
            <a:r>
              <a:rPr lang="en-US" dirty="0"/>
              <a:t>Windows NT had a strong speed capacity compared to Windows 9x.</a:t>
            </a:r>
          </a:p>
          <a:p>
            <a:pPr marL="514350" indent="-514350">
              <a:buFont typeface="+mj-lt"/>
              <a:buAutoNum type="romanLcPeriod"/>
            </a:pPr>
            <a:endParaRPr lang="en-US" dirty="0"/>
          </a:p>
          <a:p>
            <a:pPr marL="0" indent="0">
              <a:buNone/>
            </a:pPr>
            <a:endParaRPr lang="LID4096" dirty="0"/>
          </a:p>
        </p:txBody>
      </p:sp>
      <p:sp>
        <p:nvSpPr>
          <p:cNvPr id="4" name="Footer Placeholder 3">
            <a:extLst>
              <a:ext uri="{FF2B5EF4-FFF2-40B4-BE49-F238E27FC236}">
                <a16:creationId xmlns:a16="http://schemas.microsoft.com/office/drawing/2014/main" id="{EBDA3BBB-FF18-45FF-8449-351DA41C114B}"/>
              </a:ext>
            </a:extLst>
          </p:cNvPr>
          <p:cNvSpPr>
            <a:spLocks noGrp="1"/>
          </p:cNvSpPr>
          <p:nvPr>
            <p:ph type="ftr" sz="quarter" idx="11"/>
          </p:nvPr>
        </p:nvSpPr>
        <p:spPr/>
        <p:txBody>
          <a:bodyPr/>
          <a:lstStyle/>
          <a:p>
            <a:r>
              <a:rPr lang="en-US"/>
              <a:t>PREPARED BY JAMES SOKO FOR MR. MWASHI MATELA © 2025 KAPASA MAKASA UNIVERSITY</a:t>
            </a:r>
            <a:endParaRPr lang="LID4096"/>
          </a:p>
        </p:txBody>
      </p:sp>
      <p:sp>
        <p:nvSpPr>
          <p:cNvPr id="5" name="Slide Number Placeholder 4">
            <a:extLst>
              <a:ext uri="{FF2B5EF4-FFF2-40B4-BE49-F238E27FC236}">
                <a16:creationId xmlns:a16="http://schemas.microsoft.com/office/drawing/2014/main" id="{95C1BBAF-2B92-4110-BDBA-962252F04379}"/>
              </a:ext>
            </a:extLst>
          </p:cNvPr>
          <p:cNvSpPr>
            <a:spLocks noGrp="1"/>
          </p:cNvSpPr>
          <p:nvPr>
            <p:ph type="sldNum" sz="quarter" idx="12"/>
          </p:nvPr>
        </p:nvSpPr>
        <p:spPr/>
        <p:txBody>
          <a:bodyPr/>
          <a:lstStyle/>
          <a:p>
            <a:fld id="{69F7B4AB-723F-4112-894E-5DEBD965FC4E}" type="slidenum">
              <a:rPr lang="LID4096" smtClean="0"/>
              <a:t>28</a:t>
            </a:fld>
            <a:endParaRPr lang="LID4096"/>
          </a:p>
        </p:txBody>
      </p:sp>
    </p:spTree>
    <p:extLst>
      <p:ext uri="{BB962C8B-B14F-4D97-AF65-F5344CB8AC3E}">
        <p14:creationId xmlns:p14="http://schemas.microsoft.com/office/powerpoint/2010/main" val="17943528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D084A-BDEE-4688-832F-E17C6E871F34}"/>
              </a:ext>
            </a:extLst>
          </p:cNvPr>
          <p:cNvSpPr>
            <a:spLocks noGrp="1"/>
          </p:cNvSpPr>
          <p:nvPr>
            <p:ph type="title"/>
          </p:nvPr>
        </p:nvSpPr>
        <p:spPr/>
        <p:txBody>
          <a:bodyPr/>
          <a:lstStyle/>
          <a:p>
            <a:pPr algn="ctr"/>
            <a:r>
              <a:rPr lang="en-GB" b="1" dirty="0"/>
              <a:t>TEST 1 (Continues…)</a:t>
            </a:r>
            <a:endParaRPr lang="LID4096" dirty="0"/>
          </a:p>
        </p:txBody>
      </p:sp>
      <p:sp>
        <p:nvSpPr>
          <p:cNvPr id="3" name="Content Placeholder 2">
            <a:extLst>
              <a:ext uri="{FF2B5EF4-FFF2-40B4-BE49-F238E27FC236}">
                <a16:creationId xmlns:a16="http://schemas.microsoft.com/office/drawing/2014/main" id="{F98D22AA-13E9-40D2-8D7B-AC77D351ED71}"/>
              </a:ext>
            </a:extLst>
          </p:cNvPr>
          <p:cNvSpPr>
            <a:spLocks noGrp="1"/>
          </p:cNvSpPr>
          <p:nvPr>
            <p:ph idx="1"/>
          </p:nvPr>
        </p:nvSpPr>
        <p:spPr/>
        <p:txBody>
          <a:bodyPr/>
          <a:lstStyle/>
          <a:p>
            <a:pPr marL="0" indent="0">
              <a:buNone/>
            </a:pPr>
            <a:r>
              <a:rPr lang="en-US" dirty="0"/>
              <a:t>5. Mention one major difference between Windows Server and Windows for PC.</a:t>
            </a:r>
          </a:p>
          <a:p>
            <a:pPr marL="0" indent="0">
              <a:buNone/>
            </a:pPr>
            <a:r>
              <a:rPr lang="en-US" dirty="0"/>
              <a:t>Windows Server provided networking services such as Hyper-V, DHCP etc. it is also used for running applications with a minimal or no GUI while Windows for PC was meant for individual use for daily tasks for both companies and general users.</a:t>
            </a:r>
          </a:p>
          <a:p>
            <a:pPr marL="0" indent="0">
              <a:buNone/>
            </a:pPr>
            <a:endParaRPr lang="LID4096" dirty="0"/>
          </a:p>
        </p:txBody>
      </p:sp>
      <p:sp>
        <p:nvSpPr>
          <p:cNvPr id="4" name="Footer Placeholder 3">
            <a:extLst>
              <a:ext uri="{FF2B5EF4-FFF2-40B4-BE49-F238E27FC236}">
                <a16:creationId xmlns:a16="http://schemas.microsoft.com/office/drawing/2014/main" id="{A9267264-E3B4-471A-866A-D8738B287710}"/>
              </a:ext>
            </a:extLst>
          </p:cNvPr>
          <p:cNvSpPr>
            <a:spLocks noGrp="1"/>
          </p:cNvSpPr>
          <p:nvPr>
            <p:ph type="ftr" sz="quarter" idx="11"/>
          </p:nvPr>
        </p:nvSpPr>
        <p:spPr/>
        <p:txBody>
          <a:bodyPr/>
          <a:lstStyle/>
          <a:p>
            <a:r>
              <a:rPr lang="en-US"/>
              <a:t>PREPARED BY JAMES SOKO FOR MR. MWASHI MATELA © 2025 KAPASA MAKASA UNIVERSITY</a:t>
            </a:r>
            <a:endParaRPr lang="LID4096"/>
          </a:p>
        </p:txBody>
      </p:sp>
      <p:sp>
        <p:nvSpPr>
          <p:cNvPr id="5" name="Slide Number Placeholder 4">
            <a:extLst>
              <a:ext uri="{FF2B5EF4-FFF2-40B4-BE49-F238E27FC236}">
                <a16:creationId xmlns:a16="http://schemas.microsoft.com/office/drawing/2014/main" id="{2F0AF966-D647-4F1D-9013-8514B0C05F1F}"/>
              </a:ext>
            </a:extLst>
          </p:cNvPr>
          <p:cNvSpPr>
            <a:spLocks noGrp="1"/>
          </p:cNvSpPr>
          <p:nvPr>
            <p:ph type="sldNum" sz="quarter" idx="12"/>
          </p:nvPr>
        </p:nvSpPr>
        <p:spPr/>
        <p:txBody>
          <a:bodyPr/>
          <a:lstStyle/>
          <a:p>
            <a:fld id="{69F7B4AB-723F-4112-894E-5DEBD965FC4E}" type="slidenum">
              <a:rPr lang="LID4096" smtClean="0"/>
              <a:t>29</a:t>
            </a:fld>
            <a:endParaRPr lang="LID4096"/>
          </a:p>
        </p:txBody>
      </p:sp>
    </p:spTree>
    <p:extLst>
      <p:ext uri="{BB962C8B-B14F-4D97-AF65-F5344CB8AC3E}">
        <p14:creationId xmlns:p14="http://schemas.microsoft.com/office/powerpoint/2010/main" val="25140720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63892-30FE-4895-8053-6F4FE2675092}"/>
              </a:ext>
            </a:extLst>
          </p:cNvPr>
          <p:cNvSpPr>
            <a:spLocks noGrp="1"/>
          </p:cNvSpPr>
          <p:nvPr>
            <p:ph type="title"/>
          </p:nvPr>
        </p:nvSpPr>
        <p:spPr/>
        <p:txBody>
          <a:bodyPr/>
          <a:lstStyle/>
          <a:p>
            <a:pPr algn="ctr"/>
            <a:r>
              <a:rPr lang="en-GB" b="1" dirty="0"/>
              <a:t>Answers (Continues…)</a:t>
            </a:r>
            <a:endParaRPr lang="LID4096" dirty="0"/>
          </a:p>
        </p:txBody>
      </p:sp>
      <p:sp>
        <p:nvSpPr>
          <p:cNvPr id="3" name="Content Placeholder 2">
            <a:extLst>
              <a:ext uri="{FF2B5EF4-FFF2-40B4-BE49-F238E27FC236}">
                <a16:creationId xmlns:a16="http://schemas.microsoft.com/office/drawing/2014/main" id="{041178F9-CBEB-42F8-B1BB-7EB3A2682503}"/>
              </a:ext>
            </a:extLst>
          </p:cNvPr>
          <p:cNvSpPr>
            <a:spLocks noGrp="1"/>
          </p:cNvSpPr>
          <p:nvPr>
            <p:ph idx="1"/>
          </p:nvPr>
        </p:nvSpPr>
        <p:spPr/>
        <p:txBody>
          <a:bodyPr/>
          <a:lstStyle/>
          <a:p>
            <a:pPr>
              <a:buFont typeface="Wingdings" panose="05000000000000000000" pitchFamily="2" charset="2"/>
              <a:buChar char="q"/>
            </a:pPr>
            <a:r>
              <a:rPr lang="en-GB" dirty="0"/>
              <a:t> </a:t>
            </a:r>
            <a:r>
              <a:rPr lang="en-US" b="1" dirty="0"/>
              <a:t>Mention some differences between Windows NT and Windows 9x.</a:t>
            </a:r>
          </a:p>
          <a:p>
            <a:pPr marL="0" indent="0">
              <a:buNone/>
            </a:pPr>
            <a:endParaRPr lang="LID4096" dirty="0"/>
          </a:p>
        </p:txBody>
      </p:sp>
      <p:graphicFrame>
        <p:nvGraphicFramePr>
          <p:cNvPr id="4" name="Table 4">
            <a:extLst>
              <a:ext uri="{FF2B5EF4-FFF2-40B4-BE49-F238E27FC236}">
                <a16:creationId xmlns:a16="http://schemas.microsoft.com/office/drawing/2014/main" id="{34C82476-5CF9-4C0F-AF7A-5BED503E0CC2}"/>
              </a:ext>
            </a:extLst>
          </p:cNvPr>
          <p:cNvGraphicFramePr>
            <a:graphicFrameLocks noGrp="1"/>
          </p:cNvGraphicFramePr>
          <p:nvPr>
            <p:extLst>
              <p:ext uri="{D42A27DB-BD31-4B8C-83A1-F6EECF244321}">
                <p14:modId xmlns:p14="http://schemas.microsoft.com/office/powerpoint/2010/main" val="3937695031"/>
              </p:ext>
            </p:extLst>
          </p:nvPr>
        </p:nvGraphicFramePr>
        <p:xfrm>
          <a:off x="1692634" y="2831270"/>
          <a:ext cx="9354777" cy="3576320"/>
        </p:xfrm>
        <a:graphic>
          <a:graphicData uri="http://schemas.openxmlformats.org/drawingml/2006/table">
            <a:tbl>
              <a:tblPr firstRow="1" bandRow="1">
                <a:tableStyleId>{5C22544A-7EE6-4342-B048-85BDC9FD1C3A}</a:tableStyleId>
              </a:tblPr>
              <a:tblGrid>
                <a:gridCol w="2040379">
                  <a:extLst>
                    <a:ext uri="{9D8B030D-6E8A-4147-A177-3AD203B41FA5}">
                      <a16:colId xmlns:a16="http://schemas.microsoft.com/office/drawing/2014/main" val="611232800"/>
                    </a:ext>
                  </a:extLst>
                </a:gridCol>
                <a:gridCol w="3450211">
                  <a:extLst>
                    <a:ext uri="{9D8B030D-6E8A-4147-A177-3AD203B41FA5}">
                      <a16:colId xmlns:a16="http://schemas.microsoft.com/office/drawing/2014/main" val="3484221743"/>
                    </a:ext>
                  </a:extLst>
                </a:gridCol>
                <a:gridCol w="3864187">
                  <a:extLst>
                    <a:ext uri="{9D8B030D-6E8A-4147-A177-3AD203B41FA5}">
                      <a16:colId xmlns:a16="http://schemas.microsoft.com/office/drawing/2014/main" val="2291374673"/>
                    </a:ext>
                  </a:extLst>
                </a:gridCol>
              </a:tblGrid>
              <a:tr h="370840">
                <a:tc>
                  <a:txBody>
                    <a:bodyPr/>
                    <a:lstStyle/>
                    <a:p>
                      <a:r>
                        <a:rPr lang="en-GB" dirty="0">
                          <a:solidFill>
                            <a:schemeClr val="tx1"/>
                          </a:solidFill>
                        </a:rPr>
                        <a:t>Feature</a:t>
                      </a:r>
                      <a:endParaRPr lang="LID4096" dirty="0">
                        <a:solidFill>
                          <a:schemeClr val="tx1"/>
                        </a:solidFill>
                      </a:endParaRPr>
                    </a:p>
                  </a:txBody>
                  <a:tcPr>
                    <a:noFill/>
                  </a:tcPr>
                </a:tc>
                <a:tc>
                  <a:txBody>
                    <a:bodyPr/>
                    <a:lstStyle/>
                    <a:p>
                      <a:r>
                        <a:rPr lang="en-GB" dirty="0">
                          <a:solidFill>
                            <a:schemeClr val="tx1"/>
                          </a:solidFill>
                        </a:rPr>
                        <a:t>Windows NT</a:t>
                      </a:r>
                      <a:endParaRPr lang="LID4096" dirty="0">
                        <a:solidFill>
                          <a:schemeClr val="tx1"/>
                        </a:solidFill>
                      </a:endParaRPr>
                    </a:p>
                  </a:txBody>
                  <a:tcPr>
                    <a:noFill/>
                  </a:tcPr>
                </a:tc>
                <a:tc>
                  <a:txBody>
                    <a:bodyPr/>
                    <a:lstStyle/>
                    <a:p>
                      <a:r>
                        <a:rPr lang="en-GB" dirty="0">
                          <a:solidFill>
                            <a:schemeClr val="tx1"/>
                          </a:solidFill>
                        </a:rPr>
                        <a:t>Windows 9x</a:t>
                      </a:r>
                      <a:endParaRPr lang="LID4096" dirty="0">
                        <a:solidFill>
                          <a:schemeClr val="tx1"/>
                        </a:solidFill>
                      </a:endParaRPr>
                    </a:p>
                  </a:txBody>
                  <a:tcPr>
                    <a:noFill/>
                  </a:tcPr>
                </a:tc>
                <a:extLst>
                  <a:ext uri="{0D108BD9-81ED-4DB2-BD59-A6C34878D82A}">
                    <a16:rowId xmlns:a16="http://schemas.microsoft.com/office/drawing/2014/main" val="2556869215"/>
                  </a:ext>
                </a:extLst>
              </a:tr>
              <a:tr h="370840">
                <a:tc>
                  <a:txBody>
                    <a:bodyPr/>
                    <a:lstStyle/>
                    <a:p>
                      <a:r>
                        <a:rPr lang="en-GB" dirty="0">
                          <a:solidFill>
                            <a:schemeClr val="tx1"/>
                          </a:solidFill>
                        </a:rPr>
                        <a:t>Architecture</a:t>
                      </a:r>
                      <a:endParaRPr lang="LID4096" dirty="0">
                        <a:solidFill>
                          <a:schemeClr val="tx1"/>
                        </a:solidFill>
                      </a:endParaRPr>
                    </a:p>
                  </a:txBody>
                  <a:tcPr>
                    <a:noFill/>
                  </a:tcPr>
                </a:tc>
                <a:tc>
                  <a:txBody>
                    <a:bodyPr/>
                    <a:lstStyle/>
                    <a:p>
                      <a:r>
                        <a:rPr lang="en-US" dirty="0">
                          <a:solidFill>
                            <a:schemeClr val="tx1"/>
                          </a:solidFill>
                        </a:rPr>
                        <a:t>32-bit kernel (with some 64-bit later)</a:t>
                      </a:r>
                      <a:endParaRPr lang="LID4096" dirty="0">
                        <a:solidFill>
                          <a:schemeClr val="tx1"/>
                        </a:solidFill>
                      </a:endParaRPr>
                    </a:p>
                  </a:txBody>
                  <a:tcPr>
                    <a:noFill/>
                  </a:tcPr>
                </a:tc>
                <a:tc>
                  <a:txBody>
                    <a:bodyPr/>
                    <a:lstStyle/>
                    <a:p>
                      <a:r>
                        <a:rPr lang="en-GB" dirty="0">
                          <a:solidFill>
                            <a:schemeClr val="tx1"/>
                          </a:solidFill>
                        </a:rPr>
                        <a:t>16-bit/32-bit hybrid</a:t>
                      </a:r>
                      <a:endParaRPr lang="LID4096" dirty="0">
                        <a:solidFill>
                          <a:schemeClr val="tx1"/>
                        </a:solidFill>
                      </a:endParaRPr>
                    </a:p>
                  </a:txBody>
                  <a:tcPr>
                    <a:noFill/>
                  </a:tcPr>
                </a:tc>
                <a:extLst>
                  <a:ext uri="{0D108BD9-81ED-4DB2-BD59-A6C34878D82A}">
                    <a16:rowId xmlns:a16="http://schemas.microsoft.com/office/drawing/2014/main" val="2898281771"/>
                  </a:ext>
                </a:extLst>
              </a:tr>
              <a:tr h="370840">
                <a:tc>
                  <a:txBody>
                    <a:bodyPr/>
                    <a:lstStyle/>
                    <a:p>
                      <a:r>
                        <a:rPr lang="en-GB" dirty="0">
                          <a:solidFill>
                            <a:schemeClr val="tx1"/>
                          </a:solidFill>
                        </a:rPr>
                        <a:t>Stability</a:t>
                      </a:r>
                      <a:endParaRPr lang="LID4096" dirty="0">
                        <a:solidFill>
                          <a:schemeClr val="tx1"/>
                        </a:solidFill>
                      </a:endParaRPr>
                    </a:p>
                  </a:txBody>
                  <a:tcPr>
                    <a:noFill/>
                  </a:tcPr>
                </a:tc>
                <a:tc>
                  <a:txBody>
                    <a:bodyPr/>
                    <a:lstStyle/>
                    <a:p>
                      <a:r>
                        <a:rPr lang="en-US" dirty="0">
                          <a:solidFill>
                            <a:schemeClr val="tx1"/>
                          </a:solidFill>
                        </a:rPr>
                        <a:t>More stable</a:t>
                      </a:r>
                      <a:endParaRPr lang="LID4096" dirty="0">
                        <a:solidFill>
                          <a:schemeClr val="tx1"/>
                        </a:solidFill>
                      </a:endParaRPr>
                    </a:p>
                  </a:txBody>
                  <a:tcPr>
                    <a:noFill/>
                  </a:tcPr>
                </a:tc>
                <a:tc>
                  <a:txBody>
                    <a:bodyPr/>
                    <a:lstStyle/>
                    <a:p>
                      <a:r>
                        <a:rPr lang="en-US" dirty="0">
                          <a:solidFill>
                            <a:schemeClr val="tx1"/>
                          </a:solidFill>
                        </a:rPr>
                        <a:t>Less stable</a:t>
                      </a:r>
                      <a:endParaRPr lang="LID4096" dirty="0">
                        <a:solidFill>
                          <a:schemeClr val="tx1"/>
                        </a:solidFill>
                      </a:endParaRPr>
                    </a:p>
                  </a:txBody>
                  <a:tcPr>
                    <a:noFill/>
                  </a:tcPr>
                </a:tc>
                <a:extLst>
                  <a:ext uri="{0D108BD9-81ED-4DB2-BD59-A6C34878D82A}">
                    <a16:rowId xmlns:a16="http://schemas.microsoft.com/office/drawing/2014/main" val="2568216247"/>
                  </a:ext>
                </a:extLst>
              </a:tr>
              <a:tr h="370840">
                <a:tc>
                  <a:txBody>
                    <a:bodyPr/>
                    <a:lstStyle/>
                    <a:p>
                      <a:r>
                        <a:rPr lang="en-GB" dirty="0">
                          <a:solidFill>
                            <a:schemeClr val="tx1"/>
                          </a:solidFill>
                        </a:rPr>
                        <a:t>Security</a:t>
                      </a:r>
                      <a:endParaRPr lang="LID4096" dirty="0">
                        <a:solidFill>
                          <a:schemeClr val="tx1"/>
                        </a:solidFill>
                      </a:endParaRPr>
                    </a:p>
                  </a:txBody>
                  <a:tcPr>
                    <a:noFill/>
                  </a:tcPr>
                </a:tc>
                <a:tc>
                  <a:txBody>
                    <a:bodyPr/>
                    <a:lstStyle/>
                    <a:p>
                      <a:r>
                        <a:rPr lang="en-US" dirty="0">
                          <a:solidFill>
                            <a:schemeClr val="tx1"/>
                          </a:solidFill>
                        </a:rPr>
                        <a:t>Built-in security features like user-level access control and file permissions</a:t>
                      </a:r>
                      <a:endParaRPr lang="LID4096" dirty="0">
                        <a:solidFill>
                          <a:schemeClr val="tx1"/>
                        </a:solidFill>
                      </a:endParaRPr>
                    </a:p>
                  </a:txBody>
                  <a:tcPr>
                    <a:noFill/>
                  </a:tcPr>
                </a:tc>
                <a:tc>
                  <a:txBody>
                    <a:bodyPr/>
                    <a:lstStyle/>
                    <a:p>
                      <a:r>
                        <a:rPr lang="en-US" dirty="0">
                          <a:solidFill>
                            <a:schemeClr val="tx1"/>
                          </a:solidFill>
                        </a:rPr>
                        <a:t>Very limited security model (primarily single-user with minimal protection)</a:t>
                      </a:r>
                      <a:endParaRPr lang="LID4096" dirty="0">
                        <a:solidFill>
                          <a:schemeClr val="tx1"/>
                        </a:solidFill>
                      </a:endParaRPr>
                    </a:p>
                  </a:txBody>
                  <a:tcPr>
                    <a:noFill/>
                  </a:tcPr>
                </a:tc>
                <a:extLst>
                  <a:ext uri="{0D108BD9-81ED-4DB2-BD59-A6C34878D82A}">
                    <a16:rowId xmlns:a16="http://schemas.microsoft.com/office/drawing/2014/main" val="2697328455"/>
                  </a:ext>
                </a:extLst>
              </a:tr>
              <a:tr h="370840">
                <a:tc>
                  <a:txBody>
                    <a:bodyPr/>
                    <a:lstStyle/>
                    <a:p>
                      <a:r>
                        <a:rPr lang="en-GB" dirty="0">
                          <a:solidFill>
                            <a:schemeClr val="tx1"/>
                          </a:solidFill>
                        </a:rPr>
                        <a:t>DOS Dependency</a:t>
                      </a:r>
                      <a:endParaRPr lang="LID4096" dirty="0">
                        <a:solidFill>
                          <a:schemeClr val="tx1"/>
                        </a:solidFill>
                      </a:endParaRPr>
                    </a:p>
                  </a:txBody>
                  <a:tcPr>
                    <a:noFill/>
                  </a:tcPr>
                </a:tc>
                <a:tc>
                  <a:txBody>
                    <a:bodyPr/>
                    <a:lstStyle/>
                    <a:p>
                      <a:r>
                        <a:rPr lang="en-US" dirty="0">
                          <a:solidFill>
                            <a:schemeClr val="tx1"/>
                          </a:solidFill>
                        </a:rPr>
                        <a:t>Does not rely on MS-DOS for booting or functionality</a:t>
                      </a:r>
                      <a:endParaRPr lang="LID4096" dirty="0">
                        <a:solidFill>
                          <a:schemeClr val="tx1"/>
                        </a:solidFill>
                      </a:endParaRPr>
                    </a:p>
                  </a:txBody>
                  <a:tcPr>
                    <a:noFill/>
                  </a:tcPr>
                </a:tc>
                <a:tc>
                  <a:txBody>
                    <a:bodyPr/>
                    <a:lstStyle/>
                    <a:p>
                      <a:r>
                        <a:rPr lang="en-US" dirty="0">
                          <a:solidFill>
                            <a:schemeClr val="tx1"/>
                          </a:solidFill>
                        </a:rPr>
                        <a:t>Relies on MS-DOS for boot and many core functions</a:t>
                      </a:r>
                      <a:endParaRPr lang="LID4096" dirty="0">
                        <a:solidFill>
                          <a:schemeClr val="tx1"/>
                        </a:solidFill>
                      </a:endParaRPr>
                    </a:p>
                  </a:txBody>
                  <a:tcPr>
                    <a:noFill/>
                  </a:tcPr>
                </a:tc>
                <a:extLst>
                  <a:ext uri="{0D108BD9-81ED-4DB2-BD59-A6C34878D82A}">
                    <a16:rowId xmlns:a16="http://schemas.microsoft.com/office/drawing/2014/main" val="2033701794"/>
                  </a:ext>
                </a:extLst>
              </a:tr>
              <a:tr h="370840">
                <a:tc>
                  <a:txBody>
                    <a:bodyPr/>
                    <a:lstStyle/>
                    <a:p>
                      <a:r>
                        <a:rPr lang="en-GB" dirty="0">
                          <a:solidFill>
                            <a:schemeClr val="tx1"/>
                          </a:solidFill>
                        </a:rPr>
                        <a:t>Examples</a:t>
                      </a:r>
                      <a:endParaRPr lang="LID4096" dirty="0">
                        <a:solidFill>
                          <a:schemeClr val="tx1"/>
                        </a:solidFill>
                      </a:endParaRPr>
                    </a:p>
                  </a:txBody>
                  <a:tcPr>
                    <a:noFill/>
                  </a:tcPr>
                </a:tc>
                <a:tc>
                  <a:txBody>
                    <a:bodyPr/>
                    <a:lstStyle/>
                    <a:p>
                      <a:r>
                        <a:rPr lang="en-US" dirty="0">
                          <a:solidFill>
                            <a:schemeClr val="tx1"/>
                          </a:solidFill>
                        </a:rPr>
                        <a:t>Windows NT 3.1, NT 4.0, 2000, XP, Vista, 7, 8, 10 and 11</a:t>
                      </a:r>
                      <a:endParaRPr lang="LID4096" dirty="0">
                        <a:solidFill>
                          <a:schemeClr val="tx1"/>
                        </a:solidFill>
                      </a:endParaRPr>
                    </a:p>
                  </a:txBody>
                  <a:tcPr>
                    <a:noFill/>
                  </a:tcPr>
                </a:tc>
                <a:tc>
                  <a:txBody>
                    <a:bodyPr/>
                    <a:lstStyle/>
                    <a:p>
                      <a:r>
                        <a:rPr lang="en-US" dirty="0">
                          <a:solidFill>
                            <a:schemeClr val="tx1"/>
                          </a:solidFill>
                        </a:rPr>
                        <a:t>Windows 95, 98, and Millennium (ME)</a:t>
                      </a:r>
                      <a:endParaRPr lang="LID4096" dirty="0">
                        <a:solidFill>
                          <a:schemeClr val="tx1"/>
                        </a:solidFill>
                      </a:endParaRPr>
                    </a:p>
                  </a:txBody>
                  <a:tcPr>
                    <a:noFill/>
                  </a:tcPr>
                </a:tc>
                <a:extLst>
                  <a:ext uri="{0D108BD9-81ED-4DB2-BD59-A6C34878D82A}">
                    <a16:rowId xmlns:a16="http://schemas.microsoft.com/office/drawing/2014/main" val="686379389"/>
                  </a:ext>
                </a:extLst>
              </a:tr>
            </a:tbl>
          </a:graphicData>
        </a:graphic>
      </p:graphicFrame>
      <p:sp>
        <p:nvSpPr>
          <p:cNvPr id="5" name="Footer Placeholder 4">
            <a:extLst>
              <a:ext uri="{FF2B5EF4-FFF2-40B4-BE49-F238E27FC236}">
                <a16:creationId xmlns:a16="http://schemas.microsoft.com/office/drawing/2014/main" id="{ACE2A3A0-AE1F-49A9-A985-FC0CBE4BCF20}"/>
              </a:ext>
            </a:extLst>
          </p:cNvPr>
          <p:cNvSpPr>
            <a:spLocks noGrp="1"/>
          </p:cNvSpPr>
          <p:nvPr>
            <p:ph type="ftr" sz="quarter" idx="11"/>
          </p:nvPr>
        </p:nvSpPr>
        <p:spPr>
          <a:xfrm>
            <a:off x="1141412" y="6407590"/>
            <a:ext cx="6239309" cy="365125"/>
          </a:xfrm>
        </p:spPr>
        <p:txBody>
          <a:bodyPr/>
          <a:lstStyle/>
          <a:p>
            <a:r>
              <a:rPr lang="en-US" dirty="0"/>
              <a:t>PREPARED BY JAMES SOKO FOR MR. MWASHI MATELA © 2025 KAPASA MAKASA UNIVERSITY</a:t>
            </a:r>
            <a:endParaRPr lang="LID4096" dirty="0"/>
          </a:p>
        </p:txBody>
      </p:sp>
      <p:sp>
        <p:nvSpPr>
          <p:cNvPr id="6" name="Slide Number Placeholder 5">
            <a:extLst>
              <a:ext uri="{FF2B5EF4-FFF2-40B4-BE49-F238E27FC236}">
                <a16:creationId xmlns:a16="http://schemas.microsoft.com/office/drawing/2014/main" id="{E35C2222-88EF-409F-AC0A-8801CF1E66B0}"/>
              </a:ext>
            </a:extLst>
          </p:cNvPr>
          <p:cNvSpPr>
            <a:spLocks noGrp="1"/>
          </p:cNvSpPr>
          <p:nvPr>
            <p:ph type="sldNum" sz="quarter" idx="12"/>
          </p:nvPr>
        </p:nvSpPr>
        <p:spPr>
          <a:xfrm>
            <a:off x="10276322" y="6460951"/>
            <a:ext cx="771089" cy="365125"/>
          </a:xfrm>
        </p:spPr>
        <p:txBody>
          <a:bodyPr/>
          <a:lstStyle/>
          <a:p>
            <a:fld id="{69F7B4AB-723F-4112-894E-5DEBD965FC4E}" type="slidenum">
              <a:rPr lang="LID4096" smtClean="0"/>
              <a:t>30</a:t>
            </a:fld>
            <a:endParaRPr lang="LID4096" dirty="0"/>
          </a:p>
        </p:txBody>
      </p:sp>
    </p:spTree>
    <p:extLst>
      <p:ext uri="{BB962C8B-B14F-4D97-AF65-F5344CB8AC3E}">
        <p14:creationId xmlns:p14="http://schemas.microsoft.com/office/powerpoint/2010/main" val="233051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FD1BD-17AA-4984-93E1-3572683052A9}"/>
              </a:ext>
            </a:extLst>
          </p:cNvPr>
          <p:cNvSpPr>
            <a:spLocks noGrp="1"/>
          </p:cNvSpPr>
          <p:nvPr>
            <p:ph type="title"/>
          </p:nvPr>
        </p:nvSpPr>
        <p:spPr/>
        <p:txBody>
          <a:bodyPr/>
          <a:lstStyle/>
          <a:p>
            <a:pPr algn="ctr"/>
            <a:r>
              <a:rPr lang="en-GB" b="1" dirty="0"/>
              <a:t>Answers (Continues…)</a:t>
            </a:r>
            <a:endParaRPr lang="LID4096" dirty="0"/>
          </a:p>
        </p:txBody>
      </p:sp>
      <p:sp>
        <p:nvSpPr>
          <p:cNvPr id="3" name="Content Placeholder 2">
            <a:extLst>
              <a:ext uri="{FF2B5EF4-FFF2-40B4-BE49-F238E27FC236}">
                <a16:creationId xmlns:a16="http://schemas.microsoft.com/office/drawing/2014/main" id="{CC7B25EA-65AA-4946-B623-D5496C683E86}"/>
              </a:ext>
            </a:extLst>
          </p:cNvPr>
          <p:cNvSpPr>
            <a:spLocks noGrp="1"/>
          </p:cNvSpPr>
          <p:nvPr>
            <p:ph idx="1"/>
          </p:nvPr>
        </p:nvSpPr>
        <p:spPr/>
        <p:txBody>
          <a:bodyPr/>
          <a:lstStyle/>
          <a:p>
            <a:pPr>
              <a:buFont typeface="Wingdings" panose="05000000000000000000" pitchFamily="2" charset="2"/>
              <a:buChar char="q"/>
            </a:pPr>
            <a:r>
              <a:rPr lang="en-GB" dirty="0"/>
              <a:t> </a:t>
            </a:r>
            <a:r>
              <a:rPr lang="en-US" sz="2000" b="1" dirty="0"/>
              <a:t>Mention some differences between Windows Server and Windows for PCs.</a:t>
            </a:r>
          </a:p>
          <a:p>
            <a:pPr marL="0" indent="0">
              <a:buNone/>
            </a:pPr>
            <a:endParaRPr lang="LID4096" dirty="0"/>
          </a:p>
        </p:txBody>
      </p:sp>
      <p:graphicFrame>
        <p:nvGraphicFramePr>
          <p:cNvPr id="4" name="Table 4">
            <a:extLst>
              <a:ext uri="{FF2B5EF4-FFF2-40B4-BE49-F238E27FC236}">
                <a16:creationId xmlns:a16="http://schemas.microsoft.com/office/drawing/2014/main" id="{E58D9086-75B0-475E-BE04-B86D5D1B7560}"/>
              </a:ext>
            </a:extLst>
          </p:cNvPr>
          <p:cNvGraphicFramePr>
            <a:graphicFrameLocks noGrp="1"/>
          </p:cNvGraphicFramePr>
          <p:nvPr>
            <p:extLst>
              <p:ext uri="{D42A27DB-BD31-4B8C-83A1-F6EECF244321}">
                <p14:modId xmlns:p14="http://schemas.microsoft.com/office/powerpoint/2010/main" val="2374937763"/>
              </p:ext>
            </p:extLst>
          </p:nvPr>
        </p:nvGraphicFramePr>
        <p:xfrm>
          <a:off x="1683208" y="2831270"/>
          <a:ext cx="9364203" cy="3576320"/>
        </p:xfrm>
        <a:graphic>
          <a:graphicData uri="http://schemas.openxmlformats.org/drawingml/2006/table">
            <a:tbl>
              <a:tblPr firstRow="1" bandRow="1">
                <a:tableStyleId>{5C22544A-7EE6-4342-B048-85BDC9FD1C3A}</a:tableStyleId>
              </a:tblPr>
              <a:tblGrid>
                <a:gridCol w="1955538">
                  <a:extLst>
                    <a:ext uri="{9D8B030D-6E8A-4147-A177-3AD203B41FA5}">
                      <a16:colId xmlns:a16="http://schemas.microsoft.com/office/drawing/2014/main" val="103481461"/>
                    </a:ext>
                  </a:extLst>
                </a:gridCol>
                <a:gridCol w="3601040">
                  <a:extLst>
                    <a:ext uri="{9D8B030D-6E8A-4147-A177-3AD203B41FA5}">
                      <a16:colId xmlns:a16="http://schemas.microsoft.com/office/drawing/2014/main" val="2860820876"/>
                    </a:ext>
                  </a:extLst>
                </a:gridCol>
                <a:gridCol w="3807625">
                  <a:extLst>
                    <a:ext uri="{9D8B030D-6E8A-4147-A177-3AD203B41FA5}">
                      <a16:colId xmlns:a16="http://schemas.microsoft.com/office/drawing/2014/main" val="552586306"/>
                    </a:ext>
                  </a:extLst>
                </a:gridCol>
              </a:tblGrid>
              <a:tr h="370840">
                <a:tc>
                  <a:txBody>
                    <a:bodyPr/>
                    <a:lstStyle/>
                    <a:p>
                      <a:r>
                        <a:rPr lang="en-GB" dirty="0">
                          <a:solidFill>
                            <a:schemeClr val="tx1"/>
                          </a:solidFill>
                        </a:rPr>
                        <a:t>Feature</a:t>
                      </a:r>
                      <a:endParaRPr lang="LID4096" dirty="0">
                        <a:solidFill>
                          <a:schemeClr val="tx1"/>
                        </a:solidFill>
                      </a:endParaRPr>
                    </a:p>
                  </a:txBody>
                  <a:tcPr>
                    <a:noFill/>
                  </a:tcPr>
                </a:tc>
                <a:tc>
                  <a:txBody>
                    <a:bodyPr/>
                    <a:lstStyle/>
                    <a:p>
                      <a:r>
                        <a:rPr lang="en-GB" dirty="0">
                          <a:solidFill>
                            <a:schemeClr val="tx1"/>
                          </a:solidFill>
                        </a:rPr>
                        <a:t>Windows Server</a:t>
                      </a:r>
                      <a:endParaRPr lang="LID4096" dirty="0">
                        <a:solidFill>
                          <a:schemeClr val="tx1"/>
                        </a:solidFill>
                      </a:endParaRPr>
                    </a:p>
                  </a:txBody>
                  <a:tcPr>
                    <a:noFill/>
                  </a:tcPr>
                </a:tc>
                <a:tc>
                  <a:txBody>
                    <a:bodyPr/>
                    <a:lstStyle/>
                    <a:p>
                      <a:r>
                        <a:rPr lang="en-GB" dirty="0">
                          <a:solidFill>
                            <a:schemeClr val="tx1"/>
                          </a:solidFill>
                        </a:rPr>
                        <a:t>Windows for PCs (Client)</a:t>
                      </a:r>
                      <a:endParaRPr lang="LID4096" dirty="0">
                        <a:solidFill>
                          <a:schemeClr val="tx1"/>
                        </a:solidFill>
                      </a:endParaRPr>
                    </a:p>
                  </a:txBody>
                  <a:tcPr>
                    <a:noFill/>
                  </a:tcPr>
                </a:tc>
                <a:extLst>
                  <a:ext uri="{0D108BD9-81ED-4DB2-BD59-A6C34878D82A}">
                    <a16:rowId xmlns:a16="http://schemas.microsoft.com/office/drawing/2014/main" val="229089960"/>
                  </a:ext>
                </a:extLst>
              </a:tr>
              <a:tr h="370840">
                <a:tc>
                  <a:txBody>
                    <a:bodyPr/>
                    <a:lstStyle/>
                    <a:p>
                      <a:r>
                        <a:rPr lang="en-GB" dirty="0">
                          <a:solidFill>
                            <a:schemeClr val="tx1"/>
                          </a:solidFill>
                        </a:rPr>
                        <a:t>Purpose</a:t>
                      </a:r>
                      <a:endParaRPr lang="LID4096" dirty="0">
                        <a:solidFill>
                          <a:schemeClr val="tx1"/>
                        </a:solidFill>
                      </a:endParaRPr>
                    </a:p>
                  </a:txBody>
                  <a:tcPr>
                    <a:noFill/>
                  </a:tcPr>
                </a:tc>
                <a:tc>
                  <a:txBody>
                    <a:bodyPr/>
                    <a:lstStyle/>
                    <a:p>
                      <a:r>
                        <a:rPr lang="en-US" dirty="0">
                          <a:solidFill>
                            <a:schemeClr val="tx1"/>
                          </a:solidFill>
                        </a:rPr>
                        <a:t>Designed to manage network resources, run services, and host applications</a:t>
                      </a:r>
                      <a:endParaRPr lang="LID4096" dirty="0">
                        <a:solidFill>
                          <a:schemeClr val="tx1"/>
                        </a:solidFill>
                      </a:endParaRPr>
                    </a:p>
                  </a:txBody>
                  <a:tcPr>
                    <a:noFill/>
                  </a:tcPr>
                </a:tc>
                <a:tc>
                  <a:txBody>
                    <a:bodyPr/>
                    <a:lstStyle/>
                    <a:p>
                      <a:r>
                        <a:rPr lang="en-US" dirty="0">
                          <a:solidFill>
                            <a:schemeClr val="tx1"/>
                          </a:solidFill>
                        </a:rPr>
                        <a:t>Designed for daily personal or business productivity tasks</a:t>
                      </a:r>
                      <a:endParaRPr lang="LID4096" dirty="0">
                        <a:solidFill>
                          <a:schemeClr val="tx1"/>
                        </a:solidFill>
                      </a:endParaRPr>
                    </a:p>
                  </a:txBody>
                  <a:tcPr>
                    <a:noFill/>
                  </a:tcPr>
                </a:tc>
                <a:extLst>
                  <a:ext uri="{0D108BD9-81ED-4DB2-BD59-A6C34878D82A}">
                    <a16:rowId xmlns:a16="http://schemas.microsoft.com/office/drawing/2014/main" val="1235722208"/>
                  </a:ext>
                </a:extLst>
              </a:tr>
              <a:tr h="370840">
                <a:tc>
                  <a:txBody>
                    <a:bodyPr/>
                    <a:lstStyle/>
                    <a:p>
                      <a:r>
                        <a:rPr lang="en-GB" dirty="0">
                          <a:solidFill>
                            <a:schemeClr val="tx1"/>
                          </a:solidFill>
                        </a:rPr>
                        <a:t>User Limit</a:t>
                      </a:r>
                      <a:endParaRPr lang="LID4096" dirty="0">
                        <a:solidFill>
                          <a:schemeClr val="tx1"/>
                        </a:solidFill>
                      </a:endParaRPr>
                    </a:p>
                  </a:txBody>
                  <a:tcPr>
                    <a:noFill/>
                  </a:tcPr>
                </a:tc>
                <a:tc>
                  <a:txBody>
                    <a:bodyPr/>
                    <a:lstStyle/>
                    <a:p>
                      <a:r>
                        <a:rPr lang="en-US" dirty="0">
                          <a:solidFill>
                            <a:schemeClr val="tx1"/>
                          </a:solidFill>
                        </a:rPr>
                        <a:t>Supports many simultaneous users (hundreds or more)</a:t>
                      </a:r>
                      <a:endParaRPr lang="LID4096" dirty="0">
                        <a:solidFill>
                          <a:schemeClr val="tx1"/>
                        </a:solidFill>
                      </a:endParaRPr>
                    </a:p>
                  </a:txBody>
                  <a:tcPr>
                    <a:noFill/>
                  </a:tcPr>
                </a:tc>
                <a:tc>
                  <a:txBody>
                    <a:bodyPr/>
                    <a:lstStyle/>
                    <a:p>
                      <a:r>
                        <a:rPr lang="en-US" dirty="0">
                          <a:solidFill>
                            <a:schemeClr val="tx1"/>
                          </a:solidFill>
                        </a:rPr>
                        <a:t>Limited to a few concurrent users (usually 1–10)</a:t>
                      </a:r>
                      <a:endParaRPr lang="LID4096" dirty="0">
                        <a:solidFill>
                          <a:schemeClr val="tx1"/>
                        </a:solidFill>
                      </a:endParaRPr>
                    </a:p>
                  </a:txBody>
                  <a:tcPr>
                    <a:noFill/>
                  </a:tcPr>
                </a:tc>
                <a:extLst>
                  <a:ext uri="{0D108BD9-81ED-4DB2-BD59-A6C34878D82A}">
                    <a16:rowId xmlns:a16="http://schemas.microsoft.com/office/drawing/2014/main" val="3455200152"/>
                  </a:ext>
                </a:extLst>
              </a:tr>
              <a:tr h="370840">
                <a:tc>
                  <a:txBody>
                    <a:bodyPr/>
                    <a:lstStyle/>
                    <a:p>
                      <a:r>
                        <a:rPr lang="en-GB" dirty="0">
                          <a:solidFill>
                            <a:schemeClr val="tx1"/>
                          </a:solidFill>
                        </a:rPr>
                        <a:t>Roles and Services</a:t>
                      </a:r>
                      <a:endParaRPr lang="LID4096" dirty="0">
                        <a:solidFill>
                          <a:schemeClr val="tx1"/>
                        </a:solidFill>
                      </a:endParaRPr>
                    </a:p>
                  </a:txBody>
                  <a:tcPr>
                    <a:noFill/>
                  </a:tcPr>
                </a:tc>
                <a:tc>
                  <a:txBody>
                    <a:bodyPr/>
                    <a:lstStyle/>
                    <a:p>
                      <a:r>
                        <a:rPr lang="fr-FR" dirty="0">
                          <a:solidFill>
                            <a:schemeClr val="tx1"/>
                          </a:solidFill>
                        </a:rPr>
                        <a:t>Active Directory, DNS, DHCP, File/Print Servers, Hyper-V, etc.</a:t>
                      </a:r>
                      <a:endParaRPr lang="LID4096" dirty="0">
                        <a:solidFill>
                          <a:schemeClr val="tx1"/>
                        </a:solidFill>
                      </a:endParaRPr>
                    </a:p>
                  </a:txBody>
                  <a:tcPr>
                    <a:noFill/>
                  </a:tcPr>
                </a:tc>
                <a:tc>
                  <a:txBody>
                    <a:bodyPr/>
                    <a:lstStyle/>
                    <a:p>
                      <a:r>
                        <a:rPr lang="en-US" dirty="0">
                          <a:solidFill>
                            <a:schemeClr val="tx1"/>
                          </a:solidFill>
                        </a:rPr>
                        <a:t>Lacks built-in support for server roles; primarily for end-user applications</a:t>
                      </a:r>
                      <a:endParaRPr lang="LID4096" dirty="0">
                        <a:solidFill>
                          <a:schemeClr val="tx1"/>
                        </a:solidFill>
                      </a:endParaRPr>
                    </a:p>
                  </a:txBody>
                  <a:tcPr>
                    <a:noFill/>
                  </a:tcPr>
                </a:tc>
                <a:extLst>
                  <a:ext uri="{0D108BD9-81ED-4DB2-BD59-A6C34878D82A}">
                    <a16:rowId xmlns:a16="http://schemas.microsoft.com/office/drawing/2014/main" val="3748707919"/>
                  </a:ext>
                </a:extLst>
              </a:tr>
              <a:tr h="370840">
                <a:tc>
                  <a:txBody>
                    <a:bodyPr/>
                    <a:lstStyle/>
                    <a:p>
                      <a:r>
                        <a:rPr lang="en-GB" dirty="0">
                          <a:solidFill>
                            <a:schemeClr val="tx1"/>
                          </a:solidFill>
                        </a:rPr>
                        <a:t>GUI and Features</a:t>
                      </a:r>
                      <a:endParaRPr lang="LID4096" dirty="0">
                        <a:solidFill>
                          <a:schemeClr val="tx1"/>
                        </a:solidFill>
                      </a:endParaRPr>
                    </a:p>
                  </a:txBody>
                  <a:tcPr>
                    <a:noFill/>
                  </a:tcPr>
                </a:tc>
                <a:tc>
                  <a:txBody>
                    <a:bodyPr/>
                    <a:lstStyle/>
                    <a:p>
                      <a:r>
                        <a:rPr lang="en-US" dirty="0">
                          <a:solidFill>
                            <a:schemeClr val="tx1"/>
                          </a:solidFill>
                        </a:rPr>
                        <a:t>May run with minimal or no GUI (Server Core) to reduce overhead</a:t>
                      </a:r>
                      <a:endParaRPr lang="LID4096" dirty="0">
                        <a:solidFill>
                          <a:schemeClr val="tx1"/>
                        </a:solidFill>
                      </a:endParaRPr>
                    </a:p>
                  </a:txBody>
                  <a:tcPr>
                    <a:noFill/>
                  </a:tcPr>
                </a:tc>
                <a:tc>
                  <a:txBody>
                    <a:bodyPr/>
                    <a:lstStyle/>
                    <a:p>
                      <a:r>
                        <a:rPr lang="en-US" dirty="0">
                          <a:solidFill>
                            <a:schemeClr val="tx1"/>
                          </a:solidFill>
                        </a:rPr>
                        <a:t>Full graphical user interface always included</a:t>
                      </a:r>
                      <a:endParaRPr lang="LID4096" dirty="0">
                        <a:solidFill>
                          <a:schemeClr val="tx1"/>
                        </a:solidFill>
                      </a:endParaRPr>
                    </a:p>
                  </a:txBody>
                  <a:tcPr>
                    <a:noFill/>
                  </a:tcPr>
                </a:tc>
                <a:extLst>
                  <a:ext uri="{0D108BD9-81ED-4DB2-BD59-A6C34878D82A}">
                    <a16:rowId xmlns:a16="http://schemas.microsoft.com/office/drawing/2014/main" val="2935160793"/>
                  </a:ext>
                </a:extLst>
              </a:tr>
              <a:tr h="370840">
                <a:tc>
                  <a:txBody>
                    <a:bodyPr/>
                    <a:lstStyle/>
                    <a:p>
                      <a:r>
                        <a:rPr lang="en-GB" dirty="0">
                          <a:solidFill>
                            <a:schemeClr val="tx1"/>
                          </a:solidFill>
                        </a:rPr>
                        <a:t>Cost</a:t>
                      </a:r>
                      <a:endParaRPr lang="LID4096" dirty="0">
                        <a:solidFill>
                          <a:schemeClr val="tx1"/>
                        </a:solidFill>
                      </a:endParaRPr>
                    </a:p>
                  </a:txBody>
                  <a:tcPr>
                    <a:noFill/>
                  </a:tcPr>
                </a:tc>
                <a:tc>
                  <a:txBody>
                    <a:bodyPr/>
                    <a:lstStyle/>
                    <a:p>
                      <a:r>
                        <a:rPr lang="en-GB" dirty="0">
                          <a:solidFill>
                            <a:schemeClr val="tx1"/>
                          </a:solidFill>
                        </a:rPr>
                        <a:t>More expensive</a:t>
                      </a:r>
                      <a:endParaRPr lang="LID4096" dirty="0">
                        <a:solidFill>
                          <a:schemeClr val="tx1"/>
                        </a:solidFill>
                      </a:endParaRPr>
                    </a:p>
                  </a:txBody>
                  <a:tcPr>
                    <a:noFill/>
                  </a:tcPr>
                </a:tc>
                <a:tc>
                  <a:txBody>
                    <a:bodyPr/>
                    <a:lstStyle/>
                    <a:p>
                      <a:r>
                        <a:rPr lang="en-GB" dirty="0">
                          <a:solidFill>
                            <a:schemeClr val="tx1"/>
                          </a:solidFill>
                        </a:rPr>
                        <a:t>Less expensive</a:t>
                      </a:r>
                      <a:endParaRPr lang="LID4096" dirty="0">
                        <a:solidFill>
                          <a:schemeClr val="tx1"/>
                        </a:solidFill>
                      </a:endParaRPr>
                    </a:p>
                  </a:txBody>
                  <a:tcPr>
                    <a:noFill/>
                  </a:tcPr>
                </a:tc>
                <a:extLst>
                  <a:ext uri="{0D108BD9-81ED-4DB2-BD59-A6C34878D82A}">
                    <a16:rowId xmlns:a16="http://schemas.microsoft.com/office/drawing/2014/main" val="4275108859"/>
                  </a:ext>
                </a:extLst>
              </a:tr>
            </a:tbl>
          </a:graphicData>
        </a:graphic>
      </p:graphicFrame>
      <p:sp>
        <p:nvSpPr>
          <p:cNvPr id="5" name="Footer Placeholder 4">
            <a:extLst>
              <a:ext uri="{FF2B5EF4-FFF2-40B4-BE49-F238E27FC236}">
                <a16:creationId xmlns:a16="http://schemas.microsoft.com/office/drawing/2014/main" id="{60A6E7AF-EB6C-4E5F-B643-9A24EF545C69}"/>
              </a:ext>
            </a:extLst>
          </p:cNvPr>
          <p:cNvSpPr>
            <a:spLocks noGrp="1"/>
          </p:cNvSpPr>
          <p:nvPr>
            <p:ph type="ftr" sz="quarter" idx="11"/>
          </p:nvPr>
        </p:nvSpPr>
        <p:spPr>
          <a:xfrm>
            <a:off x="1141412" y="6493339"/>
            <a:ext cx="6239309" cy="365125"/>
          </a:xfrm>
        </p:spPr>
        <p:txBody>
          <a:bodyPr/>
          <a:lstStyle/>
          <a:p>
            <a:r>
              <a:rPr lang="en-US" dirty="0"/>
              <a:t>PREPARED BY JAMES SOKO FOR MR. MWASHI MATELA © 2025 KAPASA MAKASA UNIVERSITY</a:t>
            </a:r>
            <a:endParaRPr lang="LID4096" dirty="0"/>
          </a:p>
        </p:txBody>
      </p:sp>
      <p:sp>
        <p:nvSpPr>
          <p:cNvPr id="6" name="Slide Number Placeholder 5">
            <a:extLst>
              <a:ext uri="{FF2B5EF4-FFF2-40B4-BE49-F238E27FC236}">
                <a16:creationId xmlns:a16="http://schemas.microsoft.com/office/drawing/2014/main" id="{AAA0EF87-31BC-4C15-A48E-92E2D7A11556}"/>
              </a:ext>
            </a:extLst>
          </p:cNvPr>
          <p:cNvSpPr>
            <a:spLocks noGrp="1"/>
          </p:cNvSpPr>
          <p:nvPr>
            <p:ph type="sldNum" sz="quarter" idx="12"/>
          </p:nvPr>
        </p:nvSpPr>
        <p:spPr>
          <a:xfrm>
            <a:off x="10276322" y="6492875"/>
            <a:ext cx="771089" cy="365125"/>
          </a:xfrm>
        </p:spPr>
        <p:txBody>
          <a:bodyPr/>
          <a:lstStyle/>
          <a:p>
            <a:fld id="{69F7B4AB-723F-4112-894E-5DEBD965FC4E}" type="slidenum">
              <a:rPr lang="LID4096" smtClean="0"/>
              <a:t>31</a:t>
            </a:fld>
            <a:endParaRPr lang="LID4096" dirty="0"/>
          </a:p>
        </p:txBody>
      </p:sp>
    </p:spTree>
    <p:extLst>
      <p:ext uri="{BB962C8B-B14F-4D97-AF65-F5344CB8AC3E}">
        <p14:creationId xmlns:p14="http://schemas.microsoft.com/office/powerpoint/2010/main" val="33696355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5FA41-AD50-43CD-8CF2-8C7E86D37159}"/>
              </a:ext>
            </a:extLst>
          </p:cNvPr>
          <p:cNvSpPr>
            <a:spLocks noGrp="1"/>
          </p:cNvSpPr>
          <p:nvPr>
            <p:ph type="title"/>
          </p:nvPr>
        </p:nvSpPr>
        <p:spPr/>
        <p:txBody>
          <a:bodyPr/>
          <a:lstStyle/>
          <a:p>
            <a:pPr algn="ctr"/>
            <a:r>
              <a:rPr lang="en-GB" b="1" dirty="0"/>
              <a:t>Answers (Continues…)</a:t>
            </a:r>
            <a:endParaRPr lang="LID4096" dirty="0"/>
          </a:p>
        </p:txBody>
      </p:sp>
      <p:sp>
        <p:nvSpPr>
          <p:cNvPr id="3" name="Content Placeholder 2">
            <a:extLst>
              <a:ext uri="{FF2B5EF4-FFF2-40B4-BE49-F238E27FC236}">
                <a16:creationId xmlns:a16="http://schemas.microsoft.com/office/drawing/2014/main" id="{0A841D0A-DC41-4EDF-AA54-6E44096FF72A}"/>
              </a:ext>
            </a:extLst>
          </p:cNvPr>
          <p:cNvSpPr>
            <a:spLocks noGrp="1"/>
          </p:cNvSpPr>
          <p:nvPr>
            <p:ph idx="1"/>
          </p:nvPr>
        </p:nvSpPr>
        <p:spPr/>
        <p:txBody>
          <a:bodyPr/>
          <a:lstStyle/>
          <a:p>
            <a:pPr>
              <a:buFont typeface="Wingdings" panose="05000000000000000000" pitchFamily="2" charset="2"/>
              <a:buChar char="q"/>
            </a:pPr>
            <a:r>
              <a:rPr lang="en-GB" dirty="0"/>
              <a:t> </a:t>
            </a:r>
            <a:r>
              <a:rPr lang="en-US" b="1" dirty="0"/>
              <a:t>How is Windows 10 different from earlier versions of Windows?</a:t>
            </a:r>
          </a:p>
          <a:p>
            <a:pPr>
              <a:buFont typeface="Wingdings" panose="05000000000000000000" pitchFamily="2" charset="2"/>
              <a:buChar char="§"/>
            </a:pPr>
            <a:r>
              <a:rPr lang="en-US" dirty="0"/>
              <a:t>Microsoft described Windows 10 as an Operating System as a service that would receive ongoing updates to its features and functionality. </a:t>
            </a:r>
          </a:p>
          <a:p>
            <a:pPr>
              <a:buFont typeface="Wingdings" panose="05000000000000000000" pitchFamily="2" charset="2"/>
              <a:buChar char="§"/>
            </a:pPr>
            <a:r>
              <a:rPr lang="en-US" dirty="0"/>
              <a:t>Windows 10 has become a shared platform known as OneCore, and it runs on PCs, phones, the Xbox One game console, the HoloLens and Internet of Things (IoT) devices such as Raspberry Pi 2.</a:t>
            </a:r>
          </a:p>
          <a:p>
            <a:pPr marL="0" indent="0">
              <a:buNone/>
            </a:pPr>
            <a:endParaRPr lang="LID4096" dirty="0"/>
          </a:p>
        </p:txBody>
      </p:sp>
      <p:sp>
        <p:nvSpPr>
          <p:cNvPr id="4" name="Footer Placeholder 3">
            <a:extLst>
              <a:ext uri="{FF2B5EF4-FFF2-40B4-BE49-F238E27FC236}">
                <a16:creationId xmlns:a16="http://schemas.microsoft.com/office/drawing/2014/main" id="{5B3C6A23-AF8E-4B07-8C03-D415500D2808}"/>
              </a:ext>
            </a:extLst>
          </p:cNvPr>
          <p:cNvSpPr>
            <a:spLocks noGrp="1"/>
          </p:cNvSpPr>
          <p:nvPr>
            <p:ph type="ftr" sz="quarter" idx="11"/>
          </p:nvPr>
        </p:nvSpPr>
        <p:spPr/>
        <p:txBody>
          <a:bodyPr/>
          <a:lstStyle/>
          <a:p>
            <a:r>
              <a:rPr lang="en-US"/>
              <a:t>PREPARED BY JAMES SOKO FOR MR. MWASHI MATELA © 2025 KAPASA MAKASA UNIVERSITY</a:t>
            </a:r>
            <a:endParaRPr lang="LID4096"/>
          </a:p>
        </p:txBody>
      </p:sp>
      <p:sp>
        <p:nvSpPr>
          <p:cNvPr id="5" name="Slide Number Placeholder 4">
            <a:extLst>
              <a:ext uri="{FF2B5EF4-FFF2-40B4-BE49-F238E27FC236}">
                <a16:creationId xmlns:a16="http://schemas.microsoft.com/office/drawing/2014/main" id="{1FDFDC8A-CCD7-4E08-A361-CBBA9AEC2871}"/>
              </a:ext>
            </a:extLst>
          </p:cNvPr>
          <p:cNvSpPr>
            <a:spLocks noGrp="1"/>
          </p:cNvSpPr>
          <p:nvPr>
            <p:ph type="sldNum" sz="quarter" idx="12"/>
          </p:nvPr>
        </p:nvSpPr>
        <p:spPr/>
        <p:txBody>
          <a:bodyPr/>
          <a:lstStyle/>
          <a:p>
            <a:fld id="{69F7B4AB-723F-4112-894E-5DEBD965FC4E}" type="slidenum">
              <a:rPr lang="LID4096" smtClean="0"/>
              <a:t>32</a:t>
            </a:fld>
            <a:endParaRPr lang="LID4096"/>
          </a:p>
        </p:txBody>
      </p:sp>
    </p:spTree>
    <p:extLst>
      <p:ext uri="{BB962C8B-B14F-4D97-AF65-F5344CB8AC3E}">
        <p14:creationId xmlns:p14="http://schemas.microsoft.com/office/powerpoint/2010/main" val="238259256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Circuit</Template>
  <TotalTime>2697</TotalTime>
  <Words>2961</Words>
  <Application>Microsoft Office PowerPoint</Application>
  <PresentationFormat>Widescreen</PresentationFormat>
  <Paragraphs>345</Paragraphs>
  <Slides>32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Tw Cen MT</vt:lpstr>
      <vt:lpstr>Wingdings</vt:lpstr>
      <vt:lpstr>Circuit</vt:lpstr>
      <vt:lpstr>Operating system security </vt:lpstr>
      <vt:lpstr>Introduction </vt:lpstr>
      <vt:lpstr>Operating System</vt:lpstr>
      <vt:lpstr>Software &amp; Hardware</vt:lpstr>
      <vt:lpstr>Major functions of an Operating System</vt:lpstr>
      <vt:lpstr>Major functions of an Operating System (Continues…)</vt:lpstr>
      <vt:lpstr>Major functions of an Operating System (Continues…)</vt:lpstr>
      <vt:lpstr>Windows</vt:lpstr>
      <vt:lpstr>History of Windows OS</vt:lpstr>
      <vt:lpstr>MS-DOS</vt:lpstr>
      <vt:lpstr>First Versions of Windows</vt:lpstr>
      <vt:lpstr>Windows Versions </vt:lpstr>
      <vt:lpstr>Windows 9x</vt:lpstr>
      <vt:lpstr>Windows NT</vt:lpstr>
      <vt:lpstr>Windows NT 4.0</vt:lpstr>
      <vt:lpstr>Windows NT 4.0 (Continues…)</vt:lpstr>
      <vt:lpstr>Windows NT Versions</vt:lpstr>
      <vt:lpstr>Windows NT Versions (Continues…)</vt:lpstr>
      <vt:lpstr>Windows NT Versions (Continues…)</vt:lpstr>
      <vt:lpstr>Windows Server </vt:lpstr>
      <vt:lpstr>Windows Server (Continues…)</vt:lpstr>
      <vt:lpstr>Windows Server (Continues…)</vt:lpstr>
      <vt:lpstr>Windows Server (Continues…)</vt:lpstr>
      <vt:lpstr>PowerPoint Presentation</vt:lpstr>
      <vt:lpstr>Questions</vt:lpstr>
      <vt:lpstr>Test 1</vt:lpstr>
      <vt:lpstr>TEST 1 (Continues…)</vt:lpstr>
      <vt:lpstr>TEST 1 (Continues…)</vt:lpstr>
      <vt:lpstr>TEST 1 (Continues…)</vt:lpstr>
      <vt:lpstr>Answers (Continues…)</vt:lpstr>
      <vt:lpstr>Answers (Continues…)</vt:lpstr>
      <vt:lpstr>Answers (Continues…)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 security </dc:title>
  <dc:creator>James Soko</dc:creator>
  <cp:lastModifiedBy>James Soko</cp:lastModifiedBy>
  <cp:revision>118</cp:revision>
  <dcterms:created xsi:type="dcterms:W3CDTF">2025-04-09T17:47:20Z</dcterms:created>
  <dcterms:modified xsi:type="dcterms:W3CDTF">2025-11-05T19:54:59Z</dcterms:modified>
</cp:coreProperties>
</file>