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9"/>
  </p:notesMasterIdLst>
  <p:sldIdLst>
    <p:sldId id="275" r:id="rId2"/>
    <p:sldId id="276" r:id="rId3"/>
    <p:sldId id="257" r:id="rId4"/>
    <p:sldId id="262" r:id="rId5"/>
    <p:sldId id="264" r:id="rId6"/>
    <p:sldId id="265" r:id="rId7"/>
    <p:sldId id="267" r:id="rId8"/>
    <p:sldId id="268" r:id="rId9"/>
    <p:sldId id="269" r:id="rId10"/>
    <p:sldId id="270" r:id="rId11"/>
    <p:sldId id="271" r:id="rId12"/>
    <p:sldId id="258" r:id="rId13"/>
    <p:sldId id="272" r:id="rId14"/>
    <p:sldId id="273" r:id="rId15"/>
    <p:sldId id="274" r:id="rId16"/>
    <p:sldId id="277" r:id="rId17"/>
    <p:sldId id="27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615" autoAdjust="0"/>
  </p:normalViewPr>
  <p:slideViewPr>
    <p:cSldViewPr snapToGrid="0">
      <p:cViewPr varScale="1">
        <p:scale>
          <a:sx n="64" d="100"/>
          <a:sy n="64" d="100"/>
        </p:scale>
        <p:origin x="7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E12C1-22DC-40D7-AEA4-501338130143}" type="datetimeFigureOut">
              <a:rPr lang="LID4096" smtClean="0"/>
              <a:t>09/02/2025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3423D0-D418-4326-9120-1F2846B7526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832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423D0-D418-4326-9120-1F2846B7526A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3204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996B824-E2FF-4F43-A147-A8459B25F6E9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5614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A65-6CFC-4542-99C5-50C50BD4AB5D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0228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A9E5-1744-422B-9B9F-0DB7341A038B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33246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6046E-5F6B-468F-8AB7-2229EF8298E7}" type="datetime1">
              <a:rPr lang="LID4096" smtClean="0"/>
              <a:t>09/02/2025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3278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C57C5-1CB1-4C2F-8B6A-91F377BE4A98}" type="datetime1">
              <a:rPr lang="LID4096" smtClean="0"/>
              <a:t>09/02/2025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87014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09125-60DC-4974-A50A-B53259178EB8}" type="datetime1">
              <a:rPr lang="LID4096" smtClean="0"/>
              <a:t>09/02/2025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226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4CD5-86C7-4194-AAB0-D0C3EBEA3CCC}" type="datetime1">
              <a:rPr lang="LID4096" smtClean="0"/>
              <a:t>09/02/2025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2526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7CD33-0172-48A1-B387-61FBCBD5C952}" type="datetime1">
              <a:rPr lang="LID4096" smtClean="0"/>
              <a:t>09/02/2025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3810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8335F-F5BE-4643-BFF4-5B784E4A78A2}" type="datetime1">
              <a:rPr lang="LID4096" smtClean="0"/>
              <a:t>09/02/2025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1544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4F71-2A65-449B-BF0E-FE35219369C5}" type="datetime1">
              <a:rPr lang="LID4096" smtClean="0"/>
              <a:t>09/02/2025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36914090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4F71-2A65-449B-BF0E-FE35219369C5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7844210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4F71-2A65-449B-BF0E-FE35219369C5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3398548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4F71-2A65-449B-BF0E-FE35219369C5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7068970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4F71-2A65-449B-BF0E-FE35219369C5}" type="datetime1">
              <a:rPr lang="LID4096" smtClean="0"/>
              <a:t>09/02/2025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69084668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4F71-2A65-449B-BF0E-FE35219369C5}" type="datetime1">
              <a:rPr lang="LID4096" smtClean="0"/>
              <a:t>09/02/2025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09625212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3C89B1F-15D4-4210-A2C0-63AD4FB72D5C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266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9D4C102-BD7C-4A42-AA08-33E4CF5E4628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87745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26B4F71-2A65-449B-BF0E-FE35219369C5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Prepared by James Soko for Mr. Mwashi Matela | © 2025 Kapasa Makasa University</a:t>
            </a:r>
            <a:endParaRPr lang="LID4096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B4957A4-16DF-4C63-BE16-7FC3458D454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3580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tmp"/><Relationship Id="rId4" Type="http://schemas.openxmlformats.org/officeDocument/2006/relationships/image" Target="../media/image25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79B1A-7630-437E-A6A0-FA93E7291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Operating System Security (CYS337)</a:t>
            </a:r>
            <a:endParaRPr lang="LID4096" b="1" dirty="0">
              <a:latin typeface="Consolas" panose="020B06090202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1C623-3220-4944-B23A-7D469A984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434577"/>
          </a:xfrm>
        </p:spPr>
        <p:txBody>
          <a:bodyPr>
            <a:normAutofit fontScale="92500" lnSpcReduction="10000"/>
          </a:bodyPr>
          <a:lstStyle/>
          <a:p>
            <a:r>
              <a:rPr lang="en-US" sz="2200" b="1" dirty="0">
                <a:latin typeface="Consolas" panose="020B0609020204030204" pitchFamily="49" charset="0"/>
              </a:rPr>
              <a:t>Bypassing Windows Admin Login Page Using CMD</a:t>
            </a:r>
          </a:p>
          <a:p>
            <a:r>
              <a:rPr lang="en-US" sz="1700" b="1" dirty="0">
                <a:latin typeface="Consolas" panose="020B0609020204030204" pitchFamily="49" charset="0"/>
              </a:rPr>
              <a:t>James Soko (20231392)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Group 3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  <a:r>
              <a:rPr lang="en-US" sz="1600" baseline="30000" dirty="0">
                <a:solidFill>
                  <a:schemeClr val="bg1"/>
                </a:solidFill>
                <a:latin typeface="Consolas" panose="020B0609020204030204" pitchFamily="49" charset="0"/>
              </a:rPr>
              <a:t>nd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September, 2025</a:t>
            </a:r>
            <a:endParaRPr lang="LID4096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0FC026-D262-4827-A12E-EF3FF4B99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7591" y="3214063"/>
            <a:ext cx="1242392" cy="156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922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1DF99-36B6-443A-875E-82932924C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QUESTION </a:t>
            </a:r>
            <a:endParaRPr lang="LID4096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846FC-8681-4E3E-A7A8-46C6C98D3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3"/>
            </a:pPr>
            <a:r>
              <a:rPr lang="en-US" dirty="0">
                <a:latin typeface="Consolas" panose="020B0609020204030204" pitchFamily="49" charset="0"/>
              </a:rPr>
              <a:t>Design a Power Point Presentation on how to Crack Windows Login Admin Account Using CMD.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DD734F-DC64-4370-968C-DADAA007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A52FC-3A2A-4FEB-A9E2-F379A20A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9523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4693-58BC-474E-A5A6-BF4176EDD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Repair Mode</a:t>
            </a:r>
            <a:endParaRPr lang="LID4096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E171B-27F5-4D60-A5C7-D56419322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Go into Windows </a:t>
            </a:r>
            <a:r>
              <a:rPr lang="en-US" b="1" dirty="0">
                <a:latin typeface="Consolas" panose="020B0609020204030204" pitchFamily="49" charset="0"/>
              </a:rPr>
              <a:t>repair mode</a:t>
            </a:r>
            <a:r>
              <a:rPr lang="en-US" dirty="0">
                <a:latin typeface="Consolas" panose="020B0609020204030204" pitchFamily="49" charset="0"/>
              </a:rPr>
              <a:t>, by forcing shutdown three (3) times.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9D5AF13-8B3E-455E-8D4B-944B9957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C690CAE-05CE-475D-9305-637614D53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3</a:t>
            </a:fld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BDBFF6-CDCE-41B5-B96B-B56ECC04A20F}"/>
              </a:ext>
            </a:extLst>
          </p:cNvPr>
          <p:cNvSpPr/>
          <p:nvPr/>
        </p:nvSpPr>
        <p:spPr>
          <a:xfrm>
            <a:off x="5949108" y="3899971"/>
            <a:ext cx="1828800" cy="2533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384FA3-11B4-4F25-845B-D547FB56E9BA}"/>
              </a:ext>
            </a:extLst>
          </p:cNvPr>
          <p:cNvSpPr/>
          <p:nvPr/>
        </p:nvSpPr>
        <p:spPr>
          <a:xfrm>
            <a:off x="9364337" y="3679634"/>
            <a:ext cx="1652530" cy="4737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53FA40-6962-4EE9-9F7F-DE585A16E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226" y="3254811"/>
            <a:ext cx="4248108" cy="291738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356DF9-171F-4CB5-B809-E91384526116}"/>
              </a:ext>
            </a:extLst>
          </p:cNvPr>
          <p:cNvSpPr txBox="1">
            <a:spLocks/>
          </p:cNvSpPr>
          <p:nvPr/>
        </p:nvSpPr>
        <p:spPr>
          <a:xfrm>
            <a:off x="6611606" y="4057625"/>
            <a:ext cx="4929237" cy="102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i="1" dirty="0">
                <a:latin typeface="Consolas" panose="020B0609020204030204" pitchFamily="49" charset="0"/>
              </a:rPr>
              <a:t>The main essence of doing this is that a computer is vulnerable when its offline.</a:t>
            </a:r>
          </a:p>
        </p:txBody>
      </p:sp>
    </p:spTree>
    <p:extLst>
      <p:ext uri="{BB962C8B-B14F-4D97-AF65-F5344CB8AC3E}">
        <p14:creationId xmlns:p14="http://schemas.microsoft.com/office/powerpoint/2010/main" val="44334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90B9E-8A8B-42C4-9EDC-C94BCD943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nsolas" panose="020B0609020204030204" pitchFamily="49" charset="0"/>
              </a:rPr>
              <a:t>Advanced Options</a:t>
            </a:r>
            <a:endParaRPr lang="LID4096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4C6E6-E26D-4CB5-8D52-19244EE8C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2"/>
            </a:pPr>
            <a:r>
              <a:rPr lang="en-US" dirty="0">
                <a:latin typeface="Consolas" panose="020B0609020204030204" pitchFamily="49" charset="0"/>
              </a:rPr>
              <a:t>Click on </a:t>
            </a:r>
            <a:r>
              <a:rPr lang="en-US" b="1" dirty="0">
                <a:latin typeface="Consolas" panose="020B0609020204030204" pitchFamily="49" charset="0"/>
              </a:rPr>
              <a:t>Advanced Options </a:t>
            </a:r>
            <a:r>
              <a:rPr lang="en-US" dirty="0">
                <a:latin typeface="Consolas" panose="020B0609020204030204" pitchFamily="49" charset="0"/>
              </a:rPr>
              <a:t>→ </a:t>
            </a:r>
            <a:r>
              <a:rPr lang="en-US" b="1" dirty="0">
                <a:latin typeface="Consolas" panose="020B0609020204030204" pitchFamily="49" charset="0"/>
              </a:rPr>
              <a:t>Trouble Shoot 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endParaRPr lang="en-US" b="1" dirty="0">
              <a:latin typeface="Consolas" panose="020B0609020204030204" pitchFamily="49" charset="0"/>
            </a:endParaRPr>
          </a:p>
          <a:p>
            <a:endParaRPr lang="en-US" b="1" dirty="0">
              <a:latin typeface="Consolas" panose="020B0609020204030204" pitchFamily="49" charset="0"/>
            </a:endParaRPr>
          </a:p>
          <a:p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DAF8E03-9860-4D92-9F17-4BD69CC3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F0F41-D2B3-4766-96F5-AEDFCAFCA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4</a:t>
            </a:fld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8C3099-A296-4A01-9EE1-B383301C24FB}"/>
              </a:ext>
            </a:extLst>
          </p:cNvPr>
          <p:cNvSpPr/>
          <p:nvPr/>
        </p:nvSpPr>
        <p:spPr>
          <a:xfrm>
            <a:off x="9188067" y="3260993"/>
            <a:ext cx="892367" cy="3966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7BBE90-2FCD-4287-A8C6-4EB49BA891C8}"/>
              </a:ext>
            </a:extLst>
          </p:cNvPr>
          <p:cNvSpPr/>
          <p:nvPr/>
        </p:nvSpPr>
        <p:spPr>
          <a:xfrm>
            <a:off x="5508434" y="5541484"/>
            <a:ext cx="2622014" cy="53087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C0AADD-AA68-443A-B0C6-18D8EA41D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382" y="3000397"/>
            <a:ext cx="5345279" cy="10845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E91EEC-4EE7-4FB5-9A42-23A2BC7D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382" y="4204809"/>
            <a:ext cx="5345279" cy="186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19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69D0-AA55-4BC3-BB35-BBDB28EAB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nsolas" panose="020B0609020204030204" pitchFamily="49" charset="0"/>
              </a:rPr>
              <a:t>Recovery Options </a:t>
            </a:r>
            <a:endParaRPr lang="LID4096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7D64D-2740-43E5-A43F-F8369ABF9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3"/>
            </a:pPr>
            <a:r>
              <a:rPr lang="en-US" b="1" dirty="0">
                <a:latin typeface="Consolas" panose="020B0609020204030204" pitchFamily="49" charset="0"/>
              </a:rPr>
              <a:t>Advanced Options </a:t>
            </a:r>
            <a:r>
              <a:rPr lang="en-US" dirty="0">
                <a:latin typeface="Consolas" panose="020B0609020204030204" pitchFamily="49" charset="0"/>
              </a:rPr>
              <a:t>→ </a:t>
            </a:r>
            <a:r>
              <a:rPr lang="en-US" b="1" dirty="0">
                <a:latin typeface="Consolas" panose="020B0609020204030204" pitchFamily="49" charset="0"/>
              </a:rPr>
              <a:t>See More Recovery Options 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57FFA5C-D846-4409-A909-B488AB54E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E7673-7E6D-4C40-B58A-395F6BC7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5</a:t>
            </a:fld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BD8748-5CA7-4C75-AE93-B8023DCB8A69}"/>
              </a:ext>
            </a:extLst>
          </p:cNvPr>
          <p:cNvSpPr/>
          <p:nvPr/>
        </p:nvSpPr>
        <p:spPr>
          <a:xfrm>
            <a:off x="5916058" y="5871990"/>
            <a:ext cx="2313542" cy="2849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453E34-3CA8-43AE-BA4C-45EB709462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139"/>
          <a:stretch/>
        </p:blipFill>
        <p:spPr>
          <a:xfrm>
            <a:off x="1745861" y="3375075"/>
            <a:ext cx="3442366" cy="201305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B6837E8-43A1-439D-8C62-423A24BF8524}"/>
              </a:ext>
            </a:extLst>
          </p:cNvPr>
          <p:cNvSpPr txBox="1">
            <a:spLocks/>
          </p:cNvSpPr>
          <p:nvPr/>
        </p:nvSpPr>
        <p:spPr>
          <a:xfrm>
            <a:off x="5764981" y="3754876"/>
            <a:ext cx="4929237" cy="125345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i="1" dirty="0">
                <a:latin typeface="Consolas" panose="020B0609020204030204" pitchFamily="49" charset="0"/>
              </a:rPr>
              <a:t>At this stage, we can just go direct with Command Prompt (CMD) and use the rename command as shown on </a:t>
            </a:r>
            <a:r>
              <a:rPr lang="en-US" b="1" i="1" dirty="0">
                <a:solidFill>
                  <a:schemeClr val="tx1"/>
                </a:solidFill>
                <a:latin typeface="Consolas" panose="020B0609020204030204" pitchFamily="49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16</a:t>
            </a:r>
            <a:r>
              <a:rPr lang="en-US" i="1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Font typeface="Wingdings 3" charset="2"/>
              <a:buNone/>
            </a:pPr>
            <a:r>
              <a:rPr lang="en-US" i="1" dirty="0">
                <a:latin typeface="Consolas" panose="020B0609020204030204" pitchFamily="49" charset="0"/>
              </a:rPr>
              <a:t>This is recommended for devices that require a password to access the Image Recovery.</a:t>
            </a:r>
          </a:p>
        </p:txBody>
      </p:sp>
    </p:spTree>
    <p:extLst>
      <p:ext uri="{BB962C8B-B14F-4D97-AF65-F5344CB8AC3E}">
        <p14:creationId xmlns:p14="http://schemas.microsoft.com/office/powerpoint/2010/main" val="103311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5C386-9983-4E9F-BECE-C874A544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nsolas" panose="020B0609020204030204" pitchFamily="49" charset="0"/>
              </a:rPr>
              <a:t>Image Recovery</a:t>
            </a:r>
            <a:endParaRPr lang="LID4096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E3E73-B31A-415A-800F-C14955787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4"/>
            </a:pPr>
            <a:r>
              <a:rPr lang="en-US" dirty="0">
                <a:latin typeface="Consolas" panose="020B0609020204030204" pitchFamily="49" charset="0"/>
              </a:rPr>
              <a:t>Select </a:t>
            </a:r>
            <a:r>
              <a:rPr lang="en-US" b="1" dirty="0">
                <a:latin typeface="Consolas" panose="020B0609020204030204" pitchFamily="49" charset="0"/>
              </a:rPr>
              <a:t>System Image Recovery</a:t>
            </a:r>
          </a:p>
          <a:p>
            <a:pPr marL="457200" indent="-457200">
              <a:buAutoNum type="arabicPeriod" startAt="4"/>
            </a:pPr>
            <a:r>
              <a:rPr lang="en-US" dirty="0">
                <a:latin typeface="Consolas" panose="020B0609020204030204" pitchFamily="49" charset="0"/>
              </a:rPr>
              <a:t>What ever will pop up on the screen, click on </a:t>
            </a:r>
            <a:r>
              <a:rPr lang="en-US" b="1" dirty="0">
                <a:latin typeface="Consolas" panose="020B0609020204030204" pitchFamily="49" charset="0"/>
              </a:rPr>
              <a:t>Cancel</a:t>
            </a:r>
          </a:p>
          <a:p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31267F2-B2A2-49F6-9B29-72137C24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53914-A44D-4ADA-9954-A22D7C486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6</a:t>
            </a:fld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C1EFF8-DA52-4E41-831D-182B3E6F68D2}"/>
              </a:ext>
            </a:extLst>
          </p:cNvPr>
          <p:cNvSpPr/>
          <p:nvPr/>
        </p:nvSpPr>
        <p:spPr>
          <a:xfrm>
            <a:off x="6096000" y="2349925"/>
            <a:ext cx="2783595" cy="12636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567BA8-1142-4A06-B798-175DA0A63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00" y="3428999"/>
            <a:ext cx="4294613" cy="284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810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ECD17-5FF0-4DC3-AA2A-AFA7943EC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nsolas" panose="020B0609020204030204" pitchFamily="49" charset="0"/>
              </a:rPr>
              <a:t>Image Recovery (Continues…)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47223-A649-4F3D-8094-70481BF6D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6"/>
            </a:pPr>
            <a:r>
              <a:rPr lang="en-US" dirty="0">
                <a:latin typeface="Consolas" panose="020B0609020204030204" pitchFamily="49" charset="0"/>
              </a:rPr>
              <a:t>Select a </a:t>
            </a:r>
            <a:r>
              <a:rPr lang="en-US" b="1" dirty="0">
                <a:latin typeface="Consolas" panose="020B0609020204030204" pitchFamily="49" charset="0"/>
              </a:rPr>
              <a:t>system image backup </a:t>
            </a:r>
            <a:r>
              <a:rPr lang="en-US" dirty="0">
                <a:latin typeface="Consolas" panose="020B0609020204030204" pitchFamily="49" charset="0"/>
              </a:rPr>
              <a:t>→ </a:t>
            </a:r>
            <a:r>
              <a:rPr lang="en-US" b="1" dirty="0">
                <a:latin typeface="Consolas" panose="020B0609020204030204" pitchFamily="49" charset="0"/>
              </a:rPr>
              <a:t>Next &gt;</a:t>
            </a:r>
            <a:r>
              <a:rPr lang="en-US" dirty="0">
                <a:latin typeface="Consolas" panose="020B0609020204030204" pitchFamily="49" charset="0"/>
              </a:rPr>
              <a:t> → </a:t>
            </a:r>
            <a:r>
              <a:rPr lang="en-US" b="1" dirty="0">
                <a:latin typeface="Consolas" panose="020B0609020204030204" pitchFamily="49" charset="0"/>
              </a:rPr>
              <a:t>Advanced…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8C01F50-2363-4212-8728-88FF1EDD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05E97-C18E-429D-95B0-1AFC34EE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7</a:t>
            </a:fld>
            <a:endParaRPr lang="LID4096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A2B0530-6C55-4BCC-8188-4B86A04A1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145" y="3051312"/>
            <a:ext cx="4105767" cy="30612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8C08ED-BC9C-48DC-9D7C-1D8D3B4AC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51312"/>
            <a:ext cx="3935697" cy="306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86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70006-CD33-4980-804B-D36ABC9E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nsolas" panose="020B0609020204030204" pitchFamily="49" charset="0"/>
              </a:rPr>
              <a:t>Image Recovery (Continues…)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2D5C6-3194-4AC3-958E-54030A2FE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7"/>
            </a:pPr>
            <a:r>
              <a:rPr lang="en-US" dirty="0">
                <a:latin typeface="Consolas" panose="020B0609020204030204" pitchFamily="49" charset="0"/>
              </a:rPr>
              <a:t>A new window will pop, click </a:t>
            </a:r>
            <a:r>
              <a:rPr lang="en-US" b="1" dirty="0">
                <a:latin typeface="Consolas" panose="020B0609020204030204" pitchFamily="49" charset="0"/>
              </a:rPr>
              <a:t>Install a Driver </a:t>
            </a:r>
            <a:r>
              <a:rPr lang="en-US" dirty="0">
                <a:latin typeface="Consolas" panose="020B0609020204030204" pitchFamily="49" charset="0"/>
              </a:rPr>
              <a:t>→ </a:t>
            </a:r>
            <a:r>
              <a:rPr lang="en-US" b="1" dirty="0">
                <a:latin typeface="Consolas" panose="020B0609020204030204" pitchFamily="49" charset="0"/>
              </a:rPr>
              <a:t>OK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36549E6-58E4-4AB0-B531-ABDABC45C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8166C-4A71-4E1C-BC76-26E970892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8</a:t>
            </a:fld>
            <a:endParaRPr lang="LID4096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658962-7729-4A67-8B76-1D8DFD68D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044" y="3177552"/>
            <a:ext cx="4055713" cy="30952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1776A9-8A9B-45E4-BA96-39D120F90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587" y="3177553"/>
            <a:ext cx="3861026" cy="309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63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BBD99-F33A-454E-9230-3EF460645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nsolas" panose="020B0609020204030204" pitchFamily="49" charset="0"/>
              </a:rPr>
              <a:t>Local Disk (C) / (D)</a:t>
            </a:r>
            <a:endParaRPr lang="LID4096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56827-89F0-48B9-A8FB-A57705250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8"/>
            </a:pPr>
            <a:r>
              <a:rPr lang="en-US" dirty="0">
                <a:latin typeface="Consolas" panose="020B0609020204030204" pitchFamily="49" charset="0"/>
              </a:rPr>
              <a:t>Go on </a:t>
            </a:r>
            <a:r>
              <a:rPr lang="en-US" b="1" dirty="0">
                <a:latin typeface="Consolas" panose="020B0609020204030204" pitchFamily="49" charset="0"/>
              </a:rPr>
              <a:t>This PC </a:t>
            </a:r>
            <a:r>
              <a:rPr lang="en-US" dirty="0">
                <a:latin typeface="Consolas" panose="020B0609020204030204" pitchFamily="49" charset="0"/>
              </a:rPr>
              <a:t>→ </a:t>
            </a:r>
            <a:r>
              <a:rPr lang="en-US" b="1" dirty="0">
                <a:latin typeface="Consolas" panose="020B0609020204030204" pitchFamily="49" charset="0"/>
              </a:rPr>
              <a:t>Local Disk (C) / (D)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FE96CF9-FC3A-4966-83FD-2AF2DE52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4594D-C053-4C32-9A60-49973AB2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9</a:t>
            </a:fld>
            <a:endParaRPr lang="LID4096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182A61-D0F3-4C39-A4DD-8805D6E73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146" y="3035584"/>
            <a:ext cx="4491750" cy="327576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CFC1D55-C9BE-419F-8EFF-8D89F628D4C1}"/>
              </a:ext>
            </a:extLst>
          </p:cNvPr>
          <p:cNvSpPr txBox="1">
            <a:spLocks/>
          </p:cNvSpPr>
          <p:nvPr/>
        </p:nvSpPr>
        <p:spPr>
          <a:xfrm>
            <a:off x="6571849" y="4013743"/>
            <a:ext cx="4929237" cy="13194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i="1" dirty="0">
                <a:latin typeface="Consolas" panose="020B0609020204030204" pitchFamily="49" charset="0"/>
              </a:rPr>
              <a:t>Depending on where your boot files files are, that’s the Disk your would like to select.</a:t>
            </a:r>
          </a:p>
          <a:p>
            <a:pPr marL="0" indent="0">
              <a:buFont typeface="Wingdings 3" charset="2"/>
              <a:buNone/>
            </a:pPr>
            <a:r>
              <a:rPr lang="en-US" i="1" dirty="0">
                <a:latin typeface="Consolas" panose="020B0609020204030204" pitchFamily="49" charset="0"/>
              </a:rPr>
              <a:t>On this Virtual Machine, the files are in Local Disk (D).</a:t>
            </a:r>
          </a:p>
        </p:txBody>
      </p:sp>
    </p:spTree>
    <p:extLst>
      <p:ext uri="{BB962C8B-B14F-4D97-AF65-F5344CB8AC3E}">
        <p14:creationId xmlns:p14="http://schemas.microsoft.com/office/powerpoint/2010/main" val="2960057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BD043-D379-4E56-A0E4-BD467B421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nsolas" panose="020B0609020204030204" pitchFamily="49" charset="0"/>
              </a:rPr>
              <a:t>System32</a:t>
            </a:r>
            <a:endParaRPr lang="LID4096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FAD97-48FA-4D36-811B-EC818DB2A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9"/>
            </a:pPr>
            <a:r>
              <a:rPr lang="en-US" dirty="0">
                <a:latin typeface="Consolas" panose="020B0609020204030204" pitchFamily="49" charset="0"/>
              </a:rPr>
              <a:t>Click on This PC and Navigate the Folders; </a:t>
            </a:r>
            <a:r>
              <a:rPr lang="en-US" b="1" dirty="0">
                <a:latin typeface="Consolas" panose="020B0609020204030204" pitchFamily="49" charset="0"/>
              </a:rPr>
              <a:t>Windows</a:t>
            </a:r>
            <a:r>
              <a:rPr lang="en-US" dirty="0">
                <a:latin typeface="Consolas" panose="020B0609020204030204" pitchFamily="49" charset="0"/>
              </a:rPr>
              <a:t> → </a:t>
            </a:r>
            <a:r>
              <a:rPr lang="en-US" b="1" dirty="0">
                <a:latin typeface="Consolas" panose="020B0609020204030204" pitchFamily="49" charset="0"/>
              </a:rPr>
              <a:t>System32</a:t>
            </a: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1002748-1391-4106-B0BA-B2A94A76A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6F6A0-9D59-461D-AE96-FC6DBDDC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10</a:t>
            </a:fld>
            <a:endParaRPr lang="LID4096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5CFDFEC-528B-4C64-958C-1EE542A90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144" y="3184276"/>
            <a:ext cx="4877256" cy="25903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250B60-5AF9-417B-81C8-C29F46DCD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062" y="3184276"/>
            <a:ext cx="5121860" cy="259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00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6CD7-5FE1-4CA5-98BB-147251FF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nsolas" panose="020B0609020204030204" pitchFamily="49" charset="0"/>
              </a:rPr>
              <a:t>Utility Manager (Utilman) </a:t>
            </a:r>
            <a:endParaRPr lang="LID4096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65523-BE1B-4ADD-8776-64EBBC980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10"/>
            </a:pPr>
            <a:r>
              <a:rPr lang="en-US" dirty="0">
                <a:latin typeface="Consolas" panose="020B0609020204030204" pitchFamily="49" charset="0"/>
              </a:rPr>
              <a:t>Find the file called </a:t>
            </a:r>
            <a:r>
              <a:rPr lang="en-US" b="1" dirty="0">
                <a:latin typeface="Consolas" panose="020B0609020204030204" pitchFamily="49" charset="0"/>
              </a:rPr>
              <a:t>Utilman</a:t>
            </a:r>
            <a:r>
              <a:rPr lang="en-US" dirty="0">
                <a:latin typeface="Consolas" panose="020B0609020204030204" pitchFamily="49" charset="0"/>
              </a:rPr>
              <a:t> and </a:t>
            </a:r>
            <a:r>
              <a:rPr lang="en-US" b="1" dirty="0">
                <a:latin typeface="Consolas" panose="020B0609020204030204" pitchFamily="49" charset="0"/>
              </a:rPr>
              <a:t>Rename</a:t>
            </a:r>
            <a:r>
              <a:rPr lang="en-US" dirty="0">
                <a:latin typeface="Consolas" panose="020B0609020204030204" pitchFamily="49" charset="0"/>
              </a:rPr>
              <a:t> it (e.g., </a:t>
            </a:r>
            <a:r>
              <a:rPr lang="en-US" b="1" dirty="0">
                <a:latin typeface="Consolas" panose="020B0609020204030204" pitchFamily="49" charset="0"/>
              </a:rPr>
              <a:t>Utilman12</a:t>
            </a:r>
            <a:r>
              <a:rPr lang="en-US" dirty="0">
                <a:latin typeface="Consolas" panose="020B0609020204030204" pitchFamily="49" charset="0"/>
              </a:rPr>
              <a:t>) and </a:t>
            </a:r>
            <a:r>
              <a:rPr lang="en-US" b="1" dirty="0">
                <a:latin typeface="Consolas" panose="020B0609020204030204" pitchFamily="49" charset="0"/>
              </a:rPr>
              <a:t>Refresh</a:t>
            </a:r>
            <a:r>
              <a:rPr lang="en-US" dirty="0">
                <a:latin typeface="Consolas" panose="020B0609020204030204" pitchFamily="49" charset="0"/>
              </a:rPr>
              <a:t> the screen.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8B7A3EAE-8ACD-47EB-B766-AE1824A1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7D617-76FE-4CED-B47D-E7977048A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11</a:t>
            </a:fld>
            <a:endParaRPr lang="LID4096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8FFD10F-98DE-4D1E-95F9-7AF6041B8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867" y="3429000"/>
            <a:ext cx="4989538" cy="240232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B5816AE-F3B7-4A1A-B225-47E3A488F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13" y="3429000"/>
            <a:ext cx="4989538" cy="240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57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D7D6-906B-4651-A5AD-EA8710F23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Command Prompt (CMD)</a:t>
            </a:r>
            <a:endParaRPr lang="LID4096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458EA-E460-4C52-92E1-976AA1CC9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11"/>
            </a:pPr>
            <a:r>
              <a:rPr lang="en-US" dirty="0">
                <a:latin typeface="Consolas" panose="020B0609020204030204" pitchFamily="49" charset="0"/>
              </a:rPr>
              <a:t>Locate </a:t>
            </a:r>
            <a:r>
              <a:rPr lang="en-US" b="1" dirty="0">
                <a:latin typeface="Consolas" panose="020B0609020204030204" pitchFamily="49" charset="0"/>
              </a:rPr>
              <a:t>cmd</a:t>
            </a:r>
            <a:r>
              <a:rPr lang="en-US" dirty="0">
                <a:latin typeface="Consolas" panose="020B0609020204030204" pitchFamily="49" charset="0"/>
              </a:rPr>
              <a:t> and </a:t>
            </a:r>
            <a:r>
              <a:rPr lang="en-US" b="1" dirty="0">
                <a:latin typeface="Consolas" panose="020B0609020204030204" pitchFamily="49" charset="0"/>
              </a:rPr>
              <a:t>Rename</a:t>
            </a:r>
            <a:r>
              <a:rPr lang="en-US" dirty="0">
                <a:latin typeface="Consolas" panose="020B0609020204030204" pitchFamily="49" charset="0"/>
              </a:rPr>
              <a:t> it to </a:t>
            </a:r>
            <a:r>
              <a:rPr lang="en-US" b="1" dirty="0">
                <a:latin typeface="Consolas" panose="020B0609020204030204" pitchFamily="49" charset="0"/>
              </a:rPr>
              <a:t>Utilman</a:t>
            </a:r>
            <a:r>
              <a:rPr lang="en-US" dirty="0">
                <a:latin typeface="Consolas" panose="020B0609020204030204" pitchFamily="49" charset="0"/>
              </a:rPr>
              <a:t> and </a:t>
            </a:r>
            <a:r>
              <a:rPr lang="en-US" b="1" dirty="0">
                <a:latin typeface="Consolas" panose="020B0609020204030204" pitchFamily="49" charset="0"/>
              </a:rPr>
              <a:t>Refresh</a:t>
            </a:r>
            <a:r>
              <a:rPr lang="en-US" dirty="0">
                <a:latin typeface="Consolas" panose="020B0609020204030204" pitchFamily="49" charset="0"/>
              </a:rPr>
              <a:t> the screen.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475210-EC3C-4B37-B781-48C3E40D2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595A81-6DF9-4B1D-9464-A7DB52B09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12</a:t>
            </a:fld>
            <a:endParaRPr lang="LID4096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724C2B-B277-4193-ACEA-403658A3C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039" y="3215526"/>
            <a:ext cx="5061326" cy="25392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93D8E1-2E8C-4927-822F-83C549887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502" y="3215526"/>
            <a:ext cx="4907827" cy="253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624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95E0-B29E-4CCE-8BFE-BDDAD9E6B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nsolas" panose="020B0609020204030204" pitchFamily="49" charset="0"/>
              </a:rPr>
              <a:t>Ease </a:t>
            </a:r>
            <a:r>
              <a:rPr lang="en-GB" b="1" dirty="0" err="1">
                <a:latin typeface="Consolas" panose="020B0609020204030204" pitchFamily="49" charset="0"/>
              </a:rPr>
              <a:t>Acess</a:t>
            </a:r>
            <a:endParaRPr lang="LID4096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09F8C-D2B5-4636-AA54-94259AADB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12"/>
            </a:pPr>
            <a:r>
              <a:rPr lang="en-US" dirty="0">
                <a:latin typeface="Consolas" panose="020B0609020204030204" pitchFamily="49" charset="0"/>
              </a:rPr>
              <a:t>Close all the windows or tabs then click on </a:t>
            </a:r>
            <a:r>
              <a:rPr lang="en-US" b="1" dirty="0">
                <a:latin typeface="Consolas" panose="020B0609020204030204" pitchFamily="49" charset="0"/>
              </a:rPr>
              <a:t>Continue</a:t>
            </a:r>
            <a:r>
              <a:rPr lang="en-US" dirty="0">
                <a:latin typeface="Consolas" panose="020B0609020204030204" pitchFamily="49" charset="0"/>
              </a:rPr>
              <a:t>, wait for your Computer to restart and click on the Magic Icon (</a:t>
            </a:r>
            <a:r>
              <a:rPr lang="en-US" b="1" dirty="0">
                <a:latin typeface="Consolas" panose="020B0609020204030204" pitchFamily="49" charset="0"/>
              </a:rPr>
              <a:t>Accessibility</a:t>
            </a:r>
            <a:r>
              <a:rPr lang="en-US" dirty="0">
                <a:latin typeface="Consolas" panose="020B0609020204030204" pitchFamily="49" charset="0"/>
              </a:rPr>
              <a:t>) which is next to the Internet Icon.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4411544-FE08-4E4E-90BB-439BE4769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191CA-757B-47DF-ADEB-AEB56920A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13</a:t>
            </a:fld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E3B340-4C9A-440D-9416-C653C5AA5A3F}"/>
              </a:ext>
            </a:extLst>
          </p:cNvPr>
          <p:cNvSpPr/>
          <p:nvPr/>
        </p:nvSpPr>
        <p:spPr>
          <a:xfrm>
            <a:off x="10862631" y="5838940"/>
            <a:ext cx="297456" cy="32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8C082E-4734-494B-A359-C404892C6B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974"/>
          <a:stretch/>
        </p:blipFill>
        <p:spPr>
          <a:xfrm>
            <a:off x="1765024" y="3641894"/>
            <a:ext cx="4910145" cy="26644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F481C5-175F-4290-93D3-7C99FE760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769" y="3641894"/>
            <a:ext cx="2622013" cy="81626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D4BCF5D-C679-475F-8C97-A31A0E05EC5F}"/>
              </a:ext>
            </a:extLst>
          </p:cNvPr>
          <p:cNvSpPr/>
          <p:nvPr/>
        </p:nvSpPr>
        <p:spPr>
          <a:xfrm>
            <a:off x="8659258" y="4704202"/>
            <a:ext cx="495759" cy="53982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FD76C2-5664-4A2F-9F34-DD627179DB69}"/>
              </a:ext>
            </a:extLst>
          </p:cNvPr>
          <p:cNvSpPr txBox="1">
            <a:spLocks/>
          </p:cNvSpPr>
          <p:nvPr/>
        </p:nvSpPr>
        <p:spPr>
          <a:xfrm>
            <a:off x="6903769" y="4809986"/>
            <a:ext cx="4929237" cy="102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i="1" dirty="0">
                <a:latin typeface="Consolas" panose="020B0609020204030204" pitchFamily="49" charset="0"/>
              </a:rPr>
              <a:t>The whole idea for this practical lab is that we are exchanging the roles of CMD and the Utility Manager.</a:t>
            </a:r>
          </a:p>
        </p:txBody>
      </p:sp>
    </p:spTree>
    <p:extLst>
      <p:ext uri="{BB962C8B-B14F-4D97-AF65-F5344CB8AC3E}">
        <p14:creationId xmlns:p14="http://schemas.microsoft.com/office/powerpoint/2010/main" val="575216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7E9DD-6FDF-4616-A55F-E37BB597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nsolas" panose="020B0609020204030204" pitchFamily="49" charset="0"/>
              </a:rPr>
              <a:t>User Accounts</a:t>
            </a:r>
            <a:endParaRPr lang="LID4096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5885E-692D-4A9D-9606-3A44A3222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13"/>
            </a:pPr>
            <a:r>
              <a:rPr lang="en-US" b="1" dirty="0">
                <a:latin typeface="Consolas" panose="020B0609020204030204" pitchFamily="49" charset="0"/>
              </a:rPr>
              <a:t>Command Prompt </a:t>
            </a:r>
            <a:r>
              <a:rPr lang="en-US" dirty="0">
                <a:latin typeface="Consolas" panose="020B0609020204030204" pitchFamily="49" charset="0"/>
              </a:rPr>
              <a:t>will appear, type in the command; </a:t>
            </a:r>
            <a:r>
              <a:rPr lang="en-US" b="1" dirty="0">
                <a:latin typeface="Consolas" panose="020B0609020204030204" pitchFamily="49" charset="0"/>
              </a:rPr>
              <a:t>control userpasswords2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40F05D4-776A-48CB-8AF1-35B854C90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1C6BD-534D-4513-9A62-64364594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14</a:t>
            </a:fld>
            <a:endParaRPr lang="LID4096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C050D1-4692-416C-860F-BF8A1BC56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380" y="3429000"/>
            <a:ext cx="5864090" cy="141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863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A8E40-0934-45FA-B8D8-7277B789C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nsolas" panose="020B0609020204030204" pitchFamily="49" charset="0"/>
              </a:rPr>
              <a:t>User Accounts (Continues…)</a:t>
            </a:r>
            <a:endParaRPr lang="LID4096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81625-1709-407D-9C21-A63A90B6B5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AutoNum type="arabicPeriod" startAt="14"/>
            </a:pPr>
            <a:r>
              <a:rPr lang="en-US" dirty="0">
                <a:latin typeface="Consolas" panose="020B0609020204030204" pitchFamily="49" charset="0"/>
              </a:rPr>
              <a:t>Then under </a:t>
            </a:r>
            <a:r>
              <a:rPr lang="en-US" b="1" dirty="0">
                <a:latin typeface="Consolas" panose="020B0609020204030204" pitchFamily="49" charset="0"/>
              </a:rPr>
              <a:t>User Accounts</a:t>
            </a:r>
            <a:r>
              <a:rPr lang="en-US" dirty="0">
                <a:latin typeface="Consolas" panose="020B0609020204030204" pitchFamily="49" charset="0"/>
              </a:rPr>
              <a:t>, click </a:t>
            </a:r>
            <a:r>
              <a:rPr lang="en-US" b="1" dirty="0">
                <a:latin typeface="Consolas" panose="020B0609020204030204" pitchFamily="49" charset="0"/>
              </a:rPr>
              <a:t>Reset Password…</a:t>
            </a:r>
          </a:p>
          <a:p>
            <a:pPr marL="457200" indent="-457200">
              <a:buAutoNum type="arabicPeriod" startAt="14"/>
            </a:pPr>
            <a:r>
              <a:rPr lang="en-US" dirty="0">
                <a:latin typeface="Consolas" panose="020B0609020204030204" pitchFamily="49" charset="0"/>
              </a:rPr>
              <a:t>Enter New Password or leave it blank and click on </a:t>
            </a:r>
            <a:r>
              <a:rPr lang="en-US" b="1" dirty="0">
                <a:latin typeface="Consolas" panose="020B0609020204030204" pitchFamily="49" charset="0"/>
              </a:rPr>
              <a:t>OK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F323160-4047-4DA6-93DF-29C7CCAD2A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5999FCE-C7BB-4CEF-B9A5-8EADF680F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1F02A-A1D2-4698-8AE2-094944B64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15</a:t>
            </a:fld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53092E-A20F-4E83-BC54-B5739E8EF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2" y="2603501"/>
            <a:ext cx="4825158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60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7E9DD-6FDF-4616-A55F-E37BB597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nsolas" panose="020B0609020204030204" pitchFamily="49" charset="0"/>
              </a:rPr>
              <a:t>Command Prompt </a:t>
            </a:r>
            <a:endParaRPr lang="LID4096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5885E-692D-4A9D-9606-3A44A3222E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Use the commands below to achieve this entire lab;</a:t>
            </a:r>
          </a:p>
          <a:p>
            <a:pPr>
              <a:buFont typeface="+mj-lt"/>
              <a:buAutoNum type="alphaLcParenR"/>
            </a:pPr>
            <a:r>
              <a:rPr lang="fr-FR" dirty="0">
                <a:latin typeface="Consolas" panose="020B0609020204030204" pitchFamily="49" charset="0"/>
              </a:rPr>
              <a:t>rename Utilman.exe Utilman12.exe</a:t>
            </a:r>
          </a:p>
          <a:p>
            <a:pPr>
              <a:buFont typeface="+mj-lt"/>
              <a:buAutoNum type="alphaLcParenR"/>
            </a:pPr>
            <a:endParaRPr lang="fr-FR" dirty="0">
              <a:latin typeface="Consolas" panose="020B0609020204030204" pitchFamily="49" charset="0"/>
            </a:endParaRPr>
          </a:p>
          <a:p>
            <a:pPr>
              <a:buFont typeface="+mj-lt"/>
              <a:buAutoNum type="alphaLcParenR"/>
            </a:pPr>
            <a:endParaRPr lang="fr-FR" dirty="0">
              <a:latin typeface="Consolas" panose="020B0609020204030204" pitchFamily="49" charset="0"/>
            </a:endParaRPr>
          </a:p>
          <a:p>
            <a:pPr>
              <a:buFont typeface="+mj-lt"/>
              <a:buAutoNum type="alphaLcParenR"/>
            </a:pPr>
            <a:endParaRPr lang="fr-FR" dirty="0">
              <a:latin typeface="Consolas" panose="020B0609020204030204" pitchFamily="49" charset="0"/>
            </a:endParaRPr>
          </a:p>
          <a:p>
            <a:pPr>
              <a:buFont typeface="+mj-lt"/>
              <a:buAutoNum type="alphaLcParenR"/>
            </a:pPr>
            <a:r>
              <a:rPr lang="fr-FR" dirty="0">
                <a:latin typeface="Consolas" panose="020B0609020204030204" pitchFamily="49" charset="0"/>
              </a:rPr>
              <a:t>rename cmd.exe Utilman.exe</a:t>
            </a:r>
          </a:p>
          <a:p>
            <a:pPr marL="0" indent="0">
              <a:buNone/>
            </a:pPr>
            <a:endParaRPr lang="fr-F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E3DEB9-6BFA-4C3D-9A00-0F2E240F84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AutoNum type="alphaLcParenR" startAt="3"/>
            </a:pPr>
            <a:r>
              <a:rPr lang="en-US" dirty="0">
                <a:latin typeface="Consolas" panose="020B0609020204030204" pitchFamily="49" charset="0"/>
              </a:rPr>
              <a:t>shutdown /r /t 00</a:t>
            </a:r>
          </a:p>
          <a:p>
            <a:pPr>
              <a:buAutoNum type="alphaLcParenR" startAt="3"/>
            </a:pPr>
            <a:endParaRPr lang="en-US" dirty="0">
              <a:latin typeface="Consolas" panose="020B0609020204030204" pitchFamily="49" charset="0"/>
            </a:endParaRPr>
          </a:p>
          <a:p>
            <a:pPr>
              <a:buAutoNum type="alphaLcParenR" startAt="3"/>
            </a:pPr>
            <a:endParaRPr lang="en-US" dirty="0">
              <a:latin typeface="Consolas" panose="020B0609020204030204" pitchFamily="49" charset="0"/>
            </a:endParaRPr>
          </a:p>
          <a:p>
            <a:pPr>
              <a:buAutoNum type="alphaLcParenR" startAt="3"/>
            </a:pPr>
            <a:endParaRPr lang="en-US" dirty="0">
              <a:latin typeface="Consolas" panose="020B0609020204030204" pitchFamily="49" charset="0"/>
            </a:endParaRPr>
          </a:p>
          <a:p>
            <a:pPr>
              <a:buAutoNum type="alphaLcParenR" startAt="3"/>
            </a:pPr>
            <a:r>
              <a:rPr lang="en-US" dirty="0">
                <a:latin typeface="Consolas" panose="020B0609020204030204" pitchFamily="49" charset="0"/>
              </a:rPr>
              <a:t>Click on the Ease Access icon and once Command Prompt pops up, enter the command: </a:t>
            </a:r>
            <a:r>
              <a:rPr lang="en-US" sz="1600" dirty="0">
                <a:latin typeface="Consolas" panose="020B0609020204030204" pitchFamily="49" charset="0"/>
              </a:rPr>
              <a:t>control userpasswords 2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40F05D4-776A-48CB-8AF1-35B854C90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1C6BD-534D-4513-9A62-64364594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16</a:t>
            </a:fld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FDAD76-A42F-42F4-B8D6-D0053C105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595" y="3763246"/>
            <a:ext cx="4571543" cy="9243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183F21-09DC-49B1-BFD6-C7354F9E8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595" y="5317899"/>
            <a:ext cx="4571543" cy="9243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CCA86D-2A4F-4E51-8FAC-10EFBE68F3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803" y="3130826"/>
            <a:ext cx="4377068" cy="8405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D92B78-701B-48B8-BB26-42C0023992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803" y="5317899"/>
            <a:ext cx="4377068" cy="9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15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7E9DD-6FDF-4616-A55F-E37BB597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onsolas" panose="020B0609020204030204" pitchFamily="49" charset="0"/>
              </a:rPr>
              <a:t>User Accounts</a:t>
            </a:r>
            <a:endParaRPr lang="LID4096" b="1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5885E-692D-4A9D-9606-3A44A3222E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Select the Administrative Account</a:t>
            </a:r>
          </a:p>
          <a:p>
            <a:pPr marL="0" indent="0">
              <a:buNone/>
            </a:pP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E3DEB9-6BFA-4C3D-9A00-0F2E240F84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AutoNum type="arabicPeriod" startAt="2"/>
            </a:pPr>
            <a:r>
              <a:rPr lang="en-US" dirty="0">
                <a:latin typeface="Consolas" panose="020B0609020204030204" pitchFamily="49" charset="0"/>
              </a:rPr>
              <a:t>Click on </a:t>
            </a:r>
            <a:r>
              <a:rPr lang="en-US" b="1" dirty="0">
                <a:latin typeface="Consolas" panose="020B0609020204030204" pitchFamily="49" charset="0"/>
              </a:rPr>
              <a:t>Reset Password…</a:t>
            </a:r>
          </a:p>
          <a:p>
            <a:pPr>
              <a:buAutoNum type="arabicPeriod" startAt="2"/>
            </a:pPr>
            <a:endParaRPr lang="en-US" dirty="0">
              <a:latin typeface="Consolas" panose="020B0609020204030204" pitchFamily="49" charset="0"/>
            </a:endParaRPr>
          </a:p>
          <a:p>
            <a:pPr>
              <a:buAutoNum type="arabicPeriod" startAt="2"/>
            </a:pPr>
            <a:endParaRPr lang="en-US" dirty="0">
              <a:latin typeface="Consolas" panose="020B0609020204030204" pitchFamily="49" charset="0"/>
            </a:endParaRPr>
          </a:p>
          <a:p>
            <a:pPr>
              <a:buAutoNum type="arabicPeriod" startAt="2"/>
            </a:pPr>
            <a:endParaRPr lang="en-US" dirty="0">
              <a:latin typeface="Consolas" panose="020B0609020204030204" pitchFamily="49" charset="0"/>
            </a:endParaRPr>
          </a:p>
          <a:p>
            <a:pPr>
              <a:buAutoNum type="arabicPeriod" startAt="2"/>
            </a:pPr>
            <a:endParaRPr lang="en-US" dirty="0">
              <a:latin typeface="Consolas" panose="020B0609020204030204" pitchFamily="49" charset="0"/>
            </a:endParaRPr>
          </a:p>
          <a:p>
            <a:pPr>
              <a:buAutoNum type="arabicPeriod" startAt="2"/>
            </a:pPr>
            <a:r>
              <a:rPr lang="en-US" dirty="0">
                <a:latin typeface="Consolas" panose="020B0609020204030204" pitchFamily="49" charset="0"/>
              </a:rPr>
              <a:t>Leave blank or enter New password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40F05D4-776A-48CB-8AF1-35B854C90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Prepared by James Soko for Mr. Mwashi Matela | © 2025 Kapasa Makasa University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1C6BD-534D-4513-9A62-64364594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957A4-16DF-4C63-BE16-7FC3458D454E}" type="slidenum">
              <a:rPr lang="LID4096" smtClean="0"/>
              <a:t>17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3AEC17-0601-4006-B98F-80CCB969D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487" y="3130826"/>
            <a:ext cx="4168880" cy="27535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03CB72-B19A-4ECC-AED7-55CFC6362D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905" y="3129122"/>
            <a:ext cx="4457966" cy="13534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B657B0-6F21-46A3-9239-9A211B1396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968" y="5063115"/>
            <a:ext cx="3684571" cy="163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8626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873</TotalTime>
  <Words>717</Words>
  <Application>Microsoft Office PowerPoint</Application>
  <PresentationFormat>Widescreen</PresentationFormat>
  <Paragraphs>210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Gothic</vt:lpstr>
      <vt:lpstr>Consolas</vt:lpstr>
      <vt:lpstr>Wingdings 3</vt:lpstr>
      <vt:lpstr>Ion Boardroom</vt:lpstr>
      <vt:lpstr>Operating System Security (CYS337)</vt:lpstr>
      <vt:lpstr>QUESTION </vt:lpstr>
      <vt:lpstr>Repair Mode</vt:lpstr>
      <vt:lpstr>Advanced Options</vt:lpstr>
      <vt:lpstr>Recovery Options </vt:lpstr>
      <vt:lpstr>Image Recovery</vt:lpstr>
      <vt:lpstr>Image Recovery (Continues…)</vt:lpstr>
      <vt:lpstr>Image Recovery (Continues…)</vt:lpstr>
      <vt:lpstr>Local Disk (C) / (D)</vt:lpstr>
      <vt:lpstr>System32</vt:lpstr>
      <vt:lpstr>Utility Manager (Utilman) </vt:lpstr>
      <vt:lpstr>Command Prompt (CMD)</vt:lpstr>
      <vt:lpstr>Ease Acess</vt:lpstr>
      <vt:lpstr>User Accounts</vt:lpstr>
      <vt:lpstr>User Accounts (Continues…)</vt:lpstr>
      <vt:lpstr>Command Prompt </vt:lpstr>
      <vt:lpstr>User Accounts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</dc:title>
  <dc:creator>James Soko</dc:creator>
  <cp:lastModifiedBy>James Soko</cp:lastModifiedBy>
  <cp:revision>116</cp:revision>
  <dcterms:created xsi:type="dcterms:W3CDTF">2025-02-26T16:23:36Z</dcterms:created>
  <dcterms:modified xsi:type="dcterms:W3CDTF">2025-09-02T11:10:07Z</dcterms:modified>
</cp:coreProperties>
</file>