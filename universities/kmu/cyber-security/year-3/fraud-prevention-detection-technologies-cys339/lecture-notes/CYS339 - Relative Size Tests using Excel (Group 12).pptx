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67" r:id="rId6"/>
    <p:sldId id="261" r:id="rId7"/>
    <p:sldId id="260" r:id="rId8"/>
    <p:sldId id="263" r:id="rId9"/>
    <p:sldId id="264" r:id="rId10"/>
    <p:sldId id="259" r:id="rId11"/>
    <p:sldId id="265" r:id="rId12"/>
    <p:sldId id="270" r:id="rId13"/>
    <p:sldId id="266" r:id="rId14"/>
    <p:sldId id="271" r:id="rId15"/>
    <p:sldId id="26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8E58E-F6C2-41D1-A612-94B54526242A}" type="datetimeFigureOut">
              <a:rPr lang="LID4096" smtClean="0"/>
              <a:t>06/05/2025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4EB91-A4BB-4AF4-9AE1-4E20CBEF235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554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107CE-BB41-4E10-8AA2-F1D0D9465458}" type="datetime1">
              <a:rPr lang="LID4096" smtClean="0"/>
              <a:t>06/05/2025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325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6EB0-0AB9-482A-A289-EFB9AB2A69D9}" type="datetime1">
              <a:rPr lang="LID4096" smtClean="0"/>
              <a:t>06/05/2025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0161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37583-85A6-4CD6-B9B5-D4A364CB0685}" type="datetime1">
              <a:rPr lang="LID4096" smtClean="0"/>
              <a:t>06/05/2025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640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2EFE-336A-4092-A7C9-0ED3E8DC64FF}" type="datetime1">
              <a:rPr lang="LID4096" smtClean="0"/>
              <a:t>06/05/2025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254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542B-41C6-468A-BD3B-90527A6BBC04}" type="datetime1">
              <a:rPr lang="LID4096" smtClean="0"/>
              <a:t>06/05/2025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7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E578-29FB-41BF-BCF8-1623CE9313CE}" type="datetime1">
              <a:rPr lang="LID4096" smtClean="0"/>
              <a:t>06/05/2025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59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B9EA-408B-4CF7-AB9E-904BB649306F}" type="datetime1">
              <a:rPr lang="LID4096" smtClean="0"/>
              <a:t>06/05/2025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501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5E41-B0B4-4FDC-894B-890B47E1092B}" type="datetime1">
              <a:rPr lang="LID4096" smtClean="0"/>
              <a:t>06/05/2025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505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0AF7875-44D4-4019-81CD-FD0A9C910A00}" type="datetime1">
              <a:rPr lang="LID4096" smtClean="0"/>
              <a:t>06/05/2025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386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B84E-A7A5-4D57-8C85-C618794D57DA}" type="datetime1">
              <a:rPr lang="LID4096" smtClean="0"/>
              <a:t>06/05/2025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573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F162-C779-4D3F-B434-D2AD100317A4}" type="datetime1">
              <a:rPr lang="LID4096" smtClean="0"/>
              <a:t>06/05/2025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481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8C79E7E-C425-4B66-AAD9-D3C5471C4D9F}" type="datetime1">
              <a:rPr lang="LID4096" smtClean="0"/>
              <a:t>06/05/2025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ACA3E07-7598-49B0-96AE-8763CD5239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964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8ZGth73Sew0iy6Wirh9zGmc-yq3_S6TA/edit?usp=drive_link&amp;ouid=104332499804880879093&amp;rtpof=true&amp;sd=tru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1FE2-5945-48A7-A43B-EAEFF64798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Fraud Prevention &amp; Detection Technologies</a:t>
            </a:r>
            <a:endParaRPr lang="LID4096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6F4A8-08EC-4F68-B7D8-8F19B8F5E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Relative Size Tests using </a:t>
            </a:r>
            <a:r>
              <a:rPr lang="en-GB" b="1" dirty="0">
                <a:solidFill>
                  <a:srgbClr val="00B050"/>
                </a:solidFill>
              </a:rPr>
              <a:t>Excel</a:t>
            </a:r>
            <a:r>
              <a:rPr lang="en-GB" b="1" dirty="0"/>
              <a:t>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4735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4290-985E-48C8-B0D9-D2A69C15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Group 12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8531-781E-4888-84F5-1016C1D1D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School of Applied Sciences and Education</a:t>
            </a:r>
          </a:p>
          <a:p>
            <a:pPr marL="0" indent="0" algn="ctr">
              <a:buNone/>
            </a:pPr>
            <a:r>
              <a:rPr lang="en-GB" b="1" dirty="0"/>
              <a:t>ICT Department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Cyber Security </a:t>
            </a:r>
          </a:p>
          <a:p>
            <a:pPr marL="0" indent="0" algn="ctr">
              <a:buNone/>
            </a:pPr>
            <a:endParaRPr lang="LID4096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69DE817-80FE-42CB-9C90-7B7254924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855096"/>
              </p:ext>
            </p:extLst>
          </p:nvPr>
        </p:nvGraphicFramePr>
        <p:xfrm>
          <a:off x="3638222" y="3896498"/>
          <a:ext cx="491555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91">
                  <a:extLst>
                    <a:ext uri="{9D8B030D-6E8A-4147-A177-3AD203B41FA5}">
                      <a16:colId xmlns:a16="http://schemas.microsoft.com/office/drawing/2014/main" val="3390760867"/>
                    </a:ext>
                  </a:extLst>
                </a:gridCol>
                <a:gridCol w="2554664">
                  <a:extLst>
                    <a:ext uri="{9D8B030D-6E8A-4147-A177-3AD203B41FA5}">
                      <a16:colId xmlns:a16="http://schemas.microsoft.com/office/drawing/2014/main" val="1295286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STUDENT NUMBER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06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James Soko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20231392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85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Cuthbelt Ndhlovu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20231784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0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Courage Silweya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20230099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15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Esther Ngoma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20230442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47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Alice M. Chota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22175367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18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Alinet Hang’oba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20231685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73060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A019-A877-479D-8D3B-E143384A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9627" y="6492378"/>
            <a:ext cx="5901189" cy="320040"/>
          </a:xfrm>
        </p:spPr>
        <p:txBody>
          <a:bodyPr/>
          <a:lstStyle/>
          <a:p>
            <a:r>
              <a:rPr lang="en-US" dirty="0"/>
              <a:t>CYS339 PRESENTATION FOR GROUP 2 PREPARED FOR MR. MUKOMBO MUKOMBO | 3RD YEAR CYBER SECURITY STUDENTS</a:t>
            </a:r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C7A6-F92A-4D60-A9BF-C49E2013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975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318A-0D0A-4679-A1BB-EEAECB6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Question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3FAB8-E2C9-4AF4-A3DC-DDEB6AA06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Objective: Compare item sizes to benchmarks (e.g., transactions &gt; 3x average).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Deliverables: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Z-score/percentile analysis.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A report on "unusually large" items.</a:t>
            </a:r>
          </a:p>
          <a:p>
            <a:r>
              <a:rPr lang="en-GB" dirty="0"/>
              <a:t>Example: Flag Ponzi scheme pay-outs (e.g., 10x typical returns).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8834E-8374-4785-A6A9-96A9DF18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3535E-98EB-4821-87F3-5D5BEBF5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782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C79C-3D90-4C83-9654-11C1F679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Objectives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EC5D-68A6-45CA-B052-59597DBE3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Understanding the term </a:t>
            </a:r>
            <a:r>
              <a:rPr lang="en-GB" b="1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set</a:t>
            </a:r>
            <a:r>
              <a:rPr lang="en-GB" dirty="0"/>
              <a:t>.</a:t>
            </a:r>
          </a:p>
          <a:p>
            <a:r>
              <a:rPr lang="en-GB" dirty="0"/>
              <a:t>Understanding the term </a:t>
            </a:r>
            <a:r>
              <a:rPr lang="en-GB" b="1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mean</a:t>
            </a:r>
            <a:r>
              <a:rPr lang="en-GB" dirty="0"/>
              <a:t> and how to calculate it.</a:t>
            </a:r>
          </a:p>
          <a:p>
            <a:r>
              <a:rPr lang="en-GB" dirty="0"/>
              <a:t>Understanding </a:t>
            </a:r>
            <a:r>
              <a:rPr lang="en-GB" b="1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 Deviation </a:t>
            </a:r>
            <a:r>
              <a:rPr lang="en-GB" dirty="0"/>
              <a:t>and how to use the formula.</a:t>
            </a:r>
          </a:p>
          <a:p>
            <a:r>
              <a:rPr lang="en-GB" dirty="0"/>
              <a:t>Understanding </a:t>
            </a:r>
            <a:r>
              <a:rPr lang="en-GB" b="1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Zero-score</a:t>
            </a:r>
            <a:r>
              <a:rPr lang="en-GB" dirty="0"/>
              <a:t> and how to calculate the Standard Score.</a:t>
            </a:r>
          </a:p>
          <a:p>
            <a:r>
              <a:rPr lang="en-GB" dirty="0"/>
              <a:t>Understanding how to integrate the data set and use </a:t>
            </a:r>
            <a:r>
              <a:rPr lang="en-GB" b="1" dirty="0"/>
              <a:t>AVERAGE</a:t>
            </a:r>
            <a:r>
              <a:rPr lang="en-GB" dirty="0"/>
              <a:t>, </a:t>
            </a:r>
            <a:r>
              <a:rPr lang="en-GB" b="1" dirty="0"/>
              <a:t>STDEV</a:t>
            </a:r>
            <a:r>
              <a:rPr lang="en-GB" dirty="0"/>
              <a:t>, </a:t>
            </a:r>
            <a:r>
              <a:rPr lang="en-GB" b="1" dirty="0"/>
              <a:t>PECENTRANK.INC</a:t>
            </a:r>
            <a:r>
              <a:rPr lang="en-GB" dirty="0"/>
              <a:t>, </a:t>
            </a:r>
            <a:r>
              <a:rPr lang="en-GB" b="1" dirty="0"/>
              <a:t>IF</a:t>
            </a:r>
            <a:r>
              <a:rPr lang="en-GB" dirty="0"/>
              <a:t>, and </a:t>
            </a:r>
            <a:r>
              <a:rPr lang="en-GB" b="1" dirty="0"/>
              <a:t>COUNTIF</a:t>
            </a:r>
            <a:r>
              <a:rPr lang="en-GB" dirty="0"/>
              <a:t> functions in </a:t>
            </a:r>
            <a:r>
              <a:rPr lang="en-GB" b="1" dirty="0">
                <a:solidFill>
                  <a:srgbClr val="00B05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Excel</a:t>
            </a:r>
            <a:r>
              <a:rPr lang="en-GB" dirty="0"/>
              <a:t>.</a:t>
            </a:r>
          </a:p>
          <a:p>
            <a:r>
              <a:rPr lang="en-GB" dirty="0"/>
              <a:t>Understanding how to calculate Zero-score for each transaction in </a:t>
            </a:r>
            <a:r>
              <a:rPr lang="en-GB" b="1" dirty="0">
                <a:solidFill>
                  <a:srgbClr val="00B050"/>
                </a:solidFill>
              </a:rPr>
              <a:t>Excel</a:t>
            </a:r>
            <a:r>
              <a:rPr lang="en-GB" dirty="0"/>
              <a:t>.</a:t>
            </a:r>
          </a:p>
          <a:p>
            <a:r>
              <a:rPr lang="en-GB" dirty="0"/>
              <a:t>Understanding how to use the above tools or methods in </a:t>
            </a:r>
            <a:r>
              <a:rPr lang="en-GB" b="1" dirty="0">
                <a:solidFill>
                  <a:schemeClr val="tx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Fraud Prevention &amp; Detection Technologies</a:t>
            </a:r>
            <a:r>
              <a:rPr lang="en-GB" b="1" dirty="0"/>
              <a:t>.</a:t>
            </a:r>
          </a:p>
          <a:p>
            <a:endParaRPr lang="en-GB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8E426-BD33-467E-8A40-0351886E3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9A187-36B0-431D-AEF9-48DEFB97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347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C890-6269-4DF6-92FE-AABB6783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Set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DD527-5DFA-4E3F-92FA-979504B6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set </a:t>
            </a:r>
            <a:r>
              <a:rPr lang="en-US" dirty="0"/>
              <a:t>is a collection of related data, often organized in a structured format like a table or spreadsheet, used for analysis, model training, or other purposes.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E40F6-BA21-42C6-80AF-059EC6E6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322" y="3708007"/>
            <a:ext cx="7070725" cy="194807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D6407-F635-4ADB-BC13-108C15DF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CE649-8D7F-416A-ACFA-EB378797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135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D831-857C-4278-AF39-C3A126DD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Mean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2A204-F2D9-4B7C-9104-2896383E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Mean</a:t>
            </a:r>
            <a:r>
              <a:rPr lang="en-US" dirty="0"/>
              <a:t> is the average of the given numbers.</a:t>
            </a:r>
          </a:p>
          <a:p>
            <a:r>
              <a:rPr lang="en-GB" dirty="0"/>
              <a:t>The formula for the Mean is </a:t>
            </a:r>
          </a:p>
          <a:p>
            <a:endParaRPr lang="en-GB" dirty="0"/>
          </a:p>
          <a:p>
            <a:pPr marL="0" indent="0">
              <a:buNone/>
            </a:pPr>
            <a:r>
              <a:rPr lang="el-GR" dirty="0"/>
              <a:t>μ = 750+325+2800+425+300+225 ÷ 6</a:t>
            </a:r>
          </a:p>
          <a:p>
            <a:pPr marL="0" indent="0">
              <a:buNone/>
            </a:pPr>
            <a:r>
              <a:rPr lang="en-GB" dirty="0"/>
              <a:t>  </a:t>
            </a:r>
            <a:r>
              <a:rPr lang="el-GR" dirty="0"/>
              <a:t> = 4825 ÷ 6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l-GR" dirty="0"/>
              <a:t>= 804.16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The mean (m) for the </a:t>
            </a:r>
            <a:r>
              <a:rPr lang="en-GB" b="1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set </a:t>
            </a:r>
            <a:r>
              <a:rPr lang="en-GB" dirty="0"/>
              <a:t>given is 804.16 for the transactions.</a:t>
            </a:r>
            <a:endParaRPr lang="el-GR" dirty="0"/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F8CA5-8F02-4333-987D-1E9E5EA98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376" y="3073381"/>
            <a:ext cx="2463927" cy="71123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18C9E-94FC-4BB5-8EAA-BD015C09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5D061-3A11-400E-9727-6191D4C2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760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27F4-62D5-4C3F-B257-6B0C8B24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deviation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B732-B493-457E-AD29-170345F9C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Standard Deviation </a:t>
            </a:r>
            <a:r>
              <a:rPr lang="en-US" dirty="0"/>
              <a:t>is a quantity expressing by how much the members of a group differ from the mean value for the group.</a:t>
            </a:r>
          </a:p>
          <a:p>
            <a:r>
              <a:rPr lang="en-GB" dirty="0"/>
              <a:t>The formula for the Standard Deviation is</a:t>
            </a:r>
          </a:p>
          <a:p>
            <a:r>
              <a:rPr lang="el-GR" dirty="0"/>
              <a:t>σ</a:t>
            </a:r>
            <a:r>
              <a:rPr lang="en-GB" dirty="0"/>
              <a:t> </a:t>
            </a:r>
            <a:r>
              <a:rPr lang="en-US" dirty="0"/>
              <a:t> = dataset standard deviation</a:t>
            </a:r>
          </a:p>
          <a:p>
            <a:r>
              <a:rPr lang="en-US" dirty="0"/>
              <a:t>N = the size of the dataset</a:t>
            </a:r>
          </a:p>
          <a:p>
            <a:r>
              <a:rPr lang="en-US" dirty="0"/>
              <a:t>X</a:t>
            </a:r>
            <a:r>
              <a:rPr lang="en-GB" dirty="0"/>
              <a:t>ί</a:t>
            </a:r>
            <a:r>
              <a:rPr lang="en-US" dirty="0"/>
              <a:t> = each value from the dataset</a:t>
            </a:r>
          </a:p>
          <a:p>
            <a:r>
              <a:rPr lang="en-GB" dirty="0"/>
              <a:t>μ</a:t>
            </a:r>
            <a:r>
              <a:rPr lang="en-US" dirty="0"/>
              <a:t>  = the dataset </a:t>
            </a:r>
            <a:r>
              <a:rPr lang="en-US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mean (m)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00A31-88AC-44F9-B6B9-53486A529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651" y="3266589"/>
            <a:ext cx="2451226" cy="102240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0EE2E-1D6B-4425-AD74-44DC7932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6F85E-0D07-460B-A1F7-F3421D1D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012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27F4-62D5-4C3F-B257-6B0C8B24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deviation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B732-B493-457E-AD29-170345F9C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Formula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μ = 750+325+2800+425+300+225 ÷ 6</a:t>
            </a:r>
          </a:p>
          <a:p>
            <a:pPr marL="0" indent="0">
              <a:buNone/>
            </a:pPr>
            <a:r>
              <a:rPr lang="en-GB" dirty="0"/>
              <a:t>   = 4825 ÷ 6</a:t>
            </a:r>
          </a:p>
          <a:p>
            <a:pPr marL="0" indent="0">
              <a:buNone/>
            </a:pPr>
            <a:r>
              <a:rPr lang="en-GB" dirty="0"/>
              <a:t>   = 804.16</a:t>
            </a:r>
          </a:p>
          <a:p>
            <a:pPr marL="0" indent="0">
              <a:buNone/>
            </a:pPr>
            <a:r>
              <a:rPr lang="en-GB" dirty="0"/>
              <a:t>N = 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B03FC-9C4F-41BA-BDD8-72B895C037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Sub-standard Deviations</a:t>
            </a:r>
          </a:p>
          <a:p>
            <a:pPr marL="0" indent="0">
              <a:buNone/>
            </a:pPr>
            <a:r>
              <a:rPr lang="en-GB" dirty="0"/>
              <a:t>750-804.16 = -54.16</a:t>
            </a:r>
          </a:p>
          <a:p>
            <a:pPr marL="0" indent="0">
              <a:buNone/>
            </a:pPr>
            <a:r>
              <a:rPr lang="en-GB" dirty="0"/>
              <a:t>325-804.16 = -479.16</a:t>
            </a:r>
          </a:p>
          <a:p>
            <a:pPr marL="0" indent="0">
              <a:buNone/>
            </a:pPr>
            <a:r>
              <a:rPr lang="en-GB" dirty="0"/>
              <a:t>2800-804.16 = 1995.84</a:t>
            </a:r>
          </a:p>
          <a:p>
            <a:pPr marL="0" indent="0">
              <a:buNone/>
            </a:pPr>
            <a:r>
              <a:rPr lang="en-GB" dirty="0"/>
              <a:t>425-804.16 = -379.16</a:t>
            </a:r>
          </a:p>
          <a:p>
            <a:pPr marL="0" indent="0">
              <a:buNone/>
            </a:pPr>
            <a:r>
              <a:rPr lang="en-GB" dirty="0"/>
              <a:t>300-804.16 = -504.16</a:t>
            </a:r>
          </a:p>
          <a:p>
            <a:pPr marL="0" indent="0">
              <a:buNone/>
            </a:pPr>
            <a:r>
              <a:rPr lang="en-GB" dirty="0"/>
              <a:t>225-804.16 = -579.16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00A31-88AC-44F9-B6B9-53486A52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82" y="3015803"/>
            <a:ext cx="2451226" cy="1022403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CFD8F8D-5C82-4169-965C-3F1E7F0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F04286-C390-4A9C-921C-78C99682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720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27F4-62D5-4C3F-B257-6B0C8B24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deviation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B732-B493-457E-AD29-170345F9C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Sub-standard Deviations²</a:t>
            </a:r>
          </a:p>
          <a:p>
            <a:pPr marL="0" indent="0">
              <a:buNone/>
            </a:pPr>
            <a:r>
              <a:rPr lang="en-GB" dirty="0"/>
              <a:t>-54.16² = 2933.30</a:t>
            </a:r>
          </a:p>
          <a:p>
            <a:pPr marL="0" indent="0">
              <a:buNone/>
            </a:pPr>
            <a:r>
              <a:rPr lang="en-GB" dirty="0"/>
              <a:t>-479.16² = 229594.30</a:t>
            </a:r>
          </a:p>
          <a:p>
            <a:pPr marL="0" indent="0">
              <a:buNone/>
            </a:pPr>
            <a:r>
              <a:rPr lang="en-GB" dirty="0"/>
              <a:t>1995.84² = 3983377.30</a:t>
            </a:r>
          </a:p>
          <a:p>
            <a:pPr marL="0" indent="0">
              <a:buNone/>
            </a:pPr>
            <a:r>
              <a:rPr lang="en-GB" dirty="0"/>
              <a:t>-379.16² = 143762.30</a:t>
            </a:r>
          </a:p>
          <a:p>
            <a:pPr marL="0" indent="0">
              <a:buNone/>
            </a:pPr>
            <a:r>
              <a:rPr lang="en-GB" dirty="0"/>
              <a:t>-504.16² = 254177.30</a:t>
            </a:r>
          </a:p>
          <a:p>
            <a:pPr marL="0" indent="0">
              <a:buNone/>
            </a:pPr>
            <a:r>
              <a:rPr lang="en-GB" dirty="0"/>
              <a:t>-579.16² = 335426.30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B03FC-9C4F-41BA-BDD8-72B895C037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Summation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∑ = (2933.30+ 229594.30+ 3983377.30+ 143762.30+ 254177.30+ 335426.30)</a:t>
            </a:r>
          </a:p>
          <a:p>
            <a:pPr marL="0" indent="0">
              <a:buNone/>
            </a:pPr>
            <a:r>
              <a:rPr lang="en-GB" dirty="0"/>
              <a:t>∑ = 4949270.8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∑÷N = 824878.46</a:t>
            </a:r>
          </a:p>
          <a:p>
            <a:pPr marL="0" indent="0">
              <a:buNone/>
            </a:pPr>
            <a:r>
              <a:rPr lang="en-GB" dirty="0"/>
              <a:t>✓ 824878.46 = 908.22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E13DF-9118-48EC-8926-FBD6B50F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A1496-3028-44D3-9647-DED48691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0996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6B89-ADE3-4692-B2FD-FF572BDE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Score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574D0-13BF-4604-A07B-3DBAC120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Z-score</a:t>
            </a:r>
            <a:r>
              <a:rPr lang="en-GB" dirty="0"/>
              <a:t> </a:t>
            </a:r>
            <a:r>
              <a:rPr lang="en-US" dirty="0"/>
              <a:t>measures how many standard deviations a value is from the mean.</a:t>
            </a:r>
          </a:p>
          <a:p>
            <a:r>
              <a:rPr lang="en-GB" dirty="0"/>
              <a:t>The formula for the Standard Score or Z-score is </a:t>
            </a:r>
            <a:endParaRPr lang="en-US" b="1" dirty="0"/>
          </a:p>
          <a:p>
            <a:r>
              <a:rPr lang="en-US" dirty="0"/>
              <a:t>Z = standard score</a:t>
            </a:r>
          </a:p>
          <a:p>
            <a:r>
              <a:rPr lang="en-US" dirty="0"/>
              <a:t>X = observed value</a:t>
            </a:r>
          </a:p>
          <a:p>
            <a:r>
              <a:rPr lang="el-GR" dirty="0"/>
              <a:t>μ​</a:t>
            </a:r>
            <a:r>
              <a:rPr lang="en-US" dirty="0"/>
              <a:t> = </a:t>
            </a:r>
            <a:r>
              <a:rPr lang="en-US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mean</a:t>
            </a:r>
            <a:r>
              <a:rPr lang="en-US" dirty="0"/>
              <a:t> of the dataset (m)</a:t>
            </a:r>
          </a:p>
          <a:p>
            <a:r>
              <a:rPr lang="el-GR" dirty="0"/>
              <a:t>σ</a:t>
            </a:r>
            <a:r>
              <a:rPr lang="en-US" dirty="0"/>
              <a:t> = </a:t>
            </a:r>
            <a:r>
              <a:rPr lang="en-US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 deviation </a:t>
            </a:r>
            <a:r>
              <a:rPr lang="en-US" dirty="0"/>
              <a:t>of the dataset</a:t>
            </a:r>
          </a:p>
          <a:p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F48F1-DF62-47BC-92DF-781325C4A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948" y="3186699"/>
            <a:ext cx="1568531" cy="6731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4E672-9EAA-4424-9B54-4274B9EF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B9ADB-1151-4133-95C3-23E3B5CC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815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6B89-ADE3-4692-B2FD-FF572BDE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Score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574D0-13BF-4604-A07B-3DBAC1202A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        Formula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      </a:t>
            </a:r>
            <a:r>
              <a:rPr lang="en-GB" dirty="0"/>
              <a:t>= 750-804.16 ÷ 908.22</a:t>
            </a:r>
          </a:p>
          <a:p>
            <a:pPr marL="0" indent="0">
              <a:buNone/>
            </a:pPr>
            <a:r>
              <a:rPr lang="en-GB" dirty="0"/>
              <a:t>      = -54.16÷908.22</a:t>
            </a:r>
          </a:p>
          <a:p>
            <a:pPr marL="0" indent="0">
              <a:buNone/>
            </a:pPr>
            <a:r>
              <a:rPr lang="en-GB" dirty="0"/>
              <a:t>      = -0.05</a:t>
            </a:r>
          </a:p>
          <a:p>
            <a:pPr marL="0" indent="0">
              <a:buNone/>
            </a:pPr>
            <a:r>
              <a:rPr lang="en-GB" dirty="0"/>
              <a:t>Therefore -0.05 is the Standard Score for James’s transaction (K750)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90B3C-11A8-4342-955C-9F0D80A24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Now let’s use </a:t>
            </a:r>
            <a:r>
              <a:rPr lang="en-GB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Excel</a:t>
            </a:r>
            <a:r>
              <a:rPr lang="en-GB" dirty="0"/>
              <a:t> to find all the Zero-score values as shown below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F48F1-DF62-47BC-92DF-781325C4A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3092432"/>
            <a:ext cx="1568531" cy="673135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6D83520-F4BB-4DFC-8877-6CD72FB7C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70840"/>
              </p:ext>
            </p:extLst>
          </p:nvPr>
        </p:nvGraphicFramePr>
        <p:xfrm>
          <a:off x="6502907" y="3628778"/>
          <a:ext cx="452645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056">
                  <a:extLst>
                    <a:ext uri="{9D8B030D-6E8A-4147-A177-3AD203B41FA5}">
                      <a16:colId xmlns:a16="http://schemas.microsoft.com/office/drawing/2014/main" val="2953639621"/>
                    </a:ext>
                  </a:extLst>
                </a:gridCol>
                <a:gridCol w="1881876">
                  <a:extLst>
                    <a:ext uri="{9D8B030D-6E8A-4147-A177-3AD203B41FA5}">
                      <a16:colId xmlns:a16="http://schemas.microsoft.com/office/drawing/2014/main" val="695260769"/>
                    </a:ext>
                  </a:extLst>
                </a:gridCol>
                <a:gridCol w="1027522">
                  <a:extLst>
                    <a:ext uri="{9D8B030D-6E8A-4147-A177-3AD203B41FA5}">
                      <a16:colId xmlns:a16="http://schemas.microsoft.com/office/drawing/2014/main" val="3838685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Amount (K)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Z-score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58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750.00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James Soko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-0.5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944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325.00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Cuthbert Ndlovu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-0.48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92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2800.00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Courage Silweya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2.01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4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425.00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Esther Ngoma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-0.38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89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300.00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Alice M. Chota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-0.51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579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225.00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Alinet Han’goba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-0.58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343271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EC9DE8-434D-4FAC-A07F-7A91CB51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5923D5-2501-45CE-B4A7-EF502695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928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7EE866-0376-4BBD-BB88-026AE600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Percentile Rank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1FB4-44BA-40DC-B56A-E7901D3E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percentile score </a:t>
            </a:r>
            <a:r>
              <a:rPr lang="en-US" dirty="0"/>
              <a:t>tells you the relative standing of a value in a dataset.</a:t>
            </a:r>
          </a:p>
          <a:p>
            <a:r>
              <a:rPr lang="en-US" dirty="0"/>
              <a:t>In fraud detection, very </a:t>
            </a:r>
            <a:r>
              <a:rPr lang="en-US" b="1" dirty="0"/>
              <a:t>high percentile scores </a:t>
            </a:r>
            <a:r>
              <a:rPr lang="en-US" dirty="0"/>
              <a:t>(e.g., above the 95th, 98th, or 99th percentile) often signal </a:t>
            </a:r>
            <a:r>
              <a:rPr lang="en-US" b="1" dirty="0"/>
              <a:t>unusually large </a:t>
            </a:r>
            <a:r>
              <a:rPr lang="en-US" dirty="0"/>
              <a:t>or </a:t>
            </a:r>
            <a:r>
              <a:rPr lang="en-US" b="1" dirty="0"/>
              <a:t>suspicious transactions</a:t>
            </a:r>
            <a:r>
              <a:rPr lang="en-US" dirty="0"/>
              <a:t>, which may warrant investigation.</a:t>
            </a:r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F69B5D9-9D4C-4F49-A396-A1C1178D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21441"/>
              </p:ext>
            </p:extLst>
          </p:nvPr>
        </p:nvGraphicFramePr>
        <p:xfrm>
          <a:off x="2531621" y="4122742"/>
          <a:ext cx="77907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538">
                  <a:extLst>
                    <a:ext uri="{9D8B030D-6E8A-4147-A177-3AD203B41FA5}">
                      <a16:colId xmlns:a16="http://schemas.microsoft.com/office/drawing/2014/main" val="475901092"/>
                    </a:ext>
                  </a:extLst>
                </a:gridCol>
                <a:gridCol w="2856321">
                  <a:extLst>
                    <a:ext uri="{9D8B030D-6E8A-4147-A177-3AD203B41FA5}">
                      <a16:colId xmlns:a16="http://schemas.microsoft.com/office/drawing/2014/main" val="136760190"/>
                    </a:ext>
                  </a:extLst>
                </a:gridCol>
                <a:gridCol w="2978871">
                  <a:extLst>
                    <a:ext uri="{9D8B030D-6E8A-4147-A177-3AD203B41FA5}">
                      <a16:colId xmlns:a16="http://schemas.microsoft.com/office/drawing/2014/main" val="14939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Percentile Rank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Interpretation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34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&lt; 90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Normal Range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 action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26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90 – 95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Mildly Unusual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Flag for review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566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&gt; 95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Unusual (possible red flag)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Investigate for fraud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36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&gt; 99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Very rare (likely suspicious)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Investigate for high fraud risk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742225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847F4-AD06-4678-BD5C-6FCFC5C0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4FD23-6406-47D7-B3CA-2EB628E3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69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57CECF-48AA-4875-BBBB-0225A91A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Excel </a:t>
            </a:r>
            <a:endParaRPr lang="LID4096" b="1" dirty="0">
              <a:solidFill>
                <a:srgbClr val="00B05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8514E-C357-40EC-ACEE-826F8296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Excel </a:t>
            </a:r>
            <a:r>
              <a:rPr lang="en-US" dirty="0"/>
              <a:t>is a spreadsheet program from Microsoft used for organizing, analyzing, and visualizing data. </a:t>
            </a:r>
          </a:p>
          <a:p>
            <a:r>
              <a:rPr lang="en-US" dirty="0"/>
              <a:t>Download the excel lab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.</a:t>
            </a:r>
          </a:p>
          <a:p>
            <a:r>
              <a:rPr lang="en-US" dirty="0"/>
              <a:t>Formulas used:</a:t>
            </a:r>
          </a:p>
          <a:p>
            <a:pPr marL="342900" indent="-342900">
              <a:buFont typeface="+mj-lt"/>
              <a:buAutoNum type="alphaLcParenR"/>
            </a:pPr>
            <a:r>
              <a:rPr lang="en-GB" b="1" dirty="0"/>
              <a:t>Mean</a:t>
            </a:r>
            <a:r>
              <a:rPr lang="en-GB" dirty="0"/>
              <a:t> =AVERAGE(D5:D10)</a:t>
            </a:r>
          </a:p>
          <a:p>
            <a:pPr marL="342900" indent="-342900">
              <a:buFont typeface="+mj-lt"/>
              <a:buAutoNum type="alphaLcParenR"/>
            </a:pPr>
            <a:r>
              <a:rPr lang="en-GB" b="1" dirty="0"/>
              <a:t>Standard</a:t>
            </a:r>
            <a:r>
              <a:rPr lang="en-GB" dirty="0"/>
              <a:t> Deviation =STDEV.S(D5:D10)</a:t>
            </a:r>
          </a:p>
          <a:p>
            <a:pPr marL="342900" indent="-342900">
              <a:buFont typeface="+mj-lt"/>
              <a:buAutoNum type="alphaLcParenR"/>
            </a:pPr>
            <a:r>
              <a:rPr lang="en-GB" b="1" dirty="0"/>
              <a:t>Z-score</a:t>
            </a:r>
            <a:r>
              <a:rPr lang="en-GB" dirty="0"/>
              <a:t> </a:t>
            </a:r>
            <a:r>
              <a:rPr lang="nn-NO" dirty="0"/>
              <a:t>=(D5 - $K$5)/($K$6)</a:t>
            </a:r>
          </a:p>
          <a:p>
            <a:pPr marL="342900" indent="-342900">
              <a:buFont typeface="+mj-lt"/>
              <a:buAutoNum type="alphaLcParenR"/>
            </a:pPr>
            <a:r>
              <a:rPr lang="nn-NO" b="1" dirty="0"/>
              <a:t>Pecentile Rank </a:t>
            </a:r>
            <a:r>
              <a:rPr lang="nn-NO" dirty="0"/>
              <a:t>=PERCENTRANK.INC($D$5:$D$10, D5)</a:t>
            </a:r>
            <a:endParaRPr lang="LID4096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97D59A-D7FA-46E6-82E8-F9B2F6C1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ABE5EC-90DD-4D5B-955F-445410DC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633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57CECF-48AA-4875-BBBB-0225A91A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</a:rPr>
              <a:t>Excel </a:t>
            </a:r>
            <a:endParaRPr lang="LID4096" b="1" dirty="0">
              <a:solidFill>
                <a:srgbClr val="00B05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8514E-C357-40EC-ACEE-826F8296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lphaLcParenR" startAt="5"/>
            </a:pPr>
            <a:r>
              <a:rPr lang="en-GB" b="1" dirty="0"/>
              <a:t>Filter</a:t>
            </a:r>
            <a:r>
              <a:rPr lang="en-GB" dirty="0"/>
              <a:t> =FILTER(A5:H10,H5:H10=D14,"No search as been made or zero results")</a:t>
            </a:r>
          </a:p>
          <a:p>
            <a:pPr marL="342900" indent="-342900">
              <a:buAutoNum type="alphaLcParenR" startAt="5"/>
            </a:pPr>
            <a:r>
              <a:rPr lang="en-GB" b="1" dirty="0"/>
              <a:t>Count if</a:t>
            </a:r>
          </a:p>
          <a:p>
            <a:pPr marL="400050" indent="-400050">
              <a:buFont typeface="+mj-lt"/>
              <a:buAutoNum type="romanLcPeriod"/>
            </a:pPr>
            <a:r>
              <a:rPr lang="en-GB" dirty="0"/>
              <a:t>=COUNTIF(H5:H10,"Usual")</a:t>
            </a:r>
          </a:p>
          <a:p>
            <a:pPr marL="400050" indent="-400050">
              <a:buFont typeface="+mj-lt"/>
              <a:buAutoNum type="romanLcPeriod"/>
            </a:pPr>
            <a:r>
              <a:rPr lang="en-GB" dirty="0"/>
              <a:t>=COUNTIF(H5:H10,"Unusual")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DC5ACE-8240-4BAE-B5B0-F845191B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AE4D5-83DE-4D13-B4EC-23766173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944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1338-195F-48BE-911B-929AC132B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Excel</a:t>
            </a:r>
            <a:r>
              <a:rPr lang="en-US" b="1" dirty="0"/>
              <a:t> Lab: Relative Size Tests for Fraud Detection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9DCDD-0D1F-4873-8942-BE3DD53BD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Analyzing transaction data to flag potentially fraudulent activity using Z-scores and relative size thresholds (e.g., Z-score &gt; 2 or 2× average).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FABD70-8CE1-4676-8725-E732F81C4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30" y="3318861"/>
            <a:ext cx="6885274" cy="316099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6955A9-383A-484B-BFAD-1918B908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3467" y="6537960"/>
            <a:ext cx="5901189" cy="320040"/>
          </a:xfrm>
        </p:spPr>
        <p:txBody>
          <a:bodyPr/>
          <a:lstStyle/>
          <a:p>
            <a:r>
              <a:rPr lang="en-US" dirty="0"/>
              <a:t>CYS339 PRESENTATION FOR GROUP 2 PREPARED FOR MR. MUKOMBO MUKOMBO | 3RD YEAR CYBER SECURITY STUDENTS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C3C2E1-FC26-4793-858C-5068CFFE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4989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2F64-EAA9-4CAC-B50A-86C05947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Fraud Detection &amp; Prevention Technologies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F223-AE85-4807-AED4-88880F8B0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Fraud detection technologies </a:t>
            </a:r>
            <a:r>
              <a:rPr lang="en-US" dirty="0"/>
              <a:t>include tools, methods, and systems used to identify suspicious or unauthorized activities (like money laundering, embezzlement, Ponzi schemes, or invoice fraud).</a:t>
            </a:r>
          </a:p>
          <a:p>
            <a:r>
              <a:rPr lang="en-GB" dirty="0"/>
              <a:t>These may include: </a:t>
            </a:r>
            <a:r>
              <a:rPr lang="en-US" b="1" dirty="0"/>
              <a:t>Data analytics tools </a:t>
            </a:r>
            <a:r>
              <a:rPr lang="en-US" dirty="0"/>
              <a:t>(like ACL, IDEA, </a:t>
            </a:r>
            <a:r>
              <a:rPr lang="en-US" b="1" dirty="0">
                <a:solidFill>
                  <a:srgbClr val="00B050"/>
                </a:solidFill>
              </a:rPr>
              <a:t>Excel</a:t>
            </a:r>
            <a:r>
              <a:rPr lang="en-US" dirty="0"/>
              <a:t>)</a:t>
            </a:r>
          </a:p>
          <a:p>
            <a:r>
              <a:rPr lang="en-US" dirty="0"/>
              <a:t> </a:t>
            </a:r>
            <a:r>
              <a:rPr lang="en-US" b="1" dirty="0"/>
              <a:t>Relative Size Test (RST) </a:t>
            </a:r>
            <a:r>
              <a:rPr lang="en-US" dirty="0"/>
              <a:t>as a Detection Tool  helps detect outliers by flagging transactions that are: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Statistically unusual (e.g., Z-score &gt; 2)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Disproportionately large compared to peer values (e.g., &gt;2× average)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Beyond a defined percentile threshold (e.g., &gt;99th percentile)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D1DE4-472E-4115-9680-EC6C8BE4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CYS339 PRESENTATION FOR GROUP 2 PREPARED FOR MR. MUKOMBO MUKOMBO | 3RD YEAR CYBER SECURITY STUDENTS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ECA20-8ED8-47F3-A949-BF360BA3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3E07-7598-49B0-96AE-8763CD5239E8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510198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408</TotalTime>
  <Words>1186</Words>
  <Application>Microsoft Office PowerPoint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Gill Sans MT</vt:lpstr>
      <vt:lpstr>Parcel</vt:lpstr>
      <vt:lpstr>Fraud Prevention &amp; Detection Technologies</vt:lpstr>
      <vt:lpstr>Group 12</vt:lpstr>
      <vt:lpstr>Question</vt:lpstr>
      <vt:lpstr>Objectives </vt:lpstr>
      <vt:lpstr>Data Set</vt:lpstr>
      <vt:lpstr>Mean</vt:lpstr>
      <vt:lpstr>Standard deviation </vt:lpstr>
      <vt:lpstr>Standard deviation </vt:lpstr>
      <vt:lpstr>Standard deviation </vt:lpstr>
      <vt:lpstr>Standard Score</vt:lpstr>
      <vt:lpstr>Standard Score</vt:lpstr>
      <vt:lpstr>Percentile Rank</vt:lpstr>
      <vt:lpstr>Excel </vt:lpstr>
      <vt:lpstr>Excel </vt:lpstr>
      <vt:lpstr>Excel Lab: Relative Size Tests for Fraud Detection</vt:lpstr>
      <vt:lpstr>Fraud Detection &amp; Prevention Technologies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Prevention &amp; Detection Technologies</dc:title>
  <dc:creator>James Soko</dc:creator>
  <cp:lastModifiedBy>James Soko</cp:lastModifiedBy>
  <cp:revision>43</cp:revision>
  <dcterms:created xsi:type="dcterms:W3CDTF">2025-05-13T05:35:05Z</dcterms:created>
  <dcterms:modified xsi:type="dcterms:W3CDTF">2025-06-05T13:04:14Z</dcterms:modified>
</cp:coreProperties>
</file>