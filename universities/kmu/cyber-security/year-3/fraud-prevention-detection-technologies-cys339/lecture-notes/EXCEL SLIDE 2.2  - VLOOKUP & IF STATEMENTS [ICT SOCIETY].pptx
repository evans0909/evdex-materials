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61" d="100"/>
          <a:sy n="61" d="100"/>
        </p:scale>
        <p:origin x="8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4A702-0C6E-4141-9773-96B722DFA759}" type="datetimeFigureOut">
              <a:rPr lang="LID4096" smtClean="0"/>
              <a:t>02/11/2025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FFCB3-7DC5-48B6-B107-8DFFD1E9BD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992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56ECC43-C495-4E09-AD36-660C4F5BBD77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018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CE5F-C897-4449-A901-0D2259A52002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154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4F77-E868-4582-AF29-EEABA67C5D08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05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ED5D-A069-40FC-87D7-C8055602FAD9}" type="datetime1">
              <a:rPr lang="LID4096" smtClean="0"/>
              <a:t>02/11/2025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1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C2EB4-684D-4F76-ABE3-EF238DC094E4}" type="datetime1">
              <a:rPr lang="LID4096" smtClean="0"/>
              <a:t>02/11/2025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457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630EC-9DA1-4DCE-810B-0F58B5038704}" type="datetime1">
              <a:rPr lang="LID4096" smtClean="0"/>
              <a:t>02/11/2025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505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5C4B-00CB-4A9B-89AF-C4095F81715F}" type="datetime1">
              <a:rPr lang="LID4096" smtClean="0"/>
              <a:t>02/11/2025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241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141C-5AFF-46FA-9017-7A79F06752A8}" type="datetime1">
              <a:rPr lang="LID4096" smtClean="0"/>
              <a:t>02/11/2025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61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E203-EFD3-4608-958A-B13011347BE3}" type="datetime1">
              <a:rPr lang="LID4096" smtClean="0"/>
              <a:t>02/11/2025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982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B24F2-BC0F-49DB-9172-252862E8DAB2}" type="datetime1">
              <a:rPr lang="LID4096" smtClean="0"/>
              <a:t>02/11/2025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13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E75-486A-483D-9848-A78EA8E60F7C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503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908B-7E5E-4FAB-8E22-866B9339FF33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7253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CD14-D36A-4FE0-8A63-CBE22C48A7C8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5525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2E57-62F9-4BC0-B28F-2B8D6647B1AC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638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6F1E9-0FCE-4446-9AAA-CDB727694F31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9107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3F6-C9A2-4C28-AD7E-87937D34B0F2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0671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5FF6-9F98-4E84-84E6-78F57397EA8A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664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FF0478-4918-4CE6-9B4F-BFE2E2897720}" type="datetime1">
              <a:rPr lang="LID4096" smtClean="0"/>
              <a:t>02/11/2025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© ICT Society ℗ Kapasa Makasa University | Prepared by James Soko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DC110B-74A1-4407-998E-2A7F46575C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2070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3B85-9D02-48FA-BD3F-348BEEF1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7000" b="1" dirty="0">
                <a:solidFill>
                  <a:srgbClr val="00B050"/>
                </a:solidFill>
                <a:latin typeface="Bahnschrift" panose="020B0502040204020203" pitchFamily="34" charset="0"/>
              </a:rPr>
              <a:t>EXCEL</a:t>
            </a:r>
            <a:endParaRPr lang="LID4096" sz="170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D56AC-FBBF-4911-B478-8DDE112BF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Bahnschrift" panose="020B0502040204020203" pitchFamily="34" charset="0"/>
              </a:rPr>
              <a:t>VLOOKUP &amp; IF STATEMENTS | CTF RESULTS</a:t>
            </a:r>
            <a:endParaRPr lang="LID4096" sz="2400" b="1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D516A-8576-4F7B-839B-28E1613B7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769" y="697624"/>
            <a:ext cx="5715000" cy="5715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757A-1D47-4E4E-B3EE-A8C3E7DB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60B9-E6F4-4D80-BB5D-1BC8F453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690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6A85-2E19-4548-BB04-795FC500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PROJECT | CTF RESULTS</a:t>
            </a:r>
            <a:endParaRPr lang="LID4096" b="1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72668E-4BA8-4F55-9050-313F3A31D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28" y="2065867"/>
            <a:ext cx="9366798" cy="380470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68016-E752-440E-8E10-139A953F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D3781-6F04-42A2-BC9D-F9A1F1A3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065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88A5-7A49-44CF-94D3-4A8EB41D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PROJECT | CTF RESULTS (CONTINUES…)</a:t>
            </a:r>
            <a:endParaRPr lang="LID4096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4A6B4C-BF77-4480-AD08-01528A77D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183077"/>
            <a:ext cx="10131425" cy="368749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6B845-B156-4F61-A9AA-406A2C31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5D6D3-51F6-4D0D-B7F3-792631AB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8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8C38CE-D43F-49B0-B386-A745865B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STARTING THE CTF RESULTS PROJECT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4D7DA1-F716-4B24-95B6-2A1B9B951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Creating an Excel Sheet File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6087B-71E9-4B6B-8431-A4C304ED7F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Go to your preferred Folder, right click → </a:t>
            </a:r>
            <a:r>
              <a:rPr lang="en-US" b="1" dirty="0">
                <a:latin typeface="Bahnschrift" panose="020B0502040204020203" pitchFamily="34" charset="0"/>
              </a:rPr>
              <a:t>New</a:t>
            </a:r>
            <a:r>
              <a:rPr lang="en-US" dirty="0">
                <a:latin typeface="Bahnschrift" panose="020B0502040204020203" pitchFamily="34" charset="0"/>
              </a:rPr>
              <a:t> → </a:t>
            </a:r>
            <a:r>
              <a:rPr lang="en-US" b="1" dirty="0">
                <a:latin typeface="Bahnschrift" panose="020B0502040204020203" pitchFamily="34" charset="0"/>
              </a:rPr>
              <a:t>New Microsoft Excel Worksheet </a:t>
            </a:r>
          </a:p>
          <a:p>
            <a:r>
              <a:rPr lang="en-US" dirty="0">
                <a:latin typeface="Bahnschrift" panose="020B0502040204020203" pitchFamily="34" charset="0"/>
              </a:rPr>
              <a:t> Rename the excel file to “</a:t>
            </a:r>
            <a:r>
              <a:rPr lang="en-US" b="1" dirty="0">
                <a:latin typeface="Bahnschrift" panose="020B0502040204020203" pitchFamily="34" charset="0"/>
              </a:rPr>
              <a:t>CTF RESULTS</a:t>
            </a:r>
            <a:r>
              <a:rPr lang="en-US" dirty="0">
                <a:latin typeface="Bahnschrift" panose="020B0502040204020203" pitchFamily="34" charset="0"/>
              </a:rPr>
              <a:t>”</a:t>
            </a: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41DEDF-909B-4727-AEB0-1B7DF2EA9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Opening an Excel Sheet File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625ED9-B4C7-49C8-89EC-4BCA199367A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Double click on CTF RESULTS.xlsx</a:t>
            </a: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3AAD5-D550-4BA8-953C-E1C784EE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43FD8-48C3-44D4-BF26-02E3A7EF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4</a:t>
            </a:fld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48FE68-C8C9-482E-A213-4C63AE789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01" y="4011555"/>
            <a:ext cx="1022403" cy="1130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DDC49-1CCB-4791-85B5-6F2736E47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99" y="3392886"/>
            <a:ext cx="5031420" cy="264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50229CD-432F-4653-88ED-1DDC4495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STARTING THE CTF RESULTS PROJECT (continues…)</a:t>
            </a: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A98116-366A-4F8E-9BD7-A1C3A2874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Enter the following: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90458D-1FDC-4D4F-8FFE-5B122625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1B4C3F-302E-41B5-BC7C-DAF37824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5</a:t>
            </a:fld>
            <a:endParaRPr 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B386DF-AE04-42EE-B046-2E325A983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62" y="2560457"/>
            <a:ext cx="9674063" cy="33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1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37C605-A156-4418-99B9-A1D4BD1D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PERFECTING THE PROJECT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E54C5B-0DF6-4EB6-85E0-EC98574B1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Merge &amp; Center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E804BC-BB35-4DD3-A152-17630AE134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Merge &amp; Center A2:J2.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A5:C5.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D5:G6 and Middle Align.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I5:J5.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B7:C7.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B8:C8.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B9:C9.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A87769-63AF-4EAE-9417-015C1E0C2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Merge &amp; Center (Continues)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C63E83-C6B0-4285-B648-4DAA0F87D0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Merge &amp; Center B10:C10.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B6:C6.</a:t>
            </a:r>
          </a:p>
          <a:p>
            <a:r>
              <a:rPr lang="en-US" dirty="0">
                <a:latin typeface="Bahnschrift" panose="020B0502040204020203" pitchFamily="34" charset="0"/>
              </a:rPr>
              <a:t> Select B6:B10 and Left Align.</a:t>
            </a:r>
          </a:p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/>
              <a:t>Merge &amp; Center H5:H6 and Middle Align.</a:t>
            </a:r>
          </a:p>
          <a:p>
            <a:r>
              <a:rPr lang="en-US" dirty="0"/>
              <a:t> Merge &amp; Center A3:J3.</a:t>
            </a:r>
          </a:p>
          <a:p>
            <a:r>
              <a:rPr lang="en-US" dirty="0"/>
              <a:t> Merge &amp; Center D7:G7.</a:t>
            </a:r>
          </a:p>
          <a:p>
            <a:r>
              <a:rPr lang="en-US" dirty="0"/>
              <a:t> Merge &amp; Center D8:G8.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B0D82-3C73-4AE6-A8C8-47814BDF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9AE38-87E1-4BCA-B7B1-51F583BD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455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9928-A178-417E-B833-079330E7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PERFECTING THE PROJECT  (continues…)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C9FBF-4168-465C-9C64-672D8ABB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Merge &amp; Center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C5087-ADE5-4ACA-A641-E4FFC437EB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Merge &amp; Center D9:G9.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D10:G10.</a:t>
            </a:r>
          </a:p>
          <a:p>
            <a:r>
              <a:rPr lang="en-US" dirty="0">
                <a:latin typeface="Bahnschrift" panose="020B0502040204020203" pitchFamily="34" charset="0"/>
              </a:rPr>
              <a:t> Select D7:D10 and Left Align.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A12:J12.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A13:B13 and Align Left.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C13:D13.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A15:J15.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78BFD-D98C-4268-9E98-454190F2C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Merge &amp; Center (Continues…)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54326-4804-4821-A4B5-2AE6FD6B42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Merge &amp; Center B16:C16 and Align Left.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G16:J16 and Align Left.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B18:D18 and Align Left.</a:t>
            </a:r>
          </a:p>
          <a:p>
            <a:r>
              <a:rPr lang="en-US" dirty="0">
                <a:latin typeface="Bahnschrift" panose="020B0502040204020203" pitchFamily="34" charset="0"/>
              </a:rPr>
              <a:t>Select A7:A10 and Align Left.</a:t>
            </a:r>
          </a:p>
          <a:p>
            <a:r>
              <a:rPr lang="en-US" dirty="0">
                <a:latin typeface="Bahnschrift" panose="020B0502040204020203" pitchFamily="34" charset="0"/>
              </a:rPr>
              <a:t> Select H7:J10 and Align Left.</a:t>
            </a:r>
          </a:p>
          <a:p>
            <a:r>
              <a:rPr lang="en-US" dirty="0">
                <a:latin typeface="Bahnschrift" panose="020B0502040204020203" pitchFamily="34" charset="0"/>
              </a:rPr>
              <a:t> Select A5:H10, right click, go to Format Cells… → Border → Outline → Inside → OK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B35D3B-6F34-46F8-9B78-CDC8C48F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8D04058-4D0F-4E12-A584-06E4C939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7277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8BE6-5186-4C28-A30D-92449926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PERFECTING THE PROJECT  (continues…)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E390F-8A2B-492F-834B-4593A2119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Border Lines &amp; Pixels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DCD7D-0D5B-48C7-9132-78342D6480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b="1" dirty="0">
                <a:latin typeface="Bahnschrift" panose="020B0502040204020203" pitchFamily="34" charset="0"/>
              </a:rPr>
              <a:t>Select I5:J6, right click, go to Format Cells… → Border → Outline → Inside → OK</a:t>
            </a:r>
          </a:p>
          <a:p>
            <a:r>
              <a:rPr lang="en-US" dirty="0">
                <a:latin typeface="Bahnschrift" panose="020B0502040204020203" pitchFamily="34" charset="0"/>
              </a:rPr>
              <a:t> Drag column 1 to 160 pixels and the rest to 50 pixels.</a:t>
            </a:r>
          </a:p>
          <a:p>
            <a:r>
              <a:rPr lang="en-US" dirty="0">
                <a:latin typeface="Bahnschrift" panose="020B0502040204020203" pitchFamily="34" charset="0"/>
              </a:rPr>
              <a:t> Select C13, right click, go to Format Cells… → Border → Outline (Choose a thicker line) → OK</a:t>
            </a:r>
          </a:p>
          <a:p>
            <a:r>
              <a:rPr lang="en-US" dirty="0">
                <a:latin typeface="Bahnschrift" panose="020B0502040204020203" pitchFamily="34" charset="0"/>
              </a:rPr>
              <a:t> Do the above same steps for cell B16, B17, B18 and G16.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B9C28-B435-4C49-B323-0E3DB8F91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Font &amp; Others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4D80C-2F94-4A3F-BC07-996C6F898B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ahnschrift" panose="020B0502040204020203" pitchFamily="34" charset="0"/>
              </a:rPr>
              <a:t> Select A2:J18, Middle Align and change font to Bahnscrift.</a:t>
            </a:r>
          </a:p>
          <a:p>
            <a:r>
              <a:rPr lang="en-US" dirty="0">
                <a:latin typeface="Bahnschrift" panose="020B0502040204020203" pitchFamily="34" charset="0"/>
              </a:rPr>
              <a:t> Merge &amp; Center cell E1:F1 and Insert the ICT Society Logo.</a:t>
            </a:r>
          </a:p>
          <a:p>
            <a:r>
              <a:rPr lang="en-US" dirty="0">
                <a:latin typeface="Bahnschrift" panose="020B0502040204020203" pitchFamily="34" charset="0"/>
              </a:rPr>
              <a:t> Add the expected things in bold.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B79A4A5-9A77-4823-BDA2-52227883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C41EF3-3BB0-4D61-A667-0E1851AD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626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3D75F7-A177-44DB-8927-BC1E7E75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NEW LOOKS OF OUR PROJECT</a:t>
            </a:r>
            <a:endParaRPr lang="LID4096" b="1" dirty="0">
              <a:latin typeface="Bahnschrift" panose="020B0502040204020203" pitchFamily="34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47E15BB-EF3A-45CF-A9CA-7D5BFF51F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34582"/>
            <a:ext cx="4800600" cy="1864452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BA5189-D551-4EDF-B2B9-F9592BA8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9E8228-60AB-4439-9132-917C1C0D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9</a:t>
            </a:fld>
            <a:endParaRPr lang="LID4096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4CCAB5-9B99-48B7-8AB6-6E25DD4BD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099034"/>
            <a:ext cx="4800600" cy="18644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4D5BB6-FE5D-48B5-83B6-F6A7A11BB37B}"/>
              </a:ext>
            </a:extLst>
          </p:cNvPr>
          <p:cNvSpPr txBox="1"/>
          <p:nvPr/>
        </p:nvSpPr>
        <p:spPr>
          <a:xfrm>
            <a:off x="5751513" y="2416644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latin typeface="Bahnschrift" panose="020B0502040204020203" pitchFamily="34" charset="0"/>
              </a:rPr>
              <a:t>NOTE: </a:t>
            </a:r>
          </a:p>
          <a:p>
            <a:r>
              <a:rPr lang="en-GB" sz="3200" dirty="0">
                <a:latin typeface="Bahnschrift" panose="020B0502040204020203" pitchFamily="34" charset="0"/>
              </a:rPr>
              <a:t>At this point we can now start looking at:</a:t>
            </a:r>
          </a:p>
          <a:p>
            <a:r>
              <a:rPr lang="en-GB" sz="3200" dirty="0">
                <a:latin typeface="Bahnschrift" panose="020B0502040204020203" pitchFamily="34" charset="0"/>
              </a:rPr>
              <a:t>MAX Function </a:t>
            </a:r>
          </a:p>
          <a:p>
            <a:r>
              <a:rPr lang="en-GB" sz="3200" dirty="0">
                <a:latin typeface="Bahnschrift" panose="020B0502040204020203" pitchFamily="34" charset="0"/>
              </a:rPr>
              <a:t>MIN Function</a:t>
            </a:r>
          </a:p>
          <a:p>
            <a:r>
              <a:rPr lang="en-GB" sz="3200" dirty="0">
                <a:latin typeface="Bahnschrift" panose="020B0502040204020203" pitchFamily="34" charset="0"/>
              </a:rPr>
              <a:t>VLOOKUP Function</a:t>
            </a:r>
          </a:p>
          <a:p>
            <a:r>
              <a:rPr lang="en-GB" sz="3200" dirty="0">
                <a:latin typeface="Bahnschrift" panose="020B0502040204020203" pitchFamily="34" charset="0"/>
              </a:rPr>
              <a:t>IF Function</a:t>
            </a:r>
            <a:endParaRPr lang="LID4096" sz="3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75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64C0-0AAC-4E54-BF6C-DB306892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MAX &amp; MIN FUNCTION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1117B6-774E-412F-A4E1-C86654E1F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MAX Function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1FD371-F461-4600-BE37-14D207EB72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In cell I7, insert the formular:</a:t>
            </a:r>
          </a:p>
          <a:p>
            <a:r>
              <a:rPr lang="en-US" dirty="0">
                <a:latin typeface="Bahnschrift" panose="020B0502040204020203" pitchFamily="34" charset="0"/>
              </a:rPr>
              <a:t> =MAX(H7:H10)</a:t>
            </a: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39AFAE-899D-4961-8ED1-78D4DA1E8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MIN Function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A6ED4A-56B4-40FE-9470-D66E7048E26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 In cell J7, insert the formular:</a:t>
            </a:r>
          </a:p>
          <a:p>
            <a:r>
              <a:rPr lang="en-US" dirty="0">
                <a:latin typeface="Bahnschrift" panose="020B0502040204020203" pitchFamily="34" charset="0"/>
              </a:rPr>
              <a:t> =MIN(H7:H10)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C6BC7-A894-498E-AF41-78B52849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F0E30-A254-48D3-8C7E-0BD0E86A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10</a:t>
            </a:fld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C0245-F4AA-46B1-BDD2-E1BC6346F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909" y="3598864"/>
            <a:ext cx="2000353" cy="22680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DFA743-70B8-42EB-A680-CC3FA1577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517" y="3633934"/>
            <a:ext cx="2019404" cy="310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2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18C6-DA4B-4613-805A-1D14AC33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FUNCTIONS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6E81D-95B4-4A34-9085-B09C7A9BC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IFERROR &amp; VLOOKUP Functions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1ED74-3E86-49E6-BBAD-5A6C33AA7D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In cell B16, insert the formular:</a:t>
            </a:r>
          </a:p>
          <a:p>
            <a:r>
              <a:rPr lang="en-US" dirty="0">
                <a:latin typeface="Bahnschrift" panose="020B0502040204020203" pitchFamily="34" charset="0"/>
              </a:rPr>
              <a:t> =IFERROR(VLOOKUP(C13, A7:H10, 2, FALSE), VLOOKUP(D13, A7:H10, 2, FALSE))</a:t>
            </a:r>
          </a:p>
          <a:p>
            <a:r>
              <a:rPr lang="en-US" dirty="0">
                <a:latin typeface="Bahnschrift" panose="020B0502040204020203" pitchFamily="34" charset="0"/>
              </a:rPr>
              <a:t> In cell B17, insert the formular:</a:t>
            </a:r>
          </a:p>
          <a:p>
            <a:r>
              <a:rPr lang="en-US" dirty="0">
                <a:latin typeface="Bahnschrift" panose="020B0502040204020203" pitchFamily="34" charset="0"/>
              </a:rPr>
              <a:t> =IFERROR(VLOOKUP(C13, A7:H10, 8, FALSE), VLOOKUP(D13, A7:H10, 8, FALSE))</a:t>
            </a:r>
          </a:p>
          <a:p>
            <a:pPr marL="0" indent="0">
              <a:buNone/>
            </a:pP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68FBD-CE63-4A5F-A2AE-1C1CE3A36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IF, IFERROR &amp; VLOOKUP Functions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15355-9678-4ACA-AFBD-489B5680B3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In cell B18, insert the formular:</a:t>
            </a:r>
          </a:p>
          <a:p>
            <a:r>
              <a:rPr lang="en-US" dirty="0">
                <a:latin typeface="Bahnschrift" panose="020B0502040204020203" pitchFamily="34" charset="0"/>
              </a:rPr>
              <a:t> =IF(B17=I7, "Y0U_4R3_7H3_W1NN3R", IF(B17=J7, "Y0U_H4V3_L0$7"))</a:t>
            </a:r>
          </a:p>
          <a:p>
            <a:r>
              <a:rPr lang="en-US" dirty="0">
                <a:latin typeface="Bahnschrift" panose="020B0502040204020203" pitchFamily="34" charset="0"/>
              </a:rPr>
              <a:t> In cell G16, insert the formular:</a:t>
            </a:r>
          </a:p>
          <a:p>
            <a:r>
              <a:rPr lang="en-US" dirty="0">
                <a:latin typeface="Bahnschrift" panose="020B0502040204020203" pitchFamily="34" charset="0"/>
              </a:rPr>
              <a:t> =IFERROR(VLOOKUP(C13, A7:H10, 4, FALSE), VLOOKUP(D13, A7:H10, 4, FALSE))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5BC2D0-0214-47E5-A7C2-868FBB7F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ICT Society ℗ Kapasa Makasa University | Prepared by James Soko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DAE3E-2F13-4857-BEF7-5A955DD8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739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A6447E2-A47D-4464-B31A-6BFFC8F0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END RESULTS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6743A1-932B-430A-A4D4-65A8F1312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FINAL PROJECT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E8D30D7-B035-448E-AC62-10D20E8935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72" y="2830978"/>
            <a:ext cx="4162942" cy="1456266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867D5B0-03A8-4E3B-840E-F86FC3D33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Definition Breakdown </a:t>
            </a:r>
            <a:endParaRPr lang="LID4096" b="1" dirty="0">
              <a:latin typeface="Bahnschrift" panose="020B0502040204020203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452F259-2D47-4F90-8FE5-C3CD3B6F0F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Bahnschrift" panose="020B0502040204020203" pitchFamily="34" charset="0"/>
              </a:rPr>
              <a:t> At this point, your can search for a player and see their details, that’s the main use of VLOOKUP Functions.</a:t>
            </a:r>
          </a:p>
          <a:p>
            <a:r>
              <a:rPr lang="en-US" dirty="0">
                <a:latin typeface="Bahnschrift" panose="020B0502040204020203" pitchFamily="34" charset="0"/>
              </a:rPr>
              <a:t> =VLOOPUP(A1,A2:H6,2,FALSE)</a:t>
            </a:r>
          </a:p>
          <a:p>
            <a:r>
              <a:rPr lang="en-US" dirty="0">
                <a:latin typeface="Bahnschrift" panose="020B0502040204020203" pitchFamily="34" charset="0"/>
              </a:rPr>
              <a:t> VLOOKUP | Function Name</a:t>
            </a:r>
          </a:p>
          <a:p>
            <a:r>
              <a:rPr lang="en-US" dirty="0">
                <a:latin typeface="Bahnschrift" panose="020B0502040204020203" pitchFamily="34" charset="0"/>
              </a:rPr>
              <a:t> A1 | Cell That Allows To Enter a Value (e.g., ID)</a:t>
            </a:r>
          </a:p>
          <a:p>
            <a:r>
              <a:rPr lang="en-US" dirty="0">
                <a:latin typeface="Bahnschrift" panose="020B0502040204020203" pitchFamily="34" charset="0"/>
              </a:rPr>
              <a:t> A2:H6 | Cells Containing The Data</a:t>
            </a:r>
          </a:p>
          <a:p>
            <a:r>
              <a:rPr lang="en-US" dirty="0">
                <a:latin typeface="Bahnschrift" panose="020B0502040204020203" pitchFamily="34" charset="0"/>
              </a:rPr>
              <a:t> 2 | Target Column </a:t>
            </a:r>
          </a:p>
          <a:p>
            <a:r>
              <a:rPr lang="en-US" dirty="0">
                <a:latin typeface="Bahnschrift" panose="020B0502040204020203" pitchFamily="34" charset="0"/>
              </a:rPr>
              <a:t> FALSE | Gives The Exact Value 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C640AD-C321-452E-820F-BFDDCDE8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A306D6-43CF-48C9-88E2-F1188C39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12</a:t>
            </a:fld>
            <a:endParaRPr lang="LID4096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F568F6-080D-42B1-A8E3-7563CA80C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73" y="4287244"/>
            <a:ext cx="4162942" cy="15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97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F453010-DA58-4168-9F32-665B133F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ICT SOCIETY | EXCEL SLIDES</a:t>
            </a:r>
            <a:endParaRPr lang="LID4096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DF5EC8-CC66-4C33-AAAA-7DDFED8EF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PREPARED BY JAMES SOKO</a:t>
            </a:r>
            <a:endParaRPr lang="LID4096" b="1" dirty="0">
              <a:latin typeface="Bahnschrift" panose="020B0502040204020203" pitchFamily="34" charset="0"/>
            </a:endParaRPr>
          </a:p>
          <a:p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2C3A4F-EDF2-45ED-8E8A-F51C4FB5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© ICT Society ℗ Kapasa Makasa University | Prepared by James Soko</a:t>
            </a:r>
            <a:endParaRPr lang="LID4096" dirty="0">
              <a:latin typeface="Bahnschrift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8A84E-E04D-41BF-AF0B-4ADC9CD9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10B-74A1-4407-998E-2A7F46575C21}" type="slidenum">
              <a:rPr lang="LID4096" smtClean="0"/>
              <a:t>13</a:t>
            </a:fld>
            <a:endParaRPr 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A2E48F-C157-4535-B345-BC2D3CDB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269" y="1615081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19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270</TotalTime>
  <Words>974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Bahnschrift</vt:lpstr>
      <vt:lpstr>Calibri</vt:lpstr>
      <vt:lpstr>Calibri Light</vt:lpstr>
      <vt:lpstr>Celestial</vt:lpstr>
      <vt:lpstr>EXCEL</vt:lpstr>
      <vt:lpstr>PROJECT | CTF RESULTS</vt:lpstr>
      <vt:lpstr>PROJECT | CTF RESULTS (CONTINUES…)</vt:lpstr>
      <vt:lpstr>STARTING THE CTF RESULTS PROJECT </vt:lpstr>
      <vt:lpstr>STARTING THE CTF RESULTS PROJECT (continues…)</vt:lpstr>
      <vt:lpstr>PERFECTING THE PROJECT </vt:lpstr>
      <vt:lpstr>PERFECTING THE PROJECT  (continues…)</vt:lpstr>
      <vt:lpstr>PERFECTING THE PROJECT  (continues…)</vt:lpstr>
      <vt:lpstr>NEW LOOKS OF OUR PROJECT</vt:lpstr>
      <vt:lpstr>MAX &amp; MIN FUNCTION</vt:lpstr>
      <vt:lpstr>FUNCTIONS </vt:lpstr>
      <vt:lpstr>END RESULTS</vt:lpstr>
      <vt:lpstr>ICT SOCIETY | EXCEL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</dc:title>
  <dc:creator>James Soko</dc:creator>
  <cp:lastModifiedBy>James Soko</cp:lastModifiedBy>
  <cp:revision>46</cp:revision>
  <dcterms:created xsi:type="dcterms:W3CDTF">2025-02-11T14:08:14Z</dcterms:created>
  <dcterms:modified xsi:type="dcterms:W3CDTF">2025-02-11T18:39:09Z</dcterms:modified>
</cp:coreProperties>
</file>