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6"/>
  </p:notesMasterIdLst>
  <p:sldIdLst>
    <p:sldId id="256" r:id="rId2"/>
    <p:sldId id="257" r:id="rId3"/>
    <p:sldId id="268" r:id="rId4"/>
    <p:sldId id="270" r:id="rId5"/>
    <p:sldId id="259" r:id="rId6"/>
    <p:sldId id="269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94660"/>
  </p:normalViewPr>
  <p:slideViewPr>
    <p:cSldViewPr snapToGrid="0">
      <p:cViewPr varScale="1">
        <p:scale>
          <a:sx n="68" d="100"/>
          <a:sy n="68" d="100"/>
        </p:scale>
        <p:origin x="62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4A702-0C6E-4141-9773-96B722DFA759}" type="datetimeFigureOut">
              <a:rPr lang="LID4096" smtClean="0"/>
              <a:t>03/28/2025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FFCB3-7DC5-48B6-B107-8DFFD1E9BD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59921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56ECC43-C495-4E09-AD36-660C4F5BBD77}" type="datetime1">
              <a:rPr lang="LID4096" smtClean="0"/>
              <a:t>03/28/2025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5018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FCE5F-C897-4449-A901-0D2259A52002}" type="datetime1">
              <a:rPr lang="LID4096" smtClean="0"/>
              <a:t>03/28/2025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154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4F77-E868-4582-AF29-EEABA67C5D08}" type="datetime1">
              <a:rPr lang="LID4096" smtClean="0"/>
              <a:t>03/28/2025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4057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ED5D-A069-40FC-87D7-C8055602FAD9}" type="datetime1">
              <a:rPr lang="LID4096" smtClean="0"/>
              <a:t>03/28/2025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1219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C2EB4-684D-4F76-ABE3-EF238DC094E4}" type="datetime1">
              <a:rPr lang="LID4096" smtClean="0"/>
              <a:t>03/28/2025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34572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630EC-9DA1-4DCE-810B-0F58B5038704}" type="datetime1">
              <a:rPr lang="LID4096" smtClean="0"/>
              <a:t>03/28/2025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75058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A5C4B-00CB-4A9B-89AF-C4095F81715F}" type="datetime1">
              <a:rPr lang="LID4096" smtClean="0"/>
              <a:t>03/28/2025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12416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141C-5AFF-46FA-9017-7A79F06752A8}" type="datetime1">
              <a:rPr lang="LID4096" smtClean="0"/>
              <a:t>03/28/2025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61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E203-EFD3-4608-958A-B13011347BE3}" type="datetime1">
              <a:rPr lang="LID4096" smtClean="0"/>
              <a:t>03/28/2025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9820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B24F2-BC0F-49DB-9172-252862E8DAB2}" type="datetime1">
              <a:rPr lang="LID4096" smtClean="0"/>
              <a:t>03/28/2025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133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4E75-486A-483D-9848-A78EA8E60F7C}" type="datetime1">
              <a:rPr lang="LID4096" smtClean="0"/>
              <a:t>03/28/2025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5037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3908B-7E5E-4FAB-8E22-866B9339FF33}" type="datetime1">
              <a:rPr lang="LID4096" smtClean="0"/>
              <a:t>03/28/2025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7253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3CD14-D36A-4FE0-8A63-CBE22C48A7C8}" type="datetime1">
              <a:rPr lang="LID4096" smtClean="0"/>
              <a:t>03/28/2025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95525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E2E57-62F9-4BC0-B28F-2B8D6647B1AC}" type="datetime1">
              <a:rPr lang="LID4096" smtClean="0"/>
              <a:t>03/28/2025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16387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6F1E9-0FCE-4446-9AAA-CDB727694F31}" type="datetime1">
              <a:rPr lang="LID4096" smtClean="0"/>
              <a:t>03/28/2025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39107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A3F6-C9A2-4C28-AD7E-87937D34B0F2}" type="datetime1">
              <a:rPr lang="LID4096" smtClean="0"/>
              <a:t>03/28/2025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0671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25FF6-9F98-4E84-84E6-78F57397EA8A}" type="datetime1">
              <a:rPr lang="LID4096" smtClean="0"/>
              <a:t>03/28/2025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6641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0FF0478-4918-4CE6-9B4F-BFE2E2897720}" type="datetime1">
              <a:rPr lang="LID4096" smtClean="0"/>
              <a:t>03/28/2025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20704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A3B85-9D02-48FA-BD3F-348BEEF17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17000" b="1" dirty="0">
                <a:solidFill>
                  <a:srgbClr val="00B050"/>
                </a:solidFill>
                <a:latin typeface="Bahnschrift" panose="020B0502040204020203" pitchFamily="34" charset="0"/>
              </a:rPr>
              <a:t>EXCEL</a:t>
            </a:r>
            <a:endParaRPr lang="LID4096" sz="17000" b="1" dirty="0">
              <a:solidFill>
                <a:srgbClr val="00B05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D56AC-FBBF-4911-B478-8DDE112BF7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9600" b="1" dirty="0">
                <a:latin typeface="Bahnschrift" panose="020B0502040204020203" pitchFamily="34" charset="0"/>
              </a:rPr>
              <a:t>FILTER</a:t>
            </a:r>
            <a:endParaRPr lang="LID4096" sz="9600" b="1" dirty="0"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CD516A-8576-4F7B-839B-28E1613B7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769" y="697624"/>
            <a:ext cx="5715000" cy="57150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757A-1D47-4E4E-B3EE-A8C3E7DB3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C60B9-E6F4-4D80-BB5D-1BC8F4533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6904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76A85-2E19-4548-BB04-795FC500C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INTRODUCTION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68016-E752-440E-8E10-139A953F6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3D3781-6F04-42A2-BC9D-F9A1F1A38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2</a:t>
            </a:fld>
            <a:endParaRPr lang="LID4096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F12312-0512-4E14-891F-B8B73B98D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Bahnschrift" panose="020B0502040204020203" pitchFamily="34" charset="0"/>
              </a:rPr>
              <a:t> The </a:t>
            </a:r>
            <a:r>
              <a:rPr lang="en-US" sz="2000" b="1" dirty="0">
                <a:latin typeface="Bahnschrift" panose="020B0502040204020203" pitchFamily="34" charset="0"/>
              </a:rPr>
              <a:t>FILTER</a:t>
            </a:r>
            <a:r>
              <a:rPr lang="en-US" sz="2000" dirty="0">
                <a:latin typeface="Bahnschrift" panose="020B0502040204020203" pitchFamily="34" charset="0"/>
              </a:rPr>
              <a:t> function in Excel is used to return specific data from a range based on one or more conditions. It helps extract relevant data dynamically without manually sorting or searching.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 Can be used in Fraud Prevention &amp; Detection Technologies to;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latin typeface="Bahnschrift" panose="020B0502040204020203" pitchFamily="34" charset="0"/>
              </a:rPr>
              <a:t> Identifying Malicious IPs Quickly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latin typeface="Bahnschrift" panose="020B0502040204020203" pitchFamily="34" charset="0"/>
              </a:rPr>
              <a:t> Analyzing Fraudulent Transactions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latin typeface="Bahnschrift" panose="020B0502040204020203" pitchFamily="34" charset="0"/>
              </a:rPr>
              <a:t> Tracking Phishing Attacks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latin typeface="Bahnschrift" panose="020B0502040204020203" pitchFamily="34" charset="0"/>
              </a:rPr>
              <a:t> Real-Time Monitoring &amp; Incident Response</a:t>
            </a:r>
            <a:endParaRPr lang="LID4096" sz="2000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65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88A5-7A49-44CF-94D3-4A8EB41D4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Bahnschrift" panose="020B0502040204020203" pitchFamily="34" charset="0"/>
              </a:rPr>
              <a:t>Syntax of FILTER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16B845-B156-4F61-A9AA-406A2C31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D5D6D3-51F6-4D0D-B7F3-792631ABA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3</a:t>
            </a:fld>
            <a:endParaRPr lang="LID4096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046349-D4DD-4AE2-9272-8526E6570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latin typeface="Bahnschrift" panose="020B0502040204020203" pitchFamily="34" charset="0"/>
              </a:rPr>
              <a:t>=FILTER(array, include, [if_empty])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>
                <a:latin typeface="Bahnschrift" panose="020B0502040204020203" pitchFamily="34" charset="0"/>
              </a:rPr>
              <a:t> </a:t>
            </a:r>
            <a:r>
              <a:rPr lang="en-US" sz="3200" b="1" dirty="0">
                <a:latin typeface="Bahnschrift" panose="020B0502040204020203" pitchFamily="34" charset="0"/>
              </a:rPr>
              <a:t>array → </a:t>
            </a:r>
            <a:r>
              <a:rPr lang="en-US" sz="3200" dirty="0">
                <a:latin typeface="Bahnschrift" panose="020B0502040204020203" pitchFamily="34" charset="0"/>
              </a:rPr>
              <a:t>The range of data you want to filter.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latin typeface="Bahnschrift" panose="020B0502040204020203" pitchFamily="34" charset="0"/>
              </a:rPr>
              <a:t>include → </a:t>
            </a:r>
            <a:r>
              <a:rPr lang="en-US" sz="3200" dirty="0">
                <a:latin typeface="Bahnschrift" panose="020B0502040204020203" pitchFamily="34" charset="0"/>
              </a:rPr>
              <a:t>The condition(s) used to filter the data.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latin typeface="Bahnschrift" panose="020B0502040204020203" pitchFamily="34" charset="0"/>
              </a:rPr>
              <a:t>if_empty (optional) → </a:t>
            </a:r>
            <a:r>
              <a:rPr lang="en-US" sz="3200" dirty="0">
                <a:latin typeface="Bahnschrift" panose="020B0502040204020203" pitchFamily="34" charset="0"/>
              </a:rPr>
              <a:t>The value to return if no data matches the condition.</a:t>
            </a:r>
            <a:endParaRPr lang="LID4096" sz="3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81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9CA1-452B-4559-8C79-7ABAAABE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USAGE 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CD88B-C46A-425B-83B3-87AEF8897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Bahnschrift" panose="020B0502040204020203" pitchFamily="34" charset="0"/>
              </a:rPr>
              <a:t>Filter Based on a Single Condition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 =FILTER(A4:E13,C4:C13="High","Invalid Severity Level")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 This will return only rows where Threat Level (column C) is "High“</a:t>
            </a:r>
          </a:p>
          <a:p>
            <a:pPr marL="342900" indent="-342900">
              <a:buAutoNum type="arabicPeriod" startAt="2"/>
            </a:pP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b="1" dirty="0">
                <a:latin typeface="Bahnschrift" panose="020B0502040204020203" pitchFamily="34" charset="0"/>
              </a:rPr>
              <a:t>Filter Based on Multiple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 =FILTER(A4:E13, (B4:B13="Malicious") * (C4:C13="High"), "Invalid Entry")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 The * acts as AND logic, meaning both conditions must be met.</a:t>
            </a:r>
          </a:p>
          <a:p>
            <a:pPr marL="342900" indent="-342900">
              <a:buAutoNum type="arabicPeriod" startAt="3"/>
            </a:pP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b="1" dirty="0">
                <a:latin typeface="Bahnschrift" panose="020B0502040204020203" pitchFamily="34" charset="0"/>
              </a:rPr>
              <a:t>Filter Data Dynamically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 =FILTER(A4:E13,C4:C13=B15,"Invalid Risk Level")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 This will update results automatically as the value in G1 changes.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1A868C-E583-4141-85DD-ABF26F9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A9B8A-353E-4231-B2AF-5BFC18EB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5174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50229CD-432F-4653-88ED-1DDC4495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Bahnschrift" panose="020B0502040204020203" pitchFamily="34" charset="0"/>
              </a:rPr>
              <a:t>APPLICATION</a:t>
            </a:r>
            <a:endParaRPr lang="LID4096" b="1" dirty="0">
              <a:latin typeface="Bahnschrift" panose="020B0502040204020203" pitchFamily="34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2B24606-6170-4E62-8507-8F2422BE8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143310"/>
            <a:ext cx="10131425" cy="3646117"/>
          </a:xfr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790458D-1FDC-4D4F-8FFE-5B1226254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1B4C3F-302E-41B5-BC7C-DAF37824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12313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2132163-D574-4967-BB44-4463442D8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FILTER BASED ON SINGLE CONDITION 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DE0FAB-830E-49D5-91B8-720D15EEC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In cell </a:t>
            </a:r>
            <a:r>
              <a:rPr lang="en-US" b="1" dirty="0">
                <a:latin typeface="Bahnschrift" panose="020B0502040204020203" pitchFamily="34" charset="0"/>
              </a:rPr>
              <a:t>B16</a:t>
            </a:r>
            <a:r>
              <a:rPr lang="en-US" dirty="0">
                <a:latin typeface="Bahnschrift" panose="020B0502040204020203" pitchFamily="34" charset="0"/>
              </a:rPr>
              <a:t> (Formula Bar) Enter: </a:t>
            </a:r>
            <a:r>
              <a:rPr lang="en-US" b="1" dirty="0">
                <a:latin typeface="Bahnschrift" panose="020B0502040204020203" pitchFamily="34" charset="0"/>
              </a:rPr>
              <a:t>=FILTER(A4:E13,C4:C13="High","Invalid Severity Level")</a:t>
            </a:r>
          </a:p>
          <a:p>
            <a:pPr marL="0" indent="0">
              <a:buNone/>
            </a:pPr>
            <a:endParaRPr lang="en-US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en-US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en-US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en-US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en-US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en-US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2F7758-7063-49DE-B11F-A9D6EC64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1F1571-D6FC-49ED-A47D-5AE27545A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6</a:t>
            </a:fld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3DF2C7-00E2-4F81-A6E2-48A6B4FED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955" y="2745439"/>
            <a:ext cx="7381504" cy="31318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3CC1B40-9B89-44BE-926C-D9F6E8AB2809}"/>
              </a:ext>
            </a:extLst>
          </p:cNvPr>
          <p:cNvSpPr/>
          <p:nvPr/>
        </p:nvSpPr>
        <p:spPr>
          <a:xfrm>
            <a:off x="2507530" y="2745439"/>
            <a:ext cx="2309567" cy="2334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08213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CB9CE-B78A-4E56-909A-0D5FE6C98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Bahnschrift" panose="020B0502040204020203" pitchFamily="34" charset="0"/>
              </a:rPr>
              <a:t>Filter Based on Multiple Conditions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403C0-AAE5-4F0E-8AF6-7FABE803D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it-IT" dirty="0">
                <a:latin typeface="Bahnschrift" panose="020B0502040204020203" pitchFamily="34" charset="0"/>
              </a:rPr>
              <a:t>In cell </a:t>
            </a:r>
            <a:r>
              <a:rPr lang="it-IT" b="1" dirty="0">
                <a:latin typeface="Bahnschrift" panose="020B0502040204020203" pitchFamily="34" charset="0"/>
              </a:rPr>
              <a:t>B16</a:t>
            </a:r>
            <a:r>
              <a:rPr lang="it-IT" dirty="0">
                <a:latin typeface="Bahnschrift" panose="020B0502040204020203" pitchFamily="34" charset="0"/>
              </a:rPr>
              <a:t> (Formula Bar) Enter: </a:t>
            </a:r>
            <a:r>
              <a:rPr lang="it-IT" b="1" dirty="0">
                <a:latin typeface="Bahnschrift" panose="020B0502040204020203" pitchFamily="34" charset="0"/>
              </a:rPr>
              <a:t>=FILTER(A4:E13, (B4:B13="Malicious") * (C4:C13="High"), "Invalid Entry")</a:t>
            </a: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endParaRPr lang="it-IT" dirty="0">
              <a:latin typeface="Bahnschrift" panose="020B0502040204020203" pitchFamily="34" charset="0"/>
            </a:endParaRPr>
          </a:p>
          <a:p>
            <a:endParaRPr lang="it-IT" dirty="0">
              <a:latin typeface="Bahnschrift" panose="020B0502040204020203" pitchFamily="34" charset="0"/>
            </a:endParaRPr>
          </a:p>
          <a:p>
            <a:endParaRPr lang="it-IT" dirty="0">
              <a:latin typeface="Bahnschrift" panose="020B0502040204020203" pitchFamily="34" charset="0"/>
            </a:endParaRPr>
          </a:p>
          <a:p>
            <a:endParaRPr lang="it-IT" dirty="0">
              <a:latin typeface="Bahnschrift" panose="020B0502040204020203" pitchFamily="34" charset="0"/>
            </a:endParaRPr>
          </a:p>
          <a:p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0CF44A-0EAE-46D5-BAB4-31E8CE12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519D2-FCE4-4461-951D-5BD27D4B8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7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5E7A0D-70E7-498E-A66C-C59805492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958" y="2898853"/>
            <a:ext cx="7138686" cy="30396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4FB4842-9C0A-4C55-92FA-90DA178BAB35}"/>
              </a:ext>
            </a:extLst>
          </p:cNvPr>
          <p:cNvSpPr/>
          <p:nvPr/>
        </p:nvSpPr>
        <p:spPr>
          <a:xfrm>
            <a:off x="2498103" y="2922309"/>
            <a:ext cx="2894029" cy="1885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84218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53509-263D-4F4D-B0B6-FB8544775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Bahnschrift" panose="020B0502040204020203" pitchFamily="34" charset="0"/>
              </a:rPr>
              <a:t>Filter Data Dynamically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09621-80FB-48BA-914E-8FA7163C5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it-IT" dirty="0">
                <a:latin typeface="Bahnschrift" panose="020B0502040204020203" pitchFamily="34" charset="0"/>
              </a:rPr>
              <a:t>In cell </a:t>
            </a:r>
            <a:r>
              <a:rPr lang="it-IT" b="1" dirty="0">
                <a:latin typeface="Bahnschrift" panose="020B0502040204020203" pitchFamily="34" charset="0"/>
              </a:rPr>
              <a:t>B16</a:t>
            </a:r>
            <a:r>
              <a:rPr lang="it-IT" dirty="0">
                <a:latin typeface="Bahnschrift" panose="020B0502040204020203" pitchFamily="34" charset="0"/>
              </a:rPr>
              <a:t> (Formula Bar) Enter: </a:t>
            </a:r>
            <a:r>
              <a:rPr lang="it-IT" b="1" dirty="0">
                <a:latin typeface="Bahnschrift" panose="020B0502040204020203" pitchFamily="34" charset="0"/>
              </a:rPr>
              <a:t>=FILTER(A4:E13,C4:C13=B15,"Invalid Risk Level")</a:t>
            </a: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FB277-9ADB-4B86-836C-A14F93C2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4F229-80B9-41B0-A965-DD627F605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8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A19673-4029-4D8C-BAD3-051419C45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38" y="2608892"/>
            <a:ext cx="7660429" cy="325850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3C058AF-5C44-4E07-8051-DF2BF7772318}"/>
              </a:ext>
            </a:extLst>
          </p:cNvPr>
          <p:cNvSpPr/>
          <p:nvPr/>
        </p:nvSpPr>
        <p:spPr>
          <a:xfrm>
            <a:off x="2601798" y="2658359"/>
            <a:ext cx="2055043" cy="1602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87433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53509-263D-4F4D-B0B6-FB8544775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Bahnschrift" panose="020B0502040204020203" pitchFamily="34" charset="0"/>
              </a:rPr>
              <a:t>Filter Data Dynamically (Continues…)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09621-80FB-48BA-914E-8FA7163C5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Type “</a:t>
            </a:r>
            <a:r>
              <a:rPr lang="en-US" b="1" dirty="0">
                <a:latin typeface="Bahnschrift" panose="020B0502040204020203" pitchFamily="34" charset="0"/>
              </a:rPr>
              <a:t>None</a:t>
            </a:r>
            <a:r>
              <a:rPr lang="en-US" dirty="0">
                <a:latin typeface="Bahnschrift" panose="020B0502040204020203" pitchFamily="34" charset="0"/>
              </a:rPr>
              <a:t>” </a:t>
            </a:r>
            <a:r>
              <a:rPr lang="it-IT" dirty="0">
                <a:latin typeface="Bahnschrift" panose="020B0502040204020203" pitchFamily="34" charset="0"/>
              </a:rPr>
              <a:t>in cell </a:t>
            </a:r>
            <a:r>
              <a:rPr lang="it-IT" b="1" dirty="0">
                <a:latin typeface="Bahnschrift" panose="020B0502040204020203" pitchFamily="34" charset="0"/>
              </a:rPr>
              <a:t>B15</a:t>
            </a:r>
            <a:r>
              <a:rPr lang="it-IT" dirty="0">
                <a:latin typeface="Bahnschrift" panose="020B0502040204020203" pitchFamily="34" charset="0"/>
              </a:rPr>
              <a:t> (Formula Bar) and press Enter.</a:t>
            </a:r>
            <a:endParaRPr lang="it-IT" b="1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FB277-9ADB-4B86-836C-A14F93C2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4F229-80B9-41B0-A965-DD627F605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9</a:t>
            </a:fld>
            <a:endParaRPr lang="LID4096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4F3805-86CA-446E-B6C4-A2D47BD7F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113" y="2541799"/>
            <a:ext cx="9592160" cy="342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446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53509-263D-4F4D-B0B6-FB8544775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Bahnschrift" panose="020B0502040204020203" pitchFamily="34" charset="0"/>
              </a:rPr>
              <a:t>Filter Data Dynamically (Continues…)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09621-80FB-48BA-914E-8FA7163C5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Type “</a:t>
            </a:r>
            <a:r>
              <a:rPr lang="en-US" b="1" dirty="0">
                <a:latin typeface="Bahnschrift" panose="020B0502040204020203" pitchFamily="34" charset="0"/>
              </a:rPr>
              <a:t>Low</a:t>
            </a:r>
            <a:r>
              <a:rPr lang="en-US" dirty="0">
                <a:latin typeface="Bahnschrift" panose="020B0502040204020203" pitchFamily="34" charset="0"/>
              </a:rPr>
              <a:t>” </a:t>
            </a:r>
            <a:r>
              <a:rPr lang="it-IT" dirty="0">
                <a:latin typeface="Bahnschrift" panose="020B0502040204020203" pitchFamily="34" charset="0"/>
              </a:rPr>
              <a:t>in cell </a:t>
            </a:r>
            <a:r>
              <a:rPr lang="it-IT" b="1" dirty="0">
                <a:latin typeface="Bahnschrift" panose="020B0502040204020203" pitchFamily="34" charset="0"/>
              </a:rPr>
              <a:t>B15</a:t>
            </a:r>
            <a:r>
              <a:rPr lang="it-IT" dirty="0">
                <a:latin typeface="Bahnschrift" panose="020B0502040204020203" pitchFamily="34" charset="0"/>
              </a:rPr>
              <a:t> (Formula Bar) and press Enter.</a:t>
            </a:r>
            <a:endParaRPr lang="it-IT" b="1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FB277-9ADB-4B86-836C-A14F93C2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4F229-80B9-41B0-A965-DD627F605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10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DDD758-D5FA-43A0-ADE6-E145E1683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131" y="2519560"/>
            <a:ext cx="9404036" cy="339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994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53509-263D-4F4D-B0B6-FB8544775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Bahnschrift" panose="020B0502040204020203" pitchFamily="34" charset="0"/>
              </a:rPr>
              <a:t>Filter Data Dynamically (Continues…)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09621-80FB-48BA-914E-8FA7163C5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Type “</a:t>
            </a:r>
            <a:r>
              <a:rPr lang="en-US" b="1" dirty="0">
                <a:latin typeface="Bahnschrift" panose="020B0502040204020203" pitchFamily="34" charset="0"/>
              </a:rPr>
              <a:t>Medium</a:t>
            </a:r>
            <a:r>
              <a:rPr lang="en-US" dirty="0">
                <a:latin typeface="Bahnschrift" panose="020B0502040204020203" pitchFamily="34" charset="0"/>
              </a:rPr>
              <a:t>” </a:t>
            </a:r>
            <a:r>
              <a:rPr lang="it-IT" dirty="0">
                <a:latin typeface="Bahnschrift" panose="020B0502040204020203" pitchFamily="34" charset="0"/>
              </a:rPr>
              <a:t>in cell </a:t>
            </a:r>
            <a:r>
              <a:rPr lang="it-IT" b="1" dirty="0">
                <a:latin typeface="Bahnschrift" panose="020B0502040204020203" pitchFamily="34" charset="0"/>
              </a:rPr>
              <a:t>B15</a:t>
            </a:r>
            <a:r>
              <a:rPr lang="it-IT" dirty="0">
                <a:latin typeface="Bahnschrift" panose="020B0502040204020203" pitchFamily="34" charset="0"/>
              </a:rPr>
              <a:t> (Formula Bar) and press Enter.</a:t>
            </a:r>
            <a:endParaRPr lang="it-IT" b="1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FB277-9ADB-4B86-836C-A14F93C2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4F229-80B9-41B0-A965-DD627F605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11</a:t>
            </a:fld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03F418-2F45-450A-AE07-53C005C8D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432" y="2522551"/>
            <a:ext cx="9584125" cy="341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5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53509-263D-4F4D-B0B6-FB8544775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Bahnschrift" panose="020B0502040204020203" pitchFamily="34" charset="0"/>
              </a:rPr>
              <a:t>Filter Data Dynamically (Continues…)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09621-80FB-48BA-914E-8FA7163C5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Type “</a:t>
            </a:r>
            <a:r>
              <a:rPr lang="en-US" b="1" dirty="0">
                <a:latin typeface="Bahnschrift" panose="020B0502040204020203" pitchFamily="34" charset="0"/>
              </a:rPr>
              <a:t>High</a:t>
            </a:r>
            <a:r>
              <a:rPr lang="en-US" dirty="0">
                <a:latin typeface="Bahnschrift" panose="020B0502040204020203" pitchFamily="34" charset="0"/>
              </a:rPr>
              <a:t>” </a:t>
            </a:r>
            <a:r>
              <a:rPr lang="it-IT" dirty="0">
                <a:latin typeface="Bahnschrift" panose="020B0502040204020203" pitchFamily="34" charset="0"/>
              </a:rPr>
              <a:t>in cell </a:t>
            </a:r>
            <a:r>
              <a:rPr lang="it-IT" b="1" dirty="0">
                <a:latin typeface="Bahnschrift" panose="020B0502040204020203" pitchFamily="34" charset="0"/>
              </a:rPr>
              <a:t>B15</a:t>
            </a:r>
            <a:r>
              <a:rPr lang="it-IT" dirty="0">
                <a:latin typeface="Bahnschrift" panose="020B0502040204020203" pitchFamily="34" charset="0"/>
              </a:rPr>
              <a:t> (Formula Bar) and press Enter.</a:t>
            </a:r>
            <a:endParaRPr lang="it-IT" b="1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FB277-9ADB-4B86-836C-A14F93C2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4F229-80B9-41B0-A965-DD627F605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12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81F61A-837F-409F-A925-FA359AF17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808" y="2523991"/>
            <a:ext cx="9473200" cy="344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03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53509-263D-4F4D-B0B6-FB8544775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Bahnschrift" panose="020B0502040204020203" pitchFamily="34" charset="0"/>
              </a:rPr>
              <a:t>Filter Data Dynamically (Continues…)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09621-80FB-48BA-914E-8FA7163C5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Type “</a:t>
            </a:r>
            <a:r>
              <a:rPr lang="en-US" b="1" dirty="0">
                <a:latin typeface="Bahnschrift" panose="020B0502040204020203" pitchFamily="34" charset="0"/>
              </a:rPr>
              <a:t>Critical</a:t>
            </a:r>
            <a:r>
              <a:rPr lang="en-US" dirty="0">
                <a:latin typeface="Bahnschrift" panose="020B0502040204020203" pitchFamily="34" charset="0"/>
              </a:rPr>
              <a:t>” </a:t>
            </a:r>
            <a:r>
              <a:rPr lang="it-IT" dirty="0">
                <a:latin typeface="Bahnschrift" panose="020B0502040204020203" pitchFamily="34" charset="0"/>
              </a:rPr>
              <a:t>in cell </a:t>
            </a:r>
            <a:r>
              <a:rPr lang="it-IT" b="1" dirty="0">
                <a:latin typeface="Bahnschrift" panose="020B0502040204020203" pitchFamily="34" charset="0"/>
              </a:rPr>
              <a:t>B15</a:t>
            </a:r>
            <a:r>
              <a:rPr lang="it-IT" dirty="0">
                <a:latin typeface="Bahnschrift" panose="020B0502040204020203" pitchFamily="34" charset="0"/>
              </a:rPr>
              <a:t> (Formula Bar) and press Enter.</a:t>
            </a:r>
            <a:endParaRPr lang="it-IT" b="1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it-IT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FB277-9ADB-4B86-836C-A14F93C2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4F229-80B9-41B0-A965-DD627F605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13</a:t>
            </a:fld>
            <a:endParaRPr lang="LID4096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F16C55-AB52-4EDD-A037-90288FE02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910" y="2494370"/>
            <a:ext cx="9910179" cy="347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133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F453010-DA58-4168-9F32-665B133F2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hnschrift" panose="020B0502040204020203" pitchFamily="34" charset="0"/>
              </a:rPr>
              <a:t>ICT SOCIETY | EXCEL SLIDES</a:t>
            </a:r>
            <a:endParaRPr lang="LID4096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DF5EC8-CC66-4C33-AAAA-7DDFED8EF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Bahnschrift" panose="020B0502040204020203" pitchFamily="34" charset="0"/>
              </a:rPr>
              <a:t>PREPARED BY JAMES SOKO</a:t>
            </a:r>
            <a:endParaRPr lang="LID4096" b="1" dirty="0">
              <a:latin typeface="Bahnschrift" panose="020B0502040204020203" pitchFamily="34" charset="0"/>
            </a:endParaRPr>
          </a:p>
          <a:p>
            <a:endParaRPr lang="LID4096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52C3A4F-EDF2-45ED-8E8A-F51C4FB5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28A84E-E04D-41BF-AF0B-4ADC9CD9A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14</a:t>
            </a:fld>
            <a:endParaRPr lang="LID4096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A2E48F-C157-4535-B345-BC2D3CDBB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269" y="1615081"/>
            <a:ext cx="571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199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376</TotalTime>
  <Words>656</Words>
  <Application>Microsoft Office PowerPoint</Application>
  <PresentationFormat>Widescreen</PresentationFormat>
  <Paragraphs>117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Bahnschrift</vt:lpstr>
      <vt:lpstr>Calibri</vt:lpstr>
      <vt:lpstr>Calibri Light</vt:lpstr>
      <vt:lpstr>Wingdings</vt:lpstr>
      <vt:lpstr>Celestial</vt:lpstr>
      <vt:lpstr>EXCEL</vt:lpstr>
      <vt:lpstr>INTRODUCTION</vt:lpstr>
      <vt:lpstr>Syntax of FILTER</vt:lpstr>
      <vt:lpstr>USAGE </vt:lpstr>
      <vt:lpstr>APPLICATION</vt:lpstr>
      <vt:lpstr>FILTER BASED ON SINGLE CONDITION </vt:lpstr>
      <vt:lpstr>Filter Based on Multiple Conditions</vt:lpstr>
      <vt:lpstr>Filter Data Dynamically</vt:lpstr>
      <vt:lpstr>Filter Data Dynamically (Continues…)</vt:lpstr>
      <vt:lpstr>Filter Data Dynamically (Continues…)</vt:lpstr>
      <vt:lpstr>Filter Data Dynamically (Continues…)</vt:lpstr>
      <vt:lpstr>Filter Data Dynamically (Continues…)</vt:lpstr>
      <vt:lpstr>Filter Data Dynamically (Continues…)</vt:lpstr>
      <vt:lpstr>ICT SOCIETY | EXCEL SLIDES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</dc:title>
  <dc:creator>James Soko</dc:creator>
  <cp:lastModifiedBy>James Soko</cp:lastModifiedBy>
  <cp:revision>61</cp:revision>
  <dcterms:created xsi:type="dcterms:W3CDTF">2025-02-11T14:08:14Z</dcterms:created>
  <dcterms:modified xsi:type="dcterms:W3CDTF">2025-03-27T22:23:37Z</dcterms:modified>
</cp:coreProperties>
</file>