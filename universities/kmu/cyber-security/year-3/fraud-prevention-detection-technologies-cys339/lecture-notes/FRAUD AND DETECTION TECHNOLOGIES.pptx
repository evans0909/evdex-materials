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3" d="100"/>
          <a:sy n="53" d="100"/>
        </p:scale>
        <p:origin x="802"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rot="120000">
            <a:off x="4546568" y="3915667"/>
            <a:ext cx="9309163" cy="5200650"/>
          </a:xfrm>
          <a:prstGeom prst="roundRect">
            <a:avLst>
              <a:gd name="adj" fmla="val 2777"/>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0384cbf7-db55-4306-9611-293331fe9766.jpg"/>
          <p:cNvPicPr>
            <a:picLocks noChangeAspect="1"/>
          </p:cNvPicPr>
          <p:nvPr/>
        </p:nvPicPr>
        <p:blipFill>
          <a:blip r:embed="rId2"/>
          <a:stretch>
            <a:fillRect/>
          </a:stretch>
        </p:blipFill>
        <p:spPr>
          <a:xfrm rot="21480000">
            <a:off x="4432268" y="4125217"/>
            <a:ext cx="9309163" cy="5200650"/>
          </a:xfrm>
          <a:prstGeom prst="rect">
            <a:avLst/>
          </a:prstGeom>
        </p:spPr>
      </p:pic>
      <p:pic>
        <p:nvPicPr>
          <p:cNvPr id="4" name="Picture 3" descr="436cc329-3e27-405d-90a6-c8c86972f310.png"/>
          <p:cNvPicPr>
            <a:picLocks noChangeAspect="1"/>
          </p:cNvPicPr>
          <p:nvPr/>
        </p:nvPicPr>
        <p:blipFill>
          <a:blip r:embed="rId3"/>
          <a:stretch>
            <a:fillRect/>
          </a:stretch>
        </p:blipFill>
        <p:spPr>
          <a:xfrm>
            <a:off x="8353424" y="3820417"/>
            <a:ext cx="1581149" cy="380999"/>
          </a:xfrm>
          <a:prstGeom prst="rect">
            <a:avLst/>
          </a:prstGeom>
        </p:spPr>
      </p:pic>
      <p:pic>
        <p:nvPicPr>
          <p:cNvPr id="5" name="Picture 4" descr="7ba524ec-b6f4-4f06-83ad-4021900a2682.png"/>
          <p:cNvPicPr>
            <a:picLocks noChangeAspect="1"/>
          </p:cNvPicPr>
          <p:nvPr/>
        </p:nvPicPr>
        <p:blipFill>
          <a:blip r:embed="rId4"/>
          <a:stretch>
            <a:fillRect/>
          </a:stretch>
        </p:blipFill>
        <p:spPr>
          <a:xfrm>
            <a:off x="16754474" y="8858250"/>
            <a:ext cx="761999" cy="761999"/>
          </a:xfrm>
          <a:prstGeom prst="rect">
            <a:avLst/>
          </a:prstGeom>
        </p:spPr>
      </p:pic>
      <p:sp>
        <p:nvSpPr>
          <p:cNvPr id="6" name="TextBox 5"/>
          <p:cNvSpPr txBox="1"/>
          <p:nvPr/>
        </p:nvSpPr>
        <p:spPr>
          <a:xfrm>
            <a:off x="1285875" y="961132"/>
            <a:ext cx="15716250" cy="2011879"/>
          </a:xfrm>
          <a:prstGeom prst="rect">
            <a:avLst/>
          </a:prstGeom>
          <a:noFill/>
        </p:spPr>
        <p:txBody>
          <a:bodyPr wrap="square">
            <a:spAutoFit/>
          </a:bodyPr>
          <a:lstStyle/>
          <a:p>
            <a:pPr algn="ctr">
              <a:lnSpc>
                <a:spcPct val="110000"/>
              </a:lnSpc>
            </a:pPr>
            <a:r>
              <a:rPr sz="7200" b="1">
                <a:solidFill>
                  <a:srgbClr val="0F151A"/>
                </a:solidFill>
                <a:latin typeface="Quicksand"/>
              </a:rPr>
              <a:t>FRAUD AND DETECTION TECHNOLOGIES</a:t>
            </a:r>
          </a:p>
        </p:txBody>
      </p:sp>
      <p:sp>
        <p:nvSpPr>
          <p:cNvPr id="7" name="TextBox 6"/>
          <p:cNvSpPr txBox="1"/>
          <p:nvPr/>
        </p:nvSpPr>
        <p:spPr>
          <a:xfrm>
            <a:off x="1285875" y="3086992"/>
            <a:ext cx="15716250" cy="456867"/>
          </a:xfrm>
          <a:prstGeom prst="rect">
            <a:avLst/>
          </a:prstGeom>
          <a:noFill/>
        </p:spPr>
        <p:txBody>
          <a:bodyPr wrap="square">
            <a:spAutoFit/>
          </a:bodyPr>
          <a:lstStyle/>
          <a:p>
            <a:pPr algn="ctr">
              <a:lnSpc>
                <a:spcPct val="120000"/>
              </a:lnSpc>
            </a:pPr>
            <a:r>
              <a:rPr sz="3000">
                <a:solidFill>
                  <a:srgbClr val="0F151A"/>
                </a:solidFill>
                <a:latin typeface="Quicksand"/>
              </a:rPr>
              <a:t>Academic Perspectives on Data Analysis for Fraud Prevention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7ba524ec-b6f4-4f06-83ad-4021900a2682.png"/>
          <p:cNvPicPr>
            <a:picLocks noChangeAspect="1"/>
          </p:cNvPicPr>
          <p:nvPr/>
        </p:nvPicPr>
        <p:blipFill>
          <a:blip r:embed="rId2"/>
          <a:stretch>
            <a:fillRect/>
          </a:stretch>
        </p:blipFill>
        <p:spPr>
          <a:xfrm>
            <a:off x="16754474" y="8858250"/>
            <a:ext cx="761999" cy="761999"/>
          </a:xfrm>
          <a:prstGeom prst="rect">
            <a:avLst/>
          </a:prstGeom>
        </p:spPr>
      </p:pic>
      <p:sp>
        <p:nvSpPr>
          <p:cNvPr id="3" name="TextBox 2"/>
          <p:cNvSpPr txBox="1"/>
          <p:nvPr/>
        </p:nvSpPr>
        <p:spPr>
          <a:xfrm>
            <a:off x="1371600" y="1695449"/>
            <a:ext cx="7486650" cy="1005780"/>
          </a:xfrm>
          <a:prstGeom prst="rect">
            <a:avLst/>
          </a:prstGeom>
          <a:noFill/>
        </p:spPr>
        <p:txBody>
          <a:bodyPr wrap="square">
            <a:spAutoFit/>
          </a:bodyPr>
          <a:lstStyle/>
          <a:p>
            <a:pPr algn="l">
              <a:lnSpc>
                <a:spcPct val="110000"/>
              </a:lnSpc>
            </a:pPr>
            <a:r>
              <a:rPr sz="7200" b="1">
                <a:solidFill>
                  <a:srgbClr val="0F151A"/>
                </a:solidFill>
                <a:latin typeface="Quicksand"/>
              </a:rPr>
              <a:t>Agenda</a:t>
            </a:r>
          </a:p>
        </p:txBody>
      </p:sp>
      <p:sp>
        <p:nvSpPr>
          <p:cNvPr id="4" name="TextBox 3"/>
          <p:cNvSpPr txBox="1"/>
          <p:nvPr/>
        </p:nvSpPr>
        <p:spPr>
          <a:xfrm>
            <a:off x="9334499" y="3333749"/>
            <a:ext cx="7248525" cy="3619499"/>
          </a:xfrm>
          <a:prstGeom prst="rect">
            <a:avLst/>
          </a:prstGeom>
          <a:noFill/>
        </p:spPr>
        <p:txBody>
          <a:bodyPr wrap="square">
            <a:spAutoFit/>
          </a:bodyPr>
          <a:lstStyle/>
          <a:p>
            <a:pPr algn="l">
              <a:buChar char="•"/>
            </a:pPr>
            <a:r>
              <a:rPr sz="3000">
                <a:solidFill>
                  <a:srgbClr val="323E47"/>
                </a:solidFill>
                <a:latin typeface="Quicksand"/>
              </a:rPr>
              <a:t>Data Analysis Overview</a:t>
            </a:r>
          </a:p>
          <a:p>
            <a:endParaRPr sz="3000">
              <a:solidFill>
                <a:srgbClr val="323E47"/>
              </a:solidFill>
              <a:latin typeface="Quicksand"/>
            </a:endParaRPr>
          </a:p>
          <a:p>
            <a:pPr algn="l">
              <a:buChar char="•"/>
            </a:pPr>
            <a:r>
              <a:rPr sz="3000">
                <a:solidFill>
                  <a:srgbClr val="323E47"/>
                </a:solidFill>
                <a:latin typeface="Quicksand"/>
              </a:rPr>
              <a:t>Common Analysis Procedures</a:t>
            </a:r>
          </a:p>
          <a:p>
            <a:endParaRPr sz="3000">
              <a:solidFill>
                <a:srgbClr val="323E47"/>
              </a:solidFill>
              <a:latin typeface="Quicksand"/>
            </a:endParaRPr>
          </a:p>
          <a:p>
            <a:pPr algn="l">
              <a:buChar char="•"/>
            </a:pPr>
            <a:r>
              <a:rPr sz="3000">
                <a:solidFill>
                  <a:srgbClr val="323E47"/>
                </a:solidFill>
                <a:latin typeface="Quicksand"/>
              </a:rPr>
              <a:t>Types of Data Analysis</a:t>
            </a:r>
          </a:p>
          <a:p>
            <a:endParaRPr sz="3000">
              <a:solidFill>
                <a:srgbClr val="323E47"/>
              </a:solidFill>
              <a:latin typeface="Quicksand"/>
            </a:endParaRPr>
          </a:p>
          <a:p>
            <a:pPr algn="l">
              <a:buChar char="•"/>
            </a:pPr>
            <a:r>
              <a:rPr sz="3000">
                <a:solidFill>
                  <a:srgbClr val="323E47"/>
                </a:solidFill>
                <a:latin typeface="Quicksand"/>
              </a:rPr>
              <a:t>OLAF Approach</a:t>
            </a:r>
          </a:p>
          <a:p>
            <a:endParaRPr sz="3000">
              <a:solidFill>
                <a:srgbClr val="323E47"/>
              </a:solidFill>
              <a:latin typeface="Quicksand"/>
            </a:endParaRPr>
          </a:p>
          <a:p>
            <a:pPr algn="l">
              <a:buChar char="•"/>
            </a:pPr>
            <a:r>
              <a:rPr sz="3000">
                <a:solidFill>
                  <a:srgbClr val="323E47"/>
                </a:solidFill>
                <a:latin typeface="Quicksand"/>
              </a:rPr>
              <a:t>Continuous Monitoring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9453562" y="8985944"/>
            <a:ext cx="6929437" cy="1005780"/>
          </a:xfrm>
          <a:prstGeom prst="roundRect">
            <a:avLst>
              <a:gd name="adj" fmla="val 2777"/>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62213591-aa57-4f0e-bcbe-fd95f386286a.png"/>
          <p:cNvPicPr>
            <a:picLocks noChangeAspect="1"/>
          </p:cNvPicPr>
          <p:nvPr/>
        </p:nvPicPr>
        <p:blipFill>
          <a:blip r:embed="rId2"/>
          <a:stretch>
            <a:fillRect/>
          </a:stretch>
        </p:blipFill>
        <p:spPr>
          <a:xfrm>
            <a:off x="9144000" y="0"/>
            <a:ext cx="9144000" cy="10287000"/>
          </a:xfrm>
          <a:prstGeom prst="rect">
            <a:avLst/>
          </a:prstGeom>
        </p:spPr>
      </p:pic>
      <p:pic>
        <p:nvPicPr>
          <p:cNvPr id="4" name="Picture 3" descr="7ba524ec-b6f4-4f06-83ad-4021900a2682.png"/>
          <p:cNvPicPr>
            <a:picLocks noChangeAspect="1"/>
          </p:cNvPicPr>
          <p:nvPr/>
        </p:nvPicPr>
        <p:blipFill>
          <a:blip r:embed="rId3"/>
          <a:stretch>
            <a:fillRect/>
          </a:stretch>
        </p:blipFill>
        <p:spPr>
          <a:xfrm>
            <a:off x="16754474" y="8858250"/>
            <a:ext cx="761999" cy="761999"/>
          </a:xfrm>
          <a:prstGeom prst="rect">
            <a:avLst/>
          </a:prstGeom>
        </p:spPr>
      </p:pic>
      <p:sp>
        <p:nvSpPr>
          <p:cNvPr id="5" name="TextBox 4"/>
          <p:cNvSpPr txBox="1"/>
          <p:nvPr/>
        </p:nvSpPr>
        <p:spPr>
          <a:xfrm>
            <a:off x="1276349" y="876928"/>
            <a:ext cx="7490279" cy="2089483"/>
          </a:xfrm>
          <a:prstGeom prst="rect">
            <a:avLst/>
          </a:prstGeom>
          <a:noFill/>
        </p:spPr>
        <p:txBody>
          <a:bodyPr wrap="square">
            <a:spAutoFit/>
          </a:bodyPr>
          <a:lstStyle/>
          <a:p>
            <a:pPr algn="l">
              <a:lnSpc>
                <a:spcPct val="110000"/>
              </a:lnSpc>
            </a:pPr>
            <a:r>
              <a:rPr sz="6150" b="1" dirty="0">
                <a:solidFill>
                  <a:srgbClr val="0F151A"/>
                </a:solidFill>
                <a:latin typeface="Quicksand"/>
              </a:rPr>
              <a:t>DATA ANALYSIS-OVERVIEW</a:t>
            </a:r>
          </a:p>
        </p:txBody>
      </p:sp>
      <p:sp>
        <p:nvSpPr>
          <p:cNvPr id="6" name="TextBox 5"/>
          <p:cNvSpPr txBox="1"/>
          <p:nvPr/>
        </p:nvSpPr>
        <p:spPr>
          <a:xfrm>
            <a:off x="1276350" y="3299221"/>
            <a:ext cx="6572250" cy="6774227"/>
          </a:xfrm>
          <a:prstGeom prst="rect">
            <a:avLst/>
          </a:prstGeom>
          <a:noFill/>
        </p:spPr>
        <p:txBody>
          <a:bodyPr wrap="square">
            <a:spAutoFit/>
          </a:bodyPr>
          <a:lstStyle/>
          <a:p>
            <a:pPr algn="l">
              <a:lnSpc>
                <a:spcPct val="140000"/>
              </a:lnSpc>
            </a:pPr>
            <a:r>
              <a:rPr sz="2850" dirty="0">
                <a:solidFill>
                  <a:srgbClr val="FF0000"/>
                </a:solidFill>
                <a:latin typeface="Quicksand"/>
              </a:rPr>
              <a:t>Data analysis involves the systematic application of statistical and computational techniques to uncover patterns, anomalies, and relationships within datasets that may indicate fraudulent activity and support decision making. This process is crucial for identifying red flags and building predictive models to mitigate financial and operational risks</a:t>
            </a:r>
            <a:r>
              <a:rPr sz="2850" dirty="0">
                <a:solidFill>
                  <a:srgbClr val="323E47"/>
                </a:solidFill>
                <a:latin typeface="Quicksand"/>
              </a:rPr>
              <a:t>.</a:t>
            </a:r>
          </a:p>
        </p:txBody>
      </p:sp>
      <p:sp>
        <p:nvSpPr>
          <p:cNvPr id="7" name="TextBox 6"/>
          <p:cNvSpPr txBox="1"/>
          <p:nvPr/>
        </p:nvSpPr>
        <p:spPr>
          <a:xfrm>
            <a:off x="9605962" y="9062144"/>
            <a:ext cx="6624637" cy="853380"/>
          </a:xfrm>
          <a:prstGeom prst="rect">
            <a:avLst/>
          </a:prstGeom>
          <a:noFill/>
        </p:spPr>
        <p:txBody>
          <a:bodyPr wrap="square">
            <a:spAutoFit/>
          </a:bodyPr>
          <a:lstStyle/>
          <a:p>
            <a:pPr algn="l">
              <a:lnSpc>
                <a:spcPct val="140000"/>
              </a:lnSpc>
            </a:pPr>
            <a:r>
              <a:rPr sz="2400" i="1">
                <a:solidFill>
                  <a:srgbClr val="323E47"/>
                </a:solidFill>
                <a:latin typeface="Rubik"/>
              </a:rPr>
              <a:t>Data analysis: Conditional probability helps interpret complex data and detect fraud.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276350" y="2876549"/>
            <a:ext cx="4981574" cy="619125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638924" y="2876549"/>
            <a:ext cx="4981574" cy="619125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2001500" y="2876549"/>
            <a:ext cx="4981574" cy="619125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7ba524ec-b6f4-4f06-83ad-4021900a2682.png"/>
          <p:cNvPicPr>
            <a:picLocks noChangeAspect="1"/>
          </p:cNvPicPr>
          <p:nvPr/>
        </p:nvPicPr>
        <p:blipFill>
          <a:blip r:embed="rId2"/>
          <a:stretch>
            <a:fillRect/>
          </a:stretch>
        </p:blipFill>
        <p:spPr>
          <a:xfrm>
            <a:off x="16754474" y="8858250"/>
            <a:ext cx="761999" cy="761999"/>
          </a:xfrm>
          <a:prstGeom prst="rect">
            <a:avLst/>
          </a:prstGeom>
        </p:spPr>
      </p:pic>
      <p:sp>
        <p:nvSpPr>
          <p:cNvPr id="6" name="TextBox 5"/>
          <p:cNvSpPr txBox="1"/>
          <p:nvPr/>
        </p:nvSpPr>
        <p:spPr>
          <a:xfrm>
            <a:off x="1276350" y="1276350"/>
            <a:ext cx="15716250" cy="838200"/>
          </a:xfrm>
          <a:prstGeom prst="rect">
            <a:avLst/>
          </a:prstGeom>
          <a:noFill/>
        </p:spPr>
        <p:txBody>
          <a:bodyPr wrap="square">
            <a:spAutoFit/>
          </a:bodyPr>
          <a:lstStyle/>
          <a:p>
            <a:pPr algn="ctr">
              <a:lnSpc>
                <a:spcPct val="110000"/>
              </a:lnSpc>
            </a:pPr>
            <a:r>
              <a:rPr sz="6000" b="1">
                <a:solidFill>
                  <a:srgbClr val="0F151A"/>
                </a:solidFill>
                <a:latin typeface="Quicksand"/>
              </a:rPr>
              <a:t>COMMON ANALYSIS PROCEDURES</a:t>
            </a:r>
          </a:p>
        </p:txBody>
      </p:sp>
      <p:sp>
        <p:nvSpPr>
          <p:cNvPr id="7" name="TextBox 6"/>
          <p:cNvSpPr txBox="1"/>
          <p:nvPr/>
        </p:nvSpPr>
        <p:spPr>
          <a:xfrm>
            <a:off x="1657350" y="3257550"/>
            <a:ext cx="4219575" cy="822721"/>
          </a:xfrm>
          <a:prstGeom prst="rect">
            <a:avLst/>
          </a:prstGeom>
          <a:noFill/>
        </p:spPr>
        <p:txBody>
          <a:bodyPr wrap="square">
            <a:spAutoFit/>
          </a:bodyPr>
          <a:lstStyle/>
          <a:p>
            <a:pPr algn="l">
              <a:lnSpc>
                <a:spcPct val="120000"/>
              </a:lnSpc>
            </a:pPr>
            <a:r>
              <a:rPr sz="2700" b="1">
                <a:solidFill>
                  <a:srgbClr val="0F151A"/>
                </a:solidFill>
                <a:latin typeface="Quicksand"/>
              </a:rPr>
              <a:t>Statistical Anomaly Detection</a:t>
            </a:r>
          </a:p>
        </p:txBody>
      </p:sp>
      <mc:AlternateContent xmlns:mc="http://schemas.openxmlformats.org/markup-compatibility/2006">
        <mc:Choice xmlns:a14="http://schemas.microsoft.com/office/drawing/2010/main" Requires="a14">
          <p:sp>
            <p:nvSpPr>
              <p:cNvPr id="8" name="TextBox 7"/>
              <p:cNvSpPr txBox="1"/>
              <p:nvPr/>
            </p:nvSpPr>
            <p:spPr>
              <a:xfrm>
                <a:off x="1657350" y="4270771"/>
                <a:ext cx="4219575" cy="3413521"/>
              </a:xfrm>
              <a:prstGeom prst="rect">
                <a:avLst/>
              </a:prstGeom>
              <a:noFill/>
            </p:spPr>
            <p:txBody>
              <a:bodyPr wrap="square">
                <a:spAutoFit/>
              </a:bodyPr>
              <a:lstStyle/>
              <a:p>
                <a:pPr algn="l">
                  <a:lnSpc>
                    <a:spcPct val="140000"/>
                  </a:lnSpc>
                </a:pPr>
                <a:r>
                  <a:rPr sz="2400">
                    <a:solidFill>
                      <a:srgbClr val="323E47"/>
                    </a:solidFill>
                    <a:latin typeface="Quicksand"/>
                  </a:rPr>
                  <a:t>Statistical anomaly detection identifies </a:t>
                </a:r>
                <a:r>
                  <a:rPr sz="2400" i="1">
                    <a:solidFill>
                      <a:srgbClr val="323E47"/>
                    </a:solidFill>
                    <a:latin typeface="Quicksand"/>
                  </a:rPr>
                  <a:t>outliers</a:t>
                </a:r>
                <a:r>
                  <a:rPr sz="2400">
                    <a:solidFill>
                      <a:srgbClr val="323E47"/>
                    </a:solidFill>
                    <a:latin typeface="Quicksand"/>
                  </a:rPr>
                  <a:t> (data points deviating significantly from the norm) in datasets. This method often employs techniques like </a:t>
                </a:r>
                <a14:m>
                  <m:oMath xmlns:m="http://schemas.openxmlformats.org/officeDocument/2006/math">
                    <m:r>
                      <m:rPr>
                        <m:nor/>
                      </m:rPr>
                      <a:rPr sz="2400" i="0">
                        <a:solidFill>
                          <a:srgbClr val="323E47"/>
                        </a:solidFill>
                      </a:rPr>
                      <m:t>Z</m:t>
                    </m:r>
                    <m:r>
                      <m:rPr>
                        <m:nor/>
                      </m:rPr>
                      <a:rPr sz="2400" i="0">
                        <a:solidFill>
                          <a:srgbClr val="323E47"/>
                        </a:solidFill>
                      </a:rPr>
                      <m:t>−</m:t>
                    </m:r>
                    <m:r>
                      <m:rPr>
                        <m:nor/>
                      </m:rPr>
                      <a:rPr sz="2400" i="0">
                        <a:solidFill>
                          <a:srgbClr val="323E47"/>
                        </a:solidFill>
                      </a:rPr>
                      <m:t>scores</m:t>
                    </m:r>
                  </m:oMath>
                </a14:m>
                <a:r>
                  <a:rPr sz="2400">
                    <a:solidFill>
                      <a:srgbClr val="323E47"/>
                    </a:solidFill>
                    <a:latin typeface="Quicksand"/>
                  </a:rPr>
                  <a:t> or clustering algorithms.</a:t>
                </a:r>
              </a:p>
            </p:txBody>
          </p:sp>
        </mc:Choice>
        <mc:Fallback>
          <p:sp>
            <p:nvSpPr>
              <p:cNvPr id="8" name="TextBox 7"/>
              <p:cNvSpPr txBox="1">
                <a:spLocks noRot="1" noChangeAspect="1" noMove="1" noResize="1" noEditPoints="1" noAdjustHandles="1" noChangeArrowheads="1" noChangeShapeType="1" noTextEdit="1"/>
              </p:cNvSpPr>
              <p:nvPr/>
            </p:nvSpPr>
            <p:spPr>
              <a:xfrm>
                <a:off x="1657350" y="4270771"/>
                <a:ext cx="4219575" cy="3413521"/>
              </a:xfrm>
              <a:prstGeom prst="rect">
                <a:avLst/>
              </a:prstGeom>
              <a:blipFill>
                <a:blip r:embed="rId3"/>
                <a:stretch>
                  <a:fillRect l="-2312" r="-867" b="-40000"/>
                </a:stretch>
              </a:blipFill>
            </p:spPr>
            <p:txBody>
              <a:bodyPr/>
              <a:lstStyle/>
              <a:p>
                <a:r>
                  <a:rPr lang="en-ZM">
                    <a:noFill/>
                  </a:rPr>
                  <a:t> </a:t>
                </a:r>
              </a:p>
            </p:txBody>
          </p:sp>
        </mc:Fallback>
      </mc:AlternateContent>
      <p:sp>
        <p:nvSpPr>
          <p:cNvPr id="9" name="TextBox 8"/>
          <p:cNvSpPr txBox="1"/>
          <p:nvPr/>
        </p:nvSpPr>
        <p:spPr>
          <a:xfrm>
            <a:off x="7019925" y="3257550"/>
            <a:ext cx="4219575" cy="822721"/>
          </a:xfrm>
          <a:prstGeom prst="rect">
            <a:avLst/>
          </a:prstGeom>
          <a:noFill/>
        </p:spPr>
        <p:txBody>
          <a:bodyPr wrap="square">
            <a:spAutoFit/>
          </a:bodyPr>
          <a:lstStyle/>
          <a:p>
            <a:pPr algn="l">
              <a:lnSpc>
                <a:spcPct val="120000"/>
              </a:lnSpc>
            </a:pPr>
            <a:r>
              <a:rPr sz="2700" b="1">
                <a:solidFill>
                  <a:srgbClr val="0F151A"/>
                </a:solidFill>
                <a:latin typeface="Quicksand"/>
              </a:rPr>
              <a:t>Machine Learning Classifiers</a:t>
            </a:r>
          </a:p>
        </p:txBody>
      </p:sp>
      <p:sp>
        <p:nvSpPr>
          <p:cNvPr id="10" name="TextBox 9"/>
          <p:cNvSpPr txBox="1"/>
          <p:nvPr/>
        </p:nvSpPr>
        <p:spPr>
          <a:xfrm>
            <a:off x="7019925" y="4270771"/>
            <a:ext cx="4219575" cy="3413521"/>
          </a:xfrm>
          <a:prstGeom prst="rect">
            <a:avLst/>
          </a:prstGeom>
          <a:noFill/>
        </p:spPr>
        <p:txBody>
          <a:bodyPr wrap="square">
            <a:spAutoFit/>
          </a:bodyPr>
          <a:lstStyle/>
          <a:p>
            <a:pPr algn="l">
              <a:lnSpc>
                <a:spcPct val="140000"/>
              </a:lnSpc>
            </a:pPr>
            <a:r>
              <a:rPr sz="2400">
                <a:solidFill>
                  <a:srgbClr val="323E47"/>
                </a:solidFill>
                <a:latin typeface="Quicksand"/>
              </a:rPr>
              <a:t>Machine learning classifiers, such as </a:t>
            </a:r>
            <a:r>
              <a:rPr sz="2400" i="1">
                <a:solidFill>
                  <a:srgbClr val="323E47"/>
                </a:solidFill>
                <a:latin typeface="Quicksand"/>
              </a:rPr>
              <a:t>Support Vector Machines</a:t>
            </a:r>
            <a:r>
              <a:rPr sz="2400">
                <a:solidFill>
                  <a:srgbClr val="323E47"/>
                </a:solidFill>
                <a:latin typeface="Quicksand"/>
              </a:rPr>
              <a:t> (SVMs), categorize transactions as fraudulent or legitimate. These models learn patterns from historical data to predict future outcomes.</a:t>
            </a:r>
          </a:p>
        </p:txBody>
      </p:sp>
      <p:sp>
        <p:nvSpPr>
          <p:cNvPr id="11" name="TextBox 10"/>
          <p:cNvSpPr txBox="1"/>
          <p:nvPr/>
        </p:nvSpPr>
        <p:spPr>
          <a:xfrm>
            <a:off x="12382500" y="3257550"/>
            <a:ext cx="4219575" cy="411360"/>
          </a:xfrm>
          <a:prstGeom prst="rect">
            <a:avLst/>
          </a:prstGeom>
          <a:noFill/>
        </p:spPr>
        <p:txBody>
          <a:bodyPr wrap="square">
            <a:spAutoFit/>
          </a:bodyPr>
          <a:lstStyle/>
          <a:p>
            <a:pPr algn="l">
              <a:lnSpc>
                <a:spcPct val="120000"/>
              </a:lnSpc>
            </a:pPr>
            <a:r>
              <a:rPr sz="2700" b="1">
                <a:solidFill>
                  <a:srgbClr val="0F151A"/>
                </a:solidFill>
                <a:latin typeface="Quicksand"/>
              </a:rPr>
              <a:t>Network Analysis</a:t>
            </a:r>
          </a:p>
        </p:txBody>
      </p:sp>
      <p:sp>
        <p:nvSpPr>
          <p:cNvPr id="12" name="TextBox 11"/>
          <p:cNvSpPr txBox="1"/>
          <p:nvPr/>
        </p:nvSpPr>
        <p:spPr>
          <a:xfrm>
            <a:off x="12382500" y="3859410"/>
            <a:ext cx="4219575" cy="3840212"/>
          </a:xfrm>
          <a:prstGeom prst="rect">
            <a:avLst/>
          </a:prstGeom>
          <a:noFill/>
        </p:spPr>
        <p:txBody>
          <a:bodyPr wrap="square">
            <a:spAutoFit/>
          </a:bodyPr>
          <a:lstStyle/>
          <a:p>
            <a:pPr algn="l">
              <a:lnSpc>
                <a:spcPct val="140000"/>
              </a:lnSpc>
            </a:pPr>
            <a:r>
              <a:rPr sz="2400">
                <a:solidFill>
                  <a:srgbClr val="323E47"/>
                </a:solidFill>
                <a:latin typeface="Quicksand"/>
              </a:rPr>
              <a:t>Network analysis examines relationships between entities, like individuals or accounts, to uncover suspicious structures. It identifies </a:t>
            </a:r>
            <a:r>
              <a:rPr sz="2400" i="1">
                <a:solidFill>
                  <a:srgbClr val="323E47"/>
                </a:solidFill>
                <a:latin typeface="Quicksand"/>
              </a:rPr>
              <a:t>fraud rings</a:t>
            </a:r>
            <a:r>
              <a:rPr sz="2400">
                <a:solidFill>
                  <a:srgbClr val="323E47"/>
                </a:solidFill>
                <a:latin typeface="Quicksand"/>
              </a:rPr>
              <a:t> (groups collaborating in fraudulent activities) and complex schemes.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276350" y="2876549"/>
            <a:ext cx="7667624" cy="619125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324975" y="2876549"/>
            <a:ext cx="7667624" cy="619125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7ba524ec-b6f4-4f06-83ad-4021900a2682.png"/>
          <p:cNvPicPr>
            <a:picLocks noChangeAspect="1"/>
          </p:cNvPicPr>
          <p:nvPr/>
        </p:nvPicPr>
        <p:blipFill>
          <a:blip r:embed="rId2"/>
          <a:stretch>
            <a:fillRect/>
          </a:stretch>
        </p:blipFill>
        <p:spPr>
          <a:xfrm>
            <a:off x="16754474" y="8858250"/>
            <a:ext cx="761999" cy="761999"/>
          </a:xfrm>
          <a:prstGeom prst="rect">
            <a:avLst/>
          </a:prstGeom>
        </p:spPr>
      </p:pic>
      <p:sp>
        <p:nvSpPr>
          <p:cNvPr id="5" name="TextBox 4"/>
          <p:cNvSpPr txBox="1"/>
          <p:nvPr/>
        </p:nvSpPr>
        <p:spPr>
          <a:xfrm>
            <a:off x="1276350" y="1276350"/>
            <a:ext cx="15716250" cy="838200"/>
          </a:xfrm>
          <a:prstGeom prst="rect">
            <a:avLst/>
          </a:prstGeom>
          <a:noFill/>
        </p:spPr>
        <p:txBody>
          <a:bodyPr wrap="square">
            <a:spAutoFit/>
          </a:bodyPr>
          <a:lstStyle/>
          <a:p>
            <a:pPr algn="ctr">
              <a:lnSpc>
                <a:spcPct val="110000"/>
              </a:lnSpc>
            </a:pPr>
            <a:r>
              <a:rPr sz="6000" b="1">
                <a:solidFill>
                  <a:srgbClr val="0F151A"/>
                </a:solidFill>
                <a:latin typeface="Quicksand"/>
              </a:rPr>
              <a:t>TWO TYPES OF DATA ANALYSIS</a:t>
            </a:r>
          </a:p>
        </p:txBody>
      </p:sp>
      <p:sp>
        <p:nvSpPr>
          <p:cNvPr id="6" name="TextBox 5"/>
          <p:cNvSpPr txBox="1"/>
          <p:nvPr/>
        </p:nvSpPr>
        <p:spPr>
          <a:xfrm>
            <a:off x="1657350" y="3257550"/>
            <a:ext cx="6905625" cy="457200"/>
          </a:xfrm>
          <a:prstGeom prst="rect">
            <a:avLst/>
          </a:prstGeom>
          <a:noFill/>
        </p:spPr>
        <p:txBody>
          <a:bodyPr wrap="square">
            <a:spAutoFit/>
          </a:bodyPr>
          <a:lstStyle/>
          <a:p>
            <a:pPr algn="l">
              <a:lnSpc>
                <a:spcPct val="120000"/>
              </a:lnSpc>
            </a:pPr>
            <a:r>
              <a:rPr sz="3000" b="1">
                <a:solidFill>
                  <a:srgbClr val="0F151A"/>
                </a:solidFill>
                <a:latin typeface="Quicksand"/>
              </a:rPr>
              <a:t>Descriptive Analytics</a:t>
            </a:r>
          </a:p>
        </p:txBody>
      </p:sp>
      <p:sp>
        <p:nvSpPr>
          <p:cNvPr id="7" name="TextBox 6"/>
          <p:cNvSpPr txBox="1"/>
          <p:nvPr/>
        </p:nvSpPr>
        <p:spPr>
          <a:xfrm>
            <a:off x="1657350" y="3905249"/>
            <a:ext cx="6905625" cy="3413521"/>
          </a:xfrm>
          <a:prstGeom prst="rect">
            <a:avLst/>
          </a:prstGeom>
          <a:noFill/>
        </p:spPr>
        <p:txBody>
          <a:bodyPr wrap="square">
            <a:spAutoFit/>
          </a:bodyPr>
          <a:lstStyle/>
          <a:p>
            <a:pPr algn="l">
              <a:lnSpc>
                <a:spcPct val="140000"/>
              </a:lnSpc>
            </a:pPr>
            <a:r>
              <a:rPr sz="2400" b="1">
                <a:solidFill>
                  <a:srgbClr val="323E47"/>
                </a:solidFill>
                <a:latin typeface="Quicksand"/>
              </a:rPr>
              <a:t>Descriptive analytics</a:t>
            </a:r>
            <a:r>
              <a:rPr sz="2400">
                <a:solidFill>
                  <a:srgbClr val="323E47"/>
                </a:solidFill>
                <a:latin typeface="Quicksand"/>
              </a:rPr>
              <a:t> examines historical data to understand past events. It answers "What happened?" by summarizing trends and patterns, such as identifying common fraud schemes or transaction anomalies. Techniques include data aggregation (combining data from multiple sources) and visualization, providing insights into existing fraud landscapes.</a:t>
            </a:r>
          </a:p>
        </p:txBody>
      </p:sp>
      <p:sp>
        <p:nvSpPr>
          <p:cNvPr id="8" name="TextBox 7"/>
          <p:cNvSpPr txBox="1"/>
          <p:nvPr/>
        </p:nvSpPr>
        <p:spPr>
          <a:xfrm>
            <a:off x="9705974" y="3257550"/>
            <a:ext cx="6905625" cy="457200"/>
          </a:xfrm>
          <a:prstGeom prst="rect">
            <a:avLst/>
          </a:prstGeom>
          <a:noFill/>
        </p:spPr>
        <p:txBody>
          <a:bodyPr wrap="square">
            <a:spAutoFit/>
          </a:bodyPr>
          <a:lstStyle/>
          <a:p>
            <a:pPr algn="l">
              <a:lnSpc>
                <a:spcPct val="120000"/>
              </a:lnSpc>
            </a:pPr>
            <a:r>
              <a:rPr sz="3000" b="1">
                <a:solidFill>
                  <a:srgbClr val="0F151A"/>
                </a:solidFill>
                <a:latin typeface="Quicksand"/>
              </a:rPr>
              <a:t>Predictive and Prescriptive Analytics</a:t>
            </a:r>
          </a:p>
        </p:txBody>
      </p:sp>
      <p:sp>
        <p:nvSpPr>
          <p:cNvPr id="9" name="TextBox 8"/>
          <p:cNvSpPr txBox="1"/>
          <p:nvPr/>
        </p:nvSpPr>
        <p:spPr>
          <a:xfrm>
            <a:off x="9705974" y="3905249"/>
            <a:ext cx="6905625" cy="3413521"/>
          </a:xfrm>
          <a:prstGeom prst="rect">
            <a:avLst/>
          </a:prstGeom>
          <a:noFill/>
        </p:spPr>
        <p:txBody>
          <a:bodyPr wrap="square">
            <a:spAutoFit/>
          </a:bodyPr>
          <a:lstStyle/>
          <a:p>
            <a:pPr algn="l">
              <a:lnSpc>
                <a:spcPct val="140000"/>
              </a:lnSpc>
            </a:pPr>
            <a:r>
              <a:rPr sz="2400" b="1">
                <a:solidFill>
                  <a:srgbClr val="323E47"/>
                </a:solidFill>
                <a:latin typeface="Quicksand"/>
              </a:rPr>
              <a:t>Predictive analytics</a:t>
            </a:r>
            <a:r>
              <a:rPr sz="2400">
                <a:solidFill>
                  <a:srgbClr val="323E47"/>
                </a:solidFill>
                <a:latin typeface="Quicksand"/>
              </a:rPr>
              <a:t> uses statistical models and machine learning to forecast future outcomes, addressing "What will happen?" For example, it predicts the likelihood of future fraudulent activities. </a:t>
            </a:r>
            <a:r>
              <a:rPr sz="2400" b="1">
                <a:solidFill>
                  <a:srgbClr val="323E47"/>
                </a:solidFill>
                <a:latin typeface="Quicksand"/>
              </a:rPr>
              <a:t>Prescriptive analytics</a:t>
            </a:r>
            <a:r>
              <a:rPr sz="2400">
                <a:solidFill>
                  <a:srgbClr val="323E47"/>
                </a:solidFill>
                <a:latin typeface="Quicksand"/>
              </a:rPr>
              <a:t> then recommends actions to optimize outcomes, answering "What should we do?" to mitigate identified risks.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276350" y="2611635"/>
            <a:ext cx="952499" cy="952499"/>
          </a:xfrm>
          <a:prstGeom prst="ellipse">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648450" y="2611635"/>
            <a:ext cx="952499" cy="952499"/>
          </a:xfrm>
          <a:prstGeom prst="ellipse">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2020549" y="2611635"/>
            <a:ext cx="952499" cy="952499"/>
          </a:xfrm>
          <a:prstGeom prst="ellipse">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228850" y="3087885"/>
            <a:ext cx="4419600" cy="38100"/>
          </a:xfrm>
          <a:prstGeom prst="rect">
            <a:avLst/>
          </a:prstGeom>
          <a:solidFill>
            <a:srgbClr val="92A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600950" y="3087885"/>
            <a:ext cx="4419600" cy="38100"/>
          </a:xfrm>
          <a:prstGeom prst="rect">
            <a:avLst/>
          </a:prstGeom>
          <a:solidFill>
            <a:srgbClr val="92A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7ba524ec-b6f4-4f06-83ad-4021900a2682.png"/>
          <p:cNvPicPr>
            <a:picLocks noChangeAspect="1"/>
          </p:cNvPicPr>
          <p:nvPr/>
        </p:nvPicPr>
        <p:blipFill>
          <a:blip r:embed="rId2"/>
          <a:stretch>
            <a:fillRect/>
          </a:stretch>
        </p:blipFill>
        <p:spPr>
          <a:xfrm>
            <a:off x="16754474" y="8858250"/>
            <a:ext cx="761999" cy="761999"/>
          </a:xfrm>
          <a:prstGeom prst="rect">
            <a:avLst/>
          </a:prstGeom>
        </p:spPr>
      </p:pic>
      <p:sp>
        <p:nvSpPr>
          <p:cNvPr id="8" name="TextBox 7"/>
          <p:cNvSpPr txBox="1"/>
          <p:nvPr/>
        </p:nvSpPr>
        <p:spPr>
          <a:xfrm>
            <a:off x="1276350" y="1276350"/>
            <a:ext cx="15735299" cy="859035"/>
          </a:xfrm>
          <a:prstGeom prst="rect">
            <a:avLst/>
          </a:prstGeom>
          <a:noFill/>
        </p:spPr>
        <p:txBody>
          <a:bodyPr wrap="square">
            <a:spAutoFit/>
          </a:bodyPr>
          <a:lstStyle/>
          <a:p>
            <a:pPr algn="ctr">
              <a:lnSpc>
                <a:spcPct val="110000"/>
              </a:lnSpc>
            </a:pPr>
            <a:r>
              <a:rPr sz="6150" b="1">
                <a:solidFill>
                  <a:srgbClr val="0F151A"/>
                </a:solidFill>
                <a:latin typeface="Quicksand"/>
              </a:rPr>
              <a:t>PERFORMING DATA ANALYSIS</a:t>
            </a:r>
          </a:p>
        </p:txBody>
      </p:sp>
      <p:sp>
        <p:nvSpPr>
          <p:cNvPr id="9" name="TextBox 8"/>
          <p:cNvSpPr txBox="1"/>
          <p:nvPr/>
        </p:nvSpPr>
        <p:spPr>
          <a:xfrm>
            <a:off x="1633537" y="2859285"/>
            <a:ext cx="238124" cy="457200"/>
          </a:xfrm>
          <a:prstGeom prst="rect">
            <a:avLst/>
          </a:prstGeom>
          <a:noFill/>
        </p:spPr>
        <p:txBody>
          <a:bodyPr wrap="square">
            <a:spAutoFit/>
          </a:bodyPr>
          <a:lstStyle/>
          <a:p>
            <a:pPr algn="l">
              <a:lnSpc>
                <a:spcPct val="100000"/>
              </a:lnSpc>
            </a:pPr>
            <a:r>
              <a:rPr sz="3600" b="1">
                <a:solidFill>
                  <a:srgbClr val="FFFFFF"/>
                </a:solidFill>
                <a:latin typeface="Quicksand"/>
              </a:rPr>
              <a:t>1</a:t>
            </a:r>
          </a:p>
        </p:txBody>
      </p:sp>
      <p:sp>
        <p:nvSpPr>
          <p:cNvPr id="10" name="TextBox 9"/>
          <p:cNvSpPr txBox="1"/>
          <p:nvPr/>
        </p:nvSpPr>
        <p:spPr>
          <a:xfrm>
            <a:off x="7005637" y="2859285"/>
            <a:ext cx="238124" cy="457200"/>
          </a:xfrm>
          <a:prstGeom prst="rect">
            <a:avLst/>
          </a:prstGeom>
          <a:noFill/>
        </p:spPr>
        <p:txBody>
          <a:bodyPr wrap="square">
            <a:spAutoFit/>
          </a:bodyPr>
          <a:lstStyle/>
          <a:p>
            <a:pPr algn="l">
              <a:lnSpc>
                <a:spcPct val="100000"/>
              </a:lnSpc>
            </a:pPr>
            <a:r>
              <a:rPr sz="3600" b="1">
                <a:solidFill>
                  <a:srgbClr val="FFFFFF"/>
                </a:solidFill>
                <a:latin typeface="Quicksand"/>
              </a:rPr>
              <a:t>2</a:t>
            </a:r>
          </a:p>
        </p:txBody>
      </p:sp>
      <p:sp>
        <p:nvSpPr>
          <p:cNvPr id="11" name="TextBox 10"/>
          <p:cNvSpPr txBox="1"/>
          <p:nvPr/>
        </p:nvSpPr>
        <p:spPr>
          <a:xfrm>
            <a:off x="12377737" y="2859285"/>
            <a:ext cx="238124" cy="457200"/>
          </a:xfrm>
          <a:prstGeom prst="rect">
            <a:avLst/>
          </a:prstGeom>
          <a:noFill/>
        </p:spPr>
        <p:txBody>
          <a:bodyPr wrap="square">
            <a:spAutoFit/>
          </a:bodyPr>
          <a:lstStyle/>
          <a:p>
            <a:pPr algn="l">
              <a:lnSpc>
                <a:spcPct val="100000"/>
              </a:lnSpc>
            </a:pPr>
            <a:r>
              <a:rPr sz="3600" b="1">
                <a:solidFill>
                  <a:srgbClr val="FFFFFF"/>
                </a:solidFill>
                <a:latin typeface="Quicksand"/>
              </a:rPr>
              <a:t>3</a:t>
            </a:r>
          </a:p>
        </p:txBody>
      </p:sp>
      <p:sp>
        <p:nvSpPr>
          <p:cNvPr id="12" name="TextBox 11"/>
          <p:cNvSpPr txBox="1"/>
          <p:nvPr/>
        </p:nvSpPr>
        <p:spPr>
          <a:xfrm>
            <a:off x="1276350" y="3945135"/>
            <a:ext cx="4991100" cy="548580"/>
          </a:xfrm>
          <a:prstGeom prst="rect">
            <a:avLst/>
          </a:prstGeom>
          <a:noFill/>
        </p:spPr>
        <p:txBody>
          <a:bodyPr wrap="square">
            <a:spAutoFit/>
          </a:bodyPr>
          <a:lstStyle/>
          <a:p>
            <a:pPr algn="l">
              <a:lnSpc>
                <a:spcPct val="120000"/>
              </a:lnSpc>
            </a:pPr>
            <a:r>
              <a:rPr sz="3600" b="1">
                <a:solidFill>
                  <a:srgbClr val="0F151A"/>
                </a:solidFill>
                <a:latin typeface="Quicksand"/>
              </a:rPr>
              <a:t>Acquire &amp; Refine Data</a:t>
            </a:r>
          </a:p>
        </p:txBody>
      </p:sp>
      <p:sp>
        <p:nvSpPr>
          <p:cNvPr id="13" name="TextBox 12"/>
          <p:cNvSpPr txBox="1"/>
          <p:nvPr/>
        </p:nvSpPr>
        <p:spPr>
          <a:xfrm>
            <a:off x="6648450" y="3945135"/>
            <a:ext cx="4991100" cy="548580"/>
          </a:xfrm>
          <a:prstGeom prst="rect">
            <a:avLst/>
          </a:prstGeom>
          <a:noFill/>
        </p:spPr>
        <p:txBody>
          <a:bodyPr wrap="square">
            <a:spAutoFit/>
          </a:bodyPr>
          <a:lstStyle/>
          <a:p>
            <a:pPr algn="l">
              <a:lnSpc>
                <a:spcPct val="120000"/>
              </a:lnSpc>
            </a:pPr>
            <a:r>
              <a:rPr sz="3600" b="1">
                <a:solidFill>
                  <a:srgbClr val="0F151A"/>
                </a:solidFill>
                <a:latin typeface="Quicksand"/>
              </a:rPr>
              <a:t>Explore Data Patterns</a:t>
            </a:r>
          </a:p>
        </p:txBody>
      </p:sp>
      <p:sp>
        <p:nvSpPr>
          <p:cNvPr id="14" name="TextBox 13"/>
          <p:cNvSpPr txBox="1"/>
          <p:nvPr/>
        </p:nvSpPr>
        <p:spPr>
          <a:xfrm>
            <a:off x="12020549" y="3945135"/>
            <a:ext cx="4991100" cy="1097160"/>
          </a:xfrm>
          <a:prstGeom prst="rect">
            <a:avLst/>
          </a:prstGeom>
          <a:noFill/>
        </p:spPr>
        <p:txBody>
          <a:bodyPr wrap="square">
            <a:spAutoFit/>
          </a:bodyPr>
          <a:lstStyle/>
          <a:p>
            <a:pPr algn="l">
              <a:lnSpc>
                <a:spcPct val="120000"/>
              </a:lnSpc>
            </a:pPr>
            <a:r>
              <a:rPr sz="3600" b="1">
                <a:solidFill>
                  <a:srgbClr val="0F151A"/>
                </a:solidFill>
                <a:latin typeface="Quicksand"/>
              </a:rPr>
              <a:t>Model Development &amp; Validation</a:t>
            </a:r>
          </a:p>
        </p:txBody>
      </p:sp>
      <p:sp>
        <p:nvSpPr>
          <p:cNvPr id="15" name="TextBox 14"/>
          <p:cNvSpPr txBox="1"/>
          <p:nvPr/>
        </p:nvSpPr>
        <p:spPr>
          <a:xfrm>
            <a:off x="1276350" y="5232796"/>
            <a:ext cx="4991100" cy="2533054"/>
          </a:xfrm>
          <a:prstGeom prst="rect">
            <a:avLst/>
          </a:prstGeom>
          <a:noFill/>
        </p:spPr>
        <p:txBody>
          <a:bodyPr wrap="square">
            <a:spAutoFit/>
          </a:bodyPr>
          <a:lstStyle/>
          <a:p>
            <a:pPr algn="l">
              <a:lnSpc>
                <a:spcPct val="140000"/>
              </a:lnSpc>
            </a:pPr>
            <a:r>
              <a:rPr sz="2850">
                <a:solidFill>
                  <a:srgbClr val="0F151A"/>
                </a:solidFill>
                <a:latin typeface="Quicksand"/>
              </a:rPr>
              <a:t>Gather raw data; cleanse (remove errors) and transform (normalize) for analysis. Missing values often imputed.</a:t>
            </a:r>
          </a:p>
        </p:txBody>
      </p:sp>
      <p:sp>
        <p:nvSpPr>
          <p:cNvPr id="16" name="TextBox 15"/>
          <p:cNvSpPr txBox="1"/>
          <p:nvPr/>
        </p:nvSpPr>
        <p:spPr>
          <a:xfrm>
            <a:off x="6648450" y="5232796"/>
            <a:ext cx="4991100" cy="2026443"/>
          </a:xfrm>
          <a:prstGeom prst="rect">
            <a:avLst/>
          </a:prstGeom>
          <a:noFill/>
        </p:spPr>
        <p:txBody>
          <a:bodyPr wrap="square">
            <a:spAutoFit/>
          </a:bodyPr>
          <a:lstStyle/>
          <a:p>
            <a:pPr algn="l">
              <a:lnSpc>
                <a:spcPct val="140000"/>
              </a:lnSpc>
            </a:pPr>
            <a:r>
              <a:rPr sz="2850">
                <a:solidFill>
                  <a:srgbClr val="0F151A"/>
                </a:solidFill>
                <a:latin typeface="Quicksand"/>
              </a:rPr>
              <a:t>Visualize distributions, identify outliers (anomalous data points), and assess variable relationships.</a:t>
            </a:r>
          </a:p>
        </p:txBody>
      </p:sp>
      <mc:AlternateContent xmlns:mc="http://schemas.openxmlformats.org/markup-compatibility/2006">
        <mc:Choice xmlns:a14="http://schemas.microsoft.com/office/drawing/2010/main" Requires="a14">
          <p:sp>
            <p:nvSpPr>
              <p:cNvPr id="17" name="TextBox 16"/>
              <p:cNvSpPr txBox="1"/>
              <p:nvPr/>
            </p:nvSpPr>
            <p:spPr>
              <a:xfrm>
                <a:off x="12020549" y="5232796"/>
                <a:ext cx="4991100" cy="2026443"/>
              </a:xfrm>
              <a:prstGeom prst="rect">
                <a:avLst/>
              </a:prstGeom>
              <a:noFill/>
            </p:spPr>
            <p:txBody>
              <a:bodyPr wrap="square">
                <a:spAutoFit/>
              </a:bodyPr>
              <a:lstStyle/>
              <a:p>
                <a:pPr algn="l">
                  <a:lnSpc>
                    <a:spcPct val="140000"/>
                  </a:lnSpc>
                </a:pPr>
                <a:r>
                  <a:rPr sz="2850">
                    <a:solidFill>
                      <a:srgbClr val="0F151A"/>
                    </a:solidFill>
                    <a:latin typeface="Quicksand"/>
                  </a:rPr>
                  <a:t>Construct predictive models (e.g., regression); validate performance using metrics like </a:t>
                </a:r>
                <a14:m>
                  <m:oMath xmlns:m="http://schemas.openxmlformats.org/officeDocument/2006/math">
                    <m:sSup>
                      <m:sSupPr>
                        <m:ctrlPr>
                          <a:rPr sz="2850">
                            <a:solidFill>
                              <a:srgbClr val="0F151A"/>
                            </a:solidFill>
                            <a:latin typeface="Cambria Math" panose="02040503050406030204" pitchFamily="18" charset="0"/>
                          </a:rPr>
                        </m:ctrlPr>
                      </m:sSupPr>
                      <m:e>
                        <m:r>
                          <a:rPr sz="2850">
                            <a:solidFill>
                              <a:srgbClr val="0F151A"/>
                            </a:solidFill>
                            <a:latin typeface="Cambria Math" panose="02040503050406030204" pitchFamily="18" charset="0"/>
                          </a:rPr>
                          <m:t>𝑅</m:t>
                        </m:r>
                      </m:e>
                      <m:sup>
                        <m:r>
                          <a:rPr sz="2850">
                            <a:solidFill>
                              <a:srgbClr val="0F151A"/>
                            </a:solidFill>
                            <a:latin typeface="Cambria Math" panose="02040503050406030204" pitchFamily="18" charset="0"/>
                          </a:rPr>
                          <m:t>2</m:t>
                        </m:r>
                      </m:sup>
                    </m:sSup>
                  </m:oMath>
                </a14:m>
                <a:r>
                  <a:rPr sz="2850">
                    <a:solidFill>
                      <a:srgbClr val="0F151A"/>
                    </a:solidFill>
                    <a:latin typeface="Quicksand"/>
                  </a:rPr>
                  <a:t> or F1-score.</a:t>
                </a:r>
              </a:p>
            </p:txBody>
          </p:sp>
        </mc:Choice>
        <mc:Fallback>
          <p:sp>
            <p:nvSpPr>
              <p:cNvPr id="17" name="TextBox 16"/>
              <p:cNvSpPr txBox="1">
                <a:spLocks noRot="1" noChangeAspect="1" noMove="1" noResize="1" noEditPoints="1" noAdjustHandles="1" noChangeArrowheads="1" noChangeShapeType="1" noTextEdit="1"/>
              </p:cNvSpPr>
              <p:nvPr/>
            </p:nvSpPr>
            <p:spPr>
              <a:xfrm>
                <a:off x="12020549" y="5232796"/>
                <a:ext cx="4991100" cy="2026443"/>
              </a:xfrm>
              <a:prstGeom prst="rect">
                <a:avLst/>
              </a:prstGeom>
              <a:blipFill>
                <a:blip r:embed="rId3"/>
                <a:stretch>
                  <a:fillRect l="-2564" r="-366" b="-59459"/>
                </a:stretch>
              </a:blipFill>
            </p:spPr>
            <p:txBody>
              <a:bodyPr/>
              <a:lstStyle/>
              <a:p>
                <a:r>
                  <a:rPr lang="en-ZM">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7bae10aa-3a64-492d-a32e-c50b6405d1dd.jpg"/>
          <p:cNvPicPr>
            <a:picLocks noChangeAspect="1"/>
          </p:cNvPicPr>
          <p:nvPr/>
        </p:nvPicPr>
        <p:blipFill>
          <a:blip r:embed="rId2"/>
          <a:stretch>
            <a:fillRect/>
          </a:stretch>
        </p:blipFill>
        <p:spPr>
          <a:xfrm>
            <a:off x="9639300" y="2809875"/>
            <a:ext cx="7000875" cy="4667249"/>
          </a:xfrm>
          <a:prstGeom prst="rect">
            <a:avLst/>
          </a:prstGeom>
        </p:spPr>
      </p:pic>
      <p:pic>
        <p:nvPicPr>
          <p:cNvPr id="3" name="Picture 2" descr="7ba524ec-b6f4-4f06-83ad-4021900a2682.png"/>
          <p:cNvPicPr>
            <a:picLocks noChangeAspect="1"/>
          </p:cNvPicPr>
          <p:nvPr/>
        </p:nvPicPr>
        <p:blipFill>
          <a:blip r:embed="rId3"/>
          <a:stretch>
            <a:fillRect/>
          </a:stretch>
        </p:blipFill>
        <p:spPr>
          <a:xfrm>
            <a:off x="16754474" y="8858250"/>
            <a:ext cx="761999" cy="761999"/>
          </a:xfrm>
          <a:prstGeom prst="rect">
            <a:avLst/>
          </a:prstGeom>
        </p:spPr>
      </p:pic>
      <p:sp>
        <p:nvSpPr>
          <p:cNvPr id="4" name="TextBox 3"/>
          <p:cNvSpPr txBox="1"/>
          <p:nvPr/>
        </p:nvSpPr>
        <p:spPr>
          <a:xfrm>
            <a:off x="1285875" y="1790700"/>
            <a:ext cx="7362824" cy="1718071"/>
          </a:xfrm>
          <a:prstGeom prst="rect">
            <a:avLst/>
          </a:prstGeom>
          <a:noFill/>
        </p:spPr>
        <p:txBody>
          <a:bodyPr wrap="square">
            <a:spAutoFit/>
          </a:bodyPr>
          <a:lstStyle/>
          <a:p>
            <a:pPr algn="l">
              <a:lnSpc>
                <a:spcPct val="110000"/>
              </a:lnSpc>
            </a:pPr>
            <a:r>
              <a:rPr sz="6150" b="1">
                <a:solidFill>
                  <a:srgbClr val="0F151A"/>
                </a:solidFill>
                <a:latin typeface="Quicksand"/>
              </a:rPr>
              <a:t>PERFORMING DATA PROFILING</a:t>
            </a:r>
          </a:p>
        </p:txBody>
      </p:sp>
      <p:sp>
        <p:nvSpPr>
          <p:cNvPr id="5" name="TextBox 4"/>
          <p:cNvSpPr txBox="1"/>
          <p:nvPr/>
        </p:nvSpPr>
        <p:spPr>
          <a:xfrm>
            <a:off x="1285875" y="3813571"/>
            <a:ext cx="7362824" cy="3546276"/>
          </a:xfrm>
          <a:prstGeom prst="rect">
            <a:avLst/>
          </a:prstGeom>
          <a:noFill/>
        </p:spPr>
        <p:txBody>
          <a:bodyPr wrap="square">
            <a:spAutoFit/>
          </a:bodyPr>
          <a:lstStyle/>
          <a:p>
            <a:pPr algn="l">
              <a:lnSpc>
                <a:spcPct val="140000"/>
              </a:lnSpc>
            </a:pPr>
            <a:r>
              <a:rPr sz="2850">
                <a:solidFill>
                  <a:srgbClr val="323E47"/>
                </a:solidFill>
                <a:latin typeface="Quicksand"/>
              </a:rPr>
              <a:t>Data profiling systematically examines data to discover structure, content, and relationships, which is crucial for identifying anomalies and ensuring data quality. This process involves analyzing data attributes (e.g., value ranges, uniqueness) to establish baselines for fraud detection.</a:t>
            </a:r>
          </a:p>
        </p:txBody>
      </p:sp>
      <p:sp>
        <p:nvSpPr>
          <p:cNvPr id="6" name="TextBox 5"/>
          <p:cNvSpPr txBox="1"/>
          <p:nvPr/>
        </p:nvSpPr>
        <p:spPr>
          <a:xfrm>
            <a:off x="9639300" y="7667624"/>
            <a:ext cx="7367587" cy="428625"/>
          </a:xfrm>
          <a:prstGeom prst="rect">
            <a:avLst/>
          </a:prstGeom>
          <a:noFill/>
        </p:spPr>
        <p:txBody>
          <a:bodyPr wrap="square">
            <a:spAutoFit/>
          </a:bodyPr>
          <a:lstStyle/>
          <a:p>
            <a:pPr algn="l">
              <a:lnSpc>
                <a:spcPct val="140000"/>
              </a:lnSpc>
            </a:pPr>
            <a:r>
              <a:rPr sz="2100" i="1">
                <a:solidFill>
                  <a:srgbClr val="323E47"/>
                </a:solidFill>
                <a:latin typeface="Rubik"/>
              </a:rPr>
              <a:t>Analyzing agricultural and manufacturing data, essential for advertising strategies.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7ba524ec-b6f4-4f06-83ad-4021900a2682.png"/>
          <p:cNvPicPr>
            <a:picLocks noChangeAspect="1"/>
          </p:cNvPicPr>
          <p:nvPr/>
        </p:nvPicPr>
        <p:blipFill>
          <a:blip r:embed="rId2"/>
          <a:stretch>
            <a:fillRect/>
          </a:stretch>
        </p:blipFill>
        <p:spPr>
          <a:xfrm>
            <a:off x="16754474" y="8858250"/>
            <a:ext cx="761999" cy="761999"/>
          </a:xfrm>
          <a:prstGeom prst="rect">
            <a:avLst/>
          </a:prstGeom>
        </p:spPr>
      </p:pic>
      <p:sp>
        <p:nvSpPr>
          <p:cNvPr id="3" name="TextBox 2"/>
          <p:cNvSpPr txBox="1"/>
          <p:nvPr/>
        </p:nvSpPr>
        <p:spPr>
          <a:xfrm>
            <a:off x="826407" y="1371541"/>
            <a:ext cx="7200900" cy="2554545"/>
          </a:xfrm>
          <a:prstGeom prst="rect">
            <a:avLst/>
          </a:prstGeom>
          <a:noFill/>
        </p:spPr>
        <p:txBody>
          <a:bodyPr wrap="square">
            <a:spAutoFit/>
          </a:bodyPr>
          <a:lstStyle/>
          <a:p>
            <a:pPr algn="l">
              <a:lnSpc>
                <a:spcPct val="100000"/>
              </a:lnSpc>
            </a:pPr>
            <a:r>
              <a:rPr sz="4000" b="1" dirty="0">
                <a:solidFill>
                  <a:srgbClr val="0F151A"/>
                </a:solidFill>
                <a:latin typeface="Quicksand"/>
              </a:rPr>
              <a:t>PERFORMING CONTEXTUAL AND BEHAVIOUR QUALITATIVE ANALYSIS</a:t>
            </a:r>
          </a:p>
        </p:txBody>
      </p:sp>
      <p:sp>
        <p:nvSpPr>
          <p:cNvPr id="4" name="TextBox 3"/>
          <p:cNvSpPr txBox="1"/>
          <p:nvPr/>
        </p:nvSpPr>
        <p:spPr>
          <a:xfrm>
            <a:off x="9144000" y="452585"/>
            <a:ext cx="7867649" cy="548580"/>
          </a:xfrm>
          <a:prstGeom prst="rect">
            <a:avLst/>
          </a:prstGeom>
          <a:noFill/>
        </p:spPr>
        <p:txBody>
          <a:bodyPr wrap="square">
            <a:spAutoFit/>
          </a:bodyPr>
          <a:lstStyle/>
          <a:p>
            <a:pPr algn="l">
              <a:lnSpc>
                <a:spcPct val="120000"/>
              </a:lnSpc>
            </a:pPr>
            <a:r>
              <a:rPr sz="3600" b="1" dirty="0">
                <a:solidFill>
                  <a:srgbClr val="0F151A"/>
                </a:solidFill>
                <a:latin typeface="Quicksand"/>
              </a:rPr>
              <a:t>Contextual Analysis</a:t>
            </a:r>
          </a:p>
        </p:txBody>
      </p:sp>
      <p:sp>
        <p:nvSpPr>
          <p:cNvPr id="5" name="TextBox 4"/>
          <p:cNvSpPr txBox="1"/>
          <p:nvPr/>
        </p:nvSpPr>
        <p:spPr>
          <a:xfrm>
            <a:off x="9267824" y="1083097"/>
            <a:ext cx="7867649" cy="3546276"/>
          </a:xfrm>
          <a:prstGeom prst="rect">
            <a:avLst/>
          </a:prstGeom>
          <a:noFill/>
        </p:spPr>
        <p:txBody>
          <a:bodyPr wrap="square">
            <a:spAutoFit/>
          </a:bodyPr>
          <a:lstStyle/>
          <a:p>
            <a:pPr algn="l">
              <a:lnSpc>
                <a:spcPct val="140000"/>
              </a:lnSpc>
            </a:pPr>
            <a:r>
              <a:rPr sz="2850" dirty="0">
                <a:solidFill>
                  <a:srgbClr val="323E47"/>
                </a:solidFill>
                <a:latin typeface="Quicksand"/>
              </a:rPr>
              <a:t>Contextual analysis examines the environmental factors, such as socio-economic conditions or regulatory changes, that influence individual and organizational behavior. This involves assessing the broader landscape in which potential fraud might occur.</a:t>
            </a:r>
          </a:p>
        </p:txBody>
      </p:sp>
      <p:sp>
        <p:nvSpPr>
          <p:cNvPr id="6" name="TextBox 5"/>
          <p:cNvSpPr txBox="1"/>
          <p:nvPr/>
        </p:nvSpPr>
        <p:spPr>
          <a:xfrm>
            <a:off x="9267824" y="5567658"/>
            <a:ext cx="7867649" cy="548580"/>
          </a:xfrm>
          <a:prstGeom prst="rect">
            <a:avLst/>
          </a:prstGeom>
          <a:noFill/>
        </p:spPr>
        <p:txBody>
          <a:bodyPr wrap="square">
            <a:spAutoFit/>
          </a:bodyPr>
          <a:lstStyle/>
          <a:p>
            <a:pPr algn="l">
              <a:lnSpc>
                <a:spcPct val="120000"/>
              </a:lnSpc>
            </a:pPr>
            <a:r>
              <a:rPr sz="3600" b="1" dirty="0">
                <a:solidFill>
                  <a:srgbClr val="0F151A"/>
                </a:solidFill>
                <a:latin typeface="Quicksand"/>
              </a:rPr>
              <a:t>Behavioral Analysis</a:t>
            </a:r>
          </a:p>
        </p:txBody>
      </p:sp>
      <p:sp>
        <p:nvSpPr>
          <p:cNvPr id="7" name="TextBox 6"/>
          <p:cNvSpPr txBox="1"/>
          <p:nvPr/>
        </p:nvSpPr>
        <p:spPr>
          <a:xfrm>
            <a:off x="9267823" y="6220717"/>
            <a:ext cx="7867649" cy="2533054"/>
          </a:xfrm>
          <a:prstGeom prst="rect">
            <a:avLst/>
          </a:prstGeom>
          <a:noFill/>
        </p:spPr>
        <p:txBody>
          <a:bodyPr wrap="square">
            <a:spAutoFit/>
          </a:bodyPr>
          <a:lstStyle/>
          <a:p>
            <a:pPr algn="l">
              <a:lnSpc>
                <a:spcPct val="140000"/>
              </a:lnSpc>
            </a:pPr>
            <a:r>
              <a:rPr sz="2850" dirty="0">
                <a:solidFill>
                  <a:srgbClr val="323E47"/>
                </a:solidFill>
                <a:latin typeface="Quicksand"/>
              </a:rPr>
              <a:t>Behavioral analysis focuses on identifying anomalous patterns or deviations from typical actions. This involves scrutinizing user interactions and transaction histories to detect suspicious activities.</a:t>
            </a:r>
          </a:p>
        </p:txBody>
      </p:sp>
      <p:sp>
        <p:nvSpPr>
          <p:cNvPr id="8" name="TextBox 7"/>
          <p:cNvSpPr txBox="1"/>
          <p:nvPr/>
        </p:nvSpPr>
        <p:spPr>
          <a:xfrm>
            <a:off x="779916" y="4355083"/>
            <a:ext cx="7867649" cy="548580"/>
          </a:xfrm>
          <a:prstGeom prst="rect">
            <a:avLst/>
          </a:prstGeom>
          <a:noFill/>
        </p:spPr>
        <p:txBody>
          <a:bodyPr wrap="square">
            <a:spAutoFit/>
          </a:bodyPr>
          <a:lstStyle/>
          <a:p>
            <a:pPr algn="l">
              <a:lnSpc>
                <a:spcPct val="120000"/>
              </a:lnSpc>
            </a:pPr>
            <a:r>
              <a:rPr sz="3600" b="1" dirty="0">
                <a:solidFill>
                  <a:srgbClr val="0F151A"/>
                </a:solidFill>
                <a:latin typeface="Quicksand"/>
              </a:rPr>
              <a:t>Qualitative Interpretation</a:t>
            </a:r>
          </a:p>
        </p:txBody>
      </p:sp>
      <p:sp>
        <p:nvSpPr>
          <p:cNvPr id="9" name="TextBox 8"/>
          <p:cNvSpPr txBox="1"/>
          <p:nvPr/>
        </p:nvSpPr>
        <p:spPr>
          <a:xfrm>
            <a:off x="826407" y="5332660"/>
            <a:ext cx="7867649" cy="3039665"/>
          </a:xfrm>
          <a:prstGeom prst="rect">
            <a:avLst/>
          </a:prstGeom>
          <a:noFill/>
        </p:spPr>
        <p:txBody>
          <a:bodyPr wrap="square">
            <a:spAutoFit/>
          </a:bodyPr>
          <a:lstStyle/>
          <a:p>
            <a:pPr algn="l">
              <a:lnSpc>
                <a:spcPct val="140000"/>
              </a:lnSpc>
            </a:pPr>
            <a:r>
              <a:rPr sz="2850" dirty="0">
                <a:solidFill>
                  <a:srgbClr val="323E47"/>
                </a:solidFill>
                <a:latin typeface="Quicksand"/>
              </a:rPr>
              <a:t>Qualitative interpretation synthesizes contextual and behavioral insights to formulate comprehensive fraud hypotheses. This process often employs inductive reasoning, moving from specific observations to general conclusions.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276350" y="2611635"/>
            <a:ext cx="952499" cy="952499"/>
          </a:xfrm>
          <a:prstGeom prst="ellipse">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305425" y="2611635"/>
            <a:ext cx="952499" cy="952499"/>
          </a:xfrm>
          <a:prstGeom prst="ellipse">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334499" y="2611635"/>
            <a:ext cx="952499" cy="952499"/>
          </a:xfrm>
          <a:prstGeom prst="ellipse">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3363574" y="2611635"/>
            <a:ext cx="952499" cy="952499"/>
          </a:xfrm>
          <a:prstGeom prst="ellipse">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28850" y="3087885"/>
            <a:ext cx="3076574" cy="38100"/>
          </a:xfrm>
          <a:prstGeom prst="rect">
            <a:avLst/>
          </a:prstGeom>
          <a:solidFill>
            <a:srgbClr val="92A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257925" y="3087885"/>
            <a:ext cx="3076574" cy="38100"/>
          </a:xfrm>
          <a:prstGeom prst="rect">
            <a:avLst/>
          </a:prstGeom>
          <a:solidFill>
            <a:srgbClr val="92A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287000" y="3087885"/>
            <a:ext cx="3076574" cy="38100"/>
          </a:xfrm>
          <a:prstGeom prst="rect">
            <a:avLst/>
          </a:prstGeom>
          <a:solidFill>
            <a:srgbClr val="92A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7ba524ec-b6f4-4f06-83ad-4021900a2682.png"/>
          <p:cNvPicPr>
            <a:picLocks noChangeAspect="1"/>
          </p:cNvPicPr>
          <p:nvPr/>
        </p:nvPicPr>
        <p:blipFill>
          <a:blip r:embed="rId2"/>
          <a:stretch>
            <a:fillRect/>
          </a:stretch>
        </p:blipFill>
        <p:spPr>
          <a:xfrm>
            <a:off x="16754474" y="8858250"/>
            <a:ext cx="761999" cy="761999"/>
          </a:xfrm>
          <a:prstGeom prst="rect">
            <a:avLst/>
          </a:prstGeom>
        </p:spPr>
      </p:pic>
      <p:sp>
        <p:nvSpPr>
          <p:cNvPr id="10" name="TextBox 9"/>
          <p:cNvSpPr txBox="1"/>
          <p:nvPr/>
        </p:nvSpPr>
        <p:spPr>
          <a:xfrm>
            <a:off x="1276350" y="1276350"/>
            <a:ext cx="15735299" cy="859035"/>
          </a:xfrm>
          <a:prstGeom prst="rect">
            <a:avLst/>
          </a:prstGeom>
          <a:noFill/>
        </p:spPr>
        <p:txBody>
          <a:bodyPr wrap="square">
            <a:spAutoFit/>
          </a:bodyPr>
          <a:lstStyle/>
          <a:p>
            <a:pPr algn="ctr">
              <a:lnSpc>
                <a:spcPct val="110000"/>
              </a:lnSpc>
            </a:pPr>
            <a:r>
              <a:rPr sz="6150" b="1">
                <a:solidFill>
                  <a:srgbClr val="0F151A"/>
                </a:solidFill>
                <a:latin typeface="Quicksand"/>
              </a:rPr>
              <a:t>OLAF APPROACH IN DATA ANALYSIS</a:t>
            </a:r>
          </a:p>
        </p:txBody>
      </p:sp>
      <p:sp>
        <p:nvSpPr>
          <p:cNvPr id="11" name="TextBox 10"/>
          <p:cNvSpPr txBox="1"/>
          <p:nvPr/>
        </p:nvSpPr>
        <p:spPr>
          <a:xfrm>
            <a:off x="1633537" y="2859285"/>
            <a:ext cx="238124" cy="457200"/>
          </a:xfrm>
          <a:prstGeom prst="rect">
            <a:avLst/>
          </a:prstGeom>
          <a:noFill/>
        </p:spPr>
        <p:txBody>
          <a:bodyPr wrap="square">
            <a:spAutoFit/>
          </a:bodyPr>
          <a:lstStyle/>
          <a:p>
            <a:pPr algn="l">
              <a:lnSpc>
                <a:spcPct val="100000"/>
              </a:lnSpc>
            </a:pPr>
            <a:r>
              <a:rPr sz="3600" b="1">
                <a:solidFill>
                  <a:srgbClr val="FFFFFF"/>
                </a:solidFill>
                <a:latin typeface="Quicksand"/>
              </a:rPr>
              <a:t>1</a:t>
            </a:r>
          </a:p>
        </p:txBody>
      </p:sp>
      <p:sp>
        <p:nvSpPr>
          <p:cNvPr id="12" name="TextBox 11"/>
          <p:cNvSpPr txBox="1"/>
          <p:nvPr/>
        </p:nvSpPr>
        <p:spPr>
          <a:xfrm>
            <a:off x="5662612" y="2859285"/>
            <a:ext cx="238124" cy="457200"/>
          </a:xfrm>
          <a:prstGeom prst="rect">
            <a:avLst/>
          </a:prstGeom>
          <a:noFill/>
        </p:spPr>
        <p:txBody>
          <a:bodyPr wrap="square">
            <a:spAutoFit/>
          </a:bodyPr>
          <a:lstStyle/>
          <a:p>
            <a:pPr algn="l">
              <a:lnSpc>
                <a:spcPct val="100000"/>
              </a:lnSpc>
            </a:pPr>
            <a:r>
              <a:rPr sz="3600" b="1">
                <a:solidFill>
                  <a:srgbClr val="FFFFFF"/>
                </a:solidFill>
                <a:latin typeface="Quicksand"/>
              </a:rPr>
              <a:t>2</a:t>
            </a:r>
          </a:p>
        </p:txBody>
      </p:sp>
      <p:sp>
        <p:nvSpPr>
          <p:cNvPr id="13" name="TextBox 12"/>
          <p:cNvSpPr txBox="1"/>
          <p:nvPr/>
        </p:nvSpPr>
        <p:spPr>
          <a:xfrm>
            <a:off x="9691687" y="2859285"/>
            <a:ext cx="238124" cy="457200"/>
          </a:xfrm>
          <a:prstGeom prst="rect">
            <a:avLst/>
          </a:prstGeom>
          <a:noFill/>
        </p:spPr>
        <p:txBody>
          <a:bodyPr wrap="square">
            <a:spAutoFit/>
          </a:bodyPr>
          <a:lstStyle/>
          <a:p>
            <a:pPr algn="l">
              <a:lnSpc>
                <a:spcPct val="100000"/>
              </a:lnSpc>
            </a:pPr>
            <a:r>
              <a:rPr sz="3600" b="1">
                <a:solidFill>
                  <a:srgbClr val="FFFFFF"/>
                </a:solidFill>
                <a:latin typeface="Quicksand"/>
              </a:rPr>
              <a:t>3</a:t>
            </a:r>
          </a:p>
        </p:txBody>
      </p:sp>
      <p:sp>
        <p:nvSpPr>
          <p:cNvPr id="14" name="TextBox 13"/>
          <p:cNvSpPr txBox="1"/>
          <p:nvPr/>
        </p:nvSpPr>
        <p:spPr>
          <a:xfrm>
            <a:off x="13720762" y="2859285"/>
            <a:ext cx="238124" cy="457200"/>
          </a:xfrm>
          <a:prstGeom prst="rect">
            <a:avLst/>
          </a:prstGeom>
          <a:noFill/>
        </p:spPr>
        <p:txBody>
          <a:bodyPr wrap="square">
            <a:spAutoFit/>
          </a:bodyPr>
          <a:lstStyle/>
          <a:p>
            <a:pPr algn="l">
              <a:lnSpc>
                <a:spcPct val="100000"/>
              </a:lnSpc>
            </a:pPr>
            <a:r>
              <a:rPr sz="3600" b="1">
                <a:solidFill>
                  <a:srgbClr val="FFFFFF"/>
                </a:solidFill>
                <a:latin typeface="Quicksand"/>
              </a:rPr>
              <a:t>4</a:t>
            </a:r>
          </a:p>
        </p:txBody>
      </p:sp>
      <p:sp>
        <p:nvSpPr>
          <p:cNvPr id="15" name="TextBox 14"/>
          <p:cNvSpPr txBox="1"/>
          <p:nvPr/>
        </p:nvSpPr>
        <p:spPr>
          <a:xfrm>
            <a:off x="1276350" y="3945135"/>
            <a:ext cx="3648074" cy="548580"/>
          </a:xfrm>
          <a:prstGeom prst="rect">
            <a:avLst/>
          </a:prstGeom>
          <a:noFill/>
        </p:spPr>
        <p:txBody>
          <a:bodyPr wrap="square">
            <a:spAutoFit/>
          </a:bodyPr>
          <a:lstStyle/>
          <a:p>
            <a:pPr algn="l">
              <a:lnSpc>
                <a:spcPct val="120000"/>
              </a:lnSpc>
            </a:pPr>
            <a:r>
              <a:rPr sz="3600" b="1">
                <a:solidFill>
                  <a:srgbClr val="0F151A"/>
                </a:solidFill>
                <a:latin typeface="Quicksand"/>
              </a:rPr>
              <a:t>Obtain Data</a:t>
            </a:r>
          </a:p>
        </p:txBody>
      </p:sp>
      <p:sp>
        <p:nvSpPr>
          <p:cNvPr id="16" name="TextBox 15"/>
          <p:cNvSpPr txBox="1"/>
          <p:nvPr/>
        </p:nvSpPr>
        <p:spPr>
          <a:xfrm>
            <a:off x="5305425" y="3945135"/>
            <a:ext cx="3648074" cy="548580"/>
          </a:xfrm>
          <a:prstGeom prst="rect">
            <a:avLst/>
          </a:prstGeom>
          <a:noFill/>
        </p:spPr>
        <p:txBody>
          <a:bodyPr wrap="square">
            <a:spAutoFit/>
          </a:bodyPr>
          <a:lstStyle/>
          <a:p>
            <a:pPr algn="l">
              <a:lnSpc>
                <a:spcPct val="120000"/>
              </a:lnSpc>
            </a:pPr>
            <a:r>
              <a:rPr sz="3600" b="1">
                <a:solidFill>
                  <a:srgbClr val="0F151A"/>
                </a:solidFill>
                <a:latin typeface="Quicksand"/>
              </a:rPr>
              <a:t>Link Data</a:t>
            </a:r>
          </a:p>
        </p:txBody>
      </p:sp>
      <p:sp>
        <p:nvSpPr>
          <p:cNvPr id="17" name="TextBox 16"/>
          <p:cNvSpPr txBox="1"/>
          <p:nvPr/>
        </p:nvSpPr>
        <p:spPr>
          <a:xfrm>
            <a:off x="9334499" y="3945135"/>
            <a:ext cx="3648074" cy="548580"/>
          </a:xfrm>
          <a:prstGeom prst="rect">
            <a:avLst/>
          </a:prstGeom>
          <a:noFill/>
        </p:spPr>
        <p:txBody>
          <a:bodyPr wrap="square">
            <a:spAutoFit/>
          </a:bodyPr>
          <a:lstStyle/>
          <a:p>
            <a:pPr algn="l">
              <a:lnSpc>
                <a:spcPct val="120000"/>
              </a:lnSpc>
            </a:pPr>
            <a:r>
              <a:rPr sz="3600" b="1">
                <a:solidFill>
                  <a:srgbClr val="0F151A"/>
                </a:solidFill>
                <a:latin typeface="Quicksand"/>
              </a:rPr>
              <a:t>Analyze Data</a:t>
            </a:r>
          </a:p>
        </p:txBody>
      </p:sp>
      <p:sp>
        <p:nvSpPr>
          <p:cNvPr id="18" name="TextBox 17"/>
          <p:cNvSpPr txBox="1"/>
          <p:nvPr/>
        </p:nvSpPr>
        <p:spPr>
          <a:xfrm>
            <a:off x="13363574" y="3945135"/>
            <a:ext cx="3893912" cy="693523"/>
          </a:xfrm>
          <a:prstGeom prst="rect">
            <a:avLst/>
          </a:prstGeom>
          <a:noFill/>
        </p:spPr>
        <p:txBody>
          <a:bodyPr wrap="square">
            <a:spAutoFit/>
          </a:bodyPr>
          <a:lstStyle/>
          <a:p>
            <a:pPr algn="l">
              <a:lnSpc>
                <a:spcPct val="120000"/>
              </a:lnSpc>
            </a:pPr>
            <a:r>
              <a:rPr sz="3600" b="1" dirty="0">
                <a:solidFill>
                  <a:srgbClr val="0F151A"/>
                </a:solidFill>
                <a:latin typeface="Quicksand"/>
              </a:rPr>
              <a:t>Feedback Loop</a:t>
            </a:r>
          </a:p>
        </p:txBody>
      </p:sp>
      <p:sp>
        <p:nvSpPr>
          <p:cNvPr id="19" name="TextBox 18"/>
          <p:cNvSpPr txBox="1"/>
          <p:nvPr/>
        </p:nvSpPr>
        <p:spPr>
          <a:xfrm>
            <a:off x="1276350" y="4684216"/>
            <a:ext cx="3648074" cy="2533054"/>
          </a:xfrm>
          <a:prstGeom prst="rect">
            <a:avLst/>
          </a:prstGeom>
          <a:noFill/>
        </p:spPr>
        <p:txBody>
          <a:bodyPr wrap="square">
            <a:spAutoFit/>
          </a:bodyPr>
          <a:lstStyle/>
          <a:p>
            <a:pPr algn="l">
              <a:lnSpc>
                <a:spcPct val="140000"/>
              </a:lnSpc>
            </a:pPr>
            <a:r>
              <a:rPr sz="2850">
                <a:solidFill>
                  <a:srgbClr val="0F151A"/>
                </a:solidFill>
                <a:latin typeface="Quicksand"/>
              </a:rPr>
              <a:t>Gather diverse datasets (e.g., transactional, behavioral) from various sources.</a:t>
            </a:r>
          </a:p>
        </p:txBody>
      </p:sp>
      <p:sp>
        <p:nvSpPr>
          <p:cNvPr id="20" name="TextBox 19"/>
          <p:cNvSpPr txBox="1"/>
          <p:nvPr/>
        </p:nvSpPr>
        <p:spPr>
          <a:xfrm>
            <a:off x="5305425" y="4684216"/>
            <a:ext cx="3648074" cy="3039665"/>
          </a:xfrm>
          <a:prstGeom prst="rect">
            <a:avLst/>
          </a:prstGeom>
          <a:noFill/>
        </p:spPr>
        <p:txBody>
          <a:bodyPr wrap="square">
            <a:spAutoFit/>
          </a:bodyPr>
          <a:lstStyle/>
          <a:p>
            <a:pPr algn="l">
              <a:lnSpc>
                <a:spcPct val="140000"/>
              </a:lnSpc>
            </a:pPr>
            <a:r>
              <a:rPr sz="2850">
                <a:solidFill>
                  <a:srgbClr val="0F151A"/>
                </a:solidFill>
                <a:latin typeface="Quicksand"/>
              </a:rPr>
              <a:t>Integrate disparate datasets, establishing relationships between entities (e.g., individuals, transactions).</a:t>
            </a:r>
          </a:p>
        </p:txBody>
      </p:sp>
      <p:sp>
        <p:nvSpPr>
          <p:cNvPr id="21" name="TextBox 20"/>
          <p:cNvSpPr txBox="1"/>
          <p:nvPr/>
        </p:nvSpPr>
        <p:spPr>
          <a:xfrm>
            <a:off x="9334499" y="4684216"/>
            <a:ext cx="3648074" cy="3039665"/>
          </a:xfrm>
          <a:prstGeom prst="rect">
            <a:avLst/>
          </a:prstGeom>
          <a:noFill/>
        </p:spPr>
        <p:txBody>
          <a:bodyPr wrap="square">
            <a:spAutoFit/>
          </a:bodyPr>
          <a:lstStyle/>
          <a:p>
            <a:pPr algn="l">
              <a:lnSpc>
                <a:spcPct val="140000"/>
              </a:lnSpc>
            </a:pPr>
            <a:r>
              <a:rPr sz="2850">
                <a:solidFill>
                  <a:srgbClr val="0F151A"/>
                </a:solidFill>
                <a:latin typeface="Quicksand"/>
              </a:rPr>
              <a:t>Employ advanced analytical techniques (e.g., machine learning, statistical modeling) to detect anomalies.</a:t>
            </a:r>
          </a:p>
        </p:txBody>
      </p:sp>
      <p:sp>
        <p:nvSpPr>
          <p:cNvPr id="22" name="TextBox 21"/>
          <p:cNvSpPr txBox="1"/>
          <p:nvPr/>
        </p:nvSpPr>
        <p:spPr>
          <a:xfrm>
            <a:off x="13363573" y="4686908"/>
            <a:ext cx="3648074" cy="3039665"/>
          </a:xfrm>
          <a:prstGeom prst="rect">
            <a:avLst/>
          </a:prstGeom>
          <a:noFill/>
        </p:spPr>
        <p:txBody>
          <a:bodyPr wrap="square">
            <a:spAutoFit/>
          </a:bodyPr>
          <a:lstStyle/>
          <a:p>
            <a:pPr algn="l">
              <a:lnSpc>
                <a:spcPct val="140000"/>
              </a:lnSpc>
            </a:pPr>
            <a:r>
              <a:rPr sz="2850" dirty="0">
                <a:solidFill>
                  <a:srgbClr val="0F151A"/>
                </a:solidFill>
                <a:latin typeface="Quicksand"/>
              </a:rPr>
              <a:t>Continuously refine models and strategies based on detection outcomes and new fraud patterns.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4a92d894-2a12-4c9d-8d28-dd68aeda62eb.png"/>
          <p:cNvPicPr>
            <a:picLocks noChangeAspect="1"/>
          </p:cNvPicPr>
          <p:nvPr/>
        </p:nvPicPr>
        <p:blipFill>
          <a:blip r:embed="rId2"/>
          <a:stretch>
            <a:fillRect/>
          </a:stretch>
        </p:blipFill>
        <p:spPr>
          <a:xfrm>
            <a:off x="1285875" y="2514600"/>
            <a:ext cx="7000875" cy="5248275"/>
          </a:xfrm>
          <a:prstGeom prst="rect">
            <a:avLst/>
          </a:prstGeom>
        </p:spPr>
      </p:pic>
      <p:pic>
        <p:nvPicPr>
          <p:cNvPr id="3" name="Picture 2" descr="7ba524ec-b6f4-4f06-83ad-4021900a2682.png"/>
          <p:cNvPicPr>
            <a:picLocks noChangeAspect="1"/>
          </p:cNvPicPr>
          <p:nvPr/>
        </p:nvPicPr>
        <p:blipFill>
          <a:blip r:embed="rId3"/>
          <a:stretch>
            <a:fillRect/>
          </a:stretch>
        </p:blipFill>
        <p:spPr>
          <a:xfrm>
            <a:off x="16754474" y="8858250"/>
            <a:ext cx="761999" cy="761999"/>
          </a:xfrm>
          <a:prstGeom prst="rect">
            <a:avLst/>
          </a:prstGeom>
        </p:spPr>
      </p:pic>
      <p:sp>
        <p:nvSpPr>
          <p:cNvPr id="4" name="TextBox 3"/>
          <p:cNvSpPr txBox="1"/>
          <p:nvPr/>
        </p:nvSpPr>
        <p:spPr>
          <a:xfrm>
            <a:off x="1285875" y="7953374"/>
            <a:ext cx="7367587" cy="428625"/>
          </a:xfrm>
          <a:prstGeom prst="rect">
            <a:avLst/>
          </a:prstGeom>
          <a:noFill/>
        </p:spPr>
        <p:txBody>
          <a:bodyPr wrap="square">
            <a:spAutoFit/>
          </a:bodyPr>
          <a:lstStyle/>
          <a:p>
            <a:pPr algn="l">
              <a:lnSpc>
                <a:spcPct val="140000"/>
              </a:lnSpc>
            </a:pPr>
            <a:r>
              <a:rPr sz="2100" i="1">
                <a:solidFill>
                  <a:srgbClr val="323E47"/>
                </a:solidFill>
                <a:latin typeface="Rubik"/>
              </a:rPr>
              <a:t>Untrustworthy data leads to uncertain results in neural networks.</a:t>
            </a:r>
          </a:p>
        </p:txBody>
      </p:sp>
      <p:sp>
        <p:nvSpPr>
          <p:cNvPr id="5" name="TextBox 4"/>
          <p:cNvSpPr txBox="1"/>
          <p:nvPr/>
        </p:nvSpPr>
        <p:spPr>
          <a:xfrm>
            <a:off x="9639300" y="502146"/>
            <a:ext cx="7362824" cy="2577107"/>
          </a:xfrm>
          <a:prstGeom prst="rect">
            <a:avLst/>
          </a:prstGeom>
          <a:noFill/>
        </p:spPr>
        <p:txBody>
          <a:bodyPr wrap="square">
            <a:spAutoFit/>
          </a:bodyPr>
          <a:lstStyle/>
          <a:p>
            <a:pPr algn="l">
              <a:lnSpc>
                <a:spcPct val="110000"/>
              </a:lnSpc>
            </a:pPr>
            <a:r>
              <a:rPr sz="6150" b="1" dirty="0">
                <a:solidFill>
                  <a:srgbClr val="0F151A"/>
                </a:solidFill>
                <a:latin typeface="Quicksand"/>
              </a:rPr>
              <a:t>Successful Implementation of Data Analysis</a:t>
            </a:r>
          </a:p>
        </p:txBody>
      </p:sp>
      <p:sp>
        <p:nvSpPr>
          <p:cNvPr id="6" name="TextBox 5"/>
          <p:cNvSpPr txBox="1"/>
          <p:nvPr/>
        </p:nvSpPr>
        <p:spPr>
          <a:xfrm>
            <a:off x="9634540" y="3724274"/>
            <a:ext cx="7362824" cy="5514975"/>
          </a:xfrm>
          <a:prstGeom prst="rect">
            <a:avLst/>
          </a:prstGeom>
          <a:noFill/>
        </p:spPr>
        <p:txBody>
          <a:bodyPr wrap="square">
            <a:spAutoFit/>
          </a:bodyPr>
          <a:lstStyle/>
          <a:p>
            <a:pPr algn="l">
              <a:buChar char="•"/>
            </a:pPr>
            <a:r>
              <a:rPr sz="3000" dirty="0">
                <a:solidFill>
                  <a:srgbClr val="323E47"/>
                </a:solidFill>
                <a:latin typeface="Quicksand"/>
              </a:rPr>
              <a:t>Robust </a:t>
            </a:r>
            <a:r>
              <a:rPr sz="3000" i="1" dirty="0">
                <a:solidFill>
                  <a:srgbClr val="323E47"/>
                </a:solidFill>
                <a:latin typeface="Quicksand"/>
              </a:rPr>
              <a:t>data governance</a:t>
            </a:r>
            <a:r>
              <a:rPr sz="3000" dirty="0">
                <a:solidFill>
                  <a:srgbClr val="323E47"/>
                </a:solidFill>
                <a:latin typeface="Quicksand"/>
              </a:rPr>
              <a:t> (data management) is foundational.</a:t>
            </a:r>
          </a:p>
          <a:p>
            <a:endParaRPr sz="3000" dirty="0">
              <a:solidFill>
                <a:srgbClr val="323E47"/>
              </a:solidFill>
              <a:latin typeface="Quicksand"/>
            </a:endParaRPr>
          </a:p>
          <a:p>
            <a:pPr algn="l">
              <a:buChar char="•"/>
            </a:pPr>
            <a:r>
              <a:rPr sz="3000" dirty="0">
                <a:solidFill>
                  <a:srgbClr val="323E47"/>
                </a:solidFill>
                <a:latin typeface="Quicksand"/>
              </a:rPr>
              <a:t>Advanced </a:t>
            </a:r>
            <a:r>
              <a:rPr sz="3000" i="1" dirty="0">
                <a:solidFill>
                  <a:srgbClr val="323E47"/>
                </a:solidFill>
                <a:latin typeface="Quicksand"/>
              </a:rPr>
              <a:t>machine learning</a:t>
            </a:r>
            <a:r>
              <a:rPr sz="3000" dirty="0">
                <a:solidFill>
                  <a:srgbClr val="323E47"/>
                </a:solidFill>
                <a:latin typeface="Quicksand"/>
              </a:rPr>
              <a:t> (AI algorithms) models enhance detection.</a:t>
            </a:r>
          </a:p>
          <a:p>
            <a:endParaRPr sz="3000" dirty="0">
              <a:solidFill>
                <a:srgbClr val="323E47"/>
              </a:solidFill>
              <a:latin typeface="Quicksand"/>
            </a:endParaRPr>
          </a:p>
          <a:p>
            <a:pPr algn="l">
              <a:buChar char="•"/>
            </a:pPr>
            <a:r>
              <a:rPr sz="3000" dirty="0">
                <a:solidFill>
                  <a:srgbClr val="323E47"/>
                </a:solidFill>
                <a:latin typeface="Quicksand"/>
              </a:rPr>
              <a:t>Cross-functional </a:t>
            </a:r>
            <a:r>
              <a:rPr sz="3000" i="1" dirty="0">
                <a:solidFill>
                  <a:srgbClr val="323E47"/>
                </a:solidFill>
                <a:latin typeface="Quicksand"/>
              </a:rPr>
              <a:t>collaboration</a:t>
            </a:r>
            <a:r>
              <a:rPr sz="3000" dirty="0">
                <a:solidFill>
                  <a:srgbClr val="323E47"/>
                </a:solidFill>
                <a:latin typeface="Quicksand"/>
              </a:rPr>
              <a:t> (teamwork) ensures comprehensive insights.</a:t>
            </a:r>
          </a:p>
          <a:p>
            <a:endParaRPr sz="3000" dirty="0">
              <a:solidFill>
                <a:srgbClr val="323E47"/>
              </a:solidFill>
              <a:latin typeface="Quicksand"/>
            </a:endParaRPr>
          </a:p>
          <a:p>
            <a:pPr algn="l">
              <a:buChar char="•"/>
            </a:pPr>
            <a:r>
              <a:rPr sz="3000" dirty="0">
                <a:solidFill>
                  <a:srgbClr val="323E47"/>
                </a:solidFill>
                <a:latin typeface="Quicksand"/>
              </a:rPr>
              <a:t>Continuous </a:t>
            </a:r>
            <a:r>
              <a:rPr sz="3000" i="1" dirty="0">
                <a:solidFill>
                  <a:srgbClr val="323E47"/>
                </a:solidFill>
                <a:latin typeface="Quicksand"/>
              </a:rPr>
              <a:t>model validation</a:t>
            </a:r>
            <a:r>
              <a:rPr sz="3000" dirty="0">
                <a:solidFill>
                  <a:srgbClr val="323E47"/>
                </a:solidFill>
                <a:latin typeface="Quicksand"/>
              </a:rPr>
              <a:t> (performance monitoring) is essential.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80f05359-6ef5-401c-9589-81d788b8883b.jpg"/>
          <p:cNvPicPr>
            <a:picLocks noChangeAspect="1"/>
          </p:cNvPicPr>
          <p:nvPr/>
        </p:nvPicPr>
        <p:blipFill>
          <a:blip r:embed="rId2"/>
          <a:stretch>
            <a:fillRect/>
          </a:stretch>
        </p:blipFill>
        <p:spPr>
          <a:xfrm>
            <a:off x="3171825" y="4933950"/>
            <a:ext cx="4076699" cy="4076699"/>
          </a:xfrm>
          <a:prstGeom prst="rect">
            <a:avLst/>
          </a:prstGeom>
        </p:spPr>
      </p:pic>
      <p:pic>
        <p:nvPicPr>
          <p:cNvPr id="3" name="Picture 2" descr="7ba524ec-b6f4-4f06-83ad-4021900a2682.png"/>
          <p:cNvPicPr>
            <a:picLocks noChangeAspect="1"/>
          </p:cNvPicPr>
          <p:nvPr/>
        </p:nvPicPr>
        <p:blipFill>
          <a:blip r:embed="rId3"/>
          <a:stretch>
            <a:fillRect/>
          </a:stretch>
        </p:blipFill>
        <p:spPr>
          <a:xfrm>
            <a:off x="16754474" y="8858250"/>
            <a:ext cx="761999" cy="761999"/>
          </a:xfrm>
          <a:prstGeom prst="rect">
            <a:avLst/>
          </a:prstGeom>
        </p:spPr>
      </p:pic>
      <p:sp>
        <p:nvSpPr>
          <p:cNvPr id="4" name="TextBox 3"/>
          <p:cNvSpPr txBox="1"/>
          <p:nvPr/>
        </p:nvSpPr>
        <p:spPr>
          <a:xfrm>
            <a:off x="1276351" y="420007"/>
            <a:ext cx="7867649" cy="3352800"/>
          </a:xfrm>
          <a:prstGeom prst="rect">
            <a:avLst/>
          </a:prstGeom>
          <a:noFill/>
        </p:spPr>
        <p:txBody>
          <a:bodyPr wrap="square">
            <a:spAutoFit/>
          </a:bodyPr>
          <a:lstStyle/>
          <a:p>
            <a:pPr algn="l">
              <a:lnSpc>
                <a:spcPct val="110000"/>
              </a:lnSpc>
            </a:pPr>
            <a:r>
              <a:rPr sz="6000" b="1" dirty="0">
                <a:solidFill>
                  <a:srgbClr val="0F151A"/>
                </a:solidFill>
                <a:latin typeface="Quicksand"/>
              </a:rPr>
              <a:t>IMPLEMENTATION OF CONTINUOUS MONITORING AND SURVEILLANCE</a:t>
            </a:r>
          </a:p>
        </p:txBody>
      </p:sp>
      <p:sp>
        <p:nvSpPr>
          <p:cNvPr id="5" name="TextBox 4"/>
          <p:cNvSpPr txBox="1"/>
          <p:nvPr/>
        </p:nvSpPr>
        <p:spPr>
          <a:xfrm>
            <a:off x="9525000" y="2898576"/>
            <a:ext cx="7486650" cy="457200"/>
          </a:xfrm>
          <a:prstGeom prst="rect">
            <a:avLst/>
          </a:prstGeom>
          <a:noFill/>
        </p:spPr>
        <p:txBody>
          <a:bodyPr wrap="square">
            <a:spAutoFit/>
          </a:bodyPr>
          <a:lstStyle/>
          <a:p>
            <a:pPr algn="l">
              <a:lnSpc>
                <a:spcPct val="120000"/>
              </a:lnSpc>
            </a:pPr>
            <a:r>
              <a:rPr sz="3000" b="1">
                <a:solidFill>
                  <a:srgbClr val="0F151A"/>
                </a:solidFill>
                <a:latin typeface="Quicksand"/>
              </a:rPr>
              <a:t>Data Ingestion</a:t>
            </a:r>
          </a:p>
        </p:txBody>
      </p:sp>
      <p:sp>
        <p:nvSpPr>
          <p:cNvPr id="6" name="TextBox 5"/>
          <p:cNvSpPr txBox="1"/>
          <p:nvPr/>
        </p:nvSpPr>
        <p:spPr>
          <a:xfrm>
            <a:off x="9525000" y="3498651"/>
            <a:ext cx="7486650" cy="1119782"/>
          </a:xfrm>
          <a:prstGeom prst="rect">
            <a:avLst/>
          </a:prstGeom>
          <a:noFill/>
        </p:spPr>
        <p:txBody>
          <a:bodyPr wrap="square">
            <a:spAutoFit/>
          </a:bodyPr>
          <a:lstStyle/>
          <a:p>
            <a:pPr algn="l">
              <a:lnSpc>
                <a:spcPct val="140000"/>
              </a:lnSpc>
            </a:pPr>
            <a:r>
              <a:rPr sz="2100">
                <a:solidFill>
                  <a:srgbClr val="323E47"/>
                </a:solidFill>
                <a:latin typeface="Quicksand"/>
              </a:rPr>
              <a:t>Aggregating diverse data streams, such as transactional logs (records of system activities) and network traffic, for comprehensive analysis.</a:t>
            </a:r>
          </a:p>
        </p:txBody>
      </p:sp>
      <p:sp>
        <p:nvSpPr>
          <p:cNvPr id="7" name="TextBox 6"/>
          <p:cNvSpPr txBox="1"/>
          <p:nvPr/>
        </p:nvSpPr>
        <p:spPr>
          <a:xfrm>
            <a:off x="9525000" y="5094684"/>
            <a:ext cx="7486650" cy="457200"/>
          </a:xfrm>
          <a:prstGeom prst="rect">
            <a:avLst/>
          </a:prstGeom>
          <a:noFill/>
        </p:spPr>
        <p:txBody>
          <a:bodyPr wrap="square">
            <a:spAutoFit/>
          </a:bodyPr>
          <a:lstStyle/>
          <a:p>
            <a:pPr algn="l">
              <a:lnSpc>
                <a:spcPct val="120000"/>
              </a:lnSpc>
            </a:pPr>
            <a:r>
              <a:rPr sz="3000" b="1">
                <a:solidFill>
                  <a:srgbClr val="0F151A"/>
                </a:solidFill>
                <a:latin typeface="Quicksand"/>
              </a:rPr>
              <a:t>Real-time Analytics</a:t>
            </a:r>
          </a:p>
        </p:txBody>
      </p:sp>
      <p:sp>
        <p:nvSpPr>
          <p:cNvPr id="8" name="TextBox 7"/>
          <p:cNvSpPr txBox="1"/>
          <p:nvPr/>
        </p:nvSpPr>
        <p:spPr>
          <a:xfrm>
            <a:off x="9525000" y="5694759"/>
            <a:ext cx="7486650" cy="1119782"/>
          </a:xfrm>
          <a:prstGeom prst="rect">
            <a:avLst/>
          </a:prstGeom>
          <a:noFill/>
        </p:spPr>
        <p:txBody>
          <a:bodyPr wrap="square">
            <a:spAutoFit/>
          </a:bodyPr>
          <a:lstStyle/>
          <a:p>
            <a:pPr algn="l">
              <a:lnSpc>
                <a:spcPct val="140000"/>
              </a:lnSpc>
            </a:pPr>
            <a:r>
              <a:rPr sz="2100">
                <a:solidFill>
                  <a:srgbClr val="323E47"/>
                </a:solidFill>
                <a:latin typeface="Quicksand"/>
              </a:rPr>
              <a:t>Employing machine learning algorithms, like unsupervised learning (identifying patterns without prior labels), to detect anomalies instantaneously.</a:t>
            </a:r>
          </a:p>
        </p:txBody>
      </p:sp>
      <p:sp>
        <p:nvSpPr>
          <p:cNvPr id="9" name="TextBox 8"/>
          <p:cNvSpPr txBox="1"/>
          <p:nvPr/>
        </p:nvSpPr>
        <p:spPr>
          <a:xfrm>
            <a:off x="9525000" y="7290792"/>
            <a:ext cx="7486650" cy="457200"/>
          </a:xfrm>
          <a:prstGeom prst="rect">
            <a:avLst/>
          </a:prstGeom>
          <a:noFill/>
        </p:spPr>
        <p:txBody>
          <a:bodyPr wrap="square">
            <a:spAutoFit/>
          </a:bodyPr>
          <a:lstStyle/>
          <a:p>
            <a:pPr algn="l">
              <a:lnSpc>
                <a:spcPct val="120000"/>
              </a:lnSpc>
            </a:pPr>
            <a:r>
              <a:rPr sz="3000" b="1">
                <a:solidFill>
                  <a:srgbClr val="0F151A"/>
                </a:solidFill>
                <a:latin typeface="Quicksand"/>
              </a:rPr>
              <a:t>Automated Response</a:t>
            </a:r>
          </a:p>
        </p:txBody>
      </p:sp>
      <p:sp>
        <p:nvSpPr>
          <p:cNvPr id="10" name="TextBox 9"/>
          <p:cNvSpPr txBox="1"/>
          <p:nvPr/>
        </p:nvSpPr>
        <p:spPr>
          <a:xfrm>
            <a:off x="9525000" y="7890867"/>
            <a:ext cx="7486650" cy="1119782"/>
          </a:xfrm>
          <a:prstGeom prst="rect">
            <a:avLst/>
          </a:prstGeom>
          <a:noFill/>
        </p:spPr>
        <p:txBody>
          <a:bodyPr wrap="square">
            <a:spAutoFit/>
          </a:bodyPr>
          <a:lstStyle/>
          <a:p>
            <a:pPr algn="l">
              <a:lnSpc>
                <a:spcPct val="140000"/>
              </a:lnSpc>
            </a:pPr>
            <a:r>
              <a:rPr sz="2100">
                <a:solidFill>
                  <a:srgbClr val="323E47"/>
                </a:solidFill>
                <a:latin typeface="Quicksand"/>
              </a:rPr>
              <a:t>Orchestrating automated actions, such as flagging suspicious transactions or initiating user authentication challenges, upon anomaly detection.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5dcdd867-a348-45e5-9259-2526a324937f.png"/>
          <p:cNvPicPr>
            <a:picLocks noChangeAspect="1"/>
          </p:cNvPicPr>
          <p:nvPr/>
        </p:nvPicPr>
        <p:blipFill>
          <a:blip r:embed="rId2"/>
          <a:stretch>
            <a:fillRect/>
          </a:stretch>
        </p:blipFill>
        <p:spPr>
          <a:xfrm>
            <a:off x="314324" y="6484710"/>
            <a:ext cx="2381250" cy="3676649"/>
          </a:xfrm>
          <a:prstGeom prst="rect">
            <a:avLst/>
          </a:prstGeom>
        </p:spPr>
      </p:pic>
      <p:pic>
        <p:nvPicPr>
          <p:cNvPr id="3" name="Picture 2" descr="7ba524ec-b6f4-4f06-83ad-4021900a2682.png"/>
          <p:cNvPicPr>
            <a:picLocks noChangeAspect="1"/>
          </p:cNvPicPr>
          <p:nvPr/>
        </p:nvPicPr>
        <p:blipFill>
          <a:blip r:embed="rId3"/>
          <a:stretch>
            <a:fillRect/>
          </a:stretch>
        </p:blipFill>
        <p:spPr>
          <a:xfrm>
            <a:off x="16754474" y="8858250"/>
            <a:ext cx="761999" cy="761999"/>
          </a:xfrm>
          <a:prstGeom prst="rect">
            <a:avLst/>
          </a:prstGeom>
        </p:spPr>
      </p:pic>
      <p:sp>
        <p:nvSpPr>
          <p:cNvPr id="4" name="TextBox 3"/>
          <p:cNvSpPr txBox="1"/>
          <p:nvPr/>
        </p:nvSpPr>
        <p:spPr>
          <a:xfrm>
            <a:off x="3623127" y="641350"/>
            <a:ext cx="13334999" cy="1645741"/>
          </a:xfrm>
          <a:prstGeom prst="rect">
            <a:avLst/>
          </a:prstGeom>
          <a:noFill/>
        </p:spPr>
        <p:txBody>
          <a:bodyPr wrap="square">
            <a:spAutoFit/>
          </a:bodyPr>
          <a:lstStyle/>
          <a:p>
            <a:pPr algn="l">
              <a:lnSpc>
                <a:spcPct val="120000"/>
              </a:lnSpc>
            </a:pPr>
            <a:r>
              <a:rPr sz="5400" b="1" dirty="0">
                <a:solidFill>
                  <a:srgbClr val="323E47"/>
                </a:solidFill>
                <a:latin typeface="Quicksand"/>
              </a:rPr>
              <a:t>Future of Fraud Detection: Beyond Current Paradigms?</a:t>
            </a:r>
          </a:p>
        </p:txBody>
      </p:sp>
      <p:sp>
        <p:nvSpPr>
          <p:cNvPr id="5" name="TextBox 4"/>
          <p:cNvSpPr txBox="1"/>
          <p:nvPr/>
        </p:nvSpPr>
        <p:spPr>
          <a:xfrm>
            <a:off x="3623126" y="3146156"/>
            <a:ext cx="13334999" cy="3733799"/>
          </a:xfrm>
          <a:prstGeom prst="rect">
            <a:avLst/>
          </a:prstGeom>
          <a:noFill/>
        </p:spPr>
        <p:txBody>
          <a:bodyPr wrap="square">
            <a:spAutoFit/>
          </a:bodyPr>
          <a:lstStyle/>
          <a:p>
            <a:pPr algn="l">
              <a:lnSpc>
                <a:spcPct val="140000"/>
              </a:lnSpc>
            </a:pPr>
            <a:r>
              <a:rPr sz="3000" dirty="0">
                <a:solidFill>
                  <a:srgbClr val="323E47"/>
                </a:solidFill>
                <a:latin typeface="Quicksand"/>
              </a:rPr>
              <a:t>Considering the evolving sophistication of financial crime, how can we proactively leverage emerging technologies like </a:t>
            </a:r>
            <a:r>
              <a:rPr sz="3000" i="1" dirty="0">
                <a:solidFill>
                  <a:srgbClr val="323E47"/>
                </a:solidFill>
                <a:latin typeface="Quicksand"/>
              </a:rPr>
              <a:t>quantum computing</a:t>
            </a:r>
            <a:r>
              <a:rPr sz="3000" dirty="0">
                <a:solidFill>
                  <a:srgbClr val="323E47"/>
                </a:solidFill>
                <a:latin typeface="Quicksand"/>
              </a:rPr>
              <a:t> (which uses quantum-mechanical phenomena such as superposition and entanglement to perform computations) or </a:t>
            </a:r>
            <a:r>
              <a:rPr sz="3000" i="1" dirty="0">
                <a:solidFill>
                  <a:srgbClr val="323E47"/>
                </a:solidFill>
                <a:latin typeface="Quicksand"/>
              </a:rPr>
              <a:t>neuromorphic engineering</a:t>
            </a:r>
            <a:r>
              <a:rPr sz="3000" dirty="0">
                <a:solidFill>
                  <a:srgbClr val="323E47"/>
                </a:solidFill>
                <a:latin typeface="Quicksand"/>
              </a:rPr>
              <a:t> (which designs hardware to mimic the brain's structure and function) to anticipate and neutralize novel fraud schemes before they materialize, moving beyond reactive data analysis and digital forensics?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7ba524ec-b6f4-4f06-83ad-4021900a2682.png"/>
          <p:cNvPicPr>
            <a:picLocks noChangeAspect="1"/>
          </p:cNvPicPr>
          <p:nvPr/>
        </p:nvPicPr>
        <p:blipFill>
          <a:blip r:embed="rId2"/>
          <a:stretch>
            <a:fillRect/>
          </a:stretch>
        </p:blipFill>
        <p:spPr>
          <a:xfrm>
            <a:off x="16754474" y="8858250"/>
            <a:ext cx="761999" cy="761999"/>
          </a:xfrm>
          <a:prstGeom prst="rect">
            <a:avLst/>
          </a:prstGeom>
        </p:spPr>
      </p:pic>
      <p:sp>
        <p:nvSpPr>
          <p:cNvPr id="3" name="TextBox 2"/>
          <p:cNvSpPr txBox="1"/>
          <p:nvPr/>
        </p:nvSpPr>
        <p:spPr>
          <a:xfrm>
            <a:off x="1371600" y="1695449"/>
            <a:ext cx="6248400" cy="1005780"/>
          </a:xfrm>
          <a:prstGeom prst="rect">
            <a:avLst/>
          </a:prstGeom>
          <a:noFill/>
        </p:spPr>
        <p:txBody>
          <a:bodyPr wrap="square">
            <a:spAutoFit/>
          </a:bodyPr>
          <a:lstStyle/>
          <a:p>
            <a:pPr algn="l">
              <a:lnSpc>
                <a:spcPct val="110000"/>
              </a:lnSpc>
            </a:pPr>
            <a:r>
              <a:rPr sz="7200" b="1">
                <a:solidFill>
                  <a:srgbClr val="0F151A"/>
                </a:solidFill>
                <a:latin typeface="Quicksand"/>
              </a:rPr>
              <a:t>Conclusion</a:t>
            </a:r>
          </a:p>
        </p:txBody>
      </p:sp>
      <p:sp>
        <p:nvSpPr>
          <p:cNvPr id="4" name="TextBox 3"/>
          <p:cNvSpPr txBox="1"/>
          <p:nvPr/>
        </p:nvSpPr>
        <p:spPr>
          <a:xfrm>
            <a:off x="7619999" y="1585912"/>
            <a:ext cx="9391649" cy="7115175"/>
          </a:xfrm>
          <a:prstGeom prst="rect">
            <a:avLst/>
          </a:prstGeom>
          <a:noFill/>
        </p:spPr>
        <p:txBody>
          <a:bodyPr wrap="square">
            <a:spAutoFit/>
          </a:bodyPr>
          <a:lstStyle/>
          <a:p>
            <a:pPr algn="l">
              <a:buChar char="•"/>
            </a:pPr>
            <a:r>
              <a:rPr sz="3000">
                <a:solidFill>
                  <a:srgbClr val="323E47"/>
                </a:solidFill>
                <a:latin typeface="Quicksand"/>
              </a:rPr>
              <a:t>Effective fraud detection necessitates sophisticated data analysis, moving beyond traditional auditing methods for comprehensive insights.</a:t>
            </a:r>
          </a:p>
          <a:p>
            <a:endParaRPr sz="3000">
              <a:solidFill>
                <a:srgbClr val="323E47"/>
              </a:solidFill>
              <a:latin typeface="Quicksand"/>
            </a:endParaRPr>
          </a:p>
          <a:p>
            <a:pPr algn="l">
              <a:buChar char="•"/>
            </a:pPr>
            <a:r>
              <a:rPr sz="3000">
                <a:solidFill>
                  <a:srgbClr val="323E47"/>
                </a:solidFill>
                <a:latin typeface="Quicksand"/>
              </a:rPr>
              <a:t>Data profiling and qualitative analysis are crucial for identifying anomalous patterns and behavioral red flags in complex datasets.</a:t>
            </a:r>
          </a:p>
          <a:p>
            <a:endParaRPr sz="3000">
              <a:solidFill>
                <a:srgbClr val="323E47"/>
              </a:solidFill>
              <a:latin typeface="Quicksand"/>
            </a:endParaRPr>
          </a:p>
          <a:p>
            <a:pPr algn="l">
              <a:buChar char="•"/>
            </a:pPr>
            <a:r>
              <a:rPr sz="3000">
                <a:solidFill>
                  <a:srgbClr val="323E47"/>
                </a:solidFill>
                <a:latin typeface="Quicksand"/>
              </a:rPr>
              <a:t>The OLAF approach provides a structured framework for robust data analysis in combating financial fraud effectively.</a:t>
            </a:r>
          </a:p>
          <a:p>
            <a:endParaRPr sz="3000">
              <a:solidFill>
                <a:srgbClr val="323E47"/>
              </a:solidFill>
              <a:latin typeface="Quicksand"/>
            </a:endParaRPr>
          </a:p>
          <a:p>
            <a:pPr algn="l">
              <a:buChar char="•"/>
            </a:pPr>
            <a:r>
              <a:rPr sz="3000">
                <a:solidFill>
                  <a:srgbClr val="323E47"/>
                </a:solidFill>
                <a:latin typeface="Quicksand"/>
              </a:rPr>
              <a:t>Successful implementation requires continuous monitoring and surveillance, integrating advanced technologies for proactive fraud prevention.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1098</TotalTime>
  <Words>906</Words>
  <Application>Microsoft Office PowerPoint</Application>
  <PresentationFormat>Custom</PresentationFormat>
  <Paragraphs>86</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Cambria Math</vt:lpstr>
      <vt:lpstr>Quicksand</vt:lpstr>
      <vt:lpstr>Rubik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Aaron Nyakapanda</cp:lastModifiedBy>
  <cp:revision>3</cp:revision>
  <dcterms:created xsi:type="dcterms:W3CDTF">2013-01-27T09:14:16Z</dcterms:created>
  <dcterms:modified xsi:type="dcterms:W3CDTF">2026-07-27T08:25:34Z</dcterms:modified>
  <cp:category/>
</cp:coreProperties>
</file>