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25" r:id="rId52"/>
    <p:sldId id="306" r:id="rId53"/>
    <p:sldId id="307" r:id="rId54"/>
    <p:sldId id="310" r:id="rId55"/>
    <p:sldId id="311" r:id="rId56"/>
    <p:sldId id="312" r:id="rId57"/>
    <p:sldId id="308" r:id="rId58"/>
    <p:sldId id="309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35" r:id="rId70"/>
    <p:sldId id="336" r:id="rId71"/>
    <p:sldId id="337" r:id="rId72"/>
    <p:sldId id="323" r:id="rId73"/>
    <p:sldId id="324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8" r:id="rId84"/>
    <p:sldId id="339" r:id="rId85"/>
    <p:sldId id="340" r:id="rId86"/>
    <p:sldId id="341" r:id="rId87"/>
    <p:sldId id="343" r:id="rId88"/>
    <p:sldId id="344" r:id="rId89"/>
    <p:sldId id="347" r:id="rId90"/>
    <p:sldId id="346" r:id="rId91"/>
    <p:sldId id="345" r:id="rId92"/>
    <p:sldId id="342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62" r:id="rId102"/>
    <p:sldId id="363" r:id="rId103"/>
    <p:sldId id="364" r:id="rId104"/>
    <p:sldId id="365" r:id="rId105"/>
    <p:sldId id="366" r:id="rId106"/>
    <p:sldId id="367" r:id="rId107"/>
    <p:sldId id="368" r:id="rId108"/>
    <p:sldId id="369" r:id="rId109"/>
    <p:sldId id="370" r:id="rId110"/>
    <p:sldId id="356" r:id="rId111"/>
    <p:sldId id="357" r:id="rId112"/>
    <p:sldId id="358" r:id="rId113"/>
    <p:sldId id="359" r:id="rId114"/>
    <p:sldId id="360" r:id="rId115"/>
    <p:sldId id="361" r:id="rId116"/>
    <p:sldId id="371" r:id="rId117"/>
    <p:sldId id="372" r:id="rId118"/>
    <p:sldId id="373" r:id="rId119"/>
    <p:sldId id="374" r:id="rId1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62124-BEEB-4F73-ADD5-C8CA96A5C086}" type="datetimeFigureOut">
              <a:rPr lang="LID4096" smtClean="0"/>
              <a:t>11/10/2025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4ABB97-D211-49C7-9E92-9C2D1ED0604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0576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8333FAD-F688-4577-934F-86982430EA1D}" type="datetime1">
              <a:rPr lang="LID4096" smtClean="0"/>
              <a:t>11/10/2025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B6A696A9-F8BE-4CDF-8FE7-13268F79529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05055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2951-86AC-46EF-BF18-4E768F736E28}" type="datetime1">
              <a:rPr lang="LID4096" smtClean="0"/>
              <a:t>11/10/2025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50839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76E0A-7A5A-43E7-A87C-3DC9EF779797}" type="datetime1">
              <a:rPr lang="LID4096" smtClean="0"/>
              <a:t>11/10/2025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08752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A6D36-8330-44A8-BE74-0037B25A5910}" type="datetime1">
              <a:rPr lang="LID4096" smtClean="0"/>
              <a:t>11/10/2025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777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68F5-02E6-4B83-BDC2-5BF015836F8A}" type="datetime1">
              <a:rPr lang="LID4096" smtClean="0"/>
              <a:t>11/10/2025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38494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B9DC5-E6C4-435A-AAE2-AC219241279D}" type="datetime1">
              <a:rPr lang="LID4096" smtClean="0"/>
              <a:t>11/10/2025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5247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11AF-87F1-434F-9076-05BD276BEF02}" type="datetime1">
              <a:rPr lang="LID4096" smtClean="0"/>
              <a:t>11/10/2025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9534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4AFBA-F71E-40DB-B8AB-89B56A793A47}" type="datetime1">
              <a:rPr lang="LID4096" smtClean="0"/>
              <a:t>11/10/2025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76527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B55D4-1CFC-455A-8B8A-6A0069438137}" type="datetime1">
              <a:rPr lang="LID4096" smtClean="0"/>
              <a:t>11/10/2025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6729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8562C-AB1E-4B41-A566-1D04B0A8620D}" type="datetime1">
              <a:rPr lang="LID4096" smtClean="0"/>
              <a:t>11/10/2025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59585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D18B3-86E1-4881-A382-FD9D8073841A}" type="datetime1">
              <a:rPr lang="LID4096" smtClean="0"/>
              <a:t>11/10/2025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63375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C8E4D-37A5-4448-B7DA-1E08B7AE96AF}" type="datetime1">
              <a:rPr lang="LID4096" smtClean="0"/>
              <a:t>11/10/2025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‹#›</a:t>
            </a:fld>
            <a:endParaRPr lang="LID4096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090740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8084-9DEF-4DBE-9C5D-40428C33AC64}" type="datetime1">
              <a:rPr lang="LID4096" smtClean="0"/>
              <a:t>11/10/2025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021715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BDFD0-D809-41E9-AA8F-E2ABCF80841F}" type="datetime1">
              <a:rPr lang="LID4096" smtClean="0"/>
              <a:t>11/10/2025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17288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B7E75-F114-47D2-AB48-31A2C1A2C8D3}" type="datetime1">
              <a:rPr lang="LID4096" smtClean="0"/>
              <a:t>11/10/2025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577088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D775D-2752-4FBE-A9A6-A22E8CF36E1B}" type="datetime1">
              <a:rPr lang="LID4096" smtClean="0"/>
              <a:t>11/10/2025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307979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A8EE0-C3E1-4F7A-86DB-BA644DAA28A7}" type="datetime1">
              <a:rPr lang="LID4096" smtClean="0"/>
              <a:t>11/10/2025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66192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E9BD9-1F9C-4584-BD19-331056AB204F}" type="datetime1">
              <a:rPr lang="LID4096" smtClean="0"/>
              <a:t>11/10/2025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696A9-F8BE-4CDF-8FE7-13268F79529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542224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7" Type="http://schemas.openxmlformats.org/officeDocument/2006/relationships/image" Target="../media/image15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tmp"/><Relationship Id="rId5" Type="http://schemas.openxmlformats.org/officeDocument/2006/relationships/image" Target="../media/image13.tmp"/><Relationship Id="rId4" Type="http://schemas.openxmlformats.org/officeDocument/2006/relationships/image" Target="../media/image12.tmp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08499-7C77-49AA-AD5A-DC1CAB2CEE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Fraud Prevention &amp; Detection Technologies </a:t>
            </a:r>
            <a:endParaRPr lang="LID4096" sz="2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7E5A8E-0C4C-4855-952E-118DAAA81B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CYS339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2382441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A79BB4-BDA9-482E-910B-4CD9F6A6EF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DATA ANALYIS </a:t>
            </a:r>
            <a:endParaRPr lang="LID4096" b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973E6AB-07EA-4935-A84A-26F6EA05CB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UNIT 1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2164064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BDD6A-1C43-4226-A40F-070808B05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data analysis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54862-38B3-4BB3-9E7A-52E1A87B7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Data</a:t>
            </a:r>
            <a:r>
              <a:rPr lang="en-US" dirty="0"/>
              <a:t> are facts and statistics collected together for reference or analysis.</a:t>
            </a:r>
          </a:p>
          <a:p>
            <a:r>
              <a:rPr lang="en-US" dirty="0"/>
              <a:t> </a:t>
            </a:r>
            <a:r>
              <a:rPr lang="en-US" b="1" dirty="0"/>
              <a:t>Analysis</a:t>
            </a:r>
            <a:r>
              <a:rPr lang="en-US" dirty="0"/>
              <a:t> is a detailed examination of the elements or structure of something.</a:t>
            </a:r>
          </a:p>
          <a:p>
            <a:r>
              <a:rPr lang="en-US" dirty="0"/>
              <a:t> </a:t>
            </a:r>
            <a:r>
              <a:rPr lang="en-US" b="1" dirty="0"/>
              <a:t>Data analysis </a:t>
            </a:r>
            <a:r>
              <a:rPr lang="en-US" dirty="0"/>
              <a:t>is the process of examining raw data to draw conclusions about the information it contains, often using statistical techniques, to understand patterns, trends, and relationships. 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DD01B9-86FB-45A3-91F0-CC664A5A0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D34978-9E64-4B17-B4CD-087EBAB7C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72043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2571A-7C71-4C7F-BF13-A64B3FA63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Fraud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AD591-63DB-448E-A97D-D52229857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b="1" dirty="0"/>
              <a:t>Fraud</a:t>
            </a:r>
            <a:r>
              <a:rPr lang="en-US" dirty="0"/>
              <a:t> refers to the deliberate use of deception, dishonesty, or false representation to gain an unfair advantage, often resulting in financial or personal loss to the victim. </a:t>
            </a:r>
          </a:p>
          <a:p>
            <a:r>
              <a:rPr lang="en-US" dirty="0"/>
              <a:t>In the context of cybersecurity, fraud typically involves unauthorized access to systems, data theft, or manipulation of information for malicious purposes. </a:t>
            </a:r>
          </a:p>
          <a:p>
            <a:r>
              <a:rPr lang="en-US" dirty="0"/>
              <a:t>Examples include </a:t>
            </a:r>
            <a:r>
              <a:rPr lang="en-US" b="1" dirty="0"/>
              <a:t>identity theft</a:t>
            </a:r>
            <a:r>
              <a:rPr lang="en-US" dirty="0"/>
              <a:t>, </a:t>
            </a:r>
            <a:r>
              <a:rPr lang="en-US" b="1" dirty="0"/>
              <a:t>phishing</a:t>
            </a:r>
            <a:r>
              <a:rPr lang="en-US" dirty="0"/>
              <a:t>, </a:t>
            </a:r>
            <a:r>
              <a:rPr lang="en-US" b="1" dirty="0"/>
              <a:t>credit card fraud</a:t>
            </a:r>
            <a:r>
              <a:rPr lang="en-US" dirty="0"/>
              <a:t>, and </a:t>
            </a:r>
            <a:r>
              <a:rPr lang="en-US" b="1" dirty="0"/>
              <a:t>insider threats</a:t>
            </a:r>
            <a:r>
              <a:rPr lang="en-US" dirty="0"/>
              <a:t>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245197-5D00-4837-9C72-479A60EFC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PREPARED BY JAMES SOKO FOR MR. MUKOMBO MUKOMBO © 2025 KAPASA MAKASA UNIVERSITY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FC930-0276-49EA-86DD-B00582C38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9035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F1BB7-73A9-4FBF-835F-B2C32633A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Detection technologies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F5572-5D6F-4E4E-903E-80A75EC5B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Detection technologies </a:t>
            </a:r>
            <a:r>
              <a:rPr lang="en-US" dirty="0"/>
              <a:t>are tools, systems, or methodologies used to identify and respond to malicious activities, anomalies, or threats within a network or system. </a:t>
            </a:r>
          </a:p>
          <a:p>
            <a:r>
              <a:rPr lang="en-US" dirty="0"/>
              <a:t>These technologies are designed to monitor, analyze, and flag suspicious behavior, enabling organizations to mitigate risks and prevent cyber attacks. </a:t>
            </a:r>
          </a:p>
          <a:p>
            <a:r>
              <a:rPr lang="en-US" dirty="0"/>
              <a:t>Examples include </a:t>
            </a:r>
            <a:r>
              <a:rPr lang="en-US" b="1" dirty="0"/>
              <a:t>Intrusion Detection Systems (IDS)</a:t>
            </a:r>
            <a:r>
              <a:rPr lang="en-US" dirty="0"/>
              <a:t>,</a:t>
            </a:r>
            <a:r>
              <a:rPr lang="en-US" b="1" dirty="0"/>
              <a:t> firewalls</a:t>
            </a:r>
            <a:r>
              <a:rPr lang="en-US" dirty="0"/>
              <a:t>, </a:t>
            </a:r>
            <a:r>
              <a:rPr lang="en-US" b="1" dirty="0"/>
              <a:t>machine learning algorithms</a:t>
            </a:r>
            <a:r>
              <a:rPr lang="en-US" dirty="0"/>
              <a:t>, and </a:t>
            </a:r>
            <a:r>
              <a:rPr lang="en-US" b="1" dirty="0"/>
              <a:t>anomaly detection systems</a:t>
            </a:r>
            <a:r>
              <a:rPr lang="en-US" dirty="0"/>
              <a:t>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F3A9A3-2737-464C-85A5-199B1B999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C84B5A-FC71-4B40-9EA9-2EF5BBD16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92695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9D8B5-76CD-48AD-85B4-C9F44444B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Three Reasons Data Analysis is Must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D2A3A-C931-400A-83EE-8FBD4A75D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Improved Efficiency in Detecting and Preventing Cyber Threats</a:t>
            </a:r>
          </a:p>
          <a:p>
            <a:r>
              <a:rPr lang="en-US" dirty="0"/>
              <a:t> Data analysis </a:t>
            </a:r>
            <a:r>
              <a:rPr lang="en-US" b="1" dirty="0"/>
              <a:t>enhances the efficiency </a:t>
            </a:r>
            <a:r>
              <a:rPr lang="en-US" dirty="0"/>
              <a:t>of cybersecurity operations by automating the detection of anomalies and potential threats. </a:t>
            </a:r>
          </a:p>
          <a:p>
            <a:r>
              <a:rPr lang="en-US" dirty="0"/>
              <a:t>Advanced analytical tools, such as </a:t>
            </a:r>
            <a:r>
              <a:rPr lang="en-US" b="1" dirty="0"/>
              <a:t>Intrusion Detection Systems (IDS) </a:t>
            </a:r>
            <a:r>
              <a:rPr lang="en-US" dirty="0"/>
              <a:t>and </a:t>
            </a:r>
            <a:r>
              <a:rPr lang="en-US" b="1" dirty="0"/>
              <a:t>Security Information and Event Management (SIEM) </a:t>
            </a:r>
            <a:r>
              <a:rPr lang="en-US" dirty="0"/>
              <a:t>systems, process vast amounts of data in real-time to identify suspicious behavior. </a:t>
            </a:r>
          </a:p>
          <a:p>
            <a:r>
              <a:rPr lang="en-US" dirty="0"/>
              <a:t>This allows cybersecurity teams to respond quickly and effectively, minimizing downtime and preventing breaches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B6B36D-5609-4C53-ADFD-7B4C5C100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AD04C-BE5A-48AD-987C-9F30932C3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62380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355A8-6600-4220-B201-B2BEDB157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Three Reasons Data Analysis is Must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BF144-EB6A-49BB-AB3F-925FF0FA1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AutoNum type="arabicPeriod" startAt="2"/>
            </a:pPr>
            <a:r>
              <a:rPr lang="en-US" dirty="0"/>
              <a:t> </a:t>
            </a:r>
            <a:r>
              <a:rPr lang="en-US" b="1" dirty="0"/>
              <a:t>Enhanced Understanding of Attack Patterns and Vulnerabilities</a:t>
            </a:r>
          </a:p>
          <a:p>
            <a:r>
              <a:rPr lang="en-US" dirty="0"/>
              <a:t> Data analysis helps cybersecurity professionals </a:t>
            </a:r>
            <a:r>
              <a:rPr lang="en-US" b="1" dirty="0"/>
              <a:t>gain deeper insights </a:t>
            </a:r>
            <a:r>
              <a:rPr lang="en-US" dirty="0"/>
              <a:t>into attack patterns, tactics, and techniques used by malicious actors. </a:t>
            </a:r>
          </a:p>
          <a:p>
            <a:r>
              <a:rPr lang="en-US" dirty="0"/>
              <a:t>By analyzing historical attack data and threat intelligence, organizations can identify vulnerabilities in their systems and develop strategies to strengthen their defenses. </a:t>
            </a:r>
          </a:p>
          <a:p>
            <a:r>
              <a:rPr lang="en-US" dirty="0"/>
              <a:t>This proactive approach reduces the likelihood of successful cyberattacks and improves overall security posture.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545D5F-CCBE-4685-BC9E-727A5CA25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9E3AE9-232D-409F-A6ED-74690B043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53477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641C3-5157-4479-954E-B1F124572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Three Reasons Data Analysis is Must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01C7A-5954-4C03-82F7-26EA49589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AutoNum type="arabicPeriod" startAt="3"/>
            </a:pPr>
            <a:r>
              <a:rPr lang="en-US" dirty="0"/>
              <a:t> </a:t>
            </a:r>
            <a:r>
              <a:rPr lang="en-US" b="1" dirty="0"/>
              <a:t>Informed Decision-Making for Threat Response</a:t>
            </a:r>
          </a:p>
          <a:p>
            <a:r>
              <a:rPr lang="en-US" dirty="0"/>
              <a:t> Data analysis is critical in cybersecurity for making informed decisions about how to respond to threats and vulnerabilities. </a:t>
            </a:r>
          </a:p>
          <a:p>
            <a:r>
              <a:rPr lang="en-US" dirty="0"/>
              <a:t> By analyzing data from logs, network traffic, and security incidents, cybersecurity professionals can identify patterns of malicious activity, assess risks, and prioritize responses. </a:t>
            </a:r>
          </a:p>
          <a:p>
            <a:r>
              <a:rPr lang="en-US" dirty="0"/>
              <a:t>This enables organizations to take proactive measures to mitigate threats and reduce the impact of cyberattacks.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136012-6AA0-49E2-9F45-7516810B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29823C-B18C-405B-8AF5-37FEFC0A2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60387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3EA67-5A01-476E-8A14-10E8C9604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Analysis in Auditing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B7F59-FE3E-4732-96AF-18BCF4F07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 A cybersecurity </a:t>
            </a:r>
            <a:r>
              <a:rPr lang="en-US" b="1" dirty="0"/>
              <a:t>audit</a:t>
            </a:r>
            <a:r>
              <a:rPr lang="en-US" dirty="0"/>
              <a:t> is a process that includes the analysis of a company's IT infrastructure for </a:t>
            </a:r>
            <a:r>
              <a:rPr lang="en-US" b="1" dirty="0"/>
              <a:t>review</a:t>
            </a:r>
            <a:r>
              <a:rPr lang="en-US" dirty="0"/>
              <a:t> and improvement.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Purpose</a:t>
            </a:r>
            <a:r>
              <a:rPr lang="en-US" dirty="0"/>
              <a:t> </a:t>
            </a:r>
          </a:p>
          <a:p>
            <a:r>
              <a:rPr lang="en-US" dirty="0"/>
              <a:t>Data analysis in </a:t>
            </a:r>
            <a:r>
              <a:rPr lang="en-US" b="1" dirty="0"/>
              <a:t>auditing</a:t>
            </a:r>
            <a:r>
              <a:rPr lang="en-US" dirty="0"/>
              <a:t> is primarily used to assess the </a:t>
            </a:r>
            <a:r>
              <a:rPr lang="en-US" b="1" dirty="0"/>
              <a:t>accuracy</a:t>
            </a:r>
            <a:r>
              <a:rPr lang="en-US" dirty="0"/>
              <a:t>, </a:t>
            </a:r>
            <a:r>
              <a:rPr lang="en-US" b="1" dirty="0"/>
              <a:t>completeness</a:t>
            </a:r>
            <a:r>
              <a:rPr lang="en-US" dirty="0"/>
              <a:t>, and </a:t>
            </a:r>
            <a:r>
              <a:rPr lang="en-US" b="1" dirty="0"/>
              <a:t>reliability</a:t>
            </a:r>
            <a:r>
              <a:rPr lang="en-US" dirty="0"/>
              <a:t> of financial records and transactions.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Scope</a:t>
            </a:r>
          </a:p>
          <a:p>
            <a:r>
              <a:rPr lang="en-US" dirty="0"/>
              <a:t>Focuses on </a:t>
            </a:r>
            <a:r>
              <a:rPr lang="en-US" b="1" dirty="0"/>
              <a:t>evaluating internal controls</a:t>
            </a:r>
            <a:r>
              <a:rPr lang="en-US" dirty="0"/>
              <a:t>, </a:t>
            </a:r>
            <a:r>
              <a:rPr lang="en-US" b="1" dirty="0"/>
              <a:t>compliance with regulations</a:t>
            </a:r>
            <a:r>
              <a:rPr lang="en-US" dirty="0"/>
              <a:t>, and the </a:t>
            </a:r>
            <a:r>
              <a:rPr lang="en-US" b="1" dirty="0"/>
              <a:t>overall financial health </a:t>
            </a:r>
            <a:r>
              <a:rPr lang="en-US" dirty="0"/>
              <a:t>of an organization.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56C796-42E7-4DB8-96CE-EE322887C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09F2A5-7A05-4A7C-B5CD-25CA75AB6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52980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E3A98-6BB2-4CF5-BE06-397E13CEA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Analysis in Auditing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042C1-379E-4B79-AD55-0AE7C9C68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 </a:t>
            </a:r>
            <a:r>
              <a:rPr lang="en-US" b="1" dirty="0"/>
              <a:t>Tools and Techniques</a:t>
            </a:r>
          </a:p>
          <a:p>
            <a:r>
              <a:rPr lang="en-US" dirty="0"/>
              <a:t>Uses tools like </a:t>
            </a:r>
            <a:r>
              <a:rPr lang="en-US" b="1" dirty="0"/>
              <a:t>Computer-Assisted Audit Techniques (CAATs) </a:t>
            </a:r>
            <a:r>
              <a:rPr lang="en-US" dirty="0"/>
              <a:t>and software such as </a:t>
            </a:r>
            <a:r>
              <a:rPr lang="en-US" b="1" dirty="0"/>
              <a:t>ACL</a:t>
            </a:r>
            <a:r>
              <a:rPr lang="en-US" dirty="0"/>
              <a:t> or </a:t>
            </a:r>
            <a:r>
              <a:rPr lang="en-US" b="1" dirty="0"/>
              <a:t>IDEA</a:t>
            </a:r>
            <a:r>
              <a:rPr lang="en-US" dirty="0"/>
              <a:t>.</a:t>
            </a:r>
          </a:p>
          <a:p>
            <a:r>
              <a:rPr lang="en-GB" dirty="0"/>
              <a:t>Techniques include </a:t>
            </a:r>
            <a:r>
              <a:rPr lang="en-GB" b="1" dirty="0"/>
              <a:t>trend analysis</a:t>
            </a:r>
            <a:r>
              <a:rPr lang="en-GB" dirty="0"/>
              <a:t>, </a:t>
            </a:r>
            <a:r>
              <a:rPr lang="en-GB" b="1" dirty="0"/>
              <a:t>ratio analysis</a:t>
            </a:r>
            <a:r>
              <a:rPr lang="en-GB" dirty="0"/>
              <a:t>, and </a:t>
            </a:r>
            <a:r>
              <a:rPr lang="en-GB" b="1" dirty="0"/>
              <a:t>variance analysis.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b="1" dirty="0"/>
              <a:t> Outcome</a:t>
            </a:r>
          </a:p>
          <a:p>
            <a:r>
              <a:rPr lang="en-US" b="1" dirty="0"/>
              <a:t>Provides assurance </a:t>
            </a:r>
            <a:r>
              <a:rPr lang="en-US" dirty="0"/>
              <a:t>to stakeholders (e.g., shareholders, regulators) that financial statements are free from material misstatements.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FAC29-85A9-4A96-BE76-DC96EDE68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6C4D29-7AB3-4A06-AE58-490283CAF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4375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50E2C-C4C0-4E25-AB02-A8029327C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Data Analysis in Investigation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AEB6A-DAB9-49AE-A8F6-9FE3C351B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 </a:t>
            </a:r>
            <a:r>
              <a:rPr lang="en-US" b="1" dirty="0"/>
              <a:t>Investigation</a:t>
            </a:r>
            <a:r>
              <a:rPr lang="en-US" dirty="0"/>
              <a:t> is the act or process of </a:t>
            </a:r>
            <a:r>
              <a:rPr lang="en-US" b="1" dirty="0"/>
              <a:t>examining</a:t>
            </a:r>
            <a:r>
              <a:rPr lang="en-US" dirty="0"/>
              <a:t> a crime, problem, statement, etc.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Purpose</a:t>
            </a:r>
            <a:r>
              <a:rPr lang="en-US" dirty="0"/>
              <a:t> </a:t>
            </a:r>
          </a:p>
          <a:p>
            <a:r>
              <a:rPr lang="en-US" dirty="0"/>
              <a:t>Data analysis in investigations is </a:t>
            </a:r>
            <a:r>
              <a:rPr lang="en-US" b="1" dirty="0"/>
              <a:t>used to uncover evidence </a:t>
            </a:r>
            <a:r>
              <a:rPr lang="en-US" dirty="0"/>
              <a:t>of fraud, misconduct, or illegal activities.</a:t>
            </a:r>
          </a:p>
          <a:p>
            <a:r>
              <a:rPr lang="en-US" dirty="0"/>
              <a:t>It aims to </a:t>
            </a:r>
            <a:r>
              <a:rPr lang="en-US" b="1" dirty="0"/>
              <a:t>identify the root cause </a:t>
            </a:r>
            <a:r>
              <a:rPr lang="en-US" dirty="0"/>
              <a:t>of issues and determine accountability.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Scope</a:t>
            </a:r>
            <a:r>
              <a:rPr lang="en-US" dirty="0"/>
              <a:t> </a:t>
            </a:r>
          </a:p>
          <a:p>
            <a:r>
              <a:rPr lang="en-US" b="1" dirty="0"/>
              <a:t>Focuses on specific incidents </a:t>
            </a:r>
            <a:r>
              <a:rPr lang="en-US" dirty="0"/>
              <a:t>or allegations, often requiring a deep dive into detailed transactional data.</a:t>
            </a:r>
          </a:p>
          <a:p>
            <a:r>
              <a:rPr lang="en-US" dirty="0"/>
              <a:t>Involves </a:t>
            </a:r>
            <a:r>
              <a:rPr lang="en-US" b="1" dirty="0"/>
              <a:t>examining all relevant data </a:t>
            </a:r>
            <a:r>
              <a:rPr lang="en-US" dirty="0"/>
              <a:t>rather than relying on sampling.</a:t>
            </a:r>
          </a:p>
          <a:p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35989B-A3C0-423F-8033-E3F95D8E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79FE1-FF5E-4C81-8099-84CD6D25E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89406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3DD4-36CB-4408-9FFD-CDAFB62A6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Data Analysis in Investigation (Continues…) 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9F8A2-F9D4-46B9-9175-9BF413C68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Tools and Techniques</a:t>
            </a:r>
          </a:p>
          <a:p>
            <a:r>
              <a:rPr lang="en-US" dirty="0"/>
              <a:t>Uses forensic data analysis tools like </a:t>
            </a:r>
            <a:r>
              <a:rPr lang="en-US" b="1" dirty="0"/>
              <a:t>EnCase</a:t>
            </a:r>
            <a:r>
              <a:rPr lang="en-US" dirty="0"/>
              <a:t>, </a:t>
            </a:r>
            <a:r>
              <a:rPr lang="en-US" b="1" dirty="0"/>
              <a:t>FTK</a:t>
            </a:r>
            <a:r>
              <a:rPr lang="en-US" dirty="0"/>
              <a:t>, or </a:t>
            </a:r>
            <a:r>
              <a:rPr lang="en-US" b="1" dirty="0"/>
              <a:t>Tableau</a:t>
            </a:r>
            <a:r>
              <a:rPr lang="en-US" dirty="0"/>
              <a:t> for visualization.</a:t>
            </a:r>
          </a:p>
          <a:p>
            <a:r>
              <a:rPr lang="en-US" dirty="0"/>
              <a:t>Techniques include </a:t>
            </a:r>
            <a:r>
              <a:rPr lang="en-US" b="1" dirty="0"/>
              <a:t>link analysis</a:t>
            </a:r>
            <a:r>
              <a:rPr lang="en-US" dirty="0"/>
              <a:t>, </a:t>
            </a:r>
            <a:r>
              <a:rPr lang="en-US" b="1" dirty="0"/>
              <a:t>pattern recognition</a:t>
            </a:r>
            <a:r>
              <a:rPr lang="en-US" dirty="0"/>
              <a:t>, and </a:t>
            </a:r>
            <a:r>
              <a:rPr lang="en-US" b="1" dirty="0"/>
              <a:t>anomaly detection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Outcome</a:t>
            </a:r>
            <a:r>
              <a:rPr lang="en-US" dirty="0"/>
              <a:t> </a:t>
            </a:r>
          </a:p>
          <a:p>
            <a:r>
              <a:rPr lang="en-US" b="1" dirty="0"/>
              <a:t>Provides actionable evidence for legal proceedings</a:t>
            </a:r>
            <a:r>
              <a:rPr lang="en-US" dirty="0"/>
              <a:t>, disciplinary actions, or recovery of losses.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E3A97-E05C-458C-A4B2-BAB8661B6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6AE8A7-E709-4512-BE7E-F2A9B8590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22573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0C73C-6CA8-4619-AA7F-D9C1CBC67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Key differences between Auditing and Investigation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10213-8366-4DD1-B40C-92020C4A3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Objective</a:t>
            </a:r>
          </a:p>
          <a:p>
            <a:r>
              <a:rPr lang="en-US" b="1" dirty="0"/>
              <a:t>Auditing</a:t>
            </a:r>
            <a:r>
              <a:rPr lang="en-US" dirty="0"/>
              <a:t> focuses on providing assurance and compliance.</a:t>
            </a:r>
          </a:p>
          <a:p>
            <a:r>
              <a:rPr lang="en-US" b="1" dirty="0"/>
              <a:t>Investigation </a:t>
            </a:r>
            <a:r>
              <a:rPr lang="en-US" dirty="0"/>
              <a:t>focuses on uncovering wrongdoing and gathering evidence.</a:t>
            </a:r>
          </a:p>
          <a:p>
            <a:pPr marL="457200" indent="-457200">
              <a:buAutoNum type="arabicPeriod" startAt="2"/>
            </a:pPr>
            <a:r>
              <a:rPr lang="en-US" dirty="0"/>
              <a:t> </a:t>
            </a:r>
            <a:r>
              <a:rPr lang="en-US" b="1" dirty="0"/>
              <a:t>Approach</a:t>
            </a:r>
          </a:p>
          <a:p>
            <a:r>
              <a:rPr lang="en-US" b="1" dirty="0"/>
              <a:t>Auditing</a:t>
            </a:r>
            <a:r>
              <a:rPr lang="en-US" dirty="0"/>
              <a:t> is systematic and often follows a predefined plan.</a:t>
            </a:r>
          </a:p>
          <a:p>
            <a:r>
              <a:rPr lang="en-US" b="1" dirty="0"/>
              <a:t>Investigation</a:t>
            </a:r>
            <a:r>
              <a:rPr lang="en-US" dirty="0"/>
              <a:t> is reactive and driven by specific allegations or incidents.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0E06F9-8E55-47E2-9229-15113C32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AAF6C3-3056-4A21-A1AF-847CCB719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91586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40FFF-EA59-4024-8DFA-A4D7C8822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Key differences between Auditing and Investigation (Continues…) 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D8D70-716A-42F5-A305-6D7CBD7DD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AutoNum type="arabicPeriod" startAt="3"/>
            </a:pPr>
            <a:r>
              <a:rPr lang="en-US" b="1" dirty="0"/>
              <a:t>Data Depth </a:t>
            </a:r>
          </a:p>
          <a:p>
            <a:r>
              <a:rPr lang="en-US" b="1" dirty="0"/>
              <a:t>Auditing</a:t>
            </a:r>
            <a:r>
              <a:rPr lang="en-US" dirty="0"/>
              <a:t> typically uses sampling and high-level analysis.</a:t>
            </a:r>
          </a:p>
          <a:p>
            <a:r>
              <a:rPr lang="en-US" b="1" dirty="0"/>
              <a:t>Investigation</a:t>
            </a:r>
            <a:r>
              <a:rPr lang="en-US" dirty="0"/>
              <a:t> requires exhaustive examination of detailed data.</a:t>
            </a:r>
          </a:p>
          <a:p>
            <a:pPr marL="457200" indent="-457200">
              <a:buAutoNum type="arabicPeriod" startAt="4"/>
            </a:pPr>
            <a:r>
              <a:rPr lang="en-US" b="1" dirty="0"/>
              <a:t>Outcome Use</a:t>
            </a:r>
          </a:p>
          <a:p>
            <a:r>
              <a:rPr lang="en-US" dirty="0"/>
              <a:t> </a:t>
            </a:r>
            <a:r>
              <a:rPr lang="en-US" b="1" dirty="0"/>
              <a:t>Auditing</a:t>
            </a:r>
            <a:r>
              <a:rPr lang="en-US" dirty="0"/>
              <a:t> results are used for stakeholder assurance and regulatory compliance.</a:t>
            </a:r>
          </a:p>
          <a:p>
            <a:r>
              <a:rPr lang="en-US" dirty="0"/>
              <a:t>I</a:t>
            </a:r>
            <a:r>
              <a:rPr lang="en-US" b="1" dirty="0"/>
              <a:t>nvestigation</a:t>
            </a:r>
            <a:r>
              <a:rPr lang="en-US" dirty="0"/>
              <a:t> results are used for legal or disciplinary actions.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220C69-B685-4179-A5B9-6F077BF0D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A3FEF-BF06-4D2E-9921-412BDC011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85153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75B6F-EBF4-44BE-A7CE-9EFD5E515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What can Data Analysis do?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36555-D3A4-4517-AF43-71B5E5B2B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 Identify Patterns and Trends in Cyber Threats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Support Decision-Making for Incident Response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Improve Efficiency in Threat Detection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Detect Anomalies and Potential Breaches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Enhance Threat Intelligence and Proactive Defense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242D87-24C8-4CCE-A922-DFFFC1F92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116BD5-ACC5-45DA-BD56-B9060FCCD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2201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A67A3-FC60-4375-93CF-A5C0333AD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What Data Analysis Cannot Do in Cybersecurity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84EB7-EEDB-4101-AB03-C6C47B5DE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Replace Human Judgment in Incident Response</a:t>
            </a:r>
          </a:p>
          <a:p>
            <a:r>
              <a:rPr lang="en-US" dirty="0"/>
              <a:t> A system may flag a legitimate user’s unusual activity as suspicious, requiring human intervention to verify the alert.</a:t>
            </a:r>
          </a:p>
          <a:p>
            <a:pPr marL="457200" indent="-457200">
              <a:buAutoNum type="arabicPeriod" startAt="2"/>
            </a:pPr>
            <a:r>
              <a:rPr lang="en-US" b="1" dirty="0"/>
              <a:t>Guarantee Accuracy in Threat Detection </a:t>
            </a:r>
          </a:p>
          <a:p>
            <a:r>
              <a:rPr lang="en-US" dirty="0"/>
              <a:t> False positives and false negatives can occur if an Intrusion Detection System (IDS) is not well configured.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FE0463-5EFE-4DAE-B565-751BA22BD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CA57D-A5C3-4939-9F2B-270DF521C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49598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C2A703-3D84-4BF6-9D51-14ED7E31F6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b="1" dirty="0"/>
              <a:t>COMMON ANALYSIS PROCEDURES &amp; FUNCTIONS </a:t>
            </a:r>
            <a:endParaRPr lang="LID4096" b="1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AEA1ADF-8DE7-44DA-8F61-531825BBFB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UNIT 2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238905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41F81-5923-4C6F-B6A3-AE871732F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COMMON ANALYSIS PROCEDURES </a:t>
            </a:r>
            <a:endParaRPr lang="LID4096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A0FC1C-9BD0-41DB-B10A-492EBC2DD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b="1" dirty="0"/>
              <a:t>Financial Ratio, Variance, Percentage, Aging &amp; Average</a:t>
            </a:r>
          </a:p>
          <a:p>
            <a:pPr algn="ctr"/>
            <a:endParaRPr lang="LID4096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507077-67C8-4688-ADF2-CCFB2D61D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1B5603-70D6-415A-B383-D494FA613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98687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5DCCA3-7603-49AF-A019-5E23AE632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Financial Ratio</a:t>
            </a:r>
            <a:endParaRPr lang="LID4096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E9E024-7D66-4C3A-830D-FFEA2D42B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Ratio</a:t>
            </a:r>
            <a:r>
              <a:rPr lang="en-US" dirty="0"/>
              <a:t> is the quantitative relation between two amounts showing the number of times one value contains or is contained within the other.</a:t>
            </a:r>
          </a:p>
          <a:p>
            <a:r>
              <a:rPr lang="en-GB" dirty="0"/>
              <a:t>A </a:t>
            </a:r>
            <a:r>
              <a:rPr lang="en-GB" b="1" dirty="0"/>
              <a:t>ratio</a:t>
            </a:r>
            <a:r>
              <a:rPr lang="en-GB" dirty="0"/>
              <a:t> compares values e.g., 3 to 1 (3:1).</a:t>
            </a:r>
          </a:p>
          <a:p>
            <a:r>
              <a:rPr lang="en-US" b="1" dirty="0"/>
              <a:t>Financial ratios </a:t>
            </a:r>
            <a:r>
              <a:rPr lang="en-US" dirty="0"/>
              <a:t>are created with the use of numerical values taken from financial statements to gain meaningful information about a company.</a:t>
            </a:r>
            <a:endParaRPr lang="LID4096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976DF4A-E45E-4BF1-9E5C-F0DAE3499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A68D2C-94F0-47F3-8487-A91C1C3F9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09581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BF6FC-5542-42C1-BF5E-912D806F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Financial Ratio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DED48-AB60-4A05-91BC-013E302EC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ratios help stakeholders (investors, creditors, management) assess: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Liquidity</a:t>
            </a:r>
            <a:r>
              <a:rPr lang="en-US" dirty="0"/>
              <a:t> (ability to meet short-term obligations)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Profitability</a:t>
            </a:r>
            <a:r>
              <a:rPr lang="en-US" dirty="0"/>
              <a:t> (ability to generate earnings)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Leverage</a:t>
            </a:r>
            <a:r>
              <a:rPr lang="en-US" dirty="0"/>
              <a:t> (degree of debt reliance)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Efficiency</a:t>
            </a:r>
            <a:r>
              <a:rPr lang="en-US" dirty="0"/>
              <a:t> (effectiveness in asset utilization) </a:t>
            </a:r>
          </a:p>
          <a:p>
            <a:r>
              <a:rPr lang="en-US" dirty="0"/>
              <a:t>In Cybersecurity it helps the </a:t>
            </a:r>
            <a:r>
              <a:rPr lang="en-US" sz="2400" dirty="0"/>
              <a:t>CISO to make the above analysis.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738EF1-D4AF-41CC-AEC2-43C8A4FD8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CF50A-4F28-428F-B960-820982F43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91345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6BED8-59F8-4FB2-BB4F-339CFCDCE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Financial Ratio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356F4-CCB6-4433-B7C3-FA373ACA8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Advantages of using Financial Ratio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Simplifies Complex Data </a:t>
            </a:r>
            <a:r>
              <a:rPr lang="en-GB" dirty="0"/>
              <a:t>- </a:t>
            </a:r>
            <a:r>
              <a:rPr lang="en-US" dirty="0"/>
              <a:t>Ratios condense large datasets into comparable metrics, making trends easier to identify.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Cost-Benefit Analysis </a:t>
            </a:r>
            <a:r>
              <a:rPr lang="en-GB" dirty="0"/>
              <a:t>- </a:t>
            </a:r>
            <a:r>
              <a:rPr lang="en-US" dirty="0"/>
              <a:t>Helps quantify the financial impact of security investments.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Prioritization</a:t>
            </a:r>
            <a:r>
              <a:rPr lang="en-GB" dirty="0"/>
              <a:t> – </a:t>
            </a:r>
            <a:r>
              <a:rPr lang="en-US" dirty="0"/>
              <a:t>Identifies high-risk areas by correlating security incidents with financial losses.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24745E-8E5E-4B0F-BBD2-3D5CB73C7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ECB056-2614-44CC-97FD-6D94F2A38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626016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C191B-AD78-4A71-976C-9904DB985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Financial Ratio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AB1C3-E8CB-47A3-A7C1-2CFED0BB7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Limitations of Financial Ratio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Oversimplification</a:t>
            </a:r>
            <a:r>
              <a:rPr lang="en-US" dirty="0"/>
              <a:t> – May ignore qualitative factors (e.g., employee awareness, emerging threats).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Data Accuracy Issues 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Lagging Indicators </a:t>
            </a:r>
            <a:r>
              <a:rPr lang="en-US" dirty="0"/>
              <a:t>- Many ratios reflect past performance rather than predicting future threats.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358B64-F24B-4802-9A76-D8702FCC0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3E1C18-2D3D-4E39-B8DD-F381B1AEB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374781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05D68-3BB8-4BA3-99CE-220273D41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Financial Ratio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DEE69-C949-4EDA-9847-863985E2EA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Question</a:t>
            </a:r>
            <a:r>
              <a:rPr lang="en-US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A company spends $50,000 annually on cyber security measures. The total financial loss due to cyber attacks before implementing the measures was $200,000 and after implementation the loss reduced to $80,000 Dollars.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      Calculate the Return on Investment.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A8CBA0-9092-4B7B-85B2-292A91041B5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/>
              <a:t>ROI = (Total Benefit - Cost of Investment) / Cost of Investment * 100%</a:t>
            </a:r>
          </a:p>
          <a:p>
            <a:pPr marL="0" indent="0">
              <a:buNone/>
            </a:pPr>
            <a:r>
              <a:rPr lang="en-US" dirty="0"/>
              <a:t>    = </a:t>
            </a:r>
            <a:r>
              <a:rPr lang="en-US" sz="2100" dirty="0"/>
              <a:t>[(200000 – 80000) - 50000/ 50000] * 100%</a:t>
            </a:r>
          </a:p>
          <a:p>
            <a:pPr marL="0" indent="0">
              <a:buNone/>
            </a:pPr>
            <a:r>
              <a:rPr lang="en-US" dirty="0"/>
              <a:t>    = [(120000 – 50000)/ 50000] * 100%</a:t>
            </a:r>
          </a:p>
          <a:p>
            <a:pPr marL="0" indent="0">
              <a:buNone/>
            </a:pPr>
            <a:r>
              <a:rPr lang="en-US" dirty="0"/>
              <a:t>    = (70000 / 50000) * 100%</a:t>
            </a:r>
          </a:p>
          <a:p>
            <a:pPr marL="0" indent="0">
              <a:buNone/>
            </a:pPr>
            <a:r>
              <a:rPr lang="en-US" dirty="0"/>
              <a:t>    = 1.4 * 100%</a:t>
            </a:r>
          </a:p>
          <a:p>
            <a:pPr marL="0" indent="0">
              <a:buNone/>
            </a:pPr>
            <a:r>
              <a:rPr lang="en-US" dirty="0"/>
              <a:t>    = 140%</a:t>
            </a:r>
          </a:p>
          <a:p>
            <a:pPr marL="0" indent="0">
              <a:buNone/>
            </a:pPr>
            <a:r>
              <a:rPr lang="en-US" dirty="0"/>
              <a:t>This means that for every dollar spent on cybersecurity, the company gained $1.40 in reduced financial losses.</a:t>
            </a:r>
            <a:endParaRPr lang="LID4096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17FE6-CC2A-4809-84D7-CBC3753BB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29F11-DC13-4C52-83C0-F4FEF3A5A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4142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4C0A5C-10C4-4165-B365-69FEBA6ED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Variance</a:t>
            </a:r>
            <a:endParaRPr lang="LID4096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73704-4D21-4A07-96A5-2646E930D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Variance</a:t>
            </a:r>
            <a:r>
              <a:rPr lang="en-US" dirty="0"/>
              <a:t> measures the differences between </a:t>
            </a:r>
            <a:r>
              <a:rPr lang="en-US" b="1" dirty="0"/>
              <a:t>expected</a:t>
            </a:r>
            <a:r>
              <a:rPr lang="en-US" dirty="0"/>
              <a:t> and </a:t>
            </a:r>
            <a:r>
              <a:rPr lang="en-US" b="1" dirty="0"/>
              <a:t>actual</a:t>
            </a:r>
            <a:r>
              <a:rPr lang="en-US" dirty="0"/>
              <a:t> value to identify deviations.</a:t>
            </a:r>
          </a:p>
          <a:p>
            <a:r>
              <a:rPr lang="en-US" b="1" dirty="0"/>
              <a:t>Deviation</a:t>
            </a:r>
            <a:r>
              <a:rPr lang="en-US" dirty="0"/>
              <a:t> is a measure which is used to find the difference between the observed value and the expected value of a variable.</a:t>
            </a:r>
          </a:p>
          <a:p>
            <a:r>
              <a:rPr lang="en-US" dirty="0"/>
              <a:t>It can be applied in;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Financial Auditing 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Cybersecurity</a:t>
            </a:r>
            <a:endParaRPr lang="LID4096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C529AB-85B3-45A7-84B2-B9D12752F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9679EA-D77C-4A67-8ED4-84F95B69A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24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9071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4B3CB-2D60-4464-92C4-0CA940D18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Variance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16CAD-FECA-4BC4-982A-07F143E12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Types of Variance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Favourable Variance </a:t>
            </a:r>
            <a:r>
              <a:rPr lang="en-GB" dirty="0"/>
              <a:t>– </a:t>
            </a:r>
            <a:r>
              <a:rPr lang="en-US" dirty="0"/>
              <a:t>Actual &lt; Expected (e.g., lower costs)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Unfavourable Variance </a:t>
            </a:r>
            <a:r>
              <a:rPr lang="en-GB" dirty="0"/>
              <a:t>– </a:t>
            </a:r>
            <a:r>
              <a:rPr lang="en-US" dirty="0"/>
              <a:t>Actual &gt; Expected (e.g., higher breach costs)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GB" sz="4000" b="1" dirty="0"/>
              <a:t>Variance = Actual − Expected</a:t>
            </a:r>
            <a:endParaRPr lang="LID4096" sz="40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9AE2-8A69-4F00-A016-F53A55FDE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20BC5E-25D8-44F0-A5D4-5F0D61A72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25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89177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9D3E4-AF42-425E-B8AF-4A0E4DBAF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Variance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A9009-0C12-4237-A12A-4F075D51AB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Question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 company </a:t>
            </a:r>
            <a:r>
              <a:rPr lang="en-US"/>
              <a:t>records an expected </a:t>
            </a:r>
            <a:r>
              <a:rPr lang="en-US" dirty="0"/>
              <a:t>daily login count of 5000 for each employee. On a particular day, the actual recorded log in count was 7500. 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Calculate the variance.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Determine whether it's favorable or unfavorable.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567EE0-1DC0-46C3-A216-079D5B008A8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Variance = Actual – Expected </a:t>
            </a:r>
          </a:p>
          <a:p>
            <a:pPr marL="0" indent="0">
              <a:buNone/>
            </a:pPr>
            <a:r>
              <a:rPr lang="en-US" dirty="0"/>
              <a:t>              = 7500 – 5000 </a:t>
            </a:r>
          </a:p>
          <a:p>
            <a:pPr marL="0" indent="0">
              <a:buNone/>
            </a:pPr>
            <a:r>
              <a:rPr lang="en-US" dirty="0"/>
              <a:t>              = 2500</a:t>
            </a:r>
          </a:p>
          <a:p>
            <a:pPr marL="0" indent="0">
              <a:buNone/>
            </a:pPr>
            <a:r>
              <a:rPr lang="en-US" dirty="0"/>
              <a:t>Favorable Variance = Actual &lt; Expected</a:t>
            </a:r>
          </a:p>
          <a:p>
            <a:pPr marL="0" indent="0">
              <a:buNone/>
            </a:pPr>
            <a:r>
              <a:rPr lang="en-US" dirty="0"/>
              <a:t>Unfavorable Varia.. = Actual &gt; Expected</a:t>
            </a:r>
          </a:p>
          <a:p>
            <a:pPr marL="0" indent="0">
              <a:buNone/>
            </a:pPr>
            <a:r>
              <a:rPr lang="en-US" dirty="0"/>
              <a:t>Therefore, the </a:t>
            </a:r>
            <a:r>
              <a:rPr lang="en-US" b="1" dirty="0"/>
              <a:t>Variance is Unfavorable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NOTE: </a:t>
            </a:r>
            <a:r>
              <a:rPr lang="en-US" dirty="0"/>
              <a:t>+ Variance is Unfavorable</a:t>
            </a:r>
          </a:p>
          <a:p>
            <a:pPr marL="0" indent="0">
              <a:buNone/>
            </a:pPr>
            <a:r>
              <a:rPr lang="en-US" dirty="0"/>
              <a:t>            – Variance is Favorable</a:t>
            </a:r>
            <a:endParaRPr lang="LID4096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5DEFE-B719-449A-9949-9380449BA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607B3-A90E-4566-AE4F-0D4B82E55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26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84163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5799799-FE95-4D14-A386-FCD323416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Variance (Continues…)</a:t>
            </a:r>
            <a:endParaRPr lang="LID4096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313D5D-EAC4-407F-9E03-D79E9A91E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Advantages of using Variance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Anomaly Detection </a:t>
            </a:r>
            <a:r>
              <a:rPr lang="en-GB" dirty="0"/>
              <a:t>– </a:t>
            </a:r>
            <a:r>
              <a:rPr lang="en-US" dirty="0"/>
              <a:t>Helps identify deviations from normal behavior (e.g., unusual network traffic, login attempts).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Supports Trend Analysis </a:t>
            </a:r>
            <a:r>
              <a:rPr lang="en-GB" dirty="0"/>
              <a:t>– </a:t>
            </a:r>
            <a:r>
              <a:rPr lang="en-US" dirty="0"/>
              <a:t>Reveals changes over time (e.g., increasing attack frequency).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Useful in Statistical Models </a:t>
            </a:r>
            <a:r>
              <a:rPr lang="en-GB" dirty="0"/>
              <a:t>– </a:t>
            </a:r>
            <a:r>
              <a:rPr lang="en-US" dirty="0"/>
              <a:t>Key in machine learning and predictive analytics for cybersecurity (e.g., outlier detection).</a:t>
            </a:r>
            <a:endParaRPr lang="LID4096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DABEBE4-E781-43DF-A64F-60F2842CA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A51ACD-AFD5-4534-AD0E-B2025B06C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27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63060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A1F46-AEB8-4802-A00F-3B36345A6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Variance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FA3A1-7FF1-41BF-BEF1-AC6CF73EE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Limitations of using Variance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Sensitive to Outliers </a:t>
            </a:r>
            <a:r>
              <a:rPr lang="en-GB" dirty="0"/>
              <a:t>– </a:t>
            </a:r>
            <a:r>
              <a:rPr lang="en-US" dirty="0"/>
              <a:t>Leading to false positives in threat detection.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May Miss Subtle Attacks </a:t>
            </a:r>
            <a:r>
              <a:rPr lang="en-GB" dirty="0"/>
              <a:t>- </a:t>
            </a:r>
            <a:r>
              <a:rPr lang="en-US" dirty="0"/>
              <a:t>Low variance attacks (e.g., slow, persistent threats) can evade detection.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6C7953-DC6E-4EAB-94B2-303410757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AF316-2B6D-4A83-9789-10FA0F73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28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826257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F744D-FAF1-4F0B-A52D-EF5C8B754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Percentage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0019D-7774-4E7A-AAB0-6CBCBE25D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mathematics, a </a:t>
            </a:r>
            <a:r>
              <a:rPr lang="en-US" b="1" dirty="0"/>
              <a:t>percentage</a:t>
            </a:r>
            <a:r>
              <a:rPr lang="en-US" dirty="0"/>
              <a:t> is a number or ratio expressed as a fraction of 100. </a:t>
            </a:r>
          </a:p>
          <a:p>
            <a:r>
              <a:rPr lang="en-US" dirty="0"/>
              <a:t>It is often denoted using the percent sign (</a:t>
            </a:r>
            <a:r>
              <a:rPr lang="en-US" b="1" dirty="0"/>
              <a:t>%</a:t>
            </a:r>
            <a:r>
              <a:rPr lang="en-US" dirty="0"/>
              <a:t>).</a:t>
            </a:r>
          </a:p>
          <a:p>
            <a:r>
              <a:rPr lang="en-US" dirty="0"/>
              <a:t>It is also applied in;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Financial Analysis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Cybersecurity</a:t>
            </a:r>
            <a:r>
              <a:rPr lang="en-US" dirty="0"/>
              <a:t> 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2336D2-709F-42C5-90FD-4E0E03184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C8B63D-17E5-4F22-A3F6-09D4A27CC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29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852711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F3915-CCFA-4AD3-81BF-893BC96D3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Percentage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065CA-6BCA-49EC-88A8-D82AC952F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Common Percentage Formulas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Percentage of Total</a:t>
            </a:r>
          </a:p>
          <a:p>
            <a:pPr marL="0" indent="0">
              <a:buNone/>
            </a:pPr>
            <a:r>
              <a:rPr lang="en-GB" dirty="0"/>
              <a:t>     Percentage = (Part / Whole) * 100%</a:t>
            </a:r>
          </a:p>
          <a:p>
            <a:pPr marL="457200" indent="-457200">
              <a:buAutoNum type="arabicPeriod" startAt="2"/>
            </a:pPr>
            <a:r>
              <a:rPr lang="en-GB" b="1" dirty="0"/>
              <a:t>Percentage Change</a:t>
            </a:r>
          </a:p>
          <a:p>
            <a:pPr marL="0" indent="0">
              <a:buNone/>
            </a:pPr>
            <a:r>
              <a:rPr lang="en-GB" dirty="0"/>
              <a:t>     </a:t>
            </a:r>
            <a:r>
              <a:rPr lang="en-US" dirty="0"/>
              <a:t>Percentage Change = [(New – Old) / Old] * 100%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AA6518-67DB-4F6D-8B14-B7B7BE949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35D7B6-A08C-494F-84DC-AD04F2617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30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662586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288A1C-DCBD-438A-BB57-4799360C0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Percentage (Continues…)</a:t>
            </a:r>
            <a:endParaRPr lang="LID4096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6C5079-C5A7-4EF9-8551-C936823875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Question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 cybersecurity team analyzes 500 phishing attempts in a month. Out of these, 35 where successful. 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Calculate the attack success rate percentage.</a:t>
            </a:r>
            <a:endParaRPr lang="LID4096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AD3444-E269-4E19-92EF-2498B45610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Percentage of Total = (Part / Whole) * 100%</a:t>
            </a:r>
          </a:p>
          <a:p>
            <a:pPr marL="0" indent="0">
              <a:buNone/>
            </a:pPr>
            <a:r>
              <a:rPr lang="en-US" sz="2000" dirty="0"/>
              <a:t>                             = (35 / 500) * 100%</a:t>
            </a:r>
          </a:p>
          <a:p>
            <a:pPr marL="0" indent="0">
              <a:buNone/>
            </a:pPr>
            <a:r>
              <a:rPr lang="en-US" sz="2000" dirty="0"/>
              <a:t>                             = 7%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Therefore, the attack success rate was 7%</a:t>
            </a:r>
            <a:endParaRPr lang="LID4096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2BEEBE-1496-449F-8B2A-D2296347C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CFD0CC-3723-4A79-BD33-CC3C8D5B2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31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415306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0FE1BEE-99A8-4C17-A2D2-E7AB901B4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Percentage (Continues…)</a:t>
            </a:r>
            <a:endParaRPr lang="LID4096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E26B5C-A08B-4C6E-861C-D0DC93E05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Advantages of Percentages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Simplifies Interpretation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Trend Identification </a:t>
            </a:r>
            <a:r>
              <a:rPr lang="en-GB" dirty="0"/>
              <a:t>– </a:t>
            </a:r>
            <a:r>
              <a:rPr lang="en-US" dirty="0"/>
              <a:t>Helps track changes over time (e.g., "Phishing attempts increased by 15% this quarter").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Normalizes Data </a:t>
            </a:r>
            <a:r>
              <a:rPr lang="en-GB" dirty="0"/>
              <a:t>– </a:t>
            </a:r>
            <a:r>
              <a:rPr lang="en-US" dirty="0"/>
              <a:t>Allows comparison across different scales.</a:t>
            </a:r>
            <a:endParaRPr lang="LID4096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EE647CD-D1CA-4554-9BF3-0E111359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1D9B89-4AC5-4D46-BCCB-78DAB2F85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32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24365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330E-EAE8-45FE-ADC5-7414AF3E1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Percentage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3B7C6-19D7-49C3-987C-172EF51C1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Limitations of using Percentages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</a:t>
            </a:r>
            <a:r>
              <a:rPr lang="en-US" b="1" dirty="0"/>
              <a:t>Limited in Isolation </a:t>
            </a:r>
            <a:r>
              <a:rPr lang="en-US" dirty="0"/>
              <a:t>– Percentages alone don’t explain causality or risk impact (requires additional metrics).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Potential for Misleading Context </a:t>
            </a:r>
            <a:r>
              <a:rPr lang="en-US" dirty="0"/>
              <a:t>– Without proper reference points, percentages can be misinterpreted (e.g., "50% of attacks" without knowing total volume).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Can Mask Absolute Values </a:t>
            </a:r>
            <a:r>
              <a:rPr lang="en-US" dirty="0"/>
              <a:t>– A small percentage change may represent a critical threat if the base number is large (e.g., "1% increase in breaches" could mean thousands of incidents).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42792-19AF-43D6-A108-F2CD33A72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6F8F6E-9701-44BD-B4DE-7C6655A29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33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377141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D334A-1496-452D-8784-163821341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Aging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920D4-18F1-44D1-87CA-AF701D2E0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Aging</a:t>
            </a:r>
            <a:r>
              <a:rPr lang="en-US" dirty="0"/>
              <a:t> analysis examines the time elapsed since an event occurred to detect anomalies that may indicate fraud. </a:t>
            </a:r>
          </a:p>
          <a:p>
            <a:r>
              <a:rPr lang="en-US" dirty="0"/>
              <a:t>It can be applied in Cybersecurity for;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Time-Based Segmentation </a:t>
            </a:r>
            <a:r>
              <a:rPr lang="en-US" dirty="0"/>
              <a:t>– Groups data by age (e.g., inactive accounts suddenly accessed after 6+ months)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Thresholds &amp; Rules </a:t>
            </a:r>
            <a:r>
              <a:rPr lang="en-US" dirty="0"/>
              <a:t>– Flags unusual delays (e.g., late invoice submissions)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Trend Analysis </a:t>
            </a:r>
            <a:r>
              <a:rPr lang="en-US" dirty="0"/>
              <a:t>– Detects abnormal aging patterns (e.g., old credentials reused in a brute-force attack)</a:t>
            </a:r>
          </a:p>
          <a:p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FCC5FF-578C-4011-94AA-3280D1095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F2F89-1482-465F-B5FB-7B3ED8C4E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34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034724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95192C-E14B-4FA7-9B93-BEAB26D0D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Aging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AEF5F-7BF8-40BB-86E8-9EBAC450BF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Question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 company tracks unpatched vulnerabilities overtime. The data is as follows:</a:t>
            </a:r>
          </a:p>
          <a:p>
            <a:pPr marL="0" indent="0">
              <a:buNone/>
            </a:pPr>
            <a:endParaRPr lang="LID4096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D914D04-FFE0-407D-9E95-E76C123B872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4673327"/>
              </p:ext>
            </p:extLst>
          </p:nvPr>
        </p:nvGraphicFramePr>
        <p:xfrm>
          <a:off x="1699967" y="4215731"/>
          <a:ext cx="399288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>
                  <a:extLst>
                    <a:ext uri="{9D8B030D-6E8A-4147-A177-3AD203B41FA5}">
                      <a16:colId xmlns:a16="http://schemas.microsoft.com/office/drawing/2014/main" val="13773461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8591698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Age (Days)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Unpatched Vulnerabilities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37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 – 30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965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31 – 60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781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61 – 90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030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91+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601950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93EB462-7EA6-423C-A11B-3C472C1C900A}"/>
              </a:ext>
            </a:extLst>
          </p:cNvPr>
          <p:cNvSpPr txBox="1">
            <a:spLocks/>
          </p:cNvSpPr>
          <p:nvPr/>
        </p:nvSpPr>
        <p:spPr>
          <a:xfrm>
            <a:off x="6019799" y="2249486"/>
            <a:ext cx="4878389" cy="354171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romanLcPeriod"/>
            </a:pPr>
            <a:r>
              <a:rPr lang="en-US" dirty="0"/>
              <a:t>What percentage of vulnerabilities are odder than 60 days?</a:t>
            </a:r>
          </a:p>
          <a:p>
            <a:pPr marL="0" indent="0">
              <a:buNone/>
            </a:pPr>
            <a:r>
              <a:rPr lang="en-US" sz="2000" b="1" dirty="0"/>
              <a:t>Percentage of Total = (Part / Whole) * 100%</a:t>
            </a:r>
          </a:p>
          <a:p>
            <a:pPr marL="0" indent="0">
              <a:buNone/>
            </a:pPr>
            <a:r>
              <a:rPr lang="en-US" sz="2000" dirty="0"/>
              <a:t>                             = </a:t>
            </a:r>
            <a:r>
              <a:rPr lang="en-US" sz="1300" dirty="0"/>
              <a:t>[(10 + 5) / (25 + 20 + 10 + 5)] * 100%</a:t>
            </a:r>
          </a:p>
          <a:p>
            <a:pPr marL="0" indent="0">
              <a:buNone/>
            </a:pPr>
            <a:r>
              <a:rPr lang="en-US" sz="1100" dirty="0"/>
              <a:t>                                                       </a:t>
            </a:r>
            <a:r>
              <a:rPr lang="en-US" sz="2000" dirty="0"/>
              <a:t>= (15 / 60) * 100%      </a:t>
            </a:r>
          </a:p>
          <a:p>
            <a:pPr marL="0" indent="0">
              <a:buNone/>
            </a:pPr>
            <a:r>
              <a:rPr lang="en-US" sz="2000" dirty="0"/>
              <a:t>                             = 0.25 * 100% </a:t>
            </a:r>
          </a:p>
          <a:p>
            <a:pPr marL="0" indent="0">
              <a:buNone/>
            </a:pPr>
            <a:r>
              <a:rPr lang="en-US" sz="2000" dirty="0"/>
              <a:t>                             = 25%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055D576-E6DE-4E81-BCA9-4DB06713B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A752E-91D4-4879-88A5-E301D432B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35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208907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077BA-582E-44AC-82BB-9D46C043B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Aging (continues…)</a:t>
            </a:r>
            <a:endParaRPr lang="LID4096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390F29-BFE3-4C44-954C-B35999258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/>
              <a:t>Advantages</a:t>
            </a:r>
            <a:endParaRPr lang="LID4096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C23108-8C19-4A7C-AA3C-CF787B0E13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Simple &amp; Scalable 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Detects Timing Anomalies</a:t>
            </a:r>
            <a:endParaRPr lang="LID4096" b="1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C62617-E67D-48CF-8424-75F0BAE819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/>
              <a:t>Limitations </a:t>
            </a:r>
            <a:endParaRPr lang="LID4096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488EC76-856C-4307-93DB-7397DB6835D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False Positives 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Static Thresholds </a:t>
            </a:r>
            <a:r>
              <a:rPr lang="en-GB" dirty="0"/>
              <a:t>– </a:t>
            </a:r>
            <a:r>
              <a:rPr lang="en-US" dirty="0"/>
              <a:t>Requires manual updates to adapt to new fraud tactics.</a:t>
            </a:r>
            <a:endParaRPr lang="LID4096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5B0324-E6D3-4AE5-BCD8-605C54927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ED337-6D2D-4409-9AC9-B9322B8A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36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2826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3EEDE90-20FF-4CD2-9C5A-FDB2E2C97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Average (Mean) Analysis</a:t>
            </a:r>
            <a:endParaRPr lang="LID4096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A8772A4-858D-441F-90BA-47EE77E14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 Average </a:t>
            </a:r>
            <a:r>
              <a:rPr lang="en-US" dirty="0"/>
              <a:t>measures central tendency to identify typical values.</a:t>
            </a:r>
          </a:p>
          <a:p>
            <a:r>
              <a:rPr lang="en-US" dirty="0"/>
              <a:t>It is applied in;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Finance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Cybersecurity</a:t>
            </a:r>
          </a:p>
          <a:p>
            <a:r>
              <a:rPr lang="en-US" dirty="0"/>
              <a:t>Formula is;</a:t>
            </a:r>
          </a:p>
          <a:p>
            <a:pPr marL="0" indent="0">
              <a:buNone/>
            </a:pPr>
            <a:r>
              <a:rPr lang="en-GB" dirty="0"/>
              <a:t>                   </a:t>
            </a:r>
            <a:r>
              <a:rPr lang="en-GB" b="1" dirty="0"/>
              <a:t>Average = ∑ Values / Count</a:t>
            </a:r>
            <a:r>
              <a:rPr lang="en-GB" dirty="0"/>
              <a:t>​</a:t>
            </a:r>
            <a:endParaRPr lang="LID4096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B160E54-AB64-4120-ABF8-39D19F195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7922E6-B2B5-4084-8CE2-C0A400400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37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604157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7BC3E-1BF7-4B18-9115-5F4DE4028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Average (Mean) Analysis (Continues…)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E34760-9D61-4C18-951E-54B1CAFB10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Question</a:t>
            </a:r>
            <a:r>
              <a:rPr lang="en-US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 security operations center measures the mean time to detect cyber threats over 5 incidents. Detection Times (hours) : [4,5,3, 6,7]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Calculate the mean time</a:t>
            </a:r>
            <a:endParaRPr lang="LID4096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C2EE8E-2AB3-41E6-84B4-293ECE13E0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Average = ∑ Values / Count</a:t>
            </a:r>
          </a:p>
          <a:p>
            <a:pPr marL="0" indent="0">
              <a:buNone/>
            </a:pPr>
            <a:r>
              <a:rPr lang="en-US" dirty="0"/>
              <a:t>              = (4 + 5 + 3 + 6 + 7) / 5</a:t>
            </a:r>
          </a:p>
          <a:p>
            <a:pPr marL="0" indent="0">
              <a:buNone/>
            </a:pPr>
            <a:r>
              <a:rPr lang="en-US" dirty="0"/>
              <a:t>              = 25 / 5</a:t>
            </a:r>
          </a:p>
          <a:p>
            <a:pPr marL="0" indent="0">
              <a:buNone/>
            </a:pPr>
            <a:r>
              <a:rPr lang="en-US" dirty="0"/>
              <a:t>              = 5</a:t>
            </a:r>
          </a:p>
          <a:p>
            <a:pPr marL="0" indent="0">
              <a:buNone/>
            </a:pPr>
            <a:r>
              <a:rPr lang="en-US" dirty="0"/>
              <a:t>Therefore, the mean time to detect the Cyberthreats is 5 hours.</a:t>
            </a:r>
            <a:endParaRPr lang="LID4096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306BB3-381B-4729-B04D-917AB6214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149FA-B61D-4398-86D1-76458DEA2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38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670862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E52EC-303E-41DC-9A20-3BCC6D1E8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Average (Mean) Analysis (Continues…)</a:t>
            </a:r>
            <a:endParaRPr lang="LID4096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BD90D5-D936-493D-89AE-639A39D53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/>
              <a:t>Advantages</a:t>
            </a:r>
            <a:endParaRPr lang="LID4096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F8C558-A05F-4D64-859A-99E8CB6A08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Simple &amp; Fast </a:t>
            </a:r>
            <a:r>
              <a:rPr lang="en-GB" dirty="0"/>
              <a:t>– </a:t>
            </a:r>
            <a:r>
              <a:rPr lang="en-US" dirty="0"/>
              <a:t>Easy to compute and interpret.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Baseline Comparison </a:t>
            </a:r>
            <a:r>
              <a:rPr lang="en-GB" dirty="0"/>
              <a:t>– </a:t>
            </a:r>
            <a:r>
              <a:rPr lang="en-US" dirty="0"/>
              <a:t>Helps distinguish normal vs. suspicious behavior.</a:t>
            </a:r>
            <a:endParaRPr lang="LID4096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A63CF4-D628-4020-8A77-6C3FF5960C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/>
              <a:t>Limitations </a:t>
            </a:r>
            <a:endParaRPr lang="LID4096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9641C2A-7AC9-4A73-BCB1-4084296162A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False Positives/Negatives 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Static Baseline Issue </a:t>
            </a:r>
            <a:r>
              <a:rPr lang="en-GB" dirty="0"/>
              <a:t>– </a:t>
            </a:r>
            <a:r>
              <a:rPr lang="en-US" dirty="0"/>
              <a:t>Requires updates to reflect evolving behavior.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112B9-DFCF-4703-A50A-3BA26717C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7EA1B-E790-42CF-AED5-7D632B3A1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39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188519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16C569A-0D6B-4CAC-B475-6770409A0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Common Analysis Functions</a:t>
            </a:r>
            <a:endParaRPr lang="LID4096" b="1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265AAB-80DA-4563-B400-B40972A3C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/>
              <a:t>Filter, sort, join, append, pivot, trend, regression, ratio, vlookup, index/match, xlookup, hlookup, eyelookup, grouping, summarization, and stratification</a:t>
            </a:r>
            <a:endParaRPr lang="LID4096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114DC7-752B-4EAE-BB92-18730755C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7AE661-C1DF-469A-9D9F-2F7AF0B91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40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712400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6D8053-4DD5-456B-9039-142774CC3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FILTER</a:t>
            </a:r>
            <a:endParaRPr lang="LID4096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666254-A57A-43A1-9213-50D7E3EF3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Filtering </a:t>
            </a:r>
            <a:r>
              <a:rPr lang="en-US" dirty="0"/>
              <a:t>refers to removing unwanted material.</a:t>
            </a:r>
          </a:p>
          <a:p>
            <a:r>
              <a:rPr lang="en-US" dirty="0"/>
              <a:t>The </a:t>
            </a:r>
            <a:r>
              <a:rPr lang="en-US" b="1" dirty="0"/>
              <a:t>FILTER</a:t>
            </a:r>
            <a:r>
              <a:rPr lang="en-US" dirty="0"/>
              <a:t> function in Excel is used to return specific data from a range based on one or more conditions. </a:t>
            </a:r>
          </a:p>
          <a:p>
            <a:r>
              <a:rPr lang="en-US" dirty="0"/>
              <a:t>It helps extract relevant data dynamically without manually sorting or searching.</a:t>
            </a:r>
          </a:p>
          <a:p>
            <a:r>
              <a:rPr lang="en-US" dirty="0"/>
              <a:t>It can be applied in Cybersecurity to;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Identifying Malicious IPs Quickly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Tracking Phishing Attacks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DA0F606-54D4-4990-9127-C8B302496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B53B3B-7B8D-4DA8-973E-CA142BCDC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41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252940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04B4A-08A5-4C0D-B4E9-B88AEFF02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FILTER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CFDE8-0405-4BE8-89C4-D1F0CE02C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Syntax of The FILTER Function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b="1" dirty="0"/>
              <a:t>=FILTER(array, include, [if_empty])</a:t>
            </a:r>
          </a:p>
          <a:p>
            <a:r>
              <a:rPr lang="en-US" b="1" dirty="0"/>
              <a:t>array</a:t>
            </a:r>
            <a:r>
              <a:rPr lang="en-US" dirty="0"/>
              <a:t> → The range of data you want to filter.</a:t>
            </a:r>
          </a:p>
          <a:p>
            <a:r>
              <a:rPr lang="en-US" b="1" dirty="0"/>
              <a:t>include</a:t>
            </a:r>
            <a:r>
              <a:rPr lang="en-US" dirty="0"/>
              <a:t> → The condition(s) used to filter the data.</a:t>
            </a:r>
          </a:p>
          <a:p>
            <a:r>
              <a:rPr lang="en-US" b="1" dirty="0"/>
              <a:t>if_empty </a:t>
            </a:r>
            <a:r>
              <a:rPr lang="en-US" dirty="0"/>
              <a:t>(optional) → The value to return if no data matches the condition.</a:t>
            </a:r>
          </a:p>
          <a:p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833ECC-D9F9-4E47-93CC-9AD9C0AB0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8E5EF-B89A-49BC-94C3-FCA6F018B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42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371875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87C01-881C-4D98-AE32-E1CB42E11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FILTER (Continues…)</a:t>
            </a:r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141816-45A6-4103-9151-89FA3D0DB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b="1" dirty="0"/>
              <a:t>Single Condition</a:t>
            </a:r>
            <a:endParaRPr lang="LID4096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31381D-4191-48D4-B2AB-4F34D8AD8F5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=FILTER(</a:t>
            </a:r>
            <a:r>
              <a:rPr lang="en-US" sz="1800" dirty="0">
                <a:solidFill>
                  <a:srgbClr val="0070C0"/>
                </a:solidFill>
              </a:rPr>
              <a:t>A4:E13</a:t>
            </a:r>
            <a:r>
              <a:rPr lang="en-US" sz="1800" dirty="0"/>
              <a:t>,</a:t>
            </a:r>
            <a:r>
              <a:rPr lang="en-US" sz="1800" dirty="0">
                <a:solidFill>
                  <a:srgbClr val="FF0000"/>
                </a:solidFill>
              </a:rPr>
              <a:t>C4:C13</a:t>
            </a:r>
            <a:r>
              <a:rPr lang="en-US" sz="1800" dirty="0"/>
              <a:t>="High", “Invalid/Empty")</a:t>
            </a:r>
          </a:p>
          <a:p>
            <a:r>
              <a:rPr lang="en-US" sz="1800" dirty="0"/>
              <a:t>This will return only rows where Threat Level (column C) is "High“.</a:t>
            </a:r>
          </a:p>
          <a:p>
            <a:pPr marL="0" indent="0">
              <a:buNone/>
            </a:pPr>
            <a:endParaRPr lang="LID4096" sz="1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6BEAB3-0063-48A5-8EC0-742EC5FCE3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GB" b="1" dirty="0"/>
              <a:t>Multiple Conditions</a:t>
            </a:r>
            <a:endParaRPr lang="LID4096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B260993-4F1B-44AC-90E9-8E2A66CFB5F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1200" dirty="0"/>
              <a:t>=FILTER(</a:t>
            </a:r>
            <a:r>
              <a:rPr lang="en-GB" sz="1200" dirty="0">
                <a:solidFill>
                  <a:srgbClr val="0070C0"/>
                </a:solidFill>
              </a:rPr>
              <a:t>A4:E13</a:t>
            </a:r>
            <a:r>
              <a:rPr lang="en-GB" sz="1200" dirty="0"/>
              <a:t>, (</a:t>
            </a:r>
            <a:r>
              <a:rPr lang="en-GB" sz="1200" dirty="0">
                <a:solidFill>
                  <a:srgbClr val="FF0000"/>
                </a:solidFill>
              </a:rPr>
              <a:t>B4:B13</a:t>
            </a:r>
            <a:r>
              <a:rPr lang="en-GB" sz="1200" dirty="0"/>
              <a:t>="Malicious") * (</a:t>
            </a:r>
            <a:r>
              <a:rPr lang="en-GB" sz="1200" dirty="0">
                <a:solidFill>
                  <a:srgbClr val="7030A0"/>
                </a:solidFill>
              </a:rPr>
              <a:t>C4:C13</a:t>
            </a:r>
            <a:r>
              <a:rPr lang="en-GB" sz="1200" dirty="0"/>
              <a:t>="High"), "Invalid/Empty")</a:t>
            </a:r>
          </a:p>
          <a:p>
            <a:r>
              <a:rPr lang="en-US" sz="1800" dirty="0"/>
              <a:t>The </a:t>
            </a:r>
            <a:r>
              <a:rPr lang="en-US" sz="1800" b="1" dirty="0"/>
              <a:t>* </a:t>
            </a:r>
            <a:r>
              <a:rPr lang="en-US" sz="1800" dirty="0"/>
              <a:t>acts as </a:t>
            </a:r>
            <a:r>
              <a:rPr lang="en-US" sz="1800" b="1" dirty="0"/>
              <a:t>AND</a:t>
            </a:r>
            <a:r>
              <a:rPr lang="en-US" sz="1800" dirty="0"/>
              <a:t> logic, meaning both conditions must be met.</a:t>
            </a:r>
          </a:p>
          <a:p>
            <a:pPr marL="0" indent="0">
              <a:buNone/>
            </a:pPr>
            <a:endParaRPr lang="LID4096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73FFE5-78D4-4980-BE4D-1477F62BDA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068" y="4285084"/>
            <a:ext cx="4285283" cy="19537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E38936-24FB-4ED9-BD59-70A5E335C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805" y="4124891"/>
            <a:ext cx="4551605" cy="2113981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80A75C-B6AC-45FA-A855-917E42520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0" y="6391384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MUKOMBO MUKOMBO © 2025 KAPASA MAKASA UNIVERSITY</a:t>
            </a:r>
            <a:endParaRPr lang="LID4096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D6E277C-D99D-4720-AC81-50AD61459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1" y="6285814"/>
            <a:ext cx="771089" cy="365125"/>
          </a:xfrm>
        </p:spPr>
        <p:txBody>
          <a:bodyPr/>
          <a:lstStyle/>
          <a:p>
            <a:fld id="{B6A696A9-F8BE-4CDF-8FE7-13268F795294}" type="slidenum">
              <a:rPr lang="LID4096" smtClean="0"/>
              <a:t>43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9353252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4CA87D3-DB62-45F6-9616-57A522BE5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FILTER (Continues…)</a:t>
            </a: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007A0FE-7D92-4521-8730-239CD3EAB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Filter Data Dynamically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b="1" dirty="0"/>
              <a:t>=FILTER(</a:t>
            </a:r>
            <a:r>
              <a:rPr lang="en-US" b="1" dirty="0">
                <a:solidFill>
                  <a:srgbClr val="0070C0"/>
                </a:solidFill>
              </a:rPr>
              <a:t>A4:E13</a:t>
            </a:r>
            <a:r>
              <a:rPr lang="en-US" b="1" dirty="0"/>
              <a:t>,</a:t>
            </a:r>
            <a:r>
              <a:rPr lang="en-US" b="1" dirty="0">
                <a:solidFill>
                  <a:srgbClr val="FF0000"/>
                </a:solidFill>
              </a:rPr>
              <a:t>C4:C13</a:t>
            </a:r>
            <a:r>
              <a:rPr lang="en-US" b="1" dirty="0"/>
              <a:t>=B15,“Invalid/Empty")</a:t>
            </a:r>
          </a:p>
          <a:p>
            <a:r>
              <a:rPr lang="en-US" dirty="0"/>
              <a:t>This will update results automatically as the value in </a:t>
            </a:r>
            <a:r>
              <a:rPr lang="en-US" b="1" dirty="0"/>
              <a:t>B15</a:t>
            </a:r>
            <a:r>
              <a:rPr lang="en-US" dirty="0"/>
              <a:t> changes.</a:t>
            </a:r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04A109-B2F3-41AA-81B0-466D80BEA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688" y="3880121"/>
            <a:ext cx="10210830" cy="11255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CD9A29-BA4B-4B0D-A7F4-7404E6A62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689" y="5149809"/>
            <a:ext cx="10210830" cy="108967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5EA61D-39EA-42EB-97AE-540AEBA70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2" y="6423540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MUKOMBO MUKOMBO © 2025 KAPASA MAKASA UNIVERSITY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5AA147-CBFD-4223-B21A-AC388A9C7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0589" y="6423539"/>
            <a:ext cx="771089" cy="365125"/>
          </a:xfrm>
        </p:spPr>
        <p:txBody>
          <a:bodyPr/>
          <a:lstStyle/>
          <a:p>
            <a:fld id="{B6A696A9-F8BE-4CDF-8FE7-13268F795294}" type="slidenum">
              <a:rPr lang="LID4096" smtClean="0"/>
              <a:t>44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857138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635C2-E44D-4C67-9A90-84CFCEAAD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FILTER (Continues…)</a:t>
            </a:r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8A41D-F3C0-44C7-9664-37A653276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b="1" dirty="0"/>
              <a:t>Advantages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5DB47-799E-4686-9839-2DC4762B97A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Reduced Noise </a:t>
            </a:r>
            <a:r>
              <a:rPr lang="en-GB" dirty="0"/>
              <a:t>– Eliminates irrelevant data.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Faster Processing </a:t>
            </a:r>
            <a:r>
              <a:rPr lang="en-GB" dirty="0"/>
              <a:t>– Decreases data volume.</a:t>
            </a:r>
            <a:endParaRPr lang="LID4096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30D041-D54A-4DF4-80D4-9663E38212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/>
              <a:t>Limitations</a:t>
            </a:r>
            <a:endParaRPr lang="LID4096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A92072-4692-411B-8F85-C653F1B47D1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Risk of Over-Filtering 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Potential Data Loss </a:t>
            </a:r>
            <a:endParaRPr lang="LID4096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DD431CB-0D3D-48FC-8838-E755ED621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A67E8C7-F5F0-4B42-86D4-50909CD91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45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043530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FAFE3E8-1336-4159-A127-A7DEE3FA1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Sort</a:t>
            </a:r>
            <a:endParaRPr lang="LID4096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59AFF1E-B25B-4EE5-A7AD-060A2758B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Organize data in meaningful order.</a:t>
            </a:r>
          </a:p>
          <a:p>
            <a:r>
              <a:rPr lang="en-US" dirty="0"/>
              <a:t>Arranges data in ascending or descending order.</a:t>
            </a:r>
          </a:p>
          <a:p>
            <a:r>
              <a:rPr lang="en-US" dirty="0"/>
              <a:t>The </a:t>
            </a:r>
            <a:r>
              <a:rPr lang="en-US" b="1" dirty="0"/>
              <a:t>SORT</a:t>
            </a:r>
            <a:r>
              <a:rPr lang="en-US" dirty="0"/>
              <a:t> Function syntax in Excel is;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dirty="0"/>
              <a:t>=SORT(array,[sort_index],[sort_order],[by_col])</a:t>
            </a:r>
          </a:p>
          <a:p>
            <a:pPr marL="0" indent="0">
              <a:buNone/>
            </a:pPr>
            <a:r>
              <a:rPr lang="en-US" b="1" dirty="0"/>
              <a:t>   =SORTBY(array, by_array1, [sort_order1], [by_array2, sort_order2],…) </a:t>
            </a:r>
            <a:endParaRPr lang="LID4096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D1EBE6A-E07E-4FE1-9DFE-3DC939D06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847470-DB7D-4DEA-BBC7-202A3CCEB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46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74234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F1BAC3-19B3-4F17-A4A3-0B6E66193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Sort (CONTINUES…)</a:t>
            </a:r>
            <a:endParaRPr lang="LID4096" b="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F41911-883C-4B5F-B0A0-5D2CFEBDD3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3" y="2249485"/>
            <a:ext cx="4875211" cy="3541713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E2B841C-9116-457C-B824-31C88BCD92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49485"/>
            <a:ext cx="4875211" cy="3541713"/>
          </a:xfr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259B605-AA86-48F9-84D0-4B28DF0EC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DD1D04-D8AF-4D65-9FF6-44BBB2ADA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47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36421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57039-5B9A-4E6B-A4DA-9760E2726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Sort (CONTINUES…)</a:t>
            </a:r>
            <a:endParaRPr lang="LID4096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F14DF4-744E-4244-BB7D-20A0234FF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/>
              <a:t>Advantages </a:t>
            </a:r>
            <a:endParaRPr lang="LID4096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EDD979A-CCC2-4041-BBE5-22FC254EBE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Prioritization of Threats </a:t>
            </a:r>
            <a:r>
              <a:rPr lang="en-GB" dirty="0"/>
              <a:t>– </a:t>
            </a:r>
            <a:r>
              <a:rPr lang="en-US" dirty="0"/>
              <a:t>Sorts data by severity (e.g., high-risk alerts first), enabling faster response to critical incidents.</a:t>
            </a:r>
          </a:p>
          <a:p>
            <a:pPr marL="457200" indent="-457200">
              <a:buFont typeface="+mj-lt"/>
              <a:buAutoNum type="arabicPeriod"/>
            </a:pPr>
            <a:endParaRPr lang="LID4096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2F155CC-68FA-4B68-99C0-B7C38DFDCF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/>
              <a:t>Limitations </a:t>
            </a:r>
            <a:endParaRPr lang="LID4096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5979B64-6EF0-496F-B76C-F85FD4C386D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Context Loss </a:t>
            </a:r>
            <a:r>
              <a:rPr lang="en-GB" dirty="0"/>
              <a:t>– </a:t>
            </a:r>
            <a:r>
              <a:rPr lang="en-US" dirty="0"/>
              <a:t>Sorting by one column may hide relationships in other fields.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Misleading Order </a:t>
            </a:r>
            <a:r>
              <a:rPr lang="en-GB" dirty="0"/>
              <a:t>– </a:t>
            </a:r>
            <a:r>
              <a:rPr lang="en-US" dirty="0"/>
              <a:t>Ascending/descending sorts may unintentionally emphasize less relevant data.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42B94B-4B77-49A3-B3C1-DBACB4839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6888D-0534-41EC-A710-54B99C410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48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17594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47FEF-4745-446A-B0B3-A31050D07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Join</a:t>
            </a:r>
            <a:endParaRPr lang="LID4096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3F1CCA-54CC-492F-9782-A8D16BFC1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Join</a:t>
            </a:r>
            <a:r>
              <a:rPr lang="en-US" dirty="0"/>
              <a:t> combines related data from different sources (</a:t>
            </a:r>
            <a:r>
              <a:rPr lang="en-US" b="1" dirty="0"/>
              <a:t>tables</a:t>
            </a:r>
            <a:r>
              <a:rPr lang="en-US" dirty="0"/>
              <a:t> or </a:t>
            </a:r>
            <a:r>
              <a:rPr lang="en-US" b="1" dirty="0"/>
              <a:t>databases</a:t>
            </a:r>
            <a:r>
              <a:rPr lang="en-US" dirty="0"/>
              <a:t>).</a:t>
            </a:r>
          </a:p>
          <a:p>
            <a:r>
              <a:rPr lang="en-US" dirty="0"/>
              <a:t>Combining is usually based on a </a:t>
            </a:r>
            <a:r>
              <a:rPr lang="en-US" b="1" dirty="0"/>
              <a:t>common key </a:t>
            </a:r>
            <a:r>
              <a:rPr lang="en-US" dirty="0"/>
              <a:t>(in databases we use a </a:t>
            </a:r>
            <a:r>
              <a:rPr lang="en-US" b="1" dirty="0"/>
              <a:t>PRIMARY KEY </a:t>
            </a:r>
            <a:r>
              <a:rPr lang="en-US" dirty="0"/>
              <a:t>and </a:t>
            </a:r>
            <a:r>
              <a:rPr lang="en-US" b="1" dirty="0"/>
              <a:t>FOREIGN KEY</a:t>
            </a:r>
            <a:r>
              <a:rPr lang="en-US" dirty="0"/>
              <a:t>).</a:t>
            </a:r>
          </a:p>
          <a:p>
            <a:r>
              <a:rPr lang="en-US" dirty="0"/>
              <a:t>Common types of joins include: 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Inner join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Right join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Full outer join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Left join </a:t>
            </a:r>
          </a:p>
          <a:p>
            <a:r>
              <a:rPr lang="en-US" dirty="0"/>
              <a:t>In Excel the syntax for </a:t>
            </a:r>
            <a:r>
              <a:rPr lang="en-US" b="1" dirty="0"/>
              <a:t>TEXTJOIN</a:t>
            </a:r>
            <a:r>
              <a:rPr lang="en-US" dirty="0"/>
              <a:t> Function is;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dirty="0"/>
              <a:t>=TEXTJOIN(delimiter, ignore_empty, text1, [text2], …)</a:t>
            </a:r>
          </a:p>
          <a:p>
            <a:endParaRPr lang="LID4096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5DD79-A27F-413D-B4D5-EE78ECA4B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3CF0B-D135-4E05-B81A-0E67FE9D6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49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923348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A37F1-6454-417B-8E93-1BC64FC49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Join (CONTNUES…)</a:t>
            </a:r>
            <a:endParaRPr lang="LID4096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F5E9CE-8D0E-4326-924B-C3887F65A1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695" y="2267654"/>
            <a:ext cx="6515435" cy="3505380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86436B-E04B-4F2A-8772-B71DA70CB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988CA-21BF-4C03-900E-D09F71A44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50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623637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2B351-B3FA-4896-B3C6-A9C77A773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Join (CONTNUES…)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E8C29-2E6A-4C8F-93BE-BBA4745CB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Bellow is how to use </a:t>
            </a:r>
            <a:r>
              <a:rPr lang="en-US" b="1" dirty="0"/>
              <a:t>INNER JOIN </a:t>
            </a:r>
            <a:r>
              <a:rPr lang="en-US" dirty="0"/>
              <a:t>in a relational database.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425B49-07B1-45C2-BD79-8487790E9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1412" y="6420603"/>
            <a:ext cx="6239309" cy="365125"/>
          </a:xfrm>
        </p:spPr>
        <p:txBody>
          <a:bodyPr/>
          <a:lstStyle/>
          <a:p>
            <a:r>
              <a:rPr lang="en-GB" dirty="0"/>
              <a:t>PREPARED BY JAMES SOKO FOR MR. MUKOMBO MUKOMBO © 2025 KAPASA MAKASA UNIVERSITY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7CB8AD-40A9-4728-B0DC-5766290F5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6322" y="6420602"/>
            <a:ext cx="771089" cy="365125"/>
          </a:xfrm>
        </p:spPr>
        <p:txBody>
          <a:bodyPr/>
          <a:lstStyle/>
          <a:p>
            <a:fld id="{B6A696A9-F8BE-4CDF-8FE7-13268F795294}" type="slidenum">
              <a:rPr lang="LID4096" smtClean="0"/>
              <a:t>51</a:t>
            </a:fld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F64E8D-B8D2-45F5-A97B-ABC485AF1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675" y="2751869"/>
            <a:ext cx="3504308" cy="18295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6238AA-3734-4BE7-9034-2806957E1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157" y="2751869"/>
            <a:ext cx="3272991" cy="18458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E078BE-7D92-460A-AD11-1A2A195213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322" y="2751868"/>
            <a:ext cx="3430558" cy="5098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0F7C58-BE41-4AFD-9A04-4F54478FD7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323" y="3297863"/>
            <a:ext cx="3430558" cy="45164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AB2786-73B1-4011-9E36-CD68F467D5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7154" y="3802191"/>
            <a:ext cx="2450232" cy="8055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92ABA20-AB37-4125-80F6-49285303FF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8674" y="4673500"/>
            <a:ext cx="6687837" cy="174710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74EAF0D-3891-4774-8A59-4886D13EBFDB}"/>
              </a:ext>
            </a:extLst>
          </p:cNvPr>
          <p:cNvSpPr/>
          <p:nvPr/>
        </p:nvSpPr>
        <p:spPr>
          <a:xfrm>
            <a:off x="1468674" y="5571241"/>
            <a:ext cx="6581817" cy="3120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987030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CE876-D255-4240-9CEF-30F27C00C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Join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D6569-0A6E-4DA9-A34F-1B0A838F5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Advantages</a:t>
            </a:r>
            <a:r>
              <a:rPr lang="en-US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Enhanced Correlation </a:t>
            </a:r>
            <a:r>
              <a:rPr lang="en-GB" dirty="0"/>
              <a:t>– </a:t>
            </a:r>
            <a:r>
              <a:rPr lang="en-US" dirty="0"/>
              <a:t>Combines data from multiple sources (e.g., firewall logs + authentication events) to detect complex attack patterns.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Comprehensive Threat Detection </a:t>
            </a:r>
            <a:r>
              <a:rPr lang="en-GB" dirty="0"/>
              <a:t>– </a:t>
            </a:r>
            <a:r>
              <a:rPr lang="en-US" dirty="0"/>
              <a:t>Links related events (e.g., matching IPs in network logs with known threat intelligence feeds).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396D27-39AE-4D74-99E5-5BD753DD7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E4DD91-35A0-4738-86D0-6E520006A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52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346496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6ABF6-72CC-4A3B-8F50-D9FC98152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Join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ACEBF-5B29-41B5-BBA5-3F94767BF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Limitations</a:t>
            </a:r>
            <a:r>
              <a:rPr lang="en-US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False Positives/Negatives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 Complexity 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Privacy Risks 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9CE449-7735-4323-81E3-DFD33913E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3D28B-6C77-4959-BD58-C5E7F2E0F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53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742838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E00C5-ABB3-4EDC-BA17-809F5E514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APPEND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B12DF-060A-47D5-8C33-94BE427C2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Append</a:t>
            </a:r>
            <a:r>
              <a:rPr lang="en-US" dirty="0"/>
              <a:t> involves </a:t>
            </a:r>
            <a:r>
              <a:rPr lang="en-US" b="1" dirty="0"/>
              <a:t>adding</a:t>
            </a:r>
            <a:r>
              <a:rPr lang="en-US" dirty="0"/>
              <a:t> new rows of data to an existing database.</a:t>
            </a:r>
          </a:p>
          <a:p>
            <a:r>
              <a:rPr lang="en-US" dirty="0"/>
              <a:t>Usually when both have the same structure.</a:t>
            </a:r>
          </a:p>
          <a:p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DD2577-BC73-4C59-873F-1258F4728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3DFCFB-EF1F-4107-8E98-31949886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54</a:t>
            </a:fld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1BF97B-D246-4AF8-BD7B-72BC294C7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420" y="3403621"/>
            <a:ext cx="8252347" cy="12334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424A92-C967-47A7-A768-E6B1F70B7A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83"/>
          <a:stretch/>
        </p:blipFill>
        <p:spPr>
          <a:xfrm>
            <a:off x="1479420" y="4789466"/>
            <a:ext cx="8252347" cy="84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3233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E7ACBC-2F69-45AB-9F37-EFD0478A7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APPEND (Continues…)</a:t>
            </a:r>
            <a:endParaRPr lang="LID4096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970774-497C-44AE-86A7-8357EBB28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GB" b="1" dirty="0"/>
              <a:t> Advantages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Data Aggregation </a:t>
            </a:r>
            <a:r>
              <a:rPr lang="en-GB" dirty="0"/>
              <a:t>– Combines multiple datasets.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Simplified Historical Analysis </a:t>
            </a:r>
            <a:r>
              <a:rPr lang="en-GB" dirty="0"/>
              <a:t>- </a:t>
            </a:r>
            <a:r>
              <a:rPr lang="en-US" dirty="0"/>
              <a:t>Enables trend detection by appending new data to historical records (e.g., tracking attack patterns over months).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Compatibility with SIEMs </a:t>
            </a:r>
            <a:r>
              <a:rPr lang="en-GB" dirty="0"/>
              <a:t>– </a:t>
            </a:r>
            <a:r>
              <a:rPr lang="en-US" dirty="0"/>
              <a:t>Many security tools (e.g., Splunk, ELK) rely on appended logs for correlation and alerting.</a:t>
            </a:r>
            <a:endParaRPr lang="en-GB" dirty="0"/>
          </a:p>
          <a:p>
            <a:pPr marL="457200" indent="-457200">
              <a:buFont typeface="+mj-lt"/>
              <a:buAutoNum type="arabicPeriod"/>
            </a:pPr>
            <a:endParaRPr lang="LID4096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F0E48E8-5518-4835-8A29-85BDA5958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6B38B2-8108-4523-AE07-B826D3860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55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098963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6C176-231E-4168-8FD2-EB34E7A2C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APPEND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1797F-3923-470A-B6E6-77FABDEDF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Limitations 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Data Duplication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Increased Storage Costs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Performance Overhead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F797C3-8551-4DA4-8F72-AE482CDC1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A0A0C-4028-4885-A333-E1ACF8248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56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05675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03702-175D-4CD9-B91B-4D1F580AD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Join &amp; Append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AA7B2-ECA1-440A-B20A-CF9643760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Question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Join and append are two (2) prevalent data analysis functions. Highlight the key similarities and differences between these two functions.</a:t>
            </a:r>
          </a:p>
          <a:p>
            <a:pPr marL="457200" indent="-457200">
              <a:buFont typeface="+mj-lt"/>
              <a:buAutoNum type="arabicPeriod"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D3CDD9-1299-42BF-ACF9-0041B66C3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05872D-AB63-4D90-854B-C19F9008C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57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74399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3990C-3A86-4F47-8408-23E1E90E7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Join &amp; Append (Continues…)</a:t>
            </a:r>
            <a:endParaRPr lang="LID4096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3B1AB4FC-FB2C-43E6-BD6A-2DAABED9F7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0039305"/>
              </p:ext>
            </p:extLst>
          </p:nvPr>
        </p:nvGraphicFramePr>
        <p:xfrm>
          <a:off x="1141413" y="2249488"/>
          <a:ext cx="9906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6027">
                  <a:extLst>
                    <a:ext uri="{9D8B030D-6E8A-4147-A177-3AD203B41FA5}">
                      <a16:colId xmlns:a16="http://schemas.microsoft.com/office/drawing/2014/main" val="1851321246"/>
                    </a:ext>
                  </a:extLst>
                </a:gridCol>
                <a:gridCol w="6129973">
                  <a:extLst>
                    <a:ext uri="{9D8B030D-6E8A-4147-A177-3AD203B41FA5}">
                      <a16:colId xmlns:a16="http://schemas.microsoft.com/office/drawing/2014/main" val="3733392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Similarities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Differences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6691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Both are used to combine data.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Join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combines two tables using a common column while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append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adds new rows to an existing table.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688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Both work with tables (or lists).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995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Both help organize and analyze data.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9003817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42DA36-EE20-4322-8C24-57C9CB75F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C9D58-BF85-4006-904A-EAE42B066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58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506461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204EB-9539-49D6-B01C-FB80C5C55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Pivot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A3CD0-93C7-435E-ACA1-310FE88D1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Pivot</a:t>
            </a:r>
            <a:r>
              <a:rPr lang="en-GB" dirty="0"/>
              <a:t> summarize and cross-tabulate data.</a:t>
            </a:r>
          </a:p>
          <a:p>
            <a:r>
              <a:rPr lang="en-US" dirty="0"/>
              <a:t>Transforms data by rearranging rows and columns to summarize key information.</a:t>
            </a:r>
          </a:p>
          <a:p>
            <a:r>
              <a:rPr lang="en-US" dirty="0"/>
              <a:t>The </a:t>
            </a:r>
            <a:r>
              <a:rPr lang="en-US" b="1" dirty="0"/>
              <a:t>GETPIVOTDATA</a:t>
            </a:r>
            <a:r>
              <a:rPr lang="en-US" dirty="0"/>
              <a:t> function is used to extract specific data from a PivotTable dynamically.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dirty="0"/>
              <a:t>GETPIVOTDATA(data_field, pivot_table, [field1, item1, field2, item2, ...])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0F260-1E58-4890-9452-BEE44C51F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9B9000-AD7E-469E-B13E-09D5B1FC9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59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8488399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4C494-B8F4-4E10-8B03-DF7D2BD81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Pivot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027BD-1F2F-40AA-A0FC-C27E4C6C6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data_field </a:t>
            </a:r>
            <a:r>
              <a:rPr lang="en-US" dirty="0"/>
              <a:t>– The name of the field you want to retrieve (in quotes).</a:t>
            </a:r>
          </a:p>
          <a:p>
            <a:r>
              <a:rPr lang="en-US" b="1" dirty="0"/>
              <a:t>pivot_table </a:t>
            </a:r>
            <a:r>
              <a:rPr lang="en-US" dirty="0"/>
              <a:t>– A cell reference to any part of the PivotTable.</a:t>
            </a:r>
          </a:p>
          <a:p>
            <a:r>
              <a:rPr lang="en-US" b="1" dirty="0"/>
              <a:t>field1, item1</a:t>
            </a:r>
            <a:r>
              <a:rPr lang="en-US" dirty="0"/>
              <a:t>, etc. – Optional pairs that specify which field and value to filter by.</a:t>
            </a:r>
          </a:p>
          <a:p>
            <a:r>
              <a:rPr lang="en-US" dirty="0"/>
              <a:t>For example;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b="1" dirty="0"/>
              <a:t>=GETPIVOTDATA("Total Sales", A1, "Salesperson", "Alice")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F4D216-8B06-424D-9FA4-C454DDB8E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FA384E-B0E3-4980-9C95-16E1AFAD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60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87112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82F06-3BA3-4D6C-9DF1-FA7ADDE25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Pivot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DAC68-F73E-4A2F-B3D5-62A3590B2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374232-B67C-47B8-A3BF-FAC163107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C93356-6E4E-45AD-93D6-FB12AE7E0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61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925434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52A0-6980-43F5-922E-646881ABF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Pivot (Continues…)</a:t>
            </a:r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A54199-AC65-486C-B705-5E202A8ED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/>
              <a:t>Advantages </a:t>
            </a:r>
            <a:endParaRPr lang="LID4096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1F6B31-ADD7-4F32-9509-56B71F3842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Enhanced Data Summarization 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Quick Pattern Recognition </a:t>
            </a:r>
            <a:endParaRPr lang="LID4096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1FC8DD-69D2-4F53-9360-2F028AD5D2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/>
              <a:t>Limitations </a:t>
            </a:r>
            <a:endParaRPr lang="LID4096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BF888D2-0F3C-4363-A033-9B589227BF7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Over-Simplification Risk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Static Output </a:t>
            </a:r>
            <a:r>
              <a:rPr lang="en-GB" dirty="0"/>
              <a:t>– </a:t>
            </a:r>
            <a:r>
              <a:rPr lang="en-US" dirty="0"/>
              <a:t>Requires manual updates if source data changes, unlike real-time analytics.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49E1C1-4393-4315-AFBB-CB8BC32F7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697A39D-E048-413C-97B8-C3896E379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62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0025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B56C9FE-E689-46A5-9AB7-78ECE3B80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Trend</a:t>
            </a:r>
            <a:endParaRPr lang="LID4096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9887C18-C312-4B6C-9F2E-566B70671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Trend </a:t>
            </a:r>
            <a:r>
              <a:rPr lang="en-GB" dirty="0"/>
              <a:t>helps to identify patterns over time.</a:t>
            </a:r>
          </a:p>
          <a:p>
            <a:r>
              <a:rPr lang="en-US" dirty="0"/>
              <a:t>Helps in forecasting and decision making.</a:t>
            </a:r>
          </a:p>
          <a:p>
            <a:r>
              <a:rPr lang="en-US" dirty="0"/>
              <a:t>The </a:t>
            </a:r>
            <a:r>
              <a:rPr lang="en-US" b="1" dirty="0"/>
              <a:t>TREND</a:t>
            </a:r>
            <a:r>
              <a:rPr lang="en-US" dirty="0"/>
              <a:t> function in Excel predicts future values based on existing data using linear regression.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dirty="0"/>
              <a:t>=TREND(known_y's, [known_x's], [new_x's], [const])</a:t>
            </a:r>
          </a:p>
          <a:p>
            <a:pPr marL="0" indent="0">
              <a:buNone/>
            </a:pPr>
            <a:endParaRPr lang="en-GB" dirty="0"/>
          </a:p>
          <a:p>
            <a:endParaRPr lang="LID4096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0BE820A-5559-4543-B97D-526BE9E54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3F3140-9CC0-4885-9B37-128F91543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63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464288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3EF25-45F5-4204-82A7-32F117C9C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Trend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82F44-6C9E-45B3-AF19-F1AAEAFC8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known_y's </a:t>
            </a:r>
            <a:r>
              <a:rPr lang="en-US" dirty="0"/>
              <a:t>– The dependent values (the values you want to predict from).</a:t>
            </a:r>
          </a:p>
          <a:p>
            <a:r>
              <a:rPr lang="en-US" b="1" dirty="0"/>
              <a:t>known_x's </a:t>
            </a:r>
            <a:r>
              <a:rPr lang="en-US" dirty="0"/>
              <a:t>(optional) – The independent values (the existing input data).</a:t>
            </a:r>
          </a:p>
          <a:p>
            <a:r>
              <a:rPr lang="en-US" b="1" dirty="0"/>
              <a:t>new_x's </a:t>
            </a:r>
            <a:r>
              <a:rPr lang="en-US" dirty="0"/>
              <a:t>(optional) – The values for which you want to predict new y values.</a:t>
            </a:r>
          </a:p>
          <a:p>
            <a:r>
              <a:rPr lang="en-US" b="1" dirty="0"/>
              <a:t>const</a:t>
            </a:r>
            <a:r>
              <a:rPr lang="en-US" dirty="0"/>
              <a:t> (optional, default = TRUE) – If </a:t>
            </a:r>
            <a:r>
              <a:rPr lang="en-US" b="1" dirty="0"/>
              <a:t>TRUE</a:t>
            </a:r>
            <a:r>
              <a:rPr lang="en-US" dirty="0"/>
              <a:t>, the equation includes an intercept; if </a:t>
            </a:r>
            <a:r>
              <a:rPr lang="en-US" b="1" dirty="0"/>
              <a:t>FALSE</a:t>
            </a:r>
            <a:r>
              <a:rPr lang="en-US" dirty="0"/>
              <a:t>, the regression line passes through zero.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0930C-EFC1-4EA9-9234-A6A95B1A5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A0F8C-269F-4E3D-A7D4-39E79603E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64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29479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E3D20-6956-4755-97E5-49854DE13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Trend (Continues…)</a:t>
            </a:r>
            <a:endParaRPr lang="LID4096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EE25CB-A10A-4C92-BA10-79E74894C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/>
              <a:t>Advantages </a:t>
            </a:r>
            <a:endParaRPr lang="LID4096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3FBB09-F130-4D17-A55F-3A504E9622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Anomaly Detection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 </a:t>
            </a:r>
            <a:r>
              <a:rPr lang="en-US" dirty="0"/>
              <a:t>Helps </a:t>
            </a:r>
            <a:r>
              <a:rPr lang="en-US" b="1" dirty="0"/>
              <a:t>predict future attacks </a:t>
            </a:r>
            <a:r>
              <a:rPr lang="en-US" dirty="0"/>
              <a:t>by analyzing historical trends </a:t>
            </a:r>
            <a:endParaRPr lang="LID4096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E6D4F6-48A9-48E3-A4A3-3C349D2715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/>
              <a:t>Limitations</a:t>
            </a:r>
            <a:endParaRPr lang="LID4096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7F841A1-5CF7-464D-933E-6C2DBB9660D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False Positives/Negatives 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Historical Bias 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Requires large datasets for accuracy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Time Lag </a:t>
            </a:r>
            <a:r>
              <a:rPr lang="en-GB" dirty="0"/>
              <a:t>– Trends reflect past events</a:t>
            </a:r>
            <a:endParaRPr lang="LID4096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AFF68F-370D-4B7D-BE4E-88A26F4CD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17027A-910C-4033-A079-38AAA076C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65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77823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6B2015C-7498-49E7-B4F5-2530AD00F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Regression</a:t>
            </a:r>
            <a:endParaRPr lang="LID4096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3E71DB2-8C5C-4FFC-BB44-E229C234E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Regression</a:t>
            </a:r>
            <a:r>
              <a:rPr lang="en-US" dirty="0"/>
              <a:t> model relationships between variables.</a:t>
            </a:r>
          </a:p>
          <a:p>
            <a:r>
              <a:rPr lang="en-US" dirty="0"/>
              <a:t>Common types: 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Linear regression 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Logistic regression.</a:t>
            </a:r>
            <a:br>
              <a:rPr lang="en-US" dirty="0"/>
            </a:br>
            <a:endParaRPr lang="LID4096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A3F3124-C741-4D33-823F-B21BB3C12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944D8D-613B-48E9-8627-4592B8FBA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66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75838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21ECE9-A7BC-4C6C-B64B-D498F3F3F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Regression (Continues…)</a:t>
            </a:r>
            <a:endParaRPr lang="LID4096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A58F78-C5AA-4344-825F-A32FFBB98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/>
              <a:t>ADVANTAGES</a:t>
            </a:r>
            <a:endParaRPr lang="LID4096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E17BCB-E8EC-48AC-A44B-4179DEBFDC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Predictive Capability </a:t>
            </a:r>
            <a:r>
              <a:rPr lang="en-GB" dirty="0"/>
              <a:t>– Forecasts future threats.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Anomaly Detection </a:t>
            </a:r>
            <a:r>
              <a:rPr lang="en-GB" dirty="0"/>
              <a:t>– Identifies outliers.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Root Cause Analysis 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Automation Potential </a:t>
            </a:r>
            <a:r>
              <a:rPr lang="en-GB" dirty="0"/>
              <a:t>– </a:t>
            </a:r>
            <a:r>
              <a:rPr lang="en-US" dirty="0"/>
              <a:t>Integrates with AI/ML for real-time threat scoring.</a:t>
            </a:r>
            <a:endParaRPr lang="LID4096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9B6A0D-F145-4C05-8375-7DC0C509B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/>
              <a:t>LIMITATIONS</a:t>
            </a:r>
            <a:endParaRPr lang="LID4096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7FFAB61-DD79-485E-8EA6-309C9EB2E65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Lagging Indicators 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Data Quality Dependence </a:t>
            </a:r>
            <a:endParaRPr lang="LID4096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07018E5-158A-46D7-BC12-DB129D170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5C9F3C-E790-473F-AE8A-3BA3490AD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67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6866181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D85D09C-1FCA-4471-A56E-4773F8083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Regression (Continues…)</a:t>
            </a:r>
            <a:endParaRPr lang="LID4096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180C5D7-68FE-42AF-98EC-9FE738675C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b="1" dirty="0"/>
              <a:t>Question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 companies revenue depends on the amount spent on advertising, the relationship between sales and the advertising spent is modeled by the following regression equation.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/>
              <a:t>Sales = $500 + (10 * Advertising)</a:t>
            </a:r>
            <a:endParaRPr lang="LID4096" b="1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6D13774-DD91-4F4E-845A-7D45B568AFA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romanLcPeriod"/>
            </a:pPr>
            <a:r>
              <a:rPr lang="en-US" dirty="0"/>
              <a:t>If a company spends $2000 on advertising, predict the expected sales revenue.</a:t>
            </a:r>
          </a:p>
          <a:p>
            <a:pPr marL="0" indent="0">
              <a:buNone/>
            </a:pPr>
            <a:r>
              <a:rPr lang="en-US" dirty="0"/>
              <a:t> Sales = $500 + (10 * Advertising)</a:t>
            </a:r>
          </a:p>
          <a:p>
            <a:pPr marL="0" indent="0">
              <a:buNone/>
            </a:pPr>
            <a:r>
              <a:rPr lang="en-US" dirty="0"/>
              <a:t>          = $500 + (10 * $2000)</a:t>
            </a:r>
          </a:p>
          <a:p>
            <a:pPr marL="0" indent="0">
              <a:buNone/>
            </a:pPr>
            <a:r>
              <a:rPr lang="en-US" dirty="0"/>
              <a:t>          = $500 + $20000</a:t>
            </a:r>
          </a:p>
          <a:p>
            <a:pPr marL="0" indent="0">
              <a:buNone/>
            </a:pPr>
            <a:r>
              <a:rPr lang="en-US" dirty="0"/>
              <a:t>          = $20500</a:t>
            </a:r>
            <a:endParaRPr lang="LID4096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DA5179-33E9-470A-B4D4-A54EEB1C6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B41582-BAC5-4972-BC6A-DF2C613AC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68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5908515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BB48AE-091D-4492-898C-C76B672F3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VLOOKUP</a:t>
            </a:r>
            <a:endParaRPr lang="LID4096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865176E-2515-4EDD-BC4D-EFA7DA72C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Vertical Lookup </a:t>
            </a:r>
            <a:r>
              <a:rPr lang="en-US" dirty="0"/>
              <a:t>is an excel function.</a:t>
            </a:r>
          </a:p>
          <a:p>
            <a:r>
              <a:rPr lang="en-US" dirty="0"/>
              <a:t>It is used to search for a specific value in a column and return a corresponding value from another column in the same row.</a:t>
            </a:r>
          </a:p>
          <a:p>
            <a:r>
              <a:rPr lang="en-US" b="1" dirty="0"/>
              <a:t>Key Characteristics of VLOOKUP </a:t>
            </a:r>
            <a:r>
              <a:rPr lang="en-US" dirty="0"/>
              <a:t>–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Searches vertically </a:t>
            </a:r>
            <a:r>
              <a:rPr lang="en-US" dirty="0"/>
              <a:t>(top to bottom) in the first column of a table.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Can perform </a:t>
            </a:r>
            <a:r>
              <a:rPr lang="en-US" b="1" dirty="0"/>
              <a:t>exact</a:t>
            </a:r>
            <a:r>
              <a:rPr lang="en-US" dirty="0"/>
              <a:t> (FALSE) or </a:t>
            </a:r>
            <a:r>
              <a:rPr lang="en-US" b="1" dirty="0"/>
              <a:t>approximate</a:t>
            </a:r>
            <a:r>
              <a:rPr lang="en-US" dirty="0"/>
              <a:t> (TRUE) matches.</a:t>
            </a:r>
          </a:p>
          <a:p>
            <a:endParaRPr lang="en-US" dirty="0"/>
          </a:p>
          <a:p>
            <a:endParaRPr lang="LID4096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27DE1-0052-4A13-AC73-AE01EA231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3CE16-B46E-40E9-B229-7BF769EF9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69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0737867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46367-7BEA-4CA0-8526-588282ECA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VLOOKUP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5C85E-65F0-4825-8771-9CD63D3DB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basic </a:t>
            </a:r>
            <a:r>
              <a:rPr lang="en-GB" b="1" dirty="0"/>
              <a:t>syntax</a:t>
            </a:r>
            <a:r>
              <a:rPr lang="en-GB" dirty="0"/>
              <a:t> – </a:t>
            </a:r>
          </a:p>
          <a:p>
            <a:pPr marL="0" indent="0">
              <a:buNone/>
            </a:pPr>
            <a:r>
              <a:rPr lang="en-GB" dirty="0"/>
              <a:t>   </a:t>
            </a:r>
            <a:r>
              <a:rPr lang="en-US" dirty="0"/>
              <a:t>=VLOOKUP(lookup_value, table_array, col_index_num, [range_lookup])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lookup_value </a:t>
            </a:r>
            <a:r>
              <a:rPr lang="en-US" dirty="0"/>
              <a:t>– the value you want to search for.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table_array </a:t>
            </a:r>
            <a:r>
              <a:rPr lang="en-US" dirty="0"/>
              <a:t>– the range of cells containing the data.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col_index_num </a:t>
            </a:r>
            <a:r>
              <a:rPr lang="en-US" dirty="0"/>
              <a:t>– the column number from which to retrieve the value.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range_lookup </a:t>
            </a:r>
            <a:r>
              <a:rPr lang="en-US" dirty="0"/>
              <a:t>– default is TRUE (1) used for an approximate vale and FALSE (0) for an exact match.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7EDF3D-1772-4C65-9A9A-6CC389EC3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97E1C-9F84-4B02-836D-D06E79CCA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70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8224337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5EA26-8874-4202-AD2F-AD906AD7C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VLOOKUP (continues…)</a:t>
            </a:r>
            <a:endParaRPr lang="LID4096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9EA77D4-3597-4190-89A8-3203EB799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b="1" dirty="0"/>
              <a:t>Limitations of VLOOKUP</a:t>
            </a:r>
            <a:endParaRPr lang="LID4096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594B02-29EE-43C9-8AC2-D2949B1818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Left-to-Right Lookup Only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Exact Match Requirement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Slower with Large Datasets</a:t>
            </a:r>
            <a:endParaRPr lang="LID4096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9BF1538-3863-414B-8636-D02AFA1A5E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GB" b="1" dirty="0"/>
              <a:t>Alternatives to VLOOKUP</a:t>
            </a:r>
            <a:endParaRPr lang="LID4096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AABA3B0-BBF3-4D79-83EF-827E61E6B9B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INDEX-MATCH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XLOOKUP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HLOOKUP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FAED0-E10F-4B91-9208-AE43633F8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62603A-E0F8-46F4-82E3-3F188D8A1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71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6586324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1C0364E-4BC9-4D0B-8A00-F8B369B80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Grouping</a:t>
            </a:r>
            <a:endParaRPr lang="LID4096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46A330-DEEB-41DF-8230-04125B3F7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Grouping</a:t>
            </a:r>
            <a:r>
              <a:rPr lang="en-US" dirty="0"/>
              <a:t> is the process of organizing data into </a:t>
            </a:r>
            <a:r>
              <a:rPr lang="en-US" b="1" dirty="0"/>
              <a:t>categories</a:t>
            </a:r>
            <a:r>
              <a:rPr lang="en-US" dirty="0"/>
              <a:t> or </a:t>
            </a:r>
            <a:r>
              <a:rPr lang="en-US" b="1" dirty="0"/>
              <a:t>clusters </a:t>
            </a:r>
            <a:r>
              <a:rPr lang="en-US" dirty="0"/>
              <a:t>based on shared characteristics. </a:t>
            </a:r>
          </a:p>
          <a:p>
            <a:r>
              <a:rPr lang="en-US" dirty="0"/>
              <a:t>It enables analysts to: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Identify patterns and trends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Simplify complex datasets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Perform aggregate calculations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Compare subsets of data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195FBF-87B9-4329-AE33-6BC61E0E9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322F3F-3969-4059-AF4A-4AA7D6A59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72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188318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EE6C8-D69A-4DBB-9785-FD54D5149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Grouping (Continues…) 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64DCC-6592-46FB-B041-38EC4EAF4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Key </a:t>
            </a:r>
            <a:r>
              <a:rPr lang="en-GB" b="1" dirty="0"/>
              <a:t>Characteristics</a:t>
            </a:r>
            <a:r>
              <a:rPr lang="en-GB" dirty="0"/>
              <a:t> of grouping include – 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Categorization</a:t>
            </a:r>
            <a:r>
              <a:rPr lang="en-GB" dirty="0"/>
              <a:t> – </a:t>
            </a:r>
            <a:r>
              <a:rPr lang="en-US" dirty="0"/>
              <a:t>data is divided into meaningful buckets.</a:t>
            </a: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Aggregation</a:t>
            </a:r>
            <a:r>
              <a:rPr lang="en-GB" dirty="0"/>
              <a:t> – </a:t>
            </a:r>
            <a:r>
              <a:rPr lang="en-US" dirty="0"/>
              <a:t>enables summary statistics per group.</a:t>
            </a: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Comparative Analysis </a:t>
            </a:r>
            <a:r>
              <a:rPr lang="en-GB" dirty="0"/>
              <a:t>– allows group-to-group comparisons.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Dimensionality Reduction </a:t>
            </a:r>
            <a:r>
              <a:rPr lang="en-GB" dirty="0"/>
              <a:t>– simplifies large datasets.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1E8D0-6685-4842-973E-E13B58A41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6E78A4-B7DC-49CE-810C-11A524CE7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73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6203428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8A99F-957C-4F89-A95E-4E9531D14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Grouping (Continues…) 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D948A-6F21-4228-8D12-E09D53240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Methods of Grouping </a:t>
            </a:r>
            <a:r>
              <a:rPr lang="en-GB" dirty="0"/>
              <a:t>include – 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Basic Grouping Techniques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Manual Categorization </a:t>
            </a:r>
            <a:r>
              <a:rPr lang="en-GB" dirty="0"/>
              <a:t>– </a:t>
            </a:r>
            <a:r>
              <a:rPr lang="en-US" dirty="0"/>
              <a:t>Creating custom groups based on domain knowledge. For example, grouping alerts as "Malicious".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Automated Grouping </a:t>
            </a:r>
            <a:r>
              <a:rPr lang="en-GB" dirty="0"/>
              <a:t>– </a:t>
            </a:r>
            <a:r>
              <a:rPr lang="en-US" dirty="0"/>
              <a:t>Using functions like GROUP BY (SQL) or PivotTables (Excel).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7A089E-3C18-485F-8DDD-E15DD2149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086FB6-C566-4702-AFF1-EFA8FD700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74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9903694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1F1D6-2292-4386-8187-3E8DBA2F4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Grouping (Continues…) 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AA81D-1D3D-4B9E-A7A1-891062D85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2"/>
            </a:pPr>
            <a:r>
              <a:rPr lang="en-US" b="1" dirty="0"/>
              <a:t>Advanced Grouping Methods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Binning </a:t>
            </a:r>
            <a:r>
              <a:rPr lang="en-US" dirty="0"/>
              <a:t>– Creating ranges for continuous data (e.g., </a:t>
            </a:r>
            <a:r>
              <a:rPr lang="en-US" b="1" dirty="0"/>
              <a:t>CVSS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/>
              <a:t>Clustering</a:t>
            </a:r>
            <a:r>
              <a:rPr lang="en-US" dirty="0"/>
              <a:t> – </a:t>
            </a:r>
            <a:r>
              <a:rPr lang="en-US" b="1" dirty="0"/>
              <a:t>Machine learning </a:t>
            </a:r>
            <a:r>
              <a:rPr lang="en-US" dirty="0"/>
              <a:t>approach for finding natural groupings (e.g., clustering malware samples by behavior using algorithms like </a:t>
            </a:r>
            <a:r>
              <a:rPr lang="en-US" b="1" dirty="0"/>
              <a:t>K-means clustering</a:t>
            </a:r>
            <a:r>
              <a:rPr lang="en-US" dirty="0"/>
              <a:t>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20ED81-9081-4792-97D3-ED8CCFBF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B518BE-47DD-4554-BDA6-3F1CCC973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75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3035951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32FFE-8F97-4579-AE0B-96C9111D5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Grouping (Continues…) 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98BC4-AC0E-4EFD-AF57-C45687C08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Cybersecurity </a:t>
            </a:r>
            <a:r>
              <a:rPr lang="en-GB" b="1" dirty="0"/>
              <a:t>Applications of Grouping </a:t>
            </a:r>
            <a:r>
              <a:rPr lang="en-GB" dirty="0"/>
              <a:t>include –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 </a:t>
            </a:r>
            <a:r>
              <a:rPr lang="en-US" dirty="0"/>
              <a:t>Threat Intelligence Analysis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SIEM Alert Management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Vulnerability Management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Incident Investigation</a:t>
            </a:r>
          </a:p>
          <a:p>
            <a:pPr marL="457200" indent="-457200">
              <a:buFont typeface="+mj-lt"/>
              <a:buAutoNum type="arabicPeriod"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467C91-BA44-4DCA-A49C-115D23626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F9EB7B-633C-4178-9A5F-C63D9E06F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76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8230663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8A654E5-1527-4A86-B924-62D973248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Grouping (Continues…) </a:t>
            </a:r>
            <a:endParaRPr lang="LID4096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68615AD-0E53-4B66-AF8D-26FAA944B5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b="1" dirty="0"/>
              <a:t>Advantages</a:t>
            </a:r>
            <a:endParaRPr lang="LID4096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6115F60-D13F-4650-9559-F73C3E906C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Pattern Recognition 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Noise Reduction 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Simplifies large datasets by categorizing data 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Threat Correlation 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Prioritization</a:t>
            </a:r>
          </a:p>
          <a:p>
            <a:pPr marL="457200" indent="-457200">
              <a:buFont typeface="+mj-lt"/>
              <a:buAutoNum type="arabicPeriod"/>
            </a:pPr>
            <a:endParaRPr lang="LID4096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16C53BF-EAF4-4B14-A86B-6ABCB201FB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b="1" dirty="0"/>
              <a:t>Disadvantages</a:t>
            </a:r>
            <a:endParaRPr lang="LID4096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01EF1C3-9BAD-40A9-BF95-2A474B88A60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May hide important outliers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Incorrect grouping can link unrelated events 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Static Grouping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7866F1-9B52-4B5A-BC91-69CEFE4E6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0F25F-8019-4A4A-974C-7DEA98BE2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77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341984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AF8CDEA-CA88-49AA-A38B-A6D8AA40F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Summarization</a:t>
            </a:r>
            <a:endParaRPr lang="LID4096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44F0397-CFCC-4E4B-805C-7B6094C1E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the process of </a:t>
            </a:r>
            <a:r>
              <a:rPr lang="en-US" b="1" dirty="0"/>
              <a:t>distilling large datasets into concise</a:t>
            </a:r>
            <a:r>
              <a:rPr lang="en-US" dirty="0"/>
              <a:t>, meaningful statistics and metrics that represent key characteristics of the data.</a:t>
            </a:r>
          </a:p>
          <a:p>
            <a:r>
              <a:rPr lang="en-US" dirty="0"/>
              <a:t>Its </a:t>
            </a:r>
            <a:r>
              <a:rPr lang="en-US" b="1" dirty="0"/>
              <a:t>purpose</a:t>
            </a:r>
            <a:r>
              <a:rPr lang="en-US" dirty="0"/>
              <a:t> is to – 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Reduce data complexity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Support decision-making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75E102-BFA8-43D9-83F0-707186CBE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705F265-8050-4E73-91B3-8CDFEC164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78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1068232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70400-7EB1-4BAF-85E8-E15F9EC1D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Summarization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3926-CB90-4ADF-9240-CC67C32EC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Summarization Techniques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Descriptive Statistics</a:t>
            </a:r>
            <a:r>
              <a:rPr lang="en-US" b="1" dirty="0"/>
              <a:t> </a:t>
            </a:r>
            <a:r>
              <a:rPr lang="en-US" dirty="0"/>
              <a:t>– include count, median, mean, mode, Standard Deviation (SD) and range.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Frequency Distributions </a:t>
            </a:r>
            <a:r>
              <a:rPr lang="en-GB" dirty="0"/>
              <a:t>– </a:t>
            </a:r>
            <a:r>
              <a:rPr lang="en-US" dirty="0"/>
              <a:t>tally of how often values occur.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Aggregate Functions </a:t>
            </a:r>
            <a:r>
              <a:rPr lang="en-US" dirty="0"/>
              <a:t>– common functions include </a:t>
            </a:r>
            <a:r>
              <a:rPr lang="en-US" b="1" dirty="0"/>
              <a:t>SUM()</a:t>
            </a:r>
            <a:r>
              <a:rPr lang="en-US" dirty="0"/>
              <a:t>,</a:t>
            </a:r>
            <a:r>
              <a:rPr lang="en-US" b="1" dirty="0"/>
              <a:t> AVG()</a:t>
            </a:r>
            <a:r>
              <a:rPr lang="en-US" dirty="0"/>
              <a:t>,</a:t>
            </a:r>
            <a:r>
              <a:rPr lang="en-US" b="1" dirty="0"/>
              <a:t> COUNT()</a:t>
            </a:r>
            <a:r>
              <a:rPr lang="en-US" dirty="0"/>
              <a:t>,</a:t>
            </a:r>
            <a:r>
              <a:rPr lang="en-US" b="1" dirty="0"/>
              <a:t> MAX()</a:t>
            </a:r>
            <a:r>
              <a:rPr lang="en-US" dirty="0"/>
              <a:t>,</a:t>
            </a:r>
            <a:r>
              <a:rPr lang="en-US" b="1" dirty="0"/>
              <a:t> MIN()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dirty="0"/>
              <a:t>and</a:t>
            </a:r>
            <a:r>
              <a:rPr lang="en-US" b="1" dirty="0"/>
              <a:t> PERCENTILE()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4DB98E-CF4D-4CC8-A3FC-28D1CD3E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F6C18E-2241-45E5-A376-4B3367C0F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79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5235821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0A366-90A9-4595-AADC-9FE061C89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Summarization (Continues…)</a:t>
            </a:r>
            <a:endParaRPr lang="LID4096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607A65-F548-4D0B-832C-0E70B6AA8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b="1" dirty="0"/>
              <a:t>Visualization of Summaries</a:t>
            </a:r>
            <a:endParaRPr lang="LID4096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EF4130-0872-4103-A5ED-B07701D740C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Bar Charts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Pie Charts</a:t>
            </a:r>
            <a:endParaRPr lang="LID4096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381585-11E5-4F73-9EEC-FAD7058D3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GB" b="1" dirty="0"/>
              <a:t>Advantages</a:t>
            </a:r>
            <a:endParaRPr lang="LID4096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64E03DC-C6B6-411C-B712-F56CDAF807E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Simplifies Complex Data 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Improves Decision-Making 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Enhances Reporting 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23368-01FA-46DA-8B61-38F6866D2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B85C72-19C1-4223-AE81-B97CE2949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80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7601246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5B781A8-B487-4046-A9AA-3B12941A1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Stratification</a:t>
            </a:r>
            <a:endParaRPr lang="LID4096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BB501EB-4C83-4AA7-BDF1-6B81C1161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Is the process of </a:t>
            </a:r>
            <a:r>
              <a:rPr lang="en-US" b="1" dirty="0"/>
              <a:t>dividing a population into homogeneous subgroups (strata) </a:t>
            </a:r>
            <a:r>
              <a:rPr lang="en-US" dirty="0"/>
              <a:t>based on shared characteristics.</a:t>
            </a:r>
          </a:p>
          <a:p>
            <a:r>
              <a:rPr lang="en-GB" b="1" dirty="0"/>
              <a:t>Characteristics</a:t>
            </a:r>
            <a:r>
              <a:rPr lang="en-US" b="1" dirty="0"/>
              <a:t> of stratification </a:t>
            </a:r>
            <a:r>
              <a:rPr lang="en-US" dirty="0"/>
              <a:t>include –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Segmentation</a:t>
            </a:r>
            <a:r>
              <a:rPr lang="en-US" dirty="0"/>
              <a:t> – creates meaningful </a:t>
            </a:r>
            <a:r>
              <a:rPr lang="en-US" b="1" dirty="0"/>
              <a:t>subgroups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Homogeneity</a:t>
            </a:r>
            <a:r>
              <a:rPr lang="en-US" dirty="0"/>
              <a:t> – members within </a:t>
            </a:r>
            <a:r>
              <a:rPr lang="en-US" b="1" dirty="0"/>
              <a:t>strata are similar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Heterogeneity</a:t>
            </a:r>
            <a:r>
              <a:rPr lang="en-US" dirty="0"/>
              <a:t> – </a:t>
            </a:r>
            <a:r>
              <a:rPr lang="en-US" b="1" dirty="0"/>
              <a:t>strata differ </a:t>
            </a:r>
            <a:r>
              <a:rPr lang="en-US" dirty="0"/>
              <a:t>significantly from each other.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Representation</a:t>
            </a:r>
            <a:r>
              <a:rPr lang="en-US" dirty="0"/>
              <a:t> – maintains population </a:t>
            </a:r>
            <a:r>
              <a:rPr lang="en-US" b="1" dirty="0"/>
              <a:t>proportions</a:t>
            </a:r>
            <a:r>
              <a:rPr lang="en-US" dirty="0"/>
              <a:t>.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3A3B5F-9609-410C-99C9-427ED4DCC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B852671-F327-40A1-ABEA-BFC75DEB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81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625494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3E3B8-C3D4-45DB-B1EF-C4B183D00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Stratification (Continues…)</a:t>
            </a:r>
            <a:endParaRPr lang="LID4096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0A33B4-52D9-40F1-B659-1207998A6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GB" b="1" dirty="0"/>
              <a:t>Advantages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87389-A4A1-49CE-AA0F-7F9D6E5E58D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Targeted Threat Detection 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Reveals attack patterns 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Organizes data according </a:t>
            </a:r>
            <a:endParaRPr lang="LID4096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573101C-7841-441C-9A4B-46212FEA70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GB" b="1" dirty="0"/>
              <a:t>Disadvantages</a:t>
            </a:r>
            <a:endParaRPr lang="LID4096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6D38A55-48DB-45B3-802F-AC41CFBDFBA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Over-Segmentation Risk 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Increased Complexity 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Stratification Bias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23A11A-DCDB-45A8-ACB5-89D29ED8F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F5328A-D541-4EE0-81F5-87731069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82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58038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58C0022-AD46-4C7E-AA33-E1AFDF568B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b="1" dirty="0"/>
              <a:t>DATA ANALYSIS</a:t>
            </a:r>
            <a:endParaRPr lang="LID4096" b="1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15530216-ECCF-4E20-BEDF-5E1BC009CA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UNIT 3</a:t>
            </a:r>
            <a:endParaRPr lang="LID4096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EA88778-39DF-459C-AC84-EED1BF31D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4DF313B-9346-4579-8E0B-6ACF92685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83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623996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5A0E5-E741-4D3F-A7E7-5655CE4CE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TYPE OF DATA ANALYSIS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F97C4-264E-4B09-B4E9-70FE6FF77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Quantitative</a:t>
            </a:r>
          </a:p>
          <a:p>
            <a:r>
              <a:rPr lang="en-US" dirty="0"/>
              <a:t> It involves </a:t>
            </a:r>
            <a:r>
              <a:rPr lang="en-US" b="1" dirty="0"/>
              <a:t>numerical data </a:t>
            </a:r>
            <a:r>
              <a:rPr lang="en-US" dirty="0"/>
              <a:t>and </a:t>
            </a:r>
            <a:r>
              <a:rPr lang="en-US" b="1" dirty="0"/>
              <a:t>statistical techniques </a:t>
            </a:r>
            <a:r>
              <a:rPr lang="en-US" dirty="0"/>
              <a:t>to detect, analyze, and prevent cyber threats.</a:t>
            </a:r>
          </a:p>
          <a:p>
            <a:r>
              <a:rPr lang="en-US" dirty="0"/>
              <a:t>It deals with data which is </a:t>
            </a:r>
            <a:r>
              <a:rPr lang="en-US" b="1" dirty="0"/>
              <a:t>numerical</a:t>
            </a:r>
            <a:r>
              <a:rPr lang="en-US" dirty="0"/>
              <a:t>, </a:t>
            </a:r>
            <a:r>
              <a:rPr lang="en-US" b="1" dirty="0"/>
              <a:t>measurable</a:t>
            </a:r>
            <a:r>
              <a:rPr lang="en-US" dirty="0"/>
              <a:t> and </a:t>
            </a:r>
            <a:r>
              <a:rPr lang="en-US" b="1" dirty="0"/>
              <a:t>comparable</a:t>
            </a:r>
            <a:r>
              <a:rPr lang="en-US" dirty="0"/>
              <a:t>.</a:t>
            </a:r>
          </a:p>
          <a:p>
            <a:r>
              <a:rPr lang="en-US" dirty="0"/>
              <a:t>Understanding the </a:t>
            </a:r>
            <a:r>
              <a:rPr lang="en-US" b="1" dirty="0"/>
              <a:t>types of quantitative data </a:t>
            </a:r>
            <a:r>
              <a:rPr lang="en-US" dirty="0"/>
              <a:t>analysis will use the key word </a:t>
            </a:r>
            <a:r>
              <a:rPr lang="en-US" b="1" dirty="0"/>
              <a:t>(SDP)² CT </a:t>
            </a:r>
            <a:r>
              <a:rPr lang="en-US" dirty="0"/>
              <a:t>which includes </a:t>
            </a:r>
            <a:r>
              <a:rPr lang="en-US" b="1" dirty="0"/>
              <a:t>Statistical</a:t>
            </a:r>
            <a:r>
              <a:rPr lang="en-US" dirty="0"/>
              <a:t>, </a:t>
            </a:r>
            <a:r>
              <a:rPr lang="en-US" b="1" dirty="0"/>
              <a:t>Spatial</a:t>
            </a:r>
            <a:r>
              <a:rPr lang="en-US" dirty="0"/>
              <a:t>, </a:t>
            </a:r>
            <a:r>
              <a:rPr lang="en-US" b="1" dirty="0"/>
              <a:t>Descriptive</a:t>
            </a:r>
            <a:r>
              <a:rPr lang="en-US" dirty="0"/>
              <a:t>, </a:t>
            </a:r>
            <a:r>
              <a:rPr lang="en-US" b="1" dirty="0"/>
              <a:t>Diagnostic</a:t>
            </a:r>
            <a:r>
              <a:rPr lang="en-US" dirty="0"/>
              <a:t>, </a:t>
            </a:r>
            <a:r>
              <a:rPr lang="en-US" b="1" dirty="0"/>
              <a:t>Prescription</a:t>
            </a:r>
            <a:r>
              <a:rPr lang="en-US" dirty="0"/>
              <a:t>, </a:t>
            </a:r>
            <a:r>
              <a:rPr lang="en-US" b="1" dirty="0"/>
              <a:t>Predictive</a:t>
            </a:r>
            <a:r>
              <a:rPr lang="en-US" dirty="0"/>
              <a:t>, </a:t>
            </a:r>
            <a:r>
              <a:rPr lang="en-US" b="1" dirty="0"/>
              <a:t>Comparative</a:t>
            </a:r>
            <a:r>
              <a:rPr lang="en-US" dirty="0"/>
              <a:t> and </a:t>
            </a:r>
            <a:r>
              <a:rPr lang="en-US" b="1" dirty="0"/>
              <a:t>Time Series Analysis</a:t>
            </a:r>
            <a:r>
              <a:rPr lang="en-US" dirty="0"/>
              <a:t>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3A53D7-DF26-4521-B361-4D87FE5E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175ED1-9A9F-4E3A-9C99-829BF01AA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84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2659935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61E8A-201C-43EE-88B2-56795C275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TYPE OF DATA ANALYSIS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70113-7550-4088-A012-CD8003C0C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3200" b="1" dirty="0"/>
              <a:t>Types of Quantitative Data Analysis</a:t>
            </a:r>
          </a:p>
          <a:p>
            <a:pPr marL="457200" indent="-457200">
              <a:buFont typeface="+mj-lt"/>
              <a:buAutoNum type="alphaUcPeriod"/>
            </a:pPr>
            <a:r>
              <a:rPr lang="en-GB" b="1" dirty="0"/>
              <a:t>Descriptive Analysis</a:t>
            </a:r>
          </a:p>
          <a:p>
            <a:r>
              <a:rPr lang="en-US" b="1" dirty="0"/>
              <a:t>Summarizes</a:t>
            </a:r>
            <a:r>
              <a:rPr lang="en-US" dirty="0"/>
              <a:t> and </a:t>
            </a:r>
            <a:r>
              <a:rPr lang="en-US" b="1" dirty="0"/>
              <a:t>describes key features </a:t>
            </a:r>
            <a:r>
              <a:rPr lang="en-US" dirty="0"/>
              <a:t>of security data.</a:t>
            </a:r>
          </a:p>
          <a:p>
            <a:r>
              <a:rPr lang="en-GB" b="1" dirty="0"/>
              <a:t>Cybersecurity Application </a:t>
            </a:r>
            <a:r>
              <a:rPr lang="en-GB" dirty="0"/>
              <a:t>– summarizing DDoS attack durations.</a:t>
            </a:r>
          </a:p>
          <a:p>
            <a:r>
              <a:rPr lang="en-GB" b="1" dirty="0"/>
              <a:t>Tools</a:t>
            </a:r>
            <a:r>
              <a:rPr lang="en-GB" dirty="0"/>
              <a:t> – </a:t>
            </a:r>
            <a:r>
              <a:rPr lang="en-GB" b="1" dirty="0"/>
              <a:t>SIEM </a:t>
            </a:r>
            <a:r>
              <a:rPr lang="en-GB" dirty="0"/>
              <a:t>dashboards, </a:t>
            </a:r>
            <a:r>
              <a:rPr lang="en-GB" b="1" dirty="0"/>
              <a:t>Excel</a:t>
            </a:r>
            <a:r>
              <a:rPr lang="en-GB" dirty="0"/>
              <a:t> and </a:t>
            </a:r>
            <a:r>
              <a:rPr lang="en-GB" b="1" dirty="0"/>
              <a:t>Tableau</a:t>
            </a:r>
            <a:r>
              <a:rPr lang="en-GB" dirty="0"/>
              <a:t>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B6417-40A4-423C-9E18-F253568B3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2FAAA1-41A2-4552-BC7F-14B264708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85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6967011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153B8-B70B-4C06-9B42-42A736349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 OF DATA ANALYSIS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0B86B-2C51-47EE-A1C4-EBDDBBC7C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3200" b="1" dirty="0"/>
              <a:t>Types of Quantitative Data Analysis</a:t>
            </a:r>
            <a:r>
              <a:rPr lang="en-US" sz="3200" b="1" dirty="0"/>
              <a:t> (Continues…)</a:t>
            </a:r>
          </a:p>
          <a:p>
            <a:pPr marL="457200" indent="-457200">
              <a:buAutoNum type="alphaUcPeriod" startAt="2"/>
            </a:pPr>
            <a:r>
              <a:rPr lang="en-US" b="1" dirty="0"/>
              <a:t>Diagnostic Analysis </a:t>
            </a:r>
          </a:p>
          <a:p>
            <a:r>
              <a:rPr lang="en-US" dirty="0"/>
              <a:t>Examines </a:t>
            </a:r>
            <a:r>
              <a:rPr lang="en-US" b="1" dirty="0"/>
              <a:t>why</a:t>
            </a:r>
            <a:r>
              <a:rPr lang="en-US" dirty="0"/>
              <a:t> security events occurred.</a:t>
            </a:r>
          </a:p>
          <a:p>
            <a:r>
              <a:rPr lang="en-US" b="1" dirty="0"/>
              <a:t>Cybersecurity Application </a:t>
            </a:r>
            <a:r>
              <a:rPr lang="en-US" dirty="0"/>
              <a:t>– Determining </a:t>
            </a:r>
            <a:r>
              <a:rPr lang="en-US" b="1" dirty="0"/>
              <a:t>root causes </a:t>
            </a:r>
            <a:r>
              <a:rPr lang="en-US" dirty="0"/>
              <a:t>of breaches.</a:t>
            </a:r>
          </a:p>
          <a:p>
            <a:r>
              <a:rPr lang="en-US" b="1" dirty="0"/>
              <a:t>Tools</a:t>
            </a:r>
            <a:r>
              <a:rPr lang="en-US" dirty="0"/>
              <a:t> – Splunk.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EE2C2-CA56-4B9A-8CE8-A69CE4020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323463-207E-4241-83AD-34E22B900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86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8270873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153B8-B70B-4C06-9B42-42A736349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 OF DATA ANALYSIS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0B86B-2C51-47EE-A1C4-EBDDBBC7C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3200" b="1" dirty="0"/>
              <a:t>Types of Quantitative Data Analysis</a:t>
            </a:r>
            <a:r>
              <a:rPr lang="en-US" sz="3200" b="1" dirty="0"/>
              <a:t> (Continues…)</a:t>
            </a:r>
          </a:p>
          <a:p>
            <a:pPr marL="457200" indent="-457200">
              <a:buAutoNum type="alphaUcPeriod" startAt="3"/>
            </a:pPr>
            <a:r>
              <a:rPr lang="en-US" b="1" dirty="0"/>
              <a:t>Predictive Analysis</a:t>
            </a:r>
          </a:p>
          <a:p>
            <a:r>
              <a:rPr lang="en-US" dirty="0"/>
              <a:t>Uses historical data to </a:t>
            </a:r>
            <a:r>
              <a:rPr lang="en-US" b="1" dirty="0"/>
              <a:t>forecast future threats</a:t>
            </a:r>
            <a:r>
              <a:rPr lang="en-US" dirty="0"/>
              <a:t>.</a:t>
            </a:r>
          </a:p>
          <a:p>
            <a:r>
              <a:rPr lang="en-US" b="1" dirty="0"/>
              <a:t>Cybersecurity Applications </a:t>
            </a:r>
            <a:r>
              <a:rPr lang="en-US" dirty="0"/>
              <a:t>– </a:t>
            </a:r>
            <a:r>
              <a:rPr lang="en-US" b="1" dirty="0"/>
              <a:t>Predicting attack volumes </a:t>
            </a:r>
            <a:r>
              <a:rPr lang="en-US" dirty="0"/>
              <a:t>based on historical trends and </a:t>
            </a:r>
            <a:r>
              <a:rPr lang="en-US" b="1" dirty="0"/>
              <a:t>Forecasting potential DDoS attack times</a:t>
            </a:r>
            <a:r>
              <a:rPr lang="en-US" dirty="0"/>
              <a:t>.</a:t>
            </a:r>
          </a:p>
          <a:p>
            <a:r>
              <a:rPr lang="en-US" b="1" dirty="0"/>
              <a:t>Tools</a:t>
            </a:r>
            <a:r>
              <a:rPr lang="en-US" dirty="0"/>
              <a:t> – Machine Learning (ML).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EE2C2-CA56-4B9A-8CE8-A69CE4020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323463-207E-4241-83AD-34E22B900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87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1728171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153B8-B70B-4C06-9B42-42A736349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 OF DATA ANALYSIS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0B86B-2C51-47EE-A1C4-EBDDBBC7C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3200" b="1" dirty="0"/>
              <a:t>Types of Quantitative Data Analysis</a:t>
            </a:r>
            <a:r>
              <a:rPr lang="en-US" sz="3200" b="1" dirty="0"/>
              <a:t> (Continues…)</a:t>
            </a:r>
          </a:p>
          <a:p>
            <a:pPr marL="457200" indent="-457200">
              <a:buAutoNum type="alphaUcPeriod" startAt="4"/>
            </a:pPr>
            <a:r>
              <a:rPr lang="en-US" b="1" dirty="0"/>
              <a:t>Prescriptive Analysis</a:t>
            </a:r>
          </a:p>
          <a:p>
            <a:r>
              <a:rPr lang="en-US" dirty="0"/>
              <a:t> </a:t>
            </a:r>
            <a:r>
              <a:rPr lang="en-US" b="1" dirty="0"/>
              <a:t>Recommends</a:t>
            </a:r>
            <a:r>
              <a:rPr lang="en-US" dirty="0"/>
              <a:t> actions based on data insights.</a:t>
            </a:r>
          </a:p>
          <a:p>
            <a:r>
              <a:rPr lang="en-US" b="1" dirty="0"/>
              <a:t>Cybersecurity Applications </a:t>
            </a:r>
            <a:r>
              <a:rPr lang="en-US" dirty="0"/>
              <a:t>– </a:t>
            </a:r>
            <a:r>
              <a:rPr lang="en-US" b="1" dirty="0"/>
              <a:t>automated patching </a:t>
            </a:r>
            <a:r>
              <a:rPr lang="en-US" dirty="0"/>
              <a:t>prioritization and dynamic firewall rule recommendations.</a:t>
            </a:r>
          </a:p>
          <a:p>
            <a:r>
              <a:rPr lang="en-US" b="1" dirty="0"/>
              <a:t>Tools</a:t>
            </a:r>
            <a:r>
              <a:rPr lang="en-US" dirty="0"/>
              <a:t> – SOAR platforms.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EE2C2-CA56-4B9A-8CE8-A69CE4020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323463-207E-4241-83AD-34E22B900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88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8886836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153B8-B70B-4C06-9B42-42A736349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 OF DATA ANALYSIS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0B86B-2C51-47EE-A1C4-EBDDBBC7C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3200" b="1" dirty="0"/>
              <a:t>Types of Quantitative Data Analysis</a:t>
            </a:r>
            <a:r>
              <a:rPr lang="en-US" sz="3200" b="1" dirty="0"/>
              <a:t> (Continues…)</a:t>
            </a:r>
          </a:p>
          <a:p>
            <a:pPr marL="457200" indent="-457200">
              <a:buAutoNum type="alphaUcPeriod" startAt="5"/>
            </a:pPr>
            <a:r>
              <a:rPr lang="en-US" b="1" dirty="0"/>
              <a:t>Comparative Analysis </a:t>
            </a:r>
          </a:p>
          <a:p>
            <a:r>
              <a:rPr lang="en-US" b="1" dirty="0"/>
              <a:t>Benchmarks</a:t>
            </a:r>
            <a:r>
              <a:rPr lang="en-US" dirty="0"/>
              <a:t> security metrics against standards.</a:t>
            </a:r>
          </a:p>
          <a:p>
            <a:r>
              <a:rPr lang="en-US" b="1" dirty="0"/>
              <a:t>Cybersecurity Application </a:t>
            </a:r>
            <a:r>
              <a:rPr lang="en-US" dirty="0"/>
              <a:t>– measuring security posture against industry benchmarks.</a:t>
            </a:r>
          </a:p>
          <a:p>
            <a:r>
              <a:rPr lang="en-US" b="1" dirty="0"/>
              <a:t>Tools</a:t>
            </a:r>
            <a:r>
              <a:rPr lang="en-US" dirty="0"/>
              <a:t> – Security Scorecard.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EE2C2-CA56-4B9A-8CE8-A69CE4020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323463-207E-4241-83AD-34E22B900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89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9303694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153B8-B70B-4C06-9B42-42A736349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 OF DATA ANALYSIS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0B86B-2C51-47EE-A1C4-EBDDBBC7C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3200" b="1" dirty="0"/>
              <a:t>Types of Quantitative Data Analysis</a:t>
            </a:r>
            <a:r>
              <a:rPr lang="en-US" sz="3200" b="1" dirty="0"/>
              <a:t> (Continues…)</a:t>
            </a:r>
          </a:p>
          <a:p>
            <a:pPr marL="457200" indent="-457200">
              <a:buAutoNum type="alphaUcPeriod" startAt="6"/>
            </a:pPr>
            <a:r>
              <a:rPr lang="en-US" b="1" dirty="0"/>
              <a:t>Time Series Analysis</a:t>
            </a:r>
          </a:p>
          <a:p>
            <a:r>
              <a:rPr lang="en-US" dirty="0"/>
              <a:t>Examines security data points </a:t>
            </a:r>
            <a:r>
              <a:rPr lang="en-US" b="1" dirty="0"/>
              <a:t>over time</a:t>
            </a:r>
            <a:r>
              <a:rPr lang="en-US" dirty="0"/>
              <a:t>.</a:t>
            </a:r>
          </a:p>
          <a:p>
            <a:r>
              <a:rPr lang="en-US" b="1" dirty="0"/>
              <a:t>Cybersecurity Application </a:t>
            </a:r>
            <a:r>
              <a:rPr lang="en-US" dirty="0"/>
              <a:t>– detecting seasonal attack patterns.</a:t>
            </a:r>
          </a:p>
          <a:p>
            <a:r>
              <a:rPr lang="en-US" b="1" dirty="0"/>
              <a:t>Tools</a:t>
            </a:r>
            <a:r>
              <a:rPr lang="en-US" dirty="0"/>
              <a:t> – </a:t>
            </a:r>
            <a:r>
              <a:rPr lang="en-US" b="1" dirty="0"/>
              <a:t>Elasticsearch</a:t>
            </a:r>
            <a:r>
              <a:rPr lang="en-US" dirty="0"/>
              <a:t>, and </a:t>
            </a:r>
            <a:r>
              <a:rPr lang="en-US" b="1" dirty="0"/>
              <a:t>Pandas</a:t>
            </a:r>
            <a:r>
              <a:rPr lang="en-US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EE2C2-CA56-4B9A-8CE8-A69CE4020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323463-207E-4241-83AD-34E22B900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90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473957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153B8-B70B-4C06-9B42-42A736349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 OF DATA ANALYSIS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0B86B-2C51-47EE-A1C4-EBDDBBC7C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3200" b="1" dirty="0"/>
              <a:t>Types of Quantitative Data Analysis</a:t>
            </a:r>
            <a:r>
              <a:rPr lang="en-US" sz="3200" b="1" dirty="0"/>
              <a:t> (Continues…)</a:t>
            </a:r>
          </a:p>
          <a:p>
            <a:pPr marL="457200" indent="-457200">
              <a:buAutoNum type="alphaUcPeriod" startAt="7"/>
            </a:pPr>
            <a:r>
              <a:rPr lang="en-US" b="1" dirty="0"/>
              <a:t>Statistical Analysis </a:t>
            </a:r>
          </a:p>
          <a:p>
            <a:r>
              <a:rPr lang="en-US" dirty="0"/>
              <a:t>Applies </a:t>
            </a:r>
            <a:r>
              <a:rPr lang="en-US" b="1" dirty="0"/>
              <a:t>mathematical models </a:t>
            </a:r>
            <a:r>
              <a:rPr lang="en-US" dirty="0"/>
              <a:t>to security data.</a:t>
            </a:r>
          </a:p>
          <a:p>
            <a:r>
              <a:rPr lang="en-US" b="1" dirty="0"/>
              <a:t>Cybersecurity Applications </a:t>
            </a:r>
            <a:r>
              <a:rPr lang="en-US" dirty="0"/>
              <a:t>– </a:t>
            </a:r>
            <a:r>
              <a:rPr lang="en-US" b="1" dirty="0"/>
              <a:t>calculating probabilities </a:t>
            </a:r>
            <a:r>
              <a:rPr lang="en-US" dirty="0"/>
              <a:t>of breach scenarios and performing </a:t>
            </a:r>
            <a:r>
              <a:rPr lang="en-US" b="1" dirty="0"/>
              <a:t>regression</a:t>
            </a:r>
            <a:r>
              <a:rPr lang="en-US" dirty="0"/>
              <a:t> analysis on attack vectors. </a:t>
            </a:r>
          </a:p>
          <a:p>
            <a:r>
              <a:rPr lang="en-US" b="1" dirty="0"/>
              <a:t>Tools </a:t>
            </a:r>
            <a:r>
              <a:rPr lang="en-US" dirty="0"/>
              <a:t>– </a:t>
            </a:r>
            <a:r>
              <a:rPr lang="en-US" b="1" dirty="0"/>
              <a:t>R</a:t>
            </a:r>
            <a:r>
              <a:rPr lang="en-US" dirty="0"/>
              <a:t> and </a:t>
            </a:r>
            <a:r>
              <a:rPr lang="en-US" b="1" dirty="0"/>
              <a:t>Python</a:t>
            </a:r>
            <a:r>
              <a:rPr lang="en-US" dirty="0"/>
              <a:t> (NumPy and SciPy)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EE2C2-CA56-4B9A-8CE8-A69CE4020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323463-207E-4241-83AD-34E22B900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91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1575920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153B8-B70B-4C06-9B42-42A736349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 OF DATA ANALYSIS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0B86B-2C51-47EE-A1C4-EBDDBBC7C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3200" b="1" dirty="0"/>
              <a:t>Types of Quantitative Data Analysis</a:t>
            </a:r>
            <a:r>
              <a:rPr lang="en-US" sz="3200" b="1" dirty="0"/>
              <a:t> (Continues…)</a:t>
            </a:r>
          </a:p>
          <a:p>
            <a:pPr marL="457200" indent="-457200">
              <a:buAutoNum type="alphaUcPeriod" startAt="8"/>
            </a:pPr>
            <a:r>
              <a:rPr lang="en-US" b="1" dirty="0"/>
              <a:t>Spatial Analysis</a:t>
            </a:r>
          </a:p>
          <a:p>
            <a:r>
              <a:rPr lang="en-US" dirty="0"/>
              <a:t>Examines </a:t>
            </a:r>
            <a:r>
              <a:rPr lang="en-US" b="1" dirty="0"/>
              <a:t>geographic</a:t>
            </a:r>
            <a:r>
              <a:rPr lang="en-US" dirty="0"/>
              <a:t> patterns in threats.</a:t>
            </a:r>
          </a:p>
          <a:p>
            <a:r>
              <a:rPr lang="en-US" b="1" dirty="0"/>
              <a:t>Cybersecurity Application </a:t>
            </a:r>
            <a:r>
              <a:rPr lang="en-US" dirty="0"/>
              <a:t>– correlating physical locations with breach attempts.</a:t>
            </a:r>
          </a:p>
          <a:p>
            <a:r>
              <a:rPr lang="en-US" b="1" dirty="0"/>
              <a:t>Tools</a:t>
            </a:r>
            <a:r>
              <a:rPr lang="en-US" dirty="0"/>
              <a:t> – </a:t>
            </a:r>
            <a:r>
              <a:rPr lang="en-US" b="1" dirty="0"/>
              <a:t>GeoIP</a:t>
            </a:r>
            <a:r>
              <a:rPr lang="en-US" dirty="0"/>
              <a:t> and </a:t>
            </a:r>
            <a:r>
              <a:rPr lang="en-US" b="1" dirty="0"/>
              <a:t>ArcGIS</a:t>
            </a:r>
            <a:r>
              <a:rPr lang="en-US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EE2C2-CA56-4B9A-8CE8-A69CE4020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323463-207E-4241-83AD-34E22B900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92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282212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C07E7-CACA-43D3-A6E2-4E9BC4066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 OF DATA ANALYSIS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16881-9871-49AD-9BA4-FAF77C852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3200" b="1" dirty="0"/>
              <a:t>Other types of Quantitative Data Analysis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Sorting</a:t>
            </a:r>
          </a:p>
          <a:p>
            <a:r>
              <a:rPr lang="en-US" b="1" dirty="0"/>
              <a:t>Organizing data in a structured order </a:t>
            </a:r>
            <a:r>
              <a:rPr lang="en-US" dirty="0"/>
              <a:t>(e.g., chronological, severity-based) to identify trends, outliers, or critical events.</a:t>
            </a:r>
          </a:p>
          <a:p>
            <a:r>
              <a:rPr lang="en-US" b="1" dirty="0"/>
              <a:t>Tools</a:t>
            </a:r>
            <a:r>
              <a:rPr lang="en-US" dirty="0"/>
              <a:t> –  </a:t>
            </a:r>
            <a:r>
              <a:rPr lang="en-US" b="1" dirty="0"/>
              <a:t>Splunk</a:t>
            </a:r>
            <a:r>
              <a:rPr lang="en-US" dirty="0"/>
              <a:t>, </a:t>
            </a:r>
            <a:r>
              <a:rPr lang="en-US" b="1" dirty="0"/>
              <a:t>Nessus</a:t>
            </a:r>
            <a:r>
              <a:rPr lang="en-US" dirty="0"/>
              <a:t> and </a:t>
            </a:r>
            <a:r>
              <a:rPr lang="en-US" b="1" dirty="0"/>
              <a:t>Qualys</a:t>
            </a:r>
            <a:r>
              <a:rPr lang="en-US" dirty="0"/>
              <a:t>.</a:t>
            </a:r>
          </a:p>
          <a:p>
            <a:r>
              <a:rPr lang="en-GB" b="1" dirty="0"/>
              <a:t>Strength </a:t>
            </a:r>
            <a:r>
              <a:rPr lang="en-GB" dirty="0"/>
              <a:t>– identifying high-priority threats.</a:t>
            </a:r>
          </a:p>
          <a:p>
            <a:r>
              <a:rPr lang="en-GB" b="1" dirty="0"/>
              <a:t>Limitation</a:t>
            </a:r>
            <a:r>
              <a:rPr lang="en-GB" dirty="0"/>
              <a:t> - false positives.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38CBF-F957-4981-98DA-262E51AB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A5278F-3D8C-4101-87FE-13114B9F6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93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0046778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C07E7-CACA-43D3-A6E2-4E9BC4066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 OF DATA ANALYSIS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16881-9871-49AD-9BA4-FAF77C852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3200" b="1" dirty="0"/>
              <a:t>Other types of Quantitative Data Analysis (Continues…)</a:t>
            </a:r>
          </a:p>
          <a:p>
            <a:pPr marL="514350" indent="-514350">
              <a:buAutoNum type="romanLcPeriod" startAt="2"/>
            </a:pPr>
            <a:r>
              <a:rPr lang="en-GB" b="1" dirty="0"/>
              <a:t>Categorization</a:t>
            </a:r>
          </a:p>
          <a:p>
            <a:r>
              <a:rPr lang="en-US" b="1" dirty="0"/>
              <a:t>Grouping data </a:t>
            </a:r>
            <a:r>
              <a:rPr lang="en-US" dirty="0"/>
              <a:t>into predefined classes (e.g., threat types, user roles) for structured analysis.</a:t>
            </a:r>
          </a:p>
          <a:p>
            <a:r>
              <a:rPr lang="en-US" b="1" dirty="0"/>
              <a:t>Tools</a:t>
            </a:r>
            <a:r>
              <a:rPr lang="en-US" dirty="0"/>
              <a:t> –  </a:t>
            </a:r>
            <a:r>
              <a:rPr lang="en-US" b="1" dirty="0"/>
              <a:t>VirusTotal</a:t>
            </a:r>
            <a:r>
              <a:rPr lang="en-US" dirty="0"/>
              <a:t> and </a:t>
            </a:r>
            <a:r>
              <a:rPr lang="en-US" b="1" dirty="0"/>
              <a:t>Wireshark</a:t>
            </a:r>
            <a:r>
              <a:rPr lang="en-US" dirty="0"/>
              <a:t>.</a:t>
            </a:r>
          </a:p>
          <a:p>
            <a:r>
              <a:rPr lang="en-GB" b="1" dirty="0"/>
              <a:t>Strength </a:t>
            </a:r>
            <a:r>
              <a:rPr lang="en-GB" dirty="0"/>
              <a:t>– simplifies reporting.</a:t>
            </a:r>
          </a:p>
          <a:p>
            <a:r>
              <a:rPr lang="en-GB" b="1" dirty="0"/>
              <a:t>Limitation</a:t>
            </a:r>
            <a:r>
              <a:rPr lang="en-GB" dirty="0"/>
              <a:t> - </a:t>
            </a:r>
            <a:r>
              <a:rPr lang="en-US" dirty="0"/>
              <a:t>misclassification leads to flawed policies</a:t>
            </a:r>
            <a:r>
              <a:rPr lang="en-GB" dirty="0"/>
              <a:t>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38CBF-F957-4981-98DA-262E51AB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A5278F-3D8C-4101-87FE-13114B9F6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94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597105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C07E7-CACA-43D3-A6E2-4E9BC4066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 OF DATA ANALYSIS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16881-9871-49AD-9BA4-FAF77C852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b="1" dirty="0"/>
              <a:t>Other types of Quantitative Data Analysis (Continues…)</a:t>
            </a:r>
          </a:p>
          <a:p>
            <a:pPr marL="514350" indent="-514350">
              <a:buAutoNum type="romanLcPeriod" startAt="3"/>
            </a:pPr>
            <a:r>
              <a:rPr lang="en-GB" b="1" dirty="0"/>
              <a:t>Relationship</a:t>
            </a:r>
          </a:p>
          <a:p>
            <a:r>
              <a:rPr lang="en-US" dirty="0"/>
              <a:t>Causal </a:t>
            </a:r>
            <a:r>
              <a:rPr lang="en-US" b="1" dirty="0"/>
              <a:t>links </a:t>
            </a:r>
            <a:r>
              <a:rPr lang="en-US" dirty="0"/>
              <a:t>between events (</a:t>
            </a:r>
            <a:r>
              <a:rPr lang="en-US" b="1" dirty="0"/>
              <a:t>correlation</a:t>
            </a:r>
            <a:r>
              <a:rPr lang="en-US" dirty="0"/>
              <a:t>).</a:t>
            </a:r>
          </a:p>
          <a:p>
            <a:r>
              <a:rPr lang="en-US" b="1" dirty="0"/>
              <a:t>Tool</a:t>
            </a:r>
            <a:r>
              <a:rPr lang="en-US" dirty="0"/>
              <a:t> –  </a:t>
            </a:r>
            <a:r>
              <a:rPr lang="en-US" b="1" dirty="0"/>
              <a:t>Splunk</a:t>
            </a:r>
            <a:r>
              <a:rPr lang="en-US" dirty="0"/>
              <a:t>.</a:t>
            </a:r>
          </a:p>
          <a:p>
            <a:r>
              <a:rPr lang="en-GB" b="1" dirty="0"/>
              <a:t>Strength </a:t>
            </a:r>
            <a:r>
              <a:rPr lang="en-GB" dirty="0"/>
              <a:t>– grouping related events.</a:t>
            </a:r>
          </a:p>
          <a:p>
            <a:r>
              <a:rPr lang="en-GB" b="1" dirty="0"/>
              <a:t>Limitation</a:t>
            </a:r>
            <a:r>
              <a:rPr lang="en-GB" dirty="0"/>
              <a:t> - </a:t>
            </a:r>
            <a:r>
              <a:rPr lang="en-US" dirty="0"/>
              <a:t>false correlations</a:t>
            </a:r>
            <a:r>
              <a:rPr lang="en-GB" dirty="0"/>
              <a:t>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38CBF-F957-4981-98DA-262E51AB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A5278F-3D8C-4101-87FE-13114B9F6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95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8285176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C07E7-CACA-43D3-A6E2-4E9BC4066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 OF DATA ANALYSIS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16881-9871-49AD-9BA4-FAF77C852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3200" b="1" dirty="0"/>
              <a:t>Other types of Quantitative Data Analysis (Continues…)</a:t>
            </a:r>
          </a:p>
          <a:p>
            <a:pPr marL="514350" indent="-514350">
              <a:buAutoNum type="romanLcPeriod" startAt="4"/>
            </a:pPr>
            <a:r>
              <a:rPr lang="en-GB" b="1" dirty="0"/>
              <a:t>Profiling (Behavioural Analysis)</a:t>
            </a:r>
          </a:p>
          <a:p>
            <a:r>
              <a:rPr lang="en-US" dirty="0"/>
              <a:t>Establishing </a:t>
            </a:r>
            <a:r>
              <a:rPr lang="en-US" b="1" dirty="0"/>
              <a:t>baselines of normal behavior </a:t>
            </a:r>
            <a:r>
              <a:rPr lang="en-US" dirty="0"/>
              <a:t>to detect anomalies (e.g., unusual login times).</a:t>
            </a:r>
          </a:p>
          <a:p>
            <a:r>
              <a:rPr lang="en-US" b="1" dirty="0"/>
              <a:t>Tools</a:t>
            </a:r>
            <a:r>
              <a:rPr lang="en-US" dirty="0"/>
              <a:t> –  </a:t>
            </a:r>
            <a:r>
              <a:rPr lang="en-US" b="1" dirty="0"/>
              <a:t>Cisco Stealthwatch </a:t>
            </a:r>
            <a:r>
              <a:rPr lang="en-US" dirty="0"/>
              <a:t>and </a:t>
            </a:r>
            <a:r>
              <a:rPr lang="en-US" b="1" dirty="0"/>
              <a:t>Splunk</a:t>
            </a:r>
            <a:r>
              <a:rPr lang="en-US" dirty="0"/>
              <a:t>.</a:t>
            </a:r>
          </a:p>
          <a:p>
            <a:r>
              <a:rPr lang="en-GB" b="1" dirty="0"/>
              <a:t>Strength </a:t>
            </a:r>
            <a:r>
              <a:rPr lang="en-GB" dirty="0"/>
              <a:t>– adapts to evolving threats.</a:t>
            </a:r>
          </a:p>
          <a:p>
            <a:r>
              <a:rPr lang="en-GB" b="1" dirty="0"/>
              <a:t>Limitation</a:t>
            </a:r>
            <a:r>
              <a:rPr lang="en-GB" dirty="0"/>
              <a:t> - </a:t>
            </a:r>
            <a:r>
              <a:rPr lang="en-US" dirty="0"/>
              <a:t>high false positives</a:t>
            </a:r>
            <a:r>
              <a:rPr lang="en-GB" dirty="0"/>
              <a:t>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38CBF-F957-4981-98DA-262E51AB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A5278F-3D8C-4101-87FE-13114B9F6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96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3756113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E7CDC-0F63-456C-86CA-6CC6AA8BF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 OF DATA ANALYSIS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2D45D-6C7B-4752-8804-3DEF9EBFD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2"/>
            </a:pPr>
            <a:r>
              <a:rPr lang="en-US" b="1" dirty="0"/>
              <a:t>Qualitative</a:t>
            </a:r>
          </a:p>
          <a:p>
            <a:r>
              <a:rPr lang="en-US" b="1" dirty="0"/>
              <a:t>focuses on non-numerical data </a:t>
            </a:r>
            <a:r>
              <a:rPr lang="en-US" dirty="0"/>
              <a:t>(e.g., text, logs, narratives) to understand meaning, patterns, and motivations behind cyber threats.</a:t>
            </a:r>
          </a:p>
          <a:p>
            <a:r>
              <a:rPr lang="en-US" dirty="0"/>
              <a:t>It interprets </a:t>
            </a:r>
            <a:r>
              <a:rPr lang="en-US" b="1" dirty="0"/>
              <a:t>why</a:t>
            </a:r>
            <a:r>
              <a:rPr lang="en-US" dirty="0"/>
              <a:t> and </a:t>
            </a:r>
            <a:r>
              <a:rPr lang="en-US" b="1" dirty="0"/>
              <a:t>how</a:t>
            </a:r>
            <a:r>
              <a:rPr lang="en-US" dirty="0"/>
              <a:t> an attack occurred.</a:t>
            </a:r>
          </a:p>
          <a:p>
            <a:r>
              <a:rPr lang="en-US" dirty="0"/>
              <a:t>There are two major </a:t>
            </a:r>
            <a:r>
              <a:rPr lang="en-US" b="1" dirty="0"/>
              <a:t>types of qualitative data analysis</a:t>
            </a:r>
            <a:r>
              <a:rPr lang="en-US" dirty="0"/>
              <a:t>, which is </a:t>
            </a:r>
            <a:r>
              <a:rPr lang="en-US" b="1" dirty="0"/>
              <a:t>behavioral</a:t>
            </a:r>
            <a:r>
              <a:rPr lang="en-US" dirty="0"/>
              <a:t> and </a:t>
            </a:r>
            <a:r>
              <a:rPr lang="en-US" b="1" dirty="0"/>
              <a:t>contextual</a:t>
            </a:r>
            <a:r>
              <a:rPr lang="en-US" dirty="0"/>
              <a:t> analysis.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ACBDF8-8DB3-4892-9F51-C756C2E2F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462F51-49F5-49FD-99BB-BC0E8EB87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97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671974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1440E-AB92-4E86-AE9F-254BE96E8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 OF DATA ANALYSIS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694D4-16DD-4B26-A141-04857B3B1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romanLcPeriod"/>
            </a:pPr>
            <a:r>
              <a:rPr lang="en-GB" b="1" dirty="0"/>
              <a:t>Contextual</a:t>
            </a:r>
          </a:p>
          <a:p>
            <a:r>
              <a:rPr lang="en-US" dirty="0"/>
              <a:t>Answers “</a:t>
            </a:r>
            <a:r>
              <a:rPr lang="en-US" b="1" dirty="0"/>
              <a:t>Why did this happen?</a:t>
            </a:r>
            <a:r>
              <a:rPr lang="en-US" dirty="0"/>
              <a:t>”</a:t>
            </a:r>
            <a:r>
              <a:rPr lang="en-US" b="1" dirty="0"/>
              <a:t>.</a:t>
            </a:r>
          </a:p>
          <a:p>
            <a:r>
              <a:rPr lang="en-GB" b="1" dirty="0"/>
              <a:t>Tool </a:t>
            </a:r>
            <a:r>
              <a:rPr lang="en-GB" dirty="0"/>
              <a:t>– </a:t>
            </a:r>
            <a:r>
              <a:rPr lang="en-GB" b="1" dirty="0"/>
              <a:t>Splunk</a:t>
            </a:r>
            <a:r>
              <a:rPr lang="en-GB" dirty="0"/>
              <a:t>. </a:t>
            </a:r>
          </a:p>
          <a:p>
            <a:r>
              <a:rPr lang="en-GB" b="1" dirty="0"/>
              <a:t>Strength</a:t>
            </a:r>
            <a:r>
              <a:rPr lang="en-GB" dirty="0"/>
              <a:t> – </a:t>
            </a:r>
            <a:r>
              <a:rPr lang="en-US" b="1" dirty="0"/>
              <a:t>deepens</a:t>
            </a:r>
            <a:r>
              <a:rPr lang="en-US" dirty="0"/>
              <a:t> understanding of attack motives.</a:t>
            </a:r>
          </a:p>
          <a:p>
            <a:r>
              <a:rPr lang="en-US" b="1" dirty="0"/>
              <a:t>Limitations</a:t>
            </a:r>
            <a:r>
              <a:rPr lang="en-US" dirty="0"/>
              <a:t> – </a:t>
            </a:r>
            <a:r>
              <a:rPr lang="en-US" b="1" dirty="0"/>
              <a:t>time-consuming</a:t>
            </a:r>
            <a:r>
              <a:rPr lang="en-US" dirty="0"/>
              <a:t> and subjective </a:t>
            </a:r>
            <a:r>
              <a:rPr lang="en-US" b="1" dirty="0"/>
              <a:t>bias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78F548-8995-4966-8FD8-A6556B21A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8D4B76-3734-4372-824B-AFBCEF91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98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041600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1440E-AB92-4E86-AE9F-254BE96E8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 OF DATA ANALYSIS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694D4-16DD-4B26-A141-04857B3B1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romanLcPeriod" startAt="2"/>
            </a:pPr>
            <a:r>
              <a:rPr lang="en-GB" b="1" dirty="0"/>
              <a:t>Behavioural</a:t>
            </a:r>
          </a:p>
          <a:p>
            <a:r>
              <a:rPr lang="en-US" dirty="0"/>
              <a:t>Answers “</a:t>
            </a:r>
            <a:r>
              <a:rPr lang="en-US" b="1" dirty="0"/>
              <a:t>How did this happen?</a:t>
            </a:r>
            <a:r>
              <a:rPr lang="en-US" dirty="0"/>
              <a:t>”</a:t>
            </a:r>
            <a:r>
              <a:rPr lang="en-US" b="1" dirty="0"/>
              <a:t>.</a:t>
            </a:r>
          </a:p>
          <a:p>
            <a:r>
              <a:rPr lang="en-GB" b="1" dirty="0"/>
              <a:t>Tool </a:t>
            </a:r>
            <a:r>
              <a:rPr lang="en-GB" dirty="0"/>
              <a:t>– </a:t>
            </a:r>
            <a:r>
              <a:rPr lang="en-GB" b="1" dirty="0"/>
              <a:t>Sandboxing</a:t>
            </a:r>
            <a:r>
              <a:rPr lang="en-GB" dirty="0"/>
              <a:t>. </a:t>
            </a:r>
          </a:p>
          <a:p>
            <a:r>
              <a:rPr lang="en-GB" b="1" dirty="0"/>
              <a:t>Strength</a:t>
            </a:r>
            <a:r>
              <a:rPr lang="en-GB" dirty="0"/>
              <a:t> – </a:t>
            </a:r>
            <a:r>
              <a:rPr lang="en-US" dirty="0"/>
              <a:t>detects unknown threats.</a:t>
            </a:r>
          </a:p>
          <a:p>
            <a:r>
              <a:rPr lang="en-US" b="1" dirty="0"/>
              <a:t>Limitations</a:t>
            </a:r>
            <a:r>
              <a:rPr lang="en-US" dirty="0"/>
              <a:t> – high false positives.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78F548-8995-4966-8FD8-A6556B21A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8D4B76-3734-4372-824B-AFBCEF91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99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2566857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D695-86DF-462F-87FF-5BFCA29E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TYPE OF DATA ANALYSIS (Continues…)</a:t>
            </a:r>
            <a:endParaRPr lang="LID4096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FAC2CA7B-E60C-493E-AB59-4817362C9C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4052536"/>
              </p:ext>
            </p:extLst>
          </p:nvPr>
        </p:nvGraphicFramePr>
        <p:xfrm>
          <a:off x="858207" y="2286000"/>
          <a:ext cx="1047241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554">
                  <a:extLst>
                    <a:ext uri="{9D8B030D-6E8A-4147-A177-3AD203B41FA5}">
                      <a16:colId xmlns:a16="http://schemas.microsoft.com/office/drawing/2014/main" val="1780267384"/>
                    </a:ext>
                  </a:extLst>
                </a:gridCol>
                <a:gridCol w="4521446">
                  <a:extLst>
                    <a:ext uri="{9D8B030D-6E8A-4147-A177-3AD203B41FA5}">
                      <a16:colId xmlns:a16="http://schemas.microsoft.com/office/drawing/2014/main" val="588075844"/>
                    </a:ext>
                  </a:extLst>
                </a:gridCol>
                <a:gridCol w="3868410">
                  <a:extLst>
                    <a:ext uri="{9D8B030D-6E8A-4147-A177-3AD203B41FA5}">
                      <a16:colId xmlns:a16="http://schemas.microsoft.com/office/drawing/2014/main" val="4224552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Factor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Qualitative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Quantitative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534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Data Type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Text, Logs and Narratives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Numbers, Metrics and Counts 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7584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Analysis Focus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Why and How?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What and How Much?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99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Tools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TheHive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Slunk and SIEM 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653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Outcome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Threat Intelligence and root causes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Statistics </a:t>
                      </a:r>
                      <a:endParaRPr lang="LID4096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8777186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D57C00-CE78-4FF3-A023-5D7A0D9E0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0324A9-BD94-43CA-8D6D-9A4101773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100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9857804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4BCDB5-2072-403D-8A4C-B3E7D72F30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b="1" dirty="0"/>
              <a:t>Gap Analysis</a:t>
            </a:r>
            <a:endParaRPr lang="LID4096" b="1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C512D89-6C26-4A07-B982-C191044DC2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UNIT 4</a:t>
            </a:r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926B90-AB98-4020-9B81-BDEFD19DB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82465-293E-4F8B-9671-6C00D1524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101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3373070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74B1C-5F85-4428-9A54-6145602BD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Introduction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84BFD-E0F7-4DBC-9DF3-3F215D1E1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Gap analysis </a:t>
            </a:r>
            <a:r>
              <a:rPr lang="en-US" dirty="0"/>
              <a:t>is a strategic tool used to </a:t>
            </a:r>
            <a:r>
              <a:rPr lang="en-US" b="1" dirty="0"/>
              <a:t>compare the current state </a:t>
            </a:r>
            <a:r>
              <a:rPr lang="en-US" dirty="0"/>
              <a:t>of a system, process, or performance </a:t>
            </a:r>
            <a:r>
              <a:rPr lang="en-US" b="1" dirty="0"/>
              <a:t>with the desired or target state</a:t>
            </a:r>
            <a:r>
              <a:rPr lang="en-US" dirty="0"/>
              <a:t>.</a:t>
            </a:r>
          </a:p>
          <a:p>
            <a:r>
              <a:rPr lang="en-US" dirty="0"/>
              <a:t>It helps </a:t>
            </a:r>
            <a:r>
              <a:rPr lang="en-US" b="1" dirty="0"/>
              <a:t>identify discrepancies ("gaps") </a:t>
            </a:r>
            <a:r>
              <a:rPr lang="en-US" dirty="0"/>
              <a:t>and provides insights into necessary improvements.</a:t>
            </a:r>
          </a:p>
          <a:p>
            <a:r>
              <a:rPr lang="en-GB" b="1" dirty="0"/>
              <a:t>Gap analysis helps organisations to </a:t>
            </a:r>
            <a:r>
              <a:rPr lang="en-GB" dirty="0"/>
              <a:t>– 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Identify vulnerabilities.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Compare existing security measures with industry standards.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Develop action plans to mitigate fraud risks.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567B14-AE10-4CA7-BFA2-1B614874D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38B4E6-1678-4D0E-B8D2-F46AEC1B9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102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5547691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4B516-4EB6-498C-A384-3A602654D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Steps in Conducting Gap Analysis for </a:t>
            </a:r>
            <a:br>
              <a:rPr lang="en-US" b="1" dirty="0"/>
            </a:br>
            <a:r>
              <a:rPr lang="en-US" b="1" dirty="0"/>
              <a:t>Cybersecurity Fraud Prevention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0371A-2945-4D08-8117-D803471D7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Define Objectives </a:t>
            </a:r>
            <a:r>
              <a:rPr lang="en-GB" dirty="0"/>
              <a:t>– </a:t>
            </a:r>
            <a:r>
              <a:rPr lang="en-US" dirty="0"/>
              <a:t>Determine what fraud risks need to be </a:t>
            </a:r>
            <a:r>
              <a:rPr lang="en-US" b="1" dirty="0"/>
              <a:t>addressed</a:t>
            </a:r>
            <a:r>
              <a:rPr lang="en-US" dirty="0"/>
              <a:t> (e.g., identity theft).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Assess Current State</a:t>
            </a:r>
            <a:r>
              <a:rPr lang="en-US" dirty="0"/>
              <a:t> (Current Cybersecurity Posture) – </a:t>
            </a:r>
            <a:r>
              <a:rPr lang="en-US" b="1" dirty="0"/>
              <a:t>Review</a:t>
            </a:r>
            <a:r>
              <a:rPr lang="en-US" dirty="0"/>
              <a:t> historical fraud incidents and response effectiveness.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Identify Desired State </a:t>
            </a:r>
            <a:r>
              <a:rPr lang="en-GB" dirty="0"/>
              <a:t>– </a:t>
            </a:r>
            <a:r>
              <a:rPr lang="en-US" b="1" dirty="0"/>
              <a:t>Benchmark</a:t>
            </a:r>
            <a:r>
              <a:rPr lang="en-US" dirty="0"/>
              <a:t> against industry standards (e.g., NIST guidelines). 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Identify Gaps </a:t>
            </a:r>
            <a:r>
              <a:rPr lang="en-GB" dirty="0"/>
              <a:t>– </a:t>
            </a:r>
            <a:r>
              <a:rPr lang="en-US" b="1" dirty="0"/>
              <a:t>Compare</a:t>
            </a:r>
            <a:r>
              <a:rPr lang="en-US" dirty="0"/>
              <a:t> current vs. desired performance. 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Develop an Action Plan </a:t>
            </a:r>
            <a:r>
              <a:rPr lang="en-GB" dirty="0"/>
              <a:t>– This can include </a:t>
            </a:r>
            <a:r>
              <a:rPr lang="en-GB" b="1" dirty="0"/>
              <a:t>new detection techniques</a:t>
            </a:r>
            <a:r>
              <a:rPr lang="en-GB" dirty="0"/>
              <a:t>, </a:t>
            </a:r>
            <a:r>
              <a:rPr lang="en-GB" b="1" dirty="0"/>
              <a:t>authentication mechanisms</a:t>
            </a:r>
            <a:r>
              <a:rPr lang="en-GB" dirty="0"/>
              <a:t> and </a:t>
            </a:r>
            <a:r>
              <a:rPr lang="en-GB" b="1" dirty="0"/>
              <a:t>awareness</a:t>
            </a:r>
            <a:r>
              <a:rPr lang="en-GB" dirty="0"/>
              <a:t>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F141C0-E53B-49D2-A321-66C3D272E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E20756-FC75-42F5-A8C8-F1AA62F4F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103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4526730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1E87F-4363-44AF-95D0-6CAF1C768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Using Gap Analysis in Fraud Detection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A50E4-83B8-4F9B-8EC7-9379F1F06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Fraud Detection Gaps </a:t>
            </a:r>
            <a:r>
              <a:rPr lang="en-GB" dirty="0"/>
              <a:t>– include </a:t>
            </a:r>
            <a:r>
              <a:rPr lang="en-US" b="1" dirty="0"/>
              <a:t>Rule-Based Systems vs. AI/ML Models</a:t>
            </a:r>
            <a:r>
              <a:rPr lang="en-US" dirty="0"/>
              <a:t>, </a:t>
            </a:r>
            <a:r>
              <a:rPr lang="en-US" b="1" dirty="0"/>
              <a:t>Data Inconsistencies</a:t>
            </a:r>
            <a:r>
              <a:rPr lang="en-US" dirty="0"/>
              <a:t>, and </a:t>
            </a:r>
            <a:r>
              <a:rPr lang="en-US" b="1" dirty="0"/>
              <a:t>Response Delays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Fraud Prevention Gaps </a:t>
            </a:r>
            <a:r>
              <a:rPr lang="en-US" dirty="0"/>
              <a:t>– </a:t>
            </a:r>
            <a:r>
              <a:rPr lang="en-US" b="1" dirty="0"/>
              <a:t>Weak Authentication </a:t>
            </a:r>
            <a:r>
              <a:rPr lang="en-US" dirty="0"/>
              <a:t>and </a:t>
            </a:r>
            <a:r>
              <a:rPr lang="en-US" b="1" dirty="0"/>
              <a:t>Lack of Employee Training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B759FB-F5CC-4A82-91B5-34B34390F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4D0A17-BBE1-407F-B9E2-37D019FFC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104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7246333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C6D6D78-86C7-4A87-95A5-00A2FC6A5A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Performing Contextual and Behavior Qualitative Analysis</a:t>
            </a:r>
            <a:endParaRPr lang="LID4096" b="1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DB502EB-873F-48D1-9E57-091575A7CB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UNIT 6</a:t>
            </a:r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A156BE-7B60-48D0-943C-F2D898951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A48344-D01C-43A7-A0C7-27D9AD981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105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0660909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3ABB5-909C-453A-ACF6-BE74CF6C1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Key Concepts in Contextual and Behavioral Analysis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FF41B-93A5-4697-9D56-179373247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Keywords Analysis </a:t>
            </a:r>
            <a:r>
              <a:rPr lang="en-GB" dirty="0"/>
              <a:t>– </a:t>
            </a:r>
            <a:r>
              <a:rPr lang="en-US" dirty="0"/>
              <a:t>involves </a:t>
            </a:r>
            <a:r>
              <a:rPr lang="en-US" b="1" dirty="0"/>
              <a:t>scanning text data </a:t>
            </a:r>
            <a:r>
              <a:rPr lang="en-US" dirty="0"/>
              <a:t>(emails, chats, documents) for suspicious keywords that may indicate fraud.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Content Analysis </a:t>
            </a:r>
            <a:r>
              <a:rPr lang="en-US" dirty="0"/>
              <a:t>(Files, Pictures, Videos) – </a:t>
            </a:r>
            <a:r>
              <a:rPr lang="en-US" b="1" dirty="0"/>
              <a:t>examines digital content </a:t>
            </a:r>
            <a:r>
              <a:rPr lang="en-US" dirty="0"/>
              <a:t>for signs of manipulation or malicious intent, </a:t>
            </a:r>
            <a:r>
              <a:rPr lang="en-US" b="1" dirty="0"/>
              <a:t>techniques</a:t>
            </a:r>
            <a:r>
              <a:rPr lang="en-US" dirty="0"/>
              <a:t> include </a:t>
            </a:r>
            <a:r>
              <a:rPr lang="en-US" b="1" dirty="0"/>
              <a:t>Metadata Analysis</a:t>
            </a:r>
            <a:r>
              <a:rPr lang="en-US" dirty="0"/>
              <a:t> and </a:t>
            </a:r>
            <a:r>
              <a:rPr lang="en-US" b="1" dirty="0"/>
              <a:t>Image Forensics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Behavior Profiling </a:t>
            </a:r>
            <a:r>
              <a:rPr lang="en-US" dirty="0"/>
              <a:t>– builds a baseline of normal behavior for users/systems and flags deviations.</a:t>
            </a:r>
          </a:p>
          <a:p>
            <a:pPr marL="457200" indent="-457200">
              <a:buFont typeface="+mj-lt"/>
              <a:buAutoNum type="arabicPeriod"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BF26CB-57E1-40FA-8C18-C49C7756A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26FE4F-1A3A-48B1-8DCC-088C0CA49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106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7901929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6FE2C-1A51-4D4C-B934-FBC85652A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Online Presence &amp; Social Media Analysis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20E82-73BA-44CF-8500-DA04C60DF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Social Media Investigations </a:t>
            </a:r>
            <a:r>
              <a:rPr lang="en-GB" dirty="0"/>
              <a:t>– it involves </a:t>
            </a:r>
            <a:r>
              <a:rPr lang="en-GB" b="1" dirty="0"/>
              <a:t>Identity Verification </a:t>
            </a:r>
            <a:r>
              <a:rPr lang="en-GB" dirty="0"/>
              <a:t>and </a:t>
            </a:r>
            <a:r>
              <a:rPr lang="en-GB" b="1" dirty="0"/>
              <a:t>Fraud Detection</a:t>
            </a:r>
            <a:r>
              <a:rPr lang="en-GB" dirty="0"/>
              <a:t> (for any form of impersonation).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Open-Source Intelligence (OSINT)</a:t>
            </a:r>
            <a:r>
              <a:rPr lang="en-US" b="1" dirty="0"/>
              <a:t> </a:t>
            </a:r>
            <a:r>
              <a:rPr lang="en-US" dirty="0"/>
              <a:t>– gathers </a:t>
            </a:r>
            <a:r>
              <a:rPr lang="en-US" b="1" dirty="0"/>
              <a:t>publicly available data </a:t>
            </a:r>
            <a:r>
              <a:rPr lang="en-US" dirty="0"/>
              <a:t>(social media, forums, news) for fraud investigations.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Deep &amp; Dark Web Monitoring </a:t>
            </a:r>
            <a:r>
              <a:rPr lang="en-US" dirty="0"/>
              <a:t>– fraudsters sell </a:t>
            </a:r>
            <a:r>
              <a:rPr lang="en-US" b="1" dirty="0"/>
              <a:t>stolen data </a:t>
            </a:r>
            <a:r>
              <a:rPr lang="en-US" dirty="0"/>
              <a:t>on dark web markets, monitoring helps prevent breaches.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FC2ADE-D3E8-4AD8-8058-3CDDD7F21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83877D-E597-4869-8D74-412896D81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107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5219344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A7649-8C13-4303-9F73-6AB86FBA1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Digital Forensic Process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BCD55-E36D-4F3C-9005-2E59FBC7C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Identification</a:t>
            </a:r>
            <a:r>
              <a:rPr lang="en-GB" dirty="0"/>
              <a:t> – </a:t>
            </a:r>
            <a:r>
              <a:rPr lang="en-GB" b="1" dirty="0"/>
              <a:t>locate</a:t>
            </a:r>
            <a:r>
              <a:rPr lang="en-GB" dirty="0"/>
              <a:t> relevant data (emails, logs, hard drives).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Preservation</a:t>
            </a:r>
            <a:r>
              <a:rPr lang="en-GB" dirty="0"/>
              <a:t> – </a:t>
            </a:r>
            <a:r>
              <a:rPr lang="en-GB" b="1" dirty="0"/>
              <a:t>secure</a:t>
            </a:r>
            <a:r>
              <a:rPr lang="en-GB" dirty="0"/>
              <a:t> data to prevent tampering (hash verification).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Analysis</a:t>
            </a:r>
            <a:r>
              <a:rPr lang="en-GB" dirty="0"/>
              <a:t> – </a:t>
            </a:r>
            <a:r>
              <a:rPr lang="en-GB" b="1" dirty="0"/>
              <a:t>examine</a:t>
            </a:r>
            <a:r>
              <a:rPr lang="en-GB" dirty="0"/>
              <a:t> data for fraud indicators (deleted files, hidden folders).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Reporting</a:t>
            </a:r>
            <a:r>
              <a:rPr lang="en-GB" dirty="0"/>
              <a:t> – </a:t>
            </a:r>
            <a:r>
              <a:rPr lang="en-GB" b="1" dirty="0"/>
              <a:t>document</a:t>
            </a:r>
            <a:r>
              <a:rPr lang="en-GB" dirty="0"/>
              <a:t> findings for legal proceedings.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995A21-88FD-4F35-B787-D181CBB33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CDDF72-55BF-4D52-9EEB-FE6D25AE5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108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6762716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1633-84E9-4038-ACDF-876E6D4D2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Common Forensic Techniques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24F3C-4AD4-46F4-9A55-BC8601B19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File Carving </a:t>
            </a:r>
            <a:r>
              <a:rPr lang="en-GB" dirty="0"/>
              <a:t>– recovers deleted files.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Memory Dump Analysis </a:t>
            </a:r>
            <a:r>
              <a:rPr lang="en-GB" dirty="0"/>
              <a:t>– detects malware.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Network Forensics </a:t>
            </a:r>
            <a:r>
              <a:rPr lang="en-GB" dirty="0"/>
              <a:t>– </a:t>
            </a:r>
            <a:r>
              <a:rPr lang="en-US" dirty="0"/>
              <a:t>analyzes traffic logs for unauthorized access.</a:t>
            </a:r>
          </a:p>
          <a:p>
            <a:pPr marL="0" indent="0">
              <a:buNone/>
            </a:pPr>
            <a:r>
              <a:rPr lang="en-US" b="1" dirty="0"/>
              <a:t>Challenges in conducting Qualitative Fraud Analysis </a:t>
            </a:r>
            <a:r>
              <a:rPr lang="en-US" dirty="0"/>
              <a:t>(keyword: </a:t>
            </a:r>
            <a:r>
              <a:rPr lang="en-US" b="1" dirty="0"/>
              <a:t>PEF</a:t>
            </a:r>
            <a:r>
              <a:rPr lang="en-US" dirty="0"/>
              <a:t>) – 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Privacy Concerns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Evolving Tactics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/>
              <a:t>False Positives</a:t>
            </a:r>
            <a:br>
              <a:rPr lang="en-US" dirty="0"/>
            </a:b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4A6B9-4ABD-4C95-BC3F-9B5D39125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8D6689-F205-433F-B2C0-B169C3791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109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0826488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452A198-A39A-4067-A74C-9347667FBF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OLAF APPROACH IN DATA ANALYSIS</a:t>
            </a:r>
            <a:endParaRPr lang="LID4096" b="1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34735C5-DF96-4163-913C-D2006728AB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UNIT 7</a:t>
            </a:r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20B340-0DF8-4B66-8D81-83E596E1D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4ADD28-F261-4F1A-9736-73484F64D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6058408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2555C-AC9E-43A3-8859-0C79734B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Introduction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F0A6-56D2-4F07-984C-9F158297E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 </a:t>
            </a:r>
            <a:r>
              <a:rPr lang="en-US" b="1" dirty="0"/>
              <a:t>OLAF</a:t>
            </a:r>
            <a:r>
              <a:rPr lang="en-US" dirty="0"/>
              <a:t> Approach (</a:t>
            </a:r>
            <a:r>
              <a:rPr lang="en-US" b="1" dirty="0"/>
              <a:t>Object</a:t>
            </a:r>
            <a:r>
              <a:rPr lang="en-US" dirty="0"/>
              <a:t>, </a:t>
            </a:r>
            <a:r>
              <a:rPr lang="en-US" b="1" dirty="0"/>
              <a:t>Locate</a:t>
            </a:r>
            <a:r>
              <a:rPr lang="en-US" dirty="0"/>
              <a:t>, </a:t>
            </a:r>
            <a:r>
              <a:rPr lang="en-US" b="1" dirty="0"/>
              <a:t>Analyze</a:t>
            </a:r>
            <a:r>
              <a:rPr lang="en-US" dirty="0"/>
              <a:t>, </a:t>
            </a:r>
            <a:r>
              <a:rPr lang="en-US" b="1" dirty="0"/>
              <a:t>Follow</a:t>
            </a:r>
            <a:r>
              <a:rPr lang="en-US" dirty="0"/>
              <a:t>) is a structured methodology used in </a:t>
            </a:r>
            <a:r>
              <a:rPr lang="en-US" b="1" dirty="0"/>
              <a:t>fraud investigations </a:t>
            </a:r>
            <a:r>
              <a:rPr lang="en-US" dirty="0"/>
              <a:t>and </a:t>
            </a:r>
            <a:r>
              <a:rPr lang="en-US" b="1" dirty="0"/>
              <a:t>data analysis </a:t>
            </a:r>
            <a:r>
              <a:rPr lang="en-US" dirty="0"/>
              <a:t>to systematically uncover fraudulent activities. </a:t>
            </a:r>
          </a:p>
          <a:p>
            <a:r>
              <a:rPr lang="en-US" dirty="0"/>
              <a:t>Breakdown of the OLAF Approach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Object (Identify the Fraud Object)</a:t>
            </a:r>
          </a:p>
          <a:p>
            <a:r>
              <a:rPr lang="en-US" dirty="0"/>
              <a:t>The "</a:t>
            </a:r>
            <a:r>
              <a:rPr lang="en-US" b="1" dirty="0"/>
              <a:t>Object</a:t>
            </a:r>
            <a:r>
              <a:rPr lang="en-US" dirty="0"/>
              <a:t>" refers to the </a:t>
            </a:r>
            <a:r>
              <a:rPr lang="en-US" b="1" dirty="0"/>
              <a:t>subject</a:t>
            </a:r>
            <a:r>
              <a:rPr lang="en-US" dirty="0"/>
              <a:t> of investigation (what is being examined for potential fraud).</a:t>
            </a:r>
          </a:p>
          <a:p>
            <a:r>
              <a:rPr lang="en-US" dirty="0"/>
              <a:t>For example, a </a:t>
            </a:r>
            <a:r>
              <a:rPr lang="en-US" b="1" dirty="0"/>
              <a:t>fake social media account </a:t>
            </a:r>
            <a:r>
              <a:rPr lang="en-US" dirty="0"/>
              <a:t>used for scams.</a:t>
            </a:r>
          </a:p>
          <a:p>
            <a:endParaRPr lang="en-US" dirty="0"/>
          </a:p>
          <a:p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641C51-802E-4F68-AA40-A6DC95F09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15CA5A-CBF3-4DF6-99F9-8547A57D2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7350831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A47EC-7933-4EF1-8AC3-5531A33B8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Breakdown of the OLAF Approach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B7421-A2DC-4BE8-8890-B49659218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AutoNum type="arabicPeriod" startAt="2"/>
            </a:pPr>
            <a:r>
              <a:rPr lang="en-US" b="1" dirty="0"/>
              <a:t>Locate (Find Relevant Data Sources)</a:t>
            </a:r>
          </a:p>
          <a:p>
            <a:r>
              <a:rPr lang="en-US" dirty="0"/>
              <a:t>Once an object is identified, investigators must </a:t>
            </a:r>
            <a:r>
              <a:rPr lang="en-US" b="1" dirty="0"/>
              <a:t>locate all related data </a:t>
            </a:r>
            <a:r>
              <a:rPr lang="en-US" dirty="0"/>
              <a:t>that could reveal fraud.</a:t>
            </a:r>
          </a:p>
          <a:p>
            <a:r>
              <a:rPr lang="en-US" b="1" dirty="0"/>
              <a:t>Data sources </a:t>
            </a:r>
            <a:r>
              <a:rPr lang="en-US" dirty="0"/>
              <a:t>include </a:t>
            </a:r>
            <a:r>
              <a:rPr lang="en-US" b="1" dirty="0"/>
              <a:t>digital footprints </a:t>
            </a:r>
            <a:r>
              <a:rPr lang="en-US" dirty="0"/>
              <a:t>and </a:t>
            </a:r>
            <a:r>
              <a:rPr lang="en-US" b="1" dirty="0"/>
              <a:t>external databases </a:t>
            </a:r>
            <a:r>
              <a:rPr lang="en-US" dirty="0"/>
              <a:t>(public records).</a:t>
            </a:r>
          </a:p>
          <a:p>
            <a:r>
              <a:rPr lang="en-US" b="1" dirty="0"/>
              <a:t>Techniques for locating data </a:t>
            </a:r>
            <a:r>
              <a:rPr lang="en-US" dirty="0"/>
              <a:t>include </a:t>
            </a:r>
            <a:r>
              <a:rPr lang="en-US" b="1" dirty="0"/>
              <a:t>Forensic Imaging </a:t>
            </a:r>
            <a:r>
              <a:rPr lang="en-US" dirty="0"/>
              <a:t>and </a:t>
            </a:r>
            <a:r>
              <a:rPr lang="en-US" b="1" dirty="0"/>
              <a:t>Open-Source Intelligence (OSINT).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CF9FF-1770-48FF-8D20-BC7DF4B2B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D01E9A-93AE-43C9-9C9E-CFB2C6962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425336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D091D-5503-42E3-8C8E-3030760A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Breakdown of the OLAF Approach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DCED9-1417-4896-8953-2795AF15D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AutoNum type="arabicPeriod" startAt="3"/>
            </a:pPr>
            <a:r>
              <a:rPr lang="en-US" b="1" dirty="0"/>
              <a:t>Analyze (Examine Evidence for Fraud Indicators)</a:t>
            </a:r>
          </a:p>
          <a:p>
            <a:r>
              <a:rPr lang="en-US" dirty="0"/>
              <a:t>In-depth </a:t>
            </a:r>
            <a:r>
              <a:rPr lang="en-US" b="1" dirty="0"/>
              <a:t>examination</a:t>
            </a:r>
            <a:r>
              <a:rPr lang="en-US" dirty="0"/>
              <a:t> of collected data to confirm fraud.</a:t>
            </a:r>
          </a:p>
          <a:p>
            <a:r>
              <a:rPr lang="en-US" dirty="0"/>
              <a:t>Key </a:t>
            </a:r>
            <a:r>
              <a:rPr lang="en-US" b="1" dirty="0"/>
              <a:t>analysis methods </a:t>
            </a:r>
            <a:r>
              <a:rPr lang="en-US" dirty="0"/>
              <a:t>include </a:t>
            </a:r>
            <a:r>
              <a:rPr lang="en-US" b="1" dirty="0"/>
              <a:t>Behavioral Analysis </a:t>
            </a:r>
            <a:r>
              <a:rPr lang="en-US" dirty="0"/>
              <a:t>and </a:t>
            </a:r>
            <a:r>
              <a:rPr lang="en-US" b="1" dirty="0"/>
              <a:t>Digital Forensics</a:t>
            </a:r>
            <a:r>
              <a:rPr lang="en-US" dirty="0"/>
              <a:t>.</a:t>
            </a:r>
          </a:p>
          <a:p>
            <a:pPr marL="457200" indent="-457200">
              <a:buAutoNum type="arabicPeriod" startAt="4"/>
            </a:pPr>
            <a:r>
              <a:rPr lang="en-US" b="1" dirty="0"/>
              <a:t>Follow (Pursue Leads to Uncover Full Fraud Scheme)</a:t>
            </a:r>
          </a:p>
          <a:p>
            <a:r>
              <a:rPr lang="en-US" dirty="0"/>
              <a:t>Expanding the investigation to </a:t>
            </a:r>
            <a:r>
              <a:rPr lang="en-US" b="1" dirty="0"/>
              <a:t>track all connected parties </a:t>
            </a:r>
            <a:r>
              <a:rPr lang="en-US" dirty="0"/>
              <a:t>and fraud mechanisms.</a:t>
            </a:r>
          </a:p>
          <a:p>
            <a:r>
              <a:rPr lang="en-US" dirty="0"/>
              <a:t>Steps involved include </a:t>
            </a:r>
            <a:r>
              <a:rPr lang="en-US" b="1" dirty="0"/>
              <a:t>Link Analysis</a:t>
            </a:r>
            <a:r>
              <a:rPr lang="en-US" dirty="0"/>
              <a:t>, </a:t>
            </a:r>
            <a:r>
              <a:rPr lang="en-US" b="1" dirty="0"/>
              <a:t>Surveillance &amp; Monitoring </a:t>
            </a:r>
            <a:r>
              <a:rPr lang="en-US" dirty="0"/>
              <a:t>and </a:t>
            </a:r>
            <a:r>
              <a:rPr lang="en-US" b="1" dirty="0"/>
              <a:t>Legal Action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C9B499-EA20-40D5-B64F-76D770E70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5F14BF-4256-4FCB-B941-9E8DA97D2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960666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57F9F-48B5-4B80-9690-923142C3D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Miscarriage of Justice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290B6-1737-419F-8814-F57607741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when an </a:t>
            </a:r>
            <a:r>
              <a:rPr lang="en-US" b="1" dirty="0"/>
              <a:t>innocent person is wrongly convicted or punished </a:t>
            </a:r>
            <a:r>
              <a:rPr lang="en-US" dirty="0"/>
              <a:t>due to flawed fraud investigations.</a:t>
            </a:r>
          </a:p>
          <a:p>
            <a:r>
              <a:rPr lang="en-US" b="1" dirty="0"/>
              <a:t>Causes</a:t>
            </a:r>
            <a:r>
              <a:rPr lang="en-US" dirty="0"/>
              <a:t> in fraud cases include </a:t>
            </a:r>
            <a:r>
              <a:rPr lang="en-US" b="1" dirty="0"/>
              <a:t>False Positives</a:t>
            </a:r>
            <a:r>
              <a:rPr lang="en-US" dirty="0"/>
              <a:t>, </a:t>
            </a:r>
            <a:r>
              <a:rPr lang="en-US" b="1" dirty="0"/>
              <a:t>Biased Analysis </a:t>
            </a:r>
            <a:r>
              <a:rPr lang="en-US" dirty="0"/>
              <a:t>and </a:t>
            </a:r>
            <a:r>
              <a:rPr lang="en-US" b="1" dirty="0"/>
              <a:t>Tampered Evidence</a:t>
            </a:r>
            <a:r>
              <a:rPr lang="en-US" dirty="0"/>
              <a:t>.</a:t>
            </a:r>
          </a:p>
          <a:p>
            <a:r>
              <a:rPr lang="en-US" b="1" dirty="0"/>
              <a:t>Prevention measures </a:t>
            </a:r>
            <a:r>
              <a:rPr lang="en-US" dirty="0"/>
              <a:t>include </a:t>
            </a:r>
            <a:r>
              <a:rPr lang="en-US" b="1" dirty="0"/>
              <a:t>Cross-Verification</a:t>
            </a:r>
            <a:r>
              <a:rPr lang="en-US" dirty="0"/>
              <a:t> and </a:t>
            </a:r>
            <a:r>
              <a:rPr lang="en-US" b="1" dirty="0"/>
              <a:t>avoid</a:t>
            </a:r>
            <a:r>
              <a:rPr lang="en-US" dirty="0"/>
              <a:t> </a:t>
            </a:r>
            <a:r>
              <a:rPr lang="en-US" b="1" dirty="0"/>
              <a:t>Human Oversight </a:t>
            </a:r>
            <a:r>
              <a:rPr lang="en-US" dirty="0"/>
              <a:t>through the use of </a:t>
            </a:r>
            <a:r>
              <a:rPr lang="en-US" b="1" dirty="0"/>
              <a:t>AI</a:t>
            </a:r>
            <a:r>
              <a:rPr lang="en-US" dirty="0"/>
              <a:t>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B78435-9280-44DB-AE76-6B63296FA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D92BF0-D3EF-4BDB-B693-35E88FB89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8680708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0C182-E445-4D1A-9396-02714C12C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Impurity of Findings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45478-45ED-4B89-B402-6BE477334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This is when</a:t>
            </a:r>
            <a:r>
              <a:rPr lang="en-US" b="1" dirty="0"/>
              <a:t> investigation results are contaminated </a:t>
            </a:r>
            <a:r>
              <a:rPr lang="en-US" dirty="0"/>
              <a:t>due to </a:t>
            </a:r>
            <a:r>
              <a:rPr lang="en-US" b="1" dirty="0"/>
              <a:t>Analyst Bias </a:t>
            </a:r>
            <a:r>
              <a:rPr lang="en-US" dirty="0"/>
              <a:t>and </a:t>
            </a:r>
            <a:r>
              <a:rPr lang="en-US" b="1" dirty="0"/>
              <a:t>Evidence Tampering</a:t>
            </a:r>
            <a:r>
              <a:rPr lang="en-US" dirty="0"/>
              <a:t>.</a:t>
            </a:r>
          </a:p>
          <a:p>
            <a:r>
              <a:rPr lang="en-GB" dirty="0"/>
              <a:t>To ensure </a:t>
            </a:r>
            <a:r>
              <a:rPr lang="en-GB" b="1" dirty="0"/>
              <a:t>pure findings</a:t>
            </a:r>
            <a:r>
              <a:rPr lang="en-GB" dirty="0"/>
              <a:t>, an investigator must document a </a:t>
            </a:r>
            <a:r>
              <a:rPr lang="en-GB" b="1" dirty="0"/>
              <a:t>Chain of Custody</a:t>
            </a:r>
            <a:r>
              <a:rPr lang="en-GB" dirty="0"/>
              <a:t>.</a:t>
            </a:r>
          </a:p>
          <a:p>
            <a:r>
              <a:rPr lang="en-US" b="1" dirty="0"/>
              <a:t>Challenges in the OLAF Approach </a:t>
            </a:r>
            <a:r>
              <a:rPr lang="en-US" dirty="0"/>
              <a:t>include – </a:t>
            </a:r>
          </a:p>
          <a:p>
            <a:pPr marL="514350" indent="-514350">
              <a:buFont typeface="+mj-lt"/>
              <a:buAutoNum type="romanLcPeriod"/>
            </a:pPr>
            <a:r>
              <a:rPr lang="en-GB" dirty="0"/>
              <a:t>Encryption &amp; Privacy Laws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Data Overload </a:t>
            </a:r>
            <a:r>
              <a:rPr lang="en-GB" dirty="0"/>
              <a:t>slows analysis </a:t>
            </a:r>
            <a:br>
              <a:rPr lang="en-GB" dirty="0"/>
            </a:b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884F7A-73F2-4A08-BFE6-42147225F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EC28A9-56F7-4FF9-9DC1-591E34978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2997461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AF0B043-292D-4A87-A5A2-AE7E41BB3A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/>
              <a:t>Successful Implementation of Data Analysis</a:t>
            </a:r>
            <a:endParaRPr lang="LID4096" b="1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FBFCC8C-5A9C-4C65-97E5-AA28948E6F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/>
              <a:t>UNIT 8</a:t>
            </a:r>
            <a:endParaRPr lang="LID4096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250D76-77AD-41B3-8F0A-2C7DB284A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29F946-7387-494E-AE99-71100609B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3977379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9ACC7-56B6-4962-B4C3-B16DCB629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The 3M Methodology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5993A-C746-4FAB-9A1D-C5EF3F5A3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Train the Captain</a:t>
            </a:r>
          </a:p>
          <a:p>
            <a:r>
              <a:rPr lang="en-US" dirty="0"/>
              <a:t>The "</a:t>
            </a:r>
            <a:r>
              <a:rPr lang="en-US" b="1" dirty="0"/>
              <a:t>Captain</a:t>
            </a:r>
            <a:r>
              <a:rPr lang="en-US" dirty="0"/>
              <a:t>" refers to the </a:t>
            </a:r>
            <a:r>
              <a:rPr lang="en-US" b="1" dirty="0"/>
              <a:t>lead fraud analyst </a:t>
            </a:r>
            <a:r>
              <a:rPr lang="en-US" dirty="0"/>
              <a:t>or </a:t>
            </a:r>
            <a:r>
              <a:rPr lang="en-US" b="1" dirty="0"/>
              <a:t>cyber security expert </a:t>
            </a:r>
            <a:r>
              <a:rPr lang="en-US" dirty="0"/>
              <a:t>responsible for overseeing fraud detection efforts.</a:t>
            </a:r>
          </a:p>
          <a:p>
            <a:r>
              <a:rPr lang="en-GB" dirty="0"/>
              <a:t>Developing skilled fraud investigators in terms of </a:t>
            </a:r>
            <a:r>
              <a:rPr lang="en-GB" b="1" dirty="0"/>
              <a:t>Technical</a:t>
            </a:r>
            <a:r>
              <a:rPr lang="en-GB" dirty="0"/>
              <a:t> and </a:t>
            </a:r>
            <a:r>
              <a:rPr lang="en-GB" b="1" dirty="0"/>
              <a:t>Legal evidence handling</a:t>
            </a:r>
            <a:r>
              <a:rPr lang="en-GB" dirty="0"/>
              <a:t>.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F9D38F-9CF3-418F-89BA-9815BE4C0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33EF3B-DD6F-49C0-AC92-F7DEF7177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134904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90D4E-465B-4955-9932-E20ADDAB3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/>
              <a:t>The 3M Methodology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A8847-59F4-46A4-BD6C-EE74CA8A0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AutoNum type="arabicPeriod" startAt="2"/>
            </a:pPr>
            <a:r>
              <a:rPr lang="en-US" b="1" dirty="0"/>
              <a:t>Draw Up the Map</a:t>
            </a:r>
          </a:p>
          <a:p>
            <a:r>
              <a:rPr lang="en-US" dirty="0"/>
              <a:t>This phase involves </a:t>
            </a:r>
            <a:r>
              <a:rPr lang="en-US" b="1" dirty="0"/>
              <a:t>strategic planning </a:t>
            </a:r>
            <a:r>
              <a:rPr lang="en-US" dirty="0"/>
              <a:t>for fraud detection.</a:t>
            </a:r>
          </a:p>
          <a:p>
            <a:r>
              <a:rPr lang="en-US" dirty="0"/>
              <a:t>Just deploy the OLAF approach.</a:t>
            </a:r>
          </a:p>
          <a:p>
            <a:pPr marL="457200" indent="-457200">
              <a:buAutoNum type="arabicPeriod" startAt="3"/>
            </a:pPr>
            <a:r>
              <a:rPr lang="en-US" b="1" dirty="0"/>
              <a:t>Train Will Come</a:t>
            </a:r>
          </a:p>
          <a:p>
            <a:r>
              <a:rPr lang="en-US" dirty="0"/>
              <a:t>This means that once the foundation (training + planning) is set, </a:t>
            </a:r>
            <a:r>
              <a:rPr lang="en-US" b="1" dirty="0"/>
              <a:t>execution</a:t>
            </a:r>
            <a:r>
              <a:rPr lang="en-US" dirty="0"/>
              <a:t> becomes systematic. </a:t>
            </a:r>
            <a:r>
              <a:rPr lang="en-US" b="1" dirty="0"/>
              <a:t>Implementation</a:t>
            </a:r>
            <a:r>
              <a:rPr lang="en-US" dirty="0"/>
              <a:t> steps include </a:t>
            </a:r>
            <a:r>
              <a:rPr lang="en-US" b="1" dirty="0"/>
              <a:t>deploy fraud detection models</a:t>
            </a:r>
            <a:r>
              <a:rPr lang="en-US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D0AD1-1D1B-466C-A17B-BE618995C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38DFA2-9298-490F-9A2E-42321C0D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317900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FC9F4-5734-441D-8CDF-9C00EDD98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Understand Critical Thinking &amp; </a:t>
            </a:r>
            <a:br>
              <a:rPr lang="en-US" b="1" dirty="0"/>
            </a:br>
            <a:r>
              <a:rPr lang="en-US" b="1" dirty="0"/>
              <a:t>Logical Reasoning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D6865-6252-463C-85B4-355F31847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b="1" dirty="0"/>
              <a:t>Critical Thinking</a:t>
            </a:r>
          </a:p>
          <a:p>
            <a:r>
              <a:rPr lang="en-GB" dirty="0"/>
              <a:t>To master its </a:t>
            </a:r>
            <a:r>
              <a:rPr lang="en-GB" b="1" dirty="0"/>
              <a:t>components </a:t>
            </a:r>
            <a:r>
              <a:rPr lang="en-GB" dirty="0"/>
              <a:t>use the key word </a:t>
            </a:r>
            <a:r>
              <a:rPr lang="en-GB" b="1" dirty="0"/>
              <a:t>SIA E</a:t>
            </a:r>
            <a:r>
              <a:rPr lang="en-US" b="1" dirty="0"/>
              <a:t>²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Self-regulation</a:t>
            </a:r>
            <a:r>
              <a:rPr lang="en-GB" dirty="0"/>
              <a:t> – avoiding cognitive biases.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Inference</a:t>
            </a:r>
            <a:r>
              <a:rPr lang="en-GB" dirty="0"/>
              <a:t> – drawing conclusions from patterns.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Analysis</a:t>
            </a:r>
            <a:r>
              <a:rPr lang="en-GB" dirty="0"/>
              <a:t> – breaking down complex data.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Evaluation</a:t>
            </a:r>
            <a:r>
              <a:rPr lang="en-GB" dirty="0"/>
              <a:t> – assessing evidence credibility.</a:t>
            </a:r>
          </a:p>
          <a:p>
            <a:pPr marL="514350" indent="-514350">
              <a:buFont typeface="+mj-lt"/>
              <a:buAutoNum type="romanLcPeriod"/>
            </a:pPr>
            <a:r>
              <a:rPr lang="en-GB" b="1" dirty="0"/>
              <a:t>Explanation</a:t>
            </a:r>
            <a:r>
              <a:rPr lang="en-GB" dirty="0"/>
              <a:t> – clearly documenting findings.</a:t>
            </a:r>
          </a:p>
          <a:p>
            <a:pPr marL="514350" indent="-514350">
              <a:buFont typeface="+mj-lt"/>
              <a:buAutoNum type="romanLcPeriod"/>
            </a:pP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6B1821-9BFB-4187-9FDE-FB6539DEC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PREPARED BY JAMES SOKO FOR MR. MUKOMBO MUKOMBO © 2025 KAPASA MAKASA UNIVERSITY</a:t>
            </a:r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E050-D5C8-44DB-96B6-C068AF3C8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696A9-F8BE-4CDF-8FE7-13268F795294}" type="slidenum">
              <a:rPr lang="LID4096" smtClean="0"/>
              <a:t>119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601866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3752</TotalTime>
  <Words>7512</Words>
  <Application>Microsoft Office PowerPoint</Application>
  <PresentationFormat>Widescreen</PresentationFormat>
  <Paragraphs>924</Paragraphs>
  <Slides>119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119</vt:i4>
      </vt:variant>
    </vt:vector>
  </HeadingPairs>
  <TitlesOfParts>
    <vt:vector size="124" baseType="lpstr">
      <vt:lpstr>Arial</vt:lpstr>
      <vt:lpstr>Calibri</vt:lpstr>
      <vt:lpstr>Tw Cen MT</vt:lpstr>
      <vt:lpstr>Wingdings</vt:lpstr>
      <vt:lpstr>Circuit</vt:lpstr>
      <vt:lpstr>Fraud Prevention &amp; Detection Technologies </vt:lpstr>
      <vt:lpstr>DATA ANALYIS </vt:lpstr>
      <vt:lpstr>data analysis</vt:lpstr>
      <vt:lpstr>Fraud</vt:lpstr>
      <vt:lpstr>Detection technologies </vt:lpstr>
      <vt:lpstr>Three Reasons Data Analysis is Must</vt:lpstr>
      <vt:lpstr>Three Reasons Data Analysis is Must (Continues…)</vt:lpstr>
      <vt:lpstr>Three Reasons Data Analysis is Must (Continues…)</vt:lpstr>
      <vt:lpstr>Data Analysis in Auditing</vt:lpstr>
      <vt:lpstr>Data Analysis in Auditing (Continues…)</vt:lpstr>
      <vt:lpstr>Data Analysis in Investigation</vt:lpstr>
      <vt:lpstr>Data Analysis in Investigation (Continues…) </vt:lpstr>
      <vt:lpstr>Key differences between Auditing and Investigation</vt:lpstr>
      <vt:lpstr>Key differences between Auditing and Investigation (Continues…) </vt:lpstr>
      <vt:lpstr>What can Data Analysis do?</vt:lpstr>
      <vt:lpstr>What Data Analysis Cannot Do in Cybersecurity</vt:lpstr>
      <vt:lpstr>COMMON ANALYSIS PROCEDURES &amp; FUNCTIONS </vt:lpstr>
      <vt:lpstr>COMMON ANALYSIS PROCEDURES </vt:lpstr>
      <vt:lpstr>Financial Ratio</vt:lpstr>
      <vt:lpstr>Financial Ratio (Continues…)</vt:lpstr>
      <vt:lpstr>Financial Ratio (Continues…)</vt:lpstr>
      <vt:lpstr>Financial Ratio (Continues…)</vt:lpstr>
      <vt:lpstr>Financial Ratio (Continues…)</vt:lpstr>
      <vt:lpstr>Variance</vt:lpstr>
      <vt:lpstr>Variance (Continues…)</vt:lpstr>
      <vt:lpstr>Variance (Continues…)</vt:lpstr>
      <vt:lpstr>Variance (Continues…)</vt:lpstr>
      <vt:lpstr>Variance (Continues…)</vt:lpstr>
      <vt:lpstr>Percentage</vt:lpstr>
      <vt:lpstr>Percentage (Continues…)</vt:lpstr>
      <vt:lpstr>Percentage (Continues…)</vt:lpstr>
      <vt:lpstr>Percentage (Continues…)</vt:lpstr>
      <vt:lpstr>Percentage (Continues…)</vt:lpstr>
      <vt:lpstr>Aging</vt:lpstr>
      <vt:lpstr>Aging (continues…)</vt:lpstr>
      <vt:lpstr>Aging (continues…)</vt:lpstr>
      <vt:lpstr>Average (Mean) Analysis</vt:lpstr>
      <vt:lpstr>Average (Mean) Analysis (Continues…)</vt:lpstr>
      <vt:lpstr>Average (Mean) Analysis (Continues…)</vt:lpstr>
      <vt:lpstr>Common Analysis Functions</vt:lpstr>
      <vt:lpstr>FILTER</vt:lpstr>
      <vt:lpstr>FILTER (Continues…)</vt:lpstr>
      <vt:lpstr>FILTER (Continues…)</vt:lpstr>
      <vt:lpstr>FILTER (Continues…)</vt:lpstr>
      <vt:lpstr>FILTER (Continues…)</vt:lpstr>
      <vt:lpstr>Sort</vt:lpstr>
      <vt:lpstr>Sort (CONTINUES…)</vt:lpstr>
      <vt:lpstr>Sort (CONTINUES…)</vt:lpstr>
      <vt:lpstr>Join</vt:lpstr>
      <vt:lpstr>Join (CONTNUES…)</vt:lpstr>
      <vt:lpstr>Join (CONTNUES…)</vt:lpstr>
      <vt:lpstr>Join (Continues…)</vt:lpstr>
      <vt:lpstr>Join (Continues…)</vt:lpstr>
      <vt:lpstr>APPEND </vt:lpstr>
      <vt:lpstr>APPEND (Continues…)</vt:lpstr>
      <vt:lpstr>APPEND (Continues…)</vt:lpstr>
      <vt:lpstr>Join &amp; Append </vt:lpstr>
      <vt:lpstr>Join &amp; Append (Continues…)</vt:lpstr>
      <vt:lpstr>Pivot</vt:lpstr>
      <vt:lpstr>Pivot (Continues…)</vt:lpstr>
      <vt:lpstr>Pivot (Continues…)</vt:lpstr>
      <vt:lpstr>Pivot (Continues…)</vt:lpstr>
      <vt:lpstr>Trend</vt:lpstr>
      <vt:lpstr>Trend (Continues…)</vt:lpstr>
      <vt:lpstr>Trend (Continues…)</vt:lpstr>
      <vt:lpstr>Regression</vt:lpstr>
      <vt:lpstr>Regression (Continues…)</vt:lpstr>
      <vt:lpstr>Regression (Continues…)</vt:lpstr>
      <vt:lpstr>VLOOKUP</vt:lpstr>
      <vt:lpstr>VLOOKUP (continues…)</vt:lpstr>
      <vt:lpstr>VLOOKUP (continues…)</vt:lpstr>
      <vt:lpstr>Grouping</vt:lpstr>
      <vt:lpstr>Grouping (Continues…) </vt:lpstr>
      <vt:lpstr>Grouping (Continues…) </vt:lpstr>
      <vt:lpstr>Grouping (Continues…) </vt:lpstr>
      <vt:lpstr>Grouping (Continues…) </vt:lpstr>
      <vt:lpstr>Grouping (Continues…) </vt:lpstr>
      <vt:lpstr>Summarization</vt:lpstr>
      <vt:lpstr>Summarization (Continues…)</vt:lpstr>
      <vt:lpstr>Summarization (Continues…)</vt:lpstr>
      <vt:lpstr>Stratification</vt:lpstr>
      <vt:lpstr>Stratification (Continues…)</vt:lpstr>
      <vt:lpstr>DATA ANALYSIS</vt:lpstr>
      <vt:lpstr>TYPE OF DATA ANALYSIS</vt:lpstr>
      <vt:lpstr>TYPE OF DATA ANALYSIS (Continues…)</vt:lpstr>
      <vt:lpstr>TYPE OF DATA ANALYSIS (Continues…)</vt:lpstr>
      <vt:lpstr>TYPE OF DATA ANALYSIS (Continues…)</vt:lpstr>
      <vt:lpstr>TYPE OF DATA ANALYSIS (Continues…)</vt:lpstr>
      <vt:lpstr>TYPE OF DATA ANALYSIS (Continues…)</vt:lpstr>
      <vt:lpstr>TYPE OF DATA ANALYSIS (Continues…)</vt:lpstr>
      <vt:lpstr>TYPE OF DATA ANALYSIS (Continues…)</vt:lpstr>
      <vt:lpstr>TYPE OF DATA ANALYSIS (Continues…)</vt:lpstr>
      <vt:lpstr>TYPE OF DATA ANALYSIS (Continues…)</vt:lpstr>
      <vt:lpstr>TYPE OF DATA ANALYSIS (Continues…)</vt:lpstr>
      <vt:lpstr>TYPE OF DATA ANALYSIS (Continues…)</vt:lpstr>
      <vt:lpstr>TYPE OF DATA ANALYSIS (Continues…)</vt:lpstr>
      <vt:lpstr>TYPE OF DATA ANALYSIS (Continues…)</vt:lpstr>
      <vt:lpstr>TYPE OF DATA ANALYSIS (Continues…)</vt:lpstr>
      <vt:lpstr>TYPE OF DATA ANALYSIS (Continues…)</vt:lpstr>
      <vt:lpstr>TYPE OF DATA ANALYSIS (Continues…)</vt:lpstr>
      <vt:lpstr>Gap Analysis</vt:lpstr>
      <vt:lpstr>Introduction</vt:lpstr>
      <vt:lpstr>Steps in Conducting Gap Analysis for  Cybersecurity Fraud Prevention</vt:lpstr>
      <vt:lpstr>Using Gap Analysis in Fraud Detection</vt:lpstr>
      <vt:lpstr>Performing Contextual and Behavior Qualitative Analysis</vt:lpstr>
      <vt:lpstr>Key Concepts in Contextual and Behavioral Analysis</vt:lpstr>
      <vt:lpstr>Online Presence &amp; Social Media Analysis</vt:lpstr>
      <vt:lpstr>Digital Forensic Process</vt:lpstr>
      <vt:lpstr>Common Forensic Techniques</vt:lpstr>
      <vt:lpstr>OLAF APPROACH IN DATA ANALYSIS</vt:lpstr>
      <vt:lpstr>Introduction</vt:lpstr>
      <vt:lpstr>Breakdown of the OLAF Approach</vt:lpstr>
      <vt:lpstr>Breakdown of the OLAF Approach (Continues…)</vt:lpstr>
      <vt:lpstr>Miscarriage of Justice</vt:lpstr>
      <vt:lpstr>Impurity of Findings</vt:lpstr>
      <vt:lpstr>Successful Implementation of Data Analysis</vt:lpstr>
      <vt:lpstr>The 3M Methodology</vt:lpstr>
      <vt:lpstr>The 3M Methodology (Continues…)</vt:lpstr>
      <vt:lpstr>Understand Critical Thinking &amp;  Logical Reasoning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Prevention &amp; Detection Technologies</dc:title>
  <dc:creator>James Soko</dc:creator>
  <cp:lastModifiedBy>James Soko</cp:lastModifiedBy>
  <cp:revision>408</cp:revision>
  <dcterms:created xsi:type="dcterms:W3CDTF">2025-03-26T09:27:09Z</dcterms:created>
  <dcterms:modified xsi:type="dcterms:W3CDTF">2025-11-10T17:15:29Z</dcterms:modified>
</cp:coreProperties>
</file>