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9"/>
  </p:notesMasterIdLst>
  <p:sldIdLst>
    <p:sldId id="256" r:id="rId2"/>
    <p:sldId id="257" r:id="rId3"/>
    <p:sldId id="268" r:id="rId4"/>
    <p:sldId id="258" r:id="rId5"/>
    <p:sldId id="259" r:id="rId6"/>
    <p:sldId id="269" r:id="rId7"/>
    <p:sldId id="267"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4660"/>
  </p:normalViewPr>
  <p:slideViewPr>
    <p:cSldViewPr snapToGrid="0">
      <p:cViewPr varScale="1">
        <p:scale>
          <a:sx n="68" d="100"/>
          <a:sy n="68" d="100"/>
        </p:scale>
        <p:origin x="6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C4A702-0C6E-4141-9773-96B722DFA759}" type="datetimeFigureOut">
              <a:rPr lang="LID4096" smtClean="0"/>
              <a:t>03/27/2025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DFFCB3-7DC5-48B6-B107-8DFFD1E9BD94}" type="slidenum">
              <a:rPr lang="LID4096" smtClean="0"/>
              <a:t>‹#›</a:t>
            </a:fld>
            <a:endParaRPr lang="LID4096"/>
          </a:p>
        </p:txBody>
      </p:sp>
    </p:spTree>
    <p:extLst>
      <p:ext uri="{BB962C8B-B14F-4D97-AF65-F5344CB8AC3E}">
        <p14:creationId xmlns:p14="http://schemas.microsoft.com/office/powerpoint/2010/main" val="3759921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56ECC43-C495-4E09-AD36-660C4F5BBD77}" type="datetime1">
              <a:rPr lang="LID4096" smtClean="0"/>
              <a:t>03/27/2025</a:t>
            </a:fld>
            <a:endParaRPr lang="LID4096"/>
          </a:p>
        </p:txBody>
      </p:sp>
      <p:sp>
        <p:nvSpPr>
          <p:cNvPr id="5" name="Footer Placeholder 4"/>
          <p:cNvSpPr>
            <a:spLocks noGrp="1"/>
          </p:cNvSpPr>
          <p:nvPr>
            <p:ph type="ftr" sz="quarter" idx="11"/>
          </p:nvPr>
        </p:nvSpPr>
        <p:spPr>
          <a:xfrm>
            <a:off x="3962399" y="5870575"/>
            <a:ext cx="4893958" cy="377825"/>
          </a:xfrm>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a:xfrm>
            <a:off x="10608958" y="5870575"/>
            <a:ext cx="551167" cy="377825"/>
          </a:xfrm>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34150182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6FCE5F-C897-4449-A901-0D2259A52002}"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2381542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D34F77-E868-4582-AF29-EEABA67C5D08}"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1544057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49ED5D-A069-40FC-87D7-C8055602FAD9}" type="datetime1">
              <a:rPr lang="LID4096" smtClean="0"/>
              <a:t>03/27/2025</a:t>
            </a:fld>
            <a:endParaRPr lang="LID4096"/>
          </a:p>
        </p:txBody>
      </p:sp>
      <p:sp>
        <p:nvSpPr>
          <p:cNvPr id="6" name="Footer Placeholder 5"/>
          <p:cNvSpPr>
            <a:spLocks noGrp="1"/>
          </p:cNvSpPr>
          <p:nvPr>
            <p:ph type="ftr" sz="quarter" idx="11"/>
          </p:nvPr>
        </p:nvSpPr>
        <p:spPr/>
        <p:txBody>
          <a:bodyPr/>
          <a:lstStyle/>
          <a:p>
            <a:r>
              <a:rPr lang="en-US" dirty="0"/>
              <a:t>© ICT Society ℗ Kapasa Makasa University | Prepared by James Soko</a:t>
            </a:r>
            <a:endParaRPr lang="LID4096" dirty="0"/>
          </a:p>
        </p:txBody>
      </p:sp>
      <p:sp>
        <p:nvSpPr>
          <p:cNvPr id="7" name="Slide Number Placeholder 6"/>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181219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5C2EB4-684D-4F76-ABE3-EF238DC094E4}" type="datetime1">
              <a:rPr lang="LID4096" smtClean="0"/>
              <a:t>03/27/2025</a:t>
            </a:fld>
            <a:endParaRPr lang="LID4096"/>
          </a:p>
        </p:txBody>
      </p:sp>
      <p:sp>
        <p:nvSpPr>
          <p:cNvPr id="8" name="Footer Placeholder 7"/>
          <p:cNvSpPr>
            <a:spLocks noGrp="1"/>
          </p:cNvSpPr>
          <p:nvPr>
            <p:ph type="ftr" sz="quarter" idx="11"/>
          </p:nvPr>
        </p:nvSpPr>
        <p:spPr/>
        <p:txBody>
          <a:bodyPr/>
          <a:lstStyle/>
          <a:p>
            <a:r>
              <a:rPr lang="en-US" dirty="0"/>
              <a:t>© ICT Society ℗ Kapasa Makasa University | Prepared by James Soko</a:t>
            </a:r>
            <a:endParaRPr lang="LID4096" dirty="0"/>
          </a:p>
        </p:txBody>
      </p:sp>
      <p:sp>
        <p:nvSpPr>
          <p:cNvPr id="9" name="Slide Number Placeholder 8"/>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834572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8630EC-9DA1-4DCE-810B-0F58B5038704}" type="datetime1">
              <a:rPr lang="LID4096" smtClean="0"/>
              <a:t>03/27/2025</a:t>
            </a:fld>
            <a:endParaRPr lang="LID4096"/>
          </a:p>
        </p:txBody>
      </p:sp>
      <p:sp>
        <p:nvSpPr>
          <p:cNvPr id="4" name="Footer Placeholder 3"/>
          <p:cNvSpPr>
            <a:spLocks noGrp="1"/>
          </p:cNvSpPr>
          <p:nvPr>
            <p:ph type="ftr" sz="quarter" idx="11"/>
          </p:nvPr>
        </p:nvSpPr>
        <p:spPr/>
        <p:txBody>
          <a:bodyPr/>
          <a:lstStyle/>
          <a:p>
            <a:r>
              <a:rPr lang="en-US" dirty="0"/>
              <a:t>© ICT Society ℗ Kapasa Makasa University | Prepared by James Soko</a:t>
            </a:r>
            <a:endParaRPr lang="LID4096" dirty="0"/>
          </a:p>
        </p:txBody>
      </p:sp>
      <p:sp>
        <p:nvSpPr>
          <p:cNvPr id="5" name="Slide Number Placeholder 4"/>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347505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5C6A5C4B-00CB-4A9B-89AF-C4095F81715F}" type="datetime1">
              <a:rPr lang="LID4096" smtClean="0"/>
              <a:t>03/27/2025</a:t>
            </a:fld>
            <a:endParaRPr lang="LID4096"/>
          </a:p>
        </p:txBody>
      </p:sp>
      <p:sp>
        <p:nvSpPr>
          <p:cNvPr id="3" name="Footer Placeholder 2"/>
          <p:cNvSpPr>
            <a:spLocks noGrp="1"/>
          </p:cNvSpPr>
          <p:nvPr>
            <p:ph type="ftr" sz="quarter" idx="11"/>
          </p:nvPr>
        </p:nvSpPr>
        <p:spPr/>
        <p:txBody>
          <a:bodyPr/>
          <a:lstStyle/>
          <a:p>
            <a:r>
              <a:rPr lang="en-US" dirty="0"/>
              <a:t>© ICT Society ℗ Kapasa Makasa University | Prepared by James Soko</a:t>
            </a:r>
            <a:endParaRPr lang="LID4096" dirty="0"/>
          </a:p>
        </p:txBody>
      </p:sp>
      <p:sp>
        <p:nvSpPr>
          <p:cNvPr id="4" name="Slide Number Placeholder 3"/>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1812416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AB141C-5AFF-46FA-9017-7A79F06752A8}" type="datetime1">
              <a:rPr lang="LID4096" smtClean="0"/>
              <a:t>03/27/2025</a:t>
            </a:fld>
            <a:endParaRPr lang="LID4096"/>
          </a:p>
        </p:txBody>
      </p:sp>
      <p:sp>
        <p:nvSpPr>
          <p:cNvPr id="6" name="Footer Placeholder 5"/>
          <p:cNvSpPr>
            <a:spLocks noGrp="1"/>
          </p:cNvSpPr>
          <p:nvPr>
            <p:ph type="ftr" sz="quarter" idx="11"/>
          </p:nvPr>
        </p:nvSpPr>
        <p:spPr/>
        <p:txBody>
          <a:bodyPr/>
          <a:lstStyle/>
          <a:p>
            <a:r>
              <a:rPr lang="en-US" dirty="0"/>
              <a:t>© ICT Society ℗ Kapasa Makasa University | Prepared by James Soko</a:t>
            </a:r>
            <a:endParaRPr lang="LID4096" dirty="0"/>
          </a:p>
        </p:txBody>
      </p:sp>
      <p:sp>
        <p:nvSpPr>
          <p:cNvPr id="7" name="Slide Number Placeholder 6"/>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2556119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EAE203-EFD3-4608-958A-B13011347BE3}" type="datetime1">
              <a:rPr lang="LID4096" smtClean="0"/>
              <a:t>03/27/2025</a:t>
            </a:fld>
            <a:endParaRPr lang="LID4096"/>
          </a:p>
        </p:txBody>
      </p:sp>
      <p:sp>
        <p:nvSpPr>
          <p:cNvPr id="6" name="Footer Placeholder 5"/>
          <p:cNvSpPr>
            <a:spLocks noGrp="1"/>
          </p:cNvSpPr>
          <p:nvPr>
            <p:ph type="ftr" sz="quarter" idx="11"/>
          </p:nvPr>
        </p:nvSpPr>
        <p:spPr/>
        <p:txBody>
          <a:bodyPr/>
          <a:lstStyle/>
          <a:p>
            <a:r>
              <a:rPr lang="en-US" dirty="0"/>
              <a:t>© ICT Society ℗ Kapasa Makasa University | Prepared by James Soko</a:t>
            </a:r>
            <a:endParaRPr lang="LID4096" dirty="0"/>
          </a:p>
        </p:txBody>
      </p:sp>
      <p:sp>
        <p:nvSpPr>
          <p:cNvPr id="7" name="Slide Number Placeholder 6"/>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809820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DB24F2-BC0F-49DB-9172-252862E8DAB2}" type="datetime1">
              <a:rPr lang="LID4096" smtClean="0"/>
              <a:t>03/27/2025</a:t>
            </a:fld>
            <a:endParaRPr lang="LID4096"/>
          </a:p>
        </p:txBody>
      </p:sp>
      <p:sp>
        <p:nvSpPr>
          <p:cNvPr id="6" name="Footer Placeholder 5"/>
          <p:cNvSpPr>
            <a:spLocks noGrp="1"/>
          </p:cNvSpPr>
          <p:nvPr>
            <p:ph type="ftr" sz="quarter" idx="11"/>
          </p:nvPr>
        </p:nvSpPr>
        <p:spPr/>
        <p:txBody>
          <a:bodyPr/>
          <a:lstStyle/>
          <a:p>
            <a:r>
              <a:rPr lang="en-US" dirty="0"/>
              <a:t>© ICT Society ℗ Kapasa Makasa University | Prepared by James Soko</a:t>
            </a:r>
            <a:endParaRPr lang="LID4096" dirty="0"/>
          </a:p>
        </p:txBody>
      </p:sp>
      <p:sp>
        <p:nvSpPr>
          <p:cNvPr id="7" name="Slide Number Placeholder 6"/>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62133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214E75-486A-483D-9848-A78EA8E60F7C}"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3035037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43908B-7E5E-4FAB-8E22-866B9339FF33}"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13172537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43CD14-D36A-4FE0-8A63-CBE22C48A7C8}"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2495525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CE2E57-62F9-4BC0-B28F-2B8D6647B1AC}"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361638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A6F1E9-0FCE-4446-9AAA-CDB727694F31}"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3539107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CA3F6-C9A2-4C28-AD7E-87937D34B0F2}"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5006719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25FF6-9F98-4E84-84E6-78F57397EA8A}" type="datetime1">
              <a:rPr lang="LID4096" smtClean="0"/>
              <a:t>03/27/2025</a:t>
            </a:fld>
            <a:endParaRPr lang="LID4096"/>
          </a:p>
        </p:txBody>
      </p:sp>
      <p:sp>
        <p:nvSpPr>
          <p:cNvPr id="5" name="Footer Placeholder 4"/>
          <p:cNvSpPr>
            <a:spLocks noGrp="1"/>
          </p:cNvSpPr>
          <p:nvPr>
            <p:ph type="ftr" sz="quarter" idx="11"/>
          </p:nvPr>
        </p:nvSpPr>
        <p:spPr/>
        <p:txBody>
          <a:bodyPr/>
          <a:lstStyle/>
          <a:p>
            <a:r>
              <a:rPr lang="en-US" dirty="0"/>
              <a:t>© ICT Society ℗ Kapasa Makasa University | Prepared by James Soko</a:t>
            </a:r>
            <a:endParaRPr lang="LID4096" dirty="0"/>
          </a:p>
        </p:txBody>
      </p:sp>
      <p:sp>
        <p:nvSpPr>
          <p:cNvPr id="6" name="Slide Number Placeholder 5"/>
          <p:cNvSpPr>
            <a:spLocks noGrp="1"/>
          </p:cNvSpPr>
          <p:nvPr>
            <p:ph type="sldNum" sz="quarter" idx="12"/>
          </p:nvPr>
        </p:nvSpPr>
        <p:spPr/>
        <p:txBody>
          <a:bodyPr/>
          <a:lstStyle/>
          <a:p>
            <a:fld id="{AEDC110B-74A1-4407-998E-2A7F46575C21}" type="slidenum">
              <a:rPr lang="LID4096" smtClean="0"/>
              <a:t>‹#›</a:t>
            </a:fld>
            <a:endParaRPr lang="LID4096"/>
          </a:p>
        </p:txBody>
      </p:sp>
    </p:spTree>
    <p:extLst>
      <p:ext uri="{BB962C8B-B14F-4D97-AF65-F5344CB8AC3E}">
        <p14:creationId xmlns:p14="http://schemas.microsoft.com/office/powerpoint/2010/main" val="2736641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0FF0478-4918-4CE6-9B4F-BFE2E2897720}" type="datetime1">
              <a:rPr lang="LID4096" smtClean="0"/>
              <a:t>03/27/2025</a:t>
            </a:fld>
            <a:endParaRPr lang="LID4096"/>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dirty="0"/>
              <a:t>© ICT Society ℗ Kapasa Makasa University | Prepared by James Soko</a:t>
            </a:r>
            <a:endParaRPr lang="LID4096"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EDC110B-74A1-4407-998E-2A7F46575C21}" type="slidenum">
              <a:rPr lang="LID4096" smtClean="0"/>
              <a:t>‹#›</a:t>
            </a:fld>
            <a:endParaRPr lang="LID4096"/>
          </a:p>
        </p:txBody>
      </p:sp>
    </p:spTree>
    <p:extLst>
      <p:ext uri="{BB962C8B-B14F-4D97-AF65-F5344CB8AC3E}">
        <p14:creationId xmlns:p14="http://schemas.microsoft.com/office/powerpoint/2010/main" val="82207044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3B85-9D02-48FA-BD3F-348BEEF17A1C}"/>
              </a:ext>
            </a:extLst>
          </p:cNvPr>
          <p:cNvSpPr>
            <a:spLocks noGrp="1"/>
          </p:cNvSpPr>
          <p:nvPr>
            <p:ph type="ctrTitle"/>
          </p:nvPr>
        </p:nvSpPr>
        <p:spPr/>
        <p:txBody>
          <a:bodyPr>
            <a:noAutofit/>
          </a:bodyPr>
          <a:lstStyle/>
          <a:p>
            <a:r>
              <a:rPr lang="en-US" sz="17000" b="1" dirty="0">
                <a:solidFill>
                  <a:srgbClr val="00B050"/>
                </a:solidFill>
                <a:latin typeface="Bahnschrift" panose="020B0502040204020203" pitchFamily="34" charset="0"/>
              </a:rPr>
              <a:t>EXCEL</a:t>
            </a:r>
            <a:endParaRPr lang="LID4096" sz="17000" b="1" dirty="0">
              <a:solidFill>
                <a:srgbClr val="00B050"/>
              </a:solidFill>
              <a:latin typeface="Bahnschrift" panose="020B0502040204020203" pitchFamily="34" charset="0"/>
            </a:endParaRPr>
          </a:p>
        </p:txBody>
      </p:sp>
      <p:sp>
        <p:nvSpPr>
          <p:cNvPr id="3" name="Subtitle 2">
            <a:extLst>
              <a:ext uri="{FF2B5EF4-FFF2-40B4-BE49-F238E27FC236}">
                <a16:creationId xmlns:a16="http://schemas.microsoft.com/office/drawing/2014/main" id="{632D56AC-FBBF-4911-B478-8DDE112BF729}"/>
              </a:ext>
            </a:extLst>
          </p:cNvPr>
          <p:cNvSpPr>
            <a:spLocks noGrp="1"/>
          </p:cNvSpPr>
          <p:nvPr>
            <p:ph type="subTitle" idx="1"/>
          </p:nvPr>
        </p:nvSpPr>
        <p:spPr/>
        <p:txBody>
          <a:bodyPr>
            <a:noAutofit/>
          </a:bodyPr>
          <a:lstStyle/>
          <a:p>
            <a:r>
              <a:rPr lang="en-US" sz="9600" b="1" dirty="0">
                <a:latin typeface="Bahnschrift" panose="020B0502040204020203" pitchFamily="34" charset="0"/>
              </a:rPr>
              <a:t>VLOOKUP</a:t>
            </a:r>
            <a:endParaRPr lang="LID4096" sz="9600" b="1" dirty="0">
              <a:latin typeface="Bahnschrift" panose="020B0502040204020203" pitchFamily="34" charset="0"/>
            </a:endParaRPr>
          </a:p>
        </p:txBody>
      </p:sp>
      <p:pic>
        <p:nvPicPr>
          <p:cNvPr id="5" name="Picture 4">
            <a:extLst>
              <a:ext uri="{FF2B5EF4-FFF2-40B4-BE49-F238E27FC236}">
                <a16:creationId xmlns:a16="http://schemas.microsoft.com/office/drawing/2014/main" id="{ECCD516A-8576-4F7B-839B-28E1613B7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69" y="697624"/>
            <a:ext cx="5715000" cy="5715000"/>
          </a:xfrm>
          <a:prstGeom prst="rect">
            <a:avLst/>
          </a:prstGeom>
        </p:spPr>
      </p:pic>
      <p:sp>
        <p:nvSpPr>
          <p:cNvPr id="6" name="Footer Placeholder 5">
            <a:extLst>
              <a:ext uri="{FF2B5EF4-FFF2-40B4-BE49-F238E27FC236}">
                <a16:creationId xmlns:a16="http://schemas.microsoft.com/office/drawing/2014/main" id="{1E2E757A-1D47-4E4E-B3EE-A8C3E7DB3CD6}"/>
              </a:ext>
            </a:extLst>
          </p:cNvPr>
          <p:cNvSpPr>
            <a:spLocks noGrp="1"/>
          </p:cNvSpPr>
          <p:nvPr>
            <p:ph type="ftr" sz="quarter" idx="11"/>
          </p:nvPr>
        </p:nvSpPr>
        <p:spPr/>
        <p:txBody>
          <a:bodyPr/>
          <a:lstStyle/>
          <a:p>
            <a:r>
              <a:rPr lang="en-US" dirty="0">
                <a:latin typeface="Bahnschrift" panose="020B0502040204020203" pitchFamily="34" charset="0"/>
              </a:rPr>
              <a:t>© ICT Society ℗ Kapasa Makasa University | Prepared by James Soko</a:t>
            </a:r>
            <a:endParaRPr lang="LID4096" dirty="0">
              <a:latin typeface="Bahnschrift" panose="020B0502040204020203" pitchFamily="34" charset="0"/>
            </a:endParaRPr>
          </a:p>
        </p:txBody>
      </p:sp>
      <p:sp>
        <p:nvSpPr>
          <p:cNvPr id="7" name="Slide Number Placeholder 6">
            <a:extLst>
              <a:ext uri="{FF2B5EF4-FFF2-40B4-BE49-F238E27FC236}">
                <a16:creationId xmlns:a16="http://schemas.microsoft.com/office/drawing/2014/main" id="{54DC60B9-E6F4-4D80-BB5D-1BC8F4533B8B}"/>
              </a:ext>
            </a:extLst>
          </p:cNvPr>
          <p:cNvSpPr>
            <a:spLocks noGrp="1"/>
          </p:cNvSpPr>
          <p:nvPr>
            <p:ph type="sldNum" sz="quarter" idx="12"/>
          </p:nvPr>
        </p:nvSpPr>
        <p:spPr/>
        <p:txBody>
          <a:bodyPr/>
          <a:lstStyle/>
          <a:p>
            <a:fld id="{AEDC110B-74A1-4407-998E-2A7F46575C21}" type="slidenum">
              <a:rPr lang="LID4096" smtClean="0"/>
              <a:t>1</a:t>
            </a:fld>
            <a:endParaRPr lang="LID4096"/>
          </a:p>
        </p:txBody>
      </p:sp>
    </p:spTree>
    <p:extLst>
      <p:ext uri="{BB962C8B-B14F-4D97-AF65-F5344CB8AC3E}">
        <p14:creationId xmlns:p14="http://schemas.microsoft.com/office/powerpoint/2010/main" val="3016904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76A85-2E19-4548-BB04-795FC500CF76}"/>
              </a:ext>
            </a:extLst>
          </p:cNvPr>
          <p:cNvSpPr>
            <a:spLocks noGrp="1"/>
          </p:cNvSpPr>
          <p:nvPr>
            <p:ph type="title"/>
          </p:nvPr>
        </p:nvSpPr>
        <p:spPr/>
        <p:txBody>
          <a:bodyPr/>
          <a:lstStyle/>
          <a:p>
            <a:pPr algn="ctr"/>
            <a:r>
              <a:rPr lang="en-US" b="1" dirty="0">
                <a:latin typeface="Bahnschrift" panose="020B0502040204020203" pitchFamily="34" charset="0"/>
              </a:rPr>
              <a:t>INTRODUCTION</a:t>
            </a:r>
            <a:endParaRPr lang="LID4096" b="1" dirty="0">
              <a:latin typeface="Bahnschrift" panose="020B0502040204020203" pitchFamily="34" charset="0"/>
            </a:endParaRPr>
          </a:p>
        </p:txBody>
      </p:sp>
      <p:sp>
        <p:nvSpPr>
          <p:cNvPr id="4" name="Footer Placeholder 3">
            <a:extLst>
              <a:ext uri="{FF2B5EF4-FFF2-40B4-BE49-F238E27FC236}">
                <a16:creationId xmlns:a16="http://schemas.microsoft.com/office/drawing/2014/main" id="{D7068016-E752-440E-8E10-139A953F6FEA}"/>
              </a:ext>
            </a:extLst>
          </p:cNvPr>
          <p:cNvSpPr>
            <a:spLocks noGrp="1"/>
          </p:cNvSpPr>
          <p:nvPr>
            <p:ph type="ftr" sz="quarter" idx="11"/>
          </p:nvPr>
        </p:nvSpPr>
        <p:spPr/>
        <p:txBody>
          <a:bodyPr/>
          <a:lstStyle/>
          <a:p>
            <a:r>
              <a:rPr lang="en-US" dirty="0">
                <a:latin typeface="Bahnschrift" panose="020B0502040204020203" pitchFamily="34" charset="0"/>
              </a:rPr>
              <a:t>© ICT Society ℗ Kapasa Makasa University | Prepared by James Soko</a:t>
            </a:r>
            <a:endParaRPr lang="LID4096" dirty="0">
              <a:latin typeface="Bahnschrift" panose="020B0502040204020203" pitchFamily="34" charset="0"/>
            </a:endParaRPr>
          </a:p>
        </p:txBody>
      </p:sp>
      <p:sp>
        <p:nvSpPr>
          <p:cNvPr id="5" name="Slide Number Placeholder 4">
            <a:extLst>
              <a:ext uri="{FF2B5EF4-FFF2-40B4-BE49-F238E27FC236}">
                <a16:creationId xmlns:a16="http://schemas.microsoft.com/office/drawing/2014/main" id="{A23D3781-6F04-42A2-BC9D-F9A1F1A387BF}"/>
              </a:ext>
            </a:extLst>
          </p:cNvPr>
          <p:cNvSpPr>
            <a:spLocks noGrp="1"/>
          </p:cNvSpPr>
          <p:nvPr>
            <p:ph type="sldNum" sz="quarter" idx="12"/>
          </p:nvPr>
        </p:nvSpPr>
        <p:spPr/>
        <p:txBody>
          <a:bodyPr/>
          <a:lstStyle/>
          <a:p>
            <a:fld id="{AEDC110B-74A1-4407-998E-2A7F46575C21}" type="slidenum">
              <a:rPr lang="LID4096" smtClean="0"/>
              <a:t>2</a:t>
            </a:fld>
            <a:endParaRPr lang="LID4096"/>
          </a:p>
        </p:txBody>
      </p:sp>
      <p:sp>
        <p:nvSpPr>
          <p:cNvPr id="6" name="Content Placeholder 5">
            <a:extLst>
              <a:ext uri="{FF2B5EF4-FFF2-40B4-BE49-F238E27FC236}">
                <a16:creationId xmlns:a16="http://schemas.microsoft.com/office/drawing/2014/main" id="{B2F12312-0512-4E14-891F-B8B73B98D863}"/>
              </a:ext>
            </a:extLst>
          </p:cNvPr>
          <p:cNvSpPr>
            <a:spLocks noGrp="1"/>
          </p:cNvSpPr>
          <p:nvPr>
            <p:ph idx="1"/>
          </p:nvPr>
        </p:nvSpPr>
        <p:spPr/>
        <p:txBody>
          <a:bodyPr>
            <a:normAutofit lnSpcReduction="10000"/>
          </a:bodyPr>
          <a:lstStyle/>
          <a:p>
            <a:r>
              <a:rPr lang="en-US" dirty="0">
                <a:latin typeface="Bahnschrift" panose="020B0502040204020203" pitchFamily="34" charset="0"/>
              </a:rPr>
              <a:t> </a:t>
            </a:r>
            <a:r>
              <a:rPr lang="en-US" b="1" dirty="0">
                <a:latin typeface="Bahnschrift" panose="020B0502040204020203" pitchFamily="34" charset="0"/>
              </a:rPr>
              <a:t>VLOOKUP</a:t>
            </a:r>
            <a:r>
              <a:rPr lang="en-US" dirty="0">
                <a:latin typeface="Bahnschrift" panose="020B0502040204020203" pitchFamily="34" charset="0"/>
              </a:rPr>
              <a:t> stands for </a:t>
            </a:r>
            <a:r>
              <a:rPr lang="en-US" b="1" dirty="0">
                <a:latin typeface="Bahnschrift" panose="020B0502040204020203" pitchFamily="34" charset="0"/>
              </a:rPr>
              <a:t>Vertical Lookup</a:t>
            </a:r>
            <a:r>
              <a:rPr lang="en-US" dirty="0">
                <a:latin typeface="Bahnschrift" panose="020B0502040204020203" pitchFamily="34" charset="0"/>
              </a:rPr>
              <a:t>. </a:t>
            </a:r>
          </a:p>
          <a:p>
            <a:r>
              <a:rPr lang="en-US" dirty="0">
                <a:latin typeface="Bahnschrift" panose="020B0502040204020203" pitchFamily="34" charset="0"/>
              </a:rPr>
              <a:t> It is a function in </a:t>
            </a:r>
            <a:r>
              <a:rPr lang="en-US" b="1" dirty="0">
                <a:latin typeface="Bahnschrift" panose="020B0502040204020203" pitchFamily="34" charset="0"/>
              </a:rPr>
              <a:t>Excel</a:t>
            </a:r>
            <a:r>
              <a:rPr lang="en-US" dirty="0">
                <a:latin typeface="Bahnschrift" panose="020B0502040204020203" pitchFamily="34" charset="0"/>
              </a:rPr>
              <a:t> and </a:t>
            </a:r>
            <a:r>
              <a:rPr lang="en-US" b="1" dirty="0">
                <a:latin typeface="Bahnschrift" panose="020B0502040204020203" pitchFamily="34" charset="0"/>
              </a:rPr>
              <a:t>Google Sheets </a:t>
            </a:r>
            <a:r>
              <a:rPr lang="en-US" dirty="0">
                <a:latin typeface="Bahnschrift" panose="020B0502040204020203" pitchFamily="34" charset="0"/>
              </a:rPr>
              <a:t>that allows you to search for a value in a vertical column and return a corresponding value from another column in the same row.</a:t>
            </a:r>
          </a:p>
          <a:p>
            <a:r>
              <a:rPr lang="en-US" dirty="0">
                <a:latin typeface="Bahnschrift" panose="020B0502040204020203" pitchFamily="34" charset="0"/>
              </a:rPr>
              <a:t> It's used to look up and retrieve data from a specific column in a table based on a matching value in the first column.</a:t>
            </a:r>
          </a:p>
          <a:p>
            <a:r>
              <a:rPr lang="en-US" dirty="0">
                <a:latin typeface="Bahnschrift" panose="020B0502040204020203" pitchFamily="34" charset="0"/>
              </a:rPr>
              <a:t> The </a:t>
            </a:r>
            <a:r>
              <a:rPr lang="en-US" b="1" dirty="0">
                <a:latin typeface="Bahnschrift" panose="020B0502040204020203" pitchFamily="34" charset="0"/>
              </a:rPr>
              <a:t>VLOOKUP function </a:t>
            </a:r>
            <a:r>
              <a:rPr lang="en-US" dirty="0">
                <a:latin typeface="Bahnschrift" panose="020B0502040204020203" pitchFamily="34" charset="0"/>
              </a:rPr>
              <a:t>can be a useful tool in </a:t>
            </a:r>
            <a:r>
              <a:rPr lang="en-US" b="1" dirty="0">
                <a:latin typeface="Bahnschrift" panose="020B0502040204020203" pitchFamily="34" charset="0"/>
              </a:rPr>
              <a:t>Fraud Detection &amp; Technologies </a:t>
            </a:r>
            <a:r>
              <a:rPr lang="en-US" dirty="0">
                <a:latin typeface="Bahnschrift" panose="020B0502040204020203" pitchFamily="34" charset="0"/>
              </a:rPr>
              <a:t>to;</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Flagging Suspicious Patterns in Account Activity</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Monitoring Unusual Access to Sensitive Data</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Verifying User Identifications Against Known Data</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Analyzing Behavioral Trends</a:t>
            </a:r>
            <a:endParaRPr lang="LID4096" b="1" dirty="0">
              <a:latin typeface="Bahnschrift" panose="020B0502040204020203" pitchFamily="34" charset="0"/>
            </a:endParaRPr>
          </a:p>
        </p:txBody>
      </p:sp>
    </p:spTree>
    <p:extLst>
      <p:ext uri="{BB962C8B-B14F-4D97-AF65-F5344CB8AC3E}">
        <p14:creationId xmlns:p14="http://schemas.microsoft.com/office/powerpoint/2010/main" val="940651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88A5-7A49-44CF-94D3-4A8EB41D4945}"/>
              </a:ext>
            </a:extLst>
          </p:cNvPr>
          <p:cNvSpPr>
            <a:spLocks noGrp="1"/>
          </p:cNvSpPr>
          <p:nvPr>
            <p:ph type="title"/>
          </p:nvPr>
        </p:nvSpPr>
        <p:spPr/>
        <p:txBody>
          <a:bodyPr/>
          <a:lstStyle/>
          <a:p>
            <a:pPr algn="ctr"/>
            <a:r>
              <a:rPr lang="en-GB" b="1" dirty="0">
                <a:latin typeface="Bahnschrift" panose="020B0502040204020203" pitchFamily="34" charset="0"/>
              </a:rPr>
              <a:t>Syntax of VLOOKUP</a:t>
            </a:r>
            <a:endParaRPr lang="LID4096" b="1" dirty="0">
              <a:latin typeface="Bahnschrift" panose="020B0502040204020203" pitchFamily="34" charset="0"/>
            </a:endParaRPr>
          </a:p>
        </p:txBody>
      </p:sp>
      <p:sp>
        <p:nvSpPr>
          <p:cNvPr id="4" name="Footer Placeholder 3">
            <a:extLst>
              <a:ext uri="{FF2B5EF4-FFF2-40B4-BE49-F238E27FC236}">
                <a16:creationId xmlns:a16="http://schemas.microsoft.com/office/drawing/2014/main" id="{6516B845-B156-4F61-A9AA-406A2C31896B}"/>
              </a:ext>
            </a:extLst>
          </p:cNvPr>
          <p:cNvSpPr>
            <a:spLocks noGrp="1"/>
          </p:cNvSpPr>
          <p:nvPr>
            <p:ph type="ftr" sz="quarter" idx="11"/>
          </p:nvPr>
        </p:nvSpPr>
        <p:spPr/>
        <p:txBody>
          <a:bodyPr/>
          <a:lstStyle/>
          <a:p>
            <a:r>
              <a:rPr lang="en-US" dirty="0">
                <a:latin typeface="Bahnschrift" panose="020B0502040204020203" pitchFamily="34" charset="0"/>
              </a:rPr>
              <a:t>© ICT Society ℗ Kapasa Makasa University | Prepared by James Soko</a:t>
            </a:r>
            <a:endParaRPr lang="LID4096" dirty="0">
              <a:latin typeface="Bahnschrift" panose="020B0502040204020203" pitchFamily="34" charset="0"/>
            </a:endParaRPr>
          </a:p>
        </p:txBody>
      </p:sp>
      <p:sp>
        <p:nvSpPr>
          <p:cNvPr id="5" name="Slide Number Placeholder 4">
            <a:extLst>
              <a:ext uri="{FF2B5EF4-FFF2-40B4-BE49-F238E27FC236}">
                <a16:creationId xmlns:a16="http://schemas.microsoft.com/office/drawing/2014/main" id="{DFD5D6D3-51F6-4D0D-B7F3-792631ABA466}"/>
              </a:ext>
            </a:extLst>
          </p:cNvPr>
          <p:cNvSpPr>
            <a:spLocks noGrp="1"/>
          </p:cNvSpPr>
          <p:nvPr>
            <p:ph type="sldNum" sz="quarter" idx="12"/>
          </p:nvPr>
        </p:nvSpPr>
        <p:spPr/>
        <p:txBody>
          <a:bodyPr/>
          <a:lstStyle/>
          <a:p>
            <a:fld id="{AEDC110B-74A1-4407-998E-2A7F46575C21}" type="slidenum">
              <a:rPr lang="LID4096" smtClean="0"/>
              <a:t>3</a:t>
            </a:fld>
            <a:endParaRPr lang="LID4096"/>
          </a:p>
        </p:txBody>
      </p:sp>
      <p:sp>
        <p:nvSpPr>
          <p:cNvPr id="6" name="Content Placeholder 5">
            <a:extLst>
              <a:ext uri="{FF2B5EF4-FFF2-40B4-BE49-F238E27FC236}">
                <a16:creationId xmlns:a16="http://schemas.microsoft.com/office/drawing/2014/main" id="{91046349-D4DD-4AE2-9272-8526E6570973}"/>
              </a:ext>
            </a:extLst>
          </p:cNvPr>
          <p:cNvSpPr>
            <a:spLocks noGrp="1"/>
          </p:cNvSpPr>
          <p:nvPr>
            <p:ph idx="1"/>
          </p:nvPr>
        </p:nvSpPr>
        <p:spPr/>
        <p:txBody>
          <a:bodyPr>
            <a:normAutofit fontScale="92500" lnSpcReduction="10000"/>
          </a:bodyPr>
          <a:lstStyle/>
          <a:p>
            <a:pPr>
              <a:buFont typeface="Wingdings" panose="05000000000000000000" pitchFamily="2" charset="2"/>
              <a:buChar char="q"/>
            </a:pPr>
            <a:r>
              <a:rPr lang="en-US" b="1" dirty="0">
                <a:latin typeface="Bahnschrift" panose="020B0502040204020203" pitchFamily="34" charset="0"/>
              </a:rPr>
              <a:t>VLOOKUP(lookup_value, table_array, col_index_num, [range_lookup])</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lookup_value – </a:t>
            </a:r>
            <a:r>
              <a:rPr lang="en-US" dirty="0">
                <a:latin typeface="Bahnschrift" panose="020B0502040204020203" pitchFamily="34" charset="0"/>
              </a:rPr>
              <a:t>The value you want to search for in the first column of the table (can be a number, text, or reference).</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table_array – </a:t>
            </a:r>
            <a:r>
              <a:rPr lang="en-US" dirty="0">
                <a:latin typeface="Bahnschrift" panose="020B0502040204020203" pitchFamily="34" charset="0"/>
              </a:rPr>
              <a:t>The range of cells that contains the data you want to search through. It includes both the column with the lookup value and the column(s) from which you want to retrieve data.</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col_index_num – </a:t>
            </a:r>
            <a:r>
              <a:rPr lang="en-US" dirty="0">
                <a:latin typeface="Bahnschrift" panose="020B0502040204020203" pitchFamily="34" charset="0"/>
              </a:rPr>
              <a:t>The column number in the table from which to return the value. The first column in the range is 1, the second is 2, and so on.</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[range_lookup]</a:t>
            </a:r>
            <a:r>
              <a:rPr lang="en-US" dirty="0">
                <a:latin typeface="Bahnschrift" panose="020B0502040204020203" pitchFamily="34" charset="0"/>
              </a:rPr>
              <a:t> (optional) – This is a TRUE or FALSE value that defines whether you want an approximate match (TRUE) or an exact match (FALSE).</a:t>
            </a:r>
          </a:p>
          <a:p>
            <a:pPr marL="400050" indent="-400050">
              <a:buFont typeface="+mj-lt"/>
              <a:buAutoNum type="romanLcPeriod"/>
            </a:pPr>
            <a:r>
              <a:rPr lang="en-US" b="1" dirty="0">
                <a:latin typeface="Bahnschrift" panose="020B0502040204020203" pitchFamily="34" charset="0"/>
              </a:rPr>
              <a:t>TRUE – </a:t>
            </a:r>
            <a:r>
              <a:rPr lang="en-US" dirty="0">
                <a:latin typeface="Bahnschrift" panose="020B0502040204020203" pitchFamily="34" charset="0"/>
              </a:rPr>
              <a:t>Approximate match (default).</a:t>
            </a:r>
          </a:p>
          <a:p>
            <a:pPr marL="400050" indent="-400050">
              <a:buFont typeface="+mj-lt"/>
              <a:buAutoNum type="romanLcPeriod"/>
            </a:pPr>
            <a:r>
              <a:rPr lang="en-US" b="1" dirty="0">
                <a:latin typeface="Bahnschrift" panose="020B0502040204020203" pitchFamily="34" charset="0"/>
              </a:rPr>
              <a:t>FALSE – </a:t>
            </a:r>
            <a:r>
              <a:rPr lang="en-US" dirty="0">
                <a:latin typeface="Bahnschrift" panose="020B0502040204020203" pitchFamily="34" charset="0"/>
              </a:rPr>
              <a:t>Exact match.</a:t>
            </a:r>
            <a:endParaRPr lang="LID4096" dirty="0">
              <a:latin typeface="Bahnschrift" panose="020B0502040204020203" pitchFamily="34" charset="0"/>
            </a:endParaRPr>
          </a:p>
        </p:txBody>
      </p:sp>
    </p:spTree>
    <p:extLst>
      <p:ext uri="{BB962C8B-B14F-4D97-AF65-F5344CB8AC3E}">
        <p14:creationId xmlns:p14="http://schemas.microsoft.com/office/powerpoint/2010/main" val="200081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8C38CE-D43F-49B0-B386-A745865B06E3}"/>
              </a:ext>
            </a:extLst>
          </p:cNvPr>
          <p:cNvSpPr>
            <a:spLocks noGrp="1"/>
          </p:cNvSpPr>
          <p:nvPr>
            <p:ph type="title"/>
          </p:nvPr>
        </p:nvSpPr>
        <p:spPr/>
        <p:txBody>
          <a:bodyPr/>
          <a:lstStyle/>
          <a:p>
            <a:pPr algn="ctr"/>
            <a:r>
              <a:rPr lang="en-GB" b="1" dirty="0">
                <a:latin typeface="Bahnschrift" panose="020B0502040204020203" pitchFamily="34" charset="0"/>
              </a:rPr>
              <a:t>Common Uses of VLOOKUP</a:t>
            </a:r>
            <a:endParaRPr lang="LID4096" b="1" dirty="0">
              <a:latin typeface="Bahnschrift" panose="020B0502040204020203" pitchFamily="34" charset="0"/>
            </a:endParaRPr>
          </a:p>
        </p:txBody>
      </p:sp>
      <p:sp>
        <p:nvSpPr>
          <p:cNvPr id="7" name="Text Placeholder 6">
            <a:extLst>
              <a:ext uri="{FF2B5EF4-FFF2-40B4-BE49-F238E27FC236}">
                <a16:creationId xmlns:a16="http://schemas.microsoft.com/office/drawing/2014/main" id="{914D7DA1-F716-4B24-95B6-2A1B9B951B9E}"/>
              </a:ext>
            </a:extLst>
          </p:cNvPr>
          <p:cNvSpPr>
            <a:spLocks noGrp="1"/>
          </p:cNvSpPr>
          <p:nvPr>
            <p:ph type="body" idx="1"/>
          </p:nvPr>
        </p:nvSpPr>
        <p:spPr/>
        <p:txBody>
          <a:bodyPr/>
          <a:lstStyle/>
          <a:p>
            <a:pPr algn="ctr"/>
            <a:r>
              <a:rPr lang="en-US" b="1" dirty="0">
                <a:latin typeface="Bahnschrift" panose="020B0502040204020203" pitchFamily="34" charset="0"/>
              </a:rPr>
              <a:t>EXACT MATCH (FALSE)</a:t>
            </a:r>
            <a:endParaRPr lang="LID4096" b="1" dirty="0">
              <a:latin typeface="Bahnschrift" panose="020B0502040204020203" pitchFamily="34" charset="0"/>
            </a:endParaRPr>
          </a:p>
        </p:txBody>
      </p:sp>
      <p:sp>
        <p:nvSpPr>
          <p:cNvPr id="3" name="Content Placeholder 2">
            <a:extLst>
              <a:ext uri="{FF2B5EF4-FFF2-40B4-BE49-F238E27FC236}">
                <a16:creationId xmlns:a16="http://schemas.microsoft.com/office/drawing/2014/main" id="{3C86087B-71E9-4B6B-8431-A4C304ED7F0E}"/>
              </a:ext>
            </a:extLst>
          </p:cNvPr>
          <p:cNvSpPr>
            <a:spLocks noGrp="1"/>
          </p:cNvSpPr>
          <p:nvPr>
            <p:ph sz="half" idx="2"/>
          </p:nvPr>
        </p:nvSpPr>
        <p:spPr/>
        <p:txBody>
          <a:bodyPr>
            <a:normAutofit lnSpcReduction="10000"/>
          </a:bodyPr>
          <a:lstStyle/>
          <a:p>
            <a:r>
              <a:rPr lang="en-US" dirty="0">
                <a:latin typeface="Bahnschrift" panose="020B0502040204020203" pitchFamily="34" charset="0"/>
              </a:rPr>
              <a:t> Looks for an exact match, and if it doesn’t find one, it returns an error (typically </a:t>
            </a:r>
            <a:r>
              <a:rPr lang="en-US" b="1" dirty="0">
                <a:latin typeface="Bahnschrift" panose="020B0502040204020203" pitchFamily="34" charset="0"/>
              </a:rPr>
              <a:t>#N/A</a:t>
            </a:r>
            <a:r>
              <a:rPr lang="en-US" dirty="0">
                <a:latin typeface="Bahnschrift" panose="020B0502040204020203" pitchFamily="34" charset="0"/>
              </a:rPr>
              <a:t>).</a:t>
            </a:r>
          </a:p>
          <a:p>
            <a:r>
              <a:rPr lang="en-US" dirty="0">
                <a:latin typeface="Bahnschrift" panose="020B0502040204020203" pitchFamily="34" charset="0"/>
              </a:rPr>
              <a:t> </a:t>
            </a:r>
            <a:r>
              <a:rPr lang="en-US" b="1" dirty="0">
                <a:latin typeface="Bahnschrift" panose="020B0502040204020203" pitchFamily="34" charset="0"/>
              </a:rPr>
              <a:t>=VLOOKUP(“malicious", A2:B10, 2, FALSE)</a:t>
            </a:r>
          </a:p>
          <a:p>
            <a:r>
              <a:rPr lang="en-US" dirty="0">
                <a:latin typeface="Bahnschrift" panose="020B0502040204020203" pitchFamily="34" charset="0"/>
              </a:rPr>
              <a:t> This formula looks for the exact match of “malicious" in the first column of the range A2:A10 and returns the value from the second column in the same row (B2:B10). If “malicious" isn't found exactly, it returns an error.</a:t>
            </a:r>
          </a:p>
          <a:p>
            <a:endParaRPr lang="LID4096" dirty="0">
              <a:latin typeface="Bahnschrift" panose="020B0502040204020203" pitchFamily="34" charset="0"/>
            </a:endParaRPr>
          </a:p>
        </p:txBody>
      </p:sp>
      <p:sp>
        <p:nvSpPr>
          <p:cNvPr id="8" name="Text Placeholder 7">
            <a:extLst>
              <a:ext uri="{FF2B5EF4-FFF2-40B4-BE49-F238E27FC236}">
                <a16:creationId xmlns:a16="http://schemas.microsoft.com/office/drawing/2014/main" id="{3F41DEDF-909B-4727-AEB0-1B7DF2EA9000}"/>
              </a:ext>
            </a:extLst>
          </p:cNvPr>
          <p:cNvSpPr>
            <a:spLocks noGrp="1"/>
          </p:cNvSpPr>
          <p:nvPr>
            <p:ph type="body" sz="quarter" idx="3"/>
          </p:nvPr>
        </p:nvSpPr>
        <p:spPr/>
        <p:txBody>
          <a:bodyPr/>
          <a:lstStyle/>
          <a:p>
            <a:pPr algn="ctr"/>
            <a:r>
              <a:rPr lang="en-US" b="1" dirty="0">
                <a:latin typeface="Bahnschrift" panose="020B0502040204020203" pitchFamily="34" charset="0"/>
              </a:rPr>
              <a:t>APPROXIMATE MATCH (TRUE)</a:t>
            </a:r>
            <a:endParaRPr lang="LID4096" b="1" dirty="0">
              <a:latin typeface="Bahnschrift" panose="020B0502040204020203" pitchFamily="34" charset="0"/>
            </a:endParaRPr>
          </a:p>
        </p:txBody>
      </p:sp>
      <p:sp>
        <p:nvSpPr>
          <p:cNvPr id="9" name="Content Placeholder 8">
            <a:extLst>
              <a:ext uri="{FF2B5EF4-FFF2-40B4-BE49-F238E27FC236}">
                <a16:creationId xmlns:a16="http://schemas.microsoft.com/office/drawing/2014/main" id="{0D625ED9-B4C7-49C8-89EC-4BCA199367A7}"/>
              </a:ext>
            </a:extLst>
          </p:cNvPr>
          <p:cNvSpPr>
            <a:spLocks noGrp="1"/>
          </p:cNvSpPr>
          <p:nvPr>
            <p:ph sz="quarter" idx="4"/>
          </p:nvPr>
        </p:nvSpPr>
        <p:spPr/>
        <p:txBody>
          <a:bodyPr>
            <a:normAutofit lnSpcReduction="10000"/>
          </a:bodyPr>
          <a:lstStyle/>
          <a:p>
            <a:r>
              <a:rPr lang="en-US" dirty="0">
                <a:latin typeface="Bahnschrift" panose="020B0502040204020203" pitchFamily="34" charset="0"/>
              </a:rPr>
              <a:t> Looks for the closest match (less than or equal to the lookup value), which is useful for finding ranges or thresholds.</a:t>
            </a:r>
          </a:p>
          <a:p>
            <a:r>
              <a:rPr lang="en-US" dirty="0">
                <a:latin typeface="Bahnschrift" panose="020B0502040204020203" pitchFamily="34" charset="0"/>
              </a:rPr>
              <a:t> </a:t>
            </a:r>
            <a:r>
              <a:rPr lang="en-US" b="1" dirty="0">
                <a:latin typeface="Bahnschrift" panose="020B0502040204020203" pitchFamily="34" charset="0"/>
              </a:rPr>
              <a:t>=VLOOKUP(75, A2:B10, 2, TRUE)</a:t>
            </a:r>
          </a:p>
          <a:p>
            <a:r>
              <a:rPr lang="en-US" dirty="0">
                <a:latin typeface="Bahnschrift" panose="020B0502040204020203" pitchFamily="34" charset="0"/>
              </a:rPr>
              <a:t> In this case, VLOOKUP looks for the closest value less than or equal to 75 in the first column of A2:A10</a:t>
            </a:r>
          </a:p>
          <a:p>
            <a:pPr marL="0" indent="0">
              <a:buNone/>
            </a:pPr>
            <a:endParaRPr lang="LID4096" dirty="0">
              <a:latin typeface="Bahnschrift" panose="020B0502040204020203" pitchFamily="34" charset="0"/>
            </a:endParaRPr>
          </a:p>
        </p:txBody>
      </p:sp>
      <p:sp>
        <p:nvSpPr>
          <p:cNvPr id="4" name="Footer Placeholder 3">
            <a:extLst>
              <a:ext uri="{FF2B5EF4-FFF2-40B4-BE49-F238E27FC236}">
                <a16:creationId xmlns:a16="http://schemas.microsoft.com/office/drawing/2014/main" id="{C163AAD5-D550-4BA8-953C-E1C784EE1ADC}"/>
              </a:ext>
            </a:extLst>
          </p:cNvPr>
          <p:cNvSpPr>
            <a:spLocks noGrp="1"/>
          </p:cNvSpPr>
          <p:nvPr>
            <p:ph type="ftr" sz="quarter" idx="11"/>
          </p:nvPr>
        </p:nvSpPr>
        <p:spPr/>
        <p:txBody>
          <a:bodyPr/>
          <a:lstStyle/>
          <a:p>
            <a:r>
              <a:rPr lang="en-US" dirty="0">
                <a:latin typeface="Bahnschrift" panose="020B0502040204020203" pitchFamily="34" charset="0"/>
              </a:rPr>
              <a:t>© ICT Society ℗ Kapasa Makasa University | Prepared by James Soko</a:t>
            </a:r>
            <a:endParaRPr lang="LID4096" dirty="0">
              <a:latin typeface="Bahnschrift" panose="020B0502040204020203" pitchFamily="34" charset="0"/>
            </a:endParaRPr>
          </a:p>
        </p:txBody>
      </p:sp>
      <p:sp>
        <p:nvSpPr>
          <p:cNvPr id="5" name="Slide Number Placeholder 4">
            <a:extLst>
              <a:ext uri="{FF2B5EF4-FFF2-40B4-BE49-F238E27FC236}">
                <a16:creationId xmlns:a16="http://schemas.microsoft.com/office/drawing/2014/main" id="{A4743FD8-48C3-44D4-BF26-02E3A7EF108B}"/>
              </a:ext>
            </a:extLst>
          </p:cNvPr>
          <p:cNvSpPr>
            <a:spLocks noGrp="1"/>
          </p:cNvSpPr>
          <p:nvPr>
            <p:ph type="sldNum" sz="quarter" idx="12"/>
          </p:nvPr>
        </p:nvSpPr>
        <p:spPr/>
        <p:txBody>
          <a:bodyPr/>
          <a:lstStyle/>
          <a:p>
            <a:fld id="{AEDC110B-74A1-4407-998E-2A7F46575C21}" type="slidenum">
              <a:rPr lang="LID4096" smtClean="0"/>
              <a:t>4</a:t>
            </a:fld>
            <a:endParaRPr lang="LID4096"/>
          </a:p>
        </p:txBody>
      </p:sp>
    </p:spTree>
    <p:extLst>
      <p:ext uri="{BB962C8B-B14F-4D97-AF65-F5344CB8AC3E}">
        <p14:creationId xmlns:p14="http://schemas.microsoft.com/office/powerpoint/2010/main" val="63966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50229CD-432F-4653-88ED-1DDC4495F7FC}"/>
              </a:ext>
            </a:extLst>
          </p:cNvPr>
          <p:cNvSpPr>
            <a:spLocks noGrp="1"/>
          </p:cNvSpPr>
          <p:nvPr>
            <p:ph type="title"/>
          </p:nvPr>
        </p:nvSpPr>
        <p:spPr/>
        <p:txBody>
          <a:bodyPr/>
          <a:lstStyle/>
          <a:p>
            <a:pPr algn="ctr"/>
            <a:r>
              <a:rPr lang="en-GB" b="1" dirty="0">
                <a:latin typeface="Bahnschrift" panose="020B0502040204020203" pitchFamily="34" charset="0"/>
              </a:rPr>
              <a:t>Limitations of VLOOKUP</a:t>
            </a:r>
            <a:endParaRPr lang="LID4096" b="1" dirty="0">
              <a:latin typeface="Bahnschrift" panose="020B0502040204020203" pitchFamily="34" charset="0"/>
            </a:endParaRPr>
          </a:p>
        </p:txBody>
      </p:sp>
      <p:sp>
        <p:nvSpPr>
          <p:cNvPr id="10" name="Content Placeholder 9">
            <a:extLst>
              <a:ext uri="{FF2B5EF4-FFF2-40B4-BE49-F238E27FC236}">
                <a16:creationId xmlns:a16="http://schemas.microsoft.com/office/drawing/2014/main" id="{61A98116-366A-4F8E-9BD7-A1C3A287449F}"/>
              </a:ext>
            </a:extLst>
          </p:cNvPr>
          <p:cNvSpPr>
            <a:spLocks noGrp="1"/>
          </p:cNvSpPr>
          <p:nvPr>
            <p:ph idx="1"/>
          </p:nvPr>
        </p:nvSpPr>
        <p:spPr/>
        <p:txBody>
          <a:bodyPr/>
          <a:lstStyle/>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Left-to-Right Lookup </a:t>
            </a:r>
            <a:r>
              <a:rPr lang="en-US" dirty="0">
                <a:latin typeface="Bahnschrift" panose="020B0502040204020203" pitchFamily="34" charset="0"/>
              </a:rPr>
              <a:t>– VLOOKUP can only look up values in columns to the right of the lookup column. It cannot search for a value to the left of the lookup column.</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Data Range Limitation </a:t>
            </a:r>
            <a:r>
              <a:rPr lang="en-US" dirty="0">
                <a:latin typeface="Bahnschrift" panose="020B0502040204020203" pitchFamily="34" charset="0"/>
              </a:rPr>
              <a:t>– VLOOKUP requires the lookup value to be in the first column of the range. You cannot look for a value in a column that is not the first column of the range.</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No Exact Match for Sorted Data </a:t>
            </a:r>
            <a:r>
              <a:rPr lang="en-US" dirty="0">
                <a:latin typeface="Bahnschrift" panose="020B0502040204020203" pitchFamily="34" charset="0"/>
              </a:rPr>
              <a:t>– When performing an approximate match (using TRUE for the range_lookup), the data must be sorted in ascending order. If it's not sorted, VLOOKUP may give incorrect results.</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Performance Issues with Large Data</a:t>
            </a:r>
          </a:p>
          <a:p>
            <a:pPr marL="342900" indent="-342900">
              <a:buFont typeface="+mj-lt"/>
              <a:buAutoNum type="arabicPeriod"/>
            </a:pPr>
            <a:r>
              <a:rPr lang="en-US" dirty="0">
                <a:latin typeface="Bahnschrift" panose="020B0502040204020203" pitchFamily="34" charset="0"/>
              </a:rPr>
              <a:t> </a:t>
            </a:r>
            <a:r>
              <a:rPr lang="en-US" b="1" dirty="0">
                <a:latin typeface="Bahnschrift" panose="020B0502040204020203" pitchFamily="34" charset="0"/>
              </a:rPr>
              <a:t>Returns Only One Value</a:t>
            </a:r>
          </a:p>
        </p:txBody>
      </p:sp>
      <p:sp>
        <p:nvSpPr>
          <p:cNvPr id="7" name="Footer Placeholder 6">
            <a:extLst>
              <a:ext uri="{FF2B5EF4-FFF2-40B4-BE49-F238E27FC236}">
                <a16:creationId xmlns:a16="http://schemas.microsoft.com/office/drawing/2014/main" id="{0790458D-1FDC-4D4F-8FFE-5B1226254D81}"/>
              </a:ext>
            </a:extLst>
          </p:cNvPr>
          <p:cNvSpPr>
            <a:spLocks noGrp="1"/>
          </p:cNvSpPr>
          <p:nvPr>
            <p:ph type="ftr" sz="quarter" idx="11"/>
          </p:nvPr>
        </p:nvSpPr>
        <p:spPr/>
        <p:txBody>
          <a:bodyPr/>
          <a:lstStyle/>
          <a:p>
            <a:r>
              <a:rPr lang="en-US" dirty="0">
                <a:latin typeface="Bahnschrift" panose="020B0502040204020203" pitchFamily="34" charset="0"/>
              </a:rPr>
              <a:t>© ICT Society ℗ Kapasa Makasa University | Prepared by James Soko</a:t>
            </a:r>
            <a:endParaRPr lang="LID4096" dirty="0">
              <a:latin typeface="Bahnschrift" panose="020B0502040204020203" pitchFamily="34" charset="0"/>
            </a:endParaRPr>
          </a:p>
        </p:txBody>
      </p:sp>
      <p:sp>
        <p:nvSpPr>
          <p:cNvPr id="8" name="Slide Number Placeholder 7">
            <a:extLst>
              <a:ext uri="{FF2B5EF4-FFF2-40B4-BE49-F238E27FC236}">
                <a16:creationId xmlns:a16="http://schemas.microsoft.com/office/drawing/2014/main" id="{9B1B4C3F-302E-41B5-BC7C-DAF378244F2A}"/>
              </a:ext>
            </a:extLst>
          </p:cNvPr>
          <p:cNvSpPr>
            <a:spLocks noGrp="1"/>
          </p:cNvSpPr>
          <p:nvPr>
            <p:ph type="sldNum" sz="quarter" idx="12"/>
          </p:nvPr>
        </p:nvSpPr>
        <p:spPr/>
        <p:txBody>
          <a:bodyPr/>
          <a:lstStyle/>
          <a:p>
            <a:fld id="{AEDC110B-74A1-4407-998E-2A7F46575C21}" type="slidenum">
              <a:rPr lang="LID4096" smtClean="0"/>
              <a:t>5</a:t>
            </a:fld>
            <a:endParaRPr lang="LID4096"/>
          </a:p>
        </p:txBody>
      </p:sp>
    </p:spTree>
    <p:extLst>
      <p:ext uri="{BB962C8B-B14F-4D97-AF65-F5344CB8AC3E}">
        <p14:creationId xmlns:p14="http://schemas.microsoft.com/office/powerpoint/2010/main" val="2112313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2132163-D574-4967-BB44-4463442D830F}"/>
              </a:ext>
            </a:extLst>
          </p:cNvPr>
          <p:cNvSpPr>
            <a:spLocks noGrp="1"/>
          </p:cNvSpPr>
          <p:nvPr>
            <p:ph type="title"/>
          </p:nvPr>
        </p:nvSpPr>
        <p:spPr/>
        <p:txBody>
          <a:bodyPr/>
          <a:lstStyle/>
          <a:p>
            <a:pPr algn="ctr"/>
            <a:r>
              <a:rPr lang="en-US" b="1" dirty="0">
                <a:latin typeface="Bahnschrift" panose="020B0502040204020203" pitchFamily="34" charset="0"/>
              </a:rPr>
              <a:t>How to over come the limitations of VLOOKUP</a:t>
            </a:r>
            <a:endParaRPr lang="LID4096" b="1" dirty="0">
              <a:latin typeface="Bahnschrift" panose="020B0502040204020203" pitchFamily="34" charset="0"/>
            </a:endParaRPr>
          </a:p>
        </p:txBody>
      </p:sp>
      <p:sp>
        <p:nvSpPr>
          <p:cNvPr id="8" name="Content Placeholder 7">
            <a:extLst>
              <a:ext uri="{FF2B5EF4-FFF2-40B4-BE49-F238E27FC236}">
                <a16:creationId xmlns:a16="http://schemas.microsoft.com/office/drawing/2014/main" id="{99007E70-ED22-495B-970E-31E6CDF66466}"/>
              </a:ext>
            </a:extLst>
          </p:cNvPr>
          <p:cNvSpPr>
            <a:spLocks noGrp="1"/>
          </p:cNvSpPr>
          <p:nvPr>
            <p:ph sz="half" idx="1"/>
          </p:nvPr>
        </p:nvSpPr>
        <p:spPr/>
        <p:txBody>
          <a:bodyPr>
            <a:normAutofit/>
          </a:bodyPr>
          <a:lstStyle/>
          <a:p>
            <a:pPr>
              <a:buFont typeface="Wingdings" panose="05000000000000000000" pitchFamily="2" charset="2"/>
              <a:buChar char="q"/>
            </a:pPr>
            <a:r>
              <a:rPr lang="en-US" dirty="0">
                <a:latin typeface="Bahnschrift" panose="020B0502040204020203" pitchFamily="34" charset="0"/>
              </a:rPr>
              <a:t> </a:t>
            </a:r>
            <a:r>
              <a:rPr lang="en-US" b="1" dirty="0">
                <a:latin typeface="Bahnschrift" panose="020B0502040204020203" pitchFamily="34" charset="0"/>
              </a:rPr>
              <a:t>=INDEX(C1:C10, MATCH(A1, B1:B10, 0))</a:t>
            </a:r>
          </a:p>
          <a:p>
            <a:r>
              <a:rPr lang="en-US" dirty="0">
                <a:latin typeface="Bahnschrift" panose="020B0502040204020203" pitchFamily="34" charset="0"/>
              </a:rPr>
              <a:t> This method allows you to lookup values in any column and return values from any other column, even if the lookup column is not the first column.</a:t>
            </a:r>
            <a:endParaRPr lang="LID4096" dirty="0">
              <a:latin typeface="Bahnschrift" panose="020B0502040204020203" pitchFamily="34" charset="0"/>
            </a:endParaRPr>
          </a:p>
        </p:txBody>
      </p:sp>
      <p:sp>
        <p:nvSpPr>
          <p:cNvPr id="10" name="Content Placeholder 9">
            <a:extLst>
              <a:ext uri="{FF2B5EF4-FFF2-40B4-BE49-F238E27FC236}">
                <a16:creationId xmlns:a16="http://schemas.microsoft.com/office/drawing/2014/main" id="{FDECCA15-911A-47BA-9C6A-9BE31FBDA7B9}"/>
              </a:ext>
            </a:extLst>
          </p:cNvPr>
          <p:cNvSpPr>
            <a:spLocks noGrp="1"/>
          </p:cNvSpPr>
          <p:nvPr>
            <p:ph sz="half" idx="2"/>
          </p:nvPr>
        </p:nvSpPr>
        <p:spPr/>
        <p:txBody>
          <a:bodyPr>
            <a:normAutofit/>
          </a:bodyPr>
          <a:lstStyle/>
          <a:p>
            <a:pPr>
              <a:buFont typeface="Wingdings" panose="05000000000000000000" pitchFamily="2" charset="2"/>
              <a:buChar char="q"/>
            </a:pPr>
            <a:r>
              <a:rPr lang="en-US" b="1" dirty="0">
                <a:latin typeface="Bahnschrift" panose="020B0502040204020203" pitchFamily="34" charset="0"/>
              </a:rPr>
              <a:t> =FILTER(C1:C10, B1:B10 = A1)</a:t>
            </a:r>
          </a:p>
          <a:p>
            <a:r>
              <a:rPr lang="en-US" dirty="0">
                <a:latin typeface="Bahnschrift" panose="020B0502040204020203" pitchFamily="34" charset="0"/>
              </a:rPr>
              <a:t> Returns all matching values.</a:t>
            </a:r>
          </a:p>
          <a:p>
            <a:pPr>
              <a:buFont typeface="Wingdings" panose="05000000000000000000" pitchFamily="2" charset="2"/>
              <a:buChar char="q"/>
            </a:pPr>
            <a:r>
              <a:rPr lang="en-US" dirty="0">
                <a:latin typeface="Bahnschrift" panose="020B0502040204020203" pitchFamily="34" charset="0"/>
              </a:rPr>
              <a:t>  </a:t>
            </a:r>
            <a:r>
              <a:rPr lang="en-US" b="1" dirty="0">
                <a:latin typeface="Bahnschrift" panose="020B0502040204020203" pitchFamily="34" charset="0"/>
              </a:rPr>
              <a:t>=IFERROR(VLOOKUP(A1, B1:C10, 2, FALSE), "Not Found")</a:t>
            </a:r>
          </a:p>
          <a:p>
            <a:r>
              <a:rPr lang="en-US" b="1" dirty="0">
                <a:latin typeface="Bahnschrift" panose="020B0502040204020203" pitchFamily="34" charset="0"/>
              </a:rPr>
              <a:t> </a:t>
            </a:r>
            <a:r>
              <a:rPr lang="en-US" dirty="0">
                <a:latin typeface="Bahnschrift" panose="020B0502040204020203" pitchFamily="34" charset="0"/>
              </a:rPr>
              <a:t>Handle errors gracefully</a:t>
            </a:r>
          </a:p>
          <a:p>
            <a:pPr>
              <a:buFont typeface="Wingdings" panose="05000000000000000000" pitchFamily="2" charset="2"/>
              <a:buChar char="q"/>
            </a:pPr>
            <a:r>
              <a:rPr lang="en-US" dirty="0">
                <a:latin typeface="Bahnschrift" panose="020B0502040204020203" pitchFamily="34" charset="0"/>
              </a:rPr>
              <a:t> =</a:t>
            </a:r>
            <a:r>
              <a:rPr lang="en-US" b="1" dirty="0">
                <a:latin typeface="Bahnschrift" panose="020B0502040204020203" pitchFamily="34" charset="0"/>
              </a:rPr>
              <a:t>TEXTJOIN(", ", TRUE, IF(B1:B10 = A1, C1:C10, ""))</a:t>
            </a:r>
          </a:p>
          <a:p>
            <a:r>
              <a:rPr lang="en-US" dirty="0">
                <a:latin typeface="Bahnschrift" panose="020B0502040204020203" pitchFamily="34" charset="0"/>
              </a:rPr>
              <a:t> This formula will return all matching values from column C where column B matches A1, separated by commas.</a:t>
            </a:r>
          </a:p>
          <a:p>
            <a:pPr marL="0" indent="0">
              <a:buNone/>
            </a:pPr>
            <a:endParaRPr lang="LID4096" dirty="0">
              <a:latin typeface="Bahnschrift" panose="020B0502040204020203" pitchFamily="34" charset="0"/>
            </a:endParaRPr>
          </a:p>
        </p:txBody>
      </p:sp>
      <p:sp>
        <p:nvSpPr>
          <p:cNvPr id="4" name="Footer Placeholder 3">
            <a:extLst>
              <a:ext uri="{FF2B5EF4-FFF2-40B4-BE49-F238E27FC236}">
                <a16:creationId xmlns:a16="http://schemas.microsoft.com/office/drawing/2014/main" id="{AC2F7758-7063-49DE-B11F-A9D6EC640503}"/>
              </a:ext>
            </a:extLst>
          </p:cNvPr>
          <p:cNvSpPr>
            <a:spLocks noGrp="1"/>
          </p:cNvSpPr>
          <p:nvPr>
            <p:ph type="ftr" sz="quarter" idx="11"/>
          </p:nvPr>
        </p:nvSpPr>
        <p:spPr/>
        <p:txBody>
          <a:bodyPr/>
          <a:lstStyle/>
          <a:p>
            <a:r>
              <a:rPr lang="en-US"/>
              <a:t>© ICT Society ℗ Kapasa Makasa University | Prepared by James Soko</a:t>
            </a:r>
            <a:endParaRPr lang="LID4096" dirty="0"/>
          </a:p>
        </p:txBody>
      </p:sp>
      <p:sp>
        <p:nvSpPr>
          <p:cNvPr id="5" name="Slide Number Placeholder 4">
            <a:extLst>
              <a:ext uri="{FF2B5EF4-FFF2-40B4-BE49-F238E27FC236}">
                <a16:creationId xmlns:a16="http://schemas.microsoft.com/office/drawing/2014/main" id="{EC1F1571-D6FC-49ED-A47D-5AE27545A8F6}"/>
              </a:ext>
            </a:extLst>
          </p:cNvPr>
          <p:cNvSpPr>
            <a:spLocks noGrp="1"/>
          </p:cNvSpPr>
          <p:nvPr>
            <p:ph type="sldNum" sz="quarter" idx="12"/>
          </p:nvPr>
        </p:nvSpPr>
        <p:spPr/>
        <p:txBody>
          <a:bodyPr/>
          <a:lstStyle/>
          <a:p>
            <a:fld id="{AEDC110B-74A1-4407-998E-2A7F46575C21}" type="slidenum">
              <a:rPr lang="LID4096" smtClean="0"/>
              <a:t>6</a:t>
            </a:fld>
            <a:endParaRPr lang="LID4096"/>
          </a:p>
        </p:txBody>
      </p:sp>
    </p:spTree>
    <p:extLst>
      <p:ext uri="{BB962C8B-B14F-4D97-AF65-F5344CB8AC3E}">
        <p14:creationId xmlns:p14="http://schemas.microsoft.com/office/powerpoint/2010/main" val="2108213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F453010-DA58-4168-9F32-665B133F2C7F}"/>
              </a:ext>
            </a:extLst>
          </p:cNvPr>
          <p:cNvSpPr>
            <a:spLocks noGrp="1"/>
          </p:cNvSpPr>
          <p:nvPr>
            <p:ph type="title"/>
          </p:nvPr>
        </p:nvSpPr>
        <p:spPr/>
        <p:txBody>
          <a:bodyPr/>
          <a:lstStyle/>
          <a:p>
            <a:r>
              <a:rPr lang="en-US" b="1" dirty="0">
                <a:latin typeface="Bahnschrift" panose="020B0502040204020203" pitchFamily="34" charset="0"/>
              </a:rPr>
              <a:t>ICT SOCIETY | EXCEL SLIDES</a:t>
            </a:r>
            <a:endParaRPr lang="LID4096" dirty="0"/>
          </a:p>
        </p:txBody>
      </p:sp>
      <p:sp>
        <p:nvSpPr>
          <p:cNvPr id="10" name="Text Placeholder 9">
            <a:extLst>
              <a:ext uri="{FF2B5EF4-FFF2-40B4-BE49-F238E27FC236}">
                <a16:creationId xmlns:a16="http://schemas.microsoft.com/office/drawing/2014/main" id="{F9DF5EC8-CC66-4C33-AAAA-7DDFED8EF9BE}"/>
              </a:ext>
            </a:extLst>
          </p:cNvPr>
          <p:cNvSpPr>
            <a:spLocks noGrp="1"/>
          </p:cNvSpPr>
          <p:nvPr>
            <p:ph type="body" idx="1"/>
          </p:nvPr>
        </p:nvSpPr>
        <p:spPr/>
        <p:txBody>
          <a:bodyPr/>
          <a:lstStyle/>
          <a:p>
            <a:r>
              <a:rPr lang="en-US" b="1" dirty="0">
                <a:latin typeface="Bahnschrift" panose="020B0502040204020203" pitchFamily="34" charset="0"/>
              </a:rPr>
              <a:t>PREPARED BY JAMES SOKO</a:t>
            </a:r>
            <a:endParaRPr lang="LID4096" b="1" dirty="0">
              <a:latin typeface="Bahnschrift" panose="020B0502040204020203" pitchFamily="34" charset="0"/>
            </a:endParaRPr>
          </a:p>
          <a:p>
            <a:endParaRPr lang="LID4096" dirty="0"/>
          </a:p>
        </p:txBody>
      </p:sp>
      <p:sp>
        <p:nvSpPr>
          <p:cNvPr id="7" name="Footer Placeholder 6">
            <a:extLst>
              <a:ext uri="{FF2B5EF4-FFF2-40B4-BE49-F238E27FC236}">
                <a16:creationId xmlns:a16="http://schemas.microsoft.com/office/drawing/2014/main" id="{852C3A4F-EDF2-45ED-8E8A-F51C4FB552A5}"/>
              </a:ext>
            </a:extLst>
          </p:cNvPr>
          <p:cNvSpPr>
            <a:spLocks noGrp="1"/>
          </p:cNvSpPr>
          <p:nvPr>
            <p:ph type="ftr" sz="quarter" idx="11"/>
          </p:nvPr>
        </p:nvSpPr>
        <p:spPr/>
        <p:txBody>
          <a:bodyPr/>
          <a:lstStyle/>
          <a:p>
            <a:r>
              <a:rPr lang="en-US" dirty="0">
                <a:latin typeface="Bahnschrift" panose="020B0502040204020203" pitchFamily="34" charset="0"/>
              </a:rPr>
              <a:t>© ICT Society ℗ Kapasa Makasa University | Prepared by James Soko</a:t>
            </a:r>
            <a:endParaRPr lang="LID4096" dirty="0">
              <a:latin typeface="Bahnschrift" panose="020B0502040204020203" pitchFamily="34" charset="0"/>
            </a:endParaRPr>
          </a:p>
        </p:txBody>
      </p:sp>
      <p:sp>
        <p:nvSpPr>
          <p:cNvPr id="8" name="Slide Number Placeholder 7">
            <a:extLst>
              <a:ext uri="{FF2B5EF4-FFF2-40B4-BE49-F238E27FC236}">
                <a16:creationId xmlns:a16="http://schemas.microsoft.com/office/drawing/2014/main" id="{1628A84E-E04D-41BF-AF0B-4ADC9CD9ADDE}"/>
              </a:ext>
            </a:extLst>
          </p:cNvPr>
          <p:cNvSpPr>
            <a:spLocks noGrp="1"/>
          </p:cNvSpPr>
          <p:nvPr>
            <p:ph type="sldNum" sz="quarter" idx="12"/>
          </p:nvPr>
        </p:nvSpPr>
        <p:spPr/>
        <p:txBody>
          <a:bodyPr/>
          <a:lstStyle/>
          <a:p>
            <a:fld id="{AEDC110B-74A1-4407-998E-2A7F46575C21}" type="slidenum">
              <a:rPr lang="LID4096" smtClean="0"/>
              <a:t>7</a:t>
            </a:fld>
            <a:endParaRPr lang="LID4096"/>
          </a:p>
        </p:txBody>
      </p:sp>
      <p:pic>
        <p:nvPicPr>
          <p:cNvPr id="12" name="Picture 11">
            <a:extLst>
              <a:ext uri="{FF2B5EF4-FFF2-40B4-BE49-F238E27FC236}">
                <a16:creationId xmlns:a16="http://schemas.microsoft.com/office/drawing/2014/main" id="{5DA2E48F-C157-4535-B345-BC2D3CDBB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1269" y="1615081"/>
            <a:ext cx="5715000" cy="5715000"/>
          </a:xfrm>
          <a:prstGeom prst="rect">
            <a:avLst/>
          </a:prstGeom>
        </p:spPr>
      </p:pic>
    </p:spTree>
    <p:extLst>
      <p:ext uri="{BB962C8B-B14F-4D97-AF65-F5344CB8AC3E}">
        <p14:creationId xmlns:p14="http://schemas.microsoft.com/office/powerpoint/2010/main" val="34150199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320</TotalTime>
  <Words>832</Words>
  <Application>Microsoft Office PowerPoint</Application>
  <PresentationFormat>Widescreen</PresentationFormat>
  <Paragraphs>59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Bahnschrift</vt:lpstr>
      <vt:lpstr>Calibri</vt:lpstr>
      <vt:lpstr>Calibri Light</vt:lpstr>
      <vt:lpstr>Wingdings</vt:lpstr>
      <vt:lpstr>Celestial</vt:lpstr>
      <vt:lpstr>EXCEL</vt:lpstr>
      <vt:lpstr>INTRODUCTION</vt:lpstr>
      <vt:lpstr>Syntax of VLOOKUP</vt:lpstr>
      <vt:lpstr>Common Uses of VLOOKUP</vt:lpstr>
      <vt:lpstr>Limitations of VLOOKUP</vt:lpstr>
      <vt:lpstr>How to over come the limitations of VLOOKUP</vt:lpstr>
      <vt:lpstr>ICT SOCIETY | EXCEL SLIDES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dc:title>
  <dc:creator>James Soko</dc:creator>
  <cp:lastModifiedBy>James Soko</cp:lastModifiedBy>
  <cp:revision>52</cp:revision>
  <dcterms:created xsi:type="dcterms:W3CDTF">2025-02-11T14:08:14Z</dcterms:created>
  <dcterms:modified xsi:type="dcterms:W3CDTF">2025-03-27T10:47:31Z</dcterms:modified>
</cp:coreProperties>
</file>