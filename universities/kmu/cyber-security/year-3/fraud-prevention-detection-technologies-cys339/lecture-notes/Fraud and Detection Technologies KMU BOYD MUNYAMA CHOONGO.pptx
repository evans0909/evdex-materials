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0" d="100"/>
          <a:sy n="70" d="100"/>
        </p:scale>
        <p:origin x="-1386" y="-12"/>
      </p:cViewPr>
      <p:guideLst>
        <p:guide orient="horz" pos="2160"/>
        <p:guide pos="2880"/>
      </p:guideLst>
    </p:cSldViewPr>
  </p:slideViewPr>
  <p:notesTextViewPr>
    <p:cViewPr>
      <p:scale>
        <a:sx n="1" d="1"/>
        <a:sy n="1" d="1"/>
      </p:scale>
      <p:origin x="0" y="3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E994ECB-7692-4646-B864-E4D05792210D}" type="datetimeFigureOut">
              <a:rPr lang="en-US" smtClean="0"/>
              <a:t>3/15/2026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7765519-84E9-4B75-BEF5-3F55824096B4}" type="slidenum">
              <a:rPr lang="en-US" smtClean="0"/>
              <a:t>‹#›</a:t>
            </a:fld>
            <a:endParaRPr lang="en-US"/>
          </a:p>
        </p:txBody>
      </p:sp>
    </p:spTree>
    <p:extLst>
      <p:ext uri="{BB962C8B-B14F-4D97-AF65-F5344CB8AC3E}">
        <p14:creationId xmlns:p14="http://schemas.microsoft.com/office/powerpoint/2010/main" val="8868921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765519-84E9-4B75-BEF5-3F55824096B4}" type="slidenum">
              <a:rPr lang="en-US" smtClean="0"/>
              <a:t>1</a:t>
            </a:fld>
            <a:endParaRPr lang="en-US"/>
          </a:p>
        </p:txBody>
      </p:sp>
    </p:spTree>
    <p:extLst>
      <p:ext uri="{BB962C8B-B14F-4D97-AF65-F5344CB8AC3E}">
        <p14:creationId xmlns:p14="http://schemas.microsoft.com/office/powerpoint/2010/main" val="2380772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765519-84E9-4B75-BEF5-3F55824096B4}" type="slidenum">
              <a:rPr lang="en-US" smtClean="0"/>
              <a:t>7</a:t>
            </a:fld>
            <a:endParaRPr lang="en-US"/>
          </a:p>
        </p:txBody>
      </p:sp>
    </p:spTree>
    <p:extLst>
      <p:ext uri="{BB962C8B-B14F-4D97-AF65-F5344CB8AC3E}">
        <p14:creationId xmlns:p14="http://schemas.microsoft.com/office/powerpoint/2010/main" val="30357474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7765519-84E9-4B75-BEF5-3F55824096B4}" type="slidenum">
              <a:rPr lang="en-US" smtClean="0"/>
              <a:t>16</a:t>
            </a:fld>
            <a:endParaRPr lang="en-US"/>
          </a:p>
        </p:txBody>
      </p:sp>
    </p:spTree>
    <p:extLst>
      <p:ext uri="{BB962C8B-B14F-4D97-AF65-F5344CB8AC3E}">
        <p14:creationId xmlns:p14="http://schemas.microsoft.com/office/powerpoint/2010/main" val="14066231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 employee in a bank manipulates transaction records to transfer money to their personal account.</a:t>
            </a:r>
            <a:r>
              <a:rPr lang="en-US" baseline="0" dirty="0" smtClean="0"/>
              <a:t> </a:t>
            </a:r>
            <a:r>
              <a:rPr lang="en-US" dirty="0" smtClean="0"/>
              <a:t>Ask students:1. What pressure might the employee face?</a:t>
            </a:r>
            <a:r>
              <a:rPr lang="en-US" baseline="0" dirty="0" smtClean="0"/>
              <a:t> </a:t>
            </a:r>
            <a:r>
              <a:rPr lang="en-US" dirty="0" smtClean="0"/>
              <a:t>2. What opportunity allowed the fraud?3. How might the employee rationalize the behavior?4. What capability enabled the fraud?</a:t>
            </a:r>
            <a:endParaRPr lang="en-US" dirty="0"/>
          </a:p>
        </p:txBody>
      </p:sp>
      <p:sp>
        <p:nvSpPr>
          <p:cNvPr id="4" name="Slide Number Placeholder 3"/>
          <p:cNvSpPr>
            <a:spLocks noGrp="1"/>
          </p:cNvSpPr>
          <p:nvPr>
            <p:ph type="sldNum" sz="quarter" idx="10"/>
          </p:nvPr>
        </p:nvSpPr>
        <p:spPr/>
        <p:txBody>
          <a:bodyPr/>
          <a:lstStyle/>
          <a:p>
            <a:fld id="{17765519-84E9-4B75-BEF5-3F55824096B4}" type="slidenum">
              <a:rPr lang="en-US" smtClean="0"/>
              <a:t>17</a:t>
            </a:fld>
            <a:endParaRPr lang="en-US"/>
          </a:p>
        </p:txBody>
      </p:sp>
    </p:spTree>
    <p:extLst>
      <p:ext uri="{BB962C8B-B14F-4D97-AF65-F5344CB8AC3E}">
        <p14:creationId xmlns:p14="http://schemas.microsoft.com/office/powerpoint/2010/main" val="28883855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3600" b="0" i="0" u="none" strike="noStrike" kern="1200" dirty="0" smtClean="0">
                <a:solidFill>
                  <a:schemeClr val="tx1"/>
                </a:solidFill>
                <a:effectLst/>
                <a:latin typeface="Arial Rounded MT Bold" panose="020F0704030504030204" pitchFamily="34" charset="0"/>
                <a:ea typeface="+mn-ea"/>
                <a:cs typeface="+mn-cs"/>
              </a:rPr>
              <a:t>Capability refers to an individual’s ability to perform an action based on their intelligence, technical knowledge, the authority they hold, and the level of access they have to systems or information.</a:t>
            </a:r>
            <a:endParaRPr lang="en-US" sz="3600" b="0" dirty="0" smtClean="0">
              <a:effectLst/>
              <a:latin typeface="Arial Rounded MT Bold" panose="020F0704030504030204" pitchFamily="34" charset="0"/>
            </a:endParaRPr>
          </a:p>
        </p:txBody>
      </p:sp>
      <p:sp>
        <p:nvSpPr>
          <p:cNvPr id="4" name="Slide Number Placeholder 3"/>
          <p:cNvSpPr>
            <a:spLocks noGrp="1"/>
          </p:cNvSpPr>
          <p:nvPr>
            <p:ph type="sldNum" sz="quarter" idx="10"/>
          </p:nvPr>
        </p:nvSpPr>
        <p:spPr/>
        <p:txBody>
          <a:bodyPr/>
          <a:lstStyle/>
          <a:p>
            <a:fld id="{17765519-84E9-4B75-BEF5-3F55824096B4}" type="slidenum">
              <a:rPr lang="en-US" smtClean="0"/>
              <a:t>21</a:t>
            </a:fld>
            <a:endParaRPr lang="en-US"/>
          </a:p>
        </p:txBody>
      </p:sp>
    </p:spTree>
    <p:extLst>
      <p:ext uri="{BB962C8B-B14F-4D97-AF65-F5344CB8AC3E}">
        <p14:creationId xmlns:p14="http://schemas.microsoft.com/office/powerpoint/2010/main" val="41725826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3600" b="0" i="0" u="none" strike="noStrike" kern="1200" dirty="0" smtClean="0">
                <a:solidFill>
                  <a:schemeClr val="tx1"/>
                </a:solidFill>
                <a:effectLst/>
                <a:latin typeface="Arial Rounded MT Bold" panose="020F0704030504030204" pitchFamily="34" charset="0"/>
                <a:ea typeface="+mn-ea"/>
                <a:cs typeface="+mn-cs"/>
              </a:rPr>
              <a:t>Financial statement fraud is the deliberate manipulation of financial reports to present a false picture of a company’s financial performance or position. A notable example is Enron, where executives hid large debts and overstated profits, leading to a major corporate collapse.</a:t>
            </a:r>
            <a:endParaRPr lang="en-US" sz="3600" b="0" dirty="0" smtClean="0">
              <a:effectLst/>
              <a:latin typeface="Arial Rounded MT Bold" panose="020F0704030504030204" pitchFamily="34" charset="0"/>
            </a:endParaRPr>
          </a:p>
          <a:p>
            <a:endParaRPr lang="en-US" sz="3600" dirty="0">
              <a:latin typeface="Arial Rounded MT Bold" panose="020F0704030504030204" pitchFamily="34" charset="0"/>
            </a:endParaRPr>
          </a:p>
        </p:txBody>
      </p:sp>
      <p:sp>
        <p:nvSpPr>
          <p:cNvPr id="4" name="Slide Number Placeholder 3"/>
          <p:cNvSpPr>
            <a:spLocks noGrp="1"/>
          </p:cNvSpPr>
          <p:nvPr>
            <p:ph type="sldNum" sz="quarter" idx="10"/>
          </p:nvPr>
        </p:nvSpPr>
        <p:spPr/>
        <p:txBody>
          <a:bodyPr/>
          <a:lstStyle/>
          <a:p>
            <a:fld id="{17765519-84E9-4B75-BEF5-3F55824096B4}" type="slidenum">
              <a:rPr lang="en-US" smtClean="0"/>
              <a:t>25</a:t>
            </a:fld>
            <a:endParaRPr lang="en-US"/>
          </a:p>
        </p:txBody>
      </p:sp>
    </p:spTree>
    <p:extLst>
      <p:ext uri="{BB962C8B-B14F-4D97-AF65-F5344CB8AC3E}">
        <p14:creationId xmlns:p14="http://schemas.microsoft.com/office/powerpoint/2010/main" val="36142745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600" b="0" i="0" u="none" strike="noStrike" kern="1200" dirty="0" smtClean="0">
                <a:solidFill>
                  <a:schemeClr val="tx1"/>
                </a:solidFill>
                <a:effectLst/>
                <a:latin typeface="Arial Rounded MT Bold" panose="020F0704030504030204" pitchFamily="34" charset="0"/>
                <a:ea typeface="+mn-ea"/>
                <a:cs typeface="+mn-cs"/>
              </a:rPr>
              <a:t>Machine learning algorithms are methods used by computers to identify patterns in data and make predictions or decisions. Common examples include Decision Trees, Neural Networks, Random Forests, and Support Vector Machines, each using different approaches to analyze data and improve accuracy in predictions.</a:t>
            </a:r>
            <a:endParaRPr lang="en-US" sz="3600" dirty="0">
              <a:latin typeface="Arial Rounded MT Bold" panose="020F0704030504030204" pitchFamily="34" charset="0"/>
            </a:endParaRPr>
          </a:p>
        </p:txBody>
      </p:sp>
      <p:sp>
        <p:nvSpPr>
          <p:cNvPr id="4" name="Slide Number Placeholder 3"/>
          <p:cNvSpPr>
            <a:spLocks noGrp="1"/>
          </p:cNvSpPr>
          <p:nvPr>
            <p:ph type="sldNum" sz="quarter" idx="10"/>
          </p:nvPr>
        </p:nvSpPr>
        <p:spPr/>
        <p:txBody>
          <a:bodyPr/>
          <a:lstStyle/>
          <a:p>
            <a:fld id="{17765519-84E9-4B75-BEF5-3F55824096B4}" type="slidenum">
              <a:rPr lang="en-US" smtClean="0"/>
              <a:t>40</a:t>
            </a:fld>
            <a:endParaRPr lang="en-US"/>
          </a:p>
        </p:txBody>
      </p:sp>
    </p:spTree>
    <p:extLst>
      <p:ext uri="{BB962C8B-B14F-4D97-AF65-F5344CB8AC3E}">
        <p14:creationId xmlns:p14="http://schemas.microsoft.com/office/powerpoint/2010/main" val="168841502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195A41D-EA11-440B-AA08-9D9C811571BE}"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a:t>
            </a:fld>
            <a:endParaRPr lang="en-US"/>
          </a:p>
        </p:txBody>
      </p:sp>
    </p:spTree>
    <p:extLst>
      <p:ext uri="{BB962C8B-B14F-4D97-AF65-F5344CB8AC3E}">
        <p14:creationId xmlns:p14="http://schemas.microsoft.com/office/powerpoint/2010/main" val="734176078"/>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1" name="whoosh.wav"/>
          </p:stSnd>
        </p:sndAc>
      </p:transition>
    </mc:Choice>
    <mc:Fallback>
      <p:transition spd="slow">
        <p:fade/>
        <p:sndAc>
          <p:stSnd>
            <p:snd r:embed="rId1" name="whoosh.wav"/>
          </p:stSnd>
        </p:sndAc>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D67307A-CA84-4C6A-A306-5CC4A827B8F1}"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a:t>
            </a:fld>
            <a:endParaRPr lang="en-US"/>
          </a:p>
        </p:txBody>
      </p:sp>
    </p:spTree>
    <p:extLst>
      <p:ext uri="{BB962C8B-B14F-4D97-AF65-F5344CB8AC3E}">
        <p14:creationId xmlns:p14="http://schemas.microsoft.com/office/powerpoint/2010/main" val="2560916353"/>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1" name="whoosh.wav"/>
          </p:stSnd>
        </p:sndAc>
      </p:transition>
    </mc:Choice>
    <mc:Fallback>
      <p:transition spd="slow">
        <p:fade/>
        <p:sndAc>
          <p:stSnd>
            <p:snd r:embed="rId1" name="whoosh.wav"/>
          </p:stSnd>
        </p:sndAc>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FA5BD60-D6A4-4E4C-93C3-81257436BA2C}"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a:t>
            </a:fld>
            <a:endParaRPr lang="en-US"/>
          </a:p>
        </p:txBody>
      </p:sp>
    </p:spTree>
    <p:extLst>
      <p:ext uri="{BB962C8B-B14F-4D97-AF65-F5344CB8AC3E}">
        <p14:creationId xmlns:p14="http://schemas.microsoft.com/office/powerpoint/2010/main" val="758112646"/>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1" name="whoosh.wav"/>
          </p:stSnd>
        </p:sndAc>
      </p:transition>
    </mc:Choice>
    <mc:Fallback>
      <p:transition spd="slow">
        <p:fade/>
        <p:sndAc>
          <p:stSnd>
            <p:snd r:embed="rId1" name="whoosh.wav"/>
          </p:stSnd>
        </p:sndAc>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CDC14D2B-E9B0-432D-B520-EAB705181544}" type="datetime1">
              <a:rPr lang="en-US" smtClean="0"/>
              <a:t>3/15/2026</a:t>
            </a:fld>
            <a:endParaRPr lang="en-US"/>
          </a:p>
        </p:txBody>
      </p:sp>
      <p:sp>
        <p:nvSpPr>
          <p:cNvPr id="6" name="Footer Placeholder 5"/>
          <p:cNvSpPr>
            <a:spLocks noGrp="1"/>
          </p:cNvSpPr>
          <p:nvPr>
            <p:ph type="ftr" sz="quarter" idx="11"/>
          </p:nvPr>
        </p:nvSpPr>
        <p:spPr/>
        <p:txBody>
          <a:bodyPr/>
          <a:lstStyle/>
          <a:p>
            <a:r>
              <a:rPr lang="fi-FI" smtClean="0"/>
              <a:t>CYS339 KAPASA MAKASA UNIVERSITY 2026</a:t>
            </a:r>
            <a:endParaRPr lang="en-US"/>
          </a:p>
        </p:txBody>
      </p:sp>
      <p:sp>
        <p:nvSpPr>
          <p:cNvPr id="7" name="Slide Number Placeholder 6"/>
          <p:cNvSpPr>
            <a:spLocks noGrp="1"/>
          </p:cNvSpPr>
          <p:nvPr>
            <p:ph type="sldNum" sz="quarter" idx="12"/>
          </p:nvPr>
        </p:nvSpPr>
        <p:spPr/>
        <p:txBody>
          <a:bodyPr/>
          <a:lstStyle/>
          <a:p>
            <a:fld id="{0F8B6CD3-0BD5-405C-8927-ED0B8D0D8A54}" type="slidenum">
              <a:rPr lang="en-US" smtClean="0"/>
              <a:t>‹#›</a:t>
            </a:fld>
            <a:endParaRPr lang="en-US"/>
          </a:p>
        </p:txBody>
      </p:sp>
    </p:spTree>
    <p:extLst>
      <p:ext uri="{BB962C8B-B14F-4D97-AF65-F5344CB8AC3E}">
        <p14:creationId xmlns:p14="http://schemas.microsoft.com/office/powerpoint/2010/main" val="1784030538"/>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1" name="whoosh.wav"/>
          </p:stSnd>
        </p:sndAc>
      </p:transition>
    </mc:Choice>
    <mc:Fallback>
      <p:transition spd="slow">
        <p:fade/>
        <p:sndAc>
          <p:stSnd>
            <p:snd r:embed="rId1" name="whoosh.wav"/>
          </p:stSnd>
        </p:sndAc>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CBBBFF43-B12B-475B-A74F-83CDBEE33DE2}" type="datetime1">
              <a:rPr lang="en-US" smtClean="0"/>
              <a:t>3/15/2026</a:t>
            </a:fld>
            <a:endParaRPr lang="en-US"/>
          </a:p>
        </p:txBody>
      </p:sp>
      <p:sp>
        <p:nvSpPr>
          <p:cNvPr id="8" name="Footer Placeholder 7"/>
          <p:cNvSpPr>
            <a:spLocks noGrp="1"/>
          </p:cNvSpPr>
          <p:nvPr>
            <p:ph type="ftr" sz="quarter" idx="11"/>
          </p:nvPr>
        </p:nvSpPr>
        <p:spPr/>
        <p:txBody>
          <a:bodyPr/>
          <a:lstStyle/>
          <a:p>
            <a:r>
              <a:rPr lang="fi-FI" smtClean="0"/>
              <a:t>CYS339 KAPASA MAKASA UNIVERSITY 2026</a:t>
            </a:r>
            <a:endParaRPr lang="en-US"/>
          </a:p>
        </p:txBody>
      </p:sp>
      <p:sp>
        <p:nvSpPr>
          <p:cNvPr id="9" name="Slide Number Placeholder 8"/>
          <p:cNvSpPr>
            <a:spLocks noGrp="1"/>
          </p:cNvSpPr>
          <p:nvPr>
            <p:ph type="sldNum" sz="quarter" idx="12"/>
          </p:nvPr>
        </p:nvSpPr>
        <p:spPr/>
        <p:txBody>
          <a:bodyPr/>
          <a:lstStyle/>
          <a:p>
            <a:fld id="{0F8B6CD3-0BD5-405C-8927-ED0B8D0D8A54}" type="slidenum">
              <a:rPr lang="en-US" smtClean="0"/>
              <a:t>‹#›</a:t>
            </a:fld>
            <a:endParaRPr lang="en-US"/>
          </a:p>
        </p:txBody>
      </p:sp>
    </p:spTree>
    <p:extLst>
      <p:ext uri="{BB962C8B-B14F-4D97-AF65-F5344CB8AC3E}">
        <p14:creationId xmlns:p14="http://schemas.microsoft.com/office/powerpoint/2010/main" val="672479517"/>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1" name="whoosh.wav"/>
          </p:stSnd>
        </p:sndAc>
      </p:transition>
    </mc:Choice>
    <mc:Fallback>
      <p:transition spd="slow">
        <p:fade/>
        <p:sndAc>
          <p:stSnd>
            <p:snd r:embed="rId1" name="whoosh.wav"/>
          </p:stSnd>
        </p:sndAc>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34CD71-0D07-401B-BFBE-B75DFA1B8303}" type="datetime1">
              <a:rPr lang="en-US" smtClean="0"/>
              <a:t>3/15/2026</a:t>
            </a:fld>
            <a:endParaRPr lang="en-US"/>
          </a:p>
        </p:txBody>
      </p:sp>
      <p:sp>
        <p:nvSpPr>
          <p:cNvPr id="4" name="Footer Placeholder 3"/>
          <p:cNvSpPr>
            <a:spLocks noGrp="1"/>
          </p:cNvSpPr>
          <p:nvPr>
            <p:ph type="ftr" sz="quarter" idx="11"/>
          </p:nvPr>
        </p:nvSpPr>
        <p:spPr/>
        <p:txBody>
          <a:bodyPr/>
          <a:lstStyle/>
          <a:p>
            <a:r>
              <a:rPr lang="fi-FI" smtClean="0"/>
              <a:t>CYS339 KAPASA MAKASA UNIVERSITY 2026</a:t>
            </a:r>
            <a:endParaRPr lang="en-US"/>
          </a:p>
        </p:txBody>
      </p:sp>
      <p:sp>
        <p:nvSpPr>
          <p:cNvPr id="5" name="Slide Number Placeholder 4"/>
          <p:cNvSpPr>
            <a:spLocks noGrp="1"/>
          </p:cNvSpPr>
          <p:nvPr>
            <p:ph type="sldNum" sz="quarter" idx="12"/>
          </p:nvPr>
        </p:nvSpPr>
        <p:spPr/>
        <p:txBody>
          <a:bodyPr/>
          <a:lstStyle/>
          <a:p>
            <a:fld id="{0F8B6CD3-0BD5-405C-8927-ED0B8D0D8A54}" type="slidenum">
              <a:rPr lang="en-US" smtClean="0"/>
              <a:t>‹#›</a:t>
            </a:fld>
            <a:endParaRPr lang="en-US"/>
          </a:p>
        </p:txBody>
      </p:sp>
    </p:spTree>
    <p:extLst>
      <p:ext uri="{BB962C8B-B14F-4D97-AF65-F5344CB8AC3E}">
        <p14:creationId xmlns:p14="http://schemas.microsoft.com/office/powerpoint/2010/main" val="723660760"/>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1" name="whoosh.wav"/>
          </p:stSnd>
        </p:sndAc>
      </p:transition>
    </mc:Choice>
    <mc:Fallback>
      <p:transition spd="slow">
        <p:fade/>
        <p:sndAc>
          <p:stSnd>
            <p:snd r:embed="rId1" name="whoosh.wav"/>
          </p:stSnd>
        </p:sndAc>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0DA8FEE-793A-4EB3-8F00-210007680D77}" type="datetime1">
              <a:rPr lang="en-US" smtClean="0"/>
              <a:t>3/15/2026</a:t>
            </a:fld>
            <a:endParaRPr lang="en-US"/>
          </a:p>
        </p:txBody>
      </p:sp>
      <p:sp>
        <p:nvSpPr>
          <p:cNvPr id="3" name="Footer Placeholder 2"/>
          <p:cNvSpPr>
            <a:spLocks noGrp="1"/>
          </p:cNvSpPr>
          <p:nvPr>
            <p:ph type="ftr" sz="quarter" idx="11"/>
          </p:nvPr>
        </p:nvSpPr>
        <p:spPr/>
        <p:txBody>
          <a:bodyPr/>
          <a:lstStyle/>
          <a:p>
            <a:r>
              <a:rPr lang="fi-FI" smtClean="0"/>
              <a:t>CYS339 KAPASA MAKASA UNIVERSITY 2026</a:t>
            </a:r>
            <a:endParaRPr lang="en-US"/>
          </a:p>
        </p:txBody>
      </p:sp>
      <p:sp>
        <p:nvSpPr>
          <p:cNvPr id="4" name="Slide Number Placeholder 3"/>
          <p:cNvSpPr>
            <a:spLocks noGrp="1"/>
          </p:cNvSpPr>
          <p:nvPr>
            <p:ph type="sldNum" sz="quarter" idx="12"/>
          </p:nvPr>
        </p:nvSpPr>
        <p:spPr/>
        <p:txBody>
          <a:bodyPr/>
          <a:lstStyle/>
          <a:p>
            <a:fld id="{0F8B6CD3-0BD5-405C-8927-ED0B8D0D8A54}" type="slidenum">
              <a:rPr lang="en-US" smtClean="0"/>
              <a:t>‹#›</a:t>
            </a:fld>
            <a:endParaRPr lang="en-US"/>
          </a:p>
        </p:txBody>
      </p:sp>
    </p:spTree>
    <p:extLst>
      <p:ext uri="{BB962C8B-B14F-4D97-AF65-F5344CB8AC3E}">
        <p14:creationId xmlns:p14="http://schemas.microsoft.com/office/powerpoint/2010/main" val="3122892412"/>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1" name="whoosh.wav"/>
          </p:stSnd>
        </p:sndAc>
      </p:transition>
    </mc:Choice>
    <mc:Fallback>
      <p:transition spd="slow">
        <p:fade/>
        <p:sndAc>
          <p:stSnd>
            <p:snd r:embed="rId1" name="whoosh.wav"/>
          </p:stSnd>
        </p:sndAc>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07E5A6-F191-4BF9-8AA0-1AE5C3D53324}" type="datetime1">
              <a:rPr lang="en-US" smtClean="0"/>
              <a:t>3/15/2026</a:t>
            </a:fld>
            <a:endParaRPr lang="en-US"/>
          </a:p>
        </p:txBody>
      </p:sp>
      <p:sp>
        <p:nvSpPr>
          <p:cNvPr id="6" name="Footer Placeholder 5"/>
          <p:cNvSpPr>
            <a:spLocks noGrp="1"/>
          </p:cNvSpPr>
          <p:nvPr>
            <p:ph type="ftr" sz="quarter" idx="11"/>
          </p:nvPr>
        </p:nvSpPr>
        <p:spPr/>
        <p:txBody>
          <a:bodyPr/>
          <a:lstStyle/>
          <a:p>
            <a:r>
              <a:rPr lang="fi-FI" smtClean="0"/>
              <a:t>CYS339 KAPASA MAKASA UNIVERSITY 2026</a:t>
            </a:r>
            <a:endParaRPr lang="en-US"/>
          </a:p>
        </p:txBody>
      </p:sp>
      <p:sp>
        <p:nvSpPr>
          <p:cNvPr id="7" name="Slide Number Placeholder 6"/>
          <p:cNvSpPr>
            <a:spLocks noGrp="1"/>
          </p:cNvSpPr>
          <p:nvPr>
            <p:ph type="sldNum" sz="quarter" idx="12"/>
          </p:nvPr>
        </p:nvSpPr>
        <p:spPr/>
        <p:txBody>
          <a:bodyPr/>
          <a:lstStyle/>
          <a:p>
            <a:fld id="{0F8B6CD3-0BD5-405C-8927-ED0B8D0D8A54}" type="slidenum">
              <a:rPr lang="en-US" smtClean="0"/>
              <a:t>‹#›</a:t>
            </a:fld>
            <a:endParaRPr lang="en-US"/>
          </a:p>
        </p:txBody>
      </p:sp>
    </p:spTree>
    <p:extLst>
      <p:ext uri="{BB962C8B-B14F-4D97-AF65-F5344CB8AC3E}">
        <p14:creationId xmlns:p14="http://schemas.microsoft.com/office/powerpoint/2010/main" val="1217384200"/>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1" name="whoosh.wav"/>
          </p:stSnd>
        </p:sndAc>
      </p:transition>
    </mc:Choice>
    <mc:Fallback>
      <p:transition spd="slow">
        <p:fade/>
        <p:sndAc>
          <p:stSnd>
            <p:snd r:embed="rId1" name="whoosh.wav"/>
          </p:stSnd>
        </p:sndAc>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9D62A1A-1CC4-4C5D-8A09-4A0F2DBD278D}" type="datetime1">
              <a:rPr lang="en-US" smtClean="0"/>
              <a:t>3/15/2026</a:t>
            </a:fld>
            <a:endParaRPr lang="en-US"/>
          </a:p>
        </p:txBody>
      </p:sp>
      <p:sp>
        <p:nvSpPr>
          <p:cNvPr id="6" name="Footer Placeholder 5"/>
          <p:cNvSpPr>
            <a:spLocks noGrp="1"/>
          </p:cNvSpPr>
          <p:nvPr>
            <p:ph type="ftr" sz="quarter" idx="11"/>
          </p:nvPr>
        </p:nvSpPr>
        <p:spPr/>
        <p:txBody>
          <a:bodyPr/>
          <a:lstStyle/>
          <a:p>
            <a:r>
              <a:rPr lang="fi-FI" smtClean="0"/>
              <a:t>CYS339 KAPASA MAKASA UNIVERSITY 2026</a:t>
            </a:r>
            <a:endParaRPr lang="en-US"/>
          </a:p>
        </p:txBody>
      </p:sp>
      <p:sp>
        <p:nvSpPr>
          <p:cNvPr id="7" name="Slide Number Placeholder 6"/>
          <p:cNvSpPr>
            <a:spLocks noGrp="1"/>
          </p:cNvSpPr>
          <p:nvPr>
            <p:ph type="sldNum" sz="quarter" idx="12"/>
          </p:nvPr>
        </p:nvSpPr>
        <p:spPr/>
        <p:txBody>
          <a:bodyPr/>
          <a:lstStyle/>
          <a:p>
            <a:fld id="{0F8B6CD3-0BD5-405C-8927-ED0B8D0D8A54}" type="slidenum">
              <a:rPr lang="en-US" smtClean="0"/>
              <a:t>‹#›</a:t>
            </a:fld>
            <a:endParaRPr lang="en-US"/>
          </a:p>
        </p:txBody>
      </p:sp>
    </p:spTree>
    <p:extLst>
      <p:ext uri="{BB962C8B-B14F-4D97-AF65-F5344CB8AC3E}">
        <p14:creationId xmlns:p14="http://schemas.microsoft.com/office/powerpoint/2010/main" val="2864512327"/>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1" name="whoosh.wav"/>
          </p:stSnd>
        </p:sndAc>
      </p:transition>
    </mc:Choice>
    <mc:Fallback>
      <p:transition spd="slow">
        <p:fade/>
        <p:sndAc>
          <p:stSnd>
            <p:snd r:embed="rId1" name="whoosh.wav"/>
          </p:stSnd>
        </p:sndAc>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4BE10D5-3473-4605-B900-9AE1CC14E4C5}"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a:t>
            </a:fld>
            <a:endParaRPr lang="en-US"/>
          </a:p>
        </p:txBody>
      </p:sp>
    </p:spTree>
    <p:extLst>
      <p:ext uri="{BB962C8B-B14F-4D97-AF65-F5344CB8AC3E}">
        <p14:creationId xmlns:p14="http://schemas.microsoft.com/office/powerpoint/2010/main" val="4127633072"/>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1" name="whoosh.wav"/>
          </p:stSnd>
        </p:sndAc>
      </p:transition>
    </mc:Choice>
    <mc:Fallback>
      <p:transition spd="slow">
        <p:fade/>
        <p:sndAc>
          <p:stSnd>
            <p:snd r:embed="rId1" name="whoosh.wav"/>
          </p:stSnd>
        </p:sndAc>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F6C3A85-1F2A-40BA-B3EB-FE6BDDA9DF7C}"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a:t>
            </a:fld>
            <a:endParaRPr lang="en-US"/>
          </a:p>
        </p:txBody>
      </p:sp>
    </p:spTree>
    <p:extLst>
      <p:ext uri="{BB962C8B-B14F-4D97-AF65-F5344CB8AC3E}">
        <p14:creationId xmlns:p14="http://schemas.microsoft.com/office/powerpoint/2010/main" val="917507540"/>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1" name="whoosh.wav"/>
          </p:stSnd>
        </p:sndAc>
      </p:transition>
    </mc:Choice>
    <mc:Fallback>
      <p:transition spd="slow">
        <p:fade/>
        <p:sndAc>
          <p:stSnd>
            <p:snd r:embed="rId1" name="whoosh.wav"/>
          </p:stSnd>
        </p:sndAc>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audio" Target="../media/audio1.wav"/><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3E8986-836F-425F-BB95-2874EF14F9D1}" type="datetime1">
              <a:rPr lang="en-US" smtClean="0"/>
              <a:t>3/15/2026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i-FI" smtClean="0"/>
              <a:t>CYS339 KAPASA MAKASA UNIVERSITY 2026</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8B6CD3-0BD5-405C-8927-ED0B8D0D8A54}" type="slidenum">
              <a:rPr lang="en-US" smtClean="0"/>
              <a:t>‹#›</a:t>
            </a:fld>
            <a:endParaRPr lang="en-US"/>
          </a:p>
        </p:txBody>
      </p:sp>
    </p:spTree>
    <p:extLst>
      <p:ext uri="{BB962C8B-B14F-4D97-AF65-F5344CB8AC3E}">
        <p14:creationId xmlns:p14="http://schemas.microsoft.com/office/powerpoint/2010/main" val="24407298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200">
        <p14:prism/>
        <p:sndAc>
          <p:stSnd>
            <p:snd r:embed="rId13" name="whoosh.wav"/>
          </p:stSnd>
        </p:sndAc>
      </p:transition>
    </mc:Choice>
    <mc:Fallback>
      <p:transition spd="slow">
        <p:fade/>
        <p:sndAc>
          <p:stSnd>
            <p:snd r:embed="rId13" name="whoosh.wav"/>
          </p:stSnd>
        </p:sndAc>
      </p:transition>
    </mc:Fallback>
  </mc:AlternateConten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152400"/>
            <a:ext cx="8610600" cy="3733800"/>
          </a:xfrm>
        </p:spPr>
        <p:txBody>
          <a:bodyPr>
            <a:noAutofit/>
          </a:bodyPr>
          <a:lstStyle/>
          <a:p>
            <a:r>
              <a:rPr lang="en-US" dirty="0" smtClean="0">
                <a:latin typeface="Arial Rounded MT Bold" panose="020F0704030504030204" pitchFamily="34" charset="0"/>
              </a:rPr>
              <a:t/>
            </a:r>
            <a:br>
              <a:rPr lang="en-US" dirty="0" smtClean="0">
                <a:latin typeface="Arial Rounded MT Bold" panose="020F0704030504030204" pitchFamily="34" charset="0"/>
              </a:rPr>
            </a:br>
            <a:r>
              <a:rPr lang="en-US" dirty="0" smtClean="0">
                <a:latin typeface="Arial Rounded MT Bold" panose="020F0704030504030204" pitchFamily="34" charset="0"/>
              </a:rPr>
              <a:t>Fraud </a:t>
            </a:r>
            <a:r>
              <a:rPr lang="en-US" dirty="0">
                <a:latin typeface="Arial Rounded MT Bold" panose="020F0704030504030204" pitchFamily="34" charset="0"/>
              </a:rPr>
              <a:t>and Detection Technologies</a:t>
            </a:r>
            <a:br>
              <a:rPr lang="en-US" dirty="0">
                <a:latin typeface="Arial Rounded MT Bold" panose="020F0704030504030204" pitchFamily="34" charset="0"/>
              </a:rPr>
            </a:br>
            <a:r>
              <a:rPr lang="en-US" dirty="0">
                <a:latin typeface="Arial Rounded MT Bold" panose="020F0704030504030204" pitchFamily="34" charset="0"/>
              </a:rPr>
              <a:t>Course Code: CYS </a:t>
            </a:r>
            <a:r>
              <a:rPr lang="en-US" dirty="0" smtClean="0">
                <a:latin typeface="Arial Rounded MT Bold" panose="020F0704030504030204" pitchFamily="34" charset="0"/>
              </a:rPr>
              <a:t>339</a:t>
            </a:r>
            <a:br>
              <a:rPr lang="en-US" dirty="0" smtClean="0">
                <a:latin typeface="Arial Rounded MT Bold" panose="020F0704030504030204" pitchFamily="34" charset="0"/>
              </a:rPr>
            </a:br>
            <a:r>
              <a:rPr lang="en-US" dirty="0">
                <a:latin typeface="Arial Rounded MT Bold" panose="020F0704030504030204" pitchFamily="34" charset="0"/>
              </a:rPr>
              <a:t/>
            </a:r>
            <a:br>
              <a:rPr lang="en-US" dirty="0">
                <a:latin typeface="Arial Rounded MT Bold" panose="020F0704030504030204" pitchFamily="34" charset="0"/>
              </a:rPr>
            </a:br>
            <a:r>
              <a:rPr lang="en-US" dirty="0">
                <a:latin typeface="Arial Rounded MT Bold" panose="020F0704030504030204" pitchFamily="34" charset="0"/>
              </a:rPr>
              <a:t> </a:t>
            </a:r>
            <a:br>
              <a:rPr lang="en-US" dirty="0">
                <a:latin typeface="Arial Rounded MT Bold" panose="020F0704030504030204" pitchFamily="34" charset="0"/>
              </a:rPr>
            </a:br>
            <a:endParaRPr lang="en-US" dirty="0">
              <a:latin typeface="Arial Rounded MT Bold" panose="020F0704030504030204" pitchFamily="34" charset="0"/>
            </a:endParaRPr>
          </a:p>
        </p:txBody>
      </p:sp>
      <p:sp>
        <p:nvSpPr>
          <p:cNvPr id="3" name="Subtitle 2"/>
          <p:cNvSpPr>
            <a:spLocks noGrp="1"/>
          </p:cNvSpPr>
          <p:nvPr>
            <p:ph type="subTitle" idx="1"/>
          </p:nvPr>
        </p:nvSpPr>
        <p:spPr>
          <a:xfrm>
            <a:off x="990600" y="1981200"/>
            <a:ext cx="7162800" cy="4267200"/>
          </a:xfrm>
        </p:spPr>
        <p:txBody>
          <a:bodyPr>
            <a:normAutofit fontScale="92500" lnSpcReduction="20000"/>
          </a:bodyPr>
          <a:lstStyle/>
          <a:p>
            <a:endParaRPr lang="en-US" b="1" dirty="0" smtClean="0">
              <a:latin typeface="Arial Rounded MT Bold" panose="020F0704030504030204" pitchFamily="34" charset="0"/>
            </a:endParaRPr>
          </a:p>
          <a:p>
            <a:r>
              <a:rPr lang="en-US" b="1" dirty="0" smtClean="0">
                <a:latin typeface="Arial Rounded MT Bold" panose="020F0704030504030204" pitchFamily="34" charset="0"/>
              </a:rPr>
              <a:t>Kapasa Makasa </a:t>
            </a:r>
            <a:r>
              <a:rPr lang="en-US" b="1" dirty="0">
                <a:latin typeface="Arial Rounded MT Bold" panose="020F0704030504030204" pitchFamily="34" charset="0"/>
              </a:rPr>
              <a:t>University</a:t>
            </a:r>
          </a:p>
          <a:p>
            <a:r>
              <a:rPr lang="en-US" b="1" dirty="0">
                <a:latin typeface="Arial Rounded MT Bold" panose="020F0704030504030204" pitchFamily="34" charset="0"/>
              </a:rPr>
              <a:t> </a:t>
            </a:r>
          </a:p>
          <a:p>
            <a:endParaRPr lang="en-US" b="1" dirty="0" smtClean="0">
              <a:latin typeface="Arial Rounded MT Bold" panose="020F0704030504030204" pitchFamily="34" charset="0"/>
            </a:endParaRPr>
          </a:p>
          <a:p>
            <a:endParaRPr lang="en-US" b="1" dirty="0">
              <a:latin typeface="Arial Rounded MT Bold" panose="020F0704030504030204" pitchFamily="34" charset="0"/>
            </a:endParaRPr>
          </a:p>
          <a:p>
            <a:r>
              <a:rPr lang="en-US" b="1" dirty="0" smtClean="0">
                <a:latin typeface="Arial Rounded MT Bold" panose="020F0704030504030204" pitchFamily="34" charset="0"/>
              </a:rPr>
              <a:t>Lecturer</a:t>
            </a:r>
            <a:r>
              <a:rPr lang="en-US" b="1" dirty="0">
                <a:latin typeface="Arial Rounded MT Bold" panose="020F0704030504030204" pitchFamily="34" charset="0"/>
              </a:rPr>
              <a:t>: Boyd Munyama </a:t>
            </a:r>
            <a:r>
              <a:rPr lang="en-US" b="1" dirty="0" smtClean="0">
                <a:latin typeface="Arial Rounded MT Bold" panose="020F0704030504030204" pitchFamily="34" charset="0"/>
              </a:rPr>
              <a:t>Choongo</a:t>
            </a:r>
          </a:p>
          <a:p>
            <a:r>
              <a:rPr lang="en-US" b="1" dirty="0" smtClean="0">
                <a:latin typeface="Arial Rounded MT Bold" panose="020F0704030504030204" pitchFamily="34" charset="0"/>
              </a:rPr>
              <a:t>Masters ICT, BCA Degree Candidate, BA.ED Degree, Dip. ICT, Dip. ED, Cert. ED, Ph.D. in AI,ML &amp; DS Candidate.</a:t>
            </a:r>
          </a:p>
          <a:p>
            <a:endParaRPr lang="en-US"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16FA0EBB-9638-4145-AE50-09BE92E487F8}"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1</a:t>
            </a:fld>
            <a:endParaRPr lang="en-US"/>
          </a:p>
        </p:txBody>
      </p:sp>
      <p:pic>
        <p:nvPicPr>
          <p:cNvPr id="7" name="Picture 6"/>
          <p:cNvPicPr/>
          <p:nvPr/>
        </p:nvPicPr>
        <p:blipFill>
          <a:blip r:embed="rId4">
            <a:extLst>
              <a:ext uri="{28A0092B-C50C-407E-A947-70E740481C1C}">
                <a14:useLocalDpi xmlns:a14="http://schemas.microsoft.com/office/drawing/2010/main" val="0"/>
              </a:ext>
            </a:extLst>
          </a:blip>
          <a:stretch>
            <a:fillRect/>
          </a:stretch>
        </p:blipFill>
        <p:spPr>
          <a:xfrm>
            <a:off x="3987800" y="2971800"/>
            <a:ext cx="1168400" cy="1141413"/>
          </a:xfrm>
          <a:prstGeom prst="rect">
            <a:avLst/>
          </a:prstGeom>
        </p:spPr>
      </p:pic>
    </p:spTree>
    <p:extLst>
      <p:ext uri="{BB962C8B-B14F-4D97-AF65-F5344CB8AC3E}">
        <p14:creationId xmlns:p14="http://schemas.microsoft.com/office/powerpoint/2010/main" val="2696792737"/>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3" name="whoosh.wav"/>
          </p:stSnd>
        </p:sndAc>
      </p:transition>
    </mc:Choice>
    <mc:Fallback>
      <p:transition spd="slow">
        <p:fade/>
        <p:sndAc>
          <p:stSnd>
            <p:snd r:embed="rId3" name="whoosh.wav"/>
          </p:stSnd>
        </p:sndAc>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Course Overview</a:t>
            </a:r>
          </a:p>
        </p:txBody>
      </p:sp>
      <p:sp>
        <p:nvSpPr>
          <p:cNvPr id="3" name="Content Placeholder 2"/>
          <p:cNvSpPr>
            <a:spLocks noGrp="1"/>
          </p:cNvSpPr>
          <p:nvPr>
            <p:ph idx="1"/>
          </p:nvPr>
        </p:nvSpPr>
        <p:spPr/>
        <p:txBody>
          <a:bodyPr>
            <a:normAutofit/>
          </a:bodyPr>
          <a:lstStyle/>
          <a:p>
            <a:pPr marL="0" indent="0">
              <a:buNone/>
            </a:pPr>
            <a:r>
              <a:rPr lang="en-US" sz="3600" dirty="0">
                <a:latin typeface="Arial Rounded MT Bold" panose="020F0704030504030204" pitchFamily="34" charset="0"/>
              </a:rPr>
              <a:t>Course </a:t>
            </a:r>
            <a:r>
              <a:rPr lang="en-US" sz="3600" dirty="0" smtClean="0">
                <a:latin typeface="Arial Rounded MT Bold" panose="020F0704030504030204" pitchFamily="34" charset="0"/>
              </a:rPr>
              <a:t>Topics:</a:t>
            </a:r>
          </a:p>
          <a:p>
            <a:pPr marL="914400" lvl="1" indent="-514350">
              <a:buFont typeface="+mj-lt"/>
              <a:buAutoNum type="arabicParenR"/>
            </a:pPr>
            <a:r>
              <a:rPr lang="en-US" sz="3600" dirty="0" smtClean="0">
                <a:latin typeface="Arial Rounded MT Bold" panose="020F0704030504030204" pitchFamily="34" charset="0"/>
              </a:rPr>
              <a:t>Fraud concepts</a:t>
            </a:r>
          </a:p>
          <a:p>
            <a:pPr marL="914400" lvl="1" indent="-514350">
              <a:buFont typeface="+mj-lt"/>
              <a:buAutoNum type="arabicParenR"/>
            </a:pPr>
            <a:r>
              <a:rPr lang="en-US" sz="3600" dirty="0" smtClean="0">
                <a:latin typeface="Arial Rounded MT Bold" panose="020F0704030504030204" pitchFamily="34" charset="0"/>
              </a:rPr>
              <a:t>Fraud theories</a:t>
            </a:r>
            <a:r>
              <a:rPr lang="en-US" sz="3600" dirty="0">
                <a:latin typeface="Arial Rounded MT Bold" panose="020F0704030504030204" pitchFamily="34" charset="0"/>
              </a:rPr>
              <a:t> </a:t>
            </a:r>
            <a:endParaRPr lang="en-US" sz="3600" dirty="0" smtClean="0">
              <a:latin typeface="Arial Rounded MT Bold" panose="020F0704030504030204" pitchFamily="34" charset="0"/>
            </a:endParaRPr>
          </a:p>
          <a:p>
            <a:pPr marL="914400" lvl="1" indent="-514350">
              <a:buFont typeface="+mj-lt"/>
              <a:buAutoNum type="arabicParenR"/>
            </a:pPr>
            <a:r>
              <a:rPr lang="en-US" sz="3600" dirty="0" smtClean="0">
                <a:latin typeface="Arial Rounded MT Bold" panose="020F0704030504030204" pitchFamily="34" charset="0"/>
              </a:rPr>
              <a:t>Fraud </a:t>
            </a:r>
            <a:r>
              <a:rPr lang="en-US" sz="3600" dirty="0">
                <a:latin typeface="Arial Rounded MT Bold" panose="020F0704030504030204" pitchFamily="34" charset="0"/>
              </a:rPr>
              <a:t>detection </a:t>
            </a:r>
            <a:r>
              <a:rPr lang="en-US" sz="3600" dirty="0" smtClean="0">
                <a:latin typeface="Arial Rounded MT Bold" panose="020F0704030504030204" pitchFamily="34" charset="0"/>
              </a:rPr>
              <a:t>technologies</a:t>
            </a:r>
            <a:r>
              <a:rPr lang="en-US" sz="3600" dirty="0">
                <a:latin typeface="Arial Rounded MT Bold" panose="020F0704030504030204" pitchFamily="34" charset="0"/>
              </a:rPr>
              <a:t> </a:t>
            </a:r>
            <a:endParaRPr lang="en-US" sz="3600" dirty="0" smtClean="0">
              <a:latin typeface="Arial Rounded MT Bold" panose="020F0704030504030204" pitchFamily="34" charset="0"/>
            </a:endParaRPr>
          </a:p>
          <a:p>
            <a:pPr marL="914400" lvl="1" indent="-514350">
              <a:buFont typeface="+mj-lt"/>
              <a:buAutoNum type="arabicParenR"/>
            </a:pPr>
            <a:r>
              <a:rPr lang="en-US" sz="3600" dirty="0" smtClean="0">
                <a:latin typeface="Arial Rounded MT Bold" panose="020F0704030504030204" pitchFamily="34" charset="0"/>
              </a:rPr>
              <a:t>Fraud </a:t>
            </a:r>
            <a:r>
              <a:rPr lang="en-US" sz="3600" dirty="0">
                <a:latin typeface="Arial Rounded MT Bold" panose="020F0704030504030204" pitchFamily="34" charset="0"/>
              </a:rPr>
              <a:t>investigation </a:t>
            </a:r>
            <a:r>
              <a:rPr lang="en-US" sz="3600" dirty="0" smtClean="0">
                <a:latin typeface="Arial Rounded MT Bold" panose="020F0704030504030204" pitchFamily="34" charset="0"/>
              </a:rPr>
              <a:t>techniques</a:t>
            </a:r>
            <a:r>
              <a:rPr lang="en-US" sz="3600" dirty="0">
                <a:latin typeface="Arial Rounded MT Bold" panose="020F0704030504030204" pitchFamily="34" charset="0"/>
              </a:rPr>
              <a:t> </a:t>
            </a:r>
            <a:endParaRPr lang="en-US" sz="3600" dirty="0" smtClean="0">
              <a:latin typeface="Arial Rounded MT Bold" panose="020F0704030504030204" pitchFamily="34" charset="0"/>
            </a:endParaRPr>
          </a:p>
          <a:p>
            <a:pPr marL="914400" lvl="1" indent="-514350">
              <a:buFont typeface="+mj-lt"/>
              <a:buAutoNum type="arabicParenR"/>
            </a:pPr>
            <a:r>
              <a:rPr lang="en-US" sz="3600" dirty="0" smtClean="0">
                <a:latin typeface="Arial Rounded MT Bold" panose="020F0704030504030204" pitchFamily="34" charset="0"/>
              </a:rPr>
              <a:t>Fraud </a:t>
            </a:r>
            <a:r>
              <a:rPr lang="en-US" sz="3600" dirty="0">
                <a:latin typeface="Arial Rounded MT Bold" panose="020F0704030504030204" pitchFamily="34" charset="0"/>
              </a:rPr>
              <a:t>prevention strategies</a:t>
            </a:r>
          </a:p>
        </p:txBody>
      </p:sp>
      <p:sp>
        <p:nvSpPr>
          <p:cNvPr id="4" name="Date Placeholder 3"/>
          <p:cNvSpPr>
            <a:spLocks noGrp="1"/>
          </p:cNvSpPr>
          <p:nvPr>
            <p:ph type="dt" sz="half" idx="10"/>
          </p:nvPr>
        </p:nvSpPr>
        <p:spPr/>
        <p:txBody>
          <a:bodyPr/>
          <a:lstStyle/>
          <a:p>
            <a:fld id="{E7328BE4-B5A9-4061-AB7A-3747E7EE9615}"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2</a:t>
            </a:fld>
            <a:endParaRPr lang="en-US"/>
          </a:p>
        </p:txBody>
      </p:sp>
    </p:spTree>
    <p:extLst>
      <p:ext uri="{BB962C8B-B14F-4D97-AF65-F5344CB8AC3E}">
        <p14:creationId xmlns:p14="http://schemas.microsoft.com/office/powerpoint/2010/main" val="2938100434"/>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Rounded MT Bold" panose="020F0704030504030204" pitchFamily="34" charset="0"/>
              </a:rPr>
              <a:t>Course Learning </a:t>
            </a:r>
            <a:r>
              <a:rPr lang="en-US" dirty="0">
                <a:latin typeface="Arial Rounded MT Bold" panose="020F0704030504030204" pitchFamily="34" charset="0"/>
              </a:rPr>
              <a:t>Objectives</a:t>
            </a:r>
          </a:p>
        </p:txBody>
      </p:sp>
      <p:sp>
        <p:nvSpPr>
          <p:cNvPr id="3" name="Content Placeholder 2"/>
          <p:cNvSpPr>
            <a:spLocks noGrp="1"/>
          </p:cNvSpPr>
          <p:nvPr>
            <p:ph idx="1"/>
          </p:nvPr>
        </p:nvSpPr>
        <p:spPr/>
        <p:txBody>
          <a:bodyPr>
            <a:normAutofit fontScale="92500" lnSpcReduction="20000"/>
          </a:bodyPr>
          <a:lstStyle/>
          <a:p>
            <a:pPr marL="0" indent="0">
              <a:buNone/>
            </a:pPr>
            <a:r>
              <a:rPr lang="en-US" sz="3900" dirty="0">
                <a:latin typeface="Arial Rounded MT Bold" panose="020F0704030504030204" pitchFamily="34" charset="0"/>
              </a:rPr>
              <a:t>Students will be able to</a:t>
            </a:r>
            <a:r>
              <a:rPr lang="en-US" sz="3900" dirty="0" smtClean="0">
                <a:latin typeface="Arial Rounded MT Bold" panose="020F0704030504030204" pitchFamily="34" charset="0"/>
              </a:rPr>
              <a:t>:</a:t>
            </a:r>
            <a:r>
              <a:rPr lang="en-US" sz="3900" dirty="0">
                <a:latin typeface="Arial Rounded MT Bold" panose="020F0704030504030204" pitchFamily="34" charset="0"/>
              </a:rPr>
              <a:t> </a:t>
            </a:r>
          </a:p>
          <a:p>
            <a:pPr marL="914400" lvl="1" indent="-514350">
              <a:buFont typeface="+mj-lt"/>
              <a:buAutoNum type="alphaLcParenR"/>
            </a:pPr>
            <a:r>
              <a:rPr lang="en-US" sz="3900" dirty="0">
                <a:latin typeface="Arial Rounded MT Bold" panose="020F0704030504030204" pitchFamily="34" charset="0"/>
              </a:rPr>
              <a:t>define </a:t>
            </a:r>
            <a:r>
              <a:rPr lang="en-US" sz="3900" dirty="0" smtClean="0">
                <a:latin typeface="Arial Rounded MT Bold" panose="020F0704030504030204" pitchFamily="34" charset="0"/>
              </a:rPr>
              <a:t>fraud</a:t>
            </a:r>
          </a:p>
          <a:p>
            <a:pPr marL="914400" lvl="1" indent="-514350">
              <a:buFont typeface="+mj-lt"/>
              <a:buAutoNum type="alphaLcParenR"/>
            </a:pPr>
            <a:r>
              <a:rPr lang="en-US" sz="3900" dirty="0" smtClean="0">
                <a:latin typeface="Arial Rounded MT Bold" panose="020F0704030504030204" pitchFamily="34" charset="0"/>
              </a:rPr>
              <a:t>explain </a:t>
            </a:r>
            <a:r>
              <a:rPr lang="en-US" sz="3900" dirty="0">
                <a:latin typeface="Arial Rounded MT Bold" panose="020F0704030504030204" pitchFamily="34" charset="0"/>
              </a:rPr>
              <a:t>fraud </a:t>
            </a:r>
            <a:r>
              <a:rPr lang="en-US" sz="3900" dirty="0" smtClean="0">
                <a:latin typeface="Arial Rounded MT Bold" panose="020F0704030504030204" pitchFamily="34" charset="0"/>
              </a:rPr>
              <a:t>theories</a:t>
            </a:r>
          </a:p>
          <a:p>
            <a:pPr marL="914400" lvl="1" indent="-514350">
              <a:buFont typeface="+mj-lt"/>
              <a:buAutoNum type="alphaLcParenR"/>
            </a:pPr>
            <a:r>
              <a:rPr lang="en-US" sz="3900" dirty="0" smtClean="0">
                <a:latin typeface="Arial Rounded MT Bold" panose="020F0704030504030204" pitchFamily="34" charset="0"/>
              </a:rPr>
              <a:t>identify </a:t>
            </a:r>
            <a:r>
              <a:rPr lang="en-US" sz="3900" dirty="0">
                <a:latin typeface="Arial Rounded MT Bold" panose="020F0704030504030204" pitchFamily="34" charset="0"/>
              </a:rPr>
              <a:t>fraud </a:t>
            </a:r>
            <a:r>
              <a:rPr lang="en-US" sz="3900" dirty="0" smtClean="0">
                <a:latin typeface="Arial Rounded MT Bold" panose="020F0704030504030204" pitchFamily="34" charset="0"/>
              </a:rPr>
              <a:t>types</a:t>
            </a:r>
          </a:p>
          <a:p>
            <a:pPr marL="914400" lvl="1" indent="-514350">
              <a:buFont typeface="+mj-lt"/>
              <a:buAutoNum type="alphaLcParenR"/>
            </a:pPr>
            <a:r>
              <a:rPr lang="en-US" sz="3900" dirty="0" smtClean="0">
                <a:latin typeface="Arial Rounded MT Bold" panose="020F0704030504030204" pitchFamily="34" charset="0"/>
              </a:rPr>
              <a:t>analyze </a:t>
            </a:r>
            <a:r>
              <a:rPr lang="en-US" sz="3900" dirty="0">
                <a:latin typeface="Arial Rounded MT Bold" panose="020F0704030504030204" pitchFamily="34" charset="0"/>
              </a:rPr>
              <a:t>fraud detection </a:t>
            </a:r>
            <a:r>
              <a:rPr lang="en-US" sz="3900" dirty="0" smtClean="0">
                <a:latin typeface="Arial Rounded MT Bold" panose="020F0704030504030204" pitchFamily="34" charset="0"/>
              </a:rPr>
              <a:t>systems</a:t>
            </a:r>
          </a:p>
          <a:p>
            <a:pPr marL="914400" lvl="1" indent="-514350">
              <a:buFont typeface="+mj-lt"/>
              <a:buAutoNum type="alphaLcParenR"/>
            </a:pPr>
            <a:r>
              <a:rPr lang="en-US" sz="3900" dirty="0">
                <a:latin typeface="Arial Rounded MT Bold" panose="020F0704030504030204" pitchFamily="34" charset="0"/>
              </a:rPr>
              <a:t>e</a:t>
            </a:r>
            <a:r>
              <a:rPr lang="en-US" sz="3900" dirty="0" smtClean="0">
                <a:latin typeface="Arial Rounded MT Bold" panose="020F0704030504030204" pitchFamily="34" charset="0"/>
              </a:rPr>
              <a:t>xplore &amp; understand </a:t>
            </a:r>
            <a:r>
              <a:rPr lang="en-US" sz="3900" dirty="0">
                <a:latin typeface="Arial Rounded MT Bold" panose="020F0704030504030204" pitchFamily="34" charset="0"/>
              </a:rPr>
              <a:t>digital forensic investigations</a:t>
            </a:r>
          </a:p>
          <a:p>
            <a:pPr marL="0" indent="0">
              <a:buNone/>
            </a:pPr>
            <a:endParaRPr lang="en-US" dirty="0"/>
          </a:p>
        </p:txBody>
      </p:sp>
      <p:sp>
        <p:nvSpPr>
          <p:cNvPr id="4" name="Date Placeholder 3"/>
          <p:cNvSpPr>
            <a:spLocks noGrp="1"/>
          </p:cNvSpPr>
          <p:nvPr>
            <p:ph type="dt" sz="half" idx="10"/>
          </p:nvPr>
        </p:nvSpPr>
        <p:spPr/>
        <p:txBody>
          <a:bodyPr/>
          <a:lstStyle/>
          <a:p>
            <a:fld id="{EC9E9DC5-5F3E-41B6-A560-6989A65AE3C6}"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3</a:t>
            </a:fld>
            <a:endParaRPr lang="en-US"/>
          </a:p>
        </p:txBody>
      </p:sp>
    </p:spTree>
    <p:extLst>
      <p:ext uri="{BB962C8B-B14F-4D97-AF65-F5344CB8AC3E}">
        <p14:creationId xmlns:p14="http://schemas.microsoft.com/office/powerpoint/2010/main" val="4239455178"/>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Importance of Fraud Studies</a:t>
            </a:r>
          </a:p>
        </p:txBody>
      </p:sp>
      <p:sp>
        <p:nvSpPr>
          <p:cNvPr id="3" name="Content Placeholder 2"/>
          <p:cNvSpPr>
            <a:spLocks noGrp="1"/>
          </p:cNvSpPr>
          <p:nvPr>
            <p:ph idx="1"/>
          </p:nvPr>
        </p:nvSpPr>
        <p:spPr>
          <a:xfrm>
            <a:off x="457200" y="1447800"/>
            <a:ext cx="8534400" cy="5029200"/>
          </a:xfrm>
        </p:spPr>
        <p:txBody>
          <a:bodyPr>
            <a:noAutofit/>
          </a:bodyPr>
          <a:lstStyle/>
          <a:p>
            <a:pPr marL="0" indent="0">
              <a:buNone/>
            </a:pPr>
            <a:r>
              <a:rPr lang="en-US" sz="3600" dirty="0">
                <a:latin typeface="Arial Rounded MT Bold" panose="020F0704030504030204" pitchFamily="34" charset="0"/>
              </a:rPr>
              <a:t>Fraud detection is critical because:</a:t>
            </a:r>
          </a:p>
          <a:p>
            <a:pPr marL="971550" lvl="1" indent="-571500">
              <a:buFont typeface="+mj-lt"/>
              <a:buAutoNum type="romanLcPeriod"/>
            </a:pPr>
            <a:r>
              <a:rPr lang="en-US" sz="3600" dirty="0" smtClean="0">
                <a:latin typeface="Arial Rounded MT Bold" panose="020F0704030504030204" pitchFamily="34" charset="0"/>
              </a:rPr>
              <a:t>global </a:t>
            </a:r>
            <a:r>
              <a:rPr lang="en-US" sz="3600" dirty="0">
                <a:latin typeface="Arial Rounded MT Bold" panose="020F0704030504030204" pitchFamily="34" charset="0"/>
              </a:rPr>
              <a:t>fraud losses are </a:t>
            </a:r>
            <a:r>
              <a:rPr lang="en-US" sz="3600" dirty="0" smtClean="0">
                <a:latin typeface="Arial Rounded MT Bold" panose="020F0704030504030204" pitchFamily="34" charset="0"/>
              </a:rPr>
              <a:t>increasing</a:t>
            </a:r>
          </a:p>
          <a:p>
            <a:pPr marL="971550" lvl="1" indent="-571500">
              <a:buFont typeface="+mj-lt"/>
              <a:buAutoNum type="romanLcPeriod"/>
            </a:pPr>
            <a:r>
              <a:rPr lang="en-US" sz="3600" dirty="0" smtClean="0">
                <a:latin typeface="Arial Rounded MT Bold" panose="020F0704030504030204" pitchFamily="34" charset="0"/>
              </a:rPr>
              <a:t>digital </a:t>
            </a:r>
            <a:r>
              <a:rPr lang="en-US" sz="3600" dirty="0">
                <a:latin typeface="Arial Rounded MT Bold" panose="020F0704030504030204" pitchFamily="34" charset="0"/>
              </a:rPr>
              <a:t>transactions are growing </a:t>
            </a:r>
            <a:r>
              <a:rPr lang="en-US" sz="3600" dirty="0" smtClean="0">
                <a:latin typeface="Arial Rounded MT Bold" panose="020F0704030504030204" pitchFamily="34" charset="0"/>
              </a:rPr>
              <a:t>rapidly</a:t>
            </a:r>
          </a:p>
          <a:p>
            <a:pPr marL="971550" lvl="1" indent="-571500">
              <a:buFont typeface="+mj-lt"/>
              <a:buAutoNum type="romanLcPeriod"/>
            </a:pPr>
            <a:r>
              <a:rPr lang="en-US" sz="3600" dirty="0" smtClean="0">
                <a:latin typeface="Arial Rounded MT Bold" panose="020F0704030504030204" pitchFamily="34" charset="0"/>
              </a:rPr>
              <a:t>cybercrime </a:t>
            </a:r>
            <a:r>
              <a:rPr lang="en-US" sz="3600" dirty="0">
                <a:latin typeface="Arial Rounded MT Bold" panose="020F0704030504030204" pitchFamily="34" charset="0"/>
              </a:rPr>
              <a:t>is </a:t>
            </a:r>
            <a:r>
              <a:rPr lang="en-US" sz="3600" dirty="0" smtClean="0">
                <a:latin typeface="Arial Rounded MT Bold" panose="020F0704030504030204" pitchFamily="34" charset="0"/>
              </a:rPr>
              <a:t>evolving</a:t>
            </a:r>
          </a:p>
          <a:p>
            <a:pPr marL="971550" lvl="1" indent="-571500">
              <a:buFont typeface="+mj-lt"/>
              <a:buAutoNum type="romanLcPeriod"/>
            </a:pPr>
            <a:r>
              <a:rPr lang="en-US" sz="3600" dirty="0" smtClean="0">
                <a:latin typeface="Arial Rounded MT Bold" panose="020F0704030504030204" pitchFamily="34" charset="0"/>
              </a:rPr>
              <a:t>Organizations </a:t>
            </a:r>
            <a:r>
              <a:rPr lang="en-US" sz="3600" dirty="0">
                <a:latin typeface="Arial Rounded MT Bold" panose="020F0704030504030204" pitchFamily="34" charset="0"/>
              </a:rPr>
              <a:t>need skilled fraud investigators</a:t>
            </a:r>
            <a:r>
              <a:rPr lang="en-US" sz="3600" dirty="0" smtClean="0">
                <a:latin typeface="Arial Rounded MT Bold" panose="020F0704030504030204" pitchFamily="34" charset="0"/>
              </a:rPr>
              <a:t>.</a:t>
            </a:r>
            <a:endParaRPr lang="en-US" sz="3600" dirty="0">
              <a:latin typeface="Arial Rounded MT Bold" panose="020F0704030504030204" pitchFamily="34" charset="0"/>
            </a:endParaRP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A887E919-7F5D-451A-9DC7-4E009D4059B5}"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4</a:t>
            </a:fld>
            <a:endParaRPr lang="en-US"/>
          </a:p>
        </p:txBody>
      </p:sp>
    </p:spTree>
    <p:extLst>
      <p:ext uri="{BB962C8B-B14F-4D97-AF65-F5344CB8AC3E}">
        <p14:creationId xmlns:p14="http://schemas.microsoft.com/office/powerpoint/2010/main" val="3646326176"/>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Definition of Fraud</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
            </a:pPr>
            <a:r>
              <a:rPr lang="en-US" sz="3600" dirty="0">
                <a:latin typeface="Arial Rounded MT Bold" panose="020F0704030504030204" pitchFamily="34" charset="0"/>
              </a:rPr>
              <a:t>Fraud is intentional deception for unlawful financial gain.</a:t>
            </a:r>
          </a:p>
          <a:p>
            <a:pPr>
              <a:buFont typeface="Wingdings" panose="05000000000000000000" pitchFamily="2" charset="2"/>
              <a:buChar char="§"/>
            </a:pPr>
            <a:r>
              <a:rPr lang="en-US" sz="3600" dirty="0" smtClean="0">
                <a:latin typeface="Arial Rounded MT Bold" panose="020F0704030504030204" pitchFamily="34" charset="0"/>
              </a:rPr>
              <a:t>Key </a:t>
            </a:r>
            <a:r>
              <a:rPr lang="en-US" sz="3600" dirty="0">
                <a:latin typeface="Arial Rounded MT Bold" panose="020F0704030504030204" pitchFamily="34" charset="0"/>
              </a:rPr>
              <a:t>elements:</a:t>
            </a:r>
          </a:p>
          <a:p>
            <a:pPr marL="914400" lvl="1" indent="-514350">
              <a:buFont typeface="+mj-lt"/>
              <a:buAutoNum type="alphaLcParenR"/>
            </a:pPr>
            <a:r>
              <a:rPr lang="en-US" sz="3600" dirty="0" smtClean="0">
                <a:latin typeface="Arial Rounded MT Bold" panose="020F0704030504030204" pitchFamily="34" charset="0"/>
              </a:rPr>
              <a:t>Deception</a:t>
            </a:r>
          </a:p>
          <a:p>
            <a:pPr marL="914400" lvl="1" indent="-514350">
              <a:buFont typeface="+mj-lt"/>
              <a:buAutoNum type="alphaLcParenR"/>
            </a:pPr>
            <a:r>
              <a:rPr lang="en-US" sz="3600" dirty="0" smtClean="0">
                <a:latin typeface="Arial Rounded MT Bold" panose="020F0704030504030204" pitchFamily="34" charset="0"/>
              </a:rPr>
              <a:t>Intent</a:t>
            </a:r>
          </a:p>
          <a:p>
            <a:pPr marL="914400" lvl="1" indent="-514350">
              <a:buFont typeface="+mj-lt"/>
              <a:buAutoNum type="alphaLcParenR"/>
            </a:pPr>
            <a:r>
              <a:rPr lang="en-US" sz="3600" dirty="0">
                <a:latin typeface="Arial Rounded MT Bold" panose="020F0704030504030204" pitchFamily="34" charset="0"/>
              </a:rPr>
              <a:t>F</a:t>
            </a:r>
            <a:r>
              <a:rPr lang="en-US" sz="3600" dirty="0" smtClean="0">
                <a:latin typeface="Arial Rounded MT Bold" panose="020F0704030504030204" pitchFamily="34" charset="0"/>
              </a:rPr>
              <a:t>inancial </a:t>
            </a:r>
            <a:r>
              <a:rPr lang="en-US" sz="3600" dirty="0">
                <a:latin typeface="Arial Rounded MT Bold" panose="020F0704030504030204" pitchFamily="34" charset="0"/>
              </a:rPr>
              <a:t>benefit</a:t>
            </a:r>
          </a:p>
          <a:p>
            <a:pPr marL="0" indent="0">
              <a:buNone/>
            </a:pPr>
            <a:endParaRPr lang="en-US" dirty="0"/>
          </a:p>
        </p:txBody>
      </p:sp>
      <p:sp>
        <p:nvSpPr>
          <p:cNvPr id="4" name="Date Placeholder 3"/>
          <p:cNvSpPr>
            <a:spLocks noGrp="1"/>
          </p:cNvSpPr>
          <p:nvPr>
            <p:ph type="dt" sz="half" idx="10"/>
          </p:nvPr>
        </p:nvSpPr>
        <p:spPr/>
        <p:txBody>
          <a:bodyPr/>
          <a:lstStyle/>
          <a:p>
            <a:fld id="{D1934AC9-4741-4479-9364-8C0B7637F9F5}"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5</a:t>
            </a:fld>
            <a:endParaRPr lang="en-US"/>
          </a:p>
        </p:txBody>
      </p:sp>
    </p:spTree>
    <p:extLst>
      <p:ext uri="{BB962C8B-B14F-4D97-AF65-F5344CB8AC3E}">
        <p14:creationId xmlns:p14="http://schemas.microsoft.com/office/powerpoint/2010/main" val="4229500294"/>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417638"/>
          </a:xfrm>
        </p:spPr>
        <p:txBody>
          <a:bodyPr>
            <a:normAutofit fontScale="90000"/>
          </a:bodyPr>
          <a:lstStyle/>
          <a:p>
            <a:r>
              <a:rPr lang="en-US" dirty="0" smtClean="0"/>
              <a:t/>
            </a:r>
            <a:br>
              <a:rPr lang="en-US" dirty="0" smtClean="0"/>
            </a:br>
            <a:r>
              <a:rPr lang="en-US" dirty="0"/>
              <a:t/>
            </a:r>
            <a:br>
              <a:rPr lang="en-US" dirty="0"/>
            </a:br>
            <a:r>
              <a:rPr lang="en-US" sz="4900" dirty="0" smtClean="0">
                <a:latin typeface="Arial Rounded MT Bold" panose="020F0704030504030204" pitchFamily="34" charset="0"/>
              </a:rPr>
              <a:t>Characteristics </a:t>
            </a:r>
            <a:r>
              <a:rPr lang="en-US" sz="4900" dirty="0">
                <a:latin typeface="Arial Rounded MT Bold" panose="020F0704030504030204" pitchFamily="34" charset="0"/>
              </a:rPr>
              <a:t>of Fraud</a:t>
            </a:r>
            <a:br>
              <a:rPr lang="en-US" sz="4900" dirty="0">
                <a:latin typeface="Arial Rounded MT Bold" panose="020F0704030504030204" pitchFamily="34" charset="0"/>
              </a:rPr>
            </a:br>
            <a:r>
              <a:rPr lang="en-US" dirty="0"/>
              <a:t> </a:t>
            </a:r>
            <a:br>
              <a:rPr lang="en-US" dirty="0"/>
            </a:br>
            <a:endParaRPr lang="en-US" dirty="0"/>
          </a:p>
        </p:txBody>
      </p:sp>
      <p:sp>
        <p:nvSpPr>
          <p:cNvPr id="3" name="Content Placeholder 2"/>
          <p:cNvSpPr>
            <a:spLocks noGrp="1"/>
          </p:cNvSpPr>
          <p:nvPr>
            <p:ph idx="1"/>
          </p:nvPr>
        </p:nvSpPr>
        <p:spPr>
          <a:xfrm>
            <a:off x="457200" y="1295400"/>
            <a:ext cx="8229600" cy="4830763"/>
          </a:xfrm>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Fraud typically involves:</a:t>
            </a:r>
          </a:p>
          <a:p>
            <a:pPr lvl="1">
              <a:buFont typeface="Wingdings" panose="05000000000000000000" pitchFamily="2" charset="2"/>
              <a:buChar char="q"/>
            </a:pPr>
            <a:r>
              <a:rPr lang="en-US" sz="3600" dirty="0" smtClean="0">
                <a:latin typeface="Arial Rounded MT Bold" panose="020F0704030504030204" pitchFamily="34" charset="0"/>
              </a:rPr>
              <a:t> Manipulation</a:t>
            </a:r>
          </a:p>
          <a:p>
            <a:pPr lvl="1">
              <a:buFont typeface="Wingdings" panose="05000000000000000000" pitchFamily="2" charset="2"/>
              <a:buChar char="q"/>
            </a:pPr>
            <a:r>
              <a:rPr lang="en-US" sz="3600" dirty="0" smtClean="0">
                <a:latin typeface="Arial Rounded MT Bold" panose="020F0704030504030204" pitchFamily="34" charset="0"/>
              </a:rPr>
              <a:t> Concealment</a:t>
            </a:r>
          </a:p>
          <a:p>
            <a:pPr lvl="1">
              <a:buFont typeface="Wingdings" panose="05000000000000000000" pitchFamily="2" charset="2"/>
              <a:buChar char="q"/>
            </a:pPr>
            <a:r>
              <a:rPr lang="en-US" sz="3600" dirty="0" smtClean="0">
                <a:latin typeface="Arial Rounded MT Bold" panose="020F0704030504030204" pitchFamily="34" charset="0"/>
              </a:rPr>
              <a:t> Breach Of Trust</a:t>
            </a:r>
          </a:p>
          <a:p>
            <a:pPr lvl="1">
              <a:buFont typeface="Wingdings" panose="05000000000000000000" pitchFamily="2" charset="2"/>
              <a:buChar char="q"/>
            </a:pPr>
            <a:r>
              <a:rPr lang="en-US" sz="3600" dirty="0" smtClean="0">
                <a:latin typeface="Arial Rounded MT Bold" panose="020F0704030504030204" pitchFamily="34" charset="0"/>
              </a:rPr>
              <a:t> Financial Exploitation</a:t>
            </a:r>
          </a:p>
          <a:p>
            <a:pPr marL="0" indent="0">
              <a:buNone/>
            </a:pPr>
            <a:endParaRPr lang="en-US" dirty="0"/>
          </a:p>
        </p:txBody>
      </p:sp>
      <p:sp>
        <p:nvSpPr>
          <p:cNvPr id="4" name="Date Placeholder 3"/>
          <p:cNvSpPr>
            <a:spLocks noGrp="1"/>
          </p:cNvSpPr>
          <p:nvPr>
            <p:ph type="dt" sz="half" idx="10"/>
          </p:nvPr>
        </p:nvSpPr>
        <p:spPr/>
        <p:txBody>
          <a:bodyPr/>
          <a:lstStyle/>
          <a:p>
            <a:fld id="{85B5091E-DCF0-4440-A435-DC05B14F5AC8}"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6</a:t>
            </a:fld>
            <a:endParaRPr lang="en-US"/>
          </a:p>
        </p:txBody>
      </p:sp>
    </p:spTree>
    <p:extLst>
      <p:ext uri="{BB962C8B-B14F-4D97-AF65-F5344CB8AC3E}">
        <p14:creationId xmlns:p14="http://schemas.microsoft.com/office/powerpoint/2010/main" val="2437428231"/>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Impact of Fraud</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Fraud leads to:</a:t>
            </a:r>
          </a:p>
          <a:p>
            <a:pPr marL="914400" lvl="1" indent="-514350">
              <a:buFont typeface="+mj-lt"/>
              <a:buAutoNum type="arabicPeriod"/>
            </a:pPr>
            <a:r>
              <a:rPr lang="en-US" sz="3600" dirty="0" smtClean="0">
                <a:latin typeface="Arial Rounded MT Bold" panose="020F0704030504030204" pitchFamily="34" charset="0"/>
              </a:rPr>
              <a:t>financial losses</a:t>
            </a:r>
          </a:p>
          <a:p>
            <a:pPr marL="914400" lvl="1" indent="-514350">
              <a:buFont typeface="+mj-lt"/>
              <a:buAutoNum type="arabicPeriod"/>
            </a:pPr>
            <a:r>
              <a:rPr lang="en-US" sz="3600" dirty="0" smtClean="0">
                <a:latin typeface="Arial Rounded MT Bold" panose="020F0704030504030204" pitchFamily="34" charset="0"/>
              </a:rPr>
              <a:t>reputational damage</a:t>
            </a:r>
          </a:p>
          <a:p>
            <a:pPr marL="914400" lvl="1" indent="-514350">
              <a:buFont typeface="+mj-lt"/>
              <a:buAutoNum type="arabicPeriod"/>
            </a:pPr>
            <a:r>
              <a:rPr lang="en-US" sz="3600" dirty="0" smtClean="0">
                <a:latin typeface="Arial Rounded MT Bold" panose="020F0704030504030204" pitchFamily="34" charset="0"/>
              </a:rPr>
              <a:t>legal consequences</a:t>
            </a:r>
          </a:p>
          <a:p>
            <a:pPr marL="914400" lvl="1" indent="-514350">
              <a:buFont typeface="+mj-lt"/>
              <a:buAutoNum type="arabicPeriod"/>
            </a:pPr>
            <a:r>
              <a:rPr lang="en-US" sz="3600" dirty="0" smtClean="0">
                <a:latin typeface="Arial Rounded MT Bold" panose="020F0704030504030204" pitchFamily="34" charset="0"/>
              </a:rPr>
              <a:t>regulatory </a:t>
            </a:r>
            <a:r>
              <a:rPr lang="en-US" sz="3600" dirty="0">
                <a:latin typeface="Arial Rounded MT Bold" panose="020F0704030504030204" pitchFamily="34" charset="0"/>
              </a:rPr>
              <a:t>penalties</a:t>
            </a:r>
          </a:p>
          <a:p>
            <a:pPr marL="0" indent="0">
              <a:buNone/>
            </a:pPr>
            <a:endParaRPr lang="en-US" dirty="0"/>
          </a:p>
        </p:txBody>
      </p:sp>
      <p:sp>
        <p:nvSpPr>
          <p:cNvPr id="4" name="Date Placeholder 3"/>
          <p:cNvSpPr>
            <a:spLocks noGrp="1"/>
          </p:cNvSpPr>
          <p:nvPr>
            <p:ph type="dt" sz="half" idx="10"/>
          </p:nvPr>
        </p:nvSpPr>
        <p:spPr/>
        <p:txBody>
          <a:bodyPr/>
          <a:lstStyle/>
          <a:p>
            <a:fld id="{7E3968E4-C547-4A44-989B-99B850334534}"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7</a:t>
            </a:fld>
            <a:endParaRPr lang="en-US"/>
          </a:p>
        </p:txBody>
      </p:sp>
    </p:spTree>
    <p:extLst>
      <p:ext uri="{BB962C8B-B14F-4D97-AF65-F5344CB8AC3E}">
        <p14:creationId xmlns:p14="http://schemas.microsoft.com/office/powerpoint/2010/main" val="1950094025"/>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3" name="whoosh.wav"/>
          </p:stSnd>
        </p:sndAc>
      </p:transition>
    </mc:Choice>
    <mc:Fallback>
      <p:transition spd="slow">
        <p:fade/>
        <p:sndAc>
          <p:stSnd>
            <p:snd r:embed="rId3" name="whoosh.wav"/>
          </p:stSnd>
        </p:sndAc>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Sectors Affected by Fraud</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Fraud occurs in:</a:t>
            </a:r>
          </a:p>
          <a:p>
            <a:pPr lvl="1">
              <a:buFont typeface="Wingdings" panose="05000000000000000000" pitchFamily="2" charset="2"/>
              <a:buChar char="q"/>
            </a:pPr>
            <a:r>
              <a:rPr lang="en-US" sz="3600" dirty="0" smtClean="0">
                <a:latin typeface="Arial Rounded MT Bold" panose="020F0704030504030204" pitchFamily="34" charset="0"/>
              </a:rPr>
              <a:t>Banks</a:t>
            </a:r>
          </a:p>
          <a:p>
            <a:pPr lvl="1">
              <a:buFont typeface="Wingdings" panose="05000000000000000000" pitchFamily="2" charset="2"/>
              <a:buChar char="q"/>
            </a:pPr>
            <a:r>
              <a:rPr lang="en-US" sz="3600" dirty="0" smtClean="0">
                <a:latin typeface="Arial Rounded MT Bold" panose="020F0704030504030204" pitchFamily="34" charset="0"/>
              </a:rPr>
              <a:t>Government Agencies</a:t>
            </a:r>
          </a:p>
          <a:p>
            <a:pPr lvl="1">
              <a:buFont typeface="Wingdings" panose="05000000000000000000" pitchFamily="2" charset="2"/>
              <a:buChar char="q"/>
            </a:pPr>
            <a:r>
              <a:rPr lang="en-US" sz="3600" dirty="0" smtClean="0">
                <a:latin typeface="Arial Rounded MT Bold" panose="020F0704030504030204" pitchFamily="34" charset="0"/>
              </a:rPr>
              <a:t>Corporations</a:t>
            </a:r>
          </a:p>
          <a:p>
            <a:pPr lvl="1">
              <a:buFont typeface="Wingdings" panose="05000000000000000000" pitchFamily="2" charset="2"/>
              <a:buChar char="q"/>
            </a:pPr>
            <a:r>
              <a:rPr lang="en-US" sz="3600" dirty="0" smtClean="0">
                <a:latin typeface="Arial Rounded MT Bold" panose="020F0704030504030204" pitchFamily="34" charset="0"/>
              </a:rPr>
              <a:t>Universities/Schools</a:t>
            </a:r>
          </a:p>
          <a:p>
            <a:pPr lvl="1">
              <a:buFont typeface="Wingdings" panose="05000000000000000000" pitchFamily="2" charset="2"/>
              <a:buChar char="q"/>
            </a:pPr>
            <a:r>
              <a:rPr lang="en-US" sz="3600" dirty="0" smtClean="0">
                <a:latin typeface="Arial Rounded MT Bold" panose="020F0704030504030204" pitchFamily="34" charset="0"/>
              </a:rPr>
              <a:t>Healthcare Systems</a:t>
            </a:r>
          </a:p>
          <a:p>
            <a:pPr marL="0" indent="0">
              <a:buNone/>
            </a:pPr>
            <a:endParaRPr lang="en-US" dirty="0"/>
          </a:p>
        </p:txBody>
      </p:sp>
      <p:sp>
        <p:nvSpPr>
          <p:cNvPr id="4" name="Date Placeholder 3"/>
          <p:cNvSpPr>
            <a:spLocks noGrp="1"/>
          </p:cNvSpPr>
          <p:nvPr>
            <p:ph type="dt" sz="half" idx="10"/>
          </p:nvPr>
        </p:nvSpPr>
        <p:spPr/>
        <p:txBody>
          <a:bodyPr/>
          <a:lstStyle/>
          <a:p>
            <a:fld id="{DC027D9F-4276-4688-9865-19F39782AEEC}"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8</a:t>
            </a:fld>
            <a:endParaRPr lang="en-US"/>
          </a:p>
        </p:txBody>
      </p:sp>
    </p:spTree>
    <p:extLst>
      <p:ext uri="{BB962C8B-B14F-4D97-AF65-F5344CB8AC3E}">
        <p14:creationId xmlns:p14="http://schemas.microsoft.com/office/powerpoint/2010/main" val="3940598365"/>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Fraud in Ancient Societies</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latin typeface="Arial Rounded MT Bold" panose="020F0704030504030204" pitchFamily="34" charset="0"/>
              </a:rPr>
              <a:t>Examples include:</a:t>
            </a:r>
          </a:p>
          <a:p>
            <a:pPr lvl="1">
              <a:buFont typeface="Wingdings" panose="05000000000000000000" pitchFamily="2" charset="2"/>
              <a:buChar char="q"/>
            </a:pPr>
            <a:r>
              <a:rPr lang="en-US" dirty="0" smtClean="0">
                <a:latin typeface="Arial Rounded MT Bold" panose="020F0704030504030204" pitchFamily="34" charset="0"/>
              </a:rPr>
              <a:t> manipulation </a:t>
            </a:r>
            <a:r>
              <a:rPr lang="en-US" dirty="0">
                <a:latin typeface="Arial Rounded MT Bold" panose="020F0704030504030204" pitchFamily="34" charset="0"/>
              </a:rPr>
              <a:t>of weights and </a:t>
            </a:r>
            <a:r>
              <a:rPr lang="en-US" dirty="0" smtClean="0">
                <a:latin typeface="Arial Rounded MT Bold" panose="020F0704030504030204" pitchFamily="34" charset="0"/>
              </a:rPr>
              <a:t>measures</a:t>
            </a:r>
          </a:p>
          <a:p>
            <a:pPr lvl="1">
              <a:buFont typeface="Wingdings" panose="05000000000000000000" pitchFamily="2" charset="2"/>
              <a:buChar char="q"/>
            </a:pPr>
            <a:r>
              <a:rPr lang="en-US" dirty="0" smtClean="0">
                <a:latin typeface="Arial Rounded MT Bold" panose="020F0704030504030204" pitchFamily="34" charset="0"/>
              </a:rPr>
              <a:t> counterfeit goods</a:t>
            </a:r>
          </a:p>
          <a:p>
            <a:pPr lvl="1">
              <a:buFont typeface="Wingdings" panose="05000000000000000000" pitchFamily="2" charset="2"/>
              <a:buChar char="q"/>
            </a:pPr>
            <a:r>
              <a:rPr lang="en-US" dirty="0">
                <a:latin typeface="Arial Rounded MT Bold" panose="020F0704030504030204" pitchFamily="34" charset="0"/>
              </a:rPr>
              <a:t> </a:t>
            </a:r>
            <a:r>
              <a:rPr lang="en-US" dirty="0" smtClean="0">
                <a:latin typeface="Arial Rounded MT Bold" panose="020F0704030504030204" pitchFamily="34" charset="0"/>
              </a:rPr>
              <a:t>trade </a:t>
            </a:r>
            <a:r>
              <a:rPr lang="en-US" dirty="0">
                <a:latin typeface="Arial Rounded MT Bold" panose="020F0704030504030204" pitchFamily="34" charset="0"/>
              </a:rPr>
              <a:t>deception</a:t>
            </a:r>
          </a:p>
          <a:p>
            <a:pPr marL="0" indent="0">
              <a:buNone/>
            </a:pPr>
            <a:endParaRPr lang="en-US" dirty="0"/>
          </a:p>
        </p:txBody>
      </p:sp>
      <p:sp>
        <p:nvSpPr>
          <p:cNvPr id="4" name="Date Placeholder 3"/>
          <p:cNvSpPr>
            <a:spLocks noGrp="1"/>
          </p:cNvSpPr>
          <p:nvPr>
            <p:ph type="dt" sz="half" idx="10"/>
          </p:nvPr>
        </p:nvSpPr>
        <p:spPr/>
        <p:txBody>
          <a:bodyPr/>
          <a:lstStyle/>
          <a:p>
            <a:fld id="{762F38B0-8F70-4EAE-82F8-B3086109D9F5}"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9</a:t>
            </a:fld>
            <a:endParaRPr lang="en-US"/>
          </a:p>
        </p:txBody>
      </p:sp>
    </p:spTree>
    <p:extLst>
      <p:ext uri="{BB962C8B-B14F-4D97-AF65-F5344CB8AC3E}">
        <p14:creationId xmlns:p14="http://schemas.microsoft.com/office/powerpoint/2010/main" val="4236931626"/>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a:latin typeface="Arial Rounded MT Bold" panose="020F0704030504030204" pitchFamily="34" charset="0"/>
              </a:rPr>
              <a:t>Fraud During Industrial Revolution</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z="3600" dirty="0">
                <a:latin typeface="Arial Rounded MT Bold" panose="020F0704030504030204" pitchFamily="34" charset="0"/>
              </a:rPr>
              <a:t>Growth of corporations led to:</a:t>
            </a:r>
          </a:p>
          <a:p>
            <a:pPr lvl="1">
              <a:buFont typeface="Wingdings" panose="05000000000000000000" pitchFamily="2" charset="2"/>
              <a:buChar char="q"/>
            </a:pPr>
            <a:r>
              <a:rPr lang="en-US" sz="3600" dirty="0" smtClean="0">
                <a:latin typeface="Arial Rounded MT Bold" panose="020F0704030504030204" pitchFamily="34" charset="0"/>
              </a:rPr>
              <a:t>accounting fraud</a:t>
            </a:r>
          </a:p>
          <a:p>
            <a:pPr lvl="1">
              <a:buFont typeface="Wingdings" panose="05000000000000000000" pitchFamily="2" charset="2"/>
              <a:buChar char="q"/>
            </a:pPr>
            <a:r>
              <a:rPr lang="en-US" sz="3600" dirty="0" smtClean="0">
                <a:latin typeface="Arial Rounded MT Bold" panose="020F0704030504030204" pitchFamily="34" charset="0"/>
              </a:rPr>
              <a:t>financial manipulation</a:t>
            </a:r>
          </a:p>
          <a:p>
            <a:pPr lvl="1">
              <a:buFont typeface="Wingdings" panose="05000000000000000000" pitchFamily="2" charset="2"/>
              <a:buChar char="q"/>
            </a:pPr>
            <a:r>
              <a:rPr lang="en-US" sz="3600" dirty="0" smtClean="0">
                <a:latin typeface="Arial Rounded MT Bold" panose="020F0704030504030204" pitchFamily="34" charset="0"/>
              </a:rPr>
              <a:t>corporate </a:t>
            </a:r>
            <a:r>
              <a:rPr lang="en-US" sz="3600" dirty="0">
                <a:latin typeface="Arial Rounded MT Bold" panose="020F0704030504030204" pitchFamily="34" charset="0"/>
              </a:rPr>
              <a:t>corruption</a:t>
            </a:r>
          </a:p>
          <a:p>
            <a:pPr marL="0" indent="0">
              <a:buNone/>
            </a:pPr>
            <a:endParaRPr lang="en-US" dirty="0"/>
          </a:p>
        </p:txBody>
      </p:sp>
      <p:sp>
        <p:nvSpPr>
          <p:cNvPr id="4" name="Date Placeholder 3"/>
          <p:cNvSpPr>
            <a:spLocks noGrp="1"/>
          </p:cNvSpPr>
          <p:nvPr>
            <p:ph type="dt" sz="half" idx="10"/>
          </p:nvPr>
        </p:nvSpPr>
        <p:spPr/>
        <p:txBody>
          <a:bodyPr/>
          <a:lstStyle/>
          <a:p>
            <a:fld id="{E818ACFC-56F3-429D-A486-E242D5F7035E}"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10</a:t>
            </a:fld>
            <a:endParaRPr lang="en-US"/>
          </a:p>
        </p:txBody>
      </p:sp>
    </p:spTree>
    <p:extLst>
      <p:ext uri="{BB962C8B-B14F-4D97-AF65-F5344CB8AC3E}">
        <p14:creationId xmlns:p14="http://schemas.microsoft.com/office/powerpoint/2010/main" val="217872144"/>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The Ponzi Scheme</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Named </a:t>
            </a:r>
            <a:r>
              <a:rPr lang="en-US" sz="3600" dirty="0" smtClean="0">
                <a:latin typeface="Arial Rounded MT Bold" panose="020F0704030504030204" pitchFamily="34" charset="0"/>
              </a:rPr>
              <a:t>after Charles Ponzi.</a:t>
            </a:r>
          </a:p>
          <a:p>
            <a:pPr>
              <a:buFont typeface="Wingdings" panose="05000000000000000000" pitchFamily="2" charset="2"/>
              <a:buChar char="v"/>
            </a:pPr>
            <a:r>
              <a:rPr lang="en-US" sz="3600" dirty="0" smtClean="0">
                <a:latin typeface="Arial Rounded MT Bold" panose="020F0704030504030204" pitchFamily="34" charset="0"/>
              </a:rPr>
              <a:t>Characteristics</a:t>
            </a:r>
            <a:r>
              <a:rPr lang="en-US" sz="3600" dirty="0">
                <a:latin typeface="Arial Rounded MT Bold" panose="020F0704030504030204" pitchFamily="34" charset="0"/>
              </a:rPr>
              <a:t>:</a:t>
            </a:r>
          </a:p>
          <a:p>
            <a:pPr lvl="1">
              <a:buFont typeface="Wingdings" panose="05000000000000000000" pitchFamily="2" charset="2"/>
              <a:buChar char="q"/>
            </a:pPr>
            <a:r>
              <a:rPr lang="en-US" sz="3600" dirty="0" smtClean="0">
                <a:latin typeface="Arial Rounded MT Bold" panose="020F0704030504030204" pitchFamily="34" charset="0"/>
              </a:rPr>
              <a:t>promise </a:t>
            </a:r>
            <a:r>
              <a:rPr lang="en-US" sz="3600" dirty="0">
                <a:latin typeface="Arial Rounded MT Bold" panose="020F0704030504030204" pitchFamily="34" charset="0"/>
              </a:rPr>
              <a:t>of high </a:t>
            </a:r>
            <a:r>
              <a:rPr lang="en-US" sz="3600" dirty="0" smtClean="0">
                <a:latin typeface="Arial Rounded MT Bold" panose="020F0704030504030204" pitchFamily="34" charset="0"/>
              </a:rPr>
              <a:t>returns</a:t>
            </a:r>
          </a:p>
          <a:p>
            <a:pPr lvl="1">
              <a:buFont typeface="Wingdings" panose="05000000000000000000" pitchFamily="2" charset="2"/>
              <a:buChar char="q"/>
            </a:pPr>
            <a:r>
              <a:rPr lang="en-US" sz="3600" dirty="0" smtClean="0">
                <a:latin typeface="Arial Rounded MT Bold" panose="020F0704030504030204" pitchFamily="34" charset="0"/>
              </a:rPr>
              <a:t>payments </a:t>
            </a:r>
            <a:r>
              <a:rPr lang="en-US" sz="3600" dirty="0">
                <a:latin typeface="Arial Rounded MT Bold" panose="020F0704030504030204" pitchFamily="34" charset="0"/>
              </a:rPr>
              <a:t>to early investors using new investor </a:t>
            </a:r>
            <a:r>
              <a:rPr lang="en-US" sz="3600" dirty="0" smtClean="0">
                <a:latin typeface="Arial Rounded MT Bold" panose="020F0704030504030204" pitchFamily="34" charset="0"/>
              </a:rPr>
              <a:t>funds</a:t>
            </a:r>
          </a:p>
          <a:p>
            <a:pPr lvl="1">
              <a:buFont typeface="Wingdings" panose="05000000000000000000" pitchFamily="2" charset="2"/>
              <a:buChar char="q"/>
            </a:pPr>
            <a:r>
              <a:rPr lang="en-US" sz="3600" dirty="0" smtClean="0">
                <a:latin typeface="Arial Rounded MT Bold" panose="020F0704030504030204" pitchFamily="34" charset="0"/>
              </a:rPr>
              <a:t>eventual </a:t>
            </a:r>
            <a:r>
              <a:rPr lang="en-US" sz="3600" dirty="0">
                <a:latin typeface="Arial Rounded MT Bold" panose="020F0704030504030204" pitchFamily="34" charset="0"/>
              </a:rPr>
              <a:t>collapse</a:t>
            </a:r>
          </a:p>
          <a:p>
            <a:pPr marL="0" indent="0">
              <a:buNone/>
            </a:pPr>
            <a:endParaRPr lang="en-US" dirty="0"/>
          </a:p>
        </p:txBody>
      </p:sp>
      <p:sp>
        <p:nvSpPr>
          <p:cNvPr id="4" name="Date Placeholder 3"/>
          <p:cNvSpPr>
            <a:spLocks noGrp="1"/>
          </p:cNvSpPr>
          <p:nvPr>
            <p:ph type="dt" sz="half" idx="10"/>
          </p:nvPr>
        </p:nvSpPr>
        <p:spPr/>
        <p:txBody>
          <a:bodyPr/>
          <a:lstStyle/>
          <a:p>
            <a:fld id="{88D2FAF6-0202-4E8A-A05B-77732CE2EA2B}"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11</a:t>
            </a:fld>
            <a:endParaRPr lang="en-US"/>
          </a:p>
        </p:txBody>
      </p:sp>
    </p:spTree>
    <p:extLst>
      <p:ext uri="{BB962C8B-B14F-4D97-AF65-F5344CB8AC3E}">
        <p14:creationId xmlns:p14="http://schemas.microsoft.com/office/powerpoint/2010/main" val="1304418125"/>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Modern Fraud Evolution</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z="3600" dirty="0">
                <a:latin typeface="Arial Rounded MT Bold" panose="020F0704030504030204" pitchFamily="34" charset="0"/>
              </a:rPr>
              <a:t>Modern fraud is driven by:</a:t>
            </a:r>
          </a:p>
          <a:p>
            <a:pPr lvl="1">
              <a:buFont typeface="Wingdings" panose="05000000000000000000" pitchFamily="2" charset="2"/>
              <a:buChar char="q"/>
            </a:pPr>
            <a:r>
              <a:rPr lang="en-US" sz="3600" dirty="0" smtClean="0">
                <a:latin typeface="Arial Rounded MT Bold" panose="020F0704030504030204" pitchFamily="34" charset="0"/>
              </a:rPr>
              <a:t>internet technologies</a:t>
            </a:r>
          </a:p>
          <a:p>
            <a:pPr lvl="1">
              <a:buFont typeface="Wingdings" panose="05000000000000000000" pitchFamily="2" charset="2"/>
              <a:buChar char="q"/>
            </a:pPr>
            <a:r>
              <a:rPr lang="en-US" sz="3600" dirty="0" smtClean="0">
                <a:latin typeface="Arial Rounded MT Bold" panose="020F0704030504030204" pitchFamily="34" charset="0"/>
              </a:rPr>
              <a:t>digital banking</a:t>
            </a:r>
          </a:p>
          <a:p>
            <a:pPr lvl="1">
              <a:buFont typeface="Wingdings" panose="05000000000000000000" pitchFamily="2" charset="2"/>
              <a:buChar char="q"/>
            </a:pPr>
            <a:r>
              <a:rPr lang="en-US" sz="3600" dirty="0" smtClean="0">
                <a:latin typeface="Arial Rounded MT Bold" panose="020F0704030504030204" pitchFamily="34" charset="0"/>
              </a:rPr>
              <a:t>global </a:t>
            </a:r>
            <a:r>
              <a:rPr lang="en-US" sz="3600" dirty="0">
                <a:latin typeface="Arial Rounded MT Bold" panose="020F0704030504030204" pitchFamily="34" charset="0"/>
              </a:rPr>
              <a:t>financial networks</a:t>
            </a:r>
          </a:p>
          <a:p>
            <a:pPr marL="0" indent="0">
              <a:buNone/>
            </a:pPr>
            <a:endParaRPr lang="en-US" dirty="0"/>
          </a:p>
        </p:txBody>
      </p:sp>
      <p:sp>
        <p:nvSpPr>
          <p:cNvPr id="4" name="Date Placeholder 3"/>
          <p:cNvSpPr>
            <a:spLocks noGrp="1"/>
          </p:cNvSpPr>
          <p:nvPr>
            <p:ph type="dt" sz="half" idx="10"/>
          </p:nvPr>
        </p:nvSpPr>
        <p:spPr/>
        <p:txBody>
          <a:bodyPr/>
          <a:lstStyle/>
          <a:p>
            <a:fld id="{1EED7057-00C8-46FC-A2A2-49EDAEAFF8B3}"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12</a:t>
            </a:fld>
            <a:endParaRPr lang="en-US"/>
          </a:p>
        </p:txBody>
      </p:sp>
    </p:spTree>
    <p:extLst>
      <p:ext uri="{BB962C8B-B14F-4D97-AF65-F5344CB8AC3E}">
        <p14:creationId xmlns:p14="http://schemas.microsoft.com/office/powerpoint/2010/main" val="4271422930"/>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rial Rounded MT Bold" panose="020F0704030504030204" pitchFamily="34" charset="0"/>
              </a:rPr>
              <a:t>Understanding Fraud Behavior</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z="3600" dirty="0">
                <a:latin typeface="Arial Rounded MT Bold" panose="020F0704030504030204" pitchFamily="34" charset="0"/>
              </a:rPr>
              <a:t>Fraud theories help </a:t>
            </a:r>
            <a:r>
              <a:rPr lang="en-US" sz="3600" dirty="0" smtClean="0">
                <a:latin typeface="Arial Rounded MT Bold" panose="020F0704030504030204" pitchFamily="34" charset="0"/>
              </a:rPr>
              <a:t>explain:</a:t>
            </a:r>
          </a:p>
          <a:p>
            <a:pPr lvl="1">
              <a:buFont typeface="Wingdings" panose="05000000000000000000" pitchFamily="2" charset="2"/>
              <a:buChar char="q"/>
            </a:pPr>
            <a:r>
              <a:rPr lang="en-US" sz="3600" dirty="0" smtClean="0">
                <a:latin typeface="Arial Rounded MT Bold" panose="020F0704030504030204" pitchFamily="34" charset="0"/>
              </a:rPr>
              <a:t>why </a:t>
            </a:r>
            <a:r>
              <a:rPr lang="en-US" sz="3600" dirty="0">
                <a:latin typeface="Arial Rounded MT Bold" panose="020F0704030504030204" pitchFamily="34" charset="0"/>
              </a:rPr>
              <a:t>people commit </a:t>
            </a:r>
            <a:r>
              <a:rPr lang="en-US" sz="3600" dirty="0" smtClean="0">
                <a:latin typeface="Arial Rounded MT Bold" panose="020F0704030504030204" pitchFamily="34" charset="0"/>
              </a:rPr>
              <a:t>fraud vis-a- vis.</a:t>
            </a:r>
          </a:p>
          <a:p>
            <a:pPr lvl="1">
              <a:buFont typeface="Wingdings" panose="05000000000000000000" pitchFamily="2" charset="2"/>
              <a:buChar char="q"/>
            </a:pPr>
            <a:r>
              <a:rPr lang="en-US" sz="3600" dirty="0" smtClean="0">
                <a:latin typeface="Arial Rounded MT Bold" panose="020F0704030504030204" pitchFamily="34" charset="0"/>
              </a:rPr>
              <a:t>organizational weaknesses</a:t>
            </a:r>
          </a:p>
          <a:p>
            <a:pPr lvl="1">
              <a:buFont typeface="Wingdings" panose="05000000000000000000" pitchFamily="2" charset="2"/>
              <a:buChar char="q"/>
            </a:pPr>
            <a:r>
              <a:rPr lang="en-US" sz="3600" dirty="0" smtClean="0">
                <a:latin typeface="Arial Rounded MT Bold" panose="020F0704030504030204" pitchFamily="34" charset="0"/>
              </a:rPr>
              <a:t>psychological </a:t>
            </a:r>
            <a:r>
              <a:rPr lang="en-US" sz="3600" dirty="0">
                <a:latin typeface="Arial Rounded MT Bold" panose="020F0704030504030204" pitchFamily="34" charset="0"/>
              </a:rPr>
              <a:t>motivations</a:t>
            </a:r>
          </a:p>
          <a:p>
            <a:pPr marL="0" indent="0">
              <a:buNone/>
            </a:pPr>
            <a:endParaRPr lang="en-US" dirty="0"/>
          </a:p>
        </p:txBody>
      </p:sp>
      <p:sp>
        <p:nvSpPr>
          <p:cNvPr id="4" name="Date Placeholder 3"/>
          <p:cNvSpPr>
            <a:spLocks noGrp="1"/>
          </p:cNvSpPr>
          <p:nvPr>
            <p:ph type="dt" sz="half" idx="10"/>
          </p:nvPr>
        </p:nvSpPr>
        <p:spPr/>
        <p:txBody>
          <a:bodyPr/>
          <a:lstStyle/>
          <a:p>
            <a:fld id="{84021BBE-D2D0-4124-B922-9615F810919E}"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13</a:t>
            </a:fld>
            <a:endParaRPr lang="en-US"/>
          </a:p>
        </p:txBody>
      </p:sp>
    </p:spTree>
    <p:extLst>
      <p:ext uri="{BB962C8B-B14F-4D97-AF65-F5344CB8AC3E}">
        <p14:creationId xmlns:p14="http://schemas.microsoft.com/office/powerpoint/2010/main" val="3995882867"/>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Major Fraud Theories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Key frameworks</a:t>
            </a:r>
            <a:r>
              <a:rPr lang="en-US" sz="3600" dirty="0" smtClean="0">
                <a:latin typeface="Arial Rounded MT Bold" panose="020F0704030504030204" pitchFamily="34" charset="0"/>
              </a:rPr>
              <a:t>:</a:t>
            </a:r>
            <a:r>
              <a:rPr lang="en-US" sz="3600" dirty="0">
                <a:latin typeface="Arial Rounded MT Bold" panose="020F0704030504030204" pitchFamily="34" charset="0"/>
              </a:rPr>
              <a:t> </a:t>
            </a:r>
          </a:p>
          <a:p>
            <a:pPr lvl="1">
              <a:buFont typeface="Wingdings" panose="05000000000000000000" pitchFamily="2" charset="2"/>
              <a:buChar char="q"/>
            </a:pPr>
            <a:r>
              <a:rPr lang="en-US" sz="3600" dirty="0">
                <a:latin typeface="Arial Rounded MT Bold" panose="020F0704030504030204" pitchFamily="34" charset="0"/>
              </a:rPr>
              <a:t>Fraud </a:t>
            </a:r>
            <a:r>
              <a:rPr lang="en-US" sz="3600" dirty="0" smtClean="0">
                <a:latin typeface="Arial Rounded MT Bold" panose="020F0704030504030204" pitchFamily="34" charset="0"/>
              </a:rPr>
              <a:t>Triangle</a:t>
            </a:r>
          </a:p>
          <a:p>
            <a:pPr lvl="1">
              <a:buFont typeface="Wingdings" panose="05000000000000000000" pitchFamily="2" charset="2"/>
              <a:buChar char="q"/>
            </a:pPr>
            <a:r>
              <a:rPr lang="en-US" sz="3600" dirty="0" smtClean="0">
                <a:latin typeface="Arial Rounded MT Bold" panose="020F0704030504030204" pitchFamily="34" charset="0"/>
              </a:rPr>
              <a:t>Fraud Diamond</a:t>
            </a:r>
          </a:p>
          <a:p>
            <a:pPr lvl="1">
              <a:buFont typeface="Wingdings" panose="05000000000000000000" pitchFamily="2" charset="2"/>
              <a:buChar char="q"/>
            </a:pPr>
            <a:r>
              <a:rPr lang="en-US" sz="3600" dirty="0" smtClean="0">
                <a:latin typeface="Arial Rounded MT Bold" panose="020F0704030504030204" pitchFamily="34" charset="0"/>
              </a:rPr>
              <a:t>Fraud Pentagon</a:t>
            </a:r>
          </a:p>
          <a:p>
            <a:pPr lvl="1">
              <a:buFont typeface="Wingdings" panose="05000000000000000000" pitchFamily="2" charset="2"/>
              <a:buChar char="q"/>
            </a:pPr>
            <a:r>
              <a:rPr lang="en-US" sz="3600" dirty="0" smtClean="0">
                <a:latin typeface="Arial Rounded MT Bold" panose="020F0704030504030204" pitchFamily="34" charset="0"/>
              </a:rPr>
              <a:t>Routine </a:t>
            </a:r>
            <a:r>
              <a:rPr lang="en-US" sz="3600" dirty="0">
                <a:latin typeface="Arial Rounded MT Bold" panose="020F0704030504030204" pitchFamily="34" charset="0"/>
              </a:rPr>
              <a:t>Activity Theory</a:t>
            </a:r>
          </a:p>
          <a:p>
            <a:pPr marL="0" indent="0">
              <a:buNone/>
            </a:pPr>
            <a:endParaRPr lang="en-US" dirty="0"/>
          </a:p>
        </p:txBody>
      </p:sp>
      <p:sp>
        <p:nvSpPr>
          <p:cNvPr id="4" name="Date Placeholder 3"/>
          <p:cNvSpPr>
            <a:spLocks noGrp="1"/>
          </p:cNvSpPr>
          <p:nvPr>
            <p:ph type="dt" sz="half" idx="10"/>
          </p:nvPr>
        </p:nvSpPr>
        <p:spPr/>
        <p:txBody>
          <a:bodyPr/>
          <a:lstStyle/>
          <a:p>
            <a:fld id="{4E4096B7-FBB6-4AEE-8F31-CA1C115DFC6F}"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14</a:t>
            </a:fld>
            <a:endParaRPr lang="en-US"/>
          </a:p>
        </p:txBody>
      </p:sp>
    </p:spTree>
    <p:extLst>
      <p:ext uri="{BB962C8B-B14F-4D97-AF65-F5344CB8AC3E}">
        <p14:creationId xmlns:p14="http://schemas.microsoft.com/office/powerpoint/2010/main" val="2374429257"/>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Fraud Triangle Theory</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Developed by</a:t>
            </a:r>
          </a:p>
          <a:p>
            <a:pPr lvl="1">
              <a:buFont typeface="Wingdings" panose="05000000000000000000" pitchFamily="2" charset="2"/>
              <a:buChar char="q"/>
            </a:pPr>
            <a:r>
              <a:rPr lang="en-US" sz="3600" dirty="0">
                <a:latin typeface="Arial Rounded MT Bold" panose="020F0704030504030204" pitchFamily="34" charset="0"/>
              </a:rPr>
              <a:t>Donald R. </a:t>
            </a:r>
            <a:r>
              <a:rPr lang="en-US" sz="3600" dirty="0" smtClean="0">
                <a:latin typeface="Arial Rounded MT Bold" panose="020F0704030504030204" pitchFamily="34" charset="0"/>
              </a:rPr>
              <a:t>Cressey.</a:t>
            </a:r>
          </a:p>
          <a:p>
            <a:pPr lvl="1">
              <a:buFont typeface="Wingdings" panose="05000000000000000000" pitchFamily="2" charset="2"/>
              <a:buChar char="q"/>
            </a:pPr>
            <a:r>
              <a:rPr lang="en-US" sz="3600" dirty="0" smtClean="0">
                <a:latin typeface="Arial Rounded MT Bold" panose="020F0704030504030204" pitchFamily="34" charset="0"/>
              </a:rPr>
              <a:t>Fraud </a:t>
            </a:r>
            <a:r>
              <a:rPr lang="en-US" sz="3600" dirty="0">
                <a:latin typeface="Arial Rounded MT Bold" panose="020F0704030504030204" pitchFamily="34" charset="0"/>
              </a:rPr>
              <a:t>occurs when three factors exist.</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DB28475D-9723-480B-8FAA-F827319969F4}"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15</a:t>
            </a:fld>
            <a:endParaRPr lang="en-US"/>
          </a:p>
        </p:txBody>
      </p:sp>
    </p:spTree>
    <p:extLst>
      <p:ext uri="{BB962C8B-B14F-4D97-AF65-F5344CB8AC3E}">
        <p14:creationId xmlns:p14="http://schemas.microsoft.com/office/powerpoint/2010/main" val="2173200497"/>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Fraud Triangle Diagram</a:t>
            </a:r>
          </a:p>
        </p:txBody>
      </p:sp>
      <p:pic>
        <p:nvPicPr>
          <p:cNvPr id="1026"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838200" y="1371600"/>
            <a:ext cx="3733801" cy="3200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5562600" y="1676400"/>
            <a:ext cx="3200400" cy="2862322"/>
          </a:xfrm>
          <a:prstGeom prst="rect">
            <a:avLst/>
          </a:prstGeom>
          <a:noFill/>
        </p:spPr>
        <p:txBody>
          <a:bodyPr wrap="square" rtlCol="0">
            <a:spAutoFit/>
          </a:bodyPr>
          <a:lstStyle/>
          <a:p>
            <a:r>
              <a:rPr lang="en-US" dirty="0" smtClean="0"/>
              <a:t>Elements:</a:t>
            </a:r>
          </a:p>
          <a:p>
            <a:endParaRPr lang="en-US" dirty="0" smtClean="0"/>
          </a:p>
          <a:p>
            <a:pPr marL="285750" indent="-285750">
              <a:buFont typeface="Wingdings" panose="05000000000000000000" pitchFamily="2" charset="2"/>
              <a:buChar char="q"/>
            </a:pPr>
            <a:r>
              <a:rPr lang="en-US" dirty="0" smtClean="0"/>
              <a:t>Pressure</a:t>
            </a:r>
          </a:p>
          <a:p>
            <a:endParaRPr lang="en-US" dirty="0" smtClean="0"/>
          </a:p>
          <a:p>
            <a:pPr marL="285750" indent="-285750">
              <a:buFont typeface="Wingdings" panose="05000000000000000000" pitchFamily="2" charset="2"/>
              <a:buChar char="q"/>
            </a:pPr>
            <a:r>
              <a:rPr lang="en-US" dirty="0" smtClean="0"/>
              <a:t>Opportunity</a:t>
            </a:r>
          </a:p>
          <a:p>
            <a:endParaRPr lang="en-US" dirty="0" smtClean="0"/>
          </a:p>
          <a:p>
            <a:pPr marL="285750" indent="-285750">
              <a:buFont typeface="Wingdings" panose="05000000000000000000" pitchFamily="2" charset="2"/>
              <a:buChar char="q"/>
            </a:pPr>
            <a:r>
              <a:rPr lang="en-US" dirty="0" smtClean="0"/>
              <a:t>Rationalization</a:t>
            </a:r>
          </a:p>
          <a:p>
            <a:endParaRPr lang="en-US" dirty="0"/>
          </a:p>
          <a:p>
            <a:endParaRPr lang="en-US" dirty="0" smtClean="0"/>
          </a:p>
          <a:p>
            <a:endParaRPr lang="en-US" dirty="0"/>
          </a:p>
        </p:txBody>
      </p:sp>
      <p:sp>
        <p:nvSpPr>
          <p:cNvPr id="5" name="Date Placeholder 4"/>
          <p:cNvSpPr>
            <a:spLocks noGrp="1"/>
          </p:cNvSpPr>
          <p:nvPr>
            <p:ph type="dt" sz="half" idx="10"/>
          </p:nvPr>
        </p:nvSpPr>
        <p:spPr/>
        <p:txBody>
          <a:bodyPr/>
          <a:lstStyle/>
          <a:p>
            <a:fld id="{966F0E56-4A5B-4268-9959-7B3401CC4F89}" type="datetime1">
              <a:rPr lang="en-US" smtClean="0"/>
              <a:t>3/15/2026</a:t>
            </a:fld>
            <a:endParaRPr lang="en-US"/>
          </a:p>
        </p:txBody>
      </p:sp>
      <p:sp>
        <p:nvSpPr>
          <p:cNvPr id="6" name="Footer Placeholder 5"/>
          <p:cNvSpPr>
            <a:spLocks noGrp="1"/>
          </p:cNvSpPr>
          <p:nvPr>
            <p:ph type="ftr" sz="quarter" idx="11"/>
          </p:nvPr>
        </p:nvSpPr>
        <p:spPr/>
        <p:txBody>
          <a:bodyPr/>
          <a:lstStyle/>
          <a:p>
            <a:r>
              <a:rPr lang="fi-FI" smtClean="0"/>
              <a:t>CYS339 KAPASA MAKASA UNIVERSITY 2026</a:t>
            </a:r>
            <a:endParaRPr lang="en-US"/>
          </a:p>
        </p:txBody>
      </p:sp>
      <p:sp>
        <p:nvSpPr>
          <p:cNvPr id="7" name="Slide Number Placeholder 6"/>
          <p:cNvSpPr>
            <a:spLocks noGrp="1"/>
          </p:cNvSpPr>
          <p:nvPr>
            <p:ph type="sldNum" sz="quarter" idx="12"/>
          </p:nvPr>
        </p:nvSpPr>
        <p:spPr/>
        <p:txBody>
          <a:bodyPr/>
          <a:lstStyle/>
          <a:p>
            <a:fld id="{0F8B6CD3-0BD5-405C-8927-ED0B8D0D8A54}" type="slidenum">
              <a:rPr lang="en-US" smtClean="0"/>
              <a:t>16</a:t>
            </a:fld>
            <a:endParaRPr lang="en-US"/>
          </a:p>
        </p:txBody>
      </p:sp>
    </p:spTree>
    <p:extLst>
      <p:ext uri="{BB962C8B-B14F-4D97-AF65-F5344CB8AC3E}">
        <p14:creationId xmlns:p14="http://schemas.microsoft.com/office/powerpoint/2010/main" val="3310971388"/>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3" name="whoosh.wav"/>
          </p:stSnd>
        </p:sndAc>
      </p:transition>
    </mc:Choice>
    <mc:Fallback>
      <p:transition spd="slow">
        <p:fade/>
        <p:sndAc>
          <p:stSnd>
            <p:snd r:embed="rId3" name="whoosh.wav"/>
          </p:stSnd>
        </p:sndAc>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Pressure</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Examples:</a:t>
            </a:r>
          </a:p>
          <a:p>
            <a:pPr lvl="1">
              <a:buFont typeface="Wingdings" panose="05000000000000000000" pitchFamily="2" charset="2"/>
              <a:buChar char="q"/>
            </a:pPr>
            <a:r>
              <a:rPr lang="en-US" sz="3600" dirty="0" smtClean="0">
                <a:latin typeface="Arial Rounded MT Bold" panose="020F0704030504030204" pitchFamily="34" charset="0"/>
              </a:rPr>
              <a:t>personal debts</a:t>
            </a:r>
          </a:p>
          <a:p>
            <a:pPr lvl="1">
              <a:buFont typeface="Wingdings" panose="05000000000000000000" pitchFamily="2" charset="2"/>
              <a:buChar char="q"/>
            </a:pPr>
            <a:r>
              <a:rPr lang="en-US" sz="3600" dirty="0" smtClean="0">
                <a:latin typeface="Arial Rounded MT Bold" panose="020F0704030504030204" pitchFamily="34" charset="0"/>
              </a:rPr>
              <a:t>financial hardship</a:t>
            </a:r>
          </a:p>
          <a:p>
            <a:pPr lvl="1">
              <a:buFont typeface="Wingdings" panose="05000000000000000000" pitchFamily="2" charset="2"/>
              <a:buChar char="q"/>
            </a:pPr>
            <a:r>
              <a:rPr lang="en-US" sz="3600" dirty="0" smtClean="0">
                <a:latin typeface="Arial Rounded MT Bold" panose="020F0704030504030204" pitchFamily="34" charset="0"/>
              </a:rPr>
              <a:t>Addiction</a:t>
            </a:r>
          </a:p>
          <a:p>
            <a:pPr lvl="1">
              <a:buFont typeface="Wingdings" panose="05000000000000000000" pitchFamily="2" charset="2"/>
              <a:buChar char="q"/>
            </a:pPr>
            <a:r>
              <a:rPr lang="en-US" sz="3600" dirty="0" smtClean="0">
                <a:latin typeface="Arial Rounded MT Bold" panose="020F0704030504030204" pitchFamily="34" charset="0"/>
              </a:rPr>
              <a:t>family </a:t>
            </a:r>
            <a:r>
              <a:rPr lang="en-US" sz="3600" dirty="0">
                <a:latin typeface="Arial Rounded MT Bold" panose="020F0704030504030204" pitchFamily="34" charset="0"/>
              </a:rPr>
              <a:t>responsibilities</a:t>
            </a:r>
          </a:p>
          <a:p>
            <a:pPr marL="0" indent="0">
              <a:buNone/>
            </a:pPr>
            <a:r>
              <a:rPr lang="en-US" dirty="0"/>
              <a:t> </a:t>
            </a:r>
          </a:p>
          <a:p>
            <a:pPr marL="0" indent="0">
              <a:buNone/>
            </a:pPr>
            <a:endParaRPr lang="en-US" dirty="0"/>
          </a:p>
        </p:txBody>
      </p:sp>
      <p:sp>
        <p:nvSpPr>
          <p:cNvPr id="4" name="Date Placeholder 3"/>
          <p:cNvSpPr>
            <a:spLocks noGrp="1"/>
          </p:cNvSpPr>
          <p:nvPr>
            <p:ph type="dt" sz="half" idx="10"/>
          </p:nvPr>
        </p:nvSpPr>
        <p:spPr/>
        <p:txBody>
          <a:bodyPr/>
          <a:lstStyle/>
          <a:p>
            <a:fld id="{18DEDB02-5C1A-4139-81CB-FDFB8FFCF21B}"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17</a:t>
            </a:fld>
            <a:endParaRPr lang="en-US"/>
          </a:p>
        </p:txBody>
      </p:sp>
    </p:spTree>
    <p:extLst>
      <p:ext uri="{BB962C8B-B14F-4D97-AF65-F5344CB8AC3E}">
        <p14:creationId xmlns:p14="http://schemas.microsoft.com/office/powerpoint/2010/main" val="2141427738"/>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3" name="whoosh.wav"/>
          </p:stSnd>
        </p:sndAc>
      </p:transition>
    </mc:Choice>
    <mc:Fallback>
      <p:transition spd="slow">
        <p:fade/>
        <p:sndAc>
          <p:stSnd>
            <p:snd r:embed="rId3" name="whoosh.wav"/>
          </p:stSnd>
        </p:sndAc>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Opportunity</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z="3600" dirty="0">
                <a:latin typeface="Arial Rounded MT Bold" panose="020F0704030504030204" pitchFamily="34" charset="0"/>
              </a:rPr>
              <a:t>Opportunity arises when:</a:t>
            </a:r>
          </a:p>
          <a:p>
            <a:pPr lvl="1">
              <a:buFont typeface="Wingdings" panose="05000000000000000000" pitchFamily="2" charset="2"/>
              <a:buChar char="q"/>
            </a:pPr>
            <a:r>
              <a:rPr lang="en-US" sz="3600" dirty="0" smtClean="0">
                <a:latin typeface="Arial Rounded MT Bold" panose="020F0704030504030204" pitchFamily="34" charset="0"/>
              </a:rPr>
              <a:t>internal </a:t>
            </a:r>
            <a:r>
              <a:rPr lang="en-US" sz="3600" dirty="0">
                <a:latin typeface="Arial Rounded MT Bold" panose="020F0704030504030204" pitchFamily="34" charset="0"/>
              </a:rPr>
              <a:t>controls are </a:t>
            </a:r>
            <a:r>
              <a:rPr lang="en-US" sz="3600" dirty="0" smtClean="0">
                <a:latin typeface="Arial Rounded MT Bold" panose="020F0704030504030204" pitchFamily="34" charset="0"/>
              </a:rPr>
              <a:t>weak</a:t>
            </a:r>
          </a:p>
          <a:p>
            <a:pPr lvl="1">
              <a:buFont typeface="Wingdings" panose="05000000000000000000" pitchFamily="2" charset="2"/>
              <a:buChar char="q"/>
            </a:pPr>
            <a:r>
              <a:rPr lang="en-US" sz="3600" dirty="0" smtClean="0">
                <a:latin typeface="Arial Rounded MT Bold" panose="020F0704030504030204" pitchFamily="34" charset="0"/>
              </a:rPr>
              <a:t>supervision </a:t>
            </a:r>
            <a:r>
              <a:rPr lang="en-US" sz="3600" dirty="0">
                <a:latin typeface="Arial Rounded MT Bold" panose="020F0704030504030204" pitchFamily="34" charset="0"/>
              </a:rPr>
              <a:t>is </a:t>
            </a:r>
            <a:r>
              <a:rPr lang="en-US" sz="3600" dirty="0" smtClean="0">
                <a:latin typeface="Arial Rounded MT Bold" panose="020F0704030504030204" pitchFamily="34" charset="0"/>
              </a:rPr>
              <a:t>poor</a:t>
            </a:r>
          </a:p>
          <a:p>
            <a:pPr lvl="1">
              <a:buFont typeface="Wingdings" panose="05000000000000000000" pitchFamily="2" charset="2"/>
              <a:buChar char="q"/>
            </a:pPr>
            <a:r>
              <a:rPr lang="en-US" sz="3600" dirty="0" smtClean="0">
                <a:latin typeface="Arial Rounded MT Bold" panose="020F0704030504030204" pitchFamily="34" charset="0"/>
              </a:rPr>
              <a:t>systems </a:t>
            </a:r>
            <a:r>
              <a:rPr lang="en-US" sz="3600" dirty="0">
                <a:latin typeface="Arial Rounded MT Bold" panose="020F0704030504030204" pitchFamily="34" charset="0"/>
              </a:rPr>
              <a:t>lack monitoring</a:t>
            </a:r>
          </a:p>
          <a:p>
            <a:pPr marL="0" indent="0">
              <a:buNone/>
            </a:pPr>
            <a:endParaRPr lang="en-US" dirty="0"/>
          </a:p>
        </p:txBody>
      </p:sp>
      <p:sp>
        <p:nvSpPr>
          <p:cNvPr id="4" name="Date Placeholder 3"/>
          <p:cNvSpPr>
            <a:spLocks noGrp="1"/>
          </p:cNvSpPr>
          <p:nvPr>
            <p:ph type="dt" sz="half" idx="10"/>
          </p:nvPr>
        </p:nvSpPr>
        <p:spPr/>
        <p:txBody>
          <a:bodyPr/>
          <a:lstStyle/>
          <a:p>
            <a:fld id="{6C8126FE-C1BB-4942-9DF7-514AA2CDDED7}"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18</a:t>
            </a:fld>
            <a:endParaRPr lang="en-US"/>
          </a:p>
        </p:txBody>
      </p:sp>
    </p:spTree>
    <p:extLst>
      <p:ext uri="{BB962C8B-B14F-4D97-AF65-F5344CB8AC3E}">
        <p14:creationId xmlns:p14="http://schemas.microsoft.com/office/powerpoint/2010/main" val="907710053"/>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latin typeface="Arial Rounded MT Bold" panose="020F0704030504030204" pitchFamily="34" charset="0"/>
              </a:rPr>
              <a:t/>
            </a:r>
            <a:br>
              <a:rPr lang="en-US" dirty="0" smtClean="0">
                <a:latin typeface="Arial Rounded MT Bold" panose="020F0704030504030204" pitchFamily="34" charset="0"/>
              </a:rPr>
            </a:br>
            <a:r>
              <a:rPr lang="en-US" dirty="0" smtClean="0">
                <a:latin typeface="Arial Rounded MT Bold" panose="020F0704030504030204" pitchFamily="34" charset="0"/>
              </a:rPr>
              <a:t>Rationalization</a:t>
            </a:r>
            <a:r>
              <a:rPr lang="en-US" dirty="0">
                <a:latin typeface="Arial Rounded MT Bold" panose="020F0704030504030204" pitchFamily="34" charset="0"/>
              </a:rPr>
              <a:t/>
            </a:r>
            <a:br>
              <a:rPr lang="en-US" dirty="0">
                <a:latin typeface="Arial Rounded MT Bold" panose="020F0704030504030204" pitchFamily="34" charset="0"/>
              </a:rPr>
            </a:br>
            <a:endParaRPr lang="en-US" dirty="0">
              <a:latin typeface="Arial Rounded MT Bold" panose="020F0704030504030204" pitchFamily="34" charset="0"/>
            </a:endParaRP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sz="3600" dirty="0">
                <a:latin typeface="Arial Rounded MT Bold" panose="020F0704030504030204" pitchFamily="34" charset="0"/>
              </a:rPr>
              <a:t>Examples:</a:t>
            </a:r>
          </a:p>
          <a:p>
            <a:pPr lvl="1">
              <a:buFont typeface="Wingdings" panose="05000000000000000000" pitchFamily="2" charset="2"/>
              <a:buChar char="q"/>
            </a:pPr>
            <a:r>
              <a:rPr lang="en-US" sz="3600" dirty="0" smtClean="0">
                <a:latin typeface="Arial Rounded MT Bold" panose="020F0704030504030204" pitchFamily="34" charset="0"/>
              </a:rPr>
              <a:t> “</a:t>
            </a:r>
            <a:r>
              <a:rPr lang="en-US" sz="3600" dirty="0">
                <a:latin typeface="Arial Rounded MT Bold" panose="020F0704030504030204" pitchFamily="34" charset="0"/>
              </a:rPr>
              <a:t>I deserve the money</a:t>
            </a:r>
            <a:r>
              <a:rPr lang="en-US" sz="3600" dirty="0" smtClean="0">
                <a:latin typeface="Arial Rounded MT Bold" panose="020F0704030504030204" pitchFamily="34" charset="0"/>
              </a:rPr>
              <a:t>”</a:t>
            </a:r>
          </a:p>
          <a:p>
            <a:pPr lvl="1">
              <a:buFont typeface="Wingdings" panose="05000000000000000000" pitchFamily="2" charset="2"/>
              <a:buChar char="q"/>
            </a:pPr>
            <a:r>
              <a:rPr lang="en-US" sz="3600" dirty="0" smtClean="0">
                <a:latin typeface="Arial Rounded MT Bold" panose="020F0704030504030204" pitchFamily="34" charset="0"/>
              </a:rPr>
              <a:t> “</a:t>
            </a:r>
            <a:r>
              <a:rPr lang="en-US" sz="3600" dirty="0">
                <a:latin typeface="Arial Rounded MT Bold" panose="020F0704030504030204" pitchFamily="34" charset="0"/>
              </a:rPr>
              <a:t>The company will not notice</a:t>
            </a:r>
            <a:r>
              <a:rPr lang="en-US" sz="3600" dirty="0" smtClean="0">
                <a:latin typeface="Arial Rounded MT Bold" panose="020F0704030504030204" pitchFamily="34" charset="0"/>
              </a:rPr>
              <a:t>”</a:t>
            </a:r>
          </a:p>
          <a:p>
            <a:pPr lvl="1">
              <a:buFont typeface="Wingdings" panose="05000000000000000000" pitchFamily="2" charset="2"/>
              <a:buChar char="q"/>
            </a:pPr>
            <a:r>
              <a:rPr lang="en-US" sz="3600" dirty="0">
                <a:latin typeface="Arial Rounded MT Bold" panose="020F0704030504030204" pitchFamily="34" charset="0"/>
              </a:rPr>
              <a:t> </a:t>
            </a:r>
            <a:r>
              <a:rPr lang="en-US" sz="3600" dirty="0" smtClean="0">
                <a:latin typeface="Arial Rounded MT Bold" panose="020F0704030504030204" pitchFamily="34" charset="0"/>
              </a:rPr>
              <a:t>“</a:t>
            </a:r>
            <a:r>
              <a:rPr lang="en-US" sz="3600" dirty="0">
                <a:latin typeface="Arial Rounded MT Bold" panose="020F0704030504030204" pitchFamily="34" charset="0"/>
              </a:rPr>
              <a:t>I will return it later</a:t>
            </a:r>
            <a:r>
              <a:rPr lang="en-US" sz="3600" dirty="0" smtClean="0">
                <a:latin typeface="Arial Rounded MT Bold" panose="020F0704030504030204" pitchFamily="34" charset="0"/>
              </a:rPr>
              <a:t>”</a:t>
            </a:r>
          </a:p>
          <a:p>
            <a:pPr lvl="1">
              <a:buFont typeface="Wingdings" panose="05000000000000000000" pitchFamily="2" charset="2"/>
              <a:buChar char="q"/>
            </a:pPr>
            <a:r>
              <a:rPr lang="en-US" sz="3600" dirty="0">
                <a:latin typeface="Arial Rounded MT Bold" panose="020F0704030504030204" pitchFamily="34" charset="0"/>
              </a:rPr>
              <a:t> </a:t>
            </a:r>
            <a:r>
              <a:rPr lang="en-US" sz="3600" dirty="0" smtClean="0">
                <a:latin typeface="Arial Rounded MT Bold" panose="020F0704030504030204" pitchFamily="34" charset="0"/>
              </a:rPr>
              <a:t>“ ubomba mwibala, alila mwibala”</a:t>
            </a:r>
            <a:endParaRPr lang="en-US" sz="3600" dirty="0">
              <a:latin typeface="Arial Rounded MT Bold" panose="020F0704030504030204" pitchFamily="34" charset="0"/>
            </a:endParaRPr>
          </a:p>
          <a:p>
            <a:pPr marL="0" indent="0">
              <a:buNone/>
            </a:pPr>
            <a:endParaRPr lang="en-US" dirty="0"/>
          </a:p>
        </p:txBody>
      </p:sp>
      <p:sp>
        <p:nvSpPr>
          <p:cNvPr id="4" name="Date Placeholder 3"/>
          <p:cNvSpPr>
            <a:spLocks noGrp="1"/>
          </p:cNvSpPr>
          <p:nvPr>
            <p:ph type="dt" sz="half" idx="10"/>
          </p:nvPr>
        </p:nvSpPr>
        <p:spPr/>
        <p:txBody>
          <a:bodyPr/>
          <a:lstStyle/>
          <a:p>
            <a:fld id="{F6426DC5-ED8B-46A3-BF23-DDB8E48B4D59}"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19</a:t>
            </a:fld>
            <a:endParaRPr lang="en-US"/>
          </a:p>
        </p:txBody>
      </p:sp>
    </p:spTree>
    <p:extLst>
      <p:ext uri="{BB962C8B-B14F-4D97-AF65-F5344CB8AC3E}">
        <p14:creationId xmlns:p14="http://schemas.microsoft.com/office/powerpoint/2010/main" val="421212536"/>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Arial Rounded MT Bold" panose="020F0704030504030204" pitchFamily="34" charset="0"/>
              </a:rPr>
              <a:t/>
            </a:r>
            <a:br>
              <a:rPr lang="en-US" dirty="0" smtClean="0">
                <a:latin typeface="Arial Rounded MT Bold" panose="020F0704030504030204" pitchFamily="34" charset="0"/>
              </a:rPr>
            </a:br>
            <a:r>
              <a:rPr lang="en-US" dirty="0">
                <a:latin typeface="Arial Rounded MT Bold" panose="020F0704030504030204" pitchFamily="34" charset="0"/>
              </a:rPr>
              <a:t/>
            </a:r>
            <a:br>
              <a:rPr lang="en-US" dirty="0">
                <a:latin typeface="Arial Rounded MT Bold" panose="020F0704030504030204" pitchFamily="34" charset="0"/>
              </a:rPr>
            </a:br>
            <a:r>
              <a:rPr lang="en-US" dirty="0" smtClean="0">
                <a:latin typeface="Arial Rounded MT Bold" panose="020F0704030504030204" pitchFamily="34" charset="0"/>
              </a:rPr>
              <a:t>Fraud </a:t>
            </a:r>
            <a:r>
              <a:rPr lang="en-US" dirty="0">
                <a:latin typeface="Arial Rounded MT Bold" panose="020F0704030504030204" pitchFamily="34" charset="0"/>
              </a:rPr>
              <a:t>Diamond Theory</a:t>
            </a:r>
            <a:br>
              <a:rPr lang="en-US" dirty="0">
                <a:latin typeface="Arial Rounded MT Bold" panose="020F0704030504030204" pitchFamily="34" charset="0"/>
              </a:rPr>
            </a:br>
            <a:r>
              <a:rPr lang="en-US" dirty="0">
                <a:latin typeface="Arial Rounded MT Bold" panose="020F0704030504030204" pitchFamily="34" charset="0"/>
              </a:rPr>
              <a:t> </a:t>
            </a:r>
            <a:br>
              <a:rPr lang="en-US" dirty="0">
                <a:latin typeface="Arial Rounded MT Bold" panose="020F0704030504030204" pitchFamily="34" charset="0"/>
              </a:rPr>
            </a:br>
            <a:endParaRPr lang="en-US" dirty="0">
              <a:latin typeface="Arial Rounded MT Bold" panose="020F0704030504030204" pitchFamily="34"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Extension of the Fraud Triangle.</a:t>
            </a:r>
          </a:p>
          <a:p>
            <a:pPr lvl="1">
              <a:buFont typeface="Wingdings" panose="05000000000000000000" pitchFamily="2" charset="2"/>
              <a:buChar char="q"/>
            </a:pPr>
            <a:r>
              <a:rPr lang="en-US" sz="3600" dirty="0" smtClean="0">
                <a:latin typeface="Arial Rounded MT Bold" panose="020F0704030504030204" pitchFamily="34" charset="0"/>
              </a:rPr>
              <a:t>Adds </a:t>
            </a:r>
            <a:r>
              <a:rPr lang="en-US" sz="3600" dirty="0">
                <a:latin typeface="Arial Rounded MT Bold" panose="020F0704030504030204" pitchFamily="34" charset="0"/>
              </a:rPr>
              <a:t>Capability.</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8B3EF33B-075E-4F75-BA82-985CE25E7660}"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20</a:t>
            </a:fld>
            <a:endParaRPr lang="en-US"/>
          </a:p>
        </p:txBody>
      </p:sp>
    </p:spTree>
    <p:extLst>
      <p:ext uri="{BB962C8B-B14F-4D97-AF65-F5344CB8AC3E}">
        <p14:creationId xmlns:p14="http://schemas.microsoft.com/office/powerpoint/2010/main" val="2423352732"/>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latin typeface="Arial Rounded MT Bold" panose="020F0704030504030204" pitchFamily="34" charset="0"/>
              </a:rPr>
              <a:t/>
            </a:r>
            <a:br>
              <a:rPr lang="en-US" dirty="0" smtClean="0">
                <a:latin typeface="Arial Rounded MT Bold" panose="020F0704030504030204" pitchFamily="34" charset="0"/>
              </a:rPr>
            </a:br>
            <a:r>
              <a:rPr lang="en-US" dirty="0" smtClean="0">
                <a:latin typeface="Arial Rounded MT Bold" panose="020F0704030504030204" pitchFamily="34" charset="0"/>
              </a:rPr>
              <a:t>Capability</a:t>
            </a:r>
            <a:r>
              <a:rPr lang="en-US" dirty="0">
                <a:latin typeface="Arial Rounded MT Bold" panose="020F0704030504030204" pitchFamily="34" charset="0"/>
              </a:rPr>
              <a:t/>
            </a:r>
            <a:br>
              <a:rPr lang="en-US" dirty="0">
                <a:latin typeface="Arial Rounded MT Bold" panose="020F0704030504030204" pitchFamily="34" charset="0"/>
              </a:rPr>
            </a:br>
            <a:endParaRPr lang="en-US" dirty="0">
              <a:latin typeface="Arial Rounded MT Bold" panose="020F0704030504030204" pitchFamily="34"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Capability includes:</a:t>
            </a:r>
          </a:p>
          <a:p>
            <a:pPr lvl="1">
              <a:buFont typeface="Wingdings" panose="05000000000000000000" pitchFamily="2" charset="2"/>
              <a:buChar char="q"/>
            </a:pPr>
            <a:r>
              <a:rPr lang="en-US" sz="3600" dirty="0" smtClean="0">
                <a:latin typeface="Arial Rounded MT Bold" panose="020F0704030504030204" pitchFamily="34" charset="0"/>
              </a:rPr>
              <a:t>Intelligence</a:t>
            </a:r>
          </a:p>
          <a:p>
            <a:pPr lvl="1">
              <a:buFont typeface="Wingdings" panose="05000000000000000000" pitchFamily="2" charset="2"/>
              <a:buChar char="q"/>
            </a:pPr>
            <a:r>
              <a:rPr lang="en-US" sz="3600" dirty="0" smtClean="0">
                <a:latin typeface="Arial Rounded MT Bold" panose="020F0704030504030204" pitchFamily="34" charset="0"/>
              </a:rPr>
              <a:t>technical knowledge</a:t>
            </a:r>
          </a:p>
          <a:p>
            <a:pPr lvl="1">
              <a:buFont typeface="Wingdings" panose="05000000000000000000" pitchFamily="2" charset="2"/>
              <a:buChar char="q"/>
            </a:pPr>
            <a:r>
              <a:rPr lang="en-US" sz="3600" dirty="0" smtClean="0">
                <a:latin typeface="Arial Rounded MT Bold" panose="020F0704030504030204" pitchFamily="34" charset="0"/>
              </a:rPr>
              <a:t>Authority</a:t>
            </a:r>
          </a:p>
          <a:p>
            <a:pPr lvl="1">
              <a:buFont typeface="Wingdings" panose="05000000000000000000" pitchFamily="2" charset="2"/>
              <a:buChar char="q"/>
            </a:pPr>
            <a:r>
              <a:rPr lang="en-US" sz="3600" dirty="0" smtClean="0">
                <a:latin typeface="Arial Rounded MT Bold" panose="020F0704030504030204" pitchFamily="34" charset="0"/>
              </a:rPr>
              <a:t>system </a:t>
            </a:r>
            <a:r>
              <a:rPr lang="en-US" sz="3600" dirty="0">
                <a:latin typeface="Arial Rounded MT Bold" panose="020F0704030504030204" pitchFamily="34" charset="0"/>
              </a:rPr>
              <a:t>access</a:t>
            </a:r>
          </a:p>
          <a:p>
            <a:pPr marL="0" indent="0">
              <a:buNone/>
            </a:pPr>
            <a:endParaRPr lang="en-US" dirty="0"/>
          </a:p>
          <a:p>
            <a:pPr marL="0" indent="0">
              <a:buNone/>
            </a:pPr>
            <a:endParaRPr lang="en-US" dirty="0"/>
          </a:p>
        </p:txBody>
      </p:sp>
      <p:sp>
        <p:nvSpPr>
          <p:cNvPr id="4" name="Date Placeholder 3"/>
          <p:cNvSpPr>
            <a:spLocks noGrp="1"/>
          </p:cNvSpPr>
          <p:nvPr>
            <p:ph type="dt" sz="half" idx="10"/>
          </p:nvPr>
        </p:nvSpPr>
        <p:spPr/>
        <p:txBody>
          <a:bodyPr/>
          <a:lstStyle/>
          <a:p>
            <a:fld id="{ADC19B5A-7185-4761-AD95-635CBD71A7DF}"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21</a:t>
            </a:fld>
            <a:endParaRPr lang="en-US"/>
          </a:p>
        </p:txBody>
      </p:sp>
    </p:spTree>
    <p:extLst>
      <p:ext uri="{BB962C8B-B14F-4D97-AF65-F5344CB8AC3E}">
        <p14:creationId xmlns:p14="http://schemas.microsoft.com/office/powerpoint/2010/main" val="1387668164"/>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3" name="whoosh.wav"/>
          </p:stSnd>
        </p:sndAc>
      </p:transition>
    </mc:Choice>
    <mc:Fallback>
      <p:transition spd="slow">
        <p:fade/>
        <p:sndAc>
          <p:stSnd>
            <p:snd r:embed="rId3" name="whoosh.wav"/>
          </p:stSnd>
        </p:sndAc>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Major Fraud Categories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Common types include:</a:t>
            </a:r>
          </a:p>
          <a:p>
            <a:pPr lvl="1">
              <a:buFont typeface="Wingdings" panose="05000000000000000000" pitchFamily="2" charset="2"/>
              <a:buChar char="q"/>
            </a:pPr>
            <a:r>
              <a:rPr lang="en-US" sz="3600" dirty="0" smtClean="0">
                <a:latin typeface="Arial Rounded MT Bold" panose="020F0704030504030204" pitchFamily="34" charset="0"/>
              </a:rPr>
              <a:t>asset misappropriation</a:t>
            </a:r>
          </a:p>
          <a:p>
            <a:pPr lvl="1">
              <a:buFont typeface="Wingdings" panose="05000000000000000000" pitchFamily="2" charset="2"/>
              <a:buChar char="q"/>
            </a:pPr>
            <a:r>
              <a:rPr lang="en-US" sz="3600" dirty="0" smtClean="0">
                <a:latin typeface="Arial Rounded MT Bold" panose="020F0704030504030204" pitchFamily="34" charset="0"/>
              </a:rPr>
              <a:t>Corruption</a:t>
            </a:r>
          </a:p>
          <a:p>
            <a:pPr lvl="1">
              <a:buFont typeface="Wingdings" panose="05000000000000000000" pitchFamily="2" charset="2"/>
              <a:buChar char="q"/>
            </a:pPr>
            <a:r>
              <a:rPr lang="en-US" sz="3600" dirty="0" smtClean="0">
                <a:latin typeface="Arial Rounded MT Bold" panose="020F0704030504030204" pitchFamily="34" charset="0"/>
              </a:rPr>
              <a:t>financial </a:t>
            </a:r>
            <a:r>
              <a:rPr lang="en-US" sz="3600" dirty="0">
                <a:latin typeface="Arial Rounded MT Bold" panose="020F0704030504030204" pitchFamily="34" charset="0"/>
              </a:rPr>
              <a:t>statement </a:t>
            </a:r>
            <a:r>
              <a:rPr lang="en-US" sz="3600" dirty="0" smtClean="0">
                <a:latin typeface="Arial Rounded MT Bold" panose="020F0704030504030204" pitchFamily="34" charset="0"/>
              </a:rPr>
              <a:t>fraud</a:t>
            </a:r>
          </a:p>
          <a:p>
            <a:pPr lvl="1">
              <a:buFont typeface="Wingdings" panose="05000000000000000000" pitchFamily="2" charset="2"/>
              <a:buChar char="q"/>
            </a:pPr>
            <a:r>
              <a:rPr lang="en-US" sz="3600" dirty="0" smtClean="0">
                <a:latin typeface="Arial Rounded MT Bold" panose="020F0704030504030204" pitchFamily="34" charset="0"/>
              </a:rPr>
              <a:t>cyber </a:t>
            </a:r>
            <a:r>
              <a:rPr lang="en-US" sz="3600" dirty="0">
                <a:latin typeface="Arial Rounded MT Bold" panose="020F0704030504030204" pitchFamily="34" charset="0"/>
              </a:rPr>
              <a:t>fraud</a:t>
            </a:r>
          </a:p>
          <a:p>
            <a:pPr marL="0" indent="0">
              <a:buNone/>
            </a:pPr>
            <a:endParaRPr lang="en-US" dirty="0"/>
          </a:p>
        </p:txBody>
      </p:sp>
      <p:sp>
        <p:nvSpPr>
          <p:cNvPr id="4" name="Date Placeholder 3"/>
          <p:cNvSpPr>
            <a:spLocks noGrp="1"/>
          </p:cNvSpPr>
          <p:nvPr>
            <p:ph type="dt" sz="half" idx="10"/>
          </p:nvPr>
        </p:nvSpPr>
        <p:spPr/>
        <p:txBody>
          <a:bodyPr/>
          <a:lstStyle/>
          <a:p>
            <a:fld id="{CC25D241-A457-4745-BA0D-233AB27A08EB}"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22</a:t>
            </a:fld>
            <a:endParaRPr lang="en-US"/>
          </a:p>
        </p:txBody>
      </p:sp>
    </p:spTree>
    <p:extLst>
      <p:ext uri="{BB962C8B-B14F-4D97-AF65-F5344CB8AC3E}">
        <p14:creationId xmlns:p14="http://schemas.microsoft.com/office/powerpoint/2010/main" val="3626625278"/>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Asset Misappropriation</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smtClean="0">
                <a:latin typeface="Arial Rounded MT Bold" panose="020F0704030504030204" pitchFamily="34" charset="0"/>
              </a:rPr>
              <a:t>Examples:</a:t>
            </a:r>
          </a:p>
          <a:p>
            <a:pPr lvl="1">
              <a:buFont typeface="Wingdings" panose="05000000000000000000" pitchFamily="2" charset="2"/>
              <a:buChar char="q"/>
            </a:pPr>
            <a:r>
              <a:rPr lang="en-US" sz="3600" dirty="0" smtClean="0">
                <a:latin typeface="Arial Rounded MT Bold" panose="020F0704030504030204" pitchFamily="34" charset="0"/>
              </a:rPr>
              <a:t>theft </a:t>
            </a:r>
            <a:r>
              <a:rPr lang="en-US" sz="3600" dirty="0">
                <a:latin typeface="Arial Rounded MT Bold" panose="020F0704030504030204" pitchFamily="34" charset="0"/>
              </a:rPr>
              <a:t>of </a:t>
            </a:r>
            <a:r>
              <a:rPr lang="en-US" sz="3600" dirty="0" smtClean="0">
                <a:latin typeface="Arial Rounded MT Bold" panose="020F0704030504030204" pitchFamily="34" charset="0"/>
              </a:rPr>
              <a:t>cash</a:t>
            </a:r>
          </a:p>
          <a:p>
            <a:pPr lvl="1">
              <a:buFont typeface="Wingdings" panose="05000000000000000000" pitchFamily="2" charset="2"/>
              <a:buChar char="q"/>
            </a:pPr>
            <a:r>
              <a:rPr lang="en-US" sz="3600" dirty="0" smtClean="0">
                <a:latin typeface="Arial Rounded MT Bold" panose="020F0704030504030204" pitchFamily="34" charset="0"/>
              </a:rPr>
              <a:t>inventory theft</a:t>
            </a:r>
          </a:p>
          <a:p>
            <a:pPr lvl="1">
              <a:buFont typeface="Wingdings" panose="05000000000000000000" pitchFamily="2" charset="2"/>
              <a:buChar char="q"/>
            </a:pPr>
            <a:r>
              <a:rPr lang="en-US" sz="3600" dirty="0" smtClean="0">
                <a:latin typeface="Arial Rounded MT Bold" panose="020F0704030504030204" pitchFamily="34" charset="0"/>
              </a:rPr>
              <a:t>payroll </a:t>
            </a:r>
            <a:r>
              <a:rPr lang="en-US" sz="3600" dirty="0">
                <a:latin typeface="Arial Rounded MT Bold" panose="020F0704030504030204" pitchFamily="34" charset="0"/>
              </a:rPr>
              <a:t>fraud</a:t>
            </a:r>
          </a:p>
          <a:p>
            <a:pPr marL="0" indent="0">
              <a:buNone/>
            </a:pPr>
            <a:endParaRPr lang="en-US" sz="3600" dirty="0">
              <a:latin typeface="Arial Rounded MT Bold" panose="020F0704030504030204" pitchFamily="34" charset="0"/>
            </a:endParaRP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4E0F0419-523D-4EE3-BD2D-5CFE5A58DB6D}"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23</a:t>
            </a:fld>
            <a:endParaRPr lang="en-US"/>
          </a:p>
        </p:txBody>
      </p:sp>
    </p:spTree>
    <p:extLst>
      <p:ext uri="{BB962C8B-B14F-4D97-AF65-F5344CB8AC3E}">
        <p14:creationId xmlns:p14="http://schemas.microsoft.com/office/powerpoint/2010/main" val="2220458063"/>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latin typeface="Arial Rounded MT Bold" panose="020F0704030504030204" pitchFamily="34" charset="0"/>
              </a:rPr>
              <a:t/>
            </a:r>
            <a:br>
              <a:rPr lang="en-US" dirty="0" smtClean="0">
                <a:latin typeface="Arial Rounded MT Bold" panose="020F0704030504030204" pitchFamily="34" charset="0"/>
              </a:rPr>
            </a:br>
            <a:r>
              <a:rPr lang="en-US" dirty="0" smtClean="0">
                <a:latin typeface="Arial Rounded MT Bold" panose="020F0704030504030204" pitchFamily="34" charset="0"/>
              </a:rPr>
              <a:t>Occupational </a:t>
            </a:r>
            <a:r>
              <a:rPr lang="en-US" dirty="0">
                <a:latin typeface="Arial Rounded MT Bold" panose="020F0704030504030204" pitchFamily="34" charset="0"/>
              </a:rPr>
              <a:t>Fraud</a:t>
            </a:r>
            <a:br>
              <a:rPr lang="en-US" dirty="0">
                <a:latin typeface="Arial Rounded MT Bold" panose="020F0704030504030204" pitchFamily="34" charset="0"/>
              </a:rPr>
            </a:br>
            <a:endParaRPr lang="en-US" dirty="0">
              <a:latin typeface="Arial Rounded MT Bold" panose="020F0704030504030204" pitchFamily="34"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Fraud committed by </a:t>
            </a:r>
            <a:r>
              <a:rPr lang="en-US" sz="3600" dirty="0" smtClean="0">
                <a:latin typeface="Arial Rounded MT Bold" panose="020F0704030504030204" pitchFamily="34" charset="0"/>
              </a:rPr>
              <a:t>employees.</a:t>
            </a:r>
          </a:p>
          <a:p>
            <a:pPr>
              <a:buFont typeface="Wingdings" panose="05000000000000000000" pitchFamily="2" charset="2"/>
              <a:buChar char="v"/>
            </a:pPr>
            <a:r>
              <a:rPr lang="en-US" sz="3600" dirty="0" smtClean="0">
                <a:latin typeface="Arial Rounded MT Bold" panose="020F0704030504030204" pitchFamily="34" charset="0"/>
              </a:rPr>
              <a:t>Examples</a:t>
            </a:r>
            <a:r>
              <a:rPr lang="en-US" sz="3600" dirty="0">
                <a:latin typeface="Arial Rounded MT Bold" panose="020F0704030504030204" pitchFamily="34" charset="0"/>
              </a:rPr>
              <a:t>:</a:t>
            </a:r>
          </a:p>
          <a:p>
            <a:pPr lvl="1">
              <a:buFont typeface="Wingdings" panose="05000000000000000000" pitchFamily="2" charset="2"/>
              <a:buChar char="q"/>
            </a:pPr>
            <a:r>
              <a:rPr lang="en-US" sz="3600" dirty="0" smtClean="0">
                <a:latin typeface="Arial Rounded MT Bold" panose="020F0704030504030204" pitchFamily="34" charset="0"/>
              </a:rPr>
              <a:t>expense fraud</a:t>
            </a:r>
          </a:p>
          <a:p>
            <a:pPr lvl="1">
              <a:buFont typeface="Wingdings" panose="05000000000000000000" pitchFamily="2" charset="2"/>
              <a:buChar char="q"/>
            </a:pPr>
            <a:r>
              <a:rPr lang="en-US" sz="3600" dirty="0" smtClean="0">
                <a:latin typeface="Arial Rounded MT Bold" panose="020F0704030504030204" pitchFamily="34" charset="0"/>
              </a:rPr>
              <a:t>procurement fraud</a:t>
            </a:r>
          </a:p>
          <a:p>
            <a:pPr lvl="1">
              <a:buFont typeface="Wingdings" panose="05000000000000000000" pitchFamily="2" charset="2"/>
              <a:buChar char="q"/>
            </a:pPr>
            <a:r>
              <a:rPr lang="en-US" sz="3600" dirty="0" smtClean="0">
                <a:latin typeface="Arial Rounded MT Bold" panose="020F0704030504030204" pitchFamily="34" charset="0"/>
              </a:rPr>
              <a:t>payroll </a:t>
            </a:r>
            <a:r>
              <a:rPr lang="en-US" sz="3600" dirty="0">
                <a:latin typeface="Arial Rounded MT Bold" panose="020F0704030504030204" pitchFamily="34" charset="0"/>
              </a:rPr>
              <a:t>manipulation</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CFABB0E8-2F01-46CE-943A-66C44CAA76C9}"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24</a:t>
            </a:fld>
            <a:endParaRPr lang="en-US"/>
          </a:p>
        </p:txBody>
      </p:sp>
    </p:spTree>
    <p:extLst>
      <p:ext uri="{BB962C8B-B14F-4D97-AF65-F5344CB8AC3E}">
        <p14:creationId xmlns:p14="http://schemas.microsoft.com/office/powerpoint/2010/main" val="4215800278"/>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Financial Statement Fraud</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Manipulating financial reports</a:t>
            </a:r>
            <a:r>
              <a:rPr lang="en-US" sz="3600" dirty="0" smtClean="0">
                <a:latin typeface="Arial Rounded MT Bold" panose="020F0704030504030204" pitchFamily="34" charset="0"/>
              </a:rPr>
              <a:t>.</a:t>
            </a:r>
            <a:r>
              <a:rPr lang="en-US" sz="3600" dirty="0">
                <a:latin typeface="Arial Rounded MT Bold" panose="020F0704030504030204" pitchFamily="34" charset="0"/>
              </a:rPr>
              <a:t> </a:t>
            </a:r>
            <a:endParaRPr lang="en-US" sz="3600" dirty="0" smtClean="0">
              <a:latin typeface="Arial Rounded MT Bold" panose="020F0704030504030204" pitchFamily="34" charset="0"/>
            </a:endParaRPr>
          </a:p>
          <a:p>
            <a:pPr>
              <a:buFont typeface="Wingdings" panose="05000000000000000000" pitchFamily="2" charset="2"/>
              <a:buChar char="v"/>
            </a:pPr>
            <a:r>
              <a:rPr lang="en-US" sz="3600" dirty="0" smtClean="0">
                <a:latin typeface="Arial Rounded MT Bold" panose="020F0704030504030204" pitchFamily="34" charset="0"/>
              </a:rPr>
              <a:t>Example </a:t>
            </a:r>
            <a:r>
              <a:rPr lang="en-US" sz="3600" dirty="0">
                <a:latin typeface="Arial Rounded MT Bold" panose="020F0704030504030204" pitchFamily="34" charset="0"/>
              </a:rPr>
              <a:t>case:</a:t>
            </a:r>
          </a:p>
          <a:p>
            <a:pPr lvl="1">
              <a:buFont typeface="Wingdings" panose="05000000000000000000" pitchFamily="2" charset="2"/>
              <a:buChar char="q"/>
            </a:pPr>
            <a:r>
              <a:rPr lang="en-US" sz="3600" dirty="0" smtClean="0">
                <a:latin typeface="Arial Rounded MT Bold" panose="020F0704030504030204" pitchFamily="34" charset="0"/>
              </a:rPr>
              <a:t>Enron</a:t>
            </a:r>
            <a:endParaRPr lang="en-US" sz="3600" dirty="0">
              <a:latin typeface="Arial Rounded MT Bold" panose="020F0704030504030204" pitchFamily="34" charset="0"/>
            </a:endParaRP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C67CC9C3-4031-4D48-BC6B-113D6B1A3030}"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25</a:t>
            </a:fld>
            <a:endParaRPr lang="en-US"/>
          </a:p>
        </p:txBody>
      </p:sp>
    </p:spTree>
    <p:extLst>
      <p:ext uri="{BB962C8B-B14F-4D97-AF65-F5344CB8AC3E}">
        <p14:creationId xmlns:p14="http://schemas.microsoft.com/office/powerpoint/2010/main" val="3268159454"/>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3" name="whoosh.wav"/>
          </p:stSnd>
        </p:sndAc>
      </p:transition>
    </mc:Choice>
    <mc:Fallback>
      <p:transition spd="slow">
        <p:fade/>
        <p:sndAc>
          <p:stSnd>
            <p:snd r:embed="rId3" name="whoosh.wav"/>
          </p:stSnd>
        </p:sndAc>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dirty="0" smtClean="0">
                <a:latin typeface="Arial Rounded MT Bold" panose="020F0704030504030204" pitchFamily="34" charset="0"/>
              </a:rPr>
              <a:t/>
            </a:r>
            <a:br>
              <a:rPr lang="en-US" dirty="0" smtClean="0">
                <a:latin typeface="Arial Rounded MT Bold" panose="020F0704030504030204" pitchFamily="34" charset="0"/>
              </a:rPr>
            </a:br>
            <a:r>
              <a:rPr lang="en-US" dirty="0" smtClean="0">
                <a:latin typeface="Arial Rounded MT Bold" panose="020F0704030504030204" pitchFamily="34" charset="0"/>
              </a:rPr>
              <a:t>Corruption</a:t>
            </a:r>
            <a:r>
              <a:rPr lang="en-US" dirty="0">
                <a:latin typeface="Arial Rounded MT Bold" panose="020F0704030504030204" pitchFamily="34" charset="0"/>
              </a:rPr>
              <a:t/>
            </a:r>
            <a:br>
              <a:rPr lang="en-US" dirty="0">
                <a:latin typeface="Arial Rounded MT Bold" panose="020F0704030504030204" pitchFamily="34" charset="0"/>
              </a:rPr>
            </a:br>
            <a:endParaRPr lang="en-US" dirty="0">
              <a:latin typeface="Arial Rounded MT Bold" panose="020F0704030504030204" pitchFamily="34" charset="0"/>
            </a:endParaRP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Includes:</a:t>
            </a:r>
          </a:p>
          <a:p>
            <a:pPr lvl="1">
              <a:buFont typeface="Wingdings" panose="05000000000000000000" pitchFamily="2" charset="2"/>
              <a:buChar char="q"/>
            </a:pPr>
            <a:r>
              <a:rPr lang="en-US" sz="3600" dirty="0" smtClean="0">
                <a:latin typeface="Arial Rounded MT Bold" panose="020F0704030504030204" pitchFamily="34" charset="0"/>
              </a:rPr>
              <a:t>Bribery</a:t>
            </a:r>
          </a:p>
          <a:p>
            <a:pPr lvl="1">
              <a:buFont typeface="Wingdings" panose="05000000000000000000" pitchFamily="2" charset="2"/>
              <a:buChar char="q"/>
            </a:pPr>
            <a:r>
              <a:rPr lang="en-US" sz="3600" dirty="0" smtClean="0">
                <a:latin typeface="Arial Rounded MT Bold" panose="020F0704030504030204" pitchFamily="34" charset="0"/>
              </a:rPr>
              <a:t>conflicts </a:t>
            </a:r>
            <a:r>
              <a:rPr lang="en-US" sz="3600" dirty="0">
                <a:latin typeface="Arial Rounded MT Bold" panose="020F0704030504030204" pitchFamily="34" charset="0"/>
              </a:rPr>
              <a:t>of </a:t>
            </a:r>
            <a:r>
              <a:rPr lang="en-US" sz="3600" dirty="0" smtClean="0">
                <a:latin typeface="Arial Rounded MT Bold" panose="020F0704030504030204" pitchFamily="34" charset="0"/>
              </a:rPr>
              <a:t>interest</a:t>
            </a:r>
          </a:p>
          <a:p>
            <a:pPr lvl="1">
              <a:buFont typeface="Wingdings" panose="05000000000000000000" pitchFamily="2" charset="2"/>
              <a:buChar char="q"/>
            </a:pPr>
            <a:r>
              <a:rPr lang="en-US" sz="3600" dirty="0" smtClean="0">
                <a:latin typeface="Arial Rounded MT Bold" panose="020F0704030504030204" pitchFamily="34" charset="0"/>
              </a:rPr>
              <a:t>illegal </a:t>
            </a:r>
            <a:r>
              <a:rPr lang="en-US" sz="3600" dirty="0">
                <a:latin typeface="Arial Rounded MT Bold" panose="020F0704030504030204" pitchFamily="34" charset="0"/>
              </a:rPr>
              <a:t>commissions</a:t>
            </a:r>
          </a:p>
          <a:p>
            <a:pPr marL="0" indent="0">
              <a:buNone/>
            </a:pPr>
            <a:endParaRPr lang="en-US" sz="3600" dirty="0">
              <a:latin typeface="Arial Rounded MT Bold" panose="020F0704030504030204" pitchFamily="34" charset="0"/>
            </a:endParaRP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3A64DE81-5F2F-46E8-8CDD-9F13D9EDEA00}"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26</a:t>
            </a:fld>
            <a:endParaRPr lang="en-US"/>
          </a:p>
        </p:txBody>
      </p:sp>
    </p:spTree>
    <p:extLst>
      <p:ext uri="{BB962C8B-B14F-4D97-AF65-F5344CB8AC3E}">
        <p14:creationId xmlns:p14="http://schemas.microsoft.com/office/powerpoint/2010/main" val="4003156239"/>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Cyber Fraud</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Examples:</a:t>
            </a:r>
          </a:p>
          <a:p>
            <a:pPr lvl="1">
              <a:buFont typeface="Wingdings" panose="05000000000000000000" pitchFamily="2" charset="2"/>
              <a:buChar char="q"/>
            </a:pPr>
            <a:r>
              <a:rPr lang="en-US" sz="3600" dirty="0" smtClean="0">
                <a:latin typeface="Arial Rounded MT Bold" panose="020F0704030504030204" pitchFamily="34" charset="0"/>
              </a:rPr>
              <a:t>Phishing</a:t>
            </a:r>
          </a:p>
          <a:p>
            <a:pPr lvl="1">
              <a:buFont typeface="Wingdings" panose="05000000000000000000" pitchFamily="2" charset="2"/>
              <a:buChar char="q"/>
            </a:pPr>
            <a:r>
              <a:rPr lang="en-US" sz="3600" dirty="0" smtClean="0">
                <a:latin typeface="Arial Rounded MT Bold" panose="020F0704030504030204" pitchFamily="34" charset="0"/>
              </a:rPr>
              <a:t>identity theft</a:t>
            </a:r>
          </a:p>
          <a:p>
            <a:pPr lvl="1">
              <a:buFont typeface="Wingdings" panose="05000000000000000000" pitchFamily="2" charset="2"/>
              <a:buChar char="q"/>
            </a:pPr>
            <a:r>
              <a:rPr lang="en-US" sz="3600" dirty="0" smtClean="0">
                <a:latin typeface="Arial Rounded MT Bold" panose="020F0704030504030204" pitchFamily="34" charset="0"/>
              </a:rPr>
              <a:t>credit </a:t>
            </a:r>
            <a:r>
              <a:rPr lang="en-US" sz="3600" dirty="0">
                <a:latin typeface="Arial Rounded MT Bold" panose="020F0704030504030204" pitchFamily="34" charset="0"/>
              </a:rPr>
              <a:t>card </a:t>
            </a:r>
            <a:r>
              <a:rPr lang="en-US" sz="3600" dirty="0" smtClean="0">
                <a:latin typeface="Arial Rounded MT Bold" panose="020F0704030504030204" pitchFamily="34" charset="0"/>
              </a:rPr>
              <a:t>fraud</a:t>
            </a:r>
          </a:p>
          <a:p>
            <a:pPr lvl="1">
              <a:buFont typeface="Wingdings" panose="05000000000000000000" pitchFamily="2" charset="2"/>
              <a:buChar char="q"/>
            </a:pPr>
            <a:r>
              <a:rPr lang="en-US" sz="3600" dirty="0" smtClean="0">
                <a:latin typeface="Arial Rounded MT Bold" panose="020F0704030504030204" pitchFamily="34" charset="0"/>
              </a:rPr>
              <a:t>cryptocurrency </a:t>
            </a:r>
            <a:r>
              <a:rPr lang="en-US" sz="3600" dirty="0">
                <a:latin typeface="Arial Rounded MT Bold" panose="020F0704030504030204" pitchFamily="34" charset="0"/>
              </a:rPr>
              <a:t>scams</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2CE31642-B390-4133-92CB-E05A0D205C9B}"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27</a:t>
            </a:fld>
            <a:endParaRPr lang="en-US"/>
          </a:p>
        </p:txBody>
      </p:sp>
    </p:spTree>
    <p:extLst>
      <p:ext uri="{BB962C8B-B14F-4D97-AF65-F5344CB8AC3E}">
        <p14:creationId xmlns:p14="http://schemas.microsoft.com/office/powerpoint/2010/main" val="4139209826"/>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Fraud Risk Management</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Organizations </a:t>
            </a:r>
            <a:r>
              <a:rPr lang="en-US" sz="3600" dirty="0" smtClean="0">
                <a:latin typeface="Arial Rounded MT Bold" panose="020F0704030504030204" pitchFamily="34" charset="0"/>
              </a:rPr>
              <a:t>must:</a:t>
            </a:r>
          </a:p>
          <a:p>
            <a:pPr lvl="1">
              <a:buFont typeface="Wingdings" panose="05000000000000000000" pitchFamily="2" charset="2"/>
              <a:buChar char="q"/>
            </a:pPr>
            <a:r>
              <a:rPr lang="en-US" sz="3600" dirty="0" smtClean="0">
                <a:latin typeface="Arial Rounded MT Bold" panose="020F0704030504030204" pitchFamily="34" charset="0"/>
              </a:rPr>
              <a:t> </a:t>
            </a:r>
            <a:r>
              <a:rPr lang="en-US" sz="3600" dirty="0">
                <a:latin typeface="Arial Rounded MT Bold" panose="020F0704030504030204" pitchFamily="34" charset="0"/>
              </a:rPr>
              <a:t>identify and </a:t>
            </a:r>
            <a:endParaRPr lang="en-US" sz="3600" dirty="0" smtClean="0">
              <a:latin typeface="Arial Rounded MT Bold" panose="020F0704030504030204" pitchFamily="34" charset="0"/>
            </a:endParaRPr>
          </a:p>
          <a:p>
            <a:pPr lvl="1">
              <a:buFont typeface="Wingdings" panose="05000000000000000000" pitchFamily="2" charset="2"/>
              <a:buChar char="q"/>
            </a:pPr>
            <a:r>
              <a:rPr lang="en-US" sz="3600" dirty="0" smtClean="0">
                <a:latin typeface="Arial Rounded MT Bold" panose="020F0704030504030204" pitchFamily="34" charset="0"/>
              </a:rPr>
              <a:t>manage </a:t>
            </a:r>
            <a:r>
              <a:rPr lang="en-US" sz="3600" dirty="0">
                <a:latin typeface="Arial Rounded MT Bold" panose="020F0704030504030204" pitchFamily="34" charset="0"/>
              </a:rPr>
              <a:t>fraud risks.</a:t>
            </a:r>
          </a:p>
          <a:p>
            <a:pPr marL="0" indent="0">
              <a:buNone/>
            </a:pPr>
            <a:r>
              <a:rPr lang="en-US" sz="3600" dirty="0">
                <a:latin typeface="Arial Rounded MT Bold" panose="020F0704030504030204" pitchFamily="34" charset="0"/>
              </a:rPr>
              <a:t> </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DC66FBEE-9425-4FCB-ACE4-A8D7DA328FEB}"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28</a:t>
            </a:fld>
            <a:endParaRPr lang="en-US"/>
          </a:p>
        </p:txBody>
      </p:sp>
    </p:spTree>
    <p:extLst>
      <p:ext uri="{BB962C8B-B14F-4D97-AF65-F5344CB8AC3E}">
        <p14:creationId xmlns:p14="http://schemas.microsoft.com/office/powerpoint/2010/main" val="4025428063"/>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rial Rounded MT Bold" panose="020F0704030504030204" pitchFamily="34" charset="0"/>
              </a:rPr>
              <a:t>Fraud Risk Management Steps</a:t>
            </a:r>
          </a:p>
        </p:txBody>
      </p:sp>
      <p:sp>
        <p:nvSpPr>
          <p:cNvPr id="3" name="Content Placeholder 2"/>
          <p:cNvSpPr>
            <a:spLocks noGrp="1"/>
          </p:cNvSpPr>
          <p:nvPr>
            <p:ph idx="1"/>
          </p:nvPr>
        </p:nvSpPr>
        <p:spPr/>
        <p:txBody>
          <a:bodyPr>
            <a:normAutofit/>
          </a:bodyPr>
          <a:lstStyle/>
          <a:p>
            <a:pPr marL="514350" indent="-514350">
              <a:buFont typeface="+mj-lt"/>
              <a:buAutoNum type="arabicPeriod"/>
            </a:pPr>
            <a:r>
              <a:rPr lang="en-US" sz="3600" dirty="0">
                <a:latin typeface="Arial Rounded MT Bold" panose="020F0704030504030204" pitchFamily="34" charset="0"/>
              </a:rPr>
              <a:t>Identify </a:t>
            </a:r>
            <a:r>
              <a:rPr lang="en-US" sz="3600" dirty="0" smtClean="0">
                <a:latin typeface="Arial Rounded MT Bold" panose="020F0704030504030204" pitchFamily="34" charset="0"/>
              </a:rPr>
              <a:t>risks</a:t>
            </a:r>
          </a:p>
          <a:p>
            <a:pPr marL="514350" indent="-514350">
              <a:buFont typeface="+mj-lt"/>
              <a:buAutoNum type="arabicPeriod"/>
            </a:pPr>
            <a:r>
              <a:rPr lang="en-US" sz="3600" dirty="0" smtClean="0">
                <a:latin typeface="Arial Rounded MT Bold" panose="020F0704030504030204" pitchFamily="34" charset="0"/>
              </a:rPr>
              <a:t>Assess likelihood</a:t>
            </a:r>
          </a:p>
          <a:p>
            <a:pPr marL="514350" indent="-514350">
              <a:buFont typeface="+mj-lt"/>
              <a:buAutoNum type="arabicPeriod"/>
            </a:pPr>
            <a:r>
              <a:rPr lang="en-US" sz="3600" dirty="0" smtClean="0">
                <a:latin typeface="Arial Rounded MT Bold" panose="020F0704030504030204" pitchFamily="34" charset="0"/>
              </a:rPr>
              <a:t>Evaluate impact</a:t>
            </a:r>
          </a:p>
          <a:p>
            <a:pPr marL="514350" indent="-514350">
              <a:buFont typeface="+mj-lt"/>
              <a:buAutoNum type="arabicPeriod"/>
            </a:pPr>
            <a:r>
              <a:rPr lang="en-US" sz="3600" dirty="0" smtClean="0">
                <a:latin typeface="Arial Rounded MT Bold" panose="020F0704030504030204" pitchFamily="34" charset="0"/>
              </a:rPr>
              <a:t>Implement </a:t>
            </a:r>
            <a:r>
              <a:rPr lang="en-US" sz="3600" dirty="0">
                <a:latin typeface="Arial Rounded MT Bold" panose="020F0704030504030204" pitchFamily="34" charset="0"/>
              </a:rPr>
              <a:t>controls</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397602DE-335F-4D90-83D6-1ABBADF7DD38}"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29</a:t>
            </a:fld>
            <a:endParaRPr lang="en-US"/>
          </a:p>
        </p:txBody>
      </p:sp>
    </p:spTree>
    <p:extLst>
      <p:ext uri="{BB962C8B-B14F-4D97-AF65-F5344CB8AC3E}">
        <p14:creationId xmlns:p14="http://schemas.microsoft.com/office/powerpoint/2010/main" val="3654989849"/>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Risk Assessment Techniques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Techniques include:</a:t>
            </a:r>
          </a:p>
          <a:p>
            <a:pPr lvl="1">
              <a:buFont typeface="Wingdings" panose="05000000000000000000" pitchFamily="2" charset="2"/>
              <a:buChar char="q"/>
            </a:pPr>
            <a:r>
              <a:rPr lang="en-US" sz="3600" dirty="0" smtClean="0">
                <a:latin typeface="Arial Rounded MT Bold" panose="020F0704030504030204" pitchFamily="34" charset="0"/>
              </a:rPr>
              <a:t>fraud </a:t>
            </a:r>
            <a:r>
              <a:rPr lang="en-US" sz="3600" dirty="0">
                <a:latin typeface="Arial Rounded MT Bold" panose="020F0704030504030204" pitchFamily="34" charset="0"/>
              </a:rPr>
              <a:t>risk </a:t>
            </a:r>
            <a:r>
              <a:rPr lang="en-US" sz="3600" dirty="0" smtClean="0">
                <a:latin typeface="Arial Rounded MT Bold" panose="020F0704030504030204" pitchFamily="34" charset="0"/>
              </a:rPr>
              <a:t>assessments</a:t>
            </a:r>
          </a:p>
          <a:p>
            <a:pPr lvl="1">
              <a:buFont typeface="Wingdings" panose="05000000000000000000" pitchFamily="2" charset="2"/>
              <a:buChar char="q"/>
            </a:pPr>
            <a:r>
              <a:rPr lang="en-US" sz="3600" dirty="0" smtClean="0">
                <a:latin typeface="Arial Rounded MT Bold" panose="020F0704030504030204" pitchFamily="34" charset="0"/>
              </a:rPr>
              <a:t>internal audits</a:t>
            </a:r>
          </a:p>
          <a:p>
            <a:pPr lvl="1">
              <a:buFont typeface="Wingdings" panose="05000000000000000000" pitchFamily="2" charset="2"/>
              <a:buChar char="q"/>
            </a:pPr>
            <a:r>
              <a:rPr lang="en-US" sz="3600" dirty="0" smtClean="0">
                <a:latin typeface="Arial Rounded MT Bold" panose="020F0704030504030204" pitchFamily="34" charset="0"/>
              </a:rPr>
              <a:t>transaction </a:t>
            </a:r>
            <a:r>
              <a:rPr lang="en-US" sz="3600" dirty="0">
                <a:latin typeface="Arial Rounded MT Bold" panose="020F0704030504030204" pitchFamily="34" charset="0"/>
              </a:rPr>
              <a:t>monitoring</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7C6A6F6E-6672-4F74-932F-F40F4325DDC9}"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30</a:t>
            </a:fld>
            <a:endParaRPr lang="en-US"/>
          </a:p>
        </p:txBody>
      </p:sp>
    </p:spTree>
    <p:extLst>
      <p:ext uri="{BB962C8B-B14F-4D97-AF65-F5344CB8AC3E}">
        <p14:creationId xmlns:p14="http://schemas.microsoft.com/office/powerpoint/2010/main" val="2948451811"/>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rial Rounded MT Bold" panose="020F0704030504030204" pitchFamily="34" charset="0"/>
              </a:rPr>
              <a:t>Introduction to Fraud Detection Technologies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3600" dirty="0">
                <a:latin typeface="Arial Rounded MT Bold" panose="020F0704030504030204" pitchFamily="34" charset="0"/>
              </a:rPr>
              <a:t>These systems analyze large volumes of data to detect suspicious activity.</a:t>
            </a:r>
          </a:p>
          <a:p>
            <a:pPr marL="0" indent="0">
              <a:buNone/>
            </a:pPr>
            <a:endParaRPr lang="en-US" sz="3600" dirty="0">
              <a:latin typeface="Arial Rounded MT Bold" panose="020F0704030504030204" pitchFamily="34" charset="0"/>
            </a:endParaRP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80AD13CD-D4D4-4D0E-A325-6F9556036F35}"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31</a:t>
            </a:fld>
            <a:endParaRPr lang="en-US"/>
          </a:p>
        </p:txBody>
      </p:sp>
    </p:spTree>
    <p:extLst>
      <p:ext uri="{BB962C8B-B14F-4D97-AF65-F5344CB8AC3E}">
        <p14:creationId xmlns:p14="http://schemas.microsoft.com/office/powerpoint/2010/main" val="3543556252"/>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rial Rounded MT Bold" panose="020F0704030504030204" pitchFamily="34" charset="0"/>
              </a:rPr>
              <a:t>Transaction Monitoring Systems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3600" dirty="0">
                <a:latin typeface="Arial Rounded MT Bold" panose="020F0704030504030204" pitchFamily="34" charset="0"/>
              </a:rPr>
              <a:t>Banks analyze millions of transactions daily</a:t>
            </a:r>
            <a:r>
              <a:rPr lang="en-US" sz="3600" dirty="0" smtClean="0">
                <a:latin typeface="Arial Rounded MT Bold" panose="020F0704030504030204" pitchFamily="34" charset="0"/>
              </a:rPr>
              <a:t>.</a:t>
            </a:r>
            <a:r>
              <a:rPr lang="en-US" sz="3600" dirty="0">
                <a:latin typeface="Arial Rounded MT Bold" panose="020F0704030504030204" pitchFamily="34" charset="0"/>
              </a:rPr>
              <a:t> </a:t>
            </a:r>
            <a:endParaRPr lang="en-US" sz="3600" dirty="0" smtClean="0">
              <a:latin typeface="Arial Rounded MT Bold" panose="020F0704030504030204" pitchFamily="34" charset="0"/>
            </a:endParaRPr>
          </a:p>
          <a:p>
            <a:pPr>
              <a:buFont typeface="Wingdings" panose="05000000000000000000" pitchFamily="2" charset="2"/>
              <a:buChar char="q"/>
            </a:pPr>
            <a:r>
              <a:rPr lang="en-US" sz="3600" dirty="0" smtClean="0">
                <a:latin typeface="Arial Rounded MT Bold" panose="020F0704030504030204" pitchFamily="34" charset="0"/>
              </a:rPr>
              <a:t>Systems </a:t>
            </a:r>
            <a:r>
              <a:rPr lang="en-US" sz="3600" dirty="0">
                <a:latin typeface="Arial Rounded MT Bold" panose="020F0704030504030204" pitchFamily="34" charset="0"/>
              </a:rPr>
              <a:t>flag suspicious activity.</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5F83588C-F317-4698-A135-5018F438733B}"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32</a:t>
            </a:fld>
            <a:endParaRPr lang="en-US"/>
          </a:p>
        </p:txBody>
      </p:sp>
    </p:spTree>
    <p:extLst>
      <p:ext uri="{BB962C8B-B14F-4D97-AF65-F5344CB8AC3E}">
        <p14:creationId xmlns:p14="http://schemas.microsoft.com/office/powerpoint/2010/main" val="750061092"/>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rial Rounded MT Bold" panose="020F0704030504030204" pitchFamily="34" charset="0"/>
              </a:rPr>
              <a:t>Rule-Based Detection Systems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Uses predefined rules</a:t>
            </a:r>
            <a:r>
              <a:rPr lang="en-US" sz="3600" dirty="0" smtClean="0">
                <a:latin typeface="Arial Rounded MT Bold" panose="020F0704030504030204" pitchFamily="34" charset="0"/>
              </a:rPr>
              <a:t>.</a:t>
            </a:r>
            <a:r>
              <a:rPr lang="en-US" sz="3600" dirty="0">
                <a:latin typeface="Arial Rounded MT Bold" panose="020F0704030504030204" pitchFamily="34" charset="0"/>
              </a:rPr>
              <a:t> </a:t>
            </a:r>
            <a:endParaRPr lang="en-US" sz="3600" dirty="0" smtClean="0">
              <a:latin typeface="Arial Rounded MT Bold" panose="020F0704030504030204" pitchFamily="34" charset="0"/>
            </a:endParaRPr>
          </a:p>
          <a:p>
            <a:pPr>
              <a:buFont typeface="Wingdings" panose="05000000000000000000" pitchFamily="2" charset="2"/>
              <a:buChar char="v"/>
            </a:pPr>
            <a:r>
              <a:rPr lang="en-US" sz="3600" dirty="0" smtClean="0">
                <a:latin typeface="Arial Rounded MT Bold" panose="020F0704030504030204" pitchFamily="34" charset="0"/>
              </a:rPr>
              <a:t>Example:</a:t>
            </a:r>
          </a:p>
          <a:p>
            <a:pPr lvl="1">
              <a:buFont typeface="Wingdings" panose="05000000000000000000" pitchFamily="2" charset="2"/>
              <a:buChar char="q"/>
            </a:pPr>
            <a:r>
              <a:rPr lang="en-US" sz="3600" dirty="0" smtClean="0">
                <a:latin typeface="Arial Rounded MT Bold" panose="020F0704030504030204" pitchFamily="34" charset="0"/>
              </a:rPr>
              <a:t>Large </a:t>
            </a:r>
            <a:r>
              <a:rPr lang="en-US" sz="3600" dirty="0">
                <a:latin typeface="Arial Rounded MT Bold" panose="020F0704030504030204" pitchFamily="34" charset="0"/>
              </a:rPr>
              <a:t>transaction amount triggers alert.</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6131836C-862C-40D0-B9A3-29DEC9080E93}"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33</a:t>
            </a:fld>
            <a:endParaRPr lang="en-US"/>
          </a:p>
        </p:txBody>
      </p:sp>
    </p:spTree>
    <p:extLst>
      <p:ext uri="{BB962C8B-B14F-4D97-AF65-F5344CB8AC3E}">
        <p14:creationId xmlns:p14="http://schemas.microsoft.com/office/powerpoint/2010/main" val="1844258155"/>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Anomaly Detection</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Detects unusual </a:t>
            </a:r>
            <a:r>
              <a:rPr lang="en-US" sz="3600" dirty="0" smtClean="0">
                <a:latin typeface="Arial Rounded MT Bold" panose="020F0704030504030204" pitchFamily="34" charset="0"/>
              </a:rPr>
              <a:t>patterns.</a:t>
            </a:r>
          </a:p>
          <a:p>
            <a:pPr>
              <a:buFont typeface="Wingdings" panose="05000000000000000000" pitchFamily="2" charset="2"/>
              <a:buChar char="v"/>
            </a:pPr>
            <a:r>
              <a:rPr lang="en-US" sz="3600" dirty="0" smtClean="0">
                <a:latin typeface="Arial Rounded MT Bold" panose="020F0704030504030204" pitchFamily="34" charset="0"/>
              </a:rPr>
              <a:t>Examples</a:t>
            </a:r>
            <a:r>
              <a:rPr lang="en-US" sz="3600" dirty="0">
                <a:latin typeface="Arial Rounded MT Bold" panose="020F0704030504030204" pitchFamily="34" charset="0"/>
              </a:rPr>
              <a:t>:</a:t>
            </a:r>
          </a:p>
          <a:p>
            <a:pPr lvl="1">
              <a:buFont typeface="Wingdings" panose="05000000000000000000" pitchFamily="2" charset="2"/>
              <a:buChar char="q"/>
            </a:pPr>
            <a:r>
              <a:rPr lang="en-US" sz="3600" dirty="0" smtClean="0">
                <a:latin typeface="Arial Rounded MT Bold" panose="020F0704030504030204" pitchFamily="34" charset="0"/>
              </a:rPr>
              <a:t>unusual </a:t>
            </a:r>
            <a:r>
              <a:rPr lang="en-US" sz="3600" dirty="0">
                <a:latin typeface="Arial Rounded MT Bold" panose="020F0704030504030204" pitchFamily="34" charset="0"/>
              </a:rPr>
              <a:t>login </a:t>
            </a:r>
            <a:r>
              <a:rPr lang="en-US" sz="3600" dirty="0" smtClean="0">
                <a:latin typeface="Arial Rounded MT Bold" panose="020F0704030504030204" pitchFamily="34" charset="0"/>
              </a:rPr>
              <a:t>times</a:t>
            </a:r>
          </a:p>
          <a:p>
            <a:pPr lvl="1">
              <a:buFont typeface="Wingdings" panose="05000000000000000000" pitchFamily="2" charset="2"/>
              <a:buChar char="q"/>
            </a:pPr>
            <a:r>
              <a:rPr lang="en-US" sz="3600" dirty="0" smtClean="0">
                <a:latin typeface="Arial Rounded MT Bold" panose="020F0704030504030204" pitchFamily="34" charset="0"/>
              </a:rPr>
              <a:t>unusual </a:t>
            </a:r>
            <a:r>
              <a:rPr lang="en-US" sz="3600" dirty="0">
                <a:latin typeface="Arial Rounded MT Bold" panose="020F0704030504030204" pitchFamily="34" charset="0"/>
              </a:rPr>
              <a:t>spending patterns</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17FD13CC-0518-45F9-A9AE-2E029FAFA804}"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34</a:t>
            </a:fld>
            <a:endParaRPr lang="en-US"/>
          </a:p>
        </p:txBody>
      </p:sp>
    </p:spTree>
    <p:extLst>
      <p:ext uri="{BB962C8B-B14F-4D97-AF65-F5344CB8AC3E}">
        <p14:creationId xmlns:p14="http://schemas.microsoft.com/office/powerpoint/2010/main" val="21313278"/>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Statistical Analysis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Statistical models identify abnormal </a:t>
            </a:r>
            <a:r>
              <a:rPr lang="en-US" sz="3600" dirty="0" smtClean="0">
                <a:latin typeface="Arial Rounded MT Bold" panose="020F0704030504030204" pitchFamily="34" charset="0"/>
              </a:rPr>
              <a:t>patterns.</a:t>
            </a:r>
          </a:p>
          <a:p>
            <a:pPr>
              <a:buFont typeface="Wingdings" panose="05000000000000000000" pitchFamily="2" charset="2"/>
              <a:buChar char="v"/>
            </a:pPr>
            <a:r>
              <a:rPr lang="en-US" sz="3600" dirty="0" smtClean="0">
                <a:latin typeface="Arial Rounded MT Bold" panose="020F0704030504030204" pitchFamily="34" charset="0"/>
              </a:rPr>
              <a:t>Example</a:t>
            </a:r>
            <a:r>
              <a:rPr lang="en-US" sz="3600" dirty="0">
                <a:latin typeface="Arial Rounded MT Bold" panose="020F0704030504030204" pitchFamily="34" charset="0"/>
              </a:rPr>
              <a:t>:</a:t>
            </a:r>
          </a:p>
          <a:p>
            <a:pPr lvl="1">
              <a:buFont typeface="Wingdings" panose="05000000000000000000" pitchFamily="2" charset="2"/>
              <a:buChar char="q"/>
            </a:pPr>
            <a:r>
              <a:rPr lang="en-US" sz="3600" dirty="0" err="1" smtClean="0">
                <a:latin typeface="Arial Rounded MT Bold" panose="020F0704030504030204" pitchFamily="34" charset="0"/>
              </a:rPr>
              <a:t>Benford’s</a:t>
            </a:r>
            <a:r>
              <a:rPr lang="en-US" sz="3600" dirty="0" smtClean="0">
                <a:latin typeface="Arial Rounded MT Bold" panose="020F0704030504030204" pitchFamily="34" charset="0"/>
              </a:rPr>
              <a:t> </a:t>
            </a:r>
            <a:r>
              <a:rPr lang="en-US" sz="3600" dirty="0">
                <a:latin typeface="Arial Rounded MT Bold" panose="020F0704030504030204" pitchFamily="34" charset="0"/>
              </a:rPr>
              <a:t>Law</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02C334B3-D47C-4325-A45D-9D0900B2D9DA}"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35</a:t>
            </a:fld>
            <a:endParaRPr lang="en-US"/>
          </a:p>
        </p:txBody>
      </p:sp>
    </p:spTree>
    <p:extLst>
      <p:ext uri="{BB962C8B-B14F-4D97-AF65-F5344CB8AC3E}">
        <p14:creationId xmlns:p14="http://schemas.microsoft.com/office/powerpoint/2010/main" val="1571227736"/>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rial Rounded MT Bold" panose="020F0704030504030204" pitchFamily="34" charset="0"/>
              </a:rPr>
              <a:t>Artificial Intelligence in Fraud Detection</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3600" dirty="0">
                <a:latin typeface="Arial Rounded MT Bold" panose="020F0704030504030204" pitchFamily="34" charset="0"/>
              </a:rPr>
              <a:t>AI systems detect patterns humans cannot see.</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B8C828E5-6C47-4BAA-ACAA-1D0B88AD48A4}" type="datetime1">
              <a:rPr lang="en-US" smtClean="0"/>
              <a:t>3/15/2026</a:t>
            </a:fld>
            <a:endParaRPr lang="en-US"/>
          </a:p>
        </p:txBody>
      </p:sp>
      <p:sp>
        <p:nvSpPr>
          <p:cNvPr id="5" name="Footer Placeholder 4"/>
          <p:cNvSpPr>
            <a:spLocks noGrp="1"/>
          </p:cNvSpPr>
          <p:nvPr>
            <p:ph type="ftr" sz="quarter" idx="11"/>
          </p:nvPr>
        </p:nvSpPr>
        <p:spPr/>
        <p:txBody>
          <a:bodyPr/>
          <a:lstStyle/>
          <a:p>
            <a:r>
              <a:rPr lang="fi-FI" dirty="0" smtClean="0"/>
              <a:t>CYS339 KAPASA MAKASA UNIVERSITY 2026</a:t>
            </a:r>
            <a:endParaRPr lang="en-US" dirty="0"/>
          </a:p>
        </p:txBody>
      </p:sp>
      <p:sp>
        <p:nvSpPr>
          <p:cNvPr id="6" name="Slide Number Placeholder 5"/>
          <p:cNvSpPr>
            <a:spLocks noGrp="1"/>
          </p:cNvSpPr>
          <p:nvPr>
            <p:ph type="sldNum" sz="quarter" idx="12"/>
          </p:nvPr>
        </p:nvSpPr>
        <p:spPr/>
        <p:txBody>
          <a:bodyPr/>
          <a:lstStyle/>
          <a:p>
            <a:fld id="{0F8B6CD3-0BD5-405C-8927-ED0B8D0D8A54}" type="slidenum">
              <a:rPr lang="en-US" smtClean="0"/>
              <a:t>36</a:t>
            </a:fld>
            <a:endParaRPr lang="en-US"/>
          </a:p>
        </p:txBody>
      </p:sp>
    </p:spTree>
    <p:extLst>
      <p:ext uri="{BB962C8B-B14F-4D97-AF65-F5344CB8AC3E}">
        <p14:creationId xmlns:p14="http://schemas.microsoft.com/office/powerpoint/2010/main" val="2972034047"/>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AI Applications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3600" dirty="0">
                <a:latin typeface="Arial Rounded MT Bold" panose="020F0704030504030204" pitchFamily="34" charset="0"/>
              </a:rPr>
              <a:t>transaction </a:t>
            </a:r>
            <a:r>
              <a:rPr lang="en-US" sz="3600" dirty="0" smtClean="0">
                <a:latin typeface="Arial Rounded MT Bold" panose="020F0704030504030204" pitchFamily="34" charset="0"/>
              </a:rPr>
              <a:t>monitoring</a:t>
            </a:r>
          </a:p>
          <a:p>
            <a:pPr>
              <a:buFont typeface="Wingdings" panose="05000000000000000000" pitchFamily="2" charset="2"/>
              <a:buChar char="q"/>
            </a:pPr>
            <a:r>
              <a:rPr lang="en-US" sz="3600" dirty="0" smtClean="0">
                <a:latin typeface="Arial Rounded MT Bold" panose="020F0704030504030204" pitchFamily="34" charset="0"/>
              </a:rPr>
              <a:t>behavioral analysis</a:t>
            </a:r>
          </a:p>
          <a:p>
            <a:pPr>
              <a:buFont typeface="Wingdings" panose="05000000000000000000" pitchFamily="2" charset="2"/>
              <a:buChar char="q"/>
            </a:pPr>
            <a:r>
              <a:rPr lang="en-US" sz="3600" dirty="0" smtClean="0">
                <a:latin typeface="Arial Rounded MT Bold" panose="020F0704030504030204" pitchFamily="34" charset="0"/>
              </a:rPr>
              <a:t>fraud </a:t>
            </a:r>
            <a:r>
              <a:rPr lang="en-US" sz="3600" dirty="0">
                <a:latin typeface="Arial Rounded MT Bold" panose="020F0704030504030204" pitchFamily="34" charset="0"/>
              </a:rPr>
              <a:t>prediction</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4FE5E3BD-5150-4C1E-8058-8C70E52CD1E8}"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37</a:t>
            </a:fld>
            <a:endParaRPr lang="en-US"/>
          </a:p>
        </p:txBody>
      </p:sp>
    </p:spTree>
    <p:extLst>
      <p:ext uri="{BB962C8B-B14F-4D97-AF65-F5344CB8AC3E}">
        <p14:creationId xmlns:p14="http://schemas.microsoft.com/office/powerpoint/2010/main" val="2421556057"/>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Benefits of AI</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Advantages include:</a:t>
            </a:r>
          </a:p>
          <a:p>
            <a:pPr lvl="1">
              <a:buFont typeface="Wingdings" panose="05000000000000000000" pitchFamily="2" charset="2"/>
              <a:buChar char="q"/>
            </a:pPr>
            <a:r>
              <a:rPr lang="en-US" sz="3600" dirty="0" smtClean="0">
                <a:latin typeface="Arial Rounded MT Bold" panose="020F0704030504030204" pitchFamily="34" charset="0"/>
              </a:rPr>
              <a:t>high accuracy</a:t>
            </a:r>
          </a:p>
          <a:p>
            <a:pPr lvl="1">
              <a:buFont typeface="Wingdings" panose="05000000000000000000" pitchFamily="2" charset="2"/>
              <a:buChar char="q"/>
            </a:pPr>
            <a:r>
              <a:rPr lang="en-US" sz="3600" dirty="0" smtClean="0">
                <a:latin typeface="Arial Rounded MT Bold" panose="020F0704030504030204" pitchFamily="34" charset="0"/>
              </a:rPr>
              <a:t>faster detection</a:t>
            </a:r>
          </a:p>
          <a:p>
            <a:pPr lvl="1">
              <a:buFont typeface="Wingdings" panose="05000000000000000000" pitchFamily="2" charset="2"/>
              <a:buChar char="q"/>
            </a:pPr>
            <a:r>
              <a:rPr lang="en-US" sz="3600" dirty="0" smtClean="0">
                <a:latin typeface="Arial Rounded MT Bold" panose="020F0704030504030204" pitchFamily="34" charset="0"/>
              </a:rPr>
              <a:t>automation</a:t>
            </a:r>
            <a:endParaRPr lang="en-US" sz="3600" dirty="0">
              <a:latin typeface="Arial Rounded MT Bold" panose="020F0704030504030204" pitchFamily="34" charset="0"/>
            </a:endParaRP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EDFA38D2-8826-45E4-BF6A-5663F12369B9}"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38</a:t>
            </a:fld>
            <a:endParaRPr lang="en-US"/>
          </a:p>
        </p:txBody>
      </p:sp>
    </p:spTree>
    <p:extLst>
      <p:ext uri="{BB962C8B-B14F-4D97-AF65-F5344CB8AC3E}">
        <p14:creationId xmlns:p14="http://schemas.microsoft.com/office/powerpoint/2010/main" val="2508454977"/>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Machine Learning Overview</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3600" dirty="0">
                <a:latin typeface="Arial Rounded MT Bold" panose="020F0704030504030204" pitchFamily="34" charset="0"/>
              </a:rPr>
              <a:t>Machine learning learns from historical fraud data.</a:t>
            </a:r>
          </a:p>
          <a:p>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D14BA44E-50A5-4694-9733-6936552B9EEA}"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39</a:t>
            </a:fld>
            <a:endParaRPr lang="en-US"/>
          </a:p>
        </p:txBody>
      </p:sp>
    </p:spTree>
    <p:extLst>
      <p:ext uri="{BB962C8B-B14F-4D97-AF65-F5344CB8AC3E}">
        <p14:creationId xmlns:p14="http://schemas.microsoft.com/office/powerpoint/2010/main" val="341028153"/>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Machine Learning Algorithms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Examples:</a:t>
            </a:r>
          </a:p>
          <a:p>
            <a:pPr lvl="1">
              <a:buFont typeface="Wingdings" panose="05000000000000000000" pitchFamily="2" charset="2"/>
              <a:buChar char="q"/>
            </a:pPr>
            <a:r>
              <a:rPr lang="en-US" sz="3600" dirty="0" smtClean="0">
                <a:latin typeface="Arial Rounded MT Bold" panose="020F0704030504030204" pitchFamily="34" charset="0"/>
              </a:rPr>
              <a:t>Decision Trees</a:t>
            </a:r>
          </a:p>
          <a:p>
            <a:pPr lvl="1">
              <a:buFont typeface="Wingdings" panose="05000000000000000000" pitchFamily="2" charset="2"/>
              <a:buChar char="q"/>
            </a:pPr>
            <a:r>
              <a:rPr lang="en-US" sz="3600" dirty="0" smtClean="0">
                <a:latin typeface="Arial Rounded MT Bold" panose="020F0704030504030204" pitchFamily="34" charset="0"/>
              </a:rPr>
              <a:t>Neural Networks</a:t>
            </a:r>
          </a:p>
          <a:p>
            <a:pPr lvl="1">
              <a:buFont typeface="Wingdings" panose="05000000000000000000" pitchFamily="2" charset="2"/>
              <a:buChar char="q"/>
            </a:pPr>
            <a:r>
              <a:rPr lang="en-US" sz="3600" dirty="0" smtClean="0">
                <a:latin typeface="Arial Rounded MT Bold" panose="020F0704030504030204" pitchFamily="34" charset="0"/>
              </a:rPr>
              <a:t>Random Forest</a:t>
            </a:r>
          </a:p>
          <a:p>
            <a:pPr lvl="1">
              <a:buFont typeface="Wingdings" panose="05000000000000000000" pitchFamily="2" charset="2"/>
              <a:buChar char="q"/>
            </a:pPr>
            <a:r>
              <a:rPr lang="en-US" sz="3600" dirty="0" smtClean="0">
                <a:latin typeface="Arial Rounded MT Bold" panose="020F0704030504030204" pitchFamily="34" charset="0"/>
              </a:rPr>
              <a:t>Support </a:t>
            </a:r>
            <a:r>
              <a:rPr lang="en-US" sz="3600" dirty="0">
                <a:latin typeface="Arial Rounded MT Bold" panose="020F0704030504030204" pitchFamily="34" charset="0"/>
              </a:rPr>
              <a:t>Vector Machines</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A5C3A397-DE5C-4E14-A221-D8DD8464FE8A}"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40</a:t>
            </a:fld>
            <a:endParaRPr lang="en-US"/>
          </a:p>
        </p:txBody>
      </p:sp>
    </p:spTree>
    <p:extLst>
      <p:ext uri="{BB962C8B-B14F-4D97-AF65-F5344CB8AC3E}">
        <p14:creationId xmlns:p14="http://schemas.microsoft.com/office/powerpoint/2010/main" val="642190577"/>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3" name="whoosh.wav"/>
          </p:stSnd>
        </p:sndAc>
      </p:transition>
    </mc:Choice>
    <mc:Fallback>
      <p:transition spd="slow">
        <p:fade/>
        <p:sndAc>
          <p:stSnd>
            <p:snd r:embed="rId3" name="whoosh.wav"/>
          </p:stSnd>
        </p:sndAc>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Machine Learning Workflow</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Steps:</a:t>
            </a:r>
          </a:p>
          <a:p>
            <a:pPr marL="914400" lvl="1" indent="-514350">
              <a:buFont typeface="+mj-lt"/>
              <a:buAutoNum type="arabicPeriod"/>
            </a:pPr>
            <a:r>
              <a:rPr lang="en-US" sz="3600" dirty="0" smtClean="0">
                <a:latin typeface="Arial Rounded MT Bold" panose="020F0704030504030204" pitchFamily="34" charset="0"/>
              </a:rPr>
              <a:t>data collection</a:t>
            </a:r>
          </a:p>
          <a:p>
            <a:pPr marL="914400" lvl="1" indent="-514350">
              <a:buFont typeface="+mj-lt"/>
              <a:buAutoNum type="arabicPeriod"/>
            </a:pPr>
            <a:r>
              <a:rPr lang="en-US" sz="3600" dirty="0" smtClean="0">
                <a:latin typeface="Arial Rounded MT Bold" panose="020F0704030504030204" pitchFamily="34" charset="0"/>
              </a:rPr>
              <a:t>model training</a:t>
            </a:r>
          </a:p>
          <a:p>
            <a:pPr marL="914400" lvl="1" indent="-514350">
              <a:buFont typeface="+mj-lt"/>
              <a:buAutoNum type="arabicPeriod"/>
            </a:pPr>
            <a:r>
              <a:rPr lang="en-US" sz="3600" dirty="0" smtClean="0">
                <a:latin typeface="Arial Rounded MT Bold" panose="020F0704030504030204" pitchFamily="34" charset="0"/>
              </a:rPr>
              <a:t>pattern recognition</a:t>
            </a:r>
          </a:p>
          <a:p>
            <a:pPr marL="914400" lvl="1" indent="-514350">
              <a:buFont typeface="+mj-lt"/>
              <a:buAutoNum type="arabicPeriod"/>
            </a:pPr>
            <a:r>
              <a:rPr lang="en-US" sz="3600" dirty="0" smtClean="0">
                <a:latin typeface="Arial Rounded MT Bold" panose="020F0704030504030204" pitchFamily="34" charset="0"/>
              </a:rPr>
              <a:t>fraud </a:t>
            </a:r>
            <a:r>
              <a:rPr lang="en-US" sz="3600" dirty="0">
                <a:latin typeface="Arial Rounded MT Bold" panose="020F0704030504030204" pitchFamily="34" charset="0"/>
              </a:rPr>
              <a:t>prediction</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168B083F-5441-48C4-9F79-139D499EE1B6}"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41</a:t>
            </a:fld>
            <a:endParaRPr lang="en-US"/>
          </a:p>
        </p:txBody>
      </p:sp>
    </p:spTree>
    <p:extLst>
      <p:ext uri="{BB962C8B-B14F-4D97-AF65-F5344CB8AC3E}">
        <p14:creationId xmlns:p14="http://schemas.microsoft.com/office/powerpoint/2010/main" val="869280119"/>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Big Data in Fraud Detection</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3600" dirty="0">
                <a:latin typeface="Arial Rounded MT Bold" panose="020F0704030504030204" pitchFamily="34" charset="0"/>
              </a:rPr>
              <a:t>Large datasets require advanced analytics</a:t>
            </a:r>
          </a:p>
        </p:txBody>
      </p:sp>
      <p:sp>
        <p:nvSpPr>
          <p:cNvPr id="4" name="Date Placeholder 3"/>
          <p:cNvSpPr>
            <a:spLocks noGrp="1"/>
          </p:cNvSpPr>
          <p:nvPr>
            <p:ph type="dt" sz="half" idx="10"/>
          </p:nvPr>
        </p:nvSpPr>
        <p:spPr/>
        <p:txBody>
          <a:bodyPr/>
          <a:lstStyle/>
          <a:p>
            <a:fld id="{289DD717-FC2B-4FD4-A264-E42FBDFFEDE7}"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42</a:t>
            </a:fld>
            <a:endParaRPr lang="en-US"/>
          </a:p>
        </p:txBody>
      </p:sp>
    </p:spTree>
    <p:extLst>
      <p:ext uri="{BB962C8B-B14F-4D97-AF65-F5344CB8AC3E}">
        <p14:creationId xmlns:p14="http://schemas.microsoft.com/office/powerpoint/2010/main" val="900461206"/>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Data Sources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Fraud data sources include:</a:t>
            </a:r>
          </a:p>
          <a:p>
            <a:pPr lvl="1">
              <a:buFont typeface="Wingdings" panose="05000000000000000000" pitchFamily="2" charset="2"/>
              <a:buChar char="q"/>
            </a:pPr>
            <a:r>
              <a:rPr lang="en-US" sz="3600" dirty="0" smtClean="0">
                <a:latin typeface="Arial Rounded MT Bold" panose="020F0704030504030204" pitchFamily="34" charset="0"/>
              </a:rPr>
              <a:t>transaction logs</a:t>
            </a:r>
          </a:p>
          <a:p>
            <a:pPr lvl="1">
              <a:buFont typeface="Wingdings" panose="05000000000000000000" pitchFamily="2" charset="2"/>
              <a:buChar char="q"/>
            </a:pPr>
            <a:r>
              <a:rPr lang="en-US" sz="3600" dirty="0" smtClean="0">
                <a:latin typeface="Arial Rounded MT Bold" panose="020F0704030504030204" pitchFamily="34" charset="0"/>
              </a:rPr>
              <a:t>mobile devices</a:t>
            </a:r>
          </a:p>
          <a:p>
            <a:pPr lvl="1">
              <a:buFont typeface="Wingdings" panose="05000000000000000000" pitchFamily="2" charset="2"/>
              <a:buChar char="q"/>
            </a:pPr>
            <a:r>
              <a:rPr lang="en-US" sz="3600" dirty="0" smtClean="0">
                <a:latin typeface="Arial Rounded MT Bold" panose="020F0704030504030204" pitchFamily="34" charset="0"/>
              </a:rPr>
              <a:t>network activity</a:t>
            </a:r>
          </a:p>
          <a:p>
            <a:pPr lvl="1">
              <a:buFont typeface="Wingdings" panose="05000000000000000000" pitchFamily="2" charset="2"/>
              <a:buChar char="q"/>
            </a:pPr>
            <a:r>
              <a:rPr lang="en-US" sz="3600" dirty="0" smtClean="0">
                <a:latin typeface="Arial Rounded MT Bold" panose="020F0704030504030204" pitchFamily="34" charset="0"/>
              </a:rPr>
              <a:t>customer </a:t>
            </a:r>
            <a:r>
              <a:rPr lang="en-US" sz="3600" dirty="0">
                <a:latin typeface="Arial Rounded MT Bold" panose="020F0704030504030204" pitchFamily="34" charset="0"/>
              </a:rPr>
              <a:t>behavior</a:t>
            </a:r>
          </a:p>
          <a:p>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E7139A94-8349-42CE-B5C0-F972F52A38D9}"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43</a:t>
            </a:fld>
            <a:endParaRPr lang="en-US"/>
          </a:p>
        </p:txBody>
      </p:sp>
    </p:spTree>
    <p:extLst>
      <p:ext uri="{BB962C8B-B14F-4D97-AF65-F5344CB8AC3E}">
        <p14:creationId xmlns:p14="http://schemas.microsoft.com/office/powerpoint/2010/main" val="3294095938"/>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Digital Forensics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3600" dirty="0">
                <a:latin typeface="Arial Rounded MT Bold" panose="020F0704030504030204" pitchFamily="34" charset="0"/>
              </a:rPr>
              <a:t>Digital forensics investigates electronic evidence.</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49D3DF55-E935-4CCD-A688-B7AFB02458E1}"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44</a:t>
            </a:fld>
            <a:endParaRPr lang="en-US"/>
          </a:p>
        </p:txBody>
      </p:sp>
    </p:spTree>
    <p:extLst>
      <p:ext uri="{BB962C8B-B14F-4D97-AF65-F5344CB8AC3E}">
        <p14:creationId xmlns:p14="http://schemas.microsoft.com/office/powerpoint/2010/main" val="4280730963"/>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Areas of Digital Forensics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3600" dirty="0">
                <a:latin typeface="Arial Rounded MT Bold" panose="020F0704030504030204" pitchFamily="34" charset="0"/>
              </a:rPr>
              <a:t>computer </a:t>
            </a:r>
            <a:r>
              <a:rPr lang="en-US" sz="3600" dirty="0" smtClean="0">
                <a:latin typeface="Arial Rounded MT Bold" panose="020F0704030504030204" pitchFamily="34" charset="0"/>
              </a:rPr>
              <a:t>forensics</a:t>
            </a:r>
          </a:p>
          <a:p>
            <a:pPr>
              <a:buFont typeface="Wingdings" panose="05000000000000000000" pitchFamily="2" charset="2"/>
              <a:buChar char="q"/>
            </a:pPr>
            <a:r>
              <a:rPr lang="en-US" sz="3600" dirty="0" smtClean="0">
                <a:latin typeface="Arial Rounded MT Bold" panose="020F0704030504030204" pitchFamily="34" charset="0"/>
              </a:rPr>
              <a:t>network forensics</a:t>
            </a:r>
          </a:p>
          <a:p>
            <a:pPr>
              <a:buFont typeface="Wingdings" panose="05000000000000000000" pitchFamily="2" charset="2"/>
              <a:buChar char="q"/>
            </a:pPr>
            <a:r>
              <a:rPr lang="en-US" sz="3600" dirty="0" smtClean="0">
                <a:latin typeface="Arial Rounded MT Bold" panose="020F0704030504030204" pitchFamily="34" charset="0"/>
              </a:rPr>
              <a:t>mobile </a:t>
            </a:r>
            <a:r>
              <a:rPr lang="en-US" sz="3600" dirty="0">
                <a:latin typeface="Arial Rounded MT Bold" panose="020F0704030504030204" pitchFamily="34" charset="0"/>
              </a:rPr>
              <a:t>device </a:t>
            </a:r>
            <a:r>
              <a:rPr lang="en-US" sz="3600" dirty="0" smtClean="0">
                <a:latin typeface="Arial Rounded MT Bold" panose="020F0704030504030204" pitchFamily="34" charset="0"/>
              </a:rPr>
              <a:t>forensics</a:t>
            </a:r>
          </a:p>
          <a:p>
            <a:pPr>
              <a:buFont typeface="Wingdings" panose="05000000000000000000" pitchFamily="2" charset="2"/>
              <a:buChar char="q"/>
            </a:pPr>
            <a:r>
              <a:rPr lang="en-US" sz="3600" dirty="0" smtClean="0">
                <a:latin typeface="Arial Rounded MT Bold" panose="020F0704030504030204" pitchFamily="34" charset="0"/>
              </a:rPr>
              <a:t>cloud </a:t>
            </a:r>
            <a:r>
              <a:rPr lang="en-US" sz="3600" dirty="0">
                <a:latin typeface="Arial Rounded MT Bold" panose="020F0704030504030204" pitchFamily="34" charset="0"/>
              </a:rPr>
              <a:t>forensics</a:t>
            </a:r>
          </a:p>
          <a:p>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54E99ABA-F634-4812-8108-266D4359AF88}"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45</a:t>
            </a:fld>
            <a:endParaRPr lang="en-US"/>
          </a:p>
        </p:txBody>
      </p:sp>
    </p:spTree>
    <p:extLst>
      <p:ext uri="{BB962C8B-B14F-4D97-AF65-F5344CB8AC3E}">
        <p14:creationId xmlns:p14="http://schemas.microsoft.com/office/powerpoint/2010/main" val="1411624052"/>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rial Rounded MT Bold" panose="020F0704030504030204" pitchFamily="34" charset="0"/>
              </a:rPr>
              <a:t>Importance of Digital Evidence</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Digital evidence </a:t>
            </a:r>
            <a:r>
              <a:rPr lang="en-US" sz="3600" dirty="0" smtClean="0">
                <a:latin typeface="Arial Rounded MT Bold" panose="020F0704030504030204" pitchFamily="34" charset="0"/>
              </a:rPr>
              <a:t>supports:</a:t>
            </a:r>
          </a:p>
          <a:p>
            <a:pPr lvl="1">
              <a:buFont typeface="Wingdings" panose="05000000000000000000" pitchFamily="2" charset="2"/>
              <a:buChar char="q"/>
            </a:pPr>
            <a:r>
              <a:rPr lang="en-US" sz="3600" dirty="0" smtClean="0">
                <a:latin typeface="Arial Rounded MT Bold" panose="020F0704030504030204" pitchFamily="34" charset="0"/>
              </a:rPr>
              <a:t>criminal investigations</a:t>
            </a:r>
          </a:p>
          <a:p>
            <a:pPr lvl="1">
              <a:buFont typeface="Wingdings" panose="05000000000000000000" pitchFamily="2" charset="2"/>
              <a:buChar char="q"/>
            </a:pPr>
            <a:r>
              <a:rPr lang="en-US" sz="3600" dirty="0" smtClean="0">
                <a:latin typeface="Arial Rounded MT Bold" panose="020F0704030504030204" pitchFamily="34" charset="0"/>
              </a:rPr>
              <a:t>fraud prosecutions</a:t>
            </a:r>
          </a:p>
          <a:p>
            <a:pPr lvl="1">
              <a:buFont typeface="Wingdings" panose="05000000000000000000" pitchFamily="2" charset="2"/>
              <a:buChar char="q"/>
            </a:pPr>
            <a:r>
              <a:rPr lang="en-US" sz="3600" dirty="0" smtClean="0">
                <a:latin typeface="Arial Rounded MT Bold" panose="020F0704030504030204" pitchFamily="34" charset="0"/>
              </a:rPr>
              <a:t>corporate </a:t>
            </a:r>
            <a:r>
              <a:rPr lang="en-US" sz="3600" dirty="0">
                <a:latin typeface="Arial Rounded MT Bold" panose="020F0704030504030204" pitchFamily="34" charset="0"/>
              </a:rPr>
              <a:t>investigations</a:t>
            </a:r>
          </a:p>
          <a:p>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B0493C17-805F-4C34-9BD6-F6D77BD72E82}"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46</a:t>
            </a:fld>
            <a:endParaRPr lang="en-US"/>
          </a:p>
        </p:txBody>
      </p:sp>
    </p:spTree>
    <p:extLst>
      <p:ext uri="{BB962C8B-B14F-4D97-AF65-F5344CB8AC3E}">
        <p14:creationId xmlns:p14="http://schemas.microsoft.com/office/powerpoint/2010/main" val="1342346061"/>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Digital Forensic Tools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Common tools include:</a:t>
            </a:r>
          </a:p>
          <a:p>
            <a:pPr lvl="1">
              <a:buFont typeface="Wingdings" panose="05000000000000000000" pitchFamily="2" charset="2"/>
              <a:buChar char="q"/>
            </a:pPr>
            <a:r>
              <a:rPr lang="en-US" sz="3600" dirty="0" smtClean="0">
                <a:latin typeface="Arial Rounded MT Bold" panose="020F0704030504030204" pitchFamily="34" charset="0"/>
              </a:rPr>
              <a:t>EnCase</a:t>
            </a:r>
          </a:p>
          <a:p>
            <a:pPr lvl="1">
              <a:buFont typeface="Wingdings" panose="05000000000000000000" pitchFamily="2" charset="2"/>
              <a:buChar char="q"/>
            </a:pPr>
            <a:r>
              <a:rPr lang="en-US" sz="3600" dirty="0" smtClean="0">
                <a:latin typeface="Arial Rounded MT Bold" panose="020F0704030504030204" pitchFamily="34" charset="0"/>
              </a:rPr>
              <a:t>Forensic </a:t>
            </a:r>
            <a:r>
              <a:rPr lang="en-US" sz="3600" dirty="0">
                <a:latin typeface="Arial Rounded MT Bold" panose="020F0704030504030204" pitchFamily="34" charset="0"/>
              </a:rPr>
              <a:t>Toolkit (</a:t>
            </a:r>
            <a:r>
              <a:rPr lang="en-US" sz="3600" dirty="0" smtClean="0">
                <a:latin typeface="Arial Rounded MT Bold" panose="020F0704030504030204" pitchFamily="34" charset="0"/>
              </a:rPr>
              <a:t>FTK)</a:t>
            </a:r>
          </a:p>
          <a:p>
            <a:pPr lvl="1">
              <a:buFont typeface="Wingdings" panose="05000000000000000000" pitchFamily="2" charset="2"/>
              <a:buChar char="q"/>
            </a:pPr>
            <a:r>
              <a:rPr lang="en-US" sz="3600" dirty="0" smtClean="0">
                <a:latin typeface="Arial Rounded MT Bold" panose="020F0704030504030204" pitchFamily="34" charset="0"/>
              </a:rPr>
              <a:t>Autopsy </a:t>
            </a:r>
            <a:r>
              <a:rPr lang="en-US" sz="3600" dirty="0">
                <a:latin typeface="Arial Rounded MT Bold" panose="020F0704030504030204" pitchFamily="34" charset="0"/>
              </a:rPr>
              <a:t>(digital forensics platform)</a:t>
            </a:r>
          </a:p>
          <a:p>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FEE87183-FEEB-4029-ACBD-132B8E930DDE}"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47</a:t>
            </a:fld>
            <a:endParaRPr lang="en-US"/>
          </a:p>
        </p:txBody>
      </p:sp>
    </p:spTree>
    <p:extLst>
      <p:ext uri="{BB962C8B-B14F-4D97-AF65-F5344CB8AC3E}">
        <p14:creationId xmlns:p14="http://schemas.microsoft.com/office/powerpoint/2010/main" val="754374193"/>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Fraud Investigation Process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Steps include:</a:t>
            </a:r>
          </a:p>
          <a:p>
            <a:pPr lvl="1">
              <a:buFont typeface="Wingdings" panose="05000000000000000000" pitchFamily="2" charset="2"/>
              <a:buChar char="q"/>
            </a:pPr>
            <a:r>
              <a:rPr lang="en-US" sz="3600" dirty="0" smtClean="0">
                <a:latin typeface="Arial Rounded MT Bold" panose="020F0704030504030204" pitchFamily="34" charset="0"/>
              </a:rPr>
              <a:t>Detection</a:t>
            </a:r>
          </a:p>
          <a:p>
            <a:pPr lvl="1">
              <a:buFont typeface="Wingdings" panose="05000000000000000000" pitchFamily="2" charset="2"/>
              <a:buChar char="q"/>
            </a:pPr>
            <a:r>
              <a:rPr lang="en-US" sz="3600" dirty="0" smtClean="0">
                <a:latin typeface="Arial Rounded MT Bold" panose="020F0704030504030204" pitchFamily="34" charset="0"/>
              </a:rPr>
              <a:t>Investigation</a:t>
            </a:r>
          </a:p>
          <a:p>
            <a:pPr lvl="1">
              <a:buFont typeface="Wingdings" panose="05000000000000000000" pitchFamily="2" charset="2"/>
              <a:buChar char="q"/>
            </a:pPr>
            <a:r>
              <a:rPr lang="en-US" sz="3600" dirty="0" smtClean="0">
                <a:latin typeface="Arial Rounded MT Bold" panose="020F0704030504030204" pitchFamily="34" charset="0"/>
              </a:rPr>
              <a:t>evidence collection</a:t>
            </a:r>
          </a:p>
          <a:p>
            <a:pPr lvl="1">
              <a:buFont typeface="Wingdings" panose="05000000000000000000" pitchFamily="2" charset="2"/>
              <a:buChar char="q"/>
            </a:pPr>
            <a:r>
              <a:rPr lang="en-US" sz="3600" dirty="0" smtClean="0">
                <a:latin typeface="Arial Rounded MT Bold" panose="020F0704030504030204" pitchFamily="34" charset="0"/>
              </a:rPr>
              <a:t>reporting</a:t>
            </a:r>
            <a:endParaRPr lang="en-US" sz="3600" dirty="0">
              <a:latin typeface="Arial Rounded MT Bold" panose="020F0704030504030204" pitchFamily="34" charset="0"/>
            </a:endParaRPr>
          </a:p>
          <a:p>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F2BA7759-DAEC-43A8-97C5-43354F68C67B}"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48</a:t>
            </a:fld>
            <a:endParaRPr lang="en-US"/>
          </a:p>
        </p:txBody>
      </p:sp>
    </p:spTree>
    <p:extLst>
      <p:ext uri="{BB962C8B-B14F-4D97-AF65-F5344CB8AC3E}">
        <p14:creationId xmlns:p14="http://schemas.microsoft.com/office/powerpoint/2010/main" val="1893493725"/>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Investigation Techniques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Techniques include:</a:t>
            </a:r>
          </a:p>
          <a:p>
            <a:pPr lvl="1">
              <a:buFont typeface="Wingdings" panose="05000000000000000000" pitchFamily="2" charset="2"/>
              <a:buChar char="q"/>
            </a:pPr>
            <a:r>
              <a:rPr lang="en-US" sz="3600" dirty="0" smtClean="0">
                <a:latin typeface="Arial Rounded MT Bold" panose="020F0704030504030204" pitchFamily="34" charset="0"/>
              </a:rPr>
              <a:t>document analysis</a:t>
            </a:r>
          </a:p>
          <a:p>
            <a:pPr lvl="1">
              <a:buFont typeface="Wingdings" panose="05000000000000000000" pitchFamily="2" charset="2"/>
              <a:buChar char="q"/>
            </a:pPr>
            <a:r>
              <a:rPr lang="en-US" sz="3600" dirty="0" smtClean="0">
                <a:latin typeface="Arial Rounded MT Bold" panose="020F0704030504030204" pitchFamily="34" charset="0"/>
              </a:rPr>
              <a:t>financial </a:t>
            </a:r>
            <a:r>
              <a:rPr lang="en-US" sz="3600" dirty="0">
                <a:latin typeface="Arial Rounded MT Bold" panose="020F0704030504030204" pitchFamily="34" charset="0"/>
              </a:rPr>
              <a:t>data </a:t>
            </a:r>
            <a:r>
              <a:rPr lang="en-US" sz="3600" dirty="0" smtClean="0">
                <a:latin typeface="Arial Rounded MT Bold" panose="020F0704030504030204" pitchFamily="34" charset="0"/>
              </a:rPr>
              <a:t>analysis</a:t>
            </a:r>
          </a:p>
          <a:p>
            <a:pPr lvl="1">
              <a:buFont typeface="Wingdings" panose="05000000000000000000" pitchFamily="2" charset="2"/>
              <a:buChar char="q"/>
            </a:pPr>
            <a:r>
              <a:rPr lang="en-US" sz="3600" dirty="0" smtClean="0">
                <a:latin typeface="Arial Rounded MT Bold" panose="020F0704030504030204" pitchFamily="34" charset="0"/>
              </a:rPr>
              <a:t>Interviews</a:t>
            </a:r>
          </a:p>
          <a:p>
            <a:pPr lvl="1">
              <a:buFont typeface="Wingdings" panose="05000000000000000000" pitchFamily="2" charset="2"/>
              <a:buChar char="q"/>
            </a:pPr>
            <a:r>
              <a:rPr lang="en-US" sz="3600" dirty="0" smtClean="0">
                <a:latin typeface="Arial Rounded MT Bold" panose="020F0704030504030204" pitchFamily="34" charset="0"/>
              </a:rPr>
              <a:t>surveillance</a:t>
            </a:r>
            <a:endParaRPr lang="en-US" sz="3600" dirty="0">
              <a:latin typeface="Arial Rounded MT Bold" panose="020F0704030504030204" pitchFamily="34" charset="0"/>
            </a:endParaRP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CB9CC4DC-DDDB-40E1-9EF0-801EA723D19D}"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49</a:t>
            </a:fld>
            <a:endParaRPr lang="en-US"/>
          </a:p>
        </p:txBody>
      </p:sp>
    </p:spTree>
    <p:extLst>
      <p:ext uri="{BB962C8B-B14F-4D97-AF65-F5344CB8AC3E}">
        <p14:creationId xmlns:p14="http://schemas.microsoft.com/office/powerpoint/2010/main" val="487540709"/>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Evidence Handling</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Evidence must be:</a:t>
            </a:r>
          </a:p>
          <a:p>
            <a:pPr lvl="1">
              <a:buFont typeface="Wingdings" panose="05000000000000000000" pitchFamily="2" charset="2"/>
              <a:buChar char="q"/>
            </a:pPr>
            <a:r>
              <a:rPr lang="en-US" sz="3600" dirty="0" smtClean="0">
                <a:latin typeface="Arial Rounded MT Bold" panose="020F0704030504030204" pitchFamily="34" charset="0"/>
              </a:rPr>
              <a:t>Authentic</a:t>
            </a:r>
          </a:p>
          <a:p>
            <a:pPr lvl="1">
              <a:buFont typeface="Wingdings" panose="05000000000000000000" pitchFamily="2" charset="2"/>
              <a:buChar char="q"/>
            </a:pPr>
            <a:r>
              <a:rPr lang="en-US" sz="3600" dirty="0" smtClean="0">
                <a:latin typeface="Arial Rounded MT Bold" panose="020F0704030504030204" pitchFamily="34" charset="0"/>
              </a:rPr>
              <a:t>Documented</a:t>
            </a:r>
          </a:p>
          <a:p>
            <a:pPr lvl="1">
              <a:buFont typeface="Wingdings" panose="05000000000000000000" pitchFamily="2" charset="2"/>
              <a:buChar char="q"/>
            </a:pPr>
            <a:r>
              <a:rPr lang="en-US" sz="3600" dirty="0" smtClean="0">
                <a:latin typeface="Arial Rounded MT Bold" panose="020F0704030504030204" pitchFamily="34" charset="0"/>
              </a:rPr>
              <a:t>securely stored</a:t>
            </a:r>
          </a:p>
          <a:p>
            <a:pPr lvl="1">
              <a:buFont typeface="Wingdings" panose="05000000000000000000" pitchFamily="2" charset="2"/>
              <a:buChar char="q"/>
            </a:pPr>
            <a:r>
              <a:rPr lang="en-US" sz="3600" dirty="0" smtClean="0">
                <a:latin typeface="Arial Rounded MT Bold" panose="020F0704030504030204" pitchFamily="34" charset="0"/>
              </a:rPr>
              <a:t>Chain </a:t>
            </a:r>
            <a:r>
              <a:rPr lang="en-US" sz="3600" dirty="0">
                <a:latin typeface="Arial Rounded MT Bold" panose="020F0704030504030204" pitchFamily="34" charset="0"/>
              </a:rPr>
              <a:t>of custody must be maintained.</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91458D32-0978-4A14-8CBB-D752564CD4EE}"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50</a:t>
            </a:fld>
            <a:endParaRPr lang="en-US"/>
          </a:p>
        </p:txBody>
      </p:sp>
    </p:spTree>
    <p:extLst>
      <p:ext uri="{BB962C8B-B14F-4D97-AF65-F5344CB8AC3E}">
        <p14:creationId xmlns:p14="http://schemas.microsoft.com/office/powerpoint/2010/main" val="817661281"/>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Fraud Prevention Strategies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3600" dirty="0">
                <a:latin typeface="Arial Rounded MT Bold" panose="020F0704030504030204" pitchFamily="34" charset="0"/>
              </a:rPr>
              <a:t>Organizations must implement preventive controls.</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D2826B18-019C-4AAB-82E3-6AE69197AE30}"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51</a:t>
            </a:fld>
            <a:endParaRPr lang="en-US"/>
          </a:p>
        </p:txBody>
      </p:sp>
    </p:spTree>
    <p:extLst>
      <p:ext uri="{BB962C8B-B14F-4D97-AF65-F5344CB8AC3E}">
        <p14:creationId xmlns:p14="http://schemas.microsoft.com/office/powerpoint/2010/main" val="615124846"/>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Internal Controls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smtClean="0">
                <a:latin typeface="Arial Rounded MT Bold" panose="020F0704030504030204" pitchFamily="34" charset="0"/>
              </a:rPr>
              <a:t>Examples:</a:t>
            </a:r>
          </a:p>
          <a:p>
            <a:pPr lvl="1">
              <a:buFont typeface="Wingdings" panose="05000000000000000000" pitchFamily="2" charset="2"/>
              <a:buChar char="q"/>
            </a:pPr>
            <a:r>
              <a:rPr lang="en-US" sz="3600" dirty="0" smtClean="0">
                <a:latin typeface="Arial Rounded MT Bold" panose="020F0704030504030204" pitchFamily="34" charset="0"/>
              </a:rPr>
              <a:t>segregation </a:t>
            </a:r>
            <a:r>
              <a:rPr lang="en-US" sz="3600" dirty="0">
                <a:latin typeface="Arial Rounded MT Bold" panose="020F0704030504030204" pitchFamily="34" charset="0"/>
              </a:rPr>
              <a:t>of </a:t>
            </a:r>
            <a:r>
              <a:rPr lang="en-US" sz="3600" dirty="0" smtClean="0">
                <a:latin typeface="Arial Rounded MT Bold" panose="020F0704030504030204" pitchFamily="34" charset="0"/>
              </a:rPr>
              <a:t>duties</a:t>
            </a:r>
          </a:p>
          <a:p>
            <a:pPr lvl="1">
              <a:buFont typeface="Wingdings" panose="05000000000000000000" pitchFamily="2" charset="2"/>
              <a:buChar char="q"/>
            </a:pPr>
            <a:r>
              <a:rPr lang="en-US" sz="3600" dirty="0" smtClean="0">
                <a:latin typeface="Arial Rounded MT Bold" panose="020F0704030504030204" pitchFamily="34" charset="0"/>
              </a:rPr>
              <a:t>authorization controls</a:t>
            </a:r>
          </a:p>
          <a:p>
            <a:pPr lvl="1">
              <a:buFont typeface="Wingdings" panose="05000000000000000000" pitchFamily="2" charset="2"/>
              <a:buChar char="q"/>
            </a:pPr>
            <a:r>
              <a:rPr lang="en-US" sz="3600" dirty="0" smtClean="0">
                <a:latin typeface="Arial Rounded MT Bold" panose="020F0704030504030204" pitchFamily="34" charset="0"/>
              </a:rPr>
              <a:t>audit </a:t>
            </a:r>
            <a:r>
              <a:rPr lang="en-US" sz="3600" dirty="0">
                <a:latin typeface="Arial Rounded MT Bold" panose="020F0704030504030204" pitchFamily="34" charset="0"/>
              </a:rPr>
              <a:t>trails</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A946CAEA-E03C-467A-919C-9403FC5AED75}"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52</a:t>
            </a:fld>
            <a:endParaRPr lang="en-US"/>
          </a:p>
        </p:txBody>
      </p:sp>
    </p:spTree>
    <p:extLst>
      <p:ext uri="{BB962C8B-B14F-4D97-AF65-F5344CB8AC3E}">
        <p14:creationId xmlns:p14="http://schemas.microsoft.com/office/powerpoint/2010/main" val="2755778503"/>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Corporate Governance</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3600" dirty="0" smtClean="0">
                <a:latin typeface="Arial Rounded MT Bold" panose="020F0704030504030204" pitchFamily="34" charset="0"/>
              </a:rPr>
              <a:t>Effective governance reduces fraud risks.</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A115BC25-FB07-4FDA-B629-53DBB4E1B71B}"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53</a:t>
            </a:fld>
            <a:endParaRPr lang="en-US"/>
          </a:p>
        </p:txBody>
      </p:sp>
    </p:spTree>
    <p:extLst>
      <p:ext uri="{BB962C8B-B14F-4D97-AF65-F5344CB8AC3E}">
        <p14:creationId xmlns:p14="http://schemas.microsoft.com/office/powerpoint/2010/main" val="3153092663"/>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Role of Internal Audits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3600" dirty="0">
                <a:latin typeface="Arial Rounded MT Bold" panose="020F0704030504030204" pitchFamily="34" charset="0"/>
              </a:rPr>
              <a:t>Internal auditors help detect and prevent fraud.</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204D3C91-8EEC-44D7-8DD2-A5F312081F43}"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54</a:t>
            </a:fld>
            <a:endParaRPr lang="en-US"/>
          </a:p>
        </p:txBody>
      </p:sp>
    </p:spTree>
    <p:extLst>
      <p:ext uri="{BB962C8B-B14F-4D97-AF65-F5344CB8AC3E}">
        <p14:creationId xmlns:p14="http://schemas.microsoft.com/office/powerpoint/2010/main" val="365229721"/>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Whistleblower Programs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q"/>
            </a:pPr>
            <a:r>
              <a:rPr lang="en-US" sz="3600" dirty="0">
                <a:latin typeface="Arial Rounded MT Bold" panose="020F0704030504030204" pitchFamily="34" charset="0"/>
              </a:rPr>
              <a:t>Employees report suspicious activities anonymously.</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66ADB905-E59B-4E64-80B9-566DE009C2A8}"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55</a:t>
            </a:fld>
            <a:endParaRPr lang="en-US"/>
          </a:p>
        </p:txBody>
      </p:sp>
    </p:spTree>
    <p:extLst>
      <p:ext uri="{BB962C8B-B14F-4D97-AF65-F5344CB8AC3E}">
        <p14:creationId xmlns:p14="http://schemas.microsoft.com/office/powerpoint/2010/main" val="2467993876"/>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Major Fraud Case Study</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Corporate fraud example:</a:t>
            </a:r>
          </a:p>
          <a:p>
            <a:pPr lvl="1">
              <a:buFont typeface="Wingdings" panose="05000000000000000000" pitchFamily="2" charset="2"/>
              <a:buChar char="q"/>
            </a:pPr>
            <a:r>
              <a:rPr lang="en-US" sz="3600" dirty="0" smtClean="0">
                <a:latin typeface="Arial Rounded MT Bold" panose="020F0704030504030204" pitchFamily="34" charset="0"/>
              </a:rPr>
              <a:t>Enron</a:t>
            </a:r>
            <a:endParaRPr lang="en-US" sz="3600" dirty="0">
              <a:latin typeface="Arial Rounded MT Bold" panose="020F0704030504030204" pitchFamily="34" charset="0"/>
            </a:endParaRP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F938A66B-6528-4601-83D9-1DF860ED3C1E}"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56</a:t>
            </a:fld>
            <a:endParaRPr lang="en-US"/>
          </a:p>
        </p:txBody>
      </p:sp>
    </p:spTree>
    <p:extLst>
      <p:ext uri="{BB962C8B-B14F-4D97-AF65-F5344CB8AC3E}">
        <p14:creationId xmlns:p14="http://schemas.microsoft.com/office/powerpoint/2010/main" val="2895246131"/>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Lessons from Fraud Cases</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Lessons include:</a:t>
            </a:r>
          </a:p>
          <a:p>
            <a:pPr lvl="1">
              <a:buFont typeface="Wingdings" panose="05000000000000000000" pitchFamily="2" charset="2"/>
              <a:buChar char="q"/>
            </a:pPr>
            <a:r>
              <a:rPr lang="en-US" sz="3600" dirty="0" smtClean="0">
                <a:latin typeface="Arial Rounded MT Bold" panose="020F0704030504030204" pitchFamily="34" charset="0"/>
              </a:rPr>
              <a:t>importance </a:t>
            </a:r>
            <a:r>
              <a:rPr lang="en-US" sz="3600" dirty="0">
                <a:latin typeface="Arial Rounded MT Bold" panose="020F0704030504030204" pitchFamily="34" charset="0"/>
              </a:rPr>
              <a:t>of </a:t>
            </a:r>
            <a:r>
              <a:rPr lang="en-US" sz="3600" dirty="0" smtClean="0">
                <a:latin typeface="Arial Rounded MT Bold" panose="020F0704030504030204" pitchFamily="34" charset="0"/>
              </a:rPr>
              <a:t>transparency</a:t>
            </a:r>
          </a:p>
          <a:p>
            <a:pPr lvl="1">
              <a:buFont typeface="Wingdings" panose="05000000000000000000" pitchFamily="2" charset="2"/>
              <a:buChar char="q"/>
            </a:pPr>
            <a:r>
              <a:rPr lang="en-US" sz="3600" dirty="0" smtClean="0">
                <a:latin typeface="Arial Rounded MT Bold" panose="020F0704030504030204" pitchFamily="34" charset="0"/>
              </a:rPr>
              <a:t>stronger </a:t>
            </a:r>
            <a:r>
              <a:rPr lang="en-US" sz="3600" dirty="0">
                <a:latin typeface="Arial Rounded MT Bold" panose="020F0704030504030204" pitchFamily="34" charset="0"/>
              </a:rPr>
              <a:t>corporate </a:t>
            </a:r>
            <a:r>
              <a:rPr lang="en-US" sz="3600" dirty="0" smtClean="0">
                <a:latin typeface="Arial Rounded MT Bold" panose="020F0704030504030204" pitchFamily="34" charset="0"/>
              </a:rPr>
              <a:t>governance</a:t>
            </a:r>
          </a:p>
          <a:p>
            <a:pPr lvl="1">
              <a:buFont typeface="Wingdings" panose="05000000000000000000" pitchFamily="2" charset="2"/>
              <a:buChar char="q"/>
            </a:pPr>
            <a:r>
              <a:rPr lang="en-US" sz="3600" dirty="0" smtClean="0">
                <a:latin typeface="Arial Rounded MT Bold" panose="020F0704030504030204" pitchFamily="34" charset="0"/>
              </a:rPr>
              <a:t>stronger </a:t>
            </a:r>
            <a:r>
              <a:rPr lang="en-US" sz="3600" dirty="0">
                <a:latin typeface="Arial Rounded MT Bold" panose="020F0704030504030204" pitchFamily="34" charset="0"/>
              </a:rPr>
              <a:t>auditing practices</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EDE31EAA-AE64-4305-B17F-D457749D6B63}"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57</a:t>
            </a:fld>
            <a:endParaRPr lang="en-US"/>
          </a:p>
        </p:txBody>
      </p:sp>
    </p:spTree>
    <p:extLst>
      <p:ext uri="{BB962C8B-B14F-4D97-AF65-F5344CB8AC3E}">
        <p14:creationId xmlns:p14="http://schemas.microsoft.com/office/powerpoint/2010/main" val="3448160216"/>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Arial Rounded MT Bold" panose="020F0704030504030204" pitchFamily="34" charset="0"/>
              </a:rPr>
              <a:t>Challenges in Fraud Detection</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sz="3600" dirty="0">
                <a:latin typeface="Arial Rounded MT Bold" panose="020F0704030504030204" pitchFamily="34" charset="0"/>
              </a:rPr>
              <a:t>Organizations face:</a:t>
            </a:r>
          </a:p>
          <a:p>
            <a:pPr lvl="1">
              <a:buFont typeface="Wingdings" panose="05000000000000000000" pitchFamily="2" charset="2"/>
              <a:buChar char="q"/>
            </a:pPr>
            <a:r>
              <a:rPr lang="en-US" sz="3600" dirty="0" smtClean="0">
                <a:latin typeface="Arial Rounded MT Bold" panose="020F0704030504030204" pitchFamily="34" charset="0"/>
              </a:rPr>
              <a:t>sophisticated cybercrime</a:t>
            </a:r>
          </a:p>
          <a:p>
            <a:pPr lvl="1">
              <a:buFont typeface="Wingdings" panose="05000000000000000000" pitchFamily="2" charset="2"/>
              <a:buChar char="q"/>
            </a:pPr>
            <a:r>
              <a:rPr lang="en-US" sz="3600" dirty="0" smtClean="0">
                <a:latin typeface="Arial Rounded MT Bold" panose="020F0704030504030204" pitchFamily="34" charset="0"/>
              </a:rPr>
              <a:t>large </a:t>
            </a:r>
            <a:r>
              <a:rPr lang="en-US" sz="3600" dirty="0">
                <a:latin typeface="Arial Rounded MT Bold" panose="020F0704030504030204" pitchFamily="34" charset="0"/>
              </a:rPr>
              <a:t>volumes of </a:t>
            </a:r>
            <a:r>
              <a:rPr lang="en-US" sz="3600" dirty="0" smtClean="0">
                <a:latin typeface="Arial Rounded MT Bold" panose="020F0704030504030204" pitchFamily="34" charset="0"/>
              </a:rPr>
              <a:t>data</a:t>
            </a:r>
          </a:p>
          <a:p>
            <a:pPr lvl="1">
              <a:buFont typeface="Wingdings" panose="05000000000000000000" pitchFamily="2" charset="2"/>
              <a:buChar char="q"/>
            </a:pPr>
            <a:r>
              <a:rPr lang="en-US" sz="3600" dirty="0" smtClean="0">
                <a:latin typeface="Arial Rounded MT Bold" panose="020F0704030504030204" pitchFamily="34" charset="0"/>
              </a:rPr>
              <a:t>false positives</a:t>
            </a:r>
          </a:p>
          <a:p>
            <a:pPr lvl="1">
              <a:buFont typeface="Wingdings" panose="05000000000000000000" pitchFamily="2" charset="2"/>
              <a:buChar char="q"/>
            </a:pPr>
            <a:r>
              <a:rPr lang="en-US" sz="3600" dirty="0" smtClean="0">
                <a:latin typeface="Arial Rounded MT Bold" panose="020F0704030504030204" pitchFamily="34" charset="0"/>
              </a:rPr>
              <a:t>lack </a:t>
            </a:r>
            <a:r>
              <a:rPr lang="en-US" sz="3600" dirty="0">
                <a:latin typeface="Arial Rounded MT Bold" panose="020F0704030504030204" pitchFamily="34" charset="0"/>
              </a:rPr>
              <a:t>of experts</a:t>
            </a:r>
          </a:p>
          <a:p>
            <a:pPr marL="0" indent="0">
              <a:buNone/>
            </a:pPr>
            <a:endParaRPr lang="en-US" sz="3600"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E414095E-D5CB-4EF9-B092-B767680E531C}"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58</a:t>
            </a:fld>
            <a:endParaRPr lang="en-US"/>
          </a:p>
        </p:txBody>
      </p:sp>
    </p:spTree>
    <p:extLst>
      <p:ext uri="{BB962C8B-B14F-4D97-AF65-F5344CB8AC3E}">
        <p14:creationId xmlns:p14="http://schemas.microsoft.com/office/powerpoint/2010/main" val="1518264917"/>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Emerging Technologies</a:t>
            </a: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dirty="0"/>
              <a:t>Future fraud detection may include:</a:t>
            </a:r>
          </a:p>
          <a:p>
            <a:pPr lvl="1">
              <a:buFont typeface="Wingdings" panose="05000000000000000000" pitchFamily="2" charset="2"/>
              <a:buChar char="q"/>
            </a:pPr>
            <a:r>
              <a:rPr lang="en-US" dirty="0"/>
              <a:t>A</a:t>
            </a:r>
            <a:r>
              <a:rPr lang="en-US" dirty="0" smtClean="0"/>
              <a:t>rtificial Intelligence</a:t>
            </a:r>
          </a:p>
          <a:p>
            <a:pPr lvl="1">
              <a:buFont typeface="Wingdings" panose="05000000000000000000" pitchFamily="2" charset="2"/>
              <a:buChar char="q"/>
            </a:pPr>
            <a:r>
              <a:rPr lang="en-US" dirty="0" smtClean="0"/>
              <a:t>Blockchain</a:t>
            </a:r>
          </a:p>
          <a:p>
            <a:pPr lvl="1">
              <a:buFont typeface="Wingdings" panose="05000000000000000000" pitchFamily="2" charset="2"/>
              <a:buChar char="q"/>
            </a:pPr>
            <a:r>
              <a:rPr lang="en-US" dirty="0" smtClean="0"/>
              <a:t>Predictive Analytics</a:t>
            </a:r>
          </a:p>
          <a:p>
            <a:pPr marL="0" indent="0">
              <a:buNone/>
            </a:pPr>
            <a:endParaRPr lang="en-US" dirty="0"/>
          </a:p>
        </p:txBody>
      </p:sp>
      <p:sp>
        <p:nvSpPr>
          <p:cNvPr id="4" name="Date Placeholder 3"/>
          <p:cNvSpPr>
            <a:spLocks noGrp="1"/>
          </p:cNvSpPr>
          <p:nvPr>
            <p:ph type="dt" sz="half" idx="10"/>
          </p:nvPr>
        </p:nvSpPr>
        <p:spPr/>
        <p:txBody>
          <a:bodyPr/>
          <a:lstStyle/>
          <a:p>
            <a:fld id="{42D42B92-B268-45D2-84AE-EEA142352428}"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59</a:t>
            </a:fld>
            <a:endParaRPr lang="en-US"/>
          </a:p>
        </p:txBody>
      </p:sp>
    </p:spTree>
    <p:extLst>
      <p:ext uri="{BB962C8B-B14F-4D97-AF65-F5344CB8AC3E}">
        <p14:creationId xmlns:p14="http://schemas.microsoft.com/office/powerpoint/2010/main" val="764086806"/>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Rounded MT Bold" panose="020F0704030504030204" pitchFamily="34" charset="0"/>
              </a:rPr>
              <a:t>Lecture Summary</a:t>
            </a:r>
          </a:p>
        </p:txBody>
      </p:sp>
      <p:sp>
        <p:nvSpPr>
          <p:cNvPr id="3" name="Content Placeholder 2"/>
          <p:cNvSpPr>
            <a:spLocks noGrp="1"/>
          </p:cNvSpPr>
          <p:nvPr>
            <p:ph idx="1"/>
          </p:nvPr>
        </p:nvSpPr>
        <p:spPr/>
        <p:txBody>
          <a:bodyPr>
            <a:normAutofit/>
          </a:bodyPr>
          <a:lstStyle/>
          <a:p>
            <a:pPr>
              <a:buFont typeface="Wingdings" panose="05000000000000000000" pitchFamily="2" charset="2"/>
              <a:buChar char="v"/>
            </a:pPr>
            <a:r>
              <a:rPr lang="en-US" dirty="0"/>
              <a:t>Key takeaways:</a:t>
            </a:r>
          </a:p>
          <a:p>
            <a:pPr>
              <a:buFont typeface="Wingdings" panose="05000000000000000000" pitchFamily="2" charset="2"/>
              <a:buChar char="q"/>
            </a:pPr>
            <a:r>
              <a:rPr lang="en-US" dirty="0" smtClean="0"/>
              <a:t>Fraud </a:t>
            </a:r>
            <a:r>
              <a:rPr lang="en-US" dirty="0"/>
              <a:t>remains a major global </a:t>
            </a:r>
            <a:r>
              <a:rPr lang="en-US" dirty="0" smtClean="0"/>
              <a:t>challenge</a:t>
            </a:r>
          </a:p>
          <a:p>
            <a:pPr>
              <a:buFont typeface="Wingdings" panose="05000000000000000000" pitchFamily="2" charset="2"/>
              <a:buChar char="q"/>
            </a:pPr>
            <a:r>
              <a:rPr lang="en-US" dirty="0" smtClean="0"/>
              <a:t>Technology </a:t>
            </a:r>
            <a:r>
              <a:rPr lang="en-US" dirty="0"/>
              <a:t>plays a critical role in fraud </a:t>
            </a:r>
            <a:r>
              <a:rPr lang="en-US" dirty="0" smtClean="0"/>
              <a:t>detection</a:t>
            </a:r>
          </a:p>
          <a:p>
            <a:pPr>
              <a:buFont typeface="Wingdings" panose="05000000000000000000" pitchFamily="2" charset="2"/>
              <a:buChar char="q"/>
            </a:pPr>
            <a:r>
              <a:rPr lang="en-US" dirty="0" smtClean="0"/>
              <a:t>Effective </a:t>
            </a:r>
            <a:r>
              <a:rPr lang="en-US" dirty="0"/>
              <a:t>internal controls reduce fraud risks</a:t>
            </a:r>
          </a:p>
          <a:p>
            <a:pPr marL="0" indent="0">
              <a:buNone/>
            </a:pPr>
            <a:endParaRPr lang="en-US" dirty="0"/>
          </a:p>
        </p:txBody>
      </p:sp>
      <p:sp>
        <p:nvSpPr>
          <p:cNvPr id="4" name="Date Placeholder 3"/>
          <p:cNvSpPr>
            <a:spLocks noGrp="1"/>
          </p:cNvSpPr>
          <p:nvPr>
            <p:ph type="dt" sz="half" idx="10"/>
          </p:nvPr>
        </p:nvSpPr>
        <p:spPr/>
        <p:txBody>
          <a:bodyPr/>
          <a:lstStyle/>
          <a:p>
            <a:fld id="{38C089E8-4E08-415C-9382-3CB8B6210CD3}"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60</a:t>
            </a:fld>
            <a:endParaRPr lang="en-US"/>
          </a:p>
        </p:txBody>
      </p:sp>
    </p:spTree>
    <p:extLst>
      <p:ext uri="{BB962C8B-B14F-4D97-AF65-F5344CB8AC3E}">
        <p14:creationId xmlns:p14="http://schemas.microsoft.com/office/powerpoint/2010/main" val="3252053645"/>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Arial Rounded MT Bold" panose="020F0704030504030204" pitchFamily="34" charset="0"/>
              </a:rPr>
              <a:t>references</a:t>
            </a:r>
            <a:endParaRPr lang="en-US" dirty="0">
              <a:latin typeface="Arial Rounded MT Bold" panose="020F0704030504030204" pitchFamily="34" charset="0"/>
            </a:endParaRPr>
          </a:p>
        </p:txBody>
      </p:sp>
      <p:sp>
        <p:nvSpPr>
          <p:cNvPr id="3" name="Content Placeholder 2"/>
          <p:cNvSpPr>
            <a:spLocks noGrp="1"/>
          </p:cNvSpPr>
          <p:nvPr>
            <p:ph idx="1"/>
          </p:nvPr>
        </p:nvSpPr>
        <p:spPr/>
        <p:txBody>
          <a:bodyPr>
            <a:normAutofit fontScale="92500" lnSpcReduction="20000"/>
          </a:bodyPr>
          <a:lstStyle/>
          <a:p>
            <a:pPr marL="514350" indent="-514350">
              <a:buFont typeface="+mj-lt"/>
              <a:buAutoNum type="arabicPeriod"/>
            </a:pPr>
            <a:r>
              <a:rPr lang="en-US" dirty="0" err="1">
                <a:latin typeface="Arial Rounded MT Bold" panose="020F0704030504030204" pitchFamily="34" charset="0"/>
              </a:rPr>
              <a:t>Baesens</a:t>
            </a:r>
            <a:r>
              <a:rPr lang="en-US" dirty="0">
                <a:latin typeface="Arial Rounded MT Bold" panose="020F0704030504030204" pitchFamily="34" charset="0"/>
              </a:rPr>
              <a:t>, B., Van </a:t>
            </a:r>
            <a:r>
              <a:rPr lang="en-US" dirty="0" err="1">
                <a:latin typeface="Arial Rounded MT Bold" panose="020F0704030504030204" pitchFamily="34" charset="0"/>
              </a:rPr>
              <a:t>Vlasselaer</a:t>
            </a:r>
            <a:r>
              <a:rPr lang="en-US" dirty="0">
                <a:latin typeface="Arial Rounded MT Bold" panose="020F0704030504030204" pitchFamily="34" charset="0"/>
              </a:rPr>
              <a:t>, V., &amp; </a:t>
            </a:r>
            <a:r>
              <a:rPr lang="en-US" dirty="0" err="1">
                <a:latin typeface="Arial Rounded MT Bold" panose="020F0704030504030204" pitchFamily="34" charset="0"/>
              </a:rPr>
              <a:t>Verbeke</a:t>
            </a:r>
            <a:r>
              <a:rPr lang="en-US" dirty="0">
                <a:latin typeface="Arial Rounded MT Bold" panose="020F0704030504030204" pitchFamily="34" charset="0"/>
              </a:rPr>
              <a:t>, W. (2015). Fraud Analytics Using Descriptive, Predictive, and Social Network </a:t>
            </a:r>
            <a:r>
              <a:rPr lang="en-US" dirty="0" smtClean="0">
                <a:latin typeface="Arial Rounded MT Bold" panose="020F0704030504030204" pitchFamily="34" charset="0"/>
              </a:rPr>
              <a:t>Techniques.</a:t>
            </a:r>
          </a:p>
          <a:p>
            <a:pPr marL="514350" indent="-514350">
              <a:buFont typeface="+mj-lt"/>
              <a:buAutoNum type="arabicPeriod"/>
            </a:pPr>
            <a:r>
              <a:rPr lang="en-US" dirty="0" smtClean="0">
                <a:latin typeface="Arial Rounded MT Bold" panose="020F0704030504030204" pitchFamily="34" charset="0"/>
              </a:rPr>
              <a:t>Singleton</a:t>
            </a:r>
            <a:r>
              <a:rPr lang="en-US" dirty="0">
                <a:latin typeface="Arial Rounded MT Bold" panose="020F0704030504030204" pitchFamily="34" charset="0"/>
              </a:rPr>
              <a:t>, T., &amp; Singleton, A. (2010). Fraud Auditing and Forensic </a:t>
            </a:r>
            <a:r>
              <a:rPr lang="en-US" dirty="0" smtClean="0">
                <a:latin typeface="Arial Rounded MT Bold" panose="020F0704030504030204" pitchFamily="34" charset="0"/>
              </a:rPr>
              <a:t>Accounting.</a:t>
            </a:r>
          </a:p>
          <a:p>
            <a:pPr marL="514350" indent="-514350">
              <a:buFont typeface="+mj-lt"/>
              <a:buAutoNum type="arabicPeriod"/>
            </a:pPr>
            <a:r>
              <a:rPr lang="en-US" dirty="0" smtClean="0">
                <a:latin typeface="Arial Rounded MT Bold" panose="020F0704030504030204" pitchFamily="34" charset="0"/>
              </a:rPr>
              <a:t>Association </a:t>
            </a:r>
            <a:r>
              <a:rPr lang="en-US" dirty="0">
                <a:latin typeface="Arial Rounded MT Bold" panose="020F0704030504030204" pitchFamily="34" charset="0"/>
              </a:rPr>
              <a:t>of Certified Fraud Examiners (ACFE). Report to the Nations on Occupational </a:t>
            </a:r>
            <a:r>
              <a:rPr lang="en-US" dirty="0" smtClean="0">
                <a:latin typeface="Arial Rounded MT Bold" panose="020F0704030504030204" pitchFamily="34" charset="0"/>
              </a:rPr>
              <a:t>Fraud.</a:t>
            </a:r>
          </a:p>
          <a:p>
            <a:pPr marL="514350" indent="-514350">
              <a:buFont typeface="+mj-lt"/>
              <a:buAutoNum type="arabicPeriod"/>
            </a:pPr>
            <a:r>
              <a:rPr lang="en-US" dirty="0" smtClean="0">
                <a:latin typeface="Arial Rounded MT Bold" panose="020F0704030504030204" pitchFamily="34" charset="0"/>
              </a:rPr>
              <a:t>Wells</a:t>
            </a:r>
            <a:r>
              <a:rPr lang="en-US" dirty="0">
                <a:latin typeface="Arial Rounded MT Bold" panose="020F0704030504030204" pitchFamily="34" charset="0"/>
              </a:rPr>
              <a:t>, J. T. (2017). Corporate Fraud Handbook.</a:t>
            </a:r>
            <a:endParaRPr lang="en-US" dirty="0">
              <a:latin typeface="Arial Rounded MT Bold" panose="020F0704030504030204" pitchFamily="34" charset="0"/>
            </a:endParaRPr>
          </a:p>
          <a:p>
            <a:pPr marL="0" indent="0">
              <a:buNone/>
            </a:pPr>
            <a:endParaRPr lang="en-US"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BD67307A-CA84-4C6A-A306-5CC4A827B8F1}"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61</a:t>
            </a:fld>
            <a:endParaRPr lang="en-US"/>
          </a:p>
        </p:txBody>
      </p:sp>
    </p:spTree>
    <p:extLst>
      <p:ext uri="{BB962C8B-B14F-4D97-AF65-F5344CB8AC3E}">
        <p14:creationId xmlns:p14="http://schemas.microsoft.com/office/powerpoint/2010/main" val="1778100801"/>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Arial Rounded MT Bold" panose="020F0704030504030204" pitchFamily="34" charset="0"/>
              </a:rPr>
              <a:t>Thank you for your kind attention!!!</a:t>
            </a:r>
            <a:endParaRPr lang="en-US" dirty="0">
              <a:latin typeface="Arial Rounded MT Bold" panose="020F0704030504030204" pitchFamily="34" charset="0"/>
            </a:endParaRPr>
          </a:p>
        </p:txBody>
      </p:sp>
      <p:sp>
        <p:nvSpPr>
          <p:cNvPr id="3" name="Content Placeholder 2"/>
          <p:cNvSpPr>
            <a:spLocks noGrp="1"/>
          </p:cNvSpPr>
          <p:nvPr>
            <p:ph idx="1"/>
          </p:nvPr>
        </p:nvSpPr>
        <p:spPr/>
        <p:txBody>
          <a:bodyPr/>
          <a:lstStyle/>
          <a:p>
            <a:pPr marL="0" indent="0" algn="ctr">
              <a:buNone/>
            </a:pPr>
            <a:r>
              <a:rPr lang="en-US" dirty="0" smtClean="0">
                <a:latin typeface="Arial Rounded MT Bold" panose="020F0704030504030204" pitchFamily="34" charset="0"/>
              </a:rPr>
              <a:t>SHALOM</a:t>
            </a:r>
            <a:endParaRPr lang="en-US" dirty="0">
              <a:latin typeface="Arial Rounded MT Bold" panose="020F0704030504030204" pitchFamily="34" charset="0"/>
            </a:endParaRPr>
          </a:p>
        </p:txBody>
      </p:sp>
      <p:sp>
        <p:nvSpPr>
          <p:cNvPr id="4" name="Date Placeholder 3"/>
          <p:cNvSpPr>
            <a:spLocks noGrp="1"/>
          </p:cNvSpPr>
          <p:nvPr>
            <p:ph type="dt" sz="half" idx="10"/>
          </p:nvPr>
        </p:nvSpPr>
        <p:spPr/>
        <p:txBody>
          <a:bodyPr/>
          <a:lstStyle/>
          <a:p>
            <a:fld id="{BD67307A-CA84-4C6A-A306-5CC4A827B8F1}" type="datetime1">
              <a:rPr lang="en-US" smtClean="0"/>
              <a:t>3/15/2026</a:t>
            </a:fld>
            <a:endParaRPr lang="en-US"/>
          </a:p>
        </p:txBody>
      </p:sp>
      <p:sp>
        <p:nvSpPr>
          <p:cNvPr id="5" name="Footer Placeholder 4"/>
          <p:cNvSpPr>
            <a:spLocks noGrp="1"/>
          </p:cNvSpPr>
          <p:nvPr>
            <p:ph type="ftr" sz="quarter" idx="11"/>
          </p:nvPr>
        </p:nvSpPr>
        <p:spPr/>
        <p:txBody>
          <a:bodyPr/>
          <a:lstStyle/>
          <a:p>
            <a:r>
              <a:rPr lang="fi-FI" smtClean="0"/>
              <a:t>CYS339 KAPASA MAKASA UNIVERSITY 2026</a:t>
            </a:r>
            <a:endParaRPr lang="en-US"/>
          </a:p>
        </p:txBody>
      </p:sp>
      <p:sp>
        <p:nvSpPr>
          <p:cNvPr id="6" name="Slide Number Placeholder 5"/>
          <p:cNvSpPr>
            <a:spLocks noGrp="1"/>
          </p:cNvSpPr>
          <p:nvPr>
            <p:ph type="sldNum" sz="quarter" idx="12"/>
          </p:nvPr>
        </p:nvSpPr>
        <p:spPr/>
        <p:txBody>
          <a:bodyPr/>
          <a:lstStyle/>
          <a:p>
            <a:fld id="{0F8B6CD3-0BD5-405C-8927-ED0B8D0D8A54}" type="slidenum">
              <a:rPr lang="en-US" smtClean="0"/>
              <a:t>62</a:t>
            </a:fld>
            <a:endParaRPr lang="en-US"/>
          </a:p>
        </p:txBody>
      </p:sp>
    </p:spTree>
    <p:extLst>
      <p:ext uri="{BB962C8B-B14F-4D97-AF65-F5344CB8AC3E}">
        <p14:creationId xmlns:p14="http://schemas.microsoft.com/office/powerpoint/2010/main" val="1902306871"/>
      </p:ext>
    </p:extLst>
  </p:cSld>
  <p:clrMapOvr>
    <a:masterClrMapping/>
  </p:clrMapOvr>
  <mc:AlternateContent xmlns:mc="http://schemas.openxmlformats.org/markup-compatibility/2006">
    <mc:Choice xmlns:p14="http://schemas.microsoft.com/office/powerpoint/2010/main" Requires="p14">
      <p:transition spd="slow" p14:dur="1200">
        <p14:prism/>
        <p:sndAc>
          <p:stSnd>
            <p:snd r:embed="rId2" name="whoosh.wav"/>
          </p:stSnd>
        </p:sndAc>
      </p:transition>
    </mc:Choice>
    <mc:Fallback>
      <p:transition spd="slow">
        <p:fade/>
        <p:sndAc>
          <p:stSnd>
            <p:snd r:embed="rId2" name="whoosh.wav"/>
          </p:stSnd>
        </p:sndAc>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361</TotalTime>
  <Words>1500</Words>
  <Application>Microsoft Office PowerPoint</Application>
  <PresentationFormat>On-screen Show (4:3)</PresentationFormat>
  <Paragraphs>499</Paragraphs>
  <Slides>62</Slides>
  <Notes>7</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Office Theme</vt:lpstr>
      <vt:lpstr> Fraud and Detection Technologies Course Code: CYS 339    </vt:lpstr>
      <vt:lpstr>Course Overview</vt:lpstr>
      <vt:lpstr>Course Learning Objectives</vt:lpstr>
      <vt:lpstr>Importance of Fraud Studies</vt:lpstr>
      <vt:lpstr>Definition of Fraud</vt:lpstr>
      <vt:lpstr>  Characteristics of Fraud   </vt:lpstr>
      <vt:lpstr>Impact of Fraud</vt:lpstr>
      <vt:lpstr>Sectors Affected by Fraud</vt:lpstr>
      <vt:lpstr>Fraud in Ancient Societies</vt:lpstr>
      <vt:lpstr>Fraud During Industrial Revolution</vt:lpstr>
      <vt:lpstr>The Ponzi Scheme</vt:lpstr>
      <vt:lpstr>Modern Fraud Evolution</vt:lpstr>
      <vt:lpstr>Understanding Fraud Behavior</vt:lpstr>
      <vt:lpstr>Major Fraud Theories</vt:lpstr>
      <vt:lpstr>Fraud Triangle Theory</vt:lpstr>
      <vt:lpstr>Fraud Triangle Diagram</vt:lpstr>
      <vt:lpstr>Pressure</vt:lpstr>
      <vt:lpstr>Opportunity</vt:lpstr>
      <vt:lpstr> Rationalization </vt:lpstr>
      <vt:lpstr>  Fraud Diamond Theory   </vt:lpstr>
      <vt:lpstr> Capability </vt:lpstr>
      <vt:lpstr>Major Fraud Categories</vt:lpstr>
      <vt:lpstr>Asset Misappropriation</vt:lpstr>
      <vt:lpstr> Occupational Fraud </vt:lpstr>
      <vt:lpstr>Financial Statement Fraud</vt:lpstr>
      <vt:lpstr> Corruption </vt:lpstr>
      <vt:lpstr>Cyber Fraud</vt:lpstr>
      <vt:lpstr>Fraud Risk Management</vt:lpstr>
      <vt:lpstr>Fraud Risk Management Steps</vt:lpstr>
      <vt:lpstr>Risk Assessment Techniques</vt:lpstr>
      <vt:lpstr>Introduction to Fraud Detection Technologies</vt:lpstr>
      <vt:lpstr>Transaction Monitoring Systems</vt:lpstr>
      <vt:lpstr>Rule-Based Detection Systems</vt:lpstr>
      <vt:lpstr>Anomaly Detection</vt:lpstr>
      <vt:lpstr>Statistical Analysis</vt:lpstr>
      <vt:lpstr>Artificial Intelligence in Fraud Detection</vt:lpstr>
      <vt:lpstr>AI Applications</vt:lpstr>
      <vt:lpstr>Benefits of AI</vt:lpstr>
      <vt:lpstr>Machine Learning Overview</vt:lpstr>
      <vt:lpstr>Machine Learning Algorithms</vt:lpstr>
      <vt:lpstr>Machine Learning Workflow</vt:lpstr>
      <vt:lpstr>Big Data in Fraud Detection</vt:lpstr>
      <vt:lpstr>Data Sources</vt:lpstr>
      <vt:lpstr>Digital Forensics</vt:lpstr>
      <vt:lpstr>Areas of Digital Forensics</vt:lpstr>
      <vt:lpstr>Importance of Digital Evidence</vt:lpstr>
      <vt:lpstr>Digital Forensic Tools</vt:lpstr>
      <vt:lpstr>Fraud Investigation Process</vt:lpstr>
      <vt:lpstr>Investigation Techniques</vt:lpstr>
      <vt:lpstr>Evidence Handling</vt:lpstr>
      <vt:lpstr>Fraud Prevention Strategies</vt:lpstr>
      <vt:lpstr>Internal Controls</vt:lpstr>
      <vt:lpstr>Corporate Governance</vt:lpstr>
      <vt:lpstr>Role of Internal Audits</vt:lpstr>
      <vt:lpstr>Whistleblower Programs</vt:lpstr>
      <vt:lpstr>Major Fraud Case Study</vt:lpstr>
      <vt:lpstr>Lessons from Fraud Cases</vt:lpstr>
      <vt:lpstr>Challenges in Fraud Detection</vt:lpstr>
      <vt:lpstr>Emerging Technologies</vt:lpstr>
      <vt:lpstr>Lecture Summary</vt:lpstr>
      <vt:lpstr>references</vt:lpstr>
      <vt:lpstr>Thank you for your kind attention!!!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and Detection Technologies Course Code: CYS 339</dc:title>
  <dc:creator>User</dc:creator>
  <cp:lastModifiedBy>User</cp:lastModifiedBy>
  <cp:revision>33</cp:revision>
  <dcterms:created xsi:type="dcterms:W3CDTF">2026-03-15T11:35:16Z</dcterms:created>
  <dcterms:modified xsi:type="dcterms:W3CDTF">2026-03-15T21:59:58Z</dcterms:modified>
</cp:coreProperties>
</file>