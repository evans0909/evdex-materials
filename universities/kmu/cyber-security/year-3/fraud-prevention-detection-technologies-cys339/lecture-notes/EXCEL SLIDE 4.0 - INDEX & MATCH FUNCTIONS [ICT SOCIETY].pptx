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56" r:id="rId2"/>
    <p:sldId id="271" r:id="rId3"/>
    <p:sldId id="273" r:id="rId4"/>
    <p:sldId id="268" r:id="rId5"/>
    <p:sldId id="275" r:id="rId6"/>
    <p:sldId id="270" r:id="rId7"/>
    <p:sldId id="272" r:id="rId8"/>
    <p:sldId id="27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68" d="100"/>
          <a:sy n="68" d="100"/>
        </p:scale>
        <p:origin x="6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4A702-0C6E-4141-9773-96B722DFA759}" type="datetimeFigureOut">
              <a:rPr lang="LID4096" smtClean="0"/>
              <a:t>03/30/2025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FFCB3-7DC5-48B6-B107-8DFFD1E9BD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992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56ECC43-C495-4E09-AD36-660C4F5BBD77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5018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CE5F-C897-4449-A901-0D2259A52002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154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4F77-E868-4582-AF29-EEABA67C5D08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405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ED5D-A069-40FC-87D7-C8055602FAD9}" type="datetime1">
              <a:rPr lang="LID4096" smtClean="0"/>
              <a:t>03/30/2025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21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C2EB4-684D-4F76-ABE3-EF238DC094E4}" type="datetime1">
              <a:rPr lang="LID4096" smtClean="0"/>
              <a:t>03/30/2025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457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630EC-9DA1-4DCE-810B-0F58B5038704}" type="datetime1">
              <a:rPr lang="LID4096" smtClean="0"/>
              <a:t>03/30/2025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505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5C4B-00CB-4A9B-89AF-C4095F81715F}" type="datetime1">
              <a:rPr lang="LID4096" smtClean="0"/>
              <a:t>03/30/2025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241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141C-5AFF-46FA-9017-7A79F06752A8}" type="datetime1">
              <a:rPr lang="LID4096" smtClean="0"/>
              <a:t>03/30/2025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61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E203-EFD3-4608-958A-B13011347BE3}" type="datetime1">
              <a:rPr lang="LID4096" smtClean="0"/>
              <a:t>03/30/2025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982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24F2-BC0F-49DB-9172-252862E8DAB2}" type="datetime1">
              <a:rPr lang="LID4096" smtClean="0"/>
              <a:t>03/30/2025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13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E75-486A-483D-9848-A78EA8E60F7C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5037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3908B-7E5E-4FAB-8E22-866B9339FF33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7253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CD14-D36A-4FE0-8A63-CBE22C48A7C8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5525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E2E57-62F9-4BC0-B28F-2B8D6647B1AC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638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F1E9-0FCE-4446-9AAA-CDB727694F31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9107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A3F6-C9A2-4C28-AD7E-87937D34B0F2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0671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25FF6-9F98-4E84-84E6-78F57397EA8A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664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FF0478-4918-4CE6-9B4F-BFE2E2897720}" type="datetime1">
              <a:rPr lang="LID4096" smtClean="0"/>
              <a:t>03/30/2025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2070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A3B85-9D02-48FA-BD3F-348BEEF17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7000" b="1" dirty="0">
                <a:solidFill>
                  <a:srgbClr val="00B050"/>
                </a:solidFill>
                <a:latin typeface="Bahnschrift" panose="020B0502040204020203" pitchFamily="34" charset="0"/>
              </a:rPr>
              <a:t>EXCEL</a:t>
            </a:r>
            <a:endParaRPr lang="LID4096" sz="170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D56AC-FBBF-4911-B478-8DDE112BF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6600" b="1" dirty="0">
                <a:latin typeface="Bahnschrift" panose="020B0502040204020203" pitchFamily="34" charset="0"/>
              </a:rPr>
              <a:t>INDEX &amp; MATCH</a:t>
            </a:r>
            <a:endParaRPr lang="LID4096" sz="6600" b="1" dirty="0"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D516A-8576-4F7B-839B-28E1613B7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69" y="697624"/>
            <a:ext cx="5715000" cy="5715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757A-1D47-4E4E-B3EE-A8C3E7DB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C60B9-E6F4-4D80-BB5D-1BC8F453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6904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9CA1-452B-4559-8C79-7ABAAABE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INDEX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CD88B-C46A-425B-83B3-87AEF889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The </a:t>
            </a:r>
            <a:r>
              <a:rPr lang="en-US" b="1" dirty="0">
                <a:latin typeface="Bahnschrift" panose="020B0502040204020203" pitchFamily="34" charset="0"/>
              </a:rPr>
              <a:t>INDEX</a:t>
            </a:r>
            <a:r>
              <a:rPr lang="en-US" dirty="0">
                <a:latin typeface="Bahnschrift" panose="020B0502040204020203" pitchFamily="34" charset="0"/>
              </a:rPr>
              <a:t> function in Excel is used to return the value of a cell at a specified row and column within a given 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The syntax is </a:t>
            </a:r>
            <a:r>
              <a:rPr lang="pt-BR" b="1" dirty="0">
                <a:latin typeface="Bahnschrift" panose="020B0502040204020203" pitchFamily="34" charset="0"/>
              </a:rPr>
              <a:t>INDEX(array, row_num, [column_num])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array</a:t>
            </a:r>
            <a:r>
              <a:rPr lang="en-US" dirty="0">
                <a:latin typeface="Bahnschrift" panose="020B0502040204020203" pitchFamily="34" charset="0"/>
              </a:rPr>
              <a:t> – The range of cells from which to return a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row_num </a:t>
            </a:r>
            <a:r>
              <a:rPr lang="en-US" dirty="0">
                <a:latin typeface="Bahnschrift" panose="020B0502040204020203" pitchFamily="34" charset="0"/>
              </a:rPr>
              <a:t>– The row number within the array from which to retrieve a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column_num (optional) </a:t>
            </a:r>
            <a:r>
              <a:rPr lang="en-US" dirty="0">
                <a:latin typeface="Bahnschrift" panose="020B0502040204020203" pitchFamily="34" charset="0"/>
              </a:rPr>
              <a:t>– The column number within the array (if omitted, it defaults to 1).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A868C-E583-4141-85DD-ABF26F9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A9B8A-353E-4231-B2AF-5BFC18EB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14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789B-1528-407D-A436-49B7E3F0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INDEX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5668B-8C21-4899-9A23-28AFAED365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FC0D69-6029-4747-A48A-3D0E671FC0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 Note that our target is </a:t>
            </a:r>
            <a:r>
              <a:rPr lang="en-US" sz="2800" b="1" dirty="0"/>
              <a:t>147</a:t>
            </a:r>
          </a:p>
          <a:p>
            <a:r>
              <a:rPr lang="en-US" sz="2800" dirty="0"/>
              <a:t> Based on our section </a:t>
            </a:r>
            <a:r>
              <a:rPr lang="en-US" sz="2800" b="1" dirty="0"/>
              <a:t>B4:G10</a:t>
            </a:r>
            <a:r>
              <a:rPr lang="en-US" sz="2800" dirty="0"/>
              <a:t>, </a:t>
            </a:r>
            <a:r>
              <a:rPr lang="en-US" sz="2800" b="1" dirty="0"/>
              <a:t>147</a:t>
            </a:r>
            <a:r>
              <a:rPr lang="en-US" sz="2800" dirty="0"/>
              <a:t> is in row </a:t>
            </a:r>
            <a:r>
              <a:rPr lang="en-US" sz="2800" b="1" dirty="0"/>
              <a:t>2</a:t>
            </a:r>
            <a:r>
              <a:rPr lang="en-US" sz="2800" dirty="0"/>
              <a:t> column </a:t>
            </a:r>
            <a:r>
              <a:rPr lang="en-US" sz="2800" b="1" dirty="0"/>
              <a:t>3</a:t>
            </a:r>
            <a:r>
              <a:rPr lang="en-US" sz="2800" dirty="0"/>
              <a:t>.</a:t>
            </a:r>
            <a:endParaRPr lang="LID4096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42FDB-F13C-4C7C-8789-6C37EFBF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72C82-724D-457F-832B-E3ECD320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3</a:t>
            </a:fld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A1C533-3B10-4B5A-B502-652627B02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5" y="1595220"/>
            <a:ext cx="3981655" cy="42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33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88A5-7A49-44CF-94D3-4A8EB41D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MATCH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6B845-B156-4F61-A9AA-406A2C31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5D6D3-51F6-4D0D-B7F3-792631AB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4</a:t>
            </a:fld>
            <a:endParaRPr lang="LID4096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46349-D4DD-4AE2-9272-8526E6570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The </a:t>
            </a:r>
            <a:r>
              <a:rPr lang="en-US" b="1" dirty="0">
                <a:latin typeface="Bahnschrift" panose="020B0502040204020203" pitchFamily="34" charset="0"/>
              </a:rPr>
              <a:t>MATCH</a:t>
            </a:r>
            <a:r>
              <a:rPr lang="en-US" dirty="0">
                <a:latin typeface="Bahnschrift" panose="020B0502040204020203" pitchFamily="34" charset="0"/>
              </a:rPr>
              <a:t> function in Excel is used to find the position of a value in a row or column.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It returns the relative position of the lookup value, not the actual value itself.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Bahnschrift" panose="020B0502040204020203" pitchFamily="34" charset="0"/>
              </a:rPr>
              <a:t>The syntax is </a:t>
            </a:r>
            <a:r>
              <a:rPr lang="en-US" b="1" dirty="0">
                <a:latin typeface="Bahnschrift" panose="020B0502040204020203" pitchFamily="34" charset="0"/>
              </a:rPr>
              <a:t>MATCH(lookup_value, lookup_array, [match_type])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lookup_value </a:t>
            </a:r>
            <a:r>
              <a:rPr lang="en-US" dirty="0">
                <a:latin typeface="Bahnschrift" panose="020B0502040204020203" pitchFamily="34" charset="0"/>
              </a:rPr>
              <a:t>– The value you want to find.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lookup_array </a:t>
            </a:r>
            <a:r>
              <a:rPr lang="en-US" dirty="0">
                <a:latin typeface="Bahnschrift" panose="020B0502040204020203" pitchFamily="34" charset="0"/>
              </a:rPr>
              <a:t>– The range of cells where you want to 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match_type (optional)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1</a:t>
            </a:r>
            <a:r>
              <a:rPr lang="en-US" dirty="0">
                <a:latin typeface="Bahnschrift" panose="020B0502040204020203" pitchFamily="34" charset="0"/>
              </a:rPr>
              <a:t> (default) – Finds the largest value less than or equal to lookup_value (array must be sorted in ascending order).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0</a:t>
            </a:r>
            <a:r>
              <a:rPr lang="en-US" dirty="0">
                <a:latin typeface="Bahnschrift" panose="020B0502040204020203" pitchFamily="34" charset="0"/>
              </a:rPr>
              <a:t> – Finds the exact match.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-1</a:t>
            </a:r>
            <a:r>
              <a:rPr lang="en-US" dirty="0">
                <a:latin typeface="Bahnschrift" panose="020B0502040204020203" pitchFamily="34" charset="0"/>
              </a:rPr>
              <a:t> – Finds the smallest value greater than or equal to lookup_value (array must be sorted in descending order).</a:t>
            </a:r>
            <a:endParaRPr lang="LID4096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81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789B-1528-407D-A436-49B7E3F0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MATCH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5668B-8C21-4899-9A23-28AFAED365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FC0D69-6029-4747-A48A-3D0E671FC0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 Note that our target is </a:t>
            </a:r>
            <a:r>
              <a:rPr lang="en-US" sz="2800" b="1" dirty="0"/>
              <a:t>SCAM</a:t>
            </a:r>
          </a:p>
          <a:p>
            <a:r>
              <a:rPr lang="en-US" sz="2800" dirty="0"/>
              <a:t> Based on our section </a:t>
            </a:r>
            <a:r>
              <a:rPr lang="en-US" sz="2800" b="1" dirty="0"/>
              <a:t>B3:G3</a:t>
            </a:r>
            <a:r>
              <a:rPr lang="en-US" sz="2800" dirty="0"/>
              <a:t>, </a:t>
            </a:r>
            <a:r>
              <a:rPr lang="en-US" sz="2800" b="1" dirty="0"/>
              <a:t>SCAM</a:t>
            </a:r>
            <a:r>
              <a:rPr lang="en-US" sz="2800" dirty="0"/>
              <a:t> is on position number 5.</a:t>
            </a:r>
            <a:endParaRPr lang="LID4096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42FDB-F13C-4C7C-8789-6C37EFBF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72C82-724D-457F-832B-E3ECD320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5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15B9E2-B2B2-42FD-A664-ABDE17110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773" y="1595220"/>
            <a:ext cx="3981655" cy="42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8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9CA1-452B-4559-8C79-7ABAAABE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INDEX &amp; MATCH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CD88B-C46A-425B-83B3-87AEF889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The </a:t>
            </a:r>
            <a:r>
              <a:rPr lang="en-US" b="1" dirty="0">
                <a:latin typeface="Bahnschrift" panose="020B0502040204020203" pitchFamily="34" charset="0"/>
              </a:rPr>
              <a:t>INDEX</a:t>
            </a:r>
            <a:r>
              <a:rPr lang="en-US" dirty="0">
                <a:latin typeface="Bahnschrift" panose="020B0502040204020203" pitchFamily="34" charset="0"/>
              </a:rPr>
              <a:t> and </a:t>
            </a:r>
            <a:r>
              <a:rPr lang="en-US" b="1" dirty="0">
                <a:latin typeface="Bahnschrift" panose="020B0502040204020203" pitchFamily="34" charset="0"/>
              </a:rPr>
              <a:t>MATCH</a:t>
            </a:r>
            <a:r>
              <a:rPr lang="en-US" dirty="0">
                <a:latin typeface="Bahnschrift" panose="020B0502040204020203" pitchFamily="34" charset="0"/>
              </a:rPr>
              <a:t> functions are often combined to create a more flexible and powerful alternative to </a:t>
            </a:r>
            <a:r>
              <a:rPr lang="en-US" b="1" dirty="0">
                <a:latin typeface="Bahnschrift" panose="020B0502040204020203" pitchFamily="34" charset="0"/>
              </a:rPr>
              <a:t>VLOOKUP</a:t>
            </a:r>
            <a:r>
              <a:rPr lang="en-US" dirty="0">
                <a:latin typeface="Bahnschrift" panose="020B0502040204020203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The syntax is </a:t>
            </a:r>
            <a:r>
              <a:rPr lang="en-US" b="1" dirty="0">
                <a:latin typeface="Bahnschrift" panose="020B0502040204020203" pitchFamily="34" charset="0"/>
              </a:rPr>
              <a:t>=INDEX(return_range, MATCH(lookup_value, lookup_column, 0))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" panose="020B0502040204020203" pitchFamily="34" charset="0"/>
              </a:rPr>
              <a:t> </a:t>
            </a:r>
            <a:r>
              <a:rPr lang="en-US" dirty="0">
                <a:latin typeface="Bahnschrift" panose="020B0502040204020203" pitchFamily="34" charset="0"/>
              </a:rPr>
              <a:t>It can be used in </a:t>
            </a:r>
            <a:r>
              <a:rPr lang="en-US" b="1" dirty="0">
                <a:latin typeface="Bahnschrift" panose="020B0502040204020203" pitchFamily="34" charset="0"/>
              </a:rPr>
              <a:t>Fraud Prevention &amp; Detection Technologies </a:t>
            </a:r>
            <a:r>
              <a:rPr lang="en-US" dirty="0">
                <a:latin typeface="Bahnschrift" panose="020B0502040204020203" pitchFamily="34" charset="0"/>
              </a:rPr>
              <a:t>to;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latin typeface="Bahnschrift" panose="020B0502040204020203" pitchFamily="34" charset="0"/>
              </a:rPr>
              <a:t>Detecting Duplicate Transactions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latin typeface="Bahnschrift" panose="020B0502040204020203" pitchFamily="34" charset="0"/>
              </a:rPr>
              <a:t>Identifying Suspicious Customers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latin typeface="Bahnschrift" panose="020B0502040204020203" pitchFamily="34" charset="0"/>
              </a:rPr>
              <a:t>Cross-Referencing Blacklisted Accounts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latin typeface="Bahnschrift" panose="020B0502040204020203" pitchFamily="34" charset="0"/>
              </a:rPr>
              <a:t>Analyzing Fraudulent Patterns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A868C-E583-4141-85DD-ABF26F9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A9B8A-353E-4231-B2AF-5BFC18EB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5174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C12816E-F258-4FBD-B405-4F5E56A0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INDEX &amp; MATCH (Continues…)</a:t>
            </a:r>
            <a:endParaRPr lang="LID4096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90322F-0E0F-4AB7-ABB6-DA6F2636CB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A3266C-243E-41B4-9DAD-EE6D77A11B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Bahnschrift" panose="020B0502040204020203" pitchFamily="34" charset="0"/>
              </a:rPr>
              <a:t>Our target array is </a:t>
            </a:r>
            <a:r>
              <a:rPr lang="en-US" b="1" dirty="0">
                <a:latin typeface="Bahnschrift" panose="020B0502040204020203" pitchFamily="34" charset="0"/>
              </a:rPr>
              <a:t>B4:G10</a:t>
            </a:r>
          </a:p>
          <a:p>
            <a:r>
              <a:rPr lang="en-US" dirty="0">
                <a:latin typeface="Bahnschrift" panose="020B0502040204020203" pitchFamily="34" charset="0"/>
              </a:rPr>
              <a:t> The row number is now </a:t>
            </a:r>
            <a:r>
              <a:rPr lang="en-US" b="1" dirty="0">
                <a:latin typeface="Bahnschrift" panose="020B0502040204020203" pitchFamily="34" charset="0"/>
              </a:rPr>
              <a:t>MATCH(E13,A4:A10) </a:t>
            </a:r>
          </a:p>
          <a:p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E13</a:t>
            </a:r>
            <a:r>
              <a:rPr lang="en-US" dirty="0">
                <a:latin typeface="Bahnschrift" panose="020B0502040204020203" pitchFamily="34" charset="0"/>
              </a:rPr>
              <a:t> is our lookup_value to allow the user to enter the DAY between MON – SUN</a:t>
            </a:r>
          </a:p>
          <a:p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A4:A10 </a:t>
            </a:r>
            <a:r>
              <a:rPr lang="en-US" dirty="0">
                <a:latin typeface="Bahnschrift" panose="020B0502040204020203" pitchFamily="34" charset="0"/>
              </a:rPr>
              <a:t>is our array to represent the DAY (MON – SUN) we are looking for</a:t>
            </a:r>
          </a:p>
          <a:p>
            <a:r>
              <a:rPr lang="en-US" dirty="0">
                <a:latin typeface="Bahnschrift" panose="020B0502040204020203" pitchFamily="34" charset="0"/>
              </a:rPr>
              <a:t> The column number is now </a:t>
            </a:r>
            <a:r>
              <a:rPr lang="en-US" b="1" dirty="0">
                <a:latin typeface="Bahnschrift" panose="020B0502040204020203" pitchFamily="34" charset="0"/>
              </a:rPr>
              <a:t>MATCH(E14,B3:G3)</a:t>
            </a:r>
          </a:p>
          <a:p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E14</a:t>
            </a:r>
            <a:r>
              <a:rPr lang="en-US" dirty="0">
                <a:latin typeface="Bahnschrift" panose="020B0502040204020203" pitchFamily="34" charset="0"/>
              </a:rPr>
              <a:t> is our lookup_value to allow the user to enter the ATTACK TYPE</a:t>
            </a:r>
          </a:p>
          <a:p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B3:G3 </a:t>
            </a:r>
            <a:r>
              <a:rPr lang="en-US" dirty="0">
                <a:latin typeface="Bahnschrift" panose="020B0502040204020203" pitchFamily="34" charset="0"/>
              </a:rPr>
              <a:t>is our array to represent the ATTACK TYPE we are looking for</a:t>
            </a:r>
          </a:p>
          <a:p>
            <a:r>
              <a:rPr lang="en-US" dirty="0">
                <a:latin typeface="Bahnschrift" panose="020B0502040204020203" pitchFamily="34" charset="0"/>
              </a:rPr>
              <a:t> 0 represents the exact match 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65F31-967B-4CB6-B92D-C9E2C304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9C699-447F-4AB4-84D2-F999A0AB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6558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6A23-C31F-4400-8F40-DB239353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INDEX &amp; MATCH (Continues…)</a:t>
            </a:r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775F75-B29E-4F1F-A7B4-C388F1BF65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5" y="2299408"/>
            <a:ext cx="3733992" cy="3333921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DDBEC8-977A-475F-85C9-21F081991D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823" y="2302583"/>
            <a:ext cx="3714941" cy="3327571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5CFAD-B997-4230-BC1E-655B094D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24C61-EF0D-464B-9A58-CEFF55EA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5745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F453010-DA58-4168-9F32-665B133F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ICT SOCIETY | EXCEL SLIDES</a:t>
            </a:r>
            <a:endParaRPr lang="LID4096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DF5EC8-CC66-4C33-AAAA-7DDFED8EF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PREPARED BY JAMES SOKO</a:t>
            </a:r>
            <a:endParaRPr lang="LID4096" b="1" dirty="0">
              <a:latin typeface="Bahnschrift" panose="020B0502040204020203" pitchFamily="34" charset="0"/>
            </a:endParaRPr>
          </a:p>
          <a:p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2C3A4F-EDF2-45ED-8E8A-F51C4FB5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8A84E-E04D-41BF-AF0B-4ADC9CD9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9</a:t>
            </a:fld>
            <a:endParaRPr lang="LID40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A2E48F-C157-4535-B345-BC2D3CDBB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269" y="1615081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199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499</TotalTime>
  <Words>629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Bahnschrift</vt:lpstr>
      <vt:lpstr>Calibri</vt:lpstr>
      <vt:lpstr>Calibri Light</vt:lpstr>
      <vt:lpstr>Celestial</vt:lpstr>
      <vt:lpstr>EXCEL</vt:lpstr>
      <vt:lpstr>INDEX</vt:lpstr>
      <vt:lpstr>INDEX (Continues…)</vt:lpstr>
      <vt:lpstr>MATCH</vt:lpstr>
      <vt:lpstr>MATCH (Continues…)</vt:lpstr>
      <vt:lpstr>INDEX &amp; MATCH</vt:lpstr>
      <vt:lpstr>INDEX &amp; MATCH (Continues…)</vt:lpstr>
      <vt:lpstr>INDEX &amp; MATCH (Continues…)</vt:lpstr>
      <vt:lpstr>ICT SOCIETY | EXCEL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</dc:title>
  <dc:creator>James Soko</dc:creator>
  <cp:lastModifiedBy>James Soko</cp:lastModifiedBy>
  <cp:revision>69</cp:revision>
  <dcterms:created xsi:type="dcterms:W3CDTF">2025-02-11T14:08:14Z</dcterms:created>
  <dcterms:modified xsi:type="dcterms:W3CDTF">2025-03-30T13:04:10Z</dcterms:modified>
</cp:coreProperties>
</file>