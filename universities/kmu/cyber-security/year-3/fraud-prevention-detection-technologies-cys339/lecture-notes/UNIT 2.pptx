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345" r:id="rId7"/>
    <p:sldId id="346" r:id="rId8"/>
    <p:sldId id="290" r:id="rId9"/>
    <p:sldId id="310" r:id="rId10"/>
    <p:sldId id="347" r:id="rId11"/>
    <p:sldId id="348" r:id="rId12"/>
    <p:sldId id="311" r:id="rId13"/>
    <p:sldId id="312" r:id="rId14"/>
    <p:sldId id="349" r:id="rId15"/>
    <p:sldId id="350" r:id="rId16"/>
    <p:sldId id="351" r:id="rId17"/>
    <p:sldId id="352" r:id="rId18"/>
    <p:sldId id="353" r:id="rId19"/>
    <p:sldId id="314" r:id="rId20"/>
    <p:sldId id="354" r:id="rId21"/>
    <p:sldId id="355" r:id="rId22"/>
    <p:sldId id="267" r:id="rId23"/>
    <p:sldId id="268" r:id="rId24"/>
    <p:sldId id="356" r:id="rId25"/>
    <p:sldId id="357" r:id="rId26"/>
    <p:sldId id="292" r:id="rId27"/>
    <p:sldId id="358" r:id="rId28"/>
    <p:sldId id="359" r:id="rId29"/>
    <p:sldId id="315" r:id="rId30"/>
    <p:sldId id="360" r:id="rId31"/>
    <p:sldId id="361" r:id="rId32"/>
    <p:sldId id="316" r:id="rId33"/>
    <p:sldId id="362" r:id="rId34"/>
    <p:sldId id="363" r:id="rId35"/>
    <p:sldId id="321" r:id="rId36"/>
    <p:sldId id="317" r:id="rId37"/>
    <p:sldId id="364" r:id="rId38"/>
    <p:sldId id="365" r:id="rId39"/>
    <p:sldId id="318" r:id="rId40"/>
    <p:sldId id="366" r:id="rId41"/>
    <p:sldId id="367" r:id="rId42"/>
    <p:sldId id="319" r:id="rId43"/>
    <p:sldId id="368" r:id="rId44"/>
    <p:sldId id="369" r:id="rId45"/>
    <p:sldId id="320" r:id="rId46"/>
    <p:sldId id="370" r:id="rId47"/>
    <p:sldId id="371" r:id="rId48"/>
    <p:sldId id="295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72" r:id="rId62"/>
    <p:sldId id="373" r:id="rId63"/>
    <p:sldId id="334" r:id="rId64"/>
    <p:sldId id="335" r:id="rId65"/>
    <p:sldId id="336" r:id="rId66"/>
    <p:sldId id="337" r:id="rId67"/>
    <p:sldId id="338" r:id="rId68"/>
    <p:sldId id="339" r:id="rId69"/>
    <p:sldId id="374" r:id="rId70"/>
    <p:sldId id="340" r:id="rId71"/>
    <p:sldId id="341" r:id="rId72"/>
    <p:sldId id="342" r:id="rId73"/>
    <p:sldId id="343" r:id="rId74"/>
    <p:sldId id="344" r:id="rId75"/>
    <p:sldId id="375" r:id="rId76"/>
    <p:sldId id="376" r:id="rId7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8" y="-2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ADE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85858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ADE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585858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ADE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ADE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8952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1132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ADEE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477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85858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815" y="2365374"/>
            <a:ext cx="108955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 smtClean="0"/>
              <a:t>CYS 339: FRAUD AND DETECTION TECHNOLOGIES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458216" y="3391661"/>
            <a:ext cx="7425690" cy="12234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i="1" dirty="0" smtClean="0">
                <a:solidFill>
                  <a:srgbClr val="585858"/>
                </a:solidFill>
                <a:latin typeface="Franklin Gothic Medium"/>
                <a:cs typeface="Franklin Gothic Medium"/>
              </a:rPr>
              <a:t>Fraud and Detection Technologies</a:t>
            </a:r>
            <a:endParaRPr sz="2400" dirty="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400" dirty="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i="1" dirty="0">
                <a:solidFill>
                  <a:srgbClr val="585858"/>
                </a:solidFill>
                <a:latin typeface="Franklin Gothic Medium"/>
                <a:cs typeface="Franklin Gothic Medium"/>
              </a:rPr>
              <a:t>Mr.</a:t>
            </a:r>
            <a:r>
              <a:rPr sz="2400" i="1" spc="-65" dirty="0">
                <a:solidFill>
                  <a:srgbClr val="585858"/>
                </a:solidFill>
                <a:latin typeface="Franklin Gothic Medium"/>
                <a:cs typeface="Franklin Gothic Medium"/>
              </a:rPr>
              <a:t> </a:t>
            </a:r>
            <a:r>
              <a:rPr lang="en-US" sz="2400" i="1" dirty="0" smtClean="0">
                <a:solidFill>
                  <a:srgbClr val="585858"/>
                </a:solidFill>
                <a:latin typeface="Franklin Gothic Medium"/>
                <a:cs typeface="Franklin Gothic Medium"/>
              </a:rPr>
              <a:t>Mukombo </a:t>
            </a:r>
            <a:r>
              <a:rPr lang="en-US" sz="2400" i="1" dirty="0" err="1" smtClean="0">
                <a:solidFill>
                  <a:srgbClr val="585858"/>
                </a:solidFill>
                <a:latin typeface="Franklin Gothic Medium"/>
                <a:cs typeface="Franklin Gothic Medium"/>
              </a:rPr>
              <a:t>Mukombo</a:t>
            </a:r>
            <a:r>
              <a:rPr lang="en-US" sz="2400" i="1" dirty="0" smtClean="0">
                <a:solidFill>
                  <a:srgbClr val="585858"/>
                </a:solidFill>
                <a:latin typeface="Franklin Gothic Medium"/>
                <a:cs typeface="Franklin Gothic Medium"/>
              </a:rPr>
              <a:t> – mmukombo06@gmail.com</a:t>
            </a:r>
            <a:endParaRPr sz="24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484" rIns="0" bIns="0" rtlCol="0">
            <a:spAutoFit/>
          </a:bodyPr>
          <a:lstStyle/>
          <a:p>
            <a:pPr marL="569595">
              <a:lnSpc>
                <a:spcPct val="100000"/>
              </a:lnSpc>
              <a:spcBef>
                <a:spcPts val="100"/>
              </a:spcBef>
            </a:pPr>
            <a:r>
              <a:rPr dirty="0"/>
              <a:t>Session</a:t>
            </a:r>
            <a:r>
              <a:rPr spc="-90" dirty="0"/>
              <a:t> </a:t>
            </a:r>
            <a:r>
              <a:rPr lang="en-US" spc="-10" dirty="0" smtClean="0"/>
              <a:t>Content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89736" y="1816049"/>
            <a:ext cx="10008235" cy="368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1150">
              <a:lnSpc>
                <a:spcPts val="2590"/>
              </a:lnSpc>
              <a:buSzPct val="79166"/>
              <a:tabLst>
                <a:tab pos="241300" algn="l"/>
              </a:tabLst>
            </a:pPr>
            <a:r>
              <a:rPr lang="en-US" sz="2800" b="1" dirty="0" smtClean="0"/>
              <a:t>COMMON ANALYSIS PROCEDURES </a:t>
            </a:r>
            <a:r>
              <a:rPr lang="en-US" sz="2800" b="1" dirty="0" smtClean="0">
                <a:latin typeface="Franklin Gothic Book" pitchFamily="34" charset="0"/>
              </a:rPr>
              <a:t> </a:t>
            </a:r>
          </a:p>
          <a:p>
            <a:pPr marL="12700" marR="311150">
              <a:lnSpc>
                <a:spcPts val="2590"/>
              </a:lnSpc>
              <a:buSzPct val="79166"/>
              <a:tabLst>
                <a:tab pos="241300" algn="l"/>
              </a:tabLst>
            </a:pPr>
            <a:endParaRPr lang="en-US" sz="2800" b="1" dirty="0" smtClean="0">
              <a:latin typeface="Franklin Gothic Book" pitchFamily="34" charset="0"/>
            </a:endParaRPr>
          </a:p>
          <a:p>
            <a:pPr marL="469900" marR="311150" indent="-457200">
              <a:lnSpc>
                <a:spcPts val="2590"/>
              </a:lnSpc>
              <a:buSzPct val="79166"/>
              <a:buFont typeface="Arial" pitchFamily="34" charset="0"/>
              <a:buChar char="•"/>
              <a:tabLst>
                <a:tab pos="241300" algn="l"/>
              </a:tabLst>
            </a:pPr>
            <a:r>
              <a:rPr lang="en-US" sz="2800" dirty="0" smtClean="0"/>
              <a:t>Financial Ratio, Variance, Percentage, Aging, Average</a:t>
            </a:r>
          </a:p>
          <a:p>
            <a:pPr marL="12700" marR="311150">
              <a:lnSpc>
                <a:spcPts val="2590"/>
              </a:lnSpc>
              <a:buSzPct val="79166"/>
              <a:tabLst>
                <a:tab pos="241300" algn="l"/>
              </a:tabLst>
            </a:pPr>
            <a:r>
              <a:rPr lang="en-US" sz="2800" dirty="0" smtClean="0"/>
              <a:t> </a:t>
            </a:r>
          </a:p>
          <a:p>
            <a:pPr marL="12700" marR="311150">
              <a:lnSpc>
                <a:spcPts val="2590"/>
              </a:lnSpc>
              <a:buSzPct val="79166"/>
              <a:tabLst>
                <a:tab pos="241300" algn="l"/>
              </a:tabLst>
            </a:pPr>
            <a:r>
              <a:rPr lang="en-US" sz="2800" dirty="0" smtClean="0"/>
              <a:t>Common analysis functions </a:t>
            </a:r>
          </a:p>
          <a:p>
            <a:pPr marL="469900" marR="311150" indent="-457200">
              <a:lnSpc>
                <a:spcPts val="2590"/>
              </a:lnSpc>
              <a:buSzPct val="79166"/>
              <a:buFont typeface="Arial" pitchFamily="34" charset="0"/>
              <a:buChar char="•"/>
              <a:tabLst>
                <a:tab pos="241300" algn="l"/>
              </a:tabLst>
            </a:pPr>
            <a:endParaRPr lang="en-US" sz="2800" dirty="0" smtClean="0"/>
          </a:p>
          <a:p>
            <a:pPr marL="469900" marR="311150" indent="-457200">
              <a:lnSpc>
                <a:spcPts val="2590"/>
              </a:lnSpc>
              <a:buSzPct val="79166"/>
              <a:buFont typeface="Arial" pitchFamily="34" charset="0"/>
              <a:buChar char="•"/>
              <a:tabLst>
                <a:tab pos="241300" algn="l"/>
              </a:tabLst>
            </a:pPr>
            <a:r>
              <a:rPr lang="en-US" sz="2800" dirty="0" smtClean="0"/>
              <a:t>Filter / Sort/ Join / Append/ Pivot/ Trend / Regression / Ratio </a:t>
            </a:r>
          </a:p>
          <a:p>
            <a:pPr marL="469900" marR="311150" indent="-457200">
              <a:lnSpc>
                <a:spcPts val="2590"/>
              </a:lnSpc>
              <a:buSzPct val="79166"/>
              <a:buFont typeface="Arial" pitchFamily="34" charset="0"/>
              <a:buChar char="•"/>
              <a:tabLst>
                <a:tab pos="241300" algn="l"/>
              </a:tabLst>
            </a:pPr>
            <a:endParaRPr lang="en-US" sz="2800" dirty="0" smtClean="0"/>
          </a:p>
          <a:p>
            <a:pPr marL="469900" marR="311150" indent="-457200">
              <a:lnSpc>
                <a:spcPts val="2590"/>
              </a:lnSpc>
              <a:buSzPct val="79166"/>
              <a:buFont typeface="Arial" pitchFamily="34" charset="0"/>
              <a:buChar char="•"/>
              <a:tabLst>
                <a:tab pos="241300" algn="l"/>
              </a:tabLst>
            </a:pPr>
            <a:r>
              <a:rPr lang="en-US" sz="2800" dirty="0" err="1"/>
              <a:t>V</a:t>
            </a:r>
            <a:r>
              <a:rPr lang="en-US" sz="2800" dirty="0" err="1" smtClean="0"/>
              <a:t>lookup</a:t>
            </a:r>
            <a:r>
              <a:rPr lang="en-US" sz="2800" dirty="0" smtClean="0"/>
              <a:t>/ Eye-lookup/ Grouping/ Summarization/ Stratification</a:t>
            </a:r>
            <a:endParaRPr lang="en-US" sz="2800" dirty="0" smtClean="0"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590800"/>
            <a:ext cx="1051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i="1" dirty="0" smtClean="0">
                <a:solidFill>
                  <a:schemeClr val="tx1"/>
                </a:solidFill>
              </a:rPr>
              <a:t>Financial </a:t>
            </a:r>
            <a:r>
              <a:rPr lang="en-US" i="1" dirty="0">
                <a:solidFill>
                  <a:schemeClr val="tx1"/>
                </a:solidFill>
              </a:rPr>
              <a:t>Ratio, Variance, Percentage, Aging, </a:t>
            </a:r>
            <a:r>
              <a:rPr lang="en-US" i="1" dirty="0" smtClean="0">
                <a:solidFill>
                  <a:schemeClr val="tx1"/>
                </a:solidFill>
              </a:rPr>
              <a:t>Average</a:t>
            </a:r>
            <a:endParaRPr i="1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536" y="421894"/>
            <a:ext cx="84787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Financial Ratio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34059" y="1644357"/>
            <a:ext cx="10610215" cy="487761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GB" sz="2800" dirty="0"/>
              <a:t>Financial ratio analysis evaluates a company's financial performance by comparing different financial metrics.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 smtClean="0"/>
              <a:t>These </a:t>
            </a:r>
            <a:r>
              <a:rPr lang="en-GB" sz="2800" dirty="0"/>
              <a:t>ratios help stakeholders (investors, creditors, management) assess</a:t>
            </a:r>
            <a:r>
              <a:rPr lang="en-GB" sz="2800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Liquidity </a:t>
            </a:r>
            <a:r>
              <a:rPr lang="en-GB" sz="2800" dirty="0"/>
              <a:t>(ability to meet short-term obligations)  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Profitability (ability </a:t>
            </a:r>
            <a:r>
              <a:rPr lang="en-GB" sz="2800" dirty="0"/>
              <a:t>to generate earnings)  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Leverage (degree </a:t>
            </a:r>
            <a:r>
              <a:rPr lang="en-GB" sz="2800" dirty="0"/>
              <a:t>of debt reliance)  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 smtClean="0"/>
              <a:t>Efficiency (effectiveness </a:t>
            </a:r>
            <a:r>
              <a:rPr lang="en-GB" sz="2800" dirty="0"/>
              <a:t>in asset utilization)  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>
              <a:lnSpc>
                <a:spcPct val="100000"/>
              </a:lnSpc>
            </a:pPr>
            <a:endParaRPr sz="2800" dirty="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28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21894"/>
            <a:ext cx="73888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Financial Ratio in </a:t>
            </a:r>
            <a:r>
              <a:rPr lang="en-US" dirty="0" err="1" smtClean="0"/>
              <a:t>Cybersecurity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34059" y="1337817"/>
            <a:ext cx="10853420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Financial ratio analysis can be adapted to evaluate </a:t>
            </a:r>
            <a:r>
              <a:rPr lang="en-US" sz="2800" dirty="0" err="1"/>
              <a:t>cybersecurity</a:t>
            </a:r>
            <a:r>
              <a:rPr lang="en-US" sz="2800" dirty="0"/>
              <a:t> investments, risk management effectiveness, and operational efficiency in security programs. 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These </a:t>
            </a:r>
            <a:r>
              <a:rPr lang="en-US" sz="2800" dirty="0"/>
              <a:t>metrics help CISOs and security teams: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Assess</a:t>
            </a:r>
            <a:r>
              <a:rPr lang="en-US" sz="2800" dirty="0"/>
              <a:t> </a:t>
            </a:r>
            <a:r>
              <a:rPr lang="en-US" sz="2800" b="1" dirty="0"/>
              <a:t>security spending efficiency</a:t>
            </a:r>
            <a:r>
              <a:rPr lang="en-US" sz="2800" dirty="0"/>
              <a:t> (ROI on </a:t>
            </a:r>
            <a:r>
              <a:rPr lang="en-US" sz="2800" dirty="0" err="1" smtClean="0"/>
              <a:t>cybersecurity</a:t>
            </a:r>
            <a:r>
              <a:rPr lang="en-US" sz="2800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Measure</a:t>
            </a:r>
            <a:r>
              <a:rPr lang="en-US" sz="2800" dirty="0"/>
              <a:t> </a:t>
            </a:r>
            <a:r>
              <a:rPr lang="en-US" sz="2800" b="1" dirty="0"/>
              <a:t>risk exposure</a:t>
            </a:r>
            <a:r>
              <a:rPr lang="en-US" sz="2800" dirty="0"/>
              <a:t> (financial impact of </a:t>
            </a:r>
            <a:r>
              <a:rPr lang="en-US" sz="2800" dirty="0" smtClean="0"/>
              <a:t>breaches)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Evaluate</a:t>
            </a:r>
            <a:r>
              <a:rPr lang="en-US" sz="2800" dirty="0"/>
              <a:t> </a:t>
            </a:r>
            <a:r>
              <a:rPr lang="en-US" sz="2800" b="1" dirty="0"/>
              <a:t>operational resilience</a:t>
            </a:r>
            <a:r>
              <a:rPr lang="en-US" sz="2800" dirty="0"/>
              <a:t> (ability to detect/respond to threats)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endParaRPr sz="28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Advantages of using Financial Ratio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10363200" cy="440120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Simplifies </a:t>
            </a:r>
            <a:r>
              <a:rPr lang="en-US" b="1" dirty="0"/>
              <a:t>Complex Data</a:t>
            </a:r>
            <a:r>
              <a:rPr lang="en-US" dirty="0"/>
              <a:t> </a:t>
            </a:r>
            <a:r>
              <a:rPr lang="en-US" dirty="0" smtClean="0"/>
              <a:t>: Ratios </a:t>
            </a:r>
            <a:r>
              <a:rPr lang="en-US" dirty="0"/>
              <a:t>condense large datasets into comparable metrics, making trends easier to identify.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Benchmarking</a:t>
            </a:r>
            <a:r>
              <a:rPr lang="en-US" dirty="0" smtClean="0"/>
              <a:t>: Allows </a:t>
            </a:r>
            <a:r>
              <a:rPr lang="en-US" dirty="0"/>
              <a:t>comparison of </a:t>
            </a:r>
            <a:r>
              <a:rPr lang="en-US" dirty="0" err="1"/>
              <a:t>cybersecurity</a:t>
            </a:r>
            <a:r>
              <a:rPr lang="en-US" dirty="0"/>
              <a:t> performance against industry standards or past performance.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Cost-Benefit Analysis</a:t>
            </a:r>
            <a:r>
              <a:rPr lang="en-US" dirty="0"/>
              <a:t> </a:t>
            </a:r>
            <a:r>
              <a:rPr lang="en-US" dirty="0" smtClean="0"/>
              <a:t>: Helps </a:t>
            </a:r>
            <a:r>
              <a:rPr lang="en-US" dirty="0"/>
              <a:t>quantify the financial impact of security investments (e.g., ROI on </a:t>
            </a:r>
            <a:r>
              <a:rPr lang="en-US" dirty="0" err="1"/>
              <a:t>cybersecurity</a:t>
            </a:r>
            <a:r>
              <a:rPr lang="en-US" dirty="0"/>
              <a:t> tools).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Prioritization</a:t>
            </a:r>
            <a:r>
              <a:rPr lang="en-US" dirty="0"/>
              <a:t> </a:t>
            </a:r>
            <a:r>
              <a:rPr lang="en-US" dirty="0" smtClean="0"/>
              <a:t>: Identifies </a:t>
            </a:r>
            <a:r>
              <a:rPr lang="en-US" dirty="0"/>
              <a:t>high-risk areas by correlating security incidents with financial losses.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Stakeholder </a:t>
            </a:r>
            <a:r>
              <a:rPr lang="en-US" b="1" dirty="0" smtClean="0"/>
              <a:t>Communication</a:t>
            </a:r>
            <a:r>
              <a:rPr lang="en-US" dirty="0" smtClean="0"/>
              <a:t>: Provides </a:t>
            </a:r>
            <a:r>
              <a:rPr lang="en-US" dirty="0"/>
              <a:t>a business-friendly way to present </a:t>
            </a:r>
            <a:r>
              <a:rPr lang="en-US" dirty="0" err="1"/>
              <a:t>cybersecurity</a:t>
            </a:r>
            <a:r>
              <a:rPr lang="en-US" dirty="0"/>
              <a:t> risks to executives.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Limitations of Financial Ratio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0"/>
            <a:ext cx="10668000" cy="400109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Oversimplification</a:t>
            </a:r>
            <a:r>
              <a:rPr lang="en-US" dirty="0"/>
              <a:t> </a:t>
            </a:r>
            <a:r>
              <a:rPr lang="en-US" dirty="0" smtClean="0"/>
              <a:t>: May </a:t>
            </a:r>
            <a:r>
              <a:rPr lang="en-US" dirty="0"/>
              <a:t>ignore qualitative factors (e.g., employee awareness, emerging threats).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Data Accuracy Issues</a:t>
            </a:r>
            <a:r>
              <a:rPr lang="en-US" dirty="0"/>
              <a:t> </a:t>
            </a:r>
            <a:r>
              <a:rPr lang="en-US" dirty="0" smtClean="0"/>
              <a:t>: Relies </a:t>
            </a:r>
            <a:r>
              <a:rPr lang="en-US" dirty="0"/>
              <a:t>on accurate financial and security data, which may be inconsistent.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Lagging Indicators</a:t>
            </a:r>
            <a:r>
              <a:rPr lang="en-US" dirty="0"/>
              <a:t> </a:t>
            </a:r>
            <a:r>
              <a:rPr lang="en-US" dirty="0" smtClean="0"/>
              <a:t>: Many </a:t>
            </a:r>
            <a:r>
              <a:rPr lang="en-US" dirty="0"/>
              <a:t>ratios reflect past performance rather than predicting future threats.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Lack of Standardization</a:t>
            </a:r>
            <a:r>
              <a:rPr lang="en-US" dirty="0"/>
              <a:t> </a:t>
            </a:r>
            <a:r>
              <a:rPr lang="en-US" dirty="0" smtClean="0"/>
              <a:t>: No </a:t>
            </a:r>
            <a:r>
              <a:rPr lang="en-US" dirty="0"/>
              <a:t>universally accepted </a:t>
            </a:r>
            <a:r>
              <a:rPr lang="en-US" dirty="0" err="1"/>
              <a:t>cybersecurity</a:t>
            </a:r>
            <a:r>
              <a:rPr lang="en-US" dirty="0"/>
              <a:t> financial ratios, leading to subjective interpretations.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Overemphasis on Cost</a:t>
            </a:r>
            <a:r>
              <a:rPr lang="en-US" dirty="0"/>
              <a:t> </a:t>
            </a:r>
            <a:r>
              <a:rPr lang="en-US" dirty="0" smtClean="0"/>
              <a:t>: May </a:t>
            </a:r>
            <a:r>
              <a:rPr lang="en-US" dirty="0"/>
              <a:t>undervalue non-financial impacts (e.g., reputational damage, regulatory penalties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29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95400"/>
            <a:ext cx="10265410" cy="400109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Measures differences between </a:t>
            </a:r>
            <a:r>
              <a:rPr lang="en-US" b="1" dirty="0"/>
              <a:t>expected</a:t>
            </a:r>
            <a:r>
              <a:rPr lang="en-US" dirty="0"/>
              <a:t> (budget/forecast) and </a:t>
            </a:r>
            <a:r>
              <a:rPr lang="en-US" b="1" dirty="0"/>
              <a:t>actual</a:t>
            </a:r>
            <a:r>
              <a:rPr lang="en-US" dirty="0"/>
              <a:t> performance to identify deviations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Key Applications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Financial Auditing</a:t>
            </a:r>
            <a:r>
              <a:rPr lang="en-US" dirty="0"/>
              <a:t> </a:t>
            </a:r>
            <a:r>
              <a:rPr lang="en-US" dirty="0" smtClean="0"/>
              <a:t>: Detect </a:t>
            </a:r>
            <a:r>
              <a:rPr lang="en-US" dirty="0"/>
              <a:t>fraud or errors (e.g., actual expenses vs. budget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 smtClean="0"/>
              <a:t>Cybersecurity</a:t>
            </a:r>
            <a:r>
              <a:rPr lang="en-US" dirty="0" smtClean="0"/>
              <a:t>: Compare </a:t>
            </a:r>
            <a:r>
              <a:rPr lang="en-US" dirty="0"/>
              <a:t>baseline behavior vs. anomalies (e.g., unusual login times</a:t>
            </a:r>
            <a:r>
              <a:rPr lang="en-US" dirty="0" smtClean="0"/>
              <a:t>)</a:t>
            </a: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13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</a:t>
            </a:r>
            <a:r>
              <a:rPr lang="en-US" b="1" dirty="0" smtClean="0"/>
              <a:t>Variance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676400"/>
            <a:ext cx="10265410" cy="400109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Favorable </a:t>
            </a:r>
            <a:r>
              <a:rPr lang="en-US" b="1" dirty="0"/>
              <a:t>Variance: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Actual </a:t>
            </a:r>
            <a:r>
              <a:rPr lang="en-US" dirty="0"/>
              <a:t>&lt; Expected (e.g., lower costs).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Unfavorable Variance:</a:t>
            </a:r>
            <a:r>
              <a:rPr lang="en-US" dirty="0"/>
              <a:t> 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Actual </a:t>
            </a:r>
            <a:r>
              <a:rPr lang="en-US" dirty="0"/>
              <a:t>&gt; Expected (e.g., higher breach costs).</a:t>
            </a:r>
          </a:p>
          <a:p>
            <a:r>
              <a:rPr lang="en-US" b="1" dirty="0"/>
              <a:t>Formula</a:t>
            </a:r>
            <a:r>
              <a:rPr lang="en-US" b="1" dirty="0" smtClean="0"/>
              <a:t>:</a:t>
            </a:r>
          </a:p>
          <a:p>
            <a:r>
              <a:rPr lang="en-US" b="1" dirty="0"/>
              <a:t>	</a:t>
            </a:r>
            <a:r>
              <a:rPr lang="en-US" dirty="0" smtClean="0"/>
              <a:t>Variance=Actual</a:t>
            </a:r>
            <a:r>
              <a:rPr lang="en-US" dirty="0"/>
              <a:t>−</a:t>
            </a:r>
            <a:r>
              <a:rPr lang="en-US" dirty="0" smtClean="0"/>
              <a:t>Expected</a:t>
            </a:r>
          </a:p>
          <a:p>
            <a:r>
              <a:rPr lang="en-US" b="1" dirty="0"/>
              <a:t>Actions: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Investigate root causes (e.g., overspending, security gaps</a:t>
            </a:r>
            <a:r>
              <a:rPr lang="en-US" dirty="0" smtClean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Adjust </a:t>
            </a:r>
            <a:r>
              <a:rPr lang="en-US" dirty="0"/>
              <a:t>forecasts/controls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5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Advantages of using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10820400" cy="400109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Anomaly </a:t>
            </a:r>
            <a:r>
              <a:rPr lang="en-US" b="1" dirty="0" smtClean="0"/>
              <a:t>Detection</a:t>
            </a:r>
            <a:r>
              <a:rPr lang="en-US" dirty="0" smtClean="0"/>
              <a:t>: Helps </a:t>
            </a:r>
            <a:r>
              <a:rPr lang="en-US" dirty="0"/>
              <a:t>identify deviations from normal behavior (e.g., unusual network traffic, login attempts).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Quantifies Variability</a:t>
            </a:r>
            <a:r>
              <a:rPr lang="en-US" dirty="0"/>
              <a:t> </a:t>
            </a:r>
            <a:r>
              <a:rPr lang="en-US" dirty="0" smtClean="0"/>
              <a:t>: Measures </a:t>
            </a:r>
            <a:r>
              <a:rPr lang="en-US" dirty="0"/>
              <a:t>how much data points differ from the mean, aiding in risk assessment.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Supports Trend </a:t>
            </a:r>
            <a:r>
              <a:rPr lang="en-US" b="1" dirty="0" smtClean="0"/>
              <a:t>Analysis</a:t>
            </a:r>
            <a:r>
              <a:rPr lang="en-US" dirty="0" smtClean="0"/>
              <a:t>: Reveals </a:t>
            </a:r>
            <a:r>
              <a:rPr lang="en-US" dirty="0"/>
              <a:t>changes over time (e.g., increasing attack frequency, fluctuating system performance).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Useful in Statistical Models</a:t>
            </a:r>
            <a:r>
              <a:rPr lang="en-US" dirty="0"/>
              <a:t> </a:t>
            </a:r>
            <a:r>
              <a:rPr lang="en-US" dirty="0" smtClean="0"/>
              <a:t>: Key </a:t>
            </a:r>
            <a:r>
              <a:rPr lang="en-US" dirty="0"/>
              <a:t>in machine learning and predictive analytics for </a:t>
            </a:r>
            <a:r>
              <a:rPr lang="en-US" dirty="0" err="1"/>
              <a:t>cybersecurity</a:t>
            </a:r>
            <a:r>
              <a:rPr lang="en-US" dirty="0"/>
              <a:t> (e.g., outlier detection).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Objective </a:t>
            </a:r>
            <a:r>
              <a:rPr lang="en-US" b="1" dirty="0" smtClean="0"/>
              <a:t>Measurement</a:t>
            </a:r>
            <a:r>
              <a:rPr lang="en-US" dirty="0" smtClean="0"/>
              <a:t>: Provides </a:t>
            </a:r>
            <a:r>
              <a:rPr lang="en-US" dirty="0"/>
              <a:t>a numerical basis for decision-making rather than subjective </a:t>
            </a:r>
            <a:r>
              <a:rPr lang="en-US" dirty="0" smtClean="0"/>
              <a:t>judgment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27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Limitations of using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066800"/>
            <a:ext cx="10265410" cy="5601533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Sensitive to </a:t>
            </a:r>
            <a:r>
              <a:rPr lang="en-US" b="1" dirty="0" smtClean="0"/>
              <a:t>Outliers</a:t>
            </a:r>
            <a:r>
              <a:rPr lang="en-US" dirty="0" smtClean="0"/>
              <a:t>: Extreme </a:t>
            </a:r>
            <a:r>
              <a:rPr lang="en-US" dirty="0"/>
              <a:t>values can skew variance, leading to false positives in threat detection.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Requires </a:t>
            </a:r>
            <a:r>
              <a:rPr lang="en-US" b="1" dirty="0" smtClean="0"/>
              <a:t>Context</a:t>
            </a:r>
            <a:r>
              <a:rPr lang="en-US" dirty="0" smtClean="0"/>
              <a:t>: High </a:t>
            </a:r>
            <a:r>
              <a:rPr lang="en-US" dirty="0"/>
              <a:t>variance alone doesn’t indicate a threat; additional analysis is needed.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Assumes Normal </a:t>
            </a:r>
            <a:r>
              <a:rPr lang="en-US" b="1" dirty="0" smtClean="0"/>
              <a:t>Distribution</a:t>
            </a:r>
            <a:r>
              <a:rPr lang="en-US" dirty="0" smtClean="0"/>
              <a:t>: Many </a:t>
            </a:r>
            <a:r>
              <a:rPr lang="en-US" dirty="0" err="1"/>
              <a:t>cybersecurity</a:t>
            </a:r>
            <a:r>
              <a:rPr lang="en-US" dirty="0"/>
              <a:t> datasets are non-normal, reducing effectiveness.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Computationally Intensive</a:t>
            </a:r>
            <a:r>
              <a:rPr lang="en-US" dirty="0"/>
              <a:t> </a:t>
            </a:r>
            <a:r>
              <a:rPr lang="en-US" dirty="0" smtClean="0"/>
              <a:t>: Large </a:t>
            </a:r>
            <a:r>
              <a:rPr lang="en-US" dirty="0"/>
              <a:t>datasets may slow down real-time analysis.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May Miss Subtle Attacks</a:t>
            </a:r>
            <a:r>
              <a:rPr lang="en-US" dirty="0"/>
              <a:t> </a:t>
            </a:r>
            <a:r>
              <a:rPr lang="en-US" dirty="0" smtClean="0"/>
              <a:t>: Low-variance </a:t>
            </a:r>
            <a:r>
              <a:rPr lang="en-US" dirty="0"/>
              <a:t>attacks (e.g., slow, persistent threats) can evade </a:t>
            </a:r>
            <a:r>
              <a:rPr lang="en-US" dirty="0" smtClean="0"/>
              <a:t>detection</a:t>
            </a:r>
          </a:p>
          <a:p>
            <a:r>
              <a:rPr lang="en-US" dirty="0" smtClean="0"/>
              <a:t>NOTE: </a:t>
            </a:r>
            <a:r>
              <a:rPr lang="en-US" dirty="0"/>
              <a:t>Variance is useful for spotting anomalies but should be combined with other statistical methods (e.g</a:t>
            </a:r>
            <a:r>
              <a:rPr lang="en-US" dirty="0" smtClean="0"/>
              <a:t>., clustering</a:t>
            </a:r>
            <a:r>
              <a:rPr lang="en-US" dirty="0"/>
              <a:t>) for robust </a:t>
            </a:r>
            <a:r>
              <a:rPr lang="en-US" dirty="0" err="1"/>
              <a:t>cybersecurity</a:t>
            </a:r>
            <a:r>
              <a:rPr lang="en-US" dirty="0"/>
              <a:t>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15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Percentage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95400"/>
            <a:ext cx="10265410" cy="360098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Expresses values as a </a:t>
            </a:r>
            <a:r>
              <a:rPr lang="en-US" b="1" dirty="0"/>
              <a:t>proportion of a total</a:t>
            </a:r>
            <a:r>
              <a:rPr lang="en-US" dirty="0"/>
              <a:t> or </a:t>
            </a:r>
            <a:r>
              <a:rPr lang="en-US" b="1" dirty="0"/>
              <a:t>relative change</a:t>
            </a:r>
            <a:r>
              <a:rPr lang="en-US" dirty="0"/>
              <a:t> for standardized </a:t>
            </a:r>
            <a:r>
              <a:rPr lang="en-US" dirty="0" smtClean="0"/>
              <a:t>comparison</a:t>
            </a:r>
          </a:p>
          <a:p>
            <a:endParaRPr lang="en-US" dirty="0" smtClean="0"/>
          </a:p>
          <a:p>
            <a:r>
              <a:rPr lang="en-US" b="1" dirty="0"/>
              <a:t>Key Applications: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Financial Analysis</a:t>
            </a:r>
            <a:r>
              <a:rPr lang="en-US" dirty="0"/>
              <a:t> </a:t>
            </a:r>
            <a:r>
              <a:rPr lang="en-US" dirty="0" smtClean="0"/>
              <a:t>: Profit </a:t>
            </a:r>
            <a:r>
              <a:rPr lang="en-US" dirty="0"/>
              <a:t>margins, growth </a:t>
            </a:r>
            <a:r>
              <a:rPr lang="en-US" dirty="0" smtClean="0"/>
              <a:t>rates.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 smtClean="0"/>
              <a:t>Cybersecurity</a:t>
            </a:r>
            <a:r>
              <a:rPr lang="en-US" dirty="0"/>
              <a:t> </a:t>
            </a:r>
            <a:r>
              <a:rPr lang="en-US" dirty="0" smtClean="0"/>
              <a:t>: Attack </a:t>
            </a:r>
            <a:r>
              <a:rPr lang="en-US" dirty="0"/>
              <a:t>success rates, false </a:t>
            </a:r>
            <a:r>
              <a:rPr lang="en-US" dirty="0" smtClean="0"/>
              <a:t>positives.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Operational </a:t>
            </a:r>
            <a:r>
              <a:rPr lang="en-US" b="1" dirty="0"/>
              <a:t>Metrics</a:t>
            </a:r>
            <a:r>
              <a:rPr lang="en-US" dirty="0"/>
              <a:t> </a:t>
            </a:r>
            <a:r>
              <a:rPr lang="en-US" dirty="0" smtClean="0"/>
              <a:t>: Completion </a:t>
            </a:r>
            <a:r>
              <a:rPr lang="en-US" dirty="0"/>
              <a:t>rates, resource utilization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93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</a:t>
            </a:r>
            <a:r>
              <a:rPr lang="en-US" b="1" dirty="0" smtClean="0"/>
              <a:t>Percentage Formulas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200876"/>
          </a:xfrm>
        </p:spPr>
        <p:txBody>
          <a:bodyPr/>
          <a:lstStyle/>
          <a:p>
            <a:r>
              <a:rPr lang="en-US" b="1" dirty="0" smtClean="0"/>
              <a:t>Percentage </a:t>
            </a:r>
            <a:r>
              <a:rPr lang="en-US" b="1" dirty="0"/>
              <a:t>of Total: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Percentage=(Part/Whole</a:t>
            </a:r>
            <a:r>
              <a:rPr lang="en-US" dirty="0"/>
              <a:t>)×</a:t>
            </a:r>
            <a:r>
              <a:rPr lang="en-US" dirty="0" smtClean="0"/>
              <a:t>100</a:t>
            </a:r>
          </a:p>
          <a:p>
            <a:r>
              <a:rPr lang="en-US" i="1" dirty="0" smtClean="0"/>
              <a:t>Example</a:t>
            </a:r>
            <a:r>
              <a:rPr lang="en-US" i="1" dirty="0"/>
              <a:t>:</a:t>
            </a:r>
            <a:r>
              <a:rPr lang="en-US" dirty="0"/>
              <a:t> Market share (Company revenue / Industry revenue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b="1" dirty="0"/>
              <a:t>Percentage Change:</a:t>
            </a:r>
            <a:endParaRPr lang="en-US" dirty="0"/>
          </a:p>
          <a:p>
            <a:r>
              <a:rPr lang="en-US" dirty="0" smtClean="0"/>
              <a:t>	Percentage</a:t>
            </a:r>
            <a:r>
              <a:rPr lang="en-US" dirty="0"/>
              <a:t> Change=(New - </a:t>
            </a:r>
            <a:r>
              <a:rPr lang="en-US" dirty="0" smtClean="0"/>
              <a:t>Old</a:t>
            </a:r>
            <a:r>
              <a:rPr lang="en-US" dirty="0"/>
              <a:t>)×</a:t>
            </a:r>
            <a:r>
              <a:rPr lang="en-US" dirty="0" smtClean="0"/>
              <a:t>100</a:t>
            </a:r>
          </a:p>
          <a:p>
            <a:r>
              <a:rPr lang="en-US" i="1" dirty="0" smtClean="0"/>
              <a:t>Example</a:t>
            </a:r>
            <a:r>
              <a:rPr lang="en-US" i="1" dirty="0"/>
              <a:t>:</a:t>
            </a:r>
            <a:r>
              <a:rPr lang="en-US" dirty="0"/>
              <a:t> Monthly incident increase.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39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Advantages of Percentages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287000" cy="440120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Simplifies </a:t>
            </a:r>
            <a:r>
              <a:rPr lang="en-US" b="1" dirty="0" smtClean="0"/>
              <a:t>Interpretation</a:t>
            </a:r>
            <a:r>
              <a:rPr lang="en-US" dirty="0" smtClean="0"/>
              <a:t>: Provides </a:t>
            </a:r>
            <a:r>
              <a:rPr lang="en-US" dirty="0"/>
              <a:t>an intuitive, standardized way to compare data (e.g., "30% of attacks targeted endpoint devices").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Normalizes Data</a:t>
            </a:r>
            <a:r>
              <a:rPr lang="en-US" dirty="0"/>
              <a:t> </a:t>
            </a:r>
            <a:r>
              <a:rPr lang="en-US" dirty="0" smtClean="0"/>
              <a:t>: Allows </a:t>
            </a:r>
            <a:r>
              <a:rPr lang="en-US" dirty="0"/>
              <a:t>comparison across different scales (e.g., attack rates per department, regardless of size).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Trend </a:t>
            </a:r>
            <a:r>
              <a:rPr lang="en-US" b="1" dirty="0" smtClean="0"/>
              <a:t>Identification</a:t>
            </a:r>
            <a:r>
              <a:rPr lang="en-US" dirty="0" smtClean="0"/>
              <a:t>: Helps </a:t>
            </a:r>
            <a:r>
              <a:rPr lang="en-US" dirty="0"/>
              <a:t>track changes over time (e.g., "Phishing attempts increased by 15% this quarter").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Effective for Reporting</a:t>
            </a:r>
            <a:r>
              <a:rPr lang="en-US" dirty="0"/>
              <a:t> </a:t>
            </a:r>
            <a:r>
              <a:rPr lang="en-US" dirty="0" smtClean="0"/>
              <a:t>: Easily </a:t>
            </a:r>
            <a:r>
              <a:rPr lang="en-US" dirty="0"/>
              <a:t>understood by non-technical stakeholders (executives, board members).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Supports Benchmarking</a:t>
            </a:r>
            <a:r>
              <a:rPr lang="en-US" dirty="0"/>
              <a:t> </a:t>
            </a:r>
            <a:r>
              <a:rPr lang="en-US" dirty="0" smtClean="0"/>
              <a:t>: Enables </a:t>
            </a:r>
            <a:r>
              <a:rPr lang="en-US" dirty="0"/>
              <a:t>comparison against industry averages or best practices.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478723" cy="553998"/>
          </a:xfrm>
        </p:spPr>
        <p:txBody>
          <a:bodyPr/>
          <a:lstStyle/>
          <a:p>
            <a:r>
              <a:rPr lang="en-US" dirty="0" smtClean="0"/>
              <a:t>Limitations of using Percentages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685801"/>
            <a:ext cx="11811000" cy="58674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Can Mask Absolute Values</a:t>
            </a:r>
            <a:r>
              <a:rPr lang="en-US" dirty="0"/>
              <a:t> </a:t>
            </a:r>
            <a:r>
              <a:rPr lang="en-US" dirty="0" smtClean="0"/>
              <a:t>: A </a:t>
            </a:r>
            <a:r>
              <a:rPr lang="en-US" dirty="0"/>
              <a:t>small percentage change may represent a critical threat if the base number is large (e.g., "1% increase in breaches" could mean thousands of incidents).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Potential for Misleading Context</a:t>
            </a:r>
            <a:r>
              <a:rPr lang="en-US" dirty="0"/>
              <a:t> </a:t>
            </a:r>
            <a:r>
              <a:rPr lang="en-US" dirty="0" smtClean="0"/>
              <a:t>: Without </a:t>
            </a:r>
            <a:r>
              <a:rPr lang="en-US" dirty="0"/>
              <a:t>proper reference points, percentages can be misinterpreted (e.g., "50% of attacks" without knowing total volume).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Over-Simplification</a:t>
            </a:r>
            <a:r>
              <a:rPr lang="en-US" dirty="0"/>
              <a:t> </a:t>
            </a:r>
            <a:r>
              <a:rPr lang="en-US" dirty="0" smtClean="0"/>
              <a:t>: May </a:t>
            </a:r>
            <a:r>
              <a:rPr lang="en-US" dirty="0"/>
              <a:t>ignore underlying complexities (e.g., severity differences within a percentage of incidents).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Susceptible to </a:t>
            </a:r>
            <a:r>
              <a:rPr lang="en-US" b="1" dirty="0" smtClean="0"/>
              <a:t>Manipulation</a:t>
            </a:r>
            <a:r>
              <a:rPr lang="en-US" dirty="0" smtClean="0"/>
              <a:t>: Selective </a:t>
            </a:r>
            <a:r>
              <a:rPr lang="en-US" dirty="0"/>
              <a:t>baseline choices can skew perceptions (e.g., cherry-picking time frames).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Limited in Isolation</a:t>
            </a:r>
            <a:r>
              <a:rPr lang="en-US" dirty="0"/>
              <a:t> </a:t>
            </a:r>
            <a:r>
              <a:rPr lang="en-US" dirty="0" smtClean="0"/>
              <a:t>: Percentages </a:t>
            </a:r>
            <a:r>
              <a:rPr lang="en-US" dirty="0"/>
              <a:t>alone don’t explain causality or risk impact (requires additional metrics</a:t>
            </a:r>
            <a:r>
              <a:rPr lang="en-US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Percentages are valuable for clear communication and trend analysis but should be paired with absolute numbers and contextual details for accurate </a:t>
            </a:r>
            <a:r>
              <a:rPr lang="en-US" dirty="0" err="1"/>
              <a:t>cybersecurity</a:t>
            </a:r>
            <a:r>
              <a:rPr lang="en-US" dirty="0"/>
              <a:t> insights</a:t>
            </a: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127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Aging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265410" cy="360098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Tracks the time elapsed since a transaction or event occurred to identify suspicious delays, anomalies, or patterns indicative of fraud (e.g., stale checks, delayed refunds, dormant accounts suddenly active</a:t>
            </a:r>
            <a:r>
              <a:rPr lang="en-US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Aging analysis examines the time elapsed since an event or transaction to detect anomalies that may indicate fraud. </a:t>
            </a: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In</a:t>
            </a:r>
            <a:r>
              <a:rPr lang="en-US" dirty="0"/>
              <a:t> </a:t>
            </a:r>
            <a:r>
              <a:rPr lang="en-US" b="1" dirty="0" err="1"/>
              <a:t>cybersecurity</a:t>
            </a:r>
            <a:r>
              <a:rPr lang="en-US" dirty="0"/>
              <a:t>, it helps identify delayed or dormant activities that could signal malicious intent, such as account takeovers, insider threats, or financial fraud schemes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00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Aging in </a:t>
            </a:r>
            <a:r>
              <a:rPr lang="en-US" dirty="0" err="1" smtClean="0"/>
              <a:t>Cybersecurity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438384" cy="5105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ranklin Gothic Medium" pitchFamily="34" charset="0"/>
              </a:rPr>
              <a:t>Time-Based Segmentation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 smtClean="0">
                <a:latin typeface="Franklin Gothic Medium" pitchFamily="34" charset="0"/>
              </a:rPr>
              <a:t>Groups </a:t>
            </a:r>
            <a:r>
              <a:rPr lang="en-US" sz="2800" dirty="0">
                <a:latin typeface="Franklin Gothic Medium" pitchFamily="34" charset="0"/>
              </a:rPr>
              <a:t>data by age (e.g., inactive accounts suddenly accessed after 6+ months, delayed financial transactions).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ranklin Gothic Medium" pitchFamily="34" charset="0"/>
              </a:rPr>
              <a:t>Thresholds &amp; Rules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Flags unusual delays (e.g., login attempts from a long-dormant account, late invoice submissions).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Franklin Gothic Medium" pitchFamily="34" charset="0"/>
              </a:rPr>
              <a:t>Trend Analysis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D</a:t>
            </a:r>
            <a:r>
              <a:rPr lang="en-US" sz="2800" dirty="0">
                <a:latin typeface="Franklin Gothic Medium" pitchFamily="34" charset="0"/>
              </a:rPr>
              <a:t>etects abnormal aging patterns (e.g., old credentials reused in a brute-force attack).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57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Aging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10265410" cy="560153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Advantages: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Detects Timing Anomalies</a:t>
            </a:r>
            <a:r>
              <a:rPr lang="en-US" dirty="0"/>
              <a:t> – Uncovers fraud schemes relying on delays (e.g., check kiting, invoice manipulation).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Simple &amp; Scalable</a:t>
            </a:r>
            <a:r>
              <a:rPr lang="en-US" dirty="0"/>
              <a:t> – Easy to implement with basic date calculations.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Complements Other Methods</a:t>
            </a:r>
            <a:r>
              <a:rPr lang="en-US" dirty="0"/>
              <a:t> – Enhances rules-based systems and machine learning models.</a:t>
            </a:r>
          </a:p>
          <a:p>
            <a:r>
              <a:rPr lang="en-US" b="1" dirty="0" smtClean="0"/>
              <a:t>2.  Disadvantages</a:t>
            </a:r>
            <a:r>
              <a:rPr lang="en-US" b="1" dirty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False Positives</a:t>
            </a:r>
            <a:r>
              <a:rPr lang="en-US" dirty="0"/>
              <a:t> – Legitimate delays (e.g., processing backlogs) may trigger alerts.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Limited Scope</a:t>
            </a:r>
            <a:r>
              <a:rPr lang="en-US" dirty="0"/>
              <a:t> – Only effective for time-sensitive fraud; misses other schemes.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Static Thresholds</a:t>
            </a:r>
            <a:r>
              <a:rPr lang="en-US" dirty="0"/>
              <a:t> – Requires manual updates to adapt to new fraud tactics.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572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Average (Mean)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10265410" cy="4401205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Measures </a:t>
            </a:r>
            <a:r>
              <a:rPr lang="en-US" dirty="0"/>
              <a:t>central tendency to identify typical values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Average (mean) analysis calculates the central tendency of a dataset to establish baselines and detect deviations that may indicate </a:t>
            </a:r>
            <a:r>
              <a:rPr lang="en-US" dirty="0" smtClean="0"/>
              <a:t>fraud.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In</a:t>
            </a:r>
            <a:r>
              <a:rPr lang="en-US" dirty="0"/>
              <a:t> </a:t>
            </a:r>
            <a:r>
              <a:rPr lang="en-US" b="1" dirty="0" err="1"/>
              <a:t>cybersecurity</a:t>
            </a:r>
            <a:r>
              <a:rPr lang="en-US" dirty="0"/>
              <a:t>, it helps identify unusual activity by comparing current behavior against historical averages</a:t>
            </a:r>
            <a:br>
              <a:rPr lang="en-US" dirty="0"/>
            </a:br>
            <a:r>
              <a:rPr lang="en-US" b="1" dirty="0"/>
              <a:t>Formula:</a:t>
            </a:r>
            <a:endParaRPr lang="en-US" dirty="0"/>
          </a:p>
          <a:p>
            <a:r>
              <a:rPr lang="en-US" dirty="0" smtClean="0"/>
              <a:t>	Average=</a:t>
            </a:r>
            <a:r>
              <a:rPr lang="en-US" dirty="0"/>
              <a:t>∑</a:t>
            </a:r>
            <a:r>
              <a:rPr lang="en-US" dirty="0" smtClean="0"/>
              <a:t>Values/Count​</a:t>
            </a:r>
          </a:p>
          <a:p>
            <a:r>
              <a:rPr lang="en-US" b="1" dirty="0" smtClean="0"/>
              <a:t>Applications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 smtClean="0"/>
              <a:t>1. Financial</a:t>
            </a:r>
            <a:r>
              <a:rPr lang="en-US" b="1" dirty="0"/>
              <a:t>:</a:t>
            </a:r>
            <a:r>
              <a:rPr lang="en-US" dirty="0"/>
              <a:t> Average transaction amount (fraud detection).</a:t>
            </a:r>
          </a:p>
          <a:p>
            <a:r>
              <a:rPr lang="en-US" b="1" dirty="0" smtClean="0"/>
              <a:t>2. </a:t>
            </a:r>
            <a:r>
              <a:rPr lang="en-US" b="1" dirty="0" err="1" smtClean="0"/>
              <a:t>Cybersecurity</a:t>
            </a:r>
            <a:r>
              <a:rPr lang="en-US" b="1" dirty="0"/>
              <a:t>:</a:t>
            </a:r>
            <a:r>
              <a:rPr lang="en-US" dirty="0"/>
              <a:t> Mean time to detect (MTTD) threats.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66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1107996"/>
          </a:xfrm>
        </p:spPr>
        <p:txBody>
          <a:bodyPr/>
          <a:lstStyle/>
          <a:p>
            <a:r>
              <a:rPr lang="en-US" b="1" dirty="0"/>
              <a:t>A</a:t>
            </a:r>
            <a:r>
              <a:rPr lang="en-US" b="1" dirty="0" smtClean="0"/>
              <a:t>verage at work </a:t>
            </a:r>
            <a:r>
              <a:rPr lang="en-US" b="1" dirty="0"/>
              <a:t>in </a:t>
            </a:r>
            <a:r>
              <a:rPr lang="en-US" b="1" dirty="0" err="1"/>
              <a:t>Cybersecurity</a:t>
            </a:r>
            <a:r>
              <a:rPr lang="en-US" b="1" dirty="0"/>
              <a:t> Fraud </a:t>
            </a:r>
            <a:r>
              <a:rPr lang="en-US" b="1" dirty="0" smtClean="0"/>
              <a:t>Detection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4216539"/>
          </a:xfrm>
        </p:spPr>
        <p:txBody>
          <a:bodyPr/>
          <a:lstStyle/>
          <a:p>
            <a:r>
              <a:rPr lang="en-US" sz="3600" b="1" dirty="0" smtClean="0">
                <a:latin typeface="Franklin Gothic Medium" pitchFamily="34" charset="0"/>
              </a:rPr>
              <a:t>1. Baseline </a:t>
            </a:r>
            <a:r>
              <a:rPr lang="en-US" sz="3600" b="1" dirty="0">
                <a:latin typeface="Franklin Gothic Medium" pitchFamily="34" charset="0"/>
              </a:rPr>
              <a:t>Establishment</a:t>
            </a:r>
            <a:endParaRPr lang="en-US" sz="36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Compute average values (e.g., average login attempts per user, average transaction amount).</a:t>
            </a:r>
          </a:p>
          <a:p>
            <a:r>
              <a:rPr lang="en-US" sz="3600" b="1" dirty="0" smtClean="0">
                <a:latin typeface="Franklin Gothic Medium" pitchFamily="34" charset="0"/>
              </a:rPr>
              <a:t>2. Deviation </a:t>
            </a:r>
            <a:r>
              <a:rPr lang="en-US" sz="3600" b="1" dirty="0">
                <a:latin typeface="Franklin Gothic Medium" pitchFamily="34" charset="0"/>
              </a:rPr>
              <a:t>Detection</a:t>
            </a:r>
            <a:endParaRPr lang="en-US" sz="36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Flag outliers (e.g., login spikes, unusually large financial transactions).</a:t>
            </a:r>
          </a:p>
          <a:p>
            <a:r>
              <a:rPr lang="en-US" sz="3600" b="1" dirty="0" smtClean="0">
                <a:latin typeface="Franklin Gothic Medium" pitchFamily="34" charset="0"/>
              </a:rPr>
              <a:t>3. Threshold </a:t>
            </a:r>
            <a:r>
              <a:rPr lang="en-US" sz="3600" b="1" dirty="0">
                <a:latin typeface="Franklin Gothic Medium" pitchFamily="34" charset="0"/>
              </a:rPr>
              <a:t>Triggers</a:t>
            </a:r>
            <a:endParaRPr lang="en-US" sz="36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Set rules (e.g., alert if activity exceeds 2x the average)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521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Average: Advantages &amp; Disadvantages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66800"/>
            <a:ext cx="10265410" cy="520142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 smtClean="0"/>
              <a:t>Advantages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Simple </a:t>
            </a:r>
            <a:r>
              <a:rPr lang="en-US" b="1" dirty="0"/>
              <a:t>&amp; Fast</a:t>
            </a:r>
            <a:r>
              <a:rPr lang="en-US" dirty="0"/>
              <a:t> – Easy to compute and </a:t>
            </a:r>
            <a:r>
              <a:rPr lang="en-US" dirty="0" smtClean="0"/>
              <a:t>interpret.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Effective </a:t>
            </a:r>
            <a:r>
              <a:rPr lang="en-US" b="1" dirty="0"/>
              <a:t>for Volume-Based Fraud</a:t>
            </a:r>
            <a:r>
              <a:rPr lang="en-US" dirty="0"/>
              <a:t> – Detects spikes in activity (e.g., DDoS, credential stuffing</a:t>
            </a:r>
            <a:r>
              <a:rPr lang="en-US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Baseline </a:t>
            </a:r>
            <a:r>
              <a:rPr lang="en-US" b="1" dirty="0"/>
              <a:t>Comparison</a:t>
            </a:r>
            <a:r>
              <a:rPr lang="en-US" dirty="0"/>
              <a:t> – Helps distinguish normal vs. suspicious behavior.</a:t>
            </a:r>
          </a:p>
          <a:p>
            <a:r>
              <a:rPr lang="en-US" b="1" dirty="0" smtClean="0"/>
              <a:t>2. Disadvantages </a:t>
            </a:r>
            <a:r>
              <a:rPr lang="en-US" b="1" dirty="0"/>
              <a:t>&amp; Challenges: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Masked </a:t>
            </a:r>
            <a:r>
              <a:rPr lang="en-US" b="1" dirty="0"/>
              <a:t>by Skewed Data</a:t>
            </a:r>
            <a:r>
              <a:rPr lang="en-US" dirty="0"/>
              <a:t> – Averages can be distorted by extreme values (e.g., a single huge transaction</a:t>
            </a:r>
            <a:r>
              <a:rPr lang="en-US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False </a:t>
            </a:r>
            <a:r>
              <a:rPr lang="en-US" b="1" dirty="0"/>
              <a:t>Positives/Negatives</a:t>
            </a:r>
            <a:r>
              <a:rPr lang="en-US" dirty="0"/>
              <a:t> – Legitimate outliers (e.g., holiday sales) or low-and-slow attacks may evade </a:t>
            </a:r>
            <a:r>
              <a:rPr lang="en-US" dirty="0" smtClean="0"/>
              <a:t>detection.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Static </a:t>
            </a:r>
            <a:r>
              <a:rPr lang="en-US" b="1" dirty="0"/>
              <a:t>Baseline Issue</a:t>
            </a:r>
            <a:r>
              <a:rPr lang="en-US" dirty="0"/>
              <a:t> – Requires updates to reflect evolving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320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514600"/>
            <a:ext cx="80010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i="1" dirty="0" smtClean="0">
                <a:solidFill>
                  <a:schemeClr val="tx1"/>
                </a:solidFill>
                <a:latin typeface="Franklin Gothic Book" pitchFamily="34" charset="0"/>
              </a:rPr>
              <a:t>Common Analysis Functions</a:t>
            </a:r>
            <a:r>
              <a:rPr lang="en-US" dirty="0" smtClean="0">
                <a:latin typeface="Franklin Gothic Book" pitchFamily="34" charset="0"/>
              </a:rPr>
              <a:t>.</a:t>
            </a:r>
            <a:endParaRPr i="1" spc="-10" dirty="0">
              <a:solidFill>
                <a:srgbClr val="000000"/>
              </a:solidFill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144270"/>
            <a:ext cx="62458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Filter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57201" y="1839310"/>
            <a:ext cx="11143614" cy="437042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Isolate </a:t>
            </a:r>
            <a:r>
              <a:rPr lang="en-US" sz="2800" dirty="0"/>
              <a:t>specific data meeting defined </a:t>
            </a:r>
            <a:r>
              <a:rPr lang="en-US" sz="2800" dirty="0" smtClean="0"/>
              <a:t>criteria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Used to extract specific subsets of data based on given conditions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Helps refine datasets by removing irrelevant or unnecessary data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/>
              <a:t>Examples: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Security: </a:t>
            </a:r>
            <a:r>
              <a:rPr lang="en-US" sz="2800" dirty="0" smtClean="0"/>
              <a:t>Show </a:t>
            </a:r>
            <a:r>
              <a:rPr lang="en-US" sz="2800" dirty="0"/>
              <a:t>all failed login attempts from IPs outside our </a:t>
            </a:r>
            <a:r>
              <a:rPr lang="en-US" sz="2800" dirty="0" smtClean="0"/>
              <a:t>country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Security: Filtering firewall logs to display only failed login attempts.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Data Science: Filtering a dataset to analyse customer transactions above K1000</a:t>
            </a:r>
            <a:endParaRPr lang="en-US" sz="2800" dirty="0"/>
          </a:p>
          <a:p>
            <a:endParaRPr sz="28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1300664" cy="1107996"/>
          </a:xfrm>
        </p:spPr>
        <p:txBody>
          <a:bodyPr/>
          <a:lstStyle/>
          <a:p>
            <a:r>
              <a:rPr lang="en-US" b="1" dirty="0"/>
              <a:t>Advantages and Disadvantages of Using Filtering in </a:t>
            </a:r>
            <a:r>
              <a:rPr lang="en-US" b="1" dirty="0" err="1"/>
              <a:t>Cybersecurity</a:t>
            </a:r>
            <a:r>
              <a:rPr lang="en-US" b="1" dirty="0"/>
              <a:t> Data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11506200" cy="5201424"/>
          </a:xfrm>
        </p:spPr>
        <p:txBody>
          <a:bodyPr/>
          <a:lstStyle/>
          <a:p>
            <a:r>
              <a:rPr lang="en-US" b="1" dirty="0" smtClean="0"/>
              <a:t>1. Advantages</a:t>
            </a:r>
            <a:endParaRPr lang="en-US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Focused Threat Detection</a:t>
            </a:r>
            <a:r>
              <a:rPr lang="en-US" dirty="0"/>
              <a:t> – Isolates high-risk events (e.g., filtering logs for failed login attempts or known malicious IPs).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Reduced Noise</a:t>
            </a:r>
            <a:r>
              <a:rPr lang="en-US" dirty="0"/>
              <a:t> – Eliminates irrelevant data, improving signal-to-noise ratio in large datasets.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Faster Processing</a:t>
            </a:r>
            <a:r>
              <a:rPr lang="en-US" dirty="0"/>
              <a:t> – Decreases data volume, speeding up real-time monitoring and incident response.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Customizable Rules</a:t>
            </a:r>
            <a:r>
              <a:rPr lang="en-US" dirty="0"/>
              <a:t> – Enables tailored threat hunting (e.g., filtering for unusual file access times or </a:t>
            </a:r>
            <a:r>
              <a:rPr lang="en-US" dirty="0" err="1"/>
              <a:t>geolocation</a:t>
            </a:r>
            <a:r>
              <a:rPr lang="en-US" dirty="0"/>
              <a:t> mismatches).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Compliance &amp; Forensics</a:t>
            </a:r>
            <a:r>
              <a:rPr lang="en-US" dirty="0"/>
              <a:t> – Simplifies audits by extracting relevant logs (e.g., GDPR-related access events).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Integration with AI/ML</a:t>
            </a:r>
            <a:r>
              <a:rPr lang="en-US" dirty="0"/>
              <a:t> – Prepares clean datasets for machine learning models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189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1894"/>
            <a:ext cx="11658600" cy="1132331"/>
          </a:xfrm>
        </p:spPr>
        <p:txBody>
          <a:bodyPr/>
          <a:lstStyle/>
          <a:p>
            <a:r>
              <a:rPr lang="en-US" b="1" dirty="0"/>
              <a:t>Advantages and Disadvantages of Using Filtering in </a:t>
            </a:r>
            <a:r>
              <a:rPr lang="en-US" b="1" dirty="0" err="1"/>
              <a:t>Cybersecurity</a:t>
            </a:r>
            <a:r>
              <a:rPr lang="en-US" b="1" dirty="0"/>
              <a:t> Data 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24000"/>
            <a:ext cx="10799826" cy="4401205"/>
          </a:xfrm>
        </p:spPr>
        <p:txBody>
          <a:bodyPr/>
          <a:lstStyle/>
          <a:p>
            <a:r>
              <a:rPr lang="en-US" b="1" dirty="0" smtClean="0"/>
              <a:t>2. Disadvantages</a:t>
            </a:r>
            <a:endParaRPr lang="en-US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Risk of Over-Filtering</a:t>
            </a:r>
            <a:r>
              <a:rPr lang="en-US" dirty="0"/>
              <a:t> – May discard useful context or subtle attack patterns (e.g., low-and-slow attacks).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False Sense of Security</a:t>
            </a:r>
            <a:r>
              <a:rPr lang="en-US" dirty="0"/>
              <a:t> – Reliance on static filters can miss zero-day or evolving threats.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Configuration Complexity</a:t>
            </a:r>
            <a:r>
              <a:rPr lang="en-US" dirty="0"/>
              <a:t> – Requires expertise to design effective filtering rules without gaps.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Maintenance Overhead</a:t>
            </a:r>
            <a:r>
              <a:rPr lang="en-US" dirty="0"/>
              <a:t> – Filters need constant updates to match new attack techniques.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Potential Data Loss</a:t>
            </a:r>
            <a:r>
              <a:rPr lang="en-US" dirty="0"/>
              <a:t> – Aggressive filtering might erase forensic evidence needed for post-breach analysis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8734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600200"/>
            <a:ext cx="10265410" cy="360098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Organize </a:t>
            </a:r>
            <a:r>
              <a:rPr lang="en-US" dirty="0"/>
              <a:t>data in meaningful </a:t>
            </a:r>
            <a:r>
              <a:rPr lang="en-US" dirty="0" smtClean="0"/>
              <a:t>order.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Arranges data in ascending or descending order based on one or more fields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It enhances data organisation for better readability and analysis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Security: </a:t>
            </a:r>
            <a:r>
              <a:rPr lang="en-US" dirty="0" smtClean="0"/>
              <a:t>Sort </a:t>
            </a:r>
            <a:r>
              <a:rPr lang="en-US" dirty="0"/>
              <a:t>vulnerabilities by </a:t>
            </a:r>
            <a:r>
              <a:rPr lang="en-US" dirty="0" smtClean="0"/>
              <a:t>CVSS (Common Vulnerability Scoring System) </a:t>
            </a:r>
            <a:r>
              <a:rPr lang="en-US" dirty="0"/>
              <a:t>score (high to low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Data Science: Sorting product sales data from highest to lowest revenue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32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1148264" cy="1107996"/>
          </a:xfrm>
        </p:spPr>
        <p:txBody>
          <a:bodyPr/>
          <a:lstStyle/>
          <a:p>
            <a:r>
              <a:rPr lang="en-US" b="1" dirty="0"/>
              <a:t>Advantages and Disadvantages of Using Sorting in </a:t>
            </a:r>
            <a:r>
              <a:rPr lang="en-US" b="1" dirty="0" err="1"/>
              <a:t>Cybersecurity</a:t>
            </a:r>
            <a:r>
              <a:rPr lang="en-US" b="1" dirty="0"/>
              <a:t> Data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00200"/>
            <a:ext cx="10265410" cy="4801314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Prioritization of Threats</a:t>
            </a:r>
            <a:r>
              <a:rPr lang="en-US" dirty="0"/>
              <a:t> – Sorts data by severity (e.g., high-risk alerts first), enabling faster response to critical incidents.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Pattern Recognition</a:t>
            </a:r>
            <a:r>
              <a:rPr lang="en-US" dirty="0"/>
              <a:t> – Helps identify trends (e.g., sorting logins by frequency to spot brute-force attacks).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Efficient Forensics</a:t>
            </a:r>
            <a:r>
              <a:rPr lang="en-US" dirty="0"/>
              <a:t> – Organizes large datasets (e.g., sorting timestamps to reconstruct attack timelines).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Anomaly Detection</a:t>
            </a:r>
            <a:r>
              <a:rPr lang="en-US" dirty="0"/>
              <a:t> – Reveals outliers when sorted (e.g., unusually large file transfers at odd hours).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User-Friendly Reporting</a:t>
            </a:r>
            <a:r>
              <a:rPr lang="en-US" dirty="0"/>
              <a:t> – Presents data logically (e.g., sorting by IP to track suspicious sources).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9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0767264" cy="1132331"/>
          </a:xfrm>
        </p:spPr>
        <p:txBody>
          <a:bodyPr/>
          <a:lstStyle/>
          <a:p>
            <a:r>
              <a:rPr lang="en-US" b="1" dirty="0"/>
              <a:t>Advantages and Disadvantages of Using Sorting in </a:t>
            </a:r>
            <a:r>
              <a:rPr lang="en-US" b="1" dirty="0" err="1"/>
              <a:t>Cybersecurity</a:t>
            </a:r>
            <a:r>
              <a:rPr lang="en-US" b="1" dirty="0"/>
              <a:t> Data 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10265410" cy="4801314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Context Loss</a:t>
            </a:r>
            <a:r>
              <a:rPr lang="en-US" dirty="0"/>
              <a:t> – Sorting by one column may hide relationships in other fields (e.g., sorting by time might obscure IP correlations).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False Focus</a:t>
            </a:r>
            <a:r>
              <a:rPr lang="en-US" dirty="0"/>
              <a:t> – Overemphasis on top/bottom entries could miss mid-range threats (e.g., moderate but persistent attacks).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Resource Intensive</a:t>
            </a:r>
            <a:r>
              <a:rPr lang="en-US" dirty="0"/>
              <a:t> – Sorting large datasets (e.g., full packet captures) can slow down real-time analysis.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Static Perspective</a:t>
            </a:r>
            <a:r>
              <a:rPr lang="en-US" dirty="0"/>
              <a:t> – Requires re-sorting for multi-angle views, unlike dynamic filtering/grouping.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Misleading Order</a:t>
            </a:r>
            <a:r>
              <a:rPr lang="en-US" dirty="0"/>
              <a:t> – Ascending/descending sorts may unintentionally emphasize less relevant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34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Join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60098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Combine </a:t>
            </a:r>
            <a:r>
              <a:rPr lang="en-US" dirty="0"/>
              <a:t>related data from different </a:t>
            </a:r>
            <a:r>
              <a:rPr lang="en-US" dirty="0" smtClean="0"/>
              <a:t>sources (tables or databases).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Combining is usually based on a common key.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Common types of joins include: inner join, right join and full outer join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Security: </a:t>
            </a:r>
            <a:r>
              <a:rPr lang="en-US" dirty="0" smtClean="0"/>
              <a:t>Merge </a:t>
            </a:r>
            <a:r>
              <a:rPr lang="en-US" dirty="0"/>
              <a:t>employee directory with VPN access </a:t>
            </a:r>
            <a:r>
              <a:rPr lang="en-US" dirty="0" smtClean="0"/>
              <a:t>logs</a:t>
            </a:r>
            <a:endParaRPr lang="en-US" dirty="0"/>
          </a:p>
          <a:p>
            <a:r>
              <a:rPr lang="en-US" dirty="0"/>
              <a:t>Healthcare: </a:t>
            </a:r>
            <a:r>
              <a:rPr lang="en-US" dirty="0" smtClean="0"/>
              <a:t>Link </a:t>
            </a:r>
            <a:r>
              <a:rPr lang="en-US" dirty="0"/>
              <a:t>patient records with lab test </a:t>
            </a:r>
            <a:r>
              <a:rPr lang="en-US" dirty="0" smtClean="0"/>
              <a:t>results</a:t>
            </a:r>
          </a:p>
          <a:p>
            <a:r>
              <a:rPr lang="en-US" dirty="0" smtClean="0"/>
              <a:t>Data Science: Join customer and purchase datasets to analyse spending habits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895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1072064" cy="644906"/>
          </a:xfrm>
        </p:spPr>
        <p:txBody>
          <a:bodyPr/>
          <a:lstStyle/>
          <a:p>
            <a:r>
              <a:rPr lang="en-US" b="1" dirty="0"/>
              <a:t>Advantages and Disadvantages of Using Join </a:t>
            </a:r>
            <a:r>
              <a:rPr lang="en-US" b="1" dirty="0" smtClean="0"/>
              <a:t>Operations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066800"/>
            <a:ext cx="10265410" cy="4801314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Enhanced Correlation</a:t>
            </a:r>
            <a:r>
              <a:rPr lang="en-US" dirty="0"/>
              <a:t> – Combines data from multiple sources (e.g., firewall logs + authentication events) to detect complex attack patterns.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Comprehensive Threat Detection</a:t>
            </a:r>
            <a:r>
              <a:rPr lang="en-US" dirty="0"/>
              <a:t> – Links related events (e.g., matching IPs in network logs with known threat intelligence feeds).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Improved Context</a:t>
            </a:r>
            <a:r>
              <a:rPr lang="en-US" dirty="0"/>
              <a:t> – Provides a unified view (e.g., joining user IDs with access logs to identify compromised accounts).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Efficient Investigations</a:t>
            </a:r>
            <a:r>
              <a:rPr lang="en-US" dirty="0"/>
              <a:t> – Accelerates forensic analysis by merging datasets (e.g., correlating timestamps across systems).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Automated Alerts</a:t>
            </a:r>
            <a:r>
              <a:rPr lang="en-US" dirty="0"/>
              <a:t> – Enables rule-based joins (e.g., triggering alerts when malware hashes match internal file transfers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1733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1300664" cy="644906"/>
          </a:xfrm>
        </p:spPr>
        <p:txBody>
          <a:bodyPr/>
          <a:lstStyle/>
          <a:p>
            <a:r>
              <a:rPr lang="en-US" b="1" dirty="0"/>
              <a:t>Advantages and Disadvantages of Using Join Operations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265410" cy="4401205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Performance Overhead</a:t>
            </a:r>
            <a:r>
              <a:rPr lang="en-US" dirty="0"/>
              <a:t> – Joining large datasets (e.g., full packet captures + SIEM logs) can be computationally expensive.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Data Quality Issues</a:t>
            </a:r>
            <a:r>
              <a:rPr lang="en-US" dirty="0"/>
              <a:t> – Inconsistent formats or missing keys (e.g., mismatched timestamps) may lead to incomplete joins.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False Positives/Negatives</a:t>
            </a:r>
            <a:r>
              <a:rPr lang="en-US" dirty="0"/>
              <a:t> – Overly broad joins may produce noise; overly strict joins might miss subtle correlations.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Complexity</a:t>
            </a:r>
            <a:r>
              <a:rPr lang="en-US" dirty="0"/>
              <a:t> – Requires careful planning (e.g., choosing join types—inner, outer, left) to avoid losing critical data.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Privacy Risks</a:t>
            </a:r>
            <a:r>
              <a:rPr lang="en-US" dirty="0"/>
              <a:t> – Joining sensitive datasets (e.g., PII with access logs) may violate compliance if not properly </a:t>
            </a:r>
            <a:r>
              <a:rPr lang="en-US" dirty="0" err="1" smtClean="0"/>
              <a:t>anonymized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71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Append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10265410" cy="5201424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Stack datasets with similar </a:t>
            </a:r>
            <a:r>
              <a:rPr lang="en-US" dirty="0" smtClean="0"/>
              <a:t>structure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Involves adding new rows of data to an existing database.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Usually when both have the same structure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Useful when aggregating datasets from multiple sources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</a:t>
            </a:r>
            <a:r>
              <a:rPr lang="en-US" dirty="0" smtClean="0"/>
              <a:t>: </a:t>
            </a:r>
          </a:p>
          <a:p>
            <a:r>
              <a:rPr lang="en-US" dirty="0" smtClean="0"/>
              <a:t>1. Combine </a:t>
            </a:r>
            <a:r>
              <a:rPr lang="en-US" dirty="0"/>
              <a:t>monthly phishing report </a:t>
            </a:r>
            <a:r>
              <a:rPr lang="en-US" dirty="0" smtClean="0"/>
              <a:t>data.</a:t>
            </a:r>
          </a:p>
          <a:p>
            <a:r>
              <a:rPr lang="en-US" dirty="0" smtClean="0"/>
              <a:t>2. Merging security event logs from multiple servers into a </a:t>
            </a:r>
            <a:r>
              <a:rPr lang="en-US" dirty="0" err="1" smtClean="0"/>
              <a:t>centralised</a:t>
            </a:r>
            <a:r>
              <a:rPr lang="en-US" dirty="0" smtClean="0"/>
              <a:t> database for analysis	</a:t>
            </a:r>
            <a:endParaRPr lang="en-US" dirty="0"/>
          </a:p>
          <a:p>
            <a:r>
              <a:rPr lang="en-US" dirty="0" smtClean="0"/>
              <a:t>Research</a:t>
            </a:r>
            <a:r>
              <a:rPr lang="en-US" dirty="0"/>
              <a:t>: </a:t>
            </a:r>
            <a:r>
              <a:rPr lang="en-US" dirty="0" smtClean="0"/>
              <a:t>Merge </a:t>
            </a:r>
            <a:r>
              <a:rPr lang="en-US" dirty="0"/>
              <a:t>survey responses from different </a:t>
            </a:r>
            <a:r>
              <a:rPr lang="en-US" dirty="0" smtClean="0"/>
              <a:t>regions</a:t>
            </a:r>
          </a:p>
          <a:p>
            <a:r>
              <a:rPr lang="en-US" dirty="0"/>
              <a:t>Data Science</a:t>
            </a:r>
            <a:r>
              <a:rPr lang="en-US" dirty="0" smtClean="0"/>
              <a:t>: Appending quarterly sales data to a growing annual report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36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10919664" cy="721106"/>
          </a:xfrm>
        </p:spPr>
        <p:txBody>
          <a:bodyPr/>
          <a:lstStyle/>
          <a:p>
            <a:r>
              <a:rPr lang="en-US" b="1" dirty="0"/>
              <a:t>Advantages and Disadvantages of Using </a:t>
            </a:r>
            <a:r>
              <a:rPr lang="en-US" b="1" dirty="0" smtClean="0"/>
              <a:t>Append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2001"/>
            <a:ext cx="11658600" cy="6340197"/>
          </a:xfrm>
        </p:spPr>
        <p:txBody>
          <a:bodyPr/>
          <a:lstStyle/>
          <a:p>
            <a:r>
              <a:rPr lang="en-US" b="1" dirty="0" smtClean="0"/>
              <a:t>1. Advantages</a:t>
            </a:r>
            <a:endParaRPr lang="en-US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Data Aggregation</a:t>
            </a:r>
            <a:endParaRPr lang="en-US" sz="2400" dirty="0">
              <a:latin typeface="Franklin Gothic Medium" pitchFamily="34" charset="0"/>
            </a:endParaRPr>
          </a:p>
          <a:p>
            <a:pPr lvl="1"/>
            <a:r>
              <a:rPr lang="en-US" sz="2400" dirty="0">
                <a:latin typeface="Franklin Gothic Medium" pitchFamily="34" charset="0"/>
              </a:rPr>
              <a:t>Combines multiple datasets (e.g., logs from different time periods or sources) into a unified view for holistic analysis.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Simplified Historical Analysis</a:t>
            </a:r>
            <a:endParaRPr lang="en-US" sz="2400" dirty="0">
              <a:latin typeface="Franklin Gothic Medium" pitchFamily="34" charset="0"/>
            </a:endParaRPr>
          </a:p>
          <a:p>
            <a:pPr lvl="1"/>
            <a:r>
              <a:rPr lang="en-US" sz="2400" dirty="0">
                <a:latin typeface="Franklin Gothic Medium" pitchFamily="34" charset="0"/>
              </a:rPr>
              <a:t>Enables trend detection by appending new data to historical records (e.g., tracking attack patterns over months).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Streamlined Processing</a:t>
            </a:r>
            <a:endParaRPr lang="en-US" sz="2400" dirty="0">
              <a:latin typeface="Franklin Gothic Medium" pitchFamily="34" charset="0"/>
            </a:endParaRPr>
          </a:p>
          <a:p>
            <a:pPr lvl="1"/>
            <a:r>
              <a:rPr lang="en-US" sz="2400" dirty="0">
                <a:latin typeface="Franklin Gothic Medium" pitchFamily="34" charset="0"/>
              </a:rPr>
              <a:t>Reduces complexity when working with batch data (e.g., merging daily firewall logs into a single dataset).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Compatibility with SIEMs</a:t>
            </a:r>
            <a:endParaRPr lang="en-US" sz="2400" dirty="0">
              <a:latin typeface="Franklin Gothic Medium" pitchFamily="34" charset="0"/>
            </a:endParaRPr>
          </a:p>
          <a:p>
            <a:pPr lvl="1"/>
            <a:r>
              <a:rPr lang="en-US" sz="2400" dirty="0">
                <a:latin typeface="Franklin Gothic Medium" pitchFamily="34" charset="0"/>
              </a:rPr>
              <a:t>Many security tools (e.g., </a:t>
            </a:r>
            <a:r>
              <a:rPr lang="en-US" sz="2400" dirty="0" err="1">
                <a:latin typeface="Franklin Gothic Medium" pitchFamily="34" charset="0"/>
              </a:rPr>
              <a:t>Splunk</a:t>
            </a:r>
            <a:r>
              <a:rPr lang="en-US" sz="2400" dirty="0">
                <a:latin typeface="Franklin Gothic Medium" pitchFamily="34" charset="0"/>
              </a:rPr>
              <a:t>, ELK) rely on appended logs for correlation and alerting</a:t>
            </a:r>
            <a:r>
              <a:rPr lang="en-US" sz="2400" dirty="0" smtClean="0">
                <a:latin typeface="Franklin Gothic Medium" pitchFamily="34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Forensic Investigations</a:t>
            </a:r>
            <a:endParaRPr lang="en-US" sz="2400" dirty="0">
              <a:latin typeface="Franklin Gothic Medium" pitchFamily="34" charset="0"/>
            </a:endParaRPr>
          </a:p>
          <a:p>
            <a:pPr lvl="1"/>
            <a:r>
              <a:rPr lang="en-US" sz="2400" dirty="0">
                <a:latin typeface="Franklin Gothic Medium" pitchFamily="34" charset="0"/>
              </a:rPr>
              <a:t>Helps reconstruct timelines by sequentially adding events (e.g., appending network and endpoint logs for attack chain analysis</a:t>
            </a:r>
            <a:r>
              <a:rPr lang="en-US" sz="2400" dirty="0" smtClean="0">
                <a:latin typeface="Franklin Gothic Medium" pitchFamily="34" charset="0"/>
              </a:rPr>
              <a:t>).</a:t>
            </a:r>
            <a:endParaRPr lang="en-US" sz="2400" dirty="0">
              <a:latin typeface="Franklin Gothic Medium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83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8393"/>
            <a:ext cx="11148264" cy="644906"/>
          </a:xfrm>
        </p:spPr>
        <p:txBody>
          <a:bodyPr/>
          <a:lstStyle/>
          <a:p>
            <a:r>
              <a:rPr lang="en-US" b="1" dirty="0"/>
              <a:t>Advantages and Disadvantages of Using Append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609600"/>
            <a:ext cx="11658600" cy="4770537"/>
          </a:xfrm>
        </p:spPr>
        <p:txBody>
          <a:bodyPr/>
          <a:lstStyle/>
          <a:p>
            <a:r>
              <a:rPr lang="en-US" b="1" dirty="0" smtClean="0"/>
              <a:t>2. Disadvantages</a:t>
            </a:r>
            <a:endParaRPr lang="en-US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Data </a:t>
            </a:r>
            <a:r>
              <a:rPr lang="en-US" sz="2400" b="1" dirty="0" smtClean="0">
                <a:latin typeface="Franklin Gothic Medium" pitchFamily="34" charset="0"/>
              </a:rPr>
              <a:t>Duplication</a:t>
            </a:r>
            <a:r>
              <a:rPr lang="en-US" sz="2400" dirty="0" smtClean="0">
                <a:latin typeface="Franklin Gothic Medium" pitchFamily="34" charset="0"/>
              </a:rPr>
              <a:t>: May </a:t>
            </a:r>
            <a:r>
              <a:rPr lang="en-US" sz="2400" dirty="0">
                <a:latin typeface="Franklin Gothic Medium" pitchFamily="34" charset="0"/>
              </a:rPr>
              <a:t>create redundant entries if not properly </a:t>
            </a:r>
            <a:r>
              <a:rPr lang="en-US" sz="2400" dirty="0" err="1">
                <a:latin typeface="Franklin Gothic Medium" pitchFamily="34" charset="0"/>
              </a:rPr>
              <a:t>deduplicated</a:t>
            </a:r>
            <a:r>
              <a:rPr lang="en-US" sz="2400" dirty="0">
                <a:latin typeface="Franklin Gothic Medium" pitchFamily="34" charset="0"/>
              </a:rPr>
              <a:t> (e.g., repeated alerts from overlapping sources).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Loss of Source </a:t>
            </a:r>
            <a:r>
              <a:rPr lang="en-US" sz="2400" b="1" dirty="0" smtClean="0">
                <a:latin typeface="Franklin Gothic Medium" pitchFamily="34" charset="0"/>
              </a:rPr>
              <a:t>Context</a:t>
            </a:r>
            <a:r>
              <a:rPr lang="en-US" sz="2400" dirty="0" smtClean="0">
                <a:latin typeface="Franklin Gothic Medium" pitchFamily="34" charset="0"/>
              </a:rPr>
              <a:t>: Appended </a:t>
            </a:r>
            <a:r>
              <a:rPr lang="en-US" sz="2400" dirty="0">
                <a:latin typeface="Franklin Gothic Medium" pitchFamily="34" charset="0"/>
              </a:rPr>
              <a:t>datasets can obscure the origin of records, complicating attribution (e.g., merged logs from multiple sensors).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Performance </a:t>
            </a:r>
            <a:r>
              <a:rPr lang="en-US" sz="2400" b="1" dirty="0" smtClean="0">
                <a:latin typeface="Franklin Gothic Medium" pitchFamily="34" charset="0"/>
              </a:rPr>
              <a:t>Overhead</a:t>
            </a:r>
            <a:r>
              <a:rPr lang="en-US" sz="2400" dirty="0" smtClean="0">
                <a:latin typeface="Franklin Gothic Medium" pitchFamily="34" charset="0"/>
              </a:rPr>
              <a:t>: Large </a:t>
            </a:r>
            <a:r>
              <a:rPr lang="en-US" sz="2400" dirty="0">
                <a:latin typeface="Franklin Gothic Medium" pitchFamily="34" charset="0"/>
              </a:rPr>
              <a:t>appended datasets can slow down queries and analysis (e.g., multi-GB log files).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Time </a:t>
            </a:r>
            <a:r>
              <a:rPr lang="en-US" sz="2400" b="1" dirty="0" smtClean="0">
                <a:latin typeface="Franklin Gothic Medium" pitchFamily="34" charset="0"/>
              </a:rPr>
              <a:t>Misalignment</a:t>
            </a:r>
            <a:r>
              <a:rPr lang="en-US" sz="2400" dirty="0" smtClean="0">
                <a:latin typeface="Franklin Gothic Medium" pitchFamily="34" charset="0"/>
              </a:rPr>
              <a:t>: Appending </a:t>
            </a:r>
            <a:r>
              <a:rPr lang="en-US" sz="2400" dirty="0">
                <a:latin typeface="Franklin Gothic Medium" pitchFamily="34" charset="0"/>
              </a:rPr>
              <a:t>logs with unsynchronized timestamps can distort event sequences (e.g., delayed syslog </a:t>
            </a:r>
            <a:r>
              <a:rPr lang="en-US" sz="2400" dirty="0" smtClean="0">
                <a:latin typeface="Franklin Gothic Medium" pitchFamily="34" charset="0"/>
              </a:rPr>
              <a:t>entries</a:t>
            </a:r>
            <a:r>
              <a:rPr lang="en-US" sz="2400" dirty="0">
                <a:latin typeface="Franklin Gothic Medium" pitchFamily="34" charset="0"/>
              </a:rPr>
              <a:t>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>
                <a:latin typeface="Franklin Gothic Medium" pitchFamily="34" charset="0"/>
              </a:rPr>
              <a:t>Increased Storage </a:t>
            </a:r>
            <a:r>
              <a:rPr lang="en-US" sz="2400" b="1" dirty="0" smtClean="0">
                <a:latin typeface="Franklin Gothic Medium" pitchFamily="34" charset="0"/>
              </a:rPr>
              <a:t>Costs</a:t>
            </a:r>
            <a:r>
              <a:rPr lang="en-US" sz="2400" dirty="0" smtClean="0">
                <a:latin typeface="Franklin Gothic Medium" pitchFamily="34" charset="0"/>
              </a:rPr>
              <a:t>: Uncontrolled </a:t>
            </a:r>
            <a:r>
              <a:rPr lang="en-US" sz="2400" dirty="0">
                <a:latin typeface="Franklin Gothic Medium" pitchFamily="34" charset="0"/>
              </a:rPr>
              <a:t>appending leads to bloated datasets, raising storage and backup expenses.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173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0"/>
            <a:ext cx="10265410" cy="1200329"/>
          </a:xfrm>
        </p:spPr>
        <p:txBody>
          <a:bodyPr/>
          <a:lstStyle/>
          <a:p>
            <a:pPr algn="ctr"/>
            <a:r>
              <a:rPr lang="en-US" b="1" i="1" dirty="0" smtClean="0"/>
              <a:t>Research Task</a:t>
            </a:r>
          </a:p>
          <a:p>
            <a:pPr algn="l"/>
            <a:r>
              <a:rPr lang="en-US" dirty="0" smtClean="0"/>
              <a:t>Join and append are two (2) prevalent data analysis functions. Highlight the key similarities and differences between these two functions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784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Pivot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19200"/>
            <a:ext cx="10265410" cy="5201424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Summarize </a:t>
            </a:r>
            <a:r>
              <a:rPr lang="en-US" dirty="0"/>
              <a:t>and cross-tabulate </a:t>
            </a:r>
            <a:r>
              <a:rPr lang="en-US" dirty="0" smtClean="0"/>
              <a:t>data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Transforms data by rearranging rows and columns to </a:t>
            </a:r>
            <a:r>
              <a:rPr lang="en-US" dirty="0" err="1" smtClean="0"/>
              <a:t>summarise</a:t>
            </a:r>
            <a:r>
              <a:rPr lang="en-US" dirty="0" smtClean="0"/>
              <a:t> key information.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Used in pivot tables to create summaries and comparisons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Security: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Pivot </a:t>
            </a:r>
            <a:r>
              <a:rPr lang="en-US" dirty="0"/>
              <a:t>table of attack types by </a:t>
            </a:r>
            <a:r>
              <a:rPr lang="en-US" dirty="0" smtClean="0"/>
              <a:t>department</a:t>
            </a:r>
          </a:p>
          <a:p>
            <a:pPr marL="514350" indent="-514350">
              <a:buAutoNum type="arabicPeriod"/>
            </a:pPr>
            <a:r>
              <a:rPr lang="en-US" dirty="0" smtClean="0"/>
              <a:t>Pivoting security logs to analyse attack frequency by geographic region</a:t>
            </a:r>
            <a:endParaRPr lang="en-US" dirty="0"/>
          </a:p>
          <a:p>
            <a:r>
              <a:rPr lang="en-US" dirty="0"/>
              <a:t>Sales: </a:t>
            </a:r>
            <a:r>
              <a:rPr lang="en-US" dirty="0" smtClean="0"/>
              <a:t>Revenue </a:t>
            </a:r>
            <a:r>
              <a:rPr lang="en-US" dirty="0"/>
              <a:t>by product category and </a:t>
            </a:r>
            <a:r>
              <a:rPr lang="en-US" dirty="0" smtClean="0"/>
              <a:t>region</a:t>
            </a:r>
            <a:endParaRPr lang="en-US" dirty="0"/>
          </a:p>
          <a:p>
            <a:r>
              <a:rPr lang="en-US" dirty="0"/>
              <a:t>Education: </a:t>
            </a:r>
            <a:r>
              <a:rPr lang="en-US" dirty="0" smtClean="0"/>
              <a:t>Test </a:t>
            </a:r>
            <a:r>
              <a:rPr lang="en-US" dirty="0"/>
              <a:t>scores by subject and grade </a:t>
            </a:r>
            <a:r>
              <a:rPr lang="en-US" dirty="0" smtClean="0"/>
              <a:t>level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48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1148264" cy="797306"/>
          </a:xfrm>
        </p:spPr>
        <p:txBody>
          <a:bodyPr/>
          <a:lstStyle/>
          <a:p>
            <a:r>
              <a:rPr lang="en-US" b="1" dirty="0"/>
              <a:t>Advantages and Disadvantages of Using Pivot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990600"/>
            <a:ext cx="10265410" cy="4401205"/>
          </a:xfrm>
        </p:spPr>
        <p:txBody>
          <a:bodyPr/>
          <a:lstStyle/>
          <a:p>
            <a:r>
              <a:rPr lang="en-US" b="1" dirty="0" smtClean="0"/>
              <a:t>1. Advantages</a:t>
            </a:r>
            <a:endParaRPr lang="en-US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Enhanced Data Summarization</a:t>
            </a:r>
            <a:r>
              <a:rPr lang="en-US" dirty="0"/>
              <a:t> </a:t>
            </a:r>
            <a:r>
              <a:rPr lang="en-US" dirty="0" smtClean="0"/>
              <a:t>: Transforms </a:t>
            </a:r>
            <a:r>
              <a:rPr lang="en-US" dirty="0"/>
              <a:t>raw logs into structured tables (e.g., pivot by IP to count attack frequency).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Quick Pattern Recognition</a:t>
            </a:r>
            <a:r>
              <a:rPr lang="en-US" dirty="0"/>
              <a:t> </a:t>
            </a:r>
            <a:r>
              <a:rPr lang="en-US" dirty="0" smtClean="0"/>
              <a:t>: Highlights </a:t>
            </a:r>
            <a:r>
              <a:rPr lang="en-US" dirty="0"/>
              <a:t>trends (e.g., pivoting malware alerts by file type or origin).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Efficient Threat Hunting</a:t>
            </a:r>
            <a:r>
              <a:rPr lang="en-US" dirty="0"/>
              <a:t> </a:t>
            </a:r>
            <a:r>
              <a:rPr lang="en-US" dirty="0" smtClean="0"/>
              <a:t>: Aggregates </a:t>
            </a:r>
            <a:r>
              <a:rPr lang="en-US" dirty="0"/>
              <a:t>data for faster analysis (e.g., pivot by user to detect anomalous access).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Visual Clarity</a:t>
            </a:r>
            <a:r>
              <a:rPr lang="en-US" dirty="0"/>
              <a:t> </a:t>
            </a:r>
            <a:r>
              <a:rPr lang="en-US" dirty="0" smtClean="0"/>
              <a:t>: Simplifies </a:t>
            </a:r>
            <a:r>
              <a:rPr lang="en-US" dirty="0"/>
              <a:t>complex datasets for reporting (e.g., pivot tables in SIEM dashboards).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Correlation of Multi-Source Data</a:t>
            </a:r>
            <a:r>
              <a:rPr lang="en-US" dirty="0"/>
              <a:t> </a:t>
            </a:r>
            <a:r>
              <a:rPr lang="en-US" dirty="0" smtClean="0"/>
              <a:t>: Links </a:t>
            </a:r>
            <a:r>
              <a:rPr lang="en-US" dirty="0"/>
              <a:t>fields like timestamps, IPs, and user IDs to uncover hidden relationships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0024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0614864" cy="644906"/>
          </a:xfrm>
        </p:spPr>
        <p:txBody>
          <a:bodyPr/>
          <a:lstStyle/>
          <a:p>
            <a:r>
              <a:rPr lang="en-US" b="1" dirty="0"/>
              <a:t>Advantages and Disadvantages of Using Pivot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3000"/>
            <a:ext cx="10265410" cy="4801314"/>
          </a:xfrm>
        </p:spPr>
        <p:txBody>
          <a:bodyPr/>
          <a:lstStyle/>
          <a:p>
            <a:r>
              <a:rPr lang="en-US" b="1" dirty="0" smtClean="0"/>
              <a:t>2. Disadvantages</a:t>
            </a:r>
            <a:endParaRPr lang="en-US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Over-Simplification </a:t>
            </a:r>
            <a:r>
              <a:rPr lang="en-US" b="1" dirty="0" smtClean="0"/>
              <a:t>Risk</a:t>
            </a:r>
            <a:r>
              <a:rPr lang="en-US" dirty="0" smtClean="0"/>
              <a:t>: May </a:t>
            </a:r>
            <a:r>
              <a:rPr lang="en-US" dirty="0"/>
              <a:t>hide granular details critical for investigations (e.g., pivoting averages instead of raw logs).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Performance Overhead</a:t>
            </a:r>
            <a:r>
              <a:rPr lang="en-US" dirty="0"/>
              <a:t> </a:t>
            </a:r>
            <a:r>
              <a:rPr lang="en-US" dirty="0" smtClean="0"/>
              <a:t>; Large </a:t>
            </a:r>
            <a:r>
              <a:rPr lang="en-US" dirty="0"/>
              <a:t>datasets (e.g., full packet captures) can slow down pivot operations.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Static Output</a:t>
            </a:r>
            <a:r>
              <a:rPr lang="en-US" dirty="0"/>
              <a:t> </a:t>
            </a:r>
            <a:r>
              <a:rPr lang="en-US" dirty="0" smtClean="0"/>
              <a:t>: Requires </a:t>
            </a:r>
            <a:r>
              <a:rPr lang="en-US" dirty="0"/>
              <a:t>manual updates if source data changes, unlike real-time analytics.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Misleading </a:t>
            </a:r>
            <a:r>
              <a:rPr lang="en-US" b="1" dirty="0" smtClean="0"/>
              <a:t>Aggregations</a:t>
            </a:r>
            <a:r>
              <a:rPr lang="en-US" dirty="0" smtClean="0"/>
              <a:t>: Incorrect </a:t>
            </a:r>
            <a:r>
              <a:rPr lang="en-US" dirty="0"/>
              <a:t>pivots (e.g., grouping unrelated events) may generate false leads.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Skill Dependency</a:t>
            </a:r>
            <a:r>
              <a:rPr lang="en-US" dirty="0"/>
              <a:t> </a:t>
            </a:r>
            <a:r>
              <a:rPr lang="en-US" dirty="0" smtClean="0"/>
              <a:t>: Effective </a:t>
            </a:r>
            <a:r>
              <a:rPr lang="en-US" dirty="0"/>
              <a:t>pivoting demands expertise to avoid skewed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0324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Trend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447800"/>
            <a:ext cx="10265410" cy="3683543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Identify </a:t>
            </a:r>
            <a:r>
              <a:rPr lang="en-US" dirty="0"/>
              <a:t>patterns over </a:t>
            </a:r>
            <a:r>
              <a:rPr lang="en-US" dirty="0" smtClean="0"/>
              <a:t>time.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Helps in forecasting and decision making 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Security: </a:t>
            </a:r>
            <a:r>
              <a:rPr lang="en-US" dirty="0" smtClean="0"/>
              <a:t>30-day </a:t>
            </a:r>
            <a:r>
              <a:rPr lang="en-US" dirty="0"/>
              <a:t>trend of brute force </a:t>
            </a:r>
            <a:r>
              <a:rPr lang="en-US" dirty="0" smtClean="0"/>
              <a:t>attempts</a:t>
            </a:r>
            <a:endParaRPr lang="en-US" dirty="0"/>
          </a:p>
          <a:p>
            <a:r>
              <a:rPr lang="en-US" dirty="0"/>
              <a:t>Finance: </a:t>
            </a:r>
            <a:r>
              <a:rPr lang="en-US" dirty="0" smtClean="0"/>
              <a:t>Monthly </a:t>
            </a:r>
            <a:r>
              <a:rPr lang="en-US" dirty="0"/>
              <a:t>revenue growth </a:t>
            </a:r>
            <a:r>
              <a:rPr lang="en-US" dirty="0" smtClean="0"/>
              <a:t>rate</a:t>
            </a:r>
            <a:endParaRPr lang="en-US" dirty="0"/>
          </a:p>
          <a:p>
            <a:r>
              <a:rPr lang="en-US" dirty="0"/>
              <a:t>Operations: </a:t>
            </a:r>
            <a:r>
              <a:rPr lang="en-US" dirty="0" smtClean="0"/>
              <a:t>Weekly </a:t>
            </a:r>
            <a:r>
              <a:rPr lang="en-US" dirty="0"/>
              <a:t>production defect </a:t>
            </a:r>
            <a:r>
              <a:rPr lang="en-US" dirty="0" smtClean="0"/>
              <a:t>rates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277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1148264" cy="721106"/>
          </a:xfrm>
        </p:spPr>
        <p:txBody>
          <a:bodyPr/>
          <a:lstStyle/>
          <a:p>
            <a:r>
              <a:rPr lang="en-US" b="1" dirty="0"/>
              <a:t>Advantages and Disadvantages of Using Trend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265410" cy="4801314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Anomaly Detection</a:t>
            </a:r>
            <a:r>
              <a:rPr lang="en-US" dirty="0"/>
              <a:t> </a:t>
            </a:r>
            <a:r>
              <a:rPr lang="en-US" dirty="0" smtClean="0"/>
              <a:t>: Identifies </a:t>
            </a:r>
            <a:r>
              <a:rPr lang="en-US" dirty="0"/>
              <a:t>deviations from normal patterns (e.g., sudden spikes in login attempts indicating brute-force attacks).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Proactive Threat Hunting</a:t>
            </a:r>
            <a:r>
              <a:rPr lang="en-US" dirty="0"/>
              <a:t> </a:t>
            </a:r>
            <a:r>
              <a:rPr lang="en-US" dirty="0" smtClean="0"/>
              <a:t>: Helps </a:t>
            </a:r>
            <a:r>
              <a:rPr lang="en-US" dirty="0"/>
              <a:t>predict future attacks by analyzing historical trends (e.g., seasonal phishing campaigns).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Behavioral Baseline</a:t>
            </a:r>
            <a:r>
              <a:rPr lang="en-US" dirty="0"/>
              <a:t> </a:t>
            </a:r>
            <a:r>
              <a:rPr lang="en-US" dirty="0" smtClean="0"/>
              <a:t>: Establishes </a:t>
            </a:r>
            <a:r>
              <a:rPr lang="en-US" dirty="0"/>
              <a:t>normal activity levels to detect insider threats or compromised accounts.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Resource </a:t>
            </a:r>
            <a:r>
              <a:rPr lang="en-US" b="1" dirty="0" smtClean="0"/>
              <a:t>Optimization</a:t>
            </a:r>
            <a:r>
              <a:rPr lang="en-US" dirty="0" smtClean="0"/>
              <a:t>: Guides </a:t>
            </a:r>
            <a:r>
              <a:rPr lang="en-US" dirty="0"/>
              <a:t>security investments by highlighting recurring vulnerabilities (e.g., frequent exploits of a specific software flaw).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Compliance &amp; Reporting</a:t>
            </a:r>
            <a:r>
              <a:rPr lang="en-US" dirty="0"/>
              <a:t> </a:t>
            </a:r>
            <a:r>
              <a:rPr lang="en-US" dirty="0" smtClean="0"/>
              <a:t>: Simplifies </a:t>
            </a:r>
            <a:r>
              <a:rPr lang="en-US" dirty="0"/>
              <a:t>audit documentation with visual trend reports (e.g., monthly malware incidents).</a:t>
            </a:r>
          </a:p>
        </p:txBody>
      </p:sp>
    </p:spTree>
    <p:extLst>
      <p:ext uri="{BB962C8B-B14F-4D97-AF65-F5344CB8AC3E}">
        <p14:creationId xmlns:p14="http://schemas.microsoft.com/office/powerpoint/2010/main" val="305464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1148264" cy="644906"/>
          </a:xfrm>
        </p:spPr>
        <p:txBody>
          <a:bodyPr/>
          <a:lstStyle/>
          <a:p>
            <a:r>
              <a:rPr lang="en-US" b="1" dirty="0"/>
              <a:t>Advantages and Disadvantages of Using Trend Analysis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066800"/>
            <a:ext cx="10265410" cy="4801314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False Positives/Negatives</a:t>
            </a:r>
            <a:r>
              <a:rPr lang="en-US" dirty="0"/>
              <a:t> – Legitimate changes (e.g., new business processes) may appear malicious, while slow-burn attacks (e.g., APTs) may evade detection.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Historical Bias</a:t>
            </a:r>
            <a:r>
              <a:rPr lang="en-US" dirty="0"/>
              <a:t> – Over-reliance on past data can miss novel attack methods (e.g., zero-day exploits).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Data Volume Challenges</a:t>
            </a:r>
            <a:r>
              <a:rPr lang="en-US" dirty="0"/>
              <a:t> – Requires large datasets for accuracy, which can be resource-intensive to process.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Time Lag</a:t>
            </a:r>
            <a:r>
              <a:rPr lang="en-US" dirty="0"/>
              <a:t> – Trends reflect past events, potentially delaying real-time response.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Complex Interpretation</a:t>
            </a:r>
            <a:r>
              <a:rPr lang="en-US" dirty="0"/>
              <a:t> – Requires expertise to distinguish between noise and genuine threats (e.g., DDoS vs. legitimate traffic surges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831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Regression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447800"/>
            <a:ext cx="10265410" cy="3683543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Model relationships between </a:t>
            </a:r>
            <a:r>
              <a:rPr lang="en-US" dirty="0" smtClean="0"/>
              <a:t>variables.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Common types: Linear regression and Logistic regression.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Security: </a:t>
            </a:r>
            <a:r>
              <a:rPr lang="en-US" dirty="0" smtClean="0"/>
              <a:t>Predict </a:t>
            </a:r>
            <a:r>
              <a:rPr lang="en-US" dirty="0"/>
              <a:t>breach likelihood based on patching </a:t>
            </a:r>
            <a:r>
              <a:rPr lang="en-US" dirty="0" smtClean="0"/>
              <a:t>delay</a:t>
            </a:r>
            <a:endParaRPr lang="en-US" dirty="0"/>
          </a:p>
          <a:p>
            <a:r>
              <a:rPr lang="en-US" dirty="0"/>
              <a:t>Marketing: </a:t>
            </a:r>
            <a:r>
              <a:rPr lang="en-US" dirty="0" smtClean="0"/>
              <a:t>Estimate </a:t>
            </a:r>
            <a:r>
              <a:rPr lang="en-US" dirty="0"/>
              <a:t>sales impact from ad </a:t>
            </a:r>
            <a:r>
              <a:rPr lang="en-US" dirty="0" smtClean="0"/>
              <a:t>spend</a:t>
            </a:r>
            <a:endParaRPr lang="en-US" dirty="0"/>
          </a:p>
          <a:p>
            <a:r>
              <a:rPr lang="en-US" dirty="0"/>
              <a:t>Healthcare: </a:t>
            </a:r>
            <a:r>
              <a:rPr lang="en-US" dirty="0" smtClean="0"/>
              <a:t>Correlate </a:t>
            </a:r>
            <a:r>
              <a:rPr lang="en-US" dirty="0"/>
              <a:t>treatment duration with recovery </a:t>
            </a:r>
            <a:r>
              <a:rPr lang="en-US" dirty="0" smtClean="0"/>
              <a:t>rates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79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1300664" cy="721106"/>
          </a:xfrm>
        </p:spPr>
        <p:txBody>
          <a:bodyPr/>
          <a:lstStyle/>
          <a:p>
            <a:r>
              <a:rPr lang="en-US" b="1" dirty="0"/>
              <a:t>Advantages and Disadvantages of Using </a:t>
            </a:r>
            <a:r>
              <a:rPr lang="en-US" b="1" dirty="0" smtClean="0"/>
              <a:t>Regression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95400"/>
            <a:ext cx="10265410" cy="4401205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Predictive Capability</a:t>
            </a:r>
            <a:r>
              <a:rPr lang="en-US" dirty="0"/>
              <a:t> </a:t>
            </a:r>
            <a:r>
              <a:rPr lang="en-US" dirty="0" smtClean="0"/>
              <a:t>: Forecasts </a:t>
            </a:r>
            <a:r>
              <a:rPr lang="en-US" dirty="0"/>
              <a:t>future threats (e.g., predicting attack volumes based on historical breach data).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Quantitative Risk Assessment</a:t>
            </a:r>
            <a:r>
              <a:rPr lang="en-US" dirty="0"/>
              <a:t> </a:t>
            </a:r>
            <a:r>
              <a:rPr lang="en-US" dirty="0" smtClean="0"/>
              <a:t>: Measures </a:t>
            </a:r>
            <a:r>
              <a:rPr lang="en-US" dirty="0"/>
              <a:t>relationships between variables (e.g., how patch delays correlate with exploit success rates).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Anomaly Detection</a:t>
            </a:r>
            <a:r>
              <a:rPr lang="en-US" dirty="0"/>
              <a:t> </a:t>
            </a:r>
            <a:r>
              <a:rPr lang="en-US" dirty="0" smtClean="0"/>
              <a:t>: Identifies </a:t>
            </a:r>
            <a:r>
              <a:rPr lang="en-US" dirty="0"/>
              <a:t>outliers (e.g., abnormal network traffic volumes) by comparing actual vs. predicted values.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Root Cause Analysis</a:t>
            </a:r>
            <a:r>
              <a:rPr lang="en-US" dirty="0"/>
              <a:t> </a:t>
            </a:r>
            <a:r>
              <a:rPr lang="en-US" dirty="0" smtClean="0"/>
              <a:t>: Helps </a:t>
            </a:r>
            <a:r>
              <a:rPr lang="en-US" dirty="0"/>
              <a:t>pinpoint contributing factors (e.g., linking phishing email frequency to successful compromises).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Automation Potential</a:t>
            </a:r>
            <a:r>
              <a:rPr lang="en-US" dirty="0"/>
              <a:t> </a:t>
            </a:r>
            <a:r>
              <a:rPr lang="en-US" dirty="0" smtClean="0"/>
              <a:t>: Integrates </a:t>
            </a:r>
            <a:r>
              <a:rPr lang="en-US" dirty="0"/>
              <a:t>with AI/ML for real-time threat scoring (e.g., regression-based fraud detection models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1288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0919664" cy="721106"/>
          </a:xfrm>
        </p:spPr>
        <p:txBody>
          <a:bodyPr/>
          <a:lstStyle/>
          <a:p>
            <a:r>
              <a:rPr lang="en-US" b="1" dirty="0"/>
              <a:t>Advantages and Disadvantages of Using Regression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143000"/>
            <a:ext cx="10265410" cy="4401205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Assumption Sensitivity</a:t>
            </a:r>
            <a:r>
              <a:rPr lang="en-US" dirty="0"/>
              <a:t> – Relies on linear/normalized data, which cyber datasets often violate (e.g., sporadic attack patterns).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Overfitting Risks</a:t>
            </a:r>
            <a:r>
              <a:rPr lang="en-US" dirty="0"/>
              <a:t> – Models may fail to generalize if trained on narrow or noisy data (e.g., company-specific logs).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Interpretation Complexity</a:t>
            </a:r>
            <a:r>
              <a:rPr lang="en-US" dirty="0"/>
              <a:t> – Requires statistical expertise to validate results (e.g., distinguishing correlation from causation).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Data Quality Dependence</a:t>
            </a:r>
            <a:r>
              <a:rPr lang="en-US" dirty="0"/>
              <a:t> – Missing or biased data (e.g., unreported breaches) skews predictions.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Lagging Indicators</a:t>
            </a:r>
            <a:r>
              <a:rPr lang="en-US" dirty="0"/>
              <a:t> – Less effective for novel/zero-day attacks lacking historical precedents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005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Ratio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524000"/>
            <a:ext cx="10265410" cy="4407562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Compare </a:t>
            </a:r>
            <a:r>
              <a:rPr lang="en-US" dirty="0"/>
              <a:t>proportional </a:t>
            </a:r>
            <a:r>
              <a:rPr lang="en-US" dirty="0" smtClean="0"/>
              <a:t>relationships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A comparative measure between two data points.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Often expressed as a fraction or a percentage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Helps in evaluating performance, efficiency or proportions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Security: </a:t>
            </a:r>
            <a:r>
              <a:rPr lang="en-US" dirty="0" smtClean="0"/>
              <a:t>False </a:t>
            </a:r>
            <a:r>
              <a:rPr lang="en-US" dirty="0"/>
              <a:t>positive/negative ratio in IDS </a:t>
            </a:r>
            <a:r>
              <a:rPr lang="en-US" dirty="0" smtClean="0"/>
              <a:t>alerts</a:t>
            </a:r>
            <a:endParaRPr lang="en-US" dirty="0"/>
          </a:p>
          <a:p>
            <a:r>
              <a:rPr lang="en-US" dirty="0"/>
              <a:t>Finance: </a:t>
            </a:r>
            <a:r>
              <a:rPr lang="en-US" dirty="0" smtClean="0"/>
              <a:t>Current </a:t>
            </a:r>
            <a:r>
              <a:rPr lang="en-US" dirty="0"/>
              <a:t>ratio (assets/liabilities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Manufacturing: </a:t>
            </a:r>
            <a:r>
              <a:rPr lang="en-US" dirty="0" smtClean="0"/>
              <a:t>Defect </a:t>
            </a:r>
            <a:r>
              <a:rPr lang="en-US" dirty="0"/>
              <a:t>rate per 1,000 </a:t>
            </a:r>
            <a:r>
              <a:rPr lang="en-US" dirty="0" smtClean="0"/>
              <a:t>units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84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0462464" cy="721106"/>
          </a:xfrm>
        </p:spPr>
        <p:txBody>
          <a:bodyPr/>
          <a:lstStyle/>
          <a:p>
            <a:r>
              <a:rPr lang="en-US" b="1" dirty="0"/>
              <a:t>Advantages and Disadvantages of Using </a:t>
            </a:r>
            <a:r>
              <a:rPr lang="en-US" b="1" dirty="0" smtClean="0"/>
              <a:t>Ratio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265410" cy="4801314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Simplifies Complex Data</a:t>
            </a:r>
            <a:r>
              <a:rPr lang="en-US" dirty="0"/>
              <a:t> – Converts raw metrics into comparable, normalized values (e.g., </a:t>
            </a:r>
            <a:r>
              <a:rPr lang="en-US" i="1" dirty="0"/>
              <a:t>false-positive rate = FP alerts / total alerts</a:t>
            </a:r>
            <a:r>
              <a:rPr lang="en-US" dirty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Benchmarking</a:t>
            </a:r>
            <a:r>
              <a:rPr lang="en-US" dirty="0"/>
              <a:t> – Allows comparison across systems or time periods (e.g., </a:t>
            </a:r>
            <a:r>
              <a:rPr lang="en-US" i="1" dirty="0"/>
              <a:t>attack success ratio = breaches / attempts</a:t>
            </a:r>
            <a:r>
              <a:rPr lang="en-US" dirty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Quick Anomaly Detection</a:t>
            </a:r>
            <a:r>
              <a:rPr lang="en-US" dirty="0"/>
              <a:t> – Flags deviations (e.g., a sudden spike in </a:t>
            </a:r>
            <a:r>
              <a:rPr lang="en-US" i="1" dirty="0"/>
              <a:t>failed logins / successful logins</a:t>
            </a:r>
            <a:r>
              <a:rPr lang="en-US" dirty="0"/>
              <a:t> may indicate brute-force attacks).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Prioritization</a:t>
            </a:r>
            <a:r>
              <a:rPr lang="en-US" dirty="0"/>
              <a:t> – Helps focus on high-risk areas (e.g., </a:t>
            </a:r>
            <a:r>
              <a:rPr lang="en-US" i="1" dirty="0"/>
              <a:t>malware detection ratio = detected threats / total files scanned</a:t>
            </a:r>
            <a:r>
              <a:rPr lang="en-US" dirty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Stakeholder Communication</a:t>
            </a:r>
            <a:r>
              <a:rPr lang="en-US" dirty="0"/>
              <a:t> – Provides intuitive metrics for non-technical audiences (e.g., </a:t>
            </a:r>
            <a:r>
              <a:rPr lang="en-US" i="1" dirty="0"/>
              <a:t>MTTD ratio = time to detect / incident severity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571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0691064" cy="644906"/>
          </a:xfrm>
        </p:spPr>
        <p:txBody>
          <a:bodyPr/>
          <a:lstStyle/>
          <a:p>
            <a:r>
              <a:rPr lang="en-US" b="1" dirty="0"/>
              <a:t>Advantages and Disadvantages of Using Ratio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265410" cy="5201424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Oversimplification</a:t>
            </a:r>
            <a:r>
              <a:rPr lang="en-US" dirty="0"/>
              <a:t> – May mask underlying patterns (e.g., a low </a:t>
            </a:r>
            <a:r>
              <a:rPr lang="en-US" i="1" dirty="0"/>
              <a:t>false-negative ratio</a:t>
            </a:r>
            <a:r>
              <a:rPr lang="en-US" dirty="0"/>
              <a:t> could hide undetected APTs).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Misleading Context</a:t>
            </a:r>
            <a:r>
              <a:rPr lang="en-US" dirty="0"/>
              <a:t> – Ratios require careful interpretation (e.g., a high </a:t>
            </a:r>
            <a:r>
              <a:rPr lang="en-US" i="1" dirty="0"/>
              <a:t>incident resolution ratio</a:t>
            </a:r>
            <a:r>
              <a:rPr lang="en-US" dirty="0"/>
              <a:t> might reflect minor issues, not real threats).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Data Dependence</a:t>
            </a:r>
            <a:r>
              <a:rPr lang="en-US" dirty="0"/>
              <a:t> – Sensitive to input quality (e.g., skewed if logs are incomplete or biased).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Static Snapshot</a:t>
            </a:r>
            <a:r>
              <a:rPr lang="en-US" dirty="0"/>
              <a:t> – Doesn’t capture temporal trends (e.g., a ratio may look normal but conceal slow exfiltration).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Arbitrary Thresholds</a:t>
            </a:r>
            <a:r>
              <a:rPr lang="en-US" dirty="0"/>
              <a:t> – May trigger false alerts if ratios aren’t calibrated (e.g., </a:t>
            </a:r>
            <a:r>
              <a:rPr lang="en-US" i="1" dirty="0"/>
              <a:t>DDoS traffic / normal traffic</a:t>
            </a:r>
            <a:r>
              <a:rPr lang="en-US" dirty="0"/>
              <a:t> thresholds vary by network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534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098675"/>
            <a:ext cx="8229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b="1" i="1" spc="-10" dirty="0">
                <a:solidFill>
                  <a:schemeClr val="tx1"/>
                </a:solidFill>
              </a:rPr>
              <a:t>O</a:t>
            </a:r>
            <a:r>
              <a:rPr lang="en-US" b="1" i="1" spc="-10" dirty="0" smtClean="0">
                <a:solidFill>
                  <a:schemeClr val="tx1"/>
                </a:solidFill>
              </a:rPr>
              <a:t>ther functions</a:t>
            </a:r>
            <a:endParaRPr b="1" i="1" spc="-1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4653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err="1" smtClean="0"/>
              <a:t>Vlookup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95400"/>
            <a:ext cx="10265410" cy="4801314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Vertical Lookup is an excel function.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Its is used to search for a specific value in a column and return a corresponding value from another column in the same row.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It is widely used in data analysis, reporting, and database </a:t>
            </a:r>
            <a:r>
              <a:rPr lang="en-US" dirty="0" smtClean="0"/>
              <a:t>management</a:t>
            </a:r>
          </a:p>
          <a:p>
            <a:r>
              <a:rPr lang="en-US" b="1" dirty="0"/>
              <a:t>Key Characteristics of VLOOKUP: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Searches </a:t>
            </a:r>
            <a:r>
              <a:rPr lang="en-US" b="1" dirty="0"/>
              <a:t>vertically</a:t>
            </a:r>
            <a:r>
              <a:rPr lang="en-US" dirty="0"/>
              <a:t> (top to bottom) in the first column of a </a:t>
            </a:r>
            <a:r>
              <a:rPr lang="en-US" dirty="0" smtClean="0"/>
              <a:t>table.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Can perform </a:t>
            </a:r>
            <a:r>
              <a:rPr lang="en-US" b="1" dirty="0"/>
              <a:t>exact</a:t>
            </a:r>
            <a:r>
              <a:rPr lang="en-US" dirty="0"/>
              <a:t> or </a:t>
            </a:r>
            <a:r>
              <a:rPr lang="en-US" b="1" dirty="0"/>
              <a:t>approximate</a:t>
            </a:r>
            <a:r>
              <a:rPr lang="en-US" dirty="0"/>
              <a:t> matches</a:t>
            </a: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Returns </a:t>
            </a:r>
            <a:r>
              <a:rPr lang="en-US" dirty="0"/>
              <a:t>a value from a specified column in the same row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09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err="1" smtClean="0"/>
              <a:t>vlookup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10265410" cy="4801314"/>
          </a:xfrm>
        </p:spPr>
        <p:txBody>
          <a:bodyPr/>
          <a:lstStyle/>
          <a:p>
            <a:r>
              <a:rPr lang="en-US" dirty="0"/>
              <a:t>basic </a:t>
            </a:r>
            <a:r>
              <a:rPr lang="en-US" dirty="0" smtClean="0"/>
              <a:t>syntax:</a:t>
            </a:r>
          </a:p>
          <a:p>
            <a:r>
              <a:rPr lang="en-US" dirty="0"/>
              <a:t>=VLOOKUP(</a:t>
            </a:r>
            <a:r>
              <a:rPr lang="en-US" dirty="0" err="1"/>
              <a:t>lookup_value</a:t>
            </a:r>
            <a:r>
              <a:rPr lang="en-US" dirty="0"/>
              <a:t>, </a:t>
            </a:r>
            <a:r>
              <a:rPr lang="en-US" dirty="0" err="1"/>
              <a:t>table_array</a:t>
            </a:r>
            <a:r>
              <a:rPr lang="en-US" dirty="0"/>
              <a:t>, </a:t>
            </a:r>
            <a:r>
              <a:rPr lang="en-US" dirty="0" err="1"/>
              <a:t>col_index_num</a:t>
            </a:r>
            <a:r>
              <a:rPr lang="en-US" dirty="0"/>
              <a:t>, [</a:t>
            </a:r>
            <a:r>
              <a:rPr lang="en-US" dirty="0" err="1"/>
              <a:t>range_lookup</a:t>
            </a:r>
            <a:r>
              <a:rPr lang="en-US" dirty="0" smtClean="0"/>
              <a:t>])</a:t>
            </a:r>
          </a:p>
          <a:p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err="1" smtClean="0"/>
              <a:t>lookup_value</a:t>
            </a:r>
            <a:r>
              <a:rPr lang="en-US" b="1" dirty="0" smtClean="0"/>
              <a:t>: </a:t>
            </a:r>
            <a:r>
              <a:rPr lang="en-US" dirty="0"/>
              <a:t>The value you want to search for (must be in the first column of the table</a:t>
            </a:r>
            <a:r>
              <a:rPr lang="en-US" dirty="0" smtClean="0"/>
              <a:t>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err="1" smtClean="0"/>
              <a:t>Table_array</a:t>
            </a:r>
            <a:r>
              <a:rPr lang="en-US" dirty="0" smtClean="0"/>
              <a:t>: </a:t>
            </a:r>
            <a:r>
              <a:rPr lang="en-US" dirty="0"/>
              <a:t>The range of cells containing the data (must include the lookup column and return column</a:t>
            </a:r>
            <a:r>
              <a:rPr lang="en-US" dirty="0" smtClean="0"/>
              <a:t>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err="1" smtClean="0"/>
              <a:t>col_index_num</a:t>
            </a:r>
            <a:r>
              <a:rPr lang="en-US" b="1" dirty="0" smtClean="0"/>
              <a:t>: </a:t>
            </a:r>
            <a:r>
              <a:rPr lang="en-US" dirty="0"/>
              <a:t>The column number (from the </a:t>
            </a:r>
            <a:r>
              <a:rPr lang="en-US" dirty="0" err="1"/>
              <a:t>table_array</a:t>
            </a:r>
            <a:r>
              <a:rPr lang="en-US" dirty="0"/>
              <a:t>) from which to retrieve the value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[</a:t>
            </a:r>
            <a:r>
              <a:rPr lang="en-US" b="1" dirty="0" err="1"/>
              <a:t>range_lookup</a:t>
            </a:r>
            <a:r>
              <a:rPr lang="en-US" b="1" dirty="0" smtClean="0"/>
              <a:t>]: </a:t>
            </a:r>
            <a:r>
              <a:rPr lang="en-US" dirty="0"/>
              <a:t>(Optional) </a:t>
            </a:r>
            <a:r>
              <a:rPr lang="en-US" dirty="0"/>
              <a:t>TRUE</a:t>
            </a:r>
            <a:r>
              <a:rPr lang="en-US" dirty="0"/>
              <a:t> (or </a:t>
            </a:r>
            <a:r>
              <a:rPr lang="en-US" dirty="0"/>
              <a:t>1</a:t>
            </a:r>
            <a:r>
              <a:rPr lang="en-US" dirty="0"/>
              <a:t>) for approximate match, </a:t>
            </a:r>
            <a:r>
              <a:rPr lang="en-US" dirty="0"/>
              <a:t>FALSE</a:t>
            </a:r>
            <a:r>
              <a:rPr lang="en-US" dirty="0"/>
              <a:t> (or </a:t>
            </a:r>
            <a:r>
              <a:rPr lang="en-US" dirty="0"/>
              <a:t>0</a:t>
            </a:r>
            <a:r>
              <a:rPr lang="en-US" dirty="0"/>
              <a:t>) for exact match. Default is </a:t>
            </a:r>
            <a:r>
              <a:rPr lang="en-US" dirty="0"/>
              <a:t>TRUE</a:t>
            </a:r>
            <a:r>
              <a:rPr lang="en-US" dirty="0"/>
              <a:t>.</a:t>
            </a: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797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err="1" smtClean="0"/>
              <a:t>Vlookup</a:t>
            </a:r>
            <a:r>
              <a:rPr lang="en-US" dirty="0" smtClean="0"/>
              <a:t>: How does it work 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600986"/>
          </a:xfrm>
        </p:spPr>
        <p:txBody>
          <a:bodyPr/>
          <a:lstStyle/>
          <a:p>
            <a:r>
              <a:rPr lang="en-US" b="1" dirty="0"/>
              <a:t>Exact Match (Most Common Use Case)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Used when you need an exact match (e.g., finding an employee’s salary using their ID</a:t>
            </a:r>
            <a:r>
              <a:rPr lang="en-US" dirty="0" smtClean="0"/>
              <a:t>).</a:t>
            </a:r>
          </a:p>
          <a:p>
            <a:r>
              <a:rPr lang="en-US" b="1" dirty="0"/>
              <a:t>Approximate Match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Used for ranges (e.g., tax brackets, grading scales).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Requires the first column to be </a:t>
            </a:r>
            <a:r>
              <a:rPr lang="en-US" b="1" dirty="0"/>
              <a:t>sorted in ascending </a:t>
            </a:r>
            <a:r>
              <a:rPr lang="en-US" b="1" dirty="0" smtClean="0"/>
              <a:t>order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2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Common uses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600986"/>
          </a:xfrm>
        </p:spPr>
        <p:txBody>
          <a:bodyPr/>
          <a:lstStyle/>
          <a:p>
            <a:r>
              <a:rPr lang="en-US" b="1" dirty="0"/>
              <a:t>1. Merging Data from Different Tables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Example: Combining sales data from two sheets using a common ID.</a:t>
            </a:r>
          </a:p>
          <a:p>
            <a:r>
              <a:rPr lang="en-US" b="1" dirty="0"/>
              <a:t>2. Data Validation &amp; Error Checking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Example: Verifying if a product exists in inventory.</a:t>
            </a:r>
          </a:p>
          <a:p>
            <a:r>
              <a:rPr lang="en-US" b="1" dirty="0"/>
              <a:t>3. Dynamic Reporting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Example: Fetching real-time pricing based on product codes.</a:t>
            </a:r>
          </a:p>
          <a:p>
            <a:r>
              <a:rPr lang="en-US" b="1" dirty="0"/>
              <a:t>4. Grading &amp; Scoring Systems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Example: Assigning grades based on score ranges.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9914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Limitations of </a:t>
            </a:r>
            <a:r>
              <a:rPr lang="en-US" b="1" dirty="0" smtClean="0"/>
              <a:t>VLOOKUP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990600"/>
            <a:ext cx="10495026" cy="360098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Left-to-Right Lookup </a:t>
            </a:r>
            <a:r>
              <a:rPr lang="en-US" b="1" dirty="0" smtClean="0"/>
              <a:t>Only: </a:t>
            </a:r>
            <a:r>
              <a:rPr lang="en-US" dirty="0"/>
              <a:t>Cannot search to the left of the lookup column. (Use </a:t>
            </a:r>
            <a:r>
              <a:rPr lang="en-US" b="1" dirty="0"/>
              <a:t>INDEX-MATCH</a:t>
            </a:r>
            <a:r>
              <a:rPr lang="en-US" dirty="0"/>
              <a:t> or </a:t>
            </a:r>
            <a:r>
              <a:rPr lang="en-US" b="1" dirty="0"/>
              <a:t>XLOOKUP</a:t>
            </a:r>
            <a:r>
              <a:rPr lang="en-US" dirty="0"/>
              <a:t> instead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Static Column </a:t>
            </a:r>
            <a:r>
              <a:rPr lang="en-US" b="1" dirty="0" smtClean="0"/>
              <a:t>Reference: </a:t>
            </a:r>
            <a:r>
              <a:rPr lang="en-US" dirty="0"/>
              <a:t>If columns </a:t>
            </a:r>
            <a:r>
              <a:rPr lang="en-US" dirty="0" smtClean="0"/>
              <a:t>are inserted/deleted</a:t>
            </a:r>
            <a:r>
              <a:rPr lang="en-US" dirty="0"/>
              <a:t>, </a:t>
            </a:r>
            <a:r>
              <a:rPr lang="en-US" dirty="0" err="1"/>
              <a:t>col_index_num</a:t>
            </a:r>
            <a:r>
              <a:rPr lang="en-US" dirty="0"/>
              <a:t> may break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Exact Match </a:t>
            </a:r>
            <a:r>
              <a:rPr lang="en-US" b="1" dirty="0" smtClean="0"/>
              <a:t>Requirement: </a:t>
            </a:r>
            <a:r>
              <a:rPr lang="en-US" dirty="0"/>
              <a:t>If </a:t>
            </a:r>
            <a:r>
              <a:rPr lang="en-US" dirty="0"/>
              <a:t>FALSE</a:t>
            </a:r>
            <a:r>
              <a:rPr lang="en-US" dirty="0"/>
              <a:t> is used and no match is found, it returns </a:t>
            </a:r>
            <a:r>
              <a:rPr lang="en-US" dirty="0"/>
              <a:t>#N/A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Slower with Large </a:t>
            </a:r>
            <a:r>
              <a:rPr lang="en-US" b="1" dirty="0" smtClean="0"/>
              <a:t>Datasets: </a:t>
            </a:r>
            <a:r>
              <a:rPr lang="en-US" dirty="0"/>
              <a:t>Less efficient than </a:t>
            </a:r>
            <a:r>
              <a:rPr lang="en-US" b="1" dirty="0"/>
              <a:t>INDEX-MATCH</a:t>
            </a:r>
            <a:r>
              <a:rPr lang="en-US" dirty="0"/>
              <a:t> in big datasets.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999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Alternatives to VLOOKUP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2000548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INDEX-MATCH: </a:t>
            </a:r>
            <a:r>
              <a:rPr lang="en-US" dirty="0"/>
              <a:t>More flexible (left or right lookup), faster in large datasets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XLOOKUP</a:t>
            </a:r>
            <a:r>
              <a:rPr lang="en-US" dirty="0"/>
              <a:t> (Excel 365</a:t>
            </a:r>
            <a:r>
              <a:rPr lang="en-US" dirty="0" smtClean="0"/>
              <a:t>): </a:t>
            </a:r>
            <a:r>
              <a:rPr lang="en-US" dirty="0"/>
              <a:t>Simpler syntax, supports reverse search, handles errors better</a:t>
            </a:r>
            <a:r>
              <a:rPr lang="en-US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HLOOKUP: </a:t>
            </a:r>
            <a:r>
              <a:rPr lang="en-US" dirty="0"/>
              <a:t>Horizontal lookup (row-wise instead of column-wise).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6025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/>
              <a:t>Eye-lookup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4096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Grouping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2800767"/>
          </a:xfrm>
        </p:spPr>
        <p:txBody>
          <a:bodyPr/>
          <a:lstStyle/>
          <a:p>
            <a:r>
              <a:rPr lang="en-US" dirty="0"/>
              <a:t>Grouping is the process of organizing data into categories or clusters based on shared characteristics. It enables analysts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Identify patterns and trends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Simplify complex datasets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aggregate calculations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subsets of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8630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Key </a:t>
            </a:r>
            <a:r>
              <a:rPr lang="en-US" b="1" dirty="0" smtClean="0"/>
              <a:t>Characteristics of grouping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20087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Categorization: </a:t>
            </a:r>
          </a:p>
          <a:p>
            <a:r>
              <a:rPr lang="en-US" b="1" dirty="0"/>
              <a:t>	</a:t>
            </a:r>
            <a:r>
              <a:rPr lang="en-US" dirty="0" smtClean="0"/>
              <a:t>Data </a:t>
            </a:r>
            <a:r>
              <a:rPr lang="en-US" dirty="0"/>
              <a:t>is divided into meaningful </a:t>
            </a:r>
            <a:r>
              <a:rPr lang="en-US" dirty="0" smtClean="0"/>
              <a:t>buckets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Aggregation: </a:t>
            </a:r>
          </a:p>
          <a:p>
            <a:r>
              <a:rPr lang="en-US" b="1" dirty="0"/>
              <a:t>	</a:t>
            </a:r>
            <a:r>
              <a:rPr lang="en-US" dirty="0" smtClean="0"/>
              <a:t>Enables </a:t>
            </a:r>
            <a:r>
              <a:rPr lang="en-US" dirty="0"/>
              <a:t>summary statistics per </a:t>
            </a:r>
            <a:r>
              <a:rPr lang="en-US" dirty="0" smtClean="0"/>
              <a:t>group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Comparative </a:t>
            </a:r>
            <a:r>
              <a:rPr lang="en-US" b="1" dirty="0" smtClean="0"/>
              <a:t>Analysis: </a:t>
            </a:r>
          </a:p>
          <a:p>
            <a:r>
              <a:rPr lang="en-US" b="1" dirty="0"/>
              <a:t>	</a:t>
            </a:r>
            <a:r>
              <a:rPr lang="en-US" dirty="0" smtClean="0"/>
              <a:t>Allows </a:t>
            </a:r>
            <a:r>
              <a:rPr lang="en-US" dirty="0"/>
              <a:t>group-to-group </a:t>
            </a:r>
            <a:r>
              <a:rPr lang="en-US" dirty="0" smtClean="0"/>
              <a:t>comparisons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Dimensionality </a:t>
            </a:r>
            <a:r>
              <a:rPr lang="en-US" b="1" dirty="0" smtClean="0"/>
              <a:t>Reduction: </a:t>
            </a:r>
          </a:p>
          <a:p>
            <a:r>
              <a:rPr lang="en-US" b="1" dirty="0"/>
              <a:t>	</a:t>
            </a:r>
            <a:r>
              <a:rPr lang="en-US" dirty="0" smtClean="0"/>
              <a:t>Simplifies </a:t>
            </a:r>
            <a:r>
              <a:rPr lang="en-US" dirty="0"/>
              <a:t>large datasets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801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8478723" cy="1132331"/>
          </a:xfrm>
        </p:spPr>
        <p:txBody>
          <a:bodyPr/>
          <a:lstStyle/>
          <a:p>
            <a:r>
              <a:rPr lang="en-US" b="1" dirty="0"/>
              <a:t>Methods of Grouping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265410" cy="4832092"/>
          </a:xfrm>
        </p:spPr>
        <p:txBody>
          <a:bodyPr/>
          <a:lstStyle/>
          <a:p>
            <a:r>
              <a:rPr lang="en-US" sz="3200" b="1" dirty="0" smtClean="0"/>
              <a:t>1. Basic </a:t>
            </a:r>
            <a:r>
              <a:rPr lang="en-US" sz="3200" b="1" dirty="0"/>
              <a:t>Grouping Techniques</a:t>
            </a:r>
          </a:p>
          <a:p>
            <a:r>
              <a:rPr lang="en-US" sz="3200" b="1" dirty="0" smtClean="0"/>
              <a:t>i) Manual </a:t>
            </a:r>
            <a:r>
              <a:rPr lang="en-US" sz="3200" b="1" dirty="0"/>
              <a:t>Categorization</a:t>
            </a:r>
            <a:endParaRPr lang="en-US" sz="32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Creating custom groups based on domain knowledge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Example: Grouping alerts as "Malicious", "Suspicious", "Benign"</a:t>
            </a:r>
          </a:p>
          <a:p>
            <a:r>
              <a:rPr lang="en-US" sz="3200" b="1" dirty="0" smtClean="0"/>
              <a:t>ii) Automated </a:t>
            </a:r>
            <a:r>
              <a:rPr lang="en-US" sz="3200" b="1" dirty="0"/>
              <a:t>Grouping</a:t>
            </a:r>
            <a:endParaRPr lang="en-US" sz="32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Using functions like GROUP BY (SQL) or PivotTables (Excel)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Example: Auto-grouping IP addresses by subnet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9827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Methods of Grouping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371600"/>
            <a:ext cx="10265410" cy="5816977"/>
          </a:xfrm>
        </p:spPr>
        <p:txBody>
          <a:bodyPr/>
          <a:lstStyle/>
          <a:p>
            <a:r>
              <a:rPr lang="en-US" sz="3200" b="1" dirty="0" smtClean="0"/>
              <a:t>2. Advanced </a:t>
            </a:r>
            <a:r>
              <a:rPr lang="en-US" sz="3200" b="1" dirty="0"/>
              <a:t>Grouping Methods</a:t>
            </a:r>
          </a:p>
          <a:p>
            <a:r>
              <a:rPr lang="en-US" sz="3200" b="1" dirty="0"/>
              <a:t>Binning</a:t>
            </a:r>
            <a:endParaRPr lang="en-US" sz="32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Creating ranges for continuous data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Example: Grouping CVSS scores as Low(0-3.9), Medium(4-6.9), High(7-10)</a:t>
            </a:r>
          </a:p>
          <a:p>
            <a:r>
              <a:rPr lang="en-US" sz="3200" b="1" dirty="0"/>
              <a:t>Clustering</a:t>
            </a:r>
            <a:endParaRPr lang="en-US" sz="32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Machine learning approach for finding natural groupings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3200" dirty="0">
                <a:latin typeface="Franklin Gothic Medium" pitchFamily="34" charset="0"/>
              </a:rPr>
              <a:t>Example: Clustering malware samples by </a:t>
            </a:r>
            <a:r>
              <a:rPr lang="en-US" sz="3200" dirty="0" smtClean="0">
                <a:latin typeface="Franklin Gothic Medium" pitchFamily="34" charset="0"/>
              </a:rPr>
              <a:t>behavior using algorithms like K-means clustering, DBSCAN (Density-Based Spatial Clustering of Applications)</a:t>
            </a:r>
            <a:endParaRPr lang="en-US" sz="3200" dirty="0">
              <a:latin typeface="Franklin Gothic Medium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98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 err="1"/>
              <a:t>Cybersecurity</a:t>
            </a:r>
            <a:r>
              <a:rPr lang="en-US" b="1" dirty="0"/>
              <a:t> Applications of </a:t>
            </a:r>
            <a:r>
              <a:rPr lang="en-US" b="1" dirty="0" smtClean="0"/>
              <a:t>Grouping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143000"/>
            <a:ext cx="10265410" cy="5570756"/>
          </a:xfrm>
        </p:spPr>
        <p:txBody>
          <a:bodyPr/>
          <a:lstStyle/>
          <a:p>
            <a:r>
              <a:rPr lang="en-US" sz="2800" b="1" dirty="0"/>
              <a:t>Threat Intelligence Analysis</a:t>
            </a:r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Grouping IOCs by threat actor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All IPs associated with APT29</a:t>
            </a:r>
          </a:p>
          <a:p>
            <a:r>
              <a:rPr lang="en-US" sz="2800" b="1" dirty="0"/>
              <a:t>SIEM Alert Management</a:t>
            </a:r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Grouping alerts by attack type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Brute force attempts vs. phishing attempts</a:t>
            </a:r>
          </a:p>
          <a:p>
            <a:r>
              <a:rPr lang="en-US" sz="2800" b="1" dirty="0"/>
              <a:t>Vulnerability Management</a:t>
            </a:r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Grouping vulnerabilities by severity or system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Critical vulnerabilities on DMZ servers</a:t>
            </a:r>
          </a:p>
          <a:p>
            <a:r>
              <a:rPr lang="en-US" sz="2800" b="1" dirty="0"/>
              <a:t>Incident Investigation</a:t>
            </a:r>
            <a:endParaRPr lang="en-US" sz="2800" dirty="0"/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Grouping events by timeline or source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All activities from a compromised account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008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10995864" cy="797306"/>
          </a:xfrm>
        </p:spPr>
        <p:txBody>
          <a:bodyPr/>
          <a:lstStyle/>
          <a:p>
            <a:r>
              <a:rPr lang="en-US" b="1" dirty="0"/>
              <a:t>Advantages and Disadvantages of Using </a:t>
            </a:r>
            <a:r>
              <a:rPr lang="en-US" b="1" dirty="0" smtClean="0"/>
              <a:t>Grouping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066800"/>
            <a:ext cx="10265410" cy="4401205"/>
          </a:xfrm>
        </p:spPr>
        <p:txBody>
          <a:bodyPr/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Pattern Recognition</a:t>
            </a:r>
            <a:r>
              <a:rPr lang="en-US" dirty="0"/>
              <a:t> </a:t>
            </a:r>
            <a:r>
              <a:rPr lang="en-US" dirty="0" smtClean="0"/>
              <a:t>: Groups </a:t>
            </a:r>
            <a:r>
              <a:rPr lang="en-US" dirty="0"/>
              <a:t>similar events (e.g., failed logins by IP) to detect brute-force attacks or scanning activity.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Noise Reduction</a:t>
            </a:r>
            <a:r>
              <a:rPr lang="en-US" dirty="0"/>
              <a:t> </a:t>
            </a:r>
            <a:r>
              <a:rPr lang="en-US" dirty="0" smtClean="0"/>
              <a:t>: Consolidates </a:t>
            </a:r>
            <a:r>
              <a:rPr lang="en-US" dirty="0"/>
              <a:t>repetitive alerts (e.g., grouping malware alerts by file hash) to reduce alert fatigue.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Efficient Analysis</a:t>
            </a:r>
            <a:r>
              <a:rPr lang="en-US" dirty="0"/>
              <a:t> </a:t>
            </a:r>
            <a:r>
              <a:rPr lang="en-US" dirty="0" smtClean="0"/>
              <a:t>: Simplifies </a:t>
            </a:r>
            <a:r>
              <a:rPr lang="en-US" dirty="0"/>
              <a:t>large datasets by categorizing data (e.g., grouping network traffic by protocol for faster inspection).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Threat Correlation</a:t>
            </a:r>
            <a:r>
              <a:rPr lang="en-US" dirty="0"/>
              <a:t> </a:t>
            </a:r>
            <a:r>
              <a:rPr lang="en-US" dirty="0" smtClean="0"/>
              <a:t>: Links </a:t>
            </a:r>
            <a:r>
              <a:rPr lang="en-US" dirty="0"/>
              <a:t>related events (e.g., grouping suspicious activities by user account to detect compromised credentials).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Prioritization</a:t>
            </a:r>
            <a:r>
              <a:rPr lang="en-US" dirty="0"/>
              <a:t> </a:t>
            </a:r>
            <a:r>
              <a:rPr lang="en-US" dirty="0" smtClean="0"/>
              <a:t>: Helps </a:t>
            </a:r>
            <a:r>
              <a:rPr lang="en-US" dirty="0"/>
              <a:t>focus on high-risk clusters (e.g., grouping attack attempts by severity level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61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5"/>
            <a:ext cx="10538664" cy="721106"/>
          </a:xfrm>
        </p:spPr>
        <p:txBody>
          <a:bodyPr/>
          <a:lstStyle/>
          <a:p>
            <a:r>
              <a:rPr lang="en-US" b="1" dirty="0"/>
              <a:t>Advantages and Disadvantages of Using Grouping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11049000" cy="4801314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Over-Generalization</a:t>
            </a:r>
            <a:r>
              <a:rPr lang="en-US" dirty="0" smtClean="0"/>
              <a:t>: May </a:t>
            </a:r>
            <a:r>
              <a:rPr lang="en-US" dirty="0"/>
              <a:t>hide important outliers (e.g., a single critical event lost in a benign group).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False Associations</a:t>
            </a:r>
            <a:r>
              <a:rPr lang="en-US" dirty="0"/>
              <a:t> </a:t>
            </a:r>
            <a:r>
              <a:rPr lang="en-US" dirty="0" smtClean="0"/>
              <a:t>: Incorrect </a:t>
            </a:r>
            <a:r>
              <a:rPr lang="en-US" dirty="0"/>
              <a:t>grouping can link unrelated events (e.g., grouping by timestamp alone may miss attack causality).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Resource </a:t>
            </a:r>
            <a:r>
              <a:rPr lang="en-US" b="1" dirty="0" smtClean="0"/>
              <a:t>Intensive</a:t>
            </a:r>
            <a:r>
              <a:rPr lang="en-US" dirty="0" smtClean="0"/>
              <a:t>: Large-scale </a:t>
            </a:r>
            <a:r>
              <a:rPr lang="en-US" dirty="0"/>
              <a:t>grouping (e.g., clustering petabytes of logs) can strain processing power.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Static </a:t>
            </a:r>
            <a:r>
              <a:rPr lang="en-US" b="1" dirty="0" smtClean="0"/>
              <a:t>Grouping</a:t>
            </a:r>
            <a:r>
              <a:rPr lang="en-US" dirty="0" smtClean="0"/>
              <a:t>: Predefined </a:t>
            </a:r>
            <a:r>
              <a:rPr lang="en-US" dirty="0"/>
              <a:t>categories may miss evolving threats (e.g., novel attack patterns that don’t fit existing groups).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Context </a:t>
            </a:r>
            <a:r>
              <a:rPr lang="en-US" b="1" dirty="0" smtClean="0"/>
              <a:t>Loss</a:t>
            </a:r>
            <a:r>
              <a:rPr lang="en-US" dirty="0" smtClean="0"/>
              <a:t>: Aggregating </a:t>
            </a:r>
            <a:r>
              <a:rPr lang="en-US" dirty="0"/>
              <a:t>data may remove key details (e.g., grouping alerts by type may obscure unique attack vectors).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495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 smtClean="0"/>
              <a:t>Summarization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0"/>
            <a:ext cx="10265410" cy="4801314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Summarization is the process of distilling large datasets into concise, meaningful statistics and metrics that represent key characteristics of the data. </a:t>
            </a: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transforms raw data into actionable insights through aggregation and statistical analysis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Purpose: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Reduce data complexity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Identify patterns and trends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Support decision-making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Enable quick comparisons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Highlight anomalies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008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Summarization Techniques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20087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Descriptive Statistics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Count: </a:t>
            </a:r>
            <a:r>
              <a:rPr lang="en-US" dirty="0"/>
              <a:t>T</a:t>
            </a:r>
            <a:r>
              <a:rPr lang="en-US" dirty="0" smtClean="0"/>
              <a:t>he number of occurrences (</a:t>
            </a:r>
            <a:r>
              <a:rPr lang="en-US" dirty="0" err="1" smtClean="0"/>
              <a:t>eg</a:t>
            </a:r>
            <a:r>
              <a:rPr lang="en-US" dirty="0" smtClean="0"/>
              <a:t>. Total </a:t>
            </a:r>
            <a:r>
              <a:rPr lang="en-US" dirty="0"/>
              <a:t>malware </a:t>
            </a:r>
            <a:r>
              <a:rPr lang="en-US" dirty="0" smtClean="0"/>
              <a:t>detections)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Median: Middle value (</a:t>
            </a:r>
            <a:r>
              <a:rPr lang="en-US" dirty="0" err="1" smtClean="0"/>
              <a:t>eg</a:t>
            </a:r>
            <a:r>
              <a:rPr lang="en-US" dirty="0" smtClean="0"/>
              <a:t>. Median CVSS score)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Mean: Average value (</a:t>
            </a:r>
            <a:r>
              <a:rPr lang="en-US" dirty="0" err="1" smtClean="0"/>
              <a:t>e.g</a:t>
            </a:r>
            <a:r>
              <a:rPr lang="en-US" dirty="0" smtClean="0"/>
              <a:t> </a:t>
            </a:r>
            <a:r>
              <a:rPr lang="en-US" dirty="0"/>
              <a:t>Average attack </a:t>
            </a:r>
            <a:r>
              <a:rPr lang="en-US" dirty="0" smtClean="0"/>
              <a:t>duration)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Mode: Most frequent value (</a:t>
            </a:r>
            <a:r>
              <a:rPr lang="en-US" dirty="0" err="1" smtClean="0"/>
              <a:t>e.g</a:t>
            </a:r>
            <a:r>
              <a:rPr lang="en-US" dirty="0" smtClean="0"/>
              <a:t> Most </a:t>
            </a:r>
            <a:r>
              <a:rPr lang="en-US" dirty="0"/>
              <a:t>common attack </a:t>
            </a:r>
            <a:r>
              <a:rPr lang="en-US" dirty="0" smtClean="0"/>
              <a:t>vector)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Standard deviation: Data dispersion (</a:t>
            </a:r>
            <a:r>
              <a:rPr lang="en-US" dirty="0" err="1" smtClean="0"/>
              <a:t>e.g</a:t>
            </a:r>
            <a:r>
              <a:rPr lang="en-US" dirty="0" smtClean="0"/>
              <a:t> variation in attack frequency)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Range: Min-Max difference (</a:t>
            </a:r>
            <a:r>
              <a:rPr lang="en-US" dirty="0" err="1" smtClean="0"/>
              <a:t>eg</a:t>
            </a:r>
            <a:r>
              <a:rPr lang="en-US" dirty="0" smtClean="0"/>
              <a:t> </a:t>
            </a:r>
            <a:r>
              <a:rPr lang="en-US" dirty="0"/>
              <a:t>Port scan activity </a:t>
            </a:r>
            <a:r>
              <a:rPr lang="en-US" dirty="0" smtClean="0"/>
              <a:t>range)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491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/>
              <a:t>Summarization Techniques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200876"/>
          </a:xfrm>
        </p:spPr>
        <p:txBody>
          <a:bodyPr/>
          <a:lstStyle/>
          <a:p>
            <a:r>
              <a:rPr lang="en-US" b="1" dirty="0" smtClean="0"/>
              <a:t>2. Frequency </a:t>
            </a:r>
            <a:r>
              <a:rPr lang="en-US" b="1" dirty="0"/>
              <a:t>Distributions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Tally of how often values occur</a:t>
            </a:r>
          </a:p>
          <a:p>
            <a:r>
              <a:rPr lang="en-US" dirty="0" smtClean="0"/>
              <a:t>	Example</a:t>
            </a:r>
            <a:r>
              <a:rPr lang="en-US" dirty="0"/>
              <a:t>: Count of attacks by type (DDoS, phishing, etc.)</a:t>
            </a:r>
          </a:p>
          <a:p>
            <a:r>
              <a:rPr lang="en-US" b="1" dirty="0"/>
              <a:t>3</a:t>
            </a:r>
            <a:r>
              <a:rPr lang="en-US" b="1" dirty="0" smtClean="0"/>
              <a:t>. </a:t>
            </a:r>
            <a:r>
              <a:rPr lang="en-US" b="1" dirty="0"/>
              <a:t>Aggregate Functions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Common functions:</a:t>
            </a:r>
          </a:p>
          <a:p>
            <a:r>
              <a:rPr lang="en-US" dirty="0" smtClean="0"/>
              <a:t>	SUM</a:t>
            </a:r>
            <a:r>
              <a:rPr lang="en-US" dirty="0"/>
              <a:t>(), AVG(), COUNT(), MAX(), MIN()</a:t>
            </a:r>
          </a:p>
          <a:p>
            <a:r>
              <a:rPr lang="en-US" dirty="0" smtClean="0"/>
              <a:t>	PERCENTILE</a:t>
            </a:r>
            <a:r>
              <a:rPr lang="en-US" dirty="0"/>
              <a:t>(), QUARTILE()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296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Applications of </a:t>
            </a:r>
            <a:r>
              <a:rPr lang="en-US" b="1" dirty="0" smtClean="0"/>
              <a:t>Summarization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371600"/>
            <a:ext cx="10265410" cy="495520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Threat Intelligence Analysis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Summarize IOCs by type (IPs, domains, hashes)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Calculate malware family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SIEM Alert Management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Daily alert volumes by severity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Top 10 source IPs generating alerts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Vulnerability Management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Vulnerability counts by severity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Patch compliance percentages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Incident Response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Mean Time to Detect (MTTD)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dirty="0">
                <a:latin typeface="Franklin Gothic Medium" pitchFamily="34" charset="0"/>
              </a:rPr>
              <a:t>Mean Time to Respond (MTTR)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7146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 smtClean="0"/>
              <a:t>Summarization: </a:t>
            </a:r>
            <a:r>
              <a:rPr lang="en-US" b="1" dirty="0"/>
              <a:t>Advanced </a:t>
            </a:r>
            <a:r>
              <a:rPr lang="en-US" b="1" dirty="0" smtClean="0"/>
              <a:t>Techniques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600200"/>
            <a:ext cx="10265410" cy="4001095"/>
          </a:xfrm>
        </p:spPr>
        <p:txBody>
          <a:bodyPr/>
          <a:lstStyle/>
          <a:p>
            <a:r>
              <a:rPr lang="en-US" b="1" dirty="0"/>
              <a:t>A. Time-Series Summarization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Rolling averages (7-day attack trends)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Time bucketing (attacks per hour)</a:t>
            </a:r>
          </a:p>
          <a:p>
            <a:r>
              <a:rPr lang="en-US" b="1" dirty="0"/>
              <a:t>B. Multidimensional Summarization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Cross-tabulating by multiple dimensions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Example: Attacks by type × severity × location</a:t>
            </a:r>
          </a:p>
          <a:p>
            <a:r>
              <a:rPr lang="en-US" b="1" dirty="0"/>
              <a:t>C. Weighted Summarization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Applying importance weights to metrics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Example: Risk-weighted vulnerability scores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5559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Visualization of </a:t>
            </a:r>
            <a:r>
              <a:rPr lang="en-US" b="1" dirty="0" smtClean="0"/>
              <a:t>Summaries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524000"/>
            <a:ext cx="10265410" cy="2800767"/>
          </a:xfrm>
        </p:spPr>
        <p:txBody>
          <a:bodyPr/>
          <a:lstStyle/>
          <a:p>
            <a:r>
              <a:rPr lang="en-US" b="1" dirty="0"/>
              <a:t>Effective Chart Types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Bar Charts</a:t>
            </a:r>
            <a:r>
              <a:rPr lang="en-US" dirty="0"/>
              <a:t>: Comparing category counts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Pie Charts</a:t>
            </a:r>
            <a:r>
              <a:rPr lang="en-US" dirty="0"/>
              <a:t>: Showing proportions (limited use)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Heatmaps</a:t>
            </a:r>
            <a:r>
              <a:rPr lang="en-US" dirty="0"/>
              <a:t>: Multidimensional frequency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Sparklines</a:t>
            </a:r>
            <a:r>
              <a:rPr lang="en-US" dirty="0"/>
              <a:t>: Trend summaries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Box Plots</a:t>
            </a:r>
            <a:r>
              <a:rPr lang="en-US" dirty="0"/>
              <a:t>: Statistical distributions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1605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Advantages of using </a:t>
            </a:r>
            <a:r>
              <a:rPr lang="en-US" b="1" dirty="0"/>
              <a:t>Summarization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11353800" cy="560153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Simplifies Complex Data</a:t>
            </a:r>
            <a:r>
              <a:rPr lang="en-US" dirty="0"/>
              <a:t> </a:t>
            </a:r>
            <a:r>
              <a:rPr lang="en-US" dirty="0" smtClean="0"/>
              <a:t>: Condenses </a:t>
            </a:r>
            <a:r>
              <a:rPr lang="en-US" dirty="0"/>
              <a:t>large datasets (e.g., logs, alerts) into key metrics (e.g., attack counts, top threat sources) for quick insights.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Improves Decision-Making</a:t>
            </a:r>
            <a:r>
              <a:rPr lang="en-US" dirty="0"/>
              <a:t> </a:t>
            </a:r>
            <a:r>
              <a:rPr lang="en-US" dirty="0" smtClean="0"/>
              <a:t>: Highlights </a:t>
            </a:r>
            <a:r>
              <a:rPr lang="en-US" dirty="0"/>
              <a:t>critical trends (e.g., surge in phishing attempts) for faster incident response prioritization.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Reduces Noise</a:t>
            </a:r>
            <a:r>
              <a:rPr lang="en-US" dirty="0"/>
              <a:t> </a:t>
            </a:r>
            <a:r>
              <a:rPr lang="en-US" dirty="0" smtClean="0"/>
              <a:t>: Aggregates </a:t>
            </a:r>
            <a:r>
              <a:rPr lang="en-US" dirty="0"/>
              <a:t>repetitive alerts (e.g., summarizing failed logins by IP) to minimize alert fatigue.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Enhances Reporting</a:t>
            </a:r>
            <a:r>
              <a:rPr lang="en-US" dirty="0"/>
              <a:t> </a:t>
            </a:r>
            <a:r>
              <a:rPr lang="en-US" dirty="0" smtClean="0"/>
              <a:t>: Provides </a:t>
            </a:r>
            <a:r>
              <a:rPr lang="en-US" dirty="0"/>
              <a:t>executive-friendly overviews (e.g., weekly threat summaries) for compliance and stakeholder updates.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Identifies Patterns</a:t>
            </a:r>
            <a:r>
              <a:rPr lang="en-US" dirty="0"/>
              <a:t> </a:t>
            </a:r>
            <a:r>
              <a:rPr lang="en-US" dirty="0" smtClean="0"/>
              <a:t>: Reveals </a:t>
            </a:r>
            <a:r>
              <a:rPr lang="en-US" dirty="0"/>
              <a:t>hidden correlations (e.g., summarizing malware incidents by time/region to detect campaigns).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Optimizes Resource Use</a:t>
            </a:r>
            <a:r>
              <a:rPr lang="en-US" dirty="0"/>
              <a:t> </a:t>
            </a:r>
            <a:r>
              <a:rPr lang="en-US" dirty="0" smtClean="0"/>
              <a:t>: Focuses </a:t>
            </a:r>
            <a:r>
              <a:rPr lang="en-US" dirty="0"/>
              <a:t>analysis efforts (e.g., summarizing top vulnerabilities to guide patching efforts).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Supports Automation</a:t>
            </a:r>
            <a:r>
              <a:rPr lang="en-US" dirty="0"/>
              <a:t> </a:t>
            </a:r>
            <a:r>
              <a:rPr lang="en-US" dirty="0" smtClean="0"/>
              <a:t>: Enables </a:t>
            </a:r>
            <a:r>
              <a:rPr lang="en-US" dirty="0"/>
              <a:t>integration with dashboards/SIEMs for real-time monitoring (e.g., summarized DDoS attack stats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862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Common Challenges &amp; </a:t>
            </a:r>
            <a:r>
              <a:rPr lang="en-US" b="1" dirty="0" smtClean="0"/>
              <a:t>Solutions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800219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Investigate common challenges that come with summarization and how to counter those challenges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261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1531"/>
            <a:ext cx="8478723" cy="553998"/>
          </a:xfrm>
        </p:spPr>
        <p:txBody>
          <a:bodyPr/>
          <a:lstStyle/>
          <a:p>
            <a:r>
              <a:rPr lang="en-US" b="1" dirty="0" smtClean="0"/>
              <a:t>Stratification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609601"/>
            <a:ext cx="11658600" cy="60960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Stratification is a data analysis technique that divides a population into homogeneous subgroups (strata) based on shared characteristics before analysis. </a:t>
            </a:r>
            <a:endParaRPr lang="en-US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enables more precise insights by reducing variation within each group</a:t>
            </a:r>
            <a:r>
              <a:rPr lang="en-US" dirty="0" smtClean="0"/>
              <a:t>.</a:t>
            </a:r>
          </a:p>
          <a:p>
            <a:r>
              <a:rPr lang="en-US" dirty="0" smtClean="0"/>
              <a:t>Characteristics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Segmentation</a:t>
            </a:r>
            <a:r>
              <a:rPr lang="en-US" dirty="0"/>
              <a:t>: Creates meaningful subgroups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Homogeneity</a:t>
            </a:r>
            <a:r>
              <a:rPr lang="en-US" dirty="0"/>
              <a:t>: Members within strata are similar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Heterogeneity</a:t>
            </a:r>
            <a:r>
              <a:rPr lang="en-US" dirty="0"/>
              <a:t>: Strata differ significantly from each other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Representation</a:t>
            </a:r>
            <a:r>
              <a:rPr lang="en-US" dirty="0"/>
              <a:t>: Maintains population </a:t>
            </a:r>
            <a:r>
              <a:rPr lang="en-US" dirty="0" smtClean="0"/>
              <a:t>proportions</a:t>
            </a:r>
          </a:p>
          <a:p>
            <a:r>
              <a:rPr lang="en-US" dirty="0" smtClean="0"/>
              <a:t>Why should we use stratification in </a:t>
            </a:r>
            <a:r>
              <a:rPr lang="en-US" dirty="0" err="1" smtClean="0"/>
              <a:t>cybersecurity</a:t>
            </a:r>
            <a:r>
              <a:rPr lang="en-US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More accurate risk assessment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Targeted resource allocation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Prioritized remediation efforts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Enhanced pattern </a:t>
            </a:r>
            <a:r>
              <a:rPr lang="en-US" dirty="0" smtClean="0"/>
              <a:t>recognition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23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Stratification </a:t>
            </a:r>
            <a:r>
              <a:rPr lang="en-US" b="1" dirty="0" smtClean="0"/>
              <a:t>Methods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143001"/>
            <a:ext cx="10265410" cy="609600"/>
          </a:xfrm>
        </p:spPr>
        <p:txBody>
          <a:bodyPr/>
          <a:lstStyle/>
          <a:p>
            <a:r>
              <a:rPr lang="en-US" dirty="0" smtClean="0"/>
              <a:t>1. </a:t>
            </a:r>
            <a:r>
              <a:rPr lang="en-US" b="1" dirty="0"/>
              <a:t>Common Stratification Variables in </a:t>
            </a:r>
            <a:r>
              <a:rPr lang="en-US" b="1" dirty="0" err="1"/>
              <a:t>Cybersecurity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5859"/>
              </p:ext>
            </p:extLst>
          </p:nvPr>
        </p:nvGraphicFramePr>
        <p:xfrm>
          <a:off x="0" y="1600201"/>
          <a:ext cx="11887201" cy="5554336"/>
        </p:xfrm>
        <a:graphic>
          <a:graphicData uri="http://schemas.openxmlformats.org/drawingml/2006/table">
            <a:tbl>
              <a:tblPr/>
              <a:tblGrid>
                <a:gridCol w="2057400"/>
                <a:gridCol w="5181600"/>
                <a:gridCol w="4648201"/>
              </a:tblGrid>
              <a:tr h="619297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effectLst/>
                          <a:latin typeface="Franklin Gothic Medium" pitchFamily="34" charset="0"/>
                        </a:rPr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effectLst/>
                          <a:latin typeface="Franklin Gothic Medium" pitchFamily="34" charset="0"/>
                        </a:rPr>
                        <a:t>Example Strata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>
                          <a:effectLst/>
                          <a:latin typeface="Franklin Gothic Medium" pitchFamily="34" charset="0"/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4735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Franklin Gothic Medium" pitchFamily="34" charset="0"/>
                        </a:rPr>
                        <a:t>Severity</a:t>
                      </a:r>
                      <a:endParaRPr lang="en-US" sz="2800">
                        <a:effectLst/>
                        <a:latin typeface="Franklin Gothic Medium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Franklin Gothic Medium" pitchFamily="34" charset="0"/>
                        </a:rPr>
                        <a:t>Critical/High/Medium/Low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Vulnerability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1537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Franklin Gothic Medium" pitchFamily="34" charset="0"/>
                        </a:rPr>
                        <a:t>Time</a:t>
                      </a:r>
                      <a:endParaRPr lang="en-US" sz="2800">
                        <a:effectLst/>
                        <a:latin typeface="Franklin Gothic Medium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Hourly/Daily/Weekly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Attack pattern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4735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Franklin Gothic Medium" pitchFamily="34" charset="0"/>
                        </a:rPr>
                        <a:t>Source</a:t>
                      </a:r>
                      <a:endParaRPr lang="en-US" sz="2800">
                        <a:effectLst/>
                        <a:latin typeface="Franklin Gothic Medium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Internal/External/Partner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Threat origin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9297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Franklin Gothic Medium" pitchFamily="34" charset="0"/>
                        </a:rPr>
                        <a:t>Asset Type</a:t>
                      </a:r>
                      <a:endParaRPr lang="en-US" sz="2800">
                        <a:effectLst/>
                        <a:latin typeface="Franklin Gothic Medium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Server/Workstation/IoT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Risk profiling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14735">
                <a:tc>
                  <a:txBody>
                    <a:bodyPr/>
                    <a:lstStyle/>
                    <a:p>
                      <a:r>
                        <a:rPr lang="en-US" sz="2800" b="1">
                          <a:effectLst/>
                          <a:latin typeface="Franklin Gothic Medium" pitchFamily="34" charset="0"/>
                        </a:rPr>
                        <a:t>Location</a:t>
                      </a:r>
                      <a:endParaRPr lang="en-US" sz="2800">
                        <a:effectLst/>
                        <a:latin typeface="Franklin Gothic Medium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effectLst/>
                          <a:latin typeface="Franklin Gothic Medium" pitchFamily="34" charset="0"/>
                        </a:rPr>
                        <a:t>DMZ/Internal/Cloud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  <a:latin typeface="Franklin Gothic Medium" pitchFamily="34" charset="0"/>
                        </a:rPr>
                        <a:t>Security control </a:t>
                      </a:r>
                      <a:r>
                        <a:rPr lang="en-US" sz="2800" dirty="0" smtClean="0">
                          <a:effectLst/>
                          <a:latin typeface="Franklin Gothic Medium" pitchFamily="34" charset="0"/>
                        </a:rPr>
                        <a:t>assessment</a:t>
                      </a:r>
                      <a:endParaRPr lang="en-US" sz="2800" dirty="0">
                        <a:effectLst/>
                        <a:latin typeface="Franklin Gothic Medium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9166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Stratification Methods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95401"/>
            <a:ext cx="10265410" cy="4739759"/>
          </a:xfrm>
        </p:spPr>
        <p:txBody>
          <a:bodyPr/>
          <a:lstStyle/>
          <a:p>
            <a:r>
              <a:rPr lang="en-US" dirty="0" smtClean="0"/>
              <a:t>2. </a:t>
            </a:r>
            <a:r>
              <a:rPr lang="en-US" sz="2800" b="1" dirty="0">
                <a:latin typeface="Franklin Gothic Medium" pitchFamily="34" charset="0"/>
              </a:rPr>
              <a:t>Stratification Techniques</a:t>
            </a:r>
          </a:p>
          <a:p>
            <a:r>
              <a:rPr lang="en-US" sz="2800" b="1" dirty="0" smtClean="0">
                <a:latin typeface="Franklin Gothic Medium" pitchFamily="34" charset="0"/>
              </a:rPr>
              <a:t>1. Equal </a:t>
            </a:r>
            <a:r>
              <a:rPr lang="en-US" sz="2800" b="1" dirty="0">
                <a:latin typeface="Franklin Gothic Medium" pitchFamily="34" charset="0"/>
              </a:rPr>
              <a:t>Interval Stratification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Divides range into equal-sized intervals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CVSS scores 0-3, 3-6, 6-9, 9-10</a:t>
            </a:r>
          </a:p>
          <a:p>
            <a:r>
              <a:rPr lang="en-US" sz="2800" b="1" dirty="0" smtClean="0">
                <a:latin typeface="Franklin Gothic Medium" pitchFamily="34" charset="0"/>
              </a:rPr>
              <a:t>2. </a:t>
            </a:r>
            <a:r>
              <a:rPr lang="en-US" sz="2800" b="1" dirty="0" err="1" smtClean="0">
                <a:latin typeface="Franklin Gothic Medium" pitchFamily="34" charset="0"/>
              </a:rPr>
              <a:t>Quantile</a:t>
            </a:r>
            <a:r>
              <a:rPr lang="en-US" sz="2800" b="1" dirty="0" smtClean="0">
                <a:latin typeface="Franklin Gothic Medium" pitchFamily="34" charset="0"/>
              </a:rPr>
              <a:t> </a:t>
            </a:r>
            <a:r>
              <a:rPr lang="en-US" sz="2800" b="1" dirty="0">
                <a:latin typeface="Franklin Gothic Medium" pitchFamily="34" charset="0"/>
              </a:rPr>
              <a:t>Stratification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Equal number of items per stratum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Top 10% most attacked systems</a:t>
            </a:r>
          </a:p>
          <a:p>
            <a:r>
              <a:rPr lang="en-US" sz="2800" b="1" dirty="0" smtClean="0">
                <a:latin typeface="Franklin Gothic Medium" pitchFamily="34" charset="0"/>
              </a:rPr>
              <a:t>3. Domain-Based </a:t>
            </a:r>
            <a:r>
              <a:rPr lang="en-US" sz="2800" b="1" dirty="0">
                <a:latin typeface="Franklin Gothic Medium" pitchFamily="34" charset="0"/>
              </a:rPr>
              <a:t>Stratification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Expert-defined categories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Example: NIST CSF functions (Identify, Protect, Detect, Respond, Recover</a:t>
            </a:r>
            <a:r>
              <a:rPr lang="en-US" sz="2800" dirty="0" smtClean="0">
                <a:latin typeface="Franklin Gothic Medium" pitchFamily="34" charset="0"/>
              </a:rPr>
              <a:t>)</a:t>
            </a:r>
            <a:endParaRPr lang="en-US" sz="2800" dirty="0"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9583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dirty="0" smtClean="0"/>
              <a:t>Application of </a:t>
            </a:r>
            <a:r>
              <a:rPr lang="en-US" b="1" dirty="0"/>
              <a:t>Stratification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95400"/>
            <a:ext cx="10265410" cy="384720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Franklin Gothic Medium" pitchFamily="34" charset="0"/>
              </a:rPr>
              <a:t>Vulnerability Prioritization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Stratify by CVSS score + exploit availability + asset criticality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Franklin Gothic Medium" pitchFamily="34" charset="0"/>
              </a:rPr>
              <a:t>Threat Intelligence Analysis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Stratify IOCs by threat actor TTPs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Franklin Gothic Medium" pitchFamily="34" charset="0"/>
              </a:rPr>
              <a:t>Incident Response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Stratify incidents by business impact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latin typeface="Franklin Gothic Medium" pitchFamily="34" charset="0"/>
              </a:rPr>
              <a:t>Security Control Assessment</a:t>
            </a:r>
            <a:endParaRPr lang="en-US" sz="2800" dirty="0">
              <a:latin typeface="Franklin Gothic Medium" pitchFamily="34" charset="0"/>
            </a:endParaRP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800" dirty="0">
                <a:latin typeface="Franklin Gothic Medium" pitchFamily="34" charset="0"/>
              </a:rPr>
              <a:t>Stratify controls by implementation maturity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9998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Advantages of </a:t>
            </a:r>
            <a:r>
              <a:rPr lang="en-US" b="1" dirty="0" smtClean="0"/>
              <a:t>Stratification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1219200"/>
            <a:ext cx="10265410" cy="5512581"/>
          </a:xfrm>
        </p:spPr>
        <p:txBody>
          <a:bodyPr/>
          <a:lstStyle/>
          <a:p>
            <a:r>
              <a:rPr lang="en-US" b="1" dirty="0" smtClean="0"/>
              <a:t>Advantages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 smtClean="0"/>
              <a:t>Targeted </a:t>
            </a:r>
            <a:r>
              <a:rPr lang="en-US" b="1" dirty="0"/>
              <a:t>Threat Detection</a:t>
            </a:r>
            <a:r>
              <a:rPr lang="en-US" dirty="0"/>
              <a:t> - Enables focused analysis of high-risk groups (e.g., privileged accounts, critical systems)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Reduced Alert Fatigue</a:t>
            </a:r>
            <a:r>
              <a:rPr lang="en-US" dirty="0"/>
              <a:t> - Filters noise by separating significant events from normal activity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Contextual Insights</a:t>
            </a:r>
            <a:r>
              <a:rPr lang="en-US" dirty="0"/>
              <a:t> - Reveals attack patterns specific to different segments (e.g., by department, geography, or device type)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Resource Optimization</a:t>
            </a:r>
            <a:r>
              <a:rPr lang="en-US" dirty="0"/>
              <a:t> - Directs security efforts to most vulnerable areas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Compliance Alignment</a:t>
            </a:r>
            <a:r>
              <a:rPr lang="en-US" dirty="0"/>
              <a:t> - Organizes data according to regulatory requirements (e.g., data sensitivity tiers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4468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536" y="421894"/>
            <a:ext cx="8478723" cy="553998"/>
          </a:xfrm>
        </p:spPr>
        <p:txBody>
          <a:bodyPr/>
          <a:lstStyle/>
          <a:p>
            <a:r>
              <a:rPr lang="en-US" b="1" dirty="0"/>
              <a:t>Disadvantages of </a:t>
            </a:r>
            <a:r>
              <a:rPr lang="en-US" b="1" dirty="0" smtClean="0"/>
              <a:t>Stratification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216" y="2330576"/>
            <a:ext cx="10265410" cy="3600986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Over-Segmentation Risk</a:t>
            </a:r>
            <a:r>
              <a:rPr lang="en-US" dirty="0"/>
              <a:t> - May miss threats that cross stratum boundaries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Increased Complexity</a:t>
            </a:r>
            <a:r>
              <a:rPr lang="en-US" dirty="0"/>
              <a:t> - Requires careful definition and maintenance of categories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Potential Blind Spots</a:t>
            </a:r>
            <a:r>
              <a:rPr lang="en-US" dirty="0"/>
              <a:t> - Novel attack vectors may not fit existing strata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Resource Intensive</a:t>
            </a:r>
            <a:r>
              <a:rPr lang="en-US" dirty="0"/>
              <a:t> - Demands additional processing power for multi-layer analysis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b="1" dirty="0"/>
              <a:t>Stratification Bias</a:t>
            </a:r>
            <a:r>
              <a:rPr lang="en-US" dirty="0"/>
              <a:t> - Poor category design could hide important </a:t>
            </a:r>
            <a:r>
              <a:rPr lang="en-US" dirty="0" smtClean="0"/>
              <a:t>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67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585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8877</TotalTime>
  <Words>2263</Words>
  <Application>Microsoft Office PowerPoint</Application>
  <PresentationFormat>Custom</PresentationFormat>
  <Paragraphs>558</Paragraphs>
  <Slides>76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CYS 339: FRAUD AND DETECTION TECHNOLOGIES</vt:lpstr>
      <vt:lpstr>Session Content</vt:lpstr>
      <vt:lpstr>Financial Ratio, Variance, Percentage, Aging, Average</vt:lpstr>
      <vt:lpstr>Financial Ratio</vt:lpstr>
      <vt:lpstr>Financial Ratio in Cybersecurity</vt:lpstr>
      <vt:lpstr>Advantages of using Financial Ratio</vt:lpstr>
      <vt:lpstr>Limitations of Financial Ratio</vt:lpstr>
      <vt:lpstr>Variance</vt:lpstr>
      <vt:lpstr>Types of Variance </vt:lpstr>
      <vt:lpstr>Advantages of using variance</vt:lpstr>
      <vt:lpstr>Limitations of using Variance</vt:lpstr>
      <vt:lpstr>Percentage</vt:lpstr>
      <vt:lpstr>Common Percentage Formulas </vt:lpstr>
      <vt:lpstr>Advantages of Percentages</vt:lpstr>
      <vt:lpstr>Limitations of using Percentages </vt:lpstr>
      <vt:lpstr>Aging</vt:lpstr>
      <vt:lpstr>Aging in Cybersecurity</vt:lpstr>
      <vt:lpstr>Aging</vt:lpstr>
      <vt:lpstr>Average (Mean) Analysis</vt:lpstr>
      <vt:lpstr>Average at work in Cybersecurity Fraud Detection</vt:lpstr>
      <vt:lpstr>Average: Advantages &amp; Disadvantages</vt:lpstr>
      <vt:lpstr>Common Analysis Functions.</vt:lpstr>
      <vt:lpstr>Filter</vt:lpstr>
      <vt:lpstr>Advantages and Disadvantages of Using Filtering in Cybersecurity Data Analysis</vt:lpstr>
      <vt:lpstr>Advantages and Disadvantages of Using Filtering in Cybersecurity Data Analysis</vt:lpstr>
      <vt:lpstr>Sort</vt:lpstr>
      <vt:lpstr>Advantages and Disadvantages of Using Sorting in Cybersecurity Data Analysis</vt:lpstr>
      <vt:lpstr>Advantages and Disadvantages of Using Sorting in Cybersecurity Data Analysis</vt:lpstr>
      <vt:lpstr>Join</vt:lpstr>
      <vt:lpstr>Advantages and Disadvantages of Using Join Operations</vt:lpstr>
      <vt:lpstr>Advantages and Disadvantages of Using Join Operations</vt:lpstr>
      <vt:lpstr>Append</vt:lpstr>
      <vt:lpstr>Advantages and Disadvantages of Using Append </vt:lpstr>
      <vt:lpstr>Advantages and Disadvantages of Using Append</vt:lpstr>
      <vt:lpstr>PowerPoint Presentation</vt:lpstr>
      <vt:lpstr>Pivot</vt:lpstr>
      <vt:lpstr>Advantages and Disadvantages of Using Pivot  </vt:lpstr>
      <vt:lpstr>Advantages and Disadvantages of Using Pivot</vt:lpstr>
      <vt:lpstr>Trend</vt:lpstr>
      <vt:lpstr>Advantages and Disadvantages of Using Trend Analysis</vt:lpstr>
      <vt:lpstr>Advantages and Disadvantages of Using Trend Analysis</vt:lpstr>
      <vt:lpstr>Regression</vt:lpstr>
      <vt:lpstr>Advantages and Disadvantages of Using Regression</vt:lpstr>
      <vt:lpstr>Advantages and Disadvantages of Using Regression</vt:lpstr>
      <vt:lpstr>Ratio </vt:lpstr>
      <vt:lpstr>Advantages and Disadvantages of Using Ratio</vt:lpstr>
      <vt:lpstr>Advantages and Disadvantages of Using Ratio</vt:lpstr>
      <vt:lpstr>Other functions</vt:lpstr>
      <vt:lpstr>Vlookup</vt:lpstr>
      <vt:lpstr>vlookup</vt:lpstr>
      <vt:lpstr>Vlookup: How does it work  </vt:lpstr>
      <vt:lpstr>Common uses</vt:lpstr>
      <vt:lpstr>Limitations of VLOOKUP</vt:lpstr>
      <vt:lpstr>Alternatives to VLOOKUP </vt:lpstr>
      <vt:lpstr>Eye-lookup</vt:lpstr>
      <vt:lpstr>Grouping</vt:lpstr>
      <vt:lpstr>Key Characteristics of grouping</vt:lpstr>
      <vt:lpstr>Methods of Grouping </vt:lpstr>
      <vt:lpstr>Methods of Grouping</vt:lpstr>
      <vt:lpstr>Cybersecurity Applications of Grouping</vt:lpstr>
      <vt:lpstr>Advantages and Disadvantages of Using Grouping</vt:lpstr>
      <vt:lpstr>Advantages and Disadvantages of Using Grouping</vt:lpstr>
      <vt:lpstr>Summarization</vt:lpstr>
      <vt:lpstr>Summarization Techniques</vt:lpstr>
      <vt:lpstr>Summarization Techniques</vt:lpstr>
      <vt:lpstr>Applications of Summarization</vt:lpstr>
      <vt:lpstr>Summarization: Advanced Techniques</vt:lpstr>
      <vt:lpstr>Visualization of Summaries</vt:lpstr>
      <vt:lpstr>Advantages of using Summarization</vt:lpstr>
      <vt:lpstr>Common Challenges &amp; Solutions</vt:lpstr>
      <vt:lpstr>Stratification</vt:lpstr>
      <vt:lpstr>Stratification Methods</vt:lpstr>
      <vt:lpstr>Stratification Methods</vt:lpstr>
      <vt:lpstr>Application of Stratification </vt:lpstr>
      <vt:lpstr>Advantages of Stratification</vt:lpstr>
      <vt:lpstr>Disadvantages of Stratification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simushi</dc:creator>
  <cp:lastModifiedBy>my pc</cp:lastModifiedBy>
  <cp:revision>77</cp:revision>
  <dcterms:created xsi:type="dcterms:W3CDTF">2025-03-05T05:55:16Z</dcterms:created>
  <dcterms:modified xsi:type="dcterms:W3CDTF">2025-03-28T09:08:43Z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2025-03-05T00:00:00Z</vt:filetime>
  </property>
  <property fmtid="{D5CDD505-2E9C-101B-9397-08002B2CF9AE}" pid="5" name="Producer">
    <vt:lpwstr>Microsoft® PowerPoint® 2016</vt:lpwstr>
  </property>
</Properties>
</file>