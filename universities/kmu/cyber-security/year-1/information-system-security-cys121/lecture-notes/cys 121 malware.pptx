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59"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51C9CD-A9A7-44A9-9356-9FC82EED7EF5}" type="datetimeFigureOut">
              <a:rPr lang="en-GB" smtClean="0"/>
              <a:t>20/05/2023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781737-40DF-43EA-B327-B4B2C9399C43}" type="slidenum">
              <a:rPr lang="en-GB" smtClean="0"/>
              <a:t>‹#›</a:t>
            </a:fld>
            <a:endParaRPr lang="en-GB"/>
          </a:p>
        </p:txBody>
      </p:sp>
    </p:spTree>
    <p:extLst>
      <p:ext uri="{BB962C8B-B14F-4D97-AF65-F5344CB8AC3E}">
        <p14:creationId xmlns:p14="http://schemas.microsoft.com/office/powerpoint/2010/main" val="360964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781737-40DF-43EA-B327-B4B2C9399C43}" type="slidenum">
              <a:rPr lang="en-GB" smtClean="0"/>
              <a:t>12</a:t>
            </a:fld>
            <a:endParaRPr lang="en-GB"/>
          </a:p>
        </p:txBody>
      </p:sp>
    </p:spTree>
    <p:extLst>
      <p:ext uri="{BB962C8B-B14F-4D97-AF65-F5344CB8AC3E}">
        <p14:creationId xmlns:p14="http://schemas.microsoft.com/office/powerpoint/2010/main" val="3039212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7DBB11F-8365-4B14-B481-06D91AE7EDD4}" type="datetimeFigureOut">
              <a:rPr lang="en-GB" smtClean="0"/>
              <a:t>20/05/2023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6716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7DBB11F-8365-4B14-B481-06D91AE7EDD4}" type="datetimeFigureOut">
              <a:rPr lang="en-GB" smtClean="0"/>
              <a:t>20/05/2023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66772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7DBB11F-8365-4B14-B481-06D91AE7EDD4}" type="datetimeFigureOut">
              <a:rPr lang="en-GB" smtClean="0"/>
              <a:t>20/05/2023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1744307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7DBB11F-8365-4B14-B481-06D91AE7EDD4}" type="datetimeFigureOut">
              <a:rPr lang="en-GB" smtClean="0"/>
              <a:t>20/05/2023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800118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7DBB11F-8365-4B14-B481-06D91AE7EDD4}" type="datetimeFigureOut">
              <a:rPr lang="en-GB" smtClean="0"/>
              <a:t>20/05/2023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1430618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7DBB11F-8365-4B14-B481-06D91AE7EDD4}" type="datetimeFigureOut">
              <a:rPr lang="en-GB" smtClean="0"/>
              <a:t>20/05/2023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519434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DBB11F-8365-4B14-B481-06D91AE7EDD4}" type="datetimeFigureOut">
              <a:rPr lang="en-GB" smtClean="0"/>
              <a:t>20/05/2023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3713247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DBB11F-8365-4B14-B481-06D91AE7EDD4}" type="datetimeFigureOut">
              <a:rPr lang="en-GB" smtClean="0"/>
              <a:t>20/05/2023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2409691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DBB11F-8365-4B14-B481-06D91AE7EDD4}" type="datetimeFigureOut">
              <a:rPr lang="en-GB" smtClean="0"/>
              <a:t>20/05/2023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129758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7DBB11F-8365-4B14-B481-06D91AE7EDD4}" type="datetimeFigureOut">
              <a:rPr lang="en-GB" smtClean="0"/>
              <a:t>20/05/2023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2281065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7DBB11F-8365-4B14-B481-06D91AE7EDD4}" type="datetimeFigureOut">
              <a:rPr lang="en-GB" smtClean="0"/>
              <a:t>20/05/2023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65C14D-D2EC-41D5-8E4D-52F83F9151E9}" type="slidenum">
              <a:rPr lang="en-GB" smtClean="0"/>
              <a:t>‹#›</a:t>
            </a:fld>
            <a:endParaRPr lang="en-GB"/>
          </a:p>
        </p:txBody>
      </p:sp>
    </p:spTree>
    <p:extLst>
      <p:ext uri="{BB962C8B-B14F-4D97-AF65-F5344CB8AC3E}">
        <p14:creationId xmlns:p14="http://schemas.microsoft.com/office/powerpoint/2010/main" val="3117868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DBB11F-8365-4B14-B481-06D91AE7EDD4}" type="datetimeFigureOut">
              <a:rPr lang="en-GB" smtClean="0"/>
              <a:t>20/05/2023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5C14D-D2EC-41D5-8E4D-52F83F9151E9}" type="slidenum">
              <a:rPr lang="en-GB" smtClean="0"/>
              <a:t>‹#›</a:t>
            </a:fld>
            <a:endParaRPr lang="en-GB"/>
          </a:p>
        </p:txBody>
      </p:sp>
    </p:spTree>
    <p:extLst>
      <p:ext uri="{BB962C8B-B14F-4D97-AF65-F5344CB8AC3E}">
        <p14:creationId xmlns:p14="http://schemas.microsoft.com/office/powerpoint/2010/main" val="3881981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smtClean="0">
                <a:solidFill>
                  <a:schemeClr val="accent6">
                    <a:lumMod val="75000"/>
                  </a:schemeClr>
                </a:solidFill>
              </a:rPr>
              <a:t>MALWARE </a:t>
            </a:r>
            <a:br>
              <a:rPr lang="en-GB" b="1" i="1" dirty="0" smtClean="0">
                <a:solidFill>
                  <a:schemeClr val="accent6">
                    <a:lumMod val="75000"/>
                  </a:schemeClr>
                </a:solidFill>
              </a:rPr>
            </a:br>
            <a:r>
              <a:rPr lang="en-GB" sz="3100" b="1" i="1" dirty="0" smtClean="0">
                <a:solidFill>
                  <a:schemeClr val="tx2">
                    <a:lumMod val="75000"/>
                  </a:schemeClr>
                </a:solidFill>
              </a:rPr>
              <a:t>prof kateka</a:t>
            </a:r>
            <a:endParaRPr lang="en-GB" sz="3100" b="1" i="1" dirty="0">
              <a:solidFill>
                <a:schemeClr val="tx2">
                  <a:lumMod val="75000"/>
                </a:schemeClr>
              </a:solidFill>
            </a:endParaRPr>
          </a:p>
        </p:txBody>
      </p:sp>
      <p:sp>
        <p:nvSpPr>
          <p:cNvPr id="3" name="Content Placeholder 2"/>
          <p:cNvSpPr>
            <a:spLocks noGrp="1"/>
          </p:cNvSpPr>
          <p:nvPr>
            <p:ph idx="1"/>
          </p:nvPr>
        </p:nvSpPr>
        <p:spPr/>
        <p:txBody>
          <a:bodyPr>
            <a:normAutofit fontScale="77500" lnSpcReduction="20000"/>
          </a:bodyPr>
          <a:lstStyle/>
          <a:p>
            <a:pPr marL="0" indent="0" algn="ctr">
              <a:buNone/>
            </a:pPr>
            <a:r>
              <a:rPr lang="en-GB" u="sng" dirty="0" smtClean="0"/>
              <a:t>INTRODUCTION</a:t>
            </a:r>
          </a:p>
          <a:p>
            <a:pPr marL="0" indent="0">
              <a:lnSpc>
                <a:spcPct val="160000"/>
              </a:lnSpc>
              <a:buNone/>
            </a:pPr>
            <a:r>
              <a:rPr lang="en-GB" dirty="0" smtClean="0"/>
              <a:t>Software/computer programs these are the set of instructions written in a specific manner to perform a particular task.</a:t>
            </a:r>
          </a:p>
          <a:p>
            <a:pPr marL="0" indent="0">
              <a:lnSpc>
                <a:spcPct val="160000"/>
              </a:lnSpc>
              <a:buNone/>
            </a:pPr>
            <a:r>
              <a:rPr lang="en-GB" dirty="0" smtClean="0"/>
              <a:t>Two types of computer programs </a:t>
            </a:r>
          </a:p>
          <a:p>
            <a:pPr marL="514350" indent="-514350" algn="ctr">
              <a:lnSpc>
                <a:spcPct val="160000"/>
              </a:lnSpc>
              <a:buAutoNum type="arabicPeriod"/>
            </a:pPr>
            <a:r>
              <a:rPr lang="en-GB" dirty="0" smtClean="0"/>
              <a:t>Useful programs 2. harmful programs</a:t>
            </a:r>
          </a:p>
          <a:p>
            <a:pPr marL="0" indent="0">
              <a:lnSpc>
                <a:spcPct val="160000"/>
              </a:lnSpc>
              <a:buNone/>
            </a:pPr>
            <a:r>
              <a:rPr lang="en-GB" dirty="0" smtClean="0"/>
              <a:t>Useful programs these are made to ease our work on computers for example rail reservation software.</a:t>
            </a:r>
          </a:p>
          <a:p>
            <a:pPr marL="0" indent="0" algn="ctr">
              <a:buNone/>
            </a:pPr>
            <a:endParaRPr lang="en-GB" dirty="0" smtClean="0"/>
          </a:p>
          <a:p>
            <a:pPr marL="0" indent="0" algn="ctr">
              <a:buNone/>
            </a:pPr>
            <a:endParaRPr lang="en-GB" dirty="0" smtClean="0"/>
          </a:p>
          <a:p>
            <a:pPr marL="0" indent="0" algn="ctr">
              <a:buNone/>
            </a:pPr>
            <a:endParaRPr lang="en-GB" dirty="0"/>
          </a:p>
        </p:txBody>
      </p:sp>
    </p:spTree>
    <p:extLst>
      <p:ext uri="{BB962C8B-B14F-4D97-AF65-F5344CB8AC3E}">
        <p14:creationId xmlns:p14="http://schemas.microsoft.com/office/powerpoint/2010/main" val="1351230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smtClean="0">
                <a:solidFill>
                  <a:schemeClr val="accent6">
                    <a:lumMod val="75000"/>
                  </a:schemeClr>
                </a:solidFill>
              </a:rPr>
              <a:t>MALWARE  </a:t>
            </a:r>
            <a:r>
              <a:rPr lang="en-GB" b="1" i="1" dirty="0" err="1" smtClean="0">
                <a:solidFill>
                  <a:schemeClr val="accent6">
                    <a:lumMod val="75000"/>
                  </a:schemeClr>
                </a:solidFill>
              </a:rPr>
              <a:t>cont</a:t>
            </a:r>
            <a:r>
              <a:rPr lang="en-GB" b="1" i="1" dirty="0" smtClean="0">
                <a:solidFill>
                  <a:schemeClr val="accent6">
                    <a:lumMod val="75000"/>
                  </a:schemeClr>
                </a:solidFill>
              </a:rPr>
              <a:t>…..</a:t>
            </a:r>
            <a:br>
              <a:rPr lang="en-GB" b="1" i="1" dirty="0" smtClean="0">
                <a:solidFill>
                  <a:schemeClr val="accent6">
                    <a:lumMod val="75000"/>
                  </a:schemeClr>
                </a:solidFill>
              </a:rPr>
            </a:br>
            <a:endParaRPr lang="en-GB" sz="3100" b="1" i="1" dirty="0">
              <a:solidFill>
                <a:schemeClr val="tx2">
                  <a:lumMod val="75000"/>
                </a:schemeClr>
              </a:solidFill>
            </a:endParaRPr>
          </a:p>
        </p:txBody>
      </p:sp>
      <p:sp>
        <p:nvSpPr>
          <p:cNvPr id="3" name="Content Placeholder 2"/>
          <p:cNvSpPr>
            <a:spLocks noGrp="1"/>
          </p:cNvSpPr>
          <p:nvPr>
            <p:ph idx="1"/>
          </p:nvPr>
        </p:nvSpPr>
        <p:spPr/>
        <p:txBody>
          <a:bodyPr>
            <a:normAutofit fontScale="85000" lnSpcReduction="10000"/>
          </a:bodyPr>
          <a:lstStyle/>
          <a:p>
            <a:pPr marL="0" indent="0">
              <a:lnSpc>
                <a:spcPct val="150000"/>
              </a:lnSpc>
              <a:buNone/>
            </a:pPr>
            <a:r>
              <a:rPr lang="en-GB" dirty="0" smtClean="0"/>
              <a:t>Harmful programs: these are programs that  are made to destroy data, files and folders. All such programs that causes harm to our computers are termed as malware.</a:t>
            </a:r>
          </a:p>
          <a:p>
            <a:pPr marL="0" indent="0">
              <a:lnSpc>
                <a:spcPct val="150000"/>
              </a:lnSpc>
              <a:buNone/>
            </a:pPr>
            <a:r>
              <a:rPr lang="en-GB" dirty="0" smtClean="0"/>
              <a:t>MALWARE is a combination of two words malicious and software.</a:t>
            </a:r>
          </a:p>
          <a:p>
            <a:pPr marL="0" indent="0">
              <a:lnSpc>
                <a:spcPct val="150000"/>
              </a:lnSpc>
              <a:buNone/>
            </a:pPr>
            <a:r>
              <a:rPr lang="en-GB" dirty="0" smtClean="0"/>
              <a:t>Malicious (intended to do harm) + Software = malware.</a:t>
            </a:r>
            <a:endParaRPr lang="en-GB" dirty="0"/>
          </a:p>
        </p:txBody>
      </p:sp>
    </p:spTree>
    <p:extLst>
      <p:ext uri="{BB962C8B-B14F-4D97-AF65-F5344CB8AC3E}">
        <p14:creationId xmlns:p14="http://schemas.microsoft.com/office/powerpoint/2010/main" val="1351230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smtClean="0">
                <a:solidFill>
                  <a:schemeClr val="accent6">
                    <a:lumMod val="75000"/>
                  </a:schemeClr>
                </a:solidFill>
              </a:rPr>
              <a:t>Common types of malware</a:t>
            </a:r>
            <a:endParaRPr lang="en-GB" u="sng" dirty="0">
              <a:solidFill>
                <a:schemeClr val="accent6">
                  <a:lumMod val="75000"/>
                </a:schemeClr>
              </a:solidFill>
            </a:endParaRPr>
          </a:p>
        </p:txBody>
      </p:sp>
      <p:sp>
        <p:nvSpPr>
          <p:cNvPr id="3" name="Content Placeholder 2"/>
          <p:cNvSpPr>
            <a:spLocks noGrp="1"/>
          </p:cNvSpPr>
          <p:nvPr>
            <p:ph idx="1"/>
          </p:nvPr>
        </p:nvSpPr>
        <p:spPr/>
        <p:txBody>
          <a:bodyPr>
            <a:normAutofit fontScale="70000" lnSpcReduction="20000"/>
          </a:bodyPr>
          <a:lstStyle/>
          <a:p>
            <a:pPr>
              <a:lnSpc>
                <a:spcPct val="160000"/>
              </a:lnSpc>
              <a:buFont typeface="Wingdings" pitchFamily="2" charset="2"/>
              <a:buChar char="v"/>
            </a:pPr>
            <a:r>
              <a:rPr lang="en-GB" dirty="0" smtClean="0"/>
              <a:t>Virus </a:t>
            </a:r>
          </a:p>
          <a:p>
            <a:pPr>
              <a:lnSpc>
                <a:spcPct val="160000"/>
              </a:lnSpc>
              <a:buFont typeface="Wingdings" pitchFamily="2" charset="2"/>
              <a:buChar char="v"/>
            </a:pPr>
            <a:r>
              <a:rPr lang="en-GB" dirty="0" smtClean="0"/>
              <a:t>Worms </a:t>
            </a:r>
          </a:p>
          <a:p>
            <a:pPr>
              <a:lnSpc>
                <a:spcPct val="160000"/>
              </a:lnSpc>
              <a:buFont typeface="Wingdings" pitchFamily="2" charset="2"/>
              <a:buChar char="v"/>
            </a:pPr>
            <a:r>
              <a:rPr lang="en-GB" dirty="0" smtClean="0"/>
              <a:t>Trojan horse</a:t>
            </a:r>
          </a:p>
          <a:p>
            <a:pPr>
              <a:lnSpc>
                <a:spcPct val="160000"/>
              </a:lnSpc>
              <a:buFont typeface="Wingdings" pitchFamily="2" charset="2"/>
              <a:buChar char="v"/>
            </a:pPr>
            <a:r>
              <a:rPr lang="en-GB" dirty="0" smtClean="0"/>
              <a:t>Ransomware</a:t>
            </a:r>
          </a:p>
          <a:p>
            <a:pPr>
              <a:lnSpc>
                <a:spcPct val="160000"/>
              </a:lnSpc>
              <a:buFont typeface="Wingdings" pitchFamily="2" charset="2"/>
              <a:buChar char="v"/>
            </a:pPr>
            <a:r>
              <a:rPr lang="en-GB" dirty="0" smtClean="0"/>
              <a:t>Spyware</a:t>
            </a:r>
          </a:p>
          <a:p>
            <a:pPr>
              <a:lnSpc>
                <a:spcPct val="160000"/>
              </a:lnSpc>
              <a:buFont typeface="Wingdings" pitchFamily="2" charset="2"/>
              <a:buChar char="v"/>
            </a:pPr>
            <a:r>
              <a:rPr lang="en-GB" dirty="0" smtClean="0"/>
              <a:t>Adware</a:t>
            </a:r>
          </a:p>
          <a:p>
            <a:pPr>
              <a:lnSpc>
                <a:spcPct val="160000"/>
              </a:lnSpc>
              <a:buFont typeface="Wingdings" pitchFamily="2" charset="2"/>
              <a:buChar char="v"/>
            </a:pPr>
            <a:r>
              <a:rPr lang="en-GB" dirty="0" smtClean="0"/>
              <a:t>Scareware</a:t>
            </a:r>
          </a:p>
          <a:p>
            <a:pPr>
              <a:lnSpc>
                <a:spcPct val="160000"/>
              </a:lnSpc>
              <a:buFont typeface="Wingdings" pitchFamily="2" charset="2"/>
              <a:buChar char="v"/>
            </a:pPr>
            <a:r>
              <a:rPr lang="en-GB" dirty="0" smtClean="0"/>
              <a:t>Wiperware</a:t>
            </a:r>
          </a:p>
          <a:p>
            <a:pPr>
              <a:buFont typeface="Wingdings" pitchFamily="2" charset="2"/>
              <a:buChar char="v"/>
            </a:pPr>
            <a:endParaRPr lang="en-GB" dirty="0" smtClean="0"/>
          </a:p>
          <a:p>
            <a:pPr>
              <a:buFont typeface="Wingdings" pitchFamily="2" charset="2"/>
              <a:buChar char="v"/>
            </a:pPr>
            <a:endParaRPr lang="en-GB" dirty="0" smtClean="0"/>
          </a:p>
        </p:txBody>
      </p:sp>
    </p:spTree>
    <p:extLst>
      <p:ext uri="{BB962C8B-B14F-4D97-AF65-F5344CB8AC3E}">
        <p14:creationId xmlns:p14="http://schemas.microsoft.com/office/powerpoint/2010/main" val="318864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GB" u="sng" dirty="0" smtClean="0">
                <a:solidFill>
                  <a:schemeClr val="accent6">
                    <a:lumMod val="75000"/>
                  </a:schemeClr>
                </a:solidFill>
              </a:rPr>
              <a:t>Common types of malware</a:t>
            </a:r>
            <a:r>
              <a:rPr lang="en-GB" dirty="0" smtClean="0">
                <a:solidFill>
                  <a:schemeClr val="accent6">
                    <a:lumMod val="75000"/>
                  </a:schemeClr>
                </a:solidFill>
              </a:rPr>
              <a:t> </a:t>
            </a:r>
            <a:r>
              <a:rPr lang="en-GB" dirty="0" err="1" smtClean="0">
                <a:solidFill>
                  <a:schemeClr val="accent6">
                    <a:lumMod val="75000"/>
                  </a:schemeClr>
                </a:solidFill>
              </a:rPr>
              <a:t>cont</a:t>
            </a:r>
            <a:r>
              <a:rPr lang="en-GB" dirty="0" smtClean="0">
                <a:solidFill>
                  <a:schemeClr val="accent6">
                    <a:lumMod val="75000"/>
                  </a:schemeClr>
                </a:solidFill>
              </a:rPr>
              <a:t>…</a:t>
            </a:r>
            <a:endParaRPr lang="en-GB" dirty="0">
              <a:solidFill>
                <a:schemeClr val="accent6">
                  <a:lumMod val="75000"/>
                </a:schemeClr>
              </a:solidFill>
            </a:endParaRPr>
          </a:p>
        </p:txBody>
      </p:sp>
      <p:sp>
        <p:nvSpPr>
          <p:cNvPr id="3" name="Content Placeholder 2"/>
          <p:cNvSpPr>
            <a:spLocks noGrp="1"/>
          </p:cNvSpPr>
          <p:nvPr>
            <p:ph idx="1"/>
          </p:nvPr>
        </p:nvSpPr>
        <p:spPr/>
        <p:txBody>
          <a:bodyPr>
            <a:noAutofit/>
          </a:bodyPr>
          <a:lstStyle/>
          <a:p>
            <a:pPr>
              <a:lnSpc>
                <a:spcPct val="170000"/>
              </a:lnSpc>
              <a:buFont typeface="Wingdings" pitchFamily="2" charset="2"/>
              <a:buChar char="v"/>
            </a:pPr>
            <a:r>
              <a:rPr lang="en-GB" sz="1800" dirty="0" smtClean="0"/>
              <a:t>Back door</a:t>
            </a:r>
          </a:p>
          <a:p>
            <a:pPr>
              <a:lnSpc>
                <a:spcPct val="170000"/>
              </a:lnSpc>
              <a:buFont typeface="Wingdings" pitchFamily="2" charset="2"/>
              <a:buChar char="v"/>
            </a:pPr>
            <a:r>
              <a:rPr lang="en-GB" sz="1800" dirty="0" smtClean="0"/>
              <a:t>Computer worm</a:t>
            </a:r>
          </a:p>
          <a:p>
            <a:pPr>
              <a:lnSpc>
                <a:spcPct val="170000"/>
              </a:lnSpc>
              <a:buFont typeface="Wingdings" pitchFamily="2" charset="2"/>
              <a:buChar char="v"/>
            </a:pPr>
            <a:r>
              <a:rPr lang="en-GB" sz="1800" dirty="0" smtClean="0"/>
              <a:t>Logic bomb</a:t>
            </a:r>
          </a:p>
          <a:p>
            <a:pPr>
              <a:lnSpc>
                <a:spcPct val="170000"/>
              </a:lnSpc>
              <a:buFont typeface="Wingdings" pitchFamily="2" charset="2"/>
              <a:buChar char="v"/>
            </a:pPr>
            <a:r>
              <a:rPr lang="en-GB" sz="1800" dirty="0" smtClean="0"/>
              <a:t>Root kit</a:t>
            </a:r>
          </a:p>
          <a:p>
            <a:pPr>
              <a:lnSpc>
                <a:spcPct val="170000"/>
              </a:lnSpc>
              <a:buFont typeface="Wingdings" pitchFamily="2" charset="2"/>
              <a:buChar char="v"/>
            </a:pPr>
            <a:r>
              <a:rPr lang="en-GB" sz="1800" dirty="0" smtClean="0"/>
              <a:t>Botnet</a:t>
            </a:r>
          </a:p>
          <a:p>
            <a:pPr>
              <a:lnSpc>
                <a:spcPct val="170000"/>
              </a:lnSpc>
              <a:buFont typeface="Wingdings" pitchFamily="2" charset="2"/>
              <a:buChar char="v"/>
            </a:pPr>
            <a:r>
              <a:rPr lang="en-GB" sz="1800" dirty="0" smtClean="0"/>
              <a:t>Dos</a:t>
            </a:r>
          </a:p>
          <a:p>
            <a:pPr>
              <a:lnSpc>
                <a:spcPct val="170000"/>
              </a:lnSpc>
              <a:buFont typeface="Wingdings" pitchFamily="2" charset="2"/>
              <a:buChar char="v"/>
            </a:pPr>
            <a:r>
              <a:rPr lang="en-GB" sz="1800" dirty="0" smtClean="0"/>
              <a:t>Mobile malware</a:t>
            </a:r>
          </a:p>
          <a:p>
            <a:pPr>
              <a:lnSpc>
                <a:spcPct val="170000"/>
              </a:lnSpc>
              <a:buFont typeface="Wingdings" pitchFamily="2" charset="2"/>
              <a:buChar char="v"/>
            </a:pPr>
            <a:r>
              <a:rPr lang="en-GB" sz="1800" dirty="0" smtClean="0"/>
              <a:t>Keystroke logger</a:t>
            </a:r>
          </a:p>
          <a:p>
            <a:pPr>
              <a:lnSpc>
                <a:spcPct val="170000"/>
              </a:lnSpc>
              <a:buFont typeface="Wingdings" pitchFamily="2" charset="2"/>
              <a:buChar char="v"/>
            </a:pPr>
            <a:r>
              <a:rPr lang="en-GB" sz="1800" dirty="0" smtClean="0"/>
              <a:t>File less malware</a:t>
            </a:r>
          </a:p>
          <a:p>
            <a:pPr>
              <a:lnSpc>
                <a:spcPct val="170000"/>
              </a:lnSpc>
              <a:buFont typeface="Wingdings" pitchFamily="2" charset="2"/>
              <a:buChar char="v"/>
            </a:pPr>
            <a:r>
              <a:rPr lang="en-GB" sz="1800" dirty="0" smtClean="0"/>
              <a:t>Crypto lock</a:t>
            </a:r>
          </a:p>
        </p:txBody>
      </p:sp>
    </p:spTree>
    <p:extLst>
      <p:ext uri="{BB962C8B-B14F-4D97-AF65-F5344CB8AC3E}">
        <p14:creationId xmlns:p14="http://schemas.microsoft.com/office/powerpoint/2010/main" val="318864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6">
                    <a:lumMod val="75000"/>
                  </a:schemeClr>
                </a:solidFill>
              </a:rPr>
              <a:t>virus</a:t>
            </a:r>
            <a:endParaRPr lang="en-GB" dirty="0">
              <a:solidFill>
                <a:schemeClr val="accent6">
                  <a:lumMod val="75000"/>
                </a:schemeClr>
              </a:solidFill>
            </a:endParaRPr>
          </a:p>
        </p:txBody>
      </p:sp>
      <p:sp>
        <p:nvSpPr>
          <p:cNvPr id="3" name="Content Placeholder 2"/>
          <p:cNvSpPr>
            <a:spLocks noGrp="1"/>
          </p:cNvSpPr>
          <p:nvPr>
            <p:ph idx="1"/>
          </p:nvPr>
        </p:nvSpPr>
        <p:spPr/>
        <p:txBody>
          <a:bodyPr>
            <a:normAutofit fontScale="62500" lnSpcReduction="20000"/>
          </a:bodyPr>
          <a:lstStyle/>
          <a:p>
            <a:pPr marL="0" indent="0">
              <a:lnSpc>
                <a:spcPct val="170000"/>
              </a:lnSpc>
              <a:buNone/>
            </a:pPr>
            <a:r>
              <a:rPr lang="en-GB" dirty="0" smtClean="0"/>
              <a:t>A computer virus is a kind of malicious computer program, which when executed, replicates itself and inserts its own code. When the replication is done, this code infects the other files and program present on your system.</a:t>
            </a:r>
          </a:p>
          <a:p>
            <a:pPr marL="0" indent="0">
              <a:lnSpc>
                <a:spcPct val="170000"/>
              </a:lnSpc>
              <a:buNone/>
            </a:pPr>
            <a:r>
              <a:rPr lang="en-GB" dirty="0"/>
              <a:t> </a:t>
            </a:r>
            <a:r>
              <a:rPr lang="en-GB" dirty="0" smtClean="0"/>
              <a:t>                             types of viruses</a:t>
            </a:r>
          </a:p>
          <a:p>
            <a:pPr marL="514350" indent="-514350">
              <a:lnSpc>
                <a:spcPct val="170000"/>
              </a:lnSpc>
              <a:buAutoNum type="arabicPeriod"/>
            </a:pPr>
            <a:r>
              <a:rPr lang="en-GB" dirty="0" smtClean="0"/>
              <a:t>Macro Virus – A virus written in the same macro language as used in the software program and infects the computer if a word processor file is opened. Mainly the source of such viruses is via emails.</a:t>
            </a:r>
          </a:p>
          <a:p>
            <a:pPr marL="514350" indent="-514350">
              <a:buAutoNum type="arabicPeriod"/>
            </a:pPr>
            <a:endParaRPr lang="en-GB" dirty="0" smtClean="0"/>
          </a:p>
        </p:txBody>
      </p:sp>
    </p:spTree>
    <p:extLst>
      <p:ext uri="{BB962C8B-B14F-4D97-AF65-F5344CB8AC3E}">
        <p14:creationId xmlns:p14="http://schemas.microsoft.com/office/powerpoint/2010/main" val="3188649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smtClean="0">
                <a:solidFill>
                  <a:schemeClr val="accent6">
                    <a:lumMod val="75000"/>
                  </a:schemeClr>
                </a:solidFill>
              </a:rPr>
              <a:t>Virus</a:t>
            </a:r>
            <a:r>
              <a:rPr lang="en-GB" dirty="0" smtClean="0">
                <a:solidFill>
                  <a:schemeClr val="accent6">
                    <a:lumMod val="75000"/>
                  </a:schemeClr>
                </a:solidFill>
              </a:rPr>
              <a:t> </a:t>
            </a:r>
            <a:r>
              <a:rPr lang="en-GB" dirty="0" err="1" smtClean="0">
                <a:solidFill>
                  <a:schemeClr val="accent6">
                    <a:lumMod val="75000"/>
                  </a:schemeClr>
                </a:solidFill>
              </a:rPr>
              <a:t>cont</a:t>
            </a:r>
            <a:r>
              <a:rPr lang="en-GB" dirty="0" smtClean="0">
                <a:solidFill>
                  <a:schemeClr val="accent6">
                    <a:lumMod val="75000"/>
                  </a:schemeClr>
                </a:solidFill>
              </a:rPr>
              <a:t>…..</a:t>
            </a:r>
            <a:endParaRPr lang="en-GB" dirty="0">
              <a:solidFill>
                <a:schemeClr val="accent6">
                  <a:lumMod val="75000"/>
                </a:schemeClr>
              </a:solidFill>
            </a:endParaRPr>
          </a:p>
        </p:txBody>
      </p:sp>
      <p:sp>
        <p:nvSpPr>
          <p:cNvPr id="3" name="Content Placeholder 2"/>
          <p:cNvSpPr>
            <a:spLocks noGrp="1"/>
          </p:cNvSpPr>
          <p:nvPr>
            <p:ph idx="1"/>
          </p:nvPr>
        </p:nvSpPr>
        <p:spPr/>
        <p:txBody>
          <a:bodyPr>
            <a:normAutofit fontScale="70000" lnSpcReduction="20000"/>
          </a:bodyPr>
          <a:lstStyle/>
          <a:p>
            <a:pPr marL="0" indent="0">
              <a:lnSpc>
                <a:spcPct val="170000"/>
              </a:lnSpc>
              <a:buNone/>
            </a:pPr>
            <a:r>
              <a:rPr lang="en-GB" dirty="0" smtClean="0"/>
              <a:t>2.   Direct Action Virus – When a virus attaches itself directly to a .exe or .com file and enters the device while its execution is called a Direct Action Virus.</a:t>
            </a:r>
          </a:p>
          <a:p>
            <a:pPr marL="0" indent="0">
              <a:lnSpc>
                <a:spcPct val="170000"/>
              </a:lnSpc>
              <a:buNone/>
            </a:pPr>
            <a:r>
              <a:rPr lang="en-GB" dirty="0" smtClean="0"/>
              <a:t>3. Polymorphic Virus – Spread through spam and infected websites, the polymorphic virus are file infectors which are complex and are tough to detect.</a:t>
            </a:r>
          </a:p>
          <a:p>
            <a:pPr marL="0" indent="0">
              <a:lnSpc>
                <a:spcPct val="170000"/>
              </a:lnSpc>
              <a:buNone/>
            </a:pPr>
            <a:r>
              <a:rPr lang="en-GB" dirty="0" smtClean="0"/>
              <a:t>4. File Infector Virus – As the name suggests, it first infects a single file and then later spreads itself to other executable files and programs. </a:t>
            </a:r>
          </a:p>
          <a:p>
            <a:pPr marL="514350" indent="-514350">
              <a:buAutoNum type="arabicPeriod"/>
            </a:pPr>
            <a:endParaRPr lang="en-GB" dirty="0" smtClean="0"/>
          </a:p>
        </p:txBody>
      </p:sp>
    </p:spTree>
    <p:extLst>
      <p:ext uri="{BB962C8B-B14F-4D97-AF65-F5344CB8AC3E}">
        <p14:creationId xmlns:p14="http://schemas.microsoft.com/office/powerpoint/2010/main" val="318864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6">
                    <a:lumMod val="75000"/>
                  </a:schemeClr>
                </a:solidFill>
              </a:rPr>
              <a:t>Virus </a:t>
            </a:r>
            <a:r>
              <a:rPr lang="en-GB" dirty="0" err="1" smtClean="0">
                <a:solidFill>
                  <a:schemeClr val="accent6">
                    <a:lumMod val="75000"/>
                  </a:schemeClr>
                </a:solidFill>
              </a:rPr>
              <a:t>cont</a:t>
            </a:r>
            <a:r>
              <a:rPr lang="en-GB" dirty="0" smtClean="0">
                <a:solidFill>
                  <a:schemeClr val="accent6">
                    <a:lumMod val="75000"/>
                  </a:schemeClr>
                </a:solidFill>
              </a:rPr>
              <a:t>…..</a:t>
            </a:r>
            <a:endParaRPr lang="en-GB" dirty="0">
              <a:solidFill>
                <a:schemeClr val="accent6">
                  <a:lumMod val="75000"/>
                </a:schemeClr>
              </a:solidFill>
            </a:endParaRPr>
          </a:p>
        </p:txBody>
      </p:sp>
      <p:sp>
        <p:nvSpPr>
          <p:cNvPr id="3" name="Content Placeholder 2"/>
          <p:cNvSpPr>
            <a:spLocks noGrp="1"/>
          </p:cNvSpPr>
          <p:nvPr>
            <p:ph idx="1"/>
          </p:nvPr>
        </p:nvSpPr>
        <p:spPr>
          <a:xfrm>
            <a:off x="323528" y="1600200"/>
            <a:ext cx="8363272" cy="5069160"/>
          </a:xfrm>
        </p:spPr>
        <p:txBody>
          <a:bodyPr>
            <a:normAutofit fontScale="40000" lnSpcReduction="20000"/>
          </a:bodyPr>
          <a:lstStyle/>
          <a:p>
            <a:pPr marL="0" indent="0">
              <a:lnSpc>
                <a:spcPct val="170000"/>
              </a:lnSpc>
              <a:buNone/>
            </a:pPr>
            <a:r>
              <a:rPr lang="en-GB" dirty="0" smtClean="0"/>
              <a:t>5. </a:t>
            </a:r>
            <a:r>
              <a:rPr lang="en-GB" sz="4200" dirty="0" smtClean="0"/>
              <a:t> Boot Sector Virus – It is a type of virus that infects the boot sector of floppy disks or the Master Boot Record (MBR) of harm</a:t>
            </a:r>
          </a:p>
          <a:p>
            <a:pPr marL="0" indent="0">
              <a:lnSpc>
                <a:spcPct val="170000"/>
              </a:lnSpc>
              <a:buNone/>
            </a:pPr>
            <a:r>
              <a:rPr lang="en-GB" sz="3400" dirty="0" smtClean="0">
                <a:solidFill>
                  <a:schemeClr val="accent6">
                    <a:lumMod val="75000"/>
                  </a:schemeClr>
                </a:solidFill>
              </a:rPr>
              <a:t>                                                              </a:t>
            </a:r>
            <a:r>
              <a:rPr lang="en-GB" sz="5700" dirty="0" smtClean="0">
                <a:solidFill>
                  <a:schemeClr val="accent6">
                    <a:lumMod val="75000"/>
                  </a:schemeClr>
                </a:solidFill>
              </a:rPr>
              <a:t>WORM</a:t>
            </a:r>
          </a:p>
          <a:p>
            <a:pPr marL="0" indent="0">
              <a:lnSpc>
                <a:spcPct val="170000"/>
              </a:lnSpc>
              <a:buNone/>
            </a:pPr>
            <a:r>
              <a:rPr lang="en-GB" sz="4200" dirty="0" smtClean="0"/>
              <a:t>It is a type of malware that can cause significant damage to computer systems and networks by replicating itself and spreading autonomously.</a:t>
            </a:r>
          </a:p>
          <a:p>
            <a:pPr marL="0" indent="0">
              <a:lnSpc>
                <a:spcPct val="170000"/>
              </a:lnSpc>
              <a:buNone/>
            </a:pPr>
            <a:r>
              <a:rPr lang="en-GB" sz="4200" dirty="0" smtClean="0"/>
              <a:t>Examples; Morris worm, codered</a:t>
            </a:r>
            <a:r>
              <a:rPr lang="en-GB" sz="4200" dirty="0"/>
              <a:t> </a:t>
            </a:r>
            <a:r>
              <a:rPr lang="en-GB" sz="4200" dirty="0" smtClean="0"/>
              <a:t>and conifer</a:t>
            </a:r>
            <a:r>
              <a:rPr lang="en-GB" dirty="0" smtClean="0"/>
              <a:t>.</a:t>
            </a:r>
          </a:p>
          <a:p>
            <a:pPr marL="0" indent="0">
              <a:lnSpc>
                <a:spcPct val="170000"/>
              </a:lnSpc>
              <a:buNone/>
            </a:pPr>
            <a:r>
              <a:rPr lang="en-GB" sz="5100" dirty="0" smtClean="0">
                <a:solidFill>
                  <a:schemeClr val="accent6">
                    <a:lumMod val="75000"/>
                  </a:schemeClr>
                </a:solidFill>
              </a:rPr>
              <a:t>                                         TROJAN HORSE</a:t>
            </a:r>
          </a:p>
          <a:p>
            <a:pPr marL="0" indent="0">
              <a:lnSpc>
                <a:spcPct val="170000"/>
              </a:lnSpc>
              <a:buNone/>
            </a:pPr>
            <a:r>
              <a:rPr lang="en-GB" sz="4200" dirty="0" smtClean="0"/>
              <a:t>     is a type of malware that disguises itself as legitimate code or software. Once inside the network, attackers are able to carry out any action that a legitimate user could perform, such as exporting files, modifying data, deleting files or otherwise altering the contents of the device</a:t>
            </a:r>
          </a:p>
        </p:txBody>
      </p:sp>
    </p:spTree>
    <p:extLst>
      <p:ext uri="{BB962C8B-B14F-4D97-AF65-F5344CB8AC3E}">
        <p14:creationId xmlns:p14="http://schemas.microsoft.com/office/powerpoint/2010/main" val="3188649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solidFill>
                  <a:schemeClr val="accent6">
                    <a:lumMod val="75000"/>
                  </a:schemeClr>
                </a:solidFill>
              </a:rPr>
              <a:t>SCAREWARE</a:t>
            </a:r>
            <a:endParaRPr lang="en-GB" sz="2800" dirty="0">
              <a:solidFill>
                <a:schemeClr val="accent6">
                  <a:lumMod val="75000"/>
                </a:schemeClr>
              </a:solidFill>
            </a:endParaRPr>
          </a:p>
        </p:txBody>
      </p:sp>
      <p:sp>
        <p:nvSpPr>
          <p:cNvPr id="3" name="Content Placeholder 2"/>
          <p:cNvSpPr>
            <a:spLocks noGrp="1"/>
          </p:cNvSpPr>
          <p:nvPr>
            <p:ph idx="1"/>
          </p:nvPr>
        </p:nvSpPr>
        <p:spPr>
          <a:xfrm>
            <a:off x="323528" y="1600200"/>
            <a:ext cx="8363272" cy="5069160"/>
          </a:xfrm>
        </p:spPr>
        <p:txBody>
          <a:bodyPr>
            <a:normAutofit fontScale="70000" lnSpcReduction="20000"/>
          </a:bodyPr>
          <a:lstStyle/>
          <a:p>
            <a:pPr marL="0" indent="0">
              <a:lnSpc>
                <a:spcPct val="160000"/>
              </a:lnSpc>
              <a:buNone/>
            </a:pPr>
            <a:r>
              <a:rPr lang="en-GB" dirty="0" smtClean="0"/>
              <a:t> </a:t>
            </a:r>
            <a:r>
              <a:rPr lang="en-GB" sz="2900" dirty="0" smtClean="0"/>
              <a:t>is a cyber attack tactic that scares people into visiting spoofed or infected websites or downloading malicious software (malware).</a:t>
            </a:r>
          </a:p>
          <a:p>
            <a:pPr marL="0" indent="0">
              <a:lnSpc>
                <a:spcPct val="160000"/>
              </a:lnSpc>
              <a:buNone/>
            </a:pPr>
            <a:r>
              <a:rPr lang="en-GB" dirty="0" smtClean="0"/>
              <a:t>                                               </a:t>
            </a:r>
            <a:r>
              <a:rPr lang="en-GB" sz="3400" dirty="0" smtClean="0">
                <a:solidFill>
                  <a:schemeClr val="accent6">
                    <a:lumMod val="75000"/>
                  </a:schemeClr>
                </a:solidFill>
              </a:rPr>
              <a:t>RANSOMWARE</a:t>
            </a:r>
          </a:p>
          <a:p>
            <a:pPr marL="0" indent="0">
              <a:lnSpc>
                <a:spcPct val="160000"/>
              </a:lnSpc>
              <a:buNone/>
            </a:pPr>
            <a:r>
              <a:rPr lang="en-GB" sz="2900" dirty="0" smtClean="0"/>
              <a:t>It is a malware designed to lock users out of their system or deny access to data until a ransom is paid</a:t>
            </a:r>
            <a:r>
              <a:rPr lang="en-GB" dirty="0" smtClean="0"/>
              <a:t>. </a:t>
            </a:r>
          </a:p>
          <a:p>
            <a:pPr marL="0" indent="0">
              <a:lnSpc>
                <a:spcPct val="160000"/>
              </a:lnSpc>
              <a:buNone/>
            </a:pPr>
            <a:r>
              <a:rPr lang="en-GB" dirty="0"/>
              <a:t> </a:t>
            </a:r>
            <a:r>
              <a:rPr lang="en-GB" dirty="0" smtClean="0"/>
              <a:t>                                               </a:t>
            </a:r>
            <a:r>
              <a:rPr lang="en-GB" sz="4000" dirty="0" smtClean="0">
                <a:solidFill>
                  <a:schemeClr val="accent6">
                    <a:lumMod val="75000"/>
                  </a:schemeClr>
                </a:solidFill>
              </a:rPr>
              <a:t>ROOT KIT </a:t>
            </a:r>
          </a:p>
          <a:p>
            <a:pPr marL="0" indent="0">
              <a:lnSpc>
                <a:spcPct val="160000"/>
              </a:lnSpc>
              <a:buNone/>
            </a:pPr>
            <a:r>
              <a:rPr lang="en-GB" sz="2900" dirty="0" smtClean="0"/>
              <a:t>is the collection of software tools that once installed, attackers can use them to create back doors in a victim’s systems and introduce other types of malware to the network for the attacks</a:t>
            </a:r>
            <a:r>
              <a:rPr lang="en-GB" dirty="0" smtClean="0"/>
              <a:t>.</a:t>
            </a:r>
          </a:p>
        </p:txBody>
      </p:sp>
    </p:spTree>
    <p:extLst>
      <p:ext uri="{BB962C8B-B14F-4D97-AF65-F5344CB8AC3E}">
        <p14:creationId xmlns:p14="http://schemas.microsoft.com/office/powerpoint/2010/main" val="318864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6">
                    <a:lumMod val="75000"/>
                  </a:schemeClr>
                </a:solidFill>
              </a:rPr>
              <a:t>spyware</a:t>
            </a:r>
            <a:endParaRPr lang="en-GB" dirty="0">
              <a:solidFill>
                <a:schemeClr val="accent6">
                  <a:lumMod val="75000"/>
                </a:schemeClr>
              </a:solidFill>
            </a:endParaRPr>
          </a:p>
        </p:txBody>
      </p:sp>
      <p:sp>
        <p:nvSpPr>
          <p:cNvPr id="3" name="Content Placeholder 2"/>
          <p:cNvSpPr>
            <a:spLocks noGrp="1"/>
          </p:cNvSpPr>
          <p:nvPr>
            <p:ph idx="1"/>
          </p:nvPr>
        </p:nvSpPr>
        <p:spPr>
          <a:xfrm>
            <a:off x="323528" y="1600200"/>
            <a:ext cx="8363272" cy="5069160"/>
          </a:xfrm>
        </p:spPr>
        <p:txBody>
          <a:bodyPr>
            <a:normAutofit fontScale="77500" lnSpcReduction="20000"/>
          </a:bodyPr>
          <a:lstStyle/>
          <a:p>
            <a:pPr marL="0" indent="0" algn="ctr">
              <a:lnSpc>
                <a:spcPct val="160000"/>
              </a:lnSpc>
              <a:buNone/>
            </a:pPr>
            <a:r>
              <a:rPr lang="en-GB" sz="2900" dirty="0" smtClean="0"/>
              <a:t> malicious software that enters a user's computer, gathers data from the device and user, and sends it to third parties without their consent                             </a:t>
            </a:r>
            <a:r>
              <a:rPr lang="en-GB" sz="3600" dirty="0" smtClean="0">
                <a:solidFill>
                  <a:schemeClr val="accent6">
                    <a:lumMod val="75000"/>
                  </a:schemeClr>
                </a:solidFill>
              </a:rPr>
              <a:t>BOTNETS</a:t>
            </a:r>
          </a:p>
          <a:p>
            <a:pPr marL="0" indent="0">
              <a:lnSpc>
                <a:spcPct val="170000"/>
              </a:lnSpc>
              <a:buNone/>
            </a:pPr>
            <a:r>
              <a:rPr lang="en-GB" sz="2900" dirty="0" smtClean="0"/>
              <a:t>is a collection of Internet-connected user computers (bots) infected by malicious software (malware) that allows the computers to be controlled remotely by an operator (bot herder) through a Command-and-Control (C&amp;C) server to perform automated tasks, such as stealing information or launching attacks on other computers. </a:t>
            </a:r>
          </a:p>
        </p:txBody>
      </p:sp>
    </p:spTree>
    <p:extLst>
      <p:ext uri="{BB962C8B-B14F-4D97-AF65-F5344CB8AC3E}">
        <p14:creationId xmlns:p14="http://schemas.microsoft.com/office/powerpoint/2010/main" val="318864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260648"/>
            <a:ext cx="8229600" cy="1143000"/>
          </a:xfrm>
        </p:spPr>
        <p:txBody>
          <a:bodyPr>
            <a:normAutofit/>
          </a:bodyPr>
          <a:lstStyle/>
          <a:p>
            <a:r>
              <a:rPr lang="en-GB" sz="3200" dirty="0" smtClean="0">
                <a:solidFill>
                  <a:schemeClr val="accent6">
                    <a:lumMod val="75000"/>
                  </a:schemeClr>
                </a:solidFill>
              </a:rPr>
              <a:t>BACKDOOR</a:t>
            </a:r>
            <a:endParaRPr lang="en-GB" sz="3200" dirty="0">
              <a:solidFill>
                <a:schemeClr val="accent6">
                  <a:lumMod val="75000"/>
                </a:schemeClr>
              </a:solidFill>
            </a:endParaRPr>
          </a:p>
        </p:txBody>
      </p:sp>
      <p:sp>
        <p:nvSpPr>
          <p:cNvPr id="3" name="Content Placeholder 2"/>
          <p:cNvSpPr>
            <a:spLocks noGrp="1"/>
          </p:cNvSpPr>
          <p:nvPr>
            <p:ph idx="1"/>
          </p:nvPr>
        </p:nvSpPr>
        <p:spPr>
          <a:xfrm>
            <a:off x="467544" y="1268760"/>
            <a:ext cx="8363272" cy="5069160"/>
          </a:xfrm>
        </p:spPr>
        <p:txBody>
          <a:bodyPr>
            <a:normAutofit fontScale="92500" lnSpcReduction="20000"/>
          </a:bodyPr>
          <a:lstStyle/>
          <a:p>
            <a:pPr marL="0" indent="0">
              <a:lnSpc>
                <a:spcPct val="160000"/>
              </a:lnSpc>
              <a:buNone/>
            </a:pPr>
            <a:r>
              <a:rPr lang="en-GB" sz="2600" dirty="0" smtClean="0"/>
              <a:t>a way to access a computer system or encrypted data that bypasses the system's customary security mechanisms. </a:t>
            </a:r>
          </a:p>
          <a:p>
            <a:pPr marL="0" indent="0">
              <a:lnSpc>
                <a:spcPct val="160000"/>
              </a:lnSpc>
              <a:buNone/>
            </a:pPr>
            <a:r>
              <a:rPr lang="en-GB" sz="3600" dirty="0" smtClean="0">
                <a:solidFill>
                  <a:schemeClr val="accent6">
                    <a:lumMod val="75000"/>
                  </a:schemeClr>
                </a:solidFill>
              </a:rPr>
              <a:t>                                     </a:t>
            </a:r>
            <a:r>
              <a:rPr lang="en-GB" sz="3000" dirty="0" smtClean="0">
                <a:solidFill>
                  <a:schemeClr val="accent6">
                    <a:lumMod val="75000"/>
                  </a:schemeClr>
                </a:solidFill>
              </a:rPr>
              <a:t>LOGIC BOMBS </a:t>
            </a:r>
          </a:p>
          <a:p>
            <a:pPr marL="0" indent="0">
              <a:lnSpc>
                <a:spcPct val="160000"/>
              </a:lnSpc>
              <a:buNone/>
            </a:pPr>
            <a:r>
              <a:rPr lang="en-GB" sz="2600" dirty="0" smtClean="0"/>
              <a:t>a piece of code left lying in wait on a computer that will execute under certain specified conditions and take actions the owner of that computer would consider malicious.</a:t>
            </a:r>
          </a:p>
          <a:p>
            <a:pPr marL="0" indent="0">
              <a:lnSpc>
                <a:spcPct val="160000"/>
              </a:lnSpc>
              <a:buNone/>
            </a:pPr>
            <a:r>
              <a:rPr lang="en-GB" dirty="0" smtClean="0"/>
              <a:t>                                      </a:t>
            </a:r>
            <a:r>
              <a:rPr lang="en-GB" sz="3000" dirty="0" smtClean="0">
                <a:solidFill>
                  <a:schemeClr val="accent6">
                    <a:lumMod val="75000"/>
                  </a:schemeClr>
                </a:solidFill>
              </a:rPr>
              <a:t>KEYSTROKE LOGGERS</a:t>
            </a:r>
          </a:p>
          <a:p>
            <a:pPr marL="0" indent="0">
              <a:lnSpc>
                <a:spcPct val="160000"/>
              </a:lnSpc>
              <a:buNone/>
            </a:pPr>
            <a:r>
              <a:rPr lang="en-GB" sz="2400" dirty="0" smtClean="0"/>
              <a:t> are tools that record what a person types on a device.</a:t>
            </a:r>
          </a:p>
        </p:txBody>
      </p:sp>
    </p:spTree>
    <p:extLst>
      <p:ext uri="{BB962C8B-B14F-4D97-AF65-F5344CB8AC3E}">
        <p14:creationId xmlns:p14="http://schemas.microsoft.com/office/powerpoint/2010/main" val="3188649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solidFill>
                  <a:schemeClr val="accent6">
                    <a:lumMod val="75000"/>
                  </a:schemeClr>
                </a:solidFill>
              </a:rPr>
              <a:t>DENIAL OF SERVICE </a:t>
            </a:r>
            <a:endParaRPr lang="en-GB" sz="2800" dirty="0">
              <a:solidFill>
                <a:schemeClr val="accent6">
                  <a:lumMod val="75000"/>
                </a:schemeClr>
              </a:solidFill>
            </a:endParaRPr>
          </a:p>
        </p:txBody>
      </p:sp>
      <p:sp>
        <p:nvSpPr>
          <p:cNvPr id="3" name="Content Placeholder 2"/>
          <p:cNvSpPr>
            <a:spLocks noGrp="1"/>
          </p:cNvSpPr>
          <p:nvPr>
            <p:ph idx="1"/>
          </p:nvPr>
        </p:nvSpPr>
        <p:spPr>
          <a:xfrm>
            <a:off x="467544" y="1268760"/>
            <a:ext cx="8363272" cy="5069160"/>
          </a:xfrm>
        </p:spPr>
        <p:txBody>
          <a:bodyPr>
            <a:normAutofit fontScale="47500" lnSpcReduction="20000"/>
          </a:bodyPr>
          <a:lstStyle/>
          <a:p>
            <a:pPr marL="0" indent="0">
              <a:lnSpc>
                <a:spcPct val="170000"/>
              </a:lnSpc>
              <a:buNone/>
            </a:pPr>
            <a:r>
              <a:rPr lang="en-GB" dirty="0" smtClean="0"/>
              <a:t>This is the prevention of a user from access network resources. There are several types of denial of service as shown below;</a:t>
            </a:r>
          </a:p>
          <a:p>
            <a:pPr marL="0" indent="0">
              <a:lnSpc>
                <a:spcPct val="170000"/>
              </a:lnSpc>
              <a:buNone/>
            </a:pPr>
            <a:r>
              <a:rPr lang="en-GB" dirty="0" smtClean="0">
                <a:solidFill>
                  <a:srgbClr val="00B0F0"/>
                </a:solidFill>
              </a:rPr>
              <a:t>Buffer overflow</a:t>
            </a:r>
            <a:r>
              <a:rPr lang="en-GB" dirty="0" smtClean="0"/>
              <a:t>:  is a software coding error or vulnerability that can be exploited by hackers to gain unauthorized access to corporate systems. It is one of the best-known software security vulnerabilities yet remains fairly common.</a:t>
            </a:r>
          </a:p>
          <a:p>
            <a:pPr marL="0" indent="0">
              <a:lnSpc>
                <a:spcPct val="170000"/>
              </a:lnSpc>
              <a:buNone/>
            </a:pPr>
            <a:r>
              <a:rPr lang="en-GB" dirty="0" smtClean="0">
                <a:solidFill>
                  <a:srgbClr val="00B0F0"/>
                </a:solidFill>
              </a:rPr>
              <a:t>Tear drop attack</a:t>
            </a:r>
            <a:r>
              <a:rPr lang="en-GB" dirty="0" smtClean="0"/>
              <a:t>: In a teardrop attack, IP data packet fragments are sent to the target network. The network then reassembles the fragments into the original packet. The process of reassembling these fragments exhausts the system and it ends up crashing. It crashes because the fragments are designed to confuse the system so it can never be put back together.</a:t>
            </a:r>
          </a:p>
          <a:p>
            <a:pPr marL="0" indent="0">
              <a:lnSpc>
                <a:spcPct val="170000"/>
              </a:lnSpc>
              <a:buNone/>
            </a:pPr>
            <a:r>
              <a:rPr lang="en-GB" dirty="0" smtClean="0">
                <a:solidFill>
                  <a:srgbClr val="00B0F0"/>
                </a:solidFill>
              </a:rPr>
              <a:t>Smurf attack</a:t>
            </a:r>
            <a:r>
              <a:rPr lang="en-GB" dirty="0" smtClean="0"/>
              <a:t>: this is the kind of attack where an attacker sends </a:t>
            </a:r>
            <a:r>
              <a:rPr lang="en-GB" dirty="0" err="1" smtClean="0"/>
              <a:t>ip</a:t>
            </a:r>
            <a:r>
              <a:rPr lang="en-GB" dirty="0" smtClean="0"/>
              <a:t> ping requests that it should be broadcast to a number of devices within the network.</a:t>
            </a:r>
          </a:p>
          <a:p>
            <a:pPr marL="0" indent="0">
              <a:buNone/>
            </a:pPr>
            <a:endParaRPr lang="en-GB" dirty="0" smtClean="0"/>
          </a:p>
        </p:txBody>
      </p:sp>
    </p:spTree>
    <p:extLst>
      <p:ext uri="{BB962C8B-B14F-4D97-AF65-F5344CB8AC3E}">
        <p14:creationId xmlns:p14="http://schemas.microsoft.com/office/powerpoint/2010/main" val="3188649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solidFill>
                  <a:schemeClr val="accent6">
                    <a:lumMod val="75000"/>
                  </a:schemeClr>
                </a:solidFill>
              </a:rPr>
              <a:t>Denial of service SMURF ATTACK cont..</a:t>
            </a:r>
            <a:endParaRPr lang="en-GB" dirty="0">
              <a:solidFill>
                <a:schemeClr val="accent6">
                  <a:lumMod val="75000"/>
                </a:scheme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59632" y="1124744"/>
            <a:ext cx="6768752" cy="297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864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6">
                    <a:lumMod val="75000"/>
                  </a:schemeClr>
                </a:solidFill>
              </a:rPr>
              <a:t>DENIAL OF SERVICE </a:t>
            </a:r>
            <a:r>
              <a:rPr lang="en-GB" dirty="0" err="1" smtClean="0"/>
              <a:t>cont</a:t>
            </a:r>
            <a:r>
              <a:rPr lang="en-GB" dirty="0" smtClean="0"/>
              <a:t>…</a:t>
            </a:r>
            <a:endParaRPr lang="en-GB" dirty="0"/>
          </a:p>
        </p:txBody>
      </p:sp>
      <p:sp>
        <p:nvSpPr>
          <p:cNvPr id="3" name="Content Placeholder 2"/>
          <p:cNvSpPr>
            <a:spLocks noGrp="1"/>
          </p:cNvSpPr>
          <p:nvPr>
            <p:ph idx="1"/>
          </p:nvPr>
        </p:nvSpPr>
        <p:spPr/>
        <p:txBody>
          <a:bodyPr>
            <a:noAutofit/>
          </a:bodyPr>
          <a:lstStyle/>
          <a:p>
            <a:pPr>
              <a:lnSpc>
                <a:spcPct val="170000"/>
              </a:lnSpc>
            </a:pPr>
            <a:r>
              <a:rPr lang="en-GB" sz="1400" b="1" dirty="0" smtClean="0"/>
              <a:t>DNS ATTACK</a:t>
            </a:r>
            <a:r>
              <a:rPr lang="en-GB" sz="1400" dirty="0" smtClean="0"/>
              <a:t>: its goal is to clog the server and communication links on the way to the servers so that useful traffic is grid locked.</a:t>
            </a:r>
          </a:p>
          <a:p>
            <a:pPr>
              <a:lnSpc>
                <a:spcPct val="170000"/>
              </a:lnSpc>
            </a:pPr>
            <a:r>
              <a:rPr lang="en-GB" sz="1400" b="1" dirty="0" smtClean="0"/>
              <a:t>PHYSICAL INFRASTRUCTURE ATTACK</a:t>
            </a:r>
            <a:r>
              <a:rPr lang="en-GB" sz="1400" dirty="0" smtClean="0"/>
              <a:t>: this is where an attacker can as simply cut off cables, disrupt power supply, destroy the devices and destroy the infrastructure devices.</a:t>
            </a:r>
          </a:p>
          <a:p>
            <a:pPr>
              <a:lnSpc>
                <a:spcPct val="170000"/>
              </a:lnSpc>
            </a:pPr>
            <a:r>
              <a:rPr lang="en-GB" sz="1400" b="1" dirty="0" smtClean="0"/>
              <a:t>VIRUSES AND WORMS</a:t>
            </a:r>
            <a:r>
              <a:rPr lang="en-GB" sz="1400" dirty="0" smtClean="0">
                <a:solidFill>
                  <a:srgbClr val="00B0F0"/>
                </a:solidFill>
              </a:rPr>
              <a:t>: </a:t>
            </a:r>
            <a:r>
              <a:rPr lang="en-GB" sz="1400" dirty="0" smtClean="0"/>
              <a:t>An attacker sends computer "worms" to a remote computer. Worms are spread via e-mail attachments or hidden within programs and once they infect a remote computer they replicate themselves throughout a computer's resources, filling up the hard disk and eventually crashing the system.</a:t>
            </a:r>
          </a:p>
          <a:p>
            <a:pPr>
              <a:lnSpc>
                <a:spcPct val="170000"/>
              </a:lnSpc>
            </a:pPr>
            <a:r>
              <a:rPr lang="en-GB" sz="1400" b="1" dirty="0" smtClean="0"/>
              <a:t>E-MAIL ATTACKS</a:t>
            </a:r>
            <a:r>
              <a:rPr lang="en-GB" sz="1400" dirty="0" smtClean="0"/>
              <a:t>: Email bombing occurs when threat actors send tons of emails to a specific inbox to overwhelm it and its corresponding server. The result? The target's inbox and server cease to function.</a:t>
            </a:r>
          </a:p>
          <a:p>
            <a:pPr>
              <a:lnSpc>
                <a:spcPct val="170000"/>
              </a:lnSpc>
            </a:pPr>
            <a:r>
              <a:rPr lang="en-GB" sz="1400" b="1" dirty="0" smtClean="0"/>
              <a:t>PACKET SNIFFING ATTACK</a:t>
            </a:r>
            <a:r>
              <a:rPr lang="en-GB" sz="1400" dirty="0" smtClean="0"/>
              <a:t>: s a cyber-attack that involves intercepting and misusing content (like reading sensitive data) passing through a network in the form of packets</a:t>
            </a:r>
          </a:p>
          <a:p>
            <a:pPr>
              <a:lnSpc>
                <a:spcPct val="220000"/>
              </a:lnSpc>
            </a:pPr>
            <a:endParaRPr lang="en-GB" sz="1400" dirty="0"/>
          </a:p>
        </p:txBody>
      </p:sp>
    </p:spTree>
    <p:extLst>
      <p:ext uri="{BB962C8B-B14F-4D97-AF65-F5344CB8AC3E}">
        <p14:creationId xmlns:p14="http://schemas.microsoft.com/office/powerpoint/2010/main" val="4089967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solidFill>
                  <a:schemeClr val="accent6">
                    <a:lumMod val="75000"/>
                  </a:schemeClr>
                </a:solidFill>
              </a:rPr>
              <a:t>HOW TO DETECT MALWARE</a:t>
            </a:r>
            <a:endParaRPr lang="en-GB" sz="2800" dirty="0">
              <a:solidFill>
                <a:schemeClr val="accent6">
                  <a:lumMod val="75000"/>
                </a:schemeClr>
              </a:solidFill>
            </a:endParaRPr>
          </a:p>
        </p:txBody>
      </p:sp>
      <p:sp>
        <p:nvSpPr>
          <p:cNvPr id="3" name="Content Placeholder 2"/>
          <p:cNvSpPr>
            <a:spLocks noGrp="1"/>
          </p:cNvSpPr>
          <p:nvPr>
            <p:ph idx="1"/>
          </p:nvPr>
        </p:nvSpPr>
        <p:spPr/>
        <p:txBody>
          <a:bodyPr>
            <a:normAutofit fontScale="40000" lnSpcReduction="20000"/>
          </a:bodyPr>
          <a:lstStyle/>
          <a:p>
            <a:pPr>
              <a:lnSpc>
                <a:spcPct val="170000"/>
              </a:lnSpc>
            </a:pPr>
            <a:r>
              <a:rPr lang="en-GB" dirty="0" smtClean="0"/>
              <a:t>Look for unusual behaviour from your phone, tablet, or computer. Your device might have been infected with malware if it</a:t>
            </a:r>
          </a:p>
          <a:p>
            <a:pPr>
              <a:lnSpc>
                <a:spcPct val="170000"/>
              </a:lnSpc>
            </a:pPr>
            <a:endParaRPr lang="en-GB" dirty="0" smtClean="0"/>
          </a:p>
          <a:p>
            <a:pPr>
              <a:lnSpc>
                <a:spcPct val="170000"/>
              </a:lnSpc>
            </a:pPr>
            <a:r>
              <a:rPr lang="en-GB" dirty="0" smtClean="0"/>
              <a:t>suddenly slows down, crashes, or displays repeated error messages</a:t>
            </a:r>
          </a:p>
          <a:p>
            <a:pPr>
              <a:lnSpc>
                <a:spcPct val="170000"/>
              </a:lnSpc>
            </a:pPr>
            <a:r>
              <a:rPr lang="en-GB" dirty="0" smtClean="0"/>
              <a:t>won’t shut down or restart</a:t>
            </a:r>
          </a:p>
          <a:p>
            <a:pPr>
              <a:lnSpc>
                <a:spcPct val="170000"/>
              </a:lnSpc>
            </a:pPr>
            <a:r>
              <a:rPr lang="en-GB" dirty="0" smtClean="0"/>
              <a:t>won’t let you remove software</a:t>
            </a:r>
          </a:p>
          <a:p>
            <a:pPr>
              <a:lnSpc>
                <a:spcPct val="170000"/>
              </a:lnSpc>
            </a:pPr>
            <a:r>
              <a:rPr lang="en-GB" dirty="0" smtClean="0"/>
              <a:t>serves up lots of pop-ups, inappropriate ads, or ads that interfere with page content</a:t>
            </a:r>
          </a:p>
          <a:p>
            <a:pPr>
              <a:lnSpc>
                <a:spcPct val="170000"/>
              </a:lnSpc>
            </a:pPr>
            <a:r>
              <a:rPr lang="en-GB" dirty="0" smtClean="0"/>
              <a:t>shows ads in places you typically wouldn’t see them, like government websites</a:t>
            </a:r>
          </a:p>
          <a:p>
            <a:pPr>
              <a:lnSpc>
                <a:spcPct val="170000"/>
              </a:lnSpc>
            </a:pPr>
            <a:r>
              <a:rPr lang="en-GB" dirty="0" smtClean="0"/>
              <a:t>shows new and unexpected toolbars or icons in your browser or on your desktop</a:t>
            </a:r>
          </a:p>
          <a:p>
            <a:pPr>
              <a:lnSpc>
                <a:spcPct val="170000"/>
              </a:lnSpc>
            </a:pPr>
            <a:r>
              <a:rPr lang="en-GB" dirty="0" smtClean="0"/>
              <a:t>uses a new default search engine, or displays new tabs or websites you didn’t open</a:t>
            </a:r>
          </a:p>
          <a:p>
            <a:pPr>
              <a:lnSpc>
                <a:spcPct val="170000"/>
              </a:lnSpc>
            </a:pPr>
            <a:r>
              <a:rPr lang="en-GB" dirty="0" smtClean="0"/>
              <a:t>keeps changing your computer’s internet home page</a:t>
            </a:r>
          </a:p>
          <a:p>
            <a:pPr>
              <a:lnSpc>
                <a:spcPct val="170000"/>
              </a:lnSpc>
            </a:pPr>
            <a:r>
              <a:rPr lang="en-GB" dirty="0" smtClean="0"/>
              <a:t>sends emails you didn’t write</a:t>
            </a:r>
          </a:p>
          <a:p>
            <a:pPr>
              <a:lnSpc>
                <a:spcPct val="170000"/>
              </a:lnSpc>
            </a:pPr>
            <a:r>
              <a:rPr lang="en-GB" dirty="0" smtClean="0"/>
              <a:t>runs out of battery life more quickly than it should</a:t>
            </a:r>
            <a:endParaRPr lang="en-GB" dirty="0"/>
          </a:p>
        </p:txBody>
      </p:sp>
    </p:spTree>
    <p:extLst>
      <p:ext uri="{BB962C8B-B14F-4D97-AF65-F5344CB8AC3E}">
        <p14:creationId xmlns:p14="http://schemas.microsoft.com/office/powerpoint/2010/main" val="4089967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solidFill>
                  <a:schemeClr val="accent6">
                    <a:lumMod val="75000"/>
                  </a:schemeClr>
                </a:solidFill>
              </a:rPr>
              <a:t>HOW TO REMOVE MALWARE</a:t>
            </a:r>
            <a:endParaRPr lang="en-GB" sz="2800" dirty="0">
              <a:solidFill>
                <a:schemeClr val="accent6">
                  <a:lumMod val="75000"/>
                </a:schemeClr>
              </a:solidFill>
            </a:endParaRPr>
          </a:p>
        </p:txBody>
      </p:sp>
      <p:sp>
        <p:nvSpPr>
          <p:cNvPr id="3" name="Content Placeholder 2"/>
          <p:cNvSpPr>
            <a:spLocks noGrp="1"/>
          </p:cNvSpPr>
          <p:nvPr>
            <p:ph idx="1"/>
          </p:nvPr>
        </p:nvSpPr>
        <p:spPr/>
        <p:txBody>
          <a:bodyPr>
            <a:normAutofit fontScale="47500" lnSpcReduction="20000"/>
          </a:bodyPr>
          <a:lstStyle/>
          <a:p>
            <a:pPr>
              <a:lnSpc>
                <a:spcPct val="170000"/>
              </a:lnSpc>
            </a:pPr>
            <a:r>
              <a:rPr lang="en-GB" dirty="0" smtClean="0"/>
              <a:t>Stop shopping, banking, and doing other things online that involve usernames, passwords, or other sensitive information — until you get your device cleared of any malware.</a:t>
            </a:r>
          </a:p>
          <a:p>
            <a:pPr>
              <a:lnSpc>
                <a:spcPct val="170000"/>
              </a:lnSpc>
            </a:pPr>
            <a:r>
              <a:rPr lang="en-GB" dirty="0" smtClean="0"/>
              <a:t>Check to see if you have security software on your device .</a:t>
            </a:r>
          </a:p>
          <a:p>
            <a:pPr>
              <a:lnSpc>
                <a:spcPct val="170000"/>
              </a:lnSpc>
            </a:pPr>
            <a:r>
              <a:rPr lang="en-GB" dirty="0" smtClean="0"/>
              <a:t>Make sure your software is up to date. </a:t>
            </a:r>
          </a:p>
          <a:p>
            <a:pPr>
              <a:lnSpc>
                <a:spcPct val="170000"/>
              </a:lnSpc>
            </a:pPr>
            <a:r>
              <a:rPr lang="en-GB" dirty="0" smtClean="0"/>
              <a:t>Scan your device for malware. Run a malware or security Delete anything it identifies as a problem. </a:t>
            </a:r>
          </a:p>
          <a:p>
            <a:pPr>
              <a:lnSpc>
                <a:spcPct val="170000"/>
              </a:lnSpc>
            </a:pPr>
            <a:r>
              <a:rPr lang="en-GB" dirty="0" smtClean="0"/>
              <a:t>If you’re not able to fix your device with steps 1-4, steps 5 and 6 may resolve the issue. When using either of these options, you risk losing data. </a:t>
            </a:r>
          </a:p>
          <a:p>
            <a:pPr>
              <a:lnSpc>
                <a:spcPct val="170000"/>
              </a:lnSpc>
            </a:pPr>
            <a:endParaRPr lang="en-GB" dirty="0" smtClean="0"/>
          </a:p>
          <a:p>
            <a:pPr>
              <a:lnSpc>
                <a:spcPct val="170000"/>
              </a:lnSpc>
            </a:pPr>
            <a:r>
              <a:rPr lang="en-GB" dirty="0" smtClean="0"/>
              <a:t>Recover your operating system. To find out how to recover your operating system (like Windows or Mac OS), visit your device manufacturer’s website. </a:t>
            </a:r>
          </a:p>
          <a:p>
            <a:pPr>
              <a:lnSpc>
                <a:spcPct val="170000"/>
              </a:lnSpc>
            </a:pPr>
            <a:r>
              <a:rPr lang="en-GB" dirty="0" smtClean="0"/>
              <a:t>Reinstall your operating system. </a:t>
            </a:r>
            <a:endParaRPr lang="en-GB" dirty="0"/>
          </a:p>
        </p:txBody>
      </p:sp>
    </p:spTree>
    <p:extLst>
      <p:ext uri="{BB962C8B-B14F-4D97-AF65-F5344CB8AC3E}">
        <p14:creationId xmlns:p14="http://schemas.microsoft.com/office/powerpoint/2010/main" val="4089967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229600" cy="1143000"/>
          </a:xfrm>
        </p:spPr>
        <p:txBody>
          <a:bodyPr>
            <a:normAutofit/>
          </a:bodyPr>
          <a:lstStyle/>
          <a:p>
            <a:r>
              <a:rPr lang="en-GB" sz="2800" dirty="0" smtClean="0">
                <a:solidFill>
                  <a:schemeClr val="accent6">
                    <a:lumMod val="75000"/>
                  </a:schemeClr>
                </a:solidFill>
              </a:rPr>
              <a:t>HOW TO PROTECT MYSELF FROM MALWARE</a:t>
            </a:r>
            <a:endParaRPr lang="en-GB" sz="2800" dirty="0">
              <a:solidFill>
                <a:schemeClr val="accent6">
                  <a:lumMod val="75000"/>
                </a:schemeClr>
              </a:solidFill>
            </a:endParaRPr>
          </a:p>
        </p:txBody>
      </p:sp>
      <p:sp>
        <p:nvSpPr>
          <p:cNvPr id="3" name="Content Placeholder 2"/>
          <p:cNvSpPr>
            <a:spLocks noGrp="1"/>
          </p:cNvSpPr>
          <p:nvPr>
            <p:ph idx="1"/>
          </p:nvPr>
        </p:nvSpPr>
        <p:spPr/>
        <p:txBody>
          <a:bodyPr>
            <a:normAutofit/>
          </a:bodyPr>
          <a:lstStyle/>
          <a:p>
            <a:pPr>
              <a:lnSpc>
                <a:spcPct val="150000"/>
              </a:lnSpc>
            </a:pPr>
            <a:r>
              <a:rPr lang="en-GB" sz="1800" dirty="0" smtClean="0"/>
              <a:t>Keep your computer and software updated</a:t>
            </a:r>
          </a:p>
          <a:p>
            <a:pPr>
              <a:lnSpc>
                <a:spcPct val="150000"/>
              </a:lnSpc>
            </a:pPr>
            <a:r>
              <a:rPr lang="en-GB" sz="1800" dirty="0" smtClean="0"/>
              <a:t>Use a non-administrator account whenever possible</a:t>
            </a:r>
          </a:p>
          <a:p>
            <a:pPr>
              <a:lnSpc>
                <a:spcPct val="150000"/>
              </a:lnSpc>
            </a:pPr>
            <a:r>
              <a:rPr lang="en-GB" sz="1800" dirty="0" smtClean="0"/>
              <a:t>Think twice before clicking links or downloading anything</a:t>
            </a:r>
          </a:p>
          <a:p>
            <a:pPr>
              <a:lnSpc>
                <a:spcPct val="150000"/>
              </a:lnSpc>
            </a:pPr>
            <a:r>
              <a:rPr lang="en-GB" sz="1800" dirty="0" smtClean="0"/>
              <a:t>Be careful about opening email attachments or images</a:t>
            </a:r>
          </a:p>
          <a:p>
            <a:pPr>
              <a:lnSpc>
                <a:spcPct val="150000"/>
              </a:lnSpc>
            </a:pPr>
            <a:r>
              <a:rPr lang="en-GB" sz="1800" dirty="0" smtClean="0"/>
              <a:t>Don't trust pop-up windows that ask you to download software</a:t>
            </a:r>
          </a:p>
          <a:p>
            <a:pPr>
              <a:lnSpc>
                <a:spcPct val="150000"/>
              </a:lnSpc>
            </a:pPr>
            <a:r>
              <a:rPr lang="en-GB" sz="1800" dirty="0" smtClean="0"/>
              <a:t>Limit your file-sharing</a:t>
            </a:r>
          </a:p>
          <a:p>
            <a:pPr>
              <a:lnSpc>
                <a:spcPct val="150000"/>
              </a:lnSpc>
            </a:pPr>
            <a:r>
              <a:rPr lang="en-GB" sz="1800" dirty="0" smtClean="0"/>
              <a:t>Use antivirus software.</a:t>
            </a:r>
            <a:endParaRPr lang="en-GB" dirty="0"/>
          </a:p>
        </p:txBody>
      </p:sp>
    </p:spTree>
    <p:extLst>
      <p:ext uri="{BB962C8B-B14F-4D97-AF65-F5344CB8AC3E}">
        <p14:creationId xmlns:p14="http://schemas.microsoft.com/office/powerpoint/2010/main" val="4089967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Algerian" pitchFamily="82" charset="0"/>
              </a:rPr>
              <a:t>Thank you </a:t>
            </a:r>
            <a:endParaRPr lang="en-GB" dirty="0">
              <a:latin typeface="Algerian" pitchFamily="82" charset="0"/>
            </a:endParaRPr>
          </a:p>
        </p:txBody>
      </p:sp>
      <p:sp>
        <p:nvSpPr>
          <p:cNvPr id="3" name="Content Placeholder 2"/>
          <p:cNvSpPr>
            <a:spLocks noGrp="1"/>
          </p:cNvSpPr>
          <p:nvPr>
            <p:ph idx="1"/>
          </p:nvPr>
        </p:nvSpPr>
        <p:spPr/>
        <p:txBody>
          <a:bodyPr/>
          <a:lstStyle/>
          <a:p>
            <a:pPr marL="0" indent="0">
              <a:buNone/>
            </a:pPr>
            <a:r>
              <a:rPr lang="en-GB" dirty="0" smtClean="0">
                <a:solidFill>
                  <a:schemeClr val="tx2"/>
                </a:solidFill>
                <a:latin typeface="Curlz MT" pitchFamily="82" charset="0"/>
              </a:rPr>
              <a:t>DONE BY YOUR HUMBLE SERVANT PROF KATEKA</a:t>
            </a:r>
          </a:p>
          <a:p>
            <a:pPr marL="0" indent="0">
              <a:buNone/>
            </a:pPr>
            <a:r>
              <a:rPr lang="en-GB" dirty="0">
                <a:solidFill>
                  <a:schemeClr val="tx2"/>
                </a:solidFill>
                <a:latin typeface="Curlz MT" pitchFamily="82" charset="0"/>
              </a:rPr>
              <a:t> </a:t>
            </a:r>
            <a:r>
              <a:rPr lang="en-GB" dirty="0" smtClean="0">
                <a:solidFill>
                  <a:schemeClr val="tx2"/>
                </a:solidFill>
                <a:latin typeface="Curlz MT" pitchFamily="82" charset="0"/>
              </a:rPr>
              <a:t>       UKUPASA NI WEMWINE NA LESA</a:t>
            </a:r>
            <a:endParaRPr lang="en-GB" dirty="0">
              <a:solidFill>
                <a:schemeClr val="tx2"/>
              </a:solidFill>
              <a:latin typeface="Curlz MT" pitchFamily="82" charset="0"/>
            </a:endParaRPr>
          </a:p>
        </p:txBody>
      </p:sp>
    </p:spTree>
    <p:extLst>
      <p:ext uri="{BB962C8B-B14F-4D97-AF65-F5344CB8AC3E}">
        <p14:creationId xmlns:p14="http://schemas.microsoft.com/office/powerpoint/2010/main" val="104804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1365</Words>
  <Application>Microsoft Office PowerPoint</Application>
  <PresentationFormat>On-screen Show (4:3)</PresentationFormat>
  <Paragraphs>107</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MALWARE  prof kateka</vt:lpstr>
      <vt:lpstr>MALWARE  cont….. </vt:lpstr>
      <vt:lpstr>Common types of malware</vt:lpstr>
      <vt:lpstr>Common types of malware cont…</vt:lpstr>
      <vt:lpstr>virus</vt:lpstr>
      <vt:lpstr>Virus cont…..</vt:lpstr>
      <vt:lpstr>Virus cont…..</vt:lpstr>
      <vt:lpstr>SCAREWARE</vt:lpstr>
      <vt:lpstr>spyware</vt:lpstr>
      <vt:lpstr>BACKDOOR</vt:lpstr>
      <vt:lpstr>DENIAL OF SERVICE </vt:lpstr>
      <vt:lpstr>Denial of service SMURF ATTACK cont..</vt:lpstr>
      <vt:lpstr>DENIAL OF SERVICE cont…</vt:lpstr>
      <vt:lpstr>HOW TO DETECT MALWARE</vt:lpstr>
      <vt:lpstr>HOW TO REMOVE MALWARE</vt:lpstr>
      <vt:lpstr>HOW TO PROTECT MYSELF FROM MALWARE</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KM_LAB</dc:creator>
  <cp:lastModifiedBy>KM_LAB</cp:lastModifiedBy>
  <cp:revision>16</cp:revision>
  <dcterms:created xsi:type="dcterms:W3CDTF">2023-05-20T16:12:39Z</dcterms:created>
  <dcterms:modified xsi:type="dcterms:W3CDTF">2023-05-20T18:52:05Z</dcterms:modified>
</cp:coreProperties>
</file>