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 id="2147483694" r:id="rId2"/>
  </p:sldMasterIdLst>
  <p:notesMasterIdLst>
    <p:notesMasterId r:id="rId142"/>
  </p:notesMasterIdLst>
  <p:sldIdLst>
    <p:sldId id="256" r:id="rId3"/>
    <p:sldId id="257" r:id="rId4"/>
    <p:sldId id="258" r:id="rId5"/>
    <p:sldId id="261" r:id="rId6"/>
    <p:sldId id="259" r:id="rId7"/>
    <p:sldId id="364" r:id="rId8"/>
    <p:sldId id="363" r:id="rId9"/>
    <p:sldId id="263" r:id="rId10"/>
    <p:sldId id="264" r:id="rId11"/>
    <p:sldId id="265" r:id="rId12"/>
    <p:sldId id="365" r:id="rId13"/>
    <p:sldId id="266" r:id="rId14"/>
    <p:sldId id="267" r:id="rId15"/>
    <p:sldId id="268" r:id="rId16"/>
    <p:sldId id="269" r:id="rId17"/>
    <p:sldId id="270" r:id="rId18"/>
    <p:sldId id="366" r:id="rId19"/>
    <p:sldId id="271" r:id="rId20"/>
    <p:sldId id="272" r:id="rId21"/>
    <p:sldId id="273" r:id="rId22"/>
    <p:sldId id="369" r:id="rId23"/>
    <p:sldId id="367" r:id="rId24"/>
    <p:sldId id="368" r:id="rId25"/>
    <p:sldId id="370" r:id="rId26"/>
    <p:sldId id="371" r:id="rId27"/>
    <p:sldId id="372"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 id="350" r:id="rId105"/>
    <p:sldId id="351" r:id="rId106"/>
    <p:sldId id="352" r:id="rId107"/>
    <p:sldId id="353" r:id="rId108"/>
    <p:sldId id="354" r:id="rId109"/>
    <p:sldId id="355" r:id="rId110"/>
    <p:sldId id="356" r:id="rId111"/>
    <p:sldId id="357" r:id="rId112"/>
    <p:sldId id="358" r:id="rId113"/>
    <p:sldId id="359" r:id="rId114"/>
    <p:sldId id="360" r:id="rId115"/>
    <p:sldId id="361" r:id="rId116"/>
    <p:sldId id="373" r:id="rId117"/>
    <p:sldId id="362" r:id="rId118"/>
    <p:sldId id="374" r:id="rId119"/>
    <p:sldId id="375" r:id="rId120"/>
    <p:sldId id="376" r:id="rId121"/>
    <p:sldId id="377" r:id="rId122"/>
    <p:sldId id="378" r:id="rId123"/>
    <p:sldId id="379" r:id="rId124"/>
    <p:sldId id="380" r:id="rId125"/>
    <p:sldId id="381" r:id="rId126"/>
    <p:sldId id="382" r:id="rId127"/>
    <p:sldId id="383" r:id="rId128"/>
    <p:sldId id="384" r:id="rId129"/>
    <p:sldId id="385" r:id="rId130"/>
    <p:sldId id="386" r:id="rId131"/>
    <p:sldId id="387" r:id="rId132"/>
    <p:sldId id="388" r:id="rId133"/>
    <p:sldId id="389" r:id="rId134"/>
    <p:sldId id="390" r:id="rId135"/>
    <p:sldId id="391" r:id="rId136"/>
    <p:sldId id="394" r:id="rId137"/>
    <p:sldId id="395" r:id="rId138"/>
    <p:sldId id="396" r:id="rId139"/>
    <p:sldId id="392" r:id="rId140"/>
    <p:sldId id="393" r:id="rId1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6" d="100"/>
          <a:sy n="86" d="100"/>
        </p:scale>
        <p:origin x="9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CDB683-12C2-4D30-80C9-8330B576C7C4}" type="datetimeFigureOut">
              <a:rPr lang="en-US" smtClean="0"/>
              <a:t>10/8/2022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D3C1FD-F484-40AA-9DBE-E127EBF136FB}" type="slidenum">
              <a:rPr lang="en-US" smtClean="0"/>
              <a:t>‹#›</a:t>
            </a:fld>
            <a:endParaRPr lang="en-US"/>
          </a:p>
        </p:txBody>
      </p:sp>
    </p:spTree>
    <p:extLst>
      <p:ext uri="{BB962C8B-B14F-4D97-AF65-F5344CB8AC3E}">
        <p14:creationId xmlns:p14="http://schemas.microsoft.com/office/powerpoint/2010/main" val="35051171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43247FF-38D7-428E-9665-39A96C960313}" type="slidenum">
              <a:rPr lang="en-US" altLang="en-US"/>
              <a:pPr>
                <a:spcBef>
                  <a:spcPct val="0"/>
                </a:spcBef>
              </a:pPr>
              <a:t>28</a:t>
            </a:fld>
            <a:endParaRPr lang="en-US" altLang="en-US"/>
          </a:p>
        </p:txBody>
      </p:sp>
      <p:sp>
        <p:nvSpPr>
          <p:cNvPr id="5123" name="Rectangle 2"/>
          <p:cNvSpPr>
            <a:spLocks noGrp="1" noRot="1" noChangeAspect="1" noChangeArrowheads="1" noTextEdit="1"/>
          </p:cNvSpPr>
          <p:nvPr>
            <p:ph type="sldImg"/>
          </p:nvPr>
        </p:nvSpPr>
        <p:spPr>
          <a:ln/>
        </p:spPr>
      </p:sp>
      <p:sp>
        <p:nvSpPr>
          <p:cNvPr id="5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34231096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75ABA0B-8489-4A60-9F68-25C2B2F92EFB}" type="slidenum">
              <a:rPr lang="en-US" altLang="en-US"/>
              <a:pPr>
                <a:spcBef>
                  <a:spcPct val="0"/>
                </a:spcBef>
              </a:pPr>
              <a:t>29</a:t>
            </a:fld>
            <a:endParaRPr lang="en-US" altLang="en-US"/>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lnSpc>
                <a:spcPct val="80000"/>
              </a:lnSpc>
            </a:pPr>
            <a:r>
              <a:rPr lang="en-US" altLang="en-US" sz="900" smtClean="0">
                <a:latin typeface="Arial" panose="020B0604020202020204" pitchFamily="34" charset="0"/>
              </a:rPr>
              <a:t>All references are from All in One Book (Shon Harris, 2005)</a:t>
            </a:r>
          </a:p>
          <a:p>
            <a:pPr marL="247650" indent="-247650" eaLnBrk="1" hangingPunct="1">
              <a:lnSpc>
                <a:spcPct val="80000"/>
              </a:lnSpc>
            </a:pPr>
            <a:endParaRPr lang="en-US" altLang="en-US" sz="900" smtClean="0">
              <a:latin typeface="Arial" panose="020B0604020202020204" pitchFamily="34" charset="0"/>
            </a:endParaRPr>
          </a:p>
          <a:p>
            <a:pPr marL="247650" indent="-247650" eaLnBrk="1" hangingPunct="1">
              <a:lnSpc>
                <a:spcPct val="80000"/>
              </a:lnSpc>
            </a:pPr>
            <a:r>
              <a:rPr lang="en-US" altLang="en-US" sz="900" smtClean="0">
                <a:latin typeface="Arial" panose="020B0604020202020204" pitchFamily="34" charset="0"/>
              </a:rPr>
              <a:t>Cornerstone is to control how resources are accessed so that they can be protected from unauthorized modification, use, or disclosure. (p123)</a:t>
            </a:r>
          </a:p>
          <a:p>
            <a:pPr marL="247650" indent="-247650" eaLnBrk="1" hangingPunct="1">
              <a:lnSpc>
                <a:spcPct val="80000"/>
              </a:lnSpc>
            </a:pPr>
            <a:r>
              <a:rPr lang="en-US" altLang="en-US" sz="900" smtClean="0">
                <a:latin typeface="Arial" panose="020B0604020202020204" pitchFamily="34" charset="0"/>
              </a:rPr>
              <a:t>Access controls are security features that are usually considered the first line of defense in asset protection. (217)</a:t>
            </a:r>
          </a:p>
          <a:p>
            <a:pPr marL="247650" indent="-247650" eaLnBrk="1" hangingPunct="1">
              <a:lnSpc>
                <a:spcPct val="80000"/>
              </a:lnSpc>
            </a:pPr>
            <a:r>
              <a:rPr lang="en-US" altLang="en-US" sz="900" smtClean="0">
                <a:latin typeface="Arial" panose="020B0604020202020204" pitchFamily="34" charset="0"/>
              </a:rPr>
              <a:t>Access control is a broad term that covers several different types of mechanisms that enforce access control features on computer systems, networks, and information. (124)</a:t>
            </a:r>
          </a:p>
          <a:p>
            <a:pPr marL="247650" indent="-247650" eaLnBrk="1" hangingPunct="1">
              <a:lnSpc>
                <a:spcPct val="80000"/>
              </a:lnSpc>
            </a:pPr>
            <a:r>
              <a:rPr lang="en-US" altLang="en-US" sz="900" smtClean="0">
                <a:latin typeface="Arial" panose="020B0604020202020204" pitchFamily="34" charset="0"/>
              </a:rPr>
              <a:t>User permissions and rights may be based on their identity, clearance, and/or group memberships. (124)</a:t>
            </a:r>
          </a:p>
          <a:p>
            <a:pPr marL="247650" indent="-247650" eaLnBrk="1" hangingPunct="1">
              <a:lnSpc>
                <a:spcPct val="80000"/>
              </a:lnSpc>
            </a:pPr>
            <a:r>
              <a:rPr lang="en-US" altLang="en-US" sz="900" smtClean="0">
                <a:latin typeface="Arial" panose="020B0604020202020204" pitchFamily="34" charset="0"/>
              </a:rPr>
              <a:t>Access controls give organizations the ability to control, restrict, monitor, and protect resource availability. (124) </a:t>
            </a:r>
          </a:p>
          <a:p>
            <a:pPr marL="247650" indent="-247650" eaLnBrk="1" hangingPunct="1">
              <a:lnSpc>
                <a:spcPct val="80000"/>
              </a:lnSpc>
            </a:pPr>
            <a:endParaRPr lang="en-US" altLang="en-US" sz="900" b="1" i="1" smtClean="0">
              <a:latin typeface="Arial" panose="020B0604020202020204" pitchFamily="34" charset="0"/>
            </a:endParaRPr>
          </a:p>
          <a:p>
            <a:pPr marL="247650" indent="-247650" eaLnBrk="1" hangingPunct="1">
              <a:lnSpc>
                <a:spcPct val="80000"/>
              </a:lnSpc>
            </a:pPr>
            <a:r>
              <a:rPr lang="en-US" altLang="en-US" sz="900" b="1" i="1" smtClean="0">
                <a:latin typeface="Arial" panose="020B0604020202020204" pitchFamily="34" charset="0"/>
              </a:rPr>
              <a:t>Access controls</a:t>
            </a:r>
            <a:r>
              <a:rPr lang="en-US" altLang="en-US" sz="900" smtClean="0">
                <a:latin typeface="Arial" panose="020B0604020202020204" pitchFamily="34" charset="0"/>
              </a:rPr>
              <a:t>:  security features that control how users and systems communicate and interact with other systems and resources. (p123)  They protect the systems and resources from unauthorized access and can be a component that participates in determining the level of authorization after an authentication procedure has successfully completed.  (123)</a:t>
            </a:r>
          </a:p>
          <a:p>
            <a:pPr marL="247650" indent="-247650" eaLnBrk="1" hangingPunct="1">
              <a:lnSpc>
                <a:spcPct val="80000"/>
              </a:lnSpc>
            </a:pPr>
            <a:endParaRPr lang="en-US" altLang="en-US" sz="900" b="1" i="1" smtClean="0">
              <a:latin typeface="Arial" panose="020B0604020202020204" pitchFamily="34" charset="0"/>
            </a:endParaRPr>
          </a:p>
          <a:p>
            <a:pPr marL="247650" indent="-247650" eaLnBrk="1" hangingPunct="1">
              <a:lnSpc>
                <a:spcPct val="80000"/>
              </a:lnSpc>
            </a:pPr>
            <a:r>
              <a:rPr lang="en-US" altLang="en-US" sz="900" b="1" i="1" smtClean="0">
                <a:latin typeface="Arial" panose="020B0604020202020204" pitchFamily="34" charset="0"/>
              </a:rPr>
              <a:t>Access</a:t>
            </a:r>
            <a:r>
              <a:rPr lang="en-US" altLang="en-US" sz="900" smtClean="0">
                <a:latin typeface="Arial" panose="020B0604020202020204" pitchFamily="34" charset="0"/>
              </a:rPr>
              <a:t>:  The flow of information between subject and object. (p123)</a:t>
            </a:r>
          </a:p>
          <a:p>
            <a:pPr marL="247650" indent="-247650" eaLnBrk="1" hangingPunct="1">
              <a:lnSpc>
                <a:spcPct val="80000"/>
              </a:lnSpc>
            </a:pPr>
            <a:endParaRPr lang="en-US" altLang="en-US" sz="900" b="1" i="1" smtClean="0">
              <a:latin typeface="Arial" panose="020B0604020202020204" pitchFamily="34" charset="0"/>
            </a:endParaRPr>
          </a:p>
          <a:p>
            <a:pPr marL="247650" indent="-247650" eaLnBrk="1" hangingPunct="1">
              <a:lnSpc>
                <a:spcPct val="80000"/>
              </a:lnSpc>
            </a:pPr>
            <a:r>
              <a:rPr lang="en-US" altLang="en-US" sz="900" b="1" i="1" smtClean="0">
                <a:latin typeface="Arial" panose="020B0604020202020204" pitchFamily="34" charset="0"/>
              </a:rPr>
              <a:t>Subject</a:t>
            </a:r>
            <a:r>
              <a:rPr lang="en-US" altLang="en-US" sz="900" smtClean="0">
                <a:latin typeface="Arial" panose="020B0604020202020204" pitchFamily="34" charset="0"/>
              </a:rPr>
              <a:t>: An active entity that requests access to an object or the data within an object. (p123)</a:t>
            </a:r>
          </a:p>
          <a:p>
            <a:pPr marL="247650" indent="-247650" eaLnBrk="1" hangingPunct="1">
              <a:lnSpc>
                <a:spcPct val="80000"/>
              </a:lnSpc>
            </a:pPr>
            <a:r>
              <a:rPr lang="en-US" altLang="en-US" sz="900" smtClean="0">
                <a:latin typeface="Arial" panose="020B0604020202020204" pitchFamily="34" charset="0"/>
              </a:rPr>
              <a:t>Can be a user, program, or process that accesses an object to accomplish a task. (p123)</a:t>
            </a:r>
          </a:p>
          <a:p>
            <a:pPr marL="247650" indent="-247650" eaLnBrk="1" hangingPunct="1">
              <a:lnSpc>
                <a:spcPct val="80000"/>
              </a:lnSpc>
            </a:pPr>
            <a:r>
              <a:rPr lang="en-US" altLang="en-US" sz="900" smtClean="0">
                <a:latin typeface="Arial" panose="020B0604020202020204" pitchFamily="34" charset="0"/>
              </a:rPr>
              <a:t>When a program accesses a file, the program is the subject and the file is the object.</a:t>
            </a:r>
          </a:p>
          <a:p>
            <a:pPr marL="247650" indent="-247650" eaLnBrk="1" hangingPunct="1">
              <a:lnSpc>
                <a:spcPct val="80000"/>
              </a:lnSpc>
            </a:pPr>
            <a:r>
              <a:rPr lang="en-US" altLang="en-US" sz="900" smtClean="0">
                <a:latin typeface="Arial" panose="020B0604020202020204" pitchFamily="34" charset="0"/>
              </a:rPr>
              <a:t>For a subject to be able to access a resource, it must be identified, authenticated, authorized, and should be held accountable for its actions. (219)</a:t>
            </a:r>
          </a:p>
          <a:p>
            <a:pPr marL="247650" indent="-247650" eaLnBrk="1" hangingPunct="1">
              <a:lnSpc>
                <a:spcPct val="80000"/>
              </a:lnSpc>
            </a:pPr>
            <a:endParaRPr lang="en-US" altLang="en-US" sz="900" b="1" i="1" smtClean="0">
              <a:latin typeface="Arial" panose="020B0604020202020204" pitchFamily="34" charset="0"/>
            </a:endParaRPr>
          </a:p>
          <a:p>
            <a:pPr marL="247650" indent="-247650" eaLnBrk="1" hangingPunct="1">
              <a:lnSpc>
                <a:spcPct val="80000"/>
              </a:lnSpc>
            </a:pPr>
            <a:r>
              <a:rPr lang="en-US" altLang="en-US" sz="900" b="1" i="1" smtClean="0">
                <a:latin typeface="Arial" panose="020B0604020202020204" pitchFamily="34" charset="0"/>
              </a:rPr>
              <a:t>Object</a:t>
            </a:r>
            <a:r>
              <a:rPr lang="en-US" altLang="en-US" sz="900" smtClean="0">
                <a:latin typeface="Arial" panose="020B0604020202020204" pitchFamily="34" charset="0"/>
              </a:rPr>
              <a:t>:  A passive entity that contains information. (p124)</a:t>
            </a:r>
          </a:p>
          <a:p>
            <a:pPr marL="247650" indent="-247650" eaLnBrk="1" hangingPunct="1">
              <a:lnSpc>
                <a:spcPct val="80000"/>
              </a:lnSpc>
            </a:pPr>
            <a:r>
              <a:rPr lang="en-US" altLang="en-US" sz="900" smtClean="0">
                <a:latin typeface="Arial" panose="020B0604020202020204" pitchFamily="34" charset="0"/>
              </a:rPr>
              <a:t>Can be a computer, database, file, computer program, directory, or field in a table in a database, etc. (p124)</a:t>
            </a:r>
          </a:p>
        </p:txBody>
      </p:sp>
    </p:spTree>
    <p:extLst>
      <p:ext uri="{BB962C8B-B14F-4D97-AF65-F5344CB8AC3E}">
        <p14:creationId xmlns:p14="http://schemas.microsoft.com/office/powerpoint/2010/main" val="209434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AD16F90-ABEC-47DB-B86D-6ABD06FE4C04}" type="slidenum">
              <a:rPr lang="en-US" altLang="en-US"/>
              <a:pPr>
                <a:spcBef>
                  <a:spcPct val="0"/>
                </a:spcBef>
              </a:pPr>
              <a:t>30</a:t>
            </a:fld>
            <a:endParaRPr lang="en-US" altLang="en-US"/>
          </a:p>
        </p:txBody>
      </p:sp>
      <p:sp>
        <p:nvSpPr>
          <p:cNvPr id="9219" name="Rectangle 2"/>
          <p:cNvSpPr>
            <a:spLocks noGrp="1" noRot="1" noChangeAspect="1" noChangeArrowheads="1" noTextEdit="1"/>
          </p:cNvSpPr>
          <p:nvPr>
            <p:ph type="sldImg"/>
          </p:nvPr>
        </p:nvSpPr>
        <p:spPr>
          <a:ln/>
        </p:spPr>
      </p:sp>
      <p:sp>
        <p:nvSpPr>
          <p:cNvPr id="9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r>
              <a:rPr lang="en-US" altLang="en-US" sz="1000" smtClean="0">
                <a:latin typeface="Arial" panose="020B0604020202020204" pitchFamily="34" charset="0"/>
              </a:rPr>
              <a:t>All references are from All in One Book (Shon Harris, 2005)</a:t>
            </a:r>
          </a:p>
          <a:p>
            <a:pPr marL="247650" indent="-247650" eaLnBrk="1" hangingPunct="1"/>
            <a:endParaRPr lang="en-US" altLang="en-US" sz="1000" smtClean="0">
              <a:latin typeface="Arial" panose="020B0604020202020204" pitchFamily="34" charset="0"/>
            </a:endParaRPr>
          </a:p>
          <a:p>
            <a:pPr marL="247650" indent="-247650" eaLnBrk="1" hangingPunct="1"/>
            <a:r>
              <a:rPr lang="en-US" altLang="en-US" sz="1000" smtClean="0">
                <a:latin typeface="Arial" panose="020B0604020202020204" pitchFamily="34" charset="0"/>
              </a:rPr>
              <a:t>Three main security principles for any type of security control are: (p124)</a:t>
            </a:r>
          </a:p>
          <a:p>
            <a:pPr marL="247650" indent="-247650" eaLnBrk="1" hangingPunct="1"/>
            <a:r>
              <a:rPr lang="en-US" altLang="en-US" sz="1000" b="1" i="1" smtClean="0">
                <a:latin typeface="Arial" panose="020B0604020202020204" pitchFamily="34" charset="0"/>
              </a:rPr>
              <a:t>Availability</a:t>
            </a:r>
            <a:r>
              <a:rPr lang="en-US" altLang="en-US" sz="1000" smtClean="0">
                <a:latin typeface="Arial" panose="020B0604020202020204" pitchFamily="34" charset="0"/>
              </a:rPr>
              <a:t>:  Information, systems, and resources need to be available to users in a timely manner to not effect productivity. (p125)</a:t>
            </a:r>
          </a:p>
          <a:p>
            <a:pPr marL="247650" indent="-247650" eaLnBrk="1" hangingPunct="1"/>
            <a:r>
              <a:rPr lang="en-US" altLang="en-US" sz="1000" smtClean="0">
                <a:latin typeface="Arial" panose="020B0604020202020204" pitchFamily="34" charset="0"/>
              </a:rPr>
              <a:t>Fault tolerance and recovery mechanisms are put into place to ensure the continuity of the availability of resources. (p125)</a:t>
            </a:r>
          </a:p>
          <a:p>
            <a:pPr marL="247650" indent="-247650" eaLnBrk="1" hangingPunct="1"/>
            <a:r>
              <a:rPr lang="en-US" altLang="en-US" sz="1000" smtClean="0">
                <a:latin typeface="Arial" panose="020B0604020202020204" pitchFamily="34" charset="0"/>
              </a:rPr>
              <a:t>Information has various attributes such as accuracy, relevance, timeliness, and privacy (etc.). (p125)</a:t>
            </a:r>
          </a:p>
          <a:p>
            <a:pPr marL="247650" indent="-247650" eaLnBrk="1" hangingPunct="1"/>
            <a:endParaRPr lang="en-US" altLang="en-US" sz="1000" b="1" i="1" smtClean="0">
              <a:latin typeface="Arial" panose="020B0604020202020204" pitchFamily="34" charset="0"/>
            </a:endParaRPr>
          </a:p>
          <a:p>
            <a:pPr marL="247650" indent="-247650" eaLnBrk="1" hangingPunct="1"/>
            <a:r>
              <a:rPr lang="en-US" altLang="en-US" sz="1000" b="1" i="1" smtClean="0">
                <a:latin typeface="Arial" panose="020B0604020202020204" pitchFamily="34" charset="0"/>
              </a:rPr>
              <a:t>Integrity</a:t>
            </a:r>
            <a:r>
              <a:rPr lang="en-US" altLang="en-US" sz="1000" smtClean="0">
                <a:latin typeface="Arial" panose="020B0604020202020204" pitchFamily="34" charset="0"/>
              </a:rPr>
              <a:t>:  When a security mechanism provides integrity, it protects the data/resource from being altered in any unauthorized fashion. (p125)</a:t>
            </a:r>
          </a:p>
          <a:p>
            <a:pPr marL="247650" indent="-247650" eaLnBrk="1" hangingPunct="1"/>
            <a:endParaRPr lang="en-US" altLang="en-US" sz="1000" b="1" i="1" smtClean="0">
              <a:latin typeface="Arial" panose="020B0604020202020204" pitchFamily="34" charset="0"/>
            </a:endParaRPr>
          </a:p>
          <a:p>
            <a:pPr marL="247650" indent="-247650" eaLnBrk="1" hangingPunct="1"/>
            <a:r>
              <a:rPr lang="en-US" altLang="en-US" sz="1000" b="1" i="1" smtClean="0">
                <a:latin typeface="Arial" panose="020B0604020202020204" pitchFamily="34" charset="0"/>
              </a:rPr>
              <a:t>Confidentiality</a:t>
            </a:r>
            <a:r>
              <a:rPr lang="en-US" altLang="en-US" sz="1000" smtClean="0">
                <a:latin typeface="Arial" panose="020B0604020202020204" pitchFamily="34" charset="0"/>
              </a:rPr>
              <a:t>:  The assurance that information is not disclosed to unauthorized individuals, programs, or processes. (p126)</a:t>
            </a:r>
          </a:p>
          <a:p>
            <a:pPr marL="247650" indent="-247650" eaLnBrk="1" hangingPunct="1"/>
            <a:r>
              <a:rPr lang="en-US" altLang="en-US" sz="1000" smtClean="0">
                <a:latin typeface="Arial" panose="020B0604020202020204" pitchFamily="34" charset="0"/>
              </a:rPr>
              <a:t>Because of various levels of data, control mechanisms need to dictate who can access data and what the subject can do with it once it is accessed. (p126)</a:t>
            </a:r>
          </a:p>
          <a:p>
            <a:pPr marL="247650" indent="-247650" eaLnBrk="1" hangingPunct="1"/>
            <a:r>
              <a:rPr lang="en-US" altLang="en-US" sz="1000" smtClean="0">
                <a:latin typeface="Arial" panose="020B0604020202020204" pitchFamily="34" charset="0"/>
              </a:rPr>
              <a:t>Some security mechanisms that provide confidentiality are encryption, logical and physical access control, transmission protocols, database views, and controlled traffic flow. (218)</a:t>
            </a:r>
          </a:p>
        </p:txBody>
      </p:sp>
    </p:spTree>
    <p:extLst>
      <p:ext uri="{BB962C8B-B14F-4D97-AF65-F5344CB8AC3E}">
        <p14:creationId xmlns:p14="http://schemas.microsoft.com/office/powerpoint/2010/main" val="23691938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740EE31-0455-46A9-B86F-8CE0956557A5}" type="slidenum">
              <a:rPr lang="en-US" altLang="en-US"/>
              <a:pPr>
                <a:spcBef>
                  <a:spcPct val="0"/>
                </a:spcBef>
              </a:pPr>
              <a:t>32</a:t>
            </a:fld>
            <a:endParaRPr lang="en-US" altLang="en-US"/>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mtClean="0">
                <a:latin typeface="Arial" panose="020B0604020202020204" pitchFamily="34" charset="0"/>
              </a:rPr>
              <a:t>All references are from All in One Book (Shon Harris, 2005)</a:t>
            </a:r>
          </a:p>
          <a:p>
            <a:pPr marL="228600" indent="-228600" eaLnBrk="1" hangingPunct="1"/>
            <a:endParaRPr lang="en-US" altLang="en-US" smtClean="0">
              <a:latin typeface="Arial" panose="020B0604020202020204" pitchFamily="34" charset="0"/>
            </a:endParaRPr>
          </a:p>
          <a:p>
            <a:pPr marL="228600" indent="-228600" eaLnBrk="1" hangingPunct="1"/>
            <a:r>
              <a:rPr lang="en-US" altLang="en-US" smtClean="0">
                <a:latin typeface="Arial" panose="020B0604020202020204" pitchFamily="34" charset="0"/>
              </a:rPr>
              <a:t>Identification Component Requirements:  When issuing identification values to users, the following should be in place: (p129)</a:t>
            </a:r>
          </a:p>
          <a:p>
            <a:pPr marL="228600" indent="-228600" eaLnBrk="1" hangingPunct="1">
              <a:buFontTx/>
              <a:buChar char="•"/>
            </a:pPr>
            <a:r>
              <a:rPr lang="en-US" altLang="en-US" smtClean="0">
                <a:latin typeface="Arial" panose="020B0604020202020204" pitchFamily="34" charset="0"/>
              </a:rPr>
              <a:t>Each value should be unique, for user accountability;</a:t>
            </a:r>
          </a:p>
          <a:p>
            <a:pPr marL="228600" indent="-228600" eaLnBrk="1" hangingPunct="1">
              <a:buFontTx/>
              <a:buChar char="•"/>
            </a:pPr>
            <a:r>
              <a:rPr lang="en-US" altLang="en-US" smtClean="0">
                <a:latin typeface="Arial" panose="020B0604020202020204" pitchFamily="34" charset="0"/>
              </a:rPr>
              <a:t>A standard naming scheme should be followed;</a:t>
            </a:r>
          </a:p>
          <a:p>
            <a:pPr marL="228600" indent="-228600" eaLnBrk="1" hangingPunct="1">
              <a:buFontTx/>
              <a:buChar char="•"/>
            </a:pPr>
            <a:r>
              <a:rPr lang="en-US" altLang="en-US" smtClean="0">
                <a:latin typeface="Arial" panose="020B0604020202020204" pitchFamily="34" charset="0"/>
              </a:rPr>
              <a:t>The value should be nondescriptive of the user’s position or tasks; and</a:t>
            </a:r>
          </a:p>
          <a:p>
            <a:pPr marL="228600" indent="-228600" eaLnBrk="1" hangingPunct="1">
              <a:buFontTx/>
              <a:buChar char="•"/>
            </a:pPr>
            <a:r>
              <a:rPr lang="en-US" altLang="en-US" smtClean="0">
                <a:latin typeface="Arial" panose="020B0604020202020204" pitchFamily="34" charset="0"/>
              </a:rPr>
              <a:t>The value should not be shared between users.</a:t>
            </a:r>
          </a:p>
        </p:txBody>
      </p:sp>
    </p:spTree>
    <p:extLst>
      <p:ext uri="{BB962C8B-B14F-4D97-AF65-F5344CB8AC3E}">
        <p14:creationId xmlns:p14="http://schemas.microsoft.com/office/powerpoint/2010/main" val="33622639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843D476-6183-4335-A106-742B72CEBF71}" type="slidenum">
              <a:rPr lang="en-US" altLang="en-US"/>
              <a:pPr>
                <a:spcBef>
                  <a:spcPct val="0"/>
                </a:spcBef>
              </a:pPr>
              <a:t>33</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lnSpc>
                <a:spcPct val="90000"/>
              </a:lnSpc>
            </a:pPr>
            <a:r>
              <a:rPr lang="en-US" altLang="en-US" sz="900" smtClean="0">
                <a:latin typeface="Arial" panose="020B0604020202020204" pitchFamily="34" charset="0"/>
              </a:rPr>
              <a:t>All references are from All in One Book (Shon Harris, 2005)</a:t>
            </a:r>
          </a:p>
          <a:p>
            <a:pPr marL="247650" indent="-247650" eaLnBrk="1" hangingPunct="1">
              <a:lnSpc>
                <a:spcPct val="90000"/>
              </a:lnSpc>
            </a:pPr>
            <a:endParaRPr lang="en-US" altLang="en-US" sz="900" smtClean="0">
              <a:latin typeface="Arial" panose="020B0604020202020204" pitchFamily="34" charset="0"/>
            </a:endParaRPr>
          </a:p>
          <a:p>
            <a:pPr marL="247650" indent="-247650" eaLnBrk="1" hangingPunct="1">
              <a:lnSpc>
                <a:spcPct val="90000"/>
              </a:lnSpc>
            </a:pPr>
            <a:r>
              <a:rPr lang="en-US" altLang="en-US" sz="900" smtClean="0">
                <a:latin typeface="Arial" panose="020B0604020202020204" pitchFamily="34" charset="0"/>
              </a:rPr>
              <a:t>To be properly </a:t>
            </a:r>
            <a:r>
              <a:rPr lang="en-US" altLang="en-US" sz="900" b="1" i="1" smtClean="0">
                <a:latin typeface="Arial" panose="020B0604020202020204" pitchFamily="34" charset="0"/>
              </a:rPr>
              <a:t>authenticated</a:t>
            </a:r>
            <a:r>
              <a:rPr lang="en-US" altLang="en-US" sz="900" smtClean="0">
                <a:latin typeface="Arial" panose="020B0604020202020204" pitchFamily="34" charset="0"/>
              </a:rPr>
              <a:t>, the subject is usually required to provide a second piece to the credential set (i.e., password, passphrase, key, PIN, anatomical tribute, token). (p126)</a:t>
            </a:r>
          </a:p>
          <a:p>
            <a:pPr marL="247650" indent="-247650" eaLnBrk="1" hangingPunct="1">
              <a:lnSpc>
                <a:spcPct val="90000"/>
              </a:lnSpc>
            </a:pPr>
            <a:r>
              <a:rPr lang="en-US" altLang="en-US" sz="900" smtClean="0">
                <a:latin typeface="Arial" panose="020B0604020202020204" pitchFamily="34" charset="0"/>
              </a:rPr>
              <a:t>The identification and authentication pieces (credential items) are compared to information that has been stored previously for the subject.  If the credentials match, then the subject is authenticated. (126)</a:t>
            </a:r>
          </a:p>
          <a:p>
            <a:pPr marL="247650" indent="-247650" eaLnBrk="1" hangingPunct="1">
              <a:lnSpc>
                <a:spcPct val="90000"/>
              </a:lnSpc>
            </a:pPr>
            <a:r>
              <a:rPr lang="en-US" altLang="en-US" sz="900" smtClean="0">
                <a:latin typeface="Arial" panose="020B0604020202020204" pitchFamily="34" charset="0"/>
              </a:rPr>
              <a:t>Entering private information is the authentication step. (128)</a:t>
            </a:r>
          </a:p>
          <a:p>
            <a:pPr marL="247650" indent="-247650" eaLnBrk="1" hangingPunct="1">
              <a:lnSpc>
                <a:spcPct val="90000"/>
              </a:lnSpc>
            </a:pPr>
            <a:r>
              <a:rPr lang="en-US" altLang="en-US" sz="900" smtClean="0">
                <a:latin typeface="Arial" panose="020B0604020202020204" pitchFamily="34" charset="0"/>
              </a:rPr>
              <a:t>Authentication can be accomplished by biometrics, a password, a passphrase, a cognitive password, a one time password, or a token. (219)</a:t>
            </a:r>
          </a:p>
          <a:p>
            <a:pPr marL="247650" indent="-247650" eaLnBrk="1" hangingPunct="1">
              <a:lnSpc>
                <a:spcPct val="90000"/>
              </a:lnSpc>
            </a:pPr>
            <a:endParaRPr lang="en-US" altLang="en-US" sz="900" smtClean="0">
              <a:latin typeface="Arial" panose="020B0604020202020204" pitchFamily="34" charset="0"/>
            </a:endParaRPr>
          </a:p>
          <a:p>
            <a:pPr marL="247650" indent="-247650" eaLnBrk="1" hangingPunct="1">
              <a:lnSpc>
                <a:spcPct val="90000"/>
              </a:lnSpc>
            </a:pPr>
            <a:r>
              <a:rPr lang="en-US" altLang="en-US" sz="900" smtClean="0">
                <a:latin typeface="Arial" panose="020B0604020202020204" pitchFamily="34" charset="0"/>
              </a:rPr>
              <a:t>Three General Factors used for Authentication: (p129)</a:t>
            </a:r>
          </a:p>
          <a:p>
            <a:pPr marL="247650" indent="-247650" eaLnBrk="1" hangingPunct="1">
              <a:lnSpc>
                <a:spcPct val="90000"/>
              </a:lnSpc>
              <a:buFontTx/>
              <a:buChar char="•"/>
            </a:pPr>
            <a:r>
              <a:rPr lang="en-US" altLang="en-US" sz="900" smtClean="0">
                <a:latin typeface="Arial" panose="020B0604020202020204" pitchFamily="34" charset="0"/>
              </a:rPr>
              <a:t>Something a person has;</a:t>
            </a:r>
          </a:p>
          <a:p>
            <a:pPr marL="1162050" lvl="2" indent="-247650" eaLnBrk="1" hangingPunct="1">
              <a:lnSpc>
                <a:spcPct val="90000"/>
              </a:lnSpc>
              <a:buFontTx/>
              <a:buChar char="•"/>
            </a:pPr>
            <a:r>
              <a:rPr lang="en-US" altLang="en-US" sz="900" smtClean="0">
                <a:latin typeface="Arial" panose="020B0604020202020204" pitchFamily="34" charset="0"/>
              </a:rPr>
              <a:t>E.g., Key, swipe card, access card, badge, etc.</a:t>
            </a:r>
          </a:p>
          <a:p>
            <a:pPr marL="1162050" lvl="2" indent="-247650" eaLnBrk="1" hangingPunct="1">
              <a:lnSpc>
                <a:spcPct val="90000"/>
              </a:lnSpc>
              <a:buFontTx/>
              <a:buChar char="•"/>
            </a:pPr>
            <a:r>
              <a:rPr lang="en-US" altLang="en-US" sz="900" smtClean="0">
                <a:latin typeface="Arial" panose="020B0604020202020204" pitchFamily="34" charset="0"/>
              </a:rPr>
              <a:t>Downside to this factor is that things can be lost. (129)</a:t>
            </a:r>
          </a:p>
          <a:p>
            <a:pPr marL="1162050" lvl="2" indent="-247650" eaLnBrk="1" hangingPunct="1">
              <a:lnSpc>
                <a:spcPct val="90000"/>
              </a:lnSpc>
              <a:buFontTx/>
              <a:buChar char="•"/>
            </a:pPr>
            <a:r>
              <a:rPr lang="en-US" altLang="en-US" sz="900" smtClean="0">
                <a:latin typeface="Arial" panose="020B0604020202020204" pitchFamily="34" charset="0"/>
              </a:rPr>
              <a:t>This is commonly used to access facilities. (129)</a:t>
            </a:r>
          </a:p>
          <a:p>
            <a:pPr marL="247650" indent="-247650" eaLnBrk="1" hangingPunct="1">
              <a:lnSpc>
                <a:spcPct val="90000"/>
              </a:lnSpc>
              <a:buFontTx/>
              <a:buChar char="•"/>
            </a:pPr>
            <a:r>
              <a:rPr lang="en-US" altLang="en-US" sz="900" smtClean="0">
                <a:latin typeface="Arial" panose="020B0604020202020204" pitchFamily="34" charset="0"/>
              </a:rPr>
              <a:t>Something a person knows; and</a:t>
            </a:r>
          </a:p>
          <a:p>
            <a:pPr marL="1162050" lvl="2" indent="-247650" eaLnBrk="1" hangingPunct="1">
              <a:lnSpc>
                <a:spcPct val="90000"/>
              </a:lnSpc>
              <a:buFontTx/>
              <a:buChar char="•"/>
            </a:pPr>
            <a:r>
              <a:rPr lang="en-US" altLang="en-US" sz="900" smtClean="0">
                <a:latin typeface="Arial" panose="020B0604020202020204" pitchFamily="34" charset="0"/>
              </a:rPr>
              <a:t>E.g. password, PIN, combination to a lock, etc.</a:t>
            </a:r>
          </a:p>
          <a:p>
            <a:pPr marL="1162050" lvl="2" indent="-247650" eaLnBrk="1" hangingPunct="1">
              <a:lnSpc>
                <a:spcPct val="90000"/>
              </a:lnSpc>
              <a:buFontTx/>
              <a:buChar char="•"/>
            </a:pPr>
            <a:r>
              <a:rPr lang="en-US" altLang="en-US" sz="900" smtClean="0">
                <a:latin typeface="Arial" panose="020B0604020202020204" pitchFamily="34" charset="0"/>
              </a:rPr>
              <a:t>This is usually the least expensive to implement. (129)</a:t>
            </a:r>
          </a:p>
          <a:p>
            <a:pPr marL="1162050" lvl="2" indent="-247650" eaLnBrk="1" hangingPunct="1">
              <a:lnSpc>
                <a:spcPct val="90000"/>
              </a:lnSpc>
              <a:buFontTx/>
              <a:buChar char="•"/>
            </a:pPr>
            <a:r>
              <a:rPr lang="en-US" altLang="en-US" sz="900" smtClean="0">
                <a:latin typeface="Arial" panose="020B0604020202020204" pitchFamily="34" charset="0"/>
              </a:rPr>
              <a:t>Downside is that an unauthorized person could discover this knowledge. (129)</a:t>
            </a:r>
          </a:p>
          <a:p>
            <a:pPr marL="247650" indent="-247650" eaLnBrk="1" hangingPunct="1">
              <a:lnSpc>
                <a:spcPct val="90000"/>
              </a:lnSpc>
              <a:buFontTx/>
              <a:buChar char="•"/>
            </a:pPr>
            <a:r>
              <a:rPr lang="en-US" altLang="en-US" sz="900" smtClean="0">
                <a:latin typeface="Arial" panose="020B0604020202020204" pitchFamily="34" charset="0"/>
              </a:rPr>
              <a:t>Something a person is.</a:t>
            </a:r>
          </a:p>
          <a:p>
            <a:pPr marL="1162050" lvl="2" indent="-247650" eaLnBrk="1" hangingPunct="1">
              <a:lnSpc>
                <a:spcPct val="90000"/>
              </a:lnSpc>
              <a:buFontTx/>
              <a:buChar char="•"/>
            </a:pPr>
            <a:r>
              <a:rPr lang="en-US" altLang="en-US" sz="900" smtClean="0">
                <a:latin typeface="Arial" panose="020B0604020202020204" pitchFamily="34" charset="0"/>
              </a:rPr>
              <a:t>E.g., based on a physical attribute (</a:t>
            </a:r>
            <a:r>
              <a:rPr lang="en-US" altLang="en-US" sz="900" b="1" i="1" smtClean="0">
                <a:latin typeface="Arial" panose="020B0604020202020204" pitchFamily="34" charset="0"/>
              </a:rPr>
              <a:t>Biometrics</a:t>
            </a:r>
            <a:r>
              <a:rPr lang="en-US" altLang="en-US" sz="900" smtClean="0">
                <a:latin typeface="Arial" panose="020B0604020202020204" pitchFamily="34" charset="0"/>
              </a:rPr>
              <a:t>)</a:t>
            </a:r>
          </a:p>
          <a:p>
            <a:pPr marL="247650" indent="-247650" eaLnBrk="1" hangingPunct="1">
              <a:lnSpc>
                <a:spcPct val="90000"/>
              </a:lnSpc>
            </a:pPr>
            <a:endParaRPr lang="en-US" altLang="en-US" sz="900" smtClean="0">
              <a:latin typeface="Arial" panose="020B0604020202020204" pitchFamily="34" charset="0"/>
            </a:endParaRPr>
          </a:p>
          <a:p>
            <a:pPr marL="247650" indent="-247650" eaLnBrk="1" hangingPunct="1">
              <a:lnSpc>
                <a:spcPct val="90000"/>
              </a:lnSpc>
            </a:pPr>
            <a:r>
              <a:rPr lang="en-US" altLang="en-US" sz="900" smtClean="0">
                <a:latin typeface="Arial" panose="020B0604020202020204" pitchFamily="34" charset="0"/>
              </a:rPr>
              <a:t>Strong Authentication contains 2 out of 3 of the above methods. (p129)</a:t>
            </a:r>
          </a:p>
          <a:p>
            <a:pPr marL="247650" indent="-247650" eaLnBrk="1" hangingPunct="1">
              <a:lnSpc>
                <a:spcPct val="90000"/>
              </a:lnSpc>
            </a:pPr>
            <a:r>
              <a:rPr lang="en-US" altLang="en-US" sz="900" smtClean="0">
                <a:latin typeface="Arial" panose="020B0604020202020204" pitchFamily="34" charset="0"/>
              </a:rPr>
              <a:t>AKA “two-factor authentication”</a:t>
            </a:r>
          </a:p>
        </p:txBody>
      </p:sp>
    </p:spTree>
    <p:extLst>
      <p:ext uri="{BB962C8B-B14F-4D97-AF65-F5344CB8AC3E}">
        <p14:creationId xmlns:p14="http://schemas.microsoft.com/office/powerpoint/2010/main" val="4491397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C3A9767-E455-4692-B50D-F1188C39DA23}" type="slidenum">
              <a:rPr lang="en-US" altLang="en-US"/>
              <a:pPr>
                <a:spcBef>
                  <a:spcPct val="0"/>
                </a:spcBef>
              </a:pPr>
              <a:t>34</a:t>
            </a:fld>
            <a:endParaRPr lang="en-US" altLang="en-US"/>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lnSpc>
                <a:spcPct val="80000"/>
              </a:lnSpc>
            </a:pPr>
            <a:r>
              <a:rPr lang="en-US" altLang="en-US" sz="800" smtClean="0">
                <a:latin typeface="Arial" panose="020B0604020202020204" pitchFamily="34" charset="0"/>
              </a:rPr>
              <a:t>All references are from All in One Book (Shon Harris, 2005)</a:t>
            </a:r>
          </a:p>
          <a:p>
            <a:pPr marL="247650" indent="-247650" eaLnBrk="1" hangingPunct="1">
              <a:lnSpc>
                <a:spcPct val="80000"/>
              </a:lnSpc>
            </a:pPr>
            <a:endParaRPr lang="en-US" altLang="en-US" sz="800" b="1" i="1" smtClean="0">
              <a:latin typeface="Arial" panose="020B0604020202020204" pitchFamily="34" charset="0"/>
            </a:endParaRPr>
          </a:p>
          <a:p>
            <a:pPr marL="247650" indent="-247650" eaLnBrk="1" hangingPunct="1">
              <a:lnSpc>
                <a:spcPct val="80000"/>
              </a:lnSpc>
            </a:pPr>
            <a:r>
              <a:rPr lang="en-US" altLang="en-US" sz="800" b="1" i="1" smtClean="0">
                <a:latin typeface="Arial" panose="020B0604020202020204" pitchFamily="34" charset="0"/>
              </a:rPr>
              <a:t>Biometrics</a:t>
            </a:r>
            <a:r>
              <a:rPr lang="en-US" altLang="en-US" sz="800" smtClean="0">
                <a:latin typeface="Arial" panose="020B0604020202020204" pitchFamily="34" charset="0"/>
              </a:rPr>
              <a:t>:  Verifies an individual’s identity by analyzing a unique personal attribute or behavior.  Is one of the most effective and accurate means of verifying identification. (p131)</a:t>
            </a:r>
          </a:p>
          <a:p>
            <a:pPr marL="247650" indent="-247650" eaLnBrk="1" hangingPunct="1">
              <a:lnSpc>
                <a:spcPct val="80000"/>
              </a:lnSpc>
            </a:pPr>
            <a:r>
              <a:rPr lang="en-US" altLang="en-US" sz="800" smtClean="0">
                <a:latin typeface="Arial" panose="020B0604020202020204" pitchFamily="34" charset="0"/>
              </a:rPr>
              <a:t>Scans attribute or behavior and compares it to a record that was created in an enrollment process. (p131)</a:t>
            </a:r>
          </a:p>
          <a:p>
            <a:pPr marL="247650" indent="-247650" eaLnBrk="1" hangingPunct="1">
              <a:lnSpc>
                <a:spcPct val="80000"/>
              </a:lnSpc>
            </a:pPr>
            <a:r>
              <a:rPr lang="en-US" altLang="en-US" sz="800" smtClean="0">
                <a:latin typeface="Arial" panose="020B0604020202020204" pitchFamily="34" charset="0"/>
              </a:rPr>
              <a:t>Very sophisticated technology and expensive to implement. (131)</a:t>
            </a:r>
            <a:endParaRPr lang="en-US" altLang="en-US" sz="800" b="1" i="1" smtClean="0">
              <a:latin typeface="Arial" panose="020B0604020202020204" pitchFamily="34" charset="0"/>
            </a:endParaRPr>
          </a:p>
          <a:p>
            <a:pPr marL="247650" indent="-247650" eaLnBrk="1" hangingPunct="1">
              <a:lnSpc>
                <a:spcPct val="80000"/>
              </a:lnSpc>
            </a:pPr>
            <a:endParaRPr lang="en-US" altLang="en-US" sz="800" b="1" i="1" smtClean="0">
              <a:latin typeface="Arial" panose="020B0604020202020204" pitchFamily="34" charset="0"/>
            </a:endParaRPr>
          </a:p>
          <a:p>
            <a:pPr marL="247650" indent="-247650" eaLnBrk="1" hangingPunct="1">
              <a:lnSpc>
                <a:spcPct val="80000"/>
              </a:lnSpc>
            </a:pPr>
            <a:r>
              <a:rPr lang="en-US" altLang="en-US" sz="800" smtClean="0">
                <a:latin typeface="Arial" panose="020B0604020202020204" pitchFamily="34" charset="0"/>
              </a:rPr>
              <a:t>Biometrics is the most expensive method of verifying a person’s identity. (p132)</a:t>
            </a:r>
          </a:p>
          <a:p>
            <a:pPr marL="247650" indent="-247650" eaLnBrk="1" hangingPunct="1">
              <a:lnSpc>
                <a:spcPct val="80000"/>
              </a:lnSpc>
            </a:pPr>
            <a:r>
              <a:rPr lang="en-US" altLang="en-US" sz="800" smtClean="0">
                <a:latin typeface="Arial" panose="020B0604020202020204" pitchFamily="34" charset="0"/>
              </a:rPr>
              <a:t>When reviewing a biometric device for purchase, be sure to look at length of time that it actually takes to authenticate users. (132)</a:t>
            </a:r>
          </a:p>
          <a:p>
            <a:pPr marL="247650" indent="-247650" eaLnBrk="1" hangingPunct="1">
              <a:lnSpc>
                <a:spcPct val="80000"/>
              </a:lnSpc>
            </a:pPr>
            <a:r>
              <a:rPr lang="en-US" altLang="en-US" sz="800" smtClean="0">
                <a:latin typeface="Arial" panose="020B0604020202020204" pitchFamily="34" charset="0"/>
              </a:rPr>
              <a:t>Biometrics faces hurdles to common use, including user acceptance, enrollment timeframe, and throughput. (132)</a:t>
            </a:r>
          </a:p>
          <a:p>
            <a:pPr marL="247650" indent="-247650" eaLnBrk="1" hangingPunct="1">
              <a:lnSpc>
                <a:spcPct val="80000"/>
              </a:lnSpc>
            </a:pPr>
            <a:r>
              <a:rPr lang="en-US" altLang="en-US" sz="800" smtClean="0">
                <a:latin typeface="Arial" panose="020B0604020202020204" pitchFamily="34" charset="0"/>
              </a:rPr>
              <a:t>The enrollment phase requires an action to be performed several times to capture and clear and distinctive reference record. (133)</a:t>
            </a:r>
          </a:p>
          <a:p>
            <a:pPr marL="247650" indent="-247650" eaLnBrk="1" hangingPunct="1">
              <a:lnSpc>
                <a:spcPct val="80000"/>
              </a:lnSpc>
            </a:pPr>
            <a:endParaRPr lang="en-US" altLang="en-US" sz="800" smtClean="0">
              <a:latin typeface="Arial" panose="020B0604020202020204" pitchFamily="34" charset="0"/>
            </a:endParaRPr>
          </a:p>
          <a:p>
            <a:pPr marL="247650" indent="-247650" eaLnBrk="1" hangingPunct="1">
              <a:lnSpc>
                <a:spcPct val="80000"/>
              </a:lnSpc>
            </a:pPr>
            <a:r>
              <a:rPr lang="en-US" altLang="en-US" sz="800" smtClean="0">
                <a:latin typeface="Arial" panose="020B0604020202020204" pitchFamily="34" charset="0"/>
              </a:rPr>
              <a:t>Many types of different biometric systems. (p133)</a:t>
            </a:r>
          </a:p>
          <a:p>
            <a:pPr marL="247650" indent="-247650" eaLnBrk="1" hangingPunct="1">
              <a:lnSpc>
                <a:spcPct val="80000"/>
              </a:lnSpc>
              <a:buFontTx/>
              <a:buChar char="•"/>
            </a:pPr>
            <a:r>
              <a:rPr lang="en-US" altLang="en-US" sz="800" smtClean="0">
                <a:latin typeface="Arial" panose="020B0604020202020204" pitchFamily="34" charset="0"/>
              </a:rPr>
              <a:t>Fingerprint:  Friction ridges and other detailed characteristics of the print are called </a:t>
            </a:r>
            <a:r>
              <a:rPr lang="en-US" altLang="en-US" sz="800" i="1" u="sng" smtClean="0">
                <a:latin typeface="Arial" panose="020B0604020202020204" pitchFamily="34" charset="0"/>
              </a:rPr>
              <a:t>minutiae</a:t>
            </a:r>
            <a:r>
              <a:rPr lang="en-US" altLang="en-US" sz="800" smtClean="0">
                <a:latin typeface="Arial" panose="020B0604020202020204" pitchFamily="34" charset="0"/>
              </a:rPr>
              <a:t>.  Distinctiveness of the minutiae is what gives each individual a unique print.  (p133)</a:t>
            </a:r>
          </a:p>
          <a:p>
            <a:pPr marL="247650" indent="-247650" eaLnBrk="1" hangingPunct="1">
              <a:lnSpc>
                <a:spcPct val="80000"/>
              </a:lnSpc>
              <a:buFontTx/>
              <a:buChar char="•"/>
            </a:pPr>
            <a:r>
              <a:rPr lang="en-US" altLang="en-US" sz="800" smtClean="0">
                <a:latin typeface="Arial" panose="020B0604020202020204" pitchFamily="34" charset="0"/>
              </a:rPr>
              <a:t>Palm Scan:  Scans and captures the creases, ridges, and grooves throughout the palm that are distinctive to the individual. (133)</a:t>
            </a:r>
          </a:p>
          <a:p>
            <a:pPr marL="247650" indent="-247650" eaLnBrk="1" hangingPunct="1">
              <a:lnSpc>
                <a:spcPct val="80000"/>
              </a:lnSpc>
              <a:buFontTx/>
              <a:buChar char="•"/>
            </a:pPr>
            <a:r>
              <a:rPr lang="en-US" altLang="en-US" sz="800" smtClean="0">
                <a:latin typeface="Arial" panose="020B0604020202020204" pitchFamily="34" charset="0"/>
              </a:rPr>
              <a:t>Retina Scan:  Scans the blood vessel pattern of the retina on the backside of the eyeball. (134)</a:t>
            </a:r>
          </a:p>
          <a:p>
            <a:pPr marL="247650" indent="-247650" eaLnBrk="1" hangingPunct="1">
              <a:lnSpc>
                <a:spcPct val="80000"/>
              </a:lnSpc>
              <a:buFontTx/>
              <a:buChar char="•"/>
            </a:pPr>
            <a:r>
              <a:rPr lang="en-US" altLang="en-US" sz="800" smtClean="0">
                <a:latin typeface="Arial" panose="020B0604020202020204" pitchFamily="34" charset="0"/>
              </a:rPr>
              <a:t>Iris Scan:  Scans uniqueness in the characteristics of in individual’s iris. (134)</a:t>
            </a:r>
          </a:p>
          <a:p>
            <a:pPr marL="247650" indent="-247650" eaLnBrk="1" hangingPunct="1">
              <a:lnSpc>
                <a:spcPct val="80000"/>
              </a:lnSpc>
              <a:buFontTx/>
              <a:buChar char="•"/>
            </a:pPr>
            <a:r>
              <a:rPr lang="en-US" altLang="en-US" sz="800" smtClean="0">
                <a:latin typeface="Arial" panose="020B0604020202020204" pitchFamily="34" charset="0"/>
              </a:rPr>
              <a:t>Keyboard Dynamics (p134)</a:t>
            </a:r>
          </a:p>
          <a:p>
            <a:pPr marL="1162050" lvl="2" indent="-247650" eaLnBrk="1" hangingPunct="1">
              <a:lnSpc>
                <a:spcPct val="80000"/>
              </a:lnSpc>
              <a:buFontTx/>
              <a:buChar char="•"/>
            </a:pPr>
            <a:r>
              <a:rPr lang="en-US" altLang="en-US" sz="800" smtClean="0">
                <a:latin typeface="Arial" panose="020B0604020202020204" pitchFamily="34" charset="0"/>
              </a:rPr>
              <a:t>This type of authentication is more effective than typing in a password because a password is easily obtainable.  It is harder to repeat a person’s typing style.</a:t>
            </a:r>
          </a:p>
          <a:p>
            <a:pPr marL="1162050" lvl="2" indent="-247650" eaLnBrk="1" hangingPunct="1">
              <a:lnSpc>
                <a:spcPct val="80000"/>
              </a:lnSpc>
              <a:buFontTx/>
              <a:buChar char="•"/>
            </a:pPr>
            <a:r>
              <a:rPr lang="en-US" altLang="en-US" sz="800" smtClean="0">
                <a:latin typeface="Arial" panose="020B0604020202020204" pitchFamily="34" charset="0"/>
              </a:rPr>
              <a:t>Each individual has a certain typing style and speed that is translated into unique signals.</a:t>
            </a:r>
          </a:p>
          <a:p>
            <a:pPr marL="247650" indent="-247650" eaLnBrk="1" hangingPunct="1">
              <a:lnSpc>
                <a:spcPct val="80000"/>
              </a:lnSpc>
              <a:buFontTx/>
              <a:buChar char="•"/>
            </a:pPr>
            <a:r>
              <a:rPr lang="en-US" altLang="en-US" sz="800" smtClean="0">
                <a:latin typeface="Arial" panose="020B0604020202020204" pitchFamily="34" charset="0"/>
              </a:rPr>
              <a:t>Voice Print:  Uses subtle distinguishing differences in people’s speech sounds and patterns.  Captures a voice print and compares it to the information captured in a reference file. (134)</a:t>
            </a:r>
          </a:p>
          <a:p>
            <a:pPr marL="247650" indent="-247650" eaLnBrk="1" hangingPunct="1">
              <a:lnSpc>
                <a:spcPct val="80000"/>
              </a:lnSpc>
              <a:buFontTx/>
              <a:buChar char="•"/>
            </a:pPr>
            <a:r>
              <a:rPr lang="en-US" altLang="en-US" sz="800" smtClean="0">
                <a:latin typeface="Arial" panose="020B0604020202020204" pitchFamily="34" charset="0"/>
              </a:rPr>
              <a:t>Facial Scan:  Scan looks at bone structures, nose ridges, eye widths, forehead sizes, and chin shapes. (135)</a:t>
            </a:r>
          </a:p>
        </p:txBody>
      </p:sp>
    </p:spTree>
    <p:extLst>
      <p:ext uri="{BB962C8B-B14F-4D97-AF65-F5344CB8AC3E}">
        <p14:creationId xmlns:p14="http://schemas.microsoft.com/office/powerpoint/2010/main" val="33551477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9E32A48-0D61-4532-8821-0168943632D5}" type="slidenum">
              <a:rPr lang="en-US" altLang="en-US"/>
              <a:pPr>
                <a:spcBef>
                  <a:spcPct val="0"/>
                </a:spcBef>
              </a:pPr>
              <a:t>35</a:t>
            </a:fld>
            <a:endParaRPr lang="en-US" altLang="en-US"/>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lnSpc>
                <a:spcPct val="80000"/>
              </a:lnSpc>
            </a:pPr>
            <a:r>
              <a:rPr lang="en-US" altLang="en-US" sz="800" smtClean="0">
                <a:latin typeface="Arial" panose="020B0604020202020204" pitchFamily="34" charset="0"/>
              </a:rPr>
              <a:t>All references are from All in One Book (Shon Harris, 2005)</a:t>
            </a:r>
          </a:p>
          <a:p>
            <a:pPr marL="247650" indent="-247650" eaLnBrk="1" hangingPunct="1">
              <a:lnSpc>
                <a:spcPct val="80000"/>
              </a:lnSpc>
            </a:pPr>
            <a:endParaRPr lang="en-US" altLang="en-US" sz="800" b="1" i="1" smtClean="0">
              <a:latin typeface="Arial" panose="020B0604020202020204" pitchFamily="34" charset="0"/>
            </a:endParaRPr>
          </a:p>
          <a:p>
            <a:pPr marL="247650" indent="-247650" eaLnBrk="1" hangingPunct="1">
              <a:lnSpc>
                <a:spcPct val="80000"/>
              </a:lnSpc>
            </a:pPr>
            <a:r>
              <a:rPr lang="en-US" altLang="en-US" sz="800" smtClean="0">
                <a:latin typeface="Arial" panose="020B0604020202020204" pitchFamily="34" charset="0"/>
              </a:rPr>
              <a:t>Many types of different biometric systems. (p133)</a:t>
            </a:r>
          </a:p>
          <a:p>
            <a:pPr marL="247650" indent="-247650" eaLnBrk="1" hangingPunct="1">
              <a:lnSpc>
                <a:spcPct val="80000"/>
              </a:lnSpc>
              <a:buFontTx/>
              <a:buChar char="•"/>
            </a:pPr>
            <a:r>
              <a:rPr lang="en-US" altLang="en-US" sz="800" smtClean="0">
                <a:latin typeface="Arial" panose="020B0604020202020204" pitchFamily="34" charset="0"/>
              </a:rPr>
              <a:t>Fingerprint:  Friction ridges and other detailed characteristics of the print are called </a:t>
            </a:r>
            <a:r>
              <a:rPr lang="en-US" altLang="en-US" sz="800" i="1" u="sng" smtClean="0">
                <a:latin typeface="Arial" panose="020B0604020202020204" pitchFamily="34" charset="0"/>
              </a:rPr>
              <a:t>minutiae</a:t>
            </a:r>
            <a:r>
              <a:rPr lang="en-US" altLang="en-US" sz="800" smtClean="0">
                <a:latin typeface="Arial" panose="020B0604020202020204" pitchFamily="34" charset="0"/>
              </a:rPr>
              <a:t>.  Distinctiveness of the minutiae is what gives each individual a unique print.  (p133)</a:t>
            </a:r>
          </a:p>
          <a:p>
            <a:pPr marL="247650" indent="-247650" eaLnBrk="1" hangingPunct="1">
              <a:lnSpc>
                <a:spcPct val="80000"/>
              </a:lnSpc>
              <a:buFontTx/>
              <a:buChar char="•"/>
            </a:pPr>
            <a:r>
              <a:rPr lang="en-US" altLang="en-US" sz="800" smtClean="0">
                <a:latin typeface="Arial" panose="020B0604020202020204" pitchFamily="34" charset="0"/>
              </a:rPr>
              <a:t>Palm Scan:  Scans and captures the creases, ridges, and grooves throughout the palm that are distinctive to the individual. (133)</a:t>
            </a:r>
          </a:p>
          <a:p>
            <a:pPr marL="247650" indent="-247650" eaLnBrk="1" hangingPunct="1">
              <a:lnSpc>
                <a:spcPct val="80000"/>
              </a:lnSpc>
              <a:buFontTx/>
              <a:buChar char="•"/>
            </a:pPr>
            <a:r>
              <a:rPr lang="en-US" altLang="en-US" sz="800" smtClean="0">
                <a:latin typeface="Arial" panose="020B0604020202020204" pitchFamily="34" charset="0"/>
              </a:rPr>
              <a:t>Hand Geometry:  Defined by the shape of a person’s hand (length and width of hands and fingers). (134)</a:t>
            </a:r>
          </a:p>
          <a:p>
            <a:pPr marL="247650" indent="-247650" eaLnBrk="1" hangingPunct="1">
              <a:lnSpc>
                <a:spcPct val="80000"/>
              </a:lnSpc>
              <a:buFontTx/>
              <a:buChar char="•"/>
            </a:pPr>
            <a:r>
              <a:rPr lang="en-US" altLang="en-US" sz="800" smtClean="0">
                <a:latin typeface="Arial" panose="020B0604020202020204" pitchFamily="34" charset="0"/>
              </a:rPr>
              <a:t>Retina Scan:  Scans the blood vessel pattern of the retina on the backside of the eyeball. (134)</a:t>
            </a:r>
          </a:p>
          <a:p>
            <a:pPr marL="247650" indent="-247650" eaLnBrk="1" hangingPunct="1">
              <a:lnSpc>
                <a:spcPct val="80000"/>
              </a:lnSpc>
              <a:buFontTx/>
              <a:buChar char="•"/>
            </a:pPr>
            <a:r>
              <a:rPr lang="en-US" altLang="en-US" sz="800" smtClean="0">
                <a:latin typeface="Arial" panose="020B0604020202020204" pitchFamily="34" charset="0"/>
              </a:rPr>
              <a:t>Iris Scan:  Scans uniqueness in the characteristics of in individual’s iris. (134)</a:t>
            </a:r>
          </a:p>
          <a:p>
            <a:pPr marL="1162050" lvl="2" indent="-247650" eaLnBrk="1" hangingPunct="1">
              <a:lnSpc>
                <a:spcPct val="80000"/>
              </a:lnSpc>
              <a:buFontTx/>
              <a:buChar char="•"/>
            </a:pPr>
            <a:r>
              <a:rPr lang="en-US" altLang="en-US" sz="800" smtClean="0">
                <a:latin typeface="Arial" panose="020B0604020202020204" pitchFamily="34" charset="0"/>
              </a:rPr>
              <a:t>Need to be aware of proper placement of optical unit for scan. (p134)</a:t>
            </a:r>
          </a:p>
          <a:p>
            <a:pPr marL="247650" indent="-247650" eaLnBrk="1" hangingPunct="1">
              <a:lnSpc>
                <a:spcPct val="80000"/>
              </a:lnSpc>
              <a:buFontTx/>
              <a:buChar char="•"/>
            </a:pPr>
            <a:r>
              <a:rPr lang="en-US" altLang="en-US" sz="800" smtClean="0">
                <a:latin typeface="Arial" panose="020B0604020202020204" pitchFamily="34" charset="0"/>
              </a:rPr>
              <a:t>Signature Dynamics (p134)</a:t>
            </a:r>
          </a:p>
          <a:p>
            <a:pPr marL="1162050" lvl="2" indent="-247650" eaLnBrk="1" hangingPunct="1">
              <a:lnSpc>
                <a:spcPct val="80000"/>
              </a:lnSpc>
              <a:buFontTx/>
              <a:buChar char="•"/>
            </a:pPr>
            <a:r>
              <a:rPr lang="en-US" altLang="en-US" sz="800" smtClean="0">
                <a:latin typeface="Arial" panose="020B0604020202020204" pitchFamily="34" charset="0"/>
              </a:rPr>
              <a:t>Signature dynamics provides more information than a static signature, so there are more variables for measuring identity. (p134)</a:t>
            </a:r>
          </a:p>
          <a:p>
            <a:pPr marL="1162050" lvl="2" indent="-247650" eaLnBrk="1" hangingPunct="1">
              <a:lnSpc>
                <a:spcPct val="80000"/>
              </a:lnSpc>
              <a:buFontTx/>
              <a:buChar char="•"/>
            </a:pPr>
            <a:r>
              <a:rPr lang="en-US" altLang="en-US" sz="800" smtClean="0">
                <a:latin typeface="Arial" panose="020B0604020202020204" pitchFamily="34" charset="0"/>
              </a:rPr>
              <a:t>Keep in mind that a digitized signature is just an electronic copy of someone’s signature and is not a biometric system that captures the speed of signing, the way the person holds the pen, and the pressure the signer exerts to generate the signature.</a:t>
            </a:r>
          </a:p>
          <a:p>
            <a:pPr marL="247650" indent="-247650" eaLnBrk="1" hangingPunct="1">
              <a:lnSpc>
                <a:spcPct val="80000"/>
              </a:lnSpc>
              <a:buFontTx/>
              <a:buChar char="•"/>
            </a:pPr>
            <a:r>
              <a:rPr lang="en-US" altLang="en-US" sz="800" smtClean="0">
                <a:latin typeface="Arial" panose="020B0604020202020204" pitchFamily="34" charset="0"/>
              </a:rPr>
              <a:t>Keyboard Dynamics (p134)</a:t>
            </a:r>
          </a:p>
          <a:p>
            <a:pPr marL="1162050" lvl="2" indent="-247650" eaLnBrk="1" hangingPunct="1">
              <a:lnSpc>
                <a:spcPct val="80000"/>
              </a:lnSpc>
              <a:buFontTx/>
              <a:buChar char="•"/>
            </a:pPr>
            <a:r>
              <a:rPr lang="en-US" altLang="en-US" sz="800" smtClean="0">
                <a:latin typeface="Arial" panose="020B0604020202020204" pitchFamily="34" charset="0"/>
              </a:rPr>
              <a:t>This type of authentication is more effective than typing in a password because a password is easily obtainable.  It is harder to repeat a person’s typing style.</a:t>
            </a:r>
          </a:p>
          <a:p>
            <a:pPr marL="1162050" lvl="2" indent="-247650" eaLnBrk="1" hangingPunct="1">
              <a:lnSpc>
                <a:spcPct val="80000"/>
              </a:lnSpc>
              <a:buFontTx/>
              <a:buChar char="•"/>
            </a:pPr>
            <a:r>
              <a:rPr lang="en-US" altLang="en-US" sz="800" smtClean="0">
                <a:latin typeface="Arial" panose="020B0604020202020204" pitchFamily="34" charset="0"/>
              </a:rPr>
              <a:t>Each individual has a certain typing style and speed that is translated into unique signals.</a:t>
            </a:r>
          </a:p>
          <a:p>
            <a:pPr marL="247650" indent="-247650" eaLnBrk="1" hangingPunct="1">
              <a:lnSpc>
                <a:spcPct val="80000"/>
              </a:lnSpc>
              <a:buFontTx/>
              <a:buChar char="•"/>
            </a:pPr>
            <a:r>
              <a:rPr lang="en-US" altLang="en-US" sz="800" smtClean="0">
                <a:latin typeface="Arial" panose="020B0604020202020204" pitchFamily="34" charset="0"/>
              </a:rPr>
              <a:t>Voice Print:  Uses subtle distinguishing differences in people’s speech sounds and patterns.  Captures a voice print and compares it to the information captured in a reference file. (134)</a:t>
            </a:r>
          </a:p>
          <a:p>
            <a:pPr marL="247650" indent="-247650" eaLnBrk="1" hangingPunct="1">
              <a:lnSpc>
                <a:spcPct val="80000"/>
              </a:lnSpc>
              <a:buFontTx/>
              <a:buChar char="•"/>
            </a:pPr>
            <a:r>
              <a:rPr lang="en-US" altLang="en-US" sz="800" smtClean="0">
                <a:latin typeface="Arial" panose="020B0604020202020204" pitchFamily="34" charset="0"/>
              </a:rPr>
              <a:t>Facial Scan:  Scan looks at bone structures, nose ridges, eye widths, forehead sizes, and chin shapes. (135)</a:t>
            </a:r>
          </a:p>
          <a:p>
            <a:pPr marL="247650" indent="-247650" eaLnBrk="1" hangingPunct="1">
              <a:lnSpc>
                <a:spcPct val="80000"/>
              </a:lnSpc>
              <a:buFontTx/>
              <a:buChar char="•"/>
            </a:pPr>
            <a:r>
              <a:rPr lang="en-US" altLang="en-US" sz="800" smtClean="0">
                <a:latin typeface="Arial" panose="020B0604020202020204" pitchFamily="34" charset="0"/>
              </a:rPr>
              <a:t>Hand Topography:  Looks at the different peaks and valleys of the hand along with its overall shape and curvature. (136)</a:t>
            </a:r>
          </a:p>
          <a:p>
            <a:pPr marL="1162050" lvl="2" indent="-247650" eaLnBrk="1" hangingPunct="1">
              <a:lnSpc>
                <a:spcPct val="80000"/>
              </a:lnSpc>
              <a:buFontTx/>
              <a:buChar char="•"/>
            </a:pPr>
            <a:r>
              <a:rPr lang="en-US" altLang="en-US" sz="800" smtClean="0">
                <a:latin typeface="Arial" panose="020B0604020202020204" pitchFamily="34" charset="0"/>
              </a:rPr>
              <a:t>This attribute is not unique enough to authenticate individuals by itself and is commonly used in conjunction with hand geometry.</a:t>
            </a:r>
          </a:p>
          <a:p>
            <a:pPr marL="247650" indent="-247650" eaLnBrk="1" hangingPunct="1">
              <a:lnSpc>
                <a:spcPct val="80000"/>
              </a:lnSpc>
            </a:pPr>
            <a:endParaRPr lang="en-US" altLang="en-US" sz="800" smtClean="0">
              <a:latin typeface="Arial" panose="020B0604020202020204" pitchFamily="34" charset="0"/>
            </a:endParaRPr>
          </a:p>
        </p:txBody>
      </p:sp>
    </p:spTree>
    <p:extLst>
      <p:ext uri="{BB962C8B-B14F-4D97-AF65-F5344CB8AC3E}">
        <p14:creationId xmlns:p14="http://schemas.microsoft.com/office/powerpoint/2010/main" val="16229551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9C069CE-C67D-485B-92E9-24C424B8AC16}" type="slidenum">
              <a:rPr lang="en-US" altLang="en-US"/>
              <a:pPr>
                <a:spcBef>
                  <a:spcPct val="0"/>
                </a:spcBef>
              </a:pPr>
              <a:t>36</a:t>
            </a:fld>
            <a:endParaRPr lang="en-US" altLang="en-US"/>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smtClean="0">
                <a:latin typeface="Arial" panose="020B0604020202020204" pitchFamily="34" charset="0"/>
              </a:rPr>
              <a:t>All references are from All in One Book (Shon Harris, 2005)</a:t>
            </a:r>
          </a:p>
          <a:p>
            <a:pPr marL="228600" indent="-228600" eaLnBrk="1" hangingPunct="1"/>
            <a:endParaRPr lang="en-US" altLang="en-US" sz="1000" smtClean="0">
              <a:latin typeface="Arial" panose="020B0604020202020204" pitchFamily="34" charset="0"/>
            </a:endParaRPr>
          </a:p>
          <a:p>
            <a:pPr marL="228600" indent="-228600" eaLnBrk="1" hangingPunct="1"/>
            <a:r>
              <a:rPr lang="en-US" altLang="en-US" sz="1000" smtClean="0">
                <a:latin typeface="Arial" panose="020B0604020202020204" pitchFamily="34" charset="0"/>
              </a:rPr>
              <a:t>User name coupled with reusable password is the most common form of system identification and authorization mechanisms. (p135)</a:t>
            </a:r>
          </a:p>
          <a:p>
            <a:pPr marL="228600" indent="-228600" eaLnBrk="1" hangingPunct="1"/>
            <a:endParaRPr lang="en-US" altLang="en-US" sz="1000" smtClean="0">
              <a:latin typeface="Arial" panose="020B0604020202020204" pitchFamily="34" charset="0"/>
            </a:endParaRPr>
          </a:p>
          <a:p>
            <a:pPr marL="228600" indent="-228600" eaLnBrk="1" hangingPunct="1"/>
            <a:r>
              <a:rPr lang="en-US" altLang="en-US" sz="1000" smtClean="0">
                <a:latin typeface="Arial" panose="020B0604020202020204" pitchFamily="34" charset="0"/>
              </a:rPr>
              <a:t>Passwords are also considered one of the weakest security mechanisms available. (p135)</a:t>
            </a:r>
          </a:p>
          <a:p>
            <a:pPr marL="228600" indent="-228600" eaLnBrk="1" hangingPunct="1"/>
            <a:endParaRPr lang="en-US" altLang="en-US" sz="1000" smtClean="0">
              <a:latin typeface="Arial" panose="020B0604020202020204" pitchFamily="34" charset="0"/>
            </a:endParaRPr>
          </a:p>
          <a:p>
            <a:pPr marL="228600" indent="-228600" eaLnBrk="1" hangingPunct="1"/>
            <a:r>
              <a:rPr lang="en-US" altLang="en-US" sz="1000" smtClean="0">
                <a:latin typeface="Arial" panose="020B0604020202020204" pitchFamily="34" charset="0"/>
              </a:rPr>
              <a:t>If passwords are properly generated, updated, and kept secret (read: password management), the can provide effective security. (p136)</a:t>
            </a:r>
          </a:p>
          <a:p>
            <a:pPr marL="228600" indent="-228600" eaLnBrk="1" hangingPunct="1">
              <a:buFontTx/>
              <a:buChar char="•"/>
            </a:pPr>
            <a:r>
              <a:rPr lang="en-US" altLang="en-US" sz="1000" smtClean="0">
                <a:latin typeface="Arial" panose="020B0604020202020204" pitchFamily="34" charset="0"/>
              </a:rPr>
              <a:t>If users can choose their own passwords, then the operating system should enforce certain password requirements. (136)</a:t>
            </a:r>
          </a:p>
          <a:p>
            <a:pPr marL="228600" indent="-228600" eaLnBrk="1" hangingPunct="1">
              <a:buFontTx/>
              <a:buChar char="•"/>
            </a:pPr>
            <a:r>
              <a:rPr lang="en-US" altLang="en-US" sz="1000" smtClean="0">
                <a:latin typeface="Arial" panose="020B0604020202020204" pitchFamily="34" charset="0"/>
              </a:rPr>
              <a:t>An audit trail can also be used to track password usage and successful and unsuccessful login attempts. (137 * 138))</a:t>
            </a:r>
          </a:p>
          <a:p>
            <a:pPr marL="228600" indent="-228600" eaLnBrk="1" hangingPunct="1">
              <a:buFontTx/>
              <a:buChar char="•"/>
            </a:pPr>
            <a:r>
              <a:rPr lang="en-US" altLang="en-US" sz="1000" smtClean="0">
                <a:latin typeface="Arial" panose="020B0604020202020204" pitchFamily="34" charset="0"/>
              </a:rPr>
              <a:t>A password’s lifetime should be short but practical. Forcing a user to change passwords on a more frequent basis provides more assurance that the password will not be guessed; but if too short, causes unnecessary overhead and user errors in remembering password. (Password Aging) (p137 &amp; 138)</a:t>
            </a:r>
          </a:p>
          <a:p>
            <a:pPr marL="228600" indent="-228600" eaLnBrk="1" hangingPunct="1">
              <a:buFontTx/>
              <a:buChar char="•"/>
            </a:pPr>
            <a:endParaRPr lang="en-US" altLang="en-US" sz="1000" smtClean="0">
              <a:latin typeface="Arial" panose="020B0604020202020204" pitchFamily="34" charset="0"/>
            </a:endParaRPr>
          </a:p>
          <a:p>
            <a:pPr marL="228600" indent="-228600" eaLnBrk="1" hangingPunct="1"/>
            <a:r>
              <a:rPr lang="en-US" altLang="en-US" sz="1000" b="1" i="1" smtClean="0">
                <a:latin typeface="Arial" panose="020B0604020202020204" pitchFamily="34" charset="0"/>
              </a:rPr>
              <a:t>Clipping Level</a:t>
            </a:r>
            <a:r>
              <a:rPr lang="en-US" altLang="en-US" sz="1000" smtClean="0">
                <a:latin typeface="Arial" panose="020B0604020202020204" pitchFamily="34" charset="0"/>
              </a:rPr>
              <a:t>:  where administrator can set operating parameters that allow a certain number of failed logon attempts to be accepted before a user is locked out for a period of time. (p136)</a:t>
            </a:r>
            <a:endParaRPr lang="en-US" altLang="en-US" sz="1000" b="1" i="1" smtClean="0">
              <a:latin typeface="Arial" panose="020B0604020202020204" pitchFamily="34" charset="0"/>
            </a:endParaRPr>
          </a:p>
          <a:p>
            <a:pPr marL="228600" indent="-228600" eaLnBrk="1" hangingPunct="1">
              <a:buFontTx/>
              <a:buChar char="•"/>
            </a:pPr>
            <a:endParaRPr lang="en-US" altLang="en-US" sz="1000" smtClean="0">
              <a:latin typeface="Arial" panose="020B0604020202020204" pitchFamily="34" charset="0"/>
            </a:endParaRPr>
          </a:p>
          <a:p>
            <a:pPr marL="228600" indent="-228600" eaLnBrk="1" hangingPunct="1"/>
            <a:endParaRPr lang="en-US" altLang="en-US" sz="1000" smtClean="0">
              <a:latin typeface="Arial" panose="020B0604020202020204" pitchFamily="34" charset="0"/>
            </a:endParaRPr>
          </a:p>
        </p:txBody>
      </p:sp>
    </p:spTree>
    <p:extLst>
      <p:ext uri="{BB962C8B-B14F-4D97-AF65-F5344CB8AC3E}">
        <p14:creationId xmlns:p14="http://schemas.microsoft.com/office/powerpoint/2010/main" val="29702266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BC4C108-14F8-4596-9FED-1F148B066341}" type="slidenum">
              <a:rPr lang="en-US" altLang="en-US"/>
              <a:pPr>
                <a:spcBef>
                  <a:spcPct val="0"/>
                </a:spcBef>
              </a:pPr>
              <a:t>37</a:t>
            </a:fld>
            <a:endParaRPr lang="en-US" altLang="en-US"/>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z="1000" smtClean="0">
                <a:latin typeface="Arial" panose="020B0604020202020204" pitchFamily="34" charset="0"/>
              </a:rPr>
              <a:t>All references are from All in One Book (Shon Harris, 2005)</a:t>
            </a:r>
          </a:p>
          <a:p>
            <a:pPr marL="228600" indent="-228600" eaLnBrk="1" hangingPunct="1"/>
            <a:endParaRPr lang="en-US" altLang="en-US" sz="1000" smtClean="0">
              <a:latin typeface="Arial" panose="020B0604020202020204" pitchFamily="34" charset="0"/>
            </a:endParaRPr>
          </a:p>
          <a:p>
            <a:pPr marL="228600" indent="-228600" eaLnBrk="1" hangingPunct="1"/>
            <a:r>
              <a:rPr lang="en-US" altLang="en-US" sz="1000" smtClean="0">
                <a:latin typeface="Arial" panose="020B0604020202020204" pitchFamily="34" charset="0"/>
              </a:rPr>
              <a:t>Techniques that attackers can use to get passwords: (p136)</a:t>
            </a:r>
          </a:p>
          <a:p>
            <a:pPr marL="228600" indent="-228600" eaLnBrk="1" hangingPunct="1">
              <a:buFontTx/>
              <a:buChar char="•"/>
            </a:pPr>
            <a:r>
              <a:rPr lang="en-US" altLang="en-US" sz="1000" smtClean="0">
                <a:latin typeface="Arial" panose="020B0604020202020204" pitchFamily="34" charset="0"/>
              </a:rPr>
              <a:t>Electronic monitoring:  Listening to network traffic to capture information, especially when a user is sending her password to an authentication server.  The password can be copied and reused by the attacker later (replay attack). (p136)</a:t>
            </a:r>
          </a:p>
          <a:p>
            <a:pPr marL="228600" indent="-228600" eaLnBrk="1" hangingPunct="1">
              <a:buFontTx/>
              <a:buChar char="•"/>
            </a:pPr>
            <a:r>
              <a:rPr lang="en-US" altLang="en-US" sz="1000" smtClean="0">
                <a:latin typeface="Arial" panose="020B0604020202020204" pitchFamily="34" charset="0"/>
              </a:rPr>
              <a:t>Access the password file:  Usually done on an authentication server. The password file should be protected with access control mechanisms and encryption.  (p136)</a:t>
            </a:r>
          </a:p>
          <a:p>
            <a:pPr marL="228600" indent="-228600" eaLnBrk="1" hangingPunct="1">
              <a:buFontTx/>
              <a:buChar char="•"/>
            </a:pPr>
            <a:r>
              <a:rPr lang="en-US" altLang="en-US" sz="1000" b="1" i="1" smtClean="0">
                <a:latin typeface="Arial" panose="020B0604020202020204" pitchFamily="34" charset="0"/>
              </a:rPr>
              <a:t>Brute Force Attacks</a:t>
            </a:r>
            <a:r>
              <a:rPr lang="en-US" altLang="en-US" sz="1000" smtClean="0">
                <a:latin typeface="Arial" panose="020B0604020202020204" pitchFamily="34" charset="0"/>
              </a:rPr>
              <a:t>:  Performed with tools that cycle through many possible character, number and symbol combinations to uncover a password. (p136)</a:t>
            </a:r>
          </a:p>
          <a:p>
            <a:pPr marL="228600" indent="-228600" eaLnBrk="1" hangingPunct="1">
              <a:buFontTx/>
              <a:buChar char="•"/>
            </a:pPr>
            <a:r>
              <a:rPr lang="en-US" altLang="en-US" sz="1000" b="1" i="1" smtClean="0">
                <a:latin typeface="Arial" panose="020B0604020202020204" pitchFamily="34" charset="0"/>
              </a:rPr>
              <a:t>Dictionary Attacks</a:t>
            </a:r>
            <a:r>
              <a:rPr lang="en-US" altLang="en-US" sz="1000" smtClean="0">
                <a:latin typeface="Arial" panose="020B0604020202020204" pitchFamily="34" charset="0"/>
              </a:rPr>
              <a:t>:  Files of thousands of words are used to compare to the user’s password until a match is found. (p136)</a:t>
            </a:r>
          </a:p>
          <a:p>
            <a:pPr marL="228600" indent="-228600" eaLnBrk="1" hangingPunct="1">
              <a:buFontTx/>
              <a:buChar char="•"/>
            </a:pPr>
            <a:r>
              <a:rPr lang="en-US" altLang="en-US" sz="1000" b="1" i="1" smtClean="0">
                <a:latin typeface="Arial" panose="020B0604020202020204" pitchFamily="34" charset="0"/>
              </a:rPr>
              <a:t>Social Engineering</a:t>
            </a:r>
            <a:r>
              <a:rPr lang="en-US" altLang="en-US" sz="1000" smtClean="0">
                <a:latin typeface="Arial" panose="020B0604020202020204" pitchFamily="34" charset="0"/>
              </a:rPr>
              <a:t>:  An attacker falsely convinces an individual that she has the necessary authorization to access specific resources. (p136)</a:t>
            </a:r>
          </a:p>
          <a:p>
            <a:pPr marL="228600" indent="-228600" eaLnBrk="1" hangingPunct="1"/>
            <a:endParaRPr lang="en-US" altLang="en-US" sz="1000" b="1" i="1" smtClean="0">
              <a:latin typeface="Arial" panose="020B0604020202020204" pitchFamily="34" charset="0"/>
            </a:endParaRPr>
          </a:p>
          <a:p>
            <a:pPr marL="228600" indent="-228600" eaLnBrk="1" hangingPunct="1"/>
            <a:endParaRPr lang="en-US" altLang="en-US" sz="1000" b="1" i="1" smtClean="0">
              <a:latin typeface="Arial" panose="020B0604020202020204" pitchFamily="34" charset="0"/>
            </a:endParaRPr>
          </a:p>
          <a:p>
            <a:pPr marL="228600" indent="-228600" eaLnBrk="1" hangingPunct="1"/>
            <a:r>
              <a:rPr lang="en-US" altLang="en-US" sz="1000" b="1" i="1" smtClean="0">
                <a:latin typeface="Arial" panose="020B0604020202020204" pitchFamily="34" charset="0"/>
              </a:rPr>
              <a:t>Password Checker</a:t>
            </a:r>
            <a:r>
              <a:rPr lang="en-US" altLang="en-US" sz="1000" smtClean="0">
                <a:latin typeface="Arial" panose="020B0604020202020204" pitchFamily="34" charset="0"/>
              </a:rPr>
              <a:t>:  Tool used by a security professional to test the strength of a password. (p137)</a:t>
            </a:r>
            <a:endParaRPr lang="en-US" altLang="en-US" sz="1000" b="1" i="1" smtClean="0">
              <a:latin typeface="Arial" panose="020B0604020202020204" pitchFamily="34" charset="0"/>
            </a:endParaRPr>
          </a:p>
          <a:p>
            <a:pPr marL="228600" indent="-228600" eaLnBrk="1" hangingPunct="1"/>
            <a:endParaRPr lang="en-US" altLang="en-US" sz="1000" b="1" i="1" smtClean="0">
              <a:latin typeface="Arial" panose="020B0604020202020204" pitchFamily="34" charset="0"/>
            </a:endParaRPr>
          </a:p>
          <a:p>
            <a:pPr marL="228600" indent="-228600" eaLnBrk="1" hangingPunct="1"/>
            <a:r>
              <a:rPr lang="en-US" altLang="en-US" sz="1000" b="1" i="1" smtClean="0">
                <a:latin typeface="Arial" panose="020B0604020202020204" pitchFamily="34" charset="0"/>
              </a:rPr>
              <a:t>Password Cracker</a:t>
            </a:r>
            <a:r>
              <a:rPr lang="en-US" altLang="en-US" sz="1000" smtClean="0">
                <a:latin typeface="Arial" panose="020B0604020202020204" pitchFamily="34" charset="0"/>
              </a:rPr>
              <a:t>:  Same tool as password checker, only tool is used by an attacker. (p137)</a:t>
            </a:r>
          </a:p>
          <a:p>
            <a:pPr marL="228600" indent="-228600" eaLnBrk="1" hangingPunct="1"/>
            <a:endParaRPr lang="en-US" altLang="en-US" sz="1000" smtClean="0">
              <a:latin typeface="Arial" panose="020B0604020202020204" pitchFamily="34" charset="0"/>
            </a:endParaRPr>
          </a:p>
        </p:txBody>
      </p:sp>
    </p:spTree>
    <p:extLst>
      <p:ext uri="{BB962C8B-B14F-4D97-AF65-F5344CB8AC3E}">
        <p14:creationId xmlns:p14="http://schemas.microsoft.com/office/powerpoint/2010/main" val="31122839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C63AA40-D4DE-4332-88C0-B3DE7CAAAD44}" type="slidenum">
              <a:rPr lang="en-US" altLang="en-US"/>
              <a:pPr>
                <a:spcBef>
                  <a:spcPct val="0"/>
                </a:spcBef>
              </a:pPr>
              <a:t>38</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r>
              <a:rPr lang="en-US" altLang="en-US" smtClean="0">
                <a:latin typeface="Arial" panose="020B0604020202020204" pitchFamily="34" charset="0"/>
              </a:rPr>
              <a:t>All references are from All in One Book (Shon Harris, 2005)</a:t>
            </a:r>
          </a:p>
          <a:p>
            <a:pPr marL="247650" indent="-247650" eaLnBrk="1" hangingPunct="1"/>
            <a:endParaRPr lang="en-US" altLang="en-US" smtClean="0">
              <a:latin typeface="Arial" panose="020B0604020202020204" pitchFamily="34" charset="0"/>
            </a:endParaRPr>
          </a:p>
          <a:p>
            <a:pPr marL="247650" indent="-247650" eaLnBrk="1" hangingPunct="1"/>
            <a:r>
              <a:rPr lang="en-US" altLang="en-US" smtClean="0">
                <a:latin typeface="Arial" panose="020B0604020202020204" pitchFamily="34" charset="0"/>
              </a:rPr>
              <a:t>A </a:t>
            </a:r>
            <a:r>
              <a:rPr lang="en-US" altLang="en-US" b="1" i="1" smtClean="0">
                <a:latin typeface="Arial" panose="020B0604020202020204" pitchFamily="34" charset="0"/>
              </a:rPr>
              <a:t>passphrase</a:t>
            </a:r>
            <a:r>
              <a:rPr lang="en-US" altLang="en-US" smtClean="0">
                <a:latin typeface="Arial" panose="020B0604020202020204" pitchFamily="34" charset="0"/>
              </a:rPr>
              <a:t> is a sequence of characters that is longer than a password, and in some cases, takes the place of a password during an authentication process. (142)</a:t>
            </a:r>
          </a:p>
          <a:p>
            <a:pPr marL="247650" indent="-247650" eaLnBrk="1" hangingPunct="1"/>
            <a:r>
              <a:rPr lang="en-US" altLang="en-US" smtClean="0">
                <a:latin typeface="Arial" panose="020B0604020202020204" pitchFamily="34" charset="0"/>
              </a:rPr>
              <a:t>The user enters this phrase into an application and the application transforms the value into a virtual password, making the passphrase the length and format that is required by the application. (142)</a:t>
            </a:r>
          </a:p>
          <a:p>
            <a:pPr marL="247650" indent="-247650" eaLnBrk="1" hangingPunct="1"/>
            <a:r>
              <a:rPr lang="en-US" altLang="en-US" smtClean="0">
                <a:latin typeface="Arial" panose="020B0604020202020204" pitchFamily="34" charset="0"/>
              </a:rPr>
              <a:t>A passphrase is more secure than a password because it is longer, and thus harder to obtain by an attacker. (142)</a:t>
            </a:r>
          </a:p>
          <a:p>
            <a:pPr marL="247650" indent="-247650"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40556319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6FC9A15-6329-4AD7-A2BD-903248C394CA}" type="slidenum">
              <a:rPr lang="en-US" altLang="en-US"/>
              <a:pPr>
                <a:spcBef>
                  <a:spcPct val="0"/>
                </a:spcBef>
              </a:pPr>
              <a:t>39</a:t>
            </a:fld>
            <a:endParaRPr lang="en-US" altLang="en-US"/>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r>
              <a:rPr lang="en-US" altLang="en-US" smtClean="0">
                <a:latin typeface="Arial" panose="020B0604020202020204" pitchFamily="34" charset="0"/>
              </a:rPr>
              <a:t>All references are from All in One Book (Shon Harris, 2005)</a:t>
            </a:r>
          </a:p>
          <a:p>
            <a:pPr marL="247650" indent="-247650" eaLnBrk="1" hangingPunct="1"/>
            <a:endParaRPr lang="en-US" altLang="en-US" b="1" i="1" smtClean="0">
              <a:latin typeface="Arial" panose="020B0604020202020204" pitchFamily="34" charset="0"/>
            </a:endParaRPr>
          </a:p>
          <a:p>
            <a:pPr marL="247650" indent="-247650" eaLnBrk="1" hangingPunct="1"/>
            <a:r>
              <a:rPr lang="en-US" altLang="en-US" b="1" i="1" smtClean="0">
                <a:latin typeface="Arial" panose="020B0604020202020204" pitchFamily="34" charset="0"/>
              </a:rPr>
              <a:t>One Time Password (aka Dynamic Password):</a:t>
            </a:r>
            <a:r>
              <a:rPr lang="en-US" altLang="en-US" smtClean="0">
                <a:latin typeface="Arial" panose="020B0604020202020204" pitchFamily="34" charset="0"/>
              </a:rPr>
              <a:t>  Used for authentication purposes and is only good once. (139)</a:t>
            </a:r>
          </a:p>
          <a:p>
            <a:pPr marL="247650" indent="-247650" eaLnBrk="1" hangingPunct="1">
              <a:buFontTx/>
              <a:buChar char="•"/>
            </a:pPr>
            <a:r>
              <a:rPr lang="en-US" altLang="en-US" smtClean="0">
                <a:latin typeface="Arial" panose="020B0604020202020204" pitchFamily="34" charset="0"/>
              </a:rPr>
              <a:t>This type of system is not vulnerable to electronic eavesdropping, sniffing, or password guessing. (141)</a:t>
            </a:r>
          </a:p>
          <a:p>
            <a:pPr marL="247650" indent="-247650" eaLnBrk="1" hangingPunct="1">
              <a:buFontTx/>
              <a:buChar char="•"/>
            </a:pPr>
            <a:r>
              <a:rPr lang="en-US" altLang="en-US" smtClean="0">
                <a:latin typeface="Arial" panose="020B0604020202020204" pitchFamily="34" charset="0"/>
              </a:rPr>
              <a:t>One Time passwords can also be generated in software, in which case a piece of hardware such as a token device is not required.  These are referred to as soft tokens and require that the authentication service and application contain the same base secrets, which are used to generate the one time passwords.  (141)</a:t>
            </a:r>
            <a:endParaRPr lang="en-US" altLang="en-US" b="1" i="1" smtClean="0">
              <a:latin typeface="Arial" panose="020B0604020202020204" pitchFamily="34" charset="0"/>
            </a:endParaRPr>
          </a:p>
          <a:p>
            <a:pPr marL="247650" indent="-247650" eaLnBrk="1" hangingPunct="1"/>
            <a:endParaRPr lang="en-US" altLang="en-US" b="1" i="1" smtClean="0">
              <a:latin typeface="Arial" panose="020B0604020202020204" pitchFamily="34" charset="0"/>
            </a:endParaRPr>
          </a:p>
        </p:txBody>
      </p:sp>
    </p:spTree>
    <p:extLst>
      <p:ext uri="{BB962C8B-B14F-4D97-AF65-F5344CB8AC3E}">
        <p14:creationId xmlns:p14="http://schemas.microsoft.com/office/powerpoint/2010/main" val="7137391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51329F1-A2A0-41D7-AE56-7F06DADCF919}" type="slidenum">
              <a:rPr lang="en-US" altLang="en-US"/>
              <a:pPr>
                <a:spcBef>
                  <a:spcPct val="0"/>
                </a:spcBef>
              </a:pPr>
              <a:t>40</a:t>
            </a:fld>
            <a:endParaRPr lang="en-US" altLang="en-US"/>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lnSpc>
                <a:spcPct val="90000"/>
              </a:lnSpc>
            </a:pPr>
            <a:r>
              <a:rPr lang="en-US" altLang="en-US" sz="900" smtClean="0">
                <a:latin typeface="Arial" panose="020B0604020202020204" pitchFamily="34" charset="0"/>
              </a:rPr>
              <a:t>All references are from All in One Book (Shon Harris, 2005)</a:t>
            </a:r>
          </a:p>
          <a:p>
            <a:pPr marL="247650" indent="-247650" eaLnBrk="1" hangingPunct="1">
              <a:lnSpc>
                <a:spcPct val="90000"/>
              </a:lnSpc>
            </a:pPr>
            <a:endParaRPr lang="en-US" altLang="en-US" sz="900" smtClean="0">
              <a:latin typeface="Arial" panose="020B0604020202020204" pitchFamily="34" charset="0"/>
            </a:endParaRPr>
          </a:p>
          <a:p>
            <a:pPr marL="247650" indent="-247650" eaLnBrk="1" hangingPunct="1">
              <a:lnSpc>
                <a:spcPct val="90000"/>
              </a:lnSpc>
            </a:pPr>
            <a:r>
              <a:rPr lang="en-US" altLang="en-US" sz="900" smtClean="0">
                <a:latin typeface="Arial" panose="020B0604020202020204" pitchFamily="34" charset="0"/>
              </a:rPr>
              <a:t>A</a:t>
            </a:r>
            <a:r>
              <a:rPr lang="en-US" altLang="en-US" sz="900" b="1" i="1" smtClean="0">
                <a:latin typeface="Arial" panose="020B0604020202020204" pitchFamily="34" charset="0"/>
              </a:rPr>
              <a:t> memory card </a:t>
            </a:r>
            <a:r>
              <a:rPr lang="en-US" altLang="en-US" sz="900" smtClean="0">
                <a:latin typeface="Arial" panose="020B0604020202020204" pitchFamily="34" charset="0"/>
              </a:rPr>
              <a:t>holds information but cannot process information. (142)</a:t>
            </a:r>
          </a:p>
          <a:p>
            <a:pPr marL="247650" indent="-247650" eaLnBrk="1" hangingPunct="1">
              <a:lnSpc>
                <a:spcPct val="90000"/>
              </a:lnSpc>
              <a:buFontTx/>
              <a:buChar char="•"/>
            </a:pPr>
            <a:r>
              <a:rPr lang="en-US" altLang="en-US" sz="900" smtClean="0">
                <a:latin typeface="Arial" panose="020B0604020202020204" pitchFamily="34" charset="0"/>
              </a:rPr>
              <a:t>Can hold the user’s authentication information, so that the user only needs to type in a user ID or PIN and present the memory card, and if the data that the user entered matches the data on the memory card, the user is successfully authenticated. (142)</a:t>
            </a:r>
          </a:p>
          <a:p>
            <a:pPr marL="247650" indent="-247650" eaLnBrk="1" hangingPunct="1">
              <a:lnSpc>
                <a:spcPct val="90000"/>
              </a:lnSpc>
              <a:buFontTx/>
              <a:buChar char="•"/>
            </a:pPr>
            <a:r>
              <a:rPr lang="en-US" altLang="en-US" sz="900" smtClean="0">
                <a:latin typeface="Arial" panose="020B0604020202020204" pitchFamily="34" charset="0"/>
              </a:rPr>
              <a:t>Example is a memory card used to enter a building, or an ATM card. (142)</a:t>
            </a:r>
          </a:p>
          <a:p>
            <a:pPr marL="247650" indent="-247650" eaLnBrk="1" hangingPunct="1">
              <a:lnSpc>
                <a:spcPct val="90000"/>
              </a:lnSpc>
              <a:buFontTx/>
              <a:buChar char="•"/>
            </a:pPr>
            <a:r>
              <a:rPr lang="en-US" altLang="en-US" sz="900" smtClean="0">
                <a:latin typeface="Arial" panose="020B0604020202020204" pitchFamily="34" charset="0"/>
              </a:rPr>
              <a:t>Memory cards can be used with computers, but they require a reader to process the information. (143)</a:t>
            </a:r>
          </a:p>
          <a:p>
            <a:pPr marL="247650" indent="-247650" eaLnBrk="1" hangingPunct="1">
              <a:lnSpc>
                <a:spcPct val="90000"/>
              </a:lnSpc>
              <a:buFontTx/>
              <a:buChar char="•"/>
            </a:pPr>
            <a:r>
              <a:rPr lang="en-US" altLang="en-US" sz="900" smtClean="0">
                <a:latin typeface="Arial" panose="020B0604020202020204" pitchFamily="34" charset="0"/>
              </a:rPr>
              <a:t>Using a memory card provides a more secure authentication method than using a password because an attacker would need to obtain the card and know the PIN. (143)</a:t>
            </a:r>
          </a:p>
          <a:p>
            <a:pPr marL="247650" indent="-247650" eaLnBrk="1" hangingPunct="1">
              <a:lnSpc>
                <a:spcPct val="90000"/>
              </a:lnSpc>
              <a:buFontTx/>
              <a:buChar char="•"/>
            </a:pPr>
            <a:endParaRPr lang="en-US" altLang="en-US" sz="900" smtClean="0">
              <a:latin typeface="Arial" panose="020B0604020202020204" pitchFamily="34" charset="0"/>
            </a:endParaRPr>
          </a:p>
          <a:p>
            <a:pPr marL="247650" indent="-247650" eaLnBrk="1" hangingPunct="1">
              <a:lnSpc>
                <a:spcPct val="90000"/>
              </a:lnSpc>
            </a:pPr>
            <a:r>
              <a:rPr lang="en-US" altLang="en-US" sz="900" smtClean="0">
                <a:latin typeface="Arial" panose="020B0604020202020204" pitchFamily="34" charset="0"/>
              </a:rPr>
              <a:t>A </a:t>
            </a:r>
            <a:r>
              <a:rPr lang="en-US" altLang="en-US" sz="900" b="1" i="1" smtClean="0">
                <a:latin typeface="Arial" panose="020B0604020202020204" pitchFamily="34" charset="0"/>
              </a:rPr>
              <a:t>smart card</a:t>
            </a:r>
            <a:r>
              <a:rPr lang="en-US" altLang="en-US" sz="900" smtClean="0">
                <a:latin typeface="Arial" panose="020B0604020202020204" pitchFamily="34" charset="0"/>
              </a:rPr>
              <a:t> holds information and has the necessary hardware and software to actually process that information. (142)</a:t>
            </a:r>
          </a:p>
          <a:p>
            <a:pPr marL="247650" indent="-247650" eaLnBrk="1" hangingPunct="1">
              <a:lnSpc>
                <a:spcPct val="90000"/>
              </a:lnSpc>
              <a:buFontTx/>
              <a:buChar char="•"/>
            </a:pPr>
            <a:r>
              <a:rPr lang="en-US" altLang="en-US" sz="900" smtClean="0">
                <a:latin typeface="Arial" panose="020B0604020202020204" pitchFamily="34" charset="0"/>
              </a:rPr>
              <a:t>Has a microprocessor and integrated circuits incorporated into the card itself. (143)</a:t>
            </a:r>
          </a:p>
          <a:p>
            <a:pPr marL="247650" indent="-247650" eaLnBrk="1" hangingPunct="1">
              <a:lnSpc>
                <a:spcPct val="90000"/>
              </a:lnSpc>
              <a:buFontTx/>
              <a:buChar char="•"/>
            </a:pPr>
            <a:r>
              <a:rPr lang="en-US" altLang="en-US" sz="900" smtClean="0">
                <a:latin typeface="Arial" panose="020B0604020202020204" pitchFamily="34" charset="0"/>
              </a:rPr>
              <a:t>Two general categories of smart card:</a:t>
            </a:r>
            <a:endParaRPr lang="en-US" altLang="en-US" sz="900" b="1" i="1" smtClean="0">
              <a:latin typeface="Arial" panose="020B0604020202020204" pitchFamily="34" charset="0"/>
            </a:endParaRPr>
          </a:p>
          <a:p>
            <a:pPr marL="1162050" lvl="2" indent="-247650" eaLnBrk="1" hangingPunct="1">
              <a:lnSpc>
                <a:spcPct val="90000"/>
              </a:lnSpc>
              <a:buFontTx/>
              <a:buChar char="•"/>
            </a:pPr>
            <a:r>
              <a:rPr lang="en-US" altLang="en-US" sz="900" b="1" i="1" smtClean="0">
                <a:latin typeface="Arial" panose="020B0604020202020204" pitchFamily="34" charset="0"/>
              </a:rPr>
              <a:t>Contact</a:t>
            </a:r>
            <a:r>
              <a:rPr lang="en-US" altLang="en-US" sz="900" smtClean="0">
                <a:latin typeface="Arial" panose="020B0604020202020204" pitchFamily="34" charset="0"/>
              </a:rPr>
              <a:t>:  Has a gold seal on the face of the card.  When the card is fully inserted into a card reader, electrical fingers wipe against the card in the exact position that the chip contacts are located.  This will supply power and the data I/O to the chip for authentication purposes. (143)</a:t>
            </a:r>
          </a:p>
          <a:p>
            <a:pPr marL="1162050" lvl="2" indent="-247650" eaLnBrk="1" hangingPunct="1">
              <a:lnSpc>
                <a:spcPct val="90000"/>
              </a:lnSpc>
              <a:buFontTx/>
              <a:buChar char="•"/>
            </a:pPr>
            <a:r>
              <a:rPr lang="en-US" altLang="en-US" sz="900" b="1" i="1" smtClean="0">
                <a:latin typeface="Arial" panose="020B0604020202020204" pitchFamily="34" charset="0"/>
              </a:rPr>
              <a:t>Contactless</a:t>
            </a:r>
            <a:r>
              <a:rPr lang="en-US" altLang="en-US" sz="900" smtClean="0">
                <a:latin typeface="Arial" panose="020B0604020202020204" pitchFamily="34" charset="0"/>
              </a:rPr>
              <a:t>:  Has an antenna wire that surrounds the perimeter of the card.  When this card comes within an electromagnetic filed of the reader, the antenna within the card generates enough energy to power the internal chip. (143)</a:t>
            </a:r>
          </a:p>
          <a:p>
            <a:pPr marL="2076450" lvl="4" indent="-247650" eaLnBrk="1" hangingPunct="1">
              <a:lnSpc>
                <a:spcPct val="90000"/>
              </a:lnSpc>
              <a:buFontTx/>
              <a:buChar char="•"/>
            </a:pPr>
            <a:r>
              <a:rPr lang="en-US" altLang="en-US" sz="900" smtClean="0">
                <a:latin typeface="Arial" panose="020B0604020202020204" pitchFamily="34" charset="0"/>
              </a:rPr>
              <a:t>Two types of contactless smart cards:  hybrid and combi.  The </a:t>
            </a:r>
            <a:r>
              <a:rPr lang="en-US" altLang="en-US" sz="900" b="1" i="1" smtClean="0">
                <a:latin typeface="Arial" panose="020B0604020202020204" pitchFamily="34" charset="0"/>
              </a:rPr>
              <a:t>hybrid</a:t>
            </a:r>
            <a:r>
              <a:rPr lang="en-US" altLang="en-US" sz="900" smtClean="0">
                <a:latin typeface="Arial" panose="020B0604020202020204" pitchFamily="34" charset="0"/>
              </a:rPr>
              <a:t> card has two chips, with the capability of utilizing both the contact and contactless formats.  A </a:t>
            </a:r>
            <a:r>
              <a:rPr lang="en-US" altLang="en-US" sz="900" b="1" i="1" smtClean="0">
                <a:latin typeface="Arial" panose="020B0604020202020204" pitchFamily="34" charset="0"/>
              </a:rPr>
              <a:t>combi</a:t>
            </a:r>
            <a:r>
              <a:rPr lang="en-US" altLang="en-US" sz="900" smtClean="0">
                <a:latin typeface="Arial" panose="020B0604020202020204" pitchFamily="34" charset="0"/>
              </a:rPr>
              <a:t> card has one microprocessor child that can communicate to contact or contactless readers. (144)</a:t>
            </a:r>
          </a:p>
          <a:p>
            <a:pPr marL="247650" indent="-247650" eaLnBrk="1" hangingPunct="1">
              <a:lnSpc>
                <a:spcPct val="90000"/>
              </a:lnSpc>
            </a:pPr>
            <a:endParaRPr lang="en-US" altLang="en-US" sz="900" smtClean="0">
              <a:latin typeface="Arial" panose="020B0604020202020204" pitchFamily="34" charset="0"/>
            </a:endParaRPr>
          </a:p>
        </p:txBody>
      </p:sp>
    </p:spTree>
    <p:extLst>
      <p:ext uri="{BB962C8B-B14F-4D97-AF65-F5344CB8AC3E}">
        <p14:creationId xmlns:p14="http://schemas.microsoft.com/office/powerpoint/2010/main" val="392464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2968DF4-E53A-4E6D-A23E-6228A06AF09E}" type="slidenum">
              <a:rPr lang="en-US" altLang="en-US"/>
              <a:pPr>
                <a:spcBef>
                  <a:spcPct val="0"/>
                </a:spcBef>
              </a:pPr>
              <a:t>41</a:t>
            </a:fld>
            <a:endParaRPr lang="en-US" altLang="en-US"/>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r>
              <a:rPr lang="en-US" altLang="en-US" sz="1000" smtClean="0">
                <a:latin typeface="Arial" panose="020B0604020202020204" pitchFamily="34" charset="0"/>
              </a:rPr>
              <a:t>All references are from All in One Book (Shon Harris, 2005)</a:t>
            </a:r>
          </a:p>
          <a:p>
            <a:pPr marL="247650" indent="-247650" eaLnBrk="1" hangingPunct="1"/>
            <a:endParaRPr lang="en-US" altLang="en-US" sz="1000" smtClean="0">
              <a:latin typeface="Arial" panose="020B0604020202020204" pitchFamily="34" charset="0"/>
            </a:endParaRPr>
          </a:p>
          <a:p>
            <a:pPr marL="247650" indent="-247650" eaLnBrk="1" hangingPunct="1"/>
            <a:r>
              <a:rPr lang="en-US" altLang="en-US" sz="1000" smtClean="0">
                <a:latin typeface="Arial" panose="020B0604020202020204" pitchFamily="34" charset="0"/>
              </a:rPr>
              <a:t>Fault generation:  The introduction of computational errors into smart cards with the goal of uncovering encryption keys that are being used and stored on the smart cards.  Errors are introduced by manipulating an environmental component of the card (changing input voltage, clock rate, temperature fluctuations).</a:t>
            </a:r>
          </a:p>
          <a:p>
            <a:pPr marL="247650" indent="-247650" eaLnBrk="1" hangingPunct="1"/>
            <a:endParaRPr lang="en-US" altLang="en-US" sz="1000" smtClean="0">
              <a:latin typeface="Arial" panose="020B0604020202020204" pitchFamily="34" charset="0"/>
            </a:endParaRPr>
          </a:p>
          <a:p>
            <a:pPr marL="247650" indent="-247650" eaLnBrk="1" hangingPunct="1"/>
            <a:r>
              <a:rPr lang="en-US" altLang="en-US" sz="1000" smtClean="0">
                <a:latin typeface="Arial" panose="020B0604020202020204" pitchFamily="34" charset="0"/>
              </a:rPr>
              <a:t>Microprobing:  Intrusive attack.  Uses needles to remove the outer protective material on the card’s circuits, by using ultrasonic vibration.  Once this is completed, then the data can be accessed and manipulated by directly tapping into the card’s ROM chips. (145)</a:t>
            </a:r>
          </a:p>
          <a:p>
            <a:pPr marL="247650" indent="-247650" eaLnBrk="1" hangingPunct="1"/>
            <a:endParaRPr lang="en-US" altLang="en-US" sz="1000" smtClean="0">
              <a:latin typeface="Arial" panose="020B0604020202020204" pitchFamily="34" charset="0"/>
            </a:endParaRPr>
          </a:p>
          <a:p>
            <a:pPr marL="247650" indent="-247650" eaLnBrk="1" hangingPunct="1"/>
            <a:r>
              <a:rPr lang="en-US" altLang="en-US" sz="1000" smtClean="0">
                <a:latin typeface="Arial" panose="020B0604020202020204" pitchFamily="34" charset="0"/>
              </a:rPr>
              <a:t>Side Channel Attacks:  Nonintrusive and are used to uncover sensitive information about how a component works without trying to compromise any type of flaw or weakness. (144)  Some examples:</a:t>
            </a:r>
          </a:p>
          <a:p>
            <a:pPr marL="247650" indent="-247650" eaLnBrk="1" hangingPunct="1">
              <a:buFontTx/>
              <a:buChar char="•"/>
            </a:pPr>
            <a:r>
              <a:rPr lang="en-US" altLang="en-US" sz="1000" smtClean="0">
                <a:latin typeface="Arial" panose="020B0604020202020204" pitchFamily="34" charset="0"/>
              </a:rPr>
              <a:t>Differential Power Analysis:  Examining the power emissions that are released during processing (144)</a:t>
            </a:r>
          </a:p>
          <a:p>
            <a:pPr marL="247650" indent="-247650" eaLnBrk="1" hangingPunct="1">
              <a:buFontTx/>
              <a:buChar char="•"/>
            </a:pPr>
            <a:r>
              <a:rPr lang="en-US" altLang="en-US" sz="1000" smtClean="0">
                <a:latin typeface="Arial" panose="020B0604020202020204" pitchFamily="34" charset="0"/>
              </a:rPr>
              <a:t>Electromagnetic Analysis:  Examining the frequencies that are emitted (145)</a:t>
            </a:r>
          </a:p>
          <a:p>
            <a:pPr marL="247650" indent="-247650" eaLnBrk="1" hangingPunct="1">
              <a:buFontTx/>
              <a:buChar char="•"/>
            </a:pPr>
            <a:r>
              <a:rPr lang="en-US" altLang="en-US" sz="1000" smtClean="0">
                <a:latin typeface="Arial" panose="020B0604020202020204" pitchFamily="34" charset="0"/>
              </a:rPr>
              <a:t>Timing:  How long a specific process takes to complete. (145)</a:t>
            </a:r>
          </a:p>
          <a:p>
            <a:pPr marL="247650" indent="-247650" eaLnBrk="1" hangingPunct="1">
              <a:buFontTx/>
              <a:buChar char="•"/>
            </a:pPr>
            <a:r>
              <a:rPr lang="en-US" altLang="en-US" sz="1000" smtClean="0">
                <a:latin typeface="Arial" panose="020B0604020202020204" pitchFamily="34" charset="0"/>
              </a:rPr>
              <a:t>Software attacks are also considered noninvasive attacks. (145)</a:t>
            </a:r>
          </a:p>
          <a:p>
            <a:pPr marL="247650" indent="-247650" eaLnBrk="1" hangingPunct="1"/>
            <a:endParaRPr lang="en-US" altLang="en-US" sz="1000" smtClean="0">
              <a:latin typeface="Arial" panose="020B0604020202020204" pitchFamily="34" charset="0"/>
            </a:endParaRPr>
          </a:p>
        </p:txBody>
      </p:sp>
    </p:spTree>
    <p:extLst>
      <p:ext uri="{BB962C8B-B14F-4D97-AF65-F5344CB8AC3E}">
        <p14:creationId xmlns:p14="http://schemas.microsoft.com/office/powerpoint/2010/main" val="23235664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749EA7A-BCED-4A5E-94B4-CA2F58DE7293}" type="slidenum">
              <a:rPr lang="en-US" altLang="en-US"/>
              <a:pPr>
                <a:spcBef>
                  <a:spcPct val="0"/>
                </a:spcBef>
              </a:pPr>
              <a:t>42</a:t>
            </a:fld>
            <a:endParaRPr lang="en-US" altLang="en-US"/>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lnSpc>
                <a:spcPct val="90000"/>
              </a:lnSpc>
            </a:pPr>
            <a:r>
              <a:rPr lang="en-US" altLang="en-US" sz="1000" smtClean="0">
                <a:latin typeface="Arial" panose="020B0604020202020204" pitchFamily="34" charset="0"/>
              </a:rPr>
              <a:t>All references are from All in One Book (Shon Harris, 2005)</a:t>
            </a:r>
          </a:p>
          <a:p>
            <a:pPr marL="247650" indent="-247650" eaLnBrk="1" hangingPunct="1">
              <a:lnSpc>
                <a:spcPct val="90000"/>
              </a:lnSpc>
            </a:pPr>
            <a:endParaRPr lang="en-US" altLang="en-US" sz="1000" smtClean="0">
              <a:latin typeface="Arial" panose="020B0604020202020204" pitchFamily="34" charset="0"/>
            </a:endParaRPr>
          </a:p>
          <a:p>
            <a:pPr marL="247650" indent="-247650" eaLnBrk="1" hangingPunct="1">
              <a:lnSpc>
                <a:spcPct val="90000"/>
              </a:lnSpc>
            </a:pPr>
            <a:r>
              <a:rPr lang="en-US" altLang="en-US" sz="1000" smtClean="0">
                <a:latin typeface="Arial" panose="020B0604020202020204" pitchFamily="34" charset="0"/>
              </a:rPr>
              <a:t>Most systems hash the password with a hashing algorithm, commonly MD4 or MD5, to ensure that passwords are not sent in cleartext. (137)</a:t>
            </a:r>
          </a:p>
          <a:p>
            <a:pPr marL="247650" indent="-247650" eaLnBrk="1" hangingPunct="1">
              <a:lnSpc>
                <a:spcPct val="90000"/>
              </a:lnSpc>
            </a:pPr>
            <a:endParaRPr lang="en-US" altLang="en-US" sz="1000" smtClean="0">
              <a:latin typeface="Arial" panose="020B0604020202020204" pitchFamily="34" charset="0"/>
            </a:endParaRPr>
          </a:p>
          <a:p>
            <a:pPr marL="247650" indent="-247650" eaLnBrk="1" hangingPunct="1">
              <a:lnSpc>
                <a:spcPct val="90000"/>
              </a:lnSpc>
            </a:pPr>
            <a:r>
              <a:rPr lang="en-US" altLang="en-US" sz="1000" b="1" i="1" smtClean="0">
                <a:latin typeface="Arial" panose="020B0604020202020204" pitchFamily="34" charset="0"/>
              </a:rPr>
              <a:t>Salts</a:t>
            </a:r>
            <a:r>
              <a:rPr lang="en-US" altLang="en-US" sz="1000" smtClean="0">
                <a:latin typeface="Arial" panose="020B0604020202020204" pitchFamily="34" charset="0"/>
              </a:rPr>
              <a:t>:  Random values that are added to the encryption process to add more complexity.  (The more randomness entered into the encryption process, the hard it is to decrypt and uncover the password.) (138)</a:t>
            </a:r>
          </a:p>
          <a:p>
            <a:pPr marL="247650" indent="-247650" eaLnBrk="1" hangingPunct="1">
              <a:lnSpc>
                <a:spcPct val="90000"/>
              </a:lnSpc>
              <a:buFontTx/>
              <a:buChar char="•"/>
            </a:pPr>
            <a:r>
              <a:rPr lang="en-US" altLang="en-US" sz="1000" smtClean="0">
                <a:latin typeface="Arial" panose="020B0604020202020204" pitchFamily="34" charset="0"/>
              </a:rPr>
              <a:t>The use of a salt means that the same password can be encrypted into 4096 different formats, which makes it much more difficult for an attacker to uncover the right format for the target system. (138)-</a:t>
            </a:r>
          </a:p>
          <a:p>
            <a:pPr marL="247650" indent="-247650" eaLnBrk="1" hangingPunct="1">
              <a:lnSpc>
                <a:spcPct val="90000"/>
              </a:lnSpc>
            </a:pPr>
            <a:endParaRPr lang="en-US" altLang="en-US" sz="1000" smtClean="0">
              <a:latin typeface="Arial" panose="020B0604020202020204" pitchFamily="34" charset="0"/>
            </a:endParaRPr>
          </a:p>
        </p:txBody>
      </p:sp>
    </p:spTree>
    <p:extLst>
      <p:ext uri="{BB962C8B-B14F-4D97-AF65-F5344CB8AC3E}">
        <p14:creationId xmlns:p14="http://schemas.microsoft.com/office/powerpoint/2010/main" val="32972038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8C331A4-93EC-440B-8694-13E025333F91}" type="slidenum">
              <a:rPr lang="en-US" altLang="en-US"/>
              <a:pPr>
                <a:spcBef>
                  <a:spcPct val="0"/>
                </a:spcBef>
              </a:pPr>
              <a:t>43</a:t>
            </a:fld>
            <a:endParaRPr lang="en-US" altLang="en-US"/>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lnSpc>
                <a:spcPct val="90000"/>
              </a:lnSpc>
            </a:pPr>
            <a:r>
              <a:rPr lang="en-US" altLang="en-US" smtClean="0">
                <a:latin typeface="Arial" panose="020B0604020202020204" pitchFamily="34" charset="0"/>
              </a:rPr>
              <a:t>All references are from All in One Book (Shon Harris, 2005)</a:t>
            </a:r>
          </a:p>
          <a:p>
            <a:pPr marL="247650" indent="-247650" eaLnBrk="1" hangingPunct="1">
              <a:lnSpc>
                <a:spcPct val="90000"/>
              </a:lnSpc>
            </a:pPr>
            <a:endParaRPr lang="en-US" altLang="en-US" smtClean="0">
              <a:latin typeface="Arial" panose="020B0604020202020204" pitchFamily="34" charset="0"/>
            </a:endParaRPr>
          </a:p>
          <a:p>
            <a:pPr marL="247650" indent="-247650" eaLnBrk="1" hangingPunct="1">
              <a:lnSpc>
                <a:spcPct val="90000"/>
              </a:lnSpc>
            </a:pPr>
            <a:r>
              <a:rPr lang="en-US" altLang="en-US" smtClean="0">
                <a:latin typeface="Arial" panose="020B0604020202020204" pitchFamily="34" charset="0"/>
              </a:rPr>
              <a:t>Cryptographic keys:  Another way to provide one’s identity is to use a private key or generate a digital signature.  A private key or digital signature could be used in place of using a password. (141)</a:t>
            </a:r>
          </a:p>
          <a:p>
            <a:pPr marL="247650" indent="-247650" eaLnBrk="1" hangingPunct="1">
              <a:lnSpc>
                <a:spcPct val="90000"/>
              </a:lnSpc>
            </a:pPr>
            <a:r>
              <a:rPr lang="en-US" altLang="en-US" smtClean="0">
                <a:latin typeface="Arial" panose="020B0604020202020204" pitchFamily="34" charset="0"/>
              </a:rPr>
              <a:t>Private keys and digital signatures are forms of authentication used in environments that require higher security protection than what is provided by a password. (142)</a:t>
            </a:r>
          </a:p>
          <a:p>
            <a:pPr marL="247650" indent="-247650" eaLnBrk="1" hangingPunct="1">
              <a:lnSpc>
                <a:spcPct val="90000"/>
              </a:lnSpc>
            </a:pPr>
            <a:endParaRPr lang="en-US" altLang="en-US" smtClean="0">
              <a:latin typeface="Arial" panose="020B0604020202020204" pitchFamily="34" charset="0"/>
            </a:endParaRPr>
          </a:p>
          <a:p>
            <a:pPr marL="247650" indent="-247650" eaLnBrk="1" hangingPunct="1">
              <a:lnSpc>
                <a:spcPct val="90000"/>
              </a:lnSpc>
            </a:pPr>
            <a:r>
              <a:rPr lang="en-US" altLang="en-US" smtClean="0">
                <a:latin typeface="Arial" panose="020B0604020202020204" pitchFamily="34" charset="0"/>
              </a:rPr>
              <a:t>A </a:t>
            </a:r>
            <a:r>
              <a:rPr lang="en-US" altLang="en-US" b="1" i="1" smtClean="0">
                <a:latin typeface="Arial" panose="020B0604020202020204" pitchFamily="34" charset="0"/>
              </a:rPr>
              <a:t>private key</a:t>
            </a:r>
            <a:r>
              <a:rPr lang="en-US" altLang="en-US" smtClean="0">
                <a:latin typeface="Arial" panose="020B0604020202020204" pitchFamily="34" charset="0"/>
              </a:rPr>
              <a:t> is a secret value that should be in the possession of one person, and one person only.  It should never be disclosed to an outside party. (142)</a:t>
            </a:r>
          </a:p>
          <a:p>
            <a:pPr marL="247650" indent="-247650" eaLnBrk="1" hangingPunct="1">
              <a:lnSpc>
                <a:spcPct val="90000"/>
              </a:lnSpc>
            </a:pPr>
            <a:endParaRPr lang="en-US" altLang="en-US" smtClean="0">
              <a:latin typeface="Arial" panose="020B0604020202020204" pitchFamily="34" charset="0"/>
            </a:endParaRPr>
          </a:p>
          <a:p>
            <a:pPr marL="247650" indent="-247650" eaLnBrk="1" hangingPunct="1">
              <a:lnSpc>
                <a:spcPct val="90000"/>
              </a:lnSpc>
            </a:pPr>
            <a:r>
              <a:rPr lang="en-US" altLang="en-US" smtClean="0">
                <a:latin typeface="Arial" panose="020B0604020202020204" pitchFamily="34" charset="0"/>
              </a:rPr>
              <a:t>A </a:t>
            </a:r>
            <a:r>
              <a:rPr lang="en-US" altLang="en-US" b="1" i="1" smtClean="0">
                <a:latin typeface="Arial" panose="020B0604020202020204" pitchFamily="34" charset="0"/>
              </a:rPr>
              <a:t>digital signature </a:t>
            </a:r>
            <a:r>
              <a:rPr lang="en-US" altLang="en-US" smtClean="0">
                <a:latin typeface="Arial" panose="020B0604020202020204" pitchFamily="34" charset="0"/>
              </a:rPr>
              <a:t>is a technology that uses a private key to encrypt a hash value (message digest).  The act of encrypting this hash value with a private key is called digitally signing a message.  A digital signature attached to a message proves that the message originated from a specific source and that the message itself was not changed in transit. (142)</a:t>
            </a:r>
          </a:p>
          <a:p>
            <a:pPr marL="247650" indent="-247650" eaLnBrk="1" hangingPunct="1">
              <a:lnSpc>
                <a:spcPct val="90000"/>
              </a:lnSpc>
            </a:pPr>
            <a:endParaRPr lang="en-US" altLang="en-US" smtClean="0">
              <a:latin typeface="Arial" panose="020B0604020202020204" pitchFamily="34" charset="0"/>
            </a:endParaRPr>
          </a:p>
          <a:p>
            <a:pPr marL="247650" indent="-247650" eaLnBrk="1" hangingPunct="1">
              <a:lnSpc>
                <a:spcPct val="90000"/>
              </a:lnSpc>
            </a:pPr>
            <a:r>
              <a:rPr lang="en-US" altLang="en-US" smtClean="0">
                <a:latin typeface="Arial" panose="020B0604020202020204" pitchFamily="34" charset="0"/>
              </a:rPr>
              <a:t>Digitized signature:  Just an electronic form of a person’s written signature, NOT an authentication mechanism.</a:t>
            </a:r>
          </a:p>
        </p:txBody>
      </p:sp>
    </p:spTree>
    <p:extLst>
      <p:ext uri="{BB962C8B-B14F-4D97-AF65-F5344CB8AC3E}">
        <p14:creationId xmlns:p14="http://schemas.microsoft.com/office/powerpoint/2010/main" val="16560845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8FD1536-0C06-4988-BA21-0C68EF897B55}" type="slidenum">
              <a:rPr lang="en-US" altLang="en-US"/>
              <a:pPr>
                <a:spcBef>
                  <a:spcPct val="0"/>
                </a:spcBef>
              </a:pPr>
              <a:t>44</a:t>
            </a:fld>
            <a:endParaRPr lang="en-US" altLang="en-US"/>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r>
              <a:rPr lang="en-US" altLang="en-US" smtClean="0">
                <a:latin typeface="Arial" panose="020B0604020202020204" pitchFamily="34" charset="0"/>
              </a:rPr>
              <a:t>All references are from All in One Book (Shon Harris, 2005)</a:t>
            </a:r>
          </a:p>
          <a:p>
            <a:pPr marL="247650" indent="-247650" eaLnBrk="1" hangingPunct="1"/>
            <a:endParaRPr lang="en-US" altLang="en-US" smtClean="0">
              <a:latin typeface="Arial" panose="020B0604020202020204" pitchFamily="34" charset="0"/>
            </a:endParaRPr>
          </a:p>
          <a:p>
            <a:pPr marL="247650" indent="-247650" eaLnBrk="1" hangingPunct="1"/>
            <a:r>
              <a:rPr lang="en-US" altLang="en-US" smtClean="0">
                <a:latin typeface="Arial" panose="020B0604020202020204" pitchFamily="34" charset="0"/>
              </a:rPr>
              <a:t>Is a core component of every operating system and established whether a user is authorized to access a particular resource and what actions he is permitted to perform on the resource. (146)</a:t>
            </a:r>
          </a:p>
          <a:p>
            <a:pPr marL="247650" indent="-247650" eaLnBrk="1" hangingPunct="1"/>
            <a:endParaRPr lang="en-US" altLang="en-US" smtClean="0">
              <a:latin typeface="Arial" panose="020B0604020202020204" pitchFamily="34" charset="0"/>
            </a:endParaRPr>
          </a:p>
          <a:p>
            <a:pPr marL="247650" indent="-247650" eaLnBrk="1" hangingPunct="1"/>
            <a:r>
              <a:rPr lang="en-US" altLang="en-US" smtClean="0">
                <a:latin typeface="Arial" panose="020B0604020202020204" pitchFamily="34" charset="0"/>
              </a:rPr>
              <a:t>Granting access rights to subjects should be based on the level of trust a company has in a subject and the subject’s need to know. (146)</a:t>
            </a:r>
          </a:p>
        </p:txBody>
      </p:sp>
    </p:spTree>
    <p:extLst>
      <p:ext uri="{BB962C8B-B14F-4D97-AF65-F5344CB8AC3E}">
        <p14:creationId xmlns:p14="http://schemas.microsoft.com/office/powerpoint/2010/main" val="8002832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494D749-2949-4C3E-AF41-575EE86B072B}" type="slidenum">
              <a:rPr lang="en-US" altLang="en-US"/>
              <a:pPr>
                <a:spcBef>
                  <a:spcPct val="0"/>
                </a:spcBef>
              </a:pPr>
              <a:t>45</a:t>
            </a:fld>
            <a:endParaRPr lang="en-US" altLang="en-US"/>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r>
              <a:rPr lang="en-US" altLang="en-US" smtClean="0">
                <a:latin typeface="Arial" panose="020B0604020202020204" pitchFamily="34" charset="0"/>
              </a:rPr>
              <a:t>All references are from All in One Book (Shon Harris, 2005)</a:t>
            </a:r>
          </a:p>
          <a:p>
            <a:pPr marL="247650" indent="-247650" eaLnBrk="1" hangingPunct="1"/>
            <a:endParaRPr lang="en-US" altLang="en-US" smtClean="0">
              <a:latin typeface="Arial" panose="020B0604020202020204" pitchFamily="34" charset="0"/>
            </a:endParaRPr>
          </a:p>
          <a:p>
            <a:pPr marL="247650" indent="-247650" eaLnBrk="1" hangingPunct="1"/>
            <a:r>
              <a:rPr lang="en-US" altLang="en-US" smtClean="0">
                <a:latin typeface="Arial" panose="020B0604020202020204" pitchFamily="34" charset="0"/>
              </a:rPr>
              <a:t>Access criteria can be broken up into: (147)</a:t>
            </a:r>
          </a:p>
          <a:p>
            <a:pPr marL="247650" indent="-247650" eaLnBrk="1" hangingPunct="1"/>
            <a:r>
              <a:rPr lang="en-US" altLang="en-US" u="sng" smtClean="0">
                <a:latin typeface="Arial" panose="020B0604020202020204" pitchFamily="34" charset="0"/>
              </a:rPr>
              <a:t>Roles</a:t>
            </a:r>
            <a:r>
              <a:rPr lang="en-US" altLang="en-US" smtClean="0">
                <a:latin typeface="Arial" panose="020B0604020202020204" pitchFamily="34" charset="0"/>
              </a:rPr>
              <a:t>:  Is an efficient way to assign rights to a type of user who performs a certain task.  This role can be based on job assignment or function. (147)</a:t>
            </a:r>
          </a:p>
          <a:p>
            <a:pPr marL="247650" indent="-247650" eaLnBrk="1" hangingPunct="1"/>
            <a:r>
              <a:rPr lang="en-US" altLang="en-US" u="sng" smtClean="0">
                <a:latin typeface="Arial" panose="020B0604020202020204" pitchFamily="34" charset="0"/>
              </a:rPr>
              <a:t>Groups</a:t>
            </a:r>
            <a:r>
              <a:rPr lang="en-US" altLang="en-US" smtClean="0">
                <a:latin typeface="Arial" panose="020B0604020202020204" pitchFamily="34" charset="0"/>
              </a:rPr>
              <a:t>:  Is an effective way to assign access control rights.  If several users require the same type of access to information and resources, putting them into a group and then assigning rights and permissions to that group is easier to manage then assigning rights and permissions to every individual. (147)</a:t>
            </a:r>
          </a:p>
          <a:p>
            <a:pPr marL="247650" indent="-247650" eaLnBrk="1" hangingPunct="1"/>
            <a:r>
              <a:rPr lang="en-US" altLang="en-US" u="sng" smtClean="0">
                <a:latin typeface="Arial" panose="020B0604020202020204" pitchFamily="34" charset="0"/>
              </a:rPr>
              <a:t>Location</a:t>
            </a:r>
            <a:r>
              <a:rPr lang="en-US" altLang="en-US" smtClean="0">
                <a:latin typeface="Arial" panose="020B0604020202020204" pitchFamily="34" charset="0"/>
              </a:rPr>
              <a:t> (physical or logical):  Can be used to restrict access to resources.  Is implemented on several server configurations to restrict unauthorized individuals from being able to get in and reconfigure the server remotely.  Usually done through network address restrictions.  (147)</a:t>
            </a:r>
          </a:p>
          <a:p>
            <a:pPr marL="247650" indent="-247650" eaLnBrk="1" hangingPunct="1"/>
            <a:r>
              <a:rPr lang="en-US" altLang="en-US" u="sng" smtClean="0">
                <a:latin typeface="Arial" panose="020B0604020202020204" pitchFamily="34" charset="0"/>
              </a:rPr>
              <a:t>Time</a:t>
            </a:r>
            <a:r>
              <a:rPr lang="en-US" altLang="en-US" smtClean="0">
                <a:latin typeface="Arial" panose="020B0604020202020204" pitchFamily="34" charset="0"/>
              </a:rPr>
              <a:t> (temporal isolation):  Restrict the times that certain actions or services can be accessed. (147)</a:t>
            </a:r>
          </a:p>
          <a:p>
            <a:pPr marL="247650" indent="-247650" eaLnBrk="1" hangingPunct="1"/>
            <a:r>
              <a:rPr lang="en-US" altLang="en-US" u="sng" smtClean="0">
                <a:latin typeface="Arial" panose="020B0604020202020204" pitchFamily="34" charset="0"/>
              </a:rPr>
              <a:t>Transaction types:</a:t>
            </a:r>
            <a:r>
              <a:rPr lang="en-US" altLang="en-US" smtClean="0">
                <a:latin typeface="Arial" panose="020B0604020202020204" pitchFamily="34" charset="0"/>
              </a:rPr>
              <a:t>  Can be used to control what data is accessed during certain types of functions and what commands can be carried out on the data. (147)</a:t>
            </a:r>
          </a:p>
        </p:txBody>
      </p:sp>
    </p:spTree>
    <p:extLst>
      <p:ext uri="{BB962C8B-B14F-4D97-AF65-F5344CB8AC3E}">
        <p14:creationId xmlns:p14="http://schemas.microsoft.com/office/powerpoint/2010/main" val="23202572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D3AE26C-072B-4CF3-95EE-FE01243401D1}" type="slidenum">
              <a:rPr lang="en-US" altLang="en-US"/>
              <a:pPr>
                <a:spcBef>
                  <a:spcPct val="0"/>
                </a:spcBef>
              </a:pPr>
              <a:t>46</a:t>
            </a:fld>
            <a:endParaRPr lang="en-US"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r>
              <a:rPr lang="en-US" altLang="en-US" smtClean="0">
                <a:latin typeface="Arial" panose="020B0604020202020204" pitchFamily="34" charset="0"/>
              </a:rPr>
              <a:t>All references are from All in One Book (Shon Harris, 2005)</a:t>
            </a:r>
          </a:p>
          <a:p>
            <a:pPr marL="247650" indent="-247650" eaLnBrk="1" hangingPunct="1"/>
            <a:endParaRPr lang="en-US" altLang="en-US" b="1" i="1" smtClean="0">
              <a:latin typeface="Arial" panose="020B0604020202020204" pitchFamily="34" charset="0"/>
            </a:endParaRPr>
          </a:p>
          <a:p>
            <a:pPr marL="247650" indent="-247650" eaLnBrk="1" hangingPunct="1"/>
            <a:r>
              <a:rPr lang="en-US" altLang="en-US" b="1" i="1" smtClean="0">
                <a:latin typeface="Arial" panose="020B0604020202020204" pitchFamily="34" charset="0"/>
              </a:rPr>
              <a:t>Authorization Creep</a:t>
            </a:r>
            <a:r>
              <a:rPr lang="en-US" altLang="en-US" smtClean="0">
                <a:latin typeface="Arial" panose="020B0604020202020204" pitchFamily="34" charset="0"/>
              </a:rPr>
              <a:t>:  When an employee works for a company over time and moves from one department to another and assigned new access rights and permissions without the old permissions being reviewed and removed. (148)</a:t>
            </a:r>
          </a:p>
          <a:p>
            <a:pPr marL="247650" indent="-247650" eaLnBrk="1" hangingPunct="1"/>
            <a:endParaRPr lang="en-US" altLang="en-US" smtClean="0">
              <a:latin typeface="Arial" panose="020B0604020202020204" pitchFamily="34" charset="0"/>
            </a:endParaRPr>
          </a:p>
          <a:p>
            <a:pPr marL="247650" indent="-247650" eaLnBrk="1" hangingPunct="1"/>
            <a:r>
              <a:rPr lang="en-US" altLang="en-US" smtClean="0">
                <a:latin typeface="Arial" panose="020B0604020202020204" pitchFamily="34" charset="0"/>
              </a:rPr>
              <a:t>Default to Zero:  All access controls should be based on the concept of starting with zero access and then building on top of that. (148)</a:t>
            </a:r>
            <a:endParaRPr lang="en-US" altLang="en-US" b="1" i="1" smtClean="0">
              <a:latin typeface="Arial" panose="020B0604020202020204" pitchFamily="34" charset="0"/>
            </a:endParaRPr>
          </a:p>
          <a:p>
            <a:pPr marL="247650" indent="-247650" eaLnBrk="1" hangingPunct="1"/>
            <a:endParaRPr lang="en-US" altLang="en-US" b="1" i="1" smtClean="0">
              <a:latin typeface="Arial" panose="020B0604020202020204" pitchFamily="34" charset="0"/>
            </a:endParaRPr>
          </a:p>
          <a:p>
            <a:pPr marL="247650" indent="-247650" eaLnBrk="1" hangingPunct="1"/>
            <a:r>
              <a:rPr lang="en-US" altLang="en-US" b="1" i="1" smtClean="0">
                <a:latin typeface="Arial" panose="020B0604020202020204" pitchFamily="34" charset="0"/>
              </a:rPr>
              <a:t>Access Control Lists (ACLs)</a:t>
            </a:r>
            <a:r>
              <a:rPr lang="en-US" altLang="en-US" smtClean="0">
                <a:latin typeface="Arial" panose="020B0604020202020204" pitchFamily="34" charset="0"/>
              </a:rPr>
              <a:t>: A list of subjects that are authorized to access a particular object.  Typically, the types of access are read, write, execute, append, modify, delete, and create. (953)</a:t>
            </a:r>
            <a:endParaRPr lang="en-US" altLang="en-US" b="1" i="1" smtClean="0">
              <a:latin typeface="Arial" panose="020B0604020202020204" pitchFamily="34" charset="0"/>
            </a:endParaRPr>
          </a:p>
          <a:p>
            <a:pPr marL="247650" indent="-247650" eaLnBrk="1" hangingPunct="1"/>
            <a:endParaRPr lang="en-US" altLang="en-US" b="1" i="1" smtClean="0">
              <a:latin typeface="Arial" panose="020B0604020202020204" pitchFamily="34" charset="0"/>
            </a:endParaRPr>
          </a:p>
          <a:p>
            <a:pPr marL="247650" indent="-247650" eaLnBrk="1" hangingPunct="1"/>
            <a:r>
              <a:rPr lang="en-US" altLang="en-US" b="1" i="1" smtClean="0">
                <a:latin typeface="Arial" panose="020B0604020202020204" pitchFamily="34" charset="0"/>
              </a:rPr>
              <a:t>Need to know principle</a:t>
            </a:r>
            <a:r>
              <a:rPr lang="en-US" altLang="en-US" smtClean="0">
                <a:latin typeface="Arial" panose="020B0604020202020204" pitchFamily="34" charset="0"/>
              </a:rPr>
              <a:t>:  Is similar to the lease privilege principle.  It is based on the concept that individuals should be given access only to the information that they absolutely require in order to complete their job duties. (148)</a:t>
            </a:r>
          </a:p>
        </p:txBody>
      </p:sp>
    </p:spTree>
    <p:extLst>
      <p:ext uri="{BB962C8B-B14F-4D97-AF65-F5344CB8AC3E}">
        <p14:creationId xmlns:p14="http://schemas.microsoft.com/office/powerpoint/2010/main" val="10560856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430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DF179BD-F487-4CAF-A832-D672C4355520}" type="slidenum">
              <a:rPr lang="en-US" altLang="en-US"/>
              <a:pPr>
                <a:spcBef>
                  <a:spcPct val="0"/>
                </a:spcBef>
              </a:pPr>
              <a:t>47</a:t>
            </a:fld>
            <a:endParaRPr lang="en-US" altLang="en-US"/>
          </a:p>
        </p:txBody>
      </p:sp>
    </p:spTree>
    <p:extLst>
      <p:ext uri="{BB962C8B-B14F-4D97-AF65-F5344CB8AC3E}">
        <p14:creationId xmlns:p14="http://schemas.microsoft.com/office/powerpoint/2010/main" val="1567839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9811852-6268-42CE-9CD4-573CA0734B09}" type="slidenum">
              <a:rPr lang="en-US" altLang="en-US"/>
              <a:pPr>
                <a:spcBef>
                  <a:spcPct val="0"/>
                </a:spcBef>
              </a:pPr>
              <a:t>48</a:t>
            </a:fld>
            <a:endParaRPr lang="en-US" altLang="en-US"/>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lnSpc>
                <a:spcPct val="90000"/>
              </a:lnSpc>
            </a:pPr>
            <a:r>
              <a:rPr lang="en-US" altLang="en-US" sz="1000" smtClean="0">
                <a:latin typeface="Arial" panose="020B0604020202020204" pitchFamily="34" charset="0"/>
              </a:rPr>
              <a:t>All references are from All in One Book (Shon Harris, 2005)</a:t>
            </a:r>
          </a:p>
          <a:p>
            <a:pPr marL="247650" indent="-247650" eaLnBrk="1" hangingPunct="1">
              <a:lnSpc>
                <a:spcPct val="90000"/>
              </a:lnSpc>
            </a:pPr>
            <a:r>
              <a:rPr lang="en-US" altLang="en-US" sz="1000" smtClean="0">
                <a:latin typeface="Arial" panose="020B0604020202020204" pitchFamily="34" charset="0"/>
              </a:rPr>
              <a:t>A system that uses </a:t>
            </a:r>
            <a:r>
              <a:rPr lang="en-US" altLang="en-US" sz="1000" b="1" i="1" smtClean="0">
                <a:latin typeface="Arial" panose="020B0604020202020204" pitchFamily="34" charset="0"/>
              </a:rPr>
              <a:t>discretionary access control</a:t>
            </a:r>
            <a:r>
              <a:rPr lang="en-US" altLang="en-US" sz="1000" smtClean="0">
                <a:latin typeface="Arial" panose="020B0604020202020204" pitchFamily="34" charset="0"/>
              </a:rPr>
              <a:t> (DAC) enables the owner of the resource to specify which subjects can access specific resources.  This model is called discretionary because the control of access is based on the discretion of the owner. (162)</a:t>
            </a:r>
          </a:p>
          <a:p>
            <a:pPr marL="247650" indent="-247650" eaLnBrk="1" hangingPunct="1">
              <a:lnSpc>
                <a:spcPct val="90000"/>
              </a:lnSpc>
            </a:pPr>
            <a:endParaRPr lang="en-US" altLang="en-US" sz="1000" smtClean="0">
              <a:latin typeface="Arial" panose="020B0604020202020204" pitchFamily="34" charset="0"/>
            </a:endParaRPr>
          </a:p>
          <a:p>
            <a:pPr marL="247650" indent="-247650" eaLnBrk="1" hangingPunct="1">
              <a:lnSpc>
                <a:spcPct val="90000"/>
              </a:lnSpc>
            </a:pPr>
            <a:r>
              <a:rPr lang="en-US" altLang="en-US" sz="1000" smtClean="0">
                <a:latin typeface="Arial" panose="020B0604020202020204" pitchFamily="34" charset="0"/>
              </a:rPr>
              <a:t>Data owners decide who has access to resources and ACLs are used to enforce the security policy. (166)</a:t>
            </a:r>
          </a:p>
          <a:p>
            <a:pPr marL="247650" indent="-247650" eaLnBrk="1" hangingPunct="1">
              <a:lnSpc>
                <a:spcPct val="90000"/>
              </a:lnSpc>
            </a:pPr>
            <a:endParaRPr lang="en-US" altLang="en-US" sz="1000" smtClean="0">
              <a:latin typeface="Arial" panose="020B0604020202020204" pitchFamily="34" charset="0"/>
            </a:endParaRPr>
          </a:p>
          <a:p>
            <a:pPr marL="247650" indent="-247650" eaLnBrk="1" hangingPunct="1">
              <a:lnSpc>
                <a:spcPct val="90000"/>
              </a:lnSpc>
            </a:pPr>
            <a:r>
              <a:rPr lang="en-US" altLang="en-US" sz="1000" smtClean="0">
                <a:latin typeface="Arial" panose="020B0604020202020204" pitchFamily="34" charset="0"/>
              </a:rPr>
              <a:t>DAC systems grant or deny access based on the identity of the subject.  The identity can be a user identity or group membership. (163)</a:t>
            </a:r>
          </a:p>
          <a:p>
            <a:pPr marL="247650" indent="-247650" eaLnBrk="1" hangingPunct="1">
              <a:lnSpc>
                <a:spcPct val="90000"/>
              </a:lnSpc>
            </a:pPr>
            <a:endParaRPr lang="en-US" altLang="en-US" sz="1000" smtClean="0">
              <a:latin typeface="Arial" panose="020B0604020202020204" pitchFamily="34" charset="0"/>
            </a:endParaRPr>
          </a:p>
          <a:p>
            <a:pPr marL="247650" indent="-247650" eaLnBrk="1" hangingPunct="1">
              <a:lnSpc>
                <a:spcPct val="90000"/>
              </a:lnSpc>
            </a:pPr>
            <a:r>
              <a:rPr lang="en-US" altLang="en-US" sz="1000" smtClean="0">
                <a:latin typeface="Arial" panose="020B0604020202020204" pitchFamily="34" charset="0"/>
              </a:rPr>
              <a:t>The most common implementation of DAC is through ACLs, which are dictated and set by the owners and enforced by the operating system. (162)</a:t>
            </a:r>
          </a:p>
          <a:p>
            <a:pPr marL="247650" indent="-247650" eaLnBrk="1" hangingPunct="1">
              <a:lnSpc>
                <a:spcPct val="90000"/>
              </a:lnSpc>
            </a:pPr>
            <a:endParaRPr lang="en-US" altLang="en-US" sz="1000" smtClean="0">
              <a:latin typeface="Arial" panose="020B0604020202020204" pitchFamily="34" charset="0"/>
            </a:endParaRPr>
          </a:p>
          <a:p>
            <a:pPr marL="247650" indent="-247650" eaLnBrk="1" hangingPunct="1">
              <a:lnSpc>
                <a:spcPct val="90000"/>
              </a:lnSpc>
            </a:pPr>
            <a:r>
              <a:rPr lang="en-US" altLang="en-US" sz="1000" smtClean="0">
                <a:latin typeface="Arial" panose="020B0604020202020204" pitchFamily="34" charset="0"/>
              </a:rPr>
              <a:t>This does not lend itself to a centrally controlled environment and can make a user’s ability to access information dynamic versus the more static role of mandatory access control. (162)</a:t>
            </a:r>
          </a:p>
          <a:p>
            <a:pPr marL="247650" indent="-247650" eaLnBrk="1" hangingPunct="1">
              <a:lnSpc>
                <a:spcPct val="90000"/>
              </a:lnSpc>
            </a:pPr>
            <a:endParaRPr lang="en-US" altLang="en-US" sz="1000" smtClean="0">
              <a:latin typeface="Arial" panose="020B0604020202020204" pitchFamily="34" charset="0"/>
            </a:endParaRPr>
          </a:p>
          <a:p>
            <a:pPr marL="247650" indent="-247650" eaLnBrk="1" hangingPunct="1">
              <a:lnSpc>
                <a:spcPct val="90000"/>
              </a:lnSpc>
            </a:pPr>
            <a:r>
              <a:rPr lang="en-US" altLang="en-US" sz="1000" smtClean="0">
                <a:latin typeface="Arial" panose="020B0604020202020204" pitchFamily="34" charset="0"/>
              </a:rPr>
              <a:t>When you look at the properties of a file or directory and you see the choices that allow you to control which users can have access to this resource and to what degree, you are witnessing an instance of ACLs enforcing a DAC model. (162)</a:t>
            </a:r>
          </a:p>
          <a:p>
            <a:pPr marL="247650" indent="-247650" eaLnBrk="1" hangingPunct="1">
              <a:lnSpc>
                <a:spcPct val="90000"/>
              </a:lnSpc>
            </a:pPr>
            <a:endParaRPr lang="en-US" altLang="en-US" sz="1000" smtClean="0">
              <a:latin typeface="Arial" panose="020B0604020202020204" pitchFamily="34" charset="0"/>
            </a:endParaRPr>
          </a:p>
          <a:p>
            <a:pPr marL="247650" indent="-247650" eaLnBrk="1" hangingPunct="1">
              <a:lnSpc>
                <a:spcPct val="90000"/>
              </a:lnSpc>
            </a:pPr>
            <a:r>
              <a:rPr lang="en-US" altLang="en-US" sz="1000" smtClean="0">
                <a:latin typeface="Arial" panose="020B0604020202020204" pitchFamily="34" charset="0"/>
              </a:rPr>
              <a:t>DACs can be applied to both the directory tree structure and the files it contains. (162)</a:t>
            </a:r>
          </a:p>
          <a:p>
            <a:pPr marL="247650" indent="-247650" eaLnBrk="1" hangingPunct="1">
              <a:lnSpc>
                <a:spcPct val="90000"/>
              </a:lnSpc>
            </a:pPr>
            <a:endParaRPr lang="en-US" altLang="en-US" sz="1000" smtClean="0">
              <a:latin typeface="Arial" panose="020B0604020202020204" pitchFamily="34" charset="0"/>
            </a:endParaRPr>
          </a:p>
        </p:txBody>
      </p:sp>
    </p:spTree>
    <p:extLst>
      <p:ext uri="{BB962C8B-B14F-4D97-AF65-F5344CB8AC3E}">
        <p14:creationId xmlns:p14="http://schemas.microsoft.com/office/powerpoint/2010/main" val="35996710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6EBD626-9D3C-417A-B6D6-5019A36512F6}" type="slidenum">
              <a:rPr lang="en-US" altLang="en-US"/>
              <a:pPr>
                <a:spcBef>
                  <a:spcPct val="0"/>
                </a:spcBef>
              </a:pPr>
              <a:t>49</a:t>
            </a:fld>
            <a:endParaRPr lang="en-US" altLang="en-US"/>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lnSpc>
                <a:spcPct val="90000"/>
              </a:lnSpc>
            </a:pPr>
            <a:r>
              <a:rPr lang="en-US" altLang="en-US" sz="900" smtClean="0">
                <a:latin typeface="Arial" panose="020B0604020202020204" pitchFamily="34" charset="0"/>
              </a:rPr>
              <a:t>All references are from All in One Book (Shon Harris, 2005)</a:t>
            </a:r>
          </a:p>
          <a:p>
            <a:pPr marL="247650" indent="-247650" eaLnBrk="1" hangingPunct="1">
              <a:lnSpc>
                <a:spcPct val="90000"/>
              </a:lnSpc>
            </a:pPr>
            <a:endParaRPr lang="en-US" altLang="en-US" sz="900" smtClean="0">
              <a:latin typeface="Arial" panose="020B0604020202020204" pitchFamily="34" charset="0"/>
            </a:endParaRPr>
          </a:p>
          <a:p>
            <a:pPr marL="247650" indent="-247650" eaLnBrk="1" hangingPunct="1">
              <a:lnSpc>
                <a:spcPct val="90000"/>
              </a:lnSpc>
            </a:pPr>
            <a:r>
              <a:rPr lang="en-US" altLang="en-US" sz="900" smtClean="0">
                <a:latin typeface="Arial" panose="020B0604020202020204" pitchFamily="34" charset="0"/>
              </a:rPr>
              <a:t>In a </a:t>
            </a:r>
            <a:r>
              <a:rPr lang="en-US" altLang="en-US" sz="900" b="1" i="1" smtClean="0">
                <a:latin typeface="Arial" panose="020B0604020202020204" pitchFamily="34" charset="0"/>
              </a:rPr>
              <a:t>mandatory access control</a:t>
            </a:r>
            <a:r>
              <a:rPr lang="en-US" altLang="en-US" sz="900" smtClean="0">
                <a:latin typeface="Arial" panose="020B0604020202020204" pitchFamily="34" charset="0"/>
              </a:rPr>
              <a:t> (MAC) model, users and data owners do not have as much freedom to determine who can access files. (163)</a:t>
            </a:r>
          </a:p>
          <a:p>
            <a:pPr marL="247650" indent="-247650" eaLnBrk="1" hangingPunct="1">
              <a:lnSpc>
                <a:spcPct val="90000"/>
              </a:lnSpc>
            </a:pPr>
            <a:r>
              <a:rPr lang="en-US" altLang="en-US" sz="900" smtClean="0">
                <a:latin typeface="Arial" panose="020B0604020202020204" pitchFamily="34" charset="0"/>
              </a:rPr>
              <a:t>Operating systems enforce the system’s security policy through the use of security labels. (166)</a:t>
            </a:r>
          </a:p>
          <a:p>
            <a:pPr marL="247650" indent="-247650" eaLnBrk="1" hangingPunct="1">
              <a:lnSpc>
                <a:spcPct val="90000"/>
              </a:lnSpc>
            </a:pPr>
            <a:r>
              <a:rPr lang="en-US" altLang="en-US" sz="900" smtClean="0">
                <a:latin typeface="Arial" panose="020B0604020202020204" pitchFamily="34" charset="0"/>
              </a:rPr>
              <a:t>In MAC implementations, the system makes access decisions by comparing the subject’s clearance and need-to-know level to that of the security label. (165)</a:t>
            </a:r>
          </a:p>
          <a:p>
            <a:pPr marL="247650" indent="-247650" eaLnBrk="1" hangingPunct="1">
              <a:lnSpc>
                <a:spcPct val="90000"/>
              </a:lnSpc>
            </a:pPr>
            <a:r>
              <a:rPr lang="en-US" altLang="en-US" sz="900" smtClean="0">
                <a:latin typeface="Arial" panose="020B0604020202020204" pitchFamily="34" charset="0"/>
              </a:rPr>
              <a:t>This type of model is used in environments where information classification and confidentiality is of utmost importance, such as a military installation. (163)</a:t>
            </a:r>
          </a:p>
          <a:p>
            <a:pPr marL="247650" indent="-247650" eaLnBrk="1" hangingPunct="1">
              <a:lnSpc>
                <a:spcPct val="90000"/>
              </a:lnSpc>
            </a:pPr>
            <a:r>
              <a:rPr lang="en-US" altLang="en-US" sz="900" smtClean="0">
                <a:latin typeface="Arial" panose="020B0604020202020204" pitchFamily="34" charset="0"/>
              </a:rPr>
              <a:t>The operating system makes the final decision and can override the user’s wishes. (163)</a:t>
            </a:r>
          </a:p>
          <a:p>
            <a:pPr marL="247650" indent="-247650" eaLnBrk="1" hangingPunct="1">
              <a:lnSpc>
                <a:spcPct val="90000"/>
              </a:lnSpc>
            </a:pPr>
            <a:endParaRPr lang="en-US" altLang="en-US" sz="900" smtClean="0">
              <a:latin typeface="Arial" panose="020B0604020202020204" pitchFamily="34" charset="0"/>
            </a:endParaRPr>
          </a:p>
          <a:p>
            <a:pPr marL="247650" indent="-247650" eaLnBrk="1" hangingPunct="1">
              <a:lnSpc>
                <a:spcPct val="90000"/>
              </a:lnSpc>
            </a:pPr>
            <a:r>
              <a:rPr lang="en-US" altLang="en-US" sz="900" smtClean="0">
                <a:latin typeface="Arial" panose="020B0604020202020204" pitchFamily="34" charset="0"/>
              </a:rPr>
              <a:t>MAC uses a security label system.  Users have clearances and resources have security labels that contain data classifications.  MAC compares these two attributes to determine access control capabilities. (218)</a:t>
            </a:r>
          </a:p>
          <a:p>
            <a:pPr marL="247650" indent="-247650" eaLnBrk="1" hangingPunct="1">
              <a:lnSpc>
                <a:spcPct val="90000"/>
              </a:lnSpc>
              <a:buFontTx/>
              <a:buChar char="•"/>
            </a:pPr>
            <a:r>
              <a:rPr lang="en-US" altLang="en-US" sz="900" smtClean="0">
                <a:latin typeface="Arial" panose="020B0604020202020204" pitchFamily="34" charset="0"/>
              </a:rPr>
              <a:t>Users are given a security clearance and data is classified the same way.   Users have access to data classified equal and lesser than their own status.  (163)</a:t>
            </a:r>
          </a:p>
          <a:p>
            <a:pPr marL="247650" indent="-247650" eaLnBrk="1" hangingPunct="1">
              <a:lnSpc>
                <a:spcPct val="90000"/>
              </a:lnSpc>
              <a:buFontTx/>
              <a:buChar char="•"/>
            </a:pPr>
            <a:r>
              <a:rPr lang="en-US" altLang="en-US" sz="900" smtClean="0">
                <a:latin typeface="Arial" panose="020B0604020202020204" pitchFamily="34" charset="0"/>
              </a:rPr>
              <a:t>Security labels are attached to all objects; thus, every file, directory, and device has its own security label with its classification information.  (163)</a:t>
            </a:r>
          </a:p>
          <a:p>
            <a:pPr marL="247650" indent="-247650" eaLnBrk="1" hangingPunct="1">
              <a:lnSpc>
                <a:spcPct val="90000"/>
              </a:lnSpc>
              <a:buFontTx/>
              <a:buChar char="•"/>
            </a:pPr>
            <a:r>
              <a:rPr lang="en-US" altLang="en-US" sz="900" smtClean="0">
                <a:latin typeface="Arial" panose="020B0604020202020204" pitchFamily="34" charset="0"/>
              </a:rPr>
              <a:t>The terms “security labels” and “sensitivity labels” can be used interchangeably. (163)</a:t>
            </a:r>
          </a:p>
          <a:p>
            <a:pPr marL="247650" indent="-247650" eaLnBrk="1" hangingPunct="1">
              <a:lnSpc>
                <a:spcPct val="90000"/>
              </a:lnSpc>
            </a:pPr>
            <a:endParaRPr lang="en-US" altLang="en-US" sz="900" smtClean="0">
              <a:latin typeface="Arial" panose="020B0604020202020204" pitchFamily="34" charset="0"/>
            </a:endParaRPr>
          </a:p>
          <a:p>
            <a:pPr marL="247650" indent="-247650" eaLnBrk="1" hangingPunct="1">
              <a:lnSpc>
                <a:spcPct val="90000"/>
              </a:lnSpc>
            </a:pPr>
            <a:r>
              <a:rPr lang="en-US" altLang="en-US" sz="900" smtClean="0">
                <a:latin typeface="Arial" panose="020B0604020202020204" pitchFamily="34" charset="0"/>
              </a:rPr>
              <a:t>When a MAC model is being used, every subject and object must have a sensitivity label. (164)</a:t>
            </a:r>
          </a:p>
          <a:p>
            <a:pPr marL="247650" indent="-247650" eaLnBrk="1" hangingPunct="1">
              <a:lnSpc>
                <a:spcPct val="90000"/>
              </a:lnSpc>
              <a:buFontTx/>
              <a:buChar char="•"/>
            </a:pPr>
            <a:r>
              <a:rPr lang="en-US" altLang="en-US" sz="900" smtClean="0">
                <a:latin typeface="Arial" panose="020B0604020202020204" pitchFamily="34" charset="0"/>
              </a:rPr>
              <a:t>The sensitivity label contains a </a:t>
            </a:r>
            <a:r>
              <a:rPr lang="en-US" altLang="en-US" sz="900" b="1" i="1" smtClean="0">
                <a:latin typeface="Arial" panose="020B0604020202020204" pitchFamily="34" charset="0"/>
              </a:rPr>
              <a:t>classification</a:t>
            </a:r>
            <a:r>
              <a:rPr lang="en-US" altLang="en-US" sz="900" smtClean="0">
                <a:latin typeface="Arial" panose="020B0604020202020204" pitchFamily="34" charset="0"/>
              </a:rPr>
              <a:t> and different </a:t>
            </a:r>
            <a:r>
              <a:rPr lang="en-US" altLang="en-US" sz="900" b="1" i="1" smtClean="0">
                <a:latin typeface="Arial" panose="020B0604020202020204" pitchFamily="34" charset="0"/>
              </a:rPr>
              <a:t>categories</a:t>
            </a:r>
            <a:r>
              <a:rPr lang="en-US" altLang="en-US" sz="900" smtClean="0">
                <a:latin typeface="Arial" panose="020B0604020202020204" pitchFamily="34" charset="0"/>
              </a:rPr>
              <a:t>. (164)</a:t>
            </a:r>
          </a:p>
          <a:p>
            <a:pPr marL="247650" indent="-247650" eaLnBrk="1" hangingPunct="1">
              <a:lnSpc>
                <a:spcPct val="90000"/>
              </a:lnSpc>
              <a:buFontTx/>
              <a:buChar char="•"/>
            </a:pPr>
            <a:r>
              <a:rPr lang="en-US" altLang="en-US" sz="900" smtClean="0">
                <a:latin typeface="Arial" panose="020B0604020202020204" pitchFamily="34" charset="0"/>
              </a:rPr>
              <a:t>The classification indicates the sensitivity label, and the categories enforce need-to-know rules. (164)</a:t>
            </a:r>
          </a:p>
          <a:p>
            <a:pPr marL="247650" indent="-247650" eaLnBrk="1" hangingPunct="1">
              <a:lnSpc>
                <a:spcPct val="90000"/>
              </a:lnSpc>
            </a:pPr>
            <a:endParaRPr lang="en-US" altLang="en-US" sz="900" smtClean="0">
              <a:latin typeface="Arial" panose="020B0604020202020204" pitchFamily="34" charset="0"/>
            </a:endParaRPr>
          </a:p>
          <a:p>
            <a:pPr marL="247650" indent="-247650" eaLnBrk="1" hangingPunct="1">
              <a:lnSpc>
                <a:spcPct val="90000"/>
              </a:lnSpc>
            </a:pPr>
            <a:r>
              <a:rPr lang="en-US" altLang="en-US" sz="900" smtClean="0">
                <a:latin typeface="Arial" panose="020B0604020202020204" pitchFamily="34" charset="0"/>
              </a:rPr>
              <a:t>Classifications are hierarchical, categories are not. (164)</a:t>
            </a:r>
          </a:p>
          <a:p>
            <a:pPr marL="247650" indent="-247650" eaLnBrk="1" hangingPunct="1">
              <a:lnSpc>
                <a:spcPct val="90000"/>
              </a:lnSpc>
            </a:pPr>
            <a:endParaRPr lang="en-US" altLang="en-US" sz="900" smtClean="0">
              <a:latin typeface="Arial" panose="020B0604020202020204" pitchFamily="34" charset="0"/>
            </a:endParaRPr>
          </a:p>
          <a:p>
            <a:pPr marL="247650" indent="-247650" eaLnBrk="1" hangingPunct="1">
              <a:lnSpc>
                <a:spcPct val="90000"/>
              </a:lnSpc>
            </a:pPr>
            <a:endParaRPr lang="en-US" altLang="en-US" sz="900" smtClean="0">
              <a:latin typeface="Arial" panose="020B0604020202020204" pitchFamily="34" charset="0"/>
            </a:endParaRPr>
          </a:p>
        </p:txBody>
      </p:sp>
    </p:spTree>
    <p:extLst>
      <p:ext uri="{BB962C8B-B14F-4D97-AF65-F5344CB8AC3E}">
        <p14:creationId xmlns:p14="http://schemas.microsoft.com/office/powerpoint/2010/main" val="23057721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2025FD9-9FF6-487D-B21F-902C1D670221}" type="slidenum">
              <a:rPr lang="en-US" altLang="en-US"/>
              <a:pPr>
                <a:spcBef>
                  <a:spcPct val="0"/>
                </a:spcBef>
              </a:pPr>
              <a:t>50</a:t>
            </a:fld>
            <a:endParaRPr lang="en-US" altLang="en-US"/>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r>
              <a:rPr lang="en-US" altLang="en-US" sz="1000" smtClean="0">
                <a:latin typeface="Arial" panose="020B0604020202020204" pitchFamily="34" charset="0"/>
              </a:rPr>
              <a:t>All references are from All in One Book (Shon Harris, 2005)</a:t>
            </a:r>
          </a:p>
          <a:p>
            <a:pPr marL="247650" indent="-247650" eaLnBrk="1" hangingPunct="1"/>
            <a:endParaRPr lang="en-US" altLang="en-US" sz="1000" smtClean="0">
              <a:latin typeface="Arial" panose="020B0604020202020204" pitchFamily="34" charset="0"/>
            </a:endParaRPr>
          </a:p>
          <a:p>
            <a:pPr marL="247650" indent="-247650" eaLnBrk="1" hangingPunct="1"/>
            <a:r>
              <a:rPr lang="en-US" altLang="en-US" sz="1000" smtClean="0">
                <a:latin typeface="Arial" panose="020B0604020202020204" pitchFamily="34" charset="0"/>
              </a:rPr>
              <a:t>A </a:t>
            </a:r>
            <a:r>
              <a:rPr lang="en-US" altLang="en-US" sz="1000" b="1" i="1" smtClean="0">
                <a:latin typeface="Arial" panose="020B0604020202020204" pitchFamily="34" charset="0"/>
              </a:rPr>
              <a:t>role-based access control</a:t>
            </a:r>
            <a:r>
              <a:rPr lang="en-US" altLang="en-US" sz="1000" smtClean="0">
                <a:latin typeface="Arial" panose="020B0604020202020204" pitchFamily="34" charset="0"/>
              </a:rPr>
              <a:t> (RBAC) model, also called nondiscretionary access control, uses a centrally administered set of controls to determine how subjects and objects interact. (165)</a:t>
            </a:r>
          </a:p>
          <a:p>
            <a:pPr marL="247650" indent="-247650" eaLnBrk="1" hangingPunct="1"/>
            <a:r>
              <a:rPr lang="en-US" altLang="en-US" sz="1000" smtClean="0">
                <a:latin typeface="Arial" panose="020B0604020202020204" pitchFamily="34" charset="0"/>
              </a:rPr>
              <a:t>This type of model allows access to resources to be based on the role the user holds within the company. (165)</a:t>
            </a:r>
          </a:p>
          <a:p>
            <a:pPr marL="247650" indent="-247650" eaLnBrk="1" hangingPunct="1"/>
            <a:r>
              <a:rPr lang="en-US" altLang="en-US" sz="1000" smtClean="0">
                <a:latin typeface="Arial" panose="020B0604020202020204" pitchFamily="34" charset="0"/>
              </a:rPr>
              <a:t>It is referred to as nondiscretionary because assigning a user to a role is unavoidably imposed. (165)</a:t>
            </a:r>
          </a:p>
          <a:p>
            <a:pPr marL="247650" indent="-247650" eaLnBrk="1" hangingPunct="1"/>
            <a:endParaRPr lang="en-US" altLang="en-US" sz="1000" smtClean="0">
              <a:latin typeface="Arial" panose="020B0604020202020204" pitchFamily="34" charset="0"/>
            </a:endParaRPr>
          </a:p>
          <a:p>
            <a:pPr marL="247650" indent="-247650" eaLnBrk="1" hangingPunct="1"/>
            <a:r>
              <a:rPr lang="en-US" altLang="en-US" sz="1000" smtClean="0">
                <a:latin typeface="Arial" panose="020B0604020202020204" pitchFamily="34" charset="0"/>
              </a:rPr>
              <a:t>The RBAC approach simplifies access control administration by allowing permissions to be managed in terms of user job roles. (165)</a:t>
            </a:r>
          </a:p>
          <a:p>
            <a:pPr marL="247650" indent="-247650" eaLnBrk="1" hangingPunct="1"/>
            <a:r>
              <a:rPr lang="en-US" altLang="en-US" sz="1000" smtClean="0">
                <a:latin typeface="Arial" panose="020B0604020202020204" pitchFamily="34" charset="0"/>
              </a:rPr>
              <a:t>A role is defined in terms of the operations and tasks that the role will need to carry out. (165)</a:t>
            </a:r>
          </a:p>
          <a:p>
            <a:pPr marL="247650" indent="-247650" eaLnBrk="1" hangingPunct="1"/>
            <a:endParaRPr lang="en-US" altLang="en-US" sz="1000" smtClean="0">
              <a:latin typeface="Arial" panose="020B0604020202020204" pitchFamily="34" charset="0"/>
            </a:endParaRPr>
          </a:p>
          <a:p>
            <a:pPr marL="247650" indent="-247650" eaLnBrk="1" hangingPunct="1"/>
            <a:r>
              <a:rPr lang="en-US" altLang="en-US" sz="1000" smtClean="0">
                <a:latin typeface="Arial" panose="020B0604020202020204" pitchFamily="34" charset="0"/>
              </a:rPr>
              <a:t>Introducing roles also introduces the difference between rights being assigned explicitly and implicitly.  </a:t>
            </a:r>
          </a:p>
          <a:p>
            <a:pPr marL="247650" indent="-247650" eaLnBrk="1" hangingPunct="1"/>
            <a:r>
              <a:rPr lang="en-US" altLang="en-US" sz="1000" smtClean="0">
                <a:latin typeface="Arial" panose="020B0604020202020204" pitchFamily="34" charset="0"/>
              </a:rPr>
              <a:t>If rights and permissions are assigned </a:t>
            </a:r>
            <a:r>
              <a:rPr lang="en-US" altLang="en-US" sz="1000" b="1" i="1" smtClean="0">
                <a:latin typeface="Arial" panose="020B0604020202020204" pitchFamily="34" charset="0"/>
              </a:rPr>
              <a:t>explicitly</a:t>
            </a:r>
            <a:r>
              <a:rPr lang="en-US" altLang="en-US" sz="1000" smtClean="0">
                <a:latin typeface="Arial" panose="020B0604020202020204" pitchFamily="34" charset="0"/>
              </a:rPr>
              <a:t>, it indicates that they are assigned to a specific individual.  (165)</a:t>
            </a:r>
          </a:p>
          <a:p>
            <a:pPr marL="247650" indent="-247650" eaLnBrk="1" hangingPunct="1"/>
            <a:r>
              <a:rPr lang="en-US" altLang="en-US" sz="1000" smtClean="0">
                <a:latin typeface="Arial" panose="020B0604020202020204" pitchFamily="34" charset="0"/>
              </a:rPr>
              <a:t>If rights are assigned </a:t>
            </a:r>
            <a:r>
              <a:rPr lang="en-US" altLang="en-US" sz="1000" b="1" i="1" smtClean="0">
                <a:latin typeface="Arial" panose="020B0604020202020204" pitchFamily="34" charset="0"/>
              </a:rPr>
              <a:t>implicitly</a:t>
            </a:r>
            <a:r>
              <a:rPr lang="en-US" altLang="en-US" sz="1000" smtClean="0">
                <a:latin typeface="Arial" panose="020B0604020202020204" pitchFamily="34" charset="0"/>
              </a:rPr>
              <a:t>, it indicates that they are assigned to a role or group and the user inherits those attributes. (165)</a:t>
            </a:r>
          </a:p>
          <a:p>
            <a:pPr marL="247650" indent="-247650" eaLnBrk="1" hangingPunct="1"/>
            <a:endParaRPr lang="en-US" altLang="en-US" sz="1000" smtClean="0">
              <a:latin typeface="Arial" panose="020B0604020202020204" pitchFamily="34" charset="0"/>
            </a:endParaRPr>
          </a:p>
          <a:p>
            <a:pPr marL="247650" indent="-247650" eaLnBrk="1" hangingPunct="1"/>
            <a:r>
              <a:rPr lang="en-US" altLang="en-US" sz="1000" smtClean="0">
                <a:latin typeface="Arial" panose="020B0604020202020204" pitchFamily="34" charset="0"/>
              </a:rPr>
              <a:t>An RBAC is the best system for a company that has high employee turnover. (165)</a:t>
            </a:r>
          </a:p>
          <a:p>
            <a:pPr marL="247650" indent="-247650" eaLnBrk="1" hangingPunct="1"/>
            <a:endParaRPr lang="en-US" altLang="en-US" sz="1000" smtClean="0">
              <a:latin typeface="Arial" panose="020B0604020202020204" pitchFamily="34" charset="0"/>
            </a:endParaRPr>
          </a:p>
        </p:txBody>
      </p:sp>
    </p:spTree>
    <p:extLst>
      <p:ext uri="{BB962C8B-B14F-4D97-AF65-F5344CB8AC3E}">
        <p14:creationId xmlns:p14="http://schemas.microsoft.com/office/powerpoint/2010/main" val="26937341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09A4899-D9F6-41D8-91BB-4BB84795CBDB}" type="slidenum">
              <a:rPr lang="en-US" altLang="en-US"/>
              <a:pPr>
                <a:spcBef>
                  <a:spcPct val="0"/>
                </a:spcBef>
              </a:pPr>
              <a:t>52</a:t>
            </a:fld>
            <a:endParaRPr lang="en-US" altLang="en-US"/>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r>
              <a:rPr lang="en-US" altLang="en-US" smtClean="0">
                <a:latin typeface="Arial" panose="020B0604020202020204" pitchFamily="34" charset="0"/>
              </a:rPr>
              <a:t>All references are from All in One Book (Shon Harris, 2005)</a:t>
            </a:r>
          </a:p>
          <a:p>
            <a:pPr marL="247650" indent="-247650" eaLnBrk="1" hangingPunct="1"/>
            <a:endParaRPr lang="en-US" altLang="en-US" b="1" i="1" smtClean="0">
              <a:latin typeface="Arial" panose="020B0604020202020204" pitchFamily="34" charset="0"/>
            </a:endParaRPr>
          </a:p>
          <a:p>
            <a:pPr marL="247650" indent="-247650" eaLnBrk="1" hangingPunct="1"/>
            <a:r>
              <a:rPr lang="en-US" altLang="en-US" b="1" i="1" smtClean="0">
                <a:latin typeface="Arial" panose="020B0604020202020204" pitchFamily="34" charset="0"/>
              </a:rPr>
              <a:t>Rule based access control</a:t>
            </a:r>
            <a:r>
              <a:rPr lang="en-US" altLang="en-US" smtClean="0">
                <a:latin typeface="Arial" panose="020B0604020202020204" pitchFamily="34" charset="0"/>
              </a:rPr>
              <a:t> uses specific rules that indicate what can and cannot happen between a subject and an object. (167)</a:t>
            </a:r>
          </a:p>
          <a:p>
            <a:pPr marL="247650" indent="-247650" eaLnBrk="1" hangingPunct="1"/>
            <a:r>
              <a:rPr lang="en-US" altLang="en-US" smtClean="0">
                <a:latin typeface="Arial" panose="020B0604020202020204" pitchFamily="34" charset="0"/>
              </a:rPr>
              <a:t>Before a subject can access an object in a certain circumstance, it must meet a set of predefined rules. (167)</a:t>
            </a:r>
          </a:p>
          <a:p>
            <a:pPr marL="247650" indent="-247650" eaLnBrk="1" hangingPunct="1"/>
            <a:endParaRPr lang="en-US" altLang="en-US" smtClean="0">
              <a:latin typeface="Arial" panose="020B0604020202020204" pitchFamily="34" charset="0"/>
            </a:endParaRPr>
          </a:p>
          <a:p>
            <a:pPr marL="247650" indent="-247650" eaLnBrk="1" hangingPunct="1"/>
            <a:r>
              <a:rPr lang="en-US" altLang="en-US" smtClean="0">
                <a:latin typeface="Arial" panose="020B0604020202020204" pitchFamily="34" charset="0"/>
              </a:rPr>
              <a:t>Rule based access control is not necessarily identity based—rules apply to all users across the board, no matter what their identity is.  (The DAC model is identity based). (167)</a:t>
            </a:r>
          </a:p>
          <a:p>
            <a:pPr marL="247650" indent="-247650" eaLnBrk="1" hangingPunct="1"/>
            <a:endParaRPr lang="en-US" altLang="en-US" smtClean="0">
              <a:latin typeface="Arial" panose="020B0604020202020204" pitchFamily="34" charset="0"/>
            </a:endParaRPr>
          </a:p>
          <a:p>
            <a:pPr marL="247650" indent="-247650" eaLnBrk="1" hangingPunct="1"/>
            <a:r>
              <a:rPr lang="en-US" altLang="en-US" smtClean="0">
                <a:latin typeface="Arial" panose="020B0604020202020204" pitchFamily="34" charset="0"/>
              </a:rPr>
              <a:t>Traditionally, rule based access control has been used in MAC systems as an enforcement mechanism of the complex rules of access that MAC systems provide; today, rule based access is used in other types of systems and applications as well (e.g., routers and firewalls). (167)</a:t>
            </a:r>
          </a:p>
          <a:p>
            <a:pPr marL="247650" indent="-247650"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9666500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7A32471-7963-41CA-96C5-1D4E819683D2}" type="slidenum">
              <a:rPr lang="en-US" altLang="en-US"/>
              <a:pPr>
                <a:spcBef>
                  <a:spcPct val="0"/>
                </a:spcBef>
              </a:pPr>
              <a:t>53</a:t>
            </a:fld>
            <a:endParaRPr lang="en-US" altLang="en-US"/>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r>
              <a:rPr lang="en-US" altLang="en-US" sz="1000" smtClean="0">
                <a:latin typeface="Arial" panose="020B0604020202020204" pitchFamily="34" charset="0"/>
              </a:rPr>
              <a:t>All references are from All in One Book (Shon Harris, 2005)</a:t>
            </a:r>
          </a:p>
          <a:p>
            <a:pPr marL="247650" indent="-247650" eaLnBrk="1" hangingPunct="1"/>
            <a:endParaRPr lang="en-US" altLang="en-US" sz="1000" b="1" i="1" smtClean="0">
              <a:latin typeface="Arial" panose="020B0604020202020204" pitchFamily="34" charset="0"/>
            </a:endParaRPr>
          </a:p>
          <a:p>
            <a:pPr marL="247650" indent="-247650" eaLnBrk="1" hangingPunct="1"/>
            <a:r>
              <a:rPr lang="en-US" altLang="en-US" sz="1000" b="1" i="1" smtClean="0">
                <a:latin typeface="Arial" panose="020B0604020202020204" pitchFamily="34" charset="0"/>
              </a:rPr>
              <a:t>Constrained user interfaces</a:t>
            </a:r>
            <a:r>
              <a:rPr lang="en-US" altLang="en-US" sz="1000" smtClean="0">
                <a:latin typeface="Arial" panose="020B0604020202020204" pitchFamily="34" charset="0"/>
              </a:rPr>
              <a:t> restrict users’ access abilities by not allowing them to request certain functions or information, or to have access to specific system resources.  (168)</a:t>
            </a:r>
          </a:p>
          <a:p>
            <a:pPr marL="247650" indent="-247650" eaLnBrk="1" hangingPunct="1"/>
            <a:r>
              <a:rPr lang="en-US" altLang="en-US" sz="1000" smtClean="0">
                <a:latin typeface="Arial" panose="020B0604020202020204" pitchFamily="34" charset="0"/>
              </a:rPr>
              <a:t>Limits the user’s environment within the system, thus limiting access to objects. (172)</a:t>
            </a:r>
          </a:p>
          <a:p>
            <a:pPr marL="247650" indent="-247650" eaLnBrk="1" hangingPunct="1"/>
            <a:endParaRPr lang="en-US" altLang="en-US" sz="1000" smtClean="0">
              <a:latin typeface="Arial" panose="020B0604020202020204" pitchFamily="34" charset="0"/>
            </a:endParaRPr>
          </a:p>
          <a:p>
            <a:pPr marL="247650" indent="-247650" eaLnBrk="1" hangingPunct="1"/>
            <a:r>
              <a:rPr lang="en-US" altLang="en-US" sz="1000" smtClean="0">
                <a:latin typeface="Arial" panose="020B0604020202020204" pitchFamily="34" charset="0"/>
              </a:rPr>
              <a:t>There are three major types of restricted interfaces: (168)</a:t>
            </a:r>
          </a:p>
          <a:p>
            <a:pPr marL="247650" indent="-247650" eaLnBrk="1" hangingPunct="1">
              <a:buFontTx/>
              <a:buChar char="•"/>
            </a:pPr>
            <a:r>
              <a:rPr lang="en-US" altLang="en-US" sz="1000" smtClean="0">
                <a:latin typeface="Arial" panose="020B0604020202020204" pitchFamily="34" charset="0"/>
              </a:rPr>
              <a:t>Menus and shells</a:t>
            </a:r>
          </a:p>
          <a:p>
            <a:pPr marL="1162050" lvl="2" indent="-247650" eaLnBrk="1" hangingPunct="1">
              <a:buFontTx/>
              <a:buChar char="•"/>
            </a:pPr>
            <a:r>
              <a:rPr lang="en-US" altLang="en-US" sz="1000" smtClean="0">
                <a:latin typeface="Arial" panose="020B0604020202020204" pitchFamily="34" charset="0"/>
              </a:rPr>
              <a:t>The options that a user is given are the commands that they can execute. (168)</a:t>
            </a:r>
          </a:p>
          <a:p>
            <a:pPr marL="1162050" lvl="2" indent="-247650" eaLnBrk="1" hangingPunct="1">
              <a:buFontTx/>
              <a:buChar char="•"/>
            </a:pPr>
            <a:r>
              <a:rPr lang="en-US" altLang="en-US" sz="1000" smtClean="0">
                <a:latin typeface="Arial" panose="020B0604020202020204" pitchFamily="34" charset="0"/>
              </a:rPr>
              <a:t>A </a:t>
            </a:r>
            <a:r>
              <a:rPr lang="en-US" altLang="en-US" sz="1000" b="1" i="1" smtClean="0">
                <a:latin typeface="Arial" panose="020B0604020202020204" pitchFamily="34" charset="0"/>
              </a:rPr>
              <a:t>shell</a:t>
            </a:r>
            <a:r>
              <a:rPr lang="en-US" altLang="en-US" sz="1000" smtClean="0">
                <a:latin typeface="Arial" panose="020B0604020202020204" pitchFamily="34" charset="0"/>
              </a:rPr>
              <a:t> is a type of virtual environment within a system; it is the user’s interface to the operating system and works as a command interpreter. (168)</a:t>
            </a:r>
          </a:p>
          <a:p>
            <a:pPr marL="247650" indent="-247650" eaLnBrk="1" hangingPunct="1">
              <a:buFontTx/>
              <a:buChar char="•"/>
            </a:pPr>
            <a:r>
              <a:rPr lang="en-US" altLang="en-US" sz="1000" smtClean="0">
                <a:latin typeface="Arial" panose="020B0604020202020204" pitchFamily="34" charset="0"/>
              </a:rPr>
              <a:t>Database views</a:t>
            </a:r>
          </a:p>
          <a:p>
            <a:pPr marL="1162050" lvl="2" indent="-247650" eaLnBrk="1" hangingPunct="1">
              <a:buFontTx/>
              <a:buChar char="•"/>
            </a:pPr>
            <a:r>
              <a:rPr lang="en-US" altLang="en-US" sz="1000" smtClean="0">
                <a:latin typeface="Arial" panose="020B0604020202020204" pitchFamily="34" charset="0"/>
              </a:rPr>
              <a:t>Are mechanisms used to restrict user access to data that is contained in the database. (168)</a:t>
            </a:r>
          </a:p>
          <a:p>
            <a:pPr marL="247650" indent="-247650" eaLnBrk="1" hangingPunct="1">
              <a:buFontTx/>
              <a:buChar char="•"/>
            </a:pPr>
            <a:r>
              <a:rPr lang="en-US" altLang="en-US" sz="1000" smtClean="0">
                <a:latin typeface="Arial" panose="020B0604020202020204" pitchFamily="34" charset="0"/>
              </a:rPr>
              <a:t>Physically constrained interfaces</a:t>
            </a:r>
          </a:p>
          <a:p>
            <a:pPr marL="1162050" lvl="2" indent="-247650" eaLnBrk="1" hangingPunct="1">
              <a:buFontTx/>
              <a:buChar char="•"/>
            </a:pPr>
            <a:r>
              <a:rPr lang="en-US" altLang="en-US" sz="1000" smtClean="0">
                <a:latin typeface="Arial" panose="020B0604020202020204" pitchFamily="34" charset="0"/>
              </a:rPr>
              <a:t>Can be implemented by providing only certain keys on a keypad or certain touch buttons on a screen. (e.g., atm machine views). (169)</a:t>
            </a:r>
          </a:p>
        </p:txBody>
      </p:sp>
    </p:spTree>
    <p:extLst>
      <p:ext uri="{BB962C8B-B14F-4D97-AF65-F5344CB8AC3E}">
        <p14:creationId xmlns:p14="http://schemas.microsoft.com/office/powerpoint/2010/main" val="2694715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D97EC1A-6292-45CC-8098-694D5FB4311B}" type="slidenum">
              <a:rPr lang="en-US" altLang="en-US"/>
              <a:pPr>
                <a:spcBef>
                  <a:spcPct val="0"/>
                </a:spcBef>
              </a:pPr>
              <a:t>54</a:t>
            </a:fld>
            <a:endParaRPr lang="en-US" altLang="en-US"/>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lnSpc>
                <a:spcPct val="90000"/>
              </a:lnSpc>
            </a:pPr>
            <a:r>
              <a:rPr lang="en-US" altLang="en-US" sz="1000" smtClean="0">
                <a:latin typeface="Arial" panose="020B0604020202020204" pitchFamily="34" charset="0"/>
              </a:rPr>
              <a:t>All references are from All in One Book (Shon Harris, 2005)</a:t>
            </a:r>
          </a:p>
          <a:p>
            <a:pPr marL="247650" indent="-247650" eaLnBrk="1" hangingPunct="1">
              <a:lnSpc>
                <a:spcPct val="90000"/>
              </a:lnSpc>
            </a:pPr>
            <a:endParaRPr lang="en-US" altLang="en-US" sz="1000" smtClean="0">
              <a:latin typeface="Arial" panose="020B0604020202020204" pitchFamily="34" charset="0"/>
            </a:endParaRPr>
          </a:p>
          <a:p>
            <a:pPr marL="247650" indent="-247650" eaLnBrk="1" hangingPunct="1">
              <a:lnSpc>
                <a:spcPct val="90000"/>
              </a:lnSpc>
            </a:pPr>
            <a:r>
              <a:rPr lang="en-US" altLang="en-US" sz="1000" smtClean="0">
                <a:latin typeface="Arial" panose="020B0604020202020204" pitchFamily="34" charset="0"/>
              </a:rPr>
              <a:t>An </a:t>
            </a:r>
            <a:r>
              <a:rPr lang="en-US" altLang="en-US" sz="1000" b="1" i="1" smtClean="0">
                <a:latin typeface="Arial" panose="020B0604020202020204" pitchFamily="34" charset="0"/>
              </a:rPr>
              <a:t>access control matrix</a:t>
            </a:r>
            <a:r>
              <a:rPr lang="en-US" altLang="en-US" sz="1000" smtClean="0">
                <a:latin typeface="Arial" panose="020B0604020202020204" pitchFamily="34" charset="0"/>
              </a:rPr>
              <a:t> is a table of subjects and objects indicating what actions individual subjects can take upon individual objects. (169)</a:t>
            </a:r>
          </a:p>
          <a:p>
            <a:pPr marL="247650" indent="-247650" eaLnBrk="1" hangingPunct="1">
              <a:lnSpc>
                <a:spcPct val="90000"/>
              </a:lnSpc>
            </a:pPr>
            <a:r>
              <a:rPr lang="en-US" altLang="en-US" sz="1000" smtClean="0">
                <a:latin typeface="Arial" panose="020B0604020202020204" pitchFamily="34" charset="0"/>
              </a:rPr>
              <a:t>Matrices are data structures that programmers implement as table lookups that will be used and enforced by the operating system. (169)</a:t>
            </a:r>
          </a:p>
          <a:p>
            <a:pPr marL="247650" indent="-247650" eaLnBrk="1" hangingPunct="1">
              <a:lnSpc>
                <a:spcPct val="90000"/>
              </a:lnSpc>
            </a:pPr>
            <a:endParaRPr lang="en-US" altLang="en-US" sz="1000" b="1" i="1" smtClean="0">
              <a:latin typeface="Arial" panose="020B0604020202020204" pitchFamily="34" charset="0"/>
            </a:endParaRPr>
          </a:p>
          <a:p>
            <a:pPr marL="247650" indent="-247650" eaLnBrk="1" hangingPunct="1">
              <a:lnSpc>
                <a:spcPct val="90000"/>
              </a:lnSpc>
            </a:pPr>
            <a:r>
              <a:rPr lang="en-US" altLang="en-US" sz="1000" b="1" i="1" smtClean="0">
                <a:latin typeface="Arial" panose="020B0604020202020204" pitchFamily="34" charset="0"/>
              </a:rPr>
              <a:t>Capability table</a:t>
            </a:r>
            <a:r>
              <a:rPr lang="en-US" altLang="en-US" sz="1000" smtClean="0">
                <a:latin typeface="Arial" panose="020B0604020202020204" pitchFamily="34" charset="0"/>
              </a:rPr>
              <a:t>:  Specifies the access rights a certain subject possess pertaining to certain objects. (169)</a:t>
            </a:r>
          </a:p>
          <a:p>
            <a:pPr marL="247650" indent="-247650" eaLnBrk="1" hangingPunct="1">
              <a:lnSpc>
                <a:spcPct val="90000"/>
              </a:lnSpc>
            </a:pPr>
            <a:r>
              <a:rPr lang="en-US" altLang="en-US" sz="1000" smtClean="0">
                <a:latin typeface="Arial" panose="020B0604020202020204" pitchFamily="34" charset="0"/>
              </a:rPr>
              <a:t>Bounded to a subject and indicates what objects that subject can access. (172)</a:t>
            </a:r>
          </a:p>
          <a:p>
            <a:pPr marL="247650" indent="-247650" eaLnBrk="1" hangingPunct="1">
              <a:lnSpc>
                <a:spcPct val="90000"/>
              </a:lnSpc>
            </a:pPr>
            <a:r>
              <a:rPr lang="en-US" altLang="en-US" sz="1000" smtClean="0">
                <a:latin typeface="Arial" panose="020B0604020202020204" pitchFamily="34" charset="0"/>
              </a:rPr>
              <a:t>Is different from an ACL because the subject is bound to the capability table, whereas the object is bound to the ACL. (169)</a:t>
            </a:r>
          </a:p>
          <a:p>
            <a:pPr marL="247650" indent="-247650" eaLnBrk="1" hangingPunct="1">
              <a:lnSpc>
                <a:spcPct val="90000"/>
              </a:lnSpc>
            </a:pPr>
            <a:r>
              <a:rPr lang="en-US" altLang="en-US" sz="1000" smtClean="0">
                <a:latin typeface="Arial" panose="020B0604020202020204" pitchFamily="34" charset="0"/>
              </a:rPr>
              <a:t>The capability corresponds to the subject’s row in the access control matrix. (169)</a:t>
            </a:r>
          </a:p>
          <a:p>
            <a:pPr marL="247650" indent="-247650" eaLnBrk="1" hangingPunct="1">
              <a:lnSpc>
                <a:spcPct val="90000"/>
              </a:lnSpc>
            </a:pPr>
            <a:r>
              <a:rPr lang="en-US" altLang="en-US" sz="1000" smtClean="0">
                <a:latin typeface="Arial" panose="020B0604020202020204" pitchFamily="34" charset="0"/>
              </a:rPr>
              <a:t>A capability can be in the form of a token, ticket, or key. (169)</a:t>
            </a:r>
          </a:p>
          <a:p>
            <a:pPr marL="247650" indent="-247650" eaLnBrk="1" hangingPunct="1">
              <a:lnSpc>
                <a:spcPct val="90000"/>
              </a:lnSpc>
            </a:pPr>
            <a:r>
              <a:rPr lang="en-US" altLang="en-US" sz="1000" smtClean="0">
                <a:latin typeface="Arial" panose="020B0604020202020204" pitchFamily="34" charset="0"/>
              </a:rPr>
              <a:t>A capability component is a data structure that contains a unique object identifier and access rights the subject has to that object. (169)</a:t>
            </a:r>
          </a:p>
          <a:p>
            <a:pPr marL="247650" indent="-247650" eaLnBrk="1" hangingPunct="1">
              <a:lnSpc>
                <a:spcPct val="90000"/>
              </a:lnSpc>
            </a:pPr>
            <a:r>
              <a:rPr lang="en-US" altLang="en-US" sz="1000" smtClean="0">
                <a:latin typeface="Arial" panose="020B0604020202020204" pitchFamily="34" charset="0"/>
              </a:rPr>
              <a:t>See Table 4-1, pg. 169</a:t>
            </a:r>
          </a:p>
          <a:p>
            <a:pPr marL="247650" indent="-247650" eaLnBrk="1" hangingPunct="1">
              <a:lnSpc>
                <a:spcPct val="90000"/>
              </a:lnSpc>
            </a:pPr>
            <a:endParaRPr lang="en-US" altLang="en-US" sz="1000" b="1" i="1" smtClean="0">
              <a:latin typeface="Arial" panose="020B0604020202020204" pitchFamily="34" charset="0"/>
            </a:endParaRPr>
          </a:p>
          <a:p>
            <a:pPr marL="247650" indent="-247650" eaLnBrk="1" hangingPunct="1">
              <a:lnSpc>
                <a:spcPct val="90000"/>
              </a:lnSpc>
            </a:pPr>
            <a:r>
              <a:rPr lang="en-US" altLang="en-US" sz="1000" b="1" i="1" smtClean="0">
                <a:latin typeface="Arial" panose="020B0604020202020204" pitchFamily="34" charset="0"/>
              </a:rPr>
              <a:t>Access Control List</a:t>
            </a:r>
            <a:r>
              <a:rPr lang="en-US" altLang="en-US" sz="1000" smtClean="0">
                <a:latin typeface="Arial" panose="020B0604020202020204" pitchFamily="34" charset="0"/>
              </a:rPr>
              <a:t> (ACL):  Lists of subjects that are authorized to access a specific object and they define what level of authorization is granted.  Authorization can be specified to an individual or group. (170)</a:t>
            </a:r>
          </a:p>
          <a:p>
            <a:pPr marL="247650" indent="-247650" eaLnBrk="1" hangingPunct="1">
              <a:lnSpc>
                <a:spcPct val="90000"/>
              </a:lnSpc>
            </a:pPr>
            <a:r>
              <a:rPr lang="en-US" altLang="en-US" sz="1000" smtClean="0">
                <a:latin typeface="Arial" panose="020B0604020202020204" pitchFamily="34" charset="0"/>
              </a:rPr>
              <a:t>ACLs map values from the access control matrix to the object.  (170)</a:t>
            </a:r>
          </a:p>
          <a:p>
            <a:pPr marL="247650" indent="-247650" eaLnBrk="1" hangingPunct="1">
              <a:lnSpc>
                <a:spcPct val="90000"/>
              </a:lnSpc>
            </a:pPr>
            <a:r>
              <a:rPr lang="en-US" altLang="en-US" sz="1000" smtClean="0">
                <a:latin typeface="Arial" panose="020B0604020202020204" pitchFamily="34" charset="0"/>
              </a:rPr>
              <a:t>Capability = row in matrix</a:t>
            </a:r>
          </a:p>
          <a:p>
            <a:pPr marL="247650" indent="-247650" eaLnBrk="1" hangingPunct="1">
              <a:lnSpc>
                <a:spcPct val="90000"/>
              </a:lnSpc>
            </a:pPr>
            <a:r>
              <a:rPr lang="en-US" altLang="en-US" sz="1000" smtClean="0">
                <a:latin typeface="Arial" panose="020B0604020202020204" pitchFamily="34" charset="0"/>
              </a:rPr>
              <a:t>ACL = column in matrix.</a:t>
            </a:r>
          </a:p>
          <a:p>
            <a:pPr marL="247650" indent="-247650" eaLnBrk="1" hangingPunct="1">
              <a:lnSpc>
                <a:spcPct val="90000"/>
              </a:lnSpc>
            </a:pPr>
            <a:endParaRPr lang="en-US" altLang="en-US" sz="1000" smtClean="0">
              <a:latin typeface="Arial" panose="020B0604020202020204" pitchFamily="34" charset="0"/>
            </a:endParaRPr>
          </a:p>
        </p:txBody>
      </p:sp>
    </p:spTree>
    <p:extLst>
      <p:ext uri="{BB962C8B-B14F-4D97-AF65-F5344CB8AC3E}">
        <p14:creationId xmlns:p14="http://schemas.microsoft.com/office/powerpoint/2010/main" val="18041503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1102F83-19FD-49CA-89B6-CD6C8ABA87C6}" type="slidenum">
              <a:rPr lang="en-US" altLang="en-US"/>
              <a:pPr>
                <a:spcBef>
                  <a:spcPct val="0"/>
                </a:spcBef>
              </a:pPr>
              <a:t>55</a:t>
            </a:fld>
            <a:endParaRPr lang="en-US" altLang="en-US"/>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lnSpc>
                <a:spcPct val="90000"/>
              </a:lnSpc>
            </a:pPr>
            <a:r>
              <a:rPr lang="en-US" altLang="en-US" sz="1000" smtClean="0">
                <a:latin typeface="Arial" panose="020B0604020202020204" pitchFamily="34" charset="0"/>
              </a:rPr>
              <a:t>All references are from All in One Book (Shon Harris, 2005)</a:t>
            </a:r>
          </a:p>
          <a:p>
            <a:pPr marL="247650" indent="-247650" eaLnBrk="1" hangingPunct="1">
              <a:lnSpc>
                <a:spcPct val="90000"/>
              </a:lnSpc>
            </a:pPr>
            <a:endParaRPr lang="en-US" altLang="en-US" sz="1000" smtClean="0">
              <a:latin typeface="Arial" panose="020B0604020202020204" pitchFamily="34" charset="0"/>
            </a:endParaRPr>
          </a:p>
          <a:p>
            <a:pPr marL="247650" indent="-247650" eaLnBrk="1" hangingPunct="1">
              <a:lnSpc>
                <a:spcPct val="90000"/>
              </a:lnSpc>
            </a:pPr>
            <a:r>
              <a:rPr lang="en-US" altLang="en-US" sz="1000" smtClean="0">
                <a:latin typeface="Arial" panose="020B0604020202020204" pitchFamily="34" charset="0"/>
              </a:rPr>
              <a:t>Content Dependent Access Control (170)</a:t>
            </a:r>
          </a:p>
          <a:p>
            <a:pPr marL="247650" indent="-247650" eaLnBrk="1" hangingPunct="1">
              <a:lnSpc>
                <a:spcPct val="90000"/>
              </a:lnSpc>
            </a:pPr>
            <a:r>
              <a:rPr lang="en-US" altLang="en-US" sz="1000" smtClean="0">
                <a:latin typeface="Arial" panose="020B0604020202020204" pitchFamily="34" charset="0"/>
              </a:rPr>
              <a:t>With</a:t>
            </a:r>
            <a:r>
              <a:rPr lang="en-US" altLang="en-US" sz="1000" b="1" smtClean="0">
                <a:latin typeface="Arial" panose="020B0604020202020204" pitchFamily="34" charset="0"/>
              </a:rPr>
              <a:t> content based access control</a:t>
            </a:r>
            <a:r>
              <a:rPr lang="en-US" altLang="en-US" sz="1000" smtClean="0">
                <a:latin typeface="Arial" panose="020B0604020202020204" pitchFamily="34" charset="0"/>
              </a:rPr>
              <a:t>, access to objects is determined by the content within the object. (170)</a:t>
            </a:r>
          </a:p>
          <a:p>
            <a:pPr marL="247650" indent="-247650" eaLnBrk="1" hangingPunct="1">
              <a:lnSpc>
                <a:spcPct val="90000"/>
              </a:lnSpc>
            </a:pPr>
            <a:r>
              <a:rPr lang="en-US" altLang="en-US" sz="1000" smtClean="0">
                <a:latin typeface="Arial" panose="020B0604020202020204" pitchFamily="34" charset="0"/>
              </a:rPr>
              <a:t>Bases access decisions on the sensitivity of the data, not solely on subject’s identity. (172)</a:t>
            </a:r>
          </a:p>
          <a:p>
            <a:pPr marL="247650" indent="-247650" eaLnBrk="1" hangingPunct="1">
              <a:lnSpc>
                <a:spcPct val="90000"/>
              </a:lnSpc>
            </a:pPr>
            <a:r>
              <a:rPr lang="en-US" altLang="en-US" sz="1000" smtClean="0">
                <a:latin typeface="Arial" panose="020B0604020202020204" pitchFamily="34" charset="0"/>
              </a:rPr>
              <a:t>This is often used in databases. E.g., the content of the database fields dictates which users can see specific information within the database tables.  (170)</a:t>
            </a:r>
          </a:p>
          <a:p>
            <a:pPr marL="247650" indent="-247650" eaLnBrk="1" hangingPunct="1">
              <a:lnSpc>
                <a:spcPct val="90000"/>
              </a:lnSpc>
            </a:pPr>
            <a:r>
              <a:rPr lang="en-US" altLang="en-US" sz="1000" smtClean="0">
                <a:latin typeface="Arial" panose="020B0604020202020204" pitchFamily="34" charset="0"/>
              </a:rPr>
              <a:t>Content dependent filtering is used when corporations employ email filters that look for specific strings, such as “confidential,” “SSN,” “top secret,” etc. (170)</a:t>
            </a:r>
          </a:p>
          <a:p>
            <a:pPr marL="247650" indent="-247650" eaLnBrk="1" hangingPunct="1">
              <a:lnSpc>
                <a:spcPct val="90000"/>
              </a:lnSpc>
            </a:pPr>
            <a:endParaRPr lang="en-US" altLang="en-US" sz="1000" smtClean="0">
              <a:latin typeface="Arial" panose="020B0604020202020204" pitchFamily="34" charset="0"/>
            </a:endParaRPr>
          </a:p>
          <a:p>
            <a:pPr marL="247650" indent="-247650" eaLnBrk="1" hangingPunct="1">
              <a:lnSpc>
                <a:spcPct val="90000"/>
              </a:lnSpc>
            </a:pPr>
            <a:r>
              <a:rPr lang="en-US" altLang="en-US" sz="1000" b="1" smtClean="0">
                <a:latin typeface="Arial" panose="020B0604020202020204" pitchFamily="34" charset="0"/>
              </a:rPr>
              <a:t>Context based access control</a:t>
            </a:r>
            <a:r>
              <a:rPr lang="en-US" altLang="en-US" sz="1000" smtClean="0">
                <a:latin typeface="Arial" panose="020B0604020202020204" pitchFamily="34" charset="0"/>
              </a:rPr>
              <a:t> differs from content dependent access control in that it makes access decisions based on the context of a collection of information rather than on the sensitivity of the data. (171)</a:t>
            </a:r>
          </a:p>
          <a:p>
            <a:pPr marL="247650" indent="-247650" eaLnBrk="1" hangingPunct="1">
              <a:lnSpc>
                <a:spcPct val="90000"/>
              </a:lnSpc>
            </a:pPr>
            <a:r>
              <a:rPr lang="en-US" altLang="en-US" sz="1000" smtClean="0">
                <a:latin typeface="Arial" panose="020B0604020202020204" pitchFamily="34" charset="0"/>
              </a:rPr>
              <a:t>Bases access decisions on the state of the situation, not solely on identity or content sensitivity. (172)</a:t>
            </a:r>
          </a:p>
          <a:p>
            <a:pPr marL="247650" indent="-247650" eaLnBrk="1" hangingPunct="1">
              <a:lnSpc>
                <a:spcPct val="90000"/>
              </a:lnSpc>
            </a:pPr>
            <a:r>
              <a:rPr lang="en-US" altLang="en-US" sz="1000" smtClean="0">
                <a:latin typeface="Arial" panose="020B0604020202020204" pitchFamily="34" charset="0"/>
              </a:rPr>
              <a:t>A system that is using context dependent access control “reviews the situation” and then makes a decision. (171)</a:t>
            </a:r>
          </a:p>
          <a:p>
            <a:pPr marL="247650" indent="-247650" eaLnBrk="1" hangingPunct="1">
              <a:lnSpc>
                <a:spcPct val="90000"/>
              </a:lnSpc>
            </a:pPr>
            <a:r>
              <a:rPr lang="en-US" altLang="en-US" sz="1000" smtClean="0">
                <a:latin typeface="Arial" panose="020B0604020202020204" pitchFamily="34" charset="0"/>
              </a:rPr>
              <a:t>For example, firewalls make context based decisions when they collect state information on a packet before allowing it into the network.   (171)</a:t>
            </a:r>
          </a:p>
          <a:p>
            <a:pPr marL="247650" indent="-247650" eaLnBrk="1" hangingPunct="1">
              <a:lnSpc>
                <a:spcPct val="90000"/>
              </a:lnSpc>
            </a:pPr>
            <a:r>
              <a:rPr lang="en-US" altLang="en-US" sz="1000" smtClean="0">
                <a:latin typeface="Arial" panose="020B0604020202020204" pitchFamily="34" charset="0"/>
              </a:rPr>
              <a:t>A stateful firewall understands the necessary steps of communication for specific protocols. (171)</a:t>
            </a:r>
          </a:p>
          <a:p>
            <a:pPr marL="247650" indent="-247650" eaLnBrk="1" hangingPunct="1">
              <a:lnSpc>
                <a:spcPct val="90000"/>
              </a:lnSpc>
            </a:pPr>
            <a:r>
              <a:rPr lang="en-US" altLang="en-US" sz="1000" smtClean="0">
                <a:latin typeface="Arial" panose="020B0604020202020204" pitchFamily="34" charset="0"/>
              </a:rPr>
              <a:t>Stateful:  Something that understands the necessary steps of a dialog session.  Is an example of context dependent access control. (171)</a:t>
            </a:r>
          </a:p>
          <a:p>
            <a:pPr marL="247650" indent="-247650" eaLnBrk="1" hangingPunct="1">
              <a:lnSpc>
                <a:spcPct val="90000"/>
              </a:lnSpc>
            </a:pPr>
            <a:endParaRPr lang="en-US" altLang="en-US" sz="1000" smtClean="0">
              <a:latin typeface="Arial" panose="020B0604020202020204" pitchFamily="34" charset="0"/>
            </a:endParaRPr>
          </a:p>
          <a:p>
            <a:pPr marL="247650" indent="-247650" eaLnBrk="1" hangingPunct="1">
              <a:lnSpc>
                <a:spcPct val="90000"/>
              </a:lnSpc>
            </a:pPr>
            <a:endParaRPr lang="en-US" altLang="en-US" sz="1000" smtClean="0">
              <a:latin typeface="Arial" panose="020B0604020202020204" pitchFamily="34" charset="0"/>
            </a:endParaRPr>
          </a:p>
        </p:txBody>
      </p:sp>
    </p:spTree>
    <p:extLst>
      <p:ext uri="{BB962C8B-B14F-4D97-AF65-F5344CB8AC3E}">
        <p14:creationId xmlns:p14="http://schemas.microsoft.com/office/powerpoint/2010/main" val="31394311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1175620-1777-48FD-AC69-59C615789D3A}" type="slidenum">
              <a:rPr lang="en-US" altLang="en-US"/>
              <a:pPr>
                <a:spcBef>
                  <a:spcPct val="0"/>
                </a:spcBef>
              </a:pPr>
              <a:t>57</a:t>
            </a:fld>
            <a:endParaRPr lang="en-US" altLang="en-US"/>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Arial" panose="020B0604020202020204" pitchFamily="34" charset="0"/>
              </a:rPr>
              <a:t>All references are from All in One Book (Shon Harris, 2005)</a:t>
            </a:r>
          </a:p>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22109723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02F7686-A820-4C0E-A284-D33686704E4E}" type="slidenum">
              <a:rPr lang="en-US" altLang="en-US"/>
              <a:pPr>
                <a:spcBef>
                  <a:spcPct val="0"/>
                </a:spcBef>
              </a:pPr>
              <a:t>58</a:t>
            </a:fld>
            <a:endParaRPr lang="en-US" altLang="en-US"/>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lnSpc>
                <a:spcPct val="80000"/>
              </a:lnSpc>
            </a:pPr>
            <a:r>
              <a:rPr lang="en-US" altLang="en-US" sz="800" smtClean="0">
                <a:latin typeface="Arial" panose="020B0604020202020204" pitchFamily="34" charset="0"/>
              </a:rPr>
              <a:t>All references are from All in One Book (Shon Harris, 2005)</a:t>
            </a:r>
          </a:p>
          <a:p>
            <a:pPr marL="247650" indent="-247650" eaLnBrk="1" hangingPunct="1">
              <a:lnSpc>
                <a:spcPct val="80000"/>
              </a:lnSpc>
            </a:pPr>
            <a:endParaRPr lang="en-US" altLang="en-US" sz="800" smtClean="0">
              <a:latin typeface="Arial" panose="020B0604020202020204" pitchFamily="34" charset="0"/>
            </a:endParaRPr>
          </a:p>
          <a:p>
            <a:pPr marL="247650" indent="-247650" eaLnBrk="1" hangingPunct="1">
              <a:lnSpc>
                <a:spcPct val="80000"/>
              </a:lnSpc>
            </a:pPr>
            <a:r>
              <a:rPr lang="en-US" altLang="en-US" sz="800" smtClean="0">
                <a:latin typeface="Arial" panose="020B0604020202020204" pitchFamily="34" charset="0"/>
              </a:rPr>
              <a:t>Need to know the properties of each.  Detailed examination of each type is beyond the scope of this presentation.</a:t>
            </a:r>
          </a:p>
          <a:p>
            <a:pPr marL="247650" indent="-247650" eaLnBrk="1" hangingPunct="1">
              <a:lnSpc>
                <a:spcPct val="80000"/>
              </a:lnSpc>
            </a:pPr>
            <a:endParaRPr lang="en-US" altLang="en-US" sz="800" smtClean="0">
              <a:latin typeface="Arial" panose="020B0604020202020204" pitchFamily="34" charset="0"/>
            </a:endParaRPr>
          </a:p>
          <a:p>
            <a:pPr marL="247650" indent="-247650" eaLnBrk="1" hangingPunct="1">
              <a:lnSpc>
                <a:spcPct val="80000"/>
              </a:lnSpc>
            </a:pPr>
            <a:r>
              <a:rPr lang="en-US" altLang="en-US" sz="800" smtClean="0">
                <a:latin typeface="Arial" panose="020B0604020202020204" pitchFamily="34" charset="0"/>
              </a:rPr>
              <a:t>Radius (173)</a:t>
            </a:r>
          </a:p>
          <a:p>
            <a:pPr marL="247650" indent="-247650" eaLnBrk="1" hangingPunct="1">
              <a:lnSpc>
                <a:spcPct val="80000"/>
              </a:lnSpc>
              <a:buFontTx/>
              <a:buChar char="•"/>
            </a:pPr>
            <a:r>
              <a:rPr lang="en-US" altLang="en-US" sz="800" smtClean="0">
                <a:latin typeface="Arial" panose="020B0604020202020204" pitchFamily="34" charset="0"/>
              </a:rPr>
              <a:t>Remote Authentication Dial In User Service. (173)</a:t>
            </a:r>
          </a:p>
          <a:p>
            <a:pPr marL="247650" indent="-247650" eaLnBrk="1" hangingPunct="1">
              <a:lnSpc>
                <a:spcPct val="80000"/>
              </a:lnSpc>
              <a:buFontTx/>
              <a:buChar char="•"/>
            </a:pPr>
            <a:r>
              <a:rPr lang="en-US" altLang="en-US" sz="800" smtClean="0">
                <a:latin typeface="Arial" panose="020B0604020202020204" pitchFamily="34" charset="0"/>
              </a:rPr>
              <a:t>Is a client/server authentication protocol and authenticates and authorizes remote users. (173)</a:t>
            </a:r>
          </a:p>
          <a:p>
            <a:pPr marL="247650" indent="-247650" eaLnBrk="1" hangingPunct="1">
              <a:lnSpc>
                <a:spcPct val="80000"/>
              </a:lnSpc>
              <a:buFontTx/>
              <a:buChar char="•"/>
            </a:pPr>
            <a:r>
              <a:rPr lang="en-US" altLang="en-US" sz="800" smtClean="0">
                <a:latin typeface="Arial" panose="020B0604020202020204" pitchFamily="34" charset="0"/>
              </a:rPr>
              <a:t>Most ISPs today use Radius to authenticate customers before they are allowed to access the Internet. (173)</a:t>
            </a:r>
          </a:p>
          <a:p>
            <a:pPr marL="247650" indent="-247650" eaLnBrk="1" hangingPunct="1">
              <a:lnSpc>
                <a:spcPct val="80000"/>
              </a:lnSpc>
              <a:buFontTx/>
              <a:buChar char="•"/>
            </a:pPr>
            <a:r>
              <a:rPr lang="en-US" altLang="en-US" sz="800" smtClean="0">
                <a:latin typeface="Arial" panose="020B0604020202020204" pitchFamily="34" charset="0"/>
              </a:rPr>
              <a:t>Radius is an open protocol and can be used in different types of implementations. (173)</a:t>
            </a:r>
          </a:p>
          <a:p>
            <a:pPr marL="247650" indent="-247650" eaLnBrk="1" hangingPunct="1">
              <a:lnSpc>
                <a:spcPct val="80000"/>
              </a:lnSpc>
              <a:buFontTx/>
              <a:buChar char="•"/>
            </a:pPr>
            <a:r>
              <a:rPr lang="en-US" altLang="en-US" sz="800" smtClean="0">
                <a:latin typeface="Arial" panose="020B0604020202020204" pitchFamily="34" charset="0"/>
              </a:rPr>
              <a:t>Uses UDP as a transport protocol (174)</a:t>
            </a:r>
          </a:p>
          <a:p>
            <a:pPr marL="247650" indent="-247650" eaLnBrk="1" hangingPunct="1">
              <a:lnSpc>
                <a:spcPct val="80000"/>
              </a:lnSpc>
              <a:buFontTx/>
              <a:buChar char="•"/>
            </a:pPr>
            <a:r>
              <a:rPr lang="en-US" altLang="en-US" sz="800" smtClean="0">
                <a:latin typeface="Arial" panose="020B0604020202020204" pitchFamily="34" charset="0"/>
              </a:rPr>
              <a:t>Only encrypts the user’s password as it is being transmitted from Radius client to the radius server. (174)</a:t>
            </a:r>
          </a:p>
          <a:p>
            <a:pPr marL="247650" indent="-247650" eaLnBrk="1" hangingPunct="1">
              <a:lnSpc>
                <a:spcPct val="80000"/>
              </a:lnSpc>
              <a:buFontTx/>
              <a:buChar char="•"/>
            </a:pPr>
            <a:r>
              <a:rPr lang="en-US" altLang="en-US" sz="800" smtClean="0">
                <a:latin typeface="Arial" panose="020B0604020202020204" pitchFamily="34" charset="0"/>
              </a:rPr>
              <a:t>Is appropriate protocol when simplistic username/password authentication can take place and users only need an “accept” or “deny” for obtaining access. (176)</a:t>
            </a:r>
          </a:p>
          <a:p>
            <a:pPr marL="247650" indent="-247650" eaLnBrk="1" hangingPunct="1">
              <a:lnSpc>
                <a:spcPct val="80000"/>
              </a:lnSpc>
            </a:pPr>
            <a:endParaRPr lang="en-US" altLang="en-US" sz="800" smtClean="0">
              <a:latin typeface="Arial" panose="020B0604020202020204" pitchFamily="34" charset="0"/>
            </a:endParaRPr>
          </a:p>
          <a:p>
            <a:pPr marL="247650" indent="-247650" eaLnBrk="1" hangingPunct="1">
              <a:lnSpc>
                <a:spcPct val="80000"/>
              </a:lnSpc>
            </a:pPr>
            <a:r>
              <a:rPr lang="en-US" altLang="en-US" sz="800" smtClean="0">
                <a:latin typeface="Arial" panose="020B0604020202020204" pitchFamily="34" charset="0"/>
              </a:rPr>
              <a:t>Tacacs</a:t>
            </a:r>
          </a:p>
          <a:p>
            <a:pPr marL="247650" indent="-247650" eaLnBrk="1" hangingPunct="1">
              <a:lnSpc>
                <a:spcPct val="80000"/>
              </a:lnSpc>
              <a:buFontTx/>
              <a:buChar char="•"/>
            </a:pPr>
            <a:r>
              <a:rPr lang="en-US" altLang="en-US" sz="800" smtClean="0">
                <a:latin typeface="Arial" panose="020B0604020202020204" pitchFamily="34" charset="0"/>
              </a:rPr>
              <a:t>Terminal Access Controller Access Control System (173)</a:t>
            </a:r>
          </a:p>
          <a:p>
            <a:pPr marL="247650" indent="-247650" eaLnBrk="1" hangingPunct="1">
              <a:lnSpc>
                <a:spcPct val="80000"/>
              </a:lnSpc>
              <a:buFontTx/>
              <a:buChar char="•"/>
            </a:pPr>
            <a:r>
              <a:rPr lang="en-US" altLang="en-US" sz="800" smtClean="0">
                <a:latin typeface="Arial" panose="020B0604020202020204" pitchFamily="34" charset="0"/>
              </a:rPr>
              <a:t>Uses TCP as a transport protocol. (174)</a:t>
            </a:r>
          </a:p>
          <a:p>
            <a:pPr marL="247650" indent="-247650" eaLnBrk="1" hangingPunct="1">
              <a:lnSpc>
                <a:spcPct val="80000"/>
              </a:lnSpc>
              <a:buFontTx/>
              <a:buChar char="•"/>
            </a:pPr>
            <a:r>
              <a:rPr lang="en-US" altLang="en-US" sz="800" smtClean="0">
                <a:latin typeface="Arial" panose="020B0604020202020204" pitchFamily="34" charset="0"/>
              </a:rPr>
              <a:t>Encrypts all user data and does not have the vulnerabilities that are inherent in the radius protocol. (175)</a:t>
            </a:r>
          </a:p>
          <a:p>
            <a:pPr marL="247650" indent="-247650" eaLnBrk="1" hangingPunct="1">
              <a:lnSpc>
                <a:spcPct val="80000"/>
              </a:lnSpc>
              <a:buFontTx/>
              <a:buChar char="•"/>
            </a:pPr>
            <a:r>
              <a:rPr lang="en-US" altLang="en-US" sz="800" smtClean="0">
                <a:latin typeface="Arial" panose="020B0604020202020204" pitchFamily="34" charset="0"/>
              </a:rPr>
              <a:t>Presents true AAA (Authentication, authorization, and accounting) architecture. (175)</a:t>
            </a:r>
          </a:p>
          <a:p>
            <a:pPr marL="247650" indent="-247650" eaLnBrk="1" hangingPunct="1">
              <a:lnSpc>
                <a:spcPct val="80000"/>
              </a:lnSpc>
            </a:pPr>
            <a:endParaRPr lang="en-US" altLang="en-US" sz="800" smtClean="0">
              <a:latin typeface="Arial" panose="020B0604020202020204" pitchFamily="34" charset="0"/>
            </a:endParaRPr>
          </a:p>
          <a:p>
            <a:pPr marL="247650" indent="-247650" eaLnBrk="1" hangingPunct="1">
              <a:lnSpc>
                <a:spcPct val="80000"/>
              </a:lnSpc>
            </a:pPr>
            <a:r>
              <a:rPr lang="en-US" altLang="en-US" sz="800" smtClean="0">
                <a:latin typeface="Arial" panose="020B0604020202020204" pitchFamily="34" charset="0"/>
              </a:rPr>
              <a:t>Diameter (176)</a:t>
            </a:r>
          </a:p>
          <a:p>
            <a:pPr marL="247650" indent="-247650" eaLnBrk="1" hangingPunct="1">
              <a:lnSpc>
                <a:spcPct val="80000"/>
              </a:lnSpc>
              <a:buFontTx/>
              <a:buChar char="•"/>
            </a:pPr>
            <a:r>
              <a:rPr lang="en-US" altLang="en-US" sz="800" smtClean="0">
                <a:latin typeface="Arial" panose="020B0604020202020204" pitchFamily="34" charset="0"/>
              </a:rPr>
              <a:t>A protocol that has been developed to build upon the functionality of radius and overcome many of its limitations. (176)</a:t>
            </a:r>
          </a:p>
          <a:p>
            <a:pPr marL="247650" indent="-247650" eaLnBrk="1" hangingPunct="1">
              <a:lnSpc>
                <a:spcPct val="80000"/>
              </a:lnSpc>
              <a:buFontTx/>
              <a:buChar char="•"/>
            </a:pPr>
            <a:r>
              <a:rPr lang="en-US" altLang="en-US" sz="800" smtClean="0">
                <a:latin typeface="Arial" panose="020B0604020202020204" pitchFamily="34" charset="0"/>
              </a:rPr>
              <a:t>AAA protocol. </a:t>
            </a:r>
          </a:p>
          <a:p>
            <a:pPr marL="1162050" lvl="2" indent="-247650" eaLnBrk="1" hangingPunct="1">
              <a:lnSpc>
                <a:spcPct val="80000"/>
              </a:lnSpc>
              <a:buFontTx/>
              <a:buChar char="•"/>
            </a:pPr>
            <a:r>
              <a:rPr lang="en-US" altLang="en-US" sz="800" smtClean="0">
                <a:latin typeface="Arial" panose="020B0604020202020204" pitchFamily="34" charset="0"/>
              </a:rPr>
              <a:t>Authentication: Provides PAP, CHAP, EAP, end to end protection of authentication information, replay attack protection. (178)</a:t>
            </a:r>
          </a:p>
          <a:p>
            <a:pPr marL="1162050" lvl="2" indent="-247650" eaLnBrk="1" hangingPunct="1">
              <a:lnSpc>
                <a:spcPct val="80000"/>
              </a:lnSpc>
              <a:buFontTx/>
              <a:buChar char="•"/>
            </a:pPr>
            <a:r>
              <a:rPr lang="en-US" altLang="en-US" sz="800" smtClean="0">
                <a:latin typeface="Arial" panose="020B0604020202020204" pitchFamily="34" charset="0"/>
              </a:rPr>
              <a:t>Authorization:  redirects, secure proxies, relays and brokers, state reconciliation, unsolicited disconnect, reauthorization on demand. (178)</a:t>
            </a:r>
          </a:p>
          <a:p>
            <a:pPr marL="1162050" lvl="2" indent="-247650" eaLnBrk="1" hangingPunct="1">
              <a:lnSpc>
                <a:spcPct val="80000"/>
              </a:lnSpc>
              <a:buFontTx/>
              <a:buChar char="•"/>
            </a:pPr>
            <a:r>
              <a:rPr lang="en-US" altLang="en-US" sz="800" smtClean="0">
                <a:latin typeface="Arial" panose="020B0604020202020204" pitchFamily="34" charset="0"/>
              </a:rPr>
              <a:t>Auditing:  reporting, ROAMOPS accounting, event monitoring. (178)</a:t>
            </a:r>
          </a:p>
          <a:p>
            <a:pPr marL="247650" indent="-247650" eaLnBrk="1" hangingPunct="1">
              <a:lnSpc>
                <a:spcPct val="80000"/>
              </a:lnSpc>
              <a:buFontTx/>
              <a:buChar char="•"/>
            </a:pPr>
            <a:r>
              <a:rPr lang="en-US" altLang="en-US" sz="800" smtClean="0">
                <a:latin typeface="Arial" panose="020B0604020202020204" pitchFamily="34" charset="0"/>
              </a:rPr>
              <a:t>Diameter provides the common AAA and security framework that different services can work within. (177)</a:t>
            </a:r>
          </a:p>
        </p:txBody>
      </p:sp>
    </p:spTree>
    <p:extLst>
      <p:ext uri="{BB962C8B-B14F-4D97-AF65-F5344CB8AC3E}">
        <p14:creationId xmlns:p14="http://schemas.microsoft.com/office/powerpoint/2010/main" val="21206194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FB7ED70-C30C-4DD8-9768-139208836B6A}" type="slidenum">
              <a:rPr lang="en-US" altLang="en-US"/>
              <a:pPr>
                <a:spcBef>
                  <a:spcPct val="0"/>
                </a:spcBef>
              </a:pPr>
              <a:t>59</a:t>
            </a:fld>
            <a:endParaRPr lang="en-US" altLang="en-US"/>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r>
              <a:rPr lang="en-US" altLang="en-US" smtClean="0">
                <a:latin typeface="Arial" panose="020B0604020202020204" pitchFamily="34" charset="0"/>
              </a:rPr>
              <a:t>All references are from All in One Book (Shon Harris, 2005)</a:t>
            </a:r>
          </a:p>
          <a:p>
            <a:pPr marL="247650" indent="-247650" eaLnBrk="1" hangingPunct="1"/>
            <a:endParaRPr lang="en-US" altLang="en-US" smtClean="0">
              <a:latin typeface="Arial" panose="020B0604020202020204" pitchFamily="34" charset="0"/>
            </a:endParaRPr>
          </a:p>
          <a:p>
            <a:pPr marL="247650" indent="-247650" eaLnBrk="1" hangingPunct="1"/>
            <a:r>
              <a:rPr lang="en-US" altLang="en-US" smtClean="0">
                <a:latin typeface="Arial" panose="020B0604020202020204" pitchFamily="34" charset="0"/>
              </a:rPr>
              <a:t>A </a:t>
            </a:r>
            <a:r>
              <a:rPr lang="en-US" altLang="en-US" b="1" i="1" smtClean="0">
                <a:latin typeface="Arial" panose="020B0604020202020204" pitchFamily="34" charset="0"/>
              </a:rPr>
              <a:t>decentralized access control administration</a:t>
            </a:r>
            <a:r>
              <a:rPr lang="en-US" altLang="en-US" smtClean="0">
                <a:latin typeface="Arial" panose="020B0604020202020204" pitchFamily="34" charset="0"/>
              </a:rPr>
              <a:t> method gives control of access to the people closer to the resources—the people who may better understand who should and should not have access to certain files, data, and resources.  (179)</a:t>
            </a:r>
          </a:p>
          <a:p>
            <a:pPr marL="247650" indent="-247650" eaLnBrk="1" hangingPunct="1"/>
            <a:r>
              <a:rPr lang="en-US" altLang="en-US" smtClean="0">
                <a:latin typeface="Arial" panose="020B0604020202020204" pitchFamily="34" charset="0"/>
              </a:rPr>
              <a:t>In this approach it is often the functional manager who assigns access control rights to employees. (179)</a:t>
            </a:r>
          </a:p>
          <a:p>
            <a:pPr marL="247650" indent="-247650" eaLnBrk="1" hangingPunct="1"/>
            <a:r>
              <a:rPr lang="en-US" altLang="en-US" smtClean="0">
                <a:latin typeface="Arial" panose="020B0604020202020204" pitchFamily="34" charset="0"/>
              </a:rPr>
              <a:t>Changes happen faster through this type of administration because not just one entity is making changes for the whole organization. (179)</a:t>
            </a:r>
          </a:p>
          <a:p>
            <a:pPr marL="247650" indent="-247650" eaLnBrk="1" hangingPunct="1"/>
            <a:r>
              <a:rPr lang="en-US" altLang="en-US" smtClean="0">
                <a:latin typeface="Arial" panose="020B0604020202020204" pitchFamily="34" charset="0"/>
              </a:rPr>
              <a:t>Because no single entity controls access as a whole, different managers and departments can practice security and access controls in different ways. (179)</a:t>
            </a:r>
          </a:p>
          <a:p>
            <a:pPr marL="247650" indent="-247650" eaLnBrk="1" hangingPunct="1"/>
            <a:r>
              <a:rPr lang="en-US" altLang="en-US" smtClean="0">
                <a:latin typeface="Arial" panose="020B0604020202020204" pitchFamily="34" charset="0"/>
              </a:rPr>
              <a:t>Has no methods for consistent control, lack of proper consistency. (180)</a:t>
            </a:r>
          </a:p>
          <a:p>
            <a:pPr marL="247650" indent="-247650" eaLnBrk="1" hangingPunct="1"/>
            <a:r>
              <a:rPr lang="en-US" altLang="en-US" smtClean="0">
                <a:latin typeface="Arial" panose="020B0604020202020204" pitchFamily="34" charset="0"/>
              </a:rPr>
              <a:t>An example is a peer-to-peer working group. (218)</a:t>
            </a:r>
          </a:p>
          <a:p>
            <a:pPr marL="247650" indent="-247650"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11242861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13E2A34-7730-44E4-9321-9A56DCFDFF92}" type="slidenum">
              <a:rPr lang="en-US" altLang="en-US"/>
              <a:pPr>
                <a:spcBef>
                  <a:spcPct val="0"/>
                </a:spcBef>
              </a:pPr>
              <a:t>60</a:t>
            </a:fld>
            <a:endParaRPr lang="en-US" altLang="en-US"/>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Arial" panose="020B0604020202020204" pitchFamily="34" charset="0"/>
              </a:rPr>
              <a:t>All references are from All in One Book (Shon Harris, 2005)</a:t>
            </a:r>
          </a:p>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5084002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13CE74B-0E80-449B-A5D6-D8219CCB160F}" type="slidenum">
              <a:rPr lang="en-US" altLang="en-US"/>
              <a:pPr>
                <a:spcBef>
                  <a:spcPct val="0"/>
                </a:spcBef>
              </a:pPr>
              <a:t>61</a:t>
            </a:fld>
            <a:endParaRPr lang="en-US" altLang="en-US"/>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lnSpc>
                <a:spcPct val="90000"/>
              </a:lnSpc>
            </a:pPr>
            <a:r>
              <a:rPr lang="en-US" altLang="en-US" sz="900" smtClean="0">
                <a:latin typeface="Arial" panose="020B0604020202020204" pitchFamily="34" charset="0"/>
              </a:rPr>
              <a:t>All references are from All in One Book (Shon Harris, 2005)</a:t>
            </a:r>
          </a:p>
          <a:p>
            <a:pPr marL="247650" indent="-247650" eaLnBrk="1" hangingPunct="1">
              <a:lnSpc>
                <a:spcPct val="90000"/>
              </a:lnSpc>
            </a:pPr>
            <a:r>
              <a:rPr lang="en-US" altLang="en-US" sz="900" smtClean="0">
                <a:latin typeface="Arial" panose="020B0604020202020204" pitchFamily="34" charset="0"/>
              </a:rPr>
              <a:t>Senior management must decide what role security will play in an organization. (181)</a:t>
            </a:r>
          </a:p>
          <a:p>
            <a:pPr marL="247650" indent="-247650" eaLnBrk="1" hangingPunct="1">
              <a:lnSpc>
                <a:spcPct val="90000"/>
              </a:lnSpc>
            </a:pPr>
            <a:endParaRPr lang="en-US" altLang="en-US" sz="900" smtClean="0">
              <a:latin typeface="Arial" panose="020B0604020202020204" pitchFamily="34" charset="0"/>
            </a:endParaRPr>
          </a:p>
          <a:p>
            <a:pPr marL="247650" indent="-247650" eaLnBrk="1" hangingPunct="1">
              <a:lnSpc>
                <a:spcPct val="90000"/>
              </a:lnSpc>
            </a:pPr>
            <a:r>
              <a:rPr lang="en-US" altLang="en-US" sz="900" smtClean="0">
                <a:latin typeface="Arial" panose="020B0604020202020204" pitchFamily="34" charset="0"/>
              </a:rPr>
              <a:t>Policy and procedure (181)</a:t>
            </a:r>
          </a:p>
          <a:p>
            <a:pPr marL="247650" indent="-247650" eaLnBrk="1" hangingPunct="1">
              <a:lnSpc>
                <a:spcPct val="90000"/>
              </a:lnSpc>
              <a:buFontTx/>
              <a:buChar char="•"/>
            </a:pPr>
            <a:r>
              <a:rPr lang="en-US" altLang="en-US" sz="900" smtClean="0">
                <a:latin typeface="Arial" panose="020B0604020202020204" pitchFamily="34" charset="0"/>
              </a:rPr>
              <a:t>It is management’s responsibility to construct a security policy. (181)</a:t>
            </a:r>
          </a:p>
          <a:p>
            <a:pPr marL="247650" indent="-247650" eaLnBrk="1" hangingPunct="1">
              <a:lnSpc>
                <a:spcPct val="90000"/>
              </a:lnSpc>
              <a:buFontTx/>
              <a:buChar char="•"/>
            </a:pPr>
            <a:r>
              <a:rPr lang="en-US" altLang="en-US" sz="900" smtClean="0">
                <a:latin typeface="Arial" panose="020B0604020202020204" pitchFamily="34" charset="0"/>
              </a:rPr>
              <a:t>A security policy works at the top layer of a hierarchical access control model. (181)</a:t>
            </a:r>
          </a:p>
          <a:p>
            <a:pPr marL="247650" indent="-247650" eaLnBrk="1" hangingPunct="1">
              <a:lnSpc>
                <a:spcPct val="90000"/>
              </a:lnSpc>
              <a:buFontTx/>
              <a:buChar char="•"/>
            </a:pPr>
            <a:r>
              <a:rPr lang="en-US" altLang="en-US" sz="900" smtClean="0">
                <a:latin typeface="Arial" panose="020B0604020202020204" pitchFamily="34" charset="0"/>
              </a:rPr>
              <a:t>A security policy is a high level plan that states management’s intent pertaining to how security should be practiced within an organization, what actions are acceptable, and what level of risk the company is willing to accept. (181)</a:t>
            </a:r>
          </a:p>
          <a:p>
            <a:pPr marL="247650" indent="-247650" eaLnBrk="1" hangingPunct="1">
              <a:lnSpc>
                <a:spcPct val="90000"/>
              </a:lnSpc>
            </a:pPr>
            <a:endParaRPr lang="en-US" altLang="en-US" sz="900" smtClean="0">
              <a:latin typeface="Arial" panose="020B0604020202020204" pitchFamily="34" charset="0"/>
            </a:endParaRPr>
          </a:p>
          <a:p>
            <a:pPr marL="247650" indent="-247650" eaLnBrk="1" hangingPunct="1">
              <a:lnSpc>
                <a:spcPct val="90000"/>
              </a:lnSpc>
            </a:pPr>
            <a:r>
              <a:rPr lang="en-US" altLang="en-US" sz="900" smtClean="0">
                <a:latin typeface="Arial" panose="020B0604020202020204" pitchFamily="34" charset="0"/>
              </a:rPr>
              <a:t>Personnel controls (182)</a:t>
            </a:r>
          </a:p>
          <a:p>
            <a:pPr marL="247650" indent="-247650" eaLnBrk="1" hangingPunct="1">
              <a:lnSpc>
                <a:spcPct val="90000"/>
              </a:lnSpc>
              <a:buFontTx/>
              <a:buChar char="•"/>
            </a:pPr>
            <a:r>
              <a:rPr lang="en-US" altLang="en-US" sz="900" smtClean="0">
                <a:latin typeface="Arial" panose="020B0604020202020204" pitchFamily="34" charset="0"/>
              </a:rPr>
              <a:t>Personnel controls indicate who employees are expected to interact with security mechanisms, and address noncompliance issues pertaining to these expectations. (182)</a:t>
            </a:r>
          </a:p>
          <a:p>
            <a:pPr marL="247650" indent="-247650" eaLnBrk="1" hangingPunct="1">
              <a:lnSpc>
                <a:spcPct val="90000"/>
              </a:lnSpc>
              <a:buFontTx/>
              <a:buChar char="•"/>
            </a:pPr>
            <a:r>
              <a:rPr lang="en-US" altLang="en-US" sz="900" smtClean="0">
                <a:latin typeface="Arial" panose="020B0604020202020204" pitchFamily="34" charset="0"/>
              </a:rPr>
              <a:t>Separation of Duties (182)</a:t>
            </a:r>
          </a:p>
          <a:p>
            <a:pPr marL="247650" indent="-247650" eaLnBrk="1" hangingPunct="1">
              <a:lnSpc>
                <a:spcPct val="90000"/>
              </a:lnSpc>
              <a:buFontTx/>
              <a:buChar char="•"/>
            </a:pPr>
            <a:r>
              <a:rPr lang="en-US" altLang="en-US" sz="900" smtClean="0">
                <a:latin typeface="Arial" panose="020B0604020202020204" pitchFamily="34" charset="0"/>
              </a:rPr>
              <a:t>Rotation of Duties (182)</a:t>
            </a:r>
          </a:p>
          <a:p>
            <a:pPr marL="247650" indent="-247650" eaLnBrk="1" hangingPunct="1">
              <a:lnSpc>
                <a:spcPct val="90000"/>
              </a:lnSpc>
            </a:pPr>
            <a:endParaRPr lang="en-US" altLang="en-US" sz="900" smtClean="0">
              <a:latin typeface="Arial" panose="020B0604020202020204" pitchFamily="34" charset="0"/>
            </a:endParaRPr>
          </a:p>
          <a:p>
            <a:pPr marL="247650" indent="-247650" eaLnBrk="1" hangingPunct="1">
              <a:lnSpc>
                <a:spcPct val="90000"/>
              </a:lnSpc>
            </a:pPr>
            <a:r>
              <a:rPr lang="en-US" altLang="en-US" sz="900" smtClean="0">
                <a:latin typeface="Arial" panose="020B0604020202020204" pitchFamily="34" charset="0"/>
              </a:rPr>
              <a:t>Supervisory structure:  Management must construct a supervisory structure in which each employee has a supervisor to report to, and that supervisor is responsible for that employee’s actions. (182)</a:t>
            </a:r>
          </a:p>
          <a:p>
            <a:pPr marL="247650" indent="-247650" eaLnBrk="1" hangingPunct="1">
              <a:lnSpc>
                <a:spcPct val="90000"/>
              </a:lnSpc>
            </a:pPr>
            <a:endParaRPr lang="en-US" altLang="en-US" sz="900" smtClean="0">
              <a:latin typeface="Arial" panose="020B0604020202020204" pitchFamily="34" charset="0"/>
            </a:endParaRPr>
          </a:p>
          <a:p>
            <a:pPr marL="247650" indent="-247650" eaLnBrk="1" hangingPunct="1">
              <a:lnSpc>
                <a:spcPct val="90000"/>
              </a:lnSpc>
            </a:pPr>
            <a:r>
              <a:rPr lang="en-US" altLang="en-US" sz="900" smtClean="0">
                <a:latin typeface="Arial" panose="020B0604020202020204" pitchFamily="34" charset="0"/>
              </a:rPr>
              <a:t>Security awareness training:  As computer security becomes more and more of an issue to companies, they will start to recognize the value of security awareness training. (183)</a:t>
            </a:r>
          </a:p>
          <a:p>
            <a:pPr marL="247650" indent="-247650" eaLnBrk="1" hangingPunct="1">
              <a:lnSpc>
                <a:spcPct val="90000"/>
              </a:lnSpc>
            </a:pPr>
            <a:endParaRPr lang="en-US" altLang="en-US" sz="900" smtClean="0">
              <a:latin typeface="Arial" panose="020B0604020202020204" pitchFamily="34" charset="0"/>
            </a:endParaRPr>
          </a:p>
          <a:p>
            <a:pPr marL="247650" indent="-247650" eaLnBrk="1" hangingPunct="1">
              <a:lnSpc>
                <a:spcPct val="90000"/>
              </a:lnSpc>
            </a:pPr>
            <a:r>
              <a:rPr lang="en-US" altLang="en-US" sz="900" smtClean="0">
                <a:latin typeface="Arial" panose="020B0604020202020204" pitchFamily="34" charset="0"/>
              </a:rPr>
              <a:t>Testing (183)</a:t>
            </a:r>
          </a:p>
          <a:p>
            <a:pPr marL="247650" indent="-247650" eaLnBrk="1" hangingPunct="1">
              <a:lnSpc>
                <a:spcPct val="90000"/>
              </a:lnSpc>
              <a:buFontTx/>
              <a:buChar char="•"/>
            </a:pPr>
            <a:r>
              <a:rPr lang="en-US" altLang="en-US" sz="900" smtClean="0">
                <a:latin typeface="Arial" panose="020B0604020202020204" pitchFamily="34" charset="0"/>
              </a:rPr>
              <a:t>All security controls, mechanisms, and procedures need to be tested on a periodic basis to ensure that they properly support the security policy, goals, and objectives set for them. (183)</a:t>
            </a:r>
          </a:p>
          <a:p>
            <a:pPr marL="247650" indent="-247650" eaLnBrk="1" hangingPunct="1">
              <a:lnSpc>
                <a:spcPct val="90000"/>
              </a:lnSpc>
              <a:buFontTx/>
              <a:buChar char="•"/>
            </a:pPr>
            <a:r>
              <a:rPr lang="en-US" altLang="en-US" sz="900" smtClean="0">
                <a:latin typeface="Arial" panose="020B0604020202020204" pitchFamily="34" charset="0"/>
              </a:rPr>
              <a:t>It is management’s responsibility to make sure that these tests take place. (183)</a:t>
            </a:r>
          </a:p>
          <a:p>
            <a:pPr marL="247650" indent="-247650" eaLnBrk="1" hangingPunct="1">
              <a:lnSpc>
                <a:spcPct val="90000"/>
              </a:lnSpc>
            </a:pPr>
            <a:endParaRPr lang="en-US" altLang="en-US" sz="900" smtClean="0">
              <a:latin typeface="Arial" panose="020B0604020202020204" pitchFamily="34" charset="0"/>
            </a:endParaRPr>
          </a:p>
        </p:txBody>
      </p:sp>
    </p:spTree>
    <p:extLst>
      <p:ext uri="{BB962C8B-B14F-4D97-AF65-F5344CB8AC3E}">
        <p14:creationId xmlns:p14="http://schemas.microsoft.com/office/powerpoint/2010/main" val="14844709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97D6A2C-81F9-45EE-9E7F-427CBC1AB1B7}" type="slidenum">
              <a:rPr lang="en-US" altLang="en-US"/>
              <a:pPr>
                <a:spcBef>
                  <a:spcPct val="0"/>
                </a:spcBef>
              </a:pPr>
              <a:t>62</a:t>
            </a:fld>
            <a:endParaRPr lang="en-US" altLang="en-US"/>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lnSpc>
                <a:spcPct val="80000"/>
              </a:lnSpc>
            </a:pPr>
            <a:r>
              <a:rPr lang="en-US" altLang="en-US" sz="900" smtClean="0">
                <a:latin typeface="Arial" panose="020B0604020202020204" pitchFamily="34" charset="0"/>
              </a:rPr>
              <a:t>All references are from All in One Book (Shon Harris, 2005)</a:t>
            </a:r>
          </a:p>
          <a:p>
            <a:pPr marL="247650" indent="-247650" eaLnBrk="1" hangingPunct="1">
              <a:lnSpc>
                <a:spcPct val="80000"/>
              </a:lnSpc>
            </a:pPr>
            <a:r>
              <a:rPr lang="en-US" altLang="en-US" sz="900" u="sng" smtClean="0">
                <a:latin typeface="Arial" panose="020B0604020202020204" pitchFamily="34" charset="0"/>
              </a:rPr>
              <a:t>Physical Controls</a:t>
            </a:r>
            <a:r>
              <a:rPr lang="en-US" altLang="en-US" sz="900" smtClean="0">
                <a:latin typeface="Arial" panose="020B0604020202020204" pitchFamily="34" charset="0"/>
              </a:rPr>
              <a:t> (181)</a:t>
            </a:r>
          </a:p>
          <a:p>
            <a:pPr marL="247650" indent="-247650" eaLnBrk="1" hangingPunct="1">
              <a:lnSpc>
                <a:spcPct val="80000"/>
              </a:lnSpc>
            </a:pPr>
            <a:r>
              <a:rPr lang="en-US" altLang="en-US" sz="900" smtClean="0">
                <a:latin typeface="Arial" panose="020B0604020202020204" pitchFamily="34" charset="0"/>
              </a:rPr>
              <a:t>Physical controls must support and work with administrative and technical controls to supply the right degree of access control. (183)</a:t>
            </a:r>
          </a:p>
          <a:p>
            <a:pPr marL="247650" indent="-247650" eaLnBrk="1" hangingPunct="1">
              <a:lnSpc>
                <a:spcPct val="80000"/>
              </a:lnSpc>
            </a:pPr>
            <a:endParaRPr lang="en-US" altLang="en-US" sz="900" smtClean="0">
              <a:latin typeface="Arial" panose="020B0604020202020204" pitchFamily="34" charset="0"/>
            </a:endParaRPr>
          </a:p>
          <a:p>
            <a:pPr marL="247650" indent="-247650" eaLnBrk="1" hangingPunct="1">
              <a:lnSpc>
                <a:spcPct val="80000"/>
              </a:lnSpc>
            </a:pPr>
            <a:r>
              <a:rPr lang="en-US" altLang="en-US" sz="900" smtClean="0">
                <a:latin typeface="Arial" panose="020B0604020202020204" pitchFamily="34" charset="0"/>
              </a:rPr>
              <a:t>Network segregation (183)</a:t>
            </a:r>
          </a:p>
          <a:p>
            <a:pPr marL="247650" indent="-247650" eaLnBrk="1" hangingPunct="1">
              <a:lnSpc>
                <a:spcPct val="80000"/>
              </a:lnSpc>
              <a:buFontTx/>
              <a:buChar char="•"/>
            </a:pPr>
            <a:r>
              <a:rPr lang="en-US" altLang="en-US" sz="900" smtClean="0">
                <a:latin typeface="Arial" panose="020B0604020202020204" pitchFamily="34" charset="0"/>
              </a:rPr>
              <a:t>Can be carried out through physical and logical means.  (183)</a:t>
            </a:r>
          </a:p>
          <a:p>
            <a:pPr marL="247650" indent="-247650" eaLnBrk="1" hangingPunct="1">
              <a:lnSpc>
                <a:spcPct val="80000"/>
              </a:lnSpc>
              <a:buFontTx/>
              <a:buChar char="•"/>
            </a:pPr>
            <a:r>
              <a:rPr lang="en-US" altLang="en-US" sz="900" smtClean="0">
                <a:latin typeface="Arial" panose="020B0604020202020204" pitchFamily="34" charset="0"/>
              </a:rPr>
              <a:t>Physical:  Each area for equipment has the necessary physical controls to ensure that only the permitted individuals have access into and out of those sections. (183)</a:t>
            </a:r>
          </a:p>
          <a:p>
            <a:pPr marL="247650" indent="-247650" eaLnBrk="1" hangingPunct="1">
              <a:lnSpc>
                <a:spcPct val="80000"/>
              </a:lnSpc>
            </a:pPr>
            <a:endParaRPr lang="en-US" altLang="en-US" sz="900" smtClean="0">
              <a:latin typeface="Arial" panose="020B0604020202020204" pitchFamily="34" charset="0"/>
            </a:endParaRPr>
          </a:p>
          <a:p>
            <a:pPr marL="247650" indent="-247650" eaLnBrk="1" hangingPunct="1">
              <a:lnSpc>
                <a:spcPct val="80000"/>
              </a:lnSpc>
            </a:pPr>
            <a:r>
              <a:rPr lang="en-US" altLang="en-US" sz="900" smtClean="0">
                <a:latin typeface="Arial" panose="020B0604020202020204" pitchFamily="34" charset="0"/>
              </a:rPr>
              <a:t>Perimeter security:  Perimeter security mechanisms provide physical access control by providing protection for individuals, facilities, and the components within facilities. (184)</a:t>
            </a:r>
          </a:p>
          <a:p>
            <a:pPr marL="247650" indent="-247650" eaLnBrk="1" hangingPunct="1">
              <a:lnSpc>
                <a:spcPct val="80000"/>
              </a:lnSpc>
            </a:pPr>
            <a:endParaRPr lang="en-US" altLang="en-US" sz="900" smtClean="0">
              <a:latin typeface="Arial" panose="020B0604020202020204" pitchFamily="34" charset="0"/>
            </a:endParaRPr>
          </a:p>
          <a:p>
            <a:pPr marL="247650" indent="-247650" eaLnBrk="1" hangingPunct="1">
              <a:lnSpc>
                <a:spcPct val="80000"/>
              </a:lnSpc>
            </a:pPr>
            <a:r>
              <a:rPr lang="en-US" altLang="en-US" sz="900" smtClean="0">
                <a:latin typeface="Arial" panose="020B0604020202020204" pitchFamily="34" charset="0"/>
              </a:rPr>
              <a:t>Computer controls:  Each computer can have physical controls installed and configured (e.g., locks on the cover, removal of floppy drives, implementation of a protection device to eliminated electrical emissions to thwart attempts to gather information through airwaves). (184)</a:t>
            </a:r>
          </a:p>
          <a:p>
            <a:pPr marL="247650" indent="-247650" eaLnBrk="1" hangingPunct="1">
              <a:lnSpc>
                <a:spcPct val="80000"/>
              </a:lnSpc>
            </a:pPr>
            <a:endParaRPr lang="en-US" altLang="en-US" sz="900" smtClean="0">
              <a:latin typeface="Arial" panose="020B0604020202020204" pitchFamily="34" charset="0"/>
            </a:endParaRPr>
          </a:p>
          <a:p>
            <a:pPr marL="247650" indent="-247650" eaLnBrk="1" hangingPunct="1">
              <a:lnSpc>
                <a:spcPct val="80000"/>
              </a:lnSpc>
            </a:pPr>
            <a:r>
              <a:rPr lang="en-US" altLang="en-US" sz="900" smtClean="0">
                <a:latin typeface="Arial" panose="020B0604020202020204" pitchFamily="34" charset="0"/>
              </a:rPr>
              <a:t>Work area separation:  Some environments might dictate that only particular individuals can access certain areas of the facility.  (184)</a:t>
            </a:r>
          </a:p>
          <a:p>
            <a:pPr marL="247650" indent="-247650" eaLnBrk="1" hangingPunct="1">
              <a:lnSpc>
                <a:spcPct val="80000"/>
              </a:lnSpc>
            </a:pPr>
            <a:endParaRPr lang="en-US" altLang="en-US" sz="900" smtClean="0">
              <a:latin typeface="Arial" panose="020B0604020202020204" pitchFamily="34" charset="0"/>
            </a:endParaRPr>
          </a:p>
          <a:p>
            <a:pPr marL="247650" indent="-247650" eaLnBrk="1" hangingPunct="1">
              <a:lnSpc>
                <a:spcPct val="80000"/>
              </a:lnSpc>
            </a:pPr>
            <a:r>
              <a:rPr lang="en-US" altLang="en-US" sz="900" smtClean="0">
                <a:latin typeface="Arial" panose="020B0604020202020204" pitchFamily="34" charset="0"/>
              </a:rPr>
              <a:t>Data backups:  Backing up data is a physical control to ensure that information can still be accessed after an emergency or disruption of the network or system. (184)</a:t>
            </a:r>
          </a:p>
          <a:p>
            <a:pPr marL="247650" indent="-247650" eaLnBrk="1" hangingPunct="1">
              <a:lnSpc>
                <a:spcPct val="80000"/>
              </a:lnSpc>
            </a:pPr>
            <a:endParaRPr lang="en-US" altLang="en-US" sz="900" smtClean="0">
              <a:latin typeface="Arial" panose="020B0604020202020204" pitchFamily="34" charset="0"/>
            </a:endParaRPr>
          </a:p>
          <a:p>
            <a:pPr marL="247650" indent="-247650" eaLnBrk="1" hangingPunct="1">
              <a:lnSpc>
                <a:spcPct val="80000"/>
              </a:lnSpc>
            </a:pPr>
            <a:r>
              <a:rPr lang="en-US" altLang="en-US" sz="900" smtClean="0">
                <a:latin typeface="Arial" panose="020B0604020202020204" pitchFamily="34" charset="0"/>
              </a:rPr>
              <a:t>Cabling:  Protection for the various types of cabling that carry information throughout a network. (184)</a:t>
            </a:r>
          </a:p>
          <a:p>
            <a:pPr marL="247650" indent="-247650" eaLnBrk="1" hangingPunct="1">
              <a:lnSpc>
                <a:spcPct val="80000"/>
              </a:lnSpc>
            </a:pPr>
            <a:endParaRPr lang="en-US" altLang="en-US" sz="900" smtClean="0">
              <a:latin typeface="Arial" panose="020B0604020202020204" pitchFamily="34" charset="0"/>
            </a:endParaRPr>
          </a:p>
          <a:p>
            <a:pPr marL="247650" indent="-247650" eaLnBrk="1" hangingPunct="1">
              <a:lnSpc>
                <a:spcPct val="80000"/>
              </a:lnSpc>
            </a:pPr>
            <a:r>
              <a:rPr lang="en-US" altLang="en-US" sz="900" b="1" i="1" smtClean="0">
                <a:latin typeface="Arial" panose="020B0604020202020204" pitchFamily="34" charset="0"/>
              </a:rPr>
              <a:t>Control zone</a:t>
            </a:r>
            <a:r>
              <a:rPr lang="en-US" altLang="en-US" sz="900" smtClean="0">
                <a:latin typeface="Arial" panose="020B0604020202020204" pitchFamily="34" charset="0"/>
              </a:rPr>
              <a:t>:  is a physical control, and is a specific area that surrounds and protects network devices that emit electrical signals.  It ensures that confidential information is contained and to hinder intruders from accessing information through the airwaves. (187)</a:t>
            </a:r>
          </a:p>
          <a:p>
            <a:pPr marL="247650" indent="-247650" eaLnBrk="1" hangingPunct="1">
              <a:lnSpc>
                <a:spcPct val="80000"/>
              </a:lnSpc>
            </a:pPr>
            <a:endParaRPr lang="en-US" altLang="en-US" sz="900" smtClean="0">
              <a:latin typeface="Arial" panose="020B0604020202020204" pitchFamily="34" charset="0"/>
            </a:endParaRPr>
          </a:p>
        </p:txBody>
      </p:sp>
    </p:spTree>
    <p:extLst>
      <p:ext uri="{BB962C8B-B14F-4D97-AF65-F5344CB8AC3E}">
        <p14:creationId xmlns:p14="http://schemas.microsoft.com/office/powerpoint/2010/main" val="36787142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CF2D47A-D9E8-4589-9AD5-4CAC10F20EEF}" type="slidenum">
              <a:rPr lang="en-US" altLang="en-US"/>
              <a:pPr>
                <a:spcBef>
                  <a:spcPct val="0"/>
                </a:spcBef>
              </a:pPr>
              <a:t>63</a:t>
            </a:fld>
            <a:endParaRPr lang="en-US" alt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lnSpc>
                <a:spcPct val="80000"/>
              </a:lnSpc>
            </a:pPr>
            <a:r>
              <a:rPr lang="en-US" altLang="en-US" sz="900" smtClean="0">
                <a:latin typeface="Arial" panose="020B0604020202020204" pitchFamily="34" charset="0"/>
              </a:rPr>
              <a:t>All references are from All in One Book (Shon Harris, 2005)</a:t>
            </a:r>
          </a:p>
          <a:p>
            <a:pPr marL="247650" indent="-247650" eaLnBrk="1" hangingPunct="1">
              <a:lnSpc>
                <a:spcPct val="80000"/>
              </a:lnSpc>
            </a:pPr>
            <a:endParaRPr lang="en-US" altLang="en-US" sz="900" smtClean="0">
              <a:latin typeface="Arial" panose="020B0604020202020204" pitchFamily="34" charset="0"/>
            </a:endParaRPr>
          </a:p>
          <a:p>
            <a:pPr marL="247650" indent="-247650" eaLnBrk="1" hangingPunct="1">
              <a:lnSpc>
                <a:spcPct val="80000"/>
              </a:lnSpc>
            </a:pPr>
            <a:r>
              <a:rPr lang="en-US" altLang="en-US" sz="900" smtClean="0">
                <a:latin typeface="Arial" panose="020B0604020202020204" pitchFamily="34" charset="0"/>
              </a:rPr>
              <a:t>Are the software tools used to restrict subject’s access to objects. (185)</a:t>
            </a:r>
          </a:p>
          <a:p>
            <a:pPr marL="247650" indent="-247650" eaLnBrk="1" hangingPunct="1">
              <a:lnSpc>
                <a:spcPct val="80000"/>
              </a:lnSpc>
              <a:buFontTx/>
              <a:buChar char="•"/>
            </a:pPr>
            <a:r>
              <a:rPr lang="en-US" altLang="en-US" sz="900" smtClean="0">
                <a:latin typeface="Arial" panose="020B0604020202020204" pitchFamily="34" charset="0"/>
              </a:rPr>
              <a:t>They are components of operating systems, add-on security packages, applications, network hardware devices, protocols, encryption mechanisms, and access control matrices. (185)</a:t>
            </a:r>
          </a:p>
          <a:p>
            <a:pPr marL="247650" indent="-247650" eaLnBrk="1" hangingPunct="1">
              <a:lnSpc>
                <a:spcPct val="80000"/>
              </a:lnSpc>
              <a:buFontTx/>
              <a:buChar char="•"/>
            </a:pPr>
            <a:endParaRPr lang="en-US" altLang="en-US" sz="900" smtClean="0">
              <a:latin typeface="Arial" panose="020B0604020202020204" pitchFamily="34" charset="0"/>
            </a:endParaRPr>
          </a:p>
          <a:p>
            <a:pPr marL="247650" indent="-247650" eaLnBrk="1" hangingPunct="1">
              <a:lnSpc>
                <a:spcPct val="80000"/>
              </a:lnSpc>
              <a:buFontTx/>
              <a:buChar char="•"/>
            </a:pPr>
            <a:r>
              <a:rPr lang="en-US" altLang="en-US" sz="900" smtClean="0">
                <a:latin typeface="Arial" panose="020B0604020202020204" pitchFamily="34" charset="0"/>
              </a:rPr>
              <a:t>System access:  There are many types of technical controls that enable a user to access a system and the resources within that system. (185)</a:t>
            </a:r>
          </a:p>
          <a:p>
            <a:pPr marL="247650" indent="-247650" eaLnBrk="1" hangingPunct="1">
              <a:lnSpc>
                <a:spcPct val="80000"/>
              </a:lnSpc>
              <a:buFontTx/>
              <a:buChar char="•"/>
            </a:pPr>
            <a:r>
              <a:rPr lang="en-US" altLang="en-US" sz="900" smtClean="0">
                <a:latin typeface="Arial" panose="020B0604020202020204" pitchFamily="34" charset="0"/>
              </a:rPr>
              <a:t>Network architecture:  The architecture of a network can be constructed and enforced through several logical controls to provide segregation and protection of the environment. (185)</a:t>
            </a:r>
          </a:p>
          <a:p>
            <a:pPr marL="1162050" lvl="2" indent="-247650" eaLnBrk="1" hangingPunct="1">
              <a:lnSpc>
                <a:spcPct val="80000"/>
              </a:lnSpc>
              <a:buFontTx/>
              <a:buChar char="•"/>
            </a:pPr>
            <a:r>
              <a:rPr lang="en-US" altLang="en-US" sz="900" smtClean="0">
                <a:latin typeface="Arial" panose="020B0604020202020204" pitchFamily="34" charset="0"/>
              </a:rPr>
              <a:t>Logical separation is through IP address ranges and subnets and by controlling the communication flow between the segments. (185)</a:t>
            </a:r>
          </a:p>
          <a:p>
            <a:pPr marL="247650" indent="-247650" eaLnBrk="1" hangingPunct="1">
              <a:lnSpc>
                <a:spcPct val="80000"/>
              </a:lnSpc>
              <a:buFontTx/>
              <a:buChar char="•"/>
            </a:pPr>
            <a:r>
              <a:rPr lang="en-US" altLang="en-US" sz="900" smtClean="0">
                <a:latin typeface="Arial" panose="020B0604020202020204" pitchFamily="34" charset="0"/>
              </a:rPr>
              <a:t>Network access (187)</a:t>
            </a:r>
          </a:p>
          <a:p>
            <a:pPr marL="1162050" lvl="2" indent="-247650" eaLnBrk="1" hangingPunct="1">
              <a:lnSpc>
                <a:spcPct val="80000"/>
              </a:lnSpc>
              <a:buFontTx/>
              <a:buChar char="•"/>
            </a:pPr>
            <a:r>
              <a:rPr lang="en-US" altLang="en-US" sz="900" smtClean="0">
                <a:latin typeface="Arial" panose="020B0604020202020204" pitchFamily="34" charset="0"/>
              </a:rPr>
              <a:t>Networks can have logical controls that dictate who can and cannot access them and what those individuals can do once they are authenticated. (187)</a:t>
            </a:r>
          </a:p>
          <a:p>
            <a:pPr marL="1162050" lvl="2" indent="-247650" eaLnBrk="1" hangingPunct="1">
              <a:lnSpc>
                <a:spcPct val="80000"/>
              </a:lnSpc>
              <a:buFontTx/>
              <a:buChar char="•"/>
            </a:pPr>
            <a:r>
              <a:rPr lang="en-US" altLang="en-US" sz="900" smtClean="0">
                <a:latin typeface="Arial" panose="020B0604020202020204" pitchFamily="34" charset="0"/>
              </a:rPr>
              <a:t>Switches, routers, firewalls, and bridges all work as technical controls to enforce access restriction into and out of network, and access to the different segments within the network. (187)</a:t>
            </a:r>
          </a:p>
          <a:p>
            <a:pPr marL="1162050" lvl="2" indent="-247650" eaLnBrk="1" hangingPunct="1">
              <a:lnSpc>
                <a:spcPct val="80000"/>
              </a:lnSpc>
              <a:buFontTx/>
              <a:buChar char="•"/>
            </a:pPr>
            <a:r>
              <a:rPr lang="en-US" altLang="en-US" sz="900" smtClean="0">
                <a:latin typeface="Arial" panose="020B0604020202020204" pitchFamily="34" charset="0"/>
              </a:rPr>
              <a:t>Access to different network segments should be granular in nature.  (187)</a:t>
            </a:r>
          </a:p>
          <a:p>
            <a:pPr marL="247650" indent="-247650" eaLnBrk="1" hangingPunct="1">
              <a:lnSpc>
                <a:spcPct val="80000"/>
              </a:lnSpc>
              <a:buFontTx/>
              <a:buChar char="•"/>
            </a:pPr>
            <a:r>
              <a:rPr lang="en-US" altLang="en-US" sz="900" smtClean="0">
                <a:latin typeface="Arial" panose="020B0604020202020204" pitchFamily="34" charset="0"/>
              </a:rPr>
              <a:t>Encryption and protocols:  work as technical controls to protect information as it passes throughout a network and resides on computers. (187)</a:t>
            </a:r>
          </a:p>
          <a:p>
            <a:pPr marL="1162050" lvl="2" indent="-247650" eaLnBrk="1" hangingPunct="1">
              <a:lnSpc>
                <a:spcPct val="80000"/>
              </a:lnSpc>
              <a:buFontTx/>
              <a:buChar char="•"/>
            </a:pPr>
            <a:r>
              <a:rPr lang="en-US" altLang="en-US" sz="900" smtClean="0">
                <a:latin typeface="Arial" panose="020B0604020202020204" pitchFamily="34" charset="0"/>
              </a:rPr>
              <a:t>They ensure that the information is received by the correct entity and that it is not modified during transmission. (187)</a:t>
            </a:r>
          </a:p>
          <a:p>
            <a:pPr marL="1162050" lvl="2" indent="-247650" eaLnBrk="1" hangingPunct="1">
              <a:lnSpc>
                <a:spcPct val="80000"/>
              </a:lnSpc>
              <a:buFontTx/>
              <a:buChar char="•"/>
            </a:pPr>
            <a:r>
              <a:rPr lang="en-US" altLang="en-US" sz="900" smtClean="0">
                <a:latin typeface="Arial" panose="020B0604020202020204" pitchFamily="34" charset="0"/>
              </a:rPr>
              <a:t>These controls can preserve the confidentiality and integrity of data and enforce specific paths for communication to take place. (187)</a:t>
            </a:r>
          </a:p>
          <a:p>
            <a:pPr marL="247650" indent="-247650" eaLnBrk="1" hangingPunct="1">
              <a:lnSpc>
                <a:spcPct val="80000"/>
              </a:lnSpc>
            </a:pPr>
            <a:endParaRPr lang="en-US" altLang="en-US" sz="900" b="1" i="1" smtClean="0">
              <a:latin typeface="Arial" panose="020B0604020202020204" pitchFamily="34" charset="0"/>
            </a:endParaRPr>
          </a:p>
          <a:p>
            <a:pPr marL="247650" indent="-247650" eaLnBrk="1" hangingPunct="1">
              <a:lnSpc>
                <a:spcPct val="80000"/>
              </a:lnSpc>
            </a:pPr>
            <a:endParaRPr lang="en-US" altLang="en-US" sz="900" b="1" i="1" smtClean="0">
              <a:latin typeface="Arial" panose="020B0604020202020204" pitchFamily="34" charset="0"/>
            </a:endParaRPr>
          </a:p>
          <a:p>
            <a:pPr marL="247650" indent="-247650" eaLnBrk="1" hangingPunct="1">
              <a:lnSpc>
                <a:spcPct val="80000"/>
              </a:lnSpc>
            </a:pPr>
            <a:r>
              <a:rPr lang="en-US" altLang="en-US" sz="900" b="1" i="1" smtClean="0">
                <a:latin typeface="Arial" panose="020B0604020202020204" pitchFamily="34" charset="0"/>
              </a:rPr>
              <a:t>Auditing</a:t>
            </a:r>
            <a:r>
              <a:rPr lang="en-US" altLang="en-US" sz="900" smtClean="0">
                <a:latin typeface="Arial" panose="020B0604020202020204" pitchFamily="34" charset="0"/>
              </a:rPr>
              <a:t>:  Auditing tools are technical controls that track activity within a network on a network device or on a specific computer. (188)</a:t>
            </a:r>
          </a:p>
          <a:p>
            <a:pPr marL="247650" indent="-247650" eaLnBrk="1" hangingPunct="1">
              <a:lnSpc>
                <a:spcPct val="80000"/>
              </a:lnSpc>
            </a:pPr>
            <a:endParaRPr lang="en-US" altLang="en-US" sz="900" smtClean="0">
              <a:latin typeface="Arial" panose="020B0604020202020204" pitchFamily="34" charset="0"/>
            </a:endParaRPr>
          </a:p>
        </p:txBody>
      </p:sp>
    </p:spTree>
    <p:extLst>
      <p:ext uri="{BB962C8B-B14F-4D97-AF65-F5344CB8AC3E}">
        <p14:creationId xmlns:p14="http://schemas.microsoft.com/office/powerpoint/2010/main" val="39943160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9EEBB7D-1ADB-4312-ACF9-1B3F45AE15EE}" type="slidenum">
              <a:rPr lang="en-US" altLang="en-US"/>
              <a:pPr>
                <a:spcBef>
                  <a:spcPct val="0"/>
                </a:spcBef>
              </a:pPr>
              <a:t>64</a:t>
            </a:fld>
            <a:endParaRPr lang="en-US" alt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Arial" panose="020B0604020202020204" pitchFamily="34" charset="0"/>
              </a:rPr>
              <a:t>All references are from All in One Book (Shon Harris, 2005)</a:t>
            </a:r>
          </a:p>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33306181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2EA2325-3B29-4C6B-B2E1-8EB12DD4420C}" type="slidenum">
              <a:rPr lang="en-US" altLang="en-US"/>
              <a:pPr>
                <a:spcBef>
                  <a:spcPct val="0"/>
                </a:spcBef>
              </a:pPr>
              <a:t>65</a:t>
            </a:fld>
            <a:endParaRPr lang="en-US" altLang="en-US"/>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lnSpc>
                <a:spcPct val="80000"/>
              </a:lnSpc>
            </a:pPr>
            <a:r>
              <a:rPr lang="en-US" altLang="en-US" sz="900" smtClean="0">
                <a:latin typeface="Arial" panose="020B0604020202020204" pitchFamily="34" charset="0"/>
              </a:rPr>
              <a:t>All references are from All in One Book (Shon Harris, 2005)</a:t>
            </a:r>
          </a:p>
          <a:p>
            <a:pPr marL="247650" indent="-247650" eaLnBrk="1" hangingPunct="1">
              <a:lnSpc>
                <a:spcPct val="80000"/>
              </a:lnSpc>
            </a:pPr>
            <a:endParaRPr lang="en-US" altLang="en-US" sz="900" u="sng" smtClean="0">
              <a:latin typeface="Arial" panose="020B0604020202020204" pitchFamily="34" charset="0"/>
            </a:endParaRPr>
          </a:p>
          <a:p>
            <a:pPr marL="247650" indent="-247650" eaLnBrk="1" hangingPunct="1">
              <a:lnSpc>
                <a:spcPct val="80000"/>
              </a:lnSpc>
            </a:pPr>
            <a:r>
              <a:rPr lang="en-US" altLang="en-US" sz="900" u="sng" smtClean="0">
                <a:latin typeface="Arial" panose="020B0604020202020204" pitchFamily="34" charset="0"/>
              </a:rPr>
              <a:t>Preventative:  Administrative</a:t>
            </a:r>
          </a:p>
          <a:p>
            <a:pPr marL="247650" indent="-247650" eaLnBrk="1" hangingPunct="1">
              <a:lnSpc>
                <a:spcPct val="80000"/>
              </a:lnSpc>
            </a:pPr>
            <a:r>
              <a:rPr lang="en-US" altLang="en-US" sz="900" smtClean="0">
                <a:latin typeface="Arial" panose="020B0604020202020204" pitchFamily="34" charset="0"/>
              </a:rPr>
              <a:t>The following are the soft mechanisms that are put into place to enforce access control and protection for the company as a whole: (190)</a:t>
            </a:r>
          </a:p>
          <a:p>
            <a:pPr marL="247650" indent="-247650" eaLnBrk="1" hangingPunct="1">
              <a:lnSpc>
                <a:spcPct val="80000"/>
              </a:lnSpc>
              <a:buFontTx/>
              <a:buChar char="•"/>
            </a:pPr>
            <a:r>
              <a:rPr lang="en-US" altLang="en-US" sz="900" smtClean="0">
                <a:latin typeface="Arial" panose="020B0604020202020204" pitchFamily="34" charset="0"/>
              </a:rPr>
              <a:t>Policies and procedures</a:t>
            </a:r>
          </a:p>
          <a:p>
            <a:pPr marL="247650" indent="-247650" eaLnBrk="1" hangingPunct="1">
              <a:lnSpc>
                <a:spcPct val="80000"/>
              </a:lnSpc>
              <a:buFontTx/>
              <a:buChar char="•"/>
            </a:pPr>
            <a:r>
              <a:rPr lang="en-US" altLang="en-US" sz="900" smtClean="0">
                <a:latin typeface="Arial" panose="020B0604020202020204" pitchFamily="34" charset="0"/>
              </a:rPr>
              <a:t>Effective hiring practices</a:t>
            </a:r>
          </a:p>
          <a:p>
            <a:pPr marL="247650" indent="-247650" eaLnBrk="1" hangingPunct="1">
              <a:lnSpc>
                <a:spcPct val="80000"/>
              </a:lnSpc>
              <a:buFontTx/>
              <a:buChar char="•"/>
            </a:pPr>
            <a:r>
              <a:rPr lang="en-US" altLang="en-US" sz="900" smtClean="0">
                <a:latin typeface="Arial" panose="020B0604020202020204" pitchFamily="34" charset="0"/>
              </a:rPr>
              <a:t>pre-employment background checks</a:t>
            </a:r>
          </a:p>
          <a:p>
            <a:pPr marL="247650" indent="-247650" eaLnBrk="1" hangingPunct="1">
              <a:lnSpc>
                <a:spcPct val="80000"/>
              </a:lnSpc>
              <a:buFontTx/>
              <a:buChar char="•"/>
            </a:pPr>
            <a:r>
              <a:rPr lang="en-US" altLang="en-US" sz="900" smtClean="0">
                <a:latin typeface="Arial" panose="020B0604020202020204" pitchFamily="34" charset="0"/>
              </a:rPr>
              <a:t>Controlled termination processes</a:t>
            </a:r>
          </a:p>
          <a:p>
            <a:pPr marL="247650" indent="-247650" eaLnBrk="1" hangingPunct="1">
              <a:lnSpc>
                <a:spcPct val="80000"/>
              </a:lnSpc>
              <a:buFontTx/>
              <a:buChar char="•"/>
            </a:pPr>
            <a:r>
              <a:rPr lang="en-US" altLang="en-US" sz="900" smtClean="0">
                <a:latin typeface="Arial" panose="020B0604020202020204" pitchFamily="34" charset="0"/>
              </a:rPr>
              <a:t>Data classification and labeling</a:t>
            </a:r>
          </a:p>
          <a:p>
            <a:pPr marL="247650" indent="-247650" eaLnBrk="1" hangingPunct="1">
              <a:lnSpc>
                <a:spcPct val="80000"/>
              </a:lnSpc>
              <a:buFontTx/>
              <a:buChar char="•"/>
            </a:pPr>
            <a:r>
              <a:rPr lang="en-US" altLang="en-US" sz="900" smtClean="0">
                <a:latin typeface="Arial" panose="020B0604020202020204" pitchFamily="34" charset="0"/>
              </a:rPr>
              <a:t>Security awareness</a:t>
            </a:r>
          </a:p>
          <a:p>
            <a:pPr marL="247650" indent="-247650" eaLnBrk="1" hangingPunct="1">
              <a:lnSpc>
                <a:spcPct val="80000"/>
              </a:lnSpc>
            </a:pPr>
            <a:endParaRPr lang="en-US" altLang="en-US" sz="900" u="sng" smtClean="0">
              <a:latin typeface="Arial" panose="020B0604020202020204" pitchFamily="34" charset="0"/>
            </a:endParaRPr>
          </a:p>
          <a:p>
            <a:pPr marL="247650" indent="-247650" eaLnBrk="1" hangingPunct="1">
              <a:lnSpc>
                <a:spcPct val="80000"/>
              </a:lnSpc>
            </a:pPr>
            <a:r>
              <a:rPr lang="en-US" altLang="en-US" sz="900" u="sng" smtClean="0">
                <a:latin typeface="Arial" panose="020B0604020202020204" pitchFamily="34" charset="0"/>
              </a:rPr>
              <a:t>Preventative:  Physical</a:t>
            </a:r>
          </a:p>
          <a:p>
            <a:pPr marL="247650" indent="-247650" eaLnBrk="1" hangingPunct="1">
              <a:lnSpc>
                <a:spcPct val="80000"/>
              </a:lnSpc>
            </a:pPr>
            <a:r>
              <a:rPr lang="en-US" altLang="en-US" sz="900" smtClean="0">
                <a:latin typeface="Arial" panose="020B0604020202020204" pitchFamily="34" charset="0"/>
              </a:rPr>
              <a:t>The following can physically restrict access to a facility, specific work areas, or computer systems: (190)</a:t>
            </a:r>
          </a:p>
          <a:p>
            <a:pPr marL="247650" indent="-247650" eaLnBrk="1" hangingPunct="1">
              <a:lnSpc>
                <a:spcPct val="80000"/>
              </a:lnSpc>
              <a:buFontTx/>
              <a:buChar char="•"/>
            </a:pPr>
            <a:r>
              <a:rPr lang="en-US" altLang="en-US" sz="900" smtClean="0">
                <a:latin typeface="Arial" panose="020B0604020202020204" pitchFamily="34" charset="0"/>
              </a:rPr>
              <a:t>Badges, swipe cards</a:t>
            </a:r>
          </a:p>
          <a:p>
            <a:pPr marL="247650" indent="-247650" eaLnBrk="1" hangingPunct="1">
              <a:lnSpc>
                <a:spcPct val="80000"/>
              </a:lnSpc>
              <a:buFontTx/>
              <a:buChar char="•"/>
            </a:pPr>
            <a:r>
              <a:rPr lang="en-US" altLang="en-US" sz="900" smtClean="0">
                <a:latin typeface="Arial" panose="020B0604020202020204" pitchFamily="34" charset="0"/>
              </a:rPr>
              <a:t>Guards, dogs</a:t>
            </a:r>
          </a:p>
          <a:p>
            <a:pPr marL="247650" indent="-247650" eaLnBrk="1" hangingPunct="1">
              <a:lnSpc>
                <a:spcPct val="80000"/>
              </a:lnSpc>
              <a:buFontTx/>
              <a:buChar char="•"/>
            </a:pPr>
            <a:r>
              <a:rPr lang="en-US" altLang="en-US" sz="900" smtClean="0">
                <a:latin typeface="Arial" panose="020B0604020202020204" pitchFamily="34" charset="0"/>
              </a:rPr>
              <a:t>Fences, locks, mantraps</a:t>
            </a:r>
          </a:p>
          <a:p>
            <a:pPr marL="1162050" lvl="2" indent="-247650" eaLnBrk="1" hangingPunct="1">
              <a:lnSpc>
                <a:spcPct val="80000"/>
              </a:lnSpc>
              <a:buFontTx/>
              <a:buChar char="•"/>
            </a:pPr>
            <a:r>
              <a:rPr lang="en-US" altLang="en-US" sz="900" smtClean="0">
                <a:latin typeface="Arial" panose="020B0604020202020204" pitchFamily="34" charset="0"/>
              </a:rPr>
              <a:t>Locks are usually considered delay mechanisms because they only delay a determined intruder.  The goal is to delay access long enough to allow law enforcement or the security guard to respond to the situation. (190)</a:t>
            </a:r>
          </a:p>
          <a:p>
            <a:pPr marL="247650" indent="-247650" eaLnBrk="1" hangingPunct="1">
              <a:lnSpc>
                <a:spcPct val="80000"/>
              </a:lnSpc>
            </a:pPr>
            <a:endParaRPr lang="en-US" altLang="en-US" sz="900" u="sng" smtClean="0">
              <a:latin typeface="Arial" panose="020B0604020202020204" pitchFamily="34" charset="0"/>
            </a:endParaRPr>
          </a:p>
          <a:p>
            <a:pPr marL="247650" indent="-247650" eaLnBrk="1" hangingPunct="1">
              <a:lnSpc>
                <a:spcPct val="80000"/>
              </a:lnSpc>
            </a:pPr>
            <a:r>
              <a:rPr lang="en-US" altLang="en-US" sz="900" u="sng" smtClean="0">
                <a:latin typeface="Arial" panose="020B0604020202020204" pitchFamily="34" charset="0"/>
              </a:rPr>
              <a:t>Preventative:  Technical</a:t>
            </a:r>
          </a:p>
          <a:p>
            <a:pPr marL="247650" indent="-247650" eaLnBrk="1" hangingPunct="1">
              <a:lnSpc>
                <a:spcPct val="80000"/>
              </a:lnSpc>
            </a:pPr>
            <a:r>
              <a:rPr lang="en-US" altLang="en-US" sz="900" smtClean="0">
                <a:latin typeface="Arial" panose="020B0604020202020204" pitchFamily="34" charset="0"/>
              </a:rPr>
              <a:t>The following are logical controls that are part of operating systems, third party application add ons, or hardware units: (190)</a:t>
            </a:r>
          </a:p>
          <a:p>
            <a:pPr marL="247650" indent="-247650" eaLnBrk="1" hangingPunct="1">
              <a:lnSpc>
                <a:spcPct val="80000"/>
              </a:lnSpc>
              <a:buFontTx/>
              <a:buChar char="•"/>
            </a:pPr>
            <a:r>
              <a:rPr lang="en-US" altLang="en-US" sz="900" smtClean="0">
                <a:latin typeface="Arial" panose="020B0604020202020204" pitchFamily="34" charset="0"/>
              </a:rPr>
              <a:t>Passwords, biometrics, smart cards</a:t>
            </a:r>
          </a:p>
          <a:p>
            <a:pPr marL="247650" indent="-247650" eaLnBrk="1" hangingPunct="1">
              <a:lnSpc>
                <a:spcPct val="80000"/>
              </a:lnSpc>
              <a:buFontTx/>
              <a:buChar char="•"/>
            </a:pPr>
            <a:r>
              <a:rPr lang="en-US" altLang="en-US" sz="900" smtClean="0">
                <a:latin typeface="Arial" panose="020B0604020202020204" pitchFamily="34" charset="0"/>
              </a:rPr>
              <a:t>encryption, protocols, call back systems, database views, constrained user interfaces </a:t>
            </a:r>
          </a:p>
          <a:p>
            <a:pPr marL="247650" indent="-247650" eaLnBrk="1" hangingPunct="1">
              <a:lnSpc>
                <a:spcPct val="80000"/>
              </a:lnSpc>
              <a:buFontTx/>
              <a:buChar char="•"/>
            </a:pPr>
            <a:r>
              <a:rPr lang="en-US" altLang="en-US" sz="900" smtClean="0">
                <a:latin typeface="Arial" panose="020B0604020202020204" pitchFamily="34" charset="0"/>
              </a:rPr>
              <a:t>Antivirus software, ACLs, firewalls, routers, clipping levels</a:t>
            </a:r>
          </a:p>
          <a:p>
            <a:pPr marL="247650" indent="-247650" eaLnBrk="1" hangingPunct="1">
              <a:lnSpc>
                <a:spcPct val="80000"/>
              </a:lnSpc>
            </a:pPr>
            <a:endParaRPr lang="en-US" altLang="en-US" sz="900" smtClean="0">
              <a:latin typeface="Arial" panose="020B0604020202020204" pitchFamily="34" charset="0"/>
            </a:endParaRPr>
          </a:p>
        </p:txBody>
      </p:sp>
    </p:spTree>
    <p:extLst>
      <p:ext uri="{BB962C8B-B14F-4D97-AF65-F5344CB8AC3E}">
        <p14:creationId xmlns:p14="http://schemas.microsoft.com/office/powerpoint/2010/main" val="1213147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BFC3387-5989-443E-B0DA-3383EC5B6713}" type="slidenum">
              <a:rPr lang="en-US" altLang="en-US"/>
              <a:pPr>
                <a:spcBef>
                  <a:spcPct val="0"/>
                </a:spcBef>
              </a:pPr>
              <a:t>66</a:t>
            </a:fld>
            <a:endParaRPr lang="en-US" altLang="en-US"/>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lnSpc>
                <a:spcPct val="90000"/>
              </a:lnSpc>
            </a:pPr>
            <a:r>
              <a:rPr lang="en-US" altLang="en-US" sz="1000" smtClean="0">
                <a:latin typeface="Arial" panose="020B0604020202020204" pitchFamily="34" charset="0"/>
              </a:rPr>
              <a:t>All references are from All in One Book (Shon Harris, 2005)</a:t>
            </a:r>
          </a:p>
          <a:p>
            <a:pPr marL="247650" indent="-247650" eaLnBrk="1" hangingPunct="1">
              <a:lnSpc>
                <a:spcPct val="90000"/>
              </a:lnSpc>
            </a:pPr>
            <a:endParaRPr lang="en-US" altLang="en-US" sz="1000" smtClean="0">
              <a:latin typeface="Arial" panose="020B0604020202020204" pitchFamily="34" charset="0"/>
            </a:endParaRPr>
          </a:p>
          <a:p>
            <a:pPr marL="247650" indent="-247650" eaLnBrk="1" hangingPunct="1">
              <a:lnSpc>
                <a:spcPct val="90000"/>
              </a:lnSpc>
            </a:pPr>
            <a:r>
              <a:rPr lang="en-US" altLang="en-US" sz="1000" smtClean="0">
                <a:latin typeface="Arial" panose="020B0604020202020204" pitchFamily="34" charset="0"/>
              </a:rPr>
              <a:t>Review of Audit Information</a:t>
            </a:r>
          </a:p>
          <a:p>
            <a:pPr marL="247650" indent="-247650" eaLnBrk="1" hangingPunct="1">
              <a:lnSpc>
                <a:spcPct val="90000"/>
              </a:lnSpc>
            </a:pPr>
            <a:r>
              <a:rPr lang="en-US" altLang="en-US" sz="1000" smtClean="0">
                <a:latin typeface="Arial" panose="020B0604020202020204" pitchFamily="34" charset="0"/>
              </a:rPr>
              <a:t>It does no good to collect it if you do not look at it. (194)</a:t>
            </a:r>
          </a:p>
          <a:p>
            <a:pPr marL="247650" indent="-247650" eaLnBrk="1" hangingPunct="1">
              <a:lnSpc>
                <a:spcPct val="90000"/>
              </a:lnSpc>
            </a:pPr>
            <a:endParaRPr lang="en-US" altLang="en-US" sz="1000" b="1" i="1" smtClean="0">
              <a:latin typeface="Arial" panose="020B0604020202020204" pitchFamily="34" charset="0"/>
            </a:endParaRPr>
          </a:p>
          <a:p>
            <a:pPr marL="247650" indent="-247650" eaLnBrk="1" hangingPunct="1">
              <a:lnSpc>
                <a:spcPct val="90000"/>
              </a:lnSpc>
            </a:pPr>
            <a:r>
              <a:rPr lang="en-US" altLang="en-US" sz="1000" b="1" i="1" smtClean="0">
                <a:latin typeface="Arial" panose="020B0604020202020204" pitchFamily="34" charset="0"/>
              </a:rPr>
              <a:t>Event Oriented Audit Review</a:t>
            </a:r>
            <a:r>
              <a:rPr lang="en-US" altLang="en-US" sz="1000" smtClean="0">
                <a:latin typeface="Arial" panose="020B0604020202020204" pitchFamily="34" charset="0"/>
              </a:rPr>
              <a:t>:  Review of audit logs after a security breach, unexplained system action, or system disruption. (195)</a:t>
            </a:r>
          </a:p>
          <a:p>
            <a:pPr marL="247650" indent="-247650" eaLnBrk="1" hangingPunct="1">
              <a:lnSpc>
                <a:spcPct val="90000"/>
              </a:lnSpc>
            </a:pPr>
            <a:r>
              <a:rPr lang="en-US" altLang="en-US" sz="1000" smtClean="0">
                <a:latin typeface="Arial" panose="020B0604020202020204" pitchFamily="34" charset="0"/>
              </a:rPr>
              <a:t>Audit trails can be viewed periodically to watch for unusual behavior of users or systems and help understand the baseline and health of a system. (195)</a:t>
            </a:r>
          </a:p>
          <a:p>
            <a:pPr marL="247650" indent="-247650" eaLnBrk="1" hangingPunct="1">
              <a:lnSpc>
                <a:spcPct val="90000"/>
              </a:lnSpc>
            </a:pPr>
            <a:endParaRPr lang="en-US" altLang="en-US" sz="1000" b="1" i="1" smtClean="0">
              <a:latin typeface="Arial" panose="020B0604020202020204" pitchFamily="34" charset="0"/>
            </a:endParaRPr>
          </a:p>
          <a:p>
            <a:pPr marL="247650" indent="-247650" eaLnBrk="1" hangingPunct="1">
              <a:lnSpc>
                <a:spcPct val="90000"/>
              </a:lnSpc>
            </a:pPr>
            <a:r>
              <a:rPr lang="en-US" altLang="en-US" sz="1000" b="1" i="1" smtClean="0">
                <a:latin typeface="Arial" panose="020B0604020202020204" pitchFamily="34" charset="0"/>
              </a:rPr>
              <a:t>Real Time and Near Real time:</a:t>
            </a:r>
            <a:r>
              <a:rPr lang="en-US" altLang="en-US" sz="1000" smtClean="0">
                <a:latin typeface="Arial" panose="020B0604020202020204" pitchFamily="34" charset="0"/>
              </a:rPr>
              <a:t>  Audit analysis that can use an automated tool to review audit information as it is created. (195)</a:t>
            </a:r>
          </a:p>
          <a:p>
            <a:pPr marL="247650" indent="-247650" eaLnBrk="1" hangingPunct="1">
              <a:lnSpc>
                <a:spcPct val="90000"/>
              </a:lnSpc>
            </a:pPr>
            <a:endParaRPr lang="en-US" altLang="en-US" sz="1000" b="1" i="1" smtClean="0">
              <a:latin typeface="Arial" panose="020B0604020202020204" pitchFamily="34" charset="0"/>
            </a:endParaRPr>
          </a:p>
          <a:p>
            <a:pPr marL="247650" indent="-247650" eaLnBrk="1" hangingPunct="1">
              <a:lnSpc>
                <a:spcPct val="90000"/>
              </a:lnSpc>
            </a:pPr>
            <a:r>
              <a:rPr lang="en-US" altLang="en-US" sz="1000" b="1" i="1" smtClean="0">
                <a:latin typeface="Arial" panose="020B0604020202020204" pitchFamily="34" charset="0"/>
              </a:rPr>
              <a:t>Audit Reduction Tool:</a:t>
            </a:r>
            <a:r>
              <a:rPr lang="en-US" altLang="en-US" sz="1000" smtClean="0">
                <a:latin typeface="Arial" panose="020B0604020202020204" pitchFamily="34" charset="0"/>
              </a:rPr>
              <a:t> A tool that reduces the amount of information within an audit log.  The tool discards mundane task information and records system performance, security, and other functionality information. (195)</a:t>
            </a:r>
          </a:p>
          <a:p>
            <a:pPr marL="247650" indent="-247650" eaLnBrk="1" hangingPunct="1">
              <a:lnSpc>
                <a:spcPct val="90000"/>
              </a:lnSpc>
            </a:pPr>
            <a:endParaRPr lang="en-US" altLang="en-US" sz="1000" b="1" i="1" smtClean="0">
              <a:latin typeface="Arial" panose="020B0604020202020204" pitchFamily="34" charset="0"/>
            </a:endParaRPr>
          </a:p>
          <a:p>
            <a:pPr marL="247650" indent="-247650" eaLnBrk="1" hangingPunct="1">
              <a:lnSpc>
                <a:spcPct val="90000"/>
              </a:lnSpc>
            </a:pPr>
            <a:r>
              <a:rPr lang="en-US" altLang="en-US" sz="1000" b="1" i="1" smtClean="0">
                <a:latin typeface="Arial" panose="020B0604020202020204" pitchFamily="34" charset="0"/>
              </a:rPr>
              <a:t>Variance Detection Tool:</a:t>
            </a:r>
            <a:r>
              <a:rPr lang="en-US" altLang="en-US" sz="1000" smtClean="0">
                <a:latin typeface="Arial" panose="020B0604020202020204" pitchFamily="34" charset="0"/>
              </a:rPr>
              <a:t>  Can monitor computer and resource usage trends and detect variations. (195)</a:t>
            </a:r>
          </a:p>
          <a:p>
            <a:pPr marL="247650" indent="-247650" eaLnBrk="1" hangingPunct="1">
              <a:lnSpc>
                <a:spcPct val="90000"/>
              </a:lnSpc>
            </a:pPr>
            <a:endParaRPr lang="en-US" altLang="en-US" sz="1000" b="1" i="1" smtClean="0">
              <a:latin typeface="Arial" panose="020B0604020202020204" pitchFamily="34" charset="0"/>
            </a:endParaRPr>
          </a:p>
          <a:p>
            <a:pPr marL="247650" indent="-247650" eaLnBrk="1" hangingPunct="1">
              <a:lnSpc>
                <a:spcPct val="90000"/>
              </a:lnSpc>
            </a:pPr>
            <a:r>
              <a:rPr lang="en-US" altLang="en-US" sz="1000" b="1" i="1" smtClean="0">
                <a:latin typeface="Arial" panose="020B0604020202020204" pitchFamily="34" charset="0"/>
              </a:rPr>
              <a:t>Attack Signature Detection Tool</a:t>
            </a:r>
            <a:r>
              <a:rPr lang="en-US" altLang="en-US" sz="1000" smtClean="0">
                <a:latin typeface="Arial" panose="020B0604020202020204" pitchFamily="34" charset="0"/>
              </a:rPr>
              <a:t>:  An application that will have a database of information that has been known to indicate specific attacks.  This type of tool parses audit logs in search of certain patterns.  If a pattern matches a pattern or signature held within its database, the tool indicates that an attack has taken place or is in progress. (195)</a:t>
            </a:r>
          </a:p>
          <a:p>
            <a:pPr marL="247650" indent="-247650" eaLnBrk="1" hangingPunct="1">
              <a:lnSpc>
                <a:spcPct val="90000"/>
              </a:lnSpc>
            </a:pPr>
            <a:endParaRPr lang="en-US" altLang="en-US" sz="1000" smtClean="0">
              <a:latin typeface="Arial" panose="020B0604020202020204" pitchFamily="34" charset="0"/>
            </a:endParaRPr>
          </a:p>
        </p:txBody>
      </p:sp>
    </p:spTree>
    <p:extLst>
      <p:ext uri="{BB962C8B-B14F-4D97-AF65-F5344CB8AC3E}">
        <p14:creationId xmlns:p14="http://schemas.microsoft.com/office/powerpoint/2010/main" val="25265771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AFE06F4-19C3-4EE8-B188-CBF257524C91}" type="slidenum">
              <a:rPr lang="en-US" altLang="en-US"/>
              <a:pPr>
                <a:spcBef>
                  <a:spcPct val="0"/>
                </a:spcBef>
              </a:pPr>
              <a:t>67</a:t>
            </a:fld>
            <a:endParaRPr lang="en-US" altLang="en-US"/>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r>
              <a:rPr lang="en-US" altLang="en-US" smtClean="0">
                <a:latin typeface="Arial" panose="020B0604020202020204" pitchFamily="34" charset="0"/>
              </a:rPr>
              <a:t>All references are from All in One Book (Shon Harris, 2005)</a:t>
            </a:r>
          </a:p>
          <a:p>
            <a:pPr marL="247650" indent="-247650" eaLnBrk="1" hangingPunct="1"/>
            <a:endParaRPr lang="en-US" altLang="en-US" b="1" i="1" smtClean="0">
              <a:latin typeface="Arial" panose="020B0604020202020204" pitchFamily="34" charset="0"/>
            </a:endParaRPr>
          </a:p>
          <a:p>
            <a:pPr marL="247650" indent="-247650" eaLnBrk="1" hangingPunct="1"/>
            <a:r>
              <a:rPr lang="en-US" altLang="en-US" b="1" i="1" smtClean="0">
                <a:latin typeface="Arial" panose="020B0604020202020204" pitchFamily="34" charset="0"/>
              </a:rPr>
              <a:t>Keystroke Monitoring</a:t>
            </a:r>
            <a:r>
              <a:rPr lang="en-US" altLang="en-US" smtClean="0">
                <a:latin typeface="Arial" panose="020B0604020202020204" pitchFamily="34" charset="0"/>
              </a:rPr>
              <a:t>:  A type of auditing that can review and record keystrokes entered by a user during an active session.  (195)</a:t>
            </a:r>
          </a:p>
          <a:p>
            <a:pPr marL="247650" indent="-247650" eaLnBrk="1" hangingPunct="1"/>
            <a:r>
              <a:rPr lang="en-US" altLang="en-US" smtClean="0">
                <a:latin typeface="Arial" panose="020B0604020202020204" pitchFamily="34" charset="0"/>
              </a:rPr>
              <a:t>A hacker can also use this type of monitoring. (195)</a:t>
            </a:r>
          </a:p>
          <a:p>
            <a:pPr marL="247650" indent="-247650" eaLnBrk="1" hangingPunct="1"/>
            <a:r>
              <a:rPr lang="en-US" altLang="en-US" smtClean="0">
                <a:latin typeface="Arial" panose="020B0604020202020204" pitchFamily="34" charset="0"/>
              </a:rPr>
              <a:t>There are privacy issues with this type of monitoring and administrators could be subject to criminal and civil liabilities if it is done without proper notification to the employees and authorization from management. (196)</a:t>
            </a:r>
          </a:p>
          <a:p>
            <a:pPr marL="247650" indent="-247650" eaLnBrk="1" hangingPunct="1"/>
            <a:endParaRPr lang="en-US" altLang="en-US" smtClean="0">
              <a:latin typeface="Arial" panose="020B0604020202020204" pitchFamily="34" charset="0"/>
            </a:endParaRPr>
          </a:p>
          <a:p>
            <a:pPr marL="247650" indent="-247650" eaLnBrk="1" hangingPunct="1"/>
            <a:r>
              <a:rPr lang="en-US" altLang="en-US" smtClean="0">
                <a:latin typeface="Arial" panose="020B0604020202020204" pitchFamily="34" charset="0"/>
              </a:rPr>
              <a:t>Protecting Audit Data and Log Information</a:t>
            </a:r>
            <a:endParaRPr lang="en-US" altLang="en-US" b="1" i="1" smtClean="0">
              <a:latin typeface="Arial" panose="020B0604020202020204" pitchFamily="34" charset="0"/>
            </a:endParaRPr>
          </a:p>
          <a:p>
            <a:pPr marL="247650" indent="-247650" eaLnBrk="1" hangingPunct="1"/>
            <a:r>
              <a:rPr lang="en-US" altLang="en-US" b="1" i="1" smtClean="0">
                <a:latin typeface="Arial" panose="020B0604020202020204" pitchFamily="34" charset="0"/>
              </a:rPr>
              <a:t>Scrubbing</a:t>
            </a:r>
            <a:r>
              <a:rPr lang="en-US" altLang="en-US" smtClean="0">
                <a:latin typeface="Arial" panose="020B0604020202020204" pitchFamily="34" charset="0"/>
              </a:rPr>
              <a:t>:  Deleting specific incriminating data within audit logs. (196)</a:t>
            </a:r>
          </a:p>
          <a:p>
            <a:pPr marL="247650" indent="-247650" eaLnBrk="1" hangingPunct="1"/>
            <a:r>
              <a:rPr lang="en-US" altLang="en-US" smtClean="0">
                <a:latin typeface="Arial" panose="020B0604020202020204" pitchFamily="34" charset="0"/>
              </a:rPr>
              <a:t>Only- certain individuals (administrator and security personnel) should be able to view, modify, and delete audit trail information. (196)</a:t>
            </a:r>
          </a:p>
          <a:p>
            <a:pPr marL="247650" indent="-247650" eaLnBrk="1" hangingPunct="1"/>
            <a:r>
              <a:rPr lang="en-US" altLang="en-US" smtClean="0">
                <a:latin typeface="Arial" panose="020B0604020202020204" pitchFamily="34" charset="0"/>
              </a:rPr>
              <a:t>The integrity and confidentiality of audit logs is important because they could be used as evidence in a trial. (196)</a:t>
            </a:r>
          </a:p>
        </p:txBody>
      </p:sp>
    </p:spTree>
    <p:extLst>
      <p:ext uri="{BB962C8B-B14F-4D97-AF65-F5344CB8AC3E}">
        <p14:creationId xmlns:p14="http://schemas.microsoft.com/office/powerpoint/2010/main" val="379935155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EA9E9B2-B3E0-4667-B9DA-05AD23E11E79}" type="slidenum">
              <a:rPr lang="en-US" altLang="en-US"/>
              <a:pPr>
                <a:spcBef>
                  <a:spcPct val="0"/>
                </a:spcBef>
              </a:pPr>
              <a:t>68</a:t>
            </a:fld>
            <a:endParaRPr lang="en-US" altLang="en-US"/>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lnSpc>
                <a:spcPct val="90000"/>
              </a:lnSpc>
            </a:pPr>
            <a:r>
              <a:rPr lang="en-US" altLang="en-US" sz="1000" smtClean="0">
                <a:latin typeface="Arial" panose="020B0604020202020204" pitchFamily="34" charset="0"/>
              </a:rPr>
              <a:t>All references are from All in One Book (Shon Harris, 2005)</a:t>
            </a:r>
          </a:p>
          <a:p>
            <a:pPr marL="247650" indent="-247650" eaLnBrk="1" hangingPunct="1">
              <a:lnSpc>
                <a:spcPct val="90000"/>
              </a:lnSpc>
            </a:pPr>
            <a:endParaRPr lang="en-US" altLang="en-US" sz="1000" smtClean="0">
              <a:latin typeface="Arial" panose="020B0604020202020204" pitchFamily="34" charset="0"/>
            </a:endParaRPr>
          </a:p>
          <a:p>
            <a:pPr marL="1162050" lvl="2" indent="-247650" eaLnBrk="1" hangingPunct="1">
              <a:lnSpc>
                <a:spcPct val="90000"/>
              </a:lnSpc>
            </a:pPr>
            <a:r>
              <a:rPr lang="en-US" altLang="en-US" sz="1000" smtClean="0">
                <a:latin typeface="Arial" panose="020B0604020202020204" pitchFamily="34" charset="0"/>
              </a:rPr>
              <a:t>Deny access to systems by undefined users or anonymous accounts</a:t>
            </a:r>
          </a:p>
          <a:p>
            <a:pPr marL="1162050" lvl="2" indent="-247650" eaLnBrk="1" hangingPunct="1">
              <a:lnSpc>
                <a:spcPct val="90000"/>
              </a:lnSpc>
            </a:pPr>
            <a:r>
              <a:rPr lang="en-US" altLang="en-US" sz="1000" smtClean="0">
                <a:latin typeface="Arial" panose="020B0604020202020204" pitchFamily="34" charset="0"/>
              </a:rPr>
              <a:t>Limit and monitor the usage of administrator and other powerful accounts</a:t>
            </a:r>
          </a:p>
          <a:p>
            <a:pPr marL="1162050" lvl="2" indent="-247650" eaLnBrk="1" hangingPunct="1">
              <a:lnSpc>
                <a:spcPct val="90000"/>
              </a:lnSpc>
            </a:pPr>
            <a:r>
              <a:rPr lang="en-US" altLang="en-US" sz="1000" smtClean="0">
                <a:latin typeface="Arial" panose="020B0604020202020204" pitchFamily="34" charset="0"/>
              </a:rPr>
              <a:t>Suspend or delay access capability after a specific number of unsuccessful logon attempts</a:t>
            </a:r>
          </a:p>
          <a:p>
            <a:pPr marL="1162050" lvl="2" indent="-247650" eaLnBrk="1" hangingPunct="1">
              <a:lnSpc>
                <a:spcPct val="90000"/>
              </a:lnSpc>
            </a:pPr>
            <a:r>
              <a:rPr lang="en-US" altLang="en-US" sz="1000" smtClean="0">
                <a:latin typeface="Arial" panose="020B0604020202020204" pitchFamily="34" charset="0"/>
              </a:rPr>
              <a:t>Remove obsolete user accounts as soon as the user leaves the company</a:t>
            </a:r>
          </a:p>
          <a:p>
            <a:pPr marL="1162050" lvl="2" indent="-247650" eaLnBrk="1" hangingPunct="1">
              <a:lnSpc>
                <a:spcPct val="90000"/>
              </a:lnSpc>
            </a:pPr>
            <a:r>
              <a:rPr lang="en-US" altLang="en-US" sz="1000" smtClean="0">
                <a:latin typeface="Arial" panose="020B0604020202020204" pitchFamily="34" charset="0"/>
              </a:rPr>
              <a:t>Suspend inactive accounts after  30 to 60 days</a:t>
            </a:r>
          </a:p>
          <a:p>
            <a:pPr marL="1162050" lvl="2" indent="-247650" eaLnBrk="1" hangingPunct="1">
              <a:lnSpc>
                <a:spcPct val="90000"/>
              </a:lnSpc>
            </a:pPr>
            <a:r>
              <a:rPr lang="en-US" altLang="en-US" sz="1000" smtClean="0">
                <a:latin typeface="Arial" panose="020B0604020202020204" pitchFamily="34" charset="0"/>
              </a:rPr>
              <a:t>Enforce strict access criteria</a:t>
            </a:r>
          </a:p>
          <a:p>
            <a:pPr marL="1162050" lvl="2" indent="-247650" eaLnBrk="1" hangingPunct="1">
              <a:lnSpc>
                <a:spcPct val="90000"/>
              </a:lnSpc>
            </a:pPr>
            <a:r>
              <a:rPr lang="en-US" altLang="en-US" sz="1000" smtClean="0">
                <a:latin typeface="Arial" panose="020B0604020202020204" pitchFamily="34" charset="0"/>
              </a:rPr>
              <a:t>Enforce the need to know and least privilege practices</a:t>
            </a:r>
          </a:p>
          <a:p>
            <a:pPr marL="1162050" lvl="2" indent="-247650" eaLnBrk="1" hangingPunct="1">
              <a:lnSpc>
                <a:spcPct val="90000"/>
              </a:lnSpc>
            </a:pPr>
            <a:r>
              <a:rPr lang="en-US" altLang="en-US" sz="1000" smtClean="0">
                <a:latin typeface="Arial" panose="020B0604020202020204" pitchFamily="34" charset="0"/>
              </a:rPr>
              <a:t>Disable unneeded system features, services, and ports</a:t>
            </a:r>
          </a:p>
          <a:p>
            <a:pPr marL="1162050" lvl="2" indent="-247650" eaLnBrk="1" hangingPunct="1">
              <a:lnSpc>
                <a:spcPct val="90000"/>
              </a:lnSpc>
            </a:pPr>
            <a:r>
              <a:rPr lang="en-US" altLang="en-US" sz="1000" smtClean="0">
                <a:latin typeface="Arial" panose="020B0604020202020204" pitchFamily="34" charset="0"/>
              </a:rPr>
              <a:t>Replace default password settings on accounts</a:t>
            </a:r>
          </a:p>
          <a:p>
            <a:pPr marL="1162050" lvl="2" indent="-247650" eaLnBrk="1" hangingPunct="1">
              <a:lnSpc>
                <a:spcPct val="90000"/>
              </a:lnSpc>
            </a:pPr>
            <a:r>
              <a:rPr lang="en-US" altLang="en-US" sz="1000" smtClean="0">
                <a:latin typeface="Arial" panose="020B0604020202020204" pitchFamily="34" charset="0"/>
              </a:rPr>
              <a:t>Limit and monitor global access rules</a:t>
            </a:r>
          </a:p>
          <a:p>
            <a:pPr marL="1162050" lvl="2" indent="-247650" eaLnBrk="1" hangingPunct="1">
              <a:lnSpc>
                <a:spcPct val="90000"/>
              </a:lnSpc>
            </a:pPr>
            <a:r>
              <a:rPr lang="en-US" altLang="en-US" sz="1000" smtClean="0">
                <a:latin typeface="Arial" panose="020B0604020202020204" pitchFamily="34" charset="0"/>
              </a:rPr>
              <a:t>Ensure that logon IDs are nondescriptive of job function</a:t>
            </a:r>
          </a:p>
          <a:p>
            <a:pPr marL="1162050" lvl="2" indent="-247650" eaLnBrk="1" hangingPunct="1">
              <a:lnSpc>
                <a:spcPct val="90000"/>
              </a:lnSpc>
            </a:pPr>
            <a:r>
              <a:rPr lang="en-US" altLang="en-US" sz="1000" smtClean="0">
                <a:latin typeface="Arial" panose="020B0604020202020204" pitchFamily="34" charset="0"/>
              </a:rPr>
              <a:t>Remove redundant resource rules from accounts and group memberships </a:t>
            </a:r>
          </a:p>
          <a:p>
            <a:pPr marL="1162050" lvl="2" indent="-247650" eaLnBrk="1" hangingPunct="1">
              <a:lnSpc>
                <a:spcPct val="90000"/>
              </a:lnSpc>
            </a:pPr>
            <a:r>
              <a:rPr lang="en-US" altLang="en-US" sz="1000" smtClean="0">
                <a:latin typeface="Arial" panose="020B0604020202020204" pitchFamily="34" charset="0"/>
              </a:rPr>
              <a:t>Remove redundant user IDs, accounts, and role based accounts from resource access lists</a:t>
            </a:r>
          </a:p>
          <a:p>
            <a:pPr marL="1162050" lvl="2" indent="-247650" eaLnBrk="1" hangingPunct="1">
              <a:lnSpc>
                <a:spcPct val="90000"/>
              </a:lnSpc>
            </a:pPr>
            <a:r>
              <a:rPr lang="en-US" altLang="en-US" sz="1000" smtClean="0">
                <a:latin typeface="Arial" panose="020B0604020202020204" pitchFamily="34" charset="0"/>
              </a:rPr>
              <a:t>Enforce password rotation</a:t>
            </a:r>
          </a:p>
          <a:p>
            <a:pPr marL="1162050" lvl="2" indent="-247650" eaLnBrk="1" hangingPunct="1">
              <a:lnSpc>
                <a:spcPct val="90000"/>
              </a:lnSpc>
            </a:pPr>
            <a:r>
              <a:rPr lang="en-US" altLang="en-US" sz="1000" smtClean="0">
                <a:latin typeface="Arial" panose="020B0604020202020204" pitchFamily="34" charset="0"/>
              </a:rPr>
              <a:t>Enforce password requirements (length, contents, lifetime, distribution, storage, and transmission)</a:t>
            </a:r>
          </a:p>
          <a:p>
            <a:pPr marL="1162050" lvl="2" indent="-247650" eaLnBrk="1" hangingPunct="1">
              <a:lnSpc>
                <a:spcPct val="90000"/>
              </a:lnSpc>
            </a:pPr>
            <a:r>
              <a:rPr lang="en-US" altLang="en-US" sz="1000" smtClean="0">
                <a:latin typeface="Arial" panose="020B0604020202020204" pitchFamily="34" charset="0"/>
              </a:rPr>
              <a:t>Audit system and user events and actions and review reports periodically</a:t>
            </a:r>
          </a:p>
          <a:p>
            <a:pPr marL="1162050" lvl="2" indent="-247650" eaLnBrk="1" hangingPunct="1">
              <a:lnSpc>
                <a:spcPct val="90000"/>
              </a:lnSpc>
            </a:pPr>
            <a:r>
              <a:rPr lang="en-US" altLang="en-US" sz="1000" smtClean="0">
                <a:latin typeface="Arial" panose="020B0604020202020204" pitchFamily="34" charset="0"/>
              </a:rPr>
              <a:t>Protect audit logs</a:t>
            </a:r>
          </a:p>
        </p:txBody>
      </p:sp>
    </p:spTree>
    <p:extLst>
      <p:ext uri="{BB962C8B-B14F-4D97-AF65-F5344CB8AC3E}">
        <p14:creationId xmlns:p14="http://schemas.microsoft.com/office/powerpoint/2010/main" val="351128586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09946B3-979F-4CFC-AF52-BD9AA81683DE}" type="slidenum">
              <a:rPr lang="en-US" altLang="en-US"/>
              <a:pPr>
                <a:spcBef>
                  <a:spcPct val="0"/>
                </a:spcBef>
              </a:pPr>
              <a:t>69</a:t>
            </a:fld>
            <a:endParaRPr lang="en-US" altLang="en-US"/>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lnSpc>
                <a:spcPct val="80000"/>
              </a:lnSpc>
            </a:pPr>
            <a:r>
              <a:rPr lang="en-US" altLang="en-US" sz="800" smtClean="0">
                <a:latin typeface="Arial" panose="020B0604020202020204" pitchFamily="34" charset="0"/>
              </a:rPr>
              <a:t>All references are from All in One Book (Shon Harris, 2005)</a:t>
            </a:r>
          </a:p>
          <a:p>
            <a:pPr marL="247650" indent="-247650" eaLnBrk="1" hangingPunct="1">
              <a:lnSpc>
                <a:spcPct val="80000"/>
              </a:lnSpc>
            </a:pPr>
            <a:endParaRPr lang="en-US" altLang="en-US" sz="800" smtClean="0">
              <a:latin typeface="Arial" panose="020B0604020202020204" pitchFamily="34" charset="0"/>
            </a:endParaRPr>
          </a:p>
          <a:p>
            <a:pPr marL="247650" indent="-247650" eaLnBrk="1" hangingPunct="1">
              <a:lnSpc>
                <a:spcPct val="80000"/>
              </a:lnSpc>
            </a:pPr>
            <a:r>
              <a:rPr lang="en-US" altLang="en-US" sz="800" b="1" i="1" smtClean="0">
                <a:latin typeface="Arial" panose="020B0604020202020204" pitchFamily="34" charset="0"/>
              </a:rPr>
              <a:t>Object Reuse</a:t>
            </a:r>
            <a:r>
              <a:rPr lang="en-US" altLang="en-US" sz="800" smtClean="0">
                <a:latin typeface="Arial" panose="020B0604020202020204" pitchFamily="34" charset="0"/>
              </a:rPr>
              <a:t> issues pertain to reassigning to a subject media that previously contained one or more objects. (Means that before someone uses a hard drive, floppy disk or tape, it should be cleared of any residual information that was on it previously.) (198)</a:t>
            </a:r>
          </a:p>
          <a:p>
            <a:pPr marL="247650" indent="-247650" eaLnBrk="1" hangingPunct="1">
              <a:lnSpc>
                <a:spcPct val="80000"/>
              </a:lnSpc>
            </a:pPr>
            <a:r>
              <a:rPr lang="en-US" altLang="en-US" sz="800" smtClean="0">
                <a:latin typeface="Arial" panose="020B0604020202020204" pitchFamily="34" charset="0"/>
              </a:rPr>
              <a:t>Can unintentionally disclose information. (219)</a:t>
            </a:r>
          </a:p>
          <a:p>
            <a:pPr marL="247650" indent="-247650" eaLnBrk="1" hangingPunct="1">
              <a:lnSpc>
                <a:spcPct val="80000"/>
              </a:lnSpc>
            </a:pPr>
            <a:r>
              <a:rPr lang="en-US" altLang="en-US" sz="800" smtClean="0">
                <a:latin typeface="Arial" panose="020B0604020202020204" pitchFamily="34" charset="0"/>
              </a:rPr>
              <a:t>Just removing pointers to files is not always enough protection for proper object reuse. (219)</a:t>
            </a:r>
          </a:p>
          <a:p>
            <a:pPr marL="247650" indent="-247650" eaLnBrk="1" hangingPunct="1">
              <a:lnSpc>
                <a:spcPct val="80000"/>
              </a:lnSpc>
            </a:pPr>
            <a:r>
              <a:rPr lang="en-US" altLang="en-US" sz="800" smtClean="0">
                <a:latin typeface="Arial" panose="020B0604020202020204" pitchFamily="34" charset="0"/>
              </a:rPr>
              <a:t>Degaussing is a safeguard against disclosure of confidential information because it returns media back to its original state. (220)</a:t>
            </a:r>
            <a:endParaRPr lang="en-US" altLang="en-US" sz="800" b="1" i="1" smtClean="0">
              <a:latin typeface="Arial" panose="020B0604020202020204" pitchFamily="34" charset="0"/>
            </a:endParaRPr>
          </a:p>
          <a:p>
            <a:pPr marL="247650" indent="-247650" eaLnBrk="1" hangingPunct="1">
              <a:lnSpc>
                <a:spcPct val="80000"/>
              </a:lnSpc>
            </a:pPr>
            <a:endParaRPr lang="en-US" altLang="en-US" sz="800" b="1" i="1" smtClean="0">
              <a:latin typeface="Arial" panose="020B0604020202020204" pitchFamily="34" charset="0"/>
            </a:endParaRPr>
          </a:p>
          <a:p>
            <a:pPr marL="247650" indent="-247650" eaLnBrk="1" hangingPunct="1">
              <a:lnSpc>
                <a:spcPct val="80000"/>
              </a:lnSpc>
            </a:pPr>
            <a:r>
              <a:rPr lang="en-US" altLang="en-US" sz="800" b="1" i="1" smtClean="0">
                <a:latin typeface="Arial" panose="020B0604020202020204" pitchFamily="34" charset="0"/>
              </a:rPr>
              <a:t>Data Hiding</a:t>
            </a:r>
            <a:r>
              <a:rPr lang="en-US" altLang="en-US" sz="800" smtClean="0">
                <a:latin typeface="Arial" panose="020B0604020202020204" pitchFamily="34" charset="0"/>
              </a:rPr>
              <a:t>:  When hackers (or others) configure a sector on a hard drive so that it is marked as bad and unusable to an operating system, but the sector is actually fine and may hold malicious data. (198)</a:t>
            </a:r>
          </a:p>
          <a:p>
            <a:pPr marL="247650" indent="-247650" eaLnBrk="1" hangingPunct="1">
              <a:lnSpc>
                <a:spcPct val="80000"/>
              </a:lnSpc>
            </a:pPr>
            <a:endParaRPr lang="en-US" altLang="en-US" sz="800" smtClean="0">
              <a:latin typeface="Arial" panose="020B0604020202020204" pitchFamily="34" charset="0"/>
            </a:endParaRPr>
          </a:p>
          <a:p>
            <a:pPr marL="247650" indent="-247650" eaLnBrk="1" hangingPunct="1">
              <a:lnSpc>
                <a:spcPct val="80000"/>
              </a:lnSpc>
            </a:pPr>
            <a:r>
              <a:rPr lang="en-US" altLang="en-US" sz="800" smtClean="0">
                <a:latin typeface="Arial" panose="020B0604020202020204" pitchFamily="34" charset="0"/>
              </a:rPr>
              <a:t>Emanation Security</a:t>
            </a:r>
          </a:p>
          <a:p>
            <a:pPr marL="247650" indent="-247650" eaLnBrk="1" hangingPunct="1">
              <a:lnSpc>
                <a:spcPct val="80000"/>
              </a:lnSpc>
            </a:pPr>
            <a:r>
              <a:rPr lang="en-US" altLang="en-US" sz="800" smtClean="0">
                <a:latin typeface="Arial" panose="020B0604020202020204" pitchFamily="34" charset="0"/>
              </a:rPr>
              <a:t>Security to block electrical signals from electronic equipment. (199)</a:t>
            </a:r>
          </a:p>
          <a:p>
            <a:pPr marL="247650" indent="-247650" eaLnBrk="1" hangingPunct="1">
              <a:lnSpc>
                <a:spcPct val="80000"/>
              </a:lnSpc>
            </a:pPr>
            <a:r>
              <a:rPr lang="en-US" altLang="en-US" sz="800" smtClean="0">
                <a:latin typeface="Arial" panose="020B0604020202020204" pitchFamily="34" charset="0"/>
              </a:rPr>
              <a:t>Information can be obtained via electrical signals in airwaves.  The ways to combat this type of intrusion are Tempest, white noise, and control zones. (219)</a:t>
            </a:r>
            <a:endParaRPr lang="en-US" altLang="en-US" sz="800" b="1" i="1" smtClean="0">
              <a:latin typeface="Arial" panose="020B0604020202020204" pitchFamily="34" charset="0"/>
            </a:endParaRPr>
          </a:p>
          <a:p>
            <a:pPr marL="247650" indent="-247650" eaLnBrk="1" hangingPunct="1">
              <a:lnSpc>
                <a:spcPct val="80000"/>
              </a:lnSpc>
            </a:pPr>
            <a:endParaRPr lang="en-US" altLang="en-US" sz="800" b="1" i="1" smtClean="0">
              <a:latin typeface="Arial" panose="020B0604020202020204" pitchFamily="34" charset="0"/>
            </a:endParaRPr>
          </a:p>
          <a:p>
            <a:pPr marL="247650" indent="-247650" eaLnBrk="1" hangingPunct="1">
              <a:lnSpc>
                <a:spcPct val="80000"/>
              </a:lnSpc>
            </a:pPr>
            <a:r>
              <a:rPr lang="en-US" altLang="en-US" sz="800" b="1" i="1" smtClean="0">
                <a:latin typeface="Arial" panose="020B0604020202020204" pitchFamily="34" charset="0"/>
              </a:rPr>
              <a:t>Tempest</a:t>
            </a:r>
            <a:r>
              <a:rPr lang="en-US" altLang="en-US" sz="800" smtClean="0">
                <a:latin typeface="Arial" panose="020B0604020202020204" pitchFamily="34" charset="0"/>
              </a:rPr>
              <a:t> was a project started by the DoD and then turned into a standard that outlines how to develop countermeasures that control spurious electrical signals that are emitted by electronic equipment. (199)</a:t>
            </a:r>
          </a:p>
          <a:p>
            <a:pPr marL="247650" indent="-247650" eaLnBrk="1" hangingPunct="1">
              <a:lnSpc>
                <a:spcPct val="80000"/>
              </a:lnSpc>
              <a:buFontTx/>
              <a:buChar char="•"/>
            </a:pPr>
            <a:r>
              <a:rPr lang="en-US" altLang="en-US" sz="800" smtClean="0">
                <a:latin typeface="Arial" panose="020B0604020202020204" pitchFamily="34" charset="0"/>
              </a:rPr>
              <a:t>There is special shielding that is used on equipment to suppress the signals as they are radiated from the devices. (199)</a:t>
            </a:r>
          </a:p>
          <a:p>
            <a:pPr marL="247650" indent="-247650" eaLnBrk="1" hangingPunct="1">
              <a:lnSpc>
                <a:spcPct val="80000"/>
              </a:lnSpc>
              <a:buFontTx/>
              <a:buChar char="•"/>
            </a:pPr>
            <a:r>
              <a:rPr lang="en-US" altLang="en-US" sz="800" smtClean="0">
                <a:latin typeface="Arial" panose="020B0604020202020204" pitchFamily="34" charset="0"/>
              </a:rPr>
              <a:t>Tempest equipment is implemented to prevent intruders from picking up information through the airwaves with listening devices. (199)</a:t>
            </a:r>
            <a:endParaRPr lang="en-US" altLang="en-US" sz="800" b="1" i="1" smtClean="0">
              <a:latin typeface="Arial" panose="020B0604020202020204" pitchFamily="34" charset="0"/>
            </a:endParaRPr>
          </a:p>
          <a:p>
            <a:pPr marL="247650" indent="-247650" eaLnBrk="1" hangingPunct="1">
              <a:lnSpc>
                <a:spcPct val="80000"/>
              </a:lnSpc>
              <a:buFontTx/>
              <a:buChar char="•"/>
            </a:pPr>
            <a:r>
              <a:rPr lang="en-US" altLang="en-US" sz="800" b="1" i="1" smtClean="0">
                <a:latin typeface="Arial" panose="020B0604020202020204" pitchFamily="34" charset="0"/>
              </a:rPr>
              <a:t>Faraday Cage</a:t>
            </a:r>
            <a:r>
              <a:rPr lang="en-US" altLang="en-US" sz="800" smtClean="0">
                <a:latin typeface="Arial" panose="020B0604020202020204" pitchFamily="34" charset="0"/>
              </a:rPr>
              <a:t>:  An outer metal coating over electronic devices where the metal has the necessary depth to ensure that only a certain amount of radiation is released.  (199)</a:t>
            </a:r>
          </a:p>
          <a:p>
            <a:pPr marL="247650" indent="-247650" eaLnBrk="1" hangingPunct="1">
              <a:lnSpc>
                <a:spcPct val="80000"/>
              </a:lnSpc>
              <a:buFontTx/>
              <a:buChar char="•"/>
            </a:pPr>
            <a:r>
              <a:rPr lang="en-US" altLang="en-US" sz="800" smtClean="0">
                <a:latin typeface="Arial" panose="020B0604020202020204" pitchFamily="34" charset="0"/>
              </a:rPr>
              <a:t>There are allowable limits of emission levels that can radiate and still be considered sage. (199)</a:t>
            </a:r>
          </a:p>
          <a:p>
            <a:pPr marL="247650" indent="-247650" eaLnBrk="1" hangingPunct="1">
              <a:lnSpc>
                <a:spcPct val="80000"/>
              </a:lnSpc>
              <a:buFontTx/>
              <a:buChar char="•"/>
            </a:pPr>
            <a:r>
              <a:rPr lang="en-US" altLang="en-US" sz="800" smtClean="0">
                <a:latin typeface="Arial" panose="020B0604020202020204" pitchFamily="34" charset="0"/>
              </a:rPr>
              <a:t>Tempest technology is complex, cumbersome, and expensive and only used in highly sensitive areas that really need this high level of protection. (199)</a:t>
            </a:r>
          </a:p>
          <a:p>
            <a:pPr marL="247650" indent="-247650" eaLnBrk="1" hangingPunct="1">
              <a:lnSpc>
                <a:spcPct val="80000"/>
              </a:lnSpc>
              <a:buFontTx/>
              <a:buChar char="•"/>
            </a:pPr>
            <a:r>
              <a:rPr lang="en-US" altLang="en-US" sz="800" smtClean="0">
                <a:latin typeface="Arial" panose="020B0604020202020204" pitchFamily="34" charset="0"/>
              </a:rPr>
              <a:t>Alternatives to Tempest:  white noise or a control zone concept. (199)</a:t>
            </a:r>
            <a:endParaRPr lang="en-US" altLang="en-US" sz="800" b="1" i="1" smtClean="0">
              <a:latin typeface="Arial" panose="020B0604020202020204" pitchFamily="34" charset="0"/>
            </a:endParaRPr>
          </a:p>
          <a:p>
            <a:pPr marL="247650" indent="-247650" eaLnBrk="1" hangingPunct="1">
              <a:lnSpc>
                <a:spcPct val="80000"/>
              </a:lnSpc>
            </a:pPr>
            <a:endParaRPr lang="en-US" altLang="en-US" sz="800" b="1" i="1" smtClean="0">
              <a:latin typeface="Arial" panose="020B0604020202020204" pitchFamily="34" charset="0"/>
            </a:endParaRPr>
          </a:p>
          <a:p>
            <a:pPr marL="247650" indent="-247650" eaLnBrk="1" hangingPunct="1">
              <a:lnSpc>
                <a:spcPct val="80000"/>
              </a:lnSpc>
            </a:pPr>
            <a:r>
              <a:rPr lang="en-US" altLang="en-US" sz="800" b="1" i="1" smtClean="0">
                <a:latin typeface="Arial" panose="020B0604020202020204" pitchFamily="34" charset="0"/>
              </a:rPr>
              <a:t>White Noise</a:t>
            </a:r>
            <a:r>
              <a:rPr lang="en-US" altLang="en-US" sz="800" smtClean="0">
                <a:latin typeface="Arial" panose="020B0604020202020204" pitchFamily="34" charset="0"/>
              </a:rPr>
              <a:t>:  A uniform spectrum of random electrical signals.  It is distributed over the full spectrum so that the bandwidth is constant and an intruder is not able to decipher real information from random noise or random information. (200)</a:t>
            </a:r>
            <a:endParaRPr lang="en-US" altLang="en-US" sz="800" b="1" i="1" smtClean="0">
              <a:latin typeface="Arial" panose="020B0604020202020204" pitchFamily="34" charset="0"/>
            </a:endParaRPr>
          </a:p>
          <a:p>
            <a:pPr marL="247650" indent="-247650" eaLnBrk="1" hangingPunct="1">
              <a:lnSpc>
                <a:spcPct val="80000"/>
              </a:lnSpc>
            </a:pPr>
            <a:endParaRPr lang="en-US" altLang="en-US" sz="800" b="1" i="1" smtClean="0">
              <a:latin typeface="Arial" panose="020B0604020202020204" pitchFamily="34" charset="0"/>
            </a:endParaRPr>
          </a:p>
          <a:p>
            <a:pPr marL="247650" indent="-247650" eaLnBrk="1" hangingPunct="1">
              <a:lnSpc>
                <a:spcPct val="80000"/>
              </a:lnSpc>
            </a:pPr>
            <a:r>
              <a:rPr lang="en-US" altLang="en-US" sz="800" b="1" i="1" smtClean="0">
                <a:latin typeface="Arial" panose="020B0604020202020204" pitchFamily="34" charset="0"/>
              </a:rPr>
              <a:t>Control Zone</a:t>
            </a:r>
            <a:r>
              <a:rPr lang="en-US" altLang="en-US" sz="800" smtClean="0">
                <a:latin typeface="Arial" panose="020B0604020202020204" pitchFamily="34" charset="0"/>
              </a:rPr>
              <a:t>:  Creates a security perimeter and is constructed to protect against unauthorized access to data or compromise of sensitive information.  Using material in walls to contain electrical signals.  Prevents intruders from being able to access information that is emitted via electrical signals from network devices. (200)</a:t>
            </a:r>
          </a:p>
        </p:txBody>
      </p:sp>
    </p:spTree>
    <p:extLst>
      <p:ext uri="{BB962C8B-B14F-4D97-AF65-F5344CB8AC3E}">
        <p14:creationId xmlns:p14="http://schemas.microsoft.com/office/powerpoint/2010/main" val="12746103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9D2A23E-F1FB-4844-B254-9B2E9F806961}" type="slidenum">
              <a:rPr lang="en-US" altLang="en-US"/>
              <a:pPr>
                <a:spcBef>
                  <a:spcPct val="0"/>
                </a:spcBef>
              </a:pPr>
              <a:t>70</a:t>
            </a:fld>
            <a:endParaRPr lang="en-US" altLang="en-US"/>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lnSpc>
                <a:spcPct val="80000"/>
              </a:lnSpc>
            </a:pPr>
            <a:r>
              <a:rPr lang="en-US" altLang="en-US" sz="1000" smtClean="0">
                <a:latin typeface="Arial" panose="020B0604020202020204" pitchFamily="34" charset="0"/>
              </a:rPr>
              <a:t>All references are from All in One Book (Shon Harris, 2005)</a:t>
            </a:r>
          </a:p>
          <a:p>
            <a:pPr marL="247650" indent="-247650" eaLnBrk="1" hangingPunct="1">
              <a:lnSpc>
                <a:spcPct val="80000"/>
              </a:lnSpc>
            </a:pPr>
            <a:endParaRPr lang="en-US" altLang="en-US" sz="1000" b="1" i="1" smtClean="0">
              <a:latin typeface="Arial" panose="020B0604020202020204" pitchFamily="34" charset="0"/>
            </a:endParaRPr>
          </a:p>
          <a:p>
            <a:pPr marL="247650" indent="-247650" eaLnBrk="1" hangingPunct="1">
              <a:lnSpc>
                <a:spcPct val="80000"/>
              </a:lnSpc>
            </a:pPr>
            <a:r>
              <a:rPr lang="en-US" altLang="en-US" sz="1000" b="1" i="1" smtClean="0">
                <a:latin typeface="Arial" panose="020B0604020202020204" pitchFamily="34" charset="0"/>
              </a:rPr>
              <a:t>Intrusion Detection Systems (IDs)</a:t>
            </a:r>
            <a:r>
              <a:rPr lang="en-US" altLang="en-US" sz="1000" smtClean="0">
                <a:latin typeface="Arial" panose="020B0604020202020204" pitchFamily="34" charset="0"/>
              </a:rPr>
              <a:t> are different from traditional firewall products because they are designed to detect a security breach.  (200)</a:t>
            </a:r>
          </a:p>
          <a:p>
            <a:pPr marL="247650" indent="-247650" eaLnBrk="1" hangingPunct="1">
              <a:lnSpc>
                <a:spcPct val="80000"/>
              </a:lnSpc>
            </a:pPr>
            <a:r>
              <a:rPr lang="en-US" altLang="en-US" sz="1000" smtClean="0">
                <a:latin typeface="Arial" panose="020B0604020202020204" pitchFamily="34" charset="0"/>
              </a:rPr>
              <a:t>Three common components of all IDS systems:  Sensors, analyzers, and administrator interfaces. (201)</a:t>
            </a:r>
          </a:p>
          <a:p>
            <a:pPr marL="247650" indent="-247650" eaLnBrk="1" hangingPunct="1">
              <a:lnSpc>
                <a:spcPct val="80000"/>
              </a:lnSpc>
            </a:pPr>
            <a:r>
              <a:rPr lang="en-US" altLang="en-US" sz="1000" smtClean="0">
                <a:latin typeface="Arial" panose="020B0604020202020204" pitchFamily="34" charset="0"/>
              </a:rPr>
              <a:t>Most types of IDSs are capable of several types of responses to a triggered event: (211)</a:t>
            </a:r>
          </a:p>
          <a:p>
            <a:pPr marL="247650" indent="-247650" eaLnBrk="1" hangingPunct="1">
              <a:lnSpc>
                <a:spcPct val="80000"/>
              </a:lnSpc>
              <a:buFontTx/>
              <a:buChar char="•"/>
            </a:pPr>
            <a:r>
              <a:rPr lang="en-US" altLang="en-US" sz="1000" smtClean="0">
                <a:latin typeface="Arial" panose="020B0604020202020204" pitchFamily="34" charset="0"/>
              </a:rPr>
              <a:t>Send a special signal to drop or kill the packet connections (at both source and destination). </a:t>
            </a:r>
          </a:p>
          <a:p>
            <a:pPr marL="247650" indent="-247650" eaLnBrk="1" hangingPunct="1">
              <a:lnSpc>
                <a:spcPct val="80000"/>
              </a:lnSpc>
              <a:buFontTx/>
              <a:buChar char="•"/>
            </a:pPr>
            <a:r>
              <a:rPr lang="en-US" altLang="en-US" sz="1000" smtClean="0">
                <a:latin typeface="Arial" panose="020B0604020202020204" pitchFamily="34" charset="0"/>
              </a:rPr>
              <a:t>Block a user from accessing a resource. </a:t>
            </a:r>
          </a:p>
          <a:p>
            <a:pPr marL="247650" indent="-247650" eaLnBrk="1" hangingPunct="1">
              <a:lnSpc>
                <a:spcPct val="80000"/>
              </a:lnSpc>
              <a:buFontTx/>
              <a:buChar char="•"/>
            </a:pPr>
            <a:r>
              <a:rPr lang="en-US" altLang="en-US" sz="1000" smtClean="0">
                <a:latin typeface="Arial" panose="020B0604020202020204" pitchFamily="34" charset="0"/>
              </a:rPr>
              <a:t>Send an alert of an event trigger to other hosts</a:t>
            </a:r>
          </a:p>
          <a:p>
            <a:pPr marL="247650" indent="-247650" eaLnBrk="1" hangingPunct="1">
              <a:lnSpc>
                <a:spcPct val="80000"/>
              </a:lnSpc>
              <a:buFontTx/>
              <a:buChar char="•"/>
            </a:pPr>
            <a:r>
              <a:rPr lang="en-US" altLang="en-US" sz="1000" smtClean="0">
                <a:latin typeface="Arial" panose="020B0604020202020204" pitchFamily="34" charset="0"/>
              </a:rPr>
              <a:t>Some IDS can reconfigure themselves to perform some predefined action.</a:t>
            </a:r>
          </a:p>
          <a:p>
            <a:pPr marL="247650" indent="-247650" eaLnBrk="1" hangingPunct="1">
              <a:lnSpc>
                <a:spcPct val="80000"/>
              </a:lnSpc>
            </a:pPr>
            <a:endParaRPr lang="en-US" altLang="en-US" sz="1000" smtClean="0">
              <a:latin typeface="Arial" panose="020B0604020202020204" pitchFamily="34" charset="0"/>
            </a:endParaRPr>
          </a:p>
          <a:p>
            <a:pPr marL="247650" indent="-247650" eaLnBrk="1" hangingPunct="1">
              <a:lnSpc>
                <a:spcPct val="80000"/>
              </a:lnSpc>
            </a:pPr>
            <a:r>
              <a:rPr lang="en-US" altLang="en-US" sz="1000" smtClean="0">
                <a:latin typeface="Arial" panose="020B0604020202020204" pitchFamily="34" charset="0"/>
              </a:rPr>
              <a:t>IDS Sensors:</a:t>
            </a:r>
          </a:p>
          <a:p>
            <a:pPr marL="247650" indent="-247650" eaLnBrk="1" hangingPunct="1">
              <a:lnSpc>
                <a:spcPct val="80000"/>
              </a:lnSpc>
              <a:buFontTx/>
              <a:buChar char="•"/>
            </a:pPr>
            <a:r>
              <a:rPr lang="en-US" altLang="en-US" sz="1000" smtClean="0">
                <a:latin typeface="Arial" panose="020B0604020202020204" pitchFamily="34" charset="0"/>
              </a:rPr>
              <a:t>Sensor:  works as an analysis engine. (209)</a:t>
            </a:r>
          </a:p>
          <a:p>
            <a:pPr marL="247650" indent="-247650" eaLnBrk="1" hangingPunct="1">
              <a:lnSpc>
                <a:spcPct val="80000"/>
              </a:lnSpc>
              <a:buFontTx/>
              <a:buChar char="•"/>
            </a:pPr>
            <a:r>
              <a:rPr lang="en-US" altLang="en-US" sz="1000" smtClean="0">
                <a:latin typeface="Arial" panose="020B0604020202020204" pitchFamily="34" charset="0"/>
              </a:rPr>
              <a:t>Receives raw data from an event generator, and compares it to a signature database, profile, or model, depending upon the type of IDS. (209)</a:t>
            </a:r>
          </a:p>
          <a:p>
            <a:pPr marL="247650" indent="-247650" eaLnBrk="1" hangingPunct="1">
              <a:lnSpc>
                <a:spcPct val="80000"/>
              </a:lnSpc>
              <a:buFontTx/>
              <a:buChar char="•"/>
            </a:pPr>
            <a:r>
              <a:rPr lang="en-US" altLang="en-US" sz="1000" smtClean="0">
                <a:latin typeface="Arial" panose="020B0604020202020204" pitchFamily="34" charset="0"/>
              </a:rPr>
              <a:t>The sensor’s role is to filter received data, discard irrelevant information, and detect suspicious activity. (209)</a:t>
            </a:r>
          </a:p>
          <a:p>
            <a:pPr marL="247650" indent="-247650" eaLnBrk="1" hangingPunct="1">
              <a:lnSpc>
                <a:spcPct val="80000"/>
              </a:lnSpc>
              <a:buFontTx/>
              <a:buChar char="•"/>
            </a:pPr>
            <a:r>
              <a:rPr lang="en-US" altLang="en-US" sz="1000" smtClean="0">
                <a:latin typeface="Arial" panose="020B0604020202020204" pitchFamily="34" charset="0"/>
              </a:rPr>
              <a:t>See example, page 209 (Basic architecture of NIDS)</a:t>
            </a:r>
          </a:p>
          <a:p>
            <a:pPr marL="247650" indent="-247650" eaLnBrk="1" hangingPunct="1">
              <a:lnSpc>
                <a:spcPct val="80000"/>
              </a:lnSpc>
              <a:buFontTx/>
              <a:buChar char="•"/>
            </a:pPr>
            <a:r>
              <a:rPr lang="en-US" altLang="en-US" sz="1000" smtClean="0">
                <a:latin typeface="Arial" panose="020B0604020202020204" pitchFamily="34" charset="0"/>
              </a:rPr>
              <a:t>Spanning port:  Where all traffic from all ports can be mirrored to one port. (210)</a:t>
            </a:r>
          </a:p>
          <a:p>
            <a:pPr marL="247650" indent="-247650" eaLnBrk="1" hangingPunct="1">
              <a:lnSpc>
                <a:spcPct val="80000"/>
              </a:lnSpc>
              <a:buFontTx/>
              <a:buChar char="•"/>
            </a:pPr>
            <a:r>
              <a:rPr lang="en-US" altLang="en-US" sz="1000" smtClean="0">
                <a:latin typeface="Arial" panose="020B0604020202020204" pitchFamily="34" charset="0"/>
              </a:rPr>
              <a:t>Sensor placement is a critical part of configuring an effective IDS. (210)</a:t>
            </a:r>
          </a:p>
          <a:p>
            <a:pPr marL="247650" indent="-247650" eaLnBrk="1" hangingPunct="1">
              <a:lnSpc>
                <a:spcPct val="80000"/>
              </a:lnSpc>
              <a:buFontTx/>
              <a:buChar char="•"/>
            </a:pPr>
            <a:r>
              <a:rPr lang="en-US" altLang="en-US" sz="1000" smtClean="0">
                <a:latin typeface="Arial" panose="020B0604020202020204" pitchFamily="34" charset="0"/>
              </a:rPr>
              <a:t>The IDS can be centralized, as firewall products that have IDS functionality integrated within them, or distributed, with multiple sensors throughout the network. (211)</a:t>
            </a:r>
          </a:p>
          <a:p>
            <a:pPr marL="247650" indent="-247650" eaLnBrk="1" hangingPunct="1">
              <a:lnSpc>
                <a:spcPct val="80000"/>
              </a:lnSpc>
              <a:buFontTx/>
              <a:buChar char="•"/>
            </a:pPr>
            <a:r>
              <a:rPr lang="en-US" altLang="en-US" sz="1000" smtClean="0">
                <a:latin typeface="Arial" panose="020B0604020202020204" pitchFamily="34" charset="0"/>
              </a:rPr>
              <a:t>In very high traffic environments, multiple sensors should be in place to ensure that all packets are investigated. (211)</a:t>
            </a:r>
          </a:p>
          <a:p>
            <a:pPr marL="247650" indent="-247650" eaLnBrk="1" hangingPunct="1">
              <a:lnSpc>
                <a:spcPct val="80000"/>
              </a:lnSpc>
            </a:pPr>
            <a:endParaRPr lang="en-US" altLang="en-US" sz="1000" smtClean="0">
              <a:latin typeface="Arial" panose="020B0604020202020204" pitchFamily="34" charset="0"/>
            </a:endParaRPr>
          </a:p>
        </p:txBody>
      </p:sp>
    </p:spTree>
    <p:extLst>
      <p:ext uri="{BB962C8B-B14F-4D97-AF65-F5344CB8AC3E}">
        <p14:creationId xmlns:p14="http://schemas.microsoft.com/office/powerpoint/2010/main" val="394493512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B6C70D6-B548-4008-9978-26AC2F9116EE}" type="slidenum">
              <a:rPr lang="en-US" altLang="en-US"/>
              <a:pPr>
                <a:spcBef>
                  <a:spcPct val="0"/>
                </a:spcBef>
              </a:pPr>
              <a:t>71</a:t>
            </a:fld>
            <a:endParaRPr lang="en-US" altLang="en-US"/>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lnSpc>
                <a:spcPct val="80000"/>
              </a:lnSpc>
            </a:pPr>
            <a:r>
              <a:rPr lang="en-US" altLang="en-US" sz="800" smtClean="0">
                <a:latin typeface="Arial" panose="020B0604020202020204" pitchFamily="34" charset="0"/>
              </a:rPr>
              <a:t>All references are from All in One Book (Shon Harris, 2005)</a:t>
            </a:r>
          </a:p>
          <a:p>
            <a:pPr marL="247650" indent="-247650" eaLnBrk="1" hangingPunct="1">
              <a:lnSpc>
                <a:spcPct val="80000"/>
              </a:lnSpc>
            </a:pPr>
            <a:endParaRPr lang="en-US" altLang="en-US" sz="800" smtClean="0">
              <a:latin typeface="Arial" panose="020B0604020202020204" pitchFamily="34" charset="0"/>
            </a:endParaRPr>
          </a:p>
          <a:p>
            <a:pPr marL="247650" indent="-247650" eaLnBrk="1" hangingPunct="1">
              <a:lnSpc>
                <a:spcPct val="80000"/>
              </a:lnSpc>
            </a:pPr>
            <a:r>
              <a:rPr lang="en-US" altLang="en-US" sz="800" smtClean="0">
                <a:latin typeface="Arial" panose="020B0604020202020204" pitchFamily="34" charset="0"/>
              </a:rPr>
              <a:t>Need to know the different features of HIDS and NIDS.  Scope is beyond this presentation.</a:t>
            </a:r>
          </a:p>
          <a:p>
            <a:pPr marL="247650" indent="-247650" eaLnBrk="1" hangingPunct="1">
              <a:lnSpc>
                <a:spcPct val="80000"/>
              </a:lnSpc>
            </a:pPr>
            <a:endParaRPr lang="en-US" altLang="en-US" sz="800" smtClean="0">
              <a:latin typeface="Arial" panose="020B0604020202020204" pitchFamily="34" charset="0"/>
            </a:endParaRPr>
          </a:p>
          <a:p>
            <a:pPr marL="247650" indent="-247650" eaLnBrk="1" hangingPunct="1">
              <a:lnSpc>
                <a:spcPct val="80000"/>
              </a:lnSpc>
            </a:pPr>
            <a:r>
              <a:rPr lang="en-US" altLang="en-US" sz="800" smtClean="0">
                <a:latin typeface="Arial" panose="020B0604020202020204" pitchFamily="34" charset="0"/>
              </a:rPr>
              <a:t>Two main types of IDS:  </a:t>
            </a:r>
            <a:endParaRPr lang="en-US" altLang="en-US" sz="800" b="1" i="1" smtClean="0">
              <a:latin typeface="Arial" panose="020B0604020202020204" pitchFamily="34" charset="0"/>
            </a:endParaRPr>
          </a:p>
          <a:p>
            <a:pPr marL="247650" indent="-247650" eaLnBrk="1" hangingPunct="1">
              <a:lnSpc>
                <a:spcPct val="80000"/>
              </a:lnSpc>
            </a:pPr>
            <a:r>
              <a:rPr lang="en-US" altLang="en-US" sz="800" b="1" i="1" smtClean="0">
                <a:latin typeface="Arial" panose="020B0604020202020204" pitchFamily="34" charset="0"/>
              </a:rPr>
              <a:t>Network Based IDS, aka NIDS</a:t>
            </a:r>
            <a:r>
              <a:rPr lang="en-US" altLang="en-US" sz="800" smtClean="0">
                <a:latin typeface="Arial" panose="020B0604020202020204" pitchFamily="34" charset="0"/>
              </a:rPr>
              <a:t> (monitor network communications)</a:t>
            </a:r>
          </a:p>
          <a:p>
            <a:pPr marL="247650" indent="-247650" eaLnBrk="1" hangingPunct="1">
              <a:lnSpc>
                <a:spcPct val="80000"/>
              </a:lnSpc>
              <a:buFontTx/>
              <a:buChar char="•"/>
            </a:pPr>
            <a:r>
              <a:rPr lang="en-US" altLang="en-US" sz="800" smtClean="0">
                <a:latin typeface="Arial" panose="020B0604020202020204" pitchFamily="34" charset="0"/>
              </a:rPr>
              <a:t>Uses sensors, which are either host computers with the necessary software installed or dedicated appliances, each with its network interface card (NIC) in promiscuous mode. (201)</a:t>
            </a:r>
          </a:p>
          <a:p>
            <a:pPr marL="247650" indent="-247650" eaLnBrk="1" hangingPunct="1">
              <a:lnSpc>
                <a:spcPct val="80000"/>
              </a:lnSpc>
              <a:buFontTx/>
              <a:buChar char="•"/>
            </a:pPr>
            <a:r>
              <a:rPr lang="en-US" altLang="en-US" sz="800" smtClean="0">
                <a:latin typeface="Arial" panose="020B0604020202020204" pitchFamily="34" charset="0"/>
              </a:rPr>
              <a:t>Monitors network traffic and cannot see the activity going on inside a computer itself. (201)</a:t>
            </a:r>
          </a:p>
          <a:p>
            <a:pPr marL="247650" indent="-247650" eaLnBrk="1" hangingPunct="1">
              <a:lnSpc>
                <a:spcPct val="80000"/>
              </a:lnSpc>
            </a:pPr>
            <a:endParaRPr lang="en-US" altLang="en-US" sz="800" b="1" i="1" smtClean="0">
              <a:latin typeface="Arial" panose="020B0604020202020204" pitchFamily="34" charset="0"/>
            </a:endParaRPr>
          </a:p>
          <a:p>
            <a:pPr marL="247650" indent="-247650" eaLnBrk="1" hangingPunct="1">
              <a:lnSpc>
                <a:spcPct val="80000"/>
              </a:lnSpc>
            </a:pPr>
            <a:r>
              <a:rPr lang="en-US" altLang="en-US" sz="800" b="1" i="1" smtClean="0">
                <a:latin typeface="Arial" panose="020B0604020202020204" pitchFamily="34" charset="0"/>
              </a:rPr>
              <a:t>Host Based IDS, aka HIDS</a:t>
            </a:r>
            <a:r>
              <a:rPr lang="en-US" altLang="en-US" sz="800" smtClean="0">
                <a:latin typeface="Arial" panose="020B0604020202020204" pitchFamily="34" charset="0"/>
              </a:rPr>
              <a:t> (analyze the activity within a particular computer system)</a:t>
            </a:r>
          </a:p>
          <a:p>
            <a:pPr marL="247650" indent="-247650" eaLnBrk="1" hangingPunct="1">
              <a:lnSpc>
                <a:spcPct val="80000"/>
              </a:lnSpc>
              <a:buFontTx/>
              <a:buChar char="•"/>
            </a:pPr>
            <a:r>
              <a:rPr lang="en-US" altLang="en-US" sz="800" smtClean="0">
                <a:latin typeface="Arial" panose="020B0604020202020204" pitchFamily="34" charset="0"/>
              </a:rPr>
              <a:t>Can be installed on individual workstations and/or servers and watch for inappropriate or anomalous activity. (201)</a:t>
            </a:r>
          </a:p>
          <a:p>
            <a:pPr marL="247650" indent="-247650" eaLnBrk="1" hangingPunct="1">
              <a:lnSpc>
                <a:spcPct val="80000"/>
              </a:lnSpc>
              <a:buFontTx/>
              <a:buChar char="•"/>
            </a:pPr>
            <a:r>
              <a:rPr lang="en-US" altLang="en-US" sz="800" smtClean="0">
                <a:latin typeface="Arial" panose="020B0604020202020204" pitchFamily="34" charset="0"/>
              </a:rPr>
              <a:t>Usually used to make sure users do not delete system files, reconfigure important things, or put the system at risk in any other way. (201)</a:t>
            </a:r>
          </a:p>
          <a:p>
            <a:pPr marL="247650" indent="-247650" eaLnBrk="1" hangingPunct="1">
              <a:lnSpc>
                <a:spcPct val="80000"/>
              </a:lnSpc>
              <a:buFontTx/>
              <a:buChar char="•"/>
            </a:pPr>
            <a:r>
              <a:rPr lang="en-US" altLang="en-US" sz="800" smtClean="0">
                <a:latin typeface="Arial" panose="020B0604020202020204" pitchFamily="34" charset="0"/>
              </a:rPr>
              <a:t>HIDS universe is limited to the computer itself. (201)</a:t>
            </a:r>
          </a:p>
          <a:p>
            <a:pPr marL="247650" indent="-247650" eaLnBrk="1" hangingPunct="1">
              <a:lnSpc>
                <a:spcPct val="80000"/>
              </a:lnSpc>
            </a:pPr>
            <a:endParaRPr lang="en-US" altLang="en-US" sz="800" smtClean="0">
              <a:latin typeface="Arial" panose="020B0604020202020204" pitchFamily="34" charset="0"/>
            </a:endParaRPr>
          </a:p>
          <a:p>
            <a:pPr marL="247650" indent="-247650" eaLnBrk="1" hangingPunct="1">
              <a:lnSpc>
                <a:spcPct val="80000"/>
              </a:lnSpc>
            </a:pPr>
            <a:r>
              <a:rPr lang="en-US" altLang="en-US" sz="800" smtClean="0">
                <a:latin typeface="Arial" panose="020B0604020202020204" pitchFamily="34" charset="0"/>
              </a:rPr>
              <a:t>HIDS and NIDS can be one of the following types: (201)</a:t>
            </a:r>
            <a:endParaRPr lang="en-US" altLang="en-US" sz="800" u="sng" smtClean="0">
              <a:latin typeface="Arial" panose="020B0604020202020204" pitchFamily="34" charset="0"/>
            </a:endParaRPr>
          </a:p>
          <a:p>
            <a:pPr marL="247650" indent="-247650" eaLnBrk="1" hangingPunct="1">
              <a:lnSpc>
                <a:spcPct val="80000"/>
              </a:lnSpc>
            </a:pPr>
            <a:r>
              <a:rPr lang="en-US" altLang="en-US" sz="800" u="sng" smtClean="0">
                <a:latin typeface="Arial" panose="020B0604020202020204" pitchFamily="34" charset="0"/>
              </a:rPr>
              <a:t>Signature Based</a:t>
            </a:r>
            <a:endParaRPr lang="en-US" altLang="en-US" sz="800" smtClean="0">
              <a:latin typeface="Arial" panose="020B0604020202020204" pitchFamily="34" charset="0"/>
            </a:endParaRPr>
          </a:p>
          <a:p>
            <a:pPr marL="247650" indent="-247650" eaLnBrk="1" hangingPunct="1">
              <a:lnSpc>
                <a:spcPct val="80000"/>
              </a:lnSpc>
              <a:buFontTx/>
              <a:buChar char="•"/>
            </a:pPr>
            <a:r>
              <a:rPr lang="en-US" altLang="en-US" sz="800" smtClean="0">
                <a:latin typeface="Arial" panose="020B0604020202020204" pitchFamily="34" charset="0"/>
              </a:rPr>
              <a:t>Also known as misuse-detection systems. (204)</a:t>
            </a:r>
            <a:endParaRPr lang="en-US" altLang="en-US" sz="800" b="1" i="1" smtClean="0">
              <a:latin typeface="Arial" panose="020B0604020202020204" pitchFamily="34" charset="0"/>
            </a:endParaRPr>
          </a:p>
          <a:p>
            <a:pPr marL="247650" indent="-247650" eaLnBrk="1" hangingPunct="1">
              <a:lnSpc>
                <a:spcPct val="80000"/>
              </a:lnSpc>
              <a:buFontTx/>
              <a:buChar char="•"/>
            </a:pPr>
            <a:r>
              <a:rPr lang="en-US" altLang="en-US" sz="800" b="1" i="1" smtClean="0">
                <a:latin typeface="Arial" panose="020B0604020202020204" pitchFamily="34" charset="0"/>
              </a:rPr>
              <a:t>Signatures</a:t>
            </a:r>
            <a:r>
              <a:rPr lang="en-US" altLang="en-US" sz="800" smtClean="0">
                <a:latin typeface="Arial" panose="020B0604020202020204" pitchFamily="34" charset="0"/>
              </a:rPr>
              <a:t>:  Models of specific attacks and how they are carried out.  Each identified attack has a signature, which is used to detect an attack in progress or determine if one has occurred within the network.  Any action that is not recognized as an attack is considered acceptable. (202)</a:t>
            </a:r>
            <a:endParaRPr lang="en-US" altLang="en-US" sz="800" b="1" i="1" smtClean="0">
              <a:latin typeface="Arial" panose="020B0604020202020204" pitchFamily="34" charset="0"/>
            </a:endParaRPr>
          </a:p>
          <a:p>
            <a:pPr marL="247650" indent="-247650" eaLnBrk="1" hangingPunct="1">
              <a:lnSpc>
                <a:spcPct val="80000"/>
              </a:lnSpc>
              <a:buFontTx/>
              <a:buChar char="•"/>
            </a:pPr>
            <a:r>
              <a:rPr lang="en-US" altLang="en-US" sz="800" b="1" i="1" smtClean="0">
                <a:latin typeface="Arial" panose="020B0604020202020204" pitchFamily="34" charset="0"/>
              </a:rPr>
              <a:t>Land Attack</a:t>
            </a:r>
            <a:r>
              <a:rPr lang="en-US" altLang="en-US" sz="800" smtClean="0">
                <a:latin typeface="Arial" panose="020B0604020202020204" pitchFamily="34" charset="0"/>
              </a:rPr>
              <a:t>:  A hacker modifies the packet header so that when a receiving system responds to the packet, it is responding to its own address.  Vulnerable systems do not have the programming code to know what to do in this situation, so they freeze or reboot. (202)</a:t>
            </a:r>
            <a:endParaRPr lang="en-US" altLang="en-US" sz="800" b="1" i="1" smtClean="0">
              <a:latin typeface="Arial" panose="020B0604020202020204" pitchFamily="34" charset="0"/>
            </a:endParaRPr>
          </a:p>
          <a:p>
            <a:pPr marL="247650" indent="-247650" eaLnBrk="1" hangingPunct="1">
              <a:lnSpc>
                <a:spcPct val="80000"/>
              </a:lnSpc>
              <a:buFontTx/>
              <a:buChar char="•"/>
            </a:pPr>
            <a:r>
              <a:rPr lang="en-US" altLang="en-US" sz="800" b="1" i="1" smtClean="0">
                <a:latin typeface="Arial" panose="020B0604020202020204" pitchFamily="34" charset="0"/>
              </a:rPr>
              <a:t>“In the Wild:”</a:t>
            </a:r>
            <a:r>
              <a:rPr lang="en-US" altLang="en-US" sz="800" smtClean="0">
                <a:latin typeface="Arial" panose="020B0604020202020204" pitchFamily="34" charset="0"/>
              </a:rPr>
              <a:t>  Attacks or viruses that have been discovered in production environments. (202)</a:t>
            </a:r>
            <a:endParaRPr lang="en-US" altLang="en-US" sz="800" b="1" i="1" smtClean="0">
              <a:latin typeface="Arial" panose="020B0604020202020204" pitchFamily="34" charset="0"/>
            </a:endParaRPr>
          </a:p>
          <a:p>
            <a:pPr marL="247650" indent="-247650" eaLnBrk="1" hangingPunct="1">
              <a:lnSpc>
                <a:spcPct val="80000"/>
              </a:lnSpc>
              <a:buFontTx/>
              <a:buChar char="•"/>
            </a:pPr>
            <a:r>
              <a:rPr lang="en-US" altLang="en-US" sz="800" b="1" i="1" smtClean="0">
                <a:latin typeface="Arial" panose="020B0604020202020204" pitchFamily="34" charset="0"/>
              </a:rPr>
              <a:t>“In the zoo:”</a:t>
            </a:r>
            <a:r>
              <a:rPr lang="en-US" altLang="en-US" sz="800" smtClean="0">
                <a:latin typeface="Arial" panose="020B0604020202020204" pitchFamily="34" charset="0"/>
              </a:rPr>
              <a:t>  Attacks or viruses that exist but have not been released. (202)</a:t>
            </a:r>
          </a:p>
          <a:p>
            <a:pPr marL="247650" indent="-247650" eaLnBrk="1" hangingPunct="1">
              <a:lnSpc>
                <a:spcPct val="80000"/>
              </a:lnSpc>
              <a:buFontTx/>
              <a:buChar char="•"/>
            </a:pPr>
            <a:r>
              <a:rPr lang="en-US" altLang="en-US" sz="800" smtClean="0">
                <a:latin typeface="Arial" panose="020B0604020202020204" pitchFamily="34" charset="0"/>
              </a:rPr>
              <a:t>Pattern matching, similar to antivirus software (208)</a:t>
            </a:r>
          </a:p>
          <a:p>
            <a:pPr marL="247650" indent="-247650" eaLnBrk="1" hangingPunct="1">
              <a:lnSpc>
                <a:spcPct val="80000"/>
              </a:lnSpc>
              <a:buFontTx/>
              <a:buChar char="•"/>
            </a:pPr>
            <a:r>
              <a:rPr lang="en-US" altLang="en-US" sz="800" smtClean="0">
                <a:latin typeface="Arial" panose="020B0604020202020204" pitchFamily="34" charset="0"/>
              </a:rPr>
              <a:t>Signatures must be continuously updated (208)</a:t>
            </a:r>
          </a:p>
          <a:p>
            <a:pPr marL="247650" indent="-247650" eaLnBrk="1" hangingPunct="1">
              <a:lnSpc>
                <a:spcPct val="80000"/>
              </a:lnSpc>
              <a:buFontTx/>
              <a:buChar char="•"/>
            </a:pPr>
            <a:r>
              <a:rPr lang="en-US" altLang="en-US" sz="800" smtClean="0">
                <a:latin typeface="Arial" panose="020B0604020202020204" pitchFamily="34" charset="0"/>
              </a:rPr>
              <a:t>Cannot identify new attacks (208)</a:t>
            </a:r>
            <a:endParaRPr lang="en-US" altLang="en-US" sz="800" u="sng" smtClean="0">
              <a:latin typeface="Arial" panose="020B0604020202020204" pitchFamily="34" charset="0"/>
            </a:endParaRPr>
          </a:p>
          <a:p>
            <a:pPr marL="247650" indent="-247650" eaLnBrk="1" hangingPunct="1">
              <a:lnSpc>
                <a:spcPct val="80000"/>
              </a:lnSpc>
            </a:pPr>
            <a:endParaRPr lang="en-US" altLang="en-US" sz="800" u="sng" smtClean="0">
              <a:latin typeface="Arial" panose="020B0604020202020204" pitchFamily="34" charset="0"/>
            </a:endParaRPr>
          </a:p>
          <a:p>
            <a:pPr marL="247650" indent="-247650" eaLnBrk="1" hangingPunct="1">
              <a:lnSpc>
                <a:spcPct val="80000"/>
              </a:lnSpc>
            </a:pPr>
            <a:r>
              <a:rPr lang="en-US" altLang="en-US" sz="800" u="sng" smtClean="0">
                <a:latin typeface="Arial" panose="020B0604020202020204" pitchFamily="34" charset="0"/>
              </a:rPr>
              <a:t>Statistical Anomaly Based</a:t>
            </a:r>
            <a:endParaRPr lang="en-US" altLang="en-US" sz="800" smtClean="0">
              <a:latin typeface="Arial" panose="020B0604020202020204" pitchFamily="34" charset="0"/>
            </a:endParaRPr>
          </a:p>
          <a:p>
            <a:pPr marL="247650" indent="-247650" eaLnBrk="1" hangingPunct="1">
              <a:lnSpc>
                <a:spcPct val="80000"/>
              </a:lnSpc>
              <a:buFontTx/>
              <a:buChar char="•"/>
            </a:pPr>
            <a:r>
              <a:rPr lang="en-US" altLang="en-US" sz="800" smtClean="0">
                <a:latin typeface="Arial" panose="020B0604020202020204" pitchFamily="34" charset="0"/>
              </a:rPr>
              <a:t>Also known as profile-based systems. (204)</a:t>
            </a:r>
          </a:p>
          <a:p>
            <a:pPr marL="247650" indent="-247650" eaLnBrk="1" hangingPunct="1">
              <a:lnSpc>
                <a:spcPct val="80000"/>
              </a:lnSpc>
              <a:buFontTx/>
              <a:buChar char="•"/>
            </a:pPr>
            <a:r>
              <a:rPr lang="en-US" altLang="en-US" sz="800" smtClean="0">
                <a:latin typeface="Arial" panose="020B0604020202020204" pitchFamily="34" charset="0"/>
              </a:rPr>
              <a:t>A </a:t>
            </a:r>
            <a:r>
              <a:rPr lang="en-US" altLang="en-US" sz="800" b="1" i="1" smtClean="0">
                <a:latin typeface="Arial" panose="020B0604020202020204" pitchFamily="34" charset="0"/>
              </a:rPr>
              <a:t>profile</a:t>
            </a:r>
            <a:r>
              <a:rPr lang="en-US" altLang="en-US" sz="800" smtClean="0">
                <a:latin typeface="Arial" panose="020B0604020202020204" pitchFamily="34" charset="0"/>
              </a:rPr>
              <a:t> is built by continually sampling the environment’s activities. (202)</a:t>
            </a:r>
          </a:p>
          <a:p>
            <a:pPr marL="247650" indent="-247650" eaLnBrk="1" hangingPunct="1">
              <a:lnSpc>
                <a:spcPct val="80000"/>
              </a:lnSpc>
              <a:buFontTx/>
              <a:buChar char="•"/>
            </a:pPr>
            <a:r>
              <a:rPr lang="en-US" altLang="en-US" sz="800" smtClean="0">
                <a:latin typeface="Arial" panose="020B0604020202020204" pitchFamily="34" charset="0"/>
              </a:rPr>
              <a:t>The longer the IDS is in learning mode, the more accurate a profile it will build and the better protection it will provide. (202)</a:t>
            </a:r>
          </a:p>
          <a:p>
            <a:pPr marL="247650" indent="-247650" eaLnBrk="1" hangingPunct="1">
              <a:lnSpc>
                <a:spcPct val="80000"/>
              </a:lnSpc>
              <a:buFontTx/>
              <a:buChar char="•"/>
            </a:pPr>
            <a:r>
              <a:rPr lang="en-US" altLang="en-US" sz="800" smtClean="0">
                <a:latin typeface="Arial" panose="020B0604020202020204" pitchFamily="34" charset="0"/>
              </a:rPr>
              <a:t>Can detect new attacks (208)</a:t>
            </a:r>
          </a:p>
          <a:p>
            <a:pPr marL="247650" indent="-247650" eaLnBrk="1" hangingPunct="1">
              <a:lnSpc>
                <a:spcPct val="80000"/>
              </a:lnSpc>
              <a:buFontTx/>
              <a:buChar char="•"/>
            </a:pPr>
            <a:r>
              <a:rPr lang="en-US" altLang="en-US" sz="800" smtClean="0">
                <a:latin typeface="Arial" panose="020B0604020202020204" pitchFamily="34" charset="0"/>
              </a:rPr>
              <a:t>Anything that does not match the profile is seen as an attack, in response to which the IDS sends an alert. (202)</a:t>
            </a:r>
          </a:p>
          <a:p>
            <a:pPr marL="247650" indent="-247650" eaLnBrk="1" hangingPunct="1">
              <a:lnSpc>
                <a:spcPct val="80000"/>
              </a:lnSpc>
              <a:buFontTx/>
              <a:buChar char="•"/>
            </a:pPr>
            <a:r>
              <a:rPr lang="en-US" altLang="en-US" sz="800" smtClean="0">
                <a:latin typeface="Arial" panose="020B0604020202020204" pitchFamily="34" charset="0"/>
              </a:rPr>
              <a:t>This type of IDS should be able to detect “0 day” attacks and “low and slow” attacks. (203)</a:t>
            </a:r>
          </a:p>
          <a:p>
            <a:pPr marL="247650" indent="-247650" eaLnBrk="1" hangingPunct="1">
              <a:lnSpc>
                <a:spcPct val="80000"/>
              </a:lnSpc>
              <a:buFontTx/>
              <a:buChar char="•"/>
            </a:pPr>
            <a:r>
              <a:rPr lang="en-US" altLang="en-US" sz="800" smtClean="0">
                <a:latin typeface="Arial" panose="020B0604020202020204" pitchFamily="34" charset="0"/>
              </a:rPr>
              <a:t>Two types:</a:t>
            </a:r>
            <a:endParaRPr lang="en-US" altLang="en-US" sz="800" u="sng" smtClean="0">
              <a:latin typeface="Arial" panose="020B0604020202020204" pitchFamily="34" charset="0"/>
            </a:endParaRPr>
          </a:p>
          <a:p>
            <a:pPr marL="1162050" lvl="2" indent="-247650" eaLnBrk="1" hangingPunct="1">
              <a:lnSpc>
                <a:spcPct val="80000"/>
              </a:lnSpc>
              <a:buFontTx/>
              <a:buChar char="•"/>
            </a:pPr>
            <a:r>
              <a:rPr lang="en-US" altLang="en-US" sz="800" u="sng" smtClean="0">
                <a:latin typeface="Arial" panose="020B0604020202020204" pitchFamily="34" charset="0"/>
              </a:rPr>
              <a:t>Protocol Anomaly Based</a:t>
            </a:r>
            <a:r>
              <a:rPr lang="en-US" altLang="en-US" sz="800" smtClean="0">
                <a:latin typeface="Arial" panose="020B0604020202020204" pitchFamily="34" charset="0"/>
              </a:rPr>
              <a:t>:  Unusual format of behavior of protocols (208)</a:t>
            </a:r>
          </a:p>
          <a:p>
            <a:pPr marL="2076450" lvl="4" indent="-247650" eaLnBrk="1" hangingPunct="1">
              <a:lnSpc>
                <a:spcPct val="80000"/>
              </a:lnSpc>
              <a:buFontTx/>
              <a:buChar char="•"/>
            </a:pPr>
            <a:r>
              <a:rPr lang="en-US" altLang="en-US" sz="800" smtClean="0">
                <a:latin typeface="Arial" panose="020B0604020202020204" pitchFamily="34" charset="0"/>
              </a:rPr>
              <a:t>These types of IDS have specific knowledge of each protocol that they will be monitoring, when the IDS is activated, it looks for anomalies that do not match the profiles built for the individual protocols. (208)</a:t>
            </a:r>
            <a:endParaRPr lang="en-US" altLang="en-US" sz="800" u="sng" smtClean="0">
              <a:latin typeface="Arial" panose="020B0604020202020204" pitchFamily="34" charset="0"/>
            </a:endParaRPr>
          </a:p>
          <a:p>
            <a:pPr marL="1162050" lvl="2" indent="-247650" eaLnBrk="1" hangingPunct="1">
              <a:lnSpc>
                <a:spcPct val="80000"/>
              </a:lnSpc>
              <a:buFontTx/>
              <a:buChar char="•"/>
            </a:pPr>
            <a:r>
              <a:rPr lang="en-US" altLang="en-US" sz="800" u="sng" smtClean="0">
                <a:latin typeface="Arial" panose="020B0604020202020204" pitchFamily="34" charset="0"/>
              </a:rPr>
              <a:t>Traffic Anomaly Based</a:t>
            </a:r>
            <a:r>
              <a:rPr lang="en-US" altLang="en-US" sz="800" smtClean="0">
                <a:latin typeface="Arial" panose="020B0604020202020204" pitchFamily="34" charset="0"/>
              </a:rPr>
              <a:t>:  Unusual format of traffic patterns. (208)</a:t>
            </a:r>
          </a:p>
          <a:p>
            <a:pPr marL="2076450" lvl="4" indent="-247650" eaLnBrk="1" hangingPunct="1">
              <a:lnSpc>
                <a:spcPct val="80000"/>
              </a:lnSpc>
              <a:buFontTx/>
              <a:buChar char="•"/>
            </a:pPr>
            <a:r>
              <a:rPr lang="en-US" altLang="en-US" sz="800" smtClean="0">
                <a:latin typeface="Arial" panose="020B0604020202020204" pitchFamily="34" charset="0"/>
              </a:rPr>
              <a:t>Detects changes in traffic patters as in DoS attacks or a new service that appears on the network. (205)</a:t>
            </a:r>
          </a:p>
          <a:p>
            <a:pPr marL="2076450" lvl="4" indent="-247650" eaLnBrk="1" hangingPunct="1">
              <a:lnSpc>
                <a:spcPct val="80000"/>
              </a:lnSpc>
              <a:buFontTx/>
              <a:buChar char="•"/>
            </a:pPr>
            <a:r>
              <a:rPr lang="en-US" altLang="en-US" sz="800" smtClean="0">
                <a:latin typeface="Arial" panose="020B0604020202020204" pitchFamily="34" charset="0"/>
              </a:rPr>
              <a:t>The thresholds are tunable to adjust to the sensitivity, to reduce the number of false positives and false negatives. (205)</a:t>
            </a:r>
          </a:p>
          <a:p>
            <a:pPr marL="2076450" lvl="4" indent="-247650" eaLnBrk="1" hangingPunct="1">
              <a:lnSpc>
                <a:spcPct val="80000"/>
              </a:lnSpc>
              <a:buFontTx/>
              <a:buChar char="•"/>
            </a:pPr>
            <a:r>
              <a:rPr lang="en-US" altLang="en-US" sz="800" smtClean="0">
                <a:latin typeface="Arial" panose="020B0604020202020204" pitchFamily="34" charset="0"/>
              </a:rPr>
              <a:t>It can detect unknown attacks. (205)</a:t>
            </a:r>
            <a:endParaRPr lang="en-US" altLang="en-US" sz="800" u="sng" smtClean="0">
              <a:latin typeface="Arial" panose="020B0604020202020204" pitchFamily="34" charset="0"/>
            </a:endParaRPr>
          </a:p>
          <a:p>
            <a:pPr marL="247650" indent="-247650" eaLnBrk="1" hangingPunct="1">
              <a:lnSpc>
                <a:spcPct val="80000"/>
              </a:lnSpc>
            </a:pPr>
            <a:r>
              <a:rPr lang="en-US" altLang="en-US" sz="800" u="sng" smtClean="0">
                <a:latin typeface="Arial" panose="020B0604020202020204" pitchFamily="34" charset="0"/>
              </a:rPr>
              <a:t>Rule Based</a:t>
            </a:r>
            <a:endParaRPr lang="en-US" altLang="en-US" sz="800" smtClean="0">
              <a:latin typeface="Arial" panose="020B0604020202020204" pitchFamily="34" charset="0"/>
            </a:endParaRPr>
          </a:p>
          <a:p>
            <a:pPr marL="247650" indent="-247650" eaLnBrk="1" hangingPunct="1">
              <a:lnSpc>
                <a:spcPct val="80000"/>
              </a:lnSpc>
              <a:buFontTx/>
              <a:buChar char="•"/>
            </a:pPr>
            <a:r>
              <a:rPr lang="en-US" altLang="en-US" sz="800" smtClean="0">
                <a:latin typeface="Arial" panose="020B0604020202020204" pitchFamily="34" charset="0"/>
              </a:rPr>
              <a:t>Commonly associated with the use of an expert system. (205)</a:t>
            </a:r>
          </a:p>
          <a:p>
            <a:pPr marL="247650" indent="-247650" eaLnBrk="1" hangingPunct="1">
              <a:lnSpc>
                <a:spcPct val="80000"/>
              </a:lnSpc>
              <a:buFontTx/>
              <a:buChar char="•"/>
            </a:pPr>
            <a:r>
              <a:rPr lang="en-US" altLang="en-US" sz="800" smtClean="0">
                <a:latin typeface="Arial" panose="020B0604020202020204" pitchFamily="34" charset="0"/>
              </a:rPr>
              <a:t>An </a:t>
            </a:r>
            <a:r>
              <a:rPr lang="en-US" altLang="en-US" sz="800" b="1" i="1" smtClean="0">
                <a:latin typeface="Arial" panose="020B0604020202020204" pitchFamily="34" charset="0"/>
              </a:rPr>
              <a:t>expert system</a:t>
            </a:r>
            <a:r>
              <a:rPr lang="en-US" altLang="en-US" sz="800" smtClean="0">
                <a:latin typeface="Arial" panose="020B0604020202020204" pitchFamily="34" charset="0"/>
              </a:rPr>
              <a:t> is made up of a knowledge base, inference engine, and rule-based programming. (205)</a:t>
            </a:r>
          </a:p>
          <a:p>
            <a:pPr marL="247650" indent="-247650" eaLnBrk="1" hangingPunct="1">
              <a:lnSpc>
                <a:spcPct val="80000"/>
              </a:lnSpc>
              <a:buFontTx/>
              <a:buChar char="•"/>
            </a:pPr>
            <a:r>
              <a:rPr lang="en-US" altLang="en-US" sz="800" smtClean="0">
                <a:latin typeface="Arial" panose="020B0604020202020204" pitchFamily="34" charset="0"/>
              </a:rPr>
              <a:t>Use of IF/THEN rule based programming within expert systems (208)</a:t>
            </a:r>
          </a:p>
          <a:p>
            <a:pPr marL="247650" indent="-247650" eaLnBrk="1" hangingPunct="1">
              <a:lnSpc>
                <a:spcPct val="80000"/>
              </a:lnSpc>
              <a:buFontTx/>
              <a:buChar char="•"/>
            </a:pPr>
            <a:r>
              <a:rPr lang="en-US" altLang="en-US" sz="800" smtClean="0">
                <a:latin typeface="Arial" panose="020B0604020202020204" pitchFamily="34" charset="0"/>
              </a:rPr>
              <a:t>Knowledge is represented as </a:t>
            </a:r>
            <a:r>
              <a:rPr lang="en-US" altLang="en-US" sz="800" b="1" i="1" smtClean="0">
                <a:latin typeface="Arial" panose="020B0604020202020204" pitchFamily="34" charset="0"/>
              </a:rPr>
              <a:t>rules</a:t>
            </a:r>
            <a:r>
              <a:rPr lang="en-US" altLang="en-US" sz="800" smtClean="0">
                <a:latin typeface="Arial" panose="020B0604020202020204" pitchFamily="34" charset="0"/>
              </a:rPr>
              <a:t>, and the data that is to be analyzed is referred to as </a:t>
            </a:r>
            <a:r>
              <a:rPr lang="en-US" altLang="en-US" sz="800" b="1" i="1" smtClean="0">
                <a:latin typeface="Arial" panose="020B0604020202020204" pitchFamily="34" charset="0"/>
              </a:rPr>
              <a:t>facts</a:t>
            </a:r>
            <a:r>
              <a:rPr lang="en-US" altLang="en-US" sz="800" smtClean="0">
                <a:latin typeface="Arial" panose="020B0604020202020204" pitchFamily="34" charset="0"/>
              </a:rPr>
              <a:t>. (205)</a:t>
            </a:r>
          </a:p>
          <a:p>
            <a:pPr marL="247650" indent="-247650" eaLnBrk="1" hangingPunct="1">
              <a:lnSpc>
                <a:spcPct val="80000"/>
              </a:lnSpc>
              <a:buFontTx/>
              <a:buChar char="•"/>
            </a:pPr>
            <a:r>
              <a:rPr lang="en-US" altLang="en-US" sz="800" smtClean="0">
                <a:latin typeface="Arial" panose="020B0604020202020204" pitchFamily="34" charset="0"/>
              </a:rPr>
              <a:t>The rules are applied to the facts, the data that comes in from a sensor, or a system that is being monitored. (205)</a:t>
            </a:r>
          </a:p>
          <a:p>
            <a:pPr marL="247650" indent="-247650" eaLnBrk="1" hangingPunct="1">
              <a:lnSpc>
                <a:spcPct val="80000"/>
              </a:lnSpc>
              <a:buFontTx/>
              <a:buChar char="•"/>
            </a:pPr>
            <a:r>
              <a:rPr lang="en-US" altLang="en-US" sz="800" smtClean="0">
                <a:latin typeface="Arial" panose="020B0604020202020204" pitchFamily="34" charset="0"/>
              </a:rPr>
              <a:t>Use of expert system allows for artificial intelligence characteristics (208)</a:t>
            </a:r>
          </a:p>
          <a:p>
            <a:pPr marL="247650" indent="-247650" eaLnBrk="1" hangingPunct="1">
              <a:lnSpc>
                <a:spcPct val="80000"/>
              </a:lnSpc>
              <a:buFontTx/>
              <a:buChar char="•"/>
            </a:pPr>
            <a:r>
              <a:rPr lang="en-US" altLang="en-US" sz="800" smtClean="0">
                <a:latin typeface="Arial" panose="020B0604020202020204" pitchFamily="34" charset="0"/>
              </a:rPr>
              <a:t>Inference engine. (206)</a:t>
            </a:r>
          </a:p>
          <a:p>
            <a:pPr marL="247650" indent="-247650" eaLnBrk="1" hangingPunct="1">
              <a:lnSpc>
                <a:spcPct val="80000"/>
              </a:lnSpc>
              <a:buFontTx/>
              <a:buChar char="•"/>
            </a:pPr>
            <a:r>
              <a:rPr lang="en-US" altLang="en-US" sz="800" smtClean="0">
                <a:latin typeface="Arial" panose="020B0604020202020204" pitchFamily="34" charset="0"/>
              </a:rPr>
              <a:t>The more complex the rules, the more demands on software and hardware processing requirements. (208)</a:t>
            </a:r>
          </a:p>
          <a:p>
            <a:pPr marL="247650" indent="-247650" eaLnBrk="1" hangingPunct="1">
              <a:lnSpc>
                <a:spcPct val="80000"/>
              </a:lnSpc>
              <a:buFontTx/>
              <a:buChar char="•"/>
            </a:pPr>
            <a:r>
              <a:rPr lang="en-US" altLang="en-US" sz="800" smtClean="0">
                <a:latin typeface="Arial" panose="020B0604020202020204" pitchFamily="34" charset="0"/>
              </a:rPr>
              <a:t>Cannot detect new attacks. (208)</a:t>
            </a:r>
          </a:p>
          <a:p>
            <a:pPr marL="247650" indent="-247650" eaLnBrk="1" hangingPunct="1">
              <a:lnSpc>
                <a:spcPct val="80000"/>
              </a:lnSpc>
              <a:buFontTx/>
              <a:buChar char="•"/>
            </a:pPr>
            <a:r>
              <a:rPr lang="en-US" altLang="en-US" sz="800" smtClean="0">
                <a:latin typeface="Arial" panose="020B0604020202020204" pitchFamily="34" charset="0"/>
              </a:rPr>
              <a:t>Two types:</a:t>
            </a:r>
            <a:endParaRPr lang="en-US" altLang="en-US" sz="800" u="sng" smtClean="0">
              <a:latin typeface="Arial" panose="020B0604020202020204" pitchFamily="34" charset="0"/>
            </a:endParaRPr>
          </a:p>
          <a:p>
            <a:pPr marL="1162050" lvl="2" indent="-247650" eaLnBrk="1" hangingPunct="1">
              <a:lnSpc>
                <a:spcPct val="80000"/>
              </a:lnSpc>
              <a:buFontTx/>
              <a:buChar char="•"/>
            </a:pPr>
            <a:r>
              <a:rPr lang="en-US" altLang="en-US" sz="800" u="sng" smtClean="0">
                <a:latin typeface="Arial" panose="020B0604020202020204" pitchFamily="34" charset="0"/>
              </a:rPr>
              <a:t>Stateful matching:</a:t>
            </a:r>
            <a:r>
              <a:rPr lang="en-US" altLang="en-US" sz="800" smtClean="0">
                <a:latin typeface="Arial" panose="020B0604020202020204" pitchFamily="34" charset="0"/>
              </a:rPr>
              <a:t>  Tracking system state changes that indicate an attack is underway. (208)</a:t>
            </a:r>
          </a:p>
          <a:p>
            <a:pPr marL="2076450" lvl="4" indent="-247650" eaLnBrk="1" hangingPunct="1">
              <a:lnSpc>
                <a:spcPct val="80000"/>
              </a:lnSpc>
              <a:buFontTx/>
              <a:buChar char="•"/>
            </a:pPr>
            <a:r>
              <a:rPr lang="en-US" altLang="en-US" sz="800" smtClean="0">
                <a:latin typeface="Arial" panose="020B0604020202020204" pitchFamily="34" charset="0"/>
              </a:rPr>
              <a:t>Every change that an operating system experiences is considered a state transition. (207)</a:t>
            </a:r>
          </a:p>
          <a:p>
            <a:pPr marL="2076450" lvl="4" indent="-247650" eaLnBrk="1" hangingPunct="1">
              <a:lnSpc>
                <a:spcPct val="80000"/>
              </a:lnSpc>
              <a:buFontTx/>
              <a:buChar char="•"/>
            </a:pPr>
            <a:r>
              <a:rPr lang="en-US" altLang="en-US" sz="800" smtClean="0">
                <a:latin typeface="Arial" panose="020B0604020202020204" pitchFamily="34" charset="0"/>
              </a:rPr>
              <a:t>A state transition is when a variable’s value changes, which usually happens continuously within every system. (207)</a:t>
            </a:r>
          </a:p>
          <a:p>
            <a:pPr marL="2076450" lvl="4" indent="-247650" eaLnBrk="1" hangingPunct="1">
              <a:lnSpc>
                <a:spcPct val="80000"/>
              </a:lnSpc>
              <a:buFontTx/>
              <a:buChar char="•"/>
            </a:pPr>
            <a:r>
              <a:rPr lang="en-US" altLang="en-US" sz="800" smtClean="0">
                <a:latin typeface="Arial" panose="020B0604020202020204" pitchFamily="34" charset="0"/>
              </a:rPr>
              <a:t>State:  a snapshot of an operating systems values in volatile, semi permanent, and permanent memory locations. (207)</a:t>
            </a:r>
          </a:p>
          <a:p>
            <a:pPr marL="2076450" lvl="4" indent="-247650" eaLnBrk="1" hangingPunct="1">
              <a:lnSpc>
                <a:spcPct val="80000"/>
              </a:lnSpc>
              <a:buFontTx/>
              <a:buChar char="•"/>
            </a:pPr>
            <a:r>
              <a:rPr lang="en-US" altLang="en-US" sz="800" smtClean="0">
                <a:latin typeface="Arial" panose="020B0604020202020204" pitchFamily="34" charset="0"/>
              </a:rPr>
              <a:t>The IDS has rules that outline what state transition sequences should sound an alarm.  The activity that takes place between the initial and compromised state is what the state-based IDS looks for, and it sends an alarm if any of the state transition sequences match is pre-defined rules. (207)</a:t>
            </a:r>
            <a:endParaRPr lang="en-US" altLang="en-US" sz="800" u="sng" smtClean="0">
              <a:latin typeface="Arial" panose="020B0604020202020204" pitchFamily="34" charset="0"/>
            </a:endParaRPr>
          </a:p>
          <a:p>
            <a:pPr marL="1162050" lvl="2" indent="-247650" eaLnBrk="1" hangingPunct="1">
              <a:lnSpc>
                <a:spcPct val="80000"/>
              </a:lnSpc>
              <a:buFontTx/>
              <a:buChar char="•"/>
            </a:pPr>
            <a:r>
              <a:rPr lang="en-US" altLang="en-US" sz="800" u="sng" smtClean="0">
                <a:latin typeface="Arial" panose="020B0604020202020204" pitchFamily="34" charset="0"/>
              </a:rPr>
              <a:t>Model Based</a:t>
            </a:r>
            <a:r>
              <a:rPr lang="en-US" altLang="en-US" sz="800" smtClean="0">
                <a:latin typeface="Arial" panose="020B0604020202020204" pitchFamily="34" charset="0"/>
              </a:rPr>
              <a:t>:  Models of attack scenarios are built and then captured, data is compared to the models to uncover malicious activities. (208)</a:t>
            </a:r>
          </a:p>
          <a:p>
            <a:pPr marL="2076450" lvl="4" indent="-247650" eaLnBrk="1" hangingPunct="1">
              <a:lnSpc>
                <a:spcPct val="80000"/>
              </a:lnSpc>
              <a:buFontTx/>
              <a:buChar char="•"/>
            </a:pPr>
            <a:r>
              <a:rPr lang="en-US" altLang="en-US" sz="800" smtClean="0">
                <a:latin typeface="Arial" panose="020B0604020202020204" pitchFamily="34" charset="0"/>
              </a:rPr>
              <a:t>The IDS takes in the audit log data and compares it to the different models that have been developed, to see if the data meets any of the models specifications. (208)</a:t>
            </a:r>
          </a:p>
          <a:p>
            <a:pPr marL="247650" indent="-247650" eaLnBrk="1" hangingPunct="1">
              <a:lnSpc>
                <a:spcPct val="80000"/>
              </a:lnSpc>
            </a:pPr>
            <a:endParaRPr lang="en-US" altLang="en-US" sz="800" smtClean="0">
              <a:latin typeface="Arial" panose="020B0604020202020204" pitchFamily="34" charset="0"/>
            </a:endParaRPr>
          </a:p>
        </p:txBody>
      </p:sp>
    </p:spTree>
    <p:extLst>
      <p:ext uri="{BB962C8B-B14F-4D97-AF65-F5344CB8AC3E}">
        <p14:creationId xmlns:p14="http://schemas.microsoft.com/office/powerpoint/2010/main" val="260652990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895A3B5-2C3B-4C8B-8EBC-8BA86FF35A84}" type="slidenum">
              <a:rPr lang="en-US" altLang="en-US"/>
              <a:pPr>
                <a:spcBef>
                  <a:spcPct val="0"/>
                </a:spcBef>
              </a:pPr>
              <a:t>72</a:t>
            </a:fld>
            <a:endParaRPr lang="en-US" altLang="en-US"/>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r>
              <a:rPr lang="en-US" altLang="en-US" smtClean="0">
                <a:latin typeface="Arial" panose="020B0604020202020204" pitchFamily="34" charset="0"/>
              </a:rPr>
              <a:t>All references are from All in One Book (Shon Harris, 2005)</a:t>
            </a:r>
          </a:p>
          <a:p>
            <a:pPr marL="247650" indent="-247650"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153914570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481E32A-D585-4C35-9D6F-BF3F86F1AEA5}" type="slidenum">
              <a:rPr lang="en-US" altLang="en-US"/>
              <a:pPr>
                <a:spcBef>
                  <a:spcPct val="0"/>
                </a:spcBef>
              </a:pPr>
              <a:t>73</a:t>
            </a:fld>
            <a:endParaRPr lang="en-US" altLang="en-US"/>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47650" indent="-247650" eaLnBrk="1" hangingPunct="1"/>
            <a:r>
              <a:rPr lang="en-US" altLang="en-US" smtClean="0">
                <a:latin typeface="Arial" panose="020B0604020202020204" pitchFamily="34" charset="0"/>
              </a:rPr>
              <a:t>All references are from All in One Book (Shon Harris, 2005)</a:t>
            </a:r>
          </a:p>
          <a:p>
            <a:pPr marL="247650" indent="-247650" eaLnBrk="1" hangingPunct="1"/>
            <a:endParaRPr lang="en-US" altLang="en-US" smtClean="0">
              <a:latin typeface="Arial" panose="020B0604020202020204" pitchFamily="34" charset="0"/>
            </a:endParaRPr>
          </a:p>
          <a:p>
            <a:pPr marL="247650" indent="-247650" eaLnBrk="1" hangingPunct="1"/>
            <a:r>
              <a:rPr lang="en-US" altLang="en-US" smtClean="0">
                <a:latin typeface="Arial" panose="020B0604020202020204" pitchFamily="34" charset="0"/>
              </a:rPr>
              <a:t>Honeypot:  is a computer set up as a sacrificial lamb on the network. (213)</a:t>
            </a:r>
          </a:p>
          <a:p>
            <a:pPr marL="247650" indent="-247650" eaLnBrk="1" hangingPunct="1"/>
            <a:r>
              <a:rPr lang="en-US" altLang="en-US" smtClean="0">
                <a:latin typeface="Arial" panose="020B0604020202020204" pitchFamily="34" charset="0"/>
              </a:rPr>
              <a:t>Consider distinction between enticement (offering something attractive) and entrapment (user induced or tricked into committing a crime).  (213)  Entrapment is illegal. (213)</a:t>
            </a:r>
          </a:p>
          <a:p>
            <a:pPr marL="247650" indent="-247650" eaLnBrk="1" hangingPunct="1"/>
            <a:endParaRPr lang="en-US" altLang="en-US" smtClean="0">
              <a:latin typeface="Arial" panose="020B0604020202020204" pitchFamily="34" charset="0"/>
            </a:endParaRPr>
          </a:p>
          <a:p>
            <a:pPr marL="247650" indent="-247650" eaLnBrk="1" hangingPunct="1"/>
            <a:r>
              <a:rPr lang="en-US" altLang="en-US" smtClean="0">
                <a:latin typeface="Arial" panose="020B0604020202020204" pitchFamily="34" charset="0"/>
              </a:rPr>
              <a:t>Network Sniffers</a:t>
            </a:r>
          </a:p>
          <a:p>
            <a:pPr marL="247650" indent="-247650" eaLnBrk="1" hangingPunct="1"/>
            <a:r>
              <a:rPr lang="en-US" altLang="en-US" smtClean="0">
                <a:latin typeface="Arial" panose="020B0604020202020204" pitchFamily="34" charset="0"/>
              </a:rPr>
              <a:t>A general term for programs are devices that are able to examine traffic on a LAN segment. (213)</a:t>
            </a:r>
          </a:p>
          <a:p>
            <a:pPr marL="247650" indent="-247650" eaLnBrk="1" hangingPunct="1"/>
            <a:r>
              <a:rPr lang="en-US" altLang="en-US" smtClean="0">
                <a:latin typeface="Arial" panose="020B0604020202020204" pitchFamily="34" charset="0"/>
              </a:rPr>
              <a:t>The sniffer has to have a protocol-analysis capability to recognize the different protocol values to properly interpret their meaning. (213)</a:t>
            </a:r>
          </a:p>
          <a:p>
            <a:pPr marL="247650" indent="-247650" eaLnBrk="1" hangingPunct="1"/>
            <a:r>
              <a:rPr lang="en-US" altLang="en-US" smtClean="0">
                <a:latin typeface="Arial" panose="020B0604020202020204" pitchFamily="34" charset="0"/>
              </a:rPr>
              <a:t>The sniffer has to have access to a network adapter that works in promiscuous mode and a driver that captures the data. (214)</a:t>
            </a:r>
          </a:p>
          <a:p>
            <a:pPr marL="247650" indent="-247650"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193307066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A469CED-E510-4C91-B99C-291C036B7D2C}" type="slidenum">
              <a:rPr lang="en-US" altLang="en-US"/>
              <a:pPr>
                <a:spcBef>
                  <a:spcPct val="0"/>
                </a:spcBef>
              </a:pPr>
              <a:t>74</a:t>
            </a:fld>
            <a:endParaRPr lang="en-US" altLang="en-US"/>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04800" indent="-304800" eaLnBrk="1" hangingPunct="1">
              <a:lnSpc>
                <a:spcPct val="80000"/>
              </a:lnSpc>
            </a:pPr>
            <a:r>
              <a:rPr lang="en-US" altLang="en-US" sz="800" smtClean="0">
                <a:latin typeface="Arial" panose="020B0604020202020204" pitchFamily="34" charset="0"/>
              </a:rPr>
              <a:t>All references are from All in One Book (Shon Harris, 2005)</a:t>
            </a:r>
          </a:p>
          <a:p>
            <a:pPr marL="304800" indent="-304800" eaLnBrk="1" hangingPunct="1">
              <a:lnSpc>
                <a:spcPct val="80000"/>
              </a:lnSpc>
            </a:pPr>
            <a:endParaRPr lang="en-US" altLang="en-US" sz="800" smtClean="0">
              <a:latin typeface="Arial" panose="020B0604020202020204" pitchFamily="34" charset="0"/>
            </a:endParaRPr>
          </a:p>
          <a:p>
            <a:pPr marL="304800" indent="-304800" eaLnBrk="1" hangingPunct="1">
              <a:lnSpc>
                <a:spcPct val="80000"/>
              </a:lnSpc>
            </a:pPr>
            <a:r>
              <a:rPr lang="en-US" altLang="en-US" sz="800" smtClean="0">
                <a:latin typeface="Arial" panose="020B0604020202020204" pitchFamily="34" charset="0"/>
              </a:rPr>
              <a:t>The danger of insiders is that they have already been given a wide range of access that a hacker would have to work to obtain, they probably have intimate knowledge of the environment, and generally they are trusted. (214)</a:t>
            </a:r>
            <a:endParaRPr lang="en-US" altLang="en-US" sz="800" u="sng" smtClean="0">
              <a:latin typeface="Arial" panose="020B0604020202020204" pitchFamily="34" charset="0"/>
            </a:endParaRPr>
          </a:p>
          <a:p>
            <a:pPr marL="304800" indent="-304800" eaLnBrk="1" hangingPunct="1">
              <a:lnSpc>
                <a:spcPct val="80000"/>
              </a:lnSpc>
            </a:pPr>
            <a:endParaRPr lang="en-US" altLang="en-US" sz="800" u="sng" smtClean="0">
              <a:latin typeface="Arial" panose="020B0604020202020204" pitchFamily="34" charset="0"/>
            </a:endParaRPr>
          </a:p>
          <a:p>
            <a:pPr marL="304800" indent="-304800" eaLnBrk="1" hangingPunct="1">
              <a:lnSpc>
                <a:spcPct val="80000"/>
              </a:lnSpc>
            </a:pPr>
            <a:r>
              <a:rPr lang="en-US" altLang="en-US" sz="800" u="sng" smtClean="0">
                <a:latin typeface="Arial" panose="020B0604020202020204" pitchFamily="34" charset="0"/>
              </a:rPr>
              <a:t>Dictionary Attack</a:t>
            </a:r>
            <a:r>
              <a:rPr lang="en-US" altLang="en-US" sz="800" smtClean="0">
                <a:latin typeface="Arial" panose="020B0604020202020204" pitchFamily="34" charset="0"/>
              </a:rPr>
              <a:t>:  This type of program is fed lists (dictionaries) of commonly used words or combinations of characters and then compares these values to capture passwords. (214)</a:t>
            </a:r>
          </a:p>
          <a:p>
            <a:pPr marL="304800" indent="-304800" eaLnBrk="1" hangingPunct="1">
              <a:lnSpc>
                <a:spcPct val="80000"/>
              </a:lnSpc>
            </a:pPr>
            <a:r>
              <a:rPr lang="en-US" altLang="en-US" sz="800" smtClean="0">
                <a:latin typeface="Arial" panose="020B0604020202020204" pitchFamily="34" charset="0"/>
              </a:rPr>
              <a:t>Most operating systems and applications put passwords through hashing algorithms, which result in hash values, also referred to as message digest values. (215)</a:t>
            </a:r>
          </a:p>
          <a:p>
            <a:pPr marL="304800" indent="-304800" eaLnBrk="1" hangingPunct="1">
              <a:lnSpc>
                <a:spcPct val="80000"/>
              </a:lnSpc>
            </a:pPr>
            <a:r>
              <a:rPr lang="en-US" altLang="en-US" sz="800" smtClean="0">
                <a:latin typeface="Arial" panose="020B0604020202020204" pitchFamily="34" charset="0"/>
              </a:rPr>
              <a:t>Countermeasures for dictionary and other password attacks: (215)</a:t>
            </a:r>
          </a:p>
          <a:p>
            <a:pPr marL="304800" indent="-304800" eaLnBrk="1" hangingPunct="1">
              <a:lnSpc>
                <a:spcPct val="80000"/>
              </a:lnSpc>
              <a:buFontTx/>
              <a:buChar char="•"/>
            </a:pPr>
            <a:r>
              <a:rPr lang="en-US" altLang="en-US" sz="800" smtClean="0">
                <a:latin typeface="Arial" panose="020B0604020202020204" pitchFamily="34" charset="0"/>
              </a:rPr>
              <a:t>Do not allow passwords to be sent in cleartext</a:t>
            </a:r>
          </a:p>
          <a:p>
            <a:pPr marL="304800" indent="-304800" eaLnBrk="1" hangingPunct="1">
              <a:lnSpc>
                <a:spcPct val="80000"/>
              </a:lnSpc>
              <a:buFontTx/>
              <a:buChar char="•"/>
            </a:pPr>
            <a:r>
              <a:rPr lang="en-US" altLang="en-US" sz="800" smtClean="0">
                <a:latin typeface="Arial" panose="020B0604020202020204" pitchFamily="34" charset="0"/>
              </a:rPr>
              <a:t>Encrypt the passwords with encryption algorithms or hashing functions</a:t>
            </a:r>
          </a:p>
          <a:p>
            <a:pPr marL="304800" indent="-304800" eaLnBrk="1" hangingPunct="1">
              <a:lnSpc>
                <a:spcPct val="80000"/>
              </a:lnSpc>
              <a:buFontTx/>
              <a:buChar char="•"/>
            </a:pPr>
            <a:r>
              <a:rPr lang="en-US" altLang="en-US" sz="800" smtClean="0">
                <a:latin typeface="Arial" panose="020B0604020202020204" pitchFamily="34" charset="0"/>
              </a:rPr>
              <a:t>Employ one time password tokens</a:t>
            </a:r>
          </a:p>
          <a:p>
            <a:pPr marL="304800" indent="-304800" eaLnBrk="1" hangingPunct="1">
              <a:lnSpc>
                <a:spcPct val="80000"/>
              </a:lnSpc>
              <a:buFontTx/>
              <a:buChar char="•"/>
            </a:pPr>
            <a:r>
              <a:rPr lang="en-US" altLang="en-US" sz="800" smtClean="0">
                <a:latin typeface="Arial" panose="020B0604020202020204" pitchFamily="34" charset="0"/>
              </a:rPr>
              <a:t>Use hard to guess passwords</a:t>
            </a:r>
          </a:p>
          <a:p>
            <a:pPr marL="304800" indent="-304800" eaLnBrk="1" hangingPunct="1">
              <a:lnSpc>
                <a:spcPct val="80000"/>
              </a:lnSpc>
              <a:buFontTx/>
              <a:buChar char="•"/>
            </a:pPr>
            <a:r>
              <a:rPr lang="en-US" altLang="en-US" sz="800" smtClean="0">
                <a:latin typeface="Arial" panose="020B0604020202020204" pitchFamily="34" charset="0"/>
              </a:rPr>
              <a:t>Rotate passwords frequently</a:t>
            </a:r>
          </a:p>
          <a:p>
            <a:pPr marL="304800" indent="-304800" eaLnBrk="1" hangingPunct="1">
              <a:lnSpc>
                <a:spcPct val="80000"/>
              </a:lnSpc>
              <a:buFontTx/>
              <a:buChar char="•"/>
            </a:pPr>
            <a:r>
              <a:rPr lang="en-US" altLang="en-US" sz="800" smtClean="0">
                <a:latin typeface="Arial" panose="020B0604020202020204" pitchFamily="34" charset="0"/>
              </a:rPr>
              <a:t>Employ an IDS to detect suspicious behavior</a:t>
            </a:r>
          </a:p>
          <a:p>
            <a:pPr marL="304800" indent="-304800" eaLnBrk="1" hangingPunct="1">
              <a:lnSpc>
                <a:spcPct val="80000"/>
              </a:lnSpc>
              <a:buFontTx/>
              <a:buChar char="•"/>
            </a:pPr>
            <a:r>
              <a:rPr lang="en-US" altLang="en-US" sz="800" smtClean="0">
                <a:latin typeface="Arial" panose="020B0604020202020204" pitchFamily="34" charset="0"/>
              </a:rPr>
              <a:t>Use dictionary cracking tools to find weak passwords chosen by users</a:t>
            </a:r>
          </a:p>
          <a:p>
            <a:pPr marL="304800" indent="-304800" eaLnBrk="1" hangingPunct="1">
              <a:lnSpc>
                <a:spcPct val="80000"/>
              </a:lnSpc>
              <a:buFontTx/>
              <a:buChar char="•"/>
            </a:pPr>
            <a:r>
              <a:rPr lang="en-US" altLang="en-US" sz="800" smtClean="0">
                <a:latin typeface="Arial" panose="020B0604020202020204" pitchFamily="34" charset="0"/>
              </a:rPr>
              <a:t>Use special characters, numbers, and upper and lower case letters within the password</a:t>
            </a:r>
          </a:p>
          <a:p>
            <a:pPr marL="304800" indent="-304800" eaLnBrk="1" hangingPunct="1">
              <a:lnSpc>
                <a:spcPct val="80000"/>
              </a:lnSpc>
              <a:buFontTx/>
              <a:buChar char="•"/>
            </a:pPr>
            <a:r>
              <a:rPr lang="en-US" altLang="en-US" sz="800" smtClean="0">
                <a:latin typeface="Arial" panose="020B0604020202020204" pitchFamily="34" charset="0"/>
              </a:rPr>
              <a:t>Protect password files.</a:t>
            </a:r>
            <a:endParaRPr lang="en-US" altLang="en-US" sz="800" u="sng" smtClean="0">
              <a:latin typeface="Arial" panose="020B0604020202020204" pitchFamily="34" charset="0"/>
            </a:endParaRPr>
          </a:p>
          <a:p>
            <a:pPr marL="304800" indent="-304800" eaLnBrk="1" hangingPunct="1">
              <a:lnSpc>
                <a:spcPct val="80000"/>
              </a:lnSpc>
            </a:pPr>
            <a:endParaRPr lang="en-US" altLang="en-US" sz="800" u="sng" smtClean="0">
              <a:latin typeface="Arial" panose="020B0604020202020204" pitchFamily="34" charset="0"/>
            </a:endParaRPr>
          </a:p>
          <a:p>
            <a:pPr marL="304800" indent="-304800" eaLnBrk="1" hangingPunct="1">
              <a:lnSpc>
                <a:spcPct val="80000"/>
              </a:lnSpc>
            </a:pPr>
            <a:r>
              <a:rPr lang="en-US" altLang="en-US" sz="800" u="sng" smtClean="0">
                <a:latin typeface="Arial" panose="020B0604020202020204" pitchFamily="34" charset="0"/>
              </a:rPr>
              <a:t>Brute Force Attack</a:t>
            </a:r>
            <a:r>
              <a:rPr lang="en-US" altLang="en-US" sz="800" smtClean="0">
                <a:latin typeface="Arial" panose="020B0604020202020204" pitchFamily="34" charset="0"/>
              </a:rPr>
              <a:t>:  Generally speaking these are attacks that continually try different inputs to achieve a predefined goal. (i.e., trying every possible combination until the correct one is identified.)  (215)</a:t>
            </a:r>
          </a:p>
          <a:p>
            <a:pPr marL="304800" indent="-304800" eaLnBrk="1" hangingPunct="1">
              <a:lnSpc>
                <a:spcPct val="80000"/>
              </a:lnSpc>
            </a:pPr>
            <a:r>
              <a:rPr lang="en-US" altLang="en-US" sz="800" smtClean="0">
                <a:latin typeface="Arial" panose="020B0604020202020204" pitchFamily="34" charset="0"/>
              </a:rPr>
              <a:t>The most effective way to uncover passwords is through a hybrid attack, which combines a dictionary attack and a brute force attack. (215)</a:t>
            </a:r>
            <a:endParaRPr lang="en-US" altLang="en-US" sz="800" b="1" i="1" smtClean="0">
              <a:latin typeface="Arial" panose="020B0604020202020204" pitchFamily="34" charset="0"/>
            </a:endParaRPr>
          </a:p>
          <a:p>
            <a:pPr marL="304800" indent="-304800" eaLnBrk="1" hangingPunct="1">
              <a:lnSpc>
                <a:spcPct val="80000"/>
              </a:lnSpc>
            </a:pPr>
            <a:r>
              <a:rPr lang="en-US" altLang="en-US" sz="800" b="1" i="1" smtClean="0">
                <a:latin typeface="Arial" panose="020B0604020202020204" pitchFamily="34" charset="0"/>
              </a:rPr>
              <a:t>Wardialing Attacks</a:t>
            </a:r>
            <a:r>
              <a:rPr lang="en-US" altLang="en-US" sz="800" smtClean="0">
                <a:latin typeface="Arial" panose="020B0604020202020204" pitchFamily="34" charset="0"/>
              </a:rPr>
              <a:t>:  Inserting long lists of phone numbers into a wardialing program in hopes of finding a model that can be exploited to gain unauthorized access. (216)</a:t>
            </a:r>
          </a:p>
          <a:p>
            <a:pPr marL="304800" indent="-304800" eaLnBrk="1" hangingPunct="1">
              <a:lnSpc>
                <a:spcPct val="80000"/>
              </a:lnSpc>
            </a:pPr>
            <a:r>
              <a:rPr lang="en-US" altLang="en-US" sz="800" smtClean="0">
                <a:latin typeface="Arial" panose="020B0604020202020204" pitchFamily="34" charset="0"/>
              </a:rPr>
              <a:t>Countermeasures for a brute force attack: (216)</a:t>
            </a:r>
          </a:p>
          <a:p>
            <a:pPr marL="304800" indent="-304800" eaLnBrk="1" hangingPunct="1">
              <a:lnSpc>
                <a:spcPct val="80000"/>
              </a:lnSpc>
              <a:buFontTx/>
              <a:buChar char="•"/>
            </a:pPr>
            <a:r>
              <a:rPr lang="en-US" altLang="en-US" sz="800" smtClean="0">
                <a:latin typeface="Arial" panose="020B0604020202020204" pitchFamily="34" charset="0"/>
              </a:rPr>
              <a:t>Perform brute force attacks to find weaknesses and hanging modems</a:t>
            </a:r>
          </a:p>
          <a:p>
            <a:pPr marL="304800" indent="-304800" eaLnBrk="1" hangingPunct="1">
              <a:lnSpc>
                <a:spcPct val="80000"/>
              </a:lnSpc>
              <a:buFontTx/>
              <a:buChar char="•"/>
            </a:pPr>
            <a:r>
              <a:rPr lang="en-US" altLang="en-US" sz="800" smtClean="0">
                <a:latin typeface="Arial" panose="020B0604020202020204" pitchFamily="34" charset="0"/>
              </a:rPr>
              <a:t>Make sure only necessary phone numbers are made public</a:t>
            </a:r>
          </a:p>
          <a:p>
            <a:pPr marL="304800" indent="-304800" eaLnBrk="1" hangingPunct="1">
              <a:lnSpc>
                <a:spcPct val="80000"/>
              </a:lnSpc>
              <a:buFontTx/>
              <a:buChar char="•"/>
            </a:pPr>
            <a:r>
              <a:rPr lang="en-US" altLang="en-US" sz="800" smtClean="0">
                <a:latin typeface="Arial" panose="020B0604020202020204" pitchFamily="34" charset="0"/>
              </a:rPr>
              <a:t>Provide stringent access control methods that would make brute force attacks less successful</a:t>
            </a:r>
          </a:p>
          <a:p>
            <a:pPr marL="304800" indent="-304800" eaLnBrk="1" hangingPunct="1">
              <a:lnSpc>
                <a:spcPct val="80000"/>
              </a:lnSpc>
              <a:buFontTx/>
              <a:buChar char="•"/>
            </a:pPr>
            <a:r>
              <a:rPr lang="en-US" altLang="en-US" sz="800" smtClean="0">
                <a:latin typeface="Arial" panose="020B0604020202020204" pitchFamily="34" charset="0"/>
              </a:rPr>
              <a:t>Monitor and audit for such activity</a:t>
            </a:r>
          </a:p>
          <a:p>
            <a:pPr marL="304800" indent="-304800" eaLnBrk="1" hangingPunct="1">
              <a:lnSpc>
                <a:spcPct val="80000"/>
              </a:lnSpc>
              <a:buFontTx/>
              <a:buChar char="•"/>
            </a:pPr>
            <a:r>
              <a:rPr lang="en-US" altLang="en-US" sz="800" smtClean="0">
                <a:latin typeface="Arial" panose="020B0604020202020204" pitchFamily="34" charset="0"/>
              </a:rPr>
              <a:t>Employ an IDS to watch for suspicious activity</a:t>
            </a:r>
          </a:p>
          <a:p>
            <a:pPr marL="304800" indent="-304800" eaLnBrk="1" hangingPunct="1">
              <a:lnSpc>
                <a:spcPct val="80000"/>
              </a:lnSpc>
              <a:buFontTx/>
              <a:buChar char="•"/>
            </a:pPr>
            <a:r>
              <a:rPr lang="en-US" altLang="en-US" sz="800" smtClean="0">
                <a:latin typeface="Arial" panose="020B0604020202020204" pitchFamily="34" charset="0"/>
              </a:rPr>
              <a:t>Set lock)</a:t>
            </a:r>
          </a:p>
          <a:p>
            <a:pPr marL="304800" indent="-304800" eaLnBrk="1" hangingPunct="1">
              <a:lnSpc>
                <a:spcPct val="80000"/>
              </a:lnSpc>
              <a:buFontTx/>
              <a:buChar char="•"/>
            </a:pPr>
            <a:r>
              <a:rPr lang="en-US" altLang="en-US" sz="800" smtClean="0">
                <a:latin typeface="Arial" panose="020B0604020202020204" pitchFamily="34" charset="0"/>
              </a:rPr>
              <a:t>Lockout thresholds.</a:t>
            </a:r>
            <a:endParaRPr lang="en-US" altLang="en-US" sz="800" u="sng" smtClean="0">
              <a:latin typeface="Arial" panose="020B0604020202020204" pitchFamily="34" charset="0"/>
            </a:endParaRPr>
          </a:p>
          <a:p>
            <a:pPr marL="304800" indent="-304800" eaLnBrk="1" hangingPunct="1">
              <a:lnSpc>
                <a:spcPct val="80000"/>
              </a:lnSpc>
            </a:pPr>
            <a:endParaRPr lang="en-US" altLang="en-US" sz="800" u="sng" smtClean="0">
              <a:latin typeface="Arial" panose="020B0604020202020204" pitchFamily="34" charset="0"/>
            </a:endParaRPr>
          </a:p>
          <a:p>
            <a:pPr marL="304800" indent="-304800" eaLnBrk="1" hangingPunct="1">
              <a:lnSpc>
                <a:spcPct val="80000"/>
              </a:lnSpc>
            </a:pPr>
            <a:r>
              <a:rPr lang="en-US" altLang="en-US" sz="800" u="sng" smtClean="0">
                <a:latin typeface="Arial" panose="020B0604020202020204" pitchFamily="34" charset="0"/>
              </a:rPr>
              <a:t>Spoofing at Logon</a:t>
            </a:r>
            <a:r>
              <a:rPr lang="en-US" altLang="en-US" sz="800" smtClean="0">
                <a:latin typeface="Arial" panose="020B0604020202020204" pitchFamily="34" charset="0"/>
              </a:rPr>
              <a:t>:  An attacker can use a program that presents to the user a fake logon screen, which often tricks the user into attempting to logon. (216)</a:t>
            </a:r>
          </a:p>
          <a:p>
            <a:pPr marL="304800" indent="-304800" eaLnBrk="1" hangingPunct="1">
              <a:lnSpc>
                <a:spcPct val="80000"/>
              </a:lnSpc>
            </a:pPr>
            <a:r>
              <a:rPr lang="en-US" altLang="en-US" sz="800" smtClean="0">
                <a:latin typeface="Arial" panose="020B0604020202020204" pitchFamily="34" charset="0"/>
              </a:rPr>
              <a:t>This has become a common attack on the Internet in phishing attacks and identity theft attempts. (216)</a:t>
            </a:r>
          </a:p>
          <a:p>
            <a:pPr marL="304800" indent="-304800" eaLnBrk="1" hangingPunct="1">
              <a:lnSpc>
                <a:spcPct val="80000"/>
              </a:lnSpc>
            </a:pPr>
            <a:r>
              <a:rPr lang="en-US" altLang="en-US" sz="800" smtClean="0">
                <a:latin typeface="Arial" panose="020B0604020202020204" pitchFamily="34" charset="0"/>
              </a:rPr>
              <a:t>Countermeasures (217)</a:t>
            </a:r>
            <a:endParaRPr lang="en-US" altLang="en-US" sz="800" b="1" i="1" smtClean="0">
              <a:latin typeface="Arial" panose="020B0604020202020204" pitchFamily="34" charset="0"/>
            </a:endParaRPr>
          </a:p>
          <a:p>
            <a:pPr marL="304800" indent="-304800" eaLnBrk="1" hangingPunct="1">
              <a:lnSpc>
                <a:spcPct val="80000"/>
              </a:lnSpc>
              <a:buFontTx/>
              <a:buChar char="•"/>
            </a:pPr>
            <a:r>
              <a:rPr lang="en-US" altLang="en-US" sz="800" b="1" i="1" smtClean="0">
                <a:latin typeface="Arial" panose="020B0604020202020204" pitchFamily="34" charset="0"/>
              </a:rPr>
              <a:t>Guaranteed trusted path</a:t>
            </a:r>
            <a:r>
              <a:rPr lang="en-US" altLang="en-US" sz="800" smtClean="0">
                <a:latin typeface="Arial" panose="020B0604020202020204" pitchFamily="34" charset="0"/>
              </a:rPr>
              <a:t>:  A communication link between the user and the kernel that cannot be circumvented as described in the scenario of a fake logon screen. (217)</a:t>
            </a:r>
          </a:p>
          <a:p>
            <a:pPr marL="304800" indent="-304800" eaLnBrk="1" hangingPunct="1">
              <a:lnSpc>
                <a:spcPct val="80000"/>
              </a:lnSpc>
              <a:buFontTx/>
              <a:buChar char="•"/>
            </a:pPr>
            <a:r>
              <a:rPr lang="en-US" altLang="en-US" sz="800" smtClean="0">
                <a:latin typeface="Arial" panose="020B0604020202020204" pitchFamily="34" charset="0"/>
              </a:rPr>
              <a:t>Be skeptical of emails asking you to change/confirm/check accounts</a:t>
            </a:r>
          </a:p>
          <a:p>
            <a:pPr marL="304800" indent="-304800" eaLnBrk="1" hangingPunct="1">
              <a:lnSpc>
                <a:spcPct val="80000"/>
              </a:lnSpc>
              <a:buFontTx/>
              <a:buChar char="•"/>
            </a:pPr>
            <a:r>
              <a:rPr lang="en-US" altLang="en-US" sz="800" smtClean="0">
                <a:latin typeface="Arial" panose="020B0604020202020204" pitchFamily="34" charset="0"/>
              </a:rPr>
              <a:t>Call the legitimate company regarding the message</a:t>
            </a:r>
          </a:p>
          <a:p>
            <a:pPr marL="304800" indent="-304800" eaLnBrk="1" hangingPunct="1">
              <a:lnSpc>
                <a:spcPct val="80000"/>
              </a:lnSpc>
              <a:buFontTx/>
              <a:buChar char="•"/>
            </a:pPr>
            <a:r>
              <a:rPr lang="en-US" altLang="en-US" sz="800" smtClean="0">
                <a:latin typeface="Arial" panose="020B0604020202020204" pitchFamily="34" charset="0"/>
              </a:rPr>
              <a:t>Review the address bar to see if the domain name is correct</a:t>
            </a:r>
          </a:p>
          <a:p>
            <a:pPr marL="304800" indent="-304800" eaLnBrk="1" hangingPunct="1">
              <a:lnSpc>
                <a:spcPct val="80000"/>
              </a:lnSpc>
              <a:buFontTx/>
              <a:buChar char="•"/>
            </a:pPr>
            <a:r>
              <a:rPr lang="en-US" altLang="en-US" sz="800" smtClean="0">
                <a:latin typeface="Arial" panose="020B0604020202020204" pitchFamily="34" charset="0"/>
              </a:rPr>
              <a:t>Looks for SSL connection when submitting financial information or credential data</a:t>
            </a:r>
          </a:p>
          <a:p>
            <a:pPr marL="304800" indent="-304800" eaLnBrk="1" hangingPunct="1">
              <a:lnSpc>
                <a:spcPct val="80000"/>
              </a:lnSpc>
              <a:buFontTx/>
              <a:buChar char="•"/>
            </a:pPr>
            <a:r>
              <a:rPr lang="en-US" altLang="en-US" sz="800" smtClean="0">
                <a:latin typeface="Arial" panose="020B0604020202020204" pitchFamily="34" charset="0"/>
              </a:rPr>
              <a:t>do not click on embedded links</a:t>
            </a:r>
          </a:p>
          <a:p>
            <a:pPr marL="304800" indent="-304800" eaLnBrk="1" hangingPunct="1">
              <a:lnSpc>
                <a:spcPct val="80000"/>
              </a:lnSpc>
              <a:buFontTx/>
              <a:buChar char="•"/>
            </a:pPr>
            <a:r>
              <a:rPr lang="en-US" altLang="en-US" sz="800" smtClean="0">
                <a:latin typeface="Arial" panose="020B0604020202020204" pitchFamily="34" charset="0"/>
              </a:rPr>
              <a:t>Do not accept email in HTML format.</a:t>
            </a:r>
          </a:p>
          <a:p>
            <a:pPr marL="304800" indent="-304800" eaLnBrk="1" hangingPunct="1">
              <a:lnSpc>
                <a:spcPct val="80000"/>
              </a:lnSpc>
            </a:pPr>
            <a:endParaRPr lang="en-US" altLang="en-US" sz="800" smtClean="0">
              <a:latin typeface="Arial" panose="020B0604020202020204" pitchFamily="34" charset="0"/>
            </a:endParaRPr>
          </a:p>
        </p:txBody>
      </p:sp>
    </p:spTree>
    <p:extLst>
      <p:ext uri="{BB962C8B-B14F-4D97-AF65-F5344CB8AC3E}">
        <p14:creationId xmlns:p14="http://schemas.microsoft.com/office/powerpoint/2010/main" val="245898530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05D4F53-1834-40AF-9399-E0988C9F56C7}" type="slidenum">
              <a:rPr lang="en-AU" altLang="en-US"/>
              <a:pPr>
                <a:spcBef>
                  <a:spcPct val="0"/>
                </a:spcBef>
              </a:pPr>
              <a:t>77</a:t>
            </a:fld>
            <a:endParaRPr lang="en-AU" altLang="en-US"/>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AU" altLang="en-US" smtClean="0"/>
          </a:p>
        </p:txBody>
      </p:sp>
    </p:spTree>
    <p:extLst>
      <p:ext uri="{BB962C8B-B14F-4D97-AF65-F5344CB8AC3E}">
        <p14:creationId xmlns:p14="http://schemas.microsoft.com/office/powerpoint/2010/main" val="308532183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C7C77A4-0393-45E0-9D3F-7C40E63A5532}" type="slidenum">
              <a:rPr lang="en-AU" altLang="en-US"/>
              <a:pPr>
                <a:spcBef>
                  <a:spcPct val="0"/>
                </a:spcBef>
              </a:pPr>
              <a:t>78</a:t>
            </a:fld>
            <a:endParaRPr lang="en-AU" altLang="en-US"/>
          </a:p>
        </p:txBody>
      </p:sp>
      <p:sp>
        <p:nvSpPr>
          <p:cNvPr id="10243" name="Rectangle 2"/>
          <p:cNvSpPr>
            <a:spLocks noGrp="1" noRot="1" noChangeAspect="1" noChangeArrowheads="1" noTextEdit="1"/>
          </p:cNvSpPr>
          <p:nvPr>
            <p:ph type="sldImg"/>
          </p:nvPr>
        </p:nvSpPr>
        <p:spPr>
          <a:ln/>
        </p:spPr>
      </p:sp>
      <p:sp>
        <p:nvSpPr>
          <p:cNvPr id="102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smtClean="0"/>
              <a:t>Malware is an umbrella term to collectively describe all types of hostile executable code.  The shared characteristic of all types of malware is that they all involve executable code.  This means that they all affect code that is executed by a system, whether this is compiled or interpreted code.  The code has to ‘do something’.</a:t>
            </a:r>
          </a:p>
          <a:p>
            <a:pPr eaLnBrk="1" hangingPunct="1"/>
            <a:endParaRPr lang="en-AU" altLang="en-US" smtClean="0"/>
          </a:p>
          <a:p>
            <a:pPr eaLnBrk="1" hangingPunct="1"/>
            <a:r>
              <a:rPr lang="en-AU" altLang="en-US" smtClean="0"/>
              <a:t>While there are a number of documented ‘data driven attacks’ (which as the name suggests, involve an attacker presenting a system with some data that has been crafted to cause some kind of response within that system), this lecture is really going to focus on hostile executable code.</a:t>
            </a:r>
          </a:p>
        </p:txBody>
      </p:sp>
    </p:spTree>
    <p:extLst>
      <p:ext uri="{BB962C8B-B14F-4D97-AF65-F5344CB8AC3E}">
        <p14:creationId xmlns:p14="http://schemas.microsoft.com/office/powerpoint/2010/main" val="143404516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BAB57C9-AD16-49B6-9132-3CE81AA9CAE3}" type="slidenum">
              <a:rPr lang="en-AU" altLang="en-US"/>
              <a:pPr>
                <a:spcBef>
                  <a:spcPct val="0"/>
                </a:spcBef>
              </a:pPr>
              <a:t>81</a:t>
            </a:fld>
            <a:endParaRPr lang="en-AU"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smtClean="0"/>
              <a:t>Who has not heard the term ‘Computer Virus’?  I’m sure most students in this unit have already heard the term.  But is this terminology always used correctly?</a:t>
            </a:r>
          </a:p>
          <a:p>
            <a:pPr eaLnBrk="1" hangingPunct="1"/>
            <a:endParaRPr lang="en-AU" altLang="en-US" smtClean="0"/>
          </a:p>
          <a:p>
            <a:pPr eaLnBrk="1" hangingPunct="1"/>
            <a:r>
              <a:rPr lang="en-AU" altLang="en-US" smtClean="0"/>
              <a:t>The term ‘Virus’ is heavily used and often abused, particularly in the more mainstream media.  Often mainstream media will use the term virus to describe any number of different types of malware.  Sometimes the media will also use terms such as ‘Trojan Virus’ and other combinations.  Often the media use these terms incorrectly.</a:t>
            </a:r>
          </a:p>
          <a:p>
            <a:pPr eaLnBrk="1" hangingPunct="1"/>
            <a:endParaRPr lang="en-AU" altLang="en-US" smtClean="0"/>
          </a:p>
          <a:p>
            <a:pPr eaLnBrk="1" hangingPunct="1"/>
            <a:r>
              <a:rPr lang="en-AU" altLang="en-US" smtClean="0"/>
              <a:t>It must be noted however that some types of malware (particularly some of the more recent examples) do tend to blur the lines between some of the more traditional terms.  For example some newer worms also exhibit virus-like characteristics.</a:t>
            </a:r>
          </a:p>
          <a:p>
            <a:pPr eaLnBrk="1" hangingPunct="1"/>
            <a:endParaRPr lang="en-AU" altLang="en-US" smtClean="0"/>
          </a:p>
          <a:p>
            <a:pPr eaLnBrk="1" hangingPunct="1"/>
            <a:r>
              <a:rPr lang="en-AU" altLang="en-US" smtClean="0"/>
              <a:t>It is important for students to recognise the different characteristics of different types of malware and can determine for themselves whether or not a piece of malware should be called a virus, trojan, worm or something else.</a:t>
            </a:r>
          </a:p>
        </p:txBody>
      </p:sp>
    </p:spTree>
    <p:extLst>
      <p:ext uri="{BB962C8B-B14F-4D97-AF65-F5344CB8AC3E}">
        <p14:creationId xmlns:p14="http://schemas.microsoft.com/office/powerpoint/2010/main" val="330588383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F1EF4B6-5AD3-4DD8-A11A-D12F46A4FC88}" type="slidenum">
              <a:rPr lang="en-AU" altLang="en-US"/>
              <a:pPr>
                <a:spcBef>
                  <a:spcPct val="0"/>
                </a:spcBef>
              </a:pPr>
              <a:t>82</a:t>
            </a:fld>
            <a:endParaRPr lang="en-AU" altLang="en-US"/>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smtClean="0"/>
              <a:t>This diagram shows gives an overview of some of the different types of malware and the relationships between them.  It should be noted however that this is not a completely exhaustive compilation of type of malware.  Also there is some crossover between many of these types of malware.  For example, many modern viruses and worms share similar characteristics, as do some trojans and rootkits.</a:t>
            </a:r>
          </a:p>
        </p:txBody>
      </p:sp>
    </p:spTree>
    <p:extLst>
      <p:ext uri="{BB962C8B-B14F-4D97-AF65-F5344CB8AC3E}">
        <p14:creationId xmlns:p14="http://schemas.microsoft.com/office/powerpoint/2010/main" val="73464452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D3B3192-D660-4D2D-B7DF-B84C1207105F}" type="slidenum">
              <a:rPr lang="en-AU" altLang="en-US"/>
              <a:pPr>
                <a:spcBef>
                  <a:spcPct val="0"/>
                </a:spcBef>
              </a:pPr>
              <a:t>83</a:t>
            </a:fld>
            <a:endParaRPr lang="en-AU" altLang="en-US"/>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AU" altLang="en-US" smtClean="0"/>
          </a:p>
        </p:txBody>
      </p:sp>
    </p:spTree>
    <p:extLst>
      <p:ext uri="{BB962C8B-B14F-4D97-AF65-F5344CB8AC3E}">
        <p14:creationId xmlns:p14="http://schemas.microsoft.com/office/powerpoint/2010/main" val="25528958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E4F5DB5-328C-4C72-A782-087F5A7C89E9}" type="slidenum">
              <a:rPr lang="en-US" smtClean="0"/>
              <a:pPr/>
              <a:t>‹#›</a:t>
            </a:fld>
            <a:endParaRPr lang="en-US"/>
          </a:p>
        </p:txBody>
      </p:sp>
    </p:spTree>
    <p:extLst>
      <p:ext uri="{BB962C8B-B14F-4D97-AF65-F5344CB8AC3E}">
        <p14:creationId xmlns:p14="http://schemas.microsoft.com/office/powerpoint/2010/main" val="2646910225"/>
      </p:ext>
    </p:extLst>
  </p:cSld>
  <p:clrMapOvr>
    <a:masterClrMapping/>
  </p:clrMapOvr>
  <p:transition spd="slow">
    <p:wipe dir="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2B9A02F-357D-AF42-B110-A7740AFDCA1B}" type="datetimeFigureOut">
              <a:rPr lang="en-US" smtClean="0">
                <a:solidFill>
                  <a:prstClr val="black">
                    <a:tint val="75000"/>
                  </a:prstClr>
                </a:solidFill>
              </a:rPr>
              <a:pPr/>
              <a:t>10/8/2022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2E4F5DB5-328C-4C72-A782-087F5A7C89E9}" type="slidenum">
              <a:rPr lang="en-US" smtClean="0"/>
              <a:pPr/>
              <a:t>‹#›</a:t>
            </a:fld>
            <a:endParaRPr lang="en-US"/>
          </a:p>
        </p:txBody>
      </p:sp>
      <p:sp>
        <p:nvSpPr>
          <p:cNvPr id="7" name="Rectangle 6"/>
          <p:cNvSpPr/>
          <p:nvPr userDrawn="1"/>
        </p:nvSpPr>
        <p:spPr>
          <a:xfrm>
            <a:off x="7620000" y="6477000"/>
            <a:ext cx="4572000" cy="3048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r>
              <a:rPr lang="en-US" sz="1200" i="1" dirty="0" smtClean="0">
                <a:solidFill>
                  <a:prstClr val="white"/>
                </a:solidFill>
              </a:rPr>
              <a:t>ICT 445 Computer Security </a:t>
            </a:r>
            <a:endParaRPr lang="en-US" sz="1200" i="1" dirty="0">
              <a:solidFill>
                <a:prstClr val="white"/>
              </a:solidFill>
            </a:endParaRPr>
          </a:p>
        </p:txBody>
      </p:sp>
      <p:cxnSp>
        <p:nvCxnSpPr>
          <p:cNvPr id="8" name="Straight Connector 7"/>
          <p:cNvCxnSpPr/>
          <p:nvPr userDrawn="1"/>
        </p:nvCxnSpPr>
        <p:spPr>
          <a:xfrm>
            <a:off x="1930400" y="1371600"/>
            <a:ext cx="98552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3810851"/>
      </p:ext>
    </p:extLst>
  </p:cSld>
  <p:clrMapOvr>
    <a:masterClrMapping/>
  </p:clrMapOvr>
  <p:transition spd="slow">
    <p:wipe dir="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E4F5DB5-328C-4C72-A782-087F5A7C89E9}" type="slidenum">
              <a:rPr lang="en-US" smtClean="0"/>
              <a:pPr/>
              <a:t>‹#›</a:t>
            </a:fld>
            <a:endParaRPr lang="en-US"/>
          </a:p>
        </p:txBody>
      </p:sp>
    </p:spTree>
    <p:extLst>
      <p:ext uri="{BB962C8B-B14F-4D97-AF65-F5344CB8AC3E}">
        <p14:creationId xmlns:p14="http://schemas.microsoft.com/office/powerpoint/2010/main" val="1416273347"/>
      </p:ext>
    </p:extLst>
  </p:cSld>
  <p:clrMapOvr>
    <a:masterClrMapping/>
  </p:clrMapOvr>
  <p:transition spd="slow">
    <p:wipe dir="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2E4F5DB5-328C-4C72-A782-087F5A7C89E9}" type="slidenum">
              <a:rPr lang="en-US" smtClean="0"/>
              <a:pPr/>
              <a:t>‹#›</a:t>
            </a:fld>
            <a:endParaRPr lang="en-US"/>
          </a:p>
        </p:txBody>
      </p:sp>
    </p:spTree>
    <p:extLst>
      <p:ext uri="{BB962C8B-B14F-4D97-AF65-F5344CB8AC3E}">
        <p14:creationId xmlns:p14="http://schemas.microsoft.com/office/powerpoint/2010/main" val="1961092826"/>
      </p:ext>
    </p:extLst>
  </p:cSld>
  <p:clrMapOvr>
    <a:masterClrMapping/>
  </p:clrMapOvr>
  <p:transition spd="slow">
    <p:wipe dir="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2E4F5DB5-328C-4C72-A782-087F5A7C89E9}" type="slidenum">
              <a:rPr lang="en-US" smtClean="0"/>
              <a:pPr/>
              <a:t>‹#›</a:t>
            </a:fld>
            <a:endParaRPr lang="en-US"/>
          </a:p>
        </p:txBody>
      </p:sp>
    </p:spTree>
    <p:extLst>
      <p:ext uri="{BB962C8B-B14F-4D97-AF65-F5344CB8AC3E}">
        <p14:creationId xmlns:p14="http://schemas.microsoft.com/office/powerpoint/2010/main" val="1744146253"/>
      </p:ext>
    </p:extLst>
  </p:cSld>
  <p:clrMapOvr>
    <a:masterClrMapping/>
  </p:clrMapOvr>
  <p:transition spd="slow">
    <p:wipe dir="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2E4F5DB5-328C-4C72-A782-087F5A7C89E9}" type="slidenum">
              <a:rPr lang="en-US" smtClean="0"/>
              <a:pPr/>
              <a:t>‹#›</a:t>
            </a:fld>
            <a:endParaRPr lang="en-US"/>
          </a:p>
        </p:txBody>
      </p:sp>
    </p:spTree>
    <p:extLst>
      <p:ext uri="{BB962C8B-B14F-4D97-AF65-F5344CB8AC3E}">
        <p14:creationId xmlns:p14="http://schemas.microsoft.com/office/powerpoint/2010/main" val="2948662704"/>
      </p:ext>
    </p:extLst>
  </p:cSld>
  <p:clrMapOvr>
    <a:masterClrMapping/>
  </p:clrMapOvr>
  <p:transition spd="slow">
    <p:wipe dir="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2E4F5DB5-328C-4C72-A782-087F5A7C89E9}" type="slidenum">
              <a:rPr lang="en-US" smtClean="0"/>
              <a:pPr/>
              <a:t>‹#›</a:t>
            </a:fld>
            <a:endParaRPr lang="en-US"/>
          </a:p>
        </p:txBody>
      </p:sp>
    </p:spTree>
    <p:extLst>
      <p:ext uri="{BB962C8B-B14F-4D97-AF65-F5344CB8AC3E}">
        <p14:creationId xmlns:p14="http://schemas.microsoft.com/office/powerpoint/2010/main" val="149419383"/>
      </p:ext>
    </p:extLst>
  </p:cSld>
  <p:clrMapOvr>
    <a:masterClrMapping/>
  </p:clrMapOvr>
  <p:transition spd="slow">
    <p:wipe dir="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2E4F5DB5-328C-4C72-A782-087F5A7C89E9}" type="slidenum">
              <a:rPr lang="en-US" smtClean="0"/>
              <a:pPr/>
              <a:t>‹#›</a:t>
            </a:fld>
            <a:endParaRPr lang="en-US"/>
          </a:p>
        </p:txBody>
      </p:sp>
    </p:spTree>
    <p:extLst>
      <p:ext uri="{BB962C8B-B14F-4D97-AF65-F5344CB8AC3E}">
        <p14:creationId xmlns:p14="http://schemas.microsoft.com/office/powerpoint/2010/main" val="2562945662"/>
      </p:ext>
    </p:extLst>
  </p:cSld>
  <p:clrMapOvr>
    <a:masterClrMapping/>
  </p:clrMapOvr>
  <p:transition spd="slow">
    <p:wipe dir="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2E4F5DB5-328C-4C72-A782-087F5A7C89E9}" type="slidenum">
              <a:rPr lang="en-US" smtClean="0"/>
              <a:pPr/>
              <a:t>‹#›</a:t>
            </a:fld>
            <a:endParaRPr lang="en-US"/>
          </a:p>
        </p:txBody>
      </p:sp>
    </p:spTree>
    <p:extLst>
      <p:ext uri="{BB962C8B-B14F-4D97-AF65-F5344CB8AC3E}">
        <p14:creationId xmlns:p14="http://schemas.microsoft.com/office/powerpoint/2010/main" val="85731595"/>
      </p:ext>
    </p:extLst>
  </p:cSld>
  <p:clrMapOvr>
    <a:masterClrMapping/>
  </p:clrMapOvr>
  <p:transition spd="slow">
    <p:wipe dir="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E4F5DB5-328C-4C72-A782-087F5A7C89E9}" type="slidenum">
              <a:rPr lang="en-US" smtClean="0"/>
              <a:pPr/>
              <a:t>‹#›</a:t>
            </a:fld>
            <a:endParaRPr lang="en-US"/>
          </a:p>
        </p:txBody>
      </p:sp>
    </p:spTree>
    <p:extLst>
      <p:ext uri="{BB962C8B-B14F-4D97-AF65-F5344CB8AC3E}">
        <p14:creationId xmlns:p14="http://schemas.microsoft.com/office/powerpoint/2010/main" val="3820637643"/>
      </p:ext>
    </p:extLst>
  </p:cSld>
  <p:clrMapOvr>
    <a:masterClrMapping/>
  </p:clrMapOvr>
  <p:transition spd="slow">
    <p:wipe dir="r"/>
  </p:transition>
  <p:timing>
    <p:tnLst>
      <p:par>
        <p:cTn id="1" dur="indefinite" restart="never" nodeType="tmRoot"/>
      </p:par>
    </p:tnLst>
  </p:timing>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E4F5DB5-328C-4C72-A782-087F5A7C89E9}" type="slidenum">
              <a:rPr lang="en-US" smtClean="0"/>
              <a:pPr/>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806162640"/>
      </p:ext>
    </p:extLst>
  </p:cSld>
  <p:clrMapOvr>
    <a:masterClrMapping/>
  </p:clrMapOvr>
  <p:transition spd="slow">
    <p:wipe dir="r"/>
  </p:transition>
  <p:timing>
    <p:tnLst>
      <p:par>
        <p:cTn id="1" dur="indefinite" restart="never" nodeType="tmRoot"/>
      </p:par>
    </p:tnLst>
  </p:timing>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E4F5DB5-328C-4C72-A782-087F5A7C89E9}" type="slidenum">
              <a:rPr lang="en-US" smtClean="0"/>
              <a:pPr/>
              <a:t>‹#›</a:t>
            </a:fld>
            <a:endParaRPr lang="en-US"/>
          </a:p>
        </p:txBody>
      </p:sp>
    </p:spTree>
    <p:extLst>
      <p:ext uri="{BB962C8B-B14F-4D97-AF65-F5344CB8AC3E}">
        <p14:creationId xmlns:p14="http://schemas.microsoft.com/office/powerpoint/2010/main" val="3880832952"/>
      </p:ext>
    </p:extLst>
  </p:cSld>
  <p:clrMapOvr>
    <a:masterClrMapping/>
  </p:clrMapOvr>
  <p:transition spd="slow">
    <p:wipe dir="r"/>
  </p:transition>
  <p:timing>
    <p:tnLst>
      <p:par>
        <p:cTn id="1" dur="indefinite" restart="never" nodeType="tmRoot"/>
      </p:par>
    </p:tnLst>
  </p:timing>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E4F5DB5-328C-4C72-A782-087F5A7C89E9}" type="slidenum">
              <a:rPr lang="en-US" smtClean="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41006350"/>
      </p:ext>
    </p:extLst>
  </p:cSld>
  <p:clrMapOvr>
    <a:masterClrMapping/>
  </p:clrMapOvr>
  <p:timing>
    <p:tnLst>
      <p:par>
        <p:cTn id="1" dur="indefinite" restart="never" nodeType="tmRoot"/>
      </p:par>
    </p:tnLst>
  </p:timing>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E4F5DB5-328C-4C72-A782-087F5A7C89E9}" type="slidenum">
              <a:rPr lang="en-US" smtClean="0"/>
              <a:pPr/>
              <a:t>‹#›</a:t>
            </a:fld>
            <a:endParaRPr lang="en-US"/>
          </a:p>
        </p:txBody>
      </p:sp>
    </p:spTree>
    <p:extLst>
      <p:ext uri="{BB962C8B-B14F-4D97-AF65-F5344CB8AC3E}">
        <p14:creationId xmlns:p14="http://schemas.microsoft.com/office/powerpoint/2010/main" val="2567402813"/>
      </p:ext>
    </p:extLst>
  </p:cSld>
  <p:clrMapOvr>
    <a:masterClrMapping/>
  </p:clrMapOvr>
  <p:timing>
    <p:tnLst>
      <p:par>
        <p:cTn id="1" dur="indefinite" restart="never" nodeType="tmRoot"/>
      </p:par>
    </p:tnLst>
  </p:timing>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E4F5DB5-328C-4C72-A782-087F5A7C89E9}" type="slidenum">
              <a:rPr lang="en-US" smtClean="0"/>
              <a:pPr/>
              <a:t>‹#›</a:t>
            </a:fld>
            <a:endParaRPr lang="en-US"/>
          </a:p>
        </p:txBody>
      </p:sp>
    </p:spTree>
    <p:extLst>
      <p:ext uri="{BB962C8B-B14F-4D97-AF65-F5344CB8AC3E}">
        <p14:creationId xmlns:p14="http://schemas.microsoft.com/office/powerpoint/2010/main" val="3109473593"/>
      </p:ext>
    </p:extLst>
  </p:cSld>
  <p:clrMapOvr>
    <a:masterClrMapping/>
  </p:clrMapOvr>
  <p:transition spd="slow">
    <p:wipe dir="r"/>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E4F5DB5-328C-4C72-A782-087F5A7C89E9}" type="slidenum">
              <a:rPr lang="en-US" smtClean="0"/>
              <a:pPr/>
              <a:t>‹#›</a:t>
            </a:fld>
            <a:endParaRPr lang="en-US"/>
          </a:p>
        </p:txBody>
      </p:sp>
    </p:spTree>
    <p:extLst>
      <p:ext uri="{BB962C8B-B14F-4D97-AF65-F5344CB8AC3E}">
        <p14:creationId xmlns:p14="http://schemas.microsoft.com/office/powerpoint/2010/main" val="780112955"/>
      </p:ext>
    </p:extLst>
  </p:cSld>
  <p:clrMapOvr>
    <a:masterClrMapping/>
  </p:clrMapOvr>
  <p:transition spd="slow">
    <p:wipe dir="r"/>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F491D8D-390B-4464-B630-E0A9052CC80C}" type="datetimeFigureOut">
              <a:rPr lang="en-US" smtClean="0"/>
              <a:t>10/8/2022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49841A-27EE-4D78-B45E-358973C9A1EC}" type="slidenum">
              <a:rPr lang="en-US" smtClean="0"/>
              <a:t>‹#›</a:t>
            </a:fld>
            <a:endParaRPr lang="en-US"/>
          </a:p>
        </p:txBody>
      </p:sp>
    </p:spTree>
    <p:extLst>
      <p:ext uri="{BB962C8B-B14F-4D97-AF65-F5344CB8AC3E}">
        <p14:creationId xmlns:p14="http://schemas.microsoft.com/office/powerpoint/2010/main" val="36368322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F491D8D-390B-4464-B630-E0A9052CC80C}" type="datetimeFigureOut">
              <a:rPr lang="en-US" smtClean="0"/>
              <a:t>10/8/2022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49841A-27EE-4D78-B45E-358973C9A1EC}" type="slidenum">
              <a:rPr lang="en-US" smtClean="0"/>
              <a:t>‹#›</a:t>
            </a:fld>
            <a:endParaRPr lang="en-US"/>
          </a:p>
        </p:txBody>
      </p:sp>
    </p:spTree>
    <p:extLst>
      <p:ext uri="{BB962C8B-B14F-4D97-AF65-F5344CB8AC3E}">
        <p14:creationId xmlns:p14="http://schemas.microsoft.com/office/powerpoint/2010/main" val="25087719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F491D8D-390B-4464-B630-E0A9052CC80C}" type="datetimeFigureOut">
              <a:rPr lang="en-US" smtClean="0"/>
              <a:t>10/8/2022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49841A-27EE-4D78-B45E-358973C9A1EC}" type="slidenum">
              <a:rPr lang="en-US" smtClean="0"/>
              <a:t>‹#›</a:t>
            </a:fld>
            <a:endParaRPr lang="en-US"/>
          </a:p>
        </p:txBody>
      </p:sp>
    </p:spTree>
    <p:extLst>
      <p:ext uri="{BB962C8B-B14F-4D97-AF65-F5344CB8AC3E}">
        <p14:creationId xmlns:p14="http://schemas.microsoft.com/office/powerpoint/2010/main" val="41414765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F491D8D-390B-4464-B630-E0A9052CC80C}" type="datetimeFigureOut">
              <a:rPr lang="en-US" smtClean="0"/>
              <a:t>10/8/2022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49841A-27EE-4D78-B45E-358973C9A1EC}" type="slidenum">
              <a:rPr lang="en-US" smtClean="0"/>
              <a:t>‹#›</a:t>
            </a:fld>
            <a:endParaRPr lang="en-US"/>
          </a:p>
        </p:txBody>
      </p:sp>
    </p:spTree>
    <p:extLst>
      <p:ext uri="{BB962C8B-B14F-4D97-AF65-F5344CB8AC3E}">
        <p14:creationId xmlns:p14="http://schemas.microsoft.com/office/powerpoint/2010/main" val="8723029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F491D8D-390B-4464-B630-E0A9052CC80C}" type="datetimeFigureOut">
              <a:rPr lang="en-US" smtClean="0"/>
              <a:t>10/8/2022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E49841A-27EE-4D78-B45E-358973C9A1EC}" type="slidenum">
              <a:rPr lang="en-US" smtClean="0"/>
              <a:t>‹#›</a:t>
            </a:fld>
            <a:endParaRPr lang="en-US"/>
          </a:p>
        </p:txBody>
      </p:sp>
    </p:spTree>
    <p:extLst>
      <p:ext uri="{BB962C8B-B14F-4D97-AF65-F5344CB8AC3E}">
        <p14:creationId xmlns:p14="http://schemas.microsoft.com/office/powerpoint/2010/main" val="10601617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F491D8D-390B-4464-B630-E0A9052CC80C}" type="datetimeFigureOut">
              <a:rPr lang="en-US" smtClean="0"/>
              <a:t>10/8/2022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E49841A-27EE-4D78-B45E-358973C9A1EC}" type="slidenum">
              <a:rPr lang="en-US" smtClean="0"/>
              <a:t>‹#›</a:t>
            </a:fld>
            <a:endParaRPr lang="en-US"/>
          </a:p>
        </p:txBody>
      </p:sp>
    </p:spTree>
    <p:extLst>
      <p:ext uri="{BB962C8B-B14F-4D97-AF65-F5344CB8AC3E}">
        <p14:creationId xmlns:p14="http://schemas.microsoft.com/office/powerpoint/2010/main" val="26812034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491D8D-390B-4464-B630-E0A9052CC80C}" type="datetimeFigureOut">
              <a:rPr lang="en-US" smtClean="0"/>
              <a:t>10/8/2022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E49841A-27EE-4D78-B45E-358973C9A1EC}" type="slidenum">
              <a:rPr lang="en-US" smtClean="0"/>
              <a:t>‹#›</a:t>
            </a:fld>
            <a:endParaRPr lang="en-US"/>
          </a:p>
        </p:txBody>
      </p:sp>
    </p:spTree>
    <p:extLst>
      <p:ext uri="{BB962C8B-B14F-4D97-AF65-F5344CB8AC3E}">
        <p14:creationId xmlns:p14="http://schemas.microsoft.com/office/powerpoint/2010/main" val="6285497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F491D8D-390B-4464-B630-E0A9052CC80C}" type="datetimeFigureOut">
              <a:rPr lang="en-US" smtClean="0"/>
              <a:t>10/8/2022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49841A-27EE-4D78-B45E-358973C9A1EC}" type="slidenum">
              <a:rPr lang="en-US" smtClean="0"/>
              <a:t>‹#›</a:t>
            </a:fld>
            <a:endParaRPr lang="en-US"/>
          </a:p>
        </p:txBody>
      </p:sp>
    </p:spTree>
    <p:extLst>
      <p:ext uri="{BB962C8B-B14F-4D97-AF65-F5344CB8AC3E}">
        <p14:creationId xmlns:p14="http://schemas.microsoft.com/office/powerpoint/2010/main" val="10623751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F491D8D-390B-4464-B630-E0A9052CC80C}" type="datetimeFigureOut">
              <a:rPr lang="en-US" smtClean="0"/>
              <a:t>10/8/2022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49841A-27EE-4D78-B45E-358973C9A1EC}" type="slidenum">
              <a:rPr lang="en-US" smtClean="0"/>
              <a:t>‹#›</a:t>
            </a:fld>
            <a:endParaRPr lang="en-US"/>
          </a:p>
        </p:txBody>
      </p:sp>
    </p:spTree>
    <p:extLst>
      <p:ext uri="{BB962C8B-B14F-4D97-AF65-F5344CB8AC3E}">
        <p14:creationId xmlns:p14="http://schemas.microsoft.com/office/powerpoint/2010/main" val="35536055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F491D8D-390B-4464-B630-E0A9052CC80C}" type="datetimeFigureOut">
              <a:rPr lang="en-US" smtClean="0"/>
              <a:t>10/8/2022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49841A-27EE-4D78-B45E-358973C9A1EC}" type="slidenum">
              <a:rPr lang="en-US" smtClean="0"/>
              <a:t>‹#›</a:t>
            </a:fld>
            <a:endParaRPr lang="en-US"/>
          </a:p>
        </p:txBody>
      </p:sp>
    </p:spTree>
    <p:extLst>
      <p:ext uri="{BB962C8B-B14F-4D97-AF65-F5344CB8AC3E}">
        <p14:creationId xmlns:p14="http://schemas.microsoft.com/office/powerpoint/2010/main" val="39332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F491D8D-390B-4464-B630-E0A9052CC80C}" type="datetimeFigureOut">
              <a:rPr lang="en-US" smtClean="0"/>
              <a:t>10/8/2022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49841A-27EE-4D78-B45E-358973C9A1EC}"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784847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F491D8D-390B-4464-B630-E0A9052CC80C}" type="datetimeFigureOut">
              <a:rPr lang="en-US" smtClean="0"/>
              <a:t>10/8/2022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49841A-27EE-4D78-B45E-358973C9A1EC}" type="slidenum">
              <a:rPr lang="en-US" smtClean="0"/>
              <a:t>‹#›</a:t>
            </a:fld>
            <a:endParaRPr lang="en-US"/>
          </a:p>
        </p:txBody>
      </p:sp>
    </p:spTree>
    <p:extLst>
      <p:ext uri="{BB962C8B-B14F-4D97-AF65-F5344CB8AC3E}">
        <p14:creationId xmlns:p14="http://schemas.microsoft.com/office/powerpoint/2010/main" val="10187247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F491D8D-390B-4464-B630-E0A9052CC80C}" type="datetimeFigureOut">
              <a:rPr lang="en-US" smtClean="0"/>
              <a:t>10/8/2022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49841A-27EE-4D78-B45E-358973C9A1EC}"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498854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F491D8D-390B-4464-B630-E0A9052CC80C}" type="datetimeFigureOut">
              <a:rPr lang="en-US" smtClean="0"/>
              <a:t>10/8/2022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49841A-27EE-4D78-B45E-358973C9A1EC}" type="slidenum">
              <a:rPr lang="en-US" smtClean="0"/>
              <a:t>‹#›</a:t>
            </a:fld>
            <a:endParaRPr lang="en-US"/>
          </a:p>
        </p:txBody>
      </p:sp>
    </p:spTree>
    <p:extLst>
      <p:ext uri="{BB962C8B-B14F-4D97-AF65-F5344CB8AC3E}">
        <p14:creationId xmlns:p14="http://schemas.microsoft.com/office/powerpoint/2010/main" val="248640156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F491D8D-390B-4464-B630-E0A9052CC80C}" type="datetimeFigureOut">
              <a:rPr lang="en-US" smtClean="0"/>
              <a:t>10/8/2022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49841A-27EE-4D78-B45E-358973C9A1EC}" type="slidenum">
              <a:rPr lang="en-US" smtClean="0"/>
              <a:t>‹#›</a:t>
            </a:fld>
            <a:endParaRPr lang="en-US"/>
          </a:p>
        </p:txBody>
      </p:sp>
    </p:spTree>
    <p:extLst>
      <p:ext uri="{BB962C8B-B14F-4D97-AF65-F5344CB8AC3E}">
        <p14:creationId xmlns:p14="http://schemas.microsoft.com/office/powerpoint/2010/main" val="92005553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F491D8D-390B-4464-B630-E0A9052CC80C}" type="datetimeFigureOut">
              <a:rPr lang="en-US" smtClean="0"/>
              <a:t>10/8/2022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49841A-27EE-4D78-B45E-358973C9A1EC}" type="slidenum">
              <a:rPr lang="en-US" smtClean="0"/>
              <a:t>‹#›</a:t>
            </a:fld>
            <a:endParaRPr lang="en-US"/>
          </a:p>
        </p:txBody>
      </p:sp>
    </p:spTree>
    <p:extLst>
      <p:ext uri="{BB962C8B-B14F-4D97-AF65-F5344CB8AC3E}">
        <p14:creationId xmlns:p14="http://schemas.microsoft.com/office/powerpoint/2010/main" val="42857285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F491D8D-390B-4464-B630-E0A9052CC80C}" type="datetimeFigureOut">
              <a:rPr lang="en-US" smtClean="0"/>
              <a:t>10/8/2022</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E49841A-27EE-4D78-B45E-358973C9A1EC}" type="slidenum">
              <a:rPr lang="en-US" smtClean="0"/>
              <a:t>‹#›</a:t>
            </a:fld>
            <a:endParaRPr lang="en-US"/>
          </a:p>
        </p:txBody>
      </p:sp>
    </p:spTree>
    <p:extLst>
      <p:ext uri="{BB962C8B-B14F-4D97-AF65-F5344CB8AC3E}">
        <p14:creationId xmlns:p14="http://schemas.microsoft.com/office/powerpoint/2010/main" val="913804154"/>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ransition spd="slow">
    <p:wipe dir="r"/>
  </p:transition>
  <p:timing>
    <p:tnLst>
      <p:par>
        <p:cTn id="1" dur="indefinite" restart="never" nodeType="tmRoot"/>
      </p:par>
    </p:tnLst>
  </p:timing>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F491D8D-390B-4464-B630-E0A9052CC80C}" type="datetimeFigureOut">
              <a:rPr lang="en-US" smtClean="0"/>
              <a:t>10/8/2022</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E49841A-27EE-4D78-B45E-358973C9A1EC}" type="slidenum">
              <a:rPr lang="en-US" smtClean="0"/>
              <a:t>‹#›</a:t>
            </a:fld>
            <a:endParaRPr lang="en-US"/>
          </a:p>
        </p:txBody>
      </p:sp>
    </p:spTree>
    <p:extLst>
      <p:ext uri="{BB962C8B-B14F-4D97-AF65-F5344CB8AC3E}">
        <p14:creationId xmlns:p14="http://schemas.microsoft.com/office/powerpoint/2010/main" val="3393020120"/>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en.wikipedia.org/wiki/IP_addresses"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4.xml"/><Relationship Id="rId5" Type="http://schemas.openxmlformats.org/officeDocument/2006/relationships/image" Target="../media/image13.jpeg"/><Relationship Id="rId4" Type="http://schemas.openxmlformats.org/officeDocument/2006/relationships/image" Target="../media/image12.jpe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hyperlink" Target="http://www.chkrootkit.org/" TargetMode="Externa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COPPERBELT UNIVERSITY</a:t>
            </a:r>
            <a:endParaRPr lang="en-US" dirty="0"/>
          </a:p>
        </p:txBody>
      </p:sp>
      <p:sp>
        <p:nvSpPr>
          <p:cNvPr id="3" name="Subtitle 2"/>
          <p:cNvSpPr>
            <a:spLocks noGrp="1"/>
          </p:cNvSpPr>
          <p:nvPr>
            <p:ph type="subTitle" idx="1"/>
          </p:nvPr>
        </p:nvSpPr>
        <p:spPr/>
        <p:txBody>
          <a:bodyPr/>
          <a:lstStyle/>
          <a:p>
            <a:r>
              <a:rPr lang="en-US" dirty="0" smtClean="0"/>
              <a:t>CYBER SECURITY</a:t>
            </a:r>
            <a:endParaRPr lang="en-US" dirty="0"/>
          </a:p>
        </p:txBody>
      </p:sp>
    </p:spTree>
    <p:extLst>
      <p:ext uri="{BB962C8B-B14F-4D97-AF65-F5344CB8AC3E}">
        <p14:creationId xmlns:p14="http://schemas.microsoft.com/office/powerpoint/2010/main" val="2096200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4421968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05200" y="152401"/>
            <a:ext cx="5105400" cy="1144765"/>
          </a:xfrm>
        </p:spPr>
        <p:txBody>
          <a:bodyPr>
            <a:noAutofit/>
          </a:bodyPr>
          <a:lstStyle/>
          <a:p>
            <a:r>
              <a:rPr lang="en-US" sz="7200" b="1" dirty="0">
                <a:solidFill>
                  <a:srgbClr val="FF0000"/>
                </a:solidFill>
              </a:rPr>
              <a:t>Disclaimer!</a:t>
            </a:r>
          </a:p>
        </p:txBody>
      </p:sp>
      <p:sp>
        <p:nvSpPr>
          <p:cNvPr id="3" name="Content Placeholder 2"/>
          <p:cNvSpPr>
            <a:spLocks noGrp="1"/>
          </p:cNvSpPr>
          <p:nvPr>
            <p:ph idx="1"/>
          </p:nvPr>
        </p:nvSpPr>
        <p:spPr>
          <a:xfrm>
            <a:off x="2882415" y="2895600"/>
            <a:ext cx="7633185" cy="2667000"/>
          </a:xfrm>
        </p:spPr>
        <p:txBody>
          <a:bodyPr>
            <a:normAutofit/>
          </a:bodyPr>
          <a:lstStyle/>
          <a:p>
            <a:pPr marL="0" indent="0" algn="ctr">
              <a:buNone/>
            </a:pPr>
            <a:r>
              <a:rPr lang="en-US" sz="2800" dirty="0">
                <a:solidFill>
                  <a:srgbClr val="FF0000"/>
                </a:solidFill>
              </a:rPr>
              <a:t>The techniques presented in this course are solely for educational purposes only. The learner bears full responsibility for his/her actions arising henceforth.</a:t>
            </a:r>
          </a:p>
        </p:txBody>
      </p:sp>
      <p:sp>
        <p:nvSpPr>
          <p:cNvPr id="4" name="Slide Number Placeholder 3"/>
          <p:cNvSpPr>
            <a:spLocks noGrp="1"/>
          </p:cNvSpPr>
          <p:nvPr>
            <p:ph type="sldNum" sz="quarter" idx="12"/>
          </p:nvPr>
        </p:nvSpPr>
        <p:spPr/>
        <p:txBody>
          <a:bodyPr/>
          <a:lstStyle/>
          <a:p>
            <a:fld id="{2E4F5DB5-328C-4C72-A782-087F5A7C89E9}" type="slidenum">
              <a:rPr lang="en-US" smtClean="0"/>
              <a:pPr/>
              <a:t>3</a:t>
            </a:fld>
            <a:endParaRPr lang="en-US"/>
          </a:p>
        </p:txBody>
      </p:sp>
    </p:spTree>
    <p:extLst>
      <p:ext uri="{BB962C8B-B14F-4D97-AF65-F5344CB8AC3E}">
        <p14:creationId xmlns:p14="http://schemas.microsoft.com/office/powerpoint/2010/main" val="1241872225"/>
      </p:ext>
    </p:extLst>
  </p:cSld>
  <p:clrMapOvr>
    <a:masterClrMapping/>
  </p:clrMapOvr>
  <p:transition spd="slow">
    <p:wipe dir="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69202" y="427888"/>
            <a:ext cx="6589199" cy="943712"/>
          </a:xfrm>
        </p:spPr>
        <p:txBody>
          <a:bodyPr>
            <a:normAutofit fontScale="90000"/>
          </a:bodyPr>
          <a:lstStyle/>
          <a:p>
            <a:r>
              <a:rPr lang="en-US" dirty="0" smtClean="0"/>
              <a:t>Intro ...                           Cont./</a:t>
            </a:r>
            <a:endParaRPr lang="en-US" dirty="0"/>
          </a:p>
        </p:txBody>
      </p:sp>
      <p:sp>
        <p:nvSpPr>
          <p:cNvPr id="5" name="Content Placeholder 4"/>
          <p:cNvSpPr txBox="1">
            <a:spLocks noGrp="1"/>
          </p:cNvSpPr>
          <p:nvPr>
            <p:ph idx="1"/>
          </p:nvPr>
        </p:nvSpPr>
        <p:spPr>
          <a:xfrm>
            <a:off x="2206595" y="3048001"/>
            <a:ext cx="8308686" cy="1143903"/>
          </a:xfrm>
          <a:prstGeom prst="rect">
            <a:avLst/>
          </a:prstGeom>
          <a:noFill/>
        </p:spPr>
        <p:txBody>
          <a:bodyPr wrap="none" rtlCol="0">
            <a:spAutoFit/>
          </a:bodyPr>
          <a:lstStyle/>
          <a:p>
            <a:pPr marL="0" indent="0" algn="ctr">
              <a:buNone/>
            </a:pPr>
            <a:r>
              <a:rPr lang="en-US" sz="3600" dirty="0"/>
              <a:t>Pre-requisites: </a:t>
            </a:r>
          </a:p>
          <a:p>
            <a:pPr marL="0" indent="0" algn="ctr">
              <a:buNone/>
            </a:pPr>
            <a:r>
              <a:rPr lang="en-US" sz="2400" i="1" dirty="0"/>
              <a:t>Networking, Operating Systems, Security fundamentals</a:t>
            </a:r>
          </a:p>
        </p:txBody>
      </p:sp>
      <p:sp>
        <p:nvSpPr>
          <p:cNvPr id="4" name="Slide Number Placeholder 3"/>
          <p:cNvSpPr>
            <a:spLocks noGrp="1"/>
          </p:cNvSpPr>
          <p:nvPr>
            <p:ph type="sldNum" sz="quarter" idx="12"/>
          </p:nvPr>
        </p:nvSpPr>
        <p:spPr/>
        <p:txBody>
          <a:bodyPr/>
          <a:lstStyle/>
          <a:p>
            <a:fld id="{2E4F5DB5-328C-4C72-A782-087F5A7C89E9}" type="slidenum">
              <a:rPr lang="en-US" smtClean="0"/>
              <a:pPr/>
              <a:t>4</a:t>
            </a:fld>
            <a:endParaRPr lang="en-US"/>
          </a:p>
        </p:txBody>
      </p:sp>
    </p:spTree>
    <p:extLst>
      <p:ext uri="{BB962C8B-B14F-4D97-AF65-F5344CB8AC3E}">
        <p14:creationId xmlns:p14="http://schemas.microsoft.com/office/powerpoint/2010/main" val="3243878819"/>
      </p:ext>
    </p:extLst>
  </p:cSld>
  <p:clrMapOvr>
    <a:masterClrMapping/>
  </p:clrMapOvr>
  <p:transition spd="slow">
    <p:wipe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69202" y="351688"/>
            <a:ext cx="6589199" cy="943712"/>
          </a:xfrm>
        </p:spPr>
        <p:txBody>
          <a:bodyPr/>
          <a:lstStyle/>
          <a:p>
            <a:r>
              <a:rPr lang="en-US" dirty="0" smtClean="0"/>
              <a:t>Outline</a:t>
            </a:r>
            <a:endParaRPr lang="en-US" dirty="0"/>
          </a:p>
        </p:txBody>
      </p:sp>
      <p:sp>
        <p:nvSpPr>
          <p:cNvPr id="3" name="Content Placeholder 2"/>
          <p:cNvSpPr>
            <a:spLocks noGrp="1"/>
          </p:cNvSpPr>
          <p:nvPr>
            <p:ph idx="1"/>
          </p:nvPr>
        </p:nvSpPr>
        <p:spPr>
          <a:xfrm>
            <a:off x="3124200" y="1676400"/>
            <a:ext cx="6686550" cy="3962400"/>
          </a:xfrm>
        </p:spPr>
        <p:txBody>
          <a:bodyPr>
            <a:noAutofit/>
          </a:bodyPr>
          <a:lstStyle/>
          <a:p>
            <a:pPr>
              <a:lnSpc>
                <a:spcPct val="150000"/>
              </a:lnSpc>
            </a:pPr>
            <a:r>
              <a:rPr lang="en-US" sz="2800" dirty="0"/>
              <a:t>Introduction</a:t>
            </a:r>
          </a:p>
          <a:p>
            <a:pPr>
              <a:lnSpc>
                <a:spcPct val="150000"/>
              </a:lnSpc>
            </a:pPr>
            <a:r>
              <a:rPr lang="en-US" sz="2800" dirty="0"/>
              <a:t>Background and Scope</a:t>
            </a:r>
          </a:p>
          <a:p>
            <a:pPr>
              <a:lnSpc>
                <a:spcPct val="150000"/>
              </a:lnSpc>
            </a:pPr>
            <a:r>
              <a:rPr lang="en-US" sz="2800" dirty="0"/>
              <a:t>Threats</a:t>
            </a:r>
          </a:p>
          <a:p>
            <a:pPr>
              <a:lnSpc>
                <a:spcPct val="150000"/>
              </a:lnSpc>
            </a:pPr>
            <a:r>
              <a:rPr lang="en-US" sz="2800" dirty="0"/>
              <a:t>Attacks</a:t>
            </a:r>
          </a:p>
          <a:p>
            <a:pPr>
              <a:lnSpc>
                <a:spcPct val="150000"/>
              </a:lnSpc>
            </a:pPr>
            <a:r>
              <a:rPr lang="en-US" sz="2800" dirty="0"/>
              <a:t>Security Policies</a:t>
            </a:r>
          </a:p>
        </p:txBody>
      </p:sp>
      <p:sp>
        <p:nvSpPr>
          <p:cNvPr id="6" name="Slide Number Placeholder 5"/>
          <p:cNvSpPr>
            <a:spLocks noGrp="1"/>
          </p:cNvSpPr>
          <p:nvPr>
            <p:ph type="sldNum" sz="quarter" idx="12"/>
          </p:nvPr>
        </p:nvSpPr>
        <p:spPr/>
        <p:txBody>
          <a:bodyPr/>
          <a:lstStyle/>
          <a:p>
            <a:fld id="{F3183D15-3B52-4F3A-A722-04EA95252629}" type="slidenum">
              <a:rPr lang="en-US" smtClean="0"/>
              <a:pPr/>
              <a:t>5</a:t>
            </a:fld>
            <a:endParaRPr lang="en-US"/>
          </a:p>
        </p:txBody>
      </p:sp>
    </p:spTree>
    <p:extLst>
      <p:ext uri="{BB962C8B-B14F-4D97-AF65-F5344CB8AC3E}">
        <p14:creationId xmlns:p14="http://schemas.microsoft.com/office/powerpoint/2010/main" val="1924750329"/>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Cyber Attacks Timeline</a:t>
            </a:r>
            <a:endParaRPr lang="en-US" dirty="0"/>
          </a:p>
        </p:txBody>
      </p:sp>
      <p:pic>
        <p:nvPicPr>
          <p:cNvPr id="4" name="Content Placeholder 3"/>
          <p:cNvPicPr>
            <a:picLocks noGrp="1" noChangeAspect="1"/>
          </p:cNvPicPr>
          <p:nvPr>
            <p:ph idx="1"/>
          </p:nvPr>
        </p:nvPicPr>
        <p:blipFill>
          <a:blip r:embed="rId2"/>
          <a:stretch>
            <a:fillRect/>
          </a:stretch>
        </p:blipFill>
        <p:spPr>
          <a:xfrm>
            <a:off x="2037564" y="2160588"/>
            <a:ext cx="5876909" cy="3881437"/>
          </a:xfrm>
          <a:prstGeom prst="rect">
            <a:avLst/>
          </a:prstGeom>
        </p:spPr>
      </p:pic>
    </p:spTree>
    <p:extLst>
      <p:ext uri="{BB962C8B-B14F-4D97-AF65-F5344CB8AC3E}">
        <p14:creationId xmlns:p14="http://schemas.microsoft.com/office/powerpoint/2010/main" val="3347772147"/>
      </p:ext>
    </p:extLst>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Should I do?</a:t>
            </a:r>
            <a:endParaRPr lang="en-US" dirty="0"/>
          </a:p>
        </p:txBody>
      </p:sp>
      <p:pic>
        <p:nvPicPr>
          <p:cNvPr id="4" name="Content Placeholder 3"/>
          <p:cNvPicPr>
            <a:picLocks noGrp="1" noChangeAspect="1"/>
          </p:cNvPicPr>
          <p:nvPr>
            <p:ph idx="1"/>
          </p:nvPr>
        </p:nvPicPr>
        <p:blipFill>
          <a:blip r:embed="rId2"/>
          <a:stretch>
            <a:fillRect/>
          </a:stretch>
        </p:blipFill>
        <p:spPr>
          <a:xfrm>
            <a:off x="3007812" y="2160589"/>
            <a:ext cx="3936414" cy="3674604"/>
          </a:xfrm>
          <a:prstGeom prst="rect">
            <a:avLst/>
          </a:prstGeom>
        </p:spPr>
      </p:pic>
    </p:spTree>
    <p:extLst>
      <p:ext uri="{BB962C8B-B14F-4D97-AF65-F5344CB8AC3E}">
        <p14:creationId xmlns:p14="http://schemas.microsoft.com/office/powerpoint/2010/main" val="3082430228"/>
      </p:ext>
    </p:extLst>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2"/>
          <p:cNvSpPr>
            <a:spLocks noGrp="1"/>
          </p:cNvSpPr>
          <p:nvPr>
            <p:ph type="title"/>
          </p:nvPr>
        </p:nvSpPr>
        <p:spPr>
          <a:xfrm>
            <a:off x="3581400" y="390908"/>
            <a:ext cx="5715000" cy="762000"/>
          </a:xfrm>
        </p:spPr>
        <p:txBody>
          <a:bodyPr/>
          <a:lstStyle/>
          <a:p>
            <a:pPr eaLnBrk="1" hangingPunct="1"/>
            <a:r>
              <a:rPr lang="en-US" altLang="en-US" dirty="0" smtClean="0"/>
              <a:t>What is security?</a:t>
            </a:r>
          </a:p>
        </p:txBody>
      </p:sp>
      <p:sp>
        <p:nvSpPr>
          <p:cNvPr id="10243" name="Content Placeholder 1"/>
          <p:cNvSpPr>
            <a:spLocks noGrp="1"/>
          </p:cNvSpPr>
          <p:nvPr>
            <p:ph idx="1"/>
          </p:nvPr>
        </p:nvSpPr>
        <p:spPr>
          <a:xfrm>
            <a:off x="2057400" y="1524000"/>
            <a:ext cx="8610600" cy="4724400"/>
          </a:xfrm>
        </p:spPr>
        <p:txBody>
          <a:bodyPr>
            <a:normAutofit/>
          </a:bodyPr>
          <a:lstStyle/>
          <a:p>
            <a:pPr eaLnBrk="1" hangingPunct="1">
              <a:buFont typeface="Wingdings" panose="05000000000000000000" pitchFamily="2" charset="2"/>
              <a:buChar char="q"/>
            </a:pPr>
            <a:r>
              <a:rPr lang="en-US" altLang="en-US" sz="2200" dirty="0"/>
              <a:t>Security is management of access to a resource of a system.</a:t>
            </a:r>
          </a:p>
          <a:p>
            <a:pPr eaLnBrk="1" hangingPunct="1">
              <a:buFont typeface="Wingdings" panose="05000000000000000000" pitchFamily="2" charset="2"/>
              <a:buChar char="q"/>
            </a:pPr>
            <a:r>
              <a:rPr lang="en-US" altLang="en-US" sz="2200" dirty="0"/>
              <a:t>A complete understanding of security should address the following:</a:t>
            </a:r>
          </a:p>
          <a:p>
            <a:pPr lvl="1" eaLnBrk="1" hangingPunct="1">
              <a:buFont typeface="Wingdings" panose="05000000000000000000" pitchFamily="2" charset="2"/>
              <a:buChar char="Ø"/>
            </a:pPr>
            <a:r>
              <a:rPr lang="en-US" altLang="en-US" sz="2200" dirty="0"/>
              <a:t>How does the system work?</a:t>
            </a:r>
          </a:p>
          <a:p>
            <a:pPr lvl="1" eaLnBrk="1" hangingPunct="1">
              <a:buFont typeface="Wingdings" panose="05000000000000000000" pitchFamily="2" charset="2"/>
              <a:buChar char="Ø"/>
            </a:pPr>
            <a:r>
              <a:rPr lang="en-US" altLang="en-US" sz="2200" dirty="0"/>
              <a:t>How is the system vulnerable and what are the threats?</a:t>
            </a:r>
          </a:p>
          <a:p>
            <a:pPr lvl="1" eaLnBrk="1" hangingPunct="1">
              <a:buFont typeface="Wingdings" panose="05000000000000000000" pitchFamily="2" charset="2"/>
              <a:buChar char="Ø"/>
            </a:pPr>
            <a:r>
              <a:rPr lang="en-US" altLang="en-US" sz="2200" dirty="0"/>
              <a:t>How do we prevent harm to the system?</a:t>
            </a:r>
          </a:p>
          <a:p>
            <a:pPr lvl="1" eaLnBrk="1" hangingPunct="1">
              <a:buFont typeface="Wingdings" panose="05000000000000000000" pitchFamily="2" charset="2"/>
              <a:buChar char="Ø"/>
            </a:pPr>
            <a:r>
              <a:rPr lang="en-US" altLang="en-US" sz="2200" dirty="0"/>
              <a:t>How do we detect and respond to attacks on the system?</a:t>
            </a:r>
          </a:p>
          <a:p>
            <a:pPr eaLnBrk="1" hangingPunct="1">
              <a:buFont typeface="Wingdings" panose="05000000000000000000" pitchFamily="2" charset="2"/>
              <a:buChar char="q"/>
            </a:pPr>
            <a:r>
              <a:rPr lang="en-US" altLang="en-US" sz="2200" dirty="0"/>
              <a:t>An attack on a system is simply an un-</a:t>
            </a:r>
            <a:r>
              <a:rPr lang="en-US" altLang="en-US" sz="2200" dirty="0" err="1"/>
              <a:t>authorised</a:t>
            </a:r>
            <a:r>
              <a:rPr lang="en-US" altLang="en-US" sz="2200" dirty="0"/>
              <a:t> access or an attempt to access a restricted resource</a:t>
            </a:r>
          </a:p>
        </p:txBody>
      </p:sp>
      <p:sp>
        <p:nvSpPr>
          <p:cNvPr id="13315" name="Slide Number Placeholder 3"/>
          <p:cNvSpPr>
            <a:spLocks noGrp="1"/>
          </p:cNvSpPr>
          <p:nvPr>
            <p:ph type="sldNum" sz="quarter" idx="12"/>
          </p:nvPr>
        </p:nvSpPr>
        <p:spPr bwMode="auto">
          <a:ln>
            <a:miter lim="800000"/>
            <a:headEnd/>
            <a:tailEnd/>
          </a:ln>
        </p:spPr>
        <p:txBody>
          <a:bodyPr vert="horz" lIns="91440" tIns="45720" rIns="91440" bIns="45720" rtlCol="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7ADCF00-CFF9-4F9E-B63E-5D05DAC0D35A}" type="slidenum">
              <a:rPr lang="en-US" altLang="en-US">
                <a:solidFill>
                  <a:prstClr val="white"/>
                </a:solidFill>
              </a:rPr>
              <a:pPr eaLnBrk="1" hangingPunct="1"/>
              <a:t>8</a:t>
            </a:fld>
            <a:endParaRPr lang="en-US" altLang="en-US" dirty="0">
              <a:solidFill>
                <a:prstClr val="white"/>
              </a:solidFill>
            </a:endParaRPr>
          </a:p>
        </p:txBody>
      </p:sp>
    </p:spTree>
    <p:extLst>
      <p:ext uri="{BB962C8B-B14F-4D97-AF65-F5344CB8AC3E}">
        <p14:creationId xmlns:p14="http://schemas.microsoft.com/office/powerpoint/2010/main" val="4155027082"/>
      </p:ext>
    </p:extLst>
  </p:cSld>
  <p:clrMapOvr>
    <a:masterClrMapping/>
  </p:clrMapOvr>
  <p:transition spd="slow">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Tenets of Security</a:t>
            </a:r>
            <a:endParaRPr lang="en-US" dirty="0"/>
          </a:p>
        </p:txBody>
      </p:sp>
      <p:sp>
        <p:nvSpPr>
          <p:cNvPr id="3" name="Content Placeholder 2"/>
          <p:cNvSpPr>
            <a:spLocks noGrp="1"/>
          </p:cNvSpPr>
          <p:nvPr>
            <p:ph idx="1"/>
          </p:nvPr>
        </p:nvSpPr>
        <p:spPr>
          <a:xfrm>
            <a:off x="1296354" y="1642279"/>
            <a:ext cx="7175986" cy="4764208"/>
          </a:xfrm>
        </p:spPr>
        <p:txBody>
          <a:bodyPr>
            <a:normAutofit/>
          </a:bodyPr>
          <a:lstStyle/>
          <a:p>
            <a:r>
              <a:rPr lang="en-US" sz="2800" b="1" i="1" dirty="0">
                <a:solidFill>
                  <a:srgbClr val="0070C0"/>
                </a:solidFill>
              </a:rPr>
              <a:t>Confidentiality</a:t>
            </a:r>
          </a:p>
          <a:p>
            <a:pPr lvl="1"/>
            <a:r>
              <a:rPr lang="en-US" sz="2600" dirty="0"/>
              <a:t>Secrecy main attribute</a:t>
            </a:r>
          </a:p>
          <a:p>
            <a:r>
              <a:rPr lang="en-US" sz="2800" b="1" i="1" dirty="0">
                <a:solidFill>
                  <a:srgbClr val="0070C0"/>
                </a:solidFill>
              </a:rPr>
              <a:t>Integrity</a:t>
            </a:r>
          </a:p>
          <a:p>
            <a:pPr lvl="1"/>
            <a:r>
              <a:rPr lang="en-US" sz="2600" dirty="0"/>
              <a:t>Authenticity main attribute</a:t>
            </a:r>
          </a:p>
          <a:p>
            <a:r>
              <a:rPr lang="en-US" sz="2800" b="1" i="1" dirty="0">
                <a:solidFill>
                  <a:srgbClr val="0070C0"/>
                </a:solidFill>
              </a:rPr>
              <a:t>Availability</a:t>
            </a:r>
          </a:p>
          <a:p>
            <a:pPr lvl="1"/>
            <a:r>
              <a:rPr lang="en-US" sz="2600" dirty="0"/>
              <a:t>Reliability main attribute</a:t>
            </a:r>
          </a:p>
          <a:p>
            <a:pPr lvl="1"/>
            <a:endParaRPr lang="en-US" sz="2600" dirty="0"/>
          </a:p>
          <a:p>
            <a:r>
              <a:rPr lang="en-US" sz="2800" dirty="0"/>
              <a:t>The </a:t>
            </a:r>
            <a:r>
              <a:rPr lang="en-US" sz="2800" b="1" dirty="0">
                <a:solidFill>
                  <a:srgbClr val="0070C0"/>
                </a:solidFill>
              </a:rPr>
              <a:t>CIA</a:t>
            </a:r>
            <a:r>
              <a:rPr lang="en-US" sz="2800" dirty="0"/>
              <a:t> triad.</a:t>
            </a:r>
          </a:p>
        </p:txBody>
      </p:sp>
      <p:sp>
        <p:nvSpPr>
          <p:cNvPr id="4" name="Slide Number Placeholder 3"/>
          <p:cNvSpPr>
            <a:spLocks noGrp="1"/>
          </p:cNvSpPr>
          <p:nvPr>
            <p:ph type="sldNum" sz="quarter" idx="12"/>
          </p:nvPr>
        </p:nvSpPr>
        <p:spPr/>
        <p:txBody>
          <a:bodyPr/>
          <a:lstStyle/>
          <a:p>
            <a:fld id="{2E4F5DB5-328C-4C72-A782-087F5A7C89E9}" type="slidenum">
              <a:rPr lang="en-US" smtClean="0"/>
              <a:pPr/>
              <a:t>9</a:t>
            </a:fld>
            <a:endParaRPr lang="en-US"/>
          </a:p>
        </p:txBody>
      </p:sp>
    </p:spTree>
    <p:extLst>
      <p:ext uri="{BB962C8B-B14F-4D97-AF65-F5344CB8AC3E}">
        <p14:creationId xmlns:p14="http://schemas.microsoft.com/office/powerpoint/2010/main" val="2152228309"/>
      </p:ext>
    </p:extLst>
  </p:cSld>
  <p:clrMapOvr>
    <a:masterClrMapping/>
  </p:clrMapOvr>
  <p:transition spd="slow">
    <p:wipe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2"/>
          <p:cNvSpPr>
            <a:spLocks noGrp="1"/>
          </p:cNvSpPr>
          <p:nvPr>
            <p:ph type="title"/>
          </p:nvPr>
        </p:nvSpPr>
        <p:spPr>
          <a:xfrm>
            <a:off x="1322108" y="342197"/>
            <a:ext cx="6200481" cy="715962"/>
          </a:xfrm>
        </p:spPr>
        <p:txBody>
          <a:bodyPr>
            <a:normAutofit/>
          </a:bodyPr>
          <a:lstStyle/>
          <a:p>
            <a:pPr eaLnBrk="1" hangingPunct="1"/>
            <a:r>
              <a:rPr lang="en-US" altLang="en-US" dirty="0" smtClean="0"/>
              <a:t>Threats Attack and Attackers</a:t>
            </a:r>
          </a:p>
        </p:txBody>
      </p:sp>
      <p:sp>
        <p:nvSpPr>
          <p:cNvPr id="18435" name="Content Placeholder 1"/>
          <p:cNvSpPr>
            <a:spLocks noGrp="1"/>
          </p:cNvSpPr>
          <p:nvPr>
            <p:ph idx="1"/>
          </p:nvPr>
        </p:nvSpPr>
        <p:spPr>
          <a:xfrm>
            <a:off x="1490903" y="1763381"/>
            <a:ext cx="7924800" cy="3657600"/>
          </a:xfrm>
        </p:spPr>
        <p:txBody>
          <a:bodyPr>
            <a:normAutofit/>
          </a:bodyPr>
          <a:lstStyle/>
          <a:p>
            <a:pPr eaLnBrk="1" hangingPunct="1">
              <a:buFont typeface="Wingdings" panose="05000000000000000000" pitchFamily="2" charset="2"/>
              <a:buChar char="q"/>
            </a:pPr>
            <a:r>
              <a:rPr lang="en-US" altLang="en-US" sz="2000" b="1" i="1" dirty="0">
                <a:solidFill>
                  <a:srgbClr val="0000CC"/>
                </a:solidFill>
              </a:rPr>
              <a:t>Threat</a:t>
            </a:r>
            <a:r>
              <a:rPr lang="en-US" altLang="en-US" sz="2000" dirty="0"/>
              <a:t>: a potential violation of security. The violation need not actually occur for there to be a threat.</a:t>
            </a:r>
          </a:p>
          <a:p>
            <a:pPr eaLnBrk="1" hangingPunct="1">
              <a:buFont typeface="Wingdings" panose="05000000000000000000" pitchFamily="2" charset="2"/>
              <a:buChar char="q"/>
            </a:pPr>
            <a:endParaRPr lang="en-US" altLang="en-US" sz="2000" dirty="0"/>
          </a:p>
          <a:p>
            <a:pPr>
              <a:buFont typeface="Wingdings" panose="05000000000000000000" pitchFamily="2" charset="2"/>
              <a:buChar char="q"/>
            </a:pPr>
            <a:r>
              <a:rPr lang="en-US" altLang="en-US" sz="2000" b="1" i="1" dirty="0">
                <a:solidFill>
                  <a:srgbClr val="0000CC"/>
                </a:solidFill>
              </a:rPr>
              <a:t>Attack</a:t>
            </a:r>
            <a:r>
              <a:rPr lang="en-US" altLang="en-US" sz="2000" i="1" dirty="0">
                <a:solidFill>
                  <a:srgbClr val="0000CC"/>
                </a:solidFill>
              </a:rPr>
              <a:t>: </a:t>
            </a:r>
            <a:r>
              <a:rPr lang="en-US" altLang="en-US" sz="2000" i="1" dirty="0">
                <a:solidFill>
                  <a:schemeClr val="tx1"/>
                </a:solidFill>
              </a:rPr>
              <a:t>an</a:t>
            </a:r>
            <a:r>
              <a:rPr lang="en-US" altLang="en-US" sz="2000" i="1" dirty="0">
                <a:solidFill>
                  <a:srgbClr val="0000CC"/>
                </a:solidFill>
              </a:rPr>
              <a:t> </a:t>
            </a:r>
            <a:r>
              <a:rPr lang="en-US" altLang="en-US" sz="2000" dirty="0"/>
              <a:t>action that causes a threat to occur.</a:t>
            </a:r>
          </a:p>
          <a:p>
            <a:pPr eaLnBrk="1" hangingPunct="1">
              <a:buFont typeface="Wingdings" panose="05000000000000000000" pitchFamily="2" charset="2"/>
              <a:buChar char="q"/>
            </a:pPr>
            <a:endParaRPr lang="en-US" altLang="en-US" sz="2000" dirty="0"/>
          </a:p>
          <a:p>
            <a:pPr eaLnBrk="1" hangingPunct="1">
              <a:buFont typeface="Wingdings" panose="05000000000000000000" pitchFamily="2" charset="2"/>
              <a:buChar char="q"/>
            </a:pPr>
            <a:r>
              <a:rPr lang="en-US" altLang="en-US" sz="2000" b="1" i="1" dirty="0">
                <a:solidFill>
                  <a:srgbClr val="0000CC"/>
                </a:solidFill>
              </a:rPr>
              <a:t>Attackers</a:t>
            </a:r>
            <a:r>
              <a:rPr lang="en-US" altLang="en-US" sz="2000" b="1" i="1" dirty="0"/>
              <a:t>: </a:t>
            </a:r>
            <a:r>
              <a:rPr lang="en-US" altLang="en-US" sz="2000" dirty="0"/>
              <a:t>entities effectuating an attack.</a:t>
            </a:r>
          </a:p>
          <a:p>
            <a:pPr eaLnBrk="1" hangingPunct="1">
              <a:buFont typeface="Wingdings" panose="05000000000000000000" pitchFamily="2" charset="2"/>
              <a:buChar char="q"/>
            </a:pPr>
            <a:endParaRPr lang="en-US" altLang="en-US" sz="2000" dirty="0"/>
          </a:p>
          <a:p>
            <a:pPr eaLnBrk="1" hangingPunct="1">
              <a:buFont typeface="Wingdings" panose="05000000000000000000" pitchFamily="2" charset="2"/>
              <a:buChar char="q"/>
            </a:pPr>
            <a:r>
              <a:rPr lang="en-US" altLang="en-US" sz="2000" dirty="0"/>
              <a:t>The three security services </a:t>
            </a:r>
            <a:r>
              <a:rPr lang="en-US" altLang="en-US" sz="2000" i="1" dirty="0"/>
              <a:t>confidentiality</a:t>
            </a:r>
            <a:r>
              <a:rPr lang="en-US" altLang="en-US" sz="2000" dirty="0"/>
              <a:t>, </a:t>
            </a:r>
            <a:r>
              <a:rPr lang="en-US" altLang="en-US" sz="2000" i="1" dirty="0"/>
              <a:t>integrity</a:t>
            </a:r>
            <a:r>
              <a:rPr lang="en-US" altLang="en-US" sz="2000" dirty="0"/>
              <a:t>, and </a:t>
            </a:r>
            <a:r>
              <a:rPr lang="en-US" altLang="en-US" sz="2000" i="1" dirty="0"/>
              <a:t>availability</a:t>
            </a:r>
            <a:r>
              <a:rPr lang="en-US" altLang="en-US" sz="2000" dirty="0"/>
              <a:t> counter threats to the security of a system.</a:t>
            </a:r>
          </a:p>
        </p:txBody>
      </p:sp>
      <p:sp>
        <p:nvSpPr>
          <p:cNvPr id="21507" name="Slide Number Placeholder 3"/>
          <p:cNvSpPr>
            <a:spLocks noGrp="1"/>
          </p:cNvSpPr>
          <p:nvPr>
            <p:ph type="sldNum" sz="quarter" idx="12"/>
          </p:nvPr>
        </p:nvSpPr>
        <p:spPr bwMode="auto">
          <a:ln>
            <a:miter lim="800000"/>
            <a:headEnd/>
            <a:tailEnd/>
          </a:ln>
        </p:spPr>
        <p:txBody>
          <a:bodyPr vert="horz" lIns="91440" tIns="45720" rIns="91440" bIns="45720" rtlCol="0"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7A898D1-5A4B-4095-9E4C-6596013F817A}" type="slidenum">
              <a:rPr lang="en-US" altLang="en-US">
                <a:solidFill>
                  <a:prstClr val="white"/>
                </a:solidFill>
              </a:rPr>
              <a:pPr eaLnBrk="1" hangingPunct="1"/>
              <a:t>10</a:t>
            </a:fld>
            <a:endParaRPr lang="en-US" altLang="en-US" dirty="0">
              <a:solidFill>
                <a:prstClr val="white"/>
              </a:solidFill>
            </a:endParaRPr>
          </a:p>
        </p:txBody>
      </p:sp>
    </p:spTree>
    <p:extLst>
      <p:ext uri="{BB962C8B-B14F-4D97-AF65-F5344CB8AC3E}">
        <p14:creationId xmlns:p14="http://schemas.microsoft.com/office/powerpoint/2010/main" val="3457017470"/>
      </p:ext>
    </p:extLst>
  </p:cSld>
  <p:clrMapOvr>
    <a:masterClrMapping/>
  </p:clrMapOvr>
  <p:transition spd="slow">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Threats </a:t>
            </a:r>
          </a:p>
        </p:txBody>
      </p:sp>
      <p:sp>
        <p:nvSpPr>
          <p:cNvPr id="3" name="Content Placeholder 2"/>
          <p:cNvSpPr>
            <a:spLocks noGrp="1"/>
          </p:cNvSpPr>
          <p:nvPr>
            <p:ph idx="1"/>
          </p:nvPr>
        </p:nvSpPr>
        <p:spPr>
          <a:xfrm>
            <a:off x="1308930" y="2170016"/>
            <a:ext cx="8596668" cy="3880773"/>
          </a:xfrm>
        </p:spPr>
        <p:txBody>
          <a:bodyPr/>
          <a:lstStyle/>
          <a:p>
            <a:r>
              <a:rPr lang="en-US" dirty="0" smtClean="0"/>
              <a:t>Errors </a:t>
            </a:r>
            <a:r>
              <a:rPr lang="en-US" dirty="0"/>
              <a:t>of </a:t>
            </a:r>
            <a:r>
              <a:rPr lang="en-US" dirty="0" smtClean="0"/>
              <a:t>users</a:t>
            </a:r>
            <a:endParaRPr lang="en-US" dirty="0"/>
          </a:p>
          <a:p>
            <a:r>
              <a:rPr lang="en-US" dirty="0" smtClean="0"/>
              <a:t>Natural/man-made/machine disasters</a:t>
            </a:r>
            <a:endParaRPr lang="en-US" dirty="0"/>
          </a:p>
          <a:p>
            <a:r>
              <a:rPr lang="en-US" dirty="0" smtClean="0"/>
              <a:t>Dishonest insider</a:t>
            </a:r>
            <a:endParaRPr lang="en-US" dirty="0"/>
          </a:p>
          <a:p>
            <a:r>
              <a:rPr lang="en-US" dirty="0" smtClean="0"/>
              <a:t>Disgruntled insider/</a:t>
            </a:r>
            <a:r>
              <a:rPr lang="en-GB" dirty="0"/>
              <a:t> </a:t>
            </a:r>
            <a:r>
              <a:rPr lang="en-GB" dirty="0" smtClean="0"/>
              <a:t>dissatisfied insider</a:t>
            </a:r>
            <a:endParaRPr lang="en-US" dirty="0"/>
          </a:p>
          <a:p>
            <a:r>
              <a:rPr lang="en-US" dirty="0" smtClean="0"/>
              <a:t>Outsiders </a:t>
            </a:r>
            <a:r>
              <a:rPr lang="en-US" dirty="0"/>
              <a:t/>
            </a:r>
            <a:br>
              <a:rPr lang="en-US" dirty="0"/>
            </a:br>
            <a:endParaRPr lang="en-US" dirty="0"/>
          </a:p>
        </p:txBody>
      </p:sp>
    </p:spTree>
    <p:extLst>
      <p:ext uri="{BB962C8B-B14F-4D97-AF65-F5344CB8AC3E}">
        <p14:creationId xmlns:p14="http://schemas.microsoft.com/office/powerpoint/2010/main" val="2065019181"/>
      </p:ext>
    </p:extLst>
  </p:cSld>
  <p:clrMapOvr>
    <a:masterClrMapping/>
  </p:clrMapOvr>
  <p:transition spd="slow">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Categories of Threats</a:t>
            </a:r>
            <a:endParaRPr lang="en-US" dirty="0"/>
          </a:p>
        </p:txBody>
      </p:sp>
      <p:sp>
        <p:nvSpPr>
          <p:cNvPr id="3" name="Content Placeholder 2"/>
          <p:cNvSpPr>
            <a:spLocks noGrp="1"/>
          </p:cNvSpPr>
          <p:nvPr>
            <p:ph idx="1"/>
          </p:nvPr>
        </p:nvSpPr>
        <p:spPr>
          <a:xfrm>
            <a:off x="677334" y="1772239"/>
            <a:ext cx="7633185" cy="3240210"/>
          </a:xfrm>
        </p:spPr>
        <p:txBody>
          <a:bodyPr>
            <a:normAutofit lnSpcReduction="10000"/>
          </a:bodyPr>
          <a:lstStyle/>
          <a:p>
            <a:pPr marL="274320" indent="-274320">
              <a:buClr>
                <a:schemeClr val="accent3"/>
              </a:buClr>
              <a:buFont typeface="Wingdings" pitchFamily="2" charset="2"/>
              <a:buChar char="q"/>
              <a:defRPr/>
            </a:pPr>
            <a:r>
              <a:rPr lang="en-US" sz="2400" dirty="0"/>
              <a:t>Threats  can be divided into four broad classes: </a:t>
            </a:r>
          </a:p>
          <a:p>
            <a:pPr marL="850392" lvl="1" indent="-457200">
              <a:buFont typeface="Arial" panose="020B0604020202020204" pitchFamily="34" charset="0"/>
              <a:buChar char="•"/>
              <a:defRPr/>
            </a:pPr>
            <a:r>
              <a:rPr lang="en-US" sz="2200" i="1" dirty="0">
                <a:solidFill>
                  <a:srgbClr val="0070C0"/>
                </a:solidFill>
              </a:rPr>
              <a:t>Disclosure</a:t>
            </a:r>
            <a:r>
              <a:rPr lang="en-US" sz="2200" i="1" dirty="0"/>
              <a:t> -</a:t>
            </a:r>
            <a:r>
              <a:rPr lang="en-US" sz="2200" dirty="0"/>
              <a:t> unauthorized access to information; </a:t>
            </a:r>
          </a:p>
          <a:p>
            <a:pPr marL="850392" lvl="1" indent="-457200">
              <a:buFont typeface="Arial" panose="020B0604020202020204" pitchFamily="34" charset="0"/>
              <a:buChar char="•"/>
              <a:defRPr/>
            </a:pPr>
            <a:r>
              <a:rPr lang="en-US" sz="2200" i="1" dirty="0" smtClean="0">
                <a:solidFill>
                  <a:srgbClr val="0070C0"/>
                </a:solidFill>
              </a:rPr>
              <a:t>Deception (</a:t>
            </a:r>
            <a:r>
              <a:rPr lang="en-GB" sz="2400" dirty="0"/>
              <a:t>action of deceiving</a:t>
            </a:r>
            <a:r>
              <a:rPr lang="en-US" sz="2200" i="1" dirty="0" smtClean="0">
                <a:solidFill>
                  <a:srgbClr val="0070C0"/>
                </a:solidFill>
              </a:rPr>
              <a:t>)</a:t>
            </a:r>
            <a:r>
              <a:rPr lang="en-US" sz="2200" i="1" dirty="0" smtClean="0"/>
              <a:t> </a:t>
            </a:r>
            <a:r>
              <a:rPr lang="en-US" sz="2200" i="1" dirty="0"/>
              <a:t>- </a:t>
            </a:r>
            <a:r>
              <a:rPr lang="en-US" sz="2200" dirty="0"/>
              <a:t>acceptance of false data; </a:t>
            </a:r>
          </a:p>
          <a:p>
            <a:pPr marL="850392" lvl="1" indent="-457200">
              <a:buFont typeface="Arial" panose="020B0604020202020204" pitchFamily="34" charset="0"/>
              <a:buChar char="•"/>
              <a:defRPr/>
            </a:pPr>
            <a:r>
              <a:rPr lang="en-US" sz="2200" i="1" dirty="0" smtClean="0">
                <a:solidFill>
                  <a:srgbClr val="0070C0"/>
                </a:solidFill>
              </a:rPr>
              <a:t>Disruption(</a:t>
            </a:r>
            <a:r>
              <a:rPr lang="en-GB" sz="2400" dirty="0"/>
              <a:t>disturbance </a:t>
            </a:r>
            <a:r>
              <a:rPr lang="en-US" sz="2200" i="1" dirty="0" smtClean="0">
                <a:solidFill>
                  <a:srgbClr val="0070C0"/>
                </a:solidFill>
              </a:rPr>
              <a:t>)</a:t>
            </a:r>
            <a:r>
              <a:rPr lang="en-US" sz="2200" i="1" dirty="0" smtClean="0"/>
              <a:t> </a:t>
            </a:r>
            <a:r>
              <a:rPr lang="en-US" sz="2200" i="1" dirty="0"/>
              <a:t>- </a:t>
            </a:r>
            <a:r>
              <a:rPr lang="en-US" sz="2200" dirty="0"/>
              <a:t>interruption or prevention of correct operation;  </a:t>
            </a:r>
          </a:p>
          <a:p>
            <a:pPr marL="850392" lvl="1" indent="-457200">
              <a:buFont typeface="Arial" panose="020B0604020202020204" pitchFamily="34" charset="0"/>
              <a:buChar char="•"/>
              <a:defRPr/>
            </a:pPr>
            <a:r>
              <a:rPr lang="en-US" sz="2200" i="1" dirty="0" smtClean="0">
                <a:solidFill>
                  <a:srgbClr val="0070C0"/>
                </a:solidFill>
              </a:rPr>
              <a:t>Usurpation(</a:t>
            </a:r>
            <a:r>
              <a:rPr lang="en-GB" sz="2400" dirty="0"/>
              <a:t> </a:t>
            </a:r>
            <a:r>
              <a:rPr lang="en-GB" sz="2400" dirty="0" err="1"/>
              <a:t>illegall</a:t>
            </a:r>
            <a:r>
              <a:rPr lang="en-US" sz="2200" i="1" dirty="0" smtClean="0">
                <a:solidFill>
                  <a:srgbClr val="0070C0"/>
                </a:solidFill>
              </a:rPr>
              <a:t>)</a:t>
            </a:r>
            <a:r>
              <a:rPr lang="en-US" sz="2200" i="1" dirty="0" smtClean="0"/>
              <a:t> -</a:t>
            </a:r>
            <a:r>
              <a:rPr lang="en-US" sz="2200" dirty="0" smtClean="0"/>
              <a:t> </a:t>
            </a:r>
            <a:r>
              <a:rPr lang="en-US" sz="2200" dirty="0"/>
              <a:t>unauthorized control of some part of a system.</a:t>
            </a:r>
          </a:p>
          <a:p>
            <a:endParaRPr lang="en-US" dirty="0"/>
          </a:p>
        </p:txBody>
      </p:sp>
      <p:sp>
        <p:nvSpPr>
          <p:cNvPr id="4" name="Slide Number Placeholder 3"/>
          <p:cNvSpPr>
            <a:spLocks noGrp="1"/>
          </p:cNvSpPr>
          <p:nvPr>
            <p:ph type="sldNum" sz="quarter" idx="12"/>
          </p:nvPr>
        </p:nvSpPr>
        <p:spPr/>
        <p:txBody>
          <a:bodyPr/>
          <a:lstStyle/>
          <a:p>
            <a:fld id="{2E4F5DB5-328C-4C72-A782-087F5A7C89E9}" type="slidenum">
              <a:rPr lang="en-US" smtClean="0"/>
              <a:pPr/>
              <a:t>12</a:t>
            </a:fld>
            <a:endParaRPr lang="en-US"/>
          </a:p>
        </p:txBody>
      </p:sp>
      <p:sp>
        <p:nvSpPr>
          <p:cNvPr id="5" name="Content Placeholder 1"/>
          <p:cNvSpPr txBox="1">
            <a:spLocks/>
          </p:cNvSpPr>
          <p:nvPr/>
        </p:nvSpPr>
        <p:spPr>
          <a:xfrm>
            <a:off x="1676400" y="1295400"/>
            <a:ext cx="8839200" cy="51816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850392" lvl="1" indent="-457200">
              <a:buClr>
                <a:srgbClr val="A53010"/>
              </a:buClr>
              <a:buNone/>
              <a:defRPr/>
            </a:pPr>
            <a:endParaRPr lang="en-US" sz="2200" dirty="0">
              <a:solidFill>
                <a:prstClr val="black">
                  <a:lumMod val="75000"/>
                  <a:lumOff val="25000"/>
                </a:prstClr>
              </a:solidFill>
            </a:endParaRPr>
          </a:p>
        </p:txBody>
      </p:sp>
    </p:spTree>
    <p:extLst>
      <p:ext uri="{BB962C8B-B14F-4D97-AF65-F5344CB8AC3E}">
        <p14:creationId xmlns:p14="http://schemas.microsoft.com/office/powerpoint/2010/main" val="4035980685"/>
      </p:ext>
    </p:extLst>
  </p:cSld>
  <p:clrMapOvr>
    <a:masterClrMapping/>
  </p:clrMapOvr>
  <p:transition spd="slow">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Attacks</a:t>
            </a:r>
            <a:endParaRPr lang="en-US" dirty="0"/>
          </a:p>
        </p:txBody>
      </p:sp>
      <p:sp>
        <p:nvSpPr>
          <p:cNvPr id="3" name="Content Placeholder 2"/>
          <p:cNvSpPr>
            <a:spLocks noGrp="1"/>
          </p:cNvSpPr>
          <p:nvPr>
            <p:ph idx="1"/>
          </p:nvPr>
        </p:nvSpPr>
        <p:spPr>
          <a:xfrm>
            <a:off x="154236" y="1117822"/>
            <a:ext cx="11810082" cy="6021107"/>
          </a:xfrm>
        </p:spPr>
        <p:txBody>
          <a:bodyPr>
            <a:noAutofit/>
          </a:bodyPr>
          <a:lstStyle/>
          <a:p>
            <a:r>
              <a:rPr lang="en-US" sz="2400" dirty="0"/>
              <a:t>Two basic types of attackers: humans and software</a:t>
            </a:r>
          </a:p>
          <a:p>
            <a:r>
              <a:rPr lang="en-US" sz="2400" b="1" i="1" dirty="0">
                <a:solidFill>
                  <a:srgbClr val="0070C0"/>
                </a:solidFill>
              </a:rPr>
              <a:t>Human actor</a:t>
            </a:r>
          </a:p>
          <a:p>
            <a:pPr lvl="1"/>
            <a:r>
              <a:rPr lang="en-US" sz="2000" dirty="0"/>
              <a:t>Script </a:t>
            </a:r>
            <a:r>
              <a:rPr lang="en-US" sz="2000" dirty="0" smtClean="0"/>
              <a:t>kiddie(</a:t>
            </a:r>
            <a:r>
              <a:rPr lang="en-US" sz="2000" b="1" dirty="0"/>
              <a:t>a relatively unskilled individual who uses scripts or programs, such as a web shell, developed by others to attack computer systems and networks and deface websites, according to the programming and hacking cultures</a:t>
            </a:r>
            <a:r>
              <a:rPr lang="en-US" sz="2000" dirty="0" smtClean="0"/>
              <a:t>)</a:t>
            </a:r>
            <a:endParaRPr lang="en-US" sz="2000" dirty="0"/>
          </a:p>
          <a:p>
            <a:pPr lvl="1"/>
            <a:r>
              <a:rPr lang="en-US" sz="2000" dirty="0" smtClean="0"/>
              <a:t>Cyber-criminal</a:t>
            </a:r>
          </a:p>
          <a:p>
            <a:pPr lvl="1"/>
            <a:r>
              <a:rPr lang="en-US" sz="2000" dirty="0" err="1" smtClean="0"/>
              <a:t>Hacktivists</a:t>
            </a:r>
            <a:endParaRPr lang="en-US" sz="2000" dirty="0" smtClean="0"/>
          </a:p>
          <a:p>
            <a:pPr lvl="1"/>
            <a:r>
              <a:rPr lang="en-US" sz="2000" dirty="0" smtClean="0"/>
              <a:t>National states</a:t>
            </a:r>
          </a:p>
          <a:p>
            <a:pPr lvl="1"/>
            <a:r>
              <a:rPr lang="en-US" sz="2000" dirty="0" smtClean="0"/>
              <a:t>Criminal actors </a:t>
            </a:r>
            <a:endParaRPr lang="en-US" sz="2000" dirty="0"/>
          </a:p>
          <a:p>
            <a:pPr lvl="1"/>
            <a:r>
              <a:rPr lang="en-US" sz="2000" dirty="0"/>
              <a:t>APT</a:t>
            </a:r>
          </a:p>
          <a:p>
            <a:pPr lvl="1"/>
            <a:r>
              <a:rPr lang="en-US" sz="2000" dirty="0"/>
              <a:t>etc</a:t>
            </a:r>
          </a:p>
          <a:p>
            <a:r>
              <a:rPr lang="en-US" sz="2400" b="1" i="1" dirty="0">
                <a:solidFill>
                  <a:srgbClr val="0070C0"/>
                </a:solidFill>
              </a:rPr>
              <a:t>Malware</a:t>
            </a:r>
          </a:p>
          <a:p>
            <a:pPr lvl="1"/>
            <a:r>
              <a:rPr lang="en-US" sz="2000" dirty="0"/>
              <a:t>Locker </a:t>
            </a:r>
            <a:r>
              <a:rPr lang="en-US" sz="2000" dirty="0" err="1" smtClean="0"/>
              <a:t>ransomware</a:t>
            </a:r>
            <a:r>
              <a:rPr lang="en-US" sz="2000" dirty="0" smtClean="0"/>
              <a:t> (</a:t>
            </a:r>
            <a:r>
              <a:rPr lang="en-GB" sz="2000" b="1" dirty="0"/>
              <a:t> file-encrypting </a:t>
            </a:r>
            <a:r>
              <a:rPr lang="en-GB" sz="2000" b="1" dirty="0" err="1"/>
              <a:t>ransomware</a:t>
            </a:r>
            <a:r>
              <a:rPr lang="en-GB" sz="2000" b="1" dirty="0"/>
              <a:t> program</a:t>
            </a:r>
            <a:r>
              <a:rPr lang="en-US" sz="2000" dirty="0" smtClean="0"/>
              <a:t>)</a:t>
            </a:r>
            <a:endParaRPr lang="en-US" sz="2000" dirty="0"/>
          </a:p>
          <a:p>
            <a:pPr lvl="1"/>
            <a:r>
              <a:rPr lang="en-US" sz="2000" dirty="0"/>
              <a:t>Crypto </a:t>
            </a:r>
            <a:r>
              <a:rPr lang="en-US" sz="2000" dirty="0" err="1" smtClean="0"/>
              <a:t>ransomware</a:t>
            </a:r>
            <a:r>
              <a:rPr lang="en-US" sz="2000" dirty="0" smtClean="0"/>
              <a:t> (encrypt your files and doesn’t allow you to access them until a pay a fee)</a:t>
            </a:r>
            <a:endParaRPr lang="en-US" sz="2000" dirty="0"/>
          </a:p>
          <a:p>
            <a:pPr lvl="1"/>
            <a:r>
              <a:rPr lang="en-US" sz="2000" dirty="0"/>
              <a:t>Remote bots</a:t>
            </a:r>
          </a:p>
          <a:p>
            <a:pPr lvl="1"/>
            <a:r>
              <a:rPr lang="en-US" sz="2000" dirty="0"/>
              <a:t>etc</a:t>
            </a:r>
          </a:p>
          <a:p>
            <a:r>
              <a:rPr lang="en-US" sz="2400" dirty="0" smtClean="0"/>
              <a:t> </a:t>
            </a:r>
            <a:endParaRPr lang="en-US" sz="2400" dirty="0"/>
          </a:p>
        </p:txBody>
      </p:sp>
      <p:sp>
        <p:nvSpPr>
          <p:cNvPr id="4" name="Slide Number Placeholder 3"/>
          <p:cNvSpPr>
            <a:spLocks noGrp="1"/>
          </p:cNvSpPr>
          <p:nvPr>
            <p:ph type="sldNum" sz="quarter" idx="12"/>
          </p:nvPr>
        </p:nvSpPr>
        <p:spPr/>
        <p:txBody>
          <a:bodyPr/>
          <a:lstStyle/>
          <a:p>
            <a:fld id="{2E4F5DB5-328C-4C72-A782-087F5A7C89E9}" type="slidenum">
              <a:rPr lang="en-US" smtClean="0"/>
              <a:pPr/>
              <a:t>13</a:t>
            </a:fld>
            <a:endParaRPr lang="en-US"/>
          </a:p>
        </p:txBody>
      </p:sp>
    </p:spTree>
    <p:extLst>
      <p:ext uri="{BB962C8B-B14F-4D97-AF65-F5344CB8AC3E}">
        <p14:creationId xmlns:p14="http://schemas.microsoft.com/office/powerpoint/2010/main" val="1523920520"/>
      </p:ext>
    </p:extLst>
  </p:cSld>
  <p:clrMapOvr>
    <a:masterClrMapping/>
  </p:clrMapOvr>
  <p:transition spd="slow">
    <p:wipe dir="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1928567" y="371573"/>
            <a:ext cx="4876800" cy="762000"/>
          </a:xfrm>
        </p:spPr>
        <p:txBody>
          <a:bodyPr/>
          <a:lstStyle/>
          <a:p>
            <a:pPr eaLnBrk="1" hangingPunct="1"/>
            <a:r>
              <a:rPr lang="en-US" altLang="en-US" dirty="0" smtClean="0"/>
              <a:t>Attacks</a:t>
            </a:r>
          </a:p>
        </p:txBody>
      </p:sp>
      <p:sp>
        <p:nvSpPr>
          <p:cNvPr id="3" name="Content Placeholder 2"/>
          <p:cNvSpPr>
            <a:spLocks noGrp="1"/>
          </p:cNvSpPr>
          <p:nvPr>
            <p:ph idx="1"/>
          </p:nvPr>
        </p:nvSpPr>
        <p:spPr>
          <a:xfrm>
            <a:off x="143219" y="958467"/>
            <a:ext cx="11490592" cy="5265458"/>
          </a:xfrm>
        </p:spPr>
        <p:txBody>
          <a:bodyPr>
            <a:normAutofit/>
          </a:bodyPr>
          <a:lstStyle/>
          <a:p>
            <a:pPr marL="274320" indent="-274320">
              <a:buClr>
                <a:schemeClr val="accent3"/>
              </a:buClr>
              <a:buFont typeface="Wingdings" pitchFamily="2" charset="2"/>
              <a:buChar char="q"/>
              <a:defRPr/>
            </a:pPr>
            <a:r>
              <a:rPr lang="en-US" sz="2200" dirty="0"/>
              <a:t>Three broad classes of attacks:</a:t>
            </a:r>
          </a:p>
          <a:p>
            <a:pPr marL="640080" lvl="1" indent="-246888">
              <a:buFont typeface="Arial" pitchFamily="34" charset="0"/>
              <a:buChar char="•"/>
              <a:defRPr/>
            </a:pPr>
            <a:r>
              <a:rPr lang="en-US" sz="2200" b="1" i="1" dirty="0"/>
              <a:t>Reconnaissance </a:t>
            </a:r>
            <a:r>
              <a:rPr lang="en-US" sz="2200" b="1" i="1" dirty="0" smtClean="0"/>
              <a:t>attacks</a:t>
            </a:r>
            <a:r>
              <a:rPr lang="en-US" sz="2200" i="1" dirty="0" smtClean="0"/>
              <a:t>-gathering information and learning about vulnerabilities that exist in the system.</a:t>
            </a:r>
            <a:endParaRPr lang="en-US" sz="2200" i="1" dirty="0"/>
          </a:p>
          <a:p>
            <a:pPr marL="640080" lvl="1" indent="-246888">
              <a:buFont typeface="Arial" pitchFamily="34" charset="0"/>
              <a:buChar char="•"/>
              <a:defRPr/>
            </a:pPr>
            <a:r>
              <a:rPr lang="en-US" sz="2200" b="1" i="1" dirty="0"/>
              <a:t>Access </a:t>
            </a:r>
            <a:r>
              <a:rPr lang="en-US" sz="2200" b="1" i="1" dirty="0" smtClean="0"/>
              <a:t>attacks- </a:t>
            </a:r>
            <a:r>
              <a:rPr lang="en-US" sz="2200" i="1" dirty="0" smtClean="0"/>
              <a:t>exploit the known vulnerabilities to gain access to the </a:t>
            </a:r>
            <a:r>
              <a:rPr lang="en-US" sz="2200" i="1" dirty="0" err="1" smtClean="0"/>
              <a:t>legitmate’s</a:t>
            </a:r>
            <a:r>
              <a:rPr lang="en-US" sz="2200" i="1" dirty="0" smtClean="0"/>
              <a:t> credentials.</a:t>
            </a:r>
            <a:endParaRPr lang="en-US" sz="2200" i="1" dirty="0"/>
          </a:p>
          <a:p>
            <a:pPr marL="640080" lvl="1" indent="-246888">
              <a:buFont typeface="Arial" pitchFamily="34" charset="0"/>
              <a:buChar char="•"/>
              <a:defRPr/>
            </a:pPr>
            <a:r>
              <a:rPr lang="en-US" sz="2200" b="1" i="1" dirty="0"/>
              <a:t>Denial of service (DoS) attacks</a:t>
            </a:r>
          </a:p>
          <a:p>
            <a:pPr marL="274320" indent="-274320">
              <a:buClr>
                <a:schemeClr val="accent3"/>
              </a:buClr>
              <a:buFont typeface="Wingdings" pitchFamily="2" charset="2"/>
              <a:buChar char="q"/>
              <a:defRPr/>
            </a:pPr>
            <a:endParaRPr lang="en-US" sz="2200" i="1" dirty="0"/>
          </a:p>
          <a:p>
            <a:pPr marL="274320" indent="-274320">
              <a:buClr>
                <a:schemeClr val="accent3"/>
              </a:buClr>
              <a:buNone/>
              <a:defRPr/>
            </a:pPr>
            <a:r>
              <a:rPr lang="en-US" sz="2200" i="1" dirty="0"/>
              <a:t> </a:t>
            </a:r>
            <a:r>
              <a:rPr lang="en-US" sz="2200" i="1" dirty="0">
                <a:solidFill>
                  <a:srgbClr val="0000CC"/>
                </a:solidFill>
              </a:rPr>
              <a:t>ACCESS ATTACKS</a:t>
            </a:r>
          </a:p>
          <a:p>
            <a:pPr marL="274320" indent="-274320">
              <a:buClr>
                <a:schemeClr val="accent3"/>
              </a:buClr>
              <a:buFont typeface="Wingdings 2"/>
              <a:buChar char=""/>
              <a:defRPr/>
            </a:pPr>
            <a:r>
              <a:rPr lang="en-US" sz="2200" dirty="0"/>
              <a:t>Attempts to compromise a legitimate user’s credential set through improper means.</a:t>
            </a:r>
          </a:p>
          <a:p>
            <a:pPr marL="0" indent="0">
              <a:buClr>
                <a:schemeClr val="accent3"/>
              </a:buClr>
              <a:buNone/>
              <a:defRPr/>
            </a:pPr>
            <a:r>
              <a:rPr lang="en-US" sz="2200" dirty="0">
                <a:sym typeface="Wingdings" panose="05000000000000000000" pitchFamily="2" charset="2"/>
              </a:rPr>
              <a:t> </a:t>
            </a:r>
            <a:r>
              <a:rPr lang="en-US" sz="2200" dirty="0"/>
              <a:t>Example</a:t>
            </a:r>
          </a:p>
          <a:p>
            <a:pPr marL="457200" indent="-457200">
              <a:buClr>
                <a:schemeClr val="accent3"/>
              </a:buClr>
              <a:buNone/>
              <a:defRPr/>
            </a:pPr>
            <a:r>
              <a:rPr lang="en-US" sz="2200" dirty="0"/>
              <a:t>(1) </a:t>
            </a:r>
            <a:r>
              <a:rPr lang="en-US" sz="2200" i="1" dirty="0">
                <a:solidFill>
                  <a:srgbClr val="0000CC"/>
                </a:solidFill>
              </a:rPr>
              <a:t>Password attacks            </a:t>
            </a:r>
            <a:r>
              <a:rPr lang="en-US" sz="2200" dirty="0"/>
              <a:t>(2) </a:t>
            </a:r>
            <a:r>
              <a:rPr lang="en-US" sz="2200" i="1" dirty="0">
                <a:solidFill>
                  <a:srgbClr val="0000CC"/>
                </a:solidFill>
              </a:rPr>
              <a:t>Trust exploitation</a:t>
            </a:r>
          </a:p>
          <a:p>
            <a:pPr marL="457200" indent="-457200">
              <a:buClr>
                <a:schemeClr val="accent3"/>
              </a:buClr>
              <a:buNone/>
              <a:defRPr/>
            </a:pPr>
            <a:r>
              <a:rPr lang="en-US" sz="2200" dirty="0"/>
              <a:t>(3) </a:t>
            </a:r>
            <a:r>
              <a:rPr lang="en-US" sz="2200" i="1" dirty="0">
                <a:solidFill>
                  <a:srgbClr val="0000CC"/>
                </a:solidFill>
              </a:rPr>
              <a:t>Port redirection              </a:t>
            </a:r>
            <a:r>
              <a:rPr lang="en-US" sz="2200" dirty="0"/>
              <a:t>(4) </a:t>
            </a:r>
            <a:r>
              <a:rPr lang="en-US" sz="2200" i="1" dirty="0">
                <a:solidFill>
                  <a:srgbClr val="0000CC"/>
                </a:solidFill>
              </a:rPr>
              <a:t>Man-in-the-middle</a:t>
            </a:r>
            <a:r>
              <a:rPr lang="en-US" sz="2200" dirty="0"/>
              <a:t> (MITM) </a:t>
            </a:r>
            <a:r>
              <a:rPr lang="en-US" sz="2200" i="1" dirty="0">
                <a:solidFill>
                  <a:srgbClr val="0000CC"/>
                </a:solidFill>
              </a:rPr>
              <a:t>attacks</a:t>
            </a:r>
            <a:r>
              <a:rPr lang="en-US" sz="2200" dirty="0"/>
              <a:t>.</a:t>
            </a:r>
          </a:p>
        </p:txBody>
      </p:sp>
      <p:sp>
        <p:nvSpPr>
          <p:cNvPr id="4" name="Slide Number Placeholder 3"/>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F9E3F22-E503-460F-A534-AE084B627426}" type="slidenum">
              <a:rPr lang="en-US" altLang="en-US">
                <a:solidFill>
                  <a:prstClr val="white"/>
                </a:solidFill>
              </a:rPr>
              <a:pPr eaLnBrk="1" hangingPunct="1"/>
              <a:t>14</a:t>
            </a:fld>
            <a:endParaRPr lang="en-US" altLang="en-US" dirty="0">
              <a:solidFill>
                <a:prstClr val="white"/>
              </a:solidFill>
            </a:endParaRPr>
          </a:p>
        </p:txBody>
      </p:sp>
    </p:spTree>
    <p:extLst>
      <p:ext uri="{BB962C8B-B14F-4D97-AF65-F5344CB8AC3E}">
        <p14:creationId xmlns:p14="http://schemas.microsoft.com/office/powerpoint/2010/main" val="1212866633"/>
      </p:ext>
    </p:extLst>
  </p:cSld>
  <p:clrMapOvr>
    <a:masterClrMapping/>
  </p:clrMapOvr>
  <p:transition spd="slow">
    <p:wipe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3048000" y="441350"/>
            <a:ext cx="7162800" cy="685800"/>
          </a:xfrm>
        </p:spPr>
        <p:txBody>
          <a:bodyPr>
            <a:normAutofit/>
          </a:bodyPr>
          <a:lstStyle/>
          <a:p>
            <a:pPr eaLnBrk="1" hangingPunct="1"/>
            <a:r>
              <a:rPr lang="en-US" altLang="en-US" dirty="0" smtClean="0"/>
              <a:t>Attacks                            cont./</a:t>
            </a:r>
          </a:p>
        </p:txBody>
      </p:sp>
      <p:sp>
        <p:nvSpPr>
          <p:cNvPr id="3" name="Content Placeholder 2"/>
          <p:cNvSpPr>
            <a:spLocks noGrp="1"/>
          </p:cNvSpPr>
          <p:nvPr>
            <p:ph idx="1"/>
          </p:nvPr>
        </p:nvSpPr>
        <p:spPr>
          <a:xfrm>
            <a:off x="282766" y="1499524"/>
            <a:ext cx="11909234" cy="4724400"/>
          </a:xfrm>
        </p:spPr>
        <p:txBody>
          <a:bodyPr>
            <a:normAutofit fontScale="85000" lnSpcReduction="20000"/>
          </a:bodyPr>
          <a:lstStyle/>
          <a:p>
            <a:pPr marL="274320" lvl="1" indent="-274320">
              <a:buClr>
                <a:schemeClr val="accent3"/>
              </a:buClr>
              <a:buSzPct val="95000"/>
              <a:buNone/>
              <a:defRPr/>
            </a:pPr>
            <a:r>
              <a:rPr lang="en-US" sz="2200" i="1" cap="all" dirty="0">
                <a:solidFill>
                  <a:srgbClr val="0000CC"/>
                </a:solidFill>
              </a:rPr>
              <a:t>Reconnaissance attacks</a:t>
            </a:r>
          </a:p>
          <a:p>
            <a:pPr marL="274320" indent="-274320">
              <a:buClr>
                <a:schemeClr val="accent3"/>
              </a:buClr>
              <a:buFont typeface="Wingdings 2"/>
              <a:buChar char=""/>
              <a:defRPr/>
            </a:pPr>
            <a:r>
              <a:rPr lang="en-US" sz="2200" dirty="0"/>
              <a:t>Attacker surveys a network and collects data for future attacks.</a:t>
            </a:r>
            <a:endParaRPr lang="en-US" sz="2200" dirty="0">
              <a:solidFill>
                <a:srgbClr val="0000CC"/>
              </a:solidFill>
            </a:endParaRPr>
          </a:p>
          <a:p>
            <a:pPr marL="640080" lvl="1" indent="-246888">
              <a:buFont typeface="Wingdings" pitchFamily="2" charset="2"/>
              <a:buChar char="Ø"/>
              <a:defRPr/>
            </a:pPr>
            <a:r>
              <a:rPr lang="en-US" sz="2000" dirty="0"/>
              <a:t>Ports open on a server</a:t>
            </a:r>
          </a:p>
          <a:p>
            <a:pPr marL="640080" lvl="1" indent="-246888">
              <a:buFont typeface="Wingdings" pitchFamily="2" charset="2"/>
              <a:buChar char="Ø"/>
              <a:defRPr/>
            </a:pPr>
            <a:r>
              <a:rPr lang="en-US" sz="2200" dirty="0"/>
              <a:t> Ports open on a firewall</a:t>
            </a:r>
          </a:p>
          <a:p>
            <a:pPr marL="640080" lvl="1" indent="-246888">
              <a:buFont typeface="Wingdings" pitchFamily="2" charset="2"/>
              <a:buChar char="Ø"/>
              <a:defRPr/>
            </a:pPr>
            <a:r>
              <a:rPr lang="en-US" sz="2200" dirty="0"/>
              <a:t>IP addresses on the host network</a:t>
            </a:r>
          </a:p>
          <a:p>
            <a:pPr marL="640080" lvl="1" indent="-246888">
              <a:buFont typeface="Wingdings" pitchFamily="2" charset="2"/>
              <a:buChar char="Ø"/>
              <a:defRPr/>
            </a:pPr>
            <a:r>
              <a:rPr lang="en-US" sz="2200" dirty="0"/>
              <a:t>Hostnames associated with the IP addresses</a:t>
            </a:r>
          </a:p>
          <a:p>
            <a:pPr marL="0" indent="0">
              <a:buClr>
                <a:schemeClr val="accent3"/>
              </a:buClr>
              <a:buNone/>
              <a:defRPr/>
            </a:pPr>
            <a:r>
              <a:rPr lang="en-US" sz="2200" dirty="0">
                <a:sym typeface="Wingdings" panose="05000000000000000000" pitchFamily="2" charset="2"/>
              </a:rPr>
              <a:t> Examples</a:t>
            </a:r>
            <a:endParaRPr lang="en-US" sz="2200" dirty="0"/>
          </a:p>
          <a:p>
            <a:pPr marL="274320" indent="-274320">
              <a:buClr>
                <a:schemeClr val="accent3"/>
              </a:buClr>
              <a:buNone/>
              <a:defRPr/>
            </a:pPr>
            <a:r>
              <a:rPr lang="en-US" sz="2200" dirty="0"/>
              <a:t>(1) </a:t>
            </a:r>
            <a:r>
              <a:rPr lang="en-US" sz="2200" i="1" dirty="0">
                <a:solidFill>
                  <a:srgbClr val="0000CC"/>
                </a:solidFill>
              </a:rPr>
              <a:t>Packet </a:t>
            </a:r>
            <a:r>
              <a:rPr lang="en-US" sz="2200" i="1" dirty="0" smtClean="0">
                <a:solidFill>
                  <a:srgbClr val="0000CC"/>
                </a:solidFill>
              </a:rPr>
              <a:t>sniffing</a:t>
            </a:r>
            <a:r>
              <a:rPr lang="en-US" sz="2200" dirty="0" smtClean="0"/>
              <a:t>(</a:t>
            </a:r>
            <a:r>
              <a:rPr lang="en-US" sz="2400" dirty="0"/>
              <a:t> is the practice of gathering, collecting, and logging some or all</a:t>
            </a:r>
            <a:r>
              <a:rPr lang="en-US" sz="2400" b="1" dirty="0"/>
              <a:t> packets</a:t>
            </a:r>
            <a:r>
              <a:rPr lang="en-US" sz="2400" dirty="0"/>
              <a:t> that pass through a computer network, regardless of how the</a:t>
            </a:r>
            <a:r>
              <a:rPr lang="en-US" sz="2400" b="1" dirty="0"/>
              <a:t> packet</a:t>
            </a:r>
            <a:r>
              <a:rPr lang="en-US" sz="2400" dirty="0"/>
              <a:t> is addressed</a:t>
            </a:r>
            <a:r>
              <a:rPr lang="en-US" sz="2200" dirty="0" smtClean="0"/>
              <a:t>)           </a:t>
            </a:r>
            <a:r>
              <a:rPr lang="en-US" sz="2200" dirty="0"/>
              <a:t>(2) </a:t>
            </a:r>
            <a:r>
              <a:rPr lang="en-US" sz="2200" i="1" dirty="0">
                <a:solidFill>
                  <a:srgbClr val="0000CC"/>
                </a:solidFill>
              </a:rPr>
              <a:t>Ping </a:t>
            </a:r>
            <a:r>
              <a:rPr lang="en-US" sz="2200" i="1" dirty="0" smtClean="0">
                <a:solidFill>
                  <a:srgbClr val="0000CC"/>
                </a:solidFill>
              </a:rPr>
              <a:t>sweeps(</a:t>
            </a:r>
            <a:r>
              <a:rPr lang="en-US" sz="2400" dirty="0"/>
              <a:t>establish a range of </a:t>
            </a:r>
            <a:r>
              <a:rPr lang="en-US" sz="2400" dirty="0">
                <a:hlinkClick r:id="rId2" tooltip="IP addresses"/>
              </a:rPr>
              <a:t>IP addresses</a:t>
            </a:r>
            <a:r>
              <a:rPr lang="en-US" sz="2400" dirty="0"/>
              <a:t> which map to live hosts</a:t>
            </a:r>
            <a:r>
              <a:rPr lang="en-US" sz="2200" i="1" dirty="0" smtClean="0">
                <a:solidFill>
                  <a:srgbClr val="0000CC"/>
                </a:solidFill>
              </a:rPr>
              <a:t>)</a:t>
            </a:r>
            <a:endParaRPr lang="en-US" sz="2200" i="1" dirty="0">
              <a:solidFill>
                <a:srgbClr val="0000CC"/>
              </a:solidFill>
            </a:endParaRPr>
          </a:p>
          <a:p>
            <a:pPr marL="274320" indent="-274320">
              <a:buClr>
                <a:schemeClr val="accent3"/>
              </a:buClr>
              <a:buNone/>
              <a:defRPr/>
            </a:pPr>
            <a:r>
              <a:rPr lang="en-US" sz="2200" dirty="0"/>
              <a:t>(3) </a:t>
            </a:r>
            <a:r>
              <a:rPr lang="en-US" sz="2200" i="1" dirty="0">
                <a:solidFill>
                  <a:srgbClr val="0000CC"/>
                </a:solidFill>
              </a:rPr>
              <a:t>Port scans</a:t>
            </a:r>
            <a:r>
              <a:rPr lang="en-US" sz="2200" dirty="0"/>
              <a:t>                   (4) </a:t>
            </a:r>
            <a:r>
              <a:rPr lang="en-US" sz="2200" i="1">
                <a:solidFill>
                  <a:srgbClr val="0000CC"/>
                </a:solidFill>
              </a:rPr>
              <a:t>Information </a:t>
            </a:r>
            <a:r>
              <a:rPr lang="en-US" sz="2200" i="1" smtClean="0">
                <a:solidFill>
                  <a:srgbClr val="0000CC"/>
                </a:solidFill>
              </a:rPr>
              <a:t>queries(</a:t>
            </a:r>
            <a:r>
              <a:rPr lang="en-US" sz="2400" b="1"/>
              <a:t> specific request for information from a database</a:t>
            </a:r>
            <a:r>
              <a:rPr lang="en-US" sz="2200" i="1" smtClean="0">
                <a:solidFill>
                  <a:srgbClr val="0000CC"/>
                </a:solidFill>
              </a:rPr>
              <a:t>)</a:t>
            </a:r>
            <a:endParaRPr lang="en-US" sz="2200" i="1" dirty="0">
              <a:solidFill>
                <a:srgbClr val="0000CC"/>
              </a:solidFill>
            </a:endParaRPr>
          </a:p>
          <a:p>
            <a:pPr marL="274320" indent="-274320">
              <a:buClr>
                <a:schemeClr val="accent3"/>
              </a:buClr>
              <a:buNone/>
              <a:defRPr/>
            </a:pPr>
            <a:endParaRPr lang="en-US" sz="2200" i="1" dirty="0">
              <a:solidFill>
                <a:srgbClr val="0000CC"/>
              </a:solidFill>
            </a:endParaRPr>
          </a:p>
          <a:p>
            <a:pPr marL="274320" indent="-274320">
              <a:buClr>
                <a:schemeClr val="accent3"/>
              </a:buClr>
              <a:buNone/>
              <a:defRPr/>
            </a:pPr>
            <a:r>
              <a:rPr lang="en-US" sz="2200" dirty="0"/>
              <a:t>        Utilities/:  </a:t>
            </a:r>
            <a:r>
              <a:rPr lang="en-US" sz="2200" i="1" dirty="0">
                <a:solidFill>
                  <a:srgbClr val="0000CC"/>
                </a:solidFill>
              </a:rPr>
              <a:t>Wireshark, Ettercap, Nmap, Armitage etc.</a:t>
            </a:r>
          </a:p>
        </p:txBody>
      </p:sp>
      <p:sp>
        <p:nvSpPr>
          <p:cNvPr id="4" name="Slide Number Placeholder 3"/>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361BB1D-823B-4594-981B-E048242D7F2E}" type="slidenum">
              <a:rPr lang="en-US" altLang="en-US">
                <a:solidFill>
                  <a:prstClr val="white"/>
                </a:solidFill>
              </a:rPr>
              <a:pPr eaLnBrk="1" hangingPunct="1"/>
              <a:t>15</a:t>
            </a:fld>
            <a:endParaRPr lang="en-US" altLang="en-US" dirty="0">
              <a:solidFill>
                <a:prstClr val="white"/>
              </a:solidFill>
            </a:endParaRPr>
          </a:p>
        </p:txBody>
      </p:sp>
    </p:spTree>
    <p:extLst>
      <p:ext uri="{BB962C8B-B14F-4D97-AF65-F5344CB8AC3E}">
        <p14:creationId xmlns:p14="http://schemas.microsoft.com/office/powerpoint/2010/main" val="294061073"/>
      </p:ext>
    </p:extLst>
  </p:cSld>
  <p:clrMapOvr>
    <a:masterClrMapping/>
  </p:clrMapOvr>
  <p:transition spd="slow">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2819400" y="444883"/>
            <a:ext cx="7696200" cy="685800"/>
          </a:xfrm>
        </p:spPr>
        <p:txBody>
          <a:bodyPr/>
          <a:lstStyle/>
          <a:p>
            <a:pPr eaLnBrk="1" hangingPunct="1"/>
            <a:r>
              <a:rPr lang="en-US" altLang="en-US" dirty="0" smtClean="0"/>
              <a:t>Attacks                               cont./</a:t>
            </a:r>
          </a:p>
        </p:txBody>
      </p:sp>
      <p:sp>
        <p:nvSpPr>
          <p:cNvPr id="25603" name="Content Placeholder 2"/>
          <p:cNvSpPr>
            <a:spLocks noGrp="1"/>
          </p:cNvSpPr>
          <p:nvPr>
            <p:ph idx="1"/>
          </p:nvPr>
        </p:nvSpPr>
        <p:spPr>
          <a:xfrm>
            <a:off x="2620206" y="1600200"/>
            <a:ext cx="7438194" cy="4800600"/>
          </a:xfrm>
        </p:spPr>
        <p:txBody>
          <a:bodyPr>
            <a:normAutofit/>
          </a:bodyPr>
          <a:lstStyle/>
          <a:p>
            <a:pPr eaLnBrk="1" hangingPunct="1">
              <a:buFont typeface="Wingdings 2" panose="05020102010507070707" pitchFamily="18" charset="2"/>
              <a:buNone/>
            </a:pPr>
            <a:r>
              <a:rPr lang="en-US" altLang="en-US" sz="2200" i="1" dirty="0">
                <a:solidFill>
                  <a:srgbClr val="0000CC"/>
                </a:solidFill>
              </a:rPr>
              <a:t>DENIAL OF SERVICE (DoS) ATTACKS</a:t>
            </a:r>
          </a:p>
          <a:p>
            <a:pPr eaLnBrk="1" hangingPunct="1"/>
            <a:r>
              <a:rPr lang="en-US" altLang="en-US" sz="2200" dirty="0"/>
              <a:t>DoS attack - denying a service that is normally available to a user or organization.</a:t>
            </a:r>
          </a:p>
          <a:p>
            <a:pPr marL="0" indent="0">
              <a:buNone/>
            </a:pPr>
            <a:endParaRPr lang="en-US" altLang="en-US" sz="2200" dirty="0"/>
          </a:p>
          <a:p>
            <a:pPr marL="0" indent="0">
              <a:buNone/>
            </a:pPr>
            <a:r>
              <a:rPr lang="en-US" altLang="en-US" sz="2200" dirty="0">
                <a:sym typeface="Wingdings" panose="05000000000000000000" pitchFamily="2" charset="2"/>
              </a:rPr>
              <a:t> </a:t>
            </a:r>
            <a:r>
              <a:rPr lang="en-US" altLang="en-US" sz="2200" dirty="0"/>
              <a:t>Examples</a:t>
            </a:r>
          </a:p>
          <a:p>
            <a:pPr marL="457200" indent="-457200">
              <a:buFont typeface="Wingdings 2" panose="05020102010507070707" pitchFamily="18" charset="2"/>
              <a:buAutoNum type="arabicParenBoth"/>
            </a:pPr>
            <a:r>
              <a:rPr lang="en-US" altLang="en-US" sz="2200" dirty="0"/>
              <a:t>Distributed DoS (</a:t>
            </a:r>
            <a:r>
              <a:rPr lang="en-US" altLang="en-US" sz="2200" i="1" dirty="0" err="1">
                <a:solidFill>
                  <a:srgbClr val="0000CC"/>
                </a:solidFill>
              </a:rPr>
              <a:t>DDoS</a:t>
            </a:r>
            <a:r>
              <a:rPr lang="en-US" altLang="en-US" sz="2200" dirty="0"/>
              <a:t>) attack,  </a:t>
            </a:r>
          </a:p>
          <a:p>
            <a:pPr marL="457200" indent="-457200">
              <a:buFont typeface="Wingdings 2" panose="05020102010507070707" pitchFamily="18" charset="2"/>
              <a:buAutoNum type="arabicParenBoth"/>
            </a:pPr>
            <a:r>
              <a:rPr lang="en-US" altLang="en-US" sz="2200" dirty="0"/>
              <a:t> </a:t>
            </a:r>
            <a:r>
              <a:rPr lang="en-US" altLang="en-US" sz="2200" i="1" dirty="0">
                <a:solidFill>
                  <a:srgbClr val="0000CC"/>
                </a:solidFill>
              </a:rPr>
              <a:t>TCP SYN</a:t>
            </a:r>
            <a:r>
              <a:rPr lang="en-US" altLang="en-US" sz="2200" i="1" dirty="0"/>
              <a:t> </a:t>
            </a:r>
            <a:r>
              <a:rPr lang="en-US" altLang="en-US" sz="2200" dirty="0"/>
              <a:t>attack </a:t>
            </a:r>
          </a:p>
          <a:p>
            <a:pPr marL="457200" indent="-457200">
              <a:buFont typeface="Wingdings 2" panose="05020102010507070707" pitchFamily="18" charset="2"/>
              <a:buAutoNum type="arabicParenBoth"/>
            </a:pPr>
            <a:r>
              <a:rPr lang="en-US" altLang="en-US" sz="2200" dirty="0">
                <a:solidFill>
                  <a:srgbClr val="0000CC"/>
                </a:solidFill>
              </a:rPr>
              <a:t>Smurf</a:t>
            </a:r>
            <a:r>
              <a:rPr lang="en-US" altLang="en-US" sz="2200" dirty="0"/>
              <a:t> attack.</a:t>
            </a:r>
          </a:p>
          <a:p>
            <a:pPr marL="457200" indent="-457200">
              <a:buFont typeface="Wingdings 2" panose="05020102010507070707" pitchFamily="18" charset="2"/>
              <a:buAutoNum type="arabicParenBoth"/>
            </a:pPr>
            <a:r>
              <a:rPr lang="en-US" altLang="en-US" sz="2200" dirty="0">
                <a:solidFill>
                  <a:srgbClr val="0000CC"/>
                </a:solidFill>
              </a:rPr>
              <a:t>Ransomware</a:t>
            </a:r>
            <a:r>
              <a:rPr lang="en-US" altLang="en-US" sz="2200" dirty="0">
                <a:solidFill>
                  <a:srgbClr val="0070C0"/>
                </a:solidFill>
              </a:rPr>
              <a:t> </a:t>
            </a:r>
            <a:r>
              <a:rPr lang="en-US" altLang="en-US" sz="2200" dirty="0"/>
              <a:t>attack</a:t>
            </a:r>
          </a:p>
          <a:p>
            <a:pPr eaLnBrk="1" hangingPunct="1"/>
            <a:endParaRPr lang="en-US" altLang="en-US" sz="2200" dirty="0"/>
          </a:p>
          <a:p>
            <a:pPr eaLnBrk="1" hangingPunct="1"/>
            <a:endParaRPr lang="en-US" altLang="en-US" sz="2200" dirty="0"/>
          </a:p>
          <a:p>
            <a:pPr eaLnBrk="1" hangingPunct="1"/>
            <a:endParaRPr lang="en-US" altLang="en-US" sz="2200" dirty="0"/>
          </a:p>
        </p:txBody>
      </p:sp>
      <p:sp>
        <p:nvSpPr>
          <p:cNvPr id="4" name="Slide Number Placeholder 3"/>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EE213F5-D6EF-4050-A5A2-FD9D273B0E42}" type="slidenum">
              <a:rPr lang="en-US" altLang="en-US">
                <a:solidFill>
                  <a:prstClr val="white"/>
                </a:solidFill>
              </a:rPr>
              <a:pPr eaLnBrk="1" hangingPunct="1"/>
              <a:t>16</a:t>
            </a:fld>
            <a:endParaRPr lang="en-US" altLang="en-US">
              <a:solidFill>
                <a:prstClr val="white"/>
              </a:solidFill>
            </a:endParaRPr>
          </a:p>
        </p:txBody>
      </p:sp>
    </p:spTree>
    <p:extLst>
      <p:ext uri="{BB962C8B-B14F-4D97-AF65-F5344CB8AC3E}">
        <p14:creationId xmlns:p14="http://schemas.microsoft.com/office/powerpoint/2010/main" val="2529849522"/>
      </p:ext>
    </p:extLst>
  </p:cSld>
  <p:clrMapOvr>
    <a:masterClrMapping/>
  </p:clrMapOvr>
  <p:transition spd="slow">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Computer Criminals</a:t>
            </a:r>
            <a:endParaRPr lang="en-US" dirty="0"/>
          </a:p>
        </p:txBody>
      </p:sp>
      <p:sp>
        <p:nvSpPr>
          <p:cNvPr id="3" name="Content Placeholder 2"/>
          <p:cNvSpPr>
            <a:spLocks noGrp="1"/>
          </p:cNvSpPr>
          <p:nvPr>
            <p:ph idx="1"/>
          </p:nvPr>
        </p:nvSpPr>
        <p:spPr/>
        <p:txBody>
          <a:bodyPr/>
          <a:lstStyle/>
          <a:p>
            <a:r>
              <a:rPr lang="en-US" b="1" dirty="0"/>
              <a:t>Amateurs</a:t>
            </a:r>
            <a:r>
              <a:rPr lang="en-US" dirty="0"/>
              <a:t>: regular users, who exploit the vulnerabilities</a:t>
            </a:r>
            <a:br>
              <a:rPr lang="en-US" dirty="0"/>
            </a:br>
            <a:r>
              <a:rPr lang="en-US" dirty="0"/>
              <a:t>of the computer system</a:t>
            </a:r>
            <a:br>
              <a:rPr lang="en-US" dirty="0"/>
            </a:br>
            <a:r>
              <a:rPr lang="en-US" dirty="0"/>
              <a:t> Motivation: easy access to vulnerable </a:t>
            </a:r>
            <a:r>
              <a:rPr lang="en-US" dirty="0" smtClean="0"/>
              <a:t>resources</a:t>
            </a:r>
            <a:endParaRPr lang="en-US" dirty="0"/>
          </a:p>
          <a:p>
            <a:r>
              <a:rPr lang="en-US" b="1" dirty="0" smtClean="0"/>
              <a:t>Crackers</a:t>
            </a:r>
            <a:r>
              <a:rPr lang="en-US" dirty="0"/>
              <a:t>: attempt to access computing facilities for</a:t>
            </a:r>
            <a:br>
              <a:rPr lang="en-US" dirty="0"/>
            </a:br>
            <a:r>
              <a:rPr lang="en-US" dirty="0"/>
              <a:t>which they do not have the authorization</a:t>
            </a:r>
            <a:br>
              <a:rPr lang="en-US" dirty="0"/>
            </a:br>
            <a:r>
              <a:rPr lang="en-US" dirty="0"/>
              <a:t> Motivation: enjoy challenge, </a:t>
            </a:r>
            <a:r>
              <a:rPr lang="en-US" dirty="0" smtClean="0"/>
              <a:t>curiosity</a:t>
            </a:r>
            <a:endParaRPr lang="en-US" dirty="0"/>
          </a:p>
          <a:p>
            <a:r>
              <a:rPr lang="en-US" b="1" dirty="0" smtClean="0"/>
              <a:t>Career </a:t>
            </a:r>
            <a:r>
              <a:rPr lang="en-US" b="1" dirty="0"/>
              <a:t>criminals</a:t>
            </a:r>
            <a:r>
              <a:rPr lang="en-US" dirty="0"/>
              <a:t>: professionals who understand the</a:t>
            </a:r>
            <a:br>
              <a:rPr lang="en-US" dirty="0"/>
            </a:br>
            <a:r>
              <a:rPr lang="en-US" dirty="0"/>
              <a:t>computer system and its vulnerabilities</a:t>
            </a:r>
            <a:br>
              <a:rPr lang="en-US" dirty="0"/>
            </a:br>
            <a:r>
              <a:rPr lang="en-US" dirty="0"/>
              <a:t> Motivation: personal gain (e.g., financial) </a:t>
            </a:r>
            <a:br>
              <a:rPr lang="en-US" dirty="0"/>
            </a:br>
            <a:endParaRPr lang="en-US" dirty="0"/>
          </a:p>
        </p:txBody>
      </p:sp>
    </p:spTree>
    <p:extLst>
      <p:ext uri="{BB962C8B-B14F-4D97-AF65-F5344CB8AC3E}">
        <p14:creationId xmlns:p14="http://schemas.microsoft.com/office/powerpoint/2010/main" val="2143947715"/>
      </p:ext>
    </p:extLst>
  </p:cSld>
  <p:clrMapOvr>
    <a:masterClrMapping/>
  </p:clrMapOvr>
  <p:transition spd="slow">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3581400" y="431418"/>
            <a:ext cx="4648200" cy="787783"/>
          </a:xfrm>
        </p:spPr>
        <p:txBody>
          <a:bodyPr/>
          <a:lstStyle/>
          <a:p>
            <a:r>
              <a:rPr lang="en-US" altLang="en-US" dirty="0" smtClean="0"/>
              <a:t>Security Polices</a:t>
            </a:r>
          </a:p>
        </p:txBody>
      </p:sp>
      <p:sp>
        <p:nvSpPr>
          <p:cNvPr id="30723" name="Content Placeholder 2"/>
          <p:cNvSpPr>
            <a:spLocks noGrp="1"/>
          </p:cNvSpPr>
          <p:nvPr>
            <p:ph idx="1"/>
          </p:nvPr>
        </p:nvSpPr>
        <p:spPr>
          <a:xfrm>
            <a:off x="1752600" y="1524000"/>
            <a:ext cx="8763000" cy="4953000"/>
          </a:xfrm>
        </p:spPr>
        <p:txBody>
          <a:bodyPr>
            <a:normAutofit fontScale="92500" lnSpcReduction="10000"/>
          </a:bodyPr>
          <a:lstStyle/>
          <a:p>
            <a:pPr>
              <a:buFont typeface="Wingdings" panose="05000000000000000000" pitchFamily="2" charset="2"/>
              <a:buChar char="q"/>
            </a:pPr>
            <a:r>
              <a:rPr lang="en-US" altLang="en-US" sz="2400" dirty="0"/>
              <a:t>A security policy is a statement of what is, and what is not, allowed in a given system.</a:t>
            </a:r>
          </a:p>
          <a:p>
            <a:pPr>
              <a:buFont typeface="Wingdings" panose="05000000000000000000" pitchFamily="2" charset="2"/>
              <a:buChar char="q"/>
            </a:pPr>
            <a:endParaRPr lang="en-US" altLang="en-US" sz="2400" dirty="0"/>
          </a:p>
          <a:p>
            <a:pPr>
              <a:buFont typeface="Wingdings" panose="05000000000000000000" pitchFamily="2" charset="2"/>
              <a:buChar char="q"/>
            </a:pPr>
            <a:r>
              <a:rPr lang="en-US" altLang="en-US" sz="2400" dirty="0"/>
              <a:t> Note that security policies  don’t precisely define "security.“</a:t>
            </a:r>
          </a:p>
          <a:p>
            <a:pPr>
              <a:buFont typeface="Wingdings" panose="05000000000000000000" pitchFamily="2" charset="2"/>
              <a:buChar char="q"/>
            </a:pPr>
            <a:endParaRPr lang="en-US" altLang="en-US" sz="2400" dirty="0"/>
          </a:p>
          <a:p>
            <a:pPr>
              <a:buFont typeface="Wingdings" panose="05000000000000000000" pitchFamily="2" charset="2"/>
              <a:buChar char="q"/>
            </a:pPr>
            <a:r>
              <a:rPr lang="en-US" altLang="en-US" sz="2400" dirty="0"/>
              <a:t> A security mechanism is a method, tool, or procedure for enforcing a security policy.</a:t>
            </a:r>
          </a:p>
          <a:p>
            <a:pPr>
              <a:buFont typeface="Wingdings" panose="05000000000000000000" pitchFamily="2" charset="2"/>
              <a:buChar char="q"/>
            </a:pPr>
            <a:endParaRPr lang="en-US" altLang="en-US" sz="2400" dirty="0"/>
          </a:p>
          <a:p>
            <a:pPr>
              <a:buFont typeface="Wingdings" panose="05000000000000000000" pitchFamily="2" charset="2"/>
              <a:buChar char="q"/>
            </a:pPr>
            <a:r>
              <a:rPr lang="en-US" altLang="en-US" sz="2400" dirty="0"/>
              <a:t>Univ. prohibits copying of assignment in whatever form….</a:t>
            </a:r>
          </a:p>
          <a:p>
            <a:pPr>
              <a:buFont typeface="Wingdings" panose="05000000000000000000" pitchFamily="2" charset="2"/>
              <a:buChar char="q"/>
            </a:pPr>
            <a:endParaRPr lang="en-US" altLang="en-US" sz="2400" dirty="0"/>
          </a:p>
          <a:p>
            <a:pPr>
              <a:buFont typeface="Wingdings" panose="05000000000000000000" pitchFamily="2" charset="2"/>
              <a:buChar char="q"/>
            </a:pPr>
            <a:r>
              <a:rPr lang="en-US" altLang="en-US" sz="2400" dirty="0"/>
              <a:t>If actor A doesn’t protect her assignment files and B copies them, a breach of security occurs and B violated the policy.</a:t>
            </a:r>
          </a:p>
        </p:txBody>
      </p:sp>
      <p:sp>
        <p:nvSpPr>
          <p:cNvPr id="4" name="Slide Number Placeholder 3"/>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3F2EBCA-3659-4C28-9283-B4AB562D69C5}" type="slidenum">
              <a:rPr lang="en-US" altLang="en-US">
                <a:solidFill>
                  <a:prstClr val="white"/>
                </a:solidFill>
              </a:rPr>
              <a:pPr eaLnBrk="1" hangingPunct="1"/>
              <a:t>18</a:t>
            </a:fld>
            <a:endParaRPr lang="en-US" altLang="en-US">
              <a:solidFill>
                <a:prstClr val="white"/>
              </a:solidFill>
            </a:endParaRPr>
          </a:p>
        </p:txBody>
      </p:sp>
    </p:spTree>
    <p:extLst>
      <p:ext uri="{BB962C8B-B14F-4D97-AF65-F5344CB8AC3E}">
        <p14:creationId xmlns:p14="http://schemas.microsoft.com/office/powerpoint/2010/main" val="2959087063"/>
      </p:ext>
    </p:extLst>
  </p:cSld>
  <p:clrMapOvr>
    <a:masterClrMapping/>
  </p:clrMapOvr>
  <p:transition spd="slow">
    <p:wipe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Security Policies            cont./</a:t>
            </a:r>
            <a:endParaRPr lang="en-US" dirty="0"/>
          </a:p>
        </p:txBody>
      </p:sp>
      <p:sp>
        <p:nvSpPr>
          <p:cNvPr id="3" name="Content Placeholder 2"/>
          <p:cNvSpPr>
            <a:spLocks noGrp="1"/>
          </p:cNvSpPr>
          <p:nvPr>
            <p:ph idx="1"/>
          </p:nvPr>
        </p:nvSpPr>
        <p:spPr>
          <a:xfrm>
            <a:off x="2639525" y="1752600"/>
            <a:ext cx="7633185" cy="4114800"/>
          </a:xfrm>
        </p:spPr>
        <p:txBody>
          <a:bodyPr/>
          <a:lstStyle/>
          <a:p>
            <a:pPr>
              <a:buFont typeface="Wingdings" panose="05000000000000000000" pitchFamily="2" charset="2"/>
              <a:buChar char="q"/>
            </a:pPr>
            <a:r>
              <a:rPr lang="en-US" altLang="en-US" dirty="0"/>
              <a:t>What is secure under one policy may not be secure under a different policy.</a:t>
            </a:r>
          </a:p>
          <a:p>
            <a:pPr>
              <a:buFont typeface="Wingdings 2" panose="05020102010507070707" pitchFamily="18" charset="2"/>
              <a:buNone/>
            </a:pPr>
            <a:endParaRPr lang="en-US" altLang="en-US" sz="1400" dirty="0"/>
          </a:p>
          <a:p>
            <a:pPr>
              <a:buFont typeface="Wingdings" panose="05000000000000000000" pitchFamily="2" charset="2"/>
              <a:buChar char="q"/>
            </a:pPr>
            <a:r>
              <a:rPr lang="en-US" altLang="en-US" dirty="0"/>
              <a:t>A breach of security occurs when a system enters an unauthorized state</a:t>
            </a:r>
            <a:r>
              <a:rPr lang="en-US" altLang="en-US" dirty="0" smtClean="0"/>
              <a:t>.</a:t>
            </a:r>
          </a:p>
          <a:p>
            <a:pPr>
              <a:buFont typeface="Wingdings" panose="05000000000000000000" pitchFamily="2" charset="2"/>
              <a:buChar char="q"/>
            </a:pPr>
            <a:endParaRPr lang="en-US" altLang="en-US" dirty="0"/>
          </a:p>
          <a:p>
            <a:pPr>
              <a:buFont typeface="Wingdings" panose="05000000000000000000" pitchFamily="2" charset="2"/>
              <a:buChar char="q"/>
            </a:pPr>
            <a:r>
              <a:rPr lang="en-US" altLang="en-US" dirty="0" smtClean="0"/>
              <a:t>A finite state machine can be used to model a system’s security state.</a:t>
            </a:r>
          </a:p>
          <a:p>
            <a:pPr>
              <a:buFont typeface="Wingdings" panose="05000000000000000000" pitchFamily="2" charset="2"/>
              <a:buChar char="à"/>
            </a:pPr>
            <a:r>
              <a:rPr lang="en-US" altLang="en-US" dirty="0" smtClean="0">
                <a:sym typeface="Wingdings" panose="05000000000000000000" pitchFamily="2" charset="2"/>
              </a:rPr>
              <a:t>Example</a:t>
            </a:r>
          </a:p>
          <a:p>
            <a:pPr>
              <a:buFont typeface="Wingdings" panose="05000000000000000000" pitchFamily="2" charset="2"/>
              <a:buChar char="q"/>
            </a:pPr>
            <a:r>
              <a:rPr lang="en-US" altLang="en-US" dirty="0" smtClean="0">
                <a:sym typeface="Wingdings" panose="05000000000000000000" pitchFamily="2" charset="2"/>
              </a:rPr>
              <a:t>If Confidentiality, Integrity and Availability …..</a:t>
            </a:r>
            <a:endParaRPr lang="en-US" altLang="en-US" dirty="0"/>
          </a:p>
          <a:p>
            <a:endParaRPr lang="en-US" dirty="0"/>
          </a:p>
        </p:txBody>
      </p:sp>
      <p:sp>
        <p:nvSpPr>
          <p:cNvPr id="4" name="Slide Number Placeholder 3"/>
          <p:cNvSpPr>
            <a:spLocks noGrp="1"/>
          </p:cNvSpPr>
          <p:nvPr>
            <p:ph type="sldNum" sz="quarter" idx="12"/>
          </p:nvPr>
        </p:nvSpPr>
        <p:spPr/>
        <p:txBody>
          <a:bodyPr/>
          <a:lstStyle/>
          <a:p>
            <a:fld id="{2E4F5DB5-328C-4C72-A782-087F5A7C89E9}" type="slidenum">
              <a:rPr lang="en-US" smtClean="0"/>
              <a:pPr/>
              <a:t>19</a:t>
            </a:fld>
            <a:endParaRPr lang="en-US"/>
          </a:p>
        </p:txBody>
      </p:sp>
    </p:spTree>
    <p:extLst>
      <p:ext uri="{BB962C8B-B14F-4D97-AF65-F5344CB8AC3E}">
        <p14:creationId xmlns:p14="http://schemas.microsoft.com/office/powerpoint/2010/main" val="1241590273"/>
      </p:ext>
    </p:extLst>
  </p:cSld>
  <p:clrMapOvr>
    <a:masterClrMapping/>
  </p:clrMapOvr>
  <p:transition spd="slow">
    <p:wipe dir="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Methods of Defense</a:t>
            </a:r>
            <a:endParaRPr lang="en-US" dirty="0"/>
          </a:p>
        </p:txBody>
      </p:sp>
      <p:sp>
        <p:nvSpPr>
          <p:cNvPr id="3" name="Content Placeholder 2"/>
          <p:cNvSpPr>
            <a:spLocks noGrp="1"/>
          </p:cNvSpPr>
          <p:nvPr>
            <p:ph idx="1"/>
          </p:nvPr>
        </p:nvSpPr>
        <p:spPr/>
        <p:txBody>
          <a:bodyPr/>
          <a:lstStyle/>
          <a:p>
            <a:r>
              <a:rPr lang="en-US" b="1" dirty="0"/>
              <a:t>Prevent</a:t>
            </a:r>
            <a:r>
              <a:rPr lang="en-US" dirty="0"/>
              <a:t>: block </a:t>
            </a:r>
            <a:r>
              <a:rPr lang="en-US" dirty="0" smtClean="0"/>
              <a:t>attack</a:t>
            </a:r>
            <a:endParaRPr lang="en-US" dirty="0"/>
          </a:p>
          <a:p>
            <a:r>
              <a:rPr lang="en-US" b="1" dirty="0" smtClean="0"/>
              <a:t>Deter</a:t>
            </a:r>
            <a:r>
              <a:rPr lang="en-US" dirty="0"/>
              <a:t>: make the attack </a:t>
            </a:r>
            <a:r>
              <a:rPr lang="en-US" dirty="0" smtClean="0"/>
              <a:t>harder</a:t>
            </a:r>
            <a:endParaRPr lang="en-US" dirty="0"/>
          </a:p>
          <a:p>
            <a:r>
              <a:rPr lang="en-US" b="1" dirty="0" smtClean="0"/>
              <a:t>Deflect</a:t>
            </a:r>
            <a:r>
              <a:rPr lang="en-US" dirty="0"/>
              <a:t>: make other targets more </a:t>
            </a:r>
            <a:r>
              <a:rPr lang="en-US" dirty="0" smtClean="0"/>
              <a:t>attractive</a:t>
            </a:r>
            <a:endParaRPr lang="en-US" dirty="0"/>
          </a:p>
          <a:p>
            <a:r>
              <a:rPr lang="en-US" b="1" dirty="0" smtClean="0"/>
              <a:t>Detect</a:t>
            </a:r>
            <a:r>
              <a:rPr lang="en-US" dirty="0"/>
              <a:t>: identify </a:t>
            </a:r>
            <a:r>
              <a:rPr lang="en-US" dirty="0" smtClean="0"/>
              <a:t>misuse</a:t>
            </a:r>
            <a:endParaRPr lang="en-US" dirty="0"/>
          </a:p>
          <a:p>
            <a:r>
              <a:rPr lang="en-US" b="1" dirty="0" smtClean="0"/>
              <a:t>Tolerate</a:t>
            </a:r>
            <a:r>
              <a:rPr lang="en-US" dirty="0"/>
              <a:t>: function under </a:t>
            </a:r>
            <a:r>
              <a:rPr lang="en-US" dirty="0" smtClean="0"/>
              <a:t>attack</a:t>
            </a:r>
            <a:endParaRPr lang="en-US" dirty="0"/>
          </a:p>
          <a:p>
            <a:r>
              <a:rPr lang="en-US" b="1" dirty="0" smtClean="0"/>
              <a:t>Recover</a:t>
            </a:r>
            <a:r>
              <a:rPr lang="en-US" dirty="0"/>
              <a:t>: restore to correct state </a:t>
            </a:r>
            <a:br>
              <a:rPr lang="en-US" dirty="0"/>
            </a:br>
            <a:endParaRPr lang="en-US" dirty="0"/>
          </a:p>
        </p:txBody>
      </p:sp>
    </p:spTree>
    <p:extLst>
      <p:ext uri="{BB962C8B-B14F-4D97-AF65-F5344CB8AC3E}">
        <p14:creationId xmlns:p14="http://schemas.microsoft.com/office/powerpoint/2010/main" val="819338768"/>
      </p:ext>
    </p:extLst>
  </p:cSld>
  <p:clrMapOvr>
    <a:masterClrMapping/>
  </p:clrMapOvr>
  <p:transition spd="slow">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Content Placeholder 2"/>
          <p:cNvSpPr>
            <a:spLocks noGrp="1"/>
          </p:cNvSpPr>
          <p:nvPr>
            <p:ph idx="1"/>
          </p:nvPr>
        </p:nvSpPr>
        <p:spPr/>
        <p:txBody>
          <a:bodyPr/>
          <a:lstStyle/>
          <a:p>
            <a:pPr algn="ctr" eaLnBrk="1" hangingPunct="1">
              <a:buFont typeface="Wingdings" panose="05000000000000000000" pitchFamily="2" charset="2"/>
              <a:buNone/>
            </a:pPr>
            <a:r>
              <a:rPr lang="en-US" altLang="en-US" sz="4400" b="1" dirty="0" smtClean="0"/>
              <a:t>INFORMATION SECURITY PLANNING</a:t>
            </a:r>
            <a:endParaRPr lang="en-US" altLang="en-US" sz="4400" b="1" dirty="0"/>
          </a:p>
        </p:txBody>
      </p:sp>
    </p:spTree>
    <p:extLst>
      <p:ext uri="{BB962C8B-B14F-4D97-AF65-F5344CB8AC3E}">
        <p14:creationId xmlns:p14="http://schemas.microsoft.com/office/powerpoint/2010/main" val="2939800982"/>
      </p:ext>
    </p:extLst>
  </p:cSld>
  <p:clrMapOvr>
    <a:masterClrMapping/>
  </p:clrMapOvr>
  <p:transition spd="slow">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Information Security Planning</a:t>
            </a:r>
            <a:endParaRPr lang="en-US" dirty="0"/>
          </a:p>
        </p:txBody>
      </p:sp>
      <p:sp>
        <p:nvSpPr>
          <p:cNvPr id="3" name="Content Placeholder 2"/>
          <p:cNvSpPr>
            <a:spLocks noGrp="1"/>
          </p:cNvSpPr>
          <p:nvPr>
            <p:ph idx="1"/>
          </p:nvPr>
        </p:nvSpPr>
        <p:spPr/>
        <p:txBody>
          <a:bodyPr/>
          <a:lstStyle/>
          <a:p>
            <a:r>
              <a:rPr lang="en-US" dirty="0"/>
              <a:t>Organization </a:t>
            </a:r>
            <a:r>
              <a:rPr lang="en-US" dirty="0" smtClean="0"/>
              <a:t>Analysis</a:t>
            </a:r>
            <a:endParaRPr lang="en-US" dirty="0"/>
          </a:p>
          <a:p>
            <a:r>
              <a:rPr lang="en-US" dirty="0" smtClean="0"/>
              <a:t>Risk management</a:t>
            </a:r>
            <a:endParaRPr lang="en-US" dirty="0"/>
          </a:p>
          <a:p>
            <a:r>
              <a:rPr lang="en-US" dirty="0" smtClean="0"/>
              <a:t>Mitigation </a:t>
            </a:r>
            <a:r>
              <a:rPr lang="en-US" dirty="0"/>
              <a:t>approaches and their </a:t>
            </a:r>
            <a:r>
              <a:rPr lang="en-US" dirty="0" smtClean="0"/>
              <a:t>costs</a:t>
            </a:r>
            <a:endParaRPr lang="en-US" dirty="0"/>
          </a:p>
          <a:p>
            <a:r>
              <a:rPr lang="en-US" dirty="0" smtClean="0"/>
              <a:t>Security policy</a:t>
            </a:r>
            <a:endParaRPr lang="en-US" dirty="0"/>
          </a:p>
          <a:p>
            <a:r>
              <a:rPr lang="en-US" dirty="0" smtClean="0"/>
              <a:t>Implementation </a:t>
            </a:r>
            <a:r>
              <a:rPr lang="en-US" dirty="0"/>
              <a:t>and </a:t>
            </a:r>
            <a:r>
              <a:rPr lang="en-US" dirty="0" smtClean="0"/>
              <a:t>testing</a:t>
            </a:r>
            <a:endParaRPr lang="en-US" dirty="0"/>
          </a:p>
          <a:p>
            <a:r>
              <a:rPr lang="en-US" dirty="0" smtClean="0"/>
              <a:t>Security </a:t>
            </a:r>
            <a:r>
              <a:rPr lang="en-US" dirty="0"/>
              <a:t>training and awareness </a:t>
            </a:r>
            <a:br>
              <a:rPr lang="en-US" dirty="0"/>
            </a:br>
            <a:endParaRPr lang="en-US" dirty="0"/>
          </a:p>
        </p:txBody>
      </p:sp>
    </p:spTree>
    <p:extLst>
      <p:ext uri="{BB962C8B-B14F-4D97-AF65-F5344CB8AC3E}">
        <p14:creationId xmlns:p14="http://schemas.microsoft.com/office/powerpoint/2010/main" val="2768992354"/>
      </p:ext>
    </p:extLst>
  </p:cSld>
  <p:clrMapOvr>
    <a:masterClrMapping/>
  </p:clrMapOvr>
  <p:transition spd="slow">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Assessment </a:t>
            </a:r>
            <a:br>
              <a:rPr lang="en-US" dirty="0"/>
            </a:br>
            <a:endParaRPr lang="en-US" dirty="0"/>
          </a:p>
        </p:txBody>
      </p:sp>
      <p:pic>
        <p:nvPicPr>
          <p:cNvPr id="4" name="Content Placeholder 3"/>
          <p:cNvPicPr>
            <a:picLocks noGrp="1" noChangeAspect="1"/>
          </p:cNvPicPr>
          <p:nvPr>
            <p:ph idx="1"/>
          </p:nvPr>
        </p:nvPicPr>
        <p:blipFill>
          <a:blip r:embed="rId2"/>
          <a:stretch>
            <a:fillRect/>
          </a:stretch>
        </p:blipFill>
        <p:spPr>
          <a:xfrm>
            <a:off x="1598085" y="2160588"/>
            <a:ext cx="6755867" cy="3881437"/>
          </a:xfrm>
          <a:prstGeom prst="rect">
            <a:avLst/>
          </a:prstGeom>
        </p:spPr>
      </p:pic>
    </p:spTree>
    <p:extLst>
      <p:ext uri="{BB962C8B-B14F-4D97-AF65-F5344CB8AC3E}">
        <p14:creationId xmlns:p14="http://schemas.microsoft.com/office/powerpoint/2010/main" val="414436730"/>
      </p:ext>
    </p:extLst>
  </p:cSld>
  <p:clrMapOvr>
    <a:masterClrMapping/>
  </p:clrMapOvr>
  <p:transition spd="slow">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Risk Assessment</a:t>
            </a:r>
            <a:r>
              <a:rPr lang="en-US" dirty="0"/>
              <a:t> </a:t>
            </a:r>
            <a:br>
              <a:rPr lang="en-US" dirty="0"/>
            </a:br>
            <a:endParaRPr lang="en-US" dirty="0"/>
          </a:p>
        </p:txBody>
      </p:sp>
      <p:sp>
        <p:nvSpPr>
          <p:cNvPr id="3" name="Content Placeholder 2"/>
          <p:cNvSpPr>
            <a:spLocks noGrp="1"/>
          </p:cNvSpPr>
          <p:nvPr>
            <p:ph idx="1"/>
          </p:nvPr>
        </p:nvSpPr>
        <p:spPr/>
        <p:txBody>
          <a:bodyPr/>
          <a:lstStyle/>
          <a:p>
            <a:r>
              <a:rPr lang="en-US" dirty="0"/>
              <a:t>Business Policy Decision</a:t>
            </a:r>
            <a:br>
              <a:rPr lang="en-US" dirty="0"/>
            </a:br>
            <a:r>
              <a:rPr lang="en-US" dirty="0"/>
              <a:t> Communication between technical and</a:t>
            </a:r>
            <a:br>
              <a:rPr lang="en-US" dirty="0"/>
            </a:br>
            <a:r>
              <a:rPr lang="en-US" dirty="0"/>
              <a:t>administrative employees</a:t>
            </a:r>
            <a:br>
              <a:rPr lang="en-US" dirty="0"/>
            </a:br>
            <a:r>
              <a:rPr lang="en-US" dirty="0"/>
              <a:t> Internal vs. external resources</a:t>
            </a:r>
            <a:br>
              <a:rPr lang="en-US" dirty="0"/>
            </a:br>
            <a:r>
              <a:rPr lang="en-US" dirty="0"/>
              <a:t> Legal and regulatory </a:t>
            </a:r>
            <a:r>
              <a:rPr lang="en-US" dirty="0" smtClean="0"/>
              <a:t>requirements</a:t>
            </a:r>
            <a:endParaRPr lang="en-US" dirty="0"/>
          </a:p>
          <a:p>
            <a:r>
              <a:rPr lang="en-US" dirty="0" smtClean="0"/>
              <a:t>Developing </a:t>
            </a:r>
            <a:r>
              <a:rPr lang="en-US" dirty="0"/>
              <a:t>security capabilities </a:t>
            </a:r>
            <a:br>
              <a:rPr lang="en-US" dirty="0"/>
            </a:br>
            <a:endParaRPr lang="en-US" dirty="0"/>
          </a:p>
        </p:txBody>
      </p:sp>
    </p:spTree>
    <p:extLst>
      <p:ext uri="{BB962C8B-B14F-4D97-AF65-F5344CB8AC3E}">
        <p14:creationId xmlns:p14="http://schemas.microsoft.com/office/powerpoint/2010/main" val="2994404998"/>
      </p:ext>
    </p:extLst>
  </p:cSld>
  <p:clrMapOvr>
    <a:masterClrMapping/>
  </p:clrMapOvr>
  <p:transition spd="slow">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Real Cost of Cyber Attack </a:t>
            </a:r>
            <a:br>
              <a:rPr lang="en-US" dirty="0"/>
            </a:br>
            <a:endParaRPr lang="en-US" dirty="0"/>
          </a:p>
        </p:txBody>
      </p:sp>
      <p:sp>
        <p:nvSpPr>
          <p:cNvPr id="3" name="Content Placeholder 2"/>
          <p:cNvSpPr>
            <a:spLocks noGrp="1"/>
          </p:cNvSpPr>
          <p:nvPr>
            <p:ph idx="1"/>
          </p:nvPr>
        </p:nvSpPr>
        <p:spPr/>
        <p:txBody>
          <a:bodyPr/>
          <a:lstStyle/>
          <a:p>
            <a:r>
              <a:rPr lang="en-US" dirty="0"/>
              <a:t>Damage of the target may not reflect the real</a:t>
            </a:r>
            <a:br>
              <a:rPr lang="en-US" dirty="0"/>
            </a:br>
            <a:r>
              <a:rPr lang="en-US" dirty="0"/>
              <a:t>amount of </a:t>
            </a:r>
            <a:r>
              <a:rPr lang="en-US" dirty="0" smtClean="0"/>
              <a:t>damage</a:t>
            </a:r>
            <a:endParaRPr lang="en-US" dirty="0"/>
          </a:p>
          <a:p>
            <a:r>
              <a:rPr lang="en-US" dirty="0" smtClean="0"/>
              <a:t>Services </a:t>
            </a:r>
            <a:r>
              <a:rPr lang="en-US" dirty="0"/>
              <a:t>may rely on the attacked service,</a:t>
            </a:r>
            <a:br>
              <a:rPr lang="en-US" dirty="0"/>
            </a:br>
            <a:r>
              <a:rPr lang="en-US" dirty="0"/>
              <a:t>causing a cascading and escalating </a:t>
            </a:r>
            <a:r>
              <a:rPr lang="en-US" dirty="0" smtClean="0"/>
              <a:t>damage</a:t>
            </a:r>
            <a:endParaRPr lang="en-US" dirty="0"/>
          </a:p>
          <a:p>
            <a:r>
              <a:rPr lang="en-US" dirty="0" smtClean="0"/>
              <a:t>Need</a:t>
            </a:r>
            <a:r>
              <a:rPr lang="en-US" dirty="0"/>
              <a:t>: support for decision makers to</a:t>
            </a:r>
            <a:br>
              <a:rPr lang="en-US" dirty="0"/>
            </a:br>
            <a:r>
              <a:rPr lang="en-US" dirty="0"/>
              <a:t>– Evaluate risk and consequences of cyber</a:t>
            </a:r>
            <a:br>
              <a:rPr lang="en-US" dirty="0"/>
            </a:br>
            <a:r>
              <a:rPr lang="en-US" dirty="0"/>
              <a:t>attacks</a:t>
            </a:r>
            <a:br>
              <a:rPr lang="en-US" dirty="0"/>
            </a:br>
            <a:r>
              <a:rPr lang="en-US" dirty="0"/>
              <a:t>– Support methods to prevent, deter, and</a:t>
            </a:r>
            <a:br>
              <a:rPr lang="en-US" dirty="0"/>
            </a:br>
            <a:r>
              <a:rPr lang="en-US" dirty="0"/>
              <a:t>mitigate consequences of attacks </a:t>
            </a:r>
            <a:br>
              <a:rPr lang="en-US" dirty="0"/>
            </a:br>
            <a:endParaRPr lang="en-US" dirty="0"/>
          </a:p>
        </p:txBody>
      </p:sp>
    </p:spTree>
    <p:extLst>
      <p:ext uri="{BB962C8B-B14F-4D97-AF65-F5344CB8AC3E}">
        <p14:creationId xmlns:p14="http://schemas.microsoft.com/office/powerpoint/2010/main" val="638710988"/>
      </p:ext>
    </p:extLst>
  </p:cSld>
  <p:clrMapOvr>
    <a:masterClrMapping/>
  </p:clrMapOvr>
  <p:transition spd="slow">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Management Framework </a:t>
            </a:r>
            <a:br>
              <a:rPr lang="en-US" dirty="0"/>
            </a:br>
            <a:endParaRPr lang="en-US" dirty="0"/>
          </a:p>
        </p:txBody>
      </p:sp>
      <p:pic>
        <p:nvPicPr>
          <p:cNvPr id="4" name="Content Placeholder 3"/>
          <p:cNvPicPr>
            <a:picLocks noGrp="1" noChangeAspect="1"/>
          </p:cNvPicPr>
          <p:nvPr>
            <p:ph idx="1"/>
          </p:nvPr>
        </p:nvPicPr>
        <p:blipFill>
          <a:blip r:embed="rId2"/>
          <a:stretch>
            <a:fillRect/>
          </a:stretch>
        </p:blipFill>
        <p:spPr>
          <a:xfrm>
            <a:off x="1558558" y="2160588"/>
            <a:ext cx="6834921" cy="3881437"/>
          </a:xfrm>
          <a:prstGeom prst="rect">
            <a:avLst/>
          </a:prstGeom>
        </p:spPr>
      </p:pic>
    </p:spTree>
    <p:extLst>
      <p:ext uri="{BB962C8B-B14F-4D97-AF65-F5344CB8AC3E}">
        <p14:creationId xmlns:p14="http://schemas.microsoft.com/office/powerpoint/2010/main" val="186832796"/>
      </p:ext>
    </p:extLst>
  </p:cSld>
  <p:clrMapOvr>
    <a:masterClrMapping/>
  </p:clrMapOvr>
  <p:transition spd="slow">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eaLnBrk="1" hangingPunct="1"/>
            <a:endParaRPr lang="en-US" altLang="en-US" smtClean="0"/>
          </a:p>
        </p:txBody>
      </p:sp>
      <p:sp>
        <p:nvSpPr>
          <p:cNvPr id="3075" name="Content Placeholder 2"/>
          <p:cNvSpPr>
            <a:spLocks noGrp="1"/>
          </p:cNvSpPr>
          <p:nvPr>
            <p:ph idx="1"/>
          </p:nvPr>
        </p:nvSpPr>
        <p:spPr>
          <a:xfrm>
            <a:off x="1811338" y="2374900"/>
            <a:ext cx="8348662" cy="1519238"/>
          </a:xfrm>
        </p:spPr>
        <p:txBody>
          <a:bodyPr/>
          <a:lstStyle/>
          <a:p>
            <a:pPr algn="ctr" eaLnBrk="1" hangingPunct="1">
              <a:buFont typeface="Wingdings" panose="05000000000000000000" pitchFamily="2" charset="2"/>
              <a:buNone/>
            </a:pPr>
            <a:r>
              <a:rPr lang="en-US" altLang="en-US" sz="4400" b="1" dirty="0"/>
              <a:t>ACCESS CONTROLS</a:t>
            </a:r>
          </a:p>
        </p:txBody>
      </p:sp>
      <p:sp>
        <p:nvSpPr>
          <p:cNvPr id="307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72E24A6E-0268-4A69-8898-B4CC09CDDB7E}" type="slidenum">
              <a:rPr lang="en-US" altLang="en-US" sz="1000">
                <a:solidFill>
                  <a:srgbClr val="D9CFAB"/>
                </a:solidFill>
              </a:rPr>
              <a:pPr>
                <a:spcBef>
                  <a:spcPct val="0"/>
                </a:spcBef>
                <a:buFontTx/>
                <a:buNone/>
              </a:pPr>
              <a:t>27</a:t>
            </a:fld>
            <a:endParaRPr lang="en-US" altLang="en-US" sz="1400">
              <a:solidFill>
                <a:srgbClr val="D9CFAB"/>
              </a:solidFill>
              <a:latin typeface="Times" panose="02020603050405020304" pitchFamily="18" charset="0"/>
            </a:endParaRPr>
          </a:p>
        </p:txBody>
      </p:sp>
    </p:spTree>
    <p:extLst>
      <p:ext uri="{BB962C8B-B14F-4D97-AF65-F5344CB8AC3E}">
        <p14:creationId xmlns:p14="http://schemas.microsoft.com/office/powerpoint/2010/main" val="2171660467"/>
      </p:ext>
    </p:extLst>
  </p:cSld>
  <p:clrMapOvr>
    <a:masterClrMapping/>
  </p:clrMapOvr>
  <p:transition spd="slow">
    <p:wipe dir="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F2CE2A3D-D48B-4157-8E1D-CA58055D9C3A}" type="slidenum">
              <a:rPr lang="en-US" altLang="en-US" sz="1000">
                <a:solidFill>
                  <a:srgbClr val="D9CFAB"/>
                </a:solidFill>
              </a:rPr>
              <a:pPr>
                <a:spcBef>
                  <a:spcPct val="0"/>
                </a:spcBef>
                <a:buFontTx/>
                <a:buNone/>
              </a:pPr>
              <a:t>28</a:t>
            </a:fld>
            <a:endParaRPr lang="en-US" altLang="en-US" sz="1400">
              <a:solidFill>
                <a:srgbClr val="D9CFAB"/>
              </a:solidFill>
              <a:latin typeface="Times" panose="02020603050405020304" pitchFamily="18" charset="0"/>
            </a:endParaRPr>
          </a:p>
        </p:txBody>
      </p:sp>
      <p:sp>
        <p:nvSpPr>
          <p:cNvPr id="4099" name="Rectangle 2"/>
          <p:cNvSpPr>
            <a:spLocks noGrp="1" noChangeArrowheads="1"/>
          </p:cNvSpPr>
          <p:nvPr>
            <p:ph type="title"/>
          </p:nvPr>
        </p:nvSpPr>
        <p:spPr/>
        <p:txBody>
          <a:bodyPr/>
          <a:lstStyle/>
          <a:p>
            <a:pPr algn="r" eaLnBrk="1" hangingPunct="1"/>
            <a:r>
              <a:rPr lang="en-US" altLang="en-US" smtClean="0"/>
              <a:t>Access Controls</a:t>
            </a:r>
          </a:p>
        </p:txBody>
      </p:sp>
      <p:sp>
        <p:nvSpPr>
          <p:cNvPr id="4100" name="Rectangle 3"/>
          <p:cNvSpPr>
            <a:spLocks noGrp="1" noChangeArrowheads="1"/>
          </p:cNvSpPr>
          <p:nvPr>
            <p:ph type="body" idx="1"/>
          </p:nvPr>
        </p:nvSpPr>
        <p:spPr>
          <a:xfrm>
            <a:off x="1524000" y="1239839"/>
            <a:ext cx="8839200" cy="4670425"/>
          </a:xfrm>
        </p:spPr>
        <p:txBody>
          <a:bodyPr/>
          <a:lstStyle/>
          <a:p>
            <a:pPr eaLnBrk="1" hangingPunct="1"/>
            <a:r>
              <a:rPr lang="en-US" altLang="en-US" sz="3200"/>
              <a:t>Objectives</a:t>
            </a:r>
          </a:p>
          <a:p>
            <a:pPr lvl="1" eaLnBrk="1" hangingPunct="1"/>
            <a:r>
              <a:rPr lang="en-US" altLang="en-US" sz="2800"/>
              <a:t>fully understand access control concepts</a:t>
            </a:r>
          </a:p>
          <a:p>
            <a:pPr lvl="1" eaLnBrk="1" hangingPunct="1"/>
            <a:r>
              <a:rPr lang="en-US" altLang="en-US" sz="2800"/>
              <a:t> methodologies and implementation i.e. centralized and decentralized environments.</a:t>
            </a:r>
          </a:p>
          <a:p>
            <a:pPr lvl="1" eaLnBrk="1" hangingPunct="1"/>
            <a:r>
              <a:rPr lang="en-US" altLang="en-US" sz="2800"/>
              <a:t>  Access control techniques, detective and corrective measures </a:t>
            </a:r>
          </a:p>
          <a:p>
            <a:pPr lvl="1" eaLnBrk="1" hangingPunct="1"/>
            <a:r>
              <a:rPr lang="en-US" altLang="en-US" sz="2800"/>
              <a:t>Understand potential risks, vulnerabilities, and exposures.</a:t>
            </a:r>
          </a:p>
        </p:txBody>
      </p:sp>
    </p:spTree>
    <p:extLst>
      <p:ext uri="{BB962C8B-B14F-4D97-AF65-F5344CB8AC3E}">
        <p14:creationId xmlns:p14="http://schemas.microsoft.com/office/powerpoint/2010/main" val="691522628"/>
      </p:ext>
    </p:extLst>
  </p:cSld>
  <p:clrMapOvr>
    <a:masterClrMapping/>
  </p:clrMapOvr>
  <p:transition advTm="2562"/>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1360D4CC-2651-4302-B22B-FF859CAFE74A}" type="slidenum">
              <a:rPr lang="en-US" altLang="en-US" sz="1000">
                <a:solidFill>
                  <a:srgbClr val="D9CFAB"/>
                </a:solidFill>
              </a:rPr>
              <a:pPr>
                <a:spcBef>
                  <a:spcPct val="0"/>
                </a:spcBef>
                <a:buFontTx/>
                <a:buNone/>
              </a:pPr>
              <a:t>29</a:t>
            </a:fld>
            <a:endParaRPr lang="en-US" altLang="en-US" sz="1400">
              <a:solidFill>
                <a:srgbClr val="D9CFAB"/>
              </a:solidFill>
              <a:latin typeface="Times" panose="02020603050405020304" pitchFamily="18" charset="0"/>
            </a:endParaRPr>
          </a:p>
        </p:txBody>
      </p:sp>
      <p:sp>
        <p:nvSpPr>
          <p:cNvPr id="6147" name="Rectangle 2"/>
          <p:cNvSpPr>
            <a:spLocks noGrp="1" noChangeArrowheads="1"/>
          </p:cNvSpPr>
          <p:nvPr>
            <p:ph type="title"/>
          </p:nvPr>
        </p:nvSpPr>
        <p:spPr/>
        <p:txBody>
          <a:bodyPr/>
          <a:lstStyle/>
          <a:p>
            <a:pPr algn="r" eaLnBrk="1" hangingPunct="1"/>
            <a:r>
              <a:rPr lang="en-US" altLang="en-US" dirty="0" smtClean="0"/>
              <a:t>Access Control Overview</a:t>
            </a:r>
          </a:p>
        </p:txBody>
      </p:sp>
      <p:sp>
        <p:nvSpPr>
          <p:cNvPr id="6148" name="Rectangle 3"/>
          <p:cNvSpPr>
            <a:spLocks noGrp="1" noChangeArrowheads="1"/>
          </p:cNvSpPr>
          <p:nvPr>
            <p:ph type="body" idx="1"/>
          </p:nvPr>
        </p:nvSpPr>
        <p:spPr/>
        <p:txBody>
          <a:bodyPr/>
          <a:lstStyle/>
          <a:p>
            <a:pPr eaLnBrk="1" hangingPunct="1">
              <a:lnSpc>
                <a:spcPct val="80000"/>
              </a:lnSpc>
            </a:pPr>
            <a:r>
              <a:rPr lang="en-US" altLang="en-US" sz="2800"/>
              <a:t>Access Controls:  The security features that control how users and systems communicate and interact with one another.</a:t>
            </a:r>
          </a:p>
          <a:p>
            <a:pPr eaLnBrk="1" hangingPunct="1">
              <a:lnSpc>
                <a:spcPct val="80000"/>
              </a:lnSpc>
            </a:pPr>
            <a:r>
              <a:rPr lang="en-US" altLang="en-US" sz="2800"/>
              <a:t>Access:  The flow of information between subject and object</a:t>
            </a:r>
          </a:p>
          <a:p>
            <a:pPr eaLnBrk="1" hangingPunct="1">
              <a:lnSpc>
                <a:spcPct val="80000"/>
              </a:lnSpc>
            </a:pPr>
            <a:r>
              <a:rPr lang="en-US" altLang="en-US" sz="2800"/>
              <a:t>Subject:  An active entity that requests access to an object or the data in an object</a:t>
            </a:r>
          </a:p>
          <a:p>
            <a:pPr eaLnBrk="1" hangingPunct="1">
              <a:lnSpc>
                <a:spcPct val="80000"/>
              </a:lnSpc>
            </a:pPr>
            <a:r>
              <a:rPr lang="en-US" altLang="en-US" sz="2800"/>
              <a:t>Object:  A passive entity that contains information</a:t>
            </a:r>
          </a:p>
          <a:p>
            <a:pPr eaLnBrk="1" hangingPunct="1">
              <a:lnSpc>
                <a:spcPct val="80000"/>
              </a:lnSpc>
            </a:pPr>
            <a:endParaRPr lang="en-US" altLang="en-US" sz="2800"/>
          </a:p>
        </p:txBody>
      </p:sp>
    </p:spTree>
    <p:extLst>
      <p:ext uri="{BB962C8B-B14F-4D97-AF65-F5344CB8AC3E}">
        <p14:creationId xmlns:p14="http://schemas.microsoft.com/office/powerpoint/2010/main" val="966802970"/>
      </p:ext>
    </p:extLst>
  </p:cSld>
  <p:clrMapOvr>
    <a:masterClrMapping/>
  </p:clrMapOvr>
  <p:transition spd="slow">
    <p:wipe dir="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35AC3D15-DF39-49BB-BC86-B73CEDC59FC4}" type="slidenum">
              <a:rPr lang="en-US" altLang="en-US" sz="1000">
                <a:solidFill>
                  <a:srgbClr val="D9CFAB"/>
                </a:solidFill>
              </a:rPr>
              <a:pPr>
                <a:spcBef>
                  <a:spcPct val="0"/>
                </a:spcBef>
                <a:buFontTx/>
                <a:buNone/>
              </a:pPr>
              <a:t>30</a:t>
            </a:fld>
            <a:endParaRPr lang="en-US" altLang="en-US" sz="1400">
              <a:solidFill>
                <a:srgbClr val="D9CFAB"/>
              </a:solidFill>
              <a:latin typeface="Times" panose="02020603050405020304" pitchFamily="18" charset="0"/>
            </a:endParaRPr>
          </a:p>
        </p:txBody>
      </p:sp>
      <p:sp>
        <p:nvSpPr>
          <p:cNvPr id="8195" name="Rectangle 2"/>
          <p:cNvSpPr>
            <a:spLocks noGrp="1" noChangeArrowheads="1"/>
          </p:cNvSpPr>
          <p:nvPr>
            <p:ph type="title"/>
          </p:nvPr>
        </p:nvSpPr>
        <p:spPr/>
        <p:txBody>
          <a:bodyPr/>
          <a:lstStyle/>
          <a:p>
            <a:pPr algn="r" eaLnBrk="1" hangingPunct="1"/>
            <a:r>
              <a:rPr lang="en-US" altLang="en-US" smtClean="0"/>
              <a:t>Security Principles</a:t>
            </a:r>
          </a:p>
        </p:txBody>
      </p:sp>
      <p:sp>
        <p:nvSpPr>
          <p:cNvPr id="8196" name="Rectangle 3"/>
          <p:cNvSpPr>
            <a:spLocks noGrp="1" noChangeArrowheads="1"/>
          </p:cNvSpPr>
          <p:nvPr>
            <p:ph type="body" idx="1"/>
          </p:nvPr>
        </p:nvSpPr>
        <p:spPr/>
        <p:txBody>
          <a:bodyPr/>
          <a:lstStyle/>
          <a:p>
            <a:pPr eaLnBrk="1" hangingPunct="1"/>
            <a:r>
              <a:rPr lang="en-US" altLang="en-US" smtClean="0"/>
              <a:t>The three main security principles also pertain to access control:</a:t>
            </a:r>
          </a:p>
          <a:p>
            <a:pPr lvl="1" eaLnBrk="1" hangingPunct="1"/>
            <a:r>
              <a:rPr lang="en-US" altLang="en-US" smtClean="0"/>
              <a:t>Availability</a:t>
            </a:r>
          </a:p>
          <a:p>
            <a:pPr lvl="1" eaLnBrk="1" hangingPunct="1"/>
            <a:r>
              <a:rPr lang="en-US" altLang="en-US" smtClean="0"/>
              <a:t>Integrity</a:t>
            </a:r>
          </a:p>
          <a:p>
            <a:pPr lvl="1" eaLnBrk="1" hangingPunct="1"/>
            <a:r>
              <a:rPr lang="en-US" altLang="en-US" smtClean="0"/>
              <a:t>Confidentiality</a:t>
            </a:r>
          </a:p>
        </p:txBody>
      </p:sp>
    </p:spTree>
    <p:extLst>
      <p:ext uri="{BB962C8B-B14F-4D97-AF65-F5344CB8AC3E}">
        <p14:creationId xmlns:p14="http://schemas.microsoft.com/office/powerpoint/2010/main" val="1319211787"/>
      </p:ext>
    </p:extLst>
  </p:cSld>
  <p:clrMapOvr>
    <a:masterClrMapping/>
  </p:clrMapOvr>
  <p:transition spd="slow">
    <p:wipe dir="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15DF3D75-F55B-4A1F-9172-943DBFFD566D}" type="slidenum">
              <a:rPr lang="en-US" altLang="en-US" sz="1000">
                <a:solidFill>
                  <a:srgbClr val="D9CFAB"/>
                </a:solidFill>
              </a:rPr>
              <a:pPr>
                <a:spcBef>
                  <a:spcPct val="0"/>
                </a:spcBef>
                <a:buFontTx/>
                <a:buNone/>
              </a:pPr>
              <a:t>31</a:t>
            </a:fld>
            <a:endParaRPr lang="en-US" altLang="en-US" sz="1400">
              <a:solidFill>
                <a:srgbClr val="D9CFAB"/>
              </a:solidFill>
              <a:latin typeface="Times" panose="02020603050405020304" pitchFamily="18" charset="0"/>
            </a:endParaRPr>
          </a:p>
        </p:txBody>
      </p:sp>
      <p:sp>
        <p:nvSpPr>
          <p:cNvPr id="10243" name="Rectangle 2"/>
          <p:cNvSpPr>
            <a:spLocks noGrp="1" noChangeArrowheads="1"/>
          </p:cNvSpPr>
          <p:nvPr>
            <p:ph type="title"/>
          </p:nvPr>
        </p:nvSpPr>
        <p:spPr/>
        <p:txBody>
          <a:bodyPr/>
          <a:lstStyle/>
          <a:p>
            <a:pPr algn="r" eaLnBrk="1" hangingPunct="1"/>
            <a:r>
              <a:rPr lang="en-US" altLang="en-US" sz="2800"/>
              <a:t>Identification, Authentication, and Authorization</a:t>
            </a:r>
          </a:p>
        </p:txBody>
      </p:sp>
      <p:sp>
        <p:nvSpPr>
          <p:cNvPr id="10244" name="Rectangle 3"/>
          <p:cNvSpPr>
            <a:spLocks noGrp="1" noChangeArrowheads="1"/>
          </p:cNvSpPr>
          <p:nvPr>
            <p:ph type="body" idx="1"/>
          </p:nvPr>
        </p:nvSpPr>
        <p:spPr>
          <a:xfrm>
            <a:off x="1524000" y="1239839"/>
            <a:ext cx="8839200" cy="4575175"/>
          </a:xfrm>
        </p:spPr>
        <p:txBody>
          <a:bodyPr/>
          <a:lstStyle/>
          <a:p>
            <a:pPr eaLnBrk="1" hangingPunct="1">
              <a:lnSpc>
                <a:spcPct val="90000"/>
              </a:lnSpc>
            </a:pPr>
            <a:r>
              <a:rPr lang="en-US" altLang="en-US" sz="2800"/>
              <a:t>Identification, Authentication, and Authorization are distinct functions.</a:t>
            </a:r>
          </a:p>
          <a:p>
            <a:pPr lvl="1" eaLnBrk="1" hangingPunct="1">
              <a:lnSpc>
                <a:spcPct val="90000"/>
              </a:lnSpc>
            </a:pPr>
            <a:r>
              <a:rPr lang="en-US" altLang="en-US" sz="2400"/>
              <a:t>Identification</a:t>
            </a:r>
          </a:p>
          <a:p>
            <a:pPr lvl="1" eaLnBrk="1" hangingPunct="1">
              <a:lnSpc>
                <a:spcPct val="90000"/>
              </a:lnSpc>
            </a:pPr>
            <a:r>
              <a:rPr lang="en-US" altLang="en-US" sz="2400"/>
              <a:t>Authentication</a:t>
            </a:r>
          </a:p>
          <a:p>
            <a:pPr lvl="1" eaLnBrk="1" hangingPunct="1">
              <a:lnSpc>
                <a:spcPct val="90000"/>
              </a:lnSpc>
            </a:pPr>
            <a:r>
              <a:rPr lang="en-US" altLang="en-US" sz="2400"/>
              <a:t>Authorization</a:t>
            </a:r>
          </a:p>
          <a:p>
            <a:pPr eaLnBrk="1" hangingPunct="1">
              <a:lnSpc>
                <a:spcPct val="90000"/>
              </a:lnSpc>
            </a:pPr>
            <a:endParaRPr lang="en-US" altLang="en-US" sz="2800"/>
          </a:p>
          <a:p>
            <a:pPr eaLnBrk="1" hangingPunct="1">
              <a:lnSpc>
                <a:spcPct val="90000"/>
              </a:lnSpc>
            </a:pPr>
            <a:r>
              <a:rPr lang="en-US" altLang="en-US" sz="2800"/>
              <a:t>Identity Management:  A broad term to include the use of different products to identify, authenticate, and authorize users through automated means.</a:t>
            </a:r>
          </a:p>
        </p:txBody>
      </p:sp>
    </p:spTree>
    <p:extLst>
      <p:ext uri="{BB962C8B-B14F-4D97-AF65-F5344CB8AC3E}">
        <p14:creationId xmlns:p14="http://schemas.microsoft.com/office/powerpoint/2010/main" val="2612130264"/>
      </p:ext>
    </p:extLst>
  </p:cSld>
  <p:clrMapOvr>
    <a:masterClrMapping/>
  </p:clrMapOvr>
  <p:transition spd="slow">
    <p:wipe dir="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973D86AF-C61E-4FED-8A7F-D21B3B57BE59}" type="slidenum">
              <a:rPr lang="en-US" altLang="en-US" sz="1000">
                <a:solidFill>
                  <a:srgbClr val="D9CFAB"/>
                </a:solidFill>
              </a:rPr>
              <a:pPr>
                <a:spcBef>
                  <a:spcPct val="0"/>
                </a:spcBef>
                <a:buFontTx/>
                <a:buNone/>
              </a:pPr>
              <a:t>32</a:t>
            </a:fld>
            <a:endParaRPr lang="en-US" altLang="en-US" sz="1400">
              <a:solidFill>
                <a:srgbClr val="D9CFAB"/>
              </a:solidFill>
              <a:latin typeface="Times" panose="02020603050405020304" pitchFamily="18" charset="0"/>
            </a:endParaRPr>
          </a:p>
        </p:txBody>
      </p:sp>
      <p:sp>
        <p:nvSpPr>
          <p:cNvPr id="11267" name="Rectangle 2"/>
          <p:cNvSpPr>
            <a:spLocks noGrp="1" noChangeArrowheads="1"/>
          </p:cNvSpPr>
          <p:nvPr>
            <p:ph type="title"/>
          </p:nvPr>
        </p:nvSpPr>
        <p:spPr/>
        <p:txBody>
          <a:bodyPr/>
          <a:lstStyle/>
          <a:p>
            <a:pPr algn="r" eaLnBrk="1" hangingPunct="1"/>
            <a:r>
              <a:rPr lang="en-US" altLang="en-US" smtClean="0"/>
              <a:t>Identification</a:t>
            </a:r>
          </a:p>
        </p:txBody>
      </p:sp>
      <p:sp>
        <p:nvSpPr>
          <p:cNvPr id="11268" name="Rectangle 3"/>
          <p:cNvSpPr>
            <a:spLocks noGrp="1" noChangeArrowheads="1"/>
          </p:cNvSpPr>
          <p:nvPr>
            <p:ph type="body" idx="1"/>
          </p:nvPr>
        </p:nvSpPr>
        <p:spPr/>
        <p:txBody>
          <a:bodyPr/>
          <a:lstStyle/>
          <a:p>
            <a:pPr eaLnBrk="1" hangingPunct="1"/>
            <a:r>
              <a:rPr lang="en-US" altLang="en-US" smtClean="0"/>
              <a:t>Identification</a:t>
            </a:r>
          </a:p>
          <a:p>
            <a:pPr lvl="1" eaLnBrk="1" hangingPunct="1"/>
            <a:r>
              <a:rPr lang="en-US" altLang="en-US" smtClean="0"/>
              <a:t>Method of establishing the subject’s (user, program, process) identity.</a:t>
            </a:r>
          </a:p>
          <a:p>
            <a:pPr lvl="2" eaLnBrk="1" hangingPunct="1"/>
            <a:r>
              <a:rPr lang="en-US" altLang="en-US" smtClean="0"/>
              <a:t>Use of user name or other public information.</a:t>
            </a:r>
          </a:p>
          <a:p>
            <a:pPr lvl="2" eaLnBrk="1" hangingPunct="1"/>
            <a:r>
              <a:rPr lang="en-US" altLang="en-US" smtClean="0"/>
              <a:t>Know identification component requirements.</a:t>
            </a:r>
          </a:p>
        </p:txBody>
      </p:sp>
    </p:spTree>
    <p:extLst>
      <p:ext uri="{BB962C8B-B14F-4D97-AF65-F5344CB8AC3E}">
        <p14:creationId xmlns:p14="http://schemas.microsoft.com/office/powerpoint/2010/main" val="2462990150"/>
      </p:ext>
    </p:extLst>
  </p:cSld>
  <p:clrMapOvr>
    <a:masterClrMapping/>
  </p:clrMapOvr>
  <p:transition spd="slow">
    <p:wipe dir="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600CE93B-675C-4746-B8CD-5378A169981E}" type="slidenum">
              <a:rPr lang="en-US" altLang="en-US" sz="1000">
                <a:solidFill>
                  <a:srgbClr val="D9CFAB"/>
                </a:solidFill>
              </a:rPr>
              <a:pPr>
                <a:spcBef>
                  <a:spcPct val="0"/>
                </a:spcBef>
                <a:buFontTx/>
                <a:buNone/>
              </a:pPr>
              <a:t>33</a:t>
            </a:fld>
            <a:endParaRPr lang="en-US" altLang="en-US" sz="1400">
              <a:solidFill>
                <a:srgbClr val="D9CFAB"/>
              </a:solidFill>
              <a:latin typeface="Times" panose="02020603050405020304" pitchFamily="18" charset="0"/>
            </a:endParaRPr>
          </a:p>
        </p:txBody>
      </p:sp>
      <p:sp>
        <p:nvSpPr>
          <p:cNvPr id="13315" name="Rectangle 2"/>
          <p:cNvSpPr>
            <a:spLocks noGrp="1" noChangeArrowheads="1"/>
          </p:cNvSpPr>
          <p:nvPr>
            <p:ph type="title"/>
          </p:nvPr>
        </p:nvSpPr>
        <p:spPr/>
        <p:txBody>
          <a:bodyPr/>
          <a:lstStyle/>
          <a:p>
            <a:pPr algn="r" eaLnBrk="1" hangingPunct="1"/>
            <a:r>
              <a:rPr lang="en-US" altLang="en-US" smtClean="0"/>
              <a:t>Authentication</a:t>
            </a:r>
          </a:p>
        </p:txBody>
      </p:sp>
      <p:sp>
        <p:nvSpPr>
          <p:cNvPr id="13316" name="Rectangle 3"/>
          <p:cNvSpPr>
            <a:spLocks noGrp="1" noChangeArrowheads="1"/>
          </p:cNvSpPr>
          <p:nvPr>
            <p:ph type="body" idx="1"/>
          </p:nvPr>
        </p:nvSpPr>
        <p:spPr/>
        <p:txBody>
          <a:bodyPr/>
          <a:lstStyle/>
          <a:p>
            <a:pPr eaLnBrk="1" hangingPunct="1"/>
            <a:r>
              <a:rPr lang="en-US" altLang="en-US" sz="3200"/>
              <a:t>Authentication</a:t>
            </a:r>
          </a:p>
          <a:p>
            <a:pPr lvl="1" eaLnBrk="1" hangingPunct="1"/>
            <a:r>
              <a:rPr lang="en-US" altLang="en-US" sz="2800"/>
              <a:t>Method of proving the identity.</a:t>
            </a:r>
          </a:p>
          <a:p>
            <a:pPr lvl="2" eaLnBrk="1" hangingPunct="1"/>
            <a:r>
              <a:rPr lang="en-US" altLang="en-US" sz="2600"/>
              <a:t>Something a person is, has, or knows.</a:t>
            </a:r>
          </a:p>
          <a:p>
            <a:pPr lvl="2" eaLnBrk="1" hangingPunct="1"/>
            <a:r>
              <a:rPr lang="en-US" altLang="en-US" sz="2600"/>
              <a:t>Use of biometrics, passwords, passphrase, token, or other private information.</a:t>
            </a:r>
          </a:p>
          <a:p>
            <a:pPr lvl="2" eaLnBrk="1" hangingPunct="1"/>
            <a:endParaRPr lang="en-US" altLang="en-US" sz="2600"/>
          </a:p>
          <a:p>
            <a:pPr eaLnBrk="1" hangingPunct="1"/>
            <a:r>
              <a:rPr lang="en-US" altLang="en-US" sz="3200"/>
              <a:t>Strong Authentication is important</a:t>
            </a:r>
          </a:p>
          <a:p>
            <a:pPr lvl="2" eaLnBrk="1" hangingPunct="1"/>
            <a:endParaRPr lang="en-US" altLang="en-US" sz="2600"/>
          </a:p>
        </p:txBody>
      </p:sp>
    </p:spTree>
    <p:extLst>
      <p:ext uri="{BB962C8B-B14F-4D97-AF65-F5344CB8AC3E}">
        <p14:creationId xmlns:p14="http://schemas.microsoft.com/office/powerpoint/2010/main" val="1765854815"/>
      </p:ext>
    </p:extLst>
  </p:cSld>
  <p:clrMapOvr>
    <a:masterClrMapping/>
  </p:clrMapOvr>
  <p:transition spd="slow">
    <p:wipe dir="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CA0B75A4-DAF6-4B7E-A960-18AC9405EFB7}" type="slidenum">
              <a:rPr lang="en-US" altLang="en-US" sz="1000">
                <a:solidFill>
                  <a:srgbClr val="D9CFAB"/>
                </a:solidFill>
              </a:rPr>
              <a:pPr>
                <a:spcBef>
                  <a:spcPct val="0"/>
                </a:spcBef>
                <a:buFontTx/>
                <a:buNone/>
              </a:pPr>
              <a:t>34</a:t>
            </a:fld>
            <a:endParaRPr lang="en-US" altLang="en-US" sz="1400">
              <a:solidFill>
                <a:srgbClr val="D9CFAB"/>
              </a:solidFill>
              <a:latin typeface="Times" panose="02020603050405020304" pitchFamily="18" charset="0"/>
            </a:endParaRPr>
          </a:p>
        </p:txBody>
      </p:sp>
      <p:sp>
        <p:nvSpPr>
          <p:cNvPr id="15363" name="Rectangle 2"/>
          <p:cNvSpPr>
            <a:spLocks noGrp="1" noChangeArrowheads="1"/>
          </p:cNvSpPr>
          <p:nvPr>
            <p:ph type="title"/>
          </p:nvPr>
        </p:nvSpPr>
        <p:spPr/>
        <p:txBody>
          <a:bodyPr/>
          <a:lstStyle/>
          <a:p>
            <a:pPr algn="r" eaLnBrk="1" hangingPunct="1"/>
            <a:r>
              <a:rPr lang="en-US" altLang="en-US" smtClean="0"/>
              <a:t>Authentication</a:t>
            </a:r>
          </a:p>
        </p:txBody>
      </p:sp>
      <p:sp>
        <p:nvSpPr>
          <p:cNvPr id="15364" name="Rectangle 3"/>
          <p:cNvSpPr>
            <a:spLocks noGrp="1" noChangeArrowheads="1"/>
          </p:cNvSpPr>
          <p:nvPr>
            <p:ph type="body" idx="1"/>
          </p:nvPr>
        </p:nvSpPr>
        <p:spPr/>
        <p:txBody>
          <a:bodyPr/>
          <a:lstStyle/>
          <a:p>
            <a:pPr eaLnBrk="1" hangingPunct="1">
              <a:lnSpc>
                <a:spcPct val="90000"/>
              </a:lnSpc>
            </a:pPr>
            <a:r>
              <a:rPr lang="en-US" altLang="en-US" sz="3200"/>
              <a:t>Biometrics</a:t>
            </a:r>
          </a:p>
          <a:p>
            <a:pPr lvl="1" eaLnBrk="1" hangingPunct="1">
              <a:lnSpc>
                <a:spcPct val="90000"/>
              </a:lnSpc>
            </a:pPr>
            <a:r>
              <a:rPr lang="en-US" altLang="en-US" sz="2800"/>
              <a:t>Verifies an identity by analyzing a unique person attribute or behavior (e.g., what a person “is”).</a:t>
            </a:r>
          </a:p>
          <a:p>
            <a:pPr eaLnBrk="1" hangingPunct="1">
              <a:lnSpc>
                <a:spcPct val="90000"/>
              </a:lnSpc>
            </a:pPr>
            <a:r>
              <a:rPr lang="en-US" altLang="en-US" sz="3200"/>
              <a:t>Most expensive way to prove identity, also has difficulties with user acceptance.</a:t>
            </a:r>
          </a:p>
          <a:p>
            <a:pPr eaLnBrk="1" hangingPunct="1">
              <a:lnSpc>
                <a:spcPct val="90000"/>
              </a:lnSpc>
            </a:pPr>
            <a:r>
              <a:rPr lang="en-US" altLang="en-US" sz="3200"/>
              <a:t>Many different types of biometric systems, know the most common.</a:t>
            </a:r>
          </a:p>
        </p:txBody>
      </p:sp>
    </p:spTree>
    <p:extLst>
      <p:ext uri="{BB962C8B-B14F-4D97-AF65-F5344CB8AC3E}">
        <p14:creationId xmlns:p14="http://schemas.microsoft.com/office/powerpoint/2010/main" val="155311365"/>
      </p:ext>
    </p:extLst>
  </p:cSld>
  <p:clrMapOvr>
    <a:masterClrMapping/>
  </p:clrMapOvr>
  <p:transition spd="slow">
    <p:wipe dir="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39225CBF-A0ED-4A5A-85A8-36EC470D8EA3}" type="slidenum">
              <a:rPr lang="en-US" altLang="en-US" sz="1000">
                <a:solidFill>
                  <a:srgbClr val="D9CFAB"/>
                </a:solidFill>
              </a:rPr>
              <a:pPr>
                <a:spcBef>
                  <a:spcPct val="0"/>
                </a:spcBef>
                <a:buFontTx/>
                <a:buNone/>
              </a:pPr>
              <a:t>35</a:t>
            </a:fld>
            <a:endParaRPr lang="en-US" altLang="en-US" sz="1400">
              <a:solidFill>
                <a:srgbClr val="D9CFAB"/>
              </a:solidFill>
              <a:latin typeface="Times" panose="02020603050405020304" pitchFamily="18" charset="0"/>
            </a:endParaRPr>
          </a:p>
        </p:txBody>
      </p:sp>
      <p:sp>
        <p:nvSpPr>
          <p:cNvPr id="17411" name="Rectangle 2"/>
          <p:cNvSpPr>
            <a:spLocks noGrp="1" noChangeArrowheads="1"/>
          </p:cNvSpPr>
          <p:nvPr>
            <p:ph type="title"/>
          </p:nvPr>
        </p:nvSpPr>
        <p:spPr/>
        <p:txBody>
          <a:bodyPr/>
          <a:lstStyle/>
          <a:p>
            <a:pPr algn="r" eaLnBrk="1" hangingPunct="1"/>
            <a:r>
              <a:rPr lang="en-US" altLang="en-US" smtClean="0"/>
              <a:t>Authentication</a:t>
            </a:r>
          </a:p>
        </p:txBody>
      </p:sp>
      <p:sp>
        <p:nvSpPr>
          <p:cNvPr id="17412" name="Rectangle 3"/>
          <p:cNvSpPr>
            <a:spLocks noGrp="1" noChangeArrowheads="1"/>
          </p:cNvSpPr>
          <p:nvPr>
            <p:ph type="body" idx="1"/>
          </p:nvPr>
        </p:nvSpPr>
        <p:spPr>
          <a:xfrm>
            <a:off x="1524000" y="1239839"/>
            <a:ext cx="8839200" cy="4624387"/>
          </a:xfrm>
        </p:spPr>
        <p:txBody>
          <a:bodyPr/>
          <a:lstStyle/>
          <a:p>
            <a:pPr eaLnBrk="1" hangingPunct="1">
              <a:lnSpc>
                <a:spcPct val="80000"/>
              </a:lnSpc>
            </a:pPr>
            <a:r>
              <a:rPr lang="en-US" altLang="en-US" sz="3200"/>
              <a:t>Some common biometric systems:</a:t>
            </a:r>
          </a:p>
          <a:p>
            <a:pPr lvl="1" eaLnBrk="1" hangingPunct="1">
              <a:lnSpc>
                <a:spcPct val="80000"/>
              </a:lnSpc>
            </a:pPr>
            <a:r>
              <a:rPr lang="en-US" altLang="en-US" sz="2800"/>
              <a:t>Fingerprint</a:t>
            </a:r>
          </a:p>
          <a:p>
            <a:pPr lvl="1" eaLnBrk="1" hangingPunct="1">
              <a:lnSpc>
                <a:spcPct val="80000"/>
              </a:lnSpc>
            </a:pPr>
            <a:r>
              <a:rPr lang="en-US" altLang="en-US" sz="2800"/>
              <a:t>Palm Scan</a:t>
            </a:r>
          </a:p>
          <a:p>
            <a:pPr lvl="1" eaLnBrk="1" hangingPunct="1">
              <a:lnSpc>
                <a:spcPct val="80000"/>
              </a:lnSpc>
            </a:pPr>
            <a:r>
              <a:rPr lang="en-US" altLang="en-US" sz="2800"/>
              <a:t>Iris Scan</a:t>
            </a:r>
          </a:p>
          <a:p>
            <a:pPr lvl="1" eaLnBrk="1" hangingPunct="1">
              <a:lnSpc>
                <a:spcPct val="80000"/>
              </a:lnSpc>
            </a:pPr>
            <a:r>
              <a:rPr lang="en-US" altLang="en-US" sz="2800"/>
              <a:t>Keyboard Dynamics</a:t>
            </a:r>
          </a:p>
          <a:p>
            <a:pPr lvl="1" eaLnBrk="1" hangingPunct="1">
              <a:lnSpc>
                <a:spcPct val="80000"/>
              </a:lnSpc>
            </a:pPr>
            <a:r>
              <a:rPr lang="en-US" altLang="en-US" sz="2800"/>
              <a:t>Voice Print</a:t>
            </a:r>
          </a:p>
          <a:p>
            <a:pPr lvl="1" eaLnBrk="1" hangingPunct="1">
              <a:lnSpc>
                <a:spcPct val="80000"/>
              </a:lnSpc>
            </a:pPr>
            <a:r>
              <a:rPr lang="en-US" altLang="en-US" sz="2800"/>
              <a:t>Facial Scan</a:t>
            </a:r>
          </a:p>
        </p:txBody>
      </p:sp>
    </p:spTree>
    <p:extLst>
      <p:ext uri="{BB962C8B-B14F-4D97-AF65-F5344CB8AC3E}">
        <p14:creationId xmlns:p14="http://schemas.microsoft.com/office/powerpoint/2010/main" val="2388424371"/>
      </p:ext>
    </p:extLst>
  </p:cSld>
  <p:clrMapOvr>
    <a:masterClrMapping/>
  </p:clrMapOvr>
  <p:transition spd="slow">
    <p:wipe dir="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3F90385F-8039-41F3-B0E5-20BF88532BAA}" type="slidenum">
              <a:rPr lang="en-US" altLang="en-US" sz="1000">
                <a:solidFill>
                  <a:srgbClr val="D9CFAB"/>
                </a:solidFill>
              </a:rPr>
              <a:pPr>
                <a:spcBef>
                  <a:spcPct val="0"/>
                </a:spcBef>
                <a:buFontTx/>
                <a:buNone/>
              </a:pPr>
              <a:t>36</a:t>
            </a:fld>
            <a:endParaRPr lang="en-US" altLang="en-US" sz="1400">
              <a:solidFill>
                <a:srgbClr val="D9CFAB"/>
              </a:solidFill>
              <a:latin typeface="Times" panose="02020603050405020304" pitchFamily="18" charset="0"/>
            </a:endParaRPr>
          </a:p>
        </p:txBody>
      </p:sp>
      <p:sp>
        <p:nvSpPr>
          <p:cNvPr id="19459" name="Rectangle 2"/>
          <p:cNvSpPr>
            <a:spLocks noGrp="1" noChangeArrowheads="1"/>
          </p:cNvSpPr>
          <p:nvPr>
            <p:ph type="title"/>
          </p:nvPr>
        </p:nvSpPr>
        <p:spPr/>
        <p:txBody>
          <a:bodyPr/>
          <a:lstStyle/>
          <a:p>
            <a:pPr algn="r" eaLnBrk="1" hangingPunct="1"/>
            <a:r>
              <a:rPr lang="en-US" altLang="en-US" smtClean="0"/>
              <a:t>Authentication</a:t>
            </a:r>
          </a:p>
        </p:txBody>
      </p:sp>
      <p:sp>
        <p:nvSpPr>
          <p:cNvPr id="19460" name="Rectangle 3"/>
          <p:cNvSpPr>
            <a:spLocks noGrp="1" noChangeArrowheads="1"/>
          </p:cNvSpPr>
          <p:nvPr>
            <p:ph type="body" idx="1"/>
          </p:nvPr>
        </p:nvSpPr>
        <p:spPr/>
        <p:txBody>
          <a:bodyPr/>
          <a:lstStyle/>
          <a:p>
            <a:pPr eaLnBrk="1" hangingPunct="1"/>
            <a:r>
              <a:rPr lang="en-US" altLang="en-US" smtClean="0"/>
              <a:t>Passwords</a:t>
            </a:r>
          </a:p>
          <a:p>
            <a:pPr lvl="1" eaLnBrk="1" hangingPunct="1"/>
            <a:r>
              <a:rPr lang="en-US" altLang="en-US" smtClean="0"/>
              <a:t>User name + password most common identification, authentication scheme.</a:t>
            </a:r>
          </a:p>
          <a:p>
            <a:pPr lvl="1" eaLnBrk="1" hangingPunct="1"/>
            <a:r>
              <a:rPr lang="en-US" altLang="en-US" smtClean="0"/>
              <a:t>Weak security mechanism, must implement strong password protections</a:t>
            </a:r>
          </a:p>
          <a:p>
            <a:pPr lvl="1" eaLnBrk="1" hangingPunct="1"/>
            <a:r>
              <a:rPr lang="en-US" altLang="en-US" smtClean="0"/>
              <a:t>Implement Clipping Levels</a:t>
            </a:r>
          </a:p>
        </p:txBody>
      </p:sp>
    </p:spTree>
    <p:extLst>
      <p:ext uri="{BB962C8B-B14F-4D97-AF65-F5344CB8AC3E}">
        <p14:creationId xmlns:p14="http://schemas.microsoft.com/office/powerpoint/2010/main" val="4240742061"/>
      </p:ext>
    </p:extLst>
  </p:cSld>
  <p:clrMapOvr>
    <a:masterClrMapping/>
  </p:clrMapOvr>
  <p:transition spd="slow">
    <p:wipe dir="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E7C60FFE-188F-45AF-A6A7-8E7879418452}" type="slidenum">
              <a:rPr lang="en-US" altLang="en-US" sz="1000">
                <a:solidFill>
                  <a:srgbClr val="D9CFAB"/>
                </a:solidFill>
              </a:rPr>
              <a:pPr>
                <a:spcBef>
                  <a:spcPct val="0"/>
                </a:spcBef>
                <a:buFontTx/>
                <a:buNone/>
              </a:pPr>
              <a:t>37</a:t>
            </a:fld>
            <a:endParaRPr lang="en-US" altLang="en-US" sz="1400">
              <a:solidFill>
                <a:srgbClr val="D9CFAB"/>
              </a:solidFill>
              <a:latin typeface="Times" panose="02020603050405020304" pitchFamily="18" charset="0"/>
            </a:endParaRPr>
          </a:p>
        </p:txBody>
      </p:sp>
      <p:sp>
        <p:nvSpPr>
          <p:cNvPr id="21507" name="Rectangle 2"/>
          <p:cNvSpPr>
            <a:spLocks noGrp="1" noChangeArrowheads="1"/>
          </p:cNvSpPr>
          <p:nvPr>
            <p:ph type="title"/>
          </p:nvPr>
        </p:nvSpPr>
        <p:spPr/>
        <p:txBody>
          <a:bodyPr/>
          <a:lstStyle/>
          <a:p>
            <a:pPr algn="r" eaLnBrk="1" hangingPunct="1"/>
            <a:r>
              <a:rPr lang="en-US" altLang="en-US" smtClean="0"/>
              <a:t>Authentication</a:t>
            </a:r>
          </a:p>
        </p:txBody>
      </p:sp>
      <p:sp>
        <p:nvSpPr>
          <p:cNvPr id="21508" name="Rectangle 3"/>
          <p:cNvSpPr>
            <a:spLocks noGrp="1" noChangeArrowheads="1"/>
          </p:cNvSpPr>
          <p:nvPr>
            <p:ph type="body" idx="1"/>
          </p:nvPr>
        </p:nvSpPr>
        <p:spPr>
          <a:xfrm>
            <a:off x="1524000" y="1239838"/>
            <a:ext cx="8839200" cy="4386262"/>
          </a:xfrm>
        </p:spPr>
        <p:txBody>
          <a:bodyPr>
            <a:normAutofit lnSpcReduction="10000"/>
          </a:bodyPr>
          <a:lstStyle/>
          <a:p>
            <a:pPr eaLnBrk="1" hangingPunct="1"/>
            <a:r>
              <a:rPr lang="en-US" altLang="en-US" sz="3200"/>
              <a:t>Techniques to attack passwords</a:t>
            </a:r>
          </a:p>
          <a:p>
            <a:pPr lvl="1" eaLnBrk="1" hangingPunct="1"/>
            <a:r>
              <a:rPr lang="en-US" altLang="en-US" sz="2800"/>
              <a:t>Electronic monitoring</a:t>
            </a:r>
          </a:p>
          <a:p>
            <a:pPr lvl="1" eaLnBrk="1" hangingPunct="1"/>
            <a:r>
              <a:rPr lang="en-US" altLang="en-US" sz="2800"/>
              <a:t>Access the password file</a:t>
            </a:r>
          </a:p>
          <a:p>
            <a:pPr lvl="1" eaLnBrk="1" hangingPunct="1"/>
            <a:r>
              <a:rPr lang="en-US" altLang="en-US" sz="2800"/>
              <a:t>Brute Force Attacks</a:t>
            </a:r>
          </a:p>
          <a:p>
            <a:pPr lvl="1" eaLnBrk="1" hangingPunct="1"/>
            <a:r>
              <a:rPr lang="en-US" altLang="en-US" sz="2800"/>
              <a:t>Dictionary Attacks</a:t>
            </a:r>
          </a:p>
          <a:p>
            <a:pPr lvl="1" eaLnBrk="1" hangingPunct="1"/>
            <a:r>
              <a:rPr lang="en-US" altLang="en-US" sz="2800"/>
              <a:t>Social Engineering</a:t>
            </a:r>
          </a:p>
          <a:p>
            <a:pPr eaLnBrk="1" hangingPunct="1"/>
            <a:r>
              <a:rPr lang="en-US" altLang="en-US" sz="3200"/>
              <a:t>Know difference between a password checker and a password cracker. </a:t>
            </a:r>
          </a:p>
        </p:txBody>
      </p:sp>
    </p:spTree>
    <p:extLst>
      <p:ext uri="{BB962C8B-B14F-4D97-AF65-F5344CB8AC3E}">
        <p14:creationId xmlns:p14="http://schemas.microsoft.com/office/powerpoint/2010/main" val="3810609620"/>
      </p:ext>
    </p:extLst>
  </p:cSld>
  <p:clrMapOvr>
    <a:masterClrMapping/>
  </p:clrMapOvr>
  <p:transition spd="slow">
    <p:wipe dir="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411DB7E7-E4EE-4805-AEB5-ED17DACF9C1F}" type="slidenum">
              <a:rPr lang="en-US" altLang="en-US" sz="1000">
                <a:solidFill>
                  <a:srgbClr val="D9CFAB"/>
                </a:solidFill>
              </a:rPr>
              <a:pPr>
                <a:spcBef>
                  <a:spcPct val="0"/>
                </a:spcBef>
                <a:buFontTx/>
                <a:buNone/>
              </a:pPr>
              <a:t>38</a:t>
            </a:fld>
            <a:endParaRPr lang="en-US" altLang="en-US" sz="1400">
              <a:solidFill>
                <a:srgbClr val="D9CFAB"/>
              </a:solidFill>
              <a:latin typeface="Times" panose="02020603050405020304" pitchFamily="18" charset="0"/>
            </a:endParaRPr>
          </a:p>
        </p:txBody>
      </p:sp>
      <p:sp>
        <p:nvSpPr>
          <p:cNvPr id="23555" name="Rectangle 2"/>
          <p:cNvSpPr>
            <a:spLocks noGrp="1" noChangeArrowheads="1"/>
          </p:cNvSpPr>
          <p:nvPr>
            <p:ph type="title"/>
          </p:nvPr>
        </p:nvSpPr>
        <p:spPr/>
        <p:txBody>
          <a:bodyPr/>
          <a:lstStyle/>
          <a:p>
            <a:pPr algn="r" eaLnBrk="1" hangingPunct="1"/>
            <a:r>
              <a:rPr lang="en-US" altLang="en-US" smtClean="0"/>
              <a:t>Authentication</a:t>
            </a:r>
          </a:p>
        </p:txBody>
      </p:sp>
      <p:sp>
        <p:nvSpPr>
          <p:cNvPr id="23556" name="Rectangle 3"/>
          <p:cNvSpPr>
            <a:spLocks noGrp="1" noChangeArrowheads="1"/>
          </p:cNvSpPr>
          <p:nvPr>
            <p:ph type="body" idx="1"/>
          </p:nvPr>
        </p:nvSpPr>
        <p:spPr/>
        <p:txBody>
          <a:bodyPr/>
          <a:lstStyle/>
          <a:p>
            <a:pPr eaLnBrk="1" hangingPunct="1"/>
            <a:r>
              <a:rPr lang="en-US" altLang="en-US" smtClean="0"/>
              <a:t>Passphrase</a:t>
            </a:r>
          </a:p>
          <a:p>
            <a:pPr lvl="1" eaLnBrk="1" hangingPunct="1"/>
            <a:r>
              <a:rPr lang="en-US" altLang="en-US" smtClean="0"/>
              <a:t>Is a sequence of characters that is longer than a password.</a:t>
            </a:r>
          </a:p>
          <a:p>
            <a:pPr lvl="1" eaLnBrk="1" hangingPunct="1"/>
            <a:r>
              <a:rPr lang="en-US" altLang="en-US" smtClean="0"/>
              <a:t>Takes the place of a password.</a:t>
            </a:r>
          </a:p>
          <a:p>
            <a:pPr lvl="1" eaLnBrk="1" hangingPunct="1"/>
            <a:r>
              <a:rPr lang="en-US" altLang="en-US" smtClean="0"/>
              <a:t>Can be more secure than a password because it is more complex.</a:t>
            </a:r>
          </a:p>
        </p:txBody>
      </p:sp>
    </p:spTree>
    <p:extLst>
      <p:ext uri="{BB962C8B-B14F-4D97-AF65-F5344CB8AC3E}">
        <p14:creationId xmlns:p14="http://schemas.microsoft.com/office/powerpoint/2010/main" val="2758954111"/>
      </p:ext>
    </p:extLst>
  </p:cSld>
  <p:clrMapOvr>
    <a:masterClrMapping/>
  </p:clrMapOvr>
  <p:transition spd="slow">
    <p:wipe dir="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56AA1E68-0468-4A71-9CB5-FCC578EB666E}" type="slidenum">
              <a:rPr lang="en-US" altLang="en-US" sz="1000">
                <a:solidFill>
                  <a:srgbClr val="D9CFAB"/>
                </a:solidFill>
              </a:rPr>
              <a:pPr>
                <a:spcBef>
                  <a:spcPct val="0"/>
                </a:spcBef>
                <a:buFontTx/>
                <a:buNone/>
              </a:pPr>
              <a:t>39</a:t>
            </a:fld>
            <a:endParaRPr lang="en-US" altLang="en-US" sz="1400">
              <a:solidFill>
                <a:srgbClr val="D9CFAB"/>
              </a:solidFill>
              <a:latin typeface="Times" panose="02020603050405020304" pitchFamily="18" charset="0"/>
            </a:endParaRPr>
          </a:p>
        </p:txBody>
      </p:sp>
      <p:sp>
        <p:nvSpPr>
          <p:cNvPr id="25603" name="Rectangle 2"/>
          <p:cNvSpPr>
            <a:spLocks noGrp="1" noChangeArrowheads="1"/>
          </p:cNvSpPr>
          <p:nvPr>
            <p:ph type="title"/>
          </p:nvPr>
        </p:nvSpPr>
        <p:spPr/>
        <p:txBody>
          <a:bodyPr/>
          <a:lstStyle/>
          <a:p>
            <a:pPr algn="r" eaLnBrk="1" hangingPunct="1"/>
            <a:r>
              <a:rPr lang="en-US" altLang="en-US" smtClean="0"/>
              <a:t>Authentication</a:t>
            </a:r>
          </a:p>
        </p:txBody>
      </p:sp>
      <p:sp>
        <p:nvSpPr>
          <p:cNvPr id="25604" name="Rectangle 3"/>
          <p:cNvSpPr>
            <a:spLocks noGrp="1" noChangeArrowheads="1"/>
          </p:cNvSpPr>
          <p:nvPr>
            <p:ph type="body" idx="1"/>
          </p:nvPr>
        </p:nvSpPr>
        <p:spPr/>
        <p:txBody>
          <a:bodyPr/>
          <a:lstStyle/>
          <a:p>
            <a:pPr eaLnBrk="1" hangingPunct="1"/>
            <a:r>
              <a:rPr lang="en-US" altLang="en-US" smtClean="0"/>
              <a:t>One Time Passwords (aka Dynamic Passwords)	</a:t>
            </a:r>
          </a:p>
          <a:p>
            <a:pPr lvl="1" eaLnBrk="1" hangingPunct="1"/>
            <a:r>
              <a:rPr lang="en-US" altLang="en-US" smtClean="0"/>
              <a:t>Used for authentication purposes and are only good once.</a:t>
            </a:r>
          </a:p>
          <a:p>
            <a:pPr lvl="1" eaLnBrk="1" hangingPunct="1"/>
            <a:r>
              <a:rPr lang="en-US" altLang="en-US" smtClean="0"/>
              <a:t>Can be generated in software (soft tokens), or in a piece of hardware</a:t>
            </a:r>
          </a:p>
        </p:txBody>
      </p:sp>
    </p:spTree>
    <p:extLst>
      <p:ext uri="{BB962C8B-B14F-4D97-AF65-F5344CB8AC3E}">
        <p14:creationId xmlns:p14="http://schemas.microsoft.com/office/powerpoint/2010/main" val="3179976464"/>
      </p:ext>
    </p:extLst>
  </p:cSld>
  <p:clrMapOvr>
    <a:masterClrMapping/>
  </p:clrMapOvr>
  <p:transition spd="slow">
    <p:wipe dir="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46B0407A-20D4-433E-9D1D-6DFBFEACCECF}" type="slidenum">
              <a:rPr lang="en-US" altLang="en-US" sz="1000">
                <a:solidFill>
                  <a:srgbClr val="D9CFAB"/>
                </a:solidFill>
              </a:rPr>
              <a:pPr>
                <a:spcBef>
                  <a:spcPct val="0"/>
                </a:spcBef>
                <a:buFontTx/>
                <a:buNone/>
              </a:pPr>
              <a:t>40</a:t>
            </a:fld>
            <a:endParaRPr lang="en-US" altLang="en-US" sz="1400">
              <a:solidFill>
                <a:srgbClr val="D9CFAB"/>
              </a:solidFill>
              <a:latin typeface="Times" panose="02020603050405020304" pitchFamily="18" charset="0"/>
            </a:endParaRPr>
          </a:p>
        </p:txBody>
      </p:sp>
      <p:sp>
        <p:nvSpPr>
          <p:cNvPr id="27651" name="Rectangle 2"/>
          <p:cNvSpPr>
            <a:spLocks noGrp="1" noChangeArrowheads="1"/>
          </p:cNvSpPr>
          <p:nvPr>
            <p:ph type="title"/>
          </p:nvPr>
        </p:nvSpPr>
        <p:spPr/>
        <p:txBody>
          <a:bodyPr/>
          <a:lstStyle/>
          <a:p>
            <a:pPr algn="r" eaLnBrk="1" hangingPunct="1"/>
            <a:r>
              <a:rPr lang="en-US" altLang="en-US" smtClean="0"/>
              <a:t>Authentication</a:t>
            </a:r>
          </a:p>
        </p:txBody>
      </p:sp>
      <p:sp>
        <p:nvSpPr>
          <p:cNvPr id="27652" name="Rectangle 3"/>
          <p:cNvSpPr>
            <a:spLocks noGrp="1" noChangeArrowheads="1"/>
          </p:cNvSpPr>
          <p:nvPr>
            <p:ph type="body" idx="1"/>
          </p:nvPr>
        </p:nvSpPr>
        <p:spPr>
          <a:xfrm>
            <a:off x="1524000" y="1239839"/>
            <a:ext cx="8839200" cy="4562475"/>
          </a:xfrm>
        </p:spPr>
        <p:txBody>
          <a:bodyPr/>
          <a:lstStyle/>
          <a:p>
            <a:pPr eaLnBrk="1" hangingPunct="1">
              <a:lnSpc>
                <a:spcPct val="90000"/>
              </a:lnSpc>
            </a:pPr>
            <a:r>
              <a:rPr lang="en-US" altLang="en-US" smtClean="0"/>
              <a:t>Smart Cards and Memory Cards</a:t>
            </a:r>
          </a:p>
          <a:p>
            <a:pPr lvl="1" eaLnBrk="1" hangingPunct="1">
              <a:lnSpc>
                <a:spcPct val="90000"/>
              </a:lnSpc>
            </a:pPr>
            <a:r>
              <a:rPr lang="en-US" altLang="en-US" smtClean="0"/>
              <a:t>Memory Cards:  Holds but cannot process information.</a:t>
            </a:r>
          </a:p>
          <a:p>
            <a:pPr lvl="1" eaLnBrk="1" hangingPunct="1">
              <a:lnSpc>
                <a:spcPct val="90000"/>
              </a:lnSpc>
            </a:pPr>
            <a:r>
              <a:rPr lang="en-US" altLang="en-US" smtClean="0"/>
              <a:t>Smart Cards:  Holds and can process information.</a:t>
            </a:r>
          </a:p>
          <a:p>
            <a:pPr lvl="2" eaLnBrk="1" hangingPunct="1">
              <a:lnSpc>
                <a:spcPct val="90000"/>
              </a:lnSpc>
            </a:pPr>
            <a:r>
              <a:rPr lang="en-US" altLang="en-US" smtClean="0"/>
              <a:t>Contact</a:t>
            </a:r>
          </a:p>
          <a:p>
            <a:pPr lvl="2" eaLnBrk="1" hangingPunct="1">
              <a:lnSpc>
                <a:spcPct val="90000"/>
              </a:lnSpc>
            </a:pPr>
            <a:r>
              <a:rPr lang="en-US" altLang="en-US" smtClean="0"/>
              <a:t>Contactless</a:t>
            </a:r>
          </a:p>
          <a:p>
            <a:pPr lvl="3" eaLnBrk="1" hangingPunct="1">
              <a:lnSpc>
                <a:spcPct val="90000"/>
              </a:lnSpc>
            </a:pPr>
            <a:r>
              <a:rPr lang="en-US" altLang="en-US" smtClean="0"/>
              <a:t>Hybrid</a:t>
            </a:r>
          </a:p>
          <a:p>
            <a:pPr lvl="3" eaLnBrk="1" hangingPunct="1">
              <a:lnSpc>
                <a:spcPct val="90000"/>
              </a:lnSpc>
            </a:pPr>
            <a:r>
              <a:rPr lang="en-US" altLang="en-US" smtClean="0"/>
              <a:t>Combi</a:t>
            </a:r>
          </a:p>
        </p:txBody>
      </p:sp>
    </p:spTree>
    <p:extLst>
      <p:ext uri="{BB962C8B-B14F-4D97-AF65-F5344CB8AC3E}">
        <p14:creationId xmlns:p14="http://schemas.microsoft.com/office/powerpoint/2010/main" val="1072383813"/>
      </p:ext>
    </p:extLst>
  </p:cSld>
  <p:clrMapOvr>
    <a:masterClrMapping/>
  </p:clrMapOvr>
  <p:transition spd="slow">
    <p:wipe dir="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9AC2F5DF-1CBC-4809-B70E-2C8CFAB03ED7}" type="slidenum">
              <a:rPr lang="en-US" altLang="en-US" sz="1000">
                <a:solidFill>
                  <a:srgbClr val="D9CFAB"/>
                </a:solidFill>
              </a:rPr>
              <a:pPr>
                <a:spcBef>
                  <a:spcPct val="0"/>
                </a:spcBef>
                <a:buFontTx/>
                <a:buNone/>
              </a:pPr>
              <a:t>41</a:t>
            </a:fld>
            <a:endParaRPr lang="en-US" altLang="en-US" sz="1400">
              <a:solidFill>
                <a:srgbClr val="D9CFAB"/>
              </a:solidFill>
              <a:latin typeface="Times" panose="02020603050405020304" pitchFamily="18" charset="0"/>
            </a:endParaRPr>
          </a:p>
        </p:txBody>
      </p:sp>
      <p:sp>
        <p:nvSpPr>
          <p:cNvPr id="29699" name="Rectangle 2"/>
          <p:cNvSpPr>
            <a:spLocks noGrp="1" noChangeArrowheads="1"/>
          </p:cNvSpPr>
          <p:nvPr>
            <p:ph type="title"/>
          </p:nvPr>
        </p:nvSpPr>
        <p:spPr/>
        <p:txBody>
          <a:bodyPr/>
          <a:lstStyle/>
          <a:p>
            <a:pPr algn="r" eaLnBrk="1" hangingPunct="1"/>
            <a:r>
              <a:rPr lang="en-US" altLang="en-US" smtClean="0"/>
              <a:t>Authentication</a:t>
            </a:r>
          </a:p>
        </p:txBody>
      </p:sp>
      <p:sp>
        <p:nvSpPr>
          <p:cNvPr id="29700" name="Rectangle 3"/>
          <p:cNvSpPr>
            <a:spLocks noGrp="1" noChangeArrowheads="1"/>
          </p:cNvSpPr>
          <p:nvPr>
            <p:ph type="body" idx="1"/>
          </p:nvPr>
        </p:nvSpPr>
        <p:spPr/>
        <p:txBody>
          <a:bodyPr>
            <a:normAutofit fontScale="92500" lnSpcReduction="10000"/>
          </a:bodyPr>
          <a:lstStyle/>
          <a:p>
            <a:pPr eaLnBrk="1" hangingPunct="1"/>
            <a:r>
              <a:rPr lang="en-US" altLang="en-US" sz="3200"/>
              <a:t>Attacks on Smart Cards</a:t>
            </a:r>
          </a:p>
          <a:p>
            <a:pPr lvl="1" eaLnBrk="1" hangingPunct="1"/>
            <a:r>
              <a:rPr lang="en-US" altLang="en-US" sz="2800"/>
              <a:t>Fault Generation</a:t>
            </a:r>
          </a:p>
          <a:p>
            <a:pPr lvl="1" eaLnBrk="1" hangingPunct="1"/>
            <a:r>
              <a:rPr lang="en-US" altLang="en-US" sz="2800"/>
              <a:t>Microprobing</a:t>
            </a:r>
          </a:p>
          <a:p>
            <a:pPr lvl="1" eaLnBrk="1" hangingPunct="1"/>
            <a:r>
              <a:rPr lang="en-US" altLang="en-US" sz="2800"/>
              <a:t>Side Channel Attacks (nonintrusive attacks)</a:t>
            </a:r>
          </a:p>
          <a:p>
            <a:pPr lvl="2" eaLnBrk="1" hangingPunct="1"/>
            <a:r>
              <a:rPr lang="en-US" altLang="en-US" sz="2600"/>
              <a:t>Differential Power Analysis</a:t>
            </a:r>
          </a:p>
          <a:p>
            <a:pPr lvl="2" eaLnBrk="1" hangingPunct="1"/>
            <a:r>
              <a:rPr lang="en-US" altLang="en-US" sz="2600"/>
              <a:t>Electromagnetic Analysis</a:t>
            </a:r>
          </a:p>
          <a:p>
            <a:pPr lvl="2" eaLnBrk="1" hangingPunct="1"/>
            <a:r>
              <a:rPr lang="en-US" altLang="en-US" sz="2600"/>
              <a:t>Timing</a:t>
            </a:r>
          </a:p>
          <a:p>
            <a:pPr lvl="2" eaLnBrk="1" hangingPunct="1"/>
            <a:r>
              <a:rPr lang="en-US" altLang="en-US" sz="2600"/>
              <a:t>Software attacks</a:t>
            </a:r>
          </a:p>
        </p:txBody>
      </p:sp>
    </p:spTree>
    <p:extLst>
      <p:ext uri="{BB962C8B-B14F-4D97-AF65-F5344CB8AC3E}">
        <p14:creationId xmlns:p14="http://schemas.microsoft.com/office/powerpoint/2010/main" val="2299647760"/>
      </p:ext>
    </p:extLst>
  </p:cSld>
  <p:clrMapOvr>
    <a:masterClrMapping/>
  </p:clrMapOvr>
  <p:transition spd="slow">
    <p:wipe dir="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F85C2030-8BA8-44AC-8CDF-43BAD447ECA7}" type="slidenum">
              <a:rPr lang="en-US" altLang="en-US" sz="1000">
                <a:solidFill>
                  <a:srgbClr val="D9CFAB"/>
                </a:solidFill>
              </a:rPr>
              <a:pPr>
                <a:spcBef>
                  <a:spcPct val="0"/>
                </a:spcBef>
                <a:buFontTx/>
                <a:buNone/>
              </a:pPr>
              <a:t>42</a:t>
            </a:fld>
            <a:endParaRPr lang="en-US" altLang="en-US" sz="1400">
              <a:solidFill>
                <a:srgbClr val="D9CFAB"/>
              </a:solidFill>
              <a:latin typeface="Times" panose="02020603050405020304" pitchFamily="18" charset="0"/>
            </a:endParaRPr>
          </a:p>
        </p:txBody>
      </p:sp>
      <p:sp>
        <p:nvSpPr>
          <p:cNvPr id="31747" name="Rectangle 2"/>
          <p:cNvSpPr>
            <a:spLocks noGrp="1" noChangeArrowheads="1"/>
          </p:cNvSpPr>
          <p:nvPr>
            <p:ph type="title"/>
          </p:nvPr>
        </p:nvSpPr>
        <p:spPr/>
        <p:txBody>
          <a:bodyPr/>
          <a:lstStyle/>
          <a:p>
            <a:pPr algn="r" eaLnBrk="1" hangingPunct="1"/>
            <a:r>
              <a:rPr lang="en-US" altLang="en-US" smtClean="0"/>
              <a:t>Authentication</a:t>
            </a:r>
          </a:p>
        </p:txBody>
      </p:sp>
      <p:sp>
        <p:nvSpPr>
          <p:cNvPr id="31748" name="Rectangle 3"/>
          <p:cNvSpPr>
            <a:spLocks noGrp="1" noChangeArrowheads="1"/>
          </p:cNvSpPr>
          <p:nvPr>
            <p:ph type="body" idx="1"/>
          </p:nvPr>
        </p:nvSpPr>
        <p:spPr>
          <a:xfrm>
            <a:off x="1524000" y="1239839"/>
            <a:ext cx="8839200" cy="4537075"/>
          </a:xfrm>
        </p:spPr>
        <p:txBody>
          <a:bodyPr/>
          <a:lstStyle/>
          <a:p>
            <a:pPr eaLnBrk="1" hangingPunct="1">
              <a:lnSpc>
                <a:spcPct val="90000"/>
              </a:lnSpc>
            </a:pPr>
            <a:r>
              <a:rPr lang="en-US" altLang="en-US" sz="3200"/>
              <a:t>Hashing &amp; Encryption</a:t>
            </a:r>
          </a:p>
          <a:p>
            <a:pPr lvl="1" eaLnBrk="1" hangingPunct="1">
              <a:lnSpc>
                <a:spcPct val="90000"/>
              </a:lnSpc>
            </a:pPr>
            <a:r>
              <a:rPr lang="en-US" altLang="en-US" sz="2800"/>
              <a:t>Hash or encrypting a password to ensure that passwords are not sent in clear text (means extra security)</a:t>
            </a:r>
          </a:p>
          <a:p>
            <a:pPr eaLnBrk="1" hangingPunct="1">
              <a:lnSpc>
                <a:spcPct val="90000"/>
              </a:lnSpc>
            </a:pPr>
            <a:r>
              <a:rPr lang="en-US" altLang="en-US" sz="3200"/>
              <a:t>Salts:  Random values added to encryption process for additional complexity.</a:t>
            </a:r>
          </a:p>
        </p:txBody>
      </p:sp>
    </p:spTree>
    <p:extLst>
      <p:ext uri="{BB962C8B-B14F-4D97-AF65-F5344CB8AC3E}">
        <p14:creationId xmlns:p14="http://schemas.microsoft.com/office/powerpoint/2010/main" val="741268484"/>
      </p:ext>
    </p:extLst>
  </p:cSld>
  <p:clrMapOvr>
    <a:masterClrMapping/>
  </p:clrMapOvr>
  <p:transition spd="slow">
    <p:wipe dir="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86BCA34F-220D-4F6A-8F41-9F5265597092}" type="slidenum">
              <a:rPr lang="en-US" altLang="en-US" sz="1000">
                <a:solidFill>
                  <a:srgbClr val="D9CFAB"/>
                </a:solidFill>
              </a:rPr>
              <a:pPr>
                <a:spcBef>
                  <a:spcPct val="0"/>
                </a:spcBef>
                <a:buFontTx/>
                <a:buNone/>
              </a:pPr>
              <a:t>43</a:t>
            </a:fld>
            <a:endParaRPr lang="en-US" altLang="en-US" sz="1400">
              <a:solidFill>
                <a:srgbClr val="D9CFAB"/>
              </a:solidFill>
              <a:latin typeface="Times" panose="02020603050405020304" pitchFamily="18" charset="0"/>
            </a:endParaRPr>
          </a:p>
        </p:txBody>
      </p:sp>
      <p:sp>
        <p:nvSpPr>
          <p:cNvPr id="33795" name="Rectangle 2"/>
          <p:cNvSpPr>
            <a:spLocks noGrp="1" noChangeArrowheads="1"/>
          </p:cNvSpPr>
          <p:nvPr>
            <p:ph type="title"/>
          </p:nvPr>
        </p:nvSpPr>
        <p:spPr/>
        <p:txBody>
          <a:bodyPr/>
          <a:lstStyle/>
          <a:p>
            <a:pPr algn="r" eaLnBrk="1" hangingPunct="1"/>
            <a:r>
              <a:rPr lang="en-US" altLang="en-US" smtClean="0"/>
              <a:t>Authentication</a:t>
            </a:r>
          </a:p>
        </p:txBody>
      </p:sp>
      <p:sp>
        <p:nvSpPr>
          <p:cNvPr id="33796" name="Rectangle 3"/>
          <p:cNvSpPr>
            <a:spLocks noGrp="1" noChangeArrowheads="1"/>
          </p:cNvSpPr>
          <p:nvPr>
            <p:ph type="body" idx="1"/>
          </p:nvPr>
        </p:nvSpPr>
        <p:spPr/>
        <p:txBody>
          <a:bodyPr/>
          <a:lstStyle/>
          <a:p>
            <a:pPr eaLnBrk="1" hangingPunct="1">
              <a:lnSpc>
                <a:spcPct val="90000"/>
              </a:lnSpc>
            </a:pPr>
            <a:r>
              <a:rPr lang="en-US" altLang="en-US" smtClean="0"/>
              <a:t>Cryptographic Keys</a:t>
            </a:r>
          </a:p>
          <a:p>
            <a:pPr lvl="1" eaLnBrk="1" hangingPunct="1">
              <a:lnSpc>
                <a:spcPct val="90000"/>
              </a:lnSpc>
            </a:pPr>
            <a:r>
              <a:rPr lang="en-US" altLang="en-US" smtClean="0"/>
              <a:t>Use of private keys or digital signatures to prove identity</a:t>
            </a:r>
          </a:p>
          <a:p>
            <a:pPr eaLnBrk="1" hangingPunct="1">
              <a:lnSpc>
                <a:spcPct val="90000"/>
              </a:lnSpc>
            </a:pPr>
            <a:r>
              <a:rPr lang="en-US" altLang="en-US" smtClean="0"/>
              <a:t>Private Key</a:t>
            </a:r>
          </a:p>
          <a:p>
            <a:pPr eaLnBrk="1" hangingPunct="1">
              <a:lnSpc>
                <a:spcPct val="90000"/>
              </a:lnSpc>
            </a:pPr>
            <a:r>
              <a:rPr lang="en-US" altLang="en-US" smtClean="0"/>
              <a:t>Digital Signature</a:t>
            </a:r>
          </a:p>
          <a:p>
            <a:pPr lvl="1" eaLnBrk="1" hangingPunct="1">
              <a:lnSpc>
                <a:spcPct val="90000"/>
              </a:lnSpc>
            </a:pPr>
            <a:r>
              <a:rPr lang="en-US" altLang="en-US" smtClean="0"/>
              <a:t>Beware digital signature vs. digitized signature.</a:t>
            </a:r>
          </a:p>
        </p:txBody>
      </p:sp>
    </p:spTree>
    <p:extLst>
      <p:ext uri="{BB962C8B-B14F-4D97-AF65-F5344CB8AC3E}">
        <p14:creationId xmlns:p14="http://schemas.microsoft.com/office/powerpoint/2010/main" val="1202157059"/>
      </p:ext>
    </p:extLst>
  </p:cSld>
  <p:clrMapOvr>
    <a:masterClrMapping/>
  </p:clrMapOvr>
  <p:transition spd="slow">
    <p:wipe dir="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92D61583-B879-4AD6-9326-4592AC3576BC}" type="slidenum">
              <a:rPr lang="en-US" altLang="en-US" sz="1000">
                <a:solidFill>
                  <a:srgbClr val="D9CFAB"/>
                </a:solidFill>
              </a:rPr>
              <a:pPr>
                <a:spcBef>
                  <a:spcPct val="0"/>
                </a:spcBef>
                <a:buFontTx/>
                <a:buNone/>
              </a:pPr>
              <a:t>44</a:t>
            </a:fld>
            <a:endParaRPr lang="en-US" altLang="en-US" sz="1400">
              <a:solidFill>
                <a:srgbClr val="D9CFAB"/>
              </a:solidFill>
              <a:latin typeface="Times" panose="02020603050405020304" pitchFamily="18" charset="0"/>
            </a:endParaRPr>
          </a:p>
        </p:txBody>
      </p:sp>
      <p:sp>
        <p:nvSpPr>
          <p:cNvPr id="35843" name="Rectangle 2"/>
          <p:cNvSpPr>
            <a:spLocks noGrp="1" noChangeArrowheads="1"/>
          </p:cNvSpPr>
          <p:nvPr>
            <p:ph type="title"/>
          </p:nvPr>
        </p:nvSpPr>
        <p:spPr/>
        <p:txBody>
          <a:bodyPr/>
          <a:lstStyle/>
          <a:p>
            <a:pPr algn="r" eaLnBrk="1" hangingPunct="1"/>
            <a:r>
              <a:rPr lang="en-US" altLang="en-US" smtClean="0"/>
              <a:t>Authorization</a:t>
            </a:r>
          </a:p>
        </p:txBody>
      </p:sp>
      <p:sp>
        <p:nvSpPr>
          <p:cNvPr id="35844" name="Rectangle 3"/>
          <p:cNvSpPr>
            <a:spLocks noGrp="1" noChangeArrowheads="1"/>
          </p:cNvSpPr>
          <p:nvPr>
            <p:ph type="body" idx="1"/>
          </p:nvPr>
        </p:nvSpPr>
        <p:spPr/>
        <p:txBody>
          <a:bodyPr/>
          <a:lstStyle/>
          <a:p>
            <a:pPr eaLnBrk="1" hangingPunct="1"/>
            <a:r>
              <a:rPr lang="en-US" altLang="en-US" smtClean="0"/>
              <a:t>Authorization</a:t>
            </a:r>
          </a:p>
          <a:p>
            <a:pPr lvl="1" eaLnBrk="1" hangingPunct="1"/>
            <a:r>
              <a:rPr lang="en-US" altLang="en-US" smtClean="0"/>
              <a:t>Determines that the proven identity has some set of characteristics associated with it that gives it the right to access the requested resources. </a:t>
            </a:r>
          </a:p>
        </p:txBody>
      </p:sp>
    </p:spTree>
    <p:extLst>
      <p:ext uri="{BB962C8B-B14F-4D97-AF65-F5344CB8AC3E}">
        <p14:creationId xmlns:p14="http://schemas.microsoft.com/office/powerpoint/2010/main" val="3753919737"/>
      </p:ext>
    </p:extLst>
  </p:cSld>
  <p:clrMapOvr>
    <a:masterClrMapping/>
  </p:clrMapOvr>
  <p:transition spd="slow">
    <p:wipe dir="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620080C5-60A4-4508-AE91-17C38BD753EB}" type="slidenum">
              <a:rPr lang="en-US" altLang="en-US" sz="1000">
                <a:solidFill>
                  <a:srgbClr val="D9CFAB"/>
                </a:solidFill>
              </a:rPr>
              <a:pPr>
                <a:spcBef>
                  <a:spcPct val="0"/>
                </a:spcBef>
                <a:buFontTx/>
                <a:buNone/>
              </a:pPr>
              <a:t>45</a:t>
            </a:fld>
            <a:endParaRPr lang="en-US" altLang="en-US" sz="1400">
              <a:solidFill>
                <a:srgbClr val="D9CFAB"/>
              </a:solidFill>
              <a:latin typeface="Times" panose="02020603050405020304" pitchFamily="18" charset="0"/>
            </a:endParaRPr>
          </a:p>
        </p:txBody>
      </p:sp>
      <p:sp>
        <p:nvSpPr>
          <p:cNvPr id="37891" name="Rectangle 2"/>
          <p:cNvSpPr>
            <a:spLocks noGrp="1" noChangeArrowheads="1"/>
          </p:cNvSpPr>
          <p:nvPr>
            <p:ph type="title"/>
          </p:nvPr>
        </p:nvSpPr>
        <p:spPr/>
        <p:txBody>
          <a:bodyPr/>
          <a:lstStyle/>
          <a:p>
            <a:pPr algn="r" eaLnBrk="1" hangingPunct="1"/>
            <a:r>
              <a:rPr lang="en-US" altLang="en-US" smtClean="0"/>
              <a:t>Authorization</a:t>
            </a:r>
          </a:p>
        </p:txBody>
      </p:sp>
      <p:sp>
        <p:nvSpPr>
          <p:cNvPr id="37892" name="Rectangle 3"/>
          <p:cNvSpPr>
            <a:spLocks noGrp="1" noChangeArrowheads="1"/>
          </p:cNvSpPr>
          <p:nvPr>
            <p:ph type="body" idx="1"/>
          </p:nvPr>
        </p:nvSpPr>
        <p:spPr/>
        <p:txBody>
          <a:bodyPr/>
          <a:lstStyle/>
          <a:p>
            <a:pPr eaLnBrk="1" hangingPunct="1"/>
            <a:r>
              <a:rPr lang="en-US" altLang="en-US" smtClean="0"/>
              <a:t>Access Criteria can be thought of as:</a:t>
            </a:r>
          </a:p>
          <a:p>
            <a:pPr lvl="1" eaLnBrk="1" hangingPunct="1"/>
            <a:r>
              <a:rPr lang="en-US" altLang="en-US" smtClean="0"/>
              <a:t>Roles</a:t>
            </a:r>
          </a:p>
          <a:p>
            <a:pPr lvl="1" eaLnBrk="1" hangingPunct="1"/>
            <a:r>
              <a:rPr lang="en-US" altLang="en-US" smtClean="0"/>
              <a:t>Groups</a:t>
            </a:r>
          </a:p>
          <a:p>
            <a:pPr lvl="1" eaLnBrk="1" hangingPunct="1"/>
            <a:r>
              <a:rPr lang="en-US" altLang="en-US" smtClean="0"/>
              <a:t>Location</a:t>
            </a:r>
          </a:p>
          <a:p>
            <a:pPr lvl="1" eaLnBrk="1" hangingPunct="1"/>
            <a:r>
              <a:rPr lang="en-US" altLang="en-US" smtClean="0"/>
              <a:t>Time</a:t>
            </a:r>
          </a:p>
          <a:p>
            <a:pPr lvl="1" eaLnBrk="1" hangingPunct="1"/>
            <a:r>
              <a:rPr lang="en-US" altLang="en-US" smtClean="0"/>
              <a:t>Transaction Types</a:t>
            </a:r>
          </a:p>
        </p:txBody>
      </p:sp>
    </p:spTree>
    <p:extLst>
      <p:ext uri="{BB962C8B-B14F-4D97-AF65-F5344CB8AC3E}">
        <p14:creationId xmlns:p14="http://schemas.microsoft.com/office/powerpoint/2010/main" val="1922435948"/>
      </p:ext>
    </p:extLst>
  </p:cSld>
  <p:clrMapOvr>
    <a:masterClrMapping/>
  </p:clrMapOvr>
  <p:transition spd="slow">
    <p:wipe dir="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C86A48E9-CDF1-43E6-A317-301C84979FB2}" type="slidenum">
              <a:rPr lang="en-US" altLang="en-US" sz="1000">
                <a:solidFill>
                  <a:srgbClr val="D9CFAB"/>
                </a:solidFill>
              </a:rPr>
              <a:pPr>
                <a:spcBef>
                  <a:spcPct val="0"/>
                </a:spcBef>
                <a:buFontTx/>
                <a:buNone/>
              </a:pPr>
              <a:t>46</a:t>
            </a:fld>
            <a:endParaRPr lang="en-US" altLang="en-US" sz="1400">
              <a:solidFill>
                <a:srgbClr val="D9CFAB"/>
              </a:solidFill>
              <a:latin typeface="Times" panose="02020603050405020304" pitchFamily="18" charset="0"/>
            </a:endParaRPr>
          </a:p>
        </p:txBody>
      </p:sp>
      <p:sp>
        <p:nvSpPr>
          <p:cNvPr id="39939" name="Rectangle 2"/>
          <p:cNvSpPr>
            <a:spLocks noGrp="1" noChangeArrowheads="1"/>
          </p:cNvSpPr>
          <p:nvPr>
            <p:ph type="title"/>
          </p:nvPr>
        </p:nvSpPr>
        <p:spPr/>
        <p:txBody>
          <a:bodyPr/>
          <a:lstStyle/>
          <a:p>
            <a:pPr algn="r" eaLnBrk="1" hangingPunct="1"/>
            <a:r>
              <a:rPr lang="en-US" altLang="en-US" smtClean="0"/>
              <a:t>Authorization</a:t>
            </a:r>
          </a:p>
        </p:txBody>
      </p:sp>
      <p:sp>
        <p:nvSpPr>
          <p:cNvPr id="39940" name="Rectangle 3"/>
          <p:cNvSpPr>
            <a:spLocks noGrp="1" noChangeArrowheads="1"/>
          </p:cNvSpPr>
          <p:nvPr>
            <p:ph type="body" idx="1"/>
          </p:nvPr>
        </p:nvSpPr>
        <p:spPr/>
        <p:txBody>
          <a:bodyPr/>
          <a:lstStyle/>
          <a:p>
            <a:pPr eaLnBrk="1" hangingPunct="1"/>
            <a:r>
              <a:rPr lang="en-US" altLang="en-US" smtClean="0"/>
              <a:t>Authorization concepts to keep in mind:</a:t>
            </a:r>
          </a:p>
          <a:p>
            <a:pPr lvl="1" eaLnBrk="1" hangingPunct="1"/>
            <a:r>
              <a:rPr lang="en-US" altLang="en-US" smtClean="0"/>
              <a:t>Authorization Creep</a:t>
            </a:r>
          </a:p>
          <a:p>
            <a:pPr lvl="1" eaLnBrk="1" hangingPunct="1"/>
            <a:r>
              <a:rPr lang="en-US" altLang="en-US" smtClean="0"/>
              <a:t>Default to Zero</a:t>
            </a:r>
          </a:p>
          <a:p>
            <a:pPr lvl="1" eaLnBrk="1" hangingPunct="1"/>
            <a:r>
              <a:rPr lang="en-US" altLang="en-US" smtClean="0"/>
              <a:t>Need to Know Principle</a:t>
            </a:r>
          </a:p>
          <a:p>
            <a:pPr lvl="1" eaLnBrk="1" hangingPunct="1"/>
            <a:r>
              <a:rPr lang="en-US" altLang="en-US" smtClean="0"/>
              <a:t>Access Control Lists</a:t>
            </a:r>
          </a:p>
          <a:p>
            <a:pPr lvl="1" eaLnBrk="1" hangingPunct="1"/>
            <a:endParaRPr lang="en-US" altLang="en-US" smtClean="0"/>
          </a:p>
        </p:txBody>
      </p:sp>
    </p:spTree>
    <p:extLst>
      <p:ext uri="{BB962C8B-B14F-4D97-AF65-F5344CB8AC3E}">
        <p14:creationId xmlns:p14="http://schemas.microsoft.com/office/powerpoint/2010/main" val="4070076999"/>
      </p:ext>
    </p:extLst>
  </p:cSld>
  <p:clrMapOvr>
    <a:masterClrMapping/>
  </p:clrMapOvr>
  <p:transition spd="slow">
    <p:wipe dir="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FA999285-2DC0-4803-8457-17C1D19F5293}" type="slidenum">
              <a:rPr lang="en-US" altLang="en-US" sz="1000">
                <a:solidFill>
                  <a:srgbClr val="D9CFAB"/>
                </a:solidFill>
              </a:rPr>
              <a:pPr>
                <a:spcBef>
                  <a:spcPct val="0"/>
                </a:spcBef>
                <a:buFontTx/>
                <a:buNone/>
              </a:pPr>
              <a:t>47</a:t>
            </a:fld>
            <a:endParaRPr lang="en-US" altLang="en-US" sz="1400">
              <a:solidFill>
                <a:srgbClr val="D9CFAB"/>
              </a:solidFill>
              <a:latin typeface="Times" panose="02020603050405020304" pitchFamily="18" charset="0"/>
            </a:endParaRPr>
          </a:p>
        </p:txBody>
      </p:sp>
      <p:sp>
        <p:nvSpPr>
          <p:cNvPr id="41987" name="Rectangle 2"/>
          <p:cNvSpPr>
            <a:spLocks noGrp="1" noChangeArrowheads="1"/>
          </p:cNvSpPr>
          <p:nvPr>
            <p:ph type="title"/>
          </p:nvPr>
        </p:nvSpPr>
        <p:spPr/>
        <p:txBody>
          <a:bodyPr/>
          <a:lstStyle/>
          <a:p>
            <a:pPr algn="r" eaLnBrk="1" hangingPunct="1"/>
            <a:r>
              <a:rPr lang="en-US" altLang="en-US" smtClean="0"/>
              <a:t>Access Control Models</a:t>
            </a:r>
          </a:p>
        </p:txBody>
      </p:sp>
      <p:sp>
        <p:nvSpPr>
          <p:cNvPr id="41988" name="Rectangle 3"/>
          <p:cNvSpPr>
            <a:spLocks noGrp="1" noChangeArrowheads="1"/>
          </p:cNvSpPr>
          <p:nvPr>
            <p:ph type="body" idx="1"/>
          </p:nvPr>
        </p:nvSpPr>
        <p:spPr/>
        <p:txBody>
          <a:bodyPr/>
          <a:lstStyle/>
          <a:p>
            <a:pPr eaLnBrk="1" hangingPunct="1"/>
            <a:r>
              <a:rPr lang="en-US" altLang="en-US" smtClean="0"/>
              <a:t>Access Control Models:</a:t>
            </a:r>
          </a:p>
          <a:p>
            <a:pPr eaLnBrk="1" hangingPunct="1"/>
            <a:r>
              <a:rPr lang="en-US" altLang="en-US" smtClean="0"/>
              <a:t>Three Main Types</a:t>
            </a:r>
          </a:p>
          <a:p>
            <a:pPr lvl="1" eaLnBrk="1" hangingPunct="1"/>
            <a:r>
              <a:rPr lang="en-US" altLang="en-US" smtClean="0"/>
              <a:t>Discretionary</a:t>
            </a:r>
          </a:p>
          <a:p>
            <a:pPr lvl="1" eaLnBrk="1" hangingPunct="1"/>
            <a:r>
              <a:rPr lang="en-US" altLang="en-US" smtClean="0"/>
              <a:t>Mandatory</a:t>
            </a:r>
          </a:p>
          <a:p>
            <a:pPr lvl="1" eaLnBrk="1" hangingPunct="1"/>
            <a:r>
              <a:rPr lang="en-US" altLang="en-US" smtClean="0"/>
              <a:t>RBAC</a:t>
            </a:r>
          </a:p>
        </p:txBody>
      </p:sp>
    </p:spTree>
    <p:extLst>
      <p:ext uri="{BB962C8B-B14F-4D97-AF65-F5344CB8AC3E}">
        <p14:creationId xmlns:p14="http://schemas.microsoft.com/office/powerpoint/2010/main" val="2620081864"/>
      </p:ext>
    </p:extLst>
  </p:cSld>
  <p:clrMapOvr>
    <a:masterClrMapping/>
  </p:clrMapOvr>
  <p:transition spd="slow">
    <p:wipe dir="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B230C86A-2E33-412E-AA20-26E4420B908E}" type="slidenum">
              <a:rPr lang="en-US" altLang="en-US" sz="1000">
                <a:solidFill>
                  <a:srgbClr val="D9CFAB"/>
                </a:solidFill>
              </a:rPr>
              <a:pPr>
                <a:spcBef>
                  <a:spcPct val="0"/>
                </a:spcBef>
                <a:buFontTx/>
                <a:buNone/>
              </a:pPr>
              <a:t>48</a:t>
            </a:fld>
            <a:endParaRPr lang="en-US" altLang="en-US" sz="1400">
              <a:solidFill>
                <a:srgbClr val="D9CFAB"/>
              </a:solidFill>
              <a:latin typeface="Times" panose="02020603050405020304" pitchFamily="18" charset="0"/>
            </a:endParaRPr>
          </a:p>
        </p:txBody>
      </p:sp>
      <p:sp>
        <p:nvSpPr>
          <p:cNvPr id="44035" name="Rectangle 2"/>
          <p:cNvSpPr>
            <a:spLocks noGrp="1" noChangeArrowheads="1"/>
          </p:cNvSpPr>
          <p:nvPr>
            <p:ph type="title"/>
          </p:nvPr>
        </p:nvSpPr>
        <p:spPr/>
        <p:txBody>
          <a:bodyPr/>
          <a:lstStyle/>
          <a:p>
            <a:pPr algn="r" eaLnBrk="1" hangingPunct="1"/>
            <a:r>
              <a:rPr lang="en-US" altLang="en-US" smtClean="0"/>
              <a:t>Access Control Models</a:t>
            </a:r>
          </a:p>
        </p:txBody>
      </p:sp>
      <p:sp>
        <p:nvSpPr>
          <p:cNvPr id="44036" name="Rectangle 3"/>
          <p:cNvSpPr>
            <a:spLocks noGrp="1" noChangeArrowheads="1"/>
          </p:cNvSpPr>
          <p:nvPr>
            <p:ph type="body" idx="1"/>
          </p:nvPr>
        </p:nvSpPr>
        <p:spPr/>
        <p:txBody>
          <a:bodyPr/>
          <a:lstStyle/>
          <a:p>
            <a:pPr eaLnBrk="1" hangingPunct="1"/>
            <a:r>
              <a:rPr lang="en-US" altLang="en-US" smtClean="0"/>
              <a:t>Discretionary Access Control (DAC)</a:t>
            </a:r>
          </a:p>
          <a:p>
            <a:pPr lvl="1" eaLnBrk="1" hangingPunct="1"/>
            <a:r>
              <a:rPr lang="en-US" altLang="en-US" smtClean="0"/>
              <a:t>A system that uses discretionary access control allows the owner of the resource to specify which subjects can access which resources.</a:t>
            </a:r>
          </a:p>
          <a:p>
            <a:pPr lvl="1" eaLnBrk="1" hangingPunct="1"/>
            <a:r>
              <a:rPr lang="en-US" altLang="en-US" smtClean="0"/>
              <a:t>Access control is at the discretion of the owner.</a:t>
            </a:r>
          </a:p>
        </p:txBody>
      </p:sp>
    </p:spTree>
    <p:extLst>
      <p:ext uri="{BB962C8B-B14F-4D97-AF65-F5344CB8AC3E}">
        <p14:creationId xmlns:p14="http://schemas.microsoft.com/office/powerpoint/2010/main" val="3309600219"/>
      </p:ext>
    </p:extLst>
  </p:cSld>
  <p:clrMapOvr>
    <a:masterClrMapping/>
  </p:clrMapOvr>
  <p:transition spd="slow">
    <p:wipe dir="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6882F972-7975-40AD-8CF4-6AA6F7D7546A}" type="slidenum">
              <a:rPr lang="en-US" altLang="en-US" sz="1000">
                <a:solidFill>
                  <a:srgbClr val="D9CFAB"/>
                </a:solidFill>
              </a:rPr>
              <a:pPr>
                <a:spcBef>
                  <a:spcPct val="0"/>
                </a:spcBef>
                <a:buFontTx/>
                <a:buNone/>
              </a:pPr>
              <a:t>49</a:t>
            </a:fld>
            <a:endParaRPr lang="en-US" altLang="en-US" sz="1400">
              <a:solidFill>
                <a:srgbClr val="D9CFAB"/>
              </a:solidFill>
              <a:latin typeface="Times" panose="02020603050405020304" pitchFamily="18" charset="0"/>
            </a:endParaRPr>
          </a:p>
        </p:txBody>
      </p:sp>
      <p:sp>
        <p:nvSpPr>
          <p:cNvPr id="46083" name="Rectangle 2"/>
          <p:cNvSpPr>
            <a:spLocks noGrp="1" noChangeArrowheads="1"/>
          </p:cNvSpPr>
          <p:nvPr>
            <p:ph type="title"/>
          </p:nvPr>
        </p:nvSpPr>
        <p:spPr/>
        <p:txBody>
          <a:bodyPr/>
          <a:lstStyle/>
          <a:p>
            <a:pPr algn="r" eaLnBrk="1" hangingPunct="1"/>
            <a:r>
              <a:rPr lang="en-US" altLang="en-US" smtClean="0"/>
              <a:t>Access Control Models</a:t>
            </a:r>
          </a:p>
        </p:txBody>
      </p:sp>
      <p:sp>
        <p:nvSpPr>
          <p:cNvPr id="46084" name="Rectangle 3"/>
          <p:cNvSpPr>
            <a:spLocks noGrp="1" noChangeArrowheads="1"/>
          </p:cNvSpPr>
          <p:nvPr>
            <p:ph type="body" idx="1"/>
          </p:nvPr>
        </p:nvSpPr>
        <p:spPr>
          <a:xfrm>
            <a:off x="1524000" y="1239839"/>
            <a:ext cx="8839200" cy="4624387"/>
          </a:xfrm>
        </p:spPr>
        <p:txBody>
          <a:bodyPr/>
          <a:lstStyle/>
          <a:p>
            <a:pPr eaLnBrk="1" hangingPunct="1">
              <a:lnSpc>
                <a:spcPct val="90000"/>
              </a:lnSpc>
            </a:pPr>
            <a:r>
              <a:rPr lang="en-US" altLang="en-US" smtClean="0"/>
              <a:t>Mandatory Access Control (MAC)</a:t>
            </a:r>
          </a:p>
          <a:p>
            <a:pPr lvl="1" eaLnBrk="1" hangingPunct="1">
              <a:lnSpc>
                <a:spcPct val="90000"/>
              </a:lnSpc>
            </a:pPr>
            <a:r>
              <a:rPr lang="en-US" altLang="en-US" smtClean="0"/>
              <a:t>Access control is based on a security labeling system.  Users have security clearances and resources have security labels that contain data classifications.</a:t>
            </a:r>
          </a:p>
          <a:p>
            <a:pPr lvl="1" eaLnBrk="1" hangingPunct="1">
              <a:lnSpc>
                <a:spcPct val="90000"/>
              </a:lnSpc>
            </a:pPr>
            <a:r>
              <a:rPr lang="en-US" altLang="en-US" smtClean="0"/>
              <a:t>This model is used in environments where information classification and confidentiality is very important (e.g., the military).</a:t>
            </a:r>
          </a:p>
        </p:txBody>
      </p:sp>
    </p:spTree>
    <p:extLst>
      <p:ext uri="{BB962C8B-B14F-4D97-AF65-F5344CB8AC3E}">
        <p14:creationId xmlns:p14="http://schemas.microsoft.com/office/powerpoint/2010/main" val="1898061442"/>
      </p:ext>
    </p:extLst>
  </p:cSld>
  <p:clrMapOvr>
    <a:masterClrMapping/>
  </p:clrMapOvr>
  <p:transition spd="slow">
    <p:wipe dir="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66E0BB9F-5B81-48FC-8FB9-A731426E8802}" type="slidenum">
              <a:rPr lang="en-US" altLang="en-US" sz="1000">
                <a:solidFill>
                  <a:srgbClr val="D9CFAB"/>
                </a:solidFill>
              </a:rPr>
              <a:pPr>
                <a:spcBef>
                  <a:spcPct val="0"/>
                </a:spcBef>
                <a:buFontTx/>
                <a:buNone/>
              </a:pPr>
              <a:t>50</a:t>
            </a:fld>
            <a:endParaRPr lang="en-US" altLang="en-US" sz="1400">
              <a:solidFill>
                <a:srgbClr val="D9CFAB"/>
              </a:solidFill>
              <a:latin typeface="Times" panose="02020603050405020304" pitchFamily="18" charset="0"/>
            </a:endParaRPr>
          </a:p>
        </p:txBody>
      </p:sp>
      <p:sp>
        <p:nvSpPr>
          <p:cNvPr id="48131" name="Rectangle 2"/>
          <p:cNvSpPr>
            <a:spLocks noGrp="1" noChangeArrowheads="1"/>
          </p:cNvSpPr>
          <p:nvPr>
            <p:ph type="title"/>
          </p:nvPr>
        </p:nvSpPr>
        <p:spPr/>
        <p:txBody>
          <a:bodyPr/>
          <a:lstStyle/>
          <a:p>
            <a:pPr algn="r" eaLnBrk="1" hangingPunct="1"/>
            <a:r>
              <a:rPr lang="en-US" altLang="en-US" smtClean="0"/>
              <a:t>Access Control Models</a:t>
            </a:r>
          </a:p>
        </p:txBody>
      </p:sp>
      <p:sp>
        <p:nvSpPr>
          <p:cNvPr id="48132" name="Rectangle 3"/>
          <p:cNvSpPr>
            <a:spLocks noGrp="1" noChangeArrowheads="1"/>
          </p:cNvSpPr>
          <p:nvPr>
            <p:ph type="body" idx="1"/>
          </p:nvPr>
        </p:nvSpPr>
        <p:spPr/>
        <p:txBody>
          <a:bodyPr/>
          <a:lstStyle/>
          <a:p>
            <a:pPr eaLnBrk="1" hangingPunct="1">
              <a:lnSpc>
                <a:spcPct val="90000"/>
              </a:lnSpc>
            </a:pPr>
            <a:r>
              <a:rPr lang="en-US" altLang="en-US" smtClean="0"/>
              <a:t>Non-Discretionary (Role Based) Access Control Models</a:t>
            </a:r>
          </a:p>
          <a:p>
            <a:pPr lvl="1" eaLnBrk="1" hangingPunct="1">
              <a:lnSpc>
                <a:spcPct val="90000"/>
              </a:lnSpc>
            </a:pPr>
            <a:r>
              <a:rPr lang="en-US" altLang="en-US" smtClean="0"/>
              <a:t>Role Based Access Control (RBAC) uses a centrally administered set of controls to determine how subjects and objects interact.</a:t>
            </a:r>
          </a:p>
          <a:p>
            <a:pPr lvl="1" eaLnBrk="1" hangingPunct="1">
              <a:lnSpc>
                <a:spcPct val="90000"/>
              </a:lnSpc>
            </a:pPr>
            <a:r>
              <a:rPr lang="en-US" altLang="en-US" smtClean="0"/>
              <a:t>Is the best system for an organization that has high turnover.</a:t>
            </a:r>
          </a:p>
        </p:txBody>
      </p:sp>
    </p:spTree>
    <p:extLst>
      <p:ext uri="{BB962C8B-B14F-4D97-AF65-F5344CB8AC3E}">
        <p14:creationId xmlns:p14="http://schemas.microsoft.com/office/powerpoint/2010/main" val="2309884348"/>
      </p:ext>
    </p:extLst>
  </p:cSld>
  <p:clrMapOvr>
    <a:masterClrMapping/>
  </p:clrMapOvr>
  <p:transition spd="slow">
    <p:wipe dir="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375FC53F-138C-4D7B-93BA-05DBA39F6F28}" type="slidenum">
              <a:rPr lang="en-US" altLang="en-US" sz="1000">
                <a:solidFill>
                  <a:srgbClr val="D9CFAB"/>
                </a:solidFill>
              </a:rPr>
              <a:pPr>
                <a:spcBef>
                  <a:spcPct val="0"/>
                </a:spcBef>
                <a:buFontTx/>
                <a:buNone/>
              </a:pPr>
              <a:t>51</a:t>
            </a:fld>
            <a:endParaRPr lang="en-US" altLang="en-US" sz="1400">
              <a:solidFill>
                <a:srgbClr val="D9CFAB"/>
              </a:solidFill>
              <a:latin typeface="Times" panose="02020603050405020304" pitchFamily="18" charset="0"/>
            </a:endParaRPr>
          </a:p>
        </p:txBody>
      </p:sp>
      <p:sp>
        <p:nvSpPr>
          <p:cNvPr id="50179" name="Rectangle 2"/>
          <p:cNvSpPr>
            <a:spLocks noGrp="1" noChangeArrowheads="1"/>
          </p:cNvSpPr>
          <p:nvPr>
            <p:ph type="title"/>
          </p:nvPr>
        </p:nvSpPr>
        <p:spPr/>
        <p:txBody>
          <a:bodyPr/>
          <a:lstStyle/>
          <a:p>
            <a:pPr algn="r" eaLnBrk="1" hangingPunct="1"/>
            <a:r>
              <a:rPr lang="en-US" altLang="en-US" smtClean="0"/>
              <a:t>Access Control Techniques</a:t>
            </a:r>
          </a:p>
        </p:txBody>
      </p:sp>
      <p:sp>
        <p:nvSpPr>
          <p:cNvPr id="50180" name="Rectangle 3"/>
          <p:cNvSpPr>
            <a:spLocks noGrp="1" noChangeArrowheads="1"/>
          </p:cNvSpPr>
          <p:nvPr>
            <p:ph type="body" idx="1"/>
          </p:nvPr>
        </p:nvSpPr>
        <p:spPr>
          <a:xfrm>
            <a:off x="1524000" y="1239838"/>
            <a:ext cx="8839200" cy="4724400"/>
          </a:xfrm>
        </p:spPr>
        <p:txBody>
          <a:bodyPr/>
          <a:lstStyle/>
          <a:p>
            <a:pPr eaLnBrk="1" hangingPunct="1"/>
            <a:r>
              <a:rPr lang="en-US" altLang="en-US" sz="3200"/>
              <a:t>There are a number of different access controls and technologies available to support the different models.</a:t>
            </a:r>
          </a:p>
          <a:p>
            <a:pPr lvl="1" eaLnBrk="1" hangingPunct="1"/>
            <a:r>
              <a:rPr lang="en-US" altLang="en-US" sz="2800"/>
              <a:t>Rule Based Access Control</a:t>
            </a:r>
          </a:p>
          <a:p>
            <a:pPr lvl="1" eaLnBrk="1" hangingPunct="1"/>
            <a:r>
              <a:rPr lang="en-US" altLang="en-US" sz="2800"/>
              <a:t>Constrained User Interfaces</a:t>
            </a:r>
          </a:p>
          <a:p>
            <a:pPr lvl="1" eaLnBrk="1" hangingPunct="1"/>
            <a:r>
              <a:rPr lang="en-US" altLang="en-US" sz="2800"/>
              <a:t>Access Control Matrix</a:t>
            </a:r>
          </a:p>
          <a:p>
            <a:pPr lvl="1" eaLnBrk="1" hangingPunct="1"/>
            <a:r>
              <a:rPr lang="en-US" altLang="en-US" sz="2800"/>
              <a:t>Content Dependent Access Control</a:t>
            </a:r>
          </a:p>
          <a:p>
            <a:pPr lvl="1" eaLnBrk="1" hangingPunct="1"/>
            <a:r>
              <a:rPr lang="en-US" altLang="en-US" sz="2800"/>
              <a:t>Context Dependent Access Control</a:t>
            </a:r>
          </a:p>
        </p:txBody>
      </p:sp>
    </p:spTree>
    <p:extLst>
      <p:ext uri="{BB962C8B-B14F-4D97-AF65-F5344CB8AC3E}">
        <p14:creationId xmlns:p14="http://schemas.microsoft.com/office/powerpoint/2010/main" val="219680817"/>
      </p:ext>
    </p:extLst>
  </p:cSld>
  <p:clrMapOvr>
    <a:masterClrMapping/>
  </p:clrMapOvr>
  <p:transition spd="slow">
    <p:wipe dir="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46A97515-7700-4203-B5BE-8E8DD489FCEB}" type="slidenum">
              <a:rPr lang="en-US" altLang="en-US" sz="1000">
                <a:solidFill>
                  <a:srgbClr val="D9CFAB"/>
                </a:solidFill>
              </a:rPr>
              <a:pPr>
                <a:spcBef>
                  <a:spcPct val="0"/>
                </a:spcBef>
                <a:buFontTx/>
                <a:buNone/>
              </a:pPr>
              <a:t>52</a:t>
            </a:fld>
            <a:endParaRPr lang="en-US" altLang="en-US" sz="1400">
              <a:solidFill>
                <a:srgbClr val="D9CFAB"/>
              </a:solidFill>
              <a:latin typeface="Times" panose="02020603050405020304" pitchFamily="18" charset="0"/>
            </a:endParaRPr>
          </a:p>
        </p:txBody>
      </p:sp>
      <p:sp>
        <p:nvSpPr>
          <p:cNvPr id="51203" name="Rectangle 2"/>
          <p:cNvSpPr>
            <a:spLocks noGrp="1" noChangeArrowheads="1"/>
          </p:cNvSpPr>
          <p:nvPr>
            <p:ph type="title"/>
          </p:nvPr>
        </p:nvSpPr>
        <p:spPr/>
        <p:txBody>
          <a:bodyPr/>
          <a:lstStyle/>
          <a:p>
            <a:pPr algn="r" eaLnBrk="1" hangingPunct="1"/>
            <a:r>
              <a:rPr lang="en-US" altLang="en-US" smtClean="0"/>
              <a:t>Access Control Techniques</a:t>
            </a:r>
          </a:p>
        </p:txBody>
      </p:sp>
      <p:sp>
        <p:nvSpPr>
          <p:cNvPr id="51204" name="Rectangle 3"/>
          <p:cNvSpPr>
            <a:spLocks noGrp="1" noChangeArrowheads="1"/>
          </p:cNvSpPr>
          <p:nvPr>
            <p:ph type="body" idx="1"/>
          </p:nvPr>
        </p:nvSpPr>
        <p:spPr>
          <a:xfrm>
            <a:off x="1524000" y="1239838"/>
            <a:ext cx="8839200" cy="4724400"/>
          </a:xfrm>
        </p:spPr>
        <p:txBody>
          <a:bodyPr/>
          <a:lstStyle/>
          <a:p>
            <a:pPr eaLnBrk="1" hangingPunct="1"/>
            <a:r>
              <a:rPr lang="en-US" altLang="en-US" smtClean="0"/>
              <a:t>Rule Based Access Control</a:t>
            </a:r>
          </a:p>
          <a:p>
            <a:pPr lvl="1" eaLnBrk="1" hangingPunct="1"/>
            <a:r>
              <a:rPr lang="en-US" altLang="en-US" smtClean="0"/>
              <a:t>Uses specific rules that indicate what can and cannot happen between a subject and an object.</a:t>
            </a:r>
          </a:p>
          <a:p>
            <a:pPr lvl="1" eaLnBrk="1" hangingPunct="1"/>
            <a:r>
              <a:rPr lang="en-US" altLang="en-US" smtClean="0"/>
              <a:t>Not necessarily identity based.</a:t>
            </a:r>
          </a:p>
          <a:p>
            <a:pPr lvl="1" eaLnBrk="1" hangingPunct="1"/>
            <a:r>
              <a:rPr lang="en-US" altLang="en-US" smtClean="0"/>
              <a:t>Traditionally, rule based access control has been used in MAC systems as an enforcement mechanism.</a:t>
            </a:r>
          </a:p>
        </p:txBody>
      </p:sp>
    </p:spTree>
    <p:extLst>
      <p:ext uri="{BB962C8B-B14F-4D97-AF65-F5344CB8AC3E}">
        <p14:creationId xmlns:p14="http://schemas.microsoft.com/office/powerpoint/2010/main" val="4276120457"/>
      </p:ext>
    </p:extLst>
  </p:cSld>
  <p:clrMapOvr>
    <a:masterClrMapping/>
  </p:clrMapOvr>
  <p:transition spd="slow">
    <p:wipe dir="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4CBE9232-755B-4012-B354-668E3B1DCB4F}" type="slidenum">
              <a:rPr lang="en-US" altLang="en-US" sz="1000">
                <a:solidFill>
                  <a:srgbClr val="D9CFAB"/>
                </a:solidFill>
              </a:rPr>
              <a:pPr>
                <a:spcBef>
                  <a:spcPct val="0"/>
                </a:spcBef>
                <a:buFontTx/>
                <a:buNone/>
              </a:pPr>
              <a:t>53</a:t>
            </a:fld>
            <a:endParaRPr lang="en-US" altLang="en-US" sz="1400">
              <a:solidFill>
                <a:srgbClr val="D9CFAB"/>
              </a:solidFill>
              <a:latin typeface="Times" panose="02020603050405020304" pitchFamily="18" charset="0"/>
            </a:endParaRPr>
          </a:p>
        </p:txBody>
      </p:sp>
      <p:sp>
        <p:nvSpPr>
          <p:cNvPr id="53251" name="Rectangle 2"/>
          <p:cNvSpPr>
            <a:spLocks noGrp="1" noChangeArrowheads="1"/>
          </p:cNvSpPr>
          <p:nvPr>
            <p:ph type="title"/>
          </p:nvPr>
        </p:nvSpPr>
        <p:spPr/>
        <p:txBody>
          <a:bodyPr/>
          <a:lstStyle/>
          <a:p>
            <a:pPr algn="r" eaLnBrk="1" hangingPunct="1"/>
            <a:r>
              <a:rPr lang="en-US" altLang="en-US" smtClean="0"/>
              <a:t>Access Control Techniques</a:t>
            </a:r>
          </a:p>
        </p:txBody>
      </p:sp>
      <p:sp>
        <p:nvSpPr>
          <p:cNvPr id="53252" name="Rectangle 3"/>
          <p:cNvSpPr>
            <a:spLocks noGrp="1" noChangeArrowheads="1"/>
          </p:cNvSpPr>
          <p:nvPr>
            <p:ph type="body" idx="1"/>
          </p:nvPr>
        </p:nvSpPr>
        <p:spPr>
          <a:xfrm>
            <a:off x="1524000" y="1239838"/>
            <a:ext cx="8839200" cy="4724400"/>
          </a:xfrm>
        </p:spPr>
        <p:txBody>
          <a:bodyPr/>
          <a:lstStyle/>
          <a:p>
            <a:pPr eaLnBrk="1" hangingPunct="1"/>
            <a:r>
              <a:rPr lang="en-US" altLang="en-US" sz="3200"/>
              <a:t>Constrained User Interfaces	</a:t>
            </a:r>
          </a:p>
          <a:p>
            <a:pPr lvl="1" eaLnBrk="1" hangingPunct="1"/>
            <a:r>
              <a:rPr lang="en-US" altLang="en-US" sz="2800"/>
              <a:t>Restrict user’s access abilities by not allowing them certain types of access, or the ability to request certain functions or information </a:t>
            </a:r>
          </a:p>
          <a:p>
            <a:pPr eaLnBrk="1" hangingPunct="1"/>
            <a:r>
              <a:rPr lang="en-US" altLang="en-US" sz="3200"/>
              <a:t>Three major types</a:t>
            </a:r>
          </a:p>
          <a:p>
            <a:pPr lvl="1" eaLnBrk="1" hangingPunct="1"/>
            <a:r>
              <a:rPr lang="en-US" altLang="en-US" sz="2800"/>
              <a:t>Menus and Shells</a:t>
            </a:r>
          </a:p>
          <a:p>
            <a:pPr lvl="1" eaLnBrk="1" hangingPunct="1"/>
            <a:r>
              <a:rPr lang="en-US" altLang="en-US" sz="2800"/>
              <a:t>Database Views</a:t>
            </a:r>
          </a:p>
          <a:p>
            <a:pPr lvl="1" eaLnBrk="1" hangingPunct="1"/>
            <a:r>
              <a:rPr lang="en-US" altLang="en-US" sz="2800"/>
              <a:t>Physically Constrained Interfaces</a:t>
            </a:r>
          </a:p>
          <a:p>
            <a:pPr lvl="1" eaLnBrk="1" hangingPunct="1"/>
            <a:endParaRPr lang="en-US" altLang="en-US" sz="2800"/>
          </a:p>
        </p:txBody>
      </p:sp>
    </p:spTree>
    <p:extLst>
      <p:ext uri="{BB962C8B-B14F-4D97-AF65-F5344CB8AC3E}">
        <p14:creationId xmlns:p14="http://schemas.microsoft.com/office/powerpoint/2010/main" val="4170672818"/>
      </p:ext>
    </p:extLst>
  </p:cSld>
  <p:clrMapOvr>
    <a:masterClrMapping/>
  </p:clrMapOvr>
  <p:transition spd="slow">
    <p:wipe dir="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CC127895-8123-4ECB-99C8-88EC8C6C175A}" type="slidenum">
              <a:rPr lang="en-US" altLang="en-US" sz="1000">
                <a:solidFill>
                  <a:srgbClr val="D9CFAB"/>
                </a:solidFill>
              </a:rPr>
              <a:pPr>
                <a:spcBef>
                  <a:spcPct val="0"/>
                </a:spcBef>
                <a:buFontTx/>
                <a:buNone/>
              </a:pPr>
              <a:t>54</a:t>
            </a:fld>
            <a:endParaRPr lang="en-US" altLang="en-US" sz="1400">
              <a:solidFill>
                <a:srgbClr val="D9CFAB"/>
              </a:solidFill>
              <a:latin typeface="Times" panose="02020603050405020304" pitchFamily="18" charset="0"/>
            </a:endParaRPr>
          </a:p>
        </p:txBody>
      </p:sp>
      <p:sp>
        <p:nvSpPr>
          <p:cNvPr id="55299" name="Rectangle 2"/>
          <p:cNvSpPr>
            <a:spLocks noGrp="1" noChangeArrowheads="1"/>
          </p:cNvSpPr>
          <p:nvPr>
            <p:ph type="title"/>
          </p:nvPr>
        </p:nvSpPr>
        <p:spPr/>
        <p:txBody>
          <a:bodyPr/>
          <a:lstStyle/>
          <a:p>
            <a:pPr algn="r" eaLnBrk="1" hangingPunct="1"/>
            <a:r>
              <a:rPr lang="en-US" altLang="en-US" smtClean="0"/>
              <a:t>Access Control Techniques</a:t>
            </a:r>
          </a:p>
        </p:txBody>
      </p:sp>
      <p:sp>
        <p:nvSpPr>
          <p:cNvPr id="55300" name="Rectangle 3"/>
          <p:cNvSpPr>
            <a:spLocks noGrp="1" noChangeArrowheads="1"/>
          </p:cNvSpPr>
          <p:nvPr>
            <p:ph type="body" idx="1"/>
          </p:nvPr>
        </p:nvSpPr>
        <p:spPr>
          <a:xfrm>
            <a:off x="1524000" y="1239838"/>
            <a:ext cx="8839200" cy="4724400"/>
          </a:xfrm>
        </p:spPr>
        <p:txBody>
          <a:bodyPr/>
          <a:lstStyle/>
          <a:p>
            <a:pPr eaLnBrk="1" hangingPunct="1"/>
            <a:r>
              <a:rPr lang="en-US" altLang="en-US" smtClean="0"/>
              <a:t>Access Control Matrix</a:t>
            </a:r>
          </a:p>
          <a:p>
            <a:pPr lvl="1" eaLnBrk="1" hangingPunct="1"/>
            <a:r>
              <a:rPr lang="en-US" altLang="en-US" smtClean="0"/>
              <a:t>Is a table of subjects and objects indicating what actions individual subjects can take upon individual objects.</a:t>
            </a:r>
          </a:p>
          <a:p>
            <a:pPr eaLnBrk="1" hangingPunct="1"/>
            <a:r>
              <a:rPr lang="en-US" altLang="en-US" smtClean="0"/>
              <a:t>Two types</a:t>
            </a:r>
          </a:p>
          <a:p>
            <a:pPr lvl="1" eaLnBrk="1" hangingPunct="1"/>
            <a:r>
              <a:rPr lang="en-US" altLang="en-US" smtClean="0"/>
              <a:t>Capability Table (bound to a subject)</a:t>
            </a:r>
          </a:p>
          <a:p>
            <a:pPr lvl="1" eaLnBrk="1" hangingPunct="1"/>
            <a:r>
              <a:rPr lang="en-US" altLang="en-US" smtClean="0"/>
              <a:t>Access Control List (bound to an object)</a:t>
            </a:r>
          </a:p>
        </p:txBody>
      </p:sp>
    </p:spTree>
    <p:extLst>
      <p:ext uri="{BB962C8B-B14F-4D97-AF65-F5344CB8AC3E}">
        <p14:creationId xmlns:p14="http://schemas.microsoft.com/office/powerpoint/2010/main" val="417649260"/>
      </p:ext>
    </p:extLst>
  </p:cSld>
  <p:clrMapOvr>
    <a:masterClrMapping/>
  </p:clrMapOvr>
  <p:transition spd="slow">
    <p:wipe dir="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6F7006CD-0B41-493B-9162-A509F59AED61}" type="slidenum">
              <a:rPr lang="en-US" altLang="en-US" sz="1000">
                <a:solidFill>
                  <a:srgbClr val="D9CFAB"/>
                </a:solidFill>
              </a:rPr>
              <a:pPr>
                <a:spcBef>
                  <a:spcPct val="0"/>
                </a:spcBef>
                <a:buFontTx/>
                <a:buNone/>
              </a:pPr>
              <a:t>55</a:t>
            </a:fld>
            <a:endParaRPr lang="en-US" altLang="en-US" sz="1400">
              <a:solidFill>
                <a:srgbClr val="D9CFAB"/>
              </a:solidFill>
              <a:latin typeface="Times" panose="02020603050405020304" pitchFamily="18" charset="0"/>
            </a:endParaRPr>
          </a:p>
        </p:txBody>
      </p:sp>
      <p:sp>
        <p:nvSpPr>
          <p:cNvPr id="57347" name="Rectangle 2"/>
          <p:cNvSpPr>
            <a:spLocks noGrp="1" noChangeArrowheads="1"/>
          </p:cNvSpPr>
          <p:nvPr>
            <p:ph type="title"/>
          </p:nvPr>
        </p:nvSpPr>
        <p:spPr/>
        <p:txBody>
          <a:bodyPr/>
          <a:lstStyle/>
          <a:p>
            <a:pPr algn="r" eaLnBrk="1" hangingPunct="1"/>
            <a:r>
              <a:rPr lang="en-US" altLang="en-US" smtClean="0"/>
              <a:t>Access Control Techniques</a:t>
            </a:r>
          </a:p>
        </p:txBody>
      </p:sp>
      <p:sp>
        <p:nvSpPr>
          <p:cNvPr id="57348" name="Rectangle 3"/>
          <p:cNvSpPr>
            <a:spLocks noGrp="1" noChangeArrowheads="1"/>
          </p:cNvSpPr>
          <p:nvPr>
            <p:ph type="body" idx="1"/>
          </p:nvPr>
        </p:nvSpPr>
        <p:spPr>
          <a:xfrm>
            <a:off x="1524000" y="1239838"/>
            <a:ext cx="8839200" cy="4724400"/>
          </a:xfrm>
        </p:spPr>
        <p:txBody>
          <a:bodyPr/>
          <a:lstStyle/>
          <a:p>
            <a:pPr eaLnBrk="1" hangingPunct="1"/>
            <a:r>
              <a:rPr lang="en-US" altLang="en-US" smtClean="0"/>
              <a:t>Content Dependent Access Control:  Access to an object is determined by the content within the object.</a:t>
            </a:r>
          </a:p>
          <a:p>
            <a:pPr eaLnBrk="1" hangingPunct="1"/>
            <a:r>
              <a:rPr lang="en-US" altLang="en-US" smtClean="0"/>
              <a:t>Context Based Access Control:  Makes access decision based on the context of a collection of information rather than content within an object.</a:t>
            </a:r>
          </a:p>
        </p:txBody>
      </p:sp>
    </p:spTree>
    <p:extLst>
      <p:ext uri="{BB962C8B-B14F-4D97-AF65-F5344CB8AC3E}">
        <p14:creationId xmlns:p14="http://schemas.microsoft.com/office/powerpoint/2010/main" val="2909021329"/>
      </p:ext>
    </p:extLst>
  </p:cSld>
  <p:clrMapOvr>
    <a:masterClrMapping/>
  </p:clrMapOvr>
  <p:transition spd="slow">
    <p:wipe dir="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90A4624E-FEAF-4F93-99B7-DE36B0D678E0}" type="slidenum">
              <a:rPr lang="en-US" altLang="en-US" sz="1000">
                <a:solidFill>
                  <a:srgbClr val="D9CFAB"/>
                </a:solidFill>
              </a:rPr>
              <a:pPr>
                <a:spcBef>
                  <a:spcPct val="0"/>
                </a:spcBef>
                <a:buFontTx/>
                <a:buNone/>
              </a:pPr>
              <a:t>56</a:t>
            </a:fld>
            <a:endParaRPr lang="en-US" altLang="en-US" sz="1400">
              <a:solidFill>
                <a:srgbClr val="D9CFAB"/>
              </a:solidFill>
              <a:latin typeface="Times" panose="02020603050405020304" pitchFamily="18" charset="0"/>
            </a:endParaRPr>
          </a:p>
        </p:txBody>
      </p:sp>
      <p:sp>
        <p:nvSpPr>
          <p:cNvPr id="59395" name="Rectangle 2"/>
          <p:cNvSpPr>
            <a:spLocks noGrp="1" noChangeArrowheads="1"/>
          </p:cNvSpPr>
          <p:nvPr>
            <p:ph type="title"/>
          </p:nvPr>
        </p:nvSpPr>
        <p:spPr/>
        <p:txBody>
          <a:bodyPr/>
          <a:lstStyle/>
          <a:p>
            <a:pPr algn="r" eaLnBrk="1" hangingPunct="1"/>
            <a:r>
              <a:rPr lang="en-US" altLang="en-US" sz="2800"/>
              <a:t>Access Control Administration</a:t>
            </a:r>
          </a:p>
        </p:txBody>
      </p:sp>
      <p:sp>
        <p:nvSpPr>
          <p:cNvPr id="59396" name="Rectangle 3"/>
          <p:cNvSpPr>
            <a:spLocks noGrp="1" noChangeArrowheads="1"/>
          </p:cNvSpPr>
          <p:nvPr>
            <p:ph type="body" idx="1"/>
          </p:nvPr>
        </p:nvSpPr>
        <p:spPr>
          <a:xfrm>
            <a:off x="1524000" y="1239839"/>
            <a:ext cx="8839200" cy="4524375"/>
          </a:xfrm>
        </p:spPr>
        <p:txBody>
          <a:bodyPr/>
          <a:lstStyle/>
          <a:p>
            <a:pPr eaLnBrk="1" hangingPunct="1">
              <a:lnSpc>
                <a:spcPct val="80000"/>
              </a:lnSpc>
            </a:pPr>
            <a:r>
              <a:rPr lang="en-US" altLang="en-US" sz="3200"/>
              <a:t>First an organization must choose the access control model (DAC, MAC, RBAC).</a:t>
            </a:r>
          </a:p>
          <a:p>
            <a:pPr eaLnBrk="1" hangingPunct="1">
              <a:lnSpc>
                <a:spcPct val="80000"/>
              </a:lnSpc>
            </a:pPr>
            <a:r>
              <a:rPr lang="en-US" altLang="en-US" sz="3200"/>
              <a:t>Then the organization must select and implement different access control technologies.</a:t>
            </a:r>
          </a:p>
          <a:p>
            <a:pPr eaLnBrk="1" hangingPunct="1">
              <a:lnSpc>
                <a:spcPct val="80000"/>
              </a:lnSpc>
            </a:pPr>
            <a:r>
              <a:rPr lang="en-US" altLang="en-US" sz="3200"/>
              <a:t>Access Control Administration comes in two basic forms:</a:t>
            </a:r>
          </a:p>
          <a:p>
            <a:pPr lvl="1" eaLnBrk="1" hangingPunct="1">
              <a:lnSpc>
                <a:spcPct val="80000"/>
              </a:lnSpc>
            </a:pPr>
            <a:r>
              <a:rPr lang="en-US" altLang="en-US" sz="2800"/>
              <a:t>Centralized</a:t>
            </a:r>
          </a:p>
          <a:p>
            <a:pPr lvl="1" eaLnBrk="1" hangingPunct="1">
              <a:lnSpc>
                <a:spcPct val="80000"/>
              </a:lnSpc>
            </a:pPr>
            <a:r>
              <a:rPr lang="en-US" altLang="en-US" sz="2800"/>
              <a:t>Decentralized</a:t>
            </a:r>
          </a:p>
        </p:txBody>
      </p:sp>
    </p:spTree>
    <p:extLst>
      <p:ext uri="{BB962C8B-B14F-4D97-AF65-F5344CB8AC3E}">
        <p14:creationId xmlns:p14="http://schemas.microsoft.com/office/powerpoint/2010/main" val="2325351307"/>
      </p:ext>
    </p:extLst>
  </p:cSld>
  <p:clrMapOvr>
    <a:masterClrMapping/>
  </p:clrMapOvr>
  <p:transition spd="slow">
    <p:wipe dir="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31029127-3E3E-4B12-902D-8C784B0B6D4D}" type="slidenum">
              <a:rPr lang="en-US" altLang="en-US" sz="1000">
                <a:solidFill>
                  <a:srgbClr val="D9CFAB"/>
                </a:solidFill>
              </a:rPr>
              <a:pPr>
                <a:spcBef>
                  <a:spcPct val="0"/>
                </a:spcBef>
                <a:buFontTx/>
                <a:buNone/>
              </a:pPr>
              <a:t>57</a:t>
            </a:fld>
            <a:endParaRPr lang="en-US" altLang="en-US" sz="1400">
              <a:solidFill>
                <a:srgbClr val="D9CFAB"/>
              </a:solidFill>
              <a:latin typeface="Times" panose="02020603050405020304" pitchFamily="18" charset="0"/>
            </a:endParaRPr>
          </a:p>
        </p:txBody>
      </p:sp>
      <p:sp>
        <p:nvSpPr>
          <p:cNvPr id="60419" name="Rectangle 2"/>
          <p:cNvSpPr>
            <a:spLocks noGrp="1" noChangeArrowheads="1"/>
          </p:cNvSpPr>
          <p:nvPr>
            <p:ph type="title"/>
          </p:nvPr>
        </p:nvSpPr>
        <p:spPr/>
        <p:txBody>
          <a:bodyPr/>
          <a:lstStyle/>
          <a:p>
            <a:pPr algn="r" eaLnBrk="1" hangingPunct="1"/>
            <a:r>
              <a:rPr lang="en-US" altLang="en-US" sz="2800"/>
              <a:t>Access Control Administration</a:t>
            </a:r>
          </a:p>
        </p:txBody>
      </p:sp>
      <p:sp>
        <p:nvSpPr>
          <p:cNvPr id="60420" name="Rectangle 3"/>
          <p:cNvSpPr>
            <a:spLocks noGrp="1" noChangeArrowheads="1"/>
          </p:cNvSpPr>
          <p:nvPr>
            <p:ph type="body" idx="1"/>
          </p:nvPr>
        </p:nvSpPr>
        <p:spPr>
          <a:xfrm>
            <a:off x="1524000" y="1239839"/>
            <a:ext cx="8839200" cy="4524375"/>
          </a:xfrm>
        </p:spPr>
        <p:txBody>
          <a:bodyPr/>
          <a:lstStyle/>
          <a:p>
            <a:pPr eaLnBrk="1" hangingPunct="1">
              <a:lnSpc>
                <a:spcPct val="90000"/>
              </a:lnSpc>
            </a:pPr>
            <a:r>
              <a:rPr lang="en-US" altLang="en-US" sz="3200"/>
              <a:t>Centralized Access Control Administration:  </a:t>
            </a:r>
          </a:p>
          <a:p>
            <a:pPr lvl="1" eaLnBrk="1" hangingPunct="1">
              <a:lnSpc>
                <a:spcPct val="90000"/>
              </a:lnSpc>
            </a:pPr>
            <a:r>
              <a:rPr lang="en-US" altLang="en-US" sz="2800"/>
              <a:t>One entity is responsible for overseeing access to all corporate resources.</a:t>
            </a:r>
          </a:p>
          <a:p>
            <a:pPr lvl="1" eaLnBrk="1" hangingPunct="1">
              <a:lnSpc>
                <a:spcPct val="90000"/>
              </a:lnSpc>
            </a:pPr>
            <a:r>
              <a:rPr lang="en-US" altLang="en-US" sz="2800"/>
              <a:t>Provides a consistent and uniform method of controlling access rights.</a:t>
            </a:r>
          </a:p>
          <a:p>
            <a:pPr lvl="2" eaLnBrk="1" hangingPunct="1">
              <a:lnSpc>
                <a:spcPct val="90000"/>
              </a:lnSpc>
            </a:pPr>
            <a:r>
              <a:rPr lang="en-US" altLang="en-US" sz="2600"/>
              <a:t>Protocols:  Agreed upon ways of communication</a:t>
            </a:r>
          </a:p>
          <a:p>
            <a:pPr lvl="2" eaLnBrk="1" hangingPunct="1">
              <a:lnSpc>
                <a:spcPct val="90000"/>
              </a:lnSpc>
            </a:pPr>
            <a:r>
              <a:rPr lang="en-US" altLang="en-US" sz="2600"/>
              <a:t>Attribute Value Pairs:  Defined fields that accept certain values.</a:t>
            </a:r>
          </a:p>
        </p:txBody>
      </p:sp>
    </p:spTree>
    <p:extLst>
      <p:ext uri="{BB962C8B-B14F-4D97-AF65-F5344CB8AC3E}">
        <p14:creationId xmlns:p14="http://schemas.microsoft.com/office/powerpoint/2010/main" val="444699860"/>
      </p:ext>
    </p:extLst>
  </p:cSld>
  <p:clrMapOvr>
    <a:masterClrMapping/>
  </p:clrMapOvr>
  <p:transition spd="slow">
    <p:wipe dir="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BF24640D-CD82-4D70-867A-3F3F4B47DFD9}" type="slidenum">
              <a:rPr lang="en-US" altLang="en-US" sz="1000">
                <a:solidFill>
                  <a:srgbClr val="D9CFAB"/>
                </a:solidFill>
              </a:rPr>
              <a:pPr>
                <a:spcBef>
                  <a:spcPct val="0"/>
                </a:spcBef>
                <a:buFontTx/>
                <a:buNone/>
              </a:pPr>
              <a:t>58</a:t>
            </a:fld>
            <a:endParaRPr lang="en-US" altLang="en-US" sz="1400">
              <a:solidFill>
                <a:srgbClr val="D9CFAB"/>
              </a:solidFill>
              <a:latin typeface="Times" panose="02020603050405020304" pitchFamily="18" charset="0"/>
            </a:endParaRPr>
          </a:p>
        </p:txBody>
      </p:sp>
      <p:sp>
        <p:nvSpPr>
          <p:cNvPr id="62467" name="Rectangle 2"/>
          <p:cNvSpPr>
            <a:spLocks noGrp="1" noChangeArrowheads="1"/>
          </p:cNvSpPr>
          <p:nvPr>
            <p:ph type="title"/>
          </p:nvPr>
        </p:nvSpPr>
        <p:spPr/>
        <p:txBody>
          <a:bodyPr/>
          <a:lstStyle/>
          <a:p>
            <a:pPr algn="r" eaLnBrk="1" hangingPunct="1"/>
            <a:r>
              <a:rPr lang="en-US" altLang="en-US" sz="2800"/>
              <a:t>Access Control Administration</a:t>
            </a:r>
          </a:p>
        </p:txBody>
      </p:sp>
      <p:sp>
        <p:nvSpPr>
          <p:cNvPr id="62468" name="Rectangle 3"/>
          <p:cNvSpPr>
            <a:spLocks noGrp="1" noChangeArrowheads="1"/>
          </p:cNvSpPr>
          <p:nvPr>
            <p:ph type="body" idx="1"/>
          </p:nvPr>
        </p:nvSpPr>
        <p:spPr>
          <a:xfrm>
            <a:off x="1524000" y="1239839"/>
            <a:ext cx="8839200" cy="4524375"/>
          </a:xfrm>
        </p:spPr>
        <p:txBody>
          <a:bodyPr/>
          <a:lstStyle/>
          <a:p>
            <a:pPr eaLnBrk="1" hangingPunct="1"/>
            <a:r>
              <a:rPr lang="en-US" altLang="en-US" smtClean="0"/>
              <a:t>Types of Centralized Access Control</a:t>
            </a:r>
          </a:p>
          <a:p>
            <a:pPr lvl="1" eaLnBrk="1" hangingPunct="1"/>
            <a:r>
              <a:rPr lang="en-US" altLang="en-US" smtClean="0"/>
              <a:t>Radius</a:t>
            </a:r>
          </a:p>
          <a:p>
            <a:pPr lvl="1" eaLnBrk="1" hangingPunct="1"/>
            <a:r>
              <a:rPr lang="en-US" altLang="en-US" smtClean="0"/>
              <a:t>TACAS</a:t>
            </a:r>
          </a:p>
          <a:p>
            <a:pPr lvl="1" eaLnBrk="1" hangingPunct="1"/>
            <a:r>
              <a:rPr lang="en-US" altLang="en-US" smtClean="0"/>
              <a:t>Diameter</a:t>
            </a:r>
          </a:p>
        </p:txBody>
      </p:sp>
    </p:spTree>
    <p:extLst>
      <p:ext uri="{BB962C8B-B14F-4D97-AF65-F5344CB8AC3E}">
        <p14:creationId xmlns:p14="http://schemas.microsoft.com/office/powerpoint/2010/main" val="2683752039"/>
      </p:ext>
    </p:extLst>
  </p:cSld>
  <p:clrMapOvr>
    <a:masterClrMapping/>
  </p:clrMapOvr>
  <p:transition spd="slow">
    <p:wipe dir="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C08B9F04-4602-48BA-BE1F-674C2A6F3B4A}" type="slidenum">
              <a:rPr lang="en-US" altLang="en-US" sz="1000">
                <a:solidFill>
                  <a:srgbClr val="D9CFAB"/>
                </a:solidFill>
              </a:rPr>
              <a:pPr>
                <a:spcBef>
                  <a:spcPct val="0"/>
                </a:spcBef>
                <a:buFontTx/>
                <a:buNone/>
              </a:pPr>
              <a:t>59</a:t>
            </a:fld>
            <a:endParaRPr lang="en-US" altLang="en-US" sz="1400">
              <a:solidFill>
                <a:srgbClr val="D9CFAB"/>
              </a:solidFill>
              <a:latin typeface="Times" panose="02020603050405020304" pitchFamily="18" charset="0"/>
            </a:endParaRPr>
          </a:p>
        </p:txBody>
      </p:sp>
      <p:sp>
        <p:nvSpPr>
          <p:cNvPr id="64515" name="Rectangle 2"/>
          <p:cNvSpPr>
            <a:spLocks noGrp="1" noChangeArrowheads="1"/>
          </p:cNvSpPr>
          <p:nvPr>
            <p:ph type="title"/>
          </p:nvPr>
        </p:nvSpPr>
        <p:spPr/>
        <p:txBody>
          <a:bodyPr/>
          <a:lstStyle/>
          <a:p>
            <a:pPr algn="r" eaLnBrk="1" hangingPunct="1"/>
            <a:r>
              <a:rPr lang="en-US" altLang="en-US" sz="2800"/>
              <a:t>Access Control Administration</a:t>
            </a:r>
          </a:p>
        </p:txBody>
      </p:sp>
      <p:sp>
        <p:nvSpPr>
          <p:cNvPr id="64516" name="Rectangle 3"/>
          <p:cNvSpPr>
            <a:spLocks noGrp="1" noChangeArrowheads="1"/>
          </p:cNvSpPr>
          <p:nvPr>
            <p:ph type="body" idx="1"/>
          </p:nvPr>
        </p:nvSpPr>
        <p:spPr>
          <a:xfrm>
            <a:off x="1524000" y="1239839"/>
            <a:ext cx="8839200" cy="4524375"/>
          </a:xfrm>
        </p:spPr>
        <p:txBody>
          <a:bodyPr/>
          <a:lstStyle/>
          <a:p>
            <a:pPr eaLnBrk="1" hangingPunct="1"/>
            <a:r>
              <a:rPr lang="en-US" altLang="en-US" smtClean="0"/>
              <a:t>Decentralized Access Control Administration:</a:t>
            </a:r>
          </a:p>
          <a:p>
            <a:pPr lvl="1" eaLnBrk="1" hangingPunct="1"/>
            <a:r>
              <a:rPr lang="en-US" altLang="en-US" smtClean="0"/>
              <a:t>Gives control of access to the people who are closer to the resources</a:t>
            </a:r>
          </a:p>
          <a:p>
            <a:pPr lvl="1" eaLnBrk="1" hangingPunct="1"/>
            <a:r>
              <a:rPr lang="en-US" altLang="en-US" smtClean="0"/>
              <a:t>Has no methods for consistent control, lacks proper consistency.</a:t>
            </a:r>
          </a:p>
        </p:txBody>
      </p:sp>
    </p:spTree>
    <p:extLst>
      <p:ext uri="{BB962C8B-B14F-4D97-AF65-F5344CB8AC3E}">
        <p14:creationId xmlns:p14="http://schemas.microsoft.com/office/powerpoint/2010/main" val="2421506338"/>
      </p:ext>
    </p:extLst>
  </p:cSld>
  <p:clrMapOvr>
    <a:masterClrMapping/>
  </p:clrMapOvr>
  <p:transition spd="slow">
    <p:wipe dir="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11D60FAC-AC92-457A-A0B3-03E7EA2386FC}" type="slidenum">
              <a:rPr lang="en-US" altLang="en-US" sz="1000">
                <a:solidFill>
                  <a:srgbClr val="D9CFAB"/>
                </a:solidFill>
              </a:rPr>
              <a:pPr>
                <a:spcBef>
                  <a:spcPct val="0"/>
                </a:spcBef>
                <a:buFontTx/>
                <a:buNone/>
              </a:pPr>
              <a:t>60</a:t>
            </a:fld>
            <a:endParaRPr lang="en-US" altLang="en-US" sz="1400">
              <a:solidFill>
                <a:srgbClr val="D9CFAB"/>
              </a:solidFill>
              <a:latin typeface="Times" panose="02020603050405020304" pitchFamily="18" charset="0"/>
            </a:endParaRPr>
          </a:p>
        </p:txBody>
      </p:sp>
      <p:sp>
        <p:nvSpPr>
          <p:cNvPr id="66563" name="Rectangle 2"/>
          <p:cNvSpPr>
            <a:spLocks noGrp="1" noChangeArrowheads="1"/>
          </p:cNvSpPr>
          <p:nvPr>
            <p:ph type="title"/>
          </p:nvPr>
        </p:nvSpPr>
        <p:spPr/>
        <p:txBody>
          <a:bodyPr/>
          <a:lstStyle/>
          <a:p>
            <a:pPr algn="r" eaLnBrk="1" hangingPunct="1"/>
            <a:r>
              <a:rPr lang="en-US" altLang="en-US" smtClean="0"/>
              <a:t>Access Control Methods</a:t>
            </a:r>
          </a:p>
        </p:txBody>
      </p:sp>
      <p:sp>
        <p:nvSpPr>
          <p:cNvPr id="66564" name="Rectangle 3"/>
          <p:cNvSpPr>
            <a:spLocks noGrp="1" noChangeArrowheads="1"/>
          </p:cNvSpPr>
          <p:nvPr>
            <p:ph type="body" idx="1"/>
          </p:nvPr>
        </p:nvSpPr>
        <p:spPr/>
        <p:txBody>
          <a:bodyPr/>
          <a:lstStyle/>
          <a:p>
            <a:pPr eaLnBrk="1" hangingPunct="1">
              <a:lnSpc>
                <a:spcPct val="90000"/>
              </a:lnSpc>
            </a:pPr>
            <a:r>
              <a:rPr lang="en-US" altLang="en-US" smtClean="0"/>
              <a:t>Access controls can be implemented at various layers of an organization, network, and individual systems</a:t>
            </a:r>
          </a:p>
          <a:p>
            <a:pPr eaLnBrk="1" hangingPunct="1">
              <a:lnSpc>
                <a:spcPct val="90000"/>
              </a:lnSpc>
            </a:pPr>
            <a:r>
              <a:rPr lang="en-US" altLang="en-US" smtClean="0"/>
              <a:t>Three broad categories:</a:t>
            </a:r>
          </a:p>
          <a:p>
            <a:pPr lvl="1" eaLnBrk="1" hangingPunct="1">
              <a:lnSpc>
                <a:spcPct val="90000"/>
              </a:lnSpc>
            </a:pPr>
            <a:r>
              <a:rPr lang="en-US" altLang="en-US" smtClean="0"/>
              <a:t>Administrative</a:t>
            </a:r>
          </a:p>
          <a:p>
            <a:pPr lvl="1" eaLnBrk="1" hangingPunct="1">
              <a:lnSpc>
                <a:spcPct val="90000"/>
              </a:lnSpc>
            </a:pPr>
            <a:r>
              <a:rPr lang="en-US" altLang="en-US" smtClean="0"/>
              <a:t>Physical</a:t>
            </a:r>
          </a:p>
          <a:p>
            <a:pPr lvl="1" eaLnBrk="1" hangingPunct="1">
              <a:lnSpc>
                <a:spcPct val="90000"/>
              </a:lnSpc>
            </a:pPr>
            <a:r>
              <a:rPr lang="en-US" altLang="en-US" smtClean="0"/>
              <a:t>Technical (aka Logical)</a:t>
            </a:r>
          </a:p>
          <a:p>
            <a:pPr lvl="1" eaLnBrk="1" hangingPunct="1">
              <a:lnSpc>
                <a:spcPct val="90000"/>
              </a:lnSpc>
              <a:buFont typeface="Times" panose="02020603050405020304" pitchFamily="18" charset="0"/>
              <a:buNone/>
            </a:pPr>
            <a:endParaRPr lang="en-US" altLang="en-US" smtClean="0"/>
          </a:p>
        </p:txBody>
      </p:sp>
    </p:spTree>
    <p:extLst>
      <p:ext uri="{BB962C8B-B14F-4D97-AF65-F5344CB8AC3E}">
        <p14:creationId xmlns:p14="http://schemas.microsoft.com/office/powerpoint/2010/main" val="3988153634"/>
      </p:ext>
    </p:extLst>
  </p:cSld>
  <p:clrMapOvr>
    <a:masterClrMapping/>
  </p:clrMapOvr>
  <p:transition spd="slow">
    <p:wipe dir="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2E44AEFC-29C7-4CDC-A4AE-8B5680BFE032}" type="slidenum">
              <a:rPr lang="en-US" altLang="en-US" sz="1000">
                <a:solidFill>
                  <a:srgbClr val="D9CFAB"/>
                </a:solidFill>
              </a:rPr>
              <a:pPr>
                <a:spcBef>
                  <a:spcPct val="0"/>
                </a:spcBef>
                <a:buFontTx/>
                <a:buNone/>
              </a:pPr>
              <a:t>61</a:t>
            </a:fld>
            <a:endParaRPr lang="en-US" altLang="en-US" sz="1400">
              <a:solidFill>
                <a:srgbClr val="D9CFAB"/>
              </a:solidFill>
              <a:latin typeface="Times" panose="02020603050405020304" pitchFamily="18" charset="0"/>
            </a:endParaRPr>
          </a:p>
        </p:txBody>
      </p:sp>
      <p:sp>
        <p:nvSpPr>
          <p:cNvPr id="68611" name="Rectangle 2"/>
          <p:cNvSpPr>
            <a:spLocks noGrp="1" noChangeArrowheads="1"/>
          </p:cNvSpPr>
          <p:nvPr>
            <p:ph type="title"/>
          </p:nvPr>
        </p:nvSpPr>
        <p:spPr/>
        <p:txBody>
          <a:bodyPr/>
          <a:lstStyle/>
          <a:p>
            <a:pPr algn="r" eaLnBrk="1" hangingPunct="1"/>
            <a:r>
              <a:rPr lang="en-US" altLang="en-US" smtClean="0"/>
              <a:t>Access Control Methods</a:t>
            </a:r>
          </a:p>
        </p:txBody>
      </p:sp>
      <p:sp>
        <p:nvSpPr>
          <p:cNvPr id="68612" name="Rectangle 3"/>
          <p:cNvSpPr>
            <a:spLocks noGrp="1" noChangeArrowheads="1"/>
          </p:cNvSpPr>
          <p:nvPr>
            <p:ph type="body" idx="1"/>
          </p:nvPr>
        </p:nvSpPr>
        <p:spPr/>
        <p:txBody>
          <a:bodyPr>
            <a:normAutofit lnSpcReduction="10000"/>
          </a:bodyPr>
          <a:lstStyle/>
          <a:p>
            <a:pPr eaLnBrk="1" hangingPunct="1">
              <a:lnSpc>
                <a:spcPct val="80000"/>
              </a:lnSpc>
            </a:pPr>
            <a:r>
              <a:rPr lang="en-US" altLang="en-US" sz="3200"/>
              <a:t>Administrative Controls</a:t>
            </a:r>
          </a:p>
          <a:p>
            <a:pPr lvl="1" eaLnBrk="1" hangingPunct="1">
              <a:lnSpc>
                <a:spcPct val="80000"/>
              </a:lnSpc>
            </a:pPr>
            <a:r>
              <a:rPr lang="en-US" altLang="en-US" sz="2800"/>
              <a:t>Policy and Procedure</a:t>
            </a:r>
          </a:p>
          <a:p>
            <a:pPr lvl="1" eaLnBrk="1" hangingPunct="1">
              <a:lnSpc>
                <a:spcPct val="80000"/>
              </a:lnSpc>
            </a:pPr>
            <a:r>
              <a:rPr lang="en-US" altLang="en-US" sz="2800"/>
              <a:t>Personnel Controls</a:t>
            </a:r>
          </a:p>
          <a:p>
            <a:pPr lvl="2" eaLnBrk="1" hangingPunct="1">
              <a:lnSpc>
                <a:spcPct val="80000"/>
              </a:lnSpc>
            </a:pPr>
            <a:r>
              <a:rPr lang="en-US" altLang="en-US" sz="2600"/>
              <a:t>Separation of Duties</a:t>
            </a:r>
          </a:p>
          <a:p>
            <a:pPr lvl="2" eaLnBrk="1" hangingPunct="1">
              <a:lnSpc>
                <a:spcPct val="80000"/>
              </a:lnSpc>
            </a:pPr>
            <a:r>
              <a:rPr lang="en-US" altLang="en-US" sz="2600"/>
              <a:t>Rotation of Duties</a:t>
            </a:r>
          </a:p>
          <a:p>
            <a:pPr lvl="2" eaLnBrk="1" hangingPunct="1">
              <a:lnSpc>
                <a:spcPct val="80000"/>
              </a:lnSpc>
            </a:pPr>
            <a:r>
              <a:rPr lang="en-US" altLang="en-US" sz="2600"/>
              <a:t>Mandatory Vacation</a:t>
            </a:r>
          </a:p>
          <a:p>
            <a:pPr lvl="1" eaLnBrk="1" hangingPunct="1">
              <a:lnSpc>
                <a:spcPct val="80000"/>
              </a:lnSpc>
            </a:pPr>
            <a:r>
              <a:rPr lang="en-US" altLang="en-US" sz="2800"/>
              <a:t>Supervisory Structure</a:t>
            </a:r>
          </a:p>
          <a:p>
            <a:pPr lvl="1" eaLnBrk="1" hangingPunct="1">
              <a:lnSpc>
                <a:spcPct val="80000"/>
              </a:lnSpc>
            </a:pPr>
            <a:r>
              <a:rPr lang="en-US" altLang="en-US" sz="2800"/>
              <a:t>Security Awareness Training</a:t>
            </a:r>
          </a:p>
          <a:p>
            <a:pPr lvl="1" eaLnBrk="1" hangingPunct="1">
              <a:lnSpc>
                <a:spcPct val="80000"/>
              </a:lnSpc>
            </a:pPr>
            <a:r>
              <a:rPr lang="en-US" altLang="en-US" sz="2800"/>
              <a:t>Testing</a:t>
            </a:r>
          </a:p>
        </p:txBody>
      </p:sp>
    </p:spTree>
    <p:extLst>
      <p:ext uri="{BB962C8B-B14F-4D97-AF65-F5344CB8AC3E}">
        <p14:creationId xmlns:p14="http://schemas.microsoft.com/office/powerpoint/2010/main" val="866782898"/>
      </p:ext>
    </p:extLst>
  </p:cSld>
  <p:clrMapOvr>
    <a:masterClrMapping/>
  </p:clrMapOvr>
  <p:transition spd="slow">
    <p:wipe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C4086F67-4481-43A9-904C-63BA340627DE}" type="slidenum">
              <a:rPr lang="en-US" altLang="en-US" sz="1000">
                <a:solidFill>
                  <a:srgbClr val="D9CFAB"/>
                </a:solidFill>
              </a:rPr>
              <a:pPr>
                <a:spcBef>
                  <a:spcPct val="0"/>
                </a:spcBef>
                <a:buFontTx/>
                <a:buNone/>
              </a:pPr>
              <a:t>62</a:t>
            </a:fld>
            <a:endParaRPr lang="en-US" altLang="en-US" sz="1400">
              <a:solidFill>
                <a:srgbClr val="D9CFAB"/>
              </a:solidFill>
              <a:latin typeface="Times" panose="02020603050405020304" pitchFamily="18" charset="0"/>
            </a:endParaRPr>
          </a:p>
        </p:txBody>
      </p:sp>
      <p:sp>
        <p:nvSpPr>
          <p:cNvPr id="70659" name="Rectangle 2"/>
          <p:cNvSpPr>
            <a:spLocks noGrp="1" noChangeArrowheads="1"/>
          </p:cNvSpPr>
          <p:nvPr>
            <p:ph type="title"/>
          </p:nvPr>
        </p:nvSpPr>
        <p:spPr/>
        <p:txBody>
          <a:bodyPr/>
          <a:lstStyle/>
          <a:p>
            <a:pPr algn="r" eaLnBrk="1" hangingPunct="1"/>
            <a:r>
              <a:rPr lang="en-US" altLang="en-US" smtClean="0"/>
              <a:t>Access Control Methods</a:t>
            </a:r>
          </a:p>
        </p:txBody>
      </p:sp>
      <p:sp>
        <p:nvSpPr>
          <p:cNvPr id="70660" name="Rectangle 3"/>
          <p:cNvSpPr>
            <a:spLocks noGrp="1" noChangeArrowheads="1"/>
          </p:cNvSpPr>
          <p:nvPr>
            <p:ph type="body" idx="1"/>
          </p:nvPr>
        </p:nvSpPr>
        <p:spPr>
          <a:xfrm>
            <a:off x="1524000" y="1239838"/>
            <a:ext cx="8839200" cy="4711700"/>
          </a:xfrm>
        </p:spPr>
        <p:txBody>
          <a:bodyPr/>
          <a:lstStyle/>
          <a:p>
            <a:pPr eaLnBrk="1" hangingPunct="1">
              <a:lnSpc>
                <a:spcPct val="90000"/>
              </a:lnSpc>
            </a:pPr>
            <a:r>
              <a:rPr lang="en-US" altLang="en-US" smtClean="0"/>
              <a:t>Physical Controls</a:t>
            </a:r>
          </a:p>
          <a:p>
            <a:pPr lvl="1" eaLnBrk="1" hangingPunct="1">
              <a:lnSpc>
                <a:spcPct val="90000"/>
              </a:lnSpc>
            </a:pPr>
            <a:r>
              <a:rPr lang="en-US" altLang="en-US" smtClean="0"/>
              <a:t>Network Segregation</a:t>
            </a:r>
          </a:p>
          <a:p>
            <a:pPr lvl="1" eaLnBrk="1" hangingPunct="1">
              <a:lnSpc>
                <a:spcPct val="90000"/>
              </a:lnSpc>
            </a:pPr>
            <a:r>
              <a:rPr lang="en-US" altLang="en-US" smtClean="0"/>
              <a:t>Perimeter Security</a:t>
            </a:r>
          </a:p>
          <a:p>
            <a:pPr lvl="1" eaLnBrk="1" hangingPunct="1">
              <a:lnSpc>
                <a:spcPct val="90000"/>
              </a:lnSpc>
            </a:pPr>
            <a:r>
              <a:rPr lang="en-US" altLang="en-US" smtClean="0"/>
              <a:t>Computer Controls</a:t>
            </a:r>
          </a:p>
          <a:p>
            <a:pPr lvl="1" eaLnBrk="1" hangingPunct="1">
              <a:lnSpc>
                <a:spcPct val="90000"/>
              </a:lnSpc>
            </a:pPr>
            <a:r>
              <a:rPr lang="en-US" altLang="en-US" smtClean="0"/>
              <a:t>Work Area Separation</a:t>
            </a:r>
          </a:p>
          <a:p>
            <a:pPr lvl="1" eaLnBrk="1" hangingPunct="1">
              <a:lnSpc>
                <a:spcPct val="90000"/>
              </a:lnSpc>
            </a:pPr>
            <a:r>
              <a:rPr lang="en-US" altLang="en-US" smtClean="0"/>
              <a:t>Data Backups</a:t>
            </a:r>
          </a:p>
          <a:p>
            <a:pPr lvl="1" eaLnBrk="1" hangingPunct="1">
              <a:lnSpc>
                <a:spcPct val="90000"/>
              </a:lnSpc>
            </a:pPr>
            <a:r>
              <a:rPr lang="en-US" altLang="en-US" smtClean="0"/>
              <a:t>Cabling</a:t>
            </a:r>
          </a:p>
          <a:p>
            <a:pPr lvl="1" eaLnBrk="1" hangingPunct="1">
              <a:lnSpc>
                <a:spcPct val="90000"/>
              </a:lnSpc>
            </a:pPr>
            <a:r>
              <a:rPr lang="en-US" altLang="en-US" smtClean="0"/>
              <a:t>Control Zone</a:t>
            </a:r>
          </a:p>
        </p:txBody>
      </p:sp>
    </p:spTree>
    <p:extLst>
      <p:ext uri="{BB962C8B-B14F-4D97-AF65-F5344CB8AC3E}">
        <p14:creationId xmlns:p14="http://schemas.microsoft.com/office/powerpoint/2010/main" val="2855133328"/>
      </p:ext>
    </p:extLst>
  </p:cSld>
  <p:clrMapOvr>
    <a:masterClrMapping/>
  </p:clrMapOvr>
  <p:transition spd="slow">
    <p:wipe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3EF98B03-9E70-46FC-8D04-CB664D8937A7}" type="slidenum">
              <a:rPr lang="en-US" altLang="en-US" sz="1000">
                <a:solidFill>
                  <a:srgbClr val="D9CFAB"/>
                </a:solidFill>
              </a:rPr>
              <a:pPr>
                <a:spcBef>
                  <a:spcPct val="0"/>
                </a:spcBef>
                <a:buFontTx/>
                <a:buNone/>
              </a:pPr>
              <a:t>63</a:t>
            </a:fld>
            <a:endParaRPr lang="en-US" altLang="en-US" sz="1400">
              <a:solidFill>
                <a:srgbClr val="D9CFAB"/>
              </a:solidFill>
              <a:latin typeface="Times" panose="02020603050405020304" pitchFamily="18" charset="0"/>
            </a:endParaRPr>
          </a:p>
        </p:txBody>
      </p:sp>
      <p:sp>
        <p:nvSpPr>
          <p:cNvPr id="72707" name="Rectangle 2"/>
          <p:cNvSpPr>
            <a:spLocks noGrp="1" noChangeArrowheads="1"/>
          </p:cNvSpPr>
          <p:nvPr>
            <p:ph type="title"/>
          </p:nvPr>
        </p:nvSpPr>
        <p:spPr/>
        <p:txBody>
          <a:bodyPr/>
          <a:lstStyle/>
          <a:p>
            <a:pPr algn="r" eaLnBrk="1" hangingPunct="1"/>
            <a:r>
              <a:rPr lang="en-US" altLang="en-US" smtClean="0"/>
              <a:t>Access Control Methods</a:t>
            </a:r>
          </a:p>
        </p:txBody>
      </p:sp>
      <p:sp>
        <p:nvSpPr>
          <p:cNvPr id="72708" name="Rectangle 3"/>
          <p:cNvSpPr>
            <a:spLocks noGrp="1" noChangeArrowheads="1"/>
          </p:cNvSpPr>
          <p:nvPr>
            <p:ph type="body" idx="1"/>
          </p:nvPr>
        </p:nvSpPr>
        <p:spPr/>
        <p:txBody>
          <a:bodyPr/>
          <a:lstStyle/>
          <a:p>
            <a:pPr eaLnBrk="1" hangingPunct="1"/>
            <a:r>
              <a:rPr lang="en-US" altLang="en-US" smtClean="0"/>
              <a:t>Technical (Logical) Controls</a:t>
            </a:r>
          </a:p>
          <a:p>
            <a:pPr lvl="1" eaLnBrk="1" hangingPunct="1"/>
            <a:r>
              <a:rPr lang="en-US" altLang="en-US" smtClean="0"/>
              <a:t>System Access</a:t>
            </a:r>
          </a:p>
          <a:p>
            <a:pPr lvl="1" eaLnBrk="1" hangingPunct="1"/>
            <a:r>
              <a:rPr lang="en-US" altLang="en-US" smtClean="0"/>
              <a:t>Network Architecture</a:t>
            </a:r>
          </a:p>
          <a:p>
            <a:pPr lvl="1" eaLnBrk="1" hangingPunct="1"/>
            <a:r>
              <a:rPr lang="en-US" altLang="en-US" smtClean="0"/>
              <a:t>Network Access</a:t>
            </a:r>
          </a:p>
          <a:p>
            <a:pPr lvl="1" eaLnBrk="1" hangingPunct="1"/>
            <a:r>
              <a:rPr lang="en-US" altLang="en-US" smtClean="0"/>
              <a:t>Encryption and protocols</a:t>
            </a:r>
          </a:p>
          <a:p>
            <a:pPr lvl="1" eaLnBrk="1" hangingPunct="1"/>
            <a:r>
              <a:rPr lang="en-US" altLang="en-US" smtClean="0"/>
              <a:t>Auditing</a:t>
            </a:r>
          </a:p>
        </p:txBody>
      </p:sp>
    </p:spTree>
    <p:extLst>
      <p:ext uri="{BB962C8B-B14F-4D97-AF65-F5344CB8AC3E}">
        <p14:creationId xmlns:p14="http://schemas.microsoft.com/office/powerpoint/2010/main" val="3675983928"/>
      </p:ext>
    </p:extLst>
  </p:cSld>
  <p:clrMapOvr>
    <a:masterClrMapping/>
  </p:clrMapOvr>
  <p:transition spd="slow">
    <p:wipe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3CB56BD5-BC54-4CCE-9213-2D07381F3285}" type="slidenum">
              <a:rPr lang="en-US" altLang="en-US" sz="1000">
                <a:solidFill>
                  <a:srgbClr val="D9CFAB"/>
                </a:solidFill>
              </a:rPr>
              <a:pPr>
                <a:spcBef>
                  <a:spcPct val="0"/>
                </a:spcBef>
                <a:buFontTx/>
                <a:buNone/>
              </a:pPr>
              <a:t>64</a:t>
            </a:fld>
            <a:endParaRPr lang="en-US" altLang="en-US" sz="1400">
              <a:solidFill>
                <a:srgbClr val="D9CFAB"/>
              </a:solidFill>
              <a:latin typeface="Times" panose="02020603050405020304" pitchFamily="18" charset="0"/>
            </a:endParaRPr>
          </a:p>
        </p:txBody>
      </p:sp>
      <p:sp>
        <p:nvSpPr>
          <p:cNvPr id="74755" name="Rectangle 2"/>
          <p:cNvSpPr>
            <a:spLocks noGrp="1" noChangeArrowheads="1"/>
          </p:cNvSpPr>
          <p:nvPr>
            <p:ph type="title"/>
          </p:nvPr>
        </p:nvSpPr>
        <p:spPr/>
        <p:txBody>
          <a:bodyPr/>
          <a:lstStyle/>
          <a:p>
            <a:pPr algn="r" eaLnBrk="1" hangingPunct="1"/>
            <a:r>
              <a:rPr lang="en-US" altLang="en-US" smtClean="0"/>
              <a:t>Access Control Types</a:t>
            </a:r>
          </a:p>
        </p:txBody>
      </p:sp>
      <p:sp>
        <p:nvSpPr>
          <p:cNvPr id="74756" name="Rectangle 3"/>
          <p:cNvSpPr>
            <a:spLocks noGrp="1" noChangeArrowheads="1"/>
          </p:cNvSpPr>
          <p:nvPr>
            <p:ph type="body" idx="1"/>
          </p:nvPr>
        </p:nvSpPr>
        <p:spPr>
          <a:xfrm>
            <a:off x="1524000" y="1239839"/>
            <a:ext cx="8839200" cy="4611687"/>
          </a:xfrm>
        </p:spPr>
        <p:txBody>
          <a:bodyPr>
            <a:normAutofit fontScale="92500" lnSpcReduction="10000"/>
          </a:bodyPr>
          <a:lstStyle/>
          <a:p>
            <a:pPr eaLnBrk="1" hangingPunct="1">
              <a:lnSpc>
                <a:spcPct val="80000"/>
              </a:lnSpc>
            </a:pPr>
            <a:r>
              <a:rPr lang="en-US" altLang="en-US" sz="3200" dirty="0"/>
              <a:t>Each control works at a different level of granularity, but can also perform several functions</a:t>
            </a:r>
          </a:p>
          <a:p>
            <a:pPr eaLnBrk="1" hangingPunct="1">
              <a:lnSpc>
                <a:spcPct val="80000"/>
              </a:lnSpc>
            </a:pPr>
            <a:r>
              <a:rPr lang="en-US" altLang="en-US" sz="3200" dirty="0"/>
              <a:t>Access Control </a:t>
            </a:r>
            <a:r>
              <a:rPr lang="en-US" altLang="en-US" sz="3200" dirty="0" smtClean="0"/>
              <a:t>Functionalities(</a:t>
            </a:r>
            <a:r>
              <a:rPr lang="en-US" altLang="en-US" sz="3200" dirty="0" smtClean="0">
                <a:solidFill>
                  <a:srgbClr val="FF0000"/>
                </a:solidFill>
              </a:rPr>
              <a:t>p</a:t>
            </a:r>
            <a:r>
              <a:rPr lang="en-US" altLang="en-US" sz="3200" dirty="0" smtClean="0"/>
              <a:t>lanting </a:t>
            </a:r>
            <a:r>
              <a:rPr lang="en-US" altLang="en-US" sz="3200" dirty="0" smtClean="0">
                <a:solidFill>
                  <a:srgbClr val="FF0000"/>
                </a:solidFill>
              </a:rPr>
              <a:t>c</a:t>
            </a:r>
            <a:r>
              <a:rPr lang="en-US" altLang="en-US" sz="3200" dirty="0" smtClean="0"/>
              <a:t>arrot</a:t>
            </a:r>
            <a:r>
              <a:rPr lang="en-US" altLang="en-US" sz="3200" dirty="0" smtClean="0"/>
              <a:t>s </a:t>
            </a:r>
            <a:r>
              <a:rPr lang="en-US" altLang="en-US" sz="3200" dirty="0" smtClean="0">
                <a:solidFill>
                  <a:srgbClr val="FF0000"/>
                </a:solidFill>
              </a:rPr>
              <a:t>r</a:t>
            </a:r>
            <a:r>
              <a:rPr lang="en-US" altLang="en-US" sz="3200" dirty="0" smtClean="0"/>
              <a:t>eturn </a:t>
            </a:r>
            <a:r>
              <a:rPr lang="en-US" altLang="en-US" sz="3200" dirty="0" err="1" smtClean="0">
                <a:solidFill>
                  <a:srgbClr val="FF0000"/>
                </a:solidFill>
              </a:rPr>
              <a:t>c</a:t>
            </a:r>
            <a:r>
              <a:rPr lang="en-US" altLang="en-US" sz="3200" dirty="0" err="1" smtClean="0"/>
              <a:t>ompasations</a:t>
            </a:r>
            <a:r>
              <a:rPr lang="en-US" altLang="en-US" sz="3200" dirty="0" smtClean="0"/>
              <a:t> </a:t>
            </a:r>
            <a:r>
              <a:rPr lang="en-US" altLang="en-US" sz="3200" dirty="0" smtClean="0">
                <a:solidFill>
                  <a:srgbClr val="FF0000"/>
                </a:solidFill>
              </a:rPr>
              <a:t>d</a:t>
            </a:r>
            <a:r>
              <a:rPr lang="en-US" altLang="en-US" sz="3200" dirty="0" smtClean="0"/>
              <a:t>enounce  </a:t>
            </a:r>
            <a:r>
              <a:rPr lang="en-US" altLang="en-US" sz="3200" dirty="0" smtClean="0">
                <a:solidFill>
                  <a:srgbClr val="FF0000"/>
                </a:solidFill>
              </a:rPr>
              <a:t>D</a:t>
            </a:r>
            <a:r>
              <a:rPr lang="en-US" altLang="en-US" sz="3200" dirty="0" smtClean="0"/>
              <a:t>anny</a:t>
            </a:r>
            <a:r>
              <a:rPr lang="en-US" altLang="en-US" sz="3200" dirty="0" smtClean="0"/>
              <a:t>)</a:t>
            </a:r>
            <a:endParaRPr lang="en-US" altLang="en-US" sz="3200" dirty="0"/>
          </a:p>
          <a:p>
            <a:pPr lvl="1" eaLnBrk="1" hangingPunct="1">
              <a:lnSpc>
                <a:spcPct val="80000"/>
              </a:lnSpc>
            </a:pPr>
            <a:r>
              <a:rPr lang="en-US" altLang="en-US" sz="2800" dirty="0"/>
              <a:t>Prevent</a:t>
            </a:r>
          </a:p>
          <a:p>
            <a:pPr lvl="1" eaLnBrk="1" hangingPunct="1">
              <a:lnSpc>
                <a:spcPct val="80000"/>
              </a:lnSpc>
            </a:pPr>
            <a:r>
              <a:rPr lang="en-US" altLang="en-US" sz="2800" dirty="0"/>
              <a:t>Detect</a:t>
            </a:r>
          </a:p>
          <a:p>
            <a:pPr lvl="1" eaLnBrk="1" hangingPunct="1">
              <a:lnSpc>
                <a:spcPct val="80000"/>
              </a:lnSpc>
            </a:pPr>
            <a:r>
              <a:rPr lang="en-US" altLang="en-US" sz="2800" dirty="0"/>
              <a:t>Correct</a:t>
            </a:r>
          </a:p>
          <a:p>
            <a:pPr lvl="1" eaLnBrk="1" hangingPunct="1">
              <a:lnSpc>
                <a:spcPct val="80000"/>
              </a:lnSpc>
            </a:pPr>
            <a:r>
              <a:rPr lang="en-US" altLang="en-US" sz="2800" dirty="0"/>
              <a:t>Deter</a:t>
            </a:r>
          </a:p>
          <a:p>
            <a:pPr lvl="1" eaLnBrk="1" hangingPunct="1">
              <a:lnSpc>
                <a:spcPct val="80000"/>
              </a:lnSpc>
            </a:pPr>
            <a:r>
              <a:rPr lang="en-US" altLang="en-US" sz="2800" dirty="0"/>
              <a:t>Recover</a:t>
            </a:r>
          </a:p>
          <a:p>
            <a:pPr lvl="1" eaLnBrk="1" hangingPunct="1">
              <a:lnSpc>
                <a:spcPct val="80000"/>
              </a:lnSpc>
            </a:pPr>
            <a:r>
              <a:rPr lang="en-US" altLang="en-US" sz="2800" dirty="0"/>
              <a:t>Compensate</a:t>
            </a:r>
          </a:p>
        </p:txBody>
      </p:sp>
    </p:spTree>
    <p:extLst>
      <p:ext uri="{BB962C8B-B14F-4D97-AF65-F5344CB8AC3E}">
        <p14:creationId xmlns:p14="http://schemas.microsoft.com/office/powerpoint/2010/main" val="3139945821"/>
      </p:ext>
    </p:extLst>
  </p:cSld>
  <p:clrMapOvr>
    <a:masterClrMapping/>
  </p:clrMapOvr>
  <p:transition spd="slow">
    <p:wipe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0308B6A3-B83F-4E66-8368-B6601C088010}" type="slidenum">
              <a:rPr lang="en-US" altLang="en-US" sz="1000">
                <a:solidFill>
                  <a:srgbClr val="D9CFAB"/>
                </a:solidFill>
              </a:rPr>
              <a:pPr>
                <a:spcBef>
                  <a:spcPct val="0"/>
                </a:spcBef>
                <a:buFontTx/>
                <a:buNone/>
              </a:pPr>
              <a:t>65</a:t>
            </a:fld>
            <a:endParaRPr lang="en-US" altLang="en-US" sz="1400">
              <a:solidFill>
                <a:srgbClr val="D9CFAB"/>
              </a:solidFill>
              <a:latin typeface="Times" panose="02020603050405020304" pitchFamily="18" charset="0"/>
            </a:endParaRPr>
          </a:p>
        </p:txBody>
      </p:sp>
      <p:sp>
        <p:nvSpPr>
          <p:cNvPr id="76803" name="Rectangle 2"/>
          <p:cNvSpPr>
            <a:spLocks noGrp="1" noChangeArrowheads="1"/>
          </p:cNvSpPr>
          <p:nvPr>
            <p:ph type="title"/>
          </p:nvPr>
        </p:nvSpPr>
        <p:spPr/>
        <p:txBody>
          <a:bodyPr/>
          <a:lstStyle/>
          <a:p>
            <a:pPr algn="r" eaLnBrk="1" hangingPunct="1"/>
            <a:r>
              <a:rPr lang="en-US" altLang="en-US" smtClean="0"/>
              <a:t>Access Control Types</a:t>
            </a:r>
          </a:p>
        </p:txBody>
      </p:sp>
      <p:sp>
        <p:nvSpPr>
          <p:cNvPr id="76804" name="Rectangle 3"/>
          <p:cNvSpPr>
            <a:spLocks noGrp="1" noChangeArrowheads="1"/>
          </p:cNvSpPr>
          <p:nvPr>
            <p:ph type="body" idx="1"/>
          </p:nvPr>
        </p:nvSpPr>
        <p:spPr/>
        <p:txBody>
          <a:bodyPr/>
          <a:lstStyle/>
          <a:p>
            <a:pPr eaLnBrk="1" hangingPunct="1">
              <a:lnSpc>
                <a:spcPct val="80000"/>
              </a:lnSpc>
            </a:pPr>
            <a:r>
              <a:rPr lang="en-US" altLang="en-US" sz="2800"/>
              <a:t>Security controls should be built on the concept of preventative security</a:t>
            </a:r>
          </a:p>
          <a:p>
            <a:pPr eaLnBrk="1" hangingPunct="1">
              <a:lnSpc>
                <a:spcPct val="80000"/>
              </a:lnSpc>
            </a:pPr>
            <a:r>
              <a:rPr lang="en-US" altLang="en-US" sz="2800"/>
              <a:t>Preventative Administrative Controls</a:t>
            </a:r>
          </a:p>
          <a:p>
            <a:pPr lvl="1" eaLnBrk="1" hangingPunct="1">
              <a:lnSpc>
                <a:spcPct val="80000"/>
              </a:lnSpc>
            </a:pPr>
            <a:r>
              <a:rPr lang="en-US" altLang="en-US" sz="2400"/>
              <a:t>Includes policies, hiring practices, security awareness</a:t>
            </a:r>
          </a:p>
          <a:p>
            <a:pPr eaLnBrk="1" hangingPunct="1">
              <a:lnSpc>
                <a:spcPct val="80000"/>
              </a:lnSpc>
            </a:pPr>
            <a:r>
              <a:rPr lang="en-US" altLang="en-US" sz="2800"/>
              <a:t>Preventative Physical Controls</a:t>
            </a:r>
          </a:p>
          <a:p>
            <a:pPr lvl="1" eaLnBrk="1" hangingPunct="1">
              <a:lnSpc>
                <a:spcPct val="80000"/>
              </a:lnSpc>
            </a:pPr>
            <a:r>
              <a:rPr lang="en-US" altLang="en-US" sz="2400"/>
              <a:t>Includes badges, swipe cards, guards, fences</a:t>
            </a:r>
          </a:p>
          <a:p>
            <a:pPr eaLnBrk="1" hangingPunct="1">
              <a:lnSpc>
                <a:spcPct val="80000"/>
              </a:lnSpc>
            </a:pPr>
            <a:r>
              <a:rPr lang="en-US" altLang="en-US" sz="2800"/>
              <a:t>Preventative Technical Controls</a:t>
            </a:r>
          </a:p>
          <a:p>
            <a:pPr lvl="1" eaLnBrk="1" hangingPunct="1">
              <a:lnSpc>
                <a:spcPct val="80000"/>
              </a:lnSpc>
            </a:pPr>
            <a:r>
              <a:rPr lang="en-US" altLang="en-US" sz="2400"/>
              <a:t>Includes passwords, encryption, antivirus software</a:t>
            </a:r>
          </a:p>
          <a:p>
            <a:pPr eaLnBrk="1" hangingPunct="1">
              <a:lnSpc>
                <a:spcPct val="80000"/>
              </a:lnSpc>
            </a:pPr>
            <a:endParaRPr lang="en-US" altLang="en-US" sz="2800"/>
          </a:p>
          <a:p>
            <a:pPr eaLnBrk="1" hangingPunct="1">
              <a:lnSpc>
                <a:spcPct val="80000"/>
              </a:lnSpc>
            </a:pPr>
            <a:endParaRPr lang="en-US" altLang="en-US" sz="2800"/>
          </a:p>
        </p:txBody>
      </p:sp>
    </p:spTree>
    <p:extLst>
      <p:ext uri="{BB962C8B-B14F-4D97-AF65-F5344CB8AC3E}">
        <p14:creationId xmlns:p14="http://schemas.microsoft.com/office/powerpoint/2010/main" val="3461724449"/>
      </p:ext>
    </p:extLst>
  </p:cSld>
  <p:clrMapOvr>
    <a:masterClrMapping/>
  </p:clrMapOvr>
  <p:transition spd="slow">
    <p:wipe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66770701-50D9-4FFF-9C97-B8E887EDCFE7}" type="slidenum">
              <a:rPr lang="en-US" altLang="en-US" sz="1000">
                <a:solidFill>
                  <a:srgbClr val="D9CFAB"/>
                </a:solidFill>
              </a:rPr>
              <a:pPr>
                <a:spcBef>
                  <a:spcPct val="0"/>
                </a:spcBef>
                <a:buFontTx/>
                <a:buNone/>
              </a:pPr>
              <a:t>66</a:t>
            </a:fld>
            <a:endParaRPr lang="en-US" altLang="en-US" sz="1400">
              <a:solidFill>
                <a:srgbClr val="D9CFAB"/>
              </a:solidFill>
              <a:latin typeface="Times" panose="02020603050405020304" pitchFamily="18" charset="0"/>
            </a:endParaRPr>
          </a:p>
        </p:txBody>
      </p:sp>
      <p:sp>
        <p:nvSpPr>
          <p:cNvPr id="78851" name="Rectangle 2"/>
          <p:cNvSpPr>
            <a:spLocks noGrp="1" noChangeArrowheads="1"/>
          </p:cNvSpPr>
          <p:nvPr>
            <p:ph type="title"/>
          </p:nvPr>
        </p:nvSpPr>
        <p:spPr/>
        <p:txBody>
          <a:bodyPr/>
          <a:lstStyle/>
          <a:p>
            <a:pPr algn="r" eaLnBrk="1" hangingPunct="1"/>
            <a:r>
              <a:rPr lang="en-US" altLang="en-US" smtClean="0"/>
              <a:t>Accountability</a:t>
            </a:r>
          </a:p>
        </p:txBody>
      </p:sp>
      <p:sp>
        <p:nvSpPr>
          <p:cNvPr id="78852" name="Rectangle 3"/>
          <p:cNvSpPr>
            <a:spLocks noGrp="1" noChangeArrowheads="1"/>
          </p:cNvSpPr>
          <p:nvPr>
            <p:ph type="body" idx="1"/>
          </p:nvPr>
        </p:nvSpPr>
        <p:spPr/>
        <p:txBody>
          <a:bodyPr>
            <a:normAutofit lnSpcReduction="10000"/>
          </a:bodyPr>
          <a:lstStyle/>
          <a:p>
            <a:pPr eaLnBrk="1" hangingPunct="1">
              <a:lnSpc>
                <a:spcPct val="90000"/>
              </a:lnSpc>
            </a:pPr>
            <a:r>
              <a:rPr lang="en-US" altLang="en-US" sz="3200"/>
              <a:t>Accountability is tracked by recording user, system, and application activities.</a:t>
            </a:r>
          </a:p>
          <a:p>
            <a:pPr eaLnBrk="1" hangingPunct="1">
              <a:lnSpc>
                <a:spcPct val="90000"/>
              </a:lnSpc>
            </a:pPr>
            <a:r>
              <a:rPr lang="en-US" altLang="en-US" sz="3200"/>
              <a:t>Audit information must be reviewed</a:t>
            </a:r>
          </a:p>
          <a:p>
            <a:pPr lvl="1" eaLnBrk="1" hangingPunct="1">
              <a:lnSpc>
                <a:spcPct val="90000"/>
              </a:lnSpc>
            </a:pPr>
            <a:r>
              <a:rPr lang="en-US" altLang="en-US" sz="2800"/>
              <a:t>Event Oriented Audit Review</a:t>
            </a:r>
          </a:p>
          <a:p>
            <a:pPr lvl="1" eaLnBrk="1" hangingPunct="1">
              <a:lnSpc>
                <a:spcPct val="90000"/>
              </a:lnSpc>
            </a:pPr>
            <a:r>
              <a:rPr lang="en-US" altLang="en-US" sz="2800"/>
              <a:t>Real Time and Near Real Time Review</a:t>
            </a:r>
          </a:p>
          <a:p>
            <a:pPr lvl="1" eaLnBrk="1" hangingPunct="1">
              <a:lnSpc>
                <a:spcPct val="90000"/>
              </a:lnSpc>
            </a:pPr>
            <a:r>
              <a:rPr lang="en-US" altLang="en-US" sz="2800"/>
              <a:t>Audit Reduction Tools</a:t>
            </a:r>
          </a:p>
          <a:p>
            <a:pPr lvl="1" eaLnBrk="1" hangingPunct="1">
              <a:lnSpc>
                <a:spcPct val="90000"/>
              </a:lnSpc>
            </a:pPr>
            <a:r>
              <a:rPr lang="en-US" altLang="en-US" sz="2800"/>
              <a:t>Variance Detection Tools</a:t>
            </a:r>
          </a:p>
          <a:p>
            <a:pPr lvl="1" eaLnBrk="1" hangingPunct="1">
              <a:lnSpc>
                <a:spcPct val="90000"/>
              </a:lnSpc>
            </a:pPr>
            <a:r>
              <a:rPr lang="en-US" altLang="en-US" sz="2800"/>
              <a:t>Attack Signature Tools</a:t>
            </a:r>
          </a:p>
        </p:txBody>
      </p:sp>
    </p:spTree>
    <p:extLst>
      <p:ext uri="{BB962C8B-B14F-4D97-AF65-F5344CB8AC3E}">
        <p14:creationId xmlns:p14="http://schemas.microsoft.com/office/powerpoint/2010/main" val="2817842600"/>
      </p:ext>
    </p:extLst>
  </p:cSld>
  <p:clrMapOvr>
    <a:masterClrMapping/>
  </p:clrMapOvr>
  <p:transition spd="slow">
    <p:wipe dir="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D55DC92E-A79B-4D14-A1F4-9834EC659C79}" type="slidenum">
              <a:rPr lang="en-US" altLang="en-US" sz="1000">
                <a:solidFill>
                  <a:srgbClr val="D9CFAB"/>
                </a:solidFill>
              </a:rPr>
              <a:pPr>
                <a:spcBef>
                  <a:spcPct val="0"/>
                </a:spcBef>
                <a:buFontTx/>
                <a:buNone/>
              </a:pPr>
              <a:t>67</a:t>
            </a:fld>
            <a:endParaRPr lang="en-US" altLang="en-US" sz="1400">
              <a:solidFill>
                <a:srgbClr val="D9CFAB"/>
              </a:solidFill>
              <a:latin typeface="Times" panose="02020603050405020304" pitchFamily="18" charset="0"/>
            </a:endParaRPr>
          </a:p>
        </p:txBody>
      </p:sp>
      <p:sp>
        <p:nvSpPr>
          <p:cNvPr id="80899" name="Rectangle 2"/>
          <p:cNvSpPr>
            <a:spLocks noGrp="1" noChangeArrowheads="1"/>
          </p:cNvSpPr>
          <p:nvPr>
            <p:ph type="title"/>
          </p:nvPr>
        </p:nvSpPr>
        <p:spPr/>
        <p:txBody>
          <a:bodyPr/>
          <a:lstStyle/>
          <a:p>
            <a:pPr algn="r" eaLnBrk="1" hangingPunct="1"/>
            <a:r>
              <a:rPr lang="en-US" altLang="en-US" smtClean="0"/>
              <a:t>Accountability</a:t>
            </a:r>
          </a:p>
        </p:txBody>
      </p:sp>
      <p:sp>
        <p:nvSpPr>
          <p:cNvPr id="80900" name="Rectangle 3"/>
          <p:cNvSpPr>
            <a:spLocks noGrp="1" noChangeArrowheads="1"/>
          </p:cNvSpPr>
          <p:nvPr>
            <p:ph type="body" idx="1"/>
          </p:nvPr>
        </p:nvSpPr>
        <p:spPr/>
        <p:txBody>
          <a:bodyPr/>
          <a:lstStyle/>
          <a:p>
            <a:pPr eaLnBrk="1" hangingPunct="1">
              <a:lnSpc>
                <a:spcPct val="90000"/>
              </a:lnSpc>
            </a:pPr>
            <a:r>
              <a:rPr lang="en-US" altLang="en-US" sz="2800"/>
              <a:t>Other accountability concepts…</a:t>
            </a:r>
          </a:p>
          <a:p>
            <a:pPr eaLnBrk="1" hangingPunct="1">
              <a:lnSpc>
                <a:spcPct val="90000"/>
              </a:lnSpc>
            </a:pPr>
            <a:r>
              <a:rPr lang="en-US" altLang="en-US" sz="2800"/>
              <a:t>Keystroke Monitoring</a:t>
            </a:r>
          </a:p>
          <a:p>
            <a:pPr lvl="1" eaLnBrk="1" hangingPunct="1">
              <a:lnSpc>
                <a:spcPct val="90000"/>
              </a:lnSpc>
            </a:pPr>
            <a:r>
              <a:rPr lang="en-US" altLang="en-US" sz="2400"/>
              <a:t>Can review and record keystroke entries by a user during an active session.</a:t>
            </a:r>
          </a:p>
          <a:p>
            <a:pPr lvl="1" eaLnBrk="1" hangingPunct="1">
              <a:lnSpc>
                <a:spcPct val="90000"/>
              </a:lnSpc>
            </a:pPr>
            <a:r>
              <a:rPr lang="en-US" altLang="en-US" sz="2400"/>
              <a:t>A hacker can also do this</a:t>
            </a:r>
          </a:p>
          <a:p>
            <a:pPr lvl="1" eaLnBrk="1" hangingPunct="1">
              <a:lnSpc>
                <a:spcPct val="90000"/>
              </a:lnSpc>
            </a:pPr>
            <a:r>
              <a:rPr lang="en-US" altLang="en-US" sz="2400"/>
              <a:t>May have privacy implications for an organization</a:t>
            </a:r>
          </a:p>
          <a:p>
            <a:pPr eaLnBrk="1" hangingPunct="1">
              <a:lnSpc>
                <a:spcPct val="90000"/>
              </a:lnSpc>
            </a:pPr>
            <a:r>
              <a:rPr lang="en-US" altLang="en-US" sz="2800"/>
              <a:t>Scrubbing:  Removing specific incriminating data within audit logs</a:t>
            </a:r>
          </a:p>
          <a:p>
            <a:pPr lvl="1" eaLnBrk="1" hangingPunct="1">
              <a:lnSpc>
                <a:spcPct val="90000"/>
              </a:lnSpc>
            </a:pPr>
            <a:endParaRPr lang="en-US" altLang="en-US" sz="2400"/>
          </a:p>
        </p:txBody>
      </p:sp>
    </p:spTree>
    <p:extLst>
      <p:ext uri="{BB962C8B-B14F-4D97-AF65-F5344CB8AC3E}">
        <p14:creationId xmlns:p14="http://schemas.microsoft.com/office/powerpoint/2010/main" val="4029270866"/>
      </p:ext>
    </p:extLst>
  </p:cSld>
  <p:clrMapOvr>
    <a:masterClrMapping/>
  </p:clrMapOvr>
  <p:transition spd="slow">
    <p:wipe dir="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701D1477-BED2-4F02-8966-526272D3FF70}" type="slidenum">
              <a:rPr lang="en-US" altLang="en-US" sz="1000">
                <a:solidFill>
                  <a:srgbClr val="D9CFAB"/>
                </a:solidFill>
              </a:rPr>
              <a:pPr>
                <a:spcBef>
                  <a:spcPct val="0"/>
                </a:spcBef>
                <a:buFontTx/>
                <a:buNone/>
              </a:pPr>
              <a:t>68</a:t>
            </a:fld>
            <a:endParaRPr lang="en-US" altLang="en-US" sz="1400">
              <a:solidFill>
                <a:srgbClr val="D9CFAB"/>
              </a:solidFill>
              <a:latin typeface="Times" panose="02020603050405020304" pitchFamily="18" charset="0"/>
            </a:endParaRPr>
          </a:p>
        </p:txBody>
      </p:sp>
      <p:sp>
        <p:nvSpPr>
          <p:cNvPr id="82947" name="Rectangle 2"/>
          <p:cNvSpPr>
            <a:spLocks noGrp="1" noChangeArrowheads="1"/>
          </p:cNvSpPr>
          <p:nvPr>
            <p:ph type="title"/>
          </p:nvPr>
        </p:nvSpPr>
        <p:spPr/>
        <p:txBody>
          <a:bodyPr/>
          <a:lstStyle/>
          <a:p>
            <a:pPr algn="r" eaLnBrk="1" hangingPunct="1"/>
            <a:r>
              <a:rPr lang="en-US" altLang="en-US" smtClean="0"/>
              <a:t>Access Control Practices</a:t>
            </a:r>
          </a:p>
        </p:txBody>
      </p:sp>
      <p:sp>
        <p:nvSpPr>
          <p:cNvPr id="82948" name="Rectangle 3"/>
          <p:cNvSpPr>
            <a:spLocks noGrp="1" noChangeArrowheads="1"/>
          </p:cNvSpPr>
          <p:nvPr>
            <p:ph type="body" idx="1"/>
          </p:nvPr>
        </p:nvSpPr>
        <p:spPr>
          <a:xfrm>
            <a:off x="1524000" y="1239839"/>
            <a:ext cx="8839200" cy="4649787"/>
          </a:xfrm>
        </p:spPr>
        <p:txBody>
          <a:bodyPr>
            <a:normAutofit lnSpcReduction="10000"/>
          </a:bodyPr>
          <a:lstStyle/>
          <a:p>
            <a:pPr eaLnBrk="1" hangingPunct="1">
              <a:lnSpc>
                <a:spcPct val="80000"/>
              </a:lnSpc>
            </a:pPr>
            <a:r>
              <a:rPr lang="en-US" altLang="en-US" sz="3200" dirty="0"/>
              <a:t>Know the access control tasks that need to be accomplished regularly to ensure satisfactory security.  Best practices include:</a:t>
            </a:r>
          </a:p>
          <a:p>
            <a:pPr lvl="1" eaLnBrk="1" hangingPunct="1">
              <a:lnSpc>
                <a:spcPct val="80000"/>
              </a:lnSpc>
            </a:pPr>
            <a:r>
              <a:rPr lang="en-US" altLang="en-US" sz="2800" dirty="0"/>
              <a:t>Deny access to </a:t>
            </a:r>
            <a:r>
              <a:rPr lang="en-US" altLang="en-US" sz="2800" dirty="0" smtClean="0"/>
              <a:t>anonymous(not </a:t>
            </a:r>
            <a:r>
              <a:rPr lang="en-US" altLang="en-US" sz="2800" dirty="0" err="1" smtClean="0"/>
              <a:t>identfied</a:t>
            </a:r>
            <a:r>
              <a:rPr lang="en-US" altLang="en-US" sz="2800" dirty="0" smtClean="0"/>
              <a:t> by name) </a:t>
            </a:r>
            <a:r>
              <a:rPr lang="en-US" altLang="en-US" sz="2800" dirty="0"/>
              <a:t>accounts</a:t>
            </a:r>
          </a:p>
          <a:p>
            <a:pPr lvl="1" eaLnBrk="1" hangingPunct="1">
              <a:lnSpc>
                <a:spcPct val="80000"/>
              </a:lnSpc>
            </a:pPr>
            <a:r>
              <a:rPr lang="en-US" altLang="en-US" sz="2800" dirty="0"/>
              <a:t>Enforce strict access criteria</a:t>
            </a:r>
          </a:p>
          <a:p>
            <a:pPr lvl="1" eaLnBrk="1" hangingPunct="1">
              <a:lnSpc>
                <a:spcPct val="80000"/>
              </a:lnSpc>
            </a:pPr>
            <a:r>
              <a:rPr lang="en-US" altLang="en-US" sz="2800" dirty="0"/>
              <a:t>Suspend inactive accounts</a:t>
            </a:r>
          </a:p>
          <a:p>
            <a:pPr lvl="1" eaLnBrk="1" hangingPunct="1">
              <a:lnSpc>
                <a:spcPct val="80000"/>
              </a:lnSpc>
            </a:pPr>
            <a:r>
              <a:rPr lang="en-US" altLang="en-US" sz="2800" dirty="0"/>
              <a:t>Replace default passwords</a:t>
            </a:r>
          </a:p>
          <a:p>
            <a:pPr lvl="1" eaLnBrk="1" hangingPunct="1">
              <a:lnSpc>
                <a:spcPct val="80000"/>
              </a:lnSpc>
            </a:pPr>
            <a:r>
              <a:rPr lang="en-US" altLang="en-US" sz="2800" dirty="0"/>
              <a:t>Enforce password rotation</a:t>
            </a:r>
          </a:p>
          <a:p>
            <a:pPr lvl="1" eaLnBrk="1" hangingPunct="1">
              <a:lnSpc>
                <a:spcPct val="80000"/>
              </a:lnSpc>
            </a:pPr>
            <a:r>
              <a:rPr lang="en-US" altLang="en-US" sz="2800" dirty="0"/>
              <a:t>Audit and review</a:t>
            </a:r>
          </a:p>
          <a:p>
            <a:pPr lvl="1" eaLnBrk="1" hangingPunct="1">
              <a:lnSpc>
                <a:spcPct val="80000"/>
              </a:lnSpc>
            </a:pPr>
            <a:r>
              <a:rPr lang="en-US" altLang="en-US" sz="2800" dirty="0"/>
              <a:t>Protect audit logs</a:t>
            </a:r>
          </a:p>
        </p:txBody>
      </p:sp>
    </p:spTree>
    <p:extLst>
      <p:ext uri="{BB962C8B-B14F-4D97-AF65-F5344CB8AC3E}">
        <p14:creationId xmlns:p14="http://schemas.microsoft.com/office/powerpoint/2010/main" val="1138585243"/>
      </p:ext>
    </p:extLst>
  </p:cSld>
  <p:clrMapOvr>
    <a:masterClrMapping/>
  </p:clrMapOvr>
  <p:transition spd="slow">
    <p:wipe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A1146105-3393-4005-A76F-769970CCBCB6}" type="slidenum">
              <a:rPr lang="en-US" altLang="en-US" sz="1000">
                <a:solidFill>
                  <a:srgbClr val="D9CFAB"/>
                </a:solidFill>
              </a:rPr>
              <a:pPr>
                <a:spcBef>
                  <a:spcPct val="0"/>
                </a:spcBef>
                <a:buFontTx/>
                <a:buNone/>
              </a:pPr>
              <a:t>69</a:t>
            </a:fld>
            <a:endParaRPr lang="en-US" altLang="en-US" sz="1400">
              <a:solidFill>
                <a:srgbClr val="D9CFAB"/>
              </a:solidFill>
              <a:latin typeface="Times" panose="02020603050405020304" pitchFamily="18" charset="0"/>
            </a:endParaRPr>
          </a:p>
        </p:txBody>
      </p:sp>
      <p:sp>
        <p:nvSpPr>
          <p:cNvPr id="84995" name="Rectangle 2"/>
          <p:cNvSpPr>
            <a:spLocks noGrp="1" noChangeArrowheads="1"/>
          </p:cNvSpPr>
          <p:nvPr>
            <p:ph type="title"/>
          </p:nvPr>
        </p:nvSpPr>
        <p:spPr/>
        <p:txBody>
          <a:bodyPr/>
          <a:lstStyle/>
          <a:p>
            <a:pPr algn="r" eaLnBrk="1" hangingPunct="1"/>
            <a:r>
              <a:rPr lang="en-US" altLang="en-US" smtClean="0"/>
              <a:t>Access Control Practices</a:t>
            </a:r>
          </a:p>
        </p:txBody>
      </p:sp>
      <p:sp>
        <p:nvSpPr>
          <p:cNvPr id="84996" name="Rectangle 3"/>
          <p:cNvSpPr>
            <a:spLocks noGrp="1" noChangeArrowheads="1"/>
          </p:cNvSpPr>
          <p:nvPr>
            <p:ph type="body" idx="1"/>
          </p:nvPr>
        </p:nvSpPr>
        <p:spPr/>
        <p:txBody>
          <a:bodyPr>
            <a:normAutofit lnSpcReduction="10000"/>
          </a:bodyPr>
          <a:lstStyle/>
          <a:p>
            <a:pPr eaLnBrk="1" hangingPunct="1"/>
            <a:r>
              <a:rPr lang="en-US" altLang="en-US" sz="3200"/>
              <a:t>Unauthorized Disclosure of Information</a:t>
            </a:r>
          </a:p>
          <a:p>
            <a:pPr lvl="1" eaLnBrk="1" hangingPunct="1"/>
            <a:r>
              <a:rPr lang="en-US" altLang="en-US" sz="2800"/>
              <a:t>Object Reuse</a:t>
            </a:r>
          </a:p>
          <a:p>
            <a:pPr lvl="1" eaLnBrk="1" hangingPunct="1"/>
            <a:r>
              <a:rPr lang="en-US" altLang="en-US" sz="2800"/>
              <a:t>Data Hiding</a:t>
            </a:r>
          </a:p>
          <a:p>
            <a:pPr eaLnBrk="1" hangingPunct="1"/>
            <a:r>
              <a:rPr lang="en-US" altLang="en-US" sz="3200"/>
              <a:t>Emanation Security</a:t>
            </a:r>
          </a:p>
          <a:p>
            <a:pPr lvl="1" eaLnBrk="1" hangingPunct="1"/>
            <a:r>
              <a:rPr lang="en-US" altLang="en-US" sz="2800"/>
              <a:t>Tempest</a:t>
            </a:r>
          </a:p>
          <a:p>
            <a:pPr lvl="1" eaLnBrk="1" hangingPunct="1"/>
            <a:r>
              <a:rPr lang="en-US" altLang="en-US" sz="2800"/>
              <a:t>White Noise</a:t>
            </a:r>
          </a:p>
          <a:p>
            <a:pPr lvl="1" eaLnBrk="1" hangingPunct="1"/>
            <a:r>
              <a:rPr lang="en-US" altLang="en-US" sz="2800"/>
              <a:t>Control Zone</a:t>
            </a:r>
          </a:p>
        </p:txBody>
      </p:sp>
    </p:spTree>
    <p:extLst>
      <p:ext uri="{BB962C8B-B14F-4D97-AF65-F5344CB8AC3E}">
        <p14:creationId xmlns:p14="http://schemas.microsoft.com/office/powerpoint/2010/main" val="2739585991"/>
      </p:ext>
    </p:extLst>
  </p:cSld>
  <p:clrMapOvr>
    <a:masterClrMapping/>
  </p:clrMapOvr>
  <p:transition spd="slow">
    <p:wipe dir="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345ECA3B-1638-45BB-AE87-9488153C5C9B}" type="slidenum">
              <a:rPr lang="en-US" altLang="en-US" sz="1000">
                <a:solidFill>
                  <a:srgbClr val="D9CFAB"/>
                </a:solidFill>
              </a:rPr>
              <a:pPr>
                <a:spcBef>
                  <a:spcPct val="0"/>
                </a:spcBef>
                <a:buFontTx/>
                <a:buNone/>
              </a:pPr>
              <a:t>70</a:t>
            </a:fld>
            <a:endParaRPr lang="en-US" altLang="en-US" sz="1400">
              <a:solidFill>
                <a:srgbClr val="D9CFAB"/>
              </a:solidFill>
              <a:latin typeface="Times" panose="02020603050405020304" pitchFamily="18" charset="0"/>
            </a:endParaRPr>
          </a:p>
        </p:txBody>
      </p:sp>
      <p:sp>
        <p:nvSpPr>
          <p:cNvPr id="87043" name="Rectangle 2"/>
          <p:cNvSpPr>
            <a:spLocks noGrp="1" noChangeArrowheads="1"/>
          </p:cNvSpPr>
          <p:nvPr>
            <p:ph type="title"/>
          </p:nvPr>
        </p:nvSpPr>
        <p:spPr/>
        <p:txBody>
          <a:bodyPr/>
          <a:lstStyle/>
          <a:p>
            <a:pPr algn="r" eaLnBrk="1" hangingPunct="1"/>
            <a:r>
              <a:rPr lang="en-US" altLang="en-US" smtClean="0"/>
              <a:t>Access Control Monitoring</a:t>
            </a:r>
          </a:p>
        </p:txBody>
      </p:sp>
      <p:sp>
        <p:nvSpPr>
          <p:cNvPr id="87044" name="Rectangle 3"/>
          <p:cNvSpPr>
            <a:spLocks noGrp="1" noChangeArrowheads="1"/>
          </p:cNvSpPr>
          <p:nvPr>
            <p:ph type="body" idx="1"/>
          </p:nvPr>
        </p:nvSpPr>
        <p:spPr>
          <a:xfrm>
            <a:off x="1524000" y="1239838"/>
            <a:ext cx="8839200" cy="4775200"/>
          </a:xfrm>
        </p:spPr>
        <p:txBody>
          <a:bodyPr>
            <a:normAutofit lnSpcReduction="10000"/>
          </a:bodyPr>
          <a:lstStyle/>
          <a:p>
            <a:pPr eaLnBrk="1" hangingPunct="1">
              <a:lnSpc>
                <a:spcPct val="90000"/>
              </a:lnSpc>
            </a:pPr>
            <a:r>
              <a:rPr lang="en-US" altLang="en-US" sz="3200" dirty="0"/>
              <a:t>Intrusion Detection</a:t>
            </a:r>
          </a:p>
          <a:p>
            <a:pPr lvl="1" eaLnBrk="1" hangingPunct="1">
              <a:lnSpc>
                <a:spcPct val="90000"/>
              </a:lnSpc>
            </a:pPr>
            <a:r>
              <a:rPr lang="en-US" altLang="en-US" sz="2800" dirty="0"/>
              <a:t>Three Common Components</a:t>
            </a:r>
          </a:p>
          <a:p>
            <a:pPr lvl="2" eaLnBrk="1" hangingPunct="1">
              <a:lnSpc>
                <a:spcPct val="90000"/>
              </a:lnSpc>
            </a:pPr>
            <a:r>
              <a:rPr lang="en-US" altLang="en-US" sz="2600" dirty="0"/>
              <a:t>Sensors</a:t>
            </a:r>
          </a:p>
          <a:p>
            <a:pPr lvl="2" eaLnBrk="1" hangingPunct="1">
              <a:lnSpc>
                <a:spcPct val="90000"/>
              </a:lnSpc>
            </a:pPr>
            <a:r>
              <a:rPr lang="en-US" altLang="en-US" sz="2600" dirty="0"/>
              <a:t>Analyzers</a:t>
            </a:r>
          </a:p>
          <a:p>
            <a:pPr lvl="2" eaLnBrk="1" hangingPunct="1">
              <a:lnSpc>
                <a:spcPct val="90000"/>
              </a:lnSpc>
            </a:pPr>
            <a:r>
              <a:rPr lang="en-US" altLang="en-US" sz="2600" dirty="0"/>
              <a:t>Administrator Interfaces</a:t>
            </a:r>
          </a:p>
          <a:p>
            <a:pPr lvl="1" eaLnBrk="1" hangingPunct="1">
              <a:lnSpc>
                <a:spcPct val="90000"/>
              </a:lnSpc>
            </a:pPr>
            <a:r>
              <a:rPr lang="en-US" altLang="en-US" sz="2800" dirty="0"/>
              <a:t>Common Types</a:t>
            </a:r>
          </a:p>
          <a:p>
            <a:pPr lvl="2" eaLnBrk="1" hangingPunct="1">
              <a:lnSpc>
                <a:spcPct val="90000"/>
              </a:lnSpc>
            </a:pPr>
            <a:r>
              <a:rPr lang="en-US" altLang="en-US" sz="2600" dirty="0"/>
              <a:t>Intrusion Detection</a:t>
            </a:r>
          </a:p>
          <a:p>
            <a:pPr lvl="2" eaLnBrk="1" hangingPunct="1">
              <a:lnSpc>
                <a:spcPct val="90000"/>
              </a:lnSpc>
            </a:pPr>
            <a:r>
              <a:rPr lang="en-US" altLang="en-US" sz="2600" dirty="0"/>
              <a:t>Intrusion Prevention</a:t>
            </a:r>
          </a:p>
          <a:p>
            <a:pPr lvl="2" eaLnBrk="1" hangingPunct="1">
              <a:lnSpc>
                <a:spcPct val="90000"/>
              </a:lnSpc>
            </a:pPr>
            <a:r>
              <a:rPr lang="en-US" altLang="en-US" sz="2600" dirty="0"/>
              <a:t>Honeypots</a:t>
            </a:r>
          </a:p>
          <a:p>
            <a:pPr lvl="2" eaLnBrk="1" hangingPunct="1">
              <a:lnSpc>
                <a:spcPct val="90000"/>
              </a:lnSpc>
            </a:pPr>
            <a:r>
              <a:rPr lang="en-US" altLang="en-US" sz="2600" dirty="0"/>
              <a:t>Network Sniffers</a:t>
            </a:r>
          </a:p>
          <a:p>
            <a:pPr lvl="1" eaLnBrk="1" hangingPunct="1">
              <a:lnSpc>
                <a:spcPct val="90000"/>
              </a:lnSpc>
              <a:buFont typeface="Times" panose="02020603050405020304" pitchFamily="18" charset="0"/>
              <a:buNone/>
            </a:pPr>
            <a:endParaRPr lang="en-US" altLang="en-US" sz="2800" dirty="0"/>
          </a:p>
        </p:txBody>
      </p:sp>
    </p:spTree>
    <p:extLst>
      <p:ext uri="{BB962C8B-B14F-4D97-AF65-F5344CB8AC3E}">
        <p14:creationId xmlns:p14="http://schemas.microsoft.com/office/powerpoint/2010/main" val="3803380647"/>
      </p:ext>
    </p:extLst>
  </p:cSld>
  <p:clrMapOvr>
    <a:masterClrMapping/>
  </p:clrMapOvr>
  <p:transition spd="slow">
    <p:wipe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8AEF2C6D-C718-4749-B2A6-8CB9F3D9D21A}" type="slidenum">
              <a:rPr lang="en-US" altLang="en-US" sz="1000">
                <a:solidFill>
                  <a:srgbClr val="D9CFAB"/>
                </a:solidFill>
              </a:rPr>
              <a:pPr>
                <a:spcBef>
                  <a:spcPct val="0"/>
                </a:spcBef>
                <a:buFontTx/>
                <a:buNone/>
              </a:pPr>
              <a:t>71</a:t>
            </a:fld>
            <a:endParaRPr lang="en-US" altLang="en-US" sz="1400">
              <a:solidFill>
                <a:srgbClr val="D9CFAB"/>
              </a:solidFill>
              <a:latin typeface="Times" panose="02020603050405020304" pitchFamily="18" charset="0"/>
            </a:endParaRPr>
          </a:p>
        </p:txBody>
      </p:sp>
      <p:sp>
        <p:nvSpPr>
          <p:cNvPr id="89091" name="Rectangle 2"/>
          <p:cNvSpPr>
            <a:spLocks noGrp="1" noChangeArrowheads="1"/>
          </p:cNvSpPr>
          <p:nvPr>
            <p:ph type="title"/>
          </p:nvPr>
        </p:nvSpPr>
        <p:spPr/>
        <p:txBody>
          <a:bodyPr/>
          <a:lstStyle/>
          <a:p>
            <a:pPr algn="r" eaLnBrk="1" hangingPunct="1"/>
            <a:r>
              <a:rPr lang="en-US" altLang="en-US" smtClean="0"/>
              <a:t>Access Control Monitoring</a:t>
            </a:r>
          </a:p>
        </p:txBody>
      </p:sp>
      <p:sp>
        <p:nvSpPr>
          <p:cNvPr id="89092" name="Rectangle 3"/>
          <p:cNvSpPr>
            <a:spLocks noGrp="1" noChangeArrowheads="1"/>
          </p:cNvSpPr>
          <p:nvPr>
            <p:ph type="body" idx="1"/>
          </p:nvPr>
        </p:nvSpPr>
        <p:spPr/>
        <p:txBody>
          <a:bodyPr>
            <a:normAutofit lnSpcReduction="10000"/>
          </a:bodyPr>
          <a:lstStyle/>
          <a:p>
            <a:pPr eaLnBrk="1" hangingPunct="1">
              <a:lnSpc>
                <a:spcPct val="90000"/>
              </a:lnSpc>
            </a:pPr>
            <a:r>
              <a:rPr lang="en-US" altLang="en-US" sz="2800"/>
              <a:t>Two Main Types of Intrusion Detection Systems</a:t>
            </a:r>
          </a:p>
          <a:p>
            <a:pPr lvl="1" eaLnBrk="1" hangingPunct="1">
              <a:lnSpc>
                <a:spcPct val="90000"/>
              </a:lnSpc>
            </a:pPr>
            <a:r>
              <a:rPr lang="en-US" altLang="en-US" sz="2400"/>
              <a:t>Network Based (NIDS)</a:t>
            </a:r>
          </a:p>
          <a:p>
            <a:pPr lvl="1" eaLnBrk="1" hangingPunct="1">
              <a:lnSpc>
                <a:spcPct val="90000"/>
              </a:lnSpc>
            </a:pPr>
            <a:r>
              <a:rPr lang="en-US" altLang="en-US" sz="2400"/>
              <a:t>Host Based (HIDS)</a:t>
            </a:r>
          </a:p>
          <a:p>
            <a:pPr eaLnBrk="1" hangingPunct="1">
              <a:lnSpc>
                <a:spcPct val="90000"/>
              </a:lnSpc>
            </a:pPr>
            <a:r>
              <a:rPr lang="en-US" altLang="en-US" sz="2800"/>
              <a:t>HIDS and NIDS can be:</a:t>
            </a:r>
          </a:p>
          <a:p>
            <a:pPr lvl="1" eaLnBrk="1" hangingPunct="1">
              <a:lnSpc>
                <a:spcPct val="90000"/>
              </a:lnSpc>
            </a:pPr>
            <a:r>
              <a:rPr lang="en-US" altLang="en-US" sz="2400"/>
              <a:t>Signature Based</a:t>
            </a:r>
          </a:p>
          <a:p>
            <a:pPr lvl="1" eaLnBrk="1" hangingPunct="1">
              <a:lnSpc>
                <a:spcPct val="90000"/>
              </a:lnSpc>
            </a:pPr>
            <a:r>
              <a:rPr lang="en-US" altLang="en-US" sz="2400"/>
              <a:t>Statistical Anomaly Based</a:t>
            </a:r>
          </a:p>
          <a:p>
            <a:pPr lvl="2" eaLnBrk="1" hangingPunct="1">
              <a:lnSpc>
                <a:spcPct val="90000"/>
              </a:lnSpc>
            </a:pPr>
            <a:r>
              <a:rPr lang="en-US" altLang="en-US" sz="2100"/>
              <a:t>Protocol Anomaly Based</a:t>
            </a:r>
          </a:p>
          <a:p>
            <a:pPr lvl="2" eaLnBrk="1" hangingPunct="1">
              <a:lnSpc>
                <a:spcPct val="90000"/>
              </a:lnSpc>
            </a:pPr>
            <a:r>
              <a:rPr lang="en-US" altLang="en-US" sz="2100"/>
              <a:t>Traffic Anomaly Based</a:t>
            </a:r>
          </a:p>
          <a:p>
            <a:pPr lvl="1" eaLnBrk="1" hangingPunct="1">
              <a:lnSpc>
                <a:spcPct val="90000"/>
              </a:lnSpc>
            </a:pPr>
            <a:r>
              <a:rPr lang="en-US" altLang="en-US" sz="2400"/>
              <a:t>Rule Based</a:t>
            </a:r>
          </a:p>
        </p:txBody>
      </p:sp>
    </p:spTree>
    <p:extLst>
      <p:ext uri="{BB962C8B-B14F-4D97-AF65-F5344CB8AC3E}">
        <p14:creationId xmlns:p14="http://schemas.microsoft.com/office/powerpoint/2010/main" val="3149542075"/>
      </p:ext>
    </p:extLst>
  </p:cSld>
  <p:clrMapOvr>
    <a:masterClrMapping/>
  </p:clrMapOvr>
  <p:transition spd="slow">
    <p:wipe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D3F96D24-650C-49AF-BF6C-C7983D728417}" type="slidenum">
              <a:rPr lang="en-US" altLang="en-US" sz="1000">
                <a:solidFill>
                  <a:srgbClr val="D9CFAB"/>
                </a:solidFill>
              </a:rPr>
              <a:pPr>
                <a:spcBef>
                  <a:spcPct val="0"/>
                </a:spcBef>
                <a:buFontTx/>
                <a:buNone/>
              </a:pPr>
              <a:t>72</a:t>
            </a:fld>
            <a:endParaRPr lang="en-US" altLang="en-US" sz="1400">
              <a:solidFill>
                <a:srgbClr val="D9CFAB"/>
              </a:solidFill>
              <a:latin typeface="Times" panose="02020603050405020304" pitchFamily="18" charset="0"/>
            </a:endParaRPr>
          </a:p>
        </p:txBody>
      </p:sp>
      <p:sp>
        <p:nvSpPr>
          <p:cNvPr id="91139" name="Rectangle 2"/>
          <p:cNvSpPr>
            <a:spLocks noGrp="1" noChangeArrowheads="1"/>
          </p:cNvSpPr>
          <p:nvPr>
            <p:ph type="title"/>
          </p:nvPr>
        </p:nvSpPr>
        <p:spPr/>
        <p:txBody>
          <a:bodyPr/>
          <a:lstStyle/>
          <a:p>
            <a:pPr algn="r" eaLnBrk="1" hangingPunct="1"/>
            <a:r>
              <a:rPr lang="en-US" altLang="en-US" smtClean="0"/>
              <a:t>Access Control Monitoring</a:t>
            </a:r>
          </a:p>
        </p:txBody>
      </p:sp>
      <p:sp>
        <p:nvSpPr>
          <p:cNvPr id="91140" name="Rectangle 3"/>
          <p:cNvSpPr>
            <a:spLocks noGrp="1" noChangeArrowheads="1"/>
          </p:cNvSpPr>
          <p:nvPr>
            <p:ph type="body" idx="1"/>
          </p:nvPr>
        </p:nvSpPr>
        <p:spPr/>
        <p:txBody>
          <a:bodyPr/>
          <a:lstStyle/>
          <a:p>
            <a:pPr eaLnBrk="1" hangingPunct="1"/>
            <a:r>
              <a:rPr lang="en-US" altLang="en-US" smtClean="0"/>
              <a:t>Intrusion Prevention Systems</a:t>
            </a:r>
          </a:p>
          <a:p>
            <a:pPr lvl="1" eaLnBrk="1" hangingPunct="1"/>
            <a:r>
              <a:rPr lang="en-US" altLang="en-US" smtClean="0"/>
              <a:t>The next big thing</a:t>
            </a:r>
          </a:p>
          <a:p>
            <a:pPr lvl="1" eaLnBrk="1" hangingPunct="1"/>
            <a:r>
              <a:rPr lang="en-US" altLang="en-US" smtClean="0"/>
              <a:t>Is a preventative and proactive technology, IDS is a detective technology.</a:t>
            </a:r>
          </a:p>
          <a:p>
            <a:pPr lvl="1" eaLnBrk="1" hangingPunct="1"/>
            <a:r>
              <a:rPr lang="en-US" altLang="en-US" smtClean="0"/>
              <a:t>Two types:  Network Based (NIPS) and Host Based (HIPS)</a:t>
            </a:r>
          </a:p>
        </p:txBody>
      </p:sp>
    </p:spTree>
    <p:extLst>
      <p:ext uri="{BB962C8B-B14F-4D97-AF65-F5344CB8AC3E}">
        <p14:creationId xmlns:p14="http://schemas.microsoft.com/office/powerpoint/2010/main" val="2408757029"/>
      </p:ext>
    </p:extLst>
  </p:cSld>
  <p:clrMapOvr>
    <a:masterClrMapping/>
  </p:clrMapOvr>
  <p:transition spd="slow">
    <p:wipe dir="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49A177CC-3B98-468B-83AF-163EC6CBD1C1}" type="slidenum">
              <a:rPr lang="en-US" altLang="en-US" sz="1000">
                <a:solidFill>
                  <a:srgbClr val="D9CFAB"/>
                </a:solidFill>
              </a:rPr>
              <a:pPr>
                <a:spcBef>
                  <a:spcPct val="0"/>
                </a:spcBef>
                <a:buFontTx/>
                <a:buNone/>
              </a:pPr>
              <a:t>73</a:t>
            </a:fld>
            <a:endParaRPr lang="en-US" altLang="en-US" sz="1400">
              <a:solidFill>
                <a:srgbClr val="D9CFAB"/>
              </a:solidFill>
              <a:latin typeface="Times" panose="02020603050405020304" pitchFamily="18" charset="0"/>
            </a:endParaRPr>
          </a:p>
        </p:txBody>
      </p:sp>
      <p:sp>
        <p:nvSpPr>
          <p:cNvPr id="93187" name="Rectangle 2"/>
          <p:cNvSpPr>
            <a:spLocks noGrp="1" noChangeArrowheads="1"/>
          </p:cNvSpPr>
          <p:nvPr>
            <p:ph type="title"/>
          </p:nvPr>
        </p:nvSpPr>
        <p:spPr/>
        <p:txBody>
          <a:bodyPr/>
          <a:lstStyle/>
          <a:p>
            <a:pPr algn="r" eaLnBrk="1" hangingPunct="1"/>
            <a:r>
              <a:rPr lang="en-US" altLang="en-US" smtClean="0"/>
              <a:t>Access Control Monitoring </a:t>
            </a:r>
          </a:p>
        </p:txBody>
      </p:sp>
      <p:sp>
        <p:nvSpPr>
          <p:cNvPr id="93188" name="Rectangle 3"/>
          <p:cNvSpPr>
            <a:spLocks noGrp="1" noChangeArrowheads="1"/>
          </p:cNvSpPr>
          <p:nvPr>
            <p:ph type="body" idx="1"/>
          </p:nvPr>
        </p:nvSpPr>
        <p:spPr/>
        <p:txBody>
          <a:bodyPr/>
          <a:lstStyle/>
          <a:p>
            <a:pPr eaLnBrk="1" hangingPunct="1">
              <a:lnSpc>
                <a:spcPct val="90000"/>
              </a:lnSpc>
            </a:pPr>
            <a:r>
              <a:rPr lang="en-US" altLang="en-US" smtClean="0"/>
              <a:t>Honeypots</a:t>
            </a:r>
          </a:p>
          <a:p>
            <a:pPr lvl="1" eaLnBrk="1" hangingPunct="1">
              <a:lnSpc>
                <a:spcPct val="90000"/>
              </a:lnSpc>
            </a:pPr>
            <a:r>
              <a:rPr lang="en-US" altLang="en-US" smtClean="0"/>
              <a:t>An attractive offering that hopes to lure attackers away from critical systems</a:t>
            </a:r>
          </a:p>
          <a:p>
            <a:pPr eaLnBrk="1" hangingPunct="1">
              <a:lnSpc>
                <a:spcPct val="90000"/>
              </a:lnSpc>
            </a:pPr>
            <a:r>
              <a:rPr lang="en-US" altLang="en-US" smtClean="0"/>
              <a:t>Network sniffers</a:t>
            </a:r>
          </a:p>
          <a:p>
            <a:pPr lvl="1" eaLnBrk="1" hangingPunct="1">
              <a:lnSpc>
                <a:spcPct val="90000"/>
              </a:lnSpc>
            </a:pPr>
            <a:r>
              <a:rPr lang="en-US" altLang="en-US" smtClean="0"/>
              <a:t>A general term for programs or devices that are able to examine traffic on a LAN segment.</a:t>
            </a:r>
          </a:p>
        </p:txBody>
      </p:sp>
    </p:spTree>
    <p:extLst>
      <p:ext uri="{BB962C8B-B14F-4D97-AF65-F5344CB8AC3E}">
        <p14:creationId xmlns:p14="http://schemas.microsoft.com/office/powerpoint/2010/main" val="3711420561"/>
      </p:ext>
    </p:extLst>
  </p:cSld>
  <p:clrMapOvr>
    <a:masterClrMapping/>
  </p:clrMapOvr>
  <p:transition spd="slow">
    <p:wipe dir="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Font typeface="Wingdings" panose="05000000000000000000" pitchFamily="2" charset="2"/>
              <a:buChar char="§"/>
              <a:defRPr sz="3600">
                <a:solidFill>
                  <a:schemeClr val="tx1"/>
                </a:solidFill>
                <a:latin typeface="Lucida Sans" panose="020B0602040502020204" pitchFamily="34" charset="0"/>
                <a:cs typeface="Arial" panose="020B0604020202020204" pitchFamily="34" charset="0"/>
              </a:defRPr>
            </a:lvl1pPr>
            <a:lvl2pPr marL="742950" indent="-285750">
              <a:spcBef>
                <a:spcPct val="20000"/>
              </a:spcBef>
              <a:buFont typeface="Times" panose="02020603050405020304" pitchFamily="18" charset="0"/>
              <a:buChar char="•"/>
              <a:defRPr sz="3200">
                <a:solidFill>
                  <a:schemeClr val="tx1"/>
                </a:solidFill>
                <a:latin typeface="Lucida Sans" panose="020B0602040502020204" pitchFamily="34" charset="0"/>
                <a:cs typeface="Arial" panose="020B0604020202020204" pitchFamily="34" charset="0"/>
              </a:defRPr>
            </a:lvl2pPr>
            <a:lvl3pPr marL="1143000" indent="-228600">
              <a:spcBef>
                <a:spcPct val="20000"/>
              </a:spcBef>
              <a:buChar char="»"/>
              <a:defRPr sz="3000">
                <a:solidFill>
                  <a:schemeClr val="tx1"/>
                </a:solidFill>
                <a:latin typeface="Lucida Sans" panose="020B0602040502020204" pitchFamily="34" charset="0"/>
                <a:cs typeface="Arial" panose="020B0604020202020204" pitchFamily="34" charset="0"/>
              </a:defRPr>
            </a:lvl3pPr>
            <a:lvl4pPr marL="1600200" indent="-228600">
              <a:spcBef>
                <a:spcPct val="20000"/>
              </a:spcBef>
              <a:buChar char="–"/>
              <a:defRPr sz="2800">
                <a:solidFill>
                  <a:schemeClr val="tx1"/>
                </a:solidFill>
                <a:latin typeface="Lucida Sans" panose="020B0602040502020204" pitchFamily="34" charset="0"/>
                <a:cs typeface="Arial" panose="020B0604020202020204" pitchFamily="34" charset="0"/>
              </a:defRPr>
            </a:lvl4pPr>
            <a:lvl5pPr marL="2057400" indent="-228600">
              <a:spcBef>
                <a:spcPct val="20000"/>
              </a:spcBef>
              <a:buChar char="•"/>
              <a:defRPr sz="2600">
                <a:solidFill>
                  <a:schemeClr val="tx1"/>
                </a:solidFill>
                <a:latin typeface="Lucida Sans" panose="020B0602040502020204" pitchFamily="34" charset="0"/>
                <a:cs typeface="Arial" panose="020B0604020202020204" pitchFamily="34" charset="0"/>
              </a:defRPr>
            </a:lvl5pPr>
            <a:lvl6pPr marL="25146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6pPr>
            <a:lvl7pPr marL="29718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7pPr>
            <a:lvl8pPr marL="34290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8pPr>
            <a:lvl9pPr marL="3886200" indent="-228600" eaLnBrk="0" fontAlgn="base" hangingPunct="0">
              <a:spcBef>
                <a:spcPct val="20000"/>
              </a:spcBef>
              <a:spcAft>
                <a:spcPct val="0"/>
              </a:spcAft>
              <a:buChar char="•"/>
              <a:defRPr sz="2600">
                <a:solidFill>
                  <a:schemeClr val="tx1"/>
                </a:solidFill>
                <a:latin typeface="Lucida Sans" panose="020B0602040502020204" pitchFamily="34" charset="0"/>
                <a:cs typeface="Arial" panose="020B0604020202020204" pitchFamily="34" charset="0"/>
              </a:defRPr>
            </a:lvl9pPr>
          </a:lstStyle>
          <a:p>
            <a:pPr>
              <a:spcBef>
                <a:spcPct val="0"/>
              </a:spcBef>
              <a:buFontTx/>
              <a:buNone/>
            </a:pPr>
            <a:fld id="{2969CF44-AD1C-4323-964B-B234B7C60F9A}" type="slidenum">
              <a:rPr lang="en-US" altLang="en-US" sz="1000">
                <a:solidFill>
                  <a:srgbClr val="D9CFAB"/>
                </a:solidFill>
              </a:rPr>
              <a:pPr>
                <a:spcBef>
                  <a:spcPct val="0"/>
                </a:spcBef>
                <a:buFontTx/>
                <a:buNone/>
              </a:pPr>
              <a:t>74</a:t>
            </a:fld>
            <a:endParaRPr lang="en-US" altLang="en-US" sz="1400">
              <a:solidFill>
                <a:srgbClr val="D9CFAB"/>
              </a:solidFill>
              <a:latin typeface="Times" panose="02020603050405020304" pitchFamily="18" charset="0"/>
            </a:endParaRPr>
          </a:p>
        </p:txBody>
      </p:sp>
      <p:sp>
        <p:nvSpPr>
          <p:cNvPr id="95235" name="Rectangle 2"/>
          <p:cNvSpPr>
            <a:spLocks noGrp="1" noChangeArrowheads="1"/>
          </p:cNvSpPr>
          <p:nvPr>
            <p:ph type="title"/>
          </p:nvPr>
        </p:nvSpPr>
        <p:spPr/>
        <p:txBody>
          <a:bodyPr/>
          <a:lstStyle/>
          <a:p>
            <a:pPr algn="r" eaLnBrk="1" hangingPunct="1"/>
            <a:r>
              <a:rPr lang="en-US" altLang="en-US" smtClean="0"/>
              <a:t>Threats to Access Control</a:t>
            </a:r>
          </a:p>
        </p:txBody>
      </p:sp>
      <p:sp>
        <p:nvSpPr>
          <p:cNvPr id="95236" name="Rectangle 3"/>
          <p:cNvSpPr>
            <a:spLocks noGrp="1" noChangeArrowheads="1"/>
          </p:cNvSpPr>
          <p:nvPr>
            <p:ph type="body" idx="1"/>
          </p:nvPr>
        </p:nvSpPr>
        <p:spPr>
          <a:xfrm>
            <a:off x="1524000" y="1239839"/>
            <a:ext cx="8839200" cy="5013325"/>
          </a:xfrm>
        </p:spPr>
        <p:txBody>
          <a:bodyPr/>
          <a:lstStyle/>
          <a:p>
            <a:pPr eaLnBrk="1" hangingPunct="1">
              <a:lnSpc>
                <a:spcPct val="80000"/>
              </a:lnSpc>
            </a:pPr>
            <a:r>
              <a:rPr lang="en-US" altLang="en-US" sz="2800" dirty="0"/>
              <a:t>A few threats to access control</a:t>
            </a:r>
          </a:p>
          <a:p>
            <a:pPr lvl="1" eaLnBrk="1" hangingPunct="1">
              <a:lnSpc>
                <a:spcPct val="80000"/>
              </a:lnSpc>
            </a:pPr>
            <a:r>
              <a:rPr lang="en-US" altLang="en-US" sz="2400" dirty="0"/>
              <a:t>Insiders</a:t>
            </a:r>
          </a:p>
          <a:p>
            <a:pPr lvl="2" eaLnBrk="1" hangingPunct="1">
              <a:lnSpc>
                <a:spcPct val="80000"/>
              </a:lnSpc>
            </a:pPr>
            <a:r>
              <a:rPr lang="en-US" altLang="en-US" sz="2100" dirty="0"/>
              <a:t>Countermeasures include good policies and procedures, separation of duties, job rotation</a:t>
            </a:r>
          </a:p>
          <a:p>
            <a:pPr lvl="1" eaLnBrk="1" hangingPunct="1">
              <a:lnSpc>
                <a:spcPct val="80000"/>
              </a:lnSpc>
            </a:pPr>
            <a:r>
              <a:rPr lang="en-US" altLang="en-US" sz="2400" dirty="0"/>
              <a:t>Dictionary Attacks</a:t>
            </a:r>
          </a:p>
          <a:p>
            <a:pPr lvl="2" eaLnBrk="1" hangingPunct="1">
              <a:lnSpc>
                <a:spcPct val="80000"/>
              </a:lnSpc>
            </a:pPr>
            <a:r>
              <a:rPr lang="en-US" altLang="en-US" sz="2100" dirty="0"/>
              <a:t>Countermeasures include strong password policies, strong authentication, intrusion detection and prevention</a:t>
            </a:r>
          </a:p>
          <a:p>
            <a:pPr lvl="1" eaLnBrk="1" hangingPunct="1">
              <a:lnSpc>
                <a:spcPct val="80000"/>
              </a:lnSpc>
            </a:pPr>
            <a:r>
              <a:rPr lang="en-US" altLang="en-US" sz="2400" dirty="0"/>
              <a:t>Brute Force Attacks</a:t>
            </a:r>
          </a:p>
          <a:p>
            <a:pPr lvl="2" eaLnBrk="1" hangingPunct="1">
              <a:lnSpc>
                <a:spcPct val="80000"/>
              </a:lnSpc>
            </a:pPr>
            <a:r>
              <a:rPr lang="en-US" altLang="en-US" sz="2100" dirty="0"/>
              <a:t>Countermeasures include penetration testing, minimum necessary information provided, monitoring, intrusion detection, clipping levels</a:t>
            </a:r>
          </a:p>
          <a:p>
            <a:pPr lvl="1" eaLnBrk="1" hangingPunct="1">
              <a:lnSpc>
                <a:spcPct val="80000"/>
              </a:lnSpc>
            </a:pPr>
            <a:r>
              <a:rPr lang="en-US" altLang="en-US" sz="2400" dirty="0"/>
              <a:t>Spoofing at </a:t>
            </a:r>
            <a:r>
              <a:rPr lang="en-US" altLang="en-US" sz="2400" dirty="0" smtClean="0"/>
              <a:t>Logon(</a:t>
            </a:r>
            <a:r>
              <a:rPr lang="en-US" altLang="en-US" sz="2400" dirty="0" err="1" smtClean="0"/>
              <a:t>technques</a:t>
            </a:r>
            <a:r>
              <a:rPr lang="en-US" altLang="en-US" sz="2400" dirty="0" smtClean="0"/>
              <a:t> used to </a:t>
            </a:r>
            <a:r>
              <a:rPr lang="en-US" altLang="en-US" sz="2400" smtClean="0"/>
              <a:t>steal password)</a:t>
            </a:r>
            <a:endParaRPr lang="en-US" altLang="en-US" sz="2400"/>
          </a:p>
          <a:p>
            <a:pPr lvl="2" eaLnBrk="1" hangingPunct="1">
              <a:lnSpc>
                <a:spcPct val="80000"/>
              </a:lnSpc>
            </a:pPr>
            <a:r>
              <a:rPr lang="en-US" altLang="en-US" sz="2100" dirty="0"/>
              <a:t>Countermeasures include a guaranteed trusted path, security awareness to be aware of phishing scams, SSL connection</a:t>
            </a:r>
          </a:p>
        </p:txBody>
      </p:sp>
    </p:spTree>
    <p:extLst>
      <p:ext uri="{BB962C8B-B14F-4D97-AF65-F5344CB8AC3E}">
        <p14:creationId xmlns:p14="http://schemas.microsoft.com/office/powerpoint/2010/main" val="1742846267"/>
      </p:ext>
    </p:extLst>
  </p:cSld>
  <p:clrMapOvr>
    <a:masterClrMapping/>
  </p:clrMapOvr>
  <p:transition spd="slow">
    <p:wipe dir="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4038719433"/>
      </p:ext>
    </p:extLst>
  </p:cSld>
  <p:clrMapOvr>
    <a:masterClrMapping/>
  </p:clrMapOvr>
  <p:transition spd="slow">
    <p:wipe dir="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p:txBody>
          <a:bodyPr/>
          <a:lstStyle/>
          <a:p>
            <a:pPr algn="ctr" eaLnBrk="1" hangingPunct="1"/>
            <a:r>
              <a:rPr lang="en-AU" altLang="en-US" sz="6000"/>
              <a:t>Malicious Code</a:t>
            </a:r>
          </a:p>
        </p:txBody>
      </p:sp>
    </p:spTree>
    <p:extLst>
      <p:ext uri="{BB962C8B-B14F-4D97-AF65-F5344CB8AC3E}">
        <p14:creationId xmlns:p14="http://schemas.microsoft.com/office/powerpoint/2010/main" val="3886945492"/>
      </p:ext>
    </p:extLst>
  </p:cSld>
  <p:clrMapOvr>
    <a:masterClrMapping/>
  </p:clrMapOvr>
  <p:transition spd="slow">
    <p:wipe dir="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AU" altLang="en-US" smtClean="0"/>
              <a:t>In This lecture</a:t>
            </a:r>
          </a:p>
        </p:txBody>
      </p:sp>
      <p:sp>
        <p:nvSpPr>
          <p:cNvPr id="7171" name="Rectangle 3"/>
          <p:cNvSpPr>
            <a:spLocks noGrp="1" noChangeArrowheads="1"/>
          </p:cNvSpPr>
          <p:nvPr>
            <p:ph type="body" idx="1"/>
          </p:nvPr>
        </p:nvSpPr>
        <p:spPr>
          <a:xfrm>
            <a:off x="1774826" y="1701800"/>
            <a:ext cx="8785225" cy="4319588"/>
          </a:xfrm>
        </p:spPr>
        <p:txBody>
          <a:bodyPr/>
          <a:lstStyle/>
          <a:p>
            <a:pPr eaLnBrk="1" hangingPunct="1"/>
            <a:r>
              <a:rPr lang="en-AU" altLang="en-US" smtClean="0"/>
              <a:t>What is Malicious Code?</a:t>
            </a:r>
          </a:p>
          <a:p>
            <a:pPr eaLnBrk="1" hangingPunct="1"/>
            <a:r>
              <a:rPr lang="en-AU" altLang="en-US" smtClean="0"/>
              <a:t>Viruses</a:t>
            </a:r>
          </a:p>
          <a:p>
            <a:pPr eaLnBrk="1" hangingPunct="1"/>
            <a:r>
              <a:rPr lang="en-AU" altLang="en-US" smtClean="0"/>
              <a:t>Worms</a:t>
            </a:r>
          </a:p>
          <a:p>
            <a:pPr eaLnBrk="1" hangingPunct="1"/>
            <a:r>
              <a:rPr lang="en-AU" altLang="en-US" smtClean="0"/>
              <a:t>Trojans</a:t>
            </a:r>
          </a:p>
          <a:p>
            <a:pPr eaLnBrk="1" hangingPunct="1"/>
            <a:r>
              <a:rPr lang="en-AU" altLang="en-US" smtClean="0"/>
              <a:t>Spyware</a:t>
            </a:r>
          </a:p>
          <a:p>
            <a:pPr eaLnBrk="1" hangingPunct="1"/>
            <a:r>
              <a:rPr lang="en-AU" altLang="en-US" smtClean="0"/>
              <a:t>Rootkits</a:t>
            </a:r>
          </a:p>
          <a:p>
            <a:pPr eaLnBrk="1" hangingPunct="1"/>
            <a:r>
              <a:rPr lang="en-AU" altLang="en-US" smtClean="0"/>
              <a:t>Cryptovirology</a:t>
            </a:r>
          </a:p>
          <a:p>
            <a:pPr eaLnBrk="1" hangingPunct="1"/>
            <a:r>
              <a:rPr lang="en-AU" altLang="en-US" smtClean="0"/>
              <a:t>Mitigation</a:t>
            </a:r>
          </a:p>
        </p:txBody>
      </p:sp>
    </p:spTree>
    <p:extLst>
      <p:ext uri="{BB962C8B-B14F-4D97-AF65-F5344CB8AC3E}">
        <p14:creationId xmlns:p14="http://schemas.microsoft.com/office/powerpoint/2010/main" val="1856848364"/>
      </p:ext>
    </p:extLst>
  </p:cSld>
  <p:clrMapOvr>
    <a:masterClrMapping/>
  </p:clrMapOvr>
  <p:transition spd="slow">
    <p:wipe dir="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AU" altLang="en-US" smtClean="0"/>
              <a:t>What is Malicious Code?</a:t>
            </a:r>
          </a:p>
        </p:txBody>
      </p:sp>
      <p:sp>
        <p:nvSpPr>
          <p:cNvPr id="9219" name="Rectangle 3"/>
          <p:cNvSpPr>
            <a:spLocks noGrp="1" noChangeArrowheads="1"/>
          </p:cNvSpPr>
          <p:nvPr>
            <p:ph type="body" idx="1"/>
          </p:nvPr>
        </p:nvSpPr>
        <p:spPr/>
        <p:txBody>
          <a:bodyPr/>
          <a:lstStyle/>
          <a:p>
            <a:pPr eaLnBrk="1" hangingPunct="1"/>
            <a:r>
              <a:rPr lang="en-AU" altLang="en-US" smtClean="0"/>
              <a:t>Hostile Executable Code</a:t>
            </a:r>
          </a:p>
          <a:p>
            <a:pPr eaLnBrk="1" hangingPunct="1"/>
            <a:r>
              <a:rPr lang="en-AU" altLang="en-US" smtClean="0"/>
              <a:t>Often referred to as ‘Viruses’, but there are many other forms of malicious code as well</a:t>
            </a:r>
          </a:p>
          <a:p>
            <a:pPr lvl="1" eaLnBrk="1" hangingPunct="1"/>
            <a:r>
              <a:rPr lang="en-AU" altLang="en-US" smtClean="0"/>
              <a:t>Worms</a:t>
            </a:r>
          </a:p>
          <a:p>
            <a:pPr lvl="1" eaLnBrk="1" hangingPunct="1"/>
            <a:r>
              <a:rPr lang="en-AU" altLang="en-US" smtClean="0"/>
              <a:t>Trojans</a:t>
            </a:r>
          </a:p>
          <a:p>
            <a:pPr lvl="1" eaLnBrk="1" hangingPunct="1"/>
            <a:r>
              <a:rPr lang="en-AU" altLang="en-US" smtClean="0"/>
              <a:t>Spyware</a:t>
            </a:r>
          </a:p>
          <a:p>
            <a:pPr lvl="1" eaLnBrk="1" hangingPunct="1"/>
            <a:r>
              <a:rPr lang="en-AU" altLang="en-US" smtClean="0"/>
              <a:t>Rootkits</a:t>
            </a:r>
          </a:p>
          <a:p>
            <a:pPr lvl="1" eaLnBrk="1" hangingPunct="1"/>
            <a:r>
              <a:rPr lang="en-AU" altLang="en-US" smtClean="0"/>
              <a:t>Others</a:t>
            </a:r>
          </a:p>
          <a:p>
            <a:pPr eaLnBrk="1" hangingPunct="1"/>
            <a:r>
              <a:rPr lang="en-AU" altLang="en-US" smtClean="0"/>
              <a:t>Collectively known as ‘malware’</a:t>
            </a:r>
          </a:p>
        </p:txBody>
      </p:sp>
    </p:spTree>
    <p:extLst>
      <p:ext uri="{BB962C8B-B14F-4D97-AF65-F5344CB8AC3E}">
        <p14:creationId xmlns:p14="http://schemas.microsoft.com/office/powerpoint/2010/main" val="3206237274"/>
      </p:ext>
    </p:extLst>
  </p:cSld>
  <p:clrMapOvr>
    <a:masterClrMapping/>
  </p:clrMapOvr>
  <p:transition spd="slow">
    <p:wipe dir="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GB" altLang="en-US" smtClean="0"/>
              <a:t>Why we have so much malware</a:t>
            </a:r>
            <a:endParaRPr lang="en-US" altLang="en-US" smtClean="0"/>
          </a:p>
        </p:txBody>
      </p:sp>
      <p:sp>
        <p:nvSpPr>
          <p:cNvPr id="11267" name="Rectangle 2"/>
          <p:cNvSpPr>
            <a:spLocks noGrp="1" noChangeArrowheads="1"/>
          </p:cNvSpPr>
          <p:nvPr>
            <p:ph idx="1"/>
          </p:nvPr>
        </p:nvSpPr>
        <p:spPr/>
        <p:txBody>
          <a:bodyPr/>
          <a:lstStyle/>
          <a:p>
            <a:pPr marL="338138" indent="-338138">
              <a:lnSpc>
                <a:spcPct val="90000"/>
              </a:lnSpc>
              <a:spcBef>
                <a:spcPts val="700"/>
              </a:spcBef>
              <a:buFont typeface="Arial" panose="020B0604020202020204" pitchFamily="34" charset="0"/>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altLang="en-US" smtClean="0"/>
              <a:t>Users are ill-educated, resulting in distribution as Trojans and viruses</a:t>
            </a:r>
          </a:p>
          <a:p>
            <a:pPr marL="738188" lvl="1" indent="-280988">
              <a:lnSpc>
                <a:spcPct val="90000"/>
              </a:lnSpc>
              <a:spcBef>
                <a:spcPts val="600"/>
              </a:spcBef>
              <a:buFont typeface="Arial" panose="020B0604020202020204" pitchFamily="34" charset="0"/>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altLang="en-US" smtClean="0"/>
              <a:t>Because computers are fast-changing and still relatively new</a:t>
            </a:r>
          </a:p>
          <a:p>
            <a:pPr marL="338138" indent="-338138">
              <a:lnSpc>
                <a:spcPct val="90000"/>
              </a:lnSpc>
              <a:spcBef>
                <a:spcPts val="700"/>
              </a:spcBef>
              <a:buFont typeface="Arial" panose="020B0604020202020204" pitchFamily="34" charset="0"/>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altLang="en-US" smtClean="0"/>
              <a:t>Software has vulnerabilities, resulting in distribution of worms and viruses</a:t>
            </a:r>
          </a:p>
          <a:p>
            <a:pPr marL="738188" lvl="1" indent="-280988">
              <a:lnSpc>
                <a:spcPct val="90000"/>
              </a:lnSpc>
              <a:spcBef>
                <a:spcPts val="600"/>
              </a:spcBef>
              <a:buFont typeface="Arial" panose="020B0604020202020204" pitchFamily="34" charset="0"/>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altLang="en-US" smtClean="0"/>
              <a:t>Because it is badly written or badly designed</a:t>
            </a:r>
          </a:p>
          <a:p>
            <a:pPr marL="738188" lvl="1" indent="-280988">
              <a:lnSpc>
                <a:spcPct val="90000"/>
              </a:lnSpc>
              <a:spcBef>
                <a:spcPts val="600"/>
              </a:spcBef>
              <a:buFont typeface="Arial" panose="020B0604020202020204" pitchFamily="34" charset="0"/>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altLang="en-US" smtClean="0"/>
              <a:t>Because the designers have historically favoured user convenience over security</a:t>
            </a:r>
          </a:p>
          <a:p>
            <a:pPr marL="338138" indent="-338138">
              <a:lnSpc>
                <a:spcPct val="90000"/>
              </a:lnSpc>
              <a:spcBef>
                <a:spcPts val="700"/>
              </a:spcBef>
              <a:buFont typeface="Arial" panose="020B0604020202020204" pitchFamily="34" charset="0"/>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altLang="en-US" smtClean="0"/>
              <a:t>The PC is an open platform</a:t>
            </a:r>
          </a:p>
          <a:p>
            <a:pPr marL="738188" lvl="1" indent="-280988">
              <a:lnSpc>
                <a:spcPct val="90000"/>
              </a:lnSpc>
              <a:spcBef>
                <a:spcPts val="600"/>
              </a:spcBef>
              <a:buFont typeface="Arial" panose="020B0604020202020204" pitchFamily="34" charset="0"/>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altLang="en-US" smtClean="0"/>
              <a:t>Users can install software, in contrast with (</a:t>
            </a:r>
            <a:r>
              <a:rPr lang="en-GB" altLang="en-US" i="1" smtClean="0"/>
              <a:t>old fashioned</a:t>
            </a:r>
            <a:r>
              <a:rPr lang="en-GB" altLang="en-US" smtClean="0"/>
              <a:t>) mobile phones, mp3 players, set-top boxes, embedded computers, etc.</a:t>
            </a:r>
          </a:p>
        </p:txBody>
      </p:sp>
    </p:spTree>
    <p:extLst>
      <p:ext uri="{BB962C8B-B14F-4D97-AF65-F5344CB8AC3E}">
        <p14:creationId xmlns:p14="http://schemas.microsoft.com/office/powerpoint/2010/main" val="248194195"/>
      </p:ext>
    </p:extLst>
  </p:cSld>
  <p:clrMapOvr>
    <a:masterClrMapping/>
  </p:clrMapOvr>
  <p:transition spd="slow">
    <p:wipe dir="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altLang="en-US" smtClean="0"/>
              <a:t>Threat of monopoly</a:t>
            </a:r>
          </a:p>
        </p:txBody>
      </p:sp>
      <p:sp>
        <p:nvSpPr>
          <p:cNvPr id="12291" name="Rectangle 2"/>
          <p:cNvSpPr>
            <a:spLocks noGrp="1" noChangeArrowheads="1"/>
          </p:cNvSpPr>
          <p:nvPr>
            <p:ph idx="1"/>
          </p:nvPr>
        </p:nvSpPr>
        <p:spPr/>
        <p:txBody>
          <a:bodyPr/>
          <a:lstStyle/>
          <a:p>
            <a:pPr marL="338138" indent="-338138">
              <a:spcBef>
                <a:spcPts val="700"/>
              </a:spcBef>
              <a:buFont typeface="Arial" panose="020B0604020202020204" pitchFamily="34" charset="0"/>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altLang="en-US" smtClean="0"/>
              <a:t>Another reason for the prevalence of malware is the </a:t>
            </a:r>
            <a:r>
              <a:rPr lang="en-GB" altLang="en-US" i="1" smtClean="0"/>
              <a:t>homogeneity of software</a:t>
            </a:r>
          </a:p>
          <a:p>
            <a:pPr marL="738188" lvl="1" indent="-280988">
              <a:spcBef>
                <a:spcPts val="600"/>
              </a:spcBef>
              <a:buFont typeface="Arial" panose="020B0604020202020204" pitchFamily="34" charset="0"/>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altLang="en-US" smtClean="0"/>
              <a:t>Most computers run Windows, MS Office, MS Outlook Express, MS Internet Explorer</a:t>
            </a:r>
          </a:p>
          <a:p>
            <a:pPr marL="738188" lvl="1" indent="-280988">
              <a:spcBef>
                <a:spcPts val="600"/>
              </a:spcBef>
              <a:buFont typeface="Arial" panose="020B0604020202020204" pitchFamily="34" charset="0"/>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altLang="en-US" smtClean="0"/>
              <a:t>This makes the attacker’s job very easy.</a:t>
            </a:r>
          </a:p>
          <a:p>
            <a:pPr marL="338138" indent="-338138">
              <a:spcBef>
                <a:spcPts val="700"/>
              </a:spcBef>
              <a:buFont typeface="Arial" panose="020B0604020202020204" pitchFamily="34" charset="0"/>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altLang="en-US" smtClean="0"/>
              <a:t>In contrast, in the linux world, there is a plethora of rival distributions, office suites, email clients, browsers.</a:t>
            </a:r>
          </a:p>
          <a:p>
            <a:pPr marL="738188" lvl="1" indent="-280988">
              <a:spcBef>
                <a:spcPts val="600"/>
              </a:spcBef>
              <a:buFont typeface="Arial" panose="020B0604020202020204" pitchFamily="34" charset="0"/>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pPr>
            <a:r>
              <a:rPr lang="en-GB" altLang="en-US" smtClean="0"/>
              <a:t>Makes the attacker’s job much, much harder!</a:t>
            </a:r>
          </a:p>
        </p:txBody>
      </p:sp>
    </p:spTree>
    <p:extLst>
      <p:ext uri="{BB962C8B-B14F-4D97-AF65-F5344CB8AC3E}">
        <p14:creationId xmlns:p14="http://schemas.microsoft.com/office/powerpoint/2010/main" val="2289283546"/>
      </p:ext>
    </p:extLst>
  </p:cSld>
  <p:clrMapOvr>
    <a:masterClrMapping/>
  </p:clrMapOvr>
  <p:transition spd="slow">
    <p:wipe dir="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AU" altLang="en-US" smtClean="0"/>
              <a:t>Terminology</a:t>
            </a:r>
          </a:p>
        </p:txBody>
      </p:sp>
      <p:sp>
        <p:nvSpPr>
          <p:cNvPr id="13315" name="Rectangle 3"/>
          <p:cNvSpPr>
            <a:spLocks noGrp="1" noChangeArrowheads="1"/>
          </p:cNvSpPr>
          <p:nvPr>
            <p:ph type="body" idx="1"/>
          </p:nvPr>
        </p:nvSpPr>
        <p:spPr/>
        <p:txBody>
          <a:bodyPr/>
          <a:lstStyle/>
          <a:p>
            <a:pPr eaLnBrk="1" hangingPunct="1"/>
            <a:r>
              <a:rPr lang="en-AU" altLang="en-US" smtClean="0"/>
              <a:t>Malware is often referred to as viruses (particularly in the more mainstream media)</a:t>
            </a:r>
          </a:p>
          <a:p>
            <a:pPr eaLnBrk="1" hangingPunct="1"/>
            <a:endParaRPr lang="en-AU" altLang="en-US" smtClean="0"/>
          </a:p>
          <a:p>
            <a:pPr eaLnBrk="1" hangingPunct="1"/>
            <a:r>
              <a:rPr lang="en-AU" altLang="en-US" smtClean="0"/>
              <a:t>This terminology is not always correct</a:t>
            </a:r>
          </a:p>
          <a:p>
            <a:pPr eaLnBrk="1" hangingPunct="1"/>
            <a:endParaRPr lang="en-AU" altLang="en-US" smtClean="0"/>
          </a:p>
          <a:p>
            <a:pPr eaLnBrk="1" hangingPunct="1"/>
            <a:r>
              <a:rPr lang="en-AU" altLang="en-US" smtClean="0"/>
              <a:t>There are many types of malware other than viruses</a:t>
            </a:r>
          </a:p>
          <a:p>
            <a:pPr eaLnBrk="1" hangingPunct="1"/>
            <a:endParaRPr lang="en-AU" altLang="en-US" smtClean="0"/>
          </a:p>
          <a:p>
            <a:pPr eaLnBrk="1" hangingPunct="1"/>
            <a:r>
              <a:rPr lang="en-AU" altLang="en-US" smtClean="0"/>
              <a:t>Some recent malware examples do blur the lines between different types</a:t>
            </a:r>
          </a:p>
        </p:txBody>
      </p:sp>
    </p:spTree>
    <p:extLst>
      <p:ext uri="{BB962C8B-B14F-4D97-AF65-F5344CB8AC3E}">
        <p14:creationId xmlns:p14="http://schemas.microsoft.com/office/powerpoint/2010/main" val="2498693813"/>
      </p:ext>
    </p:extLst>
  </p:cSld>
  <p:clrMapOvr>
    <a:masterClrMapping/>
  </p:clrMapOvr>
  <p:transition spd="slow">
    <p:wipe dir="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AU" altLang="en-US" smtClean="0"/>
              <a:t>Types of Malware</a:t>
            </a:r>
          </a:p>
        </p:txBody>
      </p:sp>
      <p:grpSp>
        <p:nvGrpSpPr>
          <p:cNvPr id="15363" name="Group 47"/>
          <p:cNvGrpSpPr>
            <a:grpSpLocks/>
          </p:cNvGrpSpPr>
          <p:nvPr/>
        </p:nvGrpSpPr>
        <p:grpSpPr bwMode="auto">
          <a:xfrm>
            <a:off x="2135189" y="1700213"/>
            <a:ext cx="7634287" cy="3816350"/>
            <a:chOff x="385" y="935"/>
            <a:chExt cx="4809" cy="2404"/>
          </a:xfrm>
        </p:grpSpPr>
        <p:sp>
          <p:nvSpPr>
            <p:cNvPr id="15365" name="Text Box 4"/>
            <p:cNvSpPr txBox="1">
              <a:spLocks noChangeArrowheads="1"/>
            </p:cNvSpPr>
            <p:nvPr/>
          </p:nvSpPr>
          <p:spPr bwMode="auto">
            <a:xfrm>
              <a:off x="2426" y="935"/>
              <a:ext cx="862" cy="231"/>
            </a:xfrm>
            <a:prstGeom prst="rect">
              <a:avLst/>
            </a:prstGeom>
            <a:solidFill>
              <a:schemeClr val="hlink"/>
            </a:solidFill>
            <a:ln w="9525" algn="ctr">
              <a:solidFill>
                <a:schemeClr val="tx1"/>
              </a:solidFill>
              <a:miter lim="800000"/>
              <a:headEnd/>
              <a:tailEnd/>
            </a:ln>
          </p:spPr>
          <p:txBody>
            <a:bodyPr/>
            <a:lstStyle>
              <a:lvl1pPr>
                <a:spcBef>
                  <a:spcPct val="20000"/>
                </a:spcBef>
                <a:buClr>
                  <a:schemeClr val="folHlink"/>
                </a:buClr>
                <a:buFont typeface="Wingdings" panose="05000000000000000000" pitchFamily="2" charset="2"/>
                <a:buChar char="o"/>
                <a:defRPr sz="2800">
                  <a:solidFill>
                    <a:schemeClr val="folHlink"/>
                  </a:solidFill>
                  <a:latin typeface="Verdana" panose="020B0604030504040204" pitchFamily="34" charset="0"/>
                  <a:cs typeface="Arial" panose="020B0604020202020204" pitchFamily="34" charset="0"/>
                </a:defRPr>
              </a:lvl1pPr>
              <a:lvl2pPr marL="742950" indent="-285750">
                <a:spcBef>
                  <a:spcPct val="20000"/>
                </a:spcBef>
                <a:buClr>
                  <a:schemeClr val="folHlink"/>
                </a:buClr>
                <a:buFont typeface="Wingdings" panose="05000000000000000000" pitchFamily="2" charset="2"/>
                <a:buChar char="n"/>
                <a:defRPr sz="2400">
                  <a:solidFill>
                    <a:schemeClr val="folHlink"/>
                  </a:solidFill>
                  <a:latin typeface="Verdana" panose="020B0604030504040204" pitchFamily="34" charset="0"/>
                  <a:cs typeface="Arial" panose="020B0604020202020204" pitchFamily="34" charset="0"/>
                </a:defRPr>
              </a:lvl2pPr>
              <a:lvl3pPr marL="1143000" indent="-228600">
                <a:spcBef>
                  <a:spcPct val="20000"/>
                </a:spcBef>
                <a:buClr>
                  <a:schemeClr val="folHlink"/>
                </a:buClr>
                <a:buFont typeface="Wingdings" panose="05000000000000000000" pitchFamily="2" charset="2"/>
                <a:buChar char="o"/>
                <a:defRPr sz="2000">
                  <a:solidFill>
                    <a:schemeClr val="folHlink"/>
                  </a:solidFill>
                  <a:latin typeface="Verdana" panose="020B0604030504040204" pitchFamily="34" charset="0"/>
                  <a:cs typeface="Arial" panose="020B0604020202020204" pitchFamily="34" charset="0"/>
                </a:defRPr>
              </a:lvl3pPr>
              <a:lvl4pPr marL="1600200" indent="-228600">
                <a:spcBef>
                  <a:spcPct val="20000"/>
                </a:spcBef>
                <a:buClr>
                  <a:schemeClr val="folHlink"/>
                </a:buClr>
                <a:buFont typeface="Wingdings" panose="05000000000000000000" pitchFamily="2" charset="2"/>
                <a:buChar char="n"/>
                <a:defRPr sz="2000">
                  <a:solidFill>
                    <a:schemeClr val="folHlink"/>
                  </a:solidFill>
                  <a:latin typeface="Verdana" panose="020B0604030504040204" pitchFamily="34" charset="0"/>
                  <a:cs typeface="Arial" panose="020B0604020202020204" pitchFamily="34" charset="0"/>
                </a:defRPr>
              </a:lvl4pPr>
              <a:lvl5pPr marL="2057400" indent="-228600">
                <a:spcBef>
                  <a:spcPct val="25000"/>
                </a:spcBef>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5pPr>
              <a:lvl6pPr marL="25146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6pPr>
              <a:lvl7pPr marL="29718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7pPr>
              <a:lvl8pPr marL="34290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8pPr>
              <a:lvl9pPr marL="38862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9pPr>
            </a:lstStyle>
            <a:p>
              <a:pPr algn="ctr" eaLnBrk="1" hangingPunct="1">
                <a:spcBef>
                  <a:spcPct val="50000"/>
                </a:spcBef>
                <a:buClrTx/>
                <a:buFontTx/>
                <a:buNone/>
              </a:pPr>
              <a:r>
                <a:rPr lang="en-AU" altLang="en-US" sz="1800">
                  <a:solidFill>
                    <a:schemeClr val="bg1"/>
                  </a:solidFill>
                  <a:latin typeface="Arial" panose="020B0604020202020204" pitchFamily="34" charset="0"/>
                </a:rPr>
                <a:t>Malware</a:t>
              </a:r>
            </a:p>
          </p:txBody>
        </p:sp>
        <p:grpSp>
          <p:nvGrpSpPr>
            <p:cNvPr id="15366" name="Group 35"/>
            <p:cNvGrpSpPr>
              <a:grpSpLocks/>
            </p:cNvGrpSpPr>
            <p:nvPr/>
          </p:nvGrpSpPr>
          <p:grpSpPr bwMode="auto">
            <a:xfrm>
              <a:off x="385" y="1706"/>
              <a:ext cx="4809" cy="1633"/>
              <a:chOff x="385" y="1480"/>
              <a:chExt cx="4809" cy="1633"/>
            </a:xfrm>
          </p:grpSpPr>
          <p:sp>
            <p:nvSpPr>
              <p:cNvPr id="15375" name="Text Box 5"/>
              <p:cNvSpPr txBox="1">
                <a:spLocks noChangeArrowheads="1"/>
              </p:cNvSpPr>
              <p:nvPr/>
            </p:nvSpPr>
            <p:spPr bwMode="auto">
              <a:xfrm>
                <a:off x="385" y="1480"/>
                <a:ext cx="726" cy="231"/>
              </a:xfrm>
              <a:prstGeom prst="rect">
                <a:avLst/>
              </a:prstGeom>
              <a:solidFill>
                <a:schemeClr val="hlink"/>
              </a:solidFill>
              <a:ln w="9525">
                <a:solidFill>
                  <a:schemeClr val="tx1"/>
                </a:solidFill>
                <a:miter lim="800000"/>
                <a:headEnd/>
                <a:tailEnd/>
              </a:ln>
            </p:spPr>
            <p:txBody>
              <a:bodyPr/>
              <a:lstStyle>
                <a:lvl1pPr>
                  <a:spcBef>
                    <a:spcPct val="20000"/>
                  </a:spcBef>
                  <a:buClr>
                    <a:schemeClr val="folHlink"/>
                  </a:buClr>
                  <a:buFont typeface="Wingdings" panose="05000000000000000000" pitchFamily="2" charset="2"/>
                  <a:buChar char="o"/>
                  <a:defRPr sz="2800">
                    <a:solidFill>
                      <a:schemeClr val="folHlink"/>
                    </a:solidFill>
                    <a:latin typeface="Verdana" panose="020B0604030504040204" pitchFamily="34" charset="0"/>
                    <a:cs typeface="Arial" panose="020B0604020202020204" pitchFamily="34" charset="0"/>
                  </a:defRPr>
                </a:lvl1pPr>
                <a:lvl2pPr marL="742950" indent="-285750">
                  <a:spcBef>
                    <a:spcPct val="20000"/>
                  </a:spcBef>
                  <a:buClr>
                    <a:schemeClr val="folHlink"/>
                  </a:buClr>
                  <a:buFont typeface="Wingdings" panose="05000000000000000000" pitchFamily="2" charset="2"/>
                  <a:buChar char="n"/>
                  <a:defRPr sz="2400">
                    <a:solidFill>
                      <a:schemeClr val="folHlink"/>
                    </a:solidFill>
                    <a:latin typeface="Verdana" panose="020B0604030504040204" pitchFamily="34" charset="0"/>
                    <a:cs typeface="Arial" panose="020B0604020202020204" pitchFamily="34" charset="0"/>
                  </a:defRPr>
                </a:lvl2pPr>
                <a:lvl3pPr marL="1143000" indent="-228600">
                  <a:spcBef>
                    <a:spcPct val="20000"/>
                  </a:spcBef>
                  <a:buClr>
                    <a:schemeClr val="folHlink"/>
                  </a:buClr>
                  <a:buFont typeface="Wingdings" panose="05000000000000000000" pitchFamily="2" charset="2"/>
                  <a:buChar char="o"/>
                  <a:defRPr sz="2000">
                    <a:solidFill>
                      <a:schemeClr val="folHlink"/>
                    </a:solidFill>
                    <a:latin typeface="Verdana" panose="020B0604030504040204" pitchFamily="34" charset="0"/>
                    <a:cs typeface="Arial" panose="020B0604020202020204" pitchFamily="34" charset="0"/>
                  </a:defRPr>
                </a:lvl3pPr>
                <a:lvl4pPr marL="1600200" indent="-228600">
                  <a:spcBef>
                    <a:spcPct val="20000"/>
                  </a:spcBef>
                  <a:buClr>
                    <a:schemeClr val="folHlink"/>
                  </a:buClr>
                  <a:buFont typeface="Wingdings" panose="05000000000000000000" pitchFamily="2" charset="2"/>
                  <a:buChar char="n"/>
                  <a:defRPr sz="2000">
                    <a:solidFill>
                      <a:schemeClr val="folHlink"/>
                    </a:solidFill>
                    <a:latin typeface="Verdana" panose="020B0604030504040204" pitchFamily="34" charset="0"/>
                    <a:cs typeface="Arial" panose="020B0604020202020204" pitchFamily="34" charset="0"/>
                  </a:defRPr>
                </a:lvl4pPr>
                <a:lvl5pPr marL="2057400" indent="-228600">
                  <a:spcBef>
                    <a:spcPct val="25000"/>
                  </a:spcBef>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5pPr>
                <a:lvl6pPr marL="25146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6pPr>
                <a:lvl7pPr marL="29718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7pPr>
                <a:lvl8pPr marL="34290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8pPr>
                <a:lvl9pPr marL="38862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9pPr>
              </a:lstStyle>
              <a:p>
                <a:pPr algn="ctr" eaLnBrk="1" hangingPunct="1">
                  <a:spcBef>
                    <a:spcPct val="50000"/>
                  </a:spcBef>
                  <a:buClrTx/>
                  <a:buFontTx/>
                  <a:buNone/>
                </a:pPr>
                <a:r>
                  <a:rPr lang="en-AU" altLang="en-US" sz="1600">
                    <a:solidFill>
                      <a:schemeClr val="bg1"/>
                    </a:solidFill>
                    <a:latin typeface="Arial" panose="020B0604020202020204" pitchFamily="34" charset="0"/>
                  </a:rPr>
                  <a:t>Virus</a:t>
                </a:r>
              </a:p>
            </p:txBody>
          </p:sp>
          <p:sp>
            <p:nvSpPr>
              <p:cNvPr id="15376" name="Text Box 6"/>
              <p:cNvSpPr txBox="1">
                <a:spLocks noChangeArrowheads="1"/>
              </p:cNvSpPr>
              <p:nvPr/>
            </p:nvSpPr>
            <p:spPr bwMode="auto">
              <a:xfrm>
                <a:off x="1202" y="1480"/>
                <a:ext cx="726" cy="231"/>
              </a:xfrm>
              <a:prstGeom prst="rect">
                <a:avLst/>
              </a:prstGeom>
              <a:solidFill>
                <a:schemeClr val="hlink"/>
              </a:solidFill>
              <a:ln w="9525" algn="ctr">
                <a:solidFill>
                  <a:schemeClr val="tx1"/>
                </a:solidFill>
                <a:miter lim="800000"/>
                <a:headEnd/>
                <a:tailEnd/>
              </a:ln>
            </p:spPr>
            <p:txBody>
              <a:bodyPr/>
              <a:lstStyle>
                <a:lvl1pPr>
                  <a:spcBef>
                    <a:spcPct val="20000"/>
                  </a:spcBef>
                  <a:buClr>
                    <a:schemeClr val="folHlink"/>
                  </a:buClr>
                  <a:buFont typeface="Wingdings" panose="05000000000000000000" pitchFamily="2" charset="2"/>
                  <a:buChar char="o"/>
                  <a:defRPr sz="2800">
                    <a:solidFill>
                      <a:schemeClr val="folHlink"/>
                    </a:solidFill>
                    <a:latin typeface="Verdana" panose="020B0604030504040204" pitchFamily="34" charset="0"/>
                    <a:cs typeface="Arial" panose="020B0604020202020204" pitchFamily="34" charset="0"/>
                  </a:defRPr>
                </a:lvl1pPr>
                <a:lvl2pPr marL="742950" indent="-285750">
                  <a:spcBef>
                    <a:spcPct val="20000"/>
                  </a:spcBef>
                  <a:buClr>
                    <a:schemeClr val="folHlink"/>
                  </a:buClr>
                  <a:buFont typeface="Wingdings" panose="05000000000000000000" pitchFamily="2" charset="2"/>
                  <a:buChar char="n"/>
                  <a:defRPr sz="2400">
                    <a:solidFill>
                      <a:schemeClr val="folHlink"/>
                    </a:solidFill>
                    <a:latin typeface="Verdana" panose="020B0604030504040204" pitchFamily="34" charset="0"/>
                    <a:cs typeface="Arial" panose="020B0604020202020204" pitchFamily="34" charset="0"/>
                  </a:defRPr>
                </a:lvl2pPr>
                <a:lvl3pPr marL="1143000" indent="-228600">
                  <a:spcBef>
                    <a:spcPct val="20000"/>
                  </a:spcBef>
                  <a:buClr>
                    <a:schemeClr val="folHlink"/>
                  </a:buClr>
                  <a:buFont typeface="Wingdings" panose="05000000000000000000" pitchFamily="2" charset="2"/>
                  <a:buChar char="o"/>
                  <a:defRPr sz="2000">
                    <a:solidFill>
                      <a:schemeClr val="folHlink"/>
                    </a:solidFill>
                    <a:latin typeface="Verdana" panose="020B0604030504040204" pitchFamily="34" charset="0"/>
                    <a:cs typeface="Arial" panose="020B0604020202020204" pitchFamily="34" charset="0"/>
                  </a:defRPr>
                </a:lvl3pPr>
                <a:lvl4pPr marL="1600200" indent="-228600">
                  <a:spcBef>
                    <a:spcPct val="20000"/>
                  </a:spcBef>
                  <a:buClr>
                    <a:schemeClr val="folHlink"/>
                  </a:buClr>
                  <a:buFont typeface="Wingdings" panose="05000000000000000000" pitchFamily="2" charset="2"/>
                  <a:buChar char="n"/>
                  <a:defRPr sz="2000">
                    <a:solidFill>
                      <a:schemeClr val="folHlink"/>
                    </a:solidFill>
                    <a:latin typeface="Verdana" panose="020B0604030504040204" pitchFamily="34" charset="0"/>
                    <a:cs typeface="Arial" panose="020B0604020202020204" pitchFamily="34" charset="0"/>
                  </a:defRPr>
                </a:lvl4pPr>
                <a:lvl5pPr marL="2057400" indent="-228600">
                  <a:spcBef>
                    <a:spcPct val="25000"/>
                  </a:spcBef>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5pPr>
                <a:lvl6pPr marL="25146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6pPr>
                <a:lvl7pPr marL="29718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7pPr>
                <a:lvl8pPr marL="34290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8pPr>
                <a:lvl9pPr marL="38862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9pPr>
              </a:lstStyle>
              <a:p>
                <a:pPr algn="ctr" eaLnBrk="1" hangingPunct="1">
                  <a:spcBef>
                    <a:spcPct val="50000"/>
                  </a:spcBef>
                  <a:buClrTx/>
                  <a:buFontTx/>
                  <a:buNone/>
                </a:pPr>
                <a:r>
                  <a:rPr lang="en-AU" altLang="en-US" sz="1600">
                    <a:solidFill>
                      <a:schemeClr val="bg1"/>
                    </a:solidFill>
                    <a:latin typeface="Arial" panose="020B0604020202020204" pitchFamily="34" charset="0"/>
                  </a:rPr>
                  <a:t>Worm</a:t>
                </a:r>
              </a:p>
            </p:txBody>
          </p:sp>
          <p:sp>
            <p:nvSpPr>
              <p:cNvPr id="15377" name="Text Box 7"/>
              <p:cNvSpPr txBox="1">
                <a:spLocks noChangeArrowheads="1"/>
              </p:cNvSpPr>
              <p:nvPr/>
            </p:nvSpPr>
            <p:spPr bwMode="auto">
              <a:xfrm>
                <a:off x="2018" y="1480"/>
                <a:ext cx="726" cy="231"/>
              </a:xfrm>
              <a:prstGeom prst="rect">
                <a:avLst/>
              </a:prstGeom>
              <a:solidFill>
                <a:schemeClr val="hlink"/>
              </a:solidFill>
              <a:ln w="9525" algn="ctr">
                <a:solidFill>
                  <a:schemeClr val="tx1"/>
                </a:solidFill>
                <a:miter lim="800000"/>
                <a:headEnd/>
                <a:tailEnd/>
              </a:ln>
            </p:spPr>
            <p:txBody>
              <a:bodyPr/>
              <a:lstStyle>
                <a:lvl1pPr>
                  <a:spcBef>
                    <a:spcPct val="20000"/>
                  </a:spcBef>
                  <a:buClr>
                    <a:schemeClr val="folHlink"/>
                  </a:buClr>
                  <a:buFont typeface="Wingdings" panose="05000000000000000000" pitchFamily="2" charset="2"/>
                  <a:buChar char="o"/>
                  <a:defRPr sz="2800">
                    <a:solidFill>
                      <a:schemeClr val="folHlink"/>
                    </a:solidFill>
                    <a:latin typeface="Verdana" panose="020B0604030504040204" pitchFamily="34" charset="0"/>
                    <a:cs typeface="Arial" panose="020B0604020202020204" pitchFamily="34" charset="0"/>
                  </a:defRPr>
                </a:lvl1pPr>
                <a:lvl2pPr marL="742950" indent="-285750">
                  <a:spcBef>
                    <a:spcPct val="20000"/>
                  </a:spcBef>
                  <a:buClr>
                    <a:schemeClr val="folHlink"/>
                  </a:buClr>
                  <a:buFont typeface="Wingdings" panose="05000000000000000000" pitchFamily="2" charset="2"/>
                  <a:buChar char="n"/>
                  <a:defRPr sz="2400">
                    <a:solidFill>
                      <a:schemeClr val="folHlink"/>
                    </a:solidFill>
                    <a:latin typeface="Verdana" panose="020B0604030504040204" pitchFamily="34" charset="0"/>
                    <a:cs typeface="Arial" panose="020B0604020202020204" pitchFamily="34" charset="0"/>
                  </a:defRPr>
                </a:lvl2pPr>
                <a:lvl3pPr marL="1143000" indent="-228600">
                  <a:spcBef>
                    <a:spcPct val="20000"/>
                  </a:spcBef>
                  <a:buClr>
                    <a:schemeClr val="folHlink"/>
                  </a:buClr>
                  <a:buFont typeface="Wingdings" panose="05000000000000000000" pitchFamily="2" charset="2"/>
                  <a:buChar char="o"/>
                  <a:defRPr sz="2000">
                    <a:solidFill>
                      <a:schemeClr val="folHlink"/>
                    </a:solidFill>
                    <a:latin typeface="Verdana" panose="020B0604030504040204" pitchFamily="34" charset="0"/>
                    <a:cs typeface="Arial" panose="020B0604020202020204" pitchFamily="34" charset="0"/>
                  </a:defRPr>
                </a:lvl3pPr>
                <a:lvl4pPr marL="1600200" indent="-228600">
                  <a:spcBef>
                    <a:spcPct val="20000"/>
                  </a:spcBef>
                  <a:buClr>
                    <a:schemeClr val="folHlink"/>
                  </a:buClr>
                  <a:buFont typeface="Wingdings" panose="05000000000000000000" pitchFamily="2" charset="2"/>
                  <a:buChar char="n"/>
                  <a:defRPr sz="2000">
                    <a:solidFill>
                      <a:schemeClr val="folHlink"/>
                    </a:solidFill>
                    <a:latin typeface="Verdana" panose="020B0604030504040204" pitchFamily="34" charset="0"/>
                    <a:cs typeface="Arial" panose="020B0604020202020204" pitchFamily="34" charset="0"/>
                  </a:defRPr>
                </a:lvl4pPr>
                <a:lvl5pPr marL="2057400" indent="-228600">
                  <a:spcBef>
                    <a:spcPct val="25000"/>
                  </a:spcBef>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5pPr>
                <a:lvl6pPr marL="25146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6pPr>
                <a:lvl7pPr marL="29718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7pPr>
                <a:lvl8pPr marL="34290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8pPr>
                <a:lvl9pPr marL="38862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9pPr>
              </a:lstStyle>
              <a:p>
                <a:pPr algn="ctr" eaLnBrk="1" hangingPunct="1">
                  <a:spcBef>
                    <a:spcPct val="50000"/>
                  </a:spcBef>
                  <a:buClrTx/>
                  <a:buFontTx/>
                  <a:buNone/>
                </a:pPr>
                <a:r>
                  <a:rPr lang="en-AU" altLang="en-US" sz="1600">
                    <a:solidFill>
                      <a:schemeClr val="bg1"/>
                    </a:solidFill>
                    <a:latin typeface="Arial" panose="020B0604020202020204" pitchFamily="34" charset="0"/>
                  </a:rPr>
                  <a:t>Trojan</a:t>
                </a:r>
              </a:p>
            </p:txBody>
          </p:sp>
          <p:sp>
            <p:nvSpPr>
              <p:cNvPr id="15378" name="Text Box 8"/>
              <p:cNvSpPr txBox="1">
                <a:spLocks noChangeArrowheads="1"/>
              </p:cNvSpPr>
              <p:nvPr/>
            </p:nvSpPr>
            <p:spPr bwMode="auto">
              <a:xfrm>
                <a:off x="2835" y="1480"/>
                <a:ext cx="726" cy="231"/>
              </a:xfrm>
              <a:prstGeom prst="rect">
                <a:avLst/>
              </a:prstGeom>
              <a:solidFill>
                <a:schemeClr val="hlink"/>
              </a:solidFill>
              <a:ln w="9525" algn="ctr">
                <a:solidFill>
                  <a:schemeClr val="tx1"/>
                </a:solidFill>
                <a:miter lim="800000"/>
                <a:headEnd/>
                <a:tailEnd/>
              </a:ln>
            </p:spPr>
            <p:txBody>
              <a:bodyPr/>
              <a:lstStyle>
                <a:lvl1pPr>
                  <a:spcBef>
                    <a:spcPct val="20000"/>
                  </a:spcBef>
                  <a:buClr>
                    <a:schemeClr val="folHlink"/>
                  </a:buClr>
                  <a:buFont typeface="Wingdings" panose="05000000000000000000" pitchFamily="2" charset="2"/>
                  <a:buChar char="o"/>
                  <a:defRPr sz="2800">
                    <a:solidFill>
                      <a:schemeClr val="folHlink"/>
                    </a:solidFill>
                    <a:latin typeface="Verdana" panose="020B0604030504040204" pitchFamily="34" charset="0"/>
                    <a:cs typeface="Arial" panose="020B0604020202020204" pitchFamily="34" charset="0"/>
                  </a:defRPr>
                </a:lvl1pPr>
                <a:lvl2pPr marL="742950" indent="-285750">
                  <a:spcBef>
                    <a:spcPct val="20000"/>
                  </a:spcBef>
                  <a:buClr>
                    <a:schemeClr val="folHlink"/>
                  </a:buClr>
                  <a:buFont typeface="Wingdings" panose="05000000000000000000" pitchFamily="2" charset="2"/>
                  <a:buChar char="n"/>
                  <a:defRPr sz="2400">
                    <a:solidFill>
                      <a:schemeClr val="folHlink"/>
                    </a:solidFill>
                    <a:latin typeface="Verdana" panose="020B0604030504040204" pitchFamily="34" charset="0"/>
                    <a:cs typeface="Arial" panose="020B0604020202020204" pitchFamily="34" charset="0"/>
                  </a:defRPr>
                </a:lvl2pPr>
                <a:lvl3pPr marL="1143000" indent="-228600">
                  <a:spcBef>
                    <a:spcPct val="20000"/>
                  </a:spcBef>
                  <a:buClr>
                    <a:schemeClr val="folHlink"/>
                  </a:buClr>
                  <a:buFont typeface="Wingdings" panose="05000000000000000000" pitchFamily="2" charset="2"/>
                  <a:buChar char="o"/>
                  <a:defRPr sz="2000">
                    <a:solidFill>
                      <a:schemeClr val="folHlink"/>
                    </a:solidFill>
                    <a:latin typeface="Verdana" panose="020B0604030504040204" pitchFamily="34" charset="0"/>
                    <a:cs typeface="Arial" panose="020B0604020202020204" pitchFamily="34" charset="0"/>
                  </a:defRPr>
                </a:lvl3pPr>
                <a:lvl4pPr marL="1600200" indent="-228600">
                  <a:spcBef>
                    <a:spcPct val="20000"/>
                  </a:spcBef>
                  <a:buClr>
                    <a:schemeClr val="folHlink"/>
                  </a:buClr>
                  <a:buFont typeface="Wingdings" panose="05000000000000000000" pitchFamily="2" charset="2"/>
                  <a:buChar char="n"/>
                  <a:defRPr sz="2000">
                    <a:solidFill>
                      <a:schemeClr val="folHlink"/>
                    </a:solidFill>
                    <a:latin typeface="Verdana" panose="020B0604030504040204" pitchFamily="34" charset="0"/>
                    <a:cs typeface="Arial" panose="020B0604020202020204" pitchFamily="34" charset="0"/>
                  </a:defRPr>
                </a:lvl4pPr>
                <a:lvl5pPr marL="2057400" indent="-228600">
                  <a:spcBef>
                    <a:spcPct val="25000"/>
                  </a:spcBef>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5pPr>
                <a:lvl6pPr marL="25146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6pPr>
                <a:lvl7pPr marL="29718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7pPr>
                <a:lvl8pPr marL="34290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8pPr>
                <a:lvl9pPr marL="38862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9pPr>
              </a:lstStyle>
              <a:p>
                <a:pPr algn="ctr" eaLnBrk="1" hangingPunct="1">
                  <a:spcBef>
                    <a:spcPct val="50000"/>
                  </a:spcBef>
                  <a:buClrTx/>
                  <a:buFontTx/>
                  <a:buNone/>
                </a:pPr>
                <a:r>
                  <a:rPr lang="en-AU" altLang="en-US" sz="1600">
                    <a:solidFill>
                      <a:schemeClr val="bg1"/>
                    </a:solidFill>
                    <a:latin typeface="Arial" panose="020B0604020202020204" pitchFamily="34" charset="0"/>
                  </a:rPr>
                  <a:t>Rootkit</a:t>
                </a:r>
                <a:r>
                  <a:rPr lang="en-AU" altLang="en-US" sz="1800">
                    <a:solidFill>
                      <a:schemeClr val="bg1"/>
                    </a:solidFill>
                    <a:latin typeface="Arial" panose="020B0604020202020204" pitchFamily="34" charset="0"/>
                  </a:rPr>
                  <a:t> *</a:t>
                </a:r>
              </a:p>
            </p:txBody>
          </p:sp>
          <p:sp>
            <p:nvSpPr>
              <p:cNvPr id="15379" name="Text Box 9"/>
              <p:cNvSpPr txBox="1">
                <a:spLocks noChangeArrowheads="1"/>
              </p:cNvSpPr>
              <p:nvPr/>
            </p:nvSpPr>
            <p:spPr bwMode="auto">
              <a:xfrm>
                <a:off x="3651" y="1480"/>
                <a:ext cx="726" cy="231"/>
              </a:xfrm>
              <a:prstGeom prst="rect">
                <a:avLst/>
              </a:prstGeom>
              <a:solidFill>
                <a:schemeClr val="hlink"/>
              </a:solidFill>
              <a:ln w="9525" algn="ctr">
                <a:solidFill>
                  <a:schemeClr val="tx1"/>
                </a:solidFill>
                <a:miter lim="800000"/>
                <a:headEnd/>
                <a:tailEnd/>
              </a:ln>
            </p:spPr>
            <p:txBody>
              <a:bodyPr/>
              <a:lstStyle>
                <a:lvl1pPr>
                  <a:spcBef>
                    <a:spcPct val="20000"/>
                  </a:spcBef>
                  <a:buClr>
                    <a:schemeClr val="folHlink"/>
                  </a:buClr>
                  <a:buFont typeface="Wingdings" panose="05000000000000000000" pitchFamily="2" charset="2"/>
                  <a:buChar char="o"/>
                  <a:defRPr sz="2800">
                    <a:solidFill>
                      <a:schemeClr val="folHlink"/>
                    </a:solidFill>
                    <a:latin typeface="Verdana" panose="020B0604030504040204" pitchFamily="34" charset="0"/>
                    <a:cs typeface="Arial" panose="020B0604020202020204" pitchFamily="34" charset="0"/>
                  </a:defRPr>
                </a:lvl1pPr>
                <a:lvl2pPr marL="742950" indent="-285750">
                  <a:spcBef>
                    <a:spcPct val="20000"/>
                  </a:spcBef>
                  <a:buClr>
                    <a:schemeClr val="folHlink"/>
                  </a:buClr>
                  <a:buFont typeface="Wingdings" panose="05000000000000000000" pitchFamily="2" charset="2"/>
                  <a:buChar char="n"/>
                  <a:defRPr sz="2400">
                    <a:solidFill>
                      <a:schemeClr val="folHlink"/>
                    </a:solidFill>
                    <a:latin typeface="Verdana" panose="020B0604030504040204" pitchFamily="34" charset="0"/>
                    <a:cs typeface="Arial" panose="020B0604020202020204" pitchFamily="34" charset="0"/>
                  </a:defRPr>
                </a:lvl2pPr>
                <a:lvl3pPr marL="1143000" indent="-228600">
                  <a:spcBef>
                    <a:spcPct val="20000"/>
                  </a:spcBef>
                  <a:buClr>
                    <a:schemeClr val="folHlink"/>
                  </a:buClr>
                  <a:buFont typeface="Wingdings" panose="05000000000000000000" pitchFamily="2" charset="2"/>
                  <a:buChar char="o"/>
                  <a:defRPr sz="2000">
                    <a:solidFill>
                      <a:schemeClr val="folHlink"/>
                    </a:solidFill>
                    <a:latin typeface="Verdana" panose="020B0604030504040204" pitchFamily="34" charset="0"/>
                    <a:cs typeface="Arial" panose="020B0604020202020204" pitchFamily="34" charset="0"/>
                  </a:defRPr>
                </a:lvl3pPr>
                <a:lvl4pPr marL="1600200" indent="-228600">
                  <a:spcBef>
                    <a:spcPct val="20000"/>
                  </a:spcBef>
                  <a:buClr>
                    <a:schemeClr val="folHlink"/>
                  </a:buClr>
                  <a:buFont typeface="Wingdings" panose="05000000000000000000" pitchFamily="2" charset="2"/>
                  <a:buChar char="n"/>
                  <a:defRPr sz="2000">
                    <a:solidFill>
                      <a:schemeClr val="folHlink"/>
                    </a:solidFill>
                    <a:latin typeface="Verdana" panose="020B0604030504040204" pitchFamily="34" charset="0"/>
                    <a:cs typeface="Arial" panose="020B0604020202020204" pitchFamily="34" charset="0"/>
                  </a:defRPr>
                </a:lvl4pPr>
                <a:lvl5pPr marL="2057400" indent="-228600">
                  <a:spcBef>
                    <a:spcPct val="25000"/>
                  </a:spcBef>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5pPr>
                <a:lvl6pPr marL="25146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6pPr>
                <a:lvl7pPr marL="29718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7pPr>
                <a:lvl8pPr marL="34290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8pPr>
                <a:lvl9pPr marL="38862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9pPr>
              </a:lstStyle>
              <a:p>
                <a:pPr algn="ctr" eaLnBrk="1" hangingPunct="1">
                  <a:spcBef>
                    <a:spcPct val="50000"/>
                  </a:spcBef>
                  <a:buClrTx/>
                  <a:buFontTx/>
                  <a:buNone/>
                </a:pPr>
                <a:r>
                  <a:rPr lang="en-AU" altLang="en-US" sz="1600">
                    <a:solidFill>
                      <a:schemeClr val="bg1"/>
                    </a:solidFill>
                    <a:latin typeface="Arial" panose="020B0604020202020204" pitchFamily="34" charset="0"/>
                  </a:rPr>
                  <a:t>Spyware</a:t>
                </a:r>
              </a:p>
            </p:txBody>
          </p:sp>
          <p:sp>
            <p:nvSpPr>
              <p:cNvPr id="15380" name="Text Box 10"/>
              <p:cNvSpPr txBox="1">
                <a:spLocks noChangeArrowheads="1"/>
              </p:cNvSpPr>
              <p:nvPr/>
            </p:nvSpPr>
            <p:spPr bwMode="auto">
              <a:xfrm>
                <a:off x="4468" y="1480"/>
                <a:ext cx="726" cy="231"/>
              </a:xfrm>
              <a:prstGeom prst="rect">
                <a:avLst/>
              </a:prstGeom>
              <a:solidFill>
                <a:schemeClr val="hlink"/>
              </a:solidFill>
              <a:ln w="9525" algn="ctr">
                <a:solidFill>
                  <a:schemeClr val="tx1"/>
                </a:solidFill>
                <a:miter lim="800000"/>
                <a:headEnd/>
                <a:tailEnd/>
              </a:ln>
            </p:spPr>
            <p:txBody>
              <a:bodyPr/>
              <a:lstStyle>
                <a:lvl1pPr>
                  <a:spcBef>
                    <a:spcPct val="20000"/>
                  </a:spcBef>
                  <a:buClr>
                    <a:schemeClr val="folHlink"/>
                  </a:buClr>
                  <a:buFont typeface="Wingdings" panose="05000000000000000000" pitchFamily="2" charset="2"/>
                  <a:buChar char="o"/>
                  <a:defRPr sz="2800">
                    <a:solidFill>
                      <a:schemeClr val="folHlink"/>
                    </a:solidFill>
                    <a:latin typeface="Verdana" panose="020B0604030504040204" pitchFamily="34" charset="0"/>
                    <a:cs typeface="Arial" panose="020B0604020202020204" pitchFamily="34" charset="0"/>
                  </a:defRPr>
                </a:lvl1pPr>
                <a:lvl2pPr marL="742950" indent="-285750">
                  <a:spcBef>
                    <a:spcPct val="20000"/>
                  </a:spcBef>
                  <a:buClr>
                    <a:schemeClr val="folHlink"/>
                  </a:buClr>
                  <a:buFont typeface="Wingdings" panose="05000000000000000000" pitchFamily="2" charset="2"/>
                  <a:buChar char="n"/>
                  <a:defRPr sz="2400">
                    <a:solidFill>
                      <a:schemeClr val="folHlink"/>
                    </a:solidFill>
                    <a:latin typeface="Verdana" panose="020B0604030504040204" pitchFamily="34" charset="0"/>
                    <a:cs typeface="Arial" panose="020B0604020202020204" pitchFamily="34" charset="0"/>
                  </a:defRPr>
                </a:lvl2pPr>
                <a:lvl3pPr marL="1143000" indent="-228600">
                  <a:spcBef>
                    <a:spcPct val="20000"/>
                  </a:spcBef>
                  <a:buClr>
                    <a:schemeClr val="folHlink"/>
                  </a:buClr>
                  <a:buFont typeface="Wingdings" panose="05000000000000000000" pitchFamily="2" charset="2"/>
                  <a:buChar char="o"/>
                  <a:defRPr sz="2000">
                    <a:solidFill>
                      <a:schemeClr val="folHlink"/>
                    </a:solidFill>
                    <a:latin typeface="Verdana" panose="020B0604030504040204" pitchFamily="34" charset="0"/>
                    <a:cs typeface="Arial" panose="020B0604020202020204" pitchFamily="34" charset="0"/>
                  </a:defRPr>
                </a:lvl3pPr>
                <a:lvl4pPr marL="1600200" indent="-228600">
                  <a:spcBef>
                    <a:spcPct val="20000"/>
                  </a:spcBef>
                  <a:buClr>
                    <a:schemeClr val="folHlink"/>
                  </a:buClr>
                  <a:buFont typeface="Wingdings" panose="05000000000000000000" pitchFamily="2" charset="2"/>
                  <a:buChar char="n"/>
                  <a:defRPr sz="2000">
                    <a:solidFill>
                      <a:schemeClr val="folHlink"/>
                    </a:solidFill>
                    <a:latin typeface="Verdana" panose="020B0604030504040204" pitchFamily="34" charset="0"/>
                    <a:cs typeface="Arial" panose="020B0604020202020204" pitchFamily="34" charset="0"/>
                  </a:defRPr>
                </a:lvl4pPr>
                <a:lvl5pPr marL="2057400" indent="-228600">
                  <a:spcBef>
                    <a:spcPct val="25000"/>
                  </a:spcBef>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5pPr>
                <a:lvl6pPr marL="25146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6pPr>
                <a:lvl7pPr marL="29718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7pPr>
                <a:lvl8pPr marL="34290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8pPr>
                <a:lvl9pPr marL="38862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9pPr>
              </a:lstStyle>
              <a:p>
                <a:pPr algn="ctr" eaLnBrk="1" hangingPunct="1">
                  <a:spcBef>
                    <a:spcPct val="50000"/>
                  </a:spcBef>
                  <a:buClrTx/>
                  <a:buFontTx/>
                  <a:buNone/>
                </a:pPr>
                <a:r>
                  <a:rPr lang="en-AU" altLang="en-US" sz="1600">
                    <a:solidFill>
                      <a:schemeClr val="bg1"/>
                    </a:solidFill>
                    <a:latin typeface="Arial" panose="020B0604020202020204" pitchFamily="34" charset="0"/>
                  </a:rPr>
                  <a:t>Others</a:t>
                </a:r>
              </a:p>
            </p:txBody>
          </p:sp>
          <p:sp>
            <p:nvSpPr>
              <p:cNvPr id="15381" name="Text Box 12"/>
              <p:cNvSpPr txBox="1">
                <a:spLocks noChangeArrowheads="1"/>
              </p:cNvSpPr>
              <p:nvPr/>
            </p:nvSpPr>
            <p:spPr bwMode="auto">
              <a:xfrm>
                <a:off x="476" y="1843"/>
                <a:ext cx="635" cy="363"/>
              </a:xfrm>
              <a:prstGeom prst="rect">
                <a:avLst/>
              </a:prstGeom>
              <a:solidFill>
                <a:schemeClr val="hlink"/>
              </a:solidFill>
              <a:ln w="9525" algn="ctr">
                <a:solidFill>
                  <a:schemeClr val="tx1"/>
                </a:solidFill>
                <a:miter lim="800000"/>
                <a:headEnd/>
                <a:tailEnd/>
              </a:ln>
            </p:spPr>
            <p:txBody>
              <a:bodyPr/>
              <a:lstStyle>
                <a:lvl1pPr>
                  <a:spcBef>
                    <a:spcPct val="20000"/>
                  </a:spcBef>
                  <a:buClr>
                    <a:schemeClr val="folHlink"/>
                  </a:buClr>
                  <a:buFont typeface="Wingdings" panose="05000000000000000000" pitchFamily="2" charset="2"/>
                  <a:buChar char="o"/>
                  <a:defRPr sz="2800">
                    <a:solidFill>
                      <a:schemeClr val="folHlink"/>
                    </a:solidFill>
                    <a:latin typeface="Verdana" panose="020B0604030504040204" pitchFamily="34" charset="0"/>
                    <a:cs typeface="Arial" panose="020B0604020202020204" pitchFamily="34" charset="0"/>
                  </a:defRPr>
                </a:lvl1pPr>
                <a:lvl2pPr marL="742950" indent="-285750">
                  <a:spcBef>
                    <a:spcPct val="20000"/>
                  </a:spcBef>
                  <a:buClr>
                    <a:schemeClr val="folHlink"/>
                  </a:buClr>
                  <a:buFont typeface="Wingdings" panose="05000000000000000000" pitchFamily="2" charset="2"/>
                  <a:buChar char="n"/>
                  <a:defRPr sz="2400">
                    <a:solidFill>
                      <a:schemeClr val="folHlink"/>
                    </a:solidFill>
                    <a:latin typeface="Verdana" panose="020B0604030504040204" pitchFamily="34" charset="0"/>
                    <a:cs typeface="Arial" panose="020B0604020202020204" pitchFamily="34" charset="0"/>
                  </a:defRPr>
                </a:lvl2pPr>
                <a:lvl3pPr marL="1143000" indent="-228600">
                  <a:spcBef>
                    <a:spcPct val="20000"/>
                  </a:spcBef>
                  <a:buClr>
                    <a:schemeClr val="folHlink"/>
                  </a:buClr>
                  <a:buFont typeface="Wingdings" panose="05000000000000000000" pitchFamily="2" charset="2"/>
                  <a:buChar char="o"/>
                  <a:defRPr sz="2000">
                    <a:solidFill>
                      <a:schemeClr val="folHlink"/>
                    </a:solidFill>
                    <a:latin typeface="Verdana" panose="020B0604030504040204" pitchFamily="34" charset="0"/>
                    <a:cs typeface="Arial" panose="020B0604020202020204" pitchFamily="34" charset="0"/>
                  </a:defRPr>
                </a:lvl3pPr>
                <a:lvl4pPr marL="1600200" indent="-228600">
                  <a:spcBef>
                    <a:spcPct val="20000"/>
                  </a:spcBef>
                  <a:buClr>
                    <a:schemeClr val="folHlink"/>
                  </a:buClr>
                  <a:buFont typeface="Wingdings" panose="05000000000000000000" pitchFamily="2" charset="2"/>
                  <a:buChar char="n"/>
                  <a:defRPr sz="2000">
                    <a:solidFill>
                      <a:schemeClr val="folHlink"/>
                    </a:solidFill>
                    <a:latin typeface="Verdana" panose="020B0604030504040204" pitchFamily="34" charset="0"/>
                    <a:cs typeface="Arial" panose="020B0604020202020204" pitchFamily="34" charset="0"/>
                  </a:defRPr>
                </a:lvl4pPr>
                <a:lvl5pPr marL="2057400" indent="-228600">
                  <a:spcBef>
                    <a:spcPct val="25000"/>
                  </a:spcBef>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5pPr>
                <a:lvl6pPr marL="25146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6pPr>
                <a:lvl7pPr marL="29718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7pPr>
                <a:lvl8pPr marL="34290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8pPr>
                <a:lvl9pPr marL="38862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9pPr>
              </a:lstStyle>
              <a:p>
                <a:pPr algn="ctr" eaLnBrk="1" hangingPunct="1">
                  <a:spcBef>
                    <a:spcPct val="50000"/>
                  </a:spcBef>
                  <a:buClrTx/>
                  <a:buFontTx/>
                  <a:buNone/>
                </a:pPr>
                <a:r>
                  <a:rPr lang="en-AU" altLang="en-US" sz="1600">
                    <a:solidFill>
                      <a:schemeClr val="bg1"/>
                    </a:solidFill>
                    <a:latin typeface="Arial" panose="020B0604020202020204" pitchFamily="34" charset="0"/>
                  </a:rPr>
                  <a:t>File</a:t>
                </a:r>
                <a:r>
                  <a:rPr lang="en-AU" altLang="en-US" sz="1800">
                    <a:solidFill>
                      <a:schemeClr val="bg1"/>
                    </a:solidFill>
                    <a:latin typeface="Arial" panose="020B0604020202020204" pitchFamily="34" charset="0"/>
                  </a:rPr>
                  <a:t> </a:t>
                </a:r>
                <a:r>
                  <a:rPr lang="en-AU" altLang="en-US" sz="1600">
                    <a:solidFill>
                      <a:schemeClr val="bg1"/>
                    </a:solidFill>
                    <a:latin typeface="Arial" panose="020B0604020202020204" pitchFamily="34" charset="0"/>
                  </a:rPr>
                  <a:t>Infecting</a:t>
                </a:r>
              </a:p>
            </p:txBody>
          </p:sp>
          <p:sp>
            <p:nvSpPr>
              <p:cNvPr id="15382" name="Text Box 13"/>
              <p:cNvSpPr txBox="1">
                <a:spLocks noChangeArrowheads="1"/>
              </p:cNvSpPr>
              <p:nvPr/>
            </p:nvSpPr>
            <p:spPr bwMode="auto">
              <a:xfrm>
                <a:off x="476" y="2296"/>
                <a:ext cx="635" cy="363"/>
              </a:xfrm>
              <a:prstGeom prst="rect">
                <a:avLst/>
              </a:prstGeom>
              <a:solidFill>
                <a:schemeClr val="hlink"/>
              </a:solidFill>
              <a:ln w="9525" algn="ctr">
                <a:solidFill>
                  <a:schemeClr val="tx1"/>
                </a:solidFill>
                <a:miter lim="800000"/>
                <a:headEnd/>
                <a:tailEnd/>
              </a:ln>
            </p:spPr>
            <p:txBody>
              <a:bodyPr/>
              <a:lstStyle>
                <a:lvl1pPr>
                  <a:spcBef>
                    <a:spcPct val="20000"/>
                  </a:spcBef>
                  <a:buClr>
                    <a:schemeClr val="folHlink"/>
                  </a:buClr>
                  <a:buFont typeface="Wingdings" panose="05000000000000000000" pitchFamily="2" charset="2"/>
                  <a:buChar char="o"/>
                  <a:defRPr sz="2800">
                    <a:solidFill>
                      <a:schemeClr val="folHlink"/>
                    </a:solidFill>
                    <a:latin typeface="Verdana" panose="020B0604030504040204" pitchFamily="34" charset="0"/>
                    <a:cs typeface="Arial" panose="020B0604020202020204" pitchFamily="34" charset="0"/>
                  </a:defRPr>
                </a:lvl1pPr>
                <a:lvl2pPr marL="742950" indent="-285750">
                  <a:spcBef>
                    <a:spcPct val="20000"/>
                  </a:spcBef>
                  <a:buClr>
                    <a:schemeClr val="folHlink"/>
                  </a:buClr>
                  <a:buFont typeface="Wingdings" panose="05000000000000000000" pitchFamily="2" charset="2"/>
                  <a:buChar char="n"/>
                  <a:defRPr sz="2400">
                    <a:solidFill>
                      <a:schemeClr val="folHlink"/>
                    </a:solidFill>
                    <a:latin typeface="Verdana" panose="020B0604030504040204" pitchFamily="34" charset="0"/>
                    <a:cs typeface="Arial" panose="020B0604020202020204" pitchFamily="34" charset="0"/>
                  </a:defRPr>
                </a:lvl2pPr>
                <a:lvl3pPr marL="1143000" indent="-228600">
                  <a:spcBef>
                    <a:spcPct val="20000"/>
                  </a:spcBef>
                  <a:buClr>
                    <a:schemeClr val="folHlink"/>
                  </a:buClr>
                  <a:buFont typeface="Wingdings" panose="05000000000000000000" pitchFamily="2" charset="2"/>
                  <a:buChar char="o"/>
                  <a:defRPr sz="2000">
                    <a:solidFill>
                      <a:schemeClr val="folHlink"/>
                    </a:solidFill>
                    <a:latin typeface="Verdana" panose="020B0604030504040204" pitchFamily="34" charset="0"/>
                    <a:cs typeface="Arial" panose="020B0604020202020204" pitchFamily="34" charset="0"/>
                  </a:defRPr>
                </a:lvl3pPr>
                <a:lvl4pPr marL="1600200" indent="-228600">
                  <a:spcBef>
                    <a:spcPct val="20000"/>
                  </a:spcBef>
                  <a:buClr>
                    <a:schemeClr val="folHlink"/>
                  </a:buClr>
                  <a:buFont typeface="Wingdings" panose="05000000000000000000" pitchFamily="2" charset="2"/>
                  <a:buChar char="n"/>
                  <a:defRPr sz="2000">
                    <a:solidFill>
                      <a:schemeClr val="folHlink"/>
                    </a:solidFill>
                    <a:latin typeface="Verdana" panose="020B0604030504040204" pitchFamily="34" charset="0"/>
                    <a:cs typeface="Arial" panose="020B0604020202020204" pitchFamily="34" charset="0"/>
                  </a:defRPr>
                </a:lvl4pPr>
                <a:lvl5pPr marL="2057400" indent="-228600">
                  <a:spcBef>
                    <a:spcPct val="25000"/>
                  </a:spcBef>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5pPr>
                <a:lvl6pPr marL="25146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6pPr>
                <a:lvl7pPr marL="29718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7pPr>
                <a:lvl8pPr marL="34290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8pPr>
                <a:lvl9pPr marL="38862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9pPr>
              </a:lstStyle>
              <a:p>
                <a:pPr algn="ctr" eaLnBrk="1" hangingPunct="1">
                  <a:spcBef>
                    <a:spcPct val="50000"/>
                  </a:spcBef>
                  <a:buClrTx/>
                  <a:buFontTx/>
                  <a:buNone/>
                </a:pPr>
                <a:r>
                  <a:rPr lang="en-AU" altLang="en-US" sz="1800">
                    <a:solidFill>
                      <a:schemeClr val="bg1"/>
                    </a:solidFill>
                    <a:latin typeface="Arial" panose="020B0604020202020204" pitchFamily="34" charset="0"/>
                  </a:rPr>
                  <a:t>Boot </a:t>
                </a:r>
                <a:r>
                  <a:rPr lang="en-AU" altLang="en-US" sz="1600">
                    <a:solidFill>
                      <a:schemeClr val="bg1"/>
                    </a:solidFill>
                    <a:latin typeface="Arial" panose="020B0604020202020204" pitchFamily="34" charset="0"/>
                  </a:rPr>
                  <a:t>Sector</a:t>
                </a:r>
              </a:p>
            </p:txBody>
          </p:sp>
          <p:sp>
            <p:nvSpPr>
              <p:cNvPr id="15383" name="Text Box 14"/>
              <p:cNvSpPr txBox="1">
                <a:spLocks noChangeArrowheads="1"/>
              </p:cNvSpPr>
              <p:nvPr/>
            </p:nvSpPr>
            <p:spPr bwMode="auto">
              <a:xfrm>
                <a:off x="476" y="2750"/>
                <a:ext cx="635" cy="363"/>
              </a:xfrm>
              <a:prstGeom prst="rect">
                <a:avLst/>
              </a:prstGeom>
              <a:solidFill>
                <a:schemeClr val="hlink"/>
              </a:solidFill>
              <a:ln w="9525" algn="ctr">
                <a:solidFill>
                  <a:schemeClr val="tx1"/>
                </a:solidFill>
                <a:miter lim="800000"/>
                <a:headEnd/>
                <a:tailEnd/>
              </a:ln>
            </p:spPr>
            <p:txBody>
              <a:bodyPr/>
              <a:lstStyle>
                <a:lvl1pPr>
                  <a:spcBef>
                    <a:spcPct val="20000"/>
                  </a:spcBef>
                  <a:buClr>
                    <a:schemeClr val="folHlink"/>
                  </a:buClr>
                  <a:buFont typeface="Wingdings" panose="05000000000000000000" pitchFamily="2" charset="2"/>
                  <a:buChar char="o"/>
                  <a:defRPr sz="2800">
                    <a:solidFill>
                      <a:schemeClr val="folHlink"/>
                    </a:solidFill>
                    <a:latin typeface="Verdana" panose="020B0604030504040204" pitchFamily="34" charset="0"/>
                    <a:cs typeface="Arial" panose="020B0604020202020204" pitchFamily="34" charset="0"/>
                  </a:defRPr>
                </a:lvl1pPr>
                <a:lvl2pPr marL="742950" indent="-285750">
                  <a:spcBef>
                    <a:spcPct val="20000"/>
                  </a:spcBef>
                  <a:buClr>
                    <a:schemeClr val="folHlink"/>
                  </a:buClr>
                  <a:buFont typeface="Wingdings" panose="05000000000000000000" pitchFamily="2" charset="2"/>
                  <a:buChar char="n"/>
                  <a:defRPr sz="2400">
                    <a:solidFill>
                      <a:schemeClr val="folHlink"/>
                    </a:solidFill>
                    <a:latin typeface="Verdana" panose="020B0604030504040204" pitchFamily="34" charset="0"/>
                    <a:cs typeface="Arial" panose="020B0604020202020204" pitchFamily="34" charset="0"/>
                  </a:defRPr>
                </a:lvl2pPr>
                <a:lvl3pPr marL="1143000" indent="-228600">
                  <a:spcBef>
                    <a:spcPct val="20000"/>
                  </a:spcBef>
                  <a:buClr>
                    <a:schemeClr val="folHlink"/>
                  </a:buClr>
                  <a:buFont typeface="Wingdings" panose="05000000000000000000" pitchFamily="2" charset="2"/>
                  <a:buChar char="o"/>
                  <a:defRPr sz="2000">
                    <a:solidFill>
                      <a:schemeClr val="folHlink"/>
                    </a:solidFill>
                    <a:latin typeface="Verdana" panose="020B0604030504040204" pitchFamily="34" charset="0"/>
                    <a:cs typeface="Arial" panose="020B0604020202020204" pitchFamily="34" charset="0"/>
                  </a:defRPr>
                </a:lvl3pPr>
                <a:lvl4pPr marL="1600200" indent="-228600">
                  <a:spcBef>
                    <a:spcPct val="20000"/>
                  </a:spcBef>
                  <a:buClr>
                    <a:schemeClr val="folHlink"/>
                  </a:buClr>
                  <a:buFont typeface="Wingdings" panose="05000000000000000000" pitchFamily="2" charset="2"/>
                  <a:buChar char="n"/>
                  <a:defRPr sz="2000">
                    <a:solidFill>
                      <a:schemeClr val="folHlink"/>
                    </a:solidFill>
                    <a:latin typeface="Verdana" panose="020B0604030504040204" pitchFamily="34" charset="0"/>
                    <a:cs typeface="Arial" panose="020B0604020202020204" pitchFamily="34" charset="0"/>
                  </a:defRPr>
                </a:lvl4pPr>
                <a:lvl5pPr marL="2057400" indent="-228600">
                  <a:spcBef>
                    <a:spcPct val="25000"/>
                  </a:spcBef>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5pPr>
                <a:lvl6pPr marL="25146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6pPr>
                <a:lvl7pPr marL="29718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7pPr>
                <a:lvl8pPr marL="34290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8pPr>
                <a:lvl9pPr marL="38862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9pPr>
              </a:lstStyle>
              <a:p>
                <a:pPr algn="ctr" eaLnBrk="1" hangingPunct="1">
                  <a:spcBef>
                    <a:spcPct val="50000"/>
                  </a:spcBef>
                  <a:buClrTx/>
                  <a:buFontTx/>
                  <a:buNone/>
                </a:pPr>
                <a:r>
                  <a:rPr lang="en-AU" altLang="en-US" sz="1600">
                    <a:solidFill>
                      <a:schemeClr val="bg1"/>
                    </a:solidFill>
                    <a:latin typeface="Arial" panose="020B0604020202020204" pitchFamily="34" charset="0"/>
                  </a:rPr>
                  <a:t>Macro</a:t>
                </a:r>
              </a:p>
            </p:txBody>
          </p:sp>
          <p:cxnSp>
            <p:nvCxnSpPr>
              <p:cNvPr id="15384" name="AutoShape 15"/>
              <p:cNvCxnSpPr>
                <a:cxnSpLocks noChangeShapeType="1"/>
                <a:stCxn id="15375" idx="1"/>
              </p:cNvCxnSpPr>
              <p:nvPr/>
            </p:nvCxnSpPr>
            <p:spPr bwMode="auto">
              <a:xfrm>
                <a:off x="385" y="1596"/>
                <a:ext cx="0" cy="133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5385" name="AutoShape 16"/>
              <p:cNvCxnSpPr>
                <a:cxnSpLocks noChangeShapeType="1"/>
                <a:endCxn id="15381" idx="1"/>
              </p:cNvCxnSpPr>
              <p:nvPr/>
            </p:nvCxnSpPr>
            <p:spPr bwMode="auto">
              <a:xfrm>
                <a:off x="385" y="2024"/>
                <a:ext cx="91" cy="1"/>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5386" name="AutoShape 17"/>
              <p:cNvCxnSpPr>
                <a:cxnSpLocks noChangeShapeType="1"/>
                <a:endCxn id="15382" idx="1"/>
              </p:cNvCxnSpPr>
              <p:nvPr/>
            </p:nvCxnSpPr>
            <p:spPr bwMode="auto">
              <a:xfrm>
                <a:off x="385" y="2478"/>
                <a:ext cx="91"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5387" name="AutoShape 18"/>
              <p:cNvCxnSpPr>
                <a:cxnSpLocks noChangeShapeType="1"/>
                <a:endCxn id="15383" idx="1"/>
              </p:cNvCxnSpPr>
              <p:nvPr/>
            </p:nvCxnSpPr>
            <p:spPr bwMode="auto">
              <a:xfrm>
                <a:off x="385" y="2931"/>
                <a:ext cx="91" cy="1"/>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5388" name="AutoShape 19"/>
              <p:cNvCxnSpPr>
                <a:cxnSpLocks noChangeShapeType="1"/>
                <a:stCxn id="15376" idx="1"/>
              </p:cNvCxnSpPr>
              <p:nvPr/>
            </p:nvCxnSpPr>
            <p:spPr bwMode="auto">
              <a:xfrm>
                <a:off x="1202" y="1596"/>
                <a:ext cx="0" cy="882"/>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5389" name="Text Box 20"/>
              <p:cNvSpPr txBox="1">
                <a:spLocks noChangeArrowheads="1"/>
              </p:cNvSpPr>
              <p:nvPr/>
            </p:nvSpPr>
            <p:spPr bwMode="auto">
              <a:xfrm>
                <a:off x="1292" y="1842"/>
                <a:ext cx="635" cy="363"/>
              </a:xfrm>
              <a:prstGeom prst="rect">
                <a:avLst/>
              </a:prstGeom>
              <a:solidFill>
                <a:schemeClr val="hlink"/>
              </a:solidFill>
              <a:ln w="9525" algn="ctr">
                <a:solidFill>
                  <a:schemeClr val="tx1"/>
                </a:solidFill>
                <a:miter lim="800000"/>
                <a:headEnd/>
                <a:tailEnd/>
              </a:ln>
            </p:spPr>
            <p:txBody>
              <a:bodyPr/>
              <a:lstStyle>
                <a:lvl1pPr>
                  <a:spcBef>
                    <a:spcPct val="20000"/>
                  </a:spcBef>
                  <a:buClr>
                    <a:schemeClr val="folHlink"/>
                  </a:buClr>
                  <a:buFont typeface="Wingdings" panose="05000000000000000000" pitchFamily="2" charset="2"/>
                  <a:buChar char="o"/>
                  <a:defRPr sz="2800">
                    <a:solidFill>
                      <a:schemeClr val="folHlink"/>
                    </a:solidFill>
                    <a:latin typeface="Verdana" panose="020B0604030504040204" pitchFamily="34" charset="0"/>
                    <a:cs typeface="Arial" panose="020B0604020202020204" pitchFamily="34" charset="0"/>
                  </a:defRPr>
                </a:lvl1pPr>
                <a:lvl2pPr marL="742950" indent="-285750">
                  <a:spcBef>
                    <a:spcPct val="20000"/>
                  </a:spcBef>
                  <a:buClr>
                    <a:schemeClr val="folHlink"/>
                  </a:buClr>
                  <a:buFont typeface="Wingdings" panose="05000000000000000000" pitchFamily="2" charset="2"/>
                  <a:buChar char="n"/>
                  <a:defRPr sz="2400">
                    <a:solidFill>
                      <a:schemeClr val="folHlink"/>
                    </a:solidFill>
                    <a:latin typeface="Verdana" panose="020B0604030504040204" pitchFamily="34" charset="0"/>
                    <a:cs typeface="Arial" panose="020B0604020202020204" pitchFamily="34" charset="0"/>
                  </a:defRPr>
                </a:lvl2pPr>
                <a:lvl3pPr marL="1143000" indent="-228600">
                  <a:spcBef>
                    <a:spcPct val="20000"/>
                  </a:spcBef>
                  <a:buClr>
                    <a:schemeClr val="folHlink"/>
                  </a:buClr>
                  <a:buFont typeface="Wingdings" panose="05000000000000000000" pitchFamily="2" charset="2"/>
                  <a:buChar char="o"/>
                  <a:defRPr sz="2000">
                    <a:solidFill>
                      <a:schemeClr val="folHlink"/>
                    </a:solidFill>
                    <a:latin typeface="Verdana" panose="020B0604030504040204" pitchFamily="34" charset="0"/>
                    <a:cs typeface="Arial" panose="020B0604020202020204" pitchFamily="34" charset="0"/>
                  </a:defRPr>
                </a:lvl3pPr>
                <a:lvl4pPr marL="1600200" indent="-228600">
                  <a:spcBef>
                    <a:spcPct val="20000"/>
                  </a:spcBef>
                  <a:buClr>
                    <a:schemeClr val="folHlink"/>
                  </a:buClr>
                  <a:buFont typeface="Wingdings" panose="05000000000000000000" pitchFamily="2" charset="2"/>
                  <a:buChar char="n"/>
                  <a:defRPr sz="2000">
                    <a:solidFill>
                      <a:schemeClr val="folHlink"/>
                    </a:solidFill>
                    <a:latin typeface="Verdana" panose="020B0604030504040204" pitchFamily="34" charset="0"/>
                    <a:cs typeface="Arial" panose="020B0604020202020204" pitchFamily="34" charset="0"/>
                  </a:defRPr>
                </a:lvl4pPr>
                <a:lvl5pPr marL="2057400" indent="-228600">
                  <a:spcBef>
                    <a:spcPct val="25000"/>
                  </a:spcBef>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5pPr>
                <a:lvl6pPr marL="25146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6pPr>
                <a:lvl7pPr marL="29718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7pPr>
                <a:lvl8pPr marL="34290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8pPr>
                <a:lvl9pPr marL="38862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9pPr>
              </a:lstStyle>
              <a:p>
                <a:pPr algn="ctr" eaLnBrk="1" hangingPunct="1">
                  <a:spcBef>
                    <a:spcPct val="50000"/>
                  </a:spcBef>
                  <a:buClrTx/>
                  <a:buFontTx/>
                  <a:buNone/>
                </a:pPr>
                <a:r>
                  <a:rPr lang="en-AU" altLang="en-US" sz="1800">
                    <a:solidFill>
                      <a:schemeClr val="bg1"/>
                    </a:solidFill>
                    <a:latin typeface="Arial" panose="020B0604020202020204" pitchFamily="34" charset="0"/>
                  </a:rPr>
                  <a:t>Email</a:t>
                </a:r>
              </a:p>
            </p:txBody>
          </p:sp>
          <p:sp>
            <p:nvSpPr>
              <p:cNvPr id="15390" name="Text Box 21"/>
              <p:cNvSpPr txBox="1">
                <a:spLocks noChangeArrowheads="1"/>
              </p:cNvSpPr>
              <p:nvPr/>
            </p:nvSpPr>
            <p:spPr bwMode="auto">
              <a:xfrm>
                <a:off x="1292" y="2296"/>
                <a:ext cx="635" cy="363"/>
              </a:xfrm>
              <a:prstGeom prst="rect">
                <a:avLst/>
              </a:prstGeom>
              <a:solidFill>
                <a:schemeClr val="hlink"/>
              </a:solidFill>
              <a:ln w="9525" algn="ctr">
                <a:solidFill>
                  <a:schemeClr val="tx1"/>
                </a:solidFill>
                <a:miter lim="800000"/>
                <a:headEnd/>
                <a:tailEnd/>
              </a:ln>
            </p:spPr>
            <p:txBody>
              <a:bodyPr/>
              <a:lstStyle>
                <a:lvl1pPr>
                  <a:spcBef>
                    <a:spcPct val="20000"/>
                  </a:spcBef>
                  <a:buClr>
                    <a:schemeClr val="folHlink"/>
                  </a:buClr>
                  <a:buFont typeface="Wingdings" panose="05000000000000000000" pitchFamily="2" charset="2"/>
                  <a:buChar char="o"/>
                  <a:defRPr sz="2800">
                    <a:solidFill>
                      <a:schemeClr val="folHlink"/>
                    </a:solidFill>
                    <a:latin typeface="Verdana" panose="020B0604030504040204" pitchFamily="34" charset="0"/>
                    <a:cs typeface="Arial" panose="020B0604020202020204" pitchFamily="34" charset="0"/>
                  </a:defRPr>
                </a:lvl1pPr>
                <a:lvl2pPr marL="742950" indent="-285750">
                  <a:spcBef>
                    <a:spcPct val="20000"/>
                  </a:spcBef>
                  <a:buClr>
                    <a:schemeClr val="folHlink"/>
                  </a:buClr>
                  <a:buFont typeface="Wingdings" panose="05000000000000000000" pitchFamily="2" charset="2"/>
                  <a:buChar char="n"/>
                  <a:defRPr sz="2400">
                    <a:solidFill>
                      <a:schemeClr val="folHlink"/>
                    </a:solidFill>
                    <a:latin typeface="Verdana" panose="020B0604030504040204" pitchFamily="34" charset="0"/>
                    <a:cs typeface="Arial" panose="020B0604020202020204" pitchFamily="34" charset="0"/>
                  </a:defRPr>
                </a:lvl2pPr>
                <a:lvl3pPr marL="1143000" indent="-228600">
                  <a:spcBef>
                    <a:spcPct val="20000"/>
                  </a:spcBef>
                  <a:buClr>
                    <a:schemeClr val="folHlink"/>
                  </a:buClr>
                  <a:buFont typeface="Wingdings" panose="05000000000000000000" pitchFamily="2" charset="2"/>
                  <a:buChar char="o"/>
                  <a:defRPr sz="2000">
                    <a:solidFill>
                      <a:schemeClr val="folHlink"/>
                    </a:solidFill>
                    <a:latin typeface="Verdana" panose="020B0604030504040204" pitchFamily="34" charset="0"/>
                    <a:cs typeface="Arial" panose="020B0604020202020204" pitchFamily="34" charset="0"/>
                  </a:defRPr>
                </a:lvl3pPr>
                <a:lvl4pPr marL="1600200" indent="-228600">
                  <a:spcBef>
                    <a:spcPct val="20000"/>
                  </a:spcBef>
                  <a:buClr>
                    <a:schemeClr val="folHlink"/>
                  </a:buClr>
                  <a:buFont typeface="Wingdings" panose="05000000000000000000" pitchFamily="2" charset="2"/>
                  <a:buChar char="n"/>
                  <a:defRPr sz="2000">
                    <a:solidFill>
                      <a:schemeClr val="folHlink"/>
                    </a:solidFill>
                    <a:latin typeface="Verdana" panose="020B0604030504040204" pitchFamily="34" charset="0"/>
                    <a:cs typeface="Arial" panose="020B0604020202020204" pitchFamily="34" charset="0"/>
                  </a:defRPr>
                </a:lvl4pPr>
                <a:lvl5pPr marL="2057400" indent="-228600">
                  <a:spcBef>
                    <a:spcPct val="25000"/>
                  </a:spcBef>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5pPr>
                <a:lvl6pPr marL="25146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6pPr>
                <a:lvl7pPr marL="29718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7pPr>
                <a:lvl8pPr marL="34290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8pPr>
                <a:lvl9pPr marL="38862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9pPr>
              </a:lstStyle>
              <a:p>
                <a:pPr algn="ctr" eaLnBrk="1" hangingPunct="1">
                  <a:spcBef>
                    <a:spcPct val="50000"/>
                  </a:spcBef>
                  <a:buClrTx/>
                  <a:buFontTx/>
                  <a:buNone/>
                </a:pPr>
                <a:r>
                  <a:rPr lang="en-AU" altLang="en-US" sz="1600">
                    <a:solidFill>
                      <a:schemeClr val="bg1"/>
                    </a:solidFill>
                    <a:latin typeface="Arial" panose="020B0604020202020204" pitchFamily="34" charset="0"/>
                  </a:rPr>
                  <a:t>Other</a:t>
                </a:r>
              </a:p>
            </p:txBody>
          </p:sp>
          <p:cxnSp>
            <p:nvCxnSpPr>
              <p:cNvPr id="15391" name="AutoShape 22"/>
              <p:cNvCxnSpPr>
                <a:cxnSpLocks noChangeShapeType="1"/>
                <a:endCxn id="15390" idx="1"/>
              </p:cNvCxnSpPr>
              <p:nvPr/>
            </p:nvCxnSpPr>
            <p:spPr bwMode="auto">
              <a:xfrm>
                <a:off x="1202" y="2478"/>
                <a:ext cx="90"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5392" name="AutoShape 23"/>
              <p:cNvCxnSpPr>
                <a:cxnSpLocks noChangeShapeType="1"/>
                <a:endCxn id="15389" idx="1"/>
              </p:cNvCxnSpPr>
              <p:nvPr/>
            </p:nvCxnSpPr>
            <p:spPr bwMode="auto">
              <a:xfrm>
                <a:off x="1202" y="2024"/>
                <a:ext cx="90"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5393" name="AutoShape 24"/>
              <p:cNvCxnSpPr>
                <a:cxnSpLocks noChangeShapeType="1"/>
                <a:stCxn id="15377" idx="1"/>
              </p:cNvCxnSpPr>
              <p:nvPr/>
            </p:nvCxnSpPr>
            <p:spPr bwMode="auto">
              <a:xfrm>
                <a:off x="2018" y="1596"/>
                <a:ext cx="0" cy="882"/>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5394" name="Text Box 25"/>
              <p:cNvSpPr txBox="1">
                <a:spLocks noChangeArrowheads="1"/>
              </p:cNvSpPr>
              <p:nvPr/>
            </p:nvSpPr>
            <p:spPr bwMode="auto">
              <a:xfrm>
                <a:off x="2109" y="1842"/>
                <a:ext cx="635" cy="363"/>
              </a:xfrm>
              <a:prstGeom prst="rect">
                <a:avLst/>
              </a:prstGeom>
              <a:solidFill>
                <a:schemeClr val="hlink"/>
              </a:solidFill>
              <a:ln w="9525" algn="ctr">
                <a:solidFill>
                  <a:schemeClr val="tx1"/>
                </a:solidFill>
                <a:miter lim="800000"/>
                <a:headEnd/>
                <a:tailEnd/>
              </a:ln>
            </p:spPr>
            <p:txBody>
              <a:bodyPr/>
              <a:lstStyle>
                <a:lvl1pPr>
                  <a:spcBef>
                    <a:spcPct val="20000"/>
                  </a:spcBef>
                  <a:buClr>
                    <a:schemeClr val="folHlink"/>
                  </a:buClr>
                  <a:buFont typeface="Wingdings" panose="05000000000000000000" pitchFamily="2" charset="2"/>
                  <a:buChar char="o"/>
                  <a:defRPr sz="2800">
                    <a:solidFill>
                      <a:schemeClr val="folHlink"/>
                    </a:solidFill>
                    <a:latin typeface="Verdana" panose="020B0604030504040204" pitchFamily="34" charset="0"/>
                    <a:cs typeface="Arial" panose="020B0604020202020204" pitchFamily="34" charset="0"/>
                  </a:defRPr>
                </a:lvl1pPr>
                <a:lvl2pPr marL="742950" indent="-285750">
                  <a:spcBef>
                    <a:spcPct val="20000"/>
                  </a:spcBef>
                  <a:buClr>
                    <a:schemeClr val="folHlink"/>
                  </a:buClr>
                  <a:buFont typeface="Wingdings" panose="05000000000000000000" pitchFamily="2" charset="2"/>
                  <a:buChar char="n"/>
                  <a:defRPr sz="2400">
                    <a:solidFill>
                      <a:schemeClr val="folHlink"/>
                    </a:solidFill>
                    <a:latin typeface="Verdana" panose="020B0604030504040204" pitchFamily="34" charset="0"/>
                    <a:cs typeface="Arial" panose="020B0604020202020204" pitchFamily="34" charset="0"/>
                  </a:defRPr>
                </a:lvl2pPr>
                <a:lvl3pPr marL="1143000" indent="-228600">
                  <a:spcBef>
                    <a:spcPct val="20000"/>
                  </a:spcBef>
                  <a:buClr>
                    <a:schemeClr val="folHlink"/>
                  </a:buClr>
                  <a:buFont typeface="Wingdings" panose="05000000000000000000" pitchFamily="2" charset="2"/>
                  <a:buChar char="o"/>
                  <a:defRPr sz="2000">
                    <a:solidFill>
                      <a:schemeClr val="folHlink"/>
                    </a:solidFill>
                    <a:latin typeface="Verdana" panose="020B0604030504040204" pitchFamily="34" charset="0"/>
                    <a:cs typeface="Arial" panose="020B0604020202020204" pitchFamily="34" charset="0"/>
                  </a:defRPr>
                </a:lvl3pPr>
                <a:lvl4pPr marL="1600200" indent="-228600">
                  <a:spcBef>
                    <a:spcPct val="20000"/>
                  </a:spcBef>
                  <a:buClr>
                    <a:schemeClr val="folHlink"/>
                  </a:buClr>
                  <a:buFont typeface="Wingdings" panose="05000000000000000000" pitchFamily="2" charset="2"/>
                  <a:buChar char="n"/>
                  <a:defRPr sz="2000">
                    <a:solidFill>
                      <a:schemeClr val="folHlink"/>
                    </a:solidFill>
                    <a:latin typeface="Verdana" panose="020B0604030504040204" pitchFamily="34" charset="0"/>
                    <a:cs typeface="Arial" panose="020B0604020202020204" pitchFamily="34" charset="0"/>
                  </a:defRPr>
                </a:lvl4pPr>
                <a:lvl5pPr marL="2057400" indent="-228600">
                  <a:spcBef>
                    <a:spcPct val="25000"/>
                  </a:spcBef>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5pPr>
                <a:lvl6pPr marL="25146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6pPr>
                <a:lvl7pPr marL="29718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7pPr>
                <a:lvl8pPr marL="34290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8pPr>
                <a:lvl9pPr marL="38862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9pPr>
              </a:lstStyle>
              <a:p>
                <a:pPr algn="ctr" eaLnBrk="1" hangingPunct="1">
                  <a:spcBef>
                    <a:spcPct val="50000"/>
                  </a:spcBef>
                  <a:buClrTx/>
                  <a:buFontTx/>
                  <a:buNone/>
                </a:pPr>
                <a:r>
                  <a:rPr lang="en-AU" altLang="en-US" sz="1600">
                    <a:solidFill>
                      <a:schemeClr val="bg1"/>
                    </a:solidFill>
                    <a:latin typeface="Arial" panose="020B0604020202020204" pitchFamily="34" charset="0"/>
                  </a:rPr>
                  <a:t>Remote</a:t>
                </a:r>
                <a:r>
                  <a:rPr lang="en-AU" altLang="en-US" sz="1800">
                    <a:solidFill>
                      <a:schemeClr val="bg1"/>
                    </a:solidFill>
                    <a:latin typeface="Arial" panose="020B0604020202020204" pitchFamily="34" charset="0"/>
                  </a:rPr>
                  <a:t> </a:t>
                </a:r>
                <a:r>
                  <a:rPr lang="en-AU" altLang="en-US" sz="1600">
                    <a:solidFill>
                      <a:schemeClr val="bg1"/>
                    </a:solidFill>
                    <a:latin typeface="Arial" panose="020B0604020202020204" pitchFamily="34" charset="0"/>
                  </a:rPr>
                  <a:t>Access</a:t>
                </a:r>
              </a:p>
            </p:txBody>
          </p:sp>
          <p:sp>
            <p:nvSpPr>
              <p:cNvPr id="15395" name="Text Box 26"/>
              <p:cNvSpPr txBox="1">
                <a:spLocks noChangeArrowheads="1"/>
              </p:cNvSpPr>
              <p:nvPr/>
            </p:nvSpPr>
            <p:spPr bwMode="auto">
              <a:xfrm>
                <a:off x="2109" y="2296"/>
                <a:ext cx="635" cy="363"/>
              </a:xfrm>
              <a:prstGeom prst="rect">
                <a:avLst/>
              </a:prstGeom>
              <a:solidFill>
                <a:schemeClr val="hlink"/>
              </a:solidFill>
              <a:ln w="9525" algn="ctr">
                <a:solidFill>
                  <a:schemeClr val="tx1"/>
                </a:solidFill>
                <a:miter lim="800000"/>
                <a:headEnd/>
                <a:tailEnd/>
              </a:ln>
            </p:spPr>
            <p:txBody>
              <a:bodyPr/>
              <a:lstStyle>
                <a:lvl1pPr>
                  <a:spcBef>
                    <a:spcPct val="20000"/>
                  </a:spcBef>
                  <a:buClr>
                    <a:schemeClr val="folHlink"/>
                  </a:buClr>
                  <a:buFont typeface="Wingdings" panose="05000000000000000000" pitchFamily="2" charset="2"/>
                  <a:buChar char="o"/>
                  <a:defRPr sz="2800">
                    <a:solidFill>
                      <a:schemeClr val="folHlink"/>
                    </a:solidFill>
                    <a:latin typeface="Verdana" panose="020B0604030504040204" pitchFamily="34" charset="0"/>
                    <a:cs typeface="Arial" panose="020B0604020202020204" pitchFamily="34" charset="0"/>
                  </a:defRPr>
                </a:lvl1pPr>
                <a:lvl2pPr marL="742950" indent="-285750">
                  <a:spcBef>
                    <a:spcPct val="20000"/>
                  </a:spcBef>
                  <a:buClr>
                    <a:schemeClr val="folHlink"/>
                  </a:buClr>
                  <a:buFont typeface="Wingdings" panose="05000000000000000000" pitchFamily="2" charset="2"/>
                  <a:buChar char="n"/>
                  <a:defRPr sz="2400">
                    <a:solidFill>
                      <a:schemeClr val="folHlink"/>
                    </a:solidFill>
                    <a:latin typeface="Verdana" panose="020B0604030504040204" pitchFamily="34" charset="0"/>
                    <a:cs typeface="Arial" panose="020B0604020202020204" pitchFamily="34" charset="0"/>
                  </a:defRPr>
                </a:lvl2pPr>
                <a:lvl3pPr marL="1143000" indent="-228600">
                  <a:spcBef>
                    <a:spcPct val="20000"/>
                  </a:spcBef>
                  <a:buClr>
                    <a:schemeClr val="folHlink"/>
                  </a:buClr>
                  <a:buFont typeface="Wingdings" panose="05000000000000000000" pitchFamily="2" charset="2"/>
                  <a:buChar char="o"/>
                  <a:defRPr sz="2000">
                    <a:solidFill>
                      <a:schemeClr val="folHlink"/>
                    </a:solidFill>
                    <a:latin typeface="Verdana" panose="020B0604030504040204" pitchFamily="34" charset="0"/>
                    <a:cs typeface="Arial" panose="020B0604020202020204" pitchFamily="34" charset="0"/>
                  </a:defRPr>
                </a:lvl3pPr>
                <a:lvl4pPr marL="1600200" indent="-228600">
                  <a:spcBef>
                    <a:spcPct val="20000"/>
                  </a:spcBef>
                  <a:buClr>
                    <a:schemeClr val="folHlink"/>
                  </a:buClr>
                  <a:buFont typeface="Wingdings" panose="05000000000000000000" pitchFamily="2" charset="2"/>
                  <a:buChar char="n"/>
                  <a:defRPr sz="2000">
                    <a:solidFill>
                      <a:schemeClr val="folHlink"/>
                    </a:solidFill>
                    <a:latin typeface="Verdana" panose="020B0604030504040204" pitchFamily="34" charset="0"/>
                    <a:cs typeface="Arial" panose="020B0604020202020204" pitchFamily="34" charset="0"/>
                  </a:defRPr>
                </a:lvl4pPr>
                <a:lvl5pPr marL="2057400" indent="-228600">
                  <a:spcBef>
                    <a:spcPct val="25000"/>
                  </a:spcBef>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5pPr>
                <a:lvl6pPr marL="25146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6pPr>
                <a:lvl7pPr marL="29718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7pPr>
                <a:lvl8pPr marL="34290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8pPr>
                <a:lvl9pPr marL="38862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9pPr>
              </a:lstStyle>
              <a:p>
                <a:pPr algn="ctr" eaLnBrk="1" hangingPunct="1">
                  <a:spcBef>
                    <a:spcPct val="50000"/>
                  </a:spcBef>
                  <a:buClrTx/>
                  <a:buFontTx/>
                  <a:buNone/>
                </a:pPr>
                <a:r>
                  <a:rPr lang="en-AU" altLang="en-US" sz="1600">
                    <a:solidFill>
                      <a:schemeClr val="bg1"/>
                    </a:solidFill>
                    <a:latin typeface="Arial" panose="020B0604020202020204" pitchFamily="34" charset="0"/>
                  </a:rPr>
                  <a:t>Other</a:t>
                </a:r>
              </a:p>
            </p:txBody>
          </p:sp>
          <p:cxnSp>
            <p:nvCxnSpPr>
              <p:cNvPr id="15396" name="AutoShape 27"/>
              <p:cNvCxnSpPr>
                <a:cxnSpLocks noChangeShapeType="1"/>
                <a:endCxn id="15394" idx="1"/>
              </p:cNvCxnSpPr>
              <p:nvPr/>
            </p:nvCxnSpPr>
            <p:spPr bwMode="auto">
              <a:xfrm>
                <a:off x="2018" y="2024"/>
                <a:ext cx="91"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5397" name="AutoShape 28"/>
              <p:cNvCxnSpPr>
                <a:cxnSpLocks noChangeShapeType="1"/>
                <a:endCxn id="15395" idx="1"/>
              </p:cNvCxnSpPr>
              <p:nvPr/>
            </p:nvCxnSpPr>
            <p:spPr bwMode="auto">
              <a:xfrm>
                <a:off x="2018" y="2478"/>
                <a:ext cx="91"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5398" name="AutoShape 29"/>
              <p:cNvCxnSpPr>
                <a:cxnSpLocks noChangeShapeType="1"/>
                <a:stCxn id="15380" idx="1"/>
              </p:cNvCxnSpPr>
              <p:nvPr/>
            </p:nvCxnSpPr>
            <p:spPr bwMode="auto">
              <a:xfrm>
                <a:off x="4468" y="1596"/>
                <a:ext cx="0" cy="882"/>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5399" name="Text Box 31"/>
              <p:cNvSpPr txBox="1">
                <a:spLocks noChangeArrowheads="1"/>
              </p:cNvSpPr>
              <p:nvPr/>
            </p:nvSpPr>
            <p:spPr bwMode="auto">
              <a:xfrm>
                <a:off x="4558" y="1842"/>
                <a:ext cx="635" cy="363"/>
              </a:xfrm>
              <a:prstGeom prst="rect">
                <a:avLst/>
              </a:prstGeom>
              <a:solidFill>
                <a:schemeClr val="hlink"/>
              </a:solidFill>
              <a:ln w="9525" algn="ctr">
                <a:solidFill>
                  <a:schemeClr val="tx1"/>
                </a:solidFill>
                <a:miter lim="800000"/>
                <a:headEnd/>
                <a:tailEnd/>
              </a:ln>
            </p:spPr>
            <p:txBody>
              <a:bodyPr/>
              <a:lstStyle>
                <a:lvl1pPr>
                  <a:spcBef>
                    <a:spcPct val="20000"/>
                  </a:spcBef>
                  <a:buClr>
                    <a:schemeClr val="folHlink"/>
                  </a:buClr>
                  <a:buFont typeface="Wingdings" panose="05000000000000000000" pitchFamily="2" charset="2"/>
                  <a:buChar char="o"/>
                  <a:defRPr sz="2800">
                    <a:solidFill>
                      <a:schemeClr val="folHlink"/>
                    </a:solidFill>
                    <a:latin typeface="Verdana" panose="020B0604030504040204" pitchFamily="34" charset="0"/>
                    <a:cs typeface="Arial" panose="020B0604020202020204" pitchFamily="34" charset="0"/>
                  </a:defRPr>
                </a:lvl1pPr>
                <a:lvl2pPr marL="742950" indent="-285750">
                  <a:spcBef>
                    <a:spcPct val="20000"/>
                  </a:spcBef>
                  <a:buClr>
                    <a:schemeClr val="folHlink"/>
                  </a:buClr>
                  <a:buFont typeface="Wingdings" panose="05000000000000000000" pitchFamily="2" charset="2"/>
                  <a:buChar char="n"/>
                  <a:defRPr sz="2400">
                    <a:solidFill>
                      <a:schemeClr val="folHlink"/>
                    </a:solidFill>
                    <a:latin typeface="Verdana" panose="020B0604030504040204" pitchFamily="34" charset="0"/>
                    <a:cs typeface="Arial" panose="020B0604020202020204" pitchFamily="34" charset="0"/>
                  </a:defRPr>
                </a:lvl2pPr>
                <a:lvl3pPr marL="1143000" indent="-228600">
                  <a:spcBef>
                    <a:spcPct val="20000"/>
                  </a:spcBef>
                  <a:buClr>
                    <a:schemeClr val="folHlink"/>
                  </a:buClr>
                  <a:buFont typeface="Wingdings" panose="05000000000000000000" pitchFamily="2" charset="2"/>
                  <a:buChar char="o"/>
                  <a:defRPr sz="2000">
                    <a:solidFill>
                      <a:schemeClr val="folHlink"/>
                    </a:solidFill>
                    <a:latin typeface="Verdana" panose="020B0604030504040204" pitchFamily="34" charset="0"/>
                    <a:cs typeface="Arial" panose="020B0604020202020204" pitchFamily="34" charset="0"/>
                  </a:defRPr>
                </a:lvl3pPr>
                <a:lvl4pPr marL="1600200" indent="-228600">
                  <a:spcBef>
                    <a:spcPct val="20000"/>
                  </a:spcBef>
                  <a:buClr>
                    <a:schemeClr val="folHlink"/>
                  </a:buClr>
                  <a:buFont typeface="Wingdings" panose="05000000000000000000" pitchFamily="2" charset="2"/>
                  <a:buChar char="n"/>
                  <a:defRPr sz="2000">
                    <a:solidFill>
                      <a:schemeClr val="folHlink"/>
                    </a:solidFill>
                    <a:latin typeface="Verdana" panose="020B0604030504040204" pitchFamily="34" charset="0"/>
                    <a:cs typeface="Arial" panose="020B0604020202020204" pitchFamily="34" charset="0"/>
                  </a:defRPr>
                </a:lvl4pPr>
                <a:lvl5pPr marL="2057400" indent="-228600">
                  <a:spcBef>
                    <a:spcPct val="25000"/>
                  </a:spcBef>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5pPr>
                <a:lvl6pPr marL="25146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6pPr>
                <a:lvl7pPr marL="29718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7pPr>
                <a:lvl8pPr marL="34290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8pPr>
                <a:lvl9pPr marL="38862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9pPr>
              </a:lstStyle>
              <a:p>
                <a:pPr algn="ctr" eaLnBrk="1" hangingPunct="1">
                  <a:spcBef>
                    <a:spcPct val="50000"/>
                  </a:spcBef>
                  <a:buClrTx/>
                  <a:buFontTx/>
                  <a:buNone/>
                </a:pPr>
                <a:r>
                  <a:rPr lang="en-AU" altLang="en-US" sz="1600">
                    <a:solidFill>
                      <a:schemeClr val="bg1"/>
                    </a:solidFill>
                    <a:latin typeface="Arial" panose="020B0604020202020204" pitchFamily="34" charset="0"/>
                  </a:rPr>
                  <a:t>Bacteria</a:t>
                </a:r>
              </a:p>
            </p:txBody>
          </p:sp>
          <p:sp>
            <p:nvSpPr>
              <p:cNvPr id="15400" name="Text Box 32"/>
              <p:cNvSpPr txBox="1">
                <a:spLocks noChangeArrowheads="1"/>
              </p:cNvSpPr>
              <p:nvPr/>
            </p:nvSpPr>
            <p:spPr bwMode="auto">
              <a:xfrm>
                <a:off x="4558" y="2296"/>
                <a:ext cx="635" cy="363"/>
              </a:xfrm>
              <a:prstGeom prst="rect">
                <a:avLst/>
              </a:prstGeom>
              <a:solidFill>
                <a:schemeClr val="hlink"/>
              </a:solidFill>
              <a:ln w="9525" algn="ctr">
                <a:solidFill>
                  <a:schemeClr val="tx1"/>
                </a:solidFill>
                <a:miter lim="800000"/>
                <a:headEnd/>
                <a:tailEnd/>
              </a:ln>
            </p:spPr>
            <p:txBody>
              <a:bodyPr/>
              <a:lstStyle>
                <a:lvl1pPr>
                  <a:spcBef>
                    <a:spcPct val="20000"/>
                  </a:spcBef>
                  <a:buClr>
                    <a:schemeClr val="folHlink"/>
                  </a:buClr>
                  <a:buFont typeface="Wingdings" panose="05000000000000000000" pitchFamily="2" charset="2"/>
                  <a:buChar char="o"/>
                  <a:defRPr sz="2800">
                    <a:solidFill>
                      <a:schemeClr val="folHlink"/>
                    </a:solidFill>
                    <a:latin typeface="Verdana" panose="020B0604030504040204" pitchFamily="34" charset="0"/>
                    <a:cs typeface="Arial" panose="020B0604020202020204" pitchFamily="34" charset="0"/>
                  </a:defRPr>
                </a:lvl1pPr>
                <a:lvl2pPr marL="742950" indent="-285750">
                  <a:spcBef>
                    <a:spcPct val="20000"/>
                  </a:spcBef>
                  <a:buClr>
                    <a:schemeClr val="folHlink"/>
                  </a:buClr>
                  <a:buFont typeface="Wingdings" panose="05000000000000000000" pitchFamily="2" charset="2"/>
                  <a:buChar char="n"/>
                  <a:defRPr sz="2400">
                    <a:solidFill>
                      <a:schemeClr val="folHlink"/>
                    </a:solidFill>
                    <a:latin typeface="Verdana" panose="020B0604030504040204" pitchFamily="34" charset="0"/>
                    <a:cs typeface="Arial" panose="020B0604020202020204" pitchFamily="34" charset="0"/>
                  </a:defRPr>
                </a:lvl2pPr>
                <a:lvl3pPr marL="1143000" indent="-228600">
                  <a:spcBef>
                    <a:spcPct val="20000"/>
                  </a:spcBef>
                  <a:buClr>
                    <a:schemeClr val="folHlink"/>
                  </a:buClr>
                  <a:buFont typeface="Wingdings" panose="05000000000000000000" pitchFamily="2" charset="2"/>
                  <a:buChar char="o"/>
                  <a:defRPr sz="2000">
                    <a:solidFill>
                      <a:schemeClr val="folHlink"/>
                    </a:solidFill>
                    <a:latin typeface="Verdana" panose="020B0604030504040204" pitchFamily="34" charset="0"/>
                    <a:cs typeface="Arial" panose="020B0604020202020204" pitchFamily="34" charset="0"/>
                  </a:defRPr>
                </a:lvl3pPr>
                <a:lvl4pPr marL="1600200" indent="-228600">
                  <a:spcBef>
                    <a:spcPct val="20000"/>
                  </a:spcBef>
                  <a:buClr>
                    <a:schemeClr val="folHlink"/>
                  </a:buClr>
                  <a:buFont typeface="Wingdings" panose="05000000000000000000" pitchFamily="2" charset="2"/>
                  <a:buChar char="n"/>
                  <a:defRPr sz="2000">
                    <a:solidFill>
                      <a:schemeClr val="folHlink"/>
                    </a:solidFill>
                    <a:latin typeface="Verdana" panose="020B0604030504040204" pitchFamily="34" charset="0"/>
                    <a:cs typeface="Arial" panose="020B0604020202020204" pitchFamily="34" charset="0"/>
                  </a:defRPr>
                </a:lvl4pPr>
                <a:lvl5pPr marL="2057400" indent="-228600">
                  <a:spcBef>
                    <a:spcPct val="25000"/>
                  </a:spcBef>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5pPr>
                <a:lvl6pPr marL="25146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6pPr>
                <a:lvl7pPr marL="29718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7pPr>
                <a:lvl8pPr marL="34290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8pPr>
                <a:lvl9pPr marL="38862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9pPr>
              </a:lstStyle>
              <a:p>
                <a:pPr algn="ctr" eaLnBrk="1" hangingPunct="1">
                  <a:spcBef>
                    <a:spcPct val="50000"/>
                  </a:spcBef>
                  <a:buClrTx/>
                  <a:buFontTx/>
                  <a:buNone/>
                </a:pPr>
                <a:r>
                  <a:rPr lang="en-AU" altLang="en-US" sz="1600">
                    <a:solidFill>
                      <a:schemeClr val="bg1"/>
                    </a:solidFill>
                    <a:latin typeface="Arial" panose="020B0604020202020204" pitchFamily="34" charset="0"/>
                  </a:rPr>
                  <a:t>Rabbits</a:t>
                </a:r>
              </a:p>
            </p:txBody>
          </p:sp>
          <p:cxnSp>
            <p:nvCxnSpPr>
              <p:cNvPr id="15401" name="AutoShape 33"/>
              <p:cNvCxnSpPr>
                <a:cxnSpLocks noChangeShapeType="1"/>
                <a:endCxn id="15399" idx="1"/>
              </p:cNvCxnSpPr>
              <p:nvPr/>
            </p:nvCxnSpPr>
            <p:spPr bwMode="auto">
              <a:xfrm>
                <a:off x="4468" y="2024"/>
                <a:ext cx="90"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5402" name="AutoShape 34"/>
              <p:cNvCxnSpPr>
                <a:cxnSpLocks noChangeShapeType="1"/>
                <a:endCxn id="15400" idx="1"/>
              </p:cNvCxnSpPr>
              <p:nvPr/>
            </p:nvCxnSpPr>
            <p:spPr bwMode="auto">
              <a:xfrm>
                <a:off x="4468" y="2478"/>
                <a:ext cx="90"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cxnSp>
          <p:nvCxnSpPr>
            <p:cNvPr id="15367" name="AutoShape 38"/>
            <p:cNvCxnSpPr>
              <a:cxnSpLocks noChangeShapeType="1"/>
            </p:cNvCxnSpPr>
            <p:nvPr/>
          </p:nvCxnSpPr>
          <p:spPr bwMode="auto">
            <a:xfrm>
              <a:off x="748" y="1480"/>
              <a:ext cx="4082"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5368" name="AutoShape 39"/>
            <p:cNvCxnSpPr>
              <a:cxnSpLocks noChangeShapeType="1"/>
              <a:stCxn id="15375" idx="0"/>
            </p:cNvCxnSpPr>
            <p:nvPr/>
          </p:nvCxnSpPr>
          <p:spPr bwMode="auto">
            <a:xfrm flipV="1">
              <a:off x="748" y="1480"/>
              <a:ext cx="0" cy="22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5369" name="AutoShape 40"/>
            <p:cNvCxnSpPr>
              <a:cxnSpLocks noChangeShapeType="1"/>
              <a:stCxn id="15376" idx="0"/>
            </p:cNvCxnSpPr>
            <p:nvPr/>
          </p:nvCxnSpPr>
          <p:spPr bwMode="auto">
            <a:xfrm flipV="1">
              <a:off x="1565" y="1480"/>
              <a:ext cx="0" cy="22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5370" name="AutoShape 41"/>
            <p:cNvCxnSpPr>
              <a:cxnSpLocks noChangeShapeType="1"/>
              <a:stCxn id="15377" idx="0"/>
            </p:cNvCxnSpPr>
            <p:nvPr/>
          </p:nvCxnSpPr>
          <p:spPr bwMode="auto">
            <a:xfrm flipV="1">
              <a:off x="2381" y="1480"/>
              <a:ext cx="0" cy="22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5371" name="AutoShape 42"/>
            <p:cNvCxnSpPr>
              <a:cxnSpLocks noChangeShapeType="1"/>
              <a:stCxn id="15378" idx="0"/>
            </p:cNvCxnSpPr>
            <p:nvPr/>
          </p:nvCxnSpPr>
          <p:spPr bwMode="auto">
            <a:xfrm flipV="1">
              <a:off x="3198" y="1480"/>
              <a:ext cx="0" cy="22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5372" name="AutoShape 43"/>
            <p:cNvCxnSpPr>
              <a:cxnSpLocks noChangeShapeType="1"/>
              <a:stCxn id="15379" idx="0"/>
            </p:cNvCxnSpPr>
            <p:nvPr/>
          </p:nvCxnSpPr>
          <p:spPr bwMode="auto">
            <a:xfrm flipV="1">
              <a:off x="4014" y="1480"/>
              <a:ext cx="0" cy="22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5373" name="AutoShape 44"/>
            <p:cNvCxnSpPr>
              <a:cxnSpLocks noChangeShapeType="1"/>
              <a:stCxn id="15380" idx="0"/>
            </p:cNvCxnSpPr>
            <p:nvPr/>
          </p:nvCxnSpPr>
          <p:spPr bwMode="auto">
            <a:xfrm flipH="1" flipV="1">
              <a:off x="4830" y="1480"/>
              <a:ext cx="1" cy="226"/>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5374" name="Line 46"/>
            <p:cNvSpPr>
              <a:spLocks noChangeShapeType="1"/>
            </p:cNvSpPr>
            <p:nvPr/>
          </p:nvSpPr>
          <p:spPr bwMode="auto">
            <a:xfrm>
              <a:off x="2835" y="1162"/>
              <a:ext cx="0" cy="3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5364" name="Rectangle 48"/>
          <p:cNvSpPr>
            <a:spLocks noChangeArrowheads="1"/>
          </p:cNvSpPr>
          <p:nvPr/>
        </p:nvSpPr>
        <p:spPr bwMode="auto">
          <a:xfrm>
            <a:off x="2135188" y="5589588"/>
            <a:ext cx="79248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spcBef>
                <a:spcPct val="20000"/>
              </a:spcBef>
              <a:buClr>
                <a:schemeClr val="folHlink"/>
              </a:buClr>
              <a:buFont typeface="Wingdings" panose="05000000000000000000" pitchFamily="2" charset="2"/>
              <a:buChar char="o"/>
              <a:defRPr sz="2800">
                <a:solidFill>
                  <a:schemeClr val="folHlink"/>
                </a:solidFill>
                <a:latin typeface="Verdana" panose="020B0604030504040204" pitchFamily="34" charset="0"/>
                <a:cs typeface="Arial" panose="020B0604020202020204" pitchFamily="34" charset="0"/>
              </a:defRPr>
            </a:lvl1pPr>
            <a:lvl2pPr marL="742950" indent="-285750">
              <a:spcBef>
                <a:spcPct val="20000"/>
              </a:spcBef>
              <a:buClr>
                <a:schemeClr val="folHlink"/>
              </a:buClr>
              <a:buFont typeface="Wingdings" panose="05000000000000000000" pitchFamily="2" charset="2"/>
              <a:buChar char="n"/>
              <a:defRPr sz="2400">
                <a:solidFill>
                  <a:schemeClr val="folHlink"/>
                </a:solidFill>
                <a:latin typeface="Verdana" panose="020B0604030504040204" pitchFamily="34" charset="0"/>
                <a:cs typeface="Arial" panose="020B0604020202020204" pitchFamily="34" charset="0"/>
              </a:defRPr>
            </a:lvl2pPr>
            <a:lvl3pPr marL="1143000" indent="-228600">
              <a:spcBef>
                <a:spcPct val="20000"/>
              </a:spcBef>
              <a:buClr>
                <a:schemeClr val="folHlink"/>
              </a:buClr>
              <a:buFont typeface="Wingdings" panose="05000000000000000000" pitchFamily="2" charset="2"/>
              <a:buChar char="o"/>
              <a:defRPr sz="2000">
                <a:solidFill>
                  <a:schemeClr val="folHlink"/>
                </a:solidFill>
                <a:latin typeface="Verdana" panose="020B0604030504040204" pitchFamily="34" charset="0"/>
                <a:cs typeface="Arial" panose="020B0604020202020204" pitchFamily="34" charset="0"/>
              </a:defRPr>
            </a:lvl3pPr>
            <a:lvl4pPr marL="1600200" indent="-228600">
              <a:spcBef>
                <a:spcPct val="20000"/>
              </a:spcBef>
              <a:buClr>
                <a:schemeClr val="folHlink"/>
              </a:buClr>
              <a:buFont typeface="Wingdings" panose="05000000000000000000" pitchFamily="2" charset="2"/>
              <a:buChar char="n"/>
              <a:defRPr sz="2000">
                <a:solidFill>
                  <a:schemeClr val="folHlink"/>
                </a:solidFill>
                <a:latin typeface="Verdana" panose="020B0604030504040204" pitchFamily="34" charset="0"/>
                <a:cs typeface="Arial" panose="020B0604020202020204" pitchFamily="34" charset="0"/>
              </a:defRPr>
            </a:lvl4pPr>
            <a:lvl5pPr marL="2057400" indent="-228600">
              <a:spcBef>
                <a:spcPct val="25000"/>
              </a:spcBef>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5pPr>
            <a:lvl6pPr marL="25146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6pPr>
            <a:lvl7pPr marL="29718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7pPr>
            <a:lvl8pPr marL="34290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8pPr>
            <a:lvl9pPr marL="38862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9pPr>
          </a:lstStyle>
          <a:p>
            <a:pPr eaLnBrk="1" hangingPunct="1">
              <a:buFont typeface="Wingdings" panose="05000000000000000000" pitchFamily="2" charset="2"/>
              <a:buNone/>
            </a:pPr>
            <a:r>
              <a:rPr lang="en-AU" altLang="en-US"/>
              <a:t>*</a:t>
            </a:r>
            <a:r>
              <a:rPr lang="en-AU" altLang="en-US" sz="1600"/>
              <a:t>Note: rootkits could also be considered a subset of Trojans</a:t>
            </a:r>
          </a:p>
        </p:txBody>
      </p:sp>
    </p:spTree>
    <p:extLst>
      <p:ext uri="{BB962C8B-B14F-4D97-AF65-F5344CB8AC3E}">
        <p14:creationId xmlns:p14="http://schemas.microsoft.com/office/powerpoint/2010/main" val="917030595"/>
      </p:ext>
    </p:extLst>
  </p:cSld>
  <p:clrMapOvr>
    <a:masterClrMapping/>
  </p:clrMapOvr>
  <p:transition spd="slow">
    <p:wipe dir="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AU" altLang="en-US" smtClean="0"/>
              <a:t>Viruses</a:t>
            </a:r>
          </a:p>
        </p:txBody>
      </p:sp>
      <p:sp>
        <p:nvSpPr>
          <p:cNvPr id="17411" name="Rectangle 3"/>
          <p:cNvSpPr>
            <a:spLocks noGrp="1" noChangeArrowheads="1"/>
          </p:cNvSpPr>
          <p:nvPr>
            <p:ph type="body" idx="1"/>
          </p:nvPr>
        </p:nvSpPr>
        <p:spPr>
          <a:xfrm>
            <a:off x="1666875" y="1341439"/>
            <a:ext cx="8821738" cy="5159375"/>
          </a:xfrm>
        </p:spPr>
        <p:txBody>
          <a:bodyPr/>
          <a:lstStyle/>
          <a:p>
            <a:pPr eaLnBrk="1" hangingPunct="1">
              <a:buFont typeface="Wingdings" panose="05000000000000000000" pitchFamily="2" charset="2"/>
              <a:buChar char="Ø"/>
            </a:pPr>
            <a:r>
              <a:rPr lang="en-AU" altLang="en-US" i="1" smtClean="0">
                <a:solidFill>
                  <a:srgbClr val="0D0D0D"/>
                </a:solidFill>
              </a:rPr>
              <a:t>This type of malware requires a host</a:t>
            </a:r>
          </a:p>
          <a:p>
            <a:pPr eaLnBrk="1" hangingPunct="1"/>
            <a:r>
              <a:rPr lang="en-AU" altLang="en-US" sz="2000"/>
              <a:t>“A virus is a program that can pass on malicious code to other non-malicious programs by modifying them”  (Pfleeger, 2003, p 111)</a:t>
            </a:r>
          </a:p>
          <a:p>
            <a:pPr eaLnBrk="1" hangingPunct="1"/>
            <a:endParaRPr lang="en-AU" altLang="en-US" sz="1000"/>
          </a:p>
          <a:p>
            <a:pPr eaLnBrk="1" hangingPunct="1"/>
            <a:r>
              <a:rPr lang="en-AU" altLang="en-US" sz="2000"/>
              <a:t>“A program or code that replicates, that is infects another program, boot sector, partition sector or document that supports macros by inserting itself or attaching itself to that medium.” (SARC, 2002)</a:t>
            </a:r>
          </a:p>
          <a:p>
            <a:pPr eaLnBrk="1" hangingPunct="1"/>
            <a:endParaRPr lang="en-AU" altLang="en-US" sz="1000"/>
          </a:p>
          <a:p>
            <a:pPr eaLnBrk="1" hangingPunct="1"/>
            <a:r>
              <a:rPr lang="en-US" altLang="en-US" sz="2000"/>
              <a:t>A computer virus is a program that </a:t>
            </a:r>
            <a:r>
              <a:rPr lang="en-US" altLang="en-US" sz="2000" i="1">
                <a:solidFill>
                  <a:srgbClr val="0070C0"/>
                </a:solidFill>
              </a:rPr>
              <a:t>inserts itself </a:t>
            </a:r>
            <a:r>
              <a:rPr lang="en-US" altLang="en-US" sz="2000"/>
              <a:t>into one or more files and then performs some (possibly null) action.</a:t>
            </a:r>
          </a:p>
          <a:p>
            <a:pPr eaLnBrk="1" hangingPunct="1"/>
            <a:endParaRPr lang="en-US" altLang="en-US" sz="1000"/>
          </a:p>
          <a:p>
            <a:pPr eaLnBrk="1" hangingPunct="1"/>
            <a:r>
              <a:rPr lang="en-US" altLang="en-US" sz="2000"/>
              <a:t>The first phase, in which the virus inserts itself into a file, is called the </a:t>
            </a:r>
            <a:r>
              <a:rPr lang="en-US" altLang="en-US" sz="2000" i="1">
                <a:solidFill>
                  <a:srgbClr val="FFC000"/>
                </a:solidFill>
              </a:rPr>
              <a:t>insertion phase</a:t>
            </a:r>
            <a:r>
              <a:rPr lang="en-US" altLang="en-US" sz="2000"/>
              <a:t>. The second phase, in which it performs some action, is called the </a:t>
            </a:r>
            <a:r>
              <a:rPr lang="en-US" altLang="en-US" sz="2000" i="1">
                <a:solidFill>
                  <a:srgbClr val="FF0000"/>
                </a:solidFill>
              </a:rPr>
              <a:t>execution phase</a:t>
            </a:r>
            <a:r>
              <a:rPr lang="en-US" altLang="en-US" sz="2000"/>
              <a:t>.</a:t>
            </a:r>
          </a:p>
          <a:p>
            <a:pPr eaLnBrk="1" hangingPunct="1"/>
            <a:endParaRPr lang="en-US" altLang="en-US" sz="2000"/>
          </a:p>
          <a:p>
            <a:pPr eaLnBrk="1" hangingPunct="1"/>
            <a:endParaRPr lang="en-AU" altLang="en-US" sz="2000"/>
          </a:p>
          <a:p>
            <a:pPr eaLnBrk="1" hangingPunct="1"/>
            <a:endParaRPr lang="en-AU" altLang="en-US" sz="2000"/>
          </a:p>
        </p:txBody>
      </p:sp>
    </p:spTree>
    <p:extLst>
      <p:ext uri="{BB962C8B-B14F-4D97-AF65-F5344CB8AC3E}">
        <p14:creationId xmlns:p14="http://schemas.microsoft.com/office/powerpoint/2010/main" val="2620669579"/>
      </p:ext>
    </p:extLst>
  </p:cSld>
  <p:clrMapOvr>
    <a:masterClrMapping/>
  </p:clrMapOvr>
  <p:transition spd="slow">
    <p:wipe dir="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AU" altLang="en-US" smtClean="0"/>
              <a:t>Key Virus Characteristics</a:t>
            </a:r>
          </a:p>
        </p:txBody>
      </p:sp>
      <p:sp>
        <p:nvSpPr>
          <p:cNvPr id="19459" name="Rectangle 3"/>
          <p:cNvSpPr>
            <a:spLocks noGrp="1" noChangeArrowheads="1"/>
          </p:cNvSpPr>
          <p:nvPr>
            <p:ph type="body" idx="1"/>
          </p:nvPr>
        </p:nvSpPr>
        <p:spPr>
          <a:xfrm>
            <a:off x="1703389" y="1460500"/>
            <a:ext cx="8785225" cy="4489450"/>
          </a:xfrm>
        </p:spPr>
        <p:txBody>
          <a:bodyPr/>
          <a:lstStyle/>
          <a:p>
            <a:pPr eaLnBrk="1" hangingPunct="1"/>
            <a:r>
              <a:rPr lang="en-US" altLang="en-US" smtClean="0"/>
              <a:t>Attaches itself to a program or</a:t>
            </a:r>
          </a:p>
          <a:p>
            <a:pPr eaLnBrk="1" hangingPunct="1"/>
            <a:endParaRPr lang="en-AU" altLang="en-US" smtClean="0"/>
          </a:p>
          <a:p>
            <a:pPr eaLnBrk="1" hangingPunct="1"/>
            <a:r>
              <a:rPr lang="en-AU" altLang="en-US" smtClean="0"/>
              <a:t>Can’t survive on their own, i.e. can’t spread without human action.</a:t>
            </a:r>
          </a:p>
          <a:p>
            <a:pPr eaLnBrk="1" hangingPunct="1"/>
            <a:endParaRPr lang="en-AU" altLang="en-US" smtClean="0"/>
          </a:p>
          <a:p>
            <a:pPr eaLnBrk="1" hangingPunct="1"/>
            <a:r>
              <a:rPr lang="en-AU" altLang="en-US" smtClean="0"/>
              <a:t>Usually require some user interaction</a:t>
            </a:r>
          </a:p>
          <a:p>
            <a:pPr lvl="1" eaLnBrk="1" hangingPunct="1"/>
            <a:r>
              <a:rPr lang="en-AU" altLang="en-US" smtClean="0"/>
              <a:t>Although this could be very minimal</a:t>
            </a:r>
          </a:p>
          <a:p>
            <a:pPr lvl="1" eaLnBrk="1" hangingPunct="1"/>
            <a:endParaRPr lang="en-AU" altLang="en-US" smtClean="0"/>
          </a:p>
        </p:txBody>
      </p:sp>
    </p:spTree>
    <p:extLst>
      <p:ext uri="{BB962C8B-B14F-4D97-AF65-F5344CB8AC3E}">
        <p14:creationId xmlns:p14="http://schemas.microsoft.com/office/powerpoint/2010/main" val="4170120320"/>
      </p:ext>
    </p:extLst>
  </p:cSld>
  <p:clrMapOvr>
    <a:masterClrMapping/>
  </p:clrMapOvr>
  <p:transition spd="slow">
    <p:wipe dir="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AU" altLang="en-US" smtClean="0"/>
              <a:t>Types of Viruses</a:t>
            </a:r>
          </a:p>
        </p:txBody>
      </p:sp>
      <p:sp>
        <p:nvSpPr>
          <p:cNvPr id="20483" name="Rectangle 3"/>
          <p:cNvSpPr>
            <a:spLocks noGrp="1" noChangeArrowheads="1"/>
          </p:cNvSpPr>
          <p:nvPr>
            <p:ph type="body" idx="1"/>
          </p:nvPr>
        </p:nvSpPr>
        <p:spPr/>
        <p:txBody>
          <a:bodyPr/>
          <a:lstStyle/>
          <a:p>
            <a:pPr eaLnBrk="1" hangingPunct="1"/>
            <a:r>
              <a:rPr lang="en-AU" altLang="en-US" smtClean="0"/>
              <a:t>File infecting</a:t>
            </a:r>
          </a:p>
          <a:p>
            <a:pPr eaLnBrk="1" hangingPunct="1"/>
            <a:endParaRPr lang="en-AU" altLang="en-US" smtClean="0"/>
          </a:p>
          <a:p>
            <a:pPr eaLnBrk="1" hangingPunct="1"/>
            <a:r>
              <a:rPr lang="en-AU" altLang="en-US" smtClean="0"/>
              <a:t>Boot sector infectors</a:t>
            </a:r>
          </a:p>
          <a:p>
            <a:pPr eaLnBrk="1" hangingPunct="1"/>
            <a:endParaRPr lang="en-AU" altLang="en-US" smtClean="0"/>
          </a:p>
          <a:p>
            <a:pPr eaLnBrk="1" hangingPunct="1"/>
            <a:r>
              <a:rPr lang="en-AU" altLang="en-US" smtClean="0"/>
              <a:t>Macro</a:t>
            </a:r>
          </a:p>
          <a:p>
            <a:pPr eaLnBrk="1" hangingPunct="1"/>
            <a:endParaRPr lang="en-AU" altLang="en-US" smtClean="0"/>
          </a:p>
          <a:p>
            <a:pPr eaLnBrk="1" hangingPunct="1"/>
            <a:r>
              <a:rPr lang="en-AU" altLang="en-US" smtClean="0"/>
              <a:t>Polymorphic</a:t>
            </a:r>
          </a:p>
          <a:p>
            <a:pPr eaLnBrk="1" hangingPunct="1"/>
            <a:endParaRPr lang="en-AU" altLang="en-US" smtClean="0"/>
          </a:p>
          <a:p>
            <a:pPr eaLnBrk="1" hangingPunct="1"/>
            <a:r>
              <a:rPr lang="en-AU" altLang="en-US" smtClean="0"/>
              <a:t>Stealth</a:t>
            </a:r>
          </a:p>
        </p:txBody>
      </p:sp>
    </p:spTree>
    <p:extLst>
      <p:ext uri="{BB962C8B-B14F-4D97-AF65-F5344CB8AC3E}">
        <p14:creationId xmlns:p14="http://schemas.microsoft.com/office/powerpoint/2010/main" val="3543295826"/>
      </p:ext>
    </p:extLst>
  </p:cSld>
  <p:clrMapOvr>
    <a:masterClrMapping/>
  </p:clrMapOvr>
  <p:transition spd="slow">
    <p:wipe dir="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AU" altLang="en-US" smtClean="0"/>
              <a:t>File Infecting Viruses</a:t>
            </a:r>
          </a:p>
        </p:txBody>
      </p:sp>
      <p:sp>
        <p:nvSpPr>
          <p:cNvPr id="21507" name="Rectangle 3"/>
          <p:cNvSpPr>
            <a:spLocks noGrp="1" noChangeArrowheads="1"/>
          </p:cNvSpPr>
          <p:nvPr>
            <p:ph type="body" idx="1"/>
          </p:nvPr>
        </p:nvSpPr>
        <p:spPr/>
        <p:txBody>
          <a:bodyPr/>
          <a:lstStyle/>
          <a:p>
            <a:pPr eaLnBrk="1" hangingPunct="1"/>
            <a:r>
              <a:rPr lang="en-AU" altLang="en-US" smtClean="0"/>
              <a:t>infects previously non-malicious executable files</a:t>
            </a:r>
          </a:p>
          <a:p>
            <a:pPr lvl="1" eaLnBrk="1" hangingPunct="1"/>
            <a:r>
              <a:rPr lang="en-AU" altLang="en-US" smtClean="0"/>
              <a:t>Typically .exe and .com files</a:t>
            </a:r>
          </a:p>
          <a:p>
            <a:pPr eaLnBrk="1" hangingPunct="1"/>
            <a:endParaRPr lang="en-AU" altLang="en-US" smtClean="0"/>
          </a:p>
          <a:p>
            <a:pPr eaLnBrk="1" hangingPunct="1"/>
            <a:r>
              <a:rPr lang="en-AU" altLang="en-US" smtClean="0"/>
              <a:t>Very popular during the 1980s and early-to-mid 1990s</a:t>
            </a:r>
          </a:p>
          <a:p>
            <a:pPr lvl="1" eaLnBrk="1" hangingPunct="1"/>
            <a:r>
              <a:rPr lang="en-AU" altLang="en-US" smtClean="0"/>
              <a:t>Not as popular these days, but still around</a:t>
            </a:r>
          </a:p>
          <a:p>
            <a:pPr lvl="1" eaLnBrk="1" hangingPunct="1"/>
            <a:r>
              <a:rPr lang="en-AU" altLang="en-US" smtClean="0"/>
              <a:t>People used to share executable files around on disk.  This practice is not as common these days</a:t>
            </a:r>
          </a:p>
          <a:p>
            <a:pPr lvl="1" eaLnBrk="1" hangingPunct="1"/>
            <a:r>
              <a:rPr lang="en-AU" altLang="en-US" smtClean="0"/>
              <a:t>However, currently people do distribute executable files via email, USB flash disks!</a:t>
            </a:r>
          </a:p>
        </p:txBody>
      </p:sp>
    </p:spTree>
    <p:extLst>
      <p:ext uri="{BB962C8B-B14F-4D97-AF65-F5344CB8AC3E}">
        <p14:creationId xmlns:p14="http://schemas.microsoft.com/office/powerpoint/2010/main" val="3409945957"/>
      </p:ext>
    </p:extLst>
  </p:cSld>
  <p:clrMapOvr>
    <a:masterClrMapping/>
  </p:clrMapOvr>
  <p:transition spd="slow">
    <p:wipe dir="r"/>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algn="r" eaLnBrk="1" hangingPunct="1"/>
            <a:r>
              <a:rPr lang="en-US" altLang="en-US" smtClean="0"/>
              <a:t>cont./</a:t>
            </a:r>
          </a:p>
        </p:txBody>
      </p:sp>
      <p:sp>
        <p:nvSpPr>
          <p:cNvPr id="22531" name="Content Placeholder 2"/>
          <p:cNvSpPr>
            <a:spLocks noGrp="1"/>
          </p:cNvSpPr>
          <p:nvPr>
            <p:ph idx="1"/>
          </p:nvPr>
        </p:nvSpPr>
        <p:spPr/>
        <p:txBody>
          <a:bodyPr>
            <a:normAutofit fontScale="92500" lnSpcReduction="20000"/>
          </a:bodyPr>
          <a:lstStyle/>
          <a:p>
            <a:pPr eaLnBrk="1" hangingPunct="1"/>
            <a:r>
              <a:rPr lang="en-US" altLang="en-US" sz="2000"/>
              <a:t>An </a:t>
            </a:r>
            <a:r>
              <a:rPr lang="en-US" altLang="en-US" sz="2000" i="1">
                <a:solidFill>
                  <a:srgbClr val="FF0000"/>
                </a:solidFill>
              </a:rPr>
              <a:t>executable infector </a:t>
            </a:r>
            <a:r>
              <a:rPr lang="en-US" altLang="en-US" sz="2000"/>
              <a:t>is a virus that infects executable programs.</a:t>
            </a:r>
          </a:p>
          <a:p>
            <a:pPr eaLnBrk="1" hangingPunct="1"/>
            <a:endParaRPr lang="en-US" altLang="en-US" sz="2000"/>
          </a:p>
          <a:p>
            <a:pPr eaLnBrk="1" hangingPunct="1"/>
            <a:r>
              <a:rPr lang="en-US" altLang="en-US" sz="2000"/>
              <a:t>The virus can </a:t>
            </a:r>
            <a:r>
              <a:rPr lang="en-US" altLang="en-US" sz="2000" i="1">
                <a:solidFill>
                  <a:schemeClr val="tx1"/>
                </a:solidFill>
              </a:rPr>
              <a:t>prepend</a:t>
            </a:r>
            <a:r>
              <a:rPr lang="en-US" altLang="en-US" sz="2000"/>
              <a:t> itself to the executable (as shown in the figure) or </a:t>
            </a:r>
            <a:r>
              <a:rPr lang="en-US" altLang="en-US" sz="2000" i="1">
                <a:solidFill>
                  <a:schemeClr val="tx1"/>
                </a:solidFill>
              </a:rPr>
              <a:t>append</a:t>
            </a:r>
            <a:r>
              <a:rPr lang="en-US" altLang="en-US" sz="2000"/>
              <a:t> itself.</a:t>
            </a:r>
          </a:p>
          <a:p>
            <a:pPr eaLnBrk="1" hangingPunct="1"/>
            <a:endParaRPr lang="en-US" altLang="en-US" sz="2000"/>
          </a:p>
          <a:p>
            <a:pPr eaLnBrk="1" hangingPunct="1"/>
            <a:endParaRPr lang="en-US" altLang="en-US" sz="2000"/>
          </a:p>
          <a:p>
            <a:pPr eaLnBrk="1" hangingPunct="1"/>
            <a:endParaRPr lang="en-US" altLang="en-US" sz="2000"/>
          </a:p>
          <a:p>
            <a:pPr eaLnBrk="1" hangingPunct="1"/>
            <a:endParaRPr lang="en-US" altLang="en-US" sz="2000"/>
          </a:p>
          <a:p>
            <a:pPr eaLnBrk="1" hangingPunct="1"/>
            <a:endParaRPr lang="en-US" altLang="en-US" sz="2000"/>
          </a:p>
          <a:p>
            <a:pPr eaLnBrk="1" hangingPunct="1"/>
            <a:r>
              <a:rPr lang="en-US" altLang="en-US" sz="2000"/>
              <a:t>The virus inserts itself into the program so that the virus code will be executed before the application code. </a:t>
            </a:r>
          </a:p>
        </p:txBody>
      </p:sp>
      <p:pic>
        <p:nvPicPr>
          <p:cNvPr id="2253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5689" y="3214689"/>
            <a:ext cx="4962525"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582887"/>
      </p:ext>
    </p:extLst>
  </p:cSld>
  <p:clrMapOvr>
    <a:masterClrMapping/>
  </p:clrMapOvr>
  <p:transition spd="slow">
    <p:wipe dir="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AU" altLang="en-US" smtClean="0"/>
              <a:t>Types of File Infectors</a:t>
            </a:r>
          </a:p>
        </p:txBody>
      </p:sp>
      <p:sp>
        <p:nvSpPr>
          <p:cNvPr id="23555" name="Rectangle 3"/>
          <p:cNvSpPr>
            <a:spLocks noGrp="1" noChangeArrowheads="1"/>
          </p:cNvSpPr>
          <p:nvPr>
            <p:ph type="body" idx="1"/>
          </p:nvPr>
        </p:nvSpPr>
        <p:spPr>
          <a:xfrm>
            <a:off x="1703389" y="1701800"/>
            <a:ext cx="8785225" cy="4464050"/>
          </a:xfrm>
        </p:spPr>
        <p:txBody>
          <a:bodyPr/>
          <a:lstStyle/>
          <a:p>
            <a:pPr eaLnBrk="1" hangingPunct="1"/>
            <a:r>
              <a:rPr lang="en-AU" altLang="en-US" smtClean="0"/>
              <a:t>Transient</a:t>
            </a:r>
          </a:p>
          <a:p>
            <a:pPr lvl="1" eaLnBrk="1" hangingPunct="1"/>
            <a:r>
              <a:rPr lang="en-AU" altLang="en-US" smtClean="0"/>
              <a:t>Virus code only in memory when infected host/file is executed</a:t>
            </a:r>
          </a:p>
          <a:p>
            <a:pPr lvl="1" eaLnBrk="1" hangingPunct="1"/>
            <a:endParaRPr lang="en-AU" altLang="en-US" smtClean="0"/>
          </a:p>
          <a:p>
            <a:pPr eaLnBrk="1" hangingPunct="1"/>
            <a:r>
              <a:rPr lang="en-AU" altLang="en-US" smtClean="0"/>
              <a:t>Memory Resident</a:t>
            </a:r>
          </a:p>
          <a:p>
            <a:pPr lvl="1" eaLnBrk="1" hangingPunct="1"/>
            <a:r>
              <a:rPr lang="en-AU" altLang="en-US" smtClean="0"/>
              <a:t>Virus code establishes itself in memory when host is executed</a:t>
            </a:r>
          </a:p>
          <a:p>
            <a:pPr lvl="1" eaLnBrk="1" hangingPunct="1"/>
            <a:r>
              <a:rPr lang="en-AU" altLang="en-US" smtClean="0"/>
              <a:t>Attempts to stay in memory from where it can infect other files</a:t>
            </a:r>
          </a:p>
          <a:p>
            <a:pPr lvl="1" eaLnBrk="1" hangingPunct="1"/>
            <a:endParaRPr lang="en-AU" altLang="en-US" smtClean="0"/>
          </a:p>
        </p:txBody>
      </p:sp>
    </p:spTree>
    <p:extLst>
      <p:ext uri="{BB962C8B-B14F-4D97-AF65-F5344CB8AC3E}">
        <p14:creationId xmlns:p14="http://schemas.microsoft.com/office/powerpoint/2010/main" val="3138943084"/>
      </p:ext>
    </p:extLst>
  </p:cSld>
  <p:clrMapOvr>
    <a:masterClrMapping/>
  </p:clrMapOvr>
  <p:transition spd="slow">
    <p:wipe dir="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AU" altLang="en-US" smtClean="0"/>
              <a:t>Boot Sector Viruses</a:t>
            </a:r>
          </a:p>
        </p:txBody>
      </p:sp>
      <p:sp>
        <p:nvSpPr>
          <p:cNvPr id="24579" name="Rectangle 3"/>
          <p:cNvSpPr>
            <a:spLocks noGrp="1" noChangeArrowheads="1"/>
          </p:cNvSpPr>
          <p:nvPr>
            <p:ph type="body" idx="1"/>
          </p:nvPr>
        </p:nvSpPr>
        <p:spPr/>
        <p:txBody>
          <a:bodyPr>
            <a:normAutofit fontScale="85000" lnSpcReduction="20000"/>
          </a:bodyPr>
          <a:lstStyle/>
          <a:p>
            <a:pPr eaLnBrk="1" hangingPunct="1"/>
            <a:r>
              <a:rPr lang="en-AU" altLang="en-US" sz="2400"/>
              <a:t>These establish themselves in the boot sectors of disks.</a:t>
            </a:r>
          </a:p>
          <a:p>
            <a:pPr eaLnBrk="1" hangingPunct="1"/>
            <a:endParaRPr lang="en-AU" altLang="en-US" sz="1000"/>
          </a:p>
          <a:p>
            <a:pPr eaLnBrk="1" hangingPunct="1"/>
            <a:r>
              <a:rPr lang="en-US" altLang="en-US" sz="2400"/>
              <a:t>A </a:t>
            </a:r>
            <a:r>
              <a:rPr lang="en-US" altLang="en-US" sz="2400" i="1">
                <a:solidFill>
                  <a:srgbClr val="FF0000"/>
                </a:solidFill>
              </a:rPr>
              <a:t>boot sector infector </a:t>
            </a:r>
            <a:r>
              <a:rPr lang="en-US" altLang="en-US" sz="2400"/>
              <a:t>is a virus that inserts itself into the boot sector of a disk.</a:t>
            </a:r>
          </a:p>
          <a:p>
            <a:pPr eaLnBrk="1" hangingPunct="1"/>
            <a:endParaRPr lang="en-AU" altLang="en-US" sz="1000"/>
          </a:p>
          <a:p>
            <a:pPr eaLnBrk="1" hangingPunct="1"/>
            <a:r>
              <a:rPr lang="en-AU" altLang="en-US" sz="2400"/>
              <a:t>Viral code is executed when computer boots</a:t>
            </a:r>
          </a:p>
          <a:p>
            <a:pPr lvl="1" eaLnBrk="1" hangingPunct="1"/>
            <a:r>
              <a:rPr lang="en-AU" altLang="en-US" sz="2000"/>
              <a:t>Establishes itself in memory</a:t>
            </a:r>
          </a:p>
          <a:p>
            <a:pPr lvl="1" eaLnBrk="1" hangingPunct="1"/>
            <a:r>
              <a:rPr lang="en-AU" altLang="en-US" sz="2000"/>
              <a:t>Tries to infect other disks</a:t>
            </a:r>
          </a:p>
          <a:p>
            <a:pPr lvl="1" eaLnBrk="1" hangingPunct="1"/>
            <a:endParaRPr lang="en-AU" altLang="en-US" sz="1000"/>
          </a:p>
          <a:p>
            <a:pPr eaLnBrk="1" hangingPunct="1"/>
            <a:r>
              <a:rPr lang="en-AU" altLang="en-US" sz="2400"/>
              <a:t>Common up until the early-to-mid 1990s</a:t>
            </a:r>
          </a:p>
          <a:p>
            <a:pPr lvl="1" eaLnBrk="1" hangingPunct="1"/>
            <a:r>
              <a:rPr lang="en-AU" altLang="en-US" sz="2000"/>
              <a:t>Not as common any more</a:t>
            </a:r>
          </a:p>
          <a:p>
            <a:pPr lvl="1" eaLnBrk="1" hangingPunct="1"/>
            <a:r>
              <a:rPr lang="en-AU" altLang="en-US" sz="2000"/>
              <a:t>People don’t use bootable disks as much as they used to</a:t>
            </a:r>
          </a:p>
        </p:txBody>
      </p:sp>
    </p:spTree>
    <p:extLst>
      <p:ext uri="{BB962C8B-B14F-4D97-AF65-F5344CB8AC3E}">
        <p14:creationId xmlns:p14="http://schemas.microsoft.com/office/powerpoint/2010/main" val="370905648"/>
      </p:ext>
    </p:extLst>
  </p:cSld>
  <p:clrMapOvr>
    <a:masterClrMapping/>
  </p:clrMapOvr>
  <p:transition spd="slow">
    <p:wipe dir="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altLang="en-US" smtClean="0"/>
              <a:t>Stealth Virus</a:t>
            </a:r>
          </a:p>
        </p:txBody>
      </p:sp>
      <p:sp>
        <p:nvSpPr>
          <p:cNvPr id="25603" name="Content Placeholder 2"/>
          <p:cNvSpPr>
            <a:spLocks noGrp="1"/>
          </p:cNvSpPr>
          <p:nvPr>
            <p:ph idx="1"/>
          </p:nvPr>
        </p:nvSpPr>
        <p:spPr/>
        <p:txBody>
          <a:bodyPr>
            <a:normAutofit fontScale="92500" lnSpcReduction="20000"/>
          </a:bodyPr>
          <a:lstStyle/>
          <a:p>
            <a:pPr eaLnBrk="1" hangingPunct="1"/>
            <a:r>
              <a:rPr lang="en-US" altLang="en-US" sz="2000" i="1">
                <a:solidFill>
                  <a:srgbClr val="FF0000"/>
                </a:solidFill>
              </a:rPr>
              <a:t>Stealth viruses </a:t>
            </a:r>
            <a:r>
              <a:rPr lang="en-US" altLang="en-US" sz="2000"/>
              <a:t>are viruses that conceal the infection of files.</a:t>
            </a:r>
          </a:p>
          <a:p>
            <a:pPr eaLnBrk="1" hangingPunct="1"/>
            <a:endParaRPr lang="en-US" altLang="en-US" sz="2000"/>
          </a:p>
          <a:p>
            <a:pPr eaLnBrk="1" hangingPunct="1"/>
            <a:r>
              <a:rPr lang="en-US" altLang="en-US" sz="2000"/>
              <a:t>These viruses intercept calls to the operating system that access files that are infected.</a:t>
            </a:r>
          </a:p>
          <a:p>
            <a:pPr eaLnBrk="1" hangingPunct="1"/>
            <a:endParaRPr lang="en-US" altLang="en-US" sz="2000"/>
          </a:p>
          <a:p>
            <a:pPr eaLnBrk="1" hangingPunct="1"/>
            <a:r>
              <a:rPr lang="en-US" altLang="en-US" sz="2000"/>
              <a:t> If the call is to obtain file attributes, the original attributes of the file are returned. </a:t>
            </a:r>
          </a:p>
          <a:p>
            <a:pPr eaLnBrk="1" hangingPunct="1"/>
            <a:endParaRPr lang="en-US" altLang="en-US" sz="2000"/>
          </a:p>
          <a:p>
            <a:pPr eaLnBrk="1" hangingPunct="1"/>
            <a:r>
              <a:rPr lang="en-US" altLang="en-US" sz="2000"/>
              <a:t>If the call is to read the file, the file is disinfected as its data is returned. </a:t>
            </a:r>
          </a:p>
          <a:p>
            <a:pPr eaLnBrk="1" hangingPunct="1"/>
            <a:endParaRPr lang="en-US" altLang="en-US" sz="2000"/>
          </a:p>
          <a:p>
            <a:pPr eaLnBrk="1" hangingPunct="1"/>
            <a:r>
              <a:rPr lang="en-US" altLang="en-US" sz="2000" b="1">
                <a:solidFill>
                  <a:srgbClr val="FF0000"/>
                </a:solidFill>
              </a:rPr>
              <a:t>But</a:t>
            </a:r>
            <a:r>
              <a:rPr lang="en-US" altLang="en-US" sz="2000"/>
              <a:t> if the call is to </a:t>
            </a:r>
            <a:r>
              <a:rPr lang="en-US" altLang="en-US" sz="2000" b="1" u="sng">
                <a:solidFill>
                  <a:srgbClr val="00B050"/>
                </a:solidFill>
              </a:rPr>
              <a:t>execute</a:t>
            </a:r>
            <a:r>
              <a:rPr lang="en-US" altLang="en-US" sz="2000"/>
              <a:t> the file, </a:t>
            </a:r>
            <a:r>
              <a:rPr lang="en-US" altLang="en-US" sz="2000" b="1">
                <a:solidFill>
                  <a:srgbClr val="FF0000"/>
                </a:solidFill>
              </a:rPr>
              <a:t>the infected file is executed</a:t>
            </a:r>
            <a:r>
              <a:rPr lang="en-US" altLang="en-US" sz="2000"/>
              <a:t>!!!</a:t>
            </a:r>
          </a:p>
          <a:p>
            <a:pPr eaLnBrk="1" hangingPunct="1"/>
            <a:endParaRPr lang="en-US" altLang="en-US" sz="2000"/>
          </a:p>
        </p:txBody>
      </p:sp>
    </p:spTree>
    <p:extLst>
      <p:ext uri="{BB962C8B-B14F-4D97-AF65-F5344CB8AC3E}">
        <p14:creationId xmlns:p14="http://schemas.microsoft.com/office/powerpoint/2010/main" val="1274143693"/>
      </p:ext>
    </p:extLst>
  </p:cSld>
  <p:clrMapOvr>
    <a:masterClrMapping/>
  </p:clrMapOvr>
  <p:transition spd="slow">
    <p:wipe dir="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AU" altLang="en-US" smtClean="0"/>
              <a:t>Worms</a:t>
            </a:r>
          </a:p>
        </p:txBody>
      </p:sp>
      <p:sp>
        <p:nvSpPr>
          <p:cNvPr id="26627" name="Rectangle 3"/>
          <p:cNvSpPr>
            <a:spLocks noGrp="1" noChangeArrowheads="1"/>
          </p:cNvSpPr>
          <p:nvPr>
            <p:ph type="body" idx="1"/>
          </p:nvPr>
        </p:nvSpPr>
        <p:spPr/>
        <p:txBody>
          <a:bodyPr>
            <a:normAutofit fontScale="85000" lnSpcReduction="10000"/>
          </a:bodyPr>
          <a:lstStyle/>
          <a:p>
            <a:pPr eaLnBrk="1" hangingPunct="1">
              <a:buFont typeface="Wingdings" panose="05000000000000000000" pitchFamily="2" charset="2"/>
              <a:buNone/>
            </a:pPr>
            <a:r>
              <a:rPr lang="en-AU" altLang="en-US" sz="2000"/>
              <a:t>“The </a:t>
            </a:r>
            <a:r>
              <a:rPr lang="en-AU" altLang="en-US" sz="2000" i="1"/>
              <a:t>computer worm </a:t>
            </a:r>
            <a:r>
              <a:rPr lang="en-AU" altLang="en-US" sz="2000"/>
              <a:t>is a program that is designed to copy itself from one computer to another, leveraging some network medium: e-mail, TCP/IP, etc. </a:t>
            </a:r>
          </a:p>
          <a:p>
            <a:pPr eaLnBrk="1" hangingPunct="1">
              <a:buFont typeface="Wingdings" panose="05000000000000000000" pitchFamily="2" charset="2"/>
              <a:buNone/>
            </a:pPr>
            <a:endParaRPr lang="en-AU" altLang="en-US" sz="2000"/>
          </a:p>
          <a:p>
            <a:pPr eaLnBrk="1" hangingPunct="1">
              <a:buFont typeface="Wingdings" panose="05000000000000000000" pitchFamily="2" charset="2"/>
              <a:buNone/>
            </a:pPr>
            <a:r>
              <a:rPr lang="en-AU" altLang="en-US" sz="2000"/>
              <a:t>The worm is more interested in infecting as many machines as possible on the network, and less interested in spreading </a:t>
            </a:r>
            <a:r>
              <a:rPr lang="en-AU" altLang="en-US" sz="2000" i="1">
                <a:solidFill>
                  <a:srgbClr val="FF0000"/>
                </a:solidFill>
              </a:rPr>
              <a:t>many copies of itself </a:t>
            </a:r>
            <a:r>
              <a:rPr lang="en-AU" altLang="en-US" sz="2000"/>
              <a:t>on a single computer.</a:t>
            </a:r>
          </a:p>
          <a:p>
            <a:pPr eaLnBrk="1" hangingPunct="1">
              <a:buFont typeface="Wingdings" panose="05000000000000000000" pitchFamily="2" charset="2"/>
              <a:buNone/>
            </a:pPr>
            <a:endParaRPr lang="en-AU" altLang="en-US" sz="2000"/>
          </a:p>
          <a:p>
            <a:pPr eaLnBrk="1" hangingPunct="1">
              <a:buFont typeface="Wingdings" panose="05000000000000000000" pitchFamily="2" charset="2"/>
              <a:buNone/>
            </a:pPr>
            <a:r>
              <a:rPr lang="en-AU" altLang="en-US" sz="2000"/>
              <a:t>The prototypical worm infects a target system only once; after the initial infection, the worm attempts to spread to other machines on the network.” </a:t>
            </a:r>
          </a:p>
          <a:p>
            <a:pPr eaLnBrk="1" hangingPunct="1">
              <a:buFont typeface="Wingdings" panose="05000000000000000000" pitchFamily="2" charset="2"/>
              <a:buNone/>
            </a:pPr>
            <a:endParaRPr lang="en-AU" altLang="en-US" sz="2000"/>
          </a:p>
          <a:p>
            <a:pPr eaLnBrk="1" hangingPunct="1"/>
            <a:r>
              <a:rPr lang="en-US" altLang="en-US" sz="2000"/>
              <a:t>One common mistake that people make when the topic of a computer virus arises is to refer to a worm or Trojan horse as a virus. </a:t>
            </a:r>
          </a:p>
          <a:p>
            <a:pPr eaLnBrk="1" hangingPunct="1">
              <a:buFont typeface="Wingdings" panose="05000000000000000000" pitchFamily="2" charset="2"/>
              <a:buNone/>
            </a:pPr>
            <a:endParaRPr lang="en-US" altLang="en-US" sz="2000"/>
          </a:p>
        </p:txBody>
      </p:sp>
    </p:spTree>
    <p:extLst>
      <p:ext uri="{BB962C8B-B14F-4D97-AF65-F5344CB8AC3E}">
        <p14:creationId xmlns:p14="http://schemas.microsoft.com/office/powerpoint/2010/main" val="1162853449"/>
      </p:ext>
    </p:extLst>
  </p:cSld>
  <p:clrMapOvr>
    <a:masterClrMapping/>
  </p:clrMapOvr>
  <p:transition spd="slow">
    <p:wipe dir="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pPr algn="r" eaLnBrk="1" hangingPunct="1"/>
            <a:r>
              <a:rPr lang="en-US" altLang="en-US" smtClean="0"/>
              <a:t>cont./</a:t>
            </a:r>
          </a:p>
        </p:txBody>
      </p:sp>
      <p:sp>
        <p:nvSpPr>
          <p:cNvPr id="27651" name="Content Placeholder 2"/>
          <p:cNvSpPr>
            <a:spLocks noGrp="1"/>
          </p:cNvSpPr>
          <p:nvPr>
            <p:ph idx="1"/>
          </p:nvPr>
        </p:nvSpPr>
        <p:spPr/>
        <p:txBody>
          <a:bodyPr>
            <a:normAutofit lnSpcReduction="10000"/>
          </a:bodyPr>
          <a:lstStyle/>
          <a:p>
            <a:pPr eaLnBrk="1" hangingPunct="1"/>
            <a:r>
              <a:rPr lang="en-US" altLang="en-US" sz="2000"/>
              <a:t>A worm is similar to a virus by design and is considered to be a sub-class of a virus. </a:t>
            </a:r>
          </a:p>
          <a:p>
            <a:pPr eaLnBrk="1" hangingPunct="1"/>
            <a:endParaRPr lang="en-US" altLang="en-US" sz="2000"/>
          </a:p>
          <a:p>
            <a:pPr eaLnBrk="1" hangingPunct="1"/>
            <a:r>
              <a:rPr lang="en-US" altLang="en-US" sz="2000"/>
              <a:t>Worms spread from computer to computer, but unlike a virus, it has the capability to travel without any human action. </a:t>
            </a:r>
          </a:p>
          <a:p>
            <a:pPr eaLnBrk="1" hangingPunct="1"/>
            <a:endParaRPr lang="en-US" altLang="en-US" sz="2000"/>
          </a:p>
          <a:p>
            <a:pPr eaLnBrk="1" hangingPunct="1"/>
            <a:r>
              <a:rPr lang="en-US" altLang="en-US" sz="2000"/>
              <a:t>A worm takes advantage of file or information transport features on your system, which is what allows it to travel unaided.</a:t>
            </a:r>
          </a:p>
          <a:p>
            <a:pPr eaLnBrk="1" hangingPunct="1"/>
            <a:endParaRPr lang="en-US" altLang="en-US" sz="2000"/>
          </a:p>
          <a:p>
            <a:pPr eaLnBrk="1" hangingPunct="1"/>
            <a:r>
              <a:rPr lang="en-US" altLang="en-US" sz="2000"/>
              <a:t>Unlike a computer virus, it does not need to attach itself to an existing program. </a:t>
            </a:r>
          </a:p>
        </p:txBody>
      </p:sp>
    </p:spTree>
    <p:extLst>
      <p:ext uri="{BB962C8B-B14F-4D97-AF65-F5344CB8AC3E}">
        <p14:creationId xmlns:p14="http://schemas.microsoft.com/office/powerpoint/2010/main" val="4224813027"/>
      </p:ext>
    </p:extLst>
  </p:cSld>
  <p:clrMapOvr>
    <a:masterClrMapping/>
  </p:clrMapOvr>
  <p:transition spd="slow">
    <p:wipe dir="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AU" altLang="en-US" smtClean="0"/>
              <a:t>Key Characteristics of Worms</a:t>
            </a:r>
          </a:p>
        </p:txBody>
      </p:sp>
      <p:sp>
        <p:nvSpPr>
          <p:cNvPr id="28675" name="Rectangle 3"/>
          <p:cNvSpPr>
            <a:spLocks noGrp="1" noChangeArrowheads="1"/>
          </p:cNvSpPr>
          <p:nvPr>
            <p:ph type="body" idx="1"/>
          </p:nvPr>
        </p:nvSpPr>
        <p:spPr/>
        <p:txBody>
          <a:bodyPr/>
          <a:lstStyle/>
          <a:p>
            <a:pPr eaLnBrk="1" hangingPunct="1"/>
            <a:r>
              <a:rPr lang="en-AU" altLang="en-US" smtClean="0"/>
              <a:t>Mainly self contained</a:t>
            </a:r>
          </a:p>
          <a:p>
            <a:pPr eaLnBrk="1" hangingPunct="1"/>
            <a:endParaRPr lang="en-AU" altLang="en-US" smtClean="0"/>
          </a:p>
          <a:p>
            <a:pPr eaLnBrk="1" hangingPunct="1"/>
            <a:r>
              <a:rPr lang="en-AU" altLang="en-US" smtClean="0"/>
              <a:t>Don’t require a separate host</a:t>
            </a:r>
          </a:p>
          <a:p>
            <a:pPr eaLnBrk="1" hangingPunct="1"/>
            <a:endParaRPr lang="en-AU" altLang="en-US" smtClean="0"/>
          </a:p>
          <a:p>
            <a:pPr eaLnBrk="1" hangingPunct="1"/>
            <a:r>
              <a:rPr lang="en-AU" altLang="en-US" smtClean="0"/>
              <a:t>Self Propagation</a:t>
            </a:r>
          </a:p>
          <a:p>
            <a:pPr lvl="1" eaLnBrk="1" hangingPunct="1"/>
            <a:r>
              <a:rPr lang="en-AU" altLang="en-US" smtClean="0"/>
              <a:t>Don’t rely on human interaction?</a:t>
            </a:r>
          </a:p>
        </p:txBody>
      </p:sp>
    </p:spTree>
    <p:extLst>
      <p:ext uri="{BB962C8B-B14F-4D97-AF65-F5344CB8AC3E}">
        <p14:creationId xmlns:p14="http://schemas.microsoft.com/office/powerpoint/2010/main" val="2773029718"/>
      </p:ext>
    </p:extLst>
  </p:cSld>
  <p:clrMapOvr>
    <a:masterClrMapping/>
  </p:clrMapOvr>
  <p:transition spd="slow">
    <p:wipe dir="r"/>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AU" altLang="en-US" smtClean="0"/>
              <a:t>Worm Payloads</a:t>
            </a:r>
          </a:p>
        </p:txBody>
      </p:sp>
      <p:sp>
        <p:nvSpPr>
          <p:cNvPr id="29699" name="Rectangle 3"/>
          <p:cNvSpPr>
            <a:spLocks noGrp="1" noChangeArrowheads="1"/>
          </p:cNvSpPr>
          <p:nvPr>
            <p:ph type="body" idx="1"/>
          </p:nvPr>
        </p:nvSpPr>
        <p:spPr/>
        <p:txBody>
          <a:bodyPr/>
          <a:lstStyle/>
          <a:p>
            <a:pPr eaLnBrk="1" hangingPunct="1"/>
            <a:r>
              <a:rPr lang="en-AU" altLang="en-US" smtClean="0"/>
              <a:t>Some worms simply replicate for the sake of replicating while others have a more defined payload</a:t>
            </a:r>
          </a:p>
          <a:p>
            <a:pPr eaLnBrk="1" hangingPunct="1"/>
            <a:endParaRPr lang="en-AU" altLang="en-US" smtClean="0"/>
          </a:p>
          <a:p>
            <a:pPr eaLnBrk="1" hangingPunct="1"/>
            <a:r>
              <a:rPr lang="en-AU" altLang="en-US" smtClean="0"/>
              <a:t>Some have attempted to launch Distributed Denial of Service attacks</a:t>
            </a:r>
          </a:p>
        </p:txBody>
      </p:sp>
    </p:spTree>
    <p:extLst>
      <p:ext uri="{BB962C8B-B14F-4D97-AF65-F5344CB8AC3E}">
        <p14:creationId xmlns:p14="http://schemas.microsoft.com/office/powerpoint/2010/main" val="2562632567"/>
      </p:ext>
    </p:extLst>
  </p:cSld>
  <p:clrMapOvr>
    <a:masterClrMapping/>
  </p:clrMapOvr>
  <p:transition spd="slow">
    <p:wipe dir="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altLang="en-US" smtClean="0"/>
              <a:t>“Good” worms?</a:t>
            </a:r>
          </a:p>
        </p:txBody>
      </p:sp>
      <p:sp>
        <p:nvSpPr>
          <p:cNvPr id="4" name="Rectangle 2"/>
          <p:cNvSpPr txBox="1">
            <a:spLocks noChangeArrowheads="1"/>
          </p:cNvSpPr>
          <p:nvPr/>
        </p:nvSpPr>
        <p:spPr bwMode="auto">
          <a:xfrm>
            <a:off x="1524000" y="1582738"/>
            <a:ext cx="8839200" cy="465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38138" indent="-338138">
              <a:spcBef>
                <a:spcPct val="20000"/>
              </a:spcBef>
              <a:buClr>
                <a:schemeClr val="folHlink"/>
              </a:buClr>
              <a:buFont typeface="Wingdings" panose="05000000000000000000" pitchFamily="2" charset="2"/>
              <a:buChar char="o"/>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defRPr sz="2800">
                <a:solidFill>
                  <a:schemeClr val="folHlink"/>
                </a:solidFill>
                <a:latin typeface="Verdana" panose="020B0604030504040204" pitchFamily="34" charset="0"/>
                <a:cs typeface="Arial" panose="020B0604020202020204" pitchFamily="34" charset="0"/>
              </a:defRPr>
            </a:lvl1pPr>
            <a:lvl2pPr marL="908050" indent="-436563">
              <a:spcBef>
                <a:spcPct val="20000"/>
              </a:spcBef>
              <a:buClr>
                <a:schemeClr val="folHlink"/>
              </a:buClr>
              <a:buFont typeface="Wingdings" panose="05000000000000000000" pitchFamily="2" charset="2"/>
              <a:buChar char="n"/>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defRPr sz="2400">
                <a:solidFill>
                  <a:schemeClr val="folHlink"/>
                </a:solidFill>
                <a:latin typeface="Verdana" panose="020B0604030504040204" pitchFamily="34" charset="0"/>
                <a:cs typeface="Arial" panose="020B0604020202020204" pitchFamily="34" charset="0"/>
              </a:defRPr>
            </a:lvl2pPr>
            <a:lvl3pPr marL="1304925" indent="-395288">
              <a:spcBef>
                <a:spcPct val="20000"/>
              </a:spcBef>
              <a:buClr>
                <a:schemeClr val="folHlink"/>
              </a:buClr>
              <a:buFont typeface="Wingdings" panose="05000000000000000000" pitchFamily="2" charset="2"/>
              <a:buChar char="o"/>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defRPr sz="2000">
                <a:solidFill>
                  <a:schemeClr val="folHlink"/>
                </a:solidFill>
                <a:latin typeface="Verdana" panose="020B0604030504040204" pitchFamily="34" charset="0"/>
                <a:cs typeface="Arial" panose="020B0604020202020204" pitchFamily="34" charset="0"/>
              </a:defRPr>
            </a:lvl3pPr>
            <a:lvl4pPr marL="1693863" indent="-387350">
              <a:spcBef>
                <a:spcPct val="20000"/>
              </a:spcBef>
              <a:buClr>
                <a:schemeClr val="folHlink"/>
              </a:buClr>
              <a:buFont typeface="Wingdings" panose="05000000000000000000" pitchFamily="2" charset="2"/>
              <a:buChar char="n"/>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defRPr sz="2000">
                <a:solidFill>
                  <a:schemeClr val="folHlink"/>
                </a:solidFill>
                <a:latin typeface="Verdana" panose="020B0604030504040204" pitchFamily="34" charset="0"/>
                <a:cs typeface="Arial" panose="020B0604020202020204" pitchFamily="34" charset="0"/>
              </a:defRPr>
            </a:lvl4pPr>
            <a:lvl5pPr marL="2093913" indent="-398463">
              <a:spcBef>
                <a:spcPct val="25000"/>
              </a:spcBef>
              <a:buClr>
                <a:schemeClr val="folHlink"/>
              </a:buClr>
              <a:buFont typeface="Wingdings" panose="05000000000000000000" pitchFamily="2"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defRPr sz="1600">
                <a:solidFill>
                  <a:schemeClr val="folHlink"/>
                </a:solidFill>
                <a:latin typeface="Verdana" panose="020B0604030504040204" pitchFamily="34" charset="0"/>
                <a:cs typeface="Arial" panose="020B0604020202020204" pitchFamily="34" charset="0"/>
              </a:defRPr>
            </a:lvl5pPr>
            <a:lvl6pPr marL="2551113" indent="-398463" eaLnBrk="0" fontAlgn="base" hangingPunct="0">
              <a:spcBef>
                <a:spcPct val="25000"/>
              </a:spcBef>
              <a:spcAft>
                <a:spcPct val="0"/>
              </a:spcAft>
              <a:buClr>
                <a:schemeClr val="folHlink"/>
              </a:buClr>
              <a:buFont typeface="Wingdings" panose="05000000000000000000" pitchFamily="2"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defRPr sz="1600">
                <a:solidFill>
                  <a:schemeClr val="folHlink"/>
                </a:solidFill>
                <a:latin typeface="Verdana" panose="020B0604030504040204" pitchFamily="34" charset="0"/>
                <a:cs typeface="Arial" panose="020B0604020202020204" pitchFamily="34" charset="0"/>
              </a:defRPr>
            </a:lvl6pPr>
            <a:lvl7pPr marL="3008313" indent="-398463" eaLnBrk="0" fontAlgn="base" hangingPunct="0">
              <a:spcBef>
                <a:spcPct val="25000"/>
              </a:spcBef>
              <a:spcAft>
                <a:spcPct val="0"/>
              </a:spcAft>
              <a:buClr>
                <a:schemeClr val="folHlink"/>
              </a:buClr>
              <a:buFont typeface="Wingdings" panose="05000000000000000000" pitchFamily="2"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defRPr sz="1600">
                <a:solidFill>
                  <a:schemeClr val="folHlink"/>
                </a:solidFill>
                <a:latin typeface="Verdana" panose="020B0604030504040204" pitchFamily="34" charset="0"/>
                <a:cs typeface="Arial" panose="020B0604020202020204" pitchFamily="34" charset="0"/>
              </a:defRPr>
            </a:lvl7pPr>
            <a:lvl8pPr marL="3465513" indent="-398463" eaLnBrk="0" fontAlgn="base" hangingPunct="0">
              <a:spcBef>
                <a:spcPct val="25000"/>
              </a:spcBef>
              <a:spcAft>
                <a:spcPct val="0"/>
              </a:spcAft>
              <a:buClr>
                <a:schemeClr val="folHlink"/>
              </a:buClr>
              <a:buFont typeface="Wingdings" panose="05000000000000000000" pitchFamily="2"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defRPr sz="1600">
                <a:solidFill>
                  <a:schemeClr val="folHlink"/>
                </a:solidFill>
                <a:latin typeface="Verdana" panose="020B0604030504040204" pitchFamily="34" charset="0"/>
                <a:cs typeface="Arial" panose="020B0604020202020204" pitchFamily="34" charset="0"/>
              </a:defRPr>
            </a:lvl8pPr>
            <a:lvl9pPr marL="3922713" indent="-398463" eaLnBrk="0" fontAlgn="base" hangingPunct="0">
              <a:spcBef>
                <a:spcPct val="25000"/>
              </a:spcBef>
              <a:spcAft>
                <a:spcPct val="0"/>
              </a:spcAft>
              <a:buClr>
                <a:schemeClr val="folHlink"/>
              </a:buClr>
              <a:buFont typeface="Wingdings" panose="05000000000000000000" pitchFamily="2" charset="2"/>
              <a:buChar char="§"/>
              <a:tabLst>
                <a:tab pos="338138" algn="l"/>
                <a:tab pos="442913" algn="l"/>
                <a:tab pos="892175" algn="l"/>
                <a:tab pos="1341438" algn="l"/>
                <a:tab pos="1790700" algn="l"/>
                <a:tab pos="2239963" algn="l"/>
                <a:tab pos="2689225" algn="l"/>
                <a:tab pos="3138488" algn="l"/>
                <a:tab pos="3587750" algn="l"/>
                <a:tab pos="4037013" algn="l"/>
                <a:tab pos="4486275" algn="l"/>
                <a:tab pos="4935538" algn="l"/>
                <a:tab pos="5384800" algn="l"/>
                <a:tab pos="5834063" algn="l"/>
                <a:tab pos="6283325" algn="l"/>
                <a:tab pos="6732588" algn="l"/>
                <a:tab pos="7181850" algn="l"/>
                <a:tab pos="7631113" algn="l"/>
                <a:tab pos="8080375" algn="l"/>
                <a:tab pos="8529638" algn="l"/>
                <a:tab pos="8978900" algn="l"/>
              </a:tabLst>
              <a:defRPr sz="1600">
                <a:solidFill>
                  <a:schemeClr val="folHlink"/>
                </a:solidFill>
                <a:latin typeface="Verdana" panose="020B0604030504040204" pitchFamily="34" charset="0"/>
                <a:cs typeface="Arial" panose="020B0604020202020204" pitchFamily="34" charset="0"/>
              </a:defRPr>
            </a:lvl9pPr>
          </a:lstStyle>
          <a:p>
            <a:pPr>
              <a:spcBef>
                <a:spcPts val="600"/>
              </a:spcBef>
              <a:buFont typeface="Arial" panose="020B0604020202020204" pitchFamily="34" charset="0"/>
              <a:buChar char="•"/>
            </a:pPr>
            <a:r>
              <a:rPr lang="en-GB" altLang="en-US" sz="2400" i="1"/>
              <a:t>Nachi</a:t>
            </a:r>
            <a:r>
              <a:rPr lang="en-GB" altLang="en-US" sz="2400"/>
              <a:t> tried  to download and install patches from </a:t>
            </a:r>
            <a:br>
              <a:rPr lang="en-GB" altLang="en-US" sz="2400"/>
            </a:br>
            <a:r>
              <a:rPr lang="en-GB" altLang="en-US" sz="2400"/>
              <a:t>Microsoft's website to fix various </a:t>
            </a:r>
            <a:br>
              <a:rPr lang="en-GB" altLang="en-US" sz="2400"/>
            </a:br>
            <a:r>
              <a:rPr lang="en-GB" altLang="en-US" sz="2400"/>
              <a:t>vulnerabilities in the host system. </a:t>
            </a:r>
          </a:p>
          <a:p>
            <a:pPr>
              <a:spcBef>
                <a:spcPts val="600"/>
              </a:spcBef>
              <a:buFont typeface="Arial" panose="020B0604020202020204" pitchFamily="34" charset="0"/>
              <a:buChar char="•"/>
            </a:pPr>
            <a:endParaRPr lang="en-GB" altLang="en-US" sz="2400"/>
          </a:p>
          <a:p>
            <a:pPr>
              <a:spcBef>
                <a:spcPts val="600"/>
              </a:spcBef>
              <a:buFont typeface="Arial" panose="020B0604020202020204" pitchFamily="34" charset="0"/>
              <a:buChar char="•"/>
            </a:pPr>
            <a:r>
              <a:rPr lang="en-GB" altLang="en-US" sz="2400"/>
              <a:t>eventually made the systems affected more secure, but generated considerable network traffic Worked without the consent of the computer's owner or user.</a:t>
            </a:r>
          </a:p>
          <a:p>
            <a:pPr>
              <a:spcBef>
                <a:spcPts val="600"/>
              </a:spcBef>
              <a:buFont typeface="Arial" panose="020B0604020202020204" pitchFamily="34" charset="0"/>
              <a:buChar char="•"/>
            </a:pPr>
            <a:endParaRPr lang="en-GB" altLang="en-US" sz="2400"/>
          </a:p>
          <a:p>
            <a:pPr>
              <a:spcBef>
                <a:spcPts val="600"/>
              </a:spcBef>
              <a:buFont typeface="Arial" panose="020B0604020202020204" pitchFamily="34" charset="0"/>
              <a:buChar char="•"/>
            </a:pPr>
            <a:r>
              <a:rPr lang="en-GB" altLang="en-US" sz="2400"/>
              <a:t>Most security experts deprecate worms, whatever their payload. </a:t>
            </a:r>
          </a:p>
        </p:txBody>
      </p:sp>
    </p:spTree>
    <p:extLst>
      <p:ext uri="{BB962C8B-B14F-4D97-AF65-F5344CB8AC3E}">
        <p14:creationId xmlns:p14="http://schemas.microsoft.com/office/powerpoint/2010/main" val="2588442906"/>
      </p:ext>
    </p:extLst>
  </p:cSld>
  <p:clrMapOvr>
    <a:masterClrMapping/>
  </p:clrMapOvr>
  <p:transition spd="slow">
    <p:wipe dir="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AU" altLang="en-US" smtClean="0"/>
              <a:t>Trojans</a:t>
            </a:r>
          </a:p>
        </p:txBody>
      </p:sp>
      <p:sp>
        <p:nvSpPr>
          <p:cNvPr id="31747" name="Rectangle 3"/>
          <p:cNvSpPr>
            <a:spLocks noGrp="1" noChangeArrowheads="1"/>
          </p:cNvSpPr>
          <p:nvPr>
            <p:ph type="body" idx="1"/>
          </p:nvPr>
        </p:nvSpPr>
        <p:spPr/>
        <p:txBody>
          <a:bodyPr>
            <a:normAutofit fontScale="85000" lnSpcReduction="20000"/>
          </a:bodyPr>
          <a:lstStyle/>
          <a:p>
            <a:pPr eaLnBrk="1" hangingPunct="1"/>
            <a:r>
              <a:rPr lang="en-AU" altLang="en-US" sz="2200"/>
              <a:t>“Trojan Horses are impostors--files that claim to be something desirable but, in fact, are malicious” (SARC, 2002)</a:t>
            </a:r>
          </a:p>
          <a:p>
            <a:pPr eaLnBrk="1" hangingPunct="1"/>
            <a:endParaRPr lang="en-AU" altLang="en-US" sz="800"/>
          </a:p>
          <a:p>
            <a:pPr eaLnBrk="1" hangingPunct="1"/>
            <a:r>
              <a:rPr lang="en-US" altLang="en-US" sz="2200"/>
              <a:t> A Trojan horse is a program with an overt (documented or known) effect and a covert (undocumented or unexpected) effect.</a:t>
            </a:r>
          </a:p>
          <a:p>
            <a:pPr eaLnBrk="1" hangingPunct="1"/>
            <a:endParaRPr lang="en-AU" altLang="en-US" sz="800"/>
          </a:p>
          <a:p>
            <a:pPr eaLnBrk="1" hangingPunct="1"/>
            <a:r>
              <a:rPr lang="en-AU" altLang="en-US" sz="2200"/>
              <a:t>Appear to do something useful, but in fact have another malicious purpose</a:t>
            </a:r>
          </a:p>
          <a:p>
            <a:pPr eaLnBrk="1" hangingPunct="1"/>
            <a:endParaRPr lang="en-AU" altLang="en-US" sz="800"/>
          </a:p>
          <a:p>
            <a:pPr eaLnBrk="1" hangingPunct="1"/>
            <a:r>
              <a:rPr lang="en-AU" altLang="en-US" sz="2200"/>
              <a:t>Don’t replicate as such</a:t>
            </a:r>
          </a:p>
          <a:p>
            <a:pPr lvl="1" eaLnBrk="1" hangingPunct="1"/>
            <a:r>
              <a:rPr lang="en-AU" altLang="en-US" sz="2200"/>
              <a:t>They don’t usually replicate or infect hosts</a:t>
            </a:r>
          </a:p>
          <a:p>
            <a:pPr lvl="1" eaLnBrk="1" hangingPunct="1"/>
            <a:r>
              <a:rPr lang="en-AU" altLang="en-US" sz="2200"/>
              <a:t>They rely on users being fooled into running them</a:t>
            </a:r>
          </a:p>
          <a:p>
            <a:pPr lvl="1" eaLnBrk="1" hangingPunct="1"/>
            <a:r>
              <a:rPr lang="en-AU" altLang="en-US" sz="2200"/>
              <a:t>Rely on social engineering like techniques</a:t>
            </a:r>
          </a:p>
        </p:txBody>
      </p:sp>
    </p:spTree>
    <p:extLst>
      <p:ext uri="{BB962C8B-B14F-4D97-AF65-F5344CB8AC3E}">
        <p14:creationId xmlns:p14="http://schemas.microsoft.com/office/powerpoint/2010/main" val="740698538"/>
      </p:ext>
    </p:extLst>
  </p:cSld>
  <p:clrMapOvr>
    <a:masterClrMapping/>
  </p:clrMapOvr>
  <p:transition spd="slow">
    <p:wipe dir="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AU" altLang="en-US" smtClean="0"/>
              <a:t>Types of Trojans</a:t>
            </a:r>
          </a:p>
        </p:txBody>
      </p:sp>
      <p:sp>
        <p:nvSpPr>
          <p:cNvPr id="32771" name="Rectangle 3"/>
          <p:cNvSpPr>
            <a:spLocks noGrp="1" noChangeArrowheads="1"/>
          </p:cNvSpPr>
          <p:nvPr>
            <p:ph type="body" idx="1"/>
          </p:nvPr>
        </p:nvSpPr>
        <p:spPr/>
        <p:txBody>
          <a:bodyPr/>
          <a:lstStyle/>
          <a:p>
            <a:pPr eaLnBrk="1" hangingPunct="1"/>
            <a:r>
              <a:rPr lang="en-US" altLang="en-US" smtClean="0"/>
              <a:t>Trojan horses are often used in conjunction with other tools to attack systems.</a:t>
            </a:r>
            <a:endParaRPr lang="en-AU" altLang="en-US" smtClean="0"/>
          </a:p>
          <a:p>
            <a:pPr eaLnBrk="1" hangingPunct="1"/>
            <a:endParaRPr lang="en-AU" altLang="en-US" sz="800"/>
          </a:p>
          <a:p>
            <a:pPr eaLnBrk="1" hangingPunct="1"/>
            <a:r>
              <a:rPr lang="en-AU" altLang="en-US" smtClean="0"/>
              <a:t>Some are fairly simple</a:t>
            </a:r>
          </a:p>
          <a:p>
            <a:pPr lvl="1" eaLnBrk="1" hangingPunct="1"/>
            <a:r>
              <a:rPr lang="en-AU" altLang="en-US" smtClean="0"/>
              <a:t>E.g. imagine a program that acts as a calculator.  It adds numbers correctly, but every time you press the 7 key it deletes a random file from the system</a:t>
            </a:r>
          </a:p>
          <a:p>
            <a:pPr eaLnBrk="1" hangingPunct="1"/>
            <a:r>
              <a:rPr lang="en-AU" altLang="en-US" smtClean="0"/>
              <a:t>Remote Access Trojans (RATs)</a:t>
            </a:r>
          </a:p>
          <a:p>
            <a:pPr lvl="1" eaLnBrk="1" hangingPunct="1"/>
            <a:r>
              <a:rPr lang="en-AU" altLang="en-US" smtClean="0"/>
              <a:t>Act as a backdoor</a:t>
            </a:r>
          </a:p>
          <a:p>
            <a:pPr lvl="1" eaLnBrk="1" hangingPunct="1"/>
            <a:r>
              <a:rPr lang="en-AU" altLang="en-US" smtClean="0"/>
              <a:t>Allows an attacker control over a system</a:t>
            </a:r>
          </a:p>
          <a:p>
            <a:pPr lvl="1" eaLnBrk="1" hangingPunct="1"/>
            <a:r>
              <a:rPr lang="en-AU" altLang="en-US" smtClean="0"/>
              <a:t>Examples – BO2K, Netbus, subseven</a:t>
            </a:r>
          </a:p>
        </p:txBody>
      </p:sp>
    </p:spTree>
    <p:extLst>
      <p:ext uri="{BB962C8B-B14F-4D97-AF65-F5344CB8AC3E}">
        <p14:creationId xmlns:p14="http://schemas.microsoft.com/office/powerpoint/2010/main" val="3521493333"/>
      </p:ext>
    </p:extLst>
  </p:cSld>
  <p:clrMapOvr>
    <a:masterClrMapping/>
  </p:clrMapOvr>
  <p:transition spd="slow">
    <p:wipe dir="r"/>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altLang="en-US" smtClean="0"/>
              <a:t>Example: NetBus</a:t>
            </a:r>
          </a:p>
        </p:txBody>
      </p:sp>
      <p:sp>
        <p:nvSpPr>
          <p:cNvPr id="33795" name="Content Placeholder 2"/>
          <p:cNvSpPr>
            <a:spLocks noGrp="1"/>
          </p:cNvSpPr>
          <p:nvPr>
            <p:ph idx="1"/>
          </p:nvPr>
        </p:nvSpPr>
        <p:spPr>
          <a:xfrm>
            <a:off x="1703389" y="1341439"/>
            <a:ext cx="8785225" cy="5087937"/>
          </a:xfrm>
        </p:spPr>
        <p:txBody>
          <a:bodyPr/>
          <a:lstStyle/>
          <a:p>
            <a:pPr>
              <a:buFont typeface="Wingdings" panose="05000000000000000000" pitchFamily="2" charset="2"/>
              <a:buChar char="Ø"/>
            </a:pPr>
            <a:r>
              <a:rPr lang="en-US" altLang="en-US" sz="2000"/>
              <a:t>The NetBus program allows an attacker to control a Windows NT workstation remotely. </a:t>
            </a:r>
          </a:p>
          <a:p>
            <a:pPr>
              <a:buFont typeface="Wingdings" panose="05000000000000000000" pitchFamily="2" charset="2"/>
              <a:buChar char="Ø"/>
            </a:pPr>
            <a:endParaRPr lang="en-US" altLang="en-US" sz="800"/>
          </a:p>
          <a:p>
            <a:pPr>
              <a:buFont typeface="Wingdings" panose="05000000000000000000" pitchFamily="2" charset="2"/>
              <a:buChar char="Ø"/>
            </a:pPr>
            <a:r>
              <a:rPr lang="en-US" altLang="en-US" sz="2000"/>
              <a:t>The attacker can intercept keystrokes or mouse motions, upload and download files, and act as a system administrator would act. </a:t>
            </a:r>
          </a:p>
          <a:p>
            <a:pPr>
              <a:buFont typeface="Wingdings" panose="05000000000000000000" pitchFamily="2" charset="2"/>
              <a:buChar char="Ø"/>
            </a:pPr>
            <a:endParaRPr lang="en-US" altLang="en-US" sz="800"/>
          </a:p>
          <a:p>
            <a:pPr>
              <a:buFont typeface="Wingdings" panose="05000000000000000000" pitchFamily="2" charset="2"/>
              <a:buChar char="Ø"/>
            </a:pPr>
            <a:r>
              <a:rPr lang="en-US" altLang="en-US" sz="2000"/>
              <a:t>In order for this program to work, the victim Windows NT system must have a server with which the NetBus program can communicate. </a:t>
            </a:r>
          </a:p>
          <a:p>
            <a:pPr>
              <a:buFont typeface="Wingdings" panose="05000000000000000000" pitchFamily="2" charset="2"/>
              <a:buChar char="Ø"/>
            </a:pPr>
            <a:endParaRPr lang="en-US" altLang="en-US" sz="800"/>
          </a:p>
          <a:p>
            <a:pPr>
              <a:buFont typeface="Wingdings" panose="05000000000000000000" pitchFamily="2" charset="2"/>
              <a:buChar char="Ø"/>
            </a:pPr>
            <a:r>
              <a:rPr lang="en-US" altLang="en-US" sz="2000"/>
              <a:t>This requires someone on the victim's system to load and execute a small program that runs the server.</a:t>
            </a:r>
          </a:p>
          <a:p>
            <a:pPr>
              <a:buFont typeface="Wingdings" panose="05000000000000000000" pitchFamily="2" charset="2"/>
              <a:buChar char="Ø"/>
            </a:pPr>
            <a:endParaRPr lang="en-US" altLang="en-US" sz="800"/>
          </a:p>
          <a:p>
            <a:pPr>
              <a:buFont typeface="Wingdings" panose="05000000000000000000" pitchFamily="2" charset="2"/>
              <a:buChar char="Ø"/>
            </a:pPr>
            <a:r>
              <a:rPr lang="en-US" altLang="en-US" sz="2000"/>
              <a:t>This small program was placed in several small game programs as well as in some other "fun" programs, which could be distributed to Web sites where unsuspecting users would be likely to download them.</a:t>
            </a:r>
          </a:p>
          <a:p>
            <a:pPr>
              <a:buFont typeface="Wingdings" panose="05000000000000000000" pitchFamily="2" charset="2"/>
              <a:buChar char="Ø"/>
            </a:pPr>
            <a:endParaRPr lang="en-US" altLang="en-US" sz="2000"/>
          </a:p>
        </p:txBody>
      </p:sp>
    </p:spTree>
    <p:extLst>
      <p:ext uri="{BB962C8B-B14F-4D97-AF65-F5344CB8AC3E}">
        <p14:creationId xmlns:p14="http://schemas.microsoft.com/office/powerpoint/2010/main" val="2357956717"/>
      </p:ext>
    </p:extLst>
  </p:cSld>
  <p:clrMapOvr>
    <a:masterClrMapping/>
  </p:clrMapOvr>
  <p:transition spd="slow">
    <p:wipe dir="r"/>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AU" altLang="en-US" smtClean="0"/>
              <a:t>Example BO2k</a:t>
            </a:r>
          </a:p>
        </p:txBody>
      </p:sp>
      <p:sp>
        <p:nvSpPr>
          <p:cNvPr id="34819" name="Rectangle 3"/>
          <p:cNvSpPr>
            <a:spLocks noGrp="1" noChangeArrowheads="1"/>
          </p:cNvSpPr>
          <p:nvPr>
            <p:ph type="body" idx="1"/>
          </p:nvPr>
        </p:nvSpPr>
        <p:spPr/>
        <p:txBody>
          <a:bodyPr>
            <a:normAutofit fontScale="92500" lnSpcReduction="20000"/>
          </a:bodyPr>
          <a:lstStyle/>
          <a:p>
            <a:pPr eaLnBrk="1" hangingPunct="1">
              <a:lnSpc>
                <a:spcPct val="80000"/>
              </a:lnSpc>
            </a:pPr>
            <a:r>
              <a:rPr lang="en-AU" altLang="en-US" sz="2400"/>
              <a:t>Back Orifice 2000 or BO2K is one of the more well known Remote Access Trojans</a:t>
            </a:r>
          </a:p>
          <a:p>
            <a:pPr eaLnBrk="1" hangingPunct="1">
              <a:lnSpc>
                <a:spcPct val="80000"/>
              </a:lnSpc>
            </a:pPr>
            <a:r>
              <a:rPr lang="en-AU" altLang="en-US" sz="2400"/>
              <a:t>It is also distributed as a legitimate remote PC control tool</a:t>
            </a:r>
          </a:p>
          <a:p>
            <a:pPr eaLnBrk="1" hangingPunct="1">
              <a:lnSpc>
                <a:spcPct val="80000"/>
              </a:lnSpc>
            </a:pPr>
            <a:r>
              <a:rPr lang="en-AU" altLang="en-US" sz="2400"/>
              <a:t>Comes in 2 parts</a:t>
            </a:r>
          </a:p>
          <a:p>
            <a:pPr lvl="1" eaLnBrk="1" hangingPunct="1">
              <a:lnSpc>
                <a:spcPct val="80000"/>
              </a:lnSpc>
            </a:pPr>
            <a:r>
              <a:rPr lang="en-AU" altLang="en-US" sz="2000"/>
              <a:t>Server: Installed on the victim’s machine and actually executes the commands</a:t>
            </a:r>
          </a:p>
          <a:p>
            <a:pPr lvl="1" eaLnBrk="1" hangingPunct="1">
              <a:lnSpc>
                <a:spcPct val="80000"/>
              </a:lnSpc>
            </a:pPr>
            <a:r>
              <a:rPr lang="en-AU" altLang="en-US" sz="2000"/>
              <a:t>Client: Used by the attacker to communicate with and control the server</a:t>
            </a:r>
          </a:p>
          <a:p>
            <a:pPr lvl="1" eaLnBrk="1" hangingPunct="1">
              <a:lnSpc>
                <a:spcPct val="80000"/>
              </a:lnSpc>
            </a:pPr>
            <a:endParaRPr lang="en-AU" altLang="en-US" sz="2000"/>
          </a:p>
          <a:p>
            <a:pPr eaLnBrk="1" hangingPunct="1">
              <a:lnSpc>
                <a:spcPct val="80000"/>
              </a:lnSpc>
            </a:pPr>
            <a:r>
              <a:rPr lang="en-AU" altLang="en-US" sz="2400"/>
              <a:t>The next slide shows some screenshots of the configuration of BO2K</a:t>
            </a:r>
          </a:p>
          <a:p>
            <a:pPr eaLnBrk="1" hangingPunct="1">
              <a:lnSpc>
                <a:spcPct val="80000"/>
              </a:lnSpc>
            </a:pPr>
            <a:endParaRPr lang="en-AU" altLang="en-US" sz="2400"/>
          </a:p>
          <a:p>
            <a:pPr eaLnBrk="1" hangingPunct="1">
              <a:lnSpc>
                <a:spcPct val="80000"/>
              </a:lnSpc>
            </a:pPr>
            <a:r>
              <a:rPr lang="en-AU" altLang="en-US" sz="2400"/>
              <a:t>This configuration would take place before the attacker tries to get the server onto the victim’s machine</a:t>
            </a:r>
          </a:p>
        </p:txBody>
      </p:sp>
    </p:spTree>
    <p:extLst>
      <p:ext uri="{BB962C8B-B14F-4D97-AF65-F5344CB8AC3E}">
        <p14:creationId xmlns:p14="http://schemas.microsoft.com/office/powerpoint/2010/main" val="3687554873"/>
      </p:ext>
    </p:extLst>
  </p:cSld>
  <p:clrMapOvr>
    <a:masterClrMapping/>
  </p:clrMapOvr>
  <p:transition spd="slow">
    <p:wipe dir="r"/>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14" descr="FinalisingConfig"/>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2135188" y="981075"/>
            <a:ext cx="3886200" cy="3384550"/>
          </a:xfrm>
          <a:noFill/>
        </p:spPr>
      </p:pic>
      <p:pic>
        <p:nvPicPr>
          <p:cNvPr id="35843" name="Picture 16" descr="Connecting to Serve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167438" y="981076"/>
            <a:ext cx="3867150" cy="3400425"/>
          </a:xfrm>
          <a:noFill/>
        </p:spPr>
      </p:pic>
      <p:sp>
        <p:nvSpPr>
          <p:cNvPr id="35844" name="Text Box 19"/>
          <p:cNvSpPr txBox="1">
            <a:spLocks noChangeArrowheads="1"/>
          </p:cNvSpPr>
          <p:nvPr/>
        </p:nvSpPr>
        <p:spPr bwMode="auto">
          <a:xfrm>
            <a:off x="2135188" y="4510088"/>
            <a:ext cx="3529012"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o"/>
              <a:defRPr sz="2800">
                <a:solidFill>
                  <a:schemeClr val="folHlink"/>
                </a:solidFill>
                <a:latin typeface="Verdana" panose="020B0604030504040204" pitchFamily="34" charset="0"/>
                <a:cs typeface="Arial" panose="020B0604020202020204" pitchFamily="34" charset="0"/>
              </a:defRPr>
            </a:lvl1pPr>
            <a:lvl2pPr marL="742950" indent="-285750">
              <a:spcBef>
                <a:spcPct val="20000"/>
              </a:spcBef>
              <a:buClr>
                <a:schemeClr val="folHlink"/>
              </a:buClr>
              <a:buFont typeface="Wingdings" panose="05000000000000000000" pitchFamily="2" charset="2"/>
              <a:buChar char="n"/>
              <a:defRPr sz="2400">
                <a:solidFill>
                  <a:schemeClr val="folHlink"/>
                </a:solidFill>
                <a:latin typeface="Verdana" panose="020B0604030504040204" pitchFamily="34" charset="0"/>
                <a:cs typeface="Arial" panose="020B0604020202020204" pitchFamily="34" charset="0"/>
              </a:defRPr>
            </a:lvl2pPr>
            <a:lvl3pPr marL="1143000" indent="-228600">
              <a:spcBef>
                <a:spcPct val="20000"/>
              </a:spcBef>
              <a:buClr>
                <a:schemeClr val="folHlink"/>
              </a:buClr>
              <a:buFont typeface="Wingdings" panose="05000000000000000000" pitchFamily="2" charset="2"/>
              <a:buChar char="o"/>
              <a:defRPr sz="2000">
                <a:solidFill>
                  <a:schemeClr val="folHlink"/>
                </a:solidFill>
                <a:latin typeface="Verdana" panose="020B0604030504040204" pitchFamily="34" charset="0"/>
                <a:cs typeface="Arial" panose="020B0604020202020204" pitchFamily="34" charset="0"/>
              </a:defRPr>
            </a:lvl3pPr>
            <a:lvl4pPr marL="1600200" indent="-228600">
              <a:spcBef>
                <a:spcPct val="20000"/>
              </a:spcBef>
              <a:buClr>
                <a:schemeClr val="folHlink"/>
              </a:buClr>
              <a:buFont typeface="Wingdings" panose="05000000000000000000" pitchFamily="2" charset="2"/>
              <a:buChar char="n"/>
              <a:defRPr sz="2000">
                <a:solidFill>
                  <a:schemeClr val="folHlink"/>
                </a:solidFill>
                <a:latin typeface="Verdana" panose="020B0604030504040204" pitchFamily="34" charset="0"/>
                <a:cs typeface="Arial" panose="020B0604020202020204" pitchFamily="34" charset="0"/>
              </a:defRPr>
            </a:lvl4pPr>
            <a:lvl5pPr marL="2057400" indent="-228600">
              <a:spcBef>
                <a:spcPct val="25000"/>
              </a:spcBef>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5pPr>
            <a:lvl6pPr marL="25146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6pPr>
            <a:lvl7pPr marL="29718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7pPr>
            <a:lvl8pPr marL="34290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8pPr>
            <a:lvl9pPr marL="38862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9pPr>
          </a:lstStyle>
          <a:p>
            <a:pPr eaLnBrk="1" hangingPunct="1">
              <a:spcBef>
                <a:spcPct val="50000"/>
              </a:spcBef>
              <a:buClrTx/>
              <a:buFontTx/>
              <a:buNone/>
            </a:pPr>
            <a:r>
              <a:rPr lang="en-AU" altLang="en-US" sz="1800">
                <a:solidFill>
                  <a:schemeClr val="tx1"/>
                </a:solidFill>
                <a:latin typeface="Arial" panose="020B0604020202020204" pitchFamily="34" charset="0"/>
              </a:rPr>
              <a:t>Finalising the configuration of BO2K.  Note the Options to hide processes etc.  Once this is completed the attacker would try to get the server onto the victim’s system</a:t>
            </a:r>
          </a:p>
        </p:txBody>
      </p:sp>
      <p:sp>
        <p:nvSpPr>
          <p:cNvPr id="35845" name="Text Box 20"/>
          <p:cNvSpPr txBox="1">
            <a:spLocks noChangeArrowheads="1"/>
          </p:cNvSpPr>
          <p:nvPr/>
        </p:nvSpPr>
        <p:spPr bwMode="auto">
          <a:xfrm>
            <a:off x="6240463" y="4508500"/>
            <a:ext cx="352901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o"/>
              <a:defRPr sz="2800">
                <a:solidFill>
                  <a:schemeClr val="folHlink"/>
                </a:solidFill>
                <a:latin typeface="Verdana" panose="020B0604030504040204" pitchFamily="34" charset="0"/>
                <a:cs typeface="Arial" panose="020B0604020202020204" pitchFamily="34" charset="0"/>
              </a:defRPr>
            </a:lvl1pPr>
            <a:lvl2pPr marL="742950" indent="-285750">
              <a:spcBef>
                <a:spcPct val="20000"/>
              </a:spcBef>
              <a:buClr>
                <a:schemeClr val="folHlink"/>
              </a:buClr>
              <a:buFont typeface="Wingdings" panose="05000000000000000000" pitchFamily="2" charset="2"/>
              <a:buChar char="n"/>
              <a:defRPr sz="2400">
                <a:solidFill>
                  <a:schemeClr val="folHlink"/>
                </a:solidFill>
                <a:latin typeface="Verdana" panose="020B0604030504040204" pitchFamily="34" charset="0"/>
                <a:cs typeface="Arial" panose="020B0604020202020204" pitchFamily="34" charset="0"/>
              </a:defRPr>
            </a:lvl2pPr>
            <a:lvl3pPr marL="1143000" indent="-228600">
              <a:spcBef>
                <a:spcPct val="20000"/>
              </a:spcBef>
              <a:buClr>
                <a:schemeClr val="folHlink"/>
              </a:buClr>
              <a:buFont typeface="Wingdings" panose="05000000000000000000" pitchFamily="2" charset="2"/>
              <a:buChar char="o"/>
              <a:defRPr sz="2000">
                <a:solidFill>
                  <a:schemeClr val="folHlink"/>
                </a:solidFill>
                <a:latin typeface="Verdana" panose="020B0604030504040204" pitchFamily="34" charset="0"/>
                <a:cs typeface="Arial" panose="020B0604020202020204" pitchFamily="34" charset="0"/>
              </a:defRPr>
            </a:lvl3pPr>
            <a:lvl4pPr marL="1600200" indent="-228600">
              <a:spcBef>
                <a:spcPct val="20000"/>
              </a:spcBef>
              <a:buClr>
                <a:schemeClr val="folHlink"/>
              </a:buClr>
              <a:buFont typeface="Wingdings" panose="05000000000000000000" pitchFamily="2" charset="2"/>
              <a:buChar char="n"/>
              <a:defRPr sz="2000">
                <a:solidFill>
                  <a:schemeClr val="folHlink"/>
                </a:solidFill>
                <a:latin typeface="Verdana" panose="020B0604030504040204" pitchFamily="34" charset="0"/>
                <a:cs typeface="Arial" panose="020B0604020202020204" pitchFamily="34" charset="0"/>
              </a:defRPr>
            </a:lvl4pPr>
            <a:lvl5pPr marL="2057400" indent="-228600">
              <a:spcBef>
                <a:spcPct val="25000"/>
              </a:spcBef>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5pPr>
            <a:lvl6pPr marL="25146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6pPr>
            <a:lvl7pPr marL="29718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7pPr>
            <a:lvl8pPr marL="34290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8pPr>
            <a:lvl9pPr marL="38862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9pPr>
          </a:lstStyle>
          <a:p>
            <a:pPr eaLnBrk="1" hangingPunct="1">
              <a:spcBef>
                <a:spcPct val="50000"/>
              </a:spcBef>
              <a:buClrTx/>
              <a:buFontTx/>
              <a:buNone/>
            </a:pPr>
            <a:r>
              <a:rPr lang="en-AU" altLang="en-US" sz="1800">
                <a:solidFill>
                  <a:schemeClr val="tx1"/>
                </a:solidFill>
                <a:latin typeface="Arial" panose="020B0604020202020204" pitchFamily="34" charset="0"/>
              </a:rPr>
              <a:t>This shot shows the client about to connect to the server.</a:t>
            </a:r>
          </a:p>
        </p:txBody>
      </p:sp>
    </p:spTree>
    <p:extLst>
      <p:ext uri="{BB962C8B-B14F-4D97-AF65-F5344CB8AC3E}">
        <p14:creationId xmlns:p14="http://schemas.microsoft.com/office/powerpoint/2010/main" val="698880353"/>
      </p:ext>
    </p:extLst>
  </p:cSld>
  <p:clrMapOvr>
    <a:masterClrMapping/>
  </p:clrMapOvr>
  <p:transition spd="slow">
    <p:wipe dir="r"/>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13" descr="Client 1"/>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2098675" y="1052514"/>
            <a:ext cx="3517900" cy="3036887"/>
          </a:xfrm>
          <a:noFill/>
        </p:spPr>
      </p:pic>
      <p:pic>
        <p:nvPicPr>
          <p:cNvPr id="36867" name="Picture 14" descr="Fileop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2263" y="1052513"/>
            <a:ext cx="3511550" cy="304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8" name="Text Box 15"/>
          <p:cNvSpPr txBox="1">
            <a:spLocks noChangeArrowheads="1"/>
          </p:cNvSpPr>
          <p:nvPr/>
        </p:nvSpPr>
        <p:spPr bwMode="auto">
          <a:xfrm>
            <a:off x="2135188" y="4508501"/>
            <a:ext cx="80645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o"/>
              <a:defRPr sz="2800">
                <a:solidFill>
                  <a:schemeClr val="folHlink"/>
                </a:solidFill>
                <a:latin typeface="Verdana" panose="020B0604030504040204" pitchFamily="34" charset="0"/>
                <a:cs typeface="Arial" panose="020B0604020202020204" pitchFamily="34" charset="0"/>
              </a:defRPr>
            </a:lvl1pPr>
            <a:lvl2pPr marL="742950" indent="-285750">
              <a:spcBef>
                <a:spcPct val="20000"/>
              </a:spcBef>
              <a:buClr>
                <a:schemeClr val="folHlink"/>
              </a:buClr>
              <a:buFont typeface="Wingdings" panose="05000000000000000000" pitchFamily="2" charset="2"/>
              <a:buChar char="n"/>
              <a:defRPr sz="2400">
                <a:solidFill>
                  <a:schemeClr val="folHlink"/>
                </a:solidFill>
                <a:latin typeface="Verdana" panose="020B0604030504040204" pitchFamily="34" charset="0"/>
                <a:cs typeface="Arial" panose="020B0604020202020204" pitchFamily="34" charset="0"/>
              </a:defRPr>
            </a:lvl2pPr>
            <a:lvl3pPr marL="1143000" indent="-228600">
              <a:spcBef>
                <a:spcPct val="20000"/>
              </a:spcBef>
              <a:buClr>
                <a:schemeClr val="folHlink"/>
              </a:buClr>
              <a:buFont typeface="Wingdings" panose="05000000000000000000" pitchFamily="2" charset="2"/>
              <a:buChar char="o"/>
              <a:defRPr sz="2000">
                <a:solidFill>
                  <a:schemeClr val="folHlink"/>
                </a:solidFill>
                <a:latin typeface="Verdana" panose="020B0604030504040204" pitchFamily="34" charset="0"/>
                <a:cs typeface="Arial" panose="020B0604020202020204" pitchFamily="34" charset="0"/>
              </a:defRPr>
            </a:lvl3pPr>
            <a:lvl4pPr marL="1600200" indent="-228600">
              <a:spcBef>
                <a:spcPct val="20000"/>
              </a:spcBef>
              <a:buClr>
                <a:schemeClr val="folHlink"/>
              </a:buClr>
              <a:buFont typeface="Wingdings" panose="05000000000000000000" pitchFamily="2" charset="2"/>
              <a:buChar char="n"/>
              <a:defRPr sz="2000">
                <a:solidFill>
                  <a:schemeClr val="folHlink"/>
                </a:solidFill>
                <a:latin typeface="Verdana" panose="020B0604030504040204" pitchFamily="34" charset="0"/>
                <a:cs typeface="Arial" panose="020B0604020202020204" pitchFamily="34" charset="0"/>
              </a:defRPr>
            </a:lvl4pPr>
            <a:lvl5pPr marL="2057400" indent="-228600">
              <a:spcBef>
                <a:spcPct val="25000"/>
              </a:spcBef>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5pPr>
            <a:lvl6pPr marL="25146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6pPr>
            <a:lvl7pPr marL="29718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7pPr>
            <a:lvl8pPr marL="34290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8pPr>
            <a:lvl9pPr marL="38862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9pPr>
          </a:lstStyle>
          <a:p>
            <a:pPr eaLnBrk="1" hangingPunct="1">
              <a:spcBef>
                <a:spcPct val="50000"/>
              </a:spcBef>
              <a:buClrTx/>
              <a:buFontTx/>
              <a:buNone/>
            </a:pPr>
            <a:r>
              <a:rPr lang="en-AU" altLang="en-US" sz="1800">
                <a:solidFill>
                  <a:schemeClr val="tx1"/>
                </a:solidFill>
                <a:latin typeface="Arial" panose="020B0604020202020204" pitchFamily="34" charset="0"/>
              </a:rPr>
              <a:t>These shots show the BO2K client.  The shot on the left shows the categories of the commands that can be executed. </a:t>
            </a:r>
          </a:p>
          <a:p>
            <a:pPr eaLnBrk="1" hangingPunct="1">
              <a:spcBef>
                <a:spcPct val="50000"/>
              </a:spcBef>
              <a:buClrTx/>
              <a:buFontTx/>
              <a:buNone/>
            </a:pPr>
            <a:r>
              <a:rPr lang="en-AU" altLang="en-US" sz="1800">
                <a:solidFill>
                  <a:schemeClr val="tx1"/>
                </a:solidFill>
                <a:latin typeface="Arial" panose="020B0604020202020204" pitchFamily="34" charset="0"/>
              </a:rPr>
              <a:t>In the shot on the right, the File/Directory has an expanded branch to give the idea of the sorts of file commands that an attacker could execute on the target machine.</a:t>
            </a:r>
          </a:p>
        </p:txBody>
      </p:sp>
    </p:spTree>
    <p:extLst>
      <p:ext uri="{BB962C8B-B14F-4D97-AF65-F5344CB8AC3E}">
        <p14:creationId xmlns:p14="http://schemas.microsoft.com/office/powerpoint/2010/main" val="3720193200"/>
      </p:ext>
    </p:extLst>
  </p:cSld>
  <p:clrMapOvr>
    <a:masterClrMapping/>
  </p:clrMapOvr>
  <p:transition spd="slow">
    <p:wipe dir="r"/>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9"/>
          <p:cNvSpPr txBox="1">
            <a:spLocks noChangeArrowheads="1"/>
          </p:cNvSpPr>
          <p:nvPr/>
        </p:nvSpPr>
        <p:spPr bwMode="auto">
          <a:xfrm>
            <a:off x="2208213" y="4005264"/>
            <a:ext cx="8064500" cy="176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o"/>
              <a:defRPr sz="2800">
                <a:solidFill>
                  <a:schemeClr val="folHlink"/>
                </a:solidFill>
                <a:latin typeface="Verdana" panose="020B0604030504040204" pitchFamily="34" charset="0"/>
                <a:cs typeface="Arial" panose="020B0604020202020204" pitchFamily="34" charset="0"/>
              </a:defRPr>
            </a:lvl1pPr>
            <a:lvl2pPr marL="742950" indent="-285750">
              <a:spcBef>
                <a:spcPct val="20000"/>
              </a:spcBef>
              <a:buClr>
                <a:schemeClr val="folHlink"/>
              </a:buClr>
              <a:buFont typeface="Wingdings" panose="05000000000000000000" pitchFamily="2" charset="2"/>
              <a:buChar char="n"/>
              <a:defRPr sz="2400">
                <a:solidFill>
                  <a:schemeClr val="folHlink"/>
                </a:solidFill>
                <a:latin typeface="Verdana" panose="020B0604030504040204" pitchFamily="34" charset="0"/>
                <a:cs typeface="Arial" panose="020B0604020202020204" pitchFamily="34" charset="0"/>
              </a:defRPr>
            </a:lvl2pPr>
            <a:lvl3pPr marL="1143000" indent="-228600">
              <a:spcBef>
                <a:spcPct val="20000"/>
              </a:spcBef>
              <a:buClr>
                <a:schemeClr val="folHlink"/>
              </a:buClr>
              <a:buFont typeface="Wingdings" panose="05000000000000000000" pitchFamily="2" charset="2"/>
              <a:buChar char="o"/>
              <a:defRPr sz="2000">
                <a:solidFill>
                  <a:schemeClr val="folHlink"/>
                </a:solidFill>
                <a:latin typeface="Verdana" panose="020B0604030504040204" pitchFamily="34" charset="0"/>
                <a:cs typeface="Arial" panose="020B0604020202020204" pitchFamily="34" charset="0"/>
              </a:defRPr>
            </a:lvl3pPr>
            <a:lvl4pPr marL="1600200" indent="-228600">
              <a:spcBef>
                <a:spcPct val="20000"/>
              </a:spcBef>
              <a:buClr>
                <a:schemeClr val="folHlink"/>
              </a:buClr>
              <a:buFont typeface="Wingdings" panose="05000000000000000000" pitchFamily="2" charset="2"/>
              <a:buChar char="n"/>
              <a:defRPr sz="2000">
                <a:solidFill>
                  <a:schemeClr val="folHlink"/>
                </a:solidFill>
                <a:latin typeface="Verdana" panose="020B0604030504040204" pitchFamily="34" charset="0"/>
                <a:cs typeface="Arial" panose="020B0604020202020204" pitchFamily="34" charset="0"/>
              </a:defRPr>
            </a:lvl4pPr>
            <a:lvl5pPr marL="2057400" indent="-228600">
              <a:spcBef>
                <a:spcPct val="25000"/>
              </a:spcBef>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5pPr>
            <a:lvl6pPr marL="25146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6pPr>
            <a:lvl7pPr marL="29718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7pPr>
            <a:lvl8pPr marL="34290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8pPr>
            <a:lvl9pPr marL="3886200" indent="-228600" eaLnBrk="0" fontAlgn="base" hangingPunct="0">
              <a:spcBef>
                <a:spcPct val="25000"/>
              </a:spcBef>
              <a:spcAft>
                <a:spcPct val="0"/>
              </a:spcAft>
              <a:buClr>
                <a:schemeClr val="folHlink"/>
              </a:buClr>
              <a:buFont typeface="Wingdings" panose="05000000000000000000" pitchFamily="2" charset="2"/>
              <a:buChar char="§"/>
              <a:defRPr sz="1600">
                <a:solidFill>
                  <a:schemeClr val="folHlink"/>
                </a:solidFill>
                <a:latin typeface="Verdana" panose="020B0604030504040204" pitchFamily="34" charset="0"/>
                <a:cs typeface="Arial" panose="020B0604020202020204" pitchFamily="34" charset="0"/>
              </a:defRPr>
            </a:lvl9pPr>
          </a:lstStyle>
          <a:p>
            <a:pPr eaLnBrk="1" hangingPunct="1">
              <a:spcBef>
                <a:spcPct val="50000"/>
              </a:spcBef>
              <a:buClrTx/>
              <a:buFontTx/>
              <a:buNone/>
            </a:pPr>
            <a:r>
              <a:rPr lang="en-AU" altLang="en-US" sz="2000">
                <a:solidFill>
                  <a:schemeClr val="tx1"/>
                </a:solidFill>
                <a:latin typeface="Arial" panose="020B0604020202020204" pitchFamily="34" charset="0"/>
              </a:rPr>
              <a:t>In these screenshots some of the other branches have been expanded  to give the an idea of how powerful an attack tool BO2K can be.  Can you see the possibilities for an attacker here?</a:t>
            </a:r>
          </a:p>
          <a:p>
            <a:pPr eaLnBrk="1" hangingPunct="1">
              <a:spcBef>
                <a:spcPct val="50000"/>
              </a:spcBef>
              <a:buClrTx/>
              <a:buFontTx/>
              <a:buNone/>
            </a:pPr>
            <a:r>
              <a:rPr lang="en-AU" altLang="en-US" sz="2000">
                <a:solidFill>
                  <a:schemeClr val="tx1"/>
                </a:solidFill>
                <a:latin typeface="Arial" panose="020B0604020202020204" pitchFamily="34" charset="0"/>
              </a:rPr>
              <a:t>Just a word of warning: Do NOT try this in a public domain and definitely do NOT do this on MU systems.</a:t>
            </a:r>
          </a:p>
        </p:txBody>
      </p:sp>
      <p:pic>
        <p:nvPicPr>
          <p:cNvPr id="37891" name="Picture 11" descr="System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0325" y="2205038"/>
            <a:ext cx="2446338"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2" name="Picture 12" descr="KeyLogging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0325" y="765175"/>
            <a:ext cx="2446338"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3" name="Picture 13" descr="Multimedia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6139" y="765175"/>
            <a:ext cx="2460625"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4" name="Picture 14" descr="Reg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74825" y="765175"/>
            <a:ext cx="2446338" cy="221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42123393"/>
      </p:ext>
    </p:extLst>
  </p:cSld>
  <p:clrMapOvr>
    <a:masterClrMapping/>
  </p:clrMapOvr>
  <p:transition spd="slow">
    <p:wipe dir="r"/>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AU" altLang="en-US" smtClean="0"/>
              <a:t>Trojans                              cont./</a:t>
            </a:r>
          </a:p>
        </p:txBody>
      </p:sp>
      <p:sp>
        <p:nvSpPr>
          <p:cNvPr id="38915" name="Rectangle 3"/>
          <p:cNvSpPr>
            <a:spLocks noGrp="1" noChangeArrowheads="1"/>
          </p:cNvSpPr>
          <p:nvPr>
            <p:ph type="body" idx="1"/>
          </p:nvPr>
        </p:nvSpPr>
        <p:spPr/>
        <p:txBody>
          <a:bodyPr/>
          <a:lstStyle/>
          <a:p>
            <a:pPr eaLnBrk="1" hangingPunct="1"/>
            <a:r>
              <a:rPr lang="en-AU" altLang="en-US" smtClean="0"/>
              <a:t>Trojans generally offer an attacker the ability to conduct a highly specific attack</a:t>
            </a:r>
          </a:p>
          <a:p>
            <a:pPr lvl="1" eaLnBrk="1" hangingPunct="1"/>
            <a:endParaRPr lang="en-AU" altLang="en-US" smtClean="0"/>
          </a:p>
          <a:p>
            <a:pPr lvl="1" eaLnBrk="1" hangingPunct="1"/>
            <a:r>
              <a:rPr lang="en-AU" altLang="en-US" smtClean="0"/>
              <a:t>Viruses and worms tend to have much more generic payloads</a:t>
            </a:r>
          </a:p>
          <a:p>
            <a:pPr lvl="1" eaLnBrk="1" hangingPunct="1"/>
            <a:endParaRPr lang="en-AU" altLang="en-US" smtClean="0"/>
          </a:p>
          <a:p>
            <a:pPr lvl="1" eaLnBrk="1" hangingPunct="1"/>
            <a:r>
              <a:rPr lang="en-AU" altLang="en-US" smtClean="0"/>
              <a:t>Trojans, particularly RATs can allow an attacker almost complete control of a system</a:t>
            </a:r>
          </a:p>
          <a:p>
            <a:pPr lvl="1" eaLnBrk="1" hangingPunct="1"/>
            <a:endParaRPr lang="en-AU" altLang="en-US" smtClean="0"/>
          </a:p>
          <a:p>
            <a:pPr lvl="1" eaLnBrk="1" hangingPunct="1"/>
            <a:r>
              <a:rPr lang="en-AU" altLang="en-US" smtClean="0"/>
              <a:t>The attacker could then capture keystrokes, look for a specific file etc</a:t>
            </a:r>
          </a:p>
        </p:txBody>
      </p:sp>
    </p:spTree>
    <p:extLst>
      <p:ext uri="{BB962C8B-B14F-4D97-AF65-F5344CB8AC3E}">
        <p14:creationId xmlns:p14="http://schemas.microsoft.com/office/powerpoint/2010/main" val="4284277605"/>
      </p:ext>
    </p:extLst>
  </p:cSld>
  <p:clrMapOvr>
    <a:masterClrMapping/>
  </p:clrMapOvr>
  <p:transition spd="slow">
    <p:wipe dir="r"/>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AU" altLang="en-US" smtClean="0"/>
              <a:t>Rootkits</a:t>
            </a:r>
          </a:p>
        </p:txBody>
      </p:sp>
      <p:sp>
        <p:nvSpPr>
          <p:cNvPr id="39939" name="Rectangle 3"/>
          <p:cNvSpPr>
            <a:spLocks noGrp="1" noChangeArrowheads="1"/>
          </p:cNvSpPr>
          <p:nvPr>
            <p:ph type="body" idx="1"/>
          </p:nvPr>
        </p:nvSpPr>
        <p:spPr/>
        <p:txBody>
          <a:bodyPr/>
          <a:lstStyle/>
          <a:p>
            <a:pPr eaLnBrk="1" hangingPunct="1">
              <a:lnSpc>
                <a:spcPct val="90000"/>
              </a:lnSpc>
            </a:pPr>
            <a:r>
              <a:rPr lang="en-AU" altLang="en-US" smtClean="0"/>
              <a:t>Modified versions of system components are covertly installed on a system</a:t>
            </a:r>
          </a:p>
          <a:p>
            <a:pPr eaLnBrk="1" hangingPunct="1">
              <a:lnSpc>
                <a:spcPct val="90000"/>
              </a:lnSpc>
            </a:pPr>
            <a:endParaRPr lang="en-AU" altLang="en-US" smtClean="0"/>
          </a:p>
          <a:p>
            <a:pPr eaLnBrk="1" hangingPunct="1">
              <a:lnSpc>
                <a:spcPct val="90000"/>
              </a:lnSpc>
            </a:pPr>
            <a:r>
              <a:rPr lang="en-AU" altLang="en-US" smtClean="0"/>
              <a:t>Should rootkits be considered a subset of trojans or another form of malware in their own right?</a:t>
            </a:r>
          </a:p>
        </p:txBody>
      </p:sp>
    </p:spTree>
    <p:extLst>
      <p:ext uri="{BB962C8B-B14F-4D97-AF65-F5344CB8AC3E}">
        <p14:creationId xmlns:p14="http://schemas.microsoft.com/office/powerpoint/2010/main" val="3374674043"/>
      </p:ext>
    </p:extLst>
  </p:cSld>
  <p:clrMapOvr>
    <a:masterClrMapping/>
  </p:clrMapOvr>
  <p:transition spd="slow">
    <p:wipe dir="r"/>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AU" altLang="en-US" smtClean="0"/>
              <a:t>Rootkits</a:t>
            </a:r>
          </a:p>
        </p:txBody>
      </p:sp>
      <p:sp>
        <p:nvSpPr>
          <p:cNvPr id="40963" name="Rectangle 3"/>
          <p:cNvSpPr>
            <a:spLocks noGrp="1" noChangeArrowheads="1"/>
          </p:cNvSpPr>
          <p:nvPr>
            <p:ph type="body" idx="1"/>
          </p:nvPr>
        </p:nvSpPr>
        <p:spPr/>
        <p:txBody>
          <a:bodyPr/>
          <a:lstStyle/>
          <a:p>
            <a:pPr eaLnBrk="1" hangingPunct="1">
              <a:lnSpc>
                <a:spcPct val="90000"/>
              </a:lnSpc>
            </a:pPr>
            <a:r>
              <a:rPr lang="en-AU" altLang="en-US" smtClean="0"/>
              <a:t>Often target Linux machines</a:t>
            </a:r>
          </a:p>
          <a:p>
            <a:pPr eaLnBrk="1" hangingPunct="1">
              <a:lnSpc>
                <a:spcPct val="90000"/>
              </a:lnSpc>
            </a:pPr>
            <a:endParaRPr lang="en-AU" altLang="en-US" smtClean="0"/>
          </a:p>
          <a:p>
            <a:pPr eaLnBrk="1" hangingPunct="1">
              <a:lnSpc>
                <a:spcPct val="90000"/>
              </a:lnSpc>
            </a:pPr>
            <a:r>
              <a:rPr lang="en-AU" altLang="en-US" smtClean="0"/>
              <a:t>But Windows versions are certainly a possibility</a:t>
            </a:r>
          </a:p>
          <a:p>
            <a:pPr lvl="1" eaLnBrk="1" hangingPunct="1">
              <a:lnSpc>
                <a:spcPct val="90000"/>
              </a:lnSpc>
            </a:pPr>
            <a:r>
              <a:rPr lang="en-AU" altLang="en-US" smtClean="0"/>
              <a:t>Rtkit</a:t>
            </a:r>
          </a:p>
          <a:p>
            <a:pPr eaLnBrk="1" hangingPunct="1">
              <a:lnSpc>
                <a:spcPct val="90000"/>
              </a:lnSpc>
            </a:pPr>
            <a:r>
              <a:rPr lang="en-AU" altLang="en-US" smtClean="0"/>
              <a:t>Some operate as Loadable Kernel Modules (LKM)</a:t>
            </a:r>
          </a:p>
          <a:p>
            <a:pPr lvl="1" eaLnBrk="1" hangingPunct="1">
              <a:lnSpc>
                <a:spcPct val="90000"/>
              </a:lnSpc>
            </a:pPr>
            <a:r>
              <a:rPr lang="en-AU" altLang="en-US" smtClean="0"/>
              <a:t>Code that extends the OS kernel itself</a:t>
            </a:r>
          </a:p>
          <a:p>
            <a:pPr lvl="1" eaLnBrk="1" hangingPunct="1">
              <a:lnSpc>
                <a:spcPct val="90000"/>
              </a:lnSpc>
            </a:pPr>
            <a:r>
              <a:rPr lang="en-AU" altLang="en-US" smtClean="0"/>
              <a:t>This type of rootkits is especially dangerous</a:t>
            </a:r>
          </a:p>
          <a:p>
            <a:pPr lvl="1" eaLnBrk="1" hangingPunct="1">
              <a:lnSpc>
                <a:spcPct val="90000"/>
              </a:lnSpc>
            </a:pPr>
            <a:endParaRPr lang="en-AU" altLang="en-US"/>
          </a:p>
        </p:txBody>
      </p:sp>
    </p:spTree>
    <p:extLst>
      <p:ext uri="{BB962C8B-B14F-4D97-AF65-F5344CB8AC3E}">
        <p14:creationId xmlns:p14="http://schemas.microsoft.com/office/powerpoint/2010/main" val="3191714192"/>
      </p:ext>
    </p:extLst>
  </p:cSld>
  <p:clrMapOvr>
    <a:masterClrMapping/>
  </p:clrMapOvr>
  <p:transition spd="slow">
    <p:wipe dir="r"/>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AU" altLang="en-US" smtClean="0"/>
              <a:t>Rootkit Countermeasures</a:t>
            </a:r>
          </a:p>
        </p:txBody>
      </p:sp>
      <p:sp>
        <p:nvSpPr>
          <p:cNvPr id="41987" name="Rectangle 3"/>
          <p:cNvSpPr>
            <a:spLocks noGrp="1" noChangeArrowheads="1"/>
          </p:cNvSpPr>
          <p:nvPr>
            <p:ph type="body" idx="1"/>
          </p:nvPr>
        </p:nvSpPr>
        <p:spPr/>
        <p:txBody>
          <a:bodyPr/>
          <a:lstStyle/>
          <a:p>
            <a:pPr eaLnBrk="1" hangingPunct="1"/>
            <a:r>
              <a:rPr lang="en-AU" altLang="en-US" smtClean="0"/>
              <a:t>chkrootkit – a detection tool for Linux systems</a:t>
            </a:r>
          </a:p>
          <a:p>
            <a:pPr lvl="1" eaLnBrk="1" hangingPunct="1"/>
            <a:r>
              <a:rPr lang="en-AU" altLang="en-US" smtClean="0">
                <a:hlinkClick r:id="rId2"/>
              </a:rPr>
              <a:t>http://www.chkrootkit.org/</a:t>
            </a:r>
            <a:endParaRPr lang="en-AU" altLang="en-US" smtClean="0"/>
          </a:p>
          <a:p>
            <a:pPr eaLnBrk="1" hangingPunct="1"/>
            <a:r>
              <a:rPr lang="en-AU" altLang="en-US" smtClean="0"/>
              <a:t>System Integrity Verifiers</a:t>
            </a:r>
          </a:p>
          <a:p>
            <a:pPr lvl="1" eaLnBrk="1" hangingPunct="1"/>
            <a:r>
              <a:rPr lang="en-AU" altLang="en-US" smtClean="0"/>
              <a:t>A type of Intrusion Detection System (IDS) that uses cryptographic hash functions to test the integrity of files</a:t>
            </a:r>
          </a:p>
          <a:p>
            <a:pPr lvl="1" eaLnBrk="1" hangingPunct="1"/>
            <a:r>
              <a:rPr lang="en-AU" altLang="en-US" smtClean="0"/>
              <a:t>Users could also manually use hash functions to check the integrity of files</a:t>
            </a:r>
          </a:p>
        </p:txBody>
      </p:sp>
    </p:spTree>
    <p:extLst>
      <p:ext uri="{BB962C8B-B14F-4D97-AF65-F5344CB8AC3E}">
        <p14:creationId xmlns:p14="http://schemas.microsoft.com/office/powerpoint/2010/main" val="2120652241"/>
      </p:ext>
    </p:extLst>
  </p:cSld>
  <p:clrMapOvr>
    <a:masterClrMapping/>
  </p:clrMapOvr>
  <p:transition spd="slow">
    <p:wipe dir="r"/>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AU" altLang="en-US" smtClean="0"/>
              <a:t>Spyware</a:t>
            </a:r>
          </a:p>
        </p:txBody>
      </p:sp>
      <p:sp>
        <p:nvSpPr>
          <p:cNvPr id="43011" name="Rectangle 3"/>
          <p:cNvSpPr>
            <a:spLocks noGrp="1" noChangeArrowheads="1"/>
          </p:cNvSpPr>
          <p:nvPr>
            <p:ph type="body" idx="1"/>
          </p:nvPr>
        </p:nvSpPr>
        <p:spPr/>
        <p:txBody>
          <a:bodyPr>
            <a:normAutofit fontScale="85000" lnSpcReduction="10000"/>
          </a:bodyPr>
          <a:lstStyle/>
          <a:p>
            <a:pPr eaLnBrk="1" hangingPunct="1">
              <a:lnSpc>
                <a:spcPct val="90000"/>
              </a:lnSpc>
            </a:pPr>
            <a:r>
              <a:rPr lang="en-AU" altLang="en-US" sz="2000"/>
              <a:t>Additional components that get installed along with a legitimate program</a:t>
            </a:r>
          </a:p>
          <a:p>
            <a:pPr eaLnBrk="1" hangingPunct="1">
              <a:lnSpc>
                <a:spcPct val="90000"/>
              </a:lnSpc>
            </a:pPr>
            <a:endParaRPr lang="en-AU" altLang="en-US" sz="2000"/>
          </a:p>
          <a:p>
            <a:pPr eaLnBrk="1" hangingPunct="1">
              <a:lnSpc>
                <a:spcPct val="90000"/>
              </a:lnSpc>
            </a:pPr>
            <a:r>
              <a:rPr lang="en-AU" altLang="en-US" sz="2000"/>
              <a:t>These components might gather statistics and send them back to the developers of the spyware components, but there are other types of spyware as well</a:t>
            </a:r>
          </a:p>
          <a:p>
            <a:pPr eaLnBrk="1" hangingPunct="1">
              <a:lnSpc>
                <a:spcPct val="90000"/>
              </a:lnSpc>
            </a:pPr>
            <a:endParaRPr lang="en-AU" altLang="en-US" sz="2000"/>
          </a:p>
          <a:p>
            <a:pPr eaLnBrk="1" hangingPunct="1">
              <a:lnSpc>
                <a:spcPct val="90000"/>
              </a:lnSpc>
            </a:pPr>
            <a:r>
              <a:rPr lang="en-AU" altLang="en-US" sz="2000"/>
              <a:t>There are a number of spyware removal tools available</a:t>
            </a:r>
          </a:p>
          <a:p>
            <a:pPr lvl="1" eaLnBrk="1" hangingPunct="1">
              <a:lnSpc>
                <a:spcPct val="90000"/>
              </a:lnSpc>
            </a:pPr>
            <a:r>
              <a:rPr lang="en-AU" altLang="en-US" sz="1800"/>
              <a:t>Spybot Search and Destroy, Ad-aware and others</a:t>
            </a:r>
          </a:p>
          <a:p>
            <a:pPr lvl="1" eaLnBrk="1" hangingPunct="1">
              <a:lnSpc>
                <a:spcPct val="90000"/>
              </a:lnSpc>
            </a:pPr>
            <a:endParaRPr lang="en-AU" altLang="en-US" sz="1800"/>
          </a:p>
          <a:p>
            <a:pPr eaLnBrk="1" hangingPunct="1">
              <a:lnSpc>
                <a:spcPct val="90000"/>
              </a:lnSpc>
            </a:pPr>
            <a:r>
              <a:rPr lang="en-AU" altLang="en-US" sz="2000"/>
              <a:t>There have been claims that some programs containing spyware have tried to look for the present of Ad-aware and then uninstall it before installing the spyware</a:t>
            </a:r>
          </a:p>
          <a:p>
            <a:pPr eaLnBrk="1" hangingPunct="1">
              <a:lnSpc>
                <a:spcPct val="90000"/>
              </a:lnSpc>
              <a:buFont typeface="Wingdings" panose="05000000000000000000" pitchFamily="2" charset="2"/>
              <a:buNone/>
            </a:pPr>
            <a:endParaRPr lang="en-AU" altLang="en-US" sz="2000"/>
          </a:p>
          <a:p>
            <a:pPr eaLnBrk="1" hangingPunct="1">
              <a:lnSpc>
                <a:spcPct val="90000"/>
              </a:lnSpc>
            </a:pPr>
            <a:r>
              <a:rPr lang="en-AU" altLang="en-US" sz="1400"/>
              <a:t>See http://www.spywareguide.com/category_list_full.php</a:t>
            </a:r>
          </a:p>
        </p:txBody>
      </p:sp>
    </p:spTree>
    <p:extLst>
      <p:ext uri="{BB962C8B-B14F-4D97-AF65-F5344CB8AC3E}">
        <p14:creationId xmlns:p14="http://schemas.microsoft.com/office/powerpoint/2010/main" val="3369450351"/>
      </p:ext>
    </p:extLst>
  </p:cSld>
  <p:clrMapOvr>
    <a:masterClrMapping/>
  </p:clrMapOvr>
  <p:transition spd="slow">
    <p:wipe dir="r"/>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en-AU" altLang="en-US" smtClean="0"/>
              <a:t>Others</a:t>
            </a:r>
          </a:p>
        </p:txBody>
      </p:sp>
      <p:sp>
        <p:nvSpPr>
          <p:cNvPr id="44035" name="Rectangle 3"/>
          <p:cNvSpPr>
            <a:spLocks noGrp="1" noChangeArrowheads="1"/>
          </p:cNvSpPr>
          <p:nvPr>
            <p:ph type="body" idx="1"/>
          </p:nvPr>
        </p:nvSpPr>
        <p:spPr/>
        <p:txBody>
          <a:bodyPr/>
          <a:lstStyle/>
          <a:p>
            <a:pPr eaLnBrk="1" hangingPunct="1"/>
            <a:r>
              <a:rPr lang="en-AU" altLang="en-US" smtClean="0"/>
              <a:t>Trapdoors/backdoors</a:t>
            </a:r>
          </a:p>
          <a:p>
            <a:pPr lvl="1" eaLnBrk="1" hangingPunct="1"/>
            <a:r>
              <a:rPr lang="en-AU" altLang="en-US" smtClean="0"/>
              <a:t>Could be deliberately written into software at the development stage</a:t>
            </a:r>
          </a:p>
          <a:p>
            <a:pPr lvl="1" eaLnBrk="1" hangingPunct="1"/>
            <a:r>
              <a:rPr lang="en-AU" altLang="en-US" smtClean="0"/>
              <a:t>May be deliberately or accidentally left in</a:t>
            </a:r>
          </a:p>
          <a:p>
            <a:pPr lvl="1" eaLnBrk="1" hangingPunct="1"/>
            <a:r>
              <a:rPr lang="en-AU" altLang="en-US" smtClean="0"/>
              <a:t>Could allow unauthorised/unauthenticated access</a:t>
            </a:r>
          </a:p>
          <a:p>
            <a:pPr eaLnBrk="1" hangingPunct="1"/>
            <a:r>
              <a:rPr lang="en-AU" altLang="en-US" smtClean="0"/>
              <a:t>Bacteria/Rabbits</a:t>
            </a:r>
          </a:p>
          <a:p>
            <a:pPr lvl="1" eaLnBrk="1" hangingPunct="1"/>
            <a:r>
              <a:rPr lang="en-AU" altLang="en-US" smtClean="0"/>
              <a:t>Programs that replicate and consume system resources, but do not have any other hostile intent</a:t>
            </a:r>
          </a:p>
          <a:p>
            <a:pPr eaLnBrk="1" hangingPunct="1"/>
            <a:endParaRPr lang="en-AU" altLang="en-US" smtClean="0"/>
          </a:p>
        </p:txBody>
      </p:sp>
    </p:spTree>
    <p:extLst>
      <p:ext uri="{BB962C8B-B14F-4D97-AF65-F5344CB8AC3E}">
        <p14:creationId xmlns:p14="http://schemas.microsoft.com/office/powerpoint/2010/main" val="3970722612"/>
      </p:ext>
    </p:extLst>
  </p:cSld>
  <p:clrMapOvr>
    <a:masterClrMapping/>
  </p:clrMapOvr>
  <p:transition spd="slow">
    <p:wipe dir="r"/>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r>
              <a:rPr lang="en-US" altLang="en-US" smtClean="0"/>
              <a:t>Cryptovirology</a:t>
            </a:r>
          </a:p>
        </p:txBody>
      </p:sp>
      <p:sp>
        <p:nvSpPr>
          <p:cNvPr id="45059" name="Content Placeholder 2"/>
          <p:cNvSpPr>
            <a:spLocks noGrp="1"/>
          </p:cNvSpPr>
          <p:nvPr>
            <p:ph idx="1"/>
          </p:nvPr>
        </p:nvSpPr>
        <p:spPr/>
        <p:txBody>
          <a:bodyPr/>
          <a:lstStyle/>
          <a:p>
            <a:r>
              <a:rPr lang="en-US" altLang="en-US" smtClean="0"/>
              <a:t>studies how to use cryptography to design powerful malicious software.</a:t>
            </a:r>
          </a:p>
          <a:p>
            <a:endParaRPr lang="en-US" altLang="en-US" smtClean="0"/>
          </a:p>
          <a:p>
            <a:r>
              <a:rPr lang="en-US" altLang="en-US" smtClean="0"/>
              <a:t>Traditionally, cryptography is defensive and provides privacy, authentication etc</a:t>
            </a:r>
          </a:p>
          <a:p>
            <a:endParaRPr lang="en-US" altLang="en-US" smtClean="0"/>
          </a:p>
          <a:p>
            <a:r>
              <a:rPr lang="en-US" altLang="en-US" smtClean="0"/>
              <a:t>The use of  public key allows the malware to perform trapdoor one-way operations on the victim's computer that only the attacker can undo.</a:t>
            </a:r>
          </a:p>
        </p:txBody>
      </p:sp>
    </p:spTree>
    <p:extLst>
      <p:ext uri="{BB962C8B-B14F-4D97-AF65-F5344CB8AC3E}">
        <p14:creationId xmlns:p14="http://schemas.microsoft.com/office/powerpoint/2010/main" val="2869152077"/>
      </p:ext>
    </p:extLst>
  </p:cSld>
  <p:clrMapOvr>
    <a:masterClrMapping/>
  </p:clrMapOvr>
  <p:transition spd="slow">
    <p:wipe dir="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endParaRPr lang="en-US" altLang="en-US" smtClean="0"/>
          </a:p>
        </p:txBody>
      </p:sp>
      <p:sp>
        <p:nvSpPr>
          <p:cNvPr id="46083" name="Content Placeholder 2"/>
          <p:cNvSpPr>
            <a:spLocks noGrp="1"/>
          </p:cNvSpPr>
          <p:nvPr>
            <p:ph idx="1"/>
          </p:nvPr>
        </p:nvSpPr>
        <p:spPr/>
        <p:txBody>
          <a:bodyPr/>
          <a:lstStyle/>
          <a:p>
            <a:r>
              <a:rPr lang="en-US" altLang="en-US" b="1" smtClean="0"/>
              <a:t>Ransomware</a:t>
            </a:r>
            <a:r>
              <a:rPr lang="en-US" altLang="en-US" smtClean="0"/>
              <a:t> virus, </a:t>
            </a:r>
            <a:r>
              <a:rPr lang="en-US" altLang="en-US" b="1" smtClean="0"/>
              <a:t>cryptovirus</a:t>
            </a:r>
            <a:r>
              <a:rPr lang="en-US" altLang="en-US" smtClean="0"/>
              <a:t>, </a:t>
            </a:r>
            <a:r>
              <a:rPr lang="en-US" altLang="en-US" b="1" smtClean="0"/>
              <a:t>cryptotrojan</a:t>
            </a:r>
            <a:r>
              <a:rPr lang="en-US" altLang="en-US" smtClean="0"/>
              <a:t>, </a:t>
            </a:r>
            <a:r>
              <a:rPr lang="en-US" altLang="en-US" b="1" smtClean="0"/>
              <a:t>lockvirus</a:t>
            </a:r>
            <a:r>
              <a:rPr lang="en-US" altLang="en-US" smtClean="0"/>
              <a:t> or </a:t>
            </a:r>
            <a:r>
              <a:rPr lang="en-US" altLang="en-US" b="1" smtClean="0"/>
              <a:t>cryptoworm</a:t>
            </a:r>
          </a:p>
          <a:p>
            <a:pPr lvl="1"/>
            <a:r>
              <a:rPr lang="en-US" altLang="en-US" smtClean="0"/>
              <a:t> a type of malware that encrypts the data and demanding a ransom for its restoration.</a:t>
            </a:r>
          </a:p>
          <a:p>
            <a:r>
              <a:rPr lang="en-US" altLang="en-US" b="1" i="1" smtClean="0"/>
              <a:t>CryptoLocker</a:t>
            </a:r>
            <a:r>
              <a:rPr lang="en-US" altLang="en-US" smtClean="0"/>
              <a:t> in 2013 generated a 2048-bit RSA key pair encrypted files using a whitelist of specific file extensions. </a:t>
            </a:r>
          </a:p>
          <a:p>
            <a:r>
              <a:rPr lang="en-US" altLang="en-US" smtClean="0"/>
              <a:t>The malware threatened to delete the private key if a payment  was not made within 3 days of the infection. </a:t>
            </a:r>
          </a:p>
        </p:txBody>
      </p:sp>
    </p:spTree>
    <p:extLst>
      <p:ext uri="{BB962C8B-B14F-4D97-AF65-F5344CB8AC3E}">
        <p14:creationId xmlns:p14="http://schemas.microsoft.com/office/powerpoint/2010/main" val="3155226697"/>
      </p:ext>
    </p:extLst>
  </p:cSld>
  <p:clrMapOvr>
    <a:masterClrMapping/>
  </p:clrMapOvr>
  <p:transition spd="slow">
    <p:wipe dir="r"/>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endParaRPr lang="en-US" altLang="en-US" smtClean="0"/>
          </a:p>
        </p:txBody>
      </p:sp>
      <p:sp>
        <p:nvSpPr>
          <p:cNvPr id="47107" name="Content Placeholder 2"/>
          <p:cNvSpPr>
            <a:spLocks noGrp="1"/>
          </p:cNvSpPr>
          <p:nvPr>
            <p:ph idx="1"/>
          </p:nvPr>
        </p:nvSpPr>
        <p:spPr/>
        <p:txBody>
          <a:bodyPr/>
          <a:lstStyle/>
          <a:p>
            <a:pPr marL="0" indent="0">
              <a:buNone/>
            </a:pPr>
            <a:endParaRPr lang="en-US" altLang="en-US" sz="3600" dirty="0"/>
          </a:p>
          <a:p>
            <a:pPr marL="0" indent="0">
              <a:buNone/>
            </a:pPr>
            <a:endParaRPr lang="en-US" altLang="en-US" sz="3600" dirty="0"/>
          </a:p>
          <a:p>
            <a:pPr marL="0" indent="0">
              <a:buNone/>
            </a:pPr>
            <a:endParaRPr lang="en-US" altLang="en-US" sz="3600" dirty="0"/>
          </a:p>
          <a:p>
            <a:pPr marL="0" indent="0" algn="ctr">
              <a:buNone/>
            </a:pPr>
            <a:r>
              <a:rPr lang="en-US" altLang="en-US" sz="3600" dirty="0"/>
              <a:t>How to mitigate Ransomware?</a:t>
            </a:r>
          </a:p>
        </p:txBody>
      </p:sp>
    </p:spTree>
    <p:extLst>
      <p:ext uri="{BB962C8B-B14F-4D97-AF65-F5344CB8AC3E}">
        <p14:creationId xmlns:p14="http://schemas.microsoft.com/office/powerpoint/2010/main" val="2459612982"/>
      </p:ext>
    </p:extLst>
  </p:cSld>
  <p:clrMapOvr>
    <a:masterClrMapping/>
  </p:clrMapOvr>
  <p:transition spd="slow">
    <p:wipe dir="r"/>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AU" altLang="en-US" sz="3400"/>
              <a:t>Malicious Code Countermeasures</a:t>
            </a:r>
          </a:p>
        </p:txBody>
      </p:sp>
      <p:sp>
        <p:nvSpPr>
          <p:cNvPr id="48131" name="Rectangle 6"/>
          <p:cNvSpPr>
            <a:spLocks noGrp="1" noChangeArrowheads="1"/>
          </p:cNvSpPr>
          <p:nvPr>
            <p:ph type="body" sz="half" idx="1"/>
          </p:nvPr>
        </p:nvSpPr>
        <p:spPr>
          <a:xfrm>
            <a:off x="1703389" y="1341438"/>
            <a:ext cx="4308475" cy="5040312"/>
          </a:xfrm>
        </p:spPr>
        <p:txBody>
          <a:bodyPr/>
          <a:lstStyle/>
          <a:p>
            <a:pPr eaLnBrk="1" hangingPunct="1"/>
            <a:r>
              <a:rPr lang="en-AU" altLang="en-US" sz="2400"/>
              <a:t>Technical</a:t>
            </a:r>
          </a:p>
          <a:p>
            <a:pPr lvl="1" eaLnBrk="1" hangingPunct="1"/>
            <a:r>
              <a:rPr lang="en-AU" altLang="en-US" sz="2000"/>
              <a:t>Anti-malware tools</a:t>
            </a:r>
          </a:p>
          <a:p>
            <a:pPr lvl="1" eaLnBrk="1" hangingPunct="1"/>
            <a:r>
              <a:rPr lang="en-AU" altLang="en-US" sz="2000"/>
              <a:t>Virus Updates</a:t>
            </a:r>
          </a:p>
          <a:p>
            <a:pPr lvl="1" eaLnBrk="1" hangingPunct="1"/>
            <a:r>
              <a:rPr lang="en-AU" altLang="en-US" sz="2000"/>
              <a:t>Specific removal tools</a:t>
            </a:r>
          </a:p>
          <a:p>
            <a:pPr lvl="1" eaLnBrk="1" hangingPunct="1"/>
            <a:r>
              <a:rPr lang="en-AU" altLang="en-US" sz="2000"/>
              <a:t>Advisory sites / virus databases</a:t>
            </a:r>
          </a:p>
        </p:txBody>
      </p:sp>
      <p:sp>
        <p:nvSpPr>
          <p:cNvPr id="48132" name="Rectangle 7"/>
          <p:cNvSpPr>
            <a:spLocks noGrp="1" noChangeArrowheads="1"/>
          </p:cNvSpPr>
          <p:nvPr>
            <p:ph type="body" sz="half" idx="2"/>
          </p:nvPr>
        </p:nvSpPr>
        <p:spPr>
          <a:xfrm>
            <a:off x="6180139" y="1341438"/>
            <a:ext cx="4308475" cy="5040312"/>
          </a:xfrm>
        </p:spPr>
        <p:txBody>
          <a:bodyPr/>
          <a:lstStyle/>
          <a:p>
            <a:pPr eaLnBrk="1" hangingPunct="1"/>
            <a:r>
              <a:rPr lang="en-AU" altLang="en-US" sz="2400"/>
              <a:t>Non-Technical</a:t>
            </a:r>
          </a:p>
          <a:p>
            <a:pPr lvl="1" eaLnBrk="1" hangingPunct="1"/>
            <a:r>
              <a:rPr lang="en-AU" altLang="en-US" sz="2000"/>
              <a:t>Use caution</a:t>
            </a:r>
          </a:p>
          <a:p>
            <a:pPr lvl="1" eaLnBrk="1" hangingPunct="1"/>
            <a:r>
              <a:rPr lang="en-AU" altLang="en-US" sz="2000"/>
              <a:t>Adhere to policies and procedures</a:t>
            </a:r>
          </a:p>
          <a:p>
            <a:pPr lvl="1" eaLnBrk="1" hangingPunct="1"/>
            <a:r>
              <a:rPr lang="en-AU" altLang="en-US" sz="2000"/>
              <a:t>Stay informed</a:t>
            </a:r>
          </a:p>
          <a:p>
            <a:pPr lvl="1" eaLnBrk="1" hangingPunct="1"/>
            <a:r>
              <a:rPr lang="en-AU" altLang="en-US" sz="2000"/>
              <a:t>Be wary of social engineering attempts</a:t>
            </a:r>
          </a:p>
        </p:txBody>
      </p:sp>
    </p:spTree>
    <p:extLst>
      <p:ext uri="{BB962C8B-B14F-4D97-AF65-F5344CB8AC3E}">
        <p14:creationId xmlns:p14="http://schemas.microsoft.com/office/powerpoint/2010/main" val="2927172776"/>
      </p:ext>
    </p:extLst>
  </p:cSld>
  <p:clrMapOvr>
    <a:masterClrMapping/>
  </p:clrMapOvr>
  <p:transition spd="slow">
    <p:wipe dir="r"/>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en-AU" altLang="en-US" smtClean="0"/>
              <a:t>Anti-Malware Software</a:t>
            </a:r>
          </a:p>
        </p:txBody>
      </p:sp>
      <p:sp>
        <p:nvSpPr>
          <p:cNvPr id="49155" name="Rectangle 3"/>
          <p:cNvSpPr>
            <a:spLocks noGrp="1" noChangeArrowheads="1"/>
          </p:cNvSpPr>
          <p:nvPr>
            <p:ph type="body" idx="1"/>
          </p:nvPr>
        </p:nvSpPr>
        <p:spPr/>
        <p:txBody>
          <a:bodyPr>
            <a:normAutofit lnSpcReduction="10000"/>
          </a:bodyPr>
          <a:lstStyle/>
          <a:p>
            <a:pPr eaLnBrk="1" hangingPunct="1"/>
            <a:r>
              <a:rPr lang="en-AU" altLang="en-US" sz="2400"/>
              <a:t>Usually referred to as anti-virus software</a:t>
            </a:r>
          </a:p>
          <a:p>
            <a:pPr eaLnBrk="1" hangingPunct="1"/>
            <a:r>
              <a:rPr lang="en-AU" altLang="en-US" sz="2400"/>
              <a:t>Most modern products deal with more than just viruses</a:t>
            </a:r>
          </a:p>
          <a:p>
            <a:pPr eaLnBrk="1" hangingPunct="1"/>
            <a:r>
              <a:rPr lang="en-AU" altLang="en-US" sz="2400"/>
              <a:t>Most use lists of known malware indicators</a:t>
            </a:r>
          </a:p>
          <a:p>
            <a:pPr lvl="1" eaLnBrk="1" hangingPunct="1"/>
            <a:r>
              <a:rPr lang="en-AU" altLang="en-US" sz="2000"/>
              <a:t>Virus definitions</a:t>
            </a:r>
          </a:p>
          <a:p>
            <a:pPr lvl="1" eaLnBrk="1" hangingPunct="1"/>
            <a:r>
              <a:rPr lang="en-AU" altLang="en-US" sz="2000"/>
              <a:t>Vital to keep definitions up to date</a:t>
            </a:r>
          </a:p>
          <a:p>
            <a:pPr lvl="1" eaLnBrk="1" hangingPunct="1"/>
            <a:r>
              <a:rPr lang="en-AU" altLang="en-US" sz="2000"/>
              <a:t>Software is only as good as the last time it was updated</a:t>
            </a:r>
          </a:p>
          <a:p>
            <a:pPr lvl="1" eaLnBrk="1" hangingPunct="1"/>
            <a:r>
              <a:rPr lang="en-AU" altLang="en-US" sz="2000"/>
              <a:t>Most modern products feature scheduled on-line updates</a:t>
            </a:r>
          </a:p>
          <a:p>
            <a:pPr eaLnBrk="1" hangingPunct="1"/>
            <a:r>
              <a:rPr lang="en-AU" altLang="en-US" sz="2400"/>
              <a:t>Some use heuristic approaches and look for suspicious behaviour</a:t>
            </a:r>
          </a:p>
        </p:txBody>
      </p:sp>
    </p:spTree>
    <p:extLst>
      <p:ext uri="{BB962C8B-B14F-4D97-AF65-F5344CB8AC3E}">
        <p14:creationId xmlns:p14="http://schemas.microsoft.com/office/powerpoint/2010/main" val="4281142578"/>
      </p:ext>
    </p:extLst>
  </p:cSld>
  <p:clrMapOvr>
    <a:masterClrMapping/>
  </p:clrMapOvr>
  <p:transition spd="slow">
    <p:wipe dir="r"/>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en-AU" altLang="en-US" smtClean="0"/>
              <a:t>Summary</a:t>
            </a:r>
          </a:p>
        </p:txBody>
      </p:sp>
      <p:sp>
        <p:nvSpPr>
          <p:cNvPr id="50179" name="Rectangle 3"/>
          <p:cNvSpPr>
            <a:spLocks noGrp="1" noChangeArrowheads="1"/>
          </p:cNvSpPr>
          <p:nvPr>
            <p:ph type="body" idx="1"/>
          </p:nvPr>
        </p:nvSpPr>
        <p:spPr>
          <a:xfrm>
            <a:off x="1703389" y="1268413"/>
            <a:ext cx="8785225" cy="5040312"/>
          </a:xfrm>
        </p:spPr>
        <p:txBody>
          <a:bodyPr/>
          <a:lstStyle/>
          <a:p>
            <a:pPr eaLnBrk="1" hangingPunct="1"/>
            <a:r>
              <a:rPr lang="en-AU" altLang="en-US" smtClean="0"/>
              <a:t>Viruses, worms, trojans etc collectively known as ‘malware’</a:t>
            </a:r>
          </a:p>
          <a:p>
            <a:pPr eaLnBrk="1" hangingPunct="1"/>
            <a:endParaRPr lang="en-AU" altLang="en-US" smtClean="0"/>
          </a:p>
          <a:p>
            <a:pPr eaLnBrk="1" hangingPunct="1"/>
            <a:r>
              <a:rPr lang="en-AU" altLang="en-US" smtClean="0"/>
              <a:t>Some newer types of malware blur lines between virus and worms in particular</a:t>
            </a:r>
          </a:p>
          <a:p>
            <a:pPr eaLnBrk="1" hangingPunct="1"/>
            <a:endParaRPr lang="en-AU" altLang="en-US" smtClean="0"/>
          </a:p>
          <a:p>
            <a:pPr eaLnBrk="1" hangingPunct="1"/>
            <a:r>
              <a:rPr lang="en-AU" altLang="en-US" smtClean="0"/>
              <a:t>Malware attacks can be fairly general or highly targeted</a:t>
            </a:r>
          </a:p>
          <a:p>
            <a:pPr eaLnBrk="1" hangingPunct="1"/>
            <a:endParaRPr lang="en-AU" altLang="en-US" smtClean="0"/>
          </a:p>
          <a:p>
            <a:pPr eaLnBrk="1" hangingPunct="1"/>
            <a:r>
              <a:rPr lang="en-AU" altLang="en-US" smtClean="0"/>
              <a:t>Countermeasures can include technical and non-technical controls</a:t>
            </a:r>
          </a:p>
          <a:p>
            <a:pPr eaLnBrk="1" hangingPunct="1"/>
            <a:endParaRPr lang="en-AU" altLang="en-US" smtClean="0"/>
          </a:p>
        </p:txBody>
      </p:sp>
    </p:spTree>
    <p:extLst>
      <p:ext uri="{BB962C8B-B14F-4D97-AF65-F5344CB8AC3E}">
        <p14:creationId xmlns:p14="http://schemas.microsoft.com/office/powerpoint/2010/main" val="3087664979"/>
      </p:ext>
    </p:extLst>
  </p:cSld>
  <p:clrMapOvr>
    <a:masterClrMapping/>
  </p:clrMapOvr>
  <p:transition spd="slow">
    <p:wipe dir="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
        <p:nvSpPr>
          <p:cNvPr id="4" name="Content Placeholder 2"/>
          <p:cNvSpPr txBox="1">
            <a:spLocks/>
          </p:cNvSpPr>
          <p:nvPr/>
        </p:nvSpPr>
        <p:spPr>
          <a:xfrm>
            <a:off x="677334" y="2356700"/>
            <a:ext cx="8596668" cy="1979629"/>
          </a:xfrm>
          <a:prstGeom prst="rect">
            <a:avLst/>
          </a:prstGeom>
        </p:spPr>
        <p:txBody>
          <a:bodyPr vert="horz" lIns="91440" tIns="45720" rIns="91440" bIns="45720" rtlCol="0">
            <a:normAutofit fontScale="775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endParaRPr lang="en-US" altLang="en-US" sz="3600" dirty="0" smtClean="0"/>
          </a:p>
          <a:p>
            <a:pPr marL="0" indent="0" algn="ctr">
              <a:buFont typeface="Wingdings 3" charset="2"/>
              <a:buNone/>
            </a:pPr>
            <a:endParaRPr lang="en-US" altLang="en-US" sz="3600" dirty="0" smtClean="0"/>
          </a:p>
          <a:p>
            <a:pPr marL="0" indent="0" algn="ctr">
              <a:buFont typeface="Wingdings 3" charset="2"/>
              <a:buNone/>
            </a:pPr>
            <a:endParaRPr lang="en-US" altLang="en-US" sz="3600" dirty="0" smtClean="0"/>
          </a:p>
          <a:p>
            <a:pPr marL="0" indent="0" algn="ctr">
              <a:buFont typeface="Wingdings 3" charset="2"/>
              <a:buNone/>
            </a:pPr>
            <a:r>
              <a:rPr lang="en-US" altLang="en-US" sz="3600" dirty="0" smtClean="0"/>
              <a:t>CRYPTOGRAPHY</a:t>
            </a:r>
            <a:endParaRPr lang="en-US" altLang="en-US" sz="3600" dirty="0"/>
          </a:p>
        </p:txBody>
      </p:sp>
    </p:spTree>
    <p:extLst>
      <p:ext uri="{BB962C8B-B14F-4D97-AF65-F5344CB8AC3E}">
        <p14:creationId xmlns:p14="http://schemas.microsoft.com/office/powerpoint/2010/main" val="169082629"/>
      </p:ext>
    </p:extLst>
  </p:cSld>
  <p:clrMapOvr>
    <a:masterClrMapping/>
  </p:clrMapOvr>
  <p:transition spd="slow">
    <p:wipe dir="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Cryptography</a:t>
            </a:r>
            <a:endParaRPr lang="en-US" dirty="0"/>
          </a:p>
        </p:txBody>
      </p:sp>
      <p:pic>
        <p:nvPicPr>
          <p:cNvPr id="4" name="Content Placeholder 3"/>
          <p:cNvPicPr>
            <a:picLocks noGrp="1" noChangeAspect="1"/>
          </p:cNvPicPr>
          <p:nvPr>
            <p:ph idx="1"/>
          </p:nvPr>
        </p:nvPicPr>
        <p:blipFill>
          <a:blip r:embed="rId2"/>
          <a:stretch>
            <a:fillRect/>
          </a:stretch>
        </p:blipFill>
        <p:spPr>
          <a:xfrm>
            <a:off x="1545151" y="2160588"/>
            <a:ext cx="6861736" cy="3881437"/>
          </a:xfrm>
          <a:prstGeom prst="rect">
            <a:avLst/>
          </a:prstGeom>
        </p:spPr>
      </p:pic>
    </p:spTree>
    <p:extLst>
      <p:ext uri="{BB962C8B-B14F-4D97-AF65-F5344CB8AC3E}">
        <p14:creationId xmlns:p14="http://schemas.microsoft.com/office/powerpoint/2010/main" val="1847065626"/>
      </p:ext>
    </p:extLst>
  </p:cSld>
  <p:clrMapOvr>
    <a:masterClrMapping/>
  </p:clrMapOvr>
  <p:transition spd="slow">
    <p:wipe dir="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Cryptographic Protocols </a:t>
            </a:r>
            <a:br>
              <a:rPr lang="en-US" dirty="0"/>
            </a:br>
            <a:endParaRPr lang="en-US" dirty="0"/>
          </a:p>
        </p:txBody>
      </p:sp>
      <p:sp>
        <p:nvSpPr>
          <p:cNvPr id="3" name="Content Placeholder 2"/>
          <p:cNvSpPr>
            <a:spLocks noGrp="1"/>
          </p:cNvSpPr>
          <p:nvPr>
            <p:ph idx="1"/>
          </p:nvPr>
        </p:nvSpPr>
        <p:spPr/>
        <p:txBody>
          <a:bodyPr/>
          <a:lstStyle/>
          <a:p>
            <a:r>
              <a:rPr lang="en-US" dirty="0"/>
              <a:t>Messages should be transmitted to </a:t>
            </a:r>
            <a:r>
              <a:rPr lang="en-US" dirty="0" smtClean="0"/>
              <a:t>destination</a:t>
            </a:r>
            <a:endParaRPr lang="en-US" dirty="0"/>
          </a:p>
          <a:p>
            <a:r>
              <a:rPr lang="en-US" dirty="0" smtClean="0"/>
              <a:t>Only </a:t>
            </a:r>
            <a:r>
              <a:rPr lang="en-US" dirty="0"/>
              <a:t>the recipient should see </a:t>
            </a:r>
            <a:r>
              <a:rPr lang="en-US" dirty="0" smtClean="0"/>
              <a:t>it</a:t>
            </a:r>
            <a:endParaRPr lang="en-US" dirty="0"/>
          </a:p>
          <a:p>
            <a:r>
              <a:rPr lang="en-US" dirty="0" smtClean="0"/>
              <a:t>Only </a:t>
            </a:r>
            <a:r>
              <a:rPr lang="en-US" dirty="0"/>
              <a:t>the recipient should get </a:t>
            </a:r>
            <a:r>
              <a:rPr lang="en-US" dirty="0" smtClean="0"/>
              <a:t>it</a:t>
            </a:r>
            <a:endParaRPr lang="en-US" dirty="0"/>
          </a:p>
          <a:p>
            <a:r>
              <a:rPr lang="en-US" dirty="0" smtClean="0"/>
              <a:t>Proof </a:t>
            </a:r>
            <a:r>
              <a:rPr lang="en-US" dirty="0"/>
              <a:t>of the sender’s </a:t>
            </a:r>
            <a:r>
              <a:rPr lang="en-US" dirty="0" smtClean="0"/>
              <a:t>identity</a:t>
            </a:r>
            <a:endParaRPr lang="en-US" dirty="0"/>
          </a:p>
          <a:p>
            <a:r>
              <a:rPr lang="en-US" dirty="0" smtClean="0"/>
              <a:t>Message </a:t>
            </a:r>
            <a:r>
              <a:rPr lang="en-US" dirty="0"/>
              <a:t>shouldn’t be corrupted in </a:t>
            </a:r>
            <a:r>
              <a:rPr lang="en-US" dirty="0" smtClean="0"/>
              <a:t>transit</a:t>
            </a:r>
            <a:endParaRPr lang="en-US" dirty="0"/>
          </a:p>
          <a:p>
            <a:r>
              <a:rPr lang="en-US" dirty="0" smtClean="0"/>
              <a:t>Message </a:t>
            </a:r>
            <a:r>
              <a:rPr lang="en-US" dirty="0"/>
              <a:t>should be sent/received once only </a:t>
            </a:r>
            <a:br>
              <a:rPr lang="en-US" dirty="0"/>
            </a:br>
            <a:endParaRPr lang="en-US" dirty="0"/>
          </a:p>
        </p:txBody>
      </p:sp>
    </p:spTree>
    <p:extLst>
      <p:ext uri="{BB962C8B-B14F-4D97-AF65-F5344CB8AC3E}">
        <p14:creationId xmlns:p14="http://schemas.microsoft.com/office/powerpoint/2010/main" val="2517555329"/>
      </p:ext>
    </p:extLst>
  </p:cSld>
  <p:clrMapOvr>
    <a:masterClrMapping/>
  </p:clrMapOvr>
  <p:transition spd="slow">
    <p:wipe dir="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Terminology</a:t>
            </a:r>
            <a:endParaRPr lang="en-US" dirty="0"/>
          </a:p>
        </p:txBody>
      </p:sp>
      <p:sp>
        <p:nvSpPr>
          <p:cNvPr id="3" name="Content Placeholder 2"/>
          <p:cNvSpPr>
            <a:spLocks noGrp="1"/>
          </p:cNvSpPr>
          <p:nvPr>
            <p:ph idx="1"/>
          </p:nvPr>
        </p:nvSpPr>
        <p:spPr/>
        <p:txBody>
          <a:bodyPr/>
          <a:lstStyle/>
          <a:p>
            <a:r>
              <a:rPr lang="en-US" b="1" dirty="0"/>
              <a:t>Plaintext </a:t>
            </a:r>
            <a:r>
              <a:rPr lang="en-US" dirty="0"/>
              <a:t>(</a:t>
            </a:r>
            <a:r>
              <a:rPr lang="en-US" b="1" dirty="0" err="1"/>
              <a:t>cleartext</a:t>
            </a:r>
            <a:r>
              <a:rPr lang="en-US" b="1" dirty="0"/>
              <a:t>)</a:t>
            </a:r>
            <a:r>
              <a:rPr lang="en-US" dirty="0"/>
              <a:t>: a message in its original</a:t>
            </a:r>
            <a:br>
              <a:rPr lang="en-US" dirty="0"/>
            </a:br>
            <a:r>
              <a:rPr lang="en-US" dirty="0" smtClean="0"/>
              <a:t>form</a:t>
            </a:r>
            <a:endParaRPr lang="en-US" dirty="0"/>
          </a:p>
          <a:p>
            <a:r>
              <a:rPr lang="en-US" b="1" dirty="0" err="1" smtClean="0"/>
              <a:t>Ciphertext</a:t>
            </a:r>
            <a:r>
              <a:rPr lang="en-US" b="1" dirty="0" smtClean="0"/>
              <a:t> </a:t>
            </a:r>
            <a:r>
              <a:rPr lang="en-US" dirty="0"/>
              <a:t>(</a:t>
            </a:r>
            <a:r>
              <a:rPr lang="en-US" b="1" dirty="0" err="1"/>
              <a:t>cyphertext</a:t>
            </a:r>
            <a:r>
              <a:rPr lang="en-US" b="1" dirty="0"/>
              <a:t>)</a:t>
            </a:r>
            <a:r>
              <a:rPr lang="en-US" dirty="0"/>
              <a:t>: an encrypted </a:t>
            </a:r>
            <a:r>
              <a:rPr lang="en-US" dirty="0" smtClean="0"/>
              <a:t>message</a:t>
            </a:r>
            <a:endParaRPr lang="en-US" dirty="0"/>
          </a:p>
          <a:p>
            <a:r>
              <a:rPr lang="en-US" b="1" dirty="0" smtClean="0"/>
              <a:t>Encryption</a:t>
            </a:r>
            <a:r>
              <a:rPr lang="en-US" dirty="0"/>
              <a:t>: transformation of a message to hide</a:t>
            </a:r>
            <a:br>
              <a:rPr lang="en-US" dirty="0"/>
            </a:br>
            <a:r>
              <a:rPr lang="en-US" dirty="0"/>
              <a:t>its </a:t>
            </a:r>
            <a:r>
              <a:rPr lang="en-US" dirty="0" smtClean="0"/>
              <a:t>meaning</a:t>
            </a:r>
            <a:endParaRPr lang="en-US" dirty="0"/>
          </a:p>
          <a:p>
            <a:r>
              <a:rPr lang="en-US" b="1" dirty="0" smtClean="0"/>
              <a:t>Cipher</a:t>
            </a:r>
            <a:r>
              <a:rPr lang="en-US" dirty="0"/>
              <a:t>: cryptographic algorithm. A mathematical</a:t>
            </a:r>
            <a:br>
              <a:rPr lang="en-US" dirty="0"/>
            </a:br>
            <a:r>
              <a:rPr lang="en-US" dirty="0"/>
              <a:t>function used for encryption (encryption</a:t>
            </a:r>
            <a:br>
              <a:rPr lang="en-US" dirty="0"/>
            </a:br>
            <a:r>
              <a:rPr lang="en-US" dirty="0"/>
              <a:t>algorithm) and decryption (decryption algorithm) </a:t>
            </a:r>
            <a:br>
              <a:rPr lang="en-US" dirty="0"/>
            </a:br>
            <a:endParaRPr lang="en-US" dirty="0"/>
          </a:p>
        </p:txBody>
      </p:sp>
    </p:spTree>
    <p:extLst>
      <p:ext uri="{BB962C8B-B14F-4D97-AF65-F5344CB8AC3E}">
        <p14:creationId xmlns:p14="http://schemas.microsoft.com/office/powerpoint/2010/main" val="1189118326"/>
      </p:ext>
    </p:extLst>
  </p:cSld>
  <p:clrMapOvr>
    <a:masterClrMapping/>
  </p:clrMapOvr>
  <p:transition spd="slow">
    <p:wipe dir="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Terminology</a:t>
            </a:r>
            <a:endParaRPr lang="en-US" dirty="0"/>
          </a:p>
        </p:txBody>
      </p:sp>
      <p:sp>
        <p:nvSpPr>
          <p:cNvPr id="3" name="Content Placeholder 2"/>
          <p:cNvSpPr>
            <a:spLocks noGrp="1"/>
          </p:cNvSpPr>
          <p:nvPr>
            <p:ph idx="1"/>
          </p:nvPr>
        </p:nvSpPr>
        <p:spPr/>
        <p:txBody>
          <a:bodyPr/>
          <a:lstStyle/>
          <a:p>
            <a:r>
              <a:rPr lang="en-US" b="1" dirty="0" smtClean="0"/>
              <a:t>Decryption</a:t>
            </a:r>
            <a:r>
              <a:rPr lang="en-US" dirty="0"/>
              <a:t>: recovering meaning from </a:t>
            </a:r>
            <a:r>
              <a:rPr lang="en-US" dirty="0" err="1" smtClean="0"/>
              <a:t>ciphertext</a:t>
            </a:r>
            <a:endParaRPr lang="en-US" dirty="0"/>
          </a:p>
          <a:p>
            <a:r>
              <a:rPr lang="en-US" b="1" dirty="0" smtClean="0"/>
              <a:t>Cryptography</a:t>
            </a:r>
            <a:r>
              <a:rPr lang="en-US" dirty="0"/>
              <a:t>: art and science of keeping</a:t>
            </a:r>
            <a:br>
              <a:rPr lang="en-US" dirty="0"/>
            </a:br>
            <a:r>
              <a:rPr lang="en-US" dirty="0"/>
              <a:t>messages </a:t>
            </a:r>
            <a:r>
              <a:rPr lang="en-US" dirty="0" smtClean="0"/>
              <a:t>secure</a:t>
            </a:r>
            <a:endParaRPr lang="en-US" dirty="0"/>
          </a:p>
          <a:p>
            <a:r>
              <a:rPr lang="en-US" b="1" dirty="0" smtClean="0"/>
              <a:t>Cryptanalysis</a:t>
            </a:r>
            <a:r>
              <a:rPr lang="en-US" dirty="0"/>
              <a:t>: art and science of breaking</a:t>
            </a:r>
            <a:br>
              <a:rPr lang="en-US" dirty="0"/>
            </a:br>
            <a:r>
              <a:rPr lang="en-US" dirty="0" err="1" smtClean="0"/>
              <a:t>ciphertext</a:t>
            </a:r>
            <a:endParaRPr lang="en-US" dirty="0"/>
          </a:p>
          <a:p>
            <a:r>
              <a:rPr lang="en-US" b="1" dirty="0" smtClean="0"/>
              <a:t>Cryptology</a:t>
            </a:r>
            <a:r>
              <a:rPr lang="en-US" dirty="0"/>
              <a:t>: study of both cryptography and</a:t>
            </a:r>
            <a:br>
              <a:rPr lang="en-US" dirty="0"/>
            </a:br>
            <a:r>
              <a:rPr lang="en-US" dirty="0"/>
              <a:t>cryptanalysis </a:t>
            </a:r>
            <a:br>
              <a:rPr lang="en-US" dirty="0"/>
            </a:br>
            <a:endParaRPr lang="en-US" dirty="0"/>
          </a:p>
        </p:txBody>
      </p:sp>
    </p:spTree>
    <p:extLst>
      <p:ext uri="{BB962C8B-B14F-4D97-AF65-F5344CB8AC3E}">
        <p14:creationId xmlns:p14="http://schemas.microsoft.com/office/powerpoint/2010/main" val="2389402426"/>
      </p:ext>
    </p:extLst>
  </p:cSld>
  <p:clrMapOvr>
    <a:masterClrMapping/>
  </p:clrMapOvr>
  <p:transition spd="slow">
    <p:wipe dir="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 of Encryption and Decryption</a:t>
            </a:r>
            <a:endParaRPr lang="en-US" dirty="0"/>
          </a:p>
        </p:txBody>
      </p:sp>
      <p:sp>
        <p:nvSpPr>
          <p:cNvPr id="4" name="Rectangle 3"/>
          <p:cNvSpPr/>
          <p:nvPr/>
        </p:nvSpPr>
        <p:spPr>
          <a:xfrm>
            <a:off x="2388123" y="3650994"/>
            <a:ext cx="6096000" cy="2893100"/>
          </a:xfrm>
          <a:prstGeom prst="rect">
            <a:avLst/>
          </a:prstGeom>
        </p:spPr>
        <p:txBody>
          <a:bodyPr>
            <a:spAutoFit/>
          </a:bodyPr>
          <a:lstStyle/>
          <a:p>
            <a:r>
              <a:rPr lang="en-US" sz="2000" b="1" dirty="0">
                <a:solidFill>
                  <a:srgbClr val="000000"/>
                </a:solidFill>
                <a:latin typeface="LiberationSans-Bold"/>
              </a:rPr>
              <a:t>Additional requirements</a:t>
            </a:r>
            <a:r>
              <a:rPr lang="en-US" dirty="0">
                <a:solidFill>
                  <a:srgbClr val="000000"/>
                </a:solidFill>
                <a:latin typeface="LiberationSans"/>
              </a:rPr>
              <a:t>:</a:t>
            </a:r>
            <a:br>
              <a:rPr lang="en-US" dirty="0">
                <a:solidFill>
                  <a:srgbClr val="000000"/>
                </a:solidFill>
                <a:latin typeface="LiberationSans"/>
              </a:rPr>
            </a:br>
            <a:r>
              <a:rPr lang="en-US" sz="1400" dirty="0">
                <a:solidFill>
                  <a:srgbClr val="000000"/>
                </a:solidFill>
                <a:latin typeface="LiberationSans"/>
              </a:rPr>
              <a:t>• </a:t>
            </a:r>
            <a:r>
              <a:rPr lang="en-US" dirty="0">
                <a:solidFill>
                  <a:srgbClr val="000000"/>
                </a:solidFill>
                <a:latin typeface="LiberationSans"/>
              </a:rPr>
              <a:t>Authentication</a:t>
            </a:r>
            <a:br>
              <a:rPr lang="en-US" dirty="0">
                <a:solidFill>
                  <a:srgbClr val="000000"/>
                </a:solidFill>
                <a:latin typeface="LiberationSans"/>
              </a:rPr>
            </a:br>
            <a:r>
              <a:rPr lang="en-US" sz="1500" dirty="0">
                <a:solidFill>
                  <a:srgbClr val="000000"/>
                </a:solidFill>
                <a:latin typeface="LiberationSans"/>
              </a:rPr>
              <a:t>• </a:t>
            </a:r>
            <a:r>
              <a:rPr lang="en-US" dirty="0">
                <a:solidFill>
                  <a:srgbClr val="000000"/>
                </a:solidFill>
                <a:latin typeface="LiberationSans"/>
              </a:rPr>
              <a:t>Between communicating parties</a:t>
            </a:r>
            <a:br>
              <a:rPr lang="en-US" dirty="0">
                <a:solidFill>
                  <a:srgbClr val="000000"/>
                </a:solidFill>
                <a:latin typeface="LiberationSans"/>
              </a:rPr>
            </a:br>
            <a:r>
              <a:rPr lang="en-US" sz="1500" dirty="0">
                <a:solidFill>
                  <a:srgbClr val="000000"/>
                </a:solidFill>
                <a:latin typeface="LiberationSans"/>
              </a:rPr>
              <a:t>• </a:t>
            </a:r>
            <a:r>
              <a:rPr lang="en-US" dirty="0">
                <a:solidFill>
                  <a:srgbClr val="000000"/>
                </a:solidFill>
                <a:latin typeface="LiberationSans"/>
              </a:rPr>
              <a:t>Third-party authentication</a:t>
            </a:r>
            <a:br>
              <a:rPr lang="en-US" dirty="0">
                <a:solidFill>
                  <a:srgbClr val="000000"/>
                </a:solidFill>
                <a:latin typeface="LiberationSans"/>
              </a:rPr>
            </a:br>
            <a:r>
              <a:rPr lang="en-US" sz="1400" dirty="0">
                <a:solidFill>
                  <a:srgbClr val="000000"/>
                </a:solidFill>
                <a:latin typeface="LiberationSans"/>
              </a:rPr>
              <a:t>• </a:t>
            </a:r>
            <a:r>
              <a:rPr lang="en-US" dirty="0">
                <a:solidFill>
                  <a:srgbClr val="000000"/>
                </a:solidFill>
                <a:latin typeface="LiberationSans"/>
              </a:rPr>
              <a:t>Non-repudiation</a:t>
            </a:r>
            <a:br>
              <a:rPr lang="en-US" dirty="0">
                <a:solidFill>
                  <a:srgbClr val="000000"/>
                </a:solidFill>
                <a:latin typeface="LiberationSans"/>
              </a:rPr>
            </a:br>
            <a:r>
              <a:rPr lang="en-US" sz="1400" dirty="0">
                <a:solidFill>
                  <a:srgbClr val="000000"/>
                </a:solidFill>
                <a:latin typeface="LiberationSans"/>
              </a:rPr>
              <a:t>• </a:t>
            </a:r>
            <a:r>
              <a:rPr lang="en-US" dirty="0">
                <a:solidFill>
                  <a:srgbClr val="000000"/>
                </a:solidFill>
                <a:latin typeface="LiberationSans"/>
              </a:rPr>
              <a:t>Integrity verification</a:t>
            </a:r>
            <a:br>
              <a:rPr lang="en-US" dirty="0">
                <a:solidFill>
                  <a:srgbClr val="000000"/>
                </a:solidFill>
                <a:latin typeface="LiberationSans"/>
              </a:rPr>
            </a:br>
            <a:r>
              <a:rPr lang="en-US" sz="1400" dirty="0">
                <a:solidFill>
                  <a:srgbClr val="000000"/>
                </a:solidFill>
                <a:latin typeface="LiberationSans"/>
              </a:rPr>
              <a:t>• </a:t>
            </a:r>
            <a:r>
              <a:rPr lang="en-US" dirty="0">
                <a:solidFill>
                  <a:srgbClr val="000000"/>
                </a:solidFill>
                <a:latin typeface="LiberationSans"/>
              </a:rPr>
              <a:t>Key distribution</a:t>
            </a:r>
            <a:br>
              <a:rPr lang="en-US" dirty="0">
                <a:solidFill>
                  <a:srgbClr val="000000"/>
                </a:solidFill>
                <a:latin typeface="LiberationSans"/>
              </a:rPr>
            </a:br>
            <a:r>
              <a:rPr lang="en-US" sz="1500" dirty="0">
                <a:solidFill>
                  <a:srgbClr val="000000"/>
                </a:solidFill>
                <a:latin typeface="LiberationSans"/>
              </a:rPr>
              <a:t>• </a:t>
            </a:r>
            <a:r>
              <a:rPr lang="en-US" dirty="0">
                <a:solidFill>
                  <a:srgbClr val="000000"/>
                </a:solidFill>
                <a:latin typeface="LiberationSans"/>
              </a:rPr>
              <a:t>Secret key (secure distribution)</a:t>
            </a:r>
            <a:br>
              <a:rPr lang="en-US" dirty="0">
                <a:solidFill>
                  <a:srgbClr val="000000"/>
                </a:solidFill>
                <a:latin typeface="LiberationSans"/>
              </a:rPr>
            </a:br>
            <a:r>
              <a:rPr lang="en-US" sz="1500" dirty="0">
                <a:solidFill>
                  <a:srgbClr val="000000"/>
                </a:solidFill>
                <a:latin typeface="LiberationSans"/>
              </a:rPr>
              <a:t>• </a:t>
            </a:r>
            <a:r>
              <a:rPr lang="en-US" dirty="0">
                <a:solidFill>
                  <a:srgbClr val="000000"/>
                </a:solidFill>
                <a:latin typeface="LiberationSans"/>
              </a:rPr>
              <a:t>Public key (reliable distribution)</a:t>
            </a:r>
            <a:r>
              <a:rPr lang="en-US" dirty="0"/>
              <a:t> </a:t>
            </a:r>
            <a:br>
              <a:rPr lang="en-US" dirty="0"/>
            </a:br>
            <a:endParaRPr lang="en-US" dirty="0"/>
          </a:p>
        </p:txBody>
      </p:sp>
      <p:pic>
        <p:nvPicPr>
          <p:cNvPr id="5" name="Picture 4"/>
          <p:cNvPicPr>
            <a:picLocks noChangeAspect="1"/>
          </p:cNvPicPr>
          <p:nvPr/>
        </p:nvPicPr>
        <p:blipFill>
          <a:blip r:embed="rId2"/>
          <a:stretch>
            <a:fillRect/>
          </a:stretch>
        </p:blipFill>
        <p:spPr>
          <a:xfrm>
            <a:off x="864010" y="2065187"/>
            <a:ext cx="8223315" cy="1451020"/>
          </a:xfrm>
          <a:prstGeom prst="rect">
            <a:avLst/>
          </a:prstGeom>
        </p:spPr>
      </p:pic>
    </p:spTree>
    <p:extLst>
      <p:ext uri="{BB962C8B-B14F-4D97-AF65-F5344CB8AC3E}">
        <p14:creationId xmlns:p14="http://schemas.microsoft.com/office/powerpoint/2010/main" val="3336003511"/>
      </p:ext>
    </p:extLst>
  </p:cSld>
  <p:clrMapOvr>
    <a:masterClrMapping/>
  </p:clrMapOvr>
  <p:transition spd="slow">
    <p:wipe dir="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Cryptosystems</a:t>
            </a:r>
            <a:endParaRPr lang="en-US" dirty="0"/>
          </a:p>
        </p:txBody>
      </p:sp>
      <p:pic>
        <p:nvPicPr>
          <p:cNvPr id="5" name="Content Placeholder 4"/>
          <p:cNvPicPr>
            <a:picLocks noGrp="1" noChangeAspect="1"/>
          </p:cNvPicPr>
          <p:nvPr>
            <p:ph idx="1"/>
          </p:nvPr>
        </p:nvPicPr>
        <p:blipFill>
          <a:blip r:embed="rId2"/>
          <a:stretch>
            <a:fillRect/>
          </a:stretch>
        </p:blipFill>
        <p:spPr>
          <a:xfrm>
            <a:off x="677690" y="2435489"/>
            <a:ext cx="8596312" cy="3799314"/>
          </a:xfrm>
          <a:prstGeom prst="rect">
            <a:avLst/>
          </a:prstGeom>
        </p:spPr>
      </p:pic>
      <p:sp>
        <p:nvSpPr>
          <p:cNvPr id="4" name="TextBox 3"/>
          <p:cNvSpPr txBox="1"/>
          <p:nvPr/>
        </p:nvSpPr>
        <p:spPr>
          <a:xfrm>
            <a:off x="772998" y="1696825"/>
            <a:ext cx="6061435" cy="738664"/>
          </a:xfrm>
          <a:prstGeom prst="rect">
            <a:avLst/>
          </a:prstGeom>
          <a:noFill/>
        </p:spPr>
        <p:txBody>
          <a:bodyPr wrap="square" rtlCol="0">
            <a:spAutoFit/>
          </a:bodyPr>
          <a:lstStyle/>
          <a:p>
            <a:r>
              <a:rPr lang="en-US" sz="2400" dirty="0" smtClean="0"/>
              <a:t>1) Conventional </a:t>
            </a:r>
            <a:r>
              <a:rPr lang="en-US" sz="2400" dirty="0"/>
              <a:t>(Secret </a:t>
            </a:r>
            <a:r>
              <a:rPr lang="en-US" sz="2400" dirty="0" smtClean="0"/>
              <a:t>Key) Cryptosystem</a:t>
            </a:r>
            <a:r>
              <a:rPr lang="en-US" dirty="0" smtClean="0"/>
              <a:t> </a:t>
            </a:r>
            <a:r>
              <a:rPr lang="en-US" dirty="0"/>
              <a:t/>
            </a:r>
            <a:br>
              <a:rPr lang="en-US" dirty="0"/>
            </a:br>
            <a:endParaRPr lang="en-US" dirty="0"/>
          </a:p>
        </p:txBody>
      </p:sp>
    </p:spTree>
    <p:extLst>
      <p:ext uri="{BB962C8B-B14F-4D97-AF65-F5344CB8AC3E}">
        <p14:creationId xmlns:p14="http://schemas.microsoft.com/office/powerpoint/2010/main" val="2467980403"/>
      </p:ext>
    </p:extLst>
  </p:cSld>
  <p:clrMapOvr>
    <a:masterClrMapping/>
  </p:clrMapOvr>
  <p:transition spd="slow">
    <p:wipe dir="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2"/>
          <a:stretch>
            <a:fillRect/>
          </a:stretch>
        </p:blipFill>
        <p:spPr>
          <a:xfrm>
            <a:off x="1117519" y="2820988"/>
            <a:ext cx="7339174" cy="3447837"/>
          </a:xfrm>
          <a:prstGeom prst="rect">
            <a:avLst/>
          </a:prstGeom>
        </p:spPr>
      </p:pic>
      <p:sp>
        <p:nvSpPr>
          <p:cNvPr id="4" name="Rectangle 3"/>
          <p:cNvSpPr/>
          <p:nvPr/>
        </p:nvSpPr>
        <p:spPr>
          <a:xfrm>
            <a:off x="1077798" y="2297364"/>
            <a:ext cx="6096000" cy="646331"/>
          </a:xfrm>
          <a:prstGeom prst="rect">
            <a:avLst/>
          </a:prstGeom>
        </p:spPr>
        <p:txBody>
          <a:bodyPr>
            <a:spAutoFit/>
          </a:bodyPr>
          <a:lstStyle/>
          <a:p>
            <a:r>
              <a:rPr lang="en-US" dirty="0" smtClean="0">
                <a:solidFill>
                  <a:srgbClr val="000000"/>
                </a:solidFill>
                <a:latin typeface="LiberationSerif"/>
              </a:rPr>
              <a:t>2) Public </a:t>
            </a:r>
            <a:r>
              <a:rPr lang="en-US" dirty="0">
                <a:solidFill>
                  <a:srgbClr val="000000"/>
                </a:solidFill>
                <a:latin typeface="LiberationSerif"/>
              </a:rPr>
              <a:t>Key Cryptosystem</a:t>
            </a:r>
            <a:r>
              <a:rPr lang="en-US" dirty="0"/>
              <a:t> </a:t>
            </a:r>
            <a:br>
              <a:rPr lang="en-US" dirty="0"/>
            </a:br>
            <a:endParaRPr lang="en-US" dirty="0"/>
          </a:p>
        </p:txBody>
      </p:sp>
    </p:spTree>
    <p:extLst>
      <p:ext uri="{BB962C8B-B14F-4D97-AF65-F5344CB8AC3E}">
        <p14:creationId xmlns:p14="http://schemas.microsoft.com/office/powerpoint/2010/main" val="3246391721"/>
      </p:ext>
    </p:extLst>
  </p:cSld>
  <p:clrMapOvr>
    <a:masterClrMapping/>
  </p:clrMapOvr>
  <p:transition spd="slow">
    <p:wipe dir="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Discussion</a:t>
            </a:r>
            <a:endParaRPr lang="en-US" dirty="0"/>
          </a:p>
        </p:txBody>
      </p:sp>
      <p:sp>
        <p:nvSpPr>
          <p:cNvPr id="3" name="Content Placeholder 2"/>
          <p:cNvSpPr>
            <a:spLocks noGrp="1"/>
          </p:cNvSpPr>
          <p:nvPr>
            <p:ph idx="1"/>
          </p:nvPr>
        </p:nvSpPr>
        <p:spPr>
          <a:xfrm>
            <a:off x="573639" y="2782758"/>
            <a:ext cx="8596668" cy="3880773"/>
          </a:xfrm>
        </p:spPr>
        <p:txBody>
          <a:bodyPr/>
          <a:lstStyle/>
          <a:p>
            <a:r>
              <a:rPr lang="en-US" dirty="0" smtClean="0"/>
              <a:t>Confidentiality</a:t>
            </a:r>
            <a:endParaRPr lang="en-US" dirty="0"/>
          </a:p>
          <a:p>
            <a:r>
              <a:rPr lang="en-US" dirty="0" smtClean="0"/>
              <a:t>Integrity</a:t>
            </a:r>
            <a:endParaRPr lang="en-US" dirty="0"/>
          </a:p>
          <a:p>
            <a:r>
              <a:rPr lang="en-US" dirty="0" smtClean="0"/>
              <a:t>Availability</a:t>
            </a:r>
            <a:endParaRPr lang="en-US" dirty="0"/>
          </a:p>
          <a:p>
            <a:r>
              <a:rPr lang="en-US" dirty="0" smtClean="0"/>
              <a:t>Authenticity</a:t>
            </a:r>
            <a:endParaRPr lang="en-US" dirty="0"/>
          </a:p>
          <a:p>
            <a:r>
              <a:rPr lang="en-US" dirty="0" smtClean="0"/>
              <a:t>Non-repudiation </a:t>
            </a:r>
            <a:r>
              <a:rPr lang="en-US" dirty="0"/>
              <a:t/>
            </a:r>
            <a:br>
              <a:rPr lang="en-US" dirty="0"/>
            </a:br>
            <a:endParaRPr lang="en-US" dirty="0"/>
          </a:p>
        </p:txBody>
      </p:sp>
      <p:sp>
        <p:nvSpPr>
          <p:cNvPr id="4" name="TextBox 3"/>
          <p:cNvSpPr txBox="1"/>
          <p:nvPr/>
        </p:nvSpPr>
        <p:spPr>
          <a:xfrm>
            <a:off x="1131216" y="1611984"/>
            <a:ext cx="5882326" cy="646331"/>
          </a:xfrm>
          <a:prstGeom prst="rect">
            <a:avLst/>
          </a:prstGeom>
          <a:noFill/>
        </p:spPr>
        <p:txBody>
          <a:bodyPr wrap="square" rtlCol="0">
            <a:spAutoFit/>
          </a:bodyPr>
          <a:lstStyle/>
          <a:p>
            <a:r>
              <a:rPr lang="en-US" dirty="0" smtClean="0"/>
              <a:t>HOW CAN CRYPTOGRAPHY SUPPORT THESE OBJECTIVES?</a:t>
            </a:r>
            <a:endParaRPr lang="en-US" dirty="0"/>
          </a:p>
        </p:txBody>
      </p:sp>
    </p:spTree>
    <p:extLst>
      <p:ext uri="{BB962C8B-B14F-4D97-AF65-F5344CB8AC3E}">
        <p14:creationId xmlns:p14="http://schemas.microsoft.com/office/powerpoint/2010/main" val="3070536245"/>
      </p:ext>
    </p:extLst>
  </p:cSld>
  <p:clrMapOvr>
    <a:masterClrMapping/>
  </p:clrMapOvr>
  <p:transition spd="slow">
    <p:wipe dir="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Cryptosystem and Cyber Security Objectives</a:t>
            </a:r>
            <a:endParaRPr lang="en-US" dirty="0"/>
          </a:p>
        </p:txBody>
      </p:sp>
      <p:sp>
        <p:nvSpPr>
          <p:cNvPr id="3" name="Content Placeholder 2"/>
          <p:cNvSpPr>
            <a:spLocks noGrp="1"/>
          </p:cNvSpPr>
          <p:nvPr>
            <p:ph idx="1"/>
          </p:nvPr>
        </p:nvSpPr>
        <p:spPr/>
        <p:txBody>
          <a:bodyPr/>
          <a:lstStyle/>
          <a:p>
            <a:r>
              <a:rPr lang="en-US" b="1" dirty="0"/>
              <a:t>Confidentiality: </a:t>
            </a:r>
            <a:r>
              <a:rPr lang="en-US" dirty="0"/>
              <a:t>Hiding message/file content</a:t>
            </a:r>
            <a:br>
              <a:rPr lang="en-US" dirty="0"/>
            </a:br>
            <a:r>
              <a:rPr lang="en-US" dirty="0"/>
              <a:t> Secret key, public key </a:t>
            </a:r>
            <a:r>
              <a:rPr lang="en-US" dirty="0" smtClean="0"/>
              <a:t>encryption</a:t>
            </a:r>
            <a:endParaRPr lang="en-US" dirty="0"/>
          </a:p>
          <a:p>
            <a:r>
              <a:rPr lang="en-US" dirty="0" smtClean="0"/>
              <a:t>Integrity</a:t>
            </a:r>
            <a:r>
              <a:rPr lang="en-US" dirty="0"/>
              <a:t>: Detecting modification</a:t>
            </a:r>
            <a:br>
              <a:rPr lang="en-US" dirty="0"/>
            </a:br>
            <a:r>
              <a:rPr lang="en-US" dirty="0"/>
              <a:t> Hash </a:t>
            </a:r>
            <a:r>
              <a:rPr lang="en-US" dirty="0" smtClean="0"/>
              <a:t>function</a:t>
            </a:r>
            <a:endParaRPr lang="en-US" dirty="0"/>
          </a:p>
          <a:p>
            <a:r>
              <a:rPr lang="en-US" dirty="0" smtClean="0"/>
              <a:t>Availability</a:t>
            </a:r>
            <a:r>
              <a:rPr lang="en-US" dirty="0"/>
              <a:t>: Not much – hiding existence of data</a:t>
            </a:r>
            <a:br>
              <a:rPr lang="en-US" dirty="0"/>
            </a:br>
            <a:r>
              <a:rPr lang="en-US" dirty="0"/>
              <a:t> Secret key, public key </a:t>
            </a:r>
            <a:r>
              <a:rPr lang="en-US" dirty="0" smtClean="0"/>
              <a:t>encryption</a:t>
            </a:r>
            <a:endParaRPr lang="en-US" dirty="0"/>
          </a:p>
          <a:p>
            <a:r>
              <a:rPr lang="en-US" dirty="0" smtClean="0"/>
              <a:t>Authenticity</a:t>
            </a:r>
            <a:r>
              <a:rPr lang="en-US" dirty="0"/>
              <a:t>: Verify origin</a:t>
            </a:r>
            <a:br>
              <a:rPr lang="en-US" dirty="0"/>
            </a:br>
            <a:r>
              <a:rPr lang="en-US" dirty="0"/>
              <a:t> Public key </a:t>
            </a:r>
            <a:r>
              <a:rPr lang="en-US" dirty="0" smtClean="0"/>
              <a:t>encryption</a:t>
            </a:r>
            <a:endParaRPr lang="en-US" dirty="0"/>
          </a:p>
          <a:p>
            <a:r>
              <a:rPr lang="en-US" dirty="0" smtClean="0"/>
              <a:t>Non-repudiation</a:t>
            </a:r>
            <a:r>
              <a:rPr lang="en-US" dirty="0"/>
              <a:t>: Verify activity</a:t>
            </a:r>
            <a:br>
              <a:rPr lang="en-US" dirty="0"/>
            </a:br>
            <a:r>
              <a:rPr lang="en-US" dirty="0"/>
              <a:t> Public key encryption </a:t>
            </a:r>
            <a:br>
              <a:rPr lang="en-US" dirty="0"/>
            </a:br>
            <a:endParaRPr lang="en-US" dirty="0"/>
          </a:p>
        </p:txBody>
      </p:sp>
    </p:spTree>
    <p:extLst>
      <p:ext uri="{BB962C8B-B14F-4D97-AF65-F5344CB8AC3E}">
        <p14:creationId xmlns:p14="http://schemas.microsoft.com/office/powerpoint/2010/main" val="1439743263"/>
      </p:ext>
    </p:extLst>
  </p:cSld>
  <p:clrMapOvr>
    <a:masterClrMapping/>
  </p:clrMapOvr>
  <p:transition spd="slow">
    <p:wipe dir="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Crypto Analysis</a:t>
            </a:r>
            <a:endParaRPr lang="en-US" dirty="0"/>
          </a:p>
        </p:txBody>
      </p:sp>
      <p:sp>
        <p:nvSpPr>
          <p:cNvPr id="3" name="Content Placeholder 2"/>
          <p:cNvSpPr>
            <a:spLocks noGrp="1"/>
          </p:cNvSpPr>
          <p:nvPr>
            <p:ph idx="1"/>
          </p:nvPr>
        </p:nvSpPr>
        <p:spPr>
          <a:xfrm>
            <a:off x="677334" y="2537662"/>
            <a:ext cx="8596668" cy="3880773"/>
          </a:xfrm>
        </p:spPr>
        <p:txBody>
          <a:bodyPr/>
          <a:lstStyle/>
          <a:p>
            <a:r>
              <a:rPr lang="en-US" dirty="0"/>
              <a:t>Cryptanalyst’s </a:t>
            </a:r>
            <a:r>
              <a:rPr lang="en-US" dirty="0" smtClean="0"/>
              <a:t>goal:</a:t>
            </a:r>
            <a:endParaRPr lang="en-US" dirty="0"/>
          </a:p>
          <a:p>
            <a:pPr lvl="1"/>
            <a:r>
              <a:rPr lang="en-US" dirty="0" smtClean="0"/>
              <a:t>Break message</a:t>
            </a:r>
            <a:endParaRPr lang="en-US" dirty="0"/>
          </a:p>
          <a:p>
            <a:pPr lvl="1"/>
            <a:r>
              <a:rPr lang="en-US" dirty="0" smtClean="0"/>
              <a:t>Break key</a:t>
            </a:r>
            <a:endParaRPr lang="en-US" dirty="0"/>
          </a:p>
          <a:p>
            <a:pPr lvl="1"/>
            <a:r>
              <a:rPr lang="en-US" dirty="0" smtClean="0"/>
              <a:t>Break </a:t>
            </a:r>
            <a:r>
              <a:rPr lang="en-US" dirty="0"/>
              <a:t>algorithm </a:t>
            </a:r>
            <a:br>
              <a:rPr lang="en-US" dirty="0"/>
            </a:br>
            <a:endParaRPr lang="en-US" dirty="0"/>
          </a:p>
        </p:txBody>
      </p:sp>
      <p:sp>
        <p:nvSpPr>
          <p:cNvPr id="4" name="TextBox 3"/>
          <p:cNvSpPr txBox="1"/>
          <p:nvPr/>
        </p:nvSpPr>
        <p:spPr>
          <a:xfrm>
            <a:off x="999241" y="1659118"/>
            <a:ext cx="6928701" cy="646331"/>
          </a:xfrm>
          <a:prstGeom prst="rect">
            <a:avLst/>
          </a:prstGeom>
          <a:noFill/>
        </p:spPr>
        <p:txBody>
          <a:bodyPr wrap="square" rtlCol="0">
            <a:spAutoFit/>
          </a:bodyPr>
          <a:lstStyle/>
          <a:p>
            <a:r>
              <a:rPr lang="en-US" b="1" dirty="0" smtClean="0"/>
              <a:t>A form </a:t>
            </a:r>
            <a:r>
              <a:rPr lang="en-US" b="1" dirty="0"/>
              <a:t>of Attack: </a:t>
            </a:r>
            <a:r>
              <a:rPr lang="en-US" dirty="0" smtClean="0"/>
              <a:t>the </a:t>
            </a:r>
            <a:r>
              <a:rPr lang="en-US" dirty="0"/>
              <a:t>process of studying cryptographic systems to look for weaknesses or leaks of </a:t>
            </a:r>
            <a:r>
              <a:rPr lang="en-US" dirty="0" smtClean="0"/>
              <a:t>information</a:t>
            </a:r>
            <a:endParaRPr lang="en-US" dirty="0"/>
          </a:p>
        </p:txBody>
      </p:sp>
    </p:spTree>
    <p:extLst>
      <p:ext uri="{BB962C8B-B14F-4D97-AF65-F5344CB8AC3E}">
        <p14:creationId xmlns:p14="http://schemas.microsoft.com/office/powerpoint/2010/main" val="2776851791"/>
      </p:ext>
    </p:extLst>
  </p:cSld>
  <p:clrMapOvr>
    <a:masterClrMapping/>
  </p:clrMapOvr>
  <p:transition spd="slow">
    <p:wipe dir="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Breakable versus Practically breakable </a:t>
            </a:r>
            <a:br>
              <a:rPr lang="en-US" dirty="0"/>
            </a:br>
            <a:endParaRPr lang="en-US" dirty="0"/>
          </a:p>
        </p:txBody>
      </p:sp>
      <p:sp>
        <p:nvSpPr>
          <p:cNvPr id="3" name="Content Placeholder 2"/>
          <p:cNvSpPr>
            <a:spLocks noGrp="1"/>
          </p:cNvSpPr>
          <p:nvPr>
            <p:ph idx="1"/>
          </p:nvPr>
        </p:nvSpPr>
        <p:spPr/>
        <p:txBody>
          <a:bodyPr/>
          <a:lstStyle/>
          <a:p>
            <a:r>
              <a:rPr lang="en-US" b="1" dirty="0"/>
              <a:t>Unconditionally secure</a:t>
            </a:r>
            <a:r>
              <a:rPr lang="en-US" dirty="0"/>
              <a:t>: impossible to</a:t>
            </a:r>
            <a:br>
              <a:rPr lang="en-US" dirty="0"/>
            </a:br>
            <a:r>
              <a:rPr lang="en-US" dirty="0"/>
              <a:t>decrypt. No amount of </a:t>
            </a:r>
            <a:r>
              <a:rPr lang="en-US" dirty="0" err="1"/>
              <a:t>ciphertext</a:t>
            </a:r>
            <a:r>
              <a:rPr lang="en-US" dirty="0"/>
              <a:t> will enable a</a:t>
            </a:r>
            <a:br>
              <a:rPr lang="en-US" dirty="0"/>
            </a:br>
            <a:r>
              <a:rPr lang="en-US" dirty="0"/>
              <a:t>cryptanalyst to obtain the </a:t>
            </a:r>
            <a:r>
              <a:rPr lang="en-US" dirty="0" smtClean="0"/>
              <a:t>plaintext</a:t>
            </a:r>
            <a:endParaRPr lang="en-US" dirty="0"/>
          </a:p>
          <a:p>
            <a:r>
              <a:rPr lang="en-US" b="1" dirty="0" smtClean="0"/>
              <a:t>Computationally </a:t>
            </a:r>
            <a:r>
              <a:rPr lang="en-US" b="1" dirty="0"/>
              <a:t>secure</a:t>
            </a:r>
            <a:r>
              <a:rPr lang="en-US" dirty="0"/>
              <a:t>: an algorithm that is</a:t>
            </a:r>
            <a:br>
              <a:rPr lang="en-US" dirty="0"/>
            </a:br>
            <a:r>
              <a:rPr lang="en-US" dirty="0"/>
              <a:t>not breakable in practice based on worst case</a:t>
            </a:r>
            <a:br>
              <a:rPr lang="en-US" dirty="0"/>
            </a:br>
            <a:r>
              <a:rPr lang="en-US" dirty="0" smtClean="0"/>
              <a:t>scenario</a:t>
            </a:r>
            <a:endParaRPr lang="en-US" dirty="0"/>
          </a:p>
          <a:p>
            <a:r>
              <a:rPr lang="en-US" b="1" dirty="0" smtClean="0"/>
              <a:t>Breakable</a:t>
            </a:r>
            <a:r>
              <a:rPr lang="en-US" dirty="0"/>
              <a:t>: all algorithms (except one-time</a:t>
            </a:r>
            <a:br>
              <a:rPr lang="en-US" dirty="0"/>
            </a:br>
            <a:r>
              <a:rPr lang="en-US" dirty="0"/>
              <a:t>pad) are theoretically breakable </a:t>
            </a:r>
            <a:br>
              <a:rPr lang="en-US" dirty="0"/>
            </a:br>
            <a:endParaRPr lang="en-US" dirty="0"/>
          </a:p>
        </p:txBody>
      </p:sp>
    </p:spTree>
    <p:extLst>
      <p:ext uri="{BB962C8B-B14F-4D97-AF65-F5344CB8AC3E}">
        <p14:creationId xmlns:p14="http://schemas.microsoft.com/office/powerpoint/2010/main" val="3398509920"/>
      </p:ext>
    </p:extLst>
  </p:cSld>
  <p:clrMapOvr>
    <a:masterClrMapping/>
  </p:clrMapOvr>
  <p:transition spd="slow">
    <p:wipe dir="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Vulnerabilities of Cryptosystems</a:t>
            </a:r>
            <a:endParaRPr lang="en-US" dirty="0"/>
          </a:p>
        </p:txBody>
      </p:sp>
      <p:sp>
        <p:nvSpPr>
          <p:cNvPr id="3" name="Content Placeholder 2"/>
          <p:cNvSpPr>
            <a:spLocks noGrp="1"/>
          </p:cNvSpPr>
          <p:nvPr>
            <p:ph idx="1"/>
          </p:nvPr>
        </p:nvSpPr>
        <p:spPr/>
        <p:txBody>
          <a:bodyPr/>
          <a:lstStyle/>
          <a:p>
            <a:r>
              <a:rPr lang="en-US" b="1" dirty="0"/>
              <a:t>Passive Attacker </a:t>
            </a:r>
            <a:r>
              <a:rPr lang="en-US" dirty="0"/>
              <a:t>(Eavesdropper)</a:t>
            </a:r>
            <a:br>
              <a:rPr lang="en-US" dirty="0"/>
            </a:br>
            <a:r>
              <a:rPr lang="en-US" dirty="0"/>
              <a:t>Obtain and/or guess key and cryptosystem</a:t>
            </a:r>
            <a:br>
              <a:rPr lang="en-US" dirty="0"/>
            </a:br>
            <a:r>
              <a:rPr lang="en-US" dirty="0"/>
              <a:t>use these to decrypt messages</a:t>
            </a:r>
            <a:br>
              <a:rPr lang="en-US" dirty="0"/>
            </a:br>
            <a:r>
              <a:rPr lang="en-US" dirty="0"/>
              <a:t>Capture text in transit and try a </a:t>
            </a:r>
            <a:r>
              <a:rPr lang="en-US" dirty="0" err="1"/>
              <a:t>ciphertextonly</a:t>
            </a:r>
            <a:r>
              <a:rPr lang="en-US" dirty="0"/>
              <a:t> attack to obtain plaintext. </a:t>
            </a:r>
            <a:endParaRPr lang="en-US" dirty="0" smtClean="0"/>
          </a:p>
          <a:p>
            <a:r>
              <a:rPr lang="en-US" b="1" dirty="0"/>
              <a:t>Active Attacker</a:t>
            </a:r>
            <a:br>
              <a:rPr lang="en-US" b="1" dirty="0"/>
            </a:br>
            <a:r>
              <a:rPr lang="en-US" dirty="0"/>
              <a:t>Break communication channel (denial of</a:t>
            </a:r>
            <a:br>
              <a:rPr lang="en-US" dirty="0"/>
            </a:br>
            <a:r>
              <a:rPr lang="en-US" dirty="0"/>
              <a:t>service)</a:t>
            </a:r>
            <a:br>
              <a:rPr lang="en-US" dirty="0"/>
            </a:br>
            <a:r>
              <a:rPr lang="en-US" dirty="0"/>
              <a:t>Obtain and/or guess key and cryptosystem</a:t>
            </a:r>
            <a:br>
              <a:rPr lang="en-US" dirty="0"/>
            </a:br>
            <a:r>
              <a:rPr lang="en-US" dirty="0"/>
              <a:t>and use these to send fake </a:t>
            </a:r>
            <a:r>
              <a:rPr lang="en-US" dirty="0" err="1"/>
              <a:t>messag</a:t>
            </a:r>
            <a:r>
              <a:rPr lang="en-US" dirty="0"/>
              <a:t> </a:t>
            </a:r>
            <a:br>
              <a:rPr lang="en-US" dirty="0"/>
            </a:br>
            <a:r>
              <a:rPr lang="en-US" dirty="0"/>
              <a:t/>
            </a:r>
            <a:br>
              <a:rPr lang="en-US" dirty="0"/>
            </a:br>
            <a:endParaRPr lang="en-US" dirty="0"/>
          </a:p>
        </p:txBody>
      </p:sp>
      <p:sp>
        <p:nvSpPr>
          <p:cNvPr id="4" name="TextBox 3"/>
          <p:cNvSpPr txBox="1"/>
          <p:nvPr/>
        </p:nvSpPr>
        <p:spPr>
          <a:xfrm>
            <a:off x="980388" y="1687398"/>
            <a:ext cx="4468305" cy="369332"/>
          </a:xfrm>
          <a:prstGeom prst="rect">
            <a:avLst/>
          </a:prstGeom>
          <a:noFill/>
        </p:spPr>
        <p:txBody>
          <a:bodyPr wrap="square" rtlCol="0">
            <a:spAutoFit/>
          </a:bodyPr>
          <a:lstStyle/>
          <a:p>
            <a:r>
              <a:rPr lang="en-US" dirty="0" smtClean="0"/>
              <a:t>1) Secret Key Cryptosystem</a:t>
            </a:r>
            <a:endParaRPr lang="en-US" dirty="0"/>
          </a:p>
        </p:txBody>
      </p:sp>
    </p:spTree>
    <p:extLst>
      <p:ext uri="{BB962C8B-B14F-4D97-AF65-F5344CB8AC3E}">
        <p14:creationId xmlns:p14="http://schemas.microsoft.com/office/powerpoint/2010/main" val="575162723"/>
      </p:ext>
    </p:extLst>
  </p:cSld>
  <p:clrMapOvr>
    <a:masterClrMapping/>
  </p:clrMapOvr>
  <p:transition spd="slow">
    <p:wipe dir="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677334" y="2483754"/>
            <a:ext cx="8596668" cy="3880773"/>
          </a:xfrm>
        </p:spPr>
        <p:txBody>
          <a:bodyPr/>
          <a:lstStyle/>
          <a:p>
            <a:r>
              <a:rPr lang="en-US" b="1" dirty="0"/>
              <a:t>Key distribution </a:t>
            </a:r>
            <a:r>
              <a:rPr lang="en-US" dirty="0"/>
              <a:t>must be done secretly (difficult when</a:t>
            </a:r>
            <a:br>
              <a:rPr lang="en-US" dirty="0"/>
            </a:br>
            <a:r>
              <a:rPr lang="en-US" dirty="0"/>
              <a:t>parties are geographically distant, or don't know each</a:t>
            </a:r>
            <a:br>
              <a:rPr lang="en-US" dirty="0"/>
            </a:br>
            <a:r>
              <a:rPr lang="en-US" dirty="0" smtClean="0"/>
              <a:t>other)</a:t>
            </a:r>
            <a:endParaRPr lang="en-US" dirty="0"/>
          </a:p>
          <a:p>
            <a:r>
              <a:rPr lang="en-US" dirty="0" smtClean="0"/>
              <a:t>Need </a:t>
            </a:r>
            <a:r>
              <a:rPr lang="en-US" dirty="0"/>
              <a:t>a </a:t>
            </a:r>
            <a:r>
              <a:rPr lang="en-US" b="1" dirty="0"/>
              <a:t>key for each pair of users</a:t>
            </a:r>
            <a:br>
              <a:rPr lang="en-US" b="1" dirty="0"/>
            </a:br>
            <a:r>
              <a:rPr lang="en-US" dirty="0"/>
              <a:t> </a:t>
            </a:r>
            <a:r>
              <a:rPr lang="en-US" i="1" dirty="0"/>
              <a:t>n </a:t>
            </a:r>
            <a:r>
              <a:rPr lang="en-US" dirty="0"/>
              <a:t>users need </a:t>
            </a:r>
            <a:r>
              <a:rPr lang="en-US" i="1" dirty="0"/>
              <a:t>n*(n-1)/2 </a:t>
            </a:r>
            <a:r>
              <a:rPr lang="en-US" dirty="0" smtClean="0"/>
              <a:t>keys</a:t>
            </a:r>
            <a:endParaRPr lang="en-US" dirty="0"/>
          </a:p>
          <a:p>
            <a:r>
              <a:rPr lang="en-US" dirty="0" smtClean="0"/>
              <a:t>If </a:t>
            </a:r>
            <a:r>
              <a:rPr lang="en-US" dirty="0"/>
              <a:t>the </a:t>
            </a:r>
            <a:r>
              <a:rPr lang="en-US" b="1" dirty="0"/>
              <a:t>secret key </a:t>
            </a:r>
            <a:r>
              <a:rPr lang="en-US" dirty="0"/>
              <a:t>(and cryptosystem) is </a:t>
            </a:r>
            <a:r>
              <a:rPr lang="en-US" b="1" dirty="0"/>
              <a:t>compromised</a:t>
            </a:r>
            <a:r>
              <a:rPr lang="en-US" dirty="0"/>
              <a:t>,</a:t>
            </a:r>
            <a:br>
              <a:rPr lang="en-US" dirty="0"/>
            </a:br>
            <a:r>
              <a:rPr lang="en-US" dirty="0"/>
              <a:t>the adversary will be able to decrypt all traffic and</a:t>
            </a:r>
            <a:br>
              <a:rPr lang="en-US" dirty="0"/>
            </a:br>
            <a:r>
              <a:rPr lang="en-US" dirty="0"/>
              <a:t>produce fake messages </a:t>
            </a:r>
            <a:br>
              <a:rPr lang="en-US" dirty="0"/>
            </a:br>
            <a:endParaRPr lang="en-US" dirty="0"/>
          </a:p>
        </p:txBody>
      </p:sp>
      <p:sp>
        <p:nvSpPr>
          <p:cNvPr id="4" name="Rectangle 3"/>
          <p:cNvSpPr/>
          <p:nvPr/>
        </p:nvSpPr>
        <p:spPr>
          <a:xfrm>
            <a:off x="1775382" y="1948451"/>
            <a:ext cx="6096000" cy="646331"/>
          </a:xfrm>
          <a:prstGeom prst="rect">
            <a:avLst/>
          </a:prstGeom>
        </p:spPr>
        <p:txBody>
          <a:bodyPr>
            <a:spAutoFit/>
          </a:bodyPr>
          <a:lstStyle/>
          <a:p>
            <a:r>
              <a:rPr lang="en-US" b="1" dirty="0" smtClean="0">
                <a:solidFill>
                  <a:srgbClr val="000000"/>
                </a:solidFill>
                <a:latin typeface="LiberationSerif-Bold"/>
              </a:rPr>
              <a:t>Symmetric Cryptography</a:t>
            </a:r>
            <a:r>
              <a:rPr lang="en-US" dirty="0" smtClean="0"/>
              <a:t> </a:t>
            </a:r>
            <a:r>
              <a:rPr lang="en-US" dirty="0"/>
              <a:t/>
            </a:r>
            <a:br>
              <a:rPr lang="en-US" dirty="0"/>
            </a:br>
            <a:endParaRPr lang="en-US" dirty="0"/>
          </a:p>
        </p:txBody>
      </p:sp>
    </p:spTree>
    <p:extLst>
      <p:ext uri="{BB962C8B-B14F-4D97-AF65-F5344CB8AC3E}">
        <p14:creationId xmlns:p14="http://schemas.microsoft.com/office/powerpoint/2010/main" val="1554409616"/>
      </p:ext>
    </p:extLst>
  </p:cSld>
  <p:clrMapOvr>
    <a:masterClrMapping/>
  </p:clrMapOvr>
  <p:transition spd="slow">
    <p:wipe dir="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sp>
        <p:nvSpPr>
          <p:cNvPr id="4" name="Content Placeholder 2"/>
          <p:cNvSpPr txBox="1">
            <a:spLocks noGrp="1"/>
          </p:cNvSpPr>
          <p:nvPr>
            <p:ph type="title"/>
          </p:nvPr>
        </p:nvSpPr>
        <p:spPr>
          <a:prstGeom prst="rect">
            <a:avLst/>
          </a:prstGeom>
        </p:spPr>
        <p:txBody>
          <a:bodyPr vert="horz" lIns="91440" tIns="45720" rIns="91440" bIns="45720" rtlCol="0">
            <a:normAutofit fontScale="9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endParaRPr lang="en-US" altLang="en-US" sz="3600" dirty="0" smtClean="0"/>
          </a:p>
          <a:p>
            <a:pPr marL="0" indent="0" algn="ctr">
              <a:buFont typeface="Wingdings 3" charset="2"/>
              <a:buNone/>
            </a:pPr>
            <a:endParaRPr lang="en-US" altLang="en-US" sz="3600" dirty="0" smtClean="0"/>
          </a:p>
          <a:p>
            <a:pPr marL="0" indent="0" algn="ctr">
              <a:buFont typeface="Wingdings 3" charset="2"/>
              <a:buNone/>
            </a:pPr>
            <a:endParaRPr lang="en-US" altLang="en-US" sz="3600" dirty="0" smtClean="0"/>
          </a:p>
          <a:p>
            <a:pPr marL="0" indent="0" algn="ctr">
              <a:buFont typeface="Wingdings 3" charset="2"/>
              <a:buNone/>
            </a:pPr>
            <a:r>
              <a:rPr lang="en-US" altLang="en-US" sz="3600" dirty="0" smtClean="0"/>
              <a:t>FIREWALL</a:t>
            </a:r>
            <a:endParaRPr lang="en-US" altLang="en-US" sz="3600" dirty="0"/>
          </a:p>
        </p:txBody>
      </p:sp>
    </p:spTree>
    <p:extLst>
      <p:ext uri="{BB962C8B-B14F-4D97-AF65-F5344CB8AC3E}">
        <p14:creationId xmlns:p14="http://schemas.microsoft.com/office/powerpoint/2010/main" val="2250500895"/>
      </p:ext>
    </p:extLst>
  </p:cSld>
  <p:clrMapOvr>
    <a:masterClrMapping/>
  </p:clrMapOvr>
  <p:transition spd="slow">
    <p:wipe dir="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p:txBody>
          <a:bodyPr/>
          <a:lstStyle/>
          <a:p>
            <a:r>
              <a:rPr lang="en-US" dirty="0"/>
              <a:t>Keep </a:t>
            </a:r>
            <a:r>
              <a:rPr lang="en-US" dirty="0" err="1" smtClean="0"/>
              <a:t>intruders,malicious</a:t>
            </a:r>
            <a:r>
              <a:rPr lang="en-US" dirty="0" smtClean="0"/>
              <a:t> </a:t>
            </a:r>
            <a:r>
              <a:rPr lang="en-US" dirty="0"/>
              <a:t>code </a:t>
            </a:r>
            <a:r>
              <a:rPr lang="en-US" dirty="0" smtClean="0"/>
              <a:t>and unwanted</a:t>
            </a:r>
            <a:r>
              <a:rPr lang="en-US" dirty="0"/>
              <a:t> </a:t>
            </a:r>
            <a:r>
              <a:rPr lang="en-US" dirty="0" smtClean="0"/>
              <a:t>traffic or information out</a:t>
            </a:r>
            <a:endParaRPr lang="en-US" dirty="0"/>
          </a:p>
          <a:p>
            <a:r>
              <a:rPr lang="en-US" dirty="0" smtClean="0"/>
              <a:t>Keep proprietary and sensitive information </a:t>
            </a:r>
            <a:r>
              <a:rPr lang="en-US" dirty="0"/>
              <a:t>in </a:t>
            </a:r>
            <a:br>
              <a:rPr lang="en-US" dirty="0"/>
            </a:br>
            <a:endParaRPr lang="en-US" dirty="0"/>
          </a:p>
        </p:txBody>
      </p:sp>
    </p:spTree>
    <p:extLst>
      <p:ext uri="{BB962C8B-B14F-4D97-AF65-F5344CB8AC3E}">
        <p14:creationId xmlns:p14="http://schemas.microsoft.com/office/powerpoint/2010/main" val="2303207134"/>
      </p:ext>
    </p:extLst>
  </p:cSld>
  <p:clrMapOvr>
    <a:masterClrMapping/>
  </p:clrMapOvr>
  <p:transition spd="slow">
    <p:wipe dir="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Risks Without Firewall</a:t>
            </a:r>
            <a:endParaRPr lang="en-US" dirty="0"/>
          </a:p>
        </p:txBody>
      </p:sp>
      <p:sp>
        <p:nvSpPr>
          <p:cNvPr id="3" name="Content Placeholder 2"/>
          <p:cNvSpPr>
            <a:spLocks noGrp="1"/>
          </p:cNvSpPr>
          <p:nvPr>
            <p:ph idx="1"/>
          </p:nvPr>
        </p:nvSpPr>
        <p:spPr>
          <a:xfrm>
            <a:off x="573639" y="2424539"/>
            <a:ext cx="8596668" cy="3880773"/>
          </a:xfrm>
        </p:spPr>
        <p:txBody>
          <a:bodyPr/>
          <a:lstStyle/>
          <a:p>
            <a:r>
              <a:rPr lang="en-US" dirty="0" smtClean="0"/>
              <a:t>Nodes:</a:t>
            </a:r>
          </a:p>
          <a:p>
            <a:r>
              <a:rPr lang="en-US" dirty="0" smtClean="0"/>
              <a:t>Are </a:t>
            </a:r>
            <a:r>
              <a:rPr lang="en-US" dirty="0"/>
              <a:t>exposed to insecure </a:t>
            </a:r>
            <a:r>
              <a:rPr lang="en-US" dirty="0" smtClean="0"/>
              <a:t>services</a:t>
            </a:r>
            <a:endParaRPr lang="en-US" dirty="0"/>
          </a:p>
          <a:p>
            <a:r>
              <a:rPr lang="en-US" dirty="0" smtClean="0"/>
              <a:t>Are </a:t>
            </a:r>
            <a:r>
              <a:rPr lang="en-US" dirty="0"/>
              <a:t>exposed to probes and attacks from </a:t>
            </a:r>
            <a:r>
              <a:rPr lang="en-US" dirty="0" err="1" smtClean="0"/>
              <a:t>outsid</a:t>
            </a:r>
            <a:endParaRPr lang="en-US" dirty="0" smtClean="0"/>
          </a:p>
          <a:p>
            <a:r>
              <a:rPr lang="en-US" dirty="0" smtClean="0"/>
              <a:t>Can </a:t>
            </a:r>
            <a:r>
              <a:rPr lang="en-US" dirty="0"/>
              <a:t>be defenseless against new </a:t>
            </a:r>
            <a:r>
              <a:rPr lang="en-US" dirty="0" smtClean="0"/>
              <a:t>attacks</a:t>
            </a:r>
            <a:endParaRPr lang="en-US" dirty="0"/>
          </a:p>
          <a:p>
            <a:r>
              <a:rPr lang="en-US" dirty="0" smtClean="0"/>
              <a:t>Network </a:t>
            </a:r>
            <a:r>
              <a:rPr lang="en-US" dirty="0"/>
              <a:t>security totally relies on host security</a:t>
            </a:r>
            <a:br>
              <a:rPr lang="en-US" dirty="0"/>
            </a:br>
            <a:r>
              <a:rPr lang="en-US" dirty="0"/>
              <a:t>and all hosts must communicate to achieve high</a:t>
            </a:r>
            <a:br>
              <a:rPr lang="en-US" dirty="0"/>
            </a:br>
            <a:r>
              <a:rPr lang="en-US" dirty="0"/>
              <a:t>level of security – almost impossible </a:t>
            </a:r>
            <a:br>
              <a:rPr lang="en-US" dirty="0"/>
            </a:br>
            <a:endParaRPr lang="en-US" dirty="0"/>
          </a:p>
        </p:txBody>
      </p:sp>
    </p:spTree>
    <p:extLst>
      <p:ext uri="{BB962C8B-B14F-4D97-AF65-F5344CB8AC3E}">
        <p14:creationId xmlns:p14="http://schemas.microsoft.com/office/powerpoint/2010/main" val="815680387"/>
      </p:ext>
    </p:extLst>
  </p:cSld>
  <p:clrMapOvr>
    <a:masterClrMapping/>
  </p:clrMapOvr>
  <p:transition spd="slow">
    <p:wipe dir="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Basic Firewall Features</a:t>
            </a:r>
            <a:endParaRPr lang="en-US" dirty="0"/>
          </a:p>
        </p:txBody>
      </p:sp>
      <p:sp>
        <p:nvSpPr>
          <p:cNvPr id="3" name="Content Placeholder 2"/>
          <p:cNvSpPr>
            <a:spLocks noGrp="1"/>
          </p:cNvSpPr>
          <p:nvPr>
            <p:ph idx="1"/>
          </p:nvPr>
        </p:nvSpPr>
        <p:spPr/>
        <p:txBody>
          <a:bodyPr/>
          <a:lstStyle/>
          <a:p>
            <a:r>
              <a:rPr lang="en-US" dirty="0"/>
              <a:t>Routing information about the private network</a:t>
            </a:r>
            <a:br>
              <a:rPr lang="en-US" dirty="0"/>
            </a:br>
            <a:r>
              <a:rPr lang="en-US" dirty="0"/>
              <a:t>can't be observed from </a:t>
            </a:r>
            <a:r>
              <a:rPr lang="en-US" dirty="0" smtClean="0"/>
              <a:t>outside</a:t>
            </a:r>
            <a:endParaRPr lang="en-US" dirty="0"/>
          </a:p>
          <a:p>
            <a:r>
              <a:rPr lang="en-US" dirty="0" smtClean="0"/>
              <a:t>traceroute </a:t>
            </a:r>
            <a:r>
              <a:rPr lang="en-US" dirty="0"/>
              <a:t>and ping -o can't “see” internal </a:t>
            </a:r>
            <a:r>
              <a:rPr lang="en-US" dirty="0" smtClean="0"/>
              <a:t>hosts</a:t>
            </a:r>
            <a:endParaRPr lang="en-US" dirty="0"/>
          </a:p>
          <a:p>
            <a:r>
              <a:rPr lang="en-US" dirty="0" smtClean="0"/>
              <a:t>Users </a:t>
            </a:r>
            <a:r>
              <a:rPr lang="en-US" dirty="0"/>
              <a:t>wishing to log on to an internal host must</a:t>
            </a:r>
            <a:br>
              <a:rPr lang="en-US" dirty="0"/>
            </a:br>
            <a:r>
              <a:rPr lang="en-US" dirty="0"/>
              <a:t>first log onto a firewall machine </a:t>
            </a:r>
            <a:br>
              <a:rPr lang="en-US" dirty="0"/>
            </a:br>
            <a:endParaRPr lang="en-US" dirty="0"/>
          </a:p>
        </p:txBody>
      </p:sp>
    </p:spTree>
    <p:extLst>
      <p:ext uri="{BB962C8B-B14F-4D97-AF65-F5344CB8AC3E}">
        <p14:creationId xmlns:p14="http://schemas.microsoft.com/office/powerpoint/2010/main" val="1385229682"/>
      </p:ext>
    </p:extLst>
  </p:cSld>
  <p:clrMapOvr>
    <a:masterClrMapping/>
  </p:clrMapOvr>
  <p:transition spd="slow">
    <p:wipe dir="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challenge of balancing Security Firewalls with Accessibility</a:t>
            </a:r>
            <a:endParaRPr lang="en-US" dirty="0"/>
          </a:p>
        </p:txBody>
      </p:sp>
      <p:pic>
        <p:nvPicPr>
          <p:cNvPr id="4" name="Content Placeholder 3"/>
          <p:cNvPicPr>
            <a:picLocks noGrp="1" noChangeAspect="1"/>
          </p:cNvPicPr>
          <p:nvPr>
            <p:ph idx="1"/>
          </p:nvPr>
        </p:nvPicPr>
        <p:blipFill>
          <a:blip r:embed="rId2"/>
          <a:stretch>
            <a:fillRect/>
          </a:stretch>
        </p:blipFill>
        <p:spPr>
          <a:xfrm>
            <a:off x="2444647" y="2160588"/>
            <a:ext cx="5062743" cy="3881437"/>
          </a:xfrm>
          <a:prstGeom prst="rect">
            <a:avLst/>
          </a:prstGeom>
        </p:spPr>
      </p:pic>
    </p:spTree>
    <p:extLst>
      <p:ext uri="{BB962C8B-B14F-4D97-AF65-F5344CB8AC3E}">
        <p14:creationId xmlns:p14="http://schemas.microsoft.com/office/powerpoint/2010/main" val="2463006147"/>
      </p:ext>
    </p:extLst>
  </p:cSld>
  <p:clrMapOvr>
    <a:masterClrMapping/>
  </p:clrMapOvr>
  <p:transition spd="slow">
    <p:wipe dir="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Firewall Advantages </a:t>
            </a:r>
            <a:br>
              <a:rPr lang="en-US" dirty="0"/>
            </a:br>
            <a:endParaRPr lang="en-US" dirty="0"/>
          </a:p>
        </p:txBody>
      </p:sp>
      <p:sp>
        <p:nvSpPr>
          <p:cNvPr id="3" name="Content Placeholder 2"/>
          <p:cNvSpPr>
            <a:spLocks noGrp="1"/>
          </p:cNvSpPr>
          <p:nvPr>
            <p:ph idx="1"/>
          </p:nvPr>
        </p:nvSpPr>
        <p:spPr/>
        <p:txBody>
          <a:bodyPr/>
          <a:lstStyle/>
          <a:p>
            <a:r>
              <a:rPr lang="en-US" dirty="0"/>
              <a:t>Protection for vulnerable </a:t>
            </a:r>
            <a:r>
              <a:rPr lang="en-US" dirty="0" smtClean="0"/>
              <a:t>services</a:t>
            </a:r>
            <a:endParaRPr lang="en-US" dirty="0"/>
          </a:p>
          <a:p>
            <a:r>
              <a:rPr lang="en-US" dirty="0" smtClean="0"/>
              <a:t>Controlled </a:t>
            </a:r>
            <a:r>
              <a:rPr lang="en-US" dirty="0"/>
              <a:t>access to site </a:t>
            </a:r>
            <a:r>
              <a:rPr lang="en-US" dirty="0" smtClean="0"/>
              <a:t>systems</a:t>
            </a:r>
            <a:endParaRPr lang="en-US" dirty="0"/>
          </a:p>
          <a:p>
            <a:r>
              <a:rPr lang="en-US" dirty="0" smtClean="0"/>
              <a:t>Concentrated security</a:t>
            </a:r>
            <a:endParaRPr lang="en-US" dirty="0"/>
          </a:p>
          <a:p>
            <a:r>
              <a:rPr lang="en-US" dirty="0" smtClean="0"/>
              <a:t>Enhanced Privacy</a:t>
            </a:r>
            <a:endParaRPr lang="en-US" dirty="0"/>
          </a:p>
          <a:p>
            <a:r>
              <a:rPr lang="en-US" dirty="0" smtClean="0"/>
              <a:t>Logging </a:t>
            </a:r>
            <a:r>
              <a:rPr lang="en-US" dirty="0"/>
              <a:t>and statistics on network use,</a:t>
            </a:r>
            <a:br>
              <a:rPr lang="en-US" dirty="0"/>
            </a:br>
            <a:r>
              <a:rPr lang="en-US" dirty="0" smtClean="0"/>
              <a:t>misuse</a:t>
            </a:r>
            <a:endParaRPr lang="en-US" dirty="0"/>
          </a:p>
          <a:p>
            <a:r>
              <a:rPr lang="en-US" dirty="0" smtClean="0"/>
              <a:t>Policy </a:t>
            </a:r>
            <a:r>
              <a:rPr lang="en-US" dirty="0"/>
              <a:t>enforcement </a:t>
            </a:r>
            <a:br>
              <a:rPr lang="en-US" dirty="0"/>
            </a:br>
            <a:endParaRPr lang="en-US" dirty="0"/>
          </a:p>
        </p:txBody>
      </p:sp>
    </p:spTree>
    <p:extLst>
      <p:ext uri="{BB962C8B-B14F-4D97-AF65-F5344CB8AC3E}">
        <p14:creationId xmlns:p14="http://schemas.microsoft.com/office/powerpoint/2010/main" val="1295152435"/>
      </p:ext>
    </p:extLst>
  </p:cSld>
  <p:clrMapOvr>
    <a:masterClrMapping/>
  </p:clrMapOvr>
  <p:transition spd="slow">
    <p:wipe dir="r"/>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Firewall Disadvantages </a:t>
            </a:r>
            <a:br>
              <a:rPr lang="en-US" dirty="0"/>
            </a:br>
            <a:endParaRPr lang="en-US" dirty="0"/>
          </a:p>
        </p:txBody>
      </p:sp>
      <p:sp>
        <p:nvSpPr>
          <p:cNvPr id="3" name="Content Placeholder 2"/>
          <p:cNvSpPr>
            <a:spLocks noGrp="1"/>
          </p:cNvSpPr>
          <p:nvPr>
            <p:ph idx="1"/>
          </p:nvPr>
        </p:nvSpPr>
        <p:spPr>
          <a:xfrm>
            <a:off x="677334" y="1811798"/>
            <a:ext cx="8596668" cy="3880773"/>
          </a:xfrm>
        </p:spPr>
        <p:txBody>
          <a:bodyPr>
            <a:normAutofit fontScale="77500" lnSpcReduction="20000"/>
          </a:bodyPr>
          <a:lstStyle/>
          <a:p>
            <a:r>
              <a:rPr lang="en-US" i="1" dirty="0"/>
              <a:t>Restricted access </a:t>
            </a:r>
            <a:r>
              <a:rPr lang="en-US" dirty="0"/>
              <a:t>to desirable </a:t>
            </a:r>
            <a:r>
              <a:rPr lang="en-US" dirty="0" smtClean="0"/>
              <a:t>services</a:t>
            </a:r>
          </a:p>
          <a:p>
            <a:pPr lvl="1"/>
            <a:r>
              <a:rPr lang="en-US" dirty="0"/>
              <a:t> May block services that users want</a:t>
            </a:r>
            <a:br>
              <a:rPr lang="en-US" dirty="0"/>
            </a:br>
            <a:r>
              <a:rPr lang="en-US" dirty="0"/>
              <a:t> E.g., telnet, ftp, X windows, NFS, etc.</a:t>
            </a:r>
            <a:br>
              <a:rPr lang="en-US" dirty="0"/>
            </a:br>
            <a:r>
              <a:rPr lang="en-US" dirty="0"/>
              <a:t> Need well-balanced security policy</a:t>
            </a:r>
            <a:br>
              <a:rPr lang="en-US" dirty="0"/>
            </a:br>
            <a:r>
              <a:rPr lang="en-US" dirty="0"/>
              <a:t> Similar problems would occur with host access</a:t>
            </a:r>
            <a:br>
              <a:rPr lang="en-US" dirty="0"/>
            </a:br>
            <a:r>
              <a:rPr lang="en-US" dirty="0"/>
              <a:t>control </a:t>
            </a:r>
            <a:br>
              <a:rPr lang="en-US" dirty="0"/>
            </a:br>
            <a:endParaRPr lang="en-US" dirty="0"/>
          </a:p>
          <a:p>
            <a:r>
              <a:rPr lang="en-US" dirty="0" smtClean="0"/>
              <a:t>Large </a:t>
            </a:r>
            <a:r>
              <a:rPr lang="en-US" dirty="0"/>
              <a:t>potential for </a:t>
            </a:r>
            <a:r>
              <a:rPr lang="en-US" i="1" dirty="0"/>
              <a:t>back </a:t>
            </a:r>
            <a:r>
              <a:rPr lang="en-US" i="1" dirty="0" smtClean="0"/>
              <a:t>doors</a:t>
            </a:r>
          </a:p>
          <a:p>
            <a:pPr lvl="1"/>
            <a:r>
              <a:rPr lang="en-US" dirty="0"/>
              <a:t>Firewalls DO NOT protect against back</a:t>
            </a:r>
            <a:br>
              <a:rPr lang="en-US" dirty="0"/>
            </a:br>
            <a:r>
              <a:rPr lang="en-US" dirty="0"/>
              <a:t>doors into the site</a:t>
            </a:r>
            <a:br>
              <a:rPr lang="en-US" dirty="0"/>
            </a:br>
            <a:r>
              <a:rPr lang="en-US" dirty="0"/>
              <a:t> e.g., if unrestricted modem access is still</a:t>
            </a:r>
            <a:br>
              <a:rPr lang="en-US" dirty="0"/>
            </a:br>
            <a:r>
              <a:rPr lang="en-US" dirty="0"/>
              <a:t>permitted into a site the attacker could jump</a:t>
            </a:r>
            <a:br>
              <a:rPr lang="en-US" dirty="0"/>
            </a:br>
            <a:r>
              <a:rPr lang="en-US" dirty="0"/>
              <a:t>around the firewall</a:t>
            </a:r>
            <a:br>
              <a:rPr lang="en-US" dirty="0"/>
            </a:br>
            <a:r>
              <a:rPr lang="en-US" dirty="0"/>
              <a:t> Legacy network topology in large networks </a:t>
            </a:r>
            <a:br>
              <a:rPr lang="en-US" dirty="0"/>
            </a:br>
            <a:endParaRPr lang="en-US" i="1" dirty="0"/>
          </a:p>
          <a:p>
            <a:r>
              <a:rPr lang="en-US" dirty="0" smtClean="0"/>
              <a:t>No </a:t>
            </a:r>
            <a:r>
              <a:rPr lang="en-US" dirty="0"/>
              <a:t>protection from </a:t>
            </a:r>
            <a:r>
              <a:rPr lang="en-US" i="1" dirty="0"/>
              <a:t>insider </a:t>
            </a:r>
            <a:r>
              <a:rPr lang="en-US" i="1" dirty="0" smtClean="0"/>
              <a:t>attacks</a:t>
            </a:r>
          </a:p>
          <a:p>
            <a:pPr lvl="1"/>
            <a:r>
              <a:rPr lang="en-US" dirty="0"/>
              <a:t>Generally does not provide protection from</a:t>
            </a:r>
            <a:br>
              <a:rPr lang="en-US" dirty="0"/>
            </a:br>
            <a:r>
              <a:rPr lang="en-US" dirty="0"/>
              <a:t>insider threats</a:t>
            </a:r>
            <a:br>
              <a:rPr lang="en-US" dirty="0"/>
            </a:br>
            <a:r>
              <a:rPr lang="en-US" dirty="0"/>
              <a:t> Sneaker Net - insider may copy data onto</a:t>
            </a:r>
            <a:br>
              <a:rPr lang="en-US" dirty="0"/>
            </a:br>
            <a:r>
              <a:rPr lang="en-US" dirty="0"/>
              <a:t>tape or print it and take it out of the facility </a:t>
            </a:r>
            <a:br>
              <a:rPr lang="en-US" dirty="0"/>
            </a:br>
            <a:endParaRPr lang="en-US" i="1" dirty="0"/>
          </a:p>
        </p:txBody>
      </p:sp>
    </p:spTree>
    <p:extLst>
      <p:ext uri="{BB962C8B-B14F-4D97-AF65-F5344CB8AC3E}">
        <p14:creationId xmlns:p14="http://schemas.microsoft.com/office/powerpoint/2010/main" val="3140510349"/>
      </p:ext>
    </p:extLst>
  </p:cSld>
  <p:clrMapOvr>
    <a:masterClrMapping/>
  </p:clrMapOvr>
  <p:transition spd="slow">
    <p:wipe dir="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Firewall Disadvantages</a:t>
            </a:r>
            <a:endParaRPr lang="en-US" dirty="0"/>
          </a:p>
        </p:txBody>
      </p:sp>
      <p:sp>
        <p:nvSpPr>
          <p:cNvPr id="3" name="Content Placeholder 2"/>
          <p:cNvSpPr>
            <a:spLocks noGrp="1"/>
          </p:cNvSpPr>
          <p:nvPr>
            <p:ph idx="1"/>
          </p:nvPr>
        </p:nvSpPr>
        <p:spPr/>
        <p:txBody>
          <a:bodyPr>
            <a:normAutofit fontScale="92500" lnSpcReduction="10000"/>
          </a:bodyPr>
          <a:lstStyle/>
          <a:p>
            <a:r>
              <a:rPr lang="en-US" dirty="0"/>
              <a:t>No protection against </a:t>
            </a:r>
            <a:r>
              <a:rPr lang="en-US" i="1" dirty="0"/>
              <a:t>data-driven attacks</a:t>
            </a:r>
          </a:p>
          <a:p>
            <a:pPr lvl="1"/>
            <a:r>
              <a:rPr lang="en-US" i="1" dirty="0"/>
              <a:t>Viruses</a:t>
            </a:r>
            <a:r>
              <a:rPr lang="en-US" dirty="0"/>
              <a:t>:</a:t>
            </a:r>
            <a:br>
              <a:rPr lang="en-US" dirty="0"/>
            </a:br>
            <a:r>
              <a:rPr lang="en-US" dirty="0"/>
              <a:t> users downloading virus-infected personal</a:t>
            </a:r>
            <a:br>
              <a:rPr lang="en-US" dirty="0"/>
            </a:br>
            <a:r>
              <a:rPr lang="en-US" dirty="0"/>
              <a:t>computer programs</a:t>
            </a:r>
            <a:br>
              <a:rPr lang="en-US" dirty="0"/>
            </a:br>
            <a:r>
              <a:rPr lang="en-US" dirty="0"/>
              <a:t> </a:t>
            </a:r>
            <a:r>
              <a:rPr lang="en-US" i="1" dirty="0"/>
              <a:t>Executable Content</a:t>
            </a:r>
            <a:r>
              <a:rPr lang="en-US" dirty="0"/>
              <a:t>:</a:t>
            </a:r>
            <a:br>
              <a:rPr lang="en-US" dirty="0"/>
            </a:br>
            <a:r>
              <a:rPr lang="en-US" dirty="0"/>
              <a:t> Java applets</a:t>
            </a:r>
            <a:br>
              <a:rPr lang="en-US" dirty="0"/>
            </a:br>
            <a:r>
              <a:rPr lang="en-US" dirty="0"/>
              <a:t> ActiveX Controls</a:t>
            </a:r>
            <a:br>
              <a:rPr lang="en-US" dirty="0"/>
            </a:br>
            <a:r>
              <a:rPr lang="en-US" dirty="0"/>
              <a:t> JavaScript, VBScript</a:t>
            </a:r>
            <a:br>
              <a:rPr lang="en-US" dirty="0"/>
            </a:br>
            <a:r>
              <a:rPr lang="en-US" dirty="0"/>
              <a:t> </a:t>
            </a:r>
            <a:r>
              <a:rPr lang="en-US" i="1" dirty="0"/>
              <a:t>End to End Encryption</a:t>
            </a:r>
            <a:br>
              <a:rPr lang="en-US" i="1" dirty="0"/>
            </a:br>
            <a:r>
              <a:rPr lang="en-US" dirty="0"/>
              <a:t> </a:t>
            </a:r>
            <a:r>
              <a:rPr lang="en-US" i="1" dirty="0"/>
              <a:t>Tunneling/Encapsulation</a:t>
            </a:r>
            <a:r>
              <a:rPr lang="en-US" dirty="0"/>
              <a:t> </a:t>
            </a:r>
            <a:br>
              <a:rPr lang="en-US" dirty="0"/>
            </a:br>
            <a:endParaRPr lang="en-US" i="1" dirty="0"/>
          </a:p>
          <a:p>
            <a:r>
              <a:rPr lang="en-US" dirty="0"/>
              <a:t>Cannot protect against </a:t>
            </a:r>
            <a:r>
              <a:rPr lang="en-US" i="1" dirty="0"/>
              <a:t>newly discovered</a:t>
            </a:r>
            <a:br>
              <a:rPr lang="en-US" i="1" dirty="0"/>
            </a:br>
            <a:r>
              <a:rPr lang="en-US" dirty="0"/>
              <a:t>attacks – policy/situation dependent</a:t>
            </a:r>
          </a:p>
          <a:p>
            <a:r>
              <a:rPr lang="en-US" dirty="0"/>
              <a:t>Large </a:t>
            </a:r>
            <a:r>
              <a:rPr lang="en-US" i="1" dirty="0"/>
              <a:t>learning curve</a:t>
            </a:r>
            <a:r>
              <a:rPr lang="en-US" dirty="0"/>
              <a:t> </a:t>
            </a:r>
            <a:br>
              <a:rPr lang="en-US" dirty="0"/>
            </a:br>
            <a:endParaRPr lang="en-US" dirty="0"/>
          </a:p>
          <a:p>
            <a:endParaRPr lang="en-US" dirty="0"/>
          </a:p>
        </p:txBody>
      </p:sp>
    </p:spTree>
    <p:extLst>
      <p:ext uri="{BB962C8B-B14F-4D97-AF65-F5344CB8AC3E}">
        <p14:creationId xmlns:p14="http://schemas.microsoft.com/office/powerpoint/2010/main" val="2509528365"/>
      </p:ext>
    </p:extLst>
  </p:cSld>
  <p:clrMapOvr>
    <a:masterClrMapping/>
  </p:clrMapOvr>
  <p:transition spd="slow">
    <p:wipe dir="r"/>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Disadvantages of Firewall</a:t>
            </a:r>
            <a:endParaRPr lang="en-US" dirty="0"/>
          </a:p>
        </p:txBody>
      </p:sp>
      <p:sp>
        <p:nvSpPr>
          <p:cNvPr id="3" name="Content Placeholder 2"/>
          <p:cNvSpPr>
            <a:spLocks noGrp="1"/>
          </p:cNvSpPr>
          <p:nvPr>
            <p:ph idx="1"/>
          </p:nvPr>
        </p:nvSpPr>
        <p:spPr/>
        <p:txBody>
          <a:bodyPr/>
          <a:lstStyle/>
          <a:p>
            <a:r>
              <a:rPr lang="en-US" i="1" dirty="0"/>
              <a:t>Throughput</a:t>
            </a:r>
            <a:r>
              <a:rPr lang="en-US" dirty="0"/>
              <a:t>: potential bottleneck (all</a:t>
            </a:r>
            <a:br>
              <a:rPr lang="en-US" dirty="0"/>
            </a:br>
            <a:r>
              <a:rPr lang="en-US" dirty="0"/>
              <a:t>connections must pass through </a:t>
            </a:r>
            <a:r>
              <a:rPr lang="en-US" dirty="0" smtClean="0"/>
              <a:t>firewall)</a:t>
            </a:r>
            <a:endParaRPr lang="en-US" dirty="0"/>
          </a:p>
          <a:p>
            <a:r>
              <a:rPr lang="en-US" i="1" dirty="0" smtClean="0"/>
              <a:t>Single </a:t>
            </a:r>
            <a:r>
              <a:rPr lang="en-US" i="1" dirty="0"/>
              <a:t>point of failure</a:t>
            </a:r>
            <a:r>
              <a:rPr lang="en-US" dirty="0"/>
              <a:t>: concentrates security in</a:t>
            </a:r>
            <a:br>
              <a:rPr lang="en-US" dirty="0"/>
            </a:br>
            <a:r>
              <a:rPr lang="en-US" dirty="0"/>
              <a:t>one spot =&gt; compromised firewall is </a:t>
            </a:r>
            <a:r>
              <a:rPr lang="en-US" dirty="0" smtClean="0"/>
              <a:t>disaster</a:t>
            </a:r>
            <a:endParaRPr lang="en-US" dirty="0"/>
          </a:p>
          <a:p>
            <a:r>
              <a:rPr lang="en-US" i="1" dirty="0" smtClean="0"/>
              <a:t>Complexity </a:t>
            </a:r>
            <a:r>
              <a:rPr lang="en-US" dirty="0"/>
              <a:t>- feature </a:t>
            </a:r>
            <a:r>
              <a:rPr lang="en-US" dirty="0" smtClean="0"/>
              <a:t>bloat</a:t>
            </a:r>
            <a:endParaRPr lang="en-US" dirty="0"/>
          </a:p>
          <a:p>
            <a:r>
              <a:rPr lang="en-US" dirty="0" smtClean="0"/>
              <a:t>Some </a:t>
            </a:r>
            <a:r>
              <a:rPr lang="en-US" dirty="0"/>
              <a:t>services do not work well with </a:t>
            </a:r>
            <a:r>
              <a:rPr lang="en-US" dirty="0" smtClean="0"/>
              <a:t>firewalls</a:t>
            </a:r>
            <a:endParaRPr lang="en-US" dirty="0"/>
          </a:p>
          <a:p>
            <a:r>
              <a:rPr lang="en-US" dirty="0" smtClean="0"/>
              <a:t>Lack </a:t>
            </a:r>
            <a:r>
              <a:rPr lang="en-US" dirty="0"/>
              <a:t>of standard performance measurements</a:t>
            </a:r>
            <a:br>
              <a:rPr lang="en-US" dirty="0"/>
            </a:br>
            <a:r>
              <a:rPr lang="en-US" dirty="0"/>
              <a:t>or </a:t>
            </a:r>
            <a:r>
              <a:rPr lang="en-US" dirty="0" smtClean="0"/>
              <a:t>technique </a:t>
            </a:r>
            <a:r>
              <a:rPr lang="en-US" dirty="0"/>
              <a:t/>
            </a:r>
            <a:br>
              <a:rPr lang="en-US" dirty="0"/>
            </a:br>
            <a:endParaRPr lang="en-US" dirty="0"/>
          </a:p>
        </p:txBody>
      </p:sp>
    </p:spTree>
    <p:extLst>
      <p:ext uri="{BB962C8B-B14F-4D97-AF65-F5344CB8AC3E}">
        <p14:creationId xmlns:p14="http://schemas.microsoft.com/office/powerpoint/2010/main" val="3587594698"/>
      </p:ext>
    </p:extLst>
  </p:cSld>
  <p:clrMapOvr>
    <a:masterClrMapping/>
  </p:clrMapOvr>
  <p:transition spd="slow">
    <p:wipe dir="r"/>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Controlled Access </a:t>
            </a:r>
          </a:p>
        </p:txBody>
      </p:sp>
      <p:sp>
        <p:nvSpPr>
          <p:cNvPr id="3" name="Content Placeholder 2"/>
          <p:cNvSpPr>
            <a:spLocks noGrp="1"/>
          </p:cNvSpPr>
          <p:nvPr>
            <p:ph idx="1"/>
          </p:nvPr>
        </p:nvSpPr>
        <p:spPr/>
        <p:txBody>
          <a:bodyPr/>
          <a:lstStyle/>
          <a:p>
            <a:r>
              <a:rPr lang="en-US" dirty="0"/>
              <a:t>A site could prevent outside access to its</a:t>
            </a:r>
            <a:br>
              <a:rPr lang="en-US" dirty="0"/>
            </a:br>
            <a:r>
              <a:rPr lang="en-US" dirty="0"/>
              <a:t>hosts except for special cases (e.g., mail</a:t>
            </a:r>
            <a:br>
              <a:rPr lang="en-US" dirty="0"/>
            </a:br>
            <a:r>
              <a:rPr lang="en-US" dirty="0"/>
              <a:t>server</a:t>
            </a:r>
            <a:r>
              <a:rPr lang="en-US" dirty="0" smtClean="0"/>
              <a:t>).</a:t>
            </a:r>
            <a:endParaRPr lang="en-US" dirty="0"/>
          </a:p>
          <a:p>
            <a:r>
              <a:rPr lang="en-US" dirty="0" smtClean="0"/>
              <a:t>Do </a:t>
            </a:r>
            <a:r>
              <a:rPr lang="en-US" dirty="0"/>
              <a:t>not give access to a host that does not</a:t>
            </a:r>
            <a:br>
              <a:rPr lang="en-US" dirty="0"/>
            </a:br>
            <a:r>
              <a:rPr lang="en-US" dirty="0"/>
              <a:t>require </a:t>
            </a:r>
            <a:r>
              <a:rPr lang="en-US" dirty="0" smtClean="0"/>
              <a:t>access</a:t>
            </a:r>
            <a:endParaRPr lang="en-US" dirty="0"/>
          </a:p>
          <a:p>
            <a:r>
              <a:rPr lang="en-US" dirty="0" smtClean="0"/>
              <a:t>Some </a:t>
            </a:r>
            <a:r>
              <a:rPr lang="en-US" dirty="0"/>
              <a:t>hosts can be reached from outside,</a:t>
            </a:r>
            <a:br>
              <a:rPr lang="en-US" dirty="0"/>
            </a:br>
            <a:r>
              <a:rPr lang="en-US" dirty="0"/>
              <a:t>some can </a:t>
            </a:r>
            <a:r>
              <a:rPr lang="en-US" dirty="0" smtClean="0"/>
              <a:t>not.</a:t>
            </a:r>
            <a:endParaRPr lang="en-US" dirty="0"/>
          </a:p>
          <a:p>
            <a:r>
              <a:rPr lang="en-US" dirty="0" smtClean="0"/>
              <a:t>Some </a:t>
            </a:r>
            <a:r>
              <a:rPr lang="en-US" dirty="0"/>
              <a:t>hosts can reach outside, some can</a:t>
            </a:r>
            <a:br>
              <a:rPr lang="en-US" dirty="0"/>
            </a:br>
            <a:r>
              <a:rPr lang="en-US" dirty="0"/>
              <a:t>not </a:t>
            </a:r>
            <a:br>
              <a:rPr lang="en-US" dirty="0"/>
            </a:br>
            <a:endParaRPr lang="en-US" dirty="0"/>
          </a:p>
        </p:txBody>
      </p:sp>
    </p:spTree>
    <p:extLst>
      <p:ext uri="{BB962C8B-B14F-4D97-AF65-F5344CB8AC3E}">
        <p14:creationId xmlns:p14="http://schemas.microsoft.com/office/powerpoint/2010/main" val="1389164550"/>
      </p:ext>
    </p:extLst>
  </p:cSld>
  <p:clrMapOvr>
    <a:masterClrMapping/>
  </p:clrMapOvr>
  <p:transition spd="slow">
    <p:wipe dir="r"/>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Concentrated Security </a:t>
            </a:r>
            <a:br>
              <a:rPr lang="en-US" dirty="0"/>
            </a:br>
            <a:endParaRPr lang="en-US" dirty="0"/>
          </a:p>
        </p:txBody>
      </p:sp>
      <p:sp>
        <p:nvSpPr>
          <p:cNvPr id="3" name="Content Placeholder 2"/>
          <p:cNvSpPr>
            <a:spLocks noGrp="1"/>
          </p:cNvSpPr>
          <p:nvPr>
            <p:ph idx="1"/>
          </p:nvPr>
        </p:nvSpPr>
        <p:spPr/>
        <p:txBody>
          <a:bodyPr/>
          <a:lstStyle/>
          <a:p>
            <a:r>
              <a:rPr lang="en-US" dirty="0"/>
              <a:t>Firewall less expensive than securing </a:t>
            </a:r>
            <a:r>
              <a:rPr lang="en-US" dirty="0" smtClean="0"/>
              <a:t>all hosts</a:t>
            </a:r>
            <a:r>
              <a:rPr lang="en-US" dirty="0"/>
              <a:t/>
            </a:r>
            <a:br>
              <a:rPr lang="en-US" dirty="0"/>
            </a:br>
            <a:r>
              <a:rPr lang="en-US" dirty="0"/>
              <a:t> All or most modified software and additional</a:t>
            </a:r>
            <a:br>
              <a:rPr lang="en-US" dirty="0"/>
            </a:br>
            <a:r>
              <a:rPr lang="en-US" dirty="0"/>
              <a:t>security software on firewall only (no need to</a:t>
            </a:r>
            <a:br>
              <a:rPr lang="en-US" dirty="0"/>
            </a:br>
            <a:r>
              <a:rPr lang="en-US" dirty="0"/>
              <a:t>distribute on many </a:t>
            </a:r>
            <a:r>
              <a:rPr lang="en-US" dirty="0" smtClean="0"/>
              <a:t>hosts)</a:t>
            </a:r>
            <a:endParaRPr lang="en-US" dirty="0"/>
          </a:p>
          <a:p>
            <a:r>
              <a:rPr lang="en-US" dirty="0" smtClean="0"/>
              <a:t>Other </a:t>
            </a:r>
            <a:r>
              <a:rPr lang="en-US" dirty="0"/>
              <a:t>network security (e.g., </a:t>
            </a:r>
            <a:r>
              <a:rPr lang="en-US" dirty="0" smtClean="0"/>
              <a:t>Kerberos) involves </a:t>
            </a:r>
            <a:r>
              <a:rPr lang="en-US" dirty="0"/>
              <a:t>modification at each host system. </a:t>
            </a:r>
            <a:br>
              <a:rPr lang="en-US" dirty="0"/>
            </a:br>
            <a:endParaRPr lang="en-US" dirty="0"/>
          </a:p>
        </p:txBody>
      </p:sp>
    </p:spTree>
    <p:extLst>
      <p:ext uri="{BB962C8B-B14F-4D97-AF65-F5344CB8AC3E}">
        <p14:creationId xmlns:p14="http://schemas.microsoft.com/office/powerpoint/2010/main" val="1600866369"/>
      </p:ext>
    </p:extLst>
  </p:cSld>
  <p:clrMapOvr>
    <a:masterClrMapping/>
  </p:clrMapOvr>
  <p:transition spd="slow">
    <p:wipe dir="r"/>
  </p:transition>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1_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988</TotalTime>
  <Words>14944</Words>
  <Application>Microsoft Office PowerPoint</Application>
  <PresentationFormat>Widescreen</PresentationFormat>
  <Paragraphs>1583</Paragraphs>
  <Slides>139</Slides>
  <Notes>49</Notes>
  <HiddenSlides>0</HiddenSlides>
  <MMClips>0</MMClips>
  <ScaleCrop>false</ScaleCrop>
  <HeadingPairs>
    <vt:vector size="6" baseType="variant">
      <vt:variant>
        <vt:lpstr>Fonts Used</vt:lpstr>
      </vt:variant>
      <vt:variant>
        <vt:i4>14</vt:i4>
      </vt:variant>
      <vt:variant>
        <vt:lpstr>Theme</vt:lpstr>
      </vt:variant>
      <vt:variant>
        <vt:i4>2</vt:i4>
      </vt:variant>
      <vt:variant>
        <vt:lpstr>Slide Titles</vt:lpstr>
      </vt:variant>
      <vt:variant>
        <vt:i4>139</vt:i4>
      </vt:variant>
    </vt:vector>
  </HeadingPairs>
  <TitlesOfParts>
    <vt:vector size="155" baseType="lpstr">
      <vt:lpstr>Arial</vt:lpstr>
      <vt:lpstr>Calibri</vt:lpstr>
      <vt:lpstr>LiberationSans</vt:lpstr>
      <vt:lpstr>LiberationSans-Bold</vt:lpstr>
      <vt:lpstr>LiberationSerif</vt:lpstr>
      <vt:lpstr>LiberationSerif-Bold</vt:lpstr>
      <vt:lpstr>Lucida Sans</vt:lpstr>
      <vt:lpstr>Times</vt:lpstr>
      <vt:lpstr>Times New Roman</vt:lpstr>
      <vt:lpstr>Trebuchet MS</vt:lpstr>
      <vt:lpstr>Verdana</vt:lpstr>
      <vt:lpstr>Wingdings</vt:lpstr>
      <vt:lpstr>Wingdings 2</vt:lpstr>
      <vt:lpstr>Wingdings 3</vt:lpstr>
      <vt:lpstr>Facet</vt:lpstr>
      <vt:lpstr>1_Facet</vt:lpstr>
      <vt:lpstr>COPPERBELT UNIVERSITY</vt:lpstr>
      <vt:lpstr>PowerPoint Presentation</vt:lpstr>
      <vt:lpstr>Disclaimer!</vt:lpstr>
      <vt:lpstr>Intro ...                           Cont./</vt:lpstr>
      <vt:lpstr>Outline</vt:lpstr>
      <vt:lpstr>Cyber Attacks Timeline</vt:lpstr>
      <vt:lpstr>What Should I do?</vt:lpstr>
      <vt:lpstr>What is security?</vt:lpstr>
      <vt:lpstr>Tenets of Security</vt:lpstr>
      <vt:lpstr>Threats Attack and Attackers</vt:lpstr>
      <vt:lpstr>Types of Threats </vt:lpstr>
      <vt:lpstr>Categories of Threats</vt:lpstr>
      <vt:lpstr>Attacks</vt:lpstr>
      <vt:lpstr>Attacks</vt:lpstr>
      <vt:lpstr>Attacks                            cont./</vt:lpstr>
      <vt:lpstr>Attacks                               cont./</vt:lpstr>
      <vt:lpstr>Computer Criminals</vt:lpstr>
      <vt:lpstr>Security Polices</vt:lpstr>
      <vt:lpstr>Security Policies            cont./</vt:lpstr>
      <vt:lpstr>Methods of Defense</vt:lpstr>
      <vt:lpstr>PowerPoint Presentation</vt:lpstr>
      <vt:lpstr>Information Security Planning</vt:lpstr>
      <vt:lpstr>Risk Assessment  </vt:lpstr>
      <vt:lpstr>Risk Assessment  </vt:lpstr>
      <vt:lpstr>Real Cost of Cyber Attack  </vt:lpstr>
      <vt:lpstr>Risk Management Framework  </vt:lpstr>
      <vt:lpstr>PowerPoint Presentation</vt:lpstr>
      <vt:lpstr>Access Controls</vt:lpstr>
      <vt:lpstr>Access Control Overview</vt:lpstr>
      <vt:lpstr>Security Principles</vt:lpstr>
      <vt:lpstr>Identification, Authentication, and Authorization</vt:lpstr>
      <vt:lpstr>Identification</vt:lpstr>
      <vt:lpstr>Authentication</vt:lpstr>
      <vt:lpstr>Authentication</vt:lpstr>
      <vt:lpstr>Authentication</vt:lpstr>
      <vt:lpstr>Authentication</vt:lpstr>
      <vt:lpstr>Authentication</vt:lpstr>
      <vt:lpstr>Authentication</vt:lpstr>
      <vt:lpstr>Authentication</vt:lpstr>
      <vt:lpstr>Authentication</vt:lpstr>
      <vt:lpstr>Authentication</vt:lpstr>
      <vt:lpstr>Authentication</vt:lpstr>
      <vt:lpstr>Authentication</vt:lpstr>
      <vt:lpstr>Authorization</vt:lpstr>
      <vt:lpstr>Authorization</vt:lpstr>
      <vt:lpstr>Authorization</vt:lpstr>
      <vt:lpstr>Access Control Models</vt:lpstr>
      <vt:lpstr>Access Control Models</vt:lpstr>
      <vt:lpstr>Access Control Models</vt:lpstr>
      <vt:lpstr>Access Control Models</vt:lpstr>
      <vt:lpstr>Access Control Techniques</vt:lpstr>
      <vt:lpstr>Access Control Techniques</vt:lpstr>
      <vt:lpstr>Access Control Techniques</vt:lpstr>
      <vt:lpstr>Access Control Techniques</vt:lpstr>
      <vt:lpstr>Access Control Techniques</vt:lpstr>
      <vt:lpstr>Access Control Administration</vt:lpstr>
      <vt:lpstr>Access Control Administration</vt:lpstr>
      <vt:lpstr>Access Control Administration</vt:lpstr>
      <vt:lpstr>Access Control Administration</vt:lpstr>
      <vt:lpstr>Access Control Methods</vt:lpstr>
      <vt:lpstr>Access Control Methods</vt:lpstr>
      <vt:lpstr>Access Control Methods</vt:lpstr>
      <vt:lpstr>Access Control Methods</vt:lpstr>
      <vt:lpstr>Access Control Types</vt:lpstr>
      <vt:lpstr>Access Control Types</vt:lpstr>
      <vt:lpstr>Accountability</vt:lpstr>
      <vt:lpstr>Accountability</vt:lpstr>
      <vt:lpstr>Access Control Practices</vt:lpstr>
      <vt:lpstr>Access Control Practices</vt:lpstr>
      <vt:lpstr>Access Control Monitoring</vt:lpstr>
      <vt:lpstr>Access Control Monitoring</vt:lpstr>
      <vt:lpstr>Access Control Monitoring</vt:lpstr>
      <vt:lpstr>Access Control Monitoring </vt:lpstr>
      <vt:lpstr>Threats to Access Control</vt:lpstr>
      <vt:lpstr>PowerPoint Presentation</vt:lpstr>
      <vt:lpstr>Malicious Code</vt:lpstr>
      <vt:lpstr>In This lecture</vt:lpstr>
      <vt:lpstr>What is Malicious Code?</vt:lpstr>
      <vt:lpstr>Why we have so much malware</vt:lpstr>
      <vt:lpstr>Threat of monopoly</vt:lpstr>
      <vt:lpstr>Terminology</vt:lpstr>
      <vt:lpstr>Types of Malware</vt:lpstr>
      <vt:lpstr>Viruses</vt:lpstr>
      <vt:lpstr>Key Virus Characteristics</vt:lpstr>
      <vt:lpstr>Types of Viruses</vt:lpstr>
      <vt:lpstr>File Infecting Viruses</vt:lpstr>
      <vt:lpstr>cont./</vt:lpstr>
      <vt:lpstr>Types of File Infectors</vt:lpstr>
      <vt:lpstr>Boot Sector Viruses</vt:lpstr>
      <vt:lpstr>Stealth Virus</vt:lpstr>
      <vt:lpstr>Worms</vt:lpstr>
      <vt:lpstr>cont./</vt:lpstr>
      <vt:lpstr>Key Characteristics of Worms</vt:lpstr>
      <vt:lpstr>Worm Payloads</vt:lpstr>
      <vt:lpstr>“Good” worms?</vt:lpstr>
      <vt:lpstr>Trojans</vt:lpstr>
      <vt:lpstr>Types of Trojans</vt:lpstr>
      <vt:lpstr>Example: NetBus</vt:lpstr>
      <vt:lpstr>Example BO2k</vt:lpstr>
      <vt:lpstr>PowerPoint Presentation</vt:lpstr>
      <vt:lpstr>PowerPoint Presentation</vt:lpstr>
      <vt:lpstr>PowerPoint Presentation</vt:lpstr>
      <vt:lpstr>Trojans                              cont./</vt:lpstr>
      <vt:lpstr>Rootkits</vt:lpstr>
      <vt:lpstr>Rootkits</vt:lpstr>
      <vt:lpstr>Rootkit Countermeasures</vt:lpstr>
      <vt:lpstr>Spyware</vt:lpstr>
      <vt:lpstr>Others</vt:lpstr>
      <vt:lpstr>Cryptovirology</vt:lpstr>
      <vt:lpstr>PowerPoint Presentation</vt:lpstr>
      <vt:lpstr>PowerPoint Presentation</vt:lpstr>
      <vt:lpstr>Malicious Code Countermeasures</vt:lpstr>
      <vt:lpstr>Anti-Malware Software</vt:lpstr>
      <vt:lpstr>Summary</vt:lpstr>
      <vt:lpstr>PowerPoint Presentation</vt:lpstr>
      <vt:lpstr>Cryptography</vt:lpstr>
      <vt:lpstr>Cryptographic Protocols  </vt:lpstr>
      <vt:lpstr>Terminology</vt:lpstr>
      <vt:lpstr>Terminology</vt:lpstr>
      <vt:lpstr>Overview of Encryption and Decryption</vt:lpstr>
      <vt:lpstr>Types of Cryptosystems</vt:lpstr>
      <vt:lpstr>PowerPoint Presentation</vt:lpstr>
      <vt:lpstr>Discussion</vt:lpstr>
      <vt:lpstr>Cryptosystem and Cyber Security Objectives</vt:lpstr>
      <vt:lpstr>Crypto Analysis</vt:lpstr>
      <vt:lpstr>Breakable versus Practically breakable  </vt:lpstr>
      <vt:lpstr>Vulnerabilities of Cryptosystems</vt:lpstr>
      <vt:lpstr>PowerPoint Presentation</vt:lpstr>
      <vt:lpstr>   FIREWALL</vt:lpstr>
      <vt:lpstr>Objectives</vt:lpstr>
      <vt:lpstr>Risks Without Firewall</vt:lpstr>
      <vt:lpstr>Basic Firewall Features</vt:lpstr>
      <vt:lpstr>The challenge of balancing Security Firewalls with Accessibility</vt:lpstr>
      <vt:lpstr>Firewall Advantages  </vt:lpstr>
      <vt:lpstr>Firewall Disadvantages  </vt:lpstr>
      <vt:lpstr>Firewall Disadvantages</vt:lpstr>
      <vt:lpstr>Disadvantages of Firewall</vt:lpstr>
      <vt:lpstr>Controlled Access </vt:lpstr>
      <vt:lpstr>Concentrated Security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COPPERBELT UNIVERSITY</dc:title>
  <dc:creator>Darius eLibrary</dc:creator>
  <cp:lastModifiedBy>Microsoft account</cp:lastModifiedBy>
  <cp:revision>52</cp:revision>
  <dcterms:created xsi:type="dcterms:W3CDTF">2021-03-04T18:39:26Z</dcterms:created>
  <dcterms:modified xsi:type="dcterms:W3CDTF">2022-10-09T00:34:17Z</dcterms:modified>
</cp:coreProperties>
</file>