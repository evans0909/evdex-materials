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2"/>
  </p:notesMasterIdLst>
  <p:sldIdLst>
    <p:sldId id="256" r:id="rId2"/>
    <p:sldId id="258" r:id="rId3"/>
    <p:sldId id="259" r:id="rId4"/>
    <p:sldId id="260" r:id="rId5"/>
    <p:sldId id="261" r:id="rId6"/>
    <p:sldId id="262" r:id="rId7"/>
    <p:sldId id="265" r:id="rId8"/>
    <p:sldId id="266" r:id="rId9"/>
    <p:sldId id="267" r:id="rId10"/>
    <p:sldId id="268" r:id="rId11"/>
    <p:sldId id="269" r:id="rId12"/>
    <p:sldId id="271" r:id="rId13"/>
    <p:sldId id="272" r:id="rId14"/>
    <p:sldId id="273" r:id="rId15"/>
    <p:sldId id="274" r:id="rId16"/>
    <p:sldId id="276" r:id="rId17"/>
    <p:sldId id="277" r:id="rId18"/>
    <p:sldId id="279" r:id="rId19"/>
    <p:sldId id="280" r:id="rId20"/>
    <p:sldId id="282" r:id="rId21"/>
    <p:sldId id="283" r:id="rId22"/>
    <p:sldId id="284" r:id="rId23"/>
    <p:sldId id="285" r:id="rId24"/>
    <p:sldId id="289" r:id="rId25"/>
    <p:sldId id="292" r:id="rId26"/>
    <p:sldId id="293" r:id="rId27"/>
    <p:sldId id="294" r:id="rId28"/>
    <p:sldId id="295" r:id="rId29"/>
    <p:sldId id="296" r:id="rId30"/>
    <p:sldId id="297" r:id="rId31"/>
    <p:sldId id="298" r:id="rId32"/>
    <p:sldId id="299" r:id="rId33"/>
    <p:sldId id="300" r:id="rId34"/>
    <p:sldId id="301" r:id="rId35"/>
    <p:sldId id="311" r:id="rId36"/>
    <p:sldId id="321" r:id="rId37"/>
    <p:sldId id="322" r:id="rId38"/>
    <p:sldId id="323" r:id="rId39"/>
    <p:sldId id="270" r:id="rId40"/>
    <p:sldId id="31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85" d="100"/>
          <a:sy n="85" d="100"/>
        </p:scale>
        <p:origin x="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D2A61-825F-4B51-A083-E152279C7176}" type="datetimeFigureOut">
              <a:rPr lang="en-US" smtClean="0"/>
              <a:t>9/4/2022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C39E2F-A8C6-4870-9377-F86AC56E3E64}" type="slidenum">
              <a:rPr lang="en-US" smtClean="0"/>
              <a:t>‹#›</a:t>
            </a:fld>
            <a:endParaRPr lang="en-US"/>
          </a:p>
        </p:txBody>
      </p:sp>
    </p:spTree>
    <p:extLst>
      <p:ext uri="{BB962C8B-B14F-4D97-AF65-F5344CB8AC3E}">
        <p14:creationId xmlns:p14="http://schemas.microsoft.com/office/powerpoint/2010/main" val="2707822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62864B-0996-44BB-8746-3EC0DA1E59F8}" type="slidenum">
              <a:rPr lang="en-US" altLang="en-US"/>
              <a:pPr/>
              <a:t>2</a:t>
            </a:fld>
            <a:endParaRPr lang="en-US" altLang="en-US"/>
          </a:p>
        </p:txBody>
      </p:sp>
      <p:sp>
        <p:nvSpPr>
          <p:cNvPr id="1654786" name="Rectangle 2"/>
          <p:cNvSpPr>
            <a:spLocks noGrp="1" noRot="1" noChangeAspect="1" noChangeArrowheads="1" noTextEdit="1"/>
          </p:cNvSpPr>
          <p:nvPr>
            <p:ph type="sldImg"/>
          </p:nvPr>
        </p:nvSpPr>
        <p:spPr>
          <a:xfrm>
            <a:off x="404813" y="695325"/>
            <a:ext cx="6188075" cy="3481388"/>
          </a:xfrm>
          <a:ln/>
        </p:spPr>
      </p:sp>
      <p:sp>
        <p:nvSpPr>
          <p:cNvPr id="1654787" name="Rectangle 3"/>
          <p:cNvSpPr>
            <a:spLocks noGrp="1" noChangeArrowheads="1"/>
          </p:cNvSpPr>
          <p:nvPr>
            <p:ph type="body" idx="1"/>
          </p:nvPr>
        </p:nvSpPr>
        <p:spPr>
          <a:xfrm>
            <a:off x="700088" y="4408488"/>
            <a:ext cx="5599112" cy="4179887"/>
          </a:xfrm>
        </p:spPr>
        <p:txBody>
          <a:bodyPr/>
          <a:lstStyle/>
          <a:p>
            <a:endParaRPr lang="en-US" altLang="en-US"/>
          </a:p>
        </p:txBody>
      </p:sp>
    </p:spTree>
    <p:extLst>
      <p:ext uri="{BB962C8B-B14F-4D97-AF65-F5344CB8AC3E}">
        <p14:creationId xmlns:p14="http://schemas.microsoft.com/office/powerpoint/2010/main" val="3101075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C7D6F4-D721-4349-8071-0DC1EBBD9D80}" type="slidenum">
              <a:rPr lang="en-US" altLang="en-US"/>
              <a:pPr/>
              <a:t>3</a:t>
            </a:fld>
            <a:endParaRPr lang="en-US" altLang="en-US"/>
          </a:p>
        </p:txBody>
      </p:sp>
      <p:sp>
        <p:nvSpPr>
          <p:cNvPr id="1656834" name="Rectangle 2"/>
          <p:cNvSpPr>
            <a:spLocks noGrp="1" noRot="1" noChangeAspect="1" noChangeArrowheads="1" noTextEdit="1"/>
          </p:cNvSpPr>
          <p:nvPr>
            <p:ph type="sldImg"/>
          </p:nvPr>
        </p:nvSpPr>
        <p:spPr>
          <a:xfrm>
            <a:off x="404813" y="695325"/>
            <a:ext cx="6188075" cy="3481388"/>
          </a:xfrm>
          <a:ln/>
        </p:spPr>
      </p:sp>
      <p:sp>
        <p:nvSpPr>
          <p:cNvPr id="1656835" name="Rectangle 3"/>
          <p:cNvSpPr>
            <a:spLocks noGrp="1" noChangeArrowheads="1"/>
          </p:cNvSpPr>
          <p:nvPr>
            <p:ph type="body" idx="1"/>
          </p:nvPr>
        </p:nvSpPr>
        <p:spPr>
          <a:xfrm>
            <a:off x="700088" y="4408488"/>
            <a:ext cx="5599112" cy="4179887"/>
          </a:xfrm>
        </p:spPr>
        <p:txBody>
          <a:bodyPr/>
          <a:lstStyle/>
          <a:p>
            <a:endParaRPr lang="en-US" altLang="en-US"/>
          </a:p>
        </p:txBody>
      </p:sp>
    </p:spTree>
    <p:extLst>
      <p:ext uri="{BB962C8B-B14F-4D97-AF65-F5344CB8AC3E}">
        <p14:creationId xmlns:p14="http://schemas.microsoft.com/office/powerpoint/2010/main" val="152255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0C363B-0D3B-435A-BF83-A68421B080D5}" type="slidenum">
              <a:rPr lang="en-US" altLang="en-US"/>
              <a:pPr/>
              <a:t>4</a:t>
            </a:fld>
            <a:endParaRPr lang="en-US" altLang="en-US"/>
          </a:p>
        </p:txBody>
      </p:sp>
      <p:sp>
        <p:nvSpPr>
          <p:cNvPr id="1658882" name="Rectangle 2"/>
          <p:cNvSpPr>
            <a:spLocks noGrp="1" noRot="1" noChangeAspect="1" noChangeArrowheads="1" noTextEdit="1"/>
          </p:cNvSpPr>
          <p:nvPr>
            <p:ph type="sldImg"/>
          </p:nvPr>
        </p:nvSpPr>
        <p:spPr>
          <a:xfrm>
            <a:off x="404813" y="695325"/>
            <a:ext cx="6188075" cy="3481388"/>
          </a:xfrm>
          <a:ln/>
        </p:spPr>
      </p:sp>
      <p:sp>
        <p:nvSpPr>
          <p:cNvPr id="1658883" name="Rectangle 3"/>
          <p:cNvSpPr>
            <a:spLocks noGrp="1" noChangeArrowheads="1"/>
          </p:cNvSpPr>
          <p:nvPr>
            <p:ph type="body" idx="1"/>
          </p:nvPr>
        </p:nvSpPr>
        <p:spPr>
          <a:xfrm>
            <a:off x="700088" y="4408488"/>
            <a:ext cx="5599112" cy="4179887"/>
          </a:xfrm>
        </p:spPr>
        <p:txBody>
          <a:bodyPr/>
          <a:lstStyle/>
          <a:p>
            <a:endParaRPr lang="en-US" altLang="en-US"/>
          </a:p>
        </p:txBody>
      </p:sp>
    </p:spTree>
    <p:extLst>
      <p:ext uri="{BB962C8B-B14F-4D97-AF65-F5344CB8AC3E}">
        <p14:creationId xmlns:p14="http://schemas.microsoft.com/office/powerpoint/2010/main" val="578817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5A33F1-D260-49E3-B93C-E8A23CC1D95D}" type="slidenum">
              <a:rPr lang="en-US" altLang="en-US"/>
              <a:pPr/>
              <a:t>5</a:t>
            </a:fld>
            <a:endParaRPr lang="en-US" altLang="en-US"/>
          </a:p>
        </p:txBody>
      </p:sp>
      <p:sp>
        <p:nvSpPr>
          <p:cNvPr id="1660930" name="Rectangle 2"/>
          <p:cNvSpPr>
            <a:spLocks noGrp="1" noRot="1" noChangeAspect="1" noChangeArrowheads="1" noTextEdit="1"/>
          </p:cNvSpPr>
          <p:nvPr>
            <p:ph type="sldImg"/>
          </p:nvPr>
        </p:nvSpPr>
        <p:spPr>
          <a:xfrm>
            <a:off x="404813" y="695325"/>
            <a:ext cx="6188075" cy="3481388"/>
          </a:xfrm>
          <a:ln/>
        </p:spPr>
      </p:sp>
      <p:sp>
        <p:nvSpPr>
          <p:cNvPr id="1660931" name="Rectangle 3"/>
          <p:cNvSpPr>
            <a:spLocks noGrp="1" noChangeArrowheads="1"/>
          </p:cNvSpPr>
          <p:nvPr>
            <p:ph type="body" idx="1"/>
          </p:nvPr>
        </p:nvSpPr>
        <p:spPr>
          <a:xfrm>
            <a:off x="698500" y="4408488"/>
            <a:ext cx="5600700" cy="4179887"/>
          </a:xfrm>
        </p:spPr>
        <p:txBody>
          <a:bodyPr/>
          <a:lstStyle/>
          <a:p>
            <a:endParaRPr lang="en-US" altLang="en-US"/>
          </a:p>
        </p:txBody>
      </p:sp>
    </p:spTree>
    <p:extLst>
      <p:ext uri="{BB962C8B-B14F-4D97-AF65-F5344CB8AC3E}">
        <p14:creationId xmlns:p14="http://schemas.microsoft.com/office/powerpoint/2010/main" val="2032956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13173D-3CB9-4AFE-A7BF-AB2978114612}" type="slidenum">
              <a:rPr lang="en-US" altLang="en-US"/>
              <a:pPr/>
              <a:t>6</a:t>
            </a:fld>
            <a:endParaRPr lang="en-US" altLang="en-US"/>
          </a:p>
        </p:txBody>
      </p:sp>
      <p:sp>
        <p:nvSpPr>
          <p:cNvPr id="1662978" name="Rectangle 2"/>
          <p:cNvSpPr>
            <a:spLocks noGrp="1" noRot="1" noChangeAspect="1" noChangeArrowheads="1" noTextEdit="1"/>
          </p:cNvSpPr>
          <p:nvPr>
            <p:ph type="sldImg"/>
          </p:nvPr>
        </p:nvSpPr>
        <p:spPr>
          <a:xfrm>
            <a:off x="404813" y="695325"/>
            <a:ext cx="6188075" cy="3481388"/>
          </a:xfrm>
          <a:ln/>
        </p:spPr>
      </p:sp>
      <p:sp>
        <p:nvSpPr>
          <p:cNvPr id="1662979" name="Rectangle 3"/>
          <p:cNvSpPr>
            <a:spLocks noGrp="1" noChangeArrowheads="1"/>
          </p:cNvSpPr>
          <p:nvPr>
            <p:ph type="body" idx="1"/>
          </p:nvPr>
        </p:nvSpPr>
        <p:spPr>
          <a:xfrm>
            <a:off x="698500" y="4408488"/>
            <a:ext cx="5600700" cy="4179887"/>
          </a:xfrm>
        </p:spPr>
        <p:txBody>
          <a:bodyPr/>
          <a:lstStyle/>
          <a:p>
            <a:endParaRPr lang="en-US" altLang="en-US"/>
          </a:p>
        </p:txBody>
      </p:sp>
    </p:spTree>
    <p:extLst>
      <p:ext uri="{BB962C8B-B14F-4D97-AF65-F5344CB8AC3E}">
        <p14:creationId xmlns:p14="http://schemas.microsoft.com/office/powerpoint/2010/main" val="1281627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A4E81F-088B-4CB8-9E9B-D5ADB964E241}" type="slidenum">
              <a:rPr lang="en-US" altLang="en-US"/>
              <a:pPr/>
              <a:t>7</a:t>
            </a:fld>
            <a:endParaRPr lang="en-US" altLang="en-US"/>
          </a:p>
        </p:txBody>
      </p:sp>
      <p:sp>
        <p:nvSpPr>
          <p:cNvPr id="1671170" name="Rectangle 2"/>
          <p:cNvSpPr>
            <a:spLocks noGrp="1" noRot="1" noChangeAspect="1" noChangeArrowheads="1" noTextEdit="1"/>
          </p:cNvSpPr>
          <p:nvPr>
            <p:ph type="sldImg"/>
          </p:nvPr>
        </p:nvSpPr>
        <p:spPr>
          <a:xfrm>
            <a:off x="404813" y="695325"/>
            <a:ext cx="6188075" cy="3481388"/>
          </a:xfrm>
          <a:ln/>
        </p:spPr>
      </p:sp>
      <p:sp>
        <p:nvSpPr>
          <p:cNvPr id="1671171" name="Rectangle 3"/>
          <p:cNvSpPr>
            <a:spLocks noGrp="1" noChangeArrowheads="1"/>
          </p:cNvSpPr>
          <p:nvPr>
            <p:ph type="body" idx="1"/>
          </p:nvPr>
        </p:nvSpPr>
        <p:spPr>
          <a:xfrm>
            <a:off x="698500" y="4408488"/>
            <a:ext cx="5600700" cy="4179887"/>
          </a:xfrm>
        </p:spPr>
        <p:txBody>
          <a:bodyPr/>
          <a:lstStyle/>
          <a:p>
            <a:endParaRPr lang="en-US" altLang="en-US"/>
          </a:p>
        </p:txBody>
      </p:sp>
    </p:spTree>
    <p:extLst>
      <p:ext uri="{BB962C8B-B14F-4D97-AF65-F5344CB8AC3E}">
        <p14:creationId xmlns:p14="http://schemas.microsoft.com/office/powerpoint/2010/main" val="1645858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814C04-7669-4318-9AE4-49D732CC5D0A}" type="slidenum">
              <a:rPr lang="en-US" altLang="en-US"/>
              <a:pPr/>
              <a:t>8</a:t>
            </a:fld>
            <a:endParaRPr lang="en-US" altLang="en-US"/>
          </a:p>
        </p:txBody>
      </p:sp>
      <p:sp>
        <p:nvSpPr>
          <p:cNvPr id="1673218" name="Rectangle 2"/>
          <p:cNvSpPr>
            <a:spLocks noGrp="1" noRot="1" noChangeAspect="1" noChangeArrowheads="1" noTextEdit="1"/>
          </p:cNvSpPr>
          <p:nvPr>
            <p:ph type="sldImg"/>
          </p:nvPr>
        </p:nvSpPr>
        <p:spPr>
          <a:xfrm>
            <a:off x="404813" y="695325"/>
            <a:ext cx="6188075" cy="3481388"/>
          </a:xfrm>
          <a:ln/>
        </p:spPr>
      </p:sp>
      <p:sp>
        <p:nvSpPr>
          <p:cNvPr id="1673219" name="Rectangle 3"/>
          <p:cNvSpPr>
            <a:spLocks noGrp="1" noChangeArrowheads="1"/>
          </p:cNvSpPr>
          <p:nvPr>
            <p:ph type="body" idx="1"/>
          </p:nvPr>
        </p:nvSpPr>
        <p:spPr>
          <a:xfrm>
            <a:off x="698500" y="4408488"/>
            <a:ext cx="5600700" cy="4179887"/>
          </a:xfrm>
        </p:spPr>
        <p:txBody>
          <a:bodyPr/>
          <a:lstStyle/>
          <a:p>
            <a:endParaRPr lang="en-US" altLang="en-US"/>
          </a:p>
        </p:txBody>
      </p:sp>
    </p:spTree>
    <p:extLst>
      <p:ext uri="{BB962C8B-B14F-4D97-AF65-F5344CB8AC3E}">
        <p14:creationId xmlns:p14="http://schemas.microsoft.com/office/powerpoint/2010/main" val="1110792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767E57-4735-43C0-B606-7724EEA61BB5}" type="slidenum">
              <a:rPr lang="en-US" altLang="en-US"/>
              <a:pPr/>
              <a:t>9</a:t>
            </a:fld>
            <a:endParaRPr lang="en-US" altLang="en-US"/>
          </a:p>
        </p:txBody>
      </p:sp>
      <p:sp>
        <p:nvSpPr>
          <p:cNvPr id="1675266" name="Rectangle 2"/>
          <p:cNvSpPr>
            <a:spLocks noGrp="1" noRot="1" noChangeAspect="1" noChangeArrowheads="1" noTextEdit="1"/>
          </p:cNvSpPr>
          <p:nvPr>
            <p:ph type="sldImg"/>
          </p:nvPr>
        </p:nvSpPr>
        <p:spPr>
          <a:xfrm>
            <a:off x="404813" y="695325"/>
            <a:ext cx="6188075" cy="3481388"/>
          </a:xfrm>
          <a:ln/>
        </p:spPr>
      </p:sp>
      <p:sp>
        <p:nvSpPr>
          <p:cNvPr id="1675267" name="Rectangle 3"/>
          <p:cNvSpPr>
            <a:spLocks noGrp="1" noChangeArrowheads="1"/>
          </p:cNvSpPr>
          <p:nvPr>
            <p:ph type="body" idx="1"/>
          </p:nvPr>
        </p:nvSpPr>
        <p:spPr>
          <a:xfrm>
            <a:off x="698500" y="4408488"/>
            <a:ext cx="5600700" cy="4179887"/>
          </a:xfrm>
        </p:spPr>
        <p:txBody>
          <a:bodyPr/>
          <a:lstStyle/>
          <a:p>
            <a:endParaRPr lang="en-US" altLang="en-US"/>
          </a:p>
        </p:txBody>
      </p:sp>
    </p:spTree>
    <p:extLst>
      <p:ext uri="{BB962C8B-B14F-4D97-AF65-F5344CB8AC3E}">
        <p14:creationId xmlns:p14="http://schemas.microsoft.com/office/powerpoint/2010/main" val="2756718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01DF95-4C7E-4962-9B33-52652C9F58AA}" type="slidenum">
              <a:rPr lang="en-US" altLang="en-US"/>
              <a:pPr/>
              <a:t>10</a:t>
            </a:fld>
            <a:endParaRPr lang="en-US" altLang="en-US"/>
          </a:p>
        </p:txBody>
      </p:sp>
      <p:sp>
        <p:nvSpPr>
          <p:cNvPr id="1677314" name="Rectangle 2"/>
          <p:cNvSpPr>
            <a:spLocks noGrp="1" noRot="1" noChangeAspect="1" noChangeArrowheads="1" noTextEdit="1"/>
          </p:cNvSpPr>
          <p:nvPr>
            <p:ph type="sldImg"/>
          </p:nvPr>
        </p:nvSpPr>
        <p:spPr>
          <a:xfrm>
            <a:off x="404813" y="695325"/>
            <a:ext cx="6188075" cy="3481388"/>
          </a:xfrm>
          <a:ln/>
        </p:spPr>
      </p:sp>
      <p:sp>
        <p:nvSpPr>
          <p:cNvPr id="1677315" name="Rectangle 3"/>
          <p:cNvSpPr>
            <a:spLocks noGrp="1" noChangeArrowheads="1"/>
          </p:cNvSpPr>
          <p:nvPr>
            <p:ph type="body" idx="1"/>
          </p:nvPr>
        </p:nvSpPr>
        <p:spPr>
          <a:xfrm>
            <a:off x="698500" y="4408488"/>
            <a:ext cx="5600700" cy="4179887"/>
          </a:xfrm>
        </p:spPr>
        <p:txBody>
          <a:bodyPr/>
          <a:lstStyle/>
          <a:p>
            <a:endParaRPr lang="en-US" altLang="en-US"/>
          </a:p>
        </p:txBody>
      </p:sp>
    </p:spTree>
    <p:extLst>
      <p:ext uri="{BB962C8B-B14F-4D97-AF65-F5344CB8AC3E}">
        <p14:creationId xmlns:p14="http://schemas.microsoft.com/office/powerpoint/2010/main" val="436698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43D8FD-1CAE-4102-B3E9-339F0FD1FBDB}" type="slidenum">
              <a:rPr lang="en-US" altLang="en-US"/>
              <a:pPr/>
              <a:t>11</a:t>
            </a:fld>
            <a:endParaRPr lang="en-US" altLang="en-US"/>
          </a:p>
        </p:txBody>
      </p:sp>
      <p:sp>
        <p:nvSpPr>
          <p:cNvPr id="1679362" name="Rectangle 2"/>
          <p:cNvSpPr>
            <a:spLocks noGrp="1" noRot="1" noChangeAspect="1" noChangeArrowheads="1" noTextEdit="1"/>
          </p:cNvSpPr>
          <p:nvPr>
            <p:ph type="sldImg"/>
          </p:nvPr>
        </p:nvSpPr>
        <p:spPr>
          <a:xfrm>
            <a:off x="404813" y="695325"/>
            <a:ext cx="6188075" cy="3481388"/>
          </a:xfrm>
          <a:ln/>
        </p:spPr>
      </p:sp>
      <p:sp>
        <p:nvSpPr>
          <p:cNvPr id="1679363" name="Rectangle 3"/>
          <p:cNvSpPr>
            <a:spLocks noGrp="1" noChangeArrowheads="1"/>
          </p:cNvSpPr>
          <p:nvPr>
            <p:ph type="body" idx="1"/>
          </p:nvPr>
        </p:nvSpPr>
        <p:spPr>
          <a:xfrm>
            <a:off x="698500" y="4408488"/>
            <a:ext cx="5600700" cy="4179887"/>
          </a:xfrm>
        </p:spPr>
        <p:txBody>
          <a:bodyPr/>
          <a:lstStyle/>
          <a:p>
            <a:endParaRPr lang="en-US" altLang="en-US"/>
          </a:p>
        </p:txBody>
      </p:sp>
    </p:spTree>
    <p:extLst>
      <p:ext uri="{BB962C8B-B14F-4D97-AF65-F5344CB8AC3E}">
        <p14:creationId xmlns:p14="http://schemas.microsoft.com/office/powerpoint/2010/main" val="3960312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A9DDA7-FA1A-4009-B474-707FB3F00746}" type="slidenum">
              <a:rPr lang="en-US" altLang="en-US"/>
              <a:pPr/>
              <a:t>12</a:t>
            </a:fld>
            <a:endParaRPr lang="en-US" altLang="en-US"/>
          </a:p>
        </p:txBody>
      </p:sp>
      <p:sp>
        <p:nvSpPr>
          <p:cNvPr id="1683458" name="Rectangle 2"/>
          <p:cNvSpPr>
            <a:spLocks noGrp="1" noRot="1" noChangeAspect="1" noChangeArrowheads="1" noTextEdit="1"/>
          </p:cNvSpPr>
          <p:nvPr>
            <p:ph type="sldImg"/>
          </p:nvPr>
        </p:nvSpPr>
        <p:spPr>
          <a:xfrm>
            <a:off x="404813" y="695325"/>
            <a:ext cx="6188075" cy="3481388"/>
          </a:xfrm>
          <a:ln/>
        </p:spPr>
      </p:sp>
      <p:sp>
        <p:nvSpPr>
          <p:cNvPr id="1683459"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1726077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FD646A-0365-475E-98BA-D728B53A2801}" type="slidenum">
              <a:rPr lang="en-US" altLang="en-US"/>
              <a:pPr/>
              <a:t>13</a:t>
            </a:fld>
            <a:endParaRPr lang="en-US" altLang="en-US"/>
          </a:p>
        </p:txBody>
      </p:sp>
      <p:sp>
        <p:nvSpPr>
          <p:cNvPr id="1685506" name="Rectangle 2"/>
          <p:cNvSpPr>
            <a:spLocks noGrp="1" noRot="1" noChangeAspect="1" noChangeArrowheads="1" noTextEdit="1"/>
          </p:cNvSpPr>
          <p:nvPr>
            <p:ph type="sldImg"/>
          </p:nvPr>
        </p:nvSpPr>
        <p:spPr>
          <a:xfrm>
            <a:off x="404813" y="695325"/>
            <a:ext cx="6188075" cy="3481388"/>
          </a:xfrm>
          <a:ln/>
        </p:spPr>
      </p:sp>
      <p:sp>
        <p:nvSpPr>
          <p:cNvPr id="1685507"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3695349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730D4E-C667-443D-8454-F051204AA252}" type="slidenum">
              <a:rPr lang="en-US" altLang="en-US"/>
              <a:pPr/>
              <a:t>14</a:t>
            </a:fld>
            <a:endParaRPr lang="en-US" altLang="en-US"/>
          </a:p>
        </p:txBody>
      </p:sp>
      <p:sp>
        <p:nvSpPr>
          <p:cNvPr id="1687554" name="Rectangle 2"/>
          <p:cNvSpPr>
            <a:spLocks noGrp="1" noRot="1" noChangeAspect="1" noChangeArrowheads="1" noTextEdit="1"/>
          </p:cNvSpPr>
          <p:nvPr>
            <p:ph type="sldImg"/>
          </p:nvPr>
        </p:nvSpPr>
        <p:spPr>
          <a:xfrm>
            <a:off x="404813" y="695325"/>
            <a:ext cx="6188075" cy="3481388"/>
          </a:xfrm>
          <a:ln/>
        </p:spPr>
      </p:sp>
      <p:sp>
        <p:nvSpPr>
          <p:cNvPr id="1687555"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8555668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8E72C9-D344-4D42-B314-7E04BAB6BEF5}" type="slidenum">
              <a:rPr lang="en-US" altLang="en-US"/>
              <a:pPr/>
              <a:t>15</a:t>
            </a:fld>
            <a:endParaRPr lang="en-US" altLang="en-US"/>
          </a:p>
        </p:txBody>
      </p:sp>
      <p:sp>
        <p:nvSpPr>
          <p:cNvPr id="1689602" name="Rectangle 2"/>
          <p:cNvSpPr>
            <a:spLocks noGrp="1" noRot="1" noChangeAspect="1" noChangeArrowheads="1" noTextEdit="1"/>
          </p:cNvSpPr>
          <p:nvPr>
            <p:ph type="sldImg"/>
          </p:nvPr>
        </p:nvSpPr>
        <p:spPr>
          <a:xfrm>
            <a:off x="404813" y="695325"/>
            <a:ext cx="6188075" cy="3481388"/>
          </a:xfrm>
          <a:ln/>
        </p:spPr>
      </p:sp>
      <p:sp>
        <p:nvSpPr>
          <p:cNvPr id="1689603"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36750761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5A2EF7-3302-491B-9A5A-794F639CBCCC}" type="slidenum">
              <a:rPr lang="en-US" altLang="en-US"/>
              <a:pPr/>
              <a:t>16</a:t>
            </a:fld>
            <a:endParaRPr lang="en-US" altLang="en-US"/>
          </a:p>
        </p:txBody>
      </p:sp>
      <p:sp>
        <p:nvSpPr>
          <p:cNvPr id="1693698" name="Rectangle 2"/>
          <p:cNvSpPr>
            <a:spLocks noGrp="1" noRot="1" noChangeAspect="1" noChangeArrowheads="1" noTextEdit="1"/>
          </p:cNvSpPr>
          <p:nvPr>
            <p:ph type="sldImg"/>
          </p:nvPr>
        </p:nvSpPr>
        <p:spPr>
          <a:xfrm>
            <a:off x="404813" y="695325"/>
            <a:ext cx="6188075" cy="3481388"/>
          </a:xfrm>
          <a:ln/>
        </p:spPr>
      </p:sp>
      <p:sp>
        <p:nvSpPr>
          <p:cNvPr id="1693699"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3494773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987834-2897-4EB7-9A22-2EABD4F221FD}" type="slidenum">
              <a:rPr lang="en-US" altLang="en-US"/>
              <a:pPr/>
              <a:t>17</a:t>
            </a:fld>
            <a:endParaRPr lang="en-US" altLang="en-US"/>
          </a:p>
        </p:txBody>
      </p:sp>
      <p:sp>
        <p:nvSpPr>
          <p:cNvPr id="1695746" name="Rectangle 2"/>
          <p:cNvSpPr>
            <a:spLocks noGrp="1" noRot="1" noChangeAspect="1" noChangeArrowheads="1" noTextEdit="1"/>
          </p:cNvSpPr>
          <p:nvPr>
            <p:ph type="sldImg"/>
          </p:nvPr>
        </p:nvSpPr>
        <p:spPr>
          <a:xfrm>
            <a:off x="404813" y="695325"/>
            <a:ext cx="6188075" cy="3481388"/>
          </a:xfrm>
          <a:ln/>
        </p:spPr>
      </p:sp>
      <p:sp>
        <p:nvSpPr>
          <p:cNvPr id="1695747"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480755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B785E8-55BC-4281-87FC-DC31BA7F12A9}" type="slidenum">
              <a:rPr lang="en-US" altLang="en-US"/>
              <a:pPr/>
              <a:t>18</a:t>
            </a:fld>
            <a:endParaRPr lang="en-US" altLang="en-US"/>
          </a:p>
        </p:txBody>
      </p:sp>
      <p:sp>
        <p:nvSpPr>
          <p:cNvPr id="1699842" name="Rectangle 2"/>
          <p:cNvSpPr>
            <a:spLocks noGrp="1" noRot="1" noChangeAspect="1" noChangeArrowheads="1" noTextEdit="1"/>
          </p:cNvSpPr>
          <p:nvPr>
            <p:ph type="sldImg"/>
          </p:nvPr>
        </p:nvSpPr>
        <p:spPr>
          <a:xfrm>
            <a:off x="404813" y="695325"/>
            <a:ext cx="6188075" cy="3481388"/>
          </a:xfrm>
          <a:ln/>
        </p:spPr>
      </p:sp>
      <p:sp>
        <p:nvSpPr>
          <p:cNvPr id="1699843"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2616565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A7F370-238F-4833-B139-4F45C2663C18}" type="slidenum">
              <a:rPr lang="en-US" altLang="en-US"/>
              <a:pPr/>
              <a:t>19</a:t>
            </a:fld>
            <a:endParaRPr lang="en-US" altLang="en-US"/>
          </a:p>
        </p:txBody>
      </p:sp>
      <p:sp>
        <p:nvSpPr>
          <p:cNvPr id="1701890" name="Rectangle 2"/>
          <p:cNvSpPr>
            <a:spLocks noGrp="1" noRot="1" noChangeAspect="1" noChangeArrowheads="1" noTextEdit="1"/>
          </p:cNvSpPr>
          <p:nvPr>
            <p:ph type="sldImg"/>
          </p:nvPr>
        </p:nvSpPr>
        <p:spPr>
          <a:xfrm>
            <a:off x="404813" y="695325"/>
            <a:ext cx="6188075" cy="3481388"/>
          </a:xfrm>
          <a:ln/>
        </p:spPr>
      </p:sp>
      <p:sp>
        <p:nvSpPr>
          <p:cNvPr id="1701891"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1222963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6D5933-900A-4FDC-8BDF-B1A44062D8E3}" type="slidenum">
              <a:rPr lang="en-US" altLang="en-US"/>
              <a:pPr/>
              <a:t>20</a:t>
            </a:fld>
            <a:endParaRPr lang="en-US" altLang="en-US"/>
          </a:p>
        </p:txBody>
      </p:sp>
      <p:sp>
        <p:nvSpPr>
          <p:cNvPr id="1705986" name="Rectangle 2"/>
          <p:cNvSpPr>
            <a:spLocks noGrp="1" noRot="1" noChangeAspect="1" noChangeArrowheads="1" noTextEdit="1"/>
          </p:cNvSpPr>
          <p:nvPr>
            <p:ph type="sldImg"/>
          </p:nvPr>
        </p:nvSpPr>
        <p:spPr>
          <a:xfrm>
            <a:off x="404813" y="695325"/>
            <a:ext cx="6188075" cy="3481388"/>
          </a:xfrm>
          <a:ln/>
        </p:spPr>
      </p:sp>
      <p:sp>
        <p:nvSpPr>
          <p:cNvPr id="1705987"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2000195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FEFA60-73FB-4971-8FF0-A922DA376E2C}" type="slidenum">
              <a:rPr lang="en-US" altLang="en-US"/>
              <a:pPr/>
              <a:t>21</a:t>
            </a:fld>
            <a:endParaRPr lang="en-US" altLang="en-US"/>
          </a:p>
        </p:txBody>
      </p:sp>
      <p:sp>
        <p:nvSpPr>
          <p:cNvPr id="1708034" name="Rectangle 2"/>
          <p:cNvSpPr>
            <a:spLocks noGrp="1" noRot="1" noChangeAspect="1" noChangeArrowheads="1" noTextEdit="1"/>
          </p:cNvSpPr>
          <p:nvPr>
            <p:ph type="sldImg"/>
          </p:nvPr>
        </p:nvSpPr>
        <p:spPr>
          <a:xfrm>
            <a:off x="404813" y="695325"/>
            <a:ext cx="6188075" cy="3481388"/>
          </a:xfrm>
          <a:ln/>
        </p:spPr>
      </p:sp>
      <p:sp>
        <p:nvSpPr>
          <p:cNvPr id="1708035"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3467436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3B823F-556C-4208-A7A0-5D2B2CFC72FB}" type="slidenum">
              <a:rPr lang="en-US" altLang="en-US"/>
              <a:pPr/>
              <a:t>22</a:t>
            </a:fld>
            <a:endParaRPr lang="en-US" altLang="en-US"/>
          </a:p>
        </p:txBody>
      </p:sp>
      <p:sp>
        <p:nvSpPr>
          <p:cNvPr id="1710082" name="Rectangle 2"/>
          <p:cNvSpPr>
            <a:spLocks noGrp="1" noRot="1" noChangeAspect="1" noChangeArrowheads="1" noTextEdit="1"/>
          </p:cNvSpPr>
          <p:nvPr>
            <p:ph type="sldImg"/>
          </p:nvPr>
        </p:nvSpPr>
        <p:spPr>
          <a:xfrm>
            <a:off x="404813" y="695325"/>
            <a:ext cx="6188075" cy="3481388"/>
          </a:xfrm>
          <a:ln/>
        </p:spPr>
      </p:sp>
      <p:sp>
        <p:nvSpPr>
          <p:cNvPr id="1710083"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3263536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541107-3B89-4BF5-9629-F20F1553A8E0}" type="slidenum">
              <a:rPr lang="en-US" altLang="en-US"/>
              <a:pPr/>
              <a:t>23</a:t>
            </a:fld>
            <a:endParaRPr lang="en-US" altLang="en-US"/>
          </a:p>
        </p:txBody>
      </p:sp>
      <p:sp>
        <p:nvSpPr>
          <p:cNvPr id="1712130" name="Rectangle 2"/>
          <p:cNvSpPr>
            <a:spLocks noGrp="1" noRot="1" noChangeAspect="1" noChangeArrowheads="1" noTextEdit="1"/>
          </p:cNvSpPr>
          <p:nvPr>
            <p:ph type="sldImg"/>
          </p:nvPr>
        </p:nvSpPr>
        <p:spPr>
          <a:xfrm>
            <a:off x="404813" y="695325"/>
            <a:ext cx="6188075" cy="3481388"/>
          </a:xfrm>
          <a:ln/>
        </p:spPr>
      </p:sp>
      <p:sp>
        <p:nvSpPr>
          <p:cNvPr id="1712131"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1349733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09AE70-C002-4A0D-8FB6-6EFB2993BA6B}" type="slidenum">
              <a:rPr lang="en-US" altLang="en-US"/>
              <a:pPr/>
              <a:t>24</a:t>
            </a:fld>
            <a:endParaRPr lang="en-US" altLang="en-US"/>
          </a:p>
        </p:txBody>
      </p:sp>
      <p:sp>
        <p:nvSpPr>
          <p:cNvPr id="1720322" name="Rectangle 2"/>
          <p:cNvSpPr>
            <a:spLocks noGrp="1" noRot="1" noChangeAspect="1" noChangeArrowheads="1" noTextEdit="1"/>
          </p:cNvSpPr>
          <p:nvPr>
            <p:ph type="sldImg"/>
          </p:nvPr>
        </p:nvSpPr>
        <p:spPr>
          <a:xfrm>
            <a:off x="404813" y="695325"/>
            <a:ext cx="6188075" cy="3481388"/>
          </a:xfrm>
          <a:ln/>
        </p:spPr>
      </p:sp>
      <p:sp>
        <p:nvSpPr>
          <p:cNvPr id="1720323"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3731587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28A5E3-1584-4F53-9489-9CDAF36B196D}" type="slidenum">
              <a:rPr lang="en-US" altLang="en-US"/>
              <a:pPr/>
              <a:t>25</a:t>
            </a:fld>
            <a:endParaRPr lang="en-US" altLang="en-US"/>
          </a:p>
        </p:txBody>
      </p:sp>
      <p:sp>
        <p:nvSpPr>
          <p:cNvPr id="1726466" name="Rectangle 2"/>
          <p:cNvSpPr>
            <a:spLocks noGrp="1" noRot="1" noChangeAspect="1" noChangeArrowheads="1" noTextEdit="1"/>
          </p:cNvSpPr>
          <p:nvPr>
            <p:ph type="sldImg"/>
          </p:nvPr>
        </p:nvSpPr>
        <p:spPr>
          <a:xfrm>
            <a:off x="404813" y="695325"/>
            <a:ext cx="6188075" cy="3481388"/>
          </a:xfrm>
          <a:ln/>
        </p:spPr>
      </p:sp>
      <p:sp>
        <p:nvSpPr>
          <p:cNvPr id="1726467" name="Rectangle 3"/>
          <p:cNvSpPr>
            <a:spLocks noGrp="1" noChangeArrowheads="1"/>
          </p:cNvSpPr>
          <p:nvPr>
            <p:ph type="body" idx="1"/>
          </p:nvPr>
        </p:nvSpPr>
        <p:spPr>
          <a:xfrm>
            <a:off x="700088" y="4410075"/>
            <a:ext cx="5597525" cy="4178300"/>
          </a:xfrm>
        </p:spPr>
        <p:txBody>
          <a:bodyPr/>
          <a:lstStyle/>
          <a:p>
            <a:endParaRPr lang="en-US" altLang="en-US"/>
          </a:p>
        </p:txBody>
      </p:sp>
    </p:spTree>
    <p:extLst>
      <p:ext uri="{BB962C8B-B14F-4D97-AF65-F5344CB8AC3E}">
        <p14:creationId xmlns:p14="http://schemas.microsoft.com/office/powerpoint/2010/main" val="12920601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9E678B-01F5-4BEB-8ABE-5AFB5592E067}" type="slidenum">
              <a:rPr lang="en-US" altLang="en-US"/>
              <a:pPr/>
              <a:t>26</a:t>
            </a:fld>
            <a:endParaRPr lang="en-US" altLang="en-US"/>
          </a:p>
        </p:txBody>
      </p:sp>
      <p:sp>
        <p:nvSpPr>
          <p:cNvPr id="1728514" name="Rectangle 2"/>
          <p:cNvSpPr>
            <a:spLocks noGrp="1" noRot="1" noChangeAspect="1" noChangeArrowheads="1" noTextEdit="1"/>
          </p:cNvSpPr>
          <p:nvPr>
            <p:ph type="sldImg"/>
          </p:nvPr>
        </p:nvSpPr>
        <p:spPr>
          <a:xfrm>
            <a:off x="404813" y="695325"/>
            <a:ext cx="6188075" cy="3481388"/>
          </a:xfrm>
          <a:ln/>
        </p:spPr>
      </p:sp>
      <p:sp>
        <p:nvSpPr>
          <p:cNvPr id="1728515"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3371678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B7CDD2-EAEA-4FA8-8223-25144EFE3C21}" type="slidenum">
              <a:rPr lang="en-US" altLang="en-US"/>
              <a:pPr/>
              <a:t>27</a:t>
            </a:fld>
            <a:endParaRPr lang="en-US" altLang="en-US"/>
          </a:p>
        </p:txBody>
      </p:sp>
      <p:sp>
        <p:nvSpPr>
          <p:cNvPr id="1730562" name="Rectangle 2"/>
          <p:cNvSpPr>
            <a:spLocks noGrp="1" noRot="1" noChangeAspect="1" noChangeArrowheads="1" noTextEdit="1"/>
          </p:cNvSpPr>
          <p:nvPr>
            <p:ph type="sldImg"/>
          </p:nvPr>
        </p:nvSpPr>
        <p:spPr>
          <a:xfrm>
            <a:off x="404813" y="695325"/>
            <a:ext cx="6188075" cy="3481388"/>
          </a:xfrm>
          <a:ln/>
        </p:spPr>
      </p:sp>
      <p:sp>
        <p:nvSpPr>
          <p:cNvPr id="1730563"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17464223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D08F85-3E2E-4759-ABD9-2CC8EC96E7A8}" type="slidenum">
              <a:rPr lang="en-US" altLang="en-US"/>
              <a:pPr/>
              <a:t>28</a:t>
            </a:fld>
            <a:endParaRPr lang="en-US" altLang="en-US"/>
          </a:p>
        </p:txBody>
      </p:sp>
      <p:sp>
        <p:nvSpPr>
          <p:cNvPr id="1732610" name="Rectangle 2"/>
          <p:cNvSpPr>
            <a:spLocks noGrp="1" noRot="1" noChangeAspect="1" noChangeArrowheads="1" noTextEdit="1"/>
          </p:cNvSpPr>
          <p:nvPr>
            <p:ph type="sldImg"/>
          </p:nvPr>
        </p:nvSpPr>
        <p:spPr>
          <a:xfrm>
            <a:off x="404813" y="695325"/>
            <a:ext cx="6188075" cy="3481388"/>
          </a:xfrm>
          <a:ln/>
        </p:spPr>
      </p:sp>
      <p:sp>
        <p:nvSpPr>
          <p:cNvPr id="1732611"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2221260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FC55C9-972D-404A-9D72-0E4788C412EE}" type="slidenum">
              <a:rPr lang="en-US" altLang="en-US"/>
              <a:pPr/>
              <a:t>29</a:t>
            </a:fld>
            <a:endParaRPr lang="en-US" altLang="en-US"/>
          </a:p>
        </p:txBody>
      </p:sp>
      <p:sp>
        <p:nvSpPr>
          <p:cNvPr id="1734658" name="Rectangle 2"/>
          <p:cNvSpPr>
            <a:spLocks noGrp="1" noRot="1" noChangeAspect="1" noChangeArrowheads="1" noTextEdit="1"/>
          </p:cNvSpPr>
          <p:nvPr>
            <p:ph type="sldImg"/>
          </p:nvPr>
        </p:nvSpPr>
        <p:spPr>
          <a:xfrm>
            <a:off x="404813" y="695325"/>
            <a:ext cx="6188075" cy="3481388"/>
          </a:xfrm>
          <a:ln/>
        </p:spPr>
      </p:sp>
      <p:sp>
        <p:nvSpPr>
          <p:cNvPr id="1734659"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33277371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FE5973-7C33-499E-BE31-F7A5711A982C}" type="slidenum">
              <a:rPr lang="en-US" altLang="en-US"/>
              <a:pPr/>
              <a:t>30</a:t>
            </a:fld>
            <a:endParaRPr lang="en-US" altLang="en-US"/>
          </a:p>
        </p:txBody>
      </p:sp>
      <p:sp>
        <p:nvSpPr>
          <p:cNvPr id="1736706" name="Rectangle 2"/>
          <p:cNvSpPr>
            <a:spLocks noGrp="1" noRot="1" noChangeAspect="1" noChangeArrowheads="1" noTextEdit="1"/>
          </p:cNvSpPr>
          <p:nvPr>
            <p:ph type="sldImg"/>
          </p:nvPr>
        </p:nvSpPr>
        <p:spPr>
          <a:xfrm>
            <a:off x="404813" y="695325"/>
            <a:ext cx="6188075" cy="3481388"/>
          </a:xfrm>
          <a:ln/>
        </p:spPr>
      </p:sp>
      <p:sp>
        <p:nvSpPr>
          <p:cNvPr id="1736707"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16933856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8CB9D4-1FCB-400C-9C30-747918C03C07}" type="slidenum">
              <a:rPr lang="en-US" altLang="en-US"/>
              <a:pPr/>
              <a:t>31</a:t>
            </a:fld>
            <a:endParaRPr lang="en-US" altLang="en-US"/>
          </a:p>
        </p:txBody>
      </p:sp>
      <p:sp>
        <p:nvSpPr>
          <p:cNvPr id="1738754" name="Rectangle 2"/>
          <p:cNvSpPr>
            <a:spLocks noGrp="1" noRot="1" noChangeAspect="1" noChangeArrowheads="1" noTextEdit="1"/>
          </p:cNvSpPr>
          <p:nvPr>
            <p:ph type="sldImg"/>
          </p:nvPr>
        </p:nvSpPr>
        <p:spPr>
          <a:xfrm>
            <a:off x="404813" y="695325"/>
            <a:ext cx="6188075" cy="3481388"/>
          </a:xfrm>
          <a:ln/>
        </p:spPr>
      </p:sp>
      <p:sp>
        <p:nvSpPr>
          <p:cNvPr id="1738755"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38887586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AF4007-F432-41DB-8080-E23E28AB5E85}" type="slidenum">
              <a:rPr lang="en-US" altLang="en-US"/>
              <a:pPr/>
              <a:t>32</a:t>
            </a:fld>
            <a:endParaRPr lang="en-US" altLang="en-US"/>
          </a:p>
        </p:txBody>
      </p:sp>
      <p:sp>
        <p:nvSpPr>
          <p:cNvPr id="1740802" name="Rectangle 2"/>
          <p:cNvSpPr>
            <a:spLocks noGrp="1" noRot="1" noChangeAspect="1" noChangeArrowheads="1" noTextEdit="1"/>
          </p:cNvSpPr>
          <p:nvPr>
            <p:ph type="sldImg"/>
          </p:nvPr>
        </p:nvSpPr>
        <p:spPr>
          <a:xfrm>
            <a:off x="404813" y="695325"/>
            <a:ext cx="6188075" cy="3481388"/>
          </a:xfrm>
          <a:ln/>
        </p:spPr>
      </p:sp>
      <p:sp>
        <p:nvSpPr>
          <p:cNvPr id="1740803"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29517041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5784BD-3984-4181-91A8-B39D0C86A6DE}" type="slidenum">
              <a:rPr lang="en-US" altLang="en-US"/>
              <a:pPr/>
              <a:t>33</a:t>
            </a:fld>
            <a:endParaRPr lang="en-US" altLang="en-US"/>
          </a:p>
        </p:txBody>
      </p:sp>
      <p:sp>
        <p:nvSpPr>
          <p:cNvPr id="1742850" name="Rectangle 2"/>
          <p:cNvSpPr>
            <a:spLocks noGrp="1" noRot="1" noChangeAspect="1" noChangeArrowheads="1" noTextEdit="1"/>
          </p:cNvSpPr>
          <p:nvPr>
            <p:ph type="sldImg"/>
          </p:nvPr>
        </p:nvSpPr>
        <p:spPr>
          <a:xfrm>
            <a:off x="404813" y="695325"/>
            <a:ext cx="6188075" cy="3481388"/>
          </a:xfrm>
          <a:ln/>
        </p:spPr>
      </p:sp>
      <p:sp>
        <p:nvSpPr>
          <p:cNvPr id="1742851"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42748638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0B50D1-8F79-4667-B32D-D29E1DF873F2}" type="slidenum">
              <a:rPr lang="en-US" altLang="en-US"/>
              <a:pPr/>
              <a:t>34</a:t>
            </a:fld>
            <a:endParaRPr lang="en-US" altLang="en-US"/>
          </a:p>
        </p:txBody>
      </p:sp>
      <p:sp>
        <p:nvSpPr>
          <p:cNvPr id="1744898" name="Rectangle 2"/>
          <p:cNvSpPr>
            <a:spLocks noGrp="1" noRot="1" noChangeAspect="1" noChangeArrowheads="1" noTextEdit="1"/>
          </p:cNvSpPr>
          <p:nvPr>
            <p:ph type="sldImg"/>
          </p:nvPr>
        </p:nvSpPr>
        <p:spPr>
          <a:xfrm>
            <a:off x="404813" y="695325"/>
            <a:ext cx="6188075" cy="3481388"/>
          </a:xfrm>
          <a:ln/>
        </p:spPr>
      </p:sp>
      <p:sp>
        <p:nvSpPr>
          <p:cNvPr id="1744899"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2560841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E74CA5-F4CF-47BE-941E-A41D1C794110}" type="slidenum">
              <a:rPr lang="en-US" altLang="en-US"/>
              <a:pPr/>
              <a:t>35</a:t>
            </a:fld>
            <a:endParaRPr lang="en-US" altLang="en-US"/>
          </a:p>
        </p:txBody>
      </p:sp>
      <p:sp>
        <p:nvSpPr>
          <p:cNvPr id="1765378" name="Rectangle 2"/>
          <p:cNvSpPr>
            <a:spLocks noGrp="1" noRot="1" noChangeAspect="1" noChangeArrowheads="1" noTextEdit="1"/>
          </p:cNvSpPr>
          <p:nvPr>
            <p:ph type="sldImg"/>
          </p:nvPr>
        </p:nvSpPr>
        <p:spPr>
          <a:xfrm>
            <a:off x="404813" y="695325"/>
            <a:ext cx="6188075" cy="3481388"/>
          </a:xfrm>
          <a:ln/>
        </p:spPr>
      </p:sp>
      <p:sp>
        <p:nvSpPr>
          <p:cNvPr id="1765379"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4418697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40EFB6-06C8-488E-997F-E208F10F0712}" type="slidenum">
              <a:rPr lang="en-US" altLang="en-US"/>
              <a:pPr/>
              <a:t>36</a:t>
            </a:fld>
            <a:endParaRPr lang="en-US" altLang="en-US"/>
          </a:p>
        </p:txBody>
      </p:sp>
      <p:sp>
        <p:nvSpPr>
          <p:cNvPr id="1785858" name="Rectangle 2"/>
          <p:cNvSpPr>
            <a:spLocks noGrp="1" noRot="1" noChangeAspect="1" noChangeArrowheads="1" noTextEdit="1"/>
          </p:cNvSpPr>
          <p:nvPr>
            <p:ph type="sldImg"/>
          </p:nvPr>
        </p:nvSpPr>
        <p:spPr>
          <a:xfrm>
            <a:off x="404813" y="695325"/>
            <a:ext cx="6188075" cy="3481388"/>
          </a:xfrm>
          <a:ln/>
        </p:spPr>
      </p:sp>
      <p:sp>
        <p:nvSpPr>
          <p:cNvPr id="1785859" name="Rectangle 3"/>
          <p:cNvSpPr>
            <a:spLocks noGrp="1" noChangeArrowheads="1"/>
          </p:cNvSpPr>
          <p:nvPr>
            <p:ph type="body" idx="1"/>
          </p:nvPr>
        </p:nvSpPr>
        <p:spPr>
          <a:xfrm>
            <a:off x="698500" y="4410075"/>
            <a:ext cx="5600700" cy="4178300"/>
          </a:xfrm>
        </p:spPr>
        <p:txBody>
          <a:bodyPr/>
          <a:lstStyle/>
          <a:p>
            <a:endParaRPr lang="pl-PL" altLang="en-US"/>
          </a:p>
        </p:txBody>
      </p:sp>
    </p:spTree>
    <p:extLst>
      <p:ext uri="{BB962C8B-B14F-4D97-AF65-F5344CB8AC3E}">
        <p14:creationId xmlns:p14="http://schemas.microsoft.com/office/powerpoint/2010/main" val="21204775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4B31AD-5BBA-42D1-B2A4-DB3C929A5537}" type="slidenum">
              <a:rPr lang="en-US" altLang="en-US"/>
              <a:pPr/>
              <a:t>37</a:t>
            </a:fld>
            <a:endParaRPr lang="en-US" altLang="en-US"/>
          </a:p>
        </p:txBody>
      </p:sp>
      <p:sp>
        <p:nvSpPr>
          <p:cNvPr id="1787906" name="Rectangle 2"/>
          <p:cNvSpPr>
            <a:spLocks noGrp="1" noRot="1" noChangeAspect="1" noChangeArrowheads="1" noTextEdit="1"/>
          </p:cNvSpPr>
          <p:nvPr>
            <p:ph type="sldImg"/>
          </p:nvPr>
        </p:nvSpPr>
        <p:spPr>
          <a:xfrm>
            <a:off x="404813" y="695325"/>
            <a:ext cx="6188075" cy="3481388"/>
          </a:xfrm>
          <a:ln/>
        </p:spPr>
      </p:sp>
      <p:sp>
        <p:nvSpPr>
          <p:cNvPr id="1787907"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28449383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B08D7A-CA61-46BF-A3F9-5C9A9874A01B}" type="slidenum">
              <a:rPr lang="en-US" altLang="en-US"/>
              <a:pPr/>
              <a:t>38</a:t>
            </a:fld>
            <a:endParaRPr lang="en-US" altLang="en-US"/>
          </a:p>
        </p:txBody>
      </p:sp>
      <p:sp>
        <p:nvSpPr>
          <p:cNvPr id="1789954" name="Rectangle 2"/>
          <p:cNvSpPr>
            <a:spLocks noGrp="1" noRot="1" noChangeAspect="1" noChangeArrowheads="1" noTextEdit="1"/>
          </p:cNvSpPr>
          <p:nvPr>
            <p:ph type="sldImg"/>
          </p:nvPr>
        </p:nvSpPr>
        <p:spPr>
          <a:xfrm>
            <a:off x="404813" y="695325"/>
            <a:ext cx="6188075" cy="3481388"/>
          </a:xfrm>
          <a:ln/>
        </p:spPr>
      </p:sp>
      <p:sp>
        <p:nvSpPr>
          <p:cNvPr id="1789955"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622734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44FBB0-0F85-4ADE-9ACB-FE78701E77C2}" type="slidenum">
              <a:rPr lang="en-US" altLang="en-US"/>
              <a:pPr/>
              <a:t>39</a:t>
            </a:fld>
            <a:endParaRPr lang="en-US" altLang="en-US"/>
          </a:p>
        </p:txBody>
      </p:sp>
      <p:sp>
        <p:nvSpPr>
          <p:cNvPr id="1681410" name="Rectangle 2"/>
          <p:cNvSpPr>
            <a:spLocks noGrp="1" noRot="1" noChangeAspect="1" noChangeArrowheads="1" noTextEdit="1"/>
          </p:cNvSpPr>
          <p:nvPr>
            <p:ph type="sldImg"/>
          </p:nvPr>
        </p:nvSpPr>
        <p:spPr>
          <a:xfrm>
            <a:off x="404813" y="695325"/>
            <a:ext cx="6188075" cy="3481388"/>
          </a:xfrm>
          <a:ln/>
        </p:spPr>
      </p:sp>
      <p:sp>
        <p:nvSpPr>
          <p:cNvPr id="1681411" name="Rectangle 3"/>
          <p:cNvSpPr>
            <a:spLocks noGrp="1" noChangeArrowheads="1"/>
          </p:cNvSpPr>
          <p:nvPr>
            <p:ph type="body" idx="1"/>
          </p:nvPr>
        </p:nvSpPr>
        <p:spPr>
          <a:xfrm>
            <a:off x="700088" y="4408488"/>
            <a:ext cx="5599112" cy="4179887"/>
          </a:xfrm>
        </p:spPr>
        <p:txBody>
          <a:bodyPr/>
          <a:lstStyle/>
          <a:p>
            <a:endParaRPr lang="en-US" altLang="en-US"/>
          </a:p>
        </p:txBody>
      </p:sp>
    </p:spTree>
    <p:extLst>
      <p:ext uri="{BB962C8B-B14F-4D97-AF65-F5344CB8AC3E}">
        <p14:creationId xmlns:p14="http://schemas.microsoft.com/office/powerpoint/2010/main" val="5120517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D50EAF-DB68-4ACB-8E04-E525C2BFB437}" type="slidenum">
              <a:rPr lang="en-US" altLang="en-US"/>
              <a:pPr/>
              <a:t>40</a:t>
            </a:fld>
            <a:endParaRPr lang="en-US" altLang="en-US"/>
          </a:p>
        </p:txBody>
      </p:sp>
      <p:sp>
        <p:nvSpPr>
          <p:cNvPr id="1763330" name="Rectangle 2"/>
          <p:cNvSpPr>
            <a:spLocks noGrp="1" noRot="1" noChangeAspect="1" noChangeArrowheads="1" noTextEdit="1"/>
          </p:cNvSpPr>
          <p:nvPr>
            <p:ph type="sldImg"/>
          </p:nvPr>
        </p:nvSpPr>
        <p:spPr>
          <a:xfrm>
            <a:off x="404813" y="695325"/>
            <a:ext cx="6188075" cy="3481388"/>
          </a:xfrm>
          <a:ln/>
        </p:spPr>
      </p:sp>
      <p:sp>
        <p:nvSpPr>
          <p:cNvPr id="1763331" name="Rectangle 3"/>
          <p:cNvSpPr>
            <a:spLocks noGrp="1" noChangeArrowheads="1"/>
          </p:cNvSpPr>
          <p:nvPr>
            <p:ph type="body" idx="1"/>
          </p:nvPr>
        </p:nvSpPr>
        <p:spPr>
          <a:xfrm>
            <a:off x="698500" y="4410075"/>
            <a:ext cx="5600700" cy="4178300"/>
          </a:xfrm>
        </p:spPr>
        <p:txBody>
          <a:bodyPr/>
          <a:lstStyle/>
          <a:p>
            <a:endParaRPr lang="en-US" altLang="en-US"/>
          </a:p>
        </p:txBody>
      </p:sp>
    </p:spTree>
    <p:extLst>
      <p:ext uri="{BB962C8B-B14F-4D97-AF65-F5344CB8AC3E}">
        <p14:creationId xmlns:p14="http://schemas.microsoft.com/office/powerpoint/2010/main" val="1415226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9/4/2022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9/4/2022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hyperlink" Target="http://ieeexplore.ieee.org/xpl/freeabs_all.jsp?tp=&amp;arnumber=1632285&amp;isnumber=34230"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hyperlink" Target="https://www.cerias.purdue.edu/tools_and_resources/bibtex_archive/archive/2003-34.pdf" TargetMode="External"/><Relationship Id="rId4" Type="http://schemas.openxmlformats.org/officeDocument/2006/relationships/hyperlink" Target="http://www2.cs.washington.edu/nsf2003"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TRUST vs PRIVACY</a:t>
            </a:r>
            <a:endParaRPr lang="en-US" dirty="0"/>
          </a:p>
        </p:txBody>
      </p:sp>
      <p:sp>
        <p:nvSpPr>
          <p:cNvPr id="3" name="Subtitle 2"/>
          <p:cNvSpPr>
            <a:spLocks noGrp="1"/>
          </p:cNvSpPr>
          <p:nvPr>
            <p:ph type="subTitle" idx="1"/>
          </p:nvPr>
        </p:nvSpPr>
        <p:spPr/>
        <p:txBody>
          <a:bodyPr/>
          <a:lstStyle/>
          <a:p>
            <a:r>
              <a:rPr lang="en-US" dirty="0" smtClean="0"/>
              <a:t>CYS 121 INFORMATION SYSTEM SECURITY</a:t>
            </a:r>
            <a:endParaRPr lang="en-US" dirty="0"/>
          </a:p>
        </p:txBody>
      </p:sp>
    </p:spTree>
    <p:extLst>
      <p:ext uri="{BB962C8B-B14F-4D97-AF65-F5344CB8AC3E}">
        <p14:creationId xmlns:p14="http://schemas.microsoft.com/office/powerpoint/2010/main" val="3926437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3762" name="Rectangle 2"/>
          <p:cNvSpPr>
            <a:spLocks noGrp="1" noChangeArrowheads="1"/>
          </p:cNvSpPr>
          <p:nvPr>
            <p:ph type="title"/>
          </p:nvPr>
        </p:nvSpPr>
        <p:spPr>
          <a:xfrm>
            <a:off x="1407459" y="443644"/>
            <a:ext cx="8077200" cy="533400"/>
          </a:xfrm>
        </p:spPr>
        <p:txBody>
          <a:bodyPr>
            <a:normAutofit fontScale="90000"/>
          </a:bodyPr>
          <a:lstStyle/>
          <a:p>
            <a:r>
              <a:rPr lang="en-US" altLang="en-US" dirty="0" smtClean="0">
                <a:solidFill>
                  <a:srgbClr val="0000FF"/>
                </a:solidFill>
              </a:rPr>
              <a:t>Trust </a:t>
            </a:r>
            <a:r>
              <a:rPr lang="en-US" altLang="en-US" dirty="0">
                <a:solidFill>
                  <a:srgbClr val="0000FF"/>
                </a:solidFill>
              </a:rPr>
              <a:t>and Privacy</a:t>
            </a:r>
            <a:r>
              <a:rPr lang="en-US" altLang="en-US" sz="4800" b="1" dirty="0">
                <a:solidFill>
                  <a:srgbClr val="0000FF"/>
                </a:solidFill>
              </a:rPr>
              <a:t> </a:t>
            </a:r>
            <a:endParaRPr lang="en-US" altLang="en-US" sz="1600" dirty="0">
              <a:solidFill>
                <a:srgbClr val="0000FF"/>
              </a:solidFill>
            </a:endParaRPr>
          </a:p>
        </p:txBody>
      </p:sp>
      <p:sp>
        <p:nvSpPr>
          <p:cNvPr id="1653763" name="Rectangle 3"/>
          <p:cNvSpPr>
            <a:spLocks noGrp="1" noChangeArrowheads="1"/>
          </p:cNvSpPr>
          <p:nvPr>
            <p:ph type="body" idx="1"/>
          </p:nvPr>
        </p:nvSpPr>
        <p:spPr>
          <a:xfrm>
            <a:off x="1752600" y="1295400"/>
            <a:ext cx="8915400" cy="5562600"/>
          </a:xfrm>
        </p:spPr>
        <p:txBody>
          <a:bodyPr>
            <a:normAutofit/>
          </a:bodyPr>
          <a:lstStyle/>
          <a:p>
            <a:pPr marL="381000" indent="-381000">
              <a:spcBef>
                <a:spcPct val="0"/>
              </a:spcBef>
            </a:pPr>
            <a:r>
              <a:rPr lang="en-US" altLang="en-US" sz="2400" dirty="0">
                <a:solidFill>
                  <a:srgbClr val="0000CC"/>
                </a:solidFill>
              </a:rPr>
              <a:t>Privacy</a:t>
            </a:r>
            <a:r>
              <a:rPr lang="en-US" altLang="en-US" sz="2400" i="1" dirty="0"/>
              <a:t> </a:t>
            </a:r>
            <a:r>
              <a:rPr lang="en-US" altLang="en-US" sz="2400" dirty="0" smtClean="0"/>
              <a:t>:- </a:t>
            </a:r>
            <a:r>
              <a:rPr lang="en-US" altLang="en-US" sz="2400" dirty="0"/>
              <a:t>entity’s ability to control the availability and exposure of information about itself</a:t>
            </a:r>
          </a:p>
          <a:p>
            <a:pPr marL="800100" lvl="1" indent="-342900">
              <a:spcBef>
                <a:spcPct val="0"/>
              </a:spcBef>
            </a:pPr>
            <a:r>
              <a:rPr lang="en-US" altLang="en-US" sz="2000" dirty="0" smtClean="0"/>
              <a:t>An </a:t>
            </a:r>
            <a:r>
              <a:rPr lang="en-US" altLang="en-US" sz="2000" dirty="0" smtClean="0">
                <a:solidFill>
                  <a:srgbClr val="0000CC"/>
                </a:solidFill>
              </a:rPr>
              <a:t>entity’s example</a:t>
            </a:r>
            <a:r>
              <a:rPr lang="en-US" altLang="en-US" sz="2000" dirty="0" smtClean="0"/>
              <a:t> includes </a:t>
            </a:r>
            <a:r>
              <a:rPr lang="en-US" altLang="en-US" sz="2000" dirty="0"/>
              <a:t>an organization or software</a:t>
            </a:r>
          </a:p>
          <a:p>
            <a:pPr marL="1219200" lvl="2" indent="-304800">
              <a:spcBef>
                <a:spcPct val="0"/>
              </a:spcBef>
            </a:pPr>
            <a:endParaRPr lang="en-US" altLang="en-US" sz="800" dirty="0"/>
          </a:p>
          <a:p>
            <a:pPr marL="381000" indent="-381000"/>
            <a:r>
              <a:rPr lang="en-US" altLang="en-US" sz="2400" dirty="0"/>
              <a:t>Privacy </a:t>
            </a:r>
            <a:r>
              <a:rPr lang="en-US" altLang="en-US" sz="2400" dirty="0">
                <a:solidFill>
                  <a:srgbClr val="0000CC"/>
                </a:solidFill>
              </a:rPr>
              <a:t>Problem</a:t>
            </a:r>
          </a:p>
          <a:p>
            <a:pPr marL="914400" lvl="1" indent="-457200">
              <a:buFont typeface="+mj-lt"/>
              <a:buAutoNum type="alphaLcParenR"/>
            </a:pPr>
            <a:r>
              <a:rPr lang="en-US" altLang="en-US" sz="2000" dirty="0"/>
              <a:t>Consider </a:t>
            </a:r>
            <a:r>
              <a:rPr lang="en-US" altLang="en-US" sz="2000" dirty="0">
                <a:solidFill>
                  <a:srgbClr val="0000CC"/>
                </a:solidFill>
              </a:rPr>
              <a:t>computer-based interactions</a:t>
            </a:r>
          </a:p>
          <a:p>
            <a:pPr marL="1219200" lvl="2" indent="-304800"/>
            <a:r>
              <a:rPr lang="en-US" altLang="en-US" sz="2000" dirty="0"/>
              <a:t>From a simple transaction to a complex collaboration</a:t>
            </a:r>
          </a:p>
          <a:p>
            <a:pPr marL="914400" lvl="1" indent="-457200">
              <a:buFont typeface="+mj-lt"/>
              <a:buAutoNum type="alphaLcParenR"/>
            </a:pPr>
            <a:r>
              <a:rPr lang="en-US" altLang="en-US" sz="2000" dirty="0"/>
              <a:t>Interactions always involve </a:t>
            </a:r>
            <a:r>
              <a:rPr lang="en-US" altLang="en-US" sz="2000" i="1" dirty="0">
                <a:solidFill>
                  <a:srgbClr val="0000CC"/>
                </a:solidFill>
              </a:rPr>
              <a:t>dissemination of private data</a:t>
            </a:r>
          </a:p>
          <a:p>
            <a:pPr marL="1219200" lvl="2" indent="-304800"/>
            <a:r>
              <a:rPr lang="en-US" altLang="en-US" sz="2000" dirty="0"/>
              <a:t>It is </a:t>
            </a:r>
            <a:r>
              <a:rPr lang="en-US" altLang="en-US" sz="2000" dirty="0">
                <a:solidFill>
                  <a:srgbClr val="0000CC"/>
                </a:solidFill>
              </a:rPr>
              <a:t>voluntary</a:t>
            </a:r>
            <a:r>
              <a:rPr lang="en-US" altLang="en-US" sz="2000" dirty="0"/>
              <a:t>, “</a:t>
            </a:r>
            <a:r>
              <a:rPr lang="en-US" altLang="en-US" sz="2000" dirty="0">
                <a:solidFill>
                  <a:srgbClr val="0000CC"/>
                </a:solidFill>
              </a:rPr>
              <a:t>pseudo-voluntary</a:t>
            </a:r>
            <a:r>
              <a:rPr lang="en-US" altLang="en-US" sz="2000" dirty="0"/>
              <a:t>,” or </a:t>
            </a:r>
            <a:r>
              <a:rPr lang="en-US" altLang="en-US" sz="2000" dirty="0">
                <a:solidFill>
                  <a:srgbClr val="0000CC"/>
                </a:solidFill>
              </a:rPr>
              <a:t>compulsory</a:t>
            </a:r>
          </a:p>
          <a:p>
            <a:pPr marL="1638300" lvl="3" indent="-266700"/>
            <a:r>
              <a:rPr lang="en-US" altLang="en-US" sz="1800" dirty="0"/>
              <a:t>Compulsory - e.g., required by law</a:t>
            </a:r>
          </a:p>
          <a:p>
            <a:pPr marL="914400" lvl="1" indent="-457200">
              <a:buFont typeface="+mj-lt"/>
              <a:buAutoNum type="alphaLcParenR"/>
            </a:pPr>
            <a:r>
              <a:rPr lang="en-US" altLang="en-US" sz="2000" dirty="0"/>
              <a:t>Threats of </a:t>
            </a:r>
            <a:r>
              <a:rPr lang="en-US" altLang="en-US" sz="2000" dirty="0">
                <a:solidFill>
                  <a:srgbClr val="0000FF"/>
                </a:solidFill>
              </a:rPr>
              <a:t>privacy violations</a:t>
            </a:r>
            <a:r>
              <a:rPr lang="en-US" altLang="en-US" sz="2000" dirty="0"/>
              <a:t> result in </a:t>
            </a:r>
            <a:r>
              <a:rPr lang="en-US" altLang="en-US" sz="2000" dirty="0">
                <a:solidFill>
                  <a:srgbClr val="0000FF"/>
                </a:solidFill>
              </a:rPr>
              <a:t>lower trust</a:t>
            </a:r>
          </a:p>
          <a:p>
            <a:pPr marL="914400" lvl="1" indent="-457200">
              <a:buFont typeface="+mj-lt"/>
              <a:buAutoNum type="alphaLcParenR"/>
            </a:pPr>
            <a:r>
              <a:rPr lang="en-US" altLang="en-US" sz="2000" dirty="0">
                <a:solidFill>
                  <a:srgbClr val="0000FF"/>
                </a:solidFill>
              </a:rPr>
              <a:t>Lower trust</a:t>
            </a:r>
            <a:r>
              <a:rPr lang="en-US" altLang="en-US" sz="2000" dirty="0"/>
              <a:t> leads to isolation and </a:t>
            </a:r>
            <a:r>
              <a:rPr lang="en-US" altLang="en-US" sz="2000" dirty="0">
                <a:solidFill>
                  <a:srgbClr val="0000FF"/>
                </a:solidFill>
              </a:rPr>
              <a:t>lack of collaboration</a:t>
            </a:r>
          </a:p>
        </p:txBody>
      </p:sp>
    </p:spTree>
    <p:extLst>
      <p:ext uri="{BB962C8B-B14F-4D97-AF65-F5344CB8AC3E}">
        <p14:creationId xmlns:p14="http://schemas.microsoft.com/office/powerpoint/2010/main" val="2078482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811" name="Rectangle 3"/>
          <p:cNvSpPr>
            <a:spLocks noGrp="1" noChangeArrowheads="1"/>
          </p:cNvSpPr>
          <p:nvPr>
            <p:ph type="body" idx="1"/>
          </p:nvPr>
        </p:nvSpPr>
        <p:spPr>
          <a:xfrm>
            <a:off x="1752600" y="1143000"/>
            <a:ext cx="8915400" cy="5715000"/>
          </a:xfrm>
        </p:spPr>
        <p:txBody>
          <a:bodyPr/>
          <a:lstStyle/>
          <a:p>
            <a:pPr marL="1219200" lvl="2" indent="-304800">
              <a:spcBef>
                <a:spcPct val="0"/>
              </a:spcBef>
              <a:buNone/>
            </a:pPr>
            <a:endParaRPr lang="en-US" altLang="en-US" sz="1200" dirty="0"/>
          </a:p>
          <a:p>
            <a:pPr marL="381000" indent="-381000">
              <a:spcBef>
                <a:spcPct val="0"/>
              </a:spcBef>
            </a:pPr>
            <a:r>
              <a:rPr lang="en-US" altLang="en-US" sz="2400" dirty="0"/>
              <a:t>Thus,</a:t>
            </a:r>
            <a:r>
              <a:rPr lang="en-US" altLang="en-US" sz="2400" dirty="0">
                <a:solidFill>
                  <a:srgbClr val="0000CC"/>
                </a:solidFill>
              </a:rPr>
              <a:t> privacy and trust are closely related</a:t>
            </a:r>
          </a:p>
          <a:p>
            <a:pPr marL="800100" lvl="1" indent="-342900">
              <a:spcBef>
                <a:spcPct val="0"/>
              </a:spcBef>
            </a:pPr>
            <a:r>
              <a:rPr lang="en-US" altLang="en-US" sz="2000" dirty="0">
                <a:solidFill>
                  <a:srgbClr val="0000CC"/>
                </a:solidFill>
              </a:rPr>
              <a:t>Privacy-trust tradeoff</a:t>
            </a:r>
            <a:r>
              <a:rPr lang="en-US" altLang="en-US" sz="2000" dirty="0"/>
              <a:t>:	Entity can trade privacy for a corresponding gain in its partners’ trust in it</a:t>
            </a:r>
          </a:p>
          <a:p>
            <a:pPr marL="800100" lvl="1" indent="-342900">
              <a:spcBef>
                <a:spcPct val="0"/>
              </a:spcBef>
            </a:pPr>
            <a:endParaRPr lang="en-US" altLang="en-US" sz="800" dirty="0"/>
          </a:p>
          <a:p>
            <a:pPr marL="800100" lvl="1" indent="-342900">
              <a:spcBef>
                <a:spcPct val="0"/>
              </a:spcBef>
            </a:pPr>
            <a:r>
              <a:rPr lang="en-US" altLang="en-US" sz="2000" dirty="0"/>
              <a:t>The </a:t>
            </a:r>
            <a:r>
              <a:rPr lang="en-US" altLang="en-US" sz="2000" dirty="0">
                <a:solidFill>
                  <a:srgbClr val="0000CC"/>
                </a:solidFill>
              </a:rPr>
              <a:t>scope of</a:t>
            </a:r>
            <a:r>
              <a:rPr lang="en-US" altLang="en-US" sz="2000" dirty="0"/>
              <a:t> an entity’s privacy </a:t>
            </a:r>
            <a:r>
              <a:rPr lang="en-US" altLang="en-US" sz="2000" dirty="0">
                <a:solidFill>
                  <a:srgbClr val="0000CC"/>
                </a:solidFill>
              </a:rPr>
              <a:t>disclosure</a:t>
            </a:r>
            <a:r>
              <a:rPr lang="en-US" altLang="en-US" sz="2000" dirty="0"/>
              <a:t> should be </a:t>
            </a:r>
            <a:r>
              <a:rPr lang="en-US" altLang="en-US" sz="2000" dirty="0">
                <a:solidFill>
                  <a:srgbClr val="0000CC"/>
                </a:solidFill>
              </a:rPr>
              <a:t>proportional to</a:t>
            </a:r>
            <a:r>
              <a:rPr lang="en-US" altLang="en-US" sz="2000" dirty="0"/>
              <a:t> the </a:t>
            </a:r>
            <a:r>
              <a:rPr lang="en-US" altLang="en-US" sz="2000" dirty="0">
                <a:solidFill>
                  <a:srgbClr val="0000CC"/>
                </a:solidFill>
              </a:rPr>
              <a:t>benefits</a:t>
            </a:r>
            <a:r>
              <a:rPr lang="en-US" altLang="en-US" sz="2000" dirty="0"/>
              <a:t> expected from the interaction</a:t>
            </a:r>
          </a:p>
          <a:p>
            <a:pPr marL="1371600" lvl="2" indent="-457200">
              <a:spcBef>
                <a:spcPct val="0"/>
              </a:spcBef>
              <a:buFont typeface="+mj-lt"/>
              <a:buAutoNum type="alphaLcParenR"/>
            </a:pPr>
            <a:r>
              <a:rPr lang="en-US" altLang="en-US" sz="2000" dirty="0"/>
              <a:t>As in social interactions</a:t>
            </a:r>
          </a:p>
          <a:p>
            <a:pPr marL="1371600" lvl="2" indent="-457200">
              <a:spcBef>
                <a:spcPct val="0"/>
              </a:spcBef>
              <a:buFont typeface="+mj-lt"/>
              <a:buAutoNum type="alphaLcParenR"/>
            </a:pPr>
            <a:r>
              <a:rPr lang="en-US" altLang="en-US" sz="2000" dirty="0"/>
              <a:t>E.g.: a customer applying for a mortgage must reveal much more personal data than someone buying a book</a:t>
            </a:r>
          </a:p>
          <a:p>
            <a:pPr marL="1219200" lvl="2" indent="-304800">
              <a:spcBef>
                <a:spcPct val="0"/>
              </a:spcBef>
              <a:buNone/>
            </a:pPr>
            <a:endParaRPr lang="en-US" altLang="en-US" sz="800" dirty="0"/>
          </a:p>
          <a:p>
            <a:pPr marL="381000" indent="-381000">
              <a:spcBef>
                <a:spcPct val="50000"/>
              </a:spcBef>
            </a:pPr>
            <a:r>
              <a:rPr lang="en-US" altLang="en-US" sz="2400" dirty="0">
                <a:solidFill>
                  <a:srgbClr val="0000CC"/>
                </a:solidFill>
              </a:rPr>
              <a:t>Trust</a:t>
            </a:r>
            <a:r>
              <a:rPr lang="en-US" altLang="en-US" sz="2400" dirty="0"/>
              <a:t> must be established </a:t>
            </a:r>
            <a:r>
              <a:rPr lang="en-US" altLang="en-US" sz="2400" dirty="0">
                <a:solidFill>
                  <a:srgbClr val="0000CC"/>
                </a:solidFill>
              </a:rPr>
              <a:t>before</a:t>
            </a:r>
            <a:r>
              <a:rPr lang="en-US" altLang="en-US" sz="2400" dirty="0"/>
              <a:t> a privacy </a:t>
            </a:r>
            <a:r>
              <a:rPr lang="en-US" altLang="en-US" sz="2400" dirty="0">
                <a:solidFill>
                  <a:srgbClr val="0000CC"/>
                </a:solidFill>
              </a:rPr>
              <a:t>disclosure</a:t>
            </a:r>
          </a:p>
          <a:p>
            <a:pPr marL="914400" lvl="1" indent="-457200">
              <a:buFont typeface="+mj-lt"/>
              <a:buAutoNum type="alphaLcParenR"/>
            </a:pPr>
            <a:r>
              <a:rPr lang="en-US" altLang="en-US" sz="2000" dirty="0"/>
              <a:t>Data – provide quality an integrity</a:t>
            </a:r>
          </a:p>
          <a:p>
            <a:pPr marL="914400" lvl="1" indent="-457200">
              <a:buFont typeface="+mj-lt"/>
              <a:buAutoNum type="alphaLcParenR"/>
            </a:pPr>
            <a:r>
              <a:rPr lang="en-US" altLang="en-US" sz="2000" dirty="0"/>
              <a:t>End-to-end communication – sender authentication, message integrity</a:t>
            </a:r>
          </a:p>
          <a:p>
            <a:pPr marL="914400" lvl="1" indent="-457200">
              <a:buFont typeface="+mj-lt"/>
              <a:buAutoNum type="alphaLcParenR"/>
            </a:pPr>
            <a:r>
              <a:rPr lang="en-US" altLang="en-US" sz="2000" dirty="0"/>
              <a:t>Network routing algorithms – deal with malicious peers, intruders, security attacks</a:t>
            </a:r>
          </a:p>
        </p:txBody>
      </p:sp>
      <p:sp>
        <p:nvSpPr>
          <p:cNvPr id="4" name="Rectangle 2"/>
          <p:cNvSpPr>
            <a:spLocks noGrp="1" noChangeArrowheads="1"/>
          </p:cNvSpPr>
          <p:nvPr>
            <p:ph type="title"/>
          </p:nvPr>
        </p:nvSpPr>
        <p:spPr>
          <a:xfrm>
            <a:off x="2590800" y="365395"/>
            <a:ext cx="8077200" cy="533400"/>
          </a:xfrm>
        </p:spPr>
        <p:txBody>
          <a:bodyPr>
            <a:normAutofit fontScale="90000"/>
          </a:bodyPr>
          <a:lstStyle/>
          <a:p>
            <a:r>
              <a:rPr lang="en-US" altLang="en-US" dirty="0">
                <a:solidFill>
                  <a:srgbClr val="0000FF"/>
                </a:solidFill>
              </a:rPr>
              <a:t>6. Trust and </a:t>
            </a:r>
            <a:r>
              <a:rPr lang="en-US" altLang="en-US" dirty="0" smtClean="0">
                <a:solidFill>
                  <a:srgbClr val="0000FF"/>
                </a:solidFill>
              </a:rPr>
              <a:t>Privacy</a:t>
            </a:r>
            <a:r>
              <a:rPr lang="en-US" altLang="en-US" sz="4800" b="1" dirty="0">
                <a:solidFill>
                  <a:srgbClr val="0000FF"/>
                </a:solidFill>
              </a:rPr>
              <a:t> </a:t>
            </a:r>
            <a:r>
              <a:rPr lang="en-US" altLang="en-US" sz="4800" b="1" dirty="0" err="1" smtClean="0">
                <a:solidFill>
                  <a:srgbClr val="0000FF"/>
                </a:solidFill>
              </a:rPr>
              <a:t>cont</a:t>
            </a:r>
            <a:endParaRPr lang="en-US" altLang="en-US" dirty="0">
              <a:solidFill>
                <a:srgbClr val="0000FF"/>
              </a:solidFill>
            </a:endParaRPr>
          </a:p>
        </p:txBody>
      </p:sp>
    </p:spTree>
    <p:extLst>
      <p:ext uri="{BB962C8B-B14F-4D97-AF65-F5344CB8AC3E}">
        <p14:creationId xmlns:p14="http://schemas.microsoft.com/office/powerpoint/2010/main" val="2888141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7859" name="Rectangle 3"/>
          <p:cNvSpPr>
            <a:spLocks noGrp="1" noChangeArrowheads="1"/>
          </p:cNvSpPr>
          <p:nvPr>
            <p:ph type="body" idx="1"/>
          </p:nvPr>
        </p:nvSpPr>
        <p:spPr>
          <a:xfrm>
            <a:off x="1752600" y="1293814"/>
            <a:ext cx="8915400" cy="5564187"/>
          </a:xfrm>
        </p:spPr>
        <p:txBody>
          <a:bodyPr>
            <a:normAutofit fontScale="92500" lnSpcReduction="20000"/>
          </a:bodyPr>
          <a:lstStyle/>
          <a:p>
            <a:pPr marL="381000" indent="-381000">
              <a:lnSpc>
                <a:spcPct val="90000"/>
              </a:lnSpc>
              <a:spcBef>
                <a:spcPct val="0"/>
              </a:spcBef>
              <a:tabLst>
                <a:tab pos="4748213" algn="l"/>
              </a:tabLst>
            </a:pPr>
            <a:r>
              <a:rPr lang="en-US" altLang="en-US" sz="2400" dirty="0">
                <a:solidFill>
                  <a:srgbClr val="0000CC"/>
                </a:solidFill>
              </a:rPr>
              <a:t>Optimize</a:t>
            </a:r>
            <a:r>
              <a:rPr lang="en-US" altLang="en-US" sz="2400" dirty="0"/>
              <a:t> degree of </a:t>
            </a:r>
            <a:r>
              <a:rPr lang="en-US" altLang="en-US" sz="2400" dirty="0">
                <a:solidFill>
                  <a:srgbClr val="0000CC"/>
                </a:solidFill>
              </a:rPr>
              <a:t>privacy traded</a:t>
            </a:r>
            <a:r>
              <a:rPr lang="en-US" altLang="en-US" sz="2400" dirty="0"/>
              <a:t> to gain trust</a:t>
            </a:r>
          </a:p>
          <a:p>
            <a:pPr marL="914400" lvl="1" indent="-457200">
              <a:lnSpc>
                <a:spcPct val="90000"/>
              </a:lnSpc>
              <a:buFont typeface="+mj-lt"/>
              <a:buAutoNum type="alphaLcParenR"/>
              <a:tabLst>
                <a:tab pos="4748213" algn="l"/>
              </a:tabLst>
            </a:pPr>
            <a:r>
              <a:rPr lang="en-US" altLang="en-US" sz="2000" dirty="0"/>
              <a:t>Disclose </a:t>
            </a:r>
            <a:r>
              <a:rPr lang="en-US" altLang="en-US" sz="2000" dirty="0">
                <a:solidFill>
                  <a:srgbClr val="0000CC"/>
                </a:solidFill>
              </a:rPr>
              <a:t>minimum</a:t>
            </a:r>
            <a:r>
              <a:rPr lang="en-US" altLang="en-US" sz="2000" dirty="0"/>
              <a:t> </a:t>
            </a:r>
            <a:r>
              <a:rPr lang="en-US" altLang="en-US" sz="2000" dirty="0">
                <a:solidFill>
                  <a:srgbClr val="0000CC"/>
                </a:solidFill>
              </a:rPr>
              <a:t>needed</a:t>
            </a:r>
            <a:r>
              <a:rPr lang="en-US" altLang="en-US" sz="2000" dirty="0"/>
              <a:t> for gaining partner’s necessary trust level</a:t>
            </a:r>
          </a:p>
          <a:p>
            <a:pPr marL="800100" lvl="1" indent="-342900">
              <a:lnSpc>
                <a:spcPct val="90000"/>
              </a:lnSpc>
              <a:tabLst>
                <a:tab pos="4748213" algn="l"/>
              </a:tabLst>
            </a:pPr>
            <a:endParaRPr lang="en-US" altLang="en-US" sz="800" dirty="0"/>
          </a:p>
          <a:p>
            <a:pPr marL="381000" indent="-381000">
              <a:lnSpc>
                <a:spcPct val="90000"/>
              </a:lnSpc>
              <a:tabLst>
                <a:tab pos="4748213" algn="l"/>
              </a:tabLst>
            </a:pPr>
            <a:r>
              <a:rPr lang="en-US" altLang="en-US" sz="2400" dirty="0"/>
              <a:t>To optimize, need </a:t>
            </a:r>
            <a:r>
              <a:rPr lang="en-US" altLang="en-US" sz="2400" dirty="0">
                <a:solidFill>
                  <a:srgbClr val="0000CC"/>
                </a:solidFill>
              </a:rPr>
              <a:t>privacy </a:t>
            </a:r>
            <a:r>
              <a:rPr lang="en-US" altLang="en-US" sz="2400" dirty="0"/>
              <a:t>&amp;</a:t>
            </a:r>
            <a:r>
              <a:rPr lang="en-US" altLang="en-US" sz="2400" dirty="0">
                <a:solidFill>
                  <a:srgbClr val="0000CC"/>
                </a:solidFill>
              </a:rPr>
              <a:t> trust measures</a:t>
            </a:r>
          </a:p>
          <a:p>
            <a:pPr marL="381000" indent="-381000">
              <a:lnSpc>
                <a:spcPct val="90000"/>
              </a:lnSpc>
              <a:buNone/>
              <a:tabLst>
                <a:tab pos="4748213" algn="l"/>
              </a:tabLst>
            </a:pPr>
            <a:r>
              <a:rPr lang="en-US" altLang="en-US" sz="2400" dirty="0"/>
              <a:t>	Once measures available:</a:t>
            </a:r>
          </a:p>
          <a:p>
            <a:pPr marL="914400" lvl="1" indent="-457200">
              <a:lnSpc>
                <a:spcPct val="90000"/>
              </a:lnSpc>
              <a:buFont typeface="+mj-lt"/>
              <a:buAutoNum type="alphaLcParenR"/>
              <a:tabLst>
                <a:tab pos="4748213" algn="l"/>
              </a:tabLst>
            </a:pPr>
            <a:r>
              <a:rPr lang="en-US" altLang="en-US" sz="2000" dirty="0">
                <a:solidFill>
                  <a:srgbClr val="0000CC"/>
                </a:solidFill>
              </a:rPr>
              <a:t>Automate evaluations</a:t>
            </a:r>
            <a:r>
              <a:rPr lang="en-US" altLang="en-US" sz="2000" dirty="0"/>
              <a:t> of the privacy loss and trust gain</a:t>
            </a:r>
          </a:p>
          <a:p>
            <a:pPr marL="914400" lvl="1" indent="-457200">
              <a:lnSpc>
                <a:spcPct val="90000"/>
              </a:lnSpc>
              <a:buFont typeface="+mj-lt"/>
              <a:buAutoNum type="alphaLcParenR"/>
              <a:tabLst>
                <a:tab pos="4748213" algn="l"/>
              </a:tabLst>
            </a:pPr>
            <a:r>
              <a:rPr lang="en-US" altLang="en-US" sz="2000" dirty="0">
                <a:solidFill>
                  <a:srgbClr val="0000CC"/>
                </a:solidFill>
              </a:rPr>
              <a:t>Quantify</a:t>
            </a:r>
            <a:r>
              <a:rPr lang="en-US" altLang="en-US" sz="2000" dirty="0"/>
              <a:t> the trade-off</a:t>
            </a:r>
          </a:p>
          <a:p>
            <a:pPr marL="914400" lvl="1" indent="-457200">
              <a:lnSpc>
                <a:spcPct val="90000"/>
              </a:lnSpc>
              <a:buFont typeface="+mj-lt"/>
              <a:buAutoNum type="alphaLcParenR"/>
              <a:tabLst>
                <a:tab pos="4748213" algn="l"/>
              </a:tabLst>
            </a:pPr>
            <a:r>
              <a:rPr lang="en-US" altLang="en-US" sz="2000" dirty="0">
                <a:solidFill>
                  <a:srgbClr val="0000CC"/>
                </a:solidFill>
              </a:rPr>
              <a:t>Optimize</a:t>
            </a:r>
            <a:r>
              <a:rPr lang="en-US" altLang="en-US" sz="2000" dirty="0"/>
              <a:t> it</a:t>
            </a:r>
          </a:p>
          <a:p>
            <a:pPr marL="800100" lvl="1" indent="-342900">
              <a:lnSpc>
                <a:spcPct val="90000"/>
              </a:lnSpc>
              <a:tabLst>
                <a:tab pos="4748213" algn="l"/>
              </a:tabLst>
            </a:pPr>
            <a:endParaRPr lang="en-US" altLang="en-US" sz="800" dirty="0"/>
          </a:p>
          <a:p>
            <a:pPr marL="381000" indent="-381000">
              <a:lnSpc>
                <a:spcPct val="90000"/>
              </a:lnSpc>
              <a:tabLst>
                <a:tab pos="4748213" algn="l"/>
              </a:tabLst>
            </a:pPr>
            <a:r>
              <a:rPr lang="en-US" altLang="en-US" sz="2400" dirty="0"/>
              <a:t>Privacy-for-trust trading requires </a:t>
            </a:r>
            <a:r>
              <a:rPr lang="en-US" altLang="en-US" sz="2400" dirty="0">
                <a:solidFill>
                  <a:srgbClr val="0000CC"/>
                </a:solidFill>
              </a:rPr>
              <a:t>privacy guarantees for further</a:t>
            </a:r>
            <a:r>
              <a:rPr lang="en-US" altLang="en-US" sz="2400" dirty="0"/>
              <a:t> </a:t>
            </a:r>
            <a:r>
              <a:rPr lang="en-US" altLang="en-US" sz="2400" dirty="0">
                <a:solidFill>
                  <a:srgbClr val="0000CC"/>
                </a:solidFill>
              </a:rPr>
              <a:t>dissemination</a:t>
            </a:r>
            <a:r>
              <a:rPr lang="en-US" altLang="en-US" sz="2400" dirty="0"/>
              <a:t> of private info</a:t>
            </a:r>
          </a:p>
          <a:p>
            <a:pPr marL="914400" lvl="1" indent="-457200">
              <a:lnSpc>
                <a:spcPct val="90000"/>
              </a:lnSpc>
              <a:buFont typeface="+mj-lt"/>
              <a:buAutoNum type="alphaLcParenR"/>
              <a:tabLst>
                <a:tab pos="4748213" algn="l"/>
              </a:tabLst>
            </a:pPr>
            <a:r>
              <a:rPr lang="en-US" altLang="en-US" sz="2000" dirty="0"/>
              <a:t>Disclosing party needs </a:t>
            </a:r>
            <a:r>
              <a:rPr lang="en-US" altLang="en-US" sz="2000" dirty="0">
                <a:solidFill>
                  <a:srgbClr val="0000CC"/>
                </a:solidFill>
              </a:rPr>
              <a:t>satisfactory limitations on further dissemination</a:t>
            </a:r>
            <a:r>
              <a:rPr lang="en-US" altLang="en-US" sz="2000" dirty="0"/>
              <a:t> </a:t>
            </a:r>
            <a:r>
              <a:rPr lang="en-US" altLang="en-US" dirty="0">
                <a:solidFill>
                  <a:srgbClr val="4D4D4D"/>
                </a:solidFill>
              </a:rPr>
              <a:t>(or the lack of thereof)</a:t>
            </a:r>
            <a:r>
              <a:rPr lang="en-US" altLang="en-US" sz="2000" dirty="0"/>
              <a:t> of traded private information</a:t>
            </a:r>
          </a:p>
          <a:p>
            <a:pPr marL="914400" lvl="1" indent="-457200">
              <a:lnSpc>
                <a:spcPct val="90000"/>
              </a:lnSpc>
              <a:buFont typeface="+mj-lt"/>
              <a:buAutoNum type="alphaLcParenR"/>
              <a:tabLst>
                <a:tab pos="4748213" algn="l"/>
              </a:tabLst>
            </a:pPr>
            <a:r>
              <a:rPr lang="en-US" altLang="en-US" sz="2000" dirty="0"/>
              <a:t>E.g., needs partner’s </a:t>
            </a:r>
            <a:r>
              <a:rPr lang="en-US" altLang="en-US" sz="2000" dirty="0">
                <a:solidFill>
                  <a:srgbClr val="0000CC"/>
                </a:solidFill>
              </a:rPr>
              <a:t>solid privacy policies</a:t>
            </a:r>
          </a:p>
          <a:p>
            <a:pPr marL="1219200" lvl="2" indent="-304800">
              <a:lnSpc>
                <a:spcPct val="90000"/>
              </a:lnSpc>
              <a:tabLst>
                <a:tab pos="4748213" algn="l"/>
              </a:tabLst>
            </a:pPr>
            <a:r>
              <a:rPr lang="en-US" altLang="en-US" sz="1800" dirty="0"/>
              <a:t>Merely </a:t>
            </a:r>
            <a:r>
              <a:rPr lang="en-US" altLang="en-US" sz="1800" dirty="0">
                <a:solidFill>
                  <a:srgbClr val="0000CC"/>
                </a:solidFill>
              </a:rPr>
              <a:t>perceived danger</a:t>
            </a:r>
            <a:r>
              <a:rPr lang="en-US" altLang="en-US" sz="1800" dirty="0"/>
              <a:t> of a partner’s privacy violation </a:t>
            </a:r>
            <a:r>
              <a:rPr lang="en-US" altLang="en-US" sz="1800" dirty="0">
                <a:solidFill>
                  <a:srgbClr val="0000CC"/>
                </a:solidFill>
              </a:rPr>
              <a:t>can make</a:t>
            </a:r>
            <a:r>
              <a:rPr lang="en-US" altLang="en-US" sz="1800" dirty="0"/>
              <a:t> the disclosing party </a:t>
            </a:r>
            <a:r>
              <a:rPr lang="en-US" altLang="en-US" sz="1800" dirty="0">
                <a:solidFill>
                  <a:srgbClr val="0000CC"/>
                </a:solidFill>
              </a:rPr>
              <a:t>reluctant</a:t>
            </a:r>
            <a:r>
              <a:rPr lang="en-US" altLang="en-US" sz="1800" dirty="0"/>
              <a:t> to enter into a partnership</a:t>
            </a:r>
          </a:p>
          <a:p>
            <a:pPr marL="1638300" lvl="3" indent="-266700">
              <a:lnSpc>
                <a:spcPct val="90000"/>
              </a:lnSpc>
              <a:tabLst>
                <a:tab pos="4748213" algn="l"/>
              </a:tabLst>
            </a:pPr>
            <a:r>
              <a:rPr lang="en-US" altLang="en-US" sz="1600" dirty="0"/>
              <a:t>E.g., a user who learns that an ISP has carelessly revealed any customer’s email will look for another ISP</a:t>
            </a:r>
            <a:endParaRPr lang="en-US" altLang="en-US" sz="1600" dirty="0">
              <a:solidFill>
                <a:srgbClr val="0000CC"/>
              </a:solidFill>
            </a:endParaRPr>
          </a:p>
        </p:txBody>
      </p:sp>
    </p:spTree>
    <p:extLst>
      <p:ext uri="{BB962C8B-B14F-4D97-AF65-F5344CB8AC3E}">
        <p14:creationId xmlns:p14="http://schemas.microsoft.com/office/powerpoint/2010/main" val="114582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9907" name="Rectangle 3"/>
          <p:cNvSpPr>
            <a:spLocks noGrp="1" noChangeArrowheads="1"/>
          </p:cNvSpPr>
          <p:nvPr>
            <p:ph type="body" idx="1"/>
          </p:nvPr>
        </p:nvSpPr>
        <p:spPr>
          <a:xfrm>
            <a:off x="1762221" y="1063065"/>
            <a:ext cx="8650287" cy="5499100"/>
          </a:xfrm>
          <a:ln/>
          <a:extLst>
            <a:ext uri="{91240B29-F687-4F45-9708-019B960494DF}">
              <a14:hiddenLine xmlns:a14="http://schemas.microsoft.com/office/drawing/2010/main" w="9525">
                <a:solidFill>
                  <a:schemeClr val="folHlink"/>
                </a:solidFill>
                <a:miter lim="800000"/>
                <a:headEnd/>
                <a:tailEnd/>
              </a14:hiddenLine>
            </a:ext>
          </a:extLst>
        </p:spPr>
        <p:txBody>
          <a:bodyPr>
            <a:normAutofit/>
          </a:bodyPr>
          <a:lstStyle/>
          <a:p>
            <a:pPr lvl="1">
              <a:lnSpc>
                <a:spcPct val="80000"/>
              </a:lnSpc>
            </a:pPr>
            <a:endParaRPr lang="en-US" altLang="en-US" sz="2400" dirty="0" smtClean="0"/>
          </a:p>
          <a:p>
            <a:pPr lvl="1">
              <a:lnSpc>
                <a:spcPct val="80000"/>
              </a:lnSpc>
            </a:pPr>
            <a:r>
              <a:rPr lang="pl-PL" altLang="en-US" sz="2400" dirty="0" smtClean="0"/>
              <a:t>Symmetric disclosing:</a:t>
            </a:r>
            <a:endParaRPr lang="pl-PL" altLang="en-US" sz="2400" dirty="0"/>
          </a:p>
          <a:p>
            <a:pPr marL="1371600" lvl="2" indent="-457200">
              <a:lnSpc>
                <a:spcPct val="80000"/>
              </a:lnSpc>
              <a:buFont typeface="+mj-lt"/>
              <a:buAutoNum type="alphaLcParenR"/>
            </a:pPr>
            <a:r>
              <a:rPr lang="pl-PL" altLang="en-US" sz="2000" dirty="0"/>
              <a:t>Initial degree of trust / stepwise trust growth / establishes mutual „full” trust</a:t>
            </a:r>
          </a:p>
          <a:p>
            <a:pPr marL="1371600" lvl="2" indent="-457200">
              <a:lnSpc>
                <a:spcPct val="80000"/>
              </a:lnSpc>
              <a:buFont typeface="+mj-lt"/>
              <a:buAutoNum type="alphaLcParenR"/>
            </a:pPr>
            <a:r>
              <a:rPr lang="pl-PL" altLang="en-US" sz="2000" dirty="0">
                <a:solidFill>
                  <a:schemeClr val="folHlink"/>
                </a:solidFill>
              </a:rPr>
              <a:t>Trades info for </a:t>
            </a:r>
            <a:r>
              <a:rPr lang="pl-PL" altLang="en-US" sz="2000" dirty="0" smtClean="0">
                <a:solidFill>
                  <a:schemeClr val="folHlink"/>
                </a:solidFill>
              </a:rPr>
              <a:t>trust</a:t>
            </a:r>
            <a:endParaRPr lang="pl-PL" altLang="en-US" sz="800" dirty="0"/>
          </a:p>
          <a:p>
            <a:pPr lvl="1">
              <a:lnSpc>
                <a:spcPct val="80000"/>
              </a:lnSpc>
            </a:pPr>
            <a:r>
              <a:rPr lang="pl-PL" altLang="en-US" sz="2400" dirty="0"/>
              <a:t>Symmetric </a:t>
            </a:r>
            <a:r>
              <a:rPr lang="pl-PL" altLang="en-US" sz="2400" dirty="0" smtClean="0"/>
              <a:t>preserving:</a:t>
            </a:r>
            <a:r>
              <a:rPr lang="en-US" altLang="en-US" sz="2400" dirty="0" smtClean="0"/>
              <a:t> </a:t>
            </a:r>
            <a:r>
              <a:rPr lang="pl-PL" altLang="en-US" sz="2400" dirty="0" smtClean="0">
                <a:solidFill>
                  <a:srgbClr val="B2B2B2"/>
                </a:solidFill>
              </a:rPr>
              <a:t>(</a:t>
            </a:r>
            <a:r>
              <a:rPr lang="pl-PL" altLang="en-US" sz="2400" dirty="0">
                <a:solidFill>
                  <a:srgbClr val="B2B2B2"/>
                </a:solidFill>
              </a:rPr>
              <a:t>from distrust to trust)</a:t>
            </a:r>
          </a:p>
          <a:p>
            <a:pPr marL="1371600" lvl="2" indent="-457200">
              <a:lnSpc>
                <a:spcPct val="80000"/>
              </a:lnSpc>
              <a:buFont typeface="+mj-lt"/>
              <a:buAutoNum type="alphaLcParenR"/>
            </a:pPr>
            <a:r>
              <a:rPr lang="pl-PL" altLang="en-US" sz="2000" dirty="0"/>
              <a:t>Initial distrust / no stepwise trust growth / establishes mutual „full” </a:t>
            </a:r>
            <a:r>
              <a:rPr lang="pl-PL" altLang="en-US" sz="2000" dirty="0" smtClean="0"/>
              <a:t>trust</a:t>
            </a:r>
            <a:r>
              <a:rPr lang="en-GB" altLang="en-US" sz="2000" dirty="0" smtClean="0"/>
              <a:t>(this is were you don’t have legal evidence about the othe</a:t>
            </a:r>
            <a:r>
              <a:rPr lang="en-GB" altLang="en-US" sz="2000" dirty="0" smtClean="0"/>
              <a:t>r organisation/ </a:t>
            </a:r>
            <a:r>
              <a:rPr lang="en-GB" altLang="en-US" sz="2000" dirty="0" err="1" smtClean="0"/>
              <a:t>entitety</a:t>
            </a:r>
            <a:r>
              <a:rPr lang="en-GB" altLang="en-US" sz="2000" dirty="0" smtClean="0"/>
              <a:t> or software but you trust them</a:t>
            </a:r>
            <a:r>
              <a:rPr lang="en-GB" altLang="en-US" sz="2000" dirty="0" smtClean="0"/>
              <a:t>)</a:t>
            </a:r>
            <a:endParaRPr lang="pl-PL" altLang="en-US" sz="2000" dirty="0"/>
          </a:p>
          <a:p>
            <a:pPr marL="1371600" lvl="2" indent="-457200">
              <a:lnSpc>
                <a:spcPct val="80000"/>
              </a:lnSpc>
              <a:buFont typeface="+mj-lt"/>
              <a:buAutoNum type="alphaLcParenR"/>
            </a:pPr>
            <a:r>
              <a:rPr lang="pl-PL" altLang="en-US" sz="2000" dirty="0">
                <a:solidFill>
                  <a:schemeClr val="folHlink"/>
                </a:solidFill>
              </a:rPr>
              <a:t>No trading of info for </a:t>
            </a:r>
            <a:r>
              <a:rPr lang="pl-PL" altLang="en-US" sz="2000" dirty="0" smtClean="0">
                <a:solidFill>
                  <a:schemeClr val="folHlink"/>
                </a:solidFill>
              </a:rPr>
              <a:t>trust</a:t>
            </a:r>
            <a:endParaRPr lang="pl-PL" altLang="en-US" sz="800" dirty="0"/>
          </a:p>
          <a:p>
            <a:pPr lvl="1">
              <a:lnSpc>
                <a:spcPct val="80000"/>
              </a:lnSpc>
            </a:pPr>
            <a:r>
              <a:rPr lang="pl-PL" altLang="en-US" sz="2400" dirty="0"/>
              <a:t>Asymmetric:</a:t>
            </a:r>
          </a:p>
          <a:p>
            <a:pPr marL="1371600" lvl="2" indent="-457200">
              <a:lnSpc>
                <a:spcPct val="80000"/>
              </a:lnSpc>
              <a:buFont typeface="+mj-lt"/>
              <a:buAutoNum type="alphaLcParenR"/>
            </a:pPr>
            <a:r>
              <a:rPr lang="pl-PL" altLang="en-US" sz="2000" dirty="0"/>
              <a:t>Initial „full” trust of Weaker into Stronger and </a:t>
            </a:r>
            <a:r>
              <a:rPr lang="pl-PL" altLang="en-US" sz="2000" i="1" dirty="0"/>
              <a:t>no</a:t>
            </a:r>
            <a:r>
              <a:rPr lang="pl-PL" altLang="en-US" sz="2000" dirty="0"/>
              <a:t> trust of Stronger into Weaker / stepwise trust growth / establishes „full” trust of Stronger into </a:t>
            </a:r>
            <a:r>
              <a:rPr lang="pl-PL" altLang="en-US" sz="2000" dirty="0" smtClean="0"/>
              <a:t>Weaker</a:t>
            </a:r>
            <a:r>
              <a:rPr lang="en-GB" altLang="en-US" sz="2000" dirty="0" smtClean="0"/>
              <a:t> </a:t>
            </a:r>
            <a:r>
              <a:rPr lang="en-GB" altLang="en-US" sz="2000" dirty="0" err="1" smtClean="0"/>
              <a:t>e.g</a:t>
            </a:r>
            <a:r>
              <a:rPr lang="en-GB" altLang="en-US" sz="2000" dirty="0" smtClean="0"/>
              <a:t> banks</a:t>
            </a:r>
            <a:endParaRPr lang="pl-PL" altLang="en-US" sz="2000" dirty="0"/>
          </a:p>
          <a:p>
            <a:pPr marL="1371600" lvl="2" indent="-457200">
              <a:lnSpc>
                <a:spcPct val="80000"/>
              </a:lnSpc>
              <a:buFont typeface="+mj-lt"/>
              <a:buAutoNum type="alphaLcParenR"/>
            </a:pPr>
            <a:r>
              <a:rPr lang="pl-PL" altLang="en-US" sz="2000" dirty="0">
                <a:solidFill>
                  <a:schemeClr val="folHlink"/>
                </a:solidFill>
              </a:rPr>
              <a:t>Trades </a:t>
            </a:r>
            <a:r>
              <a:rPr lang="pl-PL" altLang="en-US" sz="2000" i="1" dirty="0">
                <a:solidFill>
                  <a:schemeClr val="folHlink"/>
                </a:solidFill>
              </a:rPr>
              <a:t>private</a:t>
            </a:r>
            <a:r>
              <a:rPr lang="pl-PL" altLang="en-US" sz="2000" dirty="0">
                <a:solidFill>
                  <a:schemeClr val="folHlink"/>
                </a:solidFill>
              </a:rPr>
              <a:t> info for trust</a:t>
            </a:r>
          </a:p>
        </p:txBody>
      </p:sp>
      <p:sp>
        <p:nvSpPr>
          <p:cNvPr id="4" name="Rectangle 2"/>
          <p:cNvSpPr>
            <a:spLocks noGrp="1" noChangeArrowheads="1"/>
          </p:cNvSpPr>
          <p:nvPr>
            <p:ph type="title"/>
          </p:nvPr>
        </p:nvSpPr>
        <p:spPr>
          <a:xfrm>
            <a:off x="1922929" y="365395"/>
            <a:ext cx="8745071" cy="533400"/>
          </a:xfrm>
        </p:spPr>
        <p:txBody>
          <a:bodyPr>
            <a:normAutofit fontScale="90000"/>
          </a:bodyPr>
          <a:lstStyle/>
          <a:p>
            <a:r>
              <a:rPr lang="en-US" altLang="en-US" dirty="0" smtClean="0">
                <a:solidFill>
                  <a:srgbClr val="0000FF"/>
                </a:solidFill>
              </a:rPr>
              <a:t>Three Types of Trading Information for Trust</a:t>
            </a:r>
            <a:endParaRPr lang="en-US" altLang="en-US" dirty="0">
              <a:solidFill>
                <a:srgbClr val="0000FF"/>
              </a:solidFill>
            </a:endParaRPr>
          </a:p>
        </p:txBody>
      </p:sp>
    </p:spTree>
    <p:extLst>
      <p:ext uri="{BB962C8B-B14F-4D97-AF65-F5344CB8AC3E}">
        <p14:creationId xmlns:p14="http://schemas.microsoft.com/office/powerpoint/2010/main" val="1666032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1955" name="Rectangle 3"/>
          <p:cNvSpPr>
            <a:spLocks noGrp="1" noChangeArrowheads="1"/>
          </p:cNvSpPr>
          <p:nvPr>
            <p:ph type="body" idx="1"/>
          </p:nvPr>
        </p:nvSpPr>
        <p:spPr>
          <a:xfrm>
            <a:off x="1827214" y="1335088"/>
            <a:ext cx="8726487" cy="3842030"/>
          </a:xfrm>
        </p:spPr>
        <p:txBody>
          <a:bodyPr/>
          <a:lstStyle/>
          <a:p>
            <a:pPr marL="509588" indent="-509588">
              <a:tabLst>
                <a:tab pos="5538788" algn="l"/>
              </a:tabLst>
            </a:pPr>
            <a:r>
              <a:rPr lang="en-US" altLang="en-US" sz="2400" dirty="0">
                <a:solidFill>
                  <a:srgbClr val="0000FF"/>
                </a:solidFill>
              </a:rPr>
              <a:t>Privacy-Trust Tradeoff: </a:t>
            </a:r>
            <a:r>
              <a:rPr lang="en-US" altLang="en-US" sz="2400" dirty="0"/>
              <a:t>Trading Privacy Loss for Trust Gain</a:t>
            </a:r>
          </a:p>
          <a:p>
            <a:pPr marL="509588" indent="-509588">
              <a:spcBef>
                <a:spcPct val="0"/>
              </a:spcBef>
              <a:buNone/>
              <a:tabLst>
                <a:tab pos="5538788" algn="l"/>
              </a:tabLst>
            </a:pPr>
            <a:endParaRPr lang="en-US" altLang="en-US" sz="800" dirty="0"/>
          </a:p>
          <a:p>
            <a:pPr marL="509588" indent="-509588">
              <a:spcBef>
                <a:spcPct val="0"/>
              </a:spcBef>
              <a:buNone/>
              <a:tabLst>
                <a:tab pos="5538788" algn="l"/>
              </a:tabLst>
            </a:pPr>
            <a:endParaRPr lang="en-US" altLang="en-US" sz="800" dirty="0"/>
          </a:p>
          <a:p>
            <a:pPr marL="509588" indent="-509588">
              <a:spcBef>
                <a:spcPct val="0"/>
              </a:spcBef>
              <a:tabLst>
                <a:tab pos="5538788" algn="l"/>
              </a:tabLst>
            </a:pPr>
            <a:r>
              <a:rPr lang="en-US" altLang="en-US" sz="2400" dirty="0"/>
              <a:t>We</a:t>
            </a:r>
            <a:r>
              <a:rPr lang="pl-PL" altLang="en-US" sz="2400" dirty="0"/>
              <a:t>’re</a:t>
            </a:r>
            <a:r>
              <a:rPr lang="en-US" altLang="en-US" sz="2400" dirty="0"/>
              <a:t> focus</a:t>
            </a:r>
            <a:r>
              <a:rPr lang="pl-PL" altLang="en-US" sz="2400" dirty="0"/>
              <a:t>ing</a:t>
            </a:r>
            <a:r>
              <a:rPr lang="en-US" altLang="en-US" sz="2400" dirty="0"/>
              <a:t> on </a:t>
            </a:r>
            <a:r>
              <a:rPr lang="en-US" altLang="en-US" sz="2400" dirty="0">
                <a:solidFill>
                  <a:srgbClr val="0000FF"/>
                </a:solidFill>
              </a:rPr>
              <a:t>asymmetric</a:t>
            </a:r>
            <a:r>
              <a:rPr lang="en-US" altLang="en-US" sz="2400" dirty="0">
                <a:solidFill>
                  <a:schemeClr val="folHlink"/>
                </a:solidFill>
              </a:rPr>
              <a:t> </a:t>
            </a:r>
            <a:r>
              <a:rPr lang="en-US" altLang="en-US" sz="2400" dirty="0"/>
              <a:t>trust </a:t>
            </a:r>
            <a:r>
              <a:rPr lang="pl-PL" altLang="en-US" sz="2400" dirty="0"/>
              <a:t>negotiations:</a:t>
            </a:r>
            <a:endParaRPr lang="en-US" altLang="en-US" sz="2400" dirty="0"/>
          </a:p>
          <a:p>
            <a:pPr marL="509588" indent="-509588">
              <a:spcBef>
                <a:spcPct val="0"/>
              </a:spcBef>
              <a:buNone/>
              <a:tabLst>
                <a:tab pos="5538788" algn="l"/>
              </a:tabLst>
            </a:pPr>
            <a:r>
              <a:rPr lang="en-US" altLang="en-US" sz="2800" dirty="0"/>
              <a:t>	</a:t>
            </a:r>
            <a:r>
              <a:rPr lang="en-US" altLang="en-US" sz="2400" dirty="0"/>
              <a:t>The weaker party trades </a:t>
            </a:r>
            <a:r>
              <a:rPr lang="pl-PL" altLang="en-US" sz="2400" dirty="0"/>
              <a:t>a</a:t>
            </a:r>
            <a:r>
              <a:rPr lang="pl-PL" altLang="en-US" sz="2400" dirty="0">
                <a:solidFill>
                  <a:schemeClr val="folHlink"/>
                </a:solidFill>
              </a:rPr>
              <a:t> </a:t>
            </a:r>
            <a:r>
              <a:rPr lang="pl-PL" altLang="en-US" dirty="0">
                <a:solidFill>
                  <a:srgbClr val="4D4D4D"/>
                </a:solidFill>
              </a:rPr>
              <a:t>(degree of)</a:t>
            </a:r>
            <a:r>
              <a:rPr lang="pl-PL" altLang="en-US" sz="2400" dirty="0">
                <a:solidFill>
                  <a:schemeClr val="folHlink"/>
                </a:solidFill>
              </a:rPr>
              <a:t> </a:t>
            </a:r>
            <a:r>
              <a:rPr lang="en-US" altLang="en-US" sz="2400" dirty="0"/>
              <a:t>privacy loss for</a:t>
            </a:r>
            <a:r>
              <a:rPr lang="en-US" altLang="en-US" sz="2400" dirty="0">
                <a:solidFill>
                  <a:schemeClr val="folHlink"/>
                </a:solidFill>
              </a:rPr>
              <a:t> </a:t>
            </a:r>
            <a:r>
              <a:rPr lang="pl-PL" altLang="en-US" dirty="0">
                <a:solidFill>
                  <a:srgbClr val="4D4D4D"/>
                </a:solidFill>
              </a:rPr>
              <a:t>(a degree of)</a:t>
            </a:r>
            <a:r>
              <a:rPr lang="pl-PL" altLang="en-US" sz="2400" dirty="0">
                <a:solidFill>
                  <a:schemeClr val="folHlink"/>
                </a:solidFill>
              </a:rPr>
              <a:t> </a:t>
            </a:r>
            <a:r>
              <a:rPr lang="pl-PL" altLang="en-US" sz="2400" dirty="0"/>
              <a:t>a </a:t>
            </a:r>
            <a:r>
              <a:rPr lang="en-US" altLang="en-US" sz="2400" dirty="0"/>
              <a:t>trust gain as perceived by the stronger party</a:t>
            </a:r>
          </a:p>
          <a:p>
            <a:pPr marL="509588" indent="-509588">
              <a:spcBef>
                <a:spcPct val="0"/>
              </a:spcBef>
              <a:tabLst>
                <a:tab pos="5538788" algn="l"/>
              </a:tabLst>
            </a:pPr>
            <a:endParaRPr lang="en-US" altLang="en-US" sz="800" dirty="0"/>
          </a:p>
          <a:p>
            <a:pPr marL="509588" indent="-509588">
              <a:spcBef>
                <a:spcPct val="0"/>
              </a:spcBef>
              <a:tabLst>
                <a:tab pos="5538788" algn="l"/>
              </a:tabLst>
            </a:pPr>
            <a:endParaRPr lang="pl-PL" altLang="en-US" sz="800" dirty="0"/>
          </a:p>
          <a:p>
            <a:pPr marL="1793875" lvl="2" indent="-457200">
              <a:spcBef>
                <a:spcPct val="0"/>
              </a:spcBef>
              <a:tabLst>
                <a:tab pos="5538788" algn="l"/>
              </a:tabLst>
            </a:pPr>
            <a:endParaRPr lang="en-US" altLang="en-US" sz="800" dirty="0"/>
          </a:p>
          <a:p>
            <a:pPr marL="1793875" lvl="2" indent="-457200">
              <a:spcBef>
                <a:spcPct val="0"/>
              </a:spcBef>
              <a:tabLst>
                <a:tab pos="5538788" algn="l"/>
              </a:tabLst>
            </a:pPr>
            <a:endParaRPr lang="en-US" altLang="en-US" sz="800" dirty="0"/>
          </a:p>
          <a:p>
            <a:pPr marL="1793875" lvl="2" indent="-457200">
              <a:spcBef>
                <a:spcPct val="0"/>
              </a:spcBef>
              <a:tabLst>
                <a:tab pos="5538788" algn="l"/>
              </a:tabLst>
            </a:pPr>
            <a:endParaRPr lang="en-US" altLang="en-US" sz="800" dirty="0"/>
          </a:p>
          <a:p>
            <a:pPr marL="1793875" lvl="2" indent="-457200">
              <a:spcBef>
                <a:spcPct val="0"/>
              </a:spcBef>
              <a:tabLst>
                <a:tab pos="5538788" algn="l"/>
              </a:tabLst>
            </a:pPr>
            <a:endParaRPr lang="pl-PL" altLang="en-US" sz="800" dirty="0"/>
          </a:p>
          <a:p>
            <a:pPr marL="1222375" lvl="1" indent="-533400">
              <a:spcBef>
                <a:spcPct val="0"/>
              </a:spcBef>
              <a:buNone/>
              <a:tabLst>
                <a:tab pos="5538788" algn="l"/>
              </a:tabLst>
            </a:pPr>
            <a:r>
              <a:rPr lang="pl-PL" altLang="en-US" sz="2400" dirty="0"/>
              <a:t>	</a:t>
            </a:r>
            <a:endParaRPr lang="en-US" altLang="en-US" sz="2400" dirty="0">
              <a:solidFill>
                <a:srgbClr val="0000FF"/>
              </a:solidFill>
            </a:endParaRPr>
          </a:p>
        </p:txBody>
      </p:sp>
      <p:sp>
        <p:nvSpPr>
          <p:cNvPr id="4" name="Rectangle 2"/>
          <p:cNvSpPr>
            <a:spLocks noGrp="1" noChangeArrowheads="1"/>
          </p:cNvSpPr>
          <p:nvPr>
            <p:ph type="title"/>
          </p:nvPr>
        </p:nvSpPr>
        <p:spPr>
          <a:xfrm>
            <a:off x="2590800" y="365395"/>
            <a:ext cx="8077200" cy="533400"/>
          </a:xfrm>
        </p:spPr>
        <p:txBody>
          <a:bodyPr>
            <a:normAutofit fontScale="90000"/>
          </a:bodyPr>
          <a:lstStyle/>
          <a:p>
            <a:r>
              <a:rPr lang="en-US" altLang="en-US" dirty="0" smtClean="0">
                <a:solidFill>
                  <a:srgbClr val="0000FF"/>
                </a:solidFill>
              </a:rPr>
              <a:t> Asymmetric Trust Negotiation</a:t>
            </a:r>
            <a:endParaRPr lang="en-US" altLang="en-US" dirty="0">
              <a:solidFill>
                <a:srgbClr val="0000FF"/>
              </a:solidFill>
            </a:endParaRPr>
          </a:p>
        </p:txBody>
      </p:sp>
    </p:spTree>
    <p:extLst>
      <p:ext uri="{BB962C8B-B14F-4D97-AF65-F5344CB8AC3E}">
        <p14:creationId xmlns:p14="http://schemas.microsoft.com/office/powerpoint/2010/main" val="959476108"/>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0146" name="Rectangle 2"/>
          <p:cNvSpPr>
            <a:spLocks noGrp="1" noChangeArrowheads="1"/>
          </p:cNvSpPr>
          <p:nvPr>
            <p:ph type="title"/>
          </p:nvPr>
        </p:nvSpPr>
        <p:spPr>
          <a:xfrm>
            <a:off x="677334" y="609600"/>
            <a:ext cx="10241678" cy="1447800"/>
          </a:xfrm>
        </p:spPr>
        <p:txBody>
          <a:bodyPr>
            <a:normAutofit fontScale="90000"/>
          </a:bodyPr>
          <a:lstStyle/>
          <a:p>
            <a:r>
              <a:rPr lang="en-US" altLang="en-US" sz="4000" dirty="0">
                <a:solidFill>
                  <a:srgbClr val="0000FF"/>
                </a:solidFill>
              </a:rPr>
              <a:t>Proposed </a:t>
            </a:r>
            <a:r>
              <a:rPr lang="en-US" altLang="en-US" sz="4000" dirty="0" smtClean="0">
                <a:solidFill>
                  <a:srgbClr val="0000FF"/>
                </a:solidFill>
              </a:rPr>
              <a:t>Approach to Trading </a:t>
            </a:r>
            <a:r>
              <a:rPr lang="en-US" altLang="en-US" sz="4000" dirty="0">
                <a:solidFill>
                  <a:srgbClr val="0000FF"/>
                </a:solidFill>
              </a:rPr>
              <a:t>privacy for </a:t>
            </a:r>
            <a:r>
              <a:rPr lang="en-US" altLang="en-US" sz="4000" dirty="0" smtClean="0">
                <a:solidFill>
                  <a:srgbClr val="0000FF"/>
                </a:solidFill>
              </a:rPr>
              <a:t>trust </a:t>
            </a:r>
            <a:r>
              <a:rPr lang="en-US" altLang="en-US" sz="6600" dirty="0"/>
              <a:t> </a:t>
            </a:r>
            <a:r>
              <a:rPr lang="en-US" altLang="en-US" sz="4000" dirty="0" smtClean="0"/>
              <a:t>[</a:t>
            </a:r>
            <a:r>
              <a:rPr lang="en-US" altLang="en-US" sz="4000" dirty="0" err="1"/>
              <a:t>Zhong</a:t>
            </a:r>
            <a:r>
              <a:rPr lang="en-US" altLang="en-US" sz="4000" dirty="0"/>
              <a:t> and Bhargava, Purdue]</a:t>
            </a:r>
            <a:br>
              <a:rPr lang="en-US" altLang="en-US" sz="4000" dirty="0"/>
            </a:br>
            <a:endParaRPr lang="en-US" altLang="en-US" sz="4000" dirty="0">
              <a:solidFill>
                <a:srgbClr val="0000FF"/>
              </a:solidFill>
            </a:endParaRPr>
          </a:p>
        </p:txBody>
      </p:sp>
      <p:sp>
        <p:nvSpPr>
          <p:cNvPr id="1670147" name="Rectangle 3"/>
          <p:cNvSpPr>
            <a:spLocks noGrp="1" noChangeArrowheads="1"/>
          </p:cNvSpPr>
          <p:nvPr>
            <p:ph type="body" idx="1"/>
          </p:nvPr>
        </p:nvSpPr>
        <p:spPr>
          <a:xfrm>
            <a:off x="-370881" y="2149438"/>
            <a:ext cx="8596668" cy="3880773"/>
          </a:xfrm>
        </p:spPr>
        <p:txBody>
          <a:bodyPr/>
          <a:lstStyle/>
          <a:p>
            <a:pPr marL="609600" indent="-609600">
              <a:buFont typeface="Wingdings" panose="05000000000000000000" pitchFamily="2" charset="2"/>
              <a:buAutoNum type="alphaUcPeriod"/>
            </a:pPr>
            <a:r>
              <a:rPr lang="en-US" altLang="en-US" dirty="0"/>
              <a:t>Formulate the privacy-trust tradeoff problem</a:t>
            </a:r>
          </a:p>
          <a:p>
            <a:pPr marL="609600" indent="-609600">
              <a:buFont typeface="Wingdings" panose="05000000000000000000" pitchFamily="2" charset="2"/>
              <a:buAutoNum type="alphaUcPeriod"/>
            </a:pPr>
            <a:r>
              <a:rPr lang="en-US" altLang="en-US" dirty="0"/>
              <a:t>Estimate privacy loss due to disclosing a set of credentials</a:t>
            </a:r>
          </a:p>
          <a:p>
            <a:pPr marL="609600" indent="-609600">
              <a:buFont typeface="Wingdings" panose="05000000000000000000" pitchFamily="2" charset="2"/>
              <a:buAutoNum type="alphaUcPeriod"/>
            </a:pPr>
            <a:r>
              <a:rPr lang="en-US" altLang="en-US" dirty="0"/>
              <a:t>Estimate trust gain due to disclosing a set of credentials</a:t>
            </a:r>
          </a:p>
          <a:p>
            <a:pPr marL="609600" indent="-609600">
              <a:buFont typeface="Wingdings" panose="05000000000000000000" pitchFamily="2" charset="2"/>
              <a:buAutoNum type="alphaUcPeriod"/>
            </a:pPr>
            <a:r>
              <a:rPr lang="en-US" altLang="en-US" dirty="0"/>
              <a:t>Develop algorithms that minimize privacy loss for required trust </a:t>
            </a:r>
            <a:r>
              <a:rPr lang="en-US" altLang="en-US" dirty="0" smtClean="0"/>
              <a:t>gain</a:t>
            </a:r>
          </a:p>
          <a:p>
            <a:pPr marL="1009650" lvl="1" indent="-609600">
              <a:buFont typeface="+mj-lt"/>
              <a:buAutoNum type="romanLcPeriod"/>
            </a:pPr>
            <a:r>
              <a:rPr lang="en-US" altLang="en-US" dirty="0"/>
              <a:t>Because nobody likes loosing more privacy than necessary</a:t>
            </a:r>
            <a:endParaRPr lang="pl-PL" altLang="en-US" dirty="0"/>
          </a:p>
          <a:p>
            <a:pPr marL="609600" indent="-609600">
              <a:buFont typeface="Wingdings" panose="05000000000000000000" pitchFamily="2" charset="2"/>
              <a:buAutoNum type="alphaUcPeriod"/>
            </a:pPr>
            <a:endParaRPr lang="en-US" altLang="en-US" dirty="0"/>
          </a:p>
        </p:txBody>
      </p:sp>
    </p:spTree>
    <p:extLst>
      <p:ext uri="{BB962C8B-B14F-4D97-AF65-F5344CB8AC3E}">
        <p14:creationId xmlns:p14="http://schemas.microsoft.com/office/powerpoint/2010/main" val="163876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2194" name="Rectangle 2"/>
          <p:cNvSpPr>
            <a:spLocks noGrp="1" noChangeArrowheads="1"/>
          </p:cNvSpPr>
          <p:nvPr>
            <p:ph type="title"/>
          </p:nvPr>
        </p:nvSpPr>
        <p:spPr/>
        <p:txBody>
          <a:bodyPr/>
          <a:lstStyle/>
          <a:p>
            <a:r>
              <a:rPr lang="en-US" altLang="en-US" sz="4000" dirty="0">
                <a:solidFill>
                  <a:srgbClr val="0000FF"/>
                </a:solidFill>
              </a:rPr>
              <a:t>A. Formulate Tradeoff Problem</a:t>
            </a:r>
          </a:p>
        </p:txBody>
      </p:sp>
      <p:sp>
        <p:nvSpPr>
          <p:cNvPr id="1672195" name="Rectangle 3"/>
          <p:cNvSpPr>
            <a:spLocks noGrp="1" noChangeArrowheads="1"/>
          </p:cNvSpPr>
          <p:nvPr>
            <p:ph type="body" idx="1"/>
          </p:nvPr>
        </p:nvSpPr>
        <p:spPr>
          <a:xfrm>
            <a:off x="1981200" y="1371600"/>
            <a:ext cx="8686800" cy="5486400"/>
          </a:xfrm>
        </p:spPr>
        <p:txBody>
          <a:bodyPr/>
          <a:lstStyle/>
          <a:p>
            <a:r>
              <a:rPr lang="en-US" altLang="en-US" dirty="0"/>
              <a:t>Set of private attributes </a:t>
            </a:r>
            <a:r>
              <a:rPr lang="en-US" altLang="en-US" sz="2000" dirty="0"/>
              <a:t>that user wants to </a:t>
            </a:r>
            <a:r>
              <a:rPr lang="en-US" altLang="en-US" sz="2000" dirty="0" smtClean="0"/>
              <a:t>conceal or </a:t>
            </a:r>
            <a:r>
              <a:rPr lang="en-GB" sz="2000"/>
              <a:t>hide</a:t>
            </a:r>
            <a:r>
              <a:rPr lang="en-US" altLang="en-US" sz="2000" smtClean="0"/>
              <a:t> </a:t>
            </a:r>
            <a:r>
              <a:rPr lang="en-US" altLang="en-US" sz="2000" dirty="0" smtClean="0"/>
              <a:t>(Universal set)</a:t>
            </a:r>
            <a:endParaRPr lang="en-US" altLang="en-US" sz="2000" dirty="0"/>
          </a:p>
          <a:p>
            <a:r>
              <a:rPr lang="en-US" altLang="en-US" dirty="0"/>
              <a:t>Set of credentials</a:t>
            </a:r>
          </a:p>
          <a:p>
            <a:pPr marL="800100" lvl="1" indent="-342900">
              <a:buFont typeface="+mj-lt"/>
              <a:buAutoNum type="alphaLcParenR"/>
            </a:pPr>
            <a:r>
              <a:rPr lang="en-US" altLang="en-US" dirty="0"/>
              <a:t>Subset of </a:t>
            </a:r>
            <a:r>
              <a:rPr lang="en-US" altLang="en-US" i="1" dirty="0"/>
              <a:t>revealed</a:t>
            </a:r>
            <a:r>
              <a:rPr lang="en-US" altLang="en-US" dirty="0"/>
              <a:t> credentials </a:t>
            </a:r>
            <a:r>
              <a:rPr lang="en-US" altLang="en-US" i="1" dirty="0"/>
              <a:t>R</a:t>
            </a:r>
          </a:p>
          <a:p>
            <a:pPr marL="800100" lvl="1" indent="-342900">
              <a:buFont typeface="+mj-lt"/>
              <a:buAutoNum type="alphaLcParenR"/>
            </a:pPr>
            <a:r>
              <a:rPr lang="en-US" altLang="en-US" dirty="0"/>
              <a:t>Subset of </a:t>
            </a:r>
            <a:r>
              <a:rPr lang="en-US" altLang="en-US" i="1" dirty="0">
                <a:solidFill>
                  <a:srgbClr val="FF0000"/>
                </a:solidFill>
              </a:rPr>
              <a:t>unrevealed</a:t>
            </a:r>
            <a:r>
              <a:rPr lang="en-US" altLang="en-US" dirty="0"/>
              <a:t> credentials </a:t>
            </a:r>
            <a:r>
              <a:rPr lang="en-US" altLang="en-US" i="1" dirty="0" smtClean="0"/>
              <a:t>U (NC is being derived from U)</a:t>
            </a:r>
            <a:endParaRPr lang="en-US" altLang="en-US" i="1" dirty="0"/>
          </a:p>
          <a:p>
            <a:r>
              <a:rPr lang="en-US" altLang="en-US" dirty="0"/>
              <a:t>Choose a subset of credentials </a:t>
            </a:r>
            <a:r>
              <a:rPr lang="en-US" altLang="en-US" i="1" u="sng" dirty="0"/>
              <a:t>NC</a:t>
            </a:r>
            <a:r>
              <a:rPr lang="en-US" altLang="en-US" dirty="0"/>
              <a:t> from </a:t>
            </a:r>
            <a:r>
              <a:rPr lang="en-US" altLang="en-US" i="1" dirty="0"/>
              <a:t>U</a:t>
            </a:r>
            <a:r>
              <a:rPr lang="en-US" altLang="en-US" dirty="0"/>
              <a:t> such that:</a:t>
            </a:r>
          </a:p>
          <a:p>
            <a:pPr marL="800100" lvl="1" indent="-342900">
              <a:buFont typeface="+mj-lt"/>
              <a:buAutoNum type="alphaLcParenR"/>
            </a:pPr>
            <a:r>
              <a:rPr lang="en-US" altLang="en-US" i="1" dirty="0"/>
              <a:t>NC</a:t>
            </a:r>
            <a:r>
              <a:rPr lang="en-US" altLang="en-US" dirty="0"/>
              <a:t> satisfies the requirements for trust building</a:t>
            </a:r>
          </a:p>
          <a:p>
            <a:pPr marL="800100" lvl="1" indent="-342900">
              <a:buFont typeface="+mj-lt"/>
              <a:buAutoNum type="alphaLcParenR"/>
            </a:pPr>
            <a:r>
              <a:rPr lang="en-US" altLang="en-US" dirty="0" err="1"/>
              <a:t>PrivacyLoss</a:t>
            </a:r>
            <a:r>
              <a:rPr lang="en-US" altLang="en-US" dirty="0"/>
              <a:t>(</a:t>
            </a:r>
            <a:r>
              <a:rPr lang="en-US" altLang="en-US" i="1" dirty="0"/>
              <a:t>NC</a:t>
            </a:r>
            <a:r>
              <a:rPr lang="en-US" altLang="en-US" dirty="0"/>
              <a:t>+</a:t>
            </a:r>
            <a:r>
              <a:rPr lang="en-US" altLang="en-US" i="1" dirty="0"/>
              <a:t>R</a:t>
            </a:r>
            <a:r>
              <a:rPr lang="en-US" altLang="en-US" dirty="0"/>
              <a:t>) – </a:t>
            </a:r>
            <a:r>
              <a:rPr lang="en-US" altLang="en-US" dirty="0" err="1"/>
              <a:t>PrivacyLoss</a:t>
            </a:r>
            <a:r>
              <a:rPr lang="en-US" altLang="en-US" dirty="0"/>
              <a:t>(</a:t>
            </a:r>
            <a:r>
              <a:rPr lang="en-US" altLang="en-US" i="1" dirty="0"/>
              <a:t>R</a:t>
            </a:r>
            <a:r>
              <a:rPr lang="en-US" altLang="en-US" dirty="0"/>
              <a:t>) is minimized</a:t>
            </a:r>
          </a:p>
        </p:txBody>
      </p:sp>
    </p:spTree>
    <p:extLst>
      <p:ext uri="{BB962C8B-B14F-4D97-AF65-F5344CB8AC3E}">
        <p14:creationId xmlns:p14="http://schemas.microsoft.com/office/powerpoint/2010/main" val="21473536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4242" name="Rectangle 2"/>
          <p:cNvSpPr>
            <a:spLocks noGrp="1" noChangeArrowheads="1"/>
          </p:cNvSpPr>
          <p:nvPr>
            <p:ph type="title"/>
          </p:nvPr>
        </p:nvSpPr>
        <p:spPr/>
        <p:txBody>
          <a:bodyPr/>
          <a:lstStyle/>
          <a:p>
            <a:r>
              <a:rPr lang="en-US" altLang="en-US" sz="4000">
                <a:solidFill>
                  <a:srgbClr val="0000FF"/>
                </a:solidFill>
              </a:rPr>
              <a:t>Steps B – D of the Approach</a:t>
            </a:r>
          </a:p>
        </p:txBody>
      </p:sp>
      <p:sp>
        <p:nvSpPr>
          <p:cNvPr id="1674243" name="Rectangle 3"/>
          <p:cNvSpPr>
            <a:spLocks noGrp="1" noChangeArrowheads="1"/>
          </p:cNvSpPr>
          <p:nvPr>
            <p:ph type="body" idx="1"/>
          </p:nvPr>
        </p:nvSpPr>
        <p:spPr>
          <a:xfrm>
            <a:off x="1981200" y="1371600"/>
            <a:ext cx="8686800" cy="5486400"/>
          </a:xfrm>
        </p:spPr>
        <p:txBody>
          <a:bodyPr/>
          <a:lstStyle/>
          <a:p>
            <a:pPr marL="609600" indent="-609600">
              <a:buFont typeface="Wingdings" panose="05000000000000000000" pitchFamily="2" charset="2"/>
              <a:buAutoNum type="alphaUcPeriod" startAt="2"/>
            </a:pPr>
            <a:r>
              <a:rPr lang="en-US" altLang="en-US" dirty="0"/>
              <a:t>Estimate privacy loss due to disclosing a set of credentials</a:t>
            </a:r>
          </a:p>
          <a:p>
            <a:pPr marL="990600" lvl="1" indent="-533400">
              <a:buFont typeface="Wingdings" panose="05000000000000000000" pitchFamily="2" charset="2"/>
              <a:buChar char="§"/>
            </a:pPr>
            <a:r>
              <a:rPr lang="en-US" altLang="en-US" dirty="0"/>
              <a:t>Requires defining privacy metrics</a:t>
            </a:r>
          </a:p>
          <a:p>
            <a:pPr marL="609600" indent="-609600">
              <a:buFont typeface="Wingdings" panose="05000000000000000000" pitchFamily="2" charset="2"/>
              <a:buAutoNum type="alphaUcPeriod" startAt="3"/>
            </a:pPr>
            <a:r>
              <a:rPr lang="en-US" altLang="en-US" dirty="0"/>
              <a:t>Estimate trust gain due to disclosing a set of credentials</a:t>
            </a:r>
          </a:p>
          <a:p>
            <a:pPr marL="990600" lvl="1" indent="-533400">
              <a:buFont typeface="Wingdings" panose="05000000000000000000" pitchFamily="2" charset="2"/>
              <a:buChar char="§"/>
            </a:pPr>
            <a:r>
              <a:rPr lang="en-US" altLang="en-US" dirty="0"/>
              <a:t>Requires defining trust metrics</a:t>
            </a:r>
          </a:p>
          <a:p>
            <a:pPr marL="609600" indent="-609600">
              <a:buFont typeface="Wingdings" panose="05000000000000000000" pitchFamily="2" charset="2"/>
              <a:buAutoNum type="alphaUcPeriod" startAt="4"/>
            </a:pPr>
            <a:r>
              <a:rPr lang="en-US" altLang="en-US" dirty="0"/>
              <a:t>Develop algorithms that minimize privacy loss for required trust gain</a:t>
            </a:r>
          </a:p>
          <a:p>
            <a:pPr marL="990600" lvl="1" indent="-533400">
              <a:buFont typeface="Wingdings" panose="05000000000000000000" pitchFamily="2" charset="2"/>
              <a:buChar char="§"/>
            </a:pPr>
            <a:r>
              <a:rPr lang="en-US" altLang="en-US" dirty="0"/>
              <a:t>Includes prototyping and experimentation</a:t>
            </a:r>
          </a:p>
          <a:p>
            <a:pPr marL="609600" indent="-609600">
              <a:buFont typeface="Wingdings" panose="05000000000000000000" pitchFamily="2" charset="2"/>
              <a:buAutoNum type="alphaUcPeriod" startAt="4"/>
            </a:pPr>
            <a:endParaRPr lang="en-US" altLang="en-US" sz="800" dirty="0"/>
          </a:p>
        </p:txBody>
      </p:sp>
    </p:spTree>
    <p:extLst>
      <p:ext uri="{BB962C8B-B14F-4D97-AF65-F5344CB8AC3E}">
        <p14:creationId xmlns:p14="http://schemas.microsoft.com/office/powerpoint/2010/main" val="20965635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6290" name="Rectangle 2"/>
          <p:cNvSpPr>
            <a:spLocks noGrp="1" noChangeArrowheads="1"/>
          </p:cNvSpPr>
          <p:nvPr>
            <p:ph type="title"/>
          </p:nvPr>
        </p:nvSpPr>
        <p:spPr>
          <a:xfrm>
            <a:off x="2679701" y="0"/>
            <a:ext cx="7788275" cy="1176338"/>
          </a:xfrm>
        </p:spPr>
        <p:txBody>
          <a:bodyPr>
            <a:normAutofit fontScale="90000"/>
          </a:bodyPr>
          <a:lstStyle/>
          <a:p>
            <a:pPr marL="520700" indent="-520700">
              <a:tabLst>
                <a:tab pos="520700" algn="l"/>
              </a:tabLst>
            </a:pPr>
            <a:r>
              <a:rPr lang="en-US" altLang="en-US">
                <a:solidFill>
                  <a:srgbClr val="0000FF"/>
                </a:solidFill>
              </a:rPr>
              <a:t>PRETTY Prototype</a:t>
            </a:r>
            <a:br>
              <a:rPr lang="en-US" altLang="en-US">
                <a:solidFill>
                  <a:srgbClr val="0000FF"/>
                </a:solidFill>
              </a:rPr>
            </a:br>
            <a:r>
              <a:rPr lang="en-US" altLang="en-US">
                <a:solidFill>
                  <a:srgbClr val="0000FF"/>
                </a:solidFill>
              </a:rPr>
              <a:t>for Experimental Studies</a:t>
            </a:r>
          </a:p>
        </p:txBody>
      </p:sp>
      <p:pic>
        <p:nvPicPr>
          <p:cNvPr id="1676291" name="Picture 3" descr="arch"/>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1752600" y="1638300"/>
            <a:ext cx="8686800" cy="42878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76292" name="Text Box 4"/>
          <p:cNvSpPr txBox="1">
            <a:spLocks noChangeArrowheads="1"/>
          </p:cNvSpPr>
          <p:nvPr/>
        </p:nvSpPr>
        <p:spPr bwMode="auto">
          <a:xfrm>
            <a:off x="5091114" y="2471739"/>
            <a:ext cx="4413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hlink"/>
                </a:solidFill>
                <a:latin typeface="Tahoma" panose="020B0604030504040204" pitchFamily="34" charset="0"/>
              </a:rPr>
              <a:t>(1)</a:t>
            </a:r>
          </a:p>
        </p:txBody>
      </p:sp>
      <p:sp>
        <p:nvSpPr>
          <p:cNvPr id="1676293" name="Text Box 5"/>
          <p:cNvSpPr txBox="1">
            <a:spLocks noChangeArrowheads="1"/>
          </p:cNvSpPr>
          <p:nvPr/>
        </p:nvSpPr>
        <p:spPr bwMode="auto">
          <a:xfrm>
            <a:off x="6784976" y="4284664"/>
            <a:ext cx="5572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tx2"/>
                </a:solidFill>
                <a:latin typeface="Tahoma" panose="020B0604030504040204" pitchFamily="34" charset="0"/>
              </a:rPr>
              <a:t>[2a]</a:t>
            </a:r>
          </a:p>
        </p:txBody>
      </p:sp>
      <p:sp>
        <p:nvSpPr>
          <p:cNvPr id="1676294" name="Text Box 6"/>
          <p:cNvSpPr txBox="1">
            <a:spLocks noChangeArrowheads="1"/>
          </p:cNvSpPr>
          <p:nvPr/>
        </p:nvSpPr>
        <p:spPr bwMode="auto">
          <a:xfrm>
            <a:off x="7897813" y="3832225"/>
            <a:ext cx="1236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hlink"/>
                </a:solidFill>
                <a:latin typeface="Tahoma" panose="020B0604030504040204" pitchFamily="34" charset="0"/>
              </a:rPr>
              <a:t>(3)</a:t>
            </a:r>
            <a:r>
              <a:rPr lang="en-US" altLang="en-US" sz="1200">
                <a:latin typeface="Tahoma" panose="020B0604030504040204" pitchFamily="34" charset="0"/>
              </a:rPr>
              <a:t> </a:t>
            </a:r>
            <a:r>
              <a:rPr lang="en-US" altLang="en-US" sz="1400" b="1">
                <a:latin typeface="Times New Roman" panose="02020603050405020304" pitchFamily="18" charset="0"/>
              </a:rPr>
              <a:t>User Role</a:t>
            </a:r>
          </a:p>
        </p:txBody>
      </p:sp>
      <p:sp>
        <p:nvSpPr>
          <p:cNvPr id="1676295" name="Text Box 7"/>
          <p:cNvSpPr txBox="1">
            <a:spLocks noChangeArrowheads="1"/>
          </p:cNvSpPr>
          <p:nvPr/>
        </p:nvSpPr>
        <p:spPr bwMode="auto">
          <a:xfrm>
            <a:off x="5303838" y="4445000"/>
            <a:ext cx="1066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tx2"/>
                </a:solidFill>
                <a:latin typeface="Tahoma" panose="020B0604030504040204" pitchFamily="34" charset="0"/>
              </a:rPr>
              <a:t>[2b] [2d]</a:t>
            </a:r>
          </a:p>
        </p:txBody>
      </p:sp>
      <p:sp>
        <p:nvSpPr>
          <p:cNvPr id="1676296" name="Text Box 8"/>
          <p:cNvSpPr txBox="1">
            <a:spLocks noChangeArrowheads="1"/>
          </p:cNvSpPr>
          <p:nvPr/>
        </p:nvSpPr>
        <p:spPr bwMode="auto">
          <a:xfrm>
            <a:off x="3011488" y="4660900"/>
            <a:ext cx="55721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[2c1]</a:t>
            </a:r>
          </a:p>
        </p:txBody>
      </p:sp>
      <p:sp>
        <p:nvSpPr>
          <p:cNvPr id="1676297" name="Text Box 9"/>
          <p:cNvSpPr txBox="1">
            <a:spLocks noChangeArrowheads="1"/>
          </p:cNvSpPr>
          <p:nvPr/>
        </p:nvSpPr>
        <p:spPr bwMode="auto">
          <a:xfrm>
            <a:off x="1812926" y="3284539"/>
            <a:ext cx="5572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tx2"/>
                </a:solidFill>
                <a:latin typeface="Tahoma" panose="020B0604030504040204" pitchFamily="34" charset="0"/>
              </a:rPr>
              <a:t>[2c2]</a:t>
            </a:r>
          </a:p>
        </p:txBody>
      </p:sp>
      <p:sp>
        <p:nvSpPr>
          <p:cNvPr id="1676298" name="Text Box 10"/>
          <p:cNvSpPr txBox="1">
            <a:spLocks noChangeArrowheads="1"/>
          </p:cNvSpPr>
          <p:nvPr/>
        </p:nvSpPr>
        <p:spPr bwMode="auto">
          <a:xfrm>
            <a:off x="6869114" y="3157539"/>
            <a:ext cx="4413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hlink"/>
                </a:solidFill>
                <a:latin typeface="Tahoma" panose="020B0604030504040204" pitchFamily="34" charset="0"/>
              </a:rPr>
              <a:t>(2)</a:t>
            </a:r>
          </a:p>
        </p:txBody>
      </p:sp>
      <p:sp>
        <p:nvSpPr>
          <p:cNvPr id="1676299" name="Text Box 11"/>
          <p:cNvSpPr txBox="1">
            <a:spLocks noChangeArrowheads="1"/>
          </p:cNvSpPr>
          <p:nvPr/>
        </p:nvSpPr>
        <p:spPr bwMode="auto">
          <a:xfrm>
            <a:off x="5151439" y="1536700"/>
            <a:ext cx="4413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hlink"/>
                </a:solidFill>
                <a:latin typeface="Tahoma" panose="020B0604030504040204" pitchFamily="34" charset="0"/>
              </a:rPr>
              <a:t>(4)</a:t>
            </a:r>
          </a:p>
        </p:txBody>
      </p:sp>
      <p:sp>
        <p:nvSpPr>
          <p:cNvPr id="1676300" name="Text Box 12"/>
          <p:cNvSpPr txBox="1">
            <a:spLocks noChangeArrowheads="1"/>
          </p:cNvSpPr>
          <p:nvPr/>
        </p:nvSpPr>
        <p:spPr bwMode="auto">
          <a:xfrm>
            <a:off x="7011989" y="6146800"/>
            <a:ext cx="33432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latin typeface="Tahoma" panose="020B0604030504040204" pitchFamily="34" charset="0"/>
              </a:rPr>
              <a:t>TERA = Trust-Enhanced Role Assignment</a:t>
            </a:r>
          </a:p>
        </p:txBody>
      </p:sp>
      <p:sp>
        <p:nvSpPr>
          <p:cNvPr id="1676301" name="Text Box 13"/>
          <p:cNvSpPr txBox="1">
            <a:spLocks noChangeArrowheads="1"/>
          </p:cNvSpPr>
          <p:nvPr/>
        </p:nvSpPr>
        <p:spPr bwMode="auto">
          <a:xfrm>
            <a:off x="4648201" y="5940426"/>
            <a:ext cx="213042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hlink"/>
                </a:solidFill>
                <a:latin typeface="Tahoma" panose="020B0604030504040204" pitchFamily="34" charset="0"/>
              </a:rPr>
              <a:t>(&lt;nr&gt;)</a:t>
            </a:r>
            <a:r>
              <a:rPr lang="en-US" altLang="en-US" sz="1200">
                <a:latin typeface="Tahoma" panose="020B0604030504040204" pitchFamily="34" charset="0"/>
              </a:rPr>
              <a:t> – unconditional path</a:t>
            </a:r>
          </a:p>
          <a:p>
            <a:pPr>
              <a:spcBef>
                <a:spcPct val="50000"/>
              </a:spcBef>
            </a:pPr>
            <a:r>
              <a:rPr lang="en-US" altLang="en-US" sz="1200">
                <a:solidFill>
                  <a:schemeClr val="tx2"/>
                </a:solidFill>
                <a:latin typeface="Tahoma" panose="020B0604030504040204" pitchFamily="34" charset="0"/>
              </a:rPr>
              <a:t>[&lt;nr&gt;]</a:t>
            </a:r>
            <a:r>
              <a:rPr lang="en-US" altLang="en-US" sz="1200">
                <a:latin typeface="Tahoma" panose="020B0604030504040204" pitchFamily="34" charset="0"/>
              </a:rPr>
              <a:t>– conditional path</a:t>
            </a:r>
          </a:p>
        </p:txBody>
      </p:sp>
    </p:spTree>
    <p:extLst>
      <p:ext uri="{BB962C8B-B14F-4D97-AF65-F5344CB8AC3E}">
        <p14:creationId xmlns:p14="http://schemas.microsoft.com/office/powerpoint/2010/main" val="12699791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8338" name="Rectangle 2"/>
          <p:cNvSpPr>
            <a:spLocks noGrp="1" noChangeArrowheads="1"/>
          </p:cNvSpPr>
          <p:nvPr>
            <p:ph type="title"/>
          </p:nvPr>
        </p:nvSpPr>
        <p:spPr/>
        <p:txBody>
          <a:bodyPr/>
          <a:lstStyle/>
          <a:p>
            <a:r>
              <a:rPr lang="en-US" altLang="en-US" sz="4000">
                <a:solidFill>
                  <a:srgbClr val="0000FF"/>
                </a:solidFill>
              </a:rPr>
              <a:t>Information Flow in PRETTY</a:t>
            </a:r>
          </a:p>
        </p:txBody>
      </p:sp>
      <p:sp>
        <p:nvSpPr>
          <p:cNvPr id="1678339" name="Rectangle 3"/>
          <p:cNvSpPr>
            <a:spLocks noGrp="1" noChangeArrowheads="1"/>
          </p:cNvSpPr>
          <p:nvPr>
            <p:ph type="body" idx="1"/>
          </p:nvPr>
        </p:nvSpPr>
        <p:spPr>
          <a:xfrm>
            <a:off x="1828800" y="1501775"/>
            <a:ext cx="8650288" cy="5181600"/>
          </a:xfrm>
        </p:spPr>
        <p:txBody>
          <a:bodyPr/>
          <a:lstStyle/>
          <a:p>
            <a:pPr>
              <a:lnSpc>
                <a:spcPct val="80000"/>
              </a:lnSpc>
              <a:spcBef>
                <a:spcPct val="50000"/>
              </a:spcBef>
              <a:buClr>
                <a:schemeClr val="hlink"/>
              </a:buClr>
              <a:buFont typeface="Wingdings" panose="05000000000000000000" pitchFamily="2" charset="2"/>
              <a:buAutoNum type="arabicParenR"/>
            </a:pPr>
            <a:r>
              <a:rPr lang="en-US" altLang="en-US"/>
              <a:t>User application sends query to server application.</a:t>
            </a:r>
          </a:p>
          <a:p>
            <a:pPr>
              <a:lnSpc>
                <a:spcPct val="80000"/>
              </a:lnSpc>
              <a:spcBef>
                <a:spcPct val="50000"/>
              </a:spcBef>
              <a:buClr>
                <a:schemeClr val="hlink"/>
              </a:buClr>
              <a:buFont typeface="Wingdings" panose="05000000000000000000" pitchFamily="2" charset="2"/>
              <a:buAutoNum type="arabicParenR"/>
            </a:pPr>
            <a:r>
              <a:rPr lang="en-US" altLang="en-US"/>
              <a:t>Server application sends user information to TERA server for trust evaluation and role assignment.</a:t>
            </a:r>
          </a:p>
          <a:p>
            <a:pPr lvl="1">
              <a:lnSpc>
                <a:spcPct val="80000"/>
              </a:lnSpc>
              <a:spcBef>
                <a:spcPct val="50000"/>
              </a:spcBef>
              <a:buClr>
                <a:schemeClr val="tx2"/>
              </a:buClr>
              <a:buFont typeface="Wingdings" panose="05000000000000000000" pitchFamily="2" charset="2"/>
              <a:buAutoNum type="alphaLcParenR"/>
            </a:pPr>
            <a:r>
              <a:rPr lang="en-US" altLang="en-US"/>
              <a:t>If a higher trust level is required for query, TERA server sends the request for more user’s credentials to privacy negotiator.</a:t>
            </a:r>
          </a:p>
          <a:p>
            <a:pPr lvl="1">
              <a:lnSpc>
                <a:spcPct val="80000"/>
              </a:lnSpc>
              <a:spcBef>
                <a:spcPct val="50000"/>
              </a:spcBef>
              <a:buClr>
                <a:schemeClr val="tx2"/>
              </a:buClr>
              <a:buFont typeface="Wingdings" panose="05000000000000000000" pitchFamily="2" charset="2"/>
              <a:buAutoNum type="alphaLcParenR"/>
            </a:pPr>
            <a:r>
              <a:rPr lang="en-US" altLang="en-US"/>
              <a:t>Based on server’s privacy policies and the credential requirements, privacy negotiator interacts with user’s privacy negotiator to build a higher level of trust.</a:t>
            </a:r>
          </a:p>
          <a:p>
            <a:pPr lvl="1">
              <a:lnSpc>
                <a:spcPct val="80000"/>
              </a:lnSpc>
              <a:spcBef>
                <a:spcPct val="50000"/>
              </a:spcBef>
              <a:buClr>
                <a:schemeClr val="tx2"/>
              </a:buClr>
              <a:buFont typeface="Wingdings" panose="05000000000000000000" pitchFamily="2" charset="2"/>
              <a:buAutoNum type="alphaLcParenR"/>
            </a:pPr>
            <a:r>
              <a:rPr lang="en-US" altLang="en-US"/>
              <a:t>Trust gain and privacy loss evaluator selects credentials that will increase trust to the required level with the least privacy loss. Calculation considers credential requirements and credentials disclosed in previous interactions.</a:t>
            </a:r>
          </a:p>
          <a:p>
            <a:pPr lvl="1">
              <a:lnSpc>
                <a:spcPct val="80000"/>
              </a:lnSpc>
              <a:spcBef>
                <a:spcPct val="50000"/>
              </a:spcBef>
              <a:buClr>
                <a:schemeClr val="tx2"/>
              </a:buClr>
              <a:buFont typeface="Wingdings" panose="05000000000000000000" pitchFamily="2" charset="2"/>
              <a:buAutoNum type="alphaLcParenR"/>
            </a:pPr>
            <a:r>
              <a:rPr lang="en-US" altLang="en-US"/>
              <a:t>According to privacy policies and calculated privacy loss, user’s privacy negotiator decides whether or not to supply credentials to the server.</a:t>
            </a:r>
          </a:p>
          <a:p>
            <a:pPr>
              <a:lnSpc>
                <a:spcPct val="80000"/>
              </a:lnSpc>
              <a:spcBef>
                <a:spcPct val="50000"/>
              </a:spcBef>
              <a:buClr>
                <a:schemeClr val="hlink"/>
              </a:buClr>
              <a:buFont typeface="Wingdings" panose="05000000000000000000" pitchFamily="2" charset="2"/>
              <a:buAutoNum type="arabicParenR"/>
            </a:pPr>
            <a:r>
              <a:rPr lang="en-US" altLang="en-US"/>
              <a:t>Once trust level meets the minimum requirements, appropriate roles are assigned to user for execution of his query.</a:t>
            </a:r>
          </a:p>
          <a:p>
            <a:pPr>
              <a:lnSpc>
                <a:spcPct val="80000"/>
              </a:lnSpc>
              <a:spcBef>
                <a:spcPct val="50000"/>
              </a:spcBef>
              <a:buClr>
                <a:schemeClr val="hlink"/>
              </a:buClr>
              <a:buFont typeface="Wingdings" panose="05000000000000000000" pitchFamily="2" charset="2"/>
              <a:buAutoNum type="arabicParenR"/>
            </a:pPr>
            <a:r>
              <a:rPr lang="en-US" altLang="en-US"/>
              <a:t>Based on query results, user’s trust level and privacy polices, data disseminator determines: (i) whether to distort data and if so to what degree, and (ii) what privacy enforcement metadata should be associated with it.</a:t>
            </a:r>
          </a:p>
        </p:txBody>
      </p:sp>
    </p:spTree>
    <p:extLst>
      <p:ext uri="{BB962C8B-B14F-4D97-AF65-F5344CB8AC3E}">
        <p14:creationId xmlns:p14="http://schemas.microsoft.com/office/powerpoint/2010/main" val="813161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2434" name="Rectangle 2"/>
          <p:cNvSpPr>
            <a:spLocks noGrp="1" noChangeArrowheads="1"/>
          </p:cNvSpPr>
          <p:nvPr>
            <p:ph type="ctrTitle"/>
          </p:nvPr>
        </p:nvSpPr>
        <p:spPr>
          <a:xfrm>
            <a:off x="2667000" y="1752601"/>
            <a:ext cx="7315200" cy="1470025"/>
          </a:xfrm>
        </p:spPr>
        <p:txBody>
          <a:bodyPr anchor="ctr"/>
          <a:lstStyle/>
          <a:p>
            <a:r>
              <a:rPr lang="en-US" altLang="en-US" sz="4400"/>
              <a:t>8. Using Entropy to Trade Privacy for Trust</a:t>
            </a:r>
          </a:p>
        </p:txBody>
      </p:sp>
      <p:sp>
        <p:nvSpPr>
          <p:cNvPr id="1682435" name="Rectangle 3"/>
          <p:cNvSpPr>
            <a:spLocks noGrp="1" noChangeArrowheads="1"/>
          </p:cNvSpPr>
          <p:nvPr>
            <p:ph type="subTitle" idx="1"/>
          </p:nvPr>
        </p:nvSpPr>
        <p:spPr>
          <a:xfrm>
            <a:off x="2895600" y="3352800"/>
            <a:ext cx="6629400" cy="2514600"/>
          </a:xfrm>
        </p:spPr>
        <p:txBody>
          <a:bodyPr/>
          <a:lstStyle/>
          <a:p>
            <a:endParaRPr lang="en-US" altLang="en-US" sz="3200"/>
          </a:p>
        </p:txBody>
      </p:sp>
    </p:spTree>
    <p:extLst>
      <p:ext uri="{BB962C8B-B14F-4D97-AF65-F5344CB8AC3E}">
        <p14:creationId xmlns:p14="http://schemas.microsoft.com/office/powerpoint/2010/main" val="4015542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4482" name="Rectangle 2"/>
          <p:cNvSpPr>
            <a:spLocks noGrp="1" noChangeArrowheads="1"/>
          </p:cNvSpPr>
          <p:nvPr>
            <p:ph type="title"/>
          </p:nvPr>
        </p:nvSpPr>
        <p:spPr>
          <a:xfrm>
            <a:off x="2819400" y="0"/>
            <a:ext cx="7564438" cy="762000"/>
          </a:xfrm>
        </p:spPr>
        <p:txBody>
          <a:bodyPr/>
          <a:lstStyle/>
          <a:p>
            <a:r>
              <a:rPr lang="en-US" altLang="en-US" sz="4000"/>
              <a:t>Problem motivation</a:t>
            </a:r>
          </a:p>
        </p:txBody>
      </p:sp>
      <p:sp>
        <p:nvSpPr>
          <p:cNvPr id="1684483" name="Rectangle 3"/>
          <p:cNvSpPr>
            <a:spLocks noGrp="1" noChangeArrowheads="1"/>
          </p:cNvSpPr>
          <p:nvPr>
            <p:ph type="body" idx="1"/>
          </p:nvPr>
        </p:nvSpPr>
        <p:spPr>
          <a:xfrm>
            <a:off x="1981200" y="1143000"/>
            <a:ext cx="8686800" cy="5638800"/>
          </a:xfrm>
          <a:noFill/>
          <a:ln/>
        </p:spPr>
        <p:txBody>
          <a:bodyPr/>
          <a:lstStyle/>
          <a:p>
            <a:r>
              <a:rPr lang="en-US" altLang="en-US" dirty="0">
                <a:solidFill>
                  <a:srgbClr val="0000FF"/>
                </a:solidFill>
              </a:rPr>
              <a:t>Privacy and trust</a:t>
            </a:r>
            <a:r>
              <a:rPr lang="en-US" altLang="en-US" dirty="0"/>
              <a:t> form an </a:t>
            </a:r>
            <a:r>
              <a:rPr lang="en-US" altLang="en-US" dirty="0">
                <a:solidFill>
                  <a:srgbClr val="0000FF"/>
                </a:solidFill>
              </a:rPr>
              <a:t>adversarial</a:t>
            </a:r>
            <a:r>
              <a:rPr lang="en-US" altLang="en-US" dirty="0"/>
              <a:t> relationship</a:t>
            </a:r>
          </a:p>
          <a:p>
            <a:pPr marL="800100" lvl="1" indent="-342900">
              <a:buFont typeface="+mj-lt"/>
              <a:buAutoNum type="alphaLcParenR"/>
            </a:pPr>
            <a:r>
              <a:rPr lang="en-US" altLang="en-US" dirty="0"/>
              <a:t>Internet users worry about revealing personal data. This fear held back $15 billion in online revenue in 2001</a:t>
            </a:r>
          </a:p>
          <a:p>
            <a:pPr marL="800100" lvl="1" indent="-342900">
              <a:buFont typeface="+mj-lt"/>
              <a:buAutoNum type="alphaLcParenR"/>
            </a:pPr>
            <a:r>
              <a:rPr lang="en-US" altLang="en-US" dirty="0"/>
              <a:t>Users have to provide digital credentials that contain private information in order to build trust in open environments like Internet. </a:t>
            </a:r>
          </a:p>
          <a:p>
            <a:r>
              <a:rPr lang="en-US" altLang="en-US" dirty="0"/>
              <a:t>Research is needed to </a:t>
            </a:r>
            <a:r>
              <a:rPr lang="en-US" altLang="en-US" dirty="0">
                <a:solidFill>
                  <a:srgbClr val="0000FF"/>
                </a:solidFill>
              </a:rPr>
              <a:t>quantify the tradeoff</a:t>
            </a:r>
            <a:r>
              <a:rPr lang="en-US" altLang="en-US" dirty="0"/>
              <a:t> between privacy and trust</a:t>
            </a:r>
          </a:p>
        </p:txBody>
      </p:sp>
    </p:spTree>
    <p:extLst>
      <p:ext uri="{BB962C8B-B14F-4D97-AF65-F5344CB8AC3E}">
        <p14:creationId xmlns:p14="http://schemas.microsoft.com/office/powerpoint/2010/main" val="118177042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6530" name="Rectangle 2"/>
          <p:cNvSpPr>
            <a:spLocks noGrp="1" noChangeArrowheads="1"/>
          </p:cNvSpPr>
          <p:nvPr>
            <p:ph type="title"/>
          </p:nvPr>
        </p:nvSpPr>
        <p:spPr/>
        <p:txBody>
          <a:bodyPr/>
          <a:lstStyle/>
          <a:p>
            <a:r>
              <a:rPr lang="en-US" altLang="en-US" sz="4000"/>
              <a:t>Subproblems</a:t>
            </a:r>
          </a:p>
        </p:txBody>
      </p:sp>
      <p:sp>
        <p:nvSpPr>
          <p:cNvPr id="1686531" name="Rectangle 3"/>
          <p:cNvSpPr>
            <a:spLocks noGrp="1" noChangeArrowheads="1"/>
          </p:cNvSpPr>
          <p:nvPr>
            <p:ph type="body" idx="1"/>
          </p:nvPr>
        </p:nvSpPr>
        <p:spPr>
          <a:xfrm>
            <a:off x="2128838" y="1663701"/>
            <a:ext cx="7562850" cy="3952875"/>
          </a:xfrm>
        </p:spPr>
        <p:txBody>
          <a:bodyPr/>
          <a:lstStyle/>
          <a:p>
            <a:r>
              <a:rPr lang="en-US" altLang="en-US"/>
              <a:t>How much privacy is lost by disclosing a piece of credential?</a:t>
            </a:r>
          </a:p>
          <a:p>
            <a:r>
              <a:rPr lang="en-US" altLang="en-US"/>
              <a:t>How much does a user benefit from having a higher level of trust?</a:t>
            </a:r>
          </a:p>
          <a:p>
            <a:r>
              <a:rPr lang="en-US" altLang="en-US"/>
              <a:t>How much privacy a user is willing to sacrifice for a certain amount of trust gain?</a:t>
            </a:r>
          </a:p>
          <a:p>
            <a:endParaRPr lang="en-US" altLang="en-US"/>
          </a:p>
        </p:txBody>
      </p:sp>
    </p:spTree>
    <p:extLst>
      <p:ext uri="{BB962C8B-B14F-4D97-AF65-F5344CB8AC3E}">
        <p14:creationId xmlns:p14="http://schemas.microsoft.com/office/powerpoint/2010/main" val="629714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8578" name="Rectangle 2"/>
          <p:cNvSpPr>
            <a:spLocks noGrp="1" noChangeArrowheads="1"/>
          </p:cNvSpPr>
          <p:nvPr>
            <p:ph type="body" idx="1"/>
          </p:nvPr>
        </p:nvSpPr>
        <p:spPr>
          <a:xfrm>
            <a:off x="1620838" y="1770530"/>
            <a:ext cx="8686800" cy="3514164"/>
          </a:xfrm>
          <a:noFill/>
          <a:ln/>
        </p:spPr>
        <p:txBody>
          <a:bodyPr/>
          <a:lstStyle/>
          <a:p>
            <a:pPr>
              <a:lnSpc>
                <a:spcPct val="90000"/>
              </a:lnSpc>
            </a:pPr>
            <a:r>
              <a:rPr lang="en-US" altLang="en-US" dirty="0"/>
              <a:t>Formulate the privacy-trust tradeoff problem</a:t>
            </a:r>
          </a:p>
          <a:p>
            <a:pPr>
              <a:lnSpc>
                <a:spcPct val="90000"/>
              </a:lnSpc>
            </a:pPr>
            <a:r>
              <a:rPr lang="en-US" altLang="en-US" dirty="0"/>
              <a:t>Design metrics and algorithms to evaluate the privacy loss. We consider:</a:t>
            </a:r>
          </a:p>
          <a:p>
            <a:pPr marL="800100" lvl="1" indent="-342900">
              <a:lnSpc>
                <a:spcPct val="90000"/>
              </a:lnSpc>
              <a:buFont typeface="+mj-lt"/>
              <a:buAutoNum type="alphaLcParenR"/>
            </a:pPr>
            <a:r>
              <a:rPr lang="en-US" altLang="en-US" dirty="0"/>
              <a:t>Information receiver</a:t>
            </a:r>
          </a:p>
          <a:p>
            <a:pPr marL="800100" lvl="1" indent="-342900">
              <a:lnSpc>
                <a:spcPct val="90000"/>
              </a:lnSpc>
              <a:buFont typeface="+mj-lt"/>
              <a:buAutoNum type="alphaLcParenR"/>
            </a:pPr>
            <a:r>
              <a:rPr lang="en-US" altLang="en-US" dirty="0"/>
              <a:t>Information usage</a:t>
            </a:r>
          </a:p>
          <a:p>
            <a:pPr marL="800100" lvl="1" indent="-342900">
              <a:lnSpc>
                <a:spcPct val="90000"/>
              </a:lnSpc>
              <a:buFont typeface="+mj-lt"/>
              <a:buAutoNum type="alphaLcParenR"/>
            </a:pPr>
            <a:r>
              <a:rPr lang="en-US" altLang="en-US" dirty="0"/>
              <a:t>Information disclosed in the past</a:t>
            </a:r>
          </a:p>
          <a:p>
            <a:pPr>
              <a:lnSpc>
                <a:spcPct val="90000"/>
              </a:lnSpc>
            </a:pPr>
            <a:r>
              <a:rPr lang="en-US" altLang="en-US" dirty="0"/>
              <a:t>Estimate trust gain due to disclosing a set of credentials</a:t>
            </a:r>
          </a:p>
          <a:p>
            <a:pPr>
              <a:lnSpc>
                <a:spcPct val="90000"/>
              </a:lnSpc>
            </a:pPr>
            <a:r>
              <a:rPr lang="en-US" altLang="en-US" dirty="0"/>
              <a:t>Develop mechanisms empowering users to trade trust for privacy.</a:t>
            </a:r>
          </a:p>
          <a:p>
            <a:pPr>
              <a:lnSpc>
                <a:spcPct val="90000"/>
              </a:lnSpc>
            </a:pPr>
            <a:r>
              <a:rPr lang="en-US" altLang="en-US" dirty="0"/>
              <a:t>Design prototype and conduct experimental study</a:t>
            </a:r>
          </a:p>
        </p:txBody>
      </p:sp>
      <p:sp>
        <p:nvSpPr>
          <p:cNvPr id="1688579" name="Rectangle 3"/>
          <p:cNvSpPr>
            <a:spLocks noGrp="1" noChangeArrowheads="1"/>
          </p:cNvSpPr>
          <p:nvPr>
            <p:ph type="title"/>
          </p:nvPr>
        </p:nvSpPr>
        <p:spPr>
          <a:xfrm>
            <a:off x="2182019" y="524436"/>
            <a:ext cx="7564438" cy="720725"/>
          </a:xfrm>
        </p:spPr>
        <p:txBody>
          <a:bodyPr/>
          <a:lstStyle/>
          <a:p>
            <a:r>
              <a:rPr lang="en-US" altLang="en-US" sz="4000" dirty="0"/>
              <a:t>Proposed approach</a:t>
            </a:r>
          </a:p>
        </p:txBody>
      </p:sp>
    </p:spTree>
    <p:extLst>
      <p:ext uri="{BB962C8B-B14F-4D97-AF65-F5344CB8AC3E}">
        <p14:creationId xmlns:p14="http://schemas.microsoft.com/office/powerpoint/2010/main" val="3584033155"/>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2674" name="Rectangle 2"/>
          <p:cNvSpPr>
            <a:spLocks noGrp="1" noChangeArrowheads="1"/>
          </p:cNvSpPr>
          <p:nvPr>
            <p:ph type="body" idx="1"/>
          </p:nvPr>
        </p:nvSpPr>
        <p:spPr>
          <a:xfrm>
            <a:off x="2057400" y="1143000"/>
            <a:ext cx="8610600" cy="5715000"/>
          </a:xfrm>
        </p:spPr>
        <p:txBody>
          <a:bodyPr/>
          <a:lstStyle/>
          <a:p>
            <a:r>
              <a:rPr lang="en-US" altLang="en-US" dirty="0"/>
              <a:t>Set of private attributes </a:t>
            </a:r>
            <a:r>
              <a:rPr lang="en-US" altLang="en-US" sz="2000" dirty="0"/>
              <a:t>that user wants to conceal</a:t>
            </a:r>
          </a:p>
          <a:p>
            <a:r>
              <a:rPr lang="en-US" altLang="en-US" dirty="0"/>
              <a:t>Set of credentials</a:t>
            </a:r>
          </a:p>
          <a:p>
            <a:pPr marL="800100" lvl="1" indent="-342900">
              <a:buFont typeface="+mj-lt"/>
              <a:buAutoNum type="alphaLcParenR"/>
            </a:pPr>
            <a:r>
              <a:rPr lang="en-US" altLang="en-US" dirty="0"/>
              <a:t>R(</a:t>
            </a:r>
            <a:r>
              <a:rPr lang="en-US" altLang="en-US" dirty="0" err="1"/>
              <a:t>i</a:t>
            </a:r>
            <a:r>
              <a:rPr lang="en-US" altLang="en-US" dirty="0"/>
              <a:t>): subset of credentials </a:t>
            </a:r>
            <a:r>
              <a:rPr lang="en-US" altLang="en-US" i="1" dirty="0"/>
              <a:t>revealed</a:t>
            </a:r>
            <a:r>
              <a:rPr lang="en-US" altLang="en-US" dirty="0"/>
              <a:t> to receiver </a:t>
            </a:r>
            <a:r>
              <a:rPr lang="en-US" altLang="en-US" i="1" dirty="0" err="1"/>
              <a:t>i</a:t>
            </a:r>
            <a:endParaRPr lang="en-US" altLang="en-US" i="1" dirty="0"/>
          </a:p>
          <a:p>
            <a:pPr marL="800100" lvl="1" indent="-342900">
              <a:buFont typeface="+mj-lt"/>
              <a:buAutoNum type="alphaLcParenR"/>
            </a:pPr>
            <a:r>
              <a:rPr lang="en-US" altLang="en-US" dirty="0"/>
              <a:t>U(</a:t>
            </a:r>
            <a:r>
              <a:rPr lang="en-US" altLang="en-US" dirty="0" err="1"/>
              <a:t>i</a:t>
            </a:r>
            <a:r>
              <a:rPr lang="en-US" altLang="en-US" dirty="0"/>
              <a:t>): credentials </a:t>
            </a:r>
            <a:r>
              <a:rPr lang="en-US" altLang="en-US" i="1" dirty="0"/>
              <a:t>unrevealed</a:t>
            </a:r>
            <a:r>
              <a:rPr lang="en-US" altLang="en-US" dirty="0"/>
              <a:t> to receiver </a:t>
            </a:r>
            <a:r>
              <a:rPr lang="en-US" altLang="en-US" i="1" dirty="0" err="1"/>
              <a:t>i</a:t>
            </a:r>
            <a:endParaRPr lang="en-US" altLang="en-US" i="1" dirty="0"/>
          </a:p>
          <a:p>
            <a:r>
              <a:rPr lang="en-US" altLang="en-US" dirty="0"/>
              <a:t>Credential set with minimal privacy loss </a:t>
            </a:r>
          </a:p>
          <a:p>
            <a:pPr marL="800100" lvl="1" indent="-342900">
              <a:buFont typeface="+mj-lt"/>
              <a:buAutoNum type="alphaLcParenR"/>
            </a:pPr>
            <a:r>
              <a:rPr lang="en-US" altLang="en-US" dirty="0"/>
              <a:t>A subset of credentials </a:t>
            </a:r>
            <a:r>
              <a:rPr lang="en-US" altLang="en-US" i="1" dirty="0"/>
              <a:t>NC</a:t>
            </a:r>
            <a:r>
              <a:rPr lang="en-US" altLang="en-US" dirty="0"/>
              <a:t> from </a:t>
            </a:r>
            <a:r>
              <a:rPr lang="en-US" altLang="en-US" i="1" dirty="0"/>
              <a:t>U</a:t>
            </a:r>
            <a:r>
              <a:rPr lang="en-US" altLang="en-US" dirty="0"/>
              <a:t> (</a:t>
            </a:r>
            <a:r>
              <a:rPr lang="en-US" altLang="en-US" dirty="0" err="1"/>
              <a:t>i</a:t>
            </a:r>
            <a:r>
              <a:rPr lang="en-US" altLang="en-US" dirty="0"/>
              <a:t>)</a:t>
            </a:r>
          </a:p>
          <a:p>
            <a:pPr marL="800100" lvl="1" indent="-342900">
              <a:buFont typeface="+mj-lt"/>
              <a:buAutoNum type="alphaLcParenR"/>
            </a:pPr>
            <a:r>
              <a:rPr lang="en-US" altLang="en-US" i="1" dirty="0"/>
              <a:t>NC</a:t>
            </a:r>
            <a:r>
              <a:rPr lang="en-US" altLang="en-US" dirty="0"/>
              <a:t> satisfies the requirements for trust building</a:t>
            </a:r>
          </a:p>
          <a:p>
            <a:pPr marL="800100" lvl="1" indent="-342900">
              <a:buFont typeface="+mj-lt"/>
              <a:buAutoNum type="alphaLcParenR"/>
            </a:pPr>
            <a:r>
              <a:rPr lang="en-US" altLang="en-US" dirty="0" err="1"/>
              <a:t>PrivacyLoss</a:t>
            </a:r>
            <a:r>
              <a:rPr lang="en-US" altLang="en-US" dirty="0"/>
              <a:t>(</a:t>
            </a:r>
            <a:r>
              <a:rPr lang="en-US" altLang="en-US" i="1" dirty="0"/>
              <a:t>NC</a:t>
            </a:r>
            <a:r>
              <a:rPr lang="en-US" altLang="en-US" dirty="0">
                <a:latin typeface="SimSun" panose="02010600030101010101" pitchFamily="2" charset="-122"/>
                <a:ea typeface="SimSun" panose="02010600030101010101" pitchFamily="2" charset="-122"/>
              </a:rPr>
              <a:t>∪</a:t>
            </a:r>
            <a:r>
              <a:rPr lang="en-US" altLang="en-US" i="1" dirty="0"/>
              <a:t>R(</a:t>
            </a:r>
            <a:r>
              <a:rPr lang="en-US" altLang="en-US" i="1" dirty="0" err="1"/>
              <a:t>i</a:t>
            </a:r>
            <a:r>
              <a:rPr lang="en-US" altLang="en-US" i="1" dirty="0"/>
              <a:t>)</a:t>
            </a:r>
            <a:r>
              <a:rPr lang="en-US" altLang="en-US" dirty="0"/>
              <a:t>) – </a:t>
            </a:r>
            <a:r>
              <a:rPr lang="en-US" altLang="en-US" dirty="0" err="1"/>
              <a:t>PrivacyLoss</a:t>
            </a:r>
            <a:r>
              <a:rPr lang="en-US" altLang="en-US" dirty="0"/>
              <a:t>(</a:t>
            </a:r>
            <a:r>
              <a:rPr lang="en-US" altLang="en-US" i="1" dirty="0"/>
              <a:t>R(</a:t>
            </a:r>
            <a:r>
              <a:rPr lang="en-US" altLang="en-US" i="1" dirty="0" err="1"/>
              <a:t>i</a:t>
            </a:r>
            <a:r>
              <a:rPr lang="en-US" altLang="en-US" i="1" dirty="0"/>
              <a:t>))</a:t>
            </a:r>
            <a:r>
              <a:rPr lang="en-US" altLang="en-US" dirty="0"/>
              <a:t>) is minimized</a:t>
            </a:r>
          </a:p>
        </p:txBody>
      </p:sp>
      <p:sp>
        <p:nvSpPr>
          <p:cNvPr id="1692675" name="Rectangle 3"/>
          <p:cNvSpPr>
            <a:spLocks noGrp="1" noChangeArrowheads="1"/>
          </p:cNvSpPr>
          <p:nvPr>
            <p:ph type="title"/>
          </p:nvPr>
        </p:nvSpPr>
        <p:spPr>
          <a:xfrm>
            <a:off x="2667000" y="1"/>
            <a:ext cx="7793038" cy="733425"/>
          </a:xfrm>
        </p:spPr>
        <p:txBody>
          <a:bodyPr>
            <a:normAutofit fontScale="90000"/>
          </a:bodyPr>
          <a:lstStyle/>
          <a:p>
            <a:r>
              <a:rPr lang="en-US" altLang="en-US" sz="4000"/>
              <a:t>Formulation of tradeoff problem </a:t>
            </a:r>
            <a:r>
              <a:rPr lang="en-US" altLang="en-US" sz="1600"/>
              <a:t>(1)</a:t>
            </a:r>
          </a:p>
        </p:txBody>
      </p:sp>
    </p:spTree>
    <p:extLst>
      <p:ext uri="{BB962C8B-B14F-4D97-AF65-F5344CB8AC3E}">
        <p14:creationId xmlns:p14="http://schemas.microsoft.com/office/powerpoint/2010/main" val="33549885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4722" name="Rectangle 2"/>
          <p:cNvSpPr>
            <a:spLocks noGrp="1" noChangeArrowheads="1"/>
          </p:cNvSpPr>
          <p:nvPr>
            <p:ph type="body" idx="1"/>
          </p:nvPr>
        </p:nvSpPr>
        <p:spPr>
          <a:xfrm>
            <a:off x="2057400" y="1143000"/>
            <a:ext cx="8610600" cy="5257800"/>
          </a:xfrm>
        </p:spPr>
        <p:txBody>
          <a:bodyPr/>
          <a:lstStyle/>
          <a:p>
            <a:pPr>
              <a:lnSpc>
                <a:spcPct val="90000"/>
              </a:lnSpc>
            </a:pPr>
            <a:r>
              <a:rPr lang="en-US" altLang="en-US" dirty="0"/>
              <a:t>Decision problem: </a:t>
            </a:r>
          </a:p>
          <a:p>
            <a:pPr marL="800100" lvl="1" indent="-342900">
              <a:lnSpc>
                <a:spcPct val="90000"/>
              </a:lnSpc>
              <a:buFont typeface="+mj-lt"/>
              <a:buAutoNum type="alphaLcParenR"/>
            </a:pPr>
            <a:r>
              <a:rPr lang="en-US" altLang="en-US" dirty="0"/>
              <a:t>Decide whether trade trust for privacy or not</a:t>
            </a:r>
          </a:p>
          <a:p>
            <a:pPr marL="800100" lvl="1" indent="-342900">
              <a:lnSpc>
                <a:spcPct val="90000"/>
              </a:lnSpc>
              <a:buFont typeface="+mj-lt"/>
              <a:buAutoNum type="alphaLcParenR"/>
            </a:pPr>
            <a:r>
              <a:rPr lang="en-US" altLang="en-US" dirty="0"/>
              <a:t>Determine minimal privacy damage</a:t>
            </a:r>
          </a:p>
          <a:p>
            <a:pPr lvl="2">
              <a:lnSpc>
                <a:spcPct val="90000"/>
              </a:lnSpc>
            </a:pPr>
            <a:r>
              <a:rPr lang="en-US" altLang="en-US" dirty="0"/>
              <a:t>Minimal privacy damage is a function of minimal privacy loss, information usage and trustworthiness of information receiver.</a:t>
            </a:r>
          </a:p>
          <a:p>
            <a:pPr marL="800100" lvl="1" indent="-342900">
              <a:lnSpc>
                <a:spcPct val="90000"/>
              </a:lnSpc>
              <a:buFont typeface="+mj-lt"/>
              <a:buAutoNum type="alphaLcParenR"/>
            </a:pPr>
            <a:r>
              <a:rPr lang="en-US" altLang="en-US" dirty="0"/>
              <a:t>Compute trust gain</a:t>
            </a:r>
          </a:p>
          <a:p>
            <a:pPr marL="800100" lvl="1" indent="-342900">
              <a:lnSpc>
                <a:spcPct val="90000"/>
              </a:lnSpc>
              <a:buFont typeface="+mj-lt"/>
              <a:buAutoNum type="alphaLcParenR"/>
            </a:pPr>
            <a:r>
              <a:rPr lang="en-US" altLang="en-US" dirty="0"/>
              <a:t>Trade privacy for trust if trust gain &gt; minimal privacy damage</a:t>
            </a:r>
          </a:p>
          <a:p>
            <a:pPr>
              <a:lnSpc>
                <a:spcPct val="90000"/>
              </a:lnSpc>
            </a:pPr>
            <a:r>
              <a:rPr lang="en-US" altLang="en-US" dirty="0"/>
              <a:t>Selection problem: </a:t>
            </a:r>
          </a:p>
          <a:p>
            <a:pPr marL="800100" lvl="1" indent="-342900">
              <a:lnSpc>
                <a:spcPct val="90000"/>
              </a:lnSpc>
              <a:buFont typeface="+mj-lt"/>
              <a:buAutoNum type="alphaLcParenR"/>
            </a:pPr>
            <a:r>
              <a:rPr lang="en-US" altLang="en-US" dirty="0"/>
              <a:t>Choose credential set with minimal privacy loss</a:t>
            </a:r>
          </a:p>
        </p:txBody>
      </p:sp>
      <p:sp>
        <p:nvSpPr>
          <p:cNvPr id="1694723" name="Rectangle 3"/>
          <p:cNvSpPr>
            <a:spLocks noGrp="1" noChangeArrowheads="1"/>
          </p:cNvSpPr>
          <p:nvPr>
            <p:ph type="title"/>
          </p:nvPr>
        </p:nvSpPr>
        <p:spPr>
          <a:xfrm>
            <a:off x="2514600" y="1"/>
            <a:ext cx="7793038" cy="733425"/>
          </a:xfrm>
        </p:spPr>
        <p:txBody>
          <a:bodyPr>
            <a:normAutofit fontScale="90000"/>
          </a:bodyPr>
          <a:lstStyle/>
          <a:p>
            <a:r>
              <a:rPr lang="en-US" altLang="en-US" sz="4000"/>
              <a:t>Formulation of tradeoff problem </a:t>
            </a:r>
            <a:r>
              <a:rPr lang="en-US" altLang="en-US" sz="1600"/>
              <a:t>(2)</a:t>
            </a:r>
          </a:p>
        </p:txBody>
      </p:sp>
    </p:spTree>
    <p:extLst>
      <p:ext uri="{BB962C8B-B14F-4D97-AF65-F5344CB8AC3E}">
        <p14:creationId xmlns:p14="http://schemas.microsoft.com/office/powerpoint/2010/main" val="23409445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8818" name="Rectangle 2"/>
          <p:cNvSpPr>
            <a:spLocks noGrp="1" noChangeArrowheads="1"/>
          </p:cNvSpPr>
          <p:nvPr>
            <p:ph type="body" idx="1"/>
          </p:nvPr>
        </p:nvSpPr>
        <p:spPr>
          <a:xfrm>
            <a:off x="1981200" y="1663701"/>
            <a:ext cx="7710488" cy="4270375"/>
          </a:xfrm>
        </p:spPr>
        <p:txBody>
          <a:bodyPr/>
          <a:lstStyle/>
          <a:p>
            <a:r>
              <a:rPr lang="en-US" altLang="en-US" dirty="0"/>
              <a:t>Query-independent privacy loss</a:t>
            </a:r>
          </a:p>
          <a:p>
            <a:pPr marL="800100" lvl="1" indent="-342900">
              <a:buFont typeface="+mj-lt"/>
              <a:buAutoNum type="alphaLcParenR"/>
            </a:pPr>
            <a:r>
              <a:rPr lang="en-US" altLang="en-US" dirty="0"/>
              <a:t>User determines her private attributes </a:t>
            </a:r>
          </a:p>
          <a:p>
            <a:pPr marL="800100" lvl="1" indent="-342900">
              <a:buFont typeface="+mj-lt"/>
              <a:buAutoNum type="alphaLcParenR"/>
            </a:pPr>
            <a:r>
              <a:rPr lang="en-US" altLang="en-US" dirty="0"/>
              <a:t>Query-independent loss characterizes how helpful provided credentials for an adversarial to determine the probability density or probability mass function of a private attribute.</a:t>
            </a:r>
          </a:p>
        </p:txBody>
      </p:sp>
      <p:sp>
        <p:nvSpPr>
          <p:cNvPr id="1698819" name="Rectangle 3"/>
          <p:cNvSpPr>
            <a:spLocks noGrp="1" noChangeArrowheads="1"/>
          </p:cNvSpPr>
          <p:nvPr>
            <p:ph type="title"/>
          </p:nvPr>
        </p:nvSpPr>
        <p:spPr>
          <a:xfrm>
            <a:off x="1981200" y="533899"/>
            <a:ext cx="7564438" cy="547687"/>
          </a:xfrm>
        </p:spPr>
        <p:txBody>
          <a:bodyPr>
            <a:normAutofit fontScale="90000"/>
          </a:bodyPr>
          <a:lstStyle/>
          <a:p>
            <a:r>
              <a:rPr lang="en-US" altLang="en-US" sz="4000"/>
              <a:t>Two types of privacy loss </a:t>
            </a:r>
            <a:r>
              <a:rPr lang="en-US" altLang="en-US" sz="1600"/>
              <a:t>(1)</a:t>
            </a:r>
          </a:p>
        </p:txBody>
      </p:sp>
    </p:spTree>
    <p:extLst>
      <p:ext uri="{BB962C8B-B14F-4D97-AF65-F5344CB8AC3E}">
        <p14:creationId xmlns:p14="http://schemas.microsoft.com/office/powerpoint/2010/main" val="34232667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0866" name="Rectangle 2"/>
          <p:cNvSpPr>
            <a:spLocks noGrp="1" noChangeArrowheads="1"/>
          </p:cNvSpPr>
          <p:nvPr>
            <p:ph type="body" idx="1"/>
          </p:nvPr>
        </p:nvSpPr>
        <p:spPr>
          <a:xfrm>
            <a:off x="2055814" y="1663701"/>
            <a:ext cx="7635875" cy="4270375"/>
          </a:xfrm>
        </p:spPr>
        <p:txBody>
          <a:bodyPr/>
          <a:lstStyle/>
          <a:p>
            <a:r>
              <a:rPr lang="en-US" altLang="en-US" dirty="0"/>
              <a:t>Query-dependent privacy loss</a:t>
            </a:r>
          </a:p>
          <a:p>
            <a:pPr marL="800100" lvl="1" indent="-342900">
              <a:buFont typeface="+mj-lt"/>
              <a:buAutoNum type="alphaLcParenR"/>
            </a:pPr>
            <a:r>
              <a:rPr lang="en-US" altLang="en-US" dirty="0"/>
              <a:t>User determines a set of potential queries Q that she is reluctant to answer</a:t>
            </a:r>
          </a:p>
          <a:p>
            <a:pPr marL="800100" lvl="1" indent="-342900">
              <a:buFont typeface="+mj-lt"/>
              <a:buAutoNum type="alphaLcParenR"/>
            </a:pPr>
            <a:r>
              <a:rPr lang="en-US" altLang="en-US" dirty="0"/>
              <a:t>Provided credentials reveal information of attribute set A. Q is a function of A.</a:t>
            </a:r>
          </a:p>
          <a:p>
            <a:pPr marL="800100" lvl="1" indent="-342900">
              <a:buFont typeface="+mj-lt"/>
              <a:buAutoNum type="alphaLcParenR"/>
            </a:pPr>
            <a:r>
              <a:rPr lang="en-US" altLang="en-US" dirty="0"/>
              <a:t>Query-dependent loss characterizes how helpful provided credentials for an adversarial to determine the probability density or probability mass function of Q.</a:t>
            </a:r>
          </a:p>
        </p:txBody>
      </p:sp>
      <p:sp>
        <p:nvSpPr>
          <p:cNvPr id="1700867" name="Rectangle 3"/>
          <p:cNvSpPr>
            <a:spLocks noGrp="1" noChangeArrowheads="1"/>
          </p:cNvSpPr>
          <p:nvPr>
            <p:ph type="title"/>
          </p:nvPr>
        </p:nvSpPr>
        <p:spPr>
          <a:xfrm>
            <a:off x="2052638" y="274638"/>
            <a:ext cx="7988300" cy="806450"/>
          </a:xfrm>
        </p:spPr>
        <p:txBody>
          <a:bodyPr/>
          <a:lstStyle/>
          <a:p>
            <a:r>
              <a:rPr lang="en-US" altLang="en-US" sz="4000"/>
              <a:t>Two types of privacy loss </a:t>
            </a:r>
            <a:r>
              <a:rPr lang="en-US" altLang="en-US" sz="1600"/>
              <a:t>(2)</a:t>
            </a:r>
          </a:p>
        </p:txBody>
      </p:sp>
    </p:spTree>
    <p:extLst>
      <p:ext uri="{BB962C8B-B14F-4D97-AF65-F5344CB8AC3E}">
        <p14:creationId xmlns:p14="http://schemas.microsoft.com/office/powerpoint/2010/main" val="21006861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4962" name="Rectangle 2"/>
          <p:cNvSpPr>
            <a:spLocks noGrp="1" noChangeArrowheads="1"/>
          </p:cNvSpPr>
          <p:nvPr>
            <p:ph type="body" idx="1"/>
          </p:nvPr>
        </p:nvSpPr>
        <p:spPr>
          <a:xfrm>
            <a:off x="2128838" y="1792289"/>
            <a:ext cx="8081962" cy="3887787"/>
          </a:xfrm>
        </p:spPr>
        <p:txBody>
          <a:bodyPr>
            <a:normAutofit fontScale="92500" lnSpcReduction="20000"/>
          </a:bodyPr>
          <a:lstStyle/>
          <a:p>
            <a:r>
              <a:rPr lang="en-US" altLang="en-US" sz="2800"/>
              <a:t>Privacy loss is affected by the order of disclosure</a:t>
            </a:r>
          </a:p>
          <a:p>
            <a:r>
              <a:rPr lang="en-US" altLang="en-US" sz="2800"/>
              <a:t>Example:</a:t>
            </a:r>
          </a:p>
          <a:p>
            <a:pPr lvl="1"/>
            <a:r>
              <a:rPr lang="en-US" altLang="en-US" sz="2400"/>
              <a:t>Private attribute</a:t>
            </a:r>
          </a:p>
          <a:p>
            <a:pPr lvl="2"/>
            <a:r>
              <a:rPr lang="en-US" altLang="en-US" sz="2000"/>
              <a:t>age</a:t>
            </a:r>
          </a:p>
          <a:p>
            <a:pPr lvl="1"/>
            <a:r>
              <a:rPr lang="en-US" altLang="en-US" sz="2400"/>
              <a:t>Potential queries:</a:t>
            </a:r>
          </a:p>
          <a:p>
            <a:pPr lvl="2">
              <a:buFontTx/>
              <a:buNone/>
            </a:pPr>
            <a:r>
              <a:rPr lang="en-US" altLang="en-US" sz="2000"/>
              <a:t>(Q1) Is Alice an elementary school student?</a:t>
            </a:r>
          </a:p>
          <a:p>
            <a:pPr lvl="2">
              <a:buFontTx/>
              <a:buNone/>
            </a:pPr>
            <a:r>
              <a:rPr lang="en-US" altLang="en-US" sz="2000"/>
              <a:t>(Q2) Is Alice older than 50 to join a silver insurance plan?</a:t>
            </a:r>
          </a:p>
          <a:p>
            <a:pPr lvl="1"/>
            <a:r>
              <a:rPr lang="en-US" altLang="en-US" sz="2400"/>
              <a:t>Credentials</a:t>
            </a:r>
          </a:p>
          <a:p>
            <a:pPr lvl="2">
              <a:buFontTx/>
              <a:buNone/>
            </a:pPr>
            <a:r>
              <a:rPr lang="en-US" altLang="en-US" sz="2000"/>
              <a:t>(C1) Driver license</a:t>
            </a:r>
          </a:p>
          <a:p>
            <a:pPr lvl="2">
              <a:buFontTx/>
              <a:buNone/>
            </a:pPr>
            <a:r>
              <a:rPr lang="en-US" altLang="en-US" sz="2000"/>
              <a:t>(C2) Purdue undergraduate student ID</a:t>
            </a:r>
          </a:p>
        </p:txBody>
      </p:sp>
      <p:sp>
        <p:nvSpPr>
          <p:cNvPr id="1704963" name="Rectangle 3"/>
          <p:cNvSpPr>
            <a:spLocks noGrp="1" noChangeArrowheads="1"/>
          </p:cNvSpPr>
          <p:nvPr>
            <p:ph type="title"/>
          </p:nvPr>
        </p:nvSpPr>
        <p:spPr>
          <a:xfrm>
            <a:off x="1981201" y="300038"/>
            <a:ext cx="8056563" cy="1117600"/>
          </a:xfrm>
        </p:spPr>
        <p:txBody>
          <a:bodyPr/>
          <a:lstStyle/>
          <a:p>
            <a:r>
              <a:rPr lang="en-US" altLang="en-US" sz="4000" dirty="0"/>
              <a:t>Observation </a:t>
            </a:r>
            <a:r>
              <a:rPr lang="en-US" altLang="en-US" sz="4000" dirty="0" smtClean="0"/>
              <a:t>1</a:t>
            </a:r>
            <a:endParaRPr lang="en-US" altLang="en-US" sz="4000" dirty="0"/>
          </a:p>
        </p:txBody>
      </p:sp>
    </p:spTree>
    <p:extLst>
      <p:ext uri="{BB962C8B-B14F-4D97-AF65-F5344CB8AC3E}">
        <p14:creationId xmlns:p14="http://schemas.microsoft.com/office/powerpoint/2010/main" val="15780357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7010" name="Rectangle 2"/>
          <p:cNvSpPr>
            <a:spLocks noChangeArrowheads="1"/>
          </p:cNvSpPr>
          <p:nvPr/>
        </p:nvSpPr>
        <p:spPr bwMode="auto">
          <a:xfrm>
            <a:off x="2590800" y="0"/>
            <a:ext cx="779303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pPr eaLnBrk="1" hangingPunct="1"/>
            <a:r>
              <a:rPr lang="en-US" altLang="en-US" sz="4000"/>
              <a:t>Example </a:t>
            </a:r>
            <a:r>
              <a:rPr lang="en-US" altLang="en-US" sz="1600"/>
              <a:t>(1)</a:t>
            </a:r>
          </a:p>
        </p:txBody>
      </p:sp>
      <p:pic>
        <p:nvPicPr>
          <p:cNvPr id="17070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143001"/>
            <a:ext cx="7239000" cy="481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40432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9058" name="Rectangle 2"/>
          <p:cNvSpPr>
            <a:spLocks noGrp="1" noChangeArrowheads="1"/>
          </p:cNvSpPr>
          <p:nvPr>
            <p:ph type="body" idx="1"/>
          </p:nvPr>
        </p:nvSpPr>
        <p:spPr>
          <a:xfrm>
            <a:off x="1773238" y="838200"/>
            <a:ext cx="8458200" cy="5715000"/>
          </a:xfrm>
        </p:spPr>
        <p:txBody>
          <a:bodyPr>
            <a:normAutofit fontScale="92500" lnSpcReduction="10000"/>
          </a:bodyPr>
          <a:lstStyle/>
          <a:p>
            <a:pPr>
              <a:lnSpc>
                <a:spcPct val="80000"/>
              </a:lnSpc>
            </a:pPr>
            <a:r>
              <a:rPr lang="en-US" altLang="en-US" sz="2400" dirty="0"/>
              <a:t>C1 </a:t>
            </a:r>
            <a:r>
              <a:rPr lang="en-US" altLang="en-US" sz="2400" dirty="0">
                <a:sym typeface="Wingdings" panose="05000000000000000000" pitchFamily="2" charset="2"/>
              </a:rPr>
              <a:t></a:t>
            </a:r>
            <a:r>
              <a:rPr lang="en-US" altLang="en-US" sz="2400" dirty="0"/>
              <a:t> C2</a:t>
            </a:r>
          </a:p>
          <a:p>
            <a:pPr lvl="1">
              <a:lnSpc>
                <a:spcPct val="80000"/>
              </a:lnSpc>
            </a:pPr>
            <a:r>
              <a:rPr lang="en-US" altLang="en-US" sz="2000" dirty="0"/>
              <a:t>Disclosing C1</a:t>
            </a:r>
            <a:endParaRPr lang="en-US" altLang="en-US" sz="2000" i="1" dirty="0"/>
          </a:p>
          <a:p>
            <a:pPr lvl="2">
              <a:lnSpc>
                <a:spcPct val="80000"/>
              </a:lnSpc>
            </a:pPr>
            <a:r>
              <a:rPr lang="en-US" altLang="en-US" sz="1800" dirty="0"/>
              <a:t>low query-independent loss (wide range for age)</a:t>
            </a:r>
          </a:p>
          <a:p>
            <a:pPr lvl="2">
              <a:lnSpc>
                <a:spcPct val="80000"/>
              </a:lnSpc>
            </a:pPr>
            <a:r>
              <a:rPr lang="en-US" altLang="en-US" sz="1800" dirty="0"/>
              <a:t>100% loss for Query 1 (elem. school student)</a:t>
            </a:r>
          </a:p>
          <a:p>
            <a:pPr lvl="2">
              <a:lnSpc>
                <a:spcPct val="80000"/>
              </a:lnSpc>
            </a:pPr>
            <a:r>
              <a:rPr lang="en-US" altLang="en-US" sz="1800" dirty="0"/>
              <a:t>low loss for Query 2 (silver plan)</a:t>
            </a:r>
          </a:p>
          <a:p>
            <a:pPr lvl="1">
              <a:lnSpc>
                <a:spcPct val="80000"/>
              </a:lnSpc>
            </a:pPr>
            <a:r>
              <a:rPr lang="en-US" altLang="en-US" sz="2000" dirty="0"/>
              <a:t>Disclosing C2</a:t>
            </a:r>
          </a:p>
          <a:p>
            <a:pPr lvl="2">
              <a:lnSpc>
                <a:spcPct val="80000"/>
              </a:lnSpc>
            </a:pPr>
            <a:r>
              <a:rPr lang="en-US" altLang="en-US" sz="1800" dirty="0"/>
              <a:t>high query-independent loss (narrow range for age)</a:t>
            </a:r>
          </a:p>
          <a:p>
            <a:pPr lvl="2">
              <a:lnSpc>
                <a:spcPct val="80000"/>
              </a:lnSpc>
            </a:pPr>
            <a:r>
              <a:rPr lang="en-US" altLang="en-US" sz="1800" dirty="0"/>
              <a:t>zero loss for Query 1 (because privacy was lost by disclosing license)</a:t>
            </a:r>
          </a:p>
          <a:p>
            <a:pPr lvl="2">
              <a:lnSpc>
                <a:spcPct val="80000"/>
              </a:lnSpc>
            </a:pPr>
            <a:r>
              <a:rPr lang="en-US" altLang="en-US" sz="1800" dirty="0"/>
              <a:t>high loss for Query 2 (“not sure” </a:t>
            </a:r>
            <a:r>
              <a:rPr lang="en-US" altLang="en-US" sz="1800" dirty="0">
                <a:sym typeface="Wingdings" panose="05000000000000000000" pitchFamily="2" charset="2"/>
              </a:rPr>
              <a:t> “no - high probability”</a:t>
            </a:r>
            <a:endParaRPr lang="en-US" altLang="en-US" sz="1800" dirty="0"/>
          </a:p>
          <a:p>
            <a:pPr>
              <a:lnSpc>
                <a:spcPct val="80000"/>
              </a:lnSpc>
            </a:pPr>
            <a:r>
              <a:rPr lang="en-US" altLang="en-US" sz="2400" dirty="0"/>
              <a:t>C2 </a:t>
            </a:r>
            <a:r>
              <a:rPr lang="en-US" altLang="en-US" sz="2400" dirty="0">
                <a:sym typeface="Wingdings" panose="05000000000000000000" pitchFamily="2" charset="2"/>
              </a:rPr>
              <a:t> C1</a:t>
            </a:r>
            <a:endParaRPr lang="en-US" altLang="en-US" sz="2400" dirty="0"/>
          </a:p>
          <a:p>
            <a:pPr lvl="1">
              <a:lnSpc>
                <a:spcPct val="80000"/>
              </a:lnSpc>
            </a:pPr>
            <a:r>
              <a:rPr lang="en-US" altLang="en-US" sz="2000" dirty="0"/>
              <a:t>Disclosing C2 </a:t>
            </a:r>
          </a:p>
          <a:p>
            <a:pPr lvl="2">
              <a:lnSpc>
                <a:spcPct val="80000"/>
              </a:lnSpc>
            </a:pPr>
            <a:r>
              <a:rPr lang="en-US" altLang="en-US" sz="1800" dirty="0"/>
              <a:t>low query-independent loss (wide range for age)</a:t>
            </a:r>
          </a:p>
          <a:p>
            <a:pPr lvl="2">
              <a:lnSpc>
                <a:spcPct val="80000"/>
              </a:lnSpc>
            </a:pPr>
            <a:r>
              <a:rPr lang="en-US" altLang="en-US" sz="1800" dirty="0"/>
              <a:t>100% loss for Query 1 (elem. school student)</a:t>
            </a:r>
          </a:p>
          <a:p>
            <a:pPr lvl="2">
              <a:lnSpc>
                <a:spcPct val="80000"/>
              </a:lnSpc>
            </a:pPr>
            <a:r>
              <a:rPr lang="en-US" altLang="en-US" sz="1800" dirty="0"/>
              <a:t>high loss for Query 2 (silver plan)</a:t>
            </a:r>
          </a:p>
          <a:p>
            <a:pPr lvl="1">
              <a:lnSpc>
                <a:spcPct val="80000"/>
              </a:lnSpc>
            </a:pPr>
            <a:r>
              <a:rPr lang="en-US" altLang="en-US" sz="2000" dirty="0"/>
              <a:t>Disclosing C1 </a:t>
            </a:r>
          </a:p>
          <a:p>
            <a:pPr lvl="2">
              <a:lnSpc>
                <a:spcPct val="80000"/>
              </a:lnSpc>
            </a:pPr>
            <a:r>
              <a:rPr lang="en-US" altLang="en-US" sz="1800" dirty="0"/>
              <a:t>high query-independent loss (narrow range of age)</a:t>
            </a:r>
          </a:p>
          <a:p>
            <a:pPr lvl="2">
              <a:lnSpc>
                <a:spcPct val="80000"/>
              </a:lnSpc>
            </a:pPr>
            <a:r>
              <a:rPr lang="en-US" altLang="en-US" sz="1800" dirty="0"/>
              <a:t>zero loss for Query 1 (because privacy was lost by disclosing ID)</a:t>
            </a:r>
          </a:p>
          <a:p>
            <a:pPr lvl="2">
              <a:lnSpc>
                <a:spcPct val="80000"/>
              </a:lnSpc>
            </a:pPr>
            <a:r>
              <a:rPr lang="en-US" altLang="en-US" sz="1800" dirty="0"/>
              <a:t>zero loss for Query 2</a:t>
            </a:r>
          </a:p>
        </p:txBody>
      </p:sp>
      <p:sp>
        <p:nvSpPr>
          <p:cNvPr id="1709059" name="Rectangle 3"/>
          <p:cNvSpPr>
            <a:spLocks noChangeArrowheads="1"/>
          </p:cNvSpPr>
          <p:nvPr/>
        </p:nvSpPr>
        <p:spPr bwMode="auto">
          <a:xfrm>
            <a:off x="2388358" y="228600"/>
            <a:ext cx="748823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pPr eaLnBrk="1" hangingPunct="1"/>
            <a:r>
              <a:rPr lang="en-US" altLang="en-US" sz="4000" dirty="0"/>
              <a:t>Example </a:t>
            </a:r>
            <a:r>
              <a:rPr lang="en-US" altLang="en-US" sz="1600" dirty="0"/>
              <a:t>(2)</a:t>
            </a:r>
          </a:p>
        </p:txBody>
      </p:sp>
    </p:spTree>
    <p:extLst>
      <p:ext uri="{BB962C8B-B14F-4D97-AF65-F5344CB8AC3E}">
        <p14:creationId xmlns:p14="http://schemas.microsoft.com/office/powerpoint/2010/main" val="38986885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1106" name="Rectangle 2"/>
          <p:cNvSpPr>
            <a:spLocks noGrp="1" noChangeArrowheads="1"/>
          </p:cNvSpPr>
          <p:nvPr>
            <p:ph type="title"/>
          </p:nvPr>
        </p:nvSpPr>
        <p:spPr>
          <a:xfrm>
            <a:off x="2667000" y="152400"/>
            <a:ext cx="7793038" cy="685800"/>
          </a:xfrm>
        </p:spPr>
        <p:txBody>
          <a:bodyPr>
            <a:normAutofit fontScale="90000"/>
          </a:bodyPr>
          <a:lstStyle/>
          <a:p>
            <a:r>
              <a:rPr lang="en-US" altLang="en-US" sz="4000"/>
              <a:t>Entropy-based privacy loss</a:t>
            </a:r>
          </a:p>
        </p:txBody>
      </p:sp>
      <p:sp>
        <p:nvSpPr>
          <p:cNvPr id="1711107" name="Rectangle 3"/>
          <p:cNvSpPr>
            <a:spLocks noGrp="1" noChangeArrowheads="1"/>
          </p:cNvSpPr>
          <p:nvPr>
            <p:ph type="body" idx="1"/>
          </p:nvPr>
        </p:nvSpPr>
        <p:spPr>
          <a:xfrm>
            <a:off x="2128838" y="1727201"/>
            <a:ext cx="8081962" cy="3952875"/>
          </a:xfrm>
        </p:spPr>
        <p:txBody>
          <a:bodyPr>
            <a:normAutofit fontScale="92500" lnSpcReduction="20000"/>
          </a:bodyPr>
          <a:lstStyle/>
          <a:p>
            <a:r>
              <a:rPr lang="en-US" altLang="en-US" sz="2800"/>
              <a:t>Entropy measures the randomness, or uncertainty, in private data.</a:t>
            </a:r>
          </a:p>
          <a:p>
            <a:r>
              <a:rPr lang="en-US" altLang="en-US" sz="2800"/>
              <a:t>When an adversarial gains more information, entropy decreases</a:t>
            </a:r>
          </a:p>
          <a:p>
            <a:r>
              <a:rPr lang="en-US" altLang="en-US" sz="2800"/>
              <a:t>The difference shows how much information has been leaked</a:t>
            </a:r>
          </a:p>
          <a:p>
            <a:r>
              <a:rPr lang="en-US" altLang="en-US" sz="2800"/>
              <a:t>Conditional probability is needed for entropy evaluation</a:t>
            </a:r>
          </a:p>
          <a:p>
            <a:pPr lvl="1"/>
            <a:r>
              <a:rPr lang="en-US" altLang="en-US" sz="2400"/>
              <a:t>Bayesian networks, kernel density estimation or subjective estimation can be adopted</a:t>
            </a:r>
          </a:p>
        </p:txBody>
      </p:sp>
    </p:spTree>
    <p:extLst>
      <p:ext uri="{BB962C8B-B14F-4D97-AF65-F5344CB8AC3E}">
        <p14:creationId xmlns:p14="http://schemas.microsoft.com/office/powerpoint/2010/main" val="4019020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9298" name="Rectangle 2"/>
          <p:cNvSpPr>
            <a:spLocks noGrp="1" noChangeArrowheads="1"/>
          </p:cNvSpPr>
          <p:nvPr>
            <p:ph type="body" idx="1"/>
          </p:nvPr>
        </p:nvSpPr>
        <p:spPr>
          <a:xfrm>
            <a:off x="2128838" y="2174876"/>
            <a:ext cx="7562850" cy="3095625"/>
          </a:xfrm>
        </p:spPr>
        <p:txBody>
          <a:bodyPr/>
          <a:lstStyle/>
          <a:p>
            <a:pPr>
              <a:lnSpc>
                <a:spcPct val="90000"/>
              </a:lnSpc>
            </a:pPr>
            <a:r>
              <a:rPr lang="en-US" altLang="en-US"/>
              <a:t>Increasing trust level</a:t>
            </a:r>
          </a:p>
          <a:p>
            <a:pPr lvl="1">
              <a:lnSpc>
                <a:spcPct val="90000"/>
              </a:lnSpc>
            </a:pPr>
            <a:r>
              <a:rPr lang="en-US" altLang="en-US"/>
              <a:t>Adopt research on trust establishment and management</a:t>
            </a:r>
          </a:p>
          <a:p>
            <a:pPr>
              <a:lnSpc>
                <a:spcPct val="90000"/>
              </a:lnSpc>
            </a:pPr>
            <a:r>
              <a:rPr lang="en-US" altLang="en-US"/>
              <a:t>Benefit function </a:t>
            </a:r>
            <a:r>
              <a:rPr lang="en-US" altLang="en-US" i="1"/>
              <a:t>TB(trust_level)</a:t>
            </a:r>
            <a:endParaRPr lang="en-US" altLang="en-US" sz="2800"/>
          </a:p>
          <a:p>
            <a:pPr lvl="1">
              <a:lnSpc>
                <a:spcPct val="90000"/>
              </a:lnSpc>
            </a:pPr>
            <a:r>
              <a:rPr lang="en-US" altLang="en-US"/>
              <a:t>Provided by service provider or derived from user’s utility function</a:t>
            </a:r>
          </a:p>
          <a:p>
            <a:pPr>
              <a:lnSpc>
                <a:spcPct val="90000"/>
              </a:lnSpc>
            </a:pPr>
            <a:r>
              <a:rPr lang="en-US" altLang="en-US"/>
              <a:t>Trust gain</a:t>
            </a:r>
          </a:p>
          <a:p>
            <a:pPr lvl="1">
              <a:lnSpc>
                <a:spcPct val="90000"/>
              </a:lnSpc>
            </a:pPr>
            <a:r>
              <a:rPr lang="en-US" altLang="en-US" i="1"/>
              <a:t>TB(trust_level</a:t>
            </a:r>
            <a:r>
              <a:rPr lang="en-US" altLang="en-US" i="1" baseline="-25000">
                <a:solidFill>
                  <a:schemeClr val="tx2"/>
                </a:solidFill>
              </a:rPr>
              <a:t>new</a:t>
            </a:r>
            <a:r>
              <a:rPr lang="en-US" altLang="en-US" i="1"/>
              <a:t>) - TB(tust_level</a:t>
            </a:r>
            <a:r>
              <a:rPr lang="en-US" altLang="en-US" i="1" baseline="-25000">
                <a:solidFill>
                  <a:schemeClr val="tx2"/>
                </a:solidFill>
              </a:rPr>
              <a:t>prev</a:t>
            </a:r>
            <a:r>
              <a:rPr lang="en-US" altLang="en-US" i="1"/>
              <a:t>)</a:t>
            </a:r>
          </a:p>
        </p:txBody>
      </p:sp>
      <p:sp>
        <p:nvSpPr>
          <p:cNvPr id="1719299" name="Rectangle 3"/>
          <p:cNvSpPr>
            <a:spLocks noGrp="1" noChangeArrowheads="1"/>
          </p:cNvSpPr>
          <p:nvPr>
            <p:ph type="title"/>
          </p:nvPr>
        </p:nvSpPr>
        <p:spPr>
          <a:xfrm>
            <a:off x="1646666" y="832513"/>
            <a:ext cx="7793037" cy="623888"/>
          </a:xfrm>
        </p:spPr>
        <p:txBody>
          <a:bodyPr>
            <a:normAutofit fontScale="90000"/>
          </a:bodyPr>
          <a:lstStyle/>
          <a:p>
            <a:r>
              <a:rPr lang="en-US" altLang="en-US" sz="4000"/>
              <a:t>Estimate trust gain</a:t>
            </a:r>
          </a:p>
        </p:txBody>
      </p:sp>
    </p:spTree>
    <p:extLst>
      <p:ext uri="{BB962C8B-B14F-4D97-AF65-F5344CB8AC3E}">
        <p14:creationId xmlns:p14="http://schemas.microsoft.com/office/powerpoint/2010/main" val="32430206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5442" name="Rectangle 2"/>
          <p:cNvSpPr>
            <a:spLocks noGrp="1" noChangeArrowheads="1"/>
          </p:cNvSpPr>
          <p:nvPr>
            <p:ph type="title"/>
          </p:nvPr>
        </p:nvSpPr>
        <p:spPr>
          <a:xfrm>
            <a:off x="1981201" y="274638"/>
            <a:ext cx="8139113" cy="1143000"/>
          </a:xfrm>
        </p:spPr>
        <p:txBody>
          <a:bodyPr/>
          <a:lstStyle/>
          <a:p>
            <a:r>
              <a:rPr lang="en-US" altLang="en-US" sz="4000"/>
              <a:t>Conclusion</a:t>
            </a:r>
          </a:p>
        </p:txBody>
      </p:sp>
      <p:sp>
        <p:nvSpPr>
          <p:cNvPr id="1725443" name="Rectangle 3"/>
          <p:cNvSpPr>
            <a:spLocks noGrp="1" noChangeArrowheads="1"/>
          </p:cNvSpPr>
          <p:nvPr>
            <p:ph type="body" idx="1"/>
          </p:nvPr>
        </p:nvSpPr>
        <p:spPr>
          <a:xfrm>
            <a:off x="2128838" y="1727201"/>
            <a:ext cx="8081962" cy="3889375"/>
          </a:xfrm>
        </p:spPr>
        <p:txBody>
          <a:bodyPr/>
          <a:lstStyle/>
          <a:p>
            <a:r>
              <a:rPr lang="en-US" altLang="en-US"/>
              <a:t>This research addresses the tradeoff issues between privacy and trust.</a:t>
            </a:r>
          </a:p>
          <a:p>
            <a:r>
              <a:rPr lang="en-US" altLang="en-US"/>
              <a:t>Tradeoff problems are formally defined.</a:t>
            </a:r>
          </a:p>
          <a:p>
            <a:r>
              <a:rPr lang="en-US" altLang="en-US"/>
              <a:t>An entropy-based approach is proposed to estimate privacy loss.</a:t>
            </a:r>
          </a:p>
          <a:p>
            <a:r>
              <a:rPr lang="en-US" altLang="en-US"/>
              <a:t>A prototype is under development for experimental study.</a:t>
            </a:r>
          </a:p>
        </p:txBody>
      </p:sp>
    </p:spTree>
    <p:extLst>
      <p:ext uri="{BB962C8B-B14F-4D97-AF65-F5344CB8AC3E}">
        <p14:creationId xmlns:p14="http://schemas.microsoft.com/office/powerpoint/2010/main" val="1019769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7490" name="Rectangle 2"/>
          <p:cNvSpPr>
            <a:spLocks noGrp="1" noChangeArrowheads="1"/>
          </p:cNvSpPr>
          <p:nvPr>
            <p:ph type="ctrTitle"/>
          </p:nvPr>
        </p:nvSpPr>
        <p:spPr>
          <a:xfrm>
            <a:off x="2454276" y="423863"/>
            <a:ext cx="8264525" cy="2032000"/>
          </a:xfrm>
        </p:spPr>
        <p:txBody>
          <a:bodyPr anchor="ctr"/>
          <a:lstStyle/>
          <a:p>
            <a:pPr>
              <a:lnSpc>
                <a:spcPct val="90000"/>
              </a:lnSpc>
            </a:pPr>
            <a:r>
              <a:rPr lang="en-US" altLang="en-US" sz="3600" dirty="0" smtClean="0">
                <a:solidFill>
                  <a:schemeClr val="folHlink"/>
                </a:solidFill>
              </a:rPr>
              <a:t>A </a:t>
            </a:r>
            <a:r>
              <a:rPr lang="en-US" altLang="en-US" sz="3600" dirty="0">
                <a:solidFill>
                  <a:schemeClr val="folHlink"/>
                </a:solidFill>
              </a:rPr>
              <a:t>Mechanism for</a:t>
            </a:r>
            <a:br>
              <a:rPr lang="en-US" altLang="en-US" sz="3600" dirty="0">
                <a:solidFill>
                  <a:schemeClr val="folHlink"/>
                </a:solidFill>
              </a:rPr>
            </a:br>
            <a:r>
              <a:rPr lang="en-US" altLang="en-US" sz="3600" dirty="0">
                <a:solidFill>
                  <a:schemeClr val="folHlink"/>
                </a:solidFill>
              </a:rPr>
              <a:t>Privacy-</a:t>
            </a:r>
            <a:r>
              <a:rPr lang="pl-PL" altLang="en-US" sz="3600" dirty="0">
                <a:solidFill>
                  <a:schemeClr val="folHlink"/>
                </a:solidFill>
              </a:rPr>
              <a:t>P</a:t>
            </a:r>
            <a:r>
              <a:rPr lang="en-US" altLang="en-US" sz="3600" dirty="0">
                <a:solidFill>
                  <a:schemeClr val="folHlink"/>
                </a:solidFill>
              </a:rPr>
              <a:t>reserving Data Dissemination</a:t>
            </a:r>
            <a:endParaRPr lang="en-US" altLang="en-US" sz="3600" baseline="30000" dirty="0">
              <a:solidFill>
                <a:schemeClr val="folHlink"/>
              </a:solidFill>
            </a:endParaRPr>
          </a:p>
        </p:txBody>
      </p:sp>
    </p:spTree>
    <p:extLst>
      <p:ext uri="{BB962C8B-B14F-4D97-AF65-F5344CB8AC3E}">
        <p14:creationId xmlns:p14="http://schemas.microsoft.com/office/powerpoint/2010/main" val="3356799610"/>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9538" name="Rectangle 2"/>
          <p:cNvSpPr>
            <a:spLocks noGrp="1" noChangeArrowheads="1"/>
          </p:cNvSpPr>
          <p:nvPr>
            <p:ph type="title"/>
          </p:nvPr>
        </p:nvSpPr>
        <p:spPr>
          <a:xfrm>
            <a:off x="1528549" y="116885"/>
            <a:ext cx="8809963" cy="1037229"/>
          </a:xfrm>
        </p:spPr>
        <p:txBody>
          <a:bodyPr>
            <a:normAutofit fontScale="90000"/>
          </a:bodyPr>
          <a:lstStyle/>
          <a:p>
            <a:pPr>
              <a:lnSpc>
                <a:spcPct val="90000"/>
              </a:lnSpc>
            </a:pPr>
            <a:r>
              <a:rPr lang="en-US" altLang="en-US" sz="4000" dirty="0">
                <a:solidFill>
                  <a:srgbClr val="0000FF"/>
                </a:solidFill>
              </a:rPr>
              <a:t>P2D2 - Mechanism for Privacy-Preserving Data Dissemination</a:t>
            </a:r>
          </a:p>
        </p:txBody>
      </p:sp>
      <p:sp>
        <p:nvSpPr>
          <p:cNvPr id="1729539" name="Rectangle 3"/>
          <p:cNvSpPr>
            <a:spLocks noGrp="1" noChangeArrowheads="1"/>
          </p:cNvSpPr>
          <p:nvPr>
            <p:ph type="body" idx="1"/>
          </p:nvPr>
        </p:nvSpPr>
        <p:spPr>
          <a:xfrm>
            <a:off x="1314783" y="1154114"/>
            <a:ext cx="8397875" cy="5246686"/>
          </a:xfrm>
        </p:spPr>
        <p:txBody>
          <a:bodyPr/>
          <a:lstStyle/>
          <a:p>
            <a:pPr marL="609600" indent="-609600">
              <a:lnSpc>
                <a:spcPct val="80000"/>
              </a:lnSpc>
              <a:buNone/>
            </a:pPr>
            <a:r>
              <a:rPr lang="en-US" altLang="en-US" dirty="0">
                <a:solidFill>
                  <a:srgbClr val="0000FF"/>
                </a:solidFill>
              </a:rPr>
              <a:t>				Outline</a:t>
            </a:r>
          </a:p>
          <a:p>
            <a:pPr marL="990600" lvl="1" indent="-533400">
              <a:lnSpc>
                <a:spcPct val="85000"/>
              </a:lnSpc>
              <a:spcBef>
                <a:spcPct val="0"/>
              </a:spcBef>
              <a:buClr>
                <a:srgbClr val="0000FF"/>
              </a:buClr>
              <a:buFont typeface="Wingdings" panose="05000000000000000000" pitchFamily="2" charset="2"/>
              <a:buAutoNum type="arabicParenR"/>
            </a:pPr>
            <a:r>
              <a:rPr lang="en-US" altLang="en-US" sz="2000" dirty="0"/>
              <a:t>Introduction</a:t>
            </a:r>
          </a:p>
          <a:p>
            <a:pPr marL="1562100" lvl="2" indent="-457200">
              <a:lnSpc>
                <a:spcPct val="85000"/>
              </a:lnSpc>
              <a:spcBef>
                <a:spcPct val="0"/>
              </a:spcBef>
              <a:buNone/>
            </a:pPr>
            <a:r>
              <a:rPr lang="en-US" altLang="en-US" sz="2000" dirty="0">
                <a:solidFill>
                  <a:schemeClr val="hlink"/>
                </a:solidFill>
              </a:rPr>
              <a:t>1.1)</a:t>
            </a:r>
            <a:r>
              <a:rPr lang="en-US" altLang="en-US" sz="2000" dirty="0"/>
              <a:t> Interactions and Trust</a:t>
            </a:r>
          </a:p>
          <a:p>
            <a:pPr marL="1562100" lvl="2" indent="-457200">
              <a:lnSpc>
                <a:spcPct val="85000"/>
              </a:lnSpc>
              <a:spcBef>
                <a:spcPct val="0"/>
              </a:spcBef>
              <a:buNone/>
            </a:pPr>
            <a:r>
              <a:rPr lang="en-US" altLang="en-US" sz="2000" dirty="0">
                <a:solidFill>
                  <a:schemeClr val="hlink"/>
                </a:solidFill>
              </a:rPr>
              <a:t>1.2)</a:t>
            </a:r>
            <a:r>
              <a:rPr lang="en-US" altLang="en-US" sz="2000" dirty="0"/>
              <a:t> Building Trust</a:t>
            </a:r>
            <a:endParaRPr lang="en-US" altLang="en-US" sz="2000" dirty="0">
              <a:solidFill>
                <a:schemeClr val="folHlink"/>
              </a:solidFill>
            </a:endParaRPr>
          </a:p>
          <a:p>
            <a:pPr marL="1562100" lvl="2" indent="-457200">
              <a:lnSpc>
                <a:spcPct val="85000"/>
              </a:lnSpc>
              <a:spcBef>
                <a:spcPct val="0"/>
              </a:spcBef>
              <a:buNone/>
            </a:pPr>
            <a:r>
              <a:rPr lang="en-US" altLang="en-US" sz="2000" dirty="0">
                <a:solidFill>
                  <a:schemeClr val="hlink"/>
                </a:solidFill>
              </a:rPr>
              <a:t>1.3)</a:t>
            </a:r>
            <a:r>
              <a:rPr lang="en-US" altLang="en-US" sz="2000" dirty="0"/>
              <a:t> Trading Weaker Partner’s Privacy Loss for Stronger Partner’s Trust Gain</a:t>
            </a:r>
          </a:p>
          <a:p>
            <a:pPr marL="1562100" lvl="2" indent="-457200">
              <a:lnSpc>
                <a:spcPct val="85000"/>
              </a:lnSpc>
              <a:spcBef>
                <a:spcPct val="0"/>
              </a:spcBef>
              <a:buNone/>
            </a:pPr>
            <a:r>
              <a:rPr lang="en-US" altLang="en-US" sz="2000" dirty="0">
                <a:solidFill>
                  <a:schemeClr val="hlink"/>
                </a:solidFill>
              </a:rPr>
              <a:t>1.4)</a:t>
            </a:r>
            <a:r>
              <a:rPr lang="en-US" altLang="en-US" sz="2000" dirty="0">
                <a:solidFill>
                  <a:srgbClr val="0000FF"/>
                </a:solidFill>
              </a:rPr>
              <a:t> </a:t>
            </a:r>
            <a:r>
              <a:rPr lang="en-US" altLang="en-US" sz="2000" dirty="0"/>
              <a:t>Privacy-Trust Tradeoff and Dissemination of Private Data</a:t>
            </a:r>
          </a:p>
          <a:p>
            <a:pPr marL="1562100" lvl="2" indent="-457200">
              <a:lnSpc>
                <a:spcPct val="85000"/>
              </a:lnSpc>
              <a:spcBef>
                <a:spcPct val="0"/>
              </a:spcBef>
              <a:buNone/>
            </a:pPr>
            <a:r>
              <a:rPr lang="en-US" altLang="en-US" sz="2000" dirty="0">
                <a:solidFill>
                  <a:schemeClr val="hlink"/>
                </a:solidFill>
              </a:rPr>
              <a:t>1.5)</a:t>
            </a:r>
            <a:r>
              <a:rPr lang="en-US" altLang="en-US" sz="2000" dirty="0">
                <a:solidFill>
                  <a:srgbClr val="0000FF"/>
                </a:solidFill>
              </a:rPr>
              <a:t> </a:t>
            </a:r>
            <a:r>
              <a:rPr lang="en-US" altLang="en-US" sz="2000" dirty="0"/>
              <a:t>Recognition of Need for Privacy Guarantees</a:t>
            </a:r>
          </a:p>
          <a:p>
            <a:pPr marL="990600" lvl="1" indent="-533400">
              <a:lnSpc>
                <a:spcPct val="85000"/>
              </a:lnSpc>
              <a:spcBef>
                <a:spcPct val="0"/>
              </a:spcBef>
              <a:buClr>
                <a:srgbClr val="0000FF"/>
              </a:buClr>
              <a:buFont typeface="Wingdings" panose="05000000000000000000" pitchFamily="2" charset="2"/>
              <a:buAutoNum type="arabicParenR"/>
            </a:pPr>
            <a:r>
              <a:rPr lang="en-US" altLang="en-US" sz="2000" dirty="0"/>
              <a:t>Problem and Challenges</a:t>
            </a:r>
          </a:p>
          <a:p>
            <a:pPr marL="1562100" lvl="2" indent="-457200">
              <a:lnSpc>
                <a:spcPct val="85000"/>
              </a:lnSpc>
              <a:spcBef>
                <a:spcPct val="0"/>
              </a:spcBef>
              <a:buNone/>
            </a:pPr>
            <a:r>
              <a:rPr lang="en-US" altLang="en-US" sz="2000" dirty="0">
                <a:solidFill>
                  <a:schemeClr val="hlink"/>
                </a:solidFill>
              </a:rPr>
              <a:t>2.1)</a:t>
            </a:r>
            <a:r>
              <a:rPr lang="en-US" altLang="en-US" sz="2000" dirty="0"/>
              <a:t> The Problem</a:t>
            </a:r>
          </a:p>
          <a:p>
            <a:pPr marL="1562100" lvl="2" indent="-457200">
              <a:lnSpc>
                <a:spcPct val="85000"/>
              </a:lnSpc>
              <a:spcBef>
                <a:spcPct val="0"/>
              </a:spcBef>
              <a:buNone/>
            </a:pPr>
            <a:r>
              <a:rPr lang="en-US" altLang="en-US" sz="2000" dirty="0">
                <a:solidFill>
                  <a:schemeClr val="hlink"/>
                </a:solidFill>
              </a:rPr>
              <a:t>2.2)</a:t>
            </a:r>
            <a:r>
              <a:rPr lang="en-US" altLang="en-US" sz="2000" dirty="0">
                <a:solidFill>
                  <a:srgbClr val="0000FF"/>
                </a:solidFill>
              </a:rPr>
              <a:t> </a:t>
            </a:r>
            <a:r>
              <a:rPr lang="en-US" altLang="en-US" sz="2000" dirty="0"/>
              <a:t>Trust Model</a:t>
            </a:r>
          </a:p>
          <a:p>
            <a:pPr marL="1562100" lvl="2" indent="-457200">
              <a:lnSpc>
                <a:spcPct val="85000"/>
              </a:lnSpc>
              <a:spcBef>
                <a:spcPct val="0"/>
              </a:spcBef>
              <a:buNone/>
            </a:pPr>
            <a:r>
              <a:rPr lang="en-US" altLang="en-US" sz="2000" dirty="0">
                <a:solidFill>
                  <a:schemeClr val="hlink"/>
                </a:solidFill>
              </a:rPr>
              <a:t>2.3)</a:t>
            </a:r>
            <a:r>
              <a:rPr lang="en-US" altLang="en-US" sz="2000" dirty="0"/>
              <a:t> Challenges</a:t>
            </a:r>
          </a:p>
          <a:p>
            <a:pPr marL="990600" lvl="1" indent="-533400">
              <a:lnSpc>
                <a:spcPct val="85000"/>
              </a:lnSpc>
              <a:spcBef>
                <a:spcPct val="0"/>
              </a:spcBef>
              <a:buClr>
                <a:schemeClr val="folHlink"/>
              </a:buClr>
              <a:buNone/>
            </a:pPr>
            <a:r>
              <a:rPr lang="en-US" altLang="en-US" sz="2000" dirty="0">
                <a:solidFill>
                  <a:srgbClr val="0000FF"/>
                </a:solidFill>
              </a:rPr>
              <a:t>3)</a:t>
            </a:r>
            <a:r>
              <a:rPr lang="en-US" altLang="en-US" sz="2000" dirty="0">
                <a:solidFill>
                  <a:schemeClr val="hlink"/>
                </a:solidFill>
              </a:rPr>
              <a:t> </a:t>
            </a:r>
            <a:r>
              <a:rPr lang="en-US" altLang="en-US" sz="2000" dirty="0"/>
              <a:t> Proposed Approach: Privacy-Preserving Data Dissemination (P2D2) Mechanism</a:t>
            </a:r>
            <a:endParaRPr lang="en-US" altLang="en-US" sz="2400" dirty="0"/>
          </a:p>
          <a:p>
            <a:pPr marL="1562100" lvl="2" indent="-457200">
              <a:lnSpc>
                <a:spcPct val="85000"/>
              </a:lnSpc>
              <a:spcBef>
                <a:spcPct val="0"/>
              </a:spcBef>
              <a:buClr>
                <a:srgbClr val="FF9900"/>
              </a:buClr>
              <a:buNone/>
            </a:pPr>
            <a:r>
              <a:rPr lang="en-US" altLang="en-US" sz="2000" dirty="0">
                <a:solidFill>
                  <a:schemeClr val="hlink"/>
                </a:solidFill>
              </a:rPr>
              <a:t>3.1)</a:t>
            </a:r>
            <a:r>
              <a:rPr lang="en-US" altLang="en-US" sz="2000" dirty="0"/>
              <a:t> Self-descriptive Bundles</a:t>
            </a:r>
            <a:endParaRPr lang="en-US" altLang="en-US" sz="2000" dirty="0">
              <a:solidFill>
                <a:schemeClr val="hlink"/>
              </a:solidFill>
            </a:endParaRPr>
          </a:p>
          <a:p>
            <a:pPr marL="1562100" lvl="2" indent="-457200">
              <a:lnSpc>
                <a:spcPct val="85000"/>
              </a:lnSpc>
              <a:spcBef>
                <a:spcPct val="0"/>
              </a:spcBef>
              <a:buClr>
                <a:srgbClr val="FF9900"/>
              </a:buClr>
              <a:buNone/>
            </a:pPr>
            <a:r>
              <a:rPr lang="en-US" altLang="en-US" sz="2000" dirty="0">
                <a:solidFill>
                  <a:schemeClr val="hlink"/>
                </a:solidFill>
              </a:rPr>
              <a:t>3.2)</a:t>
            </a:r>
            <a:r>
              <a:rPr lang="en-US" altLang="en-US" sz="2000" dirty="0"/>
              <a:t> Apoptosis of Bundles</a:t>
            </a:r>
          </a:p>
          <a:p>
            <a:pPr marL="1562100" lvl="2" indent="-457200">
              <a:lnSpc>
                <a:spcPct val="85000"/>
              </a:lnSpc>
              <a:spcBef>
                <a:spcPct val="0"/>
              </a:spcBef>
              <a:buClr>
                <a:srgbClr val="FF9900"/>
              </a:buClr>
              <a:buNone/>
            </a:pPr>
            <a:r>
              <a:rPr lang="en-US" altLang="en-US" sz="2000" dirty="0">
                <a:solidFill>
                  <a:schemeClr val="hlink"/>
                </a:solidFill>
              </a:rPr>
              <a:t>3.3)</a:t>
            </a:r>
            <a:r>
              <a:rPr lang="en-US" altLang="en-US" sz="2000" dirty="0"/>
              <a:t> Context-sensitive Evaporation of Bundles</a:t>
            </a:r>
          </a:p>
          <a:p>
            <a:pPr marL="990600" lvl="1" indent="-533400">
              <a:lnSpc>
                <a:spcPct val="85000"/>
              </a:lnSpc>
              <a:spcBef>
                <a:spcPct val="0"/>
              </a:spcBef>
              <a:buClr>
                <a:schemeClr val="folHlink"/>
              </a:buClr>
              <a:buNone/>
            </a:pPr>
            <a:r>
              <a:rPr lang="en-US" altLang="en-US" sz="2000" dirty="0">
                <a:solidFill>
                  <a:srgbClr val="0000FF"/>
                </a:solidFill>
              </a:rPr>
              <a:t>4)</a:t>
            </a:r>
            <a:r>
              <a:rPr lang="en-US" altLang="en-US" sz="2000" dirty="0"/>
              <a:t> Prototype Implementation</a:t>
            </a:r>
          </a:p>
          <a:p>
            <a:pPr marL="990600" lvl="1" indent="-533400">
              <a:lnSpc>
                <a:spcPct val="85000"/>
              </a:lnSpc>
              <a:spcBef>
                <a:spcPct val="0"/>
              </a:spcBef>
              <a:buClr>
                <a:schemeClr val="folHlink"/>
              </a:buClr>
              <a:buNone/>
            </a:pPr>
            <a:r>
              <a:rPr lang="en-US" altLang="en-US" sz="2000" dirty="0">
                <a:solidFill>
                  <a:srgbClr val="0000FF"/>
                </a:solidFill>
              </a:rPr>
              <a:t>5)</a:t>
            </a:r>
            <a:r>
              <a:rPr lang="en-US" altLang="en-US" sz="2000" dirty="0"/>
              <a:t> Conclusions</a:t>
            </a:r>
          </a:p>
          <a:p>
            <a:pPr marL="990600" lvl="1" indent="-533400">
              <a:lnSpc>
                <a:spcPct val="85000"/>
              </a:lnSpc>
              <a:spcBef>
                <a:spcPct val="0"/>
              </a:spcBef>
              <a:buClr>
                <a:schemeClr val="folHlink"/>
              </a:buClr>
              <a:buNone/>
            </a:pPr>
            <a:r>
              <a:rPr lang="en-US" altLang="en-US" sz="2000" dirty="0">
                <a:solidFill>
                  <a:srgbClr val="0000FF"/>
                </a:solidFill>
              </a:rPr>
              <a:t>6</a:t>
            </a:r>
            <a:r>
              <a:rPr lang="en-US" altLang="en-US" sz="2000" dirty="0"/>
              <a:t>) Future Work</a:t>
            </a:r>
          </a:p>
        </p:txBody>
      </p:sp>
    </p:spTree>
    <p:extLst>
      <p:ext uri="{BB962C8B-B14F-4D97-AF65-F5344CB8AC3E}">
        <p14:creationId xmlns:p14="http://schemas.microsoft.com/office/powerpoint/2010/main" val="58146891"/>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1586" name="Rectangle 2"/>
          <p:cNvSpPr>
            <a:spLocks noGrp="1" noChangeArrowheads="1"/>
          </p:cNvSpPr>
          <p:nvPr>
            <p:ph type="title"/>
          </p:nvPr>
        </p:nvSpPr>
        <p:spPr>
          <a:xfrm>
            <a:off x="1310062" y="225146"/>
            <a:ext cx="7793037" cy="776287"/>
          </a:xfrm>
        </p:spPr>
        <p:txBody>
          <a:bodyPr>
            <a:normAutofit fontScale="90000"/>
          </a:bodyPr>
          <a:lstStyle/>
          <a:p>
            <a:r>
              <a:rPr lang="en-US" altLang="en-US" dirty="0">
                <a:solidFill>
                  <a:srgbClr val="0000FF"/>
                </a:solidFill>
              </a:rPr>
              <a:t>1) Introduction</a:t>
            </a:r>
            <a:br>
              <a:rPr lang="en-US" altLang="en-US" dirty="0">
                <a:solidFill>
                  <a:srgbClr val="0000FF"/>
                </a:solidFill>
              </a:rPr>
            </a:br>
            <a:r>
              <a:rPr lang="en-US" altLang="en-US" dirty="0">
                <a:solidFill>
                  <a:srgbClr val="0000FF"/>
                </a:solidFill>
              </a:rPr>
              <a:t>1.1) Interactions and Trust</a:t>
            </a:r>
          </a:p>
        </p:txBody>
      </p:sp>
      <p:sp>
        <p:nvSpPr>
          <p:cNvPr id="1731587" name="Rectangle 3"/>
          <p:cNvSpPr>
            <a:spLocks noGrp="1" noChangeArrowheads="1"/>
          </p:cNvSpPr>
          <p:nvPr>
            <p:ph type="body" idx="1"/>
          </p:nvPr>
        </p:nvSpPr>
        <p:spPr>
          <a:xfrm>
            <a:off x="1941514" y="1341438"/>
            <a:ext cx="8726487" cy="5307012"/>
          </a:xfrm>
        </p:spPr>
        <p:txBody>
          <a:bodyPr>
            <a:normAutofit fontScale="92500" lnSpcReduction="10000"/>
          </a:bodyPr>
          <a:lstStyle/>
          <a:p>
            <a:pPr>
              <a:lnSpc>
                <a:spcPct val="80000"/>
              </a:lnSpc>
            </a:pPr>
            <a:r>
              <a:rPr lang="en-US" altLang="en-US" sz="2800"/>
              <a:t>Trust – new paradigm of security</a:t>
            </a:r>
          </a:p>
          <a:p>
            <a:pPr lvl="1">
              <a:lnSpc>
                <a:spcPct val="80000"/>
              </a:lnSpc>
            </a:pPr>
            <a:r>
              <a:rPr lang="en-US" altLang="en-US" sz="2400"/>
              <a:t>Replaces/enhances CIA </a:t>
            </a:r>
            <a:r>
              <a:rPr lang="en-US" altLang="en-US" sz="2400">
                <a:solidFill>
                  <a:srgbClr val="C0C0C0"/>
                </a:solidFill>
              </a:rPr>
              <a:t>(confid./integr./availab.)</a:t>
            </a:r>
          </a:p>
          <a:p>
            <a:pPr>
              <a:lnSpc>
                <a:spcPct val="80000"/>
              </a:lnSpc>
            </a:pPr>
            <a:endParaRPr lang="en-US" altLang="en-US" sz="800">
              <a:solidFill>
                <a:srgbClr val="C0C0C0"/>
              </a:solidFill>
            </a:endParaRPr>
          </a:p>
          <a:p>
            <a:pPr>
              <a:lnSpc>
                <a:spcPct val="80000"/>
              </a:lnSpc>
            </a:pPr>
            <a:r>
              <a:rPr lang="en-US" altLang="en-US" sz="2800"/>
              <a:t>Adequate degree of </a:t>
            </a:r>
            <a:r>
              <a:rPr lang="en-US" altLang="en-US" sz="2800">
                <a:solidFill>
                  <a:schemeClr val="folHlink"/>
                </a:solidFill>
              </a:rPr>
              <a:t>trust </a:t>
            </a:r>
            <a:r>
              <a:rPr lang="en-US" altLang="en-US" sz="2800"/>
              <a:t>required in interactions</a:t>
            </a:r>
            <a:endParaRPr lang="en-US" altLang="en-US" sz="2800">
              <a:solidFill>
                <a:schemeClr val="folHlink"/>
              </a:solidFill>
            </a:endParaRPr>
          </a:p>
          <a:p>
            <a:pPr lvl="1">
              <a:lnSpc>
                <a:spcPct val="80000"/>
              </a:lnSpc>
            </a:pPr>
            <a:r>
              <a:rPr lang="en-US" altLang="en-US" sz="2400"/>
              <a:t>In social or computer-based interactions:</a:t>
            </a:r>
          </a:p>
          <a:p>
            <a:pPr lvl="2">
              <a:lnSpc>
                <a:spcPct val="80000"/>
              </a:lnSpc>
            </a:pPr>
            <a:r>
              <a:rPr lang="en-US" altLang="en-US" sz="2000"/>
              <a:t>From a simple transaction to a complex collaboration</a:t>
            </a:r>
          </a:p>
          <a:p>
            <a:pPr lvl="2">
              <a:lnSpc>
                <a:spcPct val="80000"/>
              </a:lnSpc>
            </a:pPr>
            <a:endParaRPr lang="en-US" altLang="en-US" sz="800"/>
          </a:p>
          <a:p>
            <a:pPr lvl="1">
              <a:lnSpc>
                <a:spcPct val="80000"/>
              </a:lnSpc>
            </a:pPr>
            <a:r>
              <a:rPr lang="en-US" altLang="en-US" sz="2400"/>
              <a:t>Must build up trust w.r.t. interaction partners</a:t>
            </a:r>
          </a:p>
          <a:p>
            <a:pPr lvl="2">
              <a:lnSpc>
                <a:spcPct val="80000"/>
              </a:lnSpc>
            </a:pPr>
            <a:r>
              <a:rPr lang="en-US" altLang="en-US" sz="2000"/>
              <a:t>Human or artificial partners</a:t>
            </a:r>
          </a:p>
          <a:p>
            <a:pPr lvl="2">
              <a:lnSpc>
                <a:spcPct val="80000"/>
              </a:lnSpc>
            </a:pPr>
            <a:r>
              <a:rPr lang="en-US" altLang="en-US" sz="2000"/>
              <a:t>Offline or online</a:t>
            </a:r>
          </a:p>
          <a:p>
            <a:pPr lvl="2">
              <a:lnSpc>
                <a:spcPct val="80000"/>
              </a:lnSpc>
            </a:pPr>
            <a:endParaRPr lang="en-US" altLang="en-US" sz="800"/>
          </a:p>
          <a:p>
            <a:pPr>
              <a:lnSpc>
                <a:spcPct val="80000"/>
              </a:lnSpc>
            </a:pPr>
            <a:r>
              <a:rPr lang="en-US" altLang="en-US" sz="2800"/>
              <a:t>We focus on </a:t>
            </a:r>
            <a:r>
              <a:rPr lang="en-US" altLang="en-US" sz="2800">
                <a:solidFill>
                  <a:schemeClr val="folHlink"/>
                </a:solidFill>
              </a:rPr>
              <a:t>asymmetric trust</a:t>
            </a:r>
            <a:r>
              <a:rPr lang="en-US" altLang="en-US" sz="2800"/>
              <a:t> relationships:</a:t>
            </a:r>
          </a:p>
          <a:p>
            <a:pPr>
              <a:lnSpc>
                <a:spcPct val="80000"/>
              </a:lnSpc>
              <a:buFontTx/>
              <a:buNone/>
            </a:pPr>
            <a:r>
              <a:rPr lang="en-US" altLang="en-US" sz="2800"/>
              <a:t>	One partner is “weaker,” another is “stronger”</a:t>
            </a:r>
          </a:p>
          <a:p>
            <a:pPr lvl="2">
              <a:lnSpc>
                <a:spcPct val="80000"/>
              </a:lnSpc>
            </a:pPr>
            <a:endParaRPr lang="en-US" altLang="en-US" sz="800"/>
          </a:p>
          <a:p>
            <a:pPr lvl="1">
              <a:lnSpc>
                <a:spcPct val="80000"/>
              </a:lnSpc>
            </a:pPr>
            <a:r>
              <a:rPr lang="en-US" altLang="en-US" sz="2400"/>
              <a:t>Ignoring “same-strength” partners:</a:t>
            </a:r>
          </a:p>
          <a:p>
            <a:pPr lvl="2">
              <a:lnSpc>
                <a:spcPct val="80000"/>
              </a:lnSpc>
            </a:pPr>
            <a:r>
              <a:rPr lang="en-US" altLang="en-US" sz="2000"/>
              <a:t>Individual to individual, most B2B, </a:t>
            </a:r>
          </a:p>
        </p:txBody>
      </p:sp>
    </p:spTree>
    <p:extLst>
      <p:ext uri="{BB962C8B-B14F-4D97-AF65-F5344CB8AC3E}">
        <p14:creationId xmlns:p14="http://schemas.microsoft.com/office/powerpoint/2010/main" val="234008705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3634" name="Rectangle 2"/>
          <p:cNvSpPr>
            <a:spLocks noGrp="1" noChangeArrowheads="1"/>
          </p:cNvSpPr>
          <p:nvPr>
            <p:ph type="title"/>
          </p:nvPr>
        </p:nvSpPr>
        <p:spPr>
          <a:xfrm>
            <a:off x="1073057" y="282576"/>
            <a:ext cx="7935912" cy="1098550"/>
          </a:xfrm>
        </p:spPr>
        <p:txBody>
          <a:bodyPr>
            <a:normAutofit fontScale="90000"/>
          </a:bodyPr>
          <a:lstStyle/>
          <a:p>
            <a:pPr>
              <a:lnSpc>
                <a:spcPct val="90000"/>
              </a:lnSpc>
            </a:pPr>
            <a:r>
              <a:rPr lang="en-US" altLang="en-US" dirty="0">
                <a:solidFill>
                  <a:srgbClr val="0000FF"/>
                </a:solidFill>
              </a:rPr>
              <a:t>1.2) Building Trust </a:t>
            </a:r>
            <a:r>
              <a:rPr lang="en-US" altLang="en-US" sz="1600" dirty="0">
                <a:solidFill>
                  <a:srgbClr val="0000FF"/>
                </a:solidFill>
              </a:rPr>
              <a:t>(1)</a:t>
            </a:r>
            <a:br>
              <a:rPr lang="en-US" altLang="en-US" sz="1600" dirty="0">
                <a:solidFill>
                  <a:srgbClr val="0000FF"/>
                </a:solidFill>
              </a:rPr>
            </a:br>
            <a:r>
              <a:rPr lang="en-US" altLang="en-US" dirty="0">
                <a:solidFill>
                  <a:srgbClr val="0000FF"/>
                </a:solidFill>
              </a:rPr>
              <a:t>a) Building Trust By Weaker Partners</a:t>
            </a:r>
            <a:r>
              <a:rPr lang="en-US" altLang="en-US" sz="4000" dirty="0">
                <a:solidFill>
                  <a:schemeClr val="folHlink"/>
                </a:solidFill>
              </a:rPr>
              <a:t> </a:t>
            </a:r>
          </a:p>
        </p:txBody>
      </p:sp>
      <p:sp>
        <p:nvSpPr>
          <p:cNvPr id="1733635" name="Rectangle 3"/>
          <p:cNvSpPr>
            <a:spLocks noGrp="1" noChangeArrowheads="1"/>
          </p:cNvSpPr>
          <p:nvPr>
            <p:ph type="body" idx="1"/>
          </p:nvPr>
        </p:nvSpPr>
        <p:spPr>
          <a:xfrm>
            <a:off x="1532081" y="1355726"/>
            <a:ext cx="8726487" cy="5304382"/>
          </a:xfrm>
        </p:spPr>
        <p:txBody>
          <a:bodyPr>
            <a:normAutofit fontScale="92500" lnSpcReduction="20000"/>
          </a:bodyPr>
          <a:lstStyle/>
          <a:p>
            <a:pPr>
              <a:lnSpc>
                <a:spcPct val="80000"/>
              </a:lnSpc>
            </a:pPr>
            <a:r>
              <a:rPr lang="en-US" altLang="en-US" sz="2400" dirty="0"/>
              <a:t>Means of building trust by weaker partner in his </a:t>
            </a:r>
            <a:r>
              <a:rPr lang="en-US" altLang="en-US" sz="2400" dirty="0" err="1"/>
              <a:t>strongeer</a:t>
            </a:r>
            <a:r>
              <a:rPr lang="en-US" altLang="en-US" sz="2400" dirty="0"/>
              <a:t> </a:t>
            </a:r>
            <a:r>
              <a:rPr lang="en-US" altLang="en-US" sz="2400" dirty="0">
                <a:solidFill>
                  <a:srgbClr val="C0C0C0"/>
                </a:solidFill>
              </a:rPr>
              <a:t>(often institutional)</a:t>
            </a:r>
            <a:r>
              <a:rPr lang="en-US" altLang="en-US" sz="2400" dirty="0"/>
              <a:t> partner </a:t>
            </a:r>
            <a:r>
              <a:rPr lang="en-US" altLang="en-US" sz="2400" dirty="0">
                <a:solidFill>
                  <a:srgbClr val="C0C0C0"/>
                </a:solidFill>
              </a:rPr>
              <a:t>(offline and online)</a:t>
            </a:r>
            <a:r>
              <a:rPr lang="en-US" altLang="en-US" sz="2400" dirty="0"/>
              <a:t>:</a:t>
            </a:r>
          </a:p>
          <a:p>
            <a:pPr lvl="1">
              <a:lnSpc>
                <a:spcPct val="80000"/>
              </a:lnSpc>
            </a:pPr>
            <a:r>
              <a:rPr lang="en-US" altLang="en-US" sz="2000" dirty="0"/>
              <a:t>Ask around</a:t>
            </a:r>
          </a:p>
          <a:p>
            <a:pPr lvl="2">
              <a:lnSpc>
                <a:spcPct val="80000"/>
              </a:lnSpc>
            </a:pPr>
            <a:r>
              <a:rPr lang="en-US" altLang="en-US" sz="1800" dirty="0"/>
              <a:t>Family, friends, co-workers, …</a:t>
            </a:r>
          </a:p>
          <a:p>
            <a:pPr lvl="1">
              <a:lnSpc>
                <a:spcPct val="80000"/>
              </a:lnSpc>
            </a:pPr>
            <a:r>
              <a:rPr lang="en-US" altLang="en-US" sz="2000" dirty="0"/>
              <a:t>Check partner’s history and stated philosophy</a:t>
            </a:r>
          </a:p>
          <a:p>
            <a:pPr lvl="2">
              <a:lnSpc>
                <a:spcPct val="80000"/>
              </a:lnSpc>
            </a:pPr>
            <a:r>
              <a:rPr lang="en-US" altLang="en-US" sz="1800" dirty="0"/>
              <a:t>Accomplishments, failures and associated recoveries, …</a:t>
            </a:r>
          </a:p>
          <a:p>
            <a:pPr lvl="2">
              <a:lnSpc>
                <a:spcPct val="80000"/>
              </a:lnSpc>
            </a:pPr>
            <a:r>
              <a:rPr lang="en-US" altLang="en-US" sz="1800" dirty="0"/>
              <a:t>Mission, goals, policies (incl. privacy policies), …</a:t>
            </a:r>
          </a:p>
          <a:p>
            <a:pPr lvl="1">
              <a:lnSpc>
                <a:spcPct val="80000"/>
              </a:lnSpc>
            </a:pPr>
            <a:r>
              <a:rPr lang="en-US" altLang="en-US" sz="2000" dirty="0"/>
              <a:t>Observe partner’s behavior</a:t>
            </a:r>
          </a:p>
          <a:p>
            <a:pPr lvl="2">
              <a:lnSpc>
                <a:spcPct val="80000"/>
              </a:lnSpc>
            </a:pPr>
            <a:r>
              <a:rPr lang="en-US" altLang="en-US" sz="1800" dirty="0"/>
              <a:t>Trustworthy or not, stable or not, …</a:t>
            </a:r>
          </a:p>
          <a:p>
            <a:pPr lvl="2">
              <a:lnSpc>
                <a:spcPct val="80000"/>
              </a:lnSpc>
            </a:pPr>
            <a:r>
              <a:rPr lang="en-US" altLang="en-US" sz="1800" dirty="0"/>
              <a:t>Problem: Needs time for a fair judgment</a:t>
            </a:r>
          </a:p>
          <a:p>
            <a:pPr lvl="1">
              <a:lnSpc>
                <a:spcPct val="80000"/>
              </a:lnSpc>
            </a:pPr>
            <a:r>
              <a:rPr lang="en-US" altLang="en-US" sz="2000" dirty="0"/>
              <a:t>Check reputation databases</a:t>
            </a:r>
          </a:p>
          <a:p>
            <a:pPr lvl="2">
              <a:lnSpc>
                <a:spcPct val="80000"/>
              </a:lnSpc>
            </a:pPr>
            <a:r>
              <a:rPr lang="en-US" altLang="en-US" sz="1800" dirty="0"/>
              <a:t>Better Business Bureau, consumer advocacy groups, …</a:t>
            </a:r>
          </a:p>
          <a:p>
            <a:pPr lvl="1">
              <a:lnSpc>
                <a:spcPct val="80000"/>
              </a:lnSpc>
            </a:pPr>
            <a:r>
              <a:rPr lang="en-US" altLang="en-US" sz="2000" dirty="0"/>
              <a:t>Verify partner’s credentials</a:t>
            </a:r>
          </a:p>
          <a:p>
            <a:pPr lvl="2">
              <a:lnSpc>
                <a:spcPct val="80000"/>
              </a:lnSpc>
            </a:pPr>
            <a:r>
              <a:rPr lang="en-US" altLang="en-US" sz="1800" dirty="0"/>
              <a:t>Certificates and awards, memberships in trust-building organizations (e.g., BBB), …</a:t>
            </a:r>
          </a:p>
          <a:p>
            <a:pPr lvl="1">
              <a:lnSpc>
                <a:spcPct val="80000"/>
              </a:lnSpc>
            </a:pPr>
            <a:r>
              <a:rPr lang="en-US" altLang="en-US" sz="2000" dirty="0"/>
              <a:t>Protect yourself against partner’s misbehavior</a:t>
            </a:r>
          </a:p>
          <a:p>
            <a:pPr lvl="2">
              <a:lnSpc>
                <a:spcPct val="80000"/>
              </a:lnSpc>
            </a:pPr>
            <a:r>
              <a:rPr lang="en-US" altLang="en-US" sz="1800" dirty="0"/>
              <a:t>Trusted third-party, security deposit, prepayment,, buying insurance, …</a:t>
            </a:r>
          </a:p>
          <a:p>
            <a:pPr lvl="2">
              <a:lnSpc>
                <a:spcPct val="80000"/>
              </a:lnSpc>
              <a:buFontTx/>
              <a:buNone/>
            </a:pPr>
            <a:r>
              <a:rPr lang="en-US" altLang="en-US" sz="1200" dirty="0"/>
              <a:t> </a:t>
            </a:r>
            <a:endParaRPr lang="en-US" altLang="en-US" sz="1800" dirty="0"/>
          </a:p>
        </p:txBody>
      </p:sp>
    </p:spTree>
    <p:extLst>
      <p:ext uri="{BB962C8B-B14F-4D97-AF65-F5344CB8AC3E}">
        <p14:creationId xmlns:p14="http://schemas.microsoft.com/office/powerpoint/2010/main" val="1223365821"/>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5682" name="Rectangle 2"/>
          <p:cNvSpPr>
            <a:spLocks noGrp="1" noChangeArrowheads="1"/>
          </p:cNvSpPr>
          <p:nvPr>
            <p:ph type="title"/>
          </p:nvPr>
        </p:nvSpPr>
        <p:spPr>
          <a:xfrm>
            <a:off x="1575735" y="201706"/>
            <a:ext cx="8137525" cy="1047750"/>
          </a:xfrm>
        </p:spPr>
        <p:txBody>
          <a:bodyPr>
            <a:normAutofit fontScale="90000"/>
          </a:bodyPr>
          <a:lstStyle/>
          <a:p>
            <a:pPr>
              <a:lnSpc>
                <a:spcPct val="90000"/>
              </a:lnSpc>
            </a:pPr>
            <a:r>
              <a:rPr lang="en-US" altLang="en-US" sz="2000">
                <a:solidFill>
                  <a:srgbClr val="0000FF"/>
                </a:solidFill>
              </a:rPr>
              <a:t>1.2) Building Trust</a:t>
            </a:r>
            <a:r>
              <a:rPr lang="en-US" altLang="en-US">
                <a:solidFill>
                  <a:srgbClr val="0000FF"/>
                </a:solidFill>
              </a:rPr>
              <a:t> </a:t>
            </a:r>
            <a:r>
              <a:rPr lang="en-US" altLang="en-US" sz="1600">
                <a:solidFill>
                  <a:srgbClr val="0000FF"/>
                </a:solidFill>
              </a:rPr>
              <a:t>(2)</a:t>
            </a:r>
            <a:r>
              <a:rPr lang="en-US" altLang="en-US" sz="4000">
                <a:solidFill>
                  <a:schemeClr val="folHlink"/>
                </a:solidFill>
              </a:rPr>
              <a:t> </a:t>
            </a:r>
            <a:br>
              <a:rPr lang="en-US" altLang="en-US" sz="4000">
                <a:solidFill>
                  <a:schemeClr val="folHlink"/>
                </a:solidFill>
              </a:rPr>
            </a:br>
            <a:r>
              <a:rPr lang="en-US" altLang="en-US">
                <a:solidFill>
                  <a:srgbClr val="0000FF"/>
                </a:solidFill>
              </a:rPr>
              <a:t>b) Building Trust by Stronger Partners</a:t>
            </a:r>
          </a:p>
        </p:txBody>
      </p:sp>
      <p:sp>
        <p:nvSpPr>
          <p:cNvPr id="1735683" name="Rectangle 3"/>
          <p:cNvSpPr>
            <a:spLocks noGrp="1" noChangeArrowheads="1"/>
          </p:cNvSpPr>
          <p:nvPr>
            <p:ph type="body" idx="1"/>
          </p:nvPr>
        </p:nvSpPr>
        <p:spPr>
          <a:xfrm>
            <a:off x="1791389" y="1332148"/>
            <a:ext cx="8726487" cy="5451475"/>
          </a:xfrm>
        </p:spPr>
        <p:txBody>
          <a:bodyPr/>
          <a:lstStyle/>
          <a:p>
            <a:pPr>
              <a:lnSpc>
                <a:spcPct val="90000"/>
              </a:lnSpc>
            </a:pPr>
            <a:r>
              <a:rPr lang="en-US" altLang="en-US" sz="2400" dirty="0"/>
              <a:t>Means of building trust by stronger partner in her weaker </a:t>
            </a:r>
            <a:r>
              <a:rPr lang="en-US" altLang="en-US" sz="2400" dirty="0">
                <a:solidFill>
                  <a:srgbClr val="C0C0C0"/>
                </a:solidFill>
              </a:rPr>
              <a:t>(often individual)</a:t>
            </a:r>
            <a:r>
              <a:rPr lang="en-US" altLang="en-US" sz="2400" dirty="0"/>
              <a:t> partner </a:t>
            </a:r>
            <a:r>
              <a:rPr lang="en-US" altLang="en-US" sz="2400" dirty="0">
                <a:solidFill>
                  <a:srgbClr val="C0C0C0"/>
                </a:solidFill>
              </a:rPr>
              <a:t>(offline and online)</a:t>
            </a:r>
            <a:r>
              <a:rPr lang="en-US" altLang="en-US" sz="2400" dirty="0"/>
              <a:t>:</a:t>
            </a:r>
          </a:p>
          <a:p>
            <a:pPr lvl="1">
              <a:lnSpc>
                <a:spcPct val="90000"/>
              </a:lnSpc>
            </a:pPr>
            <a:r>
              <a:rPr lang="en-US" altLang="en-US" sz="2000" dirty="0">
                <a:solidFill>
                  <a:srgbClr val="969696"/>
                </a:solidFill>
              </a:rPr>
              <a:t>Business asks customer for a </a:t>
            </a:r>
            <a:r>
              <a:rPr lang="en-US" altLang="en-US" sz="2000" i="1" dirty="0">
                <a:solidFill>
                  <a:srgbClr val="969696"/>
                </a:solidFill>
              </a:rPr>
              <a:t>payment</a:t>
            </a:r>
            <a:r>
              <a:rPr lang="en-US" altLang="en-US" sz="2000" dirty="0">
                <a:solidFill>
                  <a:srgbClr val="969696"/>
                </a:solidFill>
              </a:rPr>
              <a:t> for goods or services</a:t>
            </a:r>
          </a:p>
          <a:p>
            <a:pPr lvl="1">
              <a:lnSpc>
                <a:spcPct val="90000"/>
              </a:lnSpc>
            </a:pPr>
            <a:r>
              <a:rPr lang="en-US" altLang="en-US" sz="2000" dirty="0"/>
              <a:t>Bank asks for private information </a:t>
            </a:r>
          </a:p>
          <a:p>
            <a:pPr lvl="1">
              <a:lnSpc>
                <a:spcPct val="90000"/>
              </a:lnSpc>
            </a:pPr>
            <a:r>
              <a:rPr lang="en-US" altLang="en-US" sz="2000" dirty="0"/>
              <a:t>Mortgage broker checks applicant’s credit history </a:t>
            </a:r>
          </a:p>
          <a:p>
            <a:pPr lvl="1">
              <a:lnSpc>
                <a:spcPct val="90000"/>
              </a:lnSpc>
            </a:pPr>
            <a:r>
              <a:rPr lang="en-US" altLang="en-US" sz="2000" dirty="0"/>
              <a:t>Authorization subsystem on a computer observes partner’s behavior</a:t>
            </a:r>
          </a:p>
          <a:p>
            <a:pPr lvl="2">
              <a:lnSpc>
                <a:spcPct val="90000"/>
              </a:lnSpc>
            </a:pPr>
            <a:r>
              <a:rPr lang="en-US" altLang="en-US" sz="1800" dirty="0"/>
              <a:t>Trustworthy or not, stable or not, …</a:t>
            </a:r>
          </a:p>
          <a:p>
            <a:pPr lvl="2">
              <a:lnSpc>
                <a:spcPct val="90000"/>
              </a:lnSpc>
            </a:pPr>
            <a:r>
              <a:rPr lang="en-US" altLang="en-US" sz="1800" dirty="0"/>
              <a:t>Problem: Needs time for a fair judgment</a:t>
            </a:r>
          </a:p>
          <a:p>
            <a:pPr lvl="1">
              <a:lnSpc>
                <a:spcPct val="90000"/>
              </a:lnSpc>
            </a:pPr>
            <a:r>
              <a:rPr lang="en-US" altLang="en-US" sz="2000" dirty="0"/>
              <a:t>Computerized trading system checks reputation databases</a:t>
            </a:r>
          </a:p>
          <a:p>
            <a:pPr lvl="2">
              <a:lnSpc>
                <a:spcPct val="90000"/>
              </a:lnSpc>
            </a:pPr>
            <a:r>
              <a:rPr lang="en-US" altLang="en-US" sz="1800" dirty="0"/>
              <a:t>e-Bay, PayPal, …</a:t>
            </a:r>
          </a:p>
          <a:p>
            <a:pPr lvl="1">
              <a:lnSpc>
                <a:spcPct val="90000"/>
              </a:lnSpc>
            </a:pPr>
            <a:r>
              <a:rPr lang="en-US" altLang="en-US" sz="2000" dirty="0"/>
              <a:t>Computer system verifies user’s digital credentials</a:t>
            </a:r>
          </a:p>
          <a:p>
            <a:pPr lvl="2">
              <a:lnSpc>
                <a:spcPct val="90000"/>
              </a:lnSpc>
            </a:pPr>
            <a:r>
              <a:rPr lang="en-US" altLang="en-US" sz="1800" dirty="0"/>
              <a:t>Passwords, magnetic and chip cards, biometrics, …</a:t>
            </a:r>
          </a:p>
          <a:p>
            <a:pPr lvl="1">
              <a:lnSpc>
                <a:spcPct val="90000"/>
              </a:lnSpc>
            </a:pPr>
            <a:r>
              <a:rPr lang="en-US" altLang="en-US" sz="2000" dirty="0"/>
              <a:t>Business protects itself against customer’s misbehavior</a:t>
            </a:r>
          </a:p>
          <a:p>
            <a:pPr lvl="2">
              <a:lnSpc>
                <a:spcPct val="90000"/>
              </a:lnSpc>
            </a:pPr>
            <a:r>
              <a:rPr lang="en-US" altLang="en-US" sz="1800" dirty="0"/>
              <a:t>Trusted third-party, security deposit, prepayment,, buying insurance, …</a:t>
            </a:r>
          </a:p>
          <a:p>
            <a:pPr lvl="3">
              <a:lnSpc>
                <a:spcPct val="90000"/>
              </a:lnSpc>
            </a:pPr>
            <a:endParaRPr lang="en-US" altLang="en-US" sz="1600" dirty="0"/>
          </a:p>
        </p:txBody>
      </p:sp>
    </p:spTree>
    <p:extLst>
      <p:ext uri="{BB962C8B-B14F-4D97-AF65-F5344CB8AC3E}">
        <p14:creationId xmlns:p14="http://schemas.microsoft.com/office/powerpoint/2010/main" val="3224565026"/>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7730" name="Rectangle 2"/>
          <p:cNvSpPr>
            <a:spLocks noGrp="1" noChangeArrowheads="1"/>
          </p:cNvSpPr>
          <p:nvPr>
            <p:ph type="title"/>
          </p:nvPr>
        </p:nvSpPr>
        <p:spPr>
          <a:xfrm>
            <a:off x="1816660" y="161365"/>
            <a:ext cx="7918450" cy="1174750"/>
          </a:xfrm>
        </p:spPr>
        <p:txBody>
          <a:bodyPr>
            <a:normAutofit fontScale="90000"/>
          </a:bodyPr>
          <a:lstStyle/>
          <a:p>
            <a:r>
              <a:rPr lang="en-US" altLang="en-US" dirty="0">
                <a:solidFill>
                  <a:srgbClr val="0000FF"/>
                </a:solidFill>
              </a:rPr>
              <a:t>1.3) Trading Weaker Partner’s Privacy Loss for Stronger Partner’s Trust Gain</a:t>
            </a:r>
          </a:p>
        </p:txBody>
      </p:sp>
      <p:sp>
        <p:nvSpPr>
          <p:cNvPr id="1737731" name="Rectangle 3"/>
          <p:cNvSpPr>
            <a:spLocks noGrp="1" noChangeArrowheads="1"/>
          </p:cNvSpPr>
          <p:nvPr>
            <p:ph type="body" idx="1"/>
          </p:nvPr>
        </p:nvSpPr>
        <p:spPr>
          <a:xfrm>
            <a:off x="1941514" y="1508126"/>
            <a:ext cx="8726487" cy="5256213"/>
          </a:xfrm>
        </p:spPr>
        <p:txBody>
          <a:bodyPr>
            <a:normAutofit lnSpcReduction="10000"/>
          </a:bodyPr>
          <a:lstStyle/>
          <a:p>
            <a:pPr marL="509588" indent="-509588">
              <a:lnSpc>
                <a:spcPct val="90000"/>
              </a:lnSpc>
              <a:tabLst>
                <a:tab pos="5538788" algn="l"/>
              </a:tabLst>
            </a:pPr>
            <a:r>
              <a:rPr lang="en-US" altLang="en-US" sz="2800"/>
              <a:t>In all examples of Building Trust by Stronger Partners but the first </a:t>
            </a:r>
            <a:r>
              <a:rPr lang="en-US" altLang="en-US" sz="2800">
                <a:solidFill>
                  <a:srgbClr val="969696"/>
                </a:solidFill>
              </a:rPr>
              <a:t>(payments)</a:t>
            </a:r>
            <a:r>
              <a:rPr lang="en-US" altLang="en-US" sz="2800"/>
              <a:t>:</a:t>
            </a:r>
          </a:p>
          <a:p>
            <a:pPr marL="509588" indent="-509588">
              <a:lnSpc>
                <a:spcPct val="90000"/>
              </a:lnSpc>
              <a:buNone/>
              <a:tabLst>
                <a:tab pos="5538788" algn="l"/>
              </a:tabLst>
            </a:pPr>
            <a:r>
              <a:rPr lang="en-US" altLang="en-US" sz="2800"/>
              <a:t>	Weaker partner </a:t>
            </a:r>
            <a:r>
              <a:rPr lang="en-US" altLang="en-US" sz="2800">
                <a:solidFill>
                  <a:schemeClr val="folHlink"/>
                </a:solidFill>
              </a:rPr>
              <a:t>trades </a:t>
            </a:r>
            <a:r>
              <a:rPr lang="en-US" altLang="en-US" sz="2800"/>
              <a:t>his</a:t>
            </a:r>
            <a:r>
              <a:rPr lang="en-US" altLang="en-US" sz="2800">
                <a:solidFill>
                  <a:schemeClr val="folHlink"/>
                </a:solidFill>
              </a:rPr>
              <a:t> privacy loss for </a:t>
            </a:r>
            <a:r>
              <a:rPr lang="en-US" altLang="en-US" sz="2800"/>
              <a:t>his</a:t>
            </a:r>
            <a:r>
              <a:rPr lang="en-US" altLang="en-US" sz="2800">
                <a:solidFill>
                  <a:schemeClr val="folHlink"/>
                </a:solidFill>
              </a:rPr>
              <a:t> trust gain</a:t>
            </a:r>
            <a:r>
              <a:rPr lang="en-US" altLang="en-US" sz="2800"/>
              <a:t> as perceived by stronger partner </a:t>
            </a:r>
          </a:p>
          <a:p>
            <a:pPr marL="509588" indent="-509588">
              <a:lnSpc>
                <a:spcPct val="90000"/>
              </a:lnSpc>
              <a:tabLst>
                <a:tab pos="5538788" algn="l"/>
              </a:tabLst>
            </a:pPr>
            <a:endParaRPr lang="en-US" altLang="en-US"/>
          </a:p>
          <a:p>
            <a:pPr marL="509588" indent="-509588">
              <a:lnSpc>
                <a:spcPct val="90000"/>
              </a:lnSpc>
              <a:tabLst>
                <a:tab pos="5538788" algn="l"/>
              </a:tabLst>
            </a:pPr>
            <a:r>
              <a:rPr lang="en-US" altLang="en-US" sz="2800"/>
              <a:t>Approach to trading privacy for trust:</a:t>
            </a:r>
          </a:p>
          <a:p>
            <a:pPr marL="509588" indent="-509588">
              <a:lnSpc>
                <a:spcPct val="90000"/>
              </a:lnSpc>
              <a:spcBef>
                <a:spcPct val="0"/>
              </a:spcBef>
              <a:buNone/>
              <a:tabLst>
                <a:tab pos="5538788" algn="l"/>
              </a:tabLst>
            </a:pPr>
            <a:r>
              <a:rPr lang="en-US" altLang="en-US" sz="1600"/>
              <a:t>		</a:t>
            </a:r>
            <a:r>
              <a:rPr lang="en-US" altLang="en-US" sz="1200"/>
              <a:t>[Zhong and Bhargava, Purdue]</a:t>
            </a:r>
          </a:p>
          <a:p>
            <a:pPr marL="1222375" lvl="1" indent="-533400">
              <a:lnSpc>
                <a:spcPct val="90000"/>
              </a:lnSpc>
              <a:buFont typeface="Wingdings" panose="05000000000000000000" pitchFamily="2" charset="2"/>
              <a:buChar char="§"/>
              <a:tabLst>
                <a:tab pos="5538788" algn="l"/>
              </a:tabLst>
            </a:pPr>
            <a:r>
              <a:rPr lang="en-US" altLang="en-US" sz="2400"/>
              <a:t>Formalize the privacy-trust tradeoff problem</a:t>
            </a:r>
          </a:p>
          <a:p>
            <a:pPr marL="1222375" lvl="1" indent="-533400">
              <a:lnSpc>
                <a:spcPct val="90000"/>
              </a:lnSpc>
              <a:buFont typeface="Wingdings" panose="05000000000000000000" pitchFamily="2" charset="2"/>
              <a:buChar char="§"/>
              <a:tabLst>
                <a:tab pos="5538788" algn="l"/>
              </a:tabLst>
            </a:pPr>
            <a:r>
              <a:rPr lang="en-US" altLang="en-US" sz="2400"/>
              <a:t>Estimate </a:t>
            </a:r>
            <a:r>
              <a:rPr lang="en-US" altLang="en-US" sz="2400" i="1"/>
              <a:t>privacy loss</a:t>
            </a:r>
            <a:r>
              <a:rPr lang="en-US" altLang="en-US" sz="2400"/>
              <a:t> due to disclosing a credential set</a:t>
            </a:r>
          </a:p>
          <a:p>
            <a:pPr marL="1222375" lvl="1" indent="-533400">
              <a:lnSpc>
                <a:spcPct val="90000"/>
              </a:lnSpc>
              <a:buFont typeface="Wingdings" panose="05000000000000000000" pitchFamily="2" charset="2"/>
              <a:buChar char="§"/>
              <a:tabLst>
                <a:tab pos="5538788" algn="l"/>
              </a:tabLst>
            </a:pPr>
            <a:r>
              <a:rPr lang="en-US" altLang="en-US" sz="2400"/>
              <a:t>Estimate </a:t>
            </a:r>
            <a:r>
              <a:rPr lang="en-US" altLang="en-US" sz="2400" i="1"/>
              <a:t>trust gain</a:t>
            </a:r>
            <a:r>
              <a:rPr lang="en-US" altLang="en-US" sz="2400"/>
              <a:t> due to disclosing a credential set</a:t>
            </a:r>
          </a:p>
          <a:p>
            <a:pPr marL="1222375" lvl="1" indent="-533400">
              <a:lnSpc>
                <a:spcPct val="90000"/>
              </a:lnSpc>
              <a:buFont typeface="Wingdings" panose="05000000000000000000" pitchFamily="2" charset="2"/>
              <a:buChar char="§"/>
              <a:tabLst>
                <a:tab pos="5538788" algn="l"/>
              </a:tabLst>
            </a:pPr>
            <a:r>
              <a:rPr lang="en-US" altLang="en-US" sz="2400"/>
              <a:t>Develop </a:t>
            </a:r>
            <a:r>
              <a:rPr lang="en-US" altLang="en-US" sz="2400">
                <a:solidFill>
                  <a:schemeClr val="folHlink"/>
                </a:solidFill>
              </a:rPr>
              <a:t>algorithms that </a:t>
            </a:r>
            <a:r>
              <a:rPr lang="en-US" altLang="en-US" sz="2400" i="1">
                <a:solidFill>
                  <a:schemeClr val="folHlink"/>
                </a:solidFill>
              </a:rPr>
              <a:t>minimize privacy loss</a:t>
            </a:r>
            <a:r>
              <a:rPr lang="en-US" altLang="en-US" sz="2400">
                <a:solidFill>
                  <a:schemeClr val="folHlink"/>
                </a:solidFill>
              </a:rPr>
              <a:t> for required trust gain</a:t>
            </a:r>
            <a:endParaRPr lang="en-US" altLang="en-US" sz="800">
              <a:solidFill>
                <a:schemeClr val="folHlink"/>
              </a:solidFill>
            </a:endParaRPr>
          </a:p>
          <a:p>
            <a:pPr marL="1793875" lvl="2" indent="-457200">
              <a:lnSpc>
                <a:spcPct val="90000"/>
              </a:lnSpc>
              <a:tabLst>
                <a:tab pos="5538788" algn="l"/>
              </a:tabLst>
            </a:pPr>
            <a:r>
              <a:rPr lang="en-US" altLang="en-US" sz="2000"/>
              <a:t>Bec. nobody likes loosing more privacy than necessary</a:t>
            </a:r>
          </a:p>
        </p:txBody>
      </p:sp>
    </p:spTree>
    <p:extLst>
      <p:ext uri="{BB962C8B-B14F-4D97-AF65-F5344CB8AC3E}">
        <p14:creationId xmlns:p14="http://schemas.microsoft.com/office/powerpoint/2010/main" val="3935698837"/>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9778" name="Rectangle 2"/>
          <p:cNvSpPr>
            <a:spLocks noGrp="1" noChangeArrowheads="1"/>
          </p:cNvSpPr>
          <p:nvPr>
            <p:ph type="title"/>
          </p:nvPr>
        </p:nvSpPr>
        <p:spPr>
          <a:xfrm>
            <a:off x="1498321" y="219076"/>
            <a:ext cx="7793037" cy="1187450"/>
          </a:xfrm>
        </p:spPr>
        <p:txBody>
          <a:bodyPr>
            <a:normAutofit fontScale="90000"/>
          </a:bodyPr>
          <a:lstStyle/>
          <a:p>
            <a:r>
              <a:rPr lang="en-US" altLang="en-US" dirty="0">
                <a:solidFill>
                  <a:srgbClr val="0000FF"/>
                </a:solidFill>
              </a:rPr>
              <a:t>1.4) Privacy-Trust Tradeoff and</a:t>
            </a:r>
            <a:br>
              <a:rPr lang="en-US" altLang="en-US" dirty="0">
                <a:solidFill>
                  <a:srgbClr val="0000FF"/>
                </a:solidFill>
              </a:rPr>
            </a:br>
            <a:r>
              <a:rPr lang="en-US" altLang="en-US" dirty="0">
                <a:solidFill>
                  <a:srgbClr val="0000FF"/>
                </a:solidFill>
              </a:rPr>
              <a:t>Dissemination of Private Data</a:t>
            </a:r>
          </a:p>
        </p:txBody>
      </p:sp>
      <p:sp>
        <p:nvSpPr>
          <p:cNvPr id="1739779" name="Rectangle 3"/>
          <p:cNvSpPr>
            <a:spLocks noGrp="1" noChangeArrowheads="1"/>
          </p:cNvSpPr>
          <p:nvPr>
            <p:ph type="body" idx="1"/>
          </p:nvPr>
        </p:nvSpPr>
        <p:spPr>
          <a:xfrm>
            <a:off x="1941514" y="1406526"/>
            <a:ext cx="8726487" cy="5451475"/>
          </a:xfrm>
        </p:spPr>
        <p:txBody>
          <a:bodyPr>
            <a:normAutofit fontScale="92500" lnSpcReduction="20000"/>
          </a:bodyPr>
          <a:lstStyle/>
          <a:p>
            <a:pPr>
              <a:lnSpc>
                <a:spcPct val="80000"/>
              </a:lnSpc>
            </a:pPr>
            <a:r>
              <a:rPr lang="en-US" altLang="en-US" sz="2400" dirty="0"/>
              <a:t>Dissemination of private data</a:t>
            </a:r>
          </a:p>
          <a:p>
            <a:pPr lvl="1">
              <a:lnSpc>
                <a:spcPct val="80000"/>
              </a:lnSpc>
            </a:pPr>
            <a:r>
              <a:rPr lang="en-US" altLang="en-US" sz="2000" dirty="0"/>
              <a:t>Related to trading privacy for trust:</a:t>
            </a:r>
          </a:p>
          <a:p>
            <a:pPr lvl="2">
              <a:lnSpc>
                <a:spcPct val="80000"/>
              </a:lnSpc>
            </a:pPr>
            <a:r>
              <a:rPr lang="en-US" altLang="en-US" sz="1800" dirty="0"/>
              <a:t>Examples above</a:t>
            </a:r>
          </a:p>
          <a:p>
            <a:pPr lvl="2">
              <a:lnSpc>
                <a:spcPct val="80000"/>
              </a:lnSpc>
            </a:pPr>
            <a:endParaRPr lang="en-US" altLang="en-US" sz="800" u="sng" dirty="0"/>
          </a:p>
          <a:p>
            <a:pPr lvl="1">
              <a:lnSpc>
                <a:spcPct val="80000"/>
              </a:lnSpc>
            </a:pPr>
            <a:r>
              <a:rPr lang="en-US" altLang="en-US" sz="2000" i="1" dirty="0"/>
              <a:t>Not</a:t>
            </a:r>
            <a:r>
              <a:rPr lang="en-US" altLang="en-US" sz="2000" dirty="0"/>
              <a:t> related to trading privacy for trust:</a:t>
            </a:r>
          </a:p>
          <a:p>
            <a:pPr lvl="2">
              <a:lnSpc>
                <a:spcPct val="80000"/>
              </a:lnSpc>
            </a:pPr>
            <a:r>
              <a:rPr lang="en-US" altLang="en-US" sz="1800" dirty="0"/>
              <a:t>Medical records</a:t>
            </a:r>
          </a:p>
          <a:p>
            <a:pPr lvl="2">
              <a:lnSpc>
                <a:spcPct val="80000"/>
              </a:lnSpc>
            </a:pPr>
            <a:r>
              <a:rPr lang="en-US" altLang="en-US" sz="1800" dirty="0"/>
              <a:t>Research data</a:t>
            </a:r>
          </a:p>
          <a:p>
            <a:pPr lvl="2">
              <a:lnSpc>
                <a:spcPct val="80000"/>
              </a:lnSpc>
            </a:pPr>
            <a:r>
              <a:rPr lang="en-US" altLang="en-US" sz="1800" dirty="0"/>
              <a:t>Tax returns</a:t>
            </a:r>
          </a:p>
          <a:p>
            <a:pPr lvl="2">
              <a:lnSpc>
                <a:spcPct val="80000"/>
              </a:lnSpc>
            </a:pPr>
            <a:r>
              <a:rPr lang="en-US" altLang="en-US" sz="1800" dirty="0"/>
              <a:t>…</a:t>
            </a:r>
          </a:p>
          <a:p>
            <a:pPr lvl="1">
              <a:lnSpc>
                <a:spcPct val="80000"/>
              </a:lnSpc>
            </a:pPr>
            <a:endParaRPr lang="en-US" altLang="en-US" sz="1000" dirty="0">
              <a:solidFill>
                <a:schemeClr val="tx2"/>
              </a:solidFill>
            </a:endParaRPr>
          </a:p>
          <a:p>
            <a:pPr>
              <a:lnSpc>
                <a:spcPct val="80000"/>
              </a:lnSpc>
            </a:pPr>
            <a:r>
              <a:rPr lang="en-US" altLang="en-US" sz="2400" dirty="0">
                <a:solidFill>
                  <a:schemeClr val="tx2"/>
                </a:solidFill>
              </a:rPr>
              <a:t>Private data dissemination can be:</a:t>
            </a:r>
          </a:p>
          <a:p>
            <a:pPr lvl="1">
              <a:lnSpc>
                <a:spcPct val="80000"/>
              </a:lnSpc>
            </a:pPr>
            <a:r>
              <a:rPr lang="en-US" altLang="en-US" sz="2000" dirty="0">
                <a:solidFill>
                  <a:schemeClr val="tx2"/>
                </a:solidFill>
              </a:rPr>
              <a:t>Voluntary</a:t>
            </a:r>
          </a:p>
          <a:p>
            <a:pPr lvl="2">
              <a:lnSpc>
                <a:spcPct val="80000"/>
              </a:lnSpc>
            </a:pPr>
            <a:r>
              <a:rPr lang="en-US" altLang="en-US" sz="1800" dirty="0">
                <a:solidFill>
                  <a:schemeClr val="tx2"/>
                </a:solidFill>
              </a:rPr>
              <a:t>When there’s a sufficient competition for services or goods</a:t>
            </a:r>
          </a:p>
          <a:p>
            <a:pPr lvl="1">
              <a:lnSpc>
                <a:spcPct val="80000"/>
              </a:lnSpc>
            </a:pPr>
            <a:r>
              <a:rPr lang="en-US" altLang="en-US" sz="2000" dirty="0">
                <a:solidFill>
                  <a:schemeClr val="tx2"/>
                </a:solidFill>
              </a:rPr>
              <a:t>Pseudo-voluntary</a:t>
            </a:r>
          </a:p>
          <a:p>
            <a:pPr lvl="2">
              <a:lnSpc>
                <a:spcPct val="80000"/>
              </a:lnSpc>
            </a:pPr>
            <a:r>
              <a:rPr lang="en-US" altLang="en-US" sz="1800" dirty="0">
                <a:solidFill>
                  <a:schemeClr val="tx2"/>
                </a:solidFill>
              </a:rPr>
              <a:t>Free to decline… and loose service</a:t>
            </a:r>
          </a:p>
          <a:p>
            <a:pPr lvl="3">
              <a:lnSpc>
                <a:spcPct val="80000"/>
              </a:lnSpc>
            </a:pPr>
            <a:r>
              <a:rPr lang="en-US" altLang="en-US" sz="1600" dirty="0">
                <a:solidFill>
                  <a:schemeClr val="tx2"/>
                </a:solidFill>
              </a:rPr>
              <a:t>E.g. a monopoly or demand exceeding supply)</a:t>
            </a:r>
          </a:p>
          <a:p>
            <a:pPr lvl="1">
              <a:lnSpc>
                <a:spcPct val="80000"/>
              </a:lnSpc>
            </a:pPr>
            <a:r>
              <a:rPr lang="en-US" altLang="en-US" sz="2000" dirty="0">
                <a:solidFill>
                  <a:schemeClr val="tx2"/>
                </a:solidFill>
              </a:rPr>
              <a:t>Mandatory</a:t>
            </a:r>
          </a:p>
          <a:p>
            <a:pPr lvl="2">
              <a:lnSpc>
                <a:spcPct val="80000"/>
              </a:lnSpc>
            </a:pPr>
            <a:r>
              <a:rPr lang="en-US" altLang="en-US" sz="1800" dirty="0">
                <a:solidFill>
                  <a:schemeClr val="tx2"/>
                </a:solidFill>
              </a:rPr>
              <a:t>Required by law, policies, bylaws, rules, etc.</a:t>
            </a:r>
          </a:p>
          <a:p>
            <a:pPr lvl="2">
              <a:lnSpc>
                <a:spcPct val="80000"/>
              </a:lnSpc>
            </a:pPr>
            <a:endParaRPr lang="en-US" altLang="en-US" sz="1800" dirty="0">
              <a:solidFill>
                <a:srgbClr val="C0C0C0"/>
              </a:solidFill>
            </a:endParaRPr>
          </a:p>
        </p:txBody>
      </p:sp>
    </p:spTree>
    <p:extLst>
      <p:ext uri="{BB962C8B-B14F-4D97-AF65-F5344CB8AC3E}">
        <p14:creationId xmlns:p14="http://schemas.microsoft.com/office/powerpoint/2010/main" val="619729322"/>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26" name="Rectangle 2"/>
          <p:cNvSpPr>
            <a:spLocks noGrp="1" noChangeArrowheads="1"/>
          </p:cNvSpPr>
          <p:nvPr>
            <p:ph type="title"/>
          </p:nvPr>
        </p:nvSpPr>
        <p:spPr>
          <a:xfrm>
            <a:off x="1686581" y="229535"/>
            <a:ext cx="7793037" cy="1136650"/>
          </a:xfrm>
        </p:spPr>
        <p:txBody>
          <a:bodyPr>
            <a:normAutofit fontScale="90000"/>
          </a:bodyPr>
          <a:lstStyle/>
          <a:p>
            <a:r>
              <a:rPr lang="en-US" altLang="en-US" dirty="0">
                <a:solidFill>
                  <a:srgbClr val="0070C0"/>
                </a:solidFill>
              </a:rPr>
              <a:t>Dissemination of Private Data</a:t>
            </a:r>
            <a:br>
              <a:rPr lang="en-US" altLang="en-US" dirty="0">
                <a:solidFill>
                  <a:srgbClr val="0070C0"/>
                </a:solidFill>
              </a:rPr>
            </a:br>
            <a:r>
              <a:rPr lang="en-US" altLang="en-US" dirty="0">
                <a:solidFill>
                  <a:srgbClr val="0070C0"/>
                </a:solidFill>
              </a:rPr>
              <a:t>is Critical</a:t>
            </a:r>
          </a:p>
        </p:txBody>
      </p:sp>
      <p:sp>
        <p:nvSpPr>
          <p:cNvPr id="1741827" name="Rectangle 3"/>
          <p:cNvSpPr>
            <a:spLocks noGrp="1" noChangeArrowheads="1"/>
          </p:cNvSpPr>
          <p:nvPr>
            <p:ph type="body" idx="1"/>
          </p:nvPr>
        </p:nvSpPr>
        <p:spPr>
          <a:xfrm>
            <a:off x="1941514" y="1406526"/>
            <a:ext cx="8726487" cy="5451475"/>
          </a:xfrm>
        </p:spPr>
        <p:txBody>
          <a:bodyPr>
            <a:normAutofit fontScale="92500" lnSpcReduction="10000"/>
          </a:bodyPr>
          <a:lstStyle/>
          <a:p>
            <a:pPr>
              <a:lnSpc>
                <a:spcPct val="90000"/>
              </a:lnSpc>
            </a:pPr>
            <a:r>
              <a:rPr lang="en-US" altLang="en-US" sz="2400" dirty="0"/>
              <a:t>Reasons:</a:t>
            </a:r>
            <a:endParaRPr lang="en-US" altLang="en-US" sz="1000" dirty="0"/>
          </a:p>
          <a:p>
            <a:pPr marL="747713" lvl="1" indent="-290513">
              <a:lnSpc>
                <a:spcPct val="90000"/>
              </a:lnSpc>
            </a:pPr>
            <a:r>
              <a:rPr lang="en-US" altLang="en-US" sz="2000" dirty="0"/>
              <a:t>Fears/threats of privacy violations reduce trust</a:t>
            </a:r>
          </a:p>
          <a:p>
            <a:pPr marL="747713" lvl="1" indent="-290513">
              <a:lnSpc>
                <a:spcPct val="90000"/>
              </a:lnSpc>
            </a:pPr>
            <a:r>
              <a:rPr lang="en-US" altLang="en-US" sz="2000" dirty="0"/>
              <a:t>Reduced trust leads to restrictions on interactions </a:t>
            </a:r>
          </a:p>
          <a:p>
            <a:pPr lvl="2">
              <a:lnSpc>
                <a:spcPct val="90000"/>
              </a:lnSpc>
            </a:pPr>
            <a:r>
              <a:rPr lang="en-US" altLang="en-US" sz="1800" dirty="0"/>
              <a:t>In the extreme:</a:t>
            </a:r>
          </a:p>
          <a:p>
            <a:pPr lvl="2">
              <a:lnSpc>
                <a:spcPct val="90000"/>
              </a:lnSpc>
              <a:buFontTx/>
              <a:buNone/>
            </a:pPr>
            <a:r>
              <a:rPr lang="en-US" altLang="en-US" sz="1800" dirty="0"/>
              <a:t>	refraining from interactions, even self-imposed isolation</a:t>
            </a:r>
          </a:p>
          <a:p>
            <a:pPr lvl="2">
              <a:lnSpc>
                <a:spcPct val="90000"/>
              </a:lnSpc>
            </a:pPr>
            <a:r>
              <a:rPr lang="en-US" altLang="en-US" sz="1800" dirty="0"/>
              <a:t>Very high social costs of lost </a:t>
            </a:r>
            <a:r>
              <a:rPr lang="en-US" altLang="en-US" sz="1800" dirty="0">
                <a:solidFill>
                  <a:srgbClr val="C0C0C0"/>
                </a:solidFill>
              </a:rPr>
              <a:t>(offline and online)</a:t>
            </a:r>
            <a:r>
              <a:rPr lang="en-US" altLang="en-US" sz="1800" dirty="0"/>
              <a:t> interaction opportunities</a:t>
            </a:r>
          </a:p>
          <a:p>
            <a:pPr lvl="3">
              <a:lnSpc>
                <a:spcPct val="90000"/>
              </a:lnSpc>
            </a:pPr>
            <a:r>
              <a:rPr lang="en-US" altLang="en-US" sz="1600" dirty="0"/>
              <a:t>Lost business transactions, opportunities</a:t>
            </a:r>
          </a:p>
          <a:p>
            <a:pPr lvl="3">
              <a:lnSpc>
                <a:spcPct val="90000"/>
              </a:lnSpc>
            </a:pPr>
            <a:r>
              <a:rPr lang="en-US" altLang="en-US" sz="1600" dirty="0"/>
              <a:t>Lost research collaborations</a:t>
            </a:r>
          </a:p>
          <a:p>
            <a:pPr lvl="3">
              <a:lnSpc>
                <a:spcPct val="90000"/>
              </a:lnSpc>
            </a:pPr>
            <a:r>
              <a:rPr lang="en-US" altLang="en-US" sz="1600" dirty="0"/>
              <a:t>Lost social interactions</a:t>
            </a:r>
          </a:p>
          <a:p>
            <a:pPr lvl="3">
              <a:lnSpc>
                <a:spcPct val="90000"/>
              </a:lnSpc>
            </a:pPr>
            <a:r>
              <a:rPr lang="en-US" altLang="en-US" sz="1600" dirty="0"/>
              <a:t>…</a:t>
            </a:r>
          </a:p>
          <a:p>
            <a:pPr>
              <a:lnSpc>
                <a:spcPct val="90000"/>
              </a:lnSpc>
              <a:spcBef>
                <a:spcPct val="50000"/>
              </a:spcBef>
              <a:buFontTx/>
              <a:buNone/>
            </a:pPr>
            <a:r>
              <a:rPr lang="en-US" altLang="en-US" sz="2400" dirty="0">
                <a:solidFill>
                  <a:schemeClr val="folHlink"/>
                </a:solidFill>
              </a:rPr>
              <a:t>=&gt; Without privacy guarantees, pervasive computing will  </a:t>
            </a:r>
          </a:p>
          <a:p>
            <a:pPr>
              <a:lnSpc>
                <a:spcPct val="90000"/>
              </a:lnSpc>
              <a:buFontTx/>
              <a:buNone/>
            </a:pPr>
            <a:r>
              <a:rPr lang="en-US" altLang="en-US" sz="2400" dirty="0">
                <a:solidFill>
                  <a:schemeClr val="folHlink"/>
                </a:solidFill>
              </a:rPr>
              <a:t>	  never be realized</a:t>
            </a:r>
          </a:p>
          <a:p>
            <a:pPr lvl="2">
              <a:lnSpc>
                <a:spcPct val="90000"/>
              </a:lnSpc>
              <a:spcBef>
                <a:spcPct val="50000"/>
              </a:spcBef>
            </a:pPr>
            <a:r>
              <a:rPr lang="en-US" altLang="en-US" sz="1800" dirty="0"/>
              <a:t>People will avoid interactions with pervasive devices / systems</a:t>
            </a:r>
          </a:p>
          <a:p>
            <a:pPr lvl="3">
              <a:lnSpc>
                <a:spcPct val="90000"/>
              </a:lnSpc>
              <a:spcBef>
                <a:spcPct val="50000"/>
              </a:spcBef>
            </a:pPr>
            <a:r>
              <a:rPr lang="en-US" altLang="en-US" sz="1600" dirty="0"/>
              <a:t>Fear of </a:t>
            </a:r>
            <a:r>
              <a:rPr lang="en-US" altLang="en-US" sz="1600" i="1" dirty="0">
                <a:solidFill>
                  <a:schemeClr val="folHlink"/>
                </a:solidFill>
              </a:rPr>
              <a:t>opportunistic sensor networks</a:t>
            </a:r>
            <a:r>
              <a:rPr lang="en-US" altLang="en-US" sz="1600" dirty="0"/>
              <a:t> self-organized by electronic devices around them – can </a:t>
            </a:r>
            <a:r>
              <a:rPr lang="en-US" altLang="en-US" sz="1600" i="1" dirty="0"/>
              <a:t>help or harm</a:t>
            </a:r>
            <a:r>
              <a:rPr lang="en-US" altLang="en-US" sz="1600" dirty="0"/>
              <a:t> </a:t>
            </a:r>
            <a:r>
              <a:rPr lang="pl-PL" altLang="en-US" sz="1600" dirty="0"/>
              <a:t> </a:t>
            </a:r>
            <a:r>
              <a:rPr lang="en-US" altLang="en-US" sz="1600" dirty="0"/>
              <a:t>people in their midst</a:t>
            </a:r>
          </a:p>
          <a:p>
            <a:pPr marL="747713" lvl="1" indent="-290513">
              <a:lnSpc>
                <a:spcPct val="90000"/>
              </a:lnSpc>
              <a:spcBef>
                <a:spcPct val="50000"/>
              </a:spcBef>
              <a:buNone/>
            </a:pPr>
            <a:r>
              <a:rPr lang="en-US" altLang="en-US" sz="2000" dirty="0"/>
              <a:t> </a:t>
            </a:r>
          </a:p>
        </p:txBody>
      </p:sp>
    </p:spTree>
    <p:extLst>
      <p:ext uri="{BB962C8B-B14F-4D97-AF65-F5344CB8AC3E}">
        <p14:creationId xmlns:p14="http://schemas.microsoft.com/office/powerpoint/2010/main" val="1874303458"/>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874" name="Rectangle 2"/>
          <p:cNvSpPr>
            <a:spLocks noGrp="1" noChangeArrowheads="1"/>
          </p:cNvSpPr>
          <p:nvPr>
            <p:ph type="title"/>
          </p:nvPr>
        </p:nvSpPr>
        <p:spPr>
          <a:xfrm>
            <a:off x="2763839" y="50801"/>
            <a:ext cx="7793037" cy="1109663"/>
          </a:xfrm>
        </p:spPr>
        <p:txBody>
          <a:bodyPr>
            <a:normAutofit fontScale="90000"/>
          </a:bodyPr>
          <a:lstStyle/>
          <a:p>
            <a:pPr marL="914400" indent="-914400"/>
            <a:r>
              <a:rPr lang="en-US" altLang="en-US">
                <a:solidFill>
                  <a:srgbClr val="0000FF"/>
                </a:solidFill>
              </a:rPr>
              <a:t>1.5) Recognition of Need</a:t>
            </a:r>
            <a:br>
              <a:rPr lang="en-US" altLang="en-US">
                <a:solidFill>
                  <a:srgbClr val="0000FF"/>
                </a:solidFill>
              </a:rPr>
            </a:br>
            <a:r>
              <a:rPr lang="en-US" altLang="en-US">
                <a:solidFill>
                  <a:srgbClr val="0000FF"/>
                </a:solidFill>
              </a:rPr>
              <a:t>for Privacy Guarantees </a:t>
            </a:r>
            <a:r>
              <a:rPr lang="en-US" altLang="en-US" sz="1600">
                <a:solidFill>
                  <a:srgbClr val="0000FF"/>
                </a:solidFill>
              </a:rPr>
              <a:t>(1)</a:t>
            </a:r>
          </a:p>
        </p:txBody>
      </p:sp>
      <p:sp>
        <p:nvSpPr>
          <p:cNvPr id="1743875" name="Rectangle 3"/>
          <p:cNvSpPr>
            <a:spLocks noGrp="1" noChangeArrowheads="1"/>
          </p:cNvSpPr>
          <p:nvPr>
            <p:ph type="body" idx="1"/>
          </p:nvPr>
        </p:nvSpPr>
        <p:spPr>
          <a:xfrm>
            <a:off x="1828800" y="1404939"/>
            <a:ext cx="8839200" cy="5157787"/>
          </a:xfrm>
        </p:spPr>
        <p:txBody>
          <a:bodyPr/>
          <a:lstStyle/>
          <a:p>
            <a:pPr>
              <a:spcBef>
                <a:spcPct val="50000"/>
              </a:spcBef>
            </a:pPr>
            <a:r>
              <a:rPr lang="en-US" altLang="en-US" sz="2800"/>
              <a:t>By individuals                      </a:t>
            </a:r>
            <a:r>
              <a:rPr lang="en-US" altLang="en-US" sz="1200"/>
              <a:t>[Ackerman </a:t>
            </a:r>
            <a:r>
              <a:rPr lang="en-US" altLang="en-US" sz="1200" i="1"/>
              <a:t>et al. ‘99</a:t>
            </a:r>
            <a:r>
              <a:rPr lang="en-US" altLang="en-US" sz="1200"/>
              <a:t>]</a:t>
            </a:r>
          </a:p>
          <a:p>
            <a:pPr lvl="1"/>
            <a:r>
              <a:rPr lang="en-US" altLang="en-US" sz="2400"/>
              <a:t>99% unwilling to reveal their SSN</a:t>
            </a:r>
          </a:p>
          <a:p>
            <a:pPr lvl="1"/>
            <a:r>
              <a:rPr lang="en-US" altLang="en-US" sz="2400"/>
              <a:t>18% unwilling to reveal their… favorite TV show</a:t>
            </a:r>
          </a:p>
          <a:p>
            <a:pPr>
              <a:spcBef>
                <a:spcPct val="50000"/>
              </a:spcBef>
            </a:pPr>
            <a:r>
              <a:rPr lang="en-US" altLang="en-US" sz="2800"/>
              <a:t>By businesses</a:t>
            </a:r>
          </a:p>
          <a:p>
            <a:pPr lvl="1"/>
            <a:r>
              <a:rPr lang="en-US" altLang="en-US" sz="2400"/>
              <a:t>Online consumers worrying about revealing personal data</a:t>
            </a:r>
          </a:p>
          <a:p>
            <a:pPr lvl="1">
              <a:buFontTx/>
              <a:buNone/>
            </a:pPr>
            <a:r>
              <a:rPr lang="en-US" altLang="en-US" sz="2400"/>
              <a:t>	held back $15 billion in online revenue in 2001</a:t>
            </a:r>
          </a:p>
          <a:p>
            <a:pPr>
              <a:spcBef>
                <a:spcPct val="50000"/>
              </a:spcBef>
            </a:pPr>
            <a:r>
              <a:rPr lang="en-US" altLang="en-US" sz="2800"/>
              <a:t>By Federal government</a:t>
            </a:r>
          </a:p>
          <a:p>
            <a:pPr lvl="1"/>
            <a:r>
              <a:rPr lang="en-US" altLang="en-US" sz="2400"/>
              <a:t>Privacy Act of 1974 for Federal agencies</a:t>
            </a:r>
          </a:p>
          <a:p>
            <a:pPr lvl="1"/>
            <a:r>
              <a:rPr lang="en-US" altLang="en-US" sz="2400"/>
              <a:t>Health Insurance Portability and Accountability Act of 1996 (HIPAA)</a:t>
            </a:r>
          </a:p>
        </p:txBody>
      </p:sp>
    </p:spTree>
    <p:extLst>
      <p:ext uri="{BB962C8B-B14F-4D97-AF65-F5344CB8AC3E}">
        <p14:creationId xmlns:p14="http://schemas.microsoft.com/office/powerpoint/2010/main" val="226943801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4354" name="Rectangle 2"/>
          <p:cNvSpPr>
            <a:spLocks noGrp="1" noChangeArrowheads="1"/>
          </p:cNvSpPr>
          <p:nvPr>
            <p:ph type="title"/>
          </p:nvPr>
        </p:nvSpPr>
        <p:spPr>
          <a:xfrm>
            <a:off x="2843214" y="460376"/>
            <a:ext cx="7824787" cy="639763"/>
          </a:xfrm>
        </p:spPr>
        <p:txBody>
          <a:bodyPr>
            <a:normAutofit fontScale="90000"/>
          </a:bodyPr>
          <a:lstStyle/>
          <a:p>
            <a:r>
              <a:rPr lang="en-US" altLang="en-US" sz="4000">
                <a:solidFill>
                  <a:srgbClr val="0000FF"/>
                </a:solidFill>
              </a:rPr>
              <a:t>3.1) Self-descriptive Bundles</a:t>
            </a:r>
          </a:p>
        </p:txBody>
      </p:sp>
      <p:sp>
        <p:nvSpPr>
          <p:cNvPr id="1764355" name="Rectangle 3"/>
          <p:cNvSpPr>
            <a:spLocks noGrp="1" noChangeArrowheads="1"/>
          </p:cNvSpPr>
          <p:nvPr>
            <p:ph type="body" idx="1"/>
          </p:nvPr>
        </p:nvSpPr>
        <p:spPr>
          <a:xfrm>
            <a:off x="1879600" y="1460501"/>
            <a:ext cx="5272088" cy="5230813"/>
          </a:xfrm>
        </p:spPr>
        <p:txBody>
          <a:bodyPr>
            <a:normAutofit fontScale="92500" lnSpcReduction="20000"/>
          </a:bodyPr>
          <a:lstStyle/>
          <a:p>
            <a:pPr>
              <a:lnSpc>
                <a:spcPct val="80000"/>
              </a:lnSpc>
            </a:pPr>
            <a:r>
              <a:rPr lang="en-US" altLang="en-US" sz="2400"/>
              <a:t>Comprehensive metadata include:</a:t>
            </a:r>
          </a:p>
          <a:p>
            <a:pPr marL="747713" lvl="1" indent="-290513">
              <a:lnSpc>
                <a:spcPct val="80000"/>
              </a:lnSpc>
              <a:spcBef>
                <a:spcPct val="50000"/>
              </a:spcBef>
            </a:pPr>
            <a:r>
              <a:rPr lang="en-US" altLang="en-US" sz="2000"/>
              <a:t>owner’s privacy preferences</a:t>
            </a:r>
          </a:p>
          <a:p>
            <a:pPr marL="1025525" lvl="2" indent="-163513">
              <a:lnSpc>
                <a:spcPct val="80000"/>
              </a:lnSpc>
              <a:buNone/>
            </a:pPr>
            <a:endParaRPr lang="en-US" altLang="en-US" sz="1600"/>
          </a:p>
          <a:p>
            <a:pPr marL="747713" lvl="1" indent="-290513">
              <a:lnSpc>
                <a:spcPct val="80000"/>
              </a:lnSpc>
            </a:pPr>
            <a:r>
              <a:rPr lang="en-US" altLang="en-US" sz="2000"/>
              <a:t>owner’s contact information</a:t>
            </a:r>
          </a:p>
          <a:p>
            <a:pPr marL="747713" lvl="1" indent="-290513">
              <a:lnSpc>
                <a:spcPct val="80000"/>
              </a:lnSpc>
            </a:pPr>
            <a:endParaRPr lang="en-US" altLang="en-US" sz="2000"/>
          </a:p>
          <a:p>
            <a:pPr marL="747713" lvl="1" indent="-290513">
              <a:lnSpc>
                <a:spcPct val="80000"/>
              </a:lnSpc>
              <a:spcBef>
                <a:spcPct val="90000"/>
              </a:spcBef>
            </a:pPr>
            <a:r>
              <a:rPr lang="en-US" altLang="en-US" sz="2000"/>
              <a:t>guardian’s privacy policies</a:t>
            </a:r>
          </a:p>
          <a:p>
            <a:pPr marL="1025525" lvl="2" indent="-163513">
              <a:lnSpc>
                <a:spcPct val="80000"/>
              </a:lnSpc>
              <a:buNone/>
            </a:pPr>
            <a:endParaRPr lang="en-US" altLang="en-US" sz="1600"/>
          </a:p>
          <a:p>
            <a:pPr marL="747713" lvl="1" indent="-290513">
              <a:lnSpc>
                <a:spcPct val="80000"/>
              </a:lnSpc>
            </a:pPr>
            <a:r>
              <a:rPr lang="en-US" altLang="en-US" sz="2000"/>
              <a:t>metadata access conditions</a:t>
            </a:r>
          </a:p>
          <a:p>
            <a:pPr marL="1025525" lvl="2" indent="-163513">
              <a:lnSpc>
                <a:spcPct val="80000"/>
              </a:lnSpc>
              <a:buNone/>
            </a:pPr>
            <a:endParaRPr lang="en-US" altLang="en-US" sz="1600"/>
          </a:p>
          <a:p>
            <a:pPr marL="747713" lvl="1" indent="-290513">
              <a:lnSpc>
                <a:spcPct val="80000"/>
              </a:lnSpc>
            </a:pPr>
            <a:r>
              <a:rPr lang="en-US" altLang="en-US" sz="2000"/>
              <a:t>enforcement specifications</a:t>
            </a:r>
          </a:p>
          <a:p>
            <a:pPr marL="1025525" lvl="2" indent="-163513">
              <a:lnSpc>
                <a:spcPct val="80000"/>
              </a:lnSpc>
              <a:buNone/>
            </a:pPr>
            <a:endParaRPr lang="en-US" altLang="en-US" sz="1600"/>
          </a:p>
          <a:p>
            <a:pPr marL="747713" lvl="1" indent="-290513">
              <a:lnSpc>
                <a:spcPct val="80000"/>
              </a:lnSpc>
            </a:pPr>
            <a:r>
              <a:rPr lang="en-US" altLang="en-US" sz="2000"/>
              <a:t>data provenance</a:t>
            </a:r>
          </a:p>
          <a:p>
            <a:pPr marL="1025525" lvl="2" indent="-163513">
              <a:lnSpc>
                <a:spcPct val="80000"/>
              </a:lnSpc>
              <a:buNone/>
            </a:pPr>
            <a:endParaRPr lang="en-US" altLang="en-US" sz="1600"/>
          </a:p>
          <a:p>
            <a:pPr marL="747713" lvl="1" indent="-290513">
              <a:lnSpc>
                <a:spcPct val="80000"/>
              </a:lnSpc>
            </a:pPr>
            <a:r>
              <a:rPr lang="en-US" altLang="en-US" sz="2000"/>
              <a:t>context-dependent and</a:t>
            </a:r>
          </a:p>
          <a:p>
            <a:pPr marL="747713" lvl="1" indent="-290513">
              <a:lnSpc>
                <a:spcPct val="80000"/>
              </a:lnSpc>
              <a:buNone/>
            </a:pPr>
            <a:r>
              <a:rPr lang="en-US" altLang="en-US" sz="2000"/>
              <a:t>	other components</a:t>
            </a:r>
          </a:p>
          <a:p>
            <a:pPr marL="747713" lvl="1" indent="-290513">
              <a:lnSpc>
                <a:spcPct val="80000"/>
              </a:lnSpc>
            </a:pPr>
            <a:endParaRPr lang="en-US" altLang="en-US" sz="2000"/>
          </a:p>
          <a:p>
            <a:pPr marL="747713" lvl="1" indent="-290513">
              <a:lnSpc>
                <a:spcPct val="80000"/>
              </a:lnSpc>
              <a:buNone/>
            </a:pPr>
            <a:r>
              <a:rPr lang="en-US" altLang="en-US" sz="2000" i="1"/>
              <a:t> </a:t>
            </a:r>
          </a:p>
          <a:p>
            <a:pPr marL="747713" lvl="1" indent="-290513">
              <a:lnSpc>
                <a:spcPct val="80000"/>
              </a:lnSpc>
            </a:pPr>
            <a:endParaRPr lang="en-US" altLang="en-US" sz="1800"/>
          </a:p>
          <a:p>
            <a:pPr marL="747713" lvl="1" indent="-290513">
              <a:lnSpc>
                <a:spcPct val="80000"/>
              </a:lnSpc>
            </a:pPr>
            <a:endParaRPr lang="en-US" altLang="en-US" sz="1800"/>
          </a:p>
          <a:p>
            <a:pPr marL="747713" lvl="1" indent="-290513">
              <a:lnSpc>
                <a:spcPct val="80000"/>
              </a:lnSpc>
            </a:pPr>
            <a:endParaRPr lang="en-US" altLang="en-US" sz="1800"/>
          </a:p>
        </p:txBody>
      </p:sp>
      <p:sp>
        <p:nvSpPr>
          <p:cNvPr id="1764356" name="Text Box 4"/>
          <p:cNvSpPr txBox="1">
            <a:spLocks noChangeArrowheads="1"/>
          </p:cNvSpPr>
          <p:nvPr/>
        </p:nvSpPr>
        <p:spPr bwMode="auto">
          <a:xfrm>
            <a:off x="2687639" y="6556376"/>
            <a:ext cx="40735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90513" algn="l"/>
              </a:tabLst>
              <a:defRPr sz="2400">
                <a:solidFill>
                  <a:schemeClr val="tx1"/>
                </a:solidFill>
                <a:latin typeface="Times New Roman" panose="02020603050405020304" pitchFamily="18" charset="0"/>
              </a:defRPr>
            </a:lvl1pPr>
            <a:lvl2pPr marL="114300">
              <a:tabLst>
                <a:tab pos="290513" algn="l"/>
              </a:tabLst>
              <a:defRPr sz="2400">
                <a:solidFill>
                  <a:schemeClr val="tx1"/>
                </a:solidFill>
                <a:latin typeface="Times New Roman" panose="02020603050405020304" pitchFamily="18" charset="0"/>
              </a:defRPr>
            </a:lvl2pPr>
            <a:lvl3pPr>
              <a:tabLst>
                <a:tab pos="290513" algn="l"/>
              </a:tabLst>
              <a:defRPr sz="2400">
                <a:solidFill>
                  <a:schemeClr val="tx1"/>
                </a:solidFill>
                <a:latin typeface="Times New Roman" panose="02020603050405020304" pitchFamily="18" charset="0"/>
              </a:defRPr>
            </a:lvl3pPr>
            <a:lvl4pPr>
              <a:tabLst>
                <a:tab pos="290513" algn="l"/>
              </a:tabLst>
              <a:defRPr sz="2400">
                <a:solidFill>
                  <a:schemeClr val="tx1"/>
                </a:solidFill>
                <a:latin typeface="Times New Roman" panose="02020603050405020304" pitchFamily="18" charset="0"/>
              </a:defRPr>
            </a:lvl4pPr>
            <a:lvl5pPr>
              <a:tabLst>
                <a:tab pos="290513" algn="l"/>
              </a:tabLst>
              <a:defRPr sz="2400">
                <a:solidFill>
                  <a:schemeClr val="tx1"/>
                </a:solidFill>
                <a:latin typeface="Times New Roman" panose="02020603050405020304" pitchFamily="18" charset="0"/>
              </a:defRPr>
            </a:lvl5pPr>
            <a:lvl6pPr fontAlgn="base">
              <a:spcBef>
                <a:spcPct val="0"/>
              </a:spcBef>
              <a:spcAft>
                <a:spcPct val="0"/>
              </a:spcAft>
              <a:tabLst>
                <a:tab pos="290513" algn="l"/>
              </a:tabLst>
              <a:defRPr sz="2400">
                <a:solidFill>
                  <a:schemeClr val="tx1"/>
                </a:solidFill>
                <a:latin typeface="Times New Roman" panose="02020603050405020304" pitchFamily="18" charset="0"/>
              </a:defRPr>
            </a:lvl6pPr>
            <a:lvl7pPr fontAlgn="base">
              <a:spcBef>
                <a:spcPct val="0"/>
              </a:spcBef>
              <a:spcAft>
                <a:spcPct val="0"/>
              </a:spcAft>
              <a:tabLst>
                <a:tab pos="290513" algn="l"/>
              </a:tabLst>
              <a:defRPr sz="2400">
                <a:solidFill>
                  <a:schemeClr val="tx1"/>
                </a:solidFill>
                <a:latin typeface="Times New Roman" panose="02020603050405020304" pitchFamily="18" charset="0"/>
              </a:defRPr>
            </a:lvl7pPr>
            <a:lvl8pPr fontAlgn="base">
              <a:spcBef>
                <a:spcPct val="0"/>
              </a:spcBef>
              <a:spcAft>
                <a:spcPct val="0"/>
              </a:spcAft>
              <a:tabLst>
                <a:tab pos="290513" algn="l"/>
              </a:tabLst>
              <a:defRPr sz="2400">
                <a:solidFill>
                  <a:schemeClr val="tx1"/>
                </a:solidFill>
                <a:latin typeface="Times New Roman" panose="02020603050405020304" pitchFamily="18" charset="0"/>
              </a:defRPr>
            </a:lvl8pPr>
            <a:lvl9pPr fontAlgn="base">
              <a:spcBef>
                <a:spcPct val="0"/>
              </a:spcBef>
              <a:spcAft>
                <a:spcPct val="0"/>
              </a:spcAft>
              <a:tabLst>
                <a:tab pos="290513" algn="l"/>
              </a:tabLst>
              <a:defRPr sz="2400">
                <a:solidFill>
                  <a:schemeClr val="tx1"/>
                </a:solidFill>
                <a:latin typeface="Times New Roman" panose="02020603050405020304" pitchFamily="18" charset="0"/>
              </a:defRPr>
            </a:lvl9pPr>
          </a:lstStyle>
          <a:p>
            <a:pPr lvl="1"/>
            <a:r>
              <a:rPr lang="en-US" altLang="en-US" sz="1800">
                <a:latin typeface="Tahoma" panose="020B0604030504040204" pitchFamily="34" charset="0"/>
              </a:rPr>
              <a:t> </a:t>
            </a:r>
          </a:p>
          <a:p>
            <a:pPr lvl="1"/>
            <a:endParaRPr lang="en-US" altLang="en-US" sz="1800">
              <a:latin typeface="Tahoma" panose="020B0604030504040204" pitchFamily="34" charset="0"/>
            </a:endParaRPr>
          </a:p>
          <a:p>
            <a:pPr lvl="1"/>
            <a:endParaRPr lang="en-US" altLang="en-US" sz="1800">
              <a:latin typeface="Tahoma" panose="020B0604030504040204" pitchFamily="34" charset="0"/>
            </a:endParaRPr>
          </a:p>
          <a:p>
            <a:pPr lvl="1" eaLnBrk="1" hangingPunct="1">
              <a:lnSpc>
                <a:spcPct val="80000"/>
              </a:lnSpc>
              <a:spcBef>
                <a:spcPct val="20000"/>
              </a:spcBef>
              <a:buClr>
                <a:schemeClr val="hlink"/>
              </a:buClr>
              <a:buSzPct val="55000"/>
              <a:buFont typeface="Wingdings" panose="05000000000000000000" pitchFamily="2" charset="2"/>
              <a:buChar char="n"/>
            </a:pPr>
            <a:endParaRPr lang="en-US" altLang="en-US" sz="1800">
              <a:latin typeface="Tahoma" panose="020B0604030504040204" pitchFamily="34" charset="0"/>
            </a:endParaRPr>
          </a:p>
        </p:txBody>
      </p:sp>
      <p:sp>
        <p:nvSpPr>
          <p:cNvPr id="1764357" name="Text Box 5"/>
          <p:cNvSpPr txBox="1">
            <a:spLocks noChangeArrowheads="1"/>
          </p:cNvSpPr>
          <p:nvPr/>
        </p:nvSpPr>
        <p:spPr bwMode="auto">
          <a:xfrm>
            <a:off x="6149976" y="1919289"/>
            <a:ext cx="451802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11430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How to read and write private data</a:t>
            </a:r>
          </a:p>
        </p:txBody>
      </p:sp>
      <p:sp>
        <p:nvSpPr>
          <p:cNvPr id="1764358" name="Text Box 6"/>
          <p:cNvSpPr txBox="1">
            <a:spLocks noChangeArrowheads="1"/>
          </p:cNvSpPr>
          <p:nvPr/>
        </p:nvSpPr>
        <p:spPr bwMode="auto">
          <a:xfrm>
            <a:off x="6149975" y="3259138"/>
            <a:ext cx="4351338"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346075" indent="-231775">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For the original and/or subsequent data guardians</a:t>
            </a:r>
          </a:p>
        </p:txBody>
      </p:sp>
      <p:sp>
        <p:nvSpPr>
          <p:cNvPr id="1764359" name="Text Box 7"/>
          <p:cNvSpPr txBox="1">
            <a:spLocks noChangeArrowheads="1"/>
          </p:cNvSpPr>
          <p:nvPr/>
        </p:nvSpPr>
        <p:spPr bwMode="auto">
          <a:xfrm>
            <a:off x="6137276" y="3806825"/>
            <a:ext cx="4530725"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11430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How to verify and modify metadata</a:t>
            </a:r>
          </a:p>
        </p:txBody>
      </p:sp>
      <p:sp>
        <p:nvSpPr>
          <p:cNvPr id="1764360" name="Text Box 8"/>
          <p:cNvSpPr txBox="1">
            <a:spLocks noChangeArrowheads="1"/>
          </p:cNvSpPr>
          <p:nvPr/>
        </p:nvSpPr>
        <p:spPr bwMode="auto">
          <a:xfrm>
            <a:off x="6137275" y="4349750"/>
            <a:ext cx="47117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90513" algn="l"/>
              </a:tabLst>
              <a:defRPr sz="2400">
                <a:solidFill>
                  <a:schemeClr val="tx1"/>
                </a:solidFill>
                <a:latin typeface="Times New Roman" panose="02020603050405020304" pitchFamily="18" charset="0"/>
              </a:defRPr>
            </a:lvl1pPr>
            <a:lvl2pPr marL="346075" indent="-231775">
              <a:tabLst>
                <a:tab pos="290513" algn="l"/>
              </a:tabLst>
              <a:defRPr sz="2400">
                <a:solidFill>
                  <a:schemeClr val="tx1"/>
                </a:solidFill>
                <a:latin typeface="Times New Roman" panose="02020603050405020304" pitchFamily="18" charset="0"/>
              </a:defRPr>
            </a:lvl2pPr>
            <a:lvl3pPr>
              <a:tabLst>
                <a:tab pos="290513" algn="l"/>
              </a:tabLst>
              <a:defRPr sz="2400">
                <a:solidFill>
                  <a:schemeClr val="tx1"/>
                </a:solidFill>
                <a:latin typeface="Times New Roman" panose="02020603050405020304" pitchFamily="18" charset="0"/>
              </a:defRPr>
            </a:lvl3pPr>
            <a:lvl4pPr>
              <a:tabLst>
                <a:tab pos="290513" algn="l"/>
              </a:tabLst>
              <a:defRPr sz="2400">
                <a:solidFill>
                  <a:schemeClr val="tx1"/>
                </a:solidFill>
                <a:latin typeface="Times New Roman" panose="02020603050405020304" pitchFamily="18" charset="0"/>
              </a:defRPr>
            </a:lvl4pPr>
            <a:lvl5pPr>
              <a:tabLst>
                <a:tab pos="290513" algn="l"/>
              </a:tabLst>
              <a:defRPr sz="2400">
                <a:solidFill>
                  <a:schemeClr val="tx1"/>
                </a:solidFill>
                <a:latin typeface="Times New Roman" panose="02020603050405020304" pitchFamily="18" charset="0"/>
              </a:defRPr>
            </a:lvl5pPr>
            <a:lvl6pPr fontAlgn="base">
              <a:spcBef>
                <a:spcPct val="0"/>
              </a:spcBef>
              <a:spcAft>
                <a:spcPct val="0"/>
              </a:spcAft>
              <a:tabLst>
                <a:tab pos="290513" algn="l"/>
              </a:tabLst>
              <a:defRPr sz="2400">
                <a:solidFill>
                  <a:schemeClr val="tx1"/>
                </a:solidFill>
                <a:latin typeface="Times New Roman" panose="02020603050405020304" pitchFamily="18" charset="0"/>
              </a:defRPr>
            </a:lvl6pPr>
            <a:lvl7pPr fontAlgn="base">
              <a:spcBef>
                <a:spcPct val="0"/>
              </a:spcBef>
              <a:spcAft>
                <a:spcPct val="0"/>
              </a:spcAft>
              <a:tabLst>
                <a:tab pos="290513" algn="l"/>
              </a:tabLst>
              <a:defRPr sz="2400">
                <a:solidFill>
                  <a:schemeClr val="tx1"/>
                </a:solidFill>
                <a:latin typeface="Times New Roman" panose="02020603050405020304" pitchFamily="18" charset="0"/>
              </a:defRPr>
            </a:lvl7pPr>
            <a:lvl8pPr fontAlgn="base">
              <a:spcBef>
                <a:spcPct val="0"/>
              </a:spcBef>
              <a:spcAft>
                <a:spcPct val="0"/>
              </a:spcAft>
              <a:tabLst>
                <a:tab pos="290513" algn="l"/>
              </a:tabLst>
              <a:defRPr sz="2400">
                <a:solidFill>
                  <a:schemeClr val="tx1"/>
                </a:solidFill>
                <a:latin typeface="Times New Roman" panose="02020603050405020304" pitchFamily="18" charset="0"/>
              </a:defRPr>
            </a:lvl8pPr>
            <a:lvl9pPr fontAlgn="base">
              <a:spcBef>
                <a:spcPct val="0"/>
              </a:spcBef>
              <a:spcAft>
                <a:spcPct val="0"/>
              </a:spcAft>
              <a:tabLst>
                <a:tab pos="290513" algn="l"/>
              </a:tabLst>
              <a:defRPr sz="2400">
                <a:solidFill>
                  <a:schemeClr val="tx1"/>
                </a:solidFill>
                <a:latin typeface="Times New Roman" panose="02020603050405020304" pitchFamily="18" charset="0"/>
              </a:defRPr>
            </a:lvl9pPr>
          </a:lstStyle>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How to enforce preferences and policies</a:t>
            </a:r>
          </a:p>
        </p:txBody>
      </p:sp>
      <p:sp>
        <p:nvSpPr>
          <p:cNvPr id="1764361" name="Text Box 9"/>
          <p:cNvSpPr txBox="1">
            <a:spLocks noChangeArrowheads="1"/>
          </p:cNvSpPr>
          <p:nvPr/>
        </p:nvSpPr>
        <p:spPr bwMode="auto">
          <a:xfrm>
            <a:off x="6137276" y="4905375"/>
            <a:ext cx="4530725"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90513" algn="l"/>
              </a:tabLst>
              <a:defRPr sz="2400">
                <a:solidFill>
                  <a:schemeClr val="tx1"/>
                </a:solidFill>
                <a:latin typeface="Times New Roman" panose="02020603050405020304" pitchFamily="18" charset="0"/>
              </a:defRPr>
            </a:lvl1pPr>
            <a:lvl2pPr marL="346075" indent="-231775">
              <a:tabLst>
                <a:tab pos="290513" algn="l"/>
              </a:tabLst>
              <a:defRPr sz="2400">
                <a:solidFill>
                  <a:schemeClr val="tx1"/>
                </a:solidFill>
                <a:latin typeface="Times New Roman" panose="02020603050405020304" pitchFamily="18" charset="0"/>
              </a:defRPr>
            </a:lvl2pPr>
            <a:lvl3pPr>
              <a:tabLst>
                <a:tab pos="290513" algn="l"/>
              </a:tabLst>
              <a:defRPr sz="2400">
                <a:solidFill>
                  <a:schemeClr val="tx1"/>
                </a:solidFill>
                <a:latin typeface="Times New Roman" panose="02020603050405020304" pitchFamily="18" charset="0"/>
              </a:defRPr>
            </a:lvl3pPr>
            <a:lvl4pPr>
              <a:tabLst>
                <a:tab pos="290513" algn="l"/>
              </a:tabLst>
              <a:defRPr sz="2400">
                <a:solidFill>
                  <a:schemeClr val="tx1"/>
                </a:solidFill>
                <a:latin typeface="Times New Roman" panose="02020603050405020304" pitchFamily="18" charset="0"/>
              </a:defRPr>
            </a:lvl4pPr>
            <a:lvl5pPr>
              <a:tabLst>
                <a:tab pos="290513" algn="l"/>
              </a:tabLst>
              <a:defRPr sz="2400">
                <a:solidFill>
                  <a:schemeClr val="tx1"/>
                </a:solidFill>
                <a:latin typeface="Times New Roman" panose="02020603050405020304" pitchFamily="18" charset="0"/>
              </a:defRPr>
            </a:lvl5pPr>
            <a:lvl6pPr fontAlgn="base">
              <a:spcBef>
                <a:spcPct val="0"/>
              </a:spcBef>
              <a:spcAft>
                <a:spcPct val="0"/>
              </a:spcAft>
              <a:tabLst>
                <a:tab pos="290513" algn="l"/>
              </a:tabLst>
              <a:defRPr sz="2400">
                <a:solidFill>
                  <a:schemeClr val="tx1"/>
                </a:solidFill>
                <a:latin typeface="Times New Roman" panose="02020603050405020304" pitchFamily="18" charset="0"/>
              </a:defRPr>
            </a:lvl6pPr>
            <a:lvl7pPr fontAlgn="base">
              <a:spcBef>
                <a:spcPct val="0"/>
              </a:spcBef>
              <a:spcAft>
                <a:spcPct val="0"/>
              </a:spcAft>
              <a:tabLst>
                <a:tab pos="290513" algn="l"/>
              </a:tabLst>
              <a:defRPr sz="2400">
                <a:solidFill>
                  <a:schemeClr val="tx1"/>
                </a:solidFill>
                <a:latin typeface="Times New Roman" panose="02020603050405020304" pitchFamily="18" charset="0"/>
              </a:defRPr>
            </a:lvl7pPr>
            <a:lvl8pPr fontAlgn="base">
              <a:spcBef>
                <a:spcPct val="0"/>
              </a:spcBef>
              <a:spcAft>
                <a:spcPct val="0"/>
              </a:spcAft>
              <a:tabLst>
                <a:tab pos="290513" algn="l"/>
              </a:tabLst>
              <a:defRPr sz="2400">
                <a:solidFill>
                  <a:schemeClr val="tx1"/>
                </a:solidFill>
                <a:latin typeface="Times New Roman" panose="02020603050405020304" pitchFamily="18" charset="0"/>
              </a:defRPr>
            </a:lvl8pPr>
            <a:lvl9pPr fontAlgn="base">
              <a:spcBef>
                <a:spcPct val="0"/>
              </a:spcBef>
              <a:spcAft>
                <a:spcPct val="0"/>
              </a:spcAft>
              <a:tabLst>
                <a:tab pos="290513" algn="l"/>
              </a:tabLst>
              <a:defRPr sz="2400">
                <a:solidFill>
                  <a:schemeClr val="tx1"/>
                </a:solidFill>
                <a:latin typeface="Times New Roman" panose="02020603050405020304" pitchFamily="18" charset="0"/>
              </a:defRPr>
            </a:lvl9pPr>
          </a:lstStyle>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Who created, read, modified, or destroyed any portion of data</a:t>
            </a:r>
          </a:p>
        </p:txBody>
      </p:sp>
      <p:sp>
        <p:nvSpPr>
          <p:cNvPr id="1764362" name="Text Box 10"/>
          <p:cNvSpPr txBox="1">
            <a:spLocks noChangeArrowheads="1"/>
          </p:cNvSpPr>
          <p:nvPr/>
        </p:nvSpPr>
        <p:spPr bwMode="auto">
          <a:xfrm>
            <a:off x="6137276" y="5462588"/>
            <a:ext cx="407352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346075" indent="-231775">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Application-dependent elements</a:t>
            </a:r>
          </a:p>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Customer trust levels for different contexts</a:t>
            </a:r>
          </a:p>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Other metadata elements</a:t>
            </a:r>
          </a:p>
        </p:txBody>
      </p:sp>
      <p:sp>
        <p:nvSpPr>
          <p:cNvPr id="1764363" name="Text Box 11"/>
          <p:cNvSpPr txBox="1">
            <a:spLocks noChangeArrowheads="1"/>
          </p:cNvSpPr>
          <p:nvPr/>
        </p:nvSpPr>
        <p:spPr bwMode="auto">
          <a:xfrm>
            <a:off x="6124575" y="2451101"/>
            <a:ext cx="435133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346075" indent="-231775">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eaLnBrk="1" hangingPunct="1">
              <a:lnSpc>
                <a:spcPct val="80000"/>
              </a:lnSpc>
              <a:spcBef>
                <a:spcPct val="20000"/>
              </a:spcBef>
              <a:buClr>
                <a:schemeClr val="hlink"/>
              </a:buClr>
              <a:buSzPct val="55000"/>
              <a:buFont typeface="Wingdings" panose="05000000000000000000" pitchFamily="2" charset="2"/>
              <a:buNone/>
            </a:pPr>
            <a:r>
              <a:rPr lang="en-US" altLang="en-US" sz="1600">
                <a:latin typeface="Courier New" panose="02070309020205020404" pitchFamily="49" charset="0"/>
              </a:rPr>
              <a:t>Needed to request owner’s access permissions, or notify the owner of any accesses </a:t>
            </a:r>
          </a:p>
        </p:txBody>
      </p:sp>
    </p:spTree>
    <p:extLst>
      <p:ext uri="{BB962C8B-B14F-4D97-AF65-F5344CB8AC3E}">
        <p14:creationId xmlns:p14="http://schemas.microsoft.com/office/powerpoint/2010/main" val="19935077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4834" name="Rectangle 2"/>
          <p:cNvSpPr>
            <a:spLocks noGrp="1" noChangeArrowheads="1"/>
          </p:cNvSpPr>
          <p:nvPr>
            <p:ph type="body" idx="1"/>
          </p:nvPr>
        </p:nvSpPr>
        <p:spPr>
          <a:xfrm>
            <a:off x="1955800" y="1384300"/>
            <a:ext cx="8712200" cy="5297488"/>
          </a:xfrm>
        </p:spPr>
        <p:txBody>
          <a:bodyPr>
            <a:normAutofit fontScale="92500" lnSpcReduction="20000"/>
          </a:bodyPr>
          <a:lstStyle/>
          <a:p>
            <a:pPr>
              <a:lnSpc>
                <a:spcPct val="80000"/>
              </a:lnSpc>
              <a:spcBef>
                <a:spcPct val="50000"/>
              </a:spcBef>
            </a:pPr>
            <a:r>
              <a:rPr lang="en-US" altLang="en-US" sz="2000">
                <a:sym typeface="Symbol" panose="05050102010706020507" pitchFamily="18" charset="2"/>
              </a:rPr>
              <a:t>Examples of </a:t>
            </a:r>
            <a:r>
              <a:rPr lang="en-US" altLang="en-US" sz="2000">
                <a:solidFill>
                  <a:schemeClr val="tx2"/>
                </a:solidFill>
                <a:sym typeface="Symbol" panose="05050102010706020507" pitchFamily="18" charset="2"/>
              </a:rPr>
              <a:t>one</a:t>
            </a:r>
            <a:r>
              <a:rPr lang="en-US" altLang="en-US" sz="2000">
                <a:sym typeface="Symbol" panose="05050102010706020507" pitchFamily="18" charset="2"/>
              </a:rPr>
              <a:t>-dimensional distance metrics </a:t>
            </a:r>
          </a:p>
          <a:p>
            <a:pPr lvl="1">
              <a:lnSpc>
                <a:spcPct val="80000"/>
              </a:lnSpc>
              <a:spcBef>
                <a:spcPct val="40000"/>
              </a:spcBef>
            </a:pPr>
            <a:r>
              <a:rPr lang="en-US" altLang="en-US" sz="1800">
                <a:sym typeface="Symbol" panose="05050102010706020507" pitchFamily="18" charset="2"/>
              </a:rPr>
              <a:t>Distance ~ business type</a:t>
            </a:r>
          </a:p>
          <a:p>
            <a:pPr lvl="1">
              <a:lnSpc>
                <a:spcPct val="80000"/>
              </a:lnSpc>
              <a:spcBef>
                <a:spcPct val="40000"/>
              </a:spcBef>
            </a:pPr>
            <a:endParaRPr lang="en-US" altLang="en-US" sz="18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2">
              <a:lnSpc>
                <a:spcPct val="80000"/>
              </a:lnSpc>
            </a:pPr>
            <a:endParaRPr lang="en-US" altLang="en-US" sz="1600">
              <a:sym typeface="Symbol" panose="05050102010706020507" pitchFamily="18" charset="2"/>
            </a:endParaRPr>
          </a:p>
          <a:p>
            <a:pPr lvl="1">
              <a:lnSpc>
                <a:spcPct val="80000"/>
              </a:lnSpc>
              <a:spcBef>
                <a:spcPct val="100000"/>
              </a:spcBef>
            </a:pPr>
            <a:r>
              <a:rPr lang="en-US" altLang="en-US" sz="1800">
                <a:sym typeface="Symbol" panose="05050102010706020507" pitchFamily="18" charset="2"/>
              </a:rPr>
              <a:t>Distance ~ distrust level: more trusted entities are “closer”</a:t>
            </a:r>
          </a:p>
          <a:p>
            <a:pPr lvl="1">
              <a:lnSpc>
                <a:spcPct val="80000"/>
              </a:lnSpc>
              <a:spcBef>
                <a:spcPct val="100000"/>
              </a:spcBef>
            </a:pPr>
            <a:endParaRPr lang="en-US" altLang="en-US" sz="800">
              <a:sym typeface="Symbol" panose="05050102010706020507" pitchFamily="18" charset="2"/>
            </a:endParaRPr>
          </a:p>
          <a:p>
            <a:pPr>
              <a:lnSpc>
                <a:spcPct val="80000"/>
              </a:lnSpc>
              <a:spcBef>
                <a:spcPct val="50000"/>
              </a:spcBef>
            </a:pPr>
            <a:r>
              <a:rPr lang="en-US" altLang="en-US" sz="2000">
                <a:solidFill>
                  <a:schemeClr val="tx2"/>
                </a:solidFill>
                <a:sym typeface="Symbol" panose="05050102010706020507" pitchFamily="18" charset="2"/>
              </a:rPr>
              <a:t>Multi</a:t>
            </a:r>
            <a:r>
              <a:rPr lang="en-US" altLang="en-US" sz="2000">
                <a:sym typeface="Symbol" panose="05050102010706020507" pitchFamily="18" charset="2"/>
              </a:rPr>
              <a:t>-dimensional distance metrics</a:t>
            </a:r>
          </a:p>
          <a:p>
            <a:pPr lvl="1">
              <a:lnSpc>
                <a:spcPct val="80000"/>
              </a:lnSpc>
            </a:pPr>
            <a:r>
              <a:rPr lang="en-US" altLang="en-US" sz="1800"/>
              <a:t>Security/reliability as one of dimensions</a:t>
            </a:r>
          </a:p>
        </p:txBody>
      </p:sp>
      <p:sp>
        <p:nvSpPr>
          <p:cNvPr id="1784835" name="Rectangle 3"/>
          <p:cNvSpPr>
            <a:spLocks noGrp="1" noChangeArrowheads="1"/>
          </p:cNvSpPr>
          <p:nvPr>
            <p:ph type="title"/>
          </p:nvPr>
        </p:nvSpPr>
        <p:spPr>
          <a:xfrm>
            <a:off x="2743200" y="-76200"/>
            <a:ext cx="7772400" cy="1219200"/>
          </a:xfrm>
          <a:noFill/>
          <a:ln/>
        </p:spPr>
        <p:txBody>
          <a:bodyPr anchor="b"/>
          <a:lstStyle/>
          <a:p>
            <a:r>
              <a:rPr lang="en-US" altLang="en-US" sz="4000">
                <a:solidFill>
                  <a:srgbClr val="0000FF"/>
                </a:solidFill>
                <a:sym typeface="Symbol" panose="05050102010706020507" pitchFamily="18" charset="2"/>
              </a:rPr>
              <a:t>Examples</a:t>
            </a:r>
            <a:r>
              <a:rPr lang="en-US" altLang="en-US" sz="4000">
                <a:solidFill>
                  <a:srgbClr val="0000FF"/>
                </a:solidFill>
              </a:rPr>
              <a:t> of Distance Metrics</a:t>
            </a:r>
            <a:endParaRPr lang="en-US" altLang="en-US" sz="4000">
              <a:solidFill>
                <a:srgbClr val="0000FF"/>
              </a:solidFill>
              <a:sym typeface="Symbol" panose="05050102010706020507" pitchFamily="18" charset="2"/>
            </a:endParaRPr>
          </a:p>
        </p:txBody>
      </p:sp>
      <p:grpSp>
        <p:nvGrpSpPr>
          <p:cNvPr id="1784836" name="Group 4"/>
          <p:cNvGrpSpPr>
            <a:grpSpLocks/>
          </p:cNvGrpSpPr>
          <p:nvPr/>
        </p:nvGrpSpPr>
        <p:grpSpPr bwMode="auto">
          <a:xfrm>
            <a:off x="1524000" y="2151064"/>
            <a:ext cx="9144000" cy="3024187"/>
            <a:chOff x="0" y="1355"/>
            <a:chExt cx="5760" cy="1905"/>
          </a:xfrm>
        </p:grpSpPr>
        <p:grpSp>
          <p:nvGrpSpPr>
            <p:cNvPr id="1784837" name="Group 5"/>
            <p:cNvGrpSpPr>
              <a:grpSpLocks/>
            </p:cNvGrpSpPr>
            <p:nvPr/>
          </p:nvGrpSpPr>
          <p:grpSpPr bwMode="auto">
            <a:xfrm>
              <a:off x="0" y="1355"/>
              <a:ext cx="5760" cy="1905"/>
              <a:chOff x="0" y="1400"/>
              <a:chExt cx="5760" cy="1905"/>
            </a:xfrm>
          </p:grpSpPr>
          <p:sp>
            <p:nvSpPr>
              <p:cNvPr id="1784838" name="Rectangle 6"/>
              <p:cNvSpPr>
                <a:spLocks noChangeArrowheads="1"/>
              </p:cNvSpPr>
              <p:nvPr/>
            </p:nvSpPr>
            <p:spPr bwMode="auto">
              <a:xfrm>
                <a:off x="0" y="1400"/>
                <a:ext cx="5760" cy="190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784839" name="Group 7"/>
              <p:cNvGrpSpPr>
                <a:grpSpLocks/>
              </p:cNvGrpSpPr>
              <p:nvPr/>
            </p:nvGrpSpPr>
            <p:grpSpPr bwMode="auto">
              <a:xfrm>
                <a:off x="364" y="1464"/>
                <a:ext cx="3442" cy="1820"/>
                <a:chOff x="364" y="1464"/>
                <a:chExt cx="3442" cy="1820"/>
              </a:xfrm>
            </p:grpSpPr>
            <p:sp>
              <p:nvSpPr>
                <p:cNvPr id="1784840" name="Text Box 8"/>
                <p:cNvSpPr txBox="1">
                  <a:spLocks noChangeArrowheads="1"/>
                </p:cNvSpPr>
                <p:nvPr/>
              </p:nvSpPr>
              <p:spPr bwMode="auto">
                <a:xfrm>
                  <a:off x="2646" y="3034"/>
                  <a:ext cx="5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000">
                      <a:solidFill>
                        <a:schemeClr val="folHlink"/>
                      </a:solidFill>
                      <a:latin typeface="Tahoma" panose="020B0604030504040204" pitchFamily="34" charset="0"/>
                    </a:rPr>
                    <a:t>Insurance Company B</a:t>
                  </a:r>
                </a:p>
              </p:txBody>
            </p:sp>
            <p:pic>
              <p:nvPicPr>
                <p:cNvPr id="178484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 y="2538"/>
                  <a:ext cx="336" cy="323"/>
                </a:xfrm>
                <a:prstGeom prst="rect">
                  <a:avLst/>
                </a:prstGeom>
                <a:noFill/>
                <a:extLst>
                  <a:ext uri="{909E8E84-426E-40DD-AFC4-6F175D3DCCD1}">
                    <a14:hiddenFill xmlns:a14="http://schemas.microsoft.com/office/drawing/2010/main">
                      <a:solidFill>
                        <a:srgbClr val="FFFFFF"/>
                      </a:solidFill>
                    </a14:hiddenFill>
                  </a:ext>
                </a:extLst>
              </p:spPr>
            </p:pic>
            <p:pic>
              <p:nvPicPr>
                <p:cNvPr id="178484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0" y="1866"/>
                  <a:ext cx="528" cy="507"/>
                </a:xfrm>
                <a:prstGeom prst="rect">
                  <a:avLst/>
                </a:prstGeom>
                <a:noFill/>
                <a:extLst>
                  <a:ext uri="{909E8E84-426E-40DD-AFC4-6F175D3DCCD1}">
                    <a14:hiddenFill xmlns:a14="http://schemas.microsoft.com/office/drawing/2010/main">
                      <a:solidFill>
                        <a:srgbClr val="FFFFFF"/>
                      </a:solidFill>
                    </a14:hiddenFill>
                  </a:ext>
                </a:extLst>
              </p:spPr>
            </p:pic>
            <p:pic>
              <p:nvPicPr>
                <p:cNvPr id="178484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4" y="2346"/>
                  <a:ext cx="336" cy="323"/>
                </a:xfrm>
                <a:prstGeom prst="rect">
                  <a:avLst/>
                </a:prstGeom>
                <a:noFill/>
                <a:extLst>
                  <a:ext uri="{909E8E84-426E-40DD-AFC4-6F175D3DCCD1}">
                    <a14:hiddenFill xmlns:a14="http://schemas.microsoft.com/office/drawing/2010/main">
                      <a:solidFill>
                        <a:srgbClr val="FFFFFF"/>
                      </a:solidFill>
                    </a14:hiddenFill>
                  </a:ext>
                </a:extLst>
              </p:spPr>
            </p:pic>
            <p:pic>
              <p:nvPicPr>
                <p:cNvPr id="178484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6" y="1770"/>
                  <a:ext cx="308" cy="384"/>
                </a:xfrm>
                <a:prstGeom prst="rect">
                  <a:avLst/>
                </a:prstGeom>
                <a:noFill/>
                <a:extLst>
                  <a:ext uri="{909E8E84-426E-40DD-AFC4-6F175D3DCCD1}">
                    <a14:hiddenFill xmlns:a14="http://schemas.microsoft.com/office/drawing/2010/main">
                      <a:solidFill>
                        <a:srgbClr val="FFFFFF"/>
                      </a:solidFill>
                    </a14:hiddenFill>
                  </a:ext>
                </a:extLst>
              </p:spPr>
            </p:pic>
            <p:pic>
              <p:nvPicPr>
                <p:cNvPr id="178484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6" y="1482"/>
                  <a:ext cx="308" cy="384"/>
                </a:xfrm>
                <a:prstGeom prst="rect">
                  <a:avLst/>
                </a:prstGeom>
                <a:noFill/>
                <a:extLst>
                  <a:ext uri="{909E8E84-426E-40DD-AFC4-6F175D3DCCD1}">
                    <a14:hiddenFill xmlns:a14="http://schemas.microsoft.com/office/drawing/2010/main">
                      <a:solidFill>
                        <a:srgbClr val="FFFFFF"/>
                      </a:solidFill>
                    </a14:hiddenFill>
                  </a:ext>
                </a:extLst>
              </p:spPr>
            </p:pic>
            <p:pic>
              <p:nvPicPr>
                <p:cNvPr id="178484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4" y="2682"/>
                  <a:ext cx="308" cy="384"/>
                </a:xfrm>
                <a:prstGeom prst="rect">
                  <a:avLst/>
                </a:prstGeom>
                <a:noFill/>
                <a:extLst>
                  <a:ext uri="{909E8E84-426E-40DD-AFC4-6F175D3DCCD1}">
                    <a14:hiddenFill xmlns:a14="http://schemas.microsoft.com/office/drawing/2010/main">
                      <a:solidFill>
                        <a:srgbClr val="FFFFFF"/>
                      </a:solidFill>
                    </a14:hiddenFill>
                  </a:ext>
                </a:extLst>
              </p:spPr>
            </p:pic>
            <p:pic>
              <p:nvPicPr>
                <p:cNvPr id="1784847"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2" y="1638"/>
                  <a:ext cx="384" cy="230"/>
                </a:xfrm>
                <a:prstGeom prst="rect">
                  <a:avLst/>
                </a:prstGeom>
                <a:noFill/>
                <a:extLst>
                  <a:ext uri="{909E8E84-426E-40DD-AFC4-6F175D3DCCD1}">
                    <a14:hiddenFill xmlns:a14="http://schemas.microsoft.com/office/drawing/2010/main">
                      <a:solidFill>
                        <a:srgbClr val="FFFFFF"/>
                      </a:solidFill>
                    </a14:hiddenFill>
                  </a:ext>
                </a:extLst>
              </p:spPr>
            </p:pic>
            <p:pic>
              <p:nvPicPr>
                <p:cNvPr id="1784848"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 y="2106"/>
                  <a:ext cx="384" cy="230"/>
                </a:xfrm>
                <a:prstGeom prst="rect">
                  <a:avLst/>
                </a:prstGeom>
                <a:noFill/>
                <a:extLst>
                  <a:ext uri="{909E8E84-426E-40DD-AFC4-6F175D3DCCD1}">
                    <a14:hiddenFill xmlns:a14="http://schemas.microsoft.com/office/drawing/2010/main">
                      <a:solidFill>
                        <a:srgbClr val="FFFFFF"/>
                      </a:solidFill>
                    </a14:hiddenFill>
                  </a:ext>
                </a:extLst>
              </p:spPr>
            </p:pic>
            <p:pic>
              <p:nvPicPr>
                <p:cNvPr id="1784849"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 y="2874"/>
                  <a:ext cx="384" cy="230"/>
                </a:xfrm>
                <a:prstGeom prst="rect">
                  <a:avLst/>
                </a:prstGeom>
                <a:noFill/>
                <a:extLst>
                  <a:ext uri="{909E8E84-426E-40DD-AFC4-6F175D3DCCD1}">
                    <a14:hiddenFill xmlns:a14="http://schemas.microsoft.com/office/drawing/2010/main">
                      <a:solidFill>
                        <a:srgbClr val="FFFFFF"/>
                      </a:solidFill>
                    </a14:hiddenFill>
                  </a:ext>
                </a:extLst>
              </p:spPr>
            </p:pic>
            <p:sp>
              <p:nvSpPr>
                <p:cNvPr id="1784850" name="Line 18"/>
                <p:cNvSpPr>
                  <a:spLocks noChangeShapeType="1"/>
                </p:cNvSpPr>
                <p:nvPr/>
              </p:nvSpPr>
              <p:spPr bwMode="auto">
                <a:xfrm>
                  <a:off x="1552" y="1866"/>
                  <a:ext cx="288" cy="1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4851" name="Line 19"/>
                <p:cNvSpPr>
                  <a:spLocks noChangeShapeType="1"/>
                </p:cNvSpPr>
                <p:nvPr/>
              </p:nvSpPr>
              <p:spPr bwMode="auto">
                <a:xfrm flipV="1">
                  <a:off x="744" y="2202"/>
                  <a:ext cx="1096" cy="52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4852" name="Line 20"/>
                <p:cNvSpPr>
                  <a:spLocks noChangeShapeType="1"/>
                </p:cNvSpPr>
                <p:nvPr/>
              </p:nvSpPr>
              <p:spPr bwMode="auto">
                <a:xfrm flipV="1">
                  <a:off x="1024" y="2154"/>
                  <a:ext cx="816" cy="4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4853" name="Line 21"/>
                <p:cNvSpPr>
                  <a:spLocks noChangeShapeType="1"/>
                </p:cNvSpPr>
                <p:nvPr/>
              </p:nvSpPr>
              <p:spPr bwMode="auto">
                <a:xfrm flipH="1">
                  <a:off x="1748" y="2326"/>
                  <a:ext cx="240" cy="52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4854" name="Line 22"/>
                <p:cNvSpPr>
                  <a:spLocks noChangeShapeType="1"/>
                </p:cNvSpPr>
                <p:nvPr/>
              </p:nvSpPr>
              <p:spPr bwMode="auto">
                <a:xfrm>
                  <a:off x="2272" y="2346"/>
                  <a:ext cx="476" cy="42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4855" name="Line 23"/>
                <p:cNvSpPr>
                  <a:spLocks noChangeShapeType="1"/>
                </p:cNvSpPr>
                <p:nvPr/>
              </p:nvSpPr>
              <p:spPr bwMode="auto">
                <a:xfrm flipV="1">
                  <a:off x="2320" y="1812"/>
                  <a:ext cx="258" cy="15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4856" name="Line 24"/>
                <p:cNvSpPr>
                  <a:spLocks noChangeShapeType="1"/>
                </p:cNvSpPr>
                <p:nvPr/>
              </p:nvSpPr>
              <p:spPr bwMode="auto">
                <a:xfrm flipV="1">
                  <a:off x="2320" y="2010"/>
                  <a:ext cx="816" cy="14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4857" name="Line 25"/>
                <p:cNvSpPr>
                  <a:spLocks noChangeShapeType="1"/>
                </p:cNvSpPr>
                <p:nvPr/>
              </p:nvSpPr>
              <p:spPr bwMode="auto">
                <a:xfrm>
                  <a:off x="2320" y="2298"/>
                  <a:ext cx="1084" cy="24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4858" name="Text Box 26"/>
                <p:cNvSpPr txBox="1">
                  <a:spLocks noChangeArrowheads="1"/>
                </p:cNvSpPr>
                <p:nvPr/>
              </p:nvSpPr>
              <p:spPr bwMode="auto">
                <a:xfrm>
                  <a:off x="1306" y="2034"/>
                  <a:ext cx="15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5</a:t>
                  </a:r>
                </a:p>
              </p:txBody>
            </p:sp>
            <p:sp>
              <p:nvSpPr>
                <p:cNvPr id="1784859" name="Text Box 27"/>
                <p:cNvSpPr txBox="1">
                  <a:spLocks noChangeArrowheads="1"/>
                </p:cNvSpPr>
                <p:nvPr/>
              </p:nvSpPr>
              <p:spPr bwMode="auto">
                <a:xfrm>
                  <a:off x="1174" y="2322"/>
                  <a:ext cx="15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1</a:t>
                  </a:r>
                </a:p>
              </p:txBody>
            </p:sp>
            <p:sp>
              <p:nvSpPr>
                <p:cNvPr id="1784860" name="Text Box 28"/>
                <p:cNvSpPr txBox="1">
                  <a:spLocks noChangeArrowheads="1"/>
                </p:cNvSpPr>
                <p:nvPr/>
              </p:nvSpPr>
              <p:spPr bwMode="auto">
                <a:xfrm>
                  <a:off x="1726" y="2508"/>
                  <a:ext cx="15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5</a:t>
                  </a:r>
                </a:p>
              </p:txBody>
            </p:sp>
            <p:sp>
              <p:nvSpPr>
                <p:cNvPr id="1784861" name="Text Box 29"/>
                <p:cNvSpPr txBox="1">
                  <a:spLocks noChangeArrowheads="1"/>
                </p:cNvSpPr>
                <p:nvPr/>
              </p:nvSpPr>
              <p:spPr bwMode="auto">
                <a:xfrm>
                  <a:off x="2332" y="1746"/>
                  <a:ext cx="15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5</a:t>
                  </a:r>
                </a:p>
              </p:txBody>
            </p:sp>
            <p:sp>
              <p:nvSpPr>
                <p:cNvPr id="1784862" name="Text Box 30"/>
                <p:cNvSpPr txBox="1">
                  <a:spLocks noChangeArrowheads="1"/>
                </p:cNvSpPr>
                <p:nvPr/>
              </p:nvSpPr>
              <p:spPr bwMode="auto">
                <a:xfrm>
                  <a:off x="2506" y="2454"/>
                  <a:ext cx="15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2</a:t>
                  </a:r>
                </a:p>
              </p:txBody>
            </p:sp>
            <p:sp>
              <p:nvSpPr>
                <p:cNvPr id="1784863" name="Text Box 31"/>
                <p:cNvSpPr txBox="1">
                  <a:spLocks noChangeArrowheads="1"/>
                </p:cNvSpPr>
                <p:nvPr/>
              </p:nvSpPr>
              <p:spPr bwMode="auto">
                <a:xfrm>
                  <a:off x="2692" y="1920"/>
                  <a:ext cx="15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2</a:t>
                  </a:r>
                </a:p>
              </p:txBody>
            </p:sp>
            <p:sp>
              <p:nvSpPr>
                <p:cNvPr id="1784864" name="Text Box 32"/>
                <p:cNvSpPr txBox="1">
                  <a:spLocks noChangeArrowheads="1"/>
                </p:cNvSpPr>
                <p:nvPr/>
              </p:nvSpPr>
              <p:spPr bwMode="auto">
                <a:xfrm>
                  <a:off x="2800" y="2262"/>
                  <a:ext cx="15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1</a:t>
                  </a:r>
                </a:p>
              </p:txBody>
            </p:sp>
            <p:sp>
              <p:nvSpPr>
                <p:cNvPr id="1784865" name="Text Box 33"/>
                <p:cNvSpPr txBox="1">
                  <a:spLocks noChangeArrowheads="1"/>
                </p:cNvSpPr>
                <p:nvPr/>
              </p:nvSpPr>
              <p:spPr bwMode="auto">
                <a:xfrm>
                  <a:off x="1624" y="1806"/>
                  <a:ext cx="15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a:solidFill>
                        <a:schemeClr val="folHlink"/>
                      </a:solidFill>
                      <a:latin typeface="Tahoma" panose="020B0604030504040204" pitchFamily="34" charset="0"/>
                    </a:rPr>
                    <a:t>2</a:t>
                  </a:r>
                </a:p>
              </p:txBody>
            </p:sp>
            <p:sp>
              <p:nvSpPr>
                <p:cNvPr id="1784866" name="Text Box 34"/>
                <p:cNvSpPr txBox="1">
                  <a:spLocks noChangeArrowheads="1"/>
                </p:cNvSpPr>
                <p:nvPr/>
              </p:nvSpPr>
              <p:spPr bwMode="auto">
                <a:xfrm>
                  <a:off x="1846" y="1494"/>
                  <a:ext cx="548"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200">
                      <a:solidFill>
                        <a:schemeClr val="hlink"/>
                      </a:solidFill>
                      <a:latin typeface="Tahoma" panose="020B0604030504040204" pitchFamily="34" charset="0"/>
                    </a:rPr>
                    <a:t>Bank I -Original Guardian</a:t>
                  </a:r>
                </a:p>
              </p:txBody>
            </p:sp>
            <p:sp>
              <p:nvSpPr>
                <p:cNvPr id="1784867" name="Text Box 35"/>
                <p:cNvSpPr txBox="1">
                  <a:spLocks noChangeArrowheads="1"/>
                </p:cNvSpPr>
                <p:nvPr/>
              </p:nvSpPr>
              <p:spPr bwMode="auto">
                <a:xfrm>
                  <a:off x="730" y="1548"/>
                  <a:ext cx="5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000">
                      <a:solidFill>
                        <a:schemeClr val="folHlink"/>
                      </a:solidFill>
                      <a:latin typeface="Tahoma" panose="020B0604030504040204" pitchFamily="34" charset="0"/>
                    </a:rPr>
                    <a:t>Insurance Company C</a:t>
                  </a:r>
                </a:p>
              </p:txBody>
            </p:sp>
            <p:sp>
              <p:nvSpPr>
                <p:cNvPr id="1784868" name="Text Box 36"/>
                <p:cNvSpPr txBox="1">
                  <a:spLocks noChangeArrowheads="1"/>
                </p:cNvSpPr>
                <p:nvPr/>
              </p:nvSpPr>
              <p:spPr bwMode="auto">
                <a:xfrm>
                  <a:off x="3026" y="2130"/>
                  <a:ext cx="6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000">
                      <a:solidFill>
                        <a:schemeClr val="folHlink"/>
                      </a:solidFill>
                      <a:latin typeface="Tahoma" panose="020B0604030504040204" pitchFamily="34" charset="0"/>
                    </a:rPr>
                    <a:t>Insurance Company A</a:t>
                  </a:r>
                </a:p>
              </p:txBody>
            </p:sp>
            <p:sp>
              <p:nvSpPr>
                <p:cNvPr id="1784869" name="Text Box 37"/>
                <p:cNvSpPr txBox="1">
                  <a:spLocks noChangeArrowheads="1"/>
                </p:cNvSpPr>
                <p:nvPr/>
              </p:nvSpPr>
              <p:spPr bwMode="auto">
                <a:xfrm>
                  <a:off x="3398" y="2666"/>
                  <a:ext cx="40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000">
                      <a:solidFill>
                        <a:schemeClr val="folHlink"/>
                      </a:solidFill>
                      <a:latin typeface="Tahoma" panose="020B0604030504040204" pitchFamily="34" charset="0"/>
                    </a:rPr>
                    <a:t>Bank II</a:t>
                  </a:r>
                </a:p>
              </p:txBody>
            </p:sp>
            <p:sp>
              <p:nvSpPr>
                <p:cNvPr id="1784870" name="Text Box 38"/>
                <p:cNvSpPr txBox="1">
                  <a:spLocks noChangeArrowheads="1"/>
                </p:cNvSpPr>
                <p:nvPr/>
              </p:nvSpPr>
              <p:spPr bwMode="auto">
                <a:xfrm>
                  <a:off x="364" y="2886"/>
                  <a:ext cx="40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000">
                      <a:solidFill>
                        <a:schemeClr val="folHlink"/>
                      </a:solidFill>
                      <a:latin typeface="Tahoma" panose="020B0604030504040204" pitchFamily="34" charset="0"/>
                    </a:rPr>
                    <a:t>Bank III</a:t>
                  </a:r>
                </a:p>
              </p:txBody>
            </p:sp>
            <p:sp>
              <p:nvSpPr>
                <p:cNvPr id="1784871" name="Text Box 39"/>
                <p:cNvSpPr txBox="1">
                  <a:spLocks noChangeArrowheads="1"/>
                </p:cNvSpPr>
                <p:nvPr/>
              </p:nvSpPr>
              <p:spPr bwMode="auto">
                <a:xfrm>
                  <a:off x="2836" y="1464"/>
                  <a:ext cx="4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000">
                      <a:solidFill>
                        <a:schemeClr val="folHlink"/>
                      </a:solidFill>
                      <a:latin typeface="Tahoma" panose="020B0604030504040204" pitchFamily="34" charset="0"/>
                    </a:rPr>
                    <a:t>Used Car Dealer 1</a:t>
                  </a:r>
                </a:p>
              </p:txBody>
            </p:sp>
            <p:sp>
              <p:nvSpPr>
                <p:cNvPr id="1784872" name="Text Box 40"/>
                <p:cNvSpPr txBox="1">
                  <a:spLocks noChangeArrowheads="1"/>
                </p:cNvSpPr>
                <p:nvPr/>
              </p:nvSpPr>
              <p:spPr bwMode="auto">
                <a:xfrm>
                  <a:off x="1856" y="2708"/>
                  <a:ext cx="4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000">
                      <a:solidFill>
                        <a:schemeClr val="folHlink"/>
                      </a:solidFill>
                      <a:latin typeface="Tahoma" panose="020B0604030504040204" pitchFamily="34" charset="0"/>
                    </a:rPr>
                    <a:t>Used Car Dealer 2</a:t>
                  </a:r>
                </a:p>
              </p:txBody>
            </p:sp>
            <p:sp>
              <p:nvSpPr>
                <p:cNvPr id="1784873" name="Text Box 41"/>
                <p:cNvSpPr txBox="1">
                  <a:spLocks noChangeArrowheads="1"/>
                </p:cNvSpPr>
                <p:nvPr/>
              </p:nvSpPr>
              <p:spPr bwMode="auto">
                <a:xfrm>
                  <a:off x="574" y="1872"/>
                  <a:ext cx="4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000">
                      <a:solidFill>
                        <a:schemeClr val="folHlink"/>
                      </a:solidFill>
                      <a:latin typeface="Tahoma" panose="020B0604030504040204" pitchFamily="34" charset="0"/>
                    </a:rPr>
                    <a:t>Used Car Dealer 3</a:t>
                  </a:r>
                </a:p>
              </p:txBody>
            </p:sp>
          </p:grpSp>
        </p:grpSp>
        <p:sp>
          <p:nvSpPr>
            <p:cNvPr id="1784874" name="Text Box 42"/>
            <p:cNvSpPr txBox="1">
              <a:spLocks noChangeArrowheads="1"/>
            </p:cNvSpPr>
            <p:nvPr/>
          </p:nvSpPr>
          <p:spPr bwMode="auto">
            <a:xfrm>
              <a:off x="3907" y="1469"/>
              <a:ext cx="1780" cy="1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a:r>
                <a:rPr lang="en-US" altLang="en-US" sz="1400">
                  <a:solidFill>
                    <a:schemeClr val="folHlink"/>
                  </a:solidFill>
                  <a:latin typeface="Tahoma" panose="020B0604030504040204" pitchFamily="34" charset="0"/>
                </a:rPr>
                <a:t>If a bank is the original guardian, then:</a:t>
              </a:r>
            </a:p>
            <a:p>
              <a:pPr lvl="2"/>
              <a:r>
                <a:rPr lang="en-US" altLang="en-US" sz="1400">
                  <a:solidFill>
                    <a:schemeClr val="folHlink"/>
                  </a:solidFill>
                  <a:latin typeface="Tahoma" panose="020B0604030504040204" pitchFamily="34" charset="0"/>
                </a:rPr>
                <a:t>-- any other </a:t>
              </a:r>
              <a:r>
                <a:rPr lang="en-US" altLang="en-US" sz="1400" i="1">
                  <a:solidFill>
                    <a:schemeClr val="folHlink"/>
                  </a:solidFill>
                  <a:latin typeface="Tahoma" panose="020B0604030504040204" pitchFamily="34" charset="0"/>
                </a:rPr>
                <a:t>bank</a:t>
              </a:r>
              <a:r>
                <a:rPr lang="en-US" altLang="en-US" sz="1400">
                  <a:solidFill>
                    <a:schemeClr val="folHlink"/>
                  </a:solidFill>
                  <a:latin typeface="Tahoma" panose="020B0604030504040204" pitchFamily="34" charset="0"/>
                </a:rPr>
                <a:t> is “closer” than any </a:t>
              </a:r>
              <a:r>
                <a:rPr lang="en-US" altLang="en-US" sz="1400" i="1">
                  <a:solidFill>
                    <a:schemeClr val="folHlink"/>
                  </a:solidFill>
                  <a:latin typeface="Tahoma" panose="020B0604030504040204" pitchFamily="34" charset="0"/>
                </a:rPr>
                <a:t>insurance company</a:t>
              </a:r>
            </a:p>
            <a:p>
              <a:pPr lvl="2"/>
              <a:r>
                <a:rPr lang="en-US" altLang="en-US" sz="1400">
                  <a:solidFill>
                    <a:schemeClr val="folHlink"/>
                  </a:solidFill>
                  <a:latin typeface="Tahoma" panose="020B0604030504040204" pitchFamily="34" charset="0"/>
                </a:rPr>
                <a:t>-- any </a:t>
              </a:r>
              <a:r>
                <a:rPr lang="en-US" altLang="en-US" sz="1400" i="1">
                  <a:solidFill>
                    <a:schemeClr val="folHlink"/>
                  </a:solidFill>
                  <a:latin typeface="Tahoma" panose="020B0604030504040204" pitchFamily="34" charset="0"/>
                </a:rPr>
                <a:t>insurance company</a:t>
              </a:r>
              <a:r>
                <a:rPr lang="en-US" altLang="en-US" sz="1400">
                  <a:solidFill>
                    <a:schemeClr val="folHlink"/>
                  </a:solidFill>
                  <a:latin typeface="Tahoma" panose="020B0604030504040204" pitchFamily="34" charset="0"/>
                </a:rPr>
                <a:t> is “closer” than any </a:t>
              </a:r>
              <a:r>
                <a:rPr lang="en-US" altLang="en-US" sz="1400" i="1">
                  <a:solidFill>
                    <a:schemeClr val="folHlink"/>
                  </a:solidFill>
                  <a:latin typeface="Tahoma" panose="020B0604030504040204" pitchFamily="34" charset="0"/>
                </a:rPr>
                <a:t>used car dealer</a:t>
              </a:r>
            </a:p>
          </p:txBody>
        </p:sp>
      </p:grpSp>
    </p:spTree>
    <p:extLst>
      <p:ext uri="{BB962C8B-B14F-4D97-AF65-F5344CB8AC3E}">
        <p14:creationId xmlns:p14="http://schemas.microsoft.com/office/powerpoint/2010/main" val="27469463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6882" name="Rectangle 2"/>
          <p:cNvSpPr>
            <a:spLocks noGrp="1" noChangeArrowheads="1"/>
          </p:cNvSpPr>
          <p:nvPr>
            <p:ph type="body" idx="1"/>
          </p:nvPr>
        </p:nvSpPr>
        <p:spPr>
          <a:xfrm>
            <a:off x="1898650" y="1431926"/>
            <a:ext cx="8769350" cy="1166813"/>
          </a:xfrm>
        </p:spPr>
        <p:txBody>
          <a:bodyPr>
            <a:normAutofit lnSpcReduction="10000"/>
          </a:bodyPr>
          <a:lstStyle/>
          <a:p>
            <a:pPr>
              <a:lnSpc>
                <a:spcPct val="80000"/>
              </a:lnSpc>
              <a:tabLst>
                <a:tab pos="1379538" algn="l"/>
                <a:tab pos="3892550" algn="l"/>
              </a:tabLst>
            </a:pPr>
            <a:r>
              <a:rPr lang="en-US" altLang="en-US" sz="2800">
                <a:sym typeface="Symbol" panose="05050102010706020507" pitchFamily="18" charset="2"/>
              </a:rPr>
              <a:t>Distorted data reveal less, protects privacy</a:t>
            </a:r>
          </a:p>
          <a:p>
            <a:pPr>
              <a:lnSpc>
                <a:spcPct val="80000"/>
              </a:lnSpc>
              <a:tabLst>
                <a:tab pos="1379538" algn="l"/>
                <a:tab pos="3892550" algn="l"/>
              </a:tabLst>
            </a:pPr>
            <a:r>
              <a:rPr lang="en-US" altLang="en-US" sz="2800">
                <a:sym typeface="Symbol" panose="05050102010706020507" pitchFamily="18" charset="2"/>
              </a:rPr>
              <a:t>Examples:</a:t>
            </a:r>
          </a:p>
          <a:p>
            <a:pPr marL="793750" lvl="1">
              <a:lnSpc>
                <a:spcPct val="80000"/>
              </a:lnSpc>
              <a:buNone/>
              <a:tabLst>
                <a:tab pos="1379538" algn="l"/>
                <a:tab pos="3892550" algn="l"/>
              </a:tabLst>
            </a:pPr>
            <a:r>
              <a:rPr lang="en-US" altLang="en-US" sz="1800">
                <a:solidFill>
                  <a:schemeClr val="tx2"/>
                </a:solidFill>
                <a:sym typeface="Symbol" panose="05050102010706020507" pitchFamily="18" charset="2"/>
              </a:rPr>
              <a:t>  </a:t>
            </a:r>
            <a:r>
              <a:rPr lang="en-US" altLang="en-US" sz="1800" u="sng">
                <a:solidFill>
                  <a:schemeClr val="tx2"/>
                </a:solidFill>
                <a:sym typeface="Symbol" panose="05050102010706020507" pitchFamily="18" charset="2"/>
              </a:rPr>
              <a:t>accurate data</a:t>
            </a:r>
            <a:r>
              <a:rPr lang="en-US" altLang="en-US" sz="1800">
                <a:solidFill>
                  <a:schemeClr val="tx2"/>
                </a:solidFill>
                <a:sym typeface="Symbol" panose="05050102010706020507" pitchFamily="18" charset="2"/>
              </a:rPr>
              <a:t>	</a:t>
            </a:r>
            <a:r>
              <a:rPr lang="en-US" altLang="en-US" sz="1800" u="sng">
                <a:solidFill>
                  <a:schemeClr val="tx2"/>
                </a:solidFill>
                <a:sym typeface="Symbol" panose="05050102010706020507" pitchFamily="18" charset="2"/>
              </a:rPr>
              <a:t>more and more distorted data</a:t>
            </a:r>
          </a:p>
        </p:txBody>
      </p:sp>
      <p:sp>
        <p:nvSpPr>
          <p:cNvPr id="1786883" name="Rectangle 3"/>
          <p:cNvSpPr>
            <a:spLocks noGrp="1" noChangeArrowheads="1"/>
          </p:cNvSpPr>
          <p:nvPr>
            <p:ph type="title"/>
          </p:nvPr>
        </p:nvSpPr>
        <p:spPr>
          <a:xfrm>
            <a:off x="2833688" y="0"/>
            <a:ext cx="7834312" cy="1182688"/>
          </a:xfrm>
          <a:noFill/>
          <a:ln/>
        </p:spPr>
        <p:txBody>
          <a:bodyPr anchor="b">
            <a:normAutofit fontScale="90000"/>
          </a:bodyPr>
          <a:lstStyle/>
          <a:p>
            <a:r>
              <a:rPr lang="en-US" altLang="en-US">
                <a:solidFill>
                  <a:srgbClr val="0000FF"/>
                </a:solidFill>
              </a:rPr>
              <a:t>Evaporation </a:t>
            </a:r>
            <a:r>
              <a:rPr lang="en-US" altLang="en-US">
                <a:solidFill>
                  <a:srgbClr val="0000FF"/>
                </a:solidFill>
                <a:sym typeface="Symbol" panose="05050102010706020507" pitchFamily="18" charset="2"/>
              </a:rPr>
              <a:t>Implemented as</a:t>
            </a:r>
            <a:br>
              <a:rPr lang="en-US" altLang="en-US">
                <a:solidFill>
                  <a:srgbClr val="0000FF"/>
                </a:solidFill>
                <a:sym typeface="Symbol" panose="05050102010706020507" pitchFamily="18" charset="2"/>
              </a:rPr>
            </a:br>
            <a:r>
              <a:rPr lang="en-US" altLang="en-US">
                <a:solidFill>
                  <a:srgbClr val="0000FF"/>
                </a:solidFill>
                <a:sym typeface="Symbol" panose="05050102010706020507" pitchFamily="18" charset="2"/>
              </a:rPr>
              <a:t>Controlled Data Distortion</a:t>
            </a:r>
          </a:p>
        </p:txBody>
      </p:sp>
      <p:sp>
        <p:nvSpPr>
          <p:cNvPr id="1786884" name="Text Box 4"/>
          <p:cNvSpPr txBox="1">
            <a:spLocks noChangeArrowheads="1"/>
          </p:cNvSpPr>
          <p:nvPr/>
        </p:nvSpPr>
        <p:spPr bwMode="auto">
          <a:xfrm>
            <a:off x="2322513" y="2486025"/>
            <a:ext cx="2032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11430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250 N. Salisbury Street</a:t>
            </a:r>
          </a:p>
          <a:p>
            <a:pPr lvl="1"/>
            <a:r>
              <a:rPr lang="en-US" altLang="en-US" sz="1200">
                <a:latin typeface="Tahoma" panose="020B0604030504040204" pitchFamily="34" charset="0"/>
                <a:sym typeface="Symbol" panose="05050102010706020507" pitchFamily="18" charset="2"/>
              </a:rPr>
              <a:t>West Lafayette, IN</a:t>
            </a:r>
          </a:p>
          <a:p>
            <a:pPr lvl="1"/>
            <a:endParaRPr lang="en-US" altLang="en-US" sz="1200">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250 N. Salisbury Street</a:t>
            </a:r>
          </a:p>
          <a:p>
            <a:pPr lvl="1"/>
            <a:r>
              <a:rPr lang="en-US" altLang="en-US" sz="1200">
                <a:latin typeface="Tahoma" panose="020B0604030504040204" pitchFamily="34" charset="0"/>
                <a:sym typeface="Symbol" panose="05050102010706020507" pitchFamily="18" charset="2"/>
              </a:rPr>
              <a:t>West Lafayette, IN</a:t>
            </a:r>
          </a:p>
          <a:p>
            <a:pPr lvl="1"/>
            <a:r>
              <a:rPr lang="en-US" altLang="en-US" sz="1200">
                <a:solidFill>
                  <a:schemeClr val="tx2"/>
                </a:solidFill>
                <a:latin typeface="Tahoma" panose="020B0604030504040204" pitchFamily="34" charset="0"/>
                <a:sym typeface="Symbol" panose="05050102010706020507" pitchFamily="18" charset="2"/>
              </a:rPr>
              <a:t>[home address]</a:t>
            </a:r>
          </a:p>
          <a:p>
            <a:pPr lvl="1"/>
            <a:endParaRPr lang="en-US" altLang="en-US" sz="1200">
              <a:solidFill>
                <a:schemeClr val="tx2"/>
              </a:solidFill>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765-123-4567</a:t>
            </a:r>
          </a:p>
          <a:p>
            <a:pPr lvl="1"/>
            <a:r>
              <a:rPr lang="en-US" altLang="en-US" sz="1200">
                <a:solidFill>
                  <a:schemeClr val="tx2"/>
                </a:solidFill>
                <a:latin typeface="Tahoma" panose="020B0604030504040204" pitchFamily="34" charset="0"/>
                <a:sym typeface="Symbol" panose="05050102010706020507" pitchFamily="18" charset="2"/>
              </a:rPr>
              <a:t>[home phone]</a:t>
            </a:r>
            <a:endParaRPr lang="en-US" altLang="en-US" sz="1200">
              <a:latin typeface="Tahoma" panose="020B0604030504040204" pitchFamily="34" charset="0"/>
              <a:sym typeface="Symbol" panose="05050102010706020507" pitchFamily="18" charset="2"/>
            </a:endParaRPr>
          </a:p>
        </p:txBody>
      </p:sp>
      <p:sp>
        <p:nvSpPr>
          <p:cNvPr id="1786885" name="Text Box 5"/>
          <p:cNvSpPr txBox="1">
            <a:spLocks noChangeArrowheads="1"/>
          </p:cNvSpPr>
          <p:nvPr/>
        </p:nvSpPr>
        <p:spPr bwMode="auto">
          <a:xfrm>
            <a:off x="4889501" y="2486025"/>
            <a:ext cx="20478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169863">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Salisbury Street</a:t>
            </a:r>
          </a:p>
          <a:p>
            <a:pPr lvl="1"/>
            <a:r>
              <a:rPr lang="en-US" altLang="en-US" sz="1200">
                <a:latin typeface="Tahoma" panose="020B0604030504040204" pitchFamily="34" charset="0"/>
                <a:sym typeface="Symbol" panose="05050102010706020507" pitchFamily="18" charset="2"/>
              </a:rPr>
              <a:t>West Lafayette, IN</a:t>
            </a:r>
          </a:p>
          <a:p>
            <a:pPr lvl="1"/>
            <a:endParaRPr lang="en-US" altLang="en-US" sz="1200">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250 N. University Street</a:t>
            </a:r>
          </a:p>
          <a:p>
            <a:pPr lvl="1"/>
            <a:r>
              <a:rPr lang="en-US" altLang="en-US" sz="1200">
                <a:latin typeface="Tahoma" panose="020B0604030504040204" pitchFamily="34" charset="0"/>
                <a:sym typeface="Symbol" panose="05050102010706020507" pitchFamily="18" charset="2"/>
              </a:rPr>
              <a:t>West Lafayette, IN</a:t>
            </a:r>
          </a:p>
          <a:p>
            <a:pPr lvl="1"/>
            <a:r>
              <a:rPr lang="en-US" altLang="en-US" sz="1200">
                <a:solidFill>
                  <a:schemeClr val="tx2"/>
                </a:solidFill>
                <a:latin typeface="Tahoma" panose="020B0604030504040204" pitchFamily="34" charset="0"/>
                <a:sym typeface="Symbol" panose="05050102010706020507" pitchFamily="18" charset="2"/>
              </a:rPr>
              <a:t>[office address]</a:t>
            </a:r>
          </a:p>
          <a:p>
            <a:pPr lvl="1"/>
            <a:endParaRPr lang="en-US" altLang="en-US" sz="1200">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765-987-6543</a:t>
            </a:r>
          </a:p>
          <a:p>
            <a:pPr lvl="1"/>
            <a:r>
              <a:rPr lang="en-US" altLang="en-US" sz="1200">
                <a:solidFill>
                  <a:schemeClr val="tx2"/>
                </a:solidFill>
                <a:latin typeface="Tahoma" panose="020B0604030504040204" pitchFamily="34" charset="0"/>
                <a:sym typeface="Symbol" panose="05050102010706020507" pitchFamily="18" charset="2"/>
              </a:rPr>
              <a:t>[office phone]</a:t>
            </a:r>
            <a:endParaRPr lang="en-US" altLang="en-US" sz="1200">
              <a:latin typeface="Tahoma" panose="020B0604030504040204" pitchFamily="34" charset="0"/>
              <a:sym typeface="Symbol" panose="05050102010706020507" pitchFamily="18" charset="2"/>
            </a:endParaRPr>
          </a:p>
        </p:txBody>
      </p:sp>
      <p:sp>
        <p:nvSpPr>
          <p:cNvPr id="1786886" name="Text Box 6"/>
          <p:cNvSpPr txBox="1">
            <a:spLocks noChangeArrowheads="1"/>
          </p:cNvSpPr>
          <p:nvPr/>
        </p:nvSpPr>
        <p:spPr bwMode="auto">
          <a:xfrm>
            <a:off x="7713664" y="2486025"/>
            <a:ext cx="25114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338138">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a:r>
              <a:rPr lang="en-US" altLang="en-US" sz="1200">
                <a:latin typeface="Tahoma" panose="020B0604030504040204" pitchFamily="34" charset="0"/>
                <a:sym typeface="Symbol" panose="05050102010706020507" pitchFamily="18" charset="2"/>
              </a:rPr>
              <a:t> </a:t>
            </a:r>
          </a:p>
          <a:p>
            <a:pPr lvl="1"/>
            <a:r>
              <a:rPr lang="en-US" altLang="en-US" sz="1200">
                <a:latin typeface="Tahoma" panose="020B0604030504040204" pitchFamily="34" charset="0"/>
                <a:sym typeface="Symbol" panose="05050102010706020507" pitchFamily="18" charset="2"/>
              </a:rPr>
              <a:t>somewhere in</a:t>
            </a:r>
          </a:p>
          <a:p>
            <a:pPr lvl="1"/>
            <a:r>
              <a:rPr lang="en-US" altLang="en-US" sz="1200">
                <a:latin typeface="Tahoma" panose="020B0604030504040204" pitchFamily="34" charset="0"/>
                <a:sym typeface="Symbol" panose="05050102010706020507" pitchFamily="18" charset="2"/>
              </a:rPr>
              <a:t>West Lafayette, IN</a:t>
            </a:r>
          </a:p>
          <a:p>
            <a:pPr lvl="1"/>
            <a:endParaRPr lang="en-US" altLang="en-US" sz="1200">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P.O. Box 1234</a:t>
            </a:r>
          </a:p>
          <a:p>
            <a:pPr lvl="1"/>
            <a:r>
              <a:rPr lang="en-US" altLang="en-US" sz="1200">
                <a:latin typeface="Tahoma" panose="020B0604030504040204" pitchFamily="34" charset="0"/>
                <a:sym typeface="Symbol" panose="05050102010706020507" pitchFamily="18" charset="2"/>
              </a:rPr>
              <a:t>West Lafayette, IN</a:t>
            </a:r>
          </a:p>
          <a:p>
            <a:pPr lvl="1"/>
            <a:r>
              <a:rPr lang="en-US" altLang="en-US" sz="1200">
                <a:solidFill>
                  <a:schemeClr val="tx2"/>
                </a:solidFill>
                <a:latin typeface="Tahoma" panose="020B0604030504040204" pitchFamily="34" charset="0"/>
                <a:sym typeface="Symbol" panose="05050102010706020507" pitchFamily="18" charset="2"/>
              </a:rPr>
              <a:t>[P.O. box]</a:t>
            </a:r>
          </a:p>
          <a:p>
            <a:pPr lvl="1"/>
            <a:endParaRPr lang="en-US" altLang="en-US" sz="1200">
              <a:solidFill>
                <a:schemeClr val="tx2"/>
              </a:solidFill>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765-987-4321</a:t>
            </a:r>
          </a:p>
          <a:p>
            <a:pPr lvl="1"/>
            <a:r>
              <a:rPr lang="en-US" altLang="en-US" sz="1200">
                <a:latin typeface="Tahoma" panose="020B0604030504040204" pitchFamily="34" charset="0"/>
                <a:sym typeface="Symbol" panose="05050102010706020507" pitchFamily="18" charset="2"/>
              </a:rPr>
              <a:t> </a:t>
            </a:r>
            <a:r>
              <a:rPr lang="en-US" altLang="en-US" sz="1200">
                <a:solidFill>
                  <a:schemeClr val="tx2"/>
                </a:solidFill>
                <a:latin typeface="Tahoma" panose="020B0604030504040204" pitchFamily="34" charset="0"/>
                <a:sym typeface="Symbol" panose="05050102010706020507" pitchFamily="18" charset="2"/>
              </a:rPr>
              <a:t>[office fax]</a:t>
            </a:r>
            <a:endParaRPr lang="en-US" altLang="en-US" sz="1200">
              <a:latin typeface="Tahoma" panose="020B0604030504040204" pitchFamily="34" charset="0"/>
              <a:sym typeface="Symbol" panose="05050102010706020507" pitchFamily="18" charset="2"/>
            </a:endParaRPr>
          </a:p>
        </p:txBody>
      </p:sp>
      <p:pic>
        <p:nvPicPr>
          <p:cNvPr id="17868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4451" y="5111751"/>
            <a:ext cx="1069975" cy="969963"/>
          </a:xfrm>
          <a:prstGeom prst="rect">
            <a:avLst/>
          </a:prstGeom>
          <a:solidFill>
            <a:srgbClr val="CCFFFF"/>
          </a:solidFill>
        </p:spPr>
      </p:pic>
      <p:sp>
        <p:nvSpPr>
          <p:cNvPr id="1786888" name="Line 8"/>
          <p:cNvSpPr>
            <a:spLocks noChangeShapeType="1"/>
          </p:cNvSpPr>
          <p:nvPr/>
        </p:nvSpPr>
        <p:spPr bwMode="auto">
          <a:xfrm>
            <a:off x="4311650" y="2886075"/>
            <a:ext cx="4635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6889" name="Line 9"/>
          <p:cNvSpPr>
            <a:spLocks noChangeShapeType="1"/>
          </p:cNvSpPr>
          <p:nvPr/>
        </p:nvSpPr>
        <p:spPr bwMode="auto">
          <a:xfrm>
            <a:off x="6845300" y="2886075"/>
            <a:ext cx="8572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6890" name="Line 10"/>
          <p:cNvSpPr>
            <a:spLocks noChangeShapeType="1"/>
          </p:cNvSpPr>
          <p:nvPr/>
        </p:nvSpPr>
        <p:spPr bwMode="auto">
          <a:xfrm>
            <a:off x="7158039" y="3705225"/>
            <a:ext cx="523875"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6891" name="Line 11"/>
          <p:cNvSpPr>
            <a:spLocks noChangeShapeType="1"/>
          </p:cNvSpPr>
          <p:nvPr/>
        </p:nvSpPr>
        <p:spPr bwMode="auto">
          <a:xfrm>
            <a:off x="3914775" y="4560888"/>
            <a:ext cx="8699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6892" name="Line 12"/>
          <p:cNvSpPr>
            <a:spLocks noChangeShapeType="1"/>
          </p:cNvSpPr>
          <p:nvPr/>
        </p:nvSpPr>
        <p:spPr bwMode="auto">
          <a:xfrm>
            <a:off x="4297363" y="3705225"/>
            <a:ext cx="4635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6893" name="Line 13"/>
          <p:cNvSpPr>
            <a:spLocks noChangeShapeType="1"/>
          </p:cNvSpPr>
          <p:nvPr/>
        </p:nvSpPr>
        <p:spPr bwMode="auto">
          <a:xfrm>
            <a:off x="6923088" y="5522913"/>
            <a:ext cx="347662"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6894" name="Line 14"/>
          <p:cNvSpPr>
            <a:spLocks noChangeShapeType="1"/>
          </p:cNvSpPr>
          <p:nvPr/>
        </p:nvSpPr>
        <p:spPr bwMode="auto">
          <a:xfrm>
            <a:off x="8547101" y="5516563"/>
            <a:ext cx="347663"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6895" name="Line 15"/>
          <p:cNvSpPr>
            <a:spLocks noChangeShapeType="1"/>
          </p:cNvSpPr>
          <p:nvPr/>
        </p:nvSpPr>
        <p:spPr bwMode="auto">
          <a:xfrm>
            <a:off x="5281613" y="5516563"/>
            <a:ext cx="347662"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6896" name="Line 16"/>
          <p:cNvSpPr>
            <a:spLocks noChangeShapeType="1"/>
          </p:cNvSpPr>
          <p:nvPr/>
        </p:nvSpPr>
        <p:spPr bwMode="auto">
          <a:xfrm>
            <a:off x="6818313" y="4568825"/>
            <a:ext cx="8699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86897"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7789" y="5111751"/>
            <a:ext cx="822325" cy="917575"/>
          </a:xfrm>
          <a:prstGeom prst="rect">
            <a:avLst/>
          </a:prstGeom>
          <a:noFill/>
          <a:extLst>
            <a:ext uri="{909E8E84-426E-40DD-AFC4-6F175D3DCCD1}">
              <a14:hiddenFill xmlns:a14="http://schemas.microsoft.com/office/drawing/2010/main">
                <a:solidFill>
                  <a:srgbClr val="FFFFFF"/>
                </a:solidFill>
              </a14:hiddenFill>
            </a:ext>
          </a:extLst>
        </p:spPr>
      </p:pic>
      <p:pic>
        <p:nvPicPr>
          <p:cNvPr id="1786898"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5963" y="5116514"/>
            <a:ext cx="931862" cy="915987"/>
          </a:xfrm>
          <a:prstGeom prst="rect">
            <a:avLst/>
          </a:prstGeom>
          <a:noFill/>
          <a:extLst>
            <a:ext uri="{909E8E84-426E-40DD-AFC4-6F175D3DCCD1}">
              <a14:hiddenFill xmlns:a14="http://schemas.microsoft.com/office/drawing/2010/main">
                <a:solidFill>
                  <a:srgbClr val="FFFFFF"/>
                </a:solidFill>
              </a14:hiddenFill>
            </a:ext>
          </a:extLst>
        </p:spPr>
      </p:pic>
      <p:sp>
        <p:nvSpPr>
          <p:cNvPr id="1786899" name="Line 19"/>
          <p:cNvSpPr>
            <a:spLocks noChangeShapeType="1"/>
          </p:cNvSpPr>
          <p:nvPr/>
        </p:nvSpPr>
        <p:spPr bwMode="auto">
          <a:xfrm>
            <a:off x="3619501" y="5518150"/>
            <a:ext cx="347663"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86900"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0138" y="5118101"/>
            <a:ext cx="868362" cy="911225"/>
          </a:xfrm>
          <a:prstGeom prst="rect">
            <a:avLst/>
          </a:prstGeom>
          <a:noFill/>
          <a:extLst>
            <a:ext uri="{909E8E84-426E-40DD-AFC4-6F175D3DCCD1}">
              <a14:hiddenFill xmlns:a14="http://schemas.microsoft.com/office/drawing/2010/main">
                <a:solidFill>
                  <a:srgbClr val="FFFFFF"/>
                </a:solidFill>
              </a14:hiddenFill>
            </a:ext>
          </a:extLst>
        </p:spPr>
      </p:pic>
      <p:pic>
        <p:nvPicPr>
          <p:cNvPr id="1786901"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6876" y="5113338"/>
            <a:ext cx="841375" cy="914400"/>
          </a:xfrm>
          <a:prstGeom prst="rect">
            <a:avLst/>
          </a:prstGeom>
          <a:noFill/>
          <a:extLst>
            <a:ext uri="{909E8E84-426E-40DD-AFC4-6F175D3DCCD1}">
              <a14:hiddenFill xmlns:a14="http://schemas.microsoft.com/office/drawing/2010/main">
                <a:solidFill>
                  <a:srgbClr val="FFFFFF"/>
                </a:solidFill>
              </a14:hiddenFill>
            </a:ext>
          </a:extLst>
        </p:spPr>
      </p:pic>
      <p:sp>
        <p:nvSpPr>
          <p:cNvPr id="1786902" name="Rectangle 22"/>
          <p:cNvSpPr>
            <a:spLocks noChangeArrowheads="1"/>
          </p:cNvSpPr>
          <p:nvPr/>
        </p:nvSpPr>
        <p:spPr bwMode="auto">
          <a:xfrm>
            <a:off x="2376488" y="4956175"/>
            <a:ext cx="7785100" cy="1371600"/>
          </a:xfrm>
          <a:prstGeom prst="rect">
            <a:avLst/>
          </a:prstGeom>
          <a:gradFill rotWithShape="1">
            <a:gsLst>
              <a:gs pos="0">
                <a:schemeClr val="folHlink"/>
              </a:gs>
              <a:gs pos="100000">
                <a:schemeClr val="folHlink">
                  <a:gamma/>
                  <a:shade val="46275"/>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5302181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8930" name="Rectangle 2"/>
          <p:cNvSpPr>
            <a:spLocks noGrp="1" noChangeArrowheads="1"/>
          </p:cNvSpPr>
          <p:nvPr>
            <p:ph type="body" idx="1"/>
          </p:nvPr>
        </p:nvSpPr>
        <p:spPr>
          <a:xfrm>
            <a:off x="1898650" y="1343026"/>
            <a:ext cx="8769350" cy="1166813"/>
          </a:xfrm>
        </p:spPr>
        <p:txBody>
          <a:bodyPr>
            <a:normAutofit lnSpcReduction="10000"/>
          </a:bodyPr>
          <a:lstStyle/>
          <a:p>
            <a:pPr>
              <a:lnSpc>
                <a:spcPct val="80000"/>
              </a:lnSpc>
              <a:tabLst>
                <a:tab pos="1379538" algn="l"/>
                <a:tab pos="3892550" algn="l"/>
              </a:tabLst>
            </a:pPr>
            <a:r>
              <a:rPr lang="en-US" altLang="en-US" sz="2800">
                <a:sym typeface="Symbol" panose="05050102010706020507" pitchFamily="18" charset="2"/>
              </a:rPr>
              <a:t>Distorted data reveal less, protects privacy</a:t>
            </a:r>
          </a:p>
          <a:p>
            <a:pPr>
              <a:lnSpc>
                <a:spcPct val="80000"/>
              </a:lnSpc>
              <a:tabLst>
                <a:tab pos="1379538" algn="l"/>
                <a:tab pos="3892550" algn="l"/>
              </a:tabLst>
            </a:pPr>
            <a:r>
              <a:rPr lang="en-US" altLang="en-US" sz="2800">
                <a:sym typeface="Symbol" panose="05050102010706020507" pitchFamily="18" charset="2"/>
              </a:rPr>
              <a:t>Examples:</a:t>
            </a:r>
          </a:p>
          <a:p>
            <a:pPr marL="793750" lvl="1">
              <a:lnSpc>
                <a:spcPct val="80000"/>
              </a:lnSpc>
              <a:buNone/>
              <a:tabLst>
                <a:tab pos="1379538" algn="l"/>
                <a:tab pos="3892550" algn="l"/>
              </a:tabLst>
            </a:pPr>
            <a:r>
              <a:rPr lang="en-US" altLang="en-US" sz="1800">
                <a:solidFill>
                  <a:schemeClr val="tx2"/>
                </a:solidFill>
                <a:sym typeface="Symbol" panose="05050102010706020507" pitchFamily="18" charset="2"/>
              </a:rPr>
              <a:t>  </a:t>
            </a:r>
            <a:r>
              <a:rPr lang="en-US" altLang="en-US" sz="1800" u="sng">
                <a:solidFill>
                  <a:schemeClr val="tx2"/>
                </a:solidFill>
                <a:sym typeface="Symbol" panose="05050102010706020507" pitchFamily="18" charset="2"/>
              </a:rPr>
              <a:t>accurate data</a:t>
            </a:r>
            <a:r>
              <a:rPr lang="en-US" altLang="en-US" sz="1800">
                <a:solidFill>
                  <a:schemeClr val="tx2"/>
                </a:solidFill>
                <a:sym typeface="Symbol" panose="05050102010706020507" pitchFamily="18" charset="2"/>
              </a:rPr>
              <a:t>	</a:t>
            </a:r>
            <a:r>
              <a:rPr lang="en-US" altLang="en-US" sz="1800" u="sng">
                <a:solidFill>
                  <a:schemeClr val="tx2"/>
                </a:solidFill>
                <a:sym typeface="Symbol" panose="05050102010706020507" pitchFamily="18" charset="2"/>
              </a:rPr>
              <a:t>more and more distorted data</a:t>
            </a:r>
          </a:p>
        </p:txBody>
      </p:sp>
      <p:sp>
        <p:nvSpPr>
          <p:cNvPr id="1788931" name="Rectangle 3"/>
          <p:cNvSpPr>
            <a:spLocks noGrp="1" noChangeArrowheads="1"/>
          </p:cNvSpPr>
          <p:nvPr>
            <p:ph type="title"/>
          </p:nvPr>
        </p:nvSpPr>
        <p:spPr>
          <a:xfrm>
            <a:off x="2833688" y="0"/>
            <a:ext cx="7834312" cy="1182688"/>
          </a:xfrm>
          <a:noFill/>
          <a:ln/>
        </p:spPr>
        <p:txBody>
          <a:bodyPr anchor="b">
            <a:normAutofit fontScale="90000"/>
          </a:bodyPr>
          <a:lstStyle/>
          <a:p>
            <a:r>
              <a:rPr lang="en-US" altLang="en-US">
                <a:solidFill>
                  <a:srgbClr val="0000FF"/>
                </a:solidFill>
              </a:rPr>
              <a:t>Evaporation </a:t>
            </a:r>
            <a:r>
              <a:rPr lang="en-US" altLang="en-US">
                <a:solidFill>
                  <a:srgbClr val="0000FF"/>
                </a:solidFill>
                <a:sym typeface="Symbol" panose="05050102010706020507" pitchFamily="18" charset="2"/>
              </a:rPr>
              <a:t>Implemented as</a:t>
            </a:r>
            <a:br>
              <a:rPr lang="en-US" altLang="en-US">
                <a:solidFill>
                  <a:srgbClr val="0000FF"/>
                </a:solidFill>
                <a:sym typeface="Symbol" panose="05050102010706020507" pitchFamily="18" charset="2"/>
              </a:rPr>
            </a:br>
            <a:r>
              <a:rPr lang="en-US" altLang="en-US">
                <a:solidFill>
                  <a:srgbClr val="0000FF"/>
                </a:solidFill>
                <a:sym typeface="Symbol" panose="05050102010706020507" pitchFamily="18" charset="2"/>
              </a:rPr>
              <a:t>Controlled Data Distortion</a:t>
            </a:r>
          </a:p>
        </p:txBody>
      </p:sp>
      <p:sp>
        <p:nvSpPr>
          <p:cNvPr id="1788932" name="Text Box 4"/>
          <p:cNvSpPr txBox="1">
            <a:spLocks noChangeArrowheads="1"/>
          </p:cNvSpPr>
          <p:nvPr/>
        </p:nvSpPr>
        <p:spPr bwMode="auto">
          <a:xfrm>
            <a:off x="2322513" y="2397125"/>
            <a:ext cx="2032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114300">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250 N. Salisbury Street</a:t>
            </a:r>
          </a:p>
          <a:p>
            <a:pPr lvl="1"/>
            <a:r>
              <a:rPr lang="en-US" altLang="en-US" sz="1200">
                <a:latin typeface="Tahoma" panose="020B0604030504040204" pitchFamily="34" charset="0"/>
                <a:sym typeface="Symbol" panose="05050102010706020507" pitchFamily="18" charset="2"/>
              </a:rPr>
              <a:t>West Lafayette, IN</a:t>
            </a:r>
          </a:p>
          <a:p>
            <a:pPr lvl="1"/>
            <a:endParaRPr lang="en-US" altLang="en-US" sz="1200">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250 N. Salisbury Street</a:t>
            </a:r>
          </a:p>
          <a:p>
            <a:pPr lvl="1"/>
            <a:r>
              <a:rPr lang="en-US" altLang="en-US" sz="1200">
                <a:latin typeface="Tahoma" panose="020B0604030504040204" pitchFamily="34" charset="0"/>
                <a:sym typeface="Symbol" panose="05050102010706020507" pitchFamily="18" charset="2"/>
              </a:rPr>
              <a:t>West Lafayette, IN</a:t>
            </a:r>
          </a:p>
          <a:p>
            <a:pPr lvl="1"/>
            <a:r>
              <a:rPr lang="en-US" altLang="en-US" sz="1200">
                <a:solidFill>
                  <a:schemeClr val="tx2"/>
                </a:solidFill>
                <a:latin typeface="Tahoma" panose="020B0604030504040204" pitchFamily="34" charset="0"/>
                <a:sym typeface="Symbol" panose="05050102010706020507" pitchFamily="18" charset="2"/>
              </a:rPr>
              <a:t>[home address]</a:t>
            </a:r>
          </a:p>
          <a:p>
            <a:pPr lvl="1"/>
            <a:endParaRPr lang="en-US" altLang="en-US" sz="1200">
              <a:solidFill>
                <a:schemeClr val="tx2"/>
              </a:solidFill>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765-123-4567</a:t>
            </a:r>
          </a:p>
          <a:p>
            <a:pPr lvl="1"/>
            <a:r>
              <a:rPr lang="en-US" altLang="en-US" sz="1200">
                <a:solidFill>
                  <a:schemeClr val="tx2"/>
                </a:solidFill>
                <a:latin typeface="Tahoma" panose="020B0604030504040204" pitchFamily="34" charset="0"/>
                <a:sym typeface="Symbol" panose="05050102010706020507" pitchFamily="18" charset="2"/>
              </a:rPr>
              <a:t>[home phone]</a:t>
            </a:r>
            <a:endParaRPr lang="en-US" altLang="en-US" sz="1200">
              <a:latin typeface="Tahoma" panose="020B0604030504040204" pitchFamily="34" charset="0"/>
              <a:sym typeface="Symbol" panose="05050102010706020507" pitchFamily="18" charset="2"/>
            </a:endParaRPr>
          </a:p>
        </p:txBody>
      </p:sp>
      <p:sp>
        <p:nvSpPr>
          <p:cNvPr id="1788933" name="Text Box 5"/>
          <p:cNvSpPr txBox="1">
            <a:spLocks noChangeArrowheads="1"/>
          </p:cNvSpPr>
          <p:nvPr/>
        </p:nvSpPr>
        <p:spPr bwMode="auto">
          <a:xfrm>
            <a:off x="4889501" y="2397125"/>
            <a:ext cx="20478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169863">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Salisbury Street</a:t>
            </a:r>
          </a:p>
          <a:p>
            <a:pPr lvl="1"/>
            <a:r>
              <a:rPr lang="en-US" altLang="en-US" sz="1200">
                <a:latin typeface="Tahoma" panose="020B0604030504040204" pitchFamily="34" charset="0"/>
                <a:sym typeface="Symbol" panose="05050102010706020507" pitchFamily="18" charset="2"/>
              </a:rPr>
              <a:t>West Lafayette, IN</a:t>
            </a:r>
          </a:p>
          <a:p>
            <a:pPr lvl="1"/>
            <a:endParaRPr lang="en-US" altLang="en-US" sz="1200">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250 N. University Street</a:t>
            </a:r>
          </a:p>
          <a:p>
            <a:pPr lvl="1"/>
            <a:r>
              <a:rPr lang="en-US" altLang="en-US" sz="1200">
                <a:latin typeface="Tahoma" panose="020B0604030504040204" pitchFamily="34" charset="0"/>
                <a:sym typeface="Symbol" panose="05050102010706020507" pitchFamily="18" charset="2"/>
              </a:rPr>
              <a:t>West Lafayette, IN</a:t>
            </a:r>
          </a:p>
          <a:p>
            <a:pPr lvl="1"/>
            <a:r>
              <a:rPr lang="en-US" altLang="en-US" sz="1200">
                <a:solidFill>
                  <a:schemeClr val="tx2"/>
                </a:solidFill>
                <a:latin typeface="Tahoma" panose="020B0604030504040204" pitchFamily="34" charset="0"/>
                <a:sym typeface="Symbol" panose="05050102010706020507" pitchFamily="18" charset="2"/>
              </a:rPr>
              <a:t>[office address]</a:t>
            </a:r>
          </a:p>
          <a:p>
            <a:pPr lvl="1"/>
            <a:endParaRPr lang="en-US" altLang="en-US" sz="1200">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765-987-6543</a:t>
            </a:r>
          </a:p>
          <a:p>
            <a:pPr lvl="1"/>
            <a:r>
              <a:rPr lang="en-US" altLang="en-US" sz="1200">
                <a:solidFill>
                  <a:schemeClr val="tx2"/>
                </a:solidFill>
                <a:latin typeface="Tahoma" panose="020B0604030504040204" pitchFamily="34" charset="0"/>
                <a:sym typeface="Symbol" panose="05050102010706020507" pitchFamily="18" charset="2"/>
              </a:rPr>
              <a:t>[office phone]</a:t>
            </a:r>
            <a:endParaRPr lang="en-US" altLang="en-US" sz="1200">
              <a:latin typeface="Tahoma" panose="020B0604030504040204" pitchFamily="34" charset="0"/>
              <a:sym typeface="Symbol" panose="05050102010706020507" pitchFamily="18" charset="2"/>
            </a:endParaRPr>
          </a:p>
        </p:txBody>
      </p:sp>
      <p:sp>
        <p:nvSpPr>
          <p:cNvPr id="1788934" name="Text Box 6"/>
          <p:cNvSpPr txBox="1">
            <a:spLocks noChangeArrowheads="1"/>
          </p:cNvSpPr>
          <p:nvPr/>
        </p:nvSpPr>
        <p:spPr bwMode="auto">
          <a:xfrm>
            <a:off x="7713664" y="2397125"/>
            <a:ext cx="25114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338138">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fontAlgn="base">
              <a:spcBef>
                <a:spcPct val="0"/>
              </a:spcBef>
              <a:spcAft>
                <a:spcPct val="0"/>
              </a:spcAft>
              <a:defRPr sz="2400">
                <a:solidFill>
                  <a:schemeClr val="tx1"/>
                </a:solidFill>
                <a:latin typeface="Times New Roman" panose="02020603050405020304" pitchFamily="18" charset="0"/>
              </a:defRPr>
            </a:lvl6pPr>
            <a:lvl7pPr fontAlgn="base">
              <a:spcBef>
                <a:spcPct val="0"/>
              </a:spcBef>
              <a:spcAft>
                <a:spcPct val="0"/>
              </a:spcAft>
              <a:defRPr sz="2400">
                <a:solidFill>
                  <a:schemeClr val="tx1"/>
                </a:solidFill>
                <a:latin typeface="Times New Roman" panose="02020603050405020304" pitchFamily="18" charset="0"/>
              </a:defRPr>
            </a:lvl7pPr>
            <a:lvl8pPr fontAlgn="base">
              <a:spcBef>
                <a:spcPct val="0"/>
              </a:spcBef>
              <a:spcAft>
                <a:spcPct val="0"/>
              </a:spcAft>
              <a:defRPr sz="2400">
                <a:solidFill>
                  <a:schemeClr val="tx1"/>
                </a:solidFill>
                <a:latin typeface="Times New Roman" panose="02020603050405020304" pitchFamily="18" charset="0"/>
              </a:defRPr>
            </a:lvl8pPr>
            <a:lvl9pPr fontAlgn="base">
              <a:spcBef>
                <a:spcPct val="0"/>
              </a:spcBef>
              <a:spcAft>
                <a:spcPct val="0"/>
              </a:spcAft>
              <a:defRPr sz="2400">
                <a:solidFill>
                  <a:schemeClr val="tx1"/>
                </a:solidFill>
                <a:latin typeface="Times New Roman" panose="02020603050405020304" pitchFamily="18" charset="0"/>
              </a:defRPr>
            </a:lvl9pPr>
          </a:lstStyle>
          <a:p>
            <a:pPr lvl="1"/>
            <a:r>
              <a:rPr lang="en-US" altLang="en-US" sz="1200">
                <a:latin typeface="Tahoma" panose="020B0604030504040204" pitchFamily="34" charset="0"/>
                <a:sym typeface="Symbol" panose="05050102010706020507" pitchFamily="18" charset="2"/>
              </a:rPr>
              <a:t> </a:t>
            </a:r>
          </a:p>
          <a:p>
            <a:pPr lvl="1"/>
            <a:r>
              <a:rPr lang="en-US" altLang="en-US" sz="1200">
                <a:latin typeface="Tahoma" panose="020B0604030504040204" pitchFamily="34" charset="0"/>
                <a:sym typeface="Symbol" panose="05050102010706020507" pitchFamily="18" charset="2"/>
              </a:rPr>
              <a:t>somewhere in</a:t>
            </a:r>
          </a:p>
          <a:p>
            <a:pPr lvl="1"/>
            <a:r>
              <a:rPr lang="en-US" altLang="en-US" sz="1200">
                <a:latin typeface="Tahoma" panose="020B0604030504040204" pitchFamily="34" charset="0"/>
                <a:sym typeface="Symbol" panose="05050102010706020507" pitchFamily="18" charset="2"/>
              </a:rPr>
              <a:t>West Lafayette, IN</a:t>
            </a:r>
          </a:p>
          <a:p>
            <a:pPr lvl="1"/>
            <a:endParaRPr lang="en-US" altLang="en-US" sz="1200">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P.O. Box 1234</a:t>
            </a:r>
          </a:p>
          <a:p>
            <a:pPr lvl="1"/>
            <a:r>
              <a:rPr lang="en-US" altLang="en-US" sz="1200">
                <a:latin typeface="Tahoma" panose="020B0604030504040204" pitchFamily="34" charset="0"/>
                <a:sym typeface="Symbol" panose="05050102010706020507" pitchFamily="18" charset="2"/>
              </a:rPr>
              <a:t>West Lafayette, IN</a:t>
            </a:r>
          </a:p>
          <a:p>
            <a:pPr lvl="1"/>
            <a:r>
              <a:rPr lang="en-US" altLang="en-US" sz="1200">
                <a:solidFill>
                  <a:schemeClr val="tx2"/>
                </a:solidFill>
                <a:latin typeface="Tahoma" panose="020B0604030504040204" pitchFamily="34" charset="0"/>
                <a:sym typeface="Symbol" panose="05050102010706020507" pitchFamily="18" charset="2"/>
              </a:rPr>
              <a:t>[P.O. box]</a:t>
            </a:r>
          </a:p>
          <a:p>
            <a:pPr lvl="1"/>
            <a:endParaRPr lang="en-US" altLang="en-US" sz="1200">
              <a:solidFill>
                <a:schemeClr val="tx2"/>
              </a:solidFill>
              <a:latin typeface="Tahoma" panose="020B0604030504040204" pitchFamily="34" charset="0"/>
              <a:sym typeface="Symbol" panose="05050102010706020507" pitchFamily="18" charset="2"/>
            </a:endParaRPr>
          </a:p>
          <a:p>
            <a:pPr lvl="1"/>
            <a:endParaRPr lang="en-US" altLang="en-US" sz="1200">
              <a:latin typeface="Tahoma" panose="020B0604030504040204" pitchFamily="34" charset="0"/>
              <a:sym typeface="Symbol" panose="05050102010706020507" pitchFamily="18" charset="2"/>
            </a:endParaRPr>
          </a:p>
          <a:p>
            <a:pPr lvl="1"/>
            <a:r>
              <a:rPr lang="en-US" altLang="en-US" sz="1200">
                <a:latin typeface="Tahoma" panose="020B0604030504040204" pitchFamily="34" charset="0"/>
                <a:sym typeface="Symbol" panose="05050102010706020507" pitchFamily="18" charset="2"/>
              </a:rPr>
              <a:t>765-987-4321</a:t>
            </a:r>
          </a:p>
          <a:p>
            <a:pPr lvl="1"/>
            <a:r>
              <a:rPr lang="en-US" altLang="en-US" sz="1200">
                <a:latin typeface="Tahoma" panose="020B0604030504040204" pitchFamily="34" charset="0"/>
                <a:sym typeface="Symbol" panose="05050102010706020507" pitchFamily="18" charset="2"/>
              </a:rPr>
              <a:t> </a:t>
            </a:r>
            <a:r>
              <a:rPr lang="en-US" altLang="en-US" sz="1200">
                <a:solidFill>
                  <a:schemeClr val="tx2"/>
                </a:solidFill>
                <a:latin typeface="Tahoma" panose="020B0604030504040204" pitchFamily="34" charset="0"/>
                <a:sym typeface="Symbol" panose="05050102010706020507" pitchFamily="18" charset="2"/>
              </a:rPr>
              <a:t>[office fax]</a:t>
            </a:r>
            <a:endParaRPr lang="en-US" altLang="en-US" sz="1200">
              <a:latin typeface="Tahoma" panose="020B0604030504040204" pitchFamily="34" charset="0"/>
              <a:sym typeface="Symbol" panose="05050102010706020507" pitchFamily="18" charset="2"/>
            </a:endParaRPr>
          </a:p>
        </p:txBody>
      </p:sp>
      <p:pic>
        <p:nvPicPr>
          <p:cNvPr id="178893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4451" y="5111751"/>
            <a:ext cx="1069975" cy="969963"/>
          </a:xfrm>
          <a:prstGeom prst="rect">
            <a:avLst/>
          </a:prstGeom>
          <a:solidFill>
            <a:srgbClr val="CCFFFF"/>
          </a:solidFill>
        </p:spPr>
      </p:pic>
      <p:sp>
        <p:nvSpPr>
          <p:cNvPr id="1788936" name="Line 8"/>
          <p:cNvSpPr>
            <a:spLocks noChangeShapeType="1"/>
          </p:cNvSpPr>
          <p:nvPr/>
        </p:nvSpPr>
        <p:spPr bwMode="auto">
          <a:xfrm>
            <a:off x="4311650" y="2797175"/>
            <a:ext cx="4635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8937" name="Line 9"/>
          <p:cNvSpPr>
            <a:spLocks noChangeShapeType="1"/>
          </p:cNvSpPr>
          <p:nvPr/>
        </p:nvSpPr>
        <p:spPr bwMode="auto">
          <a:xfrm>
            <a:off x="6845300" y="2797175"/>
            <a:ext cx="8572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8938" name="Line 10"/>
          <p:cNvSpPr>
            <a:spLocks noChangeShapeType="1"/>
          </p:cNvSpPr>
          <p:nvPr/>
        </p:nvSpPr>
        <p:spPr bwMode="auto">
          <a:xfrm>
            <a:off x="7158039" y="3616325"/>
            <a:ext cx="523875"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8939" name="Line 11"/>
          <p:cNvSpPr>
            <a:spLocks noChangeShapeType="1"/>
          </p:cNvSpPr>
          <p:nvPr/>
        </p:nvSpPr>
        <p:spPr bwMode="auto">
          <a:xfrm>
            <a:off x="3914775" y="4471988"/>
            <a:ext cx="8699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8940" name="Line 12"/>
          <p:cNvSpPr>
            <a:spLocks noChangeShapeType="1"/>
          </p:cNvSpPr>
          <p:nvPr/>
        </p:nvSpPr>
        <p:spPr bwMode="auto">
          <a:xfrm>
            <a:off x="4297363" y="3616325"/>
            <a:ext cx="4635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8941" name="Line 13"/>
          <p:cNvSpPr>
            <a:spLocks noChangeShapeType="1"/>
          </p:cNvSpPr>
          <p:nvPr/>
        </p:nvSpPr>
        <p:spPr bwMode="auto">
          <a:xfrm>
            <a:off x="6923088" y="5522913"/>
            <a:ext cx="347662"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8942" name="Line 14"/>
          <p:cNvSpPr>
            <a:spLocks noChangeShapeType="1"/>
          </p:cNvSpPr>
          <p:nvPr/>
        </p:nvSpPr>
        <p:spPr bwMode="auto">
          <a:xfrm>
            <a:off x="8547101" y="5516563"/>
            <a:ext cx="347663"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8943" name="Line 15"/>
          <p:cNvSpPr>
            <a:spLocks noChangeShapeType="1"/>
          </p:cNvSpPr>
          <p:nvPr/>
        </p:nvSpPr>
        <p:spPr bwMode="auto">
          <a:xfrm>
            <a:off x="5281613" y="5516563"/>
            <a:ext cx="347662"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8944" name="Line 16"/>
          <p:cNvSpPr>
            <a:spLocks noChangeShapeType="1"/>
          </p:cNvSpPr>
          <p:nvPr/>
        </p:nvSpPr>
        <p:spPr bwMode="auto">
          <a:xfrm>
            <a:off x="6818313" y="4479925"/>
            <a:ext cx="86995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88945"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7789" y="5111751"/>
            <a:ext cx="822325" cy="917575"/>
          </a:xfrm>
          <a:prstGeom prst="rect">
            <a:avLst/>
          </a:prstGeom>
          <a:noFill/>
          <a:extLst>
            <a:ext uri="{909E8E84-426E-40DD-AFC4-6F175D3DCCD1}">
              <a14:hiddenFill xmlns:a14="http://schemas.microsoft.com/office/drawing/2010/main">
                <a:solidFill>
                  <a:srgbClr val="FFFFFF"/>
                </a:solidFill>
              </a14:hiddenFill>
            </a:ext>
          </a:extLst>
        </p:spPr>
      </p:pic>
      <p:pic>
        <p:nvPicPr>
          <p:cNvPr id="1788946"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5963" y="5116514"/>
            <a:ext cx="931862" cy="915987"/>
          </a:xfrm>
          <a:prstGeom prst="rect">
            <a:avLst/>
          </a:prstGeom>
          <a:noFill/>
          <a:extLst>
            <a:ext uri="{909E8E84-426E-40DD-AFC4-6F175D3DCCD1}">
              <a14:hiddenFill xmlns:a14="http://schemas.microsoft.com/office/drawing/2010/main">
                <a:solidFill>
                  <a:srgbClr val="FFFFFF"/>
                </a:solidFill>
              </a14:hiddenFill>
            </a:ext>
          </a:extLst>
        </p:spPr>
      </p:pic>
      <p:sp>
        <p:nvSpPr>
          <p:cNvPr id="1788947" name="Line 19"/>
          <p:cNvSpPr>
            <a:spLocks noChangeShapeType="1"/>
          </p:cNvSpPr>
          <p:nvPr/>
        </p:nvSpPr>
        <p:spPr bwMode="auto">
          <a:xfrm>
            <a:off x="3619501" y="5518150"/>
            <a:ext cx="347663"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88948" name="Picture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0138" y="5118101"/>
            <a:ext cx="868362" cy="911225"/>
          </a:xfrm>
          <a:prstGeom prst="rect">
            <a:avLst/>
          </a:prstGeom>
          <a:noFill/>
          <a:extLst>
            <a:ext uri="{909E8E84-426E-40DD-AFC4-6F175D3DCCD1}">
              <a14:hiddenFill xmlns:a14="http://schemas.microsoft.com/office/drawing/2010/main">
                <a:solidFill>
                  <a:srgbClr val="FFFFFF"/>
                </a:solidFill>
              </a14:hiddenFill>
            </a:ext>
          </a:extLst>
        </p:spPr>
      </p:pic>
      <p:pic>
        <p:nvPicPr>
          <p:cNvPr id="1788949"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6876" y="5113338"/>
            <a:ext cx="841375"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3701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0386" name="Rectangle 2"/>
          <p:cNvSpPr>
            <a:spLocks noGrp="1" noChangeArrowheads="1"/>
          </p:cNvSpPr>
          <p:nvPr>
            <p:ph type="title"/>
          </p:nvPr>
        </p:nvSpPr>
        <p:spPr>
          <a:xfrm>
            <a:off x="2052638" y="520701"/>
            <a:ext cx="8069262" cy="784225"/>
          </a:xfrm>
        </p:spPr>
        <p:txBody>
          <a:bodyPr/>
          <a:lstStyle/>
          <a:p>
            <a:r>
              <a:rPr lang="en-US" altLang="en-US">
                <a:solidFill>
                  <a:srgbClr val="0000CC"/>
                </a:solidFill>
              </a:rPr>
              <a:t>References</a:t>
            </a:r>
          </a:p>
        </p:txBody>
      </p:sp>
      <p:sp>
        <p:nvSpPr>
          <p:cNvPr id="1680387" name="Rectangle 3"/>
          <p:cNvSpPr>
            <a:spLocks noGrp="1" noChangeArrowheads="1"/>
          </p:cNvSpPr>
          <p:nvPr>
            <p:ph type="body" idx="1"/>
          </p:nvPr>
        </p:nvSpPr>
        <p:spPr>
          <a:xfrm>
            <a:off x="1752600" y="1290638"/>
            <a:ext cx="8915400" cy="5567362"/>
          </a:xfrm>
        </p:spPr>
        <p:txBody>
          <a:bodyPr>
            <a:normAutofit fontScale="92500"/>
          </a:bodyPr>
          <a:lstStyle/>
          <a:p>
            <a:pPr>
              <a:lnSpc>
                <a:spcPct val="80000"/>
              </a:lnSpc>
              <a:buFontTx/>
              <a:buNone/>
            </a:pPr>
            <a:r>
              <a:rPr lang="en-US" altLang="en-US" sz="1600"/>
              <a:t>L. Lilien and B. Bhargava, ”</a:t>
            </a:r>
            <a:r>
              <a:rPr lang="en-US" altLang="en-US" sz="1600">
                <a:hlinkClick r:id="rId3"/>
              </a:rPr>
              <a:t>A scheme for privacy-preserving data dissemination</a:t>
            </a:r>
            <a:r>
              <a:rPr lang="en-US" altLang="en-US" sz="1600"/>
              <a:t>,” </a:t>
            </a:r>
            <a:r>
              <a:rPr lang="en-US" altLang="en-US" sz="1600" i="1"/>
              <a:t>IEEE Transactions on Systems, Man and Cybernetics, Part A: Systems and Humans</a:t>
            </a:r>
            <a:r>
              <a:rPr lang="en-US" altLang="en-US" sz="1600"/>
              <a:t>, Vol. 36(3), May 2006, pp. 503-506.</a:t>
            </a:r>
          </a:p>
          <a:p>
            <a:pPr>
              <a:lnSpc>
                <a:spcPct val="80000"/>
              </a:lnSpc>
              <a:buFontTx/>
              <a:buNone/>
            </a:pPr>
            <a:r>
              <a:rPr lang="en-US" altLang="en-US" sz="1600"/>
              <a:t>Bharat Bhargava, Leszek Lilien, Arnon Rosenthal, Marianne Winslett, “Pervasive Trust,” </a:t>
            </a:r>
            <a:r>
              <a:rPr lang="en-US" altLang="en-US" sz="1600" i="1"/>
              <a:t>IEEE Intelligent Systems</a:t>
            </a:r>
            <a:r>
              <a:rPr lang="en-US" altLang="en-US" sz="1600"/>
              <a:t>, Sept./Oct. 2004, pp.74-77</a:t>
            </a:r>
          </a:p>
          <a:p>
            <a:pPr>
              <a:lnSpc>
                <a:spcPct val="80000"/>
              </a:lnSpc>
              <a:buFontTx/>
              <a:buNone/>
            </a:pPr>
            <a:r>
              <a:rPr lang="en-US" altLang="en-US" sz="1600"/>
              <a:t>B. Bhargava and L. Lilien, “Private and Trusted Collaborations,” </a:t>
            </a:r>
            <a:r>
              <a:rPr lang="en-US" altLang="en-US" sz="1600" i="1"/>
              <a:t>Secure</a:t>
            </a:r>
            <a:r>
              <a:rPr lang="en-US" altLang="en-US" sz="1600"/>
              <a:t> </a:t>
            </a:r>
            <a:r>
              <a:rPr lang="en-US" altLang="en-US" sz="1600" i="1"/>
              <a:t>Knowledge Management </a:t>
            </a:r>
            <a:r>
              <a:rPr lang="en-US" altLang="en-US" sz="1600"/>
              <a:t>(SKM 2004)</a:t>
            </a:r>
            <a:r>
              <a:rPr lang="en-US" altLang="en-US" sz="1600" i="1"/>
              <a:t>: A</a:t>
            </a:r>
            <a:r>
              <a:rPr lang="en-US" altLang="en-US" sz="1600"/>
              <a:t> </a:t>
            </a:r>
            <a:r>
              <a:rPr lang="en-US" altLang="en-US" sz="1600" i="1"/>
              <a:t>Workshop</a:t>
            </a:r>
            <a:r>
              <a:rPr lang="en-US" altLang="en-US" sz="1600"/>
              <a:t>, 2004.</a:t>
            </a:r>
          </a:p>
          <a:p>
            <a:pPr>
              <a:lnSpc>
                <a:spcPct val="80000"/>
              </a:lnSpc>
              <a:buFontTx/>
              <a:buNone/>
            </a:pPr>
            <a:r>
              <a:rPr lang="en-US" altLang="en-US" sz="1600"/>
              <a:t>B. Bhargava, C. Farkas, L. Lilien and F. Makedon, “Trust, Privacy, and Security. Summary of a Workshop Breakout Session at the National Science Foundation Information and Data Management (IDM) Workshop held in Seattle, Washington, September 14 - 16, 2003,” CERIAS Tech Report 2003-34, CERIAS, Purdue University, Nov. 2003.</a:t>
            </a:r>
          </a:p>
          <a:p>
            <a:pPr>
              <a:lnSpc>
                <a:spcPct val="80000"/>
              </a:lnSpc>
              <a:spcBef>
                <a:spcPct val="0"/>
              </a:spcBef>
              <a:buFontTx/>
              <a:buNone/>
            </a:pPr>
            <a:r>
              <a:rPr lang="en-US" altLang="en-US" sz="1600"/>
              <a:t>	</a:t>
            </a:r>
            <a:r>
              <a:rPr lang="en-US" altLang="en-US" sz="1600">
                <a:hlinkClick r:id="rId4"/>
              </a:rPr>
              <a:t>http://www2.cs.washington.edu/nsf2003</a:t>
            </a:r>
            <a:r>
              <a:rPr lang="en-US" altLang="en-US" sz="1600"/>
              <a:t> or</a:t>
            </a:r>
          </a:p>
          <a:p>
            <a:pPr>
              <a:lnSpc>
                <a:spcPct val="80000"/>
              </a:lnSpc>
              <a:spcBef>
                <a:spcPct val="0"/>
              </a:spcBef>
              <a:buFontTx/>
              <a:buNone/>
            </a:pPr>
            <a:r>
              <a:rPr lang="en-US" altLang="en-US" sz="1600"/>
              <a:t>	</a:t>
            </a:r>
            <a:r>
              <a:rPr lang="en-US" altLang="en-US" sz="1600">
                <a:hlinkClick r:id="rId5"/>
              </a:rPr>
              <a:t>https://www.cerias.purdue.edu/tools_and_resources/bibtex_archive/archive/2003-34.pdf</a:t>
            </a:r>
            <a:endParaRPr lang="en-US" altLang="en-US" sz="1600"/>
          </a:p>
          <a:p>
            <a:pPr>
              <a:lnSpc>
                <a:spcPct val="80000"/>
              </a:lnSpc>
              <a:spcBef>
                <a:spcPct val="0"/>
              </a:spcBef>
              <a:buFontTx/>
              <a:buNone/>
            </a:pPr>
            <a:endParaRPr lang="en-US" altLang="en-US" sz="800"/>
          </a:p>
          <a:p>
            <a:pPr>
              <a:lnSpc>
                <a:spcPct val="80000"/>
              </a:lnSpc>
              <a:buFontTx/>
              <a:buNone/>
            </a:pPr>
            <a:r>
              <a:rPr lang="en-US" altLang="en-US" sz="1600"/>
              <a:t>“Internet Security Glossary,” </a:t>
            </a:r>
            <a:r>
              <a:rPr lang="en-US" altLang="en-US" sz="1600" i="1"/>
              <a:t>The Internet Society</a:t>
            </a:r>
            <a:r>
              <a:rPr lang="en-US" altLang="en-US" sz="1600"/>
              <a:t>, Aug. 2004; www.faqs.org/rfcs/rfc2828.html.</a:t>
            </a:r>
          </a:p>
          <a:p>
            <a:pPr>
              <a:lnSpc>
                <a:spcPct val="80000"/>
              </a:lnSpc>
              <a:buFontTx/>
              <a:buNone/>
            </a:pPr>
            <a:r>
              <a:rPr lang="en-US" altLang="en-US" sz="1600"/>
              <a:t>“Sensor Nation: Special Report,” </a:t>
            </a:r>
            <a:r>
              <a:rPr lang="en-US" altLang="en-US" sz="1600" i="1"/>
              <a:t>IEEE Spectrum</a:t>
            </a:r>
            <a:r>
              <a:rPr lang="en-US" altLang="en-US" sz="1600"/>
              <a:t>, vol. 41, no. 7, 2004.</a:t>
            </a:r>
          </a:p>
          <a:p>
            <a:pPr>
              <a:lnSpc>
                <a:spcPct val="80000"/>
              </a:lnSpc>
              <a:buFontTx/>
              <a:buNone/>
            </a:pPr>
            <a:r>
              <a:rPr lang="en-US" altLang="en-US" sz="1600">
                <a:solidFill>
                  <a:srgbClr val="777777"/>
                </a:solidFill>
              </a:rPr>
              <a:t>R. Khare and A. Rifkin, “Trust Management on the World Wide Web,” </a:t>
            </a:r>
            <a:r>
              <a:rPr lang="en-US" altLang="en-US" sz="1600" i="1">
                <a:solidFill>
                  <a:srgbClr val="777777"/>
                </a:solidFill>
              </a:rPr>
              <a:t>First Monday</a:t>
            </a:r>
            <a:r>
              <a:rPr lang="en-US" altLang="en-US" sz="1600">
                <a:solidFill>
                  <a:srgbClr val="777777"/>
                </a:solidFill>
              </a:rPr>
              <a:t>, vol. 3, no. 6, 1998; www.firstmonday.dk/issues/issue3_6/khare.</a:t>
            </a:r>
          </a:p>
          <a:p>
            <a:pPr>
              <a:lnSpc>
                <a:spcPct val="80000"/>
              </a:lnSpc>
              <a:buFontTx/>
              <a:buNone/>
            </a:pPr>
            <a:r>
              <a:rPr lang="en-US" altLang="en-US" sz="1600">
                <a:solidFill>
                  <a:srgbClr val="777777"/>
                </a:solidFill>
              </a:rPr>
              <a:t>M. Richardson, R. Agrawal, and P. Domingos,“Trust Management for the Semantic Web,” </a:t>
            </a:r>
            <a:r>
              <a:rPr lang="en-US" altLang="en-US" sz="1600" i="1">
                <a:solidFill>
                  <a:srgbClr val="777777"/>
                </a:solidFill>
              </a:rPr>
              <a:t>Proc. 2nd Int’l Semantic Web Conf.</a:t>
            </a:r>
            <a:r>
              <a:rPr lang="en-US" altLang="en-US" sz="1600">
                <a:solidFill>
                  <a:srgbClr val="777777"/>
                </a:solidFill>
              </a:rPr>
              <a:t>, LNCS 2870, Springer-Verlag, 2003, pp. 351–368.</a:t>
            </a:r>
          </a:p>
          <a:p>
            <a:pPr>
              <a:lnSpc>
                <a:spcPct val="80000"/>
              </a:lnSpc>
              <a:buFontTx/>
              <a:buNone/>
            </a:pPr>
            <a:r>
              <a:rPr lang="en-US" altLang="en-US" sz="1600">
                <a:solidFill>
                  <a:srgbClr val="777777"/>
                </a:solidFill>
              </a:rPr>
              <a:t>P. Schiegg et al., “Supply Chain Management Systems—A Survey of the State of the Art,” </a:t>
            </a:r>
            <a:r>
              <a:rPr lang="en-US" altLang="en-US" sz="1600" i="1">
                <a:solidFill>
                  <a:srgbClr val="777777"/>
                </a:solidFill>
              </a:rPr>
              <a:t>Collaborative Systems for Production Management:</a:t>
            </a:r>
            <a:r>
              <a:rPr lang="en-US" altLang="en-US" sz="1600">
                <a:solidFill>
                  <a:srgbClr val="777777"/>
                </a:solidFill>
              </a:rPr>
              <a:t> </a:t>
            </a:r>
            <a:r>
              <a:rPr lang="en-US" altLang="en-US" sz="1600" i="1">
                <a:solidFill>
                  <a:srgbClr val="777777"/>
                </a:solidFill>
              </a:rPr>
              <a:t>Proc. 8th Int’l Conf. Advances in</a:t>
            </a:r>
            <a:r>
              <a:rPr lang="en-US" altLang="en-US" sz="1600">
                <a:solidFill>
                  <a:srgbClr val="777777"/>
                </a:solidFill>
              </a:rPr>
              <a:t> </a:t>
            </a:r>
            <a:r>
              <a:rPr lang="en-US" altLang="en-US" sz="1600" i="1">
                <a:solidFill>
                  <a:srgbClr val="777777"/>
                </a:solidFill>
              </a:rPr>
              <a:t>Production Management Systems </a:t>
            </a:r>
            <a:r>
              <a:rPr lang="en-US" altLang="en-US" sz="1600">
                <a:solidFill>
                  <a:srgbClr val="777777"/>
                </a:solidFill>
              </a:rPr>
              <a:t>(APMS 2002), IFIP Conf. Proc. 257, Kluwer, 2002.</a:t>
            </a:r>
          </a:p>
          <a:p>
            <a:pPr>
              <a:lnSpc>
                <a:spcPct val="80000"/>
              </a:lnSpc>
              <a:buFontTx/>
              <a:buNone/>
            </a:pPr>
            <a:r>
              <a:rPr lang="en-US" altLang="en-US" sz="1600">
                <a:solidFill>
                  <a:srgbClr val="777777"/>
                </a:solidFill>
              </a:rPr>
              <a:t>N.C. Romano Jr. and J. Fjermestad, “Electronic Commerce Customer Relationship Management: A Research Agenda,” </a:t>
            </a:r>
            <a:r>
              <a:rPr lang="en-US" altLang="en-US" sz="1600" i="1">
                <a:solidFill>
                  <a:srgbClr val="777777"/>
                </a:solidFill>
              </a:rPr>
              <a:t>Information</a:t>
            </a:r>
            <a:r>
              <a:rPr lang="en-US" altLang="en-US" sz="1600">
                <a:solidFill>
                  <a:srgbClr val="777777"/>
                </a:solidFill>
              </a:rPr>
              <a:t> </a:t>
            </a:r>
            <a:r>
              <a:rPr lang="en-US" altLang="en-US" sz="1600" i="1">
                <a:solidFill>
                  <a:srgbClr val="777777"/>
                </a:solidFill>
              </a:rPr>
              <a:t>Technology and Management</a:t>
            </a:r>
            <a:r>
              <a:rPr lang="en-US" altLang="en-US" sz="1600">
                <a:solidFill>
                  <a:srgbClr val="777777"/>
                </a:solidFill>
              </a:rPr>
              <a:t>, vol. 4, nos. 2–3, 2003, pp. 233–258.</a:t>
            </a:r>
          </a:p>
        </p:txBody>
      </p:sp>
    </p:spTree>
    <p:extLst>
      <p:ext uri="{BB962C8B-B14F-4D97-AF65-F5344CB8AC3E}">
        <p14:creationId xmlns:p14="http://schemas.microsoft.com/office/powerpoint/2010/main" val="6524046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2306" name="Rectangle 2"/>
          <p:cNvSpPr>
            <a:spLocks noGrp="1" noChangeArrowheads="1"/>
          </p:cNvSpPr>
          <p:nvPr>
            <p:ph type="title"/>
          </p:nvPr>
        </p:nvSpPr>
        <p:spPr>
          <a:xfrm>
            <a:off x="2667000" y="381000"/>
            <a:ext cx="7793038" cy="590550"/>
          </a:xfrm>
        </p:spPr>
        <p:txBody>
          <a:bodyPr>
            <a:normAutofit fontScale="90000"/>
          </a:bodyPr>
          <a:lstStyle/>
          <a:p>
            <a:r>
              <a:rPr lang="en-US" altLang="en-US" sz="4000">
                <a:solidFill>
                  <a:srgbClr val="0000FF"/>
                </a:solidFill>
              </a:rPr>
              <a:t>Bibliography for Related Work</a:t>
            </a:r>
          </a:p>
        </p:txBody>
      </p:sp>
      <p:sp>
        <p:nvSpPr>
          <p:cNvPr id="1762307" name="Rectangle 3"/>
          <p:cNvSpPr>
            <a:spLocks noGrp="1" noChangeArrowheads="1"/>
          </p:cNvSpPr>
          <p:nvPr>
            <p:ph type="body" idx="1"/>
          </p:nvPr>
        </p:nvSpPr>
        <p:spPr>
          <a:xfrm>
            <a:off x="1981200" y="1511300"/>
            <a:ext cx="8458200" cy="5105400"/>
          </a:xfrm>
        </p:spPr>
        <p:txBody>
          <a:bodyPr>
            <a:normAutofit lnSpcReduction="10000"/>
          </a:bodyPr>
          <a:lstStyle/>
          <a:p>
            <a:pPr>
              <a:lnSpc>
                <a:spcPct val="80000"/>
              </a:lnSpc>
              <a:buFontTx/>
              <a:buNone/>
            </a:pPr>
            <a:r>
              <a:rPr lang="en-US" altLang="en-US"/>
              <a:t>AT&amp;T Privacy Bird Tour: http://privacybird.com/tour/1 2 beta/tour.html. February 2004.</a:t>
            </a:r>
          </a:p>
          <a:p>
            <a:pPr>
              <a:lnSpc>
                <a:spcPct val="80000"/>
              </a:lnSpc>
              <a:buFontTx/>
              <a:buNone/>
            </a:pPr>
            <a:r>
              <a:rPr lang="en-US" altLang="en-US"/>
              <a:t>S. Bowers and L. Delcambre. The uni-level description: A uniform framework for representing information in multiple data models. </a:t>
            </a:r>
            <a:r>
              <a:rPr lang="en-US" altLang="en-US" i="1"/>
              <a:t>ER 2003-Intl. Conf. on Conceptual Modeling, I.-Y. Song,</a:t>
            </a:r>
            <a:r>
              <a:rPr lang="en-US" altLang="en-US"/>
              <a:t> </a:t>
            </a:r>
            <a:r>
              <a:rPr lang="en-US" altLang="en-US" i="1"/>
              <a:t>et al. (Eds.)</a:t>
            </a:r>
            <a:r>
              <a:rPr lang="en-US" altLang="en-US"/>
              <a:t>, pp. 45–58, Chicago, Oct. 2003.</a:t>
            </a:r>
          </a:p>
          <a:p>
            <a:pPr>
              <a:lnSpc>
                <a:spcPct val="80000"/>
              </a:lnSpc>
              <a:buFontTx/>
              <a:buNone/>
            </a:pPr>
            <a:r>
              <a:rPr lang="en-US" altLang="en-US"/>
              <a:t>L. Cranor. P3P: Making privacy policies more useful. </a:t>
            </a:r>
            <a:r>
              <a:rPr lang="en-US" altLang="en-US" i="1"/>
              <a:t>IEEE Security and Privacy</a:t>
            </a:r>
            <a:r>
              <a:rPr lang="en-US" altLang="en-US"/>
              <a:t>, pp. 50–55, Nov./Dec. 2003.</a:t>
            </a:r>
          </a:p>
          <a:p>
            <a:pPr>
              <a:lnSpc>
                <a:spcPct val="80000"/>
              </a:lnSpc>
              <a:buFontTx/>
              <a:buNone/>
            </a:pPr>
            <a:r>
              <a:rPr lang="en-US" altLang="en-US"/>
              <a:t>M. Gensereth and R. Fikes. Knowledge Interchange Format. Tech. Rep. Logic-92-1, Stanford Univ., 1992. </a:t>
            </a:r>
          </a:p>
          <a:p>
            <a:pPr>
              <a:lnSpc>
                <a:spcPct val="80000"/>
              </a:lnSpc>
              <a:buFontTx/>
              <a:buNone/>
            </a:pPr>
            <a:r>
              <a:rPr lang="en-US" altLang="en-US"/>
              <a:t>A. Rakotonirainy. Trends and future of mobile computing. </a:t>
            </a:r>
            <a:r>
              <a:rPr lang="en-US" altLang="en-US" i="1"/>
              <a:t>10th Intl. Workshop on Database and Expert Systems Applications</a:t>
            </a:r>
            <a:r>
              <a:rPr lang="en-US" altLang="en-US"/>
              <a:t>, Florence, Italy, Sept. 1999. </a:t>
            </a:r>
          </a:p>
          <a:p>
            <a:pPr>
              <a:lnSpc>
                <a:spcPct val="80000"/>
              </a:lnSpc>
              <a:buFontTx/>
              <a:buNone/>
            </a:pPr>
            <a:r>
              <a:rPr lang="en-US" altLang="en-US"/>
              <a:t>A. Rezgui, A. Bouguettaya, and M. Eltoweissy. Privacy on the Web: Facts, challenges, and solutions. </a:t>
            </a:r>
            <a:r>
              <a:rPr lang="en-US" altLang="en-US" i="1"/>
              <a:t>IEEE Security and Privacy</a:t>
            </a:r>
            <a:r>
              <a:rPr lang="en-US" altLang="en-US"/>
              <a:t>, pp. 40–49, Nov./Dec. 2003.</a:t>
            </a:r>
          </a:p>
          <a:p>
            <a:pPr>
              <a:lnSpc>
                <a:spcPct val="80000"/>
              </a:lnSpc>
              <a:buFontTx/>
              <a:buNone/>
            </a:pPr>
            <a:r>
              <a:rPr lang="en-US" altLang="en-US"/>
              <a:t>M. Spreitzer and A. Begel. More flexible data types. </a:t>
            </a:r>
            <a:r>
              <a:rPr lang="en-US" altLang="en-US" i="1"/>
              <a:t>Proc. IEEE 8th Workshop on Enabling Technologies (WETICE ’99)</a:t>
            </a:r>
            <a:r>
              <a:rPr lang="en-US" altLang="en-US"/>
              <a:t>, pp. 319–324, Stanford, CA, June 1999.</a:t>
            </a:r>
          </a:p>
          <a:p>
            <a:pPr>
              <a:lnSpc>
                <a:spcPct val="80000"/>
              </a:lnSpc>
              <a:buFontTx/>
              <a:buNone/>
            </a:pPr>
            <a:r>
              <a:rPr lang="en-US" altLang="en-US"/>
              <a:t>C. Tschudin. Apoptosis - the programmed death of distributed services. In: J. Vitek and C. Jensen, eds., </a:t>
            </a:r>
            <a:r>
              <a:rPr lang="en-US" altLang="en-US" i="1"/>
              <a:t>Secure Internet Programming</a:t>
            </a:r>
            <a:r>
              <a:rPr lang="en-US" altLang="en-US"/>
              <a:t>. Springer-Verlag, 1999.</a:t>
            </a:r>
          </a:p>
        </p:txBody>
      </p:sp>
    </p:spTree>
    <p:extLst>
      <p:ext uri="{BB962C8B-B14F-4D97-AF65-F5344CB8AC3E}">
        <p14:creationId xmlns:p14="http://schemas.microsoft.com/office/powerpoint/2010/main" val="2765227746"/>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1190</TotalTime>
  <Words>2751</Words>
  <Application>Microsoft Office PowerPoint</Application>
  <PresentationFormat>Widescreen</PresentationFormat>
  <Paragraphs>537</Paragraphs>
  <Slides>40</Slides>
  <Notes>39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SimSun</vt:lpstr>
      <vt:lpstr>Arial</vt:lpstr>
      <vt:lpstr>Calibri</vt:lpstr>
      <vt:lpstr>Courier New</vt:lpstr>
      <vt:lpstr>Symbol</vt:lpstr>
      <vt:lpstr>Tahoma</vt:lpstr>
      <vt:lpstr>Times New Roman</vt:lpstr>
      <vt:lpstr>Trebuchet MS</vt:lpstr>
      <vt:lpstr>Wingdings</vt:lpstr>
      <vt:lpstr>Wingdings 3</vt:lpstr>
      <vt:lpstr>Facet</vt:lpstr>
      <vt:lpstr>TRUST vs PRIVACY</vt:lpstr>
      <vt:lpstr>Trust and Privacy </vt:lpstr>
      <vt:lpstr>6. Trust and Privacy cont</vt:lpstr>
      <vt:lpstr>PowerPoint Presentation</vt:lpstr>
      <vt:lpstr>Three Types of Trading Information for Trust</vt:lpstr>
      <vt:lpstr> Asymmetric Trust Negotiation</vt:lpstr>
      <vt:lpstr>Proposed Approach to Trading privacy for trust  [Zhong and Bhargava, Purdue] </vt:lpstr>
      <vt:lpstr>A. Formulate Tradeoff Problem</vt:lpstr>
      <vt:lpstr>Steps B – D of the Approach</vt:lpstr>
      <vt:lpstr>PRETTY Prototype for Experimental Studies</vt:lpstr>
      <vt:lpstr>Information Flow in PRETTY</vt:lpstr>
      <vt:lpstr>8. Using Entropy to Trade Privacy for Trust</vt:lpstr>
      <vt:lpstr>Problem motivation</vt:lpstr>
      <vt:lpstr>Subproblems</vt:lpstr>
      <vt:lpstr>Proposed approach</vt:lpstr>
      <vt:lpstr>Formulation of tradeoff problem (1)</vt:lpstr>
      <vt:lpstr>Formulation of tradeoff problem (2)</vt:lpstr>
      <vt:lpstr>Two types of privacy loss (1)</vt:lpstr>
      <vt:lpstr>Two types of privacy loss (2)</vt:lpstr>
      <vt:lpstr>Observation 1</vt:lpstr>
      <vt:lpstr>PowerPoint Presentation</vt:lpstr>
      <vt:lpstr>PowerPoint Presentation</vt:lpstr>
      <vt:lpstr>Entropy-based privacy loss</vt:lpstr>
      <vt:lpstr>Estimate trust gain</vt:lpstr>
      <vt:lpstr>Conclusion</vt:lpstr>
      <vt:lpstr>A Mechanism for Privacy-Preserving Data Dissemination</vt:lpstr>
      <vt:lpstr>P2D2 - Mechanism for Privacy-Preserving Data Dissemination</vt:lpstr>
      <vt:lpstr>1) Introduction 1.1) Interactions and Trust</vt:lpstr>
      <vt:lpstr>1.2) Building Trust (1) a) Building Trust By Weaker Partners </vt:lpstr>
      <vt:lpstr>1.2) Building Trust (2)  b) Building Trust by Stronger Partners</vt:lpstr>
      <vt:lpstr>1.3) Trading Weaker Partner’s Privacy Loss for Stronger Partner’s Trust Gain</vt:lpstr>
      <vt:lpstr>1.4) Privacy-Trust Tradeoff and Dissemination of Private Data</vt:lpstr>
      <vt:lpstr>Dissemination of Private Data is Critical</vt:lpstr>
      <vt:lpstr>1.5) Recognition of Need for Privacy Guarantees (1)</vt:lpstr>
      <vt:lpstr>3.1) Self-descriptive Bundles</vt:lpstr>
      <vt:lpstr>Examples of Distance Metrics</vt:lpstr>
      <vt:lpstr>Evaporation Implemented as Controlled Data Distortion</vt:lpstr>
      <vt:lpstr>Evaporation Implemented as Controlled Data Distortion</vt:lpstr>
      <vt:lpstr>References</vt:lpstr>
      <vt:lpstr>Bibliography for Related Work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31</cp:revision>
  <dcterms:created xsi:type="dcterms:W3CDTF">2022-08-30T21:18:41Z</dcterms:created>
  <dcterms:modified xsi:type="dcterms:W3CDTF">2022-09-04T13:24:53Z</dcterms:modified>
</cp:coreProperties>
</file>