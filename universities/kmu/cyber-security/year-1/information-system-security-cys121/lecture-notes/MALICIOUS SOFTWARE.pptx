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303" r:id="rId3"/>
    <p:sldId id="306" r:id="rId4"/>
    <p:sldId id="304" r:id="rId5"/>
    <p:sldId id="305" r:id="rId6"/>
    <p:sldId id="307" r:id="rId7"/>
    <p:sldId id="308" r:id="rId8"/>
    <p:sldId id="269" r:id="rId9"/>
    <p:sldId id="270" r:id="rId10"/>
    <p:sldId id="271" r:id="rId11"/>
    <p:sldId id="272" r:id="rId12"/>
    <p:sldId id="273" r:id="rId13"/>
    <p:sldId id="299" r:id="rId14"/>
    <p:sldId id="300" r:id="rId15"/>
    <p:sldId id="301" r:id="rId16"/>
    <p:sldId id="274" r:id="rId17"/>
    <p:sldId id="280" r:id="rId18"/>
    <p:sldId id="281" r:id="rId19"/>
    <p:sldId id="282" r:id="rId20"/>
    <p:sldId id="283" r:id="rId21"/>
    <p:sldId id="284" r:id="rId22"/>
    <p:sldId id="285" r:id="rId23"/>
    <p:sldId id="275" r:id="rId24"/>
    <p:sldId id="278" r:id="rId25"/>
    <p:sldId id="257" r:id="rId26"/>
    <p:sldId id="258" r:id="rId27"/>
    <p:sldId id="259" r:id="rId28"/>
    <p:sldId id="260" r:id="rId29"/>
    <p:sldId id="261" r:id="rId30"/>
    <p:sldId id="262" r:id="rId31"/>
    <p:sldId id="263" r:id="rId32"/>
    <p:sldId id="264" r:id="rId33"/>
    <p:sldId id="277" r:id="rId34"/>
    <p:sldId id="265" r:id="rId35"/>
    <p:sldId id="266" r:id="rId36"/>
    <p:sldId id="288" r:id="rId37"/>
    <p:sldId id="289" r:id="rId38"/>
    <p:sldId id="290" r:id="rId39"/>
    <p:sldId id="291" r:id="rId40"/>
    <p:sldId id="292" r:id="rId41"/>
    <p:sldId id="293" r:id="rId42"/>
    <p:sldId id="294" r:id="rId43"/>
    <p:sldId id="295" r:id="rId44"/>
    <p:sldId id="296" r:id="rId45"/>
    <p:sldId id="297"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75" r:id="rId61"/>
    <p:sldId id="576" r:id="rId62"/>
    <p:sldId id="545" r:id="rId63"/>
    <p:sldId id="526" r:id="rId64"/>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3" d="100"/>
          <a:sy n="103" d="100"/>
        </p:scale>
        <p:origin x="138"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65F27-A561-4008-B7C0-4CBF63E606D0}" type="datetimeFigureOut">
              <a:rPr lang="en-ZM" smtClean="0"/>
              <a:t>24/05/2023</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3D688-1A09-445C-BBBB-2BCD9BB53B29}" type="slidenum">
              <a:rPr lang="en-ZM" smtClean="0"/>
              <a:t>‹#›</a:t>
            </a:fld>
            <a:endParaRPr lang="en-ZM"/>
          </a:p>
        </p:txBody>
      </p:sp>
    </p:spTree>
    <p:extLst>
      <p:ext uri="{BB962C8B-B14F-4D97-AF65-F5344CB8AC3E}">
        <p14:creationId xmlns:p14="http://schemas.microsoft.com/office/powerpoint/2010/main" val="1376886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2</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8680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3</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013873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4</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95633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5</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01765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6</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78459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16DC8A9-152D-664F-A907-D29828B76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9F5E4D8-0877-4F66-B273-C0932750C1B5}" type="slidenum">
              <a:rPr lang="en-US" altLang="en-US" smtClean="0">
                <a:latin typeface="Arial" panose="020B0604020202020204" pitchFamily="34" charset="0"/>
                <a:ea typeface="ＭＳ Ｐゴシック" panose="020B0600070205080204" pitchFamily="34" charset="-128"/>
              </a:rPr>
              <a:pPr fontAlgn="base">
                <a:spcBef>
                  <a:spcPct val="0"/>
                </a:spcBef>
                <a:spcAft>
                  <a:spcPct val="0"/>
                </a:spcAft>
              </a:pPr>
              <a:t>7</a:t>
            </a:fld>
            <a:endParaRPr lang="en-US" altLang="en-US">
              <a:latin typeface="Arial" panose="020B0604020202020204" pitchFamily="34" charset="0"/>
              <a:ea typeface="ＭＳ Ｐゴシック" panose="020B0600070205080204" pitchFamily="34" charset="-128"/>
            </a:endParaRPr>
          </a:p>
        </p:txBody>
      </p:sp>
      <p:sp>
        <p:nvSpPr>
          <p:cNvPr id="5123" name="Rectangle 2">
            <a:extLst>
              <a:ext uri="{FF2B5EF4-FFF2-40B4-BE49-F238E27FC236}">
                <a16:creationId xmlns:a16="http://schemas.microsoft.com/office/drawing/2014/main" id="{3829F258-03B3-E5B2-2F9C-536567B3D60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EE518F4-7641-380E-B73B-14D353FF9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065779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006D087A-B3F7-4DBC-AC6B-3628650061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95000"/>
              </a:lnSpc>
            </a:pPr>
            <a:fld id="{4C644EB1-8E99-477E-A790-11D19DCF0EA4}" type="slidenum">
              <a:rPr lang="en-US" altLang="en-ZM" sz="1200"/>
              <a:pPr>
                <a:lnSpc>
                  <a:spcPct val="95000"/>
                </a:lnSpc>
              </a:pPr>
              <a:t>51</a:t>
            </a:fld>
            <a:endParaRPr lang="en-US" altLang="en-ZM" sz="1200"/>
          </a:p>
        </p:txBody>
      </p:sp>
      <p:sp>
        <p:nvSpPr>
          <p:cNvPr id="77827" name="Rectangle 2">
            <a:extLst>
              <a:ext uri="{FF2B5EF4-FFF2-40B4-BE49-F238E27FC236}">
                <a16:creationId xmlns:a16="http://schemas.microsoft.com/office/drawing/2014/main" id="{3FFEB042-7644-DF43-EBF7-5748C014BCB8}"/>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9F19657D-2247-EC27-5960-938203AC88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ZM" sz="1400"/>
              <a:t>The domain name system--the global directory that maps names to Internet Protocol addresses.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1733B8BA-5CD3-C8E1-978E-3D3B5ECE1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95000"/>
              </a:lnSpc>
            </a:pPr>
            <a:fld id="{59CAEB44-948B-4DBA-9C84-AC166618E268}" type="slidenum">
              <a:rPr lang="en-US" altLang="en-ZM" sz="1200"/>
              <a:pPr>
                <a:lnSpc>
                  <a:spcPct val="95000"/>
                </a:lnSpc>
              </a:pPr>
              <a:t>52</a:t>
            </a:fld>
            <a:endParaRPr lang="en-US" altLang="en-ZM" sz="1200"/>
          </a:p>
        </p:txBody>
      </p:sp>
      <p:sp>
        <p:nvSpPr>
          <p:cNvPr id="79875" name="Rectangle 2">
            <a:extLst>
              <a:ext uri="{FF2B5EF4-FFF2-40B4-BE49-F238E27FC236}">
                <a16:creationId xmlns:a16="http://schemas.microsoft.com/office/drawing/2014/main" id="{D86B2297-D4F4-D7C7-83AD-C78C5FF87B3E}"/>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56888A30-BA67-EC7B-3662-982AA021B9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ZM" sz="1400"/>
              <a:t>The ILOVEYOU virus is an example of an email attack. The text portion of the email message asks you to open the attachment.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34543BF1-DD37-60CF-8423-C0E742C09B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95000"/>
              </a:lnSpc>
            </a:pPr>
            <a:fld id="{83A071F2-6ED7-4844-A96B-620071542BF2}" type="slidenum">
              <a:rPr lang="en-US" altLang="en-ZM" sz="1200"/>
              <a:pPr>
                <a:lnSpc>
                  <a:spcPct val="95000"/>
                </a:lnSpc>
              </a:pPr>
              <a:t>54</a:t>
            </a:fld>
            <a:endParaRPr lang="en-US" altLang="en-ZM" sz="1200"/>
          </a:p>
        </p:txBody>
      </p:sp>
      <p:sp>
        <p:nvSpPr>
          <p:cNvPr id="82947" name="Rectangle 2">
            <a:extLst>
              <a:ext uri="{FF2B5EF4-FFF2-40B4-BE49-F238E27FC236}">
                <a16:creationId xmlns:a16="http://schemas.microsoft.com/office/drawing/2014/main" id="{F7CBE802-D35F-AD76-6524-D2310A190E0E}"/>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11D02C13-EA27-78D5-C280-25D76F3615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ZM" sz="1400"/>
              <a:t>This type of DoS attack can range from not noticeable to show-stopper depending on the characteristics of the virus/worm.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9B4EA362-F4B8-6CFF-773D-60C98EF60F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95000"/>
              </a:lnSpc>
            </a:pPr>
            <a:fld id="{DD9A4EDB-7880-496C-AEF1-0261837CADCD}" type="slidenum">
              <a:rPr lang="en-US" altLang="en-ZM" sz="1200"/>
              <a:pPr>
                <a:lnSpc>
                  <a:spcPct val="95000"/>
                </a:lnSpc>
              </a:pPr>
              <a:t>58</a:t>
            </a:fld>
            <a:endParaRPr lang="en-US" altLang="en-ZM" sz="1200"/>
          </a:p>
        </p:txBody>
      </p:sp>
      <p:sp>
        <p:nvSpPr>
          <p:cNvPr id="88067" name="Rectangle 2">
            <a:extLst>
              <a:ext uri="{FF2B5EF4-FFF2-40B4-BE49-F238E27FC236}">
                <a16:creationId xmlns:a16="http://schemas.microsoft.com/office/drawing/2014/main" id="{E0FB2E0B-D13A-F43B-855A-70CDFE78DBDB}"/>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DAB48546-9885-9C37-4826-80ACF543DC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ZM" sz="1400"/>
              <a:t>Typically carried out by telephoning users or operators and pretending to be an authorized user or an administrator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F1892-D7D1-9B62-BB89-B7E0043C4B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67E73973-89FB-5567-84EE-65D05F3AA8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302522BD-45AA-EB4C-6C70-2BD00CDF58EE}"/>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03831C55-5FB9-C76D-A518-92C7BEC4A338}"/>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A950824-06C2-5199-6A2F-5BB637B2B7C9}"/>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1812239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75036-84FC-4CC9-382C-E389F30B416A}"/>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E0E908D9-8C3A-F880-870E-750E68677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837DB410-8768-4C9C-C8C9-8FF6C720DA56}"/>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D88F0C53-FAB6-9525-9457-58F74DD75F4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E405B9E9-6908-DDAA-71CE-470B528F86B4}"/>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3981123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83FB-99F9-BBEA-E88A-B924824B33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B9859C42-D2F5-7203-8063-4D57160000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DD2392-0437-8CFF-14AA-02264B305A83}"/>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BC807B48-ECE2-BFCC-5071-16C16EB5A2A1}"/>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B077582-8667-62F9-BBCC-E0339975538C}"/>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1045083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1247-66E8-10EE-B52A-549F52FC0D8D}"/>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B77E1616-DA55-4404-2AB5-6F794EE81E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219795D7-4382-3A89-11D9-E08596F231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3FEA3E86-9531-9137-C017-38396D8F31F0}"/>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6" name="Footer Placeholder 5">
            <a:extLst>
              <a:ext uri="{FF2B5EF4-FFF2-40B4-BE49-F238E27FC236}">
                <a16:creationId xmlns:a16="http://schemas.microsoft.com/office/drawing/2014/main" id="{3D9B9929-45C0-DD89-3E5A-8EBB19825768}"/>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8135CCA9-13E1-9B47-DC8A-2707E648D3AD}"/>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1448409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313B-EB07-436A-9E92-9C545C0D3030}"/>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9BCCAAB4-ED77-3CE8-9D3A-297AC8DEF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D27A18-F12E-C5B0-22B4-0EF8C4F7EE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4F4F82E4-0903-CA26-D53C-4D3FBFD202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21A98D-C09E-7E3C-C606-B5B51A2C5C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2245615A-9BDA-2D19-3245-878D0C4CFCC5}"/>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8" name="Footer Placeholder 7">
            <a:extLst>
              <a:ext uri="{FF2B5EF4-FFF2-40B4-BE49-F238E27FC236}">
                <a16:creationId xmlns:a16="http://schemas.microsoft.com/office/drawing/2014/main" id="{CEB9D350-F309-A0F2-7007-829098DCF87D}"/>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9008B36B-F358-EFFF-6B30-E6D8F6D58305}"/>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926348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AE07B-294D-967B-85A4-41FFA52F1521}"/>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DEA624E5-E51B-69F6-C1C3-239E83690CC1}"/>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4" name="Footer Placeholder 3">
            <a:extLst>
              <a:ext uri="{FF2B5EF4-FFF2-40B4-BE49-F238E27FC236}">
                <a16:creationId xmlns:a16="http://schemas.microsoft.com/office/drawing/2014/main" id="{170D1AD9-7067-9A2D-07A7-0701649071ED}"/>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64B50EA4-4695-9982-B013-9A91923D1D45}"/>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2556395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DFB4DC-C013-02E4-7C43-961883BEF673}"/>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3" name="Footer Placeholder 2">
            <a:extLst>
              <a:ext uri="{FF2B5EF4-FFF2-40B4-BE49-F238E27FC236}">
                <a16:creationId xmlns:a16="http://schemas.microsoft.com/office/drawing/2014/main" id="{356F82A1-B24D-91C9-0A8B-3ABDBAF83BF2}"/>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0359B3AE-9677-64D6-630B-13B4CED5F510}"/>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2237081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E3B6-C652-11AE-4E69-0D5064FEB5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7A274141-DC0D-500A-55A8-5D7CC447F9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12D8B3B1-CC00-6D97-91C3-8411D3E138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0826E1-0A83-4E31-3814-299C73734F56}"/>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6" name="Footer Placeholder 5">
            <a:extLst>
              <a:ext uri="{FF2B5EF4-FFF2-40B4-BE49-F238E27FC236}">
                <a16:creationId xmlns:a16="http://schemas.microsoft.com/office/drawing/2014/main" id="{7B97A467-C2EC-7559-0571-4402DF0563EB}"/>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7EB80633-55EC-7E68-0860-4E4B7B6E4A74}"/>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3515086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B7D48-957E-C82D-48E7-40AE2CA95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A8E1FAD5-5AD4-663B-1B05-53746D6623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E86EC2C9-BE3C-F2F4-3FA3-32B1ABFBF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D4D2C5-B2B8-32E0-0F7F-96B33191C048}"/>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6" name="Footer Placeholder 5">
            <a:extLst>
              <a:ext uri="{FF2B5EF4-FFF2-40B4-BE49-F238E27FC236}">
                <a16:creationId xmlns:a16="http://schemas.microsoft.com/office/drawing/2014/main" id="{A0852A1F-397F-8915-75F4-59AAC8AC1DEF}"/>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36028943-839D-141A-35DD-1328BA00FAC4}"/>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3500200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7D38F-BADB-F4FB-1F98-1658E35267A9}"/>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3011529F-CE8A-80E3-ED94-DC29AAF442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EBCA5B92-A4B1-87C8-7BF1-40338863FFE4}"/>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94AE69EE-60D0-83D2-8E74-197061BF98D8}"/>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1CD3E0CC-3B89-B69B-2F90-44C1B476C433}"/>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99127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06220D-A76E-4640-89FA-AEF6D1509F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3E3A743F-F4DA-BD5E-9755-37B8F9B553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F92748F0-AB26-48EA-6EE2-F63093EF1CEF}"/>
              </a:ext>
            </a:extLst>
          </p:cNvPr>
          <p:cNvSpPr>
            <a:spLocks noGrp="1"/>
          </p:cNvSpPr>
          <p:nvPr>
            <p:ph type="dt" sz="half" idx="10"/>
          </p:nvPr>
        </p:nvSpPr>
        <p:spPr/>
        <p:txBody>
          <a:body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48F24100-7361-3F22-BBDE-F67CF6A1F67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480BDA3B-78E9-8453-0099-E3E8519D9D10}"/>
              </a:ext>
            </a:extLst>
          </p:cNvPr>
          <p:cNvSpPr>
            <a:spLocks noGrp="1"/>
          </p:cNvSpPr>
          <p:nvPr>
            <p:ph type="sldNum" sz="quarter" idx="12"/>
          </p:nvPr>
        </p:nvSpPr>
        <p:spPr/>
        <p:txBody>
          <a:bodyPr/>
          <a:lstStyle/>
          <a:p>
            <a:fld id="{EB5AE0B1-48B9-47C3-B67F-0A754080D506}" type="slidenum">
              <a:rPr lang="en-ZM" smtClean="0"/>
              <a:t>‹#›</a:t>
            </a:fld>
            <a:endParaRPr lang="en-ZM"/>
          </a:p>
        </p:txBody>
      </p:sp>
    </p:spTree>
    <p:extLst>
      <p:ext uri="{BB962C8B-B14F-4D97-AF65-F5344CB8AC3E}">
        <p14:creationId xmlns:p14="http://schemas.microsoft.com/office/powerpoint/2010/main" val="113408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79B68E-5926-2CBD-89BC-13143CF020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A3913D22-443D-128F-8230-5E7278585F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B071E4E6-3E79-AFD0-1296-E49DE612FC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C6FAEB-C29A-4B99-AF80-B3EB1FBE863A}" type="datetimeFigureOut">
              <a:rPr lang="en-ZM" smtClean="0"/>
              <a:t>24/05/2023</a:t>
            </a:fld>
            <a:endParaRPr lang="en-ZM"/>
          </a:p>
        </p:txBody>
      </p:sp>
      <p:sp>
        <p:nvSpPr>
          <p:cNvPr id="5" name="Footer Placeholder 4">
            <a:extLst>
              <a:ext uri="{FF2B5EF4-FFF2-40B4-BE49-F238E27FC236}">
                <a16:creationId xmlns:a16="http://schemas.microsoft.com/office/drawing/2014/main" id="{B32E01A3-7BB8-7FFC-DF6C-0DB67B960C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1E301BE9-6176-7904-14B3-99322040A5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AE0B1-48B9-47C3-B67F-0A754080D506}" type="slidenum">
              <a:rPr lang="en-ZM" smtClean="0"/>
              <a:t>‹#›</a:t>
            </a:fld>
            <a:endParaRPr lang="en-ZM"/>
          </a:p>
        </p:txBody>
      </p:sp>
    </p:spTree>
    <p:extLst>
      <p:ext uri="{BB962C8B-B14F-4D97-AF65-F5344CB8AC3E}">
        <p14:creationId xmlns:p14="http://schemas.microsoft.com/office/powerpoint/2010/main" val="3647219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www.youtube.com/watch?v=Vyzvxtk2H_g&amp;feature=PlayList&amp;p=3F4562B3FCC84BB8&amp;playnext=1&amp;index=26"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www.youtube.com/watch?v=XWCrtjbCVas" TargetMode="External"/><Relationship Id="rId2" Type="http://schemas.openxmlformats.org/officeDocument/2006/relationships/hyperlink" Target="http://www.youtube.com/watch?v=SOMvVxcihN8" TargetMode="External"/><Relationship Id="rId1" Type="http://schemas.openxmlformats.org/officeDocument/2006/relationships/slideLayout" Target="../slideLayouts/slideLayout2.xml"/><Relationship Id="rId6" Type="http://schemas.openxmlformats.org/officeDocument/2006/relationships/hyperlink" Target="http://www.youtube.com/watch?v=n9732krXvpk" TargetMode="External"/><Relationship Id="rId5" Type="http://schemas.openxmlformats.org/officeDocument/2006/relationships/hyperlink" Target="http://www.youtube.com/watch?v=PcqnG4-NkZ4" TargetMode="External"/><Relationship Id="rId4" Type="http://schemas.openxmlformats.org/officeDocument/2006/relationships/hyperlink" Target="http://www.youtube.com/watch?v=9but2Io1qcc" TargetMode="External"/></Relationships>
</file>

<file path=ppt/slides/_rels/slide62.xml.rels><?xml version="1.0" encoding="UTF-8" standalone="yes"?>
<Relationships xmlns="http://schemas.openxmlformats.org/package/2006/relationships"><Relationship Id="rId2" Type="http://schemas.openxmlformats.org/officeDocument/2006/relationships/hyperlink" Target="http://www.youtube.com/watch?v=mRYenk0ACQU&amp;feature=PlayList&amp;p=6B6F826337127C5E&amp;index=0&amp;playnext=1" TargetMode="Externa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096B6-D08F-3839-7E35-24AD4BC3E75E}"/>
              </a:ext>
            </a:extLst>
          </p:cNvPr>
          <p:cNvSpPr>
            <a:spLocks noGrp="1"/>
          </p:cNvSpPr>
          <p:nvPr>
            <p:ph type="ctrTitle"/>
          </p:nvPr>
        </p:nvSpPr>
        <p:spPr>
          <a:xfrm>
            <a:off x="1524000" y="1122363"/>
            <a:ext cx="9144000" cy="1831852"/>
          </a:xfrm>
        </p:spPr>
        <p:txBody>
          <a:bodyPr/>
          <a:lstStyle/>
          <a:p>
            <a:r>
              <a:rPr lang="en-US" dirty="0"/>
              <a:t>MALICIOUS SOFTWARE</a:t>
            </a:r>
            <a:endParaRPr lang="en-ZM" dirty="0"/>
          </a:p>
        </p:txBody>
      </p:sp>
    </p:spTree>
    <p:extLst>
      <p:ext uri="{BB962C8B-B14F-4D97-AF65-F5344CB8AC3E}">
        <p14:creationId xmlns:p14="http://schemas.microsoft.com/office/powerpoint/2010/main" val="2866854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p:txBody>
          <a:bodyPr>
            <a:normAutofit/>
          </a:bodyPr>
          <a:lstStyle/>
          <a:p>
            <a:pPr eaLnBrk="1" hangingPunct="1"/>
            <a:r>
              <a:rPr lang="en-US" altLang="en-US" sz="5400" dirty="0">
                <a:solidFill>
                  <a:schemeClr val="hlink"/>
                </a:solidFill>
                <a:latin typeface="Arial" panose="020B0604020202020204" pitchFamily="34" charset="0"/>
              </a:rPr>
              <a:t>What is Malware</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sz="half" idx="1"/>
          </p:nvPr>
        </p:nvSpPr>
        <p:spPr>
          <a:xfrm>
            <a:off x="838200" y="3161370"/>
            <a:ext cx="3533078" cy="3331505"/>
          </a:xfrm>
        </p:spPr>
        <p:txBody>
          <a:bodyPr>
            <a:noAutofit/>
          </a:bodyPr>
          <a:lstStyle/>
          <a:p>
            <a:pPr>
              <a:spcBef>
                <a:spcPts val="0"/>
              </a:spcBef>
            </a:pPr>
            <a:r>
              <a:rPr lang="en-GB" altLang="en-US" sz="2200" dirty="0">
                <a:latin typeface="Arial" panose="020B0604020202020204" pitchFamily="34" charset="0"/>
              </a:rPr>
              <a:t>Ransomware</a:t>
            </a:r>
          </a:p>
          <a:p>
            <a:pPr>
              <a:spcBef>
                <a:spcPts val="0"/>
              </a:spcBef>
            </a:pPr>
            <a:r>
              <a:rPr lang="en-GB" altLang="en-US" sz="2200" dirty="0">
                <a:latin typeface="Arial" panose="020B0604020202020204" pitchFamily="34" charset="0"/>
              </a:rPr>
              <a:t>Trojan horse</a:t>
            </a:r>
          </a:p>
          <a:p>
            <a:pPr>
              <a:spcBef>
                <a:spcPts val="0"/>
              </a:spcBef>
            </a:pPr>
            <a:r>
              <a:rPr lang="en-GB" altLang="en-US" sz="2200" dirty="0">
                <a:latin typeface="Arial" panose="020B0604020202020204" pitchFamily="34" charset="0"/>
              </a:rPr>
              <a:t>Spyware</a:t>
            </a:r>
          </a:p>
          <a:p>
            <a:pPr>
              <a:spcBef>
                <a:spcPts val="0"/>
              </a:spcBef>
            </a:pPr>
            <a:r>
              <a:rPr lang="en-GB" altLang="en-US" sz="2200" dirty="0">
                <a:latin typeface="Arial" panose="020B0604020202020204" pitchFamily="34" charset="0"/>
              </a:rPr>
              <a:t>Computer worm</a:t>
            </a:r>
          </a:p>
          <a:p>
            <a:pPr>
              <a:spcBef>
                <a:spcPts val="0"/>
              </a:spcBef>
            </a:pPr>
            <a:r>
              <a:rPr lang="en-GB" altLang="en-US" sz="2200" dirty="0">
                <a:latin typeface="Arial" panose="020B0604020202020204" pitchFamily="34" charset="0"/>
              </a:rPr>
              <a:t>Adware</a:t>
            </a:r>
          </a:p>
          <a:p>
            <a:pPr>
              <a:spcBef>
                <a:spcPts val="0"/>
              </a:spcBef>
            </a:pPr>
            <a:r>
              <a:rPr lang="en-GB" altLang="en-US" sz="2200" dirty="0">
                <a:latin typeface="Arial" panose="020B0604020202020204" pitchFamily="34" charset="0"/>
              </a:rPr>
              <a:t>Computer virus</a:t>
            </a:r>
          </a:p>
          <a:p>
            <a:pPr>
              <a:spcBef>
                <a:spcPts val="0"/>
              </a:spcBef>
            </a:pPr>
            <a:r>
              <a:rPr lang="en-GB" altLang="en-US" sz="2200" dirty="0">
                <a:latin typeface="Arial" panose="020B0604020202020204" pitchFamily="34" charset="0"/>
              </a:rPr>
              <a:t>Rootkit</a:t>
            </a:r>
          </a:p>
          <a:p>
            <a:pPr>
              <a:spcBef>
                <a:spcPts val="0"/>
              </a:spcBef>
            </a:pPr>
            <a:r>
              <a:rPr lang="en-GB" altLang="en-US" sz="2200" dirty="0">
                <a:latin typeface="Arial" panose="020B0604020202020204" pitchFamily="34" charset="0"/>
              </a:rPr>
              <a:t>Fileless</a:t>
            </a:r>
          </a:p>
          <a:p>
            <a:pPr>
              <a:spcBef>
                <a:spcPts val="0"/>
              </a:spcBef>
            </a:pPr>
            <a:r>
              <a:rPr lang="en-GB" altLang="en-US" sz="2200" dirty="0">
                <a:latin typeface="Arial" panose="020B0604020202020204" pitchFamily="34" charset="0"/>
              </a:rPr>
              <a:t>Botnet</a:t>
            </a:r>
          </a:p>
          <a:p>
            <a:pPr>
              <a:spcBef>
                <a:spcPts val="0"/>
              </a:spcBef>
            </a:pPr>
            <a:r>
              <a:rPr lang="en-US" sz="2200" dirty="0">
                <a:latin typeface="Arial" panose="020B0604020202020204" pitchFamily="34" charset="0"/>
                <a:cs typeface="Arial" panose="020B0604020202020204" pitchFamily="34" charset="0"/>
              </a:rPr>
              <a:t>Crypto-Locker</a:t>
            </a:r>
          </a:p>
          <a:p>
            <a:pPr>
              <a:spcBef>
                <a:spcPts val="0"/>
              </a:spcBef>
            </a:pPr>
            <a:endParaRPr lang="en-US" altLang="en-US" sz="2200" dirty="0">
              <a:latin typeface="Arial" panose="020B0604020202020204" pitchFamily="34" charset="0"/>
            </a:endParaRPr>
          </a:p>
        </p:txBody>
      </p:sp>
      <p:sp>
        <p:nvSpPr>
          <p:cNvPr id="6" name="Content Placeholder 5">
            <a:extLst>
              <a:ext uri="{FF2B5EF4-FFF2-40B4-BE49-F238E27FC236}">
                <a16:creationId xmlns:a16="http://schemas.microsoft.com/office/drawing/2014/main" id="{D6FD85B7-59C4-CE11-8659-1CDF6F9E2CF0}"/>
              </a:ext>
            </a:extLst>
          </p:cNvPr>
          <p:cNvSpPr>
            <a:spLocks noGrp="1"/>
          </p:cNvSpPr>
          <p:nvPr>
            <p:ph sz="half" idx="2"/>
          </p:nvPr>
        </p:nvSpPr>
        <p:spPr>
          <a:xfrm>
            <a:off x="5642517" y="3161370"/>
            <a:ext cx="5711283" cy="3127918"/>
          </a:xfrm>
        </p:spPr>
        <p:txBody>
          <a:bodyPr>
            <a:noAutofit/>
          </a:bodyPr>
          <a:lstStyle/>
          <a:p>
            <a:pPr>
              <a:spcBef>
                <a:spcPts val="0"/>
              </a:spcBef>
            </a:pPr>
            <a:r>
              <a:rPr lang="en-US" sz="2200" dirty="0">
                <a:latin typeface="Arial" panose="020B0604020202020204" pitchFamily="34" charset="0"/>
                <a:cs typeface="Arial" panose="020B0604020202020204" pitchFamily="34" charset="0"/>
              </a:rPr>
              <a:t>Crypto-Locker</a:t>
            </a:r>
          </a:p>
          <a:p>
            <a:pPr>
              <a:spcBef>
                <a:spcPts val="0"/>
              </a:spcBef>
            </a:pPr>
            <a:r>
              <a:rPr lang="en-US" sz="2200" dirty="0">
                <a:latin typeface="Arial" panose="020B0604020202020204" pitchFamily="34" charset="0"/>
                <a:cs typeface="Arial" panose="020B0604020202020204" pitchFamily="34" charset="0"/>
              </a:rPr>
              <a:t>Scareware</a:t>
            </a:r>
          </a:p>
          <a:p>
            <a:pPr>
              <a:spcBef>
                <a:spcPts val="0"/>
              </a:spcBef>
            </a:pPr>
            <a:r>
              <a:rPr lang="en-US" sz="2200" dirty="0">
                <a:latin typeface="Arial" panose="020B0604020202020204" pitchFamily="34" charset="0"/>
                <a:cs typeface="Arial" panose="020B0604020202020204" pitchFamily="34" charset="0"/>
              </a:rPr>
              <a:t>Backdoor</a:t>
            </a:r>
          </a:p>
          <a:p>
            <a:pPr>
              <a:spcBef>
                <a:spcPts val="0"/>
              </a:spcBef>
            </a:pPr>
            <a:r>
              <a:rPr lang="en-US" sz="2200" dirty="0">
                <a:latin typeface="Arial" panose="020B0604020202020204" pitchFamily="34" charset="0"/>
                <a:cs typeface="Arial" panose="020B0604020202020204" pitchFamily="34" charset="0"/>
              </a:rPr>
              <a:t>DoS (Denial-of-service)</a:t>
            </a:r>
          </a:p>
          <a:p>
            <a:pPr>
              <a:spcBef>
                <a:spcPts val="0"/>
              </a:spcBef>
            </a:pPr>
            <a:r>
              <a:rPr lang="en-US" sz="2200" dirty="0">
                <a:latin typeface="Arial" panose="020B0604020202020204" pitchFamily="34" charset="0"/>
                <a:cs typeface="Arial" panose="020B0604020202020204" pitchFamily="34" charset="0"/>
              </a:rPr>
              <a:t>Logic Bombs</a:t>
            </a:r>
          </a:p>
          <a:p>
            <a:pPr>
              <a:spcBef>
                <a:spcPts val="0"/>
              </a:spcBef>
            </a:pPr>
            <a:r>
              <a:rPr lang="en-US" sz="2200" dirty="0">
                <a:latin typeface="Arial" panose="020B0604020202020204" pitchFamily="34" charset="0"/>
                <a:cs typeface="Arial" panose="020B0604020202020204" pitchFamily="34" charset="0"/>
              </a:rPr>
              <a:t>Mobile malware</a:t>
            </a:r>
          </a:p>
          <a:p>
            <a:pPr>
              <a:spcBef>
                <a:spcPts val="0"/>
              </a:spcBef>
            </a:pPr>
            <a:r>
              <a:rPr lang="en-US" sz="2200" dirty="0">
                <a:latin typeface="Arial" panose="020B0604020202020204" pitchFamily="34" charset="0"/>
                <a:cs typeface="Arial" panose="020B0604020202020204" pitchFamily="34" charset="0"/>
              </a:rPr>
              <a:t>Macro viruses</a:t>
            </a:r>
          </a:p>
          <a:p>
            <a:pPr>
              <a:spcBef>
                <a:spcPts val="0"/>
              </a:spcBef>
            </a:pPr>
            <a:r>
              <a:rPr lang="en-US" sz="2200" dirty="0">
                <a:latin typeface="Arial" panose="020B0604020202020204" pitchFamily="34" charset="0"/>
                <a:cs typeface="Arial" panose="020B0604020202020204" pitchFamily="34" charset="0"/>
              </a:rPr>
              <a:t>Wiper Malware</a:t>
            </a:r>
          </a:p>
          <a:p>
            <a:pPr>
              <a:spcBef>
                <a:spcPts val="0"/>
              </a:spcBef>
            </a:pPr>
            <a:r>
              <a:rPr lang="en-US" sz="2200" dirty="0">
                <a:latin typeface="Arial" panose="020B0604020202020204" pitchFamily="34" charset="0"/>
                <a:cs typeface="Arial" panose="020B0604020202020204" pitchFamily="34" charset="0"/>
              </a:rPr>
              <a:t>Keystroke logging</a:t>
            </a:r>
            <a:endParaRPr lang="en-ZM" sz="2200" dirty="0">
              <a:latin typeface="Arial" panose="020B0604020202020204" pitchFamily="34" charset="0"/>
              <a:cs typeface="Arial" panose="020B0604020202020204" pitchFamily="34" charset="0"/>
            </a:endParaRPr>
          </a:p>
        </p:txBody>
      </p:sp>
      <p:sp>
        <p:nvSpPr>
          <p:cNvPr id="7" name="Rectangle 3">
            <a:extLst>
              <a:ext uri="{FF2B5EF4-FFF2-40B4-BE49-F238E27FC236}">
                <a16:creationId xmlns:a16="http://schemas.microsoft.com/office/drawing/2014/main" id="{6DB867B3-7098-6EB8-52F7-4F9C252001EB}"/>
              </a:ext>
            </a:extLst>
          </p:cNvPr>
          <p:cNvSpPr txBox="1">
            <a:spLocks noChangeArrowheads="1"/>
          </p:cNvSpPr>
          <p:nvPr/>
        </p:nvSpPr>
        <p:spPr>
          <a:xfrm>
            <a:off x="838200" y="1423058"/>
            <a:ext cx="10692161" cy="1738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sz="2400" dirty="0">
                <a:solidFill>
                  <a:schemeClr val="tx2"/>
                </a:solidFill>
                <a:latin typeface="Arial" panose="020B0604020202020204" pitchFamily="34" charset="0"/>
              </a:rPr>
              <a:t>Any invasive software or computer code designed to cause damage, disruption, infection, to gain or to grant unauthorised access so as to compromise the security or privacy of computer systems.</a:t>
            </a:r>
          </a:p>
          <a:p>
            <a:pPr marL="0" indent="0">
              <a:buFont typeface="Arial" panose="020B0604020202020204" pitchFamily="34" charset="0"/>
              <a:buNone/>
            </a:pPr>
            <a:r>
              <a:rPr lang="en-US" altLang="en-US" sz="2400" dirty="0">
                <a:solidFill>
                  <a:schemeClr val="tx2"/>
                </a:solidFill>
                <a:latin typeface="Arial" panose="020B0604020202020204" pitchFamily="34" charset="0"/>
              </a:rPr>
              <a:t>Some of the common malware include but not limited to:</a:t>
            </a:r>
          </a:p>
        </p:txBody>
      </p:sp>
    </p:spTree>
    <p:extLst>
      <p:ext uri="{BB962C8B-B14F-4D97-AF65-F5344CB8AC3E}">
        <p14:creationId xmlns:p14="http://schemas.microsoft.com/office/powerpoint/2010/main" val="300399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a:xfrm>
            <a:off x="838200" y="365126"/>
            <a:ext cx="10515600" cy="909760"/>
          </a:xfrm>
        </p:spPr>
        <p:txBody>
          <a:bodyPr>
            <a:normAutofit/>
          </a:bodyPr>
          <a:lstStyle/>
          <a:p>
            <a:pPr eaLnBrk="1" hangingPunct="1"/>
            <a:r>
              <a:rPr lang="en-US" altLang="en-US" sz="5400" dirty="0">
                <a:solidFill>
                  <a:schemeClr val="hlink"/>
                </a:solidFill>
                <a:latin typeface="Arial" panose="020B0604020202020204" pitchFamily="34" charset="0"/>
              </a:rPr>
              <a:t>Types of Malware</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idx="1"/>
          </p:nvPr>
        </p:nvSpPr>
        <p:spPr>
          <a:xfrm>
            <a:off x="838200" y="1274886"/>
            <a:ext cx="10515600" cy="5217988"/>
          </a:xfrm>
        </p:spPr>
        <p:txBody>
          <a:bodyPr>
            <a:normAutofit lnSpcReduction="10000"/>
          </a:bodyPr>
          <a:lstStyle/>
          <a:p>
            <a:r>
              <a:rPr lang="en-GB" altLang="en-US" sz="2400" b="1" dirty="0">
                <a:solidFill>
                  <a:schemeClr val="tx2"/>
                </a:solidFill>
                <a:latin typeface="Arial" panose="020B0604020202020204" pitchFamily="34" charset="0"/>
              </a:rPr>
              <a:t>Ransomware- </a:t>
            </a:r>
            <a:r>
              <a:rPr lang="en-GB" altLang="en-US" sz="2400" dirty="0">
                <a:solidFill>
                  <a:schemeClr val="tx2"/>
                </a:solidFill>
                <a:latin typeface="Arial" panose="020B0604020202020204" pitchFamily="34" charset="0"/>
              </a:rPr>
              <a:t>its a crypto-viral software that encrypts and threatens to permanently block access to a victim's data or lock the system without damaging any files unless if a ransom is paid off using a methods like crypto-viral extortion.</a:t>
            </a:r>
          </a:p>
          <a:p>
            <a:r>
              <a:rPr lang="en-GB" altLang="en-US" sz="2400" b="1" dirty="0">
                <a:solidFill>
                  <a:schemeClr val="tx2"/>
                </a:solidFill>
                <a:latin typeface="Arial" panose="020B0604020202020204" pitchFamily="34" charset="0"/>
              </a:rPr>
              <a:t>Trojan horse- </a:t>
            </a:r>
            <a:r>
              <a:rPr lang="en-GB" altLang="en-US" sz="2400" dirty="0">
                <a:solidFill>
                  <a:schemeClr val="tx2"/>
                </a:solidFill>
                <a:latin typeface="Arial" panose="020B0604020202020204" pitchFamily="34" charset="0"/>
              </a:rPr>
              <a:t>software that misleads users its by disguising itself as a legitimate software with the purpose of tricking a user into executing it, as if its a standard program and they usually spread by some form of social engineering.</a:t>
            </a:r>
          </a:p>
          <a:p>
            <a:r>
              <a:rPr lang="en-GB" altLang="en-US" sz="2400" b="1" dirty="0">
                <a:solidFill>
                  <a:schemeClr val="tx2"/>
                </a:solidFill>
                <a:latin typeface="Arial" panose="020B0604020202020204" pitchFamily="34" charset="0"/>
              </a:rPr>
              <a:t>Spyware-</a:t>
            </a:r>
            <a:r>
              <a:rPr lang="en-GB" altLang="en-US" sz="2400" dirty="0">
                <a:solidFill>
                  <a:schemeClr val="tx2"/>
                </a:solidFill>
                <a:latin typeface="Arial" panose="020B0604020202020204" pitchFamily="34" charset="0"/>
              </a:rPr>
              <a:t> software that gathers information about a person without their knowledge, and sends the information to the attacker or another entity violating the users privacy.</a:t>
            </a:r>
          </a:p>
          <a:p>
            <a:r>
              <a:rPr lang="en-GB" altLang="en-US" sz="2400" b="1" dirty="0">
                <a:solidFill>
                  <a:schemeClr val="tx2"/>
                </a:solidFill>
                <a:latin typeface="Arial" panose="020B0604020202020204" pitchFamily="34" charset="0"/>
              </a:rPr>
              <a:t>Computer worm- </a:t>
            </a:r>
            <a:r>
              <a:rPr lang="en-GB" altLang="en-US" sz="2400" dirty="0">
                <a:solidFill>
                  <a:schemeClr val="tx2"/>
                </a:solidFill>
                <a:latin typeface="Arial" panose="020B0604020202020204" pitchFamily="34" charset="0"/>
              </a:rPr>
              <a:t>software that replicates itself by using a host machine to scan and infect other computers in order to spread itself using computer networks to other computing devices, they consume bandwidth and interrupt networks.</a:t>
            </a:r>
            <a:endParaRPr lang="en-US" altLang="en-US" sz="2400" dirty="0">
              <a:solidFill>
                <a:schemeClr val="tx2"/>
              </a:solidFill>
              <a:latin typeface="Arial" panose="020B0604020202020204" pitchFamily="34" charset="0"/>
            </a:endParaRPr>
          </a:p>
        </p:txBody>
      </p:sp>
    </p:spTree>
    <p:extLst>
      <p:ext uri="{BB962C8B-B14F-4D97-AF65-F5344CB8AC3E}">
        <p14:creationId xmlns:p14="http://schemas.microsoft.com/office/powerpoint/2010/main" val="60906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a:xfrm>
            <a:off x="838200" y="365126"/>
            <a:ext cx="10515600" cy="602028"/>
          </a:xfrm>
        </p:spPr>
        <p:txBody>
          <a:bodyPr>
            <a:noAutofit/>
          </a:bodyPr>
          <a:lstStyle/>
          <a:p>
            <a:pPr eaLnBrk="1" hangingPunct="1"/>
            <a:r>
              <a:rPr lang="en-US" altLang="en-US" sz="3200" dirty="0">
                <a:solidFill>
                  <a:schemeClr val="hlink"/>
                </a:solidFill>
                <a:latin typeface="Arial" panose="020B0604020202020204" pitchFamily="34" charset="0"/>
              </a:rPr>
              <a:t>Types of Malware-Continued</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idx="1"/>
          </p:nvPr>
        </p:nvSpPr>
        <p:spPr>
          <a:xfrm>
            <a:off x="518746" y="888023"/>
            <a:ext cx="10835054" cy="5714999"/>
          </a:xfrm>
        </p:spPr>
        <p:txBody>
          <a:bodyPr>
            <a:normAutofit lnSpcReduction="10000"/>
          </a:bodyPr>
          <a:lstStyle/>
          <a:p>
            <a:r>
              <a:rPr lang="en-GB" altLang="en-US" sz="2400" b="1" dirty="0">
                <a:solidFill>
                  <a:schemeClr val="tx2"/>
                </a:solidFill>
                <a:latin typeface="Arial" panose="020B0604020202020204" pitchFamily="34" charset="0"/>
              </a:rPr>
              <a:t>Adware- </a:t>
            </a:r>
            <a:r>
              <a:rPr lang="en-GB" altLang="en-US" sz="2400" dirty="0">
                <a:solidFill>
                  <a:schemeClr val="tx2"/>
                </a:solidFill>
                <a:latin typeface="Arial" panose="020B0604020202020204" pitchFamily="34" charset="0"/>
              </a:rPr>
              <a:t>Its an unwanted advertising software that  advertisements, software that generates revenue for its developer by automatically generating and  displays online advertisements in the user interface's screen presented to the user. It track web activity and collects personal information so that it serves the user with more personalized advertisements and sometimes with malicious advertisements</a:t>
            </a:r>
          </a:p>
          <a:p>
            <a:r>
              <a:rPr lang="en-GB" altLang="en-US" sz="2400" b="1" dirty="0">
                <a:solidFill>
                  <a:schemeClr val="tx2"/>
                </a:solidFill>
                <a:latin typeface="Arial" panose="020B0604020202020204" pitchFamily="34" charset="0"/>
              </a:rPr>
              <a:t>Computer virus- </a:t>
            </a:r>
            <a:r>
              <a:rPr lang="en-GB" altLang="en-US" sz="2400" dirty="0">
                <a:solidFill>
                  <a:schemeClr val="tx2"/>
                </a:solidFill>
                <a:latin typeface="Arial" panose="020B0604020202020204" pitchFamily="34" charset="0"/>
              </a:rPr>
              <a:t>Its a host-dependent software or a piece of code that inserts itself into an application and executes when the app is run, self-replicating infecting other files and programs, by modifying other computer programs and inserting its own code into those files and programs.</a:t>
            </a:r>
          </a:p>
          <a:p>
            <a:r>
              <a:rPr lang="en-GB" altLang="en-US" sz="2400" b="1" dirty="0">
                <a:solidFill>
                  <a:schemeClr val="tx2"/>
                </a:solidFill>
                <a:latin typeface="Arial" panose="020B0604020202020204" pitchFamily="34" charset="0"/>
              </a:rPr>
              <a:t>Rootkit- </a:t>
            </a:r>
            <a:r>
              <a:rPr lang="en-GB" altLang="en-US" sz="2400" dirty="0">
                <a:solidFill>
                  <a:schemeClr val="tx2"/>
                </a:solidFill>
                <a:latin typeface="Arial" panose="020B0604020202020204" pitchFamily="34" charset="0"/>
              </a:rPr>
              <a:t>software that are injected into applications, kernels, hypervisors, or firmware, designed to enable unauthorized access either localised or remote control access to the computer or a software area that is not otherwise allowed without being detected to either a cybercriminals or other malicious software and often masks its existence or the existence of other malicious software. They spread through phishing, malicious attachments and other malicious downloads.</a:t>
            </a:r>
          </a:p>
        </p:txBody>
      </p:sp>
    </p:spTree>
    <p:extLst>
      <p:ext uri="{BB962C8B-B14F-4D97-AF65-F5344CB8AC3E}">
        <p14:creationId xmlns:p14="http://schemas.microsoft.com/office/powerpoint/2010/main" val="429269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a:xfrm>
            <a:off x="838200" y="365126"/>
            <a:ext cx="10515600" cy="602028"/>
          </a:xfrm>
        </p:spPr>
        <p:txBody>
          <a:bodyPr>
            <a:noAutofit/>
          </a:bodyPr>
          <a:lstStyle/>
          <a:p>
            <a:pPr eaLnBrk="1" hangingPunct="1"/>
            <a:r>
              <a:rPr lang="en-US" altLang="en-US" sz="3200" dirty="0">
                <a:solidFill>
                  <a:schemeClr val="hlink"/>
                </a:solidFill>
                <a:latin typeface="Arial" panose="020B0604020202020204" pitchFamily="34" charset="0"/>
              </a:rPr>
              <a:t>Types of Malware-Continued</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idx="1"/>
          </p:nvPr>
        </p:nvSpPr>
        <p:spPr>
          <a:xfrm>
            <a:off x="518746" y="888023"/>
            <a:ext cx="10835054" cy="5714999"/>
          </a:xfrm>
        </p:spPr>
        <p:txBody>
          <a:bodyPr>
            <a:normAutofit fontScale="92500"/>
          </a:bodyPr>
          <a:lstStyle/>
          <a:p>
            <a:r>
              <a:rPr lang="en-GB" altLang="en-US" sz="2400" b="1" dirty="0">
                <a:solidFill>
                  <a:schemeClr val="tx2"/>
                </a:solidFill>
                <a:latin typeface="Arial" panose="020B0604020202020204" pitchFamily="34" charset="0"/>
              </a:rPr>
              <a:t>Fileless-</a:t>
            </a:r>
            <a:r>
              <a:rPr lang="en-GB" altLang="en-US" sz="2400" dirty="0">
                <a:solidFill>
                  <a:schemeClr val="tx2"/>
                </a:solidFill>
                <a:latin typeface="Arial" panose="020B0604020202020204" pitchFamily="34" charset="0"/>
              </a:rPr>
              <a:t> These are exclusively computer based memory software that don't install anything but makes changes to files that are native to the operating system, such as PowerShell or Windows Management Instrumentation. They use software, applications, and protocols already built-in or native to device operating systems to install and execute malicious activities, by taking advantage of the legitimate scripts to execute malicious activity while the legitimate programs continue to run, and they can disrupt antivirus software and even steal data</a:t>
            </a:r>
            <a:r>
              <a:rPr lang="en-US" altLang="en-US" sz="2400" dirty="0">
                <a:solidFill>
                  <a:schemeClr val="tx2"/>
                </a:solidFill>
                <a:latin typeface="Arial" panose="020B0604020202020204" pitchFamily="34" charset="0"/>
              </a:rPr>
              <a:t>.</a:t>
            </a:r>
          </a:p>
          <a:p>
            <a:r>
              <a:rPr lang="en-GB" altLang="en-US" sz="2400" b="1" dirty="0">
                <a:solidFill>
                  <a:schemeClr val="tx2"/>
                </a:solidFill>
                <a:latin typeface="Arial" panose="020B0604020202020204" pitchFamily="34" charset="0"/>
              </a:rPr>
              <a:t>Botnet-</a:t>
            </a:r>
            <a:r>
              <a:rPr lang="en-GB" altLang="en-US" sz="2400" dirty="0">
                <a:solidFill>
                  <a:schemeClr val="tx2"/>
                </a:solidFill>
                <a:latin typeface="Arial" panose="020B0604020202020204" pitchFamily="34" charset="0"/>
              </a:rPr>
              <a:t> a group of internet-connected devices or network of computers or computer code that carry out or execute malware, each of which runs one or more malicious software known as bots, which receive commands from their controller, the hacker who is given access to a substantial degree of collective processing power by the bots, to control the botnet using command and control software. Botnets can be used to perform Distributed Denial-of-Service attacks, steal data, send spam, and allow the attacker to access the device and its connection.</a:t>
            </a:r>
          </a:p>
          <a:p>
            <a:r>
              <a:rPr lang="en-GB" altLang="en-US" sz="2400" b="1" dirty="0">
                <a:solidFill>
                  <a:schemeClr val="tx2"/>
                </a:solidFill>
                <a:latin typeface="Arial" panose="020B0604020202020204" pitchFamily="34" charset="0"/>
              </a:rPr>
              <a:t>Crypto-Locker-</a:t>
            </a:r>
            <a:r>
              <a:rPr lang="en-GB" altLang="en-US" sz="2400" dirty="0">
                <a:solidFill>
                  <a:schemeClr val="tx2"/>
                </a:solidFill>
                <a:latin typeface="Arial" panose="020B0604020202020204" pitchFamily="34" charset="0"/>
              </a:rPr>
              <a:t> its a ransomware attack which utilizes a trojan that targets computers and locks a user out of their devices, it distributes itself using infected email attachments using phishing emails and by using the existing.</a:t>
            </a:r>
          </a:p>
        </p:txBody>
      </p:sp>
    </p:spTree>
    <p:extLst>
      <p:ext uri="{BB962C8B-B14F-4D97-AF65-F5344CB8AC3E}">
        <p14:creationId xmlns:p14="http://schemas.microsoft.com/office/powerpoint/2010/main" val="1361699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a:xfrm>
            <a:off x="838200" y="365126"/>
            <a:ext cx="10515600" cy="602028"/>
          </a:xfrm>
        </p:spPr>
        <p:txBody>
          <a:bodyPr>
            <a:noAutofit/>
          </a:bodyPr>
          <a:lstStyle/>
          <a:p>
            <a:pPr eaLnBrk="1" hangingPunct="1"/>
            <a:r>
              <a:rPr lang="en-US" altLang="en-US" sz="3200" dirty="0">
                <a:solidFill>
                  <a:schemeClr val="hlink"/>
                </a:solidFill>
                <a:latin typeface="Arial" panose="020B0604020202020204" pitchFamily="34" charset="0"/>
              </a:rPr>
              <a:t>Types of Malware-Continued</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idx="1"/>
          </p:nvPr>
        </p:nvSpPr>
        <p:spPr>
          <a:xfrm>
            <a:off x="518746" y="888023"/>
            <a:ext cx="10835054" cy="5714999"/>
          </a:xfrm>
        </p:spPr>
        <p:txBody>
          <a:bodyPr>
            <a:normAutofit lnSpcReduction="10000"/>
          </a:bodyPr>
          <a:lstStyle/>
          <a:p>
            <a:r>
              <a:rPr lang="en-GB" altLang="en-US" sz="2400" b="1" dirty="0">
                <a:solidFill>
                  <a:schemeClr val="tx2"/>
                </a:solidFill>
                <a:latin typeface="Arial" panose="020B0604020202020204" pitchFamily="34" charset="0"/>
              </a:rPr>
              <a:t>Scareware- </a:t>
            </a:r>
            <a:r>
              <a:rPr lang="en-GB" altLang="en-US" sz="2400" dirty="0">
                <a:solidFill>
                  <a:schemeClr val="tx2"/>
                </a:solidFill>
                <a:latin typeface="Arial" panose="020B0604020202020204" pitchFamily="34" charset="0"/>
              </a:rPr>
              <a:t>software that uses social engineering, with fake security alerts to trick users, cause shock, anxiety, or the perception of a threat, in order to manipulate users into downloading or buying unwanted or fake security software, which in some cases can be additional malware. </a:t>
            </a:r>
          </a:p>
          <a:p>
            <a:r>
              <a:rPr lang="en-GB" altLang="en-US" sz="2400" b="1" dirty="0">
                <a:solidFill>
                  <a:schemeClr val="tx2"/>
                </a:solidFill>
                <a:latin typeface="Arial" panose="020B0604020202020204" pitchFamily="34" charset="0"/>
              </a:rPr>
              <a:t>Backdoor- </a:t>
            </a:r>
            <a:r>
              <a:rPr lang="en-GB" altLang="en-US" sz="2400" dirty="0">
                <a:solidFill>
                  <a:schemeClr val="tx2"/>
                </a:solidFill>
                <a:latin typeface="Arial" panose="020B0604020202020204" pitchFamily="34" charset="0"/>
              </a:rPr>
              <a:t>Its a software or a covert method which bypasses the usual authentication or encryption used to access a computer system, computer product or embedded device in order to secure remote access or obtain access.</a:t>
            </a:r>
          </a:p>
          <a:p>
            <a:r>
              <a:rPr lang="en-GB" altLang="en-US" sz="2400" b="1" dirty="0">
                <a:solidFill>
                  <a:schemeClr val="tx2"/>
                </a:solidFill>
                <a:latin typeface="Arial" panose="020B0604020202020204" pitchFamily="34" charset="0"/>
              </a:rPr>
              <a:t>DoS (Denial-of-service)- </a:t>
            </a:r>
            <a:r>
              <a:rPr lang="en-GB" altLang="en-US" sz="2400" dirty="0">
                <a:solidFill>
                  <a:schemeClr val="tx2"/>
                </a:solidFill>
                <a:latin typeface="Arial" panose="020B0604020202020204" pitchFamily="34" charset="0"/>
              </a:rPr>
              <a:t>Software called botnets link networks of 'zombie computers' under a criminal control to perform a DoS attack to make computer systems or network resource unavailable to its intended users by temporarily or indefinitely disrupting services of a host connected to a network.</a:t>
            </a:r>
          </a:p>
          <a:p>
            <a:r>
              <a:rPr lang="en-GB" altLang="en-US" sz="2400" b="1" dirty="0">
                <a:solidFill>
                  <a:schemeClr val="tx2"/>
                </a:solidFill>
                <a:latin typeface="Arial" panose="020B0604020202020204" pitchFamily="34" charset="0"/>
              </a:rPr>
              <a:t>Logic Bombs- </a:t>
            </a:r>
            <a:r>
              <a:rPr lang="en-GB" altLang="en-US" sz="2400" dirty="0">
                <a:solidFill>
                  <a:schemeClr val="tx2"/>
                </a:solidFill>
                <a:latin typeface="Arial" panose="020B0604020202020204" pitchFamily="34" charset="0"/>
              </a:rPr>
              <a:t>Software that uses a trigger, when triggered, such as on a specific time or when another condition is met or on a specified logon-</a:t>
            </a:r>
            <a:r>
              <a:rPr lang="en-GB" altLang="en-US" sz="2400" dirty="0" err="1">
                <a:solidFill>
                  <a:schemeClr val="tx2"/>
                </a:solidFill>
                <a:latin typeface="Arial" panose="020B0604020202020204" pitchFamily="34" charset="0"/>
              </a:rPr>
              <a:t>th</a:t>
            </a:r>
            <a:r>
              <a:rPr lang="en-GB" altLang="en-US" sz="2400" dirty="0">
                <a:solidFill>
                  <a:schemeClr val="tx2"/>
                </a:solidFill>
                <a:latin typeface="Arial" panose="020B0604020202020204" pitchFamily="34" charset="0"/>
              </a:rPr>
              <a:t> session of an account, they activate a malicious code.</a:t>
            </a:r>
          </a:p>
        </p:txBody>
      </p:sp>
    </p:spTree>
    <p:extLst>
      <p:ext uri="{BB962C8B-B14F-4D97-AF65-F5344CB8AC3E}">
        <p14:creationId xmlns:p14="http://schemas.microsoft.com/office/powerpoint/2010/main" val="522743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984AED-2042-7943-C712-FBF5E72AD0EA}"/>
              </a:ext>
            </a:extLst>
          </p:cNvPr>
          <p:cNvSpPr>
            <a:spLocks noGrp="1" noChangeArrowheads="1"/>
          </p:cNvSpPr>
          <p:nvPr>
            <p:ph type="title"/>
          </p:nvPr>
        </p:nvSpPr>
        <p:spPr>
          <a:xfrm>
            <a:off x="838200" y="365126"/>
            <a:ext cx="10515600" cy="602028"/>
          </a:xfrm>
        </p:spPr>
        <p:txBody>
          <a:bodyPr>
            <a:noAutofit/>
          </a:bodyPr>
          <a:lstStyle/>
          <a:p>
            <a:pPr eaLnBrk="1" hangingPunct="1"/>
            <a:r>
              <a:rPr lang="en-US" altLang="en-US" sz="3200" dirty="0">
                <a:solidFill>
                  <a:schemeClr val="hlink"/>
                </a:solidFill>
                <a:latin typeface="Arial" panose="020B0604020202020204" pitchFamily="34" charset="0"/>
              </a:rPr>
              <a:t>Types of Malware-Continued</a:t>
            </a:r>
          </a:p>
        </p:txBody>
      </p:sp>
      <p:sp>
        <p:nvSpPr>
          <p:cNvPr id="4099" name="Rectangle 3">
            <a:extLst>
              <a:ext uri="{FF2B5EF4-FFF2-40B4-BE49-F238E27FC236}">
                <a16:creationId xmlns:a16="http://schemas.microsoft.com/office/drawing/2014/main" id="{20DEEEB9-9ECB-0CDA-0936-CA4027C4E74D}"/>
              </a:ext>
            </a:extLst>
          </p:cNvPr>
          <p:cNvSpPr>
            <a:spLocks noGrp="1" noChangeArrowheads="1"/>
          </p:cNvSpPr>
          <p:nvPr>
            <p:ph idx="1"/>
          </p:nvPr>
        </p:nvSpPr>
        <p:spPr>
          <a:xfrm>
            <a:off x="518746" y="888023"/>
            <a:ext cx="10835054" cy="5714999"/>
          </a:xfrm>
        </p:spPr>
        <p:txBody>
          <a:bodyPr>
            <a:normAutofit lnSpcReduction="10000"/>
          </a:bodyPr>
          <a:lstStyle/>
          <a:p>
            <a:r>
              <a:rPr lang="en-GB" altLang="en-US" sz="2400" b="1" dirty="0">
                <a:solidFill>
                  <a:schemeClr val="tx2"/>
                </a:solidFill>
                <a:latin typeface="Arial" panose="020B0604020202020204" pitchFamily="34" charset="0"/>
              </a:rPr>
              <a:t>Mobile malware- </a:t>
            </a:r>
            <a:r>
              <a:rPr lang="en-GB" altLang="en-US" sz="2400" dirty="0">
                <a:solidFill>
                  <a:schemeClr val="tx2"/>
                </a:solidFill>
                <a:latin typeface="Arial" panose="020B0604020202020204" pitchFamily="34" charset="0"/>
              </a:rPr>
              <a:t>software that targets mobile or wireless-enabled devices by causing the collapse of the system and loss or leakage of confidential information by spying and recording texts and phone calls, impersonating common apps, stealing credentials. They are distributed through phishing and malicious downloads and are a particular problem for jailbroken phones,</a:t>
            </a:r>
          </a:p>
          <a:p>
            <a:r>
              <a:rPr lang="en-GB" altLang="en-US" sz="2400" b="1" dirty="0">
                <a:solidFill>
                  <a:schemeClr val="tx2"/>
                </a:solidFill>
                <a:latin typeface="Arial" panose="020B0604020202020204" pitchFamily="34" charset="0"/>
              </a:rPr>
              <a:t>Macro viruses- </a:t>
            </a:r>
            <a:r>
              <a:rPr lang="en-GB" altLang="en-US" sz="2400" dirty="0">
                <a:solidFill>
                  <a:schemeClr val="tx2"/>
                </a:solidFill>
                <a:latin typeface="Arial" panose="020B0604020202020204" pitchFamily="34" charset="0"/>
              </a:rPr>
              <a:t>Viruses written in the same macro language used for software applications that exploit macros in Microsoft Office applications like Word and Excel to infect computing device.</a:t>
            </a:r>
          </a:p>
          <a:p>
            <a:r>
              <a:rPr lang="en-GB" altLang="en-US" sz="2400" b="1" dirty="0">
                <a:solidFill>
                  <a:schemeClr val="tx2"/>
                </a:solidFill>
                <a:latin typeface="Arial" panose="020B0604020202020204" pitchFamily="34" charset="0"/>
              </a:rPr>
              <a:t>Wiper Malware- </a:t>
            </a:r>
            <a:r>
              <a:rPr lang="en-GB" altLang="en-US" sz="2400" dirty="0">
                <a:solidFill>
                  <a:schemeClr val="tx2"/>
                </a:solidFill>
                <a:latin typeface="Arial" panose="020B0604020202020204" pitchFamily="34" charset="0"/>
              </a:rPr>
              <a:t>Software with a single purpose of erasing user data and ensuring it can’t be recovered, mainly used to shut down computer networks in public or private companies across various sectors to cover up traces left after an intrusion, weakening the user's ability to respond.</a:t>
            </a:r>
          </a:p>
          <a:p>
            <a:r>
              <a:rPr lang="en-GB" altLang="en-US" sz="2400" b="1" dirty="0">
                <a:solidFill>
                  <a:schemeClr val="tx2"/>
                </a:solidFill>
                <a:latin typeface="Arial" panose="020B0604020202020204" pitchFamily="34" charset="0"/>
              </a:rPr>
              <a:t>Keystroke logging- </a:t>
            </a:r>
            <a:r>
              <a:rPr lang="en-GB" altLang="en-US" sz="2400" dirty="0">
                <a:solidFill>
                  <a:schemeClr val="tx2"/>
                </a:solidFill>
                <a:latin typeface="Arial" panose="020B0604020202020204" pitchFamily="34" charset="0"/>
              </a:rPr>
              <a:t>its a keyboard capturing software that covertly records the keys struck on a keyboard so that a person using the keyboard is unaware that their actions are being monitored, stealing password data, banking information and other sensitive information.</a:t>
            </a:r>
          </a:p>
        </p:txBody>
      </p:sp>
    </p:spTree>
    <p:extLst>
      <p:ext uri="{BB962C8B-B14F-4D97-AF65-F5344CB8AC3E}">
        <p14:creationId xmlns:p14="http://schemas.microsoft.com/office/powerpoint/2010/main" val="2763020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CCEFCD7-49F3-D7D4-8670-E4A04B9851EE}"/>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What is a Virus?</a:t>
            </a:r>
          </a:p>
        </p:txBody>
      </p:sp>
      <p:sp>
        <p:nvSpPr>
          <p:cNvPr id="7171" name="Rectangle 3">
            <a:extLst>
              <a:ext uri="{FF2B5EF4-FFF2-40B4-BE49-F238E27FC236}">
                <a16:creationId xmlns:a16="http://schemas.microsoft.com/office/drawing/2014/main" id="{CED5D473-5E06-5584-C4B2-A08552CFE10A}"/>
              </a:ext>
            </a:extLst>
          </p:cNvPr>
          <p:cNvSpPr>
            <a:spLocks noGrp="1" noChangeArrowheads="1"/>
          </p:cNvSpPr>
          <p:nvPr>
            <p:ph idx="1"/>
          </p:nvPr>
        </p:nvSpPr>
        <p:spPr/>
        <p:txBody>
          <a:bodyPr/>
          <a:lstStyle/>
          <a:p>
            <a:pPr algn="ctr" eaLnBrk="1" hangingPunct="1">
              <a:buFont typeface="Tahoma" panose="020B0604030504040204" pitchFamily="34" charset="0"/>
              <a:buNone/>
            </a:pPr>
            <a:endParaRPr lang="en-US" altLang="en-US">
              <a:solidFill>
                <a:schemeClr val="tx2"/>
              </a:solidFill>
              <a:latin typeface="Arial" panose="020B0604020202020204" pitchFamily="34" charset="0"/>
            </a:endParaRPr>
          </a:p>
          <a:p>
            <a:pPr algn="ctr" eaLnBrk="1" hangingPunct="1">
              <a:buFont typeface="Tahoma" panose="020B0604030504040204" pitchFamily="34" charset="0"/>
              <a:buNone/>
            </a:pPr>
            <a:r>
              <a:rPr lang="en-US" altLang="en-US">
                <a:solidFill>
                  <a:schemeClr val="tx2"/>
                </a:solidFill>
                <a:latin typeface="Arial" panose="020B0604020202020204" pitchFamily="34" charset="0"/>
              </a:rPr>
              <a:t>a virus is software that spreads from program to program, or from disk to disk, and uses each infected program or disk to make copies of itself.  basically computer sabotage.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C60E8EA-29C2-E662-A045-299CD81C07E8}"/>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History of the Virus</a:t>
            </a:r>
          </a:p>
        </p:txBody>
      </p:sp>
      <p:sp>
        <p:nvSpPr>
          <p:cNvPr id="37891" name="Rectangle 3">
            <a:extLst>
              <a:ext uri="{FF2B5EF4-FFF2-40B4-BE49-F238E27FC236}">
                <a16:creationId xmlns:a16="http://schemas.microsoft.com/office/drawing/2014/main" id="{E6D3FC0F-5D67-12C0-F93A-466A14060BBD}"/>
              </a:ext>
            </a:extLst>
          </p:cNvPr>
          <p:cNvSpPr>
            <a:spLocks noGrp="1" noChangeArrowheads="1"/>
          </p:cNvSpPr>
          <p:nvPr>
            <p:ph idx="1"/>
          </p:nvPr>
        </p:nvSpPr>
        <p:spPr>
          <a:xfrm>
            <a:off x="1752600" y="1447800"/>
            <a:ext cx="4953000" cy="5410200"/>
          </a:xfrm>
        </p:spPr>
        <p:txBody>
          <a:bodyPr rtlCol="0">
            <a:normAutofit lnSpcReduction="10000"/>
          </a:bodyPr>
          <a:lstStyle/>
          <a:p>
            <a:pPr>
              <a:lnSpc>
                <a:spcPct val="80000"/>
              </a:lnSpc>
              <a:buFont typeface="Tahoma" charset="0"/>
              <a:buChar char="•"/>
              <a:defRPr/>
            </a:pPr>
            <a:endParaRPr lang="en-US" sz="2000">
              <a:solidFill>
                <a:schemeClr val="tx2"/>
              </a:solidFill>
              <a:latin typeface="Arial" charset="0"/>
            </a:endParaRPr>
          </a:p>
          <a:p>
            <a:pPr>
              <a:lnSpc>
                <a:spcPct val="80000"/>
              </a:lnSpc>
              <a:buFont typeface="Tahoma" charset="0"/>
              <a:buChar char="•"/>
              <a:defRPr/>
            </a:pPr>
            <a:r>
              <a:rPr lang="en-US" sz="2000">
                <a:solidFill>
                  <a:schemeClr val="tx2"/>
                </a:solidFill>
                <a:latin typeface="Arial" charset="0"/>
              </a:rPr>
              <a:t>the term comes from biology.  a computer virus reproduces by making, possibly modified, copies of itself in the computer’s memory, storage, or over a network. similar to the way a biological virus would work.</a:t>
            </a:r>
          </a:p>
          <a:p>
            <a:pPr>
              <a:lnSpc>
                <a:spcPct val="80000"/>
              </a:lnSpc>
              <a:buFont typeface="Tahoma" charset="0"/>
              <a:buChar char="•"/>
              <a:defRPr/>
            </a:pPr>
            <a:r>
              <a:rPr lang="en-US" sz="2000">
                <a:solidFill>
                  <a:schemeClr val="tx2"/>
                </a:solidFill>
                <a:latin typeface="Arial" charset="0"/>
              </a:rPr>
              <a:t>the very first virus to be created outside the single computer or lab was the program called "Elk Cloner.”  it was written by Rich Skrenta in 1982.  the virus attached itself to the Apple DOS 3.3 operating system and spread through floppy disk.  the virus was originally a joke, created by a high school student and put onto a game. the 50th time someone played the game, the virus would be released.  so instead of playing the game, the user saw a blank screen that read a poem about the virus named Elk Cloner.</a:t>
            </a:r>
          </a:p>
          <a:p>
            <a:pPr>
              <a:lnSpc>
                <a:spcPct val="80000"/>
              </a:lnSpc>
              <a:buFont typeface="Tahoma" charset="0"/>
              <a:buChar char="•"/>
              <a:defRPr/>
            </a:pPr>
            <a:endParaRPr lang="en-US" sz="2000">
              <a:solidFill>
                <a:schemeClr val="tx2"/>
              </a:solidFill>
              <a:latin typeface="Arial" charset="0"/>
            </a:endParaRPr>
          </a:p>
          <a:p>
            <a:pPr>
              <a:lnSpc>
                <a:spcPct val="80000"/>
              </a:lnSpc>
              <a:buFont typeface="Tahoma" charset="0"/>
              <a:buChar char="•"/>
              <a:defRPr/>
            </a:pPr>
            <a:endParaRPr lang="en-US" sz="1600"/>
          </a:p>
          <a:p>
            <a:pPr>
              <a:lnSpc>
                <a:spcPct val="80000"/>
              </a:lnSpc>
              <a:buFont typeface="Tahoma" charset="0"/>
              <a:buChar char="•"/>
              <a:defRPr/>
            </a:pPr>
            <a:endParaRPr lang="en-US" sz="1600"/>
          </a:p>
        </p:txBody>
      </p:sp>
      <p:pic>
        <p:nvPicPr>
          <p:cNvPr id="8196" name="Picture 4" descr="MCBD06551_0000[1]">
            <a:extLst>
              <a:ext uri="{FF2B5EF4-FFF2-40B4-BE49-F238E27FC236}">
                <a16:creationId xmlns:a16="http://schemas.microsoft.com/office/drawing/2014/main" id="{DA13CE1D-9F05-E625-2F66-71033F531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752600"/>
            <a:ext cx="39624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55C4B3A-88F8-75E4-E087-54A58FCB2063}"/>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How does a</a:t>
            </a:r>
            <a:r>
              <a:rPr lang="en-US" altLang="en-US">
                <a:latin typeface="Arial" panose="020B0604020202020204" pitchFamily="34" charset="0"/>
              </a:rPr>
              <a:t> </a:t>
            </a:r>
            <a:r>
              <a:rPr lang="en-US" altLang="en-US">
                <a:solidFill>
                  <a:schemeClr val="hlink"/>
                </a:solidFill>
                <a:latin typeface="Arial" panose="020B0604020202020204" pitchFamily="34" charset="0"/>
              </a:rPr>
              <a:t>Virus</a:t>
            </a:r>
            <a:r>
              <a:rPr lang="en-US" altLang="en-US">
                <a:latin typeface="Arial" panose="020B0604020202020204" pitchFamily="34" charset="0"/>
              </a:rPr>
              <a:t> </a:t>
            </a:r>
            <a:r>
              <a:rPr lang="en-US" altLang="en-US">
                <a:solidFill>
                  <a:schemeClr val="hlink"/>
                </a:solidFill>
                <a:latin typeface="Arial" panose="020B0604020202020204" pitchFamily="34" charset="0"/>
              </a:rPr>
              <a:t>Spread?</a:t>
            </a:r>
          </a:p>
        </p:txBody>
      </p:sp>
      <p:sp>
        <p:nvSpPr>
          <p:cNvPr id="38915" name="Rectangle 3">
            <a:extLst>
              <a:ext uri="{FF2B5EF4-FFF2-40B4-BE49-F238E27FC236}">
                <a16:creationId xmlns:a16="http://schemas.microsoft.com/office/drawing/2014/main" id="{6CA793D4-08E7-D39B-8B3A-C63E57CBA2DB}"/>
              </a:ext>
            </a:extLst>
          </p:cNvPr>
          <p:cNvSpPr>
            <a:spLocks noGrp="1" noChangeArrowheads="1"/>
          </p:cNvSpPr>
          <p:nvPr>
            <p:ph idx="1"/>
          </p:nvPr>
        </p:nvSpPr>
        <p:spPr>
          <a:xfrm>
            <a:off x="2209800" y="1905001"/>
            <a:ext cx="7772400" cy="2424113"/>
          </a:xfrm>
        </p:spPr>
        <p:txBody>
          <a:bodyPr rtlCol="0">
            <a:normAutofit fontScale="92500"/>
          </a:bodyPr>
          <a:lstStyle/>
          <a:p>
            <a:pPr algn="ctr">
              <a:buNone/>
              <a:defRPr/>
            </a:pPr>
            <a:r>
              <a:rPr lang="en-US">
                <a:solidFill>
                  <a:schemeClr val="tx2"/>
                </a:solidFill>
                <a:latin typeface="Arial" charset="0"/>
              </a:rPr>
              <a:t>first a programmer writes the virus most often being attached to a normal program; unknown to the user, the virus spreads to other software.  then the virus is passed by disk or network to other users who use other computers.  the virus then remains dormant as it is passed on.</a:t>
            </a:r>
          </a:p>
        </p:txBody>
      </p:sp>
      <p:pic>
        <p:nvPicPr>
          <p:cNvPr id="9220" name="Picture 4">
            <a:extLst>
              <a:ext uri="{FF2B5EF4-FFF2-40B4-BE49-F238E27FC236}">
                <a16:creationId xmlns:a16="http://schemas.microsoft.com/office/drawing/2014/main" id="{13808D17-FA1C-78E9-BD56-14ADB919D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5062538"/>
            <a:ext cx="20574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a:extLst>
              <a:ext uri="{FF2B5EF4-FFF2-40B4-BE49-F238E27FC236}">
                <a16:creationId xmlns:a16="http://schemas.microsoft.com/office/drawing/2014/main" id="{A5EE6EB7-EB42-F024-A023-2D07F154F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5981700"/>
            <a:ext cx="1143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6">
            <a:extLst>
              <a:ext uri="{FF2B5EF4-FFF2-40B4-BE49-F238E27FC236}">
                <a16:creationId xmlns:a16="http://schemas.microsoft.com/office/drawing/2014/main" id="{E11B1408-2033-EB3F-2A45-6D257D92D5C8}"/>
              </a:ext>
            </a:extLst>
          </p:cNvPr>
          <p:cNvSpPr txBox="1">
            <a:spLocks noChangeArrowheads="1"/>
          </p:cNvSpPr>
          <p:nvPr/>
        </p:nvSpPr>
        <p:spPr bwMode="auto">
          <a:xfrm>
            <a:off x="5105400" y="5105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b="1">
                <a:solidFill>
                  <a:schemeClr val="tx2"/>
                </a:solidFill>
                <a:latin typeface="Arial" panose="020B0604020202020204" pitchFamily="34" charset="0"/>
                <a:ea typeface="ＭＳ Ｐゴシック" panose="020B0600070205080204" pitchFamily="34" charset="-128"/>
              </a:rPr>
              <a:t>The Internet</a:t>
            </a:r>
          </a:p>
        </p:txBody>
      </p:sp>
      <p:pic>
        <p:nvPicPr>
          <p:cNvPr id="9223" name="Picture 7">
            <a:extLst>
              <a:ext uri="{FF2B5EF4-FFF2-40B4-BE49-F238E27FC236}">
                <a16:creationId xmlns:a16="http://schemas.microsoft.com/office/drawing/2014/main" id="{CD1E4D9E-CD97-418A-4827-8EFCE7717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5981700"/>
            <a:ext cx="1143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8">
            <a:extLst>
              <a:ext uri="{FF2B5EF4-FFF2-40B4-BE49-F238E27FC236}">
                <a16:creationId xmlns:a16="http://schemas.microsoft.com/office/drawing/2014/main" id="{3F534DE3-72CC-10A7-197D-377EBD5B6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4986338"/>
            <a:ext cx="20574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0001ED6-4B48-3BD6-5689-104D7463F59E}"/>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types of Viruses</a:t>
            </a:r>
          </a:p>
        </p:txBody>
      </p:sp>
      <p:sp>
        <p:nvSpPr>
          <p:cNvPr id="10243" name="Rectangle 3">
            <a:extLst>
              <a:ext uri="{FF2B5EF4-FFF2-40B4-BE49-F238E27FC236}">
                <a16:creationId xmlns:a16="http://schemas.microsoft.com/office/drawing/2014/main" id="{FDFD90A5-E3FC-4534-0123-04300375293C}"/>
              </a:ext>
            </a:extLst>
          </p:cNvPr>
          <p:cNvSpPr>
            <a:spLocks noGrp="1" noChangeArrowheads="1"/>
          </p:cNvSpPr>
          <p:nvPr>
            <p:ph idx="1"/>
          </p:nvPr>
        </p:nvSpPr>
        <p:spPr>
          <a:xfrm>
            <a:off x="1981200" y="1600200"/>
            <a:ext cx="8229600" cy="5029200"/>
          </a:xfrm>
        </p:spPr>
        <p:txBody>
          <a:bodyPr/>
          <a:lstStyle/>
          <a:p>
            <a:pPr eaLnBrk="1" hangingPunct="1">
              <a:lnSpc>
                <a:spcPct val="80000"/>
              </a:lnSpc>
              <a:buFont typeface="Tahoma" panose="020B0604030504040204" pitchFamily="34" charset="0"/>
              <a:buChar char="•"/>
            </a:pPr>
            <a:r>
              <a:rPr lang="en-US" altLang="en-US">
                <a:solidFill>
                  <a:schemeClr val="tx2"/>
                </a:solidFill>
                <a:latin typeface="Arial" panose="020B0604020202020204" pitchFamily="34" charset="0"/>
              </a:rPr>
              <a:t>the way viruses are usually categorized is by what they do.</a:t>
            </a:r>
          </a:p>
          <a:p>
            <a:pPr eaLnBrk="1" hangingPunct="1">
              <a:lnSpc>
                <a:spcPct val="80000"/>
              </a:lnSpc>
              <a:buFont typeface="Tahoma" panose="020B0604030504040204" pitchFamily="34" charset="0"/>
              <a:buNone/>
            </a:pPr>
            <a:endParaRPr lang="en-US" altLang="en-US">
              <a:solidFill>
                <a:schemeClr val="tx2"/>
              </a:solidFill>
              <a:latin typeface="Arial" panose="020B0604020202020204" pitchFamily="34" charset="0"/>
            </a:endParaRP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boot virus which infects the boot sector of disk storage</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program virus which infects the executable programs</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multipartite virus which is a combination of the boot and program virus</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stealth virus which is able avoid detection by a variety of means such as removing itself from the system registry, or masquerading as a system file</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parasitic virus which embeds itself into another file or program such that the original file is still viable</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polymorphic virus which changes its code structure to avoid detection and removal</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the macro virus which exploits the macro language of a program like Microsoft Word or Excel.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17F1111-BF11-E28F-FCC3-A46EDF0F28E6}"/>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Protect Yourselves</a:t>
            </a:r>
          </a:p>
        </p:txBody>
      </p:sp>
      <p:sp>
        <p:nvSpPr>
          <p:cNvPr id="40963" name="Rectangle 3">
            <a:extLst>
              <a:ext uri="{FF2B5EF4-FFF2-40B4-BE49-F238E27FC236}">
                <a16:creationId xmlns:a16="http://schemas.microsoft.com/office/drawing/2014/main" id="{7BE9AF4B-ED59-5F80-5B67-94B7E15FAA5B}"/>
              </a:ext>
            </a:extLst>
          </p:cNvPr>
          <p:cNvSpPr>
            <a:spLocks noGrp="1" noChangeArrowheads="1"/>
          </p:cNvSpPr>
          <p:nvPr>
            <p:ph idx="1"/>
          </p:nvPr>
        </p:nvSpPr>
        <p:spPr>
          <a:xfrm>
            <a:off x="2209801" y="1600200"/>
            <a:ext cx="4246563" cy="4114800"/>
          </a:xfrm>
        </p:spPr>
        <p:txBody>
          <a:bodyPr rtlCol="0">
            <a:normAutofit fontScale="92500" lnSpcReduction="10000"/>
          </a:bodyPr>
          <a:lstStyle/>
          <a:p>
            <a:pPr>
              <a:lnSpc>
                <a:spcPct val="80000"/>
              </a:lnSpc>
              <a:buFont typeface="Tahoma" charset="0"/>
              <a:buChar char="•"/>
              <a:defRPr/>
            </a:pPr>
            <a:r>
              <a:rPr lang="en-US" sz="2000">
                <a:solidFill>
                  <a:schemeClr val="tx2"/>
                </a:solidFill>
                <a:latin typeface="Arial" charset="0"/>
              </a:rPr>
              <a:t>run a more secure operating system like UNIX, another computer operating system in which you never hear about viruses on these operating systems because the of the security features</a:t>
            </a:r>
          </a:p>
          <a:p>
            <a:pPr>
              <a:lnSpc>
                <a:spcPct val="80000"/>
              </a:lnSpc>
              <a:buFont typeface="Tahoma" charset="0"/>
              <a:buChar char="•"/>
              <a:defRPr/>
            </a:pPr>
            <a:r>
              <a:rPr lang="en-US" sz="2000">
                <a:solidFill>
                  <a:schemeClr val="tx2"/>
                </a:solidFill>
                <a:latin typeface="Arial" charset="0"/>
              </a:rPr>
              <a:t>if you are using an unsecured operating system, you can buy virus protection software like McAfee or Norton AntiVirus</a:t>
            </a:r>
          </a:p>
          <a:p>
            <a:pPr>
              <a:lnSpc>
                <a:spcPct val="80000"/>
              </a:lnSpc>
              <a:buFont typeface="Tahoma" charset="0"/>
              <a:buChar char="•"/>
              <a:defRPr/>
            </a:pPr>
            <a:r>
              <a:rPr lang="en-US" sz="2000">
                <a:solidFill>
                  <a:schemeClr val="tx2"/>
                </a:solidFill>
                <a:latin typeface="Arial" charset="0"/>
              </a:rPr>
              <a:t>to help avoid viruses, it’s very important that your computer is current with the latest update and antivirus tools, try to stay informed with recent threats about viruses and that you be careful when surfing the Internet, downloading files and opening attachments</a:t>
            </a:r>
          </a:p>
        </p:txBody>
      </p:sp>
      <p:pic>
        <p:nvPicPr>
          <p:cNvPr id="11268" name="Picture 4" descr="MCHM00326_0000[1]">
            <a:extLst>
              <a:ext uri="{FF2B5EF4-FFF2-40B4-BE49-F238E27FC236}">
                <a16:creationId xmlns:a16="http://schemas.microsoft.com/office/drawing/2014/main" id="{93CC944B-997C-BC8B-F8DA-9AFDF84F4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1" y="2057400"/>
            <a:ext cx="3508375" cy="346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E2D5B8C-120D-1364-2E6B-6EDFFCEE87D2}"/>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Worms 101</a:t>
            </a:r>
          </a:p>
        </p:txBody>
      </p:sp>
      <p:sp>
        <p:nvSpPr>
          <p:cNvPr id="71683" name="Rectangle 3">
            <a:extLst>
              <a:ext uri="{FF2B5EF4-FFF2-40B4-BE49-F238E27FC236}">
                <a16:creationId xmlns:a16="http://schemas.microsoft.com/office/drawing/2014/main" id="{A8443E4B-3BFC-0D4C-763D-53EADB86D6BD}"/>
              </a:ext>
            </a:extLst>
          </p:cNvPr>
          <p:cNvSpPr>
            <a:spLocks noGrp="1" noChangeArrowheads="1"/>
          </p:cNvSpPr>
          <p:nvPr>
            <p:ph idx="1"/>
          </p:nvPr>
        </p:nvSpPr>
        <p:spPr>
          <a:xfrm>
            <a:off x="2209800" y="1600200"/>
            <a:ext cx="7772400" cy="4114800"/>
          </a:xfrm>
        </p:spPr>
        <p:txBody>
          <a:bodyPr rtlCol="0">
            <a:normAutofit fontScale="92500" lnSpcReduction="20000"/>
          </a:bodyPr>
          <a:lstStyle/>
          <a:p>
            <a:pPr>
              <a:lnSpc>
                <a:spcPct val="80000"/>
              </a:lnSpc>
              <a:buFont typeface="Tahoma" charset="0"/>
              <a:buChar char="•"/>
              <a:defRPr/>
            </a:pPr>
            <a:r>
              <a:rPr lang="en-US" sz="2400">
                <a:latin typeface="Arial" charset="0"/>
              </a:rPr>
              <a:t>worms have been around since 1988.</a:t>
            </a:r>
          </a:p>
          <a:p>
            <a:pPr>
              <a:lnSpc>
                <a:spcPct val="80000"/>
              </a:lnSpc>
              <a:buFont typeface="Tahoma" charset="0"/>
              <a:buChar char="•"/>
              <a:defRPr/>
            </a:pPr>
            <a:r>
              <a:rPr lang="en-US" sz="2400">
                <a:latin typeface="Arial" charset="0"/>
              </a:rPr>
              <a:t>a computer worm is very similar to that of a normal computer virus.</a:t>
            </a:r>
          </a:p>
          <a:p>
            <a:pPr>
              <a:lnSpc>
                <a:spcPct val="80000"/>
              </a:lnSpc>
              <a:buFont typeface="Tahoma" charset="0"/>
              <a:buChar char="•"/>
              <a:defRPr/>
            </a:pPr>
            <a:r>
              <a:rPr lang="en-US" sz="2400">
                <a:latin typeface="Arial" charset="0"/>
              </a:rPr>
              <a:t>unlike a virus though, the worm is a program that can copy itself across a network and it can run on itself.</a:t>
            </a:r>
          </a:p>
          <a:p>
            <a:pPr>
              <a:lnSpc>
                <a:spcPct val="80000"/>
              </a:lnSpc>
              <a:buFont typeface="Tahoma" charset="0"/>
              <a:buChar char="•"/>
              <a:defRPr/>
            </a:pPr>
            <a:r>
              <a:rPr lang="en-US" sz="2400">
                <a:latin typeface="Arial" charset="0"/>
              </a:rPr>
              <a:t>a worm also has a unique feature in the sense it doesn’t have to have a host program in order to run.</a:t>
            </a:r>
          </a:p>
          <a:p>
            <a:pPr>
              <a:lnSpc>
                <a:spcPct val="80000"/>
              </a:lnSpc>
              <a:buFont typeface="Tahoma" charset="0"/>
              <a:buChar char="•"/>
              <a:defRPr/>
            </a:pPr>
            <a:r>
              <a:rPr lang="en-US" sz="2400">
                <a:latin typeface="Arial" charset="0"/>
              </a:rPr>
              <a:t>a worm works by copying itself into nodes or network terminals which does not require any intervention from the user itself</a:t>
            </a:r>
          </a:p>
          <a:p>
            <a:pPr>
              <a:lnSpc>
                <a:spcPct val="80000"/>
              </a:lnSpc>
              <a:buFont typeface="Tahoma" charset="0"/>
              <a:buChar char="•"/>
              <a:defRPr/>
            </a:pPr>
            <a:r>
              <a:rPr lang="en-US" sz="2400">
                <a:latin typeface="Arial" charset="0"/>
              </a:rPr>
              <a:t>worms began to take off in the late ‘90s and early 2000’s.</a:t>
            </a:r>
          </a:p>
          <a:p>
            <a:pPr>
              <a:lnSpc>
                <a:spcPct val="80000"/>
              </a:lnSpc>
              <a:buFont typeface="Tahoma" charset="0"/>
              <a:buChar char="•"/>
              <a:defRPr/>
            </a:pPr>
            <a:r>
              <a:rPr lang="en-US" sz="2400">
                <a:latin typeface="Arial" charset="0"/>
              </a:rPr>
              <a:t>these modern worms ran themselves through the internet and many file sharing programs such as KaZaa, a music file-sharing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6733CF3-EE0B-6784-F06D-894DCC081476}"/>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Types of Worms</a:t>
            </a:r>
          </a:p>
        </p:txBody>
      </p:sp>
      <p:sp>
        <p:nvSpPr>
          <p:cNvPr id="14339" name="Rectangle 3">
            <a:extLst>
              <a:ext uri="{FF2B5EF4-FFF2-40B4-BE49-F238E27FC236}">
                <a16:creationId xmlns:a16="http://schemas.microsoft.com/office/drawing/2014/main" id="{66D327A9-2365-6CE9-4DAE-A7293D9E6D49}"/>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400">
                <a:latin typeface="Arial" panose="020B0604020202020204" pitchFamily="34" charset="0"/>
              </a:rPr>
              <a:t>the “email worm”</a:t>
            </a:r>
          </a:p>
          <a:p>
            <a:pPr lvl="1" eaLnBrk="1" hangingPunct="1">
              <a:buFont typeface="Tahoma" panose="020B0604030504040204" pitchFamily="34" charset="0"/>
              <a:buChar char="•"/>
            </a:pPr>
            <a:r>
              <a:rPr lang="en-US" altLang="en-US" sz="2000">
                <a:latin typeface="Arial" panose="020B0604020202020204" pitchFamily="34" charset="0"/>
              </a:rPr>
              <a:t>the email worm spreads itself through email</a:t>
            </a:r>
          </a:p>
          <a:p>
            <a:pPr lvl="1" eaLnBrk="1" hangingPunct="1">
              <a:buFont typeface="Tahoma" panose="020B0604030504040204" pitchFamily="34" charset="0"/>
              <a:buChar char="•"/>
            </a:pPr>
            <a:r>
              <a:rPr lang="en-US" altLang="en-US" sz="2000">
                <a:latin typeface="Arial" panose="020B0604020202020204" pitchFamily="34" charset="0"/>
              </a:rPr>
              <a:t>the worm can hide itself in messages as a link or an attachment that will redirect the user to an infected website.</a:t>
            </a:r>
          </a:p>
          <a:p>
            <a:pPr lvl="1" eaLnBrk="1" hangingPunct="1">
              <a:buFont typeface="Tahoma" panose="020B0604030504040204" pitchFamily="34" charset="0"/>
              <a:buChar char="•"/>
            </a:pPr>
            <a:r>
              <a:rPr lang="en-US" altLang="en-US" sz="2000">
                <a:latin typeface="Arial" panose="020B0604020202020204" pitchFamily="34" charset="0"/>
              </a:rPr>
              <a:t>many users become victims to this particular worm due to their vulnerability and willingness to read and open messages that they think could be interesting.</a:t>
            </a:r>
          </a:p>
          <a:p>
            <a:pPr eaLnBrk="1" hangingPunct="1">
              <a:buFont typeface="Tahoma" panose="020B0604030504040204" pitchFamily="34" charset="0"/>
              <a:buChar char="•"/>
            </a:pPr>
            <a:r>
              <a:rPr lang="en-US" altLang="en-US" sz="2400">
                <a:latin typeface="Arial" panose="020B0604020202020204" pitchFamily="34" charset="0"/>
              </a:rPr>
              <a:t>the Instant Messaging worm</a:t>
            </a:r>
          </a:p>
          <a:p>
            <a:pPr lvl="1" eaLnBrk="1" hangingPunct="1">
              <a:buFont typeface="Tahoma" panose="020B0604030504040204" pitchFamily="34" charset="0"/>
              <a:buChar char="•"/>
            </a:pPr>
            <a:r>
              <a:rPr lang="en-US" altLang="en-US" sz="2000">
                <a:latin typeface="Arial" panose="020B0604020202020204" pitchFamily="34" charset="0"/>
              </a:rPr>
              <a:t>this worm masks itself in the form of an “IM” with the contents of a link that will redirect the user to an infected website and then try to gain full access of the machine.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5B51A0E-C017-4596-AB20-66E0E682F830}"/>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Protect Yourselves</a:t>
            </a:r>
          </a:p>
        </p:txBody>
      </p:sp>
      <p:sp>
        <p:nvSpPr>
          <p:cNvPr id="15363" name="Rectangle 3">
            <a:extLst>
              <a:ext uri="{FF2B5EF4-FFF2-40B4-BE49-F238E27FC236}">
                <a16:creationId xmlns:a16="http://schemas.microsoft.com/office/drawing/2014/main" id="{0F06A84D-DA6B-3849-6E26-395DDB820EEC}"/>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400">
                <a:latin typeface="Arial" panose="020B0604020202020204" pitchFamily="34" charset="0"/>
              </a:rPr>
              <a:t>even though it seems impossible to not catch a worm, it’s not.</a:t>
            </a:r>
          </a:p>
          <a:p>
            <a:pPr eaLnBrk="1" hangingPunct="1">
              <a:buFont typeface="Tahoma" panose="020B0604030504040204" pitchFamily="34" charset="0"/>
              <a:buChar char="•"/>
            </a:pPr>
            <a:r>
              <a:rPr lang="en-US" altLang="en-US" sz="2400">
                <a:latin typeface="Arial" panose="020B0604020202020204" pitchFamily="34" charset="0"/>
              </a:rPr>
              <a:t>one of the best things a computer owner can do is install and run anti-virus software, especially the kind that updates automatically.</a:t>
            </a:r>
          </a:p>
          <a:p>
            <a:pPr lvl="1" eaLnBrk="1" hangingPunct="1">
              <a:buFont typeface="Tahoma" panose="020B0604030504040204" pitchFamily="34" charset="0"/>
              <a:buChar char="•"/>
            </a:pPr>
            <a:r>
              <a:rPr lang="en-US" altLang="en-US" sz="2000">
                <a:latin typeface="Arial" panose="020B0604020202020204" pitchFamily="34" charset="0"/>
              </a:rPr>
              <a:t>anti-virus software will notify the user when a virus or worm is found and prevent it from running and/or copying itself. </a:t>
            </a:r>
          </a:p>
          <a:p>
            <a:pPr eaLnBrk="1" hangingPunct="1">
              <a:buFont typeface="Tahoma" panose="020B0604030504040204" pitchFamily="34" charset="0"/>
              <a:buChar char="•"/>
            </a:pPr>
            <a:r>
              <a:rPr lang="en-US" altLang="en-US" sz="2400">
                <a:latin typeface="Arial" panose="020B0604020202020204" pitchFamily="34" charset="0"/>
              </a:rPr>
              <a:t>other precautions:</a:t>
            </a:r>
          </a:p>
          <a:p>
            <a:pPr lvl="1" eaLnBrk="1" hangingPunct="1">
              <a:buFont typeface="Tahoma" panose="020B0604030504040204" pitchFamily="34" charset="0"/>
              <a:buChar char="•"/>
            </a:pPr>
            <a:r>
              <a:rPr lang="en-US" altLang="en-US" sz="2000">
                <a:latin typeface="Arial" panose="020B0604020202020204" pitchFamily="34" charset="0"/>
              </a:rPr>
              <a:t>choosing secure passwords and changing them regularly</a:t>
            </a:r>
          </a:p>
          <a:p>
            <a:pPr lvl="1" eaLnBrk="1" hangingPunct="1">
              <a:buFont typeface="Tahoma" panose="020B0604030504040204" pitchFamily="34" charset="0"/>
              <a:buChar char="•"/>
            </a:pPr>
            <a:r>
              <a:rPr lang="en-US" altLang="en-US" sz="2000">
                <a:latin typeface="Arial" panose="020B0604020202020204" pitchFamily="34" charset="0"/>
              </a:rPr>
              <a:t>not opening unfamiliar emails or attachments and most importantly not running or copying software from an unsecured website.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2E1983B-0FD0-1E9C-4B82-F230FB9D780A}"/>
              </a:ext>
            </a:extLst>
          </p:cNvPr>
          <p:cNvSpPr>
            <a:spLocks noGrp="1" noChangeArrowheads="1"/>
          </p:cNvSpPr>
          <p:nvPr>
            <p:ph type="title"/>
          </p:nvPr>
        </p:nvSpPr>
        <p:spPr>
          <a:xfrm>
            <a:off x="685800" y="609600"/>
            <a:ext cx="7772400" cy="1143000"/>
          </a:xfrm>
        </p:spPr>
        <p:txBody>
          <a:bodyPr/>
          <a:lstStyle/>
          <a:p>
            <a:pPr eaLnBrk="1" hangingPunct="1"/>
            <a:r>
              <a:rPr lang="en-US" altLang="en-US">
                <a:solidFill>
                  <a:schemeClr val="hlink"/>
                </a:solidFill>
                <a:latin typeface="Arial" panose="020B0604020202020204" pitchFamily="34" charset="0"/>
              </a:rPr>
              <a:t>Viruses</a:t>
            </a:r>
            <a:r>
              <a:rPr lang="en-US" altLang="en-US">
                <a:latin typeface="Arial" panose="020B0604020202020204" pitchFamily="34" charset="0"/>
              </a:rPr>
              <a:t> </a:t>
            </a:r>
            <a:r>
              <a:rPr lang="en-US" altLang="en-US">
                <a:solidFill>
                  <a:schemeClr val="hlink"/>
                </a:solidFill>
                <a:latin typeface="Arial" panose="020B0604020202020204" pitchFamily="34" charset="0"/>
              </a:rPr>
              <a:t>vs.</a:t>
            </a:r>
            <a:r>
              <a:rPr lang="en-US" altLang="en-US">
                <a:latin typeface="Arial" panose="020B0604020202020204" pitchFamily="34" charset="0"/>
              </a:rPr>
              <a:t> </a:t>
            </a:r>
            <a:r>
              <a:rPr lang="en-US" altLang="en-US">
                <a:solidFill>
                  <a:schemeClr val="hlink"/>
                </a:solidFill>
                <a:latin typeface="Arial" panose="020B0604020202020204" pitchFamily="34" charset="0"/>
              </a:rPr>
              <a:t>Worms</a:t>
            </a:r>
          </a:p>
        </p:txBody>
      </p:sp>
      <p:sp>
        <p:nvSpPr>
          <p:cNvPr id="16387" name="Rectangle 3">
            <a:extLst>
              <a:ext uri="{FF2B5EF4-FFF2-40B4-BE49-F238E27FC236}">
                <a16:creationId xmlns:a16="http://schemas.microsoft.com/office/drawing/2014/main" id="{A7FA621B-E1DC-F554-FC55-916E8BF46654}"/>
              </a:ext>
            </a:extLst>
          </p:cNvPr>
          <p:cNvSpPr>
            <a:spLocks noGrp="1" noChangeArrowheads="1"/>
          </p:cNvSpPr>
          <p:nvPr>
            <p:ph sz="half" idx="1"/>
          </p:nvPr>
        </p:nvSpPr>
        <p:spPr>
          <a:xfrm>
            <a:off x="2209801" y="1905000"/>
            <a:ext cx="3814763" cy="4114800"/>
          </a:xfrm>
        </p:spPr>
        <p:txBody>
          <a:bodyPr>
            <a:normAutofit lnSpcReduction="10000"/>
          </a:bodyPr>
          <a:lstStyle/>
          <a:p>
            <a:pPr eaLnBrk="1" hangingPunct="1">
              <a:buFont typeface="Tahoma" panose="020B0604030504040204" pitchFamily="34" charset="0"/>
              <a:buChar char="•"/>
            </a:pPr>
            <a:r>
              <a:rPr lang="en-US" altLang="en-US" sz="2400">
                <a:solidFill>
                  <a:schemeClr val="tx2"/>
                </a:solidFill>
                <a:latin typeface="Arial" panose="020B0604020202020204" pitchFamily="34" charset="0"/>
              </a:rPr>
              <a:t>spreads from program to program, or from disk to disk</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uses each infected program or disk to make copies of itself</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computer sabotage</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destroys data or erases disks</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operating system specific</a:t>
            </a:r>
          </a:p>
          <a:p>
            <a:pPr eaLnBrk="1" hangingPunct="1">
              <a:buFont typeface="Tahoma" panose="020B0604030504040204" pitchFamily="34" charset="0"/>
              <a:buChar char="•"/>
            </a:pPr>
            <a:endParaRPr lang="en-US" altLang="en-US" sz="2400">
              <a:solidFill>
                <a:schemeClr val="tx2"/>
              </a:solidFill>
              <a:latin typeface="Arial" panose="020B0604020202020204" pitchFamily="34" charset="0"/>
            </a:endParaRPr>
          </a:p>
          <a:p>
            <a:pPr eaLnBrk="1" hangingPunct="1">
              <a:buFont typeface="Tahoma" panose="020B0604030504040204" pitchFamily="34" charset="0"/>
              <a:buChar char="•"/>
            </a:pPr>
            <a:endParaRPr lang="en-US" altLang="en-US" sz="2400">
              <a:solidFill>
                <a:schemeClr val="tx2"/>
              </a:solidFill>
            </a:endParaRPr>
          </a:p>
        </p:txBody>
      </p:sp>
      <p:sp>
        <p:nvSpPr>
          <p:cNvPr id="16388" name="Rectangle 4">
            <a:extLst>
              <a:ext uri="{FF2B5EF4-FFF2-40B4-BE49-F238E27FC236}">
                <a16:creationId xmlns:a16="http://schemas.microsoft.com/office/drawing/2014/main" id="{7CB4677E-A7B8-BF48-A28F-0D4B4576122E}"/>
              </a:ext>
            </a:extLst>
          </p:cNvPr>
          <p:cNvSpPr>
            <a:spLocks noGrp="1" noChangeArrowheads="1"/>
          </p:cNvSpPr>
          <p:nvPr>
            <p:ph sz="half" idx="2"/>
          </p:nvPr>
        </p:nvSpPr>
        <p:spPr>
          <a:xfrm>
            <a:off x="6167438" y="1905000"/>
            <a:ext cx="3814762" cy="4114800"/>
          </a:xfrm>
        </p:spPr>
        <p:txBody>
          <a:bodyPr>
            <a:normAutofit lnSpcReduction="10000"/>
          </a:bodyPr>
          <a:lstStyle/>
          <a:p>
            <a:pPr eaLnBrk="1" hangingPunct="1">
              <a:buFont typeface="Tahoma" panose="020B0604030504040204" pitchFamily="34" charset="0"/>
              <a:buChar char="•"/>
            </a:pPr>
            <a:r>
              <a:rPr lang="en-US" altLang="en-US" sz="2400">
                <a:solidFill>
                  <a:schemeClr val="tx2"/>
                </a:solidFill>
                <a:latin typeface="Arial" panose="020B0604020202020204" pitchFamily="34" charset="0"/>
              </a:rPr>
              <a:t>uses computer hosts to reproduce themselves</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travel independently over computer networks</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software sabotage</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resides in memory rather on disk</a:t>
            </a:r>
          </a:p>
          <a:p>
            <a:pPr eaLnBrk="1" hangingPunct="1">
              <a:buFont typeface="Tahoma" panose="020B0604030504040204" pitchFamily="34" charset="0"/>
              <a:buChar char="•"/>
            </a:pPr>
            <a:r>
              <a:rPr lang="en-US" altLang="en-US" sz="2400">
                <a:solidFill>
                  <a:schemeClr val="tx2"/>
                </a:solidFill>
                <a:latin typeface="Arial" panose="020B0604020202020204" pitchFamily="34" charset="0"/>
              </a:rPr>
              <a:t>puts computers at a standstill</a:t>
            </a:r>
          </a:p>
        </p:txBody>
      </p:sp>
      <p:pic>
        <p:nvPicPr>
          <p:cNvPr id="16389" name="Picture 5" descr="MCj04059800000[1]">
            <a:extLst>
              <a:ext uri="{FF2B5EF4-FFF2-40B4-BE49-F238E27FC236}">
                <a16:creationId xmlns:a16="http://schemas.microsoft.com/office/drawing/2014/main" id="{5FF38664-3947-D357-E7D3-31F2EFB31F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0"/>
            <a:ext cx="159226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6" descr="MCj02409170000[1]">
            <a:extLst>
              <a:ext uri="{FF2B5EF4-FFF2-40B4-BE49-F238E27FC236}">
                <a16:creationId xmlns:a16="http://schemas.microsoft.com/office/drawing/2014/main" id="{F1AB3B81-8FC8-9D64-1042-098F58F10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228601"/>
            <a:ext cx="1811338"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32A5C08-3294-6CCF-0942-C4F8A2BC78D5}"/>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What is AntiVirus Software?</a:t>
            </a:r>
          </a:p>
        </p:txBody>
      </p:sp>
      <p:sp>
        <p:nvSpPr>
          <p:cNvPr id="17411" name="Rectangle 3">
            <a:extLst>
              <a:ext uri="{FF2B5EF4-FFF2-40B4-BE49-F238E27FC236}">
                <a16:creationId xmlns:a16="http://schemas.microsoft.com/office/drawing/2014/main" id="{C7B0CD9E-9C1D-461E-433E-6E78E4D02D5D}"/>
              </a:ext>
            </a:extLst>
          </p:cNvPr>
          <p:cNvSpPr>
            <a:spLocks noGrp="1" noChangeArrowheads="1"/>
          </p:cNvSpPr>
          <p:nvPr>
            <p:ph idx="1"/>
          </p:nvPr>
        </p:nvSpPr>
        <p:spPr/>
        <p:txBody>
          <a:bodyPr/>
          <a:lstStyle/>
          <a:p>
            <a:pPr algn="ctr" eaLnBrk="1" hangingPunct="1">
              <a:buFont typeface="Tahoma" panose="020B0604030504040204" pitchFamily="34" charset="0"/>
              <a:buNone/>
            </a:pPr>
            <a:endParaRPr lang="en-US" altLang="en-US">
              <a:solidFill>
                <a:schemeClr val="accent2"/>
              </a:solidFill>
              <a:latin typeface="Arial" panose="020B0604020202020204" pitchFamily="34" charset="0"/>
            </a:endParaRPr>
          </a:p>
          <a:p>
            <a:pPr algn="ctr" eaLnBrk="1" hangingPunct="1">
              <a:buFont typeface="Tahoma" panose="020B0604030504040204" pitchFamily="34" charset="0"/>
              <a:buNone/>
            </a:pPr>
            <a:r>
              <a:rPr lang="en-US" altLang="en-US">
                <a:solidFill>
                  <a:schemeClr val="tx2"/>
                </a:solidFill>
                <a:latin typeface="Arial" panose="020B0604020202020204" pitchFamily="34" charset="0"/>
              </a:rPr>
              <a:t>computer programs intended to identify and eliminate computer viruses.</a:t>
            </a:r>
          </a:p>
          <a:p>
            <a:pPr eaLnBrk="1" hangingPunct="1">
              <a:buFont typeface="Tahoma" panose="020B0604030504040204" pitchFamily="34" charset="0"/>
              <a:buNone/>
            </a:pPr>
            <a:endParaRPr lang="en-US" altLang="en-US">
              <a:solidFill>
                <a:schemeClr val="accent2"/>
              </a:solidFill>
              <a:latin typeface="Arial" panose="020B0604020202020204" pitchFamily="34" charset="0"/>
            </a:endParaRPr>
          </a:p>
        </p:txBody>
      </p:sp>
      <p:pic>
        <p:nvPicPr>
          <p:cNvPr id="17412" name="Picture 4">
            <a:extLst>
              <a:ext uri="{FF2B5EF4-FFF2-40B4-BE49-F238E27FC236}">
                <a16:creationId xmlns:a16="http://schemas.microsoft.com/office/drawing/2014/main" id="{82BD2C43-96F7-E2DD-81B3-F796A4A98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276" y="4210050"/>
            <a:ext cx="2016125"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D660799-D9B6-7938-AA74-6FFFE3079C0F}"/>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Best Defense</a:t>
            </a:r>
          </a:p>
        </p:txBody>
      </p:sp>
      <p:sp>
        <p:nvSpPr>
          <p:cNvPr id="18435" name="Rectangle 3">
            <a:extLst>
              <a:ext uri="{FF2B5EF4-FFF2-40B4-BE49-F238E27FC236}">
                <a16:creationId xmlns:a16="http://schemas.microsoft.com/office/drawing/2014/main" id="{DA2B6514-4807-07A7-44CB-B73F6648DF16}"/>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000">
                <a:solidFill>
                  <a:schemeClr val="tx2"/>
                </a:solidFill>
                <a:latin typeface="Arial" panose="020B0604020202020204" pitchFamily="34" charset="0"/>
              </a:rPr>
              <a:t>this years best defense against computer viruses, spyware, hackers and spam is an antivirus program called BitDefender.</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has a user-friendly interface that scans all existing files on your computer, all incoming and outgoing emails, and even IM transfers.</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features include privacy protection and web scanning for internet use.  a years subscription is about $24.99.</a:t>
            </a:r>
          </a:p>
          <a:p>
            <a:pPr eaLnBrk="1" hangingPunct="1">
              <a:buFont typeface="Tahoma" panose="020B0604030504040204" pitchFamily="34" charset="0"/>
              <a:buNone/>
            </a:pPr>
            <a:endParaRPr lang="en-US" altLang="en-US" sz="2000">
              <a:solidFill>
                <a:schemeClr val="tx2"/>
              </a:solidFill>
              <a:latin typeface="Arial" panose="020B0604020202020204" pitchFamily="34" charset="0"/>
            </a:endParaRPr>
          </a:p>
        </p:txBody>
      </p:sp>
      <p:pic>
        <p:nvPicPr>
          <p:cNvPr id="18436" name="Picture 4">
            <a:extLst>
              <a:ext uri="{FF2B5EF4-FFF2-40B4-BE49-F238E27FC236}">
                <a16:creationId xmlns:a16="http://schemas.microsoft.com/office/drawing/2014/main" id="{387965D4-8DCE-09C8-C8FA-29FB3FE75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1" y="4495800"/>
            <a:ext cx="142557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a:extLst>
              <a:ext uri="{FF2B5EF4-FFF2-40B4-BE49-F238E27FC236}">
                <a16:creationId xmlns:a16="http://schemas.microsoft.com/office/drawing/2014/main" id="{C2D4B933-23D9-EF53-91EF-0DD8D667EB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314826"/>
            <a:ext cx="33909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C62DA58-8C3F-42D1-D680-BD5D82B8C5F6}"/>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NAV</a:t>
            </a:r>
          </a:p>
        </p:txBody>
      </p:sp>
      <p:sp>
        <p:nvSpPr>
          <p:cNvPr id="19459" name="Rectangle 3">
            <a:extLst>
              <a:ext uri="{FF2B5EF4-FFF2-40B4-BE49-F238E27FC236}">
                <a16:creationId xmlns:a16="http://schemas.microsoft.com/office/drawing/2014/main" id="{25DF19E1-CABB-1378-378B-E0B2ED5ABA69}"/>
              </a:ext>
            </a:extLst>
          </p:cNvPr>
          <p:cNvSpPr>
            <a:spLocks noGrp="1" noChangeArrowheads="1"/>
          </p:cNvSpPr>
          <p:nvPr>
            <p:ph idx="1"/>
          </p:nvPr>
        </p:nvSpPr>
        <p:spPr/>
        <p:txBody>
          <a:bodyPr/>
          <a:lstStyle/>
          <a:p>
            <a:pPr eaLnBrk="1" hangingPunct="1">
              <a:buFont typeface="Tahoma" panose="020B0604030504040204" pitchFamily="34" charset="0"/>
              <a:buChar char="•"/>
            </a:pPr>
            <a:endParaRPr lang="en-US" altLang="en-US" sz="2000">
              <a:solidFill>
                <a:schemeClr val="accent2"/>
              </a:solidFill>
            </a:endParaRPr>
          </a:p>
          <a:p>
            <a:pPr eaLnBrk="1" hangingPunct="1">
              <a:buFont typeface="Tahoma" panose="020B0604030504040204" pitchFamily="34" charset="0"/>
              <a:buChar char="•"/>
            </a:pPr>
            <a:endParaRPr lang="en-US" altLang="en-US" sz="2000">
              <a:solidFill>
                <a:schemeClr val="accent2"/>
              </a:solidFill>
              <a:latin typeface="Arial" panose="020B0604020202020204" pitchFamily="34" charset="0"/>
            </a:endParaRP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the most widely used software is the Norton AntiVirus. (NAV)</a:t>
            </a:r>
            <a:r>
              <a:rPr lang="en-US" altLang="en-US">
                <a:solidFill>
                  <a:schemeClr val="tx2"/>
                </a:solidFill>
                <a:latin typeface="Arial" panose="020B0604020202020204" pitchFamily="34" charset="0"/>
              </a:rPr>
              <a:t> </a:t>
            </a:r>
            <a:endParaRPr lang="en-US" altLang="en-US" sz="2000">
              <a:solidFill>
                <a:schemeClr val="tx2"/>
              </a:solidFill>
              <a:latin typeface="Arial" panose="020B0604020202020204" pitchFamily="34" charset="0"/>
            </a:endParaRP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since its release in 1990, over 100 million people around the world have used it.</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it’s a free program but in order to receive live updates, a valid subscription is needed.</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a yearly subscription is only $29.99.</a:t>
            </a:r>
          </a:p>
          <a:p>
            <a:pPr eaLnBrk="1" hangingPunct="1">
              <a:buFont typeface="Tahoma" panose="020B0604030504040204" pitchFamily="34" charset="0"/>
              <a:buNone/>
            </a:pPr>
            <a:endParaRPr lang="en-US" altLang="en-US">
              <a:solidFill>
                <a:schemeClr val="tx2"/>
              </a:solidFill>
              <a:latin typeface="Arial" panose="020B0604020202020204" pitchFamily="34" charset="0"/>
            </a:endParaRPr>
          </a:p>
          <a:p>
            <a:pPr eaLnBrk="1" hangingPunct="1">
              <a:buFont typeface="Tahoma" panose="020B0604030504040204" pitchFamily="34" charset="0"/>
              <a:buChar char="•"/>
            </a:pPr>
            <a:endParaRPr lang="en-US" altLang="en-US"/>
          </a:p>
        </p:txBody>
      </p:sp>
      <p:pic>
        <p:nvPicPr>
          <p:cNvPr id="19460" name="Picture 4">
            <a:extLst>
              <a:ext uri="{FF2B5EF4-FFF2-40B4-BE49-F238E27FC236}">
                <a16:creationId xmlns:a16="http://schemas.microsoft.com/office/drawing/2014/main" id="{A9C12FEB-6466-3CF2-BDBC-634F230155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381001"/>
            <a:ext cx="283845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BFC45BB-A524-89A1-6526-1311D96CA5AB}"/>
              </a:ext>
            </a:extLst>
          </p:cNvPr>
          <p:cNvSpPr>
            <a:spLocks noGrp="1" noChangeArrowheads="1"/>
          </p:cNvSpPr>
          <p:nvPr>
            <p:ph type="title"/>
          </p:nvPr>
        </p:nvSpPr>
        <p:spPr>
          <a:xfrm>
            <a:off x="2209800" y="609600"/>
            <a:ext cx="8077200" cy="1143000"/>
          </a:xfrm>
        </p:spPr>
        <p:txBody>
          <a:bodyPr/>
          <a:lstStyle/>
          <a:p>
            <a:pPr eaLnBrk="1" hangingPunct="1"/>
            <a:r>
              <a:rPr lang="en-US" altLang="en-US">
                <a:solidFill>
                  <a:schemeClr val="hlink"/>
                </a:solidFill>
                <a:latin typeface="Arial" panose="020B0604020202020204" pitchFamily="34" charset="0"/>
              </a:rPr>
              <a:t>McAfee</a:t>
            </a:r>
          </a:p>
        </p:txBody>
      </p:sp>
      <p:sp>
        <p:nvSpPr>
          <p:cNvPr id="20483" name="Rectangle 3">
            <a:extLst>
              <a:ext uri="{FF2B5EF4-FFF2-40B4-BE49-F238E27FC236}">
                <a16:creationId xmlns:a16="http://schemas.microsoft.com/office/drawing/2014/main" id="{804680A1-B56A-0117-8F4C-8DD42785B69D}"/>
              </a:ext>
            </a:extLst>
          </p:cNvPr>
          <p:cNvSpPr>
            <a:spLocks noGrp="1" noChangeArrowheads="1"/>
          </p:cNvSpPr>
          <p:nvPr>
            <p:ph idx="1"/>
          </p:nvPr>
        </p:nvSpPr>
        <p:spPr/>
        <p:txBody>
          <a:bodyPr/>
          <a:lstStyle/>
          <a:p>
            <a:pPr eaLnBrk="1" hangingPunct="1">
              <a:buFont typeface="Tahoma" panose="020B0604030504040204" pitchFamily="34" charset="0"/>
              <a:buChar char="•"/>
            </a:pPr>
            <a:endParaRPr lang="en-US" altLang="en-US" sz="2000">
              <a:solidFill>
                <a:schemeClr val="tx2"/>
              </a:solidFill>
            </a:endParaRP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McAfee VirusScan is another popular antivirus program.</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it’s designed for home and home-office use.</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it’s used specifically on a Microsoft Windows platform.</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the 2007 edition includes a number of features including on access file sharing, inbound and outbound firewall protection, and daily definition updates.</a:t>
            </a:r>
          </a:p>
          <a:p>
            <a:pPr eaLnBrk="1" hangingPunct="1">
              <a:buFont typeface="Tahoma" panose="020B0604030504040204" pitchFamily="34" charset="0"/>
              <a:buNone/>
            </a:pPr>
            <a:endParaRPr lang="en-US" altLang="en-US" sz="2000">
              <a:solidFill>
                <a:schemeClr val="tx2"/>
              </a:solidFill>
              <a:latin typeface="Arial" panose="020B0604020202020204" pitchFamily="34" charset="0"/>
            </a:endParaRPr>
          </a:p>
        </p:txBody>
      </p:sp>
      <p:pic>
        <p:nvPicPr>
          <p:cNvPr id="20484" name="Picture 4">
            <a:extLst>
              <a:ext uri="{FF2B5EF4-FFF2-40B4-BE49-F238E27FC236}">
                <a16:creationId xmlns:a16="http://schemas.microsoft.com/office/drawing/2014/main" id="{0DEBB9BA-E5F8-FAF3-682B-B2133DF92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304800"/>
            <a:ext cx="2286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5">
            <a:extLst>
              <a:ext uri="{FF2B5EF4-FFF2-40B4-BE49-F238E27FC236}">
                <a16:creationId xmlns:a16="http://schemas.microsoft.com/office/drawing/2014/main" id="{55ECC8D9-AF06-4457-FDBD-F387E63DF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151314"/>
            <a:ext cx="3657600"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CC8462-3641-DDFD-467D-B3B7317A2B4B}"/>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Sophos</a:t>
            </a:r>
          </a:p>
        </p:txBody>
      </p:sp>
      <p:sp>
        <p:nvSpPr>
          <p:cNvPr id="21507" name="Rectangle 3">
            <a:extLst>
              <a:ext uri="{FF2B5EF4-FFF2-40B4-BE49-F238E27FC236}">
                <a16:creationId xmlns:a16="http://schemas.microsoft.com/office/drawing/2014/main" id="{51271B7A-E2A2-D8A1-DC73-6643F2810CD6}"/>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000">
                <a:solidFill>
                  <a:schemeClr val="tx2"/>
                </a:solidFill>
                <a:latin typeface="Arial" panose="020B0604020202020204" pitchFamily="34" charset="0"/>
              </a:rPr>
              <a:t>Sophos AntiVirus is an antivirus and anti-spyware program that is primarily aimed at corporate environments or businesses.</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includes a number of security tools and advice.</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also includes 24/7 support including upgrade alerts.</a:t>
            </a:r>
          </a:p>
        </p:txBody>
      </p:sp>
      <p:pic>
        <p:nvPicPr>
          <p:cNvPr id="21508" name="Picture 4">
            <a:extLst>
              <a:ext uri="{FF2B5EF4-FFF2-40B4-BE49-F238E27FC236}">
                <a16:creationId xmlns:a16="http://schemas.microsoft.com/office/drawing/2014/main" id="{D7B71E06-DA40-056B-45EA-A3BBFA05B8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4114801"/>
            <a:ext cx="14525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a:extLst>
              <a:ext uri="{FF2B5EF4-FFF2-40B4-BE49-F238E27FC236}">
                <a16:creationId xmlns:a16="http://schemas.microsoft.com/office/drawing/2014/main" id="{4278FB1B-206F-375C-53DF-1F5126168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505200"/>
            <a:ext cx="50673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4951FDA-A2A2-30D8-3D6F-2FF6320E565C}"/>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Kasperski</a:t>
            </a:r>
          </a:p>
        </p:txBody>
      </p:sp>
      <p:sp>
        <p:nvSpPr>
          <p:cNvPr id="22531" name="Rectangle 3">
            <a:extLst>
              <a:ext uri="{FF2B5EF4-FFF2-40B4-BE49-F238E27FC236}">
                <a16:creationId xmlns:a16="http://schemas.microsoft.com/office/drawing/2014/main" id="{E0232C70-180F-7A4B-7426-ECAC752083F2}"/>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000">
                <a:solidFill>
                  <a:schemeClr val="tx2"/>
                </a:solidFill>
                <a:latin typeface="Arial" panose="020B0604020202020204" pitchFamily="34" charset="0"/>
              </a:rPr>
              <a:t>for the average home user and advanced users the Kasperski antivirus software has an easy to use interface.</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the program uses 3 tabs for protection, settings and support.</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it updates itself on an hourly basis and is one of the fastest antivirus programs available.</a:t>
            </a:r>
          </a:p>
          <a:p>
            <a:pPr eaLnBrk="1" hangingPunct="1">
              <a:buFont typeface="Tahoma" panose="020B0604030504040204" pitchFamily="34" charset="0"/>
              <a:buChar char="•"/>
            </a:pPr>
            <a:r>
              <a:rPr lang="en-US" altLang="en-US" sz="2000">
                <a:solidFill>
                  <a:schemeClr val="tx2"/>
                </a:solidFill>
                <a:latin typeface="Arial" panose="020B0604020202020204" pitchFamily="34" charset="0"/>
              </a:rPr>
              <a:t>however, quality comes at a price and year subscription is $49.99.</a:t>
            </a:r>
          </a:p>
          <a:p>
            <a:pPr eaLnBrk="1" hangingPunct="1">
              <a:buFont typeface="Tahoma" panose="020B0604030504040204" pitchFamily="34" charset="0"/>
              <a:buChar char="•"/>
            </a:pPr>
            <a:endParaRPr lang="en-US" altLang="en-US" sz="2000">
              <a:solidFill>
                <a:schemeClr val="tx2"/>
              </a:solidFill>
              <a:latin typeface="Arial" panose="020B0604020202020204" pitchFamily="34" charset="0"/>
            </a:endParaRPr>
          </a:p>
        </p:txBody>
      </p:sp>
      <p:pic>
        <p:nvPicPr>
          <p:cNvPr id="22532" name="Picture 4">
            <a:extLst>
              <a:ext uri="{FF2B5EF4-FFF2-40B4-BE49-F238E27FC236}">
                <a16:creationId xmlns:a16="http://schemas.microsoft.com/office/drawing/2014/main" id="{B5459FCE-5FB0-FF8F-1E4B-0C7CE59259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495801"/>
            <a:ext cx="14493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5">
            <a:extLst>
              <a:ext uri="{FF2B5EF4-FFF2-40B4-BE49-F238E27FC236}">
                <a16:creationId xmlns:a16="http://schemas.microsoft.com/office/drawing/2014/main" id="{4EC1B0DD-1F8C-6B48-D55C-4775211684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1" y="4129088"/>
            <a:ext cx="38576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735D498-9EA0-DDD0-6113-BC333A30C125}"/>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en-US" sz="3600">
                <a:solidFill>
                  <a:schemeClr val="hlink"/>
                </a:solidFill>
                <a:latin typeface="Arial" panose="020B0604020202020204" pitchFamily="34" charset="0"/>
              </a:rPr>
              <a:t>“Antivirus software is the equivalent to penicillin of the computer world.”</a:t>
            </a:r>
            <a:r>
              <a:rPr lang="en-US" altLang="en-US"/>
              <a:t> </a:t>
            </a:r>
          </a:p>
        </p:txBody>
      </p:sp>
      <p:sp>
        <p:nvSpPr>
          <p:cNvPr id="23555" name="Rectangle 3">
            <a:extLst>
              <a:ext uri="{FF2B5EF4-FFF2-40B4-BE49-F238E27FC236}">
                <a16:creationId xmlns:a16="http://schemas.microsoft.com/office/drawing/2014/main" id="{F20838BF-F04C-F8C1-6629-12CE3997869D}"/>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like penicillin, antivirus applications act as a guard over your system, scanning incoming files and applications, “quarantining” or cleaning up unwanted viruses looking to cause harm to your system</a:t>
            </a:r>
          </a:p>
          <a:p>
            <a:pPr eaLnBrk="1" hangingPunct="1">
              <a:buFont typeface="Tahoma" panose="020B0604030504040204" pitchFamily="34" charset="0"/>
              <a:buChar char="•"/>
            </a:pPr>
            <a:r>
              <a:rPr lang="en-US" altLang="en-US">
                <a:solidFill>
                  <a:schemeClr val="tx2"/>
                </a:solidFill>
                <a:latin typeface="Arial" panose="020B0604020202020204" pitchFamily="34" charset="0"/>
              </a:rPr>
              <a:t>antivirus software is considered to be an aid that detects, fixes and even prevents viruses and worms from spreading to your computer as well as connecting computers.</a:t>
            </a:r>
          </a:p>
        </p:txBody>
      </p:sp>
      <p:pic>
        <p:nvPicPr>
          <p:cNvPr id="23556" name="Picture 5" descr="MCj03197840000[1]">
            <a:extLst>
              <a:ext uri="{FF2B5EF4-FFF2-40B4-BE49-F238E27FC236}">
                <a16:creationId xmlns:a16="http://schemas.microsoft.com/office/drawing/2014/main" id="{459B769A-C12D-A150-55DF-69315576B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6664" y="5391150"/>
            <a:ext cx="1811337"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descr="MCj03197840000[1]">
            <a:extLst>
              <a:ext uri="{FF2B5EF4-FFF2-40B4-BE49-F238E27FC236}">
                <a16:creationId xmlns:a16="http://schemas.microsoft.com/office/drawing/2014/main" id="{2635E9CE-83F9-5249-C1E5-2C41689E7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5391150"/>
            <a:ext cx="1811338"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17CF97B-2F91-00B8-60FF-BFFD3DAFD732}"/>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Why is software an issue?</a:t>
            </a:r>
          </a:p>
        </p:txBody>
      </p:sp>
      <p:sp>
        <p:nvSpPr>
          <p:cNvPr id="24579" name="Rectangle 3">
            <a:extLst>
              <a:ext uri="{FF2B5EF4-FFF2-40B4-BE49-F238E27FC236}">
                <a16:creationId xmlns:a16="http://schemas.microsoft.com/office/drawing/2014/main" id="{5A25C95C-3F90-321F-A531-266E8CF9AE53}"/>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some antivirus software can considerably reduce performance</a:t>
            </a:r>
          </a:p>
          <a:p>
            <a:pPr eaLnBrk="1" hangingPunct="1">
              <a:buFont typeface="Tahoma" panose="020B0604030504040204" pitchFamily="34" charset="0"/>
              <a:buChar char="•"/>
            </a:pPr>
            <a:r>
              <a:rPr lang="en-US" altLang="en-US">
                <a:solidFill>
                  <a:schemeClr val="tx2"/>
                </a:solidFill>
                <a:latin typeface="Arial" panose="020B0604020202020204" pitchFamily="34" charset="0"/>
              </a:rPr>
              <a:t>there should not be more than one antivirus software installed on a single computer at any given time</a:t>
            </a:r>
          </a:p>
          <a:p>
            <a:pPr eaLnBrk="1" hangingPunct="1">
              <a:buFont typeface="Tahoma" panose="020B0604030504040204" pitchFamily="34" charset="0"/>
              <a:buChar char="•"/>
            </a:pPr>
            <a:r>
              <a:rPr lang="en-US" altLang="en-US">
                <a:solidFill>
                  <a:schemeClr val="tx2"/>
                </a:solidFill>
                <a:latin typeface="Arial" panose="020B0604020202020204" pitchFamily="34" charset="0"/>
              </a:rPr>
              <a:t>it’s sometimes necessary to temporarily disable virus protection when installing major updates</a:t>
            </a:r>
          </a:p>
          <a:p>
            <a:pPr eaLnBrk="1" hangingPunct="1">
              <a:buFont typeface="Tahoma" panose="020B0604030504040204" pitchFamily="34" charset="0"/>
              <a:buChar char="•"/>
            </a:pPr>
            <a:r>
              <a:rPr lang="en-US" altLang="en-US">
                <a:solidFill>
                  <a:schemeClr val="tx2"/>
                </a:solidFill>
                <a:latin typeface="Arial" panose="020B0604020202020204" pitchFamily="34" charset="0"/>
              </a:rPr>
              <a:t>some argue that antivirus software often delivers more “pain than value to end users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D9E362F-FD46-A0CD-ABEE-96E459CAE74E}"/>
              </a:ext>
            </a:extLst>
          </p:cNvPr>
          <p:cNvSpPr>
            <a:spLocks noGrp="1" noChangeArrowheads="1"/>
          </p:cNvSpPr>
          <p:nvPr>
            <p:ph type="title"/>
          </p:nvPr>
        </p:nvSpPr>
        <p:spPr>
          <a:xfrm>
            <a:off x="2286000" y="609600"/>
            <a:ext cx="7772400" cy="1143000"/>
          </a:xfrm>
        </p:spPr>
        <p:txBody>
          <a:bodyPr/>
          <a:lstStyle/>
          <a:p>
            <a:pPr eaLnBrk="1" hangingPunct="1"/>
            <a:r>
              <a:rPr lang="en-US" altLang="en-US">
                <a:solidFill>
                  <a:schemeClr val="hlink"/>
                </a:solidFill>
                <a:latin typeface="Arial" panose="020B0604020202020204" pitchFamily="34" charset="0"/>
              </a:rPr>
              <a:t>Two main types</a:t>
            </a:r>
            <a:r>
              <a:rPr lang="en-US" altLang="en-US"/>
              <a:t> </a:t>
            </a:r>
          </a:p>
        </p:txBody>
      </p:sp>
      <p:sp>
        <p:nvSpPr>
          <p:cNvPr id="25603" name="Rectangle 3">
            <a:extLst>
              <a:ext uri="{FF2B5EF4-FFF2-40B4-BE49-F238E27FC236}">
                <a16:creationId xmlns:a16="http://schemas.microsoft.com/office/drawing/2014/main" id="{8BC31735-33CF-86BE-892B-2DCABECEAA34}"/>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there are different types of antivirus software for different computers </a:t>
            </a:r>
          </a:p>
          <a:p>
            <a:pPr eaLnBrk="1" hangingPunct="1">
              <a:buFont typeface="Tahoma" panose="020B0604030504040204" pitchFamily="34" charset="0"/>
              <a:buChar char="•"/>
            </a:pPr>
            <a:r>
              <a:rPr lang="en-US" altLang="en-US">
                <a:solidFill>
                  <a:schemeClr val="tx2"/>
                </a:solidFill>
                <a:latin typeface="Arial" panose="020B0604020202020204" pitchFamily="34" charset="0"/>
              </a:rPr>
              <a:t>some are designed for personal computers </a:t>
            </a:r>
          </a:p>
          <a:p>
            <a:pPr eaLnBrk="1" hangingPunct="1">
              <a:buFont typeface="Tahoma" panose="020B0604030504040204" pitchFamily="34" charset="0"/>
              <a:buChar char="•"/>
            </a:pPr>
            <a:r>
              <a:rPr lang="en-US" altLang="en-US">
                <a:solidFill>
                  <a:schemeClr val="tx2"/>
                </a:solidFill>
                <a:latin typeface="Arial" panose="020B0604020202020204" pitchFamily="34" charset="0"/>
              </a:rPr>
              <a:t>some are for servers and others for enterprises </a:t>
            </a:r>
          </a:p>
          <a:p>
            <a:pPr eaLnBrk="1" hangingPunct="1">
              <a:buFont typeface="Tahoma" panose="020B0604030504040204" pitchFamily="34" charset="0"/>
              <a:buChar char="•"/>
            </a:pPr>
            <a:r>
              <a:rPr lang="en-US" altLang="en-US">
                <a:solidFill>
                  <a:schemeClr val="tx2"/>
                </a:solidFill>
                <a:latin typeface="Arial" panose="020B0604020202020204" pitchFamily="34" charset="0"/>
              </a:rPr>
              <a:t>there are mainly two types of antivirus software: specific and generic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71E33B8-D72D-3A50-A5EA-9E9219DE416D}"/>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Specific Scanning</a:t>
            </a:r>
            <a:r>
              <a:rPr lang="en-US" altLang="en-US"/>
              <a:t> </a:t>
            </a:r>
          </a:p>
        </p:txBody>
      </p:sp>
      <p:sp>
        <p:nvSpPr>
          <p:cNvPr id="26627" name="Rectangle 3">
            <a:extLst>
              <a:ext uri="{FF2B5EF4-FFF2-40B4-BE49-F238E27FC236}">
                <a16:creationId xmlns:a16="http://schemas.microsoft.com/office/drawing/2014/main" id="{279AB5AB-257F-B875-65CE-0DE85A7D225F}"/>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specific scanning or signature detection</a:t>
            </a:r>
          </a:p>
          <a:p>
            <a:pPr eaLnBrk="1" hangingPunct="1">
              <a:buFont typeface="Tahoma" panose="020B0604030504040204" pitchFamily="34" charset="0"/>
              <a:buChar char="•"/>
            </a:pPr>
            <a:r>
              <a:rPr lang="en-US" altLang="en-US">
                <a:solidFill>
                  <a:schemeClr val="tx2"/>
                </a:solidFill>
                <a:latin typeface="Arial" panose="020B0604020202020204" pitchFamily="34" charset="0"/>
              </a:rPr>
              <a:t>the application scans files to look for known viruses matching definitions in a “virus dictionary”</a:t>
            </a:r>
          </a:p>
          <a:p>
            <a:pPr eaLnBrk="1" hangingPunct="1">
              <a:buFont typeface="Tahoma" panose="020B0604030504040204" pitchFamily="34" charset="0"/>
              <a:buChar char="•"/>
            </a:pPr>
            <a:r>
              <a:rPr lang="en-US" altLang="en-US">
                <a:solidFill>
                  <a:schemeClr val="tx2"/>
                </a:solidFill>
                <a:latin typeface="Arial" panose="020B0604020202020204" pitchFamily="34" charset="0"/>
              </a:rPr>
              <a:t>when the antivirus looks at a file it refers to a dictionary of known viruses and matches a piece of code (specific patterns of bytes) from the new file to the dictionary. </a:t>
            </a:r>
          </a:p>
          <a:p>
            <a:pPr eaLnBrk="1" hangingPunct="1">
              <a:buFont typeface="Tahoma" panose="020B0604030504040204" pitchFamily="34" charset="0"/>
              <a:buChar char="•"/>
            </a:pPr>
            <a:endParaRPr lang="en-US" altLang="en-US">
              <a:solidFill>
                <a:schemeClr val="tx2"/>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3D2731D-15AA-3DC9-CE0E-79FDE3C2E7B3}"/>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Specific scanning cont..</a:t>
            </a:r>
          </a:p>
        </p:txBody>
      </p:sp>
      <p:sp>
        <p:nvSpPr>
          <p:cNvPr id="27651" name="Rectangle 3">
            <a:extLst>
              <a:ext uri="{FF2B5EF4-FFF2-40B4-BE49-F238E27FC236}">
                <a16:creationId xmlns:a16="http://schemas.microsoft.com/office/drawing/2014/main" id="{A4B1AAD8-0752-214C-FF53-E1AA0B8EEA22}"/>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after recognizing the malicious software the antivirus software can take one of the following actions: </a:t>
            </a:r>
          </a:p>
          <a:p>
            <a:pPr eaLnBrk="1" hangingPunct="1">
              <a:buFont typeface="Tahoma" panose="020B0604030504040204" pitchFamily="34" charset="0"/>
              <a:buChar char="•"/>
            </a:pPr>
            <a:r>
              <a:rPr lang="en-US" altLang="en-US">
                <a:solidFill>
                  <a:schemeClr val="tx2"/>
                </a:solidFill>
                <a:latin typeface="Arial" panose="020B0604020202020204" pitchFamily="34" charset="0"/>
              </a:rPr>
              <a:t>(1): attempt to repair the file by removing the virus itself from the file</a:t>
            </a:r>
          </a:p>
          <a:p>
            <a:pPr eaLnBrk="1" hangingPunct="1">
              <a:buFont typeface="Tahoma" panose="020B0604030504040204" pitchFamily="34" charset="0"/>
              <a:buChar char="•"/>
            </a:pPr>
            <a:r>
              <a:rPr lang="en-US" altLang="en-US">
                <a:solidFill>
                  <a:schemeClr val="tx2"/>
                </a:solidFill>
                <a:latin typeface="Arial" panose="020B0604020202020204" pitchFamily="34" charset="0"/>
              </a:rPr>
              <a:t>(2): quarantine the file</a:t>
            </a:r>
          </a:p>
          <a:p>
            <a:pPr eaLnBrk="1" hangingPunct="1">
              <a:buFont typeface="Tahoma" panose="020B0604030504040204" pitchFamily="34" charset="0"/>
              <a:buChar char="•"/>
            </a:pPr>
            <a:r>
              <a:rPr lang="en-US" altLang="en-US">
                <a:solidFill>
                  <a:schemeClr val="tx2"/>
                </a:solidFill>
                <a:latin typeface="Arial" panose="020B0604020202020204" pitchFamily="34" charset="0"/>
              </a:rPr>
              <a:t>(3): or delete the file completely</a:t>
            </a:r>
            <a:r>
              <a:rPr lang="en-US" alt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7D4390F-AA85-1700-F904-B4E4E3BA7065}"/>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Specific Scanning cont…</a:t>
            </a:r>
          </a:p>
        </p:txBody>
      </p:sp>
      <p:sp>
        <p:nvSpPr>
          <p:cNvPr id="28675" name="Rectangle 3">
            <a:extLst>
              <a:ext uri="{FF2B5EF4-FFF2-40B4-BE49-F238E27FC236}">
                <a16:creationId xmlns:a16="http://schemas.microsoft.com/office/drawing/2014/main" id="{2B53DB25-A736-F682-0715-A782993A9058}"/>
              </a:ext>
            </a:extLst>
          </p:cNvPr>
          <p:cNvSpPr>
            <a:spLocks noGrp="1" noChangeArrowheads="1"/>
          </p:cNvSpPr>
          <p:nvPr>
            <p:ph idx="1"/>
          </p:nvPr>
        </p:nvSpPr>
        <p:spPr/>
        <p:txBody>
          <a:bodyPr/>
          <a:lstStyle/>
          <a:p>
            <a:pPr eaLnBrk="1" hangingPunct="1">
              <a:buFont typeface="Tahoma" panose="020B0604030504040204" pitchFamily="34" charset="0"/>
              <a:buChar char="•"/>
            </a:pPr>
            <a:endParaRPr lang="en-US" altLang="en-US">
              <a:solidFill>
                <a:schemeClr val="accent2"/>
              </a:solidFill>
              <a:latin typeface="Arial" panose="020B0604020202020204" pitchFamily="34" charset="0"/>
            </a:endParaRPr>
          </a:p>
          <a:p>
            <a:pPr eaLnBrk="1" hangingPunct="1">
              <a:buFont typeface="Tahoma" panose="020B0604030504040204" pitchFamily="34" charset="0"/>
              <a:buChar char="•"/>
            </a:pPr>
            <a:r>
              <a:rPr lang="en-US" altLang="en-US">
                <a:solidFill>
                  <a:schemeClr val="tx2"/>
                </a:solidFill>
                <a:latin typeface="Arial" panose="020B0604020202020204" pitchFamily="34" charset="0"/>
              </a:rPr>
              <a:t>however, specific scanning is not always reliable because virus authors are creating new ways of disguising their viruses so the antivirus software does not match the virus’ signature to the virus dictionary.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3DCEDB5-4FD3-182B-910D-18C7E7D15D4E}"/>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Generic Scanning</a:t>
            </a:r>
          </a:p>
        </p:txBody>
      </p:sp>
      <p:sp>
        <p:nvSpPr>
          <p:cNvPr id="29699" name="Rectangle 3">
            <a:extLst>
              <a:ext uri="{FF2B5EF4-FFF2-40B4-BE49-F238E27FC236}">
                <a16:creationId xmlns:a16="http://schemas.microsoft.com/office/drawing/2014/main" id="{4E3AC8C4-2BC6-2B7C-09D0-CC7B91B68514}"/>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generic scanning is also referred to as the suspicious behavior approach.</a:t>
            </a:r>
          </a:p>
          <a:p>
            <a:pPr eaLnBrk="1" hangingPunct="1">
              <a:buFont typeface="Tahoma" panose="020B0604030504040204" pitchFamily="34" charset="0"/>
              <a:buChar char="•"/>
            </a:pPr>
            <a:r>
              <a:rPr lang="en-US" altLang="en-US">
                <a:solidFill>
                  <a:schemeClr val="tx2"/>
                </a:solidFill>
                <a:latin typeface="Arial" panose="020B0604020202020204" pitchFamily="34" charset="0"/>
              </a:rPr>
              <a:t>generic Scanning is used when new viruses appear.  </a:t>
            </a:r>
          </a:p>
          <a:p>
            <a:pPr eaLnBrk="1" hangingPunct="1">
              <a:buFont typeface="Tahoma" panose="020B0604030504040204" pitchFamily="34" charset="0"/>
              <a:buChar char="•"/>
            </a:pPr>
            <a:r>
              <a:rPr lang="en-US" altLang="en-US">
                <a:solidFill>
                  <a:schemeClr val="tx2"/>
                </a:solidFill>
                <a:latin typeface="Arial" panose="020B0604020202020204" pitchFamily="34" charset="0"/>
              </a:rPr>
              <a:t>in this method the software does not look for a specific signature but instead monitors the behavior of all applications.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801D427-00C8-9B34-487A-22B0C7B4E369}"/>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Generic Scanning cont…</a:t>
            </a:r>
          </a:p>
        </p:txBody>
      </p:sp>
      <p:sp>
        <p:nvSpPr>
          <p:cNvPr id="30723" name="Rectangle 3">
            <a:extLst>
              <a:ext uri="{FF2B5EF4-FFF2-40B4-BE49-F238E27FC236}">
                <a16:creationId xmlns:a16="http://schemas.microsoft.com/office/drawing/2014/main" id="{FF0F4245-09B5-B8CE-EA74-3A7D21F4E5B9}"/>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if anything questionable is found by the software the application is quarantined and a warning is broadcasted to the user about what the program may be trying to do. </a:t>
            </a:r>
          </a:p>
          <a:p>
            <a:pPr eaLnBrk="1" hangingPunct="1">
              <a:buFont typeface="Tahoma" panose="020B0604030504040204" pitchFamily="34" charset="0"/>
              <a:buChar char="•"/>
            </a:pPr>
            <a:r>
              <a:rPr lang="en-US" altLang="en-US">
                <a:solidFill>
                  <a:schemeClr val="tx2"/>
                </a:solidFill>
                <a:latin typeface="Arial" panose="020B0604020202020204" pitchFamily="34" charset="0"/>
              </a:rPr>
              <a:t>if the software is found to be a virus the user can send it to a virus vendor.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77FC4BD-D8D7-F07D-029F-2187142F045B}"/>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Generic Scanning cont…</a:t>
            </a:r>
          </a:p>
        </p:txBody>
      </p:sp>
      <p:sp>
        <p:nvSpPr>
          <p:cNvPr id="31747" name="Rectangle 3">
            <a:extLst>
              <a:ext uri="{FF2B5EF4-FFF2-40B4-BE49-F238E27FC236}">
                <a16:creationId xmlns:a16="http://schemas.microsoft.com/office/drawing/2014/main" id="{21FE37A0-515C-DAE9-B337-556D4895F9A9}"/>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latin typeface="Arial" panose="020B0604020202020204" pitchFamily="34" charset="0"/>
              </a:rPr>
              <a:t>there, researchers examine it, determine its signature, name and catalogue it and release antivirus software to stop its spread. </a:t>
            </a:r>
          </a:p>
          <a:p>
            <a:pPr eaLnBrk="1" hangingPunct="1">
              <a:buFont typeface="Tahoma" panose="020B0604030504040204" pitchFamily="34" charset="0"/>
              <a:buChar char="•"/>
            </a:pPr>
            <a:r>
              <a:rPr lang="en-US" altLang="en-US">
                <a:solidFill>
                  <a:schemeClr val="tx2"/>
                </a:solidFill>
                <a:latin typeface="Arial" panose="020B0604020202020204" pitchFamily="34" charset="0"/>
              </a:rPr>
              <a:t>if the virus never reappears the vendors categorize the virus as dormant.</a:t>
            </a:r>
          </a:p>
        </p:txBody>
      </p:sp>
      <p:pic>
        <p:nvPicPr>
          <p:cNvPr id="31748" name="Picture 4" descr="AVG_InternetSecurityBox">
            <a:extLst>
              <a:ext uri="{FF2B5EF4-FFF2-40B4-BE49-F238E27FC236}">
                <a16:creationId xmlns:a16="http://schemas.microsoft.com/office/drawing/2014/main" id="{DD24198C-C546-BBF5-7F62-36E8B57AF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4495800"/>
            <a:ext cx="1727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B0712E5-5333-C350-3DD4-C764688689CD}"/>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Two other approaches</a:t>
            </a:r>
          </a:p>
        </p:txBody>
      </p:sp>
      <p:sp>
        <p:nvSpPr>
          <p:cNvPr id="32771" name="Rectangle 3">
            <a:extLst>
              <a:ext uri="{FF2B5EF4-FFF2-40B4-BE49-F238E27FC236}">
                <a16:creationId xmlns:a16="http://schemas.microsoft.com/office/drawing/2014/main" id="{09C6B911-1E9B-3113-7E4A-273E20A5BF8B}"/>
              </a:ext>
            </a:extLst>
          </p:cNvPr>
          <p:cNvSpPr>
            <a:spLocks noGrp="1" noChangeArrowheads="1"/>
          </p:cNvSpPr>
          <p:nvPr>
            <p:ph idx="1"/>
          </p:nvPr>
        </p:nvSpPr>
        <p:spPr/>
        <p:txBody>
          <a:bodyPr/>
          <a:lstStyle/>
          <a:p>
            <a:pPr eaLnBrk="1" hangingPunct="1">
              <a:buFont typeface="Tahoma" panose="020B0604030504040204" pitchFamily="34" charset="0"/>
              <a:buChar char="•"/>
            </a:pPr>
            <a:endParaRPr lang="en-US" altLang="en-US">
              <a:solidFill>
                <a:schemeClr val="tx2"/>
              </a:solidFill>
            </a:endParaRPr>
          </a:p>
          <a:p>
            <a:pPr eaLnBrk="1" hangingPunct="1">
              <a:buFont typeface="Tahoma" panose="020B0604030504040204" pitchFamily="34" charset="0"/>
              <a:buChar char="•"/>
            </a:pPr>
            <a:r>
              <a:rPr lang="en-US" altLang="en-US">
                <a:solidFill>
                  <a:schemeClr val="tx2"/>
                </a:solidFill>
                <a:latin typeface="Arial" panose="020B0604020202020204" pitchFamily="34" charset="0"/>
              </a:rPr>
              <a:t>heuristic analysis</a:t>
            </a:r>
          </a:p>
          <a:p>
            <a:pPr lvl="1" eaLnBrk="1" hangingPunct="1">
              <a:buFont typeface="Tahoma" panose="020B0604030504040204" pitchFamily="34" charset="0"/>
              <a:buChar char="•"/>
            </a:pPr>
            <a:r>
              <a:rPr lang="en-US" altLang="en-US">
                <a:solidFill>
                  <a:schemeClr val="tx2"/>
                </a:solidFill>
                <a:latin typeface="Arial" panose="020B0604020202020204" pitchFamily="34" charset="0"/>
              </a:rPr>
              <a:t>another form of generic scanning </a:t>
            </a:r>
          </a:p>
          <a:p>
            <a:pPr eaLnBrk="1" hangingPunct="1">
              <a:buFont typeface="Tahoma" panose="020B0604030504040204" pitchFamily="34" charset="0"/>
              <a:buChar char="•"/>
            </a:pPr>
            <a:r>
              <a:rPr lang="en-US" altLang="en-US">
                <a:solidFill>
                  <a:schemeClr val="tx2"/>
                </a:solidFill>
                <a:latin typeface="Arial" panose="020B0604020202020204" pitchFamily="34" charset="0"/>
              </a:rPr>
              <a:t>the sandbox method </a:t>
            </a:r>
          </a:p>
          <a:p>
            <a:pPr eaLnBrk="1" hangingPunct="1">
              <a:buFont typeface="Tahoma" panose="020B0604030504040204" pitchFamily="34" charset="0"/>
              <a:buNone/>
            </a:pPr>
            <a:endParaRPr lang="en-US" altLang="en-US">
              <a:solidFill>
                <a:schemeClr val="tx2"/>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79FCCC4-75ED-D618-02B3-55030B751381}"/>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Another Approach…</a:t>
            </a:r>
          </a:p>
        </p:txBody>
      </p:sp>
      <p:sp>
        <p:nvSpPr>
          <p:cNvPr id="33795" name="Rectangle 3">
            <a:extLst>
              <a:ext uri="{FF2B5EF4-FFF2-40B4-BE49-F238E27FC236}">
                <a16:creationId xmlns:a16="http://schemas.microsoft.com/office/drawing/2014/main" id="{BB74EFF6-B99B-FA0C-1477-4D0B118FCBEB}"/>
              </a:ext>
            </a:extLst>
          </p:cNvPr>
          <p:cNvSpPr>
            <a:spLocks noGrp="1" noChangeArrowheads="1"/>
          </p:cNvSpPr>
          <p:nvPr>
            <p:ph idx="1"/>
          </p:nvPr>
        </p:nvSpPr>
        <p:spPr>
          <a:xfrm>
            <a:off x="1905000" y="1524001"/>
            <a:ext cx="8305800" cy="4602163"/>
          </a:xfrm>
        </p:spPr>
        <p:txBody>
          <a:bodyPr/>
          <a:lstStyle/>
          <a:p>
            <a:pPr eaLnBrk="1" hangingPunct="1">
              <a:lnSpc>
                <a:spcPct val="80000"/>
              </a:lnSpc>
              <a:buFont typeface="Tahoma" panose="020B0604030504040204" pitchFamily="34" charset="0"/>
              <a:buChar char="•"/>
            </a:pPr>
            <a:r>
              <a:rPr lang="en-US" altLang="en-US" sz="2400">
                <a:solidFill>
                  <a:schemeClr val="tx2"/>
                </a:solidFill>
                <a:latin typeface="Arial" panose="020B0604020202020204" pitchFamily="34" charset="0"/>
              </a:rPr>
              <a:t>heuristic analysis</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in the heuristic method the software, for example, “could try to emulate the beginning of the code of each new executable that the system invokes before transferring control to that executable.”  if the program attempts to use “self-modifying code” or appears to be a virus, it’s assumed that the virus has infected the executable.</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in this method there are a lot of false positives.</a:t>
            </a:r>
          </a:p>
          <a:p>
            <a:pPr eaLnBrk="1" hangingPunct="1">
              <a:lnSpc>
                <a:spcPct val="80000"/>
              </a:lnSpc>
              <a:buFont typeface="Tahoma" panose="020B0604030504040204" pitchFamily="34" charset="0"/>
              <a:buChar char="•"/>
            </a:pPr>
            <a:endParaRPr lang="en-US" altLang="en-US" sz="2400">
              <a:solidFill>
                <a:schemeClr val="tx2"/>
              </a:solidFill>
              <a:latin typeface="Arial" panose="020B0604020202020204" pitchFamily="34" charset="0"/>
            </a:endParaRPr>
          </a:p>
          <a:p>
            <a:pPr eaLnBrk="1" hangingPunct="1">
              <a:lnSpc>
                <a:spcPct val="80000"/>
              </a:lnSpc>
              <a:buFont typeface="Tahoma" panose="020B0604030504040204" pitchFamily="34" charset="0"/>
              <a:buChar char="•"/>
            </a:pPr>
            <a:r>
              <a:rPr lang="en-US" altLang="en-US" sz="2400">
                <a:solidFill>
                  <a:schemeClr val="tx2"/>
                </a:solidFill>
                <a:latin typeface="Arial" panose="020B0604020202020204" pitchFamily="34" charset="0"/>
              </a:rPr>
              <a:t>sandbox method</a:t>
            </a:r>
          </a:p>
          <a:p>
            <a:pPr lvl="1" eaLnBrk="1" hangingPunct="1">
              <a:lnSpc>
                <a:spcPct val="80000"/>
              </a:lnSpc>
              <a:buFont typeface="Tahoma" panose="020B0604030504040204" pitchFamily="34" charset="0"/>
              <a:buChar char="•"/>
            </a:pPr>
            <a:r>
              <a:rPr lang="en-US" altLang="en-US" sz="2000">
                <a:solidFill>
                  <a:schemeClr val="tx2"/>
                </a:solidFill>
                <a:latin typeface="Arial" panose="020B0604020202020204" pitchFamily="34" charset="0"/>
              </a:rPr>
              <a:t>when an antivirus program will take suspicious code and run it in a “virtual machine” to see the purpose of the code and exactly how the code works.  after the program has terminated, the software analyzes the sandbox for any changes, which could indicate a virus.</a:t>
            </a:r>
          </a:p>
        </p:txBody>
      </p:sp>
      <p:pic>
        <p:nvPicPr>
          <p:cNvPr id="33796" name="Picture 4" descr="MCj02816840000[1]">
            <a:extLst>
              <a:ext uri="{FF2B5EF4-FFF2-40B4-BE49-F238E27FC236}">
                <a16:creationId xmlns:a16="http://schemas.microsoft.com/office/drawing/2014/main" id="{CF4DB4E5-CEDD-82F3-8938-B6C64E2D4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5538" y="0"/>
            <a:ext cx="192246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descr="MCj02816840000[1]">
            <a:extLst>
              <a:ext uri="{FF2B5EF4-FFF2-40B4-BE49-F238E27FC236}">
                <a16:creationId xmlns:a16="http://schemas.microsoft.com/office/drawing/2014/main" id="{73E84AC5-2E89-E40F-DC90-F0DB3A023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0"/>
            <a:ext cx="192246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36FEF51-5D18-ED82-61AF-234927ABFE6E}"/>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Heuristic Analysis</a:t>
            </a:r>
          </a:p>
        </p:txBody>
      </p:sp>
      <p:sp>
        <p:nvSpPr>
          <p:cNvPr id="34819" name="Rectangle 3">
            <a:extLst>
              <a:ext uri="{FF2B5EF4-FFF2-40B4-BE49-F238E27FC236}">
                <a16:creationId xmlns:a16="http://schemas.microsoft.com/office/drawing/2014/main" id="{CFCA0FF5-E84A-6D73-EB08-F086FAE84C0C}"/>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solidFill>
                  <a:schemeClr val="tx2"/>
                </a:solidFill>
              </a:rPr>
              <a:t>software tries to emulate the beginning of the code of each new executable that the system invokes before transferring control to that executable.</a:t>
            </a:r>
          </a:p>
          <a:p>
            <a:pPr eaLnBrk="1" hangingPunct="1">
              <a:buFont typeface="Tahoma" panose="020B0604030504040204" pitchFamily="34" charset="0"/>
              <a:buChar char="•"/>
            </a:pPr>
            <a:r>
              <a:rPr lang="en-US" altLang="en-US">
                <a:solidFill>
                  <a:schemeClr val="tx2"/>
                </a:solidFill>
              </a:rPr>
              <a:t>if the program attempts to use self-modifying code or appears to be a virus, it’s assumed the virus has infected the executable. </a:t>
            </a:r>
          </a:p>
          <a:p>
            <a:pPr eaLnBrk="1" hangingPunct="1">
              <a:buFont typeface="Tahoma" panose="020B0604030504040204" pitchFamily="34" charset="0"/>
              <a:buChar char="•"/>
            </a:pPr>
            <a:r>
              <a:rPr lang="en-US" altLang="en-US">
                <a:solidFill>
                  <a:schemeClr val="tx2"/>
                </a:solidFill>
              </a:rPr>
              <a:t>there are many false positives in this approach.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CBF2994-688E-C278-F677-CED9725D30AF}"/>
              </a:ext>
            </a:extLst>
          </p:cNvPr>
          <p:cNvSpPr>
            <a:spLocks noGrp="1" noChangeArrowheads="1"/>
          </p:cNvSpPr>
          <p:nvPr>
            <p:ph type="title"/>
          </p:nvPr>
        </p:nvSpPr>
        <p:spPr>
          <a:xfrm>
            <a:off x="2152650" y="365126"/>
            <a:ext cx="7886700" cy="396875"/>
          </a:xfrm>
        </p:spPr>
        <p:txBody>
          <a:bodyPr>
            <a:normAutofit fontScale="90000"/>
          </a:bodyPr>
          <a:lstStyle/>
          <a:p>
            <a:pPr eaLnBrk="1" hangingPunct="1"/>
            <a:r>
              <a:rPr lang="en-US" altLang="en-US">
                <a:solidFill>
                  <a:schemeClr val="hlink"/>
                </a:solidFill>
              </a:rPr>
              <a:t>Sandboxing</a:t>
            </a:r>
          </a:p>
        </p:txBody>
      </p:sp>
      <p:sp>
        <p:nvSpPr>
          <p:cNvPr id="37891" name="Rectangle 3">
            <a:extLst>
              <a:ext uri="{FF2B5EF4-FFF2-40B4-BE49-F238E27FC236}">
                <a16:creationId xmlns:a16="http://schemas.microsoft.com/office/drawing/2014/main" id="{FD7B0039-B56C-D2C0-7BBB-3C0B096E91B2}"/>
              </a:ext>
            </a:extLst>
          </p:cNvPr>
          <p:cNvSpPr>
            <a:spLocks noGrp="1" noChangeArrowheads="1"/>
          </p:cNvSpPr>
          <p:nvPr>
            <p:ph idx="1"/>
          </p:nvPr>
        </p:nvSpPr>
        <p:spPr>
          <a:xfrm>
            <a:off x="2152650" y="762000"/>
            <a:ext cx="2876550" cy="4351338"/>
          </a:xfrm>
        </p:spPr>
        <p:txBody>
          <a:bodyPr rtlCol="0">
            <a:normAutofit fontScale="77500" lnSpcReduction="20000"/>
          </a:bodyPr>
          <a:lstStyle/>
          <a:p>
            <a:pPr eaLnBrk="1" hangingPunct="1">
              <a:buFont typeface="Tahoma" panose="020B0604030504040204" pitchFamily="34" charset="0"/>
              <a:buChar char="•"/>
              <a:defRPr/>
            </a:pPr>
            <a:r>
              <a:rPr lang="en-US" altLang="en-US" dirty="0">
                <a:solidFill>
                  <a:schemeClr val="tx2"/>
                </a:solidFill>
                <a:latin typeface="Arial" panose="020B0604020202020204" pitchFamily="34" charset="0"/>
              </a:rPr>
              <a:t>in this approach an antivirus program will take suspicious code and run it in a “virtual machine” to see the purpose of the code and exactly how the code works. </a:t>
            </a:r>
          </a:p>
          <a:p>
            <a:pPr eaLnBrk="1" hangingPunct="1">
              <a:buFont typeface="Tahoma" panose="020B0604030504040204" pitchFamily="34" charset="0"/>
              <a:buChar char="•"/>
              <a:defRPr/>
            </a:pPr>
            <a:r>
              <a:rPr lang="en-US" altLang="en-US" dirty="0">
                <a:solidFill>
                  <a:schemeClr val="tx2"/>
                </a:solidFill>
                <a:latin typeface="Arial" panose="020B0604020202020204" pitchFamily="34" charset="0"/>
              </a:rPr>
              <a:t>after the program is terminated the software analyzes the sandbox for any changes, which might indicate a virus.</a:t>
            </a:r>
            <a:r>
              <a:rPr lang="en-US" altLang="en-US" dirty="0">
                <a:solidFill>
                  <a:schemeClr val="tx2"/>
                </a:solidFill>
              </a:rPr>
              <a:t>  </a:t>
            </a:r>
          </a:p>
        </p:txBody>
      </p:sp>
      <p:pic>
        <p:nvPicPr>
          <p:cNvPr id="35844" name="Picture 5" descr="csc ">
            <a:extLst>
              <a:ext uri="{FF2B5EF4-FFF2-40B4-BE49-F238E27FC236}">
                <a16:creationId xmlns:a16="http://schemas.microsoft.com/office/drawing/2014/main" id="{E8B3D470-3008-4224-23ED-3345A4B07C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563564"/>
            <a:ext cx="5562600" cy="478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10E35DB-14C8-CC8B-8CF7-7DA3F869C637}"/>
              </a:ext>
            </a:extLst>
          </p:cNvPr>
          <p:cNvSpPr>
            <a:spLocks noGrp="1" noChangeArrowheads="1"/>
          </p:cNvSpPr>
          <p:nvPr>
            <p:ph type="title"/>
          </p:nvPr>
        </p:nvSpPr>
        <p:spPr>
          <a:xfrm>
            <a:off x="1524000" y="1371600"/>
            <a:ext cx="8458200" cy="1828800"/>
          </a:xfrm>
        </p:spPr>
        <p:txBody>
          <a:bodyPr/>
          <a:lstStyle/>
          <a:p>
            <a:pPr eaLnBrk="1" hangingPunct="1"/>
            <a:r>
              <a:rPr lang="en-US" altLang="en-US" sz="4800">
                <a:solidFill>
                  <a:schemeClr val="hlink"/>
                </a:solidFill>
                <a:latin typeface="Arial" panose="020B0604020202020204" pitchFamily="34" charset="0"/>
              </a:rPr>
              <a:t>Specific worms &amp; virus attacks</a:t>
            </a:r>
            <a:r>
              <a:rPr lang="en-US" altLang="en-US">
                <a:solidFill>
                  <a:schemeClr val="hlink"/>
                </a:solidFill>
              </a:rPr>
              <a:t> </a:t>
            </a:r>
          </a:p>
        </p:txBody>
      </p:sp>
      <p:sp>
        <p:nvSpPr>
          <p:cNvPr id="36867" name="Content Placeholder 2">
            <a:extLst>
              <a:ext uri="{FF2B5EF4-FFF2-40B4-BE49-F238E27FC236}">
                <a16:creationId xmlns:a16="http://schemas.microsoft.com/office/drawing/2014/main" id="{F66E79AF-E1C3-56BE-C92B-E013C1E71EF6}"/>
              </a:ext>
            </a:extLst>
          </p:cNvPr>
          <p:cNvSpPr>
            <a:spLocks noGrp="1" noChangeArrowheads="1"/>
          </p:cNvSpPr>
          <p:nvPr>
            <p:ph idx="1"/>
          </p:nvPr>
        </p:nvSpPr>
        <p:spPr/>
        <p:txBody>
          <a:bodyPr/>
          <a:lstStyle/>
          <a:p>
            <a:pPr eaLnBrk="1" hangingPunct="1"/>
            <a:endParaRPr lang="en-GB" altLang="en-ZM"/>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B81B584-30AC-94C5-EA83-54CFCD452B28}"/>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Macro Virus</a:t>
            </a:r>
          </a:p>
        </p:txBody>
      </p:sp>
      <p:sp>
        <p:nvSpPr>
          <p:cNvPr id="37891" name="Rectangle 3">
            <a:extLst>
              <a:ext uri="{FF2B5EF4-FFF2-40B4-BE49-F238E27FC236}">
                <a16:creationId xmlns:a16="http://schemas.microsoft.com/office/drawing/2014/main" id="{9AA406E6-6791-E573-0E14-D55205259098}"/>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sz="2400">
                <a:latin typeface="Arial" panose="020B0604020202020204" pitchFamily="34" charset="0"/>
              </a:rPr>
              <a:t>one of the most common viruses is a macro virus, which is usually contracted through emails.</a:t>
            </a:r>
          </a:p>
          <a:p>
            <a:pPr eaLnBrk="1" hangingPunct="1">
              <a:buFont typeface="Tahoma" panose="020B0604030504040204" pitchFamily="34" charset="0"/>
              <a:buChar char="•"/>
            </a:pPr>
            <a:r>
              <a:rPr lang="en-US" altLang="en-US" sz="2400">
                <a:latin typeface="Arial" panose="020B0604020202020204" pitchFamily="34" charset="0"/>
              </a:rPr>
              <a:t>macro viruses attach themselves to a document usually created in one of the applications in Microsoft Office.</a:t>
            </a:r>
          </a:p>
          <a:p>
            <a:pPr eaLnBrk="1" hangingPunct="1">
              <a:buFont typeface="Tahoma" panose="020B0604030504040204" pitchFamily="34" charset="0"/>
              <a:buChar char="•"/>
            </a:pPr>
            <a:r>
              <a:rPr lang="en-US" altLang="en-US" sz="2400">
                <a:latin typeface="Arial" panose="020B0604020202020204" pitchFamily="34" charset="0"/>
              </a:rPr>
              <a:t>when one of these infected documents is sent through an email.</a:t>
            </a:r>
          </a:p>
          <a:p>
            <a:pPr eaLnBrk="1" hangingPunct="1">
              <a:buFont typeface="Tahoma" panose="020B0604030504040204" pitchFamily="34" charset="0"/>
              <a:buChar char="•"/>
            </a:pPr>
            <a:r>
              <a:rPr lang="en-US" altLang="en-US" sz="2400">
                <a:latin typeface="Arial" panose="020B0604020202020204" pitchFamily="34" charset="0"/>
              </a:rPr>
              <a:t>it infects the computer by getting into an email account and reproducing itself by sending it to all the people in that person’s email address list.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2DEE68F-C80B-F008-2487-B6DF91FD4CDE}"/>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Melissa Virus</a:t>
            </a:r>
          </a:p>
        </p:txBody>
      </p:sp>
      <p:sp>
        <p:nvSpPr>
          <p:cNvPr id="38915" name="Rectangle 3">
            <a:extLst>
              <a:ext uri="{FF2B5EF4-FFF2-40B4-BE49-F238E27FC236}">
                <a16:creationId xmlns:a16="http://schemas.microsoft.com/office/drawing/2014/main" id="{FA937E0B-C26B-1E2A-8D83-354B13D270B5}"/>
              </a:ext>
            </a:extLst>
          </p:cNvPr>
          <p:cNvSpPr>
            <a:spLocks noGrp="1" noChangeArrowheads="1"/>
          </p:cNvSpPr>
          <p:nvPr>
            <p:ph idx="1"/>
          </p:nvPr>
        </p:nvSpPr>
        <p:spPr/>
        <p:txBody>
          <a:bodyPr/>
          <a:lstStyle/>
          <a:p>
            <a:pPr eaLnBrk="1" hangingPunct="1">
              <a:lnSpc>
                <a:spcPct val="80000"/>
              </a:lnSpc>
              <a:buFont typeface="Tahoma" panose="020B0604030504040204" pitchFamily="34" charset="0"/>
              <a:buChar char="•"/>
            </a:pPr>
            <a:r>
              <a:rPr lang="en-US" altLang="en-US" sz="2400">
                <a:latin typeface="Arial" panose="020B0604020202020204" pitchFamily="34" charset="0"/>
              </a:rPr>
              <a:t>one of the biggest virus incidents was the Melissa virus in 1999.</a:t>
            </a:r>
          </a:p>
          <a:p>
            <a:pPr eaLnBrk="1" hangingPunct="1">
              <a:lnSpc>
                <a:spcPct val="80000"/>
              </a:lnSpc>
              <a:buFont typeface="Tahoma" panose="020B0604030504040204" pitchFamily="34" charset="0"/>
              <a:buChar char="•"/>
            </a:pPr>
            <a:r>
              <a:rPr lang="en-US" altLang="en-US" sz="2400">
                <a:latin typeface="Arial" panose="020B0604020202020204" pitchFamily="34" charset="0"/>
              </a:rPr>
              <a:t>this was a macro virus that was built into a Microsoft Word document and in it was a list of different pornography websites.</a:t>
            </a:r>
          </a:p>
          <a:p>
            <a:pPr eaLnBrk="1" hangingPunct="1">
              <a:lnSpc>
                <a:spcPct val="80000"/>
              </a:lnSpc>
              <a:buFont typeface="Tahoma" panose="020B0604030504040204" pitchFamily="34" charset="0"/>
              <a:buChar char="•"/>
            </a:pPr>
            <a:r>
              <a:rPr lang="en-US" altLang="en-US" sz="2400">
                <a:latin typeface="Arial" panose="020B0604020202020204" pitchFamily="34" charset="0"/>
              </a:rPr>
              <a:t>what the user did not know was the fact that when he or she opened the document the virus went straight to Microsoft Outlook and sent the same email to the first 50 addresses in their address book.</a:t>
            </a:r>
          </a:p>
          <a:p>
            <a:pPr eaLnBrk="1" hangingPunct="1">
              <a:lnSpc>
                <a:spcPct val="80000"/>
              </a:lnSpc>
              <a:buFont typeface="Tahoma" panose="020B0604030504040204" pitchFamily="34" charset="0"/>
              <a:buChar char="•"/>
            </a:pPr>
            <a:r>
              <a:rPr lang="en-US" altLang="en-US" sz="2400">
                <a:latin typeface="Arial" panose="020B0604020202020204" pitchFamily="34" charset="0"/>
              </a:rPr>
              <a:t>it was not a destructive virus and there was not really any damage done to any computers.  the man who created the virus got fined $5,000 and got sentenced to 20 months in prison.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3E8568C-A74F-325B-7C67-3BC2387800AC}"/>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Aftermath</a:t>
            </a:r>
          </a:p>
        </p:txBody>
      </p:sp>
      <p:sp>
        <p:nvSpPr>
          <p:cNvPr id="39939" name="Rectangle 3">
            <a:extLst>
              <a:ext uri="{FF2B5EF4-FFF2-40B4-BE49-F238E27FC236}">
                <a16:creationId xmlns:a16="http://schemas.microsoft.com/office/drawing/2014/main" id="{5C62B3BB-2329-D0E1-1C59-4C7E87527677}"/>
              </a:ext>
            </a:extLst>
          </p:cNvPr>
          <p:cNvSpPr>
            <a:spLocks noGrp="1" noChangeArrowheads="1"/>
          </p:cNvSpPr>
          <p:nvPr>
            <p:ph idx="1"/>
          </p:nvPr>
        </p:nvSpPr>
        <p:spPr/>
        <p:txBody>
          <a:bodyPr/>
          <a:lstStyle/>
          <a:p>
            <a:pPr eaLnBrk="1" hangingPunct="1">
              <a:lnSpc>
                <a:spcPct val="80000"/>
              </a:lnSpc>
              <a:buFont typeface="Tahoma" panose="020B0604030504040204" pitchFamily="34" charset="0"/>
              <a:buChar char="•"/>
            </a:pPr>
            <a:r>
              <a:rPr lang="en-US" altLang="en-US">
                <a:latin typeface="Arial" panose="020B0604020202020204" pitchFamily="34" charset="0"/>
              </a:rPr>
              <a:t>after the Melissa virus, the door for many was opened to new viruses.</a:t>
            </a:r>
          </a:p>
          <a:p>
            <a:pPr eaLnBrk="1" hangingPunct="1">
              <a:lnSpc>
                <a:spcPct val="80000"/>
              </a:lnSpc>
              <a:buFont typeface="Tahoma" panose="020B0604030504040204" pitchFamily="34" charset="0"/>
              <a:buChar char="•"/>
            </a:pPr>
            <a:r>
              <a:rPr lang="en-US" altLang="en-US">
                <a:latin typeface="Arial" panose="020B0604020202020204" pitchFamily="34" charset="0"/>
              </a:rPr>
              <a:t>one of them was Chernobyl.  Unlike Melissa, this one was destructive and infected over 600,000 computers all over the world.</a:t>
            </a:r>
          </a:p>
          <a:p>
            <a:pPr eaLnBrk="1" hangingPunct="1">
              <a:lnSpc>
                <a:spcPct val="80000"/>
              </a:lnSpc>
              <a:buFont typeface="Tahoma" panose="020B0604030504040204" pitchFamily="34" charset="0"/>
              <a:buChar char="•"/>
            </a:pPr>
            <a:r>
              <a:rPr lang="en-US" altLang="en-US">
                <a:latin typeface="Arial" panose="020B0604020202020204" pitchFamily="34" charset="0"/>
              </a:rPr>
              <a:t>Chernobyl infected 300,000 computers in South Korea and it cost about $250 million in damages.</a:t>
            </a:r>
          </a:p>
          <a:p>
            <a:pPr eaLnBrk="1" hangingPunct="1">
              <a:lnSpc>
                <a:spcPct val="80000"/>
              </a:lnSpc>
              <a:buFont typeface="Tahoma" panose="020B0604030504040204" pitchFamily="34" charset="0"/>
              <a:buChar char="•"/>
            </a:pPr>
            <a:r>
              <a:rPr lang="en-US" altLang="en-US">
                <a:latin typeface="Arial" panose="020B0604020202020204" pitchFamily="34" charset="0"/>
              </a:rPr>
              <a:t>in the Philippines, a virus now known as the Love Bug infected their computer systems and cost them billions of dollars in damages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30DD258-F0A9-1938-03F7-690F97A3144D}"/>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Boot Virus</a:t>
            </a:r>
          </a:p>
        </p:txBody>
      </p:sp>
      <p:sp>
        <p:nvSpPr>
          <p:cNvPr id="40963" name="Rectangle 3">
            <a:extLst>
              <a:ext uri="{FF2B5EF4-FFF2-40B4-BE49-F238E27FC236}">
                <a16:creationId xmlns:a16="http://schemas.microsoft.com/office/drawing/2014/main" id="{B4CD1F4C-D75E-BBC0-B39E-0B6D0C2D9624}"/>
              </a:ext>
            </a:extLst>
          </p:cNvPr>
          <p:cNvSpPr>
            <a:spLocks noGrp="1" noChangeArrowheads="1"/>
          </p:cNvSpPr>
          <p:nvPr>
            <p:ph idx="1"/>
          </p:nvPr>
        </p:nvSpPr>
        <p:spPr/>
        <p:txBody>
          <a:bodyPr/>
          <a:lstStyle/>
          <a:p>
            <a:pPr eaLnBrk="1" hangingPunct="1">
              <a:lnSpc>
                <a:spcPct val="80000"/>
              </a:lnSpc>
              <a:buFont typeface="Tahoma" panose="020B0604030504040204" pitchFamily="34" charset="0"/>
              <a:buChar char="•"/>
            </a:pPr>
            <a:r>
              <a:rPr lang="en-US" altLang="en-US" sz="2400">
                <a:latin typeface="Arial" panose="020B0604020202020204" pitchFamily="34" charset="0"/>
              </a:rPr>
              <a:t>boot viruses are viruses that infect either the floppy disk boot records or the master boot records in hard disks.</a:t>
            </a:r>
          </a:p>
          <a:p>
            <a:pPr eaLnBrk="1" hangingPunct="1">
              <a:lnSpc>
                <a:spcPct val="80000"/>
              </a:lnSpc>
              <a:buFont typeface="Tahoma" panose="020B0604030504040204" pitchFamily="34" charset="0"/>
              <a:buChar char="•"/>
            </a:pPr>
            <a:r>
              <a:rPr lang="en-US" altLang="en-US" sz="2400">
                <a:latin typeface="Arial" panose="020B0604020202020204" pitchFamily="34" charset="0"/>
              </a:rPr>
              <a:t>most of the time what happens is the virus overwrites the boot record program and this is a problem because the boot record program is what loads the operating system.</a:t>
            </a:r>
          </a:p>
          <a:p>
            <a:pPr eaLnBrk="1" hangingPunct="1">
              <a:lnSpc>
                <a:spcPct val="80000"/>
              </a:lnSpc>
              <a:buFont typeface="Tahoma" panose="020B0604030504040204" pitchFamily="34" charset="0"/>
              <a:buChar char="•"/>
            </a:pPr>
            <a:r>
              <a:rPr lang="en-US" altLang="en-US" sz="2400">
                <a:latin typeface="Arial" panose="020B0604020202020204" pitchFamily="34" charset="0"/>
              </a:rPr>
              <a:t>boot viruses often load into the memory of the computer while the disk is in use because the virus is there instead of the operating systems program.  </a:t>
            </a:r>
          </a:p>
          <a:p>
            <a:pPr eaLnBrk="1" hangingPunct="1">
              <a:lnSpc>
                <a:spcPct val="80000"/>
              </a:lnSpc>
              <a:buFont typeface="Tahoma" panose="020B0604030504040204" pitchFamily="34" charset="0"/>
              <a:buChar char="•"/>
            </a:pPr>
            <a:r>
              <a:rPr lang="en-US" altLang="en-US" sz="2400">
                <a:latin typeface="Arial" panose="020B0604020202020204" pitchFamily="34" charset="0"/>
              </a:rPr>
              <a:t>some examples of these types of viruses would be Disk Killer or Stone virus.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9A31B4A-F751-FB7F-BEC5-D41A8C391BC3}"/>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Program Virus</a:t>
            </a:r>
          </a:p>
        </p:txBody>
      </p:sp>
      <p:sp>
        <p:nvSpPr>
          <p:cNvPr id="41987" name="Rectangle 3">
            <a:extLst>
              <a:ext uri="{FF2B5EF4-FFF2-40B4-BE49-F238E27FC236}">
                <a16:creationId xmlns:a16="http://schemas.microsoft.com/office/drawing/2014/main" id="{EF606953-0A8A-5677-F756-B0B3A1299996}"/>
              </a:ext>
            </a:extLst>
          </p:cNvPr>
          <p:cNvSpPr>
            <a:spLocks noGrp="1" noChangeArrowheads="1"/>
          </p:cNvSpPr>
          <p:nvPr>
            <p:ph idx="1"/>
          </p:nvPr>
        </p:nvSpPr>
        <p:spPr/>
        <p:txBody>
          <a:bodyPr/>
          <a:lstStyle/>
          <a:p>
            <a:pPr eaLnBrk="1" hangingPunct="1">
              <a:lnSpc>
                <a:spcPct val="80000"/>
              </a:lnSpc>
              <a:buFont typeface="Tahoma" panose="020B0604030504040204" pitchFamily="34" charset="0"/>
              <a:buChar char="•"/>
            </a:pPr>
            <a:r>
              <a:rPr lang="en-US" altLang="en-US">
                <a:latin typeface="Arial" panose="020B0604020202020204" pitchFamily="34" charset="0"/>
              </a:rPr>
              <a:t>program viruses are viruses that attack the executable program files.</a:t>
            </a:r>
          </a:p>
          <a:p>
            <a:pPr eaLnBrk="1" hangingPunct="1">
              <a:lnSpc>
                <a:spcPct val="80000"/>
              </a:lnSpc>
              <a:buFont typeface="Tahoma" panose="020B0604030504040204" pitchFamily="34" charset="0"/>
              <a:buChar char="•"/>
            </a:pPr>
            <a:r>
              <a:rPr lang="en-US" altLang="en-US">
                <a:latin typeface="Arial" panose="020B0604020202020204" pitchFamily="34" charset="0"/>
              </a:rPr>
              <a:t>the files it infects are .bin, .com, .exe, .ovl, .drv, or .sys.</a:t>
            </a:r>
          </a:p>
          <a:p>
            <a:pPr eaLnBrk="1" hangingPunct="1">
              <a:lnSpc>
                <a:spcPct val="80000"/>
              </a:lnSpc>
              <a:buFont typeface="Tahoma" panose="020B0604030504040204" pitchFamily="34" charset="0"/>
              <a:buChar char="•"/>
            </a:pPr>
            <a:r>
              <a:rPr lang="en-US" altLang="en-US">
                <a:latin typeface="Arial" panose="020B0604020202020204" pitchFamily="34" charset="0"/>
              </a:rPr>
              <a:t>these kinds of viruses are loaded onto the computer when the file is being downloaded.  </a:t>
            </a:r>
          </a:p>
          <a:p>
            <a:pPr eaLnBrk="1" hangingPunct="1">
              <a:lnSpc>
                <a:spcPct val="80000"/>
              </a:lnSpc>
              <a:buFont typeface="Tahoma" panose="020B0604030504040204" pitchFamily="34" charset="0"/>
              <a:buChar char="•"/>
            </a:pPr>
            <a:r>
              <a:rPr lang="en-US" altLang="en-US">
                <a:latin typeface="Arial" panose="020B0604020202020204" pitchFamily="34" charset="0"/>
              </a:rPr>
              <a:t>once the infected program is loaded then the virus starts making copies of itself.  </a:t>
            </a:r>
          </a:p>
          <a:p>
            <a:pPr eaLnBrk="1" hangingPunct="1">
              <a:lnSpc>
                <a:spcPct val="80000"/>
              </a:lnSpc>
              <a:buFont typeface="Tahoma" panose="020B0604030504040204" pitchFamily="34" charset="0"/>
              <a:buChar char="•"/>
            </a:pPr>
            <a:r>
              <a:rPr lang="en-US" altLang="en-US">
                <a:latin typeface="Arial" panose="020B0604020202020204" pitchFamily="34" charset="0"/>
              </a:rPr>
              <a:t>examples of these would be Sunday or Cascade.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44E87A9-8715-C3F0-F10F-B66A61FAFE3C}"/>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Stealth Virus</a:t>
            </a:r>
          </a:p>
        </p:txBody>
      </p:sp>
      <p:sp>
        <p:nvSpPr>
          <p:cNvPr id="43011" name="Rectangle 3">
            <a:extLst>
              <a:ext uri="{FF2B5EF4-FFF2-40B4-BE49-F238E27FC236}">
                <a16:creationId xmlns:a16="http://schemas.microsoft.com/office/drawing/2014/main" id="{FE06D3D6-E412-67E4-A9D3-D9741B105950}"/>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latin typeface="Arial" panose="020B0604020202020204" pitchFamily="34" charset="0"/>
              </a:rPr>
              <a:t>stealth viruses are very tricky viruses.</a:t>
            </a:r>
          </a:p>
          <a:p>
            <a:pPr eaLnBrk="1" hangingPunct="1">
              <a:buFont typeface="Tahoma" panose="020B0604030504040204" pitchFamily="34" charset="0"/>
              <a:buChar char="•"/>
            </a:pPr>
            <a:r>
              <a:rPr lang="en-US" altLang="en-US">
                <a:latin typeface="Arial" panose="020B0604020202020204" pitchFamily="34" charset="0"/>
              </a:rPr>
              <a:t>they usually are very hard to detect because they take up exactly the amount of space as the program should so it is very hard to discover the virus because it is so well hidden.  </a:t>
            </a:r>
          </a:p>
          <a:p>
            <a:pPr eaLnBrk="1" hangingPunct="1">
              <a:buFont typeface="Tahoma" panose="020B0604030504040204" pitchFamily="34" charset="0"/>
              <a:buChar char="•"/>
            </a:pPr>
            <a:r>
              <a:rPr lang="en-US" altLang="en-US">
                <a:latin typeface="Arial" panose="020B0604020202020204" pitchFamily="34" charset="0"/>
              </a:rPr>
              <a:t>an example of this kind of virus would be the Whale virus.</a:t>
            </a:r>
            <a:r>
              <a:rPr lang="en-US" altLang="en-US"/>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934BCE4-EBDE-7CF2-C0ED-139A7C3E0111}"/>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The Polymorphic Virus</a:t>
            </a:r>
          </a:p>
        </p:txBody>
      </p:sp>
      <p:sp>
        <p:nvSpPr>
          <p:cNvPr id="44035" name="Rectangle 3">
            <a:extLst>
              <a:ext uri="{FF2B5EF4-FFF2-40B4-BE49-F238E27FC236}">
                <a16:creationId xmlns:a16="http://schemas.microsoft.com/office/drawing/2014/main" id="{5A953050-217E-3A16-1EF8-A85C479FDEB2}"/>
              </a:ext>
            </a:extLst>
          </p:cNvPr>
          <p:cNvSpPr>
            <a:spLocks noGrp="1" noChangeArrowheads="1"/>
          </p:cNvSpPr>
          <p:nvPr>
            <p:ph idx="1"/>
          </p:nvPr>
        </p:nvSpPr>
        <p:spPr/>
        <p:txBody>
          <a:bodyPr/>
          <a:lstStyle/>
          <a:p>
            <a:pPr eaLnBrk="1" hangingPunct="1">
              <a:buFont typeface="Tahoma" panose="020B0604030504040204" pitchFamily="34" charset="0"/>
              <a:buChar char="•"/>
            </a:pPr>
            <a:r>
              <a:rPr lang="en-US" altLang="en-US">
                <a:latin typeface="Arial" panose="020B0604020202020204" pitchFamily="34" charset="0"/>
              </a:rPr>
              <a:t>polymorphic viruses are also very hard to detect.</a:t>
            </a:r>
          </a:p>
          <a:p>
            <a:pPr eaLnBrk="1" hangingPunct="1">
              <a:buFont typeface="Tahoma" panose="020B0604030504040204" pitchFamily="34" charset="0"/>
              <a:buChar char="•"/>
            </a:pPr>
            <a:r>
              <a:rPr lang="en-US" altLang="en-US">
                <a:latin typeface="Arial" panose="020B0604020202020204" pitchFamily="34" charset="0"/>
              </a:rPr>
              <a:t>this virus can actually use an encrypted code so it looks like a different virus every time.</a:t>
            </a:r>
          </a:p>
          <a:p>
            <a:pPr eaLnBrk="1" hangingPunct="1">
              <a:buFont typeface="Tahoma" panose="020B0604030504040204" pitchFamily="34" charset="0"/>
              <a:buChar char="•"/>
            </a:pPr>
            <a:r>
              <a:rPr lang="en-US" altLang="en-US">
                <a:latin typeface="Arial" panose="020B0604020202020204" pitchFamily="34" charset="0"/>
              </a:rPr>
              <a:t>different examples of this type of virus would be Stimulate or Phoenix.</a:t>
            </a:r>
          </a:p>
          <a:p>
            <a:pPr eaLnBrk="1" hangingPunct="1">
              <a:buFont typeface="Tahoma" panose="020B0604030504040204" pitchFamily="34" charset="0"/>
              <a:buChar char="•"/>
            </a:pPr>
            <a:endParaRPr lang="en-US" altLang="en-US">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D0DDE31-1A20-C82C-8DF4-CCB87FC03764}"/>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Worms Attack</a:t>
            </a:r>
          </a:p>
        </p:txBody>
      </p:sp>
      <p:sp>
        <p:nvSpPr>
          <p:cNvPr id="67587" name="Rectangle 3">
            <a:extLst>
              <a:ext uri="{FF2B5EF4-FFF2-40B4-BE49-F238E27FC236}">
                <a16:creationId xmlns:a16="http://schemas.microsoft.com/office/drawing/2014/main" id="{386D55E6-F6CB-A41D-FFF6-B0C0168EEF37}"/>
              </a:ext>
            </a:extLst>
          </p:cNvPr>
          <p:cNvSpPr>
            <a:spLocks noGrp="1" noChangeArrowheads="1"/>
          </p:cNvSpPr>
          <p:nvPr>
            <p:ph idx="1"/>
          </p:nvPr>
        </p:nvSpPr>
        <p:spPr/>
        <p:txBody>
          <a:bodyPr rtlCol="0">
            <a:normAutofit/>
          </a:bodyPr>
          <a:lstStyle/>
          <a:p>
            <a:pPr>
              <a:lnSpc>
                <a:spcPct val="80000"/>
              </a:lnSpc>
              <a:buFont typeface="Tahoma" charset="0"/>
              <a:buChar char="•"/>
              <a:defRPr/>
            </a:pPr>
            <a:r>
              <a:rPr lang="en-US" sz="2400">
                <a:latin typeface="Arial" charset="0"/>
              </a:rPr>
              <a:t>the first major worm was in 1988 when a student at Cornell made an experiment that accidentally got onto the Internet.</a:t>
            </a:r>
          </a:p>
          <a:p>
            <a:pPr>
              <a:lnSpc>
                <a:spcPct val="80000"/>
              </a:lnSpc>
              <a:buFont typeface="Tahoma" charset="0"/>
              <a:buChar char="•"/>
              <a:defRPr/>
            </a:pPr>
            <a:r>
              <a:rPr lang="en-US" sz="2400">
                <a:latin typeface="Arial" charset="0"/>
              </a:rPr>
              <a:t>this worm caused 6,000 computers all over the United States to freeze.  all the infected computers had to be shut off and the worm had to be terminated.</a:t>
            </a:r>
          </a:p>
          <a:p>
            <a:pPr>
              <a:lnSpc>
                <a:spcPct val="80000"/>
              </a:lnSpc>
              <a:buFont typeface="Tahoma" charset="0"/>
              <a:buChar char="•"/>
              <a:defRPr/>
            </a:pPr>
            <a:r>
              <a:rPr lang="en-US" sz="2400">
                <a:latin typeface="Arial" charset="0"/>
              </a:rPr>
              <a:t>there was no really money damage but there was a lot of lost time at different research institutions.</a:t>
            </a:r>
          </a:p>
          <a:p>
            <a:pPr>
              <a:lnSpc>
                <a:spcPct val="80000"/>
              </a:lnSpc>
              <a:buFont typeface="Tahoma" charset="0"/>
              <a:buChar char="•"/>
              <a:defRPr/>
            </a:pPr>
            <a:r>
              <a:rPr lang="en-US" sz="2400">
                <a:latin typeface="Arial" charset="0"/>
              </a:rPr>
              <a:t>one of the most damaging worms in history is named Code Red in 2001.</a:t>
            </a:r>
          </a:p>
          <a:p>
            <a:pPr>
              <a:lnSpc>
                <a:spcPct val="80000"/>
              </a:lnSpc>
              <a:buFont typeface="Tahoma" charset="0"/>
              <a:buChar char="•"/>
              <a:defRPr/>
            </a:pPr>
            <a:r>
              <a:rPr lang="en-US" sz="2400">
                <a:latin typeface="Arial" charset="0"/>
              </a:rPr>
              <a:t>more than 359,000 computers all over the world were infected with this worm in less than 14 hours.</a:t>
            </a:r>
          </a:p>
          <a:p>
            <a:pPr>
              <a:lnSpc>
                <a:spcPct val="80000"/>
              </a:lnSpc>
              <a:buFont typeface="Tahoma" charset="0"/>
              <a:buChar char="•"/>
              <a:defRPr/>
            </a:pPr>
            <a:r>
              <a:rPr lang="en-US" sz="2400">
                <a:latin typeface="Arial" charset="0"/>
              </a:rPr>
              <a:t>the estimate cost of damages due to the worm was about $2.6 billion.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83E62AA-5C8C-66A0-0654-B9A23746AEF3}"/>
              </a:ext>
            </a:extLst>
          </p:cNvPr>
          <p:cNvSpPr>
            <a:spLocks noGrp="1" noChangeArrowheads="1"/>
          </p:cNvSpPr>
          <p:nvPr>
            <p:ph type="title"/>
          </p:nvPr>
        </p:nvSpPr>
        <p:spPr/>
        <p:txBody>
          <a:bodyPr/>
          <a:lstStyle/>
          <a:p>
            <a:pPr eaLnBrk="1" hangingPunct="1"/>
            <a:r>
              <a:rPr lang="en-US" altLang="en-US">
                <a:solidFill>
                  <a:schemeClr val="hlink"/>
                </a:solidFill>
                <a:latin typeface="Arial" panose="020B0604020202020204" pitchFamily="34" charset="0"/>
              </a:rPr>
              <a:t>Types of Worms</a:t>
            </a:r>
          </a:p>
        </p:txBody>
      </p:sp>
      <p:sp>
        <p:nvSpPr>
          <p:cNvPr id="46083" name="Rectangle 3">
            <a:extLst>
              <a:ext uri="{FF2B5EF4-FFF2-40B4-BE49-F238E27FC236}">
                <a16:creationId xmlns:a16="http://schemas.microsoft.com/office/drawing/2014/main" id="{778B50AD-2AD9-8FB3-A2FA-030BE1C168F5}"/>
              </a:ext>
            </a:extLst>
          </p:cNvPr>
          <p:cNvSpPr>
            <a:spLocks noGrp="1" noChangeArrowheads="1"/>
          </p:cNvSpPr>
          <p:nvPr>
            <p:ph idx="1"/>
          </p:nvPr>
        </p:nvSpPr>
        <p:spPr>
          <a:xfrm>
            <a:off x="2209800" y="1905000"/>
            <a:ext cx="7772400" cy="4419600"/>
          </a:xfrm>
        </p:spPr>
        <p:txBody>
          <a:bodyPr/>
          <a:lstStyle/>
          <a:p>
            <a:pPr eaLnBrk="1" hangingPunct="1">
              <a:lnSpc>
                <a:spcPct val="80000"/>
              </a:lnSpc>
              <a:buFont typeface="Tahoma" panose="020B0604030504040204" pitchFamily="34" charset="0"/>
              <a:buChar char="•"/>
            </a:pPr>
            <a:r>
              <a:rPr lang="en-US" altLang="en-US" sz="2000">
                <a:latin typeface="Arial" panose="020B0604020202020204" pitchFamily="34" charset="0"/>
              </a:rPr>
              <a:t>a few different types of worms are emailing worms, instant messaging worms, internet worms and file-sharing networks worms.</a:t>
            </a:r>
          </a:p>
          <a:p>
            <a:pPr lvl="1" eaLnBrk="1" hangingPunct="1">
              <a:lnSpc>
                <a:spcPct val="80000"/>
              </a:lnSpc>
              <a:buFont typeface="Tahoma" panose="020B0604030504040204" pitchFamily="34" charset="0"/>
              <a:buChar char="•"/>
            </a:pPr>
            <a:r>
              <a:rPr lang="en-US" altLang="en-US" sz="2000">
                <a:latin typeface="Arial" panose="020B0604020202020204" pitchFamily="34" charset="0"/>
              </a:rPr>
              <a:t>emailing worms are those in the attachments that are sometimes sent with emails.</a:t>
            </a:r>
          </a:p>
          <a:p>
            <a:pPr lvl="1" eaLnBrk="1" hangingPunct="1">
              <a:lnSpc>
                <a:spcPct val="80000"/>
              </a:lnSpc>
              <a:buFont typeface="Tahoma" panose="020B0604030504040204" pitchFamily="34" charset="0"/>
              <a:buChar char="•"/>
            </a:pPr>
            <a:r>
              <a:rPr lang="en-US" altLang="en-US" sz="2000">
                <a:latin typeface="Arial" panose="020B0604020202020204" pitchFamily="34" charset="0"/>
              </a:rPr>
              <a:t>instant messaging worms usually infect a computer when an infected link is sent to a person and they open it.  these also get into computers and automatically send to most if not all of the people on your buddy list.</a:t>
            </a:r>
          </a:p>
          <a:p>
            <a:pPr lvl="1" eaLnBrk="1" hangingPunct="1">
              <a:lnSpc>
                <a:spcPct val="80000"/>
              </a:lnSpc>
              <a:buFont typeface="Tahoma" panose="020B0604030504040204" pitchFamily="34" charset="0"/>
              <a:buChar char="•"/>
            </a:pPr>
            <a:r>
              <a:rPr lang="en-US" altLang="en-US" sz="2000">
                <a:latin typeface="Arial" panose="020B0604020202020204" pitchFamily="34" charset="0"/>
              </a:rPr>
              <a:t>internet worms usually scan different computers and try to get into their systems.  a lot of times they will try and be downloaded onto the computer by sending a request to be downloaded.</a:t>
            </a:r>
          </a:p>
          <a:p>
            <a:pPr lvl="1" eaLnBrk="1" hangingPunct="1">
              <a:lnSpc>
                <a:spcPct val="80000"/>
              </a:lnSpc>
              <a:buFont typeface="Tahoma" panose="020B0604030504040204" pitchFamily="34" charset="0"/>
              <a:buChar char="•"/>
            </a:pPr>
            <a:r>
              <a:rPr lang="en-US" altLang="en-US" sz="2000">
                <a:latin typeface="Arial" panose="020B0604020202020204" pitchFamily="34" charset="0"/>
              </a:rPr>
              <a:t>file-sharing networks worms usually copy itself in a shared file under a name that is not suspicious and will start to infect the computer as well as those in the same network.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6">
            <a:extLst>
              <a:ext uri="{FF2B5EF4-FFF2-40B4-BE49-F238E27FC236}">
                <a16:creationId xmlns:a16="http://schemas.microsoft.com/office/drawing/2014/main" id="{44B0C08E-D42A-B985-CCF4-F796806B5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524000"/>
            <a:ext cx="5410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a:extLst>
              <a:ext uri="{FF2B5EF4-FFF2-40B4-BE49-F238E27FC236}">
                <a16:creationId xmlns:a16="http://schemas.microsoft.com/office/drawing/2014/main" id="{53AC7229-F777-25F7-A51E-A1660A27CCA0}"/>
              </a:ext>
            </a:extLst>
          </p:cNvPr>
          <p:cNvSpPr>
            <a:spLocks noGrp="1" noChangeArrowheads="1"/>
          </p:cNvSpPr>
          <p:nvPr>
            <p:ph type="title"/>
          </p:nvPr>
        </p:nvSpPr>
        <p:spPr>
          <a:xfrm>
            <a:off x="2342348" y="596018"/>
            <a:ext cx="7511473" cy="1312480"/>
          </a:xfrm>
        </p:spPr>
        <p:txBody>
          <a:bodyPr/>
          <a:lstStyle/>
          <a:p>
            <a:pPr>
              <a:defRPr/>
            </a:pPr>
            <a:r>
              <a:rPr lang="en-US"/>
              <a:t>Types of Denial-of-Service Attacks</a:t>
            </a:r>
          </a:p>
        </p:txBody>
      </p:sp>
      <p:sp>
        <p:nvSpPr>
          <p:cNvPr id="41988" name="Rectangle 3">
            <a:extLst>
              <a:ext uri="{FF2B5EF4-FFF2-40B4-BE49-F238E27FC236}">
                <a16:creationId xmlns:a16="http://schemas.microsoft.com/office/drawing/2014/main" id="{855B90B6-5C92-439F-5F3A-8151C9AC891E}"/>
              </a:ext>
            </a:extLst>
          </p:cNvPr>
          <p:cNvSpPr>
            <a:spLocks noGrp="1" noChangeArrowheads="1"/>
          </p:cNvSpPr>
          <p:nvPr>
            <p:ph idx="1"/>
          </p:nvPr>
        </p:nvSpPr>
        <p:spPr>
          <a:xfrm>
            <a:off x="1979614" y="1690688"/>
            <a:ext cx="4035425" cy="4252912"/>
          </a:xfrm>
        </p:spPr>
        <p:txBody>
          <a:bodyPr/>
          <a:lstStyle/>
          <a:p>
            <a:pPr fontAlgn="auto">
              <a:lnSpc>
                <a:spcPct val="90000"/>
              </a:lnSpc>
              <a:buFont typeface="Arial"/>
              <a:buChar char="•"/>
              <a:defRPr/>
            </a:pPr>
            <a:r>
              <a:rPr lang="en-US" sz="2400"/>
              <a:t>Buffer Overflow Attacks </a:t>
            </a:r>
          </a:p>
          <a:p>
            <a:pPr fontAlgn="auto">
              <a:lnSpc>
                <a:spcPct val="90000"/>
              </a:lnSpc>
              <a:buFont typeface="Arial"/>
              <a:buChar char="•"/>
              <a:defRPr/>
            </a:pPr>
            <a:r>
              <a:rPr lang="en-US" sz="2400"/>
              <a:t>SYN Flood Attack</a:t>
            </a:r>
          </a:p>
          <a:p>
            <a:pPr fontAlgn="auto">
              <a:lnSpc>
                <a:spcPct val="90000"/>
              </a:lnSpc>
              <a:buFont typeface="Arial"/>
              <a:buChar char="•"/>
              <a:defRPr/>
            </a:pPr>
            <a:r>
              <a:rPr lang="en-US" sz="2400"/>
              <a:t>Teardrop Attacks</a:t>
            </a:r>
          </a:p>
          <a:p>
            <a:pPr fontAlgn="auto">
              <a:lnSpc>
                <a:spcPct val="90000"/>
              </a:lnSpc>
              <a:buFont typeface="Arial"/>
              <a:buChar char="•"/>
              <a:defRPr/>
            </a:pPr>
            <a:r>
              <a:rPr lang="en-US" sz="2400"/>
              <a:t>Smurf Attack</a:t>
            </a:r>
          </a:p>
          <a:p>
            <a:pPr fontAlgn="auto">
              <a:lnSpc>
                <a:spcPct val="90000"/>
              </a:lnSpc>
              <a:buFont typeface="Arial"/>
              <a:buChar char="•"/>
              <a:defRPr/>
            </a:pPr>
            <a:r>
              <a:rPr lang="en-US" sz="2400"/>
              <a:t>DNS Attacks</a:t>
            </a:r>
          </a:p>
          <a:p>
            <a:pPr fontAlgn="auto">
              <a:lnSpc>
                <a:spcPct val="90000"/>
              </a:lnSpc>
              <a:buFont typeface="Arial"/>
              <a:buChar char="•"/>
              <a:defRPr/>
            </a:pPr>
            <a:r>
              <a:rPr lang="en-US" sz="2400"/>
              <a:t>Email Attacks</a:t>
            </a:r>
          </a:p>
          <a:p>
            <a:pPr fontAlgn="auto">
              <a:lnSpc>
                <a:spcPct val="90000"/>
              </a:lnSpc>
              <a:buFont typeface="Arial"/>
              <a:buChar char="•"/>
              <a:defRPr/>
            </a:pPr>
            <a:r>
              <a:rPr lang="en-US" sz="2400"/>
              <a:t>Physical Infrastructure Attacks</a:t>
            </a:r>
          </a:p>
          <a:p>
            <a:pPr fontAlgn="auto">
              <a:lnSpc>
                <a:spcPct val="90000"/>
              </a:lnSpc>
              <a:buFont typeface="Arial"/>
              <a:buChar char="•"/>
              <a:defRPr/>
            </a:pPr>
            <a:r>
              <a:rPr lang="en-US" sz="2400"/>
              <a:t>Viruses/Worms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CE7AEE2-2CD3-F901-D518-ABD1745E6137}"/>
              </a:ext>
            </a:extLst>
          </p:cNvPr>
          <p:cNvSpPr>
            <a:spLocks noGrp="1" noChangeArrowheads="1"/>
          </p:cNvSpPr>
          <p:nvPr>
            <p:ph type="title"/>
          </p:nvPr>
        </p:nvSpPr>
        <p:spPr>
          <a:xfrm>
            <a:off x="2342348" y="596018"/>
            <a:ext cx="7511473" cy="1312480"/>
          </a:xfrm>
        </p:spPr>
        <p:txBody>
          <a:bodyPr/>
          <a:lstStyle/>
          <a:p>
            <a:pPr>
              <a:defRPr/>
            </a:pPr>
            <a:r>
              <a:rPr lang="en-US"/>
              <a:t>DoS - Buffer Overflow Attacks</a:t>
            </a:r>
          </a:p>
        </p:txBody>
      </p:sp>
      <p:sp>
        <p:nvSpPr>
          <p:cNvPr id="43011" name="Rectangle 3">
            <a:extLst>
              <a:ext uri="{FF2B5EF4-FFF2-40B4-BE49-F238E27FC236}">
                <a16:creationId xmlns:a16="http://schemas.microsoft.com/office/drawing/2014/main" id="{9C0CAAF0-F3B9-C10A-E385-62624856B375}"/>
              </a:ext>
            </a:extLst>
          </p:cNvPr>
          <p:cNvSpPr>
            <a:spLocks noGrp="1" noChangeArrowheads="1"/>
          </p:cNvSpPr>
          <p:nvPr>
            <p:ph idx="1"/>
          </p:nvPr>
        </p:nvSpPr>
        <p:spPr>
          <a:xfrm>
            <a:off x="1979614" y="1690688"/>
            <a:ext cx="8224837" cy="2043112"/>
          </a:xfrm>
        </p:spPr>
        <p:txBody>
          <a:bodyPr/>
          <a:lstStyle/>
          <a:p>
            <a:pPr marL="579438" lvl="1" indent="0">
              <a:buNone/>
              <a:defRPr/>
            </a:pPr>
            <a:r>
              <a:rPr lang="en-US"/>
              <a:t>The most common DoS attack sends more traffic to a device than the program anticipates that someone might send </a:t>
            </a:r>
            <a:r>
              <a:rPr lang="en-US">
                <a:hlinkClick r:id="rId2"/>
              </a:rPr>
              <a:t>Buffer Overflow</a:t>
            </a:r>
            <a:r>
              <a:rPr lang="en-US"/>
              <a:t>.</a:t>
            </a:r>
          </a:p>
        </p:txBody>
      </p:sp>
      <p:pic>
        <p:nvPicPr>
          <p:cNvPr id="72708" name="Picture 2" descr="http://www.cse.scu.edu/~tschwarz/coen152_05/Images/wk6a2.JPG">
            <a:extLst>
              <a:ext uri="{FF2B5EF4-FFF2-40B4-BE49-F238E27FC236}">
                <a16:creationId xmlns:a16="http://schemas.microsoft.com/office/drawing/2014/main" id="{AB43C8CD-AF06-7DB4-8A12-8057360F8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962401"/>
            <a:ext cx="287655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136B11C-7730-48FE-E9A3-A70D9080BFB6}"/>
              </a:ext>
            </a:extLst>
          </p:cNvPr>
          <p:cNvSpPr>
            <a:spLocks noGrp="1" noChangeArrowheads="1"/>
          </p:cNvSpPr>
          <p:nvPr>
            <p:ph type="title"/>
          </p:nvPr>
        </p:nvSpPr>
        <p:spPr>
          <a:xfrm>
            <a:off x="2342348" y="596018"/>
            <a:ext cx="7511473" cy="1312480"/>
          </a:xfrm>
        </p:spPr>
        <p:txBody>
          <a:bodyPr/>
          <a:lstStyle/>
          <a:p>
            <a:pPr>
              <a:defRPr/>
            </a:pPr>
            <a:r>
              <a:rPr lang="en-US"/>
              <a:t>DoS - SYN Flood Attack</a:t>
            </a:r>
          </a:p>
        </p:txBody>
      </p:sp>
      <p:sp>
        <p:nvSpPr>
          <p:cNvPr id="44035" name="Rectangle 3">
            <a:extLst>
              <a:ext uri="{FF2B5EF4-FFF2-40B4-BE49-F238E27FC236}">
                <a16:creationId xmlns:a16="http://schemas.microsoft.com/office/drawing/2014/main" id="{100E6C5F-6A8E-FB7D-501A-B35EA5CE7834}"/>
              </a:ext>
            </a:extLst>
          </p:cNvPr>
          <p:cNvSpPr>
            <a:spLocks noGrp="1" noChangeArrowheads="1"/>
          </p:cNvSpPr>
          <p:nvPr>
            <p:ph idx="1"/>
          </p:nvPr>
        </p:nvSpPr>
        <p:spPr>
          <a:xfrm>
            <a:off x="2342348" y="2060898"/>
            <a:ext cx="7511472" cy="4041162"/>
          </a:xfrm>
        </p:spPr>
        <p:txBody>
          <a:bodyPr/>
          <a:lstStyle/>
          <a:p>
            <a:pPr marL="0" indent="0">
              <a:lnSpc>
                <a:spcPct val="80000"/>
              </a:lnSpc>
              <a:buNone/>
              <a:defRPr/>
            </a:pPr>
            <a:r>
              <a:rPr lang="en-US"/>
              <a:t>When connection sessions are initiated between a client and server in a network, a very small space exists to handle the usually rapid "hand-shaking" exchange of messages that sets up a session. The session-establishing packets include a SYN field that identifies the sequence order. To cause this kind of attack, an attacker can send many packets, usually from a spoofed address, thus ensuring that no response is sent.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533ABAA-2A6D-AC17-A8F7-58EE3B4A8785}"/>
              </a:ext>
            </a:extLst>
          </p:cNvPr>
          <p:cNvSpPr>
            <a:spLocks noGrp="1" noChangeArrowheads="1"/>
          </p:cNvSpPr>
          <p:nvPr>
            <p:ph type="title"/>
          </p:nvPr>
        </p:nvSpPr>
        <p:spPr>
          <a:xfrm>
            <a:off x="2342348" y="596018"/>
            <a:ext cx="7511473" cy="1312480"/>
          </a:xfrm>
        </p:spPr>
        <p:txBody>
          <a:bodyPr/>
          <a:lstStyle/>
          <a:p>
            <a:pPr>
              <a:defRPr/>
            </a:pPr>
            <a:r>
              <a:rPr lang="en-US"/>
              <a:t>DoS - Teardrop Attack</a:t>
            </a:r>
          </a:p>
        </p:txBody>
      </p:sp>
      <p:sp>
        <p:nvSpPr>
          <p:cNvPr id="45059" name="Rectangle 3">
            <a:extLst>
              <a:ext uri="{FF2B5EF4-FFF2-40B4-BE49-F238E27FC236}">
                <a16:creationId xmlns:a16="http://schemas.microsoft.com/office/drawing/2014/main" id="{877FC809-8C26-46FE-C14A-9AC8DA55BA73}"/>
              </a:ext>
            </a:extLst>
          </p:cNvPr>
          <p:cNvSpPr>
            <a:spLocks noGrp="1" noChangeArrowheads="1"/>
          </p:cNvSpPr>
          <p:nvPr>
            <p:ph idx="1"/>
          </p:nvPr>
        </p:nvSpPr>
        <p:spPr>
          <a:xfrm>
            <a:off x="1979614" y="1690688"/>
            <a:ext cx="4573587" cy="4252912"/>
          </a:xfrm>
        </p:spPr>
        <p:txBody>
          <a:bodyPr>
            <a:normAutofit lnSpcReduction="10000"/>
          </a:bodyPr>
          <a:lstStyle/>
          <a:p>
            <a:pPr marL="225425" indent="-225425">
              <a:buFont typeface="Arial"/>
              <a:buChar char="•"/>
              <a:defRPr/>
            </a:pPr>
            <a:r>
              <a:rPr lang="en-US" sz="2000"/>
              <a:t>Exploits the way that the Internet Protocol (IP) requires a packet that is too large for the next router to handle be divided into fragments. </a:t>
            </a:r>
          </a:p>
          <a:p>
            <a:pPr marL="225425" indent="-225425">
              <a:buFont typeface="Arial"/>
              <a:buChar char="•"/>
              <a:defRPr/>
            </a:pPr>
            <a:r>
              <a:rPr lang="en-US" sz="2000"/>
              <a:t>The fragmented packet identifies an offset to the beginning of the first packet that enables the entire packet to be reassembled by the receiving system. </a:t>
            </a:r>
          </a:p>
          <a:p>
            <a:pPr marL="225425" indent="-225425">
              <a:buFont typeface="Arial"/>
              <a:buChar char="•"/>
              <a:defRPr/>
            </a:pPr>
            <a:r>
              <a:rPr lang="en-US" sz="2000"/>
              <a:t>In the teardrop attack, an attacker's IP puts a confusing value in the second or later fragment. If the receiving operating system cannot cope with such fragmentation, then it can cause the system to crash.</a:t>
            </a:r>
          </a:p>
        </p:txBody>
      </p:sp>
      <p:pic>
        <p:nvPicPr>
          <p:cNvPr id="74756" name="Picture 9">
            <a:extLst>
              <a:ext uri="{FF2B5EF4-FFF2-40B4-BE49-F238E27FC236}">
                <a16:creationId xmlns:a16="http://schemas.microsoft.com/office/drawing/2014/main" id="{56843655-17A4-8445-E2C6-D0FF4D01A7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426" y="1752601"/>
            <a:ext cx="353377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Rectangle 10">
            <a:extLst>
              <a:ext uri="{FF2B5EF4-FFF2-40B4-BE49-F238E27FC236}">
                <a16:creationId xmlns:a16="http://schemas.microsoft.com/office/drawing/2014/main" id="{01ADA7E4-4450-4E28-371D-B5F936B27F79}"/>
              </a:ext>
            </a:extLst>
          </p:cNvPr>
          <p:cNvSpPr>
            <a:spLocks noChangeArrowheads="1"/>
          </p:cNvSpPr>
          <p:nvPr/>
        </p:nvSpPr>
        <p:spPr bwMode="auto">
          <a:xfrm>
            <a:off x="6677025" y="3048000"/>
            <a:ext cx="685800" cy="1828800"/>
          </a:xfrm>
          <a:prstGeom prst="rect">
            <a:avLst/>
          </a:prstGeom>
          <a:solidFill>
            <a:schemeClr val="bg1"/>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endParaRPr lang="en-ZM" altLang="en-ZM"/>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E0A4EA9-ABAF-AB3F-2224-F6866EAD3C91}"/>
              </a:ext>
            </a:extLst>
          </p:cNvPr>
          <p:cNvSpPr>
            <a:spLocks noGrp="1" noChangeArrowheads="1"/>
          </p:cNvSpPr>
          <p:nvPr>
            <p:ph type="title"/>
          </p:nvPr>
        </p:nvSpPr>
        <p:spPr>
          <a:xfrm>
            <a:off x="2342348" y="596018"/>
            <a:ext cx="7511473" cy="1312480"/>
          </a:xfrm>
        </p:spPr>
        <p:txBody>
          <a:bodyPr/>
          <a:lstStyle/>
          <a:p>
            <a:pPr>
              <a:defRPr/>
            </a:pPr>
            <a:r>
              <a:rPr lang="en-US"/>
              <a:t>DoS - Smurf Attack</a:t>
            </a:r>
          </a:p>
        </p:txBody>
      </p:sp>
      <p:pic>
        <p:nvPicPr>
          <p:cNvPr id="75779" name="Picture 7">
            <a:extLst>
              <a:ext uri="{FF2B5EF4-FFF2-40B4-BE49-F238E27FC236}">
                <a16:creationId xmlns:a16="http://schemas.microsoft.com/office/drawing/2014/main" id="{B6B64CE1-F177-9C9D-7584-76339BE958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9438" t="2213" b="16714"/>
          <a:stretch>
            <a:fillRect/>
          </a:stretch>
        </p:blipFill>
        <p:spPr bwMode="auto">
          <a:xfrm>
            <a:off x="6019800" y="1447800"/>
            <a:ext cx="4495800" cy="2717800"/>
          </a:xfrm>
          <a:noFill/>
          <a:extLst>
            <a:ext uri="{909E8E84-426E-40DD-AFC4-6F175D3DCCD1}">
              <a14:hiddenFill xmlns:a14="http://schemas.microsoft.com/office/drawing/2010/main">
                <a:solidFill>
                  <a:srgbClr val="FFFFFF"/>
                </a:solidFill>
              </a14:hiddenFill>
            </a:ext>
          </a:extLst>
        </p:spPr>
      </p:pic>
      <p:sp>
        <p:nvSpPr>
          <p:cNvPr id="46083" name="Rectangle 3">
            <a:extLst>
              <a:ext uri="{FF2B5EF4-FFF2-40B4-BE49-F238E27FC236}">
                <a16:creationId xmlns:a16="http://schemas.microsoft.com/office/drawing/2014/main" id="{C0A3B1C8-CA2E-2AA4-FC17-97A919ECEBDD}"/>
              </a:ext>
            </a:extLst>
          </p:cNvPr>
          <p:cNvSpPr>
            <a:spLocks noGrp="1" noChangeArrowheads="1"/>
          </p:cNvSpPr>
          <p:nvPr>
            <p:ph type="body" sz="half" idx="4294967295"/>
          </p:nvPr>
        </p:nvSpPr>
        <p:spPr>
          <a:xfrm>
            <a:off x="1524000" y="1690688"/>
            <a:ext cx="7545388" cy="4252912"/>
          </a:xfrm>
        </p:spPr>
        <p:txBody>
          <a:bodyPr/>
          <a:lstStyle/>
          <a:p>
            <a:pPr marL="0" indent="0">
              <a:lnSpc>
                <a:spcPct val="80000"/>
              </a:lnSpc>
              <a:buNone/>
              <a:defRPr/>
            </a:pPr>
            <a:r>
              <a:rPr lang="en-US" sz="2000"/>
              <a:t>The attacker sends an IP ping </a:t>
            </a:r>
            <a:br>
              <a:rPr lang="en-US" sz="2000"/>
            </a:br>
            <a:r>
              <a:rPr lang="en-US" sz="2000"/>
              <a:t>request to a network site. </a:t>
            </a:r>
          </a:p>
          <a:p>
            <a:pPr marL="0" indent="0">
              <a:lnSpc>
                <a:spcPct val="80000"/>
              </a:lnSpc>
              <a:buNone/>
              <a:defRPr/>
            </a:pPr>
            <a:r>
              <a:rPr lang="en-US" sz="2000"/>
              <a:t>The ping packet requests that it </a:t>
            </a:r>
            <a:br>
              <a:rPr lang="en-US" sz="2000"/>
            </a:br>
            <a:r>
              <a:rPr lang="en-US" sz="2000"/>
              <a:t>be broadcast to a number of hosts </a:t>
            </a:r>
            <a:br>
              <a:rPr lang="en-US" sz="2000"/>
            </a:br>
            <a:r>
              <a:rPr lang="en-US" sz="2000"/>
              <a:t>within that local network. </a:t>
            </a:r>
          </a:p>
          <a:p>
            <a:pPr marL="0" indent="0">
              <a:lnSpc>
                <a:spcPct val="80000"/>
              </a:lnSpc>
              <a:buNone/>
              <a:defRPr/>
            </a:pPr>
            <a:r>
              <a:rPr lang="en-US" sz="2000"/>
              <a:t>The packet also indicates that the </a:t>
            </a:r>
            <a:br>
              <a:rPr lang="en-US" sz="2000"/>
            </a:br>
            <a:r>
              <a:rPr lang="en-US" sz="2000"/>
              <a:t>request is from a different site, i.e. </a:t>
            </a:r>
            <a:br>
              <a:rPr lang="en-US" sz="2000"/>
            </a:br>
            <a:r>
              <a:rPr lang="en-US" sz="2000"/>
              <a:t>the victim site that is to receive the </a:t>
            </a:r>
            <a:br>
              <a:rPr lang="en-US" sz="2000"/>
            </a:br>
            <a:r>
              <a:rPr lang="en-US" sz="2000"/>
              <a:t>denial of service. </a:t>
            </a:r>
          </a:p>
          <a:p>
            <a:pPr marL="0" indent="0">
              <a:lnSpc>
                <a:spcPct val="80000"/>
              </a:lnSpc>
              <a:buNone/>
              <a:defRPr/>
            </a:pPr>
            <a:r>
              <a:rPr lang="en-US" sz="2000"/>
              <a:t>This is called IP Spoofing--the victim site becomes the address of the originating packet. </a:t>
            </a:r>
          </a:p>
          <a:p>
            <a:pPr marL="0" indent="0">
              <a:lnSpc>
                <a:spcPct val="80000"/>
              </a:lnSpc>
              <a:buNone/>
              <a:defRPr/>
            </a:pPr>
            <a:r>
              <a:rPr lang="en-US" sz="2000"/>
              <a:t>The result is that lots of ping replies flood back to the victim host. If the flood is big enough then the victim host will no longer be able to receive or process "real" traffic.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F2F1293F-7554-A100-AC2F-D803E0FD43A2}"/>
              </a:ext>
            </a:extLst>
          </p:cNvPr>
          <p:cNvSpPr>
            <a:spLocks noGrp="1" noChangeArrowheads="1"/>
          </p:cNvSpPr>
          <p:nvPr>
            <p:ph type="title"/>
          </p:nvPr>
        </p:nvSpPr>
        <p:spPr>
          <a:xfrm>
            <a:off x="2342348" y="596018"/>
            <a:ext cx="7511473" cy="1312480"/>
          </a:xfrm>
        </p:spPr>
        <p:txBody>
          <a:bodyPr/>
          <a:lstStyle/>
          <a:p>
            <a:pPr>
              <a:defRPr/>
            </a:pPr>
            <a:r>
              <a:rPr lang="en-US"/>
              <a:t>DoS - DNS Attacks</a:t>
            </a:r>
          </a:p>
        </p:txBody>
      </p:sp>
      <p:pic>
        <p:nvPicPr>
          <p:cNvPr id="76803" name="Picture 7">
            <a:extLst>
              <a:ext uri="{FF2B5EF4-FFF2-40B4-BE49-F238E27FC236}">
                <a16:creationId xmlns:a16="http://schemas.microsoft.com/office/drawing/2014/main" id="{AAB153F2-9987-0D7C-9E2A-61424D8D9F6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257800" y="1274764"/>
            <a:ext cx="5334000" cy="2992437"/>
          </a:xfrm>
        </p:spPr>
      </p:pic>
      <p:sp>
        <p:nvSpPr>
          <p:cNvPr id="47108" name="Rectangle 3">
            <a:extLst>
              <a:ext uri="{FF2B5EF4-FFF2-40B4-BE49-F238E27FC236}">
                <a16:creationId xmlns:a16="http://schemas.microsoft.com/office/drawing/2014/main" id="{8732E437-CFBC-2168-99D2-0B5514591497}"/>
              </a:ext>
            </a:extLst>
          </p:cNvPr>
          <p:cNvSpPr>
            <a:spLocks noGrp="1" noChangeArrowheads="1"/>
          </p:cNvSpPr>
          <p:nvPr>
            <p:ph type="body" sz="half" idx="4294967295"/>
          </p:nvPr>
        </p:nvSpPr>
        <p:spPr>
          <a:xfrm>
            <a:off x="1524000" y="2224088"/>
            <a:ext cx="8305800" cy="4252912"/>
          </a:xfrm>
        </p:spPr>
        <p:txBody>
          <a:bodyPr/>
          <a:lstStyle/>
          <a:p>
            <a:pPr fontAlgn="auto">
              <a:lnSpc>
                <a:spcPct val="80000"/>
              </a:lnSpc>
              <a:buFont typeface="Arial"/>
              <a:buChar char="•"/>
              <a:defRPr/>
            </a:pPr>
            <a:r>
              <a:rPr lang="en-US" sz="2000"/>
              <a:t>A famous DNS attack was </a:t>
            </a:r>
            <a:br>
              <a:rPr lang="en-US" sz="2000"/>
            </a:br>
            <a:r>
              <a:rPr lang="en-US" sz="2000"/>
              <a:t>a DDoS "ping" attack. The </a:t>
            </a:r>
            <a:br>
              <a:rPr lang="en-US" sz="2000"/>
            </a:br>
            <a:r>
              <a:rPr lang="en-US" sz="2000"/>
              <a:t>attackers broke into </a:t>
            </a:r>
            <a:br>
              <a:rPr lang="en-US" sz="2000"/>
            </a:br>
            <a:r>
              <a:rPr lang="en-US" sz="2000"/>
              <a:t>machines on the Internet </a:t>
            </a:r>
            <a:br>
              <a:rPr lang="en-US" sz="2000"/>
            </a:br>
            <a:r>
              <a:rPr lang="en-US" sz="2000"/>
              <a:t>(popularly called "zombies") </a:t>
            </a:r>
            <a:br>
              <a:rPr lang="en-US" sz="2000"/>
            </a:br>
            <a:r>
              <a:rPr lang="en-US" sz="2000"/>
              <a:t>and sent streams of forged </a:t>
            </a:r>
            <a:br>
              <a:rPr lang="en-US" sz="2000"/>
            </a:br>
            <a:r>
              <a:rPr lang="en-US" sz="2000"/>
              <a:t>packets at the 13 DNS </a:t>
            </a:r>
            <a:br>
              <a:rPr lang="en-US" sz="2000"/>
            </a:br>
            <a:r>
              <a:rPr lang="en-US" sz="2000"/>
              <a:t>root servers via intermediary </a:t>
            </a:r>
            <a:br>
              <a:rPr lang="en-US" sz="2000"/>
            </a:br>
            <a:r>
              <a:rPr lang="en-US" sz="2000"/>
              <a:t>legitimate machines. </a:t>
            </a:r>
          </a:p>
          <a:p>
            <a:pPr fontAlgn="auto">
              <a:lnSpc>
                <a:spcPct val="80000"/>
              </a:lnSpc>
              <a:buFont typeface="Arial"/>
              <a:buChar char="•"/>
              <a:defRPr/>
            </a:pPr>
            <a:r>
              <a:rPr lang="en-US" sz="2000"/>
              <a:t>The goal was to clog the servers, and communication links on the way to the servers, so that useful traffic was gridlocked. The assault is not DNS-specific--the same attack has been used against several popular Web servers in the last few years.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2CCFA58-B99F-57FF-E5C6-D40DD472A11E}"/>
              </a:ext>
            </a:extLst>
          </p:cNvPr>
          <p:cNvSpPr>
            <a:spLocks noGrp="1" noChangeArrowheads="1"/>
          </p:cNvSpPr>
          <p:nvPr>
            <p:ph type="title"/>
          </p:nvPr>
        </p:nvSpPr>
        <p:spPr>
          <a:xfrm>
            <a:off x="2342348" y="596018"/>
            <a:ext cx="7511473" cy="1312480"/>
          </a:xfrm>
        </p:spPr>
        <p:txBody>
          <a:bodyPr/>
          <a:lstStyle/>
          <a:p>
            <a:pPr>
              <a:defRPr/>
            </a:pPr>
            <a:r>
              <a:rPr lang="en-US"/>
              <a:t>DoS - Email Attacks</a:t>
            </a:r>
          </a:p>
        </p:txBody>
      </p:sp>
      <p:sp>
        <p:nvSpPr>
          <p:cNvPr id="48131" name="Rectangle 3">
            <a:extLst>
              <a:ext uri="{FF2B5EF4-FFF2-40B4-BE49-F238E27FC236}">
                <a16:creationId xmlns:a16="http://schemas.microsoft.com/office/drawing/2014/main" id="{499ED6F6-1C19-3ED4-7632-A96296D6FEA3}"/>
              </a:ext>
            </a:extLst>
          </p:cNvPr>
          <p:cNvSpPr>
            <a:spLocks noGrp="1" noChangeArrowheads="1"/>
          </p:cNvSpPr>
          <p:nvPr>
            <p:ph idx="1"/>
          </p:nvPr>
        </p:nvSpPr>
        <p:spPr>
          <a:xfrm>
            <a:off x="1979614" y="1690688"/>
            <a:ext cx="8224837" cy="2347912"/>
          </a:xfrm>
        </p:spPr>
        <p:txBody>
          <a:bodyPr/>
          <a:lstStyle/>
          <a:p>
            <a:pPr fontAlgn="auto">
              <a:buFont typeface="Arial"/>
              <a:buChar char="•"/>
              <a:defRPr/>
            </a:pPr>
            <a:r>
              <a:rPr lang="en-US" sz="2400"/>
              <a:t>When using Microsoft Outlook, a script reads your address book and sends a copy of itself to everyone listed there, thus propagating itself around the Internet. </a:t>
            </a:r>
          </a:p>
          <a:p>
            <a:pPr fontAlgn="auto">
              <a:buFont typeface="Arial"/>
              <a:buChar char="•"/>
              <a:defRPr/>
            </a:pPr>
            <a:r>
              <a:rPr lang="en-US" sz="2400"/>
              <a:t>The script then modifies the computer’s registry so that the script runs itself again when restarted.  </a:t>
            </a:r>
          </a:p>
        </p:txBody>
      </p:sp>
      <p:pic>
        <p:nvPicPr>
          <p:cNvPr id="78852" name="Picture 2" descr="http://news.cnet.com/i/ne/pg/fd_2005/051018_spam_184x138.jpg">
            <a:extLst>
              <a:ext uri="{FF2B5EF4-FFF2-40B4-BE49-F238E27FC236}">
                <a16:creationId xmlns:a16="http://schemas.microsoft.com/office/drawing/2014/main" id="{01CD515A-0F7E-2E47-3990-7AE5FDC06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267200"/>
            <a:ext cx="17526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FDD2B55-7E5B-B851-A652-7A67999D6CAA}"/>
              </a:ext>
            </a:extLst>
          </p:cNvPr>
          <p:cNvSpPr>
            <a:spLocks noGrp="1" noChangeArrowheads="1"/>
          </p:cNvSpPr>
          <p:nvPr>
            <p:ph type="title"/>
          </p:nvPr>
        </p:nvSpPr>
        <p:spPr>
          <a:xfrm>
            <a:off x="2342348" y="596018"/>
            <a:ext cx="7511473" cy="1312480"/>
          </a:xfrm>
        </p:spPr>
        <p:txBody>
          <a:bodyPr/>
          <a:lstStyle/>
          <a:p>
            <a:pPr>
              <a:defRPr/>
            </a:pPr>
            <a:r>
              <a:rPr lang="en-US"/>
              <a:t>DoS - Physical Infrastructure Attacks</a:t>
            </a:r>
          </a:p>
        </p:txBody>
      </p:sp>
      <p:sp>
        <p:nvSpPr>
          <p:cNvPr id="49155" name="Rectangle 3">
            <a:extLst>
              <a:ext uri="{FF2B5EF4-FFF2-40B4-BE49-F238E27FC236}">
                <a16:creationId xmlns:a16="http://schemas.microsoft.com/office/drawing/2014/main" id="{1412CA60-C290-934A-45EA-A43A6840ED23}"/>
              </a:ext>
            </a:extLst>
          </p:cNvPr>
          <p:cNvSpPr>
            <a:spLocks noGrp="1" noChangeArrowheads="1"/>
          </p:cNvSpPr>
          <p:nvPr>
            <p:ph idx="1"/>
          </p:nvPr>
        </p:nvSpPr>
        <p:spPr>
          <a:xfrm>
            <a:off x="1979614" y="1690688"/>
            <a:ext cx="8224837" cy="2049462"/>
          </a:xfrm>
        </p:spPr>
        <p:txBody>
          <a:bodyPr>
            <a:normAutofit/>
          </a:bodyPr>
          <a:lstStyle/>
          <a:p>
            <a:pPr fontAlgn="auto">
              <a:buFont typeface="Arial"/>
              <a:buChar char="•"/>
              <a:defRPr/>
            </a:pPr>
            <a:r>
              <a:rPr lang="en-US" sz="2400"/>
              <a:t>Someone can just simply snip your cables! Fortunately this can be quickly noticed and dealt with. </a:t>
            </a:r>
          </a:p>
          <a:p>
            <a:pPr fontAlgn="auto">
              <a:buFont typeface="Arial"/>
              <a:buChar char="•"/>
              <a:defRPr/>
            </a:pPr>
            <a:r>
              <a:rPr lang="en-US" sz="2400"/>
              <a:t>Other physical infrastructure attacks can include recycling systems, affecting power to systems and actual destruction of computers or storage devices.</a:t>
            </a:r>
          </a:p>
          <a:p>
            <a:pPr fontAlgn="auto">
              <a:buFont typeface="Arial"/>
              <a:buChar char="•"/>
              <a:defRPr/>
            </a:pPr>
            <a:endParaRPr lang="en-US" sz="2400"/>
          </a:p>
        </p:txBody>
      </p:sp>
      <p:pic>
        <p:nvPicPr>
          <p:cNvPr id="80900" name="Picture 2" descr="http://hdbizblog.com/blog/wp-content/uploads/2007/06/911attack.jpg">
            <a:extLst>
              <a:ext uri="{FF2B5EF4-FFF2-40B4-BE49-F238E27FC236}">
                <a16:creationId xmlns:a16="http://schemas.microsoft.com/office/drawing/2014/main" id="{CDBC06AD-82BB-2902-8900-FEBDC399D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1" y="4419601"/>
            <a:ext cx="2011363"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Picture 4" descr="Oklahoma City">
            <a:extLst>
              <a:ext uri="{FF2B5EF4-FFF2-40B4-BE49-F238E27FC236}">
                <a16:creationId xmlns:a16="http://schemas.microsoft.com/office/drawing/2014/main" id="{00327701-4E37-FE28-BD9A-A287BF81B2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419600"/>
            <a:ext cx="14478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7B179CB-A6A3-B83B-092C-E6CD468CAF4E}"/>
              </a:ext>
            </a:extLst>
          </p:cNvPr>
          <p:cNvSpPr>
            <a:spLocks noGrp="1" noChangeArrowheads="1"/>
          </p:cNvSpPr>
          <p:nvPr>
            <p:ph type="title"/>
          </p:nvPr>
        </p:nvSpPr>
        <p:spPr>
          <a:xfrm>
            <a:off x="2342348" y="596018"/>
            <a:ext cx="7511473" cy="1312480"/>
          </a:xfrm>
        </p:spPr>
        <p:txBody>
          <a:bodyPr/>
          <a:lstStyle/>
          <a:p>
            <a:pPr>
              <a:defRPr/>
            </a:pPr>
            <a:r>
              <a:rPr lang="en-US"/>
              <a:t>DoS - Viruses/Worms</a:t>
            </a:r>
          </a:p>
        </p:txBody>
      </p:sp>
      <p:sp>
        <p:nvSpPr>
          <p:cNvPr id="50179" name="Rectangle 3">
            <a:extLst>
              <a:ext uri="{FF2B5EF4-FFF2-40B4-BE49-F238E27FC236}">
                <a16:creationId xmlns:a16="http://schemas.microsoft.com/office/drawing/2014/main" id="{8B724B40-E632-A5AB-94BF-3BB6B608E780}"/>
              </a:ext>
            </a:extLst>
          </p:cNvPr>
          <p:cNvSpPr>
            <a:spLocks noGrp="1" noChangeArrowheads="1"/>
          </p:cNvSpPr>
          <p:nvPr>
            <p:ph idx="1"/>
          </p:nvPr>
        </p:nvSpPr>
        <p:spPr>
          <a:xfrm>
            <a:off x="1979614" y="1690688"/>
            <a:ext cx="8224837" cy="2728912"/>
          </a:xfrm>
        </p:spPr>
        <p:txBody>
          <a:bodyPr>
            <a:normAutofit/>
          </a:bodyPr>
          <a:lstStyle/>
          <a:p>
            <a:pPr fontAlgn="auto">
              <a:lnSpc>
                <a:spcPct val="90000"/>
              </a:lnSpc>
              <a:buFont typeface="Arial"/>
              <a:buChar char="•"/>
              <a:defRPr/>
            </a:pPr>
            <a:r>
              <a:rPr lang="en-US" sz="2400"/>
              <a:t>Viruses or worms, which replicate across a network in various ways, can be viewed as denial-of-service attacks where the victim is not usually specifically targeted but simply a host unlucky enough to get the virus. </a:t>
            </a:r>
          </a:p>
          <a:p>
            <a:pPr fontAlgn="auto">
              <a:lnSpc>
                <a:spcPct val="90000"/>
              </a:lnSpc>
              <a:buFont typeface="Arial"/>
              <a:buChar char="•"/>
              <a:defRPr/>
            </a:pPr>
            <a:r>
              <a:rPr lang="en-US" sz="2400"/>
              <a:t>Available bandwidth can become saturated as the virus/worm attempts to replicate itself and find new victims. </a:t>
            </a:r>
          </a:p>
        </p:txBody>
      </p:sp>
      <p:pic>
        <p:nvPicPr>
          <p:cNvPr id="81924" name="Picture 2" descr="http://www.trainsignaltraining.com/wpnew/wp-content/uploads/2008/01/Trojan%20horses,%20viruses,%20worms_1.jpg">
            <a:extLst>
              <a:ext uri="{FF2B5EF4-FFF2-40B4-BE49-F238E27FC236}">
                <a16:creationId xmlns:a16="http://schemas.microsoft.com/office/drawing/2014/main" id="{FB304372-9B94-AED6-54CC-EA7A28CB6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191000"/>
            <a:ext cx="27813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8875B99-D348-165C-0734-D14CF40F161A}"/>
              </a:ext>
            </a:extLst>
          </p:cNvPr>
          <p:cNvSpPr>
            <a:spLocks noGrp="1" noChangeArrowheads="1"/>
          </p:cNvSpPr>
          <p:nvPr>
            <p:ph type="title"/>
          </p:nvPr>
        </p:nvSpPr>
        <p:spPr>
          <a:xfrm>
            <a:off x="2342348" y="596018"/>
            <a:ext cx="7511473" cy="1312480"/>
          </a:xfrm>
        </p:spPr>
        <p:txBody>
          <a:bodyPr/>
          <a:lstStyle/>
          <a:p>
            <a:pPr>
              <a:defRPr/>
            </a:pPr>
            <a:r>
              <a:rPr lang="en-US"/>
              <a:t>Malicious Code Attacks</a:t>
            </a:r>
          </a:p>
        </p:txBody>
      </p:sp>
      <p:pic>
        <p:nvPicPr>
          <p:cNvPr id="83971" name="Picture 7">
            <a:extLst>
              <a:ext uri="{FF2B5EF4-FFF2-40B4-BE49-F238E27FC236}">
                <a16:creationId xmlns:a16="http://schemas.microsoft.com/office/drawing/2014/main" id="{47619D0E-1B04-6A27-AB4B-DBBA0D48DDF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80175" y="2540000"/>
            <a:ext cx="3409950" cy="2552700"/>
          </a:xfrm>
          <a:noFill/>
          <a:extLst>
            <a:ext uri="{909E8E84-426E-40DD-AFC4-6F175D3DCCD1}">
              <a14:hiddenFill xmlns:a14="http://schemas.microsoft.com/office/drawing/2010/main">
                <a:solidFill>
                  <a:srgbClr val="FFFFFF"/>
                </a:solidFill>
              </a14:hiddenFill>
            </a:ext>
          </a:extLst>
        </p:spPr>
      </p:pic>
      <p:sp>
        <p:nvSpPr>
          <p:cNvPr id="51203" name="Rectangle 3">
            <a:extLst>
              <a:ext uri="{FF2B5EF4-FFF2-40B4-BE49-F238E27FC236}">
                <a16:creationId xmlns:a16="http://schemas.microsoft.com/office/drawing/2014/main" id="{EEEFC2DD-FC19-7562-E97D-A7723E5F852E}"/>
              </a:ext>
            </a:extLst>
          </p:cNvPr>
          <p:cNvSpPr>
            <a:spLocks noGrp="1" noChangeArrowheads="1"/>
          </p:cNvSpPr>
          <p:nvPr>
            <p:ph type="body" sz="half" idx="4294967295"/>
          </p:nvPr>
        </p:nvSpPr>
        <p:spPr>
          <a:xfrm>
            <a:off x="1524001" y="1690688"/>
            <a:ext cx="4035425" cy="4252912"/>
          </a:xfrm>
        </p:spPr>
        <p:txBody>
          <a:bodyPr/>
          <a:lstStyle/>
          <a:p>
            <a:pPr fontAlgn="auto">
              <a:lnSpc>
                <a:spcPct val="80000"/>
              </a:lnSpc>
              <a:buFont typeface="Arial"/>
              <a:buChar char="•"/>
              <a:defRPr/>
            </a:pPr>
            <a:r>
              <a:rPr lang="en-US" sz="2000"/>
              <a:t>Refers to viruses, worms, Trojan horses, logic bombs, and other uninvited software</a:t>
            </a:r>
          </a:p>
          <a:p>
            <a:pPr fontAlgn="auto">
              <a:lnSpc>
                <a:spcPct val="80000"/>
              </a:lnSpc>
              <a:buFont typeface="Arial"/>
              <a:buChar char="•"/>
              <a:defRPr/>
            </a:pPr>
            <a:r>
              <a:rPr lang="en-US" sz="2000"/>
              <a:t>Damage personal computers, but also attack systems that are more sophisticated</a:t>
            </a:r>
          </a:p>
          <a:p>
            <a:pPr fontAlgn="auto">
              <a:lnSpc>
                <a:spcPct val="80000"/>
              </a:lnSpc>
              <a:buFont typeface="Arial"/>
              <a:buChar char="•"/>
              <a:defRPr/>
            </a:pPr>
            <a:r>
              <a:rPr lang="en-US" sz="2000"/>
              <a:t>Actual costs attributed to the presence of malicious code have resulted primarily from system outages and staff time involved in repairing the systems </a:t>
            </a:r>
          </a:p>
          <a:p>
            <a:pPr fontAlgn="auto">
              <a:lnSpc>
                <a:spcPct val="80000"/>
              </a:lnSpc>
              <a:buFont typeface="Arial"/>
              <a:buChar char="•"/>
              <a:defRPr/>
            </a:pPr>
            <a:r>
              <a:rPr lang="en-US" sz="2000"/>
              <a:t>Costs can be significant</a:t>
            </a:r>
          </a:p>
          <a:p>
            <a:pPr fontAlgn="auto">
              <a:lnSpc>
                <a:spcPct val="80000"/>
              </a:lnSpc>
              <a:buFont typeface="Arial"/>
              <a:buChar char="•"/>
              <a:defRPr/>
            </a:pPr>
            <a:endParaRPr lang="en-US"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C3614EA-6B08-CA8A-E408-A86A364BDEB3}"/>
              </a:ext>
            </a:extLst>
          </p:cNvPr>
          <p:cNvSpPr>
            <a:spLocks noGrp="1" noChangeArrowheads="1"/>
          </p:cNvSpPr>
          <p:nvPr>
            <p:ph type="title"/>
          </p:nvPr>
        </p:nvSpPr>
        <p:spPr>
          <a:xfrm>
            <a:off x="2342348" y="596018"/>
            <a:ext cx="7511473" cy="1312480"/>
          </a:xfrm>
        </p:spPr>
        <p:txBody>
          <a:bodyPr/>
          <a:lstStyle/>
          <a:p>
            <a:pPr>
              <a:defRPr/>
            </a:pPr>
            <a:r>
              <a:rPr lang="en-US"/>
              <a:t>Packet Sniffing Attacks</a:t>
            </a:r>
          </a:p>
        </p:txBody>
      </p:sp>
      <p:pic>
        <p:nvPicPr>
          <p:cNvPr id="84995" name="Picture 7">
            <a:extLst>
              <a:ext uri="{FF2B5EF4-FFF2-40B4-BE49-F238E27FC236}">
                <a16:creationId xmlns:a16="http://schemas.microsoft.com/office/drawing/2014/main" id="{712D7F37-50F6-8DE9-0CE6-4257667A3B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5513" y="1601788"/>
            <a:ext cx="4343400" cy="2443162"/>
          </a:xfrm>
        </p:spPr>
      </p:pic>
      <p:sp>
        <p:nvSpPr>
          <p:cNvPr id="52228" name="Rectangle 3">
            <a:extLst>
              <a:ext uri="{FF2B5EF4-FFF2-40B4-BE49-F238E27FC236}">
                <a16:creationId xmlns:a16="http://schemas.microsoft.com/office/drawing/2014/main" id="{34022FAF-7FBE-482E-1B63-A4FBE30D521E}"/>
              </a:ext>
            </a:extLst>
          </p:cNvPr>
          <p:cNvSpPr>
            <a:spLocks noGrp="1" noChangeArrowheads="1"/>
          </p:cNvSpPr>
          <p:nvPr>
            <p:ph type="body" sz="half" idx="4294967295"/>
          </p:nvPr>
        </p:nvSpPr>
        <p:spPr>
          <a:xfrm>
            <a:off x="1524000" y="4044950"/>
            <a:ext cx="8224838" cy="2051050"/>
          </a:xfrm>
        </p:spPr>
        <p:txBody>
          <a:bodyPr/>
          <a:lstStyle/>
          <a:p>
            <a:pPr fontAlgn="auto">
              <a:lnSpc>
                <a:spcPct val="80000"/>
              </a:lnSpc>
              <a:buFont typeface="Arial"/>
              <a:buChar char="•"/>
              <a:defRPr/>
            </a:pPr>
            <a:r>
              <a:rPr lang="en-US" sz="2000"/>
              <a:t>Most organization LANs are Ethernet networks</a:t>
            </a:r>
          </a:p>
          <a:p>
            <a:pPr fontAlgn="auto">
              <a:lnSpc>
                <a:spcPct val="80000"/>
              </a:lnSpc>
              <a:buFont typeface="Arial"/>
              <a:buChar char="•"/>
              <a:defRPr/>
            </a:pPr>
            <a:r>
              <a:rPr lang="en-US" sz="2000"/>
              <a:t>On Ethernet-based networks, any machine on the network can see the traffic for every machine on that network</a:t>
            </a:r>
          </a:p>
          <a:p>
            <a:pPr fontAlgn="auto">
              <a:lnSpc>
                <a:spcPct val="80000"/>
              </a:lnSpc>
              <a:buFont typeface="Arial"/>
              <a:buChar char="•"/>
              <a:defRPr/>
            </a:pPr>
            <a:r>
              <a:rPr lang="en-US" sz="2000"/>
              <a:t>Sniffer programs exploit this characteristic, monitoring all traffic and capturing the first 128 bytes or so of every unencrypted FTP or Telnet session (the part that contains user passwords)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F895E13-4054-C4DA-A31E-13DE4BDF60AD}"/>
              </a:ext>
            </a:extLst>
          </p:cNvPr>
          <p:cNvSpPr>
            <a:spLocks noGrp="1" noChangeArrowheads="1"/>
          </p:cNvSpPr>
          <p:nvPr>
            <p:ph type="title"/>
          </p:nvPr>
        </p:nvSpPr>
        <p:spPr>
          <a:xfrm>
            <a:off x="2342348" y="596018"/>
            <a:ext cx="7511473" cy="1312480"/>
          </a:xfrm>
        </p:spPr>
        <p:txBody>
          <a:bodyPr/>
          <a:lstStyle/>
          <a:p>
            <a:pPr>
              <a:defRPr/>
            </a:pPr>
            <a:r>
              <a:rPr lang="en-US"/>
              <a:t>Information Leakage Attacks</a:t>
            </a:r>
          </a:p>
        </p:txBody>
      </p:sp>
      <p:sp>
        <p:nvSpPr>
          <p:cNvPr id="53251" name="Rectangle 3">
            <a:extLst>
              <a:ext uri="{FF2B5EF4-FFF2-40B4-BE49-F238E27FC236}">
                <a16:creationId xmlns:a16="http://schemas.microsoft.com/office/drawing/2014/main" id="{EA54887A-1316-AE00-21FD-26B31DC89348}"/>
              </a:ext>
            </a:extLst>
          </p:cNvPr>
          <p:cNvSpPr>
            <a:spLocks noGrp="1" noChangeArrowheads="1"/>
          </p:cNvSpPr>
          <p:nvPr>
            <p:ph idx="1"/>
          </p:nvPr>
        </p:nvSpPr>
        <p:spPr>
          <a:xfrm>
            <a:off x="1981200" y="1447801"/>
            <a:ext cx="8229600" cy="4525963"/>
          </a:xfrm>
        </p:spPr>
        <p:txBody>
          <a:bodyPr/>
          <a:lstStyle/>
          <a:p>
            <a:pPr fontAlgn="auto">
              <a:lnSpc>
                <a:spcPct val="90000"/>
              </a:lnSpc>
              <a:buFont typeface="Arial"/>
              <a:buChar char="•"/>
              <a:defRPr/>
            </a:pPr>
            <a:r>
              <a:rPr lang="en-US" sz="2400"/>
              <a:t>Attackers can sometimes get data without having to directly use computers </a:t>
            </a:r>
          </a:p>
          <a:p>
            <a:pPr fontAlgn="auto">
              <a:lnSpc>
                <a:spcPct val="90000"/>
              </a:lnSpc>
              <a:buFont typeface="Arial"/>
              <a:buChar char="•"/>
              <a:defRPr/>
            </a:pPr>
            <a:r>
              <a:rPr lang="en-US" sz="2400"/>
              <a:t>Exploit Internet services that are intended to give out information </a:t>
            </a:r>
          </a:p>
          <a:p>
            <a:pPr fontAlgn="auto">
              <a:lnSpc>
                <a:spcPct val="90000"/>
              </a:lnSpc>
              <a:buFont typeface="Arial"/>
              <a:buChar char="•"/>
              <a:defRPr/>
            </a:pPr>
            <a:r>
              <a:rPr lang="en-US" sz="2400"/>
              <a:t>Induce these services to reveal extra information or to give it out to unauthorized people </a:t>
            </a:r>
          </a:p>
          <a:p>
            <a:pPr fontAlgn="auto">
              <a:lnSpc>
                <a:spcPct val="90000"/>
              </a:lnSpc>
              <a:buFont typeface="Arial"/>
              <a:buChar char="•"/>
              <a:defRPr/>
            </a:pPr>
            <a:r>
              <a:rPr lang="en-US" sz="2400"/>
              <a:t>Many services designed for use on local area networks do not have the security needed for safe use across the Internet</a:t>
            </a:r>
          </a:p>
          <a:p>
            <a:pPr fontAlgn="auto">
              <a:lnSpc>
                <a:spcPct val="90000"/>
              </a:lnSpc>
              <a:buFont typeface="Arial"/>
              <a:buChar char="•"/>
              <a:defRPr/>
            </a:pPr>
            <a:r>
              <a:rPr lang="en-US" sz="2400"/>
              <a:t>Thus these services become the means for important information leakage</a:t>
            </a:r>
          </a:p>
          <a:p>
            <a:pPr fontAlgn="auto">
              <a:lnSpc>
                <a:spcPct val="90000"/>
              </a:lnSpc>
              <a:buFont typeface="Arial"/>
              <a:buChar char="•"/>
              <a:defRPr/>
            </a:pPr>
            <a:endParaRPr lang="en-US" sz="2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C3CBB06-7375-608B-5FEB-2B16241915C0}"/>
              </a:ext>
            </a:extLst>
          </p:cNvPr>
          <p:cNvSpPr>
            <a:spLocks noGrp="1" noChangeArrowheads="1"/>
          </p:cNvSpPr>
          <p:nvPr>
            <p:ph type="title"/>
          </p:nvPr>
        </p:nvSpPr>
        <p:spPr>
          <a:xfrm>
            <a:off x="2342348" y="596018"/>
            <a:ext cx="7511473" cy="1312480"/>
          </a:xfrm>
        </p:spPr>
        <p:txBody>
          <a:bodyPr/>
          <a:lstStyle/>
          <a:p>
            <a:pPr>
              <a:defRPr/>
            </a:pPr>
            <a:r>
              <a:rPr lang="en-US"/>
              <a:t>Social Engineering Attacks</a:t>
            </a:r>
          </a:p>
        </p:txBody>
      </p:sp>
      <p:sp>
        <p:nvSpPr>
          <p:cNvPr id="54275" name="Rectangle 3">
            <a:extLst>
              <a:ext uri="{FF2B5EF4-FFF2-40B4-BE49-F238E27FC236}">
                <a16:creationId xmlns:a16="http://schemas.microsoft.com/office/drawing/2014/main" id="{71711EFE-BC2E-95DC-BD8B-65F832413E98}"/>
              </a:ext>
            </a:extLst>
          </p:cNvPr>
          <p:cNvSpPr>
            <a:spLocks noGrp="1" noChangeArrowheads="1"/>
          </p:cNvSpPr>
          <p:nvPr>
            <p:ph idx="1"/>
          </p:nvPr>
        </p:nvSpPr>
        <p:spPr>
          <a:xfrm>
            <a:off x="1979614" y="1371601"/>
            <a:ext cx="8224837" cy="4252913"/>
          </a:xfrm>
        </p:spPr>
        <p:txBody>
          <a:bodyPr/>
          <a:lstStyle/>
          <a:p>
            <a:pPr fontAlgn="auto">
              <a:lnSpc>
                <a:spcPct val="90000"/>
              </a:lnSpc>
              <a:buFont typeface="Arial"/>
              <a:buChar char="•"/>
              <a:defRPr/>
            </a:pPr>
            <a:r>
              <a:rPr lang="en-US" sz="2400"/>
              <a:t>Hacker-speak for tricking a person into revealing some confidential information</a:t>
            </a:r>
          </a:p>
          <a:p>
            <a:pPr fontAlgn="auto">
              <a:lnSpc>
                <a:spcPct val="90000"/>
              </a:lnSpc>
              <a:buFont typeface="Arial"/>
              <a:buChar char="•"/>
              <a:defRPr/>
            </a:pPr>
            <a:r>
              <a:rPr lang="en-US" sz="2400"/>
              <a:t>An attack based on deceiving users or administrators at the target site </a:t>
            </a:r>
          </a:p>
          <a:p>
            <a:pPr fontAlgn="auto">
              <a:lnSpc>
                <a:spcPct val="90000"/>
              </a:lnSpc>
              <a:buFont typeface="Arial"/>
              <a:buChar char="•"/>
              <a:defRPr/>
            </a:pPr>
            <a:r>
              <a:rPr lang="en-US" sz="2400"/>
              <a:t>Done to gain illicit access to systems or useful information </a:t>
            </a:r>
          </a:p>
          <a:p>
            <a:pPr fontAlgn="auto">
              <a:lnSpc>
                <a:spcPct val="90000"/>
              </a:lnSpc>
              <a:buFont typeface="Arial"/>
              <a:buChar char="•"/>
              <a:defRPr/>
            </a:pPr>
            <a:r>
              <a:rPr lang="en-US" sz="2400"/>
              <a:t>The goals of social engineering are fraud, network intrusion, industrial espionage, identity theft, etc.</a:t>
            </a:r>
          </a:p>
          <a:p>
            <a:pPr fontAlgn="auto">
              <a:lnSpc>
                <a:spcPct val="90000"/>
              </a:lnSpc>
              <a:buFont typeface="Arial"/>
              <a:buChar char="•"/>
              <a:defRPr/>
            </a:pPr>
            <a:endParaRPr lang="en-US" sz="2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EF75528-2826-8521-801B-008AF19B4E4A}"/>
              </a:ext>
            </a:extLst>
          </p:cNvPr>
          <p:cNvSpPr>
            <a:spLocks noGrp="1" noChangeArrowheads="1"/>
          </p:cNvSpPr>
          <p:nvPr>
            <p:ph type="title"/>
          </p:nvPr>
        </p:nvSpPr>
        <p:spPr>
          <a:xfrm>
            <a:off x="2342348" y="596018"/>
            <a:ext cx="7511473" cy="1312480"/>
          </a:xfrm>
        </p:spPr>
        <p:txBody>
          <a:bodyPr/>
          <a:lstStyle/>
          <a:p>
            <a:pPr>
              <a:defRPr/>
            </a:pPr>
            <a:r>
              <a:rPr lang="en-US"/>
              <a:t>Attack Methodology</a:t>
            </a:r>
          </a:p>
        </p:txBody>
      </p:sp>
      <p:sp>
        <p:nvSpPr>
          <p:cNvPr id="55299" name="Rectangle 3">
            <a:extLst>
              <a:ext uri="{FF2B5EF4-FFF2-40B4-BE49-F238E27FC236}">
                <a16:creationId xmlns:a16="http://schemas.microsoft.com/office/drawing/2014/main" id="{DFDF15EC-806D-C3D4-C192-E344597B34CC}"/>
              </a:ext>
            </a:extLst>
          </p:cNvPr>
          <p:cNvSpPr>
            <a:spLocks noGrp="1" noChangeArrowheads="1"/>
          </p:cNvSpPr>
          <p:nvPr>
            <p:ph idx="1"/>
          </p:nvPr>
        </p:nvSpPr>
        <p:spPr>
          <a:xfrm>
            <a:off x="1828800" y="1524000"/>
            <a:ext cx="8375650" cy="4724400"/>
          </a:xfrm>
        </p:spPr>
        <p:txBody>
          <a:bodyPr/>
          <a:lstStyle/>
          <a:p>
            <a:pPr marL="0" indent="0">
              <a:spcBef>
                <a:spcPts val="600"/>
              </a:spcBef>
              <a:buNone/>
              <a:defRPr/>
            </a:pPr>
            <a:r>
              <a:rPr lang="en-US" sz="2400" b="1"/>
              <a:t>Stages</a:t>
            </a:r>
            <a:r>
              <a:rPr lang="en-US" sz="2400"/>
              <a:t> - the methodology of network attacks is well documented and researched. This research has led to greater understanding of network attacks and an entire specialization of engineers that test and protect networks against attacks (Certified Ethical Hackers/Penetration Testers)</a:t>
            </a:r>
          </a:p>
          <a:p>
            <a:pPr marL="0" indent="0">
              <a:spcBef>
                <a:spcPts val="600"/>
              </a:spcBef>
              <a:buNone/>
              <a:defRPr/>
            </a:pPr>
            <a:r>
              <a:rPr lang="en-US" sz="2400" b="1"/>
              <a:t>Tools</a:t>
            </a:r>
            <a:r>
              <a:rPr lang="en-US" sz="2400"/>
              <a:t> - penetration testers have a variety of power tools that are now commercially available. They also have may open source free tools. This proliferation of powerful tools has increased the threat of attack due to the fact that even technical novices can now launch sophisticated attacks.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028D676-63E9-E280-4F00-1620C07381C4}"/>
              </a:ext>
            </a:extLst>
          </p:cNvPr>
          <p:cNvSpPr>
            <a:spLocks noGrp="1" noChangeArrowheads="1"/>
          </p:cNvSpPr>
          <p:nvPr>
            <p:ph type="title"/>
          </p:nvPr>
        </p:nvSpPr>
        <p:spPr>
          <a:xfrm>
            <a:off x="2342348" y="596018"/>
            <a:ext cx="7511473" cy="1312480"/>
          </a:xfrm>
        </p:spPr>
        <p:txBody>
          <a:bodyPr/>
          <a:lstStyle/>
          <a:p>
            <a:pPr>
              <a:defRPr/>
            </a:pPr>
            <a:r>
              <a:rPr lang="en-US"/>
              <a:t>Stages of an Attack</a:t>
            </a:r>
          </a:p>
        </p:txBody>
      </p:sp>
      <p:sp>
        <p:nvSpPr>
          <p:cNvPr id="56323" name="Rectangle 3">
            <a:extLst>
              <a:ext uri="{FF2B5EF4-FFF2-40B4-BE49-F238E27FC236}">
                <a16:creationId xmlns:a16="http://schemas.microsoft.com/office/drawing/2014/main" id="{E0D441F5-3B3A-4E0D-F6EB-9BC060EAFB24}"/>
              </a:ext>
            </a:extLst>
          </p:cNvPr>
          <p:cNvSpPr>
            <a:spLocks noGrp="1" noChangeArrowheads="1"/>
          </p:cNvSpPr>
          <p:nvPr>
            <p:ph idx="1"/>
          </p:nvPr>
        </p:nvSpPr>
        <p:spPr>
          <a:xfrm>
            <a:off x="1979614" y="1447800"/>
            <a:ext cx="8224837" cy="5029200"/>
          </a:xfrm>
        </p:spPr>
        <p:txBody>
          <a:bodyPr/>
          <a:lstStyle/>
          <a:p>
            <a:pPr fontAlgn="auto">
              <a:buFont typeface="Arial"/>
              <a:buChar char="•"/>
              <a:defRPr/>
            </a:pPr>
            <a:r>
              <a:rPr lang="en-US" sz="2400"/>
              <a:t>Today’s attackers have a abundance of targets. In fact their greatest challenge is to select the most vulnerable victims.  This has resulted in very well- planned and structured attacks. These attacks have common logistical and strategic stages. These stages include;</a:t>
            </a:r>
          </a:p>
          <a:p>
            <a:pPr lvl="1" fontAlgn="auto">
              <a:buFont typeface="Arial"/>
              <a:buChar char="•"/>
              <a:defRPr/>
            </a:pPr>
            <a:r>
              <a:rPr lang="en-US"/>
              <a:t>Reconnaissance</a:t>
            </a:r>
          </a:p>
          <a:p>
            <a:pPr lvl="1" fontAlgn="auto">
              <a:buFont typeface="Arial"/>
              <a:buChar char="•"/>
              <a:defRPr/>
            </a:pPr>
            <a:r>
              <a:rPr lang="en-US"/>
              <a:t>Scanning (addresses, ports, vulnerabilities)</a:t>
            </a:r>
          </a:p>
          <a:p>
            <a:pPr lvl="1" fontAlgn="auto">
              <a:buFont typeface="Arial"/>
              <a:buChar char="•"/>
              <a:defRPr/>
            </a:pPr>
            <a:r>
              <a:rPr lang="en-US"/>
              <a:t>Gaining access</a:t>
            </a:r>
          </a:p>
          <a:p>
            <a:pPr lvl="1" fontAlgn="auto">
              <a:buFont typeface="Arial"/>
              <a:buChar char="•"/>
              <a:defRPr/>
            </a:pPr>
            <a:r>
              <a:rPr lang="en-US"/>
              <a:t>Maintaining Access</a:t>
            </a:r>
          </a:p>
          <a:p>
            <a:pPr lvl="1" fontAlgn="auto">
              <a:buFont typeface="Arial"/>
              <a:buChar char="•"/>
              <a:defRPr/>
            </a:pPr>
            <a:r>
              <a:rPr lang="en-US"/>
              <a:t>Covering Tracks</a:t>
            </a:r>
          </a:p>
          <a:p>
            <a:pPr fontAlgn="auto">
              <a:buFontTx/>
              <a:buNone/>
              <a:defRPr/>
            </a:pPr>
            <a:endParaRPr 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53450F2-3754-1749-6C0E-89A53ED21FC2}"/>
              </a:ext>
            </a:extLst>
          </p:cNvPr>
          <p:cNvSpPr>
            <a:spLocks noGrp="1" noChangeArrowheads="1"/>
          </p:cNvSpPr>
          <p:nvPr>
            <p:ph type="title"/>
          </p:nvPr>
        </p:nvSpPr>
        <p:spPr>
          <a:xfrm>
            <a:off x="2342348" y="596018"/>
            <a:ext cx="7511473" cy="1312480"/>
          </a:xfrm>
        </p:spPr>
        <p:txBody>
          <a:bodyPr/>
          <a:lstStyle/>
          <a:p>
            <a:pPr>
              <a:defRPr/>
            </a:pPr>
            <a:r>
              <a:rPr lang="en-US"/>
              <a:t>Tools of the Attacker</a:t>
            </a:r>
          </a:p>
        </p:txBody>
      </p:sp>
      <p:sp>
        <p:nvSpPr>
          <p:cNvPr id="57347" name="Rectangle 3">
            <a:extLst>
              <a:ext uri="{FF2B5EF4-FFF2-40B4-BE49-F238E27FC236}">
                <a16:creationId xmlns:a16="http://schemas.microsoft.com/office/drawing/2014/main" id="{1948F207-1200-533C-E1DD-C5C5477AF6EC}"/>
              </a:ext>
            </a:extLst>
          </p:cNvPr>
          <p:cNvSpPr>
            <a:spLocks noGrp="1" noChangeArrowheads="1"/>
          </p:cNvSpPr>
          <p:nvPr>
            <p:ph idx="1"/>
          </p:nvPr>
        </p:nvSpPr>
        <p:spPr>
          <a:xfrm>
            <a:off x="2342348" y="2060898"/>
            <a:ext cx="7511472" cy="4041162"/>
          </a:xfrm>
        </p:spPr>
        <p:txBody>
          <a:bodyPr>
            <a:normAutofit/>
          </a:bodyPr>
          <a:lstStyle/>
          <a:p>
            <a:pPr fontAlgn="auto">
              <a:buFont typeface="Arial"/>
              <a:buChar char="•"/>
              <a:defRPr/>
            </a:pPr>
            <a:r>
              <a:rPr lang="en-US" sz="2400"/>
              <a:t>The following are a few of the most popular tools used by network attackers:</a:t>
            </a:r>
          </a:p>
          <a:p>
            <a:pPr lvl="1" fontAlgn="auto">
              <a:buFont typeface="Arial"/>
              <a:buChar char="•"/>
              <a:defRPr/>
            </a:pPr>
            <a:r>
              <a:rPr lang="en-US" sz="2000"/>
              <a:t>Enumeration tools (dumpreg, netview and netuser)</a:t>
            </a:r>
          </a:p>
          <a:p>
            <a:pPr lvl="1" fontAlgn="auto">
              <a:buFont typeface="Arial"/>
              <a:buChar char="•"/>
              <a:defRPr/>
            </a:pPr>
            <a:r>
              <a:rPr lang="en-US" sz="2000">
                <a:hlinkClick r:id="rId2"/>
              </a:rPr>
              <a:t>Port/address scanners </a:t>
            </a:r>
            <a:r>
              <a:rPr lang="en-US" sz="2000"/>
              <a:t>(AngryIP, </a:t>
            </a:r>
            <a:r>
              <a:rPr lang="en-US" sz="2000">
                <a:hlinkClick r:id="rId3"/>
              </a:rPr>
              <a:t>nmap</a:t>
            </a:r>
            <a:r>
              <a:rPr lang="en-US" sz="2000"/>
              <a:t>, Nessus)</a:t>
            </a:r>
          </a:p>
          <a:p>
            <a:pPr lvl="1" fontAlgn="auto">
              <a:buFont typeface="Arial"/>
              <a:buChar char="•"/>
              <a:defRPr/>
            </a:pPr>
            <a:r>
              <a:rPr lang="en-US" sz="2000">
                <a:hlinkClick r:id="rId4"/>
              </a:rPr>
              <a:t>Vulnerability scanners </a:t>
            </a:r>
            <a:r>
              <a:rPr lang="en-US" sz="2000"/>
              <a:t>(Meta Sploit, Core Impact, ISS)</a:t>
            </a:r>
          </a:p>
          <a:p>
            <a:pPr lvl="1" fontAlgn="auto">
              <a:buFont typeface="Arial"/>
              <a:buChar char="•"/>
              <a:defRPr/>
            </a:pPr>
            <a:r>
              <a:rPr lang="en-US" sz="2000"/>
              <a:t>Packet Sniffers (Snort, Wire Shark, Air Magnet)</a:t>
            </a:r>
          </a:p>
          <a:p>
            <a:pPr lvl="1" fontAlgn="auto">
              <a:buFont typeface="Arial"/>
              <a:buChar char="•"/>
              <a:defRPr/>
            </a:pPr>
            <a:r>
              <a:rPr lang="en-US" sz="2000">
                <a:hlinkClick r:id="rId5"/>
              </a:rPr>
              <a:t>Root kits</a:t>
            </a:r>
            <a:endParaRPr lang="en-US" sz="2000"/>
          </a:p>
          <a:p>
            <a:pPr lvl="1" fontAlgn="auto">
              <a:buFont typeface="Arial"/>
              <a:buChar char="•"/>
              <a:defRPr/>
            </a:pPr>
            <a:r>
              <a:rPr lang="en-US" sz="2000">
                <a:hlinkClick r:id="rId6"/>
              </a:rPr>
              <a:t>Cryptographic cracking tools </a:t>
            </a:r>
            <a:r>
              <a:rPr lang="en-US" sz="2000"/>
              <a:t>(Cain, WepCrack)</a:t>
            </a:r>
          </a:p>
          <a:p>
            <a:pPr lvl="1" fontAlgn="auto">
              <a:buFont typeface="Arial"/>
              <a:buChar char="•"/>
              <a:defRPr/>
            </a:pPr>
            <a:r>
              <a:rPr lang="en-US" sz="2000"/>
              <a:t>Malicious codes (worms, Trojan horse, time bombs)</a:t>
            </a:r>
          </a:p>
          <a:p>
            <a:pPr lvl="1" fontAlgn="auto">
              <a:buFont typeface="Arial"/>
              <a:buChar char="•"/>
              <a:defRPr/>
            </a:pPr>
            <a:r>
              <a:rPr lang="en-US" sz="2000"/>
              <a:t>System hijack tools (netcat, MetaSploit, Core Impact)</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625E164-AD2A-1E12-E71A-6B361CF282B2}"/>
              </a:ext>
            </a:extLst>
          </p:cNvPr>
          <p:cNvSpPr>
            <a:spLocks noGrp="1" noChangeArrowheads="1"/>
          </p:cNvSpPr>
          <p:nvPr>
            <p:ph type="title"/>
          </p:nvPr>
        </p:nvSpPr>
        <p:spPr>
          <a:xfrm>
            <a:off x="2342348" y="596018"/>
            <a:ext cx="7511473" cy="1312480"/>
          </a:xfrm>
        </p:spPr>
        <p:txBody>
          <a:bodyPr/>
          <a:lstStyle/>
          <a:p>
            <a:pPr>
              <a:defRPr/>
            </a:pPr>
            <a:r>
              <a:rPr lang="en-US"/>
              <a:t>Countermeasures</a:t>
            </a:r>
          </a:p>
        </p:txBody>
      </p:sp>
      <p:sp>
        <p:nvSpPr>
          <p:cNvPr id="58371" name="Rectangle 3">
            <a:extLst>
              <a:ext uri="{FF2B5EF4-FFF2-40B4-BE49-F238E27FC236}">
                <a16:creationId xmlns:a16="http://schemas.microsoft.com/office/drawing/2014/main" id="{55CEF233-5F84-F82A-E221-233B97EC6CAD}"/>
              </a:ext>
            </a:extLst>
          </p:cNvPr>
          <p:cNvSpPr>
            <a:spLocks noGrp="1" noChangeArrowheads="1"/>
          </p:cNvSpPr>
          <p:nvPr>
            <p:ph sz="half" idx="1"/>
          </p:nvPr>
        </p:nvSpPr>
        <p:spPr>
          <a:xfrm>
            <a:off x="1979614" y="1690688"/>
            <a:ext cx="8224837" cy="4252912"/>
          </a:xfrm>
        </p:spPr>
        <p:txBody>
          <a:bodyPr/>
          <a:lstStyle/>
          <a:p>
            <a:pPr marL="342900" indent="-342900">
              <a:buFont typeface="Arial"/>
              <a:buChar char="•"/>
              <a:defRPr/>
            </a:pPr>
            <a:r>
              <a:rPr lang="en-US" sz="2400"/>
              <a:t>DMZ/NAT</a:t>
            </a:r>
          </a:p>
          <a:p>
            <a:pPr marL="342900" indent="-342900">
              <a:buFont typeface="Arial"/>
              <a:buChar char="•"/>
              <a:defRPr/>
            </a:pPr>
            <a:r>
              <a:rPr lang="en-US" sz="2400"/>
              <a:t>IDS/IPS</a:t>
            </a:r>
          </a:p>
          <a:p>
            <a:pPr marL="342900" indent="-342900">
              <a:buFont typeface="Arial"/>
              <a:buChar char="•"/>
              <a:defRPr/>
            </a:pPr>
            <a:r>
              <a:rPr lang="en-US" sz="2400"/>
              <a:t>Content Filtering/NAC</a:t>
            </a:r>
          </a:p>
          <a:p>
            <a:pPr marL="342900" indent="-342900">
              <a:buFont typeface="Arial"/>
              <a:buChar char="•"/>
              <a:defRPr/>
            </a:pPr>
            <a:r>
              <a:rPr lang="en-US" sz="2400">
                <a:hlinkClick r:id="rId2"/>
              </a:rPr>
              <a:t>Firewalls</a:t>
            </a:r>
            <a:r>
              <a:rPr lang="en-US" sz="2400"/>
              <a:t>/proxy services</a:t>
            </a:r>
          </a:p>
          <a:p>
            <a:pPr marL="342900" indent="-342900">
              <a:buFont typeface="Arial"/>
              <a:buChar char="•"/>
              <a:defRPr/>
            </a:pPr>
            <a:r>
              <a:rPr lang="en-US" sz="2400"/>
              <a:t>Authentication/Authorization/Accounting</a:t>
            </a:r>
          </a:p>
          <a:p>
            <a:pPr marL="342900" indent="-342900">
              <a:buFont typeface="Arial"/>
              <a:buChar char="•"/>
              <a:defRPr/>
            </a:pPr>
            <a:r>
              <a:rPr lang="en-US" sz="2400"/>
              <a:t>Self-defending networks</a:t>
            </a:r>
          </a:p>
          <a:p>
            <a:pPr marL="342900" indent="-342900">
              <a:buFont typeface="Arial"/>
              <a:buChar char="•"/>
              <a:defRPr/>
            </a:pPr>
            <a:r>
              <a:rPr lang="en-US" sz="2400"/>
              <a:t>Policies, procedures, standards guidelines</a:t>
            </a:r>
          </a:p>
          <a:p>
            <a:pPr marL="342900" indent="-342900">
              <a:buFont typeface="Arial"/>
              <a:buChar char="•"/>
              <a:defRPr/>
            </a:pPr>
            <a:r>
              <a:rPr lang="en-US" sz="2400"/>
              <a:t>Training and awareness</a:t>
            </a:r>
          </a:p>
          <a:p>
            <a:pPr marL="342900" indent="-342900">
              <a:buFont typeface="Arial"/>
              <a:buChar char="•"/>
              <a:defRPr/>
            </a:pPr>
            <a:endParaRPr 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14849B3-1967-5D0C-C00E-4F1C575B5C18}"/>
              </a:ext>
            </a:extLst>
          </p:cNvPr>
          <p:cNvSpPr>
            <a:spLocks noGrp="1" noChangeArrowheads="1"/>
          </p:cNvSpPr>
          <p:nvPr>
            <p:ph type="title"/>
          </p:nvPr>
        </p:nvSpPr>
        <p:spPr>
          <a:xfrm>
            <a:off x="2342348" y="596018"/>
            <a:ext cx="7511473" cy="1312480"/>
          </a:xfrm>
        </p:spPr>
        <p:txBody>
          <a:bodyPr/>
          <a:lstStyle/>
          <a:p>
            <a:pPr>
              <a:defRPr/>
            </a:pPr>
            <a:r>
              <a:rPr lang="en-US"/>
              <a:t>Countermeasure Selection</a:t>
            </a:r>
          </a:p>
        </p:txBody>
      </p:sp>
      <p:sp>
        <p:nvSpPr>
          <p:cNvPr id="59395" name="Rectangle 3">
            <a:extLst>
              <a:ext uri="{FF2B5EF4-FFF2-40B4-BE49-F238E27FC236}">
                <a16:creationId xmlns:a16="http://schemas.microsoft.com/office/drawing/2014/main" id="{89FFC763-BBBA-795D-00DB-12E2101A5CA6}"/>
              </a:ext>
            </a:extLst>
          </p:cNvPr>
          <p:cNvSpPr>
            <a:spLocks noGrp="1" noChangeArrowheads="1"/>
          </p:cNvSpPr>
          <p:nvPr>
            <p:ph sz="half" idx="1"/>
          </p:nvPr>
        </p:nvSpPr>
        <p:spPr>
          <a:xfrm>
            <a:off x="1979614" y="1514476"/>
            <a:ext cx="8148637" cy="1933575"/>
          </a:xfrm>
        </p:spPr>
        <p:txBody>
          <a:bodyPr>
            <a:normAutofit/>
          </a:bodyPr>
          <a:lstStyle/>
          <a:p>
            <a:pPr marL="342900" indent="-342900">
              <a:buFont typeface="Arial"/>
              <a:buChar char="•"/>
              <a:defRPr/>
            </a:pPr>
            <a:r>
              <a:rPr lang="en-US" sz="2400"/>
              <a:t>Cost /benefit calculation</a:t>
            </a:r>
          </a:p>
          <a:p>
            <a:pPr marL="465138" lvl="1" indent="-7938">
              <a:buNone/>
              <a:defRPr/>
            </a:pPr>
            <a:r>
              <a:rPr lang="en-US" sz="2000"/>
              <a:t>(ALE before implementing safeguard) – (ALE after implementing safeguard) – (annual cost of safeguard) = value of safeguard to the company</a:t>
            </a:r>
          </a:p>
          <a:p>
            <a:pPr marL="342900" indent="-342900">
              <a:buFont typeface="Arial"/>
              <a:buChar char="•"/>
              <a:defRPr/>
            </a:pPr>
            <a:r>
              <a:rPr lang="en-US" sz="2400"/>
              <a:t>Evaluating cost of a countermeasure</a:t>
            </a:r>
          </a:p>
        </p:txBody>
      </p:sp>
      <p:sp>
        <p:nvSpPr>
          <p:cNvPr id="59396" name="Rectangle 4">
            <a:extLst>
              <a:ext uri="{FF2B5EF4-FFF2-40B4-BE49-F238E27FC236}">
                <a16:creationId xmlns:a16="http://schemas.microsoft.com/office/drawing/2014/main" id="{4DBF26E4-13CE-A781-8320-770D141EC55D}"/>
              </a:ext>
            </a:extLst>
          </p:cNvPr>
          <p:cNvSpPr>
            <a:spLocks noGrp="1" noChangeArrowheads="1"/>
          </p:cNvSpPr>
          <p:nvPr>
            <p:ph sz="half" idx="2"/>
          </p:nvPr>
        </p:nvSpPr>
        <p:spPr>
          <a:xfrm>
            <a:off x="2132014" y="3571876"/>
            <a:ext cx="4035425" cy="2219325"/>
          </a:xfrm>
        </p:spPr>
        <p:txBody>
          <a:bodyPr>
            <a:normAutofit/>
          </a:bodyPr>
          <a:lstStyle/>
          <a:p>
            <a:pPr lvl="1">
              <a:buFont typeface="Arial"/>
              <a:buChar char="•"/>
              <a:defRPr/>
            </a:pPr>
            <a:r>
              <a:rPr lang="en-US" sz="2000"/>
              <a:t>Product costs</a:t>
            </a:r>
          </a:p>
          <a:p>
            <a:pPr lvl="1">
              <a:buFont typeface="Arial"/>
              <a:buChar char="•"/>
              <a:defRPr/>
            </a:pPr>
            <a:r>
              <a:rPr lang="en-US" sz="2000"/>
              <a:t>Design/planning costs</a:t>
            </a:r>
          </a:p>
          <a:p>
            <a:pPr lvl="1">
              <a:buFont typeface="Arial"/>
              <a:buChar char="•"/>
              <a:defRPr/>
            </a:pPr>
            <a:r>
              <a:rPr lang="en-US" sz="2000"/>
              <a:t>Implementation costs</a:t>
            </a:r>
          </a:p>
          <a:p>
            <a:pPr lvl="1">
              <a:buFont typeface="Arial"/>
              <a:buChar char="•"/>
              <a:defRPr/>
            </a:pPr>
            <a:r>
              <a:rPr lang="en-US" sz="2000"/>
              <a:t>Environment modifications</a:t>
            </a:r>
          </a:p>
          <a:p>
            <a:pPr lvl="1">
              <a:buFont typeface="Arial"/>
              <a:buChar char="•"/>
              <a:defRPr/>
            </a:pPr>
            <a:r>
              <a:rPr lang="en-US" sz="2000"/>
              <a:t>Compatibility </a:t>
            </a:r>
          </a:p>
          <a:p>
            <a:pPr lvl="1">
              <a:buFont typeface="Arial"/>
              <a:buChar char="•"/>
              <a:defRPr/>
            </a:pPr>
            <a:r>
              <a:rPr lang="en-US" sz="2000"/>
              <a:t>Maintenance requirements</a:t>
            </a:r>
          </a:p>
          <a:p>
            <a:pPr lvl="1">
              <a:buFont typeface="Arial"/>
              <a:buChar char="•"/>
              <a:defRPr/>
            </a:pPr>
            <a:endParaRPr lang="en-US" sz="2000"/>
          </a:p>
          <a:p>
            <a:pPr marL="342900" indent="-342900">
              <a:buFont typeface="Arial"/>
              <a:buChar char="•"/>
              <a:defRPr/>
            </a:pPr>
            <a:endParaRPr lang="en-US" sz="2400"/>
          </a:p>
        </p:txBody>
      </p:sp>
      <p:sp>
        <p:nvSpPr>
          <p:cNvPr id="93189" name="Rectangle 5">
            <a:extLst>
              <a:ext uri="{FF2B5EF4-FFF2-40B4-BE49-F238E27FC236}">
                <a16:creationId xmlns:a16="http://schemas.microsoft.com/office/drawing/2014/main" id="{E9E5980D-4EB3-FE42-B603-8F57E068F7C4}"/>
              </a:ext>
            </a:extLst>
          </p:cNvPr>
          <p:cNvSpPr>
            <a:spLocks noChangeArrowheads="1"/>
          </p:cNvSpPr>
          <p:nvPr/>
        </p:nvSpPr>
        <p:spPr bwMode="auto">
          <a:xfrm>
            <a:off x="6400800" y="3541713"/>
            <a:ext cx="40386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lvl="1">
              <a:lnSpc>
                <a:spcPct val="95000"/>
              </a:lnSpc>
              <a:spcBef>
                <a:spcPct val="50000"/>
              </a:spcBef>
              <a:buClr>
                <a:srgbClr val="005569"/>
              </a:buClr>
              <a:buFontTx/>
              <a:buChar char="-"/>
            </a:pPr>
            <a:r>
              <a:rPr lang="en-US" altLang="en-ZM" sz="2000" b="0"/>
              <a:t>Testing requirements</a:t>
            </a:r>
          </a:p>
          <a:p>
            <a:pPr lvl="1">
              <a:lnSpc>
                <a:spcPct val="95000"/>
              </a:lnSpc>
              <a:spcBef>
                <a:spcPct val="50000"/>
              </a:spcBef>
              <a:buClr>
                <a:srgbClr val="005569"/>
              </a:buClr>
              <a:buFontTx/>
              <a:buChar char="-"/>
            </a:pPr>
            <a:r>
              <a:rPr lang="en-US" altLang="en-ZM" sz="2000" b="0"/>
              <a:t>Repair, replacement, or update costs</a:t>
            </a:r>
          </a:p>
          <a:p>
            <a:pPr lvl="1">
              <a:lnSpc>
                <a:spcPct val="95000"/>
              </a:lnSpc>
              <a:spcBef>
                <a:spcPct val="50000"/>
              </a:spcBef>
              <a:buClr>
                <a:srgbClr val="005569"/>
              </a:buClr>
              <a:buFontTx/>
              <a:buChar char="-"/>
            </a:pPr>
            <a:r>
              <a:rPr lang="en-US" altLang="en-ZM" sz="2000" b="0"/>
              <a:t>Operating and support costs </a:t>
            </a:r>
          </a:p>
          <a:p>
            <a:pPr lvl="1">
              <a:lnSpc>
                <a:spcPct val="95000"/>
              </a:lnSpc>
              <a:spcBef>
                <a:spcPct val="50000"/>
              </a:spcBef>
              <a:buClr>
                <a:srgbClr val="005569"/>
              </a:buClr>
              <a:buFontTx/>
              <a:buChar char="-"/>
            </a:pPr>
            <a:r>
              <a:rPr lang="en-US" altLang="en-ZM" sz="2000" b="0"/>
              <a:t>Effects of productivity</a:t>
            </a:r>
          </a:p>
          <a:p>
            <a:pPr>
              <a:lnSpc>
                <a:spcPct val="95000"/>
              </a:lnSpc>
              <a:spcBef>
                <a:spcPct val="50000"/>
              </a:spcBef>
              <a:buClr>
                <a:srgbClr val="005569"/>
              </a:buClr>
              <a:buFontTx/>
              <a:buChar char="•"/>
            </a:pPr>
            <a:endParaRPr lang="en-US" altLang="en-ZM" sz="240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TotalTime>
  <Words>4980</Words>
  <Application>Microsoft Office PowerPoint</Application>
  <PresentationFormat>Widescreen</PresentationFormat>
  <Paragraphs>347</Paragraphs>
  <Slides>63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Calibri Light</vt:lpstr>
      <vt:lpstr>Tahoma</vt:lpstr>
      <vt:lpstr>Office Theme</vt:lpstr>
      <vt:lpstr>MALICIOUS SOFTWARE</vt:lpstr>
      <vt:lpstr>What is Malware</vt:lpstr>
      <vt:lpstr>Types of Malware</vt:lpstr>
      <vt:lpstr>Types of Malware-Continued</vt:lpstr>
      <vt:lpstr>Types of Malware-Continued</vt:lpstr>
      <vt:lpstr>Types of Malware-Continued</vt:lpstr>
      <vt:lpstr>Types of Malware-Continued</vt:lpstr>
      <vt:lpstr>What is a Virus?</vt:lpstr>
      <vt:lpstr>The History of the Virus</vt:lpstr>
      <vt:lpstr>How does a Virus Spread?</vt:lpstr>
      <vt:lpstr>The types of Viruses</vt:lpstr>
      <vt:lpstr>Protect Yourselves</vt:lpstr>
      <vt:lpstr>Worms 101</vt:lpstr>
      <vt:lpstr>Types of Worms</vt:lpstr>
      <vt:lpstr>Protect Yourselves</vt:lpstr>
      <vt:lpstr>Viruses vs. Worms</vt:lpstr>
      <vt:lpstr>What is AntiVirus Software?</vt:lpstr>
      <vt:lpstr>The Best Defense</vt:lpstr>
      <vt:lpstr>NAV</vt:lpstr>
      <vt:lpstr>McAfee</vt:lpstr>
      <vt:lpstr>Sophos</vt:lpstr>
      <vt:lpstr>Kasperski</vt:lpstr>
      <vt:lpstr>“Antivirus software is the equivalent to penicillin of the computer world.” </vt:lpstr>
      <vt:lpstr>Why is software an issue?</vt:lpstr>
      <vt:lpstr>Two main types </vt:lpstr>
      <vt:lpstr>Specific Scanning </vt:lpstr>
      <vt:lpstr>Specific scanning cont..</vt:lpstr>
      <vt:lpstr>Specific Scanning cont…</vt:lpstr>
      <vt:lpstr>Generic Scanning</vt:lpstr>
      <vt:lpstr>Generic Scanning cont…</vt:lpstr>
      <vt:lpstr>Generic Scanning cont…</vt:lpstr>
      <vt:lpstr>Two other approaches</vt:lpstr>
      <vt:lpstr>Another Approach…</vt:lpstr>
      <vt:lpstr>Heuristic Analysis</vt:lpstr>
      <vt:lpstr>Sandboxing</vt:lpstr>
      <vt:lpstr>Specific worms &amp; virus attacks </vt:lpstr>
      <vt:lpstr>The Macro Virus</vt:lpstr>
      <vt:lpstr>The Melissa Virus</vt:lpstr>
      <vt:lpstr>The Aftermath</vt:lpstr>
      <vt:lpstr>The Boot Virus</vt:lpstr>
      <vt:lpstr>The Program Virus</vt:lpstr>
      <vt:lpstr>The Stealth Virus</vt:lpstr>
      <vt:lpstr>The Polymorphic Virus</vt:lpstr>
      <vt:lpstr>Worms Attack</vt:lpstr>
      <vt:lpstr>Types of Worms</vt:lpstr>
      <vt:lpstr>Types of Denial-of-Service Attacks</vt:lpstr>
      <vt:lpstr>DoS - Buffer Overflow Attacks</vt:lpstr>
      <vt:lpstr>DoS - SYN Flood Attack</vt:lpstr>
      <vt:lpstr>DoS - Teardrop Attack</vt:lpstr>
      <vt:lpstr>DoS - Smurf Attack</vt:lpstr>
      <vt:lpstr>DoS - DNS Attacks</vt:lpstr>
      <vt:lpstr>DoS - Email Attacks</vt:lpstr>
      <vt:lpstr>DoS - Physical Infrastructure Attacks</vt:lpstr>
      <vt:lpstr>DoS - Viruses/Worms</vt:lpstr>
      <vt:lpstr>Malicious Code Attacks</vt:lpstr>
      <vt:lpstr>Packet Sniffing Attacks</vt:lpstr>
      <vt:lpstr>Information Leakage Attacks</vt:lpstr>
      <vt:lpstr>Social Engineering Attacks</vt:lpstr>
      <vt:lpstr>Attack Methodology</vt:lpstr>
      <vt:lpstr>Stages of an Attack</vt:lpstr>
      <vt:lpstr>Tools of the Attacker</vt:lpstr>
      <vt:lpstr>Countermeasures</vt:lpstr>
      <vt:lpstr>Countermeasure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MALICIOUS SOFTWARE</dc:title>
  <dc:creator>Jephter Kapika Pelekamoyo</dc:creator>
  <cp:lastModifiedBy>Jephter Kapika Pelekamoyo</cp:lastModifiedBy>
  <cp:revision>6</cp:revision>
  <dcterms:created xsi:type="dcterms:W3CDTF">2023-05-03T08:03:29Z</dcterms:created>
  <dcterms:modified xsi:type="dcterms:W3CDTF">2023-05-24T09:29:44Z</dcterms:modified>
</cp:coreProperties>
</file>