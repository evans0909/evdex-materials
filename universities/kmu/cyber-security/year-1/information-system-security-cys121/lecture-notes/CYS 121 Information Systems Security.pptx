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CYS 121 Information Systems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7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775587" y="3273830"/>
            <a:ext cx="48785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Intrusion Control </a:t>
            </a:r>
          </a:p>
        </p:txBody>
      </p:sp>
    </p:spTree>
    <p:extLst>
      <p:ext uri="{BB962C8B-B14F-4D97-AF65-F5344CB8AC3E}">
        <p14:creationId xmlns:p14="http://schemas.microsoft.com/office/powerpoint/2010/main" val="650418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Research - Prevention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2180" y="2990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LiberationSerif"/>
              </a:rPr>
              <a:t>“It </a:t>
            </a:r>
            <a:r>
              <a:rPr lang="en-US" i="1" dirty="0">
                <a:solidFill>
                  <a:srgbClr val="FF0000"/>
                </a:solidFill>
                <a:latin typeface="LiberationSerif"/>
              </a:rPr>
              <a:t>is better to prevent </a:t>
            </a:r>
            <a:r>
              <a:rPr lang="en-US" i="1" dirty="0" smtClean="0">
                <a:solidFill>
                  <a:srgbClr val="FF0000"/>
                </a:solidFill>
                <a:latin typeface="LiberationSerif"/>
              </a:rPr>
              <a:t>something than </a:t>
            </a:r>
            <a:r>
              <a:rPr lang="en-US" i="1" dirty="0">
                <a:solidFill>
                  <a:srgbClr val="FF0000"/>
                </a:solidFill>
                <a:latin typeface="LiberationSerif"/>
              </a:rPr>
              <a:t>to plan for loss</a:t>
            </a:r>
            <a:r>
              <a:rPr lang="en-US" i="1" dirty="0" smtClean="0">
                <a:solidFill>
                  <a:srgbClr val="FF0000"/>
                </a:solidFill>
                <a:latin typeface="LiberationSerif"/>
              </a:rPr>
              <a:t>.”</a:t>
            </a:r>
            <a:r>
              <a:rPr lang="en-US" i="1" dirty="0" smtClean="0"/>
              <a:t> 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95205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Prevention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Prevention techniques</a:t>
            </a:r>
            <a:r>
              <a:rPr lang="en-US" dirty="0"/>
              <a:t>: first line of </a:t>
            </a:r>
            <a:r>
              <a:rPr lang="en-US" dirty="0" smtClean="0"/>
              <a:t>defense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Secure local and network </a:t>
            </a:r>
            <a:r>
              <a:rPr lang="en-US" dirty="0" smtClean="0"/>
              <a:t>resources</a:t>
            </a:r>
            <a:endParaRPr lang="en-US" dirty="0"/>
          </a:p>
          <a:p>
            <a:r>
              <a:rPr lang="en-US" dirty="0" smtClean="0"/>
              <a:t>Techniques</a:t>
            </a:r>
            <a:r>
              <a:rPr lang="en-US" dirty="0"/>
              <a:t>: cryptography, identification,</a:t>
            </a:r>
            <a:br>
              <a:rPr lang="en-US" dirty="0"/>
            </a:br>
            <a:r>
              <a:rPr lang="en-US" dirty="0"/>
              <a:t>authentication, authorization, access control,</a:t>
            </a:r>
            <a:br>
              <a:rPr lang="en-US" dirty="0"/>
            </a:br>
            <a:r>
              <a:rPr lang="en-US" dirty="0"/>
              <a:t>security filters, etc.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636520" y="49346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LiberationSerif"/>
              </a:rPr>
              <a:t>Problem</a:t>
            </a:r>
            <a:r>
              <a:rPr lang="en-US" dirty="0">
                <a:solidFill>
                  <a:srgbClr val="000000"/>
                </a:solidFill>
                <a:latin typeface="LiberationSerif"/>
              </a:rPr>
              <a:t>: </a:t>
            </a:r>
            <a:r>
              <a:rPr lang="en-US" b="1" dirty="0">
                <a:solidFill>
                  <a:srgbClr val="000000"/>
                </a:solidFill>
                <a:latin typeface="LiberationSerif-Bold"/>
              </a:rPr>
              <a:t>Losses occur</a:t>
            </a:r>
            <a:r>
              <a:rPr lang="en-US" dirty="0">
                <a:solidFill>
                  <a:srgbClr val="000000"/>
                </a:solidFill>
                <a:latin typeface="LiberationSerif"/>
              </a:rPr>
              <a:t>!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623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Contributing Factors for Misuse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b="1" dirty="0"/>
              <a:t>security flaws </a:t>
            </a:r>
            <a:r>
              <a:rPr lang="en-US" dirty="0"/>
              <a:t>in </a:t>
            </a:r>
            <a:r>
              <a:rPr lang="en-US" dirty="0" smtClean="0"/>
              <a:t>systems</a:t>
            </a:r>
            <a:endParaRPr lang="en-US" dirty="0"/>
          </a:p>
          <a:p>
            <a:r>
              <a:rPr lang="en-US" dirty="0" smtClean="0"/>
              <a:t>Secure </a:t>
            </a:r>
            <a:r>
              <a:rPr lang="en-US" dirty="0"/>
              <a:t>systems are </a:t>
            </a:r>
            <a:r>
              <a:rPr lang="en-US" b="1" dirty="0" smtClean="0"/>
              <a:t>expensive</a:t>
            </a:r>
            <a:endParaRPr lang="en-US" b="1" dirty="0"/>
          </a:p>
          <a:p>
            <a:r>
              <a:rPr lang="en-US" dirty="0" smtClean="0"/>
              <a:t>Secure </a:t>
            </a:r>
            <a:r>
              <a:rPr lang="en-US" dirty="0"/>
              <a:t>systems are </a:t>
            </a:r>
            <a:r>
              <a:rPr lang="en-US" b="1" dirty="0"/>
              <a:t>not </a:t>
            </a:r>
            <a:r>
              <a:rPr lang="en-US" b="1" dirty="0" smtClean="0"/>
              <a:t>user-friendly</a:t>
            </a:r>
            <a:endParaRPr lang="en-US" b="1" dirty="0"/>
          </a:p>
          <a:p>
            <a:r>
              <a:rPr lang="en-US" dirty="0" smtClean="0"/>
              <a:t>“Secure </a:t>
            </a:r>
            <a:r>
              <a:rPr lang="en-US" dirty="0"/>
              <a:t>systems” </a:t>
            </a:r>
            <a:r>
              <a:rPr lang="en-US" b="1" dirty="0"/>
              <a:t>still have </a:t>
            </a:r>
            <a:r>
              <a:rPr lang="en-US" b="1" dirty="0" smtClean="0"/>
              <a:t>flaws</a:t>
            </a:r>
            <a:endParaRPr lang="en-US" b="1" dirty="0"/>
          </a:p>
          <a:p>
            <a:r>
              <a:rPr lang="en-US" b="1" dirty="0" smtClean="0"/>
              <a:t>Insider </a:t>
            </a:r>
            <a:r>
              <a:rPr lang="en-US" dirty="0" smtClean="0"/>
              <a:t>Threat</a:t>
            </a:r>
            <a:endParaRPr lang="en-US" dirty="0"/>
          </a:p>
          <a:p>
            <a:r>
              <a:rPr lang="en-US" b="1" dirty="0" smtClean="0"/>
              <a:t>Hackers</a:t>
            </a:r>
            <a:r>
              <a:rPr lang="en-US" b="1" dirty="0"/>
              <a:t>’ </a:t>
            </a:r>
            <a:r>
              <a:rPr lang="en-US" dirty="0"/>
              <a:t>skills and tools improve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794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Intrusion Prevention</a:t>
            </a:r>
            <a:r>
              <a:rPr lang="en-US" dirty="0"/>
              <a:t>: protect system</a:t>
            </a:r>
            <a:br>
              <a:rPr lang="en-US" dirty="0"/>
            </a:br>
            <a:r>
              <a:rPr lang="en-US" dirty="0" smtClean="0"/>
              <a:t>resources</a:t>
            </a:r>
            <a:endParaRPr lang="en-US" dirty="0"/>
          </a:p>
          <a:p>
            <a:r>
              <a:rPr lang="en-US" b="1" dirty="0" smtClean="0"/>
              <a:t>Intrusion </a:t>
            </a:r>
            <a:r>
              <a:rPr lang="en-US" b="1" dirty="0"/>
              <a:t>Detection</a:t>
            </a:r>
            <a:r>
              <a:rPr lang="en-US" dirty="0"/>
              <a:t>: (second line of defense)</a:t>
            </a:r>
            <a:br>
              <a:rPr lang="en-US" dirty="0"/>
            </a:br>
            <a:r>
              <a:rPr lang="en-US" dirty="0"/>
              <a:t>discriminate intrusion attempts from normal</a:t>
            </a:r>
            <a:br>
              <a:rPr lang="en-US" dirty="0"/>
            </a:br>
            <a:r>
              <a:rPr lang="en-US" dirty="0"/>
              <a:t>system </a:t>
            </a:r>
            <a:r>
              <a:rPr lang="en-US" dirty="0" smtClean="0"/>
              <a:t>usage</a:t>
            </a:r>
            <a:endParaRPr lang="en-US" dirty="0"/>
          </a:p>
          <a:p>
            <a:r>
              <a:rPr lang="en-US" b="1" dirty="0" smtClean="0"/>
              <a:t>Intrusion </a:t>
            </a:r>
            <a:r>
              <a:rPr lang="en-US" b="1" dirty="0"/>
              <a:t>Recovery</a:t>
            </a:r>
            <a:r>
              <a:rPr lang="en-US" dirty="0"/>
              <a:t>: cost effective recovery</a:t>
            </a:r>
            <a:br>
              <a:rPr lang="en-US" dirty="0"/>
            </a:br>
            <a:r>
              <a:rPr lang="en-US" dirty="0"/>
              <a:t>models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550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Intrusion Detection?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 line of </a:t>
            </a:r>
            <a:r>
              <a:rPr lang="en-US" dirty="0" smtClean="0"/>
              <a:t>defense</a:t>
            </a:r>
            <a:endParaRPr lang="en-US" dirty="0"/>
          </a:p>
          <a:p>
            <a:r>
              <a:rPr lang="en-US" dirty="0" smtClean="0"/>
              <a:t>Deter intruders</a:t>
            </a:r>
            <a:endParaRPr lang="en-US" dirty="0"/>
          </a:p>
          <a:p>
            <a:r>
              <a:rPr lang="en-US" dirty="0" smtClean="0"/>
              <a:t>Catch intruders</a:t>
            </a:r>
            <a:endParaRPr lang="en-US" dirty="0"/>
          </a:p>
          <a:p>
            <a:r>
              <a:rPr lang="en-US" dirty="0" smtClean="0"/>
              <a:t>Prevent </a:t>
            </a:r>
            <a:r>
              <a:rPr lang="en-US" dirty="0"/>
              <a:t>threats to occur (real-time </a:t>
            </a:r>
            <a:r>
              <a:rPr lang="en-US" dirty="0" smtClean="0"/>
              <a:t>IDS)</a:t>
            </a:r>
            <a:endParaRPr lang="en-US" dirty="0"/>
          </a:p>
          <a:p>
            <a:r>
              <a:rPr lang="en-US" dirty="0" smtClean="0"/>
              <a:t>Improve </a:t>
            </a:r>
            <a:r>
              <a:rPr lang="en-US" dirty="0"/>
              <a:t>prevention/detection techniques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19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Detection - Milestones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</a:t>
            </a:r>
            <a:r>
              <a:rPr lang="en-US" b="1" dirty="0" smtClean="0"/>
              <a:t>1980</a:t>
            </a:r>
            <a:r>
              <a:rPr lang="en-US" dirty="0"/>
              <a:t>: Deviation from historical system usage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smtClean="0"/>
              <a:t>Anderson)</a:t>
            </a:r>
            <a:endParaRPr lang="en-US" dirty="0"/>
          </a:p>
          <a:p>
            <a:r>
              <a:rPr lang="en-US" b="1" dirty="0" smtClean="0"/>
              <a:t>1987</a:t>
            </a:r>
            <a:r>
              <a:rPr lang="en-US" dirty="0"/>
              <a:t>: framework for general-purpose</a:t>
            </a:r>
            <a:br>
              <a:rPr lang="en-US" dirty="0"/>
            </a:br>
            <a:r>
              <a:rPr lang="en-US" dirty="0"/>
              <a:t>intrusion detection system (</a:t>
            </a:r>
            <a:r>
              <a:rPr lang="en-US" dirty="0" smtClean="0"/>
              <a:t>Denning)</a:t>
            </a:r>
            <a:endParaRPr lang="en-US" dirty="0"/>
          </a:p>
          <a:p>
            <a:r>
              <a:rPr lang="en-US" b="1" dirty="0" smtClean="0"/>
              <a:t>1988</a:t>
            </a:r>
            <a:r>
              <a:rPr lang="en-US" dirty="0"/>
              <a:t>: intrusion detection research splits</a:t>
            </a:r>
            <a:br>
              <a:rPr lang="en-US" dirty="0"/>
            </a:br>
            <a:r>
              <a:rPr lang="en-US" dirty="0"/>
              <a:t> Attack signatures based detection (MIDAS)</a:t>
            </a:r>
            <a:br>
              <a:rPr lang="en-US" dirty="0"/>
            </a:br>
            <a:r>
              <a:rPr lang="en-US" dirty="0"/>
              <a:t> Anomaly detection based detection (IDES)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7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Detection - Milestones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Early 1990s</a:t>
            </a:r>
            <a:r>
              <a:rPr lang="en-US" dirty="0"/>
              <a:t>: Commercial installations</a:t>
            </a:r>
            <a:br>
              <a:rPr lang="en-US" dirty="0"/>
            </a:br>
            <a:r>
              <a:rPr lang="en-US" dirty="0"/>
              <a:t> IDES, NIDES (SRI)</a:t>
            </a:r>
            <a:br>
              <a:rPr lang="en-US" dirty="0"/>
            </a:br>
            <a:r>
              <a:rPr lang="en-US" dirty="0"/>
              <a:t> Haystack, Stalker (Haystack Laboratory Inc.)</a:t>
            </a:r>
            <a:br>
              <a:rPr lang="en-US" dirty="0"/>
            </a:br>
            <a:r>
              <a:rPr lang="en-US" dirty="0"/>
              <a:t> Distributed Intrusion Detection System (Air Force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b="1" dirty="0"/>
              <a:t>Late 1990s - today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 Integration of audit sources</a:t>
            </a:r>
            <a:br>
              <a:rPr lang="en-US" dirty="0"/>
            </a:br>
            <a:r>
              <a:rPr lang="en-US" dirty="0"/>
              <a:t> Network based intrusion detection</a:t>
            </a:r>
            <a:br>
              <a:rPr lang="en-US" dirty="0"/>
            </a:br>
            <a:r>
              <a:rPr lang="en-US" dirty="0"/>
              <a:t> Hybrid models</a:t>
            </a:r>
            <a:br>
              <a:rPr lang="en-US" dirty="0"/>
            </a:br>
            <a:r>
              <a:rPr lang="en-US" dirty="0"/>
              <a:t> Immune system based IDS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12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Audit</a:t>
            </a:r>
            <a:r>
              <a:rPr lang="en-US" dirty="0"/>
              <a:t>: activity of looking at user/system behavior, its</a:t>
            </a:r>
            <a:br>
              <a:rPr lang="en-US" dirty="0"/>
            </a:br>
            <a:r>
              <a:rPr lang="en-US" dirty="0"/>
              <a:t>effects, or the collected </a:t>
            </a:r>
            <a:r>
              <a:rPr lang="en-US" dirty="0" smtClean="0"/>
              <a:t>data</a:t>
            </a:r>
            <a:endParaRPr lang="en-US" dirty="0"/>
          </a:p>
          <a:p>
            <a:r>
              <a:rPr lang="en-US" b="1" dirty="0" smtClean="0"/>
              <a:t>Profiling</a:t>
            </a:r>
            <a:r>
              <a:rPr lang="en-US" dirty="0"/>
              <a:t>: looking at users or systems to determine</a:t>
            </a:r>
            <a:br>
              <a:rPr lang="en-US" dirty="0"/>
            </a:br>
            <a:r>
              <a:rPr lang="en-US" dirty="0"/>
              <a:t>what they usually </a:t>
            </a:r>
            <a:r>
              <a:rPr lang="en-US" dirty="0" smtClean="0"/>
              <a:t>do</a:t>
            </a:r>
            <a:endParaRPr lang="en-US" dirty="0"/>
          </a:p>
          <a:p>
            <a:r>
              <a:rPr lang="en-US" b="1" dirty="0" smtClean="0"/>
              <a:t>Anomaly</a:t>
            </a:r>
            <a:r>
              <a:rPr lang="en-US" dirty="0"/>
              <a:t>: abnormal </a:t>
            </a:r>
            <a:r>
              <a:rPr lang="en-US" dirty="0" smtClean="0"/>
              <a:t>behavior</a:t>
            </a:r>
            <a:endParaRPr lang="en-US" dirty="0"/>
          </a:p>
          <a:p>
            <a:r>
              <a:rPr lang="en-US" b="1" dirty="0" smtClean="0"/>
              <a:t>Misuse</a:t>
            </a:r>
            <a:r>
              <a:rPr lang="en-US" dirty="0"/>
              <a:t>: activity that violates the security </a:t>
            </a:r>
            <a:r>
              <a:rPr lang="en-US" dirty="0" smtClean="0"/>
              <a:t>policy</a:t>
            </a:r>
            <a:endParaRPr lang="en-US" dirty="0"/>
          </a:p>
          <a:p>
            <a:r>
              <a:rPr lang="en-US" b="1" dirty="0" smtClean="0"/>
              <a:t>Outsider</a:t>
            </a:r>
            <a:r>
              <a:rPr lang="en-US" dirty="0"/>
              <a:t>: someone without access right to the </a:t>
            </a:r>
            <a:r>
              <a:rPr lang="en-US" dirty="0" smtClean="0"/>
              <a:t>system</a:t>
            </a:r>
            <a:endParaRPr lang="en-US" dirty="0"/>
          </a:p>
          <a:p>
            <a:r>
              <a:rPr lang="en-US" b="1" dirty="0" smtClean="0"/>
              <a:t>Insider</a:t>
            </a:r>
            <a:r>
              <a:rPr lang="en-US" dirty="0"/>
              <a:t>: someone with access right to the </a:t>
            </a:r>
            <a:r>
              <a:rPr lang="en-US" dirty="0" smtClean="0"/>
              <a:t>system</a:t>
            </a:r>
            <a:endParaRPr lang="en-US" dirty="0"/>
          </a:p>
          <a:p>
            <a:r>
              <a:rPr lang="en-US" b="1" dirty="0" smtClean="0"/>
              <a:t>Intrusion</a:t>
            </a:r>
            <a:r>
              <a:rPr lang="en-US" dirty="0"/>
              <a:t>: misuse by outsiders and insiders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0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Intrusion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Intelligence gathering</a:t>
            </a:r>
            <a:r>
              <a:rPr lang="en-US" dirty="0"/>
              <a:t>: attacker observes </a:t>
            </a:r>
            <a:r>
              <a:rPr lang="en-US" dirty="0" smtClean="0"/>
              <a:t>the system </a:t>
            </a:r>
            <a:r>
              <a:rPr lang="en-US" dirty="0"/>
              <a:t>to determine </a:t>
            </a:r>
            <a:r>
              <a:rPr lang="en-US" dirty="0" smtClean="0"/>
              <a:t>vulnerabilities</a:t>
            </a:r>
            <a:endParaRPr lang="en-US" dirty="0"/>
          </a:p>
          <a:p>
            <a:r>
              <a:rPr lang="en-US" b="1" dirty="0" smtClean="0"/>
              <a:t>Planning</a:t>
            </a:r>
            <a:r>
              <a:rPr lang="en-US" dirty="0"/>
              <a:t>: attacker decide what resource to</a:t>
            </a:r>
            <a:br>
              <a:rPr lang="en-US" dirty="0"/>
            </a:br>
            <a:r>
              <a:rPr lang="en-US" dirty="0"/>
              <a:t>attack (usually least defended </a:t>
            </a:r>
            <a:r>
              <a:rPr lang="en-US" dirty="0" smtClean="0"/>
              <a:t>component)</a:t>
            </a:r>
            <a:endParaRPr lang="en-US" dirty="0"/>
          </a:p>
          <a:p>
            <a:r>
              <a:rPr lang="en-US" b="1" dirty="0" smtClean="0"/>
              <a:t>Attack</a:t>
            </a:r>
            <a:r>
              <a:rPr lang="en-US" dirty="0"/>
              <a:t>: attacker carries out the </a:t>
            </a:r>
            <a:r>
              <a:rPr lang="en-US" dirty="0" smtClean="0"/>
              <a:t>plan</a:t>
            </a:r>
            <a:endParaRPr lang="en-US" dirty="0"/>
          </a:p>
          <a:p>
            <a:r>
              <a:rPr lang="en-US" b="1" dirty="0" smtClean="0"/>
              <a:t>Hiding</a:t>
            </a:r>
            <a:r>
              <a:rPr lang="en-US" dirty="0"/>
              <a:t>: attacker covers tracks of </a:t>
            </a:r>
            <a:r>
              <a:rPr lang="en-US" dirty="0" smtClean="0"/>
              <a:t>attack</a:t>
            </a:r>
            <a:endParaRPr lang="en-US" dirty="0"/>
          </a:p>
          <a:p>
            <a:r>
              <a:rPr lang="en-US" b="1" dirty="0" smtClean="0"/>
              <a:t>Future </a:t>
            </a:r>
            <a:r>
              <a:rPr lang="en-US" b="1" dirty="0"/>
              <a:t>attacks</a:t>
            </a:r>
            <a:r>
              <a:rPr lang="en-US" dirty="0"/>
              <a:t>: attacker installs backdoors</a:t>
            </a:r>
            <a:br>
              <a:rPr lang="en-US" dirty="0"/>
            </a:br>
            <a:r>
              <a:rPr lang="en-US" dirty="0"/>
              <a:t>for future entry points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34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Times of Intrusion Detection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intrusion </a:t>
            </a:r>
            <a:r>
              <a:rPr lang="en-US" dirty="0" smtClean="0"/>
              <a:t>detection</a:t>
            </a:r>
            <a:endParaRPr lang="en-US" dirty="0"/>
          </a:p>
          <a:p>
            <a:pPr lvl="1"/>
            <a:r>
              <a:rPr lang="en-US" dirty="0" smtClean="0"/>
              <a:t>Advantages:</a:t>
            </a:r>
            <a:br>
              <a:rPr lang="en-US" dirty="0" smtClean="0"/>
            </a:br>
            <a:r>
              <a:rPr lang="en-US" dirty="0" smtClean="0"/>
              <a:t>• May detect intrusions in early stages</a:t>
            </a:r>
            <a:br>
              <a:rPr lang="en-US" dirty="0" smtClean="0"/>
            </a:br>
            <a:r>
              <a:rPr lang="en-US" dirty="0" smtClean="0"/>
              <a:t>• May limit damage</a:t>
            </a:r>
            <a:endParaRPr lang="en-US" dirty="0"/>
          </a:p>
          <a:p>
            <a:pPr lvl="1"/>
            <a:r>
              <a:rPr lang="en-US" dirty="0" smtClean="0"/>
              <a:t> Disadvantages:</a:t>
            </a:r>
            <a:br>
              <a:rPr lang="en-US" dirty="0" smtClean="0"/>
            </a:br>
            <a:r>
              <a:rPr lang="en-US" dirty="0" smtClean="0"/>
              <a:t>• May slow down system performance</a:t>
            </a:r>
            <a:br>
              <a:rPr lang="en-US" dirty="0" smtClean="0"/>
            </a:br>
            <a:r>
              <a:rPr lang="en-US" dirty="0" smtClean="0"/>
              <a:t>• Trade off between speed of processing and accuracy</a:t>
            </a:r>
            <a:br>
              <a:rPr lang="en-US" dirty="0" smtClean="0"/>
            </a:br>
            <a:r>
              <a:rPr lang="en-US" dirty="0" smtClean="0"/>
              <a:t>• Hard to detect partial attacks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211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Intrusion Detection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Off-the-line intrusion </a:t>
            </a:r>
            <a:r>
              <a:rPr lang="en-US" dirty="0" smtClean="0"/>
              <a:t>detection</a:t>
            </a:r>
            <a:endParaRPr lang="en-US" dirty="0"/>
          </a:p>
          <a:p>
            <a:pPr lvl="1"/>
            <a:r>
              <a:rPr lang="en-US" dirty="0" smtClean="0"/>
              <a:t> </a:t>
            </a:r>
            <a:r>
              <a:rPr lang="en-US" dirty="0"/>
              <a:t>Advantages:</a:t>
            </a:r>
            <a:br>
              <a:rPr lang="en-US" dirty="0"/>
            </a:br>
            <a:r>
              <a:rPr lang="en-US" dirty="0"/>
              <a:t>• Able to analyze large amount of data</a:t>
            </a:r>
            <a:br>
              <a:rPr lang="en-US" dirty="0"/>
            </a:br>
            <a:r>
              <a:rPr lang="en-US" dirty="0"/>
              <a:t>• Higher accuracy than real-time </a:t>
            </a:r>
            <a:r>
              <a:rPr lang="en-US" dirty="0" smtClean="0"/>
              <a:t>ID</a:t>
            </a:r>
            <a:endParaRPr lang="en-US" dirty="0"/>
          </a:p>
          <a:p>
            <a:pPr lvl="1"/>
            <a:r>
              <a:rPr lang="en-US" dirty="0" smtClean="0"/>
              <a:t>Disadvantages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• Mostly detect intrusions after they occurred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046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Audit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Format, granularity and completeness depend on the</a:t>
            </a:r>
            <a:br>
              <a:rPr lang="en-US" dirty="0"/>
            </a:br>
            <a:r>
              <a:rPr lang="en-US" dirty="0"/>
              <a:t>collecting </a:t>
            </a:r>
            <a:r>
              <a:rPr lang="en-US" dirty="0" smtClean="0"/>
              <a:t>tool</a:t>
            </a:r>
            <a:endParaRPr lang="en-US" dirty="0"/>
          </a:p>
          <a:p>
            <a:pPr lvl="1"/>
            <a:r>
              <a:rPr lang="en-US" dirty="0" smtClean="0"/>
              <a:t>Examples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 System tools collect data (login, mail)</a:t>
            </a:r>
            <a:br>
              <a:rPr lang="en-US" dirty="0"/>
            </a:br>
            <a:r>
              <a:rPr lang="en-US" dirty="0"/>
              <a:t> Additional collection of low system level</a:t>
            </a:r>
            <a:br>
              <a:rPr lang="en-US" dirty="0"/>
            </a:br>
            <a:r>
              <a:rPr lang="en-US" dirty="0"/>
              <a:t> “Sniffers” as network probes</a:t>
            </a:r>
            <a:br>
              <a:rPr lang="en-US" dirty="0"/>
            </a:br>
            <a:r>
              <a:rPr lang="en-US" dirty="0"/>
              <a:t> Application </a:t>
            </a:r>
            <a:r>
              <a:rPr lang="en-US" dirty="0" smtClean="0"/>
              <a:t>auditing</a:t>
            </a:r>
            <a:endParaRPr lang="en-US" dirty="0"/>
          </a:p>
          <a:p>
            <a:pPr lvl="1"/>
            <a:r>
              <a:rPr lang="en-US" dirty="0" smtClean="0"/>
              <a:t>Needed </a:t>
            </a:r>
            <a:r>
              <a:rPr lang="en-US" dirty="0"/>
              <a:t>for</a:t>
            </a:r>
            <a:br>
              <a:rPr lang="en-US" dirty="0"/>
            </a:br>
            <a:r>
              <a:rPr lang="en-US" dirty="0"/>
              <a:t> Establishing guilt of attackers</a:t>
            </a:r>
            <a:br>
              <a:rPr lang="en-US" dirty="0"/>
            </a:br>
            <a:r>
              <a:rPr lang="en-US" dirty="0"/>
              <a:t> Detecting subversive user activity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55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Audit-Based Intrusion Detection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115" y="1930400"/>
            <a:ext cx="66484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64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versus Misuse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1930400"/>
            <a:ext cx="7513782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9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Positive </a:t>
            </a:r>
            <a:r>
              <a:rPr lang="en-US" dirty="0" err="1"/>
              <a:t>v.s</a:t>
            </a:r>
            <a:r>
              <a:rPr lang="en-US" dirty="0"/>
              <a:t>. False Negative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False positive</a:t>
            </a:r>
            <a:r>
              <a:rPr lang="en-US" dirty="0"/>
              <a:t>: non-intrusive but anomalous activity</a:t>
            </a:r>
            <a:br>
              <a:rPr lang="en-US" dirty="0"/>
            </a:br>
            <a:r>
              <a:rPr lang="en-US" dirty="0"/>
              <a:t> Security policy is not violated</a:t>
            </a:r>
            <a:br>
              <a:rPr lang="en-US" dirty="0"/>
            </a:br>
            <a:r>
              <a:rPr lang="en-US" dirty="0"/>
              <a:t> Cause unnecessary interruption</a:t>
            </a:r>
            <a:br>
              <a:rPr lang="en-US" dirty="0"/>
            </a:br>
            <a:r>
              <a:rPr lang="en-US" dirty="0"/>
              <a:t> May cause users to become </a:t>
            </a:r>
            <a:r>
              <a:rPr lang="en-US" dirty="0" smtClean="0"/>
              <a:t>unsatisfied</a:t>
            </a:r>
            <a:endParaRPr lang="en-US" dirty="0"/>
          </a:p>
          <a:p>
            <a:r>
              <a:rPr lang="en-US" b="1" dirty="0" smtClean="0"/>
              <a:t>False </a:t>
            </a:r>
            <a:r>
              <a:rPr lang="en-US" dirty="0"/>
              <a:t>negative: non-anomalous but intrusive activity</a:t>
            </a:r>
            <a:br>
              <a:rPr lang="en-US" dirty="0"/>
            </a:br>
            <a:r>
              <a:rPr lang="en-US" dirty="0"/>
              <a:t> Security policy is violated</a:t>
            </a:r>
            <a:br>
              <a:rPr lang="en-US" dirty="0"/>
            </a:br>
            <a:r>
              <a:rPr lang="en-US" dirty="0"/>
              <a:t> Undetected intrusion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18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Detection Techniques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Anomaly </a:t>
            </a:r>
            <a:r>
              <a:rPr lang="en-US" dirty="0" smtClean="0"/>
              <a:t>Detection</a:t>
            </a:r>
            <a:endParaRPr lang="en-US" dirty="0"/>
          </a:p>
          <a:p>
            <a:r>
              <a:rPr lang="en-US" dirty="0" smtClean="0"/>
              <a:t>Misuse Detection</a:t>
            </a:r>
            <a:endParaRPr lang="en-US" dirty="0"/>
          </a:p>
          <a:p>
            <a:r>
              <a:rPr lang="en-US" dirty="0" smtClean="0"/>
              <a:t>Hybrid </a:t>
            </a:r>
            <a:r>
              <a:rPr lang="en-US" dirty="0"/>
              <a:t>Misuse/Anomaly </a:t>
            </a:r>
            <a:r>
              <a:rPr lang="en-US" dirty="0" smtClean="0"/>
              <a:t>Detection</a:t>
            </a:r>
            <a:endParaRPr lang="en-US" dirty="0"/>
          </a:p>
          <a:p>
            <a:r>
              <a:rPr lang="en-US" dirty="0" smtClean="0"/>
              <a:t>Immune </a:t>
            </a:r>
            <a:r>
              <a:rPr lang="en-US" dirty="0"/>
              <a:t>System Based IDS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54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and Profiles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Statistical techniques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 Collect usage data to statistically analyze data</a:t>
            </a:r>
            <a:br>
              <a:rPr lang="en-US" dirty="0"/>
            </a:br>
            <a:r>
              <a:rPr lang="en-US" dirty="0"/>
              <a:t> Good for both anomaly-based and misuse-based </a:t>
            </a:r>
            <a:r>
              <a:rPr lang="en-US" dirty="0" smtClean="0"/>
              <a:t>detection:</a:t>
            </a:r>
            <a:endParaRPr lang="en-US" dirty="0"/>
          </a:p>
          <a:p>
            <a:pPr lvl="1"/>
            <a:r>
              <a:rPr lang="en-US" dirty="0" smtClean="0"/>
              <a:t>Anomaly-based</a:t>
            </a:r>
            <a:r>
              <a:rPr lang="en-US" dirty="0"/>
              <a:t>: standards for normal behavior. Warning when</a:t>
            </a:r>
            <a:br>
              <a:rPr lang="en-US" dirty="0"/>
            </a:br>
            <a:r>
              <a:rPr lang="en-US" dirty="0" smtClean="0"/>
              <a:t>deviation </a:t>
            </a:r>
            <a:r>
              <a:rPr lang="en-US" dirty="0"/>
              <a:t>is detected</a:t>
            </a:r>
            <a:br>
              <a:rPr lang="en-US" dirty="0"/>
            </a:br>
            <a:r>
              <a:rPr lang="en-US" dirty="0"/>
              <a:t>• Misuse-based: standards for misuse. Warning when phases of an</a:t>
            </a:r>
            <a:br>
              <a:rPr lang="en-US" dirty="0"/>
            </a:br>
            <a:r>
              <a:rPr lang="en-US" dirty="0"/>
              <a:t>identified attack are </a:t>
            </a:r>
            <a:r>
              <a:rPr lang="en-US" dirty="0" smtClean="0"/>
              <a:t>detected</a:t>
            </a:r>
            <a:endParaRPr lang="en-US" dirty="0"/>
          </a:p>
          <a:p>
            <a:pPr lvl="1"/>
            <a:r>
              <a:rPr lang="en-US" dirty="0" smtClean="0"/>
              <a:t>Threshold </a:t>
            </a:r>
            <a:r>
              <a:rPr lang="en-US" dirty="0"/>
              <a:t>detection</a:t>
            </a:r>
            <a:br>
              <a:rPr lang="en-US" dirty="0"/>
            </a:br>
            <a:r>
              <a:rPr lang="en-US" dirty="0"/>
              <a:t>• E.g., number of failed logins, number of accesses to resources,</a:t>
            </a:r>
            <a:br>
              <a:rPr lang="en-US" dirty="0"/>
            </a:br>
            <a:r>
              <a:rPr lang="en-US" dirty="0"/>
              <a:t>size of downloaded files, etc.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27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and Profiles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Rule-based </a:t>
            </a:r>
            <a:r>
              <a:rPr lang="en-US" dirty="0" smtClean="0"/>
              <a:t>techniques:</a:t>
            </a:r>
            <a:endParaRPr lang="en-US" dirty="0"/>
          </a:p>
          <a:p>
            <a:pPr lvl="1"/>
            <a:r>
              <a:rPr lang="en-US" dirty="0" smtClean="0"/>
              <a:t>Define </a:t>
            </a:r>
            <a:r>
              <a:rPr lang="en-US" dirty="0"/>
              <a:t>rules to describe normal behavior or</a:t>
            </a:r>
            <a:br>
              <a:rPr lang="en-US" dirty="0"/>
            </a:br>
            <a:r>
              <a:rPr lang="en-US" dirty="0"/>
              <a:t>known </a:t>
            </a:r>
            <a:r>
              <a:rPr lang="en-US" dirty="0" smtClean="0"/>
              <a:t>attacks</a:t>
            </a:r>
            <a:endParaRPr lang="en-US" dirty="0"/>
          </a:p>
          <a:p>
            <a:pPr lvl="1"/>
            <a:r>
              <a:rPr lang="en-US" dirty="0" smtClean="0"/>
              <a:t>Good </a:t>
            </a:r>
            <a:r>
              <a:rPr lang="en-US" dirty="0"/>
              <a:t>for both anomaly-based and misuse-based</a:t>
            </a:r>
            <a:br>
              <a:rPr lang="en-US" dirty="0"/>
            </a:br>
            <a:r>
              <a:rPr lang="en-US" dirty="0"/>
              <a:t>detection:</a:t>
            </a:r>
            <a:br>
              <a:rPr lang="en-US" dirty="0"/>
            </a:br>
            <a:r>
              <a:rPr lang="en-US" dirty="0"/>
              <a:t>• Anomaly-based: looks for deviations from </a:t>
            </a:r>
            <a:r>
              <a:rPr lang="en-US" dirty="0" smtClean="0"/>
              <a:t>previous usage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Misuse-based: define rules to represent known attacks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44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Anomaly </a:t>
            </a:r>
            <a:r>
              <a:rPr lang="en-US" dirty="0"/>
              <a:t>Detection Techniques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all intrusive activities </a:t>
            </a:r>
            <a:r>
              <a:rPr lang="en-US" dirty="0" smtClean="0"/>
              <a:t>are necessarily </a:t>
            </a:r>
            <a:r>
              <a:rPr lang="en-US" dirty="0"/>
              <a:t>anomalous  flag all system</a:t>
            </a:r>
            <a:br>
              <a:rPr lang="en-US" dirty="0"/>
            </a:br>
            <a:r>
              <a:rPr lang="en-US" dirty="0"/>
              <a:t>states that very from a “normal </a:t>
            </a:r>
            <a:r>
              <a:rPr lang="en-US" dirty="0" smtClean="0"/>
              <a:t>activity profile</a:t>
            </a:r>
            <a:r>
              <a:rPr lang="en-US" dirty="0"/>
              <a:t>”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Techniques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Need:</a:t>
            </a:r>
            <a:endParaRPr lang="en-US" dirty="0"/>
          </a:p>
          <a:p>
            <a:pPr lvl="1"/>
            <a:r>
              <a:rPr lang="en-US" dirty="0" smtClean="0"/>
              <a:t>Selection </a:t>
            </a:r>
            <a:r>
              <a:rPr lang="en-US" dirty="0"/>
              <a:t>of features to </a:t>
            </a:r>
            <a:r>
              <a:rPr lang="en-US" dirty="0" smtClean="0"/>
              <a:t>monitor</a:t>
            </a:r>
            <a:endParaRPr lang="en-US" dirty="0"/>
          </a:p>
          <a:p>
            <a:pPr lvl="1"/>
            <a:r>
              <a:rPr lang="en-US" dirty="0" smtClean="0"/>
              <a:t>Good </a:t>
            </a:r>
            <a:r>
              <a:rPr lang="en-US" dirty="0"/>
              <a:t>threshold levels to prevent false-positives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 smtClean="0"/>
              <a:t>false-negatives</a:t>
            </a:r>
            <a:endParaRPr lang="en-US" dirty="0"/>
          </a:p>
          <a:p>
            <a:pPr lvl="1"/>
            <a:r>
              <a:rPr lang="en-US" dirty="0" smtClean="0"/>
              <a:t>Efficient </a:t>
            </a:r>
            <a:r>
              <a:rPr lang="en-US" dirty="0"/>
              <a:t>method for keeping track and updating</a:t>
            </a:r>
            <a:br>
              <a:rPr lang="en-US" dirty="0"/>
            </a:br>
            <a:r>
              <a:rPr lang="en-US" dirty="0"/>
              <a:t>system profile metrics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4384012"/>
            <a:ext cx="62388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71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Misuse </a:t>
            </a:r>
            <a:r>
              <a:rPr lang="en-US" dirty="0"/>
              <a:t>Detection Techniques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attacks in the form of pattern or </a:t>
            </a:r>
            <a:r>
              <a:rPr lang="en-US" dirty="0" smtClean="0"/>
              <a:t>a signature </a:t>
            </a:r>
            <a:r>
              <a:rPr lang="en-US" dirty="0"/>
              <a:t>(variations of same attack can </a:t>
            </a:r>
            <a:r>
              <a:rPr lang="en-US" dirty="0" smtClean="0"/>
              <a:t>be detected</a:t>
            </a:r>
            <a:r>
              <a:rPr lang="en-US" dirty="0"/>
              <a:t>)</a:t>
            </a:r>
            <a:br>
              <a:rPr lang="en-US" dirty="0"/>
            </a:b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Problem!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Cannot </a:t>
            </a:r>
            <a:r>
              <a:rPr lang="en-US" dirty="0">
                <a:solidFill>
                  <a:srgbClr val="FF0000"/>
                </a:solidFill>
              </a:rPr>
              <a:t>represent new attacks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42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3. </a:t>
            </a:r>
            <a:r>
              <a:rPr lang="en-US" dirty="0"/>
              <a:t>Hybrid Misuse / </a:t>
            </a:r>
            <a:r>
              <a:rPr lang="en-US" dirty="0" smtClean="0"/>
              <a:t>Anomaly Detection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Anomaly and misuse detection </a:t>
            </a:r>
            <a:r>
              <a:rPr lang="en-US" dirty="0" smtClean="0"/>
              <a:t>approaches together</a:t>
            </a:r>
          </a:p>
          <a:p>
            <a:pPr lvl="1"/>
            <a:r>
              <a:rPr lang="en-US" dirty="0" smtClean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1. Browsing using </a:t>
            </a:r>
            <a:r>
              <a:rPr lang="en-US" dirty="0" smtClean="0"/>
              <a:t>TOR </a:t>
            </a:r>
            <a:r>
              <a:rPr lang="en-US" dirty="0"/>
              <a:t>is not misuse but</a:t>
            </a:r>
            <a:br>
              <a:rPr lang="en-US" dirty="0"/>
            </a:br>
            <a:r>
              <a:rPr lang="en-US" dirty="0"/>
              <a:t>might be anomalous</a:t>
            </a:r>
            <a:br>
              <a:rPr lang="en-US" dirty="0"/>
            </a:br>
            <a:r>
              <a:rPr lang="en-US" dirty="0"/>
              <a:t>2. Administrator accessing sensitive files is not</a:t>
            </a:r>
            <a:br>
              <a:rPr lang="en-US" dirty="0"/>
            </a:br>
            <a:r>
              <a:rPr lang="en-US" dirty="0"/>
              <a:t>anomalous but might be misuse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8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4.Immune </a:t>
            </a:r>
            <a:r>
              <a:rPr lang="en-US" dirty="0"/>
              <a:t>System Based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Detect </a:t>
            </a:r>
            <a:r>
              <a:rPr lang="en-US" dirty="0"/>
              <a:t>intrusions by identifying </a:t>
            </a:r>
            <a:r>
              <a:rPr lang="en-US" dirty="0" smtClean="0"/>
              <a:t>suspicious changes </a:t>
            </a:r>
            <a:r>
              <a:rPr lang="en-US" dirty="0"/>
              <a:t>in system-wide </a:t>
            </a:r>
            <a:r>
              <a:rPr lang="en-US" dirty="0" smtClean="0"/>
              <a:t>activities.</a:t>
            </a:r>
            <a:endParaRPr lang="en-US" dirty="0"/>
          </a:p>
          <a:p>
            <a:r>
              <a:rPr lang="en-US" dirty="0" smtClean="0"/>
              <a:t>System </a:t>
            </a:r>
            <a:r>
              <a:rPr lang="en-US" dirty="0"/>
              <a:t>health factors:</a:t>
            </a:r>
            <a:br>
              <a:rPr lang="en-US" dirty="0"/>
            </a:br>
            <a:r>
              <a:rPr lang="en-US" dirty="0" smtClean="0"/>
              <a:t> Performance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 Use of system </a:t>
            </a:r>
            <a:r>
              <a:rPr lang="en-US" dirty="0" smtClean="0"/>
              <a:t>resources</a:t>
            </a:r>
            <a:endParaRPr lang="en-US" dirty="0"/>
          </a:p>
          <a:p>
            <a:r>
              <a:rPr lang="en-US" dirty="0" smtClean="0"/>
              <a:t>Need</a:t>
            </a:r>
            <a:r>
              <a:rPr lang="en-US" dirty="0"/>
              <a:t>: identify system-wide measurements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02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Immune </a:t>
            </a:r>
            <a:r>
              <a:rPr lang="en-US" dirty="0"/>
              <a:t>System Based ID</a:t>
            </a:r>
            <a:r>
              <a:rPr lang="en-US" dirty="0"/>
              <a:t> </a:t>
            </a:r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Principal features of human immune system that</a:t>
            </a:r>
            <a:br>
              <a:rPr lang="en-US" dirty="0"/>
            </a:br>
            <a:r>
              <a:rPr lang="en-US" dirty="0"/>
              <a:t>are relevant to construct robust computer systems</a:t>
            </a:r>
            <a:r>
              <a:rPr lang="en-US" dirty="0" smtClean="0"/>
              <a:t>: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1. </a:t>
            </a:r>
            <a:r>
              <a:rPr lang="en-US" dirty="0" smtClean="0"/>
              <a:t>Multi-layered protection</a:t>
            </a:r>
            <a:br>
              <a:rPr lang="en-US" dirty="0" smtClean="0"/>
            </a:br>
            <a:r>
              <a:rPr lang="en-US" dirty="0" smtClean="0"/>
              <a:t>2. Distributed detection</a:t>
            </a:r>
            <a:br>
              <a:rPr lang="en-US" dirty="0" smtClean="0"/>
            </a:br>
            <a:r>
              <a:rPr lang="en-US" dirty="0" smtClean="0"/>
              <a:t>3. Diversity of detection</a:t>
            </a:r>
            <a:br>
              <a:rPr lang="en-US" dirty="0" smtClean="0"/>
            </a:br>
            <a:r>
              <a:rPr lang="en-US" dirty="0" smtClean="0"/>
              <a:t>4. Inexact matching ability</a:t>
            </a:r>
            <a:br>
              <a:rPr lang="en-US" dirty="0" smtClean="0"/>
            </a:br>
            <a:r>
              <a:rPr lang="en-US" dirty="0" smtClean="0"/>
              <a:t>5. Detection of unseen attacks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00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Masquerading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258" y="1558422"/>
            <a:ext cx="665882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45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Diversionary </a:t>
            </a:r>
            <a:r>
              <a:rPr lang="en-US" dirty="0"/>
              <a:t>Attack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574" y="1930400"/>
            <a:ext cx="6098187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40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Coordinated </a:t>
            </a:r>
            <a:r>
              <a:rPr lang="en-US" dirty="0"/>
              <a:t>attacks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39" y="2160588"/>
            <a:ext cx="611156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1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 Chaining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404" y="2160588"/>
            <a:ext cx="689722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5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Recovery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Actions to avoid further loss from </a:t>
            </a:r>
            <a:r>
              <a:rPr lang="en-US" dirty="0" smtClean="0"/>
              <a:t>intrusion.</a:t>
            </a:r>
            <a:endParaRPr lang="en-US" dirty="0"/>
          </a:p>
          <a:p>
            <a:r>
              <a:rPr lang="en-US" dirty="0" smtClean="0"/>
              <a:t>Terminate </a:t>
            </a:r>
            <a:r>
              <a:rPr lang="en-US" dirty="0"/>
              <a:t>intrusion and protect </a:t>
            </a:r>
            <a:r>
              <a:rPr lang="en-US" dirty="0" smtClean="0"/>
              <a:t>against reoccurrence.</a:t>
            </a:r>
            <a:endParaRPr lang="en-US" dirty="0"/>
          </a:p>
          <a:p>
            <a:r>
              <a:rPr lang="en-US" dirty="0" smtClean="0"/>
              <a:t>Reconstructive </a:t>
            </a:r>
            <a:r>
              <a:rPr lang="en-US" dirty="0"/>
              <a:t>methods based </a:t>
            </a:r>
            <a:r>
              <a:rPr lang="en-US" dirty="0" smtClean="0"/>
              <a:t>on:</a:t>
            </a:r>
            <a:endParaRPr lang="en-US" dirty="0"/>
          </a:p>
          <a:p>
            <a:pPr lvl="1"/>
            <a:r>
              <a:rPr lang="en-US" dirty="0" smtClean="0"/>
              <a:t>Time </a:t>
            </a:r>
            <a:r>
              <a:rPr lang="en-US" dirty="0"/>
              <a:t>period of </a:t>
            </a:r>
            <a:r>
              <a:rPr lang="en-US" dirty="0" smtClean="0"/>
              <a:t>intrusion</a:t>
            </a:r>
            <a:endParaRPr lang="en-US" dirty="0"/>
          </a:p>
          <a:p>
            <a:pPr lvl="1"/>
            <a:r>
              <a:rPr lang="en-US" dirty="0" smtClean="0"/>
              <a:t>Changes </a:t>
            </a:r>
            <a:r>
              <a:rPr lang="en-US" dirty="0"/>
              <a:t>made by legitimate users during the </a:t>
            </a:r>
            <a:r>
              <a:rPr lang="en-US" dirty="0" smtClean="0"/>
              <a:t>effected period</a:t>
            </a:r>
            <a:endParaRPr lang="en-US" dirty="0"/>
          </a:p>
          <a:p>
            <a:pPr lvl="1"/>
            <a:r>
              <a:rPr lang="en-US" dirty="0" smtClean="0"/>
              <a:t>Regular </a:t>
            </a:r>
            <a:r>
              <a:rPr lang="en-US" dirty="0"/>
              <a:t>backups, audit trail based detection of effected</a:t>
            </a:r>
            <a:br>
              <a:rPr lang="en-US" dirty="0"/>
            </a:br>
            <a:r>
              <a:rPr lang="en-US" dirty="0"/>
              <a:t>components, semantic based recovery, minimal roll-back</a:t>
            </a:r>
            <a:br>
              <a:rPr lang="en-US" dirty="0"/>
            </a:br>
            <a:r>
              <a:rPr lang="en-US" dirty="0"/>
              <a:t>for recovery.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70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409</Words>
  <Application>Microsoft Office PowerPoint</Application>
  <PresentationFormat>Widescreen</PresentationFormat>
  <Paragraphs>111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LiberationSerif</vt:lpstr>
      <vt:lpstr>LiberationSerif-Bold</vt:lpstr>
      <vt:lpstr>Trebuchet MS</vt:lpstr>
      <vt:lpstr>Wingdings 3</vt:lpstr>
      <vt:lpstr>Facet</vt:lpstr>
      <vt:lpstr>CYS 121 Information Systems Security</vt:lpstr>
      <vt:lpstr> </vt:lpstr>
      <vt:lpstr>Historical Research - Prevention  </vt:lpstr>
      <vt:lpstr>Misuse Prevention  </vt:lpstr>
      <vt:lpstr>Contributing Factors for Misuse  </vt:lpstr>
      <vt:lpstr>Need:</vt:lpstr>
      <vt:lpstr>Why Intrusion Detection?  </vt:lpstr>
      <vt:lpstr>Intrusion Detection - Milestones  </vt:lpstr>
      <vt:lpstr>Intrusion Detection - Milestones  </vt:lpstr>
      <vt:lpstr>Terminology</vt:lpstr>
      <vt:lpstr>Phases of Intrusion  </vt:lpstr>
      <vt:lpstr>Times of Intrusion Detection  </vt:lpstr>
      <vt:lpstr>Types of Intrusion Detection  </vt:lpstr>
      <vt:lpstr>Audit Data</vt:lpstr>
      <vt:lpstr>Audit-Based Intrusion Detection  </vt:lpstr>
      <vt:lpstr>Anomaly versus Misuse  </vt:lpstr>
      <vt:lpstr>False Positive v.s. False Negative  </vt:lpstr>
      <vt:lpstr>Intrusion Detection Techniques  </vt:lpstr>
      <vt:lpstr>Rules and Profiles  </vt:lpstr>
      <vt:lpstr>Rules and Profiles  cont.</vt:lpstr>
      <vt:lpstr>1. Anomaly Detection Techniques  </vt:lpstr>
      <vt:lpstr>Anomaly Detection Techniques  cont.</vt:lpstr>
      <vt:lpstr>2. Misuse Detection Techniques  </vt:lpstr>
      <vt:lpstr>3. Hybrid Misuse / Anomaly Detection  </vt:lpstr>
      <vt:lpstr>4.Immune System Based ID</vt:lpstr>
      <vt:lpstr>4. Immune System Based ID cont.</vt:lpstr>
      <vt:lpstr>5. Masquerading  </vt:lpstr>
      <vt:lpstr>6. Diversionary Attack  </vt:lpstr>
      <vt:lpstr>7. Coordinated attacks </vt:lpstr>
      <vt:lpstr>8. Chaining  </vt:lpstr>
      <vt:lpstr>Intrusion Recovery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CYS 121 Information Systems Security</dc:title>
  <dc:creator>Microsoft account</dc:creator>
  <cp:lastModifiedBy>Microsoft account</cp:lastModifiedBy>
  <cp:revision>2</cp:revision>
  <dcterms:created xsi:type="dcterms:W3CDTF">2022-05-02T07:46:09Z</dcterms:created>
  <dcterms:modified xsi:type="dcterms:W3CDTF">2022-05-02T07:49:35Z</dcterms:modified>
</cp:coreProperties>
</file>