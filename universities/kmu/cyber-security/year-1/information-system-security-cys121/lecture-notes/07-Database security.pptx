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9" r:id="rId7"/>
    <p:sldId id="261" r:id="rId8"/>
    <p:sldId id="270" r:id="rId9"/>
    <p:sldId id="265" r:id="rId10"/>
    <p:sldId id="268" r:id="rId11"/>
    <p:sldId id="264" r:id="rId12"/>
    <p:sldId id="266" r:id="rId13"/>
    <p:sldId id="267" r:id="rId14"/>
    <p:sldId id="262" r:id="rId15"/>
    <p:sldId id="26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3" d="100"/>
          <a:sy n="113" d="100"/>
        </p:scale>
        <p:origin x="45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A9C9F-FA72-434E-AD8E-BC442F26C8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8FE503-7B2A-4CDE-990C-1E792E979F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2C6F804-4382-4689-BE86-95BF3E49B55D}"/>
              </a:ext>
            </a:extLst>
          </p:cNvPr>
          <p:cNvSpPr>
            <a:spLocks noGrp="1"/>
          </p:cNvSpPr>
          <p:nvPr>
            <p:ph type="dt" sz="half" idx="10"/>
          </p:nvPr>
        </p:nvSpPr>
        <p:spPr/>
        <p:txBody>
          <a:bodyPr/>
          <a:lstStyle/>
          <a:p>
            <a:fld id="{E77CE793-9590-4447-A0C5-FD7D3631D864}" type="datetimeFigureOut">
              <a:rPr lang="en-US" smtClean="0"/>
              <a:t>8/28/2023</a:t>
            </a:fld>
            <a:endParaRPr lang="en-US"/>
          </a:p>
        </p:txBody>
      </p:sp>
      <p:sp>
        <p:nvSpPr>
          <p:cNvPr id="5" name="Footer Placeholder 4">
            <a:extLst>
              <a:ext uri="{FF2B5EF4-FFF2-40B4-BE49-F238E27FC236}">
                <a16:creationId xmlns:a16="http://schemas.microsoft.com/office/drawing/2014/main" id="{CA97F0FA-734F-4A14-92DC-4E075B190A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146D50-8856-4AEF-A6EE-C0101CE2301C}"/>
              </a:ext>
            </a:extLst>
          </p:cNvPr>
          <p:cNvSpPr>
            <a:spLocks noGrp="1"/>
          </p:cNvSpPr>
          <p:nvPr>
            <p:ph type="sldNum" sz="quarter" idx="12"/>
          </p:nvPr>
        </p:nvSpPr>
        <p:spPr/>
        <p:txBody>
          <a:bodyPr/>
          <a:lstStyle/>
          <a:p>
            <a:fld id="{8910B2A3-E5EC-405A-AFB1-7201E5977F57}" type="slidenum">
              <a:rPr lang="en-US" smtClean="0"/>
              <a:t>‹#›</a:t>
            </a:fld>
            <a:endParaRPr lang="en-US"/>
          </a:p>
        </p:txBody>
      </p:sp>
    </p:spTree>
    <p:extLst>
      <p:ext uri="{BB962C8B-B14F-4D97-AF65-F5344CB8AC3E}">
        <p14:creationId xmlns:p14="http://schemas.microsoft.com/office/powerpoint/2010/main" val="14174455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E9718-12A4-4AEF-9DDD-1DD4214458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90C9BF-2A1C-476E-9523-F378AB15F4F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8678DD-AD10-44B2-A314-C264908E3E22}"/>
              </a:ext>
            </a:extLst>
          </p:cNvPr>
          <p:cNvSpPr>
            <a:spLocks noGrp="1"/>
          </p:cNvSpPr>
          <p:nvPr>
            <p:ph type="dt" sz="half" idx="10"/>
          </p:nvPr>
        </p:nvSpPr>
        <p:spPr/>
        <p:txBody>
          <a:bodyPr/>
          <a:lstStyle/>
          <a:p>
            <a:fld id="{E77CE793-9590-4447-A0C5-FD7D3631D864}" type="datetimeFigureOut">
              <a:rPr lang="en-US" smtClean="0"/>
              <a:t>8/28/2023</a:t>
            </a:fld>
            <a:endParaRPr lang="en-US"/>
          </a:p>
        </p:txBody>
      </p:sp>
      <p:sp>
        <p:nvSpPr>
          <p:cNvPr id="5" name="Footer Placeholder 4">
            <a:extLst>
              <a:ext uri="{FF2B5EF4-FFF2-40B4-BE49-F238E27FC236}">
                <a16:creationId xmlns:a16="http://schemas.microsoft.com/office/drawing/2014/main" id="{A1F460B0-6926-4302-BB4E-BF23AB0363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72C570-9CB7-400A-971B-EAAAA214B053}"/>
              </a:ext>
            </a:extLst>
          </p:cNvPr>
          <p:cNvSpPr>
            <a:spLocks noGrp="1"/>
          </p:cNvSpPr>
          <p:nvPr>
            <p:ph type="sldNum" sz="quarter" idx="12"/>
          </p:nvPr>
        </p:nvSpPr>
        <p:spPr/>
        <p:txBody>
          <a:bodyPr/>
          <a:lstStyle/>
          <a:p>
            <a:fld id="{8910B2A3-E5EC-405A-AFB1-7201E5977F57}" type="slidenum">
              <a:rPr lang="en-US" smtClean="0"/>
              <a:t>‹#›</a:t>
            </a:fld>
            <a:endParaRPr lang="en-US"/>
          </a:p>
        </p:txBody>
      </p:sp>
    </p:spTree>
    <p:extLst>
      <p:ext uri="{BB962C8B-B14F-4D97-AF65-F5344CB8AC3E}">
        <p14:creationId xmlns:p14="http://schemas.microsoft.com/office/powerpoint/2010/main" val="18156416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72610-4677-4346-8014-FC708CD515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234F938-9B74-4D71-B169-3982F5F493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83160EBA-A996-4C0B-86B0-414FE5F62AE1}"/>
              </a:ext>
            </a:extLst>
          </p:cNvPr>
          <p:cNvSpPr>
            <a:spLocks noGrp="1"/>
          </p:cNvSpPr>
          <p:nvPr>
            <p:ph type="dt" sz="half" idx="10"/>
          </p:nvPr>
        </p:nvSpPr>
        <p:spPr/>
        <p:txBody>
          <a:bodyPr/>
          <a:lstStyle/>
          <a:p>
            <a:fld id="{E77CE793-9590-4447-A0C5-FD7D3631D864}" type="datetimeFigureOut">
              <a:rPr lang="en-US" smtClean="0"/>
              <a:t>8/28/2023</a:t>
            </a:fld>
            <a:endParaRPr lang="en-US"/>
          </a:p>
        </p:txBody>
      </p:sp>
      <p:sp>
        <p:nvSpPr>
          <p:cNvPr id="5" name="Footer Placeholder 4">
            <a:extLst>
              <a:ext uri="{FF2B5EF4-FFF2-40B4-BE49-F238E27FC236}">
                <a16:creationId xmlns:a16="http://schemas.microsoft.com/office/drawing/2014/main" id="{3A56F42A-FB77-4436-AFE9-EF8D56161B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142499-8A1D-4E84-8B6E-42442DEA538F}"/>
              </a:ext>
            </a:extLst>
          </p:cNvPr>
          <p:cNvSpPr>
            <a:spLocks noGrp="1"/>
          </p:cNvSpPr>
          <p:nvPr>
            <p:ph type="sldNum" sz="quarter" idx="12"/>
          </p:nvPr>
        </p:nvSpPr>
        <p:spPr/>
        <p:txBody>
          <a:bodyPr/>
          <a:lstStyle/>
          <a:p>
            <a:fld id="{8910B2A3-E5EC-405A-AFB1-7201E5977F57}" type="slidenum">
              <a:rPr lang="en-US" smtClean="0"/>
              <a:t>‹#›</a:t>
            </a:fld>
            <a:endParaRPr lang="en-US"/>
          </a:p>
        </p:txBody>
      </p:sp>
    </p:spTree>
    <p:extLst>
      <p:ext uri="{BB962C8B-B14F-4D97-AF65-F5344CB8AC3E}">
        <p14:creationId xmlns:p14="http://schemas.microsoft.com/office/powerpoint/2010/main" val="105087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E07CC-71C8-4C76-98C9-885CF37DA7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63E2AD-27BD-4987-BF2A-E74C7159681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568313-3483-4F78-A80D-EB181007102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D458DEA-9E2D-43E4-96BB-1E95904E91A1}"/>
              </a:ext>
            </a:extLst>
          </p:cNvPr>
          <p:cNvSpPr>
            <a:spLocks noGrp="1"/>
          </p:cNvSpPr>
          <p:nvPr>
            <p:ph type="dt" sz="half" idx="10"/>
          </p:nvPr>
        </p:nvSpPr>
        <p:spPr/>
        <p:txBody>
          <a:bodyPr/>
          <a:lstStyle/>
          <a:p>
            <a:fld id="{E77CE793-9590-4447-A0C5-FD7D3631D864}" type="datetimeFigureOut">
              <a:rPr lang="en-US" smtClean="0"/>
              <a:t>8/28/2023</a:t>
            </a:fld>
            <a:endParaRPr lang="en-US"/>
          </a:p>
        </p:txBody>
      </p:sp>
      <p:sp>
        <p:nvSpPr>
          <p:cNvPr id="6" name="Footer Placeholder 5">
            <a:extLst>
              <a:ext uri="{FF2B5EF4-FFF2-40B4-BE49-F238E27FC236}">
                <a16:creationId xmlns:a16="http://schemas.microsoft.com/office/drawing/2014/main" id="{B0D9580B-2D89-456C-8B4B-B7249F8541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9C7005-397A-48CC-B618-D5531063EA96}"/>
              </a:ext>
            </a:extLst>
          </p:cNvPr>
          <p:cNvSpPr>
            <a:spLocks noGrp="1"/>
          </p:cNvSpPr>
          <p:nvPr>
            <p:ph type="sldNum" sz="quarter" idx="12"/>
          </p:nvPr>
        </p:nvSpPr>
        <p:spPr/>
        <p:txBody>
          <a:bodyPr/>
          <a:lstStyle/>
          <a:p>
            <a:fld id="{8910B2A3-E5EC-405A-AFB1-7201E5977F57}" type="slidenum">
              <a:rPr lang="en-US" smtClean="0"/>
              <a:t>‹#›</a:t>
            </a:fld>
            <a:endParaRPr lang="en-US"/>
          </a:p>
        </p:txBody>
      </p:sp>
    </p:spTree>
    <p:extLst>
      <p:ext uri="{BB962C8B-B14F-4D97-AF65-F5344CB8AC3E}">
        <p14:creationId xmlns:p14="http://schemas.microsoft.com/office/powerpoint/2010/main" val="36358445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2D3D2-072F-4F11-9945-9E741231B34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9EC1A28-3C75-48B1-8A4C-C2C7CFDEB0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CB639FD-0338-4F22-8A6C-79A883F094C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4A4C97-4A06-44CF-8556-4CCE2EBD9B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EC6E2D9-5980-4504-8140-F029DE06D0D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22E3343-436C-4E01-9E23-895030E42F3D}"/>
              </a:ext>
            </a:extLst>
          </p:cNvPr>
          <p:cNvSpPr>
            <a:spLocks noGrp="1"/>
          </p:cNvSpPr>
          <p:nvPr>
            <p:ph type="dt" sz="half" idx="10"/>
          </p:nvPr>
        </p:nvSpPr>
        <p:spPr/>
        <p:txBody>
          <a:bodyPr/>
          <a:lstStyle/>
          <a:p>
            <a:fld id="{E77CE793-9590-4447-A0C5-FD7D3631D864}" type="datetimeFigureOut">
              <a:rPr lang="en-US" smtClean="0"/>
              <a:t>8/28/2023</a:t>
            </a:fld>
            <a:endParaRPr lang="en-US"/>
          </a:p>
        </p:txBody>
      </p:sp>
      <p:sp>
        <p:nvSpPr>
          <p:cNvPr id="8" name="Footer Placeholder 7">
            <a:extLst>
              <a:ext uri="{FF2B5EF4-FFF2-40B4-BE49-F238E27FC236}">
                <a16:creationId xmlns:a16="http://schemas.microsoft.com/office/drawing/2014/main" id="{715C5AB2-0F9A-4B42-9E64-8822552E196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DC210D9-E443-4358-B84B-5483D22D76E4}"/>
              </a:ext>
            </a:extLst>
          </p:cNvPr>
          <p:cNvSpPr>
            <a:spLocks noGrp="1"/>
          </p:cNvSpPr>
          <p:nvPr>
            <p:ph type="sldNum" sz="quarter" idx="12"/>
          </p:nvPr>
        </p:nvSpPr>
        <p:spPr/>
        <p:txBody>
          <a:bodyPr/>
          <a:lstStyle/>
          <a:p>
            <a:fld id="{8910B2A3-E5EC-405A-AFB1-7201E5977F57}" type="slidenum">
              <a:rPr lang="en-US" smtClean="0"/>
              <a:t>‹#›</a:t>
            </a:fld>
            <a:endParaRPr lang="en-US"/>
          </a:p>
        </p:txBody>
      </p:sp>
    </p:spTree>
    <p:extLst>
      <p:ext uri="{BB962C8B-B14F-4D97-AF65-F5344CB8AC3E}">
        <p14:creationId xmlns:p14="http://schemas.microsoft.com/office/powerpoint/2010/main" val="3342003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F4581-FE55-4889-95A2-B263C24FDAC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35FC45E-E1E9-4A95-8D70-D9773FD0E4DB}"/>
              </a:ext>
            </a:extLst>
          </p:cNvPr>
          <p:cNvSpPr>
            <a:spLocks noGrp="1"/>
          </p:cNvSpPr>
          <p:nvPr>
            <p:ph type="dt" sz="half" idx="10"/>
          </p:nvPr>
        </p:nvSpPr>
        <p:spPr/>
        <p:txBody>
          <a:bodyPr/>
          <a:lstStyle/>
          <a:p>
            <a:fld id="{E77CE793-9590-4447-A0C5-FD7D3631D864}" type="datetimeFigureOut">
              <a:rPr lang="en-US" smtClean="0"/>
              <a:t>8/28/2023</a:t>
            </a:fld>
            <a:endParaRPr lang="en-US"/>
          </a:p>
        </p:txBody>
      </p:sp>
      <p:sp>
        <p:nvSpPr>
          <p:cNvPr id="4" name="Footer Placeholder 3">
            <a:extLst>
              <a:ext uri="{FF2B5EF4-FFF2-40B4-BE49-F238E27FC236}">
                <a16:creationId xmlns:a16="http://schemas.microsoft.com/office/drawing/2014/main" id="{7CB5542E-8522-4032-A851-27AB5403B5D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83C3327-2B71-4A20-9DEE-6DD044013B34}"/>
              </a:ext>
            </a:extLst>
          </p:cNvPr>
          <p:cNvSpPr>
            <a:spLocks noGrp="1"/>
          </p:cNvSpPr>
          <p:nvPr>
            <p:ph type="sldNum" sz="quarter" idx="12"/>
          </p:nvPr>
        </p:nvSpPr>
        <p:spPr/>
        <p:txBody>
          <a:bodyPr/>
          <a:lstStyle/>
          <a:p>
            <a:fld id="{8910B2A3-E5EC-405A-AFB1-7201E5977F57}" type="slidenum">
              <a:rPr lang="en-US" smtClean="0"/>
              <a:t>‹#›</a:t>
            </a:fld>
            <a:endParaRPr lang="en-US"/>
          </a:p>
        </p:txBody>
      </p:sp>
    </p:spTree>
    <p:extLst>
      <p:ext uri="{BB962C8B-B14F-4D97-AF65-F5344CB8AC3E}">
        <p14:creationId xmlns:p14="http://schemas.microsoft.com/office/powerpoint/2010/main" val="2233048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D199C5-D677-41CD-A7E0-57F2AB60284E}"/>
              </a:ext>
            </a:extLst>
          </p:cNvPr>
          <p:cNvSpPr>
            <a:spLocks noGrp="1"/>
          </p:cNvSpPr>
          <p:nvPr>
            <p:ph type="dt" sz="half" idx="10"/>
          </p:nvPr>
        </p:nvSpPr>
        <p:spPr/>
        <p:txBody>
          <a:bodyPr/>
          <a:lstStyle/>
          <a:p>
            <a:fld id="{E77CE793-9590-4447-A0C5-FD7D3631D864}" type="datetimeFigureOut">
              <a:rPr lang="en-US" smtClean="0"/>
              <a:t>8/28/2023</a:t>
            </a:fld>
            <a:endParaRPr lang="en-US"/>
          </a:p>
        </p:txBody>
      </p:sp>
      <p:sp>
        <p:nvSpPr>
          <p:cNvPr id="3" name="Footer Placeholder 2">
            <a:extLst>
              <a:ext uri="{FF2B5EF4-FFF2-40B4-BE49-F238E27FC236}">
                <a16:creationId xmlns:a16="http://schemas.microsoft.com/office/drawing/2014/main" id="{61C1BF26-E74A-4CFC-B0CF-C33EE619D6D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D67A838-8E86-495A-99A5-00370295C264}"/>
              </a:ext>
            </a:extLst>
          </p:cNvPr>
          <p:cNvSpPr>
            <a:spLocks noGrp="1"/>
          </p:cNvSpPr>
          <p:nvPr>
            <p:ph type="sldNum" sz="quarter" idx="12"/>
          </p:nvPr>
        </p:nvSpPr>
        <p:spPr/>
        <p:txBody>
          <a:bodyPr/>
          <a:lstStyle/>
          <a:p>
            <a:fld id="{8910B2A3-E5EC-405A-AFB1-7201E5977F57}" type="slidenum">
              <a:rPr lang="en-US" smtClean="0"/>
              <a:t>‹#›</a:t>
            </a:fld>
            <a:endParaRPr lang="en-US"/>
          </a:p>
        </p:txBody>
      </p:sp>
    </p:spTree>
    <p:extLst>
      <p:ext uri="{BB962C8B-B14F-4D97-AF65-F5344CB8AC3E}">
        <p14:creationId xmlns:p14="http://schemas.microsoft.com/office/powerpoint/2010/main" val="3803204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B0ECB-E255-4504-841D-65B7E405F8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CFD81BD-911D-4CB6-B750-5F4E10EA3B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A1F5C5-84B4-4538-996F-C27E284C41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A9DABEC-231C-4868-88A7-76BF03C9E163}"/>
              </a:ext>
            </a:extLst>
          </p:cNvPr>
          <p:cNvSpPr>
            <a:spLocks noGrp="1"/>
          </p:cNvSpPr>
          <p:nvPr>
            <p:ph type="dt" sz="half" idx="10"/>
          </p:nvPr>
        </p:nvSpPr>
        <p:spPr/>
        <p:txBody>
          <a:bodyPr/>
          <a:lstStyle/>
          <a:p>
            <a:fld id="{E77CE793-9590-4447-A0C5-FD7D3631D864}" type="datetimeFigureOut">
              <a:rPr lang="en-US" smtClean="0"/>
              <a:t>8/28/2023</a:t>
            </a:fld>
            <a:endParaRPr lang="en-US"/>
          </a:p>
        </p:txBody>
      </p:sp>
      <p:sp>
        <p:nvSpPr>
          <p:cNvPr id="6" name="Footer Placeholder 5">
            <a:extLst>
              <a:ext uri="{FF2B5EF4-FFF2-40B4-BE49-F238E27FC236}">
                <a16:creationId xmlns:a16="http://schemas.microsoft.com/office/drawing/2014/main" id="{C8EE6C6A-8CA3-4BAF-A4F7-E272D97F41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394D15-88FD-4DE4-A88D-7AFD6A775AF4}"/>
              </a:ext>
            </a:extLst>
          </p:cNvPr>
          <p:cNvSpPr>
            <a:spLocks noGrp="1"/>
          </p:cNvSpPr>
          <p:nvPr>
            <p:ph type="sldNum" sz="quarter" idx="12"/>
          </p:nvPr>
        </p:nvSpPr>
        <p:spPr/>
        <p:txBody>
          <a:bodyPr/>
          <a:lstStyle/>
          <a:p>
            <a:fld id="{8910B2A3-E5EC-405A-AFB1-7201E5977F57}" type="slidenum">
              <a:rPr lang="en-US" smtClean="0"/>
              <a:t>‹#›</a:t>
            </a:fld>
            <a:endParaRPr lang="en-US"/>
          </a:p>
        </p:txBody>
      </p:sp>
    </p:spTree>
    <p:extLst>
      <p:ext uri="{BB962C8B-B14F-4D97-AF65-F5344CB8AC3E}">
        <p14:creationId xmlns:p14="http://schemas.microsoft.com/office/powerpoint/2010/main" val="125696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64970-440B-456F-A55A-21655DA161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5FE87C6-3C94-4191-8A78-7D31552B1F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C2ECE10-C243-47DC-B89C-E5C95B95A7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D786325-AC65-4F05-B475-4BDF74A3BD9E}"/>
              </a:ext>
            </a:extLst>
          </p:cNvPr>
          <p:cNvSpPr>
            <a:spLocks noGrp="1"/>
          </p:cNvSpPr>
          <p:nvPr>
            <p:ph type="dt" sz="half" idx="10"/>
          </p:nvPr>
        </p:nvSpPr>
        <p:spPr/>
        <p:txBody>
          <a:bodyPr/>
          <a:lstStyle/>
          <a:p>
            <a:fld id="{E77CE793-9590-4447-A0C5-FD7D3631D864}" type="datetimeFigureOut">
              <a:rPr lang="en-US" smtClean="0"/>
              <a:t>8/28/2023</a:t>
            </a:fld>
            <a:endParaRPr lang="en-US"/>
          </a:p>
        </p:txBody>
      </p:sp>
      <p:sp>
        <p:nvSpPr>
          <p:cNvPr id="6" name="Footer Placeholder 5">
            <a:extLst>
              <a:ext uri="{FF2B5EF4-FFF2-40B4-BE49-F238E27FC236}">
                <a16:creationId xmlns:a16="http://schemas.microsoft.com/office/drawing/2014/main" id="{CD51ABF4-AE47-422B-9A2A-F2E4AF25E8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F33332-5273-40E8-B81B-9341A7AD8FA1}"/>
              </a:ext>
            </a:extLst>
          </p:cNvPr>
          <p:cNvSpPr>
            <a:spLocks noGrp="1"/>
          </p:cNvSpPr>
          <p:nvPr>
            <p:ph type="sldNum" sz="quarter" idx="12"/>
          </p:nvPr>
        </p:nvSpPr>
        <p:spPr/>
        <p:txBody>
          <a:bodyPr/>
          <a:lstStyle/>
          <a:p>
            <a:fld id="{8910B2A3-E5EC-405A-AFB1-7201E5977F57}" type="slidenum">
              <a:rPr lang="en-US" smtClean="0"/>
              <a:t>‹#›</a:t>
            </a:fld>
            <a:endParaRPr lang="en-US"/>
          </a:p>
        </p:txBody>
      </p:sp>
    </p:spTree>
    <p:extLst>
      <p:ext uri="{BB962C8B-B14F-4D97-AF65-F5344CB8AC3E}">
        <p14:creationId xmlns:p14="http://schemas.microsoft.com/office/powerpoint/2010/main" val="20394261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D2578-97A3-442A-887D-4FEE583BC2B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87932AD-646C-4B4F-8781-F738688FE71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E52463-DCDA-46F1-A567-28078AD8BE1F}"/>
              </a:ext>
            </a:extLst>
          </p:cNvPr>
          <p:cNvSpPr>
            <a:spLocks noGrp="1"/>
          </p:cNvSpPr>
          <p:nvPr>
            <p:ph type="dt" sz="half" idx="10"/>
          </p:nvPr>
        </p:nvSpPr>
        <p:spPr/>
        <p:txBody>
          <a:bodyPr/>
          <a:lstStyle/>
          <a:p>
            <a:fld id="{E77CE793-9590-4447-A0C5-FD7D3631D864}" type="datetimeFigureOut">
              <a:rPr lang="en-US" smtClean="0"/>
              <a:t>8/28/2023</a:t>
            </a:fld>
            <a:endParaRPr lang="en-US"/>
          </a:p>
        </p:txBody>
      </p:sp>
      <p:sp>
        <p:nvSpPr>
          <p:cNvPr id="5" name="Footer Placeholder 4">
            <a:extLst>
              <a:ext uri="{FF2B5EF4-FFF2-40B4-BE49-F238E27FC236}">
                <a16:creationId xmlns:a16="http://schemas.microsoft.com/office/drawing/2014/main" id="{E60F1551-A6B9-4D0B-AABA-6146626E3A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940132-3BA1-4BEF-96FC-D5DC2A9530A8}"/>
              </a:ext>
            </a:extLst>
          </p:cNvPr>
          <p:cNvSpPr>
            <a:spLocks noGrp="1"/>
          </p:cNvSpPr>
          <p:nvPr>
            <p:ph type="sldNum" sz="quarter" idx="12"/>
          </p:nvPr>
        </p:nvSpPr>
        <p:spPr/>
        <p:txBody>
          <a:bodyPr/>
          <a:lstStyle/>
          <a:p>
            <a:fld id="{8910B2A3-E5EC-405A-AFB1-7201E5977F57}" type="slidenum">
              <a:rPr lang="en-US" smtClean="0"/>
              <a:t>‹#›</a:t>
            </a:fld>
            <a:endParaRPr lang="en-US"/>
          </a:p>
        </p:txBody>
      </p:sp>
    </p:spTree>
    <p:extLst>
      <p:ext uri="{BB962C8B-B14F-4D97-AF65-F5344CB8AC3E}">
        <p14:creationId xmlns:p14="http://schemas.microsoft.com/office/powerpoint/2010/main" val="168157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C203CB-572C-4035-9632-C7F30407D82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CC18CCD-F33E-4CBA-89C3-80BD186ADA5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0F267B-0452-47DE-B327-91EF1F445DAD}"/>
              </a:ext>
            </a:extLst>
          </p:cNvPr>
          <p:cNvSpPr>
            <a:spLocks noGrp="1"/>
          </p:cNvSpPr>
          <p:nvPr>
            <p:ph type="dt" sz="half" idx="10"/>
          </p:nvPr>
        </p:nvSpPr>
        <p:spPr/>
        <p:txBody>
          <a:bodyPr/>
          <a:lstStyle/>
          <a:p>
            <a:fld id="{E77CE793-9590-4447-A0C5-FD7D3631D864}" type="datetimeFigureOut">
              <a:rPr lang="en-US" smtClean="0"/>
              <a:t>8/28/2023</a:t>
            </a:fld>
            <a:endParaRPr lang="en-US"/>
          </a:p>
        </p:txBody>
      </p:sp>
      <p:sp>
        <p:nvSpPr>
          <p:cNvPr id="5" name="Footer Placeholder 4">
            <a:extLst>
              <a:ext uri="{FF2B5EF4-FFF2-40B4-BE49-F238E27FC236}">
                <a16:creationId xmlns:a16="http://schemas.microsoft.com/office/drawing/2014/main" id="{665AA146-D7D9-4685-BE8D-231ECC9EAE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1FC4EC-69E3-4858-8A82-4F2498C9523A}"/>
              </a:ext>
            </a:extLst>
          </p:cNvPr>
          <p:cNvSpPr>
            <a:spLocks noGrp="1"/>
          </p:cNvSpPr>
          <p:nvPr>
            <p:ph type="sldNum" sz="quarter" idx="12"/>
          </p:nvPr>
        </p:nvSpPr>
        <p:spPr/>
        <p:txBody>
          <a:bodyPr/>
          <a:lstStyle/>
          <a:p>
            <a:fld id="{8910B2A3-E5EC-405A-AFB1-7201E5977F57}" type="slidenum">
              <a:rPr lang="en-US" smtClean="0"/>
              <a:t>‹#›</a:t>
            </a:fld>
            <a:endParaRPr lang="en-US"/>
          </a:p>
        </p:txBody>
      </p:sp>
    </p:spTree>
    <p:extLst>
      <p:ext uri="{BB962C8B-B14F-4D97-AF65-F5344CB8AC3E}">
        <p14:creationId xmlns:p14="http://schemas.microsoft.com/office/powerpoint/2010/main" val="1621111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FE0DC7-F72E-482D-BD38-FE6CAB6C2D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6079FA7-4C87-4B1D-809B-88266619E4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ABE763-A997-4FA8-B116-5A491DA690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7CE793-9590-4447-A0C5-FD7D3631D864}" type="datetimeFigureOut">
              <a:rPr lang="en-US" smtClean="0"/>
              <a:t>8/28/2023</a:t>
            </a:fld>
            <a:endParaRPr lang="en-US"/>
          </a:p>
        </p:txBody>
      </p:sp>
      <p:sp>
        <p:nvSpPr>
          <p:cNvPr id="5" name="Footer Placeholder 4">
            <a:extLst>
              <a:ext uri="{FF2B5EF4-FFF2-40B4-BE49-F238E27FC236}">
                <a16:creationId xmlns:a16="http://schemas.microsoft.com/office/drawing/2014/main" id="{F9173CCD-1CA9-4628-B81C-E8EB3B52C4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D6F3BD6-58DB-4D47-8A8C-40CF6E3E75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10B2A3-E5EC-405A-AFB1-7201E5977F57}" type="slidenum">
              <a:rPr lang="en-US" smtClean="0"/>
              <a:t>‹#›</a:t>
            </a:fld>
            <a:endParaRPr lang="en-US"/>
          </a:p>
        </p:txBody>
      </p:sp>
    </p:spTree>
    <p:extLst>
      <p:ext uri="{BB962C8B-B14F-4D97-AF65-F5344CB8AC3E}">
        <p14:creationId xmlns:p14="http://schemas.microsoft.com/office/powerpoint/2010/main" val="31210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6C231-C5B9-44DA-9892-CE9560F25D93}"/>
              </a:ext>
            </a:extLst>
          </p:cNvPr>
          <p:cNvSpPr>
            <a:spLocks noGrp="1"/>
          </p:cNvSpPr>
          <p:nvPr>
            <p:ph type="ctrTitle"/>
          </p:nvPr>
        </p:nvSpPr>
        <p:spPr>
          <a:xfrm>
            <a:off x="1524000" y="1122363"/>
            <a:ext cx="9144000" cy="1251721"/>
          </a:xfrm>
        </p:spPr>
        <p:txBody>
          <a:bodyPr/>
          <a:lstStyle/>
          <a:p>
            <a:r>
              <a:rPr lang="en-US" dirty="0"/>
              <a:t>Database security </a:t>
            </a:r>
          </a:p>
        </p:txBody>
      </p:sp>
    </p:spTree>
    <p:extLst>
      <p:ext uri="{BB962C8B-B14F-4D97-AF65-F5344CB8AC3E}">
        <p14:creationId xmlns:p14="http://schemas.microsoft.com/office/powerpoint/2010/main" val="21977498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AC596-A483-4FE0-9C0F-B93E894C8EC8}"/>
              </a:ext>
            </a:extLst>
          </p:cNvPr>
          <p:cNvSpPr>
            <a:spLocks noGrp="1"/>
          </p:cNvSpPr>
          <p:nvPr>
            <p:ph type="title"/>
          </p:nvPr>
        </p:nvSpPr>
        <p:spPr>
          <a:xfrm>
            <a:off x="838200" y="365125"/>
            <a:ext cx="10515600" cy="767389"/>
          </a:xfrm>
        </p:spPr>
        <p:txBody>
          <a:bodyPr>
            <a:normAutofit/>
          </a:bodyPr>
          <a:lstStyle/>
          <a:p>
            <a:pPr algn="ctr"/>
            <a:r>
              <a:rPr lang="en-US" sz="4800" dirty="0">
                <a:effectLst>
                  <a:outerShdw blurRad="38100" dist="38100" dir="2700000" algn="tl">
                    <a:srgbClr val="000000">
                      <a:alpha val="43137"/>
                    </a:srgbClr>
                  </a:outerShdw>
                </a:effectLst>
              </a:rPr>
              <a:t>INTRODUCTION</a:t>
            </a:r>
          </a:p>
        </p:txBody>
      </p:sp>
      <p:sp>
        <p:nvSpPr>
          <p:cNvPr id="3" name="Content Placeholder 2">
            <a:extLst>
              <a:ext uri="{FF2B5EF4-FFF2-40B4-BE49-F238E27FC236}">
                <a16:creationId xmlns:a16="http://schemas.microsoft.com/office/drawing/2014/main" id="{002ABBAD-CDD8-4554-95A3-6B5BE8DF428C}"/>
              </a:ext>
            </a:extLst>
          </p:cNvPr>
          <p:cNvSpPr>
            <a:spLocks noGrp="1"/>
          </p:cNvSpPr>
          <p:nvPr>
            <p:ph idx="1"/>
          </p:nvPr>
        </p:nvSpPr>
        <p:spPr>
          <a:xfrm>
            <a:off x="838200" y="1132514"/>
            <a:ext cx="10515600" cy="5461233"/>
          </a:xfrm>
        </p:spPr>
        <p:txBody>
          <a:bodyPr>
            <a:normAutofit/>
          </a:bodyPr>
          <a:lstStyle/>
          <a:p>
            <a:pPr marL="0" indent="0" algn="ctr">
              <a:buNone/>
            </a:pPr>
            <a:r>
              <a:rPr lang="en-US" sz="3200" dirty="0"/>
              <a:t>Database security is the technique that protects and secures the database against intentional or accidental threats. </a:t>
            </a:r>
          </a:p>
          <a:p>
            <a:pPr marL="0" indent="0" algn="ctr">
              <a:buNone/>
            </a:pPr>
            <a:r>
              <a:rPr lang="en-US" sz="3200" dirty="0"/>
              <a:t>Database security includes hardware part, software part, human resource, and data.</a:t>
            </a:r>
          </a:p>
          <a:p>
            <a:pPr marL="0" indent="0" algn="ctr">
              <a:buNone/>
            </a:pPr>
            <a:r>
              <a:rPr lang="en-US" sz="3200" dirty="0"/>
              <a:t>The breaking of security may harm other parts of the system which may ultimately affect the database structure.</a:t>
            </a:r>
          </a:p>
          <a:p>
            <a:pPr marL="0" indent="0" algn="ctr">
              <a:buNone/>
            </a:pPr>
            <a:r>
              <a:rPr lang="en-US" sz="3200" dirty="0"/>
              <a:t>Database security about the following situations:</a:t>
            </a:r>
          </a:p>
          <a:p>
            <a:pPr marL="2743200" lvl="6" indent="0">
              <a:buNone/>
            </a:pPr>
            <a:r>
              <a:rPr lang="en-US" sz="2200" dirty="0"/>
              <a:t>•	Theft and fraudulent.</a:t>
            </a:r>
          </a:p>
          <a:p>
            <a:pPr marL="2743200" lvl="6" indent="0">
              <a:buNone/>
            </a:pPr>
            <a:r>
              <a:rPr lang="en-US" sz="2200" dirty="0"/>
              <a:t>•	Loss of confidentiality or secrecy.</a:t>
            </a:r>
          </a:p>
          <a:p>
            <a:pPr marL="2743200" lvl="6" indent="0">
              <a:buNone/>
            </a:pPr>
            <a:r>
              <a:rPr lang="en-US" sz="2200" dirty="0"/>
              <a:t>•	Loss of data privacy.</a:t>
            </a:r>
          </a:p>
          <a:p>
            <a:pPr marL="2743200" lvl="6" indent="0">
              <a:buNone/>
            </a:pPr>
            <a:r>
              <a:rPr lang="en-US" sz="2200" dirty="0"/>
              <a:t>•	Loss of data integrity.</a:t>
            </a:r>
          </a:p>
          <a:p>
            <a:pPr marL="2743200" lvl="6" indent="0">
              <a:buNone/>
            </a:pPr>
            <a:r>
              <a:rPr lang="en-US" sz="2200" dirty="0"/>
              <a:t>•	Loss of availability of data.</a:t>
            </a:r>
          </a:p>
          <a:p>
            <a:pPr marL="0" indent="0" algn="ctr">
              <a:buNone/>
            </a:pPr>
            <a:endParaRPr lang="en-US" sz="3200" dirty="0"/>
          </a:p>
        </p:txBody>
      </p:sp>
    </p:spTree>
    <p:extLst>
      <p:ext uri="{BB962C8B-B14F-4D97-AF65-F5344CB8AC3E}">
        <p14:creationId xmlns:p14="http://schemas.microsoft.com/office/powerpoint/2010/main" val="825634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1CA0A-2DF5-4ADC-8B47-4CF24E5924B7}"/>
              </a:ext>
            </a:extLst>
          </p:cNvPr>
          <p:cNvSpPr>
            <a:spLocks noGrp="1"/>
          </p:cNvSpPr>
          <p:nvPr>
            <p:ph type="title"/>
          </p:nvPr>
        </p:nvSpPr>
        <p:spPr>
          <a:xfrm>
            <a:off x="838200" y="365126"/>
            <a:ext cx="10515600" cy="616386"/>
          </a:xfrm>
        </p:spPr>
        <p:txBody>
          <a:bodyPr>
            <a:normAutofit fontScale="90000"/>
          </a:bodyPr>
          <a:lstStyle/>
          <a:p>
            <a:pPr algn="ctr"/>
            <a:r>
              <a:rPr lang="en-US" b="1" dirty="0"/>
              <a:t>What is a Database Security Threat(s)</a:t>
            </a:r>
          </a:p>
        </p:txBody>
      </p:sp>
      <p:sp>
        <p:nvSpPr>
          <p:cNvPr id="3" name="Content Placeholder 2">
            <a:extLst>
              <a:ext uri="{FF2B5EF4-FFF2-40B4-BE49-F238E27FC236}">
                <a16:creationId xmlns:a16="http://schemas.microsoft.com/office/drawing/2014/main" id="{93D9F8EF-A4C4-4734-83AE-36B011018199}"/>
              </a:ext>
            </a:extLst>
          </p:cNvPr>
          <p:cNvSpPr>
            <a:spLocks noGrp="1"/>
          </p:cNvSpPr>
          <p:nvPr>
            <p:ph idx="1"/>
          </p:nvPr>
        </p:nvSpPr>
        <p:spPr>
          <a:xfrm>
            <a:off x="838200" y="1045451"/>
            <a:ext cx="10515600" cy="1890696"/>
          </a:xfrm>
        </p:spPr>
        <p:txBody>
          <a:bodyPr>
            <a:normAutofit/>
          </a:bodyPr>
          <a:lstStyle/>
          <a:p>
            <a:pPr marL="0" indent="0">
              <a:buNone/>
            </a:pPr>
            <a:r>
              <a:rPr lang="en-US" dirty="0"/>
              <a:t>Any situation or event, whether intentionally or incidentally, which can cause damage to the database, which can reflect an adverse effect on the database structure and consequently the organization.</a:t>
            </a:r>
          </a:p>
        </p:txBody>
      </p:sp>
      <p:sp>
        <p:nvSpPr>
          <p:cNvPr id="5" name="Content Placeholder 2">
            <a:extLst>
              <a:ext uri="{FF2B5EF4-FFF2-40B4-BE49-F238E27FC236}">
                <a16:creationId xmlns:a16="http://schemas.microsoft.com/office/drawing/2014/main" id="{28C5D882-421C-49BE-A20F-CD266B6D508B}"/>
              </a:ext>
            </a:extLst>
          </p:cNvPr>
          <p:cNvSpPr txBox="1">
            <a:spLocks/>
          </p:cNvSpPr>
          <p:nvPr/>
        </p:nvSpPr>
        <p:spPr>
          <a:xfrm>
            <a:off x="1032544" y="3183317"/>
            <a:ext cx="10515600" cy="23869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Any situation or event, whether intentionally or incidentally, which can cause damage to the database, which can reflect an adverse effect on the database structure and consequently the organization.</a:t>
            </a:r>
          </a:p>
          <a:p>
            <a:pPr marL="0" indent="0">
              <a:buNone/>
            </a:pPr>
            <a:r>
              <a:rPr lang="en-US" dirty="0"/>
              <a:t>Threat may occur by a situation involving a person’s actions, machinery failure, power failure, natural disasters, program failure, or by malware.</a:t>
            </a:r>
          </a:p>
        </p:txBody>
      </p:sp>
    </p:spTree>
    <p:extLst>
      <p:ext uri="{BB962C8B-B14F-4D97-AF65-F5344CB8AC3E}">
        <p14:creationId xmlns:p14="http://schemas.microsoft.com/office/powerpoint/2010/main" val="30777195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7AFFBCB-0AB6-4321-B40B-DE059574CF1A}"/>
              </a:ext>
            </a:extLst>
          </p:cNvPr>
          <p:cNvPicPr>
            <a:picLocks noChangeAspect="1"/>
          </p:cNvPicPr>
          <p:nvPr/>
        </p:nvPicPr>
        <p:blipFill>
          <a:blip r:embed="rId2"/>
          <a:stretch>
            <a:fillRect/>
          </a:stretch>
        </p:blipFill>
        <p:spPr>
          <a:xfrm>
            <a:off x="318781" y="1511142"/>
            <a:ext cx="3791825" cy="4478597"/>
          </a:xfrm>
          <a:prstGeom prst="rect">
            <a:avLst/>
          </a:prstGeom>
        </p:spPr>
      </p:pic>
      <p:sp>
        <p:nvSpPr>
          <p:cNvPr id="6" name="Rectangle 5">
            <a:extLst>
              <a:ext uri="{FF2B5EF4-FFF2-40B4-BE49-F238E27FC236}">
                <a16:creationId xmlns:a16="http://schemas.microsoft.com/office/drawing/2014/main" id="{AFAEF511-B82F-42E8-890E-BC6E06C9626A}"/>
              </a:ext>
            </a:extLst>
          </p:cNvPr>
          <p:cNvSpPr/>
          <p:nvPr/>
        </p:nvSpPr>
        <p:spPr>
          <a:xfrm>
            <a:off x="2684478" y="343949"/>
            <a:ext cx="7558480" cy="707886"/>
          </a:xfrm>
          <a:prstGeom prst="rect">
            <a:avLst/>
          </a:prstGeom>
        </p:spPr>
        <p:txBody>
          <a:bodyPr wrap="square">
            <a:spAutoFit/>
          </a:bodyPr>
          <a:lstStyle/>
          <a:p>
            <a:r>
              <a:rPr lang="en-US" sz="4000" b="1" dirty="0">
                <a:latin typeface="+mj-lt"/>
              </a:rPr>
              <a:t>The scope of database security</a:t>
            </a:r>
          </a:p>
        </p:txBody>
      </p:sp>
      <p:sp>
        <p:nvSpPr>
          <p:cNvPr id="7" name="Rectangle 6">
            <a:extLst>
              <a:ext uri="{FF2B5EF4-FFF2-40B4-BE49-F238E27FC236}">
                <a16:creationId xmlns:a16="http://schemas.microsoft.com/office/drawing/2014/main" id="{81D7E0D3-6294-441D-947A-8E4457B1AFE7}"/>
              </a:ext>
            </a:extLst>
          </p:cNvPr>
          <p:cNvSpPr/>
          <p:nvPr/>
        </p:nvSpPr>
        <p:spPr>
          <a:xfrm>
            <a:off x="4186107" y="1225917"/>
            <a:ext cx="7457811" cy="4893647"/>
          </a:xfrm>
          <a:prstGeom prst="rect">
            <a:avLst/>
          </a:prstGeom>
        </p:spPr>
        <p:txBody>
          <a:bodyPr wrap="square">
            <a:spAutoFit/>
          </a:bodyPr>
          <a:lstStyle/>
          <a:p>
            <a:r>
              <a:rPr lang="en-US" sz="2400" dirty="0"/>
              <a:t>An outlined development mechanism is:</a:t>
            </a:r>
          </a:p>
          <a:p>
            <a:pPr marL="342900" indent="-342900">
              <a:buFont typeface="Arial" panose="020B0604020202020204" pitchFamily="34" charset="0"/>
              <a:buChar char="•"/>
            </a:pPr>
            <a:r>
              <a:rPr lang="en-US" sz="2400" dirty="0"/>
              <a:t>Document assets (what they are, what their value is).</a:t>
            </a:r>
          </a:p>
          <a:p>
            <a:pPr marL="342900" indent="-342900">
              <a:buFont typeface="Arial" panose="020B0604020202020204" pitchFamily="34" charset="0"/>
              <a:buChar char="•"/>
            </a:pPr>
            <a:r>
              <a:rPr lang="en-US" sz="2400" dirty="0"/>
              <a:t>Identify treats (what they are, how likely they are, what the impact is if</a:t>
            </a:r>
          </a:p>
          <a:p>
            <a:pPr marL="342900" indent="-342900">
              <a:buFont typeface="Arial" panose="020B0604020202020204" pitchFamily="34" charset="0"/>
              <a:buChar char="•"/>
            </a:pPr>
            <a:r>
              <a:rPr lang="en-US" sz="2400" dirty="0"/>
              <a:t>they occur).</a:t>
            </a:r>
          </a:p>
          <a:p>
            <a:pPr marL="342900" indent="-342900">
              <a:buFont typeface="Arial" panose="020B0604020202020204" pitchFamily="34" charset="0"/>
              <a:buChar char="•"/>
            </a:pPr>
            <a:r>
              <a:rPr lang="en-US" sz="2400" dirty="0"/>
              <a:t>Associate threats with each asset, may include: Hardware, Software, Data, Data quality, Credibility, Availability, and other Business benefit.</a:t>
            </a:r>
          </a:p>
          <a:p>
            <a:pPr marL="342900" indent="-342900">
              <a:buFont typeface="Arial" panose="020B0604020202020204" pitchFamily="34" charset="0"/>
              <a:buChar char="•"/>
            </a:pPr>
            <a:r>
              <a:rPr lang="en-US" sz="2400" dirty="0"/>
              <a:t>Design mechanisms to protect each asset appropriate to its value and the</a:t>
            </a:r>
          </a:p>
          <a:p>
            <a:pPr marL="342900" indent="-342900">
              <a:buFont typeface="Arial" panose="020B0604020202020204" pitchFamily="34" charset="0"/>
              <a:buChar char="•"/>
            </a:pPr>
            <a:r>
              <a:rPr lang="en-US" sz="2400" dirty="0"/>
              <a:t>cost of its protection, to detect a security breach against each asset, to minimize the losses incurred and to recover normal operation.</a:t>
            </a:r>
          </a:p>
        </p:txBody>
      </p:sp>
    </p:spTree>
    <p:extLst>
      <p:ext uri="{BB962C8B-B14F-4D97-AF65-F5344CB8AC3E}">
        <p14:creationId xmlns:p14="http://schemas.microsoft.com/office/powerpoint/2010/main" val="743067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BBC0F-924C-4AAB-8F8A-FC00444CCD35}"/>
              </a:ext>
            </a:extLst>
          </p:cNvPr>
          <p:cNvSpPr>
            <a:spLocks noGrp="1"/>
          </p:cNvSpPr>
          <p:nvPr>
            <p:ph type="title"/>
          </p:nvPr>
        </p:nvSpPr>
        <p:spPr>
          <a:xfrm>
            <a:off x="645253" y="3527775"/>
            <a:ext cx="10515600" cy="809334"/>
          </a:xfrm>
        </p:spPr>
        <p:txBody>
          <a:bodyPr/>
          <a:lstStyle/>
          <a:p>
            <a:pPr algn="ctr"/>
            <a:r>
              <a:rPr lang="en-US" dirty="0"/>
              <a:t>Common Database Security Threats</a:t>
            </a:r>
          </a:p>
        </p:txBody>
      </p:sp>
      <p:sp>
        <p:nvSpPr>
          <p:cNvPr id="3" name="Content Placeholder 2">
            <a:extLst>
              <a:ext uri="{FF2B5EF4-FFF2-40B4-BE49-F238E27FC236}">
                <a16:creationId xmlns:a16="http://schemas.microsoft.com/office/drawing/2014/main" id="{4E6F5FAE-16A4-4FB9-8B2A-ED6BB2BA2240}"/>
              </a:ext>
            </a:extLst>
          </p:cNvPr>
          <p:cNvSpPr>
            <a:spLocks noGrp="1"/>
          </p:cNvSpPr>
          <p:nvPr>
            <p:ph idx="1"/>
          </p:nvPr>
        </p:nvSpPr>
        <p:spPr>
          <a:xfrm>
            <a:off x="738231" y="4571999"/>
            <a:ext cx="10615569" cy="1604963"/>
          </a:xfrm>
        </p:spPr>
        <p:txBody>
          <a:bodyPr>
            <a:normAutofit/>
          </a:bodyPr>
          <a:lstStyle/>
          <a:p>
            <a:pPr marL="0" indent="0">
              <a:buNone/>
            </a:pPr>
            <a:r>
              <a:rPr lang="en-US" sz="2400" dirty="0"/>
              <a:t>Unauthorized modification: </a:t>
            </a:r>
            <a:r>
              <a:rPr lang="en-US" sz="1600" dirty="0"/>
              <a:t>Changing data values for reasons of sabotage, crime or ignorance</a:t>
            </a:r>
          </a:p>
          <a:p>
            <a:pPr marL="0" indent="0">
              <a:buNone/>
            </a:pPr>
            <a:r>
              <a:rPr lang="en-US" sz="2400" dirty="0"/>
              <a:t>Unauthorized disclosure: </a:t>
            </a:r>
            <a:r>
              <a:rPr lang="en-US" sz="1600" dirty="0"/>
              <a:t>When information that should not have been disclosed has been disclosed.</a:t>
            </a:r>
            <a:endParaRPr lang="en-US" sz="1400" dirty="0"/>
          </a:p>
          <a:p>
            <a:pPr marL="0" indent="0">
              <a:buNone/>
            </a:pPr>
            <a:r>
              <a:rPr lang="en-US" sz="2400" dirty="0"/>
              <a:t>Loss of availability or denial of service: </a:t>
            </a:r>
          </a:p>
        </p:txBody>
      </p:sp>
      <p:pic>
        <p:nvPicPr>
          <p:cNvPr id="4" name="Picture 3">
            <a:extLst>
              <a:ext uri="{FF2B5EF4-FFF2-40B4-BE49-F238E27FC236}">
                <a16:creationId xmlns:a16="http://schemas.microsoft.com/office/drawing/2014/main" id="{8C6A2360-3AF6-4869-A916-D6A82C9CE8CA}"/>
              </a:ext>
            </a:extLst>
          </p:cNvPr>
          <p:cNvPicPr>
            <a:picLocks noChangeAspect="1"/>
          </p:cNvPicPr>
          <p:nvPr/>
        </p:nvPicPr>
        <p:blipFill>
          <a:blip r:embed="rId2"/>
          <a:stretch>
            <a:fillRect/>
          </a:stretch>
        </p:blipFill>
        <p:spPr>
          <a:xfrm>
            <a:off x="1367405" y="707846"/>
            <a:ext cx="9361215" cy="1959854"/>
          </a:xfrm>
          <a:prstGeom prst="rect">
            <a:avLst/>
          </a:prstGeom>
        </p:spPr>
      </p:pic>
    </p:spTree>
    <p:extLst>
      <p:ext uri="{BB962C8B-B14F-4D97-AF65-F5344CB8AC3E}">
        <p14:creationId xmlns:p14="http://schemas.microsoft.com/office/powerpoint/2010/main" val="26063746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BBC0F-924C-4AAB-8F8A-FC00444CCD35}"/>
              </a:ext>
            </a:extLst>
          </p:cNvPr>
          <p:cNvSpPr>
            <a:spLocks noGrp="1"/>
          </p:cNvSpPr>
          <p:nvPr>
            <p:ph type="title"/>
          </p:nvPr>
        </p:nvSpPr>
        <p:spPr>
          <a:xfrm>
            <a:off x="941586" y="217308"/>
            <a:ext cx="10515600" cy="809334"/>
          </a:xfrm>
        </p:spPr>
        <p:txBody>
          <a:bodyPr/>
          <a:lstStyle/>
          <a:p>
            <a:pPr algn="ctr"/>
            <a:r>
              <a:rPr lang="en-US" dirty="0" err="1"/>
              <a:t>Defencing</a:t>
            </a:r>
            <a:r>
              <a:rPr lang="en-US" dirty="0"/>
              <a:t>-Depth Strategy</a:t>
            </a:r>
          </a:p>
        </p:txBody>
      </p:sp>
      <p:pic>
        <p:nvPicPr>
          <p:cNvPr id="7" name="Picture 6">
            <a:extLst>
              <a:ext uri="{FF2B5EF4-FFF2-40B4-BE49-F238E27FC236}">
                <a16:creationId xmlns:a16="http://schemas.microsoft.com/office/drawing/2014/main" id="{79B54E2D-ACB9-BB50-18C7-F9CEC5574EDB}"/>
              </a:ext>
            </a:extLst>
          </p:cNvPr>
          <p:cNvPicPr>
            <a:picLocks noChangeAspect="1"/>
          </p:cNvPicPr>
          <p:nvPr/>
        </p:nvPicPr>
        <p:blipFill>
          <a:blip r:embed="rId2"/>
          <a:stretch>
            <a:fillRect/>
          </a:stretch>
        </p:blipFill>
        <p:spPr>
          <a:xfrm>
            <a:off x="1348144" y="1026642"/>
            <a:ext cx="6938777" cy="5698067"/>
          </a:xfrm>
          <a:prstGeom prst="rect">
            <a:avLst/>
          </a:prstGeom>
        </p:spPr>
      </p:pic>
    </p:spTree>
    <p:extLst>
      <p:ext uri="{BB962C8B-B14F-4D97-AF65-F5344CB8AC3E}">
        <p14:creationId xmlns:p14="http://schemas.microsoft.com/office/powerpoint/2010/main" val="2199115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FEB90-128E-4F57-9326-BC979001A3C5}"/>
              </a:ext>
            </a:extLst>
          </p:cNvPr>
          <p:cNvSpPr>
            <a:spLocks noGrp="1"/>
          </p:cNvSpPr>
          <p:nvPr>
            <p:ph type="title"/>
          </p:nvPr>
        </p:nvSpPr>
        <p:spPr>
          <a:xfrm>
            <a:off x="838200" y="365125"/>
            <a:ext cx="10515600" cy="717055"/>
          </a:xfrm>
        </p:spPr>
        <p:txBody>
          <a:bodyPr>
            <a:normAutofit/>
          </a:bodyPr>
          <a:lstStyle/>
          <a:p>
            <a:pPr algn="ctr"/>
            <a:r>
              <a:rPr lang="en-US" b="1" dirty="0"/>
              <a:t>Defense in depth architecture</a:t>
            </a:r>
          </a:p>
        </p:txBody>
      </p:sp>
      <p:sp>
        <p:nvSpPr>
          <p:cNvPr id="3" name="Content Placeholder 2">
            <a:extLst>
              <a:ext uri="{FF2B5EF4-FFF2-40B4-BE49-F238E27FC236}">
                <a16:creationId xmlns:a16="http://schemas.microsoft.com/office/drawing/2014/main" id="{3FBF12A1-6A6A-464A-BEAC-0E44711363EE}"/>
              </a:ext>
            </a:extLst>
          </p:cNvPr>
          <p:cNvSpPr>
            <a:spLocks noGrp="1"/>
          </p:cNvSpPr>
          <p:nvPr>
            <p:ph idx="1"/>
          </p:nvPr>
        </p:nvSpPr>
        <p:spPr>
          <a:xfrm>
            <a:off x="838200" y="1082180"/>
            <a:ext cx="10515600" cy="5276675"/>
          </a:xfrm>
        </p:spPr>
        <p:txBody>
          <a:bodyPr>
            <a:normAutofit fontScale="70000" lnSpcReduction="20000"/>
          </a:bodyPr>
          <a:lstStyle/>
          <a:p>
            <a:r>
              <a:rPr lang="en-US" dirty="0"/>
              <a:t>Administrative controls— include procedures and policies that restrict permissions and guide users on how to maintain security.</a:t>
            </a:r>
          </a:p>
          <a:p>
            <a:r>
              <a:rPr lang="en-US" dirty="0"/>
              <a:t>Technical controls— include specialized software and hardware that are used to protect system resources. For example, antivirus or firewall solutions.</a:t>
            </a:r>
          </a:p>
          <a:p>
            <a:r>
              <a:rPr lang="en-US" dirty="0"/>
              <a:t>Physical controls— include physical infrastructure for protecting systems, such as locked doors and security cameras.</a:t>
            </a:r>
          </a:p>
          <a:p>
            <a:r>
              <a:rPr lang="en-US" dirty="0"/>
              <a:t>Access measures – include biometrics, virtual private networks (VPNs), authentication controls, and timed access. </a:t>
            </a:r>
          </a:p>
          <a:p>
            <a:r>
              <a:rPr lang="en-US" dirty="0"/>
              <a:t>Workstation defenses – include anti-spam software or antivirus agents.</a:t>
            </a:r>
          </a:p>
          <a:p>
            <a:r>
              <a:rPr lang="en-US" dirty="0"/>
              <a:t>Data protection – includes password hashing, encryption, and secure transfer protocols.</a:t>
            </a:r>
          </a:p>
          <a:p>
            <a:r>
              <a:rPr lang="en-US" dirty="0"/>
              <a:t>Perimeter defenses – include intrusion detection and prevention systems and firewalls.</a:t>
            </a:r>
          </a:p>
          <a:p>
            <a:r>
              <a:rPr lang="en-US" dirty="0"/>
              <a:t>Monitoring and prevention – include logging, vulnerability scanning, and security training for staff.</a:t>
            </a:r>
          </a:p>
          <a:p>
            <a:r>
              <a:rPr lang="en-US" dirty="0"/>
              <a:t>Threat intelligence – data feeds providing up-to-date information about indicators of compromise (IoC), known threat actors and their tactics, techniques and procedures (TTP).</a:t>
            </a:r>
          </a:p>
          <a:p>
            <a:r>
              <a:rPr lang="en-US" dirty="0"/>
              <a:t>Antivirus: This is the tool that stops malicious software from entering the network and spreading.</a:t>
            </a:r>
          </a:p>
          <a:p>
            <a:r>
              <a:rPr lang="en-US" dirty="0"/>
              <a:t>Behavioral analysis: Algorithms and ML can detect anomalies in the behavior of employees and in the applications and devices themselves.</a:t>
            </a:r>
          </a:p>
        </p:txBody>
      </p:sp>
    </p:spTree>
    <p:extLst>
      <p:ext uri="{BB962C8B-B14F-4D97-AF65-F5344CB8AC3E}">
        <p14:creationId xmlns:p14="http://schemas.microsoft.com/office/powerpoint/2010/main" val="1510716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FEB90-128E-4F57-9326-BC979001A3C5}"/>
              </a:ext>
            </a:extLst>
          </p:cNvPr>
          <p:cNvSpPr>
            <a:spLocks noGrp="1"/>
          </p:cNvSpPr>
          <p:nvPr>
            <p:ph type="title"/>
          </p:nvPr>
        </p:nvSpPr>
        <p:spPr>
          <a:xfrm>
            <a:off x="838200" y="365125"/>
            <a:ext cx="10515600" cy="717055"/>
          </a:xfrm>
        </p:spPr>
        <p:txBody>
          <a:bodyPr>
            <a:normAutofit/>
          </a:bodyPr>
          <a:lstStyle/>
          <a:p>
            <a:pPr algn="ctr"/>
            <a:r>
              <a:rPr lang="en-US" b="1" dirty="0">
                <a:effectLst>
                  <a:outerShdw blurRad="38100" dist="38100" dir="2700000" algn="tl">
                    <a:srgbClr val="000000">
                      <a:alpha val="43137"/>
                    </a:srgbClr>
                  </a:outerShdw>
                </a:effectLst>
              </a:rPr>
              <a:t>Computer-Based Controls</a:t>
            </a:r>
          </a:p>
        </p:txBody>
      </p:sp>
      <p:sp>
        <p:nvSpPr>
          <p:cNvPr id="3" name="Content Placeholder 2">
            <a:extLst>
              <a:ext uri="{FF2B5EF4-FFF2-40B4-BE49-F238E27FC236}">
                <a16:creationId xmlns:a16="http://schemas.microsoft.com/office/drawing/2014/main" id="{3FBF12A1-6A6A-464A-BEAC-0E44711363EE}"/>
              </a:ext>
            </a:extLst>
          </p:cNvPr>
          <p:cNvSpPr>
            <a:spLocks noGrp="1"/>
          </p:cNvSpPr>
          <p:nvPr>
            <p:ph idx="1"/>
          </p:nvPr>
        </p:nvSpPr>
        <p:spPr>
          <a:xfrm>
            <a:off x="838200" y="1082180"/>
            <a:ext cx="10515600" cy="5276675"/>
          </a:xfrm>
        </p:spPr>
        <p:txBody>
          <a:bodyPr>
            <a:normAutofit fontScale="92500" lnSpcReduction="10000"/>
          </a:bodyPr>
          <a:lstStyle/>
          <a:p>
            <a:pPr marL="0" indent="0">
              <a:buNone/>
            </a:pPr>
            <a:r>
              <a:rPr lang="en-US" dirty="0"/>
              <a:t>Defense in depth is a cybersecurity approach that uses layered defensive mechanisms to protect systems and data. With layering, if one defense fails, another is there to block an attack.</a:t>
            </a:r>
          </a:p>
          <a:p>
            <a:pPr marL="0" indent="0">
              <a:buNone/>
            </a:pPr>
            <a:r>
              <a:rPr lang="en-US" dirty="0"/>
              <a:t>The different forms of countermeasure to threats on computer systems range from physical controls to managerial procedures. Most of the computer-based database security is listed below:</a:t>
            </a:r>
          </a:p>
          <a:p>
            <a:pPr marL="0" indent="0">
              <a:buNone/>
            </a:pPr>
            <a:r>
              <a:rPr lang="en-US" dirty="0"/>
              <a:t>•	Access authorization</a:t>
            </a:r>
          </a:p>
          <a:p>
            <a:pPr marL="0" indent="0">
              <a:buNone/>
            </a:pPr>
            <a:r>
              <a:rPr lang="en-US" dirty="0"/>
              <a:t>•	Access controls</a:t>
            </a:r>
          </a:p>
          <a:p>
            <a:pPr marL="0" indent="0">
              <a:buNone/>
            </a:pPr>
            <a:r>
              <a:rPr lang="en-US" dirty="0"/>
              <a:t>•	Views.</a:t>
            </a:r>
          </a:p>
          <a:p>
            <a:pPr marL="0" indent="0">
              <a:buNone/>
            </a:pPr>
            <a:r>
              <a:rPr lang="en-US" dirty="0"/>
              <a:t>•	Backup and recovery of data.</a:t>
            </a:r>
          </a:p>
          <a:p>
            <a:pPr marL="0" indent="0">
              <a:buNone/>
            </a:pPr>
            <a:r>
              <a:rPr lang="en-US" dirty="0"/>
              <a:t>•	Data integrity.</a:t>
            </a:r>
          </a:p>
          <a:p>
            <a:pPr marL="0" indent="0">
              <a:buNone/>
            </a:pPr>
            <a:r>
              <a:rPr lang="en-US" dirty="0"/>
              <a:t>•	Encryption of data.</a:t>
            </a:r>
          </a:p>
          <a:p>
            <a:pPr marL="0" indent="0">
              <a:buNone/>
            </a:pPr>
            <a:r>
              <a:rPr lang="en-US" dirty="0"/>
              <a:t>•	RAID technology.</a:t>
            </a:r>
          </a:p>
          <a:p>
            <a:pPr marL="0" indent="0">
              <a:buNone/>
            </a:pPr>
            <a:endParaRPr lang="en-US" dirty="0"/>
          </a:p>
        </p:txBody>
      </p:sp>
    </p:spTree>
    <p:extLst>
      <p:ext uri="{BB962C8B-B14F-4D97-AF65-F5344CB8AC3E}">
        <p14:creationId xmlns:p14="http://schemas.microsoft.com/office/powerpoint/2010/main" val="39600577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0EF4B4-4B83-4A91-BD30-4BBDC22AF8A1}"/>
              </a:ext>
            </a:extLst>
          </p:cNvPr>
          <p:cNvSpPr>
            <a:spLocks noGrp="1"/>
          </p:cNvSpPr>
          <p:nvPr>
            <p:ph idx="1"/>
          </p:nvPr>
        </p:nvSpPr>
        <p:spPr>
          <a:xfrm>
            <a:off x="838200" y="265043"/>
            <a:ext cx="10515600" cy="5911920"/>
          </a:xfrm>
        </p:spPr>
        <p:txBody>
          <a:bodyPr>
            <a:normAutofit/>
          </a:bodyPr>
          <a:lstStyle/>
          <a:p>
            <a:r>
              <a:rPr lang="en-US" b="1" dirty="0"/>
              <a:t>Access Authentication: </a:t>
            </a:r>
            <a:r>
              <a:rPr lang="en-US" dirty="0"/>
              <a:t>The client has to establish the identity of the server and the server has to establish the identity of the client. This is done often by means of shared secrets (either a password/user-id combination, or shared biographic and/or biometric data). It can also be achieved by a system of higher authority which has previously established authentication. In client-server systems where data (not necessarily the database) is distributed, the authentication may be acceptable from a peer system.</a:t>
            </a:r>
          </a:p>
          <a:p>
            <a:r>
              <a:rPr lang="en-US" b="1" dirty="0"/>
              <a:t>Access controls: </a:t>
            </a:r>
            <a:r>
              <a:rPr lang="en-US" dirty="0"/>
              <a:t>Discretionary control is where specific privileges are assigned on the basis of specific assets, which </a:t>
            </a:r>
            <a:r>
              <a:rPr lang="en-US" dirty="0" err="1"/>
              <a:t>authorised</a:t>
            </a:r>
            <a:r>
              <a:rPr lang="en-US" dirty="0"/>
              <a:t> users are allowed to use in a particular way. The security DBMS has to construct an access matrix including objects like relations, records, views and operations for each user - each entry separating create, read, insert and update privileges.</a:t>
            </a:r>
          </a:p>
        </p:txBody>
      </p:sp>
    </p:spTree>
    <p:extLst>
      <p:ext uri="{BB962C8B-B14F-4D97-AF65-F5344CB8AC3E}">
        <p14:creationId xmlns:p14="http://schemas.microsoft.com/office/powerpoint/2010/main" val="3112833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0EF4B4-4B83-4A91-BD30-4BBDC22AF8A1}"/>
              </a:ext>
            </a:extLst>
          </p:cNvPr>
          <p:cNvSpPr>
            <a:spLocks noGrp="1"/>
          </p:cNvSpPr>
          <p:nvPr>
            <p:ph idx="1"/>
          </p:nvPr>
        </p:nvSpPr>
        <p:spPr>
          <a:xfrm>
            <a:off x="838200" y="507999"/>
            <a:ext cx="10515600" cy="5668963"/>
          </a:xfrm>
        </p:spPr>
        <p:txBody>
          <a:bodyPr>
            <a:normAutofit/>
          </a:bodyPr>
          <a:lstStyle/>
          <a:p>
            <a:r>
              <a:rPr lang="en-US" b="1" dirty="0"/>
              <a:t>Access authorization: </a:t>
            </a:r>
            <a:r>
              <a:rPr lang="en-US" dirty="0" err="1"/>
              <a:t>Authorisation</a:t>
            </a:r>
            <a:r>
              <a:rPr lang="en-US" dirty="0"/>
              <a:t> relates to the permissions granted to an </a:t>
            </a:r>
            <a:r>
              <a:rPr lang="en-US" dirty="0" err="1"/>
              <a:t>authorised</a:t>
            </a:r>
            <a:r>
              <a:rPr lang="en-US" dirty="0"/>
              <a:t> user to carry out particular transactions, and hence to change the state of the database, which can be followed by adding level of authorization to view or manipulate the data.</a:t>
            </a:r>
          </a:p>
          <a:p>
            <a:pPr lvl="1"/>
            <a:r>
              <a:rPr lang="en-US" sz="2800" dirty="0"/>
              <a:t>Role: A role grants users/applications certain privileges to view, edit, or perform other specified actions within the database. When setting up roles, you should adopt the principle of least-privileges. </a:t>
            </a:r>
          </a:p>
          <a:p>
            <a:pPr lvl="1"/>
            <a:r>
              <a:rPr lang="en-US" sz="2800" dirty="0"/>
              <a:t>Permissions: Typically, a user’s permissions are assigned to reflect the role they perform.</a:t>
            </a:r>
          </a:p>
          <a:p>
            <a:pPr lvl="1"/>
            <a:r>
              <a:rPr lang="en-US" sz="2800" dirty="0"/>
              <a:t>Data Encryption: All sensitive data should be encrypted both at-rest and in-flight with robust, standards based encryption.</a:t>
            </a:r>
          </a:p>
          <a:p>
            <a:endParaRPr lang="en-US" dirty="0"/>
          </a:p>
          <a:p>
            <a:pPr marL="0" indent="0">
              <a:buNone/>
            </a:pPr>
            <a:endParaRPr lang="en-US" dirty="0"/>
          </a:p>
        </p:txBody>
      </p:sp>
    </p:spTree>
    <p:extLst>
      <p:ext uri="{BB962C8B-B14F-4D97-AF65-F5344CB8AC3E}">
        <p14:creationId xmlns:p14="http://schemas.microsoft.com/office/powerpoint/2010/main" val="497685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62DFE6-AF6C-415B-9851-669F007F923B}"/>
              </a:ext>
            </a:extLst>
          </p:cNvPr>
          <p:cNvPicPr>
            <a:picLocks noChangeAspect="1"/>
          </p:cNvPicPr>
          <p:nvPr/>
        </p:nvPicPr>
        <p:blipFill>
          <a:blip r:embed="rId2"/>
          <a:stretch>
            <a:fillRect/>
          </a:stretch>
        </p:blipFill>
        <p:spPr>
          <a:xfrm>
            <a:off x="596347" y="101516"/>
            <a:ext cx="10880035" cy="6726272"/>
          </a:xfrm>
          <a:prstGeom prst="rect">
            <a:avLst/>
          </a:prstGeom>
        </p:spPr>
      </p:pic>
    </p:spTree>
    <p:extLst>
      <p:ext uri="{BB962C8B-B14F-4D97-AF65-F5344CB8AC3E}">
        <p14:creationId xmlns:p14="http://schemas.microsoft.com/office/powerpoint/2010/main" val="4258181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2883E-841C-456B-8DC2-BC9D8931FDE3}"/>
              </a:ext>
            </a:extLst>
          </p:cNvPr>
          <p:cNvSpPr>
            <a:spLocks noGrp="1"/>
          </p:cNvSpPr>
          <p:nvPr>
            <p:ph type="title"/>
          </p:nvPr>
        </p:nvSpPr>
        <p:spPr>
          <a:xfrm>
            <a:off x="838200" y="365126"/>
            <a:ext cx="7417904" cy="748058"/>
          </a:xfrm>
        </p:spPr>
        <p:txBody>
          <a:bodyPr/>
          <a:lstStyle/>
          <a:p>
            <a:pPr algn="ctr"/>
            <a:r>
              <a:rPr lang="en-US" b="1" dirty="0"/>
              <a:t>RAID technology</a:t>
            </a:r>
          </a:p>
        </p:txBody>
      </p:sp>
      <p:sp>
        <p:nvSpPr>
          <p:cNvPr id="3" name="Content Placeholder 2">
            <a:extLst>
              <a:ext uri="{FF2B5EF4-FFF2-40B4-BE49-F238E27FC236}">
                <a16:creationId xmlns:a16="http://schemas.microsoft.com/office/drawing/2014/main" id="{7CAA021C-B9CD-4CAF-BA13-F4BF6CE3F5B2}"/>
              </a:ext>
            </a:extLst>
          </p:cNvPr>
          <p:cNvSpPr>
            <a:spLocks noGrp="1"/>
          </p:cNvSpPr>
          <p:nvPr>
            <p:ph idx="1"/>
          </p:nvPr>
        </p:nvSpPr>
        <p:spPr>
          <a:xfrm>
            <a:off x="404191" y="1612901"/>
            <a:ext cx="11383617" cy="4982127"/>
          </a:xfrm>
        </p:spPr>
        <p:txBody>
          <a:bodyPr>
            <a:normAutofit fontScale="92500" lnSpcReduction="20000"/>
          </a:bodyPr>
          <a:lstStyle/>
          <a:p>
            <a:pPr marL="0" indent="0">
              <a:buNone/>
            </a:pPr>
            <a:r>
              <a:rPr lang="en-US" dirty="0"/>
              <a:t>RAID (Redundant Array of Independent Disks), is a technology to connect multiple secondary storage devices and use them as a single storage media. RAID consists of an array of disks in which multiple disks are connected together to achieve different goals. </a:t>
            </a:r>
          </a:p>
          <a:p>
            <a:pPr marL="0" indent="0">
              <a:buNone/>
            </a:pPr>
            <a:r>
              <a:rPr lang="en-US" dirty="0"/>
              <a:t>There are basically 7 levels of RAID schemes. These schemas are as RAID 0, RAID 1, ...., RAID 6.</a:t>
            </a:r>
          </a:p>
          <a:p>
            <a:pPr marL="0" indent="0">
              <a:buNone/>
            </a:pPr>
            <a:r>
              <a:rPr lang="en-US" dirty="0"/>
              <a:t>These levels contain the following characteristics:</a:t>
            </a:r>
          </a:p>
          <a:p>
            <a:r>
              <a:rPr lang="en-US" dirty="0"/>
              <a:t>It contains a set of physical disk drives.</a:t>
            </a:r>
          </a:p>
          <a:p>
            <a:r>
              <a:rPr lang="en-US" dirty="0"/>
              <a:t>In this technology, the operating system views these separate disks as a single logical disk.</a:t>
            </a:r>
          </a:p>
          <a:p>
            <a:r>
              <a:rPr lang="en-US" dirty="0"/>
              <a:t>In this technology, data is distributed across the physical drives of the array.</a:t>
            </a:r>
          </a:p>
          <a:p>
            <a:r>
              <a:rPr lang="en-US" dirty="0"/>
              <a:t>Redundancy disk capacity is used to store parity information.</a:t>
            </a:r>
          </a:p>
          <a:p>
            <a:r>
              <a:rPr lang="en-US" dirty="0"/>
              <a:t>In case of disk failure, the parity information can be helped to recover the data.</a:t>
            </a:r>
          </a:p>
        </p:txBody>
      </p:sp>
      <p:pic>
        <p:nvPicPr>
          <p:cNvPr id="1026" name="Picture 2" descr="Image result for raid technology in dbms">
            <a:extLst>
              <a:ext uri="{FF2B5EF4-FFF2-40B4-BE49-F238E27FC236}">
                <a16:creationId xmlns:a16="http://schemas.microsoft.com/office/drawing/2014/main" id="{E00515BC-26A8-42DE-8100-726AF4F18A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0486" y="0"/>
            <a:ext cx="4108173" cy="1247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0160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3E892-4688-4FCA-A822-461F21B22FB7}"/>
              </a:ext>
            </a:extLst>
          </p:cNvPr>
          <p:cNvSpPr>
            <a:spLocks noGrp="1"/>
          </p:cNvSpPr>
          <p:nvPr>
            <p:ph type="title"/>
          </p:nvPr>
        </p:nvSpPr>
        <p:spPr>
          <a:xfrm>
            <a:off x="838200" y="219352"/>
            <a:ext cx="10515600" cy="761310"/>
          </a:xfrm>
        </p:spPr>
        <p:txBody>
          <a:bodyPr>
            <a:normAutofit fontScale="90000"/>
          </a:bodyPr>
          <a:lstStyle/>
          <a:p>
            <a:pPr algn="ctr"/>
            <a:r>
              <a:rPr lang="en-US" sz="5400" b="1" dirty="0"/>
              <a:t>encryption of data</a:t>
            </a:r>
          </a:p>
        </p:txBody>
      </p:sp>
      <p:sp>
        <p:nvSpPr>
          <p:cNvPr id="3" name="Content Placeholder 2">
            <a:extLst>
              <a:ext uri="{FF2B5EF4-FFF2-40B4-BE49-F238E27FC236}">
                <a16:creationId xmlns:a16="http://schemas.microsoft.com/office/drawing/2014/main" id="{2481EEED-2FCC-4ED1-95D1-4FD622B2088B}"/>
              </a:ext>
            </a:extLst>
          </p:cNvPr>
          <p:cNvSpPr>
            <a:spLocks noGrp="1"/>
          </p:cNvSpPr>
          <p:nvPr>
            <p:ph idx="1"/>
          </p:nvPr>
        </p:nvSpPr>
        <p:spPr>
          <a:xfrm>
            <a:off x="596348" y="980662"/>
            <a:ext cx="10757452" cy="5552660"/>
          </a:xfrm>
        </p:spPr>
        <p:txBody>
          <a:bodyPr>
            <a:normAutofit fontScale="92500" lnSpcReduction="10000"/>
          </a:bodyPr>
          <a:lstStyle/>
          <a:p>
            <a:pPr marL="0" indent="0" algn="ctr">
              <a:buNone/>
            </a:pPr>
            <a:r>
              <a:rPr lang="en-US" sz="3200" dirty="0"/>
              <a:t>Database encryption is the process of converting data, within a database, in plain text format into a meaningless cipher text by means of a suitable algorithm. Database decryption is converting the meaningless cipher text into the original information using keys generated by the encryption algorithms.</a:t>
            </a:r>
          </a:p>
          <a:p>
            <a:pPr marL="0" indent="0" algn="ctr">
              <a:buNone/>
            </a:pPr>
            <a:endParaRPr lang="en-US" sz="3200" dirty="0"/>
          </a:p>
          <a:p>
            <a:pPr marL="0" indent="0" algn="ctr">
              <a:buNone/>
            </a:pPr>
            <a:r>
              <a:rPr lang="en-US" sz="3200" b="1" dirty="0"/>
              <a:t>DATABASE ENCRYPTION LIST OF BEST PRACTICES</a:t>
            </a:r>
          </a:p>
          <a:p>
            <a:pPr lvl="5"/>
            <a:r>
              <a:rPr lang="en-US" sz="2600" dirty="0"/>
              <a:t>Ensure Physical Database Security. </a:t>
            </a:r>
          </a:p>
          <a:p>
            <a:pPr lvl="5"/>
            <a:r>
              <a:rPr lang="en-US" sz="2600" dirty="0"/>
              <a:t>Use Web Application and Database Firewalls. </a:t>
            </a:r>
          </a:p>
          <a:p>
            <a:pPr lvl="5"/>
            <a:r>
              <a:rPr lang="en-US" sz="2600" dirty="0"/>
              <a:t>Harden Your Database to Fullest Extent Possible. </a:t>
            </a:r>
          </a:p>
          <a:p>
            <a:pPr lvl="5"/>
            <a:r>
              <a:rPr lang="en-US" sz="2600" dirty="0"/>
              <a:t>Encrypt Your Data. </a:t>
            </a:r>
          </a:p>
          <a:p>
            <a:pPr lvl="5"/>
            <a:r>
              <a:rPr lang="en-US" sz="2600" dirty="0"/>
              <a:t>Minimize Value of Your Database. </a:t>
            </a:r>
          </a:p>
          <a:p>
            <a:pPr lvl="5"/>
            <a:r>
              <a:rPr lang="en-US" sz="2600" dirty="0"/>
              <a:t>Manage Database Access Tightly. </a:t>
            </a:r>
          </a:p>
          <a:p>
            <a:pPr lvl="5"/>
            <a:r>
              <a:rPr lang="en-US" sz="2600" dirty="0"/>
              <a:t>Audit and Monitor Database Activity.</a:t>
            </a:r>
          </a:p>
        </p:txBody>
      </p:sp>
    </p:spTree>
    <p:extLst>
      <p:ext uri="{BB962C8B-B14F-4D97-AF65-F5344CB8AC3E}">
        <p14:creationId xmlns:p14="http://schemas.microsoft.com/office/powerpoint/2010/main" val="32980216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FC9C5-5695-4775-BA81-2CDB2C717194}"/>
              </a:ext>
            </a:extLst>
          </p:cNvPr>
          <p:cNvSpPr>
            <a:spLocks noGrp="1"/>
          </p:cNvSpPr>
          <p:nvPr>
            <p:ph type="title"/>
          </p:nvPr>
        </p:nvSpPr>
        <p:spPr>
          <a:xfrm>
            <a:off x="838200" y="365126"/>
            <a:ext cx="10515600" cy="759000"/>
          </a:xfrm>
        </p:spPr>
        <p:txBody>
          <a:bodyPr>
            <a:normAutofit fontScale="90000"/>
          </a:bodyPr>
          <a:lstStyle/>
          <a:p>
            <a:pPr algn="ctr"/>
            <a:r>
              <a:rPr lang="en-US" sz="5400" dirty="0"/>
              <a:t>Backup and Recovery</a:t>
            </a:r>
          </a:p>
        </p:txBody>
      </p:sp>
      <p:sp>
        <p:nvSpPr>
          <p:cNvPr id="3" name="Content Placeholder 2">
            <a:extLst>
              <a:ext uri="{FF2B5EF4-FFF2-40B4-BE49-F238E27FC236}">
                <a16:creationId xmlns:a16="http://schemas.microsoft.com/office/drawing/2014/main" id="{743612DA-CE2C-4AB5-87BD-B49AFF7AD28A}"/>
              </a:ext>
            </a:extLst>
          </p:cNvPr>
          <p:cNvSpPr>
            <a:spLocks noGrp="1"/>
          </p:cNvSpPr>
          <p:nvPr>
            <p:ph idx="1"/>
          </p:nvPr>
        </p:nvSpPr>
        <p:spPr>
          <a:xfrm>
            <a:off x="838200" y="1367406"/>
            <a:ext cx="10515600" cy="4513277"/>
          </a:xfrm>
        </p:spPr>
        <p:txBody>
          <a:bodyPr/>
          <a:lstStyle/>
          <a:p>
            <a:pPr marL="0" indent="0">
              <a:buNone/>
            </a:pPr>
            <a:r>
              <a:rPr lang="en-US" sz="3200" dirty="0"/>
              <a:t>Database Management System should offer backup facilities to help with the recovery of a database after a failure. </a:t>
            </a:r>
          </a:p>
          <a:p>
            <a:pPr marL="0" indent="0">
              <a:buNone/>
            </a:pPr>
            <a:r>
              <a:rPr lang="en-US" sz="3200" dirty="0"/>
              <a:t>The backups need to be at the regular period and ensuring that the copies are in a secure location. </a:t>
            </a:r>
          </a:p>
          <a:p>
            <a:pPr marL="0" indent="0">
              <a:buNone/>
            </a:pPr>
            <a:r>
              <a:rPr lang="en-US" sz="3200" dirty="0"/>
              <a:t>In the event of a failure that renders the database unusable, the backup copy and the details captured in the log file are used to restore the database to the latest possible consistent state.</a:t>
            </a:r>
          </a:p>
        </p:txBody>
      </p:sp>
    </p:spTree>
    <p:extLst>
      <p:ext uri="{BB962C8B-B14F-4D97-AF65-F5344CB8AC3E}">
        <p14:creationId xmlns:p14="http://schemas.microsoft.com/office/powerpoint/2010/main" val="41202572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BDC37-5372-4A4F-A890-DB5464B03127}"/>
              </a:ext>
            </a:extLst>
          </p:cNvPr>
          <p:cNvSpPr>
            <a:spLocks noGrp="1"/>
          </p:cNvSpPr>
          <p:nvPr>
            <p:ph type="title"/>
          </p:nvPr>
        </p:nvSpPr>
        <p:spPr>
          <a:xfrm>
            <a:off x="838200" y="365126"/>
            <a:ext cx="10515600" cy="854074"/>
          </a:xfrm>
        </p:spPr>
        <p:txBody>
          <a:bodyPr>
            <a:normAutofit fontScale="90000"/>
          </a:bodyPr>
          <a:lstStyle/>
          <a:p>
            <a:pPr algn="ctr"/>
            <a:r>
              <a:rPr lang="en-US" sz="6000" b="1" dirty="0"/>
              <a:t>Security plan</a:t>
            </a:r>
          </a:p>
        </p:txBody>
      </p:sp>
      <p:sp>
        <p:nvSpPr>
          <p:cNvPr id="3" name="Content Placeholder 2">
            <a:extLst>
              <a:ext uri="{FF2B5EF4-FFF2-40B4-BE49-F238E27FC236}">
                <a16:creationId xmlns:a16="http://schemas.microsoft.com/office/drawing/2014/main" id="{02615A78-9A8C-492C-9EB8-E0AE4198C084}"/>
              </a:ext>
            </a:extLst>
          </p:cNvPr>
          <p:cNvSpPr>
            <a:spLocks noGrp="1"/>
          </p:cNvSpPr>
          <p:nvPr>
            <p:ph idx="1"/>
          </p:nvPr>
        </p:nvSpPr>
        <p:spPr>
          <a:xfrm>
            <a:off x="838200" y="1535111"/>
            <a:ext cx="10515600" cy="4957763"/>
          </a:xfrm>
        </p:spPr>
        <p:txBody>
          <a:bodyPr numCol="2">
            <a:normAutofit lnSpcReduction="10000"/>
          </a:bodyPr>
          <a:lstStyle/>
          <a:p>
            <a:r>
              <a:rPr lang="en-US" dirty="0"/>
              <a:t>Identify the user community.</a:t>
            </a:r>
          </a:p>
          <a:p>
            <a:r>
              <a:rPr lang="en-US" dirty="0"/>
              <a:t>Gather the database information.</a:t>
            </a:r>
          </a:p>
          <a:p>
            <a:r>
              <a:rPr lang="en-US" dirty="0"/>
              <a:t>Determine the types of user account (i.e. associate database objects and</a:t>
            </a:r>
          </a:p>
          <a:p>
            <a:r>
              <a:rPr lang="en-US" dirty="0"/>
              <a:t>user roles).</a:t>
            </a:r>
          </a:p>
          <a:p>
            <a:r>
              <a:rPr lang="en-US" dirty="0"/>
              <a:t>Undertake a threat analysis.</a:t>
            </a:r>
          </a:p>
          <a:p>
            <a:r>
              <a:rPr lang="en-US" dirty="0"/>
              <a:t>Establish DBA authorities and procedures.</a:t>
            </a:r>
          </a:p>
          <a:p>
            <a:r>
              <a:rPr lang="en-US" dirty="0"/>
              <a:t>Establish policies for managing (creating, deleting, auditing) user accounts.</a:t>
            </a:r>
          </a:p>
          <a:p>
            <a:r>
              <a:rPr lang="en-US" dirty="0"/>
              <a:t>Determine the user tracking policy.</a:t>
            </a:r>
          </a:p>
          <a:p>
            <a:r>
              <a:rPr lang="en-US" dirty="0"/>
              <a:t>Establish the user identification method.</a:t>
            </a:r>
          </a:p>
          <a:p>
            <a:r>
              <a:rPr lang="en-US" dirty="0"/>
              <a:t>Define security incidents and reporting procedure.</a:t>
            </a:r>
          </a:p>
          <a:p>
            <a:r>
              <a:rPr lang="en-US" dirty="0"/>
              <a:t>Assess the sensitivity of specific data objects.</a:t>
            </a:r>
          </a:p>
          <a:p>
            <a:r>
              <a:rPr lang="en-US" dirty="0"/>
              <a:t>Establish standards and enforcement procedures (as well as back-up and</a:t>
            </a:r>
          </a:p>
          <a:p>
            <a:r>
              <a:rPr lang="en-US" dirty="0"/>
              <a:t>recovery plans, of course).</a:t>
            </a:r>
          </a:p>
        </p:txBody>
      </p:sp>
    </p:spTree>
    <p:extLst>
      <p:ext uri="{BB962C8B-B14F-4D97-AF65-F5344CB8AC3E}">
        <p14:creationId xmlns:p14="http://schemas.microsoft.com/office/powerpoint/2010/main" val="24355148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289</TotalTime>
  <Words>1348</Words>
  <Application>Microsoft Office PowerPoint</Application>
  <PresentationFormat>Widescreen</PresentationFormat>
  <Paragraphs>94</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Database security </vt:lpstr>
      <vt:lpstr>INTRODUCTION</vt:lpstr>
      <vt:lpstr>What is a Database Security Threat(s)</vt:lpstr>
      <vt:lpstr>PowerPoint Presentation</vt:lpstr>
      <vt:lpstr>Common Database Security Threats</vt:lpstr>
      <vt:lpstr>Defencing-Depth Strategy</vt:lpstr>
      <vt:lpstr>Defense in depth architecture</vt:lpstr>
      <vt:lpstr>Computer-Based Controls</vt:lpstr>
      <vt:lpstr>PowerPoint Presentation</vt:lpstr>
      <vt:lpstr>PowerPoint Presentation</vt:lpstr>
      <vt:lpstr>PowerPoint Presentation</vt:lpstr>
      <vt:lpstr>RAID technology</vt:lpstr>
      <vt:lpstr>encryption of data</vt:lpstr>
      <vt:lpstr>Backup and Recovery</vt:lpstr>
      <vt:lpstr>Security plan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security</dc:title>
  <dc:creator>Jephter Pelekamoyo</dc:creator>
  <cp:lastModifiedBy>Jephter Pelekamoyo</cp:lastModifiedBy>
  <cp:revision>11</cp:revision>
  <dcterms:created xsi:type="dcterms:W3CDTF">2019-08-20T08:31:20Z</dcterms:created>
  <dcterms:modified xsi:type="dcterms:W3CDTF">2023-08-28T06:13:11Z</dcterms:modified>
</cp:coreProperties>
</file>