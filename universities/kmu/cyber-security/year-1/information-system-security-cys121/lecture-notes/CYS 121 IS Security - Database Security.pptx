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0" autoAdjust="0"/>
    <p:restoredTop sz="94660"/>
  </p:normalViewPr>
  <p:slideViewPr>
    <p:cSldViewPr snapToGrid="0">
      <p:cViewPr varScale="1">
        <p:scale>
          <a:sx n="61" d="100"/>
          <a:sy n="61" d="100"/>
        </p:scale>
        <p:origin x="72" y="5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4F2514-7F79-41FB-BC95-300FC12749BF}" type="datetimeFigureOut">
              <a:rPr lang="en-US" smtClean="0"/>
              <a:t>5/9/2022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C9897D-CA4F-4812-87EC-A836A7DE7666}" type="slidenum">
              <a:rPr lang="en-US" smtClean="0"/>
              <a:t>‹#›</a:t>
            </a:fld>
            <a:endParaRPr lang="en-US"/>
          </a:p>
        </p:txBody>
      </p:sp>
    </p:spTree>
    <p:extLst>
      <p:ext uri="{BB962C8B-B14F-4D97-AF65-F5344CB8AC3E}">
        <p14:creationId xmlns:p14="http://schemas.microsoft.com/office/powerpoint/2010/main" val="1669941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EB1FF1BC-21AF-443D-BD4A-E631641AA3D6}" type="slidenum">
              <a:rPr lang="en-US" altLang="en-US"/>
              <a:pPr/>
              <a:t>2</a:t>
            </a:fld>
            <a:endParaRPr lang="en-US" altLang="en-US"/>
          </a:p>
        </p:txBody>
      </p:sp>
      <p:sp>
        <p:nvSpPr>
          <p:cNvPr id="14338" name="Rectangle 2"/>
          <p:cNvSpPr>
            <a:spLocks noChangeArrowheads="1" noTextEdit="1"/>
          </p:cNvSpPr>
          <p:nvPr>
            <p:ph type="sldImg"/>
          </p:nvPr>
        </p:nvSpPr>
        <p:spPr>
          <a:ln/>
        </p:spPr>
      </p:sp>
      <p:sp>
        <p:nvSpPr>
          <p:cNvPr id="143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0830815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F0DD5149-8F47-452B-8BAC-7BB0D08094D9}" type="slidenum">
              <a:rPr lang="en-US" altLang="en-US"/>
              <a:pPr/>
              <a:t>3</a:t>
            </a:fld>
            <a:endParaRPr lang="en-US" altLang="en-US"/>
          </a:p>
        </p:txBody>
      </p:sp>
      <p:sp>
        <p:nvSpPr>
          <p:cNvPr id="6146" name="Rectangle 2"/>
          <p:cNvSpPr>
            <a:spLocks noChangeArrowheads="1" noTextEdit="1"/>
          </p:cNvSpPr>
          <p:nvPr>
            <p:ph type="sldImg"/>
          </p:nvPr>
        </p:nvSpPr>
        <p:spPr>
          <a:ln/>
        </p:spPr>
      </p:sp>
      <p:sp>
        <p:nvSpPr>
          <p:cNvPr id="614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718230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BCF26D20-2643-462E-AAC4-46985CBBD908}" type="slidenum">
              <a:rPr lang="en-US" altLang="en-US"/>
              <a:pPr/>
              <a:t>4</a:t>
            </a:fld>
            <a:endParaRPr lang="en-US" altLang="en-US"/>
          </a:p>
        </p:txBody>
      </p:sp>
      <p:sp>
        <p:nvSpPr>
          <p:cNvPr id="9218" name="Rectangle 2"/>
          <p:cNvSpPr>
            <a:spLocks noChangeArrowheads="1" noTextEdit="1"/>
          </p:cNvSpPr>
          <p:nvPr>
            <p:ph type="sldImg"/>
          </p:nvPr>
        </p:nvSpPr>
        <p:spPr>
          <a:ln/>
        </p:spPr>
      </p:sp>
      <p:sp>
        <p:nvSpPr>
          <p:cNvPr id="9219" name="Rectangle 3"/>
          <p:cNvSpPr>
            <a:spLocks noGrp="1" noChangeArrowheads="1"/>
          </p:cNvSpPr>
          <p:nvPr>
            <p:ph type="body" idx="1"/>
          </p:nvPr>
        </p:nvSpPr>
        <p:spPr/>
        <p:txBody>
          <a:bodyPr/>
          <a:lstStyle/>
          <a:p>
            <a:r>
              <a:rPr lang="en-US" altLang="en-US"/>
              <a:t>Types of DBMS :</a:t>
            </a:r>
          </a:p>
          <a:p>
            <a:r>
              <a:rPr lang="en-US" altLang="en-US"/>
              <a:t>Depending on  way DBMS organizes information internally following 3 types.</a:t>
            </a:r>
          </a:p>
          <a:p>
            <a:r>
              <a:rPr lang="en-US" altLang="en-US"/>
              <a:t>Relation being the most widely used.</a:t>
            </a:r>
          </a:p>
          <a:p>
            <a:r>
              <a:rPr lang="en-US" altLang="en-US"/>
              <a:t>Hierarchical</a:t>
            </a:r>
          </a:p>
          <a:p>
            <a:r>
              <a:rPr lang="en-US" altLang="en-US"/>
              <a:t>Network</a:t>
            </a:r>
          </a:p>
          <a:p>
            <a:r>
              <a:rPr lang="en-US" altLang="en-US"/>
              <a:t>Relational</a:t>
            </a:r>
          </a:p>
        </p:txBody>
      </p:sp>
    </p:spTree>
    <p:extLst>
      <p:ext uri="{BB962C8B-B14F-4D97-AF65-F5344CB8AC3E}">
        <p14:creationId xmlns:p14="http://schemas.microsoft.com/office/powerpoint/2010/main" val="1430956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514CB7A0-3FA3-40A6-BC66-484BA912946D}" type="slidenum">
              <a:rPr lang="en-US" altLang="en-US"/>
              <a:pPr/>
              <a:t>5</a:t>
            </a:fld>
            <a:endParaRPr lang="en-US" altLang="en-US"/>
          </a:p>
        </p:txBody>
      </p:sp>
      <p:sp>
        <p:nvSpPr>
          <p:cNvPr id="11266" name="Rectangle 2"/>
          <p:cNvSpPr>
            <a:spLocks noChangeArrowheads="1" noTextEdit="1"/>
          </p:cNvSpPr>
          <p:nvPr>
            <p:ph type="sldImg"/>
          </p:nvPr>
        </p:nvSpPr>
        <p:spPr>
          <a:ln/>
        </p:spPr>
      </p:sp>
      <p:sp>
        <p:nvSpPr>
          <p:cNvPr id="112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41986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C88E4846-9354-4216-A0A1-94A382A65BA2}" type="slidenum">
              <a:rPr lang="en-US" altLang="en-US"/>
              <a:pPr/>
              <a:t>6</a:t>
            </a:fld>
            <a:endParaRPr lang="en-US" altLang="en-US"/>
          </a:p>
        </p:txBody>
      </p:sp>
      <p:sp>
        <p:nvSpPr>
          <p:cNvPr id="13314" name="Rectangle 2"/>
          <p:cNvSpPr>
            <a:spLocks noChangeArrowheads="1" noTextEdit="1"/>
          </p:cNvSpPr>
          <p:nvPr>
            <p:ph type="sldImg"/>
          </p:nvPr>
        </p:nvSpPr>
        <p:spPr>
          <a:ln/>
        </p:spPr>
      </p:sp>
      <p:sp>
        <p:nvSpPr>
          <p:cNvPr id="1331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908292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0ACDC297-57CB-4CEC-83E7-FE3C66B14BAF}" type="slidenum">
              <a:rPr lang="en-US" altLang="en-US"/>
              <a:pPr/>
              <a:t>7</a:t>
            </a:fld>
            <a:endParaRPr lang="en-US" altLang="en-US"/>
          </a:p>
        </p:txBody>
      </p:sp>
      <p:sp>
        <p:nvSpPr>
          <p:cNvPr id="17410" name="Rectangle 2"/>
          <p:cNvSpPr>
            <a:spLocks noChangeArrowheads="1" noTextEdit="1"/>
          </p:cNvSpPr>
          <p:nvPr>
            <p:ph type="sldImg"/>
          </p:nvPr>
        </p:nvSpPr>
        <p:spPr>
          <a:ln/>
        </p:spPr>
      </p:sp>
      <p:sp>
        <p:nvSpPr>
          <p:cNvPr id="174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0708484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187D2989-5834-4C17-B56A-1E2038632B73}" type="slidenum">
              <a:rPr lang="en-US" altLang="en-US"/>
              <a:pPr/>
              <a:t>8</a:t>
            </a:fld>
            <a:endParaRPr lang="en-US" altLang="en-US"/>
          </a:p>
        </p:txBody>
      </p:sp>
      <p:sp>
        <p:nvSpPr>
          <p:cNvPr id="24578" name="Rectangle 2"/>
          <p:cNvSpPr>
            <a:spLocks noChangeArrowheads="1" noTextEdit="1"/>
          </p:cNvSpPr>
          <p:nvPr>
            <p:ph type="sldImg"/>
          </p:nvPr>
        </p:nvSpPr>
        <p:spPr>
          <a:ln/>
        </p:spPr>
      </p:sp>
      <p:sp>
        <p:nvSpPr>
          <p:cNvPr id="2457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838140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6A9EEF48-F4B1-487F-8CDA-D68D5822DDE4}" type="slidenum">
              <a:rPr lang="en-US" altLang="en-US"/>
              <a:pPr/>
              <a:t>9</a:t>
            </a:fld>
            <a:endParaRPr lang="en-US" altLang="en-US"/>
          </a:p>
        </p:txBody>
      </p:sp>
      <p:sp>
        <p:nvSpPr>
          <p:cNvPr id="27650" name="Rectangle 2"/>
          <p:cNvSpPr>
            <a:spLocks noChangeArrowheads="1" noTextEdit="1"/>
          </p:cNvSpPr>
          <p:nvPr>
            <p:ph type="sldImg"/>
          </p:nvPr>
        </p:nvSpPr>
        <p:spPr>
          <a:ln/>
        </p:spPr>
      </p:sp>
      <p:sp>
        <p:nvSpPr>
          <p:cNvPr id="27651" name="Rectangle 3"/>
          <p:cNvSpPr>
            <a:spLocks noGrp="1" noChangeArrowheads="1"/>
          </p:cNvSpPr>
          <p:nvPr>
            <p:ph type="body" idx="1"/>
          </p:nvPr>
        </p:nvSpPr>
        <p:spPr/>
        <p:txBody>
          <a:bodyPr/>
          <a:lstStyle/>
          <a:p>
            <a:r>
              <a:rPr lang="en-US" altLang="en-US"/>
              <a:t>Two situations can affect the integrity of a database: when the whole database is damaged (as happens, for example, if its storage medium is damaged), or when individual data items are unreadable.</a:t>
            </a:r>
          </a:p>
          <a:p>
            <a:endParaRPr lang="en-US" altLang="en-US"/>
          </a:p>
          <a:p>
            <a:r>
              <a:rPr lang="en-US" altLang="en-US"/>
              <a:t>data must be protected from corruption, either by an outside illegal program action or by an outside force such as fire or a power failure. </a:t>
            </a:r>
          </a:p>
          <a:p>
            <a:endParaRPr lang="en-US" altLang="en-US"/>
          </a:p>
        </p:txBody>
      </p:sp>
    </p:spTree>
    <p:extLst>
      <p:ext uri="{BB962C8B-B14F-4D97-AF65-F5344CB8AC3E}">
        <p14:creationId xmlns:p14="http://schemas.microsoft.com/office/powerpoint/2010/main" val="11595914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B49778C5-7726-46B1-A29C-A777C0242D9F}" type="slidenum">
              <a:rPr lang="en-US" altLang="en-US"/>
              <a:pPr/>
              <a:t>10</a:t>
            </a:fld>
            <a:endParaRPr lang="en-US" altLang="en-US"/>
          </a:p>
        </p:txBody>
      </p:sp>
      <p:sp>
        <p:nvSpPr>
          <p:cNvPr id="30722" name="Rectangle 2"/>
          <p:cNvSpPr>
            <a:spLocks noChangeArrowheads="1" noTextEdit="1"/>
          </p:cNvSpPr>
          <p:nvPr>
            <p:ph type="sldImg"/>
          </p:nvPr>
        </p:nvSpPr>
        <p:spPr>
          <a:ln/>
        </p:spPr>
      </p:sp>
      <p:sp>
        <p:nvSpPr>
          <p:cNvPr id="30723" name="Rectangle 3"/>
          <p:cNvSpPr>
            <a:spLocks noGrp="1" noChangeArrowheads="1"/>
          </p:cNvSpPr>
          <p:nvPr>
            <p:ph type="body" idx="1"/>
          </p:nvPr>
        </p:nvSpPr>
        <p:spPr/>
        <p:txBody>
          <a:bodyPr/>
          <a:lstStyle/>
          <a:p>
            <a:r>
              <a:rPr lang="en-US" altLang="en-US"/>
              <a:t>DBMSs sometimes take special action to help catch errors as they are made and to correct errors after values are inserted.</a:t>
            </a:r>
          </a:p>
          <a:p>
            <a:endParaRPr lang="en-US" altLang="en-US"/>
          </a:p>
          <a:p>
            <a:r>
              <a:rPr lang="en-US" altLang="en-US"/>
              <a:t>	the DBMS can apply </a:t>
            </a:r>
            <a:r>
              <a:rPr lang="en-US" altLang="en-US" b="1"/>
              <a:t>field checks,</a:t>
            </a:r>
            <a:r>
              <a:rPr lang="en-US" altLang="en-US"/>
              <a:t> activities that test for appropriate values in a position. </a:t>
            </a:r>
          </a:p>
          <a:p>
            <a:r>
              <a:rPr lang="en-US" altLang="en-US"/>
              <a:t>	Check for value bounds , value types (numeric/character/boolean) , other conditions such as case </a:t>
            </a:r>
          </a:p>
          <a:p>
            <a:endParaRPr lang="en-US" altLang="en-US"/>
          </a:p>
          <a:p>
            <a:r>
              <a:rPr lang="en-US" altLang="en-US"/>
              <a:t>	Access Controls : Who has authorization to update which elements? What if two people apply conflicting modifications? </a:t>
            </a:r>
          </a:p>
          <a:p>
            <a:r>
              <a:rPr lang="en-US" altLang="en-US"/>
              <a:t>                      What if modifications are applied out of sequence? How are duplicate records detected? What action is taken when duplicates are found? </a:t>
            </a:r>
          </a:p>
          <a:p>
            <a:endParaRPr lang="en-US" altLang="en-US"/>
          </a:p>
          <a:p>
            <a:r>
              <a:rPr lang="en-US" altLang="en-US"/>
              <a:t>	Change logs : A change log lists every change made to the database; it contains both original and modified values. Using this log, a database administrator can undo any changes that were made in error. </a:t>
            </a:r>
          </a:p>
          <a:p>
            <a:endParaRPr lang="en-US" altLang="en-US"/>
          </a:p>
          <a:p>
            <a:r>
              <a:rPr lang="en-US" altLang="en-US"/>
              <a:t>Audibility</a:t>
            </a:r>
          </a:p>
          <a:p>
            <a:r>
              <a:rPr lang="en-US" altLang="en-US"/>
              <a:t>For some applications it may be desirable to generate an audit record of all access (read or write) to a database. to discover after the fact who had affected what values and when. </a:t>
            </a:r>
          </a:p>
          <a:p>
            <a:r>
              <a:rPr lang="en-US" altLang="en-US"/>
              <a:t>To be useful for maintaining integrity, database audit trails should include accesses at the record, field, and even element levels. This detail is prohibitive for most database applications.</a:t>
            </a:r>
          </a:p>
          <a:p>
            <a:endParaRPr lang="en-US" altLang="en-US"/>
          </a:p>
          <a:p>
            <a:r>
              <a:rPr lang="en-US" altLang="en-US"/>
              <a:t>Problem : A log of all records accessed directly may both overstate and understate what a user actually knows </a:t>
            </a:r>
          </a:p>
          <a:p>
            <a:r>
              <a:rPr lang="en-US" altLang="en-US"/>
              <a:t>	</a:t>
            </a:r>
          </a:p>
        </p:txBody>
      </p:sp>
    </p:spTree>
    <p:extLst>
      <p:ext uri="{BB962C8B-B14F-4D97-AF65-F5344CB8AC3E}">
        <p14:creationId xmlns:p14="http://schemas.microsoft.com/office/powerpoint/2010/main" val="1161426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49F5178C-35AB-404C-821A-099B29032053}" type="slidenum">
              <a:rPr lang="en-US" altLang="en-US"/>
              <a:pPr/>
              <a:t>11</a:t>
            </a:fld>
            <a:endParaRPr lang="en-US" altLang="en-US"/>
          </a:p>
        </p:txBody>
      </p:sp>
      <p:sp>
        <p:nvSpPr>
          <p:cNvPr id="52226" name="Rectangle 2"/>
          <p:cNvSpPr>
            <a:spLocks noChangeArrowheads="1" noTextEdit="1"/>
          </p:cNvSpPr>
          <p:nvPr>
            <p:ph type="sldImg"/>
          </p:nvPr>
        </p:nvSpPr>
        <p:spPr>
          <a:ln/>
        </p:spPr>
      </p:sp>
      <p:sp>
        <p:nvSpPr>
          <p:cNvPr id="5222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00280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79359691-CF3C-42C2-A09E-B918B7F4FEC5}" type="slidenum">
              <a:rPr lang="en-US" altLang="en-US"/>
              <a:pPr/>
              <a:t>12</a:t>
            </a:fld>
            <a:endParaRPr lang="en-US" altLang="en-US"/>
          </a:p>
        </p:txBody>
      </p:sp>
      <p:sp>
        <p:nvSpPr>
          <p:cNvPr id="54274" name="Rectangle 2"/>
          <p:cNvSpPr>
            <a:spLocks noChangeArrowheads="1" noTextEdit="1"/>
          </p:cNvSpPr>
          <p:nvPr>
            <p:ph type="sldImg"/>
          </p:nvPr>
        </p:nvSpPr>
        <p:spPr>
          <a:ln/>
        </p:spPr>
      </p:sp>
      <p:sp>
        <p:nvSpPr>
          <p:cNvPr id="542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148535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9D6B5966-EFF5-4144-ABCA-F2B715619A9A}" type="slidenum">
              <a:rPr lang="en-US" altLang="en-US"/>
              <a:pPr/>
              <a:t>13</a:t>
            </a:fld>
            <a:endParaRPr lang="en-US" altLang="en-US"/>
          </a:p>
        </p:txBody>
      </p:sp>
      <p:sp>
        <p:nvSpPr>
          <p:cNvPr id="93186" name="Rectangle 2"/>
          <p:cNvSpPr>
            <a:spLocks noChangeArrowheads="1" noTextEdit="1"/>
          </p:cNvSpPr>
          <p:nvPr>
            <p:ph type="sldImg"/>
          </p:nvPr>
        </p:nvSpPr>
        <p:spPr>
          <a:ln/>
        </p:spPr>
      </p:sp>
      <p:sp>
        <p:nvSpPr>
          <p:cNvPr id="9318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557744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34957187-89C1-4A4D-BD31-4D5E73C83DA4}" type="slidenum">
              <a:rPr lang="en-US" altLang="en-US"/>
              <a:pPr/>
              <a:t>14</a:t>
            </a:fld>
            <a:endParaRPr lang="en-US" altLang="en-US"/>
          </a:p>
        </p:txBody>
      </p:sp>
      <p:sp>
        <p:nvSpPr>
          <p:cNvPr id="56322" name="Rectangle 2"/>
          <p:cNvSpPr>
            <a:spLocks noChangeArrowheads="1" noTextEdit="1"/>
          </p:cNvSpPr>
          <p:nvPr>
            <p:ph type="sldImg"/>
          </p:nvPr>
        </p:nvSpPr>
        <p:spPr>
          <a:ln/>
        </p:spPr>
      </p:sp>
      <p:sp>
        <p:nvSpPr>
          <p:cNvPr id="5632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5123885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D0A627BC-5E71-4AE1-826E-907E70382BFF}" type="slidenum">
              <a:rPr lang="en-US" altLang="en-US"/>
              <a:pPr/>
              <a:t>15</a:t>
            </a:fld>
            <a:endParaRPr lang="en-US" altLang="en-US"/>
          </a:p>
        </p:txBody>
      </p:sp>
      <p:sp>
        <p:nvSpPr>
          <p:cNvPr id="91138" name="Rectangle 2"/>
          <p:cNvSpPr>
            <a:spLocks noChangeArrowheads="1" noTextEdit="1"/>
          </p:cNvSpPr>
          <p:nvPr>
            <p:ph type="sldImg"/>
          </p:nvPr>
        </p:nvSpPr>
        <p:spPr>
          <a:ln/>
        </p:spPr>
      </p:sp>
      <p:sp>
        <p:nvSpPr>
          <p:cNvPr id="911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184963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C50584C9-4C18-463E-A82B-7558B70CFFF8}" type="slidenum">
              <a:rPr lang="en-US" altLang="en-US"/>
              <a:pPr/>
              <a:t>16</a:t>
            </a:fld>
            <a:endParaRPr lang="en-US" altLang="en-US"/>
          </a:p>
        </p:txBody>
      </p:sp>
      <p:sp>
        <p:nvSpPr>
          <p:cNvPr id="89090" name="Rectangle 2"/>
          <p:cNvSpPr>
            <a:spLocks noChangeArrowheads="1" noTextEdit="1"/>
          </p:cNvSpPr>
          <p:nvPr>
            <p:ph type="sldImg"/>
          </p:nvPr>
        </p:nvSpPr>
        <p:spPr>
          <a:ln/>
        </p:spPr>
      </p:sp>
      <p:sp>
        <p:nvSpPr>
          <p:cNvPr id="89091" name="Rectangle 3"/>
          <p:cNvSpPr>
            <a:spLocks noGrp="1" noChangeArrowheads="1"/>
          </p:cNvSpPr>
          <p:nvPr>
            <p:ph type="body" idx="1"/>
          </p:nvPr>
        </p:nvSpPr>
        <p:spPr/>
        <p:txBody>
          <a:bodyPr/>
          <a:lstStyle/>
          <a:p>
            <a:r>
              <a:rPr lang="en-US" altLang="en-US"/>
              <a:t>DBMSs sometimes take special action to help catch errors as they are made and to correct errors after values are inserted.</a:t>
            </a:r>
          </a:p>
          <a:p>
            <a:endParaRPr lang="en-US" altLang="en-US"/>
          </a:p>
          <a:p>
            <a:r>
              <a:rPr lang="en-US" altLang="en-US"/>
              <a:t>	the DBMS can apply </a:t>
            </a:r>
            <a:r>
              <a:rPr lang="en-US" altLang="en-US" b="1"/>
              <a:t>field checks,</a:t>
            </a:r>
            <a:r>
              <a:rPr lang="en-US" altLang="en-US"/>
              <a:t> activities that test for appropriate values in a position. </a:t>
            </a:r>
          </a:p>
          <a:p>
            <a:r>
              <a:rPr lang="en-US" altLang="en-US"/>
              <a:t>	Check for value bounds , value types (numeric/character/boolean) , other conditions such as case </a:t>
            </a:r>
          </a:p>
          <a:p>
            <a:endParaRPr lang="en-US" altLang="en-US"/>
          </a:p>
          <a:p>
            <a:r>
              <a:rPr lang="en-US" altLang="en-US"/>
              <a:t>	Access Controls : Who has authorization to update which elements? What if two people apply conflicting modifications? </a:t>
            </a:r>
          </a:p>
          <a:p>
            <a:r>
              <a:rPr lang="en-US" altLang="en-US"/>
              <a:t>                      What if modifications are applied out of sequence? How are duplicate records detected? What action is taken when duplicates are found? </a:t>
            </a:r>
          </a:p>
          <a:p>
            <a:endParaRPr lang="en-US" altLang="en-US"/>
          </a:p>
          <a:p>
            <a:r>
              <a:rPr lang="en-US" altLang="en-US"/>
              <a:t>	Change logs : A change log lists every change made to the database; it contains both original and modified values. Using this log, a database administrator can undo any changes that were made in error. </a:t>
            </a:r>
          </a:p>
          <a:p>
            <a:endParaRPr lang="en-US" altLang="en-US"/>
          </a:p>
          <a:p>
            <a:r>
              <a:rPr lang="en-US" altLang="en-US"/>
              <a:t>Audibility</a:t>
            </a:r>
          </a:p>
          <a:p>
            <a:r>
              <a:rPr lang="en-US" altLang="en-US"/>
              <a:t>For some applications it may be desirable to generate an audit record of all access (read or write) to a database. to discover after the fact who had affected what values and when. </a:t>
            </a:r>
          </a:p>
          <a:p>
            <a:r>
              <a:rPr lang="en-US" altLang="en-US"/>
              <a:t>To be useful for maintaining integrity, database audit trails should include accesses at the record, field, and even element levels. This detail is prohibitive for most database applications.</a:t>
            </a:r>
          </a:p>
          <a:p>
            <a:endParaRPr lang="en-US" altLang="en-US"/>
          </a:p>
          <a:p>
            <a:r>
              <a:rPr lang="en-US" altLang="en-US"/>
              <a:t>Problem : A log of all records accessed directly may both overstate and understate what a user actually knows </a:t>
            </a:r>
          </a:p>
          <a:p>
            <a:r>
              <a:rPr lang="en-US" altLang="en-US"/>
              <a:t>	</a:t>
            </a:r>
          </a:p>
        </p:txBody>
      </p:sp>
    </p:spTree>
    <p:extLst>
      <p:ext uri="{BB962C8B-B14F-4D97-AF65-F5344CB8AC3E}">
        <p14:creationId xmlns:p14="http://schemas.microsoft.com/office/powerpoint/2010/main" val="2821437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4F4E7B16-F0D1-4BD1-B471-5D692EE14E74}" type="slidenum">
              <a:rPr lang="en-US" altLang="en-US"/>
              <a:pPr/>
              <a:t>17</a:t>
            </a:fld>
            <a:endParaRPr lang="en-US" altLang="en-US"/>
          </a:p>
        </p:txBody>
      </p:sp>
      <p:sp>
        <p:nvSpPr>
          <p:cNvPr id="58370" name="Rectangle 2"/>
          <p:cNvSpPr>
            <a:spLocks noChangeArrowheads="1" noTextEdit="1"/>
          </p:cNvSpPr>
          <p:nvPr>
            <p:ph type="sldImg"/>
          </p:nvPr>
        </p:nvSpPr>
        <p:spPr>
          <a:ln/>
        </p:spPr>
      </p:sp>
      <p:sp>
        <p:nvSpPr>
          <p:cNvPr id="583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9040754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6AA2E1E3-99CB-42E1-A432-65D82BDCECDF}" type="slidenum">
              <a:rPr lang="en-US" altLang="en-US"/>
              <a:pPr/>
              <a:t>18</a:t>
            </a:fld>
            <a:endParaRPr lang="en-US" altLang="en-US"/>
          </a:p>
        </p:txBody>
      </p:sp>
      <p:sp>
        <p:nvSpPr>
          <p:cNvPr id="70658" name="Rectangle 2"/>
          <p:cNvSpPr>
            <a:spLocks noChangeArrowheads="1" noTextEdit="1"/>
          </p:cNvSpPr>
          <p:nvPr>
            <p:ph type="sldImg"/>
          </p:nvPr>
        </p:nvSpPr>
        <p:spPr>
          <a:ln/>
        </p:spPr>
      </p:sp>
      <p:sp>
        <p:nvSpPr>
          <p:cNvPr id="70659" name="Rectangle 3"/>
          <p:cNvSpPr>
            <a:spLocks noGrp="1" noChangeArrowheads="1"/>
          </p:cNvSpPr>
          <p:nvPr>
            <p:ph type="body" idx="1"/>
          </p:nvPr>
        </p:nvSpPr>
        <p:spPr/>
        <p:txBody>
          <a:bodyPr/>
          <a:lstStyle/>
          <a:p>
            <a:endParaRPr lang="en-US" altLang="en-US" b="1"/>
          </a:p>
          <a:p>
            <a:r>
              <a:rPr lang="en-US" altLang="en-US" b="1"/>
              <a:t>A Trojan Horse is rogue software installed</a:t>
            </a:r>
            <a:r>
              <a:rPr lang="en-US" altLang="en-US"/>
              <a:t> </a:t>
            </a:r>
            <a:r>
              <a:rPr lang="en-US" altLang="en-US" b="1"/>
              <a:t>perhaps unwittingly, by duly authorized users</a:t>
            </a:r>
            <a:r>
              <a:rPr lang="en-US" altLang="en-US"/>
              <a:t> </a:t>
            </a:r>
          </a:p>
          <a:p>
            <a:r>
              <a:rPr lang="en-US" altLang="en-US" b="1"/>
              <a:t>A Trojan Horse does what a user expects it to do,</a:t>
            </a:r>
            <a:r>
              <a:rPr lang="en-US" altLang="en-US"/>
              <a:t> </a:t>
            </a:r>
            <a:r>
              <a:rPr lang="en-US" altLang="en-US" b="1"/>
              <a:t>but in addition exploits the user's legitimate</a:t>
            </a:r>
            <a:r>
              <a:rPr lang="en-US" altLang="en-US"/>
              <a:t> </a:t>
            </a:r>
            <a:r>
              <a:rPr lang="en-US" altLang="en-US" b="1"/>
              <a:t>privileges to cause a security breach</a:t>
            </a:r>
            <a:r>
              <a:rPr lang="en-US" altLang="en-US"/>
              <a:t> </a:t>
            </a:r>
          </a:p>
          <a:p>
            <a:endParaRPr lang="en-US" altLang="en-US"/>
          </a:p>
          <a:p>
            <a:r>
              <a:rPr lang="en-US" altLang="en-US"/>
              <a:t>If the users don’t do it , a trojan horse al always do it </a:t>
            </a:r>
          </a:p>
          <a:p>
            <a:endParaRPr lang="en-US" altLang="en-US"/>
          </a:p>
        </p:txBody>
      </p:sp>
    </p:spTree>
    <p:extLst>
      <p:ext uri="{BB962C8B-B14F-4D97-AF65-F5344CB8AC3E}">
        <p14:creationId xmlns:p14="http://schemas.microsoft.com/office/powerpoint/2010/main" val="29864927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444F1C29-ACF5-4CE5-AD39-88486A6778A8}" type="slidenum">
              <a:rPr lang="en-US" altLang="en-US"/>
              <a:pPr/>
              <a:t>19</a:t>
            </a:fld>
            <a:endParaRPr lang="en-US" altLang="en-US"/>
          </a:p>
        </p:txBody>
      </p:sp>
      <p:sp>
        <p:nvSpPr>
          <p:cNvPr id="72706" name="Rectangle 2"/>
          <p:cNvSpPr>
            <a:spLocks noChangeArrowheads="1" noTextEdit="1"/>
          </p:cNvSpPr>
          <p:nvPr>
            <p:ph type="sldImg"/>
          </p:nvPr>
        </p:nvSpPr>
        <p:spPr>
          <a:ln/>
        </p:spPr>
      </p:sp>
      <p:sp>
        <p:nvSpPr>
          <p:cNvPr id="7270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5112517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2624D3DC-A8A2-4146-8B49-E22D256393F2}" type="slidenum">
              <a:rPr lang="en-US" altLang="en-US"/>
              <a:pPr/>
              <a:t>20</a:t>
            </a:fld>
            <a:endParaRPr lang="en-US" altLang="en-US"/>
          </a:p>
        </p:txBody>
      </p:sp>
      <p:sp>
        <p:nvSpPr>
          <p:cNvPr id="179202" name="Rectangle 2"/>
          <p:cNvSpPr>
            <a:spLocks noChangeArrowheads="1" noTextEdit="1"/>
          </p:cNvSpPr>
          <p:nvPr>
            <p:ph type="sldImg"/>
          </p:nvPr>
        </p:nvSpPr>
        <p:spPr>
          <a:ln/>
        </p:spPr>
      </p:sp>
      <p:sp>
        <p:nvSpPr>
          <p:cNvPr id="17920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701030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9CA645D2-9472-4FFF-81B5-C65B122415CF}" type="slidenum">
              <a:rPr lang="en-US" altLang="en-US"/>
              <a:pPr/>
              <a:t>21</a:t>
            </a:fld>
            <a:endParaRPr lang="en-US" altLang="en-US"/>
          </a:p>
        </p:txBody>
      </p:sp>
      <p:sp>
        <p:nvSpPr>
          <p:cNvPr id="252930" name="Rectangle 2"/>
          <p:cNvSpPr>
            <a:spLocks noChangeArrowheads="1" noTextEdit="1"/>
          </p:cNvSpPr>
          <p:nvPr>
            <p:ph type="sldImg"/>
          </p:nvPr>
        </p:nvSpPr>
        <p:spPr>
          <a:ln/>
        </p:spPr>
      </p:sp>
      <p:sp>
        <p:nvSpPr>
          <p:cNvPr id="252931" name="Rectangle 3"/>
          <p:cNvSpPr>
            <a:spLocks noGrp="1" noChangeArrowheads="1"/>
          </p:cNvSpPr>
          <p:nvPr>
            <p:ph type="body" idx="1"/>
          </p:nvPr>
        </p:nvSpPr>
        <p:spPr/>
        <p:txBody>
          <a:bodyPr/>
          <a:lstStyle/>
          <a:p>
            <a:r>
              <a:rPr lang="en-US" altLang="en-US"/>
              <a:t>Global Life Financial requires all life insurance applicants to submit a Medical History report for analyzing the eligibility of their application. An applicant's medical history is highly confidential and should only be handled by the Medical Record Analysis department. Upon analyzing the report, that department comes up with a rating in form of a risk index. Department managers can then refer to the insurance risk index when they consider approving an insurance application. To maintain confidentiality, department managers cannot access the information related to the medical history of a client's record. </a:t>
            </a:r>
          </a:p>
          <a:p>
            <a:endParaRPr lang="en-US" altLang="en-US"/>
          </a:p>
          <a:p>
            <a:endParaRPr lang="en-US" altLang="en-US"/>
          </a:p>
        </p:txBody>
      </p:sp>
    </p:spTree>
    <p:extLst>
      <p:ext uri="{BB962C8B-B14F-4D97-AF65-F5344CB8AC3E}">
        <p14:creationId xmlns:p14="http://schemas.microsoft.com/office/powerpoint/2010/main" val="32999823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E325D1A7-BA07-4D92-BE0C-70260C02F94E}" type="slidenum">
              <a:rPr lang="en-US" altLang="en-US"/>
              <a:pPr/>
              <a:t>22</a:t>
            </a:fld>
            <a:endParaRPr lang="en-US" altLang="en-US"/>
          </a:p>
        </p:txBody>
      </p:sp>
      <p:sp>
        <p:nvSpPr>
          <p:cNvPr id="254978" name="Rectangle 2"/>
          <p:cNvSpPr>
            <a:spLocks noChangeArrowheads="1" noTextEdit="1"/>
          </p:cNvSpPr>
          <p:nvPr>
            <p:ph type="sldImg"/>
          </p:nvPr>
        </p:nvSpPr>
        <p:spPr>
          <a:ln/>
        </p:spPr>
      </p:sp>
      <p:sp>
        <p:nvSpPr>
          <p:cNvPr id="25497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536329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AED1E714-B3CF-4295-91D3-BCDDD7DBA9C3}" type="slidenum">
              <a:rPr lang="en-US" altLang="en-US"/>
              <a:pPr/>
              <a:t>23</a:t>
            </a:fld>
            <a:endParaRPr lang="en-US" altLang="en-US"/>
          </a:p>
        </p:txBody>
      </p:sp>
      <p:sp>
        <p:nvSpPr>
          <p:cNvPr id="257026" name="Rectangle 2"/>
          <p:cNvSpPr>
            <a:spLocks noChangeArrowheads="1" noTextEdit="1"/>
          </p:cNvSpPr>
          <p:nvPr>
            <p:ph type="sldImg"/>
          </p:nvPr>
        </p:nvSpPr>
        <p:spPr>
          <a:ln/>
        </p:spPr>
      </p:sp>
      <p:sp>
        <p:nvSpPr>
          <p:cNvPr id="25702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387024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01FBA852-5E03-402A-936F-EC5DAED9A377}" type="slidenum">
              <a:rPr lang="en-US" altLang="en-US"/>
              <a:pPr/>
              <a:t>24</a:t>
            </a:fld>
            <a:endParaRPr lang="en-US" altLang="en-US"/>
          </a:p>
        </p:txBody>
      </p:sp>
      <p:sp>
        <p:nvSpPr>
          <p:cNvPr id="259074" name="Rectangle 2"/>
          <p:cNvSpPr>
            <a:spLocks noChangeArrowheads="1" noTextEdit="1"/>
          </p:cNvSpPr>
          <p:nvPr>
            <p:ph type="sldImg"/>
          </p:nvPr>
        </p:nvSpPr>
        <p:spPr>
          <a:ln/>
        </p:spPr>
      </p:sp>
      <p:sp>
        <p:nvSpPr>
          <p:cNvPr id="25907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425118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2B744E56-54DE-4C58-B070-B5F48BD2477C}" type="slidenum">
              <a:rPr lang="en-US" altLang="en-US"/>
              <a:pPr/>
              <a:t>25</a:t>
            </a:fld>
            <a:endParaRPr lang="en-US" altLang="en-US"/>
          </a:p>
        </p:txBody>
      </p:sp>
      <p:sp>
        <p:nvSpPr>
          <p:cNvPr id="261122" name="Rectangle 2"/>
          <p:cNvSpPr>
            <a:spLocks noChangeArrowheads="1" noTextEdit="1"/>
          </p:cNvSpPr>
          <p:nvPr>
            <p:ph type="sldImg"/>
          </p:nvPr>
        </p:nvSpPr>
        <p:spPr>
          <a:ln/>
        </p:spPr>
      </p:sp>
      <p:sp>
        <p:nvSpPr>
          <p:cNvPr id="261123" name="Rectangle 3"/>
          <p:cNvSpPr>
            <a:spLocks noGrp="1" noChangeArrowheads="1"/>
          </p:cNvSpPr>
          <p:nvPr>
            <p:ph type="body" idx="1"/>
          </p:nvPr>
        </p:nvSpPr>
        <p:spPr/>
        <p:txBody>
          <a:bodyPr/>
          <a:lstStyle/>
          <a:p>
            <a:r>
              <a:rPr lang="en-US" altLang="en-US"/>
              <a:t>Note: DBA will have to create one view per manager to restrict control to rows of Med_records to only manager’s dept. </a:t>
            </a:r>
          </a:p>
        </p:txBody>
      </p:sp>
    </p:spTree>
    <p:extLst>
      <p:ext uri="{BB962C8B-B14F-4D97-AF65-F5344CB8AC3E}">
        <p14:creationId xmlns:p14="http://schemas.microsoft.com/office/powerpoint/2010/main" val="19280654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501A502D-055B-4EBE-AE7C-F12E840E7831}" type="slidenum">
              <a:rPr lang="en-US" altLang="en-US"/>
              <a:pPr/>
              <a:t>26</a:t>
            </a:fld>
            <a:endParaRPr lang="en-US" altLang="en-US"/>
          </a:p>
        </p:txBody>
      </p:sp>
      <p:sp>
        <p:nvSpPr>
          <p:cNvPr id="263170" name="Rectangle 2"/>
          <p:cNvSpPr>
            <a:spLocks noChangeArrowheads="1" noTextEdit="1"/>
          </p:cNvSpPr>
          <p:nvPr>
            <p:ph type="sldImg"/>
          </p:nvPr>
        </p:nvSpPr>
        <p:spPr>
          <a:ln/>
        </p:spPr>
      </p:sp>
      <p:sp>
        <p:nvSpPr>
          <p:cNvPr id="26317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273529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C34A1149-A9DD-4CC7-91A0-ED109450C4D1}" type="slidenum">
              <a:rPr lang="en-US" altLang="en-US"/>
              <a:pPr/>
              <a:t>27</a:t>
            </a:fld>
            <a:endParaRPr lang="en-US" altLang="en-US"/>
          </a:p>
        </p:txBody>
      </p:sp>
      <p:sp>
        <p:nvSpPr>
          <p:cNvPr id="265218" name="Rectangle 2"/>
          <p:cNvSpPr>
            <a:spLocks noChangeArrowheads="1" noTextEdit="1"/>
          </p:cNvSpPr>
          <p:nvPr>
            <p:ph type="sldImg"/>
          </p:nvPr>
        </p:nvSpPr>
        <p:spPr>
          <a:ln/>
        </p:spPr>
      </p:sp>
      <p:sp>
        <p:nvSpPr>
          <p:cNvPr id="2652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026953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EAFFB05E-63C1-42EB-9F41-890E90C70E4B}" type="slidenum">
              <a:rPr lang="en-US" altLang="en-US"/>
              <a:pPr/>
              <a:t>28</a:t>
            </a:fld>
            <a:endParaRPr lang="en-US" altLang="en-US"/>
          </a:p>
        </p:txBody>
      </p:sp>
      <p:sp>
        <p:nvSpPr>
          <p:cNvPr id="267266" name="Rectangle 2"/>
          <p:cNvSpPr>
            <a:spLocks noChangeArrowheads="1" noTextEdit="1"/>
          </p:cNvSpPr>
          <p:nvPr>
            <p:ph type="sldImg"/>
          </p:nvPr>
        </p:nvSpPr>
        <p:spPr>
          <a:ln/>
        </p:spPr>
      </p:sp>
      <p:sp>
        <p:nvSpPr>
          <p:cNvPr id="2672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79347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636F30E4-F678-4470-9CDB-1D924DCD3A7B}" type="slidenum">
              <a:rPr lang="en-US" altLang="en-US"/>
              <a:pPr/>
              <a:t>29</a:t>
            </a:fld>
            <a:endParaRPr lang="en-US" altLang="en-US"/>
          </a:p>
        </p:txBody>
      </p:sp>
      <p:sp>
        <p:nvSpPr>
          <p:cNvPr id="269314" name="Rectangle 2"/>
          <p:cNvSpPr>
            <a:spLocks noChangeArrowheads="1" noTextEdit="1"/>
          </p:cNvSpPr>
          <p:nvPr>
            <p:ph type="sldImg"/>
          </p:nvPr>
        </p:nvSpPr>
        <p:spPr>
          <a:ln/>
        </p:spPr>
      </p:sp>
      <p:sp>
        <p:nvSpPr>
          <p:cNvPr id="26931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425119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E3F43495-2694-4F94-BC91-8B6467D0665F}" type="slidenum">
              <a:rPr lang="en-US" altLang="en-US"/>
              <a:pPr/>
              <a:t>30</a:t>
            </a:fld>
            <a:endParaRPr lang="en-US" altLang="en-US"/>
          </a:p>
        </p:txBody>
      </p:sp>
      <p:sp>
        <p:nvSpPr>
          <p:cNvPr id="271362" name="Rectangle 2"/>
          <p:cNvSpPr>
            <a:spLocks noChangeArrowheads="1" noTextEdit="1"/>
          </p:cNvSpPr>
          <p:nvPr>
            <p:ph type="sldImg"/>
          </p:nvPr>
        </p:nvSpPr>
        <p:spPr>
          <a:ln/>
        </p:spPr>
      </p:sp>
      <p:sp>
        <p:nvSpPr>
          <p:cNvPr id="2713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4635921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78B2B747-E1B0-4CCB-A2DE-6ED23BFF2705}" type="slidenum">
              <a:rPr lang="en-US" altLang="en-US"/>
              <a:pPr/>
              <a:t>31</a:t>
            </a:fld>
            <a:endParaRPr lang="en-US" altLang="en-US"/>
          </a:p>
        </p:txBody>
      </p:sp>
      <p:sp>
        <p:nvSpPr>
          <p:cNvPr id="273410" name="Rectangle 2"/>
          <p:cNvSpPr>
            <a:spLocks noChangeArrowheads="1" noTextEdit="1"/>
          </p:cNvSpPr>
          <p:nvPr>
            <p:ph type="sldImg"/>
          </p:nvPr>
        </p:nvSpPr>
        <p:spPr>
          <a:ln/>
        </p:spPr>
      </p:sp>
      <p:sp>
        <p:nvSpPr>
          <p:cNvPr id="27341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761953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4F3E20A7-74A4-4A48-A90C-FC919AE86157}" type="slidenum">
              <a:rPr lang="en-US" altLang="en-US"/>
              <a:pPr/>
              <a:t>32</a:t>
            </a:fld>
            <a:endParaRPr lang="en-US" altLang="en-US"/>
          </a:p>
        </p:txBody>
      </p:sp>
      <p:sp>
        <p:nvSpPr>
          <p:cNvPr id="275458" name="Rectangle 2"/>
          <p:cNvSpPr>
            <a:spLocks noChangeArrowheads="1" noTextEdit="1"/>
          </p:cNvSpPr>
          <p:nvPr>
            <p:ph type="sldImg"/>
          </p:nvPr>
        </p:nvSpPr>
        <p:spPr>
          <a:ln/>
        </p:spPr>
      </p:sp>
      <p:sp>
        <p:nvSpPr>
          <p:cNvPr id="27545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3168470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63F3E644-4550-4F95-BF73-836D013023A6}" type="slidenum">
              <a:rPr lang="en-US" altLang="en-US"/>
              <a:pPr/>
              <a:t>33</a:t>
            </a:fld>
            <a:endParaRPr lang="en-US" altLang="en-US"/>
          </a:p>
        </p:txBody>
      </p:sp>
      <p:sp>
        <p:nvSpPr>
          <p:cNvPr id="279554" name="Rectangle 2"/>
          <p:cNvSpPr>
            <a:spLocks noChangeArrowheads="1" noTextEdit="1"/>
          </p:cNvSpPr>
          <p:nvPr>
            <p:ph type="sldImg"/>
          </p:nvPr>
        </p:nvSpPr>
        <p:spPr>
          <a:ln/>
        </p:spPr>
      </p:sp>
      <p:sp>
        <p:nvSpPr>
          <p:cNvPr id="27955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426207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CD416BED-FE0E-4FB6-90AB-85668E03DD22}" type="slidenum">
              <a:rPr lang="en-US" altLang="en-US"/>
              <a:pPr/>
              <a:t>34</a:t>
            </a:fld>
            <a:endParaRPr lang="en-US" altLang="en-US"/>
          </a:p>
        </p:txBody>
      </p:sp>
      <p:sp>
        <p:nvSpPr>
          <p:cNvPr id="74754" name="Rectangle 2"/>
          <p:cNvSpPr>
            <a:spLocks noChangeArrowheads="1" noTextEdit="1"/>
          </p:cNvSpPr>
          <p:nvPr>
            <p:ph type="sldImg"/>
          </p:nvPr>
        </p:nvSpPr>
        <p:spPr>
          <a:ln/>
        </p:spPr>
      </p:sp>
      <p:sp>
        <p:nvSpPr>
          <p:cNvPr id="74755" name="Rectangle 3"/>
          <p:cNvSpPr>
            <a:spLocks noGrp="1" noChangeArrowheads="1"/>
          </p:cNvSpPr>
          <p:nvPr>
            <p:ph type="body" idx="1"/>
          </p:nvPr>
        </p:nvSpPr>
        <p:spPr/>
        <p:txBody>
          <a:bodyPr/>
          <a:lstStyle/>
          <a:p>
            <a:r>
              <a:rPr lang="en-US" altLang="en-US"/>
              <a:t>A covert channel is a communication channel based on the use of system resources not normally intended for communication between the subjects (processes) in the system</a:t>
            </a:r>
          </a:p>
        </p:txBody>
      </p:sp>
    </p:spTree>
    <p:extLst>
      <p:ext uri="{BB962C8B-B14F-4D97-AF65-F5344CB8AC3E}">
        <p14:creationId xmlns:p14="http://schemas.microsoft.com/office/powerpoint/2010/main" val="24345024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6B572E5C-CD2E-4B39-B23C-5C36DD12B7E2}" type="slidenum">
              <a:rPr lang="en-US" altLang="en-US"/>
              <a:pPr/>
              <a:t>35</a:t>
            </a:fld>
            <a:endParaRPr lang="en-US" altLang="en-US"/>
          </a:p>
        </p:txBody>
      </p:sp>
      <p:sp>
        <p:nvSpPr>
          <p:cNvPr id="76802" name="Rectangle 2"/>
          <p:cNvSpPr>
            <a:spLocks noChangeArrowheads="1" noTextEdit="1"/>
          </p:cNvSpPr>
          <p:nvPr>
            <p:ph type="sldImg"/>
          </p:nvPr>
        </p:nvSpPr>
        <p:spPr>
          <a:ln/>
        </p:spPr>
      </p:sp>
      <p:sp>
        <p:nvSpPr>
          <p:cNvPr id="76803" name="Rectangle 3"/>
          <p:cNvSpPr>
            <a:spLocks noGrp="1" noChangeArrowheads="1"/>
          </p:cNvSpPr>
          <p:nvPr>
            <p:ph type="body" idx="1"/>
          </p:nvPr>
        </p:nvSpPr>
        <p:spPr/>
        <p:txBody>
          <a:bodyPr/>
          <a:lstStyle/>
          <a:p>
            <a:r>
              <a:rPr lang="en-US" altLang="en-US" i="1"/>
              <a:t>Inherently sensitive</a:t>
            </a:r>
            <a:r>
              <a:rPr lang="en-US" altLang="en-US"/>
              <a:t>. The value itself may be so revealing that it is sensitive. Examples are the locations of defensive missiles or the median income of barbers in a town with only one barber.</a:t>
            </a:r>
            <a:endParaRPr lang="en-US" altLang="en-US" i="1"/>
          </a:p>
          <a:p>
            <a:r>
              <a:rPr lang="en-US" altLang="en-US" i="1"/>
              <a:t>From a sensitive source</a:t>
            </a:r>
            <a:r>
              <a:rPr lang="en-US" altLang="en-US"/>
              <a:t>. The source of the data may indicate a need for confidentiality. An example is information from an informer whose identity would be compromised if the information were disclosed.</a:t>
            </a:r>
            <a:endParaRPr lang="en-US" altLang="en-US" i="1"/>
          </a:p>
          <a:p>
            <a:r>
              <a:rPr lang="en-US" altLang="en-US" i="1"/>
              <a:t>Declared sensitive</a:t>
            </a:r>
            <a:r>
              <a:rPr lang="en-US" altLang="en-US"/>
              <a:t>. The database administrator or the owner of the data may have declared the data to be sensitive. Examples are classified military data or the name of the anonymous donor of a piece of art.</a:t>
            </a:r>
          </a:p>
          <a:p>
            <a:r>
              <a:rPr lang="en-US" altLang="en-US"/>
              <a:t>Part of a sensitive </a:t>
            </a:r>
            <a:r>
              <a:rPr lang="en-US" altLang="en-US" i="1"/>
              <a:t>attribute</a:t>
            </a:r>
            <a:r>
              <a:rPr lang="en-US" altLang="en-US"/>
              <a:t> or a sensitive </a:t>
            </a:r>
            <a:r>
              <a:rPr lang="en-US" altLang="en-US" i="1"/>
              <a:t>record</a:t>
            </a:r>
            <a:r>
              <a:rPr lang="en-US" altLang="en-US"/>
              <a:t>. In a database, an entire attribute or record may be classified as sensitive. Examples are the salary attribute of a personnel database or a record describing a secret space mission.</a:t>
            </a:r>
          </a:p>
          <a:p>
            <a:r>
              <a:rPr lang="en-US" altLang="en-US"/>
              <a:t>Sensitive </a:t>
            </a:r>
            <a:r>
              <a:rPr lang="en-US" altLang="en-US" i="1"/>
              <a:t>in relation to previously disclosed information</a:t>
            </a:r>
            <a:r>
              <a:rPr lang="en-US" altLang="en-US"/>
              <a:t>. Some data become sensitive in the presence of other data. For example, the longitude coordinate of a secret gold mine reveals little, but the longitude coordinate in conjunction with the latitude coordinate pinpoints the mine.</a:t>
            </a:r>
          </a:p>
        </p:txBody>
      </p:sp>
    </p:spTree>
    <p:extLst>
      <p:ext uri="{BB962C8B-B14F-4D97-AF65-F5344CB8AC3E}">
        <p14:creationId xmlns:p14="http://schemas.microsoft.com/office/powerpoint/2010/main" val="10892068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83CD829C-A364-47DB-89BC-87BCC283A363}" type="slidenum">
              <a:rPr lang="en-US" altLang="en-US"/>
              <a:pPr/>
              <a:t>36</a:t>
            </a:fld>
            <a:endParaRPr lang="en-US" altLang="en-US"/>
          </a:p>
        </p:txBody>
      </p:sp>
      <p:sp>
        <p:nvSpPr>
          <p:cNvPr id="78850" name="Rectangle 2"/>
          <p:cNvSpPr>
            <a:spLocks noChangeArrowheads="1" noTextEdit="1"/>
          </p:cNvSpPr>
          <p:nvPr>
            <p:ph type="sldImg"/>
          </p:nvPr>
        </p:nvSpPr>
        <p:spPr>
          <a:ln/>
        </p:spPr>
      </p:sp>
      <p:sp>
        <p:nvSpPr>
          <p:cNvPr id="7885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681631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95113EA6-D435-4AA7-B9F5-0CE30E25B356}" type="slidenum">
              <a:rPr lang="en-US" altLang="en-US"/>
              <a:pPr/>
              <a:t>37</a:t>
            </a:fld>
            <a:endParaRPr lang="en-US" altLang="en-US"/>
          </a:p>
        </p:txBody>
      </p:sp>
      <p:sp>
        <p:nvSpPr>
          <p:cNvPr id="95234" name="Rectangle 2"/>
          <p:cNvSpPr>
            <a:spLocks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287050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DD7B2FAC-E36E-41DA-927A-4FF8C72B41D4}" type="slidenum">
              <a:rPr lang="en-US" altLang="en-US"/>
              <a:pPr/>
              <a:t>38</a:t>
            </a:fld>
            <a:endParaRPr lang="en-US" altLang="en-US"/>
          </a:p>
        </p:txBody>
      </p:sp>
      <p:sp>
        <p:nvSpPr>
          <p:cNvPr id="97282" name="Rectangle 2"/>
          <p:cNvSpPr>
            <a:spLocks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996833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FBC082F4-6F74-434B-A84D-306AE72A8F67}" type="slidenum">
              <a:rPr lang="en-US" altLang="en-US"/>
              <a:pPr/>
              <a:t>39</a:t>
            </a:fld>
            <a:endParaRPr lang="en-US" altLang="en-US"/>
          </a:p>
        </p:txBody>
      </p:sp>
      <p:sp>
        <p:nvSpPr>
          <p:cNvPr id="111618" name="Rectangle 2"/>
          <p:cNvSpPr>
            <a:spLocks noChangeArrowheads="1" noTextEdit="1"/>
          </p:cNvSpPr>
          <p:nvPr>
            <p:ph type="sldImg"/>
          </p:nvPr>
        </p:nvSpPr>
        <p:spPr>
          <a:ln/>
        </p:spPr>
      </p:sp>
      <p:sp>
        <p:nvSpPr>
          <p:cNvPr id="111619" name="Rectangle 3"/>
          <p:cNvSpPr>
            <a:spLocks noGrp="1" noChangeArrowheads="1"/>
          </p:cNvSpPr>
          <p:nvPr>
            <p:ph type="body" idx="1"/>
          </p:nvPr>
        </p:nvSpPr>
        <p:spPr/>
        <p:txBody>
          <a:bodyPr/>
          <a:lstStyle/>
          <a:p>
            <a:r>
              <a:rPr lang="en-US" altLang="en-US"/>
              <a:t>used for information dissemination and research while keeping individual data values confidential</a:t>
            </a:r>
          </a:p>
          <a:p>
            <a:r>
              <a:rPr lang="en-US" altLang="en-US"/>
              <a:t>A medical record database that supports medical research and doctors.  Doctors read and update patient data</a:t>
            </a:r>
          </a:p>
          <a:p>
            <a:r>
              <a:rPr lang="en-US" altLang="en-US"/>
              <a:t>Researches only do statistical queries</a:t>
            </a:r>
          </a:p>
        </p:txBody>
      </p:sp>
    </p:spTree>
    <p:extLst>
      <p:ext uri="{BB962C8B-B14F-4D97-AF65-F5344CB8AC3E}">
        <p14:creationId xmlns:p14="http://schemas.microsoft.com/office/powerpoint/2010/main" val="40221272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F35E15E0-7765-47D0-933F-27EB9DA47EE9}" type="slidenum">
              <a:rPr lang="en-US" altLang="en-US"/>
              <a:pPr/>
              <a:t>40</a:t>
            </a:fld>
            <a:endParaRPr lang="en-US" altLang="en-US"/>
          </a:p>
        </p:txBody>
      </p:sp>
      <p:sp>
        <p:nvSpPr>
          <p:cNvPr id="101378" name="Rectangle 2"/>
          <p:cNvSpPr>
            <a:spLocks noChangeArrowheads="1" noTextEdit="1"/>
          </p:cNvSpPr>
          <p:nvPr>
            <p:ph type="sldImg"/>
          </p:nvPr>
        </p:nvSpPr>
        <p:spPr>
          <a:ln/>
        </p:spPr>
      </p:sp>
      <p:sp>
        <p:nvSpPr>
          <p:cNvPr id="101379" name="Rectangle 3"/>
          <p:cNvSpPr>
            <a:spLocks noGrp="1" noChangeArrowheads="1"/>
          </p:cNvSpPr>
          <p:nvPr>
            <p:ph type="body" idx="1"/>
          </p:nvPr>
        </p:nvSpPr>
        <p:spPr/>
        <p:txBody>
          <a:bodyPr/>
          <a:lstStyle/>
          <a:p>
            <a:pPr lvl="2"/>
            <a:r>
              <a:rPr lang="en-US" altLang="en-US" b="1"/>
              <a:t>Inference</a:t>
            </a:r>
            <a:r>
              <a:rPr lang="en-US" altLang="en-US"/>
              <a:t> and </a:t>
            </a:r>
            <a:r>
              <a:rPr lang="en-US" altLang="en-US" b="1"/>
              <a:t>aggregation</a:t>
            </a:r>
            <a:r>
              <a:rPr lang="en-US" altLang="en-US"/>
              <a:t> differ from other security problems since the leakage of information is</a:t>
            </a:r>
          </a:p>
          <a:p>
            <a:pPr lvl="2"/>
            <a:r>
              <a:rPr lang="en-US" altLang="en-US"/>
              <a:t>not a result of the penetration of a security mechanism but rather it is based on the very nature of</a:t>
            </a:r>
          </a:p>
          <a:p>
            <a:pPr lvl="2"/>
            <a:r>
              <a:rPr lang="en-US" altLang="en-US"/>
              <a:t>the information and the semantics of the application being automated</a:t>
            </a:r>
            <a:endParaRPr lang="en-US" altLang="en-US" b="1"/>
          </a:p>
          <a:p>
            <a:endParaRPr lang="en-US" altLang="en-US" b="1"/>
          </a:p>
          <a:p>
            <a:r>
              <a:rPr lang="en-US" altLang="en-US" b="1"/>
              <a:t>Cardinal Aggregation Examples</a:t>
            </a:r>
          </a:p>
          <a:p>
            <a:r>
              <a:rPr lang="en-US" altLang="en-US"/>
              <a:t>The traditional example of cardinal aggregation is the intelligence agency telephone book:</a:t>
            </a:r>
          </a:p>
          <a:p>
            <a:r>
              <a:rPr lang="en-US" altLang="en-US"/>
              <a:t>individual entries are unclassified but the total book is classified [Lunt 89]. The challenge with this</a:t>
            </a:r>
          </a:p>
          <a:p>
            <a:r>
              <a:rPr lang="en-US" altLang="en-US"/>
              <a:t>example is understanding what information the agency is trying to protect with the policy. Is it the</a:t>
            </a:r>
          </a:p>
          <a:p>
            <a:r>
              <a:rPr lang="en-US" altLang="en-US"/>
              <a:t>name and number of staff personnel (and therefore capability) of each (or some) organizational</a:t>
            </a:r>
          </a:p>
          <a:p>
            <a:r>
              <a:rPr lang="en-US" altLang="en-US"/>
              <a:t>element? The total staffing size of the agency? Identification of special employees? Special skills?</a:t>
            </a:r>
          </a:p>
          <a:p>
            <a:r>
              <a:rPr lang="en-US" altLang="en-US"/>
              <a:t>A clear understanding of what information needs to be protected must precede a cardinal</a:t>
            </a:r>
          </a:p>
          <a:p>
            <a:r>
              <a:rPr lang="en-US" altLang="en-US"/>
              <a:t>aggregation policy.</a:t>
            </a:r>
          </a:p>
          <a:p>
            <a:endParaRPr lang="en-US" altLang="en-US"/>
          </a:p>
        </p:txBody>
      </p:sp>
    </p:spTree>
    <p:extLst>
      <p:ext uri="{BB962C8B-B14F-4D97-AF65-F5344CB8AC3E}">
        <p14:creationId xmlns:p14="http://schemas.microsoft.com/office/powerpoint/2010/main" val="42155763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E2C6942F-7DF9-428A-AD50-7273E710D1F6}" type="slidenum">
              <a:rPr lang="en-US" altLang="en-US"/>
              <a:pPr/>
              <a:t>41</a:t>
            </a:fld>
            <a:endParaRPr lang="en-US" altLang="en-US"/>
          </a:p>
        </p:txBody>
      </p:sp>
      <p:sp>
        <p:nvSpPr>
          <p:cNvPr id="103426" name="Rectangle 2"/>
          <p:cNvSpPr>
            <a:spLocks noChangeArrowheads="1" noTextEdit="1"/>
          </p:cNvSpPr>
          <p:nvPr>
            <p:ph type="sldImg"/>
          </p:nvPr>
        </p:nvSpPr>
        <p:spPr>
          <a:ln/>
        </p:spPr>
      </p:sp>
      <p:sp>
        <p:nvSpPr>
          <p:cNvPr id="10342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930006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F7573007-6A5B-483B-B4A7-CC0B89444E9F}" type="slidenum">
              <a:rPr lang="en-US" altLang="en-US"/>
              <a:pPr/>
              <a:t>42</a:t>
            </a:fld>
            <a:endParaRPr lang="en-US" altLang="en-US"/>
          </a:p>
        </p:txBody>
      </p:sp>
      <p:sp>
        <p:nvSpPr>
          <p:cNvPr id="113666" name="Rectangle 2"/>
          <p:cNvSpPr>
            <a:spLocks noChangeArrowheads="1" noTextEdit="1"/>
          </p:cNvSpPr>
          <p:nvPr>
            <p:ph type="sldImg"/>
          </p:nvPr>
        </p:nvSpPr>
        <p:spPr>
          <a:ln/>
        </p:spPr>
      </p:sp>
      <p:sp>
        <p:nvSpPr>
          <p:cNvPr id="113667" name="Rectangle 3"/>
          <p:cNvSpPr>
            <a:spLocks noGrp="1" noChangeArrowheads="1"/>
          </p:cNvSpPr>
          <p:nvPr>
            <p:ph type="body" idx="1"/>
          </p:nvPr>
        </p:nvSpPr>
        <p:spPr/>
        <p:txBody>
          <a:bodyPr/>
          <a:lstStyle/>
          <a:p>
            <a:r>
              <a:rPr lang="en-US" altLang="en-US"/>
              <a:t>Count females of a certain age group in certain zipcode who have aids</a:t>
            </a:r>
          </a:p>
          <a:p>
            <a:r>
              <a:rPr lang="en-US" altLang="en-US"/>
              <a:t>We now know that there is only one such female</a:t>
            </a:r>
          </a:p>
          <a:p>
            <a:r>
              <a:rPr lang="en-US" altLang="en-US"/>
              <a:t>(Should return no data as one record represents over 100% of result)</a:t>
            </a:r>
          </a:p>
          <a:p>
            <a:r>
              <a:rPr lang="en-US" altLang="en-US"/>
              <a:t>Later request a list of female voters by name who are within certain age group</a:t>
            </a:r>
          </a:p>
        </p:txBody>
      </p:sp>
    </p:spTree>
    <p:extLst>
      <p:ext uri="{BB962C8B-B14F-4D97-AF65-F5344CB8AC3E}">
        <p14:creationId xmlns:p14="http://schemas.microsoft.com/office/powerpoint/2010/main" val="18298623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72288526-23B6-4FA9-8EA4-E456709C5964}" type="slidenum">
              <a:rPr lang="en-US" altLang="en-US"/>
              <a:pPr/>
              <a:t>43</a:t>
            </a:fld>
            <a:endParaRPr lang="en-US" altLang="en-US"/>
          </a:p>
        </p:txBody>
      </p:sp>
      <p:sp>
        <p:nvSpPr>
          <p:cNvPr id="117762" name="Rectangle 2"/>
          <p:cNvSpPr>
            <a:spLocks noChangeArrowheads="1" noTextEdit="1"/>
          </p:cNvSpPr>
          <p:nvPr>
            <p:ph type="sldImg"/>
          </p:nvPr>
        </p:nvSpPr>
        <p:spPr>
          <a:ln/>
        </p:spPr>
      </p:sp>
      <p:sp>
        <p:nvSpPr>
          <p:cNvPr id="11776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833956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A33008C0-33FE-4579-8676-5863BBFFFCDF}" type="slidenum">
              <a:rPr lang="en-US" altLang="en-US"/>
              <a:pPr/>
              <a:t>44</a:t>
            </a:fld>
            <a:endParaRPr lang="en-US" altLang="en-US"/>
          </a:p>
        </p:txBody>
      </p:sp>
      <p:sp>
        <p:nvSpPr>
          <p:cNvPr id="125954" name="Rectangle 2"/>
          <p:cNvSpPr>
            <a:spLocks noChangeArrowheads="1" noTextEdit="1"/>
          </p:cNvSpPr>
          <p:nvPr>
            <p:ph type="sldImg"/>
          </p:nvPr>
        </p:nvSpPr>
        <p:spPr>
          <a:ln/>
        </p:spPr>
      </p:sp>
      <p:sp>
        <p:nvSpPr>
          <p:cNvPr id="12595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2572276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7E3B2888-43A9-492B-8D93-6DA9011669D7}" type="slidenum">
              <a:rPr lang="en-US" altLang="en-US"/>
              <a:pPr/>
              <a:t>45</a:t>
            </a:fld>
            <a:endParaRPr lang="en-US" altLang="en-US"/>
          </a:p>
        </p:txBody>
      </p:sp>
      <p:sp>
        <p:nvSpPr>
          <p:cNvPr id="121858" name="Rectangle 2"/>
          <p:cNvSpPr>
            <a:spLocks noChangeArrowheads="1" noTextEdit="1"/>
          </p:cNvSpPr>
          <p:nvPr>
            <p:ph type="sldImg"/>
          </p:nvPr>
        </p:nvSpPr>
        <p:spPr>
          <a:ln/>
        </p:spPr>
      </p:sp>
      <p:sp>
        <p:nvSpPr>
          <p:cNvPr id="12185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1184274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5596BF24-34BE-4131-8E90-250DE028A2F3}" type="slidenum">
              <a:rPr lang="en-US" altLang="en-US"/>
              <a:pPr/>
              <a:t>46</a:t>
            </a:fld>
            <a:endParaRPr lang="en-US" altLang="en-US"/>
          </a:p>
        </p:txBody>
      </p:sp>
      <p:sp>
        <p:nvSpPr>
          <p:cNvPr id="82946" name="Rectangle 2"/>
          <p:cNvSpPr>
            <a:spLocks noChangeArrowheads="1" noTextEdit="1"/>
          </p:cNvSpPr>
          <p:nvPr>
            <p:ph type="sldImg"/>
          </p:nvPr>
        </p:nvSpPr>
        <p:spPr>
          <a:ln/>
        </p:spPr>
      </p:sp>
      <p:sp>
        <p:nvSpPr>
          <p:cNvPr id="8294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6307711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525E854F-B4A1-460B-B183-BFB702C0F23C}" type="slidenum">
              <a:rPr lang="en-US" altLang="en-US"/>
              <a:pPr/>
              <a:t>47</a:t>
            </a:fld>
            <a:endParaRPr lang="en-US" altLang="en-US"/>
          </a:p>
        </p:txBody>
      </p:sp>
      <p:sp>
        <p:nvSpPr>
          <p:cNvPr id="87042" name="Rectangle 2"/>
          <p:cNvSpPr>
            <a:spLocks noChangeArrowheads="1" noTextEdit="1"/>
          </p:cNvSpPr>
          <p:nvPr>
            <p:ph type="sldImg"/>
          </p:nvPr>
        </p:nvSpPr>
        <p:spPr>
          <a:ln/>
        </p:spPr>
      </p:sp>
      <p:sp>
        <p:nvSpPr>
          <p:cNvPr id="8704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1289440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C66AC431-4807-415E-9876-C1476725263A}" type="slidenum">
              <a:rPr lang="en-US" altLang="en-US"/>
              <a:pPr/>
              <a:t>48</a:t>
            </a:fld>
            <a:endParaRPr lang="en-US" altLang="en-US"/>
          </a:p>
        </p:txBody>
      </p:sp>
      <p:sp>
        <p:nvSpPr>
          <p:cNvPr id="60418" name="Rectangle 2"/>
          <p:cNvSpPr>
            <a:spLocks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1626678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6437E411-8D09-4E23-9301-F68806556CA9}" type="slidenum">
              <a:rPr lang="en-US" altLang="en-US"/>
              <a:pPr/>
              <a:t>49</a:t>
            </a:fld>
            <a:endParaRPr lang="en-US" altLang="en-US"/>
          </a:p>
        </p:txBody>
      </p:sp>
      <p:sp>
        <p:nvSpPr>
          <p:cNvPr id="36866" name="Rectangle 2"/>
          <p:cNvSpPr>
            <a:spLocks noChangeArrowheads="1" noTextEdit="1"/>
          </p:cNvSpPr>
          <p:nvPr>
            <p:ph type="sldImg"/>
          </p:nvPr>
        </p:nvSpPr>
        <p:spPr>
          <a:ln/>
        </p:spPr>
      </p:sp>
      <p:sp>
        <p:nvSpPr>
          <p:cNvPr id="3686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9802826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50825C10-5BBF-47E5-9206-1BDE6824717F}" type="slidenum">
              <a:rPr lang="en-US" altLang="en-US"/>
              <a:pPr/>
              <a:t>50</a:t>
            </a:fld>
            <a:endParaRPr lang="en-US" altLang="en-US"/>
          </a:p>
        </p:txBody>
      </p:sp>
      <p:sp>
        <p:nvSpPr>
          <p:cNvPr id="128002" name="Rectangle 2"/>
          <p:cNvSpPr>
            <a:spLocks noChangeArrowheads="1" noTextEdit="1"/>
          </p:cNvSpPr>
          <p:nvPr>
            <p:ph type="sldImg"/>
          </p:nvPr>
        </p:nvSpPr>
        <p:spPr>
          <a:ln/>
        </p:spPr>
      </p:sp>
      <p:sp>
        <p:nvSpPr>
          <p:cNvPr id="12800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1270929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0A1C2163-B09B-43E8-B21C-23046181F3C2}" type="slidenum">
              <a:rPr lang="en-US" altLang="en-US"/>
              <a:pPr/>
              <a:t>51</a:t>
            </a:fld>
            <a:endParaRPr lang="en-US" altLang="en-US"/>
          </a:p>
        </p:txBody>
      </p:sp>
      <p:sp>
        <p:nvSpPr>
          <p:cNvPr id="130050" name="Rectangle 2"/>
          <p:cNvSpPr>
            <a:spLocks noChangeArrowheads="1" noTextEdit="1"/>
          </p:cNvSpPr>
          <p:nvPr>
            <p:ph type="sldImg"/>
          </p:nvPr>
        </p:nvSpPr>
        <p:spPr>
          <a:ln/>
        </p:spPr>
      </p:sp>
      <p:sp>
        <p:nvSpPr>
          <p:cNvPr id="130051" name="Rectangle 3"/>
          <p:cNvSpPr>
            <a:spLocks noGrp="1" noChangeArrowheads="1"/>
          </p:cNvSpPr>
          <p:nvPr>
            <p:ph type="body" idx="1"/>
          </p:nvPr>
        </p:nvSpPr>
        <p:spPr/>
        <p:txBody>
          <a:bodyPr/>
          <a:lstStyle/>
          <a:p>
            <a:r>
              <a:rPr lang="en-US" altLang="en-US"/>
              <a:t>The data in this table suggest that the cells with counts of 1 should be suppressed; their counts are too revealing. But it does no good to suppress the Male–Holmes cell when the value 1 can be determined by subtracting Female–Holmes (2) from the total (3) to determine 1 </a:t>
            </a:r>
          </a:p>
        </p:txBody>
      </p:sp>
    </p:spTree>
    <p:extLst>
      <p:ext uri="{BB962C8B-B14F-4D97-AF65-F5344CB8AC3E}">
        <p14:creationId xmlns:p14="http://schemas.microsoft.com/office/powerpoint/2010/main" val="19795217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028B68E3-801D-4B33-87F8-1BFCFE3F284A}" type="slidenum">
              <a:rPr lang="en-US" altLang="en-US"/>
              <a:pPr/>
              <a:t>52</a:t>
            </a:fld>
            <a:endParaRPr lang="en-US" altLang="en-US"/>
          </a:p>
        </p:txBody>
      </p:sp>
      <p:sp>
        <p:nvSpPr>
          <p:cNvPr id="177154" name="Rectangle 2"/>
          <p:cNvSpPr>
            <a:spLocks noChangeArrowheads="1" noTextEdit="1"/>
          </p:cNvSpPr>
          <p:nvPr>
            <p:ph type="sldImg"/>
          </p:nvPr>
        </p:nvSpPr>
        <p:spPr>
          <a:ln/>
        </p:spPr>
      </p:sp>
      <p:sp>
        <p:nvSpPr>
          <p:cNvPr id="17715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19838144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F5290BA1-671A-464B-A066-2DC68F04FD1B}" type="slidenum">
              <a:rPr lang="en-US" altLang="en-US"/>
              <a:pPr/>
              <a:t>53</a:t>
            </a:fld>
            <a:endParaRPr lang="en-US" altLang="en-US"/>
          </a:p>
        </p:txBody>
      </p:sp>
      <p:sp>
        <p:nvSpPr>
          <p:cNvPr id="134146" name="Rectangle 2"/>
          <p:cNvSpPr>
            <a:spLocks noChangeArrowheads="1" noTextEdit="1"/>
          </p:cNvSpPr>
          <p:nvPr>
            <p:ph type="sldImg"/>
          </p:nvPr>
        </p:nvSpPr>
        <p:spPr>
          <a:ln/>
        </p:spPr>
      </p:sp>
      <p:sp>
        <p:nvSpPr>
          <p:cNvPr id="13414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4193443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BE50F26D-BA72-42A9-9968-28B578C35DF9}" type="slidenum">
              <a:rPr lang="en-US" altLang="en-US"/>
              <a:pPr/>
              <a:t>54</a:t>
            </a:fld>
            <a:endParaRPr lang="en-US" altLang="en-US"/>
          </a:p>
        </p:txBody>
      </p:sp>
      <p:sp>
        <p:nvSpPr>
          <p:cNvPr id="138242" name="Rectangle 2"/>
          <p:cNvSpPr>
            <a:spLocks noChangeArrowheads="1" noTextEdit="1"/>
          </p:cNvSpPr>
          <p:nvPr>
            <p:ph type="sldImg"/>
          </p:nvPr>
        </p:nvSpPr>
        <p:spPr>
          <a:ln/>
        </p:spPr>
      </p:sp>
      <p:sp>
        <p:nvSpPr>
          <p:cNvPr id="138243" name="Rectangle 3"/>
          <p:cNvSpPr>
            <a:spLocks noGrp="1" noChangeArrowheads="1"/>
          </p:cNvSpPr>
          <p:nvPr>
            <p:ph type="body" idx="1"/>
          </p:nvPr>
        </p:nvSpPr>
        <p:spPr/>
        <p:txBody>
          <a:bodyPr/>
          <a:lstStyle/>
          <a:p>
            <a:r>
              <a:rPr lang="en-US" altLang="en-US" b="1"/>
              <a:t>Aggregation Examples</a:t>
            </a:r>
          </a:p>
          <a:p>
            <a:r>
              <a:rPr lang="en-US" altLang="en-US"/>
              <a:t>The traditional example of (cardinal) aggregation is the intelligence agency telephone book:</a:t>
            </a:r>
          </a:p>
          <a:p>
            <a:r>
              <a:rPr lang="en-US" altLang="en-US"/>
              <a:t>individual entries are unclassified but the total book is classified [Lunt 89]. The challenge with this</a:t>
            </a:r>
          </a:p>
          <a:p>
            <a:r>
              <a:rPr lang="en-US" altLang="en-US"/>
              <a:t>example is understanding what information the agency is trying to protect with the policy. Is it the</a:t>
            </a:r>
          </a:p>
          <a:p>
            <a:r>
              <a:rPr lang="en-US" altLang="en-US"/>
              <a:t>name and number of staff personnel (and therefore capability) of each (or some) organizational</a:t>
            </a:r>
          </a:p>
          <a:p>
            <a:r>
              <a:rPr lang="en-US" altLang="en-US"/>
              <a:t>element? The total staffing size of the agency? Identification of special employees? Special skills?</a:t>
            </a:r>
          </a:p>
          <a:p>
            <a:r>
              <a:rPr lang="en-US" altLang="en-US"/>
              <a:t>A clear understanding of what information needs to be protected must precede a cardinal</a:t>
            </a:r>
          </a:p>
          <a:p>
            <a:r>
              <a:rPr lang="en-US" altLang="en-US"/>
              <a:t>aggregation policy</a:t>
            </a:r>
          </a:p>
          <a:p>
            <a:endParaRPr lang="en-US" altLang="en-US"/>
          </a:p>
        </p:txBody>
      </p:sp>
    </p:spTree>
    <p:extLst>
      <p:ext uri="{BB962C8B-B14F-4D97-AF65-F5344CB8AC3E}">
        <p14:creationId xmlns:p14="http://schemas.microsoft.com/office/powerpoint/2010/main" val="146402723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DDD3BFBA-5C27-4C5B-A4BD-4007BB15854C}" type="slidenum">
              <a:rPr lang="en-US" altLang="en-US"/>
              <a:pPr/>
              <a:t>55</a:t>
            </a:fld>
            <a:endParaRPr lang="en-US" altLang="en-US"/>
          </a:p>
        </p:txBody>
      </p:sp>
      <p:sp>
        <p:nvSpPr>
          <p:cNvPr id="140290" name="Rectangle 2"/>
          <p:cNvSpPr>
            <a:spLocks noChangeArrowheads="1" noTextEdit="1"/>
          </p:cNvSpPr>
          <p:nvPr>
            <p:ph type="sldImg"/>
          </p:nvPr>
        </p:nvSpPr>
        <p:spPr>
          <a:ln/>
        </p:spPr>
      </p:sp>
      <p:sp>
        <p:nvSpPr>
          <p:cNvPr id="140291" name="Rectangle 3"/>
          <p:cNvSpPr>
            <a:spLocks noGrp="1" noChangeArrowheads="1"/>
          </p:cNvSpPr>
          <p:nvPr>
            <p:ph type="body" idx="1"/>
          </p:nvPr>
        </p:nvSpPr>
        <p:spPr/>
        <p:txBody>
          <a:bodyPr/>
          <a:lstStyle/>
          <a:p>
            <a:r>
              <a:rPr lang="en-US" altLang="en-US" b="1"/>
              <a:t>Data Association Examples</a:t>
            </a:r>
            <a:endParaRPr lang="en-US" altLang="en-US"/>
          </a:p>
          <a:p>
            <a:endParaRPr lang="en-US" altLang="en-US"/>
          </a:p>
          <a:p>
            <a:r>
              <a:rPr lang="en-US" altLang="en-US"/>
              <a:t>A traditional example of intra-entity data association involves salary: the identity of an employee</a:t>
            </a:r>
          </a:p>
          <a:p>
            <a:r>
              <a:rPr lang="en-US" altLang="en-US"/>
              <a:t>and the actual number that represents the employee’s salary may both be unclassified, but the</a:t>
            </a:r>
          </a:p>
          <a:p>
            <a:r>
              <a:rPr lang="en-US" altLang="en-US"/>
              <a:t>association between a particular employee and the employee’s salary is considered sensitive. This</a:t>
            </a:r>
          </a:p>
          <a:p>
            <a:r>
              <a:rPr lang="en-US" altLang="en-US"/>
              <a:t>is an instance of intra-entity data association as defined above: employee name (or other</a:t>
            </a:r>
          </a:p>
          <a:p>
            <a:r>
              <a:rPr lang="en-US" altLang="en-US"/>
              <a:t>identifying attributes such as employee number) and salary are both attributes of the employee</a:t>
            </a:r>
          </a:p>
          <a:p>
            <a:r>
              <a:rPr lang="en-US" altLang="en-US"/>
              <a:t>entity.</a:t>
            </a:r>
          </a:p>
          <a:p>
            <a:r>
              <a:rPr lang="en-US" altLang="en-US"/>
              <a:t>An example of inter-entity data association is the following: the identity of commercial companies</a:t>
            </a:r>
          </a:p>
          <a:p>
            <a:r>
              <a:rPr lang="en-US" altLang="en-US"/>
              <a:t>and government agencies are unclassified, but the association of a particular company as the</a:t>
            </a:r>
          </a:p>
          <a:p>
            <a:r>
              <a:rPr lang="en-US" altLang="en-US"/>
              <a:t>contractor for a particular government agency may be considered classified. In this case, the data</a:t>
            </a:r>
          </a:p>
          <a:p>
            <a:r>
              <a:rPr lang="en-US" altLang="en-US"/>
              <a:t>association is between two entities, commercial company and government agency.</a:t>
            </a:r>
          </a:p>
          <a:p>
            <a:endParaRPr lang="en-US" altLang="en-US"/>
          </a:p>
        </p:txBody>
      </p:sp>
    </p:spTree>
    <p:extLst>
      <p:ext uri="{BB962C8B-B14F-4D97-AF65-F5344CB8AC3E}">
        <p14:creationId xmlns:p14="http://schemas.microsoft.com/office/powerpoint/2010/main" val="412692271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3AA49CD0-9AD0-47B2-B1E1-D6BA80C5B6B2}" type="slidenum">
              <a:rPr lang="en-US" altLang="en-US"/>
              <a:pPr/>
              <a:t>56</a:t>
            </a:fld>
            <a:endParaRPr lang="en-US" altLang="en-US"/>
          </a:p>
        </p:txBody>
      </p:sp>
      <p:sp>
        <p:nvSpPr>
          <p:cNvPr id="142338" name="Rectangle 2"/>
          <p:cNvSpPr>
            <a:spLocks noChangeArrowheads="1" noTextEdit="1"/>
          </p:cNvSpPr>
          <p:nvPr>
            <p:ph type="sldImg"/>
          </p:nvPr>
        </p:nvSpPr>
        <p:spPr>
          <a:ln/>
        </p:spPr>
      </p:sp>
      <p:sp>
        <p:nvSpPr>
          <p:cNvPr id="142339" name="Rectangle 3"/>
          <p:cNvSpPr>
            <a:spLocks noGrp="1" noChangeArrowheads="1"/>
          </p:cNvSpPr>
          <p:nvPr>
            <p:ph type="body" idx="1"/>
          </p:nvPr>
        </p:nvSpPr>
        <p:spPr/>
        <p:txBody>
          <a:bodyPr/>
          <a:lstStyle/>
          <a:p>
            <a:r>
              <a:rPr lang="en-US" altLang="en-US" b="1"/>
              <a:t>Data Association Examples</a:t>
            </a:r>
            <a:endParaRPr lang="en-US" altLang="en-US"/>
          </a:p>
          <a:p>
            <a:endParaRPr lang="en-US" altLang="en-US"/>
          </a:p>
          <a:p>
            <a:r>
              <a:rPr lang="en-US" altLang="en-US"/>
              <a:t>A traditional example of intra-entity data association involves salary: the identity of an employee</a:t>
            </a:r>
          </a:p>
          <a:p>
            <a:r>
              <a:rPr lang="en-US" altLang="en-US"/>
              <a:t>and the actual number that represents the employee’s salary may both be unclassified, but the</a:t>
            </a:r>
          </a:p>
          <a:p>
            <a:r>
              <a:rPr lang="en-US" altLang="en-US"/>
              <a:t>association between a particular employee and the employee’s salary is considered sensitive. This</a:t>
            </a:r>
          </a:p>
          <a:p>
            <a:r>
              <a:rPr lang="en-US" altLang="en-US"/>
              <a:t>is an instance of intra-entity data association as defined above: employee name (or other</a:t>
            </a:r>
          </a:p>
          <a:p>
            <a:r>
              <a:rPr lang="en-US" altLang="en-US"/>
              <a:t>identifying attributes such as employee number) and salary are both attributes of the employee</a:t>
            </a:r>
          </a:p>
          <a:p>
            <a:r>
              <a:rPr lang="en-US" altLang="en-US"/>
              <a:t>entity.</a:t>
            </a:r>
          </a:p>
          <a:p>
            <a:r>
              <a:rPr lang="en-US" altLang="en-US"/>
              <a:t>An example of inter-entity data association is the following: the identity of commercial companies</a:t>
            </a:r>
          </a:p>
          <a:p>
            <a:r>
              <a:rPr lang="en-US" altLang="en-US"/>
              <a:t>and government agencies are unclassified, but the association of a particular company as the</a:t>
            </a:r>
          </a:p>
          <a:p>
            <a:r>
              <a:rPr lang="en-US" altLang="en-US"/>
              <a:t>contractor for a particular government agency may be considered classified. In this case, the data</a:t>
            </a:r>
          </a:p>
          <a:p>
            <a:r>
              <a:rPr lang="en-US" altLang="en-US"/>
              <a:t>association is between two entities, commercial company and government agency.</a:t>
            </a:r>
          </a:p>
          <a:p>
            <a:endParaRPr lang="en-US" altLang="en-US"/>
          </a:p>
        </p:txBody>
      </p:sp>
    </p:spTree>
    <p:extLst>
      <p:ext uri="{BB962C8B-B14F-4D97-AF65-F5344CB8AC3E}">
        <p14:creationId xmlns:p14="http://schemas.microsoft.com/office/powerpoint/2010/main" val="293230314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EDD628F1-D386-4AC0-B156-CC3AFB9A20D8}" type="slidenum">
              <a:rPr lang="en-US" altLang="en-US"/>
              <a:pPr/>
              <a:t>57</a:t>
            </a:fld>
            <a:endParaRPr lang="en-US" altLang="en-US"/>
          </a:p>
        </p:txBody>
      </p:sp>
      <p:sp>
        <p:nvSpPr>
          <p:cNvPr id="144386" name="Rectangle 2"/>
          <p:cNvSpPr>
            <a:spLocks noChangeArrowheads="1" noTextEdit="1"/>
          </p:cNvSpPr>
          <p:nvPr>
            <p:ph type="sldImg"/>
          </p:nvPr>
        </p:nvSpPr>
        <p:spPr>
          <a:ln/>
        </p:spPr>
      </p:sp>
      <p:sp>
        <p:nvSpPr>
          <p:cNvPr id="144387" name="Rectangle 3"/>
          <p:cNvSpPr>
            <a:spLocks noGrp="1" noChangeArrowheads="1"/>
          </p:cNvSpPr>
          <p:nvPr>
            <p:ph type="body" idx="1"/>
          </p:nvPr>
        </p:nvSpPr>
        <p:spPr/>
        <p:txBody>
          <a:bodyPr/>
          <a:lstStyle/>
          <a:p>
            <a:r>
              <a:rPr lang="en-US" altLang="en-US"/>
              <a:t>If Data was either sensitive or non sensitive , will be easy to manage</a:t>
            </a:r>
          </a:p>
          <a:p>
            <a:r>
              <a:rPr lang="en-US" altLang="en-US"/>
              <a:t>some databases, such as a public library catalog, contain no sensitive data; other databases, such as defense-related ones, are totally sensitive. These two cases—nothing sensitive and everything sensitive—are the easiest to handle, because they can be covered by access controls to the database itself. Someone either is or is not an authorized user. </a:t>
            </a:r>
          </a:p>
        </p:txBody>
      </p:sp>
    </p:spTree>
    <p:extLst>
      <p:ext uri="{BB962C8B-B14F-4D97-AF65-F5344CB8AC3E}">
        <p14:creationId xmlns:p14="http://schemas.microsoft.com/office/powerpoint/2010/main" val="419368929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40734C74-2875-4656-8D70-DD3DEC0308C1}" type="slidenum">
              <a:rPr lang="en-US" altLang="en-US"/>
              <a:pPr/>
              <a:t>58</a:t>
            </a:fld>
            <a:endParaRPr lang="en-US" altLang="en-US"/>
          </a:p>
        </p:txBody>
      </p:sp>
      <p:sp>
        <p:nvSpPr>
          <p:cNvPr id="155650" name="Rectangle 2"/>
          <p:cNvSpPr>
            <a:spLocks noChangeArrowheads="1" noTextEdit="1"/>
          </p:cNvSpPr>
          <p:nvPr>
            <p:ph type="sldImg"/>
          </p:nvPr>
        </p:nvSpPr>
        <p:spPr>
          <a:ln/>
        </p:spPr>
      </p:sp>
      <p:sp>
        <p:nvSpPr>
          <p:cNvPr id="155651" name="Rectangle 3"/>
          <p:cNvSpPr>
            <a:spLocks noGrp="1" noChangeArrowheads="1"/>
          </p:cNvSpPr>
          <p:nvPr>
            <p:ph type="body" idx="1"/>
          </p:nvPr>
        </p:nvSpPr>
        <p:spPr/>
        <p:txBody>
          <a:bodyPr/>
          <a:lstStyle/>
          <a:p>
            <a:r>
              <a:rPr lang="en-US" altLang="en-US"/>
              <a:t>Consider a database containing data on U.S. government expenditures. Some of the expenditures are for paper clips, which is not sensitive information. Some salary expenditures are subject to privacy requirements. Individual salaries are sensitive, but the aggregate (for example, the total Agriculture Department payroll, which is a matter of public record) is not sensitive. </a:t>
            </a:r>
          </a:p>
          <a:p>
            <a:endParaRPr lang="en-US" altLang="en-US"/>
          </a:p>
          <a:p>
            <a:r>
              <a:rPr lang="en-US" altLang="en-US"/>
              <a:t>Sensitive information in bold</a:t>
            </a:r>
          </a:p>
          <a:p>
            <a:r>
              <a:rPr lang="en-US" altLang="en-US"/>
              <a:t>Table lists employee information. It may in fact be the case that Davis is a temporary employee hired for a special project, and her whole record has a different sensitivity from the others. Perhaps the phone shown for Garland is her private line, not available to the public. </a:t>
            </a:r>
          </a:p>
        </p:txBody>
      </p:sp>
    </p:spTree>
    <p:extLst>
      <p:ext uri="{BB962C8B-B14F-4D97-AF65-F5344CB8AC3E}">
        <p14:creationId xmlns:p14="http://schemas.microsoft.com/office/powerpoint/2010/main" val="250493118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B71FBE24-BEAD-4CE8-BFDE-586E7052E280}" type="slidenum">
              <a:rPr lang="en-US" altLang="en-US"/>
              <a:pPr/>
              <a:t>59</a:t>
            </a:fld>
            <a:endParaRPr lang="en-US" altLang="en-US"/>
          </a:p>
        </p:txBody>
      </p:sp>
      <p:sp>
        <p:nvSpPr>
          <p:cNvPr id="156674" name="Rectangle 2"/>
          <p:cNvSpPr>
            <a:spLocks noChangeArrowheads="1" noTextEdit="1"/>
          </p:cNvSpPr>
          <p:nvPr>
            <p:ph type="sldImg"/>
          </p:nvPr>
        </p:nvSpPr>
        <p:spPr>
          <a:ln/>
        </p:spPr>
      </p:sp>
      <p:sp>
        <p:nvSpPr>
          <p:cNvPr id="156675" name="Rectangle 3"/>
          <p:cNvSpPr>
            <a:spLocks noGrp="1" noChangeArrowheads="1"/>
          </p:cNvSpPr>
          <p:nvPr>
            <p:ph type="body" idx="1"/>
          </p:nvPr>
        </p:nvSpPr>
        <p:spPr/>
        <p:txBody>
          <a:bodyPr/>
          <a:lstStyle/>
          <a:p>
            <a:r>
              <a:rPr lang="en-US" altLang="en-US"/>
              <a:t>And the problem is still more complicated. The word </a:t>
            </a:r>
            <a:r>
              <a:rPr lang="en-US" altLang="en-US" i="1"/>
              <a:t>Manhattan</a:t>
            </a:r>
            <a:r>
              <a:rPr lang="en-US" altLang="en-US"/>
              <a:t> by itself is not sensitive, nor is </a:t>
            </a:r>
            <a:r>
              <a:rPr lang="en-US" altLang="en-US" i="1"/>
              <a:t>project</a:t>
            </a:r>
            <a:r>
              <a:rPr lang="en-US" altLang="en-US"/>
              <a:t>. However, the combination of these words produces the sensitive codeword </a:t>
            </a:r>
            <a:r>
              <a:rPr lang="en-US" altLang="en-US" i="1"/>
              <a:t>Manhattan project</a:t>
            </a:r>
            <a:r>
              <a:rPr lang="en-US" altLang="en-US"/>
              <a:t>. A similar situation occurs in databases. Therefore, not only can every </a:t>
            </a:r>
            <a:r>
              <a:rPr lang="en-US" altLang="en-US" i="1"/>
              <a:t>element</a:t>
            </a:r>
            <a:r>
              <a:rPr lang="en-US" altLang="en-US"/>
              <a:t> of a database have a distinct sensitivity, every </a:t>
            </a:r>
            <a:r>
              <a:rPr lang="en-US" altLang="en-US" i="1"/>
              <a:t>combination of elements</a:t>
            </a:r>
            <a:r>
              <a:rPr lang="en-US" altLang="en-US"/>
              <a:t> can also have a distinct sensitivity. Furthermore, the combination can be more or less sensitive than any of its elements.</a:t>
            </a:r>
          </a:p>
        </p:txBody>
      </p:sp>
    </p:spTree>
    <p:extLst>
      <p:ext uri="{BB962C8B-B14F-4D97-AF65-F5344CB8AC3E}">
        <p14:creationId xmlns:p14="http://schemas.microsoft.com/office/powerpoint/2010/main" val="36185373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508A9D50-F11D-4862-B8D7-84B82CBB3945}" type="slidenum">
              <a:rPr lang="en-US" altLang="en-US"/>
              <a:pPr/>
              <a:t>61</a:t>
            </a:fld>
            <a:endParaRPr lang="en-US" altLang="en-US"/>
          </a:p>
        </p:txBody>
      </p:sp>
      <p:sp>
        <p:nvSpPr>
          <p:cNvPr id="159746" name="Rectangle 2"/>
          <p:cNvSpPr>
            <a:spLocks noChangeArrowheads="1" noTextEdit="1"/>
          </p:cNvSpPr>
          <p:nvPr>
            <p:ph type="sldImg"/>
          </p:nvPr>
        </p:nvSpPr>
        <p:spPr>
          <a:ln/>
        </p:spPr>
      </p:sp>
      <p:sp>
        <p:nvSpPr>
          <p:cNvPr id="159747" name="Rectangle 3"/>
          <p:cNvSpPr>
            <a:spLocks noGrp="1" noChangeArrowheads="1"/>
          </p:cNvSpPr>
          <p:nvPr>
            <p:ph type="body" idx="1"/>
          </p:nvPr>
        </p:nvSpPr>
        <p:spPr/>
        <p:txBody>
          <a:bodyPr/>
          <a:lstStyle/>
          <a:p>
            <a:r>
              <a:rPr lang="en-US" altLang="en-US"/>
              <a:t>Enforcing confidentiality also leads to unknowing redundancy. Suppose a personnel specialist works at one level of access permission. The specialist knows that Bob Hill works for the company. However, Bob's record does not appear on the retirement payment roster. The specialist assumes this omission is an error and creates a record for Bob.</a:t>
            </a:r>
          </a:p>
          <a:p>
            <a:endParaRPr lang="en-US" altLang="en-US"/>
          </a:p>
          <a:p>
            <a:r>
              <a:rPr lang="en-US" altLang="en-US"/>
              <a:t>The reason that no record for Bob appears is that Bob is a secret agent, and his employment with the company is not supposed to be public knowledge. There actually is a record on Bob in the file but, because of his special position, his record is not accessible to the personnel specialist. The creation of the new record means that there are now two records for Bob Hill: one sensitive and one not, as shown in Table 6-17. This situation is called polyinstantiation</a:t>
            </a:r>
            <a:r>
              <a:rPr lang="en-US" altLang="en-US" b="1"/>
              <a:t>,</a:t>
            </a:r>
            <a:r>
              <a:rPr lang="en-US" altLang="en-US"/>
              <a:t> meaning that one record can appear (be instantiated) many times, with a different level of confidentiality each time.</a:t>
            </a:r>
          </a:p>
        </p:txBody>
      </p:sp>
    </p:spTree>
    <p:extLst>
      <p:ext uri="{BB962C8B-B14F-4D97-AF65-F5344CB8AC3E}">
        <p14:creationId xmlns:p14="http://schemas.microsoft.com/office/powerpoint/2010/main" val="30245827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193082E9-C16F-451A-A6C2-77964422EEC3}" type="slidenum">
              <a:rPr lang="en-US" altLang="en-US"/>
              <a:pPr/>
              <a:t>62</a:t>
            </a:fld>
            <a:endParaRPr lang="en-US" altLang="en-US"/>
          </a:p>
        </p:txBody>
      </p:sp>
      <p:sp>
        <p:nvSpPr>
          <p:cNvPr id="161794" name="Rectangle 2"/>
          <p:cNvSpPr>
            <a:spLocks noChangeArrowheads="1" noTextEdit="1"/>
          </p:cNvSpPr>
          <p:nvPr>
            <p:ph type="sldImg"/>
          </p:nvPr>
        </p:nvSpPr>
        <p:spPr>
          <a:ln/>
        </p:spPr>
      </p:sp>
      <p:sp>
        <p:nvSpPr>
          <p:cNvPr id="161795" name="Rectangle 3"/>
          <p:cNvSpPr>
            <a:spLocks noGrp="1" noChangeArrowheads="1"/>
          </p:cNvSpPr>
          <p:nvPr>
            <p:ph type="body" idx="1"/>
          </p:nvPr>
        </p:nvSpPr>
        <p:spPr/>
        <p:txBody>
          <a:bodyPr/>
          <a:lstStyle/>
          <a:p>
            <a:r>
              <a:rPr lang="en-US" altLang="en-US"/>
              <a:t>Hippocratic Database (HDB) technology, which respects the privacy of data it manages. HDB is application and database agnostic technology that allows current business operations to proceed with minimal or no changes to existing systems, while ensuring that disclosure concerns (i.e. privacy policy, security policy, legislation, etc.) are not an issue. </a:t>
            </a:r>
          </a:p>
        </p:txBody>
      </p:sp>
    </p:spTree>
    <p:extLst>
      <p:ext uri="{BB962C8B-B14F-4D97-AF65-F5344CB8AC3E}">
        <p14:creationId xmlns:p14="http://schemas.microsoft.com/office/powerpoint/2010/main" val="15094769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6D3473BA-E9AA-4F1C-87B5-04C3D1474E35}" type="slidenum">
              <a:rPr lang="en-US" altLang="en-US"/>
              <a:pPr/>
              <a:t>66</a:t>
            </a:fld>
            <a:endParaRPr lang="en-US" altLang="en-US"/>
          </a:p>
        </p:txBody>
      </p:sp>
      <p:sp>
        <p:nvSpPr>
          <p:cNvPr id="238594" name="Rectangle 2"/>
          <p:cNvSpPr>
            <a:spLocks noChangeArrowheads="1" noTextEdit="1"/>
          </p:cNvSpPr>
          <p:nvPr>
            <p:ph type="sldImg"/>
          </p:nvPr>
        </p:nvSpPr>
        <p:spPr>
          <a:ln/>
        </p:spPr>
      </p:sp>
      <p:sp>
        <p:nvSpPr>
          <p:cNvPr id="238595"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4106517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E8D15840-8C14-4B6B-9248-ED8DFEBFB3FC}" type="slidenum">
              <a:rPr lang="en-US" altLang="en-US"/>
              <a:pPr/>
              <a:t>67</a:t>
            </a:fld>
            <a:endParaRPr lang="en-US" altLang="en-US"/>
          </a:p>
        </p:txBody>
      </p:sp>
      <p:sp>
        <p:nvSpPr>
          <p:cNvPr id="240642" name="Rectangle 2"/>
          <p:cNvSpPr>
            <a:spLocks noChangeArrowheads="1" noTextEdit="1"/>
          </p:cNvSpPr>
          <p:nvPr>
            <p:ph type="sldImg"/>
          </p:nvPr>
        </p:nvSpPr>
        <p:spPr>
          <a:ln/>
        </p:spPr>
      </p:sp>
      <p:sp>
        <p:nvSpPr>
          <p:cNvPr id="240643"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48893783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1BDEAD17-69C6-4C88-95CD-492366AC10B3}" type="slidenum">
              <a:rPr lang="en-US" altLang="en-US"/>
              <a:pPr/>
              <a:t>68</a:t>
            </a:fld>
            <a:endParaRPr lang="en-US" altLang="en-US"/>
          </a:p>
        </p:txBody>
      </p:sp>
      <p:sp>
        <p:nvSpPr>
          <p:cNvPr id="242690" name="Rectangle 2"/>
          <p:cNvSpPr>
            <a:spLocks noChangeArrowheads="1" noTextEdit="1"/>
          </p:cNvSpPr>
          <p:nvPr>
            <p:ph type="sldImg"/>
          </p:nvPr>
        </p:nvSpPr>
        <p:spPr>
          <a:ln/>
        </p:spPr>
      </p:sp>
      <p:sp>
        <p:nvSpPr>
          <p:cNvPr id="242691"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02188827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12501806-4F74-4245-BFCE-CD18FC34EA79}" type="slidenum">
              <a:rPr lang="en-US" altLang="en-US"/>
              <a:pPr/>
              <a:t>69</a:t>
            </a:fld>
            <a:endParaRPr lang="en-US" altLang="en-US"/>
          </a:p>
        </p:txBody>
      </p:sp>
      <p:sp>
        <p:nvSpPr>
          <p:cNvPr id="244738" name="Rectangle 2"/>
          <p:cNvSpPr>
            <a:spLocks noChangeArrowheads="1" noTextEdit="1"/>
          </p:cNvSpPr>
          <p:nvPr>
            <p:ph type="sldImg"/>
          </p:nvPr>
        </p:nvSpPr>
        <p:spPr>
          <a:ln/>
        </p:spPr>
      </p:sp>
      <p:sp>
        <p:nvSpPr>
          <p:cNvPr id="244739"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71469356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12436BA8-C47E-4AF9-A122-1DA658F80353}" type="slidenum">
              <a:rPr lang="en-US" altLang="en-US"/>
              <a:pPr/>
              <a:t>70</a:t>
            </a:fld>
            <a:endParaRPr lang="en-US" altLang="en-US"/>
          </a:p>
        </p:txBody>
      </p:sp>
      <p:sp>
        <p:nvSpPr>
          <p:cNvPr id="246786" name="Rectangle 2"/>
          <p:cNvSpPr>
            <a:spLocks noChangeArrowheads="1" noTextEdit="1"/>
          </p:cNvSpPr>
          <p:nvPr>
            <p:ph type="sldImg"/>
          </p:nvPr>
        </p:nvSpPr>
        <p:spPr>
          <a:ln/>
        </p:spPr>
      </p:sp>
      <p:sp>
        <p:nvSpPr>
          <p:cNvPr id="246787" name="Rectangle 3"/>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849475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chartAndTx">
  <p:cSld name="Title, 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Chart Placeholder 2"/>
          <p:cNvSpPr>
            <a:spLocks noGrp="1"/>
          </p:cNvSpPr>
          <p:nvPr>
            <p:ph type="chart" sz="half" idx="1"/>
          </p:nvPr>
        </p:nvSpPr>
        <p:spPr>
          <a:xfrm>
            <a:off x="609600" y="1447800"/>
            <a:ext cx="5384800" cy="4419600"/>
          </a:xfrm>
        </p:spPr>
        <p:txBody>
          <a:bodyPr/>
          <a:lstStyle/>
          <a:p>
            <a:endParaRPr lang="en-US"/>
          </a:p>
        </p:txBody>
      </p:sp>
      <p:sp>
        <p:nvSpPr>
          <p:cNvPr id="4" name="Text Placeholder 3"/>
          <p:cNvSpPr>
            <a:spLocks noGrp="1"/>
          </p:cNvSpPr>
          <p:nvPr>
            <p:ph type="body" sz="half" idx="2"/>
          </p:nvPr>
        </p:nvSpPr>
        <p:spPr>
          <a:xfrm>
            <a:off x="6197600" y="1447800"/>
            <a:ext cx="5384800"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2215745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447800"/>
            <a:ext cx="5384800" cy="4419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hart Placeholder 3"/>
          <p:cNvSpPr>
            <a:spLocks noGrp="1"/>
          </p:cNvSpPr>
          <p:nvPr>
            <p:ph type="chart" sz="half" idx="2"/>
          </p:nvPr>
        </p:nvSpPr>
        <p:spPr>
          <a:xfrm>
            <a:off x="6197600" y="1447800"/>
            <a:ext cx="5384800" cy="4419600"/>
          </a:xfrm>
        </p:spPr>
        <p:txBody>
          <a:bodyPr/>
          <a:lstStyle/>
          <a:p>
            <a:endParaRPr lang="en-US"/>
          </a:p>
        </p:txBody>
      </p:sp>
    </p:spTree>
    <p:extLst>
      <p:ext uri="{BB962C8B-B14F-4D97-AF65-F5344CB8AC3E}">
        <p14:creationId xmlns:p14="http://schemas.microsoft.com/office/powerpoint/2010/main" val="84316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5/9/2022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 id="2147483668" r:id="rId17"/>
    <p:sldLayoutId id="2147483669" r:id="rId18"/>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http://classweb.gmu.edu/brodsky/isa765/"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45661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body" idx="1"/>
          </p:nvPr>
        </p:nvSpPr>
        <p:spPr/>
        <p:txBody>
          <a:bodyPr/>
          <a:lstStyle/>
          <a:p>
            <a:pPr algn="ctr">
              <a:buFontTx/>
              <a:buNone/>
            </a:pPr>
            <a:r>
              <a:rPr lang="en-US" altLang="en-US" sz="3600" b="1" dirty="0">
                <a:solidFill>
                  <a:srgbClr val="FF0000"/>
                </a:solidFill>
              </a:rPr>
              <a:t>Database Security</a:t>
            </a:r>
            <a:r>
              <a:rPr lang="en-US" altLang="en-US" dirty="0"/>
              <a:t> </a:t>
            </a:r>
          </a:p>
          <a:p>
            <a:pPr algn="ctr">
              <a:buFontTx/>
              <a:buNone/>
            </a:pPr>
            <a:endParaRPr lang="en-US" altLang="en-US" dirty="0" smtClean="0"/>
          </a:p>
          <a:p>
            <a:pPr algn="ctr">
              <a:buFontTx/>
              <a:buNone/>
            </a:pPr>
            <a:r>
              <a:rPr lang="en-US" altLang="en-US" dirty="0" smtClean="0"/>
              <a:t>CYS 121 Information System Security</a:t>
            </a:r>
            <a:endParaRPr lang="en-US" altLang="en-US" dirty="0"/>
          </a:p>
          <a:p>
            <a:pPr algn="ctr">
              <a:buFontTx/>
              <a:buNone/>
            </a:pPr>
            <a:endParaRPr lang="en-US" altLang="en-US" dirty="0" smtClean="0"/>
          </a:p>
          <a:p>
            <a:pPr algn="ctr">
              <a:buFontTx/>
              <a:buNone/>
            </a:pPr>
            <a:endParaRPr lang="en-US" altLang="en-US" dirty="0" smtClean="0"/>
          </a:p>
          <a:p>
            <a:pPr algn="ctr">
              <a:buFontTx/>
              <a:buNone/>
            </a:pPr>
            <a:endParaRPr lang="en-US" altLang="en-US" dirty="0"/>
          </a:p>
          <a:p>
            <a:pPr algn="ctr">
              <a:buFontTx/>
              <a:buNone/>
            </a:pPr>
            <a:r>
              <a:rPr lang="en-US" altLang="en-US" sz="1100" dirty="0" smtClean="0"/>
              <a:t>                                                                                                                    </a:t>
            </a:r>
          </a:p>
          <a:p>
            <a:pPr algn="ctr">
              <a:buFontTx/>
              <a:buNone/>
            </a:pPr>
            <a:endParaRPr lang="en-US" altLang="en-US" sz="1100" dirty="0"/>
          </a:p>
          <a:p>
            <a:pPr algn="ctr">
              <a:buFontTx/>
              <a:buNone/>
            </a:pPr>
            <a:endParaRPr lang="en-US" altLang="en-US" sz="1100" dirty="0" smtClean="0"/>
          </a:p>
          <a:p>
            <a:pPr algn="ctr">
              <a:buFontTx/>
              <a:buNone/>
            </a:pPr>
            <a:r>
              <a:rPr lang="en-US" altLang="en-US" sz="1100" dirty="0"/>
              <a:t> </a:t>
            </a:r>
            <a:r>
              <a:rPr lang="en-US" altLang="en-US" sz="1100" dirty="0" smtClean="0"/>
              <a:t>                                                                                                                         </a:t>
            </a:r>
            <a:r>
              <a:rPr lang="en-US" altLang="en-US" sz="1100" dirty="0" err="1" smtClean="0"/>
              <a:t>Pludered</a:t>
            </a:r>
            <a:r>
              <a:rPr lang="en-US" altLang="en-US" sz="1100" dirty="0" smtClean="0"/>
              <a:t> from Dr</a:t>
            </a:r>
            <a:r>
              <a:rPr lang="en-US" altLang="en-US" sz="1100" dirty="0"/>
              <a:t>. Hossein </a:t>
            </a:r>
            <a:r>
              <a:rPr lang="en-US" altLang="en-US" sz="1100" dirty="0" err="1" smtClean="0"/>
              <a:t>Saiedian</a:t>
            </a:r>
            <a:r>
              <a:rPr lang="en-US" altLang="en-US" sz="1100" dirty="0" smtClean="0"/>
              <a:t>(2006)</a:t>
            </a:r>
            <a:endParaRPr lang="en-US" altLang="en-US" sz="1100" dirty="0"/>
          </a:p>
          <a:p>
            <a:pPr algn="ctr">
              <a:buFontTx/>
              <a:buNone/>
            </a:pPr>
            <a:endParaRPr lang="en-US" altLang="en-US" b="1" dirty="0"/>
          </a:p>
          <a:p>
            <a:pPr algn="ctr"/>
            <a:endParaRPr lang="en-US" altLang="en-US" dirty="0"/>
          </a:p>
        </p:txBody>
      </p:sp>
    </p:spTree>
    <p:extLst>
      <p:ext uri="{BB962C8B-B14F-4D97-AF65-F5344CB8AC3E}">
        <p14:creationId xmlns:p14="http://schemas.microsoft.com/office/powerpoint/2010/main" val="3399738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en-US"/>
              <a:t>Contents</a:t>
            </a:r>
          </a:p>
        </p:txBody>
      </p:sp>
      <p:sp>
        <p:nvSpPr>
          <p:cNvPr id="3075" name="Rectangle 3"/>
          <p:cNvSpPr>
            <a:spLocks noGrp="1" noChangeArrowheads="1"/>
          </p:cNvSpPr>
          <p:nvPr>
            <p:ph type="body" idx="1"/>
          </p:nvPr>
        </p:nvSpPr>
        <p:spPr/>
        <p:txBody>
          <a:bodyPr/>
          <a:lstStyle/>
          <a:p>
            <a:r>
              <a:rPr lang="en-US" altLang="en-US">
                <a:solidFill>
                  <a:srgbClr val="000099"/>
                </a:solidFill>
              </a:rPr>
              <a:t>Database concepts</a:t>
            </a:r>
          </a:p>
          <a:p>
            <a:r>
              <a:rPr lang="en-US" altLang="en-US">
                <a:solidFill>
                  <a:srgbClr val="000099"/>
                </a:solidFill>
              </a:rPr>
              <a:t>Security requirements</a:t>
            </a:r>
          </a:p>
          <a:p>
            <a:r>
              <a:rPr lang="en-US" altLang="en-US">
                <a:solidFill>
                  <a:srgbClr val="000099"/>
                </a:solidFill>
              </a:rPr>
              <a:t>SQL security model</a:t>
            </a:r>
          </a:p>
          <a:p>
            <a:r>
              <a:rPr lang="en-US" altLang="en-US">
                <a:solidFill>
                  <a:srgbClr val="000099"/>
                </a:solidFill>
              </a:rPr>
              <a:t>Data sensitivity</a:t>
            </a:r>
          </a:p>
          <a:p>
            <a:r>
              <a:rPr lang="en-US" altLang="en-US">
                <a:solidFill>
                  <a:srgbClr val="000099"/>
                </a:solidFill>
              </a:rPr>
              <a:t>Security vs. Precision</a:t>
            </a:r>
          </a:p>
          <a:p>
            <a:r>
              <a:rPr lang="en-US" altLang="en-US">
                <a:solidFill>
                  <a:srgbClr val="000099"/>
                </a:solidFill>
              </a:rPr>
              <a:t>Inference &amp; aggregation problem</a:t>
            </a:r>
          </a:p>
          <a:p>
            <a:r>
              <a:rPr lang="en-US" altLang="en-US">
                <a:solidFill>
                  <a:srgbClr val="000099"/>
                </a:solidFill>
              </a:rPr>
              <a:t>Multilevel databases</a:t>
            </a:r>
          </a:p>
          <a:p>
            <a:r>
              <a:rPr lang="en-US" altLang="en-US">
                <a:solidFill>
                  <a:srgbClr val="000099"/>
                </a:solidFill>
              </a:rPr>
              <a:t>Future direction</a:t>
            </a:r>
          </a:p>
        </p:txBody>
      </p:sp>
    </p:spTree>
    <p:extLst>
      <p:ext uri="{BB962C8B-B14F-4D97-AF65-F5344CB8AC3E}">
        <p14:creationId xmlns:p14="http://schemas.microsoft.com/office/powerpoint/2010/main" val="21417958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a:t>Database Concepts</a:t>
            </a:r>
          </a:p>
        </p:txBody>
      </p:sp>
      <p:sp>
        <p:nvSpPr>
          <p:cNvPr id="7171" name="Rectangle 3"/>
          <p:cNvSpPr>
            <a:spLocks noGrp="1" noChangeArrowheads="1"/>
          </p:cNvSpPr>
          <p:nvPr>
            <p:ph type="body" idx="1"/>
          </p:nvPr>
        </p:nvSpPr>
        <p:spPr/>
        <p:txBody>
          <a:bodyPr>
            <a:normAutofit fontScale="85000" lnSpcReduction="20000"/>
          </a:bodyPr>
          <a:lstStyle/>
          <a:p>
            <a:pPr>
              <a:lnSpc>
                <a:spcPct val="90000"/>
              </a:lnSpc>
            </a:pPr>
            <a:r>
              <a:rPr lang="en-US" altLang="en-US" sz="2400" b="1"/>
              <a:t>Database  </a:t>
            </a:r>
          </a:p>
          <a:p>
            <a:pPr lvl="1">
              <a:lnSpc>
                <a:spcPct val="90000"/>
              </a:lnSpc>
            </a:pPr>
            <a:r>
              <a:rPr lang="en-US" altLang="en-US" sz="2000"/>
              <a:t>a collection of data &amp; set of rules that organize the data</a:t>
            </a:r>
          </a:p>
          <a:p>
            <a:pPr lvl="1">
              <a:lnSpc>
                <a:spcPct val="90000"/>
              </a:lnSpc>
            </a:pPr>
            <a:r>
              <a:rPr lang="en-US" altLang="en-US" sz="2000"/>
              <a:t>user works with a logical representation of the data</a:t>
            </a:r>
          </a:p>
          <a:p>
            <a:pPr>
              <a:lnSpc>
                <a:spcPct val="90000"/>
              </a:lnSpc>
            </a:pPr>
            <a:r>
              <a:rPr lang="en-US" altLang="en-US" sz="2400" b="1"/>
              <a:t>Relational database</a:t>
            </a:r>
          </a:p>
          <a:p>
            <a:pPr lvl="1">
              <a:lnSpc>
                <a:spcPct val="90000"/>
              </a:lnSpc>
            </a:pPr>
            <a:r>
              <a:rPr lang="en-US" altLang="en-US" sz="2000"/>
              <a:t>in the relational model, data is organized as a collection of</a:t>
            </a:r>
            <a:r>
              <a:rPr lang="en-US" altLang="en-US" sz="2000" b="1"/>
              <a:t> </a:t>
            </a:r>
            <a:r>
              <a:rPr lang="en-US" altLang="en-US" sz="2000" i="1"/>
              <a:t>RELATIONS</a:t>
            </a:r>
            <a:r>
              <a:rPr lang="en-US" altLang="en-US" sz="2000"/>
              <a:t>  or tables</a:t>
            </a:r>
          </a:p>
          <a:p>
            <a:pPr lvl="1">
              <a:lnSpc>
                <a:spcPct val="90000"/>
              </a:lnSpc>
            </a:pPr>
            <a:r>
              <a:rPr lang="en-US" altLang="en-US" sz="2000"/>
              <a:t>relations is a set of </a:t>
            </a:r>
            <a:r>
              <a:rPr lang="en-US" altLang="en-US" sz="2000" i="1"/>
              <a:t>ATTRIBUTES</a:t>
            </a:r>
            <a:r>
              <a:rPr lang="en-US" altLang="en-US" sz="2000"/>
              <a:t> or columns </a:t>
            </a:r>
          </a:p>
          <a:p>
            <a:pPr lvl="1">
              <a:lnSpc>
                <a:spcPct val="90000"/>
              </a:lnSpc>
            </a:pPr>
            <a:r>
              <a:rPr lang="en-US" altLang="en-US" sz="2000"/>
              <a:t>each row (or record) of a relation is called a </a:t>
            </a:r>
            <a:r>
              <a:rPr lang="en-US" altLang="en-US" sz="2000" i="1"/>
              <a:t>TUPLE</a:t>
            </a:r>
            <a:endParaRPr lang="en-US" altLang="en-US" sz="2000"/>
          </a:p>
          <a:p>
            <a:pPr>
              <a:lnSpc>
                <a:spcPct val="90000"/>
              </a:lnSpc>
            </a:pPr>
            <a:r>
              <a:rPr lang="en-US" altLang="en-US" sz="2400" b="1"/>
              <a:t>Database management system</a:t>
            </a:r>
            <a:r>
              <a:rPr lang="en-US" altLang="en-US" sz="2400"/>
              <a:t> (DBMS)</a:t>
            </a:r>
          </a:p>
          <a:p>
            <a:pPr lvl="1">
              <a:lnSpc>
                <a:spcPct val="90000"/>
              </a:lnSpc>
            </a:pPr>
            <a:r>
              <a:rPr lang="en-US" altLang="en-US" sz="2000"/>
              <a:t>maintains the DB and controls read write access</a:t>
            </a:r>
          </a:p>
          <a:p>
            <a:pPr>
              <a:lnSpc>
                <a:spcPct val="90000"/>
              </a:lnSpc>
            </a:pPr>
            <a:r>
              <a:rPr lang="en-US" altLang="en-US" sz="2400" b="1"/>
              <a:t>Database administrator</a:t>
            </a:r>
            <a:r>
              <a:rPr lang="en-US" altLang="en-US" sz="2400"/>
              <a:t> (DBA) </a:t>
            </a:r>
          </a:p>
          <a:p>
            <a:pPr lvl="1">
              <a:lnSpc>
                <a:spcPct val="90000"/>
              </a:lnSpc>
            </a:pPr>
            <a:r>
              <a:rPr lang="en-US" altLang="en-US" sz="2000"/>
              <a:t>sets the organization of and access rules to the DB</a:t>
            </a:r>
          </a:p>
          <a:p>
            <a:pPr lvl="1">
              <a:lnSpc>
                <a:spcPct val="90000"/>
              </a:lnSpc>
            </a:pPr>
            <a:endParaRPr lang="en-US" altLang="en-US" sz="2000"/>
          </a:p>
          <a:p>
            <a:pPr>
              <a:lnSpc>
                <a:spcPct val="90000"/>
              </a:lnSpc>
            </a:pPr>
            <a:endParaRPr lang="en-US" altLang="en-US" sz="2400"/>
          </a:p>
        </p:txBody>
      </p:sp>
    </p:spTree>
    <p:extLst>
      <p:ext uri="{BB962C8B-B14F-4D97-AF65-F5344CB8AC3E}">
        <p14:creationId xmlns:p14="http://schemas.microsoft.com/office/powerpoint/2010/main" val="9879235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a:t>Database Concepts</a:t>
            </a:r>
          </a:p>
        </p:txBody>
      </p:sp>
      <p:sp>
        <p:nvSpPr>
          <p:cNvPr id="10243" name="Rectangle 3"/>
          <p:cNvSpPr>
            <a:spLocks noGrp="1" noChangeArrowheads="1"/>
          </p:cNvSpPr>
          <p:nvPr>
            <p:ph type="body" idx="1"/>
          </p:nvPr>
        </p:nvSpPr>
        <p:spPr/>
        <p:txBody>
          <a:bodyPr/>
          <a:lstStyle/>
          <a:p>
            <a:r>
              <a:rPr lang="en-GB" altLang="en-US"/>
              <a:t>Relationships between tables (relations) must be in the form of other relations</a:t>
            </a:r>
          </a:p>
          <a:p>
            <a:pPr lvl="1"/>
            <a:r>
              <a:rPr lang="en-GB" altLang="en-US" b="1"/>
              <a:t>base</a:t>
            </a:r>
            <a:r>
              <a:rPr lang="en-GB" altLang="en-US" i="1"/>
              <a:t> (‘real’) relations</a:t>
            </a:r>
            <a:r>
              <a:rPr lang="en-GB" altLang="en-US"/>
              <a:t>: named and autonomous relations, not derived from other relations (have stored data)</a:t>
            </a:r>
          </a:p>
          <a:p>
            <a:pPr lvl="1"/>
            <a:r>
              <a:rPr lang="en-GB" altLang="en-US" b="1"/>
              <a:t>views</a:t>
            </a:r>
            <a:r>
              <a:rPr lang="en-GB" altLang="en-US"/>
              <a:t>: named derived relations (no stored data)</a:t>
            </a:r>
          </a:p>
          <a:p>
            <a:pPr lvl="1"/>
            <a:r>
              <a:rPr lang="en-GB" altLang="en-US" b="1"/>
              <a:t>snapshots</a:t>
            </a:r>
            <a:r>
              <a:rPr lang="en-GB" altLang="en-US"/>
              <a:t>: like views are named, derived relations, but they do have stored data</a:t>
            </a:r>
          </a:p>
          <a:p>
            <a:pPr lvl="1"/>
            <a:r>
              <a:rPr lang="en-GB" altLang="en-US" b="1"/>
              <a:t>query results</a:t>
            </a:r>
            <a:r>
              <a:rPr lang="en-GB" altLang="en-US"/>
              <a:t>: result of a query - may or may not have name, and no persistent existence</a:t>
            </a:r>
          </a:p>
          <a:p>
            <a:endParaRPr lang="en-GB" altLang="en-US"/>
          </a:p>
        </p:txBody>
      </p:sp>
    </p:spTree>
    <p:extLst>
      <p:ext uri="{BB962C8B-B14F-4D97-AF65-F5344CB8AC3E}">
        <p14:creationId xmlns:p14="http://schemas.microsoft.com/office/powerpoint/2010/main" val="37122825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a:t>Database Concepts</a:t>
            </a:r>
          </a:p>
        </p:txBody>
      </p:sp>
      <p:sp>
        <p:nvSpPr>
          <p:cNvPr id="12291" name="Rectangle 3"/>
          <p:cNvSpPr>
            <a:spLocks noGrp="1" noChangeArrowheads="1"/>
          </p:cNvSpPr>
          <p:nvPr>
            <p:ph type="body" idx="1"/>
          </p:nvPr>
        </p:nvSpPr>
        <p:spPr/>
        <p:txBody>
          <a:bodyPr/>
          <a:lstStyle/>
          <a:p>
            <a:pPr>
              <a:lnSpc>
                <a:spcPct val="90000"/>
              </a:lnSpc>
            </a:pPr>
            <a:r>
              <a:rPr lang="en-GB" altLang="en-US"/>
              <a:t>Within every relation, need to uniquely identify every tuple</a:t>
            </a:r>
          </a:p>
          <a:p>
            <a:pPr lvl="1">
              <a:lnSpc>
                <a:spcPct val="90000"/>
              </a:lnSpc>
            </a:pPr>
            <a:r>
              <a:rPr lang="en-GB" altLang="en-US"/>
              <a:t>a </a:t>
            </a:r>
            <a:r>
              <a:rPr lang="en-GB" altLang="en-US" b="1"/>
              <a:t>primary key</a:t>
            </a:r>
            <a:r>
              <a:rPr lang="en-GB" altLang="en-US"/>
              <a:t> of a relation is a unique and minimal identifier for that relation</a:t>
            </a:r>
          </a:p>
          <a:p>
            <a:pPr lvl="1">
              <a:lnSpc>
                <a:spcPct val="90000"/>
              </a:lnSpc>
            </a:pPr>
            <a:r>
              <a:rPr lang="en-GB" altLang="en-US"/>
              <a:t>can be a single attribute - or may be a choice of attributes to use</a:t>
            </a:r>
          </a:p>
          <a:p>
            <a:pPr lvl="1">
              <a:lnSpc>
                <a:spcPct val="90000"/>
              </a:lnSpc>
            </a:pPr>
            <a:r>
              <a:rPr lang="en-GB" altLang="en-US"/>
              <a:t>when primary key of one relation used as attribute in another relation it is a </a:t>
            </a:r>
            <a:r>
              <a:rPr lang="en-GB" altLang="en-US" b="1"/>
              <a:t>foreign key</a:t>
            </a:r>
            <a:r>
              <a:rPr lang="en-GB" altLang="en-US"/>
              <a:t> in that relation</a:t>
            </a:r>
          </a:p>
          <a:p>
            <a:pPr>
              <a:lnSpc>
                <a:spcPct val="90000"/>
              </a:lnSpc>
            </a:pPr>
            <a:endParaRPr lang="en-GB" altLang="en-US"/>
          </a:p>
          <a:p>
            <a:pPr>
              <a:lnSpc>
                <a:spcPct val="90000"/>
              </a:lnSpc>
            </a:pPr>
            <a:endParaRPr lang="en-US" altLang="en-US"/>
          </a:p>
        </p:txBody>
      </p:sp>
    </p:spTree>
    <p:extLst>
      <p:ext uri="{BB962C8B-B14F-4D97-AF65-F5344CB8AC3E}">
        <p14:creationId xmlns:p14="http://schemas.microsoft.com/office/powerpoint/2010/main" val="10907648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a:t>Database Concepts</a:t>
            </a:r>
          </a:p>
        </p:txBody>
      </p:sp>
      <p:sp>
        <p:nvSpPr>
          <p:cNvPr id="15363" name="Rectangle 3"/>
          <p:cNvSpPr>
            <a:spLocks noGrp="1" noChangeArrowheads="1"/>
          </p:cNvSpPr>
          <p:nvPr>
            <p:ph type="body" idx="1"/>
          </p:nvPr>
        </p:nvSpPr>
        <p:spPr/>
        <p:txBody>
          <a:bodyPr/>
          <a:lstStyle/>
          <a:p>
            <a:pPr>
              <a:lnSpc>
                <a:spcPct val="90000"/>
              </a:lnSpc>
            </a:pPr>
            <a:r>
              <a:rPr lang="en-US" altLang="en-US" b="1"/>
              <a:t>Structured Query Language</a:t>
            </a:r>
            <a:r>
              <a:rPr lang="en-US" altLang="en-US" b="1" i="1"/>
              <a:t> </a:t>
            </a:r>
            <a:r>
              <a:rPr lang="en-US" altLang="en-US" b="1"/>
              <a:t>(SQL)</a:t>
            </a:r>
            <a:endParaRPr lang="en-US" altLang="en-US"/>
          </a:p>
          <a:p>
            <a:pPr lvl="1">
              <a:lnSpc>
                <a:spcPct val="90000"/>
              </a:lnSpc>
            </a:pPr>
            <a:r>
              <a:rPr lang="en-US" altLang="en-US"/>
              <a:t>to manipulate relations and data in a relational database</a:t>
            </a:r>
          </a:p>
          <a:p>
            <a:pPr>
              <a:lnSpc>
                <a:spcPct val="90000"/>
              </a:lnSpc>
            </a:pPr>
            <a:r>
              <a:rPr lang="en-US" altLang="en-US" b="1"/>
              <a:t>Types of SQL Commands</a:t>
            </a:r>
          </a:p>
          <a:p>
            <a:pPr lvl="1">
              <a:lnSpc>
                <a:spcPct val="90000"/>
              </a:lnSpc>
            </a:pPr>
            <a:r>
              <a:rPr lang="en-US" altLang="en-US" b="1"/>
              <a:t>Data Dictionary Language (DDL)</a:t>
            </a:r>
          </a:p>
          <a:p>
            <a:pPr lvl="2">
              <a:lnSpc>
                <a:spcPct val="90000"/>
              </a:lnSpc>
            </a:pPr>
            <a:r>
              <a:rPr lang="en-US" altLang="en-US"/>
              <a:t>define, maintain, drop schema objects</a:t>
            </a:r>
          </a:p>
          <a:p>
            <a:pPr lvl="1">
              <a:lnSpc>
                <a:spcPct val="90000"/>
              </a:lnSpc>
            </a:pPr>
            <a:r>
              <a:rPr lang="en-US" altLang="en-US" b="1"/>
              <a:t>Data Manipulation Language (DML)</a:t>
            </a:r>
            <a:endParaRPr lang="en-US" altLang="en-US"/>
          </a:p>
          <a:p>
            <a:pPr lvl="2">
              <a:lnSpc>
                <a:spcPct val="90000"/>
              </a:lnSpc>
            </a:pPr>
            <a:r>
              <a:rPr lang="en-US" altLang="en-US"/>
              <a:t>SELECT, INSERT, UPDATE</a:t>
            </a:r>
          </a:p>
          <a:p>
            <a:pPr lvl="1">
              <a:lnSpc>
                <a:spcPct val="90000"/>
              </a:lnSpc>
            </a:pPr>
            <a:r>
              <a:rPr lang="en-US" altLang="en-US" b="1"/>
              <a:t>Data Control Language (DCL):</a:t>
            </a:r>
            <a:r>
              <a:rPr lang="en-US" altLang="en-US"/>
              <a:t> </a:t>
            </a:r>
          </a:p>
          <a:p>
            <a:pPr lvl="2">
              <a:lnSpc>
                <a:spcPct val="90000"/>
              </a:lnSpc>
            </a:pPr>
            <a:r>
              <a:rPr lang="en-US" altLang="en-US"/>
              <a:t>control security (GRANT,REVOKE) and concurrent access (COMMIT , ROLLBACK)</a:t>
            </a:r>
          </a:p>
          <a:p>
            <a:pPr lvl="1">
              <a:lnSpc>
                <a:spcPct val="90000"/>
              </a:lnSpc>
              <a:buFontTx/>
              <a:buNone/>
            </a:pPr>
            <a:endParaRPr lang="en-US" altLang="en-US"/>
          </a:p>
        </p:txBody>
      </p:sp>
    </p:spTree>
    <p:extLst>
      <p:ext uri="{BB962C8B-B14F-4D97-AF65-F5344CB8AC3E}">
        <p14:creationId xmlns:p14="http://schemas.microsoft.com/office/powerpoint/2010/main" val="14911862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a:t>Security Requirements</a:t>
            </a:r>
          </a:p>
        </p:txBody>
      </p:sp>
      <p:sp>
        <p:nvSpPr>
          <p:cNvPr id="21507" name="Rectangle 3"/>
          <p:cNvSpPr>
            <a:spLocks noGrp="1" noChangeArrowheads="1"/>
          </p:cNvSpPr>
          <p:nvPr>
            <p:ph type="body" idx="1"/>
          </p:nvPr>
        </p:nvSpPr>
        <p:spPr/>
        <p:txBody>
          <a:bodyPr/>
          <a:lstStyle/>
          <a:p>
            <a:r>
              <a:rPr lang="en-US" altLang="en-US"/>
              <a:t>Physical database integrity </a:t>
            </a:r>
          </a:p>
          <a:p>
            <a:r>
              <a:rPr lang="en-US" altLang="en-US"/>
              <a:t>Logical database integrity </a:t>
            </a:r>
          </a:p>
          <a:p>
            <a:r>
              <a:rPr lang="en-US" altLang="en-US"/>
              <a:t>Element integrity </a:t>
            </a:r>
          </a:p>
          <a:p>
            <a:r>
              <a:rPr lang="en-US" altLang="en-US"/>
              <a:t>Auditability</a:t>
            </a:r>
          </a:p>
          <a:p>
            <a:r>
              <a:rPr lang="en-US" altLang="en-US"/>
              <a:t>Access control </a:t>
            </a:r>
          </a:p>
          <a:p>
            <a:r>
              <a:rPr lang="en-US" altLang="en-US"/>
              <a:t>User authentication </a:t>
            </a:r>
          </a:p>
          <a:p>
            <a:r>
              <a:rPr lang="en-US" altLang="en-US"/>
              <a:t>Availability </a:t>
            </a:r>
          </a:p>
        </p:txBody>
      </p:sp>
    </p:spTree>
    <p:extLst>
      <p:ext uri="{BB962C8B-B14F-4D97-AF65-F5344CB8AC3E}">
        <p14:creationId xmlns:p14="http://schemas.microsoft.com/office/powerpoint/2010/main" val="14208498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a:t>Security Requirements</a:t>
            </a:r>
          </a:p>
        </p:txBody>
      </p:sp>
      <p:sp>
        <p:nvSpPr>
          <p:cNvPr id="25603" name="Rectangle 3"/>
          <p:cNvSpPr>
            <a:spLocks noGrp="1" noChangeArrowheads="1"/>
          </p:cNvSpPr>
          <p:nvPr>
            <p:ph type="body" idx="1"/>
          </p:nvPr>
        </p:nvSpPr>
        <p:spPr/>
        <p:txBody>
          <a:bodyPr/>
          <a:lstStyle/>
          <a:p>
            <a:pPr>
              <a:lnSpc>
                <a:spcPct val="90000"/>
              </a:lnSpc>
            </a:pPr>
            <a:r>
              <a:rPr lang="en-US" altLang="en-US"/>
              <a:t>Physical database integrity</a:t>
            </a:r>
          </a:p>
          <a:p>
            <a:pPr lvl="1">
              <a:lnSpc>
                <a:spcPct val="90000"/>
              </a:lnSpc>
            </a:pPr>
            <a:r>
              <a:rPr lang="en-US" altLang="en-US"/>
              <a:t>immunity to physical catastrophe, such as power failures, media failure</a:t>
            </a:r>
          </a:p>
          <a:p>
            <a:pPr lvl="2">
              <a:lnSpc>
                <a:spcPct val="90000"/>
              </a:lnSpc>
            </a:pPr>
            <a:r>
              <a:rPr lang="en-US" altLang="en-US"/>
              <a:t>physical securing hardware, UPS</a:t>
            </a:r>
          </a:p>
          <a:p>
            <a:pPr lvl="2">
              <a:lnSpc>
                <a:spcPct val="90000"/>
              </a:lnSpc>
            </a:pPr>
            <a:r>
              <a:rPr lang="en-US" altLang="en-US"/>
              <a:t>regular backups</a:t>
            </a:r>
          </a:p>
          <a:p>
            <a:pPr lvl="2">
              <a:lnSpc>
                <a:spcPct val="90000"/>
              </a:lnSpc>
            </a:pPr>
            <a:endParaRPr lang="en-US" altLang="en-US"/>
          </a:p>
          <a:p>
            <a:pPr>
              <a:lnSpc>
                <a:spcPct val="90000"/>
              </a:lnSpc>
            </a:pPr>
            <a:r>
              <a:rPr lang="en-US" altLang="en-US"/>
              <a:t>Logical database integrity</a:t>
            </a:r>
          </a:p>
          <a:p>
            <a:pPr lvl="1">
              <a:lnSpc>
                <a:spcPct val="90000"/>
              </a:lnSpc>
            </a:pPr>
            <a:r>
              <a:rPr lang="en-US" altLang="en-US"/>
              <a:t>reconstruction Ability</a:t>
            </a:r>
          </a:p>
          <a:p>
            <a:pPr lvl="2">
              <a:lnSpc>
                <a:spcPct val="90000"/>
              </a:lnSpc>
            </a:pPr>
            <a:r>
              <a:rPr lang="en-US" altLang="en-US"/>
              <a:t>maintain a log of transactions </a:t>
            </a:r>
          </a:p>
          <a:p>
            <a:pPr lvl="2">
              <a:lnSpc>
                <a:spcPct val="90000"/>
              </a:lnSpc>
            </a:pPr>
            <a:r>
              <a:rPr lang="en-US" altLang="en-US"/>
              <a:t>replay log to restore the systems to a stable point </a:t>
            </a:r>
          </a:p>
          <a:p>
            <a:pPr lvl="1">
              <a:lnSpc>
                <a:spcPct val="90000"/>
              </a:lnSpc>
            </a:pPr>
            <a:endParaRPr lang="en-US" altLang="en-US"/>
          </a:p>
          <a:p>
            <a:pPr>
              <a:lnSpc>
                <a:spcPct val="90000"/>
              </a:lnSpc>
              <a:buFontTx/>
              <a:buNone/>
            </a:pPr>
            <a:endParaRPr lang="en-US" altLang="en-US"/>
          </a:p>
        </p:txBody>
      </p:sp>
    </p:spTree>
    <p:extLst>
      <p:ext uri="{BB962C8B-B14F-4D97-AF65-F5344CB8AC3E}">
        <p14:creationId xmlns:p14="http://schemas.microsoft.com/office/powerpoint/2010/main" val="15758785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a:t>Security Requirements</a:t>
            </a:r>
          </a:p>
        </p:txBody>
      </p:sp>
      <p:sp>
        <p:nvSpPr>
          <p:cNvPr id="28675" name="Rectangle 3"/>
          <p:cNvSpPr>
            <a:spLocks noGrp="1" noChangeArrowheads="1"/>
          </p:cNvSpPr>
          <p:nvPr>
            <p:ph type="body" idx="1"/>
          </p:nvPr>
        </p:nvSpPr>
        <p:spPr/>
        <p:txBody>
          <a:bodyPr>
            <a:normAutofit fontScale="85000" lnSpcReduction="10000"/>
          </a:bodyPr>
          <a:lstStyle/>
          <a:p>
            <a:pPr>
              <a:lnSpc>
                <a:spcPct val="80000"/>
              </a:lnSpc>
            </a:pPr>
            <a:r>
              <a:rPr lang="en-US" altLang="en-US" sz="2400"/>
              <a:t>Element integrity </a:t>
            </a:r>
          </a:p>
          <a:p>
            <a:pPr lvl="1">
              <a:lnSpc>
                <a:spcPct val="80000"/>
              </a:lnSpc>
            </a:pPr>
            <a:r>
              <a:rPr lang="en-US" altLang="en-US" sz="2000"/>
              <a:t>integrity of specific database elements is their correctness or accuracy </a:t>
            </a:r>
          </a:p>
          <a:p>
            <a:pPr lvl="2">
              <a:lnSpc>
                <a:spcPct val="80000"/>
              </a:lnSpc>
            </a:pPr>
            <a:r>
              <a:rPr lang="en-US" altLang="en-US" sz="1800"/>
              <a:t>field checks</a:t>
            </a:r>
          </a:p>
          <a:p>
            <a:pPr lvl="3">
              <a:lnSpc>
                <a:spcPct val="80000"/>
              </a:lnSpc>
              <a:buFontTx/>
              <a:buChar char="–"/>
            </a:pPr>
            <a:r>
              <a:rPr lang="en-US" altLang="en-US" sz="1800"/>
              <a:t>allow only acceptable values</a:t>
            </a:r>
          </a:p>
          <a:p>
            <a:pPr lvl="2">
              <a:lnSpc>
                <a:spcPct val="80000"/>
              </a:lnSpc>
            </a:pPr>
            <a:r>
              <a:rPr lang="en-US" altLang="en-US" sz="1800"/>
              <a:t>access controls</a:t>
            </a:r>
          </a:p>
          <a:p>
            <a:pPr lvl="3">
              <a:lnSpc>
                <a:spcPct val="80000"/>
              </a:lnSpc>
              <a:buFontTx/>
              <a:buChar char="–"/>
            </a:pPr>
            <a:r>
              <a:rPr lang="en-US" altLang="en-US" sz="1800"/>
              <a:t>allow only authorized users to update elements</a:t>
            </a:r>
          </a:p>
          <a:p>
            <a:pPr lvl="2">
              <a:lnSpc>
                <a:spcPct val="80000"/>
              </a:lnSpc>
            </a:pPr>
            <a:r>
              <a:rPr lang="en-US" altLang="en-US" sz="1800"/>
              <a:t>change log</a:t>
            </a:r>
          </a:p>
          <a:p>
            <a:pPr lvl="3">
              <a:lnSpc>
                <a:spcPct val="80000"/>
              </a:lnSpc>
              <a:buFontTx/>
              <a:buChar char="–"/>
            </a:pPr>
            <a:r>
              <a:rPr lang="en-US" altLang="en-US" sz="1800"/>
              <a:t>used to undo changes made in error</a:t>
            </a:r>
          </a:p>
          <a:p>
            <a:pPr lvl="2">
              <a:lnSpc>
                <a:spcPct val="80000"/>
              </a:lnSpc>
            </a:pPr>
            <a:r>
              <a:rPr lang="en-US" altLang="en-US" sz="1800"/>
              <a:t>referential Integrity (key integrity concerns)</a:t>
            </a:r>
          </a:p>
          <a:p>
            <a:pPr lvl="2">
              <a:lnSpc>
                <a:spcPct val="80000"/>
              </a:lnSpc>
            </a:pPr>
            <a:r>
              <a:rPr lang="en-US" altLang="en-US" sz="1800"/>
              <a:t>two phase locking process</a:t>
            </a:r>
          </a:p>
          <a:p>
            <a:pPr lvl="2">
              <a:lnSpc>
                <a:spcPct val="80000"/>
              </a:lnSpc>
            </a:pPr>
            <a:endParaRPr lang="en-US" altLang="en-US" sz="1800"/>
          </a:p>
          <a:p>
            <a:pPr>
              <a:lnSpc>
                <a:spcPct val="80000"/>
              </a:lnSpc>
            </a:pPr>
            <a:r>
              <a:rPr lang="en-US" altLang="en-US" sz="2400"/>
              <a:t>Auditability </a:t>
            </a:r>
          </a:p>
          <a:p>
            <a:pPr lvl="1">
              <a:lnSpc>
                <a:spcPct val="80000"/>
              </a:lnSpc>
            </a:pPr>
            <a:r>
              <a:rPr lang="en-US" altLang="en-US" sz="2000"/>
              <a:t>log read/write to database</a:t>
            </a:r>
          </a:p>
        </p:txBody>
      </p:sp>
    </p:spTree>
    <p:extLst>
      <p:ext uri="{BB962C8B-B14F-4D97-AF65-F5344CB8AC3E}">
        <p14:creationId xmlns:p14="http://schemas.microsoft.com/office/powerpoint/2010/main" val="333227315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en-US"/>
              <a:t>Security Requirements</a:t>
            </a:r>
          </a:p>
        </p:txBody>
      </p:sp>
      <p:sp>
        <p:nvSpPr>
          <p:cNvPr id="51203" name="Rectangle 3"/>
          <p:cNvSpPr>
            <a:spLocks noGrp="1" noChangeArrowheads="1"/>
          </p:cNvSpPr>
          <p:nvPr>
            <p:ph type="body" idx="1"/>
          </p:nvPr>
        </p:nvSpPr>
        <p:spPr/>
        <p:txBody>
          <a:bodyPr>
            <a:normAutofit fontScale="92500" lnSpcReduction="20000"/>
          </a:bodyPr>
          <a:lstStyle/>
          <a:p>
            <a:r>
              <a:rPr lang="en-US" altLang="en-US" sz="2400"/>
              <a:t>Access Control (similar to OS)</a:t>
            </a:r>
          </a:p>
          <a:p>
            <a:pPr lvl="1"/>
            <a:r>
              <a:rPr lang="en-US" altLang="en-US" sz="2000"/>
              <a:t>logical separation by user access privileges</a:t>
            </a:r>
          </a:p>
          <a:p>
            <a:pPr lvl="1"/>
            <a:r>
              <a:rPr lang="en-US" altLang="en-US" sz="2000"/>
              <a:t>more complicated than OS due to complexity of DB (granularity/inference/aggregation)</a:t>
            </a:r>
          </a:p>
          <a:p>
            <a:r>
              <a:rPr lang="en-US" altLang="en-US" sz="2400"/>
              <a:t>User Authentication</a:t>
            </a:r>
          </a:p>
          <a:p>
            <a:pPr lvl="1"/>
            <a:r>
              <a:rPr lang="en-US" altLang="en-US" sz="2000"/>
              <a:t>may be separate from OS</a:t>
            </a:r>
          </a:p>
          <a:p>
            <a:pPr lvl="1"/>
            <a:r>
              <a:rPr lang="en-US" altLang="en-US" sz="2000"/>
              <a:t>can be rigorous</a:t>
            </a:r>
          </a:p>
          <a:p>
            <a:r>
              <a:rPr lang="en-US" altLang="en-US" sz="2400"/>
              <a:t>Availability</a:t>
            </a:r>
          </a:p>
          <a:p>
            <a:pPr lvl="1"/>
            <a:r>
              <a:rPr lang="en-US" altLang="en-US" sz="2000"/>
              <a:t>concurrent users</a:t>
            </a:r>
          </a:p>
          <a:p>
            <a:pPr lvl="2"/>
            <a:r>
              <a:rPr lang="en-US" altLang="en-US" sz="1800"/>
              <a:t>granularity of locking</a:t>
            </a:r>
          </a:p>
          <a:p>
            <a:pPr lvl="1"/>
            <a:r>
              <a:rPr lang="en-US" altLang="en-US" sz="2000"/>
              <a:t>reliability</a:t>
            </a:r>
          </a:p>
          <a:p>
            <a:pPr lvl="1"/>
            <a:endParaRPr lang="en-US" altLang="en-US" sz="2000"/>
          </a:p>
          <a:p>
            <a:endParaRPr lang="en-US" altLang="en-US" sz="2400"/>
          </a:p>
        </p:txBody>
      </p:sp>
    </p:spTree>
    <p:extLst>
      <p:ext uri="{BB962C8B-B14F-4D97-AF65-F5344CB8AC3E}">
        <p14:creationId xmlns:p14="http://schemas.microsoft.com/office/powerpoint/2010/main" val="20616641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ltLang="en-US"/>
              <a:t>SQL Security Model</a:t>
            </a:r>
          </a:p>
        </p:txBody>
      </p:sp>
      <p:sp>
        <p:nvSpPr>
          <p:cNvPr id="53251" name="Rectangle 3"/>
          <p:cNvSpPr>
            <a:spLocks noGrp="1" noChangeArrowheads="1"/>
          </p:cNvSpPr>
          <p:nvPr>
            <p:ph type="body" idx="1"/>
          </p:nvPr>
        </p:nvSpPr>
        <p:spPr/>
        <p:txBody>
          <a:bodyPr>
            <a:normAutofit fontScale="92500"/>
          </a:bodyPr>
          <a:lstStyle/>
          <a:p>
            <a:r>
              <a:rPr lang="en-GB" altLang="en-US" sz="2400"/>
              <a:t>SQL security model implements DAC based on</a:t>
            </a:r>
          </a:p>
          <a:p>
            <a:pPr lvl="1"/>
            <a:r>
              <a:rPr lang="en-GB" altLang="en-US" sz="2000" i="1"/>
              <a:t>users</a:t>
            </a:r>
            <a:r>
              <a:rPr lang="en-GB" altLang="en-US" sz="2000"/>
              <a:t>: users of database - </a:t>
            </a:r>
            <a:r>
              <a:rPr lang="en-GB" altLang="en-US" sz="2000" i="1"/>
              <a:t>user identity</a:t>
            </a:r>
            <a:r>
              <a:rPr lang="en-GB" altLang="en-US" sz="2000"/>
              <a:t> checked during login process;</a:t>
            </a:r>
          </a:p>
          <a:p>
            <a:pPr lvl="1"/>
            <a:r>
              <a:rPr lang="en-GB" altLang="en-US" sz="2000" i="1"/>
              <a:t>actions</a:t>
            </a:r>
            <a:r>
              <a:rPr lang="en-GB" altLang="en-US" sz="2000"/>
              <a:t>: including </a:t>
            </a:r>
            <a:r>
              <a:rPr lang="en-GB" altLang="en-US" sz="2000" b="1">
                <a:latin typeface="Courier New" panose="02070309020205020404" pitchFamily="49" charset="0"/>
              </a:rPr>
              <a:t>SELECT</a:t>
            </a:r>
            <a:r>
              <a:rPr lang="en-GB" altLang="en-US" sz="2000" b="1"/>
              <a:t>, </a:t>
            </a:r>
            <a:r>
              <a:rPr lang="en-GB" altLang="en-US" sz="2000" b="1">
                <a:latin typeface="Courier New" panose="02070309020205020404" pitchFamily="49" charset="0"/>
              </a:rPr>
              <a:t>UPDATE</a:t>
            </a:r>
            <a:r>
              <a:rPr lang="en-GB" altLang="en-US" sz="2000" b="1"/>
              <a:t>, </a:t>
            </a:r>
            <a:r>
              <a:rPr lang="en-GB" altLang="en-US" sz="2000" b="1">
                <a:latin typeface="Courier New" panose="02070309020205020404" pitchFamily="49" charset="0"/>
              </a:rPr>
              <a:t>DELETE</a:t>
            </a:r>
            <a:r>
              <a:rPr lang="en-GB" altLang="en-US" sz="2000"/>
              <a:t> and </a:t>
            </a:r>
            <a:r>
              <a:rPr lang="en-GB" altLang="en-US" sz="2000" b="1">
                <a:latin typeface="Courier New" panose="02070309020205020404" pitchFamily="49" charset="0"/>
              </a:rPr>
              <a:t>INSERT</a:t>
            </a:r>
            <a:r>
              <a:rPr lang="en-GB" altLang="en-US" sz="2000"/>
              <a:t>;</a:t>
            </a:r>
          </a:p>
          <a:p>
            <a:pPr lvl="1"/>
            <a:r>
              <a:rPr lang="en-GB" altLang="en-US" sz="2000" i="1"/>
              <a:t>objects</a:t>
            </a:r>
            <a:r>
              <a:rPr lang="en-GB" altLang="en-US" sz="2000"/>
              <a:t>: tables (</a:t>
            </a:r>
            <a:r>
              <a:rPr lang="en-GB" altLang="en-US" sz="2000" i="1"/>
              <a:t>base relations</a:t>
            </a:r>
            <a:r>
              <a:rPr lang="en-GB" altLang="en-US" sz="2000"/>
              <a:t>), views, and columns (</a:t>
            </a:r>
            <a:r>
              <a:rPr lang="en-GB" altLang="en-US" sz="2000" i="1"/>
              <a:t>attributes</a:t>
            </a:r>
            <a:r>
              <a:rPr lang="en-GB" altLang="en-US" sz="2000"/>
              <a:t>) of tables and views</a:t>
            </a:r>
          </a:p>
          <a:p>
            <a:r>
              <a:rPr lang="en-US" altLang="en-US" sz="2400"/>
              <a:t>Users can protect objects they own</a:t>
            </a:r>
          </a:p>
          <a:p>
            <a:pPr lvl="1"/>
            <a:r>
              <a:rPr lang="en-GB" altLang="en-US" sz="2000"/>
              <a:t>when object created, a user is designated as ‘owner’ of object</a:t>
            </a:r>
          </a:p>
          <a:p>
            <a:pPr lvl="1"/>
            <a:r>
              <a:rPr lang="en-US" altLang="en-US" sz="2000"/>
              <a:t>owner may grant access to others</a:t>
            </a:r>
            <a:endParaRPr lang="en-GB" altLang="en-US" sz="2000"/>
          </a:p>
          <a:p>
            <a:pPr lvl="1"/>
            <a:r>
              <a:rPr lang="en-GB" altLang="en-US" sz="2000"/>
              <a:t>users other than owner have to be granted </a:t>
            </a:r>
            <a:r>
              <a:rPr lang="en-GB" altLang="en-US" sz="2000" i="1"/>
              <a:t>privileges</a:t>
            </a:r>
            <a:r>
              <a:rPr lang="en-GB" altLang="en-US" sz="2000"/>
              <a:t> to access object</a:t>
            </a:r>
          </a:p>
        </p:txBody>
      </p:sp>
    </p:spTree>
    <p:extLst>
      <p:ext uri="{BB962C8B-B14F-4D97-AF65-F5344CB8AC3E}">
        <p14:creationId xmlns:p14="http://schemas.microsoft.com/office/powerpoint/2010/main" val="40692978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altLang="en-US"/>
              <a:t>SQL Security Model</a:t>
            </a:r>
          </a:p>
        </p:txBody>
      </p:sp>
      <p:sp>
        <p:nvSpPr>
          <p:cNvPr id="92163" name="Rectangle 3"/>
          <p:cNvSpPr>
            <a:spLocks noGrp="1" noChangeArrowheads="1"/>
          </p:cNvSpPr>
          <p:nvPr>
            <p:ph type="body" idx="1"/>
          </p:nvPr>
        </p:nvSpPr>
        <p:spPr/>
        <p:txBody>
          <a:bodyPr>
            <a:normAutofit fontScale="92500" lnSpcReduction="10000"/>
          </a:bodyPr>
          <a:lstStyle/>
          <a:p>
            <a:r>
              <a:rPr lang="en-GB" altLang="en-US" sz="2400"/>
              <a:t>Components of privilege are</a:t>
            </a:r>
          </a:p>
          <a:p>
            <a:pPr lvl="1"/>
            <a:r>
              <a:rPr lang="en-GB" altLang="en-US" sz="1800">
                <a:latin typeface="Courier New" panose="02070309020205020404" pitchFamily="49" charset="0"/>
              </a:rPr>
              <a:t>grantor, grantee, object, action, grantable</a:t>
            </a:r>
          </a:p>
          <a:p>
            <a:pPr lvl="1"/>
            <a:r>
              <a:rPr lang="en-GB" altLang="en-US" sz="2000"/>
              <a:t>privileges managed using </a:t>
            </a:r>
            <a:r>
              <a:rPr lang="en-GB" altLang="en-US" sz="2000" b="1">
                <a:latin typeface="Courier New" panose="02070309020205020404" pitchFamily="49" charset="0"/>
              </a:rPr>
              <a:t>GRANT</a:t>
            </a:r>
            <a:r>
              <a:rPr lang="en-GB" altLang="en-US" sz="2000"/>
              <a:t> and </a:t>
            </a:r>
            <a:r>
              <a:rPr lang="en-GB" altLang="en-US" sz="2000" b="1">
                <a:latin typeface="Courier New" panose="02070309020205020404" pitchFamily="49" charset="0"/>
              </a:rPr>
              <a:t>REVOKE</a:t>
            </a:r>
            <a:r>
              <a:rPr lang="en-GB" altLang="en-US" sz="2000"/>
              <a:t> operations</a:t>
            </a:r>
          </a:p>
          <a:p>
            <a:pPr lvl="1"/>
            <a:r>
              <a:rPr lang="en-GB" altLang="en-US" sz="2000"/>
              <a:t>the right to grant privileges can be granted</a:t>
            </a:r>
            <a:endParaRPr lang="en-US" altLang="en-US" sz="2000"/>
          </a:p>
          <a:p>
            <a:r>
              <a:rPr lang="en-US" altLang="en-US" sz="2400"/>
              <a:t>Issues with privilege management</a:t>
            </a:r>
          </a:p>
          <a:p>
            <a:pPr lvl="1"/>
            <a:r>
              <a:rPr lang="en-US" altLang="en-US" sz="2000"/>
              <a:t>each grant of privileges is to an individual or to “Public”</a:t>
            </a:r>
            <a:endParaRPr lang="en-GB" altLang="en-US" sz="2000"/>
          </a:p>
          <a:p>
            <a:pPr lvl="1"/>
            <a:r>
              <a:rPr lang="en-GB" altLang="en-US" sz="2000"/>
              <a:t>makes security administration in large organizations difficult</a:t>
            </a:r>
          </a:p>
          <a:p>
            <a:pPr lvl="1"/>
            <a:r>
              <a:rPr lang="en-US" altLang="en-US" sz="2000"/>
              <a:t>individual with multiple roles may have too many privileges for one of the roles</a:t>
            </a:r>
            <a:endParaRPr lang="en-GB" altLang="en-US" sz="2000"/>
          </a:p>
          <a:p>
            <a:pPr lvl="1"/>
            <a:r>
              <a:rPr lang="en-US" altLang="en-US" sz="2000"/>
              <a:t>SQL3 is moving more to role based privileges</a:t>
            </a:r>
            <a:endParaRPr lang="en-GB" altLang="en-US" sz="2000"/>
          </a:p>
        </p:txBody>
      </p:sp>
    </p:spTree>
    <p:extLst>
      <p:ext uri="{BB962C8B-B14F-4D97-AF65-F5344CB8AC3E}">
        <p14:creationId xmlns:p14="http://schemas.microsoft.com/office/powerpoint/2010/main" val="161993358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a:t>SQL Security Model</a:t>
            </a:r>
          </a:p>
        </p:txBody>
      </p:sp>
      <p:sp>
        <p:nvSpPr>
          <p:cNvPr id="55299" name="Rectangle 3"/>
          <p:cNvSpPr>
            <a:spLocks noGrp="1" noChangeArrowheads="1"/>
          </p:cNvSpPr>
          <p:nvPr>
            <p:ph type="body" idx="1"/>
          </p:nvPr>
        </p:nvSpPr>
        <p:spPr/>
        <p:txBody>
          <a:bodyPr/>
          <a:lstStyle/>
          <a:p>
            <a:r>
              <a:rPr lang="en-US" altLang="en-US"/>
              <a:t>Authentication &amp; identification mechanisms</a:t>
            </a:r>
          </a:p>
          <a:p>
            <a:pPr lvl="1"/>
            <a:r>
              <a:rPr lang="en-US" altLang="en-US"/>
              <a:t>CONNECT &lt;user&gt; USING&lt;password&gt; </a:t>
            </a:r>
          </a:p>
          <a:p>
            <a:pPr lvl="1"/>
            <a:r>
              <a:rPr lang="en-US" altLang="en-US"/>
              <a:t>DBMS may chose OS authentication</a:t>
            </a:r>
          </a:p>
          <a:p>
            <a:pPr lvl="1"/>
            <a:r>
              <a:rPr lang="en-US" altLang="en-US"/>
              <a:t>or its own authentication mechanism</a:t>
            </a:r>
          </a:p>
          <a:p>
            <a:pPr lvl="2"/>
            <a:r>
              <a:rPr lang="en-US" altLang="en-US"/>
              <a:t>Kerberose</a:t>
            </a:r>
          </a:p>
          <a:p>
            <a:pPr lvl="2"/>
            <a:r>
              <a:rPr lang="en-US" altLang="en-US"/>
              <a:t>PAM</a:t>
            </a:r>
          </a:p>
          <a:p>
            <a:pPr lvl="2"/>
            <a:endParaRPr lang="en-US" altLang="en-US"/>
          </a:p>
          <a:p>
            <a:pPr lvl="2">
              <a:buFontTx/>
              <a:buNone/>
            </a:pPr>
            <a:endParaRPr lang="en-US" altLang="en-US"/>
          </a:p>
        </p:txBody>
      </p:sp>
    </p:spTree>
    <p:extLst>
      <p:ext uri="{BB962C8B-B14F-4D97-AF65-F5344CB8AC3E}">
        <p14:creationId xmlns:p14="http://schemas.microsoft.com/office/powerpoint/2010/main" val="31508639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altLang="en-US"/>
              <a:t>SQL Security Model</a:t>
            </a:r>
          </a:p>
        </p:txBody>
      </p:sp>
      <p:sp>
        <p:nvSpPr>
          <p:cNvPr id="90115" name="Rectangle 3"/>
          <p:cNvSpPr>
            <a:spLocks noGrp="1" noChangeArrowheads="1"/>
          </p:cNvSpPr>
          <p:nvPr>
            <p:ph type="body" idx="1"/>
          </p:nvPr>
        </p:nvSpPr>
        <p:spPr>
          <a:xfrm>
            <a:off x="677334" y="1371601"/>
            <a:ext cx="8596668" cy="4669762"/>
          </a:xfrm>
        </p:spPr>
        <p:txBody>
          <a:bodyPr>
            <a:normAutofit/>
          </a:bodyPr>
          <a:lstStyle/>
          <a:p>
            <a:pPr>
              <a:lnSpc>
                <a:spcPct val="80000"/>
              </a:lnSpc>
            </a:pPr>
            <a:r>
              <a:rPr lang="en-US" altLang="en-US" sz="2400" dirty="0"/>
              <a:t>Access control through views </a:t>
            </a:r>
          </a:p>
          <a:p>
            <a:pPr lvl="1">
              <a:lnSpc>
                <a:spcPct val="80000"/>
              </a:lnSpc>
            </a:pPr>
            <a:r>
              <a:rPr lang="en-GB" altLang="en-US" sz="2000" dirty="0"/>
              <a:t>many security policies better expressed by granting privileges to views derived from base relations</a:t>
            </a:r>
          </a:p>
          <a:p>
            <a:pPr lvl="1">
              <a:lnSpc>
                <a:spcPct val="80000"/>
              </a:lnSpc>
            </a:pPr>
            <a:endParaRPr lang="en-GB" altLang="en-US" sz="2000" dirty="0"/>
          </a:p>
          <a:p>
            <a:pPr lvl="1">
              <a:lnSpc>
                <a:spcPct val="80000"/>
              </a:lnSpc>
            </a:pPr>
            <a:r>
              <a:rPr lang="en-US" altLang="en-US" sz="2000" dirty="0"/>
              <a:t>example</a:t>
            </a:r>
          </a:p>
          <a:p>
            <a:pPr lvl="1">
              <a:lnSpc>
                <a:spcPct val="80000"/>
              </a:lnSpc>
              <a:buFontTx/>
              <a:buNone/>
            </a:pPr>
            <a:r>
              <a:rPr lang="en-US" altLang="en-US" sz="2000" dirty="0"/>
              <a:t>	</a:t>
            </a:r>
            <a:r>
              <a:rPr lang="en-US" altLang="en-US" sz="1800" i="1" dirty="0"/>
              <a:t>CREATE VIEW AVSAL(DEPT, AVG) </a:t>
            </a:r>
          </a:p>
          <a:p>
            <a:pPr lvl="2">
              <a:lnSpc>
                <a:spcPct val="80000"/>
              </a:lnSpc>
              <a:buFontTx/>
              <a:buNone/>
            </a:pPr>
            <a:r>
              <a:rPr lang="en-US" altLang="en-US" sz="1800" i="1" dirty="0"/>
              <a:t>AS SELECT DEPT, AVG(SALARY) </a:t>
            </a:r>
          </a:p>
          <a:p>
            <a:pPr lvl="2">
              <a:lnSpc>
                <a:spcPct val="80000"/>
              </a:lnSpc>
              <a:buFontTx/>
              <a:buNone/>
            </a:pPr>
            <a:r>
              <a:rPr lang="en-US" altLang="en-US" sz="1800" i="1" dirty="0"/>
              <a:t>FROM  EMP GROUP BY DEPT</a:t>
            </a:r>
          </a:p>
          <a:p>
            <a:pPr lvl="2">
              <a:lnSpc>
                <a:spcPct val="80000"/>
              </a:lnSpc>
            </a:pPr>
            <a:r>
              <a:rPr lang="en-GB" altLang="en-US" dirty="0"/>
              <a:t>access can be granted to this view for every </a:t>
            </a:r>
            <a:r>
              <a:rPr lang="en-GB" altLang="en-US" dirty="0" err="1"/>
              <a:t>dept</a:t>
            </a:r>
            <a:r>
              <a:rPr lang="en-GB" altLang="en-US" dirty="0"/>
              <a:t> </a:t>
            </a:r>
            <a:r>
              <a:rPr lang="en-GB" altLang="en-US" dirty="0" err="1"/>
              <a:t>mgr</a:t>
            </a:r>
            <a:endParaRPr lang="en-GB" altLang="en-US" dirty="0"/>
          </a:p>
          <a:p>
            <a:pPr lvl="2">
              <a:lnSpc>
                <a:spcPct val="80000"/>
              </a:lnSpc>
            </a:pPr>
            <a:endParaRPr lang="en-GB" altLang="en-US" sz="1800" dirty="0"/>
          </a:p>
          <a:p>
            <a:pPr lvl="1">
              <a:lnSpc>
                <a:spcPct val="80000"/>
              </a:lnSpc>
              <a:spcBef>
                <a:spcPct val="0"/>
              </a:spcBef>
            </a:pPr>
            <a:r>
              <a:rPr lang="en-GB" altLang="en-US" sz="2000" dirty="0"/>
              <a:t>example</a:t>
            </a:r>
          </a:p>
          <a:p>
            <a:pPr lvl="1">
              <a:lnSpc>
                <a:spcPct val="80000"/>
              </a:lnSpc>
              <a:spcBef>
                <a:spcPct val="0"/>
              </a:spcBef>
              <a:buFontTx/>
              <a:buNone/>
            </a:pPr>
            <a:r>
              <a:rPr lang="en-GB" altLang="en-US" sz="1800" dirty="0"/>
              <a:t>	</a:t>
            </a:r>
            <a:r>
              <a:rPr lang="en-GB" altLang="en-US" sz="1800" i="1" dirty="0"/>
              <a:t>CREATE VIEW MYACCOUNT AS</a:t>
            </a:r>
          </a:p>
          <a:p>
            <a:pPr lvl="1">
              <a:lnSpc>
                <a:spcPct val="80000"/>
              </a:lnSpc>
              <a:spcBef>
                <a:spcPct val="0"/>
              </a:spcBef>
              <a:buFontTx/>
              <a:buNone/>
            </a:pPr>
            <a:r>
              <a:rPr lang="en-GB" altLang="en-US" sz="1800" i="1" dirty="0"/>
              <a:t>	SELECT * FROM Account</a:t>
            </a:r>
          </a:p>
          <a:p>
            <a:pPr lvl="1">
              <a:lnSpc>
                <a:spcPct val="80000"/>
              </a:lnSpc>
              <a:spcBef>
                <a:spcPct val="0"/>
              </a:spcBef>
              <a:buFontTx/>
              <a:buNone/>
            </a:pPr>
            <a:r>
              <a:rPr lang="en-GB" altLang="en-US" sz="1800" i="1" dirty="0"/>
              <a:t>	WHERE Customer = </a:t>
            </a:r>
            <a:r>
              <a:rPr lang="en-GB" altLang="en-US" sz="1800" i="1" dirty="0" err="1"/>
              <a:t>current_user</a:t>
            </a:r>
            <a:r>
              <a:rPr lang="en-GB" altLang="en-US" sz="1800" i="1" dirty="0"/>
              <a:t>()</a:t>
            </a:r>
          </a:p>
          <a:p>
            <a:pPr lvl="2">
              <a:lnSpc>
                <a:spcPct val="80000"/>
              </a:lnSpc>
              <a:spcBef>
                <a:spcPct val="0"/>
              </a:spcBef>
            </a:pPr>
            <a:r>
              <a:rPr lang="en-GB" altLang="en-US" dirty="0"/>
              <a:t>view containing account info for current user</a:t>
            </a:r>
            <a:endParaRPr lang="en-GB" altLang="en-US" sz="1600" dirty="0"/>
          </a:p>
          <a:p>
            <a:pPr>
              <a:lnSpc>
                <a:spcPct val="80000"/>
              </a:lnSpc>
              <a:spcBef>
                <a:spcPct val="0"/>
              </a:spcBef>
              <a:spcAft>
                <a:spcPct val="50000"/>
              </a:spcAft>
              <a:buFontTx/>
              <a:buNone/>
            </a:pPr>
            <a:endParaRPr lang="en-GB" altLang="en-US" dirty="0"/>
          </a:p>
          <a:p>
            <a:pPr lvl="2">
              <a:lnSpc>
                <a:spcPct val="80000"/>
              </a:lnSpc>
              <a:buFontTx/>
              <a:buNone/>
            </a:pPr>
            <a:endParaRPr lang="en-US" altLang="en-US" sz="1800" dirty="0"/>
          </a:p>
        </p:txBody>
      </p:sp>
    </p:spTree>
    <p:extLst>
      <p:ext uri="{BB962C8B-B14F-4D97-AF65-F5344CB8AC3E}">
        <p14:creationId xmlns:p14="http://schemas.microsoft.com/office/powerpoint/2010/main" val="8876123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ltLang="en-US"/>
              <a:t>SQL Security Model</a:t>
            </a:r>
          </a:p>
        </p:txBody>
      </p:sp>
      <p:sp>
        <p:nvSpPr>
          <p:cNvPr id="88067" name="Rectangle 3"/>
          <p:cNvSpPr>
            <a:spLocks noGrp="1" noChangeArrowheads="1"/>
          </p:cNvSpPr>
          <p:nvPr>
            <p:ph type="body" idx="1"/>
          </p:nvPr>
        </p:nvSpPr>
        <p:spPr/>
        <p:txBody>
          <a:bodyPr/>
          <a:lstStyle/>
          <a:p>
            <a:r>
              <a:rPr lang="en-US" altLang="en-US"/>
              <a:t>Advantages of views</a:t>
            </a:r>
          </a:p>
          <a:p>
            <a:pPr lvl="1"/>
            <a:r>
              <a:rPr lang="en-GB" altLang="en-US"/>
              <a:t>views are flexible, and allow access control to be defined at a description level appropriate to application</a:t>
            </a:r>
          </a:p>
          <a:p>
            <a:pPr lvl="1"/>
            <a:r>
              <a:rPr lang="en-GB" altLang="en-US"/>
              <a:t>views can enforce context and data-dependent policies</a:t>
            </a:r>
          </a:p>
          <a:p>
            <a:pPr lvl="1"/>
            <a:r>
              <a:rPr lang="en-GB" altLang="en-US"/>
              <a:t>data can easily be reclassified</a:t>
            </a:r>
          </a:p>
          <a:p>
            <a:pPr lvl="2"/>
            <a:endParaRPr lang="en-US" altLang="en-US"/>
          </a:p>
          <a:p>
            <a:pPr lvl="1">
              <a:buFontTx/>
              <a:buNone/>
            </a:pPr>
            <a:endParaRPr lang="en-US" altLang="en-US"/>
          </a:p>
        </p:txBody>
      </p:sp>
    </p:spTree>
    <p:extLst>
      <p:ext uri="{BB962C8B-B14F-4D97-AF65-F5344CB8AC3E}">
        <p14:creationId xmlns:p14="http://schemas.microsoft.com/office/powerpoint/2010/main" val="19634804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ltLang="en-US"/>
              <a:t>SQL Security Model</a:t>
            </a:r>
          </a:p>
        </p:txBody>
      </p:sp>
      <p:sp>
        <p:nvSpPr>
          <p:cNvPr id="57347" name="Rectangle 3"/>
          <p:cNvSpPr>
            <a:spLocks noGrp="1" noChangeArrowheads="1"/>
          </p:cNvSpPr>
          <p:nvPr>
            <p:ph type="body" idx="1"/>
          </p:nvPr>
        </p:nvSpPr>
        <p:spPr/>
        <p:txBody>
          <a:bodyPr/>
          <a:lstStyle/>
          <a:p>
            <a:r>
              <a:rPr lang="en-US" altLang="en-US"/>
              <a:t>Disadvantages of views</a:t>
            </a:r>
          </a:p>
          <a:p>
            <a:pPr lvl="1"/>
            <a:r>
              <a:rPr lang="en-GB" altLang="en-US"/>
              <a:t>access checking may become complex</a:t>
            </a:r>
          </a:p>
          <a:p>
            <a:pPr lvl="1"/>
            <a:r>
              <a:rPr lang="en-GB" altLang="en-US"/>
              <a:t>views need to be checked for correctness (do they properly capture policy?)</a:t>
            </a:r>
          </a:p>
          <a:p>
            <a:pPr lvl="1"/>
            <a:r>
              <a:rPr lang="en-GB" altLang="en-US"/>
              <a:t>completeness and consistency not achieved automatically - views may overlap or miss parts of database</a:t>
            </a:r>
          </a:p>
          <a:p>
            <a:pPr lvl="1"/>
            <a:r>
              <a:rPr lang="en-GB" altLang="en-US"/>
              <a:t>security-relevant part of DBMS may become very large</a:t>
            </a:r>
          </a:p>
          <a:p>
            <a:pPr lvl="2">
              <a:buFontTx/>
              <a:buNone/>
            </a:pPr>
            <a:endParaRPr lang="en-US" altLang="en-US"/>
          </a:p>
        </p:txBody>
      </p:sp>
    </p:spTree>
    <p:extLst>
      <p:ext uri="{BB962C8B-B14F-4D97-AF65-F5344CB8AC3E}">
        <p14:creationId xmlns:p14="http://schemas.microsoft.com/office/powerpoint/2010/main" val="37923973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ltLang="en-US"/>
              <a:t>SQL Security Model</a:t>
            </a:r>
          </a:p>
        </p:txBody>
      </p:sp>
      <p:sp>
        <p:nvSpPr>
          <p:cNvPr id="69635" name="Rectangle 3"/>
          <p:cNvSpPr>
            <a:spLocks noGrp="1" noChangeArrowheads="1"/>
          </p:cNvSpPr>
          <p:nvPr>
            <p:ph type="body" idx="1"/>
          </p:nvPr>
        </p:nvSpPr>
        <p:spPr/>
        <p:txBody>
          <a:bodyPr/>
          <a:lstStyle/>
          <a:p>
            <a:r>
              <a:rPr lang="en-US" altLang="en-US"/>
              <a:t>Inherent weakness of DAC</a:t>
            </a:r>
          </a:p>
          <a:p>
            <a:pPr lvl="1"/>
            <a:r>
              <a:rPr lang="en-US" altLang="en-US"/>
              <a:t>DAC allows subject to be written to any other object which can be written by that subject </a:t>
            </a:r>
          </a:p>
          <a:p>
            <a:pPr lvl="1"/>
            <a:r>
              <a:rPr lang="en-US" altLang="en-US"/>
              <a:t>trojan horses to copy information from one object to another</a:t>
            </a:r>
          </a:p>
        </p:txBody>
      </p:sp>
    </p:spTree>
    <p:extLst>
      <p:ext uri="{BB962C8B-B14F-4D97-AF65-F5344CB8AC3E}">
        <p14:creationId xmlns:p14="http://schemas.microsoft.com/office/powerpoint/2010/main" val="25751854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ltLang="en-US"/>
              <a:t>SQL Security Model</a:t>
            </a:r>
          </a:p>
        </p:txBody>
      </p:sp>
      <p:sp>
        <p:nvSpPr>
          <p:cNvPr id="71683" name="Rectangle 3"/>
          <p:cNvSpPr>
            <a:spLocks noGrp="1" noChangeArrowheads="1"/>
          </p:cNvSpPr>
          <p:nvPr>
            <p:ph type="body" idx="1"/>
          </p:nvPr>
        </p:nvSpPr>
        <p:spPr/>
        <p:txBody>
          <a:bodyPr/>
          <a:lstStyle/>
          <a:p>
            <a:r>
              <a:rPr lang="en-US" altLang="en-US"/>
              <a:t>Mandatory access controls (MAC) </a:t>
            </a:r>
          </a:p>
          <a:p>
            <a:pPr lvl="1"/>
            <a:r>
              <a:rPr lang="en-US" altLang="en-US"/>
              <a:t>no read up, no write down</a:t>
            </a:r>
          </a:p>
          <a:p>
            <a:pPr lvl="1"/>
            <a:r>
              <a:rPr lang="en-US" altLang="en-US"/>
              <a:t>traditional MAC implementations in RDBMS have focused solely on MLS</a:t>
            </a:r>
          </a:p>
          <a:p>
            <a:pPr lvl="1"/>
            <a:r>
              <a:rPr lang="en-US" altLang="en-US"/>
              <a:t>there have been three commercial MLS RDBMS offerings </a:t>
            </a:r>
          </a:p>
          <a:p>
            <a:pPr lvl="2"/>
            <a:r>
              <a:rPr lang="en-US" altLang="en-US"/>
              <a:t>trusted Oracle ,Informix OnLine/Secure, Sybase Secure SQL Server</a:t>
            </a:r>
          </a:p>
          <a:p>
            <a:pPr lvl="1"/>
            <a:endParaRPr lang="en-US" altLang="en-US"/>
          </a:p>
        </p:txBody>
      </p:sp>
    </p:spTree>
    <p:extLst>
      <p:ext uri="{BB962C8B-B14F-4D97-AF65-F5344CB8AC3E}">
        <p14:creationId xmlns:p14="http://schemas.microsoft.com/office/powerpoint/2010/main" val="16605162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r>
              <a:rPr lang="en-US" altLang="en-US"/>
              <a:t>SQL Security Model</a:t>
            </a:r>
          </a:p>
        </p:txBody>
      </p:sp>
      <p:sp>
        <p:nvSpPr>
          <p:cNvPr id="178179" name="Rectangle 3"/>
          <p:cNvSpPr>
            <a:spLocks noGrp="1" noChangeArrowheads="1"/>
          </p:cNvSpPr>
          <p:nvPr>
            <p:ph type="body" idx="1"/>
          </p:nvPr>
        </p:nvSpPr>
        <p:spPr/>
        <p:txBody>
          <a:bodyPr/>
          <a:lstStyle/>
          <a:p>
            <a:r>
              <a:rPr lang="en-US" altLang="en-US"/>
              <a:t>Enforce MAC using security labels  </a:t>
            </a:r>
          </a:p>
          <a:p>
            <a:pPr lvl="1"/>
            <a:r>
              <a:rPr lang="en-US" altLang="en-US"/>
              <a:t>assign security levels to all data </a:t>
            </a:r>
          </a:p>
          <a:p>
            <a:pPr lvl="2"/>
            <a:r>
              <a:rPr lang="en-US" altLang="en-US"/>
              <a:t>label associated with a row</a:t>
            </a:r>
          </a:p>
          <a:p>
            <a:pPr lvl="1"/>
            <a:r>
              <a:rPr lang="en-US" altLang="en-US"/>
              <a:t>assign a security clearance to each users</a:t>
            </a:r>
          </a:p>
          <a:p>
            <a:pPr lvl="2"/>
            <a:r>
              <a:rPr lang="en-US" altLang="en-US"/>
              <a:t>label associated with the user </a:t>
            </a:r>
          </a:p>
          <a:p>
            <a:pPr lvl="1"/>
            <a:r>
              <a:rPr lang="en-US" altLang="en-US"/>
              <a:t>DBMS enforces MAC</a:t>
            </a:r>
          </a:p>
          <a:p>
            <a:pPr lvl="2"/>
            <a:r>
              <a:rPr lang="en-US" altLang="en-US"/>
              <a:t>access to a row based upon </a:t>
            </a:r>
          </a:p>
          <a:p>
            <a:pPr lvl="3">
              <a:buFontTx/>
              <a:buChar char="–"/>
            </a:pPr>
            <a:r>
              <a:rPr lang="en-US" altLang="en-US"/>
              <a:t>the label associated with that row and the label associated with the user accessing that row.</a:t>
            </a:r>
          </a:p>
        </p:txBody>
      </p:sp>
    </p:spTree>
    <p:extLst>
      <p:ext uri="{BB962C8B-B14F-4D97-AF65-F5344CB8AC3E}">
        <p14:creationId xmlns:p14="http://schemas.microsoft.com/office/powerpoint/2010/main" val="30286038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lstStyle/>
          <a:p>
            <a:r>
              <a:rPr lang="en-US" altLang="en-US"/>
              <a:t>Case Study</a:t>
            </a:r>
          </a:p>
        </p:txBody>
      </p:sp>
      <p:sp>
        <p:nvSpPr>
          <p:cNvPr id="251907" name="Rectangle 3"/>
          <p:cNvSpPr>
            <a:spLocks noGrp="1" noChangeArrowheads="1"/>
          </p:cNvSpPr>
          <p:nvPr>
            <p:ph type="body" idx="1"/>
          </p:nvPr>
        </p:nvSpPr>
        <p:spPr>
          <a:xfrm>
            <a:off x="1981200" y="1371600"/>
            <a:ext cx="8229600" cy="4419600"/>
          </a:xfrm>
        </p:spPr>
        <p:txBody>
          <a:bodyPr/>
          <a:lstStyle/>
          <a:p>
            <a:pPr lvl="2">
              <a:buFontTx/>
              <a:buNone/>
            </a:pPr>
            <a:endParaRPr lang="en-US" altLang="en-US"/>
          </a:p>
          <a:p>
            <a:pPr lvl="1"/>
            <a:endParaRPr lang="en-US" altLang="en-US"/>
          </a:p>
          <a:p>
            <a:pPr lvl="1"/>
            <a:endParaRPr lang="en-US" altLang="en-US"/>
          </a:p>
        </p:txBody>
      </p:sp>
      <p:graphicFrame>
        <p:nvGraphicFramePr>
          <p:cNvPr id="251908" name="Group 4"/>
          <p:cNvGraphicFramePr>
            <a:graphicFrameLocks noGrp="1"/>
          </p:cNvGraphicFramePr>
          <p:nvPr/>
        </p:nvGraphicFramePr>
        <p:xfrm>
          <a:off x="1752600" y="1143000"/>
          <a:ext cx="8675688" cy="1855788"/>
        </p:xfrm>
        <a:graphic>
          <a:graphicData uri="http://schemas.openxmlformats.org/drawingml/2006/table">
            <a:tbl>
              <a:tblPr/>
              <a:tblGrid>
                <a:gridCol w="1069975"/>
                <a:gridCol w="1035050"/>
                <a:gridCol w="862013"/>
                <a:gridCol w="1627187"/>
                <a:gridCol w="1211263"/>
                <a:gridCol w="1668462"/>
                <a:gridCol w="1201738"/>
              </a:tblGrid>
              <a:tr h="427038">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000" b="1" i="0" u="none" strike="noStrike" cap="none" normalizeH="0" baseline="0" smtClean="0">
                          <a:ln>
                            <a:noFill/>
                          </a:ln>
                          <a:solidFill>
                            <a:srgbClr val="000000"/>
                          </a:solidFill>
                          <a:effectLst/>
                          <a:latin typeface="Verdana" panose="020B0604030504040204" pitchFamily="34" charset="0"/>
                          <a:cs typeface="Arial" panose="020B0604020202020204" pitchFamily="34" charset="0"/>
                        </a:rPr>
                        <a:t>RECORDID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000" b="1" i="0" u="none" strike="noStrike" cap="none" normalizeH="0" baseline="0" smtClean="0">
                          <a:ln>
                            <a:noFill/>
                          </a:ln>
                          <a:solidFill>
                            <a:srgbClr val="000000"/>
                          </a:solidFill>
                          <a:effectLst/>
                          <a:latin typeface="Verdana" panose="020B0604030504040204" pitchFamily="34" charset="0"/>
                          <a:cs typeface="Arial" panose="020B0604020202020204" pitchFamily="34" charset="0"/>
                        </a:rPr>
                        <a:t>CLIENTNO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000" b="1" i="0" u="none" strike="noStrike" cap="none" normalizeH="0" baseline="0" smtClean="0">
                          <a:ln>
                            <a:noFill/>
                          </a:ln>
                          <a:solidFill>
                            <a:srgbClr val="000000"/>
                          </a:solidFill>
                          <a:effectLst/>
                          <a:latin typeface="Verdana" panose="020B0604030504040204" pitchFamily="34" charset="0"/>
                          <a:cs typeface="Arial" panose="020B0604020202020204" pitchFamily="34" charset="0"/>
                        </a:rPr>
                        <a:t>DEPTNO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000" b="1" i="0" u="none" strike="noStrike" cap="none" normalizeH="0" baseline="0" smtClean="0">
                          <a:ln>
                            <a:noFill/>
                          </a:ln>
                          <a:solidFill>
                            <a:srgbClr val="000000"/>
                          </a:solidFill>
                          <a:effectLst/>
                          <a:latin typeface="Verdana" panose="020B0604030504040204" pitchFamily="34" charset="0"/>
                          <a:cs typeface="Arial" panose="020B0604020202020204" pitchFamily="34" charset="0"/>
                        </a:rPr>
                        <a:t>ALLOCATION_DATE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000" b="1" i="0" u="none" strike="noStrike" cap="none" normalizeH="0" baseline="0" smtClean="0">
                          <a:ln>
                            <a:noFill/>
                          </a:ln>
                          <a:solidFill>
                            <a:srgbClr val="000000"/>
                          </a:solidFill>
                          <a:effectLst/>
                          <a:latin typeface="Verdana" panose="020B0604030504040204" pitchFamily="34" charset="0"/>
                          <a:cs typeface="Arial" panose="020B0604020202020204" pitchFamily="34" charset="0"/>
                        </a:rPr>
                        <a:t>LAST_UPDATE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000" b="1" i="0" u="none" strike="noStrike" cap="none" normalizeH="0" baseline="0" smtClean="0">
                          <a:ln>
                            <a:noFill/>
                          </a:ln>
                          <a:solidFill>
                            <a:srgbClr val="CC3300"/>
                          </a:solidFill>
                          <a:effectLst/>
                          <a:latin typeface="Verdana" panose="020B0604030504040204" pitchFamily="34" charset="0"/>
                          <a:cs typeface="Arial" panose="020B0604020202020204" pitchFamily="34" charset="0"/>
                        </a:rPr>
                        <a:t>MEDICAL_HISTORY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000" b="1" i="0" u="none" strike="noStrike" cap="none" normalizeH="0" baseline="0" smtClean="0">
                          <a:ln>
                            <a:noFill/>
                          </a:ln>
                          <a:solidFill>
                            <a:srgbClr val="000000"/>
                          </a:solidFill>
                          <a:effectLst/>
                          <a:latin typeface="Verdana" panose="020B0604030504040204" pitchFamily="34" charset="0"/>
                          <a:cs typeface="Arial" panose="020B0604020202020204" pitchFamily="34" charset="0"/>
                        </a:rPr>
                        <a:t>RISK_FACTOR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0838">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0010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00"/>
                          </a:solidFill>
                          <a:effectLst/>
                          <a:latin typeface="Lucida Sans Unicode" panose="020B0602030504020204" pitchFamily="34" charset="0"/>
                          <a:ea typeface="Lucida Sans Unicode" panose="020B0602030504020204" pitchFamily="34" charset="0"/>
                          <a:cs typeface="Lucida Sans Unicode" panose="020B0602030504020204" pitchFamily="34" charset="0"/>
                        </a:rPr>
                        <a:t>K108341</a:t>
                      </a: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K01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2006/01/05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2006/02/05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CC3300"/>
                          </a:solidFill>
                          <a:effectLst/>
                          <a:latin typeface="Lucida Sans Unicode" panose="020B0602030504020204" pitchFamily="34" charset="0"/>
                          <a:ea typeface="Lucida Sans Unicode" panose="020B0602030504020204" pitchFamily="34" charset="0"/>
                          <a:cs typeface="Lucida Sans Unicode" panose="020B0602030504020204" pitchFamily="34" charset="0"/>
                        </a:rPr>
                        <a:t>Diabetes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0838">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0020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00"/>
                          </a:solidFill>
                          <a:effectLst/>
                          <a:latin typeface="Lucida Sans Unicode" panose="020B0602030504020204" pitchFamily="34" charset="0"/>
                          <a:ea typeface="Lucida Sans Unicode" panose="020B0602030504020204" pitchFamily="34" charset="0"/>
                          <a:cs typeface="Lucida Sans Unicode" panose="020B0602030504020204" pitchFamily="34" charset="0"/>
                        </a:rPr>
                        <a:t>K104546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K01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2006/10/20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2006/11/05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CC3300"/>
                          </a:solidFill>
                          <a:effectLst/>
                          <a:latin typeface="Lucida Sans Unicode" panose="020B0602030504020204" pitchFamily="34" charset="0"/>
                          <a:ea typeface="Lucida Sans Unicode" panose="020B0602030504020204" pitchFamily="34" charset="0"/>
                          <a:cs typeface="Lucida Sans Unicode" panose="020B0602030504020204" pitchFamily="34" charset="0"/>
                        </a:rPr>
                        <a:t>Arthritis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6238">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0030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00"/>
                          </a:solidFill>
                          <a:effectLst/>
                          <a:latin typeface="Lucida Sans Unicode" panose="020B0602030504020204" pitchFamily="34" charset="0"/>
                          <a:ea typeface="Lucida Sans Unicode" panose="020B0602030504020204" pitchFamily="34" charset="0"/>
                          <a:cs typeface="Lucida Sans Unicode" panose="020B0602030504020204" pitchFamily="34" charset="0"/>
                        </a:rPr>
                        <a:t>S245987</a:t>
                      </a: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S02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2006/09/01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2006/10/05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CC3300"/>
                          </a:solidFill>
                          <a:effectLst/>
                          <a:latin typeface="Lucida Sans Unicode" panose="020B0602030504020204" pitchFamily="34" charset="0"/>
                          <a:ea typeface="Lucida Sans Unicode" panose="020B0602030504020204" pitchFamily="34" charset="0"/>
                          <a:cs typeface="Lucida Sans Unicode" panose="020B0602030504020204" pitchFamily="34" charset="0"/>
                        </a:rPr>
                        <a:t>High Blood Pressure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50838">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0040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00"/>
                          </a:solidFill>
                          <a:effectLst/>
                          <a:latin typeface="Lucida Sans Unicode" panose="020B0602030504020204" pitchFamily="34" charset="0"/>
                          <a:ea typeface="Lucida Sans Unicode" panose="020B0602030504020204" pitchFamily="34" charset="0"/>
                          <a:cs typeface="Lucida Sans Unicode" panose="020B0602030504020204" pitchFamily="34" charset="0"/>
                        </a:rPr>
                        <a:t>S245456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S02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2006/06/26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2006/07/05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CC3300"/>
                          </a:solidFill>
                          <a:effectLst/>
                          <a:latin typeface="Lucida Sans Unicode" panose="020B0602030504020204" pitchFamily="34" charset="0"/>
                          <a:ea typeface="Lucida Sans Unicode" panose="020B0602030504020204" pitchFamily="34" charset="0"/>
                          <a:cs typeface="Lucida Sans Unicode" panose="020B0602030504020204" pitchFamily="34" charset="0"/>
                        </a:rPr>
                        <a:t>Asthma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51958" name="Rectangle 54"/>
          <p:cNvSpPr>
            <a:spLocks noChangeArrowheads="1"/>
          </p:cNvSpPr>
          <p:nvPr/>
        </p:nvSpPr>
        <p:spPr bwMode="auto">
          <a:xfrm>
            <a:off x="1828800" y="3810001"/>
            <a:ext cx="822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endParaRPr lang="en-US" altLang="en-US">
              <a:solidFill>
                <a:srgbClr val="000066"/>
              </a:solidFill>
            </a:endParaRPr>
          </a:p>
        </p:txBody>
      </p:sp>
      <p:sp>
        <p:nvSpPr>
          <p:cNvPr id="251959" name="Rectangle 55"/>
          <p:cNvSpPr>
            <a:spLocks noChangeArrowheads="1"/>
          </p:cNvSpPr>
          <p:nvPr/>
        </p:nvSpPr>
        <p:spPr bwMode="auto">
          <a:xfrm>
            <a:off x="2133600" y="1524000"/>
            <a:ext cx="82296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SzPct val="80000"/>
              <a:buChar char="•"/>
              <a:defRPr sz="28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SzPct val="80000"/>
              <a:buChar char="–"/>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SzPct val="80000"/>
              <a:buChar char="•"/>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marL="2514600" indent="-2286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marL="2971800" indent="-2286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marL="3429000" indent="-2286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marL="3886200" indent="-2286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endParaRPr lang="en-US" altLang="en-US"/>
          </a:p>
          <a:p>
            <a:endParaRPr lang="en-US" altLang="en-US"/>
          </a:p>
          <a:p>
            <a:endParaRPr lang="en-US" altLang="en-US"/>
          </a:p>
          <a:p>
            <a:pPr lvl="1"/>
            <a:r>
              <a:rPr lang="en-US" altLang="en-US"/>
              <a:t>Medical record analyst </a:t>
            </a:r>
          </a:p>
          <a:p>
            <a:pPr lvl="2"/>
            <a:r>
              <a:rPr lang="en-US" altLang="en-US"/>
              <a:t>READ all records</a:t>
            </a:r>
          </a:p>
          <a:p>
            <a:pPr lvl="2"/>
            <a:r>
              <a:rPr lang="en-US" altLang="en-US"/>
              <a:t>WRITE all records</a:t>
            </a:r>
          </a:p>
          <a:p>
            <a:pPr lvl="1"/>
            <a:r>
              <a:rPr lang="en-US" altLang="en-US"/>
              <a:t>Managers</a:t>
            </a:r>
          </a:p>
          <a:p>
            <a:pPr lvl="2"/>
            <a:r>
              <a:rPr lang="en-US" altLang="en-US"/>
              <a:t>READ client records of their department</a:t>
            </a:r>
          </a:p>
          <a:p>
            <a:pPr lvl="2"/>
            <a:r>
              <a:rPr lang="en-US" altLang="en-US"/>
              <a:t>READ only non-confidential columns</a:t>
            </a:r>
          </a:p>
          <a:p>
            <a:pPr lvl="2"/>
            <a:r>
              <a:rPr lang="en-US" altLang="en-US"/>
              <a:t>No WRITE access</a:t>
            </a:r>
          </a:p>
          <a:p>
            <a:pPr lvl="2"/>
            <a:endParaRPr lang="en-US" altLang="en-US"/>
          </a:p>
          <a:p>
            <a:pPr lvl="1"/>
            <a:endParaRPr lang="en-US" altLang="en-US"/>
          </a:p>
          <a:p>
            <a:pPr lvl="1"/>
            <a:endParaRPr lang="en-US" altLang="en-US"/>
          </a:p>
        </p:txBody>
      </p:sp>
    </p:spTree>
    <p:extLst>
      <p:ext uri="{BB962C8B-B14F-4D97-AF65-F5344CB8AC3E}">
        <p14:creationId xmlns:p14="http://schemas.microsoft.com/office/powerpoint/2010/main" val="36945379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lstStyle/>
          <a:p>
            <a:r>
              <a:rPr lang="en-US" altLang="en-US"/>
              <a:t>Case Study</a:t>
            </a:r>
          </a:p>
        </p:txBody>
      </p:sp>
      <p:sp>
        <p:nvSpPr>
          <p:cNvPr id="253955" name="Rectangle 3"/>
          <p:cNvSpPr>
            <a:spLocks noGrp="1" noChangeArrowheads="1"/>
          </p:cNvSpPr>
          <p:nvPr>
            <p:ph type="body" idx="1"/>
          </p:nvPr>
        </p:nvSpPr>
        <p:spPr/>
        <p:txBody>
          <a:bodyPr>
            <a:normAutofit fontScale="92500" lnSpcReduction="10000"/>
          </a:bodyPr>
          <a:lstStyle/>
          <a:p>
            <a:pPr>
              <a:lnSpc>
                <a:spcPct val="80000"/>
              </a:lnSpc>
            </a:pPr>
            <a:endParaRPr lang="en-US" altLang="en-US" sz="2400"/>
          </a:p>
          <a:p>
            <a:pPr>
              <a:lnSpc>
                <a:spcPct val="80000"/>
              </a:lnSpc>
            </a:pPr>
            <a:endParaRPr lang="en-US" altLang="en-US" sz="2400"/>
          </a:p>
          <a:p>
            <a:pPr>
              <a:lnSpc>
                <a:spcPct val="80000"/>
              </a:lnSpc>
            </a:pPr>
            <a:endParaRPr lang="en-US" altLang="en-US" sz="2400"/>
          </a:p>
          <a:p>
            <a:pPr>
              <a:lnSpc>
                <a:spcPct val="80000"/>
              </a:lnSpc>
            </a:pPr>
            <a:endParaRPr lang="en-US" altLang="en-US" sz="2400"/>
          </a:p>
          <a:p>
            <a:pPr>
              <a:lnSpc>
                <a:spcPct val="80000"/>
              </a:lnSpc>
            </a:pPr>
            <a:r>
              <a:rPr lang="en-US" altLang="en-US" sz="2400"/>
              <a:t>Columns </a:t>
            </a:r>
          </a:p>
          <a:p>
            <a:pPr lvl="1">
              <a:lnSpc>
                <a:spcPct val="80000"/>
              </a:lnSpc>
            </a:pPr>
            <a:r>
              <a:rPr lang="en-US" altLang="en-US" sz="2000"/>
              <a:t>medical record analysts have READ/WRITE access to confidential columns</a:t>
            </a:r>
          </a:p>
          <a:p>
            <a:pPr lvl="1">
              <a:lnSpc>
                <a:spcPct val="80000"/>
              </a:lnSpc>
            </a:pPr>
            <a:r>
              <a:rPr lang="en-US" altLang="en-US" sz="2000"/>
              <a:t>managers have READ access to non-confidential columns</a:t>
            </a:r>
          </a:p>
          <a:p>
            <a:pPr>
              <a:lnSpc>
                <a:spcPct val="80000"/>
              </a:lnSpc>
            </a:pPr>
            <a:r>
              <a:rPr lang="en-US" altLang="en-US" sz="2400"/>
              <a:t>Rows: </a:t>
            </a:r>
          </a:p>
          <a:p>
            <a:pPr lvl="1">
              <a:lnSpc>
                <a:spcPct val="80000"/>
              </a:lnSpc>
            </a:pPr>
            <a:r>
              <a:rPr lang="en-US" altLang="en-US" sz="2000"/>
              <a:t>medical record analysts can read and update all the records</a:t>
            </a:r>
          </a:p>
          <a:p>
            <a:pPr lvl="1">
              <a:lnSpc>
                <a:spcPct val="80000"/>
              </a:lnSpc>
            </a:pPr>
            <a:r>
              <a:rPr lang="en-US" altLang="en-US" sz="2000"/>
              <a:t>managers can read but not update client records for their department</a:t>
            </a:r>
          </a:p>
          <a:p>
            <a:pPr>
              <a:lnSpc>
                <a:spcPct val="80000"/>
              </a:lnSpc>
              <a:buFontTx/>
              <a:buNone/>
            </a:pPr>
            <a:endParaRPr lang="en-US" altLang="en-US" sz="2400"/>
          </a:p>
        </p:txBody>
      </p:sp>
      <p:pic>
        <p:nvPicPr>
          <p:cNvPr id="253956" name="Picture 4" descr="Scenario3_figure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1" y="1447801"/>
            <a:ext cx="2733675" cy="1419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48697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a:xfrm>
            <a:off x="1981200" y="304800"/>
            <a:ext cx="8686800" cy="1066800"/>
          </a:xfrm>
        </p:spPr>
        <p:txBody>
          <a:bodyPr/>
          <a:lstStyle/>
          <a:p>
            <a:r>
              <a:rPr lang="en-US" altLang="en-US" sz="4000"/>
              <a:t>Case Study: DAC Solution</a:t>
            </a:r>
          </a:p>
        </p:txBody>
      </p:sp>
      <p:sp>
        <p:nvSpPr>
          <p:cNvPr id="256003" name="Rectangle 3"/>
          <p:cNvSpPr>
            <a:spLocks noGrp="1" noChangeArrowheads="1"/>
          </p:cNvSpPr>
          <p:nvPr>
            <p:ph type="body" idx="1"/>
          </p:nvPr>
        </p:nvSpPr>
        <p:spPr>
          <a:xfrm>
            <a:off x="1905000" y="1828800"/>
            <a:ext cx="8458200" cy="3429000"/>
          </a:xfrm>
        </p:spPr>
        <p:txBody>
          <a:bodyPr/>
          <a:lstStyle/>
          <a:p>
            <a:pPr>
              <a:buFontTx/>
              <a:buNone/>
            </a:pPr>
            <a:r>
              <a:rPr lang="en-US" altLang="en-US"/>
              <a:t>Three approaches used to provide row level security using DAC (Discretionary Access Control)</a:t>
            </a:r>
          </a:p>
          <a:p>
            <a:r>
              <a:rPr lang="en-US" altLang="en-US"/>
              <a:t>application views</a:t>
            </a:r>
          </a:p>
          <a:p>
            <a:r>
              <a:rPr lang="en-US" altLang="en-US"/>
              <a:t>programming logic embedded in the application</a:t>
            </a:r>
          </a:p>
          <a:p>
            <a:r>
              <a:rPr lang="en-US" altLang="en-US"/>
              <a:t>physical separation using one or more databases</a:t>
            </a:r>
          </a:p>
        </p:txBody>
      </p:sp>
    </p:spTree>
    <p:extLst>
      <p:ext uri="{BB962C8B-B14F-4D97-AF65-F5344CB8AC3E}">
        <p14:creationId xmlns:p14="http://schemas.microsoft.com/office/powerpoint/2010/main" val="273950477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p:txBody>
          <a:bodyPr/>
          <a:lstStyle/>
          <a:p>
            <a:r>
              <a:rPr lang="en-US" altLang="en-US"/>
              <a:t>Case Study: DAC Solution</a:t>
            </a:r>
          </a:p>
        </p:txBody>
      </p:sp>
      <p:pic>
        <p:nvPicPr>
          <p:cNvPr id="258051" name="Picture 3"/>
          <p:cNvPicPr>
            <a:picLocks noChangeAspect="1" noChangeArrowheads="1"/>
          </p:cNvPicPr>
          <p:nvPr>
            <p:ph type="chart" sz="half" idx="1"/>
          </p:nvPr>
        </p:nvPicPr>
        <p:blipFill>
          <a:blip r:embed="rId3">
            <a:extLst>
              <a:ext uri="{28A0092B-C50C-407E-A947-70E740481C1C}">
                <a14:useLocalDpi xmlns:a14="http://schemas.microsoft.com/office/drawing/2010/main" val="0"/>
              </a:ext>
            </a:extLst>
          </a:blip>
          <a:srcRect/>
          <a:stretch>
            <a:fillRect/>
          </a:stretch>
        </p:blipFill>
        <p:spPr>
          <a:xfrm>
            <a:off x="1752600" y="1905000"/>
            <a:ext cx="4267200" cy="3886200"/>
          </a:xfrm>
        </p:spPr>
      </p:pic>
      <p:sp>
        <p:nvSpPr>
          <p:cNvPr id="258052" name="Rectangle 4"/>
          <p:cNvSpPr>
            <a:spLocks noGrp="1" noChangeArrowheads="1"/>
          </p:cNvSpPr>
          <p:nvPr>
            <p:ph type="body" sz="half" idx="2"/>
          </p:nvPr>
        </p:nvSpPr>
        <p:spPr>
          <a:xfrm>
            <a:off x="6172200" y="2971800"/>
            <a:ext cx="4038600" cy="1600200"/>
          </a:xfrm>
        </p:spPr>
        <p:txBody>
          <a:bodyPr/>
          <a:lstStyle/>
          <a:p>
            <a:r>
              <a:rPr lang="en-US" altLang="en-US"/>
              <a:t>Application views</a:t>
            </a:r>
          </a:p>
          <a:p>
            <a:pPr lvl="1"/>
            <a:r>
              <a:rPr lang="en-US" altLang="en-US" sz="2000"/>
              <a:t>Widely used approach</a:t>
            </a:r>
          </a:p>
          <a:p>
            <a:pPr lvl="1"/>
            <a:r>
              <a:rPr lang="en-US" altLang="en-US" sz="2000"/>
              <a:t>Views provide the ability to filter data.</a:t>
            </a:r>
          </a:p>
        </p:txBody>
      </p:sp>
    </p:spTree>
    <p:extLst>
      <p:ext uri="{BB962C8B-B14F-4D97-AF65-F5344CB8AC3E}">
        <p14:creationId xmlns:p14="http://schemas.microsoft.com/office/powerpoint/2010/main" val="126673863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title"/>
          </p:nvPr>
        </p:nvSpPr>
        <p:spPr/>
        <p:txBody>
          <a:bodyPr/>
          <a:lstStyle/>
          <a:p>
            <a:r>
              <a:rPr lang="en-US" altLang="en-US"/>
              <a:t>Case Study: DAC Solution</a:t>
            </a:r>
          </a:p>
        </p:txBody>
      </p:sp>
      <p:sp>
        <p:nvSpPr>
          <p:cNvPr id="260099" name="Rectangle 3"/>
          <p:cNvSpPr>
            <a:spLocks noGrp="1" noChangeArrowheads="1"/>
          </p:cNvSpPr>
          <p:nvPr>
            <p:ph type="body" sz="half" idx="1"/>
          </p:nvPr>
        </p:nvSpPr>
        <p:spPr>
          <a:xfrm>
            <a:off x="1828800" y="1600200"/>
            <a:ext cx="8839200" cy="4495800"/>
          </a:xfrm>
        </p:spPr>
        <p:txBody>
          <a:bodyPr>
            <a:normAutofit fontScale="92500" lnSpcReduction="20000"/>
          </a:bodyPr>
          <a:lstStyle/>
          <a:p>
            <a:pPr>
              <a:buFontTx/>
              <a:buNone/>
            </a:pPr>
            <a:r>
              <a:rPr lang="en-US" altLang="en-US" sz="1400">
                <a:latin typeface="Courier" pitchFamily="49" charset="0"/>
              </a:rPr>
              <a:t>Create view </a:t>
            </a:r>
            <a:r>
              <a:rPr lang="en-US" altLang="en-US" sz="1400" b="1">
                <a:latin typeface="Courier" pitchFamily="49" charset="0"/>
              </a:rPr>
              <a:t>manager_K01</a:t>
            </a:r>
            <a:r>
              <a:rPr lang="en-US" altLang="en-US" sz="1400">
                <a:latin typeface="Courier" pitchFamily="49" charset="0"/>
              </a:rPr>
              <a:t> as</a:t>
            </a:r>
          </a:p>
          <a:p>
            <a:pPr>
              <a:buFontTx/>
              <a:buNone/>
            </a:pPr>
            <a:r>
              <a:rPr lang="en-US" altLang="en-US" sz="1400">
                <a:latin typeface="Courier" pitchFamily="49" charset="0"/>
              </a:rPr>
              <a:t>select recordid, clientno, </a:t>
            </a:r>
          </a:p>
          <a:p>
            <a:pPr>
              <a:buFontTx/>
              <a:buNone/>
            </a:pPr>
            <a:r>
              <a:rPr lang="en-US" altLang="en-US" sz="1400">
                <a:latin typeface="Courier" pitchFamily="49" charset="0"/>
              </a:rPr>
              <a:t>		deptno, allocation_date, </a:t>
            </a:r>
          </a:p>
          <a:p>
            <a:pPr>
              <a:buFontTx/>
              <a:buNone/>
            </a:pPr>
            <a:r>
              <a:rPr lang="en-US" altLang="en-US" sz="1400">
                <a:latin typeface="Courier" pitchFamily="49" charset="0"/>
              </a:rPr>
              <a:t>		last_update,risk_factor </a:t>
            </a:r>
          </a:p>
          <a:p>
            <a:pPr>
              <a:buFontTx/>
              <a:buNone/>
            </a:pPr>
            <a:r>
              <a:rPr lang="en-US" altLang="en-US" sz="1400">
                <a:latin typeface="Courier" pitchFamily="49" charset="0"/>
              </a:rPr>
              <a:t>from Med_records </a:t>
            </a:r>
          </a:p>
          <a:p>
            <a:pPr>
              <a:buFontTx/>
              <a:buNone/>
            </a:pPr>
            <a:r>
              <a:rPr lang="en-US" altLang="en-US" sz="1400">
                <a:latin typeface="Courier" pitchFamily="49" charset="0"/>
              </a:rPr>
              <a:t>where Dept = </a:t>
            </a:r>
            <a:r>
              <a:rPr lang="en-US" altLang="en-US" sz="1400"/>
              <a:t>‘</a:t>
            </a:r>
            <a:r>
              <a:rPr lang="en-US" altLang="en-US" sz="1400">
                <a:latin typeface="Courier" pitchFamily="49" charset="0"/>
              </a:rPr>
              <a:t>K01</a:t>
            </a:r>
            <a:r>
              <a:rPr lang="en-US" altLang="en-US" sz="1400"/>
              <a:t>’</a:t>
            </a:r>
            <a:r>
              <a:rPr lang="en-US" altLang="en-US" sz="1400">
                <a:latin typeface="Courier" pitchFamily="49" charset="0"/>
              </a:rPr>
              <a:t>;</a:t>
            </a:r>
          </a:p>
          <a:p>
            <a:pPr>
              <a:buFontTx/>
              <a:buNone/>
            </a:pPr>
            <a:endParaRPr lang="en-US" altLang="en-US" sz="1400">
              <a:latin typeface="Courier" pitchFamily="49" charset="0"/>
            </a:endParaRPr>
          </a:p>
          <a:p>
            <a:pPr>
              <a:buFontTx/>
              <a:buNone/>
            </a:pPr>
            <a:r>
              <a:rPr lang="en-US" altLang="en-US" sz="1400">
                <a:latin typeface="Courier" pitchFamily="49" charset="0"/>
              </a:rPr>
              <a:t>Create view </a:t>
            </a:r>
            <a:r>
              <a:rPr lang="en-US" altLang="en-US" sz="1400" b="1">
                <a:latin typeface="Courier" pitchFamily="49" charset="0"/>
              </a:rPr>
              <a:t>manager_S01</a:t>
            </a:r>
            <a:r>
              <a:rPr lang="en-US" altLang="en-US" sz="1400">
                <a:latin typeface="Courier" pitchFamily="49" charset="0"/>
              </a:rPr>
              <a:t> as</a:t>
            </a:r>
          </a:p>
          <a:p>
            <a:pPr>
              <a:buFontTx/>
              <a:buNone/>
            </a:pPr>
            <a:r>
              <a:rPr lang="en-US" altLang="en-US" sz="1400">
                <a:latin typeface="Courier" pitchFamily="49" charset="0"/>
              </a:rPr>
              <a:t>select recordid, clientno, deptno, </a:t>
            </a:r>
          </a:p>
          <a:p>
            <a:pPr>
              <a:buFontTx/>
              <a:buNone/>
            </a:pPr>
            <a:r>
              <a:rPr lang="en-US" altLang="en-US" sz="1400">
                <a:latin typeface="Courier" pitchFamily="49" charset="0"/>
              </a:rPr>
              <a:t>		allocation_date, last_update, risk_factor </a:t>
            </a:r>
          </a:p>
          <a:p>
            <a:pPr>
              <a:buFontTx/>
              <a:buNone/>
            </a:pPr>
            <a:r>
              <a:rPr lang="en-US" altLang="en-US" sz="1400">
                <a:latin typeface="Courier" pitchFamily="49" charset="0"/>
              </a:rPr>
              <a:t>from Med_records </a:t>
            </a:r>
          </a:p>
          <a:p>
            <a:pPr>
              <a:buFontTx/>
              <a:buNone/>
            </a:pPr>
            <a:r>
              <a:rPr lang="en-US" altLang="en-US" sz="1400">
                <a:latin typeface="Courier" pitchFamily="49" charset="0"/>
              </a:rPr>
              <a:t>where Dept = </a:t>
            </a:r>
            <a:r>
              <a:rPr lang="en-US" altLang="en-US" sz="1400"/>
              <a:t>‘</a:t>
            </a:r>
            <a:r>
              <a:rPr lang="en-US" altLang="en-US" sz="1400">
                <a:latin typeface="Courier" pitchFamily="49" charset="0"/>
              </a:rPr>
              <a:t>S01</a:t>
            </a:r>
            <a:r>
              <a:rPr lang="en-US" altLang="en-US" sz="1400"/>
              <a:t>’</a:t>
            </a:r>
            <a:r>
              <a:rPr lang="en-US" altLang="en-US" sz="1400">
                <a:latin typeface="Courier" pitchFamily="49" charset="0"/>
              </a:rPr>
              <a:t>;</a:t>
            </a:r>
          </a:p>
          <a:p>
            <a:pPr>
              <a:buFontTx/>
              <a:buNone/>
            </a:pPr>
            <a:endParaRPr lang="en-US" altLang="en-US" sz="1400">
              <a:latin typeface="Courier" pitchFamily="49" charset="0"/>
            </a:endParaRPr>
          </a:p>
          <a:p>
            <a:pPr>
              <a:buFontTx/>
              <a:buNone/>
            </a:pPr>
            <a:r>
              <a:rPr lang="en-US" altLang="en-US" sz="1400">
                <a:latin typeface="Courier" pitchFamily="49" charset="0"/>
              </a:rPr>
              <a:t>Create view </a:t>
            </a:r>
            <a:r>
              <a:rPr lang="en-US" altLang="en-US" sz="1400" b="1">
                <a:latin typeface="Courier" pitchFamily="49" charset="0"/>
              </a:rPr>
              <a:t>med_rec_analyst</a:t>
            </a:r>
            <a:r>
              <a:rPr lang="en-US" altLang="en-US" sz="1400">
                <a:latin typeface="Courier" pitchFamily="49" charset="0"/>
              </a:rPr>
              <a:t> as</a:t>
            </a:r>
          </a:p>
          <a:p>
            <a:pPr>
              <a:buFontTx/>
              <a:buNone/>
            </a:pPr>
            <a:r>
              <a:rPr lang="en-US" altLang="en-US" sz="1400">
                <a:latin typeface="Courier" pitchFamily="49" charset="0"/>
              </a:rPr>
              <a:t>select * from Med_records;</a:t>
            </a:r>
          </a:p>
        </p:txBody>
      </p:sp>
    </p:spTree>
    <p:extLst>
      <p:ext uri="{BB962C8B-B14F-4D97-AF65-F5344CB8AC3E}">
        <p14:creationId xmlns:p14="http://schemas.microsoft.com/office/powerpoint/2010/main" val="6076979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noChangeArrowheads="1"/>
          </p:cNvSpPr>
          <p:nvPr>
            <p:ph type="title"/>
          </p:nvPr>
        </p:nvSpPr>
        <p:spPr/>
        <p:txBody>
          <a:bodyPr/>
          <a:lstStyle/>
          <a:p>
            <a:r>
              <a:rPr lang="en-US" altLang="en-US"/>
              <a:t>Case Study: DAC Solution</a:t>
            </a:r>
          </a:p>
        </p:txBody>
      </p:sp>
      <p:sp>
        <p:nvSpPr>
          <p:cNvPr id="262147" name="Rectangle 3"/>
          <p:cNvSpPr>
            <a:spLocks noGrp="1" noChangeArrowheads="1"/>
          </p:cNvSpPr>
          <p:nvPr>
            <p:ph type="body" idx="1"/>
          </p:nvPr>
        </p:nvSpPr>
        <p:spPr/>
        <p:txBody>
          <a:bodyPr/>
          <a:lstStyle/>
          <a:p>
            <a:pPr algn="just"/>
            <a:r>
              <a:rPr lang="en-US" altLang="en-US"/>
              <a:t>Application views</a:t>
            </a:r>
          </a:p>
          <a:p>
            <a:pPr lvl="1" algn="just"/>
            <a:r>
              <a:rPr lang="en-US" altLang="en-US"/>
              <a:t>number of views required is sometimes large as application ages</a:t>
            </a:r>
          </a:p>
          <a:p>
            <a:pPr lvl="1" algn="just"/>
            <a:r>
              <a:rPr lang="en-US" altLang="en-US"/>
              <a:t>directing application users to the correct view becomes management burden</a:t>
            </a:r>
          </a:p>
          <a:p>
            <a:pPr lvl="1" algn="just"/>
            <a:r>
              <a:rPr lang="en-US" altLang="en-US"/>
              <a:t>application complexity tends to increase due to unforeseen security requirements</a:t>
            </a:r>
            <a:endParaRPr lang="en-US" altLang="en-US" sz="2000"/>
          </a:p>
        </p:txBody>
      </p:sp>
    </p:spTree>
    <p:extLst>
      <p:ext uri="{BB962C8B-B14F-4D97-AF65-F5344CB8AC3E}">
        <p14:creationId xmlns:p14="http://schemas.microsoft.com/office/powerpoint/2010/main" val="3514374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noChangeArrowheads="1"/>
          </p:cNvSpPr>
          <p:nvPr>
            <p:ph type="title"/>
          </p:nvPr>
        </p:nvSpPr>
        <p:spPr/>
        <p:txBody>
          <a:bodyPr/>
          <a:lstStyle/>
          <a:p>
            <a:r>
              <a:rPr lang="en-US" altLang="en-US"/>
              <a:t>Case Study: DAC Solution</a:t>
            </a:r>
            <a:endParaRPr lang="en-US" altLang="en-US" b="0">
              <a:latin typeface="Arial" panose="020B0604020202020204" pitchFamily="34" charset="0"/>
            </a:endParaRPr>
          </a:p>
        </p:txBody>
      </p:sp>
      <p:sp>
        <p:nvSpPr>
          <p:cNvPr id="264195" name="Rectangle 3"/>
          <p:cNvSpPr>
            <a:spLocks noGrp="1" noChangeArrowheads="1"/>
          </p:cNvSpPr>
          <p:nvPr>
            <p:ph type="body" sz="half" idx="1"/>
          </p:nvPr>
        </p:nvSpPr>
        <p:spPr>
          <a:xfrm>
            <a:off x="1981200" y="4876800"/>
            <a:ext cx="8229600" cy="990600"/>
          </a:xfrm>
        </p:spPr>
        <p:txBody>
          <a:bodyPr/>
          <a:lstStyle/>
          <a:p>
            <a:pPr algn="just">
              <a:lnSpc>
                <a:spcPct val="90000"/>
              </a:lnSpc>
            </a:pPr>
            <a:r>
              <a:rPr lang="en-US" altLang="en-US" sz="2000" b="1">
                <a:latin typeface="Arial" panose="020B0604020202020204" pitchFamily="34" charset="0"/>
              </a:rPr>
              <a:t>Application Programmatic Logic Approach</a:t>
            </a:r>
            <a:endParaRPr lang="en-US" altLang="en-US" sz="2000"/>
          </a:p>
          <a:p>
            <a:pPr lvl="1" algn="just">
              <a:lnSpc>
                <a:spcPct val="90000"/>
              </a:lnSpc>
            </a:pPr>
            <a:r>
              <a:rPr lang="en-US" altLang="en-US" sz="1800"/>
              <a:t>in this approach, application controls SQL statements outside the application.</a:t>
            </a:r>
          </a:p>
        </p:txBody>
      </p:sp>
      <p:pic>
        <p:nvPicPr>
          <p:cNvPr id="264196" name="Picture 4"/>
          <p:cNvPicPr>
            <a:picLocks noChangeAspect="1" noChangeArrowheads="1"/>
          </p:cNvPicPr>
          <p:nvPr>
            <p:ph type="chart" sz="half" idx="2"/>
          </p:nvPr>
        </p:nvPicPr>
        <p:blipFill>
          <a:blip r:embed="rId3">
            <a:extLst>
              <a:ext uri="{28A0092B-C50C-407E-A947-70E740481C1C}">
                <a14:useLocalDpi xmlns:a14="http://schemas.microsoft.com/office/drawing/2010/main" val="0"/>
              </a:ext>
            </a:extLst>
          </a:blip>
          <a:srcRect/>
          <a:stretch>
            <a:fillRect/>
          </a:stretch>
        </p:blipFill>
        <p:spPr>
          <a:xfrm>
            <a:off x="2438400" y="1828800"/>
            <a:ext cx="7391400" cy="2819400"/>
          </a:xfrm>
        </p:spPr>
      </p:pic>
    </p:spTree>
    <p:extLst>
      <p:ext uri="{BB962C8B-B14F-4D97-AF65-F5344CB8AC3E}">
        <p14:creationId xmlns:p14="http://schemas.microsoft.com/office/powerpoint/2010/main" val="25339548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p:txBody>
          <a:bodyPr/>
          <a:lstStyle/>
          <a:p>
            <a:r>
              <a:rPr lang="en-US" altLang="en-US"/>
              <a:t>Case Study: DAC Solution</a:t>
            </a:r>
          </a:p>
        </p:txBody>
      </p:sp>
      <p:sp>
        <p:nvSpPr>
          <p:cNvPr id="266243" name="Rectangle 3"/>
          <p:cNvSpPr>
            <a:spLocks noGrp="1" noChangeArrowheads="1"/>
          </p:cNvSpPr>
          <p:nvPr>
            <p:ph type="body" idx="1"/>
          </p:nvPr>
        </p:nvSpPr>
        <p:spPr>
          <a:xfrm>
            <a:off x="2133600" y="1524000"/>
            <a:ext cx="7924800" cy="4038600"/>
          </a:xfrm>
        </p:spPr>
        <p:txBody>
          <a:bodyPr/>
          <a:lstStyle/>
          <a:p>
            <a:pPr algn="just"/>
            <a:r>
              <a:rPr lang="en-US" altLang="en-US" sz="2400"/>
              <a:t>Application program logic approach</a:t>
            </a:r>
          </a:p>
          <a:p>
            <a:pPr lvl="1" algn="just"/>
            <a:r>
              <a:rPr lang="en-US" altLang="en-US" sz="2000"/>
              <a:t>SQL statements issued outside the application using utility such as SQL Plus can’t be controlled</a:t>
            </a:r>
          </a:p>
          <a:p>
            <a:pPr lvl="1" algn="just"/>
            <a:r>
              <a:rPr lang="en-US" altLang="en-US" sz="2000"/>
              <a:t>In scenario of application rewriting SQL statements to restrict access based on data sensitivity, typically numerous additional tables must be build</a:t>
            </a:r>
          </a:p>
          <a:p>
            <a:pPr lvl="1" algn="just"/>
            <a:r>
              <a:rPr lang="en-US" altLang="en-US" sz="2000"/>
              <a:t>Those tables need to be maintained to manage information related authorizations of application user</a:t>
            </a:r>
          </a:p>
        </p:txBody>
      </p:sp>
    </p:spTree>
    <p:extLst>
      <p:ext uri="{BB962C8B-B14F-4D97-AF65-F5344CB8AC3E}">
        <p14:creationId xmlns:p14="http://schemas.microsoft.com/office/powerpoint/2010/main" val="14879886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p:txBody>
          <a:bodyPr/>
          <a:lstStyle/>
          <a:p>
            <a:r>
              <a:rPr lang="en-US" altLang="en-US"/>
              <a:t>Case Study: DAC Solution</a:t>
            </a:r>
          </a:p>
        </p:txBody>
      </p:sp>
      <p:pic>
        <p:nvPicPr>
          <p:cNvPr id="268291" name="Picture 3"/>
          <p:cNvPicPr>
            <a:picLocks noChangeAspect="1" noChangeArrowheads="1"/>
          </p:cNvPicPr>
          <p:nvPr>
            <p:ph type="chart" sz="half" idx="1"/>
          </p:nvPr>
        </p:nvPicPr>
        <p:blipFill>
          <a:blip r:embed="rId3">
            <a:extLst>
              <a:ext uri="{28A0092B-C50C-407E-A947-70E740481C1C}">
                <a14:useLocalDpi xmlns:a14="http://schemas.microsoft.com/office/drawing/2010/main" val="0"/>
              </a:ext>
            </a:extLst>
          </a:blip>
          <a:srcRect/>
          <a:stretch>
            <a:fillRect/>
          </a:stretch>
        </p:blipFill>
        <p:spPr>
          <a:xfrm>
            <a:off x="1981200" y="1905001"/>
            <a:ext cx="3810000" cy="2525713"/>
          </a:xfrm>
        </p:spPr>
      </p:pic>
      <p:sp>
        <p:nvSpPr>
          <p:cNvPr id="268292" name="Rectangle 4"/>
          <p:cNvSpPr>
            <a:spLocks noGrp="1" noChangeArrowheads="1"/>
          </p:cNvSpPr>
          <p:nvPr>
            <p:ph type="body" sz="half" idx="2"/>
          </p:nvPr>
        </p:nvSpPr>
        <p:spPr>
          <a:xfrm>
            <a:off x="6096000" y="1371601"/>
            <a:ext cx="4033838" cy="3186113"/>
          </a:xfrm>
        </p:spPr>
        <p:txBody>
          <a:bodyPr/>
          <a:lstStyle/>
          <a:p>
            <a:pPr algn="just">
              <a:lnSpc>
                <a:spcPct val="90000"/>
              </a:lnSpc>
            </a:pPr>
            <a:r>
              <a:rPr lang="en-US" altLang="en-US"/>
              <a:t>Multiple database approach</a:t>
            </a:r>
          </a:p>
          <a:p>
            <a:pPr lvl="1" algn="just">
              <a:lnSpc>
                <a:spcPct val="90000"/>
              </a:lnSpc>
            </a:pPr>
            <a:r>
              <a:rPr lang="en-US" altLang="en-US"/>
              <a:t>No of databases required is equal to the number of data sensitivities.</a:t>
            </a:r>
          </a:p>
          <a:p>
            <a:pPr lvl="1" algn="just">
              <a:lnSpc>
                <a:spcPct val="90000"/>
              </a:lnSpc>
            </a:pPr>
            <a:r>
              <a:rPr lang="en-US" altLang="en-US"/>
              <a:t>data can be protected by using dedicated databases to manage each sensitivity</a:t>
            </a:r>
          </a:p>
          <a:p>
            <a:pPr algn="just">
              <a:lnSpc>
                <a:spcPct val="90000"/>
              </a:lnSpc>
            </a:pPr>
            <a:endParaRPr lang="en-US" altLang="en-US" sz="2000"/>
          </a:p>
        </p:txBody>
      </p:sp>
    </p:spTree>
    <p:extLst>
      <p:ext uri="{BB962C8B-B14F-4D97-AF65-F5344CB8AC3E}">
        <p14:creationId xmlns:p14="http://schemas.microsoft.com/office/powerpoint/2010/main" val="17551783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en-US" altLang="en-US"/>
              <a:t>Case Study: DAC Solution</a:t>
            </a:r>
          </a:p>
        </p:txBody>
      </p:sp>
      <p:sp>
        <p:nvSpPr>
          <p:cNvPr id="270339" name="Rectangle 3"/>
          <p:cNvSpPr>
            <a:spLocks noGrp="1" noChangeArrowheads="1"/>
          </p:cNvSpPr>
          <p:nvPr>
            <p:ph type="body" idx="1"/>
          </p:nvPr>
        </p:nvSpPr>
        <p:spPr/>
        <p:txBody>
          <a:bodyPr/>
          <a:lstStyle/>
          <a:p>
            <a:pPr algn="just">
              <a:lnSpc>
                <a:spcPct val="90000"/>
              </a:lnSpc>
            </a:pPr>
            <a:r>
              <a:rPr lang="en-US" altLang="en-US"/>
              <a:t>Multiple database approach</a:t>
            </a:r>
          </a:p>
          <a:p>
            <a:pPr lvl="1" algn="just">
              <a:lnSpc>
                <a:spcPct val="90000"/>
              </a:lnSpc>
            </a:pPr>
            <a:r>
              <a:rPr lang="en-US" altLang="en-US"/>
              <a:t>number of databases required is equal to the number of data sensitivities</a:t>
            </a:r>
          </a:p>
          <a:p>
            <a:pPr lvl="1" algn="just">
              <a:lnSpc>
                <a:spcPct val="90000"/>
              </a:lnSpc>
            </a:pPr>
            <a:r>
              <a:rPr lang="en-US" altLang="en-US"/>
              <a:t>overhead created by running multiple databases in terms of memory, processing power and physical storage is substantially increased</a:t>
            </a:r>
          </a:p>
          <a:p>
            <a:pPr lvl="1" algn="just">
              <a:lnSpc>
                <a:spcPct val="90000"/>
              </a:lnSpc>
            </a:pPr>
            <a:r>
              <a:rPr lang="en-US" altLang="en-US"/>
              <a:t>cost associated of managing single database is multiplied by number of databases</a:t>
            </a:r>
          </a:p>
          <a:p>
            <a:pPr lvl="1" algn="just">
              <a:lnSpc>
                <a:spcPct val="90000"/>
              </a:lnSpc>
            </a:pPr>
            <a:r>
              <a:rPr lang="en-US" altLang="en-US"/>
              <a:t>viewing information across multiple database requires distributed queries and application logic</a:t>
            </a:r>
          </a:p>
        </p:txBody>
      </p:sp>
    </p:spTree>
    <p:extLst>
      <p:ext uri="{BB962C8B-B14F-4D97-AF65-F5344CB8AC3E}">
        <p14:creationId xmlns:p14="http://schemas.microsoft.com/office/powerpoint/2010/main" val="36267067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p:txBody>
          <a:bodyPr/>
          <a:lstStyle/>
          <a:p>
            <a:r>
              <a:rPr lang="en-US" altLang="en-US"/>
              <a:t>Case Study: MAC Solution</a:t>
            </a:r>
          </a:p>
        </p:txBody>
      </p:sp>
      <p:sp>
        <p:nvSpPr>
          <p:cNvPr id="272387" name="Rectangle 3"/>
          <p:cNvSpPr>
            <a:spLocks noGrp="1" noChangeArrowheads="1"/>
          </p:cNvSpPr>
          <p:nvPr>
            <p:ph type="body" idx="1"/>
          </p:nvPr>
        </p:nvSpPr>
        <p:spPr/>
        <p:txBody>
          <a:bodyPr/>
          <a:lstStyle/>
          <a:p>
            <a:r>
              <a:rPr lang="en-US" altLang="en-US"/>
              <a:t>Designing security solution  </a:t>
            </a:r>
          </a:p>
          <a:p>
            <a:pPr lvl="1"/>
            <a:r>
              <a:rPr lang="en-US" altLang="en-US"/>
              <a:t>row and column security labels that protect the columns and rows</a:t>
            </a:r>
          </a:p>
          <a:p>
            <a:pPr lvl="1"/>
            <a:r>
              <a:rPr lang="en-US" altLang="en-US"/>
              <a:t>user security labels that grant users the appropriate access </a:t>
            </a:r>
          </a:p>
        </p:txBody>
      </p:sp>
    </p:spTree>
    <p:extLst>
      <p:ext uri="{BB962C8B-B14F-4D97-AF65-F5344CB8AC3E}">
        <p14:creationId xmlns:p14="http://schemas.microsoft.com/office/powerpoint/2010/main" val="303252004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p:txBody>
          <a:bodyPr/>
          <a:lstStyle/>
          <a:p>
            <a:r>
              <a:rPr lang="en-US" altLang="en-US"/>
              <a:t>Case Study: MAC Solution</a:t>
            </a:r>
          </a:p>
        </p:txBody>
      </p:sp>
      <p:sp>
        <p:nvSpPr>
          <p:cNvPr id="274435" name="Rectangle 3"/>
          <p:cNvSpPr>
            <a:spLocks noGrp="1" noChangeArrowheads="1"/>
          </p:cNvSpPr>
          <p:nvPr>
            <p:ph type="body" idx="1"/>
          </p:nvPr>
        </p:nvSpPr>
        <p:spPr>
          <a:xfrm>
            <a:off x="2209800" y="1143000"/>
            <a:ext cx="7772400" cy="4953000"/>
          </a:xfrm>
        </p:spPr>
        <p:txBody>
          <a:bodyPr/>
          <a:lstStyle/>
          <a:p>
            <a:pPr lvl="1" algn="just">
              <a:lnSpc>
                <a:spcPct val="90000"/>
              </a:lnSpc>
            </a:pPr>
            <a:r>
              <a:rPr lang="en-US" altLang="en-US" sz="2000"/>
              <a:t>revisit the problem </a:t>
            </a:r>
          </a:p>
          <a:p>
            <a:pPr algn="just">
              <a:lnSpc>
                <a:spcPct val="90000"/>
              </a:lnSpc>
            </a:pPr>
            <a:endParaRPr lang="en-US" altLang="en-US" sz="2200"/>
          </a:p>
          <a:p>
            <a:pPr algn="just">
              <a:lnSpc>
                <a:spcPct val="90000"/>
              </a:lnSpc>
            </a:pPr>
            <a:endParaRPr lang="en-US" altLang="en-US" sz="2200"/>
          </a:p>
          <a:p>
            <a:pPr algn="just">
              <a:lnSpc>
                <a:spcPct val="90000"/>
              </a:lnSpc>
              <a:buFontTx/>
              <a:buNone/>
            </a:pPr>
            <a:endParaRPr lang="en-US" altLang="en-US" sz="2200"/>
          </a:p>
          <a:p>
            <a:pPr lvl="1" algn="just">
              <a:lnSpc>
                <a:spcPct val="90000"/>
              </a:lnSpc>
            </a:pPr>
            <a:endParaRPr lang="en-US" altLang="en-US" sz="2000"/>
          </a:p>
          <a:p>
            <a:pPr lvl="1" algn="just">
              <a:lnSpc>
                <a:spcPct val="90000"/>
              </a:lnSpc>
            </a:pPr>
            <a:r>
              <a:rPr lang="en-US" altLang="en-US" sz="2000"/>
              <a:t>to restrict access to the column that is confidential, apply confidential security label to the column</a:t>
            </a:r>
          </a:p>
          <a:p>
            <a:pPr lvl="1" algn="just">
              <a:lnSpc>
                <a:spcPct val="90000"/>
              </a:lnSpc>
            </a:pPr>
            <a:r>
              <a:rPr lang="en-US" altLang="en-US" sz="2000"/>
              <a:t>to restrict managers' access to only the records for their department, each row can be tagged with a security label that indicates the department. </a:t>
            </a:r>
          </a:p>
          <a:p>
            <a:pPr lvl="1" algn="just">
              <a:lnSpc>
                <a:spcPct val="90000"/>
              </a:lnSpc>
            </a:pPr>
            <a:r>
              <a:rPr lang="en-US" altLang="en-US" sz="2000"/>
              <a:t>write restriction for managers can be implemented by revoking their write privileges. </a:t>
            </a:r>
          </a:p>
        </p:txBody>
      </p:sp>
      <p:graphicFrame>
        <p:nvGraphicFramePr>
          <p:cNvPr id="274436" name="Group 4"/>
          <p:cNvGraphicFramePr>
            <a:graphicFrameLocks noGrp="1"/>
          </p:cNvGraphicFramePr>
          <p:nvPr/>
        </p:nvGraphicFramePr>
        <p:xfrm>
          <a:off x="2667000" y="1676400"/>
          <a:ext cx="7010400" cy="819150"/>
        </p:xfrm>
        <a:graphic>
          <a:graphicData uri="http://schemas.openxmlformats.org/drawingml/2006/table">
            <a:tbl>
              <a:tblPr/>
              <a:tblGrid>
                <a:gridCol w="1635125"/>
                <a:gridCol w="4595813"/>
                <a:gridCol w="779462"/>
              </a:tblGrid>
              <a:tr h="303213">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Position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READ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2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WRITE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7305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0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Medical record analyst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0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ALL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0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ALL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6375">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0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Managers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0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Client records for their department and only non-confidential columns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1" fontAlgn="base" latinLnBrk="0" hangingPunct="1">
                        <a:lnSpc>
                          <a:spcPct val="100000"/>
                        </a:lnSpc>
                        <a:spcBef>
                          <a:spcPct val="20000"/>
                        </a:spcBef>
                        <a:spcAft>
                          <a:spcPct val="0"/>
                        </a:spcAft>
                        <a:buClrTx/>
                        <a:buSzPct val="80000"/>
                        <a:buFontTx/>
                        <a:buNone/>
                        <a:tabLst/>
                      </a:pPr>
                      <a:r>
                        <a:rPr kumimoji="0" lang="en-US" altLang="en-US" sz="1000" b="0" i="0" u="none" strike="noStrike" cap="none" normalizeH="0" baseline="0" smtClean="0">
                          <a:ln>
                            <a:noFill/>
                          </a:ln>
                          <a:solidFill>
                            <a:srgbClr val="000066"/>
                          </a:solidFill>
                          <a:effectLst/>
                          <a:latin typeface="Lucida Sans Unicode" panose="020B0602030504020204" pitchFamily="34" charset="0"/>
                          <a:ea typeface="Lucida Sans Unicode" panose="020B0602030504020204" pitchFamily="34" charset="0"/>
                          <a:cs typeface="Lucida Sans Unicode" panose="020B0602030504020204" pitchFamily="34" charset="0"/>
                        </a:rPr>
                        <a:t>None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36001092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p:txBody>
          <a:bodyPr/>
          <a:lstStyle/>
          <a:p>
            <a:r>
              <a:rPr lang="en-US" altLang="en-US"/>
              <a:t>Case Study: MAC Solution</a:t>
            </a:r>
          </a:p>
        </p:txBody>
      </p:sp>
      <p:sp>
        <p:nvSpPr>
          <p:cNvPr id="278531" name="Rectangle 3"/>
          <p:cNvSpPr>
            <a:spLocks noGrp="1" noChangeArrowheads="1"/>
          </p:cNvSpPr>
          <p:nvPr>
            <p:ph type="body" sz="half" idx="2"/>
          </p:nvPr>
        </p:nvSpPr>
        <p:spPr>
          <a:xfrm>
            <a:off x="2143126" y="1447800"/>
            <a:ext cx="8067675" cy="4114800"/>
          </a:xfrm>
        </p:spPr>
        <p:txBody>
          <a:bodyPr/>
          <a:lstStyle/>
          <a:p>
            <a:r>
              <a:rPr lang="en-US" altLang="en-US" sz="2400"/>
              <a:t>a column security label. </a:t>
            </a:r>
          </a:p>
          <a:p>
            <a:r>
              <a:rPr lang="en-US" altLang="en-US" sz="2400"/>
              <a:t>four security labels for row protection</a:t>
            </a:r>
          </a:p>
          <a:p>
            <a:r>
              <a:rPr lang="en-US" altLang="en-US" sz="2400"/>
              <a:t>user security label for medical record analysts</a:t>
            </a:r>
          </a:p>
          <a:p>
            <a:r>
              <a:rPr lang="en-US" altLang="en-US" sz="2400"/>
              <a:t>grant security labels to users</a:t>
            </a:r>
          </a:p>
        </p:txBody>
      </p:sp>
    </p:spTree>
    <p:extLst>
      <p:ext uri="{BB962C8B-B14F-4D97-AF65-F5344CB8AC3E}">
        <p14:creationId xmlns:p14="http://schemas.microsoft.com/office/powerpoint/2010/main" val="28194088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altLang="en-US"/>
              <a:t>SQL Security Model</a:t>
            </a:r>
          </a:p>
        </p:txBody>
      </p:sp>
      <p:sp>
        <p:nvSpPr>
          <p:cNvPr id="73731" name="Rectangle 3"/>
          <p:cNvSpPr>
            <a:spLocks noGrp="1" noChangeArrowheads="1"/>
          </p:cNvSpPr>
          <p:nvPr>
            <p:ph type="body" idx="1"/>
          </p:nvPr>
        </p:nvSpPr>
        <p:spPr/>
        <p:txBody>
          <a:bodyPr/>
          <a:lstStyle/>
          <a:p>
            <a:r>
              <a:rPr lang="en-US" altLang="en-US"/>
              <a:t>Issues with MAC</a:t>
            </a:r>
          </a:p>
          <a:p>
            <a:pPr lvl="1"/>
            <a:r>
              <a:rPr lang="en-US" altLang="en-US"/>
              <a:t>information tends to becomes over classified</a:t>
            </a:r>
          </a:p>
          <a:p>
            <a:pPr lvl="1"/>
            <a:r>
              <a:rPr lang="en-US" altLang="en-US"/>
              <a:t>no protection against violations that produce illegal information flow through indirect means </a:t>
            </a:r>
          </a:p>
          <a:p>
            <a:pPr lvl="2"/>
            <a:r>
              <a:rPr lang="en-US" altLang="en-US" b="1"/>
              <a:t>inference Channels</a:t>
            </a:r>
            <a:r>
              <a:rPr lang="en-US" altLang="en-US"/>
              <a:t> - A user at a low security class uses the low data to infer information about high security class </a:t>
            </a:r>
          </a:p>
          <a:p>
            <a:pPr lvl="2"/>
            <a:r>
              <a:rPr lang="en-US" altLang="en-US" b="1"/>
              <a:t>covert channels -</a:t>
            </a:r>
            <a:r>
              <a:rPr lang="en-US" altLang="en-US"/>
              <a:t> Require two active agents, one at a low level and the other at a high level and an encoding scheme </a:t>
            </a:r>
          </a:p>
        </p:txBody>
      </p:sp>
    </p:spTree>
    <p:extLst>
      <p:ext uri="{BB962C8B-B14F-4D97-AF65-F5344CB8AC3E}">
        <p14:creationId xmlns:p14="http://schemas.microsoft.com/office/powerpoint/2010/main" val="82136713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altLang="en-US"/>
              <a:t>Data Sensitivity</a:t>
            </a:r>
          </a:p>
        </p:txBody>
      </p:sp>
      <p:sp>
        <p:nvSpPr>
          <p:cNvPr id="75779" name="Rectangle 3"/>
          <p:cNvSpPr>
            <a:spLocks noGrp="1" noChangeArrowheads="1"/>
          </p:cNvSpPr>
          <p:nvPr>
            <p:ph type="body" idx="1"/>
          </p:nvPr>
        </p:nvSpPr>
        <p:spPr/>
        <p:txBody>
          <a:bodyPr>
            <a:normAutofit fontScale="92500" lnSpcReduction="20000"/>
          </a:bodyPr>
          <a:lstStyle/>
          <a:p>
            <a:r>
              <a:rPr lang="en-US" altLang="en-US" sz="2400"/>
              <a:t>Sensitive data is data that should </a:t>
            </a:r>
            <a:r>
              <a:rPr lang="en-US" altLang="en-US" sz="2400" i="1"/>
              <a:t>not</a:t>
            </a:r>
            <a:r>
              <a:rPr lang="en-US" altLang="en-US" sz="2400"/>
              <a:t> be made public</a:t>
            </a:r>
          </a:p>
          <a:p>
            <a:r>
              <a:rPr lang="en-US" altLang="en-US" sz="2400"/>
              <a:t>Factors determining sensitivity</a:t>
            </a:r>
          </a:p>
          <a:p>
            <a:pPr lvl="1"/>
            <a:r>
              <a:rPr lang="en-US" altLang="en-US" sz="2000"/>
              <a:t>inherently sensitive: The value itself may be so revealing that it is sensitive </a:t>
            </a:r>
          </a:p>
          <a:p>
            <a:pPr lvl="2"/>
            <a:r>
              <a:rPr lang="en-US" altLang="en-US" sz="1800"/>
              <a:t>locations of defensive missiles</a:t>
            </a:r>
          </a:p>
          <a:p>
            <a:pPr lvl="1"/>
            <a:r>
              <a:rPr lang="en-US" altLang="en-US" sz="2000"/>
              <a:t>from a sensitive source </a:t>
            </a:r>
          </a:p>
          <a:p>
            <a:pPr lvl="2"/>
            <a:r>
              <a:rPr lang="en-US" altLang="en-US" sz="1800"/>
              <a:t>CIA informer whose identity may be compromised</a:t>
            </a:r>
          </a:p>
          <a:p>
            <a:pPr lvl="1"/>
            <a:r>
              <a:rPr lang="en-US" altLang="en-US" sz="2000"/>
              <a:t>part of a sensitive </a:t>
            </a:r>
            <a:r>
              <a:rPr lang="en-US" altLang="en-US" sz="2000" i="1"/>
              <a:t>attribute</a:t>
            </a:r>
            <a:r>
              <a:rPr lang="en-US" altLang="en-US" sz="2000"/>
              <a:t> or a sensitive </a:t>
            </a:r>
            <a:r>
              <a:rPr lang="en-US" altLang="en-US" sz="2000" i="1"/>
              <a:t>record</a:t>
            </a:r>
            <a:r>
              <a:rPr lang="en-US" altLang="en-US" sz="2000"/>
              <a:t> </a:t>
            </a:r>
          </a:p>
          <a:p>
            <a:pPr lvl="2"/>
            <a:r>
              <a:rPr lang="en-US" altLang="en-US" sz="1800"/>
              <a:t>salary attribute from an HR database</a:t>
            </a:r>
          </a:p>
          <a:p>
            <a:pPr lvl="1"/>
            <a:r>
              <a:rPr lang="en-US" altLang="en-US" sz="2000"/>
              <a:t>sensitive </a:t>
            </a:r>
            <a:r>
              <a:rPr lang="en-US" altLang="en-US" sz="2000" i="1"/>
              <a:t>with respect to previously disclosed</a:t>
            </a:r>
            <a:r>
              <a:rPr lang="en-US" altLang="en-US" sz="2000"/>
              <a:t> data</a:t>
            </a:r>
          </a:p>
          <a:p>
            <a:pPr lvl="2"/>
            <a:r>
              <a:rPr lang="en-US" altLang="en-US" sz="1800"/>
              <a:t>longitude of secret army base if latitude is known</a:t>
            </a:r>
          </a:p>
          <a:p>
            <a:pPr lvl="1"/>
            <a:endParaRPr lang="en-US" altLang="en-US" sz="2000" b="1"/>
          </a:p>
          <a:p>
            <a:pPr lvl="1"/>
            <a:endParaRPr lang="en-US" altLang="en-US" sz="2000"/>
          </a:p>
          <a:p>
            <a:endParaRPr lang="en-US" altLang="en-US" sz="2400"/>
          </a:p>
          <a:p>
            <a:endParaRPr lang="en-US" altLang="en-US" sz="2400"/>
          </a:p>
        </p:txBody>
      </p:sp>
    </p:spTree>
    <p:extLst>
      <p:ext uri="{BB962C8B-B14F-4D97-AF65-F5344CB8AC3E}">
        <p14:creationId xmlns:p14="http://schemas.microsoft.com/office/powerpoint/2010/main" val="3020319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en-US"/>
              <a:t>Data Sensitivity</a:t>
            </a:r>
          </a:p>
        </p:txBody>
      </p:sp>
      <p:sp>
        <p:nvSpPr>
          <p:cNvPr id="77827" name="Rectangle 3"/>
          <p:cNvSpPr>
            <a:spLocks noGrp="1" noChangeArrowheads="1"/>
          </p:cNvSpPr>
          <p:nvPr>
            <p:ph type="body" idx="1"/>
          </p:nvPr>
        </p:nvSpPr>
        <p:spPr/>
        <p:txBody>
          <a:bodyPr/>
          <a:lstStyle/>
          <a:p>
            <a:pPr>
              <a:lnSpc>
                <a:spcPct val="90000"/>
              </a:lnSpc>
            </a:pPr>
            <a:r>
              <a:rPr lang="en-US" altLang="en-US"/>
              <a:t>Even metadata (data about data) may be sensitive</a:t>
            </a:r>
          </a:p>
          <a:p>
            <a:pPr lvl="1">
              <a:lnSpc>
                <a:spcPct val="90000"/>
              </a:lnSpc>
            </a:pPr>
            <a:r>
              <a:rPr lang="en-US" altLang="en-US"/>
              <a:t>bounds: indicating that a sensitive value, </a:t>
            </a:r>
            <a:r>
              <a:rPr lang="en-US" altLang="en-US" i="1"/>
              <a:t>y</a:t>
            </a:r>
            <a:r>
              <a:rPr lang="en-US" altLang="en-US"/>
              <a:t>, is between two values, </a:t>
            </a:r>
            <a:r>
              <a:rPr lang="en-US" altLang="en-US" i="1"/>
              <a:t>L</a:t>
            </a:r>
            <a:r>
              <a:rPr lang="en-US" altLang="en-US"/>
              <a:t> and </a:t>
            </a:r>
            <a:r>
              <a:rPr lang="en-US" altLang="en-US" i="1"/>
              <a:t>H</a:t>
            </a:r>
            <a:r>
              <a:rPr lang="en-US" altLang="en-US"/>
              <a:t>. </a:t>
            </a:r>
          </a:p>
          <a:p>
            <a:pPr lvl="1">
              <a:lnSpc>
                <a:spcPct val="90000"/>
              </a:lnSpc>
            </a:pPr>
            <a:r>
              <a:rPr lang="en-US" altLang="en-US"/>
              <a:t>negative Result</a:t>
            </a:r>
            <a:r>
              <a:rPr lang="en-US" altLang="en-US" b="1"/>
              <a:t>: </a:t>
            </a:r>
            <a:r>
              <a:rPr lang="en-US" altLang="en-US"/>
              <a:t>disclosing that </a:t>
            </a:r>
            <a:r>
              <a:rPr lang="en-US" altLang="en-US" i="1"/>
              <a:t>z</a:t>
            </a:r>
            <a:r>
              <a:rPr lang="en-US" altLang="en-US"/>
              <a:t> is </a:t>
            </a:r>
            <a:r>
              <a:rPr lang="en-US" altLang="en-US" i="1"/>
              <a:t>not</a:t>
            </a:r>
            <a:r>
              <a:rPr lang="en-US" altLang="en-US"/>
              <a:t> the value of </a:t>
            </a:r>
            <a:r>
              <a:rPr lang="en-US" altLang="en-US" i="1"/>
              <a:t>y may be sensitive. Especially when z has only small set of possible values</a:t>
            </a:r>
          </a:p>
          <a:p>
            <a:pPr lvl="1">
              <a:lnSpc>
                <a:spcPct val="90000"/>
              </a:lnSpc>
            </a:pPr>
            <a:r>
              <a:rPr lang="en-US" altLang="en-US"/>
              <a:t>existence: existence of data is itself may be sensitive piece of data </a:t>
            </a:r>
          </a:p>
          <a:p>
            <a:pPr lvl="1">
              <a:lnSpc>
                <a:spcPct val="90000"/>
              </a:lnSpc>
            </a:pPr>
            <a:r>
              <a:rPr lang="en-US" altLang="en-US"/>
              <a:t>probable Value: probability that a certain element has a certain value </a:t>
            </a:r>
          </a:p>
          <a:p>
            <a:pPr lvl="2">
              <a:lnSpc>
                <a:spcPct val="90000"/>
              </a:lnSpc>
              <a:buFontTx/>
              <a:buNone/>
            </a:pPr>
            <a:endParaRPr lang="en-US" altLang="en-US"/>
          </a:p>
        </p:txBody>
      </p:sp>
    </p:spTree>
    <p:extLst>
      <p:ext uri="{BB962C8B-B14F-4D97-AF65-F5344CB8AC3E}">
        <p14:creationId xmlns:p14="http://schemas.microsoft.com/office/powerpoint/2010/main" val="133037980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altLang="en-US"/>
              <a:t>Security vs. Precision</a:t>
            </a:r>
          </a:p>
        </p:txBody>
      </p:sp>
      <p:sp>
        <p:nvSpPr>
          <p:cNvPr id="94211" name="Rectangle 3"/>
          <p:cNvSpPr>
            <a:spLocks noGrp="1" noChangeArrowheads="1"/>
          </p:cNvSpPr>
          <p:nvPr>
            <p:ph type="body" idx="1"/>
          </p:nvPr>
        </p:nvSpPr>
        <p:spPr/>
        <p:txBody>
          <a:bodyPr>
            <a:normAutofit lnSpcReduction="10000"/>
          </a:bodyPr>
          <a:lstStyle/>
          <a:p>
            <a:pPr>
              <a:lnSpc>
                <a:spcPct val="80000"/>
              </a:lnSpc>
            </a:pPr>
            <a:r>
              <a:rPr lang="en-US" altLang="en-US" sz="2400"/>
              <a:t>Precision: revealing as much non sensitive data as possible </a:t>
            </a:r>
          </a:p>
          <a:p>
            <a:pPr lvl="1">
              <a:lnSpc>
                <a:spcPct val="80000"/>
              </a:lnSpc>
            </a:pPr>
            <a:r>
              <a:rPr lang="en-US" altLang="en-US" sz="2000"/>
              <a:t>disclose as much data as possible</a:t>
            </a:r>
          </a:p>
          <a:p>
            <a:pPr lvl="1">
              <a:lnSpc>
                <a:spcPct val="80000"/>
              </a:lnSpc>
            </a:pPr>
            <a:r>
              <a:rPr lang="en-US" altLang="en-US" sz="2000"/>
              <a:t>Issue: User may put together pieces of disclosed data and infer other, more deeply hidden, data</a:t>
            </a:r>
          </a:p>
          <a:p>
            <a:pPr>
              <a:lnSpc>
                <a:spcPct val="80000"/>
              </a:lnSpc>
            </a:pPr>
            <a:r>
              <a:rPr lang="en-US" altLang="en-US" sz="2400"/>
              <a:t>Security: reveal only those data that are not sensitive </a:t>
            </a:r>
          </a:p>
          <a:p>
            <a:pPr lvl="1">
              <a:lnSpc>
                <a:spcPct val="80000"/>
              </a:lnSpc>
            </a:pPr>
            <a:r>
              <a:rPr lang="en-US" altLang="en-US" sz="2000"/>
              <a:t>rejecting any query that mentions a sensitive field </a:t>
            </a:r>
          </a:p>
          <a:p>
            <a:pPr lvl="1">
              <a:lnSpc>
                <a:spcPct val="80000"/>
              </a:lnSpc>
            </a:pPr>
            <a:r>
              <a:rPr lang="en-US" altLang="en-US" sz="2000"/>
              <a:t>Issue:  may reject many reasonable and non disclosing queries </a:t>
            </a:r>
          </a:p>
          <a:p>
            <a:pPr lvl="1">
              <a:lnSpc>
                <a:spcPct val="80000"/>
              </a:lnSpc>
            </a:pPr>
            <a:endParaRPr lang="en-US" altLang="en-US" sz="2000"/>
          </a:p>
          <a:p>
            <a:pPr>
              <a:lnSpc>
                <a:spcPct val="80000"/>
              </a:lnSpc>
            </a:pPr>
            <a:r>
              <a:rPr lang="en-US" altLang="en-US" sz="2400"/>
              <a:t>The ideal combination : perfect confidentiality with maximum precision </a:t>
            </a:r>
          </a:p>
          <a:p>
            <a:pPr lvl="1">
              <a:lnSpc>
                <a:spcPct val="80000"/>
              </a:lnSpc>
            </a:pPr>
            <a:r>
              <a:rPr lang="en-US" altLang="en-US" sz="2000"/>
              <a:t>achieving this goal is not easy !</a:t>
            </a:r>
          </a:p>
        </p:txBody>
      </p:sp>
    </p:spTree>
    <p:extLst>
      <p:ext uri="{BB962C8B-B14F-4D97-AF65-F5344CB8AC3E}">
        <p14:creationId xmlns:p14="http://schemas.microsoft.com/office/powerpoint/2010/main" val="292358877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en-US" altLang="en-US"/>
              <a:t>Security vs. Precision</a:t>
            </a:r>
          </a:p>
        </p:txBody>
      </p:sp>
      <p:pic>
        <p:nvPicPr>
          <p:cNvPr id="96266" name="Picture 10" descr="getfile?item=ZWFyOGkvNDVkc3RwL2MwMC9pZzNtM2g1OHBnMWFyLjZnYzBzZmZpaTNnMC8-"/>
          <p:cNvPicPr>
            <a:picLocks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3714750" y="1533525"/>
            <a:ext cx="4762500" cy="42481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91177838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r>
              <a:rPr lang="en-US" altLang="en-US"/>
              <a:t>Statistical Databases</a:t>
            </a:r>
          </a:p>
        </p:txBody>
      </p:sp>
      <p:sp>
        <p:nvSpPr>
          <p:cNvPr id="110595" name="Rectangle 3"/>
          <p:cNvSpPr>
            <a:spLocks noGrp="1" noChangeArrowheads="1"/>
          </p:cNvSpPr>
          <p:nvPr>
            <p:ph type="body" idx="1"/>
          </p:nvPr>
        </p:nvSpPr>
        <p:spPr/>
        <p:txBody>
          <a:bodyPr/>
          <a:lstStyle/>
          <a:p>
            <a:r>
              <a:rPr lang="en-US" altLang="en-US"/>
              <a:t>A database limited to statistical measures (primarily counts and sums) </a:t>
            </a:r>
          </a:p>
          <a:p>
            <a:r>
              <a:rPr lang="en-US" altLang="en-US"/>
              <a:t>Example: medical record database where researchers access only statistical measures</a:t>
            </a:r>
          </a:p>
          <a:p>
            <a:r>
              <a:rPr lang="en-GB" altLang="en-US"/>
              <a:t>In a statistical database, information retrieved by means of statistical (aggregate) queries on an attribute</a:t>
            </a:r>
          </a:p>
          <a:p>
            <a:pPr lvl="2">
              <a:buFontTx/>
              <a:buNone/>
            </a:pPr>
            <a:endParaRPr lang="en-US" altLang="en-US"/>
          </a:p>
        </p:txBody>
      </p:sp>
    </p:spTree>
    <p:extLst>
      <p:ext uri="{BB962C8B-B14F-4D97-AF65-F5344CB8AC3E}">
        <p14:creationId xmlns:p14="http://schemas.microsoft.com/office/powerpoint/2010/main" val="55660197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ltLang="en-US"/>
              <a:t>Inference</a:t>
            </a:r>
          </a:p>
        </p:txBody>
      </p:sp>
      <p:sp>
        <p:nvSpPr>
          <p:cNvPr id="100355" name="Rectangle 3"/>
          <p:cNvSpPr>
            <a:spLocks noGrp="1" noChangeArrowheads="1"/>
          </p:cNvSpPr>
          <p:nvPr>
            <p:ph type="body" idx="1"/>
          </p:nvPr>
        </p:nvSpPr>
        <p:spPr/>
        <p:txBody>
          <a:bodyPr/>
          <a:lstStyle/>
          <a:p>
            <a:r>
              <a:rPr lang="en-US" altLang="en-US"/>
              <a:t>Security issue with statistical databases</a:t>
            </a:r>
          </a:p>
          <a:p>
            <a:r>
              <a:rPr lang="en-US" altLang="en-US"/>
              <a:t>Inference problem exists when sensitive data can be deduced from non sensitive data</a:t>
            </a:r>
          </a:p>
          <a:p>
            <a:pPr lvl="1"/>
            <a:r>
              <a:rPr lang="en-US" altLang="en-US"/>
              <a:t>attacker combines information from outside the database with database responses </a:t>
            </a:r>
          </a:p>
          <a:p>
            <a:pPr lvl="1">
              <a:buFontTx/>
              <a:buNone/>
            </a:pPr>
            <a:endParaRPr lang="en-US" altLang="en-US"/>
          </a:p>
          <a:p>
            <a:endParaRPr lang="en-US" altLang="en-US"/>
          </a:p>
        </p:txBody>
      </p:sp>
    </p:spTree>
    <p:extLst>
      <p:ext uri="{BB962C8B-B14F-4D97-AF65-F5344CB8AC3E}">
        <p14:creationId xmlns:p14="http://schemas.microsoft.com/office/powerpoint/2010/main" val="325284553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ltLang="en-US"/>
              <a:t>Inference</a:t>
            </a:r>
          </a:p>
        </p:txBody>
      </p:sp>
      <p:sp>
        <p:nvSpPr>
          <p:cNvPr id="102403" name="Rectangle 3"/>
          <p:cNvSpPr>
            <a:spLocks noGrp="1" noChangeArrowheads="1"/>
          </p:cNvSpPr>
          <p:nvPr>
            <p:ph type="body" idx="1"/>
          </p:nvPr>
        </p:nvSpPr>
        <p:spPr/>
        <p:txBody>
          <a:bodyPr/>
          <a:lstStyle/>
          <a:p>
            <a:r>
              <a:rPr lang="en-US" altLang="en-US"/>
              <a:t>Sensitive fields exist in database </a:t>
            </a:r>
          </a:p>
          <a:p>
            <a:r>
              <a:rPr lang="en-US" altLang="en-US"/>
              <a:t>Only when viewed row wise</a:t>
            </a:r>
          </a:p>
          <a:p>
            <a:r>
              <a:rPr lang="en-US" altLang="en-US"/>
              <a:t>DBA must not allow names to be associated with sensitive attributes</a:t>
            </a:r>
          </a:p>
          <a:p>
            <a:r>
              <a:rPr lang="en-US" altLang="en-US"/>
              <a:t>“</a:t>
            </a:r>
            <a:r>
              <a:rPr lang="en-US" altLang="en-US" i="1"/>
              <a:t>n</a:t>
            </a:r>
            <a:r>
              <a:rPr lang="en-US" altLang="en-US"/>
              <a:t> items over </a:t>
            </a:r>
            <a:r>
              <a:rPr lang="en-US" altLang="en-US" i="1"/>
              <a:t>k</a:t>
            </a:r>
            <a:r>
              <a:rPr lang="en-US" altLang="en-US"/>
              <a:t> percent” rule (do not respond if </a:t>
            </a:r>
            <a:r>
              <a:rPr lang="en-US" altLang="en-US" i="1"/>
              <a:t>n</a:t>
            </a:r>
            <a:r>
              <a:rPr lang="en-US" altLang="en-US"/>
              <a:t> items represents over </a:t>
            </a:r>
            <a:r>
              <a:rPr lang="en-US" altLang="en-US" i="1"/>
              <a:t>k</a:t>
            </a:r>
            <a:r>
              <a:rPr lang="en-US" altLang="en-US"/>
              <a:t>% of the result)</a:t>
            </a:r>
          </a:p>
          <a:p>
            <a:pPr lvl="2"/>
            <a:endParaRPr lang="en-US" altLang="en-US"/>
          </a:p>
        </p:txBody>
      </p:sp>
    </p:spTree>
    <p:extLst>
      <p:ext uri="{BB962C8B-B14F-4D97-AF65-F5344CB8AC3E}">
        <p14:creationId xmlns:p14="http://schemas.microsoft.com/office/powerpoint/2010/main" val="38115533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r>
              <a:rPr lang="en-US" altLang="en-US"/>
              <a:t>Inference</a:t>
            </a:r>
          </a:p>
        </p:txBody>
      </p:sp>
      <p:grpSp>
        <p:nvGrpSpPr>
          <p:cNvPr id="112841" name="Group 201"/>
          <p:cNvGrpSpPr>
            <a:grpSpLocks/>
          </p:cNvGrpSpPr>
          <p:nvPr/>
        </p:nvGrpSpPr>
        <p:grpSpPr bwMode="auto">
          <a:xfrm>
            <a:off x="2667001" y="1828800"/>
            <a:ext cx="7616825" cy="1587500"/>
            <a:chOff x="-3" y="-3"/>
            <a:chExt cx="4508" cy="2481"/>
          </a:xfrm>
        </p:grpSpPr>
        <p:grpSp>
          <p:nvGrpSpPr>
            <p:cNvPr id="112842" name="Group 202"/>
            <p:cNvGrpSpPr>
              <a:grpSpLocks/>
            </p:cNvGrpSpPr>
            <p:nvPr/>
          </p:nvGrpSpPr>
          <p:grpSpPr bwMode="auto">
            <a:xfrm>
              <a:off x="0" y="0"/>
              <a:ext cx="4502" cy="2475"/>
              <a:chOff x="0" y="0"/>
              <a:chExt cx="4502" cy="2475"/>
            </a:xfrm>
          </p:grpSpPr>
          <p:grpSp>
            <p:nvGrpSpPr>
              <p:cNvPr id="112843" name="Group 203"/>
              <p:cNvGrpSpPr>
                <a:grpSpLocks/>
              </p:cNvGrpSpPr>
              <p:nvPr/>
            </p:nvGrpSpPr>
            <p:grpSpPr bwMode="auto">
              <a:xfrm>
                <a:off x="0" y="0"/>
                <a:ext cx="529" cy="403"/>
                <a:chOff x="0" y="0"/>
                <a:chExt cx="529" cy="403"/>
              </a:xfrm>
            </p:grpSpPr>
            <p:sp>
              <p:nvSpPr>
                <p:cNvPr id="112844" name="Rectangle 204"/>
                <p:cNvSpPr>
                  <a:spLocks noChangeArrowheads="1"/>
                </p:cNvSpPr>
                <p:nvPr/>
              </p:nvSpPr>
              <p:spPr bwMode="auto">
                <a:xfrm>
                  <a:off x="43" y="0"/>
                  <a:ext cx="44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SSN</a:t>
                  </a:r>
                </a:p>
                <a:p>
                  <a:pPr eaLnBrk="0" hangingPunct="0"/>
                  <a:endParaRPr lang="en-US" altLang="en-US" sz="2400" b="1">
                    <a:latin typeface="Times New Roman" panose="02020603050405020304" pitchFamily="18" charset="0"/>
                  </a:endParaRPr>
                </a:p>
              </p:txBody>
            </p:sp>
            <p:sp>
              <p:nvSpPr>
                <p:cNvPr id="112845" name="Rectangle 205"/>
                <p:cNvSpPr>
                  <a:spLocks noChangeArrowheads="1"/>
                </p:cNvSpPr>
                <p:nvPr/>
              </p:nvSpPr>
              <p:spPr bwMode="auto">
                <a:xfrm>
                  <a:off x="0" y="0"/>
                  <a:ext cx="52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46" name="Group 206"/>
              <p:cNvGrpSpPr>
                <a:grpSpLocks/>
              </p:cNvGrpSpPr>
              <p:nvPr/>
            </p:nvGrpSpPr>
            <p:grpSpPr bwMode="auto">
              <a:xfrm>
                <a:off x="529" y="0"/>
                <a:ext cx="529" cy="403"/>
                <a:chOff x="529" y="0"/>
                <a:chExt cx="529" cy="403"/>
              </a:xfrm>
            </p:grpSpPr>
            <p:sp>
              <p:nvSpPr>
                <p:cNvPr id="112847" name="Rectangle 207"/>
                <p:cNvSpPr>
                  <a:spLocks noChangeArrowheads="1"/>
                </p:cNvSpPr>
                <p:nvPr/>
              </p:nvSpPr>
              <p:spPr bwMode="auto">
                <a:xfrm>
                  <a:off x="572" y="0"/>
                  <a:ext cx="44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Name</a:t>
                  </a:r>
                </a:p>
                <a:p>
                  <a:pPr eaLnBrk="0" hangingPunct="0"/>
                  <a:endParaRPr lang="en-US" altLang="en-US" sz="2400" b="1">
                    <a:latin typeface="Times New Roman" panose="02020603050405020304" pitchFamily="18" charset="0"/>
                  </a:endParaRPr>
                </a:p>
              </p:txBody>
            </p:sp>
            <p:sp>
              <p:nvSpPr>
                <p:cNvPr id="112848" name="Rectangle 208"/>
                <p:cNvSpPr>
                  <a:spLocks noChangeArrowheads="1"/>
                </p:cNvSpPr>
                <p:nvPr/>
              </p:nvSpPr>
              <p:spPr bwMode="auto">
                <a:xfrm>
                  <a:off x="529" y="0"/>
                  <a:ext cx="52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49" name="Group 209"/>
              <p:cNvGrpSpPr>
                <a:grpSpLocks/>
              </p:cNvGrpSpPr>
              <p:nvPr/>
            </p:nvGrpSpPr>
            <p:grpSpPr bwMode="auto">
              <a:xfrm>
                <a:off x="1058" y="0"/>
                <a:ext cx="529" cy="403"/>
                <a:chOff x="1058" y="0"/>
                <a:chExt cx="529" cy="403"/>
              </a:xfrm>
            </p:grpSpPr>
            <p:sp>
              <p:nvSpPr>
                <p:cNvPr id="112850" name="Rectangle 210"/>
                <p:cNvSpPr>
                  <a:spLocks noChangeArrowheads="1"/>
                </p:cNvSpPr>
                <p:nvPr/>
              </p:nvSpPr>
              <p:spPr bwMode="auto">
                <a:xfrm>
                  <a:off x="1101" y="0"/>
                  <a:ext cx="44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Race </a:t>
                  </a:r>
                </a:p>
                <a:p>
                  <a:pPr eaLnBrk="0" hangingPunct="0"/>
                  <a:endParaRPr lang="en-US" altLang="en-US" sz="2400" b="1">
                    <a:latin typeface="Times New Roman" panose="02020603050405020304" pitchFamily="18" charset="0"/>
                  </a:endParaRPr>
                </a:p>
              </p:txBody>
            </p:sp>
            <p:sp>
              <p:nvSpPr>
                <p:cNvPr id="112851" name="Rectangle 211"/>
                <p:cNvSpPr>
                  <a:spLocks noChangeArrowheads="1"/>
                </p:cNvSpPr>
                <p:nvPr/>
              </p:nvSpPr>
              <p:spPr bwMode="auto">
                <a:xfrm>
                  <a:off x="1058" y="0"/>
                  <a:ext cx="52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52" name="Group 212"/>
              <p:cNvGrpSpPr>
                <a:grpSpLocks/>
              </p:cNvGrpSpPr>
              <p:nvPr/>
            </p:nvGrpSpPr>
            <p:grpSpPr bwMode="auto">
              <a:xfrm>
                <a:off x="1587" y="0"/>
                <a:ext cx="529" cy="403"/>
                <a:chOff x="1587" y="0"/>
                <a:chExt cx="529" cy="403"/>
              </a:xfrm>
            </p:grpSpPr>
            <p:sp>
              <p:nvSpPr>
                <p:cNvPr id="112853" name="Rectangle 213"/>
                <p:cNvSpPr>
                  <a:spLocks noChangeArrowheads="1"/>
                </p:cNvSpPr>
                <p:nvPr/>
              </p:nvSpPr>
              <p:spPr bwMode="auto">
                <a:xfrm>
                  <a:off x="1630" y="0"/>
                  <a:ext cx="44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DOB</a:t>
                  </a:r>
                </a:p>
                <a:p>
                  <a:pPr eaLnBrk="0" hangingPunct="0"/>
                  <a:endParaRPr lang="en-US" altLang="en-US" sz="2400" b="1">
                    <a:latin typeface="Times New Roman" panose="02020603050405020304" pitchFamily="18" charset="0"/>
                  </a:endParaRPr>
                </a:p>
              </p:txBody>
            </p:sp>
            <p:sp>
              <p:nvSpPr>
                <p:cNvPr id="112854" name="Rectangle 214"/>
                <p:cNvSpPr>
                  <a:spLocks noChangeArrowheads="1"/>
                </p:cNvSpPr>
                <p:nvPr/>
              </p:nvSpPr>
              <p:spPr bwMode="auto">
                <a:xfrm>
                  <a:off x="1587" y="0"/>
                  <a:ext cx="52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55" name="Group 215"/>
              <p:cNvGrpSpPr>
                <a:grpSpLocks/>
              </p:cNvGrpSpPr>
              <p:nvPr/>
            </p:nvGrpSpPr>
            <p:grpSpPr bwMode="auto">
              <a:xfrm>
                <a:off x="2116" y="0"/>
                <a:ext cx="529" cy="403"/>
                <a:chOff x="2116" y="0"/>
                <a:chExt cx="529" cy="403"/>
              </a:xfrm>
            </p:grpSpPr>
            <p:sp>
              <p:nvSpPr>
                <p:cNvPr id="112856" name="Rectangle 216"/>
                <p:cNvSpPr>
                  <a:spLocks noChangeArrowheads="1"/>
                </p:cNvSpPr>
                <p:nvPr/>
              </p:nvSpPr>
              <p:spPr bwMode="auto">
                <a:xfrm>
                  <a:off x="2159" y="0"/>
                  <a:ext cx="44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Sex</a:t>
                  </a:r>
                </a:p>
                <a:p>
                  <a:pPr eaLnBrk="0" hangingPunct="0"/>
                  <a:endParaRPr lang="en-US" altLang="en-US" sz="2400" b="1">
                    <a:latin typeface="Times New Roman" panose="02020603050405020304" pitchFamily="18" charset="0"/>
                  </a:endParaRPr>
                </a:p>
              </p:txBody>
            </p:sp>
            <p:sp>
              <p:nvSpPr>
                <p:cNvPr id="112857" name="Rectangle 217"/>
                <p:cNvSpPr>
                  <a:spLocks noChangeArrowheads="1"/>
                </p:cNvSpPr>
                <p:nvPr/>
              </p:nvSpPr>
              <p:spPr bwMode="auto">
                <a:xfrm>
                  <a:off x="2116" y="0"/>
                  <a:ext cx="52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58" name="Group 218"/>
              <p:cNvGrpSpPr>
                <a:grpSpLocks/>
              </p:cNvGrpSpPr>
              <p:nvPr/>
            </p:nvGrpSpPr>
            <p:grpSpPr bwMode="auto">
              <a:xfrm>
                <a:off x="2645" y="0"/>
                <a:ext cx="529" cy="403"/>
                <a:chOff x="2645" y="0"/>
                <a:chExt cx="529" cy="403"/>
              </a:xfrm>
            </p:grpSpPr>
            <p:sp>
              <p:nvSpPr>
                <p:cNvPr id="112859" name="Rectangle 219"/>
                <p:cNvSpPr>
                  <a:spLocks noChangeArrowheads="1"/>
                </p:cNvSpPr>
                <p:nvPr/>
              </p:nvSpPr>
              <p:spPr bwMode="auto">
                <a:xfrm>
                  <a:off x="2688" y="0"/>
                  <a:ext cx="44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Zip</a:t>
                  </a:r>
                </a:p>
                <a:p>
                  <a:pPr eaLnBrk="0" hangingPunct="0"/>
                  <a:endParaRPr lang="en-US" altLang="en-US" sz="2400" b="1">
                    <a:latin typeface="Times New Roman" panose="02020603050405020304" pitchFamily="18" charset="0"/>
                  </a:endParaRPr>
                </a:p>
              </p:txBody>
            </p:sp>
            <p:sp>
              <p:nvSpPr>
                <p:cNvPr id="112860" name="Rectangle 220"/>
                <p:cNvSpPr>
                  <a:spLocks noChangeArrowheads="1"/>
                </p:cNvSpPr>
                <p:nvPr/>
              </p:nvSpPr>
              <p:spPr bwMode="auto">
                <a:xfrm>
                  <a:off x="2645" y="0"/>
                  <a:ext cx="52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61" name="Group 221"/>
              <p:cNvGrpSpPr>
                <a:grpSpLocks/>
              </p:cNvGrpSpPr>
              <p:nvPr/>
            </p:nvGrpSpPr>
            <p:grpSpPr bwMode="auto">
              <a:xfrm>
                <a:off x="3174" y="0"/>
                <a:ext cx="529" cy="403"/>
                <a:chOff x="3174" y="0"/>
                <a:chExt cx="529" cy="403"/>
              </a:xfrm>
            </p:grpSpPr>
            <p:sp>
              <p:nvSpPr>
                <p:cNvPr id="112862" name="Rectangle 222"/>
                <p:cNvSpPr>
                  <a:spLocks noChangeArrowheads="1"/>
                </p:cNvSpPr>
                <p:nvPr/>
              </p:nvSpPr>
              <p:spPr bwMode="auto">
                <a:xfrm>
                  <a:off x="3217" y="0"/>
                  <a:ext cx="44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Marital</a:t>
                  </a:r>
                </a:p>
                <a:p>
                  <a:pPr eaLnBrk="0" hangingPunct="0"/>
                  <a:endParaRPr lang="en-US" altLang="en-US" sz="2400" b="1">
                    <a:latin typeface="Times New Roman" panose="02020603050405020304" pitchFamily="18" charset="0"/>
                  </a:endParaRPr>
                </a:p>
              </p:txBody>
            </p:sp>
            <p:sp>
              <p:nvSpPr>
                <p:cNvPr id="112863" name="Rectangle 223"/>
                <p:cNvSpPr>
                  <a:spLocks noChangeArrowheads="1"/>
                </p:cNvSpPr>
                <p:nvPr/>
              </p:nvSpPr>
              <p:spPr bwMode="auto">
                <a:xfrm>
                  <a:off x="3174" y="0"/>
                  <a:ext cx="52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64" name="Group 224"/>
              <p:cNvGrpSpPr>
                <a:grpSpLocks/>
              </p:cNvGrpSpPr>
              <p:nvPr/>
            </p:nvGrpSpPr>
            <p:grpSpPr bwMode="auto">
              <a:xfrm>
                <a:off x="3703" y="0"/>
                <a:ext cx="799" cy="403"/>
                <a:chOff x="3703" y="0"/>
                <a:chExt cx="799" cy="403"/>
              </a:xfrm>
            </p:grpSpPr>
            <p:sp>
              <p:nvSpPr>
                <p:cNvPr id="112865" name="Rectangle 225"/>
                <p:cNvSpPr>
                  <a:spLocks noChangeArrowheads="1"/>
                </p:cNvSpPr>
                <p:nvPr/>
              </p:nvSpPr>
              <p:spPr bwMode="auto">
                <a:xfrm>
                  <a:off x="3746" y="0"/>
                  <a:ext cx="713"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Heath</a:t>
                  </a:r>
                </a:p>
                <a:p>
                  <a:pPr eaLnBrk="0" hangingPunct="0"/>
                  <a:endParaRPr lang="en-US" altLang="en-US" sz="2400" b="1">
                    <a:latin typeface="Times New Roman" panose="02020603050405020304" pitchFamily="18" charset="0"/>
                  </a:endParaRPr>
                </a:p>
              </p:txBody>
            </p:sp>
            <p:sp>
              <p:nvSpPr>
                <p:cNvPr id="112866" name="Rectangle 226"/>
                <p:cNvSpPr>
                  <a:spLocks noChangeArrowheads="1"/>
                </p:cNvSpPr>
                <p:nvPr/>
              </p:nvSpPr>
              <p:spPr bwMode="auto">
                <a:xfrm>
                  <a:off x="3703" y="0"/>
                  <a:ext cx="799"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67" name="Group 227"/>
              <p:cNvGrpSpPr>
                <a:grpSpLocks/>
              </p:cNvGrpSpPr>
              <p:nvPr/>
            </p:nvGrpSpPr>
            <p:grpSpPr bwMode="auto">
              <a:xfrm>
                <a:off x="0" y="403"/>
                <a:ext cx="529" cy="518"/>
                <a:chOff x="0" y="403"/>
                <a:chExt cx="529" cy="518"/>
              </a:xfrm>
            </p:grpSpPr>
            <p:sp>
              <p:nvSpPr>
                <p:cNvPr id="112868" name="Rectangle 228"/>
                <p:cNvSpPr>
                  <a:spLocks noChangeArrowheads="1"/>
                </p:cNvSpPr>
                <p:nvPr/>
              </p:nvSpPr>
              <p:spPr bwMode="auto">
                <a:xfrm>
                  <a:off x="43" y="403"/>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 </a:t>
                  </a:r>
                </a:p>
                <a:p>
                  <a:pPr eaLnBrk="0" hangingPunct="0"/>
                  <a:endParaRPr lang="en-US" altLang="en-US" sz="2400" b="1">
                    <a:latin typeface="Times New Roman" panose="02020603050405020304" pitchFamily="18" charset="0"/>
                  </a:endParaRPr>
                </a:p>
              </p:txBody>
            </p:sp>
            <p:sp>
              <p:nvSpPr>
                <p:cNvPr id="112869" name="Rectangle 229"/>
                <p:cNvSpPr>
                  <a:spLocks noChangeArrowheads="1"/>
                </p:cNvSpPr>
                <p:nvPr/>
              </p:nvSpPr>
              <p:spPr bwMode="auto">
                <a:xfrm>
                  <a:off x="0" y="403"/>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70" name="Group 230"/>
              <p:cNvGrpSpPr>
                <a:grpSpLocks/>
              </p:cNvGrpSpPr>
              <p:nvPr/>
            </p:nvGrpSpPr>
            <p:grpSpPr bwMode="auto">
              <a:xfrm>
                <a:off x="529" y="403"/>
                <a:ext cx="529" cy="518"/>
                <a:chOff x="529" y="403"/>
                <a:chExt cx="529" cy="518"/>
              </a:xfrm>
            </p:grpSpPr>
            <p:sp>
              <p:nvSpPr>
                <p:cNvPr id="112871" name="Rectangle 231"/>
                <p:cNvSpPr>
                  <a:spLocks noChangeArrowheads="1"/>
                </p:cNvSpPr>
                <p:nvPr/>
              </p:nvSpPr>
              <p:spPr bwMode="auto">
                <a:xfrm>
                  <a:off x="572" y="403"/>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 </a:t>
                  </a:r>
                </a:p>
                <a:p>
                  <a:pPr eaLnBrk="0" hangingPunct="0"/>
                  <a:endParaRPr lang="en-US" altLang="en-US" sz="2400" b="1">
                    <a:latin typeface="Times New Roman" panose="02020603050405020304" pitchFamily="18" charset="0"/>
                  </a:endParaRPr>
                </a:p>
              </p:txBody>
            </p:sp>
            <p:sp>
              <p:nvSpPr>
                <p:cNvPr id="112872" name="Rectangle 232"/>
                <p:cNvSpPr>
                  <a:spLocks noChangeArrowheads="1"/>
                </p:cNvSpPr>
                <p:nvPr/>
              </p:nvSpPr>
              <p:spPr bwMode="auto">
                <a:xfrm>
                  <a:off x="529" y="403"/>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73" name="Group 233"/>
              <p:cNvGrpSpPr>
                <a:grpSpLocks/>
              </p:cNvGrpSpPr>
              <p:nvPr/>
            </p:nvGrpSpPr>
            <p:grpSpPr bwMode="auto">
              <a:xfrm>
                <a:off x="1058" y="403"/>
                <a:ext cx="529" cy="518"/>
                <a:chOff x="1058" y="403"/>
                <a:chExt cx="529" cy="518"/>
              </a:xfrm>
            </p:grpSpPr>
            <p:sp>
              <p:nvSpPr>
                <p:cNvPr id="112874" name="Rectangle 234"/>
                <p:cNvSpPr>
                  <a:spLocks noChangeArrowheads="1"/>
                </p:cNvSpPr>
                <p:nvPr/>
              </p:nvSpPr>
              <p:spPr bwMode="auto">
                <a:xfrm>
                  <a:off x="1101" y="403"/>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Asian</a:t>
                  </a:r>
                </a:p>
                <a:p>
                  <a:pPr eaLnBrk="0" hangingPunct="0"/>
                  <a:endParaRPr lang="en-US" altLang="en-US" sz="2400" b="1">
                    <a:latin typeface="Times New Roman" panose="02020603050405020304" pitchFamily="18" charset="0"/>
                  </a:endParaRPr>
                </a:p>
              </p:txBody>
            </p:sp>
            <p:sp>
              <p:nvSpPr>
                <p:cNvPr id="112875" name="Rectangle 235"/>
                <p:cNvSpPr>
                  <a:spLocks noChangeArrowheads="1"/>
                </p:cNvSpPr>
                <p:nvPr/>
              </p:nvSpPr>
              <p:spPr bwMode="auto">
                <a:xfrm>
                  <a:off x="1058" y="403"/>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76" name="Group 236"/>
              <p:cNvGrpSpPr>
                <a:grpSpLocks/>
              </p:cNvGrpSpPr>
              <p:nvPr/>
            </p:nvGrpSpPr>
            <p:grpSpPr bwMode="auto">
              <a:xfrm>
                <a:off x="1587" y="403"/>
                <a:ext cx="529" cy="518"/>
                <a:chOff x="1587" y="403"/>
                <a:chExt cx="529" cy="518"/>
              </a:xfrm>
            </p:grpSpPr>
            <p:sp>
              <p:nvSpPr>
                <p:cNvPr id="112877" name="Rectangle 237"/>
                <p:cNvSpPr>
                  <a:spLocks noChangeArrowheads="1"/>
                </p:cNvSpPr>
                <p:nvPr/>
              </p:nvSpPr>
              <p:spPr bwMode="auto">
                <a:xfrm>
                  <a:off x="1630" y="403"/>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09/07/64</a:t>
                  </a:r>
                </a:p>
                <a:p>
                  <a:pPr eaLnBrk="0" hangingPunct="0"/>
                  <a:endParaRPr lang="en-US" altLang="en-US" sz="2400" b="1">
                    <a:latin typeface="Times New Roman" panose="02020603050405020304" pitchFamily="18" charset="0"/>
                  </a:endParaRPr>
                </a:p>
              </p:txBody>
            </p:sp>
            <p:sp>
              <p:nvSpPr>
                <p:cNvPr id="112878" name="Rectangle 238"/>
                <p:cNvSpPr>
                  <a:spLocks noChangeArrowheads="1"/>
                </p:cNvSpPr>
                <p:nvPr/>
              </p:nvSpPr>
              <p:spPr bwMode="auto">
                <a:xfrm>
                  <a:off x="1587" y="403"/>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79" name="Group 239"/>
              <p:cNvGrpSpPr>
                <a:grpSpLocks/>
              </p:cNvGrpSpPr>
              <p:nvPr/>
            </p:nvGrpSpPr>
            <p:grpSpPr bwMode="auto">
              <a:xfrm>
                <a:off x="2116" y="403"/>
                <a:ext cx="529" cy="518"/>
                <a:chOff x="2116" y="403"/>
                <a:chExt cx="529" cy="518"/>
              </a:xfrm>
            </p:grpSpPr>
            <p:sp>
              <p:nvSpPr>
                <p:cNvPr id="112880" name="Rectangle 240"/>
                <p:cNvSpPr>
                  <a:spLocks noChangeArrowheads="1"/>
                </p:cNvSpPr>
                <p:nvPr/>
              </p:nvSpPr>
              <p:spPr bwMode="auto">
                <a:xfrm>
                  <a:off x="2159" y="403"/>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F</a:t>
                  </a:r>
                </a:p>
                <a:p>
                  <a:pPr eaLnBrk="0" hangingPunct="0"/>
                  <a:endParaRPr lang="en-US" altLang="en-US" sz="2400" b="1">
                    <a:latin typeface="Times New Roman" panose="02020603050405020304" pitchFamily="18" charset="0"/>
                  </a:endParaRPr>
                </a:p>
              </p:txBody>
            </p:sp>
            <p:sp>
              <p:nvSpPr>
                <p:cNvPr id="112881" name="Rectangle 241"/>
                <p:cNvSpPr>
                  <a:spLocks noChangeArrowheads="1"/>
                </p:cNvSpPr>
                <p:nvPr/>
              </p:nvSpPr>
              <p:spPr bwMode="auto">
                <a:xfrm>
                  <a:off x="2116" y="403"/>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82" name="Group 242"/>
              <p:cNvGrpSpPr>
                <a:grpSpLocks/>
              </p:cNvGrpSpPr>
              <p:nvPr/>
            </p:nvGrpSpPr>
            <p:grpSpPr bwMode="auto">
              <a:xfrm>
                <a:off x="2645" y="403"/>
                <a:ext cx="529" cy="518"/>
                <a:chOff x="2645" y="403"/>
                <a:chExt cx="529" cy="518"/>
              </a:xfrm>
            </p:grpSpPr>
            <p:sp>
              <p:nvSpPr>
                <p:cNvPr id="112883" name="Rectangle 243"/>
                <p:cNvSpPr>
                  <a:spLocks noChangeArrowheads="1"/>
                </p:cNvSpPr>
                <p:nvPr/>
              </p:nvSpPr>
              <p:spPr bwMode="auto">
                <a:xfrm>
                  <a:off x="2688" y="403"/>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22030</a:t>
                  </a:r>
                </a:p>
                <a:p>
                  <a:pPr eaLnBrk="0" hangingPunct="0"/>
                  <a:endParaRPr lang="en-US" altLang="en-US" sz="2400" b="1">
                    <a:latin typeface="Times New Roman" panose="02020603050405020304" pitchFamily="18" charset="0"/>
                  </a:endParaRPr>
                </a:p>
              </p:txBody>
            </p:sp>
            <p:sp>
              <p:nvSpPr>
                <p:cNvPr id="112884" name="Rectangle 244"/>
                <p:cNvSpPr>
                  <a:spLocks noChangeArrowheads="1"/>
                </p:cNvSpPr>
                <p:nvPr/>
              </p:nvSpPr>
              <p:spPr bwMode="auto">
                <a:xfrm>
                  <a:off x="2645" y="403"/>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85" name="Group 245"/>
              <p:cNvGrpSpPr>
                <a:grpSpLocks/>
              </p:cNvGrpSpPr>
              <p:nvPr/>
            </p:nvGrpSpPr>
            <p:grpSpPr bwMode="auto">
              <a:xfrm>
                <a:off x="3174" y="403"/>
                <a:ext cx="529" cy="518"/>
                <a:chOff x="3174" y="403"/>
                <a:chExt cx="529" cy="518"/>
              </a:xfrm>
            </p:grpSpPr>
            <p:sp>
              <p:nvSpPr>
                <p:cNvPr id="112886" name="Rectangle 246"/>
                <p:cNvSpPr>
                  <a:spLocks noChangeArrowheads="1"/>
                </p:cNvSpPr>
                <p:nvPr/>
              </p:nvSpPr>
              <p:spPr bwMode="auto">
                <a:xfrm>
                  <a:off x="3217" y="403"/>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Married</a:t>
                  </a:r>
                </a:p>
                <a:p>
                  <a:pPr eaLnBrk="0" hangingPunct="0"/>
                  <a:endParaRPr lang="en-US" altLang="en-US" sz="2400" b="1">
                    <a:latin typeface="Times New Roman" panose="02020603050405020304" pitchFamily="18" charset="0"/>
                  </a:endParaRPr>
                </a:p>
              </p:txBody>
            </p:sp>
            <p:sp>
              <p:nvSpPr>
                <p:cNvPr id="112887" name="Rectangle 247"/>
                <p:cNvSpPr>
                  <a:spLocks noChangeArrowheads="1"/>
                </p:cNvSpPr>
                <p:nvPr/>
              </p:nvSpPr>
              <p:spPr bwMode="auto">
                <a:xfrm>
                  <a:off x="3174" y="403"/>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88" name="Group 248"/>
              <p:cNvGrpSpPr>
                <a:grpSpLocks/>
              </p:cNvGrpSpPr>
              <p:nvPr/>
            </p:nvGrpSpPr>
            <p:grpSpPr bwMode="auto">
              <a:xfrm>
                <a:off x="3703" y="403"/>
                <a:ext cx="799" cy="518"/>
                <a:chOff x="3703" y="403"/>
                <a:chExt cx="799" cy="518"/>
              </a:xfrm>
            </p:grpSpPr>
            <p:sp>
              <p:nvSpPr>
                <p:cNvPr id="112889" name="Rectangle 249"/>
                <p:cNvSpPr>
                  <a:spLocks noChangeArrowheads="1"/>
                </p:cNvSpPr>
                <p:nvPr/>
              </p:nvSpPr>
              <p:spPr bwMode="auto">
                <a:xfrm>
                  <a:off x="3746" y="403"/>
                  <a:ext cx="71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Obesity</a:t>
                  </a:r>
                </a:p>
                <a:p>
                  <a:pPr eaLnBrk="0" hangingPunct="0"/>
                  <a:endParaRPr lang="en-US" altLang="en-US" sz="2400" b="1">
                    <a:latin typeface="Times New Roman" panose="02020603050405020304" pitchFamily="18" charset="0"/>
                  </a:endParaRPr>
                </a:p>
              </p:txBody>
            </p:sp>
            <p:sp>
              <p:nvSpPr>
                <p:cNvPr id="112890" name="Rectangle 250"/>
                <p:cNvSpPr>
                  <a:spLocks noChangeArrowheads="1"/>
                </p:cNvSpPr>
                <p:nvPr/>
              </p:nvSpPr>
              <p:spPr bwMode="auto">
                <a:xfrm>
                  <a:off x="3703" y="403"/>
                  <a:ext cx="79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91" name="Group 251"/>
              <p:cNvGrpSpPr>
                <a:grpSpLocks/>
              </p:cNvGrpSpPr>
              <p:nvPr/>
            </p:nvGrpSpPr>
            <p:grpSpPr bwMode="auto">
              <a:xfrm>
                <a:off x="0" y="921"/>
                <a:ext cx="529" cy="518"/>
                <a:chOff x="0" y="921"/>
                <a:chExt cx="529" cy="518"/>
              </a:xfrm>
            </p:grpSpPr>
            <p:sp>
              <p:nvSpPr>
                <p:cNvPr id="112892" name="Rectangle 252"/>
                <p:cNvSpPr>
                  <a:spLocks noChangeArrowheads="1"/>
                </p:cNvSpPr>
                <p:nvPr/>
              </p:nvSpPr>
              <p:spPr bwMode="auto">
                <a:xfrm>
                  <a:off x="43" y="921"/>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 </a:t>
                  </a:r>
                </a:p>
                <a:p>
                  <a:pPr eaLnBrk="0" hangingPunct="0"/>
                  <a:endParaRPr lang="en-US" altLang="en-US" sz="2400" b="1">
                    <a:latin typeface="Times New Roman" panose="02020603050405020304" pitchFamily="18" charset="0"/>
                  </a:endParaRPr>
                </a:p>
              </p:txBody>
            </p:sp>
            <p:sp>
              <p:nvSpPr>
                <p:cNvPr id="112893" name="Rectangle 253"/>
                <p:cNvSpPr>
                  <a:spLocks noChangeArrowheads="1"/>
                </p:cNvSpPr>
                <p:nvPr/>
              </p:nvSpPr>
              <p:spPr bwMode="auto">
                <a:xfrm>
                  <a:off x="0" y="921"/>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94" name="Group 254"/>
              <p:cNvGrpSpPr>
                <a:grpSpLocks/>
              </p:cNvGrpSpPr>
              <p:nvPr/>
            </p:nvGrpSpPr>
            <p:grpSpPr bwMode="auto">
              <a:xfrm>
                <a:off x="529" y="921"/>
                <a:ext cx="529" cy="518"/>
                <a:chOff x="529" y="921"/>
                <a:chExt cx="529" cy="518"/>
              </a:xfrm>
            </p:grpSpPr>
            <p:sp>
              <p:nvSpPr>
                <p:cNvPr id="112895" name="Rectangle 255"/>
                <p:cNvSpPr>
                  <a:spLocks noChangeArrowheads="1"/>
                </p:cNvSpPr>
                <p:nvPr/>
              </p:nvSpPr>
              <p:spPr bwMode="auto">
                <a:xfrm>
                  <a:off x="572" y="921"/>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 </a:t>
                  </a:r>
                </a:p>
                <a:p>
                  <a:pPr eaLnBrk="0" hangingPunct="0"/>
                  <a:endParaRPr lang="en-US" altLang="en-US" sz="2400" b="1">
                    <a:latin typeface="Times New Roman" panose="02020603050405020304" pitchFamily="18" charset="0"/>
                  </a:endParaRPr>
                </a:p>
              </p:txBody>
            </p:sp>
            <p:sp>
              <p:nvSpPr>
                <p:cNvPr id="112896" name="Rectangle 256"/>
                <p:cNvSpPr>
                  <a:spLocks noChangeArrowheads="1"/>
                </p:cNvSpPr>
                <p:nvPr/>
              </p:nvSpPr>
              <p:spPr bwMode="auto">
                <a:xfrm>
                  <a:off x="529" y="921"/>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897" name="Group 257"/>
              <p:cNvGrpSpPr>
                <a:grpSpLocks/>
              </p:cNvGrpSpPr>
              <p:nvPr/>
            </p:nvGrpSpPr>
            <p:grpSpPr bwMode="auto">
              <a:xfrm>
                <a:off x="1058" y="921"/>
                <a:ext cx="529" cy="518"/>
                <a:chOff x="1058" y="921"/>
                <a:chExt cx="529" cy="518"/>
              </a:xfrm>
            </p:grpSpPr>
            <p:sp>
              <p:nvSpPr>
                <p:cNvPr id="112898" name="Rectangle 258"/>
                <p:cNvSpPr>
                  <a:spLocks noChangeArrowheads="1"/>
                </p:cNvSpPr>
                <p:nvPr/>
              </p:nvSpPr>
              <p:spPr bwMode="auto">
                <a:xfrm>
                  <a:off x="1101" y="921"/>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Black</a:t>
                  </a:r>
                </a:p>
                <a:p>
                  <a:pPr eaLnBrk="0" hangingPunct="0"/>
                  <a:endParaRPr lang="en-US" altLang="en-US" sz="2400" b="1">
                    <a:latin typeface="Times New Roman" panose="02020603050405020304" pitchFamily="18" charset="0"/>
                  </a:endParaRPr>
                </a:p>
              </p:txBody>
            </p:sp>
            <p:sp>
              <p:nvSpPr>
                <p:cNvPr id="112899" name="Rectangle 259"/>
                <p:cNvSpPr>
                  <a:spLocks noChangeArrowheads="1"/>
                </p:cNvSpPr>
                <p:nvPr/>
              </p:nvSpPr>
              <p:spPr bwMode="auto">
                <a:xfrm>
                  <a:off x="1058" y="921"/>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00" name="Group 260"/>
              <p:cNvGrpSpPr>
                <a:grpSpLocks/>
              </p:cNvGrpSpPr>
              <p:nvPr/>
            </p:nvGrpSpPr>
            <p:grpSpPr bwMode="auto">
              <a:xfrm>
                <a:off x="1587" y="921"/>
                <a:ext cx="529" cy="518"/>
                <a:chOff x="1587" y="921"/>
                <a:chExt cx="529" cy="518"/>
              </a:xfrm>
            </p:grpSpPr>
            <p:sp>
              <p:nvSpPr>
                <p:cNvPr id="112901" name="Rectangle 261"/>
                <p:cNvSpPr>
                  <a:spLocks noChangeArrowheads="1"/>
                </p:cNvSpPr>
                <p:nvPr/>
              </p:nvSpPr>
              <p:spPr bwMode="auto">
                <a:xfrm>
                  <a:off x="1630" y="921"/>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05/14/61</a:t>
                  </a:r>
                </a:p>
                <a:p>
                  <a:pPr eaLnBrk="0" hangingPunct="0"/>
                  <a:endParaRPr lang="en-US" altLang="en-US" sz="2400" b="1">
                    <a:latin typeface="Times New Roman" panose="02020603050405020304" pitchFamily="18" charset="0"/>
                  </a:endParaRPr>
                </a:p>
              </p:txBody>
            </p:sp>
            <p:sp>
              <p:nvSpPr>
                <p:cNvPr id="112902" name="Rectangle 262"/>
                <p:cNvSpPr>
                  <a:spLocks noChangeArrowheads="1"/>
                </p:cNvSpPr>
                <p:nvPr/>
              </p:nvSpPr>
              <p:spPr bwMode="auto">
                <a:xfrm>
                  <a:off x="1587" y="921"/>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03" name="Group 263"/>
              <p:cNvGrpSpPr>
                <a:grpSpLocks/>
              </p:cNvGrpSpPr>
              <p:nvPr/>
            </p:nvGrpSpPr>
            <p:grpSpPr bwMode="auto">
              <a:xfrm>
                <a:off x="2116" y="921"/>
                <a:ext cx="529" cy="518"/>
                <a:chOff x="2116" y="921"/>
                <a:chExt cx="529" cy="518"/>
              </a:xfrm>
            </p:grpSpPr>
            <p:sp>
              <p:nvSpPr>
                <p:cNvPr id="112904" name="Rectangle 264"/>
                <p:cNvSpPr>
                  <a:spLocks noChangeArrowheads="1"/>
                </p:cNvSpPr>
                <p:nvPr/>
              </p:nvSpPr>
              <p:spPr bwMode="auto">
                <a:xfrm>
                  <a:off x="2159" y="921"/>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M</a:t>
                  </a:r>
                </a:p>
                <a:p>
                  <a:pPr eaLnBrk="0" hangingPunct="0"/>
                  <a:endParaRPr lang="en-US" altLang="en-US" sz="2400" b="1">
                    <a:latin typeface="Times New Roman" panose="02020603050405020304" pitchFamily="18" charset="0"/>
                  </a:endParaRPr>
                </a:p>
              </p:txBody>
            </p:sp>
            <p:sp>
              <p:nvSpPr>
                <p:cNvPr id="112905" name="Rectangle 265"/>
                <p:cNvSpPr>
                  <a:spLocks noChangeArrowheads="1"/>
                </p:cNvSpPr>
                <p:nvPr/>
              </p:nvSpPr>
              <p:spPr bwMode="auto">
                <a:xfrm>
                  <a:off x="2116" y="921"/>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06" name="Group 266"/>
              <p:cNvGrpSpPr>
                <a:grpSpLocks/>
              </p:cNvGrpSpPr>
              <p:nvPr/>
            </p:nvGrpSpPr>
            <p:grpSpPr bwMode="auto">
              <a:xfrm>
                <a:off x="2645" y="921"/>
                <a:ext cx="529" cy="518"/>
                <a:chOff x="2645" y="921"/>
                <a:chExt cx="529" cy="518"/>
              </a:xfrm>
            </p:grpSpPr>
            <p:sp>
              <p:nvSpPr>
                <p:cNvPr id="112907" name="Rectangle 267"/>
                <p:cNvSpPr>
                  <a:spLocks noChangeArrowheads="1"/>
                </p:cNvSpPr>
                <p:nvPr/>
              </p:nvSpPr>
              <p:spPr bwMode="auto">
                <a:xfrm>
                  <a:off x="2688" y="921"/>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22030</a:t>
                  </a:r>
                </a:p>
                <a:p>
                  <a:pPr eaLnBrk="0" hangingPunct="0"/>
                  <a:endParaRPr lang="en-US" altLang="en-US" sz="2400" b="1">
                    <a:latin typeface="Times New Roman" panose="02020603050405020304" pitchFamily="18" charset="0"/>
                  </a:endParaRPr>
                </a:p>
              </p:txBody>
            </p:sp>
            <p:sp>
              <p:nvSpPr>
                <p:cNvPr id="112908" name="Rectangle 268"/>
                <p:cNvSpPr>
                  <a:spLocks noChangeArrowheads="1"/>
                </p:cNvSpPr>
                <p:nvPr/>
              </p:nvSpPr>
              <p:spPr bwMode="auto">
                <a:xfrm>
                  <a:off x="2645" y="921"/>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09" name="Group 269"/>
              <p:cNvGrpSpPr>
                <a:grpSpLocks/>
              </p:cNvGrpSpPr>
              <p:nvPr/>
            </p:nvGrpSpPr>
            <p:grpSpPr bwMode="auto">
              <a:xfrm>
                <a:off x="3174" y="921"/>
                <a:ext cx="529" cy="518"/>
                <a:chOff x="3174" y="921"/>
                <a:chExt cx="529" cy="518"/>
              </a:xfrm>
            </p:grpSpPr>
            <p:sp>
              <p:nvSpPr>
                <p:cNvPr id="112910" name="Rectangle 270"/>
                <p:cNvSpPr>
                  <a:spLocks noChangeArrowheads="1"/>
                </p:cNvSpPr>
                <p:nvPr/>
              </p:nvSpPr>
              <p:spPr bwMode="auto">
                <a:xfrm>
                  <a:off x="3217" y="921"/>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Married</a:t>
                  </a:r>
                </a:p>
                <a:p>
                  <a:pPr eaLnBrk="0" hangingPunct="0"/>
                  <a:endParaRPr lang="en-US" altLang="en-US" sz="2400" b="1">
                    <a:latin typeface="Times New Roman" panose="02020603050405020304" pitchFamily="18" charset="0"/>
                  </a:endParaRPr>
                </a:p>
              </p:txBody>
            </p:sp>
            <p:sp>
              <p:nvSpPr>
                <p:cNvPr id="112911" name="Rectangle 271"/>
                <p:cNvSpPr>
                  <a:spLocks noChangeArrowheads="1"/>
                </p:cNvSpPr>
                <p:nvPr/>
              </p:nvSpPr>
              <p:spPr bwMode="auto">
                <a:xfrm>
                  <a:off x="3174" y="921"/>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12" name="Group 272"/>
              <p:cNvGrpSpPr>
                <a:grpSpLocks/>
              </p:cNvGrpSpPr>
              <p:nvPr/>
            </p:nvGrpSpPr>
            <p:grpSpPr bwMode="auto">
              <a:xfrm>
                <a:off x="3703" y="921"/>
                <a:ext cx="799" cy="518"/>
                <a:chOff x="3703" y="921"/>
                <a:chExt cx="799" cy="518"/>
              </a:xfrm>
            </p:grpSpPr>
            <p:sp>
              <p:nvSpPr>
                <p:cNvPr id="112913" name="Rectangle 273"/>
                <p:cNvSpPr>
                  <a:spLocks noChangeArrowheads="1"/>
                </p:cNvSpPr>
                <p:nvPr/>
              </p:nvSpPr>
              <p:spPr bwMode="auto">
                <a:xfrm>
                  <a:off x="3746" y="921"/>
                  <a:ext cx="71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Obesity</a:t>
                  </a:r>
                </a:p>
                <a:p>
                  <a:pPr eaLnBrk="0" hangingPunct="0"/>
                  <a:endParaRPr lang="en-US" altLang="en-US" sz="2400" b="1">
                    <a:latin typeface="Times New Roman" panose="02020603050405020304" pitchFamily="18" charset="0"/>
                  </a:endParaRPr>
                </a:p>
              </p:txBody>
            </p:sp>
            <p:sp>
              <p:nvSpPr>
                <p:cNvPr id="112914" name="Rectangle 274"/>
                <p:cNvSpPr>
                  <a:spLocks noChangeArrowheads="1"/>
                </p:cNvSpPr>
                <p:nvPr/>
              </p:nvSpPr>
              <p:spPr bwMode="auto">
                <a:xfrm>
                  <a:off x="3703" y="921"/>
                  <a:ext cx="79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15" name="Group 275"/>
              <p:cNvGrpSpPr>
                <a:grpSpLocks/>
              </p:cNvGrpSpPr>
              <p:nvPr/>
            </p:nvGrpSpPr>
            <p:grpSpPr bwMode="auto">
              <a:xfrm>
                <a:off x="0" y="1439"/>
                <a:ext cx="529" cy="518"/>
                <a:chOff x="0" y="1439"/>
                <a:chExt cx="529" cy="518"/>
              </a:xfrm>
            </p:grpSpPr>
            <p:sp>
              <p:nvSpPr>
                <p:cNvPr id="112916" name="Rectangle 276"/>
                <p:cNvSpPr>
                  <a:spLocks noChangeArrowheads="1"/>
                </p:cNvSpPr>
                <p:nvPr/>
              </p:nvSpPr>
              <p:spPr bwMode="auto">
                <a:xfrm>
                  <a:off x="43" y="1439"/>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 </a:t>
                  </a:r>
                </a:p>
                <a:p>
                  <a:pPr eaLnBrk="0" hangingPunct="0"/>
                  <a:endParaRPr lang="en-US" altLang="en-US" sz="2400" b="1">
                    <a:latin typeface="Times New Roman" panose="02020603050405020304" pitchFamily="18" charset="0"/>
                  </a:endParaRPr>
                </a:p>
              </p:txBody>
            </p:sp>
            <p:sp>
              <p:nvSpPr>
                <p:cNvPr id="112917" name="Rectangle 277"/>
                <p:cNvSpPr>
                  <a:spLocks noChangeArrowheads="1"/>
                </p:cNvSpPr>
                <p:nvPr/>
              </p:nvSpPr>
              <p:spPr bwMode="auto">
                <a:xfrm>
                  <a:off x="0" y="1439"/>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18" name="Group 278"/>
              <p:cNvGrpSpPr>
                <a:grpSpLocks/>
              </p:cNvGrpSpPr>
              <p:nvPr/>
            </p:nvGrpSpPr>
            <p:grpSpPr bwMode="auto">
              <a:xfrm>
                <a:off x="529" y="1439"/>
                <a:ext cx="529" cy="518"/>
                <a:chOff x="529" y="1439"/>
                <a:chExt cx="529" cy="518"/>
              </a:xfrm>
            </p:grpSpPr>
            <p:sp>
              <p:nvSpPr>
                <p:cNvPr id="112919" name="Rectangle 279"/>
                <p:cNvSpPr>
                  <a:spLocks noChangeArrowheads="1"/>
                </p:cNvSpPr>
                <p:nvPr/>
              </p:nvSpPr>
              <p:spPr bwMode="auto">
                <a:xfrm>
                  <a:off x="572" y="1439"/>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 </a:t>
                  </a:r>
                </a:p>
                <a:p>
                  <a:pPr eaLnBrk="0" hangingPunct="0"/>
                  <a:endParaRPr lang="en-US" altLang="en-US" sz="2400" b="1">
                    <a:latin typeface="Times New Roman" panose="02020603050405020304" pitchFamily="18" charset="0"/>
                  </a:endParaRPr>
                </a:p>
              </p:txBody>
            </p:sp>
            <p:sp>
              <p:nvSpPr>
                <p:cNvPr id="112920" name="Rectangle 280"/>
                <p:cNvSpPr>
                  <a:spLocks noChangeArrowheads="1"/>
                </p:cNvSpPr>
                <p:nvPr/>
              </p:nvSpPr>
              <p:spPr bwMode="auto">
                <a:xfrm>
                  <a:off x="529" y="1439"/>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21" name="Group 281"/>
              <p:cNvGrpSpPr>
                <a:grpSpLocks/>
              </p:cNvGrpSpPr>
              <p:nvPr/>
            </p:nvGrpSpPr>
            <p:grpSpPr bwMode="auto">
              <a:xfrm>
                <a:off x="1058" y="1439"/>
                <a:ext cx="529" cy="518"/>
                <a:chOff x="1058" y="1439"/>
                <a:chExt cx="529" cy="518"/>
              </a:xfrm>
            </p:grpSpPr>
            <p:sp>
              <p:nvSpPr>
                <p:cNvPr id="112922" name="Rectangle 282"/>
                <p:cNvSpPr>
                  <a:spLocks noChangeArrowheads="1"/>
                </p:cNvSpPr>
                <p:nvPr/>
              </p:nvSpPr>
              <p:spPr bwMode="auto">
                <a:xfrm>
                  <a:off x="1101" y="1439"/>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White</a:t>
                  </a:r>
                </a:p>
                <a:p>
                  <a:pPr eaLnBrk="0" hangingPunct="0"/>
                  <a:endParaRPr lang="en-US" altLang="en-US" sz="2400" b="1">
                    <a:latin typeface="Times New Roman" panose="02020603050405020304" pitchFamily="18" charset="0"/>
                  </a:endParaRPr>
                </a:p>
              </p:txBody>
            </p:sp>
            <p:sp>
              <p:nvSpPr>
                <p:cNvPr id="112923" name="Rectangle 283"/>
                <p:cNvSpPr>
                  <a:spLocks noChangeArrowheads="1"/>
                </p:cNvSpPr>
                <p:nvPr/>
              </p:nvSpPr>
              <p:spPr bwMode="auto">
                <a:xfrm>
                  <a:off x="1058" y="1439"/>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24" name="Group 284"/>
              <p:cNvGrpSpPr>
                <a:grpSpLocks/>
              </p:cNvGrpSpPr>
              <p:nvPr/>
            </p:nvGrpSpPr>
            <p:grpSpPr bwMode="auto">
              <a:xfrm>
                <a:off x="1587" y="1439"/>
                <a:ext cx="529" cy="518"/>
                <a:chOff x="1587" y="1439"/>
                <a:chExt cx="529" cy="518"/>
              </a:xfrm>
            </p:grpSpPr>
            <p:sp>
              <p:nvSpPr>
                <p:cNvPr id="112925" name="Rectangle 285"/>
                <p:cNvSpPr>
                  <a:spLocks noChangeArrowheads="1"/>
                </p:cNvSpPr>
                <p:nvPr/>
              </p:nvSpPr>
              <p:spPr bwMode="auto">
                <a:xfrm>
                  <a:off x="1630" y="1439"/>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05/08/61</a:t>
                  </a:r>
                </a:p>
                <a:p>
                  <a:pPr eaLnBrk="0" hangingPunct="0"/>
                  <a:endParaRPr lang="en-US" altLang="en-US" sz="2400" b="1">
                    <a:latin typeface="Times New Roman" panose="02020603050405020304" pitchFamily="18" charset="0"/>
                  </a:endParaRPr>
                </a:p>
              </p:txBody>
            </p:sp>
            <p:sp>
              <p:nvSpPr>
                <p:cNvPr id="112926" name="Rectangle 286"/>
                <p:cNvSpPr>
                  <a:spLocks noChangeArrowheads="1"/>
                </p:cNvSpPr>
                <p:nvPr/>
              </p:nvSpPr>
              <p:spPr bwMode="auto">
                <a:xfrm>
                  <a:off x="1587" y="1439"/>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27" name="Group 287"/>
              <p:cNvGrpSpPr>
                <a:grpSpLocks/>
              </p:cNvGrpSpPr>
              <p:nvPr/>
            </p:nvGrpSpPr>
            <p:grpSpPr bwMode="auto">
              <a:xfrm>
                <a:off x="2116" y="1439"/>
                <a:ext cx="529" cy="518"/>
                <a:chOff x="2116" y="1439"/>
                <a:chExt cx="529" cy="518"/>
              </a:xfrm>
            </p:grpSpPr>
            <p:sp>
              <p:nvSpPr>
                <p:cNvPr id="112928" name="Rectangle 288"/>
                <p:cNvSpPr>
                  <a:spLocks noChangeArrowheads="1"/>
                </p:cNvSpPr>
                <p:nvPr/>
              </p:nvSpPr>
              <p:spPr bwMode="auto">
                <a:xfrm>
                  <a:off x="2159" y="1439"/>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M</a:t>
                  </a:r>
                </a:p>
                <a:p>
                  <a:pPr eaLnBrk="0" hangingPunct="0"/>
                  <a:endParaRPr lang="en-US" altLang="en-US" sz="2400" b="1">
                    <a:latin typeface="Times New Roman" panose="02020603050405020304" pitchFamily="18" charset="0"/>
                  </a:endParaRPr>
                </a:p>
              </p:txBody>
            </p:sp>
            <p:sp>
              <p:nvSpPr>
                <p:cNvPr id="112929" name="Rectangle 289"/>
                <p:cNvSpPr>
                  <a:spLocks noChangeArrowheads="1"/>
                </p:cNvSpPr>
                <p:nvPr/>
              </p:nvSpPr>
              <p:spPr bwMode="auto">
                <a:xfrm>
                  <a:off x="2116" y="1439"/>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30" name="Group 290"/>
              <p:cNvGrpSpPr>
                <a:grpSpLocks/>
              </p:cNvGrpSpPr>
              <p:nvPr/>
            </p:nvGrpSpPr>
            <p:grpSpPr bwMode="auto">
              <a:xfrm>
                <a:off x="2645" y="1439"/>
                <a:ext cx="529" cy="518"/>
                <a:chOff x="2645" y="1439"/>
                <a:chExt cx="529" cy="518"/>
              </a:xfrm>
            </p:grpSpPr>
            <p:sp>
              <p:nvSpPr>
                <p:cNvPr id="112931" name="Rectangle 291"/>
                <p:cNvSpPr>
                  <a:spLocks noChangeArrowheads="1"/>
                </p:cNvSpPr>
                <p:nvPr/>
              </p:nvSpPr>
              <p:spPr bwMode="auto">
                <a:xfrm>
                  <a:off x="2688" y="1439"/>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22030</a:t>
                  </a:r>
                </a:p>
                <a:p>
                  <a:pPr eaLnBrk="0" hangingPunct="0"/>
                  <a:endParaRPr lang="en-US" altLang="en-US" sz="2400" b="1">
                    <a:latin typeface="Times New Roman" panose="02020603050405020304" pitchFamily="18" charset="0"/>
                  </a:endParaRPr>
                </a:p>
              </p:txBody>
            </p:sp>
            <p:sp>
              <p:nvSpPr>
                <p:cNvPr id="112932" name="Rectangle 292"/>
                <p:cNvSpPr>
                  <a:spLocks noChangeArrowheads="1"/>
                </p:cNvSpPr>
                <p:nvPr/>
              </p:nvSpPr>
              <p:spPr bwMode="auto">
                <a:xfrm>
                  <a:off x="2645" y="1439"/>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33" name="Group 293"/>
              <p:cNvGrpSpPr>
                <a:grpSpLocks/>
              </p:cNvGrpSpPr>
              <p:nvPr/>
            </p:nvGrpSpPr>
            <p:grpSpPr bwMode="auto">
              <a:xfrm>
                <a:off x="3174" y="1439"/>
                <a:ext cx="529" cy="518"/>
                <a:chOff x="3174" y="1439"/>
                <a:chExt cx="529" cy="518"/>
              </a:xfrm>
            </p:grpSpPr>
            <p:sp>
              <p:nvSpPr>
                <p:cNvPr id="112934" name="Rectangle 294"/>
                <p:cNvSpPr>
                  <a:spLocks noChangeArrowheads="1"/>
                </p:cNvSpPr>
                <p:nvPr/>
              </p:nvSpPr>
              <p:spPr bwMode="auto">
                <a:xfrm>
                  <a:off x="3217" y="1439"/>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Married</a:t>
                  </a:r>
                </a:p>
                <a:p>
                  <a:pPr eaLnBrk="0" hangingPunct="0"/>
                  <a:endParaRPr lang="en-US" altLang="en-US" sz="2400" b="1">
                    <a:latin typeface="Times New Roman" panose="02020603050405020304" pitchFamily="18" charset="0"/>
                  </a:endParaRPr>
                </a:p>
              </p:txBody>
            </p:sp>
            <p:sp>
              <p:nvSpPr>
                <p:cNvPr id="112935" name="Rectangle 295"/>
                <p:cNvSpPr>
                  <a:spLocks noChangeArrowheads="1"/>
                </p:cNvSpPr>
                <p:nvPr/>
              </p:nvSpPr>
              <p:spPr bwMode="auto">
                <a:xfrm>
                  <a:off x="3174" y="1439"/>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36" name="Group 296"/>
              <p:cNvGrpSpPr>
                <a:grpSpLocks/>
              </p:cNvGrpSpPr>
              <p:nvPr/>
            </p:nvGrpSpPr>
            <p:grpSpPr bwMode="auto">
              <a:xfrm>
                <a:off x="3703" y="1439"/>
                <a:ext cx="799" cy="518"/>
                <a:chOff x="3703" y="1439"/>
                <a:chExt cx="799" cy="518"/>
              </a:xfrm>
            </p:grpSpPr>
            <p:sp>
              <p:nvSpPr>
                <p:cNvPr id="112937" name="Rectangle 297"/>
                <p:cNvSpPr>
                  <a:spLocks noChangeArrowheads="1"/>
                </p:cNvSpPr>
                <p:nvPr/>
              </p:nvSpPr>
              <p:spPr bwMode="auto">
                <a:xfrm>
                  <a:off x="3746" y="1439"/>
                  <a:ext cx="71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Chest pain</a:t>
                  </a:r>
                </a:p>
                <a:p>
                  <a:pPr eaLnBrk="0" hangingPunct="0"/>
                  <a:endParaRPr lang="en-US" altLang="en-US" sz="2400" b="1">
                    <a:latin typeface="Times New Roman" panose="02020603050405020304" pitchFamily="18" charset="0"/>
                  </a:endParaRPr>
                </a:p>
              </p:txBody>
            </p:sp>
            <p:sp>
              <p:nvSpPr>
                <p:cNvPr id="112938" name="Rectangle 298"/>
                <p:cNvSpPr>
                  <a:spLocks noChangeArrowheads="1"/>
                </p:cNvSpPr>
                <p:nvPr/>
              </p:nvSpPr>
              <p:spPr bwMode="auto">
                <a:xfrm>
                  <a:off x="3703" y="1439"/>
                  <a:ext cx="79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39" name="Group 299"/>
              <p:cNvGrpSpPr>
                <a:grpSpLocks/>
              </p:cNvGrpSpPr>
              <p:nvPr/>
            </p:nvGrpSpPr>
            <p:grpSpPr bwMode="auto">
              <a:xfrm>
                <a:off x="0" y="1957"/>
                <a:ext cx="529" cy="518"/>
                <a:chOff x="0" y="1957"/>
                <a:chExt cx="529" cy="518"/>
              </a:xfrm>
            </p:grpSpPr>
            <p:sp>
              <p:nvSpPr>
                <p:cNvPr id="112940" name="Rectangle 300"/>
                <p:cNvSpPr>
                  <a:spLocks noChangeArrowheads="1"/>
                </p:cNvSpPr>
                <p:nvPr/>
              </p:nvSpPr>
              <p:spPr bwMode="auto">
                <a:xfrm>
                  <a:off x="43" y="1957"/>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 </a:t>
                  </a:r>
                </a:p>
                <a:p>
                  <a:pPr eaLnBrk="0" hangingPunct="0"/>
                  <a:endParaRPr lang="en-US" altLang="en-US" sz="2400" b="1">
                    <a:latin typeface="Times New Roman" panose="02020603050405020304" pitchFamily="18" charset="0"/>
                  </a:endParaRPr>
                </a:p>
              </p:txBody>
            </p:sp>
            <p:sp>
              <p:nvSpPr>
                <p:cNvPr id="112941" name="Rectangle 301"/>
                <p:cNvSpPr>
                  <a:spLocks noChangeArrowheads="1"/>
                </p:cNvSpPr>
                <p:nvPr/>
              </p:nvSpPr>
              <p:spPr bwMode="auto">
                <a:xfrm>
                  <a:off x="0" y="1957"/>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42" name="Group 302"/>
              <p:cNvGrpSpPr>
                <a:grpSpLocks/>
              </p:cNvGrpSpPr>
              <p:nvPr/>
            </p:nvGrpSpPr>
            <p:grpSpPr bwMode="auto">
              <a:xfrm>
                <a:off x="529" y="1957"/>
                <a:ext cx="529" cy="518"/>
                <a:chOff x="529" y="1957"/>
                <a:chExt cx="529" cy="518"/>
              </a:xfrm>
            </p:grpSpPr>
            <p:sp>
              <p:nvSpPr>
                <p:cNvPr id="112943" name="Rectangle 303"/>
                <p:cNvSpPr>
                  <a:spLocks noChangeArrowheads="1"/>
                </p:cNvSpPr>
                <p:nvPr/>
              </p:nvSpPr>
              <p:spPr bwMode="auto">
                <a:xfrm>
                  <a:off x="572" y="1957"/>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 </a:t>
                  </a:r>
                </a:p>
                <a:p>
                  <a:pPr eaLnBrk="0" hangingPunct="0"/>
                  <a:endParaRPr lang="en-US" altLang="en-US" sz="2400" b="1">
                    <a:latin typeface="Times New Roman" panose="02020603050405020304" pitchFamily="18" charset="0"/>
                  </a:endParaRPr>
                </a:p>
              </p:txBody>
            </p:sp>
            <p:sp>
              <p:nvSpPr>
                <p:cNvPr id="112944" name="Rectangle 304"/>
                <p:cNvSpPr>
                  <a:spLocks noChangeArrowheads="1"/>
                </p:cNvSpPr>
                <p:nvPr/>
              </p:nvSpPr>
              <p:spPr bwMode="auto">
                <a:xfrm>
                  <a:off x="529" y="1957"/>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45" name="Group 305"/>
              <p:cNvGrpSpPr>
                <a:grpSpLocks/>
              </p:cNvGrpSpPr>
              <p:nvPr/>
            </p:nvGrpSpPr>
            <p:grpSpPr bwMode="auto">
              <a:xfrm>
                <a:off x="1058" y="1957"/>
                <a:ext cx="529" cy="518"/>
                <a:chOff x="1058" y="1957"/>
                <a:chExt cx="529" cy="518"/>
              </a:xfrm>
            </p:grpSpPr>
            <p:sp>
              <p:nvSpPr>
                <p:cNvPr id="112946" name="Rectangle 306"/>
                <p:cNvSpPr>
                  <a:spLocks noChangeArrowheads="1"/>
                </p:cNvSpPr>
                <p:nvPr/>
              </p:nvSpPr>
              <p:spPr bwMode="auto">
                <a:xfrm>
                  <a:off x="1101" y="1957"/>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White</a:t>
                  </a:r>
                </a:p>
                <a:p>
                  <a:pPr eaLnBrk="0" hangingPunct="0"/>
                  <a:endParaRPr lang="en-US" altLang="en-US" sz="2400" b="1">
                    <a:latin typeface="Times New Roman" panose="02020603050405020304" pitchFamily="18" charset="0"/>
                  </a:endParaRPr>
                </a:p>
              </p:txBody>
            </p:sp>
            <p:sp>
              <p:nvSpPr>
                <p:cNvPr id="112947" name="Rectangle 307"/>
                <p:cNvSpPr>
                  <a:spLocks noChangeArrowheads="1"/>
                </p:cNvSpPr>
                <p:nvPr/>
              </p:nvSpPr>
              <p:spPr bwMode="auto">
                <a:xfrm>
                  <a:off x="1058" y="1957"/>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48" name="Group 308"/>
              <p:cNvGrpSpPr>
                <a:grpSpLocks/>
              </p:cNvGrpSpPr>
              <p:nvPr/>
            </p:nvGrpSpPr>
            <p:grpSpPr bwMode="auto">
              <a:xfrm>
                <a:off x="1587" y="1957"/>
                <a:ext cx="529" cy="518"/>
                <a:chOff x="1587" y="1957"/>
                <a:chExt cx="529" cy="518"/>
              </a:xfrm>
            </p:grpSpPr>
            <p:sp>
              <p:nvSpPr>
                <p:cNvPr id="112949" name="Rectangle 309"/>
                <p:cNvSpPr>
                  <a:spLocks noChangeArrowheads="1"/>
                </p:cNvSpPr>
                <p:nvPr/>
              </p:nvSpPr>
              <p:spPr bwMode="auto">
                <a:xfrm>
                  <a:off x="1630" y="1957"/>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solidFill>
                        <a:srgbClr val="FF0000"/>
                      </a:solidFill>
                      <a:latin typeface="Times New Roman" panose="02020603050405020304" pitchFamily="18" charset="0"/>
                      <a:cs typeface="Times New Roman" panose="02020603050405020304" pitchFamily="18" charset="0"/>
                    </a:rPr>
                    <a:t>09/15/61</a:t>
                  </a:r>
                </a:p>
                <a:p>
                  <a:pPr eaLnBrk="0" hangingPunct="0"/>
                  <a:endParaRPr lang="en-US" altLang="en-US" sz="2400" b="1">
                    <a:solidFill>
                      <a:srgbClr val="FF0000"/>
                    </a:solidFill>
                    <a:latin typeface="Times New Roman" panose="02020603050405020304" pitchFamily="18" charset="0"/>
                  </a:endParaRPr>
                </a:p>
              </p:txBody>
            </p:sp>
            <p:sp>
              <p:nvSpPr>
                <p:cNvPr id="112950" name="Rectangle 310"/>
                <p:cNvSpPr>
                  <a:spLocks noChangeArrowheads="1"/>
                </p:cNvSpPr>
                <p:nvPr/>
              </p:nvSpPr>
              <p:spPr bwMode="auto">
                <a:xfrm>
                  <a:off x="1587" y="1957"/>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51" name="Group 311"/>
              <p:cNvGrpSpPr>
                <a:grpSpLocks/>
              </p:cNvGrpSpPr>
              <p:nvPr/>
            </p:nvGrpSpPr>
            <p:grpSpPr bwMode="auto">
              <a:xfrm>
                <a:off x="2116" y="1957"/>
                <a:ext cx="529" cy="518"/>
                <a:chOff x="2116" y="1957"/>
                <a:chExt cx="529" cy="518"/>
              </a:xfrm>
            </p:grpSpPr>
            <p:sp>
              <p:nvSpPr>
                <p:cNvPr id="112952" name="Rectangle 312"/>
                <p:cNvSpPr>
                  <a:spLocks noChangeArrowheads="1"/>
                </p:cNvSpPr>
                <p:nvPr/>
              </p:nvSpPr>
              <p:spPr bwMode="auto">
                <a:xfrm>
                  <a:off x="2159" y="1957"/>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solidFill>
                        <a:srgbClr val="FF0000"/>
                      </a:solidFill>
                      <a:latin typeface="Times New Roman" panose="02020603050405020304" pitchFamily="18" charset="0"/>
                      <a:cs typeface="Times New Roman" panose="02020603050405020304" pitchFamily="18" charset="0"/>
                    </a:rPr>
                    <a:t>F</a:t>
                  </a:r>
                </a:p>
                <a:p>
                  <a:pPr eaLnBrk="0" hangingPunct="0"/>
                  <a:endParaRPr lang="en-US" altLang="en-US" sz="2400" b="1">
                    <a:solidFill>
                      <a:srgbClr val="FF0000"/>
                    </a:solidFill>
                    <a:latin typeface="Times New Roman" panose="02020603050405020304" pitchFamily="18" charset="0"/>
                  </a:endParaRPr>
                </a:p>
              </p:txBody>
            </p:sp>
            <p:sp>
              <p:nvSpPr>
                <p:cNvPr id="112953" name="Rectangle 313"/>
                <p:cNvSpPr>
                  <a:spLocks noChangeArrowheads="1"/>
                </p:cNvSpPr>
                <p:nvPr/>
              </p:nvSpPr>
              <p:spPr bwMode="auto">
                <a:xfrm>
                  <a:off x="2116" y="1957"/>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54" name="Group 314"/>
              <p:cNvGrpSpPr>
                <a:grpSpLocks/>
              </p:cNvGrpSpPr>
              <p:nvPr/>
            </p:nvGrpSpPr>
            <p:grpSpPr bwMode="auto">
              <a:xfrm>
                <a:off x="2645" y="1957"/>
                <a:ext cx="529" cy="518"/>
                <a:chOff x="2645" y="1957"/>
                <a:chExt cx="529" cy="518"/>
              </a:xfrm>
            </p:grpSpPr>
            <p:sp>
              <p:nvSpPr>
                <p:cNvPr id="112955" name="Rectangle 315"/>
                <p:cNvSpPr>
                  <a:spLocks noChangeArrowheads="1"/>
                </p:cNvSpPr>
                <p:nvPr/>
              </p:nvSpPr>
              <p:spPr bwMode="auto">
                <a:xfrm>
                  <a:off x="2688" y="1957"/>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solidFill>
                        <a:srgbClr val="FF0000"/>
                      </a:solidFill>
                      <a:latin typeface="Times New Roman" panose="02020603050405020304" pitchFamily="18" charset="0"/>
                      <a:cs typeface="Times New Roman" panose="02020603050405020304" pitchFamily="18" charset="0"/>
                    </a:rPr>
                    <a:t>22031</a:t>
                  </a:r>
                </a:p>
                <a:p>
                  <a:pPr eaLnBrk="0" hangingPunct="0"/>
                  <a:endParaRPr lang="en-US" altLang="en-US" sz="2400" b="1">
                    <a:solidFill>
                      <a:srgbClr val="FF0000"/>
                    </a:solidFill>
                    <a:latin typeface="Times New Roman" panose="02020603050405020304" pitchFamily="18" charset="0"/>
                  </a:endParaRPr>
                </a:p>
              </p:txBody>
            </p:sp>
            <p:sp>
              <p:nvSpPr>
                <p:cNvPr id="112956" name="Rectangle 316"/>
                <p:cNvSpPr>
                  <a:spLocks noChangeArrowheads="1"/>
                </p:cNvSpPr>
                <p:nvPr/>
              </p:nvSpPr>
              <p:spPr bwMode="auto">
                <a:xfrm>
                  <a:off x="2645" y="1957"/>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57" name="Group 317"/>
              <p:cNvGrpSpPr>
                <a:grpSpLocks/>
              </p:cNvGrpSpPr>
              <p:nvPr/>
            </p:nvGrpSpPr>
            <p:grpSpPr bwMode="auto">
              <a:xfrm>
                <a:off x="3174" y="1957"/>
                <a:ext cx="529" cy="518"/>
                <a:chOff x="3174" y="1957"/>
                <a:chExt cx="529" cy="518"/>
              </a:xfrm>
            </p:grpSpPr>
            <p:sp>
              <p:nvSpPr>
                <p:cNvPr id="112958" name="Rectangle 318"/>
                <p:cNvSpPr>
                  <a:spLocks noChangeArrowheads="1"/>
                </p:cNvSpPr>
                <p:nvPr/>
              </p:nvSpPr>
              <p:spPr bwMode="auto">
                <a:xfrm>
                  <a:off x="3217" y="1957"/>
                  <a:ext cx="44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Widow</a:t>
                  </a:r>
                </a:p>
                <a:p>
                  <a:pPr eaLnBrk="0" hangingPunct="0"/>
                  <a:endParaRPr lang="en-US" altLang="en-US" sz="2400" b="1">
                    <a:latin typeface="Times New Roman" panose="02020603050405020304" pitchFamily="18" charset="0"/>
                  </a:endParaRPr>
                </a:p>
              </p:txBody>
            </p:sp>
            <p:sp>
              <p:nvSpPr>
                <p:cNvPr id="112959" name="Rectangle 319"/>
                <p:cNvSpPr>
                  <a:spLocks noChangeArrowheads="1"/>
                </p:cNvSpPr>
                <p:nvPr/>
              </p:nvSpPr>
              <p:spPr bwMode="auto">
                <a:xfrm>
                  <a:off x="3174" y="1957"/>
                  <a:ext cx="52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60" name="Group 320"/>
              <p:cNvGrpSpPr>
                <a:grpSpLocks/>
              </p:cNvGrpSpPr>
              <p:nvPr/>
            </p:nvGrpSpPr>
            <p:grpSpPr bwMode="auto">
              <a:xfrm>
                <a:off x="3703" y="1957"/>
                <a:ext cx="799" cy="518"/>
                <a:chOff x="3703" y="1957"/>
                <a:chExt cx="799" cy="518"/>
              </a:xfrm>
            </p:grpSpPr>
            <p:sp>
              <p:nvSpPr>
                <p:cNvPr id="112961" name="Rectangle 321"/>
                <p:cNvSpPr>
                  <a:spLocks noChangeArrowheads="1"/>
                </p:cNvSpPr>
                <p:nvPr/>
              </p:nvSpPr>
              <p:spPr bwMode="auto">
                <a:xfrm>
                  <a:off x="3746" y="1957"/>
                  <a:ext cx="713"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solidFill>
                        <a:srgbClr val="FF0000"/>
                      </a:solidFill>
                      <a:latin typeface="Times New Roman" panose="02020603050405020304" pitchFamily="18" charset="0"/>
                      <a:cs typeface="Times New Roman" panose="02020603050405020304" pitchFamily="18" charset="0"/>
                    </a:rPr>
                    <a:t>Aids</a:t>
                  </a:r>
                </a:p>
                <a:p>
                  <a:pPr eaLnBrk="0" hangingPunct="0"/>
                  <a:endParaRPr lang="en-US" altLang="en-US" sz="2400" b="1">
                    <a:solidFill>
                      <a:srgbClr val="FF0000"/>
                    </a:solidFill>
                    <a:latin typeface="Times New Roman" panose="02020603050405020304" pitchFamily="18" charset="0"/>
                  </a:endParaRPr>
                </a:p>
              </p:txBody>
            </p:sp>
            <p:sp>
              <p:nvSpPr>
                <p:cNvPr id="112962" name="Rectangle 322"/>
                <p:cNvSpPr>
                  <a:spLocks noChangeArrowheads="1"/>
                </p:cNvSpPr>
                <p:nvPr/>
              </p:nvSpPr>
              <p:spPr bwMode="auto">
                <a:xfrm>
                  <a:off x="3703" y="1957"/>
                  <a:ext cx="799"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112963" name="Rectangle 323"/>
            <p:cNvSpPr>
              <a:spLocks noChangeArrowheads="1"/>
            </p:cNvSpPr>
            <p:nvPr/>
          </p:nvSpPr>
          <p:spPr bwMode="auto">
            <a:xfrm>
              <a:off x="-3" y="-3"/>
              <a:ext cx="4508" cy="248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12964" name="Text Box 324"/>
          <p:cNvSpPr txBox="1">
            <a:spLocks noChangeArrowheads="1"/>
          </p:cNvSpPr>
          <p:nvPr/>
        </p:nvSpPr>
        <p:spPr bwMode="auto">
          <a:xfrm>
            <a:off x="2574926" y="1412875"/>
            <a:ext cx="3216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bg1"/>
              </a:buClr>
              <a:buSzPct val="100000"/>
              <a:buFontTx/>
              <a:buChar char="•"/>
            </a:pPr>
            <a:r>
              <a:rPr lang="en-US" altLang="en-US" sz="1600" b="1">
                <a:latin typeface="Times New Roman" panose="02020603050405020304" pitchFamily="18" charset="0"/>
              </a:rPr>
              <a:t>Anonymous medical data:</a:t>
            </a:r>
          </a:p>
        </p:txBody>
      </p:sp>
      <p:grpSp>
        <p:nvGrpSpPr>
          <p:cNvPr id="112965" name="Group 325"/>
          <p:cNvGrpSpPr>
            <a:grpSpLocks/>
          </p:cNvGrpSpPr>
          <p:nvPr/>
        </p:nvGrpSpPr>
        <p:grpSpPr bwMode="auto">
          <a:xfrm>
            <a:off x="2667000" y="4191001"/>
            <a:ext cx="7315200" cy="1044575"/>
            <a:chOff x="-3" y="-3"/>
            <a:chExt cx="4349" cy="1330"/>
          </a:xfrm>
        </p:grpSpPr>
        <p:grpSp>
          <p:nvGrpSpPr>
            <p:cNvPr id="112966" name="Group 326"/>
            <p:cNvGrpSpPr>
              <a:grpSpLocks/>
            </p:cNvGrpSpPr>
            <p:nvPr/>
          </p:nvGrpSpPr>
          <p:grpSpPr bwMode="auto">
            <a:xfrm>
              <a:off x="0" y="0"/>
              <a:ext cx="4343" cy="1324"/>
              <a:chOff x="0" y="0"/>
              <a:chExt cx="4343" cy="1324"/>
            </a:xfrm>
          </p:grpSpPr>
          <p:grpSp>
            <p:nvGrpSpPr>
              <p:cNvPr id="112967" name="Group 327"/>
              <p:cNvGrpSpPr>
                <a:grpSpLocks/>
              </p:cNvGrpSpPr>
              <p:nvPr/>
            </p:nvGrpSpPr>
            <p:grpSpPr bwMode="auto">
              <a:xfrm>
                <a:off x="0" y="0"/>
                <a:ext cx="706" cy="403"/>
                <a:chOff x="0" y="0"/>
                <a:chExt cx="706" cy="403"/>
              </a:xfrm>
            </p:grpSpPr>
            <p:sp>
              <p:nvSpPr>
                <p:cNvPr id="112968" name="Rectangle 328"/>
                <p:cNvSpPr>
                  <a:spLocks noChangeArrowheads="1"/>
                </p:cNvSpPr>
                <p:nvPr/>
              </p:nvSpPr>
              <p:spPr bwMode="auto">
                <a:xfrm>
                  <a:off x="43" y="0"/>
                  <a:ext cx="62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Name</a:t>
                  </a:r>
                </a:p>
                <a:p>
                  <a:pPr eaLnBrk="0" hangingPunct="0"/>
                  <a:endParaRPr lang="en-US" altLang="en-US" sz="2400" b="1">
                    <a:latin typeface="Times New Roman" panose="02020603050405020304" pitchFamily="18" charset="0"/>
                  </a:endParaRPr>
                </a:p>
              </p:txBody>
            </p:sp>
            <p:sp>
              <p:nvSpPr>
                <p:cNvPr id="112969" name="Rectangle 329"/>
                <p:cNvSpPr>
                  <a:spLocks noChangeArrowheads="1"/>
                </p:cNvSpPr>
                <p:nvPr/>
              </p:nvSpPr>
              <p:spPr bwMode="auto">
                <a:xfrm>
                  <a:off x="0" y="0"/>
                  <a:ext cx="70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70" name="Group 330"/>
              <p:cNvGrpSpPr>
                <a:grpSpLocks/>
              </p:cNvGrpSpPr>
              <p:nvPr/>
            </p:nvGrpSpPr>
            <p:grpSpPr bwMode="auto">
              <a:xfrm>
                <a:off x="706" y="0"/>
                <a:ext cx="748" cy="403"/>
                <a:chOff x="706" y="0"/>
                <a:chExt cx="748" cy="403"/>
              </a:xfrm>
            </p:grpSpPr>
            <p:sp>
              <p:nvSpPr>
                <p:cNvPr id="112971" name="Rectangle 331"/>
                <p:cNvSpPr>
                  <a:spLocks noChangeArrowheads="1"/>
                </p:cNvSpPr>
                <p:nvPr/>
              </p:nvSpPr>
              <p:spPr bwMode="auto">
                <a:xfrm>
                  <a:off x="749" y="0"/>
                  <a:ext cx="66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Address</a:t>
                  </a:r>
                </a:p>
                <a:p>
                  <a:pPr eaLnBrk="0" hangingPunct="0"/>
                  <a:endParaRPr lang="en-US" altLang="en-US" sz="2400" b="1">
                    <a:latin typeface="Times New Roman" panose="02020603050405020304" pitchFamily="18" charset="0"/>
                  </a:endParaRPr>
                </a:p>
              </p:txBody>
            </p:sp>
            <p:sp>
              <p:nvSpPr>
                <p:cNvPr id="112972" name="Rectangle 332"/>
                <p:cNvSpPr>
                  <a:spLocks noChangeArrowheads="1"/>
                </p:cNvSpPr>
                <p:nvPr/>
              </p:nvSpPr>
              <p:spPr bwMode="auto">
                <a:xfrm>
                  <a:off x="706" y="0"/>
                  <a:ext cx="74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73" name="Group 333"/>
              <p:cNvGrpSpPr>
                <a:grpSpLocks/>
              </p:cNvGrpSpPr>
              <p:nvPr/>
            </p:nvGrpSpPr>
            <p:grpSpPr bwMode="auto">
              <a:xfrm>
                <a:off x="1454" y="0"/>
                <a:ext cx="601" cy="403"/>
                <a:chOff x="1454" y="0"/>
                <a:chExt cx="601" cy="403"/>
              </a:xfrm>
            </p:grpSpPr>
            <p:sp>
              <p:nvSpPr>
                <p:cNvPr id="112974" name="Rectangle 334"/>
                <p:cNvSpPr>
                  <a:spLocks noChangeArrowheads="1"/>
                </p:cNvSpPr>
                <p:nvPr/>
              </p:nvSpPr>
              <p:spPr bwMode="auto">
                <a:xfrm>
                  <a:off x="1497" y="0"/>
                  <a:ext cx="51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City</a:t>
                  </a:r>
                </a:p>
                <a:p>
                  <a:pPr eaLnBrk="0" hangingPunct="0"/>
                  <a:endParaRPr lang="en-US" altLang="en-US" sz="2400" b="1">
                    <a:latin typeface="Times New Roman" panose="02020603050405020304" pitchFamily="18" charset="0"/>
                  </a:endParaRPr>
                </a:p>
              </p:txBody>
            </p:sp>
            <p:sp>
              <p:nvSpPr>
                <p:cNvPr id="112975" name="Rectangle 335"/>
                <p:cNvSpPr>
                  <a:spLocks noChangeArrowheads="1"/>
                </p:cNvSpPr>
                <p:nvPr/>
              </p:nvSpPr>
              <p:spPr bwMode="auto">
                <a:xfrm>
                  <a:off x="1454" y="0"/>
                  <a:ext cx="6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76" name="Group 336"/>
              <p:cNvGrpSpPr>
                <a:grpSpLocks/>
              </p:cNvGrpSpPr>
              <p:nvPr/>
            </p:nvGrpSpPr>
            <p:grpSpPr bwMode="auto">
              <a:xfrm>
                <a:off x="2055" y="0"/>
                <a:ext cx="518" cy="403"/>
                <a:chOff x="2055" y="0"/>
                <a:chExt cx="518" cy="403"/>
              </a:xfrm>
            </p:grpSpPr>
            <p:sp>
              <p:nvSpPr>
                <p:cNvPr id="112977" name="Rectangle 337"/>
                <p:cNvSpPr>
                  <a:spLocks noChangeArrowheads="1"/>
                </p:cNvSpPr>
                <p:nvPr/>
              </p:nvSpPr>
              <p:spPr bwMode="auto">
                <a:xfrm>
                  <a:off x="2098" y="0"/>
                  <a:ext cx="43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Zip</a:t>
                  </a:r>
                </a:p>
                <a:p>
                  <a:pPr eaLnBrk="0" hangingPunct="0"/>
                  <a:endParaRPr lang="en-US" altLang="en-US" sz="2400" b="1">
                    <a:latin typeface="Times New Roman" panose="02020603050405020304" pitchFamily="18" charset="0"/>
                  </a:endParaRPr>
                </a:p>
              </p:txBody>
            </p:sp>
            <p:sp>
              <p:nvSpPr>
                <p:cNvPr id="112978" name="Rectangle 338"/>
                <p:cNvSpPr>
                  <a:spLocks noChangeArrowheads="1"/>
                </p:cNvSpPr>
                <p:nvPr/>
              </p:nvSpPr>
              <p:spPr bwMode="auto">
                <a:xfrm>
                  <a:off x="2055" y="0"/>
                  <a:ext cx="51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79" name="Group 339"/>
              <p:cNvGrpSpPr>
                <a:grpSpLocks/>
              </p:cNvGrpSpPr>
              <p:nvPr/>
            </p:nvGrpSpPr>
            <p:grpSpPr bwMode="auto">
              <a:xfrm>
                <a:off x="2573" y="0"/>
                <a:ext cx="590" cy="403"/>
                <a:chOff x="2573" y="0"/>
                <a:chExt cx="590" cy="403"/>
              </a:xfrm>
            </p:grpSpPr>
            <p:sp>
              <p:nvSpPr>
                <p:cNvPr id="112980" name="Rectangle 340"/>
                <p:cNvSpPr>
                  <a:spLocks noChangeArrowheads="1"/>
                </p:cNvSpPr>
                <p:nvPr/>
              </p:nvSpPr>
              <p:spPr bwMode="auto">
                <a:xfrm>
                  <a:off x="2616" y="0"/>
                  <a:ext cx="50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DOB</a:t>
                  </a:r>
                </a:p>
                <a:p>
                  <a:pPr eaLnBrk="0" hangingPunct="0"/>
                  <a:endParaRPr lang="en-US" altLang="en-US" sz="2400" b="1">
                    <a:latin typeface="Times New Roman" panose="02020603050405020304" pitchFamily="18" charset="0"/>
                  </a:endParaRPr>
                </a:p>
              </p:txBody>
            </p:sp>
            <p:sp>
              <p:nvSpPr>
                <p:cNvPr id="112981" name="Rectangle 341"/>
                <p:cNvSpPr>
                  <a:spLocks noChangeArrowheads="1"/>
                </p:cNvSpPr>
                <p:nvPr/>
              </p:nvSpPr>
              <p:spPr bwMode="auto">
                <a:xfrm>
                  <a:off x="2573" y="0"/>
                  <a:ext cx="59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82" name="Group 342"/>
              <p:cNvGrpSpPr>
                <a:grpSpLocks/>
              </p:cNvGrpSpPr>
              <p:nvPr/>
            </p:nvGrpSpPr>
            <p:grpSpPr bwMode="auto">
              <a:xfrm>
                <a:off x="3163" y="0"/>
                <a:ext cx="590" cy="403"/>
                <a:chOff x="3163" y="0"/>
                <a:chExt cx="590" cy="403"/>
              </a:xfrm>
            </p:grpSpPr>
            <p:sp>
              <p:nvSpPr>
                <p:cNvPr id="112983" name="Rectangle 343"/>
                <p:cNvSpPr>
                  <a:spLocks noChangeArrowheads="1"/>
                </p:cNvSpPr>
                <p:nvPr/>
              </p:nvSpPr>
              <p:spPr bwMode="auto">
                <a:xfrm>
                  <a:off x="3206" y="0"/>
                  <a:ext cx="50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Sex</a:t>
                  </a:r>
                </a:p>
                <a:p>
                  <a:pPr eaLnBrk="0" hangingPunct="0"/>
                  <a:endParaRPr lang="en-US" altLang="en-US" sz="2400" b="1">
                    <a:latin typeface="Times New Roman" panose="02020603050405020304" pitchFamily="18" charset="0"/>
                  </a:endParaRPr>
                </a:p>
              </p:txBody>
            </p:sp>
            <p:sp>
              <p:nvSpPr>
                <p:cNvPr id="112984" name="Rectangle 344"/>
                <p:cNvSpPr>
                  <a:spLocks noChangeArrowheads="1"/>
                </p:cNvSpPr>
                <p:nvPr/>
              </p:nvSpPr>
              <p:spPr bwMode="auto">
                <a:xfrm>
                  <a:off x="3163" y="0"/>
                  <a:ext cx="59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85" name="Group 345"/>
              <p:cNvGrpSpPr>
                <a:grpSpLocks/>
              </p:cNvGrpSpPr>
              <p:nvPr/>
            </p:nvGrpSpPr>
            <p:grpSpPr bwMode="auto">
              <a:xfrm>
                <a:off x="3753" y="0"/>
                <a:ext cx="590" cy="403"/>
                <a:chOff x="3753" y="0"/>
                <a:chExt cx="590" cy="403"/>
              </a:xfrm>
            </p:grpSpPr>
            <p:sp>
              <p:nvSpPr>
                <p:cNvPr id="112986" name="Rectangle 346"/>
                <p:cNvSpPr>
                  <a:spLocks noChangeArrowheads="1"/>
                </p:cNvSpPr>
                <p:nvPr/>
              </p:nvSpPr>
              <p:spPr bwMode="auto">
                <a:xfrm>
                  <a:off x="3796" y="0"/>
                  <a:ext cx="50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Party</a:t>
                  </a:r>
                </a:p>
                <a:p>
                  <a:pPr eaLnBrk="0" hangingPunct="0"/>
                  <a:endParaRPr lang="en-US" altLang="en-US" sz="2400" b="1">
                    <a:latin typeface="Times New Roman" panose="02020603050405020304" pitchFamily="18" charset="0"/>
                  </a:endParaRPr>
                </a:p>
              </p:txBody>
            </p:sp>
            <p:sp>
              <p:nvSpPr>
                <p:cNvPr id="112987" name="Rectangle 347"/>
                <p:cNvSpPr>
                  <a:spLocks noChangeArrowheads="1"/>
                </p:cNvSpPr>
                <p:nvPr/>
              </p:nvSpPr>
              <p:spPr bwMode="auto">
                <a:xfrm>
                  <a:off x="3753" y="0"/>
                  <a:ext cx="59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88" name="Group 348"/>
              <p:cNvGrpSpPr>
                <a:grpSpLocks/>
              </p:cNvGrpSpPr>
              <p:nvPr/>
            </p:nvGrpSpPr>
            <p:grpSpPr bwMode="auto">
              <a:xfrm>
                <a:off x="0" y="403"/>
                <a:ext cx="706" cy="403"/>
                <a:chOff x="0" y="403"/>
                <a:chExt cx="706" cy="403"/>
              </a:xfrm>
            </p:grpSpPr>
            <p:sp>
              <p:nvSpPr>
                <p:cNvPr id="112989" name="Rectangle 349"/>
                <p:cNvSpPr>
                  <a:spLocks noChangeArrowheads="1"/>
                </p:cNvSpPr>
                <p:nvPr/>
              </p:nvSpPr>
              <p:spPr bwMode="auto">
                <a:xfrm>
                  <a:off x="43" y="403"/>
                  <a:ext cx="620"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a:t>
                  </a:r>
                </a:p>
                <a:p>
                  <a:pPr eaLnBrk="0" hangingPunct="0"/>
                  <a:endParaRPr lang="en-US" altLang="en-US" sz="2400" b="1">
                    <a:latin typeface="Times New Roman" panose="02020603050405020304" pitchFamily="18" charset="0"/>
                  </a:endParaRPr>
                </a:p>
              </p:txBody>
            </p:sp>
            <p:sp>
              <p:nvSpPr>
                <p:cNvPr id="112990" name="Rectangle 350"/>
                <p:cNvSpPr>
                  <a:spLocks noChangeArrowheads="1"/>
                </p:cNvSpPr>
                <p:nvPr/>
              </p:nvSpPr>
              <p:spPr bwMode="auto">
                <a:xfrm>
                  <a:off x="0" y="403"/>
                  <a:ext cx="706"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91" name="Group 351"/>
              <p:cNvGrpSpPr>
                <a:grpSpLocks/>
              </p:cNvGrpSpPr>
              <p:nvPr/>
            </p:nvGrpSpPr>
            <p:grpSpPr bwMode="auto">
              <a:xfrm>
                <a:off x="706" y="403"/>
                <a:ext cx="748" cy="403"/>
                <a:chOff x="706" y="403"/>
                <a:chExt cx="748" cy="403"/>
              </a:xfrm>
            </p:grpSpPr>
            <p:sp>
              <p:nvSpPr>
                <p:cNvPr id="112992" name="Rectangle 352"/>
                <p:cNvSpPr>
                  <a:spLocks noChangeArrowheads="1"/>
                </p:cNvSpPr>
                <p:nvPr/>
              </p:nvSpPr>
              <p:spPr bwMode="auto">
                <a:xfrm>
                  <a:off x="749" y="403"/>
                  <a:ext cx="66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a:t>
                  </a:r>
                </a:p>
                <a:p>
                  <a:pPr eaLnBrk="0" hangingPunct="0"/>
                  <a:endParaRPr lang="en-US" altLang="en-US" sz="2400" b="1">
                    <a:latin typeface="Times New Roman" panose="02020603050405020304" pitchFamily="18" charset="0"/>
                  </a:endParaRPr>
                </a:p>
              </p:txBody>
            </p:sp>
            <p:sp>
              <p:nvSpPr>
                <p:cNvPr id="112993" name="Rectangle 353"/>
                <p:cNvSpPr>
                  <a:spLocks noChangeArrowheads="1"/>
                </p:cNvSpPr>
                <p:nvPr/>
              </p:nvSpPr>
              <p:spPr bwMode="auto">
                <a:xfrm>
                  <a:off x="706" y="403"/>
                  <a:ext cx="74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94" name="Group 354"/>
              <p:cNvGrpSpPr>
                <a:grpSpLocks/>
              </p:cNvGrpSpPr>
              <p:nvPr/>
            </p:nvGrpSpPr>
            <p:grpSpPr bwMode="auto">
              <a:xfrm>
                <a:off x="1454" y="403"/>
                <a:ext cx="601" cy="403"/>
                <a:chOff x="1454" y="403"/>
                <a:chExt cx="601" cy="403"/>
              </a:xfrm>
            </p:grpSpPr>
            <p:sp>
              <p:nvSpPr>
                <p:cNvPr id="112995" name="Rectangle 355"/>
                <p:cNvSpPr>
                  <a:spLocks noChangeArrowheads="1"/>
                </p:cNvSpPr>
                <p:nvPr/>
              </p:nvSpPr>
              <p:spPr bwMode="auto">
                <a:xfrm>
                  <a:off x="1497" y="403"/>
                  <a:ext cx="51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a:t>
                  </a:r>
                </a:p>
                <a:p>
                  <a:pPr eaLnBrk="0" hangingPunct="0"/>
                  <a:endParaRPr lang="en-US" altLang="en-US" sz="2400" b="1">
                    <a:latin typeface="Times New Roman" panose="02020603050405020304" pitchFamily="18" charset="0"/>
                  </a:endParaRPr>
                </a:p>
              </p:txBody>
            </p:sp>
            <p:sp>
              <p:nvSpPr>
                <p:cNvPr id="112996" name="Rectangle 356"/>
                <p:cNvSpPr>
                  <a:spLocks noChangeArrowheads="1"/>
                </p:cNvSpPr>
                <p:nvPr/>
              </p:nvSpPr>
              <p:spPr bwMode="auto">
                <a:xfrm>
                  <a:off x="1454" y="403"/>
                  <a:ext cx="601"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2997" name="Group 357"/>
              <p:cNvGrpSpPr>
                <a:grpSpLocks/>
              </p:cNvGrpSpPr>
              <p:nvPr/>
            </p:nvGrpSpPr>
            <p:grpSpPr bwMode="auto">
              <a:xfrm>
                <a:off x="2055" y="403"/>
                <a:ext cx="518" cy="403"/>
                <a:chOff x="2055" y="403"/>
                <a:chExt cx="518" cy="403"/>
              </a:xfrm>
            </p:grpSpPr>
            <p:sp>
              <p:nvSpPr>
                <p:cNvPr id="112998" name="Rectangle 358"/>
                <p:cNvSpPr>
                  <a:spLocks noChangeArrowheads="1"/>
                </p:cNvSpPr>
                <p:nvPr/>
              </p:nvSpPr>
              <p:spPr bwMode="auto">
                <a:xfrm>
                  <a:off x="2098" y="403"/>
                  <a:ext cx="432"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a:t>
                  </a:r>
                </a:p>
                <a:p>
                  <a:pPr eaLnBrk="0" hangingPunct="0"/>
                  <a:endParaRPr lang="en-US" altLang="en-US" sz="2400" b="1">
                    <a:latin typeface="Times New Roman" panose="02020603050405020304" pitchFamily="18" charset="0"/>
                  </a:endParaRPr>
                </a:p>
              </p:txBody>
            </p:sp>
            <p:sp>
              <p:nvSpPr>
                <p:cNvPr id="112999" name="Rectangle 359"/>
                <p:cNvSpPr>
                  <a:spLocks noChangeArrowheads="1"/>
                </p:cNvSpPr>
                <p:nvPr/>
              </p:nvSpPr>
              <p:spPr bwMode="auto">
                <a:xfrm>
                  <a:off x="2055" y="403"/>
                  <a:ext cx="518"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3000" name="Group 360"/>
              <p:cNvGrpSpPr>
                <a:grpSpLocks/>
              </p:cNvGrpSpPr>
              <p:nvPr/>
            </p:nvGrpSpPr>
            <p:grpSpPr bwMode="auto">
              <a:xfrm>
                <a:off x="2573" y="403"/>
                <a:ext cx="590" cy="403"/>
                <a:chOff x="2573" y="403"/>
                <a:chExt cx="590" cy="403"/>
              </a:xfrm>
            </p:grpSpPr>
            <p:sp>
              <p:nvSpPr>
                <p:cNvPr id="113001" name="Rectangle 361"/>
                <p:cNvSpPr>
                  <a:spLocks noChangeArrowheads="1"/>
                </p:cNvSpPr>
                <p:nvPr/>
              </p:nvSpPr>
              <p:spPr bwMode="auto">
                <a:xfrm>
                  <a:off x="2616" y="403"/>
                  <a:ext cx="50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a:t>
                  </a:r>
                </a:p>
                <a:p>
                  <a:pPr eaLnBrk="0" hangingPunct="0"/>
                  <a:endParaRPr lang="en-US" altLang="en-US" sz="2400" b="1">
                    <a:latin typeface="Times New Roman" panose="02020603050405020304" pitchFamily="18" charset="0"/>
                  </a:endParaRPr>
                </a:p>
              </p:txBody>
            </p:sp>
            <p:sp>
              <p:nvSpPr>
                <p:cNvPr id="113002" name="Rectangle 362"/>
                <p:cNvSpPr>
                  <a:spLocks noChangeArrowheads="1"/>
                </p:cNvSpPr>
                <p:nvPr/>
              </p:nvSpPr>
              <p:spPr bwMode="auto">
                <a:xfrm>
                  <a:off x="2573" y="403"/>
                  <a:ext cx="59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3003" name="Group 363"/>
              <p:cNvGrpSpPr>
                <a:grpSpLocks/>
              </p:cNvGrpSpPr>
              <p:nvPr/>
            </p:nvGrpSpPr>
            <p:grpSpPr bwMode="auto">
              <a:xfrm>
                <a:off x="3163" y="403"/>
                <a:ext cx="590" cy="403"/>
                <a:chOff x="3163" y="403"/>
                <a:chExt cx="590" cy="403"/>
              </a:xfrm>
            </p:grpSpPr>
            <p:sp>
              <p:nvSpPr>
                <p:cNvPr id="113004" name="Rectangle 364"/>
                <p:cNvSpPr>
                  <a:spLocks noChangeArrowheads="1"/>
                </p:cNvSpPr>
                <p:nvPr/>
              </p:nvSpPr>
              <p:spPr bwMode="auto">
                <a:xfrm>
                  <a:off x="3206" y="403"/>
                  <a:ext cx="50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a:t>
                  </a:r>
                </a:p>
                <a:p>
                  <a:pPr eaLnBrk="0" hangingPunct="0"/>
                  <a:endParaRPr lang="en-US" altLang="en-US" sz="2400" b="1">
                    <a:latin typeface="Times New Roman" panose="02020603050405020304" pitchFamily="18" charset="0"/>
                  </a:endParaRPr>
                </a:p>
              </p:txBody>
            </p:sp>
            <p:sp>
              <p:nvSpPr>
                <p:cNvPr id="113005" name="Rectangle 365"/>
                <p:cNvSpPr>
                  <a:spLocks noChangeArrowheads="1"/>
                </p:cNvSpPr>
                <p:nvPr/>
              </p:nvSpPr>
              <p:spPr bwMode="auto">
                <a:xfrm>
                  <a:off x="3163" y="403"/>
                  <a:ext cx="59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3006" name="Group 366"/>
              <p:cNvGrpSpPr>
                <a:grpSpLocks/>
              </p:cNvGrpSpPr>
              <p:nvPr/>
            </p:nvGrpSpPr>
            <p:grpSpPr bwMode="auto">
              <a:xfrm>
                <a:off x="3753" y="403"/>
                <a:ext cx="590" cy="403"/>
                <a:chOff x="3753" y="403"/>
                <a:chExt cx="590" cy="403"/>
              </a:xfrm>
            </p:grpSpPr>
            <p:sp>
              <p:nvSpPr>
                <p:cNvPr id="113007" name="Rectangle 367"/>
                <p:cNvSpPr>
                  <a:spLocks noChangeArrowheads="1"/>
                </p:cNvSpPr>
                <p:nvPr/>
              </p:nvSpPr>
              <p:spPr bwMode="auto">
                <a:xfrm>
                  <a:off x="3796" y="403"/>
                  <a:ext cx="504"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a:t>
                  </a:r>
                </a:p>
                <a:p>
                  <a:pPr eaLnBrk="0" hangingPunct="0"/>
                  <a:endParaRPr lang="en-US" altLang="en-US" sz="2400" b="1">
                    <a:latin typeface="Times New Roman" panose="02020603050405020304" pitchFamily="18" charset="0"/>
                  </a:endParaRPr>
                </a:p>
              </p:txBody>
            </p:sp>
            <p:sp>
              <p:nvSpPr>
                <p:cNvPr id="113008" name="Rectangle 368"/>
                <p:cNvSpPr>
                  <a:spLocks noChangeArrowheads="1"/>
                </p:cNvSpPr>
                <p:nvPr/>
              </p:nvSpPr>
              <p:spPr bwMode="auto">
                <a:xfrm>
                  <a:off x="3753" y="403"/>
                  <a:ext cx="590" cy="403"/>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3009" name="Group 369"/>
              <p:cNvGrpSpPr>
                <a:grpSpLocks/>
              </p:cNvGrpSpPr>
              <p:nvPr/>
            </p:nvGrpSpPr>
            <p:grpSpPr bwMode="auto">
              <a:xfrm>
                <a:off x="0" y="806"/>
                <a:ext cx="706" cy="518"/>
                <a:chOff x="0" y="806"/>
                <a:chExt cx="706" cy="518"/>
              </a:xfrm>
            </p:grpSpPr>
            <p:sp>
              <p:nvSpPr>
                <p:cNvPr id="113010" name="Rectangle 370"/>
                <p:cNvSpPr>
                  <a:spLocks noChangeArrowheads="1"/>
                </p:cNvSpPr>
                <p:nvPr/>
              </p:nvSpPr>
              <p:spPr bwMode="auto">
                <a:xfrm>
                  <a:off x="43" y="806"/>
                  <a:ext cx="620"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Sue Carlson</a:t>
                  </a:r>
                </a:p>
                <a:p>
                  <a:pPr eaLnBrk="0" hangingPunct="0"/>
                  <a:endParaRPr lang="en-US" altLang="en-US" sz="2400" b="1">
                    <a:latin typeface="Times New Roman" panose="02020603050405020304" pitchFamily="18" charset="0"/>
                  </a:endParaRPr>
                </a:p>
              </p:txBody>
            </p:sp>
            <p:sp>
              <p:nvSpPr>
                <p:cNvPr id="113011" name="Rectangle 371"/>
                <p:cNvSpPr>
                  <a:spLocks noChangeArrowheads="1"/>
                </p:cNvSpPr>
                <p:nvPr/>
              </p:nvSpPr>
              <p:spPr bwMode="auto">
                <a:xfrm>
                  <a:off x="0" y="806"/>
                  <a:ext cx="706"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3012" name="Group 372"/>
              <p:cNvGrpSpPr>
                <a:grpSpLocks/>
              </p:cNvGrpSpPr>
              <p:nvPr/>
            </p:nvGrpSpPr>
            <p:grpSpPr bwMode="auto">
              <a:xfrm>
                <a:off x="706" y="806"/>
                <a:ext cx="748" cy="518"/>
                <a:chOff x="706" y="806"/>
                <a:chExt cx="748" cy="518"/>
              </a:xfrm>
            </p:grpSpPr>
            <p:sp>
              <p:nvSpPr>
                <p:cNvPr id="113013" name="Rectangle 373"/>
                <p:cNvSpPr>
                  <a:spLocks noChangeArrowheads="1"/>
                </p:cNvSpPr>
                <p:nvPr/>
              </p:nvSpPr>
              <p:spPr bwMode="auto">
                <a:xfrm>
                  <a:off x="749" y="806"/>
                  <a:ext cx="662"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900 Market St.</a:t>
                  </a:r>
                </a:p>
                <a:p>
                  <a:pPr eaLnBrk="0" hangingPunct="0"/>
                  <a:endParaRPr lang="en-US" altLang="en-US" sz="2400" b="1">
                    <a:latin typeface="Times New Roman" panose="02020603050405020304" pitchFamily="18" charset="0"/>
                  </a:endParaRPr>
                </a:p>
              </p:txBody>
            </p:sp>
            <p:sp>
              <p:nvSpPr>
                <p:cNvPr id="113014" name="Rectangle 374"/>
                <p:cNvSpPr>
                  <a:spLocks noChangeArrowheads="1"/>
                </p:cNvSpPr>
                <p:nvPr/>
              </p:nvSpPr>
              <p:spPr bwMode="auto">
                <a:xfrm>
                  <a:off x="706" y="806"/>
                  <a:ext cx="748"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3015" name="Group 375"/>
              <p:cNvGrpSpPr>
                <a:grpSpLocks/>
              </p:cNvGrpSpPr>
              <p:nvPr/>
            </p:nvGrpSpPr>
            <p:grpSpPr bwMode="auto">
              <a:xfrm>
                <a:off x="1454" y="806"/>
                <a:ext cx="601" cy="518"/>
                <a:chOff x="1454" y="806"/>
                <a:chExt cx="601" cy="518"/>
              </a:xfrm>
            </p:grpSpPr>
            <p:sp>
              <p:nvSpPr>
                <p:cNvPr id="113016" name="Rectangle 376"/>
                <p:cNvSpPr>
                  <a:spLocks noChangeArrowheads="1"/>
                </p:cNvSpPr>
                <p:nvPr/>
              </p:nvSpPr>
              <p:spPr bwMode="auto">
                <a:xfrm>
                  <a:off x="1497" y="806"/>
                  <a:ext cx="515"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Fairfax</a:t>
                  </a:r>
                </a:p>
                <a:p>
                  <a:pPr eaLnBrk="0" hangingPunct="0"/>
                  <a:endParaRPr lang="en-US" altLang="en-US" sz="2400" b="1">
                    <a:latin typeface="Times New Roman" panose="02020603050405020304" pitchFamily="18" charset="0"/>
                  </a:endParaRPr>
                </a:p>
              </p:txBody>
            </p:sp>
            <p:sp>
              <p:nvSpPr>
                <p:cNvPr id="113017" name="Rectangle 377"/>
                <p:cNvSpPr>
                  <a:spLocks noChangeArrowheads="1"/>
                </p:cNvSpPr>
                <p:nvPr/>
              </p:nvSpPr>
              <p:spPr bwMode="auto">
                <a:xfrm>
                  <a:off x="1454" y="806"/>
                  <a:ext cx="601"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3018" name="Group 378"/>
              <p:cNvGrpSpPr>
                <a:grpSpLocks/>
              </p:cNvGrpSpPr>
              <p:nvPr/>
            </p:nvGrpSpPr>
            <p:grpSpPr bwMode="auto">
              <a:xfrm>
                <a:off x="2055" y="806"/>
                <a:ext cx="518" cy="518"/>
                <a:chOff x="2055" y="806"/>
                <a:chExt cx="518" cy="518"/>
              </a:xfrm>
            </p:grpSpPr>
            <p:sp>
              <p:nvSpPr>
                <p:cNvPr id="113019" name="Rectangle 379"/>
                <p:cNvSpPr>
                  <a:spLocks noChangeArrowheads="1"/>
                </p:cNvSpPr>
                <p:nvPr/>
              </p:nvSpPr>
              <p:spPr bwMode="auto">
                <a:xfrm>
                  <a:off x="2098" y="806"/>
                  <a:ext cx="432"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solidFill>
                        <a:srgbClr val="FF0000"/>
                      </a:solidFill>
                      <a:latin typeface="Times New Roman" panose="02020603050405020304" pitchFamily="18" charset="0"/>
                      <a:cs typeface="Times New Roman" panose="02020603050405020304" pitchFamily="18" charset="0"/>
                    </a:rPr>
                    <a:t>22031</a:t>
                  </a:r>
                  <a:endParaRPr lang="en-US" altLang="en-US" sz="1200" b="1">
                    <a:latin typeface="Times New Roman" panose="02020603050405020304" pitchFamily="18" charset="0"/>
                    <a:cs typeface="Times New Roman" panose="02020603050405020304" pitchFamily="18" charset="0"/>
                  </a:endParaRPr>
                </a:p>
                <a:p>
                  <a:pPr eaLnBrk="0" hangingPunct="0"/>
                  <a:endParaRPr lang="en-US" altLang="en-US" sz="2400" b="1">
                    <a:latin typeface="Times New Roman" panose="02020603050405020304" pitchFamily="18" charset="0"/>
                  </a:endParaRPr>
                </a:p>
              </p:txBody>
            </p:sp>
            <p:sp>
              <p:nvSpPr>
                <p:cNvPr id="113020" name="Rectangle 380"/>
                <p:cNvSpPr>
                  <a:spLocks noChangeArrowheads="1"/>
                </p:cNvSpPr>
                <p:nvPr/>
              </p:nvSpPr>
              <p:spPr bwMode="auto">
                <a:xfrm>
                  <a:off x="2055" y="806"/>
                  <a:ext cx="518"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3021" name="Group 381"/>
              <p:cNvGrpSpPr>
                <a:grpSpLocks/>
              </p:cNvGrpSpPr>
              <p:nvPr/>
            </p:nvGrpSpPr>
            <p:grpSpPr bwMode="auto">
              <a:xfrm>
                <a:off x="2573" y="806"/>
                <a:ext cx="590" cy="518"/>
                <a:chOff x="2573" y="806"/>
                <a:chExt cx="590" cy="518"/>
              </a:xfrm>
            </p:grpSpPr>
            <p:sp>
              <p:nvSpPr>
                <p:cNvPr id="113022" name="Rectangle 382"/>
                <p:cNvSpPr>
                  <a:spLocks noChangeArrowheads="1"/>
                </p:cNvSpPr>
                <p:nvPr/>
              </p:nvSpPr>
              <p:spPr bwMode="auto">
                <a:xfrm>
                  <a:off x="2616" y="806"/>
                  <a:ext cx="504"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solidFill>
                        <a:srgbClr val="FF0000"/>
                      </a:solidFill>
                      <a:latin typeface="Times New Roman" panose="02020603050405020304" pitchFamily="18" charset="0"/>
                      <a:cs typeface="Times New Roman" panose="02020603050405020304" pitchFamily="18" charset="0"/>
                    </a:rPr>
                    <a:t>09/15/61</a:t>
                  </a:r>
                  <a:endParaRPr lang="en-US" altLang="en-US" sz="1200" b="1">
                    <a:latin typeface="Times New Roman" panose="02020603050405020304" pitchFamily="18" charset="0"/>
                    <a:cs typeface="Times New Roman" panose="02020603050405020304" pitchFamily="18" charset="0"/>
                  </a:endParaRPr>
                </a:p>
                <a:p>
                  <a:pPr eaLnBrk="0" hangingPunct="0"/>
                  <a:endParaRPr lang="en-US" altLang="en-US" sz="2400" b="1">
                    <a:latin typeface="Times New Roman" panose="02020603050405020304" pitchFamily="18" charset="0"/>
                  </a:endParaRPr>
                </a:p>
              </p:txBody>
            </p:sp>
            <p:sp>
              <p:nvSpPr>
                <p:cNvPr id="113023" name="Rectangle 383"/>
                <p:cNvSpPr>
                  <a:spLocks noChangeArrowheads="1"/>
                </p:cNvSpPr>
                <p:nvPr/>
              </p:nvSpPr>
              <p:spPr bwMode="auto">
                <a:xfrm>
                  <a:off x="2573" y="806"/>
                  <a:ext cx="590"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3024" name="Group 384"/>
              <p:cNvGrpSpPr>
                <a:grpSpLocks/>
              </p:cNvGrpSpPr>
              <p:nvPr/>
            </p:nvGrpSpPr>
            <p:grpSpPr bwMode="auto">
              <a:xfrm>
                <a:off x="3163" y="806"/>
                <a:ext cx="590" cy="518"/>
                <a:chOff x="3163" y="806"/>
                <a:chExt cx="590" cy="518"/>
              </a:xfrm>
            </p:grpSpPr>
            <p:sp>
              <p:nvSpPr>
                <p:cNvPr id="113025" name="Rectangle 385"/>
                <p:cNvSpPr>
                  <a:spLocks noChangeArrowheads="1"/>
                </p:cNvSpPr>
                <p:nvPr/>
              </p:nvSpPr>
              <p:spPr bwMode="auto">
                <a:xfrm>
                  <a:off x="3206" y="806"/>
                  <a:ext cx="504"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solidFill>
                        <a:srgbClr val="FF0000"/>
                      </a:solidFill>
                      <a:latin typeface="Times New Roman" panose="02020603050405020304" pitchFamily="18" charset="0"/>
                      <a:cs typeface="Times New Roman" panose="02020603050405020304" pitchFamily="18" charset="0"/>
                    </a:rPr>
                    <a:t>F</a:t>
                  </a:r>
                  <a:endParaRPr lang="en-US" altLang="en-US" sz="1200" b="1">
                    <a:latin typeface="Times New Roman" panose="02020603050405020304" pitchFamily="18" charset="0"/>
                    <a:cs typeface="Times New Roman" panose="02020603050405020304" pitchFamily="18" charset="0"/>
                  </a:endParaRPr>
                </a:p>
                <a:p>
                  <a:pPr eaLnBrk="0" hangingPunct="0"/>
                  <a:endParaRPr lang="en-US" altLang="en-US" sz="2400" b="1">
                    <a:latin typeface="Times New Roman" panose="02020603050405020304" pitchFamily="18" charset="0"/>
                  </a:endParaRPr>
                </a:p>
              </p:txBody>
            </p:sp>
            <p:sp>
              <p:nvSpPr>
                <p:cNvPr id="113026" name="Rectangle 386"/>
                <p:cNvSpPr>
                  <a:spLocks noChangeArrowheads="1"/>
                </p:cNvSpPr>
                <p:nvPr/>
              </p:nvSpPr>
              <p:spPr bwMode="auto">
                <a:xfrm>
                  <a:off x="3163" y="806"/>
                  <a:ext cx="590"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13027" name="Group 387"/>
              <p:cNvGrpSpPr>
                <a:grpSpLocks/>
              </p:cNvGrpSpPr>
              <p:nvPr/>
            </p:nvGrpSpPr>
            <p:grpSpPr bwMode="auto">
              <a:xfrm>
                <a:off x="3753" y="806"/>
                <a:ext cx="590" cy="518"/>
                <a:chOff x="3753" y="806"/>
                <a:chExt cx="590" cy="518"/>
              </a:xfrm>
            </p:grpSpPr>
            <p:sp>
              <p:nvSpPr>
                <p:cNvPr id="113028" name="Rectangle 388"/>
                <p:cNvSpPr>
                  <a:spLocks noChangeArrowheads="1"/>
                </p:cNvSpPr>
                <p:nvPr/>
              </p:nvSpPr>
              <p:spPr bwMode="auto">
                <a:xfrm>
                  <a:off x="3796" y="806"/>
                  <a:ext cx="504"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200" b="1">
                      <a:latin typeface="Times New Roman" panose="02020603050405020304" pitchFamily="18" charset="0"/>
                      <a:cs typeface="Times New Roman" panose="02020603050405020304" pitchFamily="18" charset="0"/>
                    </a:rPr>
                    <a:t>Democrat</a:t>
                  </a:r>
                </a:p>
                <a:p>
                  <a:pPr eaLnBrk="0" hangingPunct="0"/>
                  <a:endParaRPr lang="en-US" altLang="en-US" sz="2400" b="1">
                    <a:latin typeface="Times New Roman" panose="02020603050405020304" pitchFamily="18" charset="0"/>
                  </a:endParaRPr>
                </a:p>
              </p:txBody>
            </p:sp>
            <p:sp>
              <p:nvSpPr>
                <p:cNvPr id="113029" name="Rectangle 389"/>
                <p:cNvSpPr>
                  <a:spLocks noChangeArrowheads="1"/>
                </p:cNvSpPr>
                <p:nvPr/>
              </p:nvSpPr>
              <p:spPr bwMode="auto">
                <a:xfrm>
                  <a:off x="3753" y="806"/>
                  <a:ext cx="590" cy="51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113030" name="Rectangle 390"/>
            <p:cNvSpPr>
              <a:spLocks noChangeArrowheads="1"/>
            </p:cNvSpPr>
            <p:nvPr/>
          </p:nvSpPr>
          <p:spPr bwMode="auto">
            <a:xfrm>
              <a:off x="-3" y="-3"/>
              <a:ext cx="4349" cy="133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13031" name="Text Box 391"/>
          <p:cNvSpPr txBox="1">
            <a:spLocks noChangeArrowheads="1"/>
          </p:cNvSpPr>
          <p:nvPr/>
        </p:nvSpPr>
        <p:spPr bwMode="auto">
          <a:xfrm>
            <a:off x="2590801" y="3657600"/>
            <a:ext cx="32162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bg1"/>
              </a:buClr>
              <a:buSzPct val="100000"/>
              <a:buFontTx/>
              <a:buChar char="•"/>
            </a:pPr>
            <a:r>
              <a:rPr lang="en-US" altLang="en-US" sz="1600" b="1">
                <a:latin typeface="Times New Roman" panose="02020603050405020304" pitchFamily="18" charset="0"/>
              </a:rPr>
              <a:t>Public available voter list:</a:t>
            </a:r>
          </a:p>
        </p:txBody>
      </p:sp>
      <p:sp>
        <p:nvSpPr>
          <p:cNvPr id="113032" name="Oval 392"/>
          <p:cNvSpPr>
            <a:spLocks noChangeArrowheads="1"/>
          </p:cNvSpPr>
          <p:nvPr/>
        </p:nvSpPr>
        <p:spPr bwMode="auto">
          <a:xfrm>
            <a:off x="5334000" y="2895600"/>
            <a:ext cx="2667000" cy="7620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20000"/>
              </a:spcBef>
              <a:buClr>
                <a:schemeClr val="bg1"/>
              </a:buClr>
              <a:buSzPct val="100000"/>
              <a:buFontTx/>
              <a:buChar char="•"/>
            </a:pPr>
            <a:endParaRPr lang="en-US" altLang="en-US" sz="2400" b="1">
              <a:latin typeface="Times New Roman" panose="02020603050405020304" pitchFamily="18" charset="0"/>
            </a:endParaRPr>
          </a:p>
        </p:txBody>
      </p:sp>
      <p:sp>
        <p:nvSpPr>
          <p:cNvPr id="113034" name="Oval 394"/>
          <p:cNvSpPr>
            <a:spLocks noChangeArrowheads="1"/>
          </p:cNvSpPr>
          <p:nvPr/>
        </p:nvSpPr>
        <p:spPr bwMode="auto">
          <a:xfrm>
            <a:off x="6096000" y="4724400"/>
            <a:ext cx="2590800" cy="457200"/>
          </a:xfrm>
          <a:prstGeom prst="ellipse">
            <a:avLst/>
          </a:prstGeom>
          <a:noFill/>
          <a:ln w="31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3035" name="Line 395"/>
          <p:cNvSpPr>
            <a:spLocks noChangeShapeType="1"/>
          </p:cNvSpPr>
          <p:nvPr/>
        </p:nvSpPr>
        <p:spPr bwMode="auto">
          <a:xfrm>
            <a:off x="6477000" y="3505200"/>
            <a:ext cx="685800" cy="1219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3036" name="Line 396"/>
          <p:cNvSpPr>
            <a:spLocks noChangeShapeType="1"/>
          </p:cNvSpPr>
          <p:nvPr/>
        </p:nvSpPr>
        <p:spPr bwMode="auto">
          <a:xfrm>
            <a:off x="7239000" y="5181600"/>
            <a:ext cx="11430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3037" name="Text Box 397"/>
          <p:cNvSpPr txBox="1">
            <a:spLocks noChangeArrowheads="1"/>
          </p:cNvSpPr>
          <p:nvPr/>
        </p:nvSpPr>
        <p:spPr bwMode="auto">
          <a:xfrm>
            <a:off x="8382000" y="5410201"/>
            <a:ext cx="2209800" cy="3143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bg1"/>
              </a:buClr>
              <a:buSzPct val="100000"/>
              <a:buFontTx/>
              <a:buChar char="•"/>
            </a:pPr>
            <a:r>
              <a:rPr lang="en-US" altLang="en-US" sz="1400" b="1">
                <a:latin typeface="Times New Roman" panose="02020603050405020304" pitchFamily="18" charset="0"/>
              </a:rPr>
              <a:t>Sue Carlson has Aids!</a:t>
            </a:r>
          </a:p>
        </p:txBody>
      </p:sp>
      <p:sp>
        <p:nvSpPr>
          <p:cNvPr id="113033" name="Oval 393"/>
          <p:cNvSpPr>
            <a:spLocks noChangeArrowheads="1"/>
          </p:cNvSpPr>
          <p:nvPr/>
        </p:nvSpPr>
        <p:spPr bwMode="auto">
          <a:xfrm>
            <a:off x="5257800" y="3048000"/>
            <a:ext cx="2590800" cy="457200"/>
          </a:xfrm>
          <a:prstGeom prst="ellipse">
            <a:avLst/>
          </a:prstGeom>
          <a:noFill/>
          <a:ln w="31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84081522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r>
              <a:rPr lang="en-US" altLang="en-US"/>
              <a:t>Inference</a:t>
            </a:r>
          </a:p>
        </p:txBody>
      </p:sp>
      <p:sp>
        <p:nvSpPr>
          <p:cNvPr id="116739" name="Rectangle 3"/>
          <p:cNvSpPr>
            <a:spLocks noGrp="1" noChangeArrowheads="1"/>
          </p:cNvSpPr>
          <p:nvPr>
            <p:ph type="body" idx="1"/>
          </p:nvPr>
        </p:nvSpPr>
        <p:spPr/>
        <p:txBody>
          <a:bodyPr/>
          <a:lstStyle/>
          <a:p>
            <a:r>
              <a:rPr lang="en-GB" altLang="en-US"/>
              <a:t>Types of attack</a:t>
            </a:r>
          </a:p>
          <a:p>
            <a:pPr lvl="1"/>
            <a:r>
              <a:rPr lang="en-GB" altLang="en-US"/>
              <a:t>direct attack: aggregate computed over a small sample so individual data items leaked</a:t>
            </a:r>
          </a:p>
          <a:p>
            <a:pPr lvl="1"/>
            <a:r>
              <a:rPr lang="en-GB" altLang="en-US"/>
              <a:t>indirect attack</a:t>
            </a:r>
            <a:r>
              <a:rPr lang="en-GB" altLang="en-US" u="sng"/>
              <a:t>:</a:t>
            </a:r>
            <a:r>
              <a:rPr lang="en-GB" altLang="en-US"/>
              <a:t> combines several aggregates;</a:t>
            </a:r>
          </a:p>
          <a:p>
            <a:pPr lvl="1"/>
            <a:r>
              <a:rPr lang="en-GB" altLang="en-US"/>
              <a:t>tracker attack: type of indirect attack (very effective)</a:t>
            </a:r>
          </a:p>
          <a:p>
            <a:pPr lvl="1"/>
            <a:r>
              <a:rPr lang="en-GB" altLang="en-US"/>
              <a:t>linear system vulnerability: takes tracker attacks further, using algebraic relations between query sets to construct equations yielding desired information</a:t>
            </a:r>
          </a:p>
          <a:p>
            <a:pPr lvl="2">
              <a:buFontTx/>
              <a:buNone/>
            </a:pPr>
            <a:endParaRPr lang="en-US" altLang="en-US"/>
          </a:p>
        </p:txBody>
      </p:sp>
    </p:spTree>
    <p:extLst>
      <p:ext uri="{BB962C8B-B14F-4D97-AF65-F5344CB8AC3E}">
        <p14:creationId xmlns:p14="http://schemas.microsoft.com/office/powerpoint/2010/main" val="161525924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r>
              <a:rPr lang="en-US" altLang="en-US"/>
              <a:t>Inference</a:t>
            </a:r>
          </a:p>
        </p:txBody>
      </p:sp>
      <p:graphicFrame>
        <p:nvGraphicFramePr>
          <p:cNvPr id="124931" name="Object 3"/>
          <p:cNvGraphicFramePr>
            <a:graphicFrameLocks noChangeAspect="1"/>
          </p:cNvGraphicFramePr>
          <p:nvPr/>
        </p:nvGraphicFramePr>
        <p:xfrm>
          <a:off x="1524000" y="1947864"/>
          <a:ext cx="7772400" cy="4486275"/>
        </p:xfrm>
        <a:graphic>
          <a:graphicData uri="http://schemas.openxmlformats.org/presentationml/2006/ole">
            <mc:AlternateContent xmlns:mc="http://schemas.openxmlformats.org/markup-compatibility/2006">
              <mc:Choice xmlns:v="urn:schemas-microsoft-com:vml" Requires="v">
                <p:oleObj spid="_x0000_s1027" name="Document" r:id="rId4" imgW="7918920" imgH="4572000" progId="Word.Document.8">
                  <p:embed/>
                </p:oleObj>
              </mc:Choice>
              <mc:Fallback>
                <p:oleObj name="Document" r:id="rId4" imgW="7918920" imgH="4572000"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1947864"/>
                        <a:ext cx="77724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4932" name="Text Box 4"/>
          <p:cNvSpPr txBox="1">
            <a:spLocks noChangeArrowheads="1"/>
          </p:cNvSpPr>
          <p:nvPr/>
        </p:nvSpPr>
        <p:spPr bwMode="auto">
          <a:xfrm>
            <a:off x="1905000" y="1524000"/>
            <a:ext cx="8534400" cy="393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b="1" u="sng">
                <a:latin typeface="Times New Roman" panose="02020603050405020304" pitchFamily="18" charset="0"/>
              </a:rPr>
              <a:t>NAME	SEX	RACE	AID	FINES	       DRUGS		DORM</a:t>
            </a:r>
          </a:p>
          <a:p>
            <a:pPr eaLnBrk="0" hangingPunct="0"/>
            <a:endParaRPr lang="en-US" altLang="en-US" b="1" u="sng">
              <a:latin typeface="Times New Roman" panose="02020603050405020304" pitchFamily="18" charset="0"/>
            </a:endParaRPr>
          </a:p>
          <a:p>
            <a:pPr eaLnBrk="0" hangingPunct="0"/>
            <a:endParaRPr lang="en-US" altLang="en-US" b="1" u="sng">
              <a:latin typeface="Times New Roman" panose="02020603050405020304" pitchFamily="18" charset="0"/>
            </a:endParaRPr>
          </a:p>
          <a:p>
            <a:pPr eaLnBrk="0" hangingPunct="0"/>
            <a:r>
              <a:rPr lang="en-US" altLang="en-US">
                <a:latin typeface="Times New Roman" panose="02020603050405020304" pitchFamily="18" charset="0"/>
              </a:rPr>
              <a:t>Adams	M	C	5000	45		1		Holmes</a:t>
            </a:r>
          </a:p>
          <a:p>
            <a:pPr eaLnBrk="0" hangingPunct="0"/>
            <a:r>
              <a:rPr lang="en-US" altLang="en-US">
                <a:latin typeface="Times New Roman" panose="02020603050405020304" pitchFamily="18" charset="0"/>
              </a:rPr>
              <a:t>Bailey	M	B     	      0	  0		0		Grey</a:t>
            </a:r>
          </a:p>
          <a:p>
            <a:pPr eaLnBrk="0" hangingPunct="0"/>
            <a:r>
              <a:rPr lang="en-US" altLang="en-US">
                <a:latin typeface="Times New Roman" panose="02020603050405020304" pitchFamily="18" charset="0"/>
              </a:rPr>
              <a:t>Chin	F	A	3000	20		0		West</a:t>
            </a:r>
          </a:p>
          <a:p>
            <a:pPr eaLnBrk="0" hangingPunct="0"/>
            <a:r>
              <a:rPr lang="en-US" altLang="en-US">
                <a:latin typeface="Times New Roman" panose="02020603050405020304" pitchFamily="18" charset="0"/>
              </a:rPr>
              <a:t>Dewitt	M	B	1000	35		3		Grey</a:t>
            </a:r>
          </a:p>
          <a:p>
            <a:pPr eaLnBrk="0" hangingPunct="0"/>
            <a:r>
              <a:rPr lang="en-US" altLang="en-US">
                <a:latin typeface="Times New Roman" panose="02020603050405020304" pitchFamily="18" charset="0"/>
              </a:rPr>
              <a:t>Earhart	F	C	2000	95		1		Holmes</a:t>
            </a:r>
          </a:p>
          <a:p>
            <a:pPr eaLnBrk="0" hangingPunct="0"/>
            <a:r>
              <a:rPr lang="en-US" altLang="en-US">
                <a:latin typeface="Times New Roman" panose="02020603050405020304" pitchFamily="18" charset="0"/>
              </a:rPr>
              <a:t>Fein	F	C	1000	15		0		West</a:t>
            </a:r>
          </a:p>
          <a:p>
            <a:pPr eaLnBrk="0" hangingPunct="0"/>
            <a:r>
              <a:rPr lang="en-US" altLang="en-US">
                <a:latin typeface="Times New Roman" panose="02020603050405020304" pitchFamily="18" charset="0"/>
              </a:rPr>
              <a:t>Groff	M	C	4000	  0		3		West</a:t>
            </a:r>
          </a:p>
          <a:p>
            <a:pPr eaLnBrk="0" hangingPunct="0"/>
            <a:r>
              <a:rPr lang="en-US" altLang="en-US">
                <a:latin typeface="Times New Roman" panose="02020603050405020304" pitchFamily="18" charset="0"/>
              </a:rPr>
              <a:t>Hill	F	B	5000	10		2		Holmes</a:t>
            </a:r>
          </a:p>
          <a:p>
            <a:pPr eaLnBrk="0" hangingPunct="0"/>
            <a:r>
              <a:rPr lang="en-US" altLang="en-US">
                <a:latin typeface="Times New Roman" panose="02020603050405020304" pitchFamily="18" charset="0"/>
              </a:rPr>
              <a:t>Koch	F	C	      0	  0 		1		West</a:t>
            </a:r>
          </a:p>
          <a:p>
            <a:pPr eaLnBrk="0" hangingPunct="0"/>
            <a:r>
              <a:rPr lang="en-US" altLang="en-US">
                <a:latin typeface="Times New Roman" panose="02020603050405020304" pitchFamily="18" charset="0"/>
              </a:rPr>
              <a:t>Liu	F	A	      0	10		2		Grey</a:t>
            </a:r>
          </a:p>
          <a:p>
            <a:pPr eaLnBrk="0" hangingPunct="0"/>
            <a:r>
              <a:rPr lang="en-US" altLang="en-US">
                <a:latin typeface="Times New Roman" panose="02020603050405020304" pitchFamily="18" charset="0"/>
              </a:rPr>
              <a:t>Majors	M	C	2000	  0		2		Grey</a:t>
            </a:r>
          </a:p>
        </p:txBody>
      </p:sp>
      <p:sp>
        <p:nvSpPr>
          <p:cNvPr id="124933" name="Rectangle 5"/>
          <p:cNvSpPr>
            <a:spLocks noChangeArrowheads="1"/>
          </p:cNvSpPr>
          <p:nvPr/>
        </p:nvSpPr>
        <p:spPr bwMode="auto">
          <a:xfrm>
            <a:off x="1828800" y="2286000"/>
            <a:ext cx="8458200" cy="3352800"/>
          </a:xfrm>
          <a:prstGeom prst="rect">
            <a:avLst/>
          </a:prstGeom>
          <a:noFill/>
          <a:ln w="28575" cap="sq">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4934" name="Line 6"/>
          <p:cNvSpPr>
            <a:spLocks noChangeShapeType="1"/>
          </p:cNvSpPr>
          <p:nvPr/>
        </p:nvSpPr>
        <p:spPr bwMode="auto">
          <a:xfrm>
            <a:off x="2743200" y="2286000"/>
            <a:ext cx="0" cy="335280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4935" name="Line 7"/>
          <p:cNvSpPr>
            <a:spLocks noChangeShapeType="1"/>
          </p:cNvSpPr>
          <p:nvPr/>
        </p:nvSpPr>
        <p:spPr bwMode="auto">
          <a:xfrm>
            <a:off x="3505200" y="2286000"/>
            <a:ext cx="0" cy="3352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4936" name="Line 8"/>
          <p:cNvSpPr>
            <a:spLocks noChangeShapeType="1"/>
          </p:cNvSpPr>
          <p:nvPr/>
        </p:nvSpPr>
        <p:spPr bwMode="auto">
          <a:xfrm>
            <a:off x="4572000" y="2286000"/>
            <a:ext cx="0" cy="3352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4937" name="Line 9"/>
          <p:cNvSpPr>
            <a:spLocks noChangeShapeType="1"/>
          </p:cNvSpPr>
          <p:nvPr/>
        </p:nvSpPr>
        <p:spPr bwMode="auto">
          <a:xfrm>
            <a:off x="5486400" y="2286000"/>
            <a:ext cx="0" cy="3352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4938" name="Line 10"/>
          <p:cNvSpPr>
            <a:spLocks noChangeShapeType="1"/>
          </p:cNvSpPr>
          <p:nvPr/>
        </p:nvSpPr>
        <p:spPr bwMode="auto">
          <a:xfrm>
            <a:off x="7848600" y="2286000"/>
            <a:ext cx="0" cy="3352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4939" name="Line 11"/>
          <p:cNvSpPr>
            <a:spLocks noChangeShapeType="1"/>
          </p:cNvSpPr>
          <p:nvPr/>
        </p:nvSpPr>
        <p:spPr bwMode="auto">
          <a:xfrm flipH="1">
            <a:off x="6705600" y="2286000"/>
            <a:ext cx="0" cy="3352800"/>
          </a:xfrm>
          <a:prstGeom prst="line">
            <a:avLst/>
          </a:prstGeom>
          <a:noFill/>
          <a:ln w="28575" cap="sq">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92760145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r>
              <a:rPr lang="en-US" altLang="en-US"/>
              <a:t>Inference</a:t>
            </a:r>
          </a:p>
        </p:txBody>
      </p:sp>
      <p:sp>
        <p:nvSpPr>
          <p:cNvPr id="120835" name="Rectangle 3"/>
          <p:cNvSpPr>
            <a:spLocks noGrp="1" noChangeArrowheads="1"/>
          </p:cNvSpPr>
          <p:nvPr>
            <p:ph type="body" idx="1"/>
          </p:nvPr>
        </p:nvSpPr>
        <p:spPr/>
        <p:txBody>
          <a:bodyPr/>
          <a:lstStyle/>
          <a:p>
            <a:r>
              <a:rPr lang="en-US" altLang="en-US"/>
              <a:t>Direct Attack	</a:t>
            </a:r>
          </a:p>
          <a:p>
            <a:pPr lvl="1"/>
            <a:r>
              <a:rPr lang="en-US" altLang="en-US"/>
              <a:t>determine values of sensitive fields by seeking them directly with queries that yield few records </a:t>
            </a:r>
          </a:p>
          <a:p>
            <a:pPr lvl="1"/>
            <a:r>
              <a:rPr lang="en-US" altLang="en-US"/>
              <a:t>request LIST which is a union of 3 sets</a:t>
            </a:r>
          </a:p>
          <a:p>
            <a:pPr lvl="2">
              <a:buFontTx/>
              <a:buNone/>
            </a:pPr>
            <a:r>
              <a:rPr lang="en-US" altLang="en-US">
                <a:sym typeface="Symbol" panose="05050102010706020507" pitchFamily="18" charset="2"/>
              </a:rPr>
              <a:t>LIST NAME where </a:t>
            </a:r>
            <a:r>
              <a:rPr lang="en-US" altLang="en-US"/>
              <a:t>(SEX =M </a:t>
            </a:r>
            <a:r>
              <a:rPr lang="en-US" altLang="en-US">
                <a:sym typeface="Symbol" panose="05050102010706020507" pitchFamily="18" charset="2"/>
              </a:rPr>
              <a:t> DRUGS = 1) </a:t>
            </a:r>
          </a:p>
          <a:p>
            <a:pPr lvl="2">
              <a:buFontTx/>
              <a:buNone/>
            </a:pPr>
            <a:r>
              <a:rPr lang="en-US" altLang="en-US">
                <a:sym typeface="Symbol" panose="05050102010706020507" pitchFamily="18" charset="2"/>
              </a:rPr>
              <a:t>(SEX  M  SEX F)  (DORM = Ayres)</a:t>
            </a:r>
          </a:p>
          <a:p>
            <a:pPr lvl="2"/>
            <a:r>
              <a:rPr lang="en-US" altLang="en-US"/>
              <a:t>No dorm named Ayres , Sex either M or F</a:t>
            </a:r>
          </a:p>
          <a:p>
            <a:pPr lvl="1"/>
            <a:r>
              <a:rPr lang="en-US" altLang="en-US"/>
              <a:t>“</a:t>
            </a:r>
            <a:r>
              <a:rPr lang="en-US" altLang="en-US" i="1"/>
              <a:t>n</a:t>
            </a:r>
            <a:r>
              <a:rPr lang="en-US" altLang="en-US"/>
              <a:t> items over </a:t>
            </a:r>
            <a:r>
              <a:rPr lang="en-US" altLang="en-US" i="1"/>
              <a:t>k</a:t>
            </a:r>
            <a:r>
              <a:rPr lang="en-US" altLang="en-US"/>
              <a:t> percent” rule helps prevent attack</a:t>
            </a:r>
          </a:p>
        </p:txBody>
      </p:sp>
    </p:spTree>
    <p:extLst>
      <p:ext uri="{BB962C8B-B14F-4D97-AF65-F5344CB8AC3E}">
        <p14:creationId xmlns:p14="http://schemas.microsoft.com/office/powerpoint/2010/main" val="235052002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en-US"/>
              <a:t>Inference</a:t>
            </a:r>
          </a:p>
        </p:txBody>
      </p:sp>
      <p:sp>
        <p:nvSpPr>
          <p:cNvPr id="81923" name="Rectangle 3"/>
          <p:cNvSpPr>
            <a:spLocks noGrp="1" noChangeArrowheads="1"/>
          </p:cNvSpPr>
          <p:nvPr>
            <p:ph type="body" idx="1"/>
          </p:nvPr>
        </p:nvSpPr>
        <p:spPr>
          <a:xfrm>
            <a:off x="1981200" y="1219200"/>
            <a:ext cx="8229600" cy="4648200"/>
          </a:xfrm>
        </p:spPr>
        <p:txBody>
          <a:bodyPr>
            <a:normAutofit lnSpcReduction="10000"/>
          </a:bodyPr>
          <a:lstStyle/>
          <a:p>
            <a:pPr>
              <a:lnSpc>
                <a:spcPct val="90000"/>
              </a:lnSpc>
              <a:buFontTx/>
              <a:buNone/>
            </a:pPr>
            <a:r>
              <a:rPr lang="en-GB" altLang="en-US" sz="3200"/>
              <a:t>Indirect attack</a:t>
            </a:r>
            <a:r>
              <a:rPr lang="en-GB" altLang="en-US" sz="2400"/>
              <a:t>: </a:t>
            </a:r>
            <a:r>
              <a:rPr lang="en-GB" altLang="en-US" sz="3200"/>
              <a:t>combines several aggregates</a:t>
            </a:r>
          </a:p>
          <a:p>
            <a:pPr>
              <a:lnSpc>
                <a:spcPct val="90000"/>
              </a:lnSpc>
            </a:pPr>
            <a:endParaRPr lang="en-GB" altLang="en-US" sz="2400"/>
          </a:p>
          <a:p>
            <a:pPr lvl="1">
              <a:lnSpc>
                <a:spcPct val="90000"/>
              </a:lnSpc>
              <a:buFontTx/>
              <a:buNone/>
            </a:pPr>
            <a:endParaRPr lang="en-US" altLang="en-US" sz="1800" b="1">
              <a:solidFill>
                <a:srgbClr val="000099"/>
              </a:solidFill>
            </a:endParaRPr>
          </a:p>
          <a:p>
            <a:pPr>
              <a:lnSpc>
                <a:spcPct val="90000"/>
              </a:lnSpc>
              <a:buFontTx/>
              <a:buNone/>
            </a:pPr>
            <a:endParaRPr lang="en-US" altLang="en-US" b="1">
              <a:solidFill>
                <a:srgbClr val="000099"/>
              </a:solidFill>
            </a:endParaRPr>
          </a:p>
          <a:p>
            <a:pPr lvl="2">
              <a:lnSpc>
                <a:spcPct val="90000"/>
              </a:lnSpc>
            </a:pPr>
            <a:endParaRPr lang="en-US" altLang="en-US"/>
          </a:p>
          <a:p>
            <a:pPr lvl="2">
              <a:lnSpc>
                <a:spcPct val="90000"/>
              </a:lnSpc>
            </a:pPr>
            <a:endParaRPr lang="en-US" altLang="en-US"/>
          </a:p>
          <a:p>
            <a:pPr lvl="2">
              <a:lnSpc>
                <a:spcPct val="90000"/>
              </a:lnSpc>
            </a:pPr>
            <a:endParaRPr lang="en-US" altLang="en-US"/>
          </a:p>
          <a:p>
            <a:pPr lvl="2">
              <a:lnSpc>
                <a:spcPct val="90000"/>
              </a:lnSpc>
            </a:pPr>
            <a:endParaRPr lang="en-US" altLang="en-US"/>
          </a:p>
          <a:p>
            <a:pPr lvl="2">
              <a:lnSpc>
                <a:spcPct val="90000"/>
              </a:lnSpc>
            </a:pPr>
            <a:endParaRPr lang="en-US" altLang="en-US"/>
          </a:p>
          <a:p>
            <a:pPr lvl="2">
              <a:lnSpc>
                <a:spcPct val="90000"/>
              </a:lnSpc>
            </a:pPr>
            <a:r>
              <a:rPr lang="en-US" altLang="en-US"/>
              <a:t>1 Male in Holmes receives 5000</a:t>
            </a:r>
          </a:p>
          <a:p>
            <a:pPr lvl="2">
              <a:lnSpc>
                <a:spcPct val="90000"/>
              </a:lnSpc>
            </a:pPr>
            <a:r>
              <a:rPr lang="en-US" altLang="en-US"/>
              <a:t>1 Female in Grey received no aid</a:t>
            </a:r>
          </a:p>
          <a:p>
            <a:pPr lvl="1">
              <a:lnSpc>
                <a:spcPct val="90000"/>
              </a:lnSpc>
            </a:pPr>
            <a:r>
              <a:rPr lang="en-US" altLang="en-US"/>
              <a:t>request a list of names by dorm (non sensitive)</a:t>
            </a:r>
          </a:p>
          <a:p>
            <a:pPr lvl="1">
              <a:lnSpc>
                <a:spcPct val="90000"/>
              </a:lnSpc>
            </a:pPr>
            <a:endParaRPr lang="en-US" altLang="en-US">
              <a:solidFill>
                <a:srgbClr val="D60093"/>
              </a:solidFill>
            </a:endParaRPr>
          </a:p>
          <a:p>
            <a:pPr lvl="1">
              <a:lnSpc>
                <a:spcPct val="90000"/>
              </a:lnSpc>
            </a:pPr>
            <a:endParaRPr lang="en-US" altLang="en-US" sz="2000"/>
          </a:p>
        </p:txBody>
      </p:sp>
      <p:graphicFrame>
        <p:nvGraphicFramePr>
          <p:cNvPr id="82248" name="Group 328"/>
          <p:cNvGraphicFramePr>
            <a:graphicFrameLocks noGrp="1"/>
          </p:cNvGraphicFramePr>
          <p:nvPr/>
        </p:nvGraphicFramePr>
        <p:xfrm>
          <a:off x="3352800" y="3581400"/>
          <a:ext cx="4191000" cy="1214438"/>
        </p:xfrm>
        <a:graphic>
          <a:graphicData uri="http://schemas.openxmlformats.org/drawingml/2006/table">
            <a:tbl>
              <a:tblPr/>
              <a:tblGrid>
                <a:gridCol w="838200"/>
                <a:gridCol w="836613"/>
                <a:gridCol w="841375"/>
                <a:gridCol w="836612"/>
                <a:gridCol w="838200"/>
              </a:tblGrid>
              <a:tr h="0">
                <a:tc gridSpan="5">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smtClean="0">
                          <a:ln>
                            <a:noFill/>
                          </a:ln>
                          <a:solidFill>
                            <a:srgbClr val="000066"/>
                          </a:solidFill>
                          <a:effectLst/>
                          <a:latin typeface="Verdana" panose="020B0604030504040204" pitchFamily="34" charset="0"/>
                          <a:cs typeface="Times New Roman" panose="02020603050405020304" pitchFamily="18" charset="0"/>
                        </a:rPr>
                        <a:t>Students by Dorm and Sex</a:t>
                      </a:r>
                      <a:endParaRPr kumimoji="0" lang="en-US" altLang="en-US" sz="1000" b="1" i="0" u="none" strike="noStrike" cap="none" normalizeH="0" baseline="0" smtClean="0">
                        <a:ln>
                          <a:noFill/>
                        </a:ln>
                        <a:solidFill>
                          <a:srgbClr val="484A4D"/>
                        </a:solidFill>
                        <a:effectLst/>
                        <a:latin typeface="Arial" panose="020B0604020202020204" pitchFamily="34" charset="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smtClean="0">
                          <a:ln>
                            <a:noFill/>
                          </a:ln>
                          <a:solidFill>
                            <a:srgbClr val="000000"/>
                          </a:solidFill>
                          <a:effectLst/>
                          <a:latin typeface="Times" panose="02020603050405020304" pitchFamily="18" charset="0"/>
                          <a:cs typeface="Times New Roman" panose="02020603050405020304" pitchFamily="18" charset="0"/>
                        </a:rPr>
                        <a:t> </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Holmes</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Grey</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West</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Total</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M</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1</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3</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1</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5</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F</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2</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1</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3</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6</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Total</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3</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4</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4</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11</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2245" name="Group 325"/>
          <p:cNvGraphicFramePr>
            <a:graphicFrameLocks noGrp="1"/>
          </p:cNvGraphicFramePr>
          <p:nvPr/>
        </p:nvGraphicFramePr>
        <p:xfrm>
          <a:off x="3352800" y="2209800"/>
          <a:ext cx="4191000" cy="1214438"/>
        </p:xfrm>
        <a:graphic>
          <a:graphicData uri="http://schemas.openxmlformats.org/drawingml/2006/table">
            <a:tbl>
              <a:tblPr/>
              <a:tblGrid>
                <a:gridCol w="838200"/>
                <a:gridCol w="838200"/>
                <a:gridCol w="838200"/>
                <a:gridCol w="838200"/>
                <a:gridCol w="838200"/>
              </a:tblGrid>
              <a:tr h="136525">
                <a:tc gridSpan="5">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smtClean="0">
                          <a:ln>
                            <a:noFill/>
                          </a:ln>
                          <a:solidFill>
                            <a:srgbClr val="000066"/>
                          </a:solidFill>
                          <a:effectLst/>
                          <a:latin typeface="Verdana" panose="020B0604030504040204" pitchFamily="34" charset="0"/>
                          <a:cs typeface="Times New Roman" panose="02020603050405020304" pitchFamily="18" charset="0"/>
                        </a:rPr>
                        <a:t>Sums of Financial Aid by Dorm and Sex</a:t>
                      </a:r>
                      <a:endParaRPr kumimoji="0" lang="en-US" altLang="en-US" sz="1000" b="1" i="0" u="none" strike="noStrike" cap="none" normalizeH="0" baseline="0" smtClean="0">
                        <a:ln>
                          <a:noFill/>
                        </a:ln>
                        <a:solidFill>
                          <a:srgbClr val="484A4D"/>
                        </a:solidFill>
                        <a:effectLst/>
                        <a:latin typeface="Arial" panose="020B0604020202020204" pitchFamily="34" charset="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182563">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smtClean="0">
                          <a:ln>
                            <a:noFill/>
                          </a:ln>
                          <a:solidFill>
                            <a:srgbClr val="000000"/>
                          </a:solidFill>
                          <a:effectLst/>
                          <a:latin typeface="Times" panose="02020603050405020304" pitchFamily="18" charset="0"/>
                          <a:cs typeface="Times New Roman" panose="02020603050405020304" pitchFamily="18" charset="0"/>
                        </a:rPr>
                        <a:t> </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Holmes</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Grey</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West</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Total</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415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M</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5000</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3000</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4000</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12000</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2563">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F</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7000</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0</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4000</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11000</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2563">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Total</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12000</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3000</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8000</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23000</a:t>
                      </a:r>
                      <a:endParaRPr kumimoji="0" lang="en-US" altLang="en-US" sz="1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2270151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ltLang="en-US"/>
              <a:t>Inference</a:t>
            </a:r>
          </a:p>
        </p:txBody>
      </p:sp>
      <p:sp>
        <p:nvSpPr>
          <p:cNvPr id="86019" name="Rectangle 3"/>
          <p:cNvSpPr>
            <a:spLocks noGrp="1" noChangeArrowheads="1"/>
          </p:cNvSpPr>
          <p:nvPr>
            <p:ph type="body" idx="1"/>
          </p:nvPr>
        </p:nvSpPr>
        <p:spPr/>
        <p:txBody>
          <a:bodyPr/>
          <a:lstStyle/>
          <a:p>
            <a:r>
              <a:rPr lang="en-US" altLang="en-US"/>
              <a:t>Often databases protected against delivering small response sets to queries</a:t>
            </a:r>
          </a:p>
          <a:p>
            <a:r>
              <a:rPr lang="en-US" altLang="en-US"/>
              <a:t>Trackers can identify unique value</a:t>
            </a:r>
          </a:p>
          <a:p>
            <a:pPr lvl="1"/>
            <a:r>
              <a:rPr lang="en-US" altLang="en-US"/>
              <a:t>request (n) and (n-1) values</a:t>
            </a:r>
          </a:p>
          <a:p>
            <a:pPr lvl="1"/>
            <a:r>
              <a:rPr lang="en-US" altLang="en-US"/>
              <a:t>given </a:t>
            </a:r>
            <a:r>
              <a:rPr lang="en-US" altLang="en-US" i="1"/>
              <a:t>n</a:t>
            </a:r>
            <a:r>
              <a:rPr lang="en-US" altLang="en-US"/>
              <a:t> and </a:t>
            </a:r>
            <a:r>
              <a:rPr lang="en-US" altLang="en-US" i="1"/>
              <a:t>n</a:t>
            </a:r>
            <a:r>
              <a:rPr lang="en-US" altLang="en-US"/>
              <a:t> – 1, we can easily compute the desired single element </a:t>
            </a:r>
          </a:p>
          <a:p>
            <a:endParaRPr lang="en-US" altLang="en-US"/>
          </a:p>
        </p:txBody>
      </p:sp>
    </p:spTree>
    <p:extLst>
      <p:ext uri="{BB962C8B-B14F-4D97-AF65-F5344CB8AC3E}">
        <p14:creationId xmlns:p14="http://schemas.microsoft.com/office/powerpoint/2010/main" val="86514213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en-US"/>
              <a:t>Inference</a:t>
            </a:r>
          </a:p>
        </p:txBody>
      </p:sp>
      <p:sp>
        <p:nvSpPr>
          <p:cNvPr id="59395" name="Rectangle 3"/>
          <p:cNvSpPr>
            <a:spLocks noGrp="1" noChangeArrowheads="1"/>
          </p:cNvSpPr>
          <p:nvPr>
            <p:ph type="body" idx="1"/>
          </p:nvPr>
        </p:nvSpPr>
        <p:spPr/>
        <p:txBody>
          <a:bodyPr/>
          <a:lstStyle/>
          <a:p>
            <a:r>
              <a:rPr lang="en-US" altLang="en-US"/>
              <a:t>How many caucasian females live in Holmes Hall?</a:t>
            </a:r>
          </a:p>
          <a:p>
            <a:pPr lvl="1"/>
            <a:r>
              <a:rPr lang="en-US" altLang="en-US"/>
              <a:t>count((SEX=F)</a:t>
            </a:r>
            <a:r>
              <a:rPr lang="en-US" altLang="en-US">
                <a:sym typeface="Symbol" panose="05050102010706020507" pitchFamily="18" charset="2"/>
              </a:rPr>
              <a:t>(RACE=C) (DORM=Holmes)</a:t>
            </a:r>
          </a:p>
          <a:p>
            <a:pPr lvl="1"/>
            <a:r>
              <a:rPr lang="en-US" altLang="en-US">
                <a:sym typeface="Symbol" panose="05050102010706020507" pitchFamily="18" charset="2"/>
              </a:rPr>
              <a:t>result: refused because one record dominates the result</a:t>
            </a:r>
          </a:p>
          <a:p>
            <a:pPr lvl="1"/>
            <a:r>
              <a:rPr lang="en-US" altLang="en-US" sz="2800"/>
              <a:t>now issue two queries on database</a:t>
            </a:r>
          </a:p>
          <a:p>
            <a:pPr lvl="2"/>
            <a:r>
              <a:rPr lang="en-US" altLang="en-US"/>
              <a:t>count(SEX=F)  response = 6</a:t>
            </a:r>
          </a:p>
          <a:p>
            <a:pPr lvl="2"/>
            <a:r>
              <a:rPr lang="en-US" altLang="en-US"/>
              <a:t>count((SEX=F) </a:t>
            </a:r>
            <a:r>
              <a:rPr lang="en-US" altLang="en-US">
                <a:sym typeface="Symbol" panose="05050102010706020507" pitchFamily="18" charset="2"/>
              </a:rPr>
              <a:t>(RACE C) (DORM Holmes)) response=5</a:t>
            </a:r>
          </a:p>
          <a:p>
            <a:pPr lvl="1"/>
            <a:r>
              <a:rPr lang="en-US" altLang="en-US"/>
              <a:t>thus 6-5=1 females live in Holmes Hall</a:t>
            </a:r>
          </a:p>
        </p:txBody>
      </p:sp>
    </p:spTree>
    <p:extLst>
      <p:ext uri="{BB962C8B-B14F-4D97-AF65-F5344CB8AC3E}">
        <p14:creationId xmlns:p14="http://schemas.microsoft.com/office/powerpoint/2010/main" val="206671816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026"/>
          <p:cNvSpPr>
            <a:spLocks noGrp="1" noChangeArrowheads="1"/>
          </p:cNvSpPr>
          <p:nvPr>
            <p:ph type="title"/>
          </p:nvPr>
        </p:nvSpPr>
        <p:spPr/>
        <p:txBody>
          <a:bodyPr/>
          <a:lstStyle/>
          <a:p>
            <a:r>
              <a:rPr lang="en-US" altLang="en-US"/>
              <a:t>Inference</a:t>
            </a:r>
          </a:p>
        </p:txBody>
      </p:sp>
      <p:sp>
        <p:nvSpPr>
          <p:cNvPr id="34819" name="Rectangle 1027"/>
          <p:cNvSpPr>
            <a:spLocks noGrp="1" noChangeArrowheads="1"/>
          </p:cNvSpPr>
          <p:nvPr>
            <p:ph type="body" idx="1"/>
          </p:nvPr>
        </p:nvSpPr>
        <p:spPr/>
        <p:txBody>
          <a:bodyPr/>
          <a:lstStyle/>
          <a:p>
            <a:pPr>
              <a:lnSpc>
                <a:spcPct val="90000"/>
              </a:lnSpc>
            </a:pPr>
            <a:r>
              <a:rPr lang="en-US" altLang="en-US"/>
              <a:t>Tracker is a specific case of ‘Linear system vulnerability’</a:t>
            </a:r>
          </a:p>
          <a:p>
            <a:pPr lvl="1">
              <a:lnSpc>
                <a:spcPct val="90000"/>
              </a:lnSpc>
            </a:pPr>
            <a:r>
              <a:rPr lang="en-US" altLang="en-US"/>
              <a:t>result of the query is a set of records </a:t>
            </a:r>
            <a:endParaRPr lang="en-US" altLang="en-US" b="1"/>
          </a:p>
          <a:p>
            <a:pPr lvl="2">
              <a:lnSpc>
                <a:spcPct val="90000"/>
              </a:lnSpc>
            </a:pPr>
            <a:r>
              <a:rPr lang="en-US" altLang="en-US">
                <a:solidFill>
                  <a:schemeClr val="tx1"/>
                </a:solidFill>
              </a:rPr>
              <a:t>q1 = c1+c2+c3+c4+c5</a:t>
            </a:r>
          </a:p>
          <a:p>
            <a:pPr lvl="2">
              <a:lnSpc>
                <a:spcPct val="90000"/>
              </a:lnSpc>
            </a:pPr>
            <a:r>
              <a:rPr lang="en-US" altLang="en-US">
                <a:solidFill>
                  <a:schemeClr val="tx1"/>
                </a:solidFill>
              </a:rPr>
              <a:t>q2 = c1+c2      +c4</a:t>
            </a:r>
          </a:p>
          <a:p>
            <a:pPr lvl="2">
              <a:lnSpc>
                <a:spcPct val="90000"/>
              </a:lnSpc>
            </a:pPr>
            <a:r>
              <a:rPr lang="en-US" altLang="en-US">
                <a:solidFill>
                  <a:schemeClr val="tx1"/>
                </a:solidFill>
              </a:rPr>
              <a:t>q3 =             c3+c4</a:t>
            </a:r>
          </a:p>
          <a:p>
            <a:pPr lvl="2">
              <a:lnSpc>
                <a:spcPct val="90000"/>
              </a:lnSpc>
            </a:pPr>
            <a:r>
              <a:rPr lang="en-US" altLang="en-US">
                <a:solidFill>
                  <a:schemeClr val="tx1"/>
                </a:solidFill>
              </a:rPr>
              <a:t>q4 =                    c4+c5</a:t>
            </a:r>
          </a:p>
          <a:p>
            <a:pPr lvl="2">
              <a:lnSpc>
                <a:spcPct val="90000"/>
              </a:lnSpc>
            </a:pPr>
            <a:r>
              <a:rPr lang="en-US" altLang="en-US">
                <a:solidFill>
                  <a:schemeClr val="tx1"/>
                </a:solidFill>
              </a:rPr>
              <a:t>q5 =       c2             +c5</a:t>
            </a:r>
          </a:p>
          <a:p>
            <a:pPr lvl="1">
              <a:lnSpc>
                <a:spcPct val="90000"/>
              </a:lnSpc>
            </a:pPr>
            <a:r>
              <a:rPr lang="en-US" altLang="en-US">
                <a:solidFill>
                  <a:schemeClr val="accent2"/>
                </a:solidFill>
              </a:rPr>
              <a:t>we can obtain </a:t>
            </a:r>
            <a:r>
              <a:rPr lang="en-US" altLang="en-US" i="1"/>
              <a:t>c</a:t>
            </a:r>
            <a:r>
              <a:rPr lang="en-US" altLang="en-US"/>
              <a:t>5 = ((</a:t>
            </a:r>
            <a:r>
              <a:rPr lang="en-US" altLang="en-US" i="1"/>
              <a:t>q</a:t>
            </a:r>
            <a:r>
              <a:rPr lang="en-US" altLang="en-US"/>
              <a:t>1 – </a:t>
            </a:r>
            <a:r>
              <a:rPr lang="en-US" altLang="en-US" i="1"/>
              <a:t>q</a:t>
            </a:r>
            <a:r>
              <a:rPr lang="en-US" altLang="en-US"/>
              <a:t>2) – (</a:t>
            </a:r>
            <a:r>
              <a:rPr lang="en-US" altLang="en-US" i="1"/>
              <a:t>q</a:t>
            </a:r>
            <a:r>
              <a:rPr lang="en-US" altLang="en-US"/>
              <a:t>3 –</a:t>
            </a:r>
            <a:r>
              <a:rPr lang="en-US" altLang="en-US" i="1"/>
              <a:t>q</a:t>
            </a:r>
            <a:r>
              <a:rPr lang="en-US" altLang="en-US"/>
              <a:t>4))/2 </a:t>
            </a:r>
            <a:endParaRPr lang="en-US" altLang="en-US">
              <a:solidFill>
                <a:schemeClr val="accent2"/>
              </a:solidFill>
            </a:endParaRPr>
          </a:p>
          <a:p>
            <a:pPr lvl="1">
              <a:lnSpc>
                <a:spcPct val="90000"/>
              </a:lnSpc>
            </a:pPr>
            <a:r>
              <a:rPr lang="en-US" altLang="en-US">
                <a:solidFill>
                  <a:schemeClr val="tx1"/>
                </a:solidFill>
              </a:rPr>
              <a:t>all other </a:t>
            </a:r>
            <a:r>
              <a:rPr lang="en-US" altLang="en-US" i="1"/>
              <a:t>c </a:t>
            </a:r>
            <a:r>
              <a:rPr lang="en-US" altLang="en-US"/>
              <a:t>can be derived</a:t>
            </a:r>
            <a:endParaRPr lang="en-US" altLang="en-US">
              <a:solidFill>
                <a:schemeClr val="tx1"/>
              </a:solidFill>
            </a:endParaRPr>
          </a:p>
          <a:p>
            <a:pPr lvl="1">
              <a:lnSpc>
                <a:spcPct val="90000"/>
              </a:lnSpc>
            </a:pPr>
            <a:endParaRPr lang="en-US" altLang="en-US"/>
          </a:p>
        </p:txBody>
      </p:sp>
    </p:spTree>
    <p:extLst>
      <p:ext uri="{BB962C8B-B14F-4D97-AF65-F5344CB8AC3E}">
        <p14:creationId xmlns:p14="http://schemas.microsoft.com/office/powerpoint/2010/main" val="11671701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r>
              <a:rPr lang="en-US" altLang="en-US"/>
              <a:t>Inference</a:t>
            </a:r>
          </a:p>
        </p:txBody>
      </p:sp>
      <p:sp>
        <p:nvSpPr>
          <p:cNvPr id="126979" name="Rectangle 3"/>
          <p:cNvSpPr>
            <a:spLocks noGrp="1" noChangeArrowheads="1"/>
          </p:cNvSpPr>
          <p:nvPr>
            <p:ph type="body" idx="1"/>
          </p:nvPr>
        </p:nvSpPr>
        <p:spPr/>
        <p:txBody>
          <a:bodyPr/>
          <a:lstStyle/>
          <a:p>
            <a:pPr>
              <a:lnSpc>
                <a:spcPct val="90000"/>
              </a:lnSpc>
            </a:pPr>
            <a:r>
              <a:rPr lang="en-US" altLang="en-US"/>
              <a:t>Protection techniques</a:t>
            </a:r>
          </a:p>
          <a:p>
            <a:pPr>
              <a:lnSpc>
                <a:spcPct val="90000"/>
              </a:lnSpc>
            </a:pPr>
            <a:r>
              <a:rPr lang="en-US" altLang="en-US"/>
              <a:t>Only queries disclosing non sensitive data allowed </a:t>
            </a:r>
          </a:p>
          <a:p>
            <a:pPr lvl="1">
              <a:lnSpc>
                <a:spcPct val="90000"/>
              </a:lnSpc>
            </a:pPr>
            <a:r>
              <a:rPr lang="en-US" altLang="en-US"/>
              <a:t>difficult to discriminate between queries</a:t>
            </a:r>
          </a:p>
          <a:p>
            <a:pPr lvl="1">
              <a:lnSpc>
                <a:spcPct val="90000"/>
              </a:lnSpc>
            </a:pPr>
            <a:r>
              <a:rPr lang="en-US" altLang="en-US"/>
              <a:t>effective primarily against direct attacks</a:t>
            </a:r>
          </a:p>
          <a:p>
            <a:pPr>
              <a:lnSpc>
                <a:spcPct val="90000"/>
              </a:lnSpc>
            </a:pPr>
            <a:r>
              <a:rPr lang="en-US" altLang="en-US"/>
              <a:t>Controls applied to individual items within the database </a:t>
            </a:r>
          </a:p>
          <a:p>
            <a:pPr lvl="1">
              <a:lnSpc>
                <a:spcPct val="90000"/>
              </a:lnSpc>
            </a:pPr>
            <a:r>
              <a:rPr lang="en-US" altLang="en-US"/>
              <a:t>suppression: don’t provider sensitive data </a:t>
            </a:r>
          </a:p>
          <a:p>
            <a:pPr lvl="1">
              <a:lnSpc>
                <a:spcPct val="90000"/>
              </a:lnSpc>
            </a:pPr>
            <a:r>
              <a:rPr lang="en-US" altLang="en-US"/>
              <a:t>concealing: provider slightly modified value</a:t>
            </a:r>
          </a:p>
          <a:p>
            <a:pPr>
              <a:lnSpc>
                <a:spcPct val="90000"/>
              </a:lnSpc>
              <a:buFontTx/>
              <a:buNone/>
            </a:pPr>
            <a:endParaRPr lang="en-US" altLang="en-US"/>
          </a:p>
        </p:txBody>
      </p:sp>
    </p:spTree>
    <p:extLst>
      <p:ext uri="{BB962C8B-B14F-4D97-AF65-F5344CB8AC3E}">
        <p14:creationId xmlns:p14="http://schemas.microsoft.com/office/powerpoint/2010/main" val="182216028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r>
              <a:rPr lang="en-US" altLang="en-US"/>
              <a:t>Inference</a:t>
            </a:r>
          </a:p>
        </p:txBody>
      </p:sp>
      <p:sp>
        <p:nvSpPr>
          <p:cNvPr id="129027" name="Rectangle 3"/>
          <p:cNvSpPr>
            <a:spLocks noGrp="1" noChangeArrowheads="1"/>
          </p:cNvSpPr>
          <p:nvPr>
            <p:ph type="body" idx="1"/>
          </p:nvPr>
        </p:nvSpPr>
        <p:spPr/>
        <p:txBody>
          <a:bodyPr/>
          <a:lstStyle/>
          <a:p>
            <a:r>
              <a:rPr lang="en-US" altLang="en-US">
                <a:solidFill>
                  <a:schemeClr val="tx1"/>
                </a:solidFill>
              </a:rPr>
              <a:t>“n item over k percent rule” not sufficient in itself prevent inference</a:t>
            </a:r>
            <a:endParaRPr lang="en-US" altLang="en-US" b="1">
              <a:solidFill>
                <a:schemeClr val="tx1"/>
              </a:solidFill>
            </a:endParaRPr>
          </a:p>
          <a:p>
            <a:endParaRPr lang="en-US" altLang="en-US">
              <a:solidFill>
                <a:schemeClr val="tx1"/>
              </a:solidFill>
            </a:endParaRPr>
          </a:p>
          <a:p>
            <a:endParaRPr lang="en-US" altLang="en-US">
              <a:solidFill>
                <a:schemeClr val="tx1"/>
              </a:solidFill>
            </a:endParaRPr>
          </a:p>
          <a:p>
            <a:endParaRPr lang="en-US" altLang="en-US">
              <a:solidFill>
                <a:schemeClr val="tx1"/>
              </a:solidFill>
            </a:endParaRPr>
          </a:p>
          <a:p>
            <a:endParaRPr lang="en-US" altLang="en-US">
              <a:solidFill>
                <a:schemeClr val="tx1"/>
              </a:solidFill>
            </a:endParaRPr>
          </a:p>
          <a:p>
            <a:r>
              <a:rPr lang="en-US" altLang="en-US">
                <a:solidFill>
                  <a:schemeClr val="tx1"/>
                </a:solidFill>
              </a:rPr>
              <a:t>We must suppress one other value in each row and column to disallow</a:t>
            </a:r>
          </a:p>
          <a:p>
            <a:pPr>
              <a:buFontTx/>
              <a:buNone/>
            </a:pPr>
            <a:endParaRPr lang="en-US" altLang="en-US" sz="2000" b="1">
              <a:solidFill>
                <a:srgbClr val="000099"/>
              </a:solidFill>
            </a:endParaRPr>
          </a:p>
          <a:p>
            <a:endParaRPr lang="en-US" altLang="en-US" b="1">
              <a:solidFill>
                <a:schemeClr val="tx1"/>
              </a:solidFill>
            </a:endParaRPr>
          </a:p>
          <a:p>
            <a:endParaRPr lang="en-US" altLang="en-US"/>
          </a:p>
        </p:txBody>
      </p:sp>
      <p:graphicFrame>
        <p:nvGraphicFramePr>
          <p:cNvPr id="129277" name="Group 253"/>
          <p:cNvGraphicFramePr>
            <a:graphicFrameLocks noGrp="1"/>
          </p:cNvGraphicFramePr>
          <p:nvPr/>
        </p:nvGraphicFramePr>
        <p:xfrm>
          <a:off x="2590800" y="2438400"/>
          <a:ext cx="6096000" cy="1919288"/>
        </p:xfrm>
        <a:graphic>
          <a:graphicData uri="http://schemas.openxmlformats.org/drawingml/2006/table">
            <a:tbl>
              <a:tblPr/>
              <a:tblGrid>
                <a:gridCol w="1066800"/>
                <a:gridCol w="1371600"/>
                <a:gridCol w="1295400"/>
                <a:gridCol w="1219200"/>
                <a:gridCol w="1143000"/>
              </a:tblGrid>
              <a:tr h="0">
                <a:tc gridSpan="5">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66"/>
                          </a:solidFill>
                          <a:effectLst/>
                          <a:latin typeface="Verdana" panose="020B0604030504040204" pitchFamily="34" charset="0"/>
                          <a:cs typeface="Times New Roman" panose="02020603050405020304" pitchFamily="18" charset="0"/>
                        </a:rPr>
                        <a:t>   Students by Dorm and Sex, with Low Count Suppression</a:t>
                      </a:r>
                      <a:endParaRPr kumimoji="0" lang="en-US" altLang="en-US" sz="1600" b="1" i="0" u="none" strike="noStrike" cap="none" normalizeH="0" baseline="0" smtClean="0">
                        <a:ln>
                          <a:noFill/>
                        </a:ln>
                        <a:solidFill>
                          <a:srgbClr val="484A4D"/>
                        </a:solidFill>
                        <a:effectLst/>
                        <a:latin typeface="Arial" panose="020B0604020202020204" pitchFamily="34" charset="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14313">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Times" panose="02020603050405020304" pitchFamily="18" charset="0"/>
                          <a:cs typeface="Times New Roman" panose="02020603050405020304" pitchFamily="18" charset="0"/>
                        </a:rPr>
                        <a:t> </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Holmes</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Grey</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West</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Total</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2860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M</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3</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5</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2860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F</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2</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3</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6</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2860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Total</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3</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4</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4</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11</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38803214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r>
              <a:rPr lang="en-US" altLang="en-US"/>
              <a:t>Inference</a:t>
            </a:r>
          </a:p>
        </p:txBody>
      </p:sp>
      <p:sp>
        <p:nvSpPr>
          <p:cNvPr id="176131" name="Rectangle 3"/>
          <p:cNvSpPr>
            <a:spLocks noGrp="1" noChangeArrowheads="1"/>
          </p:cNvSpPr>
          <p:nvPr>
            <p:ph type="body" idx="1"/>
          </p:nvPr>
        </p:nvSpPr>
        <p:spPr/>
        <p:txBody>
          <a:bodyPr/>
          <a:lstStyle/>
          <a:p>
            <a:r>
              <a:rPr lang="en-US" altLang="en-US"/>
              <a:t>Suppression by Combining results</a:t>
            </a:r>
          </a:p>
          <a:p>
            <a:pPr lvl="1"/>
            <a:r>
              <a:rPr lang="en-US" altLang="en-US"/>
              <a:t>combines rows or columns to protect sensitive values</a:t>
            </a:r>
          </a:p>
          <a:p>
            <a:pPr lvl="1"/>
            <a:endParaRPr lang="en-US" altLang="en-US"/>
          </a:p>
          <a:p>
            <a:pPr lvl="1">
              <a:buFontTx/>
              <a:buNone/>
            </a:pPr>
            <a:r>
              <a:rPr lang="en-US" altLang="en-US"/>
              <a:t>			</a:t>
            </a:r>
          </a:p>
        </p:txBody>
      </p:sp>
      <p:graphicFrame>
        <p:nvGraphicFramePr>
          <p:cNvPr id="176220" name="Group 92"/>
          <p:cNvGraphicFramePr>
            <a:graphicFrameLocks noGrp="1"/>
          </p:cNvGraphicFramePr>
          <p:nvPr/>
        </p:nvGraphicFramePr>
        <p:xfrm>
          <a:off x="4419600" y="3124200"/>
          <a:ext cx="3124200" cy="1728788"/>
        </p:xfrm>
        <a:graphic>
          <a:graphicData uri="http://schemas.openxmlformats.org/drawingml/2006/table">
            <a:tbl>
              <a:tblPr/>
              <a:tblGrid>
                <a:gridCol w="838200"/>
                <a:gridCol w="1143000"/>
                <a:gridCol w="1143000"/>
              </a:tblGrid>
              <a:tr h="136525">
                <a:tc gridSpan="3">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rgbClr val="000066"/>
                          </a:solidFill>
                          <a:effectLst/>
                          <a:latin typeface="Verdana" panose="020B0604030504040204" pitchFamily="34" charset="0"/>
                          <a:cs typeface="Times New Roman" panose="02020603050405020304" pitchFamily="18" charset="0"/>
                        </a:rPr>
                        <a:t>Suppression by Combining Revealing Values</a:t>
                      </a:r>
                      <a:endParaRPr kumimoji="0" lang="en-US" altLang="en-US" sz="1400" b="1" i="0" u="none" strike="noStrike" cap="none" normalizeH="0" baseline="0" smtClean="0">
                        <a:ln>
                          <a:noFill/>
                        </a:ln>
                        <a:solidFill>
                          <a:srgbClr val="484A4D"/>
                        </a:solidFill>
                        <a:effectLst/>
                        <a:latin typeface="Arial" panose="020B0604020202020204" pitchFamily="34" charset="0"/>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r>
              <a:tr h="22860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 </a:t>
                      </a:r>
                      <a:endParaRPr kumimoji="0" lang="en-US" altLang="en-US" sz="14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Drug Use</a:t>
                      </a:r>
                      <a:endParaRPr kumimoji="0" lang="en-US" altLang="en-US" sz="14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r>
              <a:tr h="22860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Sex</a:t>
                      </a:r>
                      <a:endParaRPr kumimoji="0" lang="en-US" altLang="en-US" sz="14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0 or 1</a:t>
                      </a:r>
                      <a:endParaRPr kumimoji="0" lang="en-US" altLang="en-US" sz="14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2 or 3</a:t>
                      </a:r>
                      <a:endParaRPr kumimoji="0" lang="en-US" altLang="en-US" sz="14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2860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M</a:t>
                      </a:r>
                      <a:endParaRPr kumimoji="0" lang="en-US" altLang="en-US" sz="14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2</a:t>
                      </a:r>
                      <a:endParaRPr kumimoji="0" lang="en-US" altLang="en-US" sz="14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3</a:t>
                      </a:r>
                      <a:endParaRPr kumimoji="0" lang="en-US" altLang="en-US" sz="14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2860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F</a:t>
                      </a:r>
                      <a:endParaRPr kumimoji="0" lang="en-US" altLang="en-US" sz="14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4</a:t>
                      </a:r>
                      <a:endParaRPr kumimoji="0" lang="en-US" altLang="en-US" sz="14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2</a:t>
                      </a:r>
                      <a:endParaRPr kumimoji="0" lang="en-US" altLang="en-US" sz="14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69916654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en-US" altLang="en-US"/>
              <a:t>Inference</a:t>
            </a:r>
          </a:p>
        </p:txBody>
      </p:sp>
      <p:sp>
        <p:nvSpPr>
          <p:cNvPr id="133123" name="Rectangle 3"/>
          <p:cNvSpPr>
            <a:spLocks noGrp="1" noChangeArrowheads="1"/>
          </p:cNvSpPr>
          <p:nvPr>
            <p:ph type="body" idx="1"/>
          </p:nvPr>
        </p:nvSpPr>
        <p:spPr/>
        <p:txBody>
          <a:bodyPr/>
          <a:lstStyle/>
          <a:p>
            <a:pPr>
              <a:lnSpc>
                <a:spcPct val="90000"/>
              </a:lnSpc>
            </a:pPr>
            <a:r>
              <a:rPr lang="en-US" altLang="en-US"/>
              <a:t>Random sample</a:t>
            </a:r>
          </a:p>
          <a:p>
            <a:pPr lvl="1">
              <a:lnSpc>
                <a:spcPct val="90000"/>
              </a:lnSpc>
            </a:pPr>
            <a:r>
              <a:rPr lang="en-US" altLang="en-US"/>
              <a:t>partition data and take random sample from partition</a:t>
            </a:r>
          </a:p>
          <a:p>
            <a:pPr lvl="1">
              <a:lnSpc>
                <a:spcPct val="90000"/>
              </a:lnSpc>
            </a:pPr>
            <a:r>
              <a:rPr lang="en-US" altLang="en-US"/>
              <a:t>equivalent queries may or may not result in the same sample</a:t>
            </a:r>
          </a:p>
          <a:p>
            <a:pPr>
              <a:lnSpc>
                <a:spcPct val="90000"/>
              </a:lnSpc>
            </a:pPr>
            <a:r>
              <a:rPr lang="en-US" altLang="en-US"/>
              <a:t>Random data perturbation</a:t>
            </a:r>
          </a:p>
          <a:p>
            <a:pPr lvl="1">
              <a:lnSpc>
                <a:spcPct val="90000"/>
              </a:lnSpc>
            </a:pPr>
            <a:r>
              <a:rPr lang="en-US" altLang="en-US"/>
              <a:t>intentionally introduce error into response</a:t>
            </a:r>
          </a:p>
          <a:p>
            <a:pPr>
              <a:lnSpc>
                <a:spcPct val="90000"/>
              </a:lnSpc>
            </a:pPr>
            <a:r>
              <a:rPr lang="en-US" altLang="en-US"/>
              <a:t>Query analysis</a:t>
            </a:r>
          </a:p>
          <a:p>
            <a:pPr lvl="1">
              <a:lnSpc>
                <a:spcPct val="90000"/>
              </a:lnSpc>
            </a:pPr>
            <a:r>
              <a:rPr lang="en-US" altLang="en-US"/>
              <a:t>history Driven</a:t>
            </a:r>
          </a:p>
          <a:p>
            <a:pPr lvl="1">
              <a:lnSpc>
                <a:spcPct val="90000"/>
              </a:lnSpc>
            </a:pPr>
            <a:r>
              <a:rPr lang="en-US" altLang="en-US"/>
              <a:t>difficult</a:t>
            </a:r>
          </a:p>
          <a:p>
            <a:pPr>
              <a:lnSpc>
                <a:spcPct val="90000"/>
              </a:lnSpc>
            </a:pPr>
            <a:endParaRPr lang="en-US" altLang="en-US"/>
          </a:p>
        </p:txBody>
      </p:sp>
    </p:spTree>
    <p:extLst>
      <p:ext uri="{BB962C8B-B14F-4D97-AF65-F5344CB8AC3E}">
        <p14:creationId xmlns:p14="http://schemas.microsoft.com/office/powerpoint/2010/main" val="99872600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en-US" altLang="en-US"/>
              <a:t>Aggregation</a:t>
            </a:r>
          </a:p>
        </p:txBody>
      </p:sp>
      <p:sp>
        <p:nvSpPr>
          <p:cNvPr id="137219" name="Rectangle 3"/>
          <p:cNvSpPr>
            <a:spLocks noGrp="1" noChangeArrowheads="1"/>
          </p:cNvSpPr>
          <p:nvPr>
            <p:ph type="body" idx="1"/>
          </p:nvPr>
        </p:nvSpPr>
        <p:spPr/>
        <p:txBody>
          <a:bodyPr>
            <a:normAutofit lnSpcReduction="10000"/>
          </a:bodyPr>
          <a:lstStyle/>
          <a:p>
            <a:r>
              <a:rPr lang="en-US" altLang="en-US" sz="2400"/>
              <a:t>Aggregation problem exists when the aggregate of two or more data items is classified at a level higher than the least upper bound of the classification of the individual items that comprise the aggregate</a:t>
            </a:r>
          </a:p>
          <a:p>
            <a:pPr lvl="1"/>
            <a:r>
              <a:rPr lang="en-US" altLang="en-US" sz="2000"/>
              <a:t>the data items multiple instances of same entity</a:t>
            </a:r>
          </a:p>
          <a:p>
            <a:r>
              <a:rPr lang="en-US" altLang="en-US" sz="2400"/>
              <a:t>Addressing the aggregation problem is difficult</a:t>
            </a:r>
          </a:p>
          <a:p>
            <a:pPr lvl="1"/>
            <a:r>
              <a:rPr lang="en-US" altLang="en-US" sz="2000"/>
              <a:t>requires the DBMS to track what results each user had already received </a:t>
            </a:r>
          </a:p>
          <a:p>
            <a:pPr lvl="1"/>
            <a:r>
              <a:rPr lang="en-US" altLang="en-US" sz="2000"/>
              <a:t>it can take place outside the system </a:t>
            </a:r>
          </a:p>
          <a:p>
            <a:pPr lvl="1"/>
            <a:r>
              <a:rPr lang="en-US" altLang="en-US" sz="2000"/>
              <a:t>relatively few proposals for countering aggregation</a:t>
            </a:r>
          </a:p>
        </p:txBody>
      </p:sp>
    </p:spTree>
    <p:extLst>
      <p:ext uri="{BB962C8B-B14F-4D97-AF65-F5344CB8AC3E}">
        <p14:creationId xmlns:p14="http://schemas.microsoft.com/office/powerpoint/2010/main" val="143363396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US" altLang="en-US"/>
              <a:t>Aggregation</a:t>
            </a:r>
          </a:p>
        </p:txBody>
      </p:sp>
      <p:sp>
        <p:nvSpPr>
          <p:cNvPr id="139267" name="Rectangle 3"/>
          <p:cNvSpPr>
            <a:spLocks noGrp="1" noChangeArrowheads="1"/>
          </p:cNvSpPr>
          <p:nvPr>
            <p:ph type="body" idx="1"/>
          </p:nvPr>
        </p:nvSpPr>
        <p:spPr/>
        <p:txBody>
          <a:bodyPr/>
          <a:lstStyle/>
          <a:p>
            <a:r>
              <a:rPr lang="en-US" altLang="en-US"/>
              <a:t>Data association: A sub-problem of aggregation</a:t>
            </a:r>
          </a:p>
          <a:p>
            <a:pPr lvl="1"/>
            <a:r>
              <a:rPr lang="en-US" altLang="en-US"/>
              <a:t>data association – sensitive associations between instances of two or more distinct data items</a:t>
            </a:r>
          </a:p>
          <a:p>
            <a:pPr lvl="1"/>
            <a:r>
              <a:rPr lang="en-US" altLang="en-US"/>
              <a:t>(cardinal) aggregation - associations among multiple instances of the same entity</a:t>
            </a:r>
          </a:p>
          <a:p>
            <a:endParaRPr lang="en-US" altLang="en-US"/>
          </a:p>
        </p:txBody>
      </p:sp>
    </p:spTree>
    <p:extLst>
      <p:ext uri="{BB962C8B-B14F-4D97-AF65-F5344CB8AC3E}">
        <p14:creationId xmlns:p14="http://schemas.microsoft.com/office/powerpoint/2010/main" val="405818385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en-US" altLang="en-US"/>
              <a:t>Inference vs. Aggregation</a:t>
            </a:r>
          </a:p>
        </p:txBody>
      </p:sp>
      <p:sp>
        <p:nvSpPr>
          <p:cNvPr id="141315" name="Rectangle 3"/>
          <p:cNvSpPr>
            <a:spLocks noGrp="1" noChangeArrowheads="1"/>
          </p:cNvSpPr>
          <p:nvPr>
            <p:ph type="body" idx="1"/>
          </p:nvPr>
        </p:nvSpPr>
        <p:spPr/>
        <p:txBody>
          <a:bodyPr/>
          <a:lstStyle/>
          <a:p>
            <a:pPr>
              <a:lnSpc>
                <a:spcPct val="90000"/>
              </a:lnSpc>
            </a:pPr>
            <a:r>
              <a:rPr lang="en-US" altLang="en-US"/>
              <a:t>They are similar but different</a:t>
            </a:r>
          </a:p>
          <a:p>
            <a:pPr lvl="1">
              <a:lnSpc>
                <a:spcPct val="90000"/>
              </a:lnSpc>
            </a:pPr>
            <a:r>
              <a:rPr lang="en-US" altLang="en-US"/>
              <a:t>inference: sensitive data deduced from non sensitive data</a:t>
            </a:r>
          </a:p>
          <a:p>
            <a:pPr lvl="2">
              <a:lnSpc>
                <a:spcPct val="90000"/>
              </a:lnSpc>
            </a:pPr>
            <a:r>
              <a:rPr lang="en-US" altLang="en-US"/>
              <a:t>relatively easier problem</a:t>
            </a:r>
          </a:p>
          <a:p>
            <a:pPr lvl="2">
              <a:lnSpc>
                <a:spcPct val="90000"/>
              </a:lnSpc>
            </a:pPr>
            <a:r>
              <a:rPr lang="en-US" altLang="en-US"/>
              <a:t>protection by means of control over query , data and other ways</a:t>
            </a:r>
          </a:p>
          <a:p>
            <a:pPr lvl="2">
              <a:lnSpc>
                <a:spcPct val="90000"/>
              </a:lnSpc>
            </a:pPr>
            <a:endParaRPr lang="en-US" altLang="en-US"/>
          </a:p>
          <a:p>
            <a:pPr lvl="1">
              <a:lnSpc>
                <a:spcPct val="90000"/>
              </a:lnSpc>
            </a:pPr>
            <a:r>
              <a:rPr lang="en-US" altLang="en-US"/>
              <a:t>aggregation: multiple instances of entity result in sensitive data</a:t>
            </a:r>
          </a:p>
          <a:p>
            <a:pPr lvl="2">
              <a:lnSpc>
                <a:spcPct val="90000"/>
              </a:lnSpc>
            </a:pPr>
            <a:r>
              <a:rPr lang="en-US" altLang="en-US"/>
              <a:t>difficult problem</a:t>
            </a:r>
          </a:p>
          <a:p>
            <a:pPr lvl="2">
              <a:lnSpc>
                <a:spcPct val="90000"/>
              </a:lnSpc>
            </a:pPr>
            <a:r>
              <a:rPr lang="en-US" altLang="en-US"/>
              <a:t>protection requires the DBMS to track what results each user had already received </a:t>
            </a:r>
          </a:p>
          <a:p>
            <a:pPr lvl="2">
              <a:lnSpc>
                <a:spcPct val="90000"/>
              </a:lnSpc>
            </a:pPr>
            <a:endParaRPr lang="en-US" altLang="en-US"/>
          </a:p>
          <a:p>
            <a:pPr>
              <a:lnSpc>
                <a:spcPct val="90000"/>
              </a:lnSpc>
            </a:pPr>
            <a:endParaRPr lang="en-US" altLang="en-US"/>
          </a:p>
        </p:txBody>
      </p:sp>
    </p:spTree>
    <p:extLst>
      <p:ext uri="{BB962C8B-B14F-4D97-AF65-F5344CB8AC3E}">
        <p14:creationId xmlns:p14="http://schemas.microsoft.com/office/powerpoint/2010/main" val="177580751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en-US" altLang="en-US"/>
              <a:t>Multilevel Databases</a:t>
            </a:r>
          </a:p>
        </p:txBody>
      </p:sp>
      <p:sp>
        <p:nvSpPr>
          <p:cNvPr id="143363" name="Rectangle 3"/>
          <p:cNvSpPr>
            <a:spLocks noGrp="1" noChangeArrowheads="1"/>
          </p:cNvSpPr>
          <p:nvPr>
            <p:ph type="body" idx="1"/>
          </p:nvPr>
        </p:nvSpPr>
        <p:spPr/>
        <p:txBody>
          <a:bodyPr>
            <a:normAutofit fontScale="92500"/>
          </a:bodyPr>
          <a:lstStyle/>
          <a:p>
            <a:r>
              <a:rPr lang="en-US" altLang="en-US" sz="2400"/>
              <a:t>Data sensitivity not black or white</a:t>
            </a:r>
          </a:p>
          <a:p>
            <a:pPr lvl="1"/>
            <a:r>
              <a:rPr lang="en-US" altLang="en-US" sz="2000"/>
              <a:t>exist shades of sensitivity</a:t>
            </a:r>
          </a:p>
          <a:p>
            <a:pPr lvl="1"/>
            <a:r>
              <a:rPr lang="en-US" altLang="en-US" sz="2000" b="1">
                <a:solidFill>
                  <a:schemeClr val="accent2"/>
                </a:solidFill>
              </a:rPr>
              <a:t>grades of security may be needed</a:t>
            </a:r>
            <a:r>
              <a:rPr lang="en-US" altLang="en-US" sz="2000">
                <a:solidFill>
                  <a:schemeClr val="accent2"/>
                </a:solidFill>
              </a:rPr>
              <a:t> </a:t>
            </a:r>
          </a:p>
          <a:p>
            <a:r>
              <a:rPr lang="en-US" altLang="en-US" sz="2400"/>
              <a:t>So far we seen sensitivity a function of the </a:t>
            </a:r>
            <a:r>
              <a:rPr lang="en-US" altLang="en-US" sz="2400" i="1"/>
              <a:t>attribute</a:t>
            </a:r>
            <a:r>
              <a:rPr lang="en-US" altLang="en-US" sz="2400"/>
              <a:t> (column)</a:t>
            </a:r>
          </a:p>
          <a:p>
            <a:pPr lvl="1"/>
            <a:r>
              <a:rPr lang="en-US" altLang="en-US" sz="2000"/>
              <a:t>e.g. ‘Drug use’ column sensitive</a:t>
            </a:r>
          </a:p>
          <a:p>
            <a:r>
              <a:rPr lang="en-US" altLang="en-US" sz="2400"/>
              <a:t>Actually sensitivity </a:t>
            </a:r>
            <a:r>
              <a:rPr lang="en-US" altLang="en-US" sz="2400" i="1"/>
              <a:t>not</a:t>
            </a:r>
            <a:r>
              <a:rPr lang="en-US" altLang="en-US" sz="2400"/>
              <a:t> function of column or row</a:t>
            </a:r>
          </a:p>
          <a:p>
            <a:pPr lvl="1"/>
            <a:r>
              <a:rPr lang="en-US" altLang="en-US" sz="2000"/>
              <a:t>the security of one element may be different from that of other elements of the same row or column </a:t>
            </a:r>
          </a:p>
          <a:p>
            <a:pPr lvl="1"/>
            <a:r>
              <a:rPr lang="en-US" altLang="en-US" sz="2000" b="1">
                <a:solidFill>
                  <a:schemeClr val="accent2"/>
                </a:solidFill>
              </a:rPr>
              <a:t>security implemented for each individual element</a:t>
            </a:r>
            <a:r>
              <a:rPr lang="en-US" altLang="en-US" sz="2000"/>
              <a:t> </a:t>
            </a:r>
          </a:p>
        </p:txBody>
      </p:sp>
    </p:spTree>
    <p:extLst>
      <p:ext uri="{BB962C8B-B14F-4D97-AF65-F5344CB8AC3E}">
        <p14:creationId xmlns:p14="http://schemas.microsoft.com/office/powerpoint/2010/main" val="358756417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r>
              <a:rPr lang="en-US" altLang="en-US"/>
              <a:t>Multilevel Databases</a:t>
            </a:r>
          </a:p>
        </p:txBody>
      </p:sp>
      <p:sp>
        <p:nvSpPr>
          <p:cNvPr id="149507" name="Rectangle 3"/>
          <p:cNvSpPr>
            <a:spLocks noGrp="1" noChangeArrowheads="1"/>
          </p:cNvSpPr>
          <p:nvPr>
            <p:ph type="body" idx="1"/>
          </p:nvPr>
        </p:nvSpPr>
        <p:spPr/>
        <p:txBody>
          <a:bodyPr/>
          <a:lstStyle/>
          <a:p>
            <a:pPr>
              <a:buFontTx/>
              <a:buNone/>
            </a:pPr>
            <a:endParaRPr lang="en-US" altLang="en-US"/>
          </a:p>
          <a:p>
            <a:pPr>
              <a:buFontTx/>
              <a:buNone/>
            </a:pPr>
            <a:endParaRPr lang="en-US" altLang="en-US"/>
          </a:p>
          <a:p>
            <a:pPr>
              <a:buFontTx/>
              <a:buNone/>
            </a:pPr>
            <a:endParaRPr lang="en-US" altLang="en-US"/>
          </a:p>
        </p:txBody>
      </p:sp>
      <p:graphicFrame>
        <p:nvGraphicFramePr>
          <p:cNvPr id="149908" name="Group 404"/>
          <p:cNvGraphicFramePr>
            <a:graphicFrameLocks noGrp="1"/>
          </p:cNvGraphicFramePr>
          <p:nvPr/>
        </p:nvGraphicFramePr>
        <p:xfrm>
          <a:off x="2057400" y="1752600"/>
          <a:ext cx="8001000" cy="2770188"/>
        </p:xfrm>
        <a:graphic>
          <a:graphicData uri="http://schemas.openxmlformats.org/drawingml/2006/table">
            <a:tbl>
              <a:tblPr/>
              <a:tblGrid>
                <a:gridCol w="1600200"/>
                <a:gridCol w="1600200"/>
                <a:gridCol w="1600200"/>
                <a:gridCol w="1600200"/>
                <a:gridCol w="1600200"/>
              </a:tblGrid>
              <a:tr h="287338">
                <a:tc gridSpan="5">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smtClean="0">
                          <a:ln>
                            <a:noFill/>
                          </a:ln>
                          <a:solidFill>
                            <a:srgbClr val="000066"/>
                          </a:solidFill>
                          <a:effectLst/>
                          <a:latin typeface="Verdana" panose="020B0604030504040204" pitchFamily="34" charset="0"/>
                          <a:cs typeface="Times New Roman" panose="02020603050405020304" pitchFamily="18" charset="0"/>
                        </a:rPr>
                        <a:t>Data and Attribute Sensitivity</a:t>
                      </a:r>
                      <a:endParaRPr kumimoji="0" lang="en-US" altLang="en-US" sz="20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269875">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rgbClr val="000000"/>
                          </a:solidFill>
                          <a:effectLst/>
                          <a:latin typeface="Times" panose="02020603050405020304" pitchFamily="18" charset="0"/>
                          <a:cs typeface="Times New Roman" panose="02020603050405020304" pitchFamily="18" charset="0"/>
                        </a:rPr>
                        <a:t>Name</a:t>
                      </a:r>
                      <a:endParaRPr kumimoji="0" lang="en-US" altLang="en-US" sz="18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rgbClr val="000000"/>
                          </a:solidFill>
                          <a:effectLst/>
                          <a:latin typeface="Times" panose="02020603050405020304" pitchFamily="18" charset="0"/>
                          <a:cs typeface="Times New Roman" panose="02020603050405020304" pitchFamily="18" charset="0"/>
                        </a:rPr>
                        <a:t>Department</a:t>
                      </a:r>
                      <a:endParaRPr kumimoji="0" lang="en-US" altLang="en-US" sz="18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rgbClr val="000000"/>
                          </a:solidFill>
                          <a:effectLst/>
                          <a:latin typeface="Times" panose="02020603050405020304" pitchFamily="18" charset="0"/>
                          <a:cs typeface="Times New Roman" panose="02020603050405020304" pitchFamily="18" charset="0"/>
                        </a:rPr>
                        <a:t>Salary</a:t>
                      </a:r>
                      <a:endParaRPr kumimoji="0" lang="en-US" altLang="en-US" sz="18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rgbClr val="000000"/>
                          </a:solidFill>
                          <a:effectLst/>
                          <a:latin typeface="Times" panose="02020603050405020304" pitchFamily="18" charset="0"/>
                          <a:cs typeface="Times New Roman" panose="02020603050405020304" pitchFamily="18" charset="0"/>
                        </a:rPr>
                        <a:t>Phone</a:t>
                      </a:r>
                      <a:endParaRPr kumimoji="0" lang="en-US" altLang="en-US" sz="18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rgbClr val="000000"/>
                          </a:solidFill>
                          <a:effectLst/>
                          <a:latin typeface="Times" panose="02020603050405020304" pitchFamily="18" charset="0"/>
                          <a:cs typeface="Times New Roman" panose="02020603050405020304" pitchFamily="18" charset="0"/>
                        </a:rPr>
                        <a:t>Performance</a:t>
                      </a:r>
                      <a:endParaRPr kumimoji="0" lang="en-US" altLang="en-US" sz="18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8925">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Rogers</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training</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43,800</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4-5067</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A2</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7338">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Jenkins</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research</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62,900</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6-4281</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D4</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8925">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Poling</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training</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38,200</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4-4501</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B1</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7338">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Garland</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user services</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54,600</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6-6600</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A4</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8925">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Hilten</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user services</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44,500</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4-5351</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B1</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87338">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Davis</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admin</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51,400</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4-9505</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A3</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5597439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r>
              <a:rPr lang="en-US" altLang="en-US"/>
              <a:t>Multilevel Databases</a:t>
            </a:r>
          </a:p>
        </p:txBody>
      </p:sp>
      <p:sp>
        <p:nvSpPr>
          <p:cNvPr id="148483" name="Rectangle 3"/>
          <p:cNvSpPr>
            <a:spLocks noGrp="1" noChangeArrowheads="1"/>
          </p:cNvSpPr>
          <p:nvPr>
            <p:ph type="body" idx="1"/>
          </p:nvPr>
        </p:nvSpPr>
        <p:spPr/>
        <p:txBody>
          <a:bodyPr/>
          <a:lstStyle/>
          <a:p>
            <a:r>
              <a:rPr lang="en-US" altLang="en-US"/>
              <a:t>Leads to Multi Level Security Model</a:t>
            </a:r>
          </a:p>
          <a:p>
            <a:pPr lvl="1"/>
            <a:r>
              <a:rPr lang="en-US" altLang="en-US" i="1"/>
              <a:t>n levels </a:t>
            </a:r>
            <a:r>
              <a:rPr lang="en-US" altLang="en-US"/>
              <a:t>of sensitivity</a:t>
            </a:r>
          </a:p>
          <a:p>
            <a:pPr lvl="1"/>
            <a:r>
              <a:rPr lang="en-US" altLang="en-US"/>
              <a:t>objects separated into compartments by category</a:t>
            </a:r>
          </a:p>
          <a:p>
            <a:pPr lvl="1"/>
            <a:r>
              <a:rPr lang="en-US" altLang="en-US"/>
              <a:t>sensitivity marked for each value in database</a:t>
            </a:r>
          </a:p>
          <a:p>
            <a:pPr lvl="1"/>
            <a:r>
              <a:rPr lang="en-US" altLang="en-US"/>
              <a:t>every </a:t>
            </a:r>
            <a:r>
              <a:rPr lang="en-US" altLang="en-US" i="1"/>
              <a:t>combination of elements</a:t>
            </a:r>
            <a:r>
              <a:rPr lang="en-US" altLang="en-US"/>
              <a:t> can also have a distinct sensitivity </a:t>
            </a:r>
          </a:p>
          <a:p>
            <a:pPr lvl="1"/>
            <a:r>
              <a:rPr lang="en-US" altLang="en-US"/>
              <a:t>access control policy dictate which users may have access to what data </a:t>
            </a:r>
          </a:p>
          <a:p>
            <a:endParaRPr lang="en-US" altLang="en-US"/>
          </a:p>
        </p:txBody>
      </p:sp>
    </p:spTree>
    <p:extLst>
      <p:ext uri="{BB962C8B-B14F-4D97-AF65-F5344CB8AC3E}">
        <p14:creationId xmlns:p14="http://schemas.microsoft.com/office/powerpoint/2010/main" val="298575951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r>
              <a:rPr lang="en-US" altLang="en-US"/>
              <a:t>Multilevel Databases</a:t>
            </a:r>
          </a:p>
        </p:txBody>
      </p:sp>
      <p:sp>
        <p:nvSpPr>
          <p:cNvPr id="157699" name="Rectangle 3"/>
          <p:cNvSpPr>
            <a:spLocks noGrp="1" noChangeArrowheads="1"/>
          </p:cNvSpPr>
          <p:nvPr>
            <p:ph type="body" idx="1"/>
          </p:nvPr>
        </p:nvSpPr>
        <p:spPr/>
        <p:txBody>
          <a:bodyPr/>
          <a:lstStyle/>
          <a:p>
            <a:r>
              <a:rPr lang="en-US" altLang="en-US"/>
              <a:t>To preserve Integrity , DBMS must enforce “No write down” (*-property)</a:t>
            </a:r>
          </a:p>
          <a:p>
            <a:pPr lvl="1"/>
            <a:r>
              <a:rPr lang="en-US" altLang="en-US"/>
              <a:t>the process that reads high level data cannot write to a lower level </a:t>
            </a:r>
          </a:p>
          <a:p>
            <a:pPr lvl="1"/>
            <a:r>
              <a:rPr lang="en-US" altLang="en-US"/>
              <a:t>issue: DBMS must read all records and write new records for backups, query processing etc</a:t>
            </a:r>
          </a:p>
          <a:p>
            <a:pPr lvl="2"/>
            <a:r>
              <a:rPr lang="en-US" altLang="en-US"/>
              <a:t>solution: trusted process</a:t>
            </a:r>
          </a:p>
          <a:p>
            <a:r>
              <a:rPr lang="en-US" altLang="en-US"/>
              <a:t>Preserving confidentiality </a:t>
            </a:r>
          </a:p>
          <a:p>
            <a:pPr lvl="1"/>
            <a:r>
              <a:rPr lang="en-US" altLang="en-US"/>
              <a:t>issue: Leads to redundancy</a:t>
            </a:r>
          </a:p>
          <a:p>
            <a:pPr lvl="2"/>
            <a:endParaRPr lang="en-US" altLang="en-US"/>
          </a:p>
        </p:txBody>
      </p:sp>
    </p:spTree>
    <p:extLst>
      <p:ext uri="{BB962C8B-B14F-4D97-AF65-F5344CB8AC3E}">
        <p14:creationId xmlns:p14="http://schemas.microsoft.com/office/powerpoint/2010/main" val="13586295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a:lstStyle/>
          <a:p>
            <a:r>
              <a:rPr lang="en-US" altLang="en-US"/>
              <a:t>Multilevel Databases</a:t>
            </a:r>
          </a:p>
        </p:txBody>
      </p:sp>
      <p:sp>
        <p:nvSpPr>
          <p:cNvPr id="158723" name="Rectangle 3"/>
          <p:cNvSpPr>
            <a:spLocks noGrp="1" noChangeArrowheads="1"/>
          </p:cNvSpPr>
          <p:nvPr>
            <p:ph type="body" idx="1"/>
          </p:nvPr>
        </p:nvSpPr>
        <p:spPr>
          <a:xfrm>
            <a:off x="1981200" y="1447800"/>
            <a:ext cx="8229600" cy="1981200"/>
          </a:xfrm>
        </p:spPr>
        <p:txBody>
          <a:bodyPr/>
          <a:lstStyle/>
          <a:p>
            <a:r>
              <a:rPr lang="en-US" altLang="en-US" sz="2400"/>
              <a:t>Polyinstantiation</a:t>
            </a:r>
          </a:p>
          <a:p>
            <a:pPr lvl="1"/>
            <a:r>
              <a:rPr lang="en-US" altLang="en-US" sz="2000"/>
              <a:t>different users operating at two different levels of security might get two different answers to the same query </a:t>
            </a:r>
          </a:p>
          <a:p>
            <a:pPr lvl="1"/>
            <a:r>
              <a:rPr lang="en-US" altLang="en-US" sz="2000"/>
              <a:t>one record can appear (be instantiated) many times, with a different level of confidentiality each time</a:t>
            </a:r>
          </a:p>
        </p:txBody>
      </p:sp>
      <p:graphicFrame>
        <p:nvGraphicFramePr>
          <p:cNvPr id="158829" name="Group 109"/>
          <p:cNvGraphicFramePr>
            <a:graphicFrameLocks noGrp="1"/>
          </p:cNvGraphicFramePr>
          <p:nvPr/>
        </p:nvGraphicFramePr>
        <p:xfrm>
          <a:off x="2667000" y="3657601"/>
          <a:ext cx="6400800" cy="1355725"/>
        </p:xfrm>
        <a:graphic>
          <a:graphicData uri="http://schemas.openxmlformats.org/drawingml/2006/table">
            <a:tbl>
              <a:tblPr/>
              <a:tblGrid>
                <a:gridCol w="1600200"/>
                <a:gridCol w="1447800"/>
                <a:gridCol w="1752600"/>
                <a:gridCol w="1600200"/>
              </a:tblGrid>
              <a:tr h="209550">
                <a:tc gridSpan="4">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66"/>
                          </a:solidFill>
                          <a:effectLst/>
                          <a:latin typeface="Verdana" panose="020B0604030504040204" pitchFamily="34" charset="0"/>
                          <a:cs typeface="Times New Roman" panose="02020603050405020304" pitchFamily="18" charset="0"/>
                        </a:rPr>
                        <a:t>Polyinstantiated Records</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hMerge="1">
                  <a:txBody>
                    <a:bodyPr/>
                    <a:lstStyle/>
                    <a:p>
                      <a:endParaRPr lang="en-US"/>
                    </a:p>
                  </a:txBody>
                  <a:tcPr/>
                </a:tc>
              </a:tr>
              <a:tr h="350838">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Times" panose="02020603050405020304" pitchFamily="18" charset="0"/>
                          <a:cs typeface="Times New Roman" panose="02020603050405020304" pitchFamily="18" charset="0"/>
                        </a:rPr>
                        <a:t>Name</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Times" panose="02020603050405020304" pitchFamily="18" charset="0"/>
                          <a:cs typeface="Times New Roman" panose="02020603050405020304" pitchFamily="18" charset="0"/>
                        </a:rPr>
                        <a:t>Sensitivity</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Times" panose="02020603050405020304" pitchFamily="18" charset="0"/>
                          <a:cs typeface="Times New Roman" panose="02020603050405020304" pitchFamily="18" charset="0"/>
                        </a:rPr>
                        <a:t>Assignment</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Times" panose="02020603050405020304" pitchFamily="18" charset="0"/>
                          <a:cs typeface="Times New Roman" panose="02020603050405020304" pitchFamily="18" charset="0"/>
                        </a:rPr>
                        <a:t>Location</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955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Hill, Bob</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C</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Program Mgr</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London</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09550">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Hill, Bob</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TS</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Secret Agent</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SzPct val="80000"/>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a:spcBef>
                          <a:spcPct val="20000"/>
                        </a:spcBef>
                        <a:buSzPct val="80000"/>
                        <a:defRPr>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a:spcBef>
                          <a:spcPct val="20000"/>
                        </a:spcBef>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fontAlgn="base">
                        <a:spcBef>
                          <a:spcPct val="20000"/>
                        </a:spcBef>
                        <a:spcAft>
                          <a:spcPct val="0"/>
                        </a:spcAft>
                        <a:defRPr>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smtClean="0">
                          <a:ln>
                            <a:noFill/>
                          </a:ln>
                          <a:solidFill>
                            <a:srgbClr val="000000"/>
                          </a:solidFill>
                          <a:effectLst/>
                          <a:latin typeface="Verdana" panose="020B0604030504040204" pitchFamily="34" charset="0"/>
                          <a:cs typeface="Times New Roman" panose="02020603050405020304" pitchFamily="18" charset="0"/>
                        </a:rPr>
                        <a:t>South Bend</a:t>
                      </a:r>
                      <a:endParaRPr kumimoji="0" lang="en-US" altLang="en-US" sz="1600" b="0" i="0" u="none" strike="noStrike" cap="none" normalizeH="0" baseline="0" smtClean="0">
                        <a:ln>
                          <a:noFill/>
                        </a:ln>
                        <a:solidFill>
                          <a:schemeClr val="tx1"/>
                        </a:solidFill>
                        <a:effectLst/>
                        <a:latin typeface="Times" panose="02020603050405020304" pitchFamily="18" charset="0"/>
                        <a:ea typeface="Lucida Sans Unicode" panose="020B0602030504020204" pitchFamily="34" charset="0"/>
                        <a:cs typeface="Lucida Sans Unicode" panose="020B0602030504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7540479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r>
              <a:rPr lang="en-US" altLang="en-US"/>
              <a:t>Future Direction</a:t>
            </a:r>
          </a:p>
        </p:txBody>
      </p:sp>
      <p:sp>
        <p:nvSpPr>
          <p:cNvPr id="160771" name="Rectangle 3"/>
          <p:cNvSpPr>
            <a:spLocks noGrp="1" noChangeArrowheads="1"/>
          </p:cNvSpPr>
          <p:nvPr>
            <p:ph type="body" idx="1"/>
          </p:nvPr>
        </p:nvSpPr>
        <p:spPr/>
        <p:txBody>
          <a:bodyPr/>
          <a:lstStyle/>
          <a:p>
            <a:r>
              <a:rPr lang="en-US" altLang="en-US"/>
              <a:t>Civilian users dislike inflexibility of MLS databases</a:t>
            </a:r>
          </a:p>
          <a:p>
            <a:pPr lvl="1"/>
            <a:r>
              <a:rPr lang="en-US" altLang="en-US"/>
              <a:t>MLS databases primarily research interest</a:t>
            </a:r>
          </a:p>
          <a:p>
            <a:r>
              <a:rPr lang="en-US" altLang="en-US"/>
              <a:t>Privacy concerns fueling interest in database security</a:t>
            </a:r>
          </a:p>
          <a:p>
            <a:pPr lvl="1"/>
            <a:r>
              <a:rPr lang="en-US" altLang="en-US"/>
              <a:t>hippocratic database </a:t>
            </a:r>
          </a:p>
          <a:p>
            <a:pPr lvl="1"/>
            <a:r>
              <a:rPr lang="en-US" altLang="en-US"/>
              <a:t>database design that takes consumer privacy into account in the way it stores and retrieves information </a:t>
            </a:r>
          </a:p>
        </p:txBody>
      </p:sp>
    </p:spTree>
    <p:extLst>
      <p:ext uri="{BB962C8B-B14F-4D97-AF65-F5344CB8AC3E}">
        <p14:creationId xmlns:p14="http://schemas.microsoft.com/office/powerpoint/2010/main" val="9325987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body" idx="1"/>
          </p:nvPr>
        </p:nvSpPr>
        <p:spPr>
          <a:xfrm>
            <a:off x="1981200" y="533400"/>
            <a:ext cx="8229600" cy="5334000"/>
          </a:xfrm>
        </p:spPr>
        <p:txBody>
          <a:bodyPr/>
          <a:lstStyle/>
          <a:p>
            <a:pPr algn="ctr"/>
            <a:endParaRPr lang="en-US" altLang="en-US"/>
          </a:p>
          <a:p>
            <a:pPr algn="ctr"/>
            <a:endParaRPr lang="en-US" altLang="en-US"/>
          </a:p>
          <a:p>
            <a:pPr algn="ctr"/>
            <a:endParaRPr lang="en-US" altLang="en-US"/>
          </a:p>
        </p:txBody>
      </p:sp>
      <p:sp>
        <p:nvSpPr>
          <p:cNvPr id="233475" name="Rectangle 3"/>
          <p:cNvSpPr>
            <a:spLocks noGrp="1" noChangeArrowheads="1"/>
          </p:cNvSpPr>
          <p:nvPr>
            <p:ph type="title"/>
          </p:nvPr>
        </p:nvSpPr>
        <p:spPr>
          <a:noFill/>
          <a:ln/>
        </p:spPr>
        <p:txBody>
          <a:bodyPr/>
          <a:lstStyle/>
          <a:p>
            <a:r>
              <a:rPr lang="en-US" altLang="en-US"/>
              <a:t>References</a:t>
            </a:r>
          </a:p>
        </p:txBody>
      </p:sp>
      <p:sp>
        <p:nvSpPr>
          <p:cNvPr id="233476" name="Rectangle 4"/>
          <p:cNvSpPr>
            <a:spLocks noChangeArrowheads="1"/>
          </p:cNvSpPr>
          <p:nvPr/>
        </p:nvSpPr>
        <p:spPr bwMode="auto">
          <a:xfrm>
            <a:off x="1981200" y="1447800"/>
            <a:ext cx="82296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SzPct val="80000"/>
              <a:buChar char="•"/>
              <a:defRPr sz="28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990600" indent="-533400">
              <a:spcBef>
                <a:spcPct val="20000"/>
              </a:spcBef>
              <a:buSzPct val="80000"/>
              <a:buChar char="–"/>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371600" indent="-457200">
              <a:spcBef>
                <a:spcPct val="20000"/>
              </a:spcBef>
              <a:buSzPct val="80000"/>
              <a:buChar char="•"/>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752600" indent="-381000">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209800" indent="-381000">
              <a:spcBef>
                <a:spcPct val="20000"/>
              </a:spcBef>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marL="26670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marL="31242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marL="35814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marL="40386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algn="just">
              <a:buFontTx/>
              <a:buNone/>
            </a:pPr>
            <a:endParaRPr lang="en-US" altLang="en-US" sz="3200"/>
          </a:p>
        </p:txBody>
      </p:sp>
      <p:sp>
        <p:nvSpPr>
          <p:cNvPr id="233477" name="Rectangle 5"/>
          <p:cNvSpPr>
            <a:spLocks noChangeArrowheads="1"/>
          </p:cNvSpPr>
          <p:nvPr/>
        </p:nvSpPr>
        <p:spPr bwMode="auto">
          <a:xfrm>
            <a:off x="2133600" y="1600200"/>
            <a:ext cx="82296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SzPct val="80000"/>
              <a:buChar char="•"/>
              <a:defRPr sz="28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990600" indent="-533400">
              <a:spcBef>
                <a:spcPct val="20000"/>
              </a:spcBef>
              <a:buSzPct val="80000"/>
              <a:buChar char="–"/>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371600" indent="-457200">
              <a:spcBef>
                <a:spcPct val="20000"/>
              </a:spcBef>
              <a:buSzPct val="80000"/>
              <a:buChar char="•"/>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752600" indent="-381000">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209800" indent="-381000">
              <a:spcBef>
                <a:spcPct val="20000"/>
              </a:spcBef>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marL="26670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marL="31242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marL="35814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marL="40386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r>
              <a:rPr lang="en-US" altLang="en-US" sz="2400"/>
              <a:t>Pfleeger, “Security in Computing”, 3rd ed, 2003(Chapter 8)</a:t>
            </a:r>
          </a:p>
          <a:p>
            <a:r>
              <a:rPr lang="en-US" altLang="en-US" sz="2400"/>
              <a:t>Abrams,Jojodia,Podell, “Information Security,An Integrated Collection of Essays”, 1995</a:t>
            </a:r>
          </a:p>
          <a:p>
            <a:r>
              <a:rPr lang="en-US" altLang="en-US" sz="2400"/>
              <a:t>NCSC Technical Report 005 Volume 1/5</a:t>
            </a:r>
            <a:br>
              <a:rPr lang="en-US" altLang="en-US" sz="2400"/>
            </a:br>
            <a:r>
              <a:rPr lang="en-US" altLang="en-US" sz="2400"/>
              <a:t>Inference and Aggregation Issues In Secure Database Management Systems</a:t>
            </a:r>
          </a:p>
          <a:p>
            <a:r>
              <a:rPr lang="en-US" altLang="en-US" sz="2400"/>
              <a:t>Oracle Corporation, “Trusted Label Security”, Redwood City, CA, USA, 2004</a:t>
            </a:r>
          </a:p>
          <a:p>
            <a:endParaRPr lang="en-US" altLang="en-US" sz="2400"/>
          </a:p>
          <a:p>
            <a:pPr algn="just">
              <a:buFontTx/>
              <a:buNone/>
            </a:pPr>
            <a:endParaRPr lang="en-US" altLang="en-US" sz="3200"/>
          </a:p>
        </p:txBody>
      </p:sp>
    </p:spTree>
    <p:extLst>
      <p:ext uri="{BB962C8B-B14F-4D97-AF65-F5344CB8AC3E}">
        <p14:creationId xmlns:p14="http://schemas.microsoft.com/office/powerpoint/2010/main" val="36296683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body" idx="1"/>
          </p:nvPr>
        </p:nvSpPr>
        <p:spPr>
          <a:xfrm>
            <a:off x="1981200" y="533400"/>
            <a:ext cx="8229600" cy="5334000"/>
          </a:xfrm>
        </p:spPr>
        <p:txBody>
          <a:bodyPr/>
          <a:lstStyle/>
          <a:p>
            <a:pPr algn="ctr"/>
            <a:endParaRPr lang="en-US" altLang="en-US"/>
          </a:p>
          <a:p>
            <a:pPr algn="ctr"/>
            <a:endParaRPr lang="en-US" altLang="en-US"/>
          </a:p>
          <a:p>
            <a:pPr algn="ctr"/>
            <a:endParaRPr lang="en-US" altLang="en-US"/>
          </a:p>
        </p:txBody>
      </p:sp>
      <p:sp>
        <p:nvSpPr>
          <p:cNvPr id="280579" name="Rectangle 3"/>
          <p:cNvSpPr>
            <a:spLocks noGrp="1" noChangeArrowheads="1"/>
          </p:cNvSpPr>
          <p:nvPr>
            <p:ph type="title"/>
          </p:nvPr>
        </p:nvSpPr>
        <p:spPr>
          <a:noFill/>
          <a:ln/>
        </p:spPr>
        <p:txBody>
          <a:bodyPr/>
          <a:lstStyle/>
          <a:p>
            <a:r>
              <a:rPr lang="en-US" altLang="en-US"/>
              <a:t>References</a:t>
            </a:r>
          </a:p>
        </p:txBody>
      </p:sp>
      <p:sp>
        <p:nvSpPr>
          <p:cNvPr id="280580" name="Rectangle 4"/>
          <p:cNvSpPr>
            <a:spLocks noChangeArrowheads="1"/>
          </p:cNvSpPr>
          <p:nvPr/>
        </p:nvSpPr>
        <p:spPr bwMode="auto">
          <a:xfrm>
            <a:off x="1981200" y="1447800"/>
            <a:ext cx="82296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SzPct val="80000"/>
              <a:buChar char="•"/>
              <a:defRPr sz="28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990600" indent="-533400">
              <a:spcBef>
                <a:spcPct val="20000"/>
              </a:spcBef>
              <a:buSzPct val="80000"/>
              <a:buChar char="–"/>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371600" indent="-457200">
              <a:spcBef>
                <a:spcPct val="20000"/>
              </a:spcBef>
              <a:buSzPct val="80000"/>
              <a:buChar char="•"/>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752600" indent="-381000">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209800" indent="-381000">
              <a:spcBef>
                <a:spcPct val="20000"/>
              </a:spcBef>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marL="26670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marL="31242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marL="35814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marL="40386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pPr algn="just">
              <a:buFontTx/>
              <a:buNone/>
            </a:pPr>
            <a:endParaRPr lang="en-US" altLang="en-US" sz="3200"/>
          </a:p>
        </p:txBody>
      </p:sp>
      <p:sp>
        <p:nvSpPr>
          <p:cNvPr id="280581" name="Rectangle 5"/>
          <p:cNvSpPr>
            <a:spLocks noChangeArrowheads="1"/>
          </p:cNvSpPr>
          <p:nvPr/>
        </p:nvSpPr>
        <p:spPr bwMode="auto">
          <a:xfrm>
            <a:off x="2133600" y="1600200"/>
            <a:ext cx="82296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SzPct val="80000"/>
              <a:buChar char="•"/>
              <a:defRPr sz="28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990600" indent="-533400">
              <a:spcBef>
                <a:spcPct val="20000"/>
              </a:spcBef>
              <a:buSzPct val="80000"/>
              <a:buChar char="–"/>
              <a:defRPr sz="24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371600" indent="-457200">
              <a:spcBef>
                <a:spcPct val="20000"/>
              </a:spcBef>
              <a:buSzPct val="80000"/>
              <a:buChar char="•"/>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752600" indent="-381000">
              <a:spcBef>
                <a:spcPct val="20000"/>
              </a:spcBef>
              <a:buSzPct val="80000"/>
              <a:defRPr sz="2000">
                <a:solidFill>
                  <a:srgbClr val="000066"/>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209800" indent="-381000">
              <a:spcBef>
                <a:spcPct val="20000"/>
              </a:spcBef>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5pPr>
            <a:lvl6pPr marL="26670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6pPr>
            <a:lvl7pPr marL="31242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7pPr>
            <a:lvl8pPr marL="35814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8pPr>
            <a:lvl9pPr marL="4038600" indent="-381000" fontAlgn="base">
              <a:spcBef>
                <a:spcPct val="20000"/>
              </a:spcBef>
              <a:spcAft>
                <a:spcPct val="0"/>
              </a:spcAft>
              <a:buChar char="»"/>
              <a:defRPr sz="2000">
                <a:solidFill>
                  <a:schemeClr val="tx1"/>
                </a:solidFill>
                <a:latin typeface="Lucida Sans" panose="020B0602030504020204" pitchFamily="34" charset="0"/>
                <a:ea typeface="Lucida Sans Unicode" panose="020B0602030504020204" pitchFamily="34" charset="0"/>
                <a:cs typeface="Lucida Sans Unicode" panose="020B0602030504020204" pitchFamily="34" charset="0"/>
              </a:defRPr>
            </a:lvl9pPr>
          </a:lstStyle>
          <a:p>
            <a:r>
              <a:rPr lang="en-US" altLang="en-US" sz="2400"/>
              <a:t>Class notes from Database Security Class at George Mason University</a:t>
            </a:r>
          </a:p>
          <a:p>
            <a:pPr lvl="1"/>
            <a:r>
              <a:rPr lang="en-US" altLang="en-US">
                <a:hlinkClick r:id="rId2"/>
              </a:rPr>
              <a:t>http://classweb.gmu.edu/brodsky/isa765/</a:t>
            </a:r>
            <a:endParaRPr lang="en-US" altLang="en-US"/>
          </a:p>
          <a:p>
            <a:pPr lvl="1"/>
            <a:endParaRPr lang="en-US" altLang="en-US"/>
          </a:p>
          <a:p>
            <a:endParaRPr lang="en-US" altLang="en-US" sz="2400"/>
          </a:p>
          <a:p>
            <a:pPr algn="just">
              <a:buFontTx/>
              <a:buNone/>
            </a:pPr>
            <a:endParaRPr lang="en-US" altLang="en-US" sz="3200"/>
          </a:p>
        </p:txBody>
      </p:sp>
    </p:spTree>
    <p:extLst>
      <p:ext uri="{BB962C8B-B14F-4D97-AF65-F5344CB8AC3E}">
        <p14:creationId xmlns:p14="http://schemas.microsoft.com/office/powerpoint/2010/main" val="10414550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body" idx="1"/>
          </p:nvPr>
        </p:nvSpPr>
        <p:spPr>
          <a:xfrm>
            <a:off x="1981200" y="533400"/>
            <a:ext cx="8229600" cy="5334000"/>
          </a:xfrm>
        </p:spPr>
        <p:txBody>
          <a:bodyPr/>
          <a:lstStyle/>
          <a:p>
            <a:pPr algn="ctr"/>
            <a:endParaRPr lang="en-US" altLang="en-US"/>
          </a:p>
          <a:p>
            <a:pPr algn="ctr"/>
            <a:endParaRPr lang="en-US" altLang="en-US"/>
          </a:p>
          <a:p>
            <a:pPr algn="ctr"/>
            <a:endParaRPr lang="en-US" altLang="en-US"/>
          </a:p>
          <a:p>
            <a:pPr algn="ctr">
              <a:buFontTx/>
              <a:buNone/>
            </a:pPr>
            <a:r>
              <a:rPr lang="en-US" altLang="en-US" sz="3200"/>
              <a:t>Thank you! </a:t>
            </a:r>
          </a:p>
        </p:txBody>
      </p:sp>
    </p:spTree>
    <p:extLst>
      <p:ext uri="{BB962C8B-B14F-4D97-AF65-F5344CB8AC3E}">
        <p14:creationId xmlns:p14="http://schemas.microsoft.com/office/powerpoint/2010/main" val="22446167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a:lstStyle/>
          <a:p>
            <a:r>
              <a:rPr lang="en-US" altLang="en-US"/>
              <a:t>Case Study: MAC Solution</a:t>
            </a:r>
          </a:p>
        </p:txBody>
      </p:sp>
      <p:sp>
        <p:nvSpPr>
          <p:cNvPr id="237571" name="Rectangle 3"/>
          <p:cNvSpPr>
            <a:spLocks noGrp="1" noChangeArrowheads="1"/>
          </p:cNvSpPr>
          <p:nvPr>
            <p:ph type="body" idx="1"/>
          </p:nvPr>
        </p:nvSpPr>
        <p:spPr>
          <a:xfrm>
            <a:off x="2133600" y="1600200"/>
            <a:ext cx="7772400" cy="4114800"/>
          </a:xfrm>
        </p:spPr>
        <p:txBody>
          <a:bodyPr>
            <a:normAutofit fontScale="85000" lnSpcReduction="20000"/>
          </a:bodyPr>
          <a:lstStyle/>
          <a:p>
            <a:pPr marL="533400" indent="-533400" algn="just">
              <a:lnSpc>
                <a:spcPct val="90000"/>
              </a:lnSpc>
              <a:buNone/>
            </a:pPr>
            <a:r>
              <a:rPr lang="en-US" altLang="en-US" sz="2000" b="1"/>
              <a:t>Example of steps to implement LBAC</a:t>
            </a:r>
            <a:r>
              <a:rPr lang="en-US" altLang="en-US" sz="2000"/>
              <a:t>:</a:t>
            </a:r>
          </a:p>
          <a:p>
            <a:pPr marL="533400" indent="-533400" algn="just">
              <a:lnSpc>
                <a:spcPct val="90000"/>
              </a:lnSpc>
              <a:buFontTx/>
              <a:buAutoNum type="arabicPeriod"/>
            </a:pPr>
            <a:r>
              <a:rPr lang="en-US" altLang="en-US"/>
              <a:t>Defining the security policies and labels</a:t>
            </a:r>
          </a:p>
          <a:p>
            <a:pPr marL="914400" lvl="1" indent="-457200" algn="just">
              <a:lnSpc>
                <a:spcPct val="90000"/>
              </a:lnSpc>
              <a:buFontTx/>
              <a:buAutoNum type="alphaLcPeriod"/>
            </a:pPr>
            <a:r>
              <a:rPr lang="en-US" altLang="en-US"/>
              <a:t>Defining the security label component</a:t>
            </a:r>
          </a:p>
          <a:p>
            <a:pPr marL="1295400" lvl="2" indent="-381000" algn="just">
              <a:lnSpc>
                <a:spcPct val="90000"/>
              </a:lnSpc>
              <a:buNone/>
            </a:pPr>
            <a:r>
              <a:rPr lang="en-US" altLang="en-US">
                <a:latin typeface="Arial Unicode MS" panose="020B0604020202020204" pitchFamily="34" charset="-128"/>
              </a:rPr>
              <a:t>CREATE SECURITY LABEL COMPONENT SLC_LEVEL </a:t>
            </a:r>
          </a:p>
          <a:p>
            <a:pPr marL="1295400" lvl="2" indent="-381000" algn="just">
              <a:lnSpc>
                <a:spcPct val="90000"/>
              </a:lnSpc>
              <a:buNone/>
            </a:pPr>
            <a:r>
              <a:rPr lang="en-US" altLang="en-US">
                <a:latin typeface="Arial Unicode MS" panose="020B0604020202020204" pitchFamily="34" charset="-128"/>
              </a:rPr>
              <a:t>SET {'CONFIDENTIAL'} </a:t>
            </a:r>
          </a:p>
          <a:p>
            <a:pPr marL="914400" lvl="1" indent="-457200" algn="just">
              <a:lnSpc>
                <a:spcPct val="90000"/>
              </a:lnSpc>
              <a:buNone/>
            </a:pPr>
            <a:r>
              <a:rPr lang="en-US" altLang="en-US" sz="1400">
                <a:latin typeface="Arial Unicode MS" panose="020B0604020202020204" pitchFamily="34" charset="-128"/>
              </a:rPr>
              <a:t>	CREATE SECURITY LABEL COMPONENT SLC_LIFEINS_ORG TREE</a:t>
            </a:r>
            <a:r>
              <a:rPr lang="en-US" altLang="en-US">
                <a:latin typeface="Arial Unicode MS" panose="020B0604020202020204" pitchFamily="34" charset="-128"/>
              </a:rPr>
              <a:t> </a:t>
            </a:r>
            <a:r>
              <a:rPr lang="en-US" altLang="en-US" sz="1400">
                <a:latin typeface="Arial Unicode MS" panose="020B0604020202020204" pitchFamily="34" charset="-128"/>
              </a:rPr>
              <a:t>{'LIFE_INS_DEPT' ROOT, </a:t>
            </a:r>
          </a:p>
          <a:p>
            <a:pPr marL="533400" indent="-533400" algn="just">
              <a:lnSpc>
                <a:spcPct val="90000"/>
              </a:lnSpc>
              <a:buNone/>
            </a:pPr>
            <a:r>
              <a:rPr lang="en-US" altLang="en-US">
                <a:latin typeface="Arial Unicode MS" panose="020B0604020202020204" pitchFamily="34" charset="-128"/>
              </a:rPr>
              <a:t>	</a:t>
            </a:r>
            <a:r>
              <a:rPr lang="en-US" altLang="en-US" sz="1400">
                <a:latin typeface="Arial Unicode MS" panose="020B0604020202020204" pitchFamily="34" charset="-128"/>
              </a:rPr>
              <a:t>	'K01' UNDER 'LIFE_INS_DEPT', </a:t>
            </a:r>
          </a:p>
          <a:p>
            <a:pPr marL="533400" indent="-533400" algn="just">
              <a:lnSpc>
                <a:spcPct val="90000"/>
              </a:lnSpc>
              <a:buNone/>
            </a:pPr>
            <a:r>
              <a:rPr lang="en-US" altLang="en-US" sz="1400">
                <a:latin typeface="Arial Unicode MS" panose="020B0604020202020204" pitchFamily="34" charset="-128"/>
              </a:rPr>
              <a:t>	       'K02' UNDER 'LIFE_INS_DEPT', </a:t>
            </a:r>
          </a:p>
          <a:p>
            <a:pPr marL="533400" indent="-533400" algn="just">
              <a:lnSpc>
                <a:spcPct val="90000"/>
              </a:lnSpc>
              <a:buNone/>
            </a:pPr>
            <a:r>
              <a:rPr lang="en-US" altLang="en-US" sz="1400">
                <a:latin typeface="Arial Unicode MS" panose="020B0604020202020204" pitchFamily="34" charset="-128"/>
              </a:rPr>
              <a:t>	       'S01' UNDER 'LIFE_INS_DEPT', </a:t>
            </a:r>
          </a:p>
          <a:p>
            <a:pPr marL="533400" indent="-533400" algn="just">
              <a:lnSpc>
                <a:spcPct val="90000"/>
              </a:lnSpc>
              <a:buNone/>
            </a:pPr>
            <a:r>
              <a:rPr lang="en-US" altLang="en-US" sz="1400">
                <a:latin typeface="Arial Unicode MS" panose="020B0604020202020204" pitchFamily="34" charset="-128"/>
              </a:rPr>
              <a:t>	       'S02' UNDER 'LIFE_INS_DEPT' }</a:t>
            </a:r>
            <a:r>
              <a:rPr lang="en-US" altLang="en-US" sz="1400"/>
              <a:t> </a:t>
            </a:r>
          </a:p>
          <a:p>
            <a:pPr marL="914400" lvl="1" indent="-457200" algn="just">
              <a:lnSpc>
                <a:spcPct val="90000"/>
              </a:lnSpc>
              <a:buNone/>
            </a:pPr>
            <a:r>
              <a:rPr lang="en-US" altLang="en-US">
                <a:latin typeface="Arial Unicode MS" panose="020B0604020202020204" pitchFamily="34" charset="-128"/>
              </a:rPr>
              <a:t>b. 	</a:t>
            </a:r>
            <a:r>
              <a:rPr lang="en-US" altLang="en-US"/>
              <a:t>Defining the security policy</a:t>
            </a:r>
            <a:endParaRPr lang="en-US" altLang="en-US">
              <a:latin typeface="Arial Unicode MS" panose="020B0604020202020204" pitchFamily="34" charset="-128"/>
            </a:endParaRPr>
          </a:p>
          <a:p>
            <a:pPr marL="914400" lvl="1" indent="-457200" algn="just">
              <a:lnSpc>
                <a:spcPct val="90000"/>
              </a:lnSpc>
              <a:buNone/>
            </a:pPr>
            <a:r>
              <a:rPr lang="en-US" altLang="en-US" sz="1400">
                <a:latin typeface="Arial Unicode MS" panose="020B0604020202020204" pitchFamily="34" charset="-128"/>
              </a:rPr>
              <a:t>	CREATE SECURITY POLICY MEDICAL_RECORD_POLICY COMPONENTS SLC_LEVEL, SLC_LIFEINS_ORG </a:t>
            </a:r>
          </a:p>
          <a:p>
            <a:pPr marL="914400" lvl="1" indent="-457200" algn="just">
              <a:lnSpc>
                <a:spcPct val="90000"/>
              </a:lnSpc>
              <a:buNone/>
            </a:pPr>
            <a:r>
              <a:rPr lang="en-US" altLang="en-US" sz="1400">
                <a:latin typeface="Arial Unicode MS" panose="020B0604020202020204" pitchFamily="34" charset="-128"/>
              </a:rPr>
              <a:t>	WITH DB2LBACRULES </a:t>
            </a:r>
          </a:p>
          <a:p>
            <a:pPr marL="1295400" lvl="2" indent="-381000" algn="just">
              <a:lnSpc>
                <a:spcPct val="90000"/>
              </a:lnSpc>
              <a:buNone/>
            </a:pPr>
            <a:r>
              <a:rPr lang="en-US" altLang="en-US">
                <a:latin typeface="Arial Unicode MS" panose="020B0604020202020204" pitchFamily="34" charset="-128"/>
              </a:rPr>
              <a:t>RESTRICT NOT AUTHORIZED WRITE SECURITY LABEL </a:t>
            </a:r>
            <a:endParaRPr lang="en-US" altLang="en-US"/>
          </a:p>
          <a:p>
            <a:pPr marL="1295400" lvl="2" indent="-381000" algn="just">
              <a:lnSpc>
                <a:spcPct val="90000"/>
              </a:lnSpc>
              <a:buNone/>
            </a:pPr>
            <a:endParaRPr lang="en-US" altLang="en-US"/>
          </a:p>
        </p:txBody>
      </p:sp>
    </p:spTree>
    <p:extLst>
      <p:ext uri="{BB962C8B-B14F-4D97-AF65-F5344CB8AC3E}">
        <p14:creationId xmlns:p14="http://schemas.microsoft.com/office/powerpoint/2010/main" val="173558820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lstStyle/>
          <a:p>
            <a:r>
              <a:rPr lang="en-US" altLang="en-US"/>
              <a:t>Case Study: MAC Solution</a:t>
            </a:r>
          </a:p>
        </p:txBody>
      </p:sp>
      <p:sp>
        <p:nvSpPr>
          <p:cNvPr id="239619" name="Rectangle 3"/>
          <p:cNvSpPr>
            <a:spLocks noGrp="1" noChangeArrowheads="1"/>
          </p:cNvSpPr>
          <p:nvPr>
            <p:ph type="body" idx="1"/>
          </p:nvPr>
        </p:nvSpPr>
        <p:spPr/>
        <p:txBody>
          <a:bodyPr/>
          <a:lstStyle/>
          <a:p>
            <a:pPr marL="609600" indent="-609600">
              <a:lnSpc>
                <a:spcPct val="90000"/>
              </a:lnSpc>
              <a:buNone/>
            </a:pPr>
            <a:r>
              <a:rPr lang="en-US" altLang="en-US" sz="2400"/>
              <a:t>c. </a:t>
            </a:r>
            <a:r>
              <a:rPr lang="en-US" altLang="en-US"/>
              <a:t>Defining the security labels</a:t>
            </a:r>
          </a:p>
          <a:p>
            <a:pPr marL="990600" lvl="1" indent="-533400">
              <a:lnSpc>
                <a:spcPct val="90000"/>
              </a:lnSpc>
              <a:buNone/>
            </a:pPr>
            <a:r>
              <a:rPr lang="en-US" altLang="en-US">
                <a:latin typeface="Arial Unicode MS" panose="020B0604020202020204" pitchFamily="34" charset="-128"/>
              </a:rPr>
              <a:t>	CREATE SECURITY LABEL MEDICAL_RECORD_POLICY.MED_RECORD COMPONENT SLC_LEVEL 'CONFIDENTIAL'</a:t>
            </a:r>
            <a:r>
              <a:rPr lang="en-US" altLang="en-US"/>
              <a:t> </a:t>
            </a:r>
          </a:p>
          <a:p>
            <a:pPr marL="990600" lvl="1" indent="-533400" algn="just">
              <a:lnSpc>
                <a:spcPct val="90000"/>
              </a:lnSpc>
              <a:buNone/>
            </a:pPr>
            <a:r>
              <a:rPr lang="en-US" altLang="en-US"/>
              <a:t>For each department, </a:t>
            </a:r>
          </a:p>
          <a:p>
            <a:pPr marL="990600" lvl="1" indent="-533400">
              <a:lnSpc>
                <a:spcPct val="90000"/>
              </a:lnSpc>
              <a:buNone/>
            </a:pPr>
            <a:r>
              <a:rPr lang="en-US" altLang="en-US">
                <a:latin typeface="Arial Unicode MS" panose="020B0604020202020204" pitchFamily="34" charset="-128"/>
              </a:rPr>
              <a:t>	CREATE SECURITY LABEL MEDICAL_RECORD_POLICY.LIFEINS_DEPT_K01 COMPONENT SLC_LIFEINS_ORG 'K01'</a:t>
            </a:r>
            <a:r>
              <a:rPr lang="en-US" altLang="en-US"/>
              <a:t> </a:t>
            </a:r>
          </a:p>
          <a:p>
            <a:pPr marL="990600" lvl="1" indent="-533400" algn="just">
              <a:lnSpc>
                <a:spcPct val="90000"/>
              </a:lnSpc>
              <a:buNone/>
            </a:pPr>
            <a:r>
              <a:rPr lang="en-US" altLang="en-US"/>
              <a:t>For Medical analyst</a:t>
            </a:r>
          </a:p>
          <a:p>
            <a:pPr marL="609600" indent="-609600">
              <a:lnSpc>
                <a:spcPct val="90000"/>
              </a:lnSpc>
              <a:buNone/>
            </a:pPr>
            <a:r>
              <a:rPr lang="en-US" altLang="en-US">
                <a:latin typeface="Arial Unicode MS" panose="020B0604020202020204" pitchFamily="34" charset="-128"/>
              </a:rPr>
              <a:t>		CREATE SECURITY LABEL 	MEDICAL_RECORD_POLICY.MEDICAL_ANALYST 	COMPONENT SLC_LEVEL 'CONFIDENTIAL', 	COMPONENT SLC_LIFEINS_ORG 'K01', 'K02', 'S01', 	'S02' </a:t>
            </a:r>
          </a:p>
        </p:txBody>
      </p:sp>
    </p:spTree>
    <p:extLst>
      <p:ext uri="{BB962C8B-B14F-4D97-AF65-F5344CB8AC3E}">
        <p14:creationId xmlns:p14="http://schemas.microsoft.com/office/powerpoint/2010/main" val="362462012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r>
              <a:rPr lang="en-US" altLang="en-US"/>
              <a:t>Case Study: MAC Solution</a:t>
            </a:r>
          </a:p>
        </p:txBody>
      </p:sp>
      <p:sp>
        <p:nvSpPr>
          <p:cNvPr id="241667" name="Rectangle 3"/>
          <p:cNvSpPr>
            <a:spLocks noGrp="1" noChangeArrowheads="1"/>
          </p:cNvSpPr>
          <p:nvPr>
            <p:ph type="body" idx="1"/>
          </p:nvPr>
        </p:nvSpPr>
        <p:spPr/>
        <p:txBody>
          <a:bodyPr/>
          <a:lstStyle/>
          <a:p>
            <a:pPr marL="609600" indent="-609600" algn="just">
              <a:buNone/>
            </a:pPr>
            <a:r>
              <a:rPr lang="en-US" altLang="en-US" sz="2000"/>
              <a:t>2.  Altering the MEDICAL_RECORD table by adding a security label column for row level protection, marking the confidential column as protected, and attaching the security policy to the table. </a:t>
            </a:r>
          </a:p>
          <a:p>
            <a:pPr marL="990600" lvl="1" indent="-533400">
              <a:buNone/>
            </a:pPr>
            <a:r>
              <a:rPr lang="en-US" altLang="en-US" sz="1400">
                <a:latin typeface="Arial Unicode MS" panose="020B0604020202020204" pitchFamily="34" charset="-128"/>
              </a:rPr>
              <a:t>	GRANT SECURITY LABEL MEDICAL_RECORD_POLICY.MEDICAL_ANALYST TO USER &lt;administrator_auth_id&gt; FOR ALL ACCESS</a:t>
            </a:r>
            <a:r>
              <a:rPr lang="en-US" altLang="en-US" sz="1400"/>
              <a:t> </a:t>
            </a:r>
          </a:p>
          <a:p>
            <a:pPr marL="990600" lvl="1" indent="-533400">
              <a:buNone/>
            </a:pPr>
            <a:endParaRPr lang="en-US" altLang="en-US" sz="1400">
              <a:latin typeface="Arial Unicode MS" panose="020B0604020202020204" pitchFamily="34" charset="-128"/>
            </a:endParaRPr>
          </a:p>
          <a:p>
            <a:pPr marL="990600" lvl="1" indent="-533400">
              <a:buNone/>
            </a:pPr>
            <a:r>
              <a:rPr lang="en-US" altLang="en-US" sz="1400">
                <a:latin typeface="Arial Unicode MS" panose="020B0604020202020204" pitchFamily="34" charset="-128"/>
              </a:rPr>
              <a:t>	ALTER TABLE MEDICAL_RECORD ALTER COLUMN MEDICAL_HISTORY SECURED WITH MEDICAL_RECORD_POLICY.MED_RECORD ADD COLUMN DEPARTMENT_TAG DB2SECURITYLABEL ADD SECURITY POLICY MEDICAL_RECORD_POLICY</a:t>
            </a:r>
            <a:r>
              <a:rPr lang="en-US" altLang="en-US" sz="1400"/>
              <a:t> </a:t>
            </a:r>
          </a:p>
        </p:txBody>
      </p:sp>
    </p:spTree>
    <p:extLst>
      <p:ext uri="{BB962C8B-B14F-4D97-AF65-F5344CB8AC3E}">
        <p14:creationId xmlns:p14="http://schemas.microsoft.com/office/powerpoint/2010/main" val="285730664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p:txBody>
          <a:bodyPr/>
          <a:lstStyle/>
          <a:p>
            <a:r>
              <a:rPr lang="en-US" altLang="en-US"/>
              <a:t>Case Study: MAC Solution</a:t>
            </a:r>
          </a:p>
        </p:txBody>
      </p:sp>
      <p:sp>
        <p:nvSpPr>
          <p:cNvPr id="243715" name="Rectangle 3"/>
          <p:cNvSpPr>
            <a:spLocks noGrp="1" noChangeArrowheads="1"/>
          </p:cNvSpPr>
          <p:nvPr>
            <p:ph type="body" idx="1"/>
          </p:nvPr>
        </p:nvSpPr>
        <p:spPr/>
        <p:txBody>
          <a:bodyPr/>
          <a:lstStyle/>
          <a:p>
            <a:pPr marL="609600" indent="-609600" algn="just">
              <a:buNone/>
            </a:pPr>
            <a:r>
              <a:rPr lang="en-US" altLang="en-US" sz="2000"/>
              <a:t>3.	Updating the MEDICAL_RECORD table security label column.</a:t>
            </a:r>
          </a:p>
          <a:p>
            <a:pPr marL="609600" indent="-609600">
              <a:buNone/>
            </a:pPr>
            <a:r>
              <a:rPr lang="en-US" altLang="en-US" sz="1600">
                <a:latin typeface="Arial Unicode MS" panose="020B0604020202020204" pitchFamily="34" charset="-128"/>
              </a:rPr>
              <a:t>	</a:t>
            </a:r>
          </a:p>
          <a:p>
            <a:pPr marL="609600" indent="-609600">
              <a:buNone/>
            </a:pPr>
            <a:r>
              <a:rPr lang="en-US" altLang="en-US" sz="1600">
                <a:latin typeface="Arial Unicode MS" panose="020B0604020202020204" pitchFamily="34" charset="-128"/>
              </a:rPr>
              <a:t>	GRANT EXEMPTION ON RULE DB2LBACWRITETREE FOR MEDICAL_RECORD_POLICY TO USER &lt;administrator_auth_id&gt;</a:t>
            </a:r>
            <a:r>
              <a:rPr lang="en-US" altLang="en-US" sz="1600"/>
              <a:t> 	</a:t>
            </a:r>
          </a:p>
          <a:p>
            <a:pPr marL="609600" indent="-609600">
              <a:buNone/>
            </a:pPr>
            <a:r>
              <a:rPr lang="en-US" altLang="en-US" sz="1600">
                <a:latin typeface="Arial Unicode MS" panose="020B0604020202020204" pitchFamily="34" charset="-128"/>
              </a:rPr>
              <a:t>	For each department,</a:t>
            </a:r>
          </a:p>
          <a:p>
            <a:pPr marL="609600" indent="-609600">
              <a:buNone/>
            </a:pPr>
            <a:r>
              <a:rPr lang="en-US" altLang="en-US" sz="1600">
                <a:latin typeface="Arial Unicode MS" panose="020B0604020202020204" pitchFamily="34" charset="-128"/>
              </a:rPr>
              <a:t>	</a:t>
            </a:r>
          </a:p>
          <a:p>
            <a:pPr marL="609600" indent="-609600">
              <a:buNone/>
            </a:pPr>
            <a:r>
              <a:rPr lang="en-US" altLang="en-US" sz="1600">
                <a:latin typeface="Arial Unicode MS" panose="020B0604020202020204" pitchFamily="34" charset="-128"/>
              </a:rPr>
              <a:t>	UPDATE MEDICAL_RECORD set DEPARTMENT_TAG= SECLABEL_BY_NAME ('MEDICAL_RECORD_POLICY', 'DEPT_K01') where DEPTNO='K01'</a:t>
            </a:r>
            <a:r>
              <a:rPr lang="en-US" altLang="en-US" sz="1600"/>
              <a:t> </a:t>
            </a:r>
          </a:p>
        </p:txBody>
      </p:sp>
    </p:spTree>
    <p:extLst>
      <p:ext uri="{BB962C8B-B14F-4D97-AF65-F5344CB8AC3E}">
        <p14:creationId xmlns:p14="http://schemas.microsoft.com/office/powerpoint/2010/main" val="328432740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r>
              <a:rPr lang="en-US" altLang="en-US" sz="3200"/>
              <a:t>LBAC(Label Based Access Control)</a:t>
            </a:r>
            <a:endParaRPr lang="en-US" altLang="en-US"/>
          </a:p>
        </p:txBody>
      </p:sp>
      <p:sp>
        <p:nvSpPr>
          <p:cNvPr id="245763" name="Rectangle 3"/>
          <p:cNvSpPr>
            <a:spLocks noGrp="1" noChangeArrowheads="1"/>
          </p:cNvSpPr>
          <p:nvPr>
            <p:ph type="body" idx="1"/>
          </p:nvPr>
        </p:nvSpPr>
        <p:spPr/>
        <p:txBody>
          <a:bodyPr/>
          <a:lstStyle/>
          <a:p>
            <a:pPr marL="609600" indent="-609600" algn="just">
              <a:buFontTx/>
              <a:buAutoNum type="arabicPeriod" startAt="4"/>
            </a:pPr>
            <a:r>
              <a:rPr lang="en-US" altLang="en-US" sz="2000"/>
              <a:t>Granting the appropriate security labels to users.</a:t>
            </a:r>
          </a:p>
          <a:p>
            <a:pPr marL="990600" lvl="1" indent="-533400" algn="just">
              <a:buNone/>
            </a:pPr>
            <a:r>
              <a:rPr lang="en-US" altLang="en-US" sz="1400">
                <a:latin typeface="Arial Unicode MS" panose="020B0604020202020204" pitchFamily="34" charset="-128"/>
              </a:rPr>
              <a:t>	</a:t>
            </a:r>
          </a:p>
          <a:p>
            <a:pPr marL="990600" lvl="1" indent="-533400" algn="just">
              <a:buNone/>
            </a:pPr>
            <a:r>
              <a:rPr lang="en-US" altLang="en-US" sz="1400">
                <a:latin typeface="Arial Unicode MS" panose="020B0604020202020204" pitchFamily="34" charset="-128"/>
              </a:rPr>
              <a:t>	</a:t>
            </a:r>
            <a:r>
              <a:rPr lang="en-US" altLang="en-US">
                <a:latin typeface="Arial Unicode MS" panose="020B0604020202020204" pitchFamily="34" charset="-128"/>
              </a:rPr>
              <a:t>GRANT SECURITY LABEL MEDICAL_RECORD_POLICY. MEDICAL_ANALYST TO USER PETER FOR ALL ACCESS </a:t>
            </a:r>
          </a:p>
          <a:p>
            <a:pPr marL="990600" lvl="1" indent="-533400" algn="just">
              <a:buNone/>
            </a:pPr>
            <a:r>
              <a:rPr lang="en-US" altLang="en-US">
                <a:latin typeface="Arial Unicode MS" panose="020B0604020202020204" pitchFamily="34" charset="-128"/>
              </a:rPr>
              <a:t>	</a:t>
            </a:r>
          </a:p>
          <a:p>
            <a:pPr marL="990600" lvl="1" indent="-533400" algn="just">
              <a:buNone/>
            </a:pPr>
            <a:r>
              <a:rPr lang="en-US" altLang="en-US">
                <a:latin typeface="Arial Unicode MS" panose="020B0604020202020204" pitchFamily="34" charset="-128"/>
              </a:rPr>
              <a:t>	GRANT SECURITY LABEL MEDICAL_RECORD_POLICY.DEPT_K01 TO USER Andrea FOR ALL ACCESS </a:t>
            </a:r>
          </a:p>
          <a:p>
            <a:pPr marL="990600" lvl="1" indent="-533400" algn="just">
              <a:buNone/>
            </a:pPr>
            <a:r>
              <a:rPr lang="en-US" altLang="en-US">
                <a:latin typeface="Arial Unicode MS" panose="020B0604020202020204" pitchFamily="34" charset="-128"/>
              </a:rPr>
              <a:t>	</a:t>
            </a:r>
          </a:p>
          <a:p>
            <a:pPr marL="990600" lvl="1" indent="-533400" algn="just">
              <a:buNone/>
            </a:pPr>
            <a:r>
              <a:rPr lang="en-US" altLang="en-US">
                <a:latin typeface="Arial Unicode MS" panose="020B0604020202020204" pitchFamily="34" charset="-128"/>
              </a:rPr>
              <a:t>	GRANT SECURITY LABEL MEDICAL_RECORD_POLICY.DEPT_S02 TO USER Joseph for ALL ACCESS</a:t>
            </a:r>
            <a:r>
              <a:rPr lang="en-US" altLang="en-US"/>
              <a:t> </a:t>
            </a:r>
            <a:endParaRPr lang="en-US" altLang="en-US" sz="2800"/>
          </a:p>
        </p:txBody>
      </p:sp>
    </p:spTree>
    <p:extLst>
      <p:ext uri="{BB962C8B-B14F-4D97-AF65-F5344CB8AC3E}">
        <p14:creationId xmlns:p14="http://schemas.microsoft.com/office/powerpoint/2010/main" val="4062369718"/>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16</TotalTime>
  <Words>4866</Words>
  <Application>Microsoft Office PowerPoint</Application>
  <PresentationFormat>Widescreen</PresentationFormat>
  <Paragraphs>927</Paragraphs>
  <Slides>70</Slides>
  <Notes>65</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70</vt:i4>
      </vt:variant>
    </vt:vector>
  </HeadingPairs>
  <TitlesOfParts>
    <vt:vector size="84" baseType="lpstr">
      <vt:lpstr>Arial Unicode MS</vt:lpstr>
      <vt:lpstr>Arial</vt:lpstr>
      <vt:lpstr>Calibri</vt:lpstr>
      <vt:lpstr>Courier</vt:lpstr>
      <vt:lpstr>Courier New</vt:lpstr>
      <vt:lpstr>Lucida Sans Unicode</vt:lpstr>
      <vt:lpstr>Symbol</vt:lpstr>
      <vt:lpstr>Times</vt:lpstr>
      <vt:lpstr>Times New Roman</vt:lpstr>
      <vt:lpstr>Trebuchet MS</vt:lpstr>
      <vt:lpstr>Verdana</vt:lpstr>
      <vt:lpstr>Wingdings 3</vt:lpstr>
      <vt:lpstr>Facet</vt:lpstr>
      <vt:lpstr>Microsoft Word Document</vt:lpstr>
      <vt:lpstr>PowerPoint Presentation</vt:lpstr>
      <vt:lpstr>PowerPoint Presentation</vt:lpstr>
      <vt:lpstr>Contents</vt:lpstr>
      <vt:lpstr>Database Concepts</vt:lpstr>
      <vt:lpstr>Database Concepts</vt:lpstr>
      <vt:lpstr>Database Concepts</vt:lpstr>
      <vt:lpstr>Database Concepts</vt:lpstr>
      <vt:lpstr>Security Requirements</vt:lpstr>
      <vt:lpstr>Security Requirements</vt:lpstr>
      <vt:lpstr>Security Requirements</vt:lpstr>
      <vt:lpstr>Security Requirements</vt:lpstr>
      <vt:lpstr>SQL Security Model</vt:lpstr>
      <vt:lpstr>SQL Security Model</vt:lpstr>
      <vt:lpstr>SQL Security Model</vt:lpstr>
      <vt:lpstr>SQL Security Model</vt:lpstr>
      <vt:lpstr>SQL Security Model</vt:lpstr>
      <vt:lpstr>SQL Security Model</vt:lpstr>
      <vt:lpstr>SQL Security Model</vt:lpstr>
      <vt:lpstr>SQL Security Model</vt:lpstr>
      <vt:lpstr>SQL Security Model</vt:lpstr>
      <vt:lpstr>Case Study</vt:lpstr>
      <vt:lpstr>Case Study</vt:lpstr>
      <vt:lpstr>Case Study: DAC Solution</vt:lpstr>
      <vt:lpstr>Case Study: DAC Solution</vt:lpstr>
      <vt:lpstr>Case Study: DAC Solution</vt:lpstr>
      <vt:lpstr>Case Study: DAC Solution</vt:lpstr>
      <vt:lpstr>Case Study: DAC Solution</vt:lpstr>
      <vt:lpstr>Case Study: DAC Solution</vt:lpstr>
      <vt:lpstr>Case Study: DAC Solution</vt:lpstr>
      <vt:lpstr>Case Study: DAC Solution</vt:lpstr>
      <vt:lpstr>Case Study: MAC Solution</vt:lpstr>
      <vt:lpstr>Case Study: MAC Solution</vt:lpstr>
      <vt:lpstr>Case Study: MAC Solution</vt:lpstr>
      <vt:lpstr>SQL Security Model</vt:lpstr>
      <vt:lpstr>Data Sensitivity</vt:lpstr>
      <vt:lpstr>Data Sensitivity</vt:lpstr>
      <vt:lpstr>Security vs. Precision</vt:lpstr>
      <vt:lpstr>Security vs. Precision</vt:lpstr>
      <vt:lpstr>Statistical Databases</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Inference</vt:lpstr>
      <vt:lpstr>Aggregation</vt:lpstr>
      <vt:lpstr>Aggregation</vt:lpstr>
      <vt:lpstr>Inference vs. Aggregation</vt:lpstr>
      <vt:lpstr>Multilevel Databases</vt:lpstr>
      <vt:lpstr>Multilevel Databases</vt:lpstr>
      <vt:lpstr>Multilevel Databases</vt:lpstr>
      <vt:lpstr>Multilevel Databases</vt:lpstr>
      <vt:lpstr>Multilevel Databases</vt:lpstr>
      <vt:lpstr>Future Direction</vt:lpstr>
      <vt:lpstr>References</vt:lpstr>
      <vt:lpstr>References</vt:lpstr>
      <vt:lpstr>PowerPoint Presentation</vt:lpstr>
      <vt:lpstr>Case Study: MAC Solution</vt:lpstr>
      <vt:lpstr>Case Study: MAC Solution</vt:lpstr>
      <vt:lpstr>Case Study: MAC Solution</vt:lpstr>
      <vt:lpstr>Case Study: MAC Solution</vt:lpstr>
      <vt:lpstr>LBAC(Label Based Access Control)</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2</cp:revision>
  <dcterms:created xsi:type="dcterms:W3CDTF">2022-05-09T08:14:42Z</dcterms:created>
  <dcterms:modified xsi:type="dcterms:W3CDTF">2022-05-09T08:30:49Z</dcterms:modified>
</cp:coreProperties>
</file>