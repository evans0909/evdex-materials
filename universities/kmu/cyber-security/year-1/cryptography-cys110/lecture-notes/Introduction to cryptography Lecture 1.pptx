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2D362-5091-41EB-8120-1631EBB53D70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A27373AE-B02B-4BF6-85E9-A03CBDB89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471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2D362-5091-41EB-8120-1631EBB53D70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373AE-B02B-4BF6-85E9-A03CBDB89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706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2D362-5091-41EB-8120-1631EBB53D70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27373AE-B02B-4BF6-85E9-A03CBDB89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034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2D362-5091-41EB-8120-1631EBB53D70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27373AE-B02B-4BF6-85E9-A03CBDB89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853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2D362-5091-41EB-8120-1631EBB53D70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27373AE-B02B-4BF6-85E9-A03CBDB89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239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2D362-5091-41EB-8120-1631EBB53D70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373AE-B02B-4BF6-85E9-A03CBDB89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947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2D362-5091-41EB-8120-1631EBB53D70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373AE-B02B-4BF6-85E9-A03CBDB89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36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2D362-5091-41EB-8120-1631EBB53D70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373AE-B02B-4BF6-85E9-A03CBDB89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855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2D362-5091-41EB-8120-1631EBB53D70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27373AE-B02B-4BF6-85E9-A03CBDB89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057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2D362-5091-41EB-8120-1631EBB53D70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27373AE-B02B-4BF6-85E9-A03CBDB89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304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2D362-5091-41EB-8120-1631EBB53D70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27373AE-B02B-4BF6-85E9-A03CBDB89BC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015541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2D362-5091-41EB-8120-1631EBB53D70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27373AE-B02B-4BF6-85E9-A03CBDB89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1323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2D362-5091-41EB-8120-1631EBB53D70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27373AE-B02B-4BF6-85E9-A03CBDB89BCC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141787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2D362-5091-41EB-8120-1631EBB53D70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27373AE-B02B-4BF6-85E9-A03CBDB89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7933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2D362-5091-41EB-8120-1631EBB53D70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373AE-B02B-4BF6-85E9-A03CBDB89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1554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2D362-5091-41EB-8120-1631EBB53D70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373AE-B02B-4BF6-85E9-A03CBDB89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931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92D362-5091-41EB-8120-1631EBB53D70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A27373AE-B02B-4BF6-85E9-A03CBDB89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892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Introduction to Cryptography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Cyber Attacks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5182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73927" y="568036"/>
            <a:ext cx="8829097" cy="914400"/>
          </a:xfrm>
        </p:spPr>
        <p:txBody>
          <a:bodyPr/>
          <a:lstStyle/>
          <a:p>
            <a:pPr algn="ctr"/>
            <a:r>
              <a:rPr lang="en-US" dirty="0" smtClean="0"/>
              <a:t>CYBER ATTACKS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3927" y="1620982"/>
            <a:ext cx="8829096" cy="4738253"/>
          </a:xfrm>
        </p:spPr>
        <p:txBody>
          <a:bodyPr/>
          <a:lstStyle/>
          <a:p>
            <a:r>
              <a:rPr lang="en-US" dirty="0"/>
              <a:t>The internet has brought in a positive change in our lives today, but with that, there is also an enormous challenge in protecting your data.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gives rise to cyber attacks. </a:t>
            </a:r>
            <a:r>
              <a:rPr lang="en-US" dirty="0" smtClean="0"/>
              <a:t>We </a:t>
            </a:r>
            <a:r>
              <a:rPr lang="en-US" dirty="0"/>
              <a:t>will discuss the different types of cyber attacks and how they can be prevented</a:t>
            </a:r>
            <a:r>
              <a:rPr lang="en-US" dirty="0" smtClean="0"/>
              <a:t>.</a:t>
            </a:r>
          </a:p>
          <a:p>
            <a:r>
              <a:rPr lang="en-US" b="1" dirty="0"/>
              <a:t>What is a Cyber Attack</a:t>
            </a:r>
            <a:r>
              <a:rPr lang="en-US" b="1" dirty="0" smtClean="0"/>
              <a:t>?</a:t>
            </a:r>
          </a:p>
          <a:p>
            <a:r>
              <a:rPr lang="en-US" dirty="0"/>
              <a:t>When there is an unauthorized system/network access by a third party, </a:t>
            </a:r>
            <a:r>
              <a:rPr lang="en-US" dirty="0" smtClean="0"/>
              <a:t>we </a:t>
            </a:r>
            <a:r>
              <a:rPr lang="en-US" dirty="0"/>
              <a:t>term it as a cyber attack. </a:t>
            </a:r>
            <a:endParaRPr lang="en-US" dirty="0" smtClean="0"/>
          </a:p>
          <a:p>
            <a:pPr lvl="1"/>
            <a:r>
              <a:rPr lang="en-US" dirty="0" smtClean="0"/>
              <a:t>The </a:t>
            </a:r>
            <a:r>
              <a:rPr lang="en-US" dirty="0"/>
              <a:t>person who carries out a cyberattack is termed as a </a:t>
            </a:r>
            <a:r>
              <a:rPr lang="en-US" dirty="0" smtClean="0"/>
              <a:t>hacker/attacker.</a:t>
            </a:r>
          </a:p>
          <a:p>
            <a:r>
              <a:rPr lang="en-US" dirty="0"/>
              <a:t>When an attack is carried out, it can lead to data breaches, resulting in data loss or data manipulation</a:t>
            </a:r>
            <a:r>
              <a:rPr lang="en-US" dirty="0" smtClean="0"/>
              <a:t>.</a:t>
            </a:r>
          </a:p>
          <a:p>
            <a:r>
              <a:rPr lang="en-US" dirty="0"/>
              <a:t>To put a curb on cyberattacks, we implement cybersecurity. </a:t>
            </a:r>
            <a:endParaRPr lang="en-US" dirty="0" smtClean="0"/>
          </a:p>
          <a:p>
            <a:r>
              <a:rPr lang="en-US" dirty="0" smtClean="0"/>
              <a:t>Cybersecurity </a:t>
            </a:r>
            <a:r>
              <a:rPr lang="en-US" dirty="0"/>
              <a:t>is the method of safeguarding networks, computer systems, and their components from unauthorized digital access.</a:t>
            </a:r>
            <a:endParaRPr lang="en-US" b="1" dirty="0"/>
          </a:p>
          <a:p>
            <a:endParaRPr lang="en-US" dirty="0"/>
          </a:p>
          <a:p>
            <a:pPr marL="0" indent="0" fontAlgn="ctr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303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22765" y="624110"/>
            <a:ext cx="9481848" cy="1280890"/>
          </a:xfrm>
        </p:spPr>
        <p:txBody>
          <a:bodyPr/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CYBER ATTACKS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22764" y="1904999"/>
            <a:ext cx="9481848" cy="4509655"/>
          </a:xfrm>
        </p:spPr>
        <p:txBody>
          <a:bodyPr/>
          <a:lstStyle/>
          <a:p>
            <a:r>
              <a:rPr lang="en-US" b="1" dirty="0"/>
              <a:t>Types of Cyber </a:t>
            </a:r>
            <a:r>
              <a:rPr lang="en-US" b="1" dirty="0" smtClean="0"/>
              <a:t>Attacks</a:t>
            </a:r>
          </a:p>
          <a:p>
            <a:r>
              <a:rPr lang="en-US" b="1" dirty="0" smtClean="0"/>
              <a:t>1.</a:t>
            </a:r>
            <a:r>
              <a:rPr lang="en-US" dirty="0"/>
              <a:t> </a:t>
            </a:r>
            <a:r>
              <a:rPr lang="en-US" b="1" i="1" dirty="0"/>
              <a:t>Malware </a:t>
            </a:r>
            <a:r>
              <a:rPr lang="en-US" b="1" i="1" dirty="0" smtClean="0"/>
              <a:t>Attack: </a:t>
            </a:r>
            <a:r>
              <a:rPr lang="en-US" dirty="0"/>
              <a:t>This is one of the most common types of cyberattacks. </a:t>
            </a:r>
            <a:endParaRPr lang="en-US" dirty="0" smtClean="0"/>
          </a:p>
          <a:p>
            <a:r>
              <a:rPr lang="en-US" dirty="0" smtClean="0"/>
              <a:t>“</a:t>
            </a:r>
            <a:r>
              <a:rPr lang="en-US" dirty="0"/>
              <a:t>Malware” refers to malicious software viruses including worms, spyware, ransomware, adware, and trojans. </a:t>
            </a:r>
          </a:p>
          <a:p>
            <a:r>
              <a:rPr lang="en-US" dirty="0"/>
              <a:t>The trojan virus disguises itself as legitimate software</a:t>
            </a:r>
            <a:r>
              <a:rPr lang="en-US" dirty="0" smtClean="0"/>
              <a:t>.</a:t>
            </a:r>
          </a:p>
          <a:p>
            <a:r>
              <a:rPr lang="en-US" dirty="0"/>
              <a:t>Adware is software that displays advertising content such as banners on a user's screen. </a:t>
            </a:r>
            <a:endParaRPr lang="en-US" dirty="0" smtClean="0"/>
          </a:p>
          <a:p>
            <a:r>
              <a:rPr lang="en-US" b="1" dirty="0"/>
              <a:t>H</a:t>
            </a:r>
            <a:r>
              <a:rPr lang="en-US" b="1" dirty="0" smtClean="0"/>
              <a:t>ow </a:t>
            </a:r>
            <a:r>
              <a:rPr lang="en-US" b="1" dirty="0"/>
              <a:t>we can prevent a malware attack</a:t>
            </a:r>
            <a:r>
              <a:rPr lang="en-US" dirty="0" smtClean="0"/>
              <a:t>: </a:t>
            </a:r>
            <a:r>
              <a:rPr lang="en-US" dirty="0"/>
              <a:t>Use antivirus software. It can protect your computer against malware. </a:t>
            </a:r>
            <a:endParaRPr lang="en-US" dirty="0" smtClean="0"/>
          </a:p>
          <a:p>
            <a:pPr lvl="1"/>
            <a:r>
              <a:rPr lang="en-US" dirty="0" err="1" smtClean="0"/>
              <a:t>Avast</a:t>
            </a:r>
            <a:r>
              <a:rPr lang="en-US" dirty="0" smtClean="0"/>
              <a:t> </a:t>
            </a:r>
            <a:r>
              <a:rPr lang="en-US" dirty="0"/>
              <a:t>Antivirus, Norton Antivirus, and McAfee Antivirus are a few of the popular antivirus software.</a:t>
            </a:r>
          </a:p>
          <a:p>
            <a:endParaRPr lang="en-US" dirty="0"/>
          </a:p>
          <a:p>
            <a:endParaRPr lang="en-US" b="1" i="1" dirty="0"/>
          </a:p>
          <a:p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750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4437" y="624110"/>
            <a:ext cx="9448800" cy="1280890"/>
          </a:xfrm>
        </p:spPr>
        <p:txBody>
          <a:bodyPr/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CYBER ATTACKS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4437" y="1905000"/>
            <a:ext cx="9448799" cy="4537364"/>
          </a:xfrm>
        </p:spPr>
        <p:txBody>
          <a:bodyPr/>
          <a:lstStyle/>
          <a:p>
            <a:r>
              <a:rPr lang="en-US" dirty="0"/>
              <a:t>Use firewalls. Firewalls filter the traffic that may enter your device. </a:t>
            </a:r>
            <a:endParaRPr lang="en-US" dirty="0" smtClean="0"/>
          </a:p>
          <a:p>
            <a:pPr lvl="1"/>
            <a:r>
              <a:rPr lang="en-US" dirty="0" smtClean="0"/>
              <a:t>Windows </a:t>
            </a:r>
            <a:r>
              <a:rPr lang="en-US" dirty="0"/>
              <a:t>and Mac OS X have their default built-in firewalls, named Windows Firewall and Mac Firewall</a:t>
            </a:r>
            <a:r>
              <a:rPr lang="en-US" dirty="0" smtClean="0"/>
              <a:t>.</a:t>
            </a:r>
          </a:p>
          <a:p>
            <a:r>
              <a:rPr lang="en-US" dirty="0"/>
              <a:t>Stay alert and avoid clicking on suspicious links.</a:t>
            </a:r>
          </a:p>
          <a:p>
            <a:r>
              <a:rPr lang="en-US" dirty="0"/>
              <a:t>Update your OS and browsers, regularly.</a:t>
            </a:r>
          </a:p>
          <a:p>
            <a:r>
              <a:rPr lang="en-US" dirty="0"/>
              <a:t> </a:t>
            </a:r>
            <a:r>
              <a:rPr lang="en-US" b="1" i="1" dirty="0" smtClean="0"/>
              <a:t>2. Phishing Attack:</a:t>
            </a:r>
          </a:p>
          <a:p>
            <a:r>
              <a:rPr lang="en-US" dirty="0"/>
              <a:t> It is a type of social engineering attack wherein an attacker impersonates to be a trusted contact and sends the victim fake mails. </a:t>
            </a:r>
            <a:endParaRPr lang="en-US" dirty="0" smtClean="0"/>
          </a:p>
          <a:p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victim opens the mail and clicks on the malicious link or opens the mail's attachment. </a:t>
            </a:r>
            <a:endParaRPr lang="en-US" dirty="0" smtClean="0"/>
          </a:p>
          <a:p>
            <a:r>
              <a:rPr lang="en-US" dirty="0" smtClean="0"/>
              <a:t>By </a:t>
            </a:r>
            <a:r>
              <a:rPr lang="en-US" dirty="0"/>
              <a:t>doing so, attackers gain access to confidential information and account credentials. They can also install malware through a phishing attack. 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935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6619" y="624110"/>
            <a:ext cx="9467994" cy="1280890"/>
          </a:xfrm>
        </p:spPr>
        <p:txBody>
          <a:bodyPr/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CYBER </a:t>
            </a:r>
            <a:r>
              <a:rPr lang="en-US" dirty="0"/>
              <a:t>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6618" y="1904999"/>
            <a:ext cx="9467994" cy="456507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Phishing attacks can be prevented by following the below-mentioned steps:</a:t>
            </a:r>
          </a:p>
          <a:p>
            <a:pPr lvl="1"/>
            <a:r>
              <a:rPr lang="en-US" dirty="0"/>
              <a:t>Scrutinize the emails you receive. Most phishing emails have significant errors like spelling mistakes and format changes from that of legitimate sources.</a:t>
            </a:r>
          </a:p>
          <a:p>
            <a:pPr lvl="1"/>
            <a:r>
              <a:rPr lang="en-US" dirty="0"/>
              <a:t>Make use of an anti-phishing toolbar.</a:t>
            </a:r>
          </a:p>
          <a:p>
            <a:pPr lvl="1"/>
            <a:r>
              <a:rPr lang="en-US" dirty="0"/>
              <a:t>Update your passwords regularly</a:t>
            </a:r>
            <a:r>
              <a:rPr lang="en-US" dirty="0" smtClean="0"/>
              <a:t>.</a:t>
            </a:r>
          </a:p>
          <a:p>
            <a:r>
              <a:rPr lang="en-US" b="1" i="1" dirty="0" smtClean="0"/>
              <a:t>3. Password Attack: </a:t>
            </a:r>
            <a:r>
              <a:rPr lang="en-US" dirty="0" smtClean="0"/>
              <a:t>It </a:t>
            </a:r>
            <a:r>
              <a:rPr lang="en-US" dirty="0"/>
              <a:t>is a form of attack wherein a hacker cracks your password with various programs and password cracking tools like Aircrack, Cain, Abel, John the Ripper, Hashcat, etc. </a:t>
            </a:r>
            <a:endParaRPr lang="en-US" dirty="0" smtClean="0"/>
          </a:p>
          <a:p>
            <a:r>
              <a:rPr lang="en-US" dirty="0" smtClean="0"/>
              <a:t>There </a:t>
            </a:r>
            <a:r>
              <a:rPr lang="en-US" dirty="0"/>
              <a:t>are different types of password attacks like brute force attacks, dictionary attacks, and keylogger attacks</a:t>
            </a:r>
            <a:r>
              <a:rPr lang="en-US" dirty="0" smtClean="0"/>
              <a:t>.</a:t>
            </a:r>
          </a:p>
          <a:p>
            <a:r>
              <a:rPr lang="en-US" dirty="0"/>
              <a:t>below are a few ways to prevent password attacks: </a:t>
            </a:r>
          </a:p>
          <a:p>
            <a:pPr lvl="1"/>
            <a:r>
              <a:rPr lang="en-US" dirty="0"/>
              <a:t>Use strong alphanumeric passwords with special characters.</a:t>
            </a:r>
          </a:p>
          <a:p>
            <a:pPr lvl="1"/>
            <a:r>
              <a:rPr lang="en-US" dirty="0"/>
              <a:t>Abstain from using the same password for multiple websites or accounts.</a:t>
            </a:r>
          </a:p>
          <a:p>
            <a:pPr lvl="1"/>
            <a:r>
              <a:rPr lang="en-US" dirty="0"/>
              <a:t>Update your passwords; this will limit your exposure to a password attack.</a:t>
            </a:r>
          </a:p>
          <a:p>
            <a:pPr lvl="1"/>
            <a:r>
              <a:rPr lang="en-US" dirty="0"/>
              <a:t>Do not have any password hints in the open.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01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8909" y="624110"/>
            <a:ext cx="9495703" cy="1280890"/>
          </a:xfrm>
        </p:spPr>
        <p:txBody>
          <a:bodyPr/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CYBER ATTACKS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08909" y="1905000"/>
            <a:ext cx="9495703" cy="4592782"/>
          </a:xfrm>
        </p:spPr>
        <p:txBody>
          <a:bodyPr/>
          <a:lstStyle/>
          <a:p>
            <a:r>
              <a:rPr lang="en-US" b="1" dirty="0"/>
              <a:t>Man-in-the-Middle </a:t>
            </a:r>
            <a:r>
              <a:rPr lang="en-US" b="1" dirty="0" smtClean="0"/>
              <a:t>Attack</a:t>
            </a:r>
          </a:p>
          <a:p>
            <a:r>
              <a:rPr lang="en-US" dirty="0"/>
              <a:t>A Man-in-the-Middle Attack (MITM) is also known as an eavesdropping attack. In this attack, an attacker comes in between a two-party communication, i.e.,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attacker hijacks the session between a client and host. By doing so, hackers steal and manipulate data. </a:t>
            </a:r>
            <a:endParaRPr lang="en-US" dirty="0" smtClean="0"/>
          </a:p>
          <a:p>
            <a:r>
              <a:rPr lang="en-US" dirty="0"/>
              <a:t>the client-server communication has been cut off, and instead, the communication line goes through the hacker.</a:t>
            </a:r>
          </a:p>
          <a:p>
            <a:r>
              <a:rPr lang="en-US" dirty="0"/>
              <a:t>MITM attacks can be prevented by following the below-mentioned steps:</a:t>
            </a:r>
          </a:p>
          <a:p>
            <a:pPr lvl="1"/>
            <a:r>
              <a:rPr lang="en-US" dirty="0"/>
              <a:t>Be mindful of the security of the website you are using. Use encryption on your devices.</a:t>
            </a:r>
          </a:p>
          <a:p>
            <a:pPr lvl="1"/>
            <a:r>
              <a:rPr lang="en-US" dirty="0"/>
              <a:t>Refrain from using public Wi-Fi networks</a:t>
            </a:r>
            <a:r>
              <a:rPr lang="en-US" dirty="0" smtClean="0"/>
              <a:t>.</a:t>
            </a:r>
            <a:r>
              <a:rPr lang="en-US" dirty="0"/>
              <a:t/>
            </a:r>
            <a:br>
              <a:rPr lang="en-US" dirty="0"/>
            </a:b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458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0255" y="624110"/>
            <a:ext cx="9814357" cy="1280890"/>
          </a:xfrm>
        </p:spPr>
        <p:txBody>
          <a:bodyPr/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CYBER </a:t>
            </a:r>
            <a:r>
              <a:rPr lang="en-US" dirty="0"/>
              <a:t>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0255" y="1905000"/>
            <a:ext cx="9814357" cy="4454236"/>
          </a:xfrm>
        </p:spPr>
        <p:txBody>
          <a:bodyPr/>
          <a:lstStyle/>
          <a:p>
            <a:r>
              <a:rPr lang="en-US" b="1" dirty="0" smtClean="0"/>
              <a:t>5. </a:t>
            </a:r>
            <a:r>
              <a:rPr lang="en-US" b="1" i="1" dirty="0" smtClean="0"/>
              <a:t>SQL </a:t>
            </a:r>
            <a:r>
              <a:rPr lang="en-US" b="1" i="1" dirty="0"/>
              <a:t>Injection </a:t>
            </a:r>
            <a:r>
              <a:rPr lang="en-US" b="1" i="1" dirty="0" smtClean="0"/>
              <a:t>Attack</a:t>
            </a:r>
            <a:r>
              <a:rPr lang="en-US" b="1" dirty="0" smtClean="0"/>
              <a:t>: </a:t>
            </a:r>
            <a:r>
              <a:rPr lang="en-US" dirty="0"/>
              <a:t>A Structured Query Language (SQL) injection attack occurs on a database-driven website when the hacker manipulates a standard SQL query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It is carried by injecting a malicious code into a vulnerable website search box, thereby making the server reveal crucial information.  </a:t>
            </a:r>
          </a:p>
          <a:p>
            <a:r>
              <a:rPr lang="en-US" dirty="0"/>
              <a:t>This results in the attacker being able to view, edit, and delete tables in the databases. Attackers can also get administrative rights through this. </a:t>
            </a:r>
          </a:p>
          <a:p>
            <a:r>
              <a:rPr lang="en-US" dirty="0"/>
              <a:t>To prevent a SQL injection attack:</a:t>
            </a:r>
          </a:p>
          <a:p>
            <a:r>
              <a:rPr lang="en-US" dirty="0"/>
              <a:t>Use an Intrusion detection system, as they design it to detect unauthorized access to a network.</a:t>
            </a:r>
          </a:p>
          <a:p>
            <a:r>
              <a:rPr lang="en-US" dirty="0"/>
              <a:t>Carry out a validation of the user-supplied data. With a validation process, it keeps the user input in check.</a:t>
            </a:r>
          </a:p>
          <a:p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751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4219" y="624110"/>
            <a:ext cx="9620394" cy="1280890"/>
          </a:xfrm>
        </p:spPr>
        <p:txBody>
          <a:bodyPr/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CYBER </a:t>
            </a:r>
            <a:r>
              <a:rPr lang="en-US" dirty="0"/>
              <a:t>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4219" y="1904999"/>
            <a:ext cx="9620393" cy="4634345"/>
          </a:xfrm>
        </p:spPr>
        <p:txBody>
          <a:bodyPr/>
          <a:lstStyle/>
          <a:p>
            <a:r>
              <a:rPr lang="en-US" dirty="0"/>
              <a:t>To prevent a SQL injection attack:</a:t>
            </a:r>
          </a:p>
          <a:p>
            <a:pPr lvl="1"/>
            <a:r>
              <a:rPr lang="en-US" dirty="0"/>
              <a:t>Use an Intrusion detection system, as they design it to detect unauthorized access to a network.</a:t>
            </a:r>
          </a:p>
          <a:p>
            <a:pPr lvl="1"/>
            <a:r>
              <a:rPr lang="en-US" dirty="0"/>
              <a:t>Carry out a validation of the user-supplied data. With a validation process, it keeps the user input in check</a:t>
            </a:r>
            <a:r>
              <a:rPr lang="en-US" dirty="0" smtClean="0"/>
              <a:t>.</a:t>
            </a:r>
          </a:p>
          <a:p>
            <a:r>
              <a:rPr lang="en-US" b="1" i="1" dirty="0"/>
              <a:t>Denial-of-Service </a:t>
            </a:r>
            <a:r>
              <a:rPr lang="en-US" b="1" i="1" dirty="0" smtClean="0"/>
              <a:t>Attack: </a:t>
            </a:r>
            <a:r>
              <a:rPr lang="en-US" dirty="0"/>
              <a:t>Here, attackers target systems, servers, or networks and flood them with traffic to exhaust their resources and bandwidth. </a:t>
            </a:r>
            <a:endParaRPr lang="en-US" dirty="0" smtClean="0"/>
          </a:p>
          <a:p>
            <a:r>
              <a:rPr lang="en-US" dirty="0"/>
              <a:t>When this happens, catering to the incoming requests becomes overwhelming for the servers, resulting in the website it hosts either shut down or slow down.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leaves the legitimate service requests unattended. </a:t>
            </a:r>
            <a:endParaRPr lang="en-US" dirty="0" smtClean="0"/>
          </a:p>
          <a:p>
            <a:r>
              <a:rPr lang="en-US" dirty="0"/>
              <a:t>It is also known as a DDoS (Distributed Denial-of-Service) attack when attackers use multiple compromised systems to launch this attack. </a:t>
            </a:r>
            <a:endParaRPr lang="en-US" b="1" i="1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481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7345" y="624110"/>
            <a:ext cx="9537267" cy="1280890"/>
          </a:xfrm>
        </p:spPr>
        <p:txBody>
          <a:bodyPr/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CYBER </a:t>
            </a:r>
            <a:r>
              <a:rPr lang="en-US" dirty="0"/>
              <a:t>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67345" y="1905000"/>
            <a:ext cx="9537267" cy="439881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b="1" dirty="0"/>
              <a:t>how to prevent a DDoS attack</a:t>
            </a:r>
            <a:r>
              <a:rPr lang="en-US" dirty="0"/>
              <a:t>:</a:t>
            </a:r>
          </a:p>
          <a:p>
            <a:r>
              <a:rPr lang="en-US" dirty="0"/>
              <a:t>Run a traffic analysis to identify malicious traffic.</a:t>
            </a:r>
          </a:p>
          <a:p>
            <a:r>
              <a:rPr lang="en-US" dirty="0"/>
              <a:t>Understand the warning signs like network slowdown, intermittent website shutdowns, etc. </a:t>
            </a:r>
          </a:p>
          <a:p>
            <a:r>
              <a:rPr lang="en-US" dirty="0"/>
              <a:t>Formulate an incident response plan, have a checklist and make sure your team and data center can handle a DDoS </a:t>
            </a:r>
            <a:r>
              <a:rPr lang="en-US" dirty="0" smtClean="0"/>
              <a:t>attack.</a:t>
            </a:r>
          </a:p>
          <a:p>
            <a:r>
              <a:rPr lang="en-US" b="1" i="1" dirty="0" smtClean="0"/>
              <a:t>7. Insider Threat: </a:t>
            </a:r>
            <a:r>
              <a:rPr lang="en-US" dirty="0"/>
              <a:t>In such a case; it could be an individual from within the organization who knows everything about the </a:t>
            </a:r>
            <a:r>
              <a:rPr lang="en-US" dirty="0" smtClean="0"/>
              <a:t>organization.</a:t>
            </a:r>
          </a:p>
          <a:p>
            <a:pPr lvl="1"/>
            <a:r>
              <a:rPr lang="en-US" dirty="0" smtClean="0"/>
              <a:t>Insider </a:t>
            </a:r>
            <a:r>
              <a:rPr lang="en-US" dirty="0"/>
              <a:t>threats have the potential to cause tremendous damages. </a:t>
            </a:r>
            <a:endParaRPr lang="en-US" dirty="0" smtClean="0"/>
          </a:p>
          <a:p>
            <a:r>
              <a:rPr lang="en-US" dirty="0"/>
              <a:t>Reasons for this form of an attack are many, it can be greed, malice, or even carelessness. Insider threats are hard to predict and hence tricky.</a:t>
            </a:r>
            <a:endParaRPr lang="en-US" dirty="0" smtClean="0"/>
          </a:p>
          <a:p>
            <a:pPr marL="0" indent="0">
              <a:buNone/>
            </a:pPr>
            <a:endParaRPr lang="en-US" b="1" i="1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368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5673" y="624110"/>
            <a:ext cx="9758939" cy="1280890"/>
          </a:xfrm>
        </p:spPr>
        <p:txBody>
          <a:bodyPr/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CYBER </a:t>
            </a:r>
            <a:r>
              <a:rPr lang="en-US" dirty="0"/>
              <a:t>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45673" y="1904999"/>
            <a:ext cx="9758939" cy="4662055"/>
          </a:xfrm>
        </p:spPr>
        <p:txBody>
          <a:bodyPr/>
          <a:lstStyle/>
          <a:p>
            <a:r>
              <a:rPr lang="en-US" b="1" dirty="0"/>
              <a:t>To prevent the insider threat attack</a:t>
            </a:r>
            <a:r>
              <a:rPr lang="en-US" dirty="0"/>
              <a:t>:</a:t>
            </a:r>
          </a:p>
          <a:p>
            <a:r>
              <a:rPr lang="en-US" dirty="0"/>
              <a:t>Organizations should have a good culture of security awareness.</a:t>
            </a:r>
          </a:p>
          <a:p>
            <a:r>
              <a:rPr lang="en-US" dirty="0"/>
              <a:t>Companies must limit the IT resources staff can have access to depending on their job roles</a:t>
            </a:r>
            <a:r>
              <a:rPr lang="en-US" dirty="0" smtClean="0"/>
              <a:t>.</a:t>
            </a:r>
          </a:p>
          <a:p>
            <a:r>
              <a:rPr lang="en-US" b="1" i="1" dirty="0" smtClean="0"/>
              <a:t>8. Cryptojacking</a:t>
            </a:r>
            <a:r>
              <a:rPr lang="en-US" dirty="0" smtClean="0"/>
              <a:t> </a:t>
            </a:r>
            <a:r>
              <a:rPr lang="en-US" dirty="0"/>
              <a:t>takes place when attackers access someone else’s computer for mining cryptocurrency</a:t>
            </a:r>
            <a:r>
              <a:rPr lang="en-US" dirty="0" smtClean="0"/>
              <a:t>.</a:t>
            </a:r>
          </a:p>
          <a:p>
            <a:r>
              <a:rPr lang="en-US" dirty="0"/>
              <a:t>The access is gained by infecting a website or manipulating the victim to click on a malicious link</a:t>
            </a:r>
            <a:r>
              <a:rPr lang="en-US" dirty="0" smtClean="0"/>
              <a:t>.</a:t>
            </a:r>
          </a:p>
          <a:p>
            <a:r>
              <a:rPr lang="en-US" dirty="0"/>
              <a:t>Victims are unaware of this as the Crypto mining code works in the background; a delay in the execution is the only sign they might witness. </a:t>
            </a:r>
            <a:endParaRPr lang="en-US" dirty="0" smtClean="0"/>
          </a:p>
          <a:p>
            <a:r>
              <a:rPr lang="en-US" b="1" dirty="0"/>
              <a:t>Cryptojacking can be prevented by following </a:t>
            </a:r>
            <a:r>
              <a:rPr lang="en-US" b="1" dirty="0" smtClean="0"/>
              <a:t>ways</a:t>
            </a:r>
            <a:r>
              <a:rPr lang="en-US" dirty="0" smtClean="0"/>
              <a:t>:</a:t>
            </a:r>
            <a:endParaRPr lang="en-US" dirty="0"/>
          </a:p>
          <a:p>
            <a:r>
              <a:rPr lang="en-US" dirty="0"/>
              <a:t>Update your software and all the security apps as cryptojacking can infect the most unprotected systems.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993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7345" y="624110"/>
            <a:ext cx="9537267" cy="1280890"/>
          </a:xfrm>
        </p:spPr>
        <p:txBody>
          <a:bodyPr/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CYBER </a:t>
            </a:r>
            <a:r>
              <a:rPr lang="en-US" dirty="0"/>
              <a:t>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67345" y="1904999"/>
            <a:ext cx="9537267" cy="4468091"/>
          </a:xfrm>
        </p:spPr>
        <p:txBody>
          <a:bodyPr/>
          <a:lstStyle/>
          <a:p>
            <a:r>
              <a:rPr lang="en-US" dirty="0"/>
              <a:t>Install an ad blocker as ads are a primary source of cryptojacking scripts. Also have extensions like MinerBlock, which is used to identify and block crypto mining scripts.</a:t>
            </a:r>
          </a:p>
          <a:p>
            <a:r>
              <a:rPr lang="en-US" b="1" dirty="0"/>
              <a:t>9. Zero-Day </a:t>
            </a:r>
            <a:r>
              <a:rPr lang="en-US" b="1" dirty="0" smtClean="0"/>
              <a:t>Exploit: </a:t>
            </a:r>
            <a:r>
              <a:rPr lang="en-US" dirty="0"/>
              <a:t>A Zero-Day Exploit happens after the announcement of a network vulnerability; there is no solution for the vulnerability in most cases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Hence the vendor notifies the vulnerability so that the users are aware; however, this news also reaches the attackers</a:t>
            </a:r>
            <a:r>
              <a:rPr lang="en-US" dirty="0" smtClean="0"/>
              <a:t>.</a:t>
            </a:r>
          </a:p>
          <a:p>
            <a:r>
              <a:rPr lang="en-US" dirty="0"/>
              <a:t>Depending on the vulnerability, the vendor or the developer could take any amount of time to fix the issue</a:t>
            </a:r>
            <a:r>
              <a:rPr lang="en-US" dirty="0" smtClean="0"/>
              <a:t>.</a:t>
            </a:r>
          </a:p>
          <a:p>
            <a:r>
              <a:rPr lang="en-US" dirty="0" smtClean="0"/>
              <a:t>Attackers </a:t>
            </a:r>
            <a:r>
              <a:rPr lang="en-US" dirty="0"/>
              <a:t>make sure </a:t>
            </a:r>
            <a:r>
              <a:rPr lang="en-US" dirty="0" smtClean="0"/>
              <a:t>they </a:t>
            </a:r>
            <a:r>
              <a:rPr lang="en-US" dirty="0"/>
              <a:t>exploit the vulnerability even before a patch or solution is implemented for it. 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6701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CYBER </a:t>
            </a:r>
            <a:r>
              <a:rPr lang="en-US" dirty="0"/>
              <a:t>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905000"/>
            <a:ext cx="8915400" cy="4745182"/>
          </a:xfrm>
        </p:spPr>
        <p:txBody>
          <a:bodyPr/>
          <a:lstStyle/>
          <a:p>
            <a:r>
              <a:rPr lang="en-US" b="1" dirty="0"/>
              <a:t>Zero-day exploits can be prevented by</a:t>
            </a:r>
            <a:r>
              <a:rPr lang="en-US" dirty="0"/>
              <a:t>:</a:t>
            </a:r>
          </a:p>
          <a:p>
            <a:r>
              <a:rPr lang="en-US" dirty="0"/>
              <a:t>Organizations should have well-communicated patch management processes</a:t>
            </a:r>
            <a:r>
              <a:rPr lang="en-US" dirty="0" smtClean="0"/>
              <a:t>.</a:t>
            </a:r>
          </a:p>
          <a:p>
            <a:r>
              <a:rPr lang="en-US" dirty="0"/>
              <a:t>Have an incident response plan to help you deal with a cyberattack. Keep a strategy </a:t>
            </a:r>
            <a:r>
              <a:rPr lang="en-US" dirty="0" err="1"/>
              <a:t>focussing</a:t>
            </a:r>
            <a:r>
              <a:rPr lang="en-US" dirty="0"/>
              <a:t> on zero-day attacks. </a:t>
            </a:r>
            <a:endParaRPr lang="en-US" dirty="0" smtClean="0"/>
          </a:p>
          <a:p>
            <a:r>
              <a:rPr lang="en-US" b="1" i="1" dirty="0"/>
              <a:t>10. Watering Hole </a:t>
            </a:r>
            <a:r>
              <a:rPr lang="en-US" b="1" i="1" dirty="0" smtClean="0"/>
              <a:t>Attack: </a:t>
            </a:r>
            <a:r>
              <a:rPr lang="en-US" dirty="0"/>
              <a:t>In such an attack, the attacker targets websites which are frequently used by the targeted group. </a:t>
            </a:r>
            <a:endParaRPr lang="en-US" dirty="0" smtClean="0"/>
          </a:p>
          <a:p>
            <a:r>
              <a:rPr lang="en-US" dirty="0" smtClean="0"/>
              <a:t>Websites </a:t>
            </a:r>
            <a:r>
              <a:rPr lang="en-US" dirty="0"/>
              <a:t>are identified either by closely monitoring the group or by guessing</a:t>
            </a:r>
            <a:r>
              <a:rPr lang="en-US" dirty="0" smtClean="0"/>
              <a:t>.</a:t>
            </a:r>
          </a:p>
          <a:p>
            <a:r>
              <a:rPr lang="en-US" dirty="0"/>
              <a:t>the attackers infect these websites with malware, which infects the victims' systems. The malware in such an attack targets the user's personal information. </a:t>
            </a:r>
            <a:endParaRPr lang="en-US" dirty="0" smtClean="0"/>
          </a:p>
          <a:p>
            <a:r>
              <a:rPr lang="en-US" dirty="0"/>
              <a:t> it is also possible for the hacker to take remote access to the infected computer.</a:t>
            </a:r>
            <a:endParaRPr lang="en-US" b="1" i="1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017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6509" y="624110"/>
            <a:ext cx="9648103" cy="1280890"/>
          </a:xfrm>
        </p:spPr>
        <p:txBody>
          <a:bodyPr/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CYBER </a:t>
            </a:r>
            <a:r>
              <a:rPr lang="en-US" dirty="0"/>
              <a:t>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56509" y="1905000"/>
            <a:ext cx="9648103" cy="4592782"/>
          </a:xfrm>
        </p:spPr>
        <p:txBody>
          <a:bodyPr/>
          <a:lstStyle/>
          <a:p>
            <a:r>
              <a:rPr lang="en-US" dirty="0"/>
              <a:t> </a:t>
            </a:r>
            <a:r>
              <a:rPr lang="en-US" b="1" dirty="0" smtClean="0"/>
              <a:t>How to </a:t>
            </a:r>
            <a:r>
              <a:rPr lang="en-US" b="1" dirty="0"/>
              <a:t>prevent the watering hole attack:</a:t>
            </a:r>
          </a:p>
          <a:p>
            <a:r>
              <a:rPr lang="en-US" dirty="0"/>
              <a:t>Update your software and reduce the risk of an attacker exploiting vulnerabilities. Make sure to check for security patches regularly</a:t>
            </a:r>
            <a:r>
              <a:rPr lang="en-US" dirty="0" smtClean="0"/>
              <a:t>.</a:t>
            </a:r>
          </a:p>
          <a:p>
            <a:r>
              <a:rPr lang="en-US" dirty="0"/>
              <a:t>Use your network security tools to spot watering hole attacks. Intrusion prevention systems(IPS) work well when it comes to detecting such suspicious activities</a:t>
            </a:r>
            <a:r>
              <a:rPr lang="en-US" dirty="0" smtClean="0"/>
              <a:t>.</a:t>
            </a:r>
          </a:p>
          <a:p>
            <a:r>
              <a:rPr lang="en-US" dirty="0"/>
              <a:t>To prevent a watering hole attack, it is advised to conceal your online activities. For this, use a VPN and also make use of your browser’s private browsing feature</a:t>
            </a:r>
            <a:r>
              <a:rPr lang="en-US" dirty="0" smtClean="0"/>
              <a:t>.</a:t>
            </a:r>
          </a:p>
          <a:p>
            <a:r>
              <a:rPr lang="en-US" dirty="0"/>
              <a:t>A VPN delivers a secure connection to another network over the Internet. It acts as a shield for your browsing activity. </a:t>
            </a:r>
            <a:r>
              <a:rPr lang="en-US" dirty="0" err="1"/>
              <a:t>NordVPN</a:t>
            </a:r>
            <a:r>
              <a:rPr lang="en-US" dirty="0"/>
              <a:t> is a good example of a VPN</a:t>
            </a:r>
            <a:r>
              <a:rPr lang="en-US" dirty="0" smtClean="0"/>
              <a:t>.</a:t>
            </a:r>
          </a:p>
          <a:p>
            <a:r>
              <a:rPr lang="en-US" dirty="0"/>
              <a:t>L</a:t>
            </a:r>
            <a:r>
              <a:rPr lang="en-US" dirty="0" smtClean="0"/>
              <a:t>et's now summarize  how we can </a:t>
            </a:r>
            <a:r>
              <a:rPr lang="en-US" dirty="0"/>
              <a:t>avoid </a:t>
            </a:r>
            <a:r>
              <a:rPr lang="en-US" dirty="0" smtClean="0"/>
              <a:t>cyberattacks.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1053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2036" y="624110"/>
            <a:ext cx="9531927" cy="1280890"/>
          </a:xfrm>
        </p:spPr>
        <p:txBody>
          <a:bodyPr/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How to Prevent Cyber Attacks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2038" y="1904999"/>
            <a:ext cx="9531926" cy="4523509"/>
          </a:xfrm>
        </p:spPr>
        <p:txBody>
          <a:bodyPr/>
          <a:lstStyle/>
          <a:p>
            <a:r>
              <a:rPr lang="en-US" dirty="0" smtClean="0"/>
              <a:t>1. </a:t>
            </a:r>
            <a:r>
              <a:rPr lang="en-US" dirty="0"/>
              <a:t>Change your passwords regularly and use strong alphanumeric passwords which are difficult to crack. </a:t>
            </a:r>
            <a:endParaRPr lang="en-US" dirty="0" smtClean="0"/>
          </a:p>
          <a:p>
            <a:pPr lvl="1"/>
            <a:r>
              <a:rPr lang="en-US" dirty="0" smtClean="0"/>
              <a:t>Refrain </a:t>
            </a:r>
            <a:r>
              <a:rPr lang="en-US" dirty="0"/>
              <a:t>from using too complicated passwords that you would tend to forget. Do not use the same password twice</a:t>
            </a:r>
            <a:r>
              <a:rPr lang="en-US" dirty="0" smtClean="0"/>
              <a:t>.</a:t>
            </a:r>
          </a:p>
          <a:p>
            <a:r>
              <a:rPr lang="en-US" dirty="0" smtClean="0"/>
              <a:t>2. Update </a:t>
            </a:r>
            <a:r>
              <a:rPr lang="en-US" dirty="0"/>
              <a:t>both your operating system and applications regularly. This is a primary prevention method for any cyber attack. </a:t>
            </a:r>
            <a:endParaRPr lang="en-US" dirty="0" smtClean="0"/>
          </a:p>
          <a:p>
            <a:pPr lvl="1"/>
            <a:r>
              <a:rPr lang="en-US" dirty="0" smtClean="0"/>
              <a:t>This </a:t>
            </a:r>
            <a:r>
              <a:rPr lang="en-US" dirty="0"/>
              <a:t>will remove vulnerabilities that hackers tend to exploit</a:t>
            </a:r>
            <a:r>
              <a:rPr lang="en-US" dirty="0" smtClean="0"/>
              <a:t>.</a:t>
            </a:r>
          </a:p>
          <a:p>
            <a:r>
              <a:rPr lang="en-US" dirty="0" smtClean="0"/>
              <a:t>3. Use </a:t>
            </a:r>
            <a:r>
              <a:rPr lang="en-US" dirty="0"/>
              <a:t>a firewall and other network security tools such as Intrusion prevention systems, Access control, Application security, etc</a:t>
            </a:r>
            <a:r>
              <a:rPr lang="en-US" dirty="0" smtClean="0"/>
              <a:t>.</a:t>
            </a:r>
          </a:p>
          <a:p>
            <a:r>
              <a:rPr lang="en-US" dirty="0" smtClean="0"/>
              <a:t>4. Avoid </a:t>
            </a:r>
            <a:r>
              <a:rPr lang="en-US" dirty="0"/>
              <a:t>opening emails from unknown senders. Scrutinize the emails you receive for loopholes and significant errors</a:t>
            </a:r>
            <a:r>
              <a:rPr lang="en-US" dirty="0" smtClean="0"/>
              <a:t>.</a:t>
            </a:r>
          </a:p>
          <a:p>
            <a:r>
              <a:rPr lang="en-US" dirty="0" smtClean="0"/>
              <a:t>5. </a:t>
            </a:r>
            <a:r>
              <a:rPr lang="en-US" dirty="0"/>
              <a:t>Make use of a VPN. This makes sure that it encrypts the traffic between the VPN server and your device. 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825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5891" y="624110"/>
            <a:ext cx="9398721" cy="1280890"/>
          </a:xfrm>
        </p:spPr>
        <p:txBody>
          <a:bodyPr/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How </a:t>
            </a:r>
            <a:r>
              <a:rPr lang="en-US" dirty="0"/>
              <a:t>to Prevent Cyber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05891" y="1905000"/>
            <a:ext cx="9398721" cy="4551218"/>
          </a:xfrm>
        </p:spPr>
        <p:txBody>
          <a:bodyPr/>
          <a:lstStyle/>
          <a:p>
            <a:r>
              <a:rPr lang="en-US" dirty="0" smtClean="0"/>
              <a:t>6. Regularly </a:t>
            </a:r>
            <a:r>
              <a:rPr lang="en-US" dirty="0"/>
              <a:t>back up your data. </a:t>
            </a:r>
            <a:endParaRPr lang="en-US" dirty="0" smtClean="0"/>
          </a:p>
          <a:p>
            <a:r>
              <a:rPr lang="en-US" dirty="0" smtClean="0"/>
              <a:t>According </a:t>
            </a:r>
            <a:r>
              <a:rPr lang="en-US" dirty="0"/>
              <a:t>to many security professionals, it is ideal to have three copies of your data on two different media types and another copy in an off-site location (cloud storage). </a:t>
            </a:r>
            <a:endParaRPr lang="en-US" dirty="0" smtClean="0"/>
          </a:p>
          <a:p>
            <a:r>
              <a:rPr lang="en-US" dirty="0" smtClean="0"/>
              <a:t>7. </a:t>
            </a:r>
            <a:r>
              <a:rPr lang="en-US" dirty="0"/>
              <a:t>Employees should be aware of cybersecurity principles. They must know the various types of cyberattacks and ways to tackle them.</a:t>
            </a:r>
          </a:p>
          <a:p>
            <a:r>
              <a:rPr lang="en-US" dirty="0" smtClean="0"/>
              <a:t>8. </a:t>
            </a:r>
            <a:r>
              <a:rPr lang="en-US" dirty="0"/>
              <a:t>Use Two-Factor or Multi-Factor Authentication. </a:t>
            </a:r>
            <a:endParaRPr lang="en-US" dirty="0" smtClean="0"/>
          </a:p>
          <a:p>
            <a:r>
              <a:rPr lang="en-US" dirty="0" smtClean="0"/>
              <a:t>With </a:t>
            </a:r>
            <a:r>
              <a:rPr lang="en-US" dirty="0"/>
              <a:t>two-factor authentication, it requires users to provide two different authentication factors to verify themselves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9. </a:t>
            </a:r>
            <a:r>
              <a:rPr lang="en-US" dirty="0"/>
              <a:t>Secure your Wi-Fi networks and avoid using public Wi-Fi without using a VPN</a:t>
            </a:r>
            <a:r>
              <a:rPr lang="en-US" dirty="0" smtClean="0"/>
              <a:t>.</a:t>
            </a:r>
          </a:p>
          <a:p>
            <a:r>
              <a:rPr lang="en-US" dirty="0" smtClean="0"/>
              <a:t>10. </a:t>
            </a:r>
            <a:r>
              <a:rPr lang="en-US" dirty="0"/>
              <a:t>Safeguard your mobile, as mobiles are also a cyberattack target. Install apps from only legitimate and trusted sources, make sure to keep your device updated. 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998173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260</TotalTime>
  <Words>1851</Words>
  <Application>Microsoft Office PowerPoint</Application>
  <PresentationFormat>Widescreen</PresentationFormat>
  <Paragraphs>123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Century Gothic</vt:lpstr>
      <vt:lpstr>Wingdings</vt:lpstr>
      <vt:lpstr>Wingdings 3</vt:lpstr>
      <vt:lpstr>Wisp</vt:lpstr>
      <vt:lpstr>Introduction to Cryptography</vt:lpstr>
      <vt:lpstr>CYBER ATTACKS</vt:lpstr>
      <vt:lpstr> CYBER ATTACKS</vt:lpstr>
      <vt:lpstr> CYBER ATTACKS</vt:lpstr>
      <vt:lpstr> CYBER ATTACKS</vt:lpstr>
      <vt:lpstr> CYBER ATTACKS</vt:lpstr>
      <vt:lpstr> CYBER ATTACKS</vt:lpstr>
      <vt:lpstr> CYBER ATTACKS</vt:lpstr>
      <vt:lpstr> CYBER ATTACKS</vt:lpstr>
      <vt:lpstr> CYBER ATTACKS</vt:lpstr>
      <vt:lpstr> CYBER ATTACKS</vt:lpstr>
      <vt:lpstr> CYBER ATTACKS</vt:lpstr>
      <vt:lpstr> CYBER ATTACKS</vt:lpstr>
      <vt:lpstr> How to Prevent Cyber Attacks</vt:lpstr>
      <vt:lpstr> How to Prevent Cyber Attacks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Cryptography</dc:title>
  <dc:creator>HP</dc:creator>
  <cp:lastModifiedBy>HP</cp:lastModifiedBy>
  <cp:revision>15</cp:revision>
  <dcterms:created xsi:type="dcterms:W3CDTF">2023-02-09T09:40:42Z</dcterms:created>
  <dcterms:modified xsi:type="dcterms:W3CDTF">2023-02-09T14:01:15Z</dcterms:modified>
</cp:coreProperties>
</file>