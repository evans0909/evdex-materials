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76" r:id="rId15"/>
    <p:sldId id="277" r:id="rId16"/>
    <p:sldId id="268" r:id="rId17"/>
    <p:sldId id="269" r:id="rId18"/>
    <p:sldId id="270" r:id="rId19"/>
    <p:sldId id="271" r:id="rId20"/>
    <p:sldId id="272" r:id="rId21"/>
    <p:sldId id="273" r:id="rId22"/>
    <p:sldId id="278" r:id="rId23"/>
    <p:sldId id="274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9" r:id="rId32"/>
    <p:sldId id="290" r:id="rId33"/>
    <p:sldId id="285" r:id="rId34"/>
    <p:sldId id="287" r:id="rId35"/>
    <p:sldId id="288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2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5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3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0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46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3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7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50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2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4619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63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7322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09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10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4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C0DB3-A15A-4DD7-B8EE-0A9E00BDF691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AD6F23E-6FD4-45B8-B8B1-02900BE60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2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Introduction to Cryptography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CONFIDENTIALITY - SYMMETRIC KEY CRYPTO SYSTEMS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340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0981" y="1905000"/>
            <a:ext cx="10141527" cy="4343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Terminologies</a:t>
            </a:r>
          </a:p>
          <a:p>
            <a:r>
              <a:rPr lang="en-US" dirty="0"/>
              <a:t>A message is </a:t>
            </a:r>
            <a:r>
              <a:rPr lang="en-US" b="1" dirty="0"/>
              <a:t>plaintext</a:t>
            </a:r>
            <a:r>
              <a:rPr lang="en-US" dirty="0"/>
              <a:t> (sometimes called cleartext).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process of disguising a message in such a way as to hide its substance is </a:t>
            </a:r>
            <a:r>
              <a:rPr lang="en-US" b="1" dirty="0"/>
              <a:t>encryption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encrypted message is </a:t>
            </a:r>
            <a:r>
              <a:rPr lang="en-US" b="1" dirty="0"/>
              <a:t>ciphertext</a:t>
            </a:r>
            <a:r>
              <a:rPr lang="en-US" dirty="0"/>
              <a:t>. The process of turning ciphertext back into plaintext is </a:t>
            </a:r>
            <a:r>
              <a:rPr lang="en-US" b="1" dirty="0"/>
              <a:t>decryption</a:t>
            </a:r>
            <a:r>
              <a:rPr lang="en-US" dirty="0" smtClean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cipher</a:t>
            </a:r>
            <a:r>
              <a:rPr lang="en-US" dirty="0"/>
              <a:t> (or cypher) is an </a:t>
            </a:r>
            <a:r>
              <a:rPr lang="en-US" b="1" dirty="0"/>
              <a:t>algorithm</a:t>
            </a:r>
            <a:r>
              <a:rPr lang="en-US" dirty="0"/>
              <a:t> for performing encryption or decryption—a series of well-defined steps that can be followed as a procedure</a:t>
            </a:r>
            <a:r>
              <a:rPr lang="en-US" dirty="0" smtClean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cryptosystem</a:t>
            </a:r>
            <a:r>
              <a:rPr lang="en-US" dirty="0"/>
              <a:t> is an implementation of cryptographic techniques and their </a:t>
            </a:r>
            <a:r>
              <a:rPr lang="en-US" dirty="0" smtClean="0"/>
              <a:t>accompanying </a:t>
            </a:r>
            <a:r>
              <a:rPr lang="en-US" dirty="0"/>
              <a:t>infrastructure to provide information security services</a:t>
            </a:r>
            <a:r>
              <a:rPr lang="en-US" dirty="0" smtClean="0"/>
              <a:t>.</a:t>
            </a:r>
          </a:p>
          <a:p>
            <a:r>
              <a:rPr lang="en-US" dirty="0"/>
              <a:t>A cryptosystem is also referred to as a </a:t>
            </a:r>
            <a:r>
              <a:rPr lang="en-US" b="1" dirty="0"/>
              <a:t>cipher system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092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83" y="624110"/>
            <a:ext cx="9426430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3" y="1904999"/>
            <a:ext cx="9426429" cy="4523509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Terminologies Cont….</a:t>
            </a:r>
          </a:p>
          <a:p>
            <a:r>
              <a:rPr lang="en-US" dirty="0"/>
              <a:t>While cryptography is the science of securing data, </a:t>
            </a:r>
            <a:r>
              <a:rPr lang="en-US" b="1" dirty="0"/>
              <a:t>cryptanalysis</a:t>
            </a:r>
            <a:r>
              <a:rPr lang="en-US" dirty="0"/>
              <a:t> is the science of analyzing and breaking secure communication</a:t>
            </a:r>
            <a:r>
              <a:rPr lang="en-US" dirty="0" smtClean="0"/>
              <a:t>.</a:t>
            </a:r>
          </a:p>
          <a:p>
            <a:r>
              <a:rPr lang="en-US" b="1" dirty="0"/>
              <a:t>Cryptology</a:t>
            </a:r>
            <a:r>
              <a:rPr lang="en-US" dirty="0"/>
              <a:t> embraces both cryptography and cryptanalysis</a:t>
            </a:r>
            <a:r>
              <a:rPr lang="en-US" dirty="0" smtClean="0"/>
              <a:t>.</a:t>
            </a:r>
          </a:p>
          <a:p>
            <a:r>
              <a:rPr lang="en-US" b="1" dirty="0"/>
              <a:t>Cryptography</a:t>
            </a:r>
            <a:r>
              <a:rPr lang="en-US" dirty="0"/>
              <a:t> is </a:t>
            </a:r>
            <a:r>
              <a:rPr lang="en-US" dirty="0" smtClean="0"/>
              <a:t>thus the </a:t>
            </a:r>
            <a:r>
              <a:rPr lang="en-US" dirty="0"/>
              <a:t>science of using mathematics to encrypt and decrypt data. </a:t>
            </a:r>
          </a:p>
          <a:p>
            <a:r>
              <a:rPr lang="en-US" dirty="0"/>
              <a:t>Cryptography is the art and science of keeping messages secure</a:t>
            </a:r>
            <a:r>
              <a:rPr lang="en-US" dirty="0" smtClean="0"/>
              <a:t>.</a:t>
            </a:r>
          </a:p>
          <a:p>
            <a:r>
              <a:rPr lang="en-US" dirty="0"/>
              <a:t>Symmetric cryptography, known also as </a:t>
            </a:r>
            <a:r>
              <a:rPr lang="en-US" b="1" dirty="0"/>
              <a:t>secret key cryptography</a:t>
            </a:r>
            <a:r>
              <a:rPr lang="en-US" dirty="0"/>
              <a:t>, is </a:t>
            </a:r>
            <a:r>
              <a:rPr lang="en-US" b="1" dirty="0"/>
              <a:t>the use of a single shared secret to share encrypted data between parties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Ciphers in this category are called </a:t>
            </a:r>
            <a:r>
              <a:rPr lang="en-US" b="1" i="1" dirty="0"/>
              <a:t>symmetric</a:t>
            </a:r>
            <a:r>
              <a:rPr lang="en-US" dirty="0"/>
              <a:t> because you use the same key to encrypt and to decrypt the data</a:t>
            </a:r>
            <a:r>
              <a:rPr lang="en-US" dirty="0" smtClean="0"/>
              <a:t>.</a:t>
            </a:r>
          </a:p>
          <a:p>
            <a:r>
              <a:rPr lang="en-US" b="1" dirty="0"/>
              <a:t>Encipher</a:t>
            </a:r>
            <a:r>
              <a:rPr lang="en-US" dirty="0"/>
              <a:t> (encode) The process of converting plaintext to cipher text using a cipher and a </a:t>
            </a:r>
            <a:r>
              <a:rPr lang="en-US" dirty="0" smtClean="0"/>
              <a:t>key</a:t>
            </a:r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5369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7237" y="624110"/>
            <a:ext cx="9717376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CONFIDENTIALITY - SYMMETRIC KEY CRYPTO SYSTEMS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236" y="1904999"/>
            <a:ext cx="9717376" cy="441267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Decipher</a:t>
            </a:r>
            <a:r>
              <a:rPr lang="en-US" dirty="0"/>
              <a:t> (decode) the process of converting cipher text back into plaintext using a cipher and a </a:t>
            </a:r>
            <a:r>
              <a:rPr lang="en-US" dirty="0" smtClean="0"/>
              <a:t>key</a:t>
            </a:r>
          </a:p>
          <a:p>
            <a:r>
              <a:rPr lang="en-US" dirty="0" smtClean="0"/>
              <a:t>Cryptographic </a:t>
            </a:r>
            <a:r>
              <a:rPr lang="en-US" dirty="0"/>
              <a:t>techniques allow a sender to disguise data so that an intruder can gain no information from the intercepted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Security </a:t>
            </a:r>
            <a:r>
              <a:rPr lang="en-US" dirty="0"/>
              <a:t>of computer networks and systems is almost always discussed within information security that has three fundamental objectives</a:t>
            </a:r>
            <a:r>
              <a:rPr lang="en-US" dirty="0" smtClean="0"/>
              <a:t>,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namely </a:t>
            </a:r>
            <a:r>
              <a:rPr lang="en-US" b="1" dirty="0"/>
              <a:t>confidentiality, integrity, and availability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CONFIDENTIALITY</a:t>
            </a:r>
          </a:p>
          <a:p>
            <a:r>
              <a:rPr lang="en-US" dirty="0"/>
              <a:t>Confidentiality means that data, objects and resources are protected from unauthorized viewing and other </a:t>
            </a:r>
            <a:r>
              <a:rPr lang="en-US" dirty="0" smtClean="0"/>
              <a:t>access.</a:t>
            </a:r>
            <a:endParaRPr lang="en-US" b="1" dirty="0" smtClean="0"/>
          </a:p>
          <a:p>
            <a:r>
              <a:rPr lang="en-US" dirty="0" smtClean="0"/>
              <a:t>Confidentiality assures </a:t>
            </a:r>
            <a:r>
              <a:rPr lang="en-US" dirty="0"/>
              <a:t>that private or confidential information is not made available or disclosed to unauthorized </a:t>
            </a:r>
            <a:r>
              <a:rPr lang="en-US" dirty="0" smtClean="0"/>
              <a:t>individuals</a:t>
            </a:r>
          </a:p>
          <a:p>
            <a:pPr lvl="1"/>
            <a:r>
              <a:rPr lang="en-US" dirty="0"/>
              <a:t>A loss of confidentiality </a:t>
            </a:r>
            <a:r>
              <a:rPr lang="en-US" dirty="0" smtClean="0"/>
              <a:t>results in </a:t>
            </a:r>
            <a:r>
              <a:rPr lang="en-US" dirty="0"/>
              <a:t>unauthorized disclosure of information.</a:t>
            </a:r>
          </a:p>
        </p:txBody>
      </p:sp>
    </p:spTree>
    <p:extLst>
      <p:ext uri="{BB962C8B-B14F-4D97-AF65-F5344CB8AC3E}">
        <p14:creationId xmlns:p14="http://schemas.microsoft.com/office/powerpoint/2010/main" val="399554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2764" y="1905000"/>
            <a:ext cx="9767454" cy="468976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Encryption</a:t>
            </a:r>
            <a:r>
              <a:rPr lang="en-US" dirty="0"/>
              <a:t> is a commonly used tool to achieve confidentiality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Cryptographic</a:t>
            </a:r>
            <a:r>
              <a:rPr lang="en-US" dirty="0"/>
              <a:t> techniques allow a sender to disguise data so that an intruder can gain no </a:t>
            </a:r>
            <a:r>
              <a:rPr lang="en-US" dirty="0" smtClean="0"/>
              <a:t>information </a:t>
            </a:r>
            <a:r>
              <a:rPr lang="en-US" dirty="0"/>
              <a:t>from the intercepted data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smtClean="0"/>
              <a:t>receiver </a:t>
            </a:r>
            <a:r>
              <a:rPr lang="en-US" dirty="0"/>
              <a:t>must be able to recover the original data from the disguised </a:t>
            </a:r>
            <a:r>
              <a:rPr lang="en-US" dirty="0" smtClean="0"/>
              <a:t>data. Below is the summary of Cryptographic terminologies.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817" y="3671455"/>
            <a:ext cx="6359237" cy="292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9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83" y="624110"/>
            <a:ext cx="9426430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2" y="1904999"/>
            <a:ext cx="9426430" cy="4634345"/>
          </a:xfrm>
        </p:spPr>
        <p:txBody>
          <a:bodyPr/>
          <a:lstStyle/>
          <a:p>
            <a:r>
              <a:rPr lang="en-US" dirty="0"/>
              <a:t>Suppose now that Alice wants to send a message to Bob</a:t>
            </a:r>
            <a:r>
              <a:rPr lang="en-US" dirty="0" smtClean="0"/>
              <a:t>.</a:t>
            </a:r>
          </a:p>
          <a:p>
            <a:r>
              <a:rPr lang="en-US" dirty="0"/>
              <a:t>Alice encrypts her plaintext message using an encryption algorithm so that the encrypted </a:t>
            </a:r>
            <a:r>
              <a:rPr lang="en-US" dirty="0" smtClean="0"/>
              <a:t>message </a:t>
            </a:r>
            <a:r>
              <a:rPr lang="en-US" dirty="0"/>
              <a:t>looks </a:t>
            </a:r>
            <a:r>
              <a:rPr lang="en-US" dirty="0" smtClean="0"/>
              <a:t>unintelligible </a:t>
            </a:r>
            <a:r>
              <a:rPr lang="en-US" dirty="0"/>
              <a:t>to any </a:t>
            </a:r>
            <a:r>
              <a:rPr lang="en-US" dirty="0" smtClean="0"/>
              <a:t>intruder.</a:t>
            </a:r>
          </a:p>
          <a:p>
            <a:r>
              <a:rPr lang="en-US" dirty="0" smtClean="0"/>
              <a:t>In </a:t>
            </a:r>
            <a:r>
              <a:rPr lang="en-US" dirty="0"/>
              <a:t>many modern cryptographic systems, including those used in the Internet, the </a:t>
            </a:r>
            <a:r>
              <a:rPr lang="en-US" b="1" dirty="0"/>
              <a:t>encryption technique itself is </a:t>
            </a:r>
            <a:r>
              <a:rPr lang="en-US" b="1" i="1" dirty="0"/>
              <a:t>known</a:t>
            </a:r>
            <a:r>
              <a:rPr lang="en-US" dirty="0"/>
              <a:t>—published, </a:t>
            </a:r>
            <a:r>
              <a:rPr lang="en-US" dirty="0" smtClean="0"/>
              <a:t>standardized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and </a:t>
            </a:r>
            <a:r>
              <a:rPr lang="en-US" dirty="0"/>
              <a:t>available to everyone (for example, [RFC 1321; RFC 3447; RFC 2420; NIST 2001]), even a potential intruder</a:t>
            </a:r>
            <a:r>
              <a:rPr lang="en-US" dirty="0" smtClean="0"/>
              <a:t>!</a:t>
            </a:r>
          </a:p>
          <a:p>
            <a:r>
              <a:rPr lang="en-US" dirty="0" smtClean="0"/>
              <a:t>If </a:t>
            </a:r>
            <a:r>
              <a:rPr lang="en-US" dirty="0"/>
              <a:t>everyone knows the method for encoding data, then there must be some secret information that prevents an intruder from decrypting the transmitted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This is </a:t>
            </a:r>
            <a:r>
              <a:rPr lang="en-US" dirty="0" smtClean="0"/>
              <a:t>known as the</a:t>
            </a:r>
            <a:r>
              <a:rPr lang="en-US" b="1" dirty="0" smtClean="0"/>
              <a:t> key</a:t>
            </a:r>
            <a:r>
              <a:rPr lang="en-US" dirty="0" smtClean="0"/>
              <a:t>.</a:t>
            </a:r>
          </a:p>
          <a:p>
            <a:r>
              <a:rPr lang="en-US" dirty="0"/>
              <a:t>Alice provides a key, K</a:t>
            </a:r>
            <a:r>
              <a:rPr lang="en-US" sz="1400" dirty="0"/>
              <a:t>A</a:t>
            </a:r>
            <a:r>
              <a:rPr lang="en-US" dirty="0"/>
              <a:t>, a string of numbers or characters, as input to the encryption algorithm.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77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655" y="624110"/>
            <a:ext cx="9661957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2655" y="1905000"/>
            <a:ext cx="9661957" cy="455121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i="1" dirty="0"/>
              <a:t>encryption algorithm </a:t>
            </a:r>
            <a:r>
              <a:rPr lang="en-US" dirty="0"/>
              <a:t>takes the </a:t>
            </a:r>
            <a:r>
              <a:rPr lang="en-US" b="1" dirty="0"/>
              <a:t>key</a:t>
            </a:r>
            <a:r>
              <a:rPr lang="en-US" dirty="0"/>
              <a:t> and the plaintext message, </a:t>
            </a:r>
            <a:r>
              <a:rPr lang="en-US" b="1" dirty="0"/>
              <a:t>m</a:t>
            </a:r>
            <a:r>
              <a:rPr lang="en-US" dirty="0"/>
              <a:t>, as input and produces </a:t>
            </a:r>
            <a:r>
              <a:rPr lang="en-US" b="1" dirty="0" smtClean="0"/>
              <a:t>ciphertex</a:t>
            </a:r>
            <a:r>
              <a:rPr lang="en-US" dirty="0" smtClean="0"/>
              <a:t>t </a:t>
            </a:r>
            <a:r>
              <a:rPr lang="en-US" dirty="0"/>
              <a:t>as output</a:t>
            </a:r>
            <a:r>
              <a:rPr lang="en-US" dirty="0" smtClean="0"/>
              <a:t>.</a:t>
            </a:r>
          </a:p>
          <a:p>
            <a:r>
              <a:rPr lang="en-US" dirty="0"/>
              <a:t>The notation K</a:t>
            </a:r>
            <a:r>
              <a:rPr lang="en-US" sz="1400" dirty="0"/>
              <a:t>A</a:t>
            </a:r>
            <a:r>
              <a:rPr lang="en-US" dirty="0"/>
              <a:t>(m) refers to the ciphertext form (encrypted using the key K</a:t>
            </a:r>
            <a:r>
              <a:rPr lang="en-US" sz="1400" dirty="0"/>
              <a:t>A</a:t>
            </a:r>
            <a:r>
              <a:rPr lang="en-US" dirty="0"/>
              <a:t>) of the plaintext message, m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Bob receives an encrypted message K</a:t>
            </a:r>
            <a:r>
              <a:rPr lang="en-US" sz="1400" dirty="0"/>
              <a:t>A</a:t>
            </a:r>
            <a:r>
              <a:rPr lang="en-US" dirty="0"/>
              <a:t>(m), he decrypts it by computing K</a:t>
            </a:r>
            <a:r>
              <a:rPr lang="en-US" sz="1400" dirty="0"/>
              <a:t>B</a:t>
            </a:r>
            <a:r>
              <a:rPr lang="en-US" dirty="0"/>
              <a:t>(K</a:t>
            </a:r>
            <a:r>
              <a:rPr lang="en-US" sz="1400" dirty="0"/>
              <a:t>A</a:t>
            </a:r>
            <a:r>
              <a:rPr lang="en-US" dirty="0"/>
              <a:t>(m)) = m.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b="1" dirty="0"/>
              <a:t>symmetric key </a:t>
            </a:r>
            <a:r>
              <a:rPr lang="en-US" b="1" dirty="0" smtClean="0"/>
              <a:t>systems</a:t>
            </a:r>
            <a:r>
              <a:rPr lang="en-US" dirty="0"/>
              <a:t>, Alice’s and Bob’s keys are identical and are secret</a:t>
            </a:r>
            <a:r>
              <a:rPr lang="en-US" dirty="0" smtClean="0"/>
              <a:t>.</a:t>
            </a:r>
          </a:p>
          <a:p>
            <a:r>
              <a:rPr lang="en-US" dirty="0"/>
              <a:t>In </a:t>
            </a:r>
            <a:r>
              <a:rPr lang="en-US" b="1" dirty="0"/>
              <a:t>public key systems</a:t>
            </a:r>
            <a:r>
              <a:rPr lang="en-US" dirty="0"/>
              <a:t>, a pair of keys is used. One of the keys is known to both Bob and Alice</a:t>
            </a:r>
            <a:endParaRPr lang="en-US" dirty="0" smtClean="0"/>
          </a:p>
          <a:p>
            <a:r>
              <a:rPr lang="en-US" dirty="0"/>
              <a:t>The other key is known only by either Bob or Alice (but not both).</a:t>
            </a:r>
          </a:p>
        </p:txBody>
      </p:sp>
    </p:spTree>
    <p:extLst>
      <p:ext uri="{BB962C8B-B14F-4D97-AF65-F5344CB8AC3E}">
        <p14:creationId xmlns:p14="http://schemas.microsoft.com/office/powerpoint/2010/main" val="368157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655" y="624110"/>
            <a:ext cx="9661957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2655" y="1904999"/>
            <a:ext cx="9661957" cy="4717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Symmetric </a:t>
            </a:r>
            <a:r>
              <a:rPr lang="en-US" b="1" dirty="0"/>
              <a:t>Key </a:t>
            </a:r>
            <a:r>
              <a:rPr lang="en-US" b="1" dirty="0" smtClean="0"/>
              <a:t>Cryptography</a:t>
            </a:r>
          </a:p>
          <a:p>
            <a:pPr marL="0" indent="0">
              <a:buNone/>
            </a:pPr>
            <a:r>
              <a:rPr lang="en-US" b="1" dirty="0" smtClean="0"/>
              <a:t>   Stream Ciphers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All cryptographic algorithms involve substituting one thing for another</a:t>
            </a:r>
            <a:r>
              <a:rPr lang="en-US" dirty="0" smtClean="0"/>
              <a:t>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for </a:t>
            </a:r>
            <a:r>
              <a:rPr lang="en-US" dirty="0" smtClean="0"/>
              <a:t>example</a:t>
            </a:r>
            <a:r>
              <a:rPr lang="en-US" dirty="0"/>
              <a:t>, taking a piece of plaintext and then computing and substituting the appropriate ciphertext to create the encrypted message.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Caesar cipher: </a:t>
            </a:r>
            <a:r>
              <a:rPr lang="en-US" dirty="0" smtClean="0"/>
              <a:t>The </a:t>
            </a:r>
            <a:r>
              <a:rPr lang="en-US" dirty="0"/>
              <a:t>Caesar </a:t>
            </a:r>
            <a:r>
              <a:rPr lang="en-US" dirty="0" smtClean="0"/>
              <a:t>cipher works </a:t>
            </a:r>
            <a:r>
              <a:rPr lang="en-US" dirty="0"/>
              <a:t>by taking each letter in the </a:t>
            </a:r>
            <a:r>
              <a:rPr lang="en-US" dirty="0" smtClean="0"/>
              <a:t>plaintext </a:t>
            </a:r>
            <a:r>
              <a:rPr lang="en-US" dirty="0"/>
              <a:t>message and substituting the letter that is k letters later (allowing wraparound;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that </a:t>
            </a:r>
            <a:r>
              <a:rPr lang="en-US" dirty="0"/>
              <a:t>is, having the letter z followed by the letter a) in the alphabet.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For </a:t>
            </a:r>
            <a:r>
              <a:rPr lang="en-US" dirty="0"/>
              <a:t>example if k = 3, then the letter a in plaintext becomes d in ciphertext;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b </a:t>
            </a:r>
            <a:r>
              <a:rPr lang="en-US" dirty="0"/>
              <a:t>in plaintext becomes e in ciphertext, and so on. Here, the value of k serves as the key.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The </a:t>
            </a:r>
            <a:r>
              <a:rPr lang="en-US" b="1" dirty="0"/>
              <a:t>Caesar cipher is an example of a stream cipher</a:t>
            </a:r>
            <a:r>
              <a:rPr lang="en-US" dirty="0"/>
              <a:t>; that is, it encodes one character at a time.</a:t>
            </a:r>
            <a:endParaRPr lang="en-US" dirty="0" smtClean="0"/>
          </a:p>
          <a:p>
            <a:pPr marL="0" indent="0"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46696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491" y="624110"/>
            <a:ext cx="9551121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3491" y="1904999"/>
            <a:ext cx="9551121" cy="46620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While the ciphertext does indeed look like gibberish, it wouldn’t take long to break the code if you knew that the Caesar cipher was being used</a:t>
            </a:r>
            <a:r>
              <a:rPr lang="en-US" dirty="0" smtClean="0"/>
              <a:t>,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as there are only 25 possible key values</a:t>
            </a:r>
          </a:p>
          <a:p>
            <a:r>
              <a:rPr lang="en-US" dirty="0" smtClean="0"/>
              <a:t>An </a:t>
            </a:r>
            <a:r>
              <a:rPr lang="en-US" dirty="0"/>
              <a:t>improvement on the Caesar cipher is the </a:t>
            </a:r>
            <a:r>
              <a:rPr lang="en-US" b="1" dirty="0"/>
              <a:t>monoalphabetic</a:t>
            </a:r>
            <a:r>
              <a:rPr lang="en-US" dirty="0"/>
              <a:t> cipher, which also substitutes one letter of the alphabet with another letter of the alphabet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However, rather than substituting according to a regular pattern (for example, substitution with an offset of k for all letters), </a:t>
            </a:r>
            <a:endParaRPr lang="en-US" dirty="0" smtClean="0"/>
          </a:p>
          <a:p>
            <a:r>
              <a:rPr lang="en-US" dirty="0" smtClean="0"/>
              <a:t>any </a:t>
            </a:r>
            <a:r>
              <a:rPr lang="en-US" dirty="0"/>
              <a:t>letter can be substituted for any other letter, as long as each letter has a unique substitute letter, and vice versa.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substitution rule </a:t>
            </a:r>
            <a:r>
              <a:rPr lang="en-US" dirty="0" smtClean="0"/>
              <a:t>in the figure below shows </a:t>
            </a:r>
            <a:r>
              <a:rPr lang="en-US" dirty="0"/>
              <a:t>one possible rule for encoding plaintext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627" y="5569527"/>
            <a:ext cx="7436427" cy="128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8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5891" y="624110"/>
            <a:ext cx="9398721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5891" y="1904999"/>
            <a:ext cx="9398721" cy="4578927"/>
          </a:xfrm>
        </p:spPr>
        <p:txBody>
          <a:bodyPr>
            <a:normAutofit/>
          </a:bodyPr>
          <a:lstStyle/>
          <a:p>
            <a:r>
              <a:rPr lang="en-US" dirty="0"/>
              <a:t>A monoalphabetic cipher would also appear to be better than the Caesar cipher in that there are 26! </a:t>
            </a:r>
            <a:endParaRPr lang="en-US" dirty="0" smtClean="0"/>
          </a:p>
          <a:p>
            <a:pPr lvl="1"/>
            <a:r>
              <a:rPr lang="en-US" dirty="0" smtClean="0"/>
              <a:t>(</a:t>
            </a:r>
            <a:r>
              <a:rPr lang="en-US" dirty="0"/>
              <a:t>on the order of </a:t>
            </a:r>
            <a:r>
              <a:rPr lang="en-US" dirty="0" smtClean="0"/>
              <a:t>10^26</a:t>
            </a:r>
            <a:r>
              <a:rPr lang="en-US" dirty="0"/>
              <a:t>) possible pairings of letters rather than 25 possible pairings. </a:t>
            </a:r>
            <a:endParaRPr lang="en-US" dirty="0" smtClean="0"/>
          </a:p>
          <a:p>
            <a:r>
              <a:rPr lang="en-US" dirty="0"/>
              <a:t>A </a:t>
            </a:r>
            <a:r>
              <a:rPr lang="en-US" b="1" dirty="0"/>
              <a:t>brute-force</a:t>
            </a:r>
            <a:r>
              <a:rPr lang="en-US" dirty="0"/>
              <a:t> approach of trying all </a:t>
            </a:r>
            <a:r>
              <a:rPr lang="en-US" dirty="0" smtClean="0"/>
              <a:t>10^26 </a:t>
            </a:r>
            <a:r>
              <a:rPr lang="en-US" dirty="0"/>
              <a:t>possible pairings would require far too much work to be a feasible way of breaking the encryption algorithm and decoding the message. </a:t>
            </a:r>
            <a:endParaRPr lang="en-US" dirty="0" smtClean="0"/>
          </a:p>
          <a:p>
            <a:r>
              <a:rPr lang="en-US" dirty="0"/>
              <a:t>However, </a:t>
            </a:r>
            <a:r>
              <a:rPr lang="en-US" dirty="0" smtClean="0"/>
              <a:t>if </a:t>
            </a:r>
            <a:r>
              <a:rPr lang="en-US" dirty="0"/>
              <a:t>the intruder has some knowledge about the possible contents of the message, then it is even easier to break the code</a:t>
            </a:r>
            <a:r>
              <a:rPr lang="en-US" dirty="0" smtClean="0"/>
              <a:t>.</a:t>
            </a:r>
          </a:p>
          <a:p>
            <a:r>
              <a:rPr lang="en-US" dirty="0"/>
              <a:t>by statistical analysis of the </a:t>
            </a:r>
            <a:r>
              <a:rPr lang="en-US" dirty="0" smtClean="0"/>
              <a:t>plaintext language and </a:t>
            </a:r>
            <a:r>
              <a:rPr lang="en-US" dirty="0"/>
              <a:t>knowing that particular two-and three-letter occurrences of letters appear quite often </a:t>
            </a:r>
            <a:r>
              <a:rPr lang="en-US" dirty="0" smtClean="0"/>
              <a:t>together,</a:t>
            </a:r>
          </a:p>
          <a:p>
            <a:pPr lvl="1"/>
            <a:r>
              <a:rPr lang="en-US" dirty="0" smtClean="0"/>
              <a:t>it is relatively </a:t>
            </a:r>
            <a:r>
              <a:rPr lang="en-US" dirty="0"/>
              <a:t>easy to break </a:t>
            </a:r>
            <a:r>
              <a:rPr lang="en-US" dirty="0" smtClean="0"/>
              <a:t>the </a:t>
            </a:r>
            <a:r>
              <a:rPr lang="en-US" dirty="0"/>
              <a:t>code. </a:t>
            </a:r>
            <a:endParaRPr lang="en-US" dirty="0" smtClean="0"/>
          </a:p>
          <a:p>
            <a:r>
              <a:rPr lang="en-US" dirty="0"/>
              <a:t>Five hundred years ago, techniques improving on monoalphabetic </a:t>
            </a:r>
            <a:r>
              <a:rPr lang="en-US" dirty="0" smtClean="0"/>
              <a:t>encryption</a:t>
            </a:r>
            <a:r>
              <a:rPr lang="en-US" dirty="0"/>
              <a:t>, known as </a:t>
            </a:r>
            <a:r>
              <a:rPr lang="en-US" b="1" dirty="0"/>
              <a:t>polyalphabetic</a:t>
            </a:r>
            <a:r>
              <a:rPr lang="en-US" dirty="0"/>
              <a:t> encryption, were </a:t>
            </a:r>
            <a:r>
              <a:rPr lang="en-US" dirty="0" smtClean="0"/>
              <a:t>invented..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20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0473" y="624110"/>
            <a:ext cx="9454139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0473" y="1904999"/>
            <a:ext cx="9454139" cy="4675909"/>
          </a:xfrm>
        </p:spPr>
        <p:txBody>
          <a:bodyPr/>
          <a:lstStyle/>
          <a:p>
            <a:r>
              <a:rPr lang="en-US" dirty="0"/>
              <a:t>The idea behind polyalphabetic encryption is to use multiple monoalphabetic ciphers, </a:t>
            </a:r>
            <a:endParaRPr lang="en-US" dirty="0" smtClean="0"/>
          </a:p>
          <a:p>
            <a:pPr lvl="1"/>
            <a:r>
              <a:rPr lang="en-US" dirty="0" smtClean="0"/>
              <a:t>with </a:t>
            </a:r>
            <a:r>
              <a:rPr lang="en-US" dirty="0"/>
              <a:t>a specific monoalphabetic cipher to encode a letter in a specific position in the plaintext </a:t>
            </a:r>
            <a:r>
              <a:rPr lang="en-US" dirty="0" smtClean="0"/>
              <a:t>message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i="1" dirty="0" smtClean="0"/>
              <a:t>Thus</a:t>
            </a:r>
            <a:r>
              <a:rPr lang="en-US" b="1" i="1" dirty="0"/>
              <a:t>, the same letter, appearing in different positions in the plaintext message, might be encoded differently</a:t>
            </a:r>
            <a:r>
              <a:rPr lang="en-US" b="1" i="1" dirty="0" smtClean="0"/>
              <a:t>.</a:t>
            </a:r>
          </a:p>
          <a:p>
            <a:r>
              <a:rPr lang="en-US" dirty="0"/>
              <a:t>A polyalphabetic cipher using two Caesar ciphers </a:t>
            </a:r>
            <a:r>
              <a:rPr lang="en-US" dirty="0" smtClean="0"/>
              <a:t>is shown below.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Using C1,C2,C2,C1,C2 encrypt the message “</a:t>
            </a:r>
            <a:r>
              <a:rPr lang="en-US" b="1" dirty="0" smtClean="0"/>
              <a:t>Cyber security is cool</a:t>
            </a:r>
            <a:r>
              <a:rPr lang="en-US" dirty="0" smtClean="0"/>
              <a:t>”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945" y="4464626"/>
            <a:ext cx="6497781" cy="126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1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091" y="624110"/>
            <a:ext cx="9703521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1" y="1904999"/>
            <a:ext cx="9703521" cy="4842165"/>
          </a:xfrm>
        </p:spPr>
        <p:txBody>
          <a:bodyPr/>
          <a:lstStyle/>
          <a:p>
            <a:r>
              <a:rPr lang="en-US" dirty="0"/>
              <a:t>An example of a polyalphabetic encryption </a:t>
            </a:r>
            <a:r>
              <a:rPr lang="en-US" dirty="0" smtClean="0"/>
              <a:t>scheme shown </a:t>
            </a:r>
            <a:r>
              <a:rPr lang="en-US" dirty="0"/>
              <a:t>has two Caesar ciphers (with k = 5 and k = 19), shown as rows.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might choose to use these two Caesar ciphers, C1 and C2 , in the repeating pattern C1 , C2 , C2 , C1 , C2 . </a:t>
            </a:r>
            <a:endParaRPr lang="en-US" dirty="0" smtClean="0"/>
          </a:p>
          <a:p>
            <a:r>
              <a:rPr lang="en-US" dirty="0" smtClean="0"/>
              <a:t>That </a:t>
            </a:r>
            <a:r>
              <a:rPr lang="en-US" dirty="0"/>
              <a:t>is, the first letter of plaintext is to be encoded using C1 , the second and third using C2 , the fourth using C1 , and the fifth using C2 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pattern then repeats, with the sixth letter being encoded using C1 , the seventh with C2 , and so on</a:t>
            </a:r>
            <a:r>
              <a:rPr lang="en-US" dirty="0" smtClean="0"/>
              <a:t>.</a:t>
            </a:r>
          </a:p>
          <a:p>
            <a:r>
              <a:rPr lang="en-US" dirty="0"/>
              <a:t>We can replace the simple shift mechanism of the Caesar cipher with a more complex substitution mechanism, for 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527" y="5181600"/>
            <a:ext cx="3664528" cy="13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9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619" y="624110"/>
            <a:ext cx="9467994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618" y="1904999"/>
            <a:ext cx="9467994" cy="463434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 smtClean="0"/>
              <a:t>Class Open Book Quiz</a:t>
            </a:r>
          </a:p>
          <a:p>
            <a:pPr marL="0" indent="0" algn="ctr">
              <a:buNone/>
            </a:pPr>
            <a:r>
              <a:rPr lang="en-US" b="1" dirty="0" smtClean="0"/>
              <a:t>Time: 10 Minutes</a:t>
            </a:r>
            <a:endParaRPr lang="en-US" b="1" dirty="0"/>
          </a:p>
          <a:p>
            <a:pPr marL="0" indent="0" algn="ctr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 1. </a:t>
            </a:r>
            <a:r>
              <a:rPr lang="en-US" dirty="0"/>
              <a:t>Using a Caesar cipher with s =</a:t>
            </a:r>
            <a:r>
              <a:rPr lang="en-US" dirty="0" smtClean="0"/>
              <a:t> </a:t>
            </a:r>
            <a:r>
              <a:rPr lang="en-US" dirty="0"/>
              <a:t>5, encrypt the message </a:t>
            </a:r>
            <a:r>
              <a:rPr lang="en-US" b="1" dirty="0"/>
              <a:t>NOW IS THE HOUR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2</a:t>
            </a:r>
            <a:r>
              <a:rPr lang="en-US" dirty="0"/>
              <a:t>. A messenger tells you that the secret key for today for the Caesar cipher is s </a:t>
            </a:r>
            <a:r>
              <a:rPr lang="en-US" dirty="0" smtClean="0"/>
              <a:t>= </a:t>
            </a:r>
            <a:r>
              <a:rPr lang="en-US" dirty="0"/>
              <a:t>26. Should you trust the messenger? Why, or why not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278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073" y="374073"/>
            <a:ext cx="9606539" cy="13023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8073" y="1676400"/>
            <a:ext cx="9606539" cy="4918363"/>
          </a:xfrm>
        </p:spPr>
        <p:txBody>
          <a:bodyPr/>
          <a:lstStyle/>
          <a:p>
            <a:r>
              <a:rPr lang="en-US" b="1" dirty="0" smtClean="0"/>
              <a:t>Transposition Ciphers</a:t>
            </a:r>
          </a:p>
          <a:p>
            <a:r>
              <a:rPr lang="en-US" dirty="0"/>
              <a:t>Substitution ciphers preserve the order of the plaintext symbols but disguise them. Transposition ciphers, in contrast, reorder the letters but do not disguise them</a:t>
            </a:r>
            <a:r>
              <a:rPr lang="en-US" dirty="0" smtClean="0"/>
              <a:t>.</a:t>
            </a:r>
          </a:p>
          <a:p>
            <a:r>
              <a:rPr lang="en-US" dirty="0"/>
              <a:t>Figure </a:t>
            </a:r>
            <a:r>
              <a:rPr lang="en-US" dirty="0" smtClean="0"/>
              <a:t>below </a:t>
            </a:r>
            <a:r>
              <a:rPr lang="en-US" dirty="0"/>
              <a:t>depicts a common transposition cipher, the columnar </a:t>
            </a:r>
            <a:r>
              <a:rPr lang="en-US" dirty="0" smtClean="0"/>
              <a:t>transposition</a:t>
            </a:r>
            <a:r>
              <a:rPr lang="en-US" dirty="0"/>
              <a:t>. The cipher is keyed by a word or phrase not containing any repeated </a:t>
            </a:r>
            <a:r>
              <a:rPr lang="en-US" dirty="0" smtClean="0"/>
              <a:t>letters.</a:t>
            </a:r>
          </a:p>
          <a:p>
            <a:r>
              <a:rPr lang="en-US" dirty="0"/>
              <a:t>In this example, MEGABUCK is the key</a:t>
            </a:r>
            <a:r>
              <a:rPr lang="en-US" dirty="0" smtClean="0"/>
              <a:t>.</a:t>
            </a:r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151" y="3879273"/>
            <a:ext cx="2517631" cy="29787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676" y="4003964"/>
            <a:ext cx="4999759" cy="24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70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0"/>
            <a:ext cx="9287885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27" y="1905000"/>
            <a:ext cx="9287885" cy="4953000"/>
          </a:xfrm>
        </p:spPr>
        <p:txBody>
          <a:bodyPr/>
          <a:lstStyle/>
          <a:p>
            <a:r>
              <a:rPr lang="en-US" dirty="0"/>
              <a:t>The purpose of the key is to order the columns, with column 1 being under the key letter closest to the start of the </a:t>
            </a:r>
            <a:r>
              <a:rPr lang="en-US" dirty="0" smtClean="0"/>
              <a:t>alphabet</a:t>
            </a:r>
            <a:r>
              <a:rPr lang="en-US" dirty="0"/>
              <a:t>, and so 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plaintext is written horizontally, in rows, padded to fill the matrix if need be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ciphertext is read out by columns, starting with the column whose key letter is the lowest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Class exercise</a:t>
            </a:r>
            <a:r>
              <a:rPr lang="en-US" dirty="0" smtClean="0"/>
              <a:t>: If  </a:t>
            </a:r>
            <a:r>
              <a:rPr lang="en-US" b="1" dirty="0" smtClean="0"/>
              <a:t>ADREA</a:t>
            </a:r>
            <a:r>
              <a:rPr lang="en-US" dirty="0" smtClean="0"/>
              <a:t> is the Key, use columnar transposition to decrypt the message  </a:t>
            </a:r>
            <a:r>
              <a:rPr lang="en-US" b="1" dirty="0" smtClean="0"/>
              <a:t>SEAZITFQIMRITIOU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338944"/>
            <a:ext cx="3780125" cy="277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63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345" y="624110"/>
            <a:ext cx="9537267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7345" y="1904999"/>
            <a:ext cx="9537267" cy="4565073"/>
          </a:xfrm>
        </p:spPr>
        <p:txBody>
          <a:bodyPr/>
          <a:lstStyle/>
          <a:p>
            <a:r>
              <a:rPr lang="en-US" b="1" dirty="0"/>
              <a:t>B</a:t>
            </a:r>
            <a:r>
              <a:rPr lang="en-US" b="1" dirty="0" smtClean="0"/>
              <a:t>lock cipher</a:t>
            </a:r>
            <a:r>
              <a:rPr lang="en-US" dirty="0" smtClean="0"/>
              <a:t>. </a:t>
            </a:r>
            <a:r>
              <a:rPr lang="en-US" dirty="0"/>
              <a:t>In a block cipher, a group or block of plaintext letters gets encoded into a block of </a:t>
            </a:r>
            <a:r>
              <a:rPr lang="en-US" dirty="0" smtClean="0"/>
              <a:t>ciphertext</a:t>
            </a:r>
          </a:p>
          <a:p>
            <a:pPr lvl="1"/>
            <a:r>
              <a:rPr lang="en-US" dirty="0" smtClean="0"/>
              <a:t>but </a:t>
            </a:r>
            <a:r>
              <a:rPr lang="en-US" dirty="0"/>
              <a:t>not by substituting one character at a time for each </a:t>
            </a:r>
            <a:r>
              <a:rPr lang="en-US" dirty="0" smtClean="0"/>
              <a:t>letter</a:t>
            </a:r>
          </a:p>
          <a:p>
            <a:r>
              <a:rPr lang="en-US" dirty="0"/>
              <a:t>Each plaintext character in the block contributes to more than one ciphertext </a:t>
            </a:r>
            <a:r>
              <a:rPr lang="en-US" dirty="0" smtClean="0"/>
              <a:t>character</a:t>
            </a:r>
          </a:p>
          <a:p>
            <a:pPr lvl="1"/>
            <a:r>
              <a:rPr lang="en-US" dirty="0" smtClean="0"/>
              <a:t>and </a:t>
            </a:r>
            <a:r>
              <a:rPr lang="en-US" dirty="0"/>
              <a:t>each ciphertext character is the result of more than one plaintext </a:t>
            </a:r>
            <a:r>
              <a:rPr lang="en-US" dirty="0" smtClean="0"/>
              <a:t>letter</a:t>
            </a:r>
          </a:p>
          <a:p>
            <a:r>
              <a:rPr lang="en-US" dirty="0" smtClean="0"/>
              <a:t>It </a:t>
            </a:r>
            <a:r>
              <a:rPr lang="en-US" dirty="0"/>
              <a:t>is as if each plaintext character in a block gets chopped into little pieces, </a:t>
            </a:r>
            <a:endParaRPr lang="en-US" dirty="0" smtClean="0"/>
          </a:p>
          <a:p>
            <a:pPr lvl="1"/>
            <a:r>
              <a:rPr lang="en-US" dirty="0" smtClean="0"/>
              <a:t>and </a:t>
            </a:r>
            <a:r>
              <a:rPr lang="en-US" dirty="0"/>
              <a:t>these pieces are scattered among the ciphertext characters in the corresponding block.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tends to destroy the structure of the plaintext and make decryption more difficult.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5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745" y="1904999"/>
            <a:ext cx="9384867" cy="4634345"/>
          </a:xfrm>
        </p:spPr>
        <p:txBody>
          <a:bodyPr/>
          <a:lstStyle/>
          <a:p>
            <a:r>
              <a:rPr lang="en-US" dirty="0"/>
              <a:t>As a simple example, we’ll use a block size of 2 and an encoding key that is a 2 </a:t>
            </a:r>
            <a:r>
              <a:rPr lang="en-US" dirty="0" smtClean="0"/>
              <a:t>X </a:t>
            </a:r>
            <a:r>
              <a:rPr lang="en-US" dirty="0"/>
              <a:t>2 arrangement of numbers called a matrix. Here A and B</a:t>
            </a:r>
            <a:r>
              <a:rPr lang="en-US" dirty="0" smtClean="0"/>
              <a:t>,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To obtain the element in row 1, column 2 of the result, we multiply the row 1 elements of A by the corresponding column 2 elements of B and add the results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050" y="2586038"/>
            <a:ext cx="2403496" cy="8775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16" y="4232560"/>
            <a:ext cx="3546763" cy="149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8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619" y="624110"/>
            <a:ext cx="9467994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6618" y="1904999"/>
            <a:ext cx="9467994" cy="4565073"/>
          </a:xfrm>
        </p:spPr>
        <p:txBody>
          <a:bodyPr/>
          <a:lstStyle/>
          <a:p>
            <a:r>
              <a:rPr lang="en-US" dirty="0"/>
              <a:t>However, for encryption purposes, we are going to modify this definition.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we add up the terms for each element, whenever we exceed 25, </a:t>
            </a:r>
            <a:endParaRPr lang="en-US" dirty="0" smtClean="0"/>
          </a:p>
          <a:p>
            <a:pPr lvl="1"/>
            <a:r>
              <a:rPr lang="en-US" dirty="0" smtClean="0"/>
              <a:t>we </a:t>
            </a:r>
            <a:r>
              <a:rPr lang="en-US" dirty="0"/>
              <a:t>will start over again, counting from 0. In this scheme, 26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0, 27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1, 28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2, . . . </a:t>
            </a:r>
            <a:r>
              <a:rPr lang="en-US" dirty="0" smtClean="0"/>
              <a:t> 52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0, and so </a:t>
            </a:r>
            <a:r>
              <a:rPr lang="en-US" dirty="0" smtClean="0"/>
              <a:t>on</a:t>
            </a:r>
          </a:p>
          <a:p>
            <a:r>
              <a:rPr lang="en-US" dirty="0"/>
              <a:t>Not every 2 </a:t>
            </a:r>
            <a:r>
              <a:rPr lang="en-US" dirty="0" smtClean="0"/>
              <a:t>X </a:t>
            </a:r>
            <a:r>
              <a:rPr lang="en-US" dirty="0"/>
              <a:t>2 matrix can serve as an encryption key; </a:t>
            </a:r>
            <a:r>
              <a:rPr lang="en-US" b="1" dirty="0"/>
              <a:t>we need an </a:t>
            </a:r>
            <a:r>
              <a:rPr lang="en-US" b="1" dirty="0" smtClean="0"/>
              <a:t>invertible </a:t>
            </a:r>
            <a:r>
              <a:rPr lang="en-US" dirty="0"/>
              <a:t>matrix. This is a matrix M for which there is another matrix </a:t>
            </a:r>
            <a:r>
              <a:rPr lang="en-US" dirty="0" smtClean="0"/>
              <a:t>M’ such that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28" y="3976256"/>
            <a:ext cx="5209308" cy="288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6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037" y="624110"/>
            <a:ext cx="9412576" cy="11769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2036" y="1801090"/>
            <a:ext cx="9412576" cy="5056909"/>
          </a:xfrm>
        </p:spPr>
        <p:txBody>
          <a:bodyPr/>
          <a:lstStyle/>
          <a:p>
            <a:r>
              <a:rPr lang="en-US" dirty="0"/>
              <a:t>This property is what allows </a:t>
            </a:r>
            <a:r>
              <a:rPr lang="en-US" dirty="0" smtClean="0"/>
              <a:t>M’ to </a:t>
            </a:r>
            <a:r>
              <a:rPr lang="en-US" dirty="0"/>
              <a:t>reverse the effect of M. </a:t>
            </a:r>
            <a:endParaRPr lang="en-US" dirty="0" smtClean="0"/>
          </a:p>
          <a:p>
            <a:r>
              <a:rPr lang="en-US" b="1" dirty="0" smtClean="0"/>
              <a:t>Also</a:t>
            </a:r>
            <a:r>
              <a:rPr lang="en-US" b="1" dirty="0"/>
              <a:t>, part of our encryption algorithm is a simple substitution S that maps letters into numbers</a:t>
            </a:r>
            <a:r>
              <a:rPr lang="en-US" dirty="0"/>
              <a:t>; </a:t>
            </a:r>
            <a:endParaRPr lang="en-US" dirty="0" smtClean="0"/>
          </a:p>
          <a:p>
            <a:pPr lvl="1"/>
            <a:r>
              <a:rPr lang="en-US" dirty="0" smtClean="0"/>
              <a:t>we’ll </a:t>
            </a:r>
            <a:r>
              <a:rPr lang="en-US" dirty="0"/>
              <a:t>let S be really simple here: S(A) </a:t>
            </a:r>
            <a:r>
              <a:rPr lang="en-US" dirty="0" smtClean="0"/>
              <a:t>= </a:t>
            </a:r>
            <a:r>
              <a:rPr lang="en-US" dirty="0"/>
              <a:t>1, S(B) </a:t>
            </a:r>
            <a:r>
              <a:rPr lang="en-US" dirty="0" smtClean="0"/>
              <a:t>= </a:t>
            </a:r>
            <a:r>
              <a:rPr lang="en-US" dirty="0"/>
              <a:t>2, . . . , S(Z) </a:t>
            </a:r>
            <a:r>
              <a:rPr lang="en-US" dirty="0" smtClean="0"/>
              <a:t>= </a:t>
            </a:r>
            <a:r>
              <a:rPr lang="en-US" dirty="0"/>
              <a:t>26. </a:t>
            </a:r>
            <a:endParaRPr lang="en-US" dirty="0" smtClean="0"/>
          </a:p>
          <a:p>
            <a:r>
              <a:rPr lang="en-US" dirty="0" smtClean="0"/>
              <a:t>Obviously </a:t>
            </a:r>
            <a:r>
              <a:rPr lang="en-US" dirty="0"/>
              <a:t>S is reversible, and we’ll call the reverse mapping </a:t>
            </a:r>
            <a:r>
              <a:rPr lang="en-US" dirty="0" smtClean="0"/>
              <a:t>S’: S’(1</a:t>
            </a:r>
            <a:r>
              <a:rPr lang="en-US" dirty="0"/>
              <a:t>) </a:t>
            </a:r>
            <a:r>
              <a:rPr lang="en-US" dirty="0" smtClean="0"/>
              <a:t>= </a:t>
            </a:r>
            <a:r>
              <a:rPr lang="en-US" dirty="0"/>
              <a:t>A, </a:t>
            </a:r>
            <a:r>
              <a:rPr lang="en-US" dirty="0" smtClean="0"/>
              <a:t>S’(2</a:t>
            </a:r>
            <a:r>
              <a:rPr lang="en-US" dirty="0"/>
              <a:t>) </a:t>
            </a:r>
            <a:r>
              <a:rPr lang="en-US" dirty="0" smtClean="0"/>
              <a:t>= </a:t>
            </a:r>
            <a:r>
              <a:rPr lang="en-US" dirty="0"/>
              <a:t>B, . . . , </a:t>
            </a:r>
            <a:r>
              <a:rPr lang="en-US" dirty="0" smtClean="0"/>
              <a:t>S’(26</a:t>
            </a:r>
            <a:r>
              <a:rPr lang="en-US" dirty="0"/>
              <a:t>) </a:t>
            </a:r>
            <a:r>
              <a:rPr lang="en-US" dirty="0" smtClean="0"/>
              <a:t>= </a:t>
            </a:r>
            <a:r>
              <a:rPr lang="en-US" dirty="0"/>
              <a:t>Z</a:t>
            </a:r>
            <a:r>
              <a:rPr lang="en-US" dirty="0" smtClean="0"/>
              <a:t>.</a:t>
            </a:r>
          </a:p>
          <a:p>
            <a:r>
              <a:rPr lang="en-US" dirty="0"/>
              <a:t>To encode our message, we break it up into two-character blocks. Suppose the first two characters form the block (D E).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apply the S mapping to this block to get (4 5). Now we multiply (4 5) </a:t>
            </a:r>
            <a:r>
              <a:rPr lang="en-US" dirty="0" smtClean="0"/>
              <a:t>X </a:t>
            </a:r>
            <a:r>
              <a:rPr lang="en-US" dirty="0"/>
              <a:t>M by treating (4 5) as the row of some </a:t>
            </a:r>
            <a:r>
              <a:rPr lang="en-US" dirty="0" smtClean="0"/>
              <a:t>matrix</a:t>
            </a:r>
          </a:p>
          <a:p>
            <a:pPr lvl="1"/>
            <a:r>
              <a:rPr lang="en-US" dirty="0" smtClean="0"/>
              <a:t> and then we </a:t>
            </a:r>
            <a:r>
              <a:rPr lang="en-US" dirty="0"/>
              <a:t>wrap around if the result exceeds </a:t>
            </a:r>
            <a:r>
              <a:rPr lang="en-US" dirty="0" smtClean="0"/>
              <a:t>25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63" y="5597236"/>
            <a:ext cx="4447310" cy="126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97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545" y="1904999"/>
            <a:ext cx="9421091" cy="4578927"/>
          </a:xfrm>
        </p:spPr>
        <p:txBody>
          <a:bodyPr/>
          <a:lstStyle/>
          <a:p>
            <a:r>
              <a:rPr lang="en-US" dirty="0"/>
              <a:t>Finally, apply the </a:t>
            </a:r>
            <a:r>
              <a:rPr lang="en-US" dirty="0" smtClean="0"/>
              <a:t>S’ </a:t>
            </a:r>
            <a:r>
              <a:rPr lang="en-US" dirty="0"/>
              <a:t>mapping to get from digits back to characters: </a:t>
            </a:r>
            <a:r>
              <a:rPr lang="en-US" dirty="0" smtClean="0"/>
              <a:t>S’ </a:t>
            </a:r>
            <a:r>
              <a:rPr lang="en-US" dirty="0"/>
              <a:t>(22 9) </a:t>
            </a:r>
            <a:r>
              <a:rPr lang="en-US" dirty="0" smtClean="0"/>
              <a:t>= </a:t>
            </a:r>
            <a:r>
              <a:rPr lang="en-US" dirty="0"/>
              <a:t>(V I).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completes the encoding, and (V I) is the ciphertext for the message block (D E). </a:t>
            </a:r>
            <a:endParaRPr lang="en-US" dirty="0" smtClean="0"/>
          </a:p>
          <a:p>
            <a:r>
              <a:rPr lang="en-US" dirty="0" smtClean="0"/>
              <a:t>Notice </a:t>
            </a:r>
            <a:r>
              <a:rPr lang="en-US" dirty="0"/>
              <a:t>that the digit 4 (i.e., the plaintext letter D) contributed to both the 22 (V) and the 9 (I), as did the digit 5 (i.e., the plaintext letter E).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diffusion (scattering) of the plaintext within the ciphertext is the advantage of a block </a:t>
            </a:r>
            <a:r>
              <a:rPr lang="en-US" dirty="0" smtClean="0"/>
              <a:t>cipher.</a:t>
            </a:r>
          </a:p>
          <a:p>
            <a:r>
              <a:rPr lang="en-US" dirty="0"/>
              <a:t>For decoding, we reverse the above steps. Starting with the ciphertext (V I), we first apply S to get (22 9).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then multiply (22 9) by </a:t>
            </a:r>
            <a:r>
              <a:rPr lang="en-US" dirty="0" smtClean="0"/>
              <a:t>M’, </a:t>
            </a:r>
            <a:r>
              <a:rPr lang="en-US" dirty="0"/>
              <a:t>the inverse of the encoding key (remembering to wrap around if the result exceeds 25):</a:t>
            </a:r>
          </a:p>
        </p:txBody>
      </p:sp>
    </p:spTree>
    <p:extLst>
      <p:ext uri="{BB962C8B-B14F-4D97-AF65-F5344CB8AC3E}">
        <p14:creationId xmlns:p14="http://schemas.microsoft.com/office/powerpoint/2010/main" val="1125882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637" y="624110"/>
            <a:ext cx="9564976" cy="113541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36" y="1905001"/>
            <a:ext cx="9564976" cy="4731326"/>
          </a:xfrm>
        </p:spPr>
        <p:txBody>
          <a:bodyPr/>
          <a:lstStyle/>
          <a:p>
            <a:r>
              <a:rPr lang="en-US" dirty="0"/>
              <a:t>Finally we apply </a:t>
            </a:r>
            <a:r>
              <a:rPr lang="en-US" dirty="0" smtClean="0"/>
              <a:t>S’ </a:t>
            </a:r>
            <a:r>
              <a:rPr lang="en-US" dirty="0"/>
              <a:t>to get </a:t>
            </a:r>
            <a:r>
              <a:rPr lang="en-US" dirty="0" smtClean="0"/>
              <a:t>back </a:t>
            </a:r>
            <a:r>
              <a:rPr lang="en-US" dirty="0" smtClean="0"/>
              <a:t>the </a:t>
            </a:r>
            <a:r>
              <a:rPr lang="en-US" dirty="0"/>
              <a:t>plaintext (D E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</a:t>
            </a:r>
            <a:r>
              <a:rPr lang="en-US" dirty="0" smtClean="0"/>
              <a:t>he steps of encoding and decoding for a block cipher are summarized below. </a:t>
            </a:r>
            <a:r>
              <a:rPr lang="en-US" dirty="0"/>
              <a:t>Again, the matrix M is the secret </a:t>
            </a:r>
            <a:r>
              <a:rPr lang="en-US" dirty="0" smtClean="0"/>
              <a:t>encryption </a:t>
            </a:r>
            <a:r>
              <a:rPr lang="en-US" dirty="0"/>
              <a:t>key, from which the decryption key </a:t>
            </a:r>
            <a:r>
              <a:rPr lang="en-US" dirty="0" smtClean="0"/>
              <a:t>M’ </a:t>
            </a:r>
            <a:r>
              <a:rPr lang="en-US" dirty="0"/>
              <a:t>can be derived.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18" y="2299855"/>
            <a:ext cx="4668981" cy="12469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746" y="4156365"/>
            <a:ext cx="6336865" cy="270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3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783" y="624110"/>
            <a:ext cx="9578830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5782" y="1905000"/>
            <a:ext cx="9578830" cy="4606636"/>
          </a:xfrm>
        </p:spPr>
        <p:txBody>
          <a:bodyPr/>
          <a:lstStyle/>
          <a:p>
            <a:r>
              <a:rPr lang="en-US" dirty="0"/>
              <a:t>Let us now move forward to </a:t>
            </a:r>
            <a:r>
              <a:rPr lang="en-US" b="1" dirty="0"/>
              <a:t>modern</a:t>
            </a:r>
            <a:r>
              <a:rPr lang="en-US" dirty="0"/>
              <a:t> times and examine how </a:t>
            </a:r>
            <a:r>
              <a:rPr lang="en-US" dirty="0" smtClean="0"/>
              <a:t>block cipher symmetric </a:t>
            </a:r>
            <a:r>
              <a:rPr lang="en-US" dirty="0"/>
              <a:t>key </a:t>
            </a:r>
            <a:r>
              <a:rPr lang="en-US" dirty="0" smtClean="0"/>
              <a:t>encryption </a:t>
            </a:r>
            <a:r>
              <a:rPr lang="en-US" dirty="0"/>
              <a:t>is done </a:t>
            </a:r>
            <a:r>
              <a:rPr lang="en-US" dirty="0" smtClean="0"/>
              <a:t>today</a:t>
            </a:r>
          </a:p>
          <a:p>
            <a:r>
              <a:rPr lang="en-US" dirty="0"/>
              <a:t>In a block cipher, the message to be encrypted is processed in blocks of k </a:t>
            </a:r>
            <a:r>
              <a:rPr lang="en-US" b="1" dirty="0"/>
              <a:t>bits</a:t>
            </a:r>
            <a:r>
              <a:rPr lang="en-US" dirty="0"/>
              <a:t>. For example,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k = 64, then the message is broken into 64-bit blocks, and each block is encrypted independently</a:t>
            </a:r>
            <a:r>
              <a:rPr lang="en-US" dirty="0" smtClean="0"/>
              <a:t>.</a:t>
            </a:r>
          </a:p>
          <a:p>
            <a:r>
              <a:rPr lang="en-US" dirty="0"/>
              <a:t>To encode a block, the cipher uses </a:t>
            </a:r>
            <a:r>
              <a:rPr lang="en-US" b="1" dirty="0"/>
              <a:t>a one-to-one </a:t>
            </a:r>
            <a:r>
              <a:rPr lang="en-US" b="1" dirty="0" smtClean="0"/>
              <a:t>mapping </a:t>
            </a:r>
            <a:r>
              <a:rPr lang="en-US" dirty="0"/>
              <a:t>to map the </a:t>
            </a:r>
            <a:r>
              <a:rPr lang="en-US" b="1" i="1" dirty="0"/>
              <a:t>k-bit block</a:t>
            </a:r>
            <a:r>
              <a:rPr lang="en-US" dirty="0"/>
              <a:t> of cleartext to a </a:t>
            </a:r>
            <a:r>
              <a:rPr lang="en-US" b="1" i="1" dirty="0"/>
              <a:t>k-bit block </a:t>
            </a:r>
            <a:r>
              <a:rPr lang="en-US" dirty="0"/>
              <a:t>of ciphertext</a:t>
            </a:r>
            <a:r>
              <a:rPr lang="en-US" dirty="0" smtClean="0"/>
              <a:t>.</a:t>
            </a:r>
          </a:p>
          <a:p>
            <a:r>
              <a:rPr lang="en-US" dirty="0"/>
              <a:t>Suppose that </a:t>
            </a:r>
            <a:r>
              <a:rPr lang="en-US" b="1" dirty="0"/>
              <a:t>k = 3</a:t>
            </a:r>
            <a:r>
              <a:rPr lang="en-US" dirty="0"/>
              <a:t>, so that the block cipher maps </a:t>
            </a:r>
            <a:r>
              <a:rPr lang="en-US" b="1" dirty="0"/>
              <a:t>3-bit inputs </a:t>
            </a:r>
            <a:r>
              <a:rPr lang="en-US" dirty="0"/>
              <a:t>(cleartext) to </a:t>
            </a:r>
            <a:r>
              <a:rPr lang="en-US" b="1" dirty="0"/>
              <a:t>3-bit</a:t>
            </a:r>
            <a:r>
              <a:rPr lang="en-US" dirty="0"/>
              <a:t> </a:t>
            </a:r>
            <a:r>
              <a:rPr lang="en-US" b="1" dirty="0"/>
              <a:t>outputs</a:t>
            </a:r>
            <a:r>
              <a:rPr lang="en-US" dirty="0"/>
              <a:t> (ciphertext). </a:t>
            </a:r>
            <a:endParaRPr lang="en-US" dirty="0" smtClean="0"/>
          </a:p>
          <a:p>
            <a:r>
              <a:rPr lang="en-US" dirty="0"/>
              <a:t>Notice that this is a </a:t>
            </a:r>
            <a:r>
              <a:rPr lang="en-US" b="1" dirty="0"/>
              <a:t>one-to-one mapping</a:t>
            </a:r>
            <a:r>
              <a:rPr lang="en-US" dirty="0"/>
              <a:t>; that is, </a:t>
            </a:r>
            <a:r>
              <a:rPr lang="en-US" b="1" dirty="0"/>
              <a:t>there is a different output for each input.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929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673" y="624110"/>
            <a:ext cx="9758939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5673" y="1904999"/>
            <a:ext cx="9758939" cy="4731327"/>
          </a:xfrm>
        </p:spPr>
        <p:txBody>
          <a:bodyPr/>
          <a:lstStyle/>
          <a:p>
            <a:r>
              <a:rPr lang="en-US" dirty="0"/>
              <a:t>One possible mapping is given in </a:t>
            </a:r>
            <a:r>
              <a:rPr lang="en-US" dirty="0" smtClean="0"/>
              <a:t>table below.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This block cipher breaks the message up into 3-bit blocks and encrypts each block </a:t>
            </a:r>
            <a:r>
              <a:rPr lang="en-US" dirty="0" smtClean="0"/>
              <a:t>according </a:t>
            </a:r>
            <a:r>
              <a:rPr lang="en-US" dirty="0"/>
              <a:t>to the above mapping</a:t>
            </a:r>
            <a:r>
              <a:rPr lang="en-US" dirty="0" smtClean="0"/>
              <a:t>.</a:t>
            </a:r>
          </a:p>
          <a:p>
            <a:r>
              <a:rPr lang="en-US" dirty="0"/>
              <a:t>note that the mapping in </a:t>
            </a:r>
            <a:r>
              <a:rPr lang="en-US" dirty="0" smtClean="0"/>
              <a:t>the table above </a:t>
            </a:r>
            <a:r>
              <a:rPr lang="en-US" dirty="0"/>
              <a:t>is just one mapping of many possible mappings.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836" y="2341418"/>
            <a:ext cx="6733309" cy="220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19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83" y="624110"/>
            <a:ext cx="9274030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0583" y="1905000"/>
            <a:ext cx="9274029" cy="4606636"/>
          </a:xfrm>
        </p:spPr>
        <p:txBody>
          <a:bodyPr/>
          <a:lstStyle/>
          <a:p>
            <a:r>
              <a:rPr lang="en-US" dirty="0"/>
              <a:t>observe that a mapping is nothing more than a </a:t>
            </a:r>
            <a:r>
              <a:rPr lang="en-US" b="1" dirty="0" smtClean="0"/>
              <a:t>permutation</a:t>
            </a:r>
            <a:r>
              <a:rPr lang="en-US" dirty="0" smtClean="0"/>
              <a:t> </a:t>
            </a:r>
            <a:r>
              <a:rPr lang="en-US" dirty="0"/>
              <a:t>of all the possible inputs.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</a:t>
            </a:r>
            <a:r>
              <a:rPr lang="en-US" dirty="0" smtClean="0"/>
              <a:t>2^ </a:t>
            </a:r>
            <a:r>
              <a:rPr lang="en-US" dirty="0"/>
              <a:t>3 (= 8) possible inputs (listed under the input columns). These eight inputs can be permuted in 8! = 40,320 different ways</a:t>
            </a:r>
            <a:r>
              <a:rPr lang="en-US" dirty="0" smtClean="0"/>
              <a:t>.</a:t>
            </a:r>
          </a:p>
          <a:p>
            <a:r>
              <a:rPr lang="en-US" dirty="0"/>
              <a:t>Since each of these permutations specifies a mapping, there are 40,320 possible </a:t>
            </a:r>
            <a:r>
              <a:rPr lang="en-US" dirty="0" smtClean="0"/>
              <a:t>mappings between input and output.</a:t>
            </a:r>
          </a:p>
          <a:p>
            <a:r>
              <a:rPr lang="en-US" dirty="0"/>
              <a:t>The brute-force attack for this cipher is to try to decrypt ciphtertext by using all mappings.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only 40,320 mappings (when k = 3), this can quickly be </a:t>
            </a:r>
            <a:r>
              <a:rPr lang="en-US" dirty="0" smtClean="0"/>
              <a:t>accomplished </a:t>
            </a:r>
            <a:r>
              <a:rPr lang="en-US" dirty="0"/>
              <a:t>on a desktop PC. </a:t>
            </a:r>
            <a:endParaRPr lang="en-US" dirty="0" smtClean="0"/>
          </a:p>
          <a:p>
            <a:r>
              <a:rPr lang="en-US" b="1" dirty="0" smtClean="0"/>
              <a:t>To </a:t>
            </a:r>
            <a:r>
              <a:rPr lang="en-US" b="1" dirty="0"/>
              <a:t>thwart brute-force attacks, block ciphers typically use much larger blocks, consisting of k = 64 bits or even larger.</a:t>
            </a:r>
          </a:p>
        </p:txBody>
      </p:sp>
    </p:spTree>
    <p:extLst>
      <p:ext uri="{BB962C8B-B14F-4D97-AF65-F5344CB8AC3E}">
        <p14:creationId xmlns:p14="http://schemas.microsoft.com/office/powerpoint/2010/main" val="233399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83" y="624110"/>
            <a:ext cx="9426430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3" y="1904999"/>
            <a:ext cx="9426429" cy="4565073"/>
          </a:xfrm>
        </p:spPr>
        <p:txBody>
          <a:bodyPr/>
          <a:lstStyle/>
          <a:p>
            <a:r>
              <a:rPr lang="en-US" dirty="0"/>
              <a:t>Note that the number of possible mappings for a general k-block cipher is </a:t>
            </a:r>
            <a:r>
              <a:rPr lang="en-US" dirty="0" smtClean="0"/>
              <a:t>2^k </a:t>
            </a:r>
            <a:r>
              <a:rPr lang="en-US" dirty="0"/>
              <a:t>!, which is astronomical for even moderate values of k (such as k = 64). </a:t>
            </a:r>
            <a:endParaRPr lang="en-US" dirty="0" smtClean="0"/>
          </a:p>
          <a:p>
            <a:r>
              <a:rPr lang="en-US" b="1" dirty="0"/>
              <a:t>Although full-table block ciphers</a:t>
            </a:r>
            <a:r>
              <a:rPr lang="en-US" b="1" dirty="0" smtClean="0"/>
              <a:t>, </a:t>
            </a:r>
            <a:r>
              <a:rPr lang="en-US" b="1" dirty="0"/>
              <a:t>with moderate values of k can produce robust symmetric key encryption </a:t>
            </a:r>
            <a:r>
              <a:rPr lang="en-US" b="1" dirty="0" smtClean="0"/>
              <a:t>schemes</a:t>
            </a:r>
            <a:r>
              <a:rPr lang="en-US" dirty="0"/>
              <a:t>.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b="1" dirty="0"/>
              <a:t>they are unfortunately </a:t>
            </a:r>
            <a:r>
              <a:rPr lang="en-US" b="1" dirty="0" smtClean="0"/>
              <a:t>difficult </a:t>
            </a:r>
            <a:r>
              <a:rPr lang="en-US" b="1" dirty="0"/>
              <a:t>to implement</a:t>
            </a:r>
            <a:r>
              <a:rPr lang="en-US" b="1" dirty="0" smtClean="0"/>
              <a:t>.</a:t>
            </a:r>
          </a:p>
          <a:p>
            <a:r>
              <a:rPr lang="en-US" dirty="0"/>
              <a:t>For k = 64 and for a given mapping, Alice and Bob would need to maintain a table with </a:t>
            </a:r>
            <a:r>
              <a:rPr lang="en-US" dirty="0" smtClean="0"/>
              <a:t>2^64 </a:t>
            </a:r>
            <a:r>
              <a:rPr lang="en-US" dirty="0"/>
              <a:t>input values, which is an infeasible task</a:t>
            </a:r>
            <a:r>
              <a:rPr lang="en-US" dirty="0" smtClean="0"/>
              <a:t>.</a:t>
            </a:r>
          </a:p>
          <a:p>
            <a:r>
              <a:rPr lang="en-US" dirty="0"/>
              <a:t>Instead, block ciphers typically use </a:t>
            </a:r>
            <a:r>
              <a:rPr lang="en-US" b="1" dirty="0"/>
              <a:t>functions </a:t>
            </a:r>
            <a:r>
              <a:rPr lang="en-US" dirty="0"/>
              <a:t>that simulate randomly permuted tables</a:t>
            </a:r>
            <a:r>
              <a:rPr lang="en-US" dirty="0" smtClean="0"/>
              <a:t>.</a:t>
            </a:r>
          </a:p>
          <a:p>
            <a:r>
              <a:rPr lang="en-US" dirty="0"/>
              <a:t>An example of such a function for k = 64 bits is shown in </a:t>
            </a:r>
            <a:r>
              <a:rPr lang="en-US" dirty="0" smtClean="0"/>
              <a:t>on the next slide.</a:t>
            </a:r>
          </a:p>
          <a:p>
            <a:r>
              <a:rPr lang="en-US" dirty="0" smtClean="0"/>
              <a:t> </a:t>
            </a:r>
            <a:r>
              <a:rPr lang="en-US" dirty="0"/>
              <a:t>The function first breaks a 64-bit block into 8 chunks, with each chunk consisting of 8 bits.</a:t>
            </a:r>
          </a:p>
        </p:txBody>
      </p:sp>
    </p:spTree>
    <p:extLst>
      <p:ext uri="{BB962C8B-B14F-4D97-AF65-F5344CB8AC3E}">
        <p14:creationId xmlns:p14="http://schemas.microsoft.com/office/powerpoint/2010/main" val="29396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4327" y="624110"/>
            <a:ext cx="9440285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327" y="1904999"/>
            <a:ext cx="9440285" cy="4662055"/>
          </a:xfrm>
        </p:spPr>
        <p:txBody>
          <a:bodyPr/>
          <a:lstStyle/>
          <a:p>
            <a:r>
              <a:rPr lang="en-US" dirty="0"/>
              <a:t>Each 8-bit chunk is processed by an 8-bit to 8-bit table, which is of manageable size. For example, the first chunk is processed by the table denoted by T1 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219" y="2673927"/>
            <a:ext cx="6297757" cy="367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42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783" y="624110"/>
            <a:ext cx="9578830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5782" y="1905000"/>
            <a:ext cx="9578830" cy="4551218"/>
          </a:xfrm>
        </p:spPr>
        <p:txBody>
          <a:bodyPr/>
          <a:lstStyle/>
          <a:p>
            <a:r>
              <a:rPr lang="en-US" dirty="0"/>
              <a:t>Next, the 8 output chunks are reassembled into a 64-bit block.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positions of the 64 bits in the block are then scrambled (permuted) to produce a 64-bit output.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output is fed back to the 64-bit input, where another cycle begins. </a:t>
            </a:r>
            <a:endParaRPr lang="en-US" dirty="0" smtClean="0"/>
          </a:p>
          <a:p>
            <a:r>
              <a:rPr lang="en-US" dirty="0"/>
              <a:t>After n such cycles, the function provides a 64-bit block of </a:t>
            </a:r>
            <a:r>
              <a:rPr lang="en-US" b="1" dirty="0" smtClean="0"/>
              <a:t>ciphertext</a:t>
            </a:r>
          </a:p>
          <a:p>
            <a:r>
              <a:rPr lang="en-US" dirty="0"/>
              <a:t>Today there are a number of popular block ciphers</a:t>
            </a:r>
            <a:r>
              <a:rPr lang="en-US" dirty="0" smtClean="0"/>
              <a:t>,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including </a:t>
            </a:r>
            <a:r>
              <a:rPr lang="en-US" b="1" dirty="0" smtClean="0"/>
              <a:t>Data </a:t>
            </a:r>
            <a:r>
              <a:rPr lang="en-US" b="1" dirty="0"/>
              <a:t>Encryption </a:t>
            </a:r>
            <a:r>
              <a:rPr lang="en-US" b="1" dirty="0" smtClean="0"/>
              <a:t>Standard</a:t>
            </a:r>
            <a:r>
              <a:rPr lang="en-US" dirty="0" smtClean="0"/>
              <a:t>(DES), </a:t>
            </a:r>
            <a:r>
              <a:rPr lang="en-US" b="1" dirty="0" smtClean="0"/>
              <a:t>Triple DES </a:t>
            </a:r>
            <a:r>
              <a:rPr lang="en-US" dirty="0" smtClean="0"/>
              <a:t>(3DES), </a:t>
            </a:r>
            <a:r>
              <a:rPr lang="en-US" dirty="0"/>
              <a:t>and </a:t>
            </a:r>
            <a:r>
              <a:rPr lang="en-US" b="1" dirty="0" smtClean="0"/>
              <a:t>Advanced Encryption Standard</a:t>
            </a:r>
            <a:r>
              <a:rPr lang="en-US" dirty="0" smtClean="0"/>
              <a:t>(AES).</a:t>
            </a:r>
          </a:p>
          <a:p>
            <a:r>
              <a:rPr lang="en-US" dirty="0" smtClean="0"/>
              <a:t> </a:t>
            </a:r>
            <a:r>
              <a:rPr lang="en-US" dirty="0"/>
              <a:t>Each of these standards uses functions, rather than predetermined </a:t>
            </a:r>
            <a:r>
              <a:rPr lang="en-US" dirty="0" smtClean="0"/>
              <a:t>tables.</a:t>
            </a:r>
          </a:p>
          <a:p>
            <a:r>
              <a:rPr lang="en-US" dirty="0"/>
              <a:t>DES uses 64-bit blocks with a 56-bit key. AES uses 128-bit blocks and can operate with keys that are 128, 192, and 256 bits long.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4505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83" y="624110"/>
            <a:ext cx="9426430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2" y="1904999"/>
            <a:ext cx="9426430" cy="4634345"/>
          </a:xfrm>
        </p:spPr>
        <p:txBody>
          <a:bodyPr/>
          <a:lstStyle/>
          <a:p>
            <a:r>
              <a:rPr lang="en-US" b="1" dirty="0" smtClean="0"/>
              <a:t>DES</a:t>
            </a:r>
          </a:p>
          <a:p>
            <a:r>
              <a:rPr lang="en-US" dirty="0"/>
              <a:t>DES is a block cipher, and the blocks are 64 bits long, meaning that 64 </a:t>
            </a:r>
            <a:r>
              <a:rPr lang="en-US" dirty="0" smtClean="0"/>
              <a:t>plaintext </a:t>
            </a:r>
            <a:r>
              <a:rPr lang="en-US" dirty="0"/>
              <a:t>bits at a time are processed into 64 ciphertext bits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key is a 64-bit binary key, although only 56 bits are actually used.</a:t>
            </a:r>
            <a:endParaRPr lang="en-US" b="1" dirty="0" smtClean="0"/>
          </a:p>
          <a:p>
            <a:r>
              <a:rPr lang="en-US" b="1" dirty="0" smtClean="0"/>
              <a:t>DES </a:t>
            </a:r>
            <a:r>
              <a:rPr lang="en-US" b="1" dirty="0"/>
              <a:t>is an encryption </a:t>
            </a:r>
            <a:r>
              <a:rPr lang="en-US" b="1" dirty="0" smtClean="0"/>
              <a:t>algorithm </a:t>
            </a:r>
            <a:r>
              <a:rPr lang="en-US" b="1" dirty="0"/>
              <a:t>developed by IBM in the 1970s for the U.S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DES </a:t>
            </a:r>
            <a:r>
              <a:rPr lang="en-US" dirty="0"/>
              <a:t>algorithm actually uses very simple operations—however, it uses them over and </a:t>
            </a:r>
            <a:r>
              <a:rPr lang="en-US" dirty="0" smtClean="0"/>
              <a:t>over</a:t>
            </a:r>
          </a:p>
          <a:p>
            <a:r>
              <a:rPr lang="en-US" dirty="0"/>
              <a:t>DES was designed to protect electronic information, so the plaintext is a binary string of 0s and 1s, just as it is stored in a computer. </a:t>
            </a:r>
            <a:endParaRPr lang="en-US" dirty="0" smtClean="0"/>
          </a:p>
          <a:p>
            <a:r>
              <a:rPr lang="en-US" dirty="0"/>
              <a:t>this means that ordinary text has already undergone an encoding using </a:t>
            </a:r>
            <a:r>
              <a:rPr lang="en-US" b="1" dirty="0"/>
              <a:t>ASCII</a:t>
            </a:r>
            <a:r>
              <a:rPr lang="en-US" dirty="0"/>
              <a:t> or </a:t>
            </a:r>
            <a:r>
              <a:rPr lang="en-US" b="1" dirty="0"/>
              <a:t>Unicode</a:t>
            </a:r>
            <a:r>
              <a:rPr lang="en-US" dirty="0"/>
              <a:t> to convert characters to bit strings.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82038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927" y="624110"/>
            <a:ext cx="9592685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927" y="1905000"/>
            <a:ext cx="9592685" cy="4606636"/>
          </a:xfrm>
        </p:spPr>
        <p:txBody>
          <a:bodyPr/>
          <a:lstStyle/>
          <a:p>
            <a:r>
              <a:rPr lang="en-US" dirty="0"/>
              <a:t>The algorithm begins by sending the plaintext 64-bit string through an initial permutation (rearrangement).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algorithm then cycles through </a:t>
            </a:r>
            <a:r>
              <a:rPr lang="en-US" dirty="0" smtClean="0"/>
              <a:t>16 </a:t>
            </a:r>
            <a:r>
              <a:rPr lang="en-US" dirty="0"/>
              <a:t>“rounds.” Each round </a:t>
            </a:r>
            <a:r>
              <a:rPr lang="en-US" dirty="0" err="1"/>
              <a:t>i</a:t>
            </a:r>
            <a:r>
              <a:rPr lang="en-US" dirty="0"/>
              <a:t> performs the following steps</a:t>
            </a:r>
            <a:r>
              <a:rPr lang="en-US" dirty="0" smtClean="0"/>
              <a:t>:</a:t>
            </a:r>
          </a:p>
          <a:p>
            <a:r>
              <a:rPr lang="en-US" dirty="0"/>
              <a:t>1. The incoming 64-bit block is split into a left half Li and a right half 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The right half </a:t>
            </a:r>
            <a:r>
              <a:rPr lang="en-US" dirty="0" err="1"/>
              <a:t>Ri</a:t>
            </a:r>
            <a:r>
              <a:rPr lang="en-US" dirty="0"/>
              <a:t> gets passed through unchanged to become the left half of the next round, </a:t>
            </a:r>
            <a:r>
              <a:rPr lang="en-US" dirty="0" smtClean="0"/>
              <a:t>Li+1.</a:t>
            </a:r>
          </a:p>
          <a:p>
            <a:r>
              <a:rPr lang="en-US" dirty="0"/>
              <a:t>2. In addition, the 32 bits in the right half get permuted according to a fixed formula and then expanded to 48 bits by duplicating some of the bits. </a:t>
            </a:r>
            <a:endParaRPr lang="en-US" dirty="0" smtClean="0"/>
          </a:p>
          <a:p>
            <a:r>
              <a:rPr lang="en-US" dirty="0" smtClean="0"/>
              <a:t>3. Meanwhile</a:t>
            </a:r>
            <a:r>
              <a:rPr lang="en-US" dirty="0"/>
              <a:t>, the 56-bit key is also permuted (the result is passed on as the key to the next round) and then reduced to 48 bits by </a:t>
            </a:r>
            <a:r>
              <a:rPr lang="en-US" dirty="0" smtClean="0"/>
              <a:t>omitting </a:t>
            </a:r>
            <a:r>
              <a:rPr lang="en-US" dirty="0"/>
              <a:t>some of the bits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These two 48-bit strings are matched bit by bit, using an XOR (exclusive OR) gate for each bit</a:t>
            </a:r>
          </a:p>
        </p:txBody>
      </p:sp>
    </p:spTree>
    <p:extLst>
      <p:ext uri="{BB962C8B-B14F-4D97-AF65-F5344CB8AC3E}">
        <p14:creationId xmlns:p14="http://schemas.microsoft.com/office/powerpoint/2010/main" val="1363681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207818"/>
            <a:ext cx="8911687" cy="1094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709" y="1302327"/>
            <a:ext cx="5167745" cy="51218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17" y="1302327"/>
            <a:ext cx="4591193" cy="512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33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149" y="1780309"/>
            <a:ext cx="7121236" cy="39416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37709" y="581825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Data Encryption Standard. (a) General outline. (b) Detail of one iteration. The circled + means exclusive OR</a:t>
            </a:r>
          </a:p>
        </p:txBody>
      </p:sp>
    </p:spTree>
    <p:extLst>
      <p:ext uri="{BB962C8B-B14F-4D97-AF65-F5344CB8AC3E}">
        <p14:creationId xmlns:p14="http://schemas.microsoft.com/office/powerpoint/2010/main" val="2949065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1" y="624110"/>
            <a:ext cx="9675812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4999"/>
            <a:ext cx="9675812" cy="4731327"/>
          </a:xfrm>
        </p:spPr>
        <p:txBody>
          <a:bodyPr/>
          <a:lstStyle/>
          <a:p>
            <a:r>
              <a:rPr lang="en-US" dirty="0"/>
              <a:t>An outline of DES is shown </a:t>
            </a:r>
            <a:r>
              <a:rPr lang="en-US" dirty="0" smtClean="0"/>
              <a:t>on the previous </a:t>
            </a:r>
            <a:r>
              <a:rPr lang="en-US" dirty="0" smtClean="0"/>
              <a:t>slide. </a:t>
            </a:r>
            <a:r>
              <a:rPr lang="en-US" dirty="0"/>
              <a:t>Plaintext is encrypted in blocks of 64 bits, yielding 64 bits of ciphertext.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algorithm, which is parameterized by a 56-bit key, has </a:t>
            </a:r>
            <a:r>
              <a:rPr lang="en-US" dirty="0" smtClean="0"/>
              <a:t>16 </a:t>
            </a:r>
            <a:r>
              <a:rPr lang="en-US" dirty="0"/>
              <a:t>distinct stages. The first stage is a key-independent </a:t>
            </a:r>
            <a:r>
              <a:rPr lang="en-US" dirty="0" smtClean="0"/>
              <a:t>transposition </a:t>
            </a:r>
            <a:r>
              <a:rPr lang="en-US" dirty="0"/>
              <a:t>on the 64-bit plaintext.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last stage is the exact </a:t>
            </a:r>
            <a:r>
              <a:rPr lang="en-US" b="1" dirty="0"/>
              <a:t>inverse </a:t>
            </a:r>
            <a:r>
              <a:rPr lang="en-US" dirty="0"/>
              <a:t>of this </a:t>
            </a:r>
            <a:r>
              <a:rPr lang="en-US" b="1" dirty="0" smtClean="0"/>
              <a:t>transposition</a:t>
            </a:r>
            <a:r>
              <a:rPr lang="en-US" dirty="0"/>
              <a:t>. The stage prior to the last one exchanges the leftmost 32 bits with the </a:t>
            </a:r>
            <a:r>
              <a:rPr lang="en-US" dirty="0" smtClean="0"/>
              <a:t>rightmost </a:t>
            </a:r>
            <a:r>
              <a:rPr lang="en-US" dirty="0"/>
              <a:t>32 bits.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remaining 16 stages are functionally identical but are </a:t>
            </a:r>
            <a:r>
              <a:rPr lang="en-US" dirty="0" smtClean="0"/>
              <a:t>parameterized </a:t>
            </a:r>
            <a:r>
              <a:rPr lang="en-US" dirty="0"/>
              <a:t>by different functions of the key. </a:t>
            </a:r>
            <a:endParaRPr lang="en-US" dirty="0" smtClean="0"/>
          </a:p>
          <a:p>
            <a:r>
              <a:rPr lang="en-US" b="1" dirty="0" smtClean="0"/>
              <a:t>The </a:t>
            </a:r>
            <a:r>
              <a:rPr lang="en-US" b="1" dirty="0"/>
              <a:t>algorithm has been designed to allow decryption to be done with the same key as encryption, a property needed in any symmetric-key algorithm. </a:t>
            </a:r>
            <a:endParaRPr lang="en-US" b="1" dirty="0" smtClean="0"/>
          </a:p>
          <a:p>
            <a:r>
              <a:rPr lang="en-US" b="1" dirty="0" smtClean="0"/>
              <a:t>The </a:t>
            </a:r>
            <a:r>
              <a:rPr lang="en-US" b="1" dirty="0"/>
              <a:t>steps are just run in the reverse order</a:t>
            </a:r>
          </a:p>
        </p:txBody>
      </p:sp>
    </p:spTree>
    <p:extLst>
      <p:ext uri="{BB962C8B-B14F-4D97-AF65-F5344CB8AC3E}">
        <p14:creationId xmlns:p14="http://schemas.microsoft.com/office/powerpoint/2010/main" val="1531455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9745" y="624110"/>
            <a:ext cx="9384867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745" y="1904999"/>
            <a:ext cx="9384867" cy="4662055"/>
          </a:xfrm>
        </p:spPr>
        <p:txBody>
          <a:bodyPr/>
          <a:lstStyle/>
          <a:p>
            <a:r>
              <a:rPr lang="en-US" dirty="0" smtClean="0"/>
              <a:t>4. The </a:t>
            </a:r>
            <a:r>
              <a:rPr lang="en-US" dirty="0"/>
              <a:t>resulting 48-bit string undergoes a substitution and reduction to emerge as a 32-bit string.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string is permuted one more time, and the resulting 32-bit string is matched bit by bit, using XOR gates, with the left half Li of the input</a:t>
            </a:r>
            <a:r>
              <a:rPr lang="en-US" dirty="0" smtClean="0"/>
              <a:t>.</a:t>
            </a:r>
          </a:p>
          <a:p>
            <a:r>
              <a:rPr lang="en-US" dirty="0"/>
              <a:t>The result is passed to the next round as the new right half </a:t>
            </a:r>
            <a:r>
              <a:rPr lang="en-US" dirty="0" smtClean="0"/>
              <a:t>Ri+1</a:t>
            </a:r>
          </a:p>
          <a:p>
            <a:r>
              <a:rPr lang="en-US" b="1" dirty="0"/>
              <a:t>After all 16 rounds are complete, the final left and right halves are </a:t>
            </a:r>
            <a:r>
              <a:rPr lang="en-US" b="1" dirty="0" smtClean="0"/>
              <a:t>recombined </a:t>
            </a:r>
            <a:r>
              <a:rPr lang="en-US" b="1" dirty="0"/>
              <a:t>into a 64-bit string that is permuted one more time, </a:t>
            </a:r>
            <a:endParaRPr lang="en-US" b="1" dirty="0" smtClean="0"/>
          </a:p>
          <a:p>
            <a:pPr lvl="1"/>
            <a:r>
              <a:rPr lang="en-US" dirty="0" smtClean="0"/>
              <a:t>and </a:t>
            </a:r>
            <a:r>
              <a:rPr lang="en-US" dirty="0"/>
              <a:t>the resulting 64-bit string is the ciphertext</a:t>
            </a:r>
            <a:r>
              <a:rPr lang="en-US" dirty="0" smtClean="0"/>
              <a:t>.</a:t>
            </a:r>
          </a:p>
          <a:p>
            <a:r>
              <a:rPr lang="en-US" b="1" dirty="0"/>
              <a:t>Triple DES </a:t>
            </a:r>
            <a:r>
              <a:rPr lang="en-US" dirty="0"/>
              <a:t>improves the security of DES; </a:t>
            </a:r>
            <a:r>
              <a:rPr lang="en-US" b="1" dirty="0"/>
              <a:t>it requires two 56-bit keys </a:t>
            </a:r>
            <a:r>
              <a:rPr lang="en-US" dirty="0"/>
              <a:t>(which can be thought of as a 112-bit key length), and runs the DES algorithm three times: </a:t>
            </a:r>
            <a:endParaRPr lang="en-US" dirty="0" smtClean="0"/>
          </a:p>
          <a:p>
            <a:r>
              <a:rPr lang="en-US" dirty="0" smtClean="0"/>
              <a:t>Encode </a:t>
            </a:r>
            <a:r>
              <a:rPr lang="en-US" dirty="0"/>
              <a:t>using key 1, decode the result using key 2, encode the result using key 1 again.</a:t>
            </a:r>
          </a:p>
        </p:txBody>
      </p:sp>
    </p:spTree>
    <p:extLst>
      <p:ext uri="{BB962C8B-B14F-4D97-AF65-F5344CB8AC3E}">
        <p14:creationId xmlns:p14="http://schemas.microsoft.com/office/powerpoint/2010/main" val="370543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2145" y="624110"/>
            <a:ext cx="9232467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801091"/>
            <a:ext cx="8915400" cy="4835236"/>
          </a:xfrm>
        </p:spPr>
        <p:txBody>
          <a:bodyPr/>
          <a:lstStyle/>
          <a:p>
            <a:r>
              <a:rPr lang="en-US" dirty="0"/>
              <a:t>Concerns about the eventual breakdown of DES in the face of ever-increasing computing power </a:t>
            </a:r>
            <a:r>
              <a:rPr lang="en-US" dirty="0" smtClean="0"/>
              <a:t>prompted introduction of </a:t>
            </a:r>
            <a:r>
              <a:rPr lang="en-US" b="1" dirty="0" smtClean="0"/>
              <a:t>AES</a:t>
            </a:r>
          </a:p>
          <a:p>
            <a:r>
              <a:rPr lang="en-US" dirty="0"/>
              <a:t>AES </a:t>
            </a:r>
            <a:r>
              <a:rPr lang="en-US" b="1" dirty="0" smtClean="0"/>
              <a:t>Advanced </a:t>
            </a:r>
            <a:r>
              <a:rPr lang="en-US" b="1" dirty="0"/>
              <a:t>Encryption </a:t>
            </a:r>
            <a:r>
              <a:rPr lang="en-US" b="1" dirty="0" smtClean="0"/>
              <a:t>Standard</a:t>
            </a:r>
            <a:r>
              <a:rPr lang="en-US" dirty="0" smtClean="0"/>
              <a:t> </a:t>
            </a:r>
            <a:r>
              <a:rPr lang="en-US" dirty="0"/>
              <a:t>is based on the </a:t>
            </a:r>
            <a:r>
              <a:rPr lang="en-US" dirty="0" err="1"/>
              <a:t>Rijndael</a:t>
            </a:r>
            <a:r>
              <a:rPr lang="en-US" dirty="0"/>
              <a:t> (pronounced </a:t>
            </a:r>
            <a:r>
              <a:rPr lang="en-US" dirty="0" err="1" smtClean="0"/>
              <a:t>Rin</a:t>
            </a:r>
            <a:r>
              <a:rPr lang="en-US" dirty="0" smtClean="0"/>
              <a:t>-dahl algorithm.</a:t>
            </a:r>
          </a:p>
          <a:p>
            <a:r>
              <a:rPr lang="en-US" b="1" dirty="0"/>
              <a:t>Like DES, AES uses </a:t>
            </a:r>
            <a:r>
              <a:rPr lang="en-US" b="1" dirty="0" smtClean="0"/>
              <a:t>successive </a:t>
            </a:r>
            <a:r>
              <a:rPr lang="en-US" b="1" dirty="0"/>
              <a:t>rounds of computations that mix up the data and the key. </a:t>
            </a:r>
            <a:endParaRPr lang="en-US" b="1" dirty="0" smtClean="0"/>
          </a:p>
          <a:p>
            <a:r>
              <a:rPr lang="en-US" b="1" dirty="0" smtClean="0"/>
              <a:t>The </a:t>
            </a:r>
            <a:r>
              <a:rPr lang="en-US" b="1" dirty="0"/>
              <a:t>key length can be 128, 192, or even 256 bits</a:t>
            </a:r>
            <a:r>
              <a:rPr lang="en-US" dirty="0"/>
              <a:t>, and the algorithm appears to be very efficient.  </a:t>
            </a:r>
            <a:endParaRPr lang="en-US" dirty="0" smtClean="0"/>
          </a:p>
          <a:p>
            <a:r>
              <a:rPr lang="en-US" dirty="0"/>
              <a:t>From a mathematical perspective, </a:t>
            </a:r>
            <a:r>
              <a:rPr lang="en-US" dirty="0" err="1"/>
              <a:t>Rijndael</a:t>
            </a:r>
            <a:r>
              <a:rPr lang="en-US" dirty="0"/>
              <a:t> is based on Galois field theory, which gives it some provable security properties.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it can also be viewed as C code, without getting into the mathematics</a:t>
            </a:r>
            <a:r>
              <a:rPr lang="en-US" dirty="0" smtClean="0"/>
              <a:t>.</a:t>
            </a:r>
          </a:p>
          <a:p>
            <a:r>
              <a:rPr lang="en-US" dirty="0"/>
              <a:t>Like DES, </a:t>
            </a:r>
            <a:r>
              <a:rPr lang="en-US" dirty="0" err="1"/>
              <a:t>Rijndael</a:t>
            </a:r>
            <a:r>
              <a:rPr lang="en-US" dirty="0"/>
              <a:t> uses substitution and permutations, and it also uses </a:t>
            </a:r>
            <a:r>
              <a:rPr lang="en-US" dirty="0" smtClean="0"/>
              <a:t>multiple </a:t>
            </a:r>
            <a:r>
              <a:rPr lang="en-US" dirty="0"/>
              <a:t>rounds.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9858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055" y="624110"/>
            <a:ext cx="9509557" cy="1280890"/>
          </a:xfrm>
        </p:spPr>
        <p:txBody>
          <a:bodyPr/>
          <a:lstStyle/>
          <a:p>
            <a:pPr algn="ctr"/>
            <a:r>
              <a:rPr lang="en-US" dirty="0"/>
              <a:t>CONFIDENTIALITY - SYMMETRIC KEY CRYPTO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055" y="1904999"/>
            <a:ext cx="9509557" cy="4828309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2400" b="1" i="1" dirty="0" smtClean="0"/>
              <a:t>THE END OF LECTURE 2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25872506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1678</TotalTime>
  <Words>3677</Words>
  <Application>Microsoft Office PowerPoint</Application>
  <PresentationFormat>Widescreen</PresentationFormat>
  <Paragraphs>245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Century Gothic</vt:lpstr>
      <vt:lpstr>Wingdings</vt:lpstr>
      <vt:lpstr>Wingdings 3</vt:lpstr>
      <vt:lpstr>Wisp</vt:lpstr>
      <vt:lpstr>Introduction to Cryptography</vt:lpstr>
      <vt:lpstr>CONFIDENTIALITY - SYMMETRIC KEY CRYPTO SYSTEMS</vt:lpstr>
      <vt:lpstr>CONFIDENTIALITY - SYMMETRIC KEY CRYPTO SYSTEMS</vt:lpstr>
      <vt:lpstr>CONFIDENTIALITY - SYMMETRIC KEY CRYPTO SYSTEMS 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  <vt:lpstr>CONFIDENTIALITY - SYMMETRIC KEY CRYPTO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Cryptography</dc:title>
  <dc:creator>HP</dc:creator>
  <cp:lastModifiedBy>HP</cp:lastModifiedBy>
  <cp:revision>76</cp:revision>
  <dcterms:created xsi:type="dcterms:W3CDTF">2023-02-09T14:02:51Z</dcterms:created>
  <dcterms:modified xsi:type="dcterms:W3CDTF">2023-02-20T10:16:28Z</dcterms:modified>
</cp:coreProperties>
</file>