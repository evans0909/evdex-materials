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72" r:id="rId11"/>
    <p:sldId id="263" r:id="rId12"/>
    <p:sldId id="264" r:id="rId13"/>
    <p:sldId id="265" r:id="rId14"/>
    <p:sldId id="266" r:id="rId15"/>
    <p:sldId id="268" r:id="rId16"/>
    <p:sldId id="269" r:id="rId17"/>
    <p:sldId id="267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1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74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3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24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00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6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27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10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35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7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8771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35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6693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28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73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7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DADD0-B6EA-4ABC-BF9F-90C6597FC68F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AEB7BA3-76FF-4B6E-BD6A-E2850D5F8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0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Cryptography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STREAM CIPHERS –RC4: PUBLIC KEY CRYPTOSYSTEMS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6257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143" y="624110"/>
            <a:ext cx="9327469" cy="12046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STREAM CIPHERS –RC4: PUBLIC KEY CRYPTOSYSTEMS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43" y="1828800"/>
            <a:ext cx="9327469" cy="4891314"/>
          </a:xfrm>
        </p:spPr>
        <p:txBody>
          <a:bodyPr>
            <a:normAutofit/>
          </a:bodyPr>
          <a:lstStyle/>
          <a:p>
            <a:r>
              <a:rPr lang="en-US" dirty="0"/>
              <a:t>For more than 2,000 </a:t>
            </a:r>
            <a:r>
              <a:rPr lang="en-US" dirty="0" smtClean="0"/>
              <a:t>years, </a:t>
            </a:r>
            <a:r>
              <a:rPr lang="en-US" dirty="0"/>
              <a:t>encrypted communication required that the two communicating </a:t>
            </a:r>
            <a:r>
              <a:rPr lang="en-US" b="1" dirty="0"/>
              <a:t>parties share a </a:t>
            </a:r>
            <a:r>
              <a:rPr lang="en-US" b="1" dirty="0" smtClean="0"/>
              <a:t>common secret</a:t>
            </a:r>
          </a:p>
          <a:p>
            <a:pPr lvl="1"/>
            <a:r>
              <a:rPr lang="en-US" dirty="0" smtClean="0"/>
              <a:t>—</a:t>
            </a:r>
            <a:r>
              <a:rPr lang="en-US" dirty="0"/>
              <a:t>the symmetric key used for encryption and </a:t>
            </a:r>
            <a:r>
              <a:rPr lang="en-US" dirty="0" smtClean="0"/>
              <a:t>decryption</a:t>
            </a:r>
            <a:endParaRPr lang="en-US" dirty="0"/>
          </a:p>
          <a:p>
            <a:r>
              <a:rPr lang="en-US" dirty="0" smtClean="0"/>
              <a:t>As a matter of fact, the </a:t>
            </a:r>
            <a:r>
              <a:rPr lang="en-US" dirty="0"/>
              <a:t>encryption algorithms we have discussed so far have all been symmetric encryption algorithms, </a:t>
            </a:r>
            <a:endParaRPr lang="en-US" dirty="0" smtClean="0"/>
          </a:p>
          <a:p>
            <a:pPr lvl="1"/>
            <a:r>
              <a:rPr lang="en-US" dirty="0" smtClean="0"/>
              <a:t>requiring </a:t>
            </a:r>
            <a:r>
              <a:rPr lang="en-US" dirty="0"/>
              <a:t>that both the sender and receiver have </a:t>
            </a:r>
            <a:r>
              <a:rPr lang="en-US" dirty="0" smtClean="0"/>
              <a:t>knowledge </a:t>
            </a:r>
            <a:r>
              <a:rPr lang="en-US" dirty="0"/>
              <a:t>of the key</a:t>
            </a:r>
            <a:r>
              <a:rPr lang="en-US" dirty="0" smtClean="0"/>
              <a:t>.</a:t>
            </a:r>
          </a:p>
          <a:p>
            <a:r>
              <a:rPr lang="en-US" dirty="0"/>
              <a:t>But to do so requires (presumably secure) communication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It is now possible </a:t>
            </a:r>
            <a:r>
              <a:rPr lang="en-US" dirty="0"/>
              <a:t>for two parties to communicate with encryption without having a shared secret key that is known in </a:t>
            </a:r>
            <a:r>
              <a:rPr lang="en-US" dirty="0" smtClean="0"/>
              <a:t>advance.</a:t>
            </a:r>
          </a:p>
          <a:p>
            <a:r>
              <a:rPr lang="en-US" dirty="0"/>
              <a:t>In 1976, </a:t>
            </a:r>
            <a:r>
              <a:rPr lang="en-US" b="1" dirty="0"/>
              <a:t>Diffie</a:t>
            </a:r>
            <a:r>
              <a:rPr lang="en-US" dirty="0"/>
              <a:t> and </a:t>
            </a:r>
            <a:r>
              <a:rPr lang="en-US" b="1" dirty="0" smtClean="0"/>
              <a:t>Hellman</a:t>
            </a:r>
            <a:r>
              <a:rPr lang="en-US" dirty="0" smtClean="0"/>
              <a:t> demonstrated </a:t>
            </a:r>
            <a:r>
              <a:rPr lang="en-US" dirty="0"/>
              <a:t>an algorithm (known now as </a:t>
            </a:r>
            <a:r>
              <a:rPr lang="en-US" b="1" dirty="0" smtClean="0"/>
              <a:t>Diffie-Hellman </a:t>
            </a:r>
            <a:r>
              <a:rPr lang="en-US" b="1" dirty="0"/>
              <a:t>Key Exchange</a:t>
            </a:r>
            <a:r>
              <a:rPr lang="en-US" dirty="0"/>
              <a:t>) to do just that</a:t>
            </a:r>
            <a:r>
              <a:rPr lang="en-US" dirty="0" smtClean="0"/>
              <a:t>—</a:t>
            </a:r>
          </a:p>
          <a:p>
            <a:r>
              <a:rPr lang="en-US" dirty="0" smtClean="0"/>
              <a:t>a </a:t>
            </a:r>
            <a:r>
              <a:rPr lang="en-US" dirty="0"/>
              <a:t>radically </a:t>
            </a:r>
            <a:r>
              <a:rPr lang="en-US" dirty="0" smtClean="0"/>
              <a:t>different approach </a:t>
            </a:r>
            <a:r>
              <a:rPr lang="en-US" dirty="0"/>
              <a:t>toward secure communication that has led to the development of today’s </a:t>
            </a:r>
            <a:r>
              <a:rPr lang="en-US" b="1" dirty="0"/>
              <a:t>public key cryptography systems.</a:t>
            </a:r>
            <a:endParaRPr lang="en-US" b="1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53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257" y="624110"/>
            <a:ext cx="9719356" cy="114663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257" y="1770743"/>
            <a:ext cx="9719355" cy="4572000"/>
          </a:xfrm>
        </p:spPr>
        <p:txBody>
          <a:bodyPr/>
          <a:lstStyle/>
          <a:p>
            <a:r>
              <a:rPr lang="en-US" b="1" dirty="0"/>
              <a:t>In a public key system, the encryption key for messages to go to a particular receiver is broadcast to everyone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but </a:t>
            </a:r>
            <a:r>
              <a:rPr lang="en-US" dirty="0"/>
              <a:t>the </a:t>
            </a:r>
            <a:r>
              <a:rPr lang="en-US" b="1" dirty="0"/>
              <a:t>decryption</a:t>
            </a:r>
            <a:r>
              <a:rPr lang="en-US" dirty="0"/>
              <a:t> key cannot be derived from it and is known only by the receiver.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58" y="2917376"/>
            <a:ext cx="7649028" cy="342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1927" y="1905000"/>
            <a:ext cx="9592685" cy="4384964"/>
          </a:xfrm>
        </p:spPr>
        <p:txBody>
          <a:bodyPr/>
          <a:lstStyle/>
          <a:p>
            <a:r>
              <a:rPr lang="en-US" dirty="0"/>
              <a:t>The use of public key cryptography is conceptually quite simple. </a:t>
            </a:r>
            <a:r>
              <a:rPr lang="en-US" dirty="0" smtClean="0"/>
              <a:t>Rather </a:t>
            </a:r>
            <a:r>
              <a:rPr lang="en-US" dirty="0"/>
              <a:t>than Bob and Alice sharing a single secret </a:t>
            </a:r>
            <a:r>
              <a:rPr lang="en-US" dirty="0" smtClean="0"/>
              <a:t>key</a:t>
            </a:r>
            <a:r>
              <a:rPr lang="en-US" dirty="0"/>
              <a:t>, Bob instead has two </a:t>
            </a:r>
            <a:r>
              <a:rPr lang="en-US" dirty="0" smtClean="0"/>
              <a:t>keys</a:t>
            </a:r>
          </a:p>
          <a:p>
            <a:r>
              <a:rPr lang="en-US" dirty="0" smtClean="0"/>
              <a:t>—</a:t>
            </a:r>
            <a:r>
              <a:rPr lang="en-US" dirty="0"/>
              <a:t>a </a:t>
            </a:r>
            <a:r>
              <a:rPr lang="en-US" b="1" dirty="0"/>
              <a:t>public key</a:t>
            </a:r>
            <a:r>
              <a:rPr lang="en-US" dirty="0"/>
              <a:t> that is available to everyone in the world (including Trudy the intruder) and a </a:t>
            </a:r>
            <a:r>
              <a:rPr lang="en-US" b="1" dirty="0"/>
              <a:t>private key </a:t>
            </a:r>
            <a:r>
              <a:rPr lang="en-US" dirty="0"/>
              <a:t>that is known only to Bob</a:t>
            </a:r>
            <a:r>
              <a:rPr lang="en-US" dirty="0" smtClean="0"/>
              <a:t>.</a:t>
            </a:r>
          </a:p>
          <a:p>
            <a:r>
              <a:rPr lang="en-US" dirty="0"/>
              <a:t>In order to communicate with Bob, Alice first fetches Bob’s public key. </a:t>
            </a:r>
            <a:endParaRPr lang="en-US" dirty="0" smtClean="0"/>
          </a:p>
          <a:p>
            <a:r>
              <a:rPr lang="en-US" dirty="0" smtClean="0"/>
              <a:t>Alice </a:t>
            </a:r>
            <a:r>
              <a:rPr lang="en-US" dirty="0"/>
              <a:t>then encrypts her message, m, to Bob using Bob’s public key and a </a:t>
            </a:r>
            <a:r>
              <a:rPr lang="en-US" dirty="0" smtClean="0"/>
              <a:t>known( </a:t>
            </a:r>
            <a:r>
              <a:rPr lang="en-US" dirty="0"/>
              <a:t>standardized) encryption algorithm</a:t>
            </a:r>
            <a:r>
              <a:rPr lang="en-US" dirty="0" smtClean="0"/>
              <a:t>;</a:t>
            </a:r>
          </a:p>
          <a:p>
            <a:r>
              <a:rPr lang="en-US" dirty="0"/>
              <a:t>Bob receives Alice’s encrypted message and uses his private key and a known decryption algorithm to decrypt Alice’s encrypted message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there </a:t>
            </a:r>
            <a:r>
              <a:rPr lang="en-US" dirty="0"/>
              <a:t>are encryption/ decryption algorithms and techniques for choosing public and private keys such </a:t>
            </a:r>
            <a:r>
              <a:rPr lang="en-US" dirty="0" smtClean="0"/>
              <a:t>that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953" y="5417127"/>
            <a:ext cx="2785630" cy="56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6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6509" y="624110"/>
            <a:ext cx="9648103" cy="1280890"/>
          </a:xfrm>
        </p:spPr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6509" y="1904999"/>
            <a:ext cx="9648103" cy="4953001"/>
          </a:xfrm>
        </p:spPr>
        <p:txBody>
          <a:bodyPr>
            <a:normAutofit/>
          </a:bodyPr>
          <a:lstStyle/>
          <a:p>
            <a:r>
              <a:rPr lang="en-US" dirty="0"/>
              <a:t>that is, applying Bob’s public key, to a message, </a:t>
            </a:r>
            <a:r>
              <a:rPr lang="en-US" dirty="0" smtClean="0"/>
              <a:t>m and </a:t>
            </a:r>
            <a:r>
              <a:rPr lang="en-US" dirty="0"/>
              <a:t>then applying Bob’s private key to the encrypted version of m gives back </a:t>
            </a:r>
            <a:r>
              <a:rPr lang="en-US" dirty="0" smtClean="0"/>
              <a:t>m.</a:t>
            </a:r>
          </a:p>
          <a:p>
            <a:r>
              <a:rPr lang="en-US" dirty="0"/>
              <a:t>In this manner, Alice can use Bob’s publicly available key to send a secret message to Bob without either of them having to distribute any secret </a:t>
            </a:r>
            <a:r>
              <a:rPr lang="en-US" dirty="0" smtClean="0"/>
              <a:t>keys</a:t>
            </a:r>
          </a:p>
          <a:p>
            <a:r>
              <a:rPr lang="en-US" dirty="0"/>
              <a:t>The use of public key cryptography is thus conceptually simple. But two immediate </a:t>
            </a:r>
            <a:r>
              <a:rPr lang="en-US" dirty="0" smtClean="0"/>
              <a:t>problems arise.</a:t>
            </a:r>
          </a:p>
          <a:p>
            <a:r>
              <a:rPr lang="en-US" dirty="0"/>
              <a:t>A first concern is that although </a:t>
            </a:r>
            <a:r>
              <a:rPr lang="en-US" dirty="0" smtClean="0"/>
              <a:t>an </a:t>
            </a:r>
            <a:r>
              <a:rPr lang="en-US" dirty="0"/>
              <a:t>intruder </a:t>
            </a:r>
            <a:r>
              <a:rPr lang="en-US" dirty="0" smtClean="0"/>
              <a:t>intercepting </a:t>
            </a:r>
            <a:r>
              <a:rPr lang="en-US" dirty="0"/>
              <a:t>Alice’s encrypted message will see only gibberish,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intruder knows both the key (</a:t>
            </a:r>
            <a:r>
              <a:rPr lang="en-US" b="1" dirty="0"/>
              <a:t>Bob’s public </a:t>
            </a:r>
            <a:r>
              <a:rPr lang="en-US" b="1" dirty="0" smtClean="0"/>
              <a:t>key</a:t>
            </a:r>
            <a:r>
              <a:rPr lang="en-US" dirty="0" smtClean="0"/>
              <a:t>) and </a:t>
            </a:r>
            <a:r>
              <a:rPr lang="en-US" dirty="0"/>
              <a:t>the algorithm that Alice used for encryption. </a:t>
            </a:r>
            <a:endParaRPr lang="en-US" dirty="0" smtClean="0"/>
          </a:p>
          <a:p>
            <a:r>
              <a:rPr lang="en-US" dirty="0" smtClean="0"/>
              <a:t>Trudy </a:t>
            </a:r>
            <a:r>
              <a:rPr lang="en-US" dirty="0"/>
              <a:t>can thus mount a </a:t>
            </a:r>
            <a:r>
              <a:rPr lang="en-US" b="1" dirty="0"/>
              <a:t>chosen-plaintext attack</a:t>
            </a:r>
            <a:r>
              <a:rPr lang="en-US" dirty="0"/>
              <a:t>, using the known </a:t>
            </a:r>
            <a:r>
              <a:rPr lang="en-US" b="1" dirty="0"/>
              <a:t>standardized</a:t>
            </a:r>
            <a:r>
              <a:rPr lang="en-US" dirty="0"/>
              <a:t> </a:t>
            </a:r>
            <a:r>
              <a:rPr lang="en-US" b="1" dirty="0"/>
              <a:t>encryption algorithm </a:t>
            </a:r>
            <a:endParaRPr lang="en-US" b="1" dirty="0" smtClean="0"/>
          </a:p>
          <a:p>
            <a:r>
              <a:rPr lang="en-US" dirty="0" smtClean="0"/>
              <a:t>and </a:t>
            </a:r>
            <a:r>
              <a:rPr lang="en-US" b="1" dirty="0"/>
              <a:t>Bob’s publicly </a:t>
            </a:r>
            <a:r>
              <a:rPr lang="en-US" dirty="0"/>
              <a:t>available encryption key to encode any message she chooses! </a:t>
            </a:r>
          </a:p>
        </p:txBody>
      </p:sp>
    </p:spTree>
    <p:extLst>
      <p:ext uri="{BB962C8B-B14F-4D97-AF65-F5344CB8AC3E}">
        <p14:creationId xmlns:p14="http://schemas.microsoft.com/office/powerpoint/2010/main" val="418698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2145" y="624110"/>
            <a:ext cx="9232467" cy="1280890"/>
          </a:xfrm>
        </p:spPr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2145" y="1905000"/>
            <a:ext cx="9232467" cy="4606636"/>
          </a:xfrm>
        </p:spPr>
        <p:txBody>
          <a:bodyPr/>
          <a:lstStyle/>
          <a:p>
            <a:r>
              <a:rPr lang="en-US" dirty="0"/>
              <a:t>if public key cryptography is to work, </a:t>
            </a:r>
            <a:r>
              <a:rPr lang="en-US" b="1" dirty="0"/>
              <a:t>key selection and encryption/decryption </a:t>
            </a:r>
            <a:r>
              <a:rPr lang="en-US" dirty="0"/>
              <a:t>must be done in such a way </a:t>
            </a:r>
            <a:r>
              <a:rPr lang="en-US" dirty="0" smtClean="0"/>
              <a:t>that</a:t>
            </a:r>
          </a:p>
          <a:p>
            <a:pPr lvl="1"/>
            <a:r>
              <a:rPr lang="en-US" dirty="0" smtClean="0"/>
              <a:t>It is impossible for </a:t>
            </a:r>
            <a:r>
              <a:rPr lang="en-US" dirty="0"/>
              <a:t>an intruder to either determine Bob’s private key or somehow otherwise decrypt or guess Alice’s message to Bob. </a:t>
            </a:r>
            <a:endParaRPr lang="en-US" dirty="0" smtClean="0"/>
          </a:p>
          <a:p>
            <a:r>
              <a:rPr lang="en-US" b="1" dirty="0" smtClean="0"/>
              <a:t>A </a:t>
            </a:r>
            <a:r>
              <a:rPr lang="en-US" b="1" dirty="0"/>
              <a:t>second concern is that since Bob’s encryption key is public, anyone can send an encrypted message to Bob, claiming to be Alice</a:t>
            </a:r>
            <a:r>
              <a:rPr lang="en-US" b="1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In the case of public key </a:t>
            </a:r>
            <a:r>
              <a:rPr lang="en-US" dirty="0" smtClean="0"/>
              <a:t>cryptography, anyone </a:t>
            </a:r>
            <a:r>
              <a:rPr lang="en-US" dirty="0"/>
              <a:t>can send an encrypted message to Bob using Bob’s publicly available key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/>
              <a:t>digital </a:t>
            </a:r>
            <a:r>
              <a:rPr lang="en-US" b="1" dirty="0"/>
              <a:t>signature</a:t>
            </a:r>
            <a:r>
              <a:rPr lang="en-US" dirty="0"/>
              <a:t>, </a:t>
            </a:r>
            <a:r>
              <a:rPr lang="en-US" dirty="0" smtClean="0"/>
              <a:t>is </a:t>
            </a:r>
            <a:r>
              <a:rPr lang="en-US" dirty="0"/>
              <a:t>needed to bind a sender to a message. </a:t>
            </a:r>
            <a:endParaRPr lang="en-US" dirty="0" smtClean="0"/>
          </a:p>
          <a:p>
            <a:r>
              <a:rPr lang="en-US" b="1" dirty="0" smtClean="0"/>
              <a:t>RSA</a:t>
            </a:r>
          </a:p>
          <a:p>
            <a:r>
              <a:rPr lang="en-US" dirty="0"/>
              <a:t>The most common public key encryption algorithm is RSA, named for its developers, Ron Rivest, </a:t>
            </a:r>
            <a:r>
              <a:rPr lang="en-US" dirty="0" err="1"/>
              <a:t>Adi</a:t>
            </a:r>
            <a:r>
              <a:rPr lang="en-US" dirty="0"/>
              <a:t> Shamir, and Len </a:t>
            </a:r>
            <a:r>
              <a:rPr lang="en-US" dirty="0" err="1"/>
              <a:t>Adleman</a:t>
            </a:r>
            <a:r>
              <a:rPr lang="en-US" dirty="0"/>
              <a:t> at MIT , </a:t>
            </a:r>
            <a:endParaRPr lang="en-US" dirty="0" smtClean="0"/>
          </a:p>
          <a:p>
            <a:pPr lvl="1"/>
            <a:r>
              <a:rPr lang="en-US" dirty="0" smtClean="0"/>
              <a:t>is </a:t>
            </a:r>
            <a:r>
              <a:rPr lang="en-US" dirty="0"/>
              <a:t>based on results from the field of mathematics known as number theory.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342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5" y="624110"/>
            <a:ext cx="9814358" cy="1280890"/>
          </a:xfrm>
        </p:spPr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0255" y="1905000"/>
            <a:ext cx="9814357" cy="4551218"/>
          </a:xfrm>
        </p:spPr>
        <p:txBody>
          <a:bodyPr/>
          <a:lstStyle/>
          <a:p>
            <a:r>
              <a:rPr lang="en-US" dirty="0"/>
              <a:t>A prime number is an integer greater than 1 that can only be written as the product of itself and 1.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2, 3, 5, 7, 11, . . . are prime numbers; you can only write 7, for example, as 7 </a:t>
            </a:r>
            <a:r>
              <a:rPr lang="en-US" dirty="0" smtClean="0"/>
              <a:t>= </a:t>
            </a:r>
            <a:r>
              <a:rPr lang="en-US" dirty="0"/>
              <a:t>1 </a:t>
            </a:r>
            <a:r>
              <a:rPr lang="en-US" dirty="0" smtClean="0"/>
              <a:t>X 7</a:t>
            </a:r>
            <a:r>
              <a:rPr lang="en-US" dirty="0"/>
              <a:t>, the product of 1 and </a:t>
            </a:r>
            <a:r>
              <a:rPr lang="en-US" dirty="0" smtClean="0"/>
              <a:t>7</a:t>
            </a:r>
          </a:p>
          <a:p>
            <a:r>
              <a:rPr lang="en-US" dirty="0"/>
              <a:t>The numbers 4, 6, 8, 10, and 12, for example, are not prime because they can be factored in a </a:t>
            </a:r>
            <a:r>
              <a:rPr lang="en-US" b="1" dirty="0"/>
              <a:t>nontrivial</a:t>
            </a:r>
            <a:r>
              <a:rPr lang="en-US" dirty="0"/>
              <a:t> way</a:t>
            </a:r>
            <a:r>
              <a:rPr lang="en-US" dirty="0" smtClean="0"/>
              <a:t>:</a:t>
            </a:r>
          </a:p>
          <a:p>
            <a:r>
              <a:rPr lang="en-US" b="1" dirty="0"/>
              <a:t>The success of RSA encryption depends on the fact that it is extremely difficult to find the prime factors for n if n is a large number. </a:t>
            </a:r>
            <a:endParaRPr lang="en-US" b="1" dirty="0" smtClean="0"/>
          </a:p>
          <a:p>
            <a:r>
              <a:rPr lang="en-US" dirty="0" smtClean="0"/>
              <a:t>So </a:t>
            </a:r>
            <a:r>
              <a:rPr lang="en-US" dirty="0"/>
              <a:t>although information encrypted using RSA is technically not secure,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secure in practice because of the large amount of computation necessary to find the prime factors of the encoding key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9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4945" y="624110"/>
            <a:ext cx="9689667" cy="1280890"/>
          </a:xfrm>
        </p:spPr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4945" y="1905000"/>
            <a:ext cx="9689667" cy="4606636"/>
          </a:xfrm>
        </p:spPr>
        <p:txBody>
          <a:bodyPr/>
          <a:lstStyle/>
          <a:p>
            <a:r>
              <a:rPr lang="en-US" dirty="0"/>
              <a:t>RSA makes extensive use of arithmetic operations using </a:t>
            </a:r>
            <a:r>
              <a:rPr lang="en-US" b="1" dirty="0"/>
              <a:t>modulo-n arithmetic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/>
              <a:t>In mathematics, </a:t>
            </a:r>
            <a:r>
              <a:rPr lang="en-US" b="1" dirty="0"/>
              <a:t>modular arithmetic</a:t>
            </a:r>
            <a:r>
              <a:rPr lang="en-US" dirty="0"/>
              <a:t> is a system of arithmetic for integers, where numbers "wrap around" </a:t>
            </a:r>
            <a:r>
              <a:rPr lang="en-US" b="1" dirty="0"/>
              <a:t>when reaching a certain value</a:t>
            </a:r>
            <a:r>
              <a:rPr lang="en-US" dirty="0"/>
              <a:t>, called the </a:t>
            </a:r>
            <a:r>
              <a:rPr lang="en-US" b="1" dirty="0"/>
              <a:t>modulus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modern approach to modular arithmetic was developed by Carl </a:t>
            </a:r>
            <a:r>
              <a:rPr lang="en-US" dirty="0" smtClean="0"/>
              <a:t>Friedrich</a:t>
            </a:r>
          </a:p>
          <a:p>
            <a:r>
              <a:rPr lang="en-US" dirty="0"/>
              <a:t>A familiar use of modular arithmetic is in the </a:t>
            </a:r>
            <a:r>
              <a:rPr lang="en-US" b="1" dirty="0"/>
              <a:t>12-hour clock</a:t>
            </a:r>
            <a:r>
              <a:rPr lang="en-US" dirty="0"/>
              <a:t>, in which the day is divided into two 12-hour periods. </a:t>
            </a:r>
            <a:endParaRPr lang="en-US" dirty="0" smtClean="0"/>
          </a:p>
          <a:p>
            <a:r>
              <a:rPr lang="en-US" dirty="0"/>
              <a:t>If the time is 7:00 now, then 8 hours later it will be </a:t>
            </a:r>
            <a:r>
              <a:rPr lang="en-US" dirty="0" smtClean="0"/>
              <a:t>3:00. </a:t>
            </a:r>
            <a:r>
              <a:rPr lang="en-US" dirty="0"/>
              <a:t>Simple addition would result in 7 + 8 = 15, but clocks "wrap around" every 12 hours. </a:t>
            </a:r>
            <a:endParaRPr lang="en-US" dirty="0" smtClean="0"/>
          </a:p>
          <a:p>
            <a:r>
              <a:rPr lang="en-US" b="1" dirty="0" smtClean="0"/>
              <a:t>Because </a:t>
            </a:r>
            <a:r>
              <a:rPr lang="en-US" b="1" dirty="0"/>
              <a:t>the hour number starts over at zero when it reaches 12, this is arithmetic </a:t>
            </a:r>
            <a:r>
              <a:rPr lang="en-US" b="1" i="1" dirty="0"/>
              <a:t>modulo</a:t>
            </a:r>
            <a:r>
              <a:rPr lang="en-US" b="1" dirty="0"/>
              <a:t> 12</a:t>
            </a:r>
            <a:r>
              <a:rPr lang="en-US" b="1" dirty="0" smtClean="0"/>
              <a:t>.</a:t>
            </a:r>
          </a:p>
          <a:p>
            <a:r>
              <a:rPr lang="en-US" dirty="0"/>
              <a:t>In terms of the definition below, 15 is </a:t>
            </a:r>
            <a:r>
              <a:rPr lang="en-US" b="1" i="1" dirty="0"/>
              <a:t>congruent</a:t>
            </a:r>
            <a:r>
              <a:rPr lang="en-US" dirty="0"/>
              <a:t> to 3 </a:t>
            </a:r>
            <a:r>
              <a:rPr lang="en-US" b="1" dirty="0"/>
              <a:t>modulo</a:t>
            </a:r>
            <a:r>
              <a:rPr lang="en-US" dirty="0"/>
              <a:t> 12, so "15:00" on a 24-hour </a:t>
            </a:r>
            <a:r>
              <a:rPr lang="en-US" dirty="0" smtClean="0"/>
              <a:t>clock</a:t>
            </a:r>
            <a:r>
              <a:rPr lang="en-US" dirty="0"/>
              <a:t> </a:t>
            </a:r>
            <a:r>
              <a:rPr lang="en-US" dirty="0" smtClean="0"/>
              <a:t>is </a:t>
            </a:r>
            <a:r>
              <a:rPr lang="en-US" dirty="0"/>
              <a:t>displayed "3:00" on a 12-hour clock</a:t>
            </a:r>
            <a:r>
              <a:rPr lang="en-US" dirty="0" smtClean="0"/>
              <a:t>. (</a:t>
            </a:r>
            <a:r>
              <a:rPr lang="en-US" b="1" i="1" dirty="0" smtClean="0"/>
              <a:t>Note that here one number is congruent to two numbers)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01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965" y="624110"/>
            <a:ext cx="9024648" cy="1280890"/>
          </a:xfrm>
        </p:spPr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9964" y="1904999"/>
            <a:ext cx="9024648" cy="4675909"/>
          </a:xfrm>
        </p:spPr>
        <p:txBody>
          <a:bodyPr/>
          <a:lstStyle/>
          <a:p>
            <a:r>
              <a:rPr lang="en-US" b="1" dirty="0" smtClean="0"/>
              <a:t>Congruence</a:t>
            </a:r>
          </a:p>
          <a:p>
            <a:r>
              <a:rPr lang="en-US" dirty="0"/>
              <a:t>Given an integer </a:t>
            </a:r>
            <a:r>
              <a:rPr lang="en-US" i="1" dirty="0"/>
              <a:t>n</a:t>
            </a:r>
            <a:r>
              <a:rPr lang="en-US" dirty="0"/>
              <a:t> &gt; 1, called a </a:t>
            </a:r>
            <a:r>
              <a:rPr lang="en-US" b="1" dirty="0"/>
              <a:t>modulus</a:t>
            </a:r>
            <a:r>
              <a:rPr lang="en-US" dirty="0"/>
              <a:t>, two integers </a:t>
            </a:r>
            <a:r>
              <a:rPr lang="en-US" i="1" dirty="0"/>
              <a:t>a</a:t>
            </a:r>
            <a:r>
              <a:rPr lang="en-US" dirty="0"/>
              <a:t> and </a:t>
            </a:r>
            <a:r>
              <a:rPr lang="en-US" i="1" dirty="0"/>
              <a:t>b</a:t>
            </a:r>
            <a:r>
              <a:rPr lang="en-US" dirty="0"/>
              <a:t> are said to be </a:t>
            </a:r>
            <a:r>
              <a:rPr lang="en-US" b="1" dirty="0"/>
              <a:t>congruent</a:t>
            </a:r>
            <a:r>
              <a:rPr lang="en-US" dirty="0"/>
              <a:t> modulo </a:t>
            </a:r>
            <a:r>
              <a:rPr lang="en-US" i="1" dirty="0"/>
              <a:t>n</a:t>
            </a:r>
            <a:r>
              <a:rPr lang="en-US" dirty="0"/>
              <a:t>, if </a:t>
            </a:r>
            <a:r>
              <a:rPr lang="en-US" i="1" dirty="0"/>
              <a:t>n</a:t>
            </a:r>
            <a:r>
              <a:rPr lang="en-US" dirty="0"/>
              <a:t> is a divisor of their difference </a:t>
            </a:r>
            <a:endParaRPr lang="en-US" dirty="0" smtClean="0"/>
          </a:p>
          <a:p>
            <a:pPr lvl="1"/>
            <a:r>
              <a:rPr lang="en-US" dirty="0" smtClean="0"/>
              <a:t>that </a:t>
            </a:r>
            <a:r>
              <a:rPr lang="en-US" dirty="0"/>
              <a:t>is, if there is an integer </a:t>
            </a:r>
            <a:r>
              <a:rPr lang="en-US" i="1" dirty="0"/>
              <a:t>k</a:t>
            </a:r>
            <a:r>
              <a:rPr lang="en-US" dirty="0"/>
              <a:t> such that </a:t>
            </a:r>
            <a:r>
              <a:rPr lang="en-US" i="1" dirty="0"/>
              <a:t>a</a:t>
            </a:r>
            <a:r>
              <a:rPr lang="en-US" dirty="0"/>
              <a:t> − </a:t>
            </a:r>
            <a:r>
              <a:rPr lang="en-US" i="1" dirty="0"/>
              <a:t>b</a:t>
            </a:r>
            <a:r>
              <a:rPr lang="en-US" dirty="0"/>
              <a:t> = </a:t>
            </a:r>
            <a:r>
              <a:rPr lang="en-US" i="1" dirty="0" smtClean="0"/>
              <a:t>kn</a:t>
            </a:r>
            <a:r>
              <a:rPr lang="en-US" dirty="0" smtClean="0"/>
              <a:t>.</a:t>
            </a:r>
          </a:p>
          <a:p>
            <a:r>
              <a:rPr lang="en-US" b="1" i="1" dirty="0" smtClean="0"/>
              <a:t>Note that  here two numbers are congruent to one number</a:t>
            </a:r>
          </a:p>
          <a:p>
            <a:r>
              <a:rPr lang="en-US" dirty="0"/>
              <a:t>Congruence modulo </a:t>
            </a:r>
            <a:r>
              <a:rPr lang="en-US" i="1" dirty="0"/>
              <a:t>n</a:t>
            </a:r>
            <a:r>
              <a:rPr lang="en-US" dirty="0"/>
              <a:t> is a congruence relation, meaning that it is an equivalence relation that is compatible with the operations of </a:t>
            </a:r>
            <a:r>
              <a:rPr lang="en-US" b="1" dirty="0"/>
              <a:t>addition</a:t>
            </a:r>
            <a:r>
              <a:rPr lang="en-US" dirty="0"/>
              <a:t>,</a:t>
            </a:r>
            <a:r>
              <a:rPr lang="en-US" b="1" dirty="0"/>
              <a:t> subtraction</a:t>
            </a:r>
            <a:r>
              <a:rPr lang="en-US" dirty="0"/>
              <a:t>, and </a:t>
            </a:r>
            <a:r>
              <a:rPr lang="en-US" b="1" dirty="0"/>
              <a:t>multiplication</a:t>
            </a:r>
            <a:r>
              <a:rPr lang="en-US" dirty="0"/>
              <a:t>. Congruence modulo </a:t>
            </a:r>
            <a:r>
              <a:rPr lang="en-US" i="1" dirty="0"/>
              <a:t>n</a:t>
            </a:r>
            <a:r>
              <a:rPr lang="en-US" dirty="0"/>
              <a:t> is denoted</a:t>
            </a:r>
            <a:r>
              <a:rPr lang="en-US" dirty="0" smtClean="0"/>
              <a:t>:</a:t>
            </a:r>
          </a:p>
          <a:p>
            <a:endParaRPr lang="en-US" b="1" i="1" dirty="0"/>
          </a:p>
          <a:p>
            <a:endParaRPr lang="en-US" b="1" i="1" dirty="0" smtClean="0"/>
          </a:p>
          <a:p>
            <a:r>
              <a:rPr lang="en-US" dirty="0"/>
              <a:t>The parentheses mean that (mod </a:t>
            </a:r>
            <a:r>
              <a:rPr lang="en-US" i="1" dirty="0"/>
              <a:t>n</a:t>
            </a:r>
            <a:r>
              <a:rPr lang="en-US" dirty="0"/>
              <a:t>) applies to the entire equation, not just to the right-hand side</a:t>
            </a:r>
            <a:endParaRPr lang="en-US" b="1" i="1" dirty="0" smtClean="0"/>
          </a:p>
          <a:p>
            <a:endParaRPr lang="en-US" dirty="0" smtClean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963" y="5003655"/>
            <a:ext cx="2912052" cy="62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2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0"/>
            <a:ext cx="9287885" cy="117698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6727" y="1801091"/>
            <a:ext cx="9287885" cy="4752109"/>
          </a:xfrm>
        </p:spPr>
        <p:txBody>
          <a:bodyPr/>
          <a:lstStyle/>
          <a:p>
            <a:r>
              <a:rPr lang="en-US" dirty="0"/>
              <a:t>This notation is not to be confused with the notation </a:t>
            </a:r>
            <a:r>
              <a:rPr lang="en-US" i="1" dirty="0"/>
              <a:t>b</a:t>
            </a:r>
            <a:r>
              <a:rPr lang="en-US" dirty="0"/>
              <a:t> mod </a:t>
            </a:r>
            <a:r>
              <a:rPr lang="en-US" i="1" dirty="0"/>
              <a:t>n</a:t>
            </a:r>
            <a:r>
              <a:rPr lang="en-US" dirty="0"/>
              <a:t> (without parentheses), which refers to the modulo operation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</a:t>
            </a:r>
            <a:r>
              <a:rPr lang="en-US" dirty="0"/>
              <a:t> </a:t>
            </a:r>
            <a:r>
              <a:rPr lang="en-US" b="1" dirty="0"/>
              <a:t>modulo operation</a:t>
            </a:r>
            <a:r>
              <a:rPr lang="en-US" dirty="0"/>
              <a:t> returns the remainder or signed remainder of a division, after one number is divided by another (called the </a:t>
            </a:r>
            <a:r>
              <a:rPr lang="en-US" i="1" dirty="0"/>
              <a:t>modulus</a:t>
            </a:r>
            <a:r>
              <a:rPr lang="en-US" dirty="0"/>
              <a:t> of the operation</a:t>
            </a:r>
            <a:r>
              <a:rPr lang="en-US" dirty="0" smtClean="0"/>
              <a:t>).</a:t>
            </a:r>
          </a:p>
          <a:p>
            <a:r>
              <a:rPr lang="en-US" dirty="0"/>
              <a:t>The congruence relation may be rewritten </a:t>
            </a:r>
            <a:r>
              <a:rPr lang="en-US" dirty="0" smtClean="0"/>
              <a:t>as </a:t>
            </a:r>
          </a:p>
          <a:p>
            <a:r>
              <a:rPr lang="en-US" b="1" dirty="0"/>
              <a:t>what the statement</a:t>
            </a:r>
            <a:r>
              <a:rPr lang="en-US" dirty="0"/>
              <a:t> </a:t>
            </a:r>
            <a:r>
              <a:rPr lang="en-US" b="1" i="1" dirty="0"/>
              <a:t>a</a:t>
            </a:r>
            <a:r>
              <a:rPr lang="en-US" b="1" dirty="0"/>
              <a:t> ≡ </a:t>
            </a:r>
            <a:r>
              <a:rPr lang="en-US" b="1" i="1" dirty="0"/>
              <a:t>b</a:t>
            </a:r>
            <a:r>
              <a:rPr lang="en-US" b="1" dirty="0"/>
              <a:t> (mod </a:t>
            </a:r>
            <a:r>
              <a:rPr lang="en-US" b="1" i="1" dirty="0"/>
              <a:t>n</a:t>
            </a:r>
            <a:r>
              <a:rPr lang="en-US" b="1" dirty="0"/>
              <a:t>)</a:t>
            </a:r>
            <a:r>
              <a:rPr lang="en-US" dirty="0"/>
              <a:t> </a:t>
            </a:r>
            <a:r>
              <a:rPr lang="en-US" b="1" dirty="0"/>
              <a:t>asserts is that </a:t>
            </a:r>
            <a:r>
              <a:rPr lang="en-US" b="1" i="1" dirty="0"/>
              <a:t>a</a:t>
            </a:r>
            <a:r>
              <a:rPr lang="en-US" b="1" dirty="0"/>
              <a:t> and </a:t>
            </a:r>
            <a:r>
              <a:rPr lang="en-US" b="1" i="1" dirty="0"/>
              <a:t>b</a:t>
            </a:r>
            <a:r>
              <a:rPr lang="en-US" b="1" dirty="0"/>
              <a:t> have the same remainder when divided by </a:t>
            </a:r>
            <a:r>
              <a:rPr lang="en-US" b="1" i="1" dirty="0"/>
              <a:t>n</a:t>
            </a:r>
            <a:r>
              <a:rPr lang="en-US" b="1" dirty="0"/>
              <a:t>.</a:t>
            </a:r>
            <a:r>
              <a:rPr lang="en-US" b="1" dirty="0" smtClean="0"/>
              <a:t> </a:t>
            </a:r>
          </a:p>
          <a:p>
            <a:r>
              <a:rPr lang="en-US" b="1" dirty="0"/>
              <a:t>Examples</a:t>
            </a:r>
          </a:p>
          <a:p>
            <a:r>
              <a:rPr lang="en-US" dirty="0" smtClean="0"/>
              <a:t>In Modulus 12 one can asset that </a:t>
            </a:r>
          </a:p>
          <a:p>
            <a:r>
              <a:rPr lang="en-US" dirty="0"/>
              <a:t>because 38 − 14 = 24, which is a multiple of 12. Another way to express this is to say that </a:t>
            </a:r>
            <a:r>
              <a:rPr lang="en-US" b="1" i="1" dirty="0"/>
              <a:t>both 38 and 14 have the same remainder 2, when divided by 12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792" y="3106015"/>
            <a:ext cx="3608820" cy="55158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363" y="4573941"/>
            <a:ext cx="3075710" cy="52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5055" y="624110"/>
            <a:ext cx="9509557" cy="1280890"/>
          </a:xfrm>
        </p:spPr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5055" y="1905000"/>
            <a:ext cx="9509557" cy="400622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Here’s </a:t>
            </a:r>
            <a:r>
              <a:rPr lang="en-US" dirty="0"/>
              <a:t>how RSA works. Two large prime numbers p and q are chosen at − random, and their product </a:t>
            </a:r>
            <a:r>
              <a:rPr lang="en-US" b="1" dirty="0"/>
              <a:t>n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b="1" dirty="0" smtClean="0"/>
              <a:t> </a:t>
            </a:r>
            <a:r>
              <a:rPr lang="en-US" b="1" dirty="0"/>
              <a:t>p </a:t>
            </a:r>
            <a:r>
              <a:rPr lang="en-US" dirty="0" smtClean="0"/>
              <a:t>X </a:t>
            </a:r>
            <a:r>
              <a:rPr lang="en-US" b="1" dirty="0"/>
              <a:t>q</a:t>
            </a:r>
            <a:r>
              <a:rPr lang="en-US" dirty="0"/>
              <a:t> is computed.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product m </a:t>
            </a:r>
            <a:r>
              <a:rPr lang="en-US" dirty="0" smtClean="0"/>
              <a:t>= (</a:t>
            </a:r>
            <a:r>
              <a:rPr lang="en-US" dirty="0"/>
              <a:t>p </a:t>
            </a:r>
            <a:r>
              <a:rPr lang="en-US" dirty="0" smtClean="0"/>
              <a:t>- </a:t>
            </a:r>
            <a:r>
              <a:rPr lang="en-US" dirty="0"/>
              <a:t>1) </a:t>
            </a:r>
            <a:r>
              <a:rPr lang="en-US" dirty="0" smtClean="0"/>
              <a:t>X  </a:t>
            </a:r>
            <a:r>
              <a:rPr lang="en-US" dirty="0"/>
              <a:t>(q </a:t>
            </a:r>
            <a:r>
              <a:rPr lang="en-US" dirty="0" smtClean="0"/>
              <a:t>- 1</a:t>
            </a:r>
            <a:r>
              <a:rPr lang="en-US" dirty="0"/>
              <a:t>) is also computed. </a:t>
            </a:r>
            <a:endParaRPr lang="en-US" dirty="0" smtClean="0"/>
          </a:p>
          <a:p>
            <a:r>
              <a:rPr lang="en-US" dirty="0" smtClean="0"/>
              <a:t>Next</a:t>
            </a:r>
            <a:r>
              <a:rPr lang="en-US" dirty="0"/>
              <a:t>, a large random number e is chosen </a:t>
            </a:r>
            <a:r>
              <a:rPr lang="en-US" dirty="0" smtClean="0"/>
              <a:t>in such a </a:t>
            </a:r>
            <a:r>
              <a:rPr lang="en-US" dirty="0"/>
              <a:t>way that </a:t>
            </a:r>
            <a:r>
              <a:rPr lang="en-US" b="1" dirty="0"/>
              <a:t>e</a:t>
            </a:r>
            <a:r>
              <a:rPr lang="en-US" dirty="0"/>
              <a:t> </a:t>
            </a:r>
            <a:r>
              <a:rPr lang="en-US" dirty="0" smtClean="0"/>
              <a:t>less than </a:t>
            </a:r>
            <a:r>
              <a:rPr lang="en-US" b="1" dirty="0" smtClean="0"/>
              <a:t>n</a:t>
            </a:r>
            <a:r>
              <a:rPr lang="en-US" dirty="0" smtClean="0"/>
              <a:t> and has </a:t>
            </a:r>
            <a:r>
              <a:rPr lang="en-US" dirty="0"/>
              <a:t>no common </a:t>
            </a:r>
            <a:r>
              <a:rPr lang="en-US" dirty="0" smtClean="0"/>
              <a:t>factors with m  </a:t>
            </a:r>
            <a:r>
              <a:rPr lang="en-US" dirty="0"/>
              <a:t>other than 1.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step guarantees the existence of a unique integer </a:t>
            </a:r>
            <a:r>
              <a:rPr lang="en-US" b="1" dirty="0"/>
              <a:t>d</a:t>
            </a:r>
            <a:r>
              <a:rPr lang="en-US" dirty="0"/>
              <a:t> between </a:t>
            </a:r>
            <a:r>
              <a:rPr lang="en-US" b="1" dirty="0"/>
              <a:t>0</a:t>
            </a:r>
            <a:r>
              <a:rPr lang="en-US" dirty="0"/>
              <a:t> and </a:t>
            </a:r>
            <a:r>
              <a:rPr lang="en-US" b="1" dirty="0"/>
              <a:t>m</a:t>
            </a:r>
            <a:r>
              <a:rPr lang="en-US" dirty="0"/>
              <a:t>, such that whenever we reach m, we start over again counting from 0— the result is 1.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are computationally efficient ways to produce p, q, e, and d.</a:t>
            </a:r>
          </a:p>
        </p:txBody>
      </p:sp>
    </p:spTree>
    <p:extLst>
      <p:ext uri="{BB962C8B-B14F-4D97-AF65-F5344CB8AC3E}">
        <p14:creationId xmlns:p14="http://schemas.microsoft.com/office/powerpoint/2010/main" val="377176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5001"/>
            <a:ext cx="8915400" cy="4662054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Choose two large prime numbers p &amp; q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Compute n=</a:t>
            </a:r>
            <a:r>
              <a:rPr lang="en-US" altLang="en-US" sz="2200" dirty="0" err="1">
                <a:latin typeface="Garamond" panose="02020404030301010803" pitchFamily="18" charset="0"/>
                <a:cs typeface="Times New Roman" panose="02020603050405020304" pitchFamily="18" charset="0"/>
              </a:rPr>
              <a:t>pq</a:t>
            </a: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>
                <a:latin typeface="Garamond" panose="02020404030301010803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smtClean="0">
                <a:latin typeface="Garamond" panose="02020404030301010803" pitchFamily="18" charset="0"/>
                <a:cs typeface="Times New Roman" panose="02020603050405020304" pitchFamily="18" charset="0"/>
              </a:rPr>
              <a:t>m=(</a:t>
            </a: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p-1)(q-1)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Choose number e, less than n, which has no common factor (other than 1) with </a:t>
            </a:r>
            <a:r>
              <a:rPr lang="en-US" altLang="en-US" sz="2200" dirty="0" smtClean="0">
                <a:latin typeface="Garamond" panose="02020404030301010803" pitchFamily="18" charset="0"/>
                <a:cs typeface="Times New Roman" panose="02020603050405020304" pitchFamily="18" charset="0"/>
              </a:rPr>
              <a:t>m</a:t>
            </a:r>
            <a:endParaRPr lang="en-US" altLang="en-US" sz="2200" dirty="0"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Find number d, such that </a:t>
            </a:r>
            <a:r>
              <a:rPr lang="en-US" altLang="en-US" sz="2200" dirty="0" err="1">
                <a:latin typeface="Garamond" panose="02020404030301010803" pitchFamily="18" charset="0"/>
                <a:cs typeface="Times New Roman" panose="02020603050405020304" pitchFamily="18" charset="0"/>
              </a:rPr>
              <a:t>ed</a:t>
            </a: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 – 1 is exactly divisible by </a:t>
            </a:r>
            <a:r>
              <a:rPr lang="en-US" altLang="en-US" sz="2200" dirty="0" smtClean="0">
                <a:latin typeface="Garamond" panose="02020404030301010803" pitchFamily="18" charset="0"/>
                <a:cs typeface="Times New Roman" panose="02020603050405020304" pitchFamily="18" charset="0"/>
              </a:rPr>
              <a:t>m</a:t>
            </a:r>
            <a:endParaRPr lang="en-US" altLang="en-US" sz="2200" dirty="0"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Keys are generated using n, d, e</a:t>
            </a:r>
          </a:p>
          <a:p>
            <a:pPr marL="1100138" lvl="1" indent="-533400"/>
            <a:r>
              <a:rPr lang="en-US" altLang="en-US" sz="2000" dirty="0">
                <a:latin typeface="Garamond" panose="02020404030301010803" pitchFamily="18" charset="0"/>
                <a:cs typeface="Times New Roman" panose="02020603050405020304" pitchFamily="18" charset="0"/>
              </a:rPr>
              <a:t>Public key is (</a:t>
            </a:r>
            <a:r>
              <a:rPr lang="en-US" altLang="en-US" sz="2000" dirty="0" err="1">
                <a:latin typeface="Garamond" panose="02020404030301010803" pitchFamily="18" charset="0"/>
                <a:cs typeface="Times New Roman" panose="02020603050405020304" pitchFamily="18" charset="0"/>
              </a:rPr>
              <a:t>n,e</a:t>
            </a:r>
            <a:r>
              <a:rPr lang="en-US" altLang="en-US" sz="2000" dirty="0">
                <a:latin typeface="Garamond" panose="02020404030301010803" pitchFamily="18" charset="0"/>
                <a:cs typeface="Times New Roman" panose="02020603050405020304" pitchFamily="18" charset="0"/>
              </a:rPr>
              <a:t>)</a:t>
            </a:r>
          </a:p>
          <a:p>
            <a:pPr marL="1100138" lvl="1" indent="-533400"/>
            <a:r>
              <a:rPr lang="en-US" altLang="en-US" sz="2000" dirty="0">
                <a:latin typeface="Garamond" panose="02020404030301010803" pitchFamily="18" charset="0"/>
                <a:cs typeface="Times New Roman" panose="02020603050405020304" pitchFamily="18" charset="0"/>
              </a:rPr>
              <a:t>Private key is (n, d)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Encryption: c = m</a:t>
            </a:r>
            <a:r>
              <a:rPr lang="en-US" altLang="en-US" sz="2200" baseline="30000" dirty="0">
                <a:latin typeface="Garamond" panose="02020404030301010803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 mod n </a:t>
            </a:r>
          </a:p>
          <a:p>
            <a:pPr marL="1100138" lvl="1" indent="-533400"/>
            <a:r>
              <a:rPr lang="en-US" altLang="en-US" sz="2000" dirty="0">
                <a:latin typeface="Garamond" panose="02020404030301010803" pitchFamily="18" charset="0"/>
                <a:cs typeface="Times New Roman" panose="02020603050405020304" pitchFamily="18" charset="0"/>
              </a:rPr>
              <a:t>m is plain text</a:t>
            </a:r>
          </a:p>
          <a:p>
            <a:pPr marL="1100138" lvl="1" indent="-533400"/>
            <a:r>
              <a:rPr lang="en-US" altLang="en-US" sz="2000" dirty="0">
                <a:latin typeface="Garamond" panose="02020404030301010803" pitchFamily="18" charset="0"/>
                <a:cs typeface="Times New Roman" panose="02020603050405020304" pitchFamily="18" charset="0"/>
              </a:rPr>
              <a:t>c is cipher text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Decryption: m = c</a:t>
            </a:r>
            <a:r>
              <a:rPr lang="en-US" altLang="en-US" sz="2200" baseline="30000" dirty="0">
                <a:latin typeface="Garamond" panose="02020404030301010803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 mod 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Garamond" panose="02020404030301010803" pitchFamily="18" charset="0"/>
                <a:cs typeface="Times New Roman" panose="02020603050405020304" pitchFamily="18" charset="0"/>
              </a:rPr>
              <a:t>Public key is shared and the private key is hidden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26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1" y="624110"/>
            <a:ext cx="9371012" cy="1280890"/>
          </a:xfrm>
        </p:spPr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905000"/>
            <a:ext cx="9371012" cy="4606636"/>
          </a:xfrm>
        </p:spPr>
        <p:txBody>
          <a:bodyPr/>
          <a:lstStyle/>
          <a:p>
            <a:r>
              <a:rPr lang="en-US" dirty="0"/>
              <a:t>For example, suppose we pick p </a:t>
            </a:r>
            <a:r>
              <a:rPr lang="en-US" dirty="0" smtClean="0"/>
              <a:t>= </a:t>
            </a:r>
            <a:r>
              <a:rPr lang="en-US" dirty="0"/>
              <a:t>3 and q </a:t>
            </a:r>
            <a:r>
              <a:rPr lang="en-US" dirty="0" smtClean="0"/>
              <a:t>= 7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Now the number pair (n, e) becomes the public encryption key, and </a:t>
            </a:r>
            <a:r>
              <a:rPr lang="en-US" dirty="0" smtClean="0"/>
              <a:t>(</a:t>
            </a:r>
            <a:r>
              <a:rPr lang="en-US" dirty="0" err="1" smtClean="0"/>
              <a:t>n,d</a:t>
            </a:r>
            <a:r>
              <a:rPr lang="en-US" dirty="0" smtClean="0"/>
              <a:t>) </a:t>
            </a:r>
            <a:r>
              <a:rPr lang="en-US" dirty="0"/>
              <a:t>is the decryption key. </a:t>
            </a:r>
            <a:endParaRPr lang="en-US" dirty="0" smtClean="0"/>
          </a:p>
          <a:p>
            <a:r>
              <a:rPr lang="en-US" dirty="0" smtClean="0"/>
              <a:t>Let’s </a:t>
            </a:r>
            <a:r>
              <a:rPr lang="en-US" dirty="0"/>
              <a:t>suppose that the plaintext message has been converted into an integer P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127" y="2438400"/>
            <a:ext cx="5791199" cy="25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21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4888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encryption process is to compute </a:t>
            </a:r>
            <a:r>
              <a:rPr lang="en-US" dirty="0" err="1" smtClean="0"/>
              <a:t>P^e</a:t>
            </a:r>
            <a:r>
              <a:rPr lang="en-US" dirty="0" smtClean="0"/>
              <a:t> </a:t>
            </a:r>
            <a:r>
              <a:rPr lang="en-US" dirty="0"/>
              <a:t>using wraparound arithmetic with </a:t>
            </a:r>
            <a:r>
              <a:rPr lang="en-US" dirty="0" smtClean="0"/>
              <a:t>respect to n</a:t>
            </a:r>
          </a:p>
          <a:p>
            <a:r>
              <a:rPr lang="en-US" dirty="0"/>
              <a:t>. Continuing with our example, suppose P </a:t>
            </a:r>
            <a:r>
              <a:rPr lang="en-US" dirty="0" smtClean="0"/>
              <a:t>=  </a:t>
            </a:r>
            <a:r>
              <a:rPr lang="en-US" dirty="0"/>
              <a:t>3. Then the </a:t>
            </a:r>
            <a:r>
              <a:rPr lang="en-US" dirty="0" err="1"/>
              <a:t>ciphertext</a:t>
            </a:r>
            <a:r>
              <a:rPr lang="en-US" dirty="0"/>
              <a:t> is computed </a:t>
            </a:r>
            <a:r>
              <a:rPr lang="en-US" dirty="0" smtClean="0"/>
              <a:t>as</a:t>
            </a:r>
          </a:p>
          <a:p>
            <a:endParaRPr lang="en-US" dirty="0"/>
          </a:p>
          <a:p>
            <a:r>
              <a:rPr lang="en-US" dirty="0"/>
              <a:t>Note that the sender uses both parts of the public key, e and n, to compute the </a:t>
            </a:r>
            <a:r>
              <a:rPr lang="en-US" dirty="0" err="1" smtClean="0"/>
              <a:t>ciphertext</a:t>
            </a:r>
            <a:endParaRPr lang="en-US" dirty="0" smtClean="0"/>
          </a:p>
          <a:p>
            <a:r>
              <a:rPr lang="en-US" dirty="0"/>
              <a:t>) The receiver decodes the </a:t>
            </a:r>
            <a:r>
              <a:rPr lang="en-US" dirty="0" err="1"/>
              <a:t>ciphertext</a:t>
            </a:r>
            <a:r>
              <a:rPr lang="en-US" dirty="0"/>
              <a:t> C by computing C </a:t>
            </a:r>
            <a:r>
              <a:rPr lang="en-US" dirty="0" smtClean="0"/>
              <a:t>^d </a:t>
            </a:r>
            <a:r>
              <a:rPr lang="en-US" dirty="0"/>
              <a:t>using wraparound arithmetic with respect to n. In our example</a:t>
            </a:r>
            <a:r>
              <a:rPr lang="en-US" dirty="0" smtClean="0"/>
              <a:t>,</a:t>
            </a:r>
          </a:p>
          <a:p>
            <a:endParaRPr lang="en-US" dirty="0"/>
          </a:p>
          <a:p>
            <a:r>
              <a:rPr lang="en-US" dirty="0"/>
              <a:t>The whole point is that even though n and e are known, the attacker must determine d, which involves finding the prime factors p and q of 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There is no known </a:t>
            </a:r>
            <a:r>
              <a:rPr lang="en-US" dirty="0" smtClean="0"/>
              <a:t>computationally </a:t>
            </a:r>
            <a:r>
              <a:rPr lang="en-US" dirty="0"/>
              <a:t>efficient algorithm for this task.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579" y="3251414"/>
            <a:ext cx="4588020" cy="3889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580" y="4914994"/>
            <a:ext cx="4588019" cy="43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90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927" y="624110"/>
            <a:ext cx="9592685" cy="117698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1927" y="1801091"/>
            <a:ext cx="9592685" cy="4738254"/>
          </a:xfrm>
        </p:spPr>
        <p:txBody>
          <a:bodyPr/>
          <a:lstStyle/>
          <a:p>
            <a:r>
              <a:rPr lang="en-US" dirty="0" smtClean="0"/>
              <a:t>Another example is shown below.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454" y="2175164"/>
            <a:ext cx="6922819" cy="455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86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4999"/>
            <a:ext cx="8915400" cy="4578927"/>
          </a:xfrm>
        </p:spPr>
        <p:txBody>
          <a:bodyPr/>
          <a:lstStyle/>
          <a:p>
            <a:r>
              <a:rPr lang="en-US" b="1" dirty="0"/>
              <a:t>RSA Decryption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341418"/>
            <a:ext cx="8439005" cy="414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37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STREAM CIPHERS –RC4: PUBLIC KEY </a:t>
            </a:r>
            <a:r>
              <a:rPr lang="en-US" b="1" dirty="0" smtClean="0"/>
              <a:t>CRYPTOSYSTEMS 	QUIZ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32261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133599"/>
            <a:ext cx="8915400" cy="407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86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4327" y="624110"/>
            <a:ext cx="9440285" cy="117698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4327" y="1801091"/>
            <a:ext cx="9587345" cy="4738254"/>
          </a:xfrm>
        </p:spPr>
        <p:txBody>
          <a:bodyPr/>
          <a:lstStyle/>
          <a:p>
            <a:r>
              <a:rPr lang="en-US" b="1" dirty="0" smtClean="0"/>
              <a:t>RC4</a:t>
            </a:r>
          </a:p>
          <a:p>
            <a:r>
              <a:rPr lang="en-US" dirty="0"/>
              <a:t>RC4 means Rivest Cipher 4 invented by Ron Rivest in 1987 for RSA Security. It encrypts messages </a:t>
            </a:r>
            <a:r>
              <a:rPr lang="en-US" b="1" dirty="0"/>
              <a:t>one byte at a time via an algorithm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b="1" dirty="0" smtClean="0"/>
              <a:t>It </a:t>
            </a:r>
            <a:r>
              <a:rPr lang="en-US" b="1" dirty="0"/>
              <a:t>is a Stream </a:t>
            </a:r>
            <a:r>
              <a:rPr lang="en-US" b="1" dirty="0" smtClean="0"/>
              <a:t>Cipher</a:t>
            </a:r>
            <a:r>
              <a:rPr lang="en-US" dirty="0" smtClean="0"/>
              <a:t>.  </a:t>
            </a:r>
            <a:r>
              <a:rPr lang="en-US" dirty="0"/>
              <a:t>RC4 stream cipher is one of the most widely used stream ciphers because of its simplicity and speed of operation. </a:t>
            </a:r>
            <a:endParaRPr lang="en-US" dirty="0" smtClean="0"/>
          </a:p>
          <a:p>
            <a:r>
              <a:rPr lang="en-US" b="1" dirty="0"/>
              <a:t>It is a variable key-size stream cipher with byte-oriented operations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uses either 64 bit or 128-bit key sizes. It is generally used in applications such as </a:t>
            </a:r>
            <a:endParaRPr lang="en-US" dirty="0" smtClean="0"/>
          </a:p>
          <a:p>
            <a:pPr lvl="1"/>
            <a:r>
              <a:rPr lang="en-US" dirty="0" smtClean="0"/>
              <a:t>Secure </a:t>
            </a:r>
            <a:r>
              <a:rPr lang="en-US" dirty="0"/>
              <a:t>Socket Layer (SSL), Transport Layer Security (TLS), and also used in IEEE 802.11 wireless LAN std. </a:t>
            </a:r>
            <a:endParaRPr lang="en-US" dirty="0" smtClean="0"/>
          </a:p>
          <a:p>
            <a:r>
              <a:rPr lang="en-US" b="1" dirty="0" smtClean="0"/>
              <a:t>RC4 Encryption Procedure</a:t>
            </a:r>
          </a:p>
          <a:p>
            <a:pPr fontAlgn="base"/>
            <a:r>
              <a:rPr lang="en-US" dirty="0" smtClean="0"/>
              <a:t>1. The </a:t>
            </a:r>
            <a:r>
              <a:rPr lang="en-US" dirty="0"/>
              <a:t>user inputs a plain text file and a secret key.</a:t>
            </a:r>
          </a:p>
          <a:p>
            <a:pPr fontAlgn="base"/>
            <a:r>
              <a:rPr lang="en-US" dirty="0" smtClean="0"/>
              <a:t>2. The </a:t>
            </a:r>
            <a:r>
              <a:rPr lang="en-US" dirty="0"/>
              <a:t>encryption engine then generates the keystream by using KSA and PRGA Algorithm.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59427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637" y="624110"/>
            <a:ext cx="9564976" cy="1280890"/>
          </a:xfrm>
        </p:spPr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36" y="1905000"/>
            <a:ext cx="9564976" cy="4606636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3. This </a:t>
            </a:r>
            <a:r>
              <a:rPr lang="en-US" dirty="0"/>
              <a:t>keystream is now </a:t>
            </a:r>
            <a:r>
              <a:rPr lang="en-US" b="1" dirty="0"/>
              <a:t>XOR</a:t>
            </a:r>
            <a:r>
              <a:rPr lang="en-US" dirty="0"/>
              <a:t> with the plain text, this </a:t>
            </a:r>
            <a:r>
              <a:rPr lang="en-US" dirty="0" err="1"/>
              <a:t>XORing</a:t>
            </a:r>
            <a:r>
              <a:rPr lang="en-US" dirty="0"/>
              <a:t> is done byte by byte to produce the encrypted text.</a:t>
            </a:r>
          </a:p>
          <a:p>
            <a:pPr fontAlgn="base"/>
            <a:r>
              <a:rPr lang="en-US" dirty="0" smtClean="0"/>
              <a:t>4. The </a:t>
            </a:r>
            <a:r>
              <a:rPr lang="en-US" dirty="0"/>
              <a:t>encrypted text is then sent to the intended receiver, the intended receiver will then decrypted the text and after decryption, the receiver will get the original plain text.</a:t>
            </a:r>
          </a:p>
          <a:p>
            <a:pPr fontAlgn="base"/>
            <a:r>
              <a:rPr lang="en-US" b="1" dirty="0"/>
              <a:t>Decryption Procedure</a:t>
            </a:r>
          </a:p>
          <a:p>
            <a:pPr fontAlgn="base"/>
            <a:r>
              <a:rPr lang="en-US" dirty="0"/>
              <a:t>Decryption is achieved by doing the same byte-wise X-OR operation on the Ciphertext.</a:t>
            </a:r>
          </a:p>
          <a:p>
            <a:pPr fontAlgn="base"/>
            <a:r>
              <a:rPr lang="en-US" b="1" dirty="0"/>
              <a:t>Advantages</a:t>
            </a:r>
          </a:p>
          <a:p>
            <a:pPr fontAlgn="base"/>
            <a:r>
              <a:rPr lang="en-US" dirty="0"/>
              <a:t>RC4 stream ciphers are simple to use.</a:t>
            </a:r>
          </a:p>
          <a:p>
            <a:pPr fontAlgn="base"/>
            <a:r>
              <a:rPr lang="en-US" dirty="0"/>
              <a:t>The speed of operation in RC4 is fast as compared to other ciphers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224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5891" y="624110"/>
            <a:ext cx="9398721" cy="1280890"/>
          </a:xfrm>
        </p:spPr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5891" y="1904999"/>
            <a:ext cx="9398721" cy="4675909"/>
          </a:xfrm>
        </p:spPr>
        <p:txBody>
          <a:bodyPr/>
          <a:lstStyle/>
          <a:p>
            <a:pPr fontAlgn="base"/>
            <a:r>
              <a:rPr lang="en-US" dirty="0"/>
              <a:t>RC4 stream ciphers are strong in coding and easy to implement.</a:t>
            </a:r>
          </a:p>
          <a:p>
            <a:pPr fontAlgn="base"/>
            <a:r>
              <a:rPr lang="en-US" dirty="0"/>
              <a:t>RC4 stream ciphers do not require more memory.</a:t>
            </a:r>
          </a:p>
          <a:p>
            <a:pPr fontAlgn="base"/>
            <a:r>
              <a:rPr lang="en-US" dirty="0"/>
              <a:t>RC4 stream ciphers are implemented on large streams of data</a:t>
            </a:r>
            <a:r>
              <a:rPr lang="en-US" dirty="0" smtClean="0"/>
              <a:t>.</a:t>
            </a:r>
          </a:p>
          <a:p>
            <a:pPr marL="0" indent="0" fontAlgn="base">
              <a:buNone/>
            </a:pPr>
            <a:endParaRPr lang="en-US" dirty="0" smtClean="0"/>
          </a:p>
          <a:p>
            <a:pPr fontAlgn="base"/>
            <a:r>
              <a:rPr lang="en-US" b="1" dirty="0" smtClean="0"/>
              <a:t>Disadvantages</a:t>
            </a:r>
            <a:endParaRPr lang="en-US" dirty="0"/>
          </a:p>
          <a:p>
            <a:pPr fontAlgn="base"/>
            <a:r>
              <a:rPr lang="en-US" dirty="0"/>
              <a:t>RC4 stream ciphers </a:t>
            </a:r>
            <a:r>
              <a:rPr lang="en-US" b="1" dirty="0"/>
              <a:t>do not provide authentication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RC4 algorithm requires additional analysis before including new systems.</a:t>
            </a:r>
          </a:p>
          <a:p>
            <a:pPr fontAlgn="base"/>
            <a:r>
              <a:rPr lang="en-US" b="1" dirty="0"/>
              <a:t>RC4 stream ciphers cannot be implemented on small streams of data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RC4 fails to discard the beginning of output keystream or fails to use non-random or related keys for the algorithm.</a:t>
            </a:r>
          </a:p>
          <a:p>
            <a:pPr fontAlgn="base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619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2037" y="624110"/>
            <a:ext cx="9412576" cy="1280890"/>
          </a:xfrm>
        </p:spPr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2037" y="1905000"/>
            <a:ext cx="9412575" cy="460663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489" y="1905001"/>
            <a:ext cx="8188037" cy="460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43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9745" y="624110"/>
            <a:ext cx="9384867" cy="117698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STREAM CIPHERS –</a:t>
            </a:r>
            <a:r>
              <a:rPr lang="en-US" b="1" dirty="0" smtClean="0"/>
              <a:t>RC5: SYMETRIC </a:t>
            </a:r>
            <a:r>
              <a:rPr lang="en-US" b="1" dirty="0"/>
              <a:t>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9745" y="1904999"/>
            <a:ext cx="9384867" cy="4717473"/>
          </a:xfrm>
        </p:spPr>
        <p:txBody>
          <a:bodyPr/>
          <a:lstStyle/>
          <a:p>
            <a:r>
              <a:rPr lang="en-US" b="1" dirty="0" smtClean="0"/>
              <a:t>RC5</a:t>
            </a:r>
          </a:p>
          <a:p>
            <a:r>
              <a:rPr lang="en-US" dirty="0"/>
              <a:t>RC5 is a symmetric key </a:t>
            </a:r>
            <a:r>
              <a:rPr lang="en-US" b="1" dirty="0"/>
              <a:t>block encryption algorithm </a:t>
            </a:r>
            <a:r>
              <a:rPr lang="en-US" dirty="0"/>
              <a:t>designed by Ron Rivest in 1994.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notable for being simple, fast (on account of using only primitive computer operations like XOR, shift, etc.) and consumes less memory</a:t>
            </a:r>
            <a:r>
              <a:rPr lang="en-US" dirty="0" smtClean="0"/>
              <a:t>.</a:t>
            </a:r>
          </a:p>
          <a:p>
            <a:r>
              <a:rPr lang="en-US" dirty="0"/>
              <a:t>RC5 is a block cipher and </a:t>
            </a:r>
            <a:r>
              <a:rPr lang="en-US" b="1" dirty="0"/>
              <a:t>addresses two word blocks at a 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Depending </a:t>
            </a:r>
            <a:r>
              <a:rPr lang="en-US" dirty="0"/>
              <a:t>on input plain text block size, number of rounds and key size, various instances of RC5 can be defined and each instance is denoted as RC5-w/r/b </a:t>
            </a:r>
            <a:endParaRPr lang="en-US" dirty="0" smtClean="0"/>
          </a:p>
          <a:p>
            <a:pPr lvl="1"/>
            <a:r>
              <a:rPr lang="en-US" dirty="0" smtClean="0"/>
              <a:t>where </a:t>
            </a:r>
            <a:r>
              <a:rPr lang="en-US" dirty="0"/>
              <a:t>w=word size in bits, r=number of rounds and b=key size in bytes</a:t>
            </a:r>
            <a:r>
              <a:rPr lang="en-US" dirty="0" smtClean="0"/>
              <a:t>.</a:t>
            </a:r>
          </a:p>
          <a:p>
            <a:r>
              <a:rPr lang="en-US" b="1" dirty="0"/>
              <a:t>In RC5, the plain text message is divided into two blocks </a:t>
            </a:r>
            <a:r>
              <a:rPr lang="en-US" dirty="0"/>
              <a:t>A and B each of 32 bits. </a:t>
            </a:r>
            <a:r>
              <a:rPr lang="en-US" b="1" dirty="0"/>
              <a:t>Then two </a:t>
            </a:r>
            <a:r>
              <a:rPr lang="en-US" b="1" dirty="0" err="1"/>
              <a:t>subkeys</a:t>
            </a:r>
            <a:r>
              <a:rPr lang="en-US" b="1" dirty="0"/>
              <a:t> are generated S[0] and S[1]. </a:t>
            </a:r>
            <a:r>
              <a:rPr lang="en-US" dirty="0"/>
              <a:t>These two </a:t>
            </a:r>
            <a:r>
              <a:rPr lang="en-US" dirty="0" err="1"/>
              <a:t>subkeys</a:t>
            </a:r>
            <a:r>
              <a:rPr lang="en-US" dirty="0"/>
              <a:t> are added into A and B respectively.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713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1" y="624110"/>
            <a:ext cx="9675812" cy="1280890"/>
          </a:xfrm>
        </p:spPr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904999"/>
            <a:ext cx="9675812" cy="4634345"/>
          </a:xfrm>
        </p:spPr>
        <p:txBody>
          <a:bodyPr>
            <a:normAutofit/>
          </a:bodyPr>
          <a:lstStyle/>
          <a:p>
            <a:r>
              <a:rPr lang="en-US" dirty="0"/>
              <a:t>This process produces C and D respectively and marks the end of the one-time operation. </a:t>
            </a:r>
            <a:endParaRPr lang="en-US" dirty="0" smtClean="0"/>
          </a:p>
          <a:p>
            <a:r>
              <a:rPr lang="en-US" dirty="0" smtClean="0"/>
              <a:t>Then </a:t>
            </a:r>
            <a:r>
              <a:rPr lang="en-US" dirty="0"/>
              <a:t>the process of the round begins. In each round, the following operation is performed</a:t>
            </a:r>
            <a:r>
              <a:rPr lang="en-US" dirty="0" smtClean="0"/>
              <a:t>.</a:t>
            </a:r>
          </a:p>
          <a:p>
            <a:r>
              <a:rPr lang="en-US" dirty="0"/>
              <a:t>Bitwise XOR.</a:t>
            </a:r>
          </a:p>
          <a:p>
            <a:r>
              <a:rPr lang="en-US" dirty="0"/>
              <a:t>Left circular shift.</a:t>
            </a:r>
          </a:p>
          <a:p>
            <a:r>
              <a:rPr lang="en-US" dirty="0"/>
              <a:t>addition to the next subkey, for both C and D. This, is the addition operation, and then the result of the addition mod 2^w is performed</a:t>
            </a:r>
            <a:r>
              <a:rPr lang="en-US" dirty="0" smtClean="0"/>
              <a:t>.</a:t>
            </a:r>
          </a:p>
          <a:p>
            <a:r>
              <a:rPr lang="en-US" dirty="0"/>
              <a:t>The encryption routine is based on three primitive operations: integer addition, bitwise XOR- (exclusive-or) and variable rotation operations</a:t>
            </a:r>
            <a:r>
              <a:rPr lang="en-US" dirty="0" smtClean="0"/>
              <a:t>.</a:t>
            </a:r>
          </a:p>
          <a:p>
            <a:r>
              <a:rPr lang="en-US" dirty="0"/>
              <a:t>Bitwise XOR operator is also known as </a:t>
            </a:r>
            <a:r>
              <a:rPr lang="en-US" b="1" dirty="0"/>
              <a:t>Exclusive </a:t>
            </a:r>
            <a:r>
              <a:rPr lang="en-US" b="1" dirty="0" smtClean="0"/>
              <a:t>OR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445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5001"/>
            <a:ext cx="8915400" cy="456507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194" y="1905000"/>
            <a:ext cx="4989224" cy="456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79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655" y="624110"/>
            <a:ext cx="9661957" cy="1280890"/>
          </a:xfrm>
        </p:spPr>
        <p:txBody>
          <a:bodyPr/>
          <a:lstStyle/>
          <a:p>
            <a:pPr algn="ctr"/>
            <a:r>
              <a:rPr lang="en-US" b="1" dirty="0"/>
              <a:t>STREAM CIPHERS –RC4: PUBLIC KEY CRYPTOSYSTEMS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2655" y="1904999"/>
            <a:ext cx="9661957" cy="4620491"/>
          </a:xfrm>
        </p:spPr>
        <p:txBody>
          <a:bodyPr/>
          <a:lstStyle/>
          <a:p>
            <a:r>
              <a:rPr lang="en-US" b="1" dirty="0" smtClean="0"/>
              <a:t>Other Ciphers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655" y="2393372"/>
            <a:ext cx="8675977" cy="364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8915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1659</TotalTime>
  <Words>2437</Words>
  <Application>Microsoft Office PowerPoint</Application>
  <PresentationFormat>Widescreen</PresentationFormat>
  <Paragraphs>171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Century Gothic</vt:lpstr>
      <vt:lpstr>Garamond</vt:lpstr>
      <vt:lpstr>Times New Roman</vt:lpstr>
      <vt:lpstr>Wingdings</vt:lpstr>
      <vt:lpstr>Wingdings 3</vt:lpstr>
      <vt:lpstr>Wisp</vt:lpstr>
      <vt:lpstr>Introduction To Cryptography</vt:lpstr>
      <vt:lpstr>STREAM CIPHERS –RC4: PUBLIC KEY CRYPTOSYSTEMS 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  QUIZ 2</vt:lpstr>
      <vt:lpstr>STREAM CIPHERS –RC4: PUBLIC KEY CRYPTOSYSTEMS</vt:lpstr>
      <vt:lpstr>STREAM CIPHERS –RC4: PUBLIC KEY CRYPTOSYSTEMS</vt:lpstr>
      <vt:lpstr>STREAM CIPHERS –RC4: PUBLIC KEY CRYPTOSYSTEMS</vt:lpstr>
      <vt:lpstr>STREAM CIPHERS –RC4: PUBLIC KEY CRYPTOSYSTEMS</vt:lpstr>
      <vt:lpstr>STREAM CIPHERS –RC5: SYMETRIC KEY CRYPTOSYSTEMS</vt:lpstr>
      <vt:lpstr>STREAM CIPHERS –RC4: PUBLIC KEY CRYPTOSYSTEMS</vt:lpstr>
      <vt:lpstr>STREAM CIPHERS –RC4: PUBLIC KEY CRYPTOSYSTEMS</vt:lpstr>
      <vt:lpstr>STREAM CIPHERS –RC4: PUBLIC KEY CRYPTOSYSTEMS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Cryptography</dc:title>
  <dc:creator>HP</dc:creator>
  <cp:lastModifiedBy>HP</cp:lastModifiedBy>
  <cp:revision>59</cp:revision>
  <dcterms:created xsi:type="dcterms:W3CDTF">2023-02-12T19:14:44Z</dcterms:created>
  <dcterms:modified xsi:type="dcterms:W3CDTF">2023-02-22T11:55:55Z</dcterms:modified>
</cp:coreProperties>
</file>