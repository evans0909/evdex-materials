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702" r:id="rId2"/>
  </p:sldMasterIdLst>
  <p:notesMasterIdLst>
    <p:notesMasterId r:id="rId38"/>
  </p:notesMasterIdLst>
  <p:sldIdLst>
    <p:sldId id="309" r:id="rId3"/>
    <p:sldId id="258" r:id="rId4"/>
    <p:sldId id="283" r:id="rId5"/>
    <p:sldId id="259" r:id="rId6"/>
    <p:sldId id="260" r:id="rId7"/>
    <p:sldId id="262" r:id="rId8"/>
    <p:sldId id="304" r:id="rId9"/>
    <p:sldId id="263" r:id="rId10"/>
    <p:sldId id="264" r:id="rId11"/>
    <p:sldId id="265" r:id="rId12"/>
    <p:sldId id="268" r:id="rId13"/>
    <p:sldId id="310" r:id="rId14"/>
    <p:sldId id="311" r:id="rId15"/>
    <p:sldId id="269" r:id="rId16"/>
    <p:sldId id="266" r:id="rId17"/>
    <p:sldId id="282" r:id="rId18"/>
    <p:sldId id="284" r:id="rId19"/>
    <p:sldId id="301" r:id="rId20"/>
    <p:sldId id="285" r:id="rId21"/>
    <p:sldId id="286" r:id="rId22"/>
    <p:sldId id="303" r:id="rId23"/>
    <p:sldId id="302" r:id="rId24"/>
    <p:sldId id="305" r:id="rId25"/>
    <p:sldId id="287" r:id="rId26"/>
    <p:sldId id="288" r:id="rId27"/>
    <p:sldId id="289" r:id="rId28"/>
    <p:sldId id="306" r:id="rId29"/>
    <p:sldId id="290" r:id="rId30"/>
    <p:sldId id="293" r:id="rId31"/>
    <p:sldId id="296" r:id="rId32"/>
    <p:sldId id="292" r:id="rId33"/>
    <p:sldId id="294" r:id="rId34"/>
    <p:sldId id="295" r:id="rId35"/>
    <p:sldId id="299" r:id="rId36"/>
    <p:sldId id="298" r:id="rId37"/>
  </p:sldIdLst>
  <p:sldSz cx="9144000" cy="6858000" type="screen4x3"/>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CC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80" autoAdjust="0"/>
    <p:restoredTop sz="96433" autoAdjust="0"/>
  </p:normalViewPr>
  <p:slideViewPr>
    <p:cSldViewPr showGuides="1">
      <p:cViewPr varScale="1">
        <p:scale>
          <a:sx n="86" d="100"/>
          <a:sy n="86" d="100"/>
        </p:scale>
        <p:origin x="900" y="54"/>
      </p:cViewPr>
      <p:guideLst>
        <p:guide orient="horz" pos="2160"/>
        <p:guide pos="2880"/>
      </p:guideLst>
    </p:cSldViewPr>
  </p:slideViewPr>
  <p:outlineViewPr>
    <p:cViewPr>
      <p:scale>
        <a:sx n="33" d="100"/>
        <a:sy n="33" d="100"/>
      </p:scale>
      <p:origin x="0" y="5669"/>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0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27475" y="0"/>
            <a:ext cx="3005138" cy="460375"/>
          </a:xfrm>
          <a:prstGeom prst="rect">
            <a:avLst/>
          </a:prstGeom>
        </p:spPr>
        <p:txBody>
          <a:bodyPr vert="horz" lIns="91440" tIns="45720" rIns="91440" bIns="45720" rtlCol="0"/>
          <a:lstStyle>
            <a:lvl1pPr algn="r">
              <a:defRPr sz="1200"/>
            </a:lvl1pPr>
          </a:lstStyle>
          <a:p>
            <a:fld id="{C5BFB66B-918C-4D05-A89C-A1DCC051BE3F}" type="datetimeFigureOut">
              <a:rPr lang="en-US" smtClean="0"/>
              <a:t>6/30/2025</a:t>
            </a:fld>
            <a:endParaRPr lang="en-US"/>
          </a:p>
        </p:txBody>
      </p:sp>
      <p:sp>
        <p:nvSpPr>
          <p:cNvPr id="4" name="Slide Image Placeholder 3"/>
          <p:cNvSpPr>
            <a:spLocks noGrp="1" noRot="1" noChangeAspect="1"/>
          </p:cNvSpPr>
          <p:nvPr>
            <p:ph type="sldImg" idx="2"/>
          </p:nvPr>
        </p:nvSpPr>
        <p:spPr>
          <a:xfrm>
            <a:off x="1162050" y="692150"/>
            <a:ext cx="4610100" cy="3457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3738" y="4379913"/>
            <a:ext cx="5546725" cy="41481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8238"/>
            <a:ext cx="3005138" cy="460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27475" y="8758238"/>
            <a:ext cx="3005138" cy="460375"/>
          </a:xfrm>
          <a:prstGeom prst="rect">
            <a:avLst/>
          </a:prstGeom>
        </p:spPr>
        <p:txBody>
          <a:bodyPr vert="horz" lIns="91440" tIns="45720" rIns="91440" bIns="45720" rtlCol="0" anchor="b"/>
          <a:lstStyle>
            <a:lvl1pPr algn="r">
              <a:defRPr sz="1200"/>
            </a:lvl1pPr>
          </a:lstStyle>
          <a:p>
            <a:fld id="{46C24255-F367-47F5-80CA-FC1789B3F07A}" type="slidenum">
              <a:rPr lang="en-US" smtClean="0"/>
              <a:t>‹#›</a:t>
            </a:fld>
            <a:endParaRPr lang="en-US"/>
          </a:p>
        </p:txBody>
      </p:sp>
    </p:spTree>
    <p:extLst>
      <p:ext uri="{BB962C8B-B14F-4D97-AF65-F5344CB8AC3E}">
        <p14:creationId xmlns:p14="http://schemas.microsoft.com/office/powerpoint/2010/main" val="3657785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smtClean="0"/>
              <a:t>CRAC – computer room</a:t>
            </a:r>
            <a:r>
              <a:rPr lang="it-IT" baseline="0" dirty="0" smtClean="0"/>
              <a:t> air conditioning</a:t>
            </a:r>
          </a:p>
          <a:p>
            <a:r>
              <a:rPr lang="it-IT" baseline="0" dirty="0" smtClean="0"/>
              <a:t>PDU – Power distribution unit</a:t>
            </a:r>
          </a:p>
          <a:p>
            <a:r>
              <a:rPr lang="it-IT" baseline="0" dirty="0" smtClean="0"/>
              <a:t>UPS – Uninterruptible power supply</a:t>
            </a:r>
            <a:endParaRPr lang="en-US" dirty="0"/>
          </a:p>
        </p:txBody>
      </p:sp>
      <p:sp>
        <p:nvSpPr>
          <p:cNvPr id="4" name="Slide Number Placeholder 3"/>
          <p:cNvSpPr>
            <a:spLocks noGrp="1"/>
          </p:cNvSpPr>
          <p:nvPr>
            <p:ph type="sldNum" sz="quarter" idx="10"/>
          </p:nvPr>
        </p:nvSpPr>
        <p:spPr/>
        <p:txBody>
          <a:bodyPr/>
          <a:lstStyle/>
          <a:p>
            <a:fld id="{46C24255-F367-47F5-80CA-FC1789B3F07A}" type="slidenum">
              <a:rPr lang="en-US" smtClean="0"/>
              <a:t>7</a:t>
            </a:fld>
            <a:endParaRPr lang="en-US"/>
          </a:p>
        </p:txBody>
      </p:sp>
    </p:spTree>
    <p:extLst>
      <p:ext uri="{BB962C8B-B14F-4D97-AF65-F5344CB8AC3E}">
        <p14:creationId xmlns:p14="http://schemas.microsoft.com/office/powerpoint/2010/main" val="4045945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200" b="0" i="0" kern="1200" dirty="0" smtClean="0">
                <a:solidFill>
                  <a:schemeClr val="tx1"/>
                </a:solidFill>
                <a:effectLst/>
                <a:latin typeface="+mn-lt"/>
                <a:ea typeface="+mn-ea"/>
                <a:cs typeface="+mn-cs"/>
              </a:rPr>
              <a:t>I pannelli della pavimentazione (60x60, 120X60, 60X40 cm) sono realizzati secondo tre livelli: la finitura superficiale, l'anima interna e il rivestimento inferiore. Il piano di calpestio realizza la componente estetica di finitura, capace di offrire la stessa resa visiva di un pavimento tradizionale grazie ai più svariati materiali (laminato, PVC, gomma, linoleum, moquette, parquet, gres porcellanato, marmi e graniti naturali). L'anima del pannello è l’insieme dei materiali strutturali (conglomerato ligneo ad alta densità o solfato di calcio) disposto sotto lo strato di rivestimento superficiale, mentre la parte inferiore è la faccia nascosta del pannello, con la funzione di migliorare le caratteristiche meccaniche e la protezione dall’umidità (laminato plastico, alluminio, carta melaminica, lamiera o acciaio zincato).</a:t>
            </a:r>
            <a:endParaRPr lang="en-US" dirty="0"/>
          </a:p>
        </p:txBody>
      </p:sp>
      <p:sp>
        <p:nvSpPr>
          <p:cNvPr id="4" name="Slide Number Placeholder 3"/>
          <p:cNvSpPr>
            <a:spLocks noGrp="1"/>
          </p:cNvSpPr>
          <p:nvPr>
            <p:ph type="sldNum" sz="quarter" idx="10"/>
          </p:nvPr>
        </p:nvSpPr>
        <p:spPr/>
        <p:txBody>
          <a:bodyPr/>
          <a:lstStyle/>
          <a:p>
            <a:fld id="{46C24255-F367-47F5-80CA-FC1789B3F07A}" type="slidenum">
              <a:rPr lang="en-US" smtClean="0"/>
              <a:t>17</a:t>
            </a:fld>
            <a:endParaRPr lang="en-US"/>
          </a:p>
        </p:txBody>
      </p:sp>
    </p:spTree>
    <p:extLst>
      <p:ext uri="{BB962C8B-B14F-4D97-AF65-F5344CB8AC3E}">
        <p14:creationId xmlns:p14="http://schemas.microsoft.com/office/powerpoint/2010/main" val="3982809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200" b="0" i="0" kern="1200" dirty="0" smtClean="0">
                <a:solidFill>
                  <a:schemeClr val="tx1"/>
                </a:solidFill>
                <a:effectLst/>
                <a:latin typeface="+mn-lt"/>
                <a:ea typeface="+mn-ea"/>
                <a:cs typeface="+mn-cs"/>
              </a:rPr>
              <a:t>La normativa europea di riferimento del settore pavimenti sopraelevati è la </a:t>
            </a:r>
            <a:r>
              <a:rPr lang="it-IT" sz="1200" b="1" i="0" kern="1200" dirty="0" smtClean="0">
                <a:solidFill>
                  <a:schemeClr val="tx1"/>
                </a:solidFill>
                <a:effectLst/>
                <a:latin typeface="+mn-lt"/>
                <a:ea typeface="+mn-ea"/>
                <a:cs typeface="+mn-cs"/>
              </a:rPr>
              <a:t>EN 12825</a:t>
            </a:r>
            <a:r>
              <a:rPr lang="it-IT" sz="1200" b="0" i="0" kern="1200" dirty="0" smtClean="0">
                <a:solidFill>
                  <a:schemeClr val="tx1"/>
                </a:solidFill>
                <a:effectLst/>
                <a:latin typeface="+mn-lt"/>
                <a:ea typeface="+mn-ea"/>
                <a:cs typeface="+mn-cs"/>
              </a:rPr>
              <a:t> che si riferisce al parametro univoco del “</a:t>
            </a:r>
            <a:r>
              <a:rPr lang="it-IT" sz="1200" b="0" i="0" u="sng" kern="1200" dirty="0" smtClean="0">
                <a:solidFill>
                  <a:schemeClr val="tx1"/>
                </a:solidFill>
                <a:effectLst/>
                <a:latin typeface="+mn-lt"/>
                <a:ea typeface="+mn-ea"/>
                <a:cs typeface="+mn-cs"/>
              </a:rPr>
              <a:t>Carico Massimo di Sicurezza</a:t>
            </a:r>
            <a:r>
              <a:rPr lang="it-IT" sz="1200" b="0" i="0" kern="1200" dirty="0" smtClean="0">
                <a:solidFill>
                  <a:schemeClr val="tx1"/>
                </a:solidFill>
                <a:effectLst/>
                <a:latin typeface="+mn-lt"/>
                <a:ea typeface="+mn-ea"/>
                <a:cs typeface="+mn-cs"/>
              </a:rPr>
              <a:t>” (vicinissimo, dal punto vista tecnico, al carico di rottura). Questo carico è inteso come il </a:t>
            </a:r>
            <a:r>
              <a:rPr lang="it-IT" sz="1200" b="1" i="0" kern="1200" dirty="0" smtClean="0">
                <a:solidFill>
                  <a:schemeClr val="tx1"/>
                </a:solidFill>
                <a:effectLst/>
                <a:latin typeface="+mn-lt"/>
                <a:ea typeface="+mn-ea"/>
                <a:cs typeface="+mn-cs"/>
              </a:rPr>
              <a:t>carico massimo concentrato</a:t>
            </a:r>
            <a:r>
              <a:rPr lang="it-IT" sz="1200" b="0" i="0" kern="1200" dirty="0" smtClean="0">
                <a:solidFill>
                  <a:schemeClr val="tx1"/>
                </a:solidFill>
                <a:effectLst/>
                <a:latin typeface="+mn-lt"/>
                <a:ea typeface="+mn-ea"/>
                <a:cs typeface="+mn-cs"/>
              </a:rPr>
              <a:t> al quale un sistema di pavimenti sopraelevati può resistere sul suo punto più debole, per una durata massima di 5 minuti, senza collassare.</a:t>
            </a:r>
          </a:p>
          <a:p>
            <a:endParaRPr lang="it-IT" sz="1200" b="0" i="0" kern="1200" dirty="0" smtClean="0">
              <a:solidFill>
                <a:schemeClr val="tx1"/>
              </a:solidFill>
              <a:effectLst/>
              <a:latin typeface="+mn-lt"/>
              <a:ea typeface="+mn-ea"/>
              <a:cs typeface="+mn-cs"/>
            </a:endParaRPr>
          </a:p>
          <a:p>
            <a:pPr fontAlgn="base"/>
            <a:r>
              <a:rPr lang="it-IT" sz="1200" b="0" i="0" kern="1200" dirty="0" smtClean="0">
                <a:solidFill>
                  <a:schemeClr val="tx1"/>
                </a:solidFill>
                <a:effectLst/>
                <a:latin typeface="+mn-lt"/>
                <a:ea typeface="+mn-ea"/>
                <a:cs typeface="+mn-cs"/>
              </a:rPr>
              <a:t>Per comprendere meglio il metodo di misurazione è utile chiarire alcune definizioni:</a:t>
            </a:r>
          </a:p>
          <a:p>
            <a:pPr fontAlgn="base"/>
            <a:r>
              <a:rPr lang="it-IT" sz="1200" b="1" i="0" kern="1200" dirty="0" smtClean="0">
                <a:solidFill>
                  <a:schemeClr val="tx1"/>
                </a:solidFill>
                <a:effectLst/>
                <a:latin typeface="+mn-lt"/>
                <a:ea typeface="+mn-ea"/>
                <a:cs typeface="+mn-cs"/>
              </a:rPr>
              <a:t>Il carico massimo</a:t>
            </a:r>
            <a:r>
              <a:rPr lang="it-IT" sz="1200" b="0" i="0" kern="1200" dirty="0" smtClean="0">
                <a:solidFill>
                  <a:schemeClr val="tx1"/>
                </a:solidFill>
                <a:effectLst/>
                <a:latin typeface="+mn-lt"/>
                <a:ea typeface="+mn-ea"/>
                <a:cs typeface="+mn-cs"/>
              </a:rPr>
              <a:t> è carico al momento del cedimento dell’elemento durante lo specifico procedimento di prova. Il carico massimo è talvolta chiamato carico di rottura.</a:t>
            </a:r>
          </a:p>
          <a:p>
            <a:pPr fontAlgn="base"/>
            <a:r>
              <a:rPr lang="it-IT" sz="1200" b="1" i="0" kern="1200" dirty="0" smtClean="0">
                <a:solidFill>
                  <a:schemeClr val="tx1"/>
                </a:solidFill>
                <a:effectLst/>
                <a:latin typeface="+mn-lt"/>
                <a:ea typeface="+mn-ea"/>
                <a:cs typeface="+mn-cs"/>
              </a:rPr>
              <a:t>Il coefficiente di sicurezza</a:t>
            </a:r>
            <a:r>
              <a:rPr lang="it-IT" sz="1200" b="0" i="0" kern="1200" dirty="0" smtClean="0">
                <a:solidFill>
                  <a:schemeClr val="tx1"/>
                </a:solidFill>
                <a:effectLst/>
                <a:latin typeface="+mn-lt"/>
                <a:ea typeface="+mn-ea"/>
                <a:cs typeface="+mn-cs"/>
              </a:rPr>
              <a:t> è il fattore per il quale è diviso il carico massimo per determinare il carico di esercizio.</a:t>
            </a:r>
          </a:p>
          <a:p>
            <a:pPr fontAlgn="base"/>
            <a:r>
              <a:rPr lang="it-IT" sz="1200" b="1" i="0" kern="1200" dirty="0" smtClean="0">
                <a:solidFill>
                  <a:schemeClr val="tx1"/>
                </a:solidFill>
                <a:effectLst/>
                <a:latin typeface="+mn-lt"/>
                <a:ea typeface="+mn-ea"/>
                <a:cs typeface="+mn-cs"/>
              </a:rPr>
              <a:t>Carico di esercizio</a:t>
            </a:r>
            <a:r>
              <a:rPr lang="it-IT" sz="1200" b="0" i="0" kern="1200" dirty="0" smtClean="0">
                <a:solidFill>
                  <a:schemeClr val="tx1"/>
                </a:solidFill>
                <a:effectLst/>
                <a:latin typeface="+mn-lt"/>
                <a:ea typeface="+mn-ea"/>
                <a:cs typeface="+mn-cs"/>
              </a:rPr>
              <a:t> è il carico ottenuto dividendo il carico massimo per il fattore di sicurezza. Il carico di esercizio è talvolta chiamato carico di progetto o carico nominale.</a:t>
            </a:r>
          </a:p>
          <a:p>
            <a:pPr fontAlgn="base"/>
            <a:r>
              <a:rPr lang="it-IT" sz="1200" b="0" i="0" kern="1200" dirty="0" smtClean="0">
                <a:solidFill>
                  <a:schemeClr val="tx1"/>
                </a:solidFill>
                <a:effectLst/>
                <a:latin typeface="+mn-lt"/>
                <a:ea typeface="+mn-ea"/>
                <a:cs typeface="+mn-cs"/>
              </a:rPr>
              <a:t> Il carico massimo concentrato diviso per il coefficiente di sicurezza previsto dallo Stato membro in ambito nazionale determina quindi il “carico di esercizio”.</a:t>
            </a:r>
          </a:p>
          <a:p>
            <a:pPr fontAlgn="base"/>
            <a:r>
              <a:rPr lang="it-IT" sz="1200" b="0" i="0" kern="1200" dirty="0" smtClean="0">
                <a:solidFill>
                  <a:schemeClr val="tx1"/>
                </a:solidFill>
                <a:effectLst/>
                <a:latin typeface="+mn-lt"/>
                <a:ea typeface="+mn-ea"/>
                <a:cs typeface="+mn-cs"/>
              </a:rPr>
              <a:t>Ad esempio, un carico massimo di sicurezza 9 </a:t>
            </a:r>
            <a:r>
              <a:rPr lang="it-IT" sz="1200" b="0" i="0" kern="1200" dirty="0" err="1" smtClean="0">
                <a:solidFill>
                  <a:schemeClr val="tx1"/>
                </a:solidFill>
                <a:effectLst/>
                <a:latin typeface="+mn-lt"/>
                <a:ea typeface="+mn-ea"/>
                <a:cs typeface="+mn-cs"/>
              </a:rPr>
              <a:t>kN</a:t>
            </a:r>
            <a:r>
              <a:rPr lang="it-IT" sz="1200" b="0" i="0" kern="1200" dirty="0" smtClean="0">
                <a:solidFill>
                  <a:schemeClr val="tx1"/>
                </a:solidFill>
                <a:effectLst/>
                <a:latin typeface="+mn-lt"/>
                <a:ea typeface="+mn-ea"/>
                <a:cs typeface="+mn-cs"/>
              </a:rPr>
              <a:t> sarà classificato in Italia, in Germania e in Francia, dove il coefficiente di sicurezza è 2, esprimerà un </a:t>
            </a:r>
            <a:r>
              <a:rPr lang="it-IT" sz="1200" b="0" i="1" kern="1200" dirty="0" smtClean="0">
                <a:solidFill>
                  <a:schemeClr val="tx1"/>
                </a:solidFill>
                <a:effectLst/>
                <a:latin typeface="+mn-lt"/>
                <a:ea typeface="+mn-ea"/>
                <a:cs typeface="+mn-cs"/>
              </a:rPr>
              <a:t>carico di esercizio</a:t>
            </a:r>
            <a:r>
              <a:rPr lang="it-IT" sz="1200" b="0" i="0" kern="1200" dirty="0" smtClean="0">
                <a:solidFill>
                  <a:schemeClr val="tx1"/>
                </a:solidFill>
                <a:effectLst/>
                <a:latin typeface="+mn-lt"/>
                <a:ea typeface="+mn-ea"/>
                <a:cs typeface="+mn-cs"/>
              </a:rPr>
              <a:t> di  9 / 2 = 4,5 </a:t>
            </a:r>
            <a:r>
              <a:rPr lang="it-IT" sz="1200" b="0" i="0" kern="1200" dirty="0" err="1" smtClean="0">
                <a:solidFill>
                  <a:schemeClr val="tx1"/>
                </a:solidFill>
                <a:effectLst/>
                <a:latin typeface="+mn-lt"/>
                <a:ea typeface="+mn-ea"/>
                <a:cs typeface="+mn-cs"/>
              </a:rPr>
              <a:t>kN</a:t>
            </a:r>
            <a:r>
              <a:rPr lang="it-IT" sz="1200" b="0" i="0" kern="1200" dirty="0" smtClean="0">
                <a:solidFill>
                  <a:schemeClr val="tx1"/>
                </a:solidFill>
                <a:effectLst/>
                <a:latin typeface="+mn-lt"/>
                <a:ea typeface="+mn-ea"/>
                <a:cs typeface="+mn-cs"/>
              </a:rPr>
              <a:t>. In Inghilterra, invece, dove il coefficiente di sicurezza è 3 il “carico di esercizio”  sarà di 9 / 3 = 3 </a:t>
            </a:r>
            <a:r>
              <a:rPr lang="it-IT" sz="1200" b="0" i="0" kern="1200" dirty="0" err="1" smtClean="0">
                <a:solidFill>
                  <a:schemeClr val="tx1"/>
                </a:solidFill>
                <a:effectLst/>
                <a:latin typeface="+mn-lt"/>
                <a:ea typeface="+mn-ea"/>
                <a:cs typeface="+mn-cs"/>
              </a:rPr>
              <a:t>kN</a:t>
            </a:r>
            <a:r>
              <a:rPr lang="it-IT" sz="1200" b="0" i="0" kern="1200" dirty="0" smtClean="0">
                <a:solidFill>
                  <a:schemeClr val="tx1"/>
                </a:solidFill>
                <a:effectLst/>
                <a:latin typeface="+mn-lt"/>
                <a:ea typeface="+mn-ea"/>
                <a:cs typeface="+mn-cs"/>
              </a:rPr>
              <a:t>.</a:t>
            </a:r>
          </a:p>
          <a:p>
            <a:endParaRPr lang="it-IT" dirty="0" smtClean="0"/>
          </a:p>
          <a:p>
            <a:pPr fontAlgn="base"/>
            <a:r>
              <a:rPr lang="it-IT" sz="1200" b="0" i="0" kern="1200" dirty="0" smtClean="0">
                <a:solidFill>
                  <a:schemeClr val="tx1"/>
                </a:solidFill>
                <a:effectLst/>
                <a:latin typeface="+mn-lt"/>
                <a:ea typeface="+mn-ea"/>
                <a:cs typeface="+mn-cs"/>
              </a:rPr>
              <a:t>La vigente normativa europea in materia di resistenza meccanica EN 12825 non prevede prove di carico uniformemente distribuito. </a:t>
            </a:r>
          </a:p>
          <a:p>
            <a:pPr fontAlgn="base"/>
            <a:endParaRPr lang="it-IT" sz="1200" b="0" i="0" kern="1200" dirty="0" smtClean="0">
              <a:solidFill>
                <a:schemeClr val="tx1"/>
              </a:solidFill>
              <a:effectLst/>
              <a:latin typeface="+mn-lt"/>
              <a:ea typeface="+mn-ea"/>
              <a:cs typeface="+mn-cs"/>
            </a:endParaRPr>
          </a:p>
          <a:p>
            <a:pPr fontAlgn="base"/>
            <a:r>
              <a:rPr lang="it-IT" sz="1200" b="0" i="0" kern="1200" dirty="0" smtClean="0">
                <a:solidFill>
                  <a:schemeClr val="tx1"/>
                </a:solidFill>
                <a:effectLst/>
                <a:latin typeface="+mn-lt"/>
                <a:ea typeface="+mn-ea"/>
                <a:cs typeface="+mn-cs"/>
              </a:rPr>
              <a:t>Questo carico viene ancora oggi espresso poiché, per consuetudine, nel settore edilizio ci si riferisce con lo stesso parametro alla portata dei solai.</a:t>
            </a:r>
          </a:p>
          <a:p>
            <a:pPr fontAlgn="base"/>
            <a:r>
              <a:rPr lang="it-IT" sz="1200" b="0" i="0" kern="1200" dirty="0" smtClean="0">
                <a:solidFill>
                  <a:schemeClr val="tx1"/>
                </a:solidFill>
                <a:effectLst/>
                <a:latin typeface="+mn-lt"/>
                <a:ea typeface="+mn-ea"/>
                <a:cs typeface="+mn-cs"/>
              </a:rPr>
              <a:t>I pavimenti sopraelevati presentano normalmente, al carico distribuito, una resistenza superiore a quella del solaio o soletta su cui poggiano; per questo motivo tale criterio di giudizio non viene osservato dalle attuali norme che si riferiscono al settore dei pavimenti flottanti.</a:t>
            </a:r>
          </a:p>
          <a:p>
            <a:endParaRPr lang="en-US" dirty="0"/>
          </a:p>
        </p:txBody>
      </p:sp>
      <p:sp>
        <p:nvSpPr>
          <p:cNvPr id="4" name="Slide Number Placeholder 3"/>
          <p:cNvSpPr>
            <a:spLocks noGrp="1"/>
          </p:cNvSpPr>
          <p:nvPr>
            <p:ph type="sldNum" sz="quarter" idx="10"/>
          </p:nvPr>
        </p:nvSpPr>
        <p:spPr/>
        <p:txBody>
          <a:bodyPr/>
          <a:lstStyle/>
          <a:p>
            <a:fld id="{46C24255-F367-47F5-80CA-FC1789B3F07A}" type="slidenum">
              <a:rPr lang="en-US" smtClean="0"/>
              <a:t>19</a:t>
            </a:fld>
            <a:endParaRPr lang="en-US"/>
          </a:p>
        </p:txBody>
      </p:sp>
    </p:spTree>
    <p:extLst>
      <p:ext uri="{BB962C8B-B14F-4D97-AF65-F5344CB8AC3E}">
        <p14:creationId xmlns:p14="http://schemas.microsoft.com/office/powerpoint/2010/main" val="2215690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1771345086"/>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2728912" y="1239838"/>
            <a:ext cx="6048376" cy="1354217"/>
          </a:xfrm>
          <a:prstGeom prst="rect">
            <a:avLst/>
          </a:prstGeom>
          <a:noFill/>
        </p:spPr>
        <p:txBody>
          <a:bodyPr lIns="0" tIns="0" rIns="0" bIns="0" anchor="b" anchorCtr="0">
            <a:spAutoFit/>
          </a:bodyPr>
          <a:lstStyle>
            <a:lvl1pPr>
              <a:defRPr sz="4400">
                <a:solidFill>
                  <a:schemeClr val="tx2"/>
                </a:solidFill>
                <a:latin typeface="Verdana" pitchFamily="34" charset="0"/>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bwMode="gray">
          <a:xfrm>
            <a:off x="2728914" y="3025775"/>
            <a:ext cx="6048375" cy="369332"/>
          </a:xfrm>
          <a:prstGeom prst="rect">
            <a:avLst/>
          </a:prstGeom>
          <a:noFill/>
        </p:spPr>
        <p:txBody>
          <a:bodyPr lIns="0" tIns="0" rIns="0" bIns="0">
            <a:spAutoFit/>
          </a:bodyPr>
          <a:lstStyle>
            <a:lvl1pPr marL="0" indent="0" algn="l">
              <a:spcBef>
                <a:spcPts val="0"/>
              </a:spcBef>
              <a:buNone/>
              <a:defRPr sz="2400">
                <a:solidFill>
                  <a:schemeClr val="bg2"/>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Picture Placeholder 2"/>
          <p:cNvSpPr>
            <a:spLocks noGrp="1"/>
          </p:cNvSpPr>
          <p:nvPr>
            <p:ph type="pic" idx="10"/>
          </p:nvPr>
        </p:nvSpPr>
        <p:spPr bwMode="gray">
          <a:xfrm>
            <a:off x="0" y="0"/>
            <a:ext cx="2439989" cy="6172200"/>
          </a:xfrm>
          <a:prstGeom prst="rect">
            <a:avLst/>
          </a:prstGeom>
        </p:spPr>
        <p:txBody>
          <a:bodyPr/>
          <a:lstStyle>
            <a:lvl1pPr marL="0" indent="0">
              <a:buNone/>
              <a:defRPr sz="1600">
                <a:latin typeface="Verdana"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7" name="Content Placeholder 6"/>
          <p:cNvSpPr>
            <a:spLocks noGrp="1"/>
          </p:cNvSpPr>
          <p:nvPr>
            <p:ph sz="quarter" idx="11"/>
          </p:nvPr>
        </p:nvSpPr>
        <p:spPr bwMode="gray">
          <a:xfrm>
            <a:off x="2728914" y="4120284"/>
            <a:ext cx="6048375" cy="276999"/>
          </a:xfrm>
          <a:prstGeom prst="rect">
            <a:avLst/>
          </a:prstGeom>
          <a:noFill/>
        </p:spPr>
        <p:txBody>
          <a:bodyPr vert="horz" wrap="square" lIns="0" tIns="0" rIns="0" bIns="0" rtlCol="0">
            <a:spAutoFit/>
          </a:bodyPr>
          <a:lstStyle>
            <a:lvl1pPr>
              <a:spcBef>
                <a:spcPts val="0"/>
              </a:spcBef>
              <a:buNone/>
              <a:defRPr kumimoji="0" lang="en-US" sz="1800" b="0" i="0" u="none" strike="noStrike" kern="1200" cap="none" spc="0" normalizeH="0" baseline="0" noProof="0" dirty="0" smtClean="0">
                <a:ln>
                  <a:noFill/>
                </a:ln>
                <a:solidFill>
                  <a:schemeClr val="bg2"/>
                </a:solidFill>
                <a:effectLst/>
                <a:uLnTx/>
                <a:uFillTx/>
                <a:latin typeface="Verdana" pitchFamily="34" charset="0"/>
                <a:ea typeface="+mn-ea"/>
                <a:cs typeface="+mn-cs"/>
              </a:defRPr>
            </a:lvl1pPr>
          </a:lstStyle>
          <a:p>
            <a:pPr marL="0" marR="0" lvl="0" indent="0" algn="l" defTabSz="914400" rtl="0" eaLnBrk="1" fontAlgn="auto" latinLnBrk="0" hangingPunct="1">
              <a:lnSpc>
                <a:spcPct val="100000"/>
              </a:lnSpc>
              <a:spcBef>
                <a:spcPct val="20000"/>
              </a:spcBef>
              <a:spcAft>
                <a:spcPts val="0"/>
              </a:spcAft>
              <a:buClr>
                <a:srgbClr val="2C95DD"/>
              </a:buClr>
              <a:buSzTx/>
              <a:tabLst/>
              <a:defRPr/>
            </a:pPr>
            <a:r>
              <a:rPr lang="en-US" smtClean="0"/>
              <a:t>Click to edit Master text styles</a:t>
            </a:r>
          </a:p>
        </p:txBody>
      </p:sp>
    </p:spTree>
  </p:cSld>
  <p:clrMapOvr>
    <a:masterClrMapping/>
  </p:clrMapOvr>
  <p:transition>
    <p:fade/>
  </p:transition>
  <p:timing>
    <p:tnLst>
      <p:par>
        <p:cTn id="1" dur="indefinite" restart="never" nodeType="tmRoot"/>
      </p:par>
    </p:tnLst>
  </p:timing>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2728913" y="1331834"/>
            <a:ext cx="6048376" cy="1354217"/>
          </a:xfrm>
          <a:prstGeom prst="rect">
            <a:avLst/>
          </a:prstGeom>
          <a:noFill/>
        </p:spPr>
        <p:txBody>
          <a:bodyPr lIns="0" tIns="0" rIns="0" bIns="0" anchor="b" anchorCtr="0">
            <a:spAutoFit/>
          </a:bodyPr>
          <a:lstStyle>
            <a:lvl1pPr algn="l" defTabSz="914400" rtl="0" eaLnBrk="1" latinLnBrk="0" hangingPunct="1">
              <a:spcBef>
                <a:spcPct val="0"/>
              </a:spcBef>
              <a:buNone/>
              <a:defRPr lang="en-US" sz="4400" kern="1200" dirty="0">
                <a:solidFill>
                  <a:schemeClr val="tx2"/>
                </a:solidFill>
                <a:latin typeface="Verdana" pitchFamily="34" charset="0"/>
                <a:ea typeface="+mj-ea"/>
                <a:cs typeface="+mj-cs"/>
              </a:defRPr>
            </a:lvl1pPr>
          </a:lstStyle>
          <a:p>
            <a:r>
              <a:rPr lang="en-US" dirty="0" smtClean="0"/>
              <a:t>Click To Edit Master Title Style</a:t>
            </a:r>
            <a:endParaRPr lang="en-US" dirty="0"/>
          </a:p>
        </p:txBody>
      </p:sp>
      <p:sp>
        <p:nvSpPr>
          <p:cNvPr id="4" name="Picture Placeholder 2"/>
          <p:cNvSpPr>
            <a:spLocks noGrp="1"/>
          </p:cNvSpPr>
          <p:nvPr>
            <p:ph type="pic" idx="1"/>
          </p:nvPr>
        </p:nvSpPr>
        <p:spPr bwMode="gray">
          <a:xfrm>
            <a:off x="0" y="0"/>
            <a:ext cx="2439989" cy="6172200"/>
          </a:xfrm>
          <a:prstGeom prst="rect">
            <a:avLst/>
          </a:prstGeom>
          <a:noFill/>
        </p:spPr>
        <p:txBody>
          <a:bodyPr/>
          <a:lstStyle>
            <a:lvl1pPr marL="0" indent="0">
              <a:buNone/>
              <a:defRPr sz="1600">
                <a:latin typeface="Verdana"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grpSp>
        <p:nvGrpSpPr>
          <p:cNvPr id="8" name="Group 7"/>
          <p:cNvGrpSpPr/>
          <p:nvPr userDrawn="1"/>
        </p:nvGrpSpPr>
        <p:grpSpPr bwMode="gray">
          <a:xfrm>
            <a:off x="0" y="0"/>
            <a:ext cx="9144000" cy="5886451"/>
            <a:chOff x="0" y="0"/>
            <a:chExt cx="9144000" cy="4414838"/>
          </a:xfrm>
        </p:grpSpPr>
        <p:sp>
          <p:nvSpPr>
            <p:cNvPr id="6" name="Rectangle 5"/>
            <p:cNvSpPr/>
            <p:nvPr userDrawn="1"/>
          </p:nvSpPr>
          <p:spPr bwMode="gray">
            <a:xfrm>
              <a:off x="0" y="0"/>
              <a:ext cx="9144000" cy="2168501"/>
            </a:xfrm>
            <a:prstGeom prst="rect">
              <a:avLst/>
            </a:prstGeom>
            <a:gradFill flip="none" rotWithShape="1">
              <a:gsLst>
                <a:gs pos="0">
                  <a:schemeClr val="bg1"/>
                </a:gs>
                <a:gs pos="34000">
                  <a:schemeClr val="accent1">
                    <a:tint val="13500"/>
                    <a:satMod val="250000"/>
                  </a:schemeClr>
                </a:gs>
                <a:gs pos="100000">
                  <a:schemeClr val="accent1">
                    <a:tint val="60000"/>
                    <a:satMod val="200000"/>
                  </a:schemeClr>
                </a:gs>
              </a:gsLst>
              <a:lin ang="16200000" scaled="1"/>
              <a:tileRect/>
            </a:gra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mj-lt"/>
              </a:endParaRPr>
            </a:p>
          </p:txBody>
        </p:sp>
        <p:sp>
          <p:nvSpPr>
            <p:cNvPr id="7" name="Rectangle 6"/>
            <p:cNvSpPr/>
            <p:nvPr userDrawn="1"/>
          </p:nvSpPr>
          <p:spPr bwMode="gray">
            <a:xfrm>
              <a:off x="0" y="2341322"/>
              <a:ext cx="9144000" cy="2073516"/>
            </a:xfrm>
            <a:prstGeom prst="rect">
              <a:avLst/>
            </a:prstGeom>
            <a:gradFill>
              <a:gsLst>
                <a:gs pos="0">
                  <a:schemeClr val="bg2">
                    <a:lumMod val="20000"/>
                    <a:lumOff val="80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dirty="0" smtClean="0">
                <a:latin typeface="+mj-lt"/>
              </a:endParaRPr>
            </a:p>
          </p:txBody>
        </p:sp>
      </p:grpSp>
      <p:sp>
        <p:nvSpPr>
          <p:cNvPr id="2" name="Title 1"/>
          <p:cNvSpPr>
            <a:spLocks noGrp="1"/>
          </p:cNvSpPr>
          <p:nvPr>
            <p:ph type="ctrTitle" hasCustomPrompt="1"/>
          </p:nvPr>
        </p:nvSpPr>
        <p:spPr bwMode="gray">
          <a:xfrm>
            <a:off x="2728912" y="1613350"/>
            <a:ext cx="6048376" cy="1354217"/>
          </a:xfrm>
          <a:prstGeom prst="rect">
            <a:avLst/>
          </a:prstGeom>
          <a:noFill/>
        </p:spPr>
        <p:txBody>
          <a:bodyPr lIns="0" tIns="0" rIns="0" bIns="0" anchor="b" anchorCtr="0">
            <a:spAutoFit/>
          </a:bodyPr>
          <a:lstStyle>
            <a:lvl1pPr>
              <a:defRPr sz="4400">
                <a:solidFill>
                  <a:schemeClr val="tx2"/>
                </a:solidFill>
                <a:latin typeface="+mj-lt"/>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bwMode="gray">
          <a:xfrm>
            <a:off x="2728914" y="3274484"/>
            <a:ext cx="6048375" cy="2535605"/>
          </a:xfrm>
          <a:prstGeom prst="rect">
            <a:avLst/>
          </a:prstGeom>
          <a:noFill/>
        </p:spPr>
        <p:txBody>
          <a:bodyPr wrap="square" lIns="0" tIns="0" rIns="0" bIns="0">
            <a:noAutofit/>
          </a:bodyPr>
          <a:lstStyle>
            <a:lvl1pPr marL="0" indent="0" algn="l">
              <a:spcBef>
                <a:spcPts val="600"/>
              </a:spcBef>
              <a:buNone/>
              <a:defRPr sz="2800">
                <a:solidFill>
                  <a:schemeClr val="bg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cSld>
  <p:clrMapOvr>
    <a:masterClrMapping/>
  </p:clrMapOvr>
  <p:transition>
    <p:fade/>
  </p:transition>
  <p:timing>
    <p:tnLst>
      <p:par>
        <p:cTn id="1" dur="indefinite" restart="never" nodeType="tmRoot"/>
      </p:par>
    </p:tnLst>
  </p:timing>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3 -Large Text">
    <p:spTree>
      <p:nvGrpSpPr>
        <p:cNvPr id="1" name=""/>
        <p:cNvGrpSpPr/>
        <p:nvPr/>
      </p:nvGrpSpPr>
      <p:grpSpPr>
        <a:xfrm>
          <a:off x="0" y="0"/>
          <a:ext cx="0" cy="0"/>
          <a:chOff x="0" y="0"/>
          <a:chExt cx="0" cy="0"/>
        </a:xfrm>
      </p:grpSpPr>
      <p:grpSp>
        <p:nvGrpSpPr>
          <p:cNvPr id="3" name="Group 7"/>
          <p:cNvGrpSpPr/>
          <p:nvPr userDrawn="1"/>
        </p:nvGrpSpPr>
        <p:grpSpPr bwMode="gray">
          <a:xfrm>
            <a:off x="0" y="0"/>
            <a:ext cx="9144000" cy="5886451"/>
            <a:chOff x="0" y="0"/>
            <a:chExt cx="9144000" cy="4414838"/>
          </a:xfrm>
        </p:grpSpPr>
        <p:sp>
          <p:nvSpPr>
            <p:cNvPr id="6" name="Rectangle 5"/>
            <p:cNvSpPr/>
            <p:nvPr userDrawn="1"/>
          </p:nvSpPr>
          <p:spPr bwMode="gray">
            <a:xfrm>
              <a:off x="0" y="0"/>
              <a:ext cx="9144000" cy="2168501"/>
            </a:xfrm>
            <a:prstGeom prst="rect">
              <a:avLst/>
            </a:prstGeom>
            <a:gradFill flip="none" rotWithShape="1">
              <a:gsLst>
                <a:gs pos="0">
                  <a:schemeClr val="bg1"/>
                </a:gs>
                <a:gs pos="34000">
                  <a:schemeClr val="accent1">
                    <a:tint val="13500"/>
                    <a:satMod val="250000"/>
                  </a:schemeClr>
                </a:gs>
                <a:gs pos="100000">
                  <a:schemeClr val="accent1">
                    <a:tint val="60000"/>
                    <a:satMod val="200000"/>
                  </a:schemeClr>
                </a:gs>
              </a:gsLst>
              <a:lin ang="16200000" scaled="1"/>
              <a:tileRect/>
            </a:gra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mj-lt"/>
              </a:endParaRPr>
            </a:p>
          </p:txBody>
        </p:sp>
        <p:sp>
          <p:nvSpPr>
            <p:cNvPr id="7" name="Rectangle 6"/>
            <p:cNvSpPr/>
            <p:nvPr userDrawn="1"/>
          </p:nvSpPr>
          <p:spPr bwMode="gray">
            <a:xfrm>
              <a:off x="0" y="2341322"/>
              <a:ext cx="9144000" cy="2073516"/>
            </a:xfrm>
            <a:prstGeom prst="rect">
              <a:avLst/>
            </a:prstGeom>
            <a:gradFill>
              <a:gsLst>
                <a:gs pos="0">
                  <a:schemeClr val="bg2">
                    <a:lumMod val="20000"/>
                    <a:lumOff val="80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dirty="0" smtClean="0">
                <a:latin typeface="+mj-lt"/>
              </a:endParaRPr>
            </a:p>
          </p:txBody>
        </p:sp>
      </p:grpSp>
      <p:sp>
        <p:nvSpPr>
          <p:cNvPr id="2" name="Title 1"/>
          <p:cNvSpPr>
            <a:spLocks noGrp="1"/>
          </p:cNvSpPr>
          <p:nvPr>
            <p:ph type="ctrTitle"/>
          </p:nvPr>
        </p:nvSpPr>
        <p:spPr bwMode="gray">
          <a:xfrm>
            <a:off x="2728913" y="2219252"/>
            <a:ext cx="6048375" cy="2988687"/>
          </a:xfrm>
          <a:prstGeom prst="rect">
            <a:avLst/>
          </a:prstGeom>
          <a:noFill/>
        </p:spPr>
        <p:txBody>
          <a:bodyPr wrap="square" lIns="0" tIns="0" rIns="0" bIns="0" anchor="t" anchorCtr="0">
            <a:noAutofit/>
          </a:bodyPr>
          <a:lstStyle>
            <a:lvl1pPr>
              <a:lnSpc>
                <a:spcPct val="80000"/>
              </a:lnSpc>
              <a:defRPr sz="9600">
                <a:solidFill>
                  <a:schemeClr val="tx2"/>
                </a:solidFill>
                <a:effectLst>
                  <a:reflection blurRad="6350" stA="55000" endA="300" endPos="45500" dir="5400000" sy="-100000" algn="bl" rotWithShape="0"/>
                </a:effectLst>
                <a:latin typeface="+mj-lt"/>
              </a:defRPr>
            </a:lvl1pPr>
          </a:lstStyle>
          <a:p>
            <a:r>
              <a:rPr lang="en-US" smtClean="0"/>
              <a:t>Click to edit Master title style</a:t>
            </a:r>
            <a:endParaRPr lang="en-US" dirty="0"/>
          </a:p>
        </p:txBody>
      </p:sp>
    </p:spTree>
  </p:cSld>
  <p:clrMapOvr>
    <a:masterClrMapping/>
  </p:clrMapOvr>
  <p:transition>
    <p:fade/>
  </p:transition>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ue/Gray Background">
    <p:spTree>
      <p:nvGrpSpPr>
        <p:cNvPr id="1" name=""/>
        <p:cNvGrpSpPr/>
        <p:nvPr/>
      </p:nvGrpSpPr>
      <p:grpSpPr>
        <a:xfrm>
          <a:off x="0" y="0"/>
          <a:ext cx="0" cy="0"/>
          <a:chOff x="0" y="0"/>
          <a:chExt cx="0" cy="0"/>
        </a:xfrm>
      </p:grpSpPr>
      <p:grpSp>
        <p:nvGrpSpPr>
          <p:cNvPr id="2" name="Group 7"/>
          <p:cNvGrpSpPr/>
          <p:nvPr userDrawn="1"/>
        </p:nvGrpSpPr>
        <p:grpSpPr bwMode="gray">
          <a:xfrm>
            <a:off x="0" y="0"/>
            <a:ext cx="9144000" cy="5886451"/>
            <a:chOff x="0" y="0"/>
            <a:chExt cx="9144000" cy="4414838"/>
          </a:xfrm>
        </p:grpSpPr>
        <p:sp>
          <p:nvSpPr>
            <p:cNvPr id="6" name="Rectangle 5"/>
            <p:cNvSpPr/>
            <p:nvPr userDrawn="1"/>
          </p:nvSpPr>
          <p:spPr bwMode="gray">
            <a:xfrm>
              <a:off x="0" y="0"/>
              <a:ext cx="9144000" cy="2168501"/>
            </a:xfrm>
            <a:prstGeom prst="rect">
              <a:avLst/>
            </a:prstGeom>
            <a:gradFill flip="none" rotWithShape="1">
              <a:gsLst>
                <a:gs pos="0">
                  <a:schemeClr val="bg1"/>
                </a:gs>
                <a:gs pos="34000">
                  <a:schemeClr val="accent1">
                    <a:tint val="13500"/>
                    <a:satMod val="250000"/>
                  </a:schemeClr>
                </a:gs>
                <a:gs pos="100000">
                  <a:schemeClr val="accent1">
                    <a:tint val="60000"/>
                    <a:satMod val="200000"/>
                  </a:schemeClr>
                </a:gs>
              </a:gsLst>
              <a:lin ang="16200000" scaled="1"/>
              <a:tileRect/>
            </a:gra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mj-lt"/>
              </a:endParaRPr>
            </a:p>
          </p:txBody>
        </p:sp>
        <p:sp>
          <p:nvSpPr>
            <p:cNvPr id="7" name="Rectangle 6"/>
            <p:cNvSpPr/>
            <p:nvPr userDrawn="1"/>
          </p:nvSpPr>
          <p:spPr bwMode="gray">
            <a:xfrm>
              <a:off x="0" y="2341322"/>
              <a:ext cx="9144000" cy="2073516"/>
            </a:xfrm>
            <a:prstGeom prst="rect">
              <a:avLst/>
            </a:prstGeom>
            <a:gradFill>
              <a:gsLst>
                <a:gs pos="0">
                  <a:schemeClr val="bg2">
                    <a:lumMod val="20000"/>
                    <a:lumOff val="80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dirty="0" smtClean="0">
                <a:latin typeface="+mj-lt"/>
              </a:endParaRPr>
            </a:p>
          </p:txBody>
        </p:sp>
      </p:grpSp>
    </p:spTree>
  </p:cSld>
  <p:clrMapOvr>
    <a:masterClrMapping/>
  </p:clrMapOvr>
  <p:transition>
    <p:fade/>
  </p:transition>
  <p:timing>
    <p:tnLst>
      <p:par>
        <p:cTn id="1" dur="indefinite" restart="never" nodeType="tmRoot"/>
      </p:par>
    </p:tnLst>
  </p:timing>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with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2728913" y="1331834"/>
            <a:ext cx="6048376" cy="1354217"/>
          </a:xfrm>
          <a:prstGeom prst="rect">
            <a:avLst/>
          </a:prstGeom>
          <a:noFill/>
        </p:spPr>
        <p:txBody>
          <a:bodyPr lIns="0" tIns="0" rIns="0" bIns="0" anchor="b" anchorCtr="0">
            <a:spAutoFit/>
          </a:bodyPr>
          <a:lstStyle>
            <a:lvl1pPr algn="l" defTabSz="914400" rtl="0" eaLnBrk="1" latinLnBrk="0" hangingPunct="1">
              <a:spcBef>
                <a:spcPct val="0"/>
              </a:spcBef>
              <a:buNone/>
              <a:defRPr lang="en-US" sz="4400" kern="1200" dirty="0">
                <a:solidFill>
                  <a:schemeClr val="tx2"/>
                </a:solidFill>
                <a:latin typeface="Verdana" pitchFamily="34" charset="0"/>
                <a:ea typeface="+mj-ea"/>
                <a:cs typeface="+mj-cs"/>
              </a:defRPr>
            </a:lvl1pPr>
          </a:lstStyle>
          <a:p>
            <a:r>
              <a:rPr lang="en-US" dirty="0" smtClean="0"/>
              <a:t>Click To Edit Master Title Style</a:t>
            </a:r>
            <a:endParaRPr lang="en-US" dirty="0"/>
          </a:p>
        </p:txBody>
      </p:sp>
      <p:sp>
        <p:nvSpPr>
          <p:cNvPr id="4" name="Content Placeholder 3"/>
          <p:cNvSpPr>
            <a:spLocks noGrp="1"/>
          </p:cNvSpPr>
          <p:nvPr>
            <p:ph sz="quarter" idx="10"/>
          </p:nvPr>
        </p:nvSpPr>
        <p:spPr bwMode="gray">
          <a:xfrm>
            <a:off x="2728914" y="3025776"/>
            <a:ext cx="6048375" cy="2803525"/>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stStyle>
          <a:p>
            <a:pPr lvl="0"/>
            <a:r>
              <a:rPr lang="en-US" smtClean="0"/>
              <a:t>Click to edit Master text styles</a:t>
            </a:r>
          </a:p>
          <a:p>
            <a:pPr lvl="1"/>
            <a:r>
              <a:rPr lang="en-US" smtClean="0"/>
              <a:t>Second level</a:t>
            </a:r>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nSpc>
                <a:spcPts val="3600"/>
              </a:lnSpc>
              <a:defRPr sz="3200">
                <a:solidFill>
                  <a:schemeClr val="tx2"/>
                </a:solidFill>
                <a:latin typeface="Verdana" pitchFamily="34" charset="0"/>
              </a:defRPr>
            </a:lvl1pPr>
          </a:lstStyle>
          <a:p>
            <a:r>
              <a:rPr lang="en-US" smtClean="0"/>
              <a:t>Click to edit Master title style</a:t>
            </a:r>
            <a:endParaRPr lang="en-US" dirty="0"/>
          </a:p>
        </p:txBody>
      </p:sp>
      <p:sp>
        <p:nvSpPr>
          <p:cNvPr id="4" name="Content Placeholder 3"/>
          <p:cNvSpPr>
            <a:spLocks noGrp="1"/>
          </p:cNvSpPr>
          <p:nvPr>
            <p:ph sz="quarter" idx="10"/>
          </p:nvPr>
        </p:nvSpPr>
        <p:spPr bwMode="gray">
          <a:xfrm>
            <a:off x="366714" y="1432984"/>
            <a:ext cx="8410575" cy="4510616"/>
          </a:xfrm>
          <a:prstGeom prst="rect">
            <a:avLst/>
          </a:prstGeom>
          <a:noFill/>
        </p:spPr>
        <p:txBody>
          <a:bodyPr lIns="0" tIns="0" rIns="0" bIns="0">
            <a:noAutofit/>
          </a:bodyPr>
          <a:lstStyle>
            <a:lvl1pPr>
              <a:spcBef>
                <a:spcPts val="1200"/>
              </a:spcBef>
              <a:buClr>
                <a:schemeClr val="tx2"/>
              </a:buClr>
              <a:buFont typeface="Wingdings" pitchFamily="2" charset="2"/>
              <a:buChar char=""/>
              <a:defRPr>
                <a:solidFill>
                  <a:schemeClr val="bg2"/>
                </a:solidFill>
                <a:latin typeface="Verdana" pitchFamily="34" charset="0"/>
              </a:defRPr>
            </a:lvl1pPr>
            <a:lvl2pPr>
              <a:spcBef>
                <a:spcPts val="300"/>
              </a:spcBef>
              <a:buClr>
                <a:schemeClr val="tx2"/>
              </a:buClr>
              <a:buFont typeface="Verdana" pitchFamily="34" charset="0"/>
              <a:buChar char="–"/>
              <a:defRPr>
                <a:solidFill>
                  <a:schemeClr val="bg2"/>
                </a:solidFill>
                <a:latin typeface="Verdana" pitchFamily="34" charset="0"/>
              </a:defRPr>
            </a:lvl2pPr>
            <a:lvl3pPr>
              <a:spcBef>
                <a:spcPts val="300"/>
              </a:spcBef>
              <a:buClr>
                <a:schemeClr val="tx2"/>
              </a:buClr>
              <a:buFont typeface="Verdana" pitchFamily="34" charset="0"/>
              <a:buChar char="▪"/>
              <a:defRPr>
                <a:solidFill>
                  <a:schemeClr val="bg2"/>
                </a:solidFill>
                <a:latin typeface="Verdana" pitchFamily="34" charset="0"/>
              </a:defRPr>
            </a:lvl3pPr>
            <a:lvl4pPr marL="1658938" indent="-287338">
              <a:spcBef>
                <a:spcPts val="300"/>
              </a:spcBef>
              <a:buClr>
                <a:schemeClr val="tx2"/>
              </a:buClr>
              <a:buFont typeface="Verdana" pitchFamily="34" charset="0"/>
              <a:buChar char="—"/>
              <a:defRPr>
                <a:solidFill>
                  <a:schemeClr val="bg2"/>
                </a:solidFill>
                <a:latin typeface="Verdana" pitchFamily="34" charset="0"/>
              </a:defRPr>
            </a:lvl4pPr>
            <a:lvl5pPr>
              <a:spcBef>
                <a:spcPts val="300"/>
              </a:spcBef>
              <a:buClr>
                <a:schemeClr val="tx2"/>
              </a:buClr>
              <a:buFont typeface="Verdana" pitchFamily="34" charset="0"/>
              <a:buChar char="»"/>
              <a:defRPr sz="16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bwMode="gray">
          <a:xfrm>
            <a:off x="366714" y="1123950"/>
            <a:ext cx="8410575" cy="461625"/>
          </a:xfrm>
          <a:prstGeom prst="rect">
            <a:avLst/>
          </a:prstGeom>
          <a:noFill/>
        </p:spPr>
        <p:txBody>
          <a:bodyPr lIns="0" tIns="0" rIns="0" bIns="0" anchor="t" anchorCtr="0"/>
          <a:lstStyle>
            <a:lvl1pPr marL="0" indent="0">
              <a:spcBef>
                <a:spcPts val="0"/>
              </a:spcBef>
              <a:buNone/>
              <a:tabLst/>
              <a:defRPr sz="2000" b="0">
                <a:solidFill>
                  <a:schemeClr val="bg2"/>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with Subtitle and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bwMode="gray">
          <a:xfrm>
            <a:off x="366714" y="1123950"/>
            <a:ext cx="8410575" cy="461625"/>
          </a:xfrm>
          <a:prstGeom prst="rect">
            <a:avLst/>
          </a:prstGeom>
          <a:noFill/>
        </p:spPr>
        <p:txBody>
          <a:bodyPr lIns="0" tIns="0" rIns="0" bIns="0" anchor="t" anchorCtr="0"/>
          <a:lstStyle>
            <a:lvl1pPr marL="0" indent="0">
              <a:spcBef>
                <a:spcPts val="0"/>
              </a:spcBef>
              <a:buNone/>
              <a:tabLst/>
              <a:defRPr sz="2000" b="0">
                <a:solidFill>
                  <a:schemeClr val="bg2"/>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Content Placeholder 3"/>
          <p:cNvSpPr>
            <a:spLocks noGrp="1"/>
          </p:cNvSpPr>
          <p:nvPr>
            <p:ph sz="quarter" idx="10"/>
          </p:nvPr>
        </p:nvSpPr>
        <p:spPr bwMode="gray">
          <a:xfrm>
            <a:off x="366714" y="1873250"/>
            <a:ext cx="8410575" cy="4070349"/>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vl3pPr>
              <a:spcBef>
                <a:spcPts val="300"/>
              </a:spcBef>
              <a:buClr>
                <a:schemeClr val="tx2"/>
              </a:buClr>
              <a:buFont typeface="Verdana" pitchFamily="34" charset="0"/>
              <a:buChar char="▪"/>
              <a:defRPr sz="1800">
                <a:solidFill>
                  <a:schemeClr val="bg2"/>
                </a:solidFill>
                <a:latin typeface="Verdana" pitchFamily="34" charset="0"/>
              </a:defRPr>
            </a:lvl3pPr>
            <a:lvl4pPr marL="1658938" indent="-287338">
              <a:spcBef>
                <a:spcPts val="300"/>
              </a:spcBef>
              <a:buClr>
                <a:schemeClr val="tx2"/>
              </a:buClr>
              <a:buFont typeface="Verdana" pitchFamily="34" charset="0"/>
              <a:buChar char="—"/>
              <a:defRPr sz="1600">
                <a:solidFill>
                  <a:schemeClr val="bg2"/>
                </a:solidFill>
                <a:latin typeface="Verdana" pitchFamily="34" charset="0"/>
              </a:defRPr>
            </a:lvl4pPr>
            <a:lvl5pPr>
              <a:spcBef>
                <a:spcPts val="300"/>
              </a:spcBef>
              <a:buClr>
                <a:schemeClr val="tx2"/>
              </a:buClr>
              <a:buFont typeface="Verdana" pitchFamily="34" charset="0"/>
              <a:buChar char="»"/>
              <a:defRPr sz="14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graphic area on lef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5" name="Picture Placeholder 2"/>
          <p:cNvSpPr>
            <a:spLocks noGrp="1"/>
          </p:cNvSpPr>
          <p:nvPr>
            <p:ph type="pic" idx="1"/>
          </p:nvPr>
        </p:nvSpPr>
        <p:spPr bwMode="gray">
          <a:xfrm>
            <a:off x="366714" y="1412875"/>
            <a:ext cx="2073275" cy="4530725"/>
          </a:xfrm>
          <a:prstGeom prst="rect">
            <a:avLst/>
          </a:prstGeom>
          <a:noFill/>
        </p:spPr>
        <p:txBody>
          <a:bodyPr/>
          <a:lstStyle>
            <a:lvl1pPr marL="0" indent="0">
              <a:buNone/>
              <a:defRPr sz="1600">
                <a:latin typeface="Verdana"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6" name="Content Placeholder 3"/>
          <p:cNvSpPr>
            <a:spLocks noGrp="1"/>
          </p:cNvSpPr>
          <p:nvPr>
            <p:ph sz="quarter" idx="11"/>
          </p:nvPr>
        </p:nvSpPr>
        <p:spPr bwMode="gray">
          <a:xfrm>
            <a:off x="2728913" y="1412875"/>
            <a:ext cx="6048376" cy="4530725"/>
          </a:xfrm>
          <a:prstGeom prst="rect">
            <a:avLst/>
          </a:prstGeom>
          <a:noFill/>
        </p:spPr>
        <p:txBody>
          <a:bodyPr lIns="0" tIns="0" rIns="0" bIns="0">
            <a:noAutofit/>
          </a:bodyPr>
          <a:lstStyle>
            <a:lvl1pPr>
              <a:spcBef>
                <a:spcPts val="1200"/>
              </a:spcBef>
              <a:buClr>
                <a:schemeClr val="tx2"/>
              </a:buClr>
              <a:buFont typeface="Wingdings" pitchFamily="2" charset="2"/>
              <a:buChar char=""/>
              <a:defRPr>
                <a:solidFill>
                  <a:schemeClr val="bg2"/>
                </a:solidFill>
                <a:latin typeface="Verdana" pitchFamily="34" charset="0"/>
              </a:defRPr>
            </a:lvl1pPr>
            <a:lvl2pPr>
              <a:spcBef>
                <a:spcPts val="300"/>
              </a:spcBef>
              <a:buClr>
                <a:schemeClr val="tx2"/>
              </a:buClr>
              <a:buFont typeface="Verdana" pitchFamily="34" charset="0"/>
              <a:buChar char="–"/>
              <a:defRPr>
                <a:solidFill>
                  <a:schemeClr val="bg2"/>
                </a:solidFill>
                <a:latin typeface="Verdana" pitchFamily="34" charset="0"/>
              </a:defRPr>
            </a:lvl2pPr>
            <a:lvl3pPr>
              <a:spcBef>
                <a:spcPts val="300"/>
              </a:spcBef>
              <a:buClr>
                <a:schemeClr val="tx2"/>
              </a:buClr>
              <a:buFont typeface="Verdana" pitchFamily="34" charset="0"/>
              <a:buChar char="▪"/>
              <a:defRPr>
                <a:solidFill>
                  <a:schemeClr val="bg2"/>
                </a:solidFill>
                <a:latin typeface="Verdana" pitchFamily="34" charset="0"/>
              </a:defRPr>
            </a:lvl3pPr>
            <a:lvl4pPr marL="1658938" indent="-287338">
              <a:spcBef>
                <a:spcPts val="300"/>
              </a:spcBef>
              <a:buClr>
                <a:schemeClr val="tx2"/>
              </a:buClr>
              <a:buFont typeface="Verdana" pitchFamily="34" charset="0"/>
              <a:buChar char="—"/>
              <a:defRPr>
                <a:solidFill>
                  <a:schemeClr val="bg2"/>
                </a:solidFill>
                <a:latin typeface="Verdana" pitchFamily="34" charset="0"/>
              </a:defRPr>
            </a:lvl4pPr>
            <a:lvl5pPr>
              <a:spcBef>
                <a:spcPts val="300"/>
              </a:spcBef>
              <a:buClr>
                <a:schemeClr val="tx2"/>
              </a:buClr>
              <a:buFont typeface="Verdana" pitchFamily="34" charset="0"/>
              <a:buChar char="»"/>
              <a:defRPr sz="16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5" name="Picture Placeholder 2"/>
          <p:cNvSpPr>
            <a:spLocks noGrp="1"/>
          </p:cNvSpPr>
          <p:nvPr>
            <p:ph type="pic" idx="10"/>
          </p:nvPr>
        </p:nvSpPr>
        <p:spPr bwMode="gray">
          <a:xfrm>
            <a:off x="366714" y="1873250"/>
            <a:ext cx="2073275" cy="4070351"/>
          </a:xfrm>
          <a:prstGeom prst="rect">
            <a:avLst/>
          </a:prstGeom>
          <a:noFill/>
        </p:spPr>
        <p:txBody>
          <a:bodyPr/>
          <a:lstStyle>
            <a:lvl1pPr marL="0" indent="0">
              <a:buNone/>
              <a:defRPr sz="1600">
                <a:latin typeface="Verdana"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6" name="Content Placeholder 3"/>
          <p:cNvSpPr>
            <a:spLocks noGrp="1"/>
          </p:cNvSpPr>
          <p:nvPr>
            <p:ph sz="quarter" idx="11"/>
          </p:nvPr>
        </p:nvSpPr>
        <p:spPr bwMode="gray">
          <a:xfrm>
            <a:off x="2728913" y="1892300"/>
            <a:ext cx="6048376" cy="4051299"/>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vl3pPr>
              <a:spcBef>
                <a:spcPts val="300"/>
              </a:spcBef>
              <a:buClr>
                <a:schemeClr val="tx2"/>
              </a:buClr>
              <a:buFont typeface="Verdana" pitchFamily="34" charset="0"/>
              <a:buChar char="▪"/>
              <a:defRPr sz="1800">
                <a:solidFill>
                  <a:schemeClr val="bg2"/>
                </a:solidFill>
                <a:latin typeface="Verdana" pitchFamily="34" charset="0"/>
              </a:defRPr>
            </a:lvl3pPr>
            <a:lvl4pPr marL="1658938" indent="-287338">
              <a:spcBef>
                <a:spcPts val="300"/>
              </a:spcBef>
              <a:buClr>
                <a:schemeClr val="tx2"/>
              </a:buClr>
              <a:buFont typeface="Verdana" pitchFamily="34" charset="0"/>
              <a:buChar char="—"/>
              <a:defRPr sz="1600">
                <a:solidFill>
                  <a:schemeClr val="bg2"/>
                </a:solidFill>
                <a:latin typeface="Verdana" pitchFamily="34" charset="0"/>
              </a:defRPr>
            </a:lvl4pPr>
            <a:lvl5pPr>
              <a:spcBef>
                <a:spcPts val="300"/>
              </a:spcBef>
              <a:buClr>
                <a:schemeClr val="tx2"/>
              </a:buClr>
              <a:buFont typeface="Verdana" pitchFamily="34" charset="0"/>
              <a:buChar char="»"/>
              <a:defRPr sz="14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2"/>
          <p:cNvSpPr>
            <a:spLocks noGrp="1"/>
          </p:cNvSpPr>
          <p:nvPr>
            <p:ph type="body" idx="1"/>
          </p:nvPr>
        </p:nvSpPr>
        <p:spPr bwMode="gray">
          <a:xfrm>
            <a:off x="366714" y="1123950"/>
            <a:ext cx="8410575" cy="461625"/>
          </a:xfrm>
          <a:prstGeom prst="rect">
            <a:avLst/>
          </a:prstGeom>
          <a:noFill/>
        </p:spPr>
        <p:txBody>
          <a:bodyPr lIns="0" tIns="0" rIns="0" bIns="0" anchor="t" anchorCtr="0"/>
          <a:lstStyle>
            <a:lvl1pPr marL="0" indent="0">
              <a:spcBef>
                <a:spcPts val="0"/>
              </a:spcBef>
              <a:buNone/>
              <a:tabLst/>
              <a:defRPr sz="2000" b="0">
                <a:solidFill>
                  <a:schemeClr val="bg2"/>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5" name="Content Placeholder 3"/>
          <p:cNvSpPr>
            <a:spLocks noGrp="1"/>
          </p:cNvSpPr>
          <p:nvPr>
            <p:ph sz="quarter" idx="10"/>
          </p:nvPr>
        </p:nvSpPr>
        <p:spPr bwMode="gray">
          <a:xfrm>
            <a:off x="366714" y="1412875"/>
            <a:ext cx="4032466" cy="4551893"/>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vl3pPr>
              <a:spcBef>
                <a:spcPts val="300"/>
              </a:spcBef>
              <a:buClr>
                <a:schemeClr val="tx2"/>
              </a:buClr>
              <a:buFont typeface="Verdana" pitchFamily="34" charset="0"/>
              <a:buChar char="▪"/>
              <a:defRPr sz="1800">
                <a:solidFill>
                  <a:schemeClr val="bg2"/>
                </a:solidFill>
                <a:latin typeface="Verdana" pitchFamily="34" charset="0"/>
              </a:defRPr>
            </a:lvl3pPr>
            <a:lvl4pPr marL="1658938" indent="-287338">
              <a:spcBef>
                <a:spcPts val="300"/>
              </a:spcBef>
              <a:buClr>
                <a:schemeClr val="tx2"/>
              </a:buClr>
              <a:buFont typeface="Verdana" pitchFamily="34" charset="0"/>
              <a:buChar char="—"/>
              <a:defRPr sz="1600">
                <a:solidFill>
                  <a:schemeClr val="bg2"/>
                </a:solidFill>
                <a:latin typeface="Verdana" pitchFamily="34" charset="0"/>
              </a:defRPr>
            </a:lvl4pPr>
            <a:lvl5pPr>
              <a:spcBef>
                <a:spcPts val="300"/>
              </a:spcBef>
              <a:buClr>
                <a:schemeClr val="tx2"/>
              </a:buClr>
              <a:buFont typeface="Verdana" pitchFamily="34" charset="0"/>
              <a:buChar char="»"/>
              <a:defRPr sz="14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3"/>
          <p:cNvSpPr>
            <a:spLocks noGrp="1"/>
          </p:cNvSpPr>
          <p:nvPr>
            <p:ph sz="quarter" idx="11"/>
          </p:nvPr>
        </p:nvSpPr>
        <p:spPr bwMode="gray">
          <a:xfrm>
            <a:off x="4744822" y="1412875"/>
            <a:ext cx="4032466" cy="4551893"/>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vl3pPr>
              <a:spcBef>
                <a:spcPts val="300"/>
              </a:spcBef>
              <a:buClr>
                <a:schemeClr val="tx2"/>
              </a:buClr>
              <a:buFont typeface="Verdana" pitchFamily="34" charset="0"/>
              <a:buChar char="▪"/>
              <a:defRPr sz="1800">
                <a:solidFill>
                  <a:schemeClr val="bg2"/>
                </a:solidFill>
                <a:latin typeface="Verdana" pitchFamily="34" charset="0"/>
              </a:defRPr>
            </a:lvl3pPr>
            <a:lvl4pPr marL="1658938" indent="-287338">
              <a:spcBef>
                <a:spcPts val="300"/>
              </a:spcBef>
              <a:buClr>
                <a:schemeClr val="tx2"/>
              </a:buClr>
              <a:buFont typeface="Verdana" pitchFamily="34" charset="0"/>
              <a:buChar char="—"/>
              <a:defRPr sz="1600">
                <a:solidFill>
                  <a:schemeClr val="bg2"/>
                </a:solidFill>
                <a:latin typeface="Verdana" pitchFamily="34" charset="0"/>
              </a:defRPr>
            </a:lvl4pPr>
            <a:lvl5pPr>
              <a:spcBef>
                <a:spcPts val="300"/>
              </a:spcBef>
              <a:buClr>
                <a:schemeClr val="tx2"/>
              </a:buClr>
              <a:buFont typeface="Verdana" pitchFamily="34" charset="0"/>
              <a:buChar char="»"/>
              <a:defRPr sz="14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Column lef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4" name="Content Placeholder 3"/>
          <p:cNvSpPr>
            <a:spLocks noGrp="1"/>
          </p:cNvSpPr>
          <p:nvPr>
            <p:ph sz="quarter" idx="10"/>
          </p:nvPr>
        </p:nvSpPr>
        <p:spPr bwMode="gray">
          <a:xfrm>
            <a:off x="366714" y="1412875"/>
            <a:ext cx="4032466" cy="4551893"/>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vl3pPr>
              <a:spcBef>
                <a:spcPts val="300"/>
              </a:spcBef>
              <a:buClr>
                <a:schemeClr val="tx2"/>
              </a:buClr>
              <a:buFont typeface="Verdana" pitchFamily="34" charset="0"/>
              <a:buChar char="▪"/>
              <a:defRPr sz="1800">
                <a:solidFill>
                  <a:schemeClr val="bg2"/>
                </a:solidFill>
                <a:latin typeface="Verdana" pitchFamily="34" charset="0"/>
              </a:defRPr>
            </a:lvl3pPr>
            <a:lvl4pPr marL="1658938" indent="-287338">
              <a:spcBef>
                <a:spcPts val="300"/>
              </a:spcBef>
              <a:buClr>
                <a:schemeClr val="tx2"/>
              </a:buClr>
              <a:buFont typeface="Verdana" pitchFamily="34" charset="0"/>
              <a:buChar char="—"/>
              <a:defRPr sz="1600">
                <a:solidFill>
                  <a:schemeClr val="bg2"/>
                </a:solidFill>
                <a:latin typeface="Verdana" pitchFamily="34" charset="0"/>
              </a:defRPr>
            </a:lvl4pPr>
            <a:lvl5pPr>
              <a:spcBef>
                <a:spcPts val="300"/>
              </a:spcBef>
              <a:buClr>
                <a:schemeClr val="tx2"/>
              </a:buClr>
              <a:buFont typeface="Verdana" pitchFamily="34" charset="0"/>
              <a:buChar char="»"/>
              <a:defRPr sz="14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Column righ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5" name="Content Placeholder 3"/>
          <p:cNvSpPr>
            <a:spLocks noGrp="1"/>
          </p:cNvSpPr>
          <p:nvPr>
            <p:ph sz="quarter" idx="11"/>
          </p:nvPr>
        </p:nvSpPr>
        <p:spPr bwMode="gray">
          <a:xfrm>
            <a:off x="4744822" y="1412875"/>
            <a:ext cx="4032466" cy="4551893"/>
          </a:xfrm>
          <a:prstGeom prst="rect">
            <a:avLst/>
          </a:prstGeom>
          <a:noFill/>
        </p:spPr>
        <p:txBody>
          <a:bodyPr lIns="0" tIns="0" rIns="0" bIns="0">
            <a:noAutofit/>
          </a:bodyPr>
          <a:lstStyle>
            <a:lvl1pPr>
              <a:spcBef>
                <a:spcPts val="1200"/>
              </a:spcBef>
              <a:buClr>
                <a:schemeClr val="tx2"/>
              </a:buClr>
              <a:buFont typeface="Wingdings" pitchFamily="2" charset="2"/>
              <a:buChar char=""/>
              <a:defRPr sz="2400">
                <a:solidFill>
                  <a:schemeClr val="bg2"/>
                </a:solidFill>
                <a:latin typeface="Verdana" pitchFamily="34" charset="0"/>
              </a:defRPr>
            </a:lvl1pPr>
            <a:lvl2pPr>
              <a:spcBef>
                <a:spcPts val="300"/>
              </a:spcBef>
              <a:buClr>
                <a:schemeClr val="tx2"/>
              </a:buClr>
              <a:buFont typeface="Verdana" pitchFamily="34" charset="0"/>
              <a:buChar char="–"/>
              <a:defRPr sz="2000">
                <a:solidFill>
                  <a:schemeClr val="bg2"/>
                </a:solidFill>
                <a:latin typeface="Verdana" pitchFamily="34" charset="0"/>
              </a:defRPr>
            </a:lvl2pPr>
            <a:lvl3pPr>
              <a:spcBef>
                <a:spcPts val="300"/>
              </a:spcBef>
              <a:buClr>
                <a:schemeClr val="tx2"/>
              </a:buClr>
              <a:buFont typeface="Verdana" pitchFamily="34" charset="0"/>
              <a:buChar char="▪"/>
              <a:defRPr sz="1800">
                <a:solidFill>
                  <a:schemeClr val="bg2"/>
                </a:solidFill>
                <a:latin typeface="Verdana" pitchFamily="34" charset="0"/>
              </a:defRPr>
            </a:lvl3pPr>
            <a:lvl4pPr marL="1658938" indent="-287338">
              <a:spcBef>
                <a:spcPts val="300"/>
              </a:spcBef>
              <a:buClr>
                <a:schemeClr val="tx2"/>
              </a:buClr>
              <a:buFont typeface="Verdana" pitchFamily="34" charset="0"/>
              <a:buChar char="—"/>
              <a:defRPr sz="1600">
                <a:solidFill>
                  <a:schemeClr val="bg2"/>
                </a:solidFill>
                <a:latin typeface="Verdana" pitchFamily="34" charset="0"/>
              </a:defRPr>
            </a:lvl4pPr>
            <a:lvl5pPr>
              <a:spcBef>
                <a:spcPts val="300"/>
              </a:spcBef>
              <a:buClr>
                <a:schemeClr val="tx2"/>
              </a:buClr>
              <a:buFont typeface="Verdana" pitchFamily="34" charset="0"/>
              <a:buChar char="»"/>
              <a:defRPr sz="1400">
                <a:solidFill>
                  <a:schemeClr val="bg2"/>
                </a:solidFill>
                <a:latin typeface="Verdan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7" name="Content Placeholder 3"/>
          <p:cNvSpPr>
            <a:spLocks noGrp="1"/>
          </p:cNvSpPr>
          <p:nvPr>
            <p:ph sz="half" idx="2"/>
          </p:nvPr>
        </p:nvSpPr>
        <p:spPr bwMode="gray">
          <a:xfrm>
            <a:off x="366713" y="1412875"/>
            <a:ext cx="4032250" cy="4551893"/>
          </a:xfrm>
          <a:prstGeom prst="rect">
            <a:avLst/>
          </a:prstGeom>
          <a:noFill/>
        </p:spPr>
        <p:txBody>
          <a:bodyPr lIns="0" tIns="0" rIns="0" bIns="0">
            <a:noAutofit/>
          </a:bodyPr>
          <a:lstStyle>
            <a:lvl1pPr marL="0" indent="0">
              <a:spcBef>
                <a:spcPts val="1200"/>
              </a:spcBef>
              <a:buClr>
                <a:schemeClr val="tx2"/>
              </a:buClr>
              <a:buNone/>
              <a:defRPr sz="2000" b="1">
                <a:solidFill>
                  <a:schemeClr val="tx2"/>
                </a:solidFill>
                <a:latin typeface="Verdana" pitchFamily="34" charset="0"/>
              </a:defRPr>
            </a:lvl1pPr>
            <a:lvl2pPr marL="171450" indent="-171450">
              <a:spcBef>
                <a:spcPts val="1200"/>
              </a:spcBef>
              <a:buClr>
                <a:schemeClr val="tx2"/>
              </a:buClr>
              <a:buFont typeface="Wingdings" pitchFamily="2" charset="2"/>
              <a:buChar char=""/>
              <a:defRPr sz="2000">
                <a:solidFill>
                  <a:schemeClr val="bg2"/>
                </a:solidFill>
                <a:latin typeface="Verdana" pitchFamily="34" charset="0"/>
              </a:defRPr>
            </a:lvl2pPr>
            <a:lvl3pPr marL="628650" indent="-228600">
              <a:spcBef>
                <a:spcPts val="300"/>
              </a:spcBef>
              <a:buClr>
                <a:schemeClr val="tx2"/>
              </a:buClr>
              <a:buFont typeface="Verdana" pitchFamily="34" charset="0"/>
              <a:buChar char="–"/>
              <a:defRPr sz="1600">
                <a:solidFill>
                  <a:schemeClr val="bg2"/>
                </a:solidFill>
                <a:latin typeface="Verdana" pitchFamily="34" charset="0"/>
              </a:defRPr>
            </a:lvl3pPr>
            <a:lvl4pPr marL="971550" indent="-171450">
              <a:spcBef>
                <a:spcPts val="300"/>
              </a:spcBef>
              <a:buClr>
                <a:schemeClr val="tx2"/>
              </a:buClr>
              <a:buFont typeface="Verdana" pitchFamily="34" charset="0"/>
              <a:buChar char="▪"/>
              <a:defRPr sz="1400">
                <a:solidFill>
                  <a:schemeClr val="bg2"/>
                </a:solidFill>
                <a:latin typeface="Verdana" pitchFamily="34" charset="0"/>
              </a:defRPr>
            </a:lvl4pPr>
            <a:lvl5pPr marL="1309688" indent="-223838">
              <a:spcBef>
                <a:spcPts val="300"/>
              </a:spcBef>
              <a:buClr>
                <a:schemeClr val="tx2"/>
              </a:buClr>
              <a:buFont typeface="Verdana" pitchFamily="34" charset="0"/>
              <a:buChar char="—"/>
              <a:tabLst/>
              <a:defRPr sz="1100">
                <a:solidFill>
                  <a:schemeClr val="bg2"/>
                </a:solidFill>
                <a:latin typeface="Verdana" pitchFamily="34" charset="0"/>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Content Placeholder 3"/>
          <p:cNvSpPr>
            <a:spLocks noGrp="1"/>
          </p:cNvSpPr>
          <p:nvPr>
            <p:ph sz="half" idx="10"/>
          </p:nvPr>
        </p:nvSpPr>
        <p:spPr bwMode="gray">
          <a:xfrm>
            <a:off x="4745038" y="1412875"/>
            <a:ext cx="4032250" cy="4551893"/>
          </a:xfrm>
          <a:prstGeom prst="rect">
            <a:avLst/>
          </a:prstGeom>
          <a:noFill/>
        </p:spPr>
        <p:txBody>
          <a:bodyPr lIns="0" tIns="0" rIns="0" bIns="0">
            <a:noAutofit/>
          </a:bodyPr>
          <a:lstStyle>
            <a:lvl1pPr marL="0" indent="0">
              <a:spcBef>
                <a:spcPts val="1200"/>
              </a:spcBef>
              <a:buClr>
                <a:schemeClr val="tx2"/>
              </a:buClr>
              <a:buNone/>
              <a:defRPr sz="2000" b="1">
                <a:solidFill>
                  <a:schemeClr val="tx2"/>
                </a:solidFill>
                <a:latin typeface="Verdana" pitchFamily="34" charset="0"/>
              </a:defRPr>
            </a:lvl1pPr>
            <a:lvl2pPr marL="171450" indent="-171450">
              <a:spcBef>
                <a:spcPts val="1200"/>
              </a:spcBef>
              <a:buClr>
                <a:schemeClr val="tx2"/>
              </a:buClr>
              <a:buFont typeface="Wingdings" pitchFamily="2" charset="2"/>
              <a:buChar char=""/>
              <a:defRPr sz="2000">
                <a:solidFill>
                  <a:schemeClr val="bg2"/>
                </a:solidFill>
                <a:latin typeface="Verdana" pitchFamily="34" charset="0"/>
              </a:defRPr>
            </a:lvl2pPr>
            <a:lvl3pPr marL="628650" indent="-228600">
              <a:spcBef>
                <a:spcPts val="300"/>
              </a:spcBef>
              <a:buClr>
                <a:schemeClr val="tx2"/>
              </a:buClr>
              <a:buFont typeface="Verdana" pitchFamily="34" charset="0"/>
              <a:buChar char="–"/>
              <a:defRPr sz="1600">
                <a:solidFill>
                  <a:schemeClr val="bg2"/>
                </a:solidFill>
                <a:latin typeface="Verdana" pitchFamily="34" charset="0"/>
              </a:defRPr>
            </a:lvl3pPr>
            <a:lvl4pPr marL="971550" indent="-171450">
              <a:spcBef>
                <a:spcPts val="300"/>
              </a:spcBef>
              <a:buClr>
                <a:schemeClr val="tx2"/>
              </a:buClr>
              <a:buFont typeface="Verdana" pitchFamily="34" charset="0"/>
              <a:buChar char="▪"/>
              <a:defRPr sz="1400">
                <a:solidFill>
                  <a:schemeClr val="bg2"/>
                </a:solidFill>
                <a:latin typeface="Verdana" pitchFamily="34" charset="0"/>
              </a:defRPr>
            </a:lvl4pPr>
            <a:lvl5pPr marL="1309688" indent="-223838">
              <a:spcBef>
                <a:spcPts val="300"/>
              </a:spcBef>
              <a:buClr>
                <a:schemeClr val="tx2"/>
              </a:buClr>
              <a:buFont typeface="Verdana" pitchFamily="34" charset="0"/>
              <a:buChar char="—"/>
              <a:tabLst/>
              <a:defRPr sz="1100">
                <a:solidFill>
                  <a:schemeClr val="bg2"/>
                </a:solidFill>
                <a:latin typeface="Verdana" pitchFamily="34" charset="0"/>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ew Customer Profi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tx2"/>
                </a:solidFill>
                <a:latin typeface="Verdana" pitchFamily="34" charset="0"/>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bwMode="gray">
          <a:xfrm>
            <a:off x="366714" y="1123950"/>
            <a:ext cx="8410575" cy="461625"/>
          </a:xfrm>
          <a:prstGeom prst="rect">
            <a:avLst/>
          </a:prstGeom>
          <a:noFill/>
        </p:spPr>
        <p:txBody>
          <a:bodyPr lIns="0" tIns="0" rIns="0" bIns="0" anchor="t" anchorCtr="0"/>
          <a:lstStyle>
            <a:lvl1pPr marL="0" indent="0">
              <a:spcBef>
                <a:spcPts val="0"/>
              </a:spcBef>
              <a:buNone/>
              <a:tabLst/>
              <a:defRPr sz="2000" b="0">
                <a:solidFill>
                  <a:schemeClr val="bg2"/>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Content Placeholder 3"/>
          <p:cNvSpPr>
            <a:spLocks noGrp="1"/>
          </p:cNvSpPr>
          <p:nvPr>
            <p:ph sz="half" idx="2"/>
          </p:nvPr>
        </p:nvSpPr>
        <p:spPr bwMode="gray">
          <a:xfrm>
            <a:off x="3765502" y="1758950"/>
            <a:ext cx="5011785" cy="1382015"/>
          </a:xfrm>
          <a:prstGeom prst="roundRect">
            <a:avLst>
              <a:gd name="adj" fmla="val 2380"/>
            </a:avLst>
          </a:prstGeom>
          <a:gradFill flip="none" rotWithShape="1">
            <a:gsLst>
              <a:gs pos="0">
                <a:schemeClr val="bg2">
                  <a:lumMod val="20000"/>
                  <a:lumOff val="80000"/>
                </a:schemeClr>
              </a:gs>
              <a:gs pos="100000">
                <a:schemeClr val="bg1">
                  <a:alpha val="0"/>
                </a:schemeClr>
              </a:gs>
            </a:gsLst>
            <a:lin ang="10800000" scaled="1"/>
            <a:tileRect/>
          </a:gradFill>
          <a:ln w="12700">
            <a:gradFill>
              <a:gsLst>
                <a:gs pos="0">
                  <a:schemeClr val="bg2">
                    <a:lumMod val="40000"/>
                    <a:lumOff val="60000"/>
                  </a:schemeClr>
                </a:gs>
                <a:gs pos="100000">
                  <a:schemeClr val="bg1">
                    <a:alpha val="0"/>
                  </a:schemeClr>
                </a:gs>
              </a:gsLst>
              <a:lin ang="10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91440" bIns="0" anchor="ctr" anchorCtr="0"/>
          <a:lstStyle>
            <a:lvl1pPr marL="342900" indent="0" algn="l" defTabSz="914400" rtl="0" eaLnBrk="1" fontAlgn="auto" latinLnBrk="0" hangingPunct="1">
              <a:spcBef>
                <a:spcPts val="200"/>
              </a:spcBef>
              <a:spcAft>
                <a:spcPts val="0"/>
              </a:spcAft>
              <a:buClr>
                <a:schemeClr val="tx2"/>
              </a:buClr>
              <a:buNone/>
              <a:defRPr lang="en-US" sz="2000" b="0" kern="1200" dirty="0" smtClean="0">
                <a:solidFill>
                  <a:schemeClr val="tx2"/>
                </a:solidFill>
                <a:latin typeface="+mn-lt"/>
                <a:ea typeface="+mn-ea"/>
                <a:cs typeface="+mn-cs"/>
              </a:defRPr>
            </a:lvl1pPr>
            <a:lvl2pPr marL="628650" indent="-171450" algn="l" defTabSz="914400" rtl="0" eaLnBrk="1" fontAlgn="auto" latinLnBrk="0" hangingPunct="1">
              <a:spcBef>
                <a:spcPts val="200"/>
              </a:spcBef>
              <a:spcAft>
                <a:spcPts val="0"/>
              </a:spcAft>
              <a:buClr>
                <a:schemeClr val="tx2"/>
              </a:buClr>
              <a:buFont typeface="Wingdings" pitchFamily="2" charset="2"/>
              <a:buChar char=""/>
              <a:defRPr lang="en-US" sz="1400" kern="1200" dirty="0" smtClean="0">
                <a:solidFill>
                  <a:schemeClr val="bg2"/>
                </a:solidFill>
                <a:latin typeface="+mn-lt"/>
                <a:ea typeface="+mn-ea"/>
                <a:cs typeface="+mn-cs"/>
              </a:defRPr>
            </a:lvl2pPr>
            <a:lvl3pPr marL="800100" indent="-171450" algn="l" defTabSz="914400" rtl="0" eaLnBrk="1" fontAlgn="auto" latinLnBrk="0" hangingPunct="1">
              <a:spcBef>
                <a:spcPts val="200"/>
              </a:spcBef>
              <a:spcAft>
                <a:spcPts val="0"/>
              </a:spcAft>
              <a:buClr>
                <a:schemeClr val="tx2"/>
              </a:buClr>
              <a:buFont typeface="Verdana" pitchFamily="34" charset="0"/>
              <a:buChar char="–"/>
              <a:defRPr lang="en-US" sz="1200" kern="1200" dirty="0" smtClean="0">
                <a:solidFill>
                  <a:schemeClr val="bg2"/>
                </a:solidFill>
                <a:latin typeface="+mn-lt"/>
                <a:ea typeface="+mn-ea"/>
                <a:cs typeface="+mn-cs"/>
              </a:defRPr>
            </a:lvl3pPr>
            <a:lvl4pPr marL="914400" indent="-114300" algn="l" defTabSz="914400" rtl="0" eaLnBrk="1" fontAlgn="auto" latinLnBrk="0" hangingPunct="1">
              <a:spcBef>
                <a:spcPts val="200"/>
              </a:spcBef>
              <a:spcAft>
                <a:spcPts val="0"/>
              </a:spcAft>
              <a:buClr>
                <a:schemeClr val="tx2"/>
              </a:buClr>
              <a:buFont typeface="Verdana" pitchFamily="34" charset="0"/>
              <a:buChar char="▪"/>
              <a:defRPr lang="en-US" sz="1000" kern="1200" dirty="0" smtClean="0">
                <a:solidFill>
                  <a:schemeClr val="bg2"/>
                </a:solidFill>
                <a:latin typeface="+mn-lt"/>
                <a:ea typeface="+mn-ea"/>
                <a:cs typeface="+mn-cs"/>
              </a:defRPr>
            </a:lvl4pPr>
            <a:lvl5pPr marL="1366838" indent="-223838" algn="l" defTabSz="914400" rtl="0" eaLnBrk="1" fontAlgn="auto" latinLnBrk="0" hangingPunct="1">
              <a:spcBef>
                <a:spcPts val="0"/>
              </a:spcBef>
              <a:spcAft>
                <a:spcPts val="0"/>
              </a:spcAft>
              <a:buClr>
                <a:schemeClr val="tx2"/>
              </a:buClr>
              <a:buFont typeface="Verdana" pitchFamily="34" charset="0"/>
              <a:buChar char="—"/>
              <a:tabLst/>
              <a:defRPr lang="en-US" sz="1600" kern="1200" dirty="0">
                <a:solidFill>
                  <a:schemeClr val="bg2"/>
                </a:solidFill>
                <a:latin typeface="+mn-lt"/>
                <a:ea typeface="+mn-ea"/>
                <a:cs typeface="+mn-cs"/>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3"/>
          <p:cNvSpPr>
            <a:spLocks noGrp="1"/>
          </p:cNvSpPr>
          <p:nvPr>
            <p:ph sz="half" idx="10"/>
          </p:nvPr>
        </p:nvSpPr>
        <p:spPr bwMode="gray">
          <a:xfrm>
            <a:off x="3765502" y="3198572"/>
            <a:ext cx="5011785" cy="1382015"/>
          </a:xfrm>
          <a:prstGeom prst="roundRect">
            <a:avLst>
              <a:gd name="adj" fmla="val 2380"/>
            </a:avLst>
          </a:prstGeom>
          <a:gradFill flip="none" rotWithShape="1">
            <a:gsLst>
              <a:gs pos="0">
                <a:schemeClr val="bg2">
                  <a:lumMod val="20000"/>
                  <a:lumOff val="80000"/>
                </a:schemeClr>
              </a:gs>
              <a:gs pos="100000">
                <a:schemeClr val="bg1">
                  <a:alpha val="0"/>
                </a:schemeClr>
              </a:gs>
            </a:gsLst>
            <a:lin ang="10800000" scaled="1"/>
            <a:tileRect/>
          </a:gradFill>
          <a:ln w="12700">
            <a:gradFill>
              <a:gsLst>
                <a:gs pos="0">
                  <a:schemeClr val="bg2">
                    <a:lumMod val="40000"/>
                    <a:lumOff val="60000"/>
                  </a:schemeClr>
                </a:gs>
                <a:gs pos="100000">
                  <a:schemeClr val="bg1">
                    <a:alpha val="0"/>
                  </a:schemeClr>
                </a:gs>
              </a:gsLst>
              <a:lin ang="10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0" tIns="73152" rIns="2194560" bIns="0" anchor="t" anchorCtr="0"/>
          <a:lstStyle>
            <a:lvl1pPr marL="342900" indent="0" algn="l" defTabSz="914400" rtl="0" eaLnBrk="1" fontAlgn="auto" latinLnBrk="0" hangingPunct="1">
              <a:spcBef>
                <a:spcPts val="200"/>
              </a:spcBef>
              <a:spcAft>
                <a:spcPts val="0"/>
              </a:spcAft>
              <a:buClr>
                <a:schemeClr val="tx2"/>
              </a:buClr>
              <a:buNone/>
              <a:defRPr lang="en-US" sz="2000" b="0" kern="1200" dirty="0" smtClean="0">
                <a:solidFill>
                  <a:schemeClr val="tx2"/>
                </a:solidFill>
                <a:latin typeface="+mn-lt"/>
                <a:ea typeface="+mn-ea"/>
                <a:cs typeface="+mn-cs"/>
              </a:defRPr>
            </a:lvl1pPr>
            <a:lvl2pPr marL="628650" indent="-171450" algn="l" defTabSz="914400" rtl="0" eaLnBrk="1" fontAlgn="auto" latinLnBrk="0" hangingPunct="1">
              <a:spcBef>
                <a:spcPts val="200"/>
              </a:spcBef>
              <a:spcAft>
                <a:spcPts val="0"/>
              </a:spcAft>
              <a:buClr>
                <a:schemeClr val="tx2"/>
              </a:buClr>
              <a:buFont typeface="Wingdings" pitchFamily="2" charset="2"/>
              <a:buChar char=""/>
              <a:defRPr lang="en-US" sz="1400" kern="1200" dirty="0" smtClean="0">
                <a:solidFill>
                  <a:schemeClr val="bg2"/>
                </a:solidFill>
                <a:latin typeface="+mn-lt"/>
                <a:ea typeface="+mn-ea"/>
                <a:cs typeface="+mn-cs"/>
              </a:defRPr>
            </a:lvl2pPr>
            <a:lvl3pPr marL="800100" indent="-171450" algn="l" defTabSz="914400" rtl="0" eaLnBrk="1" fontAlgn="auto" latinLnBrk="0" hangingPunct="1">
              <a:spcBef>
                <a:spcPts val="200"/>
              </a:spcBef>
              <a:spcAft>
                <a:spcPts val="0"/>
              </a:spcAft>
              <a:buClr>
                <a:schemeClr val="tx2"/>
              </a:buClr>
              <a:buFont typeface="Verdana" pitchFamily="34" charset="0"/>
              <a:buChar char="–"/>
              <a:defRPr lang="en-US" sz="1200" kern="1200" dirty="0" smtClean="0">
                <a:solidFill>
                  <a:schemeClr val="bg2"/>
                </a:solidFill>
                <a:latin typeface="+mn-lt"/>
                <a:ea typeface="+mn-ea"/>
                <a:cs typeface="+mn-cs"/>
              </a:defRPr>
            </a:lvl3pPr>
            <a:lvl4pPr marL="914400" indent="-114300" algn="l" defTabSz="914400" rtl="0" eaLnBrk="1" fontAlgn="auto" latinLnBrk="0" hangingPunct="1">
              <a:spcBef>
                <a:spcPts val="200"/>
              </a:spcBef>
              <a:spcAft>
                <a:spcPts val="0"/>
              </a:spcAft>
              <a:buClr>
                <a:schemeClr val="tx2"/>
              </a:buClr>
              <a:buFont typeface="Verdana" pitchFamily="34" charset="0"/>
              <a:buChar char="▪"/>
              <a:defRPr lang="en-US" sz="1000" kern="1200" dirty="0" smtClean="0">
                <a:solidFill>
                  <a:schemeClr val="bg2"/>
                </a:solidFill>
                <a:latin typeface="+mn-lt"/>
                <a:ea typeface="+mn-ea"/>
                <a:cs typeface="+mn-cs"/>
              </a:defRPr>
            </a:lvl4pPr>
            <a:lvl5pPr marL="1366838" indent="-223838" algn="l" defTabSz="914400" rtl="0" eaLnBrk="1" fontAlgn="auto" latinLnBrk="0" hangingPunct="1">
              <a:spcBef>
                <a:spcPts val="0"/>
              </a:spcBef>
              <a:spcAft>
                <a:spcPts val="0"/>
              </a:spcAft>
              <a:buClr>
                <a:schemeClr val="tx2"/>
              </a:buClr>
              <a:buFont typeface="Verdana" pitchFamily="34" charset="0"/>
              <a:buChar char="—"/>
              <a:tabLst/>
              <a:defRPr lang="en-US" sz="1600" kern="1200" dirty="0">
                <a:solidFill>
                  <a:schemeClr val="bg2"/>
                </a:solidFill>
                <a:latin typeface="+mn-lt"/>
                <a:ea typeface="+mn-ea"/>
                <a:cs typeface="+mn-cs"/>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2" name="Content Placeholder 3"/>
          <p:cNvSpPr>
            <a:spLocks noGrp="1"/>
          </p:cNvSpPr>
          <p:nvPr>
            <p:ph sz="half" idx="11"/>
          </p:nvPr>
        </p:nvSpPr>
        <p:spPr bwMode="gray">
          <a:xfrm>
            <a:off x="3765502" y="4638747"/>
            <a:ext cx="5011785" cy="1382015"/>
          </a:xfrm>
          <a:prstGeom prst="roundRect">
            <a:avLst>
              <a:gd name="adj" fmla="val 2380"/>
            </a:avLst>
          </a:prstGeom>
          <a:gradFill flip="none" rotWithShape="1">
            <a:gsLst>
              <a:gs pos="0">
                <a:schemeClr val="bg2">
                  <a:lumMod val="20000"/>
                  <a:lumOff val="80000"/>
                </a:schemeClr>
              </a:gs>
              <a:gs pos="100000">
                <a:schemeClr val="bg1">
                  <a:alpha val="0"/>
                </a:schemeClr>
              </a:gs>
            </a:gsLst>
            <a:lin ang="10800000" scaled="1"/>
            <a:tileRect/>
          </a:gradFill>
          <a:ln w="12700">
            <a:gradFill>
              <a:gsLst>
                <a:gs pos="0">
                  <a:schemeClr val="bg2">
                    <a:lumMod val="40000"/>
                    <a:lumOff val="60000"/>
                  </a:schemeClr>
                </a:gs>
                <a:gs pos="100000">
                  <a:schemeClr val="bg1">
                    <a:alpha val="0"/>
                  </a:schemeClr>
                </a:gs>
              </a:gsLst>
              <a:lin ang="10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91440" bIns="0" anchor="ctr"/>
          <a:lstStyle>
            <a:lvl1pPr marL="342900" indent="0" algn="l" defTabSz="914400" rtl="0" eaLnBrk="1" fontAlgn="auto" latinLnBrk="0" hangingPunct="1">
              <a:spcBef>
                <a:spcPts val="200"/>
              </a:spcBef>
              <a:spcAft>
                <a:spcPts val="0"/>
              </a:spcAft>
              <a:buClr>
                <a:schemeClr val="tx2"/>
              </a:buClr>
              <a:buNone/>
              <a:defRPr lang="en-US" sz="2000" b="0" kern="1200" dirty="0" smtClean="0">
                <a:solidFill>
                  <a:schemeClr val="tx2"/>
                </a:solidFill>
                <a:latin typeface="+mn-lt"/>
                <a:ea typeface="+mn-ea"/>
                <a:cs typeface="+mn-cs"/>
              </a:defRPr>
            </a:lvl1pPr>
            <a:lvl2pPr marL="628650" indent="-171450" algn="l" defTabSz="914400" rtl="0" eaLnBrk="1" fontAlgn="auto" latinLnBrk="0" hangingPunct="1">
              <a:spcBef>
                <a:spcPts val="200"/>
              </a:spcBef>
              <a:spcAft>
                <a:spcPts val="0"/>
              </a:spcAft>
              <a:buClr>
                <a:schemeClr val="tx2"/>
              </a:buClr>
              <a:buFont typeface="Wingdings" pitchFamily="2" charset="2"/>
              <a:buChar char=""/>
              <a:defRPr lang="en-US" sz="1400" kern="1200" dirty="0" smtClean="0">
                <a:solidFill>
                  <a:schemeClr val="bg2"/>
                </a:solidFill>
                <a:latin typeface="+mn-lt"/>
                <a:ea typeface="+mn-ea"/>
                <a:cs typeface="+mn-cs"/>
              </a:defRPr>
            </a:lvl2pPr>
            <a:lvl3pPr marL="800100" indent="-171450" algn="l" defTabSz="914400" rtl="0" eaLnBrk="1" fontAlgn="auto" latinLnBrk="0" hangingPunct="1">
              <a:spcBef>
                <a:spcPts val="200"/>
              </a:spcBef>
              <a:spcAft>
                <a:spcPts val="0"/>
              </a:spcAft>
              <a:buClr>
                <a:schemeClr val="tx2"/>
              </a:buClr>
              <a:buFont typeface="Verdana" pitchFamily="34" charset="0"/>
              <a:buChar char="–"/>
              <a:defRPr lang="en-US" sz="1200" kern="1200" dirty="0" smtClean="0">
                <a:solidFill>
                  <a:schemeClr val="bg2"/>
                </a:solidFill>
                <a:latin typeface="+mn-lt"/>
                <a:ea typeface="+mn-ea"/>
                <a:cs typeface="+mn-cs"/>
              </a:defRPr>
            </a:lvl3pPr>
            <a:lvl4pPr marL="914400" indent="-114300" algn="l" defTabSz="914400" rtl="0" eaLnBrk="1" fontAlgn="auto" latinLnBrk="0" hangingPunct="1">
              <a:spcBef>
                <a:spcPts val="200"/>
              </a:spcBef>
              <a:spcAft>
                <a:spcPts val="0"/>
              </a:spcAft>
              <a:buClr>
                <a:schemeClr val="tx2"/>
              </a:buClr>
              <a:buFont typeface="Verdana" pitchFamily="34" charset="0"/>
              <a:buChar char="▪"/>
              <a:defRPr lang="en-US" sz="1000" kern="1200" dirty="0" smtClean="0">
                <a:solidFill>
                  <a:schemeClr val="bg2"/>
                </a:solidFill>
                <a:latin typeface="+mn-lt"/>
                <a:ea typeface="+mn-ea"/>
                <a:cs typeface="+mn-cs"/>
              </a:defRPr>
            </a:lvl4pPr>
            <a:lvl5pPr marL="1366838" indent="-223838" algn="l" defTabSz="914400" rtl="0" eaLnBrk="1" fontAlgn="auto" latinLnBrk="0" hangingPunct="1">
              <a:spcBef>
                <a:spcPts val="0"/>
              </a:spcBef>
              <a:spcAft>
                <a:spcPts val="0"/>
              </a:spcAft>
              <a:buClr>
                <a:schemeClr val="tx2"/>
              </a:buClr>
              <a:buFont typeface="Verdana" pitchFamily="34" charset="0"/>
              <a:buChar char="—"/>
              <a:tabLst/>
              <a:defRPr lang="en-US" sz="1600" kern="1200" dirty="0">
                <a:solidFill>
                  <a:schemeClr val="bg2"/>
                </a:solidFill>
                <a:latin typeface="+mn-lt"/>
                <a:ea typeface="+mn-ea"/>
                <a:cs typeface="+mn-cs"/>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6" name="Content Placeholder 3"/>
          <p:cNvSpPr>
            <a:spLocks noGrp="1"/>
          </p:cNvSpPr>
          <p:nvPr>
            <p:ph sz="half" idx="12"/>
          </p:nvPr>
        </p:nvSpPr>
        <p:spPr bwMode="gray">
          <a:xfrm>
            <a:off x="6530637" y="3198572"/>
            <a:ext cx="2246673" cy="1382015"/>
          </a:xfrm>
          <a:prstGeom prst="roundRect">
            <a:avLst>
              <a:gd name="adj" fmla="val 2380"/>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73152" rIns="91440" bIns="0" anchor="t" anchorCtr="0"/>
          <a:lstStyle>
            <a:lvl1pPr marL="0" indent="0" algn="l" defTabSz="914400" rtl="0" eaLnBrk="1" fontAlgn="auto" latinLnBrk="0" hangingPunct="1">
              <a:spcBef>
                <a:spcPts val="200"/>
              </a:spcBef>
              <a:spcAft>
                <a:spcPts val="0"/>
              </a:spcAft>
              <a:buClr>
                <a:schemeClr val="tx2"/>
              </a:buClr>
              <a:buNone/>
              <a:defRPr lang="en-US" sz="2000" b="0" kern="1200" dirty="0" smtClean="0">
                <a:solidFill>
                  <a:schemeClr val="tx2"/>
                </a:solidFill>
                <a:latin typeface="+mn-lt"/>
                <a:ea typeface="+mn-ea"/>
                <a:cs typeface="+mn-cs"/>
              </a:defRPr>
            </a:lvl1pPr>
            <a:lvl2pPr marL="171450" indent="-171450" algn="l" defTabSz="914400" rtl="0" eaLnBrk="1" fontAlgn="auto" latinLnBrk="0" hangingPunct="1">
              <a:spcBef>
                <a:spcPts val="200"/>
              </a:spcBef>
              <a:spcAft>
                <a:spcPts val="0"/>
              </a:spcAft>
              <a:buClr>
                <a:schemeClr val="tx2"/>
              </a:buClr>
              <a:buFont typeface="Wingdings" pitchFamily="2" charset="2"/>
              <a:buChar char=""/>
              <a:defRPr lang="en-US" sz="1400" kern="1200" dirty="0" smtClean="0">
                <a:solidFill>
                  <a:schemeClr val="bg2"/>
                </a:solidFill>
                <a:latin typeface="+mn-lt"/>
                <a:ea typeface="+mn-ea"/>
                <a:cs typeface="+mn-cs"/>
              </a:defRPr>
            </a:lvl2pPr>
            <a:lvl3pPr marL="800100" indent="-171450" algn="l" defTabSz="914400" rtl="0" eaLnBrk="1" fontAlgn="auto" latinLnBrk="0" hangingPunct="1">
              <a:spcBef>
                <a:spcPts val="200"/>
              </a:spcBef>
              <a:spcAft>
                <a:spcPts val="0"/>
              </a:spcAft>
              <a:buClr>
                <a:schemeClr val="tx2"/>
              </a:buClr>
              <a:buFont typeface="Verdana" pitchFamily="34" charset="0"/>
              <a:buChar char="–"/>
              <a:defRPr lang="en-US" sz="1200" kern="1200" dirty="0" smtClean="0">
                <a:solidFill>
                  <a:schemeClr val="bg2"/>
                </a:solidFill>
                <a:latin typeface="+mn-lt"/>
                <a:ea typeface="+mn-ea"/>
                <a:cs typeface="+mn-cs"/>
              </a:defRPr>
            </a:lvl3pPr>
            <a:lvl4pPr marL="914400" indent="-114300" algn="l" defTabSz="914400" rtl="0" eaLnBrk="1" fontAlgn="auto" latinLnBrk="0" hangingPunct="1">
              <a:spcBef>
                <a:spcPts val="200"/>
              </a:spcBef>
              <a:spcAft>
                <a:spcPts val="0"/>
              </a:spcAft>
              <a:buClr>
                <a:schemeClr val="tx2"/>
              </a:buClr>
              <a:buFont typeface="Verdana" pitchFamily="34" charset="0"/>
              <a:buChar char="▪"/>
              <a:defRPr lang="en-US" sz="1000" kern="1200" dirty="0" smtClean="0">
                <a:solidFill>
                  <a:schemeClr val="bg2"/>
                </a:solidFill>
                <a:latin typeface="+mn-lt"/>
                <a:ea typeface="+mn-ea"/>
                <a:cs typeface="+mn-cs"/>
              </a:defRPr>
            </a:lvl4pPr>
            <a:lvl5pPr marL="1366838" indent="-223838" algn="l" defTabSz="914400" rtl="0" eaLnBrk="1" fontAlgn="auto" latinLnBrk="0" hangingPunct="1">
              <a:spcBef>
                <a:spcPts val="0"/>
              </a:spcBef>
              <a:spcAft>
                <a:spcPts val="0"/>
              </a:spcAft>
              <a:buClr>
                <a:schemeClr val="tx2"/>
              </a:buClr>
              <a:buFont typeface="Verdana" pitchFamily="34" charset="0"/>
              <a:buChar char="—"/>
              <a:tabLst/>
              <a:defRPr lang="en-US" sz="1600" kern="1200" dirty="0">
                <a:solidFill>
                  <a:schemeClr val="bg2"/>
                </a:solidFill>
                <a:latin typeface="+mn-lt"/>
                <a:ea typeface="+mn-ea"/>
                <a:cs typeface="+mn-cs"/>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p:txBody>
      </p:sp>
      <p:sp>
        <p:nvSpPr>
          <p:cNvPr id="24" name="Picture Placeholder 2"/>
          <p:cNvSpPr>
            <a:spLocks noGrp="1"/>
          </p:cNvSpPr>
          <p:nvPr>
            <p:ph type="pic" idx="13"/>
          </p:nvPr>
        </p:nvSpPr>
        <p:spPr bwMode="gray">
          <a:xfrm rot="21179978">
            <a:off x="585203" y="1704953"/>
            <a:ext cx="3059993" cy="254508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isometricRightUp">
              <a:rot lat="2100000" lon="0" rev="0"/>
            </a:camera>
            <a:lightRig rig="twoPt" dir="t">
              <a:rot lat="0" lon="0" rev="7200000"/>
            </a:lightRig>
          </a:scene3d>
          <a:sp3d contourW="12700">
            <a:bevelT w="25400" h="19050"/>
            <a:contourClr>
              <a:srgbClr val="969696"/>
            </a:contourClr>
          </a:sp3d>
        </p:spPr>
        <p:txBody>
          <a:bodyPr/>
          <a:lstStyle>
            <a:lvl1pPr marL="0" indent="0">
              <a:buNone/>
              <a:defRPr sz="1600">
                <a:latin typeface="Verdana"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4" name="Picture Placeholder 2"/>
          <p:cNvSpPr>
            <a:spLocks noGrp="1"/>
          </p:cNvSpPr>
          <p:nvPr>
            <p:ph type="pic" idx="14"/>
          </p:nvPr>
        </p:nvSpPr>
        <p:spPr bwMode="gray">
          <a:xfrm>
            <a:off x="366713" y="3889376"/>
            <a:ext cx="3455987" cy="2282824"/>
          </a:xfrm>
          <a:prstGeom prst="rect">
            <a:avLst/>
          </a:prstGeom>
        </p:spPr>
        <p:txBody>
          <a:bodyPr/>
          <a:lstStyle>
            <a:lvl1pPr marL="0" indent="0">
              <a:buNone/>
              <a:defRPr sz="1600">
                <a:latin typeface="Verdana"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extLst>
      <p:ext uri="{BB962C8B-B14F-4D97-AF65-F5344CB8AC3E}">
        <p14:creationId xmlns:p14="http://schemas.microsoft.com/office/powerpoint/2010/main" val="787035305"/>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4" name="Content Placeholder 3"/>
          <p:cNvSpPr>
            <a:spLocks noGrp="1"/>
          </p:cNvSpPr>
          <p:nvPr>
            <p:ph sz="quarter" idx="10" hasCustomPrompt="1"/>
          </p:nvPr>
        </p:nvSpPr>
        <p:spPr bwMode="gray">
          <a:xfrm>
            <a:off x="366714" y="1432984"/>
            <a:ext cx="8410575" cy="4510616"/>
          </a:xfrm>
          <a:prstGeom prst="rect">
            <a:avLst/>
          </a:prstGeom>
          <a:noFill/>
        </p:spPr>
        <p:txBody>
          <a:bodyPr lIns="0" tIns="0" rIns="0" bIns="0"/>
          <a:lstStyle>
            <a:lvl1pPr marL="225425" indent="-225425">
              <a:spcBef>
                <a:spcPts val="1200"/>
              </a:spcBef>
              <a:buClr>
                <a:schemeClr val="tx2"/>
              </a:buClr>
              <a:buFont typeface="+mj-lt"/>
              <a:buNone/>
              <a:defRPr sz="3600">
                <a:solidFill>
                  <a:schemeClr val="tx2"/>
                </a:solidFill>
                <a:latin typeface="Verdana" pitchFamily="34" charset="0"/>
              </a:defRPr>
            </a:lvl1pPr>
            <a:lvl2pPr marL="581025" indent="0" algn="l">
              <a:spcBef>
                <a:spcPts val="600"/>
              </a:spcBef>
              <a:buClr>
                <a:schemeClr val="tx2"/>
              </a:buClr>
              <a:buFont typeface="Wingdings" pitchFamily="2" charset="2"/>
              <a:buNone/>
              <a:defRPr sz="1800">
                <a:solidFill>
                  <a:schemeClr val="bg2"/>
                </a:solidFill>
                <a:latin typeface="Verdana" pitchFamily="34" charset="0"/>
              </a:defRPr>
            </a:lvl2pPr>
            <a:lvl3pPr>
              <a:spcBef>
                <a:spcPts val="600"/>
              </a:spcBef>
              <a:buClr>
                <a:schemeClr val="tx2"/>
              </a:buClr>
              <a:defRPr>
                <a:solidFill>
                  <a:schemeClr val="bg2"/>
                </a:solidFill>
              </a:defRPr>
            </a:lvl3pPr>
            <a:lvl4pPr>
              <a:spcBef>
                <a:spcPts val="600"/>
              </a:spcBef>
              <a:buClr>
                <a:schemeClr val="tx2"/>
              </a:buClr>
              <a:buFont typeface="Wingdings" pitchFamily="2" charset="2"/>
              <a:buChar char="§"/>
              <a:defRPr>
                <a:solidFill>
                  <a:schemeClr val="bg2"/>
                </a:solidFill>
              </a:defRPr>
            </a:lvl4pPr>
            <a:lvl5pPr>
              <a:spcBef>
                <a:spcPts val="600"/>
              </a:spcBef>
              <a:buClr>
                <a:schemeClr val="tx2"/>
              </a:buClr>
              <a:defRPr sz="1600">
                <a:solidFill>
                  <a:schemeClr val="bg2"/>
                </a:solidFill>
              </a:defRPr>
            </a:lvl5pPr>
          </a:lstStyle>
          <a:p>
            <a:pPr lvl="0"/>
            <a:r>
              <a:rPr lang="en-US" dirty="0" smtClean="0"/>
              <a:t>“Click to edit Master text styles</a:t>
            </a:r>
          </a:p>
          <a:p>
            <a:pPr lvl="1"/>
            <a:r>
              <a:rPr lang="en-US" dirty="0" smtClean="0"/>
              <a:t>SECOND LEVEL</a:t>
            </a:r>
          </a:p>
        </p:txBody>
      </p:sp>
    </p:spTree>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oter bar only">
    <p:bg bwMode="gray">
      <p:bgRef idx="1001">
        <a:schemeClr val="bg1"/>
      </p:bgRef>
    </p:bg>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SA footer">
    <p:spTree>
      <p:nvGrpSpPr>
        <p:cNvPr id="1" name=""/>
        <p:cNvGrpSpPr/>
        <p:nvPr/>
      </p:nvGrpSpPr>
      <p:grpSpPr>
        <a:xfrm>
          <a:off x="0" y="0"/>
          <a:ext cx="0" cy="0"/>
          <a:chOff x="0" y="0"/>
          <a:chExt cx="0" cy="0"/>
        </a:xfrm>
      </p:grpSpPr>
      <p:sp>
        <p:nvSpPr>
          <p:cNvPr id="3" name="Rectangle 2"/>
          <p:cNvSpPr/>
          <p:nvPr userDrawn="1"/>
        </p:nvSpPr>
        <p:spPr bwMode="gray">
          <a:xfrm>
            <a:off x="0" y="6172201"/>
            <a:ext cx="9144000" cy="514351"/>
          </a:xfrm>
          <a:prstGeom prst="rect">
            <a:avLst/>
          </a:prstGeom>
          <a:solidFill>
            <a:srgbClr val="949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latin typeface="Verdana" pitchFamily="34" charset="0"/>
            </a:endParaRPr>
          </a:p>
        </p:txBody>
      </p:sp>
      <p:sp>
        <p:nvSpPr>
          <p:cNvPr id="6" name="Title 1"/>
          <p:cNvSpPr>
            <a:spLocks noGrp="1"/>
          </p:cNvSpPr>
          <p:nvPr>
            <p:ph type="title"/>
          </p:nvPr>
        </p:nvSpPr>
        <p:spPr bwMode="gray">
          <a:xfrm>
            <a:off x="366714" y="203200"/>
            <a:ext cx="8410575" cy="920751"/>
          </a:xfrm>
          <a:prstGeom prst="rect">
            <a:avLst/>
          </a:prstGeom>
          <a:noFill/>
        </p:spPr>
        <p:txBody>
          <a:bodyPr lIns="0" tIns="0" rIns="0" bIns="0" anchor="b" anchorCtr="0"/>
          <a:lstStyle>
            <a:lvl1pPr algn="l" defTabSz="914400" rtl="0" eaLnBrk="1" latinLnBrk="0" hangingPunct="1">
              <a:lnSpc>
                <a:spcPts val="3600"/>
              </a:lnSpc>
              <a:spcBef>
                <a:spcPct val="0"/>
              </a:spcBef>
              <a:buNone/>
              <a:defRPr lang="en-US" sz="3200" kern="1200" dirty="0">
                <a:solidFill>
                  <a:schemeClr val="accent6"/>
                </a:solidFill>
                <a:latin typeface="Verdana" pitchFamily="34" charset="0"/>
                <a:ea typeface="+mj-ea"/>
                <a:cs typeface="+mj-cs"/>
              </a:defRPr>
            </a:lvl1pPr>
          </a:lstStyle>
          <a:p>
            <a:r>
              <a:rPr lang="en-US" smtClean="0"/>
              <a:t>Click to edit Master title style</a:t>
            </a:r>
            <a:endParaRPr lang="en-US" dirty="0"/>
          </a:p>
        </p:txBody>
      </p:sp>
      <p:pic>
        <p:nvPicPr>
          <p:cNvPr id="7" name="Picture 6" descr="EMC logo white-lg.png"/>
          <p:cNvPicPr>
            <a:picLocks noChangeAspect="1"/>
          </p:cNvPicPr>
          <p:nvPr userDrawn="1"/>
        </p:nvPicPr>
        <p:blipFill>
          <a:blip r:embed="rId2" cstate="screen"/>
          <a:srcRect/>
          <a:stretch>
            <a:fillRect/>
          </a:stretch>
        </p:blipFill>
        <p:spPr bwMode="gray">
          <a:xfrm>
            <a:off x="7848600" y="6280319"/>
            <a:ext cx="928688" cy="292447"/>
          </a:xfrm>
          <a:prstGeom prst="rect">
            <a:avLst/>
          </a:prstGeom>
        </p:spPr>
      </p:pic>
      <p:pic>
        <p:nvPicPr>
          <p:cNvPr id="8" name="Picture 7" descr="RSA_Division_EMC_logo.png"/>
          <p:cNvPicPr>
            <a:picLocks noChangeAspect="1"/>
          </p:cNvPicPr>
          <p:nvPr userDrawn="1"/>
        </p:nvPicPr>
        <p:blipFill>
          <a:blip r:embed="rId3" cstate="screen"/>
          <a:srcRect/>
          <a:stretch>
            <a:fillRect/>
          </a:stretch>
        </p:blipFill>
        <p:spPr bwMode="gray">
          <a:xfrm>
            <a:off x="366712" y="6261113"/>
            <a:ext cx="731520" cy="336524"/>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VCE footer">
    <p:spTree>
      <p:nvGrpSpPr>
        <p:cNvPr id="1" name=""/>
        <p:cNvGrpSpPr/>
        <p:nvPr/>
      </p:nvGrpSpPr>
      <p:grpSpPr>
        <a:xfrm>
          <a:off x="0" y="0"/>
          <a:ext cx="0" cy="0"/>
          <a:chOff x="0" y="0"/>
          <a:chExt cx="0" cy="0"/>
        </a:xfrm>
      </p:grpSpPr>
      <p:sp>
        <p:nvSpPr>
          <p:cNvPr id="3" name="Rectangle 2"/>
          <p:cNvSpPr/>
          <p:nvPr userDrawn="1"/>
        </p:nvSpPr>
        <p:spPr bwMode="gray">
          <a:xfrm>
            <a:off x="0" y="6172201"/>
            <a:ext cx="9144000" cy="5143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latin typeface="Verdana" pitchFamily="34" charset="0"/>
            </a:endParaRPr>
          </a:p>
        </p:txBody>
      </p:sp>
      <p:pic>
        <p:nvPicPr>
          <p:cNvPr id="8" name="Picture 7" descr="EMC logo white-lg.png"/>
          <p:cNvPicPr>
            <a:picLocks noChangeAspect="1"/>
          </p:cNvPicPr>
          <p:nvPr userDrawn="1"/>
        </p:nvPicPr>
        <p:blipFill>
          <a:blip r:embed="rId2" cstate="screen"/>
          <a:srcRect/>
          <a:stretch>
            <a:fillRect/>
          </a:stretch>
        </p:blipFill>
        <p:spPr bwMode="gray">
          <a:xfrm>
            <a:off x="7848600" y="6280319"/>
            <a:ext cx="928688" cy="292447"/>
          </a:xfrm>
          <a:prstGeom prst="rect">
            <a:avLst/>
          </a:prstGeom>
        </p:spPr>
      </p:pic>
      <p:pic>
        <p:nvPicPr>
          <p:cNvPr id="9" name="Picture 8" descr="VMW_09Q3_LOGO_Corp_White.png"/>
          <p:cNvPicPr>
            <a:picLocks noChangeAspect="1"/>
          </p:cNvPicPr>
          <p:nvPr userDrawn="1"/>
        </p:nvPicPr>
        <p:blipFill>
          <a:blip r:embed="rId3" cstate="screen"/>
          <a:stretch>
            <a:fillRect/>
          </a:stretch>
        </p:blipFill>
        <p:spPr bwMode="gray">
          <a:xfrm>
            <a:off x="338602" y="6350093"/>
            <a:ext cx="1188720" cy="179833"/>
          </a:xfrm>
          <a:prstGeom prst="rect">
            <a:avLst/>
          </a:prstGeom>
        </p:spPr>
      </p:pic>
      <p:pic>
        <p:nvPicPr>
          <p:cNvPr id="10" name="Picture 9" descr="Cisco_white.png"/>
          <p:cNvPicPr>
            <a:picLocks noChangeAspect="1"/>
          </p:cNvPicPr>
          <p:nvPr userDrawn="1"/>
        </p:nvPicPr>
        <p:blipFill>
          <a:blip r:embed="rId4" cstate="screen"/>
          <a:stretch>
            <a:fillRect/>
          </a:stretch>
        </p:blipFill>
        <p:spPr bwMode="gray">
          <a:xfrm>
            <a:off x="4224760" y="6246496"/>
            <a:ext cx="694481" cy="365760"/>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niverse">
    <p:bg bwMode="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ck background">
    <p:bg bwMode="gray">
      <p:bgPr>
        <a:solidFill>
          <a:schemeClr val="tx1"/>
        </a:solid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MC Blue background">
    <p:bg bwMode="gray">
      <p:bgPr>
        <a:solidFill>
          <a:schemeClr val="accent1"/>
        </a:solidFill>
        <a:effectLst/>
      </p:bgPr>
    </p:bg>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End slide">
    <p:bg bwMode="gray">
      <p:bgPr>
        <a:solidFill>
          <a:schemeClr val="accent1"/>
        </a:solidFill>
        <a:effectLst/>
      </p:bgPr>
    </p:bg>
    <p:spTree>
      <p:nvGrpSpPr>
        <p:cNvPr id="1" name=""/>
        <p:cNvGrpSpPr/>
        <p:nvPr/>
      </p:nvGrpSpPr>
      <p:grpSpPr>
        <a:xfrm>
          <a:off x="0" y="0"/>
          <a:ext cx="0" cy="0"/>
          <a:chOff x="0" y="0"/>
          <a:chExt cx="0" cy="0"/>
        </a:xfrm>
      </p:grpSpPr>
      <p:pic>
        <p:nvPicPr>
          <p:cNvPr id="3" name="Picture 2" descr="EMC-no-tag_white_RGB-150dpi.png"/>
          <p:cNvPicPr>
            <a:picLocks noChangeAspect="1"/>
          </p:cNvPicPr>
          <p:nvPr userDrawn="1"/>
        </p:nvPicPr>
        <p:blipFill>
          <a:blip r:embed="rId2" cstate="screen"/>
          <a:stretch>
            <a:fillRect/>
          </a:stretch>
        </p:blipFill>
        <p:spPr bwMode="gray">
          <a:xfrm>
            <a:off x="1828800" y="2392363"/>
            <a:ext cx="5486400" cy="1766518"/>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Layout 1">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379413" y="5181601"/>
            <a:ext cx="8383588" cy="551985"/>
          </a:xfrm>
          <a:prstGeom prst="rect">
            <a:avLst/>
          </a:prstGeom>
        </p:spPr>
        <p:txBody>
          <a:bodyPr lIns="0" tIns="0" rIns="0" bIns="0" anchor="b" anchorCtr="0"/>
          <a:lstStyle>
            <a:lvl1pPr algn="l">
              <a:lnSpc>
                <a:spcPct val="100000"/>
              </a:lnSpc>
              <a:defRPr sz="3200" cap="all" baseline="0">
                <a:solidFill>
                  <a:schemeClr val="tx2"/>
                </a:solidFill>
                <a:latin typeface="+mj-lt"/>
                <a:cs typeface="Verdana"/>
              </a:defRPr>
            </a:lvl1pPr>
          </a:lstStyle>
          <a:p>
            <a:r>
              <a:rPr lang="en-US" dirty="0" smtClean="0"/>
              <a:t>CLICK TO EDIT MASTER TITLE STYLE</a:t>
            </a:r>
            <a:endParaRPr lang="en-US" dirty="0"/>
          </a:p>
        </p:txBody>
      </p:sp>
      <p:sp>
        <p:nvSpPr>
          <p:cNvPr id="9" name="Subtitle 2"/>
          <p:cNvSpPr>
            <a:spLocks noGrp="1"/>
          </p:cNvSpPr>
          <p:nvPr>
            <p:ph type="subTitle" idx="1" hasCustomPrompt="1"/>
          </p:nvPr>
        </p:nvSpPr>
        <p:spPr>
          <a:xfrm>
            <a:off x="379413" y="5791200"/>
            <a:ext cx="8383587" cy="359992"/>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344141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Layout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63996" y="484719"/>
            <a:ext cx="5175204" cy="2334683"/>
          </a:xfrm>
          <a:prstGeom prst="rect">
            <a:avLst/>
          </a:prstGeom>
        </p:spPr>
        <p:txBody>
          <a:bodyPr lIns="0" tIns="0" rIns="0" bIns="0" anchor="b" anchorCtr="0"/>
          <a:lstStyle>
            <a:lvl1pPr algn="l">
              <a:lnSpc>
                <a:spcPct val="100000"/>
              </a:lnSpc>
              <a:defRPr sz="4000" cap="all" baseline="0">
                <a:solidFill>
                  <a:schemeClr val="tx2"/>
                </a:solidFill>
                <a:latin typeface="+mj-lt"/>
                <a:cs typeface="Verdana"/>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3663996" y="3254375"/>
            <a:ext cx="5175204" cy="1089025"/>
          </a:xfrm>
          <a:prstGeom prst="rect">
            <a:avLst/>
          </a:prstGeom>
        </p:spPr>
        <p:txBody>
          <a:bodyPr lIns="0" tIns="0" rIns="0" bIns="0"/>
          <a:lstStyle>
            <a:lvl1pPr marL="0" indent="0" algn="l">
              <a:lnSpc>
                <a:spcPct val="100000"/>
              </a:lnSpc>
              <a:buNone/>
              <a:defRPr sz="2400" cap="all" baseline="0">
                <a:solidFill>
                  <a:srgbClr val="717074"/>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Picture Placeholder 2"/>
          <p:cNvSpPr>
            <a:spLocks noGrp="1"/>
          </p:cNvSpPr>
          <p:nvPr>
            <p:ph type="pic" idx="11"/>
          </p:nvPr>
        </p:nvSpPr>
        <p:spPr>
          <a:xfrm>
            <a:off x="0" y="3173"/>
            <a:ext cx="3276600" cy="6854827"/>
          </a:xfrm>
          <a:prstGeom prst="rect">
            <a:avLst/>
          </a:prstGeom>
        </p:spPr>
        <p:txBody>
          <a:bodyPr/>
          <a:lstStyle>
            <a:lvl1pPr marL="0" indent="0">
              <a:buNone/>
              <a:defRPr sz="1800">
                <a:solidFill>
                  <a:schemeClr val="bg2"/>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Content Placeholder 4"/>
          <p:cNvSpPr>
            <a:spLocks noGrp="1"/>
          </p:cNvSpPr>
          <p:nvPr>
            <p:ph sz="quarter" idx="10"/>
          </p:nvPr>
        </p:nvSpPr>
        <p:spPr>
          <a:xfrm>
            <a:off x="3663996" y="4443918"/>
            <a:ext cx="5175204" cy="477276"/>
          </a:xfrm>
          <a:prstGeom prst="rect">
            <a:avLst/>
          </a:prstGeom>
        </p:spPr>
        <p:txBody>
          <a:bodyPr vert="horz" lIns="0" tIns="0" rIns="0" bIns="0"/>
          <a:lstStyle>
            <a:lvl1pPr marL="0" indent="0">
              <a:lnSpc>
                <a:spcPct val="100000"/>
              </a:lnSpc>
              <a:spcBef>
                <a:spcPts val="1200"/>
              </a:spcBef>
              <a:buClr>
                <a:schemeClr val="tx2"/>
              </a:buClr>
              <a:buNone/>
              <a:defRPr sz="18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p:txBody>
      </p:sp>
    </p:spTree>
    <p:extLst>
      <p:ext uri="{BB962C8B-B14F-4D97-AF65-F5344CB8AC3E}">
        <p14:creationId xmlns:p14="http://schemas.microsoft.com/office/powerpoint/2010/main" val="3793510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65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1320800"/>
            <a:ext cx="8458200" cy="4572000"/>
          </a:xfrm>
          <a:prstGeom prst="rect">
            <a:avLst/>
          </a:prstGeom>
        </p:spPr>
        <p:txBody>
          <a:bodyPr vert="horz" lIns="0" tIns="0" rIns="0" bIns="0"/>
          <a:lstStyle>
            <a:lvl1pPr marL="228600" indent="-228600">
              <a:spcBef>
                <a:spcPts val="1200"/>
              </a:spcBef>
              <a:buClr>
                <a:schemeClr val="tx2"/>
              </a:buClr>
              <a:defRPr sz="2400">
                <a:solidFill>
                  <a:schemeClr val="bg2"/>
                </a:solidFill>
                <a:latin typeface="+mn-lt"/>
              </a:defRPr>
            </a:lvl1pPr>
            <a:lvl2pPr>
              <a:spcBef>
                <a:spcPts val="300"/>
              </a:spcBef>
              <a:buClr>
                <a:schemeClr val="tx2"/>
              </a:buClr>
              <a:defRPr sz="2000">
                <a:solidFill>
                  <a:schemeClr val="bg2"/>
                </a:solidFill>
                <a:latin typeface="+mn-lt"/>
              </a:defRPr>
            </a:lvl2pPr>
            <a:lvl3pPr marL="1084263" indent="-169863">
              <a:spcBef>
                <a:spcPts val="300"/>
              </a:spcBef>
              <a:buClr>
                <a:schemeClr val="tx2"/>
              </a:buClr>
              <a:defRPr sz="1600">
                <a:solidFill>
                  <a:schemeClr val="bg2"/>
                </a:solidFill>
                <a:latin typeface="+mn-lt"/>
              </a:defRPr>
            </a:lvl3pPr>
            <a:lvl4pPr marL="1430338" indent="-168275">
              <a:spcBef>
                <a:spcPts val="300"/>
              </a:spcBef>
              <a:buClr>
                <a:schemeClr val="tx2"/>
              </a:buClr>
              <a:defRPr sz="1200">
                <a:solidFill>
                  <a:schemeClr val="bg2"/>
                </a:solidFill>
                <a:latin typeface="+mn-lt"/>
              </a:defRPr>
            </a:lvl4pPr>
            <a:lvl5pPr marL="1770063" indent="-169863">
              <a:spcBef>
                <a:spcPts val="300"/>
              </a:spcBef>
              <a:buClr>
                <a:schemeClr val="tx2"/>
              </a:buClr>
              <a:buFont typeface="Arial"/>
              <a:buChar char="•"/>
              <a:defRPr sz="1100">
                <a:solidFill>
                  <a:schemeClr val="bg2"/>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216370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3991509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2837389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8"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4267293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graphic area on lef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2743200" y="1320799"/>
            <a:ext cx="6096000" cy="4730752"/>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Picture Placeholder 2"/>
          <p:cNvSpPr>
            <a:spLocks noGrp="1"/>
          </p:cNvSpPr>
          <p:nvPr>
            <p:ph type="pic" idx="11"/>
          </p:nvPr>
        </p:nvSpPr>
        <p:spPr>
          <a:xfrm>
            <a:off x="381000" y="1320800"/>
            <a:ext cx="2133600" cy="4730752"/>
          </a:xfrm>
          <a:prstGeom prst="rect">
            <a:avLst/>
          </a:prstGeom>
        </p:spPr>
        <p:txBody>
          <a:bodyPr/>
          <a:lstStyle>
            <a:lvl1pPr marL="0" indent="0">
              <a:buNone/>
              <a:defRPr sz="1800">
                <a:solidFill>
                  <a:schemeClr val="bg2"/>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6"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350130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and Content with graphic area at lef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2743200" y="1727199"/>
            <a:ext cx="6096000" cy="4324352"/>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Picture Placeholder 2"/>
          <p:cNvSpPr>
            <a:spLocks noGrp="1"/>
          </p:cNvSpPr>
          <p:nvPr>
            <p:ph type="pic" idx="11"/>
          </p:nvPr>
        </p:nvSpPr>
        <p:spPr>
          <a:xfrm>
            <a:off x="381000" y="1727200"/>
            <a:ext cx="2133600" cy="4324352"/>
          </a:xfrm>
          <a:prstGeom prst="rect">
            <a:avLst/>
          </a:prstGeom>
        </p:spPr>
        <p:txBody>
          <a:bodyPr/>
          <a:lstStyle>
            <a:lvl1pPr marL="0" indent="0">
              <a:buNone/>
              <a:defRPr sz="1800">
                <a:solidFill>
                  <a:schemeClr val="bg2"/>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6"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8"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404751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1320799"/>
            <a:ext cx="4038600" cy="4730751"/>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4"/>
          <p:cNvSpPr>
            <a:spLocks noGrp="1"/>
          </p:cNvSpPr>
          <p:nvPr>
            <p:ph sz="quarter" idx="11"/>
          </p:nvPr>
        </p:nvSpPr>
        <p:spPr>
          <a:xfrm>
            <a:off x="4800600" y="1320799"/>
            <a:ext cx="4038600" cy="4730751"/>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348629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374338" y="1349022"/>
            <a:ext cx="4038600" cy="4702529"/>
          </a:xfrm>
          <a:prstGeom prst="rect">
            <a:avLst/>
          </a:prstGeom>
        </p:spPr>
        <p:txBody>
          <a:bodyPr vert="horz" lIns="0" tIns="0" rIns="0" bIns="0"/>
          <a:lstStyle>
            <a:lvl1pPr marL="0" indent="0">
              <a:spcBef>
                <a:spcPts val="1200"/>
              </a:spcBef>
              <a:buClr>
                <a:schemeClr val="tx2"/>
              </a:buClr>
              <a:buNone/>
              <a:defRPr sz="2000">
                <a:solidFill>
                  <a:schemeClr val="tx2"/>
                </a:solidFill>
                <a:latin typeface="+mn-lt"/>
              </a:defRPr>
            </a:lvl1pPr>
            <a:lvl2pPr marL="169863" indent="-169863">
              <a:spcBef>
                <a:spcPts val="1200"/>
              </a:spcBef>
              <a:buClr>
                <a:schemeClr val="tx2"/>
              </a:buClr>
              <a:buFont typeface="Arial"/>
              <a:buChar char="•"/>
              <a:defRPr sz="1800">
                <a:solidFill>
                  <a:srgbClr val="717074"/>
                </a:solidFill>
                <a:latin typeface="+mn-lt"/>
              </a:defRPr>
            </a:lvl2pPr>
            <a:lvl3pPr marL="515938" indent="-168275">
              <a:spcBef>
                <a:spcPts val="300"/>
              </a:spcBef>
              <a:buClr>
                <a:schemeClr val="tx2"/>
              </a:buClr>
              <a:buFont typeface="Lucida Grande"/>
              <a:buChar char="­"/>
              <a:defRPr sz="1400">
                <a:solidFill>
                  <a:srgbClr val="717074"/>
                </a:solidFill>
                <a:latin typeface="+mn-lt"/>
              </a:defRPr>
            </a:lvl3pPr>
            <a:lvl4pPr marL="855663" indent="-169863">
              <a:spcBef>
                <a:spcPts val="300"/>
              </a:spcBef>
              <a:buClr>
                <a:schemeClr val="tx2"/>
              </a:buClr>
              <a:buFont typeface="Arial"/>
              <a:buChar char="•"/>
              <a:defRPr sz="1100">
                <a:solidFill>
                  <a:srgbClr val="717074"/>
                </a:solidFill>
                <a:latin typeface="+mn-lt"/>
              </a:defRPr>
            </a:lvl4pPr>
            <a:lvl5pPr marL="1201738" indent="-168275">
              <a:spcBef>
                <a:spcPts val="300"/>
              </a:spcBef>
              <a:buClr>
                <a:schemeClr val="tx2"/>
              </a:buClr>
              <a:buFont typeface="Arial"/>
              <a:buChar char="–"/>
              <a:defRPr sz="1050">
                <a:solidFill>
                  <a:srgbClr val="71707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4"/>
          <p:cNvSpPr>
            <a:spLocks noGrp="1"/>
          </p:cNvSpPr>
          <p:nvPr>
            <p:ph sz="quarter" idx="11" hasCustomPrompt="1"/>
          </p:nvPr>
        </p:nvSpPr>
        <p:spPr>
          <a:xfrm>
            <a:off x="4809067" y="1349022"/>
            <a:ext cx="4038600" cy="4702529"/>
          </a:xfrm>
          <a:prstGeom prst="rect">
            <a:avLst/>
          </a:prstGeom>
        </p:spPr>
        <p:txBody>
          <a:bodyPr vert="horz" lIns="0" tIns="0" rIns="0" bIns="0"/>
          <a:lstStyle>
            <a:lvl1pPr marL="0" indent="0">
              <a:spcBef>
                <a:spcPts val="1200"/>
              </a:spcBef>
              <a:buClr>
                <a:schemeClr val="tx2"/>
              </a:buClr>
              <a:buNone/>
              <a:defRPr sz="2000">
                <a:solidFill>
                  <a:schemeClr val="tx2"/>
                </a:solidFill>
                <a:latin typeface="+mn-lt"/>
              </a:defRPr>
            </a:lvl1pPr>
            <a:lvl2pPr marL="169863" indent="-169863">
              <a:spcBef>
                <a:spcPts val="1200"/>
              </a:spcBef>
              <a:buClr>
                <a:schemeClr val="tx2"/>
              </a:buClr>
              <a:buFont typeface="Arial"/>
              <a:buChar char="•"/>
              <a:defRPr sz="1800">
                <a:solidFill>
                  <a:srgbClr val="717074"/>
                </a:solidFill>
                <a:latin typeface="+mn-lt"/>
              </a:defRPr>
            </a:lvl2pPr>
            <a:lvl3pPr marL="515938" indent="-168275">
              <a:spcBef>
                <a:spcPts val="300"/>
              </a:spcBef>
              <a:buClr>
                <a:schemeClr val="tx2"/>
              </a:buClr>
              <a:buFont typeface="Lucida Grande"/>
              <a:buChar char="­"/>
              <a:defRPr sz="1400">
                <a:solidFill>
                  <a:srgbClr val="717074"/>
                </a:solidFill>
                <a:latin typeface="+mn-lt"/>
              </a:defRPr>
            </a:lvl3pPr>
            <a:lvl4pPr marL="855663" indent="-169863">
              <a:spcBef>
                <a:spcPts val="300"/>
              </a:spcBef>
              <a:buClr>
                <a:schemeClr val="tx2"/>
              </a:buClr>
              <a:buFont typeface="Arial"/>
              <a:buChar char="•"/>
              <a:defRPr sz="1100">
                <a:solidFill>
                  <a:srgbClr val="717074"/>
                </a:solidFill>
                <a:latin typeface="+mn-lt"/>
              </a:defRPr>
            </a:lvl4pPr>
            <a:lvl5pPr marL="1201738" indent="-168275">
              <a:spcBef>
                <a:spcPts val="300"/>
              </a:spcBef>
              <a:buClr>
                <a:schemeClr val="tx2"/>
              </a:buClr>
              <a:buFont typeface="Arial"/>
              <a:buChar char="–"/>
              <a:defRPr sz="1050">
                <a:solidFill>
                  <a:srgbClr val="71707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391988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column lef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1320799"/>
            <a:ext cx="4038600" cy="4730751"/>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227431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right">
    <p:spTree>
      <p:nvGrpSpPr>
        <p:cNvPr id="1" name=""/>
        <p:cNvGrpSpPr/>
        <p:nvPr/>
      </p:nvGrpSpPr>
      <p:grpSpPr>
        <a:xfrm>
          <a:off x="0" y="0"/>
          <a:ext cx="0" cy="0"/>
          <a:chOff x="0" y="0"/>
          <a:chExt cx="0" cy="0"/>
        </a:xfrm>
      </p:grpSpPr>
      <p:sp>
        <p:nvSpPr>
          <p:cNvPr id="4" name="Content Placeholder 4"/>
          <p:cNvSpPr>
            <a:spLocks noGrp="1"/>
          </p:cNvSpPr>
          <p:nvPr>
            <p:ph sz="quarter" idx="11"/>
          </p:nvPr>
        </p:nvSpPr>
        <p:spPr>
          <a:xfrm>
            <a:off x="4800600" y="1320799"/>
            <a:ext cx="4038600" cy="4730751"/>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Tree>
    <p:extLst>
      <p:ext uri="{BB962C8B-B14F-4D97-AF65-F5344CB8AC3E}">
        <p14:creationId xmlns:p14="http://schemas.microsoft.com/office/powerpoint/2010/main" val="2417588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ederation co-branded">
    <p:spTree>
      <p:nvGrpSpPr>
        <p:cNvPr id="1" name=""/>
        <p:cNvGrpSpPr/>
        <p:nvPr/>
      </p:nvGrpSpPr>
      <p:grpSpPr>
        <a:xfrm>
          <a:off x="0" y="0"/>
          <a:ext cx="0" cy="0"/>
          <a:chOff x="0" y="0"/>
          <a:chExt cx="0" cy="0"/>
        </a:xfrm>
      </p:grpSpPr>
      <p:sp>
        <p:nvSpPr>
          <p:cNvPr id="18"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20"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6" name="Picture 5" descr="Federation Logo Lineup Jan2016.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79414" y="6213919"/>
            <a:ext cx="3524741" cy="386463"/>
          </a:xfrm>
          <a:prstGeom prst="rect">
            <a:avLst/>
          </a:prstGeom>
        </p:spPr>
      </p:pic>
    </p:spTree>
    <p:extLst>
      <p:ext uri="{BB962C8B-B14F-4D97-AF65-F5344CB8AC3E}">
        <p14:creationId xmlns:p14="http://schemas.microsoft.com/office/powerpoint/2010/main" val="369914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votal co-branded">
    <p:spTree>
      <p:nvGrpSpPr>
        <p:cNvPr id="1" name=""/>
        <p:cNvGrpSpPr/>
        <p:nvPr/>
      </p:nvGrpSpPr>
      <p:grpSpPr>
        <a:xfrm>
          <a:off x="0" y="0"/>
          <a:ext cx="0" cy="0"/>
          <a:chOff x="0" y="0"/>
          <a:chExt cx="0" cy="0"/>
        </a:xfrm>
      </p:grpSpPr>
      <p:sp>
        <p:nvSpPr>
          <p:cNvPr id="18"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20"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1" name="Picture 20" descr="Pivotal green.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79413" y="6172201"/>
            <a:ext cx="787466" cy="240704"/>
          </a:xfrm>
          <a:prstGeom prst="rect">
            <a:avLst/>
          </a:prstGeom>
        </p:spPr>
      </p:pic>
    </p:spTree>
    <p:extLst>
      <p:ext uri="{BB962C8B-B14F-4D97-AF65-F5344CB8AC3E}">
        <p14:creationId xmlns:p14="http://schemas.microsoft.com/office/powerpoint/2010/main" val="27258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SA co-branded">
    <p:spTree>
      <p:nvGrpSpPr>
        <p:cNvPr id="1" name=""/>
        <p:cNvGrpSpPr/>
        <p:nvPr/>
      </p:nvGrpSpPr>
      <p:grpSpPr>
        <a:xfrm>
          <a:off x="0" y="0"/>
          <a:ext cx="0" cy="0"/>
          <a:chOff x="0" y="0"/>
          <a:chExt cx="0" cy="0"/>
        </a:xfrm>
      </p:grpSpPr>
      <p:sp>
        <p:nvSpPr>
          <p:cNvPr id="19"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21"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6" name="Picture 5" descr="RSA_NewLogo_Red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2114" y="6166697"/>
            <a:ext cx="521257" cy="243840"/>
          </a:xfrm>
          <a:prstGeom prst="rect">
            <a:avLst/>
          </a:prstGeom>
        </p:spPr>
      </p:pic>
    </p:spTree>
    <p:extLst>
      <p:ext uri="{BB962C8B-B14F-4D97-AF65-F5344CB8AC3E}">
        <p14:creationId xmlns:p14="http://schemas.microsoft.com/office/powerpoint/2010/main" val="66436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CE co-branded">
    <p:spTree>
      <p:nvGrpSpPr>
        <p:cNvPr id="1" name=""/>
        <p:cNvGrpSpPr/>
        <p:nvPr/>
      </p:nvGrpSpPr>
      <p:grpSpPr>
        <a:xfrm>
          <a:off x="0" y="0"/>
          <a:ext cx="0" cy="0"/>
          <a:chOff x="0" y="0"/>
          <a:chExt cx="0" cy="0"/>
        </a:xfrm>
      </p:grpSpPr>
      <p:sp>
        <p:nvSpPr>
          <p:cNvPr id="19"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21"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7" name="Picture 6" descr="VCE_CP_BLACK_LOCKUP-v5.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22264" y="6206799"/>
            <a:ext cx="1170289" cy="390096"/>
          </a:xfrm>
          <a:prstGeom prst="rect">
            <a:avLst/>
          </a:prstGeom>
        </p:spPr>
      </p:pic>
    </p:spTree>
    <p:extLst>
      <p:ext uri="{BB962C8B-B14F-4D97-AF65-F5344CB8AC3E}">
        <p14:creationId xmlns:p14="http://schemas.microsoft.com/office/powerpoint/2010/main" val="355000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rtustream co-branded">
    <p:spTree>
      <p:nvGrpSpPr>
        <p:cNvPr id="1" name=""/>
        <p:cNvGrpSpPr/>
        <p:nvPr/>
      </p:nvGrpSpPr>
      <p:grpSpPr>
        <a:xfrm>
          <a:off x="0" y="0"/>
          <a:ext cx="0" cy="0"/>
          <a:chOff x="0" y="0"/>
          <a:chExt cx="0" cy="0"/>
        </a:xfrm>
      </p:grpSpPr>
      <p:sp>
        <p:nvSpPr>
          <p:cNvPr id="16"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18"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3" name="Picture 2" descr="Virtustream no tag.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78615" y="6142568"/>
            <a:ext cx="1041373" cy="304425"/>
          </a:xfrm>
          <a:prstGeom prst="rect">
            <a:avLst/>
          </a:prstGeom>
        </p:spPr>
      </p:pic>
    </p:spTree>
    <p:extLst>
      <p:ext uri="{BB962C8B-B14F-4D97-AF65-F5344CB8AC3E}">
        <p14:creationId xmlns:p14="http://schemas.microsoft.com/office/powerpoint/2010/main" val="1832334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Mware co-branded">
    <p:spTree>
      <p:nvGrpSpPr>
        <p:cNvPr id="1" name=""/>
        <p:cNvGrpSpPr/>
        <p:nvPr/>
      </p:nvGrpSpPr>
      <p:grpSpPr>
        <a:xfrm>
          <a:off x="0" y="0"/>
          <a:ext cx="0" cy="0"/>
          <a:chOff x="0" y="0"/>
          <a:chExt cx="0" cy="0"/>
        </a:xfrm>
      </p:grpSpPr>
      <p:pic>
        <p:nvPicPr>
          <p:cNvPr id="2" name="Picture 1" descr="VMware logo Gray.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6714" y="6172199"/>
            <a:ext cx="1045441" cy="211957"/>
          </a:xfrm>
          <a:prstGeom prst="rect">
            <a:avLst/>
          </a:prstGeom>
        </p:spPr>
      </p:pic>
      <p:sp>
        <p:nvSpPr>
          <p:cNvPr id="16" name="Content Placeholder 4"/>
          <p:cNvSpPr>
            <a:spLocks noGrp="1"/>
          </p:cNvSpPr>
          <p:nvPr>
            <p:ph sz="quarter" idx="10"/>
          </p:nvPr>
        </p:nvSpPr>
        <p:spPr>
          <a:xfrm>
            <a:off x="379413" y="1727199"/>
            <a:ext cx="8458200" cy="4313767"/>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itle 1"/>
          <p:cNvSpPr>
            <a:spLocks noGrp="1"/>
          </p:cNvSpPr>
          <p:nvPr>
            <p:ph type="ctrTitle" hasCustomPrompt="1"/>
          </p:nvPr>
        </p:nvSpPr>
        <p:spPr>
          <a:xfrm>
            <a:off x="379413" y="304801"/>
            <a:ext cx="8458200" cy="571500"/>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smtClean="0"/>
              <a:t>CLICK TO EDIT MASTER TITLE STYLE</a:t>
            </a:r>
            <a:endParaRPr lang="en-US" dirty="0"/>
          </a:p>
        </p:txBody>
      </p:sp>
      <p:sp>
        <p:nvSpPr>
          <p:cNvPr id="18" name="Subtitle 2"/>
          <p:cNvSpPr>
            <a:spLocks noGrp="1"/>
          </p:cNvSpPr>
          <p:nvPr>
            <p:ph type="subTitle" idx="1" hasCustomPrompt="1"/>
          </p:nvPr>
        </p:nvSpPr>
        <p:spPr>
          <a:xfrm>
            <a:off x="379414" y="876301"/>
            <a:ext cx="8449733" cy="403223"/>
          </a:xfrm>
          <a:prstGeom prst="rect">
            <a:avLst/>
          </a:prstGeom>
        </p:spPr>
        <p:txBody>
          <a:bodyPr lIns="0" tIns="0" rIns="0" bIns="0"/>
          <a:lstStyle>
            <a:lvl1pPr marL="0" indent="0" algn="l">
              <a:lnSpc>
                <a:spcPct val="100000"/>
              </a:lnSpc>
              <a:buNone/>
              <a:defRPr sz="1600" cap="all" baseline="0">
                <a:solidFill>
                  <a:schemeClr val="bg2"/>
                </a:solidFill>
                <a:latin typeface="+mj-lt"/>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01684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02998" y="2209801"/>
            <a:ext cx="4899905" cy="2108627"/>
          </a:xfrm>
          <a:prstGeom prst="rect">
            <a:avLst/>
          </a:prstGeom>
        </p:spPr>
      </p:pic>
    </p:spTree>
    <p:extLst>
      <p:ext uri="{BB962C8B-B14F-4D97-AF65-F5344CB8AC3E}">
        <p14:creationId xmlns:p14="http://schemas.microsoft.com/office/powerpoint/2010/main" val="361025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theme" Target="../theme/theme2.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image" Target="../media/image7.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6" name="Rectangle 5"/>
          <p:cNvSpPr/>
          <p:nvPr/>
        </p:nvSpPr>
        <p:spPr bwMode="gray">
          <a:xfrm>
            <a:off x="0" y="6172200"/>
            <a:ext cx="9144000" cy="5143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latin typeface="Verdana" pitchFamily="34" charset="0"/>
            </a:endParaRPr>
          </a:p>
        </p:txBody>
      </p:sp>
      <p:pic>
        <p:nvPicPr>
          <p:cNvPr id="9" name="Picture 8" descr="EMC logo white-lg.png"/>
          <p:cNvPicPr>
            <a:picLocks noChangeAspect="1"/>
          </p:cNvPicPr>
          <p:nvPr/>
        </p:nvPicPr>
        <p:blipFill>
          <a:blip r:embed="rId28" cstate="screen"/>
          <a:srcRect/>
          <a:stretch>
            <a:fillRect/>
          </a:stretch>
        </p:blipFill>
        <p:spPr bwMode="gray">
          <a:xfrm>
            <a:off x="7848600" y="6280319"/>
            <a:ext cx="928688" cy="292447"/>
          </a:xfrm>
          <a:prstGeom prst="rect">
            <a:avLst/>
          </a:prstGeom>
        </p:spPr>
      </p:pic>
      <p:sp>
        <p:nvSpPr>
          <p:cNvPr id="7" name="TextBox 6"/>
          <p:cNvSpPr txBox="1"/>
          <p:nvPr/>
        </p:nvSpPr>
        <p:spPr bwMode="gray">
          <a:xfrm flipH="1">
            <a:off x="8553450" y="6721346"/>
            <a:ext cx="533400" cy="92333"/>
          </a:xfrm>
          <a:prstGeom prst="rect">
            <a:avLst/>
          </a:prstGeom>
          <a:noFill/>
        </p:spPr>
        <p:txBody>
          <a:bodyPr wrap="square" lIns="0" tIns="0" rIns="0" bIns="0"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61F684CE-B7BB-4223-BA2B-B47808B845F1}" type="slidenum">
              <a:rPr lang="en-US" sz="600" smtClean="0">
                <a:solidFill>
                  <a:schemeClr val="bg2"/>
                </a:solidFill>
                <a:latin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600" dirty="0" smtClean="0">
              <a:solidFill>
                <a:schemeClr val="bg2"/>
              </a:solidFill>
              <a:latin typeface="+mn-lt"/>
            </a:endParaRPr>
          </a:p>
        </p:txBody>
      </p:sp>
      <p:sp>
        <p:nvSpPr>
          <p:cNvPr id="8" name="TextBox 7"/>
          <p:cNvSpPr txBox="1"/>
          <p:nvPr/>
        </p:nvSpPr>
        <p:spPr bwMode="gray">
          <a:xfrm>
            <a:off x="366714" y="6721346"/>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 Copyright 2016 EMC Corporation. All rights reserved.</a:t>
            </a:r>
          </a:p>
        </p:txBody>
      </p:sp>
    </p:spTree>
  </p:cSld>
  <p:clrMap bg1="lt1" tx1="dk1" bg2="lt2" tx2="dk2" accent1="accent1" accent2="accent2" accent3="accent3" accent4="accent4" accent5="accent5" accent6="accent6" hlink="hlink" folHlink="folHlink"/>
  <p:sldLayoutIdLst>
    <p:sldLayoutId id="2147483701" r:id="rId1"/>
    <p:sldLayoutId id="2147483672" r:id="rId2"/>
    <p:sldLayoutId id="2147483673" r:id="rId3"/>
    <p:sldLayoutId id="2147483694" r:id="rId4"/>
    <p:sldLayoutId id="2147483696" r:id="rId5"/>
    <p:sldLayoutId id="2147483697"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93" r:id="rId15"/>
    <p:sldLayoutId id="2147483692" r:id="rId16"/>
    <p:sldLayoutId id="2147483682" r:id="rId17"/>
    <p:sldLayoutId id="2147483700" r:id="rId18"/>
    <p:sldLayoutId id="2147483684" r:id="rId19"/>
    <p:sldLayoutId id="2147483686" r:id="rId20"/>
    <p:sldLayoutId id="2147483689" r:id="rId21"/>
    <p:sldLayoutId id="2147483690" r:id="rId22"/>
    <p:sldLayoutId id="2147483688" r:id="rId23"/>
    <p:sldLayoutId id="2147483695" r:id="rId24"/>
    <p:sldLayoutId id="2147483691" r:id="rId25"/>
    <p:sldLayoutId id="2147483687" r:id="rId26"/>
  </p:sldLayoutIdLst>
  <p:transition>
    <p:fade/>
  </p:transition>
  <p:timing>
    <p:tnLst>
      <p:par>
        <p:cTn id="1" dur="indefinite" restart="never" nodeType="tmRoot"/>
      </p:par>
    </p:tnLst>
  </p:timing>
  <p:txStyles>
    <p:titleStyle>
      <a:lvl1pPr algn="l" defTabSz="914400" rtl="0" eaLnBrk="1" latinLnBrk="0" hangingPunct="1">
        <a:spcBef>
          <a:spcPct val="0"/>
        </a:spcBef>
        <a:buNone/>
        <a:defRPr sz="3200" kern="1200">
          <a:solidFill>
            <a:srgbClr val="2C95DD"/>
          </a:solidFill>
          <a:latin typeface="MetaNormalLF-Roman" pitchFamily="34" charset="0"/>
          <a:ea typeface="+mj-ea"/>
          <a:cs typeface="+mj-cs"/>
        </a:defRPr>
      </a:lvl1pPr>
    </p:titleStyle>
    <p:bodyStyle>
      <a:lvl1pPr marL="228600" indent="-228600" algn="l" defTabSz="914400" rtl="0" eaLnBrk="1" latinLnBrk="0" hangingPunct="1">
        <a:spcBef>
          <a:spcPct val="20000"/>
        </a:spcBef>
        <a:buClr>
          <a:srgbClr val="2C95DD"/>
        </a:buClr>
        <a:buFont typeface="Arial" pitchFamily="34" charset="0"/>
        <a:buChar char="•"/>
        <a:defRPr sz="2800" kern="1200">
          <a:solidFill>
            <a:schemeClr val="tx1"/>
          </a:solidFill>
          <a:latin typeface="MetaNormalLF-Roman" pitchFamily="34" charset="0"/>
          <a:ea typeface="+mn-ea"/>
          <a:cs typeface="+mn-cs"/>
        </a:defRPr>
      </a:lvl1pPr>
      <a:lvl2pPr marL="742950" indent="-285750" algn="l" defTabSz="914400" rtl="0" eaLnBrk="1" latinLnBrk="0" hangingPunct="1">
        <a:spcBef>
          <a:spcPct val="20000"/>
        </a:spcBef>
        <a:buClr>
          <a:srgbClr val="2C95DD"/>
        </a:buClr>
        <a:buFont typeface="Arial" pitchFamily="34" charset="0"/>
        <a:buChar char="–"/>
        <a:defRPr sz="2400" kern="1200">
          <a:solidFill>
            <a:schemeClr val="tx1"/>
          </a:solidFill>
          <a:latin typeface="MetaNormalLF-Roman" pitchFamily="34" charset="0"/>
          <a:ea typeface="+mn-ea"/>
          <a:cs typeface="+mn-cs"/>
        </a:defRPr>
      </a:lvl2pPr>
      <a:lvl3pPr marL="1143000" indent="-228600" algn="l" defTabSz="914400" rtl="0" eaLnBrk="1" latinLnBrk="0" hangingPunct="1">
        <a:spcBef>
          <a:spcPct val="20000"/>
        </a:spcBef>
        <a:buClr>
          <a:srgbClr val="2C95DD"/>
        </a:buClr>
        <a:buFont typeface="Arial" pitchFamily="34" charset="0"/>
        <a:buChar char="•"/>
        <a:defRPr sz="2000" kern="1200">
          <a:solidFill>
            <a:schemeClr val="tx1"/>
          </a:solidFill>
          <a:latin typeface="MetaNormalLF-Roman" pitchFamily="34" charset="0"/>
          <a:ea typeface="+mn-ea"/>
          <a:cs typeface="+mn-cs"/>
        </a:defRPr>
      </a:lvl3pPr>
      <a:lvl4pPr marL="1600200" indent="-228600" algn="l" defTabSz="914400" rtl="0" eaLnBrk="1" latinLnBrk="0" hangingPunct="1">
        <a:spcBef>
          <a:spcPct val="20000"/>
        </a:spcBef>
        <a:buClr>
          <a:srgbClr val="2C95DD"/>
        </a:buClr>
        <a:buFont typeface="Arial" pitchFamily="34" charset="0"/>
        <a:buChar char="–"/>
        <a:defRPr sz="1800" kern="1200">
          <a:solidFill>
            <a:schemeClr val="tx1"/>
          </a:solidFill>
          <a:latin typeface="MetaNormalLF-Roman" pitchFamily="34" charset="0"/>
          <a:ea typeface="+mn-ea"/>
          <a:cs typeface="+mn-cs"/>
        </a:defRPr>
      </a:lvl4pPr>
      <a:lvl5pPr marL="2057400" indent="-228600" algn="l" defTabSz="914400" rtl="0" eaLnBrk="1" latinLnBrk="0" hangingPunct="1">
        <a:spcBef>
          <a:spcPct val="20000"/>
        </a:spcBef>
        <a:buClr>
          <a:srgbClr val="2C95DD"/>
        </a:buClr>
        <a:buFont typeface="Arial" pitchFamily="34" charset="0"/>
        <a:buChar char="»"/>
        <a:defRPr sz="1800" kern="1200">
          <a:solidFill>
            <a:schemeClr val="tx1"/>
          </a:solidFill>
          <a:latin typeface="MetaNormalLF-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6710722"/>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algn="r" defTabSz="457200"/>
            <a:fld id="{61F684CE-B7BB-4223-BA2B-B47808B845F1}" type="slidenum">
              <a:rPr lang="en-US" sz="600" smtClean="0">
                <a:solidFill>
                  <a:srgbClr val="717074"/>
                </a:solidFill>
              </a:rPr>
              <a:pPr algn="r" defTabSz="457200"/>
              <a:t>‹#›</a:t>
            </a:fld>
            <a:endParaRPr lang="en-US" sz="600" dirty="0" smtClean="0">
              <a:solidFill>
                <a:srgbClr val="717074"/>
              </a:solidFill>
            </a:endParaRPr>
          </a:p>
        </p:txBody>
      </p:sp>
      <p:sp>
        <p:nvSpPr>
          <p:cNvPr id="17" name="TextBox 16"/>
          <p:cNvSpPr txBox="1"/>
          <p:nvPr/>
        </p:nvSpPr>
        <p:spPr bwMode="gray">
          <a:xfrm>
            <a:off x="366714" y="6710722"/>
            <a:ext cx="2164054" cy="92333"/>
          </a:xfrm>
          <a:prstGeom prst="rect">
            <a:avLst/>
          </a:prstGeom>
          <a:noFill/>
        </p:spPr>
        <p:txBody>
          <a:bodyPr wrap="none" lIns="0" tIns="0" rIns="0" bIns="0" rtlCol="0">
            <a:spAutoFit/>
          </a:bodyPr>
          <a:lstStyle/>
          <a:p>
            <a:pPr>
              <a:defRPr/>
            </a:pPr>
            <a:r>
              <a:rPr lang="en-US" sz="600" dirty="0" smtClean="0">
                <a:solidFill>
                  <a:srgbClr val="717074"/>
                </a:solidFill>
              </a:rPr>
              <a:t>© Copyright 2016 EMC Corporation. All rights reserved.</a:t>
            </a:r>
          </a:p>
        </p:txBody>
      </p:sp>
      <p:pic>
        <p:nvPicPr>
          <p:cNvPr id="2" name="Picture 1" descr="EMC-Tab-RGB.jpg"/>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7837869" y="6147138"/>
            <a:ext cx="621792" cy="710863"/>
          </a:xfrm>
          <a:prstGeom prst="rect">
            <a:avLst/>
          </a:prstGeom>
        </p:spPr>
      </p:pic>
    </p:spTree>
    <p:extLst>
      <p:ext uri="{BB962C8B-B14F-4D97-AF65-F5344CB8AC3E}">
        <p14:creationId xmlns:p14="http://schemas.microsoft.com/office/powerpoint/2010/main" val="323126701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20.jpeg"/><Relationship Id="rId10" Type="http://schemas.microsoft.com/office/2007/relationships/hdphoto" Target="../media/hdphoto3.wdp"/><Relationship Id="rId4" Type="http://schemas.openxmlformats.org/officeDocument/2006/relationships/image" Target="../media/image19.gif"/><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13" Type="http://schemas.microsoft.com/office/2007/relationships/hdphoto" Target="../media/hdphoto4.wdp"/><Relationship Id="rId3" Type="http://schemas.openxmlformats.org/officeDocument/2006/relationships/image" Target="../media/image26.png"/><Relationship Id="rId7" Type="http://schemas.openxmlformats.org/officeDocument/2006/relationships/image" Target="../media/image30.jpeg"/><Relationship Id="rId12" Type="http://schemas.openxmlformats.org/officeDocument/2006/relationships/image" Target="../media/image35.png"/><Relationship Id="rId2" Type="http://schemas.openxmlformats.org/officeDocument/2006/relationships/image" Target="../media/image25.png"/><Relationship Id="rId1" Type="http://schemas.openxmlformats.org/officeDocument/2006/relationships/slideLayout" Target="../slideLayouts/slideLayout8.xml"/><Relationship Id="rId6" Type="http://schemas.openxmlformats.org/officeDocument/2006/relationships/image" Target="../media/image29.png"/><Relationship Id="rId11" Type="http://schemas.openxmlformats.org/officeDocument/2006/relationships/image" Target="../media/image34.jpeg"/><Relationship Id="rId5" Type="http://schemas.openxmlformats.org/officeDocument/2006/relationships/image" Target="../media/image28.jpeg"/><Relationship Id="rId15" Type="http://schemas.microsoft.com/office/2007/relationships/hdphoto" Target="../media/hdphoto5.wdp"/><Relationship Id="rId10" Type="http://schemas.openxmlformats.org/officeDocument/2006/relationships/image" Target="../media/image33.jpeg"/><Relationship Id="rId4" Type="http://schemas.openxmlformats.org/officeDocument/2006/relationships/image" Target="../media/image27.jpeg"/><Relationship Id="rId9" Type="http://schemas.openxmlformats.org/officeDocument/2006/relationships/image" Target="../media/image32.jpeg"/><Relationship Id="rId1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8.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_rels/slide15.xml.rels><?xml version="1.0" encoding="UTF-8" standalone="yes"?>
<Relationships xmlns="http://schemas.openxmlformats.org/package/2006/relationships"><Relationship Id="rId2" Type="http://schemas.openxmlformats.org/officeDocument/2006/relationships/image" Target="../media/image54.gi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image" Target="../media/image63.jpe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62.gif"/><Relationship Id="rId5" Type="http://schemas.openxmlformats.org/officeDocument/2006/relationships/image" Target="../media/image61.jpeg"/><Relationship Id="rId4" Type="http://schemas.openxmlformats.org/officeDocument/2006/relationships/image" Target="../media/image60.jpeg"/></Relationships>
</file>

<file path=ppt/slides/_rels/slide2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9.xml"/><Relationship Id="rId5" Type="http://schemas.openxmlformats.org/officeDocument/2006/relationships/image" Target="../media/image68.png"/><Relationship Id="rId4" Type="http://schemas.openxmlformats.org/officeDocument/2006/relationships/image" Target="../media/image67.jpeg"/></Relationships>
</file>

<file path=ppt/slides/_rels/slide2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5.jpeg"/><Relationship Id="rId1" Type="http://schemas.openxmlformats.org/officeDocument/2006/relationships/slideLayout" Target="../slideLayouts/slideLayout9.xml"/><Relationship Id="rId5" Type="http://schemas.openxmlformats.org/officeDocument/2006/relationships/image" Target="../media/image68.png"/><Relationship Id="rId4" Type="http://schemas.openxmlformats.org/officeDocument/2006/relationships/image" Target="../media/image67.jpeg"/></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9.xml"/><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emf"/><Relationship Id="rId1" Type="http://schemas.openxmlformats.org/officeDocument/2006/relationships/slideLayout" Target="../slideLayouts/slideLayout9.xml"/><Relationship Id="rId4" Type="http://schemas.microsoft.com/office/2007/relationships/hdphoto" Target="../media/hdphoto7.wdp"/></Relationships>
</file>

<file path=ppt/slides/_rels/slide25.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9.xml"/><Relationship Id="rId5" Type="http://schemas.openxmlformats.org/officeDocument/2006/relationships/image" Target="../media/image78.png"/><Relationship Id="rId4"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slideLayout" Target="../slideLayouts/slideLayout9.xml"/><Relationship Id="rId5" Type="http://schemas.openxmlformats.org/officeDocument/2006/relationships/image" Target="../media/image82.jpeg"/><Relationship Id="rId4" Type="http://schemas.openxmlformats.org/officeDocument/2006/relationships/image" Target="../media/image81.jpeg"/></Relationships>
</file>

<file path=ppt/slides/_rels/slide27.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87.jpeg"/><Relationship Id="rId2" Type="http://schemas.openxmlformats.org/officeDocument/2006/relationships/image" Target="../media/image36.png"/><Relationship Id="rId1" Type="http://schemas.openxmlformats.org/officeDocument/2006/relationships/slideLayout" Target="../slideLayouts/slideLayout9.xml"/><Relationship Id="rId6" Type="http://schemas.microsoft.com/office/2007/relationships/hdphoto" Target="../media/hdphoto8.wdp"/><Relationship Id="rId5" Type="http://schemas.openxmlformats.org/officeDocument/2006/relationships/image" Target="../media/image86.png"/><Relationship Id="rId4" Type="http://schemas.openxmlformats.org/officeDocument/2006/relationships/image" Target="../media/image85.png"/></Relationships>
</file>

<file path=ppt/slides/_rels/slide3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88.png"/><Relationship Id="rId1" Type="http://schemas.openxmlformats.org/officeDocument/2006/relationships/slideLayout" Target="../slideLayouts/slideLayout9.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jpeg"/></Relationships>
</file>

<file path=ppt/slides/_rels/slide31.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wmf"/><Relationship Id="rId1" Type="http://schemas.openxmlformats.org/officeDocument/2006/relationships/slideLayout" Target="../slideLayouts/slideLayout9.xml"/><Relationship Id="rId4" Type="http://schemas.openxmlformats.org/officeDocument/2006/relationships/image" Target="../media/image94.png"/></Relationships>
</file>

<file path=ppt/slides/_rels/slide3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wmf"/><Relationship Id="rId1" Type="http://schemas.openxmlformats.org/officeDocument/2006/relationships/slideLayout" Target="../slideLayouts/slideLayout9.xml"/><Relationship Id="rId4" Type="http://schemas.openxmlformats.org/officeDocument/2006/relationships/image" Target="../media/image98.jpeg"/></Relationships>
</file>

<file path=ppt/slides/_rels/slide34.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hyperlink" Target="http://www.itc.cnr.it/corsi/pavimenti/immagini/pavimento%20pdf/requisiti.pdf"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http://blogs.vmware.com/consulting/files/2015/01/GKarakas-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0" cy="482199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prstGeom prst="rect">
            <a:avLst/>
          </a:prstGeom>
        </p:spPr>
        <p:txBody>
          <a:bodyPr/>
          <a:lstStyle/>
          <a:p>
            <a:r>
              <a:rPr lang="en-US" dirty="0" smtClean="0"/>
              <a:t>Data center efficiency</a:t>
            </a:r>
            <a:endParaRPr lang="en-US" dirty="0"/>
          </a:p>
        </p:txBody>
      </p:sp>
      <p:sp>
        <p:nvSpPr>
          <p:cNvPr id="3" name="Subtitle 2"/>
          <p:cNvSpPr>
            <a:spLocks noGrp="1"/>
          </p:cNvSpPr>
          <p:nvPr>
            <p:ph type="subTitle" idx="1"/>
          </p:nvPr>
        </p:nvSpPr>
        <p:spPr>
          <a:prstGeom prst="rect">
            <a:avLst/>
          </a:prstGeom>
        </p:spPr>
        <p:txBody>
          <a:bodyPr/>
          <a:lstStyle/>
          <a:p>
            <a:r>
              <a:rPr lang="en-US" b="1" dirty="0" smtClean="0"/>
              <a:t>Ngosa </a:t>
            </a:r>
            <a:r>
              <a:rPr lang="en-US" b="1" dirty="0" err="1" smtClean="0"/>
              <a:t>gathams</a:t>
            </a:r>
            <a:r>
              <a:rPr lang="en-US" b="1" dirty="0" smtClean="0"/>
              <a:t> </a:t>
            </a:r>
            <a:r>
              <a:rPr lang="en-US" b="1" dirty="0" err="1" smtClean="0"/>
              <a:t>eng.</a:t>
            </a:r>
            <a:endParaRPr lang="en-US" b="1" dirty="0"/>
          </a:p>
        </p:txBody>
      </p:sp>
      <p:sp>
        <p:nvSpPr>
          <p:cNvPr id="8" name="Rectangle 7"/>
          <p:cNvSpPr/>
          <p:nvPr/>
        </p:nvSpPr>
        <p:spPr>
          <a:xfrm>
            <a:off x="0" y="3880630"/>
            <a:ext cx="9144000" cy="953309"/>
          </a:xfrm>
          <a:prstGeom prst="rect">
            <a:avLst/>
          </a:prstGeom>
          <a:gradFill flip="none" rotWithShape="1">
            <a:gsLst>
              <a:gs pos="5000">
                <a:schemeClr val="bg1"/>
              </a:gs>
              <a:gs pos="100000">
                <a:schemeClr val="bg1">
                  <a:alpha val="0"/>
                </a:schemeClr>
              </a:gs>
            </a:gsLst>
            <a:lin ang="16200000" scaled="0"/>
            <a:tileRect/>
          </a:gra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srgbClr val="FFFFFF"/>
              </a:solidFill>
            </a:endParaRPr>
          </a:p>
        </p:txBody>
      </p:sp>
    </p:spTree>
    <p:extLst>
      <p:ext uri="{BB962C8B-B14F-4D97-AF65-F5344CB8AC3E}">
        <p14:creationId xmlns:p14="http://schemas.microsoft.com/office/powerpoint/2010/main" val="3342176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Agenda</a:t>
            </a:r>
            <a:endParaRPr lang="en-US" dirty="0"/>
          </a:p>
        </p:txBody>
      </p:sp>
      <p:sp>
        <p:nvSpPr>
          <p:cNvPr id="3" name="Content Placeholder 2"/>
          <p:cNvSpPr>
            <a:spLocks noGrp="1"/>
          </p:cNvSpPr>
          <p:nvPr>
            <p:ph sz="quarter" idx="10"/>
          </p:nvPr>
        </p:nvSpPr>
        <p:spPr/>
        <p:txBody>
          <a:bodyPr/>
          <a:lstStyle/>
          <a:p>
            <a:r>
              <a:rPr lang="it-IT" dirty="0" smtClean="0">
                <a:latin typeface="+mn-lt"/>
              </a:rPr>
              <a:t>Data Center Overview</a:t>
            </a:r>
          </a:p>
          <a:p>
            <a:pPr lvl="1"/>
            <a:r>
              <a:rPr lang="it-IT" dirty="0" smtClean="0">
                <a:latin typeface="+mn-lt"/>
              </a:rPr>
              <a:t>What are we talking about?</a:t>
            </a:r>
          </a:p>
          <a:p>
            <a:pPr lvl="1"/>
            <a:endParaRPr lang="it-IT" dirty="0" smtClean="0">
              <a:latin typeface="+mn-lt"/>
            </a:endParaRPr>
          </a:p>
          <a:p>
            <a:r>
              <a:rPr lang="it-IT" dirty="0" smtClean="0">
                <a:latin typeface="+mn-lt"/>
              </a:rPr>
              <a:t>Data Center Classification</a:t>
            </a:r>
          </a:p>
          <a:p>
            <a:pPr lvl="1"/>
            <a:r>
              <a:rPr lang="it-IT" dirty="0" smtClean="0">
                <a:latin typeface="+mn-lt"/>
              </a:rPr>
              <a:t>What should we know?</a:t>
            </a:r>
          </a:p>
          <a:p>
            <a:pPr lvl="1"/>
            <a:endParaRPr lang="it-IT" dirty="0" smtClean="0">
              <a:latin typeface="+mn-lt"/>
            </a:endParaRPr>
          </a:p>
          <a:p>
            <a:r>
              <a:rPr lang="it-IT" dirty="0" smtClean="0">
                <a:latin typeface="+mn-lt"/>
              </a:rPr>
              <a:t>Data Center Preparation</a:t>
            </a:r>
          </a:p>
          <a:p>
            <a:pPr lvl="1"/>
            <a:r>
              <a:rPr lang="it-IT" dirty="0" smtClean="0">
                <a:latin typeface="+mn-lt"/>
              </a:rPr>
              <a:t>What should we do?</a:t>
            </a:r>
            <a:endParaRPr lang="en-US" dirty="0">
              <a:latin typeface="+mn-lt"/>
            </a:endParaRPr>
          </a:p>
        </p:txBody>
      </p:sp>
      <p:pic>
        <p:nvPicPr>
          <p:cNvPr id="7170" name="Picture 2" descr="http://smkn2013.eu/w_images/custom/topic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1495078"/>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88211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28912" y="2413569"/>
            <a:ext cx="6048376" cy="553998"/>
          </a:xfrm>
        </p:spPr>
        <p:txBody>
          <a:bodyPr/>
          <a:lstStyle/>
          <a:p>
            <a:r>
              <a:rPr lang="it-IT" sz="3600" dirty="0">
                <a:solidFill>
                  <a:srgbClr val="3892D0"/>
                </a:solidFill>
                <a:effectLst>
                  <a:reflection blurRad="6350" stA="55000" endA="300" endPos="45500" dir="5400000" sy="-100000" algn="bl" rotWithShape="0"/>
                </a:effectLst>
              </a:rPr>
              <a:t>Data </a:t>
            </a:r>
            <a:r>
              <a:rPr lang="it-IT" sz="3600" dirty="0" smtClean="0">
                <a:solidFill>
                  <a:srgbClr val="3892D0"/>
                </a:solidFill>
                <a:effectLst>
                  <a:reflection blurRad="6350" stA="55000" endA="300" endPos="45500" dir="5400000" sy="-100000" algn="bl" rotWithShape="0"/>
                </a:effectLst>
              </a:rPr>
              <a:t>Center Overview</a:t>
            </a:r>
            <a:endParaRPr lang="en-US" sz="3600" dirty="0">
              <a:solidFill>
                <a:srgbClr val="3892D0"/>
              </a:solidFill>
              <a:effectLst>
                <a:reflection blurRad="6350" stA="55000" endA="300" endPos="45500" dir="5400000" sy="-100000" algn="bl" rotWithShape="0"/>
              </a:effectLst>
            </a:endParaRPr>
          </a:p>
        </p:txBody>
      </p:sp>
      <p:sp>
        <p:nvSpPr>
          <p:cNvPr id="3" name="Subtitle 2"/>
          <p:cNvSpPr>
            <a:spLocks noGrp="1"/>
          </p:cNvSpPr>
          <p:nvPr>
            <p:ph type="subTitle" idx="1"/>
          </p:nvPr>
        </p:nvSpPr>
        <p:spPr/>
        <p:txBody>
          <a:bodyPr/>
          <a:lstStyle/>
          <a:p>
            <a:r>
              <a:rPr lang="en-US" dirty="0"/>
              <a:t>What are we talking about</a:t>
            </a:r>
            <a:r>
              <a:rPr lang="en-US" dirty="0" smtClean="0"/>
              <a:t>?</a:t>
            </a:r>
            <a:endParaRPr lang="en-US" dirty="0"/>
          </a:p>
        </p:txBody>
      </p:sp>
      <p:pic>
        <p:nvPicPr>
          <p:cNvPr id="8194" name="Picture 2" descr="http://hightech.lbl.gov/htnews/img/datacenter.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291415"/>
            <a:ext cx="2476722" cy="1826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760907"/>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41" name="Picture 17"/>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1052967" y="4601989"/>
            <a:ext cx="2292321" cy="1563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it-IT" sz="2400" i="1" dirty="0" smtClean="0">
                <a:solidFill>
                  <a:schemeClr val="bg1">
                    <a:lumMod val="75000"/>
                  </a:schemeClr>
                </a:solidFill>
              </a:rPr>
              <a:t>Data Center Overview</a:t>
            </a:r>
            <a:r>
              <a:rPr lang="it-IT" dirty="0" smtClean="0"/>
              <a:t/>
            </a:r>
            <a:br>
              <a:rPr lang="it-IT" dirty="0" smtClean="0"/>
            </a:br>
            <a:r>
              <a:rPr lang="it-IT" dirty="0" smtClean="0"/>
              <a:t>What is a Data Center?</a:t>
            </a:r>
            <a:endParaRPr lang="en-US" dirty="0"/>
          </a:p>
        </p:txBody>
      </p:sp>
      <p:sp>
        <p:nvSpPr>
          <p:cNvPr id="3" name="Content Placeholder 2"/>
          <p:cNvSpPr>
            <a:spLocks noGrp="1"/>
          </p:cNvSpPr>
          <p:nvPr>
            <p:ph sz="quarter" idx="10"/>
          </p:nvPr>
        </p:nvSpPr>
        <p:spPr>
          <a:xfrm>
            <a:off x="5364088" y="2492895"/>
            <a:ext cx="3600400" cy="3060871"/>
          </a:xfrm>
        </p:spPr>
        <p:txBody>
          <a:bodyPr/>
          <a:lstStyle/>
          <a:p>
            <a:pPr marL="0" indent="0" algn="ctr">
              <a:buNone/>
            </a:pPr>
            <a:r>
              <a:rPr lang="en-US" sz="1400" dirty="0" smtClean="0"/>
              <a:t>All </a:t>
            </a:r>
            <a:r>
              <a:rPr lang="en-US" sz="1400" dirty="0"/>
              <a:t>that we observe in the digital </a:t>
            </a:r>
            <a:r>
              <a:rPr lang="en-US" sz="1400" dirty="0" smtClean="0"/>
              <a:t>domain, from:</a:t>
            </a:r>
          </a:p>
          <a:p>
            <a:pPr algn="just"/>
            <a:r>
              <a:rPr lang="en-US" sz="1400" dirty="0"/>
              <a:t>t</a:t>
            </a:r>
            <a:r>
              <a:rPr lang="en-US" sz="1400" dirty="0" smtClean="0"/>
              <a:t>he</a:t>
            </a:r>
            <a:r>
              <a:rPr lang="en-US" sz="1400" b="1" dirty="0" smtClean="0"/>
              <a:t> Web </a:t>
            </a:r>
            <a:r>
              <a:rPr lang="en-US" sz="1400" b="1" dirty="0"/>
              <a:t>P</a:t>
            </a:r>
            <a:r>
              <a:rPr lang="en-US" sz="1400" b="1" dirty="0" smtClean="0"/>
              <a:t>ages</a:t>
            </a:r>
          </a:p>
          <a:p>
            <a:pPr algn="just"/>
            <a:r>
              <a:rPr lang="en-US" sz="1400" dirty="0" smtClean="0"/>
              <a:t>the Archive </a:t>
            </a:r>
            <a:r>
              <a:rPr lang="en-US" sz="1400" dirty="0"/>
              <a:t>of our </a:t>
            </a:r>
            <a:r>
              <a:rPr lang="en-US" sz="1400" b="1" dirty="0" smtClean="0"/>
              <a:t>Phone Calls</a:t>
            </a:r>
          </a:p>
          <a:p>
            <a:pPr algn="just"/>
            <a:r>
              <a:rPr lang="en-US" sz="1400" dirty="0" smtClean="0"/>
              <a:t>the </a:t>
            </a:r>
            <a:r>
              <a:rPr lang="en-US" sz="1400" dirty="0"/>
              <a:t>temporary </a:t>
            </a:r>
            <a:r>
              <a:rPr lang="en-US" sz="1400" dirty="0" smtClean="0"/>
              <a:t>Storage </a:t>
            </a:r>
            <a:r>
              <a:rPr lang="en-US" sz="1400" dirty="0"/>
              <a:t>of an </a:t>
            </a:r>
            <a:r>
              <a:rPr lang="en-US" sz="1400" b="1" dirty="0"/>
              <a:t>SMS </a:t>
            </a:r>
            <a:r>
              <a:rPr lang="en-US" sz="1400" dirty="0"/>
              <a:t>in order to find the destination mobile phone switched </a:t>
            </a:r>
            <a:r>
              <a:rPr lang="en-US" sz="1400" dirty="0" smtClean="0"/>
              <a:t>on</a:t>
            </a:r>
          </a:p>
          <a:p>
            <a:pPr algn="just"/>
            <a:r>
              <a:rPr lang="en-US" sz="1400" dirty="0" smtClean="0"/>
              <a:t>up </a:t>
            </a:r>
            <a:r>
              <a:rPr lang="en-US" sz="1400" dirty="0"/>
              <a:t>to our </a:t>
            </a:r>
            <a:r>
              <a:rPr lang="en-US" sz="1400" b="1" dirty="0" err="1" smtClean="0"/>
              <a:t>eMail</a:t>
            </a:r>
            <a:r>
              <a:rPr lang="en-US" sz="1400" dirty="0" smtClean="0"/>
              <a:t> </a:t>
            </a:r>
            <a:r>
              <a:rPr lang="en-US" sz="1400" dirty="0"/>
              <a:t>and </a:t>
            </a:r>
            <a:r>
              <a:rPr lang="en-US" sz="1400" b="1" dirty="0" smtClean="0"/>
              <a:t>Facebook</a:t>
            </a:r>
            <a:r>
              <a:rPr lang="en-US" sz="1400" dirty="0" smtClean="0"/>
              <a:t> profile</a:t>
            </a:r>
          </a:p>
          <a:p>
            <a:pPr marL="0" indent="0" algn="ctr">
              <a:buNone/>
            </a:pPr>
            <a:r>
              <a:rPr lang="en-US" sz="1400" dirty="0" smtClean="0"/>
              <a:t>are </a:t>
            </a:r>
            <a:r>
              <a:rPr lang="en-US" sz="1400" dirty="0"/>
              <a:t>stored somewhere in the </a:t>
            </a:r>
            <a:r>
              <a:rPr lang="en-US" sz="1400" dirty="0" smtClean="0"/>
              <a:t>world.</a:t>
            </a:r>
          </a:p>
        </p:txBody>
      </p:sp>
      <p:pic>
        <p:nvPicPr>
          <p:cNvPr id="1030" name="Picture 6" descr="http://www.drogbaster.it/icone/sms-gratis.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040" y="1212058"/>
            <a:ext cx="918536" cy="91853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www.nps.gov/safr/planyourvisit/images/cell_phone_icon.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97423" y="1266498"/>
            <a:ext cx="538878" cy="86409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3.bp.blogspot.com/-twFOWSYIBhU/USDu4Kw-pPI/AAAAAAAAEV0/5PHdJO3x5Xs/s1600/email-integration-2.jpg"/>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654659" y="4173088"/>
            <a:ext cx="1035054" cy="929717"/>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http://www.shapecollage.com/blog/wp-content/uploads/2012/04/facebook-147.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3040" y="5157192"/>
            <a:ext cx="789035" cy="789035"/>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descr="https://encrypted-tbn1.gstatic.com/images?q=tbn:ANd9GcTMZSa6F7gfVRh-ohfYniAo90jvu8RnEDNpDJ-BVndKsKsH8HUxFA"/>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6186" b="89691" l="4633" r="94981"/>
                    </a14:imgEffect>
                  </a14:imgLayer>
                </a14:imgProps>
              </a:ext>
              <a:ext uri="{28A0092B-C50C-407E-A947-70E740481C1C}">
                <a14:useLocalDpi xmlns:a14="http://schemas.microsoft.com/office/drawing/2010/main" val="0"/>
              </a:ext>
            </a:extLst>
          </a:blip>
          <a:srcRect/>
          <a:stretch>
            <a:fillRect/>
          </a:stretch>
        </p:blipFill>
        <p:spPr bwMode="auto">
          <a:xfrm>
            <a:off x="3131840" y="4173088"/>
            <a:ext cx="1727263" cy="129378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p:cNvSpPr/>
          <p:nvPr/>
        </p:nvSpPr>
        <p:spPr>
          <a:xfrm>
            <a:off x="5436096" y="1212058"/>
            <a:ext cx="3384376" cy="864096"/>
          </a:xfrm>
          <a:prstGeom prst="roundRect">
            <a:avLst/>
          </a:prstGeom>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Data Center is a factory that </a:t>
            </a:r>
            <a:r>
              <a:rPr lang="en-US" dirty="0" smtClean="0"/>
              <a:t>“Transforms” </a:t>
            </a:r>
            <a:r>
              <a:rPr lang="en-US" dirty="0"/>
              <a:t>and </a:t>
            </a:r>
            <a:r>
              <a:rPr lang="en-US" dirty="0" smtClean="0"/>
              <a:t>“Stores” </a:t>
            </a:r>
            <a:r>
              <a:rPr lang="en-US" dirty="0"/>
              <a:t>bits</a:t>
            </a:r>
          </a:p>
        </p:txBody>
      </p:sp>
      <p:pic>
        <p:nvPicPr>
          <p:cNvPr id="1059" name="Picture 35" descr="datacente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504" y="1405474"/>
            <a:ext cx="5076168" cy="33196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11960" y="5638450"/>
            <a:ext cx="4768934" cy="307777"/>
          </a:xfrm>
          <a:prstGeom prst="rect">
            <a:avLst/>
          </a:prstGeom>
          <a:noFill/>
        </p:spPr>
        <p:txBody>
          <a:bodyPr wrap="none" lIns="0" tIns="0" rIns="0" bIns="0" rtlCol="0">
            <a:spAutoFit/>
          </a:bodyPr>
          <a:lstStyle/>
          <a:p>
            <a:pPr algn="ctr"/>
            <a:r>
              <a:rPr 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These places are the Data </a:t>
            </a:r>
            <a:r>
              <a:rPr lang="en-US" sz="2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Center</a:t>
            </a:r>
            <a:endParaRPr lang="en-US"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1950344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055"/>
                                        </p:tgtEl>
                                        <p:attrNameLst>
                                          <p:attrName>style.visibility</p:attrName>
                                        </p:attrNameLst>
                                      </p:cBhvr>
                                      <p:to>
                                        <p:strVal val="visible"/>
                                      </p:to>
                                    </p:set>
                                    <p:animEffect transition="in" filter="barn(inVertical)">
                                      <p:cBhvr>
                                        <p:cTn id="13" dur="500"/>
                                        <p:tgtEl>
                                          <p:spTgt spid="1055"/>
                                        </p:tgtEl>
                                      </p:cBhvr>
                                    </p:animEffect>
                                  </p:childTnLst>
                                </p:cTn>
                              </p:par>
                              <p:par>
                                <p:cTn id="14" presetID="10" presetClass="entr" presetSubtype="0" fill="hold" nodeType="withEffect">
                                  <p:stCondLst>
                                    <p:cond delay="0"/>
                                  </p:stCondLst>
                                  <p:childTnLst>
                                    <p:set>
                                      <p:cBhvr>
                                        <p:cTn id="15" dur="1" fill="hold">
                                          <p:stCondLst>
                                            <p:cond delay="0"/>
                                          </p:stCondLst>
                                        </p:cTn>
                                        <p:tgtEl>
                                          <p:spTgt spid="1041"/>
                                        </p:tgtEl>
                                        <p:attrNameLst>
                                          <p:attrName>style.visibility</p:attrName>
                                        </p:attrNameLst>
                                      </p:cBhvr>
                                      <p:to>
                                        <p:strVal val="visible"/>
                                      </p:to>
                                    </p:set>
                                    <p:animEffect transition="in" filter="fade">
                                      <p:cBhvr>
                                        <p:cTn id="16" dur="500"/>
                                        <p:tgtEl>
                                          <p:spTgt spid="10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42" presetClass="entr" presetSubtype="0" fill="hold" nodeType="withEffect">
                                  <p:stCondLst>
                                    <p:cond delay="0"/>
                                  </p:stCondLst>
                                  <p:childTnLst>
                                    <p:set>
                                      <p:cBhvr>
                                        <p:cTn id="23" dur="1" fill="hold">
                                          <p:stCondLst>
                                            <p:cond delay="0"/>
                                          </p:stCondLst>
                                        </p:cTn>
                                        <p:tgtEl>
                                          <p:spTgt spid="1032"/>
                                        </p:tgtEl>
                                        <p:attrNameLst>
                                          <p:attrName>style.visibility</p:attrName>
                                        </p:attrNameLst>
                                      </p:cBhvr>
                                      <p:to>
                                        <p:strVal val="visible"/>
                                      </p:to>
                                    </p:set>
                                    <p:animEffect transition="in" filter="fade">
                                      <p:cBhvr>
                                        <p:cTn id="24" dur="1000"/>
                                        <p:tgtEl>
                                          <p:spTgt spid="1032"/>
                                        </p:tgtEl>
                                      </p:cBhvr>
                                    </p:animEffect>
                                    <p:anim calcmode="lin" valueType="num">
                                      <p:cBhvr>
                                        <p:cTn id="25" dur="1000" fill="hold"/>
                                        <p:tgtEl>
                                          <p:spTgt spid="1032"/>
                                        </p:tgtEl>
                                        <p:attrNameLst>
                                          <p:attrName>ppt_x</p:attrName>
                                        </p:attrNameLst>
                                      </p:cBhvr>
                                      <p:tavLst>
                                        <p:tav tm="0">
                                          <p:val>
                                            <p:strVal val="#ppt_x"/>
                                          </p:val>
                                        </p:tav>
                                        <p:tav tm="100000">
                                          <p:val>
                                            <p:strVal val="#ppt_x"/>
                                          </p:val>
                                        </p:tav>
                                      </p:tavLst>
                                    </p:anim>
                                    <p:anim calcmode="lin" valueType="num">
                                      <p:cBhvr>
                                        <p:cTn id="26"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42" presetClass="entr" presetSubtype="0" fill="hold" nodeType="withEffect">
                                  <p:stCondLst>
                                    <p:cond delay="0"/>
                                  </p:stCondLst>
                                  <p:childTnLst>
                                    <p:set>
                                      <p:cBhvr>
                                        <p:cTn id="33" dur="1" fill="hold">
                                          <p:stCondLst>
                                            <p:cond delay="0"/>
                                          </p:stCondLst>
                                        </p:cTn>
                                        <p:tgtEl>
                                          <p:spTgt spid="1030"/>
                                        </p:tgtEl>
                                        <p:attrNameLst>
                                          <p:attrName>style.visibility</p:attrName>
                                        </p:attrNameLst>
                                      </p:cBhvr>
                                      <p:to>
                                        <p:strVal val="visible"/>
                                      </p:to>
                                    </p:set>
                                    <p:animEffect transition="in" filter="fade">
                                      <p:cBhvr>
                                        <p:cTn id="34" dur="1000"/>
                                        <p:tgtEl>
                                          <p:spTgt spid="1030"/>
                                        </p:tgtEl>
                                      </p:cBhvr>
                                    </p:animEffect>
                                    <p:anim calcmode="lin" valueType="num">
                                      <p:cBhvr>
                                        <p:cTn id="35" dur="1000" fill="hold"/>
                                        <p:tgtEl>
                                          <p:spTgt spid="1030"/>
                                        </p:tgtEl>
                                        <p:attrNameLst>
                                          <p:attrName>ppt_x</p:attrName>
                                        </p:attrNameLst>
                                      </p:cBhvr>
                                      <p:tavLst>
                                        <p:tav tm="0">
                                          <p:val>
                                            <p:strVal val="#ppt_x"/>
                                          </p:val>
                                        </p:tav>
                                        <p:tav tm="100000">
                                          <p:val>
                                            <p:strVal val="#ppt_x"/>
                                          </p:val>
                                        </p:tav>
                                      </p:tavLst>
                                    </p:anim>
                                    <p:anim calcmode="lin" valueType="num">
                                      <p:cBhvr>
                                        <p:cTn id="36"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500"/>
                                        <p:tgtEl>
                                          <p:spTgt spid="3">
                                            <p:txEl>
                                              <p:pRg st="4" end="4"/>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1040"/>
                                        </p:tgtEl>
                                        <p:attrNameLst>
                                          <p:attrName>style.visibility</p:attrName>
                                        </p:attrNameLst>
                                      </p:cBhvr>
                                      <p:to>
                                        <p:strVal val="visible"/>
                                      </p:to>
                                    </p:set>
                                    <p:animEffect transition="in" filter="randombar(horizontal)">
                                      <p:cBhvr>
                                        <p:cTn id="44" dur="500"/>
                                        <p:tgtEl>
                                          <p:spTgt spid="1040"/>
                                        </p:tgtEl>
                                      </p:cBhvr>
                                    </p:animEffect>
                                  </p:childTnLst>
                                </p:cTn>
                              </p:par>
                              <p:par>
                                <p:cTn id="45" presetID="14" presetClass="entr" presetSubtype="10" fill="hold" nodeType="withEffect">
                                  <p:stCondLst>
                                    <p:cond delay="0"/>
                                  </p:stCondLst>
                                  <p:childTnLst>
                                    <p:set>
                                      <p:cBhvr>
                                        <p:cTn id="46" dur="1" fill="hold">
                                          <p:stCondLst>
                                            <p:cond delay="0"/>
                                          </p:stCondLst>
                                        </p:cTn>
                                        <p:tgtEl>
                                          <p:spTgt spid="1043"/>
                                        </p:tgtEl>
                                        <p:attrNameLst>
                                          <p:attrName>style.visibility</p:attrName>
                                        </p:attrNameLst>
                                      </p:cBhvr>
                                      <p:to>
                                        <p:strVal val="visible"/>
                                      </p:to>
                                    </p:set>
                                    <p:animEffect transition="in" filter="randombar(horizontal)">
                                      <p:cBhvr>
                                        <p:cTn id="47" dur="500"/>
                                        <p:tgtEl>
                                          <p:spTgt spid="1043"/>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fade">
                                      <p:cBhvr>
                                        <p:cTn id="51" dur="500"/>
                                        <p:tgtEl>
                                          <p:spTgt spid="3">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32267" y="1820252"/>
            <a:ext cx="8286291" cy="4081194"/>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35" descr="datacen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9730" y="2374237"/>
            <a:ext cx="3362307" cy="21988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it-IT" sz="2400" i="1" dirty="0">
                <a:solidFill>
                  <a:srgbClr val="FFFFFF">
                    <a:lumMod val="75000"/>
                  </a:srgbClr>
                </a:solidFill>
              </a:rPr>
              <a:t>Data Center Overview</a:t>
            </a:r>
            <a:r>
              <a:rPr lang="it-IT" dirty="0" smtClean="0"/>
              <a:t/>
            </a:r>
            <a:br>
              <a:rPr lang="it-IT" dirty="0" smtClean="0"/>
            </a:br>
            <a:r>
              <a:rPr lang="it-IT" dirty="0" smtClean="0"/>
              <a:t>Data Center - Main Components</a:t>
            </a:r>
            <a:endParaRPr lang="en-US" dirty="0"/>
          </a:p>
        </p:txBody>
      </p:sp>
      <p:grpSp>
        <p:nvGrpSpPr>
          <p:cNvPr id="13" name="Group 12"/>
          <p:cNvGrpSpPr/>
          <p:nvPr/>
        </p:nvGrpSpPr>
        <p:grpSpPr>
          <a:xfrm>
            <a:off x="3738522" y="1292802"/>
            <a:ext cx="2164722" cy="986342"/>
            <a:chOff x="1615190" y="1505950"/>
            <a:chExt cx="2164722" cy="986342"/>
          </a:xfrm>
        </p:grpSpPr>
        <p:pic>
          <p:nvPicPr>
            <p:cNvPr id="3078" name="Picture 6" descr="http://www.wtands.com/Portals/27554/images/cabling%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0690" y="1836743"/>
              <a:ext cx="1179988" cy="65554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p:cNvSpPr txBox="1"/>
            <p:nvPr/>
          </p:nvSpPr>
          <p:spPr>
            <a:xfrm>
              <a:off x="1615190" y="1505950"/>
              <a:ext cx="966611"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Cabling</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3080" name="Picture 8" descr="http://www.ferraresisys.com/s/cc_images/cache_2431295076.jpg?t=136302294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82817" y="1825161"/>
              <a:ext cx="797095" cy="5553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p:cNvGrpSpPr/>
          <p:nvPr/>
        </p:nvGrpSpPr>
        <p:grpSpPr>
          <a:xfrm>
            <a:off x="6583321" y="1783849"/>
            <a:ext cx="2540727" cy="680457"/>
            <a:chOff x="5137282" y="1321942"/>
            <a:chExt cx="2540727" cy="680457"/>
          </a:xfrm>
        </p:grpSpPr>
        <p:pic>
          <p:nvPicPr>
            <p:cNvPr id="3083" name="Picture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7282" y="1671087"/>
              <a:ext cx="1128175" cy="33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5214193" y="1321942"/>
              <a:ext cx="2463816" cy="276999"/>
            </a:xfrm>
            <a:prstGeom prst="rect">
              <a:avLst/>
            </a:prstGeom>
            <a:noFill/>
          </p:spPr>
          <p:txBody>
            <a:bodyPr wrap="none" lIns="0" tIns="0" rIns="0" bIns="0" rtlCol="0">
              <a:spAutoFit/>
            </a:bodyPr>
            <a:lstStyle/>
            <a:p>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LAN </a:t>
              </a: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(Local Area Network)</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6" name="Group 5"/>
          <p:cNvGrpSpPr/>
          <p:nvPr/>
        </p:nvGrpSpPr>
        <p:grpSpPr>
          <a:xfrm>
            <a:off x="6228184" y="2991545"/>
            <a:ext cx="2640914" cy="808993"/>
            <a:chOff x="4973349" y="1610532"/>
            <a:chExt cx="2640914" cy="808993"/>
          </a:xfrm>
        </p:grpSpPr>
        <p:pic>
          <p:nvPicPr>
            <p:cNvPr id="3084"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0953" y="1610532"/>
              <a:ext cx="783310" cy="808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TextBox 49"/>
            <p:cNvSpPr txBox="1"/>
            <p:nvPr/>
          </p:nvSpPr>
          <p:spPr>
            <a:xfrm>
              <a:off x="4973349" y="1738029"/>
              <a:ext cx="1849865" cy="461665"/>
            </a:xfrm>
            <a:prstGeom prst="rect">
              <a:avLst/>
            </a:prstGeom>
            <a:noFill/>
          </p:spPr>
          <p:txBody>
            <a:bodyPr wrap="none" lIns="0" tIns="0" rIns="0" bIns="0" rtlCol="0">
              <a:spAutoFit/>
            </a:bodyPr>
            <a:lstStyle/>
            <a:p>
              <a:pPr algn="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WAN</a:t>
              </a:r>
            </a:p>
            <a:p>
              <a:pPr algn="ct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(Wide Area Network)</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7" name="Group 6"/>
          <p:cNvGrpSpPr/>
          <p:nvPr/>
        </p:nvGrpSpPr>
        <p:grpSpPr>
          <a:xfrm>
            <a:off x="7019792" y="4338281"/>
            <a:ext cx="2088712" cy="1394975"/>
            <a:chOff x="7460486" y="2174391"/>
            <a:chExt cx="2088712" cy="1394975"/>
          </a:xfrm>
        </p:grpSpPr>
        <p:pic>
          <p:nvPicPr>
            <p:cNvPr id="61" name="Picture 72" descr="SAN director 01"/>
            <p:cNvPicPr>
              <a:picLocks noChangeAspect="1" noChangeArrowheads="1"/>
            </p:cNvPicPr>
            <p:nvPr/>
          </p:nvPicPr>
          <p:blipFill>
            <a:blip r:embed="rId7" cstate="print"/>
            <a:srcRect/>
            <a:stretch>
              <a:fillRect/>
            </a:stretch>
          </p:blipFill>
          <p:spPr bwMode="auto">
            <a:xfrm>
              <a:off x="8135994" y="2174391"/>
              <a:ext cx="828494" cy="966577"/>
            </a:xfrm>
            <a:prstGeom prst="rect">
              <a:avLst/>
            </a:prstGeom>
            <a:noFill/>
          </p:spPr>
        </p:pic>
        <p:sp>
          <p:nvSpPr>
            <p:cNvPr id="53" name="TextBox 52"/>
            <p:cNvSpPr txBox="1"/>
            <p:nvPr/>
          </p:nvSpPr>
          <p:spPr>
            <a:xfrm>
              <a:off x="7460486" y="3107701"/>
              <a:ext cx="2088712" cy="461665"/>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SAN</a:t>
              </a:r>
            </a:p>
            <a:p>
              <a:pPr algn="ct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(Storage Area Network)</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8" name="Group 7"/>
          <p:cNvGrpSpPr/>
          <p:nvPr/>
        </p:nvGrpSpPr>
        <p:grpSpPr>
          <a:xfrm>
            <a:off x="5866787" y="4039689"/>
            <a:ext cx="1123033" cy="1861757"/>
            <a:chOff x="7495526" y="3726753"/>
            <a:chExt cx="1123033" cy="1861757"/>
          </a:xfrm>
        </p:grpSpPr>
        <p:pic>
          <p:nvPicPr>
            <p:cNvPr id="3088" name="Picture 1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819341" y="4504057"/>
              <a:ext cx="561884" cy="1084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9"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495526" y="4081126"/>
              <a:ext cx="1123033" cy="282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TextBox 53"/>
            <p:cNvSpPr txBox="1"/>
            <p:nvPr/>
          </p:nvSpPr>
          <p:spPr>
            <a:xfrm>
              <a:off x="7550715" y="3726753"/>
              <a:ext cx="852798"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Server</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11" name="Group 10"/>
          <p:cNvGrpSpPr/>
          <p:nvPr/>
        </p:nvGrpSpPr>
        <p:grpSpPr>
          <a:xfrm>
            <a:off x="3954022" y="4633628"/>
            <a:ext cx="1550674" cy="1469365"/>
            <a:chOff x="332267" y="4222361"/>
            <a:chExt cx="1550674" cy="1469365"/>
          </a:xfrm>
        </p:grpSpPr>
        <p:pic>
          <p:nvPicPr>
            <p:cNvPr id="3090" name="Picture 1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2267" y="4400842"/>
              <a:ext cx="534860" cy="129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 name="TextBox 54"/>
            <p:cNvSpPr txBox="1"/>
            <p:nvPr/>
          </p:nvSpPr>
          <p:spPr>
            <a:xfrm>
              <a:off x="869843" y="4222361"/>
              <a:ext cx="1013098"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Storage</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10" name="Group 9"/>
          <p:cNvGrpSpPr/>
          <p:nvPr/>
        </p:nvGrpSpPr>
        <p:grpSpPr>
          <a:xfrm>
            <a:off x="448227" y="4437868"/>
            <a:ext cx="3283128" cy="1409883"/>
            <a:chOff x="2230666" y="4472244"/>
            <a:chExt cx="3283128" cy="1409883"/>
          </a:xfrm>
        </p:grpSpPr>
        <p:pic>
          <p:nvPicPr>
            <p:cNvPr id="3094" name="Picture 22" descr="http://www.ebmag.com/media/k2/items/cache/1fa3aa6bfae508aba6111fc8ce5d070d_XL.jp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30666" y="4717446"/>
              <a:ext cx="2117601" cy="1164681"/>
            </a:xfrm>
            <a:prstGeom prst="rect">
              <a:avLst/>
            </a:prstGeom>
            <a:noFill/>
            <a:extLst>
              <a:ext uri="{909E8E84-426E-40DD-AFC4-6F175D3DCCD1}">
                <a14:hiddenFill xmlns:a14="http://schemas.microsoft.com/office/drawing/2010/main">
                  <a:solidFill>
                    <a:srgbClr val="FFFFFF"/>
                  </a:solidFill>
                </a14:hiddenFill>
              </a:ext>
            </a:extLst>
          </p:spPr>
        </p:pic>
        <p:sp>
          <p:nvSpPr>
            <p:cNvPr id="56" name="TextBox 55"/>
            <p:cNvSpPr txBox="1"/>
            <p:nvPr/>
          </p:nvSpPr>
          <p:spPr>
            <a:xfrm>
              <a:off x="2931356" y="4472244"/>
              <a:ext cx="2582438"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Electrical Generator</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9" name="Group 8"/>
          <p:cNvGrpSpPr/>
          <p:nvPr/>
        </p:nvGrpSpPr>
        <p:grpSpPr>
          <a:xfrm>
            <a:off x="12456" y="2864977"/>
            <a:ext cx="2597391" cy="1398723"/>
            <a:chOff x="5520585" y="4599214"/>
            <a:chExt cx="2597391" cy="1398723"/>
          </a:xfrm>
        </p:grpSpPr>
        <p:pic>
          <p:nvPicPr>
            <p:cNvPr id="3096" name="Picture 24" descr="http://img.directindustry.it/images_di/photo-g/ups-per-sala-server-centro-dati-62943-2361295.jpg"/>
            <p:cNvPicPr>
              <a:picLocks noChangeAspect="1" noChangeArrowheads="1"/>
            </p:cNvPicPr>
            <p:nvPr/>
          </p:nvPicPr>
          <p:blipFill>
            <a:blip r:embed="rId12" cstate="print">
              <a:extLst>
                <a:ext uri="{BEBA8EAE-BF5A-486C-A8C5-ECC9F3942E4B}">
                  <a14:imgProps xmlns:a14="http://schemas.microsoft.com/office/drawing/2010/main">
                    <a14:imgLayer r:embed="rId13">
                      <a14:imgEffect>
                        <a14:backgroundRemoval t="2679" b="97024" l="3475" r="97297"/>
                      </a14:imgEffect>
                    </a14:imgLayer>
                  </a14:imgProps>
                </a:ext>
                <a:ext uri="{28A0092B-C50C-407E-A947-70E740481C1C}">
                  <a14:useLocalDpi xmlns:a14="http://schemas.microsoft.com/office/drawing/2010/main" val="0"/>
                </a:ext>
              </a:extLst>
            </a:blip>
            <a:srcRect/>
            <a:stretch>
              <a:fillRect/>
            </a:stretch>
          </p:blipFill>
          <p:spPr bwMode="auto">
            <a:xfrm>
              <a:off x="5520585" y="4599214"/>
              <a:ext cx="1079261" cy="1398723"/>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p:cNvSpPr txBox="1"/>
            <p:nvPr/>
          </p:nvSpPr>
          <p:spPr>
            <a:xfrm>
              <a:off x="6590314" y="4833354"/>
              <a:ext cx="1527662" cy="646331"/>
            </a:xfrm>
            <a:prstGeom prst="rect">
              <a:avLst/>
            </a:prstGeom>
            <a:noFill/>
          </p:spPr>
          <p:txBody>
            <a:bodyPr wrap="none" lIns="0" tIns="0" rIns="0" bIns="0" rtlCol="0">
              <a:spAutoFit/>
            </a:bodyPr>
            <a:lstStyle/>
            <a:p>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UPS</a:t>
              </a:r>
            </a:p>
            <a:p>
              <a:r>
                <a:rPr lang="it-IT"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(Uninterruptible </a:t>
              </a:r>
              <a:endPar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pPr algn="ct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Power Supply)</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pSp>
      <p:grpSp>
        <p:nvGrpSpPr>
          <p:cNvPr id="12" name="Group 11"/>
          <p:cNvGrpSpPr/>
          <p:nvPr/>
        </p:nvGrpSpPr>
        <p:grpSpPr>
          <a:xfrm>
            <a:off x="484009" y="1124744"/>
            <a:ext cx="2741135" cy="1536066"/>
            <a:chOff x="-981676" y="2361665"/>
            <a:chExt cx="2741135" cy="1536066"/>
          </a:xfrm>
        </p:grpSpPr>
        <p:sp>
          <p:nvSpPr>
            <p:cNvPr id="59" name="TextBox 58"/>
            <p:cNvSpPr txBox="1"/>
            <p:nvPr/>
          </p:nvSpPr>
          <p:spPr>
            <a:xfrm>
              <a:off x="-981676" y="2361665"/>
              <a:ext cx="2741135" cy="461665"/>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CRAC </a:t>
              </a:r>
            </a:p>
            <a:p>
              <a:pPr algn="ct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(Computer Room Air </a:t>
              </a:r>
              <a:r>
                <a:rPr lang="it-IT" sz="12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Condition</a:t>
              </a: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3100" name="Picture 28" descr="http://www.energymanagertoday.com/assets/Emerson-300x285.jpg"/>
            <p:cNvPicPr>
              <a:picLocks noChangeAspect="1" noChangeArrowheads="1"/>
            </p:cNvPicPr>
            <p:nvPr/>
          </p:nvPicPr>
          <p:blipFill>
            <a:blip r:embed="rId14" cstate="print">
              <a:extLst>
                <a:ext uri="{BEBA8EAE-BF5A-486C-A8C5-ECC9F3942E4B}">
                  <a14:imgProps xmlns:a14="http://schemas.microsoft.com/office/drawing/2010/main">
                    <a14:imgLayer r:embed="rId15">
                      <a14:imgEffect>
                        <a14:backgroundRemoval t="1404" b="95439" l="1000" r="97667"/>
                      </a14:imgEffect>
                    </a14:imgLayer>
                  </a14:imgProps>
                </a:ext>
                <a:ext uri="{28A0092B-C50C-407E-A947-70E740481C1C}">
                  <a14:useLocalDpi xmlns:a14="http://schemas.microsoft.com/office/drawing/2010/main" val="0"/>
                </a:ext>
              </a:extLst>
            </a:blip>
            <a:srcRect/>
            <a:stretch>
              <a:fillRect/>
            </a:stretch>
          </p:blipFill>
          <p:spPr bwMode="auto">
            <a:xfrm>
              <a:off x="107504" y="2796178"/>
              <a:ext cx="1159529" cy="1101553"/>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Oval 83"/>
          <p:cNvSpPr>
            <a:spLocks noChangeArrowheads="1"/>
          </p:cNvSpPr>
          <p:nvPr/>
        </p:nvSpPr>
        <p:spPr bwMode="auto">
          <a:xfrm>
            <a:off x="5061842" y="1236948"/>
            <a:ext cx="419100" cy="393700"/>
          </a:xfrm>
          <a:prstGeom prst="ellipse">
            <a:avLst/>
          </a:prstGeom>
          <a:solidFill>
            <a:schemeClr val="tx2"/>
          </a:solidFill>
          <a:ln w="9525" algn="ctr">
            <a:solidFill>
              <a:schemeClr val="tx1"/>
            </a:solidFill>
            <a:round/>
            <a:headEnd/>
            <a:tailEnd/>
          </a:ln>
          <a:effectLst/>
          <a:scene3d>
            <a:camera prst="orthographicFront"/>
            <a:lightRig rig="threePt" dir="t"/>
          </a:scene3d>
          <a:sp3d prstMaterial="dkEdge">
            <a:bevelT/>
          </a:sp3d>
        </p:spPr>
        <p:txBody>
          <a:bodyPr wrap="none" lIns="0" tIns="0" rIns="0" bIns="0" anchor="ctr"/>
          <a:lstStyle/>
          <a:p>
            <a:pPr algn="ctr"/>
            <a:r>
              <a:rPr lang="it-IT" b="1" dirty="0">
                <a:ln cmpd="dbl">
                  <a:solidFill>
                    <a:schemeClr val="tx1"/>
                  </a:solidFill>
                </a:ln>
                <a:solidFill>
                  <a:schemeClr val="bg1"/>
                </a:solidFill>
              </a:rPr>
              <a:t>IT</a:t>
            </a:r>
          </a:p>
        </p:txBody>
      </p:sp>
      <p:sp>
        <p:nvSpPr>
          <p:cNvPr id="25" name="Oval 83"/>
          <p:cNvSpPr>
            <a:spLocks noChangeArrowheads="1"/>
          </p:cNvSpPr>
          <p:nvPr/>
        </p:nvSpPr>
        <p:spPr bwMode="auto">
          <a:xfrm>
            <a:off x="7020272" y="1379116"/>
            <a:ext cx="419100" cy="393700"/>
          </a:xfrm>
          <a:prstGeom prst="ellipse">
            <a:avLst/>
          </a:prstGeom>
          <a:solidFill>
            <a:schemeClr val="tx2"/>
          </a:solidFill>
          <a:ln w="9525" algn="ctr">
            <a:solidFill>
              <a:schemeClr val="tx1"/>
            </a:solidFill>
            <a:round/>
            <a:headEnd/>
            <a:tailEnd/>
          </a:ln>
          <a:effectLst/>
          <a:scene3d>
            <a:camera prst="orthographicFront"/>
            <a:lightRig rig="threePt" dir="t"/>
          </a:scene3d>
          <a:sp3d prstMaterial="dkEdge">
            <a:bevelT/>
          </a:sp3d>
        </p:spPr>
        <p:txBody>
          <a:bodyPr wrap="none" lIns="0" tIns="0" rIns="0" bIns="0" anchor="ctr"/>
          <a:lstStyle/>
          <a:p>
            <a:pPr algn="ctr"/>
            <a:r>
              <a:rPr lang="it-IT" b="1" dirty="0">
                <a:ln cmpd="dbl">
                  <a:solidFill>
                    <a:schemeClr val="tx1"/>
                  </a:solidFill>
                </a:ln>
                <a:solidFill>
                  <a:schemeClr val="bg1"/>
                </a:solidFill>
              </a:rPr>
              <a:t>IT</a:t>
            </a:r>
          </a:p>
        </p:txBody>
      </p:sp>
      <p:sp>
        <p:nvSpPr>
          <p:cNvPr id="26" name="Oval 83"/>
          <p:cNvSpPr>
            <a:spLocks noChangeArrowheads="1"/>
          </p:cNvSpPr>
          <p:nvPr/>
        </p:nvSpPr>
        <p:spPr bwMode="auto">
          <a:xfrm>
            <a:off x="8386154" y="2597845"/>
            <a:ext cx="419100" cy="393700"/>
          </a:xfrm>
          <a:prstGeom prst="ellipse">
            <a:avLst/>
          </a:prstGeom>
          <a:solidFill>
            <a:schemeClr val="tx2"/>
          </a:solidFill>
          <a:ln w="9525" algn="ctr">
            <a:solidFill>
              <a:schemeClr val="tx1"/>
            </a:solidFill>
            <a:round/>
            <a:headEnd/>
            <a:tailEnd/>
          </a:ln>
          <a:effectLst/>
          <a:scene3d>
            <a:camera prst="orthographicFront"/>
            <a:lightRig rig="threePt" dir="t"/>
          </a:scene3d>
          <a:sp3d prstMaterial="dkEdge">
            <a:bevelT/>
          </a:sp3d>
        </p:spPr>
        <p:txBody>
          <a:bodyPr wrap="none" lIns="0" tIns="0" rIns="0" bIns="0" anchor="ctr"/>
          <a:lstStyle/>
          <a:p>
            <a:pPr algn="ctr"/>
            <a:r>
              <a:rPr lang="it-IT" b="1" dirty="0">
                <a:ln cmpd="dbl">
                  <a:solidFill>
                    <a:schemeClr val="tx1"/>
                  </a:solidFill>
                </a:ln>
                <a:solidFill>
                  <a:schemeClr val="bg1"/>
                </a:solidFill>
              </a:rPr>
              <a:t>IT</a:t>
            </a:r>
          </a:p>
        </p:txBody>
      </p:sp>
      <p:sp>
        <p:nvSpPr>
          <p:cNvPr id="27" name="Oval 83"/>
          <p:cNvSpPr>
            <a:spLocks noChangeArrowheads="1"/>
          </p:cNvSpPr>
          <p:nvPr/>
        </p:nvSpPr>
        <p:spPr bwMode="auto">
          <a:xfrm>
            <a:off x="8523794" y="4486220"/>
            <a:ext cx="419100" cy="393700"/>
          </a:xfrm>
          <a:prstGeom prst="ellipse">
            <a:avLst/>
          </a:prstGeom>
          <a:solidFill>
            <a:schemeClr val="tx2"/>
          </a:solidFill>
          <a:ln w="9525" algn="ctr">
            <a:solidFill>
              <a:schemeClr val="tx1"/>
            </a:solidFill>
            <a:round/>
            <a:headEnd/>
            <a:tailEnd/>
          </a:ln>
          <a:effectLst/>
          <a:scene3d>
            <a:camera prst="orthographicFront"/>
            <a:lightRig rig="threePt" dir="t"/>
          </a:scene3d>
          <a:sp3d prstMaterial="dkEdge">
            <a:bevelT/>
          </a:sp3d>
        </p:spPr>
        <p:txBody>
          <a:bodyPr wrap="none" lIns="0" tIns="0" rIns="0" bIns="0" anchor="ctr"/>
          <a:lstStyle/>
          <a:p>
            <a:pPr algn="ctr"/>
            <a:r>
              <a:rPr lang="it-IT" b="1" dirty="0">
                <a:ln cmpd="dbl">
                  <a:solidFill>
                    <a:schemeClr val="tx1"/>
                  </a:solidFill>
                </a:ln>
                <a:solidFill>
                  <a:schemeClr val="bg1"/>
                </a:solidFill>
              </a:rPr>
              <a:t>IT</a:t>
            </a:r>
          </a:p>
        </p:txBody>
      </p:sp>
      <p:sp>
        <p:nvSpPr>
          <p:cNvPr id="28" name="Oval 83"/>
          <p:cNvSpPr>
            <a:spLocks noChangeArrowheads="1"/>
          </p:cNvSpPr>
          <p:nvPr/>
        </p:nvSpPr>
        <p:spPr bwMode="auto">
          <a:xfrm>
            <a:off x="6806396" y="4871710"/>
            <a:ext cx="419100" cy="393700"/>
          </a:xfrm>
          <a:prstGeom prst="ellipse">
            <a:avLst/>
          </a:prstGeom>
          <a:solidFill>
            <a:schemeClr val="tx2"/>
          </a:solidFill>
          <a:ln w="9525" algn="ctr">
            <a:solidFill>
              <a:schemeClr val="tx1"/>
            </a:solidFill>
            <a:round/>
            <a:headEnd/>
            <a:tailEnd/>
          </a:ln>
          <a:effectLst/>
          <a:scene3d>
            <a:camera prst="orthographicFront"/>
            <a:lightRig rig="threePt" dir="t"/>
          </a:scene3d>
          <a:sp3d prstMaterial="dkEdge">
            <a:bevelT/>
          </a:sp3d>
        </p:spPr>
        <p:txBody>
          <a:bodyPr wrap="none" lIns="0" tIns="0" rIns="0" bIns="0" anchor="ctr"/>
          <a:lstStyle/>
          <a:p>
            <a:pPr algn="ctr"/>
            <a:r>
              <a:rPr lang="it-IT" b="1" dirty="0">
                <a:ln cmpd="dbl">
                  <a:solidFill>
                    <a:schemeClr val="tx1"/>
                  </a:solidFill>
                </a:ln>
                <a:solidFill>
                  <a:schemeClr val="bg1"/>
                </a:solidFill>
              </a:rPr>
              <a:t>IT</a:t>
            </a:r>
          </a:p>
        </p:txBody>
      </p:sp>
      <p:sp>
        <p:nvSpPr>
          <p:cNvPr id="29" name="Oval 83"/>
          <p:cNvSpPr>
            <a:spLocks noChangeArrowheads="1"/>
          </p:cNvSpPr>
          <p:nvPr/>
        </p:nvSpPr>
        <p:spPr bwMode="auto">
          <a:xfrm>
            <a:off x="4544016" y="4952300"/>
            <a:ext cx="419100" cy="393700"/>
          </a:xfrm>
          <a:prstGeom prst="ellipse">
            <a:avLst/>
          </a:prstGeom>
          <a:solidFill>
            <a:schemeClr val="tx2"/>
          </a:solidFill>
          <a:ln w="9525" algn="ctr">
            <a:solidFill>
              <a:schemeClr val="tx1"/>
            </a:solidFill>
            <a:round/>
            <a:headEnd/>
            <a:tailEnd/>
          </a:ln>
          <a:effectLst/>
          <a:scene3d>
            <a:camera prst="orthographicFront"/>
            <a:lightRig rig="threePt" dir="t"/>
          </a:scene3d>
          <a:sp3d prstMaterial="dkEdge">
            <a:bevelT/>
          </a:sp3d>
        </p:spPr>
        <p:txBody>
          <a:bodyPr wrap="none" lIns="0" tIns="0" rIns="0" bIns="0" anchor="ctr"/>
          <a:lstStyle/>
          <a:p>
            <a:pPr algn="ctr"/>
            <a:r>
              <a:rPr lang="it-IT" b="1" dirty="0" smtClean="0">
                <a:ln cmpd="dbl">
                  <a:solidFill>
                    <a:schemeClr val="tx1"/>
                  </a:solidFill>
                </a:ln>
                <a:solidFill>
                  <a:schemeClr val="bg1"/>
                </a:solidFill>
              </a:rPr>
              <a:t>IT </a:t>
            </a:r>
            <a:endParaRPr lang="it-IT" b="1" dirty="0">
              <a:ln cmpd="dbl">
                <a:solidFill>
                  <a:schemeClr val="tx1"/>
                </a:solidFill>
              </a:ln>
              <a:solidFill>
                <a:schemeClr val="bg1"/>
              </a:solidFill>
            </a:endParaRPr>
          </a:p>
        </p:txBody>
      </p:sp>
    </p:spTree>
    <p:extLst>
      <p:ext uri="{BB962C8B-B14F-4D97-AF65-F5344CB8AC3E}">
        <p14:creationId xmlns:p14="http://schemas.microsoft.com/office/powerpoint/2010/main" val="287361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ircle(i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ircle(i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circle(i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circle(in)">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circle(i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heel(1)">
                                      <p:cBhvr>
                                        <p:cTn id="52" dur="5000"/>
                                        <p:tgtEl>
                                          <p:spTgt spid="4"/>
                                        </p:tgtEl>
                                      </p:cBhvr>
                                    </p:animEffect>
                                  </p:childTnLst>
                                </p:cTn>
                              </p:par>
                            </p:childTnLst>
                          </p:cTn>
                        </p:par>
                        <p:par>
                          <p:cTn id="53" fill="hold">
                            <p:stCondLst>
                              <p:cond delay="5000"/>
                            </p:stCondLst>
                            <p:childTnLst>
                              <p:par>
                                <p:cTn id="54" presetID="10" presetClass="entr" presetSubtype="0" fill="hold" grpId="0"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par>
                          <p:cTn id="57" fill="hold">
                            <p:stCondLst>
                              <p:cond delay="5500"/>
                            </p:stCondLst>
                            <p:childTnLst>
                              <p:par>
                                <p:cTn id="58" presetID="10" presetClass="entr" presetSubtype="0" fill="hold" grpId="0" nodeType="after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par>
                          <p:cTn id="61" fill="hold">
                            <p:stCondLst>
                              <p:cond delay="600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par>
                          <p:cTn id="65" fill="hold">
                            <p:stCondLst>
                              <p:cond delay="6500"/>
                            </p:stCondLst>
                            <p:childTnLst>
                              <p:par>
                                <p:cTn id="66" presetID="10" presetClass="entr" presetSubtype="0" fill="hold" grpId="0" nodeType="after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childTnLst>
                          </p:cTn>
                        </p:par>
                        <p:par>
                          <p:cTn id="69" fill="hold">
                            <p:stCondLst>
                              <p:cond delay="7000"/>
                            </p:stCondLst>
                            <p:childTnLst>
                              <p:par>
                                <p:cTn id="70" presetID="10" presetClass="entr" presetSubtype="0"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par>
                          <p:cTn id="73" fill="hold">
                            <p:stCondLst>
                              <p:cond delay="7500"/>
                            </p:stCondLst>
                            <p:childTnLst>
                              <p:par>
                                <p:cTn id="74" presetID="10" presetClass="entr" presetSubtype="0" fill="hold" grpId="0" nodeType="after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4" grpId="0" animBg="1"/>
      <p:bldP spid="25" grpId="0" animBg="1"/>
      <p:bldP spid="26" grpId="0" animBg="1"/>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Overview</a:t>
            </a:r>
            <a:r>
              <a:rPr lang="it-IT" dirty="0" smtClean="0"/>
              <a:t/>
            </a:r>
            <a:br>
              <a:rPr lang="it-IT" dirty="0" smtClean="0"/>
            </a:br>
            <a:r>
              <a:rPr lang="it-IT" dirty="0" smtClean="0"/>
              <a:t>Data Center – Energy Metrics</a:t>
            </a:r>
            <a:endParaRPr lang="en-US" dirty="0"/>
          </a:p>
        </p:txBody>
      </p:sp>
      <p:sp>
        <p:nvSpPr>
          <p:cNvPr id="4" name="TextBox 3"/>
          <p:cNvSpPr txBox="1"/>
          <p:nvPr/>
        </p:nvSpPr>
        <p:spPr>
          <a:xfrm>
            <a:off x="147454" y="1485364"/>
            <a:ext cx="8871452" cy="215444"/>
          </a:xfrm>
          <a:prstGeom prst="rect">
            <a:avLst/>
          </a:prstGeom>
          <a:noFill/>
        </p:spPr>
        <p:txBody>
          <a:bodyPr wrap="square" lIns="0" tIns="0" rIns="0" bIns="0" rtlCol="0">
            <a:spAutoFit/>
          </a:bodyPr>
          <a:lstStyle/>
          <a:p>
            <a:pPr algn="ctr"/>
            <a:r>
              <a:rPr lang="en-US" sz="1400" b="1" i="1" dirty="0">
                <a:solidFill>
                  <a:srgbClr val="00B050"/>
                </a:solidFill>
              </a:rPr>
              <a:t>Power </a:t>
            </a:r>
            <a:r>
              <a:rPr lang="en-US" sz="1400" b="1" i="1" dirty="0" smtClean="0">
                <a:solidFill>
                  <a:srgbClr val="00B050"/>
                </a:solidFill>
              </a:rPr>
              <a:t>Usage Effectiveness </a:t>
            </a:r>
            <a:r>
              <a:rPr lang="en-US" sz="1400" b="1" i="1" dirty="0">
                <a:solidFill>
                  <a:srgbClr val="00B050"/>
                </a:solidFill>
              </a:rPr>
              <a:t>(PUE)</a:t>
            </a:r>
            <a:r>
              <a:rPr lang="en-US" sz="1200" b="1" dirty="0">
                <a:solidFill>
                  <a:schemeClr val="bg2"/>
                </a:solidFill>
              </a:rPr>
              <a:t> </a:t>
            </a:r>
            <a:r>
              <a:rPr lang="en-US" sz="1200" b="1" dirty="0" smtClean="0">
                <a:solidFill>
                  <a:schemeClr val="bg2"/>
                </a:solidFill>
              </a:rPr>
              <a:t>: </a:t>
            </a:r>
            <a:r>
              <a:rPr lang="en-US" sz="1300" dirty="0" smtClean="0">
                <a:solidFill>
                  <a:schemeClr val="bg2"/>
                </a:solidFill>
              </a:rPr>
              <a:t>metric </a:t>
            </a:r>
            <a:r>
              <a:rPr lang="en-US" sz="1300" dirty="0">
                <a:solidFill>
                  <a:schemeClr val="bg2"/>
                </a:solidFill>
              </a:rPr>
              <a:t>used to determine the energy efficiency of a data </a:t>
            </a:r>
            <a:r>
              <a:rPr lang="en-US" sz="1300" dirty="0" smtClean="0">
                <a:solidFill>
                  <a:schemeClr val="bg2"/>
                </a:solidFill>
              </a:rPr>
              <a:t>center</a:t>
            </a:r>
          </a:p>
        </p:txBody>
      </p:sp>
      <p:pic>
        <p:nvPicPr>
          <p:cNvPr id="1029" name="Picture 5" descr="http://idcsolutions.com.au/wp-content/uploads/2012/02/pu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132856"/>
            <a:ext cx="4057001" cy="34563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788024" y="1916832"/>
            <a:ext cx="4230882" cy="1938992"/>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spAutoFit/>
          </a:bodyPr>
          <a:lstStyle/>
          <a:p>
            <a:pPr algn="ctr"/>
            <a:endParaRPr lang="en-US" sz="1400" dirty="0" smtClean="0">
              <a:solidFill>
                <a:schemeClr val="bg2"/>
              </a:solidFill>
            </a:endParaRPr>
          </a:p>
          <a:p>
            <a:pPr algn="ctr"/>
            <a:r>
              <a:rPr lang="en-US" sz="1400" dirty="0" smtClean="0">
                <a:solidFill>
                  <a:schemeClr val="bg2"/>
                </a:solidFill>
              </a:rPr>
              <a:t>A </a:t>
            </a:r>
            <a:r>
              <a:rPr lang="en-US" sz="1400" b="1" dirty="0">
                <a:solidFill>
                  <a:schemeClr val="bg2"/>
                </a:solidFill>
              </a:rPr>
              <a:t>PUE</a:t>
            </a:r>
            <a:r>
              <a:rPr lang="en-US" sz="1400" dirty="0">
                <a:solidFill>
                  <a:schemeClr val="bg2"/>
                </a:solidFill>
              </a:rPr>
              <a:t> of </a:t>
            </a:r>
            <a:r>
              <a:rPr lang="en-US" sz="1400" b="1" dirty="0">
                <a:solidFill>
                  <a:schemeClr val="bg2"/>
                </a:solidFill>
              </a:rPr>
              <a:t>2.0</a:t>
            </a:r>
            <a:r>
              <a:rPr lang="en-US" sz="1400" dirty="0">
                <a:solidFill>
                  <a:schemeClr val="bg2"/>
                </a:solidFill>
              </a:rPr>
              <a:t> means that for every watt of IT power, an additional watt is consumed to cool and distribute power to the IT equipment. </a:t>
            </a:r>
            <a:endParaRPr lang="en-US" sz="1400" dirty="0" smtClean="0">
              <a:solidFill>
                <a:schemeClr val="bg2"/>
              </a:solidFill>
            </a:endParaRPr>
          </a:p>
          <a:p>
            <a:pPr algn="ctr"/>
            <a:endParaRPr lang="it-IT" sz="1400" dirty="0">
              <a:solidFill>
                <a:schemeClr val="bg2"/>
              </a:solidFill>
            </a:endParaRPr>
          </a:p>
          <a:p>
            <a:pPr algn="ctr"/>
            <a:r>
              <a:rPr lang="en-US" sz="1400" dirty="0">
                <a:solidFill>
                  <a:schemeClr val="bg2"/>
                </a:solidFill>
              </a:rPr>
              <a:t>An </a:t>
            </a:r>
            <a:r>
              <a:rPr lang="en-US" sz="1400" b="1" dirty="0">
                <a:solidFill>
                  <a:schemeClr val="bg2"/>
                </a:solidFill>
              </a:rPr>
              <a:t>ideal PUE </a:t>
            </a:r>
            <a:r>
              <a:rPr lang="en-US" sz="1400" dirty="0">
                <a:solidFill>
                  <a:schemeClr val="bg2"/>
                </a:solidFill>
              </a:rPr>
              <a:t>would be 1.0, meaning all the power brought to the data center is used for </a:t>
            </a:r>
            <a:r>
              <a:rPr lang="en-US" sz="1400" dirty="0" smtClean="0">
                <a:solidFill>
                  <a:schemeClr val="bg2"/>
                </a:solidFill>
              </a:rPr>
              <a:t>computing</a:t>
            </a:r>
          </a:p>
          <a:p>
            <a:pPr algn="ctr"/>
            <a:endParaRPr lang="it-IT" sz="1400" dirty="0" smtClean="0">
              <a:solidFill>
                <a:schemeClr val="bg2"/>
              </a:solidFill>
            </a:endParaRPr>
          </a:p>
        </p:txBody>
      </p:sp>
      <p:grpSp>
        <p:nvGrpSpPr>
          <p:cNvPr id="10" name="Group 9"/>
          <p:cNvGrpSpPr/>
          <p:nvPr/>
        </p:nvGrpSpPr>
        <p:grpSpPr>
          <a:xfrm>
            <a:off x="4411648" y="4005064"/>
            <a:ext cx="4607257" cy="2131893"/>
            <a:chOff x="4411648" y="4005064"/>
            <a:chExt cx="4607257" cy="2131893"/>
          </a:xfrm>
        </p:grpSpPr>
        <p:pic>
          <p:nvPicPr>
            <p:cNvPr id="6" name="Picture 2" descr="Data center P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1648" y="4005064"/>
              <a:ext cx="4607257" cy="21318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6886780" y="4653136"/>
              <a:ext cx="1655777" cy="295298"/>
            </a:xfrm>
            <a:prstGeom prst="rect">
              <a:avLst/>
            </a:prstGeom>
          </p:spPr>
        </p:pic>
      </p:grpSp>
    </p:spTree>
    <p:extLst>
      <p:ext uri="{BB962C8B-B14F-4D97-AF65-F5344CB8AC3E}">
        <p14:creationId xmlns:p14="http://schemas.microsoft.com/office/powerpoint/2010/main" val="1247186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Overview</a:t>
            </a:r>
            <a:r>
              <a:rPr lang="it-IT" dirty="0" smtClean="0"/>
              <a:t/>
            </a:r>
            <a:br>
              <a:rPr lang="it-IT" dirty="0" smtClean="0"/>
            </a:br>
            <a:r>
              <a:rPr lang="it-IT" dirty="0" smtClean="0"/>
              <a:t>Data Center - Consumption</a:t>
            </a:r>
            <a:endParaRPr lang="en-US" dirty="0"/>
          </a:p>
        </p:txBody>
      </p:sp>
      <p:grpSp>
        <p:nvGrpSpPr>
          <p:cNvPr id="6" name="Group 5"/>
          <p:cNvGrpSpPr>
            <a:grpSpLocks noChangeAspect="1"/>
          </p:cNvGrpSpPr>
          <p:nvPr/>
        </p:nvGrpSpPr>
        <p:grpSpPr>
          <a:xfrm>
            <a:off x="1327248" y="1484784"/>
            <a:ext cx="6489504" cy="3475622"/>
            <a:chOff x="1259632" y="1416836"/>
            <a:chExt cx="4983336" cy="2668954"/>
          </a:xfrm>
        </p:grpSpPr>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416836"/>
              <a:ext cx="4983336" cy="2668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2555776" y="2598567"/>
              <a:ext cx="1872208" cy="495912"/>
            </a:xfrm>
            <a:prstGeom prst="ellipse">
              <a:avLst/>
            </a:prstGeom>
            <a:noFill/>
            <a:ln w="34925">
              <a:solidFill>
                <a:srgbClr val="FFFF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087755" y="2909813"/>
              <a:ext cx="856004" cy="184666"/>
            </a:xfrm>
            <a:prstGeom prst="rect">
              <a:avLst/>
            </a:prstGeom>
            <a:noFill/>
            <a:effectLst>
              <a:outerShdw blurRad="50800" dist="38100" algn="l" rotWithShape="0">
                <a:prstClr val="black">
                  <a:alpha val="40000"/>
                </a:prstClr>
              </a:outerShdw>
            </a:effectLst>
            <a:scene3d>
              <a:camera prst="orthographicFront"/>
              <a:lightRig rig="threePt" dir="t"/>
            </a:scene3d>
            <a:sp3d>
              <a:bevelT w="165100" prst="coolSlant"/>
            </a:sp3d>
          </p:spPr>
          <p:txBody>
            <a:bodyPr wrap="none" lIns="0" tIns="0" rIns="0" bIns="0" rtlCol="0">
              <a:spAutoFit/>
            </a:bodyPr>
            <a:lstStyle/>
            <a:p>
              <a:pPr algn="ctr"/>
              <a:r>
                <a:rPr lang="it-IT" sz="1200" b="1" i="1" dirty="0" smtClean="0">
                  <a:solidFill>
                    <a:srgbClr val="C00000"/>
                  </a:solidFill>
                </a:rPr>
                <a:t>PUE = 3.3</a:t>
              </a:r>
              <a:endParaRPr lang="en-US" sz="1200" b="1" i="1" dirty="0" smtClean="0">
                <a:solidFill>
                  <a:srgbClr val="C00000"/>
                </a:solidFill>
              </a:endParaRPr>
            </a:p>
          </p:txBody>
        </p:sp>
      </p:grpSp>
      <p:grpSp>
        <p:nvGrpSpPr>
          <p:cNvPr id="8" name="Group 7"/>
          <p:cNvGrpSpPr/>
          <p:nvPr/>
        </p:nvGrpSpPr>
        <p:grpSpPr>
          <a:xfrm>
            <a:off x="2680371" y="5218167"/>
            <a:ext cx="3748677" cy="731113"/>
            <a:chOff x="2680371" y="5218167"/>
            <a:chExt cx="3748677" cy="731113"/>
          </a:xfrm>
        </p:grpSpPr>
        <p:sp>
          <p:nvSpPr>
            <p:cNvPr id="13" name="TextBox 12"/>
            <p:cNvSpPr txBox="1"/>
            <p:nvPr/>
          </p:nvSpPr>
          <p:spPr>
            <a:xfrm>
              <a:off x="3012621" y="5303843"/>
              <a:ext cx="3084178" cy="276999"/>
            </a:xfrm>
            <a:prstGeom prst="rect">
              <a:avLst/>
            </a:prstGeom>
            <a:noFill/>
          </p:spPr>
          <p:txBody>
            <a:bodyPr wrap="none" lIns="0" tIns="0" rIns="0" bIns="0" rtlCol="0">
              <a:spAutoFit/>
            </a:bodyPr>
            <a:lstStyle/>
            <a:p>
              <a:pPr algn="ctr"/>
              <a:r>
                <a:rPr lang="it-IT" i="1" dirty="0" smtClean="0"/>
                <a:t>IT </a:t>
              </a:r>
              <a:r>
                <a:rPr lang="it-IT" i="1" dirty="0" err="1" smtClean="0"/>
                <a:t>Equipment</a:t>
              </a:r>
              <a:r>
                <a:rPr lang="it-IT" i="1" dirty="0" smtClean="0"/>
                <a:t>  53% - 59%</a:t>
              </a:r>
            </a:p>
          </p:txBody>
        </p:sp>
        <p:sp>
          <p:nvSpPr>
            <p:cNvPr id="14" name="TextBox 13"/>
            <p:cNvSpPr txBox="1"/>
            <p:nvPr/>
          </p:nvSpPr>
          <p:spPr>
            <a:xfrm>
              <a:off x="3584893" y="5610550"/>
              <a:ext cx="1939634" cy="246221"/>
            </a:xfrm>
            <a:prstGeom prst="rect">
              <a:avLst/>
            </a:prstGeom>
            <a:noFill/>
            <a:effectLst>
              <a:outerShdw blurRad="50800" dist="38100" algn="l" rotWithShape="0">
                <a:prstClr val="black">
                  <a:alpha val="40000"/>
                </a:prstClr>
              </a:outerShdw>
            </a:effectLst>
            <a:scene3d>
              <a:camera prst="orthographicFront"/>
              <a:lightRig rig="threePt" dir="t"/>
            </a:scene3d>
            <a:sp3d>
              <a:bevelT w="165100" prst="coolSlant"/>
            </a:sp3d>
          </p:spPr>
          <p:txBody>
            <a:bodyPr wrap="none" lIns="0" tIns="0" rIns="0" bIns="0" rtlCol="0">
              <a:spAutoFit/>
            </a:bodyPr>
            <a:lstStyle/>
            <a:p>
              <a:pPr algn="ctr"/>
              <a:r>
                <a:rPr lang="it-IT" sz="1600" b="1" i="1" dirty="0" smtClean="0">
                  <a:solidFill>
                    <a:schemeClr val="accent2">
                      <a:lumMod val="75000"/>
                    </a:schemeClr>
                  </a:solidFill>
                </a:rPr>
                <a:t>PUE = 1.89 – 1.7</a:t>
              </a:r>
              <a:endParaRPr lang="en-US" sz="1600" b="1" i="1" dirty="0" smtClean="0">
                <a:solidFill>
                  <a:schemeClr val="accent2">
                    <a:lumMod val="75000"/>
                  </a:schemeClr>
                </a:solidFill>
              </a:endParaRPr>
            </a:p>
          </p:txBody>
        </p:sp>
        <p:sp>
          <p:nvSpPr>
            <p:cNvPr id="20" name="Rounded Rectangle 19"/>
            <p:cNvSpPr/>
            <p:nvPr/>
          </p:nvSpPr>
          <p:spPr>
            <a:xfrm>
              <a:off x="2680371" y="5218167"/>
              <a:ext cx="3748677" cy="731113"/>
            </a:xfrm>
            <a:prstGeom prst="round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657089" y="5476001"/>
            <a:ext cx="758221" cy="215444"/>
          </a:xfrm>
          <a:prstGeom prst="rect">
            <a:avLst/>
          </a:prstGeom>
          <a:noFill/>
        </p:spPr>
        <p:txBody>
          <a:bodyPr wrap="none" lIns="0" tIns="0" rIns="0" bIns="0" rtlCol="0">
            <a:spAutoFit/>
          </a:bodyPr>
          <a:lstStyle/>
          <a:p>
            <a:pPr algn="ctr"/>
            <a:r>
              <a:rPr lang="it-IT" sz="1400" i="1" dirty="0" err="1" smtClean="0">
                <a:solidFill>
                  <a:schemeClr val="bg2"/>
                </a:solidFill>
              </a:rPr>
              <a:t>Today</a:t>
            </a:r>
            <a:r>
              <a:rPr lang="it-IT" sz="1400" i="1" dirty="0" smtClean="0">
                <a:solidFill>
                  <a:schemeClr val="bg2"/>
                </a:solidFill>
              </a:rPr>
              <a:t>….</a:t>
            </a:r>
            <a:endParaRPr lang="en-US" sz="1400" i="1" dirty="0" smtClean="0">
              <a:solidFill>
                <a:schemeClr val="bg2"/>
              </a:solidFill>
            </a:endParaRPr>
          </a:p>
        </p:txBody>
      </p:sp>
    </p:spTree>
    <p:extLst>
      <p:ext uri="{BB962C8B-B14F-4D97-AF65-F5344CB8AC3E}">
        <p14:creationId xmlns:p14="http://schemas.microsoft.com/office/powerpoint/2010/main" val="3226436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Overview</a:t>
            </a:r>
            <a:r>
              <a:rPr lang="it-IT" dirty="0" smtClean="0"/>
              <a:t/>
            </a:r>
            <a:br>
              <a:rPr lang="it-IT" dirty="0" smtClean="0"/>
            </a:br>
            <a:r>
              <a:rPr lang="it-IT" dirty="0" smtClean="0"/>
              <a:t>Data Center - Strategies</a:t>
            </a:r>
            <a:endParaRPr lang="en-US" dirty="0"/>
          </a:p>
        </p:txBody>
      </p:sp>
      <p:sp>
        <p:nvSpPr>
          <p:cNvPr id="5" name="TextBox 4"/>
          <p:cNvSpPr txBox="1"/>
          <p:nvPr/>
        </p:nvSpPr>
        <p:spPr>
          <a:xfrm>
            <a:off x="323528" y="1340768"/>
            <a:ext cx="8496944" cy="430887"/>
          </a:xfrm>
          <a:prstGeom prst="rect">
            <a:avLst/>
          </a:prstGeom>
          <a:noFill/>
        </p:spPr>
        <p:txBody>
          <a:bodyPr wrap="square" lIns="0" tIns="0" rIns="0" bIns="0" rtlCol="0">
            <a:spAutoFit/>
          </a:bodyPr>
          <a:lstStyle/>
          <a:p>
            <a:r>
              <a:rPr lang="en-US" sz="1400" dirty="0" smtClean="0">
                <a:solidFill>
                  <a:schemeClr val="bg2"/>
                </a:solidFill>
              </a:rPr>
              <a:t>Many </a:t>
            </a:r>
            <a:r>
              <a:rPr lang="en-US" sz="1400" dirty="0">
                <a:solidFill>
                  <a:schemeClr val="bg2"/>
                </a:solidFill>
              </a:rPr>
              <a:t>companies have identified </a:t>
            </a:r>
            <a:r>
              <a:rPr lang="en-US" sz="1400" b="1" dirty="0">
                <a:solidFill>
                  <a:schemeClr val="bg2"/>
                </a:solidFill>
              </a:rPr>
              <a:t>strategic locations </a:t>
            </a:r>
            <a:r>
              <a:rPr lang="en-US" sz="1400" dirty="0">
                <a:solidFill>
                  <a:schemeClr val="bg2"/>
                </a:solidFill>
              </a:rPr>
              <a:t>for their data </a:t>
            </a:r>
            <a:r>
              <a:rPr lang="en-US" sz="1400" dirty="0" smtClean="0">
                <a:solidFill>
                  <a:schemeClr val="bg2"/>
                </a:solidFill>
              </a:rPr>
              <a:t>center in order to take advantage from the </a:t>
            </a:r>
            <a:r>
              <a:rPr lang="en-US" sz="1400" i="1" dirty="0">
                <a:solidFill>
                  <a:srgbClr val="00B050"/>
                </a:solidFill>
              </a:rPr>
              <a:t>environmental characteristics </a:t>
            </a:r>
            <a:r>
              <a:rPr lang="en-US" sz="1400" dirty="0" smtClean="0">
                <a:solidFill>
                  <a:schemeClr val="bg2"/>
                </a:solidFill>
              </a:rPr>
              <a:t>to cool its data </a:t>
            </a:r>
            <a:r>
              <a:rPr lang="en-US" sz="1400" dirty="0">
                <a:solidFill>
                  <a:schemeClr val="bg2"/>
                </a:solidFill>
              </a:rPr>
              <a:t>center </a:t>
            </a:r>
            <a:r>
              <a:rPr lang="en-US" sz="1400" dirty="0" smtClean="0">
                <a:solidFill>
                  <a:schemeClr val="bg2"/>
                </a:solidFill>
              </a:rPr>
              <a:t>or </a:t>
            </a:r>
            <a:r>
              <a:rPr lang="en-US" sz="1400" dirty="0">
                <a:solidFill>
                  <a:schemeClr val="bg2"/>
                </a:solidFill>
              </a:rPr>
              <a:t>to produce </a:t>
            </a:r>
            <a:r>
              <a:rPr lang="en-US" sz="1400" dirty="0" smtClean="0">
                <a:solidFill>
                  <a:schemeClr val="bg2"/>
                </a:solidFill>
              </a:rPr>
              <a:t>energy</a:t>
            </a:r>
          </a:p>
        </p:txBody>
      </p:sp>
      <p:pic>
        <p:nvPicPr>
          <p:cNvPr id="3074" name="Picture 2" descr="http://mondayblogger.com/wp-content/uploads/2016/02/microsoft-dives-underwater-to-build-a-cool-data-center-563x35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823" y="1926937"/>
            <a:ext cx="4432387" cy="27791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bsc.es/media/394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5839" y="1926937"/>
            <a:ext cx="4168649" cy="27790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696210" y="4861320"/>
            <a:ext cx="4268278" cy="923330"/>
          </a:xfrm>
          <a:prstGeom prst="rect">
            <a:avLst/>
          </a:prstGeom>
        </p:spPr>
        <p:txBody>
          <a:bodyPr wrap="square">
            <a:spAutoFit/>
          </a:bodyPr>
          <a:lstStyle/>
          <a:p>
            <a:r>
              <a:rPr lang="en-US" sz="900" dirty="0" smtClean="0">
                <a:solidFill>
                  <a:schemeClr val="bg2"/>
                </a:solidFill>
              </a:rPr>
              <a:t>The </a:t>
            </a:r>
            <a:r>
              <a:rPr lang="en-US" sz="900" dirty="0">
                <a:solidFill>
                  <a:schemeClr val="bg2"/>
                </a:solidFill>
              </a:rPr>
              <a:t>Barcelona Supercomputing Center (BSC) - Centro Nacional de </a:t>
            </a:r>
            <a:r>
              <a:rPr lang="en-US" sz="900" dirty="0" err="1">
                <a:solidFill>
                  <a:schemeClr val="bg2"/>
                </a:solidFill>
              </a:rPr>
              <a:t>Supercomputación</a:t>
            </a:r>
            <a:r>
              <a:rPr lang="en-US" sz="900" dirty="0">
                <a:solidFill>
                  <a:schemeClr val="bg2"/>
                </a:solidFill>
              </a:rPr>
              <a:t> is a public research center located in Barcelona, Catalonia, Spain. It hosts </a:t>
            </a:r>
            <a:r>
              <a:rPr lang="en-US" sz="900" dirty="0" err="1">
                <a:solidFill>
                  <a:schemeClr val="bg2"/>
                </a:solidFill>
              </a:rPr>
              <a:t>MareNostrum</a:t>
            </a:r>
            <a:r>
              <a:rPr lang="en-US" sz="900" dirty="0">
                <a:solidFill>
                  <a:schemeClr val="bg2"/>
                </a:solidFill>
              </a:rPr>
              <a:t>, a </a:t>
            </a:r>
            <a:r>
              <a:rPr lang="en-US" sz="900" dirty="0" smtClean="0">
                <a:solidFill>
                  <a:schemeClr val="bg2"/>
                </a:solidFill>
              </a:rPr>
              <a:t>1M </a:t>
            </a:r>
            <a:r>
              <a:rPr lang="en-US" sz="900" dirty="0">
                <a:solidFill>
                  <a:schemeClr val="bg2"/>
                </a:solidFill>
              </a:rPr>
              <a:t>TFLOPS </a:t>
            </a:r>
            <a:r>
              <a:rPr lang="en-US" sz="900" dirty="0" smtClean="0">
                <a:solidFill>
                  <a:schemeClr val="bg2"/>
                </a:solidFill>
              </a:rPr>
              <a:t>that</a:t>
            </a:r>
            <a:r>
              <a:rPr lang="en-US" sz="900" dirty="0">
                <a:solidFill>
                  <a:schemeClr val="bg2"/>
                </a:solidFill>
              </a:rPr>
              <a:t>, in November 2015, ranked 93rd in the world</a:t>
            </a:r>
            <a:r>
              <a:rPr lang="en-US" sz="900" dirty="0" smtClean="0">
                <a:solidFill>
                  <a:schemeClr val="bg2"/>
                </a:solidFill>
              </a:rPr>
              <a:t>.</a:t>
            </a:r>
            <a:endParaRPr lang="en-US" sz="900" dirty="0">
              <a:solidFill>
                <a:schemeClr val="bg2"/>
              </a:solidFill>
            </a:endParaRPr>
          </a:p>
          <a:p>
            <a:r>
              <a:rPr lang="en-US" sz="900" dirty="0" smtClean="0">
                <a:solidFill>
                  <a:schemeClr val="bg2"/>
                </a:solidFill>
              </a:rPr>
              <a:t>The </a:t>
            </a:r>
            <a:r>
              <a:rPr lang="en-US" sz="900" dirty="0" err="1">
                <a:solidFill>
                  <a:schemeClr val="bg2"/>
                </a:solidFill>
              </a:rPr>
              <a:t>MareNostrum</a:t>
            </a:r>
            <a:r>
              <a:rPr lang="en-US" sz="900" dirty="0">
                <a:solidFill>
                  <a:schemeClr val="bg2"/>
                </a:solidFill>
              </a:rPr>
              <a:t> supercomputer is contained inside an enormous glass box in a former </a:t>
            </a:r>
            <a:r>
              <a:rPr lang="en-US" sz="900" dirty="0" err="1">
                <a:solidFill>
                  <a:schemeClr val="bg2"/>
                </a:solidFill>
              </a:rPr>
              <a:t>chapell</a:t>
            </a:r>
            <a:r>
              <a:rPr lang="en-US" sz="900" dirty="0">
                <a:solidFill>
                  <a:schemeClr val="bg2"/>
                </a:solidFill>
              </a:rPr>
              <a:t>.</a:t>
            </a:r>
            <a:endParaRPr lang="it-IT" sz="900" dirty="0">
              <a:solidFill>
                <a:schemeClr val="bg2"/>
              </a:solidFill>
            </a:endParaRPr>
          </a:p>
        </p:txBody>
      </p:sp>
      <p:sp>
        <p:nvSpPr>
          <p:cNvPr id="10" name="Rectangle 9"/>
          <p:cNvSpPr/>
          <p:nvPr/>
        </p:nvSpPr>
        <p:spPr>
          <a:xfrm>
            <a:off x="263822" y="4861320"/>
            <a:ext cx="4432387" cy="230832"/>
          </a:xfrm>
          <a:prstGeom prst="rect">
            <a:avLst/>
          </a:prstGeom>
        </p:spPr>
        <p:txBody>
          <a:bodyPr wrap="square">
            <a:spAutoFit/>
          </a:bodyPr>
          <a:lstStyle/>
          <a:p>
            <a:r>
              <a:rPr lang="en-US" sz="900" dirty="0">
                <a:solidFill>
                  <a:schemeClr val="bg2"/>
                </a:solidFill>
              </a:rPr>
              <a:t>http://natick.research.microsoft.com/</a:t>
            </a:r>
            <a:endParaRPr lang="it-IT" sz="900" dirty="0">
              <a:solidFill>
                <a:schemeClr val="bg2"/>
              </a:solidFill>
            </a:endParaRPr>
          </a:p>
        </p:txBody>
      </p:sp>
    </p:spTree>
    <p:extLst>
      <p:ext uri="{BB962C8B-B14F-4D97-AF65-F5344CB8AC3E}">
        <p14:creationId xmlns:p14="http://schemas.microsoft.com/office/powerpoint/2010/main" val="409655806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Overview</a:t>
            </a:r>
            <a:r>
              <a:rPr lang="it-IT" dirty="0" smtClean="0"/>
              <a:t/>
            </a:r>
            <a:br>
              <a:rPr lang="it-IT" dirty="0" smtClean="0"/>
            </a:br>
            <a:r>
              <a:rPr lang="it-IT" dirty="0" smtClean="0"/>
              <a:t>Data Center - Strategies</a:t>
            </a:r>
            <a:endParaRPr lang="en-US" dirty="0"/>
          </a:p>
        </p:txBody>
      </p:sp>
      <p:pic>
        <p:nvPicPr>
          <p:cNvPr id="9" name="Picture 8"/>
          <p:cNvPicPr>
            <a:picLocks noChangeAspect="1"/>
          </p:cNvPicPr>
          <p:nvPr/>
        </p:nvPicPr>
        <p:blipFill rotWithShape="1">
          <a:blip r:embed="rId2"/>
          <a:srcRect l="6410" r="21795"/>
          <a:stretch/>
        </p:blipFill>
        <p:spPr>
          <a:xfrm>
            <a:off x="2555776" y="1628800"/>
            <a:ext cx="4032448" cy="3919709"/>
          </a:xfrm>
          <a:prstGeom prst="rect">
            <a:avLst/>
          </a:prstGeom>
        </p:spPr>
      </p:pic>
      <p:sp>
        <p:nvSpPr>
          <p:cNvPr id="13" name="TextBox 12"/>
          <p:cNvSpPr txBox="1"/>
          <p:nvPr/>
        </p:nvSpPr>
        <p:spPr>
          <a:xfrm>
            <a:off x="4951314" y="2564904"/>
            <a:ext cx="613951" cy="276999"/>
          </a:xfrm>
          <a:prstGeom prst="rect">
            <a:avLst/>
          </a:prstGeom>
          <a:solidFill>
            <a:schemeClr val="bg1"/>
          </a:solidFill>
        </p:spPr>
        <p:txBody>
          <a:bodyPr wrap="none" lIns="0" tIns="0" rIns="0" bIns="0" rtlCol="0">
            <a:spAutoFit/>
          </a:bodyPr>
          <a:lstStyle/>
          <a:p>
            <a:pPr algn="ctr"/>
            <a:r>
              <a:rPr lang="it-IT" dirty="0" smtClean="0">
                <a:solidFill>
                  <a:schemeClr val="bg2"/>
                </a:solidFill>
              </a:rPr>
              <a:t>Lulea</a:t>
            </a:r>
          </a:p>
        </p:txBody>
      </p:sp>
      <p:sp>
        <p:nvSpPr>
          <p:cNvPr id="19" name="TextBox 18"/>
          <p:cNvSpPr txBox="1"/>
          <p:nvPr/>
        </p:nvSpPr>
        <p:spPr>
          <a:xfrm>
            <a:off x="5565265" y="3918206"/>
            <a:ext cx="883255" cy="276999"/>
          </a:xfrm>
          <a:prstGeom prst="rect">
            <a:avLst/>
          </a:prstGeom>
          <a:solidFill>
            <a:schemeClr val="bg1"/>
          </a:solidFill>
        </p:spPr>
        <p:txBody>
          <a:bodyPr wrap="none" lIns="0" tIns="0" rIns="0" bIns="0" rtlCol="0">
            <a:spAutoFit/>
          </a:bodyPr>
          <a:lstStyle/>
          <a:p>
            <a:pPr algn="ctr"/>
            <a:r>
              <a:rPr lang="it-IT" dirty="0" err="1" smtClean="0">
                <a:solidFill>
                  <a:schemeClr val="bg2"/>
                </a:solidFill>
              </a:rPr>
              <a:t>Hamina</a:t>
            </a:r>
            <a:endParaRPr lang="it-IT" dirty="0" smtClean="0">
              <a:solidFill>
                <a:schemeClr val="bg2"/>
              </a:solidFill>
            </a:endParaRPr>
          </a:p>
        </p:txBody>
      </p:sp>
      <p:pic>
        <p:nvPicPr>
          <p:cNvPr id="2050" name="Picture 2" descr="https://www.google.ie/images/nav_logo242.png"/>
          <p:cNvPicPr>
            <a:picLocks noChangeAspect="1" noChangeArrowheads="1"/>
          </p:cNvPicPr>
          <p:nvPr/>
        </p:nvPicPr>
        <p:blipFill rotWithShape="1">
          <a:blip r:embed="rId3">
            <a:extLst>
              <a:ext uri="{28A0092B-C50C-407E-A947-70E740481C1C}">
                <a14:useLocalDpi xmlns:a14="http://schemas.microsoft.com/office/drawing/2010/main" val="0"/>
              </a:ext>
            </a:extLst>
          </a:blip>
          <a:srcRect l="13580" r="13990" b="90780"/>
          <a:stretch/>
        </p:blipFill>
        <p:spPr bwMode="auto">
          <a:xfrm>
            <a:off x="7181646" y="1684788"/>
            <a:ext cx="1152129" cy="36004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files.unavoceperdomani-it.webnode.it/200000003-067e9077af/Logo-Facebook.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581" y="1626683"/>
            <a:ext cx="1295400" cy="47625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6738135" y="2102933"/>
            <a:ext cx="2039153" cy="276999"/>
          </a:xfrm>
          <a:prstGeom prst="rect">
            <a:avLst/>
          </a:prstGeom>
          <a:noFill/>
        </p:spPr>
        <p:txBody>
          <a:bodyPr wrap="square" lIns="0" tIns="0" rIns="0" bIns="0" rtlCol="0">
            <a:spAutoFit/>
          </a:bodyPr>
          <a:lstStyle/>
          <a:p>
            <a:pPr algn="ctr"/>
            <a:r>
              <a:rPr lang="it-IT" b="1" dirty="0" smtClean="0">
                <a:ln w="1905"/>
                <a:solidFill>
                  <a:srgbClr val="00B050"/>
                </a:solidFill>
                <a:effectLst>
                  <a:innerShdw blurRad="69850" dist="43180" dir="5400000">
                    <a:srgbClr val="000000">
                      <a:alpha val="65000"/>
                    </a:srgbClr>
                  </a:innerShdw>
                </a:effectLst>
              </a:rPr>
              <a:t>PUE = 1.12</a:t>
            </a:r>
            <a:endParaRPr lang="en-US" b="1" dirty="0" smtClean="0">
              <a:ln w="1905"/>
              <a:solidFill>
                <a:srgbClr val="00B050"/>
              </a:solidFill>
              <a:effectLst>
                <a:innerShdw blurRad="69850" dist="43180" dir="5400000">
                  <a:srgbClr val="000000">
                    <a:alpha val="65000"/>
                  </a:srgbClr>
                </a:innerShdw>
              </a:effectLst>
            </a:endParaRPr>
          </a:p>
        </p:txBody>
      </p:sp>
      <p:sp>
        <p:nvSpPr>
          <p:cNvPr id="23" name="TextBox 22"/>
          <p:cNvSpPr txBox="1"/>
          <p:nvPr/>
        </p:nvSpPr>
        <p:spPr>
          <a:xfrm>
            <a:off x="338705" y="2102933"/>
            <a:ext cx="2039153" cy="276999"/>
          </a:xfrm>
          <a:prstGeom prst="rect">
            <a:avLst/>
          </a:prstGeom>
          <a:noFill/>
        </p:spPr>
        <p:txBody>
          <a:bodyPr wrap="square" lIns="0" tIns="0" rIns="0" bIns="0" rtlCol="0">
            <a:spAutoFit/>
          </a:bodyPr>
          <a:lstStyle/>
          <a:p>
            <a:pPr algn="ctr"/>
            <a:r>
              <a:rPr lang="it-IT" b="1" dirty="0" smtClean="0">
                <a:ln w="1905"/>
                <a:solidFill>
                  <a:srgbClr val="00B050"/>
                </a:solidFill>
                <a:effectLst>
                  <a:innerShdw blurRad="69850" dist="43180" dir="5400000">
                    <a:srgbClr val="000000">
                      <a:alpha val="65000"/>
                    </a:srgbClr>
                  </a:innerShdw>
                </a:effectLst>
              </a:rPr>
              <a:t>PUE = 1.08</a:t>
            </a:r>
            <a:endParaRPr lang="en-US" b="1" dirty="0" smtClean="0">
              <a:ln w="1905"/>
              <a:solidFill>
                <a:srgbClr val="00B050"/>
              </a:solidFill>
              <a:effectLst>
                <a:innerShdw blurRad="69850" dist="43180" dir="5400000">
                  <a:srgbClr val="000000">
                    <a:alpha val="65000"/>
                  </a:srgbClr>
                </a:innerShdw>
              </a:effectLst>
            </a:endParaRPr>
          </a:p>
        </p:txBody>
      </p:sp>
      <p:sp>
        <p:nvSpPr>
          <p:cNvPr id="24" name="TextBox 23"/>
          <p:cNvSpPr txBox="1"/>
          <p:nvPr/>
        </p:nvSpPr>
        <p:spPr>
          <a:xfrm>
            <a:off x="6918176" y="3573016"/>
            <a:ext cx="1859112" cy="1592744"/>
          </a:xfrm>
          <a:prstGeom prst="rect">
            <a:avLst/>
          </a:prstGeom>
          <a:noFill/>
        </p:spPr>
        <p:txBody>
          <a:bodyPr wrap="square" lIns="0" tIns="0" rIns="0" bIns="0" rtlCol="0">
            <a:spAutoFit/>
          </a:bodyPr>
          <a:lstStyle/>
          <a:p>
            <a:r>
              <a:rPr lang="it-IT" sz="1200" dirty="0">
                <a:solidFill>
                  <a:schemeClr val="bg2"/>
                </a:solidFill>
              </a:rPr>
              <a:t>Google has built a data center </a:t>
            </a:r>
            <a:r>
              <a:rPr lang="en-US" sz="1200" dirty="0">
                <a:solidFill>
                  <a:schemeClr val="bg2"/>
                </a:solidFill>
              </a:rPr>
              <a:t>entirely </a:t>
            </a:r>
            <a:r>
              <a:rPr lang="en-US" sz="1200" b="1" dirty="0">
                <a:solidFill>
                  <a:schemeClr val="bg2"/>
                </a:solidFill>
              </a:rPr>
              <a:t>cooled with sea water</a:t>
            </a:r>
            <a:r>
              <a:rPr lang="en-US" sz="1200" dirty="0">
                <a:solidFill>
                  <a:schemeClr val="bg2"/>
                </a:solidFill>
              </a:rPr>
              <a:t> </a:t>
            </a:r>
            <a:r>
              <a:rPr lang="it-IT" sz="1200" dirty="0">
                <a:solidFill>
                  <a:schemeClr val="bg2"/>
                </a:solidFill>
              </a:rPr>
              <a:t>in Hamina, Gulf of </a:t>
            </a:r>
            <a:r>
              <a:rPr lang="it-IT" sz="1200" dirty="0" err="1" smtClean="0">
                <a:solidFill>
                  <a:schemeClr val="bg2"/>
                </a:solidFill>
              </a:rPr>
              <a:t>Finland</a:t>
            </a:r>
            <a:endParaRPr lang="it-IT" sz="1200" dirty="0" smtClean="0">
              <a:solidFill>
                <a:schemeClr val="bg2"/>
              </a:solidFill>
            </a:endParaRPr>
          </a:p>
          <a:p>
            <a:endParaRPr lang="it-IT" sz="1200" dirty="0">
              <a:solidFill>
                <a:schemeClr val="bg2"/>
              </a:solidFill>
            </a:endParaRPr>
          </a:p>
          <a:p>
            <a:pPr marL="171450" lvl="0" indent="-171450">
              <a:buFont typeface="Wingdings" panose="05000000000000000000" pitchFamily="2" charset="2"/>
              <a:buChar char="§"/>
            </a:pPr>
            <a:r>
              <a:rPr lang="en-US" sz="1050" dirty="0">
                <a:solidFill>
                  <a:srgbClr val="4D4D4D"/>
                </a:solidFill>
              </a:rPr>
              <a:t>using the icy </a:t>
            </a:r>
            <a:r>
              <a:rPr lang="en-US" sz="1050" dirty="0" smtClean="0">
                <a:solidFill>
                  <a:srgbClr val="4D4D4D"/>
                </a:solidFill>
              </a:rPr>
              <a:t>water </a:t>
            </a:r>
            <a:r>
              <a:rPr lang="en-US" sz="1050" dirty="0">
                <a:solidFill>
                  <a:srgbClr val="4D4D4D"/>
                </a:solidFill>
              </a:rPr>
              <a:t>to cool the </a:t>
            </a:r>
            <a:r>
              <a:rPr lang="en-US" sz="1050" dirty="0" err="1">
                <a:solidFill>
                  <a:srgbClr val="4D4D4D"/>
                </a:solidFill>
              </a:rPr>
              <a:t>datacentre</a:t>
            </a:r>
            <a:r>
              <a:rPr lang="en-US" sz="1050" dirty="0">
                <a:solidFill>
                  <a:srgbClr val="4D4D4D"/>
                </a:solidFill>
              </a:rPr>
              <a:t> hardware </a:t>
            </a:r>
            <a:r>
              <a:rPr lang="en-US" sz="1050" dirty="0" smtClean="0">
                <a:solidFill>
                  <a:srgbClr val="4D4D4D"/>
                </a:solidFill>
              </a:rPr>
              <a:t>(no chiller)</a:t>
            </a:r>
            <a:endParaRPr lang="en-US" sz="1050" dirty="0">
              <a:solidFill>
                <a:srgbClr val="4D4D4D"/>
              </a:solidFill>
            </a:endParaRPr>
          </a:p>
          <a:p>
            <a:endParaRPr lang="en-US" sz="1200" dirty="0">
              <a:solidFill>
                <a:schemeClr val="bg2"/>
              </a:solidFill>
            </a:endParaRPr>
          </a:p>
        </p:txBody>
      </p:sp>
      <p:sp>
        <p:nvSpPr>
          <p:cNvPr id="25" name="TextBox 24"/>
          <p:cNvSpPr txBox="1"/>
          <p:nvPr/>
        </p:nvSpPr>
        <p:spPr>
          <a:xfrm flipH="1">
            <a:off x="338704" y="3573016"/>
            <a:ext cx="2039153" cy="2400657"/>
          </a:xfrm>
          <a:prstGeom prst="rect">
            <a:avLst/>
          </a:prstGeom>
          <a:noFill/>
        </p:spPr>
        <p:txBody>
          <a:bodyPr wrap="square" lIns="0" tIns="0" rIns="0" bIns="0" rtlCol="0">
            <a:spAutoFit/>
          </a:bodyPr>
          <a:lstStyle/>
          <a:p>
            <a:r>
              <a:rPr lang="en-US" sz="1200" dirty="0">
                <a:solidFill>
                  <a:schemeClr val="bg2"/>
                </a:solidFill>
              </a:rPr>
              <a:t>Facebook has built a data center in Lulea, north of the Swiss, 60 miles from the Arctic Circle </a:t>
            </a:r>
            <a:r>
              <a:rPr lang="en-US" sz="1200" b="1" dirty="0">
                <a:solidFill>
                  <a:schemeClr val="bg2"/>
                </a:solidFill>
              </a:rPr>
              <a:t>near the Lulea </a:t>
            </a:r>
            <a:r>
              <a:rPr lang="en-US" sz="1200" b="1" dirty="0" smtClean="0">
                <a:solidFill>
                  <a:schemeClr val="bg2"/>
                </a:solidFill>
              </a:rPr>
              <a:t>river</a:t>
            </a:r>
          </a:p>
          <a:p>
            <a:endParaRPr lang="en-US" sz="1200" b="1" dirty="0">
              <a:solidFill>
                <a:schemeClr val="bg2"/>
              </a:solidFill>
            </a:endParaRPr>
          </a:p>
          <a:p>
            <a:pPr marL="171450" indent="-171450">
              <a:buFont typeface="Wingdings" panose="05000000000000000000" pitchFamily="2" charset="2"/>
              <a:buChar char="§"/>
            </a:pPr>
            <a:r>
              <a:rPr lang="en-US" sz="1050" dirty="0">
                <a:solidFill>
                  <a:schemeClr val="bg2"/>
                </a:solidFill>
              </a:rPr>
              <a:t>reliability of the regional power grid serving the </a:t>
            </a:r>
            <a:r>
              <a:rPr lang="en-US" sz="1050" dirty="0" smtClean="0">
                <a:solidFill>
                  <a:schemeClr val="bg2"/>
                </a:solidFill>
              </a:rPr>
              <a:t>allows to </a:t>
            </a:r>
            <a:r>
              <a:rPr lang="en-US" sz="1050" dirty="0">
                <a:solidFill>
                  <a:schemeClr val="bg2"/>
                </a:solidFill>
              </a:rPr>
              <a:t>use far fewer generators than in its U.S. </a:t>
            </a:r>
            <a:r>
              <a:rPr lang="en-US" sz="1050" dirty="0" smtClean="0">
                <a:solidFill>
                  <a:schemeClr val="bg2"/>
                </a:solidFill>
              </a:rPr>
              <a:t>facilities (-70%)</a:t>
            </a:r>
          </a:p>
          <a:p>
            <a:pPr marL="171450" indent="-171450">
              <a:buFont typeface="Wingdings" panose="05000000000000000000" pitchFamily="2" charset="2"/>
              <a:buChar char="§"/>
            </a:pPr>
            <a:r>
              <a:rPr lang="en-US" sz="1050" dirty="0">
                <a:solidFill>
                  <a:schemeClr val="bg2"/>
                </a:solidFill>
              </a:rPr>
              <a:t>using the icy Arctic air to cool the </a:t>
            </a:r>
            <a:r>
              <a:rPr lang="en-US" sz="1050" dirty="0" err="1">
                <a:solidFill>
                  <a:schemeClr val="bg2"/>
                </a:solidFill>
              </a:rPr>
              <a:t>datacentre</a:t>
            </a:r>
            <a:r>
              <a:rPr lang="en-US" sz="1050" dirty="0">
                <a:solidFill>
                  <a:schemeClr val="bg2"/>
                </a:solidFill>
              </a:rPr>
              <a:t> hardware </a:t>
            </a:r>
          </a:p>
        </p:txBody>
      </p:sp>
      <p:pic>
        <p:nvPicPr>
          <p:cNvPr id="26" name="Picture 7" descr="http://www.geeky-gadgets.com/wp-content/uploads/2011/10/facebook-european-data-center.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1030" y="2533286"/>
            <a:ext cx="1770059" cy="9503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5" descr="Google Data Cen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44558" y="2533287"/>
            <a:ext cx="1426306" cy="95038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p:cNvCxnSpPr/>
          <p:nvPr/>
        </p:nvCxnSpPr>
        <p:spPr>
          <a:xfrm>
            <a:off x="2051720" y="1864808"/>
            <a:ext cx="2808312" cy="772104"/>
          </a:xfrm>
          <a:prstGeom prst="straightConnector1">
            <a:avLst/>
          </a:prstGeom>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6028496" y="1864808"/>
            <a:ext cx="1016062" cy="2000807"/>
          </a:xfrm>
          <a:prstGeom prst="straightConnector1">
            <a:avLst/>
          </a:prstGeom>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3973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Overview</a:t>
            </a:r>
            <a:r>
              <a:rPr lang="it-IT" dirty="0" smtClean="0"/>
              <a:t/>
            </a:r>
            <a:br>
              <a:rPr lang="it-IT" dirty="0" smtClean="0"/>
            </a:br>
            <a:r>
              <a:rPr lang="it-IT" dirty="0" smtClean="0"/>
              <a:t>Pratical </a:t>
            </a:r>
            <a:r>
              <a:rPr lang="en-US" dirty="0" smtClean="0"/>
              <a:t>Approaches </a:t>
            </a:r>
            <a:r>
              <a:rPr lang="en-US" dirty="0"/>
              <a:t>to </a:t>
            </a:r>
            <a:r>
              <a:rPr lang="en-US" dirty="0" smtClean="0"/>
              <a:t>Efficient IT</a:t>
            </a:r>
            <a:endParaRPr lang="en-US" dirty="0"/>
          </a:p>
        </p:txBody>
      </p:sp>
      <p:grpSp>
        <p:nvGrpSpPr>
          <p:cNvPr id="49" name="Group 13"/>
          <p:cNvGrpSpPr>
            <a:grpSpLocks/>
          </p:cNvGrpSpPr>
          <p:nvPr/>
        </p:nvGrpSpPr>
        <p:grpSpPr bwMode="auto">
          <a:xfrm>
            <a:off x="381000" y="2445981"/>
            <a:ext cx="4673603" cy="2576513"/>
            <a:chOff x="442" y="2118"/>
            <a:chExt cx="2944" cy="1623"/>
          </a:xfrm>
        </p:grpSpPr>
        <p:sp>
          <p:nvSpPr>
            <p:cNvPr id="50" name="Freeform 8"/>
            <p:cNvSpPr>
              <a:spLocks/>
            </p:cNvSpPr>
            <p:nvPr/>
          </p:nvSpPr>
          <p:spPr bwMode="gray">
            <a:xfrm>
              <a:off x="442" y="2263"/>
              <a:ext cx="1365" cy="1478"/>
            </a:xfrm>
            <a:custGeom>
              <a:avLst/>
              <a:gdLst>
                <a:gd name="T0" fmla="*/ 0 w 1779"/>
                <a:gd name="T1" fmla="*/ 3 h 1577"/>
                <a:gd name="T2" fmla="*/ 2 w 1779"/>
                <a:gd name="T3" fmla="*/ 0 h 1577"/>
                <a:gd name="T4" fmla="*/ 2 w 1779"/>
                <a:gd name="T5" fmla="*/ 5 h 1577"/>
                <a:gd name="T6" fmla="*/ 0 w 1779"/>
                <a:gd name="T7" fmla="*/ 5 h 1577"/>
                <a:gd name="T8" fmla="*/ 0 w 1779"/>
                <a:gd name="T9" fmla="*/ 3 h 1577"/>
                <a:gd name="T10" fmla="*/ 0 60000 65536"/>
                <a:gd name="T11" fmla="*/ 0 60000 65536"/>
                <a:gd name="T12" fmla="*/ 0 60000 65536"/>
                <a:gd name="T13" fmla="*/ 0 60000 65536"/>
                <a:gd name="T14" fmla="*/ 0 60000 65536"/>
                <a:gd name="T15" fmla="*/ 0 w 1779"/>
                <a:gd name="T16" fmla="*/ 0 h 1577"/>
                <a:gd name="T17" fmla="*/ 1779 w 1779"/>
                <a:gd name="T18" fmla="*/ 1577 h 1577"/>
              </a:gdLst>
              <a:ahLst/>
              <a:cxnLst>
                <a:cxn ang="T10">
                  <a:pos x="T0" y="T1"/>
                </a:cxn>
                <a:cxn ang="T11">
                  <a:pos x="T2" y="T3"/>
                </a:cxn>
                <a:cxn ang="T12">
                  <a:pos x="T4" y="T5"/>
                </a:cxn>
                <a:cxn ang="T13">
                  <a:pos x="T6" y="T7"/>
                </a:cxn>
                <a:cxn ang="T14">
                  <a:pos x="T8" y="T9"/>
                </a:cxn>
              </a:cxnLst>
              <a:rect l="T15" t="T16" r="T17" b="T18"/>
              <a:pathLst>
                <a:path w="1779" h="1577">
                  <a:moveTo>
                    <a:pt x="0" y="809"/>
                  </a:moveTo>
                  <a:lnTo>
                    <a:pt x="1779" y="0"/>
                  </a:lnTo>
                  <a:lnTo>
                    <a:pt x="1776" y="1577"/>
                  </a:lnTo>
                  <a:lnTo>
                    <a:pt x="0" y="1577"/>
                  </a:lnTo>
                  <a:lnTo>
                    <a:pt x="0" y="809"/>
                  </a:lnTo>
                  <a:close/>
                </a:path>
              </a:pathLst>
            </a:custGeom>
            <a:solidFill>
              <a:srgbClr val="5274A6">
                <a:alpha val="14902"/>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sp>
          <p:nvSpPr>
            <p:cNvPr id="51" name="Text Box 19">
              <a:hlinkClick r:id="" action="ppaction://noaction"/>
            </p:cNvPr>
            <p:cNvSpPr txBox="1">
              <a:spLocks noChangeArrowheads="1"/>
            </p:cNvSpPr>
            <p:nvPr/>
          </p:nvSpPr>
          <p:spPr bwMode="gray">
            <a:xfrm>
              <a:off x="1851" y="2118"/>
              <a:ext cx="1535" cy="125"/>
            </a:xfrm>
            <a:prstGeom prst="rect">
              <a:avLst/>
            </a:prstGeom>
            <a:noFill/>
            <a:ln w="9525">
              <a:noFill/>
              <a:miter lim="800000"/>
              <a:headEnd/>
              <a:tailEnd/>
            </a:ln>
          </p:spPr>
          <p:txBody>
            <a:bodyPr wrap="none" lIns="0" tIns="0" rIns="0" bIns="0" anchor="ctr">
              <a:spAutoFit/>
            </a:bodyPr>
            <a:lstStyle/>
            <a:p>
              <a:pPr marL="0" marR="0" lvl="0" indent="0" algn="l" defTabSz="914400" eaLnBrk="1" fontAlgn="auto" latinLnBrk="0" hangingPunct="1">
                <a:lnSpc>
                  <a:spcPct val="12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cs typeface="Arial" charset="0"/>
                </a:rPr>
                <a:t>Consolidation (2:1 savings) </a:t>
              </a:r>
            </a:p>
          </p:txBody>
        </p:sp>
        <p:sp>
          <p:nvSpPr>
            <p:cNvPr id="52" name="Line 23"/>
            <p:cNvSpPr>
              <a:spLocks noChangeShapeType="1"/>
            </p:cNvSpPr>
            <p:nvPr/>
          </p:nvSpPr>
          <p:spPr bwMode="gray">
            <a:xfrm flipV="1">
              <a:off x="442" y="2239"/>
              <a:ext cx="1332" cy="811"/>
            </a:xfrm>
            <a:prstGeom prst="line">
              <a:avLst/>
            </a:prstGeom>
            <a:noFill/>
            <a:ln w="28575">
              <a:solidFill>
                <a:srgbClr val="007DC3"/>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grpSp>
      <p:grpSp>
        <p:nvGrpSpPr>
          <p:cNvPr id="53" name="Group 17"/>
          <p:cNvGrpSpPr>
            <a:grpSpLocks/>
          </p:cNvGrpSpPr>
          <p:nvPr/>
        </p:nvGrpSpPr>
        <p:grpSpPr bwMode="auto">
          <a:xfrm>
            <a:off x="381000" y="3109557"/>
            <a:ext cx="5041900" cy="1912938"/>
            <a:chOff x="442" y="2536"/>
            <a:chExt cx="3176" cy="1205"/>
          </a:xfrm>
        </p:grpSpPr>
        <p:sp>
          <p:nvSpPr>
            <p:cNvPr id="54" name="Freeform 9"/>
            <p:cNvSpPr>
              <a:spLocks/>
            </p:cNvSpPr>
            <p:nvPr/>
          </p:nvSpPr>
          <p:spPr bwMode="gray">
            <a:xfrm>
              <a:off x="442" y="2613"/>
              <a:ext cx="1577" cy="1128"/>
            </a:xfrm>
            <a:custGeom>
              <a:avLst/>
              <a:gdLst>
                <a:gd name="T0" fmla="*/ 0 w 1779"/>
                <a:gd name="T1" fmla="*/ 1 h 1254"/>
                <a:gd name="T2" fmla="*/ 12 w 1779"/>
                <a:gd name="T3" fmla="*/ 0 h 1254"/>
                <a:gd name="T4" fmla="*/ 12 w 1779"/>
                <a:gd name="T5" fmla="*/ 4 h 1254"/>
                <a:gd name="T6" fmla="*/ 0 w 1779"/>
                <a:gd name="T7" fmla="*/ 4 h 1254"/>
                <a:gd name="T8" fmla="*/ 0 w 1779"/>
                <a:gd name="T9" fmla="*/ 1 h 1254"/>
                <a:gd name="T10" fmla="*/ 0 60000 65536"/>
                <a:gd name="T11" fmla="*/ 0 60000 65536"/>
                <a:gd name="T12" fmla="*/ 0 60000 65536"/>
                <a:gd name="T13" fmla="*/ 0 60000 65536"/>
                <a:gd name="T14" fmla="*/ 0 60000 65536"/>
                <a:gd name="T15" fmla="*/ 0 w 1779"/>
                <a:gd name="T16" fmla="*/ 0 h 1254"/>
                <a:gd name="T17" fmla="*/ 1779 w 1779"/>
                <a:gd name="T18" fmla="*/ 1254 h 1254"/>
              </a:gdLst>
              <a:ahLst/>
              <a:cxnLst>
                <a:cxn ang="T10">
                  <a:pos x="T0" y="T1"/>
                </a:cxn>
                <a:cxn ang="T11">
                  <a:pos x="T2" y="T3"/>
                </a:cxn>
                <a:cxn ang="T12">
                  <a:pos x="T4" y="T5"/>
                </a:cxn>
                <a:cxn ang="T13">
                  <a:pos x="T6" y="T7"/>
                </a:cxn>
                <a:cxn ang="T14">
                  <a:pos x="T8" y="T9"/>
                </a:cxn>
              </a:cxnLst>
              <a:rect l="T15" t="T16" r="T17" b="T18"/>
              <a:pathLst>
                <a:path w="1779" h="1254">
                  <a:moveTo>
                    <a:pt x="0" y="486"/>
                  </a:moveTo>
                  <a:lnTo>
                    <a:pt x="1779" y="0"/>
                  </a:lnTo>
                  <a:lnTo>
                    <a:pt x="1776" y="1254"/>
                  </a:lnTo>
                  <a:lnTo>
                    <a:pt x="0" y="1254"/>
                  </a:lnTo>
                  <a:lnTo>
                    <a:pt x="0" y="486"/>
                  </a:lnTo>
                  <a:close/>
                </a:path>
              </a:pathLst>
            </a:custGeom>
            <a:solidFill>
              <a:srgbClr val="5274A6">
                <a:alpha val="14902"/>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sp>
          <p:nvSpPr>
            <p:cNvPr id="55" name="Text Box 20">
              <a:hlinkClick r:id="" action="ppaction://noaction"/>
            </p:cNvPr>
            <p:cNvSpPr txBox="1">
              <a:spLocks noChangeArrowheads="1"/>
            </p:cNvSpPr>
            <p:nvPr/>
          </p:nvSpPr>
          <p:spPr bwMode="gray">
            <a:xfrm>
              <a:off x="2085" y="2536"/>
              <a:ext cx="1533" cy="116"/>
            </a:xfrm>
            <a:prstGeom prst="rect">
              <a:avLst/>
            </a:prstGeom>
            <a:noFill/>
            <a:ln w="9525">
              <a:noFill/>
              <a:miter lim="800000"/>
              <a:headEnd/>
              <a:tailEnd/>
            </a:ln>
          </p:spPr>
          <p:txBody>
            <a:bodyPr wrap="non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cs typeface="Arial" charset="0"/>
                </a:rPr>
                <a:t>Tiered Storage (-25 % TCO)</a:t>
              </a:r>
            </a:p>
          </p:txBody>
        </p:sp>
        <p:sp>
          <p:nvSpPr>
            <p:cNvPr id="56" name="Line 24"/>
            <p:cNvSpPr>
              <a:spLocks noChangeShapeType="1"/>
            </p:cNvSpPr>
            <p:nvPr/>
          </p:nvSpPr>
          <p:spPr bwMode="gray">
            <a:xfrm flipV="1">
              <a:off x="442" y="2619"/>
              <a:ext cx="1577" cy="431"/>
            </a:xfrm>
            <a:prstGeom prst="line">
              <a:avLst/>
            </a:prstGeom>
            <a:noFill/>
            <a:ln w="28575">
              <a:solidFill>
                <a:srgbClr val="007DC3"/>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grpSp>
      <p:grpSp>
        <p:nvGrpSpPr>
          <p:cNvPr id="57" name="Group 21"/>
          <p:cNvGrpSpPr>
            <a:grpSpLocks/>
          </p:cNvGrpSpPr>
          <p:nvPr/>
        </p:nvGrpSpPr>
        <p:grpSpPr bwMode="auto">
          <a:xfrm>
            <a:off x="381000" y="3439755"/>
            <a:ext cx="6132513" cy="1592263"/>
            <a:chOff x="442" y="2744"/>
            <a:chExt cx="3863" cy="1003"/>
          </a:xfrm>
        </p:grpSpPr>
        <p:sp>
          <p:nvSpPr>
            <p:cNvPr id="58" name="Freeform 10"/>
            <p:cNvSpPr>
              <a:spLocks/>
            </p:cNvSpPr>
            <p:nvPr/>
          </p:nvSpPr>
          <p:spPr bwMode="gray">
            <a:xfrm>
              <a:off x="442" y="2808"/>
              <a:ext cx="1859" cy="939"/>
            </a:xfrm>
            <a:custGeom>
              <a:avLst/>
              <a:gdLst>
                <a:gd name="T0" fmla="*/ 0 w 1779"/>
                <a:gd name="T1" fmla="*/ 1 h 928"/>
                <a:gd name="T2" fmla="*/ 327 w 1779"/>
                <a:gd name="T3" fmla="*/ 0 h 928"/>
                <a:gd name="T4" fmla="*/ 327 w 1779"/>
                <a:gd name="T5" fmla="*/ 3 h 928"/>
                <a:gd name="T6" fmla="*/ 0 w 1779"/>
                <a:gd name="T7" fmla="*/ 3 h 928"/>
                <a:gd name="T8" fmla="*/ 0 w 1779"/>
                <a:gd name="T9" fmla="*/ 1 h 928"/>
                <a:gd name="T10" fmla="*/ 0 60000 65536"/>
                <a:gd name="T11" fmla="*/ 0 60000 65536"/>
                <a:gd name="T12" fmla="*/ 0 60000 65536"/>
                <a:gd name="T13" fmla="*/ 0 60000 65536"/>
                <a:gd name="T14" fmla="*/ 0 60000 65536"/>
                <a:gd name="T15" fmla="*/ 0 w 1779"/>
                <a:gd name="T16" fmla="*/ 0 h 928"/>
                <a:gd name="T17" fmla="*/ 1779 w 1779"/>
                <a:gd name="T18" fmla="*/ 928 h 928"/>
              </a:gdLst>
              <a:ahLst/>
              <a:cxnLst>
                <a:cxn ang="T10">
                  <a:pos x="T0" y="T1"/>
                </a:cxn>
                <a:cxn ang="T11">
                  <a:pos x="T2" y="T3"/>
                </a:cxn>
                <a:cxn ang="T12">
                  <a:pos x="T4" y="T5"/>
                </a:cxn>
                <a:cxn ang="T13">
                  <a:pos x="T6" y="T7"/>
                </a:cxn>
                <a:cxn ang="T14">
                  <a:pos x="T8" y="T9"/>
                </a:cxn>
              </a:cxnLst>
              <a:rect l="T15" t="T16" r="T17" b="T18"/>
              <a:pathLst>
                <a:path w="1779" h="928">
                  <a:moveTo>
                    <a:pt x="0" y="160"/>
                  </a:moveTo>
                  <a:lnTo>
                    <a:pt x="1779" y="0"/>
                  </a:lnTo>
                  <a:lnTo>
                    <a:pt x="1776" y="928"/>
                  </a:lnTo>
                  <a:lnTo>
                    <a:pt x="0" y="928"/>
                  </a:lnTo>
                  <a:lnTo>
                    <a:pt x="0" y="160"/>
                  </a:lnTo>
                  <a:close/>
                </a:path>
              </a:pathLst>
            </a:custGeom>
            <a:solidFill>
              <a:srgbClr val="5274A6">
                <a:alpha val="14902"/>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sp>
          <p:nvSpPr>
            <p:cNvPr id="59" name="Text Box 21">
              <a:hlinkClick r:id="" action="ppaction://noaction"/>
            </p:cNvPr>
            <p:cNvSpPr txBox="1">
              <a:spLocks noChangeArrowheads="1"/>
            </p:cNvSpPr>
            <p:nvPr/>
          </p:nvSpPr>
          <p:spPr bwMode="gray">
            <a:xfrm>
              <a:off x="2415" y="2744"/>
              <a:ext cx="1890" cy="99"/>
            </a:xfrm>
            <a:prstGeom prst="rect">
              <a:avLst/>
            </a:prstGeom>
            <a:noFill/>
            <a:ln w="9525">
              <a:noFill/>
              <a:miter lim="800000"/>
              <a:headEnd/>
              <a:tailEnd/>
            </a:ln>
          </p:spPr>
          <p:txBody>
            <a:bodyPr lIns="0" tIns="0" rIns="0" bIns="0" anchor="ctr">
              <a:spAutoFit/>
            </a:bodyPr>
            <a:lstStyle/>
            <a:p>
              <a:pPr marL="0" marR="0" lvl="0" indent="0" algn="l" defTabSz="914400" eaLnBrk="1" fontAlgn="auto" latinLnBrk="0" hangingPunct="1">
                <a:lnSpc>
                  <a:spcPct val="85000"/>
                </a:lnSpc>
                <a:spcBef>
                  <a:spcPts val="0"/>
                </a:spcBef>
                <a:spcAft>
                  <a:spcPts val="0"/>
                </a:spcAft>
                <a:buClrTx/>
                <a:buSzTx/>
                <a:buFontTx/>
                <a:buNone/>
                <a:tabLst/>
                <a:defRPr/>
              </a:pPr>
              <a:r>
                <a:rPr kumimoji="0" lang="en-US" sz="1200" b="1" i="0" u="none" strike="noStrike" kern="0" cap="none" spc="0" normalizeH="0" baseline="0" noProof="0" dirty="0" err="1">
                  <a:ln>
                    <a:noFill/>
                  </a:ln>
                  <a:solidFill>
                    <a:sysClr val="windowText" lastClr="000000"/>
                  </a:solidFill>
                  <a:effectLst/>
                  <a:uLnTx/>
                  <a:uFillTx/>
                  <a:cs typeface="Arial" charset="0"/>
                </a:rPr>
                <a:t>Dedupe</a:t>
              </a:r>
              <a:r>
                <a:rPr kumimoji="0" lang="en-US" sz="1200" b="1" i="0" u="none" strike="noStrike" kern="0" cap="none" spc="0" normalizeH="0" baseline="0" noProof="0" dirty="0">
                  <a:ln>
                    <a:noFill/>
                  </a:ln>
                  <a:solidFill>
                    <a:sysClr val="windowText" lastClr="000000"/>
                  </a:solidFill>
                  <a:effectLst/>
                  <a:uLnTx/>
                  <a:uFillTx/>
                  <a:cs typeface="Arial" charset="0"/>
                </a:rPr>
                <a:t> (up to 98% reduction)</a:t>
              </a:r>
            </a:p>
          </p:txBody>
        </p:sp>
        <p:sp>
          <p:nvSpPr>
            <p:cNvPr id="60" name="Line 25"/>
            <p:cNvSpPr>
              <a:spLocks noChangeShapeType="1"/>
            </p:cNvSpPr>
            <p:nvPr/>
          </p:nvSpPr>
          <p:spPr bwMode="gray">
            <a:xfrm flipV="1">
              <a:off x="442" y="2801"/>
              <a:ext cx="1892" cy="249"/>
            </a:xfrm>
            <a:prstGeom prst="line">
              <a:avLst/>
            </a:prstGeom>
            <a:noFill/>
            <a:ln w="28575">
              <a:solidFill>
                <a:srgbClr val="007DC3"/>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grpSp>
      <p:grpSp>
        <p:nvGrpSpPr>
          <p:cNvPr id="61" name="Group 25"/>
          <p:cNvGrpSpPr>
            <a:grpSpLocks/>
          </p:cNvGrpSpPr>
          <p:nvPr/>
        </p:nvGrpSpPr>
        <p:grpSpPr bwMode="auto">
          <a:xfrm>
            <a:off x="381000" y="3863620"/>
            <a:ext cx="6684963" cy="1144588"/>
            <a:chOff x="442" y="3011"/>
            <a:chExt cx="4211" cy="721"/>
          </a:xfrm>
        </p:grpSpPr>
        <p:sp>
          <p:nvSpPr>
            <p:cNvPr id="62" name="Freeform 11"/>
            <p:cNvSpPr>
              <a:spLocks/>
            </p:cNvSpPr>
            <p:nvPr/>
          </p:nvSpPr>
          <p:spPr bwMode="gray">
            <a:xfrm>
              <a:off x="442" y="3042"/>
              <a:ext cx="2304" cy="690"/>
            </a:xfrm>
            <a:custGeom>
              <a:avLst/>
              <a:gdLst>
                <a:gd name="T0" fmla="*/ 0 w 1779"/>
                <a:gd name="T1" fmla="*/ 0 h 768"/>
                <a:gd name="T2" fmla="*/ 5358 w 1779"/>
                <a:gd name="T3" fmla="*/ 1 h 768"/>
                <a:gd name="T4" fmla="*/ 5353 w 1779"/>
                <a:gd name="T5" fmla="*/ 2 h 768"/>
                <a:gd name="T6" fmla="*/ 0 w 1779"/>
                <a:gd name="T7" fmla="*/ 2 h 768"/>
                <a:gd name="T8" fmla="*/ 0 w 1779"/>
                <a:gd name="T9" fmla="*/ 0 h 768"/>
                <a:gd name="T10" fmla="*/ 0 60000 65536"/>
                <a:gd name="T11" fmla="*/ 0 60000 65536"/>
                <a:gd name="T12" fmla="*/ 0 60000 65536"/>
                <a:gd name="T13" fmla="*/ 0 60000 65536"/>
                <a:gd name="T14" fmla="*/ 0 60000 65536"/>
                <a:gd name="T15" fmla="*/ 0 w 1779"/>
                <a:gd name="T16" fmla="*/ 0 h 768"/>
                <a:gd name="T17" fmla="*/ 1779 w 1779"/>
                <a:gd name="T18" fmla="*/ 768 h 768"/>
              </a:gdLst>
              <a:ahLst/>
              <a:cxnLst>
                <a:cxn ang="T10">
                  <a:pos x="T0" y="T1"/>
                </a:cxn>
                <a:cxn ang="T11">
                  <a:pos x="T2" y="T3"/>
                </a:cxn>
                <a:cxn ang="T12">
                  <a:pos x="T4" y="T5"/>
                </a:cxn>
                <a:cxn ang="T13">
                  <a:pos x="T6" y="T7"/>
                </a:cxn>
                <a:cxn ang="T14">
                  <a:pos x="T8" y="T9"/>
                </a:cxn>
              </a:cxnLst>
              <a:rect l="T15" t="T16" r="T17" b="T18"/>
              <a:pathLst>
                <a:path w="1779" h="768">
                  <a:moveTo>
                    <a:pt x="0" y="0"/>
                  </a:moveTo>
                  <a:lnTo>
                    <a:pt x="1779" y="172"/>
                  </a:lnTo>
                  <a:lnTo>
                    <a:pt x="1776" y="768"/>
                  </a:lnTo>
                  <a:lnTo>
                    <a:pt x="0" y="768"/>
                  </a:lnTo>
                  <a:lnTo>
                    <a:pt x="0" y="0"/>
                  </a:lnTo>
                  <a:close/>
                </a:path>
              </a:pathLst>
            </a:custGeom>
            <a:solidFill>
              <a:srgbClr val="5274A6">
                <a:alpha val="14902"/>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sp>
          <p:nvSpPr>
            <p:cNvPr id="63" name="Text Box 22"/>
            <p:cNvSpPr txBox="1">
              <a:spLocks noChangeArrowheads="1"/>
            </p:cNvSpPr>
            <p:nvPr/>
          </p:nvSpPr>
          <p:spPr bwMode="gray">
            <a:xfrm>
              <a:off x="2910" y="3011"/>
              <a:ext cx="1743" cy="198"/>
            </a:xfrm>
            <a:prstGeom prst="rect">
              <a:avLst/>
            </a:prstGeom>
            <a:noFill/>
            <a:ln w="9525">
              <a:noFill/>
              <a:miter lim="800000"/>
              <a:headEnd/>
              <a:tailEnd/>
            </a:ln>
          </p:spPr>
          <p:txBody>
            <a:bodyPr lIns="0" tIns="0" rIns="0" bIns="0" anchor="ctr">
              <a:spAutoFit/>
            </a:bodyPr>
            <a:lstStyle/>
            <a:p>
              <a:pPr marL="0" marR="0" lvl="0" indent="0" algn="l" defTabSz="914400" eaLnBrk="1" fontAlgn="auto" latinLnBrk="0" hangingPunct="1">
                <a:lnSpc>
                  <a:spcPct val="85000"/>
                </a:lnSpc>
                <a:spcBef>
                  <a:spcPts val="0"/>
                </a:spcBef>
                <a:spcAft>
                  <a:spcPts val="0"/>
                </a:spcAft>
                <a:buClrTx/>
                <a:buSzTx/>
                <a:buFontTx/>
                <a:buNone/>
                <a:tabLst/>
                <a:defRPr/>
              </a:pPr>
              <a:r>
                <a:rPr kumimoji="0" lang="en-US" sz="1200" b="1" i="0" u="none" strike="noStrike" kern="0" cap="none" spc="0" normalizeH="0" baseline="0" noProof="0">
                  <a:ln>
                    <a:noFill/>
                  </a:ln>
                  <a:solidFill>
                    <a:sysClr val="windowText" lastClr="000000"/>
                  </a:solidFill>
                  <a:effectLst/>
                  <a:uLnTx/>
                  <a:uFillTx/>
                  <a:cs typeface="Arial" charset="0"/>
                </a:rPr>
                <a:t>Software and Process Automation (-30% TCO)</a:t>
              </a:r>
            </a:p>
          </p:txBody>
        </p:sp>
        <p:sp>
          <p:nvSpPr>
            <p:cNvPr id="64" name="Line 26"/>
            <p:cNvSpPr>
              <a:spLocks noChangeShapeType="1"/>
            </p:cNvSpPr>
            <p:nvPr/>
          </p:nvSpPr>
          <p:spPr bwMode="gray">
            <a:xfrm>
              <a:off x="442" y="3050"/>
              <a:ext cx="2304" cy="130"/>
            </a:xfrm>
            <a:prstGeom prst="line">
              <a:avLst/>
            </a:prstGeom>
            <a:noFill/>
            <a:ln w="28575">
              <a:solidFill>
                <a:srgbClr val="007DC3"/>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grpSp>
      <p:grpSp>
        <p:nvGrpSpPr>
          <p:cNvPr id="67" name="Group 31"/>
          <p:cNvGrpSpPr>
            <a:grpSpLocks/>
          </p:cNvGrpSpPr>
          <p:nvPr/>
        </p:nvGrpSpPr>
        <p:grpSpPr bwMode="auto">
          <a:xfrm>
            <a:off x="75406" y="2204164"/>
            <a:ext cx="4125913" cy="3167063"/>
            <a:chOff x="269" y="1967"/>
            <a:chExt cx="2599" cy="1995"/>
          </a:xfrm>
        </p:grpSpPr>
        <p:sp>
          <p:nvSpPr>
            <p:cNvPr id="68" name="Freeform 7"/>
            <p:cNvSpPr>
              <a:spLocks/>
            </p:cNvSpPr>
            <p:nvPr/>
          </p:nvSpPr>
          <p:spPr bwMode="gray">
            <a:xfrm>
              <a:off x="434" y="1971"/>
              <a:ext cx="1253" cy="1770"/>
            </a:xfrm>
            <a:custGeom>
              <a:avLst/>
              <a:gdLst>
                <a:gd name="T0" fmla="*/ 0 w 1776"/>
                <a:gd name="T1" fmla="*/ 4 h 1968"/>
                <a:gd name="T2" fmla="*/ 1 w 1776"/>
                <a:gd name="T3" fmla="*/ 0 h 1968"/>
                <a:gd name="T4" fmla="*/ 1 w 1776"/>
                <a:gd name="T5" fmla="*/ 6 h 1968"/>
                <a:gd name="T6" fmla="*/ 0 w 1776"/>
                <a:gd name="T7" fmla="*/ 6 h 1968"/>
                <a:gd name="T8" fmla="*/ 0 w 1776"/>
                <a:gd name="T9" fmla="*/ 4 h 1968"/>
                <a:gd name="T10" fmla="*/ 0 60000 65536"/>
                <a:gd name="T11" fmla="*/ 0 60000 65536"/>
                <a:gd name="T12" fmla="*/ 0 60000 65536"/>
                <a:gd name="T13" fmla="*/ 0 60000 65536"/>
                <a:gd name="T14" fmla="*/ 0 60000 65536"/>
                <a:gd name="T15" fmla="*/ 0 w 1776"/>
                <a:gd name="T16" fmla="*/ 0 h 1968"/>
                <a:gd name="T17" fmla="*/ 1776 w 1776"/>
                <a:gd name="T18" fmla="*/ 1968 h 1968"/>
              </a:gdLst>
              <a:ahLst/>
              <a:cxnLst>
                <a:cxn ang="T10">
                  <a:pos x="T0" y="T1"/>
                </a:cxn>
                <a:cxn ang="T11">
                  <a:pos x="T2" y="T3"/>
                </a:cxn>
                <a:cxn ang="T12">
                  <a:pos x="T4" y="T5"/>
                </a:cxn>
                <a:cxn ang="T13">
                  <a:pos x="T6" y="T7"/>
                </a:cxn>
                <a:cxn ang="T14">
                  <a:pos x="T8" y="T9"/>
                </a:cxn>
              </a:cxnLst>
              <a:rect l="T15" t="T16" r="T17" b="T18"/>
              <a:pathLst>
                <a:path w="1776" h="1968">
                  <a:moveTo>
                    <a:pt x="0" y="1200"/>
                  </a:moveTo>
                  <a:lnTo>
                    <a:pt x="1776" y="0"/>
                  </a:lnTo>
                  <a:lnTo>
                    <a:pt x="1776" y="1968"/>
                  </a:lnTo>
                  <a:lnTo>
                    <a:pt x="0" y="1968"/>
                  </a:lnTo>
                  <a:lnTo>
                    <a:pt x="0" y="1200"/>
                  </a:lnTo>
                  <a:close/>
                </a:path>
              </a:pathLst>
            </a:custGeom>
            <a:solidFill>
              <a:srgbClr val="5274A6">
                <a:alpha val="14902"/>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grpSp>
          <p:nvGrpSpPr>
            <p:cNvPr id="69" name="Group 33"/>
            <p:cNvGrpSpPr>
              <a:grpSpLocks/>
            </p:cNvGrpSpPr>
            <p:nvPr/>
          </p:nvGrpSpPr>
          <p:grpSpPr bwMode="auto">
            <a:xfrm>
              <a:off x="269" y="1967"/>
              <a:ext cx="2599" cy="1995"/>
              <a:chOff x="268" y="1963"/>
              <a:chExt cx="2599" cy="1995"/>
            </a:xfrm>
          </p:grpSpPr>
          <p:sp>
            <p:nvSpPr>
              <p:cNvPr id="70" name="Text Box 5"/>
              <p:cNvSpPr txBox="1">
                <a:spLocks noChangeArrowheads="1"/>
              </p:cNvSpPr>
              <p:nvPr/>
            </p:nvSpPr>
            <p:spPr bwMode="gray">
              <a:xfrm rot="-5400000">
                <a:off x="138" y="2748"/>
                <a:ext cx="471" cy="212"/>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969696"/>
                    </a:solidFill>
                    <a:effectLst/>
                    <a:uLnTx/>
                    <a:uFillTx/>
                    <a:cs typeface="Arial" charset="0"/>
                  </a:rPr>
                  <a:t>COST</a:t>
                </a:r>
              </a:p>
            </p:txBody>
          </p:sp>
          <p:sp>
            <p:nvSpPr>
              <p:cNvPr id="71" name="Text Box 6"/>
              <p:cNvSpPr txBox="1">
                <a:spLocks noChangeArrowheads="1"/>
              </p:cNvSpPr>
              <p:nvPr/>
            </p:nvSpPr>
            <p:spPr bwMode="gray">
              <a:xfrm>
                <a:off x="1444" y="3746"/>
                <a:ext cx="421" cy="21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969696"/>
                    </a:solidFill>
                    <a:effectLst/>
                    <a:uLnTx/>
                    <a:uFillTx/>
                    <a:cs typeface="Arial" charset="0"/>
                  </a:rPr>
                  <a:t>TIME</a:t>
                </a:r>
              </a:p>
            </p:txBody>
          </p:sp>
          <p:sp>
            <p:nvSpPr>
              <p:cNvPr id="72" name="Line 12"/>
              <p:cNvSpPr>
                <a:spLocks noChangeShapeType="1"/>
              </p:cNvSpPr>
              <p:nvPr/>
            </p:nvSpPr>
            <p:spPr bwMode="gray">
              <a:xfrm flipV="1">
                <a:off x="442" y="1971"/>
                <a:ext cx="1253" cy="1079"/>
              </a:xfrm>
              <a:prstGeom prst="line">
                <a:avLst/>
              </a:prstGeom>
              <a:noFill/>
              <a:ln w="28575">
                <a:solidFill>
                  <a:srgbClr val="007DC3"/>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sp>
            <p:nvSpPr>
              <p:cNvPr id="73" name="Text Box 18"/>
              <p:cNvSpPr txBox="1">
                <a:spLocks noChangeArrowheads="1"/>
              </p:cNvSpPr>
              <p:nvPr/>
            </p:nvSpPr>
            <p:spPr bwMode="gray">
              <a:xfrm rot="19126946">
                <a:off x="358" y="2295"/>
                <a:ext cx="1367" cy="174"/>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7DC3"/>
                    </a:solidFill>
                    <a:effectLst/>
                    <a:uLnTx/>
                    <a:uFillTx/>
                    <a:cs typeface="Arial" charset="0"/>
                  </a:rPr>
                  <a:t>60% Annual Data Growth</a:t>
                </a:r>
              </a:p>
            </p:txBody>
          </p:sp>
          <p:sp>
            <p:nvSpPr>
              <p:cNvPr id="74" name="Freeform 4"/>
              <p:cNvSpPr>
                <a:spLocks/>
              </p:cNvSpPr>
              <p:nvPr/>
            </p:nvSpPr>
            <p:spPr bwMode="gray">
              <a:xfrm>
                <a:off x="442" y="1963"/>
                <a:ext cx="2425" cy="1778"/>
              </a:xfrm>
              <a:custGeom>
                <a:avLst/>
                <a:gdLst>
                  <a:gd name="T0" fmla="*/ 0 w 1968"/>
                  <a:gd name="T1" fmla="*/ 0 h 1296"/>
                  <a:gd name="T2" fmla="*/ 0 w 1968"/>
                  <a:gd name="T3" fmla="*/ 3623 h 1296"/>
                  <a:gd name="T4" fmla="*/ 2676 w 1968"/>
                  <a:gd name="T5" fmla="*/ 3623 h 1296"/>
                  <a:gd name="T6" fmla="*/ 0 60000 65536"/>
                  <a:gd name="T7" fmla="*/ 0 60000 65536"/>
                  <a:gd name="T8" fmla="*/ 0 60000 65536"/>
                  <a:gd name="T9" fmla="*/ 0 w 1968"/>
                  <a:gd name="T10" fmla="*/ 0 h 1296"/>
                  <a:gd name="T11" fmla="*/ 1968 w 1968"/>
                  <a:gd name="T12" fmla="*/ 1296 h 1296"/>
                </a:gdLst>
                <a:ahLst/>
                <a:cxnLst>
                  <a:cxn ang="T6">
                    <a:pos x="T0" y="T1"/>
                  </a:cxn>
                  <a:cxn ang="T7">
                    <a:pos x="T2" y="T3"/>
                  </a:cxn>
                  <a:cxn ang="T8">
                    <a:pos x="T4" y="T5"/>
                  </a:cxn>
                </a:cxnLst>
                <a:rect l="T9" t="T10" r="T11" b="T12"/>
                <a:pathLst>
                  <a:path w="1968" h="1296">
                    <a:moveTo>
                      <a:pt x="0" y="0"/>
                    </a:moveTo>
                    <a:lnTo>
                      <a:pt x="0" y="1296"/>
                    </a:lnTo>
                    <a:lnTo>
                      <a:pt x="1968" y="1296"/>
                    </a:lnTo>
                  </a:path>
                </a:pathLst>
              </a:custGeom>
              <a:noFill/>
              <a:ln w="28575">
                <a:solidFill>
                  <a:srgbClr val="969696"/>
                </a:solidFill>
                <a:round/>
                <a:headEnd type="triangle" w="med" len="me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grpSp>
      </p:grpSp>
      <p:grpSp>
        <p:nvGrpSpPr>
          <p:cNvPr id="75" name="Group 39"/>
          <p:cNvGrpSpPr>
            <a:grpSpLocks/>
          </p:cNvGrpSpPr>
          <p:nvPr/>
        </p:nvGrpSpPr>
        <p:grpSpPr bwMode="auto">
          <a:xfrm>
            <a:off x="2147701" y="1988840"/>
            <a:ext cx="6985758" cy="2239962"/>
            <a:chOff x="1273" y="0"/>
            <a:chExt cx="4449" cy="1418"/>
          </a:xfrm>
        </p:grpSpPr>
        <p:sp>
          <p:nvSpPr>
            <p:cNvPr id="76" name="Freeform 13"/>
            <p:cNvSpPr>
              <a:spLocks/>
            </p:cNvSpPr>
            <p:nvPr/>
          </p:nvSpPr>
          <p:spPr bwMode="gray">
            <a:xfrm>
              <a:off x="1273" y="295"/>
              <a:ext cx="1152" cy="1016"/>
            </a:xfrm>
            <a:custGeom>
              <a:avLst/>
              <a:gdLst>
                <a:gd name="T0" fmla="*/ 0 w 1294"/>
                <a:gd name="T1" fmla="*/ 0 h 1128"/>
                <a:gd name="T2" fmla="*/ 2 w 1294"/>
                <a:gd name="T3" fmla="*/ 2 h 1128"/>
                <a:gd name="T4" fmla="*/ 4 w 1294"/>
                <a:gd name="T5" fmla="*/ 4 h 1128"/>
                <a:gd name="T6" fmla="*/ 10 w 1294"/>
                <a:gd name="T7" fmla="*/ 4 h 1128"/>
                <a:gd name="T8" fmla="*/ 0 60000 65536"/>
                <a:gd name="T9" fmla="*/ 0 60000 65536"/>
                <a:gd name="T10" fmla="*/ 0 60000 65536"/>
                <a:gd name="T11" fmla="*/ 0 60000 65536"/>
                <a:gd name="T12" fmla="*/ 0 w 1294"/>
                <a:gd name="T13" fmla="*/ 0 h 1128"/>
                <a:gd name="T14" fmla="*/ 1294 w 1294"/>
                <a:gd name="T15" fmla="*/ 1128 h 1128"/>
              </a:gdLst>
              <a:ahLst/>
              <a:cxnLst>
                <a:cxn ang="T8">
                  <a:pos x="T0" y="T1"/>
                </a:cxn>
                <a:cxn ang="T9">
                  <a:pos x="T2" y="T3"/>
                </a:cxn>
                <a:cxn ang="T10">
                  <a:pos x="T4" y="T5"/>
                </a:cxn>
                <a:cxn ang="T11">
                  <a:pos x="T6" y="T7"/>
                </a:cxn>
              </a:cxnLst>
              <a:rect l="T12" t="T13" r="T14" b="T15"/>
              <a:pathLst>
                <a:path w="1294" h="1128">
                  <a:moveTo>
                    <a:pt x="0" y="0"/>
                  </a:moveTo>
                  <a:cubicBezTo>
                    <a:pt x="34" y="97"/>
                    <a:pt x="101" y="418"/>
                    <a:pt x="205" y="584"/>
                  </a:cubicBezTo>
                  <a:cubicBezTo>
                    <a:pt x="309" y="750"/>
                    <a:pt x="441" y="903"/>
                    <a:pt x="623" y="994"/>
                  </a:cubicBezTo>
                  <a:cubicBezTo>
                    <a:pt x="805" y="1085"/>
                    <a:pt x="1154" y="1100"/>
                    <a:pt x="1294" y="1128"/>
                  </a:cubicBezTo>
                </a:path>
              </a:pathLst>
            </a:custGeom>
            <a:noFill/>
            <a:ln w="38100">
              <a:solidFill>
                <a:srgbClr val="92D05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sp>
          <p:nvSpPr>
            <p:cNvPr id="77" name="Text Box 35"/>
            <p:cNvSpPr txBox="1">
              <a:spLocks noChangeArrowheads="1"/>
            </p:cNvSpPr>
            <p:nvPr/>
          </p:nvSpPr>
          <p:spPr bwMode="gray">
            <a:xfrm>
              <a:off x="3899" y="312"/>
              <a:ext cx="1823" cy="552"/>
            </a:xfrm>
            <a:prstGeom prst="rect">
              <a:avLst/>
            </a:prstGeom>
            <a:noFill/>
            <a:ln w="9525">
              <a:noFill/>
              <a:miter lim="800000"/>
              <a:headEnd/>
              <a:tailEnd/>
            </a:ln>
          </p:spPr>
          <p:txBody>
            <a:bodyPr lIns="0" tIns="0" rIns="0" bIns="0">
              <a:spAutoFit/>
            </a:bodyPr>
            <a:lstStyle/>
            <a:p>
              <a:pPr marL="287338" marR="0" lvl="1" indent="-173038" defTabSz="914400" eaLnBrk="1" fontAlgn="auto" latinLnBrk="0" hangingPunct="1">
                <a:lnSpc>
                  <a:spcPct val="105000"/>
                </a:lnSpc>
                <a:spcBef>
                  <a:spcPct val="40000"/>
                </a:spcBef>
                <a:spcAft>
                  <a:spcPts val="0"/>
                </a:spcAft>
                <a:buClr>
                  <a:srgbClr val="92D050"/>
                </a:buClr>
                <a:buSzTx/>
                <a:buFontTx/>
                <a:buNone/>
                <a:tabLst/>
                <a:defRPr/>
              </a:pPr>
              <a:r>
                <a:rPr kumimoji="0" lang="en-US" sz="1800" b="1" i="0" u="none" strike="noStrike" kern="0" cap="none" spc="0" normalizeH="0" baseline="0" noProof="0" dirty="0">
                  <a:ln>
                    <a:noFill/>
                  </a:ln>
                  <a:solidFill>
                    <a:srgbClr val="00B050"/>
                  </a:solidFill>
                  <a:effectLst/>
                  <a:uLnTx/>
                  <a:uFillTx/>
                  <a:cs typeface="Arial" charset="0"/>
                </a:rPr>
                <a:t>Power, Cooling and Space Reductions Exceeding 50%</a:t>
              </a:r>
              <a:r>
                <a:rPr kumimoji="0" lang="en-US" sz="1800" b="0" i="0" u="none" strike="noStrike" kern="0" cap="none" spc="0" normalizeH="0" baseline="0" noProof="0" dirty="0">
                  <a:ln>
                    <a:noFill/>
                  </a:ln>
                  <a:solidFill>
                    <a:srgbClr val="00B050"/>
                  </a:solidFill>
                  <a:effectLst/>
                  <a:uLnTx/>
                  <a:uFillTx/>
                  <a:cs typeface="Arial" charset="0"/>
                </a:rPr>
                <a:t> </a:t>
              </a:r>
            </a:p>
          </p:txBody>
        </p:sp>
        <p:sp>
          <p:nvSpPr>
            <p:cNvPr id="78" name="AutoShape 42"/>
            <p:cNvSpPr>
              <a:spLocks/>
            </p:cNvSpPr>
            <p:nvPr/>
          </p:nvSpPr>
          <p:spPr bwMode="gray">
            <a:xfrm rot="-1912785">
              <a:off x="3845" y="0"/>
              <a:ext cx="202" cy="1418"/>
            </a:xfrm>
            <a:prstGeom prst="rightBrace">
              <a:avLst>
                <a:gd name="adj1" fmla="val 58498"/>
                <a:gd name="adj2" fmla="val 50000"/>
              </a:avLst>
            </a:prstGeom>
            <a:noFill/>
            <a:ln w="28575">
              <a:solidFill>
                <a:srgbClr val="5F5F5F"/>
              </a:solidFill>
              <a:round/>
              <a:headEnd/>
              <a:tailEnd/>
            </a:ln>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ysClr val="windowText" lastClr="000000"/>
                </a:solidFill>
                <a:effectLst/>
                <a:uLnTx/>
                <a:uFillTx/>
              </a:endParaRPr>
            </a:p>
          </p:txBody>
        </p:sp>
      </p:grpSp>
      <p:grpSp>
        <p:nvGrpSpPr>
          <p:cNvPr id="79" name="Group 43"/>
          <p:cNvGrpSpPr>
            <a:grpSpLocks/>
          </p:cNvGrpSpPr>
          <p:nvPr/>
        </p:nvGrpSpPr>
        <p:grpSpPr bwMode="auto">
          <a:xfrm>
            <a:off x="381000" y="2822219"/>
            <a:ext cx="4922845" cy="2176463"/>
            <a:chOff x="442" y="2355"/>
            <a:chExt cx="3101" cy="1371"/>
          </a:xfrm>
        </p:grpSpPr>
        <p:sp>
          <p:nvSpPr>
            <p:cNvPr id="80" name="Line 23"/>
            <p:cNvSpPr>
              <a:spLocks noChangeShapeType="1"/>
            </p:cNvSpPr>
            <p:nvPr/>
          </p:nvSpPr>
          <p:spPr bwMode="gray">
            <a:xfrm flipV="1">
              <a:off x="482" y="2442"/>
              <a:ext cx="1454" cy="582"/>
            </a:xfrm>
            <a:prstGeom prst="line">
              <a:avLst/>
            </a:prstGeom>
            <a:noFill/>
            <a:ln w="28575">
              <a:solidFill>
                <a:srgbClr val="007DC3"/>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sp>
          <p:nvSpPr>
            <p:cNvPr id="81" name="Text Box 19">
              <a:hlinkClick r:id="" action="ppaction://noaction"/>
            </p:cNvPr>
            <p:cNvSpPr txBox="1">
              <a:spLocks noChangeArrowheads="1"/>
            </p:cNvSpPr>
            <p:nvPr/>
          </p:nvSpPr>
          <p:spPr bwMode="gray">
            <a:xfrm>
              <a:off x="2001" y="2355"/>
              <a:ext cx="1542" cy="125"/>
            </a:xfrm>
            <a:prstGeom prst="rect">
              <a:avLst/>
            </a:prstGeom>
            <a:noFill/>
            <a:ln w="9525">
              <a:noFill/>
              <a:miter lim="800000"/>
              <a:headEnd/>
              <a:tailEnd/>
            </a:ln>
          </p:spPr>
          <p:txBody>
            <a:bodyPr wrap="none" lIns="0" tIns="0" rIns="0" bIns="0" anchor="ctr">
              <a:spAutoFit/>
            </a:bodyPr>
            <a:lstStyle/>
            <a:p>
              <a:pPr marL="0" marR="0" lvl="0" indent="0" algn="l" defTabSz="914400" eaLnBrk="1" fontAlgn="auto" latinLnBrk="0" hangingPunct="1">
                <a:lnSpc>
                  <a:spcPct val="12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cs typeface="Arial" charset="0"/>
                </a:rPr>
                <a:t>Virtualization (10:1 to 15:1)</a:t>
              </a:r>
            </a:p>
          </p:txBody>
        </p:sp>
        <p:sp>
          <p:nvSpPr>
            <p:cNvPr id="82" name="Freeform 9"/>
            <p:cNvSpPr>
              <a:spLocks/>
            </p:cNvSpPr>
            <p:nvPr/>
          </p:nvSpPr>
          <p:spPr bwMode="gray">
            <a:xfrm>
              <a:off x="442" y="2467"/>
              <a:ext cx="1460" cy="1259"/>
            </a:xfrm>
            <a:custGeom>
              <a:avLst/>
              <a:gdLst>
                <a:gd name="T0" fmla="*/ 0 w 1779"/>
                <a:gd name="T1" fmla="*/ 1 h 1254"/>
                <a:gd name="T2" fmla="*/ 11 w 1779"/>
                <a:gd name="T3" fmla="*/ 0 h 1254"/>
                <a:gd name="T4" fmla="*/ 11 w 1779"/>
                <a:gd name="T5" fmla="*/ 5 h 1254"/>
                <a:gd name="T6" fmla="*/ 0 w 1779"/>
                <a:gd name="T7" fmla="*/ 5 h 1254"/>
                <a:gd name="T8" fmla="*/ 0 w 1779"/>
                <a:gd name="T9" fmla="*/ 1 h 1254"/>
                <a:gd name="T10" fmla="*/ 0 60000 65536"/>
                <a:gd name="T11" fmla="*/ 0 60000 65536"/>
                <a:gd name="T12" fmla="*/ 0 60000 65536"/>
                <a:gd name="T13" fmla="*/ 0 60000 65536"/>
                <a:gd name="T14" fmla="*/ 0 60000 65536"/>
                <a:gd name="T15" fmla="*/ 0 w 1779"/>
                <a:gd name="T16" fmla="*/ 0 h 1254"/>
                <a:gd name="T17" fmla="*/ 1779 w 1779"/>
                <a:gd name="T18" fmla="*/ 1254 h 1254"/>
              </a:gdLst>
              <a:ahLst/>
              <a:cxnLst>
                <a:cxn ang="T10">
                  <a:pos x="T0" y="T1"/>
                </a:cxn>
                <a:cxn ang="T11">
                  <a:pos x="T2" y="T3"/>
                </a:cxn>
                <a:cxn ang="T12">
                  <a:pos x="T4" y="T5"/>
                </a:cxn>
                <a:cxn ang="T13">
                  <a:pos x="T6" y="T7"/>
                </a:cxn>
                <a:cxn ang="T14">
                  <a:pos x="T8" y="T9"/>
                </a:cxn>
              </a:cxnLst>
              <a:rect l="T15" t="T16" r="T17" b="T18"/>
              <a:pathLst>
                <a:path w="1779" h="1254">
                  <a:moveTo>
                    <a:pt x="0" y="486"/>
                  </a:moveTo>
                  <a:lnTo>
                    <a:pt x="1779" y="0"/>
                  </a:lnTo>
                  <a:lnTo>
                    <a:pt x="1776" y="1254"/>
                  </a:lnTo>
                  <a:lnTo>
                    <a:pt x="0" y="1254"/>
                  </a:lnTo>
                  <a:lnTo>
                    <a:pt x="0" y="486"/>
                  </a:lnTo>
                  <a:close/>
                </a:path>
              </a:pathLst>
            </a:custGeom>
            <a:solidFill>
              <a:srgbClr val="5274A6">
                <a:alpha val="14902"/>
              </a:srgbClr>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1200" b="0" i="0" u="none" strike="noStrike" kern="0" cap="none" spc="0" normalizeH="0" baseline="0" noProof="0">
                <a:ln>
                  <a:noFill/>
                </a:ln>
                <a:solidFill>
                  <a:sysClr val="windowText" lastClr="000000"/>
                </a:solidFill>
                <a:effectLst/>
                <a:uLnTx/>
                <a:uFillTx/>
              </a:endParaRPr>
            </a:p>
          </p:txBody>
        </p:sp>
      </p:grpSp>
    </p:spTree>
    <p:extLst>
      <p:ext uri="{BB962C8B-B14F-4D97-AF65-F5344CB8AC3E}">
        <p14:creationId xmlns:p14="http://schemas.microsoft.com/office/powerpoint/2010/main" val="1571700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left)">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left)">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wipe(left)">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5"/>
                                        </p:tgtEl>
                                        <p:attrNameLst>
                                          <p:attrName>style.visibility</p:attrName>
                                        </p:attrNameLst>
                                      </p:cBhvr>
                                      <p:to>
                                        <p:strVal val="visible"/>
                                      </p:to>
                                    </p:set>
                                    <p:animEffect transition="in" filter="wipe(left)">
                                      <p:cBhvr>
                                        <p:cTn id="32"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28912" y="2413569"/>
            <a:ext cx="6048376" cy="553998"/>
          </a:xfrm>
        </p:spPr>
        <p:txBody>
          <a:bodyPr/>
          <a:lstStyle/>
          <a:p>
            <a:r>
              <a:rPr lang="it-IT" sz="3600" dirty="0">
                <a:solidFill>
                  <a:srgbClr val="3892D0"/>
                </a:solidFill>
                <a:effectLst>
                  <a:reflection blurRad="6350" stA="55000" endA="300" endPos="45500" dir="5400000" sy="-100000" algn="bl" rotWithShape="0"/>
                </a:effectLst>
              </a:rPr>
              <a:t>Data Center </a:t>
            </a:r>
            <a:r>
              <a:rPr lang="it-IT" sz="3600" dirty="0" smtClean="0">
                <a:solidFill>
                  <a:srgbClr val="3892D0"/>
                </a:solidFill>
                <a:effectLst>
                  <a:reflection blurRad="6350" stA="55000" endA="300" endPos="45500" dir="5400000" sy="-100000" algn="bl" rotWithShape="0"/>
                </a:effectLst>
              </a:rPr>
              <a:t>Classification</a:t>
            </a:r>
            <a:endParaRPr lang="en-US" dirty="0"/>
          </a:p>
        </p:txBody>
      </p:sp>
      <p:sp>
        <p:nvSpPr>
          <p:cNvPr id="3" name="Subtitle 2"/>
          <p:cNvSpPr>
            <a:spLocks noGrp="1"/>
          </p:cNvSpPr>
          <p:nvPr>
            <p:ph type="subTitle" idx="1"/>
          </p:nvPr>
        </p:nvSpPr>
        <p:spPr/>
        <p:txBody>
          <a:bodyPr/>
          <a:lstStyle/>
          <a:p>
            <a:r>
              <a:rPr lang="it-IT" dirty="0" smtClean="0"/>
              <a:t>What should we know?</a:t>
            </a:r>
            <a:endParaRPr lang="en-US" dirty="0"/>
          </a:p>
        </p:txBody>
      </p:sp>
    </p:spTree>
    <p:extLst>
      <p:ext uri="{BB962C8B-B14F-4D97-AF65-F5344CB8AC3E}">
        <p14:creationId xmlns:p14="http://schemas.microsoft.com/office/powerpoint/2010/main" val="3961377078"/>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Classification</a:t>
            </a:r>
            <a:r>
              <a:rPr lang="it-IT" dirty="0" smtClean="0"/>
              <a:t/>
            </a:r>
            <a:br>
              <a:rPr lang="it-IT" dirty="0" smtClean="0"/>
            </a:br>
            <a:r>
              <a:rPr lang="it-IT" dirty="0" err="1" smtClean="0"/>
              <a:t>Uptime</a:t>
            </a:r>
            <a:r>
              <a:rPr lang="it-IT" dirty="0" smtClean="0"/>
              <a:t> </a:t>
            </a:r>
            <a:r>
              <a:rPr lang="it-IT" dirty="0" err="1" smtClean="0"/>
              <a:t>Institute</a:t>
            </a:r>
            <a:endParaRPr lang="en-US" dirty="0"/>
          </a:p>
        </p:txBody>
      </p:sp>
      <p:sp>
        <p:nvSpPr>
          <p:cNvPr id="3" name="Rectangle 2"/>
          <p:cNvSpPr/>
          <p:nvPr/>
        </p:nvSpPr>
        <p:spPr>
          <a:xfrm>
            <a:off x="366713" y="1443841"/>
            <a:ext cx="8410575" cy="3416320"/>
          </a:xfrm>
          <a:prstGeom prst="rect">
            <a:avLst/>
          </a:prstGeom>
        </p:spPr>
        <p:txBody>
          <a:bodyPr wrap="square">
            <a:spAutoFit/>
          </a:bodyPr>
          <a:lstStyle/>
          <a:p>
            <a:pPr marL="285750" indent="-285750">
              <a:buClr>
                <a:schemeClr val="accent1"/>
              </a:buClr>
              <a:buFont typeface="Wingdings" panose="05000000000000000000" pitchFamily="2" charset="2"/>
              <a:buChar char="§"/>
            </a:pPr>
            <a:r>
              <a:rPr lang="en-US" dirty="0">
                <a:solidFill>
                  <a:srgbClr val="333333"/>
                </a:solidFill>
              </a:rPr>
              <a:t>Uptime Institute created the standard </a:t>
            </a:r>
            <a:r>
              <a:rPr lang="en-US" b="1" dirty="0">
                <a:solidFill>
                  <a:schemeClr val="tx2"/>
                </a:solidFill>
              </a:rPr>
              <a:t>Tier Classification System</a:t>
            </a:r>
            <a:r>
              <a:rPr lang="en-US" dirty="0">
                <a:solidFill>
                  <a:srgbClr val="333333"/>
                </a:solidFill>
              </a:rPr>
              <a:t> as a means to effectively evaluate data center infrastructure in terms of a business’ requirements for system availability. </a:t>
            </a:r>
            <a:endParaRPr lang="en-US" dirty="0" smtClean="0">
              <a:solidFill>
                <a:srgbClr val="333333"/>
              </a:solidFill>
            </a:endParaRPr>
          </a:p>
          <a:p>
            <a:pPr marL="285750" indent="-285750">
              <a:buClr>
                <a:schemeClr val="accent1"/>
              </a:buClr>
              <a:buFont typeface="Wingdings" panose="05000000000000000000" pitchFamily="2" charset="2"/>
              <a:buChar char="§"/>
            </a:pPr>
            <a:endParaRPr lang="en-US" dirty="0" smtClean="0">
              <a:solidFill>
                <a:srgbClr val="333333"/>
              </a:solidFill>
            </a:endParaRPr>
          </a:p>
          <a:p>
            <a:pPr marL="285750" indent="-285750">
              <a:buClr>
                <a:schemeClr val="accent1"/>
              </a:buClr>
              <a:buFont typeface="Wingdings" panose="05000000000000000000" pitchFamily="2" charset="2"/>
              <a:buChar char="§"/>
            </a:pPr>
            <a:r>
              <a:rPr lang="en-US" dirty="0" smtClean="0">
                <a:solidFill>
                  <a:srgbClr val="333333"/>
                </a:solidFill>
              </a:rPr>
              <a:t>The </a:t>
            </a:r>
            <a:r>
              <a:rPr lang="en-US" dirty="0">
                <a:solidFill>
                  <a:srgbClr val="333333"/>
                </a:solidFill>
              </a:rPr>
              <a:t>Tier Classification System provides the data center industry with a consistent method to </a:t>
            </a:r>
            <a:r>
              <a:rPr lang="en-US" b="1" dirty="0">
                <a:solidFill>
                  <a:schemeClr val="tx2"/>
                </a:solidFill>
              </a:rPr>
              <a:t>compare typically unique</a:t>
            </a:r>
            <a:r>
              <a:rPr lang="en-US" dirty="0">
                <a:solidFill>
                  <a:srgbClr val="333333"/>
                </a:solidFill>
              </a:rPr>
              <a:t>, customized facilities based on expected site infrastructure performance, or uptime. </a:t>
            </a:r>
            <a:endParaRPr lang="en-US" dirty="0" smtClean="0">
              <a:solidFill>
                <a:srgbClr val="333333"/>
              </a:solidFill>
            </a:endParaRPr>
          </a:p>
          <a:p>
            <a:pPr marL="285750" indent="-285750">
              <a:buClr>
                <a:schemeClr val="accent1"/>
              </a:buClr>
              <a:buFont typeface="Wingdings" panose="05000000000000000000" pitchFamily="2" charset="2"/>
              <a:buChar char="§"/>
            </a:pPr>
            <a:endParaRPr lang="en-US" dirty="0" smtClean="0">
              <a:solidFill>
                <a:srgbClr val="333333"/>
              </a:solidFill>
            </a:endParaRPr>
          </a:p>
          <a:p>
            <a:pPr marL="285750" indent="-285750">
              <a:buClr>
                <a:schemeClr val="accent1"/>
              </a:buClr>
              <a:buFont typeface="Wingdings" panose="05000000000000000000" pitchFamily="2" charset="2"/>
              <a:buChar char="§"/>
            </a:pPr>
            <a:r>
              <a:rPr lang="en-US" dirty="0" smtClean="0">
                <a:solidFill>
                  <a:srgbClr val="333333"/>
                </a:solidFill>
              </a:rPr>
              <a:t>Furthermore</a:t>
            </a:r>
            <a:r>
              <a:rPr lang="en-US" dirty="0">
                <a:solidFill>
                  <a:srgbClr val="333333"/>
                </a:solidFill>
              </a:rPr>
              <a:t>, Tiers enables companies to </a:t>
            </a:r>
            <a:r>
              <a:rPr lang="en-US" b="1" dirty="0">
                <a:solidFill>
                  <a:schemeClr val="tx2"/>
                </a:solidFill>
              </a:rPr>
              <a:t>align their data center infrastructure investment</a:t>
            </a:r>
            <a:r>
              <a:rPr lang="en-US" dirty="0">
                <a:solidFill>
                  <a:srgbClr val="333333"/>
                </a:solidFill>
              </a:rPr>
              <a:t> with business goals specific to growth and technology strategies.</a:t>
            </a:r>
            <a:endParaRPr lang="it-IT" dirty="0"/>
          </a:p>
        </p:txBody>
      </p:sp>
    </p:spTree>
    <p:extLst>
      <p:ext uri="{BB962C8B-B14F-4D97-AF65-F5344CB8AC3E}">
        <p14:creationId xmlns:p14="http://schemas.microsoft.com/office/powerpoint/2010/main" val="1482155601"/>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Classification</a:t>
            </a:r>
            <a:r>
              <a:rPr lang="it-IT" dirty="0" smtClean="0"/>
              <a:t/>
            </a:r>
            <a:br>
              <a:rPr lang="it-IT" dirty="0" smtClean="0"/>
            </a:br>
            <a:r>
              <a:rPr lang="it-IT" dirty="0" err="1" smtClean="0"/>
              <a:t>Uptime</a:t>
            </a:r>
            <a:r>
              <a:rPr lang="it-IT" dirty="0" smtClean="0"/>
              <a:t> </a:t>
            </a:r>
            <a:r>
              <a:rPr lang="it-IT" dirty="0" err="1" smtClean="0"/>
              <a:t>Institute</a:t>
            </a:r>
            <a:endParaRPr lang="en-US" dirty="0"/>
          </a:p>
        </p:txBody>
      </p:sp>
      <p:pic>
        <p:nvPicPr>
          <p:cNvPr id="5" name="Picture 4"/>
          <p:cNvPicPr>
            <a:picLocks noChangeAspect="1"/>
          </p:cNvPicPr>
          <p:nvPr/>
        </p:nvPicPr>
        <p:blipFill>
          <a:blip r:embed="rId2"/>
          <a:stretch>
            <a:fillRect/>
          </a:stretch>
        </p:blipFill>
        <p:spPr>
          <a:xfrm>
            <a:off x="539552" y="1142604"/>
            <a:ext cx="7727776" cy="4914594"/>
          </a:xfrm>
          <a:prstGeom prst="rect">
            <a:avLst/>
          </a:prstGeom>
        </p:spPr>
      </p:pic>
    </p:spTree>
    <p:extLst>
      <p:ext uri="{BB962C8B-B14F-4D97-AF65-F5344CB8AC3E}">
        <p14:creationId xmlns:p14="http://schemas.microsoft.com/office/powerpoint/2010/main" val="160279591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descr="http://www.comrent.com/images/easyblog_images/230/Comrent_Tiers-v2.jpg"/>
          <p:cNvPicPr>
            <a:picLocks noChangeAspect="1" noChangeArrowheads="1"/>
          </p:cNvPicPr>
          <p:nvPr/>
        </p:nvPicPr>
        <p:blipFill rotWithShape="1">
          <a:blip r:embed="rId2">
            <a:extLst>
              <a:ext uri="{28A0092B-C50C-407E-A947-70E740481C1C}">
                <a14:useLocalDpi xmlns:a14="http://schemas.microsoft.com/office/drawing/2010/main" val="0"/>
              </a:ext>
            </a:extLst>
          </a:blip>
          <a:srcRect l="709" t="14137" r="90489" b="35929"/>
          <a:stretch/>
        </p:blipFill>
        <p:spPr bwMode="auto">
          <a:xfrm>
            <a:off x="6948264" y="1472009"/>
            <a:ext cx="1929854" cy="42484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it-IT" sz="2400" i="1" dirty="0">
                <a:solidFill>
                  <a:srgbClr val="FFFFFF">
                    <a:lumMod val="75000"/>
                  </a:srgbClr>
                </a:solidFill>
              </a:rPr>
              <a:t>Data Center Classification</a:t>
            </a:r>
            <a:r>
              <a:rPr lang="it-IT" dirty="0" smtClean="0"/>
              <a:t/>
            </a:r>
            <a:br>
              <a:rPr lang="it-IT" dirty="0" smtClean="0"/>
            </a:br>
            <a:r>
              <a:rPr lang="it-IT" dirty="0" smtClean="0"/>
              <a:t>Data Center - Tiering</a:t>
            </a:r>
            <a:endParaRPr lang="en-US" dirty="0"/>
          </a:p>
        </p:txBody>
      </p:sp>
      <p:pic>
        <p:nvPicPr>
          <p:cNvPr id="1026" name="Picture 2" descr="http://www.comrent.com/images/easyblog_images/230/Comrent_Tiers-v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630" t="14137" r="31865" b="35929"/>
          <a:stretch/>
        </p:blipFill>
        <p:spPr bwMode="auto">
          <a:xfrm>
            <a:off x="2152553" y="1472009"/>
            <a:ext cx="4867719" cy="424847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782654" y="4797152"/>
            <a:ext cx="2261073" cy="692497"/>
          </a:xfrm>
          <a:prstGeom prst="rect">
            <a:avLst/>
          </a:prstGeom>
          <a:noFill/>
        </p:spPr>
        <p:txBody>
          <a:bodyPr wrap="square" lIns="0" tIns="0" rIns="0" bIns="0" rtlCol="0">
            <a:spAutoFit/>
          </a:bodyPr>
          <a:lstStyle/>
          <a:p>
            <a:pPr marL="171450" indent="-171450">
              <a:buFont typeface="Wingdings" panose="05000000000000000000" pitchFamily="2" charset="2"/>
              <a:buChar char="§"/>
            </a:pPr>
            <a:r>
              <a:rPr lang="en-US" sz="900" i="1" dirty="0">
                <a:solidFill>
                  <a:schemeClr val="bg2"/>
                </a:solidFill>
              </a:rPr>
              <a:t>Only one path for power and cooling distribution</a:t>
            </a:r>
          </a:p>
          <a:p>
            <a:pPr marL="171450" indent="-171450">
              <a:buFont typeface="Wingdings" panose="05000000000000000000" pitchFamily="2" charset="2"/>
              <a:buChar char="§"/>
            </a:pPr>
            <a:r>
              <a:rPr lang="en-US" sz="900" i="1" dirty="0">
                <a:solidFill>
                  <a:schemeClr val="bg2"/>
                </a:solidFill>
              </a:rPr>
              <a:t>Non Redundant Components</a:t>
            </a:r>
          </a:p>
          <a:p>
            <a:pPr marL="171450" indent="-171450">
              <a:buFont typeface="Wingdings" panose="05000000000000000000" pitchFamily="2" charset="2"/>
              <a:buChar char="§"/>
            </a:pPr>
            <a:r>
              <a:rPr lang="en-US" sz="900" i="1" dirty="0">
                <a:solidFill>
                  <a:schemeClr val="bg2"/>
                </a:solidFill>
              </a:rPr>
              <a:t>Susceptible to disruption from planned and unplanned activity</a:t>
            </a:r>
          </a:p>
        </p:txBody>
      </p:sp>
      <p:sp>
        <p:nvSpPr>
          <p:cNvPr id="20" name="TextBox 19"/>
          <p:cNvSpPr txBox="1"/>
          <p:nvPr/>
        </p:nvSpPr>
        <p:spPr>
          <a:xfrm>
            <a:off x="6228184" y="3845223"/>
            <a:ext cx="2621113" cy="692497"/>
          </a:xfrm>
          <a:prstGeom prst="rect">
            <a:avLst/>
          </a:prstGeom>
          <a:noFill/>
        </p:spPr>
        <p:txBody>
          <a:bodyPr wrap="square" lIns="0" tIns="0" rIns="0" bIns="0" rtlCol="0">
            <a:spAutoFit/>
          </a:bodyPr>
          <a:lstStyle/>
          <a:p>
            <a:pPr marL="171450" indent="-171450">
              <a:buFont typeface="Wingdings" panose="05000000000000000000" pitchFamily="2" charset="2"/>
              <a:buChar char="§"/>
            </a:pPr>
            <a:r>
              <a:rPr lang="en-US" sz="900" i="1" dirty="0">
                <a:solidFill>
                  <a:schemeClr val="bg2"/>
                </a:solidFill>
              </a:rPr>
              <a:t>Single path of power and cooling</a:t>
            </a:r>
          </a:p>
          <a:p>
            <a:pPr marL="171450" indent="-171450">
              <a:buFont typeface="Wingdings" panose="05000000000000000000" pitchFamily="2" charset="2"/>
              <a:buChar char="§"/>
            </a:pPr>
            <a:r>
              <a:rPr lang="en-US" sz="900" i="1" dirty="0">
                <a:solidFill>
                  <a:schemeClr val="bg2"/>
                </a:solidFill>
              </a:rPr>
              <a:t>Some redundancy in power and cooling systems</a:t>
            </a:r>
          </a:p>
          <a:p>
            <a:pPr marL="171450" indent="-171450">
              <a:buFont typeface="Wingdings" panose="05000000000000000000" pitchFamily="2" charset="2"/>
              <a:buChar char="§"/>
            </a:pPr>
            <a:r>
              <a:rPr lang="en-US" sz="900" i="1" dirty="0">
                <a:solidFill>
                  <a:schemeClr val="bg2"/>
                </a:solidFill>
              </a:rPr>
              <a:t>Slightly less susceptible to disruptions than Tier </a:t>
            </a:r>
            <a:r>
              <a:rPr lang="en-US" sz="900" i="1" dirty="0" smtClean="0">
                <a:solidFill>
                  <a:schemeClr val="bg2"/>
                </a:solidFill>
              </a:rPr>
              <a:t>01</a:t>
            </a:r>
            <a:endParaRPr lang="en-US" sz="900" i="1" dirty="0">
              <a:solidFill>
                <a:schemeClr val="bg2"/>
              </a:solidFill>
            </a:endParaRPr>
          </a:p>
        </p:txBody>
      </p:sp>
      <p:sp>
        <p:nvSpPr>
          <p:cNvPr id="21" name="TextBox 20"/>
          <p:cNvSpPr txBox="1"/>
          <p:nvPr/>
        </p:nvSpPr>
        <p:spPr>
          <a:xfrm>
            <a:off x="5695305" y="3023305"/>
            <a:ext cx="2894998" cy="415498"/>
          </a:xfrm>
          <a:prstGeom prst="rect">
            <a:avLst/>
          </a:prstGeom>
          <a:noFill/>
        </p:spPr>
        <p:txBody>
          <a:bodyPr wrap="square" lIns="0" tIns="0" rIns="0" bIns="0" rtlCol="0">
            <a:spAutoFit/>
          </a:bodyPr>
          <a:lstStyle/>
          <a:p>
            <a:pPr marL="171450" indent="-171450">
              <a:buFont typeface="Wingdings" panose="05000000000000000000" pitchFamily="2" charset="2"/>
              <a:buChar char="§"/>
            </a:pPr>
            <a:r>
              <a:rPr lang="en-US" sz="900" i="1" dirty="0">
                <a:solidFill>
                  <a:schemeClr val="bg2"/>
                </a:solidFill>
              </a:rPr>
              <a:t>Multiple power and cooling paths</a:t>
            </a:r>
          </a:p>
          <a:p>
            <a:pPr marL="171450" indent="-171450">
              <a:buFont typeface="Wingdings" panose="05000000000000000000" pitchFamily="2" charset="2"/>
              <a:buChar char="§"/>
            </a:pPr>
            <a:r>
              <a:rPr lang="en-US" sz="900" i="1" dirty="0">
                <a:solidFill>
                  <a:schemeClr val="bg2"/>
                </a:solidFill>
              </a:rPr>
              <a:t>Fault tolerant (N+1)</a:t>
            </a:r>
          </a:p>
          <a:p>
            <a:pPr marL="171450" indent="-171450">
              <a:buFont typeface="Wingdings" panose="05000000000000000000" pitchFamily="2" charset="2"/>
              <a:buChar char="§"/>
            </a:pPr>
            <a:r>
              <a:rPr lang="en-US" sz="900" i="1" dirty="0">
                <a:solidFill>
                  <a:schemeClr val="bg2"/>
                </a:solidFill>
              </a:rPr>
              <a:t>Able to sustain 72-hour power outage</a:t>
            </a:r>
          </a:p>
        </p:txBody>
      </p:sp>
      <p:sp>
        <p:nvSpPr>
          <p:cNvPr id="22" name="TextBox 21"/>
          <p:cNvSpPr txBox="1"/>
          <p:nvPr/>
        </p:nvSpPr>
        <p:spPr>
          <a:xfrm>
            <a:off x="5500765" y="1991375"/>
            <a:ext cx="2894998" cy="415498"/>
          </a:xfrm>
          <a:prstGeom prst="rect">
            <a:avLst/>
          </a:prstGeom>
          <a:noFill/>
        </p:spPr>
        <p:txBody>
          <a:bodyPr wrap="square" lIns="0" tIns="0" rIns="0" bIns="0" rtlCol="0">
            <a:spAutoFit/>
          </a:bodyPr>
          <a:lstStyle/>
          <a:p>
            <a:pPr marL="171450" indent="-171450">
              <a:buFont typeface="Wingdings" panose="05000000000000000000" pitchFamily="2" charset="2"/>
              <a:buChar char="§"/>
            </a:pPr>
            <a:r>
              <a:rPr lang="en-US" sz="900" i="1" dirty="0">
                <a:solidFill>
                  <a:schemeClr val="bg2"/>
                </a:solidFill>
              </a:rPr>
              <a:t>Two independent utility paths</a:t>
            </a:r>
          </a:p>
          <a:p>
            <a:pPr marL="171450" indent="-171450">
              <a:buFont typeface="Wingdings" panose="05000000000000000000" pitchFamily="2" charset="2"/>
              <a:buChar char="§"/>
            </a:pPr>
            <a:r>
              <a:rPr lang="en-US" sz="900" i="1" dirty="0">
                <a:solidFill>
                  <a:schemeClr val="bg2"/>
                </a:solidFill>
              </a:rPr>
              <a:t>Fully redundant </a:t>
            </a:r>
          </a:p>
          <a:p>
            <a:pPr marL="171450" indent="-171450">
              <a:buFont typeface="Wingdings" panose="05000000000000000000" pitchFamily="2" charset="2"/>
              <a:buChar char="§"/>
            </a:pPr>
            <a:r>
              <a:rPr lang="en-US" sz="900" i="1" dirty="0">
                <a:solidFill>
                  <a:schemeClr val="bg2"/>
                </a:solidFill>
              </a:rPr>
              <a:t>Able to sustain 96-hour power outage</a:t>
            </a:r>
          </a:p>
        </p:txBody>
      </p:sp>
      <p:pic>
        <p:nvPicPr>
          <p:cNvPr id="17" name="Picture 2" descr="http://www.comrent.com/images/easyblog_images/230/Comrent_Tiers-v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2889" t="14137" r="3344" b="35929"/>
          <a:stretch/>
        </p:blipFill>
        <p:spPr bwMode="auto">
          <a:xfrm>
            <a:off x="323528" y="1472009"/>
            <a:ext cx="1944216" cy="424847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1992453" y="1999808"/>
            <a:ext cx="2046923" cy="642096"/>
            <a:chOff x="1992453" y="1999808"/>
            <a:chExt cx="2046923" cy="642096"/>
          </a:xfrm>
        </p:grpSpPr>
        <p:pic>
          <p:nvPicPr>
            <p:cNvPr id="7170" name="Picture 2" descr="https://uptimeinstitute.com/TierCertification/certSnapshot.php?imgId=667&amp;rs=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453" y="1999809"/>
              <a:ext cx="642094" cy="64209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uptimeinstitute.com/TierCertification/certSnapshot.php?imgId=726&amp;rs=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1109" y="1999808"/>
              <a:ext cx="642094" cy="64209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s://uptimeinstitute.com/TierCertification/certSnapshot.php?imgId=782&amp;rs=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4475" y="1999808"/>
              <a:ext cx="634901" cy="63490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3876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chemeClr val="bg1">
                    <a:lumMod val="75000"/>
                  </a:schemeClr>
                </a:solidFill>
              </a:rPr>
              <a:t>Data Center </a:t>
            </a:r>
            <a:r>
              <a:rPr lang="it-IT" sz="2400" i="1" dirty="0" smtClean="0">
                <a:solidFill>
                  <a:schemeClr val="bg1">
                    <a:lumMod val="75000"/>
                  </a:schemeClr>
                </a:solidFill>
              </a:rPr>
              <a:t>Classification</a:t>
            </a:r>
            <a:r>
              <a:rPr lang="it-IT" dirty="0" smtClean="0"/>
              <a:t/>
            </a:r>
            <a:br>
              <a:rPr lang="it-IT" dirty="0" smtClean="0"/>
            </a:br>
            <a:r>
              <a:rPr lang="it-IT" dirty="0" smtClean="0"/>
              <a:t>TIA - 942</a:t>
            </a:r>
            <a:endParaRPr lang="en-US" dirty="0"/>
          </a:p>
        </p:txBody>
      </p:sp>
      <p:sp>
        <p:nvSpPr>
          <p:cNvPr id="3" name="Content Placeholder 2"/>
          <p:cNvSpPr>
            <a:spLocks noGrp="1"/>
          </p:cNvSpPr>
          <p:nvPr>
            <p:ph sz="quarter" idx="10"/>
          </p:nvPr>
        </p:nvSpPr>
        <p:spPr>
          <a:xfrm>
            <a:off x="366714" y="1432984"/>
            <a:ext cx="5501430" cy="4510616"/>
          </a:xfrm>
        </p:spPr>
        <p:txBody>
          <a:bodyPr/>
          <a:lstStyle/>
          <a:p>
            <a:pPr marL="0" indent="0">
              <a:buClr>
                <a:schemeClr val="accent2"/>
              </a:buClr>
              <a:buNone/>
            </a:pPr>
            <a:r>
              <a:rPr lang="it-IT" sz="1600" dirty="0">
                <a:solidFill>
                  <a:schemeClr val="tx2"/>
                </a:solidFill>
                <a:effectLst>
                  <a:outerShdw blurRad="38100" dist="38100" dir="2700000" algn="tl">
                    <a:srgbClr val="C0C0C0"/>
                  </a:outerShdw>
                </a:effectLst>
                <a:latin typeface="+mj-lt"/>
              </a:rPr>
              <a:t>Standards and guidelines for Data Center</a:t>
            </a:r>
          </a:p>
          <a:p>
            <a:pPr marL="177800" indent="-177800">
              <a:buClr>
                <a:schemeClr val="folHlink"/>
              </a:buClr>
              <a:buSzPct val="90000"/>
              <a:buFontTx/>
              <a:buChar char="•"/>
            </a:pPr>
            <a:r>
              <a:rPr lang="it-IT" sz="1200" dirty="0">
                <a:latin typeface="+mn-lt"/>
              </a:rPr>
              <a:t>http://www.tia-942.org/</a:t>
            </a:r>
          </a:p>
          <a:p>
            <a:pPr marL="177800" indent="-177800">
              <a:buClr>
                <a:schemeClr val="folHlink"/>
              </a:buClr>
              <a:buSzPct val="90000"/>
              <a:buFontTx/>
              <a:buChar char="•"/>
            </a:pPr>
            <a:r>
              <a:rPr lang="it-IT" sz="1200" dirty="0" err="1" smtClean="0">
                <a:latin typeface="+mn-lt"/>
              </a:rPr>
              <a:t>Published</a:t>
            </a:r>
            <a:r>
              <a:rPr lang="it-IT" sz="1200" dirty="0">
                <a:latin typeface="+mn-lt"/>
              </a:rPr>
              <a:t>: April </a:t>
            </a:r>
            <a:r>
              <a:rPr lang="it-IT" sz="1200" dirty="0" smtClean="0">
                <a:latin typeface="+mn-lt"/>
              </a:rPr>
              <a:t>2005</a:t>
            </a:r>
            <a:endParaRPr lang="it-IT" sz="1200" dirty="0">
              <a:latin typeface="+mn-lt"/>
            </a:endParaRPr>
          </a:p>
          <a:p>
            <a:pPr marL="177800" indent="-177800">
              <a:buClr>
                <a:schemeClr val="folHlink"/>
              </a:buClr>
              <a:buSzPct val="90000"/>
              <a:buFontTx/>
              <a:buChar char="•"/>
            </a:pPr>
            <a:r>
              <a:rPr lang="it-IT" sz="1200" dirty="0" smtClean="0">
                <a:latin typeface="+mn-lt"/>
              </a:rPr>
              <a:t>Telecommunication </a:t>
            </a:r>
            <a:r>
              <a:rPr lang="it-IT" sz="1200" dirty="0">
                <a:latin typeface="+mn-lt"/>
              </a:rPr>
              <a:t>Infrastructure Standard for Data </a:t>
            </a:r>
            <a:r>
              <a:rPr lang="it-IT" sz="1200" dirty="0" smtClean="0">
                <a:latin typeface="+mn-lt"/>
              </a:rPr>
              <a:t>Center</a:t>
            </a:r>
            <a:endParaRPr lang="it-IT" sz="1200" dirty="0">
              <a:latin typeface="+mn-lt"/>
            </a:endParaRPr>
          </a:p>
          <a:p>
            <a:pPr lvl="1">
              <a:buClr>
                <a:schemeClr val="folHlink"/>
              </a:buClr>
              <a:buSzPct val="90000"/>
            </a:pPr>
            <a:r>
              <a:rPr lang="it-IT" sz="1200" dirty="0" smtClean="0">
                <a:latin typeface="+mn-lt"/>
              </a:rPr>
              <a:t>Design and </a:t>
            </a:r>
            <a:r>
              <a:rPr lang="it-IT" sz="1200" dirty="0">
                <a:latin typeface="+mn-lt"/>
              </a:rPr>
              <a:t>I</a:t>
            </a:r>
            <a:r>
              <a:rPr lang="it-IT" sz="1200" dirty="0" smtClean="0">
                <a:latin typeface="+mn-lt"/>
              </a:rPr>
              <a:t>nstallation</a:t>
            </a:r>
            <a:endParaRPr lang="it-IT" sz="1200" dirty="0">
              <a:latin typeface="+mn-lt"/>
            </a:endParaRPr>
          </a:p>
          <a:p>
            <a:pPr lvl="1">
              <a:buClr>
                <a:schemeClr val="folHlink"/>
              </a:buClr>
              <a:buSzPct val="90000"/>
            </a:pPr>
            <a:r>
              <a:rPr lang="it-IT" sz="1200" dirty="0" smtClean="0">
                <a:latin typeface="+mn-lt"/>
              </a:rPr>
              <a:t>TLC </a:t>
            </a:r>
            <a:r>
              <a:rPr lang="it-IT" sz="1200" dirty="0">
                <a:latin typeface="+mn-lt"/>
              </a:rPr>
              <a:t>systems, electrical, HVAC, security </a:t>
            </a:r>
            <a:r>
              <a:rPr lang="it-IT" sz="1200" dirty="0" smtClean="0">
                <a:latin typeface="+mn-lt"/>
              </a:rPr>
              <a:t>etc.</a:t>
            </a:r>
          </a:p>
          <a:p>
            <a:pPr lvl="1">
              <a:buClr>
                <a:schemeClr val="folHlink"/>
              </a:buClr>
              <a:buSzPct val="90000"/>
            </a:pPr>
            <a:r>
              <a:rPr lang="it-IT" sz="1200" dirty="0">
                <a:latin typeface="+mn-lt"/>
              </a:rPr>
              <a:t>S</a:t>
            </a:r>
            <a:r>
              <a:rPr lang="it-IT" sz="1200" dirty="0" smtClean="0">
                <a:latin typeface="+mn-lt"/>
              </a:rPr>
              <a:t>paces </a:t>
            </a:r>
            <a:r>
              <a:rPr lang="it-IT" sz="1200" dirty="0">
                <a:latin typeface="+mn-lt"/>
              </a:rPr>
              <a:t>reserved for telecommunication and </a:t>
            </a:r>
            <a:r>
              <a:rPr lang="it-IT" sz="1200" dirty="0" smtClean="0">
                <a:latin typeface="+mn-lt"/>
              </a:rPr>
              <a:t>topology</a:t>
            </a:r>
          </a:p>
          <a:p>
            <a:pPr lvl="1">
              <a:buClr>
                <a:schemeClr val="folHlink"/>
              </a:buClr>
              <a:buSzPct val="90000"/>
            </a:pPr>
            <a:r>
              <a:rPr lang="it-IT" sz="1200" dirty="0">
                <a:latin typeface="+mn-lt"/>
              </a:rPr>
              <a:t>L</a:t>
            </a:r>
            <a:r>
              <a:rPr lang="it-IT" sz="1200" dirty="0" smtClean="0">
                <a:latin typeface="+mn-lt"/>
              </a:rPr>
              <a:t>evels </a:t>
            </a:r>
            <a:r>
              <a:rPr lang="it-IT" sz="1200" dirty="0">
                <a:latin typeface="+mn-lt"/>
              </a:rPr>
              <a:t>fo redundancy (Tiering</a:t>
            </a:r>
            <a:r>
              <a:rPr lang="it-IT" sz="1200" dirty="0" smtClean="0">
                <a:latin typeface="+mn-lt"/>
              </a:rPr>
              <a:t>)</a:t>
            </a:r>
            <a:endParaRPr lang="it-IT" sz="1200" dirty="0">
              <a:latin typeface="+mn-lt"/>
            </a:endParaRPr>
          </a:p>
          <a:p>
            <a:pPr marL="177800" indent="-177800">
              <a:buClr>
                <a:schemeClr val="folHlink"/>
              </a:buClr>
              <a:buSzPct val="90000"/>
              <a:buFontTx/>
              <a:buChar char="•"/>
            </a:pPr>
            <a:r>
              <a:rPr lang="it-IT" sz="1200" dirty="0">
                <a:latin typeface="+mn-lt"/>
              </a:rPr>
              <a:t>It is the first standard </a:t>
            </a:r>
            <a:r>
              <a:rPr lang="it-IT" sz="1200" dirty="0" err="1">
                <a:latin typeface="+mn-lt"/>
              </a:rPr>
              <a:t>since</a:t>
            </a:r>
            <a:r>
              <a:rPr lang="it-IT" sz="1200" dirty="0">
                <a:latin typeface="+mn-lt"/>
              </a:rPr>
              <a:t> </a:t>
            </a:r>
            <a:r>
              <a:rPr lang="it-IT" sz="1200" dirty="0" smtClean="0">
                <a:latin typeface="+mn-lt"/>
              </a:rPr>
              <a:t>1996</a:t>
            </a:r>
          </a:p>
          <a:p>
            <a:pPr marL="177800" indent="-177800">
              <a:buClr>
                <a:schemeClr val="folHlink"/>
              </a:buClr>
              <a:buSzPct val="90000"/>
              <a:buFontTx/>
              <a:buChar char="•"/>
            </a:pPr>
            <a:r>
              <a:rPr lang="en-US" sz="1200" dirty="0"/>
              <a:t>The standard will undergo updates during 2016</a:t>
            </a:r>
            <a:endParaRPr lang="it-IT" sz="1200" dirty="0" smtClean="0">
              <a:latin typeface="+mn-lt"/>
            </a:endParaRPr>
          </a:p>
          <a:p>
            <a:pPr marL="177800" indent="-177800">
              <a:buClr>
                <a:schemeClr val="folHlink"/>
              </a:buClr>
              <a:buSzPct val="90000"/>
              <a:buFontTx/>
              <a:buChar char="•"/>
            </a:pPr>
            <a:endParaRPr lang="it-IT" sz="1400" dirty="0">
              <a:latin typeface="+mn-lt"/>
            </a:endParaRPr>
          </a:p>
          <a:p>
            <a:pPr marL="0" indent="0">
              <a:buClr>
                <a:schemeClr val="accent2"/>
              </a:buClr>
              <a:buNone/>
            </a:pPr>
            <a:r>
              <a:rPr lang="it-IT" sz="1600" dirty="0">
                <a:solidFill>
                  <a:schemeClr val="tx2"/>
                </a:solidFill>
                <a:effectLst>
                  <a:outerShdw blurRad="38100" dist="38100" dir="2700000" algn="tl">
                    <a:srgbClr val="C0C0C0"/>
                  </a:outerShdw>
                </a:effectLst>
                <a:latin typeface="+mn-lt"/>
              </a:rPr>
              <a:t>Points of reference for IT Standards</a:t>
            </a:r>
          </a:p>
          <a:p>
            <a:pPr>
              <a:buClr>
                <a:schemeClr val="folHlink"/>
              </a:buClr>
              <a:buSzPct val="90000"/>
              <a:buFontTx/>
              <a:buChar char="•"/>
            </a:pPr>
            <a:r>
              <a:rPr lang="en-US" sz="1400" dirty="0" smtClean="0">
                <a:latin typeface="+mn-lt"/>
              </a:rPr>
              <a:t> </a:t>
            </a:r>
            <a:r>
              <a:rPr lang="en-US" sz="1200" dirty="0">
                <a:latin typeface="+mn-lt"/>
              </a:rPr>
              <a:t>ISO/IEC 11801 international standard for cabling</a:t>
            </a:r>
          </a:p>
          <a:p>
            <a:pPr>
              <a:buClr>
                <a:schemeClr val="folHlink"/>
              </a:buClr>
              <a:buSzPct val="90000"/>
              <a:buFontTx/>
              <a:buChar char="•"/>
            </a:pPr>
            <a:r>
              <a:rPr lang="en-US" sz="1200" dirty="0">
                <a:latin typeface="+mn-lt"/>
              </a:rPr>
              <a:t> EIA/TIA 568 American standard for cabling</a:t>
            </a:r>
          </a:p>
          <a:p>
            <a:pPr>
              <a:buClr>
                <a:schemeClr val="folHlink"/>
              </a:buClr>
              <a:buSzPct val="90000"/>
              <a:buFontTx/>
              <a:buChar char="•"/>
            </a:pPr>
            <a:r>
              <a:rPr lang="en-US" sz="1200" dirty="0">
                <a:latin typeface="+mn-lt"/>
              </a:rPr>
              <a:t> IEEE international standard for devices and </a:t>
            </a:r>
            <a:r>
              <a:rPr lang="en-US" sz="1200" dirty="0" smtClean="0">
                <a:latin typeface="+mn-lt"/>
              </a:rPr>
              <a:t>applications</a:t>
            </a:r>
            <a:endParaRPr lang="en-US" sz="1200" dirty="0">
              <a:latin typeface="+mn-lt"/>
            </a:endParaRPr>
          </a:p>
        </p:txBody>
      </p:sp>
      <p:pic>
        <p:nvPicPr>
          <p:cNvPr id="2050" name="Picture 2" descr="http://www.netgemini.co.jp/NetGemini.files/standards/942cover.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2132856"/>
            <a:ext cx="2914572" cy="37444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727576" y="1556792"/>
            <a:ext cx="3024336" cy="492443"/>
          </a:xfrm>
          <a:prstGeom prst="rect">
            <a:avLst/>
          </a:prstGeom>
          <a:noFill/>
        </p:spPr>
        <p:txBody>
          <a:bodyPr wrap="square" lIns="0" tIns="0" rIns="0" bIns="0" rtlCol="0">
            <a:spAutoFit/>
          </a:bodyPr>
          <a:lstStyle/>
          <a:p>
            <a:pPr algn="ctr"/>
            <a:r>
              <a:rPr lang="en-US" sz="1600" b="1" i="1" dirty="0">
                <a:ln w="10541" cmpd="sng">
                  <a:solidFill>
                    <a:srgbClr val="7D7D7D">
                      <a:tint val="100000"/>
                      <a:shade val="100000"/>
                      <a:satMod val="110000"/>
                    </a:srgbClr>
                  </a:solidFill>
                  <a:prstDash val="solid"/>
                </a:ln>
                <a:solidFill>
                  <a:schemeClr val="tx1">
                    <a:lumMod val="65000"/>
                    <a:lumOff val="35000"/>
                  </a:schemeClr>
                </a:solidFill>
                <a:latin typeface="Tahoma" pitchFamily="34" charset="0"/>
              </a:rPr>
              <a:t>Telecommunications Industry Association</a:t>
            </a:r>
          </a:p>
        </p:txBody>
      </p:sp>
    </p:spTree>
    <p:extLst>
      <p:ext uri="{BB962C8B-B14F-4D97-AF65-F5344CB8AC3E}">
        <p14:creationId xmlns:p14="http://schemas.microsoft.com/office/powerpoint/2010/main" val="3593611003"/>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28912" y="2413569"/>
            <a:ext cx="6048376" cy="553998"/>
          </a:xfrm>
        </p:spPr>
        <p:txBody>
          <a:bodyPr/>
          <a:lstStyle/>
          <a:p>
            <a:r>
              <a:rPr lang="it-IT" sz="3600" dirty="0">
                <a:solidFill>
                  <a:srgbClr val="3892D0"/>
                </a:solidFill>
                <a:effectLst>
                  <a:reflection blurRad="6350" stA="55000" endA="300" endPos="45500" dir="5400000" sy="-100000" algn="bl" rotWithShape="0"/>
                </a:effectLst>
              </a:rPr>
              <a:t>Data Center Preparation</a:t>
            </a:r>
            <a:endParaRPr lang="en-US" sz="3600" dirty="0">
              <a:solidFill>
                <a:srgbClr val="3892D0"/>
              </a:solidFill>
              <a:effectLst>
                <a:reflection blurRad="6350" stA="55000" endA="300" endPos="45500" dir="5400000" sy="-100000" algn="bl" rotWithShape="0"/>
              </a:effectLst>
            </a:endParaRPr>
          </a:p>
        </p:txBody>
      </p:sp>
      <p:sp>
        <p:nvSpPr>
          <p:cNvPr id="3" name="Subtitle 2"/>
          <p:cNvSpPr>
            <a:spLocks noGrp="1"/>
          </p:cNvSpPr>
          <p:nvPr>
            <p:ph type="subTitle" idx="1"/>
          </p:nvPr>
        </p:nvSpPr>
        <p:spPr/>
        <p:txBody>
          <a:bodyPr/>
          <a:lstStyle/>
          <a:p>
            <a:r>
              <a:rPr lang="it-IT" dirty="0" smtClean="0"/>
              <a:t>What should we do?</a:t>
            </a:r>
            <a:endParaRPr lang="en-US" dirty="0"/>
          </a:p>
        </p:txBody>
      </p:sp>
      <p:pic>
        <p:nvPicPr>
          <p:cNvPr id="4102" name="Picture 6" descr="http://www.sana.org.my/images/under_construction_icon.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2309" r="100000"/>
                    </a14:imgEffect>
                  </a14:imgLayer>
                </a14:imgProps>
              </a:ext>
              <a:ext uri="{28A0092B-C50C-407E-A947-70E740481C1C}">
                <a14:useLocalDpi xmlns:a14="http://schemas.microsoft.com/office/drawing/2010/main" val="0"/>
              </a:ext>
            </a:extLst>
          </a:blip>
          <a:srcRect/>
          <a:stretch>
            <a:fillRect/>
          </a:stretch>
        </p:blipFill>
        <p:spPr bwMode="auto">
          <a:xfrm>
            <a:off x="395536" y="1628800"/>
            <a:ext cx="2136329" cy="2136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72699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a:t>
            </a:r>
            <a:r>
              <a:rPr lang="it-IT" sz="2400" i="1" dirty="0" smtClean="0">
                <a:solidFill>
                  <a:srgbClr val="FFFFFF">
                    <a:lumMod val="75000"/>
                  </a:srgbClr>
                </a:solidFill>
              </a:rPr>
              <a:t>Preparation</a:t>
            </a:r>
            <a:r>
              <a:rPr lang="it-IT" dirty="0" smtClean="0"/>
              <a:t/>
            </a:r>
            <a:br>
              <a:rPr lang="it-IT" dirty="0" smtClean="0"/>
            </a:br>
            <a:r>
              <a:rPr lang="it-IT" dirty="0" smtClean="0"/>
              <a:t>Raised Floor</a:t>
            </a:r>
            <a:endParaRPr lang="en-US" dirty="0"/>
          </a:p>
        </p:txBody>
      </p:sp>
      <p:pic>
        <p:nvPicPr>
          <p:cNvPr id="11266" name="Picture 2" descr="http://www.teknofloor.it/img/esplos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2613" y="1957264"/>
            <a:ext cx="4416214" cy="331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50249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a:t>
            </a:r>
            <a:r>
              <a:rPr lang="it-IT" sz="2400" i="1" dirty="0" smtClean="0">
                <a:solidFill>
                  <a:srgbClr val="FFFFFF">
                    <a:lumMod val="75000"/>
                  </a:srgbClr>
                </a:solidFill>
              </a:rPr>
              <a:t>Preparation</a:t>
            </a:r>
            <a:r>
              <a:rPr lang="it-IT" dirty="0" smtClean="0"/>
              <a:t/>
            </a:r>
            <a:br>
              <a:rPr lang="it-IT" dirty="0" smtClean="0"/>
            </a:br>
            <a:r>
              <a:rPr lang="it-IT" dirty="0" smtClean="0"/>
              <a:t>Raised Floor</a:t>
            </a:r>
            <a:endParaRPr lang="en-US" dirty="0"/>
          </a:p>
        </p:txBody>
      </p:sp>
      <p:pic>
        <p:nvPicPr>
          <p:cNvPr id="11272" name="Picture 8" descr="http://0.tqn.com/d/construction/1/0/G/A/-/-/Natural-Daylighting-and-Raised-Floor-System_CREDIT-Alexander-Denmarsh-Photograph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844824"/>
            <a:ext cx="4406804" cy="33067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tateinc.com/images/computer-room-fin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6804" y="1844825"/>
            <a:ext cx="4737196" cy="3306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473973"/>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Raised Floor</a:t>
            </a:r>
            <a:endParaRPr lang="en-US" dirty="0"/>
          </a:p>
        </p:txBody>
      </p:sp>
      <p:pic>
        <p:nvPicPr>
          <p:cNvPr id="12294" name="Picture 6" descr="https://encrypted-tbn2.gstatic.com/images?q=tbn:ANd9GcSurDsiF_auKc75p_Z-Ctqy6TXvEJ7nOJ_z5j-wGsTos1B2zy6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340768"/>
            <a:ext cx="1393966" cy="19442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699792" y="1279793"/>
            <a:ext cx="5573385" cy="276999"/>
          </a:xfrm>
          <a:prstGeom prst="rect">
            <a:avLst/>
          </a:prstGeom>
          <a:noFill/>
        </p:spPr>
        <p:txBody>
          <a:bodyPr wrap="none" lIns="0" tIns="0" rIns="0" bIns="0" rtlCol="0">
            <a:spAutoFit/>
          </a:bodyPr>
          <a:lstStyle/>
          <a:p>
            <a:pPr algn="ctr"/>
            <a:r>
              <a:rPr lang="en-US" dirty="0">
                <a:solidFill>
                  <a:schemeClr val="bg2"/>
                </a:solidFill>
              </a:rPr>
              <a:t>Do you have an idea of the involved rack </a:t>
            </a:r>
            <a:r>
              <a:rPr lang="en-US" dirty="0" smtClean="0">
                <a:solidFill>
                  <a:schemeClr val="bg2"/>
                </a:solidFill>
              </a:rPr>
              <a:t>loads?</a:t>
            </a:r>
          </a:p>
        </p:txBody>
      </p:sp>
      <p:sp>
        <p:nvSpPr>
          <p:cNvPr id="5" name="TextBox 4"/>
          <p:cNvSpPr txBox="1"/>
          <p:nvPr/>
        </p:nvSpPr>
        <p:spPr>
          <a:xfrm>
            <a:off x="2699792" y="1700808"/>
            <a:ext cx="2577936" cy="369332"/>
          </a:xfrm>
          <a:prstGeom prst="rect">
            <a:avLst/>
          </a:prstGeom>
          <a:noFill/>
        </p:spPr>
        <p:txBody>
          <a:bodyPr wrap="square" lIns="0" tIns="0" rIns="0" bIns="0" rtlCol="0">
            <a:spAutoFit/>
          </a:bodyPr>
          <a:lstStyle/>
          <a:p>
            <a:pPr algn="ctr"/>
            <a:r>
              <a:rPr lang="en-US" sz="1200" dirty="0">
                <a:solidFill>
                  <a:schemeClr val="bg2"/>
                </a:solidFill>
              </a:rPr>
              <a:t>What is the average weight of a </a:t>
            </a:r>
            <a:r>
              <a:rPr lang="en-US" sz="1200" b="1" dirty="0">
                <a:solidFill>
                  <a:schemeClr val="bg2"/>
                </a:solidFill>
              </a:rPr>
              <a:t>server rack</a:t>
            </a:r>
            <a:r>
              <a:rPr lang="en-US" sz="1200" dirty="0" smtClean="0">
                <a:solidFill>
                  <a:schemeClr val="bg2"/>
                </a:solidFill>
              </a:rPr>
              <a:t>?</a:t>
            </a:r>
            <a:endParaRPr lang="en-US" sz="1200" dirty="0">
              <a:solidFill>
                <a:schemeClr val="bg2"/>
              </a:solidFill>
            </a:endParaRPr>
          </a:p>
        </p:txBody>
      </p:sp>
      <p:sp>
        <p:nvSpPr>
          <p:cNvPr id="9" name="TextBox 8"/>
          <p:cNvSpPr txBox="1"/>
          <p:nvPr/>
        </p:nvSpPr>
        <p:spPr>
          <a:xfrm>
            <a:off x="5455324" y="1711112"/>
            <a:ext cx="2577936" cy="369332"/>
          </a:xfrm>
          <a:prstGeom prst="rect">
            <a:avLst/>
          </a:prstGeom>
          <a:noFill/>
        </p:spPr>
        <p:txBody>
          <a:bodyPr wrap="square" lIns="0" tIns="0" rIns="0" bIns="0" rtlCol="0">
            <a:spAutoFit/>
          </a:bodyPr>
          <a:lstStyle>
            <a:defPPr>
              <a:defRPr lang="en-US"/>
            </a:defPPr>
            <a:lvl1pPr algn="ctr">
              <a:defRPr sz="1200">
                <a:solidFill>
                  <a:schemeClr val="bg2"/>
                </a:solidFill>
              </a:defRPr>
            </a:lvl1pPr>
          </a:lstStyle>
          <a:p>
            <a:r>
              <a:rPr lang="en-US" dirty="0"/>
              <a:t>What is the weight of a full configured </a:t>
            </a:r>
            <a:r>
              <a:rPr lang="en-US" b="1" dirty="0" smtClean="0"/>
              <a:t>VMAX</a:t>
            </a:r>
            <a:r>
              <a:rPr lang="en-US" dirty="0" smtClean="0"/>
              <a:t>?</a:t>
            </a:r>
            <a:endParaRPr lang="en-US" dirty="0"/>
          </a:p>
        </p:txBody>
      </p:sp>
      <p:pic>
        <p:nvPicPr>
          <p:cNvPr id="12296" name="Picture 8" descr="http://cfnewsads.thomasnet.com/images/large/585/58559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17619" y="2204864"/>
            <a:ext cx="942282" cy="1580564"/>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http://www.muycomputerpro.com/files/HIDDEN_264_8701_FOTO_EMC_Symmetrix_V-Max_1_Abr0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2728" y="2248678"/>
            <a:ext cx="2091081" cy="1492935"/>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1155237" y="4425241"/>
            <a:ext cx="2548369" cy="1652265"/>
            <a:chOff x="683568" y="4365957"/>
            <a:chExt cx="2548369" cy="1652265"/>
          </a:xfrm>
        </p:grpSpPr>
        <p:pic>
          <p:nvPicPr>
            <p:cNvPr id="12302" name="Picture 14" descr="http://www.pavimentisopraelevati.net/images/resistenza_meccanica.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4650596"/>
              <a:ext cx="2548369" cy="136762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02600" y="4365957"/>
              <a:ext cx="2510304" cy="276999"/>
            </a:xfrm>
            <a:prstGeom prst="rect">
              <a:avLst/>
            </a:prstGeom>
            <a:noFill/>
          </p:spPr>
          <p:txBody>
            <a:bodyPr wrap="none" lIns="0" tIns="0" rIns="0" bIns="0" rtlCol="0">
              <a:spAutoFit/>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Concentrated loads</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TextBox 2"/>
            <p:cNvSpPr txBox="1"/>
            <p:nvPr/>
          </p:nvSpPr>
          <p:spPr>
            <a:xfrm>
              <a:off x="1482791" y="5147320"/>
              <a:ext cx="403957" cy="123111"/>
            </a:xfrm>
            <a:prstGeom prst="rect">
              <a:avLst/>
            </a:prstGeom>
            <a:noFill/>
          </p:spPr>
          <p:txBody>
            <a:bodyPr wrap="none" lIns="0" tIns="0" rIns="0" bIns="0" rtlCol="0">
              <a:spAutoFit/>
            </a:bodyPr>
            <a:lstStyle/>
            <a:p>
              <a:pPr algn="ctr"/>
              <a:r>
                <a:rPr lang="it-IT" sz="800" i="1" dirty="0" smtClean="0">
                  <a:solidFill>
                    <a:schemeClr val="bg2"/>
                  </a:solidFill>
                </a:rPr>
                <a:t>2,5 mm</a:t>
              </a:r>
              <a:endParaRPr lang="en-US" sz="800" i="1" dirty="0" smtClean="0">
                <a:solidFill>
                  <a:schemeClr val="bg2"/>
                </a:solidFill>
              </a:endParaRPr>
            </a:p>
          </p:txBody>
        </p:sp>
      </p:grpSp>
      <p:graphicFrame>
        <p:nvGraphicFramePr>
          <p:cNvPr id="8" name="Table 7"/>
          <p:cNvGraphicFramePr>
            <a:graphicFrameLocks noGrp="1"/>
          </p:cNvGraphicFramePr>
          <p:nvPr>
            <p:extLst>
              <p:ext uri="{D42A27DB-BD31-4B8C-83A1-F6EECF244321}">
                <p14:modId xmlns:p14="http://schemas.microsoft.com/office/powerpoint/2010/main" val="677159106"/>
              </p:ext>
            </p:extLst>
          </p:nvPr>
        </p:nvGraphicFramePr>
        <p:xfrm>
          <a:off x="4788024" y="4966973"/>
          <a:ext cx="3816424" cy="1066800"/>
        </p:xfrm>
        <a:graphic>
          <a:graphicData uri="http://schemas.openxmlformats.org/drawingml/2006/table">
            <a:tbl>
              <a:tblPr firstRow="1" bandRow="1">
                <a:tableStyleId>{6E25E649-3F16-4E02-A733-19D2CDBF48F0}</a:tableStyleId>
              </a:tblPr>
              <a:tblGrid>
                <a:gridCol w="1440160"/>
                <a:gridCol w="1234193"/>
                <a:gridCol w="1142071"/>
              </a:tblGrid>
              <a:tr h="0">
                <a:tc>
                  <a:txBody>
                    <a:bodyPr/>
                    <a:lstStyle/>
                    <a:p>
                      <a:pPr algn="ctr"/>
                      <a:r>
                        <a:rPr lang="it-IT" sz="800" dirty="0" smtClean="0"/>
                        <a:t>Class</a:t>
                      </a:r>
                      <a:endParaRPr lang="en-US" sz="800" dirty="0"/>
                    </a:p>
                  </a:txBody>
                  <a:tcPr/>
                </a:tc>
                <a:tc>
                  <a:txBody>
                    <a:bodyPr/>
                    <a:lstStyle/>
                    <a:p>
                      <a:pPr algn="ctr"/>
                      <a:r>
                        <a:rPr lang="it-IT" sz="800" dirty="0" err="1" smtClean="0"/>
                        <a:t>Working</a:t>
                      </a:r>
                      <a:r>
                        <a:rPr lang="it-IT" sz="800" dirty="0" smtClean="0"/>
                        <a:t> </a:t>
                      </a:r>
                      <a:r>
                        <a:rPr lang="it-IT" sz="800" dirty="0" err="1" smtClean="0"/>
                        <a:t>Load</a:t>
                      </a:r>
                      <a:endParaRPr lang="en-US" sz="800" dirty="0"/>
                    </a:p>
                  </a:txBody>
                  <a:tcPr/>
                </a:tc>
                <a:tc>
                  <a:txBody>
                    <a:bodyPr/>
                    <a:lstStyle/>
                    <a:p>
                      <a:pPr algn="ctr"/>
                      <a:r>
                        <a:rPr lang="it-IT" sz="800" dirty="0" err="1" smtClean="0"/>
                        <a:t>Equivalent</a:t>
                      </a:r>
                      <a:endParaRPr lang="en-US" sz="800" dirty="0"/>
                    </a:p>
                  </a:txBody>
                  <a:tcPr/>
                </a:tc>
              </a:tr>
              <a:tr h="0">
                <a:tc>
                  <a:txBody>
                    <a:bodyPr/>
                    <a:lstStyle/>
                    <a:p>
                      <a:pPr algn="l"/>
                      <a:r>
                        <a:rPr lang="it-IT" sz="800" dirty="0" smtClean="0"/>
                        <a:t>Class 1 – </a:t>
                      </a:r>
                      <a:r>
                        <a:rPr lang="it-IT" sz="800" dirty="0" err="1" smtClean="0"/>
                        <a:t>low</a:t>
                      </a:r>
                      <a:r>
                        <a:rPr lang="it-IT" sz="800" dirty="0" smtClean="0"/>
                        <a:t> </a:t>
                      </a:r>
                      <a:r>
                        <a:rPr lang="it-IT" sz="800" dirty="0" err="1" smtClean="0"/>
                        <a:t>loads</a:t>
                      </a:r>
                      <a:endParaRPr lang="en-US" sz="800" dirty="0"/>
                    </a:p>
                  </a:txBody>
                  <a:tcPr/>
                </a:tc>
                <a:tc>
                  <a:txBody>
                    <a:bodyPr/>
                    <a:lstStyle/>
                    <a:p>
                      <a:pPr algn="ctr"/>
                      <a:r>
                        <a:rPr lang="it-IT" sz="800" dirty="0" smtClean="0"/>
                        <a:t>2 </a:t>
                      </a:r>
                      <a:r>
                        <a:rPr lang="it-IT" sz="800" dirty="0" err="1" smtClean="0"/>
                        <a:t>kN</a:t>
                      </a:r>
                      <a:endParaRPr lang="en-US" sz="800" dirty="0"/>
                    </a:p>
                  </a:txBody>
                  <a:tcPr/>
                </a:tc>
                <a:tc>
                  <a:txBody>
                    <a:bodyPr/>
                    <a:lstStyle/>
                    <a:p>
                      <a:pPr algn="ctr"/>
                      <a:r>
                        <a:rPr lang="it-IT" sz="800" dirty="0" smtClean="0"/>
                        <a:t>204 kg</a:t>
                      </a:r>
                      <a:endParaRPr lang="en-US" sz="800" dirty="0"/>
                    </a:p>
                  </a:txBody>
                  <a:tcPr/>
                </a:tc>
              </a:tr>
              <a:tr h="0">
                <a:tc>
                  <a:txBody>
                    <a:bodyPr/>
                    <a:lstStyle/>
                    <a:p>
                      <a:pPr algn="l"/>
                      <a:r>
                        <a:rPr lang="it-IT" sz="800" dirty="0" smtClean="0"/>
                        <a:t>Class 2 – medium </a:t>
                      </a:r>
                      <a:r>
                        <a:rPr lang="it-IT" sz="800" dirty="0" err="1" smtClean="0"/>
                        <a:t>loads</a:t>
                      </a:r>
                      <a:endParaRPr lang="en-US" sz="800" dirty="0"/>
                    </a:p>
                  </a:txBody>
                  <a:tcPr/>
                </a:tc>
                <a:tc>
                  <a:txBody>
                    <a:bodyPr/>
                    <a:lstStyle/>
                    <a:p>
                      <a:pPr algn="ctr"/>
                      <a:r>
                        <a:rPr lang="it-IT" sz="800" dirty="0" smtClean="0"/>
                        <a:t>3 </a:t>
                      </a:r>
                      <a:r>
                        <a:rPr lang="it-IT" sz="800" dirty="0" err="1" smtClean="0"/>
                        <a:t>kN</a:t>
                      </a:r>
                      <a:endParaRPr lang="en-US" sz="800" dirty="0"/>
                    </a:p>
                  </a:txBody>
                  <a:tcPr/>
                </a:tc>
                <a:tc>
                  <a:txBody>
                    <a:bodyPr/>
                    <a:lstStyle/>
                    <a:p>
                      <a:pPr algn="ctr"/>
                      <a:r>
                        <a:rPr lang="it-IT" sz="800" dirty="0" smtClean="0"/>
                        <a:t>306 kg</a:t>
                      </a:r>
                      <a:endParaRPr lang="en-US" sz="800" dirty="0"/>
                    </a:p>
                  </a:txBody>
                  <a:tcPr/>
                </a:tc>
              </a:tr>
              <a:tr h="0">
                <a:tc>
                  <a:txBody>
                    <a:bodyPr/>
                    <a:lstStyle/>
                    <a:p>
                      <a:pPr algn="l"/>
                      <a:r>
                        <a:rPr lang="it-IT" sz="800" dirty="0" smtClean="0"/>
                        <a:t>Class 3 – high </a:t>
                      </a:r>
                      <a:r>
                        <a:rPr lang="it-IT" sz="800" dirty="0" err="1" smtClean="0"/>
                        <a:t>loads</a:t>
                      </a:r>
                      <a:endParaRPr lang="en-US" sz="800" dirty="0"/>
                    </a:p>
                  </a:txBody>
                  <a:tcPr/>
                </a:tc>
                <a:tc>
                  <a:txBody>
                    <a:bodyPr/>
                    <a:lstStyle/>
                    <a:p>
                      <a:pPr algn="ctr"/>
                      <a:r>
                        <a:rPr lang="it-IT" sz="800" dirty="0" smtClean="0"/>
                        <a:t>4,5 </a:t>
                      </a:r>
                      <a:r>
                        <a:rPr lang="it-IT" sz="800" dirty="0" err="1" smtClean="0"/>
                        <a:t>kN</a:t>
                      </a:r>
                      <a:endParaRPr lang="en-US" sz="800" dirty="0"/>
                    </a:p>
                  </a:txBody>
                  <a:tcPr/>
                </a:tc>
                <a:tc>
                  <a:txBody>
                    <a:bodyPr/>
                    <a:lstStyle/>
                    <a:p>
                      <a:pPr algn="ctr"/>
                      <a:r>
                        <a:rPr lang="it-IT" sz="800" dirty="0" smtClean="0"/>
                        <a:t>459 kg</a:t>
                      </a:r>
                      <a:endParaRPr lang="en-US" sz="800" dirty="0"/>
                    </a:p>
                  </a:txBody>
                  <a:tcPr/>
                </a:tc>
              </a:tr>
              <a:tr h="0">
                <a:tc>
                  <a:txBody>
                    <a:bodyPr/>
                    <a:lstStyle/>
                    <a:p>
                      <a:pPr algn="l"/>
                      <a:r>
                        <a:rPr lang="it-IT" sz="800" dirty="0" smtClean="0"/>
                        <a:t>Class 4 –</a:t>
                      </a:r>
                      <a:r>
                        <a:rPr lang="it-IT" sz="800" baseline="0" dirty="0" smtClean="0"/>
                        <a:t> special </a:t>
                      </a:r>
                      <a:r>
                        <a:rPr lang="it-IT" sz="800" baseline="0" dirty="0" err="1" smtClean="0"/>
                        <a:t>loads</a:t>
                      </a:r>
                      <a:endParaRPr lang="en-US" sz="800" dirty="0"/>
                    </a:p>
                  </a:txBody>
                  <a:tcPr/>
                </a:tc>
                <a:tc>
                  <a:txBody>
                    <a:bodyPr/>
                    <a:lstStyle/>
                    <a:p>
                      <a:pPr algn="ctr"/>
                      <a:r>
                        <a:rPr lang="it-IT" sz="800" dirty="0" smtClean="0"/>
                        <a:t>&gt;4,5 </a:t>
                      </a:r>
                      <a:r>
                        <a:rPr lang="it-IT" sz="800" dirty="0" err="1" smtClean="0"/>
                        <a:t>kN</a:t>
                      </a:r>
                      <a:endParaRPr lang="en-US" sz="800" dirty="0"/>
                    </a:p>
                  </a:txBody>
                  <a:tcPr/>
                </a:tc>
                <a:tc>
                  <a:txBody>
                    <a:bodyPr/>
                    <a:lstStyle/>
                    <a:p>
                      <a:pPr algn="ctr"/>
                      <a:r>
                        <a:rPr lang="it-IT" sz="800" dirty="0" smtClean="0"/>
                        <a:t>&gt; 459</a:t>
                      </a:r>
                      <a:r>
                        <a:rPr lang="it-IT" sz="800" baseline="0" dirty="0" smtClean="0"/>
                        <a:t> kg</a:t>
                      </a:r>
                      <a:endParaRPr lang="en-US" sz="800" dirty="0"/>
                    </a:p>
                  </a:txBody>
                  <a:tcPr/>
                </a:tc>
              </a:tr>
            </a:tbl>
          </a:graphicData>
        </a:graphic>
      </p:graphicFrame>
      <p:grpSp>
        <p:nvGrpSpPr>
          <p:cNvPr id="16" name="Group 15"/>
          <p:cNvGrpSpPr/>
          <p:nvPr/>
        </p:nvGrpSpPr>
        <p:grpSpPr>
          <a:xfrm>
            <a:off x="5661118" y="4234164"/>
            <a:ext cx="2754981" cy="455337"/>
            <a:chOff x="4481315" y="4063655"/>
            <a:chExt cx="2754981" cy="455337"/>
          </a:xfrm>
        </p:grpSpPr>
        <p:sp>
          <p:nvSpPr>
            <p:cNvPr id="12" name="TextBox 11"/>
            <p:cNvSpPr txBox="1"/>
            <p:nvPr/>
          </p:nvSpPr>
          <p:spPr>
            <a:xfrm>
              <a:off x="4481315" y="4225186"/>
              <a:ext cx="1033936" cy="153888"/>
            </a:xfrm>
            <a:prstGeom prst="rect">
              <a:avLst/>
            </a:prstGeom>
            <a:noFill/>
          </p:spPr>
          <p:txBody>
            <a:bodyPr wrap="none" lIns="0" tIns="0" rIns="0" bIns="0" rtlCol="0">
              <a:spAutoFit/>
            </a:bodyPr>
            <a:lstStyle/>
            <a:p>
              <a:pPr algn="ctr"/>
              <a:r>
                <a:rPr lang="it-IT" sz="1000" dirty="0" err="1" smtClean="0">
                  <a:solidFill>
                    <a:schemeClr val="bg2"/>
                  </a:solidFill>
                </a:rPr>
                <a:t>Working</a:t>
              </a:r>
              <a:r>
                <a:rPr lang="it-IT" sz="1000" dirty="0" smtClean="0">
                  <a:solidFill>
                    <a:schemeClr val="bg2"/>
                  </a:solidFill>
                </a:rPr>
                <a:t> </a:t>
              </a:r>
              <a:r>
                <a:rPr lang="it-IT" sz="1000" dirty="0" err="1" smtClean="0">
                  <a:solidFill>
                    <a:schemeClr val="bg2"/>
                  </a:solidFill>
                </a:rPr>
                <a:t>Load</a:t>
              </a:r>
              <a:r>
                <a:rPr lang="it-IT" sz="1000" dirty="0" smtClean="0">
                  <a:solidFill>
                    <a:schemeClr val="bg2"/>
                  </a:solidFill>
                </a:rPr>
                <a:t> =</a:t>
              </a:r>
              <a:endParaRPr lang="en-US" sz="1000" dirty="0" smtClean="0">
                <a:solidFill>
                  <a:schemeClr val="bg2"/>
                </a:solidFill>
              </a:endParaRPr>
            </a:p>
          </p:txBody>
        </p:sp>
        <p:sp>
          <p:nvSpPr>
            <p:cNvPr id="22" name="TextBox 21"/>
            <p:cNvSpPr txBox="1"/>
            <p:nvPr/>
          </p:nvSpPr>
          <p:spPr>
            <a:xfrm>
              <a:off x="5934249" y="4063655"/>
              <a:ext cx="979435" cy="153888"/>
            </a:xfrm>
            <a:prstGeom prst="rect">
              <a:avLst/>
            </a:prstGeom>
            <a:noFill/>
          </p:spPr>
          <p:txBody>
            <a:bodyPr wrap="none" lIns="0" tIns="0" rIns="0" bIns="0" rtlCol="0">
              <a:spAutoFit/>
            </a:bodyPr>
            <a:lstStyle/>
            <a:p>
              <a:pPr algn="ctr"/>
              <a:r>
                <a:rPr lang="it-IT" sz="1000" dirty="0" smtClean="0">
                  <a:solidFill>
                    <a:schemeClr val="bg2"/>
                  </a:solidFill>
                </a:rPr>
                <a:t>Maximum </a:t>
              </a:r>
              <a:r>
                <a:rPr lang="it-IT" sz="1000" dirty="0" err="1" smtClean="0">
                  <a:solidFill>
                    <a:schemeClr val="bg2"/>
                  </a:solidFill>
                </a:rPr>
                <a:t>Load</a:t>
              </a:r>
              <a:endParaRPr lang="en-US" sz="1000" dirty="0" smtClean="0">
                <a:solidFill>
                  <a:schemeClr val="bg2"/>
                </a:solidFill>
              </a:endParaRPr>
            </a:p>
          </p:txBody>
        </p:sp>
        <p:sp>
          <p:nvSpPr>
            <p:cNvPr id="23" name="TextBox 22"/>
            <p:cNvSpPr txBox="1"/>
            <p:nvPr/>
          </p:nvSpPr>
          <p:spPr>
            <a:xfrm>
              <a:off x="5794787" y="4365104"/>
              <a:ext cx="1258358" cy="153888"/>
            </a:xfrm>
            <a:prstGeom prst="rect">
              <a:avLst/>
            </a:prstGeom>
            <a:noFill/>
          </p:spPr>
          <p:txBody>
            <a:bodyPr wrap="none" lIns="0" tIns="0" rIns="0" bIns="0" rtlCol="0">
              <a:spAutoFit/>
            </a:bodyPr>
            <a:lstStyle/>
            <a:p>
              <a:pPr algn="ctr"/>
              <a:r>
                <a:rPr lang="it-IT" sz="1000" dirty="0" smtClean="0">
                  <a:solidFill>
                    <a:schemeClr val="bg2"/>
                  </a:solidFill>
                </a:rPr>
                <a:t>Security </a:t>
              </a:r>
              <a:r>
                <a:rPr lang="it-IT" sz="1000" dirty="0" err="1" smtClean="0">
                  <a:solidFill>
                    <a:schemeClr val="bg2"/>
                  </a:solidFill>
                </a:rPr>
                <a:t>Coefficient</a:t>
              </a:r>
              <a:endParaRPr lang="en-US" sz="1000" dirty="0" smtClean="0">
                <a:solidFill>
                  <a:schemeClr val="bg2"/>
                </a:solidFill>
              </a:endParaRPr>
            </a:p>
          </p:txBody>
        </p:sp>
        <p:cxnSp>
          <p:nvCxnSpPr>
            <p:cNvPr id="15" name="Straight Connector 14"/>
            <p:cNvCxnSpPr/>
            <p:nvPr/>
          </p:nvCxnSpPr>
          <p:spPr>
            <a:xfrm>
              <a:off x="5564489" y="4302130"/>
              <a:ext cx="1671807"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1810100" y="2641230"/>
            <a:ext cx="1893506" cy="643754"/>
            <a:chOff x="1810100" y="2641230"/>
            <a:chExt cx="1893506" cy="643754"/>
          </a:xfrm>
        </p:grpSpPr>
        <p:sp>
          <p:nvSpPr>
            <p:cNvPr id="11" name="Rectangle 195"/>
            <p:cNvSpPr>
              <a:spLocks noChangeArrowheads="1"/>
            </p:cNvSpPr>
            <p:nvPr/>
          </p:nvSpPr>
          <p:spPr bwMode="auto">
            <a:xfrm>
              <a:off x="1810100" y="2641230"/>
              <a:ext cx="1893506" cy="276999"/>
            </a:xfrm>
            <a:prstGeom prst="rect">
              <a:avLst/>
            </a:prstGeom>
            <a:noFill/>
            <a:ln w="9525" algn="ctr">
              <a:noFill/>
              <a:miter lim="800000"/>
              <a:headEnd/>
              <a:tailEnd/>
            </a:ln>
            <a:effectLst/>
          </p:spPr>
          <p:txBody>
            <a:bodyPr wrap="square" lIns="0" tIns="0" rIns="0" bIns="0">
              <a:spAutoFit/>
            </a:bodyPr>
            <a:lstStyle/>
            <a:p>
              <a:pPr algn="ctr">
                <a:lnSpc>
                  <a:spcPct val="150000"/>
                </a:lnSpc>
                <a:spcBef>
                  <a:spcPct val="30000"/>
                </a:spcBef>
                <a:buClr>
                  <a:schemeClr val="folHlink"/>
                </a:buClr>
                <a:buFont typeface="Wingdings" pitchFamily="2" charset="2"/>
                <a:buNone/>
              </a:pPr>
              <a:r>
                <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Up to </a:t>
              </a:r>
              <a:r>
                <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700 kg</a:t>
              </a:r>
              <a:endPar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2050" name="Picture 2" descr="https://d13yacurqjgara.cloudfront.net/users/836755/screenshots/2103866/500_1x.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3858" t="24362" r="12433" b="22719"/>
            <a:stretch/>
          </p:blipFill>
          <p:spPr bwMode="auto">
            <a:xfrm>
              <a:off x="2195736" y="2974558"/>
              <a:ext cx="576506" cy="31042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https://d13yacurqjgara.cloudfront.net/users/836755/screenshots/2103866/500_1x.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3858" t="24362" r="49021" b="22719"/>
            <a:stretch/>
          </p:blipFill>
          <p:spPr bwMode="auto">
            <a:xfrm>
              <a:off x="2841509" y="2974558"/>
              <a:ext cx="290331" cy="3104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p:cNvGrpSpPr/>
          <p:nvPr/>
        </p:nvGrpSpPr>
        <p:grpSpPr>
          <a:xfrm>
            <a:off x="6744292" y="2657925"/>
            <a:ext cx="1937904" cy="627059"/>
            <a:chOff x="6744292" y="2657925"/>
            <a:chExt cx="1937904" cy="627059"/>
          </a:xfrm>
        </p:grpSpPr>
        <p:sp>
          <p:nvSpPr>
            <p:cNvPr id="13" name="Rectangle 195"/>
            <p:cNvSpPr>
              <a:spLocks noChangeArrowheads="1"/>
            </p:cNvSpPr>
            <p:nvPr/>
          </p:nvSpPr>
          <p:spPr bwMode="auto">
            <a:xfrm>
              <a:off x="6744292" y="2657925"/>
              <a:ext cx="1893506" cy="276999"/>
            </a:xfrm>
            <a:prstGeom prst="rect">
              <a:avLst/>
            </a:prstGeom>
            <a:noFill/>
            <a:ln w="9525" algn="ctr">
              <a:noFill/>
              <a:miter lim="800000"/>
              <a:headEnd/>
              <a:tailEnd/>
            </a:ln>
            <a:effectLst/>
          </p:spPr>
          <p:txBody>
            <a:bodyPr wrap="square" lIns="0" tIns="0" rIns="0" bIns="0">
              <a:spAutoFit/>
            </a:bodyPr>
            <a:lstStyle/>
            <a:p>
              <a:pPr algn="ctr">
                <a:lnSpc>
                  <a:spcPct val="150000"/>
                </a:lnSpc>
                <a:spcBef>
                  <a:spcPct val="30000"/>
                </a:spcBef>
                <a:buClr>
                  <a:schemeClr val="folHlink"/>
                </a:buClr>
                <a:buFont typeface="Wingdings" pitchFamily="2" charset="2"/>
                <a:buNone/>
              </a:pPr>
              <a:r>
                <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Up to </a:t>
              </a:r>
              <a:r>
                <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1300 kg</a:t>
              </a:r>
              <a:endPar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25" name="Picture 2" descr="https://d13yacurqjgara.cloudfront.net/users/836755/screenshots/2103866/500_1x.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3858" t="24362" r="12433" b="22719"/>
            <a:stretch/>
          </p:blipFill>
          <p:spPr bwMode="auto">
            <a:xfrm>
              <a:off x="7108896" y="2974558"/>
              <a:ext cx="576506" cy="31042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https://d13yacurqjgara.cloudfront.net/users/836755/screenshots/2103866/500_1x.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3858" t="24362" r="12433" b="22719"/>
            <a:stretch/>
          </p:blipFill>
          <p:spPr bwMode="auto">
            <a:xfrm>
              <a:off x="7750381" y="2974558"/>
              <a:ext cx="576506" cy="31042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s://d13yacurqjgara.cloudfront.net/users/836755/screenshots/2103866/500_1x.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3858" t="24362" r="49021" b="22719"/>
            <a:stretch/>
          </p:blipFill>
          <p:spPr bwMode="auto">
            <a:xfrm>
              <a:off x="8391865" y="2974558"/>
              <a:ext cx="290331" cy="31042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60762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Floor space Identifiers</a:t>
            </a:r>
            <a:endParaRPr lang="en-US" dirty="0"/>
          </a:p>
        </p:txBody>
      </p:sp>
      <p:pic>
        <p:nvPicPr>
          <p:cNvPr id="3078" name="Picture 6" descr="http://www.mailanetworks.com/sites/default/files/data-center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2776"/>
            <a:ext cx="9144000" cy="4773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774608"/>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http://www.getsyncd.com/images/datacent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8025" y="1481514"/>
            <a:ext cx="2813494" cy="15219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Floor space Identifiers</a:t>
            </a:r>
            <a:endParaRPr lang="en-US" dirty="0"/>
          </a:p>
        </p:txBody>
      </p:sp>
      <p:pic>
        <p:nvPicPr>
          <p:cNvPr id="1030" name="Picture 6" descr="http://media.brildor.com/tienda/media/catalog/product/cache/1/image/9df78eab33525d08d6e5fb8d27136e95/s/s/sse900200.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85226" y="1937177"/>
            <a:ext cx="1121665" cy="112166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encrypted-tbn2.gstatic.com/images?q=tbn:ANd9GcQw8f8UlR-EPAIW4QFFDOtGRvj4-UJ-Wt1gXJI_yHMrFhnVwfO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656" y="1481514"/>
            <a:ext cx="1997479" cy="1599575"/>
          </a:xfrm>
          <a:prstGeom prst="rect">
            <a:avLst/>
          </a:prstGeom>
          <a:noFill/>
          <a:extLst>
            <a:ext uri="{909E8E84-426E-40DD-AFC4-6F175D3DCCD1}">
              <a14:hiddenFill xmlns:a14="http://schemas.microsoft.com/office/drawing/2010/main">
                <a:solidFill>
                  <a:srgbClr val="FFFFFF"/>
                </a:solidFill>
              </a14:hiddenFill>
            </a:ext>
          </a:extLst>
        </p:spPr>
      </p:pic>
      <p:sp>
        <p:nvSpPr>
          <p:cNvPr id="16" name="Cloud Callout 15"/>
          <p:cNvSpPr/>
          <p:nvPr/>
        </p:nvSpPr>
        <p:spPr>
          <a:xfrm>
            <a:off x="7185226" y="1112624"/>
            <a:ext cx="1794913" cy="737780"/>
          </a:xfrm>
          <a:prstGeom prst="cloudCallout">
            <a:avLst/>
          </a:prstGeom>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dirty="0" smtClean="0"/>
              <a:t>Where is it??</a:t>
            </a:r>
            <a:endParaRPr lang="en-US" sz="1200" dirty="0"/>
          </a:p>
        </p:txBody>
      </p:sp>
      <p:sp>
        <p:nvSpPr>
          <p:cNvPr id="3" name="TextBox 2"/>
          <p:cNvSpPr txBox="1"/>
          <p:nvPr/>
        </p:nvSpPr>
        <p:spPr>
          <a:xfrm>
            <a:off x="1716210" y="1526014"/>
            <a:ext cx="2470228" cy="276999"/>
          </a:xfrm>
          <a:prstGeom prst="rect">
            <a:avLst/>
          </a:prstGeom>
          <a:noFill/>
        </p:spPr>
        <p:txBody>
          <a:bodyPr wrap="none" lIns="0" tIns="0" rIns="0" bIns="0" rtlCol="0">
            <a:spAutoFit/>
          </a:bodyPr>
          <a:lstStyle/>
          <a:p>
            <a:pPr algn="ctr"/>
            <a:r>
              <a:rPr lang="it-IT" b="1" dirty="0" smtClean="0">
                <a:ln w="1905"/>
                <a:solidFill>
                  <a:schemeClr val="bg2">
                    <a:lumMod val="60000"/>
                    <a:lumOff val="40000"/>
                  </a:schemeClr>
                </a:solidFill>
                <a:effectLst>
                  <a:innerShdw blurRad="69850" dist="43180" dir="5400000">
                    <a:srgbClr val="000000">
                      <a:alpha val="65000"/>
                    </a:srgbClr>
                  </a:innerShdw>
                </a:effectLst>
              </a:rPr>
              <a:t>Server «Colosseo»</a:t>
            </a:r>
            <a:endParaRPr lang="en-US" b="1" dirty="0" smtClean="0">
              <a:ln w="1905"/>
              <a:solidFill>
                <a:schemeClr val="bg2">
                  <a:lumMod val="60000"/>
                  <a:lumOff val="40000"/>
                </a:schemeClr>
              </a:solidFill>
              <a:effectLst>
                <a:innerShdw blurRad="69850" dist="43180" dir="5400000">
                  <a:srgbClr val="000000">
                    <a:alpha val="65000"/>
                  </a:srgbClr>
                </a:innerShdw>
              </a:effectLst>
            </a:endParaRPr>
          </a:p>
        </p:txBody>
      </p:sp>
      <p:pic>
        <p:nvPicPr>
          <p:cNvPr id="9" name="Picture 6"/>
          <p:cNvPicPr>
            <a:picLocks noChangeAspect="1" noChangeArrowheads="1"/>
          </p:cNvPicPr>
          <p:nvPr/>
        </p:nvPicPr>
        <p:blipFill>
          <a:blip r:embed="rId5" cstate="print"/>
          <a:srcRect/>
          <a:stretch>
            <a:fillRect/>
          </a:stretch>
        </p:blipFill>
        <p:spPr bwMode="auto">
          <a:xfrm>
            <a:off x="1959334" y="3212976"/>
            <a:ext cx="4423876" cy="2880288"/>
          </a:xfrm>
          <a:prstGeom prst="rect">
            <a:avLst/>
          </a:prstGeom>
          <a:noFill/>
          <a:ln w="9525" algn="ctr">
            <a:noFill/>
            <a:miter lim="800000"/>
            <a:headEnd/>
            <a:tailEnd/>
          </a:ln>
          <a:effectLst/>
        </p:spPr>
      </p:pic>
      <p:sp>
        <p:nvSpPr>
          <p:cNvPr id="10" name="Rectangle 8"/>
          <p:cNvSpPr>
            <a:spLocks noChangeArrowheads="1"/>
          </p:cNvSpPr>
          <p:nvPr/>
        </p:nvSpPr>
        <p:spPr bwMode="auto">
          <a:xfrm>
            <a:off x="3955001" y="4007048"/>
            <a:ext cx="185103" cy="264451"/>
          </a:xfrm>
          <a:prstGeom prst="rect">
            <a:avLst/>
          </a:prstGeom>
          <a:solidFill>
            <a:srgbClr val="333333"/>
          </a:solidFill>
          <a:ln w="9525" algn="ctr">
            <a:solidFill>
              <a:schemeClr val="tx1"/>
            </a:solidFill>
            <a:miter lim="800000"/>
            <a:headEnd/>
            <a:tailEnd/>
          </a:ln>
          <a:effectLst/>
        </p:spPr>
        <p:txBody>
          <a:bodyPr wrap="none" lIns="0" tIns="0" rIns="0" bIns="0" anchor="ctr"/>
          <a:lstStyle/>
          <a:p>
            <a:endParaRPr lang="it-IT"/>
          </a:p>
        </p:txBody>
      </p:sp>
      <p:sp>
        <p:nvSpPr>
          <p:cNvPr id="11" name="Oval 9"/>
          <p:cNvSpPr>
            <a:spLocks noChangeArrowheads="1"/>
          </p:cNvSpPr>
          <p:nvPr/>
        </p:nvSpPr>
        <p:spPr bwMode="auto">
          <a:xfrm>
            <a:off x="3895053" y="3203351"/>
            <a:ext cx="212725" cy="184150"/>
          </a:xfrm>
          <a:prstGeom prst="ellipse">
            <a:avLst/>
          </a:prstGeom>
          <a:noFill/>
          <a:ln w="25400" algn="ctr">
            <a:solidFill>
              <a:srgbClr val="FF3300"/>
            </a:solidFill>
            <a:round/>
            <a:headEnd/>
            <a:tailEnd/>
          </a:ln>
          <a:effectLst/>
        </p:spPr>
        <p:txBody>
          <a:bodyPr wrap="none" lIns="0" tIns="0" rIns="0" bIns="0" anchor="ctr"/>
          <a:lstStyle/>
          <a:p>
            <a:endParaRPr lang="it-IT"/>
          </a:p>
        </p:txBody>
      </p:sp>
      <p:sp>
        <p:nvSpPr>
          <p:cNvPr id="12" name="Oval 10"/>
          <p:cNvSpPr>
            <a:spLocks noChangeArrowheads="1"/>
          </p:cNvSpPr>
          <p:nvPr/>
        </p:nvSpPr>
        <p:spPr bwMode="auto">
          <a:xfrm>
            <a:off x="2258119" y="4149080"/>
            <a:ext cx="212725" cy="184150"/>
          </a:xfrm>
          <a:prstGeom prst="ellipse">
            <a:avLst/>
          </a:prstGeom>
          <a:noFill/>
          <a:ln w="25400" algn="ctr">
            <a:solidFill>
              <a:srgbClr val="FF3300"/>
            </a:solidFill>
            <a:round/>
            <a:headEnd/>
            <a:tailEnd/>
          </a:ln>
          <a:effectLst/>
        </p:spPr>
        <p:txBody>
          <a:bodyPr wrap="none" lIns="0" tIns="0" rIns="0" bIns="0" anchor="ctr"/>
          <a:lstStyle/>
          <a:p>
            <a:endParaRPr lang="it-IT"/>
          </a:p>
        </p:txBody>
      </p:sp>
      <p:sp>
        <p:nvSpPr>
          <p:cNvPr id="13" name="TextBox 12"/>
          <p:cNvSpPr txBox="1"/>
          <p:nvPr/>
        </p:nvSpPr>
        <p:spPr>
          <a:xfrm>
            <a:off x="4061277" y="4283471"/>
            <a:ext cx="150683"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14" name="TextBox 13"/>
          <p:cNvSpPr txBox="1"/>
          <p:nvPr/>
        </p:nvSpPr>
        <p:spPr>
          <a:xfrm>
            <a:off x="5426412" y="4230099"/>
            <a:ext cx="968215"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AH - 05</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15" name="Oval 9"/>
          <p:cNvSpPr>
            <a:spLocks noChangeAspect="1" noChangeArrowheads="1"/>
          </p:cNvSpPr>
          <p:nvPr/>
        </p:nvSpPr>
        <p:spPr bwMode="auto">
          <a:xfrm>
            <a:off x="3869046" y="4158705"/>
            <a:ext cx="187195" cy="162052"/>
          </a:xfrm>
          <a:prstGeom prst="ellipse">
            <a:avLst/>
          </a:prstGeom>
          <a:noFill/>
          <a:ln w="25400" algn="ctr">
            <a:solidFill>
              <a:srgbClr val="FF3300"/>
            </a:solidFill>
            <a:round/>
            <a:headEnd/>
            <a:tailEnd/>
          </a:ln>
          <a:effectLst/>
        </p:spPr>
        <p:txBody>
          <a:bodyPr wrap="none" lIns="0" tIns="0" rIns="0" bIns="0" anchor="ctr"/>
          <a:lstStyle/>
          <a:p>
            <a:endParaRPr lang="it-IT"/>
          </a:p>
        </p:txBody>
      </p:sp>
      <p:cxnSp>
        <p:nvCxnSpPr>
          <p:cNvPr id="17" name="Straight Connector 16"/>
          <p:cNvCxnSpPr>
            <a:stCxn id="15" idx="0"/>
          </p:cNvCxnSpPr>
          <p:nvPr/>
        </p:nvCxnSpPr>
        <p:spPr>
          <a:xfrm flipH="1" flipV="1">
            <a:off x="3962643" y="3387501"/>
            <a:ext cx="1" cy="771204"/>
          </a:xfrm>
          <a:prstGeom prst="line">
            <a:avLst/>
          </a:prstGeom>
          <a:ln>
            <a:prstDash val="sysDash"/>
          </a:ln>
        </p:spPr>
        <p:style>
          <a:lnRef idx="3">
            <a:schemeClr val="accent6"/>
          </a:lnRef>
          <a:fillRef idx="0">
            <a:schemeClr val="accent6"/>
          </a:fillRef>
          <a:effectRef idx="2">
            <a:schemeClr val="accent6"/>
          </a:effectRef>
          <a:fontRef idx="minor">
            <a:schemeClr val="tx1"/>
          </a:fontRef>
        </p:style>
      </p:cxnSp>
      <p:cxnSp>
        <p:nvCxnSpPr>
          <p:cNvPr id="18" name="Straight Connector 17"/>
          <p:cNvCxnSpPr>
            <a:endCxn id="12" idx="6"/>
          </p:cNvCxnSpPr>
          <p:nvPr/>
        </p:nvCxnSpPr>
        <p:spPr>
          <a:xfrm flipH="1">
            <a:off x="2470844" y="4241155"/>
            <a:ext cx="1398202" cy="0"/>
          </a:xfrm>
          <a:prstGeom prst="line">
            <a:avLst/>
          </a:prstGeom>
          <a:ln>
            <a:prstDash val="sysDash"/>
          </a:ln>
        </p:spPr>
        <p:style>
          <a:lnRef idx="3">
            <a:schemeClr val="accent6"/>
          </a:lnRef>
          <a:fillRef idx="0">
            <a:schemeClr val="accent6"/>
          </a:fillRef>
          <a:effectRef idx="2">
            <a:schemeClr val="accent6"/>
          </a:effectRef>
          <a:fontRef idx="minor">
            <a:schemeClr val="tx1"/>
          </a:fontRef>
        </p:style>
      </p:cxnSp>
      <p:sp>
        <p:nvSpPr>
          <p:cNvPr id="19" name="TextBox 18"/>
          <p:cNvSpPr txBox="1"/>
          <p:nvPr/>
        </p:nvSpPr>
        <p:spPr>
          <a:xfrm>
            <a:off x="5639019" y="1196752"/>
            <a:ext cx="445149" cy="276999"/>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AH</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0" name="TextBox 19"/>
          <p:cNvSpPr txBox="1">
            <a:spLocks noChangeAspect="1"/>
          </p:cNvSpPr>
          <p:nvPr/>
        </p:nvSpPr>
        <p:spPr>
          <a:xfrm>
            <a:off x="5225205" y="1556792"/>
            <a:ext cx="356119" cy="215444"/>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AI</a:t>
            </a:r>
            <a:endParaRPr lang="en-US"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1" name="TextBox 20"/>
          <p:cNvSpPr txBox="1">
            <a:spLocks noChangeAspect="1"/>
          </p:cNvSpPr>
          <p:nvPr/>
        </p:nvSpPr>
        <p:spPr>
          <a:xfrm>
            <a:off x="4926629" y="1864480"/>
            <a:ext cx="311604" cy="184666"/>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AL</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2" name="TextBox 21"/>
          <p:cNvSpPr txBox="1"/>
          <p:nvPr/>
        </p:nvSpPr>
        <p:spPr>
          <a:xfrm>
            <a:off x="4676003" y="2113606"/>
            <a:ext cx="256037" cy="123111"/>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AM</a:t>
            </a:r>
            <a:endParaRPr lang="en-US" sz="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3" name="TextBox 22"/>
          <p:cNvSpPr txBox="1"/>
          <p:nvPr/>
        </p:nvSpPr>
        <p:spPr>
          <a:xfrm>
            <a:off x="6021785" y="1240355"/>
            <a:ext cx="445149" cy="276999"/>
          </a:xfrm>
          <a:prstGeom prst="rect">
            <a:avLst/>
          </a:prstGeom>
          <a:scene3d>
            <a:camera prst="isometricOffAxis1Left"/>
            <a:lightRig rig="threePt" dir="t"/>
          </a:scene3d>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01</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4" name="TextBox 23"/>
          <p:cNvSpPr txBox="1"/>
          <p:nvPr/>
        </p:nvSpPr>
        <p:spPr>
          <a:xfrm>
            <a:off x="6647131" y="1755249"/>
            <a:ext cx="301133" cy="161583"/>
          </a:xfrm>
          <a:prstGeom prst="rect">
            <a:avLst/>
          </a:prstGeom>
          <a:scene3d>
            <a:camera prst="isometricOffAxis1Left"/>
            <a:lightRig rig="threePt" dir="t"/>
          </a:scene3d>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it-IT" sz="105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05</a:t>
            </a:r>
            <a:endParaRPr lang="en-US" sz="105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5" name="TextBox 24"/>
          <p:cNvSpPr txBox="1"/>
          <p:nvPr/>
        </p:nvSpPr>
        <p:spPr>
          <a:xfrm>
            <a:off x="6290567" y="1441651"/>
            <a:ext cx="330008" cy="215444"/>
          </a:xfrm>
          <a:prstGeom prst="rect">
            <a:avLst/>
          </a:prstGeom>
          <a:scene3d>
            <a:camera prst="isometricOffAxis1Left"/>
            <a:lightRig rig="threePt" dir="t"/>
          </a:scene3d>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02</a:t>
            </a:r>
            <a:endParaRPr lang="en-US"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cxnSp>
        <p:nvCxnSpPr>
          <p:cNvPr id="26" name="Straight Connector 25"/>
          <p:cNvCxnSpPr/>
          <p:nvPr/>
        </p:nvCxnSpPr>
        <p:spPr>
          <a:xfrm>
            <a:off x="6570488" y="1665094"/>
            <a:ext cx="146382" cy="107722"/>
          </a:xfrm>
          <a:prstGeom prst="line">
            <a:avLst/>
          </a:prstGeom>
          <a:ln w="19050">
            <a:solidFill>
              <a:schemeClr val="bg2"/>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5971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heel(1)">
                                      <p:cBhvr>
                                        <p:cTn id="17" dur="10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randombar(horizontal)">
                                      <p:cBhvr>
                                        <p:cTn id="25" dur="500"/>
                                        <p:tgtEl>
                                          <p:spTgt spid="17"/>
                                        </p:tgtEl>
                                      </p:cBhvr>
                                    </p:animEffect>
                                  </p:childTnLst>
                                </p:cTn>
                              </p:par>
                              <p:par>
                                <p:cTn id="26" presetID="14" presetClass="entr" presetSubtype="1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heel(1)">
                                      <p:cBhvr>
                                        <p:cTn id="31" dur="1000"/>
                                        <p:tgtEl>
                                          <p:spTgt spid="12"/>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1000"/>
                                        <p:tgtEl>
                                          <p:spTgt spid="11"/>
                                        </p:tgtEl>
                                      </p:cBhvr>
                                    </p:animEffect>
                                  </p:childTnLst>
                                </p:cTn>
                              </p:par>
                            </p:childTnLst>
                          </p:cTn>
                        </p:par>
                        <p:par>
                          <p:cTn id="35" fill="hold">
                            <p:stCondLst>
                              <p:cond delay="100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14" grpId="0"/>
      <p:bldP spid="15" grpId="0" animBg="1"/>
      <p:bldP spid="19" grpId="0" animBg="1"/>
      <p:bldP spid="20" grpId="0" animBg="1"/>
      <p:bldP spid="21" grpId="0" animBg="1"/>
      <p:bldP spid="22" grpId="0" animBg="1"/>
      <p:bldP spid="23" grpId="0" animBg="1"/>
      <p:bldP spid="24"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http://www.getsyncd.com/images/datacent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8025" y="1481514"/>
            <a:ext cx="2813494" cy="15219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Floor space Identifiers</a:t>
            </a:r>
            <a:endParaRPr lang="en-US" dirty="0"/>
          </a:p>
        </p:txBody>
      </p:sp>
      <p:pic>
        <p:nvPicPr>
          <p:cNvPr id="1030" name="Picture 6" descr="http://media.brildor.com/tienda/media/catalog/product/cache/1/image/9df78eab33525d08d6e5fb8d27136e95/s/s/sse900200.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96528" y="1999536"/>
            <a:ext cx="709962" cy="7099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encrypted-tbn2.gstatic.com/images?q=tbn:ANd9GcQw8f8UlR-EPAIW4QFFDOtGRvj4-UJ-Wt1gXJI_yHMrFhnVwfO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656" y="1481514"/>
            <a:ext cx="1997479" cy="159957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p:cNvPicPr>
            <a:picLocks noChangeAspect="1" noChangeArrowheads="1"/>
          </p:cNvPicPr>
          <p:nvPr/>
        </p:nvPicPr>
        <p:blipFill>
          <a:blip r:embed="rId5" cstate="print"/>
          <a:srcRect/>
          <a:stretch>
            <a:fillRect/>
          </a:stretch>
        </p:blipFill>
        <p:spPr bwMode="auto">
          <a:xfrm>
            <a:off x="1959334" y="3212976"/>
            <a:ext cx="4423876" cy="2880288"/>
          </a:xfrm>
          <a:prstGeom prst="rect">
            <a:avLst/>
          </a:prstGeom>
          <a:noFill/>
          <a:ln w="9525" algn="ctr">
            <a:noFill/>
            <a:miter lim="800000"/>
            <a:headEnd/>
            <a:tailEnd/>
          </a:ln>
          <a:effectLst/>
        </p:spPr>
      </p:pic>
      <p:sp>
        <p:nvSpPr>
          <p:cNvPr id="25" name="Rectangle 8"/>
          <p:cNvSpPr>
            <a:spLocks noChangeArrowheads="1"/>
          </p:cNvSpPr>
          <p:nvPr/>
        </p:nvSpPr>
        <p:spPr bwMode="auto">
          <a:xfrm>
            <a:off x="3955001" y="4007048"/>
            <a:ext cx="185103" cy="264451"/>
          </a:xfrm>
          <a:prstGeom prst="rect">
            <a:avLst/>
          </a:prstGeom>
          <a:solidFill>
            <a:srgbClr val="333333"/>
          </a:solidFill>
          <a:ln w="9525" algn="ctr">
            <a:solidFill>
              <a:schemeClr val="tx1"/>
            </a:solidFill>
            <a:miter lim="800000"/>
            <a:headEnd/>
            <a:tailEnd/>
          </a:ln>
          <a:effectLst/>
        </p:spPr>
        <p:txBody>
          <a:bodyPr wrap="none" lIns="0" tIns="0" rIns="0" bIns="0" anchor="ctr"/>
          <a:lstStyle/>
          <a:p>
            <a:endParaRPr lang="it-IT"/>
          </a:p>
        </p:txBody>
      </p:sp>
      <p:sp>
        <p:nvSpPr>
          <p:cNvPr id="26" name="Oval 9"/>
          <p:cNvSpPr>
            <a:spLocks noChangeArrowheads="1"/>
          </p:cNvSpPr>
          <p:nvPr/>
        </p:nvSpPr>
        <p:spPr bwMode="auto">
          <a:xfrm>
            <a:off x="3895053" y="3203351"/>
            <a:ext cx="212725" cy="184150"/>
          </a:xfrm>
          <a:prstGeom prst="ellipse">
            <a:avLst/>
          </a:prstGeom>
          <a:noFill/>
          <a:ln w="25400" algn="ctr">
            <a:solidFill>
              <a:srgbClr val="FF3300"/>
            </a:solidFill>
            <a:round/>
            <a:headEnd/>
            <a:tailEnd/>
          </a:ln>
          <a:effectLst/>
        </p:spPr>
        <p:txBody>
          <a:bodyPr wrap="none" lIns="0" tIns="0" rIns="0" bIns="0" anchor="ctr"/>
          <a:lstStyle/>
          <a:p>
            <a:endParaRPr lang="it-IT"/>
          </a:p>
        </p:txBody>
      </p:sp>
      <p:sp>
        <p:nvSpPr>
          <p:cNvPr id="27" name="Oval 10"/>
          <p:cNvSpPr>
            <a:spLocks noChangeArrowheads="1"/>
          </p:cNvSpPr>
          <p:nvPr/>
        </p:nvSpPr>
        <p:spPr bwMode="auto">
          <a:xfrm>
            <a:off x="2258119" y="4149080"/>
            <a:ext cx="212725" cy="184150"/>
          </a:xfrm>
          <a:prstGeom prst="ellipse">
            <a:avLst/>
          </a:prstGeom>
          <a:noFill/>
          <a:ln w="25400" algn="ctr">
            <a:solidFill>
              <a:srgbClr val="FF3300"/>
            </a:solidFill>
            <a:round/>
            <a:headEnd/>
            <a:tailEnd/>
          </a:ln>
          <a:effectLst/>
        </p:spPr>
        <p:txBody>
          <a:bodyPr wrap="none" lIns="0" tIns="0" rIns="0" bIns="0" anchor="ctr"/>
          <a:lstStyle/>
          <a:p>
            <a:endParaRPr lang="it-IT"/>
          </a:p>
        </p:txBody>
      </p:sp>
      <p:sp>
        <p:nvSpPr>
          <p:cNvPr id="28" name="TextBox 27"/>
          <p:cNvSpPr txBox="1"/>
          <p:nvPr/>
        </p:nvSpPr>
        <p:spPr>
          <a:xfrm>
            <a:off x="4061277" y="4283471"/>
            <a:ext cx="150683"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9" name="TextBox 28"/>
          <p:cNvSpPr txBox="1"/>
          <p:nvPr/>
        </p:nvSpPr>
        <p:spPr>
          <a:xfrm>
            <a:off x="5426412" y="4230099"/>
            <a:ext cx="968215" cy="276999"/>
          </a:xfrm>
          <a:prstGeom prst="rect">
            <a:avLst/>
          </a:prstGeom>
          <a:noFill/>
        </p:spPr>
        <p:txBody>
          <a:bodyPr wrap="non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AH - 05</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0" name="Oval 9"/>
          <p:cNvSpPr>
            <a:spLocks noChangeAspect="1" noChangeArrowheads="1"/>
          </p:cNvSpPr>
          <p:nvPr/>
        </p:nvSpPr>
        <p:spPr bwMode="auto">
          <a:xfrm>
            <a:off x="3869046" y="4158705"/>
            <a:ext cx="187195" cy="162052"/>
          </a:xfrm>
          <a:prstGeom prst="ellipse">
            <a:avLst/>
          </a:prstGeom>
          <a:noFill/>
          <a:ln w="25400" algn="ctr">
            <a:solidFill>
              <a:srgbClr val="FF3300"/>
            </a:solidFill>
            <a:round/>
            <a:headEnd/>
            <a:tailEnd/>
          </a:ln>
          <a:effectLst/>
        </p:spPr>
        <p:txBody>
          <a:bodyPr wrap="none" lIns="0" tIns="0" rIns="0" bIns="0" anchor="ctr"/>
          <a:lstStyle/>
          <a:p>
            <a:endParaRPr lang="it-IT"/>
          </a:p>
        </p:txBody>
      </p:sp>
      <p:cxnSp>
        <p:nvCxnSpPr>
          <p:cNvPr id="19" name="Straight Connector 18"/>
          <p:cNvCxnSpPr>
            <a:stCxn id="30" idx="0"/>
          </p:cNvCxnSpPr>
          <p:nvPr/>
        </p:nvCxnSpPr>
        <p:spPr>
          <a:xfrm flipH="1" flipV="1">
            <a:off x="3962643" y="3387501"/>
            <a:ext cx="1" cy="771204"/>
          </a:xfrm>
          <a:prstGeom prst="line">
            <a:avLst/>
          </a:prstGeom>
          <a:ln>
            <a:prstDash val="sysDash"/>
          </a:ln>
        </p:spPr>
        <p:style>
          <a:lnRef idx="3">
            <a:schemeClr val="accent6"/>
          </a:lnRef>
          <a:fillRef idx="0">
            <a:schemeClr val="accent6"/>
          </a:fillRef>
          <a:effectRef idx="2">
            <a:schemeClr val="accent6"/>
          </a:effectRef>
          <a:fontRef idx="minor">
            <a:schemeClr val="tx1"/>
          </a:fontRef>
        </p:style>
      </p:cxnSp>
      <p:cxnSp>
        <p:nvCxnSpPr>
          <p:cNvPr id="21" name="Straight Connector 20"/>
          <p:cNvCxnSpPr>
            <a:endCxn id="27" idx="6"/>
          </p:cNvCxnSpPr>
          <p:nvPr/>
        </p:nvCxnSpPr>
        <p:spPr>
          <a:xfrm flipH="1">
            <a:off x="2470844" y="4241155"/>
            <a:ext cx="1398202" cy="0"/>
          </a:xfrm>
          <a:prstGeom prst="line">
            <a:avLst/>
          </a:prstGeom>
          <a:ln>
            <a:prstDash val="sysDash"/>
          </a:ln>
        </p:spPr>
        <p:style>
          <a:lnRef idx="3">
            <a:schemeClr val="accent6"/>
          </a:lnRef>
          <a:fillRef idx="0">
            <a:schemeClr val="accent6"/>
          </a:fillRef>
          <a:effectRef idx="2">
            <a:schemeClr val="accent6"/>
          </a:effectRef>
          <a:fontRef idx="minor">
            <a:schemeClr val="tx1"/>
          </a:fontRef>
        </p:style>
      </p:cxnSp>
      <p:sp>
        <p:nvSpPr>
          <p:cNvPr id="22" name="TextBox 21"/>
          <p:cNvSpPr txBox="1"/>
          <p:nvPr/>
        </p:nvSpPr>
        <p:spPr>
          <a:xfrm>
            <a:off x="5639019" y="1196752"/>
            <a:ext cx="445149" cy="276999"/>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AH</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6" name="TextBox 35"/>
          <p:cNvSpPr txBox="1">
            <a:spLocks noChangeAspect="1"/>
          </p:cNvSpPr>
          <p:nvPr/>
        </p:nvSpPr>
        <p:spPr>
          <a:xfrm>
            <a:off x="5225205" y="1556792"/>
            <a:ext cx="356119" cy="215444"/>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AI</a:t>
            </a:r>
            <a:endParaRPr lang="en-US"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7" name="TextBox 36"/>
          <p:cNvSpPr txBox="1">
            <a:spLocks noChangeAspect="1"/>
          </p:cNvSpPr>
          <p:nvPr/>
        </p:nvSpPr>
        <p:spPr>
          <a:xfrm>
            <a:off x="4926629" y="1864480"/>
            <a:ext cx="311604" cy="184666"/>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AL</a:t>
            </a:r>
            <a:endParaRPr lang="en-US" sz="1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8" name="TextBox 37"/>
          <p:cNvSpPr txBox="1"/>
          <p:nvPr/>
        </p:nvSpPr>
        <p:spPr>
          <a:xfrm>
            <a:off x="4676003" y="2113606"/>
            <a:ext cx="256037" cy="123111"/>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AM</a:t>
            </a:r>
            <a:endParaRPr lang="en-US" sz="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9" name="TextBox 38"/>
          <p:cNvSpPr txBox="1"/>
          <p:nvPr/>
        </p:nvSpPr>
        <p:spPr>
          <a:xfrm>
            <a:off x="6021785" y="1240355"/>
            <a:ext cx="445149" cy="276999"/>
          </a:xfrm>
          <a:prstGeom prst="rect">
            <a:avLst/>
          </a:prstGeom>
          <a:scene3d>
            <a:camera prst="isometricOffAxis1Left"/>
            <a:lightRig rig="threePt" dir="t"/>
          </a:scene3d>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01</a:t>
            </a:r>
            <a:endPar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40" name="TextBox 39"/>
          <p:cNvSpPr txBox="1"/>
          <p:nvPr/>
        </p:nvSpPr>
        <p:spPr>
          <a:xfrm>
            <a:off x="6647131" y="1755249"/>
            <a:ext cx="301133" cy="161583"/>
          </a:xfrm>
          <a:prstGeom prst="rect">
            <a:avLst/>
          </a:prstGeom>
          <a:scene3d>
            <a:camera prst="isometricOffAxis1Left"/>
            <a:lightRig rig="threePt" dir="t"/>
          </a:scene3d>
        </p:spPr>
        <p:style>
          <a:lnRef idx="1">
            <a:schemeClr val="accent4"/>
          </a:lnRef>
          <a:fillRef idx="2">
            <a:schemeClr val="accent4"/>
          </a:fillRef>
          <a:effectRef idx="1">
            <a:schemeClr val="accent4"/>
          </a:effectRef>
          <a:fontRef idx="minor">
            <a:schemeClr val="dk1"/>
          </a:fontRef>
        </p:style>
        <p:txBody>
          <a:bodyPr wrap="square" lIns="0" tIns="0" rIns="0" bIns="0" rtlCol="0">
            <a:spAutoFit/>
          </a:bodyPr>
          <a:lstStyle/>
          <a:p>
            <a:pPr algn="ctr"/>
            <a:r>
              <a:rPr lang="it-IT" sz="105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05</a:t>
            </a:r>
            <a:endParaRPr lang="en-US" sz="105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41" name="TextBox 40"/>
          <p:cNvSpPr txBox="1"/>
          <p:nvPr/>
        </p:nvSpPr>
        <p:spPr>
          <a:xfrm>
            <a:off x="6290567" y="1441651"/>
            <a:ext cx="330008" cy="215444"/>
          </a:xfrm>
          <a:prstGeom prst="rect">
            <a:avLst/>
          </a:prstGeom>
          <a:scene3d>
            <a:camera prst="isometricOffAxis1Left"/>
            <a:lightRig rig="threePt" dir="t"/>
          </a:scene3d>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it-IT"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02</a:t>
            </a:r>
            <a:endParaRPr lang="en-US"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cxnSp>
        <p:nvCxnSpPr>
          <p:cNvPr id="34" name="Straight Connector 33"/>
          <p:cNvCxnSpPr/>
          <p:nvPr/>
        </p:nvCxnSpPr>
        <p:spPr>
          <a:xfrm>
            <a:off x="6570488" y="1665094"/>
            <a:ext cx="146382" cy="107722"/>
          </a:xfrm>
          <a:prstGeom prst="line">
            <a:avLst/>
          </a:prstGeom>
          <a:ln w="19050">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810843" y="1526014"/>
            <a:ext cx="1806585" cy="276999"/>
          </a:xfrm>
          <a:prstGeom prst="rect">
            <a:avLst/>
          </a:prstGeom>
          <a:noFill/>
        </p:spPr>
        <p:txBody>
          <a:bodyPr wrap="none" lIns="0" tIns="0" rIns="0" bIns="0" rtlCol="0">
            <a:spAutoFit/>
          </a:bodyPr>
          <a:lstStyle/>
          <a:p>
            <a:pPr algn="ctr"/>
            <a:r>
              <a:rPr lang="it-IT" b="1" dirty="0" smtClean="0">
                <a:ln w="1905"/>
                <a:solidFill>
                  <a:schemeClr val="bg2">
                    <a:lumMod val="60000"/>
                    <a:lumOff val="40000"/>
                  </a:schemeClr>
                </a:solidFill>
                <a:effectLst>
                  <a:innerShdw blurRad="69850" dist="43180" dir="5400000">
                    <a:srgbClr val="000000">
                      <a:alpha val="65000"/>
                    </a:srgbClr>
                  </a:innerShdw>
                </a:effectLst>
              </a:rPr>
              <a:t>Server «alfa»</a:t>
            </a:r>
            <a:endParaRPr lang="en-US" b="1" dirty="0" smtClean="0">
              <a:ln w="1905"/>
              <a:solidFill>
                <a:schemeClr val="bg2">
                  <a:lumMod val="60000"/>
                  <a:lumOff val="40000"/>
                </a:schemeClr>
              </a:soli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258562770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66714" y="203200"/>
            <a:ext cx="8410575" cy="920751"/>
          </a:xfrm>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Connection Identifiers</a:t>
            </a:r>
            <a:endParaRPr lang="en-US" dirty="0"/>
          </a:p>
        </p:txBody>
      </p:sp>
      <p:pic>
        <p:nvPicPr>
          <p:cNvPr id="4"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2200" y="1315244"/>
            <a:ext cx="3990975"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5" name="Text Box 6"/>
          <p:cNvSpPr txBox="1">
            <a:spLocks noChangeArrowheads="1"/>
          </p:cNvSpPr>
          <p:nvPr/>
        </p:nvSpPr>
        <p:spPr bwMode="auto">
          <a:xfrm>
            <a:off x="5220072" y="980728"/>
            <a:ext cx="11461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0"/>
              </a:spcBef>
              <a:spcAft>
                <a:spcPct val="0"/>
              </a:spcAft>
              <a:defRPr sz="2000">
                <a:solidFill>
                  <a:schemeClr val="tx1"/>
                </a:solidFill>
                <a:latin typeface="Arial" charset="0"/>
              </a:defRPr>
            </a:lvl6pPr>
            <a:lvl7pPr marL="2971800" indent="-228600" algn="ctr" eaLnBrk="0" fontAlgn="base" hangingPunct="0">
              <a:spcBef>
                <a:spcPct val="0"/>
              </a:spcBef>
              <a:spcAft>
                <a:spcPct val="0"/>
              </a:spcAft>
              <a:defRPr sz="2000">
                <a:solidFill>
                  <a:schemeClr val="tx1"/>
                </a:solidFill>
                <a:latin typeface="Arial" charset="0"/>
              </a:defRPr>
            </a:lvl7pPr>
            <a:lvl8pPr marL="3429000" indent="-228600" algn="ctr" eaLnBrk="0" fontAlgn="base" hangingPunct="0">
              <a:spcBef>
                <a:spcPct val="0"/>
              </a:spcBef>
              <a:spcAft>
                <a:spcPct val="0"/>
              </a:spcAft>
              <a:defRPr sz="2000">
                <a:solidFill>
                  <a:schemeClr val="tx1"/>
                </a:solidFill>
                <a:latin typeface="Arial" charset="0"/>
              </a:defRPr>
            </a:lvl8pPr>
            <a:lvl9pPr marL="3886200" indent="-228600" algn="ctr" eaLnBrk="0" fontAlgn="base" hangingPunct="0">
              <a:spcBef>
                <a:spcPct val="0"/>
              </a:spcBef>
              <a:spcAft>
                <a:spcPct val="0"/>
              </a:spcAft>
              <a:defRPr sz="2000">
                <a:solidFill>
                  <a:schemeClr val="tx1"/>
                </a:solidFill>
                <a:latin typeface="Arial" charset="0"/>
              </a:defRPr>
            </a:lvl9pPr>
          </a:lstStyle>
          <a:p>
            <a:pPr eaLnBrk="1" hangingPunct="1">
              <a:spcBef>
                <a:spcPct val="50000"/>
              </a:spcBef>
            </a:pPr>
            <a:r>
              <a:rPr lang="en-US" sz="1800" dirty="0" smtClean="0">
                <a:latin typeface="Tahoma" pitchFamily="34" charset="0"/>
                <a:cs typeface="Arial" charset="0"/>
              </a:rPr>
              <a:t>Intra-rack</a:t>
            </a:r>
            <a:endParaRPr lang="en-US" sz="1800" dirty="0">
              <a:latin typeface="Tahoma" pitchFamily="34" charset="0"/>
              <a:cs typeface="Arial" charset="0"/>
            </a:endParaRPr>
          </a:p>
        </p:txBody>
      </p:sp>
      <p:sp>
        <p:nvSpPr>
          <p:cNvPr id="6" name="Line 9"/>
          <p:cNvSpPr>
            <a:spLocks noChangeShapeType="1"/>
          </p:cNvSpPr>
          <p:nvPr/>
        </p:nvSpPr>
        <p:spPr bwMode="auto">
          <a:xfrm flipH="1" flipV="1">
            <a:off x="6107114" y="3748882"/>
            <a:ext cx="1552573" cy="912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7" name="Text Box 10"/>
          <p:cNvSpPr txBox="1">
            <a:spLocks noChangeArrowheads="1"/>
          </p:cNvSpPr>
          <p:nvPr/>
        </p:nvSpPr>
        <p:spPr bwMode="auto">
          <a:xfrm>
            <a:off x="6430903" y="4005064"/>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0"/>
              </a:spcBef>
              <a:spcAft>
                <a:spcPct val="0"/>
              </a:spcAft>
              <a:defRPr sz="2000">
                <a:solidFill>
                  <a:schemeClr val="tx1"/>
                </a:solidFill>
                <a:latin typeface="Arial" charset="0"/>
              </a:defRPr>
            </a:lvl6pPr>
            <a:lvl7pPr marL="2971800" indent="-228600" algn="ctr" eaLnBrk="0" fontAlgn="base" hangingPunct="0">
              <a:spcBef>
                <a:spcPct val="0"/>
              </a:spcBef>
              <a:spcAft>
                <a:spcPct val="0"/>
              </a:spcAft>
              <a:defRPr sz="2000">
                <a:solidFill>
                  <a:schemeClr val="tx1"/>
                </a:solidFill>
                <a:latin typeface="Arial" charset="0"/>
              </a:defRPr>
            </a:lvl7pPr>
            <a:lvl8pPr marL="3429000" indent="-228600" algn="ctr" eaLnBrk="0" fontAlgn="base" hangingPunct="0">
              <a:spcBef>
                <a:spcPct val="0"/>
              </a:spcBef>
              <a:spcAft>
                <a:spcPct val="0"/>
              </a:spcAft>
              <a:defRPr sz="2000">
                <a:solidFill>
                  <a:schemeClr val="tx1"/>
                </a:solidFill>
                <a:latin typeface="Arial" charset="0"/>
              </a:defRPr>
            </a:lvl8pPr>
            <a:lvl9pPr marL="3886200" indent="-228600" algn="ctr" eaLnBrk="0" fontAlgn="base" hangingPunct="0">
              <a:spcBef>
                <a:spcPct val="0"/>
              </a:spcBef>
              <a:spcAft>
                <a:spcPct val="0"/>
              </a:spcAft>
              <a:defRPr sz="2000">
                <a:solidFill>
                  <a:schemeClr val="tx1"/>
                </a:solidFill>
                <a:latin typeface="Arial" charset="0"/>
              </a:defRPr>
            </a:lvl9pPr>
          </a:lstStyle>
          <a:p>
            <a:pPr algn="ctr" eaLnBrk="1" hangingPunct="1">
              <a:spcBef>
                <a:spcPct val="50000"/>
              </a:spcBef>
            </a:pPr>
            <a:r>
              <a:rPr lang="en-US" sz="1800" dirty="0">
                <a:latin typeface="Tahoma" pitchFamily="34" charset="0"/>
                <a:cs typeface="Arial" charset="0"/>
              </a:rPr>
              <a:t>Inter-rack</a:t>
            </a:r>
          </a:p>
        </p:txBody>
      </p:sp>
      <p:sp>
        <p:nvSpPr>
          <p:cNvPr id="8" name="Oval 11"/>
          <p:cNvSpPr>
            <a:spLocks noChangeArrowheads="1"/>
          </p:cNvSpPr>
          <p:nvPr/>
        </p:nvSpPr>
        <p:spPr bwMode="auto">
          <a:xfrm>
            <a:off x="5954714" y="3677444"/>
            <a:ext cx="152400" cy="14287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9" name="Oval 12"/>
          <p:cNvSpPr>
            <a:spLocks noChangeArrowheads="1"/>
          </p:cNvSpPr>
          <p:nvPr/>
        </p:nvSpPr>
        <p:spPr bwMode="auto">
          <a:xfrm>
            <a:off x="7659688" y="3768725"/>
            <a:ext cx="152400" cy="14287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0" name="Rectangle 15"/>
          <p:cNvSpPr txBox="1">
            <a:spLocks noChangeArrowheads="1"/>
          </p:cNvSpPr>
          <p:nvPr/>
        </p:nvSpPr>
        <p:spPr>
          <a:xfrm>
            <a:off x="251520" y="5085184"/>
            <a:ext cx="8410575" cy="396056"/>
          </a:xfrm>
          <a:prstGeom prst="rect">
            <a:avLst/>
          </a:prstGeom>
        </p:spPr>
        <p:txBody>
          <a:bodyPr/>
          <a:lstStyle>
            <a:lvl1pPr marL="228600" indent="-228600" algn="l" defTabSz="914400" rtl="0" eaLnBrk="1" latinLnBrk="0" hangingPunct="1">
              <a:spcBef>
                <a:spcPct val="20000"/>
              </a:spcBef>
              <a:buClr>
                <a:srgbClr val="2C95DD"/>
              </a:buClr>
              <a:buFont typeface="Arial" pitchFamily="34" charset="0"/>
              <a:buChar char="•"/>
              <a:defRPr sz="2800" kern="1200">
                <a:solidFill>
                  <a:schemeClr val="tx1"/>
                </a:solidFill>
                <a:latin typeface="MetaNormalLF-Roman" pitchFamily="34" charset="0"/>
                <a:ea typeface="+mn-ea"/>
                <a:cs typeface="+mn-cs"/>
              </a:defRPr>
            </a:lvl1pPr>
            <a:lvl2pPr marL="742950" indent="-285750" algn="l" defTabSz="914400" rtl="0" eaLnBrk="1" latinLnBrk="0" hangingPunct="1">
              <a:spcBef>
                <a:spcPct val="20000"/>
              </a:spcBef>
              <a:buClr>
                <a:srgbClr val="2C95DD"/>
              </a:buClr>
              <a:buFont typeface="Arial" pitchFamily="34" charset="0"/>
              <a:buChar char="–"/>
              <a:defRPr sz="2400" kern="1200">
                <a:solidFill>
                  <a:schemeClr val="tx1"/>
                </a:solidFill>
                <a:latin typeface="MetaNormalLF-Roman" pitchFamily="34" charset="0"/>
                <a:ea typeface="+mn-ea"/>
                <a:cs typeface="+mn-cs"/>
              </a:defRPr>
            </a:lvl2pPr>
            <a:lvl3pPr marL="1143000" indent="-228600" algn="l" defTabSz="914400" rtl="0" eaLnBrk="1" latinLnBrk="0" hangingPunct="1">
              <a:spcBef>
                <a:spcPct val="20000"/>
              </a:spcBef>
              <a:buClr>
                <a:srgbClr val="2C95DD"/>
              </a:buClr>
              <a:buFont typeface="Arial" pitchFamily="34" charset="0"/>
              <a:buChar char="•"/>
              <a:defRPr sz="2000" kern="1200">
                <a:solidFill>
                  <a:schemeClr val="tx1"/>
                </a:solidFill>
                <a:latin typeface="MetaNormalLF-Roman" pitchFamily="34" charset="0"/>
                <a:ea typeface="+mn-ea"/>
                <a:cs typeface="+mn-cs"/>
              </a:defRPr>
            </a:lvl3pPr>
            <a:lvl4pPr marL="1600200" indent="-228600" algn="l" defTabSz="914400" rtl="0" eaLnBrk="1" latinLnBrk="0" hangingPunct="1">
              <a:spcBef>
                <a:spcPct val="20000"/>
              </a:spcBef>
              <a:buClr>
                <a:srgbClr val="2C95DD"/>
              </a:buClr>
              <a:buFont typeface="Arial" pitchFamily="34" charset="0"/>
              <a:buChar char="–"/>
              <a:defRPr sz="1800" kern="1200">
                <a:solidFill>
                  <a:schemeClr val="tx1"/>
                </a:solidFill>
                <a:latin typeface="MetaNormalLF-Roman" pitchFamily="34" charset="0"/>
                <a:ea typeface="+mn-ea"/>
                <a:cs typeface="+mn-cs"/>
              </a:defRPr>
            </a:lvl4pPr>
            <a:lvl5pPr marL="2057400" indent="-228600" algn="l" defTabSz="914400" rtl="0" eaLnBrk="1" latinLnBrk="0" hangingPunct="1">
              <a:spcBef>
                <a:spcPct val="20000"/>
              </a:spcBef>
              <a:buClr>
                <a:srgbClr val="2C95DD"/>
              </a:buClr>
              <a:buFont typeface="Arial" pitchFamily="34" charset="0"/>
              <a:buChar char="»"/>
              <a:defRPr sz="1800" kern="1200">
                <a:solidFill>
                  <a:schemeClr val="tx1"/>
                </a:solidFill>
                <a:latin typeface="MetaNormalLF-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None/>
            </a:pPr>
            <a:r>
              <a:rPr lang="it-IT" sz="2000" dirty="0" smtClean="0">
                <a:solidFill>
                  <a:schemeClr val="tx2"/>
                </a:solidFill>
                <a:latin typeface="+mj-lt"/>
              </a:rPr>
              <a:t>“</a:t>
            </a:r>
            <a:r>
              <a:rPr lang="it-IT" sz="2000" dirty="0">
                <a:solidFill>
                  <a:schemeClr val="tx2"/>
                </a:solidFill>
                <a:latin typeface="+mj-lt"/>
              </a:rPr>
              <a:t>AJ05-U7-kk to AQ03-U6-zz ; </a:t>
            </a:r>
            <a:r>
              <a:rPr lang="it-IT" sz="2000" dirty="0" err="1">
                <a:solidFill>
                  <a:schemeClr val="tx2"/>
                </a:solidFill>
                <a:latin typeface="+mj-lt"/>
              </a:rPr>
              <a:t>kk,zz</a:t>
            </a:r>
            <a:r>
              <a:rPr lang="it-IT" sz="2000" dirty="0">
                <a:solidFill>
                  <a:schemeClr val="tx2"/>
                </a:solidFill>
                <a:latin typeface="+mj-lt"/>
              </a:rPr>
              <a:t>=Port</a:t>
            </a:r>
            <a:r>
              <a:rPr lang="it-IT" sz="2000" dirty="0" smtClean="0">
                <a:solidFill>
                  <a:schemeClr val="tx2"/>
                </a:solidFill>
                <a:latin typeface="+mj-lt"/>
              </a:rPr>
              <a:t>”</a:t>
            </a:r>
            <a:endParaRPr lang="it-IT" sz="2000" dirty="0">
              <a:solidFill>
                <a:schemeClr val="tx2"/>
              </a:solidFill>
              <a:latin typeface="+mj-lt"/>
            </a:endParaRPr>
          </a:p>
        </p:txBody>
      </p:sp>
      <p:pic>
        <p:nvPicPr>
          <p:cNvPr id="11"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3" y="1358106"/>
            <a:ext cx="44481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12" name="Line 9"/>
          <p:cNvSpPr>
            <a:spLocks noChangeShapeType="1"/>
          </p:cNvSpPr>
          <p:nvPr/>
        </p:nvSpPr>
        <p:spPr bwMode="auto">
          <a:xfrm flipV="1">
            <a:off x="6030915" y="1602918"/>
            <a:ext cx="76200" cy="2074526"/>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3" name="Oval 12"/>
          <p:cNvSpPr>
            <a:spLocks noChangeArrowheads="1"/>
          </p:cNvSpPr>
          <p:nvPr/>
        </p:nvSpPr>
        <p:spPr bwMode="auto">
          <a:xfrm>
            <a:off x="6060223" y="1468835"/>
            <a:ext cx="152400" cy="14287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4" name="Rectangle 15"/>
          <p:cNvSpPr txBox="1">
            <a:spLocks noChangeArrowheads="1"/>
          </p:cNvSpPr>
          <p:nvPr/>
        </p:nvSpPr>
        <p:spPr>
          <a:xfrm>
            <a:off x="251520" y="5589216"/>
            <a:ext cx="8410575" cy="396056"/>
          </a:xfrm>
          <a:prstGeom prst="rect">
            <a:avLst/>
          </a:prstGeom>
        </p:spPr>
        <p:txBody>
          <a:bodyPr/>
          <a:lstStyle>
            <a:lvl1pPr marL="228600" indent="-228600" algn="l" defTabSz="914400" rtl="0" eaLnBrk="1" latinLnBrk="0" hangingPunct="1">
              <a:spcBef>
                <a:spcPct val="20000"/>
              </a:spcBef>
              <a:buClr>
                <a:srgbClr val="2C95DD"/>
              </a:buClr>
              <a:buFont typeface="Arial" pitchFamily="34" charset="0"/>
              <a:buChar char="•"/>
              <a:defRPr sz="2800" kern="1200">
                <a:solidFill>
                  <a:schemeClr val="tx1"/>
                </a:solidFill>
                <a:latin typeface="MetaNormalLF-Roman" pitchFamily="34" charset="0"/>
                <a:ea typeface="+mn-ea"/>
                <a:cs typeface="+mn-cs"/>
              </a:defRPr>
            </a:lvl1pPr>
            <a:lvl2pPr marL="742950" indent="-285750" algn="l" defTabSz="914400" rtl="0" eaLnBrk="1" latinLnBrk="0" hangingPunct="1">
              <a:spcBef>
                <a:spcPct val="20000"/>
              </a:spcBef>
              <a:buClr>
                <a:srgbClr val="2C95DD"/>
              </a:buClr>
              <a:buFont typeface="Arial" pitchFamily="34" charset="0"/>
              <a:buChar char="–"/>
              <a:defRPr sz="2400" kern="1200">
                <a:solidFill>
                  <a:schemeClr val="tx1"/>
                </a:solidFill>
                <a:latin typeface="MetaNormalLF-Roman" pitchFamily="34" charset="0"/>
                <a:ea typeface="+mn-ea"/>
                <a:cs typeface="+mn-cs"/>
              </a:defRPr>
            </a:lvl2pPr>
            <a:lvl3pPr marL="1143000" indent="-228600" algn="l" defTabSz="914400" rtl="0" eaLnBrk="1" latinLnBrk="0" hangingPunct="1">
              <a:spcBef>
                <a:spcPct val="20000"/>
              </a:spcBef>
              <a:buClr>
                <a:srgbClr val="2C95DD"/>
              </a:buClr>
              <a:buFont typeface="Arial" pitchFamily="34" charset="0"/>
              <a:buChar char="•"/>
              <a:defRPr sz="2000" kern="1200">
                <a:solidFill>
                  <a:schemeClr val="tx1"/>
                </a:solidFill>
                <a:latin typeface="MetaNormalLF-Roman" pitchFamily="34" charset="0"/>
                <a:ea typeface="+mn-ea"/>
                <a:cs typeface="+mn-cs"/>
              </a:defRPr>
            </a:lvl3pPr>
            <a:lvl4pPr marL="1600200" indent="-228600" algn="l" defTabSz="914400" rtl="0" eaLnBrk="1" latinLnBrk="0" hangingPunct="1">
              <a:spcBef>
                <a:spcPct val="20000"/>
              </a:spcBef>
              <a:buClr>
                <a:srgbClr val="2C95DD"/>
              </a:buClr>
              <a:buFont typeface="Arial" pitchFamily="34" charset="0"/>
              <a:buChar char="–"/>
              <a:defRPr sz="1800" kern="1200">
                <a:solidFill>
                  <a:schemeClr val="tx1"/>
                </a:solidFill>
                <a:latin typeface="MetaNormalLF-Roman" pitchFamily="34" charset="0"/>
                <a:ea typeface="+mn-ea"/>
                <a:cs typeface="+mn-cs"/>
              </a:defRPr>
            </a:lvl4pPr>
            <a:lvl5pPr marL="2057400" indent="-228600" algn="l" defTabSz="914400" rtl="0" eaLnBrk="1" latinLnBrk="0" hangingPunct="1">
              <a:spcBef>
                <a:spcPct val="20000"/>
              </a:spcBef>
              <a:buClr>
                <a:srgbClr val="2C95DD"/>
              </a:buClr>
              <a:buFont typeface="Arial" pitchFamily="34" charset="0"/>
              <a:buChar char="»"/>
              <a:defRPr sz="1800" kern="1200">
                <a:solidFill>
                  <a:schemeClr val="tx1"/>
                </a:solidFill>
                <a:latin typeface="MetaNormalLF-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None/>
            </a:pPr>
            <a:r>
              <a:rPr lang="it-IT" sz="2000" dirty="0" smtClean="0">
                <a:solidFill>
                  <a:schemeClr val="tx2"/>
                </a:solidFill>
                <a:latin typeface="+mj-lt"/>
              </a:rPr>
              <a:t>“AJ05-U7-xx </a:t>
            </a:r>
            <a:r>
              <a:rPr lang="it-IT" sz="2000" dirty="0">
                <a:solidFill>
                  <a:schemeClr val="tx2"/>
                </a:solidFill>
                <a:latin typeface="+mj-lt"/>
              </a:rPr>
              <a:t>to </a:t>
            </a:r>
            <a:r>
              <a:rPr lang="it-IT" sz="2000" dirty="0" smtClean="0">
                <a:solidFill>
                  <a:schemeClr val="tx2"/>
                </a:solidFill>
                <a:latin typeface="+mj-lt"/>
              </a:rPr>
              <a:t>AJ05-Un-yy </a:t>
            </a:r>
            <a:r>
              <a:rPr lang="it-IT" sz="2000" dirty="0">
                <a:solidFill>
                  <a:schemeClr val="tx2"/>
                </a:solidFill>
                <a:latin typeface="+mj-lt"/>
              </a:rPr>
              <a:t>; </a:t>
            </a:r>
            <a:r>
              <a:rPr lang="it-IT" sz="2000" dirty="0" err="1">
                <a:solidFill>
                  <a:schemeClr val="tx2"/>
                </a:solidFill>
                <a:latin typeface="+mj-lt"/>
              </a:rPr>
              <a:t>xx,yy</a:t>
            </a:r>
            <a:r>
              <a:rPr lang="it-IT" sz="2000" dirty="0">
                <a:solidFill>
                  <a:schemeClr val="tx2"/>
                </a:solidFill>
                <a:latin typeface="+mj-lt"/>
              </a:rPr>
              <a:t>=Port”</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6825" y="1399381"/>
            <a:ext cx="257175" cy="318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03002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500"/>
                                        <p:tgtEl>
                                          <p:spTgt spid="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1)">
                                      <p:cBhvr>
                                        <p:cTn id="17" dur="500"/>
                                        <p:tgtEl>
                                          <p:spTgt spid="9"/>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par>
                          <p:cTn id="30" fill="hold">
                            <p:stCondLst>
                              <p:cond delay="500"/>
                            </p:stCondLst>
                            <p:childTnLst>
                              <p:par>
                                <p:cTn id="31" presetID="21"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heel(1)">
                                      <p:cBhvr>
                                        <p:cTn id="33" dur="500"/>
                                        <p:tgtEl>
                                          <p:spTgt spid="13"/>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animBg="1"/>
      <p:bldP spid="10" grpId="0"/>
      <p:bldP spid="12" grpId="0" animBg="1"/>
      <p:bldP spid="13" grpId="0" animBg="1"/>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Rack positioning</a:t>
            </a:r>
            <a:endParaRPr lang="en-US" dirty="0"/>
          </a:p>
        </p:txBody>
      </p:sp>
      <p:pic>
        <p:nvPicPr>
          <p:cNvPr id="5" name="Picture 11"/>
          <p:cNvPicPr>
            <a:picLocks noChangeAspect="1" noChangeArrowheads="1"/>
          </p:cNvPicPr>
          <p:nvPr/>
        </p:nvPicPr>
        <p:blipFill>
          <a:blip r:embed="rId2" cstate="print"/>
          <a:srcRect/>
          <a:stretch>
            <a:fillRect/>
          </a:stretch>
        </p:blipFill>
        <p:spPr bwMode="auto">
          <a:xfrm>
            <a:off x="358124" y="3563493"/>
            <a:ext cx="4529786" cy="2609850"/>
          </a:xfrm>
          <a:prstGeom prst="rect">
            <a:avLst/>
          </a:prstGeom>
          <a:noFill/>
          <a:ln w="9525" algn="ctr">
            <a:noFill/>
            <a:miter lim="800000"/>
            <a:headEnd/>
            <a:tailEnd/>
          </a:ln>
          <a:effectLst/>
        </p:spPr>
      </p:pic>
      <p:sp>
        <p:nvSpPr>
          <p:cNvPr id="12" name="TextBox 11"/>
          <p:cNvSpPr txBox="1"/>
          <p:nvPr/>
        </p:nvSpPr>
        <p:spPr>
          <a:xfrm>
            <a:off x="1319648" y="1988260"/>
            <a:ext cx="2016224" cy="215444"/>
          </a:xfrm>
          <a:prstGeom prst="rect">
            <a:avLst/>
          </a:prstGeom>
          <a:noFill/>
          <a:ln w="9525" algn="ctr">
            <a:noFill/>
            <a:miter lim="800000"/>
            <a:headEnd/>
            <a:tailEnd/>
          </a:ln>
          <a:effectLst/>
        </p:spPr>
        <p:txBody>
          <a:bodyPr wrap="square" lIns="0" tIns="0" rIns="0" bIns="0">
            <a:spAutoFit/>
          </a:bodyPr>
          <a:lstStyle>
            <a:defPPr>
              <a:defRPr lang="en-US"/>
            </a:defPPr>
            <a:lvl1pPr>
              <a:buClr>
                <a:schemeClr val="folHlink"/>
              </a:buClr>
              <a:buSzPct val="90000"/>
              <a:defRPr sz="1400"/>
            </a:lvl1pPr>
          </a:lstStyle>
          <a:p>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Cold</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en-US" b="1" dirty="0">
                <a:ln w="1905"/>
                <a:solidFill>
                  <a:schemeClr val="tx1">
                    <a:lumMod val="50000"/>
                    <a:lumOff val="50000"/>
                  </a:schemeClr>
                </a:solidFill>
                <a:effectLst>
                  <a:innerShdw blurRad="69850" dist="43180" dir="5400000">
                    <a:srgbClr val="000000">
                      <a:alpha val="65000"/>
                    </a:srgbClr>
                  </a:innerShdw>
                </a:effectLst>
              </a:rPr>
              <a:t>and</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Hot </a:t>
            </a:r>
            <a:r>
              <a:rPr lang="en-US" b="1" dirty="0">
                <a:ln w="1905"/>
                <a:solidFill>
                  <a:schemeClr val="bg1">
                    <a:lumMod val="50000"/>
                  </a:schemeClr>
                </a:solidFill>
                <a:effectLst>
                  <a:innerShdw blurRad="69850" dist="43180" dir="5400000">
                    <a:srgbClr val="000000">
                      <a:alpha val="65000"/>
                    </a:srgbClr>
                  </a:innerShdw>
                </a:effectLst>
              </a:rPr>
              <a:t>Aisles</a:t>
            </a:r>
          </a:p>
        </p:txBody>
      </p:sp>
      <p:sp>
        <p:nvSpPr>
          <p:cNvPr id="13" name="TextBox 12"/>
          <p:cNvSpPr txBox="1"/>
          <p:nvPr/>
        </p:nvSpPr>
        <p:spPr>
          <a:xfrm>
            <a:off x="4716016" y="4652974"/>
            <a:ext cx="3888432" cy="215444"/>
          </a:xfrm>
          <a:prstGeom prst="rect">
            <a:avLst/>
          </a:prstGeom>
          <a:noFill/>
          <a:ln w="9525" algn="ctr">
            <a:noFill/>
            <a:miter lim="800000"/>
            <a:headEnd/>
            <a:tailEnd/>
          </a:ln>
          <a:effectLst/>
        </p:spPr>
        <p:txBody>
          <a:bodyPr wrap="square" lIns="0" tIns="0" rIns="0" bIns="0">
            <a:spAutoFit/>
          </a:bodyPr>
          <a:lstStyle>
            <a:defPPr>
              <a:defRPr lang="en-US"/>
            </a:defPPr>
            <a:lvl1pPr>
              <a:buClr>
                <a:schemeClr val="folHlink"/>
              </a:buClr>
              <a:buSzPct val="90000"/>
              <a:defRPr sz="1400" b="1">
                <a:ln w="1905"/>
                <a:solidFill>
                  <a:schemeClr val="accent1">
                    <a:lumMod val="75000"/>
                  </a:schemeClr>
                </a:solidFill>
                <a:effectLst>
                  <a:innerShdw blurRad="69850" dist="43180" dir="5400000">
                    <a:srgbClr val="000000">
                      <a:alpha val="65000"/>
                    </a:srgbClr>
                  </a:innerShdw>
                </a:effectLst>
              </a:defRPr>
            </a:lvl1pPr>
          </a:lstStyle>
          <a:p>
            <a:r>
              <a:rPr lang="en-US" dirty="0">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rPr>
              <a:t>Power</a:t>
            </a:r>
            <a:r>
              <a:rPr lang="en-US" dirty="0"/>
              <a:t> </a:t>
            </a:r>
            <a:r>
              <a:rPr lang="en-US" dirty="0">
                <a:solidFill>
                  <a:schemeClr val="bg1">
                    <a:lumMod val="50000"/>
                  </a:schemeClr>
                </a:solidFill>
              </a:rPr>
              <a:t>and</a:t>
            </a:r>
            <a:r>
              <a:rPr lang="en-US" dirty="0"/>
              <a:t> </a:t>
            </a:r>
            <a:r>
              <a:rPr lang="en-US"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Telecommunication</a:t>
            </a:r>
            <a:r>
              <a:rPr lang="en-US" dirty="0"/>
              <a:t> </a:t>
            </a:r>
            <a:r>
              <a:rPr lang="en-US" dirty="0">
                <a:solidFill>
                  <a:schemeClr val="bg1">
                    <a:lumMod val="50000"/>
                  </a:schemeClr>
                </a:solidFill>
              </a:rPr>
              <a:t>Cabling</a:t>
            </a:r>
          </a:p>
        </p:txBody>
      </p:sp>
      <p:pic>
        <p:nvPicPr>
          <p:cNvPr id="2051" name="Picture 3"/>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4834" b="96979" l="2158" r="100000"/>
                    </a14:imgEffect>
                  </a14:imgLayer>
                </a14:imgProps>
              </a:ext>
              <a:ext uri="{28A0092B-C50C-407E-A947-70E740481C1C}">
                <a14:useLocalDpi xmlns:a14="http://schemas.microsoft.com/office/drawing/2010/main" val="0"/>
              </a:ext>
            </a:extLst>
          </a:blip>
          <a:srcRect/>
          <a:stretch>
            <a:fillRect/>
          </a:stretch>
        </p:blipFill>
        <p:spPr bwMode="auto">
          <a:xfrm>
            <a:off x="3347864" y="1340768"/>
            <a:ext cx="5776062" cy="2377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8967476"/>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Cabling</a:t>
            </a:r>
            <a:endParaRPr lang="en-US" dirty="0"/>
          </a:p>
        </p:txBody>
      </p:sp>
      <p:pic>
        <p:nvPicPr>
          <p:cNvPr id="7" name="Picture 5"/>
          <p:cNvPicPr>
            <a:picLocks noChangeAspect="1" noChangeArrowheads="1"/>
          </p:cNvPicPr>
          <p:nvPr/>
        </p:nvPicPr>
        <p:blipFill>
          <a:blip r:embed="rId2" cstate="print"/>
          <a:srcRect/>
          <a:stretch>
            <a:fillRect/>
          </a:stretch>
        </p:blipFill>
        <p:spPr bwMode="auto">
          <a:xfrm>
            <a:off x="2962275" y="936625"/>
            <a:ext cx="6053138" cy="2360613"/>
          </a:xfrm>
          <a:prstGeom prst="rect">
            <a:avLst/>
          </a:prstGeom>
          <a:noFill/>
          <a:ln w="9525" algn="ctr">
            <a:noFill/>
            <a:miter lim="800000"/>
            <a:headEnd/>
            <a:tailEnd/>
          </a:ln>
          <a:effectLst/>
        </p:spPr>
      </p:pic>
      <p:sp>
        <p:nvSpPr>
          <p:cNvPr id="8" name="Rectangle 6"/>
          <p:cNvSpPr>
            <a:spLocks noChangeArrowheads="1"/>
          </p:cNvSpPr>
          <p:nvPr/>
        </p:nvSpPr>
        <p:spPr bwMode="auto">
          <a:xfrm>
            <a:off x="325438" y="1689100"/>
            <a:ext cx="3051175" cy="763588"/>
          </a:xfrm>
          <a:prstGeom prst="rect">
            <a:avLst/>
          </a:prstGeom>
          <a:noFill/>
          <a:ln w="9525" algn="ctr">
            <a:noFill/>
            <a:miter lim="800000"/>
            <a:headEnd/>
            <a:tailEnd/>
          </a:ln>
          <a:effectLst/>
        </p:spPr>
        <p:txBody>
          <a:bodyPr lIns="0" tIns="0" rIns="0" bIns="0">
            <a:spAutoFit/>
          </a:bodyPr>
          <a:lstStyle/>
          <a:p>
            <a:pPr marL="177800" indent="-177800" algn="l">
              <a:buClr>
                <a:schemeClr val="accent2"/>
              </a:buClr>
            </a:pPr>
            <a:endParaRPr lang="en-US" sz="1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endParaRPr>
          </a:p>
          <a:p>
            <a:pPr algn="l">
              <a:buClr>
                <a:schemeClr val="folHlink"/>
              </a:buClr>
              <a:buSzPct val="85000"/>
            </a:pPr>
            <a:r>
              <a:rPr lang="en-US" sz="1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rPr>
              <a:t>Unstructured Cabling</a:t>
            </a:r>
            <a:endParaRPr lang="en-US" sz="1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endParaRPr>
          </a:p>
          <a:p>
            <a:pPr marL="177800" indent="-177800" algn="l">
              <a:buClr>
                <a:schemeClr val="accent2"/>
              </a:buClr>
            </a:pPr>
            <a:endParaRPr lang="en-US" sz="1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endParaRPr>
          </a:p>
        </p:txBody>
      </p:sp>
      <p:pic>
        <p:nvPicPr>
          <p:cNvPr id="9" name="Picture 5"/>
          <p:cNvPicPr>
            <a:picLocks noChangeAspect="1" noChangeArrowheads="1"/>
          </p:cNvPicPr>
          <p:nvPr/>
        </p:nvPicPr>
        <p:blipFill>
          <a:blip r:embed="rId3" cstate="print"/>
          <a:srcRect/>
          <a:stretch>
            <a:fillRect/>
          </a:stretch>
        </p:blipFill>
        <p:spPr bwMode="auto">
          <a:xfrm>
            <a:off x="325438" y="3717032"/>
            <a:ext cx="2160240" cy="2417727"/>
          </a:xfrm>
          <a:prstGeom prst="rect">
            <a:avLst/>
          </a:prstGeom>
          <a:noFill/>
          <a:ln w="9525" algn="ctr">
            <a:noFill/>
            <a:miter lim="800000"/>
            <a:headEnd/>
            <a:tailEnd/>
          </a:ln>
          <a:effectLst/>
        </p:spPr>
      </p:pic>
      <p:pic>
        <p:nvPicPr>
          <p:cNvPr id="11" name="Picture 10"/>
          <p:cNvPicPr>
            <a:picLocks noChangeAspect="1" noChangeArrowheads="1"/>
          </p:cNvPicPr>
          <p:nvPr/>
        </p:nvPicPr>
        <p:blipFill rotWithShape="1">
          <a:blip r:embed="rId4" cstate="print"/>
          <a:srcRect l="6815" r="11407"/>
          <a:stretch/>
        </p:blipFill>
        <p:spPr bwMode="auto">
          <a:xfrm>
            <a:off x="2555777" y="3717032"/>
            <a:ext cx="2592288" cy="2378770"/>
          </a:xfrm>
          <a:prstGeom prst="rect">
            <a:avLst/>
          </a:prstGeom>
          <a:noFill/>
          <a:ln w="9525" algn="ctr">
            <a:noFill/>
            <a:miter lim="800000"/>
            <a:headEnd/>
            <a:tailEnd/>
          </a:ln>
          <a:effectLst/>
        </p:spPr>
      </p:pic>
      <p:pic>
        <p:nvPicPr>
          <p:cNvPr id="8200" name="Picture 8" descr="http://files.itproportal.com/wp-content/uploads/photos/cables_original.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080" y="3717032"/>
            <a:ext cx="3568154" cy="2378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2602297"/>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Cabling</a:t>
            </a:r>
            <a:endParaRPr lang="en-US" dirty="0"/>
          </a:p>
        </p:txBody>
      </p:sp>
      <p:sp>
        <p:nvSpPr>
          <p:cNvPr id="8" name="Rectangle 6"/>
          <p:cNvSpPr>
            <a:spLocks noChangeArrowheads="1"/>
          </p:cNvSpPr>
          <p:nvPr/>
        </p:nvSpPr>
        <p:spPr bwMode="auto">
          <a:xfrm>
            <a:off x="325438" y="1689100"/>
            <a:ext cx="3051175" cy="763588"/>
          </a:xfrm>
          <a:prstGeom prst="rect">
            <a:avLst/>
          </a:prstGeom>
          <a:noFill/>
          <a:ln w="9525" algn="ctr">
            <a:noFill/>
            <a:miter lim="800000"/>
            <a:headEnd/>
            <a:tailEnd/>
          </a:ln>
          <a:effectLst/>
        </p:spPr>
        <p:txBody>
          <a:bodyPr lIns="0" tIns="0" rIns="0" bIns="0">
            <a:spAutoFit/>
          </a:bodyPr>
          <a:lstStyle/>
          <a:p>
            <a:pPr marL="177800" indent="-177800" algn="l">
              <a:buClr>
                <a:schemeClr val="accent2"/>
              </a:buClr>
            </a:pPr>
            <a:endParaRPr lang="en-US" sz="1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endParaRPr>
          </a:p>
          <a:p>
            <a:pPr algn="l">
              <a:buClr>
                <a:schemeClr val="folHlink"/>
              </a:buClr>
              <a:buSzPct val="85000"/>
            </a:pPr>
            <a:r>
              <a:rPr lang="en-US" sz="1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rPr>
              <a:t>Structured </a:t>
            </a:r>
            <a:r>
              <a:rPr lang="en-US" sz="1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rPr>
              <a:t>Cabling</a:t>
            </a:r>
            <a:endParaRPr lang="en-US" sz="1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endParaRPr>
          </a:p>
          <a:p>
            <a:pPr marL="177800" indent="-177800" algn="l">
              <a:buClr>
                <a:schemeClr val="accent2"/>
              </a:buClr>
            </a:pPr>
            <a:endParaRPr lang="en-US" sz="1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ahoma" pitchFamily="34" charset="0"/>
            </a:endParaRPr>
          </a:p>
        </p:txBody>
      </p:sp>
      <p:pic>
        <p:nvPicPr>
          <p:cNvPr id="10" name="Picture 14"/>
          <p:cNvPicPr>
            <a:picLocks noChangeAspect="1" noChangeArrowheads="1"/>
          </p:cNvPicPr>
          <p:nvPr/>
        </p:nvPicPr>
        <p:blipFill>
          <a:blip r:embed="rId2" cstate="print"/>
          <a:srcRect/>
          <a:stretch>
            <a:fillRect/>
          </a:stretch>
        </p:blipFill>
        <p:spPr bwMode="auto">
          <a:xfrm>
            <a:off x="5860963" y="3928899"/>
            <a:ext cx="2916326" cy="2092389"/>
          </a:xfrm>
          <a:prstGeom prst="rect">
            <a:avLst/>
          </a:prstGeom>
          <a:noFill/>
          <a:ln w="9525" algn="ctr">
            <a:noFill/>
            <a:miter lim="800000"/>
            <a:headEnd/>
            <a:tailEnd/>
          </a:ln>
          <a:effectLst/>
        </p:spPr>
      </p:pic>
      <p:pic>
        <p:nvPicPr>
          <p:cNvPr id="14" name="Picture 8"/>
          <p:cNvPicPr>
            <a:picLocks noChangeAspect="1" noChangeArrowheads="1"/>
          </p:cNvPicPr>
          <p:nvPr/>
        </p:nvPicPr>
        <p:blipFill>
          <a:blip r:embed="rId3" cstate="print"/>
          <a:srcRect/>
          <a:stretch>
            <a:fillRect/>
          </a:stretch>
        </p:blipFill>
        <p:spPr bwMode="auto">
          <a:xfrm>
            <a:off x="2849438" y="831850"/>
            <a:ext cx="6115050" cy="2478088"/>
          </a:xfrm>
          <a:prstGeom prst="rect">
            <a:avLst/>
          </a:prstGeom>
          <a:noFill/>
          <a:ln w="9525" algn="ctr">
            <a:noFill/>
            <a:miter lim="800000"/>
            <a:headEnd/>
            <a:tailEnd/>
          </a:ln>
          <a:effectLst/>
        </p:spPr>
      </p:pic>
      <p:pic>
        <p:nvPicPr>
          <p:cNvPr id="3076" name="Picture 4" descr="http://www.bailiwick.com/assets/img/cabling.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848" y="3928899"/>
            <a:ext cx="2092389" cy="209238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s://s-media-cache-ak0.pinimg.com/736x/c1/dc/94/c1dc9429a22e64c7d06afbf5a9d1a29a.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3568" y="3896638"/>
            <a:ext cx="1757014" cy="212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776863"/>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Cabling</a:t>
            </a:r>
            <a:endParaRPr lang="en-US" dirty="0"/>
          </a:p>
        </p:txBody>
      </p:sp>
      <p:pic>
        <p:nvPicPr>
          <p:cNvPr id="4098" name="Picture 2" descr="http://iers.grial.eu/modules/introduction/budismii/budimages/Sand%20Mandal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196752"/>
            <a:ext cx="7395961" cy="4922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219847"/>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Cooling</a:t>
            </a:r>
            <a:endParaRPr lang="en-US" dirty="0"/>
          </a:p>
        </p:txBody>
      </p:sp>
      <p:pic>
        <p:nvPicPr>
          <p:cNvPr id="3074" name="Picture 2" descr="http://www.42u.com/images/data-center-cooling-i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8182"/>
            <a:ext cx="4788024" cy="49563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004048" y="1412776"/>
            <a:ext cx="4032448" cy="3447098"/>
          </a:xfrm>
          <a:prstGeom prst="rect">
            <a:avLst/>
          </a:prstGeom>
          <a:noFill/>
        </p:spPr>
        <p:txBody>
          <a:bodyPr wrap="square" lIns="0" tIns="0" rIns="0" bIns="0" rtlCol="0">
            <a:spAutoFit/>
          </a:bodyPr>
          <a:lstStyle/>
          <a:p>
            <a:pPr algn="just"/>
            <a:r>
              <a:rPr lang="it-IT" sz="1600" dirty="0" smtClean="0">
                <a:solidFill>
                  <a:schemeClr val="bg2"/>
                </a:solidFill>
              </a:rPr>
              <a:t>Based on the: </a:t>
            </a:r>
          </a:p>
          <a:p>
            <a:pPr marL="285750" indent="-285750" algn="just">
              <a:buFont typeface="Arial" pitchFamily="34" charset="0"/>
              <a:buChar char="•"/>
            </a:pPr>
            <a:r>
              <a:rPr lang="it-IT" sz="1600" dirty="0">
                <a:solidFill>
                  <a:schemeClr val="bg2"/>
                </a:solidFill>
              </a:rPr>
              <a:t>R</a:t>
            </a:r>
            <a:r>
              <a:rPr lang="it-IT" sz="1600" dirty="0" smtClean="0">
                <a:solidFill>
                  <a:schemeClr val="bg2"/>
                </a:solidFill>
              </a:rPr>
              <a:t>ack server dissipations (8-40kW)</a:t>
            </a:r>
          </a:p>
          <a:p>
            <a:pPr marL="285750" indent="-285750" algn="just">
              <a:buFont typeface="Arial" pitchFamily="34" charset="0"/>
              <a:buChar char="•"/>
            </a:pPr>
            <a:r>
              <a:rPr lang="it-IT" sz="1600" dirty="0" smtClean="0">
                <a:solidFill>
                  <a:schemeClr val="bg2"/>
                </a:solidFill>
              </a:rPr>
              <a:t>Infrastructure constraints</a:t>
            </a:r>
          </a:p>
          <a:p>
            <a:pPr marL="285750" indent="-285750" algn="just">
              <a:buFont typeface="Arial" pitchFamily="34" charset="0"/>
              <a:buChar char="•"/>
            </a:pPr>
            <a:r>
              <a:rPr lang="it-IT" sz="1600" dirty="0" smtClean="0">
                <a:solidFill>
                  <a:schemeClr val="bg2"/>
                </a:solidFill>
              </a:rPr>
              <a:t>Economic constraints</a:t>
            </a:r>
          </a:p>
          <a:p>
            <a:pPr marL="285750" indent="-285750" algn="just">
              <a:buFont typeface="Arial" pitchFamily="34" charset="0"/>
              <a:buChar char="•"/>
            </a:pPr>
            <a:endParaRPr lang="it-IT" sz="1600" dirty="0" smtClean="0">
              <a:solidFill>
                <a:schemeClr val="bg2"/>
              </a:solidFill>
            </a:endParaRPr>
          </a:p>
          <a:p>
            <a:pPr marL="285750" indent="-285750" algn="just">
              <a:buFont typeface="Arial" pitchFamily="34" charset="0"/>
              <a:buChar char="•"/>
            </a:pPr>
            <a:endParaRPr lang="it-IT" sz="1600" dirty="0">
              <a:solidFill>
                <a:schemeClr val="bg2"/>
              </a:solidFill>
            </a:endParaRPr>
          </a:p>
          <a:p>
            <a:pPr marL="285750" indent="-285750" algn="just">
              <a:buFont typeface="Arial" pitchFamily="34" charset="0"/>
              <a:buChar char="•"/>
            </a:pPr>
            <a:endParaRPr lang="it-IT" sz="1600" dirty="0" smtClean="0">
              <a:solidFill>
                <a:schemeClr val="bg2"/>
              </a:solidFill>
            </a:endParaRPr>
          </a:p>
          <a:p>
            <a:pPr algn="ctr"/>
            <a:r>
              <a:rPr lang="it-IT" sz="1600" dirty="0" smtClean="0">
                <a:solidFill>
                  <a:schemeClr val="bg2"/>
                </a:solidFill>
              </a:rPr>
              <a:t>The systems must work between:</a:t>
            </a:r>
          </a:p>
          <a:p>
            <a:pPr algn="ctr"/>
            <a:endParaRPr lang="it-IT" sz="1600" dirty="0" smtClean="0">
              <a:solidFill>
                <a:schemeClr val="bg2"/>
              </a:solidFill>
            </a:endParaRPr>
          </a:p>
          <a:p>
            <a:pPr algn="ctr"/>
            <a:r>
              <a:rPr lang="it-IT" sz="1600" dirty="0" smtClean="0">
                <a:solidFill>
                  <a:schemeClr val="bg2"/>
                </a:solidFill>
              </a:rPr>
              <a:t>22°C and 24°C </a:t>
            </a:r>
          </a:p>
          <a:p>
            <a:pPr algn="ctr"/>
            <a:endParaRPr lang="it-IT" sz="1600" dirty="0" smtClean="0">
              <a:solidFill>
                <a:schemeClr val="bg2"/>
              </a:solidFill>
            </a:endParaRPr>
          </a:p>
          <a:p>
            <a:pPr algn="ctr"/>
            <a:r>
              <a:rPr lang="it-IT" sz="1600" dirty="0" smtClean="0">
                <a:solidFill>
                  <a:schemeClr val="bg2"/>
                </a:solidFill>
              </a:rPr>
              <a:t>with </a:t>
            </a:r>
          </a:p>
          <a:p>
            <a:pPr algn="ctr"/>
            <a:endParaRPr lang="it-IT" sz="1600" dirty="0" smtClean="0">
              <a:solidFill>
                <a:schemeClr val="bg2"/>
              </a:solidFill>
            </a:endParaRPr>
          </a:p>
          <a:p>
            <a:pPr algn="ctr"/>
            <a:r>
              <a:rPr lang="it-IT" sz="1600" dirty="0" smtClean="0">
                <a:solidFill>
                  <a:schemeClr val="bg2"/>
                </a:solidFill>
              </a:rPr>
              <a:t>35-50% humidity</a:t>
            </a:r>
          </a:p>
        </p:txBody>
      </p:sp>
    </p:spTree>
    <p:extLst>
      <p:ext uri="{BB962C8B-B14F-4D97-AF65-F5344CB8AC3E}">
        <p14:creationId xmlns:p14="http://schemas.microsoft.com/office/powerpoint/2010/main" val="410187779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Cooling</a:t>
            </a:r>
            <a:endParaRPr lang="en-US" dirty="0"/>
          </a:p>
        </p:txBody>
      </p:sp>
      <p:grpSp>
        <p:nvGrpSpPr>
          <p:cNvPr id="4" name="Group 3"/>
          <p:cNvGrpSpPr/>
          <p:nvPr/>
        </p:nvGrpSpPr>
        <p:grpSpPr>
          <a:xfrm>
            <a:off x="2221171" y="1075967"/>
            <a:ext cx="4795771" cy="2304255"/>
            <a:chOff x="251520" y="1432362"/>
            <a:chExt cx="4140902" cy="1701060"/>
          </a:xfrm>
        </p:grpSpPr>
        <p:sp>
          <p:nvSpPr>
            <p:cNvPr id="3" name="TextBox 2"/>
            <p:cNvSpPr txBox="1"/>
            <p:nvPr/>
          </p:nvSpPr>
          <p:spPr>
            <a:xfrm>
              <a:off x="467544" y="2856423"/>
              <a:ext cx="735779" cy="276999"/>
            </a:xfrm>
            <a:prstGeom prst="rect">
              <a:avLst/>
            </a:prstGeom>
            <a:noFill/>
          </p:spPr>
          <p:txBody>
            <a:bodyPr wrap="none" lIns="0" tIns="0" rIns="0" bIns="0" rtlCol="0">
              <a:spAutoFit/>
            </a:bodyPr>
            <a:lstStyle/>
            <a:p>
              <a:pPr algn="ctr"/>
              <a:r>
                <a:rPr lang="it-IT" dirty="0" smtClean="0">
                  <a:solidFill>
                    <a:schemeClr val="bg2"/>
                  </a:solidFill>
                </a:rPr>
                <a:t>Chiller</a:t>
              </a:r>
              <a:endParaRPr lang="en-US" dirty="0" smtClean="0">
                <a:solidFill>
                  <a:schemeClr val="bg2"/>
                </a:solidFill>
              </a:endParaRPr>
            </a:p>
          </p:txBody>
        </p:sp>
        <p:sp>
          <p:nvSpPr>
            <p:cNvPr id="11" name="TextBox 10"/>
            <p:cNvSpPr txBox="1"/>
            <p:nvPr/>
          </p:nvSpPr>
          <p:spPr>
            <a:xfrm>
              <a:off x="3751220" y="2110241"/>
              <a:ext cx="641202" cy="276999"/>
            </a:xfrm>
            <a:prstGeom prst="rect">
              <a:avLst/>
            </a:prstGeom>
            <a:noFill/>
          </p:spPr>
          <p:txBody>
            <a:bodyPr wrap="none" lIns="0" tIns="0" rIns="0" bIns="0" rtlCol="0">
              <a:spAutoFit/>
            </a:bodyPr>
            <a:lstStyle/>
            <a:p>
              <a:pPr algn="ctr"/>
              <a:r>
                <a:rPr lang="it-IT" dirty="0" smtClean="0">
                  <a:solidFill>
                    <a:schemeClr val="bg2"/>
                  </a:solidFill>
                </a:rPr>
                <a:t>CRAC</a:t>
              </a:r>
              <a:endParaRPr lang="en-US" dirty="0" smtClean="0">
                <a:solidFill>
                  <a:schemeClr val="bg2"/>
                </a:solidFill>
              </a:endParaRPr>
            </a:p>
          </p:txBody>
        </p:sp>
        <p:pic>
          <p:nvPicPr>
            <p:cNvPr id="12" name="Picture 28" descr="http://www.energymanagertoday.com/assets/Emerson-300x285.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404" b="95439" l="1000" r="97667"/>
                      </a14:imgEffect>
                    </a14:imgLayer>
                  </a14:imgProps>
                </a:ext>
                <a:ext uri="{28A0092B-C50C-407E-A947-70E740481C1C}">
                  <a14:useLocalDpi xmlns:a14="http://schemas.microsoft.com/office/drawing/2010/main" val="0"/>
                </a:ext>
              </a:extLst>
            </a:blip>
            <a:srcRect/>
            <a:stretch>
              <a:fillRect/>
            </a:stretch>
          </p:blipFill>
          <p:spPr bwMode="auto">
            <a:xfrm flipH="1">
              <a:off x="2555777" y="1702042"/>
              <a:ext cx="1159529" cy="110155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www.sidrampower.com/assets/images/chiller.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251520" y="1628800"/>
              <a:ext cx="1512775" cy="1248039"/>
            </a:xfrm>
            <a:prstGeom prst="rect">
              <a:avLst/>
            </a:prstGeom>
            <a:noFill/>
            <a:extLst>
              <a:ext uri="{909E8E84-426E-40DD-AFC4-6F175D3DCCD1}">
                <a14:hiddenFill xmlns:a14="http://schemas.microsoft.com/office/drawing/2010/main">
                  <a:solidFill>
                    <a:srgbClr val="FFFFFF"/>
                  </a:solidFill>
                </a14:hiddenFill>
              </a:ext>
            </a:extLst>
          </p:spPr>
        </p:pic>
        <p:sp>
          <p:nvSpPr>
            <p:cNvPr id="13" name="Down Arrow 12"/>
            <p:cNvSpPr/>
            <p:nvPr/>
          </p:nvSpPr>
          <p:spPr>
            <a:xfrm rot="17872763">
              <a:off x="2782247" y="2524356"/>
              <a:ext cx="288032" cy="360040"/>
            </a:xfrm>
            <a:prstGeom prst="downArrow">
              <a:avLst>
                <a:gd name="adj1" fmla="val 41687"/>
                <a:gd name="adj2" fmla="val 50561"/>
              </a:avLst>
            </a:prstGeom>
            <a:ln w="12700">
              <a:solidFill>
                <a:schemeClr val="bg2"/>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rot="17872763">
              <a:off x="3160152" y="2485340"/>
              <a:ext cx="288032" cy="360040"/>
            </a:xfrm>
            <a:prstGeom prst="downArrow">
              <a:avLst>
                <a:gd name="adj1" fmla="val 41687"/>
                <a:gd name="adj2" fmla="val 50561"/>
              </a:avLst>
            </a:prstGeom>
            <a:ln w="12700">
              <a:solidFill>
                <a:schemeClr val="bg2"/>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rot="17872763">
              <a:off x="3561615" y="2452348"/>
              <a:ext cx="288032" cy="360040"/>
            </a:xfrm>
            <a:prstGeom prst="downArrow">
              <a:avLst>
                <a:gd name="adj1" fmla="val 41687"/>
                <a:gd name="adj2" fmla="val 50561"/>
              </a:avLst>
            </a:prstGeom>
            <a:ln w="12700">
              <a:solidFill>
                <a:schemeClr val="bg2"/>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rot="2375476">
              <a:off x="2707974" y="1432362"/>
              <a:ext cx="288032" cy="360040"/>
            </a:xfrm>
            <a:prstGeom prst="downArrow">
              <a:avLst>
                <a:gd name="adj1" fmla="val 41687"/>
                <a:gd name="adj2" fmla="val 50561"/>
              </a:avLst>
            </a:prstGeom>
            <a:solidFill>
              <a:srgbClr val="FF0000"/>
            </a:solidFill>
            <a:ln w="12700">
              <a:solidFill>
                <a:srgbClr val="FF0000"/>
              </a:solidFill>
            </a:ln>
            <a:scene3d>
              <a:camera prst="perspectiveRelaxedModerately"/>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rot="2375476">
              <a:off x="3046198" y="1463368"/>
              <a:ext cx="288032" cy="360040"/>
            </a:xfrm>
            <a:prstGeom prst="downArrow">
              <a:avLst>
                <a:gd name="adj1" fmla="val 41687"/>
                <a:gd name="adj2" fmla="val 50561"/>
              </a:avLst>
            </a:prstGeom>
            <a:solidFill>
              <a:srgbClr val="FF0000"/>
            </a:solidFill>
            <a:ln w="12700">
              <a:solidFill>
                <a:srgbClr val="FF0000"/>
              </a:solidFill>
            </a:ln>
            <a:scene3d>
              <a:camera prst="perspectiveRelaxedModerately"/>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wn Arrow 23"/>
            <p:cNvSpPr/>
            <p:nvPr/>
          </p:nvSpPr>
          <p:spPr>
            <a:xfrm rot="2375476">
              <a:off x="3381496" y="1448780"/>
              <a:ext cx="288032" cy="360040"/>
            </a:xfrm>
            <a:prstGeom prst="downArrow">
              <a:avLst>
                <a:gd name="adj1" fmla="val 41687"/>
                <a:gd name="adj2" fmla="val 50561"/>
              </a:avLst>
            </a:prstGeom>
            <a:solidFill>
              <a:srgbClr val="FF0000"/>
            </a:solidFill>
            <a:ln w="12700">
              <a:solidFill>
                <a:srgbClr val="FF0000"/>
              </a:solidFill>
            </a:ln>
            <a:scene3d>
              <a:camera prst="perspectiveRelaxedModerately"/>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1742174" y="2402568"/>
              <a:ext cx="875900" cy="255132"/>
            </a:xfrm>
            <a:custGeom>
              <a:avLst/>
              <a:gdLst>
                <a:gd name="connsiteX0" fmla="*/ 0 w 875899"/>
                <a:gd name="connsiteY0" fmla="*/ 234756 h 255132"/>
                <a:gd name="connsiteX1" fmla="*/ 375385 w 875899"/>
                <a:gd name="connsiteY1" fmla="*/ 234756 h 255132"/>
                <a:gd name="connsiteX2" fmla="*/ 346509 w 875899"/>
                <a:gd name="connsiteY2" fmla="*/ 23000 h 255132"/>
                <a:gd name="connsiteX3" fmla="*/ 875899 w 875899"/>
                <a:gd name="connsiteY3" fmla="*/ 23000 h 255132"/>
              </a:gdLst>
              <a:ahLst/>
              <a:cxnLst>
                <a:cxn ang="0">
                  <a:pos x="connsiteX0" y="connsiteY0"/>
                </a:cxn>
                <a:cxn ang="0">
                  <a:pos x="connsiteX1" y="connsiteY1"/>
                </a:cxn>
                <a:cxn ang="0">
                  <a:pos x="connsiteX2" y="connsiteY2"/>
                </a:cxn>
                <a:cxn ang="0">
                  <a:pos x="connsiteX3" y="connsiteY3"/>
                </a:cxn>
              </a:cxnLst>
              <a:rect l="l" t="t" r="r" b="b"/>
              <a:pathLst>
                <a:path w="875899" h="255132">
                  <a:moveTo>
                    <a:pt x="0" y="234756"/>
                  </a:moveTo>
                  <a:cubicBezTo>
                    <a:pt x="158817" y="252402"/>
                    <a:pt x="317634" y="270049"/>
                    <a:pt x="375385" y="234756"/>
                  </a:cubicBezTo>
                  <a:cubicBezTo>
                    <a:pt x="433136" y="199463"/>
                    <a:pt x="263090" y="58293"/>
                    <a:pt x="346509" y="23000"/>
                  </a:cubicBezTo>
                  <a:cubicBezTo>
                    <a:pt x="429928" y="-12293"/>
                    <a:pt x="803710" y="-2667"/>
                    <a:pt x="875899" y="23000"/>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1588168" y="2516552"/>
              <a:ext cx="1049154" cy="271617"/>
            </a:xfrm>
            <a:custGeom>
              <a:avLst/>
              <a:gdLst>
                <a:gd name="connsiteX0" fmla="*/ 0 w 1049154"/>
                <a:gd name="connsiteY0" fmla="*/ 207397 h 271617"/>
                <a:gd name="connsiteX1" fmla="*/ 779647 w 1049154"/>
                <a:gd name="connsiteY1" fmla="*/ 265149 h 271617"/>
                <a:gd name="connsiteX2" fmla="*/ 702645 w 1049154"/>
                <a:gd name="connsiteY2" fmla="*/ 72644 h 271617"/>
                <a:gd name="connsiteX3" fmla="*/ 1049154 w 1049154"/>
                <a:gd name="connsiteY3" fmla="*/ 5267 h 271617"/>
              </a:gdLst>
              <a:ahLst/>
              <a:cxnLst>
                <a:cxn ang="0">
                  <a:pos x="connsiteX0" y="connsiteY0"/>
                </a:cxn>
                <a:cxn ang="0">
                  <a:pos x="connsiteX1" y="connsiteY1"/>
                </a:cxn>
                <a:cxn ang="0">
                  <a:pos x="connsiteX2" y="connsiteY2"/>
                </a:cxn>
                <a:cxn ang="0">
                  <a:pos x="connsiteX3" y="connsiteY3"/>
                </a:cxn>
              </a:cxnLst>
              <a:rect l="l" t="t" r="r" b="b"/>
              <a:pathLst>
                <a:path w="1049154" h="271617">
                  <a:moveTo>
                    <a:pt x="0" y="207397"/>
                  </a:moveTo>
                  <a:cubicBezTo>
                    <a:pt x="331270" y="247502"/>
                    <a:pt x="662540" y="287608"/>
                    <a:pt x="779647" y="265149"/>
                  </a:cubicBezTo>
                  <a:cubicBezTo>
                    <a:pt x="896754" y="242690"/>
                    <a:pt x="657727" y="115958"/>
                    <a:pt x="702645" y="72644"/>
                  </a:cubicBezTo>
                  <a:cubicBezTo>
                    <a:pt x="747563" y="29330"/>
                    <a:pt x="983382" y="-15588"/>
                    <a:pt x="1049154" y="5267"/>
                  </a:cubicBezTo>
                </a:path>
              </a:pathLst>
            </a:cu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4619057" y="3192611"/>
            <a:ext cx="4619625"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 descr="http://blog.eecnet.com/Portals/42245/images/C--Users-kotte-Desktop-DBC-system-diagram.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403" y="3317617"/>
            <a:ext cx="3105797" cy="2647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272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Cooling</a:t>
            </a:r>
            <a:endParaRPr lang="en-US" dirty="0"/>
          </a:p>
        </p:txBody>
      </p:sp>
      <p:pic>
        <p:nvPicPr>
          <p:cNvPr id="2051" name="Picture 3"/>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108520" y="908720"/>
            <a:ext cx="4725525"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 descr="http://www.colocation-provider.net/wp-content/uploads/2011/12/cooling_syste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4149080"/>
            <a:ext cx="3144815" cy="202571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p:cNvPicPr>
            <a:picLocks noChangeAspect="1" noChangeArrowheads="1"/>
          </p:cNvPicPr>
          <p:nvPr/>
        </p:nvPicPr>
        <p:blipFill>
          <a:blip r:embed="rId5" cstate="print"/>
          <a:srcRect/>
          <a:stretch>
            <a:fillRect/>
          </a:stretch>
        </p:blipFill>
        <p:spPr bwMode="auto">
          <a:xfrm>
            <a:off x="4264486" y="764704"/>
            <a:ext cx="4773196" cy="2232248"/>
          </a:xfrm>
          <a:prstGeom prst="rect">
            <a:avLst/>
          </a:prstGeom>
          <a:noFill/>
          <a:ln w="9525" algn="ctr">
            <a:noFill/>
            <a:miter lim="800000"/>
            <a:headEnd/>
            <a:tailEnd/>
          </a:ln>
          <a:effectLst/>
        </p:spPr>
      </p:pic>
      <p:pic>
        <p:nvPicPr>
          <p:cNvPr id="205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944" y="3284983"/>
            <a:ext cx="5004048" cy="2889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7563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6"/>
                                        </p:tgtEl>
                                        <p:attrNameLst>
                                          <p:attrName>style.visibility</p:attrName>
                                        </p:attrNameLst>
                                      </p:cBhvr>
                                      <p:to>
                                        <p:strVal val="visible"/>
                                      </p:to>
                                    </p:set>
                                    <p:animEffect transition="in" filter="fade">
                                      <p:cBhvr>
                                        <p:cTn id="12" dur="1000"/>
                                        <p:tgtEl>
                                          <p:spTgt spid="2056"/>
                                        </p:tgtEl>
                                      </p:cBhvr>
                                    </p:animEffect>
                                  </p:childTnLst>
                                </p:cTn>
                              </p:par>
                              <p:par>
                                <p:cTn id="13" presetID="9" presetClass="emph" presetSubtype="0" nodeType="withEffect">
                                  <p:stCondLst>
                                    <p:cond delay="0"/>
                                  </p:stCondLst>
                                  <p:childTnLst>
                                    <p:set>
                                      <p:cBhvr rctx="PPT">
                                        <p:cTn id="14" dur="indefinite"/>
                                        <p:tgtEl>
                                          <p:spTgt spid="27"/>
                                        </p:tgtEl>
                                        <p:attrNameLst>
                                          <p:attrName>style.opacity</p:attrName>
                                        </p:attrNameLst>
                                      </p:cBhvr>
                                      <p:to>
                                        <p:strVal val="0.5"/>
                                      </p:to>
                                    </p:set>
                                    <p:animEffect filter="image" prLst="opacity: 0.5">
                                      <p:cBhvr rctx="IE">
                                        <p:cTn id="15" dur="indefinite"/>
                                        <p:tgtEl>
                                          <p:spTgt spid="27"/>
                                        </p:tgtEl>
                                      </p:cBhvr>
                                    </p:animEffect>
                                  </p:childTnLst>
                                </p:cTn>
                              </p:par>
                              <p:par>
                                <p:cTn id="16" presetID="9" presetClass="emph" presetSubtype="0" nodeType="withEffect">
                                  <p:stCondLst>
                                    <p:cond delay="0"/>
                                  </p:stCondLst>
                                  <p:childTnLst>
                                    <p:set>
                                      <p:cBhvr rctx="PPT">
                                        <p:cTn id="17" dur="indefinite"/>
                                        <p:tgtEl>
                                          <p:spTgt spid="2051"/>
                                        </p:tgtEl>
                                        <p:attrNameLst>
                                          <p:attrName>style.opacity</p:attrName>
                                        </p:attrNameLst>
                                      </p:cBhvr>
                                      <p:to>
                                        <p:strVal val="0.5"/>
                                      </p:to>
                                    </p:set>
                                    <p:animEffect filter="image" prLst="opacity: 0.5">
                                      <p:cBhvr rctx="IE">
                                        <p:cTn id="18" dur="indefinite"/>
                                        <p:tgtEl>
                                          <p:spTgt spid="2051"/>
                                        </p:tgtEl>
                                      </p:cBhvr>
                                    </p:animEffect>
                                  </p:childTnLst>
                                </p:cTn>
                              </p:par>
                              <p:par>
                                <p:cTn id="19" presetID="9" presetClass="emph" presetSubtype="0" nodeType="withEffect">
                                  <p:stCondLst>
                                    <p:cond delay="0"/>
                                  </p:stCondLst>
                                  <p:childTnLst>
                                    <p:set>
                                      <p:cBhvr rctx="PPT">
                                        <p:cTn id="20" dur="indefinite"/>
                                        <p:tgtEl>
                                          <p:spTgt spid="28"/>
                                        </p:tgtEl>
                                        <p:attrNameLst>
                                          <p:attrName>style.opacity</p:attrName>
                                        </p:attrNameLst>
                                      </p:cBhvr>
                                      <p:to>
                                        <p:strVal val="0.5"/>
                                      </p:to>
                                    </p:set>
                                    <p:animEffect filter="image" prLst="opacity: 0.5">
                                      <p:cBhvr rctx="IE">
                                        <p:cTn id="21" dur="indefinite"/>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Air Flow Issues</a:t>
            </a:r>
            <a:endParaRPr lang="en-US" dirty="0"/>
          </a:p>
        </p:txBody>
      </p:sp>
      <p:pic>
        <p:nvPicPr>
          <p:cNvPr id="7" name="Picture 4"/>
          <p:cNvPicPr>
            <a:picLocks noChangeAspect="1" noChangeArrowheads="1"/>
          </p:cNvPicPr>
          <p:nvPr/>
        </p:nvPicPr>
        <p:blipFill>
          <a:blip r:embed="rId2" cstate="print"/>
          <a:srcRect/>
          <a:stretch>
            <a:fillRect/>
          </a:stretch>
        </p:blipFill>
        <p:spPr bwMode="auto">
          <a:xfrm>
            <a:off x="6084888" y="1020763"/>
            <a:ext cx="2843212" cy="2035175"/>
          </a:xfrm>
          <a:prstGeom prst="rect">
            <a:avLst/>
          </a:prstGeom>
          <a:noFill/>
          <a:ln w="9525" algn="ctr">
            <a:noFill/>
            <a:miter lim="800000"/>
            <a:headEnd/>
            <a:tailEnd/>
          </a:ln>
          <a:effectLst/>
        </p:spPr>
      </p:pic>
      <p:pic>
        <p:nvPicPr>
          <p:cNvPr id="11" name="Picture 6"/>
          <p:cNvPicPr>
            <a:picLocks noChangeAspect="1" noChangeArrowheads="1"/>
          </p:cNvPicPr>
          <p:nvPr/>
        </p:nvPicPr>
        <p:blipFill>
          <a:blip r:embed="rId3" cstate="print"/>
          <a:srcRect/>
          <a:stretch>
            <a:fillRect/>
          </a:stretch>
        </p:blipFill>
        <p:spPr bwMode="auto">
          <a:xfrm>
            <a:off x="6386513" y="3986213"/>
            <a:ext cx="2314575" cy="2143125"/>
          </a:xfrm>
          <a:prstGeom prst="rect">
            <a:avLst/>
          </a:prstGeom>
          <a:noFill/>
          <a:ln w="9525" algn="ctr">
            <a:noFill/>
            <a:miter lim="800000"/>
            <a:headEnd/>
            <a:tailEnd/>
          </a:ln>
          <a:effec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484784"/>
            <a:ext cx="5448300" cy="431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5995428"/>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Air flow management</a:t>
            </a:r>
            <a:endParaRPr lang="en-US" dirty="0"/>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1096"/>
            <a:ext cx="9154900" cy="5024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8392309"/>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z="2400" i="1" dirty="0">
                <a:solidFill>
                  <a:srgbClr val="FFFFFF">
                    <a:lumMod val="75000"/>
                  </a:srgbClr>
                </a:solidFill>
              </a:rPr>
              <a:t>Data Center Preparation</a:t>
            </a:r>
            <a:r>
              <a:rPr lang="it-IT" dirty="0" smtClean="0"/>
              <a:t/>
            </a:r>
            <a:br>
              <a:rPr lang="it-IT" dirty="0" smtClean="0"/>
            </a:br>
            <a:r>
              <a:rPr lang="it-IT" dirty="0" smtClean="0"/>
              <a:t>Air Flow Management</a:t>
            </a:r>
            <a:endParaRPr lang="en-US" dirty="0"/>
          </a:p>
        </p:txBody>
      </p:sp>
      <p:pic>
        <p:nvPicPr>
          <p:cNvPr id="10" name="Picture 10"/>
          <p:cNvPicPr>
            <a:picLocks noChangeAspect="1" noChangeArrowheads="1"/>
          </p:cNvPicPr>
          <p:nvPr/>
        </p:nvPicPr>
        <p:blipFill>
          <a:blip r:embed="rId2" cstate="print"/>
          <a:srcRect/>
          <a:stretch>
            <a:fillRect/>
          </a:stretch>
        </p:blipFill>
        <p:spPr bwMode="auto">
          <a:xfrm>
            <a:off x="3059838" y="1772816"/>
            <a:ext cx="3168346" cy="3078426"/>
          </a:xfrm>
          <a:prstGeom prst="rect">
            <a:avLst/>
          </a:prstGeom>
          <a:noFill/>
          <a:ln w="9525" algn="ctr">
            <a:noFill/>
            <a:miter lim="800000"/>
            <a:headEnd/>
            <a:tailEnd/>
          </a:ln>
          <a:effectLst/>
        </p:spPr>
      </p:pic>
      <p:sp>
        <p:nvSpPr>
          <p:cNvPr id="3" name="TextBox 2"/>
          <p:cNvSpPr txBox="1"/>
          <p:nvPr/>
        </p:nvSpPr>
        <p:spPr>
          <a:xfrm>
            <a:off x="3635896" y="5157192"/>
            <a:ext cx="1725793" cy="276999"/>
          </a:xfrm>
          <a:prstGeom prst="rect">
            <a:avLst/>
          </a:prstGeom>
          <a:noFill/>
        </p:spPr>
        <p:txBody>
          <a:bodyPr wrap="none" lIns="0" tIns="0" rIns="0" bIns="0" rtlCol="0">
            <a:spAutoFit/>
          </a:bodyPr>
          <a:lstStyle/>
          <a:p>
            <a:pPr algn="ctr"/>
            <a:r>
              <a:rPr lang="it-IT" dirty="0" smtClean="0">
                <a:solidFill>
                  <a:schemeClr val="bg2"/>
                </a:solidFill>
              </a:rPr>
              <a:t>ACTIVE FLOOR</a:t>
            </a:r>
            <a:endParaRPr lang="en-US" dirty="0" smtClean="0">
              <a:solidFill>
                <a:schemeClr val="bg2"/>
              </a:solidFill>
            </a:endParaRPr>
          </a:p>
        </p:txBody>
      </p:sp>
      <p:sp>
        <p:nvSpPr>
          <p:cNvPr id="4" name="TextBox 3"/>
          <p:cNvSpPr txBox="1"/>
          <p:nvPr/>
        </p:nvSpPr>
        <p:spPr>
          <a:xfrm>
            <a:off x="6504416" y="3307050"/>
            <a:ext cx="2448272" cy="553998"/>
          </a:xfrm>
          <a:prstGeom prst="rect">
            <a:avLst/>
          </a:prstGeom>
          <a:noFill/>
        </p:spPr>
        <p:txBody>
          <a:bodyPr wrap="square" lIns="0" tIns="0" rIns="0" bIns="0" rtlCol="0">
            <a:spAutoFit/>
          </a:bodyPr>
          <a:lstStyle/>
          <a:p>
            <a:pPr algn="ctr"/>
            <a:r>
              <a:rPr lang="en-US" dirty="0" err="1">
                <a:solidFill>
                  <a:schemeClr val="bg2"/>
                </a:solidFill>
              </a:rPr>
              <a:t>Underfloor</a:t>
            </a:r>
            <a:r>
              <a:rPr lang="en-US" dirty="0">
                <a:solidFill>
                  <a:schemeClr val="bg2"/>
                </a:solidFill>
              </a:rPr>
              <a:t> pressure </a:t>
            </a:r>
            <a:r>
              <a:rPr lang="en-US" dirty="0" smtClean="0">
                <a:solidFill>
                  <a:schemeClr val="bg2"/>
                </a:solidFill>
              </a:rPr>
              <a:t>control</a:t>
            </a:r>
            <a:endParaRPr lang="en-US" dirty="0">
              <a:solidFill>
                <a:schemeClr val="bg2"/>
              </a:solidFill>
            </a:endParaRPr>
          </a:p>
        </p:txBody>
      </p:sp>
      <p:pic>
        <p:nvPicPr>
          <p:cNvPr id="3074" name="Picture 2" descr="https://encrypted-tbn0.gstatic.com/images?q=tbn:ANd9GcSzEny7bI9xlEUALwMWJhvzuTv8Asfdzu3GEWvvCN5_QAg93jF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728" y="1776927"/>
            <a:ext cx="2090554" cy="144016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tateinc.com/images/powerair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520697"/>
            <a:ext cx="3028363" cy="4140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62971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en.hdyo.org/assets/ask-question-3-049ac6f2a4e25267fa670b61ee7341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6984776" cy="5951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508104" y="2192308"/>
            <a:ext cx="2556790" cy="492443"/>
          </a:xfrm>
          <a:prstGeom prst="rect">
            <a:avLst/>
          </a:prstGeom>
          <a:noFill/>
        </p:spPr>
        <p:txBody>
          <a:bodyPr wrap="none" lIns="0" tIns="0" rIns="0" bIns="0" rtlCol="0">
            <a:spAutoFit/>
          </a:bodyPr>
          <a:lstStyle/>
          <a:p>
            <a:pPr algn="ctr"/>
            <a:r>
              <a:rPr lang="it-IT"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Questions?</a:t>
            </a:r>
            <a:endPar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2794819268"/>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References</a:t>
            </a:r>
            <a:endParaRPr lang="en-US" dirty="0"/>
          </a:p>
        </p:txBody>
      </p:sp>
      <p:sp>
        <p:nvSpPr>
          <p:cNvPr id="3" name="Content Placeholder 2"/>
          <p:cNvSpPr>
            <a:spLocks noGrp="1"/>
          </p:cNvSpPr>
          <p:nvPr>
            <p:ph sz="quarter" idx="10"/>
          </p:nvPr>
        </p:nvSpPr>
        <p:spPr/>
        <p:txBody>
          <a:bodyPr/>
          <a:lstStyle/>
          <a:p>
            <a:pPr>
              <a:buFont typeface="Wingdings" panose="05000000000000000000" pitchFamily="2" charset="2"/>
              <a:buChar char="§"/>
            </a:pPr>
            <a:r>
              <a:rPr lang="en-US" sz="1200" i="1" dirty="0">
                <a:solidFill>
                  <a:schemeClr val="bg1">
                    <a:lumMod val="65000"/>
                  </a:schemeClr>
                </a:solidFill>
              </a:rPr>
              <a:t>http://idcsolutions.com.au/services/pue-progress-assessment/</a:t>
            </a:r>
          </a:p>
          <a:p>
            <a:pPr>
              <a:buFont typeface="Wingdings" panose="05000000000000000000" pitchFamily="2" charset="2"/>
              <a:buChar char="§"/>
            </a:pPr>
            <a:r>
              <a:rPr lang="en-US" sz="1200" i="1" dirty="0">
                <a:solidFill>
                  <a:schemeClr val="bg1">
                    <a:lumMod val="65000"/>
                  </a:schemeClr>
                </a:solidFill>
              </a:rPr>
              <a:t>http://searchdatacenter.techtarget.com/definition/power-usage-effectiveness-PUE</a:t>
            </a:r>
          </a:p>
          <a:p>
            <a:pPr>
              <a:buFont typeface="Wingdings" panose="05000000000000000000" pitchFamily="2" charset="2"/>
              <a:buChar char="§"/>
            </a:pPr>
            <a:r>
              <a:rPr lang="en-US" sz="1200" i="1" dirty="0">
                <a:solidFill>
                  <a:schemeClr val="bg1">
                    <a:lumMod val="65000"/>
                  </a:schemeClr>
                </a:solidFill>
              </a:rPr>
              <a:t>http://www.informationweek.com/hardware/data-centers/5-data-center-trends-for-2013/240145349</a:t>
            </a:r>
          </a:p>
          <a:p>
            <a:pPr>
              <a:buFont typeface="Wingdings" panose="05000000000000000000" pitchFamily="2" charset="2"/>
              <a:buChar char="§"/>
            </a:pPr>
            <a:r>
              <a:rPr lang="en-US" sz="1200" i="1" dirty="0">
                <a:solidFill>
                  <a:schemeClr val="bg1">
                    <a:lumMod val="65000"/>
                  </a:schemeClr>
                </a:solidFill>
              </a:rPr>
              <a:t>http://www.google.com/about/datacenters/efficiency/internal/</a:t>
            </a:r>
          </a:p>
          <a:p>
            <a:pPr>
              <a:buFont typeface="Wingdings" panose="05000000000000000000" pitchFamily="2" charset="2"/>
              <a:buChar char="§"/>
            </a:pPr>
            <a:r>
              <a:rPr lang="en-US" sz="1200" i="1" dirty="0">
                <a:solidFill>
                  <a:schemeClr val="bg1">
                    <a:lumMod val="65000"/>
                  </a:schemeClr>
                </a:solidFill>
              </a:rPr>
              <a:t>http://mestex.com/news.asp?type=&amp;lang=en&amp;id=342</a:t>
            </a:r>
          </a:p>
          <a:p>
            <a:pPr>
              <a:buFont typeface="Wingdings" panose="05000000000000000000" pitchFamily="2" charset="2"/>
              <a:buChar char="§"/>
            </a:pPr>
            <a:r>
              <a:rPr lang="en-US" sz="1200" i="1" dirty="0">
                <a:solidFill>
                  <a:schemeClr val="bg1">
                    <a:lumMod val="65000"/>
                  </a:schemeClr>
                </a:solidFill>
              </a:rPr>
              <a:t>notesfromtheconsultantsjungle.com</a:t>
            </a:r>
          </a:p>
          <a:p>
            <a:pPr>
              <a:buFont typeface="Wingdings" panose="05000000000000000000" pitchFamily="2" charset="2"/>
              <a:buChar char="§"/>
            </a:pPr>
            <a:r>
              <a:rPr lang="en-US" sz="1200" i="1" dirty="0">
                <a:solidFill>
                  <a:schemeClr val="bg1">
                    <a:lumMod val="65000"/>
                  </a:schemeClr>
                </a:solidFill>
              </a:rPr>
              <a:t>http://www.itserverrooms.co.uk/design-build/internal-room/</a:t>
            </a:r>
          </a:p>
          <a:p>
            <a:pPr>
              <a:buFont typeface="Wingdings" panose="05000000000000000000" pitchFamily="2" charset="2"/>
              <a:buChar char="§"/>
            </a:pPr>
            <a:r>
              <a:rPr lang="en-US" sz="1200" i="1" dirty="0">
                <a:solidFill>
                  <a:schemeClr val="bg1">
                    <a:lumMod val="65000"/>
                  </a:schemeClr>
                </a:solidFill>
              </a:rPr>
              <a:t>http://www.accu-tech.com/datacenter/belden/</a:t>
            </a:r>
          </a:p>
          <a:p>
            <a:pPr>
              <a:buFont typeface="Wingdings" panose="05000000000000000000" pitchFamily="2" charset="2"/>
              <a:buChar char="§"/>
            </a:pPr>
            <a:r>
              <a:rPr lang="en-US" sz="1200" i="1" dirty="0">
                <a:solidFill>
                  <a:schemeClr val="bg1">
                    <a:lumMod val="65000"/>
                  </a:schemeClr>
                </a:solidFill>
              </a:rPr>
              <a:t>commons.wikimedia.org </a:t>
            </a:r>
          </a:p>
          <a:p>
            <a:pPr>
              <a:buFont typeface="Wingdings" panose="05000000000000000000" pitchFamily="2" charset="2"/>
              <a:buChar char="§"/>
            </a:pPr>
            <a:r>
              <a:rPr lang="en-US" sz="1200" i="1" dirty="0" smtClean="0">
                <a:solidFill>
                  <a:schemeClr val="bg1">
                    <a:lumMod val="65000"/>
                  </a:schemeClr>
                </a:solidFill>
              </a:rPr>
              <a:t>searchdatacenter.techtarget.com</a:t>
            </a:r>
          </a:p>
          <a:p>
            <a:pPr>
              <a:buFont typeface="Wingdings" panose="05000000000000000000" pitchFamily="2" charset="2"/>
              <a:buChar char="§"/>
            </a:pPr>
            <a:r>
              <a:rPr lang="en-US" sz="1200" i="1" dirty="0">
                <a:solidFill>
                  <a:schemeClr val="bg1">
                    <a:lumMod val="65000"/>
                  </a:schemeClr>
                </a:solidFill>
              </a:rPr>
              <a:t>http://</a:t>
            </a:r>
            <a:r>
              <a:rPr lang="en-US" sz="1200" i="1" dirty="0" smtClean="0">
                <a:solidFill>
                  <a:schemeClr val="bg1">
                    <a:lumMod val="65000"/>
                  </a:schemeClr>
                </a:solidFill>
              </a:rPr>
              <a:t>www.apcmedia.com/salestools/NRAN-66CK3D/NRAN-66CK3D_R2_EN.pdf?sdirect=true</a:t>
            </a:r>
          </a:p>
          <a:p>
            <a:pPr>
              <a:buFont typeface="Wingdings" panose="05000000000000000000" pitchFamily="2" charset="2"/>
              <a:buChar char="§"/>
            </a:pPr>
            <a:r>
              <a:rPr lang="en-US" sz="1200" i="1" dirty="0">
                <a:solidFill>
                  <a:schemeClr val="bg1">
                    <a:lumMod val="65000"/>
                  </a:schemeClr>
                </a:solidFill>
              </a:rPr>
              <a:t>http://</a:t>
            </a:r>
            <a:r>
              <a:rPr lang="en-US" sz="1200" i="1" dirty="0" smtClean="0">
                <a:solidFill>
                  <a:schemeClr val="bg1">
                    <a:lumMod val="65000"/>
                  </a:schemeClr>
                </a:solidFill>
              </a:rPr>
              <a:t>www.itc.cnr.it/corsi/pavimenti/immagini/pavimento%20pdf/requisiti.pdf</a:t>
            </a:r>
            <a:endParaRPr lang="en-US" sz="1200" i="1" dirty="0" smtClean="0">
              <a:solidFill>
                <a:schemeClr val="bg1">
                  <a:lumMod val="65000"/>
                </a:schemeClr>
              </a:solidFill>
              <a:hlinkClick r:id="rId2"/>
            </a:endParaRPr>
          </a:p>
          <a:p>
            <a:pPr>
              <a:buFont typeface="Wingdings" panose="05000000000000000000" pitchFamily="2" charset="2"/>
              <a:buChar char="§"/>
            </a:pPr>
            <a:r>
              <a:rPr lang="en-US" sz="1200" i="1" dirty="0">
                <a:solidFill>
                  <a:schemeClr val="bg1">
                    <a:lumMod val="65000"/>
                  </a:schemeClr>
                </a:solidFill>
              </a:rPr>
              <a:t>http://www.nesite.com/i-pavimenti-sopraelevati-e-la-resistenza-meccanica/</a:t>
            </a:r>
          </a:p>
        </p:txBody>
      </p:sp>
    </p:spTree>
    <p:extLst>
      <p:ext uri="{BB962C8B-B14F-4D97-AF65-F5344CB8AC3E}">
        <p14:creationId xmlns:p14="http://schemas.microsoft.com/office/powerpoint/2010/main" val="134696850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Theme">
  <a:themeElements>
    <a:clrScheme name="*Revised Palette">
      <a:dk1>
        <a:srgbClr val="000000"/>
      </a:dk1>
      <a:lt1>
        <a:srgbClr val="FFFFFF"/>
      </a:lt1>
      <a:dk2>
        <a:srgbClr val="3892D0"/>
      </a:dk2>
      <a:lt2>
        <a:srgbClr val="4D4D4D"/>
      </a:lt2>
      <a:accent1>
        <a:srgbClr val="3892D0"/>
      </a:accent1>
      <a:accent2>
        <a:srgbClr val="49A942"/>
      </a:accent2>
      <a:accent3>
        <a:srgbClr val="93C5FF"/>
      </a:accent3>
      <a:accent4>
        <a:srgbClr val="FFC425"/>
      </a:accent4>
      <a:accent5>
        <a:srgbClr val="E36F1E"/>
      </a:accent5>
      <a:accent6>
        <a:srgbClr val="B5121B"/>
      </a:accent6>
      <a:hlink>
        <a:srgbClr val="3892D0"/>
      </a:hlink>
      <a:folHlink>
        <a:srgbClr val="4D4D4D"/>
      </a:folHlink>
    </a:clrScheme>
    <a:fontScheme name="Verdana-EMC New PPTX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olidFill>
            <a:schemeClr val="bg2"/>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ctr">
          <a:defRPr dirty="0" smtClean="0">
            <a:solidFill>
              <a:schemeClr val="bg2"/>
            </a:solidFill>
          </a:defRPr>
        </a:defPPr>
      </a:lstStyle>
    </a:txDef>
  </a:objectDefaults>
  <a:extraClrSchemeLst/>
</a:theme>
</file>

<file path=ppt/theme/theme2.xml><?xml version="1.0" encoding="utf-8"?>
<a:theme xmlns:a="http://schemas.openxmlformats.org/drawingml/2006/main" name="2016 EMC Template">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marL="0">
          <a:defRPr sz="1600" dirty="0" smtClean="0">
            <a:solidFill>
              <a:schemeClr val="bg2"/>
            </a:soli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5203</TotalTime>
  <Words>1204</Words>
  <Application>Microsoft Office PowerPoint</Application>
  <PresentationFormat>On-screen Show (4:3)</PresentationFormat>
  <Paragraphs>248</Paragraphs>
  <Slides>35</Slides>
  <Notes>3</Notes>
  <HiddenSlides>2</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35</vt:i4>
      </vt:variant>
    </vt:vector>
  </HeadingPairs>
  <TitlesOfParts>
    <vt:vector size="44" baseType="lpstr">
      <vt:lpstr>Arial</vt:lpstr>
      <vt:lpstr>Calibri</vt:lpstr>
      <vt:lpstr>Lucida Grande</vt:lpstr>
      <vt:lpstr>MetaNormalLF-Roman</vt:lpstr>
      <vt:lpstr>Tahoma</vt:lpstr>
      <vt:lpstr>Verdana</vt:lpstr>
      <vt:lpstr>Wingdings</vt:lpstr>
      <vt:lpstr>Default Theme</vt:lpstr>
      <vt:lpstr>2016 EMC Template</vt:lpstr>
      <vt:lpstr>Data center efficiency</vt:lpstr>
      <vt:lpstr>Agenda</vt:lpstr>
      <vt:lpstr>Data Center Overview</vt:lpstr>
      <vt:lpstr>Data Center Overview What is a Data Center?</vt:lpstr>
      <vt:lpstr>Data Center Overview Data Center - Main Components</vt:lpstr>
      <vt:lpstr>Data Center Overview Data Center – Energy Metrics</vt:lpstr>
      <vt:lpstr>Data Center Overview Data Center - Consumption</vt:lpstr>
      <vt:lpstr>Data Center Overview Data Center - Strategies</vt:lpstr>
      <vt:lpstr>Data Center Overview Data Center - Strategies</vt:lpstr>
      <vt:lpstr>Data Center Overview Pratical Approaches to Efficient IT</vt:lpstr>
      <vt:lpstr>Data Center Classification</vt:lpstr>
      <vt:lpstr>Data Center Classification Uptime Institute</vt:lpstr>
      <vt:lpstr>Data Center Classification Uptime Institute</vt:lpstr>
      <vt:lpstr>Data Center Classification Data Center - Tiering</vt:lpstr>
      <vt:lpstr>Data Center Classification TIA - 942</vt:lpstr>
      <vt:lpstr>Data Center Preparation</vt:lpstr>
      <vt:lpstr>Data Center Preparation Raised Floor</vt:lpstr>
      <vt:lpstr>Data Center Preparation Raised Floor</vt:lpstr>
      <vt:lpstr>Data Center Preparation Raised Floor</vt:lpstr>
      <vt:lpstr>Data Center Preparation Floor space Identifiers</vt:lpstr>
      <vt:lpstr>Data Center Preparation Floor space Identifiers</vt:lpstr>
      <vt:lpstr>Data Center Preparation Floor space Identifiers</vt:lpstr>
      <vt:lpstr>Data Center Preparation Connection Identifiers</vt:lpstr>
      <vt:lpstr>Data Center Preparation Rack positioning</vt:lpstr>
      <vt:lpstr>Data Center Preparation Cabling</vt:lpstr>
      <vt:lpstr>Data Center Preparation Cabling</vt:lpstr>
      <vt:lpstr>Data Center Preparation Cabling</vt:lpstr>
      <vt:lpstr>Data Center Preparation Cooling</vt:lpstr>
      <vt:lpstr>Data Center Preparation Cooling</vt:lpstr>
      <vt:lpstr>Data Center Preparation Cooling</vt:lpstr>
      <vt:lpstr>Data Center Preparation Air Flow Issues</vt:lpstr>
      <vt:lpstr>Data Center Preparation Air flow management</vt:lpstr>
      <vt:lpstr>Data Center Preparation Air Flow Management</vt:lpstr>
      <vt:lpstr>PowerPoint Presentation</vt:lpstr>
      <vt:lpstr>References</vt:lpstr>
    </vt:vector>
  </TitlesOfParts>
  <Company>EMC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salvatore.iengo@emc.com</dc:creator>
  <cp:lastModifiedBy>GATHAMS</cp:lastModifiedBy>
  <cp:revision>327</cp:revision>
  <dcterms:created xsi:type="dcterms:W3CDTF">2013-04-02T09:17:37Z</dcterms:created>
  <dcterms:modified xsi:type="dcterms:W3CDTF">2025-06-30T12:10:22Z</dcterms:modified>
</cp:coreProperties>
</file>