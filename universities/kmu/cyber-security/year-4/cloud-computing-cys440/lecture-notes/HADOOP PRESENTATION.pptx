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2" r:id="rId1"/>
  </p:sldMasterIdLst>
  <p:notesMasterIdLst>
    <p:notesMasterId r:id="rId46"/>
  </p:notesMasterIdLst>
  <p:sldIdLst>
    <p:sldId id="256" r:id="rId2"/>
    <p:sldId id="368" r:id="rId3"/>
    <p:sldId id="393" r:id="rId4"/>
    <p:sldId id="260" r:id="rId5"/>
    <p:sldId id="274" r:id="rId6"/>
    <p:sldId id="369" r:id="rId7"/>
    <p:sldId id="273" r:id="rId8"/>
    <p:sldId id="362" r:id="rId9"/>
    <p:sldId id="371" r:id="rId10"/>
    <p:sldId id="375" r:id="rId11"/>
    <p:sldId id="392" r:id="rId12"/>
    <p:sldId id="380" r:id="rId13"/>
    <p:sldId id="388" r:id="rId14"/>
    <p:sldId id="390" r:id="rId15"/>
    <p:sldId id="381" r:id="rId16"/>
    <p:sldId id="382" r:id="rId17"/>
    <p:sldId id="391" r:id="rId18"/>
    <p:sldId id="384" r:id="rId19"/>
    <p:sldId id="385" r:id="rId20"/>
    <p:sldId id="386" r:id="rId21"/>
    <p:sldId id="387" r:id="rId22"/>
    <p:sldId id="389" r:id="rId23"/>
    <p:sldId id="383" r:id="rId24"/>
    <p:sldId id="261" r:id="rId25"/>
    <p:sldId id="297" r:id="rId26"/>
    <p:sldId id="298" r:id="rId27"/>
    <p:sldId id="299" r:id="rId28"/>
    <p:sldId id="300" r:id="rId29"/>
    <p:sldId id="262" r:id="rId30"/>
    <p:sldId id="301" r:id="rId31"/>
    <p:sldId id="302" r:id="rId32"/>
    <p:sldId id="303" r:id="rId33"/>
    <p:sldId id="304" r:id="rId34"/>
    <p:sldId id="305" r:id="rId35"/>
    <p:sldId id="306" r:id="rId36"/>
    <p:sldId id="307" r:id="rId37"/>
    <p:sldId id="308" r:id="rId38"/>
    <p:sldId id="309" r:id="rId39"/>
    <p:sldId id="269" r:id="rId40"/>
    <p:sldId id="264" r:id="rId41"/>
    <p:sldId id="265" r:id="rId42"/>
    <p:sldId id="266" r:id="rId43"/>
    <p:sldId id="267" r:id="rId44"/>
    <p:sldId id="281"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AD47"/>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7" autoAdjust="0"/>
    <p:restoredTop sz="94660"/>
  </p:normalViewPr>
  <p:slideViewPr>
    <p:cSldViewPr snapToGrid="0" showGuides="1">
      <p:cViewPr varScale="1">
        <p:scale>
          <a:sx n="101" d="100"/>
          <a:sy n="101" d="100"/>
        </p:scale>
        <p:origin x="81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554254-220F-4D93-A9F3-7BB60CA9845D}" type="datetimeFigureOut">
              <a:rPr lang="en-US" smtClean="0"/>
              <a:t>9/6/2026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865D4A-22E6-46D8-A486-66F14EC7EC56}" type="slidenum">
              <a:rPr lang="en-US" smtClean="0"/>
              <a:t>‹#›</a:t>
            </a:fld>
            <a:endParaRPr lang="en-US"/>
          </a:p>
        </p:txBody>
      </p:sp>
    </p:spTree>
    <p:extLst>
      <p:ext uri="{BB962C8B-B14F-4D97-AF65-F5344CB8AC3E}">
        <p14:creationId xmlns:p14="http://schemas.microsoft.com/office/powerpoint/2010/main" val="32923702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CB49387-EF49-4894-ABE8-53668A6AAA6F}" type="slidenum">
              <a:rPr lang="en-IN" smtClean="0"/>
              <a:t>2</a:t>
            </a:fld>
            <a:endParaRPr lang="en-IN"/>
          </a:p>
        </p:txBody>
      </p:sp>
    </p:spTree>
    <p:extLst>
      <p:ext uri="{BB962C8B-B14F-4D97-AF65-F5344CB8AC3E}">
        <p14:creationId xmlns:p14="http://schemas.microsoft.com/office/powerpoint/2010/main" val="10188266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CB49387-EF49-4894-ABE8-53668A6AAA6F}" type="slidenum">
              <a:rPr lang="en-IN" smtClean="0"/>
              <a:t>3</a:t>
            </a:fld>
            <a:endParaRPr lang="en-IN"/>
          </a:p>
        </p:txBody>
      </p:sp>
    </p:spTree>
    <p:extLst>
      <p:ext uri="{BB962C8B-B14F-4D97-AF65-F5344CB8AC3E}">
        <p14:creationId xmlns:p14="http://schemas.microsoft.com/office/powerpoint/2010/main" val="40448343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E865D4A-22E6-46D8-A486-66F14EC7EC56}" type="slidenum">
              <a:rPr lang="en-US" smtClean="0"/>
              <a:t>4</a:t>
            </a:fld>
            <a:endParaRPr lang="en-US"/>
          </a:p>
        </p:txBody>
      </p:sp>
    </p:spTree>
    <p:extLst>
      <p:ext uri="{BB962C8B-B14F-4D97-AF65-F5344CB8AC3E}">
        <p14:creationId xmlns:p14="http://schemas.microsoft.com/office/powerpoint/2010/main" val="29178810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7BA81BE-CAAC-4B7B-BCFE-14C47236028A}" type="datetime1">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C4A744-6DE7-4A67-9FB3-53D16976B908}" type="slidenum">
              <a:rPr lang="en-US" smtClean="0"/>
              <a:t>‹#›</a:t>
            </a:fld>
            <a:endParaRPr lang="en-US"/>
          </a:p>
        </p:txBody>
      </p:sp>
    </p:spTree>
    <p:extLst>
      <p:ext uri="{BB962C8B-B14F-4D97-AF65-F5344CB8AC3E}">
        <p14:creationId xmlns:p14="http://schemas.microsoft.com/office/powerpoint/2010/main" val="1360185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4CC30E-F123-46EB-B3FE-C243219AF1D8}" type="datetime1">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C4A744-6DE7-4A67-9FB3-53D16976B908}" type="slidenum">
              <a:rPr lang="en-US" smtClean="0"/>
              <a:t>‹#›</a:t>
            </a:fld>
            <a:endParaRPr lang="en-US"/>
          </a:p>
        </p:txBody>
      </p:sp>
    </p:spTree>
    <p:extLst>
      <p:ext uri="{BB962C8B-B14F-4D97-AF65-F5344CB8AC3E}">
        <p14:creationId xmlns:p14="http://schemas.microsoft.com/office/powerpoint/2010/main" val="19358227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A7E5DCE-2E36-4D5C-BA99-C23FB5E924A9}" type="datetime1">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C4A744-6DE7-4A67-9FB3-53D16976B908}" type="slidenum">
              <a:rPr lang="en-US" smtClean="0"/>
              <a:t>‹#›</a:t>
            </a:fld>
            <a:endParaRPr lang="en-US"/>
          </a:p>
        </p:txBody>
      </p:sp>
    </p:spTree>
    <p:extLst>
      <p:ext uri="{BB962C8B-B14F-4D97-AF65-F5344CB8AC3E}">
        <p14:creationId xmlns:p14="http://schemas.microsoft.com/office/powerpoint/2010/main" val="2221547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155E91E-34CA-4876-A9D7-F243A43FA33D}" type="datetime1">
              <a:rPr lang="en-US" smtClean="0"/>
              <a:t>9/6/2026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C4A744-6DE7-4A67-9FB3-53D16976B908}" type="slidenum">
              <a:rPr lang="en-US" smtClean="0"/>
              <a:t>‹#›</a:t>
            </a:fld>
            <a:endParaRPr lang="en-US"/>
          </a:p>
        </p:txBody>
      </p:sp>
    </p:spTree>
    <p:extLst>
      <p:ext uri="{BB962C8B-B14F-4D97-AF65-F5344CB8AC3E}">
        <p14:creationId xmlns:p14="http://schemas.microsoft.com/office/powerpoint/2010/main" val="3096328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81DD01E-08B5-4C3E-AB11-BE27827A8B37}" type="datetime1">
              <a:rPr lang="en-US" smtClean="0"/>
              <a:t>9/6/2026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7C4A744-6DE7-4A67-9FB3-53D16976B908}" type="slidenum">
              <a:rPr lang="en-US" smtClean="0"/>
              <a:t>‹#›</a:t>
            </a:fld>
            <a:endParaRPr lang="en-US"/>
          </a:p>
        </p:txBody>
      </p:sp>
    </p:spTree>
    <p:extLst>
      <p:ext uri="{BB962C8B-B14F-4D97-AF65-F5344CB8AC3E}">
        <p14:creationId xmlns:p14="http://schemas.microsoft.com/office/powerpoint/2010/main" val="4828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4AE29E5-849C-43E4-B404-BD780B520F58}" type="datetime1">
              <a:rPr lang="en-US" smtClean="0"/>
              <a:t>9/6/2026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7C4A744-6DE7-4A67-9FB3-53D16976B908}" type="slidenum">
              <a:rPr lang="en-US" smtClean="0"/>
              <a:t>‹#›</a:t>
            </a:fld>
            <a:endParaRPr lang="en-US"/>
          </a:p>
        </p:txBody>
      </p:sp>
    </p:spTree>
    <p:extLst>
      <p:ext uri="{BB962C8B-B14F-4D97-AF65-F5344CB8AC3E}">
        <p14:creationId xmlns:p14="http://schemas.microsoft.com/office/powerpoint/2010/main" val="227692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97457C-DB6C-4483-A8F3-6ABB10388371}" type="datetime1">
              <a:rPr lang="en-US" smtClean="0"/>
              <a:t>9/6/2026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7C4A744-6DE7-4A67-9FB3-53D16976B908}" type="slidenum">
              <a:rPr lang="en-US" smtClean="0"/>
              <a:t>‹#›</a:t>
            </a:fld>
            <a:endParaRPr lang="en-US"/>
          </a:p>
        </p:txBody>
      </p:sp>
    </p:spTree>
    <p:extLst>
      <p:ext uri="{BB962C8B-B14F-4D97-AF65-F5344CB8AC3E}">
        <p14:creationId xmlns:p14="http://schemas.microsoft.com/office/powerpoint/2010/main" val="1480194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F9935B-52D9-443E-82C3-2E8039332C6E}" type="datetime1">
              <a:rPr lang="en-US" smtClean="0"/>
              <a:t>9/6/2026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C4A744-6DE7-4A67-9FB3-53D16976B908}" type="slidenum">
              <a:rPr lang="en-US" smtClean="0"/>
              <a:t>‹#›</a:t>
            </a:fld>
            <a:endParaRPr lang="en-US"/>
          </a:p>
        </p:txBody>
      </p:sp>
    </p:spTree>
    <p:extLst>
      <p:ext uri="{BB962C8B-B14F-4D97-AF65-F5344CB8AC3E}">
        <p14:creationId xmlns:p14="http://schemas.microsoft.com/office/powerpoint/2010/main" val="2806139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C4A744-6DE7-4A67-9FB3-53D16976B908}" type="slidenum">
              <a:rPr lang="en-US" smtClean="0"/>
              <a:t>‹#›</a:t>
            </a:fld>
            <a:endParaRPr lang="en-US"/>
          </a:p>
        </p:txBody>
      </p:sp>
      <p:sp>
        <p:nvSpPr>
          <p:cNvPr id="5" name="Date Placeholder 4"/>
          <p:cNvSpPr>
            <a:spLocks noGrp="1"/>
          </p:cNvSpPr>
          <p:nvPr>
            <p:ph type="dt" sz="half" idx="10"/>
          </p:nvPr>
        </p:nvSpPr>
        <p:spPr/>
        <p:txBody>
          <a:bodyPr/>
          <a:lstStyle/>
          <a:p>
            <a:fld id="{36B08D2A-AB4B-44AE-BD83-12E6B33EACF7}" type="datetime1">
              <a:rPr lang="en-US" smtClean="0"/>
              <a:t>9/6/2026</a:t>
            </a:fld>
            <a:endParaRPr lang="en-US"/>
          </a:p>
        </p:txBody>
      </p:sp>
    </p:spTree>
    <p:extLst>
      <p:ext uri="{BB962C8B-B14F-4D97-AF65-F5344CB8AC3E}">
        <p14:creationId xmlns:p14="http://schemas.microsoft.com/office/powerpoint/2010/main" val="42194945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781318-165A-4CAF-95B8-FA52DAEF6A10}" type="datetime1">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C4A744-6DE7-4A67-9FB3-53D16976B908}" type="slidenum">
              <a:rPr lang="en-US" smtClean="0"/>
              <a:t>‹#›</a:t>
            </a:fld>
            <a:endParaRPr lang="en-US"/>
          </a:p>
        </p:txBody>
      </p:sp>
    </p:spTree>
    <p:extLst>
      <p:ext uri="{BB962C8B-B14F-4D97-AF65-F5344CB8AC3E}">
        <p14:creationId xmlns:p14="http://schemas.microsoft.com/office/powerpoint/2010/main" val="2761821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81805F-7773-415E-A620-83C7D319A8A7}" type="datetime1">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C4A744-6DE7-4A67-9FB3-53D16976B908}"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4931599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8AB159-2233-4CDF-95EA-8A9B21D94E14}" type="datetime1">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C4A744-6DE7-4A67-9FB3-53D16976B908}" type="slidenum">
              <a:rPr lang="en-US" smtClean="0"/>
              <a:t>‹#›</a:t>
            </a:fld>
            <a:endParaRPr lang="en-US"/>
          </a:p>
        </p:txBody>
      </p:sp>
    </p:spTree>
    <p:extLst>
      <p:ext uri="{BB962C8B-B14F-4D97-AF65-F5344CB8AC3E}">
        <p14:creationId xmlns:p14="http://schemas.microsoft.com/office/powerpoint/2010/main" val="26697345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56EEE9-9568-4EA3-98E5-97709C5373C1}" type="datetime1">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C4A744-6DE7-4A67-9FB3-53D16976B908}"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0332843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B19180-6ABC-4B47-9570-7E178F49C6C7}" type="datetime1">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C4A744-6DE7-4A67-9FB3-53D16976B908}" type="slidenum">
              <a:rPr lang="en-US" smtClean="0"/>
              <a:t>‹#›</a:t>
            </a:fld>
            <a:endParaRPr lang="en-US"/>
          </a:p>
        </p:txBody>
      </p:sp>
    </p:spTree>
    <p:extLst>
      <p:ext uri="{BB962C8B-B14F-4D97-AF65-F5344CB8AC3E}">
        <p14:creationId xmlns:p14="http://schemas.microsoft.com/office/powerpoint/2010/main" val="29602576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534E61-CA9F-427E-8F3D-334C1723D5B6}" type="datetime1">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C4A744-6DE7-4A67-9FB3-53D16976B908}" type="slidenum">
              <a:rPr lang="en-US" smtClean="0"/>
              <a:t>‹#›</a:t>
            </a:fld>
            <a:endParaRPr lang="en-US"/>
          </a:p>
        </p:txBody>
      </p:sp>
    </p:spTree>
    <p:extLst>
      <p:ext uri="{BB962C8B-B14F-4D97-AF65-F5344CB8AC3E}">
        <p14:creationId xmlns:p14="http://schemas.microsoft.com/office/powerpoint/2010/main" val="30062210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AECE49-7C88-49ED-8F3D-CE8301C594A2}" type="datetime1">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C4A744-6DE7-4A67-9FB3-53D16976B908}" type="slidenum">
              <a:rPr lang="en-US" smtClean="0"/>
              <a:t>‹#›</a:t>
            </a:fld>
            <a:endParaRPr lang="en-US"/>
          </a:p>
        </p:txBody>
      </p:sp>
    </p:spTree>
    <p:extLst>
      <p:ext uri="{BB962C8B-B14F-4D97-AF65-F5344CB8AC3E}">
        <p14:creationId xmlns:p14="http://schemas.microsoft.com/office/powerpoint/2010/main" val="41307047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33023B8-EEA3-4909-BDAA-44C69D77F922}" type="datetime1">
              <a:rPr lang="en-US" smtClean="0"/>
              <a:t>9/6/2026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7C4A744-6DE7-4A67-9FB3-53D16976B908}" type="slidenum">
              <a:rPr lang="en-US" smtClean="0"/>
              <a:t>‹#›</a:t>
            </a:fld>
            <a:endParaRPr lang="en-US"/>
          </a:p>
        </p:txBody>
      </p:sp>
    </p:spTree>
    <p:extLst>
      <p:ext uri="{BB962C8B-B14F-4D97-AF65-F5344CB8AC3E}">
        <p14:creationId xmlns:p14="http://schemas.microsoft.com/office/powerpoint/2010/main" val="1286566097"/>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 id="2147483765" r:id="rId13"/>
    <p:sldLayoutId id="2147483766" r:id="rId14"/>
    <p:sldLayoutId id="2147483767" r:id="rId15"/>
    <p:sldLayoutId id="2147483768" r:id="rId16"/>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hyperlink" Target="http://wiki.apache.org/hadoop/" TargetMode="Externa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6" Type="http://schemas.openxmlformats.org/officeDocument/2006/relationships/image" Target="../media/image31.png"/><Relationship Id="rId21" Type="http://schemas.openxmlformats.org/officeDocument/2006/relationships/image" Target="../media/image26.jpg"/><Relationship Id="rId42" Type="http://schemas.openxmlformats.org/officeDocument/2006/relationships/image" Target="../media/image47.jpg"/><Relationship Id="rId47" Type="http://schemas.openxmlformats.org/officeDocument/2006/relationships/image" Target="../media/image52.jpg"/><Relationship Id="rId63" Type="http://schemas.openxmlformats.org/officeDocument/2006/relationships/image" Target="../media/image68.png"/><Relationship Id="rId68" Type="http://schemas.openxmlformats.org/officeDocument/2006/relationships/image" Target="../media/image73.png"/><Relationship Id="rId84" Type="http://schemas.openxmlformats.org/officeDocument/2006/relationships/image" Target="../media/image89.png"/><Relationship Id="rId16" Type="http://schemas.openxmlformats.org/officeDocument/2006/relationships/image" Target="../media/image21.jpg"/><Relationship Id="rId11" Type="http://schemas.openxmlformats.org/officeDocument/2006/relationships/image" Target="../media/image16.png"/><Relationship Id="rId32" Type="http://schemas.openxmlformats.org/officeDocument/2006/relationships/image" Target="../media/image37.png"/><Relationship Id="rId37" Type="http://schemas.openxmlformats.org/officeDocument/2006/relationships/image" Target="../media/image42.png"/><Relationship Id="rId53" Type="http://schemas.openxmlformats.org/officeDocument/2006/relationships/image" Target="../media/image58.jpg"/><Relationship Id="rId58" Type="http://schemas.openxmlformats.org/officeDocument/2006/relationships/image" Target="../media/image63.png"/><Relationship Id="rId74" Type="http://schemas.openxmlformats.org/officeDocument/2006/relationships/image" Target="../media/image79.png"/><Relationship Id="rId79" Type="http://schemas.openxmlformats.org/officeDocument/2006/relationships/image" Target="../media/image84.png"/><Relationship Id="rId5" Type="http://schemas.openxmlformats.org/officeDocument/2006/relationships/image" Target="../media/image10.jpg"/><Relationship Id="rId19" Type="http://schemas.openxmlformats.org/officeDocument/2006/relationships/image" Target="../media/image24.png"/><Relationship Id="rId14" Type="http://schemas.openxmlformats.org/officeDocument/2006/relationships/image" Target="../media/image19.png"/><Relationship Id="rId22" Type="http://schemas.openxmlformats.org/officeDocument/2006/relationships/image" Target="../media/image27.jpg"/><Relationship Id="rId27" Type="http://schemas.openxmlformats.org/officeDocument/2006/relationships/image" Target="../media/image32.png"/><Relationship Id="rId30" Type="http://schemas.openxmlformats.org/officeDocument/2006/relationships/image" Target="../media/image35.png"/><Relationship Id="rId35" Type="http://schemas.openxmlformats.org/officeDocument/2006/relationships/image" Target="../media/image40.png"/><Relationship Id="rId43" Type="http://schemas.openxmlformats.org/officeDocument/2006/relationships/image" Target="../media/image48.png"/><Relationship Id="rId48" Type="http://schemas.openxmlformats.org/officeDocument/2006/relationships/image" Target="../media/image53.png"/><Relationship Id="rId56" Type="http://schemas.openxmlformats.org/officeDocument/2006/relationships/image" Target="../media/image61.png"/><Relationship Id="rId64" Type="http://schemas.openxmlformats.org/officeDocument/2006/relationships/image" Target="../media/image69.png"/><Relationship Id="rId69" Type="http://schemas.openxmlformats.org/officeDocument/2006/relationships/image" Target="../media/image74.jpg"/><Relationship Id="rId77" Type="http://schemas.openxmlformats.org/officeDocument/2006/relationships/image" Target="../media/image82.png"/><Relationship Id="rId8" Type="http://schemas.openxmlformats.org/officeDocument/2006/relationships/image" Target="../media/image13.jpg"/><Relationship Id="rId51" Type="http://schemas.openxmlformats.org/officeDocument/2006/relationships/image" Target="../media/image56.png"/><Relationship Id="rId72" Type="http://schemas.openxmlformats.org/officeDocument/2006/relationships/image" Target="../media/image77.jpg"/><Relationship Id="rId80" Type="http://schemas.openxmlformats.org/officeDocument/2006/relationships/image" Target="../media/image85.png"/><Relationship Id="rId85" Type="http://schemas.openxmlformats.org/officeDocument/2006/relationships/image" Target="../media/image90.jpg"/><Relationship Id="rId3" Type="http://schemas.openxmlformats.org/officeDocument/2006/relationships/image" Target="../media/image8.png"/><Relationship Id="rId12" Type="http://schemas.openxmlformats.org/officeDocument/2006/relationships/image" Target="../media/image17.jpg"/><Relationship Id="rId17" Type="http://schemas.openxmlformats.org/officeDocument/2006/relationships/image" Target="../media/image22.jpg"/><Relationship Id="rId25" Type="http://schemas.openxmlformats.org/officeDocument/2006/relationships/image" Target="../media/image30.png"/><Relationship Id="rId33" Type="http://schemas.openxmlformats.org/officeDocument/2006/relationships/image" Target="../media/image38.png"/><Relationship Id="rId38" Type="http://schemas.openxmlformats.org/officeDocument/2006/relationships/image" Target="../media/image43.jpg"/><Relationship Id="rId46" Type="http://schemas.openxmlformats.org/officeDocument/2006/relationships/image" Target="../media/image51.jpg"/><Relationship Id="rId59" Type="http://schemas.openxmlformats.org/officeDocument/2006/relationships/image" Target="../media/image64.png"/><Relationship Id="rId67" Type="http://schemas.openxmlformats.org/officeDocument/2006/relationships/image" Target="../media/image72.jpg"/><Relationship Id="rId20" Type="http://schemas.openxmlformats.org/officeDocument/2006/relationships/image" Target="../media/image25.jpg"/><Relationship Id="rId41" Type="http://schemas.openxmlformats.org/officeDocument/2006/relationships/image" Target="../media/image46.png"/><Relationship Id="rId54" Type="http://schemas.openxmlformats.org/officeDocument/2006/relationships/image" Target="../media/image59.jpg"/><Relationship Id="rId62" Type="http://schemas.openxmlformats.org/officeDocument/2006/relationships/image" Target="../media/image67.png"/><Relationship Id="rId70" Type="http://schemas.openxmlformats.org/officeDocument/2006/relationships/image" Target="../media/image75.jpg"/><Relationship Id="rId75" Type="http://schemas.openxmlformats.org/officeDocument/2006/relationships/image" Target="../media/image80.jpg"/><Relationship Id="rId83" Type="http://schemas.openxmlformats.org/officeDocument/2006/relationships/image" Target="../media/image88.jpg"/><Relationship Id="rId1" Type="http://schemas.openxmlformats.org/officeDocument/2006/relationships/slideLayout" Target="../slideLayouts/slideLayout2.xml"/><Relationship Id="rId6" Type="http://schemas.openxmlformats.org/officeDocument/2006/relationships/image" Target="../media/image11.jpg"/><Relationship Id="rId15" Type="http://schemas.openxmlformats.org/officeDocument/2006/relationships/image" Target="../media/image20.jpg"/><Relationship Id="rId23" Type="http://schemas.openxmlformats.org/officeDocument/2006/relationships/image" Target="../media/image28.png"/><Relationship Id="rId28" Type="http://schemas.openxmlformats.org/officeDocument/2006/relationships/image" Target="../media/image33.png"/><Relationship Id="rId36" Type="http://schemas.openxmlformats.org/officeDocument/2006/relationships/image" Target="../media/image41.jpg"/><Relationship Id="rId49" Type="http://schemas.openxmlformats.org/officeDocument/2006/relationships/image" Target="../media/image54.png"/><Relationship Id="rId57" Type="http://schemas.openxmlformats.org/officeDocument/2006/relationships/image" Target="../media/image62.jpg"/><Relationship Id="rId10" Type="http://schemas.openxmlformats.org/officeDocument/2006/relationships/image" Target="../media/image15.png"/><Relationship Id="rId31" Type="http://schemas.openxmlformats.org/officeDocument/2006/relationships/image" Target="../media/image36.jpg"/><Relationship Id="rId44" Type="http://schemas.openxmlformats.org/officeDocument/2006/relationships/image" Target="../media/image49.png"/><Relationship Id="rId52" Type="http://schemas.openxmlformats.org/officeDocument/2006/relationships/image" Target="../media/image57.jpg"/><Relationship Id="rId60" Type="http://schemas.openxmlformats.org/officeDocument/2006/relationships/image" Target="../media/image65.jpg"/><Relationship Id="rId65" Type="http://schemas.openxmlformats.org/officeDocument/2006/relationships/image" Target="../media/image70.jpg"/><Relationship Id="rId73" Type="http://schemas.openxmlformats.org/officeDocument/2006/relationships/image" Target="../media/image78.png"/><Relationship Id="rId78" Type="http://schemas.openxmlformats.org/officeDocument/2006/relationships/image" Target="../media/image83.png"/><Relationship Id="rId81" Type="http://schemas.openxmlformats.org/officeDocument/2006/relationships/image" Target="../media/image86.png"/><Relationship Id="rId4" Type="http://schemas.openxmlformats.org/officeDocument/2006/relationships/image" Target="../media/image9.jpg"/><Relationship Id="rId9" Type="http://schemas.openxmlformats.org/officeDocument/2006/relationships/image" Target="../media/image14.png"/><Relationship Id="rId13" Type="http://schemas.openxmlformats.org/officeDocument/2006/relationships/image" Target="../media/image18.png"/><Relationship Id="rId18" Type="http://schemas.openxmlformats.org/officeDocument/2006/relationships/image" Target="../media/image23.png"/><Relationship Id="rId39" Type="http://schemas.openxmlformats.org/officeDocument/2006/relationships/image" Target="../media/image44.png"/><Relationship Id="rId34" Type="http://schemas.openxmlformats.org/officeDocument/2006/relationships/image" Target="../media/image39.png"/><Relationship Id="rId50" Type="http://schemas.openxmlformats.org/officeDocument/2006/relationships/image" Target="../media/image55.jpg"/><Relationship Id="rId55" Type="http://schemas.openxmlformats.org/officeDocument/2006/relationships/image" Target="../media/image60.jpg"/><Relationship Id="rId76" Type="http://schemas.openxmlformats.org/officeDocument/2006/relationships/image" Target="../media/image81.png"/><Relationship Id="rId7" Type="http://schemas.openxmlformats.org/officeDocument/2006/relationships/image" Target="../media/image12.png"/><Relationship Id="rId71" Type="http://schemas.openxmlformats.org/officeDocument/2006/relationships/image" Target="../media/image76.jpg"/><Relationship Id="rId2" Type="http://schemas.openxmlformats.org/officeDocument/2006/relationships/image" Target="../media/image7.jpg"/><Relationship Id="rId29" Type="http://schemas.openxmlformats.org/officeDocument/2006/relationships/image" Target="../media/image34.jpg"/><Relationship Id="rId24" Type="http://schemas.openxmlformats.org/officeDocument/2006/relationships/image" Target="../media/image29.jpg"/><Relationship Id="rId40" Type="http://schemas.openxmlformats.org/officeDocument/2006/relationships/image" Target="../media/image45.jpg"/><Relationship Id="rId45" Type="http://schemas.openxmlformats.org/officeDocument/2006/relationships/image" Target="../media/image50.png"/><Relationship Id="rId66" Type="http://schemas.openxmlformats.org/officeDocument/2006/relationships/image" Target="../media/image71.jpg"/><Relationship Id="rId61" Type="http://schemas.openxmlformats.org/officeDocument/2006/relationships/image" Target="../media/image66.png"/><Relationship Id="rId82" Type="http://schemas.openxmlformats.org/officeDocument/2006/relationships/image" Target="../media/image87.png"/></Relationships>
</file>

<file path=ppt/slides/_rels/slide8.xml.rels><?xml version="1.0" encoding="UTF-8" standalone="yes"?>
<Relationships xmlns="http://schemas.openxmlformats.org/package/2006/relationships"><Relationship Id="rId3" Type="http://schemas.openxmlformats.org/officeDocument/2006/relationships/image" Target="../media/image92.jpg"/><Relationship Id="rId2" Type="http://schemas.openxmlformats.org/officeDocument/2006/relationships/image" Target="../media/image91.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7.xml"/><Relationship Id="rId5" Type="http://schemas.openxmlformats.org/officeDocument/2006/relationships/image" Target="../media/image103.png"/><Relationship Id="rId4" Type="http://schemas.openxmlformats.org/officeDocument/2006/relationships/image" Target="../media/image102.png"/></Relationships>
</file>

<file path=ppt/slides/_rels/slide31.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13.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14.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15.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78566" y="3084906"/>
            <a:ext cx="9199034" cy="1247775"/>
          </a:xfrm>
        </p:spPr>
        <p:txBody>
          <a:bodyPr>
            <a:noAutofit/>
          </a:bodyPr>
          <a:lstStyle/>
          <a:p>
            <a:pPr algn="ctr">
              <a:lnSpc>
                <a:spcPct val="250000"/>
              </a:lnSpc>
            </a:pPr>
            <a:r>
              <a:rPr lang="en-US" sz="4000" dirty="0">
                <a:solidFill>
                  <a:schemeClr val="bg2">
                    <a:lumMod val="50000"/>
                  </a:schemeClr>
                </a:solidFill>
                <a:latin typeface="Arial Black" panose="020B0A04020102020204" pitchFamily="34" charset="0"/>
                <a:cs typeface="Times New Roman" panose="02020603050405020304" pitchFamily="18" charset="0"/>
              </a:rPr>
              <a:t>Big data analytics</a:t>
            </a:r>
            <a:br>
              <a:rPr lang="en-US" sz="4000" dirty="0">
                <a:solidFill>
                  <a:schemeClr val="bg2">
                    <a:lumMod val="50000"/>
                  </a:schemeClr>
                </a:solidFill>
                <a:latin typeface="Arial Black" panose="020B0A04020102020204" pitchFamily="34" charset="0"/>
                <a:cs typeface="Times New Roman" panose="02020603050405020304" pitchFamily="18" charset="0"/>
              </a:rPr>
            </a:br>
            <a:br>
              <a:rPr lang="en-US" sz="4000" dirty="0">
                <a:solidFill>
                  <a:schemeClr val="bg2">
                    <a:lumMod val="50000"/>
                  </a:schemeClr>
                </a:solidFill>
                <a:latin typeface="Arial Black" panose="020B0A04020102020204" pitchFamily="34" charset="0"/>
                <a:cs typeface="Times New Roman" panose="02020603050405020304" pitchFamily="18" charset="0"/>
              </a:rPr>
            </a:br>
            <a:r>
              <a:rPr lang="en-US" sz="4000" dirty="0">
                <a:solidFill>
                  <a:schemeClr val="bg2">
                    <a:lumMod val="50000"/>
                  </a:schemeClr>
                </a:solidFill>
                <a:latin typeface="Arial Black" panose="020B0A04020102020204" pitchFamily="34" charset="0"/>
                <a:cs typeface="Times New Roman" panose="02020603050405020304" pitchFamily="18" charset="0"/>
              </a:rPr>
              <a:t>Hadoop architecture</a:t>
            </a:r>
          </a:p>
        </p:txBody>
      </p:sp>
      <p:sp>
        <p:nvSpPr>
          <p:cNvPr id="3" name="Subtitle 2"/>
          <p:cNvSpPr>
            <a:spLocks noGrp="1"/>
          </p:cNvSpPr>
          <p:nvPr>
            <p:ph type="subTitle" idx="1"/>
          </p:nvPr>
        </p:nvSpPr>
        <p:spPr>
          <a:xfrm>
            <a:off x="4107392" y="5492912"/>
            <a:ext cx="7766936" cy="1096899"/>
          </a:xfrm>
        </p:spPr>
        <p:txBody>
          <a:bodyPr>
            <a:normAutofit/>
          </a:bodyPr>
          <a:lstStyle/>
          <a:p>
            <a:r>
              <a:rPr lang="en-US" sz="3200" i="1" dirty="0" err="1">
                <a:solidFill>
                  <a:srgbClr val="FF0000"/>
                </a:solidFill>
                <a:latin typeface="Monotype Corsiva" panose="03010101010201010101" pitchFamily="66" charset="0"/>
              </a:rPr>
              <a:t>Mr</a:t>
            </a:r>
            <a:r>
              <a:rPr lang="en-US" sz="3200" i="1" dirty="0">
                <a:solidFill>
                  <a:srgbClr val="FF0000"/>
                </a:solidFill>
                <a:latin typeface="Monotype Corsiva" panose="03010101010201010101" pitchFamily="66" charset="0"/>
              </a:rPr>
              <a:t> </a:t>
            </a:r>
            <a:r>
              <a:rPr lang="en-US" sz="3200" i="1" dirty="0" err="1">
                <a:solidFill>
                  <a:srgbClr val="FF0000"/>
                </a:solidFill>
                <a:latin typeface="Monotype Corsiva" panose="03010101010201010101" pitchFamily="66" charset="0"/>
              </a:rPr>
              <a:t>Ngosa</a:t>
            </a:r>
            <a:r>
              <a:rPr lang="en-US" sz="3200" i="1" dirty="0">
                <a:solidFill>
                  <a:srgbClr val="FF0000"/>
                </a:solidFill>
                <a:latin typeface="Monotype Corsiva" panose="03010101010201010101" pitchFamily="66" charset="0"/>
              </a:rPr>
              <a:t> </a:t>
            </a:r>
            <a:r>
              <a:rPr lang="en-US" sz="3200" i="1" dirty="0" err="1">
                <a:solidFill>
                  <a:srgbClr val="FF0000"/>
                </a:solidFill>
                <a:latin typeface="Monotype Corsiva" panose="03010101010201010101" pitchFamily="66" charset="0"/>
              </a:rPr>
              <a:t>Gathams</a:t>
            </a:r>
            <a:r>
              <a:rPr lang="en-US" sz="3200" i="1" dirty="0">
                <a:solidFill>
                  <a:srgbClr val="FF0000"/>
                </a:solidFill>
                <a:latin typeface="Monotype Corsiva" panose="03010101010201010101" pitchFamily="66" charset="0"/>
              </a:rPr>
              <a:t> </a:t>
            </a:r>
          </a:p>
        </p:txBody>
      </p:sp>
      <p:sp>
        <p:nvSpPr>
          <p:cNvPr id="4" name="Slide Number Placeholder 3"/>
          <p:cNvSpPr>
            <a:spLocks noGrp="1"/>
          </p:cNvSpPr>
          <p:nvPr>
            <p:ph type="sldNum" sz="quarter" idx="12"/>
          </p:nvPr>
        </p:nvSpPr>
        <p:spPr/>
        <p:txBody>
          <a:bodyPr/>
          <a:lstStyle/>
          <a:p>
            <a:fld id="{57C4A744-6DE7-4A67-9FB3-53D16976B908}" type="slidenum">
              <a:rPr lang="en-US" smtClean="0"/>
              <a:t>1</a:t>
            </a:fld>
            <a:endParaRPr lang="en-US"/>
          </a:p>
        </p:txBody>
      </p:sp>
    </p:spTree>
    <p:extLst>
      <p:ext uri="{BB962C8B-B14F-4D97-AF65-F5344CB8AC3E}">
        <p14:creationId xmlns:p14="http://schemas.microsoft.com/office/powerpoint/2010/main" val="38868537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AF9347B-6CA0-A361-F1BD-5EFA38AA9CEE}"/>
              </a:ext>
            </a:extLst>
          </p:cNvPr>
          <p:cNvSpPr>
            <a:spLocks noGrp="1"/>
          </p:cNvSpPr>
          <p:nvPr>
            <p:ph type="title"/>
          </p:nvPr>
        </p:nvSpPr>
        <p:spPr>
          <a:xfrm>
            <a:off x="744009" y="20636"/>
            <a:ext cx="8596668" cy="884239"/>
          </a:xfrm>
        </p:spPr>
        <p:txBody>
          <a:bodyPr/>
          <a:lstStyle/>
          <a:p>
            <a:pPr algn="ctr"/>
            <a:r>
              <a:rPr lang="en-IN" dirty="0"/>
              <a:t>5Vs” of Big Data</a:t>
            </a:r>
          </a:p>
        </p:txBody>
      </p:sp>
      <p:sp>
        <p:nvSpPr>
          <p:cNvPr id="5" name="Content Placeholder 4">
            <a:extLst>
              <a:ext uri="{FF2B5EF4-FFF2-40B4-BE49-F238E27FC236}">
                <a16:creationId xmlns:a16="http://schemas.microsoft.com/office/drawing/2014/main" id="{0960C739-9D64-DC6A-0FCE-BF269CD828F1}"/>
              </a:ext>
            </a:extLst>
          </p:cNvPr>
          <p:cNvSpPr>
            <a:spLocks noGrp="1"/>
          </p:cNvSpPr>
          <p:nvPr>
            <p:ph idx="1"/>
          </p:nvPr>
        </p:nvSpPr>
        <p:spPr>
          <a:xfrm>
            <a:off x="481542" y="723901"/>
            <a:ext cx="11228916" cy="5772149"/>
          </a:xfrm>
        </p:spPr>
        <p:txBody>
          <a:bodyPr>
            <a:normAutofit/>
          </a:bodyPr>
          <a:lstStyle/>
          <a:p>
            <a:r>
              <a:rPr lang="en-US" sz="2400" dirty="0"/>
              <a:t>Volume: With increasing dependence on technology, data is producing at a large volume. Common examples are data being produced by various social networking sites, sensors, scanners, airlines and other organizations.</a:t>
            </a:r>
          </a:p>
          <a:p>
            <a:r>
              <a:rPr lang="en-US" sz="2400" dirty="0"/>
              <a:t>Velocity: Huge amount of data is generated per second. It is estimated that by the end of 2020, every individual will produce 3mb data per second. This large volume of data is being generated with a great velocity.</a:t>
            </a:r>
          </a:p>
          <a:p>
            <a:r>
              <a:rPr lang="en-US" sz="2400" dirty="0"/>
              <a:t>Variety: The data being produced by different means is of three types: </a:t>
            </a:r>
          </a:p>
          <a:p>
            <a:pPr marL="398463" indent="0">
              <a:buNone/>
            </a:pPr>
            <a:r>
              <a:rPr lang="en-US" sz="2400" dirty="0"/>
              <a:t>Structured Data: It is the relational data which is stored in the form of rows and columns.</a:t>
            </a:r>
          </a:p>
          <a:p>
            <a:pPr marL="398463" indent="0">
              <a:buNone/>
            </a:pPr>
            <a:r>
              <a:rPr lang="en-US" sz="2400" dirty="0"/>
              <a:t>Unstructured Data: Texts, pictures, videos etc. are the examples of unstructured data which can’t be stored in the form of rows and columns.</a:t>
            </a:r>
          </a:p>
          <a:p>
            <a:pPr marL="398463" indent="0">
              <a:buNone/>
            </a:pPr>
            <a:r>
              <a:rPr lang="en-US" sz="2400" dirty="0"/>
              <a:t>Semi Structured Data: Log files are the examples of this type of data.</a:t>
            </a:r>
          </a:p>
          <a:p>
            <a:endParaRPr lang="en-IN" dirty="0"/>
          </a:p>
        </p:txBody>
      </p:sp>
    </p:spTree>
    <p:extLst>
      <p:ext uri="{BB962C8B-B14F-4D97-AF65-F5344CB8AC3E}">
        <p14:creationId xmlns:p14="http://schemas.microsoft.com/office/powerpoint/2010/main" val="22987376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AF9347B-6CA0-A361-F1BD-5EFA38AA9CEE}"/>
              </a:ext>
            </a:extLst>
          </p:cNvPr>
          <p:cNvSpPr>
            <a:spLocks noGrp="1"/>
          </p:cNvSpPr>
          <p:nvPr>
            <p:ph type="title"/>
          </p:nvPr>
        </p:nvSpPr>
        <p:spPr/>
        <p:txBody>
          <a:bodyPr/>
          <a:lstStyle/>
          <a:p>
            <a:r>
              <a:rPr lang="en-IN" dirty="0"/>
              <a:t>5Vs” of Big Data</a:t>
            </a:r>
          </a:p>
        </p:txBody>
      </p:sp>
      <p:sp>
        <p:nvSpPr>
          <p:cNvPr id="5" name="Content Placeholder 4">
            <a:extLst>
              <a:ext uri="{FF2B5EF4-FFF2-40B4-BE49-F238E27FC236}">
                <a16:creationId xmlns:a16="http://schemas.microsoft.com/office/drawing/2014/main" id="{0960C739-9D64-DC6A-0FCE-BF269CD828F1}"/>
              </a:ext>
            </a:extLst>
          </p:cNvPr>
          <p:cNvSpPr>
            <a:spLocks noGrp="1"/>
          </p:cNvSpPr>
          <p:nvPr>
            <p:ph idx="1"/>
          </p:nvPr>
        </p:nvSpPr>
        <p:spPr>
          <a:xfrm>
            <a:off x="677334" y="1524001"/>
            <a:ext cx="11228916" cy="4652963"/>
          </a:xfrm>
        </p:spPr>
        <p:txBody>
          <a:bodyPr>
            <a:normAutofit/>
          </a:bodyPr>
          <a:lstStyle/>
          <a:p>
            <a:r>
              <a:rPr lang="en-US" sz="2400" dirty="0"/>
              <a:t>Veracity: The term Veracity is coined for the inconsistent or incomplete data which results in the generation of doubtful or uncertain Information. Often data inconsistency arises because of the volume or amount of data e.g. data in bulk could create confusion whereas less amount of data could convey half or incomplete Information.</a:t>
            </a:r>
          </a:p>
          <a:p>
            <a:r>
              <a:rPr lang="en-US" sz="2400" dirty="0"/>
              <a:t>Value: After having the 4 V’s into account there comes one more V which stands for Value!. Bulk of Data having no Value is of no good to the company, unless you turn it into something useful. Data in itself is of no use or importance but it needs to be converted into something valuable to extract Information. Hence, you can state that Value! is the most important V of all the 5V’s</a:t>
            </a:r>
          </a:p>
          <a:p>
            <a:endParaRPr lang="en-IN" dirty="0"/>
          </a:p>
        </p:txBody>
      </p:sp>
    </p:spTree>
    <p:extLst>
      <p:ext uri="{BB962C8B-B14F-4D97-AF65-F5344CB8AC3E}">
        <p14:creationId xmlns:p14="http://schemas.microsoft.com/office/powerpoint/2010/main" val="40089529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What is Hadoop ?</a:t>
            </a:r>
          </a:p>
        </p:txBody>
      </p:sp>
      <p:sp>
        <p:nvSpPr>
          <p:cNvPr id="3" name="Content Placeholder 2"/>
          <p:cNvSpPr>
            <a:spLocks noGrp="1"/>
          </p:cNvSpPr>
          <p:nvPr>
            <p:ph idx="1"/>
          </p:nvPr>
        </p:nvSpPr>
        <p:spPr/>
        <p:txBody>
          <a:bodyPr/>
          <a:lstStyle/>
          <a:p>
            <a:pPr marL="0" indent="0">
              <a:buNone/>
            </a:pPr>
            <a:r>
              <a:rPr lang="en-US" sz="2000" dirty="0">
                <a:latin typeface="Times New Roman" panose="02020603050405020304" pitchFamily="18" charset="0"/>
                <a:cs typeface="Times New Roman" panose="02020603050405020304" pitchFamily="18" charset="0"/>
              </a:rPr>
              <a:t>Apache Hadoop is a </a:t>
            </a:r>
            <a:r>
              <a:rPr lang="en-US" sz="2000" i="1" dirty="0">
                <a:solidFill>
                  <a:schemeClr val="accent6">
                    <a:lumMod val="75000"/>
                  </a:schemeClr>
                </a:solidFill>
                <a:latin typeface="Times New Roman" panose="02020603050405020304" pitchFamily="18" charset="0"/>
                <a:cs typeface="Times New Roman" panose="02020603050405020304" pitchFamily="18" charset="0"/>
              </a:rPr>
              <a:t>framework</a:t>
            </a:r>
            <a:r>
              <a:rPr lang="en-US" sz="2000" dirty="0">
                <a:solidFill>
                  <a:schemeClr val="accent6">
                    <a:lumMod val="75000"/>
                  </a:schemeClr>
                </a:solidFill>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that allows the distributed processing of large data sets across clusters of commodity computers using a simple programming model.</a:t>
            </a:r>
          </a:p>
          <a:p>
            <a:pPr marL="0" indent="0">
              <a:buNone/>
            </a:pPr>
            <a:r>
              <a:rPr lang="en-US" sz="2000" dirty="0">
                <a:latin typeface="Times New Roman" panose="02020603050405020304" pitchFamily="18" charset="0"/>
                <a:cs typeface="Times New Roman" panose="02020603050405020304" pitchFamily="18" charset="0"/>
              </a:rPr>
              <a:t>It is an </a:t>
            </a:r>
            <a:r>
              <a:rPr lang="en-US" sz="2000" i="1" dirty="0">
                <a:solidFill>
                  <a:schemeClr val="accent6">
                    <a:lumMod val="75000"/>
                  </a:schemeClr>
                </a:solidFill>
                <a:latin typeface="Times New Roman" panose="02020603050405020304" pitchFamily="18" charset="0"/>
                <a:cs typeface="Times New Roman" panose="02020603050405020304" pitchFamily="18" charset="0"/>
              </a:rPr>
              <a:t>open-source data management technology </a:t>
            </a:r>
            <a:r>
              <a:rPr lang="en-US" sz="2000" dirty="0">
                <a:latin typeface="Times New Roman" panose="02020603050405020304" pitchFamily="18" charset="0"/>
                <a:cs typeface="Times New Roman" panose="02020603050405020304" pitchFamily="18" charset="0"/>
              </a:rPr>
              <a:t>with scale-out storage and distributed processing.</a:t>
            </a:r>
          </a:p>
          <a:p>
            <a:pPr marL="0" indent="0">
              <a:buNone/>
            </a:pPr>
            <a:r>
              <a:rPr lang="en-US" dirty="0">
                <a:latin typeface="Times New Roman" panose="02020603050405020304" pitchFamily="18" charset="0"/>
                <a:cs typeface="Times New Roman" panose="02020603050405020304" pitchFamily="18" charset="0"/>
              </a:rPr>
              <a:t>               </a:t>
            </a:r>
          </a:p>
        </p:txBody>
      </p:sp>
      <p:pic>
        <p:nvPicPr>
          <p:cNvPr id="4" name="Picture 3"/>
          <p:cNvPicPr>
            <a:picLocks noChangeAspect="1"/>
          </p:cNvPicPr>
          <p:nvPr/>
        </p:nvPicPr>
        <p:blipFill>
          <a:blip r:embed="rId3"/>
          <a:stretch>
            <a:fillRect/>
          </a:stretch>
        </p:blipFill>
        <p:spPr>
          <a:xfrm>
            <a:off x="1987012" y="3634739"/>
            <a:ext cx="5636797" cy="2881637"/>
          </a:xfrm>
          <a:prstGeom prst="rect">
            <a:avLst/>
          </a:prstGeom>
        </p:spPr>
      </p:pic>
      <p:sp>
        <p:nvSpPr>
          <p:cNvPr id="5" name="Slide Number Placeholder 4"/>
          <p:cNvSpPr>
            <a:spLocks noGrp="1"/>
          </p:cNvSpPr>
          <p:nvPr>
            <p:ph type="sldNum" sz="quarter" idx="12"/>
          </p:nvPr>
        </p:nvSpPr>
        <p:spPr/>
        <p:txBody>
          <a:bodyPr/>
          <a:lstStyle/>
          <a:p>
            <a:fld id="{57C4A744-6DE7-4A67-9FB3-53D16976B908}" type="slidenum">
              <a:rPr lang="en-US" smtClean="0"/>
              <a:t>4</a:t>
            </a:fld>
            <a:endParaRPr lang="en-US"/>
          </a:p>
        </p:txBody>
      </p:sp>
    </p:spTree>
    <p:extLst>
      <p:ext uri="{BB962C8B-B14F-4D97-AF65-F5344CB8AC3E}">
        <p14:creationId xmlns:p14="http://schemas.microsoft.com/office/powerpoint/2010/main" val="29591202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10728" y="216282"/>
            <a:ext cx="8099425" cy="513715"/>
          </a:xfrm>
          <a:prstGeom prst="rect">
            <a:avLst/>
          </a:prstGeom>
        </p:spPr>
        <p:txBody>
          <a:bodyPr vert="horz" wrap="square" lIns="0" tIns="12700" rIns="0" bIns="0" rtlCol="0" anchor="t">
            <a:spAutoFit/>
          </a:bodyPr>
          <a:lstStyle/>
          <a:p>
            <a:pPr marL="12700" algn="ctr">
              <a:spcBef>
                <a:spcPts val="100"/>
              </a:spcBef>
            </a:pPr>
            <a:r>
              <a:rPr sz="3200" b="1" spc="225" dirty="0">
                <a:solidFill>
                  <a:srgbClr val="FF0000"/>
                </a:solidFill>
                <a:latin typeface="Trebuchet MS"/>
                <a:cs typeface="Trebuchet MS"/>
              </a:rPr>
              <a:t>What</a:t>
            </a:r>
            <a:r>
              <a:rPr sz="3200" b="1" spc="-130" dirty="0">
                <a:solidFill>
                  <a:srgbClr val="FF0000"/>
                </a:solidFill>
                <a:latin typeface="Trebuchet MS"/>
                <a:cs typeface="Trebuchet MS"/>
              </a:rPr>
              <a:t> </a:t>
            </a:r>
            <a:r>
              <a:rPr sz="3200" b="1" spc="-55" dirty="0">
                <a:solidFill>
                  <a:srgbClr val="FF0000"/>
                </a:solidFill>
                <a:latin typeface="Trebuchet MS"/>
                <a:cs typeface="Trebuchet MS"/>
              </a:rPr>
              <a:t>is</a:t>
            </a:r>
            <a:r>
              <a:rPr sz="3200" b="1" spc="-120" dirty="0">
                <a:solidFill>
                  <a:srgbClr val="FF0000"/>
                </a:solidFill>
                <a:latin typeface="Trebuchet MS"/>
                <a:cs typeface="Trebuchet MS"/>
              </a:rPr>
              <a:t> </a:t>
            </a:r>
            <a:r>
              <a:rPr sz="3200" b="1" spc="65" dirty="0">
                <a:solidFill>
                  <a:srgbClr val="FF0000"/>
                </a:solidFill>
                <a:latin typeface="Trebuchet MS"/>
                <a:cs typeface="Trebuchet MS"/>
              </a:rPr>
              <a:t>Hadoop?</a:t>
            </a:r>
            <a:endParaRPr sz="3200" dirty="0">
              <a:solidFill>
                <a:srgbClr val="FF0000"/>
              </a:solidFill>
              <a:latin typeface="Trebuchet MS"/>
              <a:cs typeface="Trebuchet MS"/>
            </a:endParaRPr>
          </a:p>
        </p:txBody>
      </p:sp>
      <p:pic>
        <p:nvPicPr>
          <p:cNvPr id="3" name="object 3"/>
          <p:cNvPicPr/>
          <p:nvPr/>
        </p:nvPicPr>
        <p:blipFill>
          <a:blip r:embed="rId2" cstate="print"/>
          <a:stretch>
            <a:fillRect/>
          </a:stretch>
        </p:blipFill>
        <p:spPr>
          <a:xfrm>
            <a:off x="2072640" y="1313688"/>
            <a:ext cx="202692" cy="213360"/>
          </a:xfrm>
          <a:prstGeom prst="rect">
            <a:avLst/>
          </a:prstGeom>
        </p:spPr>
      </p:pic>
      <p:pic>
        <p:nvPicPr>
          <p:cNvPr id="4" name="object 4"/>
          <p:cNvPicPr/>
          <p:nvPr/>
        </p:nvPicPr>
        <p:blipFill>
          <a:blip r:embed="rId2" cstate="print"/>
          <a:stretch>
            <a:fillRect/>
          </a:stretch>
        </p:blipFill>
        <p:spPr>
          <a:xfrm>
            <a:off x="2072640" y="2045207"/>
            <a:ext cx="202692" cy="213360"/>
          </a:xfrm>
          <a:prstGeom prst="rect">
            <a:avLst/>
          </a:prstGeom>
        </p:spPr>
      </p:pic>
      <p:pic>
        <p:nvPicPr>
          <p:cNvPr id="5" name="object 5"/>
          <p:cNvPicPr/>
          <p:nvPr/>
        </p:nvPicPr>
        <p:blipFill>
          <a:blip r:embed="rId3" cstate="print"/>
          <a:stretch>
            <a:fillRect/>
          </a:stretch>
        </p:blipFill>
        <p:spPr>
          <a:xfrm>
            <a:off x="2529840" y="2516124"/>
            <a:ext cx="88391" cy="88391"/>
          </a:xfrm>
          <a:prstGeom prst="rect">
            <a:avLst/>
          </a:prstGeom>
        </p:spPr>
      </p:pic>
      <p:pic>
        <p:nvPicPr>
          <p:cNvPr id="6" name="object 6"/>
          <p:cNvPicPr/>
          <p:nvPr/>
        </p:nvPicPr>
        <p:blipFill>
          <a:blip r:embed="rId4" cstate="print"/>
          <a:stretch>
            <a:fillRect/>
          </a:stretch>
        </p:blipFill>
        <p:spPr>
          <a:xfrm>
            <a:off x="2987040" y="3073907"/>
            <a:ext cx="50291" cy="85344"/>
          </a:xfrm>
          <a:prstGeom prst="rect">
            <a:avLst/>
          </a:prstGeom>
        </p:spPr>
      </p:pic>
      <p:pic>
        <p:nvPicPr>
          <p:cNvPr id="7" name="object 7"/>
          <p:cNvPicPr/>
          <p:nvPr/>
        </p:nvPicPr>
        <p:blipFill>
          <a:blip r:embed="rId3" cstate="print"/>
          <a:stretch>
            <a:fillRect/>
          </a:stretch>
        </p:blipFill>
        <p:spPr>
          <a:xfrm>
            <a:off x="2529839" y="3430524"/>
            <a:ext cx="102108" cy="106679"/>
          </a:xfrm>
          <a:prstGeom prst="rect">
            <a:avLst/>
          </a:prstGeom>
        </p:spPr>
      </p:pic>
      <p:pic>
        <p:nvPicPr>
          <p:cNvPr id="8" name="object 8"/>
          <p:cNvPicPr/>
          <p:nvPr/>
        </p:nvPicPr>
        <p:blipFill>
          <a:blip r:embed="rId4" cstate="print"/>
          <a:stretch>
            <a:fillRect/>
          </a:stretch>
        </p:blipFill>
        <p:spPr>
          <a:xfrm>
            <a:off x="2987040" y="3744468"/>
            <a:ext cx="50291" cy="85343"/>
          </a:xfrm>
          <a:prstGeom prst="rect">
            <a:avLst/>
          </a:prstGeom>
        </p:spPr>
      </p:pic>
      <p:pic>
        <p:nvPicPr>
          <p:cNvPr id="9" name="object 9"/>
          <p:cNvPicPr/>
          <p:nvPr/>
        </p:nvPicPr>
        <p:blipFill>
          <a:blip r:embed="rId4" cstate="print"/>
          <a:stretch>
            <a:fillRect/>
          </a:stretch>
        </p:blipFill>
        <p:spPr>
          <a:xfrm>
            <a:off x="2987041" y="4012703"/>
            <a:ext cx="50291" cy="85333"/>
          </a:xfrm>
          <a:prstGeom prst="rect">
            <a:avLst/>
          </a:prstGeom>
        </p:spPr>
      </p:pic>
      <p:pic>
        <p:nvPicPr>
          <p:cNvPr id="10" name="object 10"/>
          <p:cNvPicPr/>
          <p:nvPr/>
        </p:nvPicPr>
        <p:blipFill>
          <a:blip r:embed="rId2" cstate="print"/>
          <a:stretch>
            <a:fillRect/>
          </a:stretch>
        </p:blipFill>
        <p:spPr>
          <a:xfrm>
            <a:off x="2072641" y="4483623"/>
            <a:ext cx="202691" cy="213344"/>
          </a:xfrm>
          <a:prstGeom prst="rect">
            <a:avLst/>
          </a:prstGeom>
        </p:spPr>
      </p:pic>
      <p:pic>
        <p:nvPicPr>
          <p:cNvPr id="11" name="object 11"/>
          <p:cNvPicPr/>
          <p:nvPr/>
        </p:nvPicPr>
        <p:blipFill>
          <a:blip r:embed="rId2" cstate="print"/>
          <a:stretch>
            <a:fillRect/>
          </a:stretch>
        </p:blipFill>
        <p:spPr>
          <a:xfrm>
            <a:off x="2072641" y="4885959"/>
            <a:ext cx="202691" cy="213344"/>
          </a:xfrm>
          <a:prstGeom prst="rect">
            <a:avLst/>
          </a:prstGeom>
        </p:spPr>
      </p:pic>
      <p:pic>
        <p:nvPicPr>
          <p:cNvPr id="12" name="object 12"/>
          <p:cNvPicPr/>
          <p:nvPr/>
        </p:nvPicPr>
        <p:blipFill>
          <a:blip r:embed="rId2" cstate="print"/>
          <a:stretch>
            <a:fillRect/>
          </a:stretch>
        </p:blipFill>
        <p:spPr>
          <a:xfrm>
            <a:off x="2072641" y="5326395"/>
            <a:ext cx="202691" cy="213344"/>
          </a:xfrm>
          <a:prstGeom prst="rect">
            <a:avLst/>
          </a:prstGeom>
        </p:spPr>
      </p:pic>
      <p:pic>
        <p:nvPicPr>
          <p:cNvPr id="13" name="object 13"/>
          <p:cNvPicPr/>
          <p:nvPr/>
        </p:nvPicPr>
        <p:blipFill>
          <a:blip r:embed="rId3" cstate="print"/>
          <a:stretch>
            <a:fillRect/>
          </a:stretch>
        </p:blipFill>
        <p:spPr>
          <a:xfrm>
            <a:off x="2529840" y="5759197"/>
            <a:ext cx="88391" cy="88391"/>
          </a:xfrm>
          <a:prstGeom prst="rect">
            <a:avLst/>
          </a:prstGeom>
        </p:spPr>
      </p:pic>
      <p:sp>
        <p:nvSpPr>
          <p:cNvPr id="14" name="object 14"/>
          <p:cNvSpPr txBox="1"/>
          <p:nvPr/>
        </p:nvSpPr>
        <p:spPr>
          <a:xfrm>
            <a:off x="2402840" y="1208024"/>
            <a:ext cx="8099425" cy="4702175"/>
          </a:xfrm>
          <a:prstGeom prst="rect">
            <a:avLst/>
          </a:prstGeom>
        </p:spPr>
        <p:txBody>
          <a:bodyPr vert="horz" wrap="square" lIns="0" tIns="53975" rIns="0" bIns="0" rtlCol="0">
            <a:spAutoFit/>
          </a:bodyPr>
          <a:lstStyle/>
          <a:p>
            <a:pPr marL="12700" marR="132080">
              <a:lnSpc>
                <a:spcPts val="2590"/>
              </a:lnSpc>
              <a:spcBef>
                <a:spcPts val="425"/>
              </a:spcBef>
            </a:pPr>
            <a:r>
              <a:rPr sz="2400" dirty="0">
                <a:solidFill>
                  <a:srgbClr val="380069"/>
                </a:solidFill>
                <a:latin typeface="Arial MT"/>
                <a:cs typeface="Arial MT"/>
              </a:rPr>
              <a:t>A</a:t>
            </a:r>
            <a:r>
              <a:rPr sz="2400" spc="-5" dirty="0">
                <a:solidFill>
                  <a:srgbClr val="380069"/>
                </a:solidFill>
                <a:latin typeface="Arial MT"/>
                <a:cs typeface="Arial MT"/>
              </a:rPr>
              <a:t> scalable</a:t>
            </a:r>
            <a:r>
              <a:rPr sz="2400" spc="25" dirty="0">
                <a:solidFill>
                  <a:srgbClr val="380069"/>
                </a:solidFill>
                <a:latin typeface="Arial MT"/>
                <a:cs typeface="Arial MT"/>
              </a:rPr>
              <a:t> </a:t>
            </a:r>
            <a:r>
              <a:rPr sz="2400" spc="-5" dirty="0">
                <a:solidFill>
                  <a:srgbClr val="380069"/>
                </a:solidFill>
                <a:latin typeface="Arial MT"/>
                <a:cs typeface="Arial MT"/>
              </a:rPr>
              <a:t>fault-tolerant</a:t>
            </a:r>
            <a:r>
              <a:rPr sz="2400" spc="5" dirty="0">
                <a:solidFill>
                  <a:srgbClr val="380069"/>
                </a:solidFill>
                <a:latin typeface="Arial MT"/>
                <a:cs typeface="Arial MT"/>
              </a:rPr>
              <a:t> </a:t>
            </a:r>
            <a:r>
              <a:rPr sz="2400" spc="-5" dirty="0">
                <a:solidFill>
                  <a:srgbClr val="380069"/>
                </a:solidFill>
                <a:latin typeface="Arial MT"/>
                <a:cs typeface="Arial MT"/>
              </a:rPr>
              <a:t>distributed</a:t>
            </a:r>
            <a:r>
              <a:rPr sz="2400" spc="15" dirty="0">
                <a:solidFill>
                  <a:srgbClr val="380069"/>
                </a:solidFill>
                <a:latin typeface="Arial MT"/>
                <a:cs typeface="Arial MT"/>
              </a:rPr>
              <a:t> </a:t>
            </a:r>
            <a:r>
              <a:rPr sz="2400" dirty="0">
                <a:solidFill>
                  <a:srgbClr val="380069"/>
                </a:solidFill>
                <a:latin typeface="Arial MT"/>
                <a:cs typeface="Arial MT"/>
              </a:rPr>
              <a:t>system</a:t>
            </a:r>
            <a:r>
              <a:rPr sz="2400" spc="-10" dirty="0">
                <a:solidFill>
                  <a:srgbClr val="380069"/>
                </a:solidFill>
                <a:latin typeface="Arial MT"/>
                <a:cs typeface="Arial MT"/>
              </a:rPr>
              <a:t> </a:t>
            </a:r>
            <a:r>
              <a:rPr sz="2400" dirty="0">
                <a:solidFill>
                  <a:srgbClr val="380069"/>
                </a:solidFill>
                <a:latin typeface="Arial MT"/>
                <a:cs typeface="Arial MT"/>
              </a:rPr>
              <a:t>for</a:t>
            </a:r>
            <a:r>
              <a:rPr sz="2400" spc="-15" dirty="0">
                <a:solidFill>
                  <a:srgbClr val="380069"/>
                </a:solidFill>
                <a:latin typeface="Arial MT"/>
                <a:cs typeface="Arial MT"/>
              </a:rPr>
              <a:t> </a:t>
            </a:r>
            <a:r>
              <a:rPr sz="2400" spc="-5" dirty="0">
                <a:solidFill>
                  <a:srgbClr val="380069"/>
                </a:solidFill>
                <a:latin typeface="Arial MT"/>
                <a:cs typeface="Arial MT"/>
              </a:rPr>
              <a:t>data storage </a:t>
            </a:r>
            <a:r>
              <a:rPr sz="2400" spc="-650" dirty="0">
                <a:solidFill>
                  <a:srgbClr val="380069"/>
                </a:solidFill>
                <a:latin typeface="Arial MT"/>
                <a:cs typeface="Arial MT"/>
              </a:rPr>
              <a:t> </a:t>
            </a:r>
            <a:r>
              <a:rPr sz="2400" spc="-5" dirty="0">
                <a:solidFill>
                  <a:srgbClr val="380069"/>
                </a:solidFill>
                <a:latin typeface="Arial MT"/>
                <a:cs typeface="Arial MT"/>
              </a:rPr>
              <a:t>and</a:t>
            </a:r>
            <a:r>
              <a:rPr sz="2400" spc="10" dirty="0">
                <a:solidFill>
                  <a:srgbClr val="380069"/>
                </a:solidFill>
                <a:latin typeface="Arial MT"/>
                <a:cs typeface="Arial MT"/>
              </a:rPr>
              <a:t> </a:t>
            </a:r>
            <a:r>
              <a:rPr sz="2400" spc="-5" dirty="0">
                <a:solidFill>
                  <a:srgbClr val="380069"/>
                </a:solidFill>
                <a:latin typeface="Arial MT"/>
                <a:cs typeface="Arial MT"/>
              </a:rPr>
              <a:t>processing</a:t>
            </a:r>
            <a:endParaRPr sz="2400" dirty="0">
              <a:latin typeface="Arial MT"/>
              <a:cs typeface="Arial MT"/>
            </a:endParaRPr>
          </a:p>
          <a:p>
            <a:pPr marL="12700">
              <a:spcBef>
                <a:spcPts val="254"/>
              </a:spcBef>
            </a:pPr>
            <a:r>
              <a:rPr sz="2400" spc="-5" dirty="0">
                <a:solidFill>
                  <a:srgbClr val="380069"/>
                </a:solidFill>
                <a:latin typeface="Arial MT"/>
                <a:cs typeface="Arial MT"/>
              </a:rPr>
              <a:t>Core</a:t>
            </a:r>
            <a:r>
              <a:rPr sz="2400" dirty="0">
                <a:solidFill>
                  <a:srgbClr val="380069"/>
                </a:solidFill>
                <a:latin typeface="Arial MT"/>
                <a:cs typeface="Arial MT"/>
              </a:rPr>
              <a:t> </a:t>
            </a:r>
            <a:r>
              <a:rPr sz="2400" spc="-5" dirty="0">
                <a:solidFill>
                  <a:srgbClr val="380069"/>
                </a:solidFill>
                <a:latin typeface="Arial MT"/>
                <a:cs typeface="Arial MT"/>
              </a:rPr>
              <a:t>Hadoop</a:t>
            </a:r>
            <a:r>
              <a:rPr sz="2400" spc="15" dirty="0">
                <a:solidFill>
                  <a:srgbClr val="380069"/>
                </a:solidFill>
                <a:latin typeface="Arial MT"/>
                <a:cs typeface="Arial MT"/>
              </a:rPr>
              <a:t> </a:t>
            </a:r>
            <a:r>
              <a:rPr sz="2400" spc="-5" dirty="0">
                <a:solidFill>
                  <a:srgbClr val="380069"/>
                </a:solidFill>
                <a:latin typeface="Arial MT"/>
                <a:cs typeface="Arial MT"/>
              </a:rPr>
              <a:t>has two</a:t>
            </a:r>
            <a:r>
              <a:rPr sz="2400" spc="-10" dirty="0">
                <a:solidFill>
                  <a:srgbClr val="380069"/>
                </a:solidFill>
                <a:latin typeface="Arial MT"/>
                <a:cs typeface="Arial MT"/>
              </a:rPr>
              <a:t> </a:t>
            </a:r>
            <a:r>
              <a:rPr sz="2400" spc="-5" dirty="0">
                <a:solidFill>
                  <a:srgbClr val="380069"/>
                </a:solidFill>
                <a:latin typeface="Arial MT"/>
                <a:cs typeface="Arial MT"/>
              </a:rPr>
              <a:t>main</a:t>
            </a:r>
            <a:r>
              <a:rPr sz="2400" spc="-10" dirty="0">
                <a:solidFill>
                  <a:srgbClr val="380069"/>
                </a:solidFill>
                <a:latin typeface="Arial MT"/>
                <a:cs typeface="Arial MT"/>
              </a:rPr>
              <a:t> </a:t>
            </a:r>
            <a:r>
              <a:rPr sz="2400" spc="-5" dirty="0">
                <a:solidFill>
                  <a:srgbClr val="380069"/>
                </a:solidFill>
                <a:latin typeface="Arial MT"/>
                <a:cs typeface="Arial MT"/>
              </a:rPr>
              <a:t>components</a:t>
            </a:r>
            <a:endParaRPr sz="2400" dirty="0">
              <a:latin typeface="Arial MT"/>
              <a:cs typeface="Arial MT"/>
            </a:endParaRPr>
          </a:p>
          <a:p>
            <a:pPr marL="412750" marR="1028065">
              <a:lnSpc>
                <a:spcPts val="2160"/>
              </a:lnSpc>
              <a:spcBef>
                <a:spcPts val="515"/>
              </a:spcBef>
            </a:pPr>
            <a:r>
              <a:rPr sz="2000" dirty="0">
                <a:solidFill>
                  <a:srgbClr val="5D5B5C"/>
                </a:solidFill>
                <a:latin typeface="Arial MT"/>
                <a:cs typeface="Arial MT"/>
              </a:rPr>
              <a:t>Hadoop </a:t>
            </a:r>
            <a:r>
              <a:rPr sz="2000" spc="-5" dirty="0">
                <a:solidFill>
                  <a:srgbClr val="5D5B5C"/>
                </a:solidFill>
                <a:latin typeface="Arial MT"/>
                <a:cs typeface="Arial MT"/>
              </a:rPr>
              <a:t>Distributed File System </a:t>
            </a:r>
            <a:r>
              <a:rPr sz="2000" dirty="0">
                <a:solidFill>
                  <a:srgbClr val="5D5B5C"/>
                </a:solidFill>
                <a:latin typeface="Arial MT"/>
                <a:cs typeface="Arial MT"/>
              </a:rPr>
              <a:t>(HDFS): self-healing, high- </a:t>
            </a:r>
            <a:r>
              <a:rPr sz="2000" spc="-545" dirty="0">
                <a:solidFill>
                  <a:srgbClr val="5D5B5C"/>
                </a:solidFill>
                <a:latin typeface="Arial MT"/>
                <a:cs typeface="Arial MT"/>
              </a:rPr>
              <a:t> </a:t>
            </a:r>
            <a:r>
              <a:rPr sz="2000" dirty="0">
                <a:solidFill>
                  <a:srgbClr val="5D5B5C"/>
                </a:solidFill>
                <a:latin typeface="Arial MT"/>
                <a:cs typeface="Arial MT"/>
              </a:rPr>
              <a:t>bandwidth</a:t>
            </a:r>
            <a:r>
              <a:rPr sz="2000" spc="-35" dirty="0">
                <a:solidFill>
                  <a:srgbClr val="5D5B5C"/>
                </a:solidFill>
                <a:latin typeface="Arial MT"/>
                <a:cs typeface="Arial MT"/>
              </a:rPr>
              <a:t> </a:t>
            </a:r>
            <a:r>
              <a:rPr sz="2000" dirty="0">
                <a:solidFill>
                  <a:srgbClr val="5D5B5C"/>
                </a:solidFill>
                <a:latin typeface="Arial MT"/>
                <a:cs typeface="Arial MT"/>
              </a:rPr>
              <a:t>clustered</a:t>
            </a:r>
            <a:r>
              <a:rPr sz="2000" spc="-40" dirty="0">
                <a:solidFill>
                  <a:srgbClr val="5D5B5C"/>
                </a:solidFill>
                <a:latin typeface="Arial MT"/>
                <a:cs typeface="Arial MT"/>
              </a:rPr>
              <a:t> </a:t>
            </a:r>
            <a:r>
              <a:rPr sz="2000" dirty="0">
                <a:solidFill>
                  <a:srgbClr val="5D5B5C"/>
                </a:solidFill>
                <a:latin typeface="Arial MT"/>
                <a:cs typeface="Arial MT"/>
              </a:rPr>
              <a:t>storage</a:t>
            </a:r>
            <a:endParaRPr sz="2000" dirty="0">
              <a:latin typeface="Arial MT"/>
              <a:cs typeface="Arial MT"/>
            </a:endParaRPr>
          </a:p>
          <a:p>
            <a:pPr marL="812165">
              <a:spcBef>
                <a:spcPts val="175"/>
              </a:spcBef>
            </a:pPr>
            <a:r>
              <a:rPr sz="1600" spc="-5" dirty="0">
                <a:solidFill>
                  <a:srgbClr val="38006A"/>
                </a:solidFill>
                <a:latin typeface="Arial MT"/>
                <a:cs typeface="Arial MT"/>
              </a:rPr>
              <a:t>Reliable,</a:t>
            </a:r>
            <a:r>
              <a:rPr sz="1600" spc="-25" dirty="0">
                <a:solidFill>
                  <a:srgbClr val="38006A"/>
                </a:solidFill>
                <a:latin typeface="Arial MT"/>
                <a:cs typeface="Arial MT"/>
              </a:rPr>
              <a:t> </a:t>
            </a:r>
            <a:r>
              <a:rPr sz="1600" spc="-10" dirty="0">
                <a:solidFill>
                  <a:srgbClr val="38006A"/>
                </a:solidFill>
                <a:latin typeface="Arial MT"/>
                <a:cs typeface="Arial MT"/>
              </a:rPr>
              <a:t>redundant,</a:t>
            </a:r>
            <a:r>
              <a:rPr sz="1600" spc="25" dirty="0">
                <a:solidFill>
                  <a:srgbClr val="38006A"/>
                </a:solidFill>
                <a:latin typeface="Arial MT"/>
                <a:cs typeface="Arial MT"/>
              </a:rPr>
              <a:t> </a:t>
            </a:r>
            <a:r>
              <a:rPr sz="1600" spc="-5" dirty="0">
                <a:solidFill>
                  <a:srgbClr val="38006A"/>
                </a:solidFill>
                <a:latin typeface="Arial MT"/>
                <a:cs typeface="Arial MT"/>
              </a:rPr>
              <a:t>distributed</a:t>
            </a:r>
            <a:r>
              <a:rPr sz="1600" dirty="0">
                <a:solidFill>
                  <a:srgbClr val="38006A"/>
                </a:solidFill>
                <a:latin typeface="Arial MT"/>
                <a:cs typeface="Arial MT"/>
              </a:rPr>
              <a:t> file </a:t>
            </a:r>
            <a:r>
              <a:rPr sz="1600" spc="-5" dirty="0">
                <a:solidFill>
                  <a:srgbClr val="38006A"/>
                </a:solidFill>
                <a:latin typeface="Arial MT"/>
                <a:cs typeface="Arial MT"/>
              </a:rPr>
              <a:t>system</a:t>
            </a:r>
            <a:r>
              <a:rPr sz="1600" spc="30" dirty="0">
                <a:solidFill>
                  <a:srgbClr val="38006A"/>
                </a:solidFill>
                <a:latin typeface="Arial MT"/>
                <a:cs typeface="Arial MT"/>
              </a:rPr>
              <a:t> </a:t>
            </a:r>
            <a:r>
              <a:rPr sz="1600" spc="-5" dirty="0">
                <a:solidFill>
                  <a:srgbClr val="38006A"/>
                </a:solidFill>
                <a:latin typeface="Arial MT"/>
                <a:cs typeface="Arial MT"/>
              </a:rPr>
              <a:t>optimized</a:t>
            </a:r>
            <a:r>
              <a:rPr sz="1600" spc="-10" dirty="0">
                <a:solidFill>
                  <a:srgbClr val="38006A"/>
                </a:solidFill>
                <a:latin typeface="Arial MT"/>
                <a:cs typeface="Arial MT"/>
              </a:rPr>
              <a:t> </a:t>
            </a:r>
            <a:r>
              <a:rPr sz="1600" spc="-5" dirty="0">
                <a:solidFill>
                  <a:srgbClr val="38006A"/>
                </a:solidFill>
                <a:latin typeface="Arial MT"/>
                <a:cs typeface="Arial MT"/>
              </a:rPr>
              <a:t>for</a:t>
            </a:r>
            <a:r>
              <a:rPr sz="1600" spc="20" dirty="0">
                <a:solidFill>
                  <a:srgbClr val="38006A"/>
                </a:solidFill>
                <a:latin typeface="Arial MT"/>
                <a:cs typeface="Arial MT"/>
              </a:rPr>
              <a:t> </a:t>
            </a:r>
            <a:r>
              <a:rPr sz="1600" spc="-5" dirty="0">
                <a:solidFill>
                  <a:srgbClr val="38006A"/>
                </a:solidFill>
                <a:latin typeface="Arial MT"/>
                <a:cs typeface="Arial MT"/>
              </a:rPr>
              <a:t>large</a:t>
            </a:r>
            <a:r>
              <a:rPr sz="1600" dirty="0">
                <a:solidFill>
                  <a:srgbClr val="38006A"/>
                </a:solidFill>
                <a:latin typeface="Arial MT"/>
                <a:cs typeface="Arial MT"/>
              </a:rPr>
              <a:t> </a:t>
            </a:r>
            <a:r>
              <a:rPr sz="1600" spc="-5" dirty="0">
                <a:solidFill>
                  <a:srgbClr val="38006A"/>
                </a:solidFill>
                <a:latin typeface="Arial MT"/>
                <a:cs typeface="Arial MT"/>
              </a:rPr>
              <a:t>files</a:t>
            </a:r>
            <a:endParaRPr sz="1600" dirty="0">
              <a:latin typeface="Arial MT"/>
              <a:cs typeface="Arial MT"/>
            </a:endParaRPr>
          </a:p>
          <a:p>
            <a:pPr marL="413384">
              <a:spcBef>
                <a:spcPts val="270"/>
              </a:spcBef>
            </a:pPr>
            <a:r>
              <a:rPr sz="2400" spc="-5" dirty="0">
                <a:solidFill>
                  <a:srgbClr val="5D5B5C"/>
                </a:solidFill>
                <a:latin typeface="Arial MT"/>
                <a:cs typeface="Arial MT"/>
              </a:rPr>
              <a:t>MapReduce:</a:t>
            </a:r>
            <a:r>
              <a:rPr sz="2400" spc="20" dirty="0">
                <a:solidFill>
                  <a:srgbClr val="5D5B5C"/>
                </a:solidFill>
                <a:latin typeface="Arial MT"/>
                <a:cs typeface="Arial MT"/>
              </a:rPr>
              <a:t> </a:t>
            </a:r>
            <a:r>
              <a:rPr sz="2400" spc="-5" dirty="0">
                <a:solidFill>
                  <a:srgbClr val="5D5B5C"/>
                </a:solidFill>
                <a:latin typeface="Arial MT"/>
                <a:cs typeface="Arial MT"/>
              </a:rPr>
              <a:t>fault-tolerant</a:t>
            </a:r>
            <a:r>
              <a:rPr sz="2400" spc="-15" dirty="0">
                <a:solidFill>
                  <a:srgbClr val="5D5B5C"/>
                </a:solidFill>
                <a:latin typeface="Arial MT"/>
                <a:cs typeface="Arial MT"/>
              </a:rPr>
              <a:t> </a:t>
            </a:r>
            <a:r>
              <a:rPr sz="2400" spc="-5" dirty="0">
                <a:solidFill>
                  <a:srgbClr val="5D5B5C"/>
                </a:solidFill>
                <a:latin typeface="Arial MT"/>
                <a:cs typeface="Arial MT"/>
              </a:rPr>
              <a:t>distributed</a:t>
            </a:r>
            <a:r>
              <a:rPr sz="2400" spc="15" dirty="0">
                <a:solidFill>
                  <a:srgbClr val="5D5B5C"/>
                </a:solidFill>
                <a:latin typeface="Arial MT"/>
                <a:cs typeface="Arial MT"/>
              </a:rPr>
              <a:t> </a:t>
            </a:r>
            <a:r>
              <a:rPr sz="2400" spc="-5" dirty="0">
                <a:solidFill>
                  <a:srgbClr val="5D5B5C"/>
                </a:solidFill>
                <a:latin typeface="Arial MT"/>
                <a:cs typeface="Arial MT"/>
              </a:rPr>
              <a:t>processing</a:t>
            </a:r>
            <a:endParaRPr sz="2400" dirty="0">
              <a:latin typeface="Arial MT"/>
              <a:cs typeface="Arial MT"/>
            </a:endParaRPr>
          </a:p>
          <a:p>
            <a:pPr marL="812165">
              <a:spcBef>
                <a:spcPts val="210"/>
              </a:spcBef>
            </a:pPr>
            <a:r>
              <a:rPr sz="1600" spc="-5" dirty="0">
                <a:solidFill>
                  <a:srgbClr val="38006A"/>
                </a:solidFill>
                <a:latin typeface="Arial MT"/>
                <a:cs typeface="Arial MT"/>
              </a:rPr>
              <a:t>Programming</a:t>
            </a:r>
            <a:r>
              <a:rPr sz="1600" spc="5" dirty="0">
                <a:solidFill>
                  <a:srgbClr val="38006A"/>
                </a:solidFill>
                <a:latin typeface="Arial MT"/>
                <a:cs typeface="Arial MT"/>
              </a:rPr>
              <a:t> </a:t>
            </a:r>
            <a:r>
              <a:rPr sz="1600" spc="-10" dirty="0">
                <a:solidFill>
                  <a:srgbClr val="38006A"/>
                </a:solidFill>
                <a:latin typeface="Arial MT"/>
                <a:cs typeface="Arial MT"/>
              </a:rPr>
              <a:t>model</a:t>
            </a:r>
            <a:r>
              <a:rPr sz="1600" spc="15" dirty="0">
                <a:solidFill>
                  <a:srgbClr val="38006A"/>
                </a:solidFill>
                <a:latin typeface="Arial MT"/>
                <a:cs typeface="Arial MT"/>
              </a:rPr>
              <a:t> </a:t>
            </a:r>
            <a:r>
              <a:rPr sz="1600" spc="-5" dirty="0">
                <a:solidFill>
                  <a:srgbClr val="38006A"/>
                </a:solidFill>
                <a:latin typeface="Arial MT"/>
                <a:cs typeface="Arial MT"/>
              </a:rPr>
              <a:t>for</a:t>
            </a:r>
            <a:r>
              <a:rPr sz="1600" spc="5" dirty="0">
                <a:solidFill>
                  <a:srgbClr val="38006A"/>
                </a:solidFill>
                <a:latin typeface="Arial MT"/>
                <a:cs typeface="Arial MT"/>
              </a:rPr>
              <a:t> </a:t>
            </a:r>
            <a:r>
              <a:rPr sz="1600" spc="-5" dirty="0">
                <a:solidFill>
                  <a:srgbClr val="38006A"/>
                </a:solidFill>
                <a:latin typeface="Arial MT"/>
                <a:cs typeface="Arial MT"/>
              </a:rPr>
              <a:t>processing sets of</a:t>
            </a:r>
            <a:r>
              <a:rPr sz="1600" spc="10" dirty="0">
                <a:solidFill>
                  <a:srgbClr val="38006A"/>
                </a:solidFill>
                <a:latin typeface="Arial MT"/>
                <a:cs typeface="Arial MT"/>
              </a:rPr>
              <a:t> </a:t>
            </a:r>
            <a:r>
              <a:rPr sz="1600" spc="-10" dirty="0">
                <a:solidFill>
                  <a:srgbClr val="38006A"/>
                </a:solidFill>
                <a:latin typeface="Arial MT"/>
                <a:cs typeface="Arial MT"/>
              </a:rPr>
              <a:t>data</a:t>
            </a:r>
            <a:endParaRPr sz="1600" dirty="0">
              <a:latin typeface="Arial MT"/>
              <a:cs typeface="Arial MT"/>
            </a:endParaRPr>
          </a:p>
          <a:p>
            <a:pPr marL="812165" marR="5080">
              <a:lnSpc>
                <a:spcPts val="1730"/>
              </a:lnSpc>
              <a:spcBef>
                <a:spcPts val="409"/>
              </a:spcBef>
            </a:pPr>
            <a:r>
              <a:rPr sz="1600" spc="-5" dirty="0">
                <a:solidFill>
                  <a:srgbClr val="38006A"/>
                </a:solidFill>
                <a:latin typeface="Arial MT"/>
                <a:cs typeface="Arial MT"/>
              </a:rPr>
              <a:t>Mapping</a:t>
            </a:r>
            <a:r>
              <a:rPr sz="1600" dirty="0">
                <a:solidFill>
                  <a:srgbClr val="38006A"/>
                </a:solidFill>
                <a:latin typeface="Arial MT"/>
                <a:cs typeface="Arial MT"/>
              </a:rPr>
              <a:t> </a:t>
            </a:r>
            <a:r>
              <a:rPr sz="1600" spc="-5" dirty="0">
                <a:solidFill>
                  <a:srgbClr val="38006A"/>
                </a:solidFill>
                <a:latin typeface="Arial MT"/>
                <a:cs typeface="Arial MT"/>
              </a:rPr>
              <a:t>inputs</a:t>
            </a:r>
            <a:r>
              <a:rPr sz="1600" spc="5" dirty="0">
                <a:solidFill>
                  <a:srgbClr val="38006A"/>
                </a:solidFill>
                <a:latin typeface="Arial MT"/>
                <a:cs typeface="Arial MT"/>
              </a:rPr>
              <a:t> </a:t>
            </a:r>
            <a:r>
              <a:rPr sz="1600" spc="-5" dirty="0">
                <a:solidFill>
                  <a:srgbClr val="38006A"/>
                </a:solidFill>
                <a:latin typeface="Arial MT"/>
                <a:cs typeface="Arial MT"/>
              </a:rPr>
              <a:t>to</a:t>
            </a:r>
            <a:r>
              <a:rPr sz="1600" spc="20" dirty="0">
                <a:solidFill>
                  <a:srgbClr val="38006A"/>
                </a:solidFill>
                <a:latin typeface="Arial MT"/>
                <a:cs typeface="Arial MT"/>
              </a:rPr>
              <a:t> </a:t>
            </a:r>
            <a:r>
              <a:rPr sz="1600" spc="-10" dirty="0">
                <a:solidFill>
                  <a:srgbClr val="38006A"/>
                </a:solidFill>
                <a:latin typeface="Arial MT"/>
                <a:cs typeface="Arial MT"/>
              </a:rPr>
              <a:t>outputs</a:t>
            </a:r>
            <a:r>
              <a:rPr sz="1600" spc="20" dirty="0">
                <a:solidFill>
                  <a:srgbClr val="38006A"/>
                </a:solidFill>
                <a:latin typeface="Arial MT"/>
                <a:cs typeface="Arial MT"/>
              </a:rPr>
              <a:t> </a:t>
            </a:r>
            <a:r>
              <a:rPr sz="1600" spc="-10" dirty="0">
                <a:solidFill>
                  <a:srgbClr val="38006A"/>
                </a:solidFill>
                <a:latin typeface="Arial MT"/>
                <a:cs typeface="Arial MT"/>
              </a:rPr>
              <a:t>and</a:t>
            </a:r>
            <a:r>
              <a:rPr sz="1600" spc="5" dirty="0">
                <a:solidFill>
                  <a:srgbClr val="38006A"/>
                </a:solidFill>
                <a:latin typeface="Arial MT"/>
                <a:cs typeface="Arial MT"/>
              </a:rPr>
              <a:t> </a:t>
            </a:r>
            <a:r>
              <a:rPr sz="1600" spc="-5" dirty="0">
                <a:solidFill>
                  <a:srgbClr val="38006A"/>
                </a:solidFill>
                <a:latin typeface="Arial MT"/>
                <a:cs typeface="Arial MT"/>
              </a:rPr>
              <a:t>reducing</a:t>
            </a:r>
            <a:r>
              <a:rPr sz="1600" dirty="0">
                <a:solidFill>
                  <a:srgbClr val="38006A"/>
                </a:solidFill>
                <a:latin typeface="Arial MT"/>
                <a:cs typeface="Arial MT"/>
              </a:rPr>
              <a:t> </a:t>
            </a:r>
            <a:r>
              <a:rPr sz="1600" spc="-5" dirty="0">
                <a:solidFill>
                  <a:srgbClr val="38006A"/>
                </a:solidFill>
                <a:latin typeface="Arial MT"/>
                <a:cs typeface="Arial MT"/>
              </a:rPr>
              <a:t>the</a:t>
            </a:r>
            <a:r>
              <a:rPr sz="1600" spc="20" dirty="0">
                <a:solidFill>
                  <a:srgbClr val="38006A"/>
                </a:solidFill>
                <a:latin typeface="Arial MT"/>
                <a:cs typeface="Arial MT"/>
              </a:rPr>
              <a:t> </a:t>
            </a:r>
            <a:r>
              <a:rPr sz="1600" spc="-10" dirty="0">
                <a:solidFill>
                  <a:srgbClr val="38006A"/>
                </a:solidFill>
                <a:latin typeface="Arial MT"/>
                <a:cs typeface="Arial MT"/>
              </a:rPr>
              <a:t>output</a:t>
            </a:r>
            <a:r>
              <a:rPr sz="1600" spc="15" dirty="0">
                <a:solidFill>
                  <a:srgbClr val="38006A"/>
                </a:solidFill>
                <a:latin typeface="Arial MT"/>
                <a:cs typeface="Arial MT"/>
              </a:rPr>
              <a:t> </a:t>
            </a:r>
            <a:r>
              <a:rPr sz="1600" spc="-5" dirty="0">
                <a:solidFill>
                  <a:srgbClr val="38006A"/>
                </a:solidFill>
                <a:latin typeface="Arial MT"/>
                <a:cs typeface="Arial MT"/>
              </a:rPr>
              <a:t>of</a:t>
            </a:r>
            <a:r>
              <a:rPr sz="1600" spc="20" dirty="0">
                <a:solidFill>
                  <a:srgbClr val="38006A"/>
                </a:solidFill>
                <a:latin typeface="Arial MT"/>
                <a:cs typeface="Arial MT"/>
              </a:rPr>
              <a:t> </a:t>
            </a:r>
            <a:r>
              <a:rPr sz="1600" spc="-5" dirty="0">
                <a:solidFill>
                  <a:srgbClr val="38006A"/>
                </a:solidFill>
                <a:latin typeface="Arial MT"/>
                <a:cs typeface="Arial MT"/>
              </a:rPr>
              <a:t>multiple</a:t>
            </a:r>
            <a:r>
              <a:rPr sz="1600" spc="-10" dirty="0">
                <a:solidFill>
                  <a:srgbClr val="38006A"/>
                </a:solidFill>
                <a:latin typeface="Arial MT"/>
                <a:cs typeface="Arial MT"/>
              </a:rPr>
              <a:t> Mappers</a:t>
            </a:r>
            <a:r>
              <a:rPr sz="1600" spc="20" dirty="0">
                <a:solidFill>
                  <a:srgbClr val="38006A"/>
                </a:solidFill>
                <a:latin typeface="Arial MT"/>
                <a:cs typeface="Arial MT"/>
              </a:rPr>
              <a:t> </a:t>
            </a:r>
            <a:r>
              <a:rPr sz="1600" spc="-5" dirty="0">
                <a:solidFill>
                  <a:srgbClr val="38006A"/>
                </a:solidFill>
                <a:latin typeface="Arial MT"/>
                <a:cs typeface="Arial MT"/>
              </a:rPr>
              <a:t>to</a:t>
            </a:r>
            <a:r>
              <a:rPr sz="1600" spc="20" dirty="0">
                <a:solidFill>
                  <a:srgbClr val="38006A"/>
                </a:solidFill>
                <a:latin typeface="Arial MT"/>
                <a:cs typeface="Arial MT"/>
              </a:rPr>
              <a:t> </a:t>
            </a:r>
            <a:r>
              <a:rPr sz="1600" spc="-10" dirty="0">
                <a:solidFill>
                  <a:srgbClr val="38006A"/>
                </a:solidFill>
                <a:latin typeface="Arial MT"/>
                <a:cs typeface="Arial MT"/>
              </a:rPr>
              <a:t>one</a:t>
            </a:r>
            <a:r>
              <a:rPr sz="1600" spc="15" dirty="0">
                <a:solidFill>
                  <a:srgbClr val="38006A"/>
                </a:solidFill>
                <a:latin typeface="Arial MT"/>
                <a:cs typeface="Arial MT"/>
              </a:rPr>
              <a:t> </a:t>
            </a:r>
            <a:r>
              <a:rPr sz="1600" spc="-10" dirty="0">
                <a:solidFill>
                  <a:srgbClr val="38006A"/>
                </a:solidFill>
                <a:latin typeface="Arial MT"/>
                <a:cs typeface="Arial MT"/>
              </a:rPr>
              <a:t>(or </a:t>
            </a:r>
            <a:r>
              <a:rPr sz="1600" spc="-430" dirty="0">
                <a:solidFill>
                  <a:srgbClr val="38006A"/>
                </a:solidFill>
                <a:latin typeface="Arial MT"/>
                <a:cs typeface="Arial MT"/>
              </a:rPr>
              <a:t> </a:t>
            </a:r>
            <a:r>
              <a:rPr sz="1600" spc="-5" dirty="0">
                <a:solidFill>
                  <a:srgbClr val="38006A"/>
                </a:solidFill>
                <a:latin typeface="Arial MT"/>
                <a:cs typeface="Arial MT"/>
              </a:rPr>
              <a:t>a </a:t>
            </a:r>
            <a:r>
              <a:rPr sz="1600" spc="-10" dirty="0">
                <a:solidFill>
                  <a:srgbClr val="38006A"/>
                </a:solidFill>
                <a:latin typeface="Arial MT"/>
                <a:cs typeface="Arial MT"/>
              </a:rPr>
              <a:t>few)</a:t>
            </a:r>
            <a:r>
              <a:rPr sz="1600" spc="30" dirty="0">
                <a:solidFill>
                  <a:srgbClr val="38006A"/>
                </a:solidFill>
                <a:latin typeface="Arial MT"/>
                <a:cs typeface="Arial MT"/>
              </a:rPr>
              <a:t> </a:t>
            </a:r>
            <a:r>
              <a:rPr sz="1600" spc="-10" dirty="0">
                <a:solidFill>
                  <a:srgbClr val="38006A"/>
                </a:solidFill>
                <a:latin typeface="Arial MT"/>
                <a:cs typeface="Arial MT"/>
              </a:rPr>
              <a:t>answer(s)</a:t>
            </a:r>
            <a:endParaRPr sz="1600" dirty="0">
              <a:latin typeface="Arial MT"/>
              <a:cs typeface="Arial MT"/>
            </a:endParaRPr>
          </a:p>
          <a:p>
            <a:pPr marL="12700" marR="1911985">
              <a:lnSpc>
                <a:spcPts val="3170"/>
              </a:lnSpc>
              <a:spcBef>
                <a:spcPts val="105"/>
              </a:spcBef>
            </a:pPr>
            <a:r>
              <a:rPr sz="2400" spc="-5" dirty="0">
                <a:solidFill>
                  <a:srgbClr val="380069"/>
                </a:solidFill>
                <a:latin typeface="Arial MT"/>
                <a:cs typeface="Arial MT"/>
              </a:rPr>
              <a:t>Operates</a:t>
            </a:r>
            <a:r>
              <a:rPr sz="2400" spc="-10" dirty="0">
                <a:solidFill>
                  <a:srgbClr val="380069"/>
                </a:solidFill>
                <a:latin typeface="Arial MT"/>
                <a:cs typeface="Arial MT"/>
              </a:rPr>
              <a:t> </a:t>
            </a:r>
            <a:r>
              <a:rPr sz="2400" spc="-5" dirty="0">
                <a:solidFill>
                  <a:srgbClr val="380069"/>
                </a:solidFill>
                <a:latin typeface="Arial MT"/>
                <a:cs typeface="Arial MT"/>
              </a:rPr>
              <a:t>on</a:t>
            </a:r>
            <a:r>
              <a:rPr sz="2400" dirty="0">
                <a:solidFill>
                  <a:srgbClr val="380069"/>
                </a:solidFill>
                <a:latin typeface="Arial MT"/>
                <a:cs typeface="Arial MT"/>
              </a:rPr>
              <a:t> </a:t>
            </a:r>
            <a:r>
              <a:rPr sz="2400" spc="-5" dirty="0">
                <a:solidFill>
                  <a:srgbClr val="380069"/>
                </a:solidFill>
                <a:latin typeface="Arial MT"/>
                <a:cs typeface="Arial MT"/>
              </a:rPr>
              <a:t>unstructured</a:t>
            </a:r>
            <a:r>
              <a:rPr sz="2400" spc="5" dirty="0">
                <a:solidFill>
                  <a:srgbClr val="380069"/>
                </a:solidFill>
                <a:latin typeface="Arial MT"/>
                <a:cs typeface="Arial MT"/>
              </a:rPr>
              <a:t> </a:t>
            </a:r>
            <a:r>
              <a:rPr sz="2400" spc="-5" dirty="0">
                <a:solidFill>
                  <a:srgbClr val="380069"/>
                </a:solidFill>
                <a:latin typeface="Arial MT"/>
                <a:cs typeface="Arial MT"/>
              </a:rPr>
              <a:t>and</a:t>
            </a:r>
            <a:r>
              <a:rPr sz="2400" spc="15" dirty="0">
                <a:solidFill>
                  <a:srgbClr val="380069"/>
                </a:solidFill>
                <a:latin typeface="Arial MT"/>
                <a:cs typeface="Arial MT"/>
              </a:rPr>
              <a:t> </a:t>
            </a:r>
            <a:r>
              <a:rPr sz="2400" spc="-5" dirty="0">
                <a:solidFill>
                  <a:srgbClr val="380069"/>
                </a:solidFill>
                <a:latin typeface="Arial MT"/>
                <a:cs typeface="Arial MT"/>
              </a:rPr>
              <a:t>structured</a:t>
            </a:r>
            <a:r>
              <a:rPr sz="2400" spc="-15" dirty="0">
                <a:solidFill>
                  <a:srgbClr val="380069"/>
                </a:solidFill>
                <a:latin typeface="Arial MT"/>
                <a:cs typeface="Arial MT"/>
              </a:rPr>
              <a:t> </a:t>
            </a:r>
            <a:r>
              <a:rPr sz="2400" spc="-5" dirty="0">
                <a:solidFill>
                  <a:srgbClr val="380069"/>
                </a:solidFill>
                <a:latin typeface="Arial MT"/>
                <a:cs typeface="Arial MT"/>
              </a:rPr>
              <a:t>data </a:t>
            </a:r>
            <a:r>
              <a:rPr sz="2400" spc="-655" dirty="0">
                <a:solidFill>
                  <a:srgbClr val="380069"/>
                </a:solidFill>
                <a:latin typeface="Arial MT"/>
                <a:cs typeface="Arial MT"/>
              </a:rPr>
              <a:t> </a:t>
            </a:r>
            <a:r>
              <a:rPr sz="2400" dirty="0">
                <a:solidFill>
                  <a:srgbClr val="380069"/>
                </a:solidFill>
                <a:latin typeface="Arial MT"/>
                <a:cs typeface="Arial MT"/>
              </a:rPr>
              <a:t>A</a:t>
            </a:r>
            <a:r>
              <a:rPr sz="2400" spc="-5" dirty="0">
                <a:solidFill>
                  <a:srgbClr val="380069"/>
                </a:solidFill>
                <a:latin typeface="Arial MT"/>
                <a:cs typeface="Arial MT"/>
              </a:rPr>
              <a:t> large</a:t>
            </a:r>
            <a:r>
              <a:rPr sz="2400" spc="10" dirty="0">
                <a:solidFill>
                  <a:srgbClr val="380069"/>
                </a:solidFill>
                <a:latin typeface="Arial MT"/>
                <a:cs typeface="Arial MT"/>
              </a:rPr>
              <a:t> </a:t>
            </a:r>
            <a:r>
              <a:rPr sz="2400" spc="-5" dirty="0">
                <a:solidFill>
                  <a:srgbClr val="380069"/>
                </a:solidFill>
                <a:latin typeface="Arial MT"/>
                <a:cs typeface="Arial MT"/>
              </a:rPr>
              <a:t>and active</a:t>
            </a:r>
            <a:r>
              <a:rPr sz="2400" dirty="0">
                <a:solidFill>
                  <a:srgbClr val="380069"/>
                </a:solidFill>
                <a:latin typeface="Arial MT"/>
                <a:cs typeface="Arial MT"/>
              </a:rPr>
              <a:t> </a:t>
            </a:r>
            <a:r>
              <a:rPr sz="2400" spc="-5" dirty="0">
                <a:solidFill>
                  <a:srgbClr val="380069"/>
                </a:solidFill>
                <a:latin typeface="Arial MT"/>
                <a:cs typeface="Arial MT"/>
              </a:rPr>
              <a:t>ecosystem</a:t>
            </a:r>
            <a:endParaRPr sz="2400" dirty="0">
              <a:latin typeface="Arial MT"/>
              <a:cs typeface="Arial MT"/>
            </a:endParaRPr>
          </a:p>
          <a:p>
            <a:pPr marL="12700">
              <a:spcBef>
                <a:spcPts val="130"/>
              </a:spcBef>
            </a:pPr>
            <a:r>
              <a:rPr sz="2400" spc="-5" dirty="0">
                <a:solidFill>
                  <a:srgbClr val="380069"/>
                </a:solidFill>
                <a:latin typeface="Arial MT"/>
                <a:cs typeface="Arial MT"/>
              </a:rPr>
              <a:t>Open</a:t>
            </a:r>
            <a:r>
              <a:rPr sz="2400" spc="-10" dirty="0">
                <a:solidFill>
                  <a:srgbClr val="380069"/>
                </a:solidFill>
                <a:latin typeface="Arial MT"/>
                <a:cs typeface="Arial MT"/>
              </a:rPr>
              <a:t> </a:t>
            </a:r>
            <a:r>
              <a:rPr sz="2400" spc="-5" dirty="0">
                <a:solidFill>
                  <a:srgbClr val="380069"/>
                </a:solidFill>
                <a:latin typeface="Arial MT"/>
                <a:cs typeface="Arial MT"/>
              </a:rPr>
              <a:t>source under</a:t>
            </a:r>
            <a:r>
              <a:rPr sz="2400" spc="15" dirty="0">
                <a:solidFill>
                  <a:srgbClr val="380069"/>
                </a:solidFill>
                <a:latin typeface="Arial MT"/>
                <a:cs typeface="Arial MT"/>
              </a:rPr>
              <a:t> </a:t>
            </a:r>
            <a:r>
              <a:rPr sz="2400" dirty="0">
                <a:solidFill>
                  <a:srgbClr val="380069"/>
                </a:solidFill>
                <a:latin typeface="Arial MT"/>
                <a:cs typeface="Arial MT"/>
              </a:rPr>
              <a:t>the</a:t>
            </a:r>
            <a:r>
              <a:rPr sz="2400" spc="-20" dirty="0">
                <a:solidFill>
                  <a:srgbClr val="380069"/>
                </a:solidFill>
                <a:latin typeface="Arial MT"/>
                <a:cs typeface="Arial MT"/>
              </a:rPr>
              <a:t> </a:t>
            </a:r>
            <a:r>
              <a:rPr sz="2400" spc="-5" dirty="0">
                <a:solidFill>
                  <a:srgbClr val="380069"/>
                </a:solidFill>
                <a:latin typeface="Arial MT"/>
                <a:cs typeface="Arial MT"/>
              </a:rPr>
              <a:t>friendly</a:t>
            </a:r>
            <a:r>
              <a:rPr sz="2400" spc="10" dirty="0">
                <a:solidFill>
                  <a:srgbClr val="380069"/>
                </a:solidFill>
                <a:latin typeface="Arial MT"/>
                <a:cs typeface="Arial MT"/>
              </a:rPr>
              <a:t> </a:t>
            </a:r>
            <a:r>
              <a:rPr sz="2400" spc="-5" dirty="0">
                <a:solidFill>
                  <a:srgbClr val="380069"/>
                </a:solidFill>
                <a:latin typeface="Arial MT"/>
                <a:cs typeface="Arial MT"/>
              </a:rPr>
              <a:t>Apache</a:t>
            </a:r>
            <a:r>
              <a:rPr sz="2400" spc="20" dirty="0">
                <a:solidFill>
                  <a:srgbClr val="380069"/>
                </a:solidFill>
                <a:latin typeface="Arial MT"/>
                <a:cs typeface="Arial MT"/>
              </a:rPr>
              <a:t> </a:t>
            </a:r>
            <a:r>
              <a:rPr sz="2400" spc="-5" dirty="0">
                <a:solidFill>
                  <a:srgbClr val="380069"/>
                </a:solidFill>
                <a:latin typeface="Arial MT"/>
                <a:cs typeface="Arial MT"/>
              </a:rPr>
              <a:t>License</a:t>
            </a:r>
            <a:endParaRPr sz="2400" dirty="0">
              <a:latin typeface="Arial MT"/>
              <a:cs typeface="Arial MT"/>
            </a:endParaRPr>
          </a:p>
          <a:p>
            <a:pPr marL="413384">
              <a:spcBef>
                <a:spcPts val="244"/>
              </a:spcBef>
            </a:pPr>
            <a:r>
              <a:rPr sz="2000" u="sng" spc="-5" dirty="0">
                <a:solidFill>
                  <a:srgbClr val="009999"/>
                </a:solidFill>
                <a:uFill>
                  <a:solidFill>
                    <a:srgbClr val="009999"/>
                  </a:solidFill>
                </a:uFill>
                <a:latin typeface="Arial MT"/>
                <a:cs typeface="Arial MT"/>
                <a:hlinkClick r:id="rId5"/>
              </a:rPr>
              <a:t>http://wiki.apache.org/hadoop/</a:t>
            </a:r>
            <a:endParaRPr sz="2000" dirty="0">
              <a:latin typeface="Arial MT"/>
              <a:cs typeface="Arial MT"/>
            </a:endParaRPr>
          </a:p>
        </p:txBody>
      </p:sp>
      <p:pic>
        <p:nvPicPr>
          <p:cNvPr id="15" name="object 15"/>
          <p:cNvPicPr/>
          <p:nvPr/>
        </p:nvPicPr>
        <p:blipFill>
          <a:blip r:embed="rId6" cstate="print"/>
          <a:stretch>
            <a:fillRect/>
          </a:stretch>
        </p:blipFill>
        <p:spPr>
          <a:xfrm>
            <a:off x="8077200" y="5324475"/>
            <a:ext cx="2146300" cy="647700"/>
          </a:xfrm>
          <a:prstGeom prst="rect">
            <a:avLst/>
          </a:prstGeom>
        </p:spPr>
      </p:pic>
      <p:sp>
        <p:nvSpPr>
          <p:cNvPr id="16" name="object 16"/>
          <p:cNvSpPr txBox="1">
            <a:spLocks noGrp="1"/>
          </p:cNvSpPr>
          <p:nvPr>
            <p:ph type="ftr" sz="quarter" idx="5"/>
          </p:nvPr>
        </p:nvSpPr>
        <p:spPr>
          <a:xfrm>
            <a:off x="1524000" y="1"/>
            <a:ext cx="0" cy="276999"/>
          </a:xfrm>
          <a:prstGeom prst="rect">
            <a:avLst/>
          </a:prstGeom>
        </p:spPr>
        <p:txBody>
          <a:bodyPr vert="horz" wrap="square" lIns="0" tIns="0" rIns="0" bIns="0" rtlCol="0">
            <a:spAutoFit/>
          </a:bodyPr>
          <a:lstStyle/>
          <a:p>
            <a:pPr marL="12700"/>
            <a:endParaRPr spc="-10" dirty="0">
              <a:solidFill>
                <a:srgbClr val="818181"/>
              </a:solidFill>
            </a:endParaRPr>
          </a:p>
        </p:txBody>
      </p:sp>
      <p:sp>
        <p:nvSpPr>
          <p:cNvPr id="17" name="object 17"/>
          <p:cNvSpPr txBox="1">
            <a:spLocks noGrp="1"/>
          </p:cNvSpPr>
          <p:nvPr>
            <p:ph type="sldNum" sz="quarter" idx="7"/>
          </p:nvPr>
        </p:nvSpPr>
        <p:spPr>
          <a:xfrm>
            <a:off x="1524000" y="1"/>
            <a:ext cx="0" cy="555921"/>
          </a:xfrm>
          <a:prstGeom prst="rect">
            <a:avLst/>
          </a:prstGeom>
        </p:spPr>
        <p:txBody>
          <a:bodyPr vert="horz" wrap="square" lIns="0" tIns="1905" rIns="0" bIns="0" rtlCol="0">
            <a:spAutoFit/>
          </a:bodyPr>
          <a:lstStyle/>
          <a:p>
            <a:pPr marL="38100">
              <a:spcBef>
                <a:spcPts val="15"/>
              </a:spcBef>
            </a:pPr>
            <a:fld id="{81D60167-4931-47E6-BA6A-407CBD079E47}" type="slidenum">
              <a:rPr spc="-30" dirty="0"/>
              <a:pPr marL="38100">
                <a:spcBef>
                  <a:spcPts val="15"/>
                </a:spcBef>
              </a:pPr>
              <a:t>5</a:t>
            </a:fld>
            <a:endParaRPr spc="-3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22FC-0398-9DDC-B3B1-F8FF018A498A}"/>
              </a:ext>
            </a:extLst>
          </p:cNvPr>
          <p:cNvSpPr>
            <a:spLocks noGrp="1"/>
          </p:cNvSpPr>
          <p:nvPr>
            <p:ph type="title"/>
          </p:nvPr>
        </p:nvSpPr>
        <p:spPr/>
        <p:txBody>
          <a:bodyPr/>
          <a:lstStyle/>
          <a:p>
            <a:r>
              <a:rPr lang="en-IN" dirty="0"/>
              <a:t>Evolution of Hadoop</a:t>
            </a:r>
          </a:p>
        </p:txBody>
      </p:sp>
      <p:sp>
        <p:nvSpPr>
          <p:cNvPr id="3" name="Content Placeholder 2">
            <a:extLst>
              <a:ext uri="{FF2B5EF4-FFF2-40B4-BE49-F238E27FC236}">
                <a16:creationId xmlns:a16="http://schemas.microsoft.com/office/drawing/2014/main" id="{DC70CD55-17E9-88FA-FF82-658F84FA8597}"/>
              </a:ext>
            </a:extLst>
          </p:cNvPr>
          <p:cNvSpPr>
            <a:spLocks noGrp="1"/>
          </p:cNvSpPr>
          <p:nvPr>
            <p:ph idx="1"/>
          </p:nvPr>
        </p:nvSpPr>
        <p:spPr/>
        <p:txBody>
          <a:bodyPr/>
          <a:lstStyle/>
          <a:p>
            <a:endParaRPr lang="en-IN"/>
          </a:p>
        </p:txBody>
      </p:sp>
      <p:pic>
        <p:nvPicPr>
          <p:cNvPr id="4098" name="Picture 2" descr="A short Hadoop ecosystem's history | Download Scientific Diagram">
            <a:extLst>
              <a:ext uri="{FF2B5EF4-FFF2-40B4-BE49-F238E27FC236}">
                <a16:creationId xmlns:a16="http://schemas.microsoft.com/office/drawing/2014/main" id="{1C623FF7-F371-2636-6506-DCA878D9A9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124" y="1447800"/>
            <a:ext cx="11276541" cy="4972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45421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498339" y="6354571"/>
            <a:ext cx="2683510" cy="166071"/>
          </a:xfrm>
          <a:prstGeom prst="rect">
            <a:avLst/>
          </a:prstGeom>
        </p:spPr>
        <p:txBody>
          <a:bodyPr vert="horz" wrap="square" lIns="0" tIns="12065" rIns="0" bIns="0" rtlCol="0">
            <a:spAutoFit/>
          </a:bodyPr>
          <a:lstStyle/>
          <a:p>
            <a:pPr marL="12700">
              <a:spcBef>
                <a:spcPts val="95"/>
              </a:spcBef>
            </a:pPr>
            <a:r>
              <a:rPr sz="1000" spc="-10" dirty="0">
                <a:latin typeface="Arial MT"/>
                <a:cs typeface="Arial MT"/>
              </a:rPr>
              <a:t>Introduction</a:t>
            </a:r>
            <a:r>
              <a:rPr sz="1000" spc="-20" dirty="0">
                <a:latin typeface="Arial MT"/>
                <a:cs typeface="Arial MT"/>
              </a:rPr>
              <a:t> </a:t>
            </a:r>
            <a:r>
              <a:rPr sz="1000" spc="-5" dirty="0">
                <a:latin typeface="Arial MT"/>
                <a:cs typeface="Arial MT"/>
              </a:rPr>
              <a:t>to </a:t>
            </a:r>
            <a:r>
              <a:rPr sz="1000" spc="-10" dirty="0">
                <a:latin typeface="Arial MT"/>
                <a:cs typeface="Arial MT"/>
              </a:rPr>
              <a:t>Analytics</a:t>
            </a:r>
            <a:r>
              <a:rPr sz="1000" spc="40" dirty="0">
                <a:latin typeface="Arial MT"/>
                <a:cs typeface="Arial MT"/>
              </a:rPr>
              <a:t> </a:t>
            </a:r>
            <a:r>
              <a:rPr sz="1000" spc="-10" dirty="0">
                <a:latin typeface="Arial MT"/>
                <a:cs typeface="Arial MT"/>
              </a:rPr>
              <a:t>and Big</a:t>
            </a:r>
            <a:r>
              <a:rPr sz="1000" spc="-5" dirty="0">
                <a:latin typeface="Arial MT"/>
                <a:cs typeface="Arial MT"/>
              </a:rPr>
              <a:t> Data</a:t>
            </a:r>
            <a:r>
              <a:rPr sz="1000" dirty="0">
                <a:latin typeface="Arial MT"/>
                <a:cs typeface="Arial MT"/>
              </a:rPr>
              <a:t> </a:t>
            </a:r>
            <a:r>
              <a:rPr sz="1000" spc="-5" dirty="0">
                <a:latin typeface="Arial MT"/>
                <a:cs typeface="Arial MT"/>
              </a:rPr>
              <a:t>-</a:t>
            </a:r>
            <a:r>
              <a:rPr sz="1000" dirty="0">
                <a:latin typeface="Arial MT"/>
                <a:cs typeface="Arial MT"/>
              </a:rPr>
              <a:t> </a:t>
            </a:r>
            <a:r>
              <a:rPr sz="1000" spc="-10" dirty="0">
                <a:latin typeface="Arial MT"/>
                <a:cs typeface="Arial MT"/>
              </a:rPr>
              <a:t>Hadoop</a:t>
            </a:r>
            <a:endParaRPr sz="1000">
              <a:latin typeface="Arial MT"/>
              <a:cs typeface="Arial MT"/>
            </a:endParaRPr>
          </a:p>
        </p:txBody>
      </p:sp>
      <p:sp>
        <p:nvSpPr>
          <p:cNvPr id="3" name="object 3"/>
          <p:cNvSpPr txBox="1">
            <a:spLocks noGrp="1"/>
          </p:cNvSpPr>
          <p:nvPr>
            <p:ph type="title"/>
          </p:nvPr>
        </p:nvSpPr>
        <p:spPr>
          <a:xfrm>
            <a:off x="1816101" y="168657"/>
            <a:ext cx="6318885" cy="513715"/>
          </a:xfrm>
          <a:prstGeom prst="rect">
            <a:avLst/>
          </a:prstGeom>
        </p:spPr>
        <p:txBody>
          <a:bodyPr vert="horz" wrap="square" lIns="0" tIns="12700" rIns="0" bIns="0" rtlCol="0" anchor="t">
            <a:spAutoFit/>
          </a:bodyPr>
          <a:lstStyle/>
          <a:p>
            <a:pPr marL="12700">
              <a:spcBef>
                <a:spcPts val="100"/>
              </a:spcBef>
            </a:pPr>
            <a:r>
              <a:rPr sz="3200" b="1" spc="110" dirty="0">
                <a:solidFill>
                  <a:srgbClr val="FF0000"/>
                </a:solidFill>
                <a:latin typeface="Trebuchet MS"/>
                <a:cs typeface="Trebuchet MS"/>
              </a:rPr>
              <a:t>Hadoop</a:t>
            </a:r>
            <a:r>
              <a:rPr sz="3200" b="1" spc="-120" dirty="0">
                <a:solidFill>
                  <a:srgbClr val="FF0000"/>
                </a:solidFill>
                <a:latin typeface="Trebuchet MS"/>
                <a:cs typeface="Trebuchet MS"/>
              </a:rPr>
              <a:t> </a:t>
            </a:r>
            <a:r>
              <a:rPr sz="3200" b="1" spc="70" dirty="0">
                <a:solidFill>
                  <a:srgbClr val="FF0000"/>
                </a:solidFill>
                <a:latin typeface="Trebuchet MS"/>
                <a:cs typeface="Trebuchet MS"/>
              </a:rPr>
              <a:t>Adoption</a:t>
            </a:r>
            <a:r>
              <a:rPr sz="3200" b="1" spc="-135" dirty="0">
                <a:solidFill>
                  <a:srgbClr val="FF0000"/>
                </a:solidFill>
                <a:latin typeface="Trebuchet MS"/>
                <a:cs typeface="Trebuchet MS"/>
              </a:rPr>
              <a:t> </a:t>
            </a:r>
            <a:r>
              <a:rPr sz="3200" b="1" spc="-60" dirty="0">
                <a:solidFill>
                  <a:srgbClr val="FF0000"/>
                </a:solidFill>
                <a:latin typeface="Trebuchet MS"/>
                <a:cs typeface="Trebuchet MS"/>
              </a:rPr>
              <a:t>in</a:t>
            </a:r>
            <a:r>
              <a:rPr sz="3200" b="1" spc="-95" dirty="0">
                <a:solidFill>
                  <a:srgbClr val="FF0000"/>
                </a:solidFill>
                <a:latin typeface="Trebuchet MS"/>
                <a:cs typeface="Trebuchet MS"/>
              </a:rPr>
              <a:t> </a:t>
            </a:r>
            <a:r>
              <a:rPr sz="3200" b="1" spc="-25" dirty="0">
                <a:solidFill>
                  <a:srgbClr val="FF0000"/>
                </a:solidFill>
                <a:latin typeface="Trebuchet MS"/>
                <a:cs typeface="Trebuchet MS"/>
              </a:rPr>
              <a:t>the</a:t>
            </a:r>
            <a:r>
              <a:rPr sz="3200" b="1" spc="-95" dirty="0">
                <a:solidFill>
                  <a:srgbClr val="FF0000"/>
                </a:solidFill>
                <a:latin typeface="Trebuchet MS"/>
                <a:cs typeface="Trebuchet MS"/>
              </a:rPr>
              <a:t> </a:t>
            </a:r>
            <a:r>
              <a:rPr sz="3200" b="1" spc="15" dirty="0">
                <a:solidFill>
                  <a:srgbClr val="FF0000"/>
                </a:solidFill>
                <a:latin typeface="Trebuchet MS"/>
                <a:cs typeface="Trebuchet MS"/>
              </a:rPr>
              <a:t>Industry</a:t>
            </a:r>
            <a:endParaRPr sz="3200" dirty="0">
              <a:solidFill>
                <a:srgbClr val="FF0000"/>
              </a:solidFill>
              <a:latin typeface="Trebuchet MS"/>
              <a:cs typeface="Trebuchet MS"/>
            </a:endParaRPr>
          </a:p>
        </p:txBody>
      </p:sp>
      <p:sp>
        <p:nvSpPr>
          <p:cNvPr id="4" name="object 4"/>
          <p:cNvSpPr txBox="1"/>
          <p:nvPr/>
        </p:nvSpPr>
        <p:spPr>
          <a:xfrm>
            <a:off x="2066672" y="1126426"/>
            <a:ext cx="489584" cy="299720"/>
          </a:xfrm>
          <a:prstGeom prst="rect">
            <a:avLst/>
          </a:prstGeom>
        </p:spPr>
        <p:txBody>
          <a:bodyPr vert="horz" wrap="square" lIns="0" tIns="12700" rIns="0" bIns="0" rtlCol="0">
            <a:spAutoFit/>
          </a:bodyPr>
          <a:lstStyle/>
          <a:p>
            <a:pPr marL="12700">
              <a:spcBef>
                <a:spcPts val="100"/>
              </a:spcBef>
            </a:pPr>
            <a:r>
              <a:rPr b="1" dirty="0">
                <a:solidFill>
                  <a:srgbClr val="1C71AB"/>
                </a:solidFill>
                <a:latin typeface="Calibri"/>
                <a:cs typeface="Calibri"/>
              </a:rPr>
              <a:t>2007</a:t>
            </a:r>
            <a:endParaRPr>
              <a:latin typeface="Calibri"/>
              <a:cs typeface="Calibri"/>
            </a:endParaRPr>
          </a:p>
        </p:txBody>
      </p:sp>
      <p:grpSp>
        <p:nvGrpSpPr>
          <p:cNvPr id="5" name="object 5"/>
          <p:cNvGrpSpPr/>
          <p:nvPr/>
        </p:nvGrpSpPr>
        <p:grpSpPr>
          <a:xfrm>
            <a:off x="1714501" y="1573213"/>
            <a:ext cx="1303655" cy="1285875"/>
            <a:chOff x="190500" y="1573212"/>
            <a:chExt cx="1303655" cy="1285875"/>
          </a:xfrm>
        </p:grpSpPr>
        <p:pic>
          <p:nvPicPr>
            <p:cNvPr id="6" name="object 6"/>
            <p:cNvPicPr/>
            <p:nvPr/>
          </p:nvPicPr>
          <p:blipFill>
            <a:blip r:embed="rId2" cstate="print"/>
            <a:stretch>
              <a:fillRect/>
            </a:stretch>
          </p:blipFill>
          <p:spPr>
            <a:xfrm>
              <a:off x="190500" y="1573212"/>
              <a:ext cx="1303337" cy="292099"/>
            </a:xfrm>
            <a:prstGeom prst="rect">
              <a:avLst/>
            </a:prstGeom>
          </p:spPr>
        </p:pic>
        <p:pic>
          <p:nvPicPr>
            <p:cNvPr id="7" name="object 7"/>
            <p:cNvPicPr/>
            <p:nvPr/>
          </p:nvPicPr>
          <p:blipFill>
            <a:blip r:embed="rId3" cstate="print"/>
            <a:stretch>
              <a:fillRect/>
            </a:stretch>
          </p:blipFill>
          <p:spPr>
            <a:xfrm>
              <a:off x="660400" y="1890712"/>
              <a:ext cx="457199" cy="615949"/>
            </a:xfrm>
            <a:prstGeom prst="rect">
              <a:avLst/>
            </a:prstGeom>
          </p:spPr>
        </p:pic>
        <p:pic>
          <p:nvPicPr>
            <p:cNvPr id="8" name="object 8"/>
            <p:cNvPicPr/>
            <p:nvPr/>
          </p:nvPicPr>
          <p:blipFill>
            <a:blip r:embed="rId4" cstate="print"/>
            <a:stretch>
              <a:fillRect/>
            </a:stretch>
          </p:blipFill>
          <p:spPr>
            <a:xfrm>
              <a:off x="419100" y="2538412"/>
              <a:ext cx="825499" cy="320674"/>
            </a:xfrm>
            <a:prstGeom prst="rect">
              <a:avLst/>
            </a:prstGeom>
          </p:spPr>
        </p:pic>
      </p:grpSp>
      <p:sp>
        <p:nvSpPr>
          <p:cNvPr id="9" name="object 9"/>
          <p:cNvSpPr txBox="1"/>
          <p:nvPr/>
        </p:nvSpPr>
        <p:spPr>
          <a:xfrm>
            <a:off x="4090835" y="1101026"/>
            <a:ext cx="489584" cy="299720"/>
          </a:xfrm>
          <a:prstGeom prst="rect">
            <a:avLst/>
          </a:prstGeom>
        </p:spPr>
        <p:txBody>
          <a:bodyPr vert="horz" wrap="square" lIns="0" tIns="12700" rIns="0" bIns="0" rtlCol="0">
            <a:spAutoFit/>
          </a:bodyPr>
          <a:lstStyle/>
          <a:p>
            <a:pPr marL="12700">
              <a:spcBef>
                <a:spcPts val="100"/>
              </a:spcBef>
            </a:pPr>
            <a:r>
              <a:rPr b="1" dirty="0">
                <a:solidFill>
                  <a:srgbClr val="1C71AB"/>
                </a:solidFill>
                <a:latin typeface="Calibri"/>
                <a:cs typeface="Calibri"/>
              </a:rPr>
              <a:t>2008</a:t>
            </a:r>
            <a:endParaRPr>
              <a:latin typeface="Calibri"/>
              <a:cs typeface="Calibri"/>
            </a:endParaRPr>
          </a:p>
        </p:txBody>
      </p:sp>
      <p:sp>
        <p:nvSpPr>
          <p:cNvPr id="10" name="object 10"/>
          <p:cNvSpPr txBox="1"/>
          <p:nvPr/>
        </p:nvSpPr>
        <p:spPr>
          <a:xfrm>
            <a:off x="6541882" y="1101026"/>
            <a:ext cx="489584" cy="299720"/>
          </a:xfrm>
          <a:prstGeom prst="rect">
            <a:avLst/>
          </a:prstGeom>
        </p:spPr>
        <p:txBody>
          <a:bodyPr vert="horz" wrap="square" lIns="0" tIns="12700" rIns="0" bIns="0" rtlCol="0">
            <a:spAutoFit/>
          </a:bodyPr>
          <a:lstStyle/>
          <a:p>
            <a:pPr marL="12700">
              <a:spcBef>
                <a:spcPts val="100"/>
              </a:spcBef>
            </a:pPr>
            <a:r>
              <a:rPr b="1" dirty="0">
                <a:solidFill>
                  <a:srgbClr val="1C71AB"/>
                </a:solidFill>
                <a:latin typeface="Calibri"/>
                <a:cs typeface="Calibri"/>
              </a:rPr>
              <a:t>2009</a:t>
            </a:r>
            <a:endParaRPr>
              <a:latin typeface="Calibri"/>
              <a:cs typeface="Calibri"/>
            </a:endParaRPr>
          </a:p>
        </p:txBody>
      </p:sp>
      <p:grpSp>
        <p:nvGrpSpPr>
          <p:cNvPr id="11" name="object 11"/>
          <p:cNvGrpSpPr/>
          <p:nvPr/>
        </p:nvGrpSpPr>
        <p:grpSpPr>
          <a:xfrm>
            <a:off x="5753100" y="1487489"/>
            <a:ext cx="2120900" cy="2105025"/>
            <a:chOff x="4229100" y="1487488"/>
            <a:chExt cx="2120900" cy="2105025"/>
          </a:xfrm>
        </p:grpSpPr>
        <p:pic>
          <p:nvPicPr>
            <p:cNvPr id="12" name="object 12"/>
            <p:cNvPicPr/>
            <p:nvPr/>
          </p:nvPicPr>
          <p:blipFill>
            <a:blip r:embed="rId5" cstate="print"/>
            <a:stretch>
              <a:fillRect/>
            </a:stretch>
          </p:blipFill>
          <p:spPr>
            <a:xfrm>
              <a:off x="5181587" y="2198559"/>
              <a:ext cx="774852" cy="247600"/>
            </a:xfrm>
            <a:prstGeom prst="rect">
              <a:avLst/>
            </a:prstGeom>
          </p:spPr>
        </p:pic>
        <p:pic>
          <p:nvPicPr>
            <p:cNvPr id="13" name="object 13"/>
            <p:cNvPicPr/>
            <p:nvPr/>
          </p:nvPicPr>
          <p:blipFill>
            <a:blip r:embed="rId6" cstate="print"/>
            <a:stretch>
              <a:fillRect/>
            </a:stretch>
          </p:blipFill>
          <p:spPr>
            <a:xfrm>
              <a:off x="4229100" y="1487488"/>
              <a:ext cx="914399" cy="371410"/>
            </a:xfrm>
            <a:prstGeom prst="rect">
              <a:avLst/>
            </a:prstGeom>
          </p:spPr>
        </p:pic>
        <p:pic>
          <p:nvPicPr>
            <p:cNvPr id="14" name="object 14"/>
            <p:cNvPicPr/>
            <p:nvPr/>
          </p:nvPicPr>
          <p:blipFill>
            <a:blip r:embed="rId7" cstate="print"/>
            <a:stretch>
              <a:fillRect/>
            </a:stretch>
          </p:blipFill>
          <p:spPr>
            <a:xfrm>
              <a:off x="5168900" y="1549262"/>
              <a:ext cx="1092199" cy="278355"/>
            </a:xfrm>
            <a:prstGeom prst="rect">
              <a:avLst/>
            </a:prstGeom>
          </p:spPr>
        </p:pic>
        <p:pic>
          <p:nvPicPr>
            <p:cNvPr id="15" name="object 15"/>
            <p:cNvPicPr/>
            <p:nvPr/>
          </p:nvPicPr>
          <p:blipFill>
            <a:blip r:embed="rId8" cstate="print"/>
            <a:stretch>
              <a:fillRect/>
            </a:stretch>
          </p:blipFill>
          <p:spPr>
            <a:xfrm>
              <a:off x="5437124" y="1879231"/>
              <a:ext cx="792192" cy="254114"/>
            </a:xfrm>
            <a:prstGeom prst="rect">
              <a:avLst/>
            </a:prstGeom>
          </p:spPr>
        </p:pic>
        <p:pic>
          <p:nvPicPr>
            <p:cNvPr id="16" name="object 16"/>
            <p:cNvPicPr/>
            <p:nvPr/>
          </p:nvPicPr>
          <p:blipFill>
            <a:blip r:embed="rId9" cstate="print"/>
            <a:stretch>
              <a:fillRect/>
            </a:stretch>
          </p:blipFill>
          <p:spPr>
            <a:xfrm>
              <a:off x="4254500" y="1867080"/>
              <a:ext cx="1142999" cy="309544"/>
            </a:xfrm>
            <a:prstGeom prst="rect">
              <a:avLst/>
            </a:prstGeom>
          </p:spPr>
        </p:pic>
        <p:pic>
          <p:nvPicPr>
            <p:cNvPr id="17" name="object 17"/>
            <p:cNvPicPr/>
            <p:nvPr/>
          </p:nvPicPr>
          <p:blipFill>
            <a:blip r:embed="rId10" cstate="print"/>
            <a:stretch>
              <a:fillRect/>
            </a:stretch>
          </p:blipFill>
          <p:spPr>
            <a:xfrm>
              <a:off x="4300156" y="2195386"/>
              <a:ext cx="762530" cy="296810"/>
            </a:xfrm>
            <a:prstGeom prst="rect">
              <a:avLst/>
            </a:prstGeom>
          </p:spPr>
        </p:pic>
        <p:pic>
          <p:nvPicPr>
            <p:cNvPr id="18" name="object 18"/>
            <p:cNvPicPr/>
            <p:nvPr/>
          </p:nvPicPr>
          <p:blipFill>
            <a:blip r:embed="rId11" cstate="print"/>
            <a:stretch>
              <a:fillRect/>
            </a:stretch>
          </p:blipFill>
          <p:spPr>
            <a:xfrm>
              <a:off x="5582856" y="2494066"/>
              <a:ext cx="767144" cy="149806"/>
            </a:xfrm>
            <a:prstGeom prst="rect">
              <a:avLst/>
            </a:prstGeom>
          </p:spPr>
        </p:pic>
        <p:pic>
          <p:nvPicPr>
            <p:cNvPr id="19" name="object 19"/>
            <p:cNvPicPr/>
            <p:nvPr/>
          </p:nvPicPr>
          <p:blipFill>
            <a:blip r:embed="rId12" cstate="print"/>
            <a:stretch>
              <a:fillRect/>
            </a:stretch>
          </p:blipFill>
          <p:spPr>
            <a:xfrm>
              <a:off x="5422900" y="2693769"/>
              <a:ext cx="685799" cy="319689"/>
            </a:xfrm>
            <a:prstGeom prst="rect">
              <a:avLst/>
            </a:prstGeom>
          </p:spPr>
        </p:pic>
        <p:pic>
          <p:nvPicPr>
            <p:cNvPr id="20" name="object 20"/>
            <p:cNvPicPr/>
            <p:nvPr/>
          </p:nvPicPr>
          <p:blipFill>
            <a:blip r:embed="rId13" cstate="print"/>
            <a:stretch>
              <a:fillRect/>
            </a:stretch>
          </p:blipFill>
          <p:spPr>
            <a:xfrm>
              <a:off x="4299229" y="2480358"/>
              <a:ext cx="1219199" cy="191874"/>
            </a:xfrm>
            <a:prstGeom prst="rect">
              <a:avLst/>
            </a:prstGeom>
          </p:spPr>
        </p:pic>
        <p:pic>
          <p:nvPicPr>
            <p:cNvPr id="21" name="object 21"/>
            <p:cNvPicPr/>
            <p:nvPr/>
          </p:nvPicPr>
          <p:blipFill>
            <a:blip r:embed="rId14" cstate="print"/>
            <a:stretch>
              <a:fillRect/>
            </a:stretch>
          </p:blipFill>
          <p:spPr>
            <a:xfrm>
              <a:off x="4908550" y="3338168"/>
              <a:ext cx="1206499" cy="253950"/>
            </a:xfrm>
            <a:prstGeom prst="rect">
              <a:avLst/>
            </a:prstGeom>
          </p:spPr>
        </p:pic>
        <p:pic>
          <p:nvPicPr>
            <p:cNvPr id="22" name="object 22"/>
            <p:cNvPicPr/>
            <p:nvPr/>
          </p:nvPicPr>
          <p:blipFill>
            <a:blip r:embed="rId15" cstate="print"/>
            <a:stretch>
              <a:fillRect/>
            </a:stretch>
          </p:blipFill>
          <p:spPr>
            <a:xfrm>
              <a:off x="4292600" y="3036597"/>
              <a:ext cx="990599" cy="307921"/>
            </a:xfrm>
            <a:prstGeom prst="rect">
              <a:avLst/>
            </a:prstGeom>
          </p:spPr>
        </p:pic>
        <p:pic>
          <p:nvPicPr>
            <p:cNvPr id="23" name="object 23"/>
            <p:cNvPicPr/>
            <p:nvPr/>
          </p:nvPicPr>
          <p:blipFill>
            <a:blip r:embed="rId16" cstate="print"/>
            <a:stretch>
              <a:fillRect/>
            </a:stretch>
          </p:blipFill>
          <p:spPr>
            <a:xfrm>
              <a:off x="4287456" y="2738814"/>
              <a:ext cx="1033844" cy="226114"/>
            </a:xfrm>
            <a:prstGeom prst="rect">
              <a:avLst/>
            </a:prstGeom>
          </p:spPr>
        </p:pic>
        <p:pic>
          <p:nvPicPr>
            <p:cNvPr id="24" name="object 24"/>
            <p:cNvPicPr/>
            <p:nvPr/>
          </p:nvPicPr>
          <p:blipFill>
            <a:blip r:embed="rId17" cstate="print"/>
            <a:stretch>
              <a:fillRect/>
            </a:stretch>
          </p:blipFill>
          <p:spPr>
            <a:xfrm>
              <a:off x="5384800" y="3047572"/>
              <a:ext cx="884629" cy="294737"/>
            </a:xfrm>
            <a:prstGeom prst="rect">
              <a:avLst/>
            </a:prstGeom>
          </p:spPr>
        </p:pic>
      </p:grpSp>
      <p:grpSp>
        <p:nvGrpSpPr>
          <p:cNvPr id="25" name="object 25"/>
          <p:cNvGrpSpPr/>
          <p:nvPr/>
        </p:nvGrpSpPr>
        <p:grpSpPr>
          <a:xfrm>
            <a:off x="5769103" y="3406363"/>
            <a:ext cx="2257425" cy="1924050"/>
            <a:chOff x="4245102" y="3406363"/>
            <a:chExt cx="2257425" cy="1924050"/>
          </a:xfrm>
        </p:grpSpPr>
        <p:pic>
          <p:nvPicPr>
            <p:cNvPr id="26" name="object 26"/>
            <p:cNvPicPr/>
            <p:nvPr/>
          </p:nvPicPr>
          <p:blipFill>
            <a:blip r:embed="rId18" cstate="print"/>
            <a:stretch>
              <a:fillRect/>
            </a:stretch>
          </p:blipFill>
          <p:spPr>
            <a:xfrm>
              <a:off x="4274312" y="4074643"/>
              <a:ext cx="1408175" cy="349172"/>
            </a:xfrm>
            <a:prstGeom prst="rect">
              <a:avLst/>
            </a:prstGeom>
          </p:spPr>
        </p:pic>
        <p:pic>
          <p:nvPicPr>
            <p:cNvPr id="27" name="object 27"/>
            <p:cNvPicPr/>
            <p:nvPr/>
          </p:nvPicPr>
          <p:blipFill>
            <a:blip r:embed="rId19" cstate="print"/>
            <a:stretch>
              <a:fillRect/>
            </a:stretch>
          </p:blipFill>
          <p:spPr>
            <a:xfrm>
              <a:off x="4245102" y="4433544"/>
              <a:ext cx="1571497" cy="243725"/>
            </a:xfrm>
            <a:prstGeom prst="rect">
              <a:avLst/>
            </a:prstGeom>
          </p:spPr>
        </p:pic>
        <p:pic>
          <p:nvPicPr>
            <p:cNvPr id="28" name="object 28"/>
            <p:cNvPicPr/>
            <p:nvPr/>
          </p:nvPicPr>
          <p:blipFill>
            <a:blip r:embed="rId20" cstate="print"/>
            <a:stretch>
              <a:fillRect/>
            </a:stretch>
          </p:blipFill>
          <p:spPr>
            <a:xfrm>
              <a:off x="4791075" y="5070731"/>
              <a:ext cx="911225" cy="250441"/>
            </a:xfrm>
            <a:prstGeom prst="rect">
              <a:avLst/>
            </a:prstGeom>
          </p:spPr>
        </p:pic>
        <p:pic>
          <p:nvPicPr>
            <p:cNvPr id="29" name="object 29"/>
            <p:cNvPicPr/>
            <p:nvPr/>
          </p:nvPicPr>
          <p:blipFill>
            <a:blip r:embed="rId21" cstate="print"/>
            <a:stretch>
              <a:fillRect/>
            </a:stretch>
          </p:blipFill>
          <p:spPr>
            <a:xfrm>
              <a:off x="4248238" y="5025344"/>
              <a:ext cx="501548" cy="304807"/>
            </a:xfrm>
            <a:prstGeom prst="rect">
              <a:avLst/>
            </a:prstGeom>
          </p:spPr>
        </p:pic>
        <p:pic>
          <p:nvPicPr>
            <p:cNvPr id="30" name="object 30"/>
            <p:cNvPicPr/>
            <p:nvPr/>
          </p:nvPicPr>
          <p:blipFill>
            <a:blip r:embed="rId22" cstate="print"/>
            <a:stretch>
              <a:fillRect/>
            </a:stretch>
          </p:blipFill>
          <p:spPr>
            <a:xfrm>
              <a:off x="5641975" y="4700009"/>
              <a:ext cx="860424" cy="300958"/>
            </a:xfrm>
            <a:prstGeom prst="rect">
              <a:avLst/>
            </a:prstGeom>
          </p:spPr>
        </p:pic>
        <p:pic>
          <p:nvPicPr>
            <p:cNvPr id="31" name="object 31"/>
            <p:cNvPicPr/>
            <p:nvPr/>
          </p:nvPicPr>
          <p:blipFill>
            <a:blip r:embed="rId23" cstate="print"/>
            <a:stretch>
              <a:fillRect/>
            </a:stretch>
          </p:blipFill>
          <p:spPr>
            <a:xfrm>
              <a:off x="5314950" y="3758620"/>
              <a:ext cx="1060452" cy="198800"/>
            </a:xfrm>
            <a:prstGeom prst="rect">
              <a:avLst/>
            </a:prstGeom>
          </p:spPr>
        </p:pic>
        <p:pic>
          <p:nvPicPr>
            <p:cNvPr id="32" name="object 32"/>
            <p:cNvPicPr/>
            <p:nvPr/>
          </p:nvPicPr>
          <p:blipFill>
            <a:blip r:embed="rId24" cstate="print"/>
            <a:stretch>
              <a:fillRect/>
            </a:stretch>
          </p:blipFill>
          <p:spPr>
            <a:xfrm>
              <a:off x="5705475" y="3978859"/>
              <a:ext cx="622957" cy="490829"/>
            </a:xfrm>
            <a:prstGeom prst="rect">
              <a:avLst/>
            </a:prstGeom>
          </p:spPr>
        </p:pic>
        <p:pic>
          <p:nvPicPr>
            <p:cNvPr id="33" name="object 33"/>
            <p:cNvPicPr/>
            <p:nvPr/>
          </p:nvPicPr>
          <p:blipFill>
            <a:blip r:embed="rId25" cstate="print"/>
            <a:stretch>
              <a:fillRect/>
            </a:stretch>
          </p:blipFill>
          <p:spPr>
            <a:xfrm>
              <a:off x="4260850" y="4703165"/>
              <a:ext cx="1314449" cy="295795"/>
            </a:xfrm>
            <a:prstGeom prst="rect">
              <a:avLst/>
            </a:prstGeom>
          </p:spPr>
        </p:pic>
        <p:pic>
          <p:nvPicPr>
            <p:cNvPr id="34" name="object 34"/>
            <p:cNvPicPr/>
            <p:nvPr/>
          </p:nvPicPr>
          <p:blipFill>
            <a:blip r:embed="rId26" cstate="print"/>
            <a:stretch>
              <a:fillRect/>
            </a:stretch>
          </p:blipFill>
          <p:spPr>
            <a:xfrm>
              <a:off x="4321018" y="3406363"/>
              <a:ext cx="530485" cy="227030"/>
            </a:xfrm>
            <a:prstGeom prst="rect">
              <a:avLst/>
            </a:prstGeom>
          </p:spPr>
        </p:pic>
        <p:pic>
          <p:nvPicPr>
            <p:cNvPr id="35" name="object 35"/>
            <p:cNvPicPr/>
            <p:nvPr/>
          </p:nvPicPr>
          <p:blipFill>
            <a:blip r:embed="rId27" cstate="print"/>
            <a:stretch>
              <a:fillRect/>
            </a:stretch>
          </p:blipFill>
          <p:spPr>
            <a:xfrm>
              <a:off x="4299889" y="3671484"/>
              <a:ext cx="967193" cy="353792"/>
            </a:xfrm>
            <a:prstGeom prst="rect">
              <a:avLst/>
            </a:prstGeom>
          </p:spPr>
        </p:pic>
      </p:grpSp>
      <p:pic>
        <p:nvPicPr>
          <p:cNvPr id="36" name="object 36"/>
          <p:cNvPicPr/>
          <p:nvPr/>
        </p:nvPicPr>
        <p:blipFill>
          <a:blip r:embed="rId28" cstate="print"/>
          <a:stretch>
            <a:fillRect/>
          </a:stretch>
        </p:blipFill>
        <p:spPr>
          <a:xfrm>
            <a:off x="7277101" y="5114452"/>
            <a:ext cx="647699" cy="244059"/>
          </a:xfrm>
          <a:prstGeom prst="rect">
            <a:avLst/>
          </a:prstGeom>
        </p:spPr>
      </p:pic>
      <p:pic>
        <p:nvPicPr>
          <p:cNvPr id="37" name="object 37"/>
          <p:cNvPicPr/>
          <p:nvPr/>
        </p:nvPicPr>
        <p:blipFill>
          <a:blip r:embed="rId29" cstate="print"/>
          <a:stretch>
            <a:fillRect/>
          </a:stretch>
        </p:blipFill>
        <p:spPr>
          <a:xfrm>
            <a:off x="5767045" y="5791114"/>
            <a:ext cx="1430337" cy="363622"/>
          </a:xfrm>
          <a:prstGeom prst="rect">
            <a:avLst/>
          </a:prstGeom>
        </p:spPr>
      </p:pic>
      <p:pic>
        <p:nvPicPr>
          <p:cNvPr id="38" name="object 38"/>
          <p:cNvPicPr/>
          <p:nvPr/>
        </p:nvPicPr>
        <p:blipFill>
          <a:blip r:embed="rId30" cstate="print"/>
          <a:stretch>
            <a:fillRect/>
          </a:stretch>
        </p:blipFill>
        <p:spPr>
          <a:xfrm>
            <a:off x="5784850" y="5406034"/>
            <a:ext cx="888536" cy="308023"/>
          </a:xfrm>
          <a:prstGeom prst="rect">
            <a:avLst/>
          </a:prstGeom>
        </p:spPr>
      </p:pic>
      <p:pic>
        <p:nvPicPr>
          <p:cNvPr id="39" name="object 39"/>
          <p:cNvPicPr/>
          <p:nvPr/>
        </p:nvPicPr>
        <p:blipFill>
          <a:blip r:embed="rId31" cstate="print"/>
          <a:stretch>
            <a:fillRect/>
          </a:stretch>
        </p:blipFill>
        <p:spPr>
          <a:xfrm>
            <a:off x="6724015" y="5447538"/>
            <a:ext cx="1197610" cy="261932"/>
          </a:xfrm>
          <a:prstGeom prst="rect">
            <a:avLst/>
          </a:prstGeom>
        </p:spPr>
      </p:pic>
      <p:grpSp>
        <p:nvGrpSpPr>
          <p:cNvPr id="40" name="object 40"/>
          <p:cNvGrpSpPr/>
          <p:nvPr/>
        </p:nvGrpSpPr>
        <p:grpSpPr>
          <a:xfrm>
            <a:off x="3327400" y="1560514"/>
            <a:ext cx="2171700" cy="2508250"/>
            <a:chOff x="1803400" y="1560514"/>
            <a:chExt cx="2171700" cy="2508250"/>
          </a:xfrm>
        </p:grpSpPr>
        <p:pic>
          <p:nvPicPr>
            <p:cNvPr id="41" name="object 41"/>
            <p:cNvPicPr/>
            <p:nvPr/>
          </p:nvPicPr>
          <p:blipFill>
            <a:blip r:embed="rId32" cstate="print"/>
            <a:stretch>
              <a:fillRect/>
            </a:stretch>
          </p:blipFill>
          <p:spPr>
            <a:xfrm>
              <a:off x="1841500" y="2519756"/>
              <a:ext cx="1344612" cy="273151"/>
            </a:xfrm>
            <a:prstGeom prst="rect">
              <a:avLst/>
            </a:prstGeom>
          </p:spPr>
        </p:pic>
        <p:pic>
          <p:nvPicPr>
            <p:cNvPr id="42" name="object 42"/>
            <p:cNvPicPr/>
            <p:nvPr/>
          </p:nvPicPr>
          <p:blipFill>
            <a:blip r:embed="rId33" cstate="print"/>
            <a:stretch>
              <a:fillRect/>
            </a:stretch>
          </p:blipFill>
          <p:spPr>
            <a:xfrm>
              <a:off x="3225800" y="2564218"/>
              <a:ext cx="358774" cy="292214"/>
            </a:xfrm>
            <a:prstGeom prst="rect">
              <a:avLst/>
            </a:prstGeom>
          </p:spPr>
        </p:pic>
        <p:pic>
          <p:nvPicPr>
            <p:cNvPr id="43" name="object 43"/>
            <p:cNvPicPr/>
            <p:nvPr/>
          </p:nvPicPr>
          <p:blipFill>
            <a:blip r:embed="rId34" cstate="print"/>
            <a:stretch>
              <a:fillRect/>
            </a:stretch>
          </p:blipFill>
          <p:spPr>
            <a:xfrm>
              <a:off x="1879600" y="2203715"/>
              <a:ext cx="711199" cy="313310"/>
            </a:xfrm>
            <a:prstGeom prst="rect">
              <a:avLst/>
            </a:prstGeom>
          </p:spPr>
        </p:pic>
        <p:pic>
          <p:nvPicPr>
            <p:cNvPr id="44" name="object 44"/>
            <p:cNvPicPr/>
            <p:nvPr/>
          </p:nvPicPr>
          <p:blipFill>
            <a:blip r:embed="rId35" cstate="print"/>
            <a:stretch>
              <a:fillRect/>
            </a:stretch>
          </p:blipFill>
          <p:spPr>
            <a:xfrm>
              <a:off x="1892300" y="3266186"/>
              <a:ext cx="1600199" cy="223926"/>
            </a:xfrm>
            <a:prstGeom prst="rect">
              <a:avLst/>
            </a:prstGeom>
          </p:spPr>
        </p:pic>
        <p:pic>
          <p:nvPicPr>
            <p:cNvPr id="45" name="object 45"/>
            <p:cNvPicPr/>
            <p:nvPr/>
          </p:nvPicPr>
          <p:blipFill>
            <a:blip r:embed="rId36" cstate="print"/>
            <a:stretch>
              <a:fillRect/>
            </a:stretch>
          </p:blipFill>
          <p:spPr>
            <a:xfrm>
              <a:off x="1892300" y="2784970"/>
              <a:ext cx="430212" cy="438327"/>
            </a:xfrm>
            <a:prstGeom prst="rect">
              <a:avLst/>
            </a:prstGeom>
          </p:spPr>
        </p:pic>
        <p:pic>
          <p:nvPicPr>
            <p:cNvPr id="46" name="object 46"/>
            <p:cNvPicPr/>
            <p:nvPr/>
          </p:nvPicPr>
          <p:blipFill>
            <a:blip r:embed="rId37" cstate="print"/>
            <a:stretch>
              <a:fillRect/>
            </a:stretch>
          </p:blipFill>
          <p:spPr>
            <a:xfrm>
              <a:off x="2989262" y="1879739"/>
              <a:ext cx="985837" cy="304914"/>
            </a:xfrm>
            <a:prstGeom prst="rect">
              <a:avLst/>
            </a:prstGeom>
          </p:spPr>
        </p:pic>
        <p:pic>
          <p:nvPicPr>
            <p:cNvPr id="47" name="object 47"/>
            <p:cNvPicPr/>
            <p:nvPr/>
          </p:nvPicPr>
          <p:blipFill>
            <a:blip r:embed="rId38" cstate="print"/>
            <a:stretch>
              <a:fillRect/>
            </a:stretch>
          </p:blipFill>
          <p:spPr>
            <a:xfrm>
              <a:off x="1879600" y="1560514"/>
              <a:ext cx="1003299" cy="400034"/>
            </a:xfrm>
            <a:prstGeom prst="rect">
              <a:avLst/>
            </a:prstGeom>
          </p:spPr>
        </p:pic>
        <p:pic>
          <p:nvPicPr>
            <p:cNvPr id="48" name="object 48"/>
            <p:cNvPicPr/>
            <p:nvPr/>
          </p:nvPicPr>
          <p:blipFill>
            <a:blip r:embed="rId39" cstate="print"/>
            <a:stretch>
              <a:fillRect/>
            </a:stretch>
          </p:blipFill>
          <p:spPr>
            <a:xfrm>
              <a:off x="1803400" y="1916267"/>
              <a:ext cx="1219199" cy="323974"/>
            </a:xfrm>
            <a:prstGeom prst="rect">
              <a:avLst/>
            </a:prstGeom>
          </p:spPr>
        </p:pic>
        <p:pic>
          <p:nvPicPr>
            <p:cNvPr id="49" name="object 49"/>
            <p:cNvPicPr/>
            <p:nvPr/>
          </p:nvPicPr>
          <p:blipFill>
            <a:blip r:embed="rId40" cstate="print"/>
            <a:stretch>
              <a:fillRect/>
            </a:stretch>
          </p:blipFill>
          <p:spPr>
            <a:xfrm>
              <a:off x="3190875" y="3485349"/>
              <a:ext cx="552449" cy="269976"/>
            </a:xfrm>
            <a:prstGeom prst="rect">
              <a:avLst/>
            </a:prstGeom>
          </p:spPr>
        </p:pic>
        <p:pic>
          <p:nvPicPr>
            <p:cNvPr id="50" name="object 50"/>
            <p:cNvPicPr/>
            <p:nvPr/>
          </p:nvPicPr>
          <p:blipFill>
            <a:blip r:embed="rId41" cstate="print"/>
            <a:stretch>
              <a:fillRect/>
            </a:stretch>
          </p:blipFill>
          <p:spPr>
            <a:xfrm>
              <a:off x="2374900" y="2802445"/>
              <a:ext cx="730249" cy="301739"/>
            </a:xfrm>
            <a:prstGeom prst="rect">
              <a:avLst/>
            </a:prstGeom>
          </p:spPr>
        </p:pic>
        <p:pic>
          <p:nvPicPr>
            <p:cNvPr id="51" name="object 51"/>
            <p:cNvPicPr/>
            <p:nvPr/>
          </p:nvPicPr>
          <p:blipFill>
            <a:blip r:embed="rId42" cstate="print"/>
            <a:stretch>
              <a:fillRect/>
            </a:stretch>
          </p:blipFill>
          <p:spPr>
            <a:xfrm>
              <a:off x="2755900" y="3760091"/>
              <a:ext cx="660399" cy="304924"/>
            </a:xfrm>
            <a:prstGeom prst="rect">
              <a:avLst/>
            </a:prstGeom>
          </p:spPr>
        </p:pic>
        <p:pic>
          <p:nvPicPr>
            <p:cNvPr id="52" name="object 52"/>
            <p:cNvPicPr/>
            <p:nvPr/>
          </p:nvPicPr>
          <p:blipFill>
            <a:blip r:embed="rId43" cstate="print"/>
            <a:stretch>
              <a:fillRect/>
            </a:stretch>
          </p:blipFill>
          <p:spPr>
            <a:xfrm>
              <a:off x="3184525" y="2918372"/>
              <a:ext cx="739774" cy="247750"/>
            </a:xfrm>
            <a:prstGeom prst="rect">
              <a:avLst/>
            </a:prstGeom>
          </p:spPr>
        </p:pic>
        <p:pic>
          <p:nvPicPr>
            <p:cNvPr id="53" name="object 53"/>
            <p:cNvPicPr/>
            <p:nvPr/>
          </p:nvPicPr>
          <p:blipFill>
            <a:blip r:embed="rId44" cstate="print"/>
            <a:stretch>
              <a:fillRect/>
            </a:stretch>
          </p:blipFill>
          <p:spPr>
            <a:xfrm>
              <a:off x="1863725" y="3526633"/>
              <a:ext cx="1263634" cy="212805"/>
            </a:xfrm>
            <a:prstGeom prst="rect">
              <a:avLst/>
            </a:prstGeom>
          </p:spPr>
        </p:pic>
        <p:pic>
          <p:nvPicPr>
            <p:cNvPr id="54" name="object 54"/>
            <p:cNvPicPr/>
            <p:nvPr/>
          </p:nvPicPr>
          <p:blipFill>
            <a:blip r:embed="rId45" cstate="print"/>
            <a:stretch>
              <a:fillRect/>
            </a:stretch>
          </p:blipFill>
          <p:spPr>
            <a:xfrm>
              <a:off x="1841500" y="3783914"/>
              <a:ext cx="996949" cy="284276"/>
            </a:xfrm>
            <a:prstGeom prst="rect">
              <a:avLst/>
            </a:prstGeom>
          </p:spPr>
        </p:pic>
        <p:pic>
          <p:nvPicPr>
            <p:cNvPr id="55" name="object 55"/>
            <p:cNvPicPr/>
            <p:nvPr/>
          </p:nvPicPr>
          <p:blipFill>
            <a:blip r:embed="rId46" cstate="print"/>
            <a:stretch>
              <a:fillRect/>
            </a:stretch>
          </p:blipFill>
          <p:spPr>
            <a:xfrm>
              <a:off x="2663825" y="2210060"/>
              <a:ext cx="1057274" cy="305466"/>
            </a:xfrm>
            <a:prstGeom prst="rect">
              <a:avLst/>
            </a:prstGeom>
          </p:spPr>
        </p:pic>
      </p:grpSp>
      <p:pic>
        <p:nvPicPr>
          <p:cNvPr id="56" name="object 56"/>
          <p:cNvPicPr/>
          <p:nvPr/>
        </p:nvPicPr>
        <p:blipFill>
          <a:blip r:embed="rId47" cstate="print"/>
          <a:stretch>
            <a:fillRect/>
          </a:stretch>
        </p:blipFill>
        <p:spPr>
          <a:xfrm>
            <a:off x="4527551" y="1576397"/>
            <a:ext cx="761999" cy="255678"/>
          </a:xfrm>
          <a:prstGeom prst="rect">
            <a:avLst/>
          </a:prstGeom>
        </p:spPr>
      </p:pic>
      <p:pic>
        <p:nvPicPr>
          <p:cNvPr id="57" name="object 57"/>
          <p:cNvPicPr/>
          <p:nvPr/>
        </p:nvPicPr>
        <p:blipFill>
          <a:blip r:embed="rId48" cstate="print"/>
          <a:stretch>
            <a:fillRect/>
          </a:stretch>
        </p:blipFill>
        <p:spPr>
          <a:xfrm>
            <a:off x="3416301" y="4128543"/>
            <a:ext cx="1981199" cy="249336"/>
          </a:xfrm>
          <a:prstGeom prst="rect">
            <a:avLst/>
          </a:prstGeom>
        </p:spPr>
      </p:pic>
      <p:pic>
        <p:nvPicPr>
          <p:cNvPr id="58" name="object 58"/>
          <p:cNvPicPr/>
          <p:nvPr/>
        </p:nvPicPr>
        <p:blipFill>
          <a:blip r:embed="rId49" cstate="print"/>
          <a:stretch>
            <a:fillRect/>
          </a:stretch>
        </p:blipFill>
        <p:spPr>
          <a:xfrm>
            <a:off x="3336926" y="4809857"/>
            <a:ext cx="1054099" cy="254102"/>
          </a:xfrm>
          <a:prstGeom prst="rect">
            <a:avLst/>
          </a:prstGeom>
        </p:spPr>
      </p:pic>
      <p:grpSp>
        <p:nvGrpSpPr>
          <p:cNvPr id="59" name="object 59"/>
          <p:cNvGrpSpPr/>
          <p:nvPr/>
        </p:nvGrpSpPr>
        <p:grpSpPr>
          <a:xfrm>
            <a:off x="3397250" y="4457292"/>
            <a:ext cx="2139950" cy="617855"/>
            <a:chOff x="1873250" y="4457291"/>
            <a:chExt cx="2139950" cy="617855"/>
          </a:xfrm>
        </p:grpSpPr>
        <p:pic>
          <p:nvPicPr>
            <p:cNvPr id="60" name="object 60"/>
            <p:cNvPicPr/>
            <p:nvPr/>
          </p:nvPicPr>
          <p:blipFill>
            <a:blip r:embed="rId50" cstate="print"/>
            <a:stretch>
              <a:fillRect/>
            </a:stretch>
          </p:blipFill>
          <p:spPr>
            <a:xfrm>
              <a:off x="2987675" y="4800323"/>
              <a:ext cx="638174" cy="274749"/>
            </a:xfrm>
            <a:prstGeom prst="rect">
              <a:avLst/>
            </a:prstGeom>
          </p:spPr>
        </p:pic>
        <p:pic>
          <p:nvPicPr>
            <p:cNvPr id="61" name="object 61"/>
            <p:cNvPicPr/>
            <p:nvPr/>
          </p:nvPicPr>
          <p:blipFill>
            <a:blip r:embed="rId51" cstate="print"/>
            <a:stretch>
              <a:fillRect/>
            </a:stretch>
          </p:blipFill>
          <p:spPr>
            <a:xfrm>
              <a:off x="3381375" y="4468408"/>
              <a:ext cx="631824" cy="309674"/>
            </a:xfrm>
            <a:prstGeom prst="rect">
              <a:avLst/>
            </a:prstGeom>
          </p:spPr>
        </p:pic>
        <p:pic>
          <p:nvPicPr>
            <p:cNvPr id="62" name="object 62"/>
            <p:cNvPicPr/>
            <p:nvPr/>
          </p:nvPicPr>
          <p:blipFill>
            <a:blip r:embed="rId52" cstate="print"/>
            <a:stretch>
              <a:fillRect/>
            </a:stretch>
          </p:blipFill>
          <p:spPr>
            <a:xfrm>
              <a:off x="1873250" y="4457291"/>
              <a:ext cx="1441449" cy="255678"/>
            </a:xfrm>
            <a:prstGeom prst="rect">
              <a:avLst/>
            </a:prstGeom>
          </p:spPr>
        </p:pic>
      </p:grpSp>
      <p:pic>
        <p:nvPicPr>
          <p:cNvPr id="63" name="object 63"/>
          <p:cNvPicPr/>
          <p:nvPr/>
        </p:nvPicPr>
        <p:blipFill>
          <a:blip r:embed="rId53" cstate="print"/>
          <a:stretch>
            <a:fillRect/>
          </a:stretch>
        </p:blipFill>
        <p:spPr>
          <a:xfrm>
            <a:off x="3365501" y="5181475"/>
            <a:ext cx="825499" cy="277925"/>
          </a:xfrm>
          <a:prstGeom prst="rect">
            <a:avLst/>
          </a:prstGeom>
        </p:spPr>
      </p:pic>
      <p:pic>
        <p:nvPicPr>
          <p:cNvPr id="64" name="object 64"/>
          <p:cNvPicPr/>
          <p:nvPr/>
        </p:nvPicPr>
        <p:blipFill>
          <a:blip r:embed="rId54" cstate="print"/>
          <a:stretch>
            <a:fillRect/>
          </a:stretch>
        </p:blipFill>
        <p:spPr>
          <a:xfrm>
            <a:off x="4311594" y="5181623"/>
            <a:ext cx="512819" cy="287265"/>
          </a:xfrm>
          <a:prstGeom prst="rect">
            <a:avLst/>
          </a:prstGeom>
        </p:spPr>
      </p:pic>
      <p:pic>
        <p:nvPicPr>
          <p:cNvPr id="65" name="object 65"/>
          <p:cNvPicPr/>
          <p:nvPr/>
        </p:nvPicPr>
        <p:blipFill>
          <a:blip r:embed="rId55" cstate="print"/>
          <a:stretch>
            <a:fillRect/>
          </a:stretch>
        </p:blipFill>
        <p:spPr>
          <a:xfrm>
            <a:off x="4937125" y="5157661"/>
            <a:ext cx="587374" cy="293801"/>
          </a:xfrm>
          <a:prstGeom prst="rect">
            <a:avLst/>
          </a:prstGeom>
        </p:spPr>
      </p:pic>
      <p:sp>
        <p:nvSpPr>
          <p:cNvPr id="66" name="object 66"/>
          <p:cNvSpPr txBox="1"/>
          <p:nvPr/>
        </p:nvSpPr>
        <p:spPr>
          <a:xfrm>
            <a:off x="8802534" y="1088326"/>
            <a:ext cx="489584" cy="299720"/>
          </a:xfrm>
          <a:prstGeom prst="rect">
            <a:avLst/>
          </a:prstGeom>
        </p:spPr>
        <p:txBody>
          <a:bodyPr vert="horz" wrap="square" lIns="0" tIns="12700" rIns="0" bIns="0" rtlCol="0">
            <a:spAutoFit/>
          </a:bodyPr>
          <a:lstStyle/>
          <a:p>
            <a:pPr marL="12700">
              <a:spcBef>
                <a:spcPts val="100"/>
              </a:spcBef>
            </a:pPr>
            <a:r>
              <a:rPr b="1" dirty="0">
                <a:solidFill>
                  <a:srgbClr val="1C71AB"/>
                </a:solidFill>
                <a:latin typeface="Calibri"/>
                <a:cs typeface="Calibri"/>
              </a:rPr>
              <a:t>2010</a:t>
            </a:r>
            <a:endParaRPr>
              <a:latin typeface="Calibri"/>
              <a:cs typeface="Calibri"/>
            </a:endParaRPr>
          </a:p>
        </p:txBody>
      </p:sp>
      <p:pic>
        <p:nvPicPr>
          <p:cNvPr id="67" name="object 67"/>
          <p:cNvPicPr/>
          <p:nvPr/>
        </p:nvPicPr>
        <p:blipFill>
          <a:blip r:embed="rId56" cstate="print"/>
          <a:stretch>
            <a:fillRect/>
          </a:stretch>
        </p:blipFill>
        <p:spPr>
          <a:xfrm>
            <a:off x="9401613" y="2587054"/>
            <a:ext cx="1101287" cy="250951"/>
          </a:xfrm>
          <a:prstGeom prst="rect">
            <a:avLst/>
          </a:prstGeom>
        </p:spPr>
      </p:pic>
      <p:pic>
        <p:nvPicPr>
          <p:cNvPr id="68" name="object 68"/>
          <p:cNvPicPr/>
          <p:nvPr/>
        </p:nvPicPr>
        <p:blipFill>
          <a:blip r:embed="rId57" cstate="print"/>
          <a:stretch>
            <a:fillRect/>
          </a:stretch>
        </p:blipFill>
        <p:spPr>
          <a:xfrm>
            <a:off x="9781331" y="1839913"/>
            <a:ext cx="734269" cy="304799"/>
          </a:xfrm>
          <a:prstGeom prst="rect">
            <a:avLst/>
          </a:prstGeom>
        </p:spPr>
      </p:pic>
      <p:pic>
        <p:nvPicPr>
          <p:cNvPr id="69" name="object 69"/>
          <p:cNvPicPr/>
          <p:nvPr/>
        </p:nvPicPr>
        <p:blipFill>
          <a:blip r:embed="rId58" cstate="print"/>
          <a:stretch>
            <a:fillRect/>
          </a:stretch>
        </p:blipFill>
        <p:spPr>
          <a:xfrm>
            <a:off x="9366251" y="2217737"/>
            <a:ext cx="952499" cy="193674"/>
          </a:xfrm>
          <a:prstGeom prst="rect">
            <a:avLst/>
          </a:prstGeom>
        </p:spPr>
      </p:pic>
      <p:pic>
        <p:nvPicPr>
          <p:cNvPr id="70" name="object 70"/>
          <p:cNvPicPr/>
          <p:nvPr/>
        </p:nvPicPr>
        <p:blipFill>
          <a:blip r:embed="rId59" cstate="print"/>
          <a:stretch>
            <a:fillRect/>
          </a:stretch>
        </p:blipFill>
        <p:spPr>
          <a:xfrm>
            <a:off x="8372400" y="3268519"/>
            <a:ext cx="1171948" cy="192303"/>
          </a:xfrm>
          <a:prstGeom prst="rect">
            <a:avLst/>
          </a:prstGeom>
        </p:spPr>
      </p:pic>
      <p:pic>
        <p:nvPicPr>
          <p:cNvPr id="71" name="object 71"/>
          <p:cNvPicPr/>
          <p:nvPr/>
        </p:nvPicPr>
        <p:blipFill>
          <a:blip r:embed="rId60" cstate="print"/>
          <a:stretch>
            <a:fillRect/>
          </a:stretch>
        </p:blipFill>
        <p:spPr>
          <a:xfrm>
            <a:off x="9398000" y="2919419"/>
            <a:ext cx="1037126" cy="229165"/>
          </a:xfrm>
          <a:prstGeom prst="rect">
            <a:avLst/>
          </a:prstGeom>
        </p:spPr>
      </p:pic>
      <p:pic>
        <p:nvPicPr>
          <p:cNvPr id="72" name="object 72"/>
          <p:cNvPicPr/>
          <p:nvPr/>
        </p:nvPicPr>
        <p:blipFill>
          <a:blip r:embed="rId61" cstate="print"/>
          <a:stretch>
            <a:fillRect/>
          </a:stretch>
        </p:blipFill>
        <p:spPr>
          <a:xfrm>
            <a:off x="8361363" y="2919413"/>
            <a:ext cx="908049" cy="228599"/>
          </a:xfrm>
          <a:prstGeom prst="rect">
            <a:avLst/>
          </a:prstGeom>
        </p:spPr>
      </p:pic>
      <p:pic>
        <p:nvPicPr>
          <p:cNvPr id="73" name="object 73"/>
          <p:cNvPicPr/>
          <p:nvPr/>
        </p:nvPicPr>
        <p:blipFill>
          <a:blip r:embed="rId62" cstate="print"/>
          <a:stretch>
            <a:fillRect/>
          </a:stretch>
        </p:blipFill>
        <p:spPr>
          <a:xfrm>
            <a:off x="8331200" y="2517458"/>
            <a:ext cx="976312" cy="294639"/>
          </a:xfrm>
          <a:prstGeom prst="rect">
            <a:avLst/>
          </a:prstGeom>
        </p:spPr>
      </p:pic>
      <p:pic>
        <p:nvPicPr>
          <p:cNvPr id="74" name="object 74"/>
          <p:cNvPicPr/>
          <p:nvPr/>
        </p:nvPicPr>
        <p:blipFill>
          <a:blip r:embed="rId63" cstate="print"/>
          <a:stretch>
            <a:fillRect/>
          </a:stretch>
        </p:blipFill>
        <p:spPr>
          <a:xfrm>
            <a:off x="8382001" y="2182812"/>
            <a:ext cx="914399" cy="282574"/>
          </a:xfrm>
          <a:prstGeom prst="rect">
            <a:avLst/>
          </a:prstGeom>
        </p:spPr>
      </p:pic>
      <p:pic>
        <p:nvPicPr>
          <p:cNvPr id="75" name="object 75"/>
          <p:cNvPicPr/>
          <p:nvPr/>
        </p:nvPicPr>
        <p:blipFill>
          <a:blip r:embed="rId64" cstate="print"/>
          <a:stretch>
            <a:fillRect/>
          </a:stretch>
        </p:blipFill>
        <p:spPr>
          <a:xfrm>
            <a:off x="8391525" y="1852613"/>
            <a:ext cx="1323974" cy="241299"/>
          </a:xfrm>
          <a:prstGeom prst="rect">
            <a:avLst/>
          </a:prstGeom>
        </p:spPr>
      </p:pic>
      <p:pic>
        <p:nvPicPr>
          <p:cNvPr id="76" name="object 76"/>
          <p:cNvPicPr/>
          <p:nvPr/>
        </p:nvPicPr>
        <p:blipFill>
          <a:blip r:embed="rId65" cstate="print"/>
          <a:stretch>
            <a:fillRect/>
          </a:stretch>
        </p:blipFill>
        <p:spPr>
          <a:xfrm>
            <a:off x="9658351" y="3224213"/>
            <a:ext cx="692149" cy="279399"/>
          </a:xfrm>
          <a:prstGeom prst="rect">
            <a:avLst/>
          </a:prstGeom>
        </p:spPr>
      </p:pic>
      <p:grpSp>
        <p:nvGrpSpPr>
          <p:cNvPr id="77" name="object 77"/>
          <p:cNvGrpSpPr/>
          <p:nvPr/>
        </p:nvGrpSpPr>
        <p:grpSpPr>
          <a:xfrm>
            <a:off x="8364537" y="1484312"/>
            <a:ext cx="1471930" cy="304800"/>
            <a:chOff x="6840537" y="1484312"/>
            <a:chExt cx="1471930" cy="304800"/>
          </a:xfrm>
        </p:grpSpPr>
        <p:pic>
          <p:nvPicPr>
            <p:cNvPr id="78" name="object 78"/>
            <p:cNvPicPr/>
            <p:nvPr/>
          </p:nvPicPr>
          <p:blipFill>
            <a:blip r:embed="rId66" cstate="print"/>
            <a:stretch>
              <a:fillRect/>
            </a:stretch>
          </p:blipFill>
          <p:spPr>
            <a:xfrm>
              <a:off x="7593012" y="1484312"/>
              <a:ext cx="719137" cy="304799"/>
            </a:xfrm>
            <a:prstGeom prst="rect">
              <a:avLst/>
            </a:prstGeom>
          </p:spPr>
        </p:pic>
        <p:pic>
          <p:nvPicPr>
            <p:cNvPr id="79" name="object 79"/>
            <p:cNvPicPr/>
            <p:nvPr/>
          </p:nvPicPr>
          <p:blipFill>
            <a:blip r:embed="rId67" cstate="print"/>
            <a:stretch>
              <a:fillRect/>
            </a:stretch>
          </p:blipFill>
          <p:spPr>
            <a:xfrm>
              <a:off x="6840537" y="1525587"/>
              <a:ext cx="714375" cy="238125"/>
            </a:xfrm>
            <a:prstGeom prst="rect">
              <a:avLst/>
            </a:prstGeom>
          </p:spPr>
        </p:pic>
      </p:grpSp>
      <p:pic>
        <p:nvPicPr>
          <p:cNvPr id="80" name="object 80"/>
          <p:cNvPicPr/>
          <p:nvPr/>
        </p:nvPicPr>
        <p:blipFill>
          <a:blip r:embed="rId68" cstate="print"/>
          <a:stretch>
            <a:fillRect/>
          </a:stretch>
        </p:blipFill>
        <p:spPr>
          <a:xfrm>
            <a:off x="8403459" y="3727312"/>
            <a:ext cx="624051" cy="209826"/>
          </a:xfrm>
          <a:prstGeom prst="rect">
            <a:avLst/>
          </a:prstGeom>
        </p:spPr>
      </p:pic>
      <p:grpSp>
        <p:nvGrpSpPr>
          <p:cNvPr id="81" name="object 81"/>
          <p:cNvGrpSpPr/>
          <p:nvPr/>
        </p:nvGrpSpPr>
        <p:grpSpPr>
          <a:xfrm>
            <a:off x="8266112" y="3995737"/>
            <a:ext cx="2232660" cy="2241550"/>
            <a:chOff x="6742112" y="3995737"/>
            <a:chExt cx="2232660" cy="2241550"/>
          </a:xfrm>
        </p:grpSpPr>
        <p:pic>
          <p:nvPicPr>
            <p:cNvPr id="82" name="object 82"/>
            <p:cNvPicPr/>
            <p:nvPr/>
          </p:nvPicPr>
          <p:blipFill>
            <a:blip r:embed="rId69" cstate="print"/>
            <a:stretch>
              <a:fillRect/>
            </a:stretch>
          </p:blipFill>
          <p:spPr>
            <a:xfrm>
              <a:off x="8126412" y="5713412"/>
              <a:ext cx="636587" cy="212724"/>
            </a:xfrm>
            <a:prstGeom prst="rect">
              <a:avLst/>
            </a:prstGeom>
          </p:spPr>
        </p:pic>
        <p:pic>
          <p:nvPicPr>
            <p:cNvPr id="83" name="object 83"/>
            <p:cNvPicPr/>
            <p:nvPr/>
          </p:nvPicPr>
          <p:blipFill>
            <a:blip r:embed="rId70" cstate="print"/>
            <a:stretch>
              <a:fillRect/>
            </a:stretch>
          </p:blipFill>
          <p:spPr>
            <a:xfrm>
              <a:off x="7662862" y="4630737"/>
              <a:ext cx="833437" cy="225424"/>
            </a:xfrm>
            <a:prstGeom prst="rect">
              <a:avLst/>
            </a:prstGeom>
          </p:spPr>
        </p:pic>
        <p:pic>
          <p:nvPicPr>
            <p:cNvPr id="84" name="object 84"/>
            <p:cNvPicPr/>
            <p:nvPr/>
          </p:nvPicPr>
          <p:blipFill>
            <a:blip r:embed="rId71" cstate="print"/>
            <a:stretch>
              <a:fillRect/>
            </a:stretch>
          </p:blipFill>
          <p:spPr>
            <a:xfrm>
              <a:off x="6757987" y="5465762"/>
              <a:ext cx="860424" cy="260349"/>
            </a:xfrm>
            <a:prstGeom prst="rect">
              <a:avLst/>
            </a:prstGeom>
          </p:spPr>
        </p:pic>
        <p:pic>
          <p:nvPicPr>
            <p:cNvPr id="85" name="object 85"/>
            <p:cNvPicPr/>
            <p:nvPr/>
          </p:nvPicPr>
          <p:blipFill>
            <a:blip r:embed="rId72" cstate="print"/>
            <a:stretch>
              <a:fillRect/>
            </a:stretch>
          </p:blipFill>
          <p:spPr>
            <a:xfrm>
              <a:off x="6757987" y="5691187"/>
              <a:ext cx="1274762" cy="200024"/>
            </a:xfrm>
            <a:prstGeom prst="rect">
              <a:avLst/>
            </a:prstGeom>
          </p:spPr>
        </p:pic>
        <p:pic>
          <p:nvPicPr>
            <p:cNvPr id="86" name="object 86"/>
            <p:cNvPicPr/>
            <p:nvPr/>
          </p:nvPicPr>
          <p:blipFill>
            <a:blip r:embed="rId73" cstate="print"/>
            <a:stretch>
              <a:fillRect/>
            </a:stretch>
          </p:blipFill>
          <p:spPr>
            <a:xfrm>
              <a:off x="7613650" y="5138737"/>
              <a:ext cx="971549" cy="317499"/>
            </a:xfrm>
            <a:prstGeom prst="rect">
              <a:avLst/>
            </a:prstGeom>
          </p:spPr>
        </p:pic>
        <p:pic>
          <p:nvPicPr>
            <p:cNvPr id="87" name="object 87"/>
            <p:cNvPicPr/>
            <p:nvPr/>
          </p:nvPicPr>
          <p:blipFill>
            <a:blip r:embed="rId74" cstate="print"/>
            <a:stretch>
              <a:fillRect/>
            </a:stretch>
          </p:blipFill>
          <p:spPr>
            <a:xfrm>
              <a:off x="6796563" y="4868124"/>
              <a:ext cx="1053528" cy="230076"/>
            </a:xfrm>
            <a:prstGeom prst="rect">
              <a:avLst/>
            </a:prstGeom>
          </p:spPr>
        </p:pic>
        <p:pic>
          <p:nvPicPr>
            <p:cNvPr id="88" name="object 88"/>
            <p:cNvPicPr/>
            <p:nvPr/>
          </p:nvPicPr>
          <p:blipFill>
            <a:blip r:embed="rId75" cstate="print"/>
            <a:stretch>
              <a:fillRect/>
            </a:stretch>
          </p:blipFill>
          <p:spPr>
            <a:xfrm>
              <a:off x="6742112" y="5907087"/>
              <a:ext cx="1074737" cy="330184"/>
            </a:xfrm>
            <a:prstGeom prst="rect">
              <a:avLst/>
            </a:prstGeom>
          </p:spPr>
        </p:pic>
        <p:pic>
          <p:nvPicPr>
            <p:cNvPr id="89" name="object 89"/>
            <p:cNvPicPr/>
            <p:nvPr/>
          </p:nvPicPr>
          <p:blipFill>
            <a:blip r:embed="rId76" cstate="print"/>
            <a:stretch>
              <a:fillRect/>
            </a:stretch>
          </p:blipFill>
          <p:spPr>
            <a:xfrm>
              <a:off x="7646987" y="5459412"/>
              <a:ext cx="1079499" cy="263524"/>
            </a:xfrm>
            <a:prstGeom prst="rect">
              <a:avLst/>
            </a:prstGeom>
          </p:spPr>
        </p:pic>
        <p:pic>
          <p:nvPicPr>
            <p:cNvPr id="90" name="object 90"/>
            <p:cNvPicPr/>
            <p:nvPr/>
          </p:nvPicPr>
          <p:blipFill>
            <a:blip r:embed="rId77" cstate="print"/>
            <a:stretch>
              <a:fillRect/>
            </a:stretch>
          </p:blipFill>
          <p:spPr>
            <a:xfrm>
              <a:off x="7975600" y="5973762"/>
              <a:ext cx="514349" cy="204893"/>
            </a:xfrm>
            <a:prstGeom prst="rect">
              <a:avLst/>
            </a:prstGeom>
          </p:spPr>
        </p:pic>
        <p:pic>
          <p:nvPicPr>
            <p:cNvPr id="91" name="object 91"/>
            <p:cNvPicPr/>
            <p:nvPr/>
          </p:nvPicPr>
          <p:blipFill>
            <a:blip r:embed="rId78" cstate="print"/>
            <a:stretch>
              <a:fillRect/>
            </a:stretch>
          </p:blipFill>
          <p:spPr>
            <a:xfrm>
              <a:off x="6800850" y="5164137"/>
              <a:ext cx="742949" cy="231774"/>
            </a:xfrm>
            <a:prstGeom prst="rect">
              <a:avLst/>
            </a:prstGeom>
          </p:spPr>
        </p:pic>
        <p:pic>
          <p:nvPicPr>
            <p:cNvPr id="92" name="object 92"/>
            <p:cNvPicPr/>
            <p:nvPr/>
          </p:nvPicPr>
          <p:blipFill>
            <a:blip r:embed="rId79" cstate="print"/>
            <a:stretch>
              <a:fillRect/>
            </a:stretch>
          </p:blipFill>
          <p:spPr>
            <a:xfrm>
              <a:off x="8562975" y="4525967"/>
              <a:ext cx="411604" cy="274797"/>
            </a:xfrm>
            <a:prstGeom prst="rect">
              <a:avLst/>
            </a:prstGeom>
          </p:spPr>
        </p:pic>
        <p:pic>
          <p:nvPicPr>
            <p:cNvPr id="93" name="object 93"/>
            <p:cNvPicPr/>
            <p:nvPr/>
          </p:nvPicPr>
          <p:blipFill>
            <a:blip r:embed="rId80" cstate="print"/>
            <a:stretch>
              <a:fillRect/>
            </a:stretch>
          </p:blipFill>
          <p:spPr>
            <a:xfrm>
              <a:off x="6832599" y="3995737"/>
              <a:ext cx="927100" cy="231775"/>
            </a:xfrm>
            <a:prstGeom prst="rect">
              <a:avLst/>
            </a:prstGeom>
          </p:spPr>
        </p:pic>
        <p:pic>
          <p:nvPicPr>
            <p:cNvPr id="94" name="object 94"/>
            <p:cNvPicPr/>
            <p:nvPr/>
          </p:nvPicPr>
          <p:blipFill>
            <a:blip r:embed="rId81" cstate="print"/>
            <a:stretch>
              <a:fillRect/>
            </a:stretch>
          </p:blipFill>
          <p:spPr>
            <a:xfrm>
              <a:off x="7731125" y="4237037"/>
              <a:ext cx="984249" cy="346074"/>
            </a:xfrm>
            <a:prstGeom prst="rect">
              <a:avLst/>
            </a:prstGeom>
          </p:spPr>
        </p:pic>
        <p:pic>
          <p:nvPicPr>
            <p:cNvPr id="95" name="object 95"/>
            <p:cNvPicPr/>
            <p:nvPr/>
          </p:nvPicPr>
          <p:blipFill>
            <a:blip r:embed="rId82" cstate="print"/>
            <a:stretch>
              <a:fillRect/>
            </a:stretch>
          </p:blipFill>
          <p:spPr>
            <a:xfrm>
              <a:off x="7853362" y="4011612"/>
              <a:ext cx="973137" cy="165099"/>
            </a:xfrm>
            <a:prstGeom prst="rect">
              <a:avLst/>
            </a:prstGeom>
          </p:spPr>
        </p:pic>
        <p:pic>
          <p:nvPicPr>
            <p:cNvPr id="96" name="object 96"/>
            <p:cNvPicPr/>
            <p:nvPr/>
          </p:nvPicPr>
          <p:blipFill>
            <a:blip r:embed="rId83" cstate="print"/>
            <a:stretch>
              <a:fillRect/>
            </a:stretch>
          </p:blipFill>
          <p:spPr>
            <a:xfrm>
              <a:off x="6751637" y="4643437"/>
              <a:ext cx="881062" cy="200024"/>
            </a:xfrm>
            <a:prstGeom prst="rect">
              <a:avLst/>
            </a:prstGeom>
          </p:spPr>
        </p:pic>
      </p:grpSp>
      <p:sp>
        <p:nvSpPr>
          <p:cNvPr id="97" name="object 97"/>
          <p:cNvSpPr txBox="1"/>
          <p:nvPr/>
        </p:nvSpPr>
        <p:spPr>
          <a:xfrm>
            <a:off x="9537256" y="4926013"/>
            <a:ext cx="854075" cy="135935"/>
          </a:xfrm>
          <a:prstGeom prst="rect">
            <a:avLst/>
          </a:prstGeom>
        </p:spPr>
        <p:txBody>
          <a:bodyPr vert="horz" wrap="square" lIns="0" tIns="12700" rIns="0" bIns="0" rtlCol="0">
            <a:spAutoFit/>
          </a:bodyPr>
          <a:lstStyle/>
          <a:p>
            <a:pPr marL="12700">
              <a:spcBef>
                <a:spcPts val="100"/>
              </a:spcBef>
            </a:pPr>
            <a:r>
              <a:rPr sz="800" b="1" spc="-5" dirty="0">
                <a:latin typeface="Calibri"/>
                <a:cs typeface="Calibri"/>
              </a:rPr>
              <a:t>T</a:t>
            </a:r>
            <a:r>
              <a:rPr sz="800" b="1" dirty="0">
                <a:latin typeface="Calibri"/>
                <a:cs typeface="Calibri"/>
              </a:rPr>
              <a:t>he</a:t>
            </a:r>
            <a:r>
              <a:rPr sz="800" spc="-30" dirty="0">
                <a:latin typeface="Times New Roman"/>
                <a:cs typeface="Times New Roman"/>
              </a:rPr>
              <a:t> </a:t>
            </a:r>
            <a:r>
              <a:rPr sz="800" b="1" spc="-5" dirty="0">
                <a:latin typeface="Calibri"/>
                <a:cs typeface="Calibri"/>
              </a:rPr>
              <a:t>Data</a:t>
            </a:r>
            <a:r>
              <a:rPr sz="800" b="1" dirty="0">
                <a:latin typeface="Calibri"/>
                <a:cs typeface="Calibri"/>
              </a:rPr>
              <a:t>gr</a:t>
            </a:r>
            <a:r>
              <a:rPr sz="800" b="1" spc="-5" dirty="0">
                <a:latin typeface="Calibri"/>
                <a:cs typeface="Calibri"/>
              </a:rPr>
              <a:t>a</a:t>
            </a:r>
            <a:r>
              <a:rPr sz="800" b="1" dirty="0">
                <a:latin typeface="Calibri"/>
                <a:cs typeface="Calibri"/>
              </a:rPr>
              <a:t>ph</a:t>
            </a:r>
            <a:r>
              <a:rPr sz="800" spc="-45" dirty="0">
                <a:latin typeface="Times New Roman"/>
                <a:cs typeface="Times New Roman"/>
              </a:rPr>
              <a:t> </a:t>
            </a:r>
            <a:r>
              <a:rPr sz="800" b="1" spc="5" dirty="0">
                <a:latin typeface="Calibri"/>
                <a:cs typeface="Calibri"/>
              </a:rPr>
              <a:t>B</a:t>
            </a:r>
            <a:r>
              <a:rPr sz="800" b="1" spc="-10" dirty="0">
                <a:latin typeface="Calibri"/>
                <a:cs typeface="Calibri"/>
              </a:rPr>
              <a:t>l</a:t>
            </a:r>
            <a:r>
              <a:rPr sz="800" b="1" spc="-5" dirty="0">
                <a:latin typeface="Calibri"/>
                <a:cs typeface="Calibri"/>
              </a:rPr>
              <a:t>o</a:t>
            </a:r>
            <a:r>
              <a:rPr sz="800" b="1" dirty="0">
                <a:latin typeface="Calibri"/>
                <a:cs typeface="Calibri"/>
              </a:rPr>
              <a:t>g</a:t>
            </a:r>
            <a:endParaRPr sz="800">
              <a:latin typeface="Calibri"/>
              <a:cs typeface="Calibri"/>
            </a:endParaRPr>
          </a:p>
        </p:txBody>
      </p:sp>
      <p:pic>
        <p:nvPicPr>
          <p:cNvPr id="98" name="object 98"/>
          <p:cNvPicPr/>
          <p:nvPr/>
        </p:nvPicPr>
        <p:blipFill>
          <a:blip r:embed="rId84" cstate="print"/>
          <a:stretch>
            <a:fillRect/>
          </a:stretch>
        </p:blipFill>
        <p:spPr>
          <a:xfrm>
            <a:off x="9159875" y="3713163"/>
            <a:ext cx="1165224" cy="215899"/>
          </a:xfrm>
          <a:prstGeom prst="rect">
            <a:avLst/>
          </a:prstGeom>
        </p:spPr>
      </p:pic>
      <p:pic>
        <p:nvPicPr>
          <p:cNvPr id="99" name="object 99"/>
          <p:cNvPicPr/>
          <p:nvPr/>
        </p:nvPicPr>
        <p:blipFill>
          <a:blip r:embed="rId85" cstate="print"/>
          <a:stretch>
            <a:fillRect/>
          </a:stretch>
        </p:blipFill>
        <p:spPr>
          <a:xfrm>
            <a:off x="8362950" y="4297363"/>
            <a:ext cx="792162" cy="285749"/>
          </a:xfrm>
          <a:prstGeom prst="rect">
            <a:avLst/>
          </a:prstGeom>
        </p:spPr>
      </p:pic>
      <p:sp>
        <p:nvSpPr>
          <p:cNvPr id="100" name="object 100"/>
          <p:cNvSpPr txBox="1"/>
          <p:nvPr/>
        </p:nvSpPr>
        <p:spPr>
          <a:xfrm>
            <a:off x="1678939" y="6238938"/>
            <a:ext cx="2192020" cy="182101"/>
          </a:xfrm>
          <a:prstGeom prst="rect">
            <a:avLst/>
          </a:prstGeom>
        </p:spPr>
        <p:txBody>
          <a:bodyPr vert="horz" wrap="square" lIns="0" tIns="12700" rIns="0" bIns="0" rtlCol="0">
            <a:spAutoFit/>
          </a:bodyPr>
          <a:lstStyle/>
          <a:p>
            <a:pPr marL="12700">
              <a:spcBef>
                <a:spcPts val="100"/>
              </a:spcBef>
            </a:pPr>
            <a:r>
              <a:rPr sz="1100" i="1" dirty="0">
                <a:latin typeface="Calibri"/>
                <a:cs typeface="Calibri"/>
              </a:rPr>
              <a:t>Source:</a:t>
            </a:r>
            <a:r>
              <a:rPr sz="1100" i="1" spc="-25" dirty="0">
                <a:latin typeface="Calibri"/>
                <a:cs typeface="Calibri"/>
              </a:rPr>
              <a:t> </a:t>
            </a:r>
            <a:r>
              <a:rPr sz="1100" i="1" spc="-5" dirty="0">
                <a:latin typeface="Calibri"/>
                <a:cs typeface="Calibri"/>
              </a:rPr>
              <a:t>Hadoop</a:t>
            </a:r>
            <a:r>
              <a:rPr sz="1100" i="1" spc="-25" dirty="0">
                <a:latin typeface="Calibri"/>
                <a:cs typeface="Calibri"/>
              </a:rPr>
              <a:t> </a:t>
            </a:r>
            <a:r>
              <a:rPr sz="1100" i="1" dirty="0">
                <a:latin typeface="Calibri"/>
                <a:cs typeface="Calibri"/>
              </a:rPr>
              <a:t>Summit</a:t>
            </a:r>
            <a:r>
              <a:rPr sz="1100" i="1" spc="-20" dirty="0">
                <a:latin typeface="Calibri"/>
                <a:cs typeface="Calibri"/>
              </a:rPr>
              <a:t> </a:t>
            </a:r>
            <a:r>
              <a:rPr sz="1100" i="1" spc="-5" dirty="0">
                <a:latin typeface="Calibri"/>
                <a:cs typeface="Calibri"/>
              </a:rPr>
              <a:t>Presentations</a:t>
            </a:r>
            <a:endParaRPr sz="1100">
              <a:latin typeface="Calibri"/>
              <a:cs typeface="Calibri"/>
            </a:endParaRPr>
          </a:p>
        </p:txBody>
      </p:sp>
      <p:sp>
        <p:nvSpPr>
          <p:cNvPr id="101" name="object 101"/>
          <p:cNvSpPr txBox="1"/>
          <p:nvPr/>
        </p:nvSpPr>
        <p:spPr>
          <a:xfrm>
            <a:off x="4498339" y="6518953"/>
            <a:ext cx="3957954" cy="153888"/>
          </a:xfrm>
          <a:prstGeom prst="rect">
            <a:avLst/>
          </a:prstGeom>
        </p:spPr>
        <p:txBody>
          <a:bodyPr vert="horz" wrap="square" lIns="0" tIns="0" rIns="0" bIns="0" rtlCol="0">
            <a:spAutoFit/>
          </a:bodyPr>
          <a:lstStyle/>
          <a:p>
            <a:pPr marL="12700"/>
            <a:r>
              <a:rPr sz="1000" spc="-5" dirty="0">
                <a:solidFill>
                  <a:srgbClr val="818181"/>
                </a:solidFill>
                <a:latin typeface="Arial MT"/>
                <a:cs typeface="Arial MT"/>
              </a:rPr>
              <a:t>© </a:t>
            </a:r>
            <a:r>
              <a:rPr sz="1000" spc="-10" dirty="0">
                <a:solidFill>
                  <a:srgbClr val="818181"/>
                </a:solidFill>
                <a:latin typeface="Arial MT"/>
                <a:cs typeface="Arial MT"/>
              </a:rPr>
              <a:t>2014</a:t>
            </a:r>
            <a:r>
              <a:rPr sz="1000" spc="-5" dirty="0">
                <a:solidFill>
                  <a:srgbClr val="818181"/>
                </a:solidFill>
                <a:latin typeface="Arial MT"/>
                <a:cs typeface="Arial MT"/>
              </a:rPr>
              <a:t> </a:t>
            </a:r>
            <a:r>
              <a:rPr sz="1000" spc="-10" dirty="0">
                <a:solidFill>
                  <a:srgbClr val="818181"/>
                </a:solidFill>
                <a:latin typeface="Arial MT"/>
                <a:cs typeface="Arial MT"/>
              </a:rPr>
              <a:t>Storage</a:t>
            </a:r>
            <a:r>
              <a:rPr sz="1000" spc="-15" dirty="0">
                <a:solidFill>
                  <a:srgbClr val="818181"/>
                </a:solidFill>
                <a:latin typeface="Arial MT"/>
                <a:cs typeface="Arial MT"/>
              </a:rPr>
              <a:t> </a:t>
            </a:r>
            <a:r>
              <a:rPr sz="1000" spc="-5" dirty="0">
                <a:solidFill>
                  <a:srgbClr val="818181"/>
                </a:solidFill>
                <a:latin typeface="Arial MT"/>
                <a:cs typeface="Arial MT"/>
              </a:rPr>
              <a:t>Networking</a:t>
            </a:r>
            <a:r>
              <a:rPr sz="1000" spc="10" dirty="0">
                <a:solidFill>
                  <a:srgbClr val="818181"/>
                </a:solidFill>
                <a:latin typeface="Arial MT"/>
                <a:cs typeface="Arial MT"/>
              </a:rPr>
              <a:t> </a:t>
            </a:r>
            <a:r>
              <a:rPr sz="1000" spc="-5" dirty="0">
                <a:solidFill>
                  <a:srgbClr val="818181"/>
                </a:solidFill>
                <a:latin typeface="Arial MT"/>
                <a:cs typeface="Arial MT"/>
              </a:rPr>
              <a:t>Industry</a:t>
            </a:r>
            <a:r>
              <a:rPr sz="1000" spc="-20" dirty="0">
                <a:solidFill>
                  <a:srgbClr val="818181"/>
                </a:solidFill>
                <a:latin typeface="Arial MT"/>
                <a:cs typeface="Arial MT"/>
              </a:rPr>
              <a:t> </a:t>
            </a:r>
            <a:r>
              <a:rPr sz="1000" spc="-5" dirty="0">
                <a:solidFill>
                  <a:srgbClr val="818181"/>
                </a:solidFill>
                <a:latin typeface="Arial MT"/>
                <a:cs typeface="Arial MT"/>
              </a:rPr>
              <a:t>Association.</a:t>
            </a:r>
            <a:r>
              <a:rPr sz="1000" dirty="0">
                <a:solidFill>
                  <a:srgbClr val="818181"/>
                </a:solidFill>
                <a:latin typeface="Arial MT"/>
                <a:cs typeface="Arial MT"/>
              </a:rPr>
              <a:t> </a:t>
            </a:r>
            <a:r>
              <a:rPr sz="1000" spc="-10" dirty="0">
                <a:solidFill>
                  <a:srgbClr val="818181"/>
                </a:solidFill>
                <a:latin typeface="Arial MT"/>
                <a:cs typeface="Arial MT"/>
              </a:rPr>
              <a:t>All</a:t>
            </a:r>
            <a:r>
              <a:rPr sz="1000" spc="15" dirty="0">
                <a:solidFill>
                  <a:srgbClr val="818181"/>
                </a:solidFill>
                <a:latin typeface="Arial MT"/>
                <a:cs typeface="Arial MT"/>
              </a:rPr>
              <a:t> </a:t>
            </a:r>
            <a:r>
              <a:rPr sz="1000" spc="-10" dirty="0">
                <a:solidFill>
                  <a:srgbClr val="818181"/>
                </a:solidFill>
                <a:latin typeface="Arial MT"/>
                <a:cs typeface="Arial MT"/>
              </a:rPr>
              <a:t>Rights</a:t>
            </a:r>
            <a:r>
              <a:rPr sz="1000" spc="5" dirty="0">
                <a:solidFill>
                  <a:srgbClr val="818181"/>
                </a:solidFill>
                <a:latin typeface="Arial MT"/>
                <a:cs typeface="Arial MT"/>
              </a:rPr>
              <a:t> </a:t>
            </a:r>
            <a:r>
              <a:rPr sz="1000" spc="-10" dirty="0">
                <a:solidFill>
                  <a:srgbClr val="818181"/>
                </a:solidFill>
                <a:latin typeface="Arial MT"/>
                <a:cs typeface="Arial MT"/>
              </a:rPr>
              <a:t>Reserved.</a:t>
            </a:r>
            <a:endParaRPr sz="1000">
              <a:latin typeface="Arial MT"/>
              <a:cs typeface="Arial MT"/>
            </a:endParaRPr>
          </a:p>
        </p:txBody>
      </p:sp>
      <p:sp>
        <p:nvSpPr>
          <p:cNvPr id="102" name="object 102"/>
          <p:cNvSpPr txBox="1">
            <a:spLocks noGrp="1"/>
          </p:cNvSpPr>
          <p:nvPr>
            <p:ph type="sldNum" sz="quarter" idx="7"/>
          </p:nvPr>
        </p:nvSpPr>
        <p:spPr>
          <a:xfrm>
            <a:off x="1524000" y="1"/>
            <a:ext cx="0" cy="555921"/>
          </a:xfrm>
          <a:prstGeom prst="rect">
            <a:avLst/>
          </a:prstGeom>
        </p:spPr>
        <p:txBody>
          <a:bodyPr vert="horz" wrap="square" lIns="0" tIns="1905" rIns="0" bIns="0" rtlCol="0">
            <a:spAutoFit/>
          </a:bodyPr>
          <a:lstStyle/>
          <a:p>
            <a:pPr marL="38100">
              <a:spcBef>
                <a:spcPts val="15"/>
              </a:spcBef>
            </a:pPr>
            <a:fld id="{81D60167-4931-47E6-BA6A-407CBD079E47}" type="slidenum">
              <a:rPr spc="-30" dirty="0"/>
              <a:pPr marL="38100">
                <a:spcBef>
                  <a:spcPts val="15"/>
                </a:spcBef>
              </a:pPr>
              <a:t>7</a:t>
            </a:fld>
            <a:endParaRPr spc="-3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873258" y="6277570"/>
            <a:ext cx="794742" cy="544711"/>
          </a:xfrm>
          <a:prstGeom prst="rect">
            <a:avLst/>
          </a:prstGeom>
        </p:spPr>
      </p:pic>
      <p:pic>
        <p:nvPicPr>
          <p:cNvPr id="3" name="object 3"/>
          <p:cNvPicPr/>
          <p:nvPr/>
        </p:nvPicPr>
        <p:blipFill>
          <a:blip r:embed="rId3" cstate="print"/>
          <a:stretch>
            <a:fillRect/>
          </a:stretch>
        </p:blipFill>
        <p:spPr>
          <a:xfrm>
            <a:off x="663170" y="295275"/>
            <a:ext cx="7394980" cy="5775126"/>
          </a:xfrm>
          <a:prstGeom prst="rect">
            <a:avLst/>
          </a:prstGeom>
        </p:spPr>
      </p:pic>
      <p:sp>
        <p:nvSpPr>
          <p:cNvPr id="4" name="object 4"/>
          <p:cNvSpPr txBox="1">
            <a:spLocks noGrp="1"/>
          </p:cNvSpPr>
          <p:nvPr>
            <p:ph type="title"/>
          </p:nvPr>
        </p:nvSpPr>
        <p:spPr>
          <a:xfrm>
            <a:off x="3250576" y="6106120"/>
            <a:ext cx="5541317" cy="563015"/>
          </a:xfrm>
          <a:prstGeom prst="rect">
            <a:avLst/>
          </a:prstGeom>
        </p:spPr>
        <p:txBody>
          <a:bodyPr vert="horz" wrap="square" lIns="0" tIns="8930" rIns="0" bIns="0" rtlCol="0" anchor="t">
            <a:spAutoFit/>
          </a:bodyPr>
          <a:lstStyle/>
          <a:p>
            <a:pPr marL="8929">
              <a:spcBef>
                <a:spcPts val="70"/>
              </a:spcBef>
            </a:pPr>
            <a:r>
              <a:rPr spc="-39" dirty="0"/>
              <a:t>Hadoop</a:t>
            </a:r>
            <a:r>
              <a:rPr spc="-559" dirty="0"/>
              <a:t> </a:t>
            </a:r>
            <a:r>
              <a:rPr spc="-67" dirty="0"/>
              <a:t>At</a:t>
            </a:r>
            <a:r>
              <a:rPr spc="-861" dirty="0"/>
              <a:t> </a:t>
            </a:r>
            <a:r>
              <a:rPr spc="-675" dirty="0"/>
              <a:t>Y</a:t>
            </a:r>
            <a:r>
              <a:rPr spc="39" dirty="0"/>
              <a:t>ahoo!</a:t>
            </a:r>
          </a:p>
        </p:txBody>
      </p:sp>
      <p:sp>
        <p:nvSpPr>
          <p:cNvPr id="5" name="object 5"/>
          <p:cNvSpPr/>
          <p:nvPr/>
        </p:nvSpPr>
        <p:spPr>
          <a:xfrm>
            <a:off x="1524000" y="0"/>
            <a:ext cx="9144000" cy="6858000"/>
          </a:xfrm>
          <a:custGeom>
            <a:avLst/>
            <a:gdLst/>
            <a:ahLst/>
            <a:cxnLst/>
            <a:rect l="l" t="t" r="r" b="b"/>
            <a:pathLst>
              <a:path w="13004800" h="9753600">
                <a:moveTo>
                  <a:pt x="0" y="9753600"/>
                </a:moveTo>
                <a:lnTo>
                  <a:pt x="13004800" y="9753600"/>
                </a:lnTo>
                <a:lnTo>
                  <a:pt x="13004800" y="0"/>
                </a:lnTo>
                <a:lnTo>
                  <a:pt x="0" y="0"/>
                </a:lnTo>
                <a:lnTo>
                  <a:pt x="0" y="9753600"/>
                </a:lnTo>
                <a:close/>
              </a:path>
            </a:pathLst>
          </a:custGeom>
          <a:ln w="12700">
            <a:solidFill>
              <a:srgbClr val="4C4C4C"/>
            </a:solidFill>
          </a:ln>
        </p:spPr>
        <p:txBody>
          <a:bodyPr wrap="square" lIns="0" tIns="0" rIns="0" bIns="0" rtlCol="0"/>
          <a:lstStyle/>
          <a:p>
            <a:endParaRPr sz="1266"/>
          </a:p>
        </p:txBody>
      </p:sp>
      <p:sp>
        <p:nvSpPr>
          <p:cNvPr id="6" name="object 6"/>
          <p:cNvSpPr txBox="1">
            <a:spLocks noGrp="1"/>
          </p:cNvSpPr>
          <p:nvPr>
            <p:ph type="sldNum" sz="quarter" idx="7"/>
          </p:nvPr>
        </p:nvSpPr>
        <p:spPr>
          <a:xfrm>
            <a:off x="1524000" y="0"/>
            <a:ext cx="0" cy="197298"/>
          </a:xfrm>
          <a:prstGeom prst="rect">
            <a:avLst/>
          </a:prstGeom>
        </p:spPr>
        <p:txBody>
          <a:bodyPr vert="horz" wrap="square" lIns="0" tIns="0" rIns="0" bIns="0" rtlCol="0">
            <a:spAutoFit/>
          </a:bodyPr>
          <a:lstStyle/>
          <a:p>
            <a:pPr marL="107152">
              <a:lnSpc>
                <a:spcPts val="1484"/>
              </a:lnSpc>
            </a:pPr>
            <a:fld id="{81D60167-4931-47E6-BA6A-407CBD079E47}" type="slidenum">
              <a:rPr spc="-35" dirty="0"/>
              <a:pPr marL="107152">
                <a:lnSpc>
                  <a:spcPts val="1484"/>
                </a:lnSpc>
              </a:pPr>
              <a:t>8</a:t>
            </a:fld>
            <a:endParaRPr spc="-35" dirty="0"/>
          </a:p>
        </p:txBody>
      </p:sp>
      <p:sp>
        <p:nvSpPr>
          <p:cNvPr id="8" name="TextBox 7">
            <a:extLst>
              <a:ext uri="{FF2B5EF4-FFF2-40B4-BE49-F238E27FC236}">
                <a16:creationId xmlns:a16="http://schemas.microsoft.com/office/drawing/2014/main" id="{6FB6A970-A2FC-4E56-B0CA-244DA706A182}"/>
              </a:ext>
            </a:extLst>
          </p:cNvPr>
          <p:cNvSpPr txBox="1"/>
          <p:nvPr/>
        </p:nvSpPr>
        <p:spPr>
          <a:xfrm>
            <a:off x="8334375" y="787599"/>
            <a:ext cx="3762375" cy="2031325"/>
          </a:xfrm>
          <a:prstGeom prst="rect">
            <a:avLst/>
          </a:prstGeom>
          <a:noFill/>
        </p:spPr>
        <p:txBody>
          <a:bodyPr wrap="square" rtlCol="0">
            <a:spAutoFit/>
          </a:bodyPr>
          <a:lstStyle/>
          <a:p>
            <a:r>
              <a:rPr lang="en-US" dirty="0"/>
              <a:t>25,000	+machines in10+	clusters</a:t>
            </a:r>
          </a:p>
          <a:p>
            <a:endParaRPr lang="en-US" dirty="0"/>
          </a:p>
          <a:p>
            <a:r>
              <a:rPr lang="en-US" dirty="0"/>
              <a:t>Largest	cluster	is 3,000machines</a:t>
            </a:r>
          </a:p>
          <a:p>
            <a:r>
              <a:rPr lang="en-US" dirty="0"/>
              <a:t>3Petabytes of	data (compressed, 	</a:t>
            </a:r>
            <a:r>
              <a:rPr lang="en-US" dirty="0" err="1"/>
              <a:t>unreplicated</a:t>
            </a:r>
            <a:r>
              <a:rPr lang="en-US" dirty="0"/>
              <a:t>)</a:t>
            </a:r>
          </a:p>
          <a:p>
            <a:r>
              <a:rPr lang="en-US" dirty="0"/>
              <a:t>700+	users</a:t>
            </a:r>
          </a:p>
          <a:p>
            <a:r>
              <a:rPr lang="en-US" dirty="0"/>
              <a:t>10,000+	jobs/week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Hadoop Ecosystem - GeeksforGeeks">
            <a:extLst>
              <a:ext uri="{FF2B5EF4-FFF2-40B4-BE49-F238E27FC236}">
                <a16:creationId xmlns:a16="http://schemas.microsoft.com/office/drawing/2014/main" id="{A91C7BFE-4D9A-44FA-83F6-36B38424ECD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102403" y="643467"/>
            <a:ext cx="8260797"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16478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427D715-34D9-2E05-94AA-5F235779AE3D}"/>
              </a:ext>
            </a:extLst>
          </p:cNvPr>
          <p:cNvSpPr>
            <a:spLocks noGrp="1"/>
          </p:cNvSpPr>
          <p:nvPr>
            <p:ph type="title"/>
          </p:nvPr>
        </p:nvSpPr>
        <p:spPr/>
        <p:txBody>
          <a:bodyPr/>
          <a:lstStyle/>
          <a:p>
            <a:r>
              <a:rPr lang="en-IN" dirty="0"/>
              <a:t>Hadoop ecosystem</a:t>
            </a:r>
          </a:p>
        </p:txBody>
      </p:sp>
      <p:sp>
        <p:nvSpPr>
          <p:cNvPr id="5" name="Content Placeholder 4">
            <a:extLst>
              <a:ext uri="{FF2B5EF4-FFF2-40B4-BE49-F238E27FC236}">
                <a16:creationId xmlns:a16="http://schemas.microsoft.com/office/drawing/2014/main" id="{B5E9DD76-1287-EAD3-3ADF-C873E904DBAE}"/>
              </a:ext>
            </a:extLst>
          </p:cNvPr>
          <p:cNvSpPr>
            <a:spLocks noGrp="1"/>
          </p:cNvSpPr>
          <p:nvPr>
            <p:ph idx="1"/>
          </p:nvPr>
        </p:nvSpPr>
        <p:spPr>
          <a:xfrm>
            <a:off x="1981200" y="1690689"/>
            <a:ext cx="8058150" cy="4486274"/>
          </a:xfrm>
        </p:spPr>
        <p:txBody>
          <a:bodyPr/>
          <a:lstStyle/>
          <a:p>
            <a:r>
              <a:rPr lang="en-IN" dirty="0"/>
              <a:t>HDFS: Hadoop Distributed File System</a:t>
            </a:r>
          </a:p>
          <a:p>
            <a:r>
              <a:rPr lang="en-IN" dirty="0"/>
              <a:t>YARN: Yet Another Resource Negotiator</a:t>
            </a:r>
          </a:p>
          <a:p>
            <a:r>
              <a:rPr lang="en-IN" dirty="0"/>
              <a:t>MapReduce: Programming based Data Processing</a:t>
            </a:r>
          </a:p>
          <a:p>
            <a:r>
              <a:rPr lang="en-IN" dirty="0"/>
              <a:t>Spark: In-Memory data processing</a:t>
            </a:r>
          </a:p>
          <a:p>
            <a:r>
              <a:rPr lang="en-IN" dirty="0"/>
              <a:t>PIG, HIVE: Query based processing of data services</a:t>
            </a:r>
          </a:p>
          <a:p>
            <a:r>
              <a:rPr lang="en-IN" dirty="0"/>
              <a:t>HBase: NoSQL Database</a:t>
            </a:r>
          </a:p>
          <a:p>
            <a:r>
              <a:rPr lang="en-IN" dirty="0"/>
              <a:t>Mahout, Spark </a:t>
            </a:r>
            <a:r>
              <a:rPr lang="en-IN" dirty="0" err="1"/>
              <a:t>MLLib</a:t>
            </a:r>
            <a:r>
              <a:rPr lang="en-IN" dirty="0"/>
              <a:t>: Machine Learning algorithm libraries</a:t>
            </a:r>
          </a:p>
          <a:p>
            <a:r>
              <a:rPr lang="en-IN" dirty="0"/>
              <a:t>Solar, Lucene: Searching and Indexing</a:t>
            </a:r>
          </a:p>
          <a:p>
            <a:r>
              <a:rPr lang="en-IN" dirty="0"/>
              <a:t>Zookeeper: Managing cluster</a:t>
            </a:r>
          </a:p>
          <a:p>
            <a:r>
              <a:rPr lang="en-IN" dirty="0"/>
              <a:t>Oozie: Job Scheduling</a:t>
            </a:r>
          </a:p>
          <a:p>
            <a:endParaRPr lang="en-IN" dirty="0"/>
          </a:p>
        </p:txBody>
      </p:sp>
    </p:spTree>
    <p:extLst>
      <p:ext uri="{BB962C8B-B14F-4D97-AF65-F5344CB8AC3E}">
        <p14:creationId xmlns:p14="http://schemas.microsoft.com/office/powerpoint/2010/main" val="17691391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Hadoop Ecosystem - GeeksforGeeks">
            <a:extLst>
              <a:ext uri="{FF2B5EF4-FFF2-40B4-BE49-F238E27FC236}">
                <a16:creationId xmlns:a16="http://schemas.microsoft.com/office/drawing/2014/main" id="{A91C7BFE-4D9A-44FA-83F6-36B38424ECD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102403" y="643467"/>
            <a:ext cx="8260797"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3884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785D1-FDA5-CCD6-9C74-C0BFB3418509}"/>
              </a:ext>
            </a:extLst>
          </p:cNvPr>
          <p:cNvSpPr>
            <a:spLocks noGrp="1"/>
          </p:cNvSpPr>
          <p:nvPr>
            <p:ph type="title"/>
          </p:nvPr>
        </p:nvSpPr>
        <p:spPr/>
        <p:txBody>
          <a:bodyPr/>
          <a:lstStyle/>
          <a:p>
            <a:r>
              <a:rPr lang="en-US" dirty="0"/>
              <a:t>HDFS: </a:t>
            </a:r>
            <a:br>
              <a:rPr lang="en-US" dirty="0"/>
            </a:br>
            <a:endParaRPr lang="en-IN" dirty="0"/>
          </a:p>
        </p:txBody>
      </p:sp>
      <p:sp>
        <p:nvSpPr>
          <p:cNvPr id="3" name="Content Placeholder 2">
            <a:extLst>
              <a:ext uri="{FF2B5EF4-FFF2-40B4-BE49-F238E27FC236}">
                <a16:creationId xmlns:a16="http://schemas.microsoft.com/office/drawing/2014/main" id="{FDC33B46-6D76-3FE5-A916-43C322589E15}"/>
              </a:ext>
            </a:extLst>
          </p:cNvPr>
          <p:cNvSpPr>
            <a:spLocks noGrp="1"/>
          </p:cNvSpPr>
          <p:nvPr>
            <p:ph idx="1"/>
          </p:nvPr>
        </p:nvSpPr>
        <p:spPr>
          <a:xfrm>
            <a:off x="1981200" y="1143000"/>
            <a:ext cx="8534400" cy="5189538"/>
          </a:xfrm>
        </p:spPr>
        <p:txBody>
          <a:bodyPr>
            <a:normAutofit/>
          </a:bodyPr>
          <a:lstStyle/>
          <a:p>
            <a:pPr marL="0" indent="0">
              <a:buNone/>
            </a:pPr>
            <a:r>
              <a:rPr lang="en-US" dirty="0"/>
              <a:t>HDFS is the primary or major component of Hadoop ecosystem and is responsible for storing large data sets of structured or unstructured data across various nodes and thereby maintaining the metadata in the form of log files.</a:t>
            </a:r>
          </a:p>
          <a:p>
            <a:pPr marL="0" indent="0">
              <a:buNone/>
            </a:pPr>
            <a:r>
              <a:rPr lang="en-US" dirty="0"/>
              <a:t>HDFS consists of two core components i.e. </a:t>
            </a:r>
          </a:p>
          <a:p>
            <a:r>
              <a:rPr lang="en-US" dirty="0"/>
              <a:t>Name node</a:t>
            </a:r>
          </a:p>
          <a:p>
            <a:r>
              <a:rPr lang="en-US" dirty="0"/>
              <a:t>Data Node</a:t>
            </a:r>
          </a:p>
          <a:p>
            <a:pPr marL="0" indent="0">
              <a:buNone/>
            </a:pPr>
            <a:r>
              <a:rPr lang="en-US" dirty="0">
                <a:solidFill>
                  <a:srgbClr val="FF0000"/>
                </a:solidFill>
              </a:rPr>
              <a:t>Name Node </a:t>
            </a:r>
            <a:r>
              <a:rPr lang="en-US" dirty="0"/>
              <a:t>is the prime node which contains metadata (data about data) requiring comparatively fewer resources than the </a:t>
            </a:r>
            <a:r>
              <a:rPr lang="en-US" dirty="0">
                <a:solidFill>
                  <a:srgbClr val="FF0000"/>
                </a:solidFill>
              </a:rPr>
              <a:t>data nodes </a:t>
            </a:r>
            <a:r>
              <a:rPr lang="en-US" dirty="0"/>
              <a:t>that </a:t>
            </a:r>
            <a:r>
              <a:rPr lang="en-US" dirty="0">
                <a:solidFill>
                  <a:srgbClr val="FF0000"/>
                </a:solidFill>
              </a:rPr>
              <a:t>stores the actual data</a:t>
            </a:r>
            <a:r>
              <a:rPr lang="en-US" dirty="0"/>
              <a:t>. These data nodes are commodity hardware in the distributed environment. Undoubtedly, making Hadoop cost effective.</a:t>
            </a:r>
          </a:p>
          <a:p>
            <a:pPr marL="0" indent="0">
              <a:buNone/>
            </a:pPr>
            <a:r>
              <a:rPr lang="en-US" dirty="0"/>
              <a:t>HDFS maintains all the coordination between the clusters and hardware, thus working at the heart of the system.</a:t>
            </a:r>
            <a:endParaRPr lang="en-IN" dirty="0"/>
          </a:p>
        </p:txBody>
      </p:sp>
    </p:spTree>
    <p:extLst>
      <p:ext uri="{BB962C8B-B14F-4D97-AF65-F5344CB8AC3E}">
        <p14:creationId xmlns:p14="http://schemas.microsoft.com/office/powerpoint/2010/main" val="14837724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28538-9CB4-8624-3A8C-8D4BBBEA0295}"/>
              </a:ext>
            </a:extLst>
          </p:cNvPr>
          <p:cNvSpPr>
            <a:spLocks noGrp="1"/>
          </p:cNvSpPr>
          <p:nvPr>
            <p:ph type="title"/>
          </p:nvPr>
        </p:nvSpPr>
        <p:spPr/>
        <p:txBody>
          <a:bodyPr/>
          <a:lstStyle/>
          <a:p>
            <a:r>
              <a:rPr lang="en-IN" dirty="0"/>
              <a:t>Apache HBase</a:t>
            </a:r>
          </a:p>
        </p:txBody>
      </p:sp>
      <p:sp>
        <p:nvSpPr>
          <p:cNvPr id="3" name="Content Placeholder 2">
            <a:extLst>
              <a:ext uri="{FF2B5EF4-FFF2-40B4-BE49-F238E27FC236}">
                <a16:creationId xmlns:a16="http://schemas.microsoft.com/office/drawing/2014/main" id="{FB4328BC-75AA-337F-36EE-CB35057B1D39}"/>
              </a:ext>
            </a:extLst>
          </p:cNvPr>
          <p:cNvSpPr>
            <a:spLocks noGrp="1"/>
          </p:cNvSpPr>
          <p:nvPr>
            <p:ph idx="1"/>
          </p:nvPr>
        </p:nvSpPr>
        <p:spPr/>
        <p:txBody>
          <a:bodyPr/>
          <a:lstStyle/>
          <a:p>
            <a:r>
              <a:rPr lang="en-US" dirty="0"/>
              <a:t>It’s </a:t>
            </a:r>
            <a:r>
              <a:rPr lang="en-US" dirty="0">
                <a:solidFill>
                  <a:srgbClr val="FF0000"/>
                </a:solidFill>
              </a:rPr>
              <a:t>a NoSQL database </a:t>
            </a:r>
            <a:r>
              <a:rPr lang="en-US" dirty="0"/>
              <a:t>which supports </a:t>
            </a:r>
            <a:r>
              <a:rPr lang="en-US" dirty="0">
                <a:solidFill>
                  <a:srgbClr val="FF0000"/>
                </a:solidFill>
              </a:rPr>
              <a:t>all kinds of data </a:t>
            </a:r>
            <a:r>
              <a:rPr lang="en-US" dirty="0"/>
              <a:t>and thus capable of handling anything of Hadoop Database. It provides capabilities of Google’s </a:t>
            </a:r>
            <a:r>
              <a:rPr lang="en-US" dirty="0" err="1"/>
              <a:t>BigTable</a:t>
            </a:r>
            <a:r>
              <a:rPr lang="en-US" dirty="0"/>
              <a:t>, thus able to work on Big Data sets effectively.</a:t>
            </a:r>
          </a:p>
          <a:p>
            <a:r>
              <a:rPr lang="en-US" dirty="0"/>
              <a:t>At times where we need to search or retrieve the occurrences of something small in a huge database, the request must be processed within a short quick span of time. At such times, HBase comes handy as it gives us a tolerant way of storing limited data</a:t>
            </a:r>
            <a:endParaRPr lang="en-IN" dirty="0"/>
          </a:p>
        </p:txBody>
      </p:sp>
    </p:spTree>
    <p:extLst>
      <p:ext uri="{BB962C8B-B14F-4D97-AF65-F5344CB8AC3E}">
        <p14:creationId xmlns:p14="http://schemas.microsoft.com/office/powerpoint/2010/main" val="20890257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Hadoop Ecosystem - GeeksforGeeks">
            <a:extLst>
              <a:ext uri="{FF2B5EF4-FFF2-40B4-BE49-F238E27FC236}">
                <a16:creationId xmlns:a16="http://schemas.microsoft.com/office/drawing/2014/main" id="{A91C7BFE-4D9A-44FA-83F6-36B38424ECD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102403" y="643467"/>
            <a:ext cx="8260797"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37078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F1ADC-8C1D-2E71-A308-B7ED395D9B25}"/>
              </a:ext>
            </a:extLst>
          </p:cNvPr>
          <p:cNvSpPr>
            <a:spLocks noGrp="1"/>
          </p:cNvSpPr>
          <p:nvPr>
            <p:ph type="title"/>
          </p:nvPr>
        </p:nvSpPr>
        <p:spPr/>
        <p:txBody>
          <a:bodyPr/>
          <a:lstStyle/>
          <a:p>
            <a:r>
              <a:rPr lang="en-IN" dirty="0"/>
              <a:t>YARN</a:t>
            </a:r>
          </a:p>
        </p:txBody>
      </p:sp>
      <p:sp>
        <p:nvSpPr>
          <p:cNvPr id="3" name="Content Placeholder 2">
            <a:extLst>
              <a:ext uri="{FF2B5EF4-FFF2-40B4-BE49-F238E27FC236}">
                <a16:creationId xmlns:a16="http://schemas.microsoft.com/office/drawing/2014/main" id="{C1EDBE1E-D4AD-F94E-1334-7DC876C52EE5}"/>
              </a:ext>
            </a:extLst>
          </p:cNvPr>
          <p:cNvSpPr>
            <a:spLocks noGrp="1"/>
          </p:cNvSpPr>
          <p:nvPr>
            <p:ph idx="1"/>
          </p:nvPr>
        </p:nvSpPr>
        <p:spPr>
          <a:xfrm>
            <a:off x="2152650" y="1371601"/>
            <a:ext cx="7886700" cy="5121273"/>
          </a:xfrm>
        </p:spPr>
        <p:txBody>
          <a:bodyPr>
            <a:normAutofit/>
          </a:bodyPr>
          <a:lstStyle/>
          <a:p>
            <a:pPr marL="0" indent="0">
              <a:buNone/>
            </a:pPr>
            <a:r>
              <a:rPr lang="en-US" dirty="0"/>
              <a:t>Yet Another Resource Negotiator, as the name implies, YARN is the one who helps to </a:t>
            </a:r>
            <a:r>
              <a:rPr lang="en-US" dirty="0">
                <a:solidFill>
                  <a:srgbClr val="FF0000"/>
                </a:solidFill>
              </a:rPr>
              <a:t>manage the resources across the clusters</a:t>
            </a:r>
            <a:r>
              <a:rPr lang="en-US" dirty="0"/>
              <a:t>. In short, it </a:t>
            </a:r>
            <a:r>
              <a:rPr lang="en-US" dirty="0">
                <a:solidFill>
                  <a:srgbClr val="FF0000"/>
                </a:solidFill>
              </a:rPr>
              <a:t>performs scheduling and resource allocation </a:t>
            </a:r>
            <a:r>
              <a:rPr lang="en-US" dirty="0"/>
              <a:t>for the Hadoop System.</a:t>
            </a:r>
          </a:p>
          <a:p>
            <a:pPr marL="0" indent="0">
              <a:buNone/>
            </a:pPr>
            <a:r>
              <a:rPr lang="en-US" dirty="0"/>
              <a:t>Consists of three major components i.e. </a:t>
            </a:r>
          </a:p>
          <a:p>
            <a:pPr marL="574675"/>
            <a:r>
              <a:rPr lang="en-US" dirty="0"/>
              <a:t>Resource Manager</a:t>
            </a:r>
          </a:p>
          <a:p>
            <a:pPr marL="574675"/>
            <a:r>
              <a:rPr lang="en-US" dirty="0"/>
              <a:t>Nodes Manager</a:t>
            </a:r>
          </a:p>
          <a:p>
            <a:pPr marL="574675"/>
            <a:r>
              <a:rPr lang="en-US" dirty="0"/>
              <a:t>Application Manager</a:t>
            </a:r>
          </a:p>
          <a:p>
            <a:pPr marL="0" indent="0">
              <a:buNone/>
            </a:pPr>
            <a:r>
              <a:rPr lang="en-US" dirty="0">
                <a:solidFill>
                  <a:srgbClr val="FF0000"/>
                </a:solidFill>
              </a:rPr>
              <a:t>Resource manager </a:t>
            </a:r>
            <a:r>
              <a:rPr lang="en-US" dirty="0"/>
              <a:t>has the privilege of </a:t>
            </a:r>
            <a:r>
              <a:rPr lang="en-US" dirty="0">
                <a:solidFill>
                  <a:srgbClr val="FF0000"/>
                </a:solidFill>
              </a:rPr>
              <a:t>allocating resources </a:t>
            </a:r>
            <a:r>
              <a:rPr lang="en-US" dirty="0"/>
              <a:t>for the applications in a system whereas </a:t>
            </a:r>
            <a:r>
              <a:rPr lang="en-US" dirty="0">
                <a:solidFill>
                  <a:srgbClr val="FF0000"/>
                </a:solidFill>
              </a:rPr>
              <a:t>Node managers </a:t>
            </a:r>
            <a:r>
              <a:rPr lang="en-US" dirty="0"/>
              <a:t>work on the allocation of resources such </a:t>
            </a:r>
            <a:r>
              <a:rPr lang="en-US" dirty="0">
                <a:solidFill>
                  <a:srgbClr val="FF0000"/>
                </a:solidFill>
              </a:rPr>
              <a:t>as CPU, memory, bandwidth per machine </a:t>
            </a:r>
            <a:r>
              <a:rPr lang="en-US" dirty="0"/>
              <a:t>and later on acknowledges the resource manager. </a:t>
            </a:r>
          </a:p>
          <a:p>
            <a:pPr marL="0" indent="0">
              <a:buNone/>
            </a:pPr>
            <a:r>
              <a:rPr lang="en-US" dirty="0">
                <a:solidFill>
                  <a:srgbClr val="FF0000"/>
                </a:solidFill>
              </a:rPr>
              <a:t>Application manager </a:t>
            </a:r>
            <a:r>
              <a:rPr lang="en-US" dirty="0"/>
              <a:t>works as an </a:t>
            </a:r>
            <a:r>
              <a:rPr lang="en-US" dirty="0">
                <a:solidFill>
                  <a:srgbClr val="FF0000"/>
                </a:solidFill>
              </a:rPr>
              <a:t>interface between the resource manager </a:t>
            </a:r>
            <a:r>
              <a:rPr lang="en-US" dirty="0"/>
              <a:t>and node manager and performs negotiations as per the requirement of the two.</a:t>
            </a:r>
            <a:endParaRPr lang="en-IN" dirty="0"/>
          </a:p>
        </p:txBody>
      </p:sp>
    </p:spTree>
    <p:extLst>
      <p:ext uri="{BB962C8B-B14F-4D97-AF65-F5344CB8AC3E}">
        <p14:creationId xmlns:p14="http://schemas.microsoft.com/office/powerpoint/2010/main" val="42576781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DF11A-F180-3847-D2AF-95D7FE2F2441}"/>
              </a:ext>
            </a:extLst>
          </p:cNvPr>
          <p:cNvSpPr>
            <a:spLocks noGrp="1"/>
          </p:cNvSpPr>
          <p:nvPr>
            <p:ph type="title"/>
          </p:nvPr>
        </p:nvSpPr>
        <p:spPr/>
        <p:txBody>
          <a:bodyPr/>
          <a:lstStyle/>
          <a:p>
            <a:r>
              <a:rPr lang="en-IN" dirty="0"/>
              <a:t>MapReduce </a:t>
            </a:r>
          </a:p>
        </p:txBody>
      </p:sp>
      <p:sp>
        <p:nvSpPr>
          <p:cNvPr id="3" name="Content Placeholder 2">
            <a:extLst>
              <a:ext uri="{FF2B5EF4-FFF2-40B4-BE49-F238E27FC236}">
                <a16:creationId xmlns:a16="http://schemas.microsoft.com/office/drawing/2014/main" id="{65DAB2FF-E7D6-6E2F-15E3-9756986A35E1}"/>
              </a:ext>
            </a:extLst>
          </p:cNvPr>
          <p:cNvSpPr>
            <a:spLocks noGrp="1"/>
          </p:cNvSpPr>
          <p:nvPr>
            <p:ph idx="1"/>
          </p:nvPr>
        </p:nvSpPr>
        <p:spPr>
          <a:xfrm>
            <a:off x="2152650" y="1524001"/>
            <a:ext cx="7886700" cy="4652963"/>
          </a:xfrm>
        </p:spPr>
        <p:txBody>
          <a:bodyPr>
            <a:normAutofit/>
          </a:bodyPr>
          <a:lstStyle/>
          <a:p>
            <a:pPr marL="0" indent="0">
              <a:buNone/>
            </a:pPr>
            <a:r>
              <a:rPr lang="en-US" dirty="0"/>
              <a:t>By making the use of distributed and parallel algorithms, MapReduce makes it possible to carry over the </a:t>
            </a:r>
            <a:r>
              <a:rPr lang="en-US" dirty="0">
                <a:solidFill>
                  <a:srgbClr val="FF0000"/>
                </a:solidFill>
              </a:rPr>
              <a:t>processing’s logic and helps to write applications</a:t>
            </a:r>
            <a:r>
              <a:rPr lang="en-US" dirty="0"/>
              <a:t> which transform big data sets into a manageable one.</a:t>
            </a:r>
          </a:p>
          <a:p>
            <a:pPr marL="0" indent="0">
              <a:buNone/>
            </a:pPr>
            <a:r>
              <a:rPr lang="en-US" dirty="0"/>
              <a:t>MapReduce makes the use of two functions i.e. Map() and Reduce() whose task is: </a:t>
            </a:r>
          </a:p>
          <a:p>
            <a:r>
              <a:rPr lang="en-US" dirty="0"/>
              <a:t>Map() performs </a:t>
            </a:r>
            <a:r>
              <a:rPr lang="en-US" dirty="0">
                <a:solidFill>
                  <a:srgbClr val="FF0000"/>
                </a:solidFill>
              </a:rPr>
              <a:t>sorting and filtering </a:t>
            </a:r>
            <a:r>
              <a:rPr lang="en-US" dirty="0"/>
              <a:t>of data and thereby organizing them in the form of group. Map generates a key-value pair based result which is </a:t>
            </a:r>
            <a:r>
              <a:rPr lang="en-US" dirty="0" err="1"/>
              <a:t>lateron</a:t>
            </a:r>
            <a:r>
              <a:rPr lang="en-US" dirty="0"/>
              <a:t> processed by the Reduce() method.</a:t>
            </a:r>
          </a:p>
          <a:p>
            <a:r>
              <a:rPr lang="en-US" dirty="0"/>
              <a:t>Reduce(), as the name suggests does the </a:t>
            </a:r>
            <a:r>
              <a:rPr lang="en-US" dirty="0">
                <a:solidFill>
                  <a:srgbClr val="FF0000"/>
                </a:solidFill>
              </a:rPr>
              <a:t>summarization by aggregating the mapped data</a:t>
            </a:r>
            <a:r>
              <a:rPr lang="en-US" dirty="0"/>
              <a:t>. In simple, Reduce() takes the output generated by Map() as input and combines those tuples into smaller set of tuples.</a:t>
            </a:r>
            <a:endParaRPr lang="en-IN" dirty="0"/>
          </a:p>
        </p:txBody>
      </p:sp>
    </p:spTree>
    <p:extLst>
      <p:ext uri="{BB962C8B-B14F-4D97-AF65-F5344CB8AC3E}">
        <p14:creationId xmlns:p14="http://schemas.microsoft.com/office/powerpoint/2010/main" val="5900039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Hadoop Ecosystem - GeeksforGeeks">
            <a:extLst>
              <a:ext uri="{FF2B5EF4-FFF2-40B4-BE49-F238E27FC236}">
                <a16:creationId xmlns:a16="http://schemas.microsoft.com/office/drawing/2014/main" id="{A91C7BFE-4D9A-44FA-83F6-36B38424ECD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102403" y="643467"/>
            <a:ext cx="8260797"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99206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BC566-3498-BE59-286E-E7C68128C85B}"/>
              </a:ext>
            </a:extLst>
          </p:cNvPr>
          <p:cNvSpPr>
            <a:spLocks noGrp="1"/>
          </p:cNvSpPr>
          <p:nvPr>
            <p:ph type="title"/>
          </p:nvPr>
        </p:nvSpPr>
        <p:spPr>
          <a:xfrm>
            <a:off x="2152650" y="365127"/>
            <a:ext cx="7886700" cy="315911"/>
          </a:xfrm>
        </p:spPr>
        <p:txBody>
          <a:bodyPr>
            <a:normAutofit fontScale="90000"/>
          </a:bodyPr>
          <a:lstStyle/>
          <a:p>
            <a:r>
              <a:rPr lang="en-IN" dirty="0"/>
              <a:t>PIG</a:t>
            </a:r>
          </a:p>
        </p:txBody>
      </p:sp>
      <p:sp>
        <p:nvSpPr>
          <p:cNvPr id="3" name="Content Placeholder 2">
            <a:extLst>
              <a:ext uri="{FF2B5EF4-FFF2-40B4-BE49-F238E27FC236}">
                <a16:creationId xmlns:a16="http://schemas.microsoft.com/office/drawing/2014/main" id="{7EC452E9-1ABB-B210-6FC7-5A84122E78AE}"/>
              </a:ext>
            </a:extLst>
          </p:cNvPr>
          <p:cNvSpPr>
            <a:spLocks noGrp="1"/>
          </p:cNvSpPr>
          <p:nvPr>
            <p:ph idx="1"/>
          </p:nvPr>
        </p:nvSpPr>
        <p:spPr>
          <a:xfrm>
            <a:off x="1905000" y="914401"/>
            <a:ext cx="8134350" cy="4952999"/>
          </a:xfrm>
        </p:spPr>
        <p:txBody>
          <a:bodyPr>
            <a:normAutofit fontScale="92500"/>
          </a:bodyPr>
          <a:lstStyle/>
          <a:p>
            <a:pPr marL="0" indent="0">
              <a:buNone/>
            </a:pPr>
            <a:r>
              <a:rPr lang="en-US" sz="2400" dirty="0"/>
              <a:t>Pig was basically developed by Yahoo which works on a pig Latin language, which is </a:t>
            </a:r>
            <a:r>
              <a:rPr lang="en-US" sz="2400" dirty="0">
                <a:solidFill>
                  <a:srgbClr val="FF0000"/>
                </a:solidFill>
              </a:rPr>
              <a:t>Query based language similar to SQL</a:t>
            </a:r>
            <a:r>
              <a:rPr lang="en-US" sz="2400" dirty="0"/>
              <a:t>.</a:t>
            </a:r>
          </a:p>
          <a:p>
            <a:r>
              <a:rPr lang="en-US" sz="2400" dirty="0"/>
              <a:t>It is a platform for structuring the </a:t>
            </a:r>
            <a:r>
              <a:rPr lang="en-US" sz="2400" dirty="0">
                <a:solidFill>
                  <a:srgbClr val="FF0000"/>
                </a:solidFill>
              </a:rPr>
              <a:t>data flow</a:t>
            </a:r>
            <a:r>
              <a:rPr lang="en-US" sz="2400" dirty="0"/>
              <a:t>, processing and analyzing huge data sets.</a:t>
            </a:r>
          </a:p>
          <a:p>
            <a:r>
              <a:rPr lang="en-US" sz="2400" dirty="0"/>
              <a:t>Pig does the work of executing commands and in the background, all the activities of </a:t>
            </a:r>
            <a:r>
              <a:rPr lang="en-US" sz="2400" dirty="0">
                <a:solidFill>
                  <a:srgbClr val="FF0000"/>
                </a:solidFill>
              </a:rPr>
              <a:t>MapReduce</a:t>
            </a:r>
            <a:r>
              <a:rPr lang="en-US" sz="2400" dirty="0"/>
              <a:t> are taken care of. After the processing, pig stores the result in </a:t>
            </a:r>
            <a:r>
              <a:rPr lang="en-US" sz="2400" dirty="0">
                <a:solidFill>
                  <a:srgbClr val="FF0000"/>
                </a:solidFill>
              </a:rPr>
              <a:t>HDFS</a:t>
            </a:r>
            <a:r>
              <a:rPr lang="en-US" sz="2400" dirty="0"/>
              <a:t>.</a:t>
            </a:r>
          </a:p>
          <a:p>
            <a:r>
              <a:rPr lang="en-US" sz="2400" dirty="0">
                <a:solidFill>
                  <a:srgbClr val="FF0000"/>
                </a:solidFill>
              </a:rPr>
              <a:t>Pig Latin language </a:t>
            </a:r>
            <a:r>
              <a:rPr lang="en-US" sz="2400" dirty="0"/>
              <a:t>is specially designed for this framework which runs on </a:t>
            </a:r>
            <a:r>
              <a:rPr lang="en-US" sz="2400" dirty="0">
                <a:solidFill>
                  <a:srgbClr val="FF0000"/>
                </a:solidFill>
              </a:rPr>
              <a:t>Pig Runtime</a:t>
            </a:r>
            <a:r>
              <a:rPr lang="en-US" sz="2400" dirty="0"/>
              <a:t>. Just the way Java runs on the JVM.</a:t>
            </a:r>
          </a:p>
          <a:p>
            <a:r>
              <a:rPr lang="en-US" sz="2400" dirty="0"/>
              <a:t>Pig helps to achieve ease of programming and optimization and hence is a major segment of the Hadoop Ecosystem.</a:t>
            </a:r>
            <a:endParaRPr lang="en-IN" sz="2400" dirty="0"/>
          </a:p>
        </p:txBody>
      </p:sp>
    </p:spTree>
    <p:extLst>
      <p:ext uri="{BB962C8B-B14F-4D97-AF65-F5344CB8AC3E}">
        <p14:creationId xmlns:p14="http://schemas.microsoft.com/office/powerpoint/2010/main" val="11907213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DE77D-9C10-7F37-01F7-6B8F5721DF35}"/>
              </a:ext>
            </a:extLst>
          </p:cNvPr>
          <p:cNvSpPr>
            <a:spLocks noGrp="1"/>
          </p:cNvSpPr>
          <p:nvPr>
            <p:ph type="title"/>
          </p:nvPr>
        </p:nvSpPr>
        <p:spPr/>
        <p:txBody>
          <a:bodyPr/>
          <a:lstStyle/>
          <a:p>
            <a:r>
              <a:rPr lang="en-IN" dirty="0"/>
              <a:t>HIVE</a:t>
            </a:r>
          </a:p>
        </p:txBody>
      </p:sp>
      <p:sp>
        <p:nvSpPr>
          <p:cNvPr id="3" name="Content Placeholder 2">
            <a:extLst>
              <a:ext uri="{FF2B5EF4-FFF2-40B4-BE49-F238E27FC236}">
                <a16:creationId xmlns:a16="http://schemas.microsoft.com/office/drawing/2014/main" id="{9680F85E-A37A-0B4F-9A63-B762020FBBBD}"/>
              </a:ext>
            </a:extLst>
          </p:cNvPr>
          <p:cNvSpPr>
            <a:spLocks noGrp="1"/>
          </p:cNvSpPr>
          <p:nvPr>
            <p:ph idx="1"/>
          </p:nvPr>
        </p:nvSpPr>
        <p:spPr>
          <a:xfrm>
            <a:off x="2152650" y="1447801"/>
            <a:ext cx="7886700" cy="4729163"/>
          </a:xfrm>
        </p:spPr>
        <p:txBody>
          <a:bodyPr/>
          <a:lstStyle/>
          <a:p>
            <a:r>
              <a:rPr lang="en-US" dirty="0"/>
              <a:t>With the help of SQL methodology and interface, HIVE performs </a:t>
            </a:r>
            <a:r>
              <a:rPr lang="en-US" dirty="0">
                <a:solidFill>
                  <a:srgbClr val="FF0000"/>
                </a:solidFill>
              </a:rPr>
              <a:t>reading and writing </a:t>
            </a:r>
            <a:r>
              <a:rPr lang="en-US" dirty="0"/>
              <a:t>of large data sets. However, its query language is called as </a:t>
            </a:r>
            <a:r>
              <a:rPr lang="en-US" dirty="0">
                <a:solidFill>
                  <a:srgbClr val="FF0000"/>
                </a:solidFill>
              </a:rPr>
              <a:t>HQL</a:t>
            </a:r>
            <a:r>
              <a:rPr lang="en-US" dirty="0"/>
              <a:t> (Hive Query Language).</a:t>
            </a:r>
          </a:p>
          <a:p>
            <a:r>
              <a:rPr lang="en-US" dirty="0"/>
              <a:t>It is highly scalable as it allows real-time processing and batch processing both. Also, all the SQL datatypes are supported by Hive thus, making the </a:t>
            </a:r>
            <a:r>
              <a:rPr lang="en-US" dirty="0">
                <a:solidFill>
                  <a:srgbClr val="FF0000"/>
                </a:solidFill>
              </a:rPr>
              <a:t>query processing easier</a:t>
            </a:r>
            <a:r>
              <a:rPr lang="en-US" dirty="0"/>
              <a:t>.</a:t>
            </a:r>
          </a:p>
          <a:p>
            <a:r>
              <a:rPr lang="en-US" dirty="0"/>
              <a:t>Similar to the Query Processing frameworks, HIVE too comes with two components: </a:t>
            </a:r>
            <a:r>
              <a:rPr lang="en-US" dirty="0">
                <a:solidFill>
                  <a:srgbClr val="FF0000"/>
                </a:solidFill>
              </a:rPr>
              <a:t>JDBC Drivers and HIVE Command Line</a:t>
            </a:r>
            <a:r>
              <a:rPr lang="en-US" dirty="0"/>
              <a:t>.</a:t>
            </a:r>
          </a:p>
          <a:p>
            <a:r>
              <a:rPr lang="en-US" dirty="0"/>
              <a:t>JDBC, along with ODBC drivers work on establishing the data storage permissions and connection whereas HIVE Command line helps in the processing of queries.</a:t>
            </a:r>
          </a:p>
        </p:txBody>
      </p:sp>
    </p:spTree>
    <p:extLst>
      <p:ext uri="{BB962C8B-B14F-4D97-AF65-F5344CB8AC3E}">
        <p14:creationId xmlns:p14="http://schemas.microsoft.com/office/powerpoint/2010/main" val="16248806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CD843-3280-ED7D-4961-7D499F9C8720}"/>
              </a:ext>
            </a:extLst>
          </p:cNvPr>
          <p:cNvSpPr>
            <a:spLocks noGrp="1"/>
          </p:cNvSpPr>
          <p:nvPr>
            <p:ph type="title"/>
          </p:nvPr>
        </p:nvSpPr>
        <p:spPr/>
        <p:txBody>
          <a:bodyPr/>
          <a:lstStyle/>
          <a:p>
            <a:r>
              <a:rPr lang="en-IN" dirty="0"/>
              <a:t>Mahout</a:t>
            </a:r>
          </a:p>
        </p:txBody>
      </p:sp>
      <p:sp>
        <p:nvSpPr>
          <p:cNvPr id="3" name="Content Placeholder 2">
            <a:extLst>
              <a:ext uri="{FF2B5EF4-FFF2-40B4-BE49-F238E27FC236}">
                <a16:creationId xmlns:a16="http://schemas.microsoft.com/office/drawing/2014/main" id="{13830B87-9CB2-5511-F012-FD8F72002BDC}"/>
              </a:ext>
            </a:extLst>
          </p:cNvPr>
          <p:cNvSpPr>
            <a:spLocks noGrp="1"/>
          </p:cNvSpPr>
          <p:nvPr>
            <p:ph idx="1"/>
          </p:nvPr>
        </p:nvSpPr>
        <p:spPr/>
        <p:txBody>
          <a:bodyPr/>
          <a:lstStyle/>
          <a:p>
            <a:r>
              <a:rPr lang="en-US" dirty="0"/>
              <a:t>Mahout, allows Machine Learnability to a system or application. Machine Learning, as the name suggests helps the system to </a:t>
            </a:r>
            <a:r>
              <a:rPr lang="en-US" dirty="0">
                <a:solidFill>
                  <a:srgbClr val="FF0000"/>
                </a:solidFill>
              </a:rPr>
              <a:t>develop itself based on some patterns, user/environmental interaction or on the basis of algorithms.</a:t>
            </a:r>
          </a:p>
          <a:p>
            <a:r>
              <a:rPr lang="en-US" dirty="0"/>
              <a:t>It provides various libraries or functionalities such as collaborative filtering, clustering, and classification which are nothing but concepts of Machine learning. It allows invoking algorithms as per our need with the help of its own libraries.</a:t>
            </a:r>
            <a:endParaRPr lang="en-IN" dirty="0"/>
          </a:p>
        </p:txBody>
      </p:sp>
    </p:spTree>
    <p:extLst>
      <p:ext uri="{BB962C8B-B14F-4D97-AF65-F5344CB8AC3E}">
        <p14:creationId xmlns:p14="http://schemas.microsoft.com/office/powerpoint/2010/main" val="6713079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2319C-E18D-00C3-A41E-82B883C6977B}"/>
              </a:ext>
            </a:extLst>
          </p:cNvPr>
          <p:cNvSpPr>
            <a:spLocks noGrp="1"/>
          </p:cNvSpPr>
          <p:nvPr>
            <p:ph type="title"/>
          </p:nvPr>
        </p:nvSpPr>
        <p:spPr/>
        <p:txBody>
          <a:bodyPr/>
          <a:lstStyle/>
          <a:p>
            <a:r>
              <a:rPr lang="en-IN" dirty="0"/>
              <a:t>Apache Spark</a:t>
            </a:r>
          </a:p>
        </p:txBody>
      </p:sp>
      <p:sp>
        <p:nvSpPr>
          <p:cNvPr id="3" name="Content Placeholder 2">
            <a:extLst>
              <a:ext uri="{FF2B5EF4-FFF2-40B4-BE49-F238E27FC236}">
                <a16:creationId xmlns:a16="http://schemas.microsoft.com/office/drawing/2014/main" id="{849E1A52-27E4-B95B-0EF8-C3414A6974CE}"/>
              </a:ext>
            </a:extLst>
          </p:cNvPr>
          <p:cNvSpPr>
            <a:spLocks noGrp="1"/>
          </p:cNvSpPr>
          <p:nvPr>
            <p:ph idx="1"/>
          </p:nvPr>
        </p:nvSpPr>
        <p:spPr>
          <a:xfrm>
            <a:off x="2057400" y="1825625"/>
            <a:ext cx="7981950" cy="4351338"/>
          </a:xfrm>
        </p:spPr>
        <p:txBody>
          <a:bodyPr/>
          <a:lstStyle/>
          <a:p>
            <a:r>
              <a:rPr lang="en-US" dirty="0"/>
              <a:t>It’s a platform that handles all the process consumptive tasks like </a:t>
            </a:r>
            <a:r>
              <a:rPr lang="en-US" dirty="0">
                <a:solidFill>
                  <a:srgbClr val="FF0000"/>
                </a:solidFill>
              </a:rPr>
              <a:t>batch processing, interactive or iterative real-time processing, graph conversions, and visualization</a:t>
            </a:r>
            <a:r>
              <a:rPr lang="en-US" dirty="0"/>
              <a:t>, etc.</a:t>
            </a:r>
          </a:p>
          <a:p>
            <a:r>
              <a:rPr lang="en-US" dirty="0"/>
              <a:t>It consumes in memory resources hence, thus being faster than the prior in terms of optimization.</a:t>
            </a:r>
          </a:p>
          <a:p>
            <a:r>
              <a:rPr lang="en-US" dirty="0"/>
              <a:t>Spark is best suited for real-time data whereas Hadoop is best suited for structured data or batch processing, hence both are used in most of the companies interchangeably.</a:t>
            </a:r>
            <a:endParaRPr lang="en-IN" dirty="0"/>
          </a:p>
        </p:txBody>
      </p:sp>
    </p:spTree>
    <p:extLst>
      <p:ext uri="{BB962C8B-B14F-4D97-AF65-F5344CB8AC3E}">
        <p14:creationId xmlns:p14="http://schemas.microsoft.com/office/powerpoint/2010/main" val="14803545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Hadoop Ecosystem - GeeksforGeeks">
            <a:extLst>
              <a:ext uri="{FF2B5EF4-FFF2-40B4-BE49-F238E27FC236}">
                <a16:creationId xmlns:a16="http://schemas.microsoft.com/office/drawing/2014/main" id="{A91C7BFE-4D9A-44FA-83F6-36B38424ECD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102403" y="643467"/>
            <a:ext cx="8260797"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382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AC93C-1E5F-2028-47B4-658D2FE0F244}"/>
              </a:ext>
            </a:extLst>
          </p:cNvPr>
          <p:cNvSpPr>
            <a:spLocks noGrp="1"/>
          </p:cNvSpPr>
          <p:nvPr>
            <p:ph type="title"/>
          </p:nvPr>
        </p:nvSpPr>
        <p:spPr/>
        <p:txBody>
          <a:bodyPr/>
          <a:lstStyle/>
          <a:p>
            <a:r>
              <a:rPr lang="en-US" dirty="0"/>
              <a:t>Data  Management </a:t>
            </a:r>
            <a:endParaRPr lang="en-IN" dirty="0"/>
          </a:p>
        </p:txBody>
      </p:sp>
      <p:sp>
        <p:nvSpPr>
          <p:cNvPr id="3" name="Content Placeholder 2">
            <a:extLst>
              <a:ext uri="{FF2B5EF4-FFF2-40B4-BE49-F238E27FC236}">
                <a16:creationId xmlns:a16="http://schemas.microsoft.com/office/drawing/2014/main" id="{72F8E023-9762-F652-6875-A762E19D42C6}"/>
              </a:ext>
            </a:extLst>
          </p:cNvPr>
          <p:cNvSpPr>
            <a:spLocks noGrp="1"/>
          </p:cNvSpPr>
          <p:nvPr>
            <p:ph idx="1"/>
          </p:nvPr>
        </p:nvSpPr>
        <p:spPr>
          <a:xfrm>
            <a:off x="2152650" y="1447801"/>
            <a:ext cx="7886700" cy="4729163"/>
          </a:xfrm>
        </p:spPr>
        <p:txBody>
          <a:bodyPr>
            <a:normAutofit/>
          </a:bodyPr>
          <a:lstStyle/>
          <a:p>
            <a:r>
              <a:rPr lang="en-US" dirty="0" err="1"/>
              <a:t>Solr</a:t>
            </a:r>
            <a:r>
              <a:rPr lang="en-US" dirty="0"/>
              <a:t>, Lucene: These are the two services that perform the task </a:t>
            </a:r>
            <a:r>
              <a:rPr lang="en-US" dirty="0">
                <a:solidFill>
                  <a:srgbClr val="FF0000"/>
                </a:solidFill>
              </a:rPr>
              <a:t>of searching and indexing </a:t>
            </a:r>
            <a:r>
              <a:rPr lang="en-US" dirty="0"/>
              <a:t>with the help of some java libraries, especially Lucene is based on Java which allows spell check mechanism, as well. However, Lucene is driven by </a:t>
            </a:r>
            <a:r>
              <a:rPr lang="en-US" dirty="0" err="1"/>
              <a:t>Solr</a:t>
            </a:r>
            <a:r>
              <a:rPr lang="en-US" dirty="0"/>
              <a:t>.</a:t>
            </a:r>
          </a:p>
          <a:p>
            <a:r>
              <a:rPr lang="en-US" dirty="0"/>
              <a:t>Zookeeper: There was a huge issue of </a:t>
            </a:r>
            <a:r>
              <a:rPr lang="en-US" dirty="0">
                <a:solidFill>
                  <a:srgbClr val="FF0000"/>
                </a:solidFill>
              </a:rPr>
              <a:t>management of coordination and synchronization</a:t>
            </a:r>
            <a:r>
              <a:rPr lang="en-US" dirty="0"/>
              <a:t> among the resources or the components of Hadoop which resulted in inconsistency, often. Zookeeper overcame all the problems by performing synchronization, inter-component based communication, grouping, and maintenance.</a:t>
            </a:r>
          </a:p>
          <a:p>
            <a:r>
              <a:rPr lang="en-US" dirty="0"/>
              <a:t>Oozie: Oozie simply performs the task of a scheduler, thus </a:t>
            </a:r>
            <a:r>
              <a:rPr lang="en-US" dirty="0">
                <a:solidFill>
                  <a:srgbClr val="FF0000"/>
                </a:solidFill>
              </a:rPr>
              <a:t>scheduling jobs and binding them together as a single unit</a:t>
            </a:r>
            <a:r>
              <a:rPr lang="en-US" dirty="0"/>
              <a:t>. There is two kinds of jobs .</a:t>
            </a:r>
            <a:r>
              <a:rPr lang="en-US" dirty="0" err="1"/>
              <a:t>i.e</a:t>
            </a:r>
            <a:r>
              <a:rPr lang="en-US" dirty="0"/>
              <a:t> Oozie workflow and Oozie coordinator jobs. Oozie workflow is the jobs that need to be executed in a sequentially ordered manner whereas Oozie Coordinator jobs are those that are triggered when some data or external stimulus is given to it.</a:t>
            </a:r>
            <a:endParaRPr lang="en-IN" dirty="0"/>
          </a:p>
        </p:txBody>
      </p:sp>
    </p:spTree>
    <p:extLst>
      <p:ext uri="{BB962C8B-B14F-4D97-AF65-F5344CB8AC3E}">
        <p14:creationId xmlns:p14="http://schemas.microsoft.com/office/powerpoint/2010/main" val="37260596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67884" y="156238"/>
            <a:ext cx="8596668" cy="872462"/>
          </a:xfrm>
        </p:spPr>
        <p:txBody>
          <a:bodyPr>
            <a:normAutofit/>
          </a:bodyPr>
          <a:lstStyle/>
          <a:p>
            <a:pPr algn="ctr"/>
            <a:r>
              <a:rPr lang="en-US" b="1" dirty="0">
                <a:latin typeface="Times New Roman" panose="02020603050405020304" pitchFamily="18" charset="0"/>
                <a:cs typeface="Times New Roman" panose="02020603050405020304" pitchFamily="18" charset="0"/>
              </a:rPr>
              <a:t>Hadoop Ecosystem</a:t>
            </a:r>
          </a:p>
        </p:txBody>
      </p:sp>
      <p:sp>
        <p:nvSpPr>
          <p:cNvPr id="3" name="Content Placeholder 2"/>
          <p:cNvSpPr>
            <a:spLocks noGrp="1"/>
          </p:cNvSpPr>
          <p:nvPr>
            <p:ph idx="1"/>
          </p:nvPr>
        </p:nvSpPr>
        <p:spPr/>
        <p:txBody>
          <a:bodyPr/>
          <a:lstStyle/>
          <a:p>
            <a:pPr marL="0" indent="0">
              <a:buNone/>
            </a:pPr>
            <a:r>
              <a:rPr lang="en-US" dirty="0"/>
              <a:t>        </a:t>
            </a:r>
          </a:p>
        </p:txBody>
      </p:sp>
      <p:pic>
        <p:nvPicPr>
          <p:cNvPr id="5" name="Picture 4"/>
          <p:cNvPicPr>
            <a:picLocks noChangeAspect="1"/>
          </p:cNvPicPr>
          <p:nvPr/>
        </p:nvPicPr>
        <p:blipFill>
          <a:blip r:embed="rId2"/>
          <a:stretch>
            <a:fillRect/>
          </a:stretch>
        </p:blipFill>
        <p:spPr>
          <a:xfrm>
            <a:off x="677334" y="816638"/>
            <a:ext cx="11038415" cy="5346037"/>
          </a:xfrm>
          <a:prstGeom prst="rect">
            <a:avLst/>
          </a:prstGeom>
        </p:spPr>
      </p:pic>
      <p:sp>
        <p:nvSpPr>
          <p:cNvPr id="4" name="Slide Number Placeholder 3"/>
          <p:cNvSpPr>
            <a:spLocks noGrp="1"/>
          </p:cNvSpPr>
          <p:nvPr>
            <p:ph type="sldNum" sz="quarter" idx="12"/>
          </p:nvPr>
        </p:nvSpPr>
        <p:spPr/>
        <p:txBody>
          <a:bodyPr/>
          <a:lstStyle/>
          <a:p>
            <a:fld id="{57C4A744-6DE7-4A67-9FB3-53D16976B908}" type="slidenum">
              <a:rPr lang="en-US" smtClean="0"/>
              <a:t>24</a:t>
            </a:fld>
            <a:endParaRPr lang="en-US"/>
          </a:p>
        </p:txBody>
      </p:sp>
    </p:spTree>
    <p:extLst>
      <p:ext uri="{BB962C8B-B14F-4D97-AF65-F5344CB8AC3E}">
        <p14:creationId xmlns:p14="http://schemas.microsoft.com/office/powerpoint/2010/main" val="1851570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7B85B32-9C82-4422-9088-B536A692CEF3}"/>
              </a:ext>
            </a:extLst>
          </p:cNvPr>
          <p:cNvSpPr>
            <a:spLocks noGrp="1"/>
          </p:cNvSpPr>
          <p:nvPr>
            <p:ph type="sldNum" sz="quarter" idx="12"/>
          </p:nvPr>
        </p:nvSpPr>
        <p:spPr/>
        <p:txBody>
          <a:bodyPr/>
          <a:lstStyle/>
          <a:p>
            <a:fld id="{57C4A744-6DE7-4A67-9FB3-53D16976B908}" type="slidenum">
              <a:rPr lang="en-US" smtClean="0"/>
              <a:t>25</a:t>
            </a:fld>
            <a:endParaRPr lang="en-US"/>
          </a:p>
        </p:txBody>
      </p:sp>
      <p:pic>
        <p:nvPicPr>
          <p:cNvPr id="3" name="Picture 2">
            <a:extLst>
              <a:ext uri="{FF2B5EF4-FFF2-40B4-BE49-F238E27FC236}">
                <a16:creationId xmlns:a16="http://schemas.microsoft.com/office/drawing/2014/main" id="{78A60365-1A8E-462E-A3EC-A42FBD06C076}"/>
              </a:ext>
            </a:extLst>
          </p:cNvPr>
          <p:cNvPicPr>
            <a:picLocks noChangeAspect="1"/>
          </p:cNvPicPr>
          <p:nvPr/>
        </p:nvPicPr>
        <p:blipFill>
          <a:blip r:embed="rId2"/>
          <a:stretch>
            <a:fillRect/>
          </a:stretch>
        </p:blipFill>
        <p:spPr>
          <a:xfrm>
            <a:off x="209550" y="59561"/>
            <a:ext cx="11982450" cy="6858825"/>
          </a:xfrm>
          <a:prstGeom prst="rect">
            <a:avLst/>
          </a:prstGeom>
        </p:spPr>
      </p:pic>
    </p:spTree>
    <p:extLst>
      <p:ext uri="{BB962C8B-B14F-4D97-AF65-F5344CB8AC3E}">
        <p14:creationId xmlns:p14="http://schemas.microsoft.com/office/powerpoint/2010/main" val="22166687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7B85B32-9C82-4422-9088-B536A692CEF3}"/>
              </a:ext>
            </a:extLst>
          </p:cNvPr>
          <p:cNvSpPr>
            <a:spLocks noGrp="1"/>
          </p:cNvSpPr>
          <p:nvPr>
            <p:ph type="sldNum" sz="quarter" idx="12"/>
          </p:nvPr>
        </p:nvSpPr>
        <p:spPr/>
        <p:txBody>
          <a:bodyPr/>
          <a:lstStyle/>
          <a:p>
            <a:fld id="{57C4A744-6DE7-4A67-9FB3-53D16976B908}" type="slidenum">
              <a:rPr lang="en-US" smtClean="0"/>
              <a:t>26</a:t>
            </a:fld>
            <a:endParaRPr lang="en-US"/>
          </a:p>
        </p:txBody>
      </p:sp>
      <p:pic>
        <p:nvPicPr>
          <p:cNvPr id="3" name="Picture 2">
            <a:extLst>
              <a:ext uri="{FF2B5EF4-FFF2-40B4-BE49-F238E27FC236}">
                <a16:creationId xmlns:a16="http://schemas.microsoft.com/office/drawing/2014/main" id="{78A60365-1A8E-462E-A3EC-A42FBD06C076}"/>
              </a:ext>
            </a:extLst>
          </p:cNvPr>
          <p:cNvPicPr>
            <a:picLocks noChangeAspect="1"/>
          </p:cNvPicPr>
          <p:nvPr/>
        </p:nvPicPr>
        <p:blipFill>
          <a:blip r:embed="rId2"/>
          <a:stretch>
            <a:fillRect/>
          </a:stretch>
        </p:blipFill>
        <p:spPr>
          <a:xfrm>
            <a:off x="209550" y="59561"/>
            <a:ext cx="11982450" cy="6858825"/>
          </a:xfrm>
          <a:prstGeom prst="rect">
            <a:avLst/>
          </a:prstGeom>
        </p:spPr>
      </p:pic>
      <p:pic>
        <p:nvPicPr>
          <p:cNvPr id="4" name="Picture 3">
            <a:extLst>
              <a:ext uri="{FF2B5EF4-FFF2-40B4-BE49-F238E27FC236}">
                <a16:creationId xmlns:a16="http://schemas.microsoft.com/office/drawing/2014/main" id="{82186EFC-5125-4F0B-ADEC-A057840D5ACF}"/>
              </a:ext>
            </a:extLst>
          </p:cNvPr>
          <p:cNvPicPr>
            <a:picLocks noChangeAspect="1"/>
          </p:cNvPicPr>
          <p:nvPr/>
        </p:nvPicPr>
        <p:blipFill>
          <a:blip r:embed="rId3"/>
          <a:stretch>
            <a:fillRect/>
          </a:stretch>
        </p:blipFill>
        <p:spPr>
          <a:xfrm>
            <a:off x="-88014" y="59561"/>
            <a:ext cx="12181199" cy="6798439"/>
          </a:xfrm>
          <a:prstGeom prst="rect">
            <a:avLst/>
          </a:prstGeom>
        </p:spPr>
      </p:pic>
    </p:spTree>
    <p:extLst>
      <p:ext uri="{BB962C8B-B14F-4D97-AF65-F5344CB8AC3E}">
        <p14:creationId xmlns:p14="http://schemas.microsoft.com/office/powerpoint/2010/main" val="15279460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440AEF3-C249-4369-8C17-CC008077A430}"/>
              </a:ext>
            </a:extLst>
          </p:cNvPr>
          <p:cNvSpPr>
            <a:spLocks noGrp="1"/>
          </p:cNvSpPr>
          <p:nvPr>
            <p:ph type="sldNum" sz="quarter" idx="12"/>
          </p:nvPr>
        </p:nvSpPr>
        <p:spPr/>
        <p:txBody>
          <a:bodyPr/>
          <a:lstStyle/>
          <a:p>
            <a:fld id="{57C4A744-6DE7-4A67-9FB3-53D16976B908}" type="slidenum">
              <a:rPr lang="en-US" smtClean="0"/>
              <a:t>27</a:t>
            </a:fld>
            <a:endParaRPr lang="en-US"/>
          </a:p>
        </p:txBody>
      </p:sp>
      <p:pic>
        <p:nvPicPr>
          <p:cNvPr id="3" name="Picture 2">
            <a:extLst>
              <a:ext uri="{FF2B5EF4-FFF2-40B4-BE49-F238E27FC236}">
                <a16:creationId xmlns:a16="http://schemas.microsoft.com/office/drawing/2014/main" id="{FC27BDD3-0D60-437B-A1CC-CE420CB4412B}"/>
              </a:ext>
            </a:extLst>
          </p:cNvPr>
          <p:cNvPicPr>
            <a:picLocks noChangeAspect="1"/>
          </p:cNvPicPr>
          <p:nvPr/>
        </p:nvPicPr>
        <p:blipFill>
          <a:blip r:embed="rId2"/>
          <a:stretch>
            <a:fillRect/>
          </a:stretch>
        </p:blipFill>
        <p:spPr>
          <a:xfrm>
            <a:off x="16197" y="180975"/>
            <a:ext cx="12059131" cy="6677025"/>
          </a:xfrm>
          <a:prstGeom prst="rect">
            <a:avLst/>
          </a:prstGeom>
        </p:spPr>
      </p:pic>
    </p:spTree>
    <p:extLst>
      <p:ext uri="{BB962C8B-B14F-4D97-AF65-F5344CB8AC3E}">
        <p14:creationId xmlns:p14="http://schemas.microsoft.com/office/powerpoint/2010/main" val="34233712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BA4E983-BB4D-4737-9D62-EFF5F987F24D}"/>
              </a:ext>
            </a:extLst>
          </p:cNvPr>
          <p:cNvSpPr>
            <a:spLocks noGrp="1"/>
          </p:cNvSpPr>
          <p:nvPr>
            <p:ph type="sldNum" sz="quarter" idx="12"/>
          </p:nvPr>
        </p:nvSpPr>
        <p:spPr/>
        <p:txBody>
          <a:bodyPr/>
          <a:lstStyle/>
          <a:p>
            <a:fld id="{57C4A744-6DE7-4A67-9FB3-53D16976B908}" type="slidenum">
              <a:rPr lang="en-US" smtClean="0"/>
              <a:t>28</a:t>
            </a:fld>
            <a:endParaRPr lang="en-US"/>
          </a:p>
        </p:txBody>
      </p:sp>
      <p:pic>
        <p:nvPicPr>
          <p:cNvPr id="3" name="Picture 2">
            <a:extLst>
              <a:ext uri="{FF2B5EF4-FFF2-40B4-BE49-F238E27FC236}">
                <a16:creationId xmlns:a16="http://schemas.microsoft.com/office/drawing/2014/main" id="{610A25AC-2328-4C19-B50A-35AD75225424}"/>
              </a:ext>
            </a:extLst>
          </p:cNvPr>
          <p:cNvPicPr>
            <a:picLocks noChangeAspect="1"/>
          </p:cNvPicPr>
          <p:nvPr/>
        </p:nvPicPr>
        <p:blipFill>
          <a:blip r:embed="rId2"/>
          <a:stretch>
            <a:fillRect/>
          </a:stretch>
        </p:blipFill>
        <p:spPr>
          <a:xfrm>
            <a:off x="133350" y="227624"/>
            <a:ext cx="11830049" cy="6411301"/>
          </a:xfrm>
          <a:prstGeom prst="rect">
            <a:avLst/>
          </a:prstGeom>
        </p:spPr>
      </p:pic>
    </p:spTree>
    <p:extLst>
      <p:ext uri="{BB962C8B-B14F-4D97-AF65-F5344CB8AC3E}">
        <p14:creationId xmlns:p14="http://schemas.microsoft.com/office/powerpoint/2010/main" val="9099774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Hadoop 1.x Architecture</a:t>
            </a:r>
          </a:p>
        </p:txBody>
      </p:sp>
      <p:pic>
        <p:nvPicPr>
          <p:cNvPr id="4" name="Content Placeholder 3"/>
          <p:cNvPicPr>
            <a:picLocks noGrp="1" noChangeAspect="1"/>
          </p:cNvPicPr>
          <p:nvPr>
            <p:ph idx="1"/>
          </p:nvPr>
        </p:nvPicPr>
        <p:blipFill>
          <a:blip r:embed="rId2"/>
          <a:stretch>
            <a:fillRect/>
          </a:stretch>
        </p:blipFill>
        <p:spPr>
          <a:xfrm>
            <a:off x="1079500" y="1930400"/>
            <a:ext cx="7988299" cy="3909001"/>
          </a:xfrm>
          <a:prstGeom prst="rect">
            <a:avLst/>
          </a:prstGeom>
        </p:spPr>
      </p:pic>
      <p:sp>
        <p:nvSpPr>
          <p:cNvPr id="3" name="Slide Number Placeholder 2"/>
          <p:cNvSpPr>
            <a:spLocks noGrp="1"/>
          </p:cNvSpPr>
          <p:nvPr>
            <p:ph type="sldNum" sz="quarter" idx="12"/>
          </p:nvPr>
        </p:nvSpPr>
        <p:spPr/>
        <p:txBody>
          <a:bodyPr/>
          <a:lstStyle/>
          <a:p>
            <a:fld id="{57C4A744-6DE7-4A67-9FB3-53D16976B908}" type="slidenum">
              <a:rPr lang="en-US" smtClean="0"/>
              <a:t>29</a:t>
            </a:fld>
            <a:endParaRPr lang="en-US"/>
          </a:p>
        </p:txBody>
      </p:sp>
    </p:spTree>
    <p:extLst>
      <p:ext uri="{BB962C8B-B14F-4D97-AF65-F5344CB8AC3E}">
        <p14:creationId xmlns:p14="http://schemas.microsoft.com/office/powerpoint/2010/main" val="28281547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0DB860C-DC93-47C0-9062-11AC81FFF533}"/>
              </a:ext>
            </a:extLst>
          </p:cNvPr>
          <p:cNvSpPr>
            <a:spLocks noGrp="1"/>
          </p:cNvSpPr>
          <p:nvPr>
            <p:ph type="sldNum" sz="quarter" idx="12"/>
          </p:nvPr>
        </p:nvSpPr>
        <p:spPr/>
        <p:txBody>
          <a:bodyPr/>
          <a:lstStyle/>
          <a:p>
            <a:fld id="{57C4A744-6DE7-4A67-9FB3-53D16976B908}" type="slidenum">
              <a:rPr lang="en-US" smtClean="0"/>
              <a:t>30</a:t>
            </a:fld>
            <a:endParaRPr lang="en-US"/>
          </a:p>
        </p:txBody>
      </p:sp>
      <p:pic>
        <p:nvPicPr>
          <p:cNvPr id="3" name="Picture 2">
            <a:extLst>
              <a:ext uri="{FF2B5EF4-FFF2-40B4-BE49-F238E27FC236}">
                <a16:creationId xmlns:a16="http://schemas.microsoft.com/office/drawing/2014/main" id="{BA723D3E-DE49-46C7-9290-C77D674F68A0}"/>
              </a:ext>
            </a:extLst>
          </p:cNvPr>
          <p:cNvPicPr>
            <a:picLocks noChangeAspect="1"/>
          </p:cNvPicPr>
          <p:nvPr/>
        </p:nvPicPr>
        <p:blipFill>
          <a:blip r:embed="rId2"/>
          <a:stretch>
            <a:fillRect/>
          </a:stretch>
        </p:blipFill>
        <p:spPr>
          <a:xfrm>
            <a:off x="156844" y="0"/>
            <a:ext cx="4563112" cy="3982006"/>
          </a:xfrm>
          <a:prstGeom prst="rect">
            <a:avLst/>
          </a:prstGeom>
        </p:spPr>
      </p:pic>
      <p:pic>
        <p:nvPicPr>
          <p:cNvPr id="4" name="Picture 3">
            <a:extLst>
              <a:ext uri="{FF2B5EF4-FFF2-40B4-BE49-F238E27FC236}">
                <a16:creationId xmlns:a16="http://schemas.microsoft.com/office/drawing/2014/main" id="{D9EEFE14-7F06-4F7B-9645-0C1CB1C4E58B}"/>
              </a:ext>
            </a:extLst>
          </p:cNvPr>
          <p:cNvPicPr>
            <a:picLocks noChangeAspect="1"/>
          </p:cNvPicPr>
          <p:nvPr/>
        </p:nvPicPr>
        <p:blipFill>
          <a:blip r:embed="rId3"/>
          <a:stretch>
            <a:fillRect/>
          </a:stretch>
        </p:blipFill>
        <p:spPr>
          <a:xfrm>
            <a:off x="5905499" y="618897"/>
            <a:ext cx="5000625" cy="3258005"/>
          </a:xfrm>
          <a:prstGeom prst="rect">
            <a:avLst/>
          </a:prstGeom>
        </p:spPr>
      </p:pic>
      <p:pic>
        <p:nvPicPr>
          <p:cNvPr id="5" name="Picture 4">
            <a:extLst>
              <a:ext uri="{FF2B5EF4-FFF2-40B4-BE49-F238E27FC236}">
                <a16:creationId xmlns:a16="http://schemas.microsoft.com/office/drawing/2014/main" id="{FAD11D08-384B-4B8F-B40B-A4D23E515707}"/>
              </a:ext>
            </a:extLst>
          </p:cNvPr>
          <p:cNvPicPr>
            <a:picLocks noChangeAspect="1"/>
          </p:cNvPicPr>
          <p:nvPr/>
        </p:nvPicPr>
        <p:blipFill>
          <a:blip r:embed="rId4"/>
          <a:stretch>
            <a:fillRect/>
          </a:stretch>
        </p:blipFill>
        <p:spPr>
          <a:xfrm>
            <a:off x="323578" y="3752850"/>
            <a:ext cx="4563111" cy="2745634"/>
          </a:xfrm>
          <a:prstGeom prst="rect">
            <a:avLst/>
          </a:prstGeom>
        </p:spPr>
      </p:pic>
      <p:pic>
        <p:nvPicPr>
          <p:cNvPr id="6" name="Picture 5">
            <a:extLst>
              <a:ext uri="{FF2B5EF4-FFF2-40B4-BE49-F238E27FC236}">
                <a16:creationId xmlns:a16="http://schemas.microsoft.com/office/drawing/2014/main" id="{94944F2A-7526-4139-8004-D207B8408879}"/>
              </a:ext>
            </a:extLst>
          </p:cNvPr>
          <p:cNvPicPr>
            <a:picLocks noChangeAspect="1"/>
          </p:cNvPicPr>
          <p:nvPr/>
        </p:nvPicPr>
        <p:blipFill>
          <a:blip r:embed="rId5"/>
          <a:stretch>
            <a:fillRect/>
          </a:stretch>
        </p:blipFill>
        <p:spPr>
          <a:xfrm>
            <a:off x="5671837" y="3752850"/>
            <a:ext cx="5234287" cy="3115110"/>
          </a:xfrm>
          <a:prstGeom prst="rect">
            <a:avLst/>
          </a:prstGeom>
        </p:spPr>
      </p:pic>
    </p:spTree>
    <p:extLst>
      <p:ext uri="{BB962C8B-B14F-4D97-AF65-F5344CB8AC3E}">
        <p14:creationId xmlns:p14="http://schemas.microsoft.com/office/powerpoint/2010/main" val="11691092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D9C28A9-C343-41DF-BEC2-3DD70EAF536C}"/>
              </a:ext>
            </a:extLst>
          </p:cNvPr>
          <p:cNvSpPr>
            <a:spLocks noGrp="1"/>
          </p:cNvSpPr>
          <p:nvPr>
            <p:ph type="sldNum" sz="quarter" idx="12"/>
          </p:nvPr>
        </p:nvSpPr>
        <p:spPr/>
        <p:txBody>
          <a:bodyPr/>
          <a:lstStyle/>
          <a:p>
            <a:fld id="{57C4A744-6DE7-4A67-9FB3-53D16976B908}" type="slidenum">
              <a:rPr lang="en-US" smtClean="0"/>
              <a:t>31</a:t>
            </a:fld>
            <a:endParaRPr lang="en-US"/>
          </a:p>
        </p:txBody>
      </p:sp>
      <p:pic>
        <p:nvPicPr>
          <p:cNvPr id="3" name="Picture 2">
            <a:extLst>
              <a:ext uri="{FF2B5EF4-FFF2-40B4-BE49-F238E27FC236}">
                <a16:creationId xmlns:a16="http://schemas.microsoft.com/office/drawing/2014/main" id="{246DD889-12A7-4069-9A73-2B29905457C7}"/>
              </a:ext>
            </a:extLst>
          </p:cNvPr>
          <p:cNvPicPr>
            <a:picLocks noChangeAspect="1"/>
          </p:cNvPicPr>
          <p:nvPr/>
        </p:nvPicPr>
        <p:blipFill>
          <a:blip r:embed="rId2"/>
          <a:stretch>
            <a:fillRect/>
          </a:stretch>
        </p:blipFill>
        <p:spPr>
          <a:xfrm>
            <a:off x="69453" y="66675"/>
            <a:ext cx="11887353" cy="6791325"/>
          </a:xfrm>
          <a:prstGeom prst="rect">
            <a:avLst/>
          </a:prstGeom>
        </p:spPr>
      </p:pic>
    </p:spTree>
    <p:extLst>
      <p:ext uri="{BB962C8B-B14F-4D97-AF65-F5344CB8AC3E}">
        <p14:creationId xmlns:p14="http://schemas.microsoft.com/office/powerpoint/2010/main" val="21668445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5DB3D2-9C9E-4C0E-A110-EAA03CAB12EF}"/>
              </a:ext>
            </a:extLst>
          </p:cNvPr>
          <p:cNvSpPr>
            <a:spLocks noGrp="1"/>
          </p:cNvSpPr>
          <p:nvPr>
            <p:ph type="sldNum" sz="quarter" idx="12"/>
          </p:nvPr>
        </p:nvSpPr>
        <p:spPr/>
        <p:txBody>
          <a:bodyPr/>
          <a:lstStyle/>
          <a:p>
            <a:fld id="{57C4A744-6DE7-4A67-9FB3-53D16976B908}" type="slidenum">
              <a:rPr lang="en-US" smtClean="0"/>
              <a:t>32</a:t>
            </a:fld>
            <a:endParaRPr lang="en-US"/>
          </a:p>
        </p:txBody>
      </p:sp>
      <p:pic>
        <p:nvPicPr>
          <p:cNvPr id="3" name="Picture 2">
            <a:extLst>
              <a:ext uri="{FF2B5EF4-FFF2-40B4-BE49-F238E27FC236}">
                <a16:creationId xmlns:a16="http://schemas.microsoft.com/office/drawing/2014/main" id="{E010D108-36FF-4D58-B553-D8748040D00B}"/>
              </a:ext>
            </a:extLst>
          </p:cNvPr>
          <p:cNvPicPr>
            <a:picLocks noChangeAspect="1"/>
          </p:cNvPicPr>
          <p:nvPr/>
        </p:nvPicPr>
        <p:blipFill>
          <a:blip r:embed="rId2"/>
          <a:stretch>
            <a:fillRect/>
          </a:stretch>
        </p:blipFill>
        <p:spPr>
          <a:xfrm>
            <a:off x="168352" y="85725"/>
            <a:ext cx="11928398" cy="6629400"/>
          </a:xfrm>
          <a:prstGeom prst="rect">
            <a:avLst/>
          </a:prstGeom>
        </p:spPr>
      </p:pic>
    </p:spTree>
    <p:extLst>
      <p:ext uri="{BB962C8B-B14F-4D97-AF65-F5344CB8AC3E}">
        <p14:creationId xmlns:p14="http://schemas.microsoft.com/office/powerpoint/2010/main" val="12985316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AEE79A-E8DD-4323-8A52-4FA2AF830B15}"/>
              </a:ext>
            </a:extLst>
          </p:cNvPr>
          <p:cNvSpPr>
            <a:spLocks noGrp="1"/>
          </p:cNvSpPr>
          <p:nvPr>
            <p:ph type="sldNum" sz="quarter" idx="12"/>
          </p:nvPr>
        </p:nvSpPr>
        <p:spPr/>
        <p:txBody>
          <a:bodyPr/>
          <a:lstStyle/>
          <a:p>
            <a:fld id="{57C4A744-6DE7-4A67-9FB3-53D16976B908}" type="slidenum">
              <a:rPr lang="en-US" smtClean="0"/>
              <a:t>33</a:t>
            </a:fld>
            <a:endParaRPr lang="en-US"/>
          </a:p>
        </p:txBody>
      </p:sp>
      <p:pic>
        <p:nvPicPr>
          <p:cNvPr id="3" name="Picture 2">
            <a:extLst>
              <a:ext uri="{FF2B5EF4-FFF2-40B4-BE49-F238E27FC236}">
                <a16:creationId xmlns:a16="http://schemas.microsoft.com/office/drawing/2014/main" id="{BC44F50E-A79D-4359-A754-2C5DD72556C3}"/>
              </a:ext>
            </a:extLst>
          </p:cNvPr>
          <p:cNvPicPr>
            <a:picLocks noChangeAspect="1"/>
          </p:cNvPicPr>
          <p:nvPr/>
        </p:nvPicPr>
        <p:blipFill>
          <a:blip r:embed="rId2"/>
          <a:stretch>
            <a:fillRect/>
          </a:stretch>
        </p:blipFill>
        <p:spPr>
          <a:xfrm>
            <a:off x="201516" y="85725"/>
            <a:ext cx="11657109" cy="6562725"/>
          </a:xfrm>
          <a:prstGeom prst="rect">
            <a:avLst/>
          </a:prstGeom>
        </p:spPr>
      </p:pic>
    </p:spTree>
    <p:extLst>
      <p:ext uri="{BB962C8B-B14F-4D97-AF65-F5344CB8AC3E}">
        <p14:creationId xmlns:p14="http://schemas.microsoft.com/office/powerpoint/2010/main" val="20042805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FC8609C-E998-40E4-96DA-B41436C7FC4E}"/>
              </a:ext>
            </a:extLst>
          </p:cNvPr>
          <p:cNvSpPr>
            <a:spLocks noGrp="1"/>
          </p:cNvSpPr>
          <p:nvPr>
            <p:ph type="sldNum" sz="quarter" idx="12"/>
          </p:nvPr>
        </p:nvSpPr>
        <p:spPr/>
        <p:txBody>
          <a:bodyPr/>
          <a:lstStyle/>
          <a:p>
            <a:fld id="{57C4A744-6DE7-4A67-9FB3-53D16976B908}" type="slidenum">
              <a:rPr lang="en-US" smtClean="0"/>
              <a:t>34</a:t>
            </a:fld>
            <a:endParaRPr lang="en-US"/>
          </a:p>
        </p:txBody>
      </p:sp>
      <p:pic>
        <p:nvPicPr>
          <p:cNvPr id="3" name="Picture 2">
            <a:extLst>
              <a:ext uri="{FF2B5EF4-FFF2-40B4-BE49-F238E27FC236}">
                <a16:creationId xmlns:a16="http://schemas.microsoft.com/office/drawing/2014/main" id="{6019D6EC-3229-4AEC-A052-EA63D3D55641}"/>
              </a:ext>
            </a:extLst>
          </p:cNvPr>
          <p:cNvPicPr>
            <a:picLocks noChangeAspect="1"/>
          </p:cNvPicPr>
          <p:nvPr/>
        </p:nvPicPr>
        <p:blipFill>
          <a:blip r:embed="rId2"/>
          <a:stretch>
            <a:fillRect/>
          </a:stretch>
        </p:blipFill>
        <p:spPr>
          <a:xfrm>
            <a:off x="200025" y="95250"/>
            <a:ext cx="11763375" cy="6648449"/>
          </a:xfrm>
          <a:prstGeom prst="rect">
            <a:avLst/>
          </a:prstGeom>
        </p:spPr>
      </p:pic>
    </p:spTree>
    <p:extLst>
      <p:ext uri="{BB962C8B-B14F-4D97-AF65-F5344CB8AC3E}">
        <p14:creationId xmlns:p14="http://schemas.microsoft.com/office/powerpoint/2010/main" val="26103655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845CC1-5133-4329-9C2C-A0FEC56A2861}"/>
              </a:ext>
            </a:extLst>
          </p:cNvPr>
          <p:cNvSpPr>
            <a:spLocks noGrp="1"/>
          </p:cNvSpPr>
          <p:nvPr>
            <p:ph type="sldNum" sz="quarter" idx="12"/>
          </p:nvPr>
        </p:nvSpPr>
        <p:spPr/>
        <p:txBody>
          <a:bodyPr/>
          <a:lstStyle/>
          <a:p>
            <a:fld id="{57C4A744-6DE7-4A67-9FB3-53D16976B908}" type="slidenum">
              <a:rPr lang="en-US" smtClean="0"/>
              <a:t>35</a:t>
            </a:fld>
            <a:endParaRPr lang="en-US"/>
          </a:p>
        </p:txBody>
      </p:sp>
      <p:pic>
        <p:nvPicPr>
          <p:cNvPr id="3" name="Picture 2">
            <a:extLst>
              <a:ext uri="{FF2B5EF4-FFF2-40B4-BE49-F238E27FC236}">
                <a16:creationId xmlns:a16="http://schemas.microsoft.com/office/drawing/2014/main" id="{C0AD6EE4-7AEF-40C2-8B07-D493E9107274}"/>
              </a:ext>
            </a:extLst>
          </p:cNvPr>
          <p:cNvPicPr>
            <a:picLocks noChangeAspect="1"/>
          </p:cNvPicPr>
          <p:nvPr/>
        </p:nvPicPr>
        <p:blipFill>
          <a:blip r:embed="rId2"/>
          <a:stretch>
            <a:fillRect/>
          </a:stretch>
        </p:blipFill>
        <p:spPr>
          <a:xfrm>
            <a:off x="137084" y="247650"/>
            <a:ext cx="11744334" cy="6438900"/>
          </a:xfrm>
          <a:prstGeom prst="rect">
            <a:avLst/>
          </a:prstGeom>
        </p:spPr>
      </p:pic>
    </p:spTree>
    <p:extLst>
      <p:ext uri="{BB962C8B-B14F-4D97-AF65-F5344CB8AC3E}">
        <p14:creationId xmlns:p14="http://schemas.microsoft.com/office/powerpoint/2010/main" val="5709392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8D057B5-A6C4-4EA1-A2F1-2C32416C85DC}"/>
              </a:ext>
            </a:extLst>
          </p:cNvPr>
          <p:cNvSpPr>
            <a:spLocks noGrp="1"/>
          </p:cNvSpPr>
          <p:nvPr>
            <p:ph type="sldNum" sz="quarter" idx="12"/>
          </p:nvPr>
        </p:nvSpPr>
        <p:spPr/>
        <p:txBody>
          <a:bodyPr/>
          <a:lstStyle/>
          <a:p>
            <a:fld id="{57C4A744-6DE7-4A67-9FB3-53D16976B908}" type="slidenum">
              <a:rPr lang="en-US" smtClean="0"/>
              <a:t>36</a:t>
            </a:fld>
            <a:endParaRPr lang="en-US"/>
          </a:p>
        </p:txBody>
      </p:sp>
      <p:pic>
        <p:nvPicPr>
          <p:cNvPr id="3" name="Picture 2">
            <a:extLst>
              <a:ext uri="{FF2B5EF4-FFF2-40B4-BE49-F238E27FC236}">
                <a16:creationId xmlns:a16="http://schemas.microsoft.com/office/drawing/2014/main" id="{1295AE55-B856-471C-A040-B5B832BECCDB}"/>
              </a:ext>
            </a:extLst>
          </p:cNvPr>
          <p:cNvPicPr>
            <a:picLocks noChangeAspect="1"/>
          </p:cNvPicPr>
          <p:nvPr/>
        </p:nvPicPr>
        <p:blipFill>
          <a:blip r:embed="rId2"/>
          <a:stretch>
            <a:fillRect/>
          </a:stretch>
        </p:blipFill>
        <p:spPr>
          <a:xfrm>
            <a:off x="360125" y="76201"/>
            <a:ext cx="11708049" cy="6581774"/>
          </a:xfrm>
          <a:prstGeom prst="rect">
            <a:avLst/>
          </a:prstGeom>
        </p:spPr>
      </p:pic>
    </p:spTree>
    <p:extLst>
      <p:ext uri="{BB962C8B-B14F-4D97-AF65-F5344CB8AC3E}">
        <p14:creationId xmlns:p14="http://schemas.microsoft.com/office/powerpoint/2010/main" val="36414833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8D057B5-A6C4-4EA1-A2F1-2C32416C85DC}"/>
              </a:ext>
            </a:extLst>
          </p:cNvPr>
          <p:cNvSpPr>
            <a:spLocks noGrp="1"/>
          </p:cNvSpPr>
          <p:nvPr>
            <p:ph type="sldNum" sz="quarter" idx="12"/>
          </p:nvPr>
        </p:nvSpPr>
        <p:spPr/>
        <p:txBody>
          <a:bodyPr/>
          <a:lstStyle/>
          <a:p>
            <a:fld id="{57C4A744-6DE7-4A67-9FB3-53D16976B908}" type="slidenum">
              <a:rPr lang="en-US" smtClean="0"/>
              <a:t>37</a:t>
            </a:fld>
            <a:endParaRPr lang="en-US"/>
          </a:p>
        </p:txBody>
      </p:sp>
      <p:pic>
        <p:nvPicPr>
          <p:cNvPr id="3" name="Picture 2">
            <a:extLst>
              <a:ext uri="{FF2B5EF4-FFF2-40B4-BE49-F238E27FC236}">
                <a16:creationId xmlns:a16="http://schemas.microsoft.com/office/drawing/2014/main" id="{7513DC2A-9822-46B7-91E5-9F364C98F33B}"/>
              </a:ext>
            </a:extLst>
          </p:cNvPr>
          <p:cNvPicPr>
            <a:picLocks noChangeAspect="1"/>
          </p:cNvPicPr>
          <p:nvPr/>
        </p:nvPicPr>
        <p:blipFill>
          <a:blip r:embed="rId2"/>
          <a:stretch>
            <a:fillRect/>
          </a:stretch>
        </p:blipFill>
        <p:spPr>
          <a:xfrm>
            <a:off x="182162" y="209550"/>
            <a:ext cx="11762187" cy="6486525"/>
          </a:xfrm>
          <a:prstGeom prst="rect">
            <a:avLst/>
          </a:prstGeom>
        </p:spPr>
      </p:pic>
    </p:spTree>
    <p:extLst>
      <p:ext uri="{BB962C8B-B14F-4D97-AF65-F5344CB8AC3E}">
        <p14:creationId xmlns:p14="http://schemas.microsoft.com/office/powerpoint/2010/main" val="38987534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8D057B5-A6C4-4EA1-A2F1-2C32416C85DC}"/>
              </a:ext>
            </a:extLst>
          </p:cNvPr>
          <p:cNvSpPr>
            <a:spLocks noGrp="1"/>
          </p:cNvSpPr>
          <p:nvPr>
            <p:ph type="sldNum" sz="quarter" idx="12"/>
          </p:nvPr>
        </p:nvSpPr>
        <p:spPr/>
        <p:txBody>
          <a:bodyPr/>
          <a:lstStyle/>
          <a:p>
            <a:fld id="{57C4A744-6DE7-4A67-9FB3-53D16976B908}" type="slidenum">
              <a:rPr lang="en-US" smtClean="0"/>
              <a:t>38</a:t>
            </a:fld>
            <a:endParaRPr lang="en-US"/>
          </a:p>
        </p:txBody>
      </p:sp>
      <p:pic>
        <p:nvPicPr>
          <p:cNvPr id="3" name="Picture 2">
            <a:extLst>
              <a:ext uri="{FF2B5EF4-FFF2-40B4-BE49-F238E27FC236}">
                <a16:creationId xmlns:a16="http://schemas.microsoft.com/office/drawing/2014/main" id="{D3C38431-C396-49F5-801C-7721EF2992D9}"/>
              </a:ext>
            </a:extLst>
          </p:cNvPr>
          <p:cNvPicPr>
            <a:picLocks noChangeAspect="1"/>
          </p:cNvPicPr>
          <p:nvPr/>
        </p:nvPicPr>
        <p:blipFill>
          <a:blip r:embed="rId2"/>
          <a:stretch>
            <a:fillRect/>
          </a:stretch>
        </p:blipFill>
        <p:spPr>
          <a:xfrm>
            <a:off x="0" y="104502"/>
            <a:ext cx="11968154" cy="6620148"/>
          </a:xfrm>
          <a:prstGeom prst="rect">
            <a:avLst/>
          </a:prstGeom>
        </p:spPr>
      </p:pic>
    </p:spTree>
    <p:extLst>
      <p:ext uri="{BB962C8B-B14F-4D97-AF65-F5344CB8AC3E}">
        <p14:creationId xmlns:p14="http://schemas.microsoft.com/office/powerpoint/2010/main" val="13899684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YARN Architectural Overview</a:t>
            </a:r>
          </a:p>
        </p:txBody>
      </p:sp>
      <p:pic>
        <p:nvPicPr>
          <p:cNvPr id="5" name="Content Placeholder 4"/>
          <p:cNvPicPr>
            <a:picLocks noGrp="1" noChangeAspect="1"/>
          </p:cNvPicPr>
          <p:nvPr>
            <p:ph sz="half" idx="1"/>
          </p:nvPr>
        </p:nvPicPr>
        <p:blipFill>
          <a:blip r:embed="rId2"/>
          <a:stretch>
            <a:fillRect/>
          </a:stretch>
        </p:blipFill>
        <p:spPr>
          <a:xfrm>
            <a:off x="702485" y="2160588"/>
            <a:ext cx="4133817" cy="3881437"/>
          </a:xfrm>
          <a:prstGeom prst="rect">
            <a:avLst/>
          </a:prstGeom>
        </p:spPr>
      </p:pic>
      <p:sp>
        <p:nvSpPr>
          <p:cNvPr id="4" name="Content Placeholder 3"/>
          <p:cNvSpPr>
            <a:spLocks noGrp="1"/>
          </p:cNvSpPr>
          <p:nvPr>
            <p:ph sz="half" idx="2"/>
          </p:nvPr>
        </p:nvSpPr>
        <p:spPr/>
        <p:txBody>
          <a:bodyPr>
            <a:normAutofit/>
          </a:bodyPr>
          <a:lstStyle/>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Scalability – Clusters of 6000 – 10000 machines</a:t>
            </a:r>
          </a:p>
          <a:p>
            <a:pPr marL="400050" lvl="1">
              <a:spcBef>
                <a:spcPts val="0"/>
              </a:spcBef>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 Each machine with 16 cores , 48GB/96GB RAM, 24TB/36TB Hard Disks.</a:t>
            </a:r>
          </a:p>
          <a:p>
            <a:pPr marL="400050" lvl="1">
              <a:spcBef>
                <a:spcPts val="0"/>
              </a:spcBef>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100,000 + Concurrent tasks</a:t>
            </a:r>
          </a:p>
          <a:p>
            <a:pPr marL="400050" lvl="1">
              <a:spcBef>
                <a:spcPts val="0"/>
              </a:spcBef>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10000 concurrent jobs</a:t>
            </a:r>
          </a:p>
        </p:txBody>
      </p:sp>
      <p:sp>
        <p:nvSpPr>
          <p:cNvPr id="6" name="Slide Number Placeholder 5"/>
          <p:cNvSpPr>
            <a:spLocks noGrp="1"/>
          </p:cNvSpPr>
          <p:nvPr>
            <p:ph type="sldNum" sz="quarter" idx="12"/>
          </p:nvPr>
        </p:nvSpPr>
        <p:spPr/>
        <p:txBody>
          <a:bodyPr/>
          <a:lstStyle/>
          <a:p>
            <a:fld id="{57C4A744-6DE7-4A67-9FB3-53D16976B908}" type="slidenum">
              <a:rPr lang="en-US" smtClean="0"/>
              <a:t>39</a:t>
            </a:fld>
            <a:endParaRPr lang="en-US"/>
          </a:p>
        </p:txBody>
      </p:sp>
    </p:spTree>
    <p:extLst>
      <p:ext uri="{BB962C8B-B14F-4D97-AF65-F5344CB8AC3E}">
        <p14:creationId xmlns:p14="http://schemas.microsoft.com/office/powerpoint/2010/main" val="17210505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03112" y="812800"/>
            <a:ext cx="11462224" cy="571096"/>
          </a:xfrm>
          <a:prstGeom prst="rect">
            <a:avLst/>
          </a:prstGeom>
        </p:spPr>
        <p:txBody>
          <a:bodyPr vert="horz" wrap="square" lIns="0" tIns="16933" rIns="0" bIns="0" rtlCol="0" anchor="t">
            <a:spAutoFit/>
          </a:bodyPr>
          <a:lstStyle/>
          <a:p>
            <a:pPr marL="147315">
              <a:spcBef>
                <a:spcPts val="133"/>
              </a:spcBef>
            </a:pPr>
            <a:r>
              <a:rPr spc="-13" dirty="0"/>
              <a:t>Scheduling</a:t>
            </a:r>
            <a:r>
              <a:rPr spc="-67" dirty="0"/>
              <a:t> </a:t>
            </a:r>
            <a:r>
              <a:rPr dirty="0"/>
              <a:t>in</a:t>
            </a:r>
            <a:r>
              <a:rPr spc="-67" dirty="0"/>
              <a:t> </a:t>
            </a:r>
            <a:r>
              <a:rPr spc="-27" dirty="0"/>
              <a:t>Yarn</a:t>
            </a:r>
          </a:p>
        </p:txBody>
      </p:sp>
      <p:sp>
        <p:nvSpPr>
          <p:cNvPr id="4" name="object 4"/>
          <p:cNvSpPr txBox="1">
            <a:spLocks noGrp="1"/>
          </p:cNvSpPr>
          <p:nvPr>
            <p:ph type="ftr" sz="quarter" idx="5"/>
          </p:nvPr>
        </p:nvSpPr>
        <p:spPr>
          <a:xfrm>
            <a:off x="0" y="0"/>
            <a:ext cx="0" cy="3883114"/>
          </a:xfrm>
          <a:prstGeom prst="rect">
            <a:avLst/>
          </a:prstGeom>
        </p:spPr>
        <p:txBody>
          <a:bodyPr vert="horz" wrap="square" lIns="0" tIns="5080" rIns="0" bIns="0" rtlCol="0">
            <a:spAutoFit/>
          </a:bodyPr>
          <a:lstStyle/>
          <a:p>
            <a:pPr marL="16933">
              <a:spcBef>
                <a:spcPts val="40"/>
              </a:spcBef>
            </a:pPr>
            <a:r>
              <a:rPr dirty="0"/>
              <a:t>©</a:t>
            </a:r>
            <a:r>
              <a:rPr spc="-33" dirty="0"/>
              <a:t> </a:t>
            </a:r>
            <a:r>
              <a:rPr dirty="0"/>
              <a:t>Vigen</a:t>
            </a:r>
            <a:r>
              <a:rPr spc="-20" dirty="0"/>
              <a:t> </a:t>
            </a:r>
            <a:r>
              <a:rPr spc="-13" dirty="0"/>
              <a:t>Sahakyan</a:t>
            </a:r>
          </a:p>
        </p:txBody>
      </p:sp>
      <p:sp>
        <p:nvSpPr>
          <p:cNvPr id="3" name="object 3"/>
          <p:cNvSpPr txBox="1">
            <a:spLocks noGrp="1"/>
          </p:cNvSpPr>
          <p:nvPr>
            <p:ph type="body" idx="1"/>
          </p:nvPr>
        </p:nvSpPr>
        <p:spPr>
          <a:prstGeom prst="rect">
            <a:avLst/>
          </a:prstGeom>
        </p:spPr>
        <p:txBody>
          <a:bodyPr vert="horz" wrap="square" lIns="0" tIns="16933" rIns="0" bIns="0" rtlCol="0">
            <a:spAutoFit/>
          </a:bodyPr>
          <a:lstStyle/>
          <a:p>
            <a:pPr marL="495288" marR="629904" indent="-479201" algn="just">
              <a:lnSpc>
                <a:spcPct val="113999"/>
              </a:lnSpc>
              <a:spcBef>
                <a:spcPts val="133"/>
              </a:spcBef>
              <a:buClr>
                <a:srgbClr val="595959"/>
              </a:buClr>
              <a:buChar char="●"/>
              <a:tabLst>
                <a:tab pos="495288" algn="l"/>
              </a:tabLst>
            </a:pPr>
            <a:r>
              <a:rPr spc="-13" dirty="0">
                <a:solidFill>
                  <a:srgbClr val="37761C"/>
                </a:solidFill>
              </a:rPr>
              <a:t>Scheduling</a:t>
            </a:r>
            <a:r>
              <a:rPr spc="-80" dirty="0">
                <a:solidFill>
                  <a:srgbClr val="37761C"/>
                </a:solidFill>
              </a:rPr>
              <a:t> </a:t>
            </a:r>
            <a:r>
              <a:rPr dirty="0"/>
              <a:t>is</a:t>
            </a:r>
            <a:r>
              <a:rPr spc="-73" dirty="0"/>
              <a:t> </a:t>
            </a:r>
            <a:r>
              <a:rPr dirty="0"/>
              <a:t>an</a:t>
            </a:r>
            <a:r>
              <a:rPr spc="-73" dirty="0"/>
              <a:t> </a:t>
            </a:r>
            <a:r>
              <a:rPr dirty="0"/>
              <a:t>important</a:t>
            </a:r>
            <a:r>
              <a:rPr spc="-73" dirty="0"/>
              <a:t> </a:t>
            </a:r>
            <a:r>
              <a:rPr dirty="0"/>
              <a:t>task</a:t>
            </a:r>
            <a:r>
              <a:rPr spc="-73" dirty="0"/>
              <a:t> </a:t>
            </a:r>
            <a:r>
              <a:rPr dirty="0"/>
              <a:t>when</a:t>
            </a:r>
            <a:r>
              <a:rPr spc="-53" dirty="0"/>
              <a:t> </a:t>
            </a:r>
            <a:r>
              <a:rPr dirty="0">
                <a:solidFill>
                  <a:srgbClr val="37761C"/>
                </a:solidFill>
              </a:rPr>
              <a:t>Hadoop</a:t>
            </a:r>
            <a:r>
              <a:rPr spc="-80" dirty="0">
                <a:solidFill>
                  <a:srgbClr val="37761C"/>
                </a:solidFill>
              </a:rPr>
              <a:t> </a:t>
            </a:r>
            <a:r>
              <a:rPr dirty="0"/>
              <a:t>cluster</a:t>
            </a:r>
            <a:r>
              <a:rPr spc="-73" dirty="0"/>
              <a:t> </a:t>
            </a:r>
            <a:r>
              <a:rPr dirty="0"/>
              <a:t>is</a:t>
            </a:r>
            <a:r>
              <a:rPr spc="-73" dirty="0"/>
              <a:t> </a:t>
            </a:r>
            <a:r>
              <a:rPr dirty="0">
                <a:solidFill>
                  <a:srgbClr val="980000"/>
                </a:solidFill>
              </a:rPr>
              <a:t>shared</a:t>
            </a:r>
            <a:r>
              <a:rPr spc="-73" dirty="0">
                <a:solidFill>
                  <a:srgbClr val="980000"/>
                </a:solidFill>
              </a:rPr>
              <a:t> </a:t>
            </a:r>
            <a:r>
              <a:rPr dirty="0"/>
              <a:t>between</a:t>
            </a:r>
            <a:r>
              <a:rPr spc="-73" dirty="0"/>
              <a:t> </a:t>
            </a:r>
            <a:r>
              <a:rPr spc="-27" dirty="0"/>
              <a:t>many </a:t>
            </a:r>
            <a:r>
              <a:rPr dirty="0"/>
              <a:t>users</a:t>
            </a:r>
            <a:r>
              <a:rPr spc="-67" dirty="0"/>
              <a:t> </a:t>
            </a:r>
            <a:r>
              <a:rPr dirty="0"/>
              <a:t>and</a:t>
            </a:r>
            <a:r>
              <a:rPr spc="-60" dirty="0"/>
              <a:t> </a:t>
            </a:r>
            <a:r>
              <a:rPr dirty="0"/>
              <a:t>tasks.</a:t>
            </a:r>
            <a:r>
              <a:rPr spc="-60" dirty="0"/>
              <a:t> </a:t>
            </a:r>
            <a:r>
              <a:rPr dirty="0">
                <a:solidFill>
                  <a:srgbClr val="980000"/>
                </a:solidFill>
              </a:rPr>
              <a:t>Problem</a:t>
            </a:r>
            <a:r>
              <a:rPr spc="-60" dirty="0">
                <a:solidFill>
                  <a:srgbClr val="980000"/>
                </a:solidFill>
              </a:rPr>
              <a:t> </a:t>
            </a:r>
            <a:r>
              <a:rPr dirty="0">
                <a:solidFill>
                  <a:srgbClr val="980000"/>
                </a:solidFill>
              </a:rPr>
              <a:t>is</a:t>
            </a:r>
            <a:r>
              <a:rPr spc="-60" dirty="0">
                <a:solidFill>
                  <a:srgbClr val="980000"/>
                </a:solidFill>
              </a:rPr>
              <a:t> </a:t>
            </a:r>
            <a:r>
              <a:rPr dirty="0"/>
              <a:t>which</a:t>
            </a:r>
            <a:r>
              <a:rPr spc="-60" dirty="0"/>
              <a:t> </a:t>
            </a:r>
            <a:r>
              <a:rPr dirty="0">
                <a:solidFill>
                  <a:srgbClr val="1155CC"/>
                </a:solidFill>
              </a:rPr>
              <a:t>user’s</a:t>
            </a:r>
            <a:r>
              <a:rPr spc="-60" dirty="0">
                <a:solidFill>
                  <a:srgbClr val="1155CC"/>
                </a:solidFill>
              </a:rPr>
              <a:t> </a:t>
            </a:r>
            <a:r>
              <a:rPr dirty="0"/>
              <a:t>task</a:t>
            </a:r>
            <a:r>
              <a:rPr spc="-60" dirty="0"/>
              <a:t> </a:t>
            </a:r>
            <a:r>
              <a:rPr dirty="0"/>
              <a:t>should</a:t>
            </a:r>
            <a:r>
              <a:rPr spc="-67" dirty="0"/>
              <a:t> </a:t>
            </a:r>
            <a:r>
              <a:rPr dirty="0"/>
              <a:t>be</a:t>
            </a:r>
            <a:r>
              <a:rPr spc="-60" dirty="0"/>
              <a:t> </a:t>
            </a:r>
            <a:r>
              <a:rPr dirty="0"/>
              <a:t>run</a:t>
            </a:r>
            <a:r>
              <a:rPr spc="-60" dirty="0"/>
              <a:t> </a:t>
            </a:r>
            <a:r>
              <a:rPr dirty="0"/>
              <a:t>first</a:t>
            </a:r>
            <a:r>
              <a:rPr spc="-67" dirty="0"/>
              <a:t> </a:t>
            </a:r>
            <a:r>
              <a:rPr dirty="0"/>
              <a:t>or</a:t>
            </a:r>
            <a:r>
              <a:rPr spc="-60" dirty="0"/>
              <a:t> </a:t>
            </a:r>
            <a:r>
              <a:rPr dirty="0"/>
              <a:t>which</a:t>
            </a:r>
            <a:r>
              <a:rPr spc="-53" dirty="0"/>
              <a:t> </a:t>
            </a:r>
            <a:r>
              <a:rPr spc="-27" dirty="0">
                <a:solidFill>
                  <a:srgbClr val="1155CC"/>
                </a:solidFill>
              </a:rPr>
              <a:t>task </a:t>
            </a:r>
            <a:r>
              <a:rPr dirty="0"/>
              <a:t>should</a:t>
            </a:r>
            <a:r>
              <a:rPr spc="-60" dirty="0"/>
              <a:t> </a:t>
            </a:r>
            <a:r>
              <a:rPr dirty="0"/>
              <a:t>be</a:t>
            </a:r>
            <a:r>
              <a:rPr spc="-53" dirty="0"/>
              <a:t> </a:t>
            </a:r>
            <a:r>
              <a:rPr dirty="0"/>
              <a:t>run</a:t>
            </a:r>
            <a:r>
              <a:rPr spc="-60" dirty="0"/>
              <a:t> </a:t>
            </a:r>
            <a:r>
              <a:rPr dirty="0"/>
              <a:t>first,</a:t>
            </a:r>
            <a:r>
              <a:rPr spc="-40" dirty="0"/>
              <a:t> </a:t>
            </a:r>
            <a:r>
              <a:rPr dirty="0">
                <a:solidFill>
                  <a:srgbClr val="37761C"/>
                </a:solidFill>
              </a:rPr>
              <a:t>big</a:t>
            </a:r>
            <a:r>
              <a:rPr spc="-60" dirty="0">
                <a:solidFill>
                  <a:srgbClr val="37761C"/>
                </a:solidFill>
              </a:rPr>
              <a:t> </a:t>
            </a:r>
            <a:r>
              <a:rPr dirty="0"/>
              <a:t>one</a:t>
            </a:r>
            <a:r>
              <a:rPr spc="-53" dirty="0"/>
              <a:t> </a:t>
            </a:r>
            <a:r>
              <a:rPr dirty="0"/>
              <a:t>or</a:t>
            </a:r>
            <a:r>
              <a:rPr spc="-60" dirty="0"/>
              <a:t> </a:t>
            </a:r>
            <a:r>
              <a:rPr dirty="0">
                <a:solidFill>
                  <a:srgbClr val="37761C"/>
                </a:solidFill>
              </a:rPr>
              <a:t>small</a:t>
            </a:r>
            <a:r>
              <a:rPr spc="-53" dirty="0">
                <a:solidFill>
                  <a:srgbClr val="37761C"/>
                </a:solidFill>
              </a:rPr>
              <a:t> </a:t>
            </a:r>
            <a:r>
              <a:rPr spc="-27" dirty="0"/>
              <a:t>one.</a:t>
            </a:r>
          </a:p>
          <a:p>
            <a:pPr marL="495288" marR="6773" indent="-479201">
              <a:lnSpc>
                <a:spcPct val="113999"/>
              </a:lnSpc>
              <a:spcBef>
                <a:spcPts val="1393"/>
              </a:spcBef>
              <a:buClr>
                <a:srgbClr val="595959"/>
              </a:buClr>
              <a:buChar char="●"/>
              <a:tabLst>
                <a:tab pos="495288" algn="l"/>
              </a:tabLst>
            </a:pPr>
            <a:r>
              <a:rPr dirty="0">
                <a:solidFill>
                  <a:srgbClr val="37761C"/>
                </a:solidFill>
              </a:rPr>
              <a:t>Hadoop</a:t>
            </a:r>
            <a:r>
              <a:rPr spc="-73" dirty="0">
                <a:solidFill>
                  <a:srgbClr val="37761C"/>
                </a:solidFill>
              </a:rPr>
              <a:t> </a:t>
            </a:r>
            <a:r>
              <a:rPr dirty="0">
                <a:solidFill>
                  <a:srgbClr val="37761C"/>
                </a:solidFill>
              </a:rPr>
              <a:t>1</a:t>
            </a:r>
            <a:r>
              <a:rPr spc="-67" dirty="0">
                <a:solidFill>
                  <a:srgbClr val="37761C"/>
                </a:solidFill>
              </a:rPr>
              <a:t> </a:t>
            </a:r>
            <a:r>
              <a:rPr dirty="0"/>
              <a:t>which</a:t>
            </a:r>
            <a:r>
              <a:rPr spc="-67" dirty="0"/>
              <a:t> </a:t>
            </a:r>
            <a:r>
              <a:rPr dirty="0"/>
              <a:t>use</a:t>
            </a:r>
            <a:r>
              <a:rPr spc="-60" dirty="0"/>
              <a:t> </a:t>
            </a:r>
            <a:r>
              <a:rPr dirty="0">
                <a:solidFill>
                  <a:srgbClr val="1155CC"/>
                </a:solidFill>
              </a:rPr>
              <a:t>FIFO</a:t>
            </a:r>
            <a:r>
              <a:rPr spc="-60" dirty="0">
                <a:solidFill>
                  <a:srgbClr val="1155CC"/>
                </a:solidFill>
              </a:rPr>
              <a:t> </a:t>
            </a:r>
            <a:r>
              <a:rPr dirty="0"/>
              <a:t>scheduler</a:t>
            </a:r>
            <a:r>
              <a:rPr spc="-67" dirty="0"/>
              <a:t> </a:t>
            </a:r>
            <a:r>
              <a:rPr dirty="0"/>
              <a:t>with</a:t>
            </a:r>
            <a:r>
              <a:rPr spc="-67" dirty="0"/>
              <a:t> </a:t>
            </a:r>
            <a:r>
              <a:rPr dirty="0">
                <a:solidFill>
                  <a:srgbClr val="980000"/>
                </a:solidFill>
              </a:rPr>
              <a:t>slot</a:t>
            </a:r>
            <a:r>
              <a:rPr spc="-60" dirty="0">
                <a:solidFill>
                  <a:srgbClr val="980000"/>
                </a:solidFill>
              </a:rPr>
              <a:t> </a:t>
            </a:r>
            <a:r>
              <a:rPr dirty="0"/>
              <a:t>(fixed</a:t>
            </a:r>
            <a:r>
              <a:rPr spc="-73" dirty="0"/>
              <a:t> </a:t>
            </a:r>
            <a:r>
              <a:rPr dirty="0"/>
              <a:t>cpu,</a:t>
            </a:r>
            <a:r>
              <a:rPr spc="-67" dirty="0"/>
              <a:t> </a:t>
            </a:r>
            <a:r>
              <a:rPr dirty="0"/>
              <a:t>memory</a:t>
            </a:r>
            <a:r>
              <a:rPr spc="-67" dirty="0"/>
              <a:t> </a:t>
            </a:r>
            <a:r>
              <a:rPr dirty="0"/>
              <a:t>and</a:t>
            </a:r>
            <a:r>
              <a:rPr spc="-67" dirty="0"/>
              <a:t> </a:t>
            </a:r>
            <a:r>
              <a:rPr dirty="0"/>
              <a:t>disk</a:t>
            </a:r>
            <a:r>
              <a:rPr spc="-67" dirty="0"/>
              <a:t> </a:t>
            </a:r>
            <a:r>
              <a:rPr spc="-13" dirty="0"/>
              <a:t>count) </a:t>
            </a:r>
            <a:r>
              <a:rPr dirty="0"/>
              <a:t>based</a:t>
            </a:r>
            <a:r>
              <a:rPr spc="-80" dirty="0"/>
              <a:t> </a:t>
            </a:r>
            <a:r>
              <a:rPr dirty="0"/>
              <a:t>model</a:t>
            </a:r>
            <a:r>
              <a:rPr spc="-73" dirty="0"/>
              <a:t> </a:t>
            </a:r>
            <a:r>
              <a:rPr dirty="0"/>
              <a:t>was</a:t>
            </a:r>
            <a:r>
              <a:rPr spc="-73" dirty="0"/>
              <a:t> </a:t>
            </a:r>
            <a:r>
              <a:rPr dirty="0"/>
              <a:t>very</a:t>
            </a:r>
            <a:r>
              <a:rPr spc="-73" dirty="0"/>
              <a:t> </a:t>
            </a:r>
            <a:r>
              <a:rPr spc="-13" dirty="0"/>
              <a:t>inefficient</a:t>
            </a:r>
            <a:r>
              <a:rPr spc="-80" dirty="0"/>
              <a:t> </a:t>
            </a:r>
            <a:r>
              <a:rPr dirty="0"/>
              <a:t>for</a:t>
            </a:r>
            <a:r>
              <a:rPr spc="-73" dirty="0"/>
              <a:t> </a:t>
            </a:r>
            <a:r>
              <a:rPr dirty="0"/>
              <a:t>shared</a:t>
            </a:r>
            <a:r>
              <a:rPr spc="-73" dirty="0"/>
              <a:t> </a:t>
            </a:r>
            <a:r>
              <a:rPr dirty="0"/>
              <a:t>clusters,</a:t>
            </a:r>
            <a:r>
              <a:rPr spc="-73" dirty="0"/>
              <a:t> </a:t>
            </a:r>
            <a:r>
              <a:rPr dirty="0"/>
              <a:t>whereas</a:t>
            </a:r>
            <a:r>
              <a:rPr spc="-47" dirty="0"/>
              <a:t> </a:t>
            </a:r>
            <a:r>
              <a:rPr dirty="0">
                <a:solidFill>
                  <a:srgbClr val="37761C"/>
                </a:solidFill>
              </a:rPr>
              <a:t>Hadoop</a:t>
            </a:r>
            <a:r>
              <a:rPr spc="-73" dirty="0">
                <a:solidFill>
                  <a:srgbClr val="37761C"/>
                </a:solidFill>
              </a:rPr>
              <a:t> </a:t>
            </a:r>
            <a:r>
              <a:rPr dirty="0">
                <a:solidFill>
                  <a:srgbClr val="37761C"/>
                </a:solidFill>
              </a:rPr>
              <a:t>2</a:t>
            </a:r>
            <a:r>
              <a:rPr spc="-80" dirty="0">
                <a:solidFill>
                  <a:srgbClr val="37761C"/>
                </a:solidFill>
              </a:rPr>
              <a:t> </a:t>
            </a:r>
            <a:r>
              <a:rPr spc="-13" dirty="0"/>
              <a:t>introduced </a:t>
            </a:r>
            <a:r>
              <a:rPr dirty="0">
                <a:solidFill>
                  <a:srgbClr val="1155CC"/>
                </a:solidFill>
              </a:rPr>
              <a:t>Capacity</a:t>
            </a:r>
            <a:r>
              <a:rPr spc="-73" dirty="0">
                <a:solidFill>
                  <a:srgbClr val="1155CC"/>
                </a:solidFill>
              </a:rPr>
              <a:t> </a:t>
            </a:r>
            <a:r>
              <a:rPr dirty="0"/>
              <a:t>(by</a:t>
            </a:r>
            <a:r>
              <a:rPr spc="-73" dirty="0"/>
              <a:t> </a:t>
            </a:r>
            <a:r>
              <a:rPr dirty="0"/>
              <a:t>Yahoo)</a:t>
            </a:r>
            <a:r>
              <a:rPr spc="-73" dirty="0"/>
              <a:t> </a:t>
            </a:r>
            <a:r>
              <a:rPr dirty="0"/>
              <a:t>and</a:t>
            </a:r>
            <a:r>
              <a:rPr spc="-67" dirty="0"/>
              <a:t> </a:t>
            </a:r>
            <a:r>
              <a:rPr dirty="0">
                <a:solidFill>
                  <a:srgbClr val="1155CC"/>
                </a:solidFill>
              </a:rPr>
              <a:t>Fair</a:t>
            </a:r>
            <a:r>
              <a:rPr spc="-73" dirty="0">
                <a:solidFill>
                  <a:srgbClr val="1155CC"/>
                </a:solidFill>
              </a:rPr>
              <a:t> </a:t>
            </a:r>
            <a:r>
              <a:rPr dirty="0"/>
              <a:t>(by</a:t>
            </a:r>
            <a:r>
              <a:rPr spc="-73" dirty="0"/>
              <a:t> </a:t>
            </a:r>
            <a:r>
              <a:rPr dirty="0"/>
              <a:t>Facebook)</a:t>
            </a:r>
            <a:r>
              <a:rPr spc="-67" dirty="0"/>
              <a:t> </a:t>
            </a:r>
            <a:r>
              <a:rPr dirty="0"/>
              <a:t>schedulers</a:t>
            </a:r>
            <a:r>
              <a:rPr spc="-73" dirty="0"/>
              <a:t> </a:t>
            </a:r>
            <a:r>
              <a:rPr dirty="0"/>
              <a:t>with</a:t>
            </a:r>
            <a:r>
              <a:rPr spc="-80" dirty="0"/>
              <a:t> </a:t>
            </a:r>
            <a:r>
              <a:rPr dirty="0">
                <a:solidFill>
                  <a:srgbClr val="980000"/>
                </a:solidFill>
              </a:rPr>
              <a:t>container</a:t>
            </a:r>
            <a:r>
              <a:rPr spc="-73" dirty="0">
                <a:solidFill>
                  <a:srgbClr val="980000"/>
                </a:solidFill>
              </a:rPr>
              <a:t> </a:t>
            </a:r>
            <a:r>
              <a:rPr spc="-13" dirty="0"/>
              <a:t>(dynamic </a:t>
            </a:r>
            <a:r>
              <a:rPr dirty="0"/>
              <a:t>cpu,</a:t>
            </a:r>
            <a:r>
              <a:rPr spc="-53" dirty="0"/>
              <a:t> </a:t>
            </a:r>
            <a:r>
              <a:rPr dirty="0"/>
              <a:t>memory</a:t>
            </a:r>
            <a:r>
              <a:rPr spc="-53" dirty="0"/>
              <a:t> </a:t>
            </a:r>
            <a:r>
              <a:rPr dirty="0"/>
              <a:t>and</a:t>
            </a:r>
            <a:r>
              <a:rPr spc="-53" dirty="0"/>
              <a:t> </a:t>
            </a:r>
            <a:r>
              <a:rPr dirty="0"/>
              <a:t>disk</a:t>
            </a:r>
            <a:r>
              <a:rPr spc="-53" dirty="0"/>
              <a:t> </a:t>
            </a:r>
            <a:r>
              <a:rPr dirty="0"/>
              <a:t>count)</a:t>
            </a:r>
            <a:r>
              <a:rPr spc="-53" dirty="0"/>
              <a:t> </a:t>
            </a:r>
            <a:r>
              <a:rPr spc="-13" dirty="0"/>
              <a:t>allocation</a:t>
            </a:r>
            <a:r>
              <a:rPr spc="-53" dirty="0"/>
              <a:t> </a:t>
            </a:r>
            <a:r>
              <a:rPr dirty="0"/>
              <a:t>model</a:t>
            </a:r>
            <a:r>
              <a:rPr spc="-53" dirty="0"/>
              <a:t> </a:t>
            </a:r>
            <a:r>
              <a:rPr dirty="0"/>
              <a:t>as</a:t>
            </a:r>
            <a:r>
              <a:rPr spc="-53" dirty="0"/>
              <a:t> </a:t>
            </a:r>
            <a:r>
              <a:rPr dirty="0"/>
              <a:t>part</a:t>
            </a:r>
            <a:r>
              <a:rPr spc="-53" dirty="0"/>
              <a:t> </a:t>
            </a:r>
            <a:r>
              <a:rPr dirty="0"/>
              <a:t>of</a:t>
            </a:r>
            <a:r>
              <a:rPr spc="-53" dirty="0"/>
              <a:t> </a:t>
            </a:r>
            <a:r>
              <a:rPr dirty="0"/>
              <a:t>the</a:t>
            </a:r>
            <a:r>
              <a:rPr spc="-53" dirty="0"/>
              <a:t> </a:t>
            </a:r>
            <a:r>
              <a:rPr dirty="0"/>
              <a:t>Yarn,</a:t>
            </a:r>
            <a:r>
              <a:rPr spc="-53" dirty="0"/>
              <a:t> </a:t>
            </a:r>
            <a:r>
              <a:rPr dirty="0"/>
              <a:t>which</a:t>
            </a:r>
            <a:r>
              <a:rPr spc="-53" dirty="0"/>
              <a:t> </a:t>
            </a:r>
            <a:r>
              <a:rPr dirty="0"/>
              <a:t>is</a:t>
            </a:r>
            <a:r>
              <a:rPr spc="-53" dirty="0"/>
              <a:t> </a:t>
            </a:r>
            <a:r>
              <a:rPr spc="-27" dirty="0"/>
              <a:t>more </a:t>
            </a:r>
            <a:r>
              <a:rPr dirty="0"/>
              <a:t>efficient</a:t>
            </a:r>
            <a:r>
              <a:rPr spc="-100" dirty="0"/>
              <a:t> </a:t>
            </a:r>
            <a:r>
              <a:rPr dirty="0"/>
              <a:t>than</a:t>
            </a:r>
            <a:r>
              <a:rPr spc="-73" dirty="0"/>
              <a:t> </a:t>
            </a:r>
            <a:r>
              <a:rPr dirty="0">
                <a:solidFill>
                  <a:srgbClr val="1155CC"/>
                </a:solidFill>
              </a:rPr>
              <a:t>FIFO</a:t>
            </a:r>
            <a:r>
              <a:rPr spc="-93" dirty="0">
                <a:solidFill>
                  <a:srgbClr val="1155CC"/>
                </a:solidFill>
              </a:rPr>
              <a:t> </a:t>
            </a:r>
            <a:r>
              <a:rPr spc="-13" dirty="0"/>
              <a:t>scheduler.</a:t>
            </a:r>
          </a:p>
          <a:p>
            <a:pPr marL="495288" marR="104984" indent="-479201">
              <a:lnSpc>
                <a:spcPct val="113999"/>
              </a:lnSpc>
              <a:spcBef>
                <a:spcPts val="1400"/>
              </a:spcBef>
              <a:buClr>
                <a:srgbClr val="595959"/>
              </a:buClr>
              <a:buChar char="●"/>
              <a:tabLst>
                <a:tab pos="495288" algn="l"/>
              </a:tabLst>
            </a:pPr>
            <a:r>
              <a:rPr dirty="0">
                <a:solidFill>
                  <a:srgbClr val="37761C"/>
                </a:solidFill>
              </a:rPr>
              <a:t>Yarn</a:t>
            </a:r>
            <a:r>
              <a:rPr spc="-73" dirty="0">
                <a:solidFill>
                  <a:srgbClr val="37761C"/>
                </a:solidFill>
              </a:rPr>
              <a:t> </a:t>
            </a:r>
            <a:r>
              <a:rPr dirty="0"/>
              <a:t>supports</a:t>
            </a:r>
            <a:r>
              <a:rPr spc="-67" dirty="0"/>
              <a:t> </a:t>
            </a:r>
            <a:r>
              <a:rPr dirty="0"/>
              <a:t>three</a:t>
            </a:r>
            <a:r>
              <a:rPr spc="-73" dirty="0"/>
              <a:t> </a:t>
            </a:r>
            <a:r>
              <a:rPr dirty="0"/>
              <a:t>schedulers</a:t>
            </a:r>
            <a:r>
              <a:rPr spc="-73" dirty="0"/>
              <a:t> </a:t>
            </a:r>
            <a:r>
              <a:rPr dirty="0">
                <a:solidFill>
                  <a:srgbClr val="1155CC"/>
                </a:solidFill>
              </a:rPr>
              <a:t>FIFO</a:t>
            </a:r>
            <a:r>
              <a:rPr dirty="0"/>
              <a:t>,</a:t>
            </a:r>
            <a:r>
              <a:rPr spc="-67" dirty="0"/>
              <a:t> </a:t>
            </a:r>
            <a:r>
              <a:rPr dirty="0">
                <a:solidFill>
                  <a:srgbClr val="1155CC"/>
                </a:solidFill>
              </a:rPr>
              <a:t>Capacity</a:t>
            </a:r>
            <a:r>
              <a:rPr spc="-73" dirty="0">
                <a:solidFill>
                  <a:srgbClr val="1155CC"/>
                </a:solidFill>
              </a:rPr>
              <a:t> </a:t>
            </a:r>
            <a:r>
              <a:rPr dirty="0"/>
              <a:t>and</a:t>
            </a:r>
            <a:r>
              <a:rPr spc="-67" dirty="0"/>
              <a:t> </a:t>
            </a:r>
            <a:r>
              <a:rPr dirty="0">
                <a:solidFill>
                  <a:srgbClr val="1155CC"/>
                </a:solidFill>
              </a:rPr>
              <a:t>Fair</a:t>
            </a:r>
            <a:r>
              <a:rPr spc="-67" dirty="0">
                <a:solidFill>
                  <a:srgbClr val="1155CC"/>
                </a:solidFill>
              </a:rPr>
              <a:t> </a:t>
            </a:r>
            <a:r>
              <a:rPr spc="-13" dirty="0"/>
              <a:t>schedulers,</a:t>
            </a:r>
            <a:r>
              <a:rPr spc="-73" dirty="0"/>
              <a:t> </a:t>
            </a:r>
            <a:r>
              <a:rPr dirty="0"/>
              <a:t>we’ll</a:t>
            </a:r>
            <a:r>
              <a:rPr spc="-67" dirty="0"/>
              <a:t> </a:t>
            </a:r>
            <a:r>
              <a:rPr spc="-13" dirty="0"/>
              <a:t>consider </a:t>
            </a:r>
            <a:r>
              <a:rPr dirty="0"/>
              <a:t>them</a:t>
            </a:r>
            <a:r>
              <a:rPr spc="-73" dirty="0"/>
              <a:t> </a:t>
            </a:r>
            <a:r>
              <a:rPr dirty="0"/>
              <a:t>in</a:t>
            </a:r>
            <a:r>
              <a:rPr spc="-73" dirty="0"/>
              <a:t> </a:t>
            </a:r>
            <a:r>
              <a:rPr dirty="0"/>
              <a:t>next</a:t>
            </a:r>
            <a:r>
              <a:rPr spc="-73" dirty="0"/>
              <a:t> </a:t>
            </a:r>
            <a:r>
              <a:rPr dirty="0"/>
              <a:t>slide.</a:t>
            </a:r>
            <a:r>
              <a:rPr spc="-73" dirty="0"/>
              <a:t> </a:t>
            </a:r>
            <a:r>
              <a:rPr dirty="0"/>
              <a:t>It</a:t>
            </a:r>
            <a:r>
              <a:rPr spc="-67" dirty="0"/>
              <a:t> </a:t>
            </a:r>
            <a:r>
              <a:rPr dirty="0"/>
              <a:t>also</a:t>
            </a:r>
            <a:r>
              <a:rPr spc="-73" dirty="0"/>
              <a:t> </a:t>
            </a:r>
            <a:r>
              <a:rPr dirty="0"/>
              <a:t>provide</a:t>
            </a:r>
            <a:r>
              <a:rPr spc="-73" dirty="0"/>
              <a:t> </a:t>
            </a:r>
            <a:r>
              <a:rPr dirty="0"/>
              <a:t>opportunity</a:t>
            </a:r>
            <a:r>
              <a:rPr spc="-73" dirty="0"/>
              <a:t> </a:t>
            </a:r>
            <a:r>
              <a:rPr dirty="0"/>
              <a:t>to</a:t>
            </a:r>
            <a:r>
              <a:rPr spc="-73" dirty="0"/>
              <a:t> </a:t>
            </a:r>
            <a:r>
              <a:rPr dirty="0"/>
              <a:t>create</a:t>
            </a:r>
            <a:r>
              <a:rPr spc="-67" dirty="0"/>
              <a:t> </a:t>
            </a:r>
            <a:r>
              <a:rPr dirty="0"/>
              <a:t>your</a:t>
            </a:r>
            <a:r>
              <a:rPr spc="-53" dirty="0"/>
              <a:t> </a:t>
            </a:r>
            <a:r>
              <a:rPr dirty="0">
                <a:solidFill>
                  <a:srgbClr val="980000"/>
                </a:solidFill>
              </a:rPr>
              <a:t>own</a:t>
            </a:r>
            <a:r>
              <a:rPr spc="-67" dirty="0">
                <a:solidFill>
                  <a:srgbClr val="980000"/>
                </a:solidFill>
              </a:rPr>
              <a:t> </a:t>
            </a:r>
            <a:r>
              <a:rPr dirty="0"/>
              <a:t>scheduler</a:t>
            </a:r>
            <a:r>
              <a:rPr spc="-73" dirty="0"/>
              <a:t> </a:t>
            </a:r>
            <a:r>
              <a:rPr spc="-33" dirty="0"/>
              <a:t>by </a:t>
            </a:r>
            <a:r>
              <a:rPr spc="-13" dirty="0">
                <a:solidFill>
                  <a:srgbClr val="980000"/>
                </a:solidFill>
              </a:rPr>
              <a:t>extending</a:t>
            </a:r>
            <a:r>
              <a:rPr spc="-53" dirty="0">
                <a:solidFill>
                  <a:srgbClr val="980000"/>
                </a:solidFill>
              </a:rPr>
              <a:t> </a:t>
            </a:r>
            <a:r>
              <a:rPr dirty="0">
                <a:solidFill>
                  <a:srgbClr val="1155CC"/>
                </a:solidFill>
              </a:rPr>
              <a:t>Fair</a:t>
            </a:r>
            <a:r>
              <a:rPr spc="-53" dirty="0">
                <a:solidFill>
                  <a:srgbClr val="1155CC"/>
                </a:solidFill>
              </a:rPr>
              <a:t> </a:t>
            </a:r>
            <a:r>
              <a:rPr dirty="0"/>
              <a:t>scheduler</a:t>
            </a:r>
            <a:r>
              <a:rPr spc="-47" dirty="0"/>
              <a:t> </a:t>
            </a:r>
            <a:r>
              <a:rPr spc="-13" dirty="0"/>
              <a:t>class.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03112" y="812800"/>
            <a:ext cx="11462224" cy="571096"/>
          </a:xfrm>
          <a:prstGeom prst="rect">
            <a:avLst/>
          </a:prstGeom>
        </p:spPr>
        <p:txBody>
          <a:bodyPr vert="horz" wrap="square" lIns="0" tIns="16933" rIns="0" bIns="0" rtlCol="0" anchor="t">
            <a:spAutoFit/>
          </a:bodyPr>
          <a:lstStyle/>
          <a:p>
            <a:pPr marL="147315">
              <a:spcBef>
                <a:spcPts val="133"/>
              </a:spcBef>
            </a:pPr>
            <a:r>
              <a:rPr spc="-13" dirty="0"/>
              <a:t>Scheduling</a:t>
            </a:r>
            <a:r>
              <a:rPr spc="-67" dirty="0"/>
              <a:t> </a:t>
            </a:r>
            <a:r>
              <a:rPr dirty="0"/>
              <a:t>in</a:t>
            </a:r>
            <a:r>
              <a:rPr spc="-67" dirty="0"/>
              <a:t> </a:t>
            </a:r>
            <a:r>
              <a:rPr spc="-27" dirty="0"/>
              <a:t>Yarn</a:t>
            </a:r>
          </a:p>
        </p:txBody>
      </p:sp>
      <p:sp>
        <p:nvSpPr>
          <p:cNvPr id="3" name="object 3"/>
          <p:cNvSpPr txBox="1"/>
          <p:nvPr/>
        </p:nvSpPr>
        <p:spPr>
          <a:xfrm>
            <a:off x="455767" y="1155609"/>
            <a:ext cx="7200900" cy="2487262"/>
          </a:xfrm>
          <a:prstGeom prst="rect">
            <a:avLst/>
          </a:prstGeom>
        </p:spPr>
        <p:txBody>
          <a:bodyPr vert="horz" wrap="square" lIns="0" tIns="16933" rIns="0" bIns="0" rtlCol="0">
            <a:spAutoFit/>
          </a:bodyPr>
          <a:lstStyle/>
          <a:p>
            <a:pPr marL="16933">
              <a:spcBef>
                <a:spcPts val="133"/>
              </a:spcBef>
            </a:pPr>
            <a:r>
              <a:rPr sz="2400" dirty="0">
                <a:solidFill>
                  <a:srgbClr val="37761C"/>
                </a:solidFill>
                <a:latin typeface="Arial"/>
                <a:cs typeface="Arial"/>
              </a:rPr>
              <a:t>FIFO</a:t>
            </a:r>
            <a:r>
              <a:rPr sz="2400" spc="-53" dirty="0">
                <a:solidFill>
                  <a:srgbClr val="37761C"/>
                </a:solidFill>
                <a:latin typeface="Arial"/>
                <a:cs typeface="Arial"/>
              </a:rPr>
              <a:t> </a:t>
            </a:r>
            <a:r>
              <a:rPr sz="2400" dirty="0">
                <a:solidFill>
                  <a:srgbClr val="595959"/>
                </a:solidFill>
                <a:latin typeface="Arial"/>
                <a:cs typeface="Arial"/>
              </a:rPr>
              <a:t>-</a:t>
            </a:r>
            <a:r>
              <a:rPr sz="2400" spc="-60" dirty="0">
                <a:solidFill>
                  <a:srgbClr val="595959"/>
                </a:solidFill>
                <a:latin typeface="Arial"/>
                <a:cs typeface="Arial"/>
              </a:rPr>
              <a:t> </a:t>
            </a:r>
            <a:r>
              <a:rPr sz="2400" dirty="0">
                <a:solidFill>
                  <a:srgbClr val="595959"/>
                </a:solidFill>
                <a:latin typeface="Arial"/>
                <a:cs typeface="Arial"/>
              </a:rPr>
              <a:t>First</a:t>
            </a:r>
            <a:r>
              <a:rPr sz="2400" spc="-60" dirty="0">
                <a:solidFill>
                  <a:srgbClr val="595959"/>
                </a:solidFill>
                <a:latin typeface="Arial"/>
                <a:cs typeface="Arial"/>
              </a:rPr>
              <a:t> </a:t>
            </a:r>
            <a:r>
              <a:rPr sz="2400" dirty="0">
                <a:solidFill>
                  <a:srgbClr val="595959"/>
                </a:solidFill>
                <a:latin typeface="Arial"/>
                <a:cs typeface="Arial"/>
              </a:rPr>
              <a:t>Input</a:t>
            </a:r>
            <a:r>
              <a:rPr sz="2400" spc="-53" dirty="0">
                <a:solidFill>
                  <a:srgbClr val="595959"/>
                </a:solidFill>
                <a:latin typeface="Arial"/>
                <a:cs typeface="Arial"/>
              </a:rPr>
              <a:t> </a:t>
            </a:r>
            <a:r>
              <a:rPr sz="2400" dirty="0">
                <a:solidFill>
                  <a:srgbClr val="595959"/>
                </a:solidFill>
                <a:latin typeface="Arial"/>
                <a:cs typeface="Arial"/>
              </a:rPr>
              <a:t>First</a:t>
            </a:r>
            <a:r>
              <a:rPr sz="2400" spc="-60" dirty="0">
                <a:solidFill>
                  <a:srgbClr val="595959"/>
                </a:solidFill>
                <a:latin typeface="Arial"/>
                <a:cs typeface="Arial"/>
              </a:rPr>
              <a:t> </a:t>
            </a:r>
            <a:r>
              <a:rPr sz="2400" spc="-13" dirty="0">
                <a:solidFill>
                  <a:srgbClr val="595959"/>
                </a:solidFill>
                <a:latin typeface="Arial"/>
                <a:cs typeface="Arial"/>
              </a:rPr>
              <a:t>Output:</a:t>
            </a:r>
            <a:endParaRPr sz="2400">
              <a:latin typeface="Arial"/>
              <a:cs typeface="Arial"/>
            </a:endParaRPr>
          </a:p>
          <a:p>
            <a:pPr>
              <a:spcBef>
                <a:spcPts val="960"/>
              </a:spcBef>
            </a:pPr>
            <a:endParaRPr sz="2400">
              <a:latin typeface="Arial"/>
              <a:cs typeface="Arial"/>
            </a:endParaRPr>
          </a:p>
          <a:p>
            <a:pPr marL="625671" indent="-488514">
              <a:buChar char="●"/>
              <a:tabLst>
                <a:tab pos="625671" algn="l"/>
              </a:tabLst>
            </a:pPr>
            <a:r>
              <a:rPr sz="2400" dirty="0">
                <a:solidFill>
                  <a:srgbClr val="595959"/>
                </a:solidFill>
                <a:latin typeface="Arial"/>
                <a:cs typeface="Arial"/>
              </a:rPr>
              <a:t>the</a:t>
            </a:r>
            <a:r>
              <a:rPr sz="2400" spc="-40" dirty="0">
                <a:solidFill>
                  <a:srgbClr val="595959"/>
                </a:solidFill>
                <a:latin typeface="Arial"/>
                <a:cs typeface="Arial"/>
              </a:rPr>
              <a:t> </a:t>
            </a:r>
            <a:r>
              <a:rPr sz="2400" dirty="0">
                <a:solidFill>
                  <a:srgbClr val="1155CC"/>
                </a:solidFill>
                <a:latin typeface="Arial"/>
                <a:cs typeface="Arial"/>
              </a:rPr>
              <a:t>simplest</a:t>
            </a:r>
            <a:r>
              <a:rPr sz="2400" spc="-20" dirty="0">
                <a:solidFill>
                  <a:srgbClr val="1155CC"/>
                </a:solidFill>
                <a:latin typeface="Arial"/>
                <a:cs typeface="Arial"/>
              </a:rPr>
              <a:t> </a:t>
            </a:r>
            <a:r>
              <a:rPr sz="2400" dirty="0">
                <a:solidFill>
                  <a:srgbClr val="595959"/>
                </a:solidFill>
                <a:latin typeface="Arial"/>
                <a:cs typeface="Arial"/>
              </a:rPr>
              <a:t>and</a:t>
            </a:r>
            <a:r>
              <a:rPr sz="2400" spc="-47" dirty="0">
                <a:solidFill>
                  <a:srgbClr val="595959"/>
                </a:solidFill>
                <a:latin typeface="Arial"/>
                <a:cs typeface="Arial"/>
              </a:rPr>
              <a:t> </a:t>
            </a:r>
            <a:r>
              <a:rPr sz="2400" dirty="0">
                <a:solidFill>
                  <a:srgbClr val="595959"/>
                </a:solidFill>
                <a:latin typeface="Arial"/>
                <a:cs typeface="Arial"/>
              </a:rPr>
              <a:t>most</a:t>
            </a:r>
            <a:r>
              <a:rPr sz="2400" spc="-27" dirty="0">
                <a:solidFill>
                  <a:srgbClr val="595959"/>
                </a:solidFill>
                <a:latin typeface="Arial"/>
                <a:cs typeface="Arial"/>
              </a:rPr>
              <a:t> </a:t>
            </a:r>
            <a:r>
              <a:rPr sz="2400" dirty="0">
                <a:solidFill>
                  <a:srgbClr val="1155CC"/>
                </a:solidFill>
                <a:latin typeface="Arial"/>
                <a:cs typeface="Arial"/>
              </a:rPr>
              <a:t>understandable</a:t>
            </a:r>
            <a:r>
              <a:rPr sz="2400" spc="-33" dirty="0">
                <a:solidFill>
                  <a:srgbClr val="1155CC"/>
                </a:solidFill>
                <a:latin typeface="Arial"/>
                <a:cs typeface="Arial"/>
              </a:rPr>
              <a:t> </a:t>
            </a:r>
            <a:r>
              <a:rPr sz="2400" spc="-13" dirty="0">
                <a:solidFill>
                  <a:srgbClr val="595959"/>
                </a:solidFill>
                <a:latin typeface="Arial"/>
                <a:cs typeface="Arial"/>
              </a:rPr>
              <a:t>scheduler</a:t>
            </a:r>
            <a:endParaRPr sz="2400">
              <a:latin typeface="Arial"/>
              <a:cs typeface="Arial"/>
            </a:endParaRPr>
          </a:p>
          <a:p>
            <a:pPr marL="625671" indent="-488514">
              <a:spcBef>
                <a:spcPts val="420"/>
              </a:spcBef>
              <a:buClr>
                <a:srgbClr val="595959"/>
              </a:buClr>
              <a:buChar char="●"/>
              <a:tabLst>
                <a:tab pos="625671" algn="l"/>
              </a:tabLst>
            </a:pPr>
            <a:r>
              <a:rPr sz="2400" dirty="0">
                <a:solidFill>
                  <a:srgbClr val="980000"/>
                </a:solidFill>
                <a:latin typeface="Arial"/>
                <a:cs typeface="Arial"/>
              </a:rPr>
              <a:t>It</a:t>
            </a:r>
            <a:r>
              <a:rPr sz="2400" spc="-47" dirty="0">
                <a:solidFill>
                  <a:srgbClr val="980000"/>
                </a:solidFill>
                <a:latin typeface="Arial"/>
                <a:cs typeface="Arial"/>
              </a:rPr>
              <a:t> </a:t>
            </a:r>
            <a:r>
              <a:rPr sz="2400" dirty="0">
                <a:solidFill>
                  <a:srgbClr val="980000"/>
                </a:solidFill>
                <a:latin typeface="Arial"/>
                <a:cs typeface="Arial"/>
              </a:rPr>
              <a:t>doesn’t</a:t>
            </a:r>
            <a:r>
              <a:rPr sz="2400" spc="-7" dirty="0">
                <a:solidFill>
                  <a:srgbClr val="980000"/>
                </a:solidFill>
                <a:latin typeface="Arial"/>
                <a:cs typeface="Arial"/>
              </a:rPr>
              <a:t> </a:t>
            </a:r>
            <a:r>
              <a:rPr sz="2400" dirty="0">
                <a:solidFill>
                  <a:srgbClr val="595959"/>
                </a:solidFill>
                <a:latin typeface="Arial"/>
                <a:cs typeface="Arial"/>
              </a:rPr>
              <a:t>needing</a:t>
            </a:r>
            <a:r>
              <a:rPr sz="2400" spc="-27" dirty="0">
                <a:solidFill>
                  <a:srgbClr val="595959"/>
                </a:solidFill>
                <a:latin typeface="Arial"/>
                <a:cs typeface="Arial"/>
              </a:rPr>
              <a:t> </a:t>
            </a:r>
            <a:r>
              <a:rPr sz="2400" dirty="0">
                <a:solidFill>
                  <a:srgbClr val="595959"/>
                </a:solidFill>
                <a:latin typeface="Arial"/>
                <a:cs typeface="Arial"/>
              </a:rPr>
              <a:t>any</a:t>
            </a:r>
            <a:r>
              <a:rPr sz="2400" spc="-20" dirty="0">
                <a:solidFill>
                  <a:srgbClr val="595959"/>
                </a:solidFill>
                <a:latin typeface="Arial"/>
                <a:cs typeface="Arial"/>
              </a:rPr>
              <a:t> </a:t>
            </a:r>
            <a:r>
              <a:rPr sz="2400" spc="-13" dirty="0">
                <a:solidFill>
                  <a:srgbClr val="37761C"/>
                </a:solidFill>
                <a:latin typeface="Arial"/>
                <a:cs typeface="Arial"/>
              </a:rPr>
              <a:t>configuration.</a:t>
            </a:r>
            <a:endParaRPr sz="2400">
              <a:latin typeface="Arial"/>
              <a:cs typeface="Arial"/>
            </a:endParaRPr>
          </a:p>
          <a:p>
            <a:pPr marL="626518" marR="176949" indent="-489361">
              <a:lnSpc>
                <a:spcPct val="114599"/>
              </a:lnSpc>
              <a:buChar char="●"/>
              <a:tabLst>
                <a:tab pos="626518" algn="l"/>
              </a:tabLst>
            </a:pPr>
            <a:r>
              <a:rPr sz="2400" dirty="0">
                <a:solidFill>
                  <a:srgbClr val="595959"/>
                </a:solidFill>
                <a:latin typeface="Arial"/>
                <a:cs typeface="Arial"/>
              </a:rPr>
              <a:t>But</a:t>
            </a:r>
            <a:r>
              <a:rPr sz="2400" spc="-40" dirty="0">
                <a:solidFill>
                  <a:srgbClr val="595959"/>
                </a:solidFill>
                <a:latin typeface="Arial"/>
                <a:cs typeface="Arial"/>
              </a:rPr>
              <a:t> </a:t>
            </a:r>
            <a:r>
              <a:rPr sz="2400" dirty="0">
                <a:solidFill>
                  <a:srgbClr val="595959"/>
                </a:solidFill>
                <a:latin typeface="Arial"/>
                <a:cs typeface="Arial"/>
              </a:rPr>
              <a:t>it’s</a:t>
            </a:r>
            <a:r>
              <a:rPr sz="2400" spc="-7" dirty="0">
                <a:solidFill>
                  <a:srgbClr val="595959"/>
                </a:solidFill>
                <a:latin typeface="Arial"/>
                <a:cs typeface="Arial"/>
              </a:rPr>
              <a:t> </a:t>
            </a:r>
            <a:r>
              <a:rPr sz="2400" dirty="0">
                <a:solidFill>
                  <a:srgbClr val="980000"/>
                </a:solidFill>
                <a:latin typeface="Arial"/>
                <a:cs typeface="Arial"/>
              </a:rPr>
              <a:t>not</a:t>
            </a:r>
            <a:r>
              <a:rPr sz="2400" spc="-13" dirty="0">
                <a:solidFill>
                  <a:srgbClr val="980000"/>
                </a:solidFill>
                <a:latin typeface="Arial"/>
                <a:cs typeface="Arial"/>
              </a:rPr>
              <a:t> </a:t>
            </a:r>
            <a:r>
              <a:rPr sz="2400" dirty="0">
                <a:solidFill>
                  <a:srgbClr val="595959"/>
                </a:solidFill>
                <a:latin typeface="Arial"/>
                <a:cs typeface="Arial"/>
              </a:rPr>
              <a:t>suitable</a:t>
            </a:r>
            <a:r>
              <a:rPr sz="2400" spc="-27" dirty="0">
                <a:solidFill>
                  <a:srgbClr val="595959"/>
                </a:solidFill>
                <a:latin typeface="Arial"/>
                <a:cs typeface="Arial"/>
              </a:rPr>
              <a:t> </a:t>
            </a:r>
            <a:r>
              <a:rPr sz="2400" dirty="0">
                <a:solidFill>
                  <a:srgbClr val="595959"/>
                </a:solidFill>
                <a:latin typeface="Arial"/>
                <a:cs typeface="Arial"/>
              </a:rPr>
              <a:t>for</a:t>
            </a:r>
            <a:r>
              <a:rPr sz="2400" spc="-13" dirty="0">
                <a:solidFill>
                  <a:srgbClr val="595959"/>
                </a:solidFill>
                <a:latin typeface="Arial"/>
                <a:cs typeface="Arial"/>
              </a:rPr>
              <a:t> </a:t>
            </a:r>
            <a:r>
              <a:rPr sz="2400" dirty="0">
                <a:solidFill>
                  <a:srgbClr val="37761C"/>
                </a:solidFill>
                <a:latin typeface="Arial"/>
                <a:cs typeface="Arial"/>
              </a:rPr>
              <a:t>shared</a:t>
            </a:r>
            <a:r>
              <a:rPr sz="2400" spc="-13" dirty="0">
                <a:solidFill>
                  <a:srgbClr val="37761C"/>
                </a:solidFill>
                <a:latin typeface="Arial"/>
                <a:cs typeface="Arial"/>
              </a:rPr>
              <a:t> </a:t>
            </a:r>
            <a:r>
              <a:rPr sz="2400" dirty="0">
                <a:solidFill>
                  <a:srgbClr val="595959"/>
                </a:solidFill>
                <a:latin typeface="Arial"/>
                <a:cs typeface="Arial"/>
              </a:rPr>
              <a:t>clusters</a:t>
            </a:r>
            <a:r>
              <a:rPr sz="2400" spc="-20" dirty="0">
                <a:solidFill>
                  <a:srgbClr val="595959"/>
                </a:solidFill>
                <a:latin typeface="Arial"/>
                <a:cs typeface="Arial"/>
              </a:rPr>
              <a:t> </a:t>
            </a:r>
            <a:r>
              <a:rPr sz="2400" spc="-13" dirty="0">
                <a:solidFill>
                  <a:srgbClr val="595959"/>
                </a:solidFill>
                <a:latin typeface="Arial"/>
                <a:cs typeface="Arial"/>
              </a:rPr>
              <a:t>because </a:t>
            </a:r>
            <a:r>
              <a:rPr sz="2400" dirty="0">
                <a:solidFill>
                  <a:srgbClr val="1155CC"/>
                </a:solidFill>
                <a:latin typeface="Arial"/>
                <a:cs typeface="Arial"/>
              </a:rPr>
              <a:t>big</a:t>
            </a:r>
            <a:r>
              <a:rPr sz="2400" spc="-27" dirty="0">
                <a:solidFill>
                  <a:srgbClr val="1155CC"/>
                </a:solidFill>
                <a:latin typeface="Arial"/>
                <a:cs typeface="Arial"/>
              </a:rPr>
              <a:t> </a:t>
            </a:r>
            <a:r>
              <a:rPr sz="2400" dirty="0">
                <a:solidFill>
                  <a:srgbClr val="595959"/>
                </a:solidFill>
                <a:latin typeface="Arial"/>
                <a:cs typeface="Arial"/>
              </a:rPr>
              <a:t>applications</a:t>
            </a:r>
            <a:r>
              <a:rPr sz="2400" spc="-13" dirty="0">
                <a:solidFill>
                  <a:srgbClr val="595959"/>
                </a:solidFill>
                <a:latin typeface="Arial"/>
                <a:cs typeface="Arial"/>
              </a:rPr>
              <a:t> </a:t>
            </a:r>
            <a:r>
              <a:rPr sz="2400" dirty="0">
                <a:solidFill>
                  <a:srgbClr val="595959"/>
                </a:solidFill>
                <a:latin typeface="Arial"/>
                <a:cs typeface="Arial"/>
              </a:rPr>
              <a:t>eat</a:t>
            </a:r>
            <a:r>
              <a:rPr sz="2400" spc="-20" dirty="0">
                <a:solidFill>
                  <a:srgbClr val="595959"/>
                </a:solidFill>
                <a:latin typeface="Arial"/>
                <a:cs typeface="Arial"/>
              </a:rPr>
              <a:t> </a:t>
            </a:r>
            <a:r>
              <a:rPr sz="2400" dirty="0">
                <a:solidFill>
                  <a:srgbClr val="595959"/>
                </a:solidFill>
                <a:latin typeface="Arial"/>
                <a:cs typeface="Arial"/>
              </a:rPr>
              <a:t>all</a:t>
            </a:r>
            <a:r>
              <a:rPr sz="2400" spc="-13" dirty="0">
                <a:solidFill>
                  <a:srgbClr val="595959"/>
                </a:solidFill>
                <a:latin typeface="Arial"/>
                <a:cs typeface="Arial"/>
              </a:rPr>
              <a:t> resources.</a:t>
            </a:r>
            <a:endParaRPr sz="2400">
              <a:latin typeface="Arial"/>
              <a:cs typeface="Arial"/>
            </a:endParaRPr>
          </a:p>
        </p:txBody>
      </p:sp>
      <p:pic>
        <p:nvPicPr>
          <p:cNvPr id="4" name="object 4"/>
          <p:cNvPicPr/>
          <p:nvPr/>
        </p:nvPicPr>
        <p:blipFill>
          <a:blip r:embed="rId2" cstate="print"/>
          <a:stretch>
            <a:fillRect/>
          </a:stretch>
        </p:blipFill>
        <p:spPr>
          <a:xfrm>
            <a:off x="6232009" y="3547832"/>
            <a:ext cx="5482089" cy="2755061"/>
          </a:xfrm>
          <a:prstGeom prst="rect">
            <a:avLst/>
          </a:prstGeom>
        </p:spPr>
      </p:pic>
      <p:sp>
        <p:nvSpPr>
          <p:cNvPr id="5" name="object 5"/>
          <p:cNvSpPr txBox="1">
            <a:spLocks noGrp="1"/>
          </p:cNvSpPr>
          <p:nvPr>
            <p:ph type="ftr" sz="quarter" idx="5"/>
          </p:nvPr>
        </p:nvSpPr>
        <p:spPr>
          <a:xfrm>
            <a:off x="0" y="0"/>
            <a:ext cx="0" cy="3883114"/>
          </a:xfrm>
          <a:prstGeom prst="rect">
            <a:avLst/>
          </a:prstGeom>
        </p:spPr>
        <p:txBody>
          <a:bodyPr vert="horz" wrap="square" lIns="0" tIns="5080" rIns="0" bIns="0" rtlCol="0">
            <a:spAutoFit/>
          </a:bodyPr>
          <a:lstStyle/>
          <a:p>
            <a:pPr marL="16933">
              <a:spcBef>
                <a:spcPts val="40"/>
              </a:spcBef>
            </a:pPr>
            <a:r>
              <a:rPr dirty="0"/>
              <a:t>©</a:t>
            </a:r>
            <a:r>
              <a:rPr spc="-33" dirty="0"/>
              <a:t> </a:t>
            </a:r>
            <a:r>
              <a:rPr dirty="0"/>
              <a:t>Vigen</a:t>
            </a:r>
            <a:r>
              <a:rPr spc="-20" dirty="0"/>
              <a:t> </a:t>
            </a:r>
            <a:r>
              <a:rPr spc="-13" dirty="0"/>
              <a:t>Sahakyan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03112" y="812800"/>
            <a:ext cx="11462224" cy="571096"/>
          </a:xfrm>
          <a:prstGeom prst="rect">
            <a:avLst/>
          </a:prstGeom>
        </p:spPr>
        <p:txBody>
          <a:bodyPr vert="horz" wrap="square" lIns="0" tIns="16933" rIns="0" bIns="0" rtlCol="0" anchor="t">
            <a:spAutoFit/>
          </a:bodyPr>
          <a:lstStyle/>
          <a:p>
            <a:pPr marL="147315">
              <a:spcBef>
                <a:spcPts val="133"/>
              </a:spcBef>
            </a:pPr>
            <a:r>
              <a:rPr spc="-13" dirty="0"/>
              <a:t>Scheduling</a:t>
            </a:r>
            <a:r>
              <a:rPr spc="-67" dirty="0"/>
              <a:t> </a:t>
            </a:r>
            <a:r>
              <a:rPr dirty="0"/>
              <a:t>in</a:t>
            </a:r>
            <a:r>
              <a:rPr spc="-67" dirty="0"/>
              <a:t> </a:t>
            </a:r>
            <a:r>
              <a:rPr spc="-27" dirty="0"/>
              <a:t>Yarn</a:t>
            </a:r>
          </a:p>
        </p:txBody>
      </p:sp>
      <p:sp>
        <p:nvSpPr>
          <p:cNvPr id="3" name="object 3"/>
          <p:cNvSpPr txBox="1"/>
          <p:nvPr/>
        </p:nvSpPr>
        <p:spPr>
          <a:xfrm>
            <a:off x="359332" y="1102267"/>
            <a:ext cx="11081173" cy="4724284"/>
          </a:xfrm>
          <a:prstGeom prst="rect">
            <a:avLst/>
          </a:prstGeom>
        </p:spPr>
        <p:txBody>
          <a:bodyPr vert="horz" wrap="square" lIns="0" tIns="16933" rIns="0" bIns="0" rtlCol="0">
            <a:spAutoFit/>
          </a:bodyPr>
          <a:lstStyle/>
          <a:p>
            <a:pPr marL="16933" marR="6773">
              <a:lnSpc>
                <a:spcPct val="114599"/>
              </a:lnSpc>
              <a:spcBef>
                <a:spcPts val="133"/>
              </a:spcBef>
            </a:pPr>
            <a:r>
              <a:rPr sz="2400" dirty="0">
                <a:solidFill>
                  <a:srgbClr val="37761C"/>
                </a:solidFill>
                <a:latin typeface="Arial"/>
                <a:cs typeface="Arial"/>
              </a:rPr>
              <a:t>Capacity</a:t>
            </a:r>
            <a:r>
              <a:rPr sz="2400" spc="-27" dirty="0">
                <a:solidFill>
                  <a:srgbClr val="37761C"/>
                </a:solidFill>
                <a:latin typeface="Arial"/>
                <a:cs typeface="Arial"/>
              </a:rPr>
              <a:t> </a:t>
            </a:r>
            <a:r>
              <a:rPr sz="2400" dirty="0">
                <a:solidFill>
                  <a:srgbClr val="37761C"/>
                </a:solidFill>
                <a:latin typeface="Arial"/>
                <a:cs typeface="Arial"/>
              </a:rPr>
              <a:t>scheduler</a:t>
            </a:r>
            <a:r>
              <a:rPr sz="2400" spc="-20" dirty="0">
                <a:solidFill>
                  <a:srgbClr val="37761C"/>
                </a:solidFill>
                <a:latin typeface="Arial"/>
                <a:cs typeface="Arial"/>
              </a:rPr>
              <a:t> </a:t>
            </a:r>
            <a:r>
              <a:rPr sz="2400" dirty="0">
                <a:solidFill>
                  <a:srgbClr val="595959"/>
                </a:solidFill>
                <a:latin typeface="Arial"/>
                <a:cs typeface="Arial"/>
              </a:rPr>
              <a:t>-</a:t>
            </a:r>
            <a:r>
              <a:rPr sz="2400" spc="-27" dirty="0">
                <a:solidFill>
                  <a:srgbClr val="595959"/>
                </a:solidFill>
                <a:latin typeface="Arial"/>
                <a:cs typeface="Arial"/>
              </a:rPr>
              <a:t> </a:t>
            </a:r>
            <a:r>
              <a:rPr sz="2400" dirty="0">
                <a:solidFill>
                  <a:srgbClr val="595959"/>
                </a:solidFill>
                <a:latin typeface="Arial"/>
                <a:cs typeface="Arial"/>
              </a:rPr>
              <a:t>allows</a:t>
            </a:r>
            <a:r>
              <a:rPr sz="2400" spc="-20" dirty="0">
                <a:solidFill>
                  <a:srgbClr val="595959"/>
                </a:solidFill>
                <a:latin typeface="Arial"/>
                <a:cs typeface="Arial"/>
              </a:rPr>
              <a:t> </a:t>
            </a:r>
            <a:r>
              <a:rPr sz="2400" dirty="0">
                <a:solidFill>
                  <a:srgbClr val="595959"/>
                </a:solidFill>
                <a:latin typeface="Arial"/>
                <a:cs typeface="Arial"/>
              </a:rPr>
              <a:t>sharing</a:t>
            </a:r>
            <a:r>
              <a:rPr sz="2400" spc="-27" dirty="0">
                <a:solidFill>
                  <a:srgbClr val="595959"/>
                </a:solidFill>
                <a:latin typeface="Arial"/>
                <a:cs typeface="Arial"/>
              </a:rPr>
              <a:t> </a:t>
            </a:r>
            <a:r>
              <a:rPr sz="2400" dirty="0">
                <a:solidFill>
                  <a:srgbClr val="595959"/>
                </a:solidFill>
                <a:latin typeface="Arial"/>
                <a:cs typeface="Arial"/>
              </a:rPr>
              <a:t>of</a:t>
            </a:r>
            <a:r>
              <a:rPr sz="2400" spc="-27" dirty="0">
                <a:solidFill>
                  <a:srgbClr val="595959"/>
                </a:solidFill>
                <a:latin typeface="Arial"/>
                <a:cs typeface="Arial"/>
              </a:rPr>
              <a:t> </a:t>
            </a:r>
            <a:r>
              <a:rPr sz="2400" dirty="0">
                <a:solidFill>
                  <a:srgbClr val="595959"/>
                </a:solidFill>
                <a:latin typeface="Arial"/>
                <a:cs typeface="Arial"/>
              </a:rPr>
              <a:t>a</a:t>
            </a:r>
            <a:r>
              <a:rPr sz="2400" spc="-7" dirty="0">
                <a:solidFill>
                  <a:srgbClr val="595959"/>
                </a:solidFill>
                <a:latin typeface="Arial"/>
                <a:cs typeface="Arial"/>
              </a:rPr>
              <a:t> </a:t>
            </a:r>
            <a:r>
              <a:rPr sz="2400" dirty="0">
                <a:solidFill>
                  <a:srgbClr val="37761C"/>
                </a:solidFill>
                <a:latin typeface="Arial"/>
                <a:cs typeface="Arial"/>
              </a:rPr>
              <a:t>Hadoop</a:t>
            </a:r>
            <a:r>
              <a:rPr sz="2400" spc="-13" dirty="0">
                <a:solidFill>
                  <a:srgbClr val="37761C"/>
                </a:solidFill>
                <a:latin typeface="Arial"/>
                <a:cs typeface="Arial"/>
              </a:rPr>
              <a:t> </a:t>
            </a:r>
            <a:r>
              <a:rPr sz="2400" dirty="0">
                <a:solidFill>
                  <a:srgbClr val="595959"/>
                </a:solidFill>
                <a:latin typeface="Arial"/>
                <a:cs typeface="Arial"/>
              </a:rPr>
              <a:t>cluster</a:t>
            </a:r>
            <a:r>
              <a:rPr sz="2400" spc="-27" dirty="0">
                <a:solidFill>
                  <a:srgbClr val="595959"/>
                </a:solidFill>
                <a:latin typeface="Arial"/>
                <a:cs typeface="Arial"/>
              </a:rPr>
              <a:t> </a:t>
            </a:r>
            <a:r>
              <a:rPr sz="2400" dirty="0">
                <a:solidFill>
                  <a:srgbClr val="595959"/>
                </a:solidFill>
                <a:latin typeface="Arial"/>
                <a:cs typeface="Arial"/>
              </a:rPr>
              <a:t>along</a:t>
            </a:r>
            <a:r>
              <a:rPr sz="2400" spc="-20" dirty="0">
                <a:solidFill>
                  <a:srgbClr val="595959"/>
                </a:solidFill>
                <a:latin typeface="Arial"/>
                <a:cs typeface="Arial"/>
              </a:rPr>
              <a:t> </a:t>
            </a:r>
            <a:r>
              <a:rPr sz="2400" dirty="0">
                <a:solidFill>
                  <a:srgbClr val="980000"/>
                </a:solidFill>
                <a:latin typeface="Arial"/>
                <a:cs typeface="Arial"/>
              </a:rPr>
              <a:t>organizational</a:t>
            </a:r>
            <a:r>
              <a:rPr sz="2400" spc="-20" dirty="0">
                <a:solidFill>
                  <a:srgbClr val="980000"/>
                </a:solidFill>
                <a:latin typeface="Arial"/>
                <a:cs typeface="Arial"/>
              </a:rPr>
              <a:t> </a:t>
            </a:r>
            <a:r>
              <a:rPr sz="2400" spc="-13" dirty="0">
                <a:solidFill>
                  <a:srgbClr val="595959"/>
                </a:solidFill>
                <a:latin typeface="Arial"/>
                <a:cs typeface="Arial"/>
              </a:rPr>
              <a:t>lines </a:t>
            </a:r>
            <a:r>
              <a:rPr sz="2400" dirty="0">
                <a:solidFill>
                  <a:srgbClr val="595959"/>
                </a:solidFill>
                <a:latin typeface="Arial"/>
                <a:cs typeface="Arial"/>
              </a:rPr>
              <a:t>(each</a:t>
            </a:r>
            <a:r>
              <a:rPr sz="2400" spc="-27" dirty="0">
                <a:solidFill>
                  <a:srgbClr val="595959"/>
                </a:solidFill>
                <a:latin typeface="Arial"/>
                <a:cs typeface="Arial"/>
              </a:rPr>
              <a:t> </a:t>
            </a:r>
            <a:r>
              <a:rPr sz="2400" dirty="0">
                <a:solidFill>
                  <a:srgbClr val="595959"/>
                </a:solidFill>
                <a:latin typeface="Arial"/>
                <a:cs typeface="Arial"/>
              </a:rPr>
              <a:t>one</a:t>
            </a:r>
            <a:r>
              <a:rPr sz="2400" spc="-27" dirty="0">
                <a:solidFill>
                  <a:srgbClr val="595959"/>
                </a:solidFill>
                <a:latin typeface="Arial"/>
                <a:cs typeface="Arial"/>
              </a:rPr>
              <a:t> </a:t>
            </a:r>
            <a:r>
              <a:rPr sz="2400" dirty="0">
                <a:solidFill>
                  <a:srgbClr val="595959"/>
                </a:solidFill>
                <a:latin typeface="Arial"/>
                <a:cs typeface="Arial"/>
              </a:rPr>
              <a:t>is</a:t>
            </a:r>
            <a:r>
              <a:rPr sz="2400" spc="-20" dirty="0">
                <a:solidFill>
                  <a:srgbClr val="595959"/>
                </a:solidFill>
                <a:latin typeface="Arial"/>
                <a:cs typeface="Arial"/>
              </a:rPr>
              <a:t> </a:t>
            </a:r>
            <a:r>
              <a:rPr sz="2400" dirty="0">
                <a:solidFill>
                  <a:srgbClr val="595959"/>
                </a:solidFill>
                <a:latin typeface="Arial"/>
                <a:cs typeface="Arial"/>
              </a:rPr>
              <a:t>a</a:t>
            </a:r>
            <a:r>
              <a:rPr sz="2400" spc="-13" dirty="0">
                <a:solidFill>
                  <a:srgbClr val="595959"/>
                </a:solidFill>
                <a:latin typeface="Arial"/>
                <a:cs typeface="Arial"/>
              </a:rPr>
              <a:t> </a:t>
            </a:r>
            <a:r>
              <a:rPr sz="2400" dirty="0">
                <a:solidFill>
                  <a:srgbClr val="1155CC"/>
                </a:solidFill>
                <a:latin typeface="Arial"/>
                <a:cs typeface="Arial"/>
              </a:rPr>
              <a:t>queue</a:t>
            </a:r>
            <a:r>
              <a:rPr sz="2400" dirty="0">
                <a:solidFill>
                  <a:srgbClr val="595959"/>
                </a:solidFill>
                <a:latin typeface="Arial"/>
                <a:cs typeface="Arial"/>
              </a:rPr>
              <a:t>).</a:t>
            </a:r>
            <a:r>
              <a:rPr sz="2400" spc="-27" dirty="0">
                <a:solidFill>
                  <a:srgbClr val="595959"/>
                </a:solidFill>
                <a:latin typeface="Arial"/>
                <a:cs typeface="Arial"/>
              </a:rPr>
              <a:t> </a:t>
            </a:r>
            <a:r>
              <a:rPr sz="2400" dirty="0">
                <a:solidFill>
                  <a:srgbClr val="595959"/>
                </a:solidFill>
                <a:latin typeface="Arial"/>
                <a:cs typeface="Arial"/>
              </a:rPr>
              <a:t>Queues</a:t>
            </a:r>
            <a:r>
              <a:rPr sz="2400" spc="-27" dirty="0">
                <a:solidFill>
                  <a:srgbClr val="595959"/>
                </a:solidFill>
                <a:latin typeface="Arial"/>
                <a:cs typeface="Arial"/>
              </a:rPr>
              <a:t> </a:t>
            </a:r>
            <a:r>
              <a:rPr sz="2400" dirty="0">
                <a:solidFill>
                  <a:srgbClr val="595959"/>
                </a:solidFill>
                <a:latin typeface="Arial"/>
                <a:cs typeface="Arial"/>
              </a:rPr>
              <a:t>may</a:t>
            </a:r>
            <a:r>
              <a:rPr sz="2400" spc="-20" dirty="0">
                <a:solidFill>
                  <a:srgbClr val="595959"/>
                </a:solidFill>
                <a:latin typeface="Arial"/>
                <a:cs typeface="Arial"/>
              </a:rPr>
              <a:t> </a:t>
            </a:r>
            <a:r>
              <a:rPr sz="2400" dirty="0">
                <a:solidFill>
                  <a:srgbClr val="595959"/>
                </a:solidFill>
                <a:latin typeface="Arial"/>
                <a:cs typeface="Arial"/>
              </a:rPr>
              <a:t>be</a:t>
            </a:r>
            <a:r>
              <a:rPr sz="2400" spc="-27" dirty="0">
                <a:solidFill>
                  <a:srgbClr val="595959"/>
                </a:solidFill>
                <a:latin typeface="Arial"/>
                <a:cs typeface="Arial"/>
              </a:rPr>
              <a:t> </a:t>
            </a:r>
            <a:r>
              <a:rPr sz="2400" dirty="0">
                <a:solidFill>
                  <a:srgbClr val="595959"/>
                </a:solidFill>
                <a:latin typeface="Arial"/>
                <a:cs typeface="Arial"/>
              </a:rPr>
              <a:t>further</a:t>
            </a:r>
            <a:r>
              <a:rPr sz="2400" spc="-27" dirty="0">
                <a:solidFill>
                  <a:srgbClr val="595959"/>
                </a:solidFill>
                <a:latin typeface="Arial"/>
                <a:cs typeface="Arial"/>
              </a:rPr>
              <a:t> </a:t>
            </a:r>
            <a:r>
              <a:rPr sz="2400" dirty="0">
                <a:solidFill>
                  <a:srgbClr val="595959"/>
                </a:solidFill>
                <a:latin typeface="Arial"/>
                <a:cs typeface="Arial"/>
              </a:rPr>
              <a:t>divided</a:t>
            </a:r>
            <a:r>
              <a:rPr sz="2400" spc="-20" dirty="0">
                <a:solidFill>
                  <a:srgbClr val="595959"/>
                </a:solidFill>
                <a:latin typeface="Arial"/>
                <a:cs typeface="Arial"/>
              </a:rPr>
              <a:t> </a:t>
            </a:r>
            <a:r>
              <a:rPr sz="2400" dirty="0">
                <a:solidFill>
                  <a:srgbClr val="595959"/>
                </a:solidFill>
                <a:latin typeface="Arial"/>
                <a:cs typeface="Arial"/>
              </a:rPr>
              <a:t>in</a:t>
            </a:r>
            <a:r>
              <a:rPr sz="2400" spc="-7" dirty="0">
                <a:solidFill>
                  <a:srgbClr val="595959"/>
                </a:solidFill>
                <a:latin typeface="Arial"/>
                <a:cs typeface="Arial"/>
              </a:rPr>
              <a:t> </a:t>
            </a:r>
            <a:r>
              <a:rPr sz="2400" dirty="0">
                <a:solidFill>
                  <a:srgbClr val="1155CC"/>
                </a:solidFill>
                <a:latin typeface="Arial"/>
                <a:cs typeface="Arial"/>
              </a:rPr>
              <a:t>hierarchical</a:t>
            </a:r>
            <a:r>
              <a:rPr sz="2400" spc="-20" dirty="0">
                <a:solidFill>
                  <a:srgbClr val="1155CC"/>
                </a:solidFill>
                <a:latin typeface="Arial"/>
                <a:cs typeface="Arial"/>
              </a:rPr>
              <a:t> </a:t>
            </a:r>
            <a:r>
              <a:rPr sz="2400" spc="-13" dirty="0">
                <a:solidFill>
                  <a:srgbClr val="595959"/>
                </a:solidFill>
                <a:latin typeface="Arial"/>
                <a:cs typeface="Arial"/>
              </a:rPr>
              <a:t>fashion.</a:t>
            </a:r>
            <a:endParaRPr sz="2400">
              <a:latin typeface="Arial"/>
              <a:cs typeface="Arial"/>
            </a:endParaRPr>
          </a:p>
          <a:p>
            <a:pPr marL="625671" indent="-488514">
              <a:spcBef>
                <a:spcPts val="1720"/>
              </a:spcBef>
              <a:buChar char="●"/>
              <a:tabLst>
                <a:tab pos="625671" algn="l"/>
              </a:tabLst>
            </a:pPr>
            <a:r>
              <a:rPr sz="2400" dirty="0">
                <a:solidFill>
                  <a:srgbClr val="595959"/>
                </a:solidFill>
                <a:latin typeface="Arial"/>
                <a:cs typeface="Arial"/>
              </a:rPr>
              <a:t>each</a:t>
            </a:r>
            <a:r>
              <a:rPr sz="2400" spc="-47" dirty="0">
                <a:solidFill>
                  <a:srgbClr val="595959"/>
                </a:solidFill>
                <a:latin typeface="Arial"/>
                <a:cs typeface="Arial"/>
              </a:rPr>
              <a:t> </a:t>
            </a:r>
            <a:r>
              <a:rPr sz="2400" dirty="0">
                <a:solidFill>
                  <a:srgbClr val="595959"/>
                </a:solidFill>
                <a:latin typeface="Arial"/>
                <a:cs typeface="Arial"/>
              </a:rPr>
              <a:t>organization</a:t>
            </a:r>
            <a:r>
              <a:rPr sz="2400" spc="-33" dirty="0">
                <a:solidFill>
                  <a:srgbClr val="595959"/>
                </a:solidFill>
                <a:latin typeface="Arial"/>
                <a:cs typeface="Arial"/>
              </a:rPr>
              <a:t> </a:t>
            </a:r>
            <a:r>
              <a:rPr sz="2400" dirty="0">
                <a:solidFill>
                  <a:srgbClr val="595959"/>
                </a:solidFill>
                <a:latin typeface="Arial"/>
                <a:cs typeface="Arial"/>
              </a:rPr>
              <a:t>is</a:t>
            </a:r>
            <a:r>
              <a:rPr sz="2400" spc="-33" dirty="0">
                <a:solidFill>
                  <a:srgbClr val="595959"/>
                </a:solidFill>
                <a:latin typeface="Arial"/>
                <a:cs typeface="Arial"/>
              </a:rPr>
              <a:t> </a:t>
            </a:r>
            <a:r>
              <a:rPr sz="2400" dirty="0">
                <a:solidFill>
                  <a:srgbClr val="595959"/>
                </a:solidFill>
                <a:latin typeface="Arial"/>
                <a:cs typeface="Arial"/>
              </a:rPr>
              <a:t>allocated</a:t>
            </a:r>
            <a:r>
              <a:rPr sz="2400" spc="-27" dirty="0">
                <a:solidFill>
                  <a:srgbClr val="595959"/>
                </a:solidFill>
                <a:latin typeface="Arial"/>
                <a:cs typeface="Arial"/>
              </a:rPr>
              <a:t> </a:t>
            </a:r>
            <a:r>
              <a:rPr sz="2400" dirty="0">
                <a:solidFill>
                  <a:srgbClr val="595959"/>
                </a:solidFill>
                <a:latin typeface="Arial"/>
                <a:cs typeface="Arial"/>
              </a:rPr>
              <a:t>a</a:t>
            </a:r>
            <a:r>
              <a:rPr sz="2400" spc="-13" dirty="0">
                <a:solidFill>
                  <a:srgbClr val="595959"/>
                </a:solidFill>
                <a:latin typeface="Arial"/>
                <a:cs typeface="Arial"/>
              </a:rPr>
              <a:t> </a:t>
            </a:r>
            <a:r>
              <a:rPr sz="2400" dirty="0">
                <a:solidFill>
                  <a:srgbClr val="1155CC"/>
                </a:solidFill>
                <a:latin typeface="Arial"/>
                <a:cs typeface="Arial"/>
              </a:rPr>
              <a:t>certain</a:t>
            </a:r>
            <a:r>
              <a:rPr sz="2400" spc="-27" dirty="0">
                <a:solidFill>
                  <a:srgbClr val="1155CC"/>
                </a:solidFill>
                <a:latin typeface="Arial"/>
                <a:cs typeface="Arial"/>
              </a:rPr>
              <a:t> </a:t>
            </a:r>
            <a:r>
              <a:rPr sz="2400" dirty="0">
                <a:solidFill>
                  <a:srgbClr val="595959"/>
                </a:solidFill>
                <a:latin typeface="Arial"/>
                <a:cs typeface="Arial"/>
              </a:rPr>
              <a:t>capacity</a:t>
            </a:r>
            <a:r>
              <a:rPr sz="2400" spc="-27" dirty="0">
                <a:solidFill>
                  <a:srgbClr val="595959"/>
                </a:solidFill>
                <a:latin typeface="Arial"/>
                <a:cs typeface="Arial"/>
              </a:rPr>
              <a:t> </a:t>
            </a:r>
            <a:r>
              <a:rPr sz="2400" dirty="0">
                <a:solidFill>
                  <a:srgbClr val="595959"/>
                </a:solidFill>
                <a:latin typeface="Arial"/>
                <a:cs typeface="Arial"/>
              </a:rPr>
              <a:t>of</a:t>
            </a:r>
            <a:r>
              <a:rPr sz="2400" spc="-33" dirty="0">
                <a:solidFill>
                  <a:srgbClr val="595959"/>
                </a:solidFill>
                <a:latin typeface="Arial"/>
                <a:cs typeface="Arial"/>
              </a:rPr>
              <a:t> </a:t>
            </a:r>
            <a:r>
              <a:rPr sz="2400" dirty="0">
                <a:solidFill>
                  <a:srgbClr val="595959"/>
                </a:solidFill>
                <a:latin typeface="Arial"/>
                <a:cs typeface="Arial"/>
              </a:rPr>
              <a:t>the</a:t>
            </a:r>
            <a:r>
              <a:rPr sz="2400" spc="-33" dirty="0">
                <a:solidFill>
                  <a:srgbClr val="595959"/>
                </a:solidFill>
                <a:latin typeface="Arial"/>
                <a:cs typeface="Arial"/>
              </a:rPr>
              <a:t> </a:t>
            </a:r>
            <a:r>
              <a:rPr sz="2400" dirty="0">
                <a:solidFill>
                  <a:srgbClr val="595959"/>
                </a:solidFill>
                <a:latin typeface="Arial"/>
                <a:cs typeface="Arial"/>
              </a:rPr>
              <a:t>overall</a:t>
            </a:r>
            <a:r>
              <a:rPr sz="2400" spc="-27" dirty="0">
                <a:solidFill>
                  <a:srgbClr val="595959"/>
                </a:solidFill>
                <a:latin typeface="Arial"/>
                <a:cs typeface="Arial"/>
              </a:rPr>
              <a:t> </a:t>
            </a:r>
            <a:r>
              <a:rPr sz="2400" spc="-13" dirty="0">
                <a:solidFill>
                  <a:srgbClr val="595959"/>
                </a:solidFill>
                <a:latin typeface="Arial"/>
                <a:cs typeface="Arial"/>
              </a:rPr>
              <a:t>cluster.</a:t>
            </a:r>
            <a:endParaRPr sz="2400">
              <a:latin typeface="Arial"/>
              <a:cs typeface="Arial"/>
            </a:endParaRPr>
          </a:p>
          <a:p>
            <a:pPr marL="626518" marR="30479" indent="-489361">
              <a:lnSpc>
                <a:spcPct val="114599"/>
              </a:lnSpc>
              <a:spcBef>
                <a:spcPts val="1300"/>
              </a:spcBef>
              <a:buChar char="●"/>
              <a:tabLst>
                <a:tab pos="626518" algn="l"/>
              </a:tabLst>
            </a:pPr>
            <a:r>
              <a:rPr sz="2400" dirty="0">
                <a:solidFill>
                  <a:srgbClr val="595959"/>
                </a:solidFill>
                <a:latin typeface="Arial"/>
                <a:cs typeface="Arial"/>
              </a:rPr>
              <a:t>if</a:t>
            </a:r>
            <a:r>
              <a:rPr sz="2400" spc="-33" dirty="0">
                <a:solidFill>
                  <a:srgbClr val="595959"/>
                </a:solidFill>
                <a:latin typeface="Arial"/>
                <a:cs typeface="Arial"/>
              </a:rPr>
              <a:t> </a:t>
            </a:r>
            <a:r>
              <a:rPr sz="2400" dirty="0">
                <a:solidFill>
                  <a:srgbClr val="595959"/>
                </a:solidFill>
                <a:latin typeface="Arial"/>
                <a:cs typeface="Arial"/>
              </a:rPr>
              <a:t>there</a:t>
            </a:r>
            <a:r>
              <a:rPr sz="2400" spc="-20" dirty="0">
                <a:solidFill>
                  <a:srgbClr val="595959"/>
                </a:solidFill>
                <a:latin typeface="Arial"/>
                <a:cs typeface="Arial"/>
              </a:rPr>
              <a:t> </a:t>
            </a:r>
            <a:r>
              <a:rPr sz="2400" dirty="0">
                <a:solidFill>
                  <a:srgbClr val="595959"/>
                </a:solidFill>
                <a:latin typeface="Arial"/>
                <a:cs typeface="Arial"/>
              </a:rPr>
              <a:t>is</a:t>
            </a:r>
            <a:r>
              <a:rPr sz="2400" spc="-20" dirty="0">
                <a:solidFill>
                  <a:srgbClr val="595959"/>
                </a:solidFill>
                <a:latin typeface="Arial"/>
                <a:cs typeface="Arial"/>
              </a:rPr>
              <a:t> </a:t>
            </a:r>
            <a:r>
              <a:rPr sz="2400" dirty="0">
                <a:solidFill>
                  <a:srgbClr val="595959"/>
                </a:solidFill>
                <a:latin typeface="Arial"/>
                <a:cs typeface="Arial"/>
              </a:rPr>
              <a:t>more</a:t>
            </a:r>
            <a:r>
              <a:rPr sz="2400" spc="-20" dirty="0">
                <a:solidFill>
                  <a:srgbClr val="595959"/>
                </a:solidFill>
                <a:latin typeface="Arial"/>
                <a:cs typeface="Arial"/>
              </a:rPr>
              <a:t> </a:t>
            </a:r>
            <a:r>
              <a:rPr sz="2400" dirty="0">
                <a:solidFill>
                  <a:srgbClr val="595959"/>
                </a:solidFill>
                <a:latin typeface="Arial"/>
                <a:cs typeface="Arial"/>
              </a:rPr>
              <a:t>than </a:t>
            </a:r>
            <a:r>
              <a:rPr sz="2400" dirty="0">
                <a:solidFill>
                  <a:srgbClr val="980000"/>
                </a:solidFill>
                <a:latin typeface="Arial"/>
                <a:cs typeface="Arial"/>
              </a:rPr>
              <a:t>one</a:t>
            </a:r>
            <a:r>
              <a:rPr sz="2400" spc="-13" dirty="0">
                <a:solidFill>
                  <a:srgbClr val="980000"/>
                </a:solidFill>
                <a:latin typeface="Arial"/>
                <a:cs typeface="Arial"/>
              </a:rPr>
              <a:t> </a:t>
            </a:r>
            <a:r>
              <a:rPr sz="2400" dirty="0">
                <a:solidFill>
                  <a:srgbClr val="595959"/>
                </a:solidFill>
                <a:latin typeface="Arial"/>
                <a:cs typeface="Arial"/>
              </a:rPr>
              <a:t>job</a:t>
            </a:r>
            <a:r>
              <a:rPr sz="2400" spc="-13" dirty="0">
                <a:solidFill>
                  <a:srgbClr val="595959"/>
                </a:solidFill>
                <a:latin typeface="Arial"/>
                <a:cs typeface="Arial"/>
              </a:rPr>
              <a:t> </a:t>
            </a:r>
            <a:r>
              <a:rPr sz="2400" dirty="0">
                <a:solidFill>
                  <a:srgbClr val="37761C"/>
                </a:solidFill>
                <a:latin typeface="Arial"/>
                <a:cs typeface="Arial"/>
              </a:rPr>
              <a:t>Capacity</a:t>
            </a:r>
            <a:r>
              <a:rPr sz="2400" spc="-20" dirty="0">
                <a:solidFill>
                  <a:srgbClr val="37761C"/>
                </a:solidFill>
                <a:latin typeface="Arial"/>
                <a:cs typeface="Arial"/>
              </a:rPr>
              <a:t> </a:t>
            </a:r>
            <a:r>
              <a:rPr sz="2400" dirty="0">
                <a:solidFill>
                  <a:srgbClr val="37761C"/>
                </a:solidFill>
                <a:latin typeface="Arial"/>
                <a:cs typeface="Arial"/>
              </a:rPr>
              <a:t>Scheduler</a:t>
            </a:r>
            <a:r>
              <a:rPr sz="2400" spc="-13" dirty="0">
                <a:solidFill>
                  <a:srgbClr val="37761C"/>
                </a:solidFill>
                <a:latin typeface="Arial"/>
                <a:cs typeface="Arial"/>
              </a:rPr>
              <a:t> </a:t>
            </a:r>
            <a:r>
              <a:rPr sz="2400" dirty="0">
                <a:solidFill>
                  <a:srgbClr val="595959"/>
                </a:solidFill>
                <a:latin typeface="Arial"/>
                <a:cs typeface="Arial"/>
              </a:rPr>
              <a:t>may</a:t>
            </a:r>
            <a:r>
              <a:rPr sz="2400" spc="-20" dirty="0">
                <a:solidFill>
                  <a:srgbClr val="595959"/>
                </a:solidFill>
                <a:latin typeface="Arial"/>
                <a:cs typeface="Arial"/>
              </a:rPr>
              <a:t> </a:t>
            </a:r>
            <a:r>
              <a:rPr sz="2400" dirty="0">
                <a:solidFill>
                  <a:srgbClr val="595959"/>
                </a:solidFill>
                <a:latin typeface="Arial"/>
                <a:cs typeface="Arial"/>
              </a:rPr>
              <a:t>allocate</a:t>
            </a:r>
            <a:r>
              <a:rPr sz="2400" spc="-20" dirty="0">
                <a:solidFill>
                  <a:srgbClr val="595959"/>
                </a:solidFill>
                <a:latin typeface="Arial"/>
                <a:cs typeface="Arial"/>
              </a:rPr>
              <a:t> </a:t>
            </a:r>
            <a:r>
              <a:rPr sz="2400" dirty="0">
                <a:solidFill>
                  <a:srgbClr val="595959"/>
                </a:solidFill>
                <a:latin typeface="Arial"/>
                <a:cs typeface="Arial"/>
              </a:rPr>
              <a:t>the</a:t>
            </a:r>
            <a:r>
              <a:rPr sz="2400" spc="-7" dirty="0">
                <a:solidFill>
                  <a:srgbClr val="595959"/>
                </a:solidFill>
                <a:latin typeface="Arial"/>
                <a:cs typeface="Arial"/>
              </a:rPr>
              <a:t> </a:t>
            </a:r>
            <a:r>
              <a:rPr sz="2400" spc="-13" dirty="0">
                <a:solidFill>
                  <a:srgbClr val="1155CC"/>
                </a:solidFill>
                <a:latin typeface="Arial"/>
                <a:cs typeface="Arial"/>
              </a:rPr>
              <a:t>spare </a:t>
            </a:r>
            <a:r>
              <a:rPr sz="2400" dirty="0">
                <a:solidFill>
                  <a:srgbClr val="595959"/>
                </a:solidFill>
                <a:latin typeface="Arial"/>
                <a:cs typeface="Arial"/>
              </a:rPr>
              <a:t>resources</a:t>
            </a:r>
            <a:r>
              <a:rPr sz="2400" spc="-20" dirty="0">
                <a:solidFill>
                  <a:srgbClr val="595959"/>
                </a:solidFill>
                <a:latin typeface="Arial"/>
                <a:cs typeface="Arial"/>
              </a:rPr>
              <a:t> </a:t>
            </a:r>
            <a:r>
              <a:rPr sz="2400" dirty="0">
                <a:solidFill>
                  <a:srgbClr val="595959"/>
                </a:solidFill>
                <a:latin typeface="Arial"/>
                <a:cs typeface="Arial"/>
              </a:rPr>
              <a:t>to</a:t>
            </a:r>
            <a:r>
              <a:rPr sz="2400" spc="-13" dirty="0">
                <a:solidFill>
                  <a:srgbClr val="595959"/>
                </a:solidFill>
                <a:latin typeface="Arial"/>
                <a:cs typeface="Arial"/>
              </a:rPr>
              <a:t> </a:t>
            </a:r>
            <a:r>
              <a:rPr sz="2400" dirty="0">
                <a:solidFill>
                  <a:srgbClr val="595959"/>
                </a:solidFill>
                <a:latin typeface="Arial"/>
                <a:cs typeface="Arial"/>
              </a:rPr>
              <a:t>jobs</a:t>
            </a:r>
            <a:r>
              <a:rPr sz="2400" spc="-20" dirty="0">
                <a:solidFill>
                  <a:srgbClr val="595959"/>
                </a:solidFill>
                <a:latin typeface="Arial"/>
                <a:cs typeface="Arial"/>
              </a:rPr>
              <a:t> </a:t>
            </a:r>
            <a:r>
              <a:rPr sz="2400" dirty="0">
                <a:solidFill>
                  <a:srgbClr val="595959"/>
                </a:solidFill>
                <a:latin typeface="Arial"/>
                <a:cs typeface="Arial"/>
              </a:rPr>
              <a:t>in</a:t>
            </a:r>
            <a:r>
              <a:rPr sz="2400" spc="-13" dirty="0">
                <a:solidFill>
                  <a:srgbClr val="595959"/>
                </a:solidFill>
                <a:latin typeface="Arial"/>
                <a:cs typeface="Arial"/>
              </a:rPr>
              <a:t> </a:t>
            </a:r>
            <a:r>
              <a:rPr sz="2400" dirty="0">
                <a:solidFill>
                  <a:srgbClr val="595959"/>
                </a:solidFill>
                <a:latin typeface="Arial"/>
                <a:cs typeface="Arial"/>
              </a:rPr>
              <a:t>the</a:t>
            </a:r>
            <a:r>
              <a:rPr sz="2400" spc="-13" dirty="0">
                <a:solidFill>
                  <a:srgbClr val="595959"/>
                </a:solidFill>
                <a:latin typeface="Arial"/>
                <a:cs typeface="Arial"/>
              </a:rPr>
              <a:t> </a:t>
            </a:r>
            <a:r>
              <a:rPr sz="2400" dirty="0">
                <a:solidFill>
                  <a:srgbClr val="595959"/>
                </a:solidFill>
                <a:latin typeface="Arial"/>
                <a:cs typeface="Arial"/>
              </a:rPr>
              <a:t>queue,</a:t>
            </a:r>
            <a:r>
              <a:rPr sz="2400" spc="-20" dirty="0">
                <a:solidFill>
                  <a:srgbClr val="595959"/>
                </a:solidFill>
                <a:latin typeface="Arial"/>
                <a:cs typeface="Arial"/>
              </a:rPr>
              <a:t> </a:t>
            </a:r>
            <a:r>
              <a:rPr sz="2400" dirty="0">
                <a:solidFill>
                  <a:srgbClr val="595959"/>
                </a:solidFill>
                <a:latin typeface="Arial"/>
                <a:cs typeface="Arial"/>
              </a:rPr>
              <a:t>even</a:t>
            </a:r>
            <a:r>
              <a:rPr sz="2400" spc="-13" dirty="0">
                <a:solidFill>
                  <a:srgbClr val="595959"/>
                </a:solidFill>
                <a:latin typeface="Arial"/>
                <a:cs typeface="Arial"/>
              </a:rPr>
              <a:t> </a:t>
            </a:r>
            <a:r>
              <a:rPr sz="2400" dirty="0">
                <a:solidFill>
                  <a:srgbClr val="595959"/>
                </a:solidFill>
                <a:latin typeface="Arial"/>
                <a:cs typeface="Arial"/>
              </a:rPr>
              <a:t>if</a:t>
            </a:r>
            <a:r>
              <a:rPr sz="2400" spc="-13" dirty="0">
                <a:solidFill>
                  <a:srgbClr val="595959"/>
                </a:solidFill>
                <a:latin typeface="Arial"/>
                <a:cs typeface="Arial"/>
              </a:rPr>
              <a:t> </a:t>
            </a:r>
            <a:r>
              <a:rPr sz="2400" dirty="0">
                <a:solidFill>
                  <a:srgbClr val="595959"/>
                </a:solidFill>
                <a:latin typeface="Arial"/>
                <a:cs typeface="Arial"/>
              </a:rPr>
              <a:t>that</a:t>
            </a:r>
            <a:r>
              <a:rPr sz="2400" spc="-20" dirty="0">
                <a:solidFill>
                  <a:srgbClr val="595959"/>
                </a:solidFill>
                <a:latin typeface="Arial"/>
                <a:cs typeface="Arial"/>
              </a:rPr>
              <a:t> </a:t>
            </a:r>
            <a:r>
              <a:rPr sz="2400" dirty="0">
                <a:solidFill>
                  <a:srgbClr val="595959"/>
                </a:solidFill>
                <a:latin typeface="Arial"/>
                <a:cs typeface="Arial"/>
              </a:rPr>
              <a:t>causes</a:t>
            </a:r>
            <a:r>
              <a:rPr sz="2400" spc="-13" dirty="0">
                <a:solidFill>
                  <a:srgbClr val="595959"/>
                </a:solidFill>
                <a:latin typeface="Arial"/>
                <a:cs typeface="Arial"/>
              </a:rPr>
              <a:t> </a:t>
            </a:r>
            <a:r>
              <a:rPr sz="2400" dirty="0">
                <a:solidFill>
                  <a:srgbClr val="595959"/>
                </a:solidFill>
                <a:latin typeface="Arial"/>
                <a:cs typeface="Arial"/>
              </a:rPr>
              <a:t>the</a:t>
            </a:r>
            <a:r>
              <a:rPr sz="2400" spc="-13" dirty="0">
                <a:solidFill>
                  <a:srgbClr val="595959"/>
                </a:solidFill>
                <a:latin typeface="Arial"/>
                <a:cs typeface="Arial"/>
              </a:rPr>
              <a:t> </a:t>
            </a:r>
            <a:r>
              <a:rPr sz="2400" dirty="0">
                <a:solidFill>
                  <a:srgbClr val="595959"/>
                </a:solidFill>
                <a:latin typeface="Arial"/>
                <a:cs typeface="Arial"/>
              </a:rPr>
              <a:t>queue’s</a:t>
            </a:r>
            <a:r>
              <a:rPr sz="2400" spc="-20" dirty="0">
                <a:solidFill>
                  <a:srgbClr val="595959"/>
                </a:solidFill>
                <a:latin typeface="Arial"/>
                <a:cs typeface="Arial"/>
              </a:rPr>
              <a:t> </a:t>
            </a:r>
            <a:r>
              <a:rPr sz="2400" dirty="0">
                <a:solidFill>
                  <a:srgbClr val="595959"/>
                </a:solidFill>
                <a:latin typeface="Arial"/>
                <a:cs typeface="Arial"/>
              </a:rPr>
              <a:t>capacity</a:t>
            </a:r>
            <a:r>
              <a:rPr sz="2400" spc="-13" dirty="0">
                <a:solidFill>
                  <a:srgbClr val="595959"/>
                </a:solidFill>
                <a:latin typeface="Arial"/>
                <a:cs typeface="Arial"/>
              </a:rPr>
              <a:t> </a:t>
            </a:r>
            <a:r>
              <a:rPr sz="2400" dirty="0">
                <a:solidFill>
                  <a:srgbClr val="595959"/>
                </a:solidFill>
                <a:latin typeface="Arial"/>
                <a:cs typeface="Arial"/>
              </a:rPr>
              <a:t>to</a:t>
            </a:r>
            <a:r>
              <a:rPr sz="2400" spc="-13" dirty="0">
                <a:solidFill>
                  <a:srgbClr val="595959"/>
                </a:solidFill>
                <a:latin typeface="Arial"/>
                <a:cs typeface="Arial"/>
              </a:rPr>
              <a:t> </a:t>
            </a:r>
            <a:r>
              <a:rPr sz="2400" spc="-33" dirty="0">
                <a:solidFill>
                  <a:srgbClr val="595959"/>
                </a:solidFill>
                <a:latin typeface="Arial"/>
                <a:cs typeface="Arial"/>
              </a:rPr>
              <a:t>be </a:t>
            </a:r>
            <a:r>
              <a:rPr sz="2400" dirty="0">
                <a:solidFill>
                  <a:srgbClr val="1155CC"/>
                </a:solidFill>
                <a:latin typeface="Arial"/>
                <a:cs typeface="Arial"/>
              </a:rPr>
              <a:t>exceeded</a:t>
            </a:r>
            <a:r>
              <a:rPr sz="2400" dirty="0">
                <a:solidFill>
                  <a:srgbClr val="595959"/>
                </a:solidFill>
                <a:latin typeface="Arial"/>
                <a:cs typeface="Arial"/>
              </a:rPr>
              <a:t>.</a:t>
            </a:r>
            <a:r>
              <a:rPr sz="2400" spc="-47" dirty="0">
                <a:solidFill>
                  <a:srgbClr val="595959"/>
                </a:solidFill>
                <a:latin typeface="Arial"/>
                <a:cs typeface="Arial"/>
              </a:rPr>
              <a:t> </a:t>
            </a:r>
            <a:r>
              <a:rPr sz="2400" dirty="0">
                <a:solidFill>
                  <a:srgbClr val="595959"/>
                </a:solidFill>
                <a:latin typeface="Arial"/>
                <a:cs typeface="Arial"/>
              </a:rPr>
              <a:t>(queue</a:t>
            </a:r>
            <a:r>
              <a:rPr sz="2400" spc="-40" dirty="0">
                <a:solidFill>
                  <a:srgbClr val="595959"/>
                </a:solidFill>
                <a:latin typeface="Arial"/>
                <a:cs typeface="Arial"/>
              </a:rPr>
              <a:t> </a:t>
            </a:r>
            <a:r>
              <a:rPr sz="2400" spc="-13" dirty="0">
                <a:solidFill>
                  <a:srgbClr val="980000"/>
                </a:solidFill>
                <a:latin typeface="Arial"/>
                <a:cs typeface="Arial"/>
              </a:rPr>
              <a:t>elasticity</a:t>
            </a:r>
            <a:r>
              <a:rPr sz="2400" spc="-13" dirty="0">
                <a:solidFill>
                  <a:srgbClr val="595959"/>
                </a:solidFill>
                <a:latin typeface="Arial"/>
                <a:cs typeface="Arial"/>
              </a:rPr>
              <a:t>.)</a:t>
            </a:r>
            <a:endParaRPr sz="2400">
              <a:latin typeface="Arial"/>
              <a:cs typeface="Arial"/>
            </a:endParaRPr>
          </a:p>
          <a:p>
            <a:pPr marL="626518" marR="4620990" indent="-489361">
              <a:lnSpc>
                <a:spcPct val="114599"/>
              </a:lnSpc>
              <a:spcBef>
                <a:spcPts val="1292"/>
              </a:spcBef>
              <a:buChar char="●"/>
              <a:tabLst>
                <a:tab pos="626518" algn="l"/>
              </a:tabLst>
            </a:pPr>
            <a:r>
              <a:rPr sz="2400" dirty="0">
                <a:solidFill>
                  <a:srgbClr val="595959"/>
                </a:solidFill>
                <a:latin typeface="Arial"/>
                <a:cs typeface="Arial"/>
              </a:rPr>
              <a:t>when</a:t>
            </a:r>
            <a:r>
              <a:rPr sz="2400" spc="-33" dirty="0">
                <a:solidFill>
                  <a:srgbClr val="595959"/>
                </a:solidFill>
                <a:latin typeface="Arial"/>
                <a:cs typeface="Arial"/>
              </a:rPr>
              <a:t> </a:t>
            </a:r>
            <a:r>
              <a:rPr sz="2400" dirty="0">
                <a:solidFill>
                  <a:srgbClr val="980000"/>
                </a:solidFill>
                <a:latin typeface="Arial"/>
                <a:cs typeface="Arial"/>
              </a:rPr>
              <a:t>demand</a:t>
            </a:r>
            <a:r>
              <a:rPr sz="2400" spc="-20" dirty="0">
                <a:solidFill>
                  <a:srgbClr val="980000"/>
                </a:solidFill>
                <a:latin typeface="Arial"/>
                <a:cs typeface="Arial"/>
              </a:rPr>
              <a:t> </a:t>
            </a:r>
            <a:r>
              <a:rPr sz="2400" dirty="0">
                <a:solidFill>
                  <a:srgbClr val="1155CC"/>
                </a:solidFill>
                <a:latin typeface="Arial"/>
                <a:cs typeface="Arial"/>
              </a:rPr>
              <a:t>increases</a:t>
            </a:r>
            <a:r>
              <a:rPr sz="2400" dirty="0">
                <a:solidFill>
                  <a:srgbClr val="595959"/>
                </a:solidFill>
                <a:latin typeface="Arial"/>
                <a:cs typeface="Arial"/>
              </a:rPr>
              <a:t>,</a:t>
            </a:r>
            <a:r>
              <a:rPr sz="2400" spc="-27" dirty="0">
                <a:solidFill>
                  <a:srgbClr val="595959"/>
                </a:solidFill>
                <a:latin typeface="Arial"/>
                <a:cs typeface="Arial"/>
              </a:rPr>
              <a:t> </a:t>
            </a:r>
            <a:r>
              <a:rPr sz="2400" dirty="0">
                <a:solidFill>
                  <a:srgbClr val="595959"/>
                </a:solidFill>
                <a:latin typeface="Arial"/>
                <a:cs typeface="Arial"/>
              </a:rPr>
              <a:t>the</a:t>
            </a:r>
            <a:r>
              <a:rPr sz="2400" spc="-27" dirty="0">
                <a:solidFill>
                  <a:srgbClr val="595959"/>
                </a:solidFill>
                <a:latin typeface="Arial"/>
                <a:cs typeface="Arial"/>
              </a:rPr>
              <a:t> </a:t>
            </a:r>
            <a:r>
              <a:rPr sz="2400" dirty="0">
                <a:solidFill>
                  <a:srgbClr val="595959"/>
                </a:solidFill>
                <a:latin typeface="Arial"/>
                <a:cs typeface="Arial"/>
              </a:rPr>
              <a:t>queue</a:t>
            </a:r>
            <a:r>
              <a:rPr sz="2400" spc="-20" dirty="0">
                <a:solidFill>
                  <a:srgbClr val="595959"/>
                </a:solidFill>
                <a:latin typeface="Arial"/>
                <a:cs typeface="Arial"/>
              </a:rPr>
              <a:t> </a:t>
            </a:r>
            <a:r>
              <a:rPr sz="2400" spc="-27" dirty="0">
                <a:solidFill>
                  <a:srgbClr val="595959"/>
                </a:solidFill>
                <a:latin typeface="Arial"/>
                <a:cs typeface="Arial"/>
              </a:rPr>
              <a:t>will </a:t>
            </a:r>
            <a:r>
              <a:rPr sz="2400" dirty="0">
                <a:solidFill>
                  <a:srgbClr val="595959"/>
                </a:solidFill>
                <a:latin typeface="Arial"/>
                <a:cs typeface="Arial"/>
              </a:rPr>
              <a:t>only</a:t>
            </a:r>
            <a:r>
              <a:rPr sz="2400" spc="-20" dirty="0">
                <a:solidFill>
                  <a:srgbClr val="595959"/>
                </a:solidFill>
                <a:latin typeface="Arial"/>
                <a:cs typeface="Arial"/>
              </a:rPr>
              <a:t> </a:t>
            </a:r>
            <a:r>
              <a:rPr sz="2400" dirty="0">
                <a:solidFill>
                  <a:srgbClr val="37761C"/>
                </a:solidFill>
                <a:latin typeface="Arial"/>
                <a:cs typeface="Arial"/>
              </a:rPr>
              <a:t>return</a:t>
            </a:r>
            <a:r>
              <a:rPr sz="2400" spc="-13" dirty="0">
                <a:solidFill>
                  <a:srgbClr val="37761C"/>
                </a:solidFill>
                <a:latin typeface="Arial"/>
                <a:cs typeface="Arial"/>
              </a:rPr>
              <a:t> </a:t>
            </a:r>
            <a:r>
              <a:rPr sz="2400" dirty="0">
                <a:solidFill>
                  <a:srgbClr val="595959"/>
                </a:solidFill>
                <a:latin typeface="Arial"/>
                <a:cs typeface="Arial"/>
              </a:rPr>
              <a:t>to</a:t>
            </a:r>
            <a:r>
              <a:rPr sz="2400" spc="-13" dirty="0">
                <a:solidFill>
                  <a:srgbClr val="595959"/>
                </a:solidFill>
                <a:latin typeface="Arial"/>
                <a:cs typeface="Arial"/>
              </a:rPr>
              <a:t> </a:t>
            </a:r>
            <a:r>
              <a:rPr sz="2400" dirty="0">
                <a:solidFill>
                  <a:srgbClr val="595959"/>
                </a:solidFill>
                <a:latin typeface="Arial"/>
                <a:cs typeface="Arial"/>
              </a:rPr>
              <a:t>capacity</a:t>
            </a:r>
            <a:r>
              <a:rPr sz="2400" spc="-7" dirty="0">
                <a:solidFill>
                  <a:srgbClr val="595959"/>
                </a:solidFill>
                <a:latin typeface="Arial"/>
                <a:cs typeface="Arial"/>
              </a:rPr>
              <a:t> </a:t>
            </a:r>
            <a:r>
              <a:rPr sz="2400" dirty="0">
                <a:solidFill>
                  <a:srgbClr val="595959"/>
                </a:solidFill>
                <a:latin typeface="Arial"/>
                <a:cs typeface="Arial"/>
              </a:rPr>
              <a:t>as</a:t>
            </a:r>
            <a:r>
              <a:rPr sz="2400" spc="-13" dirty="0">
                <a:solidFill>
                  <a:srgbClr val="595959"/>
                </a:solidFill>
                <a:latin typeface="Arial"/>
                <a:cs typeface="Arial"/>
              </a:rPr>
              <a:t> </a:t>
            </a:r>
            <a:r>
              <a:rPr sz="2400" dirty="0">
                <a:solidFill>
                  <a:srgbClr val="595959"/>
                </a:solidFill>
                <a:latin typeface="Arial"/>
                <a:cs typeface="Arial"/>
              </a:rPr>
              <a:t>resources</a:t>
            </a:r>
            <a:r>
              <a:rPr sz="2400" spc="-13" dirty="0">
                <a:solidFill>
                  <a:srgbClr val="595959"/>
                </a:solidFill>
                <a:latin typeface="Arial"/>
                <a:cs typeface="Arial"/>
              </a:rPr>
              <a:t> </a:t>
            </a:r>
            <a:r>
              <a:rPr sz="2400" spc="-33" dirty="0">
                <a:solidFill>
                  <a:srgbClr val="595959"/>
                </a:solidFill>
                <a:latin typeface="Arial"/>
                <a:cs typeface="Arial"/>
              </a:rPr>
              <a:t>are </a:t>
            </a:r>
            <a:r>
              <a:rPr sz="2400" dirty="0">
                <a:solidFill>
                  <a:srgbClr val="37761C"/>
                </a:solidFill>
                <a:latin typeface="Arial"/>
                <a:cs typeface="Arial"/>
              </a:rPr>
              <a:t>released</a:t>
            </a:r>
            <a:r>
              <a:rPr sz="2400" spc="-27" dirty="0">
                <a:solidFill>
                  <a:srgbClr val="37761C"/>
                </a:solidFill>
                <a:latin typeface="Arial"/>
                <a:cs typeface="Arial"/>
              </a:rPr>
              <a:t> </a:t>
            </a:r>
            <a:r>
              <a:rPr sz="2400" dirty="0">
                <a:solidFill>
                  <a:srgbClr val="595959"/>
                </a:solidFill>
                <a:latin typeface="Arial"/>
                <a:cs typeface="Arial"/>
              </a:rPr>
              <a:t>from</a:t>
            </a:r>
            <a:r>
              <a:rPr sz="2400" spc="-13" dirty="0">
                <a:solidFill>
                  <a:srgbClr val="595959"/>
                </a:solidFill>
                <a:latin typeface="Arial"/>
                <a:cs typeface="Arial"/>
              </a:rPr>
              <a:t> </a:t>
            </a:r>
            <a:r>
              <a:rPr sz="2400" dirty="0">
                <a:solidFill>
                  <a:srgbClr val="595959"/>
                </a:solidFill>
                <a:latin typeface="Arial"/>
                <a:cs typeface="Arial"/>
              </a:rPr>
              <a:t>other</a:t>
            </a:r>
            <a:r>
              <a:rPr sz="2400" spc="-20" dirty="0">
                <a:solidFill>
                  <a:srgbClr val="595959"/>
                </a:solidFill>
                <a:latin typeface="Arial"/>
                <a:cs typeface="Arial"/>
              </a:rPr>
              <a:t> </a:t>
            </a:r>
            <a:r>
              <a:rPr sz="2400" dirty="0">
                <a:solidFill>
                  <a:srgbClr val="595959"/>
                </a:solidFill>
                <a:latin typeface="Arial"/>
                <a:cs typeface="Arial"/>
              </a:rPr>
              <a:t>queues</a:t>
            </a:r>
            <a:r>
              <a:rPr sz="2400" spc="-13" dirty="0">
                <a:solidFill>
                  <a:srgbClr val="595959"/>
                </a:solidFill>
                <a:latin typeface="Arial"/>
                <a:cs typeface="Arial"/>
              </a:rPr>
              <a:t> </a:t>
            </a:r>
            <a:r>
              <a:rPr sz="2400" dirty="0">
                <a:solidFill>
                  <a:srgbClr val="595959"/>
                </a:solidFill>
                <a:latin typeface="Arial"/>
                <a:cs typeface="Arial"/>
              </a:rPr>
              <a:t>as</a:t>
            </a:r>
            <a:r>
              <a:rPr sz="2400" spc="-13" dirty="0">
                <a:solidFill>
                  <a:srgbClr val="595959"/>
                </a:solidFill>
                <a:latin typeface="Arial"/>
                <a:cs typeface="Arial"/>
              </a:rPr>
              <a:t> containers </a:t>
            </a:r>
            <a:r>
              <a:rPr sz="2400" dirty="0">
                <a:solidFill>
                  <a:srgbClr val="595959"/>
                </a:solidFill>
                <a:latin typeface="Arial"/>
                <a:cs typeface="Arial"/>
              </a:rPr>
              <a:t>complete.</a:t>
            </a:r>
            <a:r>
              <a:rPr sz="2400" spc="-33" dirty="0">
                <a:solidFill>
                  <a:srgbClr val="595959"/>
                </a:solidFill>
                <a:latin typeface="Arial"/>
                <a:cs typeface="Arial"/>
              </a:rPr>
              <a:t> </a:t>
            </a:r>
            <a:r>
              <a:rPr sz="2400" dirty="0">
                <a:solidFill>
                  <a:srgbClr val="595959"/>
                </a:solidFill>
                <a:latin typeface="Arial"/>
                <a:cs typeface="Arial"/>
              </a:rPr>
              <a:t>If</a:t>
            </a:r>
            <a:r>
              <a:rPr sz="2400" spc="-27" dirty="0">
                <a:solidFill>
                  <a:srgbClr val="595959"/>
                </a:solidFill>
                <a:latin typeface="Arial"/>
                <a:cs typeface="Arial"/>
              </a:rPr>
              <a:t> </a:t>
            </a:r>
            <a:r>
              <a:rPr sz="2400" dirty="0">
                <a:solidFill>
                  <a:srgbClr val="595959"/>
                </a:solidFill>
                <a:latin typeface="Arial"/>
                <a:cs typeface="Arial"/>
              </a:rPr>
              <a:t>it’s</a:t>
            </a:r>
            <a:r>
              <a:rPr sz="2400" spc="-27" dirty="0">
                <a:solidFill>
                  <a:srgbClr val="595959"/>
                </a:solidFill>
                <a:latin typeface="Arial"/>
                <a:cs typeface="Arial"/>
              </a:rPr>
              <a:t> </a:t>
            </a:r>
            <a:r>
              <a:rPr sz="2400" dirty="0">
                <a:solidFill>
                  <a:srgbClr val="595959"/>
                </a:solidFill>
                <a:latin typeface="Arial"/>
                <a:cs typeface="Arial"/>
              </a:rPr>
              <a:t>not</a:t>
            </a:r>
            <a:r>
              <a:rPr sz="2400" spc="-33" dirty="0">
                <a:solidFill>
                  <a:srgbClr val="595959"/>
                </a:solidFill>
                <a:latin typeface="Arial"/>
                <a:cs typeface="Arial"/>
              </a:rPr>
              <a:t> </a:t>
            </a:r>
            <a:r>
              <a:rPr sz="2400" dirty="0">
                <a:solidFill>
                  <a:srgbClr val="595959"/>
                </a:solidFill>
                <a:latin typeface="Arial"/>
                <a:cs typeface="Arial"/>
              </a:rPr>
              <a:t>have</a:t>
            </a:r>
            <a:r>
              <a:rPr sz="2400" spc="-27" dirty="0">
                <a:solidFill>
                  <a:srgbClr val="595959"/>
                </a:solidFill>
                <a:latin typeface="Arial"/>
                <a:cs typeface="Arial"/>
              </a:rPr>
              <a:t> </a:t>
            </a:r>
            <a:r>
              <a:rPr sz="2400" dirty="0">
                <a:solidFill>
                  <a:srgbClr val="595959"/>
                </a:solidFill>
                <a:latin typeface="Arial"/>
                <a:cs typeface="Arial"/>
              </a:rPr>
              <a:t>configured</a:t>
            </a:r>
            <a:r>
              <a:rPr sz="2400" spc="-27" dirty="0">
                <a:solidFill>
                  <a:srgbClr val="595959"/>
                </a:solidFill>
                <a:latin typeface="Arial"/>
                <a:cs typeface="Arial"/>
              </a:rPr>
              <a:t> </a:t>
            </a:r>
            <a:r>
              <a:rPr sz="2400" dirty="0">
                <a:solidFill>
                  <a:srgbClr val="595959"/>
                </a:solidFill>
                <a:latin typeface="Arial"/>
                <a:cs typeface="Arial"/>
              </a:rPr>
              <a:t>policy</a:t>
            </a:r>
            <a:r>
              <a:rPr sz="2400" spc="-27" dirty="0">
                <a:solidFill>
                  <a:srgbClr val="595959"/>
                </a:solidFill>
                <a:latin typeface="Arial"/>
                <a:cs typeface="Arial"/>
              </a:rPr>
              <a:t> </a:t>
            </a:r>
            <a:r>
              <a:rPr sz="2400" spc="-67" dirty="0">
                <a:solidFill>
                  <a:srgbClr val="595959"/>
                </a:solidFill>
                <a:latin typeface="Arial"/>
                <a:cs typeface="Arial"/>
              </a:rPr>
              <a:t>.</a:t>
            </a:r>
            <a:endParaRPr sz="2400">
              <a:latin typeface="Arial"/>
              <a:cs typeface="Arial"/>
            </a:endParaRPr>
          </a:p>
        </p:txBody>
      </p:sp>
      <p:pic>
        <p:nvPicPr>
          <p:cNvPr id="4" name="object 4"/>
          <p:cNvPicPr/>
          <p:nvPr/>
        </p:nvPicPr>
        <p:blipFill>
          <a:blip r:embed="rId2" cstate="print"/>
          <a:stretch>
            <a:fillRect/>
          </a:stretch>
        </p:blipFill>
        <p:spPr>
          <a:xfrm>
            <a:off x="6641332" y="3813501"/>
            <a:ext cx="5293832" cy="2608532"/>
          </a:xfrm>
          <a:prstGeom prst="rect">
            <a:avLst/>
          </a:prstGeom>
        </p:spPr>
      </p:pic>
      <p:sp>
        <p:nvSpPr>
          <p:cNvPr id="5" name="object 5"/>
          <p:cNvSpPr txBox="1">
            <a:spLocks noGrp="1"/>
          </p:cNvSpPr>
          <p:nvPr>
            <p:ph type="ftr" sz="quarter" idx="5"/>
          </p:nvPr>
        </p:nvSpPr>
        <p:spPr>
          <a:xfrm>
            <a:off x="0" y="0"/>
            <a:ext cx="0" cy="3883114"/>
          </a:xfrm>
          <a:prstGeom prst="rect">
            <a:avLst/>
          </a:prstGeom>
        </p:spPr>
        <p:txBody>
          <a:bodyPr vert="horz" wrap="square" lIns="0" tIns="5080" rIns="0" bIns="0" rtlCol="0">
            <a:spAutoFit/>
          </a:bodyPr>
          <a:lstStyle/>
          <a:p>
            <a:pPr marL="16933">
              <a:spcBef>
                <a:spcPts val="40"/>
              </a:spcBef>
            </a:pPr>
            <a:r>
              <a:rPr dirty="0"/>
              <a:t>©</a:t>
            </a:r>
            <a:r>
              <a:rPr spc="-33" dirty="0"/>
              <a:t> </a:t>
            </a:r>
            <a:r>
              <a:rPr dirty="0"/>
              <a:t>Vigen</a:t>
            </a:r>
            <a:r>
              <a:rPr spc="-20" dirty="0"/>
              <a:t> </a:t>
            </a:r>
            <a:r>
              <a:rPr spc="-13" dirty="0"/>
              <a:t>Sahakyan</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03112" y="812800"/>
            <a:ext cx="11462224" cy="571096"/>
          </a:xfrm>
          <a:prstGeom prst="rect">
            <a:avLst/>
          </a:prstGeom>
        </p:spPr>
        <p:txBody>
          <a:bodyPr vert="horz" wrap="square" lIns="0" tIns="16933" rIns="0" bIns="0" rtlCol="0" anchor="t">
            <a:spAutoFit/>
          </a:bodyPr>
          <a:lstStyle/>
          <a:p>
            <a:pPr marL="147315">
              <a:spcBef>
                <a:spcPts val="133"/>
              </a:spcBef>
            </a:pPr>
            <a:r>
              <a:rPr spc="-13" dirty="0"/>
              <a:t>Scheduling</a:t>
            </a:r>
            <a:r>
              <a:rPr spc="-67" dirty="0"/>
              <a:t> </a:t>
            </a:r>
            <a:r>
              <a:rPr dirty="0"/>
              <a:t>in</a:t>
            </a:r>
            <a:r>
              <a:rPr spc="-67" dirty="0"/>
              <a:t> </a:t>
            </a:r>
            <a:r>
              <a:rPr spc="-27" dirty="0"/>
              <a:t>Yarn</a:t>
            </a:r>
          </a:p>
        </p:txBody>
      </p:sp>
      <p:sp>
        <p:nvSpPr>
          <p:cNvPr id="3" name="object 3"/>
          <p:cNvSpPr txBox="1"/>
          <p:nvPr/>
        </p:nvSpPr>
        <p:spPr>
          <a:xfrm>
            <a:off x="455767" y="1102268"/>
            <a:ext cx="11094720" cy="4826877"/>
          </a:xfrm>
          <a:prstGeom prst="rect">
            <a:avLst/>
          </a:prstGeom>
        </p:spPr>
        <p:txBody>
          <a:bodyPr vert="horz" wrap="square" lIns="0" tIns="16933" rIns="0" bIns="0" rtlCol="0">
            <a:spAutoFit/>
          </a:bodyPr>
          <a:lstStyle/>
          <a:p>
            <a:pPr marL="16933" marR="6773">
              <a:lnSpc>
                <a:spcPct val="114599"/>
              </a:lnSpc>
              <a:spcBef>
                <a:spcPts val="133"/>
              </a:spcBef>
            </a:pPr>
            <a:r>
              <a:rPr sz="2400" dirty="0">
                <a:solidFill>
                  <a:srgbClr val="37761C"/>
                </a:solidFill>
                <a:latin typeface="Arial"/>
                <a:cs typeface="Arial"/>
              </a:rPr>
              <a:t>Fair</a:t>
            </a:r>
            <a:r>
              <a:rPr sz="2400" spc="-33" dirty="0">
                <a:solidFill>
                  <a:srgbClr val="37761C"/>
                </a:solidFill>
                <a:latin typeface="Arial"/>
                <a:cs typeface="Arial"/>
              </a:rPr>
              <a:t> </a:t>
            </a:r>
            <a:r>
              <a:rPr sz="2400" dirty="0">
                <a:solidFill>
                  <a:srgbClr val="37761C"/>
                </a:solidFill>
                <a:latin typeface="Arial"/>
                <a:cs typeface="Arial"/>
              </a:rPr>
              <a:t>Scheduler</a:t>
            </a:r>
            <a:r>
              <a:rPr sz="2400" spc="-13" dirty="0">
                <a:solidFill>
                  <a:srgbClr val="37761C"/>
                </a:solidFill>
                <a:latin typeface="Arial"/>
                <a:cs typeface="Arial"/>
              </a:rPr>
              <a:t> </a:t>
            </a:r>
            <a:r>
              <a:rPr sz="2400" dirty="0">
                <a:solidFill>
                  <a:srgbClr val="595959"/>
                </a:solidFill>
                <a:latin typeface="Arial"/>
                <a:cs typeface="Arial"/>
              </a:rPr>
              <a:t>dynamically</a:t>
            </a:r>
            <a:r>
              <a:rPr sz="2400" spc="-13" dirty="0">
                <a:solidFill>
                  <a:srgbClr val="595959"/>
                </a:solidFill>
                <a:latin typeface="Arial"/>
                <a:cs typeface="Arial"/>
              </a:rPr>
              <a:t> </a:t>
            </a:r>
            <a:r>
              <a:rPr sz="2400" dirty="0">
                <a:solidFill>
                  <a:srgbClr val="980000"/>
                </a:solidFill>
                <a:latin typeface="Arial"/>
                <a:cs typeface="Arial"/>
              </a:rPr>
              <a:t>balance</a:t>
            </a:r>
            <a:r>
              <a:rPr sz="2400" spc="-13" dirty="0">
                <a:solidFill>
                  <a:srgbClr val="980000"/>
                </a:solidFill>
                <a:latin typeface="Arial"/>
                <a:cs typeface="Arial"/>
              </a:rPr>
              <a:t> </a:t>
            </a:r>
            <a:r>
              <a:rPr sz="2400" dirty="0">
                <a:solidFill>
                  <a:srgbClr val="595959"/>
                </a:solidFill>
                <a:latin typeface="Arial"/>
                <a:cs typeface="Arial"/>
              </a:rPr>
              <a:t>resources</a:t>
            </a:r>
            <a:r>
              <a:rPr sz="2400" spc="-27" dirty="0">
                <a:solidFill>
                  <a:srgbClr val="595959"/>
                </a:solidFill>
                <a:latin typeface="Arial"/>
                <a:cs typeface="Arial"/>
              </a:rPr>
              <a:t> </a:t>
            </a:r>
            <a:r>
              <a:rPr sz="2400" dirty="0">
                <a:solidFill>
                  <a:srgbClr val="595959"/>
                </a:solidFill>
                <a:latin typeface="Arial"/>
                <a:cs typeface="Arial"/>
              </a:rPr>
              <a:t>(evenly</a:t>
            </a:r>
            <a:r>
              <a:rPr sz="2400" spc="-20" dirty="0">
                <a:solidFill>
                  <a:srgbClr val="595959"/>
                </a:solidFill>
                <a:latin typeface="Arial"/>
                <a:cs typeface="Arial"/>
              </a:rPr>
              <a:t> </a:t>
            </a:r>
            <a:r>
              <a:rPr sz="2400" dirty="0">
                <a:solidFill>
                  <a:srgbClr val="595959"/>
                </a:solidFill>
                <a:latin typeface="Arial"/>
                <a:cs typeface="Arial"/>
              </a:rPr>
              <a:t>between</a:t>
            </a:r>
            <a:r>
              <a:rPr sz="2400" spc="-20" dirty="0">
                <a:solidFill>
                  <a:srgbClr val="595959"/>
                </a:solidFill>
                <a:latin typeface="Arial"/>
                <a:cs typeface="Arial"/>
              </a:rPr>
              <a:t> </a:t>
            </a:r>
            <a:r>
              <a:rPr sz="2400" dirty="0">
                <a:solidFill>
                  <a:srgbClr val="595959"/>
                </a:solidFill>
                <a:latin typeface="Arial"/>
                <a:cs typeface="Arial"/>
              </a:rPr>
              <a:t>all</a:t>
            </a:r>
            <a:r>
              <a:rPr sz="2400" spc="-20" dirty="0">
                <a:solidFill>
                  <a:srgbClr val="595959"/>
                </a:solidFill>
                <a:latin typeface="Arial"/>
                <a:cs typeface="Arial"/>
              </a:rPr>
              <a:t> </a:t>
            </a:r>
            <a:r>
              <a:rPr sz="2400" dirty="0">
                <a:solidFill>
                  <a:srgbClr val="595959"/>
                </a:solidFill>
                <a:latin typeface="Arial"/>
                <a:cs typeface="Arial"/>
              </a:rPr>
              <a:t>tasks)</a:t>
            </a:r>
            <a:r>
              <a:rPr sz="2400" spc="-27" dirty="0">
                <a:solidFill>
                  <a:srgbClr val="595959"/>
                </a:solidFill>
                <a:latin typeface="Arial"/>
                <a:cs typeface="Arial"/>
              </a:rPr>
              <a:t> </a:t>
            </a:r>
            <a:r>
              <a:rPr sz="2400" spc="-13" dirty="0">
                <a:solidFill>
                  <a:srgbClr val="595959"/>
                </a:solidFill>
                <a:latin typeface="Arial"/>
                <a:cs typeface="Arial"/>
              </a:rPr>
              <a:t>between </a:t>
            </a:r>
            <a:r>
              <a:rPr sz="2400" dirty="0">
                <a:solidFill>
                  <a:srgbClr val="595959"/>
                </a:solidFill>
                <a:latin typeface="Arial"/>
                <a:cs typeface="Arial"/>
              </a:rPr>
              <a:t>all</a:t>
            </a:r>
            <a:r>
              <a:rPr sz="2400" spc="-40" dirty="0">
                <a:solidFill>
                  <a:srgbClr val="595959"/>
                </a:solidFill>
                <a:latin typeface="Arial"/>
                <a:cs typeface="Arial"/>
              </a:rPr>
              <a:t> </a:t>
            </a:r>
            <a:r>
              <a:rPr sz="2400" dirty="0">
                <a:solidFill>
                  <a:srgbClr val="595959"/>
                </a:solidFill>
                <a:latin typeface="Arial"/>
                <a:cs typeface="Arial"/>
              </a:rPr>
              <a:t>running</a:t>
            </a:r>
            <a:r>
              <a:rPr sz="2400" spc="-27" dirty="0">
                <a:solidFill>
                  <a:srgbClr val="595959"/>
                </a:solidFill>
                <a:latin typeface="Arial"/>
                <a:cs typeface="Arial"/>
              </a:rPr>
              <a:t> </a:t>
            </a:r>
            <a:r>
              <a:rPr sz="2400" dirty="0">
                <a:solidFill>
                  <a:srgbClr val="595959"/>
                </a:solidFill>
                <a:latin typeface="Arial"/>
                <a:cs typeface="Arial"/>
              </a:rPr>
              <a:t>jobs.</a:t>
            </a:r>
            <a:r>
              <a:rPr sz="2400" spc="-20" dirty="0">
                <a:solidFill>
                  <a:srgbClr val="595959"/>
                </a:solidFill>
                <a:latin typeface="Arial"/>
                <a:cs typeface="Arial"/>
              </a:rPr>
              <a:t> </a:t>
            </a:r>
            <a:r>
              <a:rPr sz="2400" dirty="0">
                <a:solidFill>
                  <a:srgbClr val="595959"/>
                </a:solidFill>
                <a:latin typeface="Arial"/>
                <a:cs typeface="Arial"/>
              </a:rPr>
              <a:t>There</a:t>
            </a:r>
            <a:r>
              <a:rPr sz="2400" spc="-27" dirty="0">
                <a:solidFill>
                  <a:srgbClr val="595959"/>
                </a:solidFill>
                <a:latin typeface="Arial"/>
                <a:cs typeface="Arial"/>
              </a:rPr>
              <a:t> </a:t>
            </a:r>
            <a:r>
              <a:rPr sz="2400" dirty="0">
                <a:solidFill>
                  <a:srgbClr val="595959"/>
                </a:solidFill>
                <a:latin typeface="Arial"/>
                <a:cs typeface="Arial"/>
              </a:rPr>
              <a:t>is</a:t>
            </a:r>
            <a:r>
              <a:rPr sz="2400" spc="-20" dirty="0">
                <a:solidFill>
                  <a:srgbClr val="595959"/>
                </a:solidFill>
                <a:latin typeface="Arial"/>
                <a:cs typeface="Arial"/>
              </a:rPr>
              <a:t> </a:t>
            </a:r>
            <a:r>
              <a:rPr sz="2400" dirty="0">
                <a:solidFill>
                  <a:srgbClr val="595959"/>
                </a:solidFill>
                <a:latin typeface="Arial"/>
                <a:cs typeface="Arial"/>
              </a:rPr>
              <a:t>also</a:t>
            </a:r>
            <a:r>
              <a:rPr sz="2400" spc="-27" dirty="0">
                <a:solidFill>
                  <a:srgbClr val="595959"/>
                </a:solidFill>
                <a:latin typeface="Arial"/>
                <a:cs typeface="Arial"/>
              </a:rPr>
              <a:t> </a:t>
            </a:r>
            <a:r>
              <a:rPr sz="2400" dirty="0">
                <a:solidFill>
                  <a:srgbClr val="595959"/>
                </a:solidFill>
                <a:latin typeface="Arial"/>
                <a:cs typeface="Arial"/>
              </a:rPr>
              <a:t>queue</a:t>
            </a:r>
            <a:r>
              <a:rPr sz="2400" spc="13" dirty="0">
                <a:solidFill>
                  <a:srgbClr val="595959"/>
                </a:solidFill>
                <a:latin typeface="Arial"/>
                <a:cs typeface="Arial"/>
              </a:rPr>
              <a:t> </a:t>
            </a:r>
            <a:r>
              <a:rPr sz="2400" dirty="0">
                <a:solidFill>
                  <a:srgbClr val="1155CC"/>
                </a:solidFill>
                <a:latin typeface="Arial"/>
                <a:cs typeface="Arial"/>
              </a:rPr>
              <a:t>hierarchy</a:t>
            </a:r>
            <a:r>
              <a:rPr sz="2400" spc="-20" dirty="0">
                <a:solidFill>
                  <a:srgbClr val="1155CC"/>
                </a:solidFill>
                <a:latin typeface="Arial"/>
                <a:cs typeface="Arial"/>
              </a:rPr>
              <a:t> </a:t>
            </a:r>
            <a:r>
              <a:rPr sz="2400" dirty="0">
                <a:solidFill>
                  <a:srgbClr val="595959"/>
                </a:solidFill>
                <a:latin typeface="Arial"/>
                <a:cs typeface="Arial"/>
              </a:rPr>
              <a:t>for</a:t>
            </a:r>
            <a:r>
              <a:rPr sz="2400" spc="-20" dirty="0">
                <a:solidFill>
                  <a:srgbClr val="595959"/>
                </a:solidFill>
                <a:latin typeface="Arial"/>
                <a:cs typeface="Arial"/>
              </a:rPr>
              <a:t> </a:t>
            </a:r>
            <a:r>
              <a:rPr sz="2400" spc="-13" dirty="0">
                <a:solidFill>
                  <a:srgbClr val="595959"/>
                </a:solidFill>
                <a:latin typeface="Arial"/>
                <a:cs typeface="Arial"/>
              </a:rPr>
              <a:t>organisations.</a:t>
            </a:r>
            <a:endParaRPr sz="2400">
              <a:latin typeface="Arial"/>
              <a:cs typeface="Arial"/>
            </a:endParaRPr>
          </a:p>
          <a:p>
            <a:pPr marL="625671" indent="-488514">
              <a:spcBef>
                <a:spcPts val="2520"/>
              </a:spcBef>
              <a:buChar char="●"/>
              <a:tabLst>
                <a:tab pos="625671" algn="l"/>
              </a:tabLst>
            </a:pPr>
            <a:r>
              <a:rPr sz="2400" dirty="0">
                <a:solidFill>
                  <a:srgbClr val="595959"/>
                </a:solidFill>
                <a:latin typeface="Arial"/>
                <a:cs typeface="Arial"/>
              </a:rPr>
              <a:t>If</a:t>
            </a:r>
            <a:r>
              <a:rPr sz="2400" spc="-40" dirty="0">
                <a:solidFill>
                  <a:srgbClr val="595959"/>
                </a:solidFill>
                <a:latin typeface="Arial"/>
                <a:cs typeface="Arial"/>
              </a:rPr>
              <a:t> </a:t>
            </a:r>
            <a:r>
              <a:rPr sz="2400" dirty="0">
                <a:solidFill>
                  <a:srgbClr val="595959"/>
                </a:solidFill>
                <a:latin typeface="Arial"/>
                <a:cs typeface="Arial"/>
              </a:rPr>
              <a:t>queue</a:t>
            </a:r>
            <a:r>
              <a:rPr sz="2400" spc="-20" dirty="0">
                <a:solidFill>
                  <a:srgbClr val="595959"/>
                </a:solidFill>
                <a:latin typeface="Arial"/>
                <a:cs typeface="Arial"/>
              </a:rPr>
              <a:t> </a:t>
            </a:r>
            <a:r>
              <a:rPr sz="2400" dirty="0">
                <a:solidFill>
                  <a:srgbClr val="595959"/>
                </a:solidFill>
                <a:latin typeface="Arial"/>
                <a:cs typeface="Arial"/>
              </a:rPr>
              <a:t>policy</a:t>
            </a:r>
            <a:r>
              <a:rPr sz="2400" spc="-20" dirty="0">
                <a:solidFill>
                  <a:srgbClr val="595959"/>
                </a:solidFill>
                <a:latin typeface="Arial"/>
                <a:cs typeface="Arial"/>
              </a:rPr>
              <a:t> </a:t>
            </a:r>
            <a:r>
              <a:rPr sz="2400" dirty="0">
                <a:solidFill>
                  <a:srgbClr val="595959"/>
                </a:solidFill>
                <a:latin typeface="Arial"/>
                <a:cs typeface="Arial"/>
              </a:rPr>
              <a:t>is</a:t>
            </a:r>
            <a:r>
              <a:rPr sz="2400" spc="-7" dirty="0">
                <a:solidFill>
                  <a:srgbClr val="595959"/>
                </a:solidFill>
                <a:latin typeface="Arial"/>
                <a:cs typeface="Arial"/>
              </a:rPr>
              <a:t> </a:t>
            </a:r>
            <a:r>
              <a:rPr sz="2400" dirty="0">
                <a:solidFill>
                  <a:srgbClr val="980000"/>
                </a:solidFill>
                <a:latin typeface="Arial"/>
                <a:cs typeface="Arial"/>
              </a:rPr>
              <a:t>not</a:t>
            </a:r>
            <a:r>
              <a:rPr sz="2400" spc="-13" dirty="0">
                <a:solidFill>
                  <a:srgbClr val="980000"/>
                </a:solidFill>
                <a:latin typeface="Arial"/>
                <a:cs typeface="Arial"/>
              </a:rPr>
              <a:t> </a:t>
            </a:r>
            <a:r>
              <a:rPr sz="2400" dirty="0">
                <a:solidFill>
                  <a:srgbClr val="595959"/>
                </a:solidFill>
                <a:latin typeface="Arial"/>
                <a:cs typeface="Arial"/>
              </a:rPr>
              <a:t>configured</a:t>
            </a:r>
            <a:r>
              <a:rPr sz="2400" spc="-20" dirty="0">
                <a:solidFill>
                  <a:srgbClr val="595959"/>
                </a:solidFill>
                <a:latin typeface="Arial"/>
                <a:cs typeface="Arial"/>
              </a:rPr>
              <a:t> </a:t>
            </a:r>
            <a:r>
              <a:rPr sz="2400" dirty="0">
                <a:solidFill>
                  <a:srgbClr val="595959"/>
                </a:solidFill>
                <a:latin typeface="Arial"/>
                <a:cs typeface="Arial"/>
              </a:rPr>
              <a:t>it</a:t>
            </a:r>
            <a:r>
              <a:rPr sz="2400" spc="-20" dirty="0">
                <a:solidFill>
                  <a:srgbClr val="595959"/>
                </a:solidFill>
                <a:latin typeface="Arial"/>
                <a:cs typeface="Arial"/>
              </a:rPr>
              <a:t> </a:t>
            </a:r>
            <a:r>
              <a:rPr sz="2400" dirty="0">
                <a:solidFill>
                  <a:srgbClr val="595959"/>
                </a:solidFill>
                <a:latin typeface="Arial"/>
                <a:cs typeface="Arial"/>
              </a:rPr>
              <a:t>is</a:t>
            </a:r>
            <a:r>
              <a:rPr sz="2400" spc="-20" dirty="0">
                <a:solidFill>
                  <a:srgbClr val="595959"/>
                </a:solidFill>
                <a:latin typeface="Arial"/>
                <a:cs typeface="Arial"/>
              </a:rPr>
              <a:t> </a:t>
            </a:r>
            <a:r>
              <a:rPr sz="2400" dirty="0">
                <a:solidFill>
                  <a:srgbClr val="595959"/>
                </a:solidFill>
                <a:latin typeface="Arial"/>
                <a:cs typeface="Arial"/>
              </a:rPr>
              <a:t>Fair</a:t>
            </a:r>
            <a:r>
              <a:rPr sz="2400" spc="-20" dirty="0">
                <a:solidFill>
                  <a:srgbClr val="595959"/>
                </a:solidFill>
                <a:latin typeface="Arial"/>
                <a:cs typeface="Arial"/>
              </a:rPr>
              <a:t> </a:t>
            </a:r>
            <a:r>
              <a:rPr sz="2400" dirty="0">
                <a:solidFill>
                  <a:srgbClr val="595959"/>
                </a:solidFill>
                <a:latin typeface="Arial"/>
                <a:cs typeface="Arial"/>
              </a:rPr>
              <a:t>(50/50%</a:t>
            </a:r>
            <a:r>
              <a:rPr sz="2400" spc="-20" dirty="0">
                <a:solidFill>
                  <a:srgbClr val="595959"/>
                </a:solidFill>
                <a:latin typeface="Arial"/>
                <a:cs typeface="Arial"/>
              </a:rPr>
              <a:t> </a:t>
            </a:r>
            <a:r>
              <a:rPr sz="2400" dirty="0">
                <a:solidFill>
                  <a:srgbClr val="595959"/>
                </a:solidFill>
                <a:latin typeface="Arial"/>
                <a:cs typeface="Arial"/>
              </a:rPr>
              <a:t>or</a:t>
            </a:r>
            <a:r>
              <a:rPr sz="2400" spc="-20" dirty="0">
                <a:solidFill>
                  <a:srgbClr val="595959"/>
                </a:solidFill>
                <a:latin typeface="Arial"/>
                <a:cs typeface="Arial"/>
              </a:rPr>
              <a:t> </a:t>
            </a:r>
            <a:r>
              <a:rPr sz="2400" spc="-27" dirty="0">
                <a:solidFill>
                  <a:srgbClr val="595959"/>
                </a:solidFill>
                <a:latin typeface="Arial"/>
                <a:cs typeface="Arial"/>
              </a:rPr>
              <a:t>1:1)</a:t>
            </a:r>
            <a:endParaRPr sz="2400">
              <a:latin typeface="Arial"/>
              <a:cs typeface="Arial"/>
            </a:endParaRPr>
          </a:p>
          <a:p>
            <a:pPr marL="626518" marR="3781965" indent="-489361">
              <a:lnSpc>
                <a:spcPct val="114599"/>
              </a:lnSpc>
              <a:spcBef>
                <a:spcPts val="1300"/>
              </a:spcBef>
              <a:buClr>
                <a:srgbClr val="595959"/>
              </a:buClr>
              <a:buChar char="●"/>
              <a:tabLst>
                <a:tab pos="626518" algn="l"/>
              </a:tabLst>
            </a:pPr>
            <a:r>
              <a:rPr sz="2400" dirty="0">
                <a:solidFill>
                  <a:srgbClr val="37761C"/>
                </a:solidFill>
                <a:latin typeface="Arial"/>
                <a:cs typeface="Arial"/>
              </a:rPr>
              <a:t>Preemption</a:t>
            </a:r>
            <a:r>
              <a:rPr sz="2400" spc="-27" dirty="0">
                <a:solidFill>
                  <a:srgbClr val="37761C"/>
                </a:solidFill>
                <a:latin typeface="Arial"/>
                <a:cs typeface="Arial"/>
              </a:rPr>
              <a:t> </a:t>
            </a:r>
            <a:r>
              <a:rPr sz="2400" dirty="0">
                <a:solidFill>
                  <a:srgbClr val="595959"/>
                </a:solidFill>
                <a:latin typeface="Arial"/>
                <a:cs typeface="Arial"/>
              </a:rPr>
              <a:t>allows</a:t>
            </a:r>
            <a:r>
              <a:rPr sz="2400" spc="-27" dirty="0">
                <a:solidFill>
                  <a:srgbClr val="595959"/>
                </a:solidFill>
                <a:latin typeface="Arial"/>
                <a:cs typeface="Arial"/>
              </a:rPr>
              <a:t> </a:t>
            </a:r>
            <a:r>
              <a:rPr sz="2400" dirty="0">
                <a:solidFill>
                  <a:srgbClr val="595959"/>
                </a:solidFill>
                <a:latin typeface="Arial"/>
                <a:cs typeface="Arial"/>
              </a:rPr>
              <a:t>the</a:t>
            </a:r>
            <a:r>
              <a:rPr sz="2400" spc="-27" dirty="0">
                <a:solidFill>
                  <a:srgbClr val="595959"/>
                </a:solidFill>
                <a:latin typeface="Arial"/>
                <a:cs typeface="Arial"/>
              </a:rPr>
              <a:t> </a:t>
            </a:r>
            <a:r>
              <a:rPr sz="2400" dirty="0">
                <a:solidFill>
                  <a:srgbClr val="595959"/>
                </a:solidFill>
                <a:latin typeface="Arial"/>
                <a:cs typeface="Arial"/>
              </a:rPr>
              <a:t>scheduler</a:t>
            </a:r>
            <a:r>
              <a:rPr sz="2400" spc="-27" dirty="0">
                <a:solidFill>
                  <a:srgbClr val="595959"/>
                </a:solidFill>
                <a:latin typeface="Arial"/>
                <a:cs typeface="Arial"/>
              </a:rPr>
              <a:t> </a:t>
            </a:r>
            <a:r>
              <a:rPr sz="2400" dirty="0">
                <a:solidFill>
                  <a:srgbClr val="595959"/>
                </a:solidFill>
                <a:latin typeface="Arial"/>
                <a:cs typeface="Arial"/>
              </a:rPr>
              <a:t>to</a:t>
            </a:r>
            <a:r>
              <a:rPr sz="2400" spc="-13" dirty="0">
                <a:solidFill>
                  <a:srgbClr val="595959"/>
                </a:solidFill>
                <a:latin typeface="Arial"/>
                <a:cs typeface="Arial"/>
              </a:rPr>
              <a:t> </a:t>
            </a:r>
            <a:r>
              <a:rPr sz="2400" dirty="0">
                <a:solidFill>
                  <a:srgbClr val="980000"/>
                </a:solidFill>
                <a:latin typeface="Arial"/>
                <a:cs typeface="Arial"/>
              </a:rPr>
              <a:t>kill</a:t>
            </a:r>
            <a:r>
              <a:rPr sz="2400" spc="-27" dirty="0">
                <a:solidFill>
                  <a:srgbClr val="980000"/>
                </a:solidFill>
                <a:latin typeface="Arial"/>
                <a:cs typeface="Arial"/>
              </a:rPr>
              <a:t> </a:t>
            </a:r>
            <a:r>
              <a:rPr sz="2400" spc="-13" dirty="0">
                <a:solidFill>
                  <a:srgbClr val="595959"/>
                </a:solidFill>
                <a:latin typeface="Arial"/>
                <a:cs typeface="Arial"/>
              </a:rPr>
              <a:t>containers </a:t>
            </a:r>
            <a:r>
              <a:rPr sz="2400" dirty="0">
                <a:solidFill>
                  <a:srgbClr val="595959"/>
                </a:solidFill>
                <a:latin typeface="Arial"/>
                <a:cs typeface="Arial"/>
              </a:rPr>
              <a:t>for</a:t>
            </a:r>
            <a:r>
              <a:rPr sz="2400" spc="-27" dirty="0">
                <a:solidFill>
                  <a:srgbClr val="595959"/>
                </a:solidFill>
                <a:latin typeface="Arial"/>
                <a:cs typeface="Arial"/>
              </a:rPr>
              <a:t> </a:t>
            </a:r>
            <a:r>
              <a:rPr sz="2400" dirty="0">
                <a:solidFill>
                  <a:srgbClr val="595959"/>
                </a:solidFill>
                <a:latin typeface="Arial"/>
                <a:cs typeface="Arial"/>
              </a:rPr>
              <a:t>queues</a:t>
            </a:r>
            <a:r>
              <a:rPr sz="2400" spc="-20" dirty="0">
                <a:solidFill>
                  <a:srgbClr val="595959"/>
                </a:solidFill>
                <a:latin typeface="Arial"/>
                <a:cs typeface="Arial"/>
              </a:rPr>
              <a:t> </a:t>
            </a:r>
            <a:r>
              <a:rPr sz="2400" dirty="0">
                <a:solidFill>
                  <a:srgbClr val="595959"/>
                </a:solidFill>
                <a:latin typeface="Arial"/>
                <a:cs typeface="Arial"/>
              </a:rPr>
              <a:t>that</a:t>
            </a:r>
            <a:r>
              <a:rPr sz="2400" spc="-27" dirty="0">
                <a:solidFill>
                  <a:srgbClr val="595959"/>
                </a:solidFill>
                <a:latin typeface="Arial"/>
                <a:cs typeface="Arial"/>
              </a:rPr>
              <a:t> </a:t>
            </a:r>
            <a:r>
              <a:rPr sz="2400" dirty="0">
                <a:solidFill>
                  <a:srgbClr val="595959"/>
                </a:solidFill>
                <a:latin typeface="Arial"/>
                <a:cs typeface="Arial"/>
              </a:rPr>
              <a:t>are</a:t>
            </a:r>
            <a:r>
              <a:rPr sz="2400" spc="-20" dirty="0">
                <a:solidFill>
                  <a:srgbClr val="595959"/>
                </a:solidFill>
                <a:latin typeface="Arial"/>
                <a:cs typeface="Arial"/>
              </a:rPr>
              <a:t> </a:t>
            </a:r>
            <a:r>
              <a:rPr sz="2400" dirty="0">
                <a:solidFill>
                  <a:srgbClr val="595959"/>
                </a:solidFill>
                <a:latin typeface="Arial"/>
                <a:cs typeface="Arial"/>
              </a:rPr>
              <a:t>running</a:t>
            </a:r>
            <a:r>
              <a:rPr sz="2400" spc="-27" dirty="0">
                <a:solidFill>
                  <a:srgbClr val="595959"/>
                </a:solidFill>
                <a:latin typeface="Arial"/>
                <a:cs typeface="Arial"/>
              </a:rPr>
              <a:t> </a:t>
            </a:r>
            <a:r>
              <a:rPr sz="2400" dirty="0">
                <a:solidFill>
                  <a:srgbClr val="595959"/>
                </a:solidFill>
                <a:latin typeface="Arial"/>
                <a:cs typeface="Arial"/>
              </a:rPr>
              <a:t>with</a:t>
            </a:r>
            <a:r>
              <a:rPr sz="2400" spc="-20" dirty="0">
                <a:solidFill>
                  <a:srgbClr val="595959"/>
                </a:solidFill>
                <a:latin typeface="Arial"/>
                <a:cs typeface="Arial"/>
              </a:rPr>
              <a:t> </a:t>
            </a:r>
            <a:r>
              <a:rPr sz="2400" dirty="0">
                <a:solidFill>
                  <a:srgbClr val="595959"/>
                </a:solidFill>
                <a:latin typeface="Arial"/>
                <a:cs typeface="Arial"/>
              </a:rPr>
              <a:t>more</a:t>
            </a:r>
            <a:r>
              <a:rPr sz="2400" spc="-27" dirty="0">
                <a:solidFill>
                  <a:srgbClr val="595959"/>
                </a:solidFill>
                <a:latin typeface="Arial"/>
                <a:cs typeface="Arial"/>
              </a:rPr>
              <a:t> </a:t>
            </a:r>
            <a:r>
              <a:rPr sz="2400" dirty="0">
                <a:solidFill>
                  <a:srgbClr val="595959"/>
                </a:solidFill>
                <a:latin typeface="Arial"/>
                <a:cs typeface="Arial"/>
              </a:rPr>
              <a:t>than</a:t>
            </a:r>
            <a:r>
              <a:rPr sz="2400" spc="-20" dirty="0">
                <a:solidFill>
                  <a:srgbClr val="595959"/>
                </a:solidFill>
                <a:latin typeface="Arial"/>
                <a:cs typeface="Arial"/>
              </a:rPr>
              <a:t> </a:t>
            </a:r>
            <a:r>
              <a:rPr sz="2400" spc="-13" dirty="0">
                <a:solidFill>
                  <a:srgbClr val="595959"/>
                </a:solidFill>
                <a:latin typeface="Arial"/>
                <a:cs typeface="Arial"/>
              </a:rPr>
              <a:t>their </a:t>
            </a:r>
            <a:r>
              <a:rPr sz="2400" dirty="0">
                <a:solidFill>
                  <a:srgbClr val="1155CC"/>
                </a:solidFill>
                <a:latin typeface="Arial"/>
                <a:cs typeface="Arial"/>
              </a:rPr>
              <a:t>fair</a:t>
            </a:r>
            <a:r>
              <a:rPr sz="2400" spc="-13" dirty="0">
                <a:solidFill>
                  <a:srgbClr val="1155CC"/>
                </a:solidFill>
                <a:latin typeface="Arial"/>
                <a:cs typeface="Arial"/>
              </a:rPr>
              <a:t> </a:t>
            </a:r>
            <a:r>
              <a:rPr sz="2400" dirty="0">
                <a:solidFill>
                  <a:srgbClr val="595959"/>
                </a:solidFill>
                <a:latin typeface="Arial"/>
                <a:cs typeface="Arial"/>
              </a:rPr>
              <a:t>share</a:t>
            </a:r>
            <a:r>
              <a:rPr sz="2400" spc="-20" dirty="0">
                <a:solidFill>
                  <a:srgbClr val="595959"/>
                </a:solidFill>
                <a:latin typeface="Arial"/>
                <a:cs typeface="Arial"/>
              </a:rPr>
              <a:t> </a:t>
            </a:r>
            <a:r>
              <a:rPr sz="2400" dirty="0">
                <a:solidFill>
                  <a:srgbClr val="595959"/>
                </a:solidFill>
                <a:latin typeface="Arial"/>
                <a:cs typeface="Arial"/>
              </a:rPr>
              <a:t>of</a:t>
            </a:r>
            <a:r>
              <a:rPr sz="2400" spc="-13" dirty="0">
                <a:solidFill>
                  <a:srgbClr val="595959"/>
                </a:solidFill>
                <a:latin typeface="Arial"/>
                <a:cs typeface="Arial"/>
              </a:rPr>
              <a:t> resources</a:t>
            </a:r>
            <a:endParaRPr sz="2400">
              <a:latin typeface="Arial"/>
              <a:cs typeface="Arial"/>
            </a:endParaRPr>
          </a:p>
          <a:p>
            <a:pPr marL="626518" marR="4173116" indent="-489361">
              <a:lnSpc>
                <a:spcPct val="114599"/>
              </a:lnSpc>
              <a:buClr>
                <a:srgbClr val="595959"/>
              </a:buClr>
              <a:buChar char="●"/>
              <a:tabLst>
                <a:tab pos="626518" algn="l"/>
              </a:tabLst>
            </a:pPr>
            <a:r>
              <a:rPr sz="2400" dirty="0">
                <a:solidFill>
                  <a:srgbClr val="37761C"/>
                </a:solidFill>
                <a:latin typeface="Arial"/>
                <a:cs typeface="Arial"/>
              </a:rPr>
              <a:t>Delay</a:t>
            </a:r>
            <a:r>
              <a:rPr sz="2400" spc="-47" dirty="0">
                <a:solidFill>
                  <a:srgbClr val="37761C"/>
                </a:solidFill>
                <a:latin typeface="Arial"/>
                <a:cs typeface="Arial"/>
              </a:rPr>
              <a:t> </a:t>
            </a:r>
            <a:r>
              <a:rPr sz="2400" dirty="0">
                <a:solidFill>
                  <a:srgbClr val="37761C"/>
                </a:solidFill>
                <a:latin typeface="Arial"/>
                <a:cs typeface="Arial"/>
              </a:rPr>
              <a:t>scheduling</a:t>
            </a:r>
            <a:r>
              <a:rPr sz="2400" spc="-27" dirty="0">
                <a:solidFill>
                  <a:srgbClr val="37761C"/>
                </a:solidFill>
                <a:latin typeface="Arial"/>
                <a:cs typeface="Arial"/>
              </a:rPr>
              <a:t> </a:t>
            </a:r>
            <a:r>
              <a:rPr sz="2400" dirty="0">
                <a:solidFill>
                  <a:srgbClr val="595959"/>
                </a:solidFill>
                <a:latin typeface="Arial"/>
                <a:cs typeface="Arial"/>
              </a:rPr>
              <a:t>allows</a:t>
            </a:r>
            <a:r>
              <a:rPr sz="2400" spc="-27" dirty="0">
                <a:solidFill>
                  <a:srgbClr val="595959"/>
                </a:solidFill>
                <a:latin typeface="Arial"/>
                <a:cs typeface="Arial"/>
              </a:rPr>
              <a:t> </a:t>
            </a:r>
            <a:r>
              <a:rPr sz="2400" dirty="0">
                <a:solidFill>
                  <a:srgbClr val="595959"/>
                </a:solidFill>
                <a:latin typeface="Arial"/>
                <a:cs typeface="Arial"/>
              </a:rPr>
              <a:t>allocating</a:t>
            </a:r>
            <a:r>
              <a:rPr sz="2400" spc="-33" dirty="0">
                <a:solidFill>
                  <a:srgbClr val="595959"/>
                </a:solidFill>
                <a:latin typeface="Arial"/>
                <a:cs typeface="Arial"/>
              </a:rPr>
              <a:t> </a:t>
            </a:r>
            <a:r>
              <a:rPr sz="2400" dirty="0">
                <a:solidFill>
                  <a:srgbClr val="595959"/>
                </a:solidFill>
                <a:latin typeface="Arial"/>
                <a:cs typeface="Arial"/>
              </a:rPr>
              <a:t>container</a:t>
            </a:r>
            <a:r>
              <a:rPr sz="2400" spc="-27" dirty="0">
                <a:solidFill>
                  <a:srgbClr val="595959"/>
                </a:solidFill>
                <a:latin typeface="Arial"/>
                <a:cs typeface="Arial"/>
              </a:rPr>
              <a:t> </a:t>
            </a:r>
            <a:r>
              <a:rPr sz="2400" spc="-33" dirty="0">
                <a:solidFill>
                  <a:srgbClr val="595959"/>
                </a:solidFill>
                <a:latin typeface="Arial"/>
                <a:cs typeface="Arial"/>
              </a:rPr>
              <a:t>in </a:t>
            </a:r>
            <a:r>
              <a:rPr sz="2400" dirty="0">
                <a:solidFill>
                  <a:srgbClr val="1155CC"/>
                </a:solidFill>
                <a:latin typeface="Arial"/>
                <a:cs typeface="Arial"/>
              </a:rPr>
              <a:t>same</a:t>
            </a:r>
            <a:r>
              <a:rPr sz="2400" spc="-47" dirty="0">
                <a:solidFill>
                  <a:srgbClr val="1155CC"/>
                </a:solidFill>
                <a:latin typeface="Arial"/>
                <a:cs typeface="Arial"/>
              </a:rPr>
              <a:t> </a:t>
            </a:r>
            <a:r>
              <a:rPr sz="2400" dirty="0">
                <a:solidFill>
                  <a:srgbClr val="595959"/>
                </a:solidFill>
                <a:latin typeface="Arial"/>
                <a:cs typeface="Arial"/>
              </a:rPr>
              <a:t>node</a:t>
            </a:r>
            <a:r>
              <a:rPr sz="2400" spc="-33" dirty="0">
                <a:solidFill>
                  <a:srgbClr val="595959"/>
                </a:solidFill>
                <a:latin typeface="Arial"/>
                <a:cs typeface="Arial"/>
              </a:rPr>
              <a:t> </a:t>
            </a:r>
            <a:r>
              <a:rPr sz="2400" dirty="0">
                <a:solidFill>
                  <a:srgbClr val="595959"/>
                </a:solidFill>
                <a:latin typeface="Arial"/>
                <a:cs typeface="Arial"/>
              </a:rPr>
              <a:t>where</a:t>
            </a:r>
            <a:r>
              <a:rPr sz="2400" spc="-33" dirty="0">
                <a:solidFill>
                  <a:srgbClr val="595959"/>
                </a:solidFill>
                <a:latin typeface="Arial"/>
                <a:cs typeface="Arial"/>
              </a:rPr>
              <a:t> </a:t>
            </a:r>
            <a:r>
              <a:rPr sz="2400" dirty="0">
                <a:solidFill>
                  <a:srgbClr val="595959"/>
                </a:solidFill>
                <a:latin typeface="Arial"/>
                <a:cs typeface="Arial"/>
              </a:rPr>
              <a:t>application</a:t>
            </a:r>
            <a:r>
              <a:rPr sz="2400" spc="-27" dirty="0">
                <a:solidFill>
                  <a:srgbClr val="595959"/>
                </a:solidFill>
                <a:latin typeface="Arial"/>
                <a:cs typeface="Arial"/>
              </a:rPr>
              <a:t> </a:t>
            </a:r>
            <a:r>
              <a:rPr sz="2400" dirty="0">
                <a:solidFill>
                  <a:srgbClr val="595959"/>
                </a:solidFill>
                <a:latin typeface="Arial"/>
                <a:cs typeface="Arial"/>
              </a:rPr>
              <a:t>was</a:t>
            </a:r>
            <a:r>
              <a:rPr sz="2400" spc="-33" dirty="0">
                <a:solidFill>
                  <a:srgbClr val="595959"/>
                </a:solidFill>
                <a:latin typeface="Arial"/>
                <a:cs typeface="Arial"/>
              </a:rPr>
              <a:t> </a:t>
            </a:r>
            <a:r>
              <a:rPr sz="2400" spc="-13" dirty="0">
                <a:solidFill>
                  <a:srgbClr val="595959"/>
                </a:solidFill>
                <a:latin typeface="Arial"/>
                <a:cs typeface="Arial"/>
              </a:rPr>
              <a:t>submitted.</a:t>
            </a:r>
            <a:endParaRPr sz="2400">
              <a:latin typeface="Arial"/>
              <a:cs typeface="Arial"/>
            </a:endParaRPr>
          </a:p>
          <a:p>
            <a:pPr marL="626518" marR="3649042" indent="-489361">
              <a:lnSpc>
                <a:spcPct val="114599"/>
              </a:lnSpc>
              <a:spcBef>
                <a:spcPts val="1292"/>
              </a:spcBef>
              <a:buClr>
                <a:srgbClr val="595959"/>
              </a:buClr>
              <a:buChar char="●"/>
              <a:tabLst>
                <a:tab pos="626518" algn="l"/>
                <a:tab pos="5385512" algn="l"/>
              </a:tabLst>
            </a:pPr>
            <a:r>
              <a:rPr sz="2400" dirty="0">
                <a:solidFill>
                  <a:srgbClr val="37761C"/>
                </a:solidFill>
                <a:latin typeface="Arial"/>
                <a:cs typeface="Arial"/>
              </a:rPr>
              <a:t>Dominant</a:t>
            </a:r>
            <a:r>
              <a:rPr sz="2400" spc="-40" dirty="0">
                <a:solidFill>
                  <a:srgbClr val="37761C"/>
                </a:solidFill>
                <a:latin typeface="Arial"/>
                <a:cs typeface="Arial"/>
              </a:rPr>
              <a:t> </a:t>
            </a:r>
            <a:r>
              <a:rPr sz="2400" dirty="0">
                <a:solidFill>
                  <a:srgbClr val="37761C"/>
                </a:solidFill>
                <a:latin typeface="Arial"/>
                <a:cs typeface="Arial"/>
              </a:rPr>
              <a:t>Resource</a:t>
            </a:r>
            <a:r>
              <a:rPr sz="2400" spc="-40" dirty="0">
                <a:solidFill>
                  <a:srgbClr val="37761C"/>
                </a:solidFill>
                <a:latin typeface="Arial"/>
                <a:cs typeface="Arial"/>
              </a:rPr>
              <a:t> </a:t>
            </a:r>
            <a:r>
              <a:rPr sz="2400" dirty="0">
                <a:solidFill>
                  <a:srgbClr val="37761C"/>
                </a:solidFill>
                <a:latin typeface="Arial"/>
                <a:cs typeface="Arial"/>
              </a:rPr>
              <a:t>Fairness</a:t>
            </a:r>
            <a:r>
              <a:rPr sz="2400" spc="-33" dirty="0">
                <a:solidFill>
                  <a:srgbClr val="37761C"/>
                </a:solidFill>
                <a:latin typeface="Arial"/>
                <a:cs typeface="Arial"/>
              </a:rPr>
              <a:t> </a:t>
            </a:r>
            <a:r>
              <a:rPr sz="2400" spc="-13" dirty="0">
                <a:solidFill>
                  <a:srgbClr val="37761C"/>
                </a:solidFill>
                <a:latin typeface="Arial"/>
                <a:cs typeface="Arial"/>
              </a:rPr>
              <a:t>(drf)</a:t>
            </a:r>
            <a:r>
              <a:rPr sz="2400" dirty="0">
                <a:solidFill>
                  <a:srgbClr val="37761C"/>
                </a:solidFill>
                <a:latin typeface="Arial"/>
                <a:cs typeface="Arial"/>
              </a:rPr>
              <a:t>	</a:t>
            </a:r>
            <a:r>
              <a:rPr sz="2400" dirty="0">
                <a:solidFill>
                  <a:srgbClr val="595959"/>
                </a:solidFill>
                <a:latin typeface="Arial"/>
                <a:cs typeface="Arial"/>
              </a:rPr>
              <a:t>gives</a:t>
            </a:r>
            <a:r>
              <a:rPr sz="2400" spc="-20" dirty="0">
                <a:solidFill>
                  <a:srgbClr val="595959"/>
                </a:solidFill>
                <a:latin typeface="Arial"/>
                <a:cs typeface="Arial"/>
              </a:rPr>
              <a:t> </a:t>
            </a:r>
            <a:r>
              <a:rPr sz="2400" dirty="0">
                <a:solidFill>
                  <a:srgbClr val="595959"/>
                </a:solidFill>
                <a:latin typeface="Arial"/>
                <a:cs typeface="Arial"/>
              </a:rPr>
              <a:t>priority</a:t>
            </a:r>
            <a:r>
              <a:rPr sz="2400" spc="-7" dirty="0">
                <a:solidFill>
                  <a:srgbClr val="595959"/>
                </a:solidFill>
                <a:latin typeface="Arial"/>
                <a:cs typeface="Arial"/>
              </a:rPr>
              <a:t> </a:t>
            </a:r>
            <a:r>
              <a:rPr sz="2400" spc="-33" dirty="0">
                <a:solidFill>
                  <a:srgbClr val="595959"/>
                </a:solidFill>
                <a:latin typeface="Arial"/>
                <a:cs typeface="Arial"/>
              </a:rPr>
              <a:t>to </a:t>
            </a:r>
            <a:r>
              <a:rPr sz="2400" dirty="0">
                <a:solidFill>
                  <a:srgbClr val="595959"/>
                </a:solidFill>
                <a:latin typeface="Arial"/>
                <a:cs typeface="Arial"/>
              </a:rPr>
              <a:t>tasks</a:t>
            </a:r>
            <a:r>
              <a:rPr sz="2400" spc="-47" dirty="0">
                <a:solidFill>
                  <a:srgbClr val="595959"/>
                </a:solidFill>
                <a:latin typeface="Arial"/>
                <a:cs typeface="Arial"/>
              </a:rPr>
              <a:t> </a:t>
            </a:r>
            <a:r>
              <a:rPr sz="2400" dirty="0">
                <a:solidFill>
                  <a:srgbClr val="595959"/>
                </a:solidFill>
                <a:latin typeface="Arial"/>
                <a:cs typeface="Arial"/>
              </a:rPr>
              <a:t>which</a:t>
            </a:r>
            <a:r>
              <a:rPr sz="2400" spc="-27" dirty="0">
                <a:solidFill>
                  <a:srgbClr val="595959"/>
                </a:solidFill>
                <a:latin typeface="Arial"/>
                <a:cs typeface="Arial"/>
              </a:rPr>
              <a:t> </a:t>
            </a:r>
            <a:r>
              <a:rPr sz="2400" dirty="0">
                <a:solidFill>
                  <a:srgbClr val="595959"/>
                </a:solidFill>
                <a:latin typeface="Arial"/>
                <a:cs typeface="Arial"/>
              </a:rPr>
              <a:t>have</a:t>
            </a:r>
            <a:r>
              <a:rPr sz="2400" spc="-27" dirty="0">
                <a:solidFill>
                  <a:srgbClr val="595959"/>
                </a:solidFill>
                <a:latin typeface="Arial"/>
                <a:cs typeface="Arial"/>
              </a:rPr>
              <a:t> </a:t>
            </a:r>
            <a:r>
              <a:rPr sz="2400" dirty="0">
                <a:solidFill>
                  <a:srgbClr val="595959"/>
                </a:solidFill>
                <a:latin typeface="Arial"/>
                <a:cs typeface="Arial"/>
              </a:rPr>
              <a:t>the</a:t>
            </a:r>
            <a:r>
              <a:rPr sz="2400" spc="-27" dirty="0">
                <a:solidFill>
                  <a:srgbClr val="595959"/>
                </a:solidFill>
                <a:latin typeface="Arial"/>
                <a:cs typeface="Arial"/>
              </a:rPr>
              <a:t> </a:t>
            </a:r>
            <a:r>
              <a:rPr sz="2400" dirty="0">
                <a:solidFill>
                  <a:srgbClr val="595959"/>
                </a:solidFill>
                <a:latin typeface="Arial"/>
                <a:cs typeface="Arial"/>
              </a:rPr>
              <a:t>most</a:t>
            </a:r>
            <a:r>
              <a:rPr sz="2400" spc="-27" dirty="0">
                <a:solidFill>
                  <a:srgbClr val="595959"/>
                </a:solidFill>
                <a:latin typeface="Arial"/>
                <a:cs typeface="Arial"/>
              </a:rPr>
              <a:t> </a:t>
            </a:r>
            <a:r>
              <a:rPr sz="2400" dirty="0">
                <a:solidFill>
                  <a:srgbClr val="595959"/>
                </a:solidFill>
                <a:latin typeface="Arial"/>
                <a:cs typeface="Arial"/>
              </a:rPr>
              <a:t>dominant</a:t>
            </a:r>
            <a:r>
              <a:rPr sz="2400" spc="-27" dirty="0">
                <a:solidFill>
                  <a:srgbClr val="595959"/>
                </a:solidFill>
                <a:latin typeface="Arial"/>
                <a:cs typeface="Arial"/>
              </a:rPr>
              <a:t> </a:t>
            </a:r>
            <a:r>
              <a:rPr sz="2400" spc="-13" dirty="0">
                <a:solidFill>
                  <a:srgbClr val="595959"/>
                </a:solidFill>
                <a:latin typeface="Arial"/>
                <a:cs typeface="Arial"/>
              </a:rPr>
              <a:t>resources</a:t>
            </a:r>
            <a:endParaRPr sz="2400">
              <a:latin typeface="Arial"/>
              <a:cs typeface="Arial"/>
            </a:endParaRPr>
          </a:p>
        </p:txBody>
      </p:sp>
      <p:pic>
        <p:nvPicPr>
          <p:cNvPr id="4" name="object 4"/>
          <p:cNvPicPr/>
          <p:nvPr/>
        </p:nvPicPr>
        <p:blipFill>
          <a:blip r:embed="rId2" cstate="print"/>
          <a:stretch>
            <a:fillRect/>
          </a:stretch>
        </p:blipFill>
        <p:spPr>
          <a:xfrm>
            <a:off x="7909467" y="2710967"/>
            <a:ext cx="3924132" cy="3659091"/>
          </a:xfrm>
          <a:prstGeom prst="rect">
            <a:avLst/>
          </a:prstGeom>
        </p:spPr>
      </p:pic>
      <p:sp>
        <p:nvSpPr>
          <p:cNvPr id="5" name="object 5"/>
          <p:cNvSpPr txBox="1">
            <a:spLocks noGrp="1"/>
          </p:cNvSpPr>
          <p:nvPr>
            <p:ph type="ftr" sz="quarter" idx="5"/>
          </p:nvPr>
        </p:nvSpPr>
        <p:spPr>
          <a:xfrm>
            <a:off x="0" y="0"/>
            <a:ext cx="0" cy="3883114"/>
          </a:xfrm>
          <a:prstGeom prst="rect">
            <a:avLst/>
          </a:prstGeom>
        </p:spPr>
        <p:txBody>
          <a:bodyPr vert="horz" wrap="square" lIns="0" tIns="5080" rIns="0" bIns="0" rtlCol="0">
            <a:spAutoFit/>
          </a:bodyPr>
          <a:lstStyle/>
          <a:p>
            <a:pPr marL="16933">
              <a:spcBef>
                <a:spcPts val="40"/>
              </a:spcBef>
            </a:pPr>
            <a:r>
              <a:rPr dirty="0"/>
              <a:t>©</a:t>
            </a:r>
            <a:r>
              <a:rPr spc="-33" dirty="0"/>
              <a:t> </a:t>
            </a:r>
            <a:r>
              <a:rPr dirty="0"/>
              <a:t>Vigen</a:t>
            </a:r>
            <a:r>
              <a:rPr spc="-20" dirty="0"/>
              <a:t> </a:t>
            </a:r>
            <a:r>
              <a:rPr spc="-13" dirty="0"/>
              <a:t>Sahakyan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rotWithShape="1">
          <a:blip r:embed="rId2">
            <a:extLst>
              <a:ext uri="{BEBA8EAE-BF5A-486C-A8C5-ECC9F3942E4B}">
                <a14:imgProps xmlns:a14="http://schemas.microsoft.com/office/drawing/2010/main">
                  <a14:imgLayer r:embed="rId3">
                    <a14:imgEffect>
                      <a14:artisticCutout/>
                    </a14:imgEffect>
                  </a14:imgLayer>
                </a14:imgProps>
              </a:ext>
              <a:ext uri="{28A0092B-C50C-407E-A947-70E740481C1C}">
                <a14:useLocalDpi xmlns:a14="http://schemas.microsoft.com/office/drawing/2010/main" val="0"/>
              </a:ext>
            </a:extLst>
          </a:blip>
          <a:srcRect l="16523" t="8330" r="16904" b="7234"/>
          <a:stretch/>
        </p:blipFill>
        <p:spPr bwMode="auto">
          <a:xfrm>
            <a:off x="6840311" y="2604633"/>
            <a:ext cx="2190750" cy="377983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023110" y="2604633"/>
            <a:ext cx="2743200" cy="523220"/>
          </a:xfrm>
          <a:prstGeom prst="rect">
            <a:avLst/>
          </a:prstGeom>
          <a:noFill/>
        </p:spPr>
        <p:txBody>
          <a:bodyPr wrap="square" rtlCol="0">
            <a:spAutoFit/>
          </a:bodyPr>
          <a:lstStyle/>
          <a:p>
            <a:r>
              <a:rPr lang="en-US" sz="2800" b="1" dirty="0">
                <a:solidFill>
                  <a:schemeClr val="accent1">
                    <a:lumMod val="75000"/>
                  </a:schemeClr>
                </a:solidFill>
                <a:latin typeface="Times New Roman" panose="02020603050405020304" pitchFamily="18" charset="0"/>
                <a:cs typeface="Times New Roman" panose="02020603050405020304" pitchFamily="18" charset="0"/>
              </a:rPr>
              <a:t>Questions</a:t>
            </a:r>
          </a:p>
        </p:txBody>
      </p:sp>
      <p:sp>
        <p:nvSpPr>
          <p:cNvPr id="6" name="Slide Number Placeholder 5"/>
          <p:cNvSpPr>
            <a:spLocks noGrp="1"/>
          </p:cNvSpPr>
          <p:nvPr>
            <p:ph type="sldNum" sz="quarter" idx="12"/>
          </p:nvPr>
        </p:nvSpPr>
        <p:spPr/>
        <p:txBody>
          <a:bodyPr/>
          <a:lstStyle/>
          <a:p>
            <a:fld id="{57C4A744-6DE7-4A67-9FB3-53D16976B908}" type="slidenum">
              <a:rPr lang="en-US" smtClean="0"/>
              <a:t>44</a:t>
            </a:fld>
            <a:endParaRPr lang="en-US"/>
          </a:p>
        </p:txBody>
      </p:sp>
    </p:spTree>
    <p:extLst>
      <p:ext uri="{BB962C8B-B14F-4D97-AF65-F5344CB8AC3E}">
        <p14:creationId xmlns:p14="http://schemas.microsoft.com/office/powerpoint/2010/main" val="90341794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8948</TotalTime>
  <Words>2093</Words>
  <Application>Microsoft Office PowerPoint</Application>
  <PresentationFormat>Widescreen</PresentationFormat>
  <Paragraphs>159</Paragraphs>
  <Slides>44</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44</vt:i4>
      </vt:variant>
    </vt:vector>
  </HeadingPairs>
  <TitlesOfParts>
    <vt:vector size="54" baseType="lpstr">
      <vt:lpstr>Arial</vt:lpstr>
      <vt:lpstr>Arial Black</vt:lpstr>
      <vt:lpstr>Arial MT</vt:lpstr>
      <vt:lpstr>Calibri</vt:lpstr>
      <vt:lpstr>Monotype Corsiva</vt:lpstr>
      <vt:lpstr>Times New Roman</vt:lpstr>
      <vt:lpstr>Trebuchet MS</vt:lpstr>
      <vt:lpstr>Wingdings</vt:lpstr>
      <vt:lpstr>Wingdings 3</vt:lpstr>
      <vt:lpstr>Facet</vt:lpstr>
      <vt:lpstr>Big data analytics  Hadoop architecture</vt:lpstr>
      <vt:lpstr>5Vs” of Big Data</vt:lpstr>
      <vt:lpstr>5Vs” of Big Data</vt:lpstr>
      <vt:lpstr>What is Hadoop ?</vt:lpstr>
      <vt:lpstr>What is Hadoop?</vt:lpstr>
      <vt:lpstr>Evolution of Hadoop</vt:lpstr>
      <vt:lpstr>Hadoop Adoption in the Industry</vt:lpstr>
      <vt:lpstr>Hadoop At Yahoo!</vt:lpstr>
      <vt:lpstr>PowerPoint Presentation</vt:lpstr>
      <vt:lpstr>Hadoop ecosystem</vt:lpstr>
      <vt:lpstr>PowerPoint Presentation</vt:lpstr>
      <vt:lpstr>HDFS:  </vt:lpstr>
      <vt:lpstr>Apache HBase</vt:lpstr>
      <vt:lpstr>PowerPoint Presentation</vt:lpstr>
      <vt:lpstr>YARN</vt:lpstr>
      <vt:lpstr>MapReduce </vt:lpstr>
      <vt:lpstr>PowerPoint Presentation</vt:lpstr>
      <vt:lpstr>PIG</vt:lpstr>
      <vt:lpstr>HIVE</vt:lpstr>
      <vt:lpstr>Mahout</vt:lpstr>
      <vt:lpstr>Apache Spark</vt:lpstr>
      <vt:lpstr>PowerPoint Presentation</vt:lpstr>
      <vt:lpstr>Data  Management </vt:lpstr>
      <vt:lpstr>Hadoop Ecosystem</vt:lpstr>
      <vt:lpstr>PowerPoint Presentation</vt:lpstr>
      <vt:lpstr>PowerPoint Presentation</vt:lpstr>
      <vt:lpstr>PowerPoint Presentation</vt:lpstr>
      <vt:lpstr>PowerPoint Presentation</vt:lpstr>
      <vt:lpstr>Hadoop 1.x Architecture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YARN Architectural Overview</vt:lpstr>
      <vt:lpstr>Scheduling in Yarn</vt:lpstr>
      <vt:lpstr>Scheduling in Yarn</vt:lpstr>
      <vt:lpstr>Scheduling in Yarn</vt:lpstr>
      <vt:lpstr>Scheduling in Yarn</vt:lpstr>
      <vt:lpstr>PowerPoint Presentation</vt:lpstr>
    </vt:vector>
  </TitlesOfParts>
  <Company>Deloitte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HADOOP 2.0 YARN ARCHITECTURE</dc:title>
  <dc:creator>Kumar, Nandan</dc:creator>
  <cp:lastModifiedBy>MAN OF PEACE</cp:lastModifiedBy>
  <cp:revision>133</cp:revision>
  <dcterms:created xsi:type="dcterms:W3CDTF">2016-12-28T11:59:14Z</dcterms:created>
  <dcterms:modified xsi:type="dcterms:W3CDTF">2026-09-06T21:56:12Z</dcterms:modified>
</cp:coreProperties>
</file>