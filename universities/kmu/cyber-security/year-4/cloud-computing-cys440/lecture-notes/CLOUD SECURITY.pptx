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sldIdLst>
    <p:sldId id="256" r:id="rId3"/>
    <p:sldId id="264" r:id="rId4"/>
    <p:sldId id="269" r:id="rId5"/>
    <p:sldId id="261" r:id="rId6"/>
    <p:sldId id="270" r:id="rId7"/>
    <p:sldId id="271"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65" r:id="rId39"/>
    <p:sldId id="266" r:id="rId40"/>
    <p:sldId id="267" r:id="rId41"/>
    <p:sldId id="268"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26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Column1</c:v>
                </c:pt>
              </c:strCache>
            </c:strRef>
          </c:tx>
          <c:dLbls>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Sheet1!$A$2:$A$6</c:f>
              <c:strCache>
                <c:ptCount val="5"/>
                <c:pt idx="0">
                  <c:v>Large Enterprises</c:v>
                </c:pt>
                <c:pt idx="1">
                  <c:v>Government Agencies</c:v>
                </c:pt>
                <c:pt idx="2">
                  <c:v>Cloud Service Providers</c:v>
                </c:pt>
                <c:pt idx="3">
                  <c:v>Medium Enterprises</c:v>
                </c:pt>
                <c:pt idx="4">
                  <c:v>Other/Third Party Vendors</c:v>
                </c:pt>
              </c:strCache>
            </c:strRef>
          </c:cat>
          <c:val>
            <c:numRef>
              <c:f>Sheet1!$B$2:$B$6</c:f>
              <c:numCache>
                <c:formatCode>General</c:formatCode>
                <c:ptCount val="5"/>
                <c:pt idx="0">
                  <c:v>38</c:v>
                </c:pt>
                <c:pt idx="1">
                  <c:v>31</c:v>
                </c:pt>
                <c:pt idx="2">
                  <c:v>17</c:v>
                </c:pt>
                <c:pt idx="3">
                  <c:v>9</c:v>
                </c:pt>
                <c:pt idx="4">
                  <c:v>5</c:v>
                </c:pt>
              </c:numCache>
            </c:numRef>
          </c:val>
          <c:extLst>
            <c:ext xmlns:c16="http://schemas.microsoft.com/office/drawing/2014/chart" uri="{C3380CC4-5D6E-409C-BE32-E72D297353CC}">
              <c16:uniqueId val="{00000000-3FB9-419C-AE78-F1203FB9AFCE}"/>
            </c:ext>
          </c:extLst>
        </c:ser>
        <c:dLbls>
          <c:showLegendKey val="0"/>
          <c:showVal val="0"/>
          <c:showCatName val="0"/>
          <c:showSerName val="0"/>
          <c:showPercent val="0"/>
          <c:showBubbleSize val="0"/>
          <c:showLeaderLines val="1"/>
        </c:dLbls>
        <c:firstSliceAng val="0"/>
      </c:pieChart>
    </c:plotArea>
    <c:legend>
      <c:legendPos val="r"/>
      <c:legendEntry>
        <c:idx val="0"/>
        <c:txPr>
          <a:bodyPr/>
          <a:lstStyle/>
          <a:p>
            <a:pPr>
              <a:defRPr sz="2000" baseline="0"/>
            </a:pPr>
            <a:endParaRPr lang="en-US"/>
          </a:p>
        </c:txPr>
      </c:legendEntry>
      <c:legendEntry>
        <c:idx val="1"/>
        <c:txPr>
          <a:bodyPr/>
          <a:lstStyle/>
          <a:p>
            <a:pPr>
              <a:defRPr sz="2000" baseline="0"/>
            </a:pPr>
            <a:endParaRPr lang="en-US"/>
          </a:p>
        </c:txPr>
      </c:legendEntry>
      <c:legendEntry>
        <c:idx val="2"/>
        <c:txPr>
          <a:bodyPr/>
          <a:lstStyle/>
          <a:p>
            <a:pPr>
              <a:defRPr sz="2000" baseline="0"/>
            </a:pPr>
            <a:endParaRPr lang="en-US"/>
          </a:p>
        </c:txPr>
      </c:legendEntry>
      <c:legendEntry>
        <c:idx val="3"/>
        <c:txPr>
          <a:bodyPr/>
          <a:lstStyle/>
          <a:p>
            <a:pPr>
              <a:defRPr sz="2000" baseline="0"/>
            </a:pPr>
            <a:endParaRPr lang="en-US"/>
          </a:p>
        </c:txPr>
      </c:legendEntry>
      <c:legendEntry>
        <c:idx val="4"/>
        <c:txPr>
          <a:bodyPr/>
          <a:lstStyle/>
          <a:p>
            <a:pPr>
              <a:defRPr sz="2000" baseline="0"/>
            </a:pPr>
            <a:endParaRPr lang="en-US"/>
          </a:p>
        </c:txPr>
      </c:legendEntry>
      <c:layout>
        <c:manualLayout>
          <c:xMode val="edge"/>
          <c:yMode val="edge"/>
          <c:x val="0.60045141926703605"/>
          <c:y val="6.6782251644567164E-2"/>
          <c:w val="0.39028932147370476"/>
          <c:h val="0.8243450067974486"/>
        </c:manualLayout>
      </c:layout>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4E49F1A-2638-4456-B9D6-E710D0AC3F92}"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AA06A9-F8EA-42C0-B730-1C557E9B139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E49F1A-2638-4456-B9D6-E710D0AC3F92}"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AA06A9-F8EA-42C0-B730-1C557E9B139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E49F1A-2638-4456-B9D6-E710D0AC3F92}"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AA06A9-F8EA-42C0-B730-1C557E9B139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4E49F1A-2638-4456-B9D6-E710D0AC3F92}" type="datetimeFigureOut">
              <a:rPr lang="en-US" smtClean="0"/>
              <a:pPr/>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AA06A9-F8EA-42C0-B730-1C557E9B139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4E49F1A-2638-4456-B9D6-E710D0AC3F92}" type="datetimeFigureOut">
              <a:rPr lang="en-US" smtClean="0"/>
              <a:pPr/>
              <a:t>5/18/2026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AA06A9-F8EA-42C0-B730-1C557E9B139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4E49F1A-2638-4456-B9D6-E710D0AC3F92}" type="datetimeFigureOut">
              <a:rPr lang="en-US" smtClean="0"/>
              <a:pPr/>
              <a:t>5/18/2026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AA06A9-F8EA-42C0-B730-1C557E9B139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E49F1A-2638-4456-B9D6-E710D0AC3F92}" type="datetimeFigureOut">
              <a:rPr lang="en-US" smtClean="0"/>
              <a:pPr/>
              <a:t>5/18/2026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AA06A9-F8EA-42C0-B730-1C557E9B139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E49F1A-2638-4456-B9D6-E710D0AC3F92}" type="datetimeFigureOut">
              <a:rPr lang="en-US" smtClean="0"/>
              <a:pPr/>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AA06A9-F8EA-42C0-B730-1C557E9B139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E49F1A-2638-4456-B9D6-E710D0AC3F92}" type="datetimeFigureOut">
              <a:rPr lang="en-US" smtClean="0"/>
              <a:pPr/>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AA06A9-F8EA-42C0-B730-1C557E9B139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E49F1A-2638-4456-B9D6-E710D0AC3F92}"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AA06A9-F8EA-42C0-B730-1C557E9B139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E49F1A-2638-4456-B9D6-E710D0AC3F92}"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AA06A9-F8EA-42C0-B730-1C557E9B139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pic>
        <p:nvPicPr>
          <p:cNvPr id="7" name="Picture 6" descr="img29.jp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E49F1A-2638-4456-B9D6-E710D0AC3F92}" type="datetimeFigureOut">
              <a:rPr lang="en-US" smtClean="0"/>
              <a:pPr/>
              <a:t>5/18/2026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pic>
        <p:nvPicPr>
          <p:cNvPr id="8" name="Picture 7" descr="Padlock Icon.png"/>
          <p:cNvPicPr>
            <a:picLocks noChangeAspect="1"/>
          </p:cNvPicPr>
          <p:nvPr/>
        </p:nvPicPr>
        <p:blipFill>
          <a:blip r:embed="rId14" cstate="print"/>
          <a:stretch>
            <a:fillRect/>
          </a:stretch>
        </p:blipFill>
        <p:spPr>
          <a:xfrm>
            <a:off x="228600" y="381000"/>
            <a:ext cx="1209675" cy="1209675"/>
          </a:xfrm>
          <a:prstGeom prst="rect">
            <a:avLst/>
          </a:prstGeom>
        </p:spPr>
      </p:pic>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AA06A9-F8EA-42C0-B730-1C557E9B139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219200"/>
            <a:ext cx="9144000" cy="1619250"/>
          </a:xfrm>
        </p:spPr>
        <p:txBody>
          <a:bodyPr>
            <a:normAutofit/>
          </a:bodyPr>
          <a:lstStyle/>
          <a:p>
            <a:r>
              <a:rPr lang="en-US" sz="7200" dirty="0">
                <a:latin typeface="Bookman Old Style" pitchFamily="18" charset="0"/>
              </a:rPr>
              <a:t>Cloud Security</a:t>
            </a:r>
          </a:p>
        </p:txBody>
      </p:sp>
      <p:sp>
        <p:nvSpPr>
          <p:cNvPr id="3" name="Subtitle 2"/>
          <p:cNvSpPr>
            <a:spLocks noGrp="1"/>
          </p:cNvSpPr>
          <p:nvPr>
            <p:ph type="subTitle" idx="1"/>
          </p:nvPr>
        </p:nvSpPr>
        <p:spPr>
          <a:xfrm>
            <a:off x="1371600" y="2743200"/>
            <a:ext cx="6400800" cy="1752600"/>
          </a:xfrm>
        </p:spPr>
        <p:txBody>
          <a:bodyPr/>
          <a:lstStyle/>
          <a:p>
            <a:r>
              <a:rPr lang="en-US" dirty="0" err="1">
                <a:solidFill>
                  <a:schemeClr val="tx1"/>
                </a:solidFill>
                <a:latin typeface="Andalus" pitchFamily="18" charset="-78"/>
                <a:cs typeface="Andalus" pitchFamily="18" charset="-78"/>
              </a:rPr>
              <a:t>Eng</a:t>
            </a:r>
            <a:r>
              <a:rPr lang="en-US" dirty="0">
                <a:solidFill>
                  <a:schemeClr val="tx1"/>
                </a:solidFill>
                <a:latin typeface="Andalus" pitchFamily="18" charset="-78"/>
                <a:cs typeface="Andalus" pitchFamily="18" charset="-78"/>
              </a:rPr>
              <a:t> Gathams Ngosa</a:t>
            </a:r>
          </a:p>
          <a:p>
            <a:endParaRPr lang="en-US" dirty="0">
              <a:solidFill>
                <a:schemeClr val="tx1"/>
              </a:solidFill>
              <a:latin typeface="Andalus" pitchFamily="18" charset="-78"/>
              <a:cs typeface="Andalus" pitchFamily="18" charset="-78"/>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are the major concerns, issues or fears </a:t>
            </a:r>
          </a:p>
        </p:txBody>
      </p:sp>
      <p:sp>
        <p:nvSpPr>
          <p:cNvPr id="4" name="Text Placeholder 3"/>
          <p:cNvSpPr>
            <a:spLocks noGrp="1"/>
          </p:cNvSpPr>
          <p:nvPr>
            <p:ph type="body" idx="1"/>
          </p:nvPr>
        </p:nvSpPr>
        <p:spPr/>
        <p:txBody>
          <a:bodyPr/>
          <a:lstStyle/>
          <a:p>
            <a:r>
              <a:rPr lang="en-US" dirty="0"/>
              <a:t>	</a:t>
            </a:r>
            <a:endParaRPr lang="en-US" sz="2800" dirty="0"/>
          </a:p>
        </p:txBody>
      </p:sp>
      <p:sp>
        <p:nvSpPr>
          <p:cNvPr id="5" name="Content Placeholder 4"/>
          <p:cNvSpPr>
            <a:spLocks noGrp="1"/>
          </p:cNvSpPr>
          <p:nvPr>
            <p:ph sz="half" idx="2"/>
          </p:nvPr>
        </p:nvSpPr>
        <p:spPr>
          <a:xfrm>
            <a:off x="685800" y="2133600"/>
            <a:ext cx="7391400" cy="3962400"/>
          </a:xfrm>
        </p:spPr>
        <p:txBody>
          <a:bodyPr>
            <a:normAutofit/>
          </a:bodyPr>
          <a:lstStyle/>
          <a:p>
            <a:r>
              <a:rPr lang="en-US" dirty="0"/>
              <a:t>Man to woman relationship?</a:t>
            </a:r>
          </a:p>
          <a:p>
            <a:r>
              <a:rPr lang="en-US" dirty="0"/>
              <a:t>A person choosing between a bank and pillow to keep money.</a:t>
            </a:r>
          </a:p>
          <a:p>
            <a:r>
              <a:rPr lang="en-US" dirty="0"/>
              <a:t>renting or hiring as opposed to owning and buying PROPERTY</a:t>
            </a:r>
          </a:p>
          <a:p>
            <a:endParaRPr lang="en-US" dirty="0"/>
          </a:p>
        </p:txBody>
      </p:sp>
      <p:sp>
        <p:nvSpPr>
          <p:cNvPr id="8" name="TextBox 7"/>
          <p:cNvSpPr txBox="1"/>
          <p:nvPr/>
        </p:nvSpPr>
        <p:spPr>
          <a:xfrm>
            <a:off x="533400" y="4648200"/>
            <a:ext cx="8001000" cy="461665"/>
          </a:xfrm>
          <a:prstGeom prst="rect">
            <a:avLst/>
          </a:prstGeom>
          <a:noFill/>
        </p:spPr>
        <p:txBody>
          <a:bodyPr wrap="square" rtlCol="0">
            <a:spAutoFit/>
          </a:bodyPr>
          <a:lstStyle/>
          <a:p>
            <a:r>
              <a:rPr lang="en-US" sz="24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t>Security Is the Major Challenge</a:t>
            </a:r>
          </a:p>
        </p:txBody>
      </p:sp>
      <p:pic>
        <p:nvPicPr>
          <p:cNvPr id="12291" name="Content Placeholder 3" descr="it_cloud_services_challenges.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2982" y="1295399"/>
            <a:ext cx="8653818" cy="5507933"/>
          </a:xfrm>
        </p:spPr>
      </p:pic>
    </p:spTree>
    <p:extLst>
      <p:ext uri="{BB962C8B-B14F-4D97-AF65-F5344CB8AC3E}">
        <p14:creationId xmlns:p14="http://schemas.microsoft.com/office/powerpoint/2010/main" val="2532851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Global Cloud Security Market by End-User Segmentation</a:t>
            </a: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t>Dangers and Vulnerabilities</a:t>
            </a:r>
          </a:p>
        </p:txBody>
      </p:sp>
      <p:sp>
        <p:nvSpPr>
          <p:cNvPr id="3" name="Content Placeholder 2"/>
          <p:cNvSpPr>
            <a:spLocks noGrp="1"/>
          </p:cNvSpPr>
          <p:nvPr>
            <p:ph idx="1"/>
          </p:nvPr>
        </p:nvSpPr>
        <p:spPr/>
        <p:txBody>
          <a:bodyPr rtlCol="0">
            <a:normAutofit fontScale="55000" lnSpcReduction="20000"/>
          </a:bodyPr>
          <a:lstStyle/>
          <a:p>
            <a:pPr marL="274320" indent="-274320" fontAlgn="auto">
              <a:spcBef>
                <a:spcPts val="580"/>
              </a:spcBef>
              <a:spcAft>
                <a:spcPts val="0"/>
              </a:spcAft>
              <a:buClr>
                <a:schemeClr val="accent3"/>
              </a:buClr>
              <a:buFont typeface="Arial" pitchFamily="34" charset="0"/>
              <a:buNone/>
              <a:defRPr/>
            </a:pPr>
            <a:r>
              <a:rPr lang="en-US" dirty="0"/>
              <a:t>Security is to save data and program from danger and vulnerability</a:t>
            </a:r>
          </a:p>
          <a:p>
            <a:pPr marL="274320" indent="-274320" fontAlgn="auto">
              <a:spcBef>
                <a:spcPts val="580"/>
              </a:spcBef>
              <a:spcAft>
                <a:spcPts val="0"/>
              </a:spcAft>
              <a:buClr>
                <a:schemeClr val="accent3"/>
              </a:buClr>
              <a:buFont typeface="Arial" pitchFamily="34" charset="0"/>
              <a:buNone/>
              <a:defRPr/>
            </a:pPr>
            <a:endParaRPr lang="en-US" b="1" dirty="0"/>
          </a:p>
          <a:p>
            <a:pPr marL="274320" indent="-274320" fontAlgn="auto">
              <a:spcBef>
                <a:spcPts val="580"/>
              </a:spcBef>
              <a:spcAft>
                <a:spcPts val="0"/>
              </a:spcAft>
              <a:buClr>
                <a:schemeClr val="accent3"/>
              </a:buClr>
              <a:buFont typeface="Arial" pitchFamily="34" charset="0"/>
              <a:buNone/>
              <a:defRPr/>
            </a:pPr>
            <a:r>
              <a:rPr lang="en-US" b="1" dirty="0"/>
              <a:t>Dangers</a:t>
            </a:r>
            <a:endParaRPr lang="en-US" dirty="0"/>
          </a:p>
          <a:p>
            <a:pPr marL="274320" indent="-274320" fontAlgn="auto">
              <a:spcBef>
                <a:spcPts val="580"/>
              </a:spcBef>
              <a:spcAft>
                <a:spcPts val="0"/>
              </a:spcAft>
              <a:buClr>
                <a:schemeClr val="accent3"/>
              </a:buClr>
              <a:buFont typeface="Arial" pitchFamily="34" charset="0"/>
              <a:buNone/>
              <a:defRPr/>
            </a:pPr>
            <a:r>
              <a:rPr lang="en-US" dirty="0"/>
              <a:t> </a:t>
            </a:r>
          </a:p>
          <a:p>
            <a:pPr marL="274320" indent="-274320" fontAlgn="auto">
              <a:spcBef>
                <a:spcPts val="580"/>
              </a:spcBef>
              <a:spcAft>
                <a:spcPts val="0"/>
              </a:spcAft>
              <a:buClr>
                <a:schemeClr val="accent3"/>
              </a:buClr>
              <a:buFont typeface="Arial" pitchFamily="34" charset="0"/>
              <a:buChar char="•"/>
              <a:defRPr/>
            </a:pPr>
            <a:r>
              <a:rPr lang="en-US" dirty="0"/>
              <a:t>Disrupts Services.</a:t>
            </a:r>
          </a:p>
          <a:p>
            <a:pPr marL="274320" indent="-274320" fontAlgn="auto">
              <a:spcBef>
                <a:spcPts val="580"/>
              </a:spcBef>
              <a:spcAft>
                <a:spcPts val="0"/>
              </a:spcAft>
              <a:buClr>
                <a:schemeClr val="accent3"/>
              </a:buClr>
              <a:buFont typeface="Arial" pitchFamily="34" charset="0"/>
              <a:buChar char="•"/>
              <a:defRPr/>
            </a:pPr>
            <a:r>
              <a:rPr lang="en-US" dirty="0"/>
              <a:t>Theft of Information.</a:t>
            </a:r>
          </a:p>
          <a:p>
            <a:pPr marL="274320" indent="-274320" fontAlgn="auto">
              <a:spcBef>
                <a:spcPts val="580"/>
              </a:spcBef>
              <a:spcAft>
                <a:spcPts val="0"/>
              </a:spcAft>
              <a:buClr>
                <a:schemeClr val="accent3"/>
              </a:buClr>
              <a:buFont typeface="Arial" pitchFamily="34" charset="0"/>
              <a:buChar char="•"/>
              <a:defRPr/>
            </a:pPr>
            <a:r>
              <a:rPr lang="en-US" dirty="0"/>
              <a:t>Loss of Privacy.</a:t>
            </a:r>
          </a:p>
          <a:p>
            <a:pPr marL="274320" indent="-274320" fontAlgn="auto">
              <a:spcBef>
                <a:spcPts val="580"/>
              </a:spcBef>
              <a:spcAft>
                <a:spcPts val="0"/>
              </a:spcAft>
              <a:buClr>
                <a:schemeClr val="accent3"/>
              </a:buClr>
              <a:buFont typeface="Arial" pitchFamily="34" charset="0"/>
              <a:buChar char="•"/>
              <a:defRPr/>
            </a:pPr>
            <a:r>
              <a:rPr lang="en-US" dirty="0"/>
              <a:t>Damage information.</a:t>
            </a:r>
          </a:p>
          <a:p>
            <a:pPr marL="274320" indent="-274320" fontAlgn="auto">
              <a:spcBef>
                <a:spcPts val="580"/>
              </a:spcBef>
              <a:spcAft>
                <a:spcPts val="0"/>
              </a:spcAft>
              <a:buClr>
                <a:schemeClr val="accent3"/>
              </a:buClr>
              <a:buFont typeface="Arial" pitchFamily="34" charset="0"/>
              <a:buNone/>
              <a:defRPr/>
            </a:pPr>
            <a:r>
              <a:rPr lang="en-US" dirty="0"/>
              <a:t> </a:t>
            </a:r>
          </a:p>
          <a:p>
            <a:pPr marL="274320" indent="-274320" fontAlgn="auto">
              <a:spcBef>
                <a:spcPts val="580"/>
              </a:spcBef>
              <a:spcAft>
                <a:spcPts val="0"/>
              </a:spcAft>
              <a:buClr>
                <a:schemeClr val="accent3"/>
              </a:buClr>
              <a:buFont typeface="Arial" pitchFamily="34" charset="0"/>
              <a:buNone/>
              <a:defRPr/>
            </a:pPr>
            <a:r>
              <a:rPr lang="en-US" b="1" dirty="0"/>
              <a:t>Vulnerabilities</a:t>
            </a:r>
            <a:endParaRPr lang="en-US" dirty="0"/>
          </a:p>
          <a:p>
            <a:pPr marL="274320" indent="-274320" fontAlgn="auto">
              <a:spcBef>
                <a:spcPts val="580"/>
              </a:spcBef>
              <a:spcAft>
                <a:spcPts val="0"/>
              </a:spcAft>
              <a:buClr>
                <a:schemeClr val="accent3"/>
              </a:buClr>
              <a:buFont typeface="Arial" pitchFamily="34" charset="0"/>
              <a:buNone/>
              <a:defRPr/>
            </a:pPr>
            <a:r>
              <a:rPr lang="en-US" b="1" dirty="0"/>
              <a:t> </a:t>
            </a:r>
            <a:endParaRPr lang="en-US" dirty="0"/>
          </a:p>
          <a:p>
            <a:pPr marL="274320" indent="-274320" fontAlgn="auto">
              <a:spcBef>
                <a:spcPts val="580"/>
              </a:spcBef>
              <a:spcAft>
                <a:spcPts val="0"/>
              </a:spcAft>
              <a:buClr>
                <a:schemeClr val="accent3"/>
              </a:buClr>
              <a:buFont typeface="Arial" pitchFamily="34" charset="0"/>
              <a:buChar char="•"/>
              <a:defRPr/>
            </a:pPr>
            <a:r>
              <a:rPr lang="en-US" dirty="0"/>
              <a:t>Hostile Program.</a:t>
            </a:r>
          </a:p>
          <a:p>
            <a:pPr marL="274320" indent="-274320" fontAlgn="auto">
              <a:spcBef>
                <a:spcPts val="580"/>
              </a:spcBef>
              <a:spcAft>
                <a:spcPts val="0"/>
              </a:spcAft>
              <a:buClr>
                <a:schemeClr val="accent3"/>
              </a:buClr>
              <a:buFont typeface="Arial" pitchFamily="34" charset="0"/>
              <a:buChar char="•"/>
              <a:defRPr/>
            </a:pPr>
            <a:r>
              <a:rPr lang="en-US" dirty="0"/>
              <a:t>Hostile people giving instructions to good programs.</a:t>
            </a:r>
          </a:p>
          <a:p>
            <a:pPr marL="274320" indent="-274320" fontAlgn="auto">
              <a:spcBef>
                <a:spcPts val="580"/>
              </a:spcBef>
              <a:spcAft>
                <a:spcPts val="0"/>
              </a:spcAft>
              <a:buClr>
                <a:schemeClr val="accent3"/>
              </a:buClr>
              <a:buFont typeface="Arial" pitchFamily="34" charset="0"/>
              <a:buChar char="•"/>
              <a:defRPr/>
            </a:pPr>
            <a:r>
              <a:rPr lang="en-US" dirty="0"/>
              <a:t>Bad guys corrupting or eavesdropping on communications</a:t>
            </a:r>
            <a:br>
              <a:rPr lang="en-US" dirty="0"/>
            </a:br>
            <a:endParaRPr lang="en-US" dirty="0"/>
          </a:p>
          <a:p>
            <a:pPr marL="274320" indent="-274320" fontAlgn="auto">
              <a:spcBef>
                <a:spcPts val="580"/>
              </a:spcBef>
              <a:spcAft>
                <a:spcPts val="0"/>
              </a:spcAft>
              <a:buClr>
                <a:schemeClr val="accent3"/>
              </a:buClr>
              <a:buFont typeface="Arial" pitchFamily="34" charset="0"/>
              <a:buChar char="•"/>
              <a:defRPr/>
            </a:pPr>
            <a:endParaRPr lang="en-US" dirty="0"/>
          </a:p>
        </p:txBody>
      </p:sp>
    </p:spTree>
    <p:extLst>
      <p:ext uri="{BB962C8B-B14F-4D97-AF65-F5344CB8AC3E}">
        <p14:creationId xmlns:p14="http://schemas.microsoft.com/office/powerpoint/2010/main" val="3127353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b="1" dirty="0"/>
              <a:t>Common Security Requirements</a:t>
            </a:r>
            <a:br>
              <a:rPr lang="en-US" dirty="0"/>
            </a:br>
            <a:endParaRPr lang="en-US" dirty="0"/>
          </a:p>
        </p:txBody>
      </p:sp>
      <p:sp>
        <p:nvSpPr>
          <p:cNvPr id="14339" name="Content Placeholder 2"/>
          <p:cNvSpPr>
            <a:spLocks noGrp="1"/>
          </p:cNvSpPr>
          <p:nvPr>
            <p:ph idx="1"/>
          </p:nvPr>
        </p:nvSpPr>
        <p:spPr/>
        <p:txBody>
          <a:bodyPr/>
          <a:lstStyle/>
          <a:p>
            <a:pPr marL="0" indent="0">
              <a:buNone/>
            </a:pPr>
            <a:endParaRPr lang="en-US" dirty="0">
              <a:latin typeface="Times New Roman" panose="02020603050405020304" pitchFamily="18" charset="0"/>
              <a:cs typeface="Times New Roman" panose="02020603050405020304" pitchFamily="18" charset="0"/>
            </a:endParaRPr>
          </a:p>
        </p:txBody>
      </p:sp>
      <p:pic>
        <p:nvPicPr>
          <p:cNvPr id="1434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93" y="1066800"/>
            <a:ext cx="9179993"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2036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gn="ctr">
              <a:buNone/>
            </a:pPr>
            <a:r>
              <a:rPr lang="en-US" sz="3600" dirty="0">
                <a:solidFill>
                  <a:srgbClr val="0099FF"/>
                </a:solidFill>
                <a:latin typeface="AR DESTINE" pitchFamily="2" charset="0"/>
              </a:rPr>
              <a:t>SECURITY AND PRIVACY ISSUES</a:t>
            </a:r>
          </a:p>
          <a:p>
            <a:pPr>
              <a:buNone/>
            </a:pPr>
            <a:endParaRPr lang="en-US" dirty="0"/>
          </a:p>
          <a:p>
            <a:pPr>
              <a:buNone/>
            </a:pPr>
            <a:r>
              <a:rPr lang="en-US" sz="2800" dirty="0">
                <a:solidFill>
                  <a:srgbClr val="C00000"/>
                </a:solidFill>
                <a:latin typeface="AR DESTINE" pitchFamily="2" charset="0"/>
              </a:rPr>
              <a:t>Concerns of security issues:</a:t>
            </a:r>
          </a:p>
          <a:p>
            <a:pPr>
              <a:buNone/>
            </a:pPr>
            <a:endParaRPr lang="en-US" sz="2800" dirty="0">
              <a:solidFill>
                <a:srgbClr val="C00000"/>
              </a:solidFill>
              <a:latin typeface="AR DESTINE" pitchFamily="2" charset="0"/>
            </a:endParaRPr>
          </a:p>
          <a:p>
            <a:pPr marL="514350" indent="-514350">
              <a:buClr>
                <a:srgbClr val="C00000"/>
              </a:buClr>
              <a:buFont typeface="Calibri" pitchFamily="34" charset="0"/>
              <a:buChar char="‼"/>
            </a:pPr>
            <a:r>
              <a:rPr lang="en-US" sz="2800" dirty="0"/>
              <a:t>Availability :</a:t>
            </a:r>
          </a:p>
          <a:p>
            <a:pPr marL="514350" indent="-514350">
              <a:buNone/>
            </a:pPr>
            <a:r>
              <a:rPr lang="en-US" sz="2800" dirty="0"/>
              <a:t>      It is to ensure its users can use them at any time, at any place.</a:t>
            </a:r>
          </a:p>
          <a:p>
            <a:pPr marL="514350" indent="-514350">
              <a:buClr>
                <a:srgbClr val="C00000"/>
              </a:buClr>
              <a:buFont typeface="Calibri" pitchFamily="34" charset="0"/>
              <a:buChar char="‼"/>
            </a:pPr>
            <a:r>
              <a:rPr lang="en-US" sz="2800" dirty="0"/>
              <a:t>Confidentiality :</a:t>
            </a:r>
          </a:p>
          <a:p>
            <a:pPr marL="514350" indent="-514350">
              <a:buNone/>
            </a:pPr>
            <a:r>
              <a:rPr lang="en-US" sz="2800" dirty="0"/>
              <a:t>     It means keeping users’ data secret in the cloud systems.</a:t>
            </a:r>
          </a:p>
          <a:p>
            <a:pPr marL="514350" indent="-514350">
              <a:buClr>
                <a:srgbClr val="C00000"/>
              </a:buClr>
              <a:buFont typeface="Calibri" pitchFamily="34" charset="0"/>
              <a:buChar char="‼"/>
            </a:pPr>
            <a:r>
              <a:rPr lang="en-US" sz="2800" dirty="0"/>
              <a:t>Data integrity :</a:t>
            </a:r>
          </a:p>
          <a:p>
            <a:pPr marL="514350" indent="-514350">
              <a:buNone/>
            </a:pPr>
            <a:r>
              <a:rPr lang="en-US" sz="2800" dirty="0"/>
              <a:t>     It means to preserve information integrity (i.e., not lost or modified by unauthorized users).</a:t>
            </a:r>
            <a:endParaRPr lang="en-US" baseline="30000" dirty="0">
              <a:solidFill>
                <a:srgbClr val="0099FF"/>
              </a:solidFill>
            </a:endParaRPr>
          </a:p>
          <a:p>
            <a:pPr marL="514350" indent="-514350">
              <a:buNone/>
            </a:pPr>
            <a:endParaRPr lang="en-US" dirty="0"/>
          </a:p>
        </p:txBody>
      </p:sp>
    </p:spTree>
    <p:extLst>
      <p:ext uri="{BB962C8B-B14F-4D97-AF65-F5344CB8AC3E}">
        <p14:creationId xmlns:p14="http://schemas.microsoft.com/office/powerpoint/2010/main" val="918512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nSpc>
                <a:spcPct val="150000"/>
              </a:lnSpc>
              <a:buClr>
                <a:srgbClr val="C00000"/>
              </a:buClr>
              <a:buFont typeface="Calibri" pitchFamily="34" charset="0"/>
              <a:buChar char="‼"/>
            </a:pPr>
            <a:r>
              <a:rPr lang="en-US" sz="2800" dirty="0"/>
              <a:t>Control :</a:t>
            </a:r>
          </a:p>
          <a:p>
            <a:pPr>
              <a:lnSpc>
                <a:spcPct val="150000"/>
              </a:lnSpc>
              <a:buNone/>
            </a:pPr>
            <a:r>
              <a:rPr lang="en-US" sz="2800" dirty="0"/>
              <a:t>    It means to regulate the use of the system, including  the applications, its infrastructure and the data.</a:t>
            </a:r>
          </a:p>
          <a:p>
            <a:pPr>
              <a:lnSpc>
                <a:spcPct val="150000"/>
              </a:lnSpc>
              <a:buNone/>
            </a:pPr>
            <a:endParaRPr lang="en-US" sz="2800" dirty="0"/>
          </a:p>
          <a:p>
            <a:pPr>
              <a:lnSpc>
                <a:spcPct val="150000"/>
              </a:lnSpc>
              <a:buClr>
                <a:srgbClr val="C00000"/>
              </a:buClr>
              <a:buFont typeface="Calibri" pitchFamily="34" charset="0"/>
              <a:buChar char="‼"/>
            </a:pPr>
            <a:r>
              <a:rPr lang="en-US" sz="2800" dirty="0"/>
              <a:t>Audit :</a:t>
            </a:r>
          </a:p>
          <a:p>
            <a:pPr>
              <a:lnSpc>
                <a:spcPct val="150000"/>
              </a:lnSpc>
              <a:buNone/>
            </a:pPr>
            <a:r>
              <a:rPr lang="en-US" sz="2800" dirty="0"/>
              <a:t>    It means to watch what happened in the cloud system, could be added virtualized application environment hosted on the virtual machine to provide facilities watching what happened in the system. </a:t>
            </a:r>
            <a:r>
              <a:rPr lang="en-US" baseline="30000" dirty="0">
                <a:solidFill>
                  <a:srgbClr val="0099FF"/>
                </a:solidFill>
              </a:rPr>
              <a:t>[3]</a:t>
            </a:r>
            <a:endParaRPr lang="en-US" sz="2800" baseline="30000" dirty="0">
              <a:solidFill>
                <a:srgbClr val="0099FF"/>
              </a:solidFill>
            </a:endParaRPr>
          </a:p>
          <a:p>
            <a:pPr>
              <a:buNone/>
            </a:pPr>
            <a:endParaRPr lang="en-US" dirty="0"/>
          </a:p>
        </p:txBody>
      </p:sp>
    </p:spTree>
    <p:extLst>
      <p:ext uri="{BB962C8B-B14F-4D97-AF65-F5344CB8AC3E}">
        <p14:creationId xmlns:p14="http://schemas.microsoft.com/office/powerpoint/2010/main" val="1807080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92500" lnSpcReduction="20000"/>
          </a:bodyPr>
          <a:lstStyle/>
          <a:p>
            <a:r>
              <a:rPr lang="en-IN" sz="3900" b="1" dirty="0">
                <a:solidFill>
                  <a:srgbClr val="0099FF"/>
                </a:solidFill>
                <a:latin typeface="AR DESTINE" pitchFamily="2" charset="0"/>
                <a:cs typeface="Times New Roman" pitchFamily="18" charset="0"/>
              </a:rPr>
              <a:t>THREATS TO CLOUD COMPUTING</a:t>
            </a:r>
          </a:p>
          <a:p>
            <a:endParaRPr lang="en-IN" sz="2000" b="1" u="sng" dirty="0">
              <a:solidFill>
                <a:schemeClr val="tx1"/>
              </a:solidFill>
            </a:endParaRPr>
          </a:p>
          <a:p>
            <a:pPr algn="l"/>
            <a:endParaRPr lang="en-IN" sz="2400" b="1" u="sng" dirty="0">
              <a:solidFill>
                <a:schemeClr val="tx1"/>
              </a:solidFill>
            </a:endParaRPr>
          </a:p>
          <a:p>
            <a:pPr algn="l"/>
            <a:r>
              <a:rPr lang="en-US" sz="2800" dirty="0">
                <a:solidFill>
                  <a:srgbClr val="C00000"/>
                </a:solidFill>
                <a:latin typeface="AR DESTINE" pitchFamily="2" charset="0"/>
                <a:cs typeface="Times New Roman" pitchFamily="18" charset="0"/>
              </a:rPr>
              <a:t>Data Breaches :</a:t>
            </a:r>
          </a:p>
          <a:p>
            <a:pPr algn="l"/>
            <a:r>
              <a:rPr lang="en-US" sz="2800" dirty="0">
                <a:solidFill>
                  <a:schemeClr val="tx1"/>
                </a:solidFill>
                <a:cs typeface="Times New Roman" pitchFamily="18" charset="0"/>
              </a:rPr>
              <a:t>In cloud computing, the virtual machines (VMs) are residing in the same physical host and when one VM is able to access information from another VM, data breach occurs.</a:t>
            </a:r>
          </a:p>
          <a:p>
            <a:pPr algn="l"/>
            <a:endParaRPr lang="en-IN" sz="2800" dirty="0">
              <a:solidFill>
                <a:schemeClr val="tx2">
                  <a:lumMod val="50000"/>
                </a:schemeClr>
              </a:solidFill>
              <a:cs typeface="Times New Roman" pitchFamily="18" charset="0"/>
            </a:endParaRPr>
          </a:p>
          <a:p>
            <a:pPr algn="l"/>
            <a:r>
              <a:rPr lang="en-US" sz="2800" dirty="0">
                <a:solidFill>
                  <a:srgbClr val="C00000"/>
                </a:solidFill>
                <a:latin typeface="AR DESTINE" pitchFamily="2" charset="0"/>
                <a:cs typeface="Times New Roman" pitchFamily="18" charset="0"/>
              </a:rPr>
              <a:t>Data Loss :</a:t>
            </a:r>
          </a:p>
          <a:p>
            <a:pPr algn="l"/>
            <a:r>
              <a:rPr lang="en-US" sz="2800" dirty="0">
                <a:solidFill>
                  <a:schemeClr val="tx1"/>
                </a:solidFill>
                <a:cs typeface="Times New Roman" pitchFamily="18" charset="0"/>
              </a:rPr>
              <a:t>The things leading to permanent loss of data include malicious attacker, hard drive failure, fire or earthquake. Some of these reasons could be due to the service providers fault.</a:t>
            </a:r>
          </a:p>
          <a:p>
            <a:pPr algn="l"/>
            <a:endParaRPr lang="en-US" sz="2800" dirty="0">
              <a:solidFill>
                <a:schemeClr val="tx2">
                  <a:lumMod val="50000"/>
                </a:schemeClr>
              </a:solidFill>
              <a:cs typeface="Times New Roman" pitchFamily="18" charset="0"/>
            </a:endParaRPr>
          </a:p>
          <a:p>
            <a:pPr algn="l"/>
            <a:r>
              <a:rPr lang="en-US" sz="2800" dirty="0">
                <a:solidFill>
                  <a:srgbClr val="C00000"/>
                </a:solidFill>
                <a:latin typeface="AR DESTINE" pitchFamily="2" charset="0"/>
                <a:cs typeface="Times New Roman" pitchFamily="18" charset="0"/>
              </a:rPr>
              <a:t>Account Hijacking :</a:t>
            </a:r>
          </a:p>
          <a:p>
            <a:pPr algn="l"/>
            <a:r>
              <a:rPr lang="en-US" sz="2800" dirty="0">
                <a:solidFill>
                  <a:schemeClr val="tx1"/>
                </a:solidFill>
                <a:cs typeface="Times New Roman" pitchFamily="18" charset="0"/>
              </a:rPr>
              <a:t>Account hijacking  uses attack methods such as  fraud ,exploitation etc of software    vulnerabilities where credentials and passwords are reused.</a:t>
            </a:r>
          </a:p>
          <a:p>
            <a:pPr algn="l"/>
            <a:endParaRPr lang="en-US" sz="2000" b="1" dirty="0">
              <a:solidFill>
                <a:schemeClr val="tx1"/>
              </a:solidFill>
            </a:endParaRPr>
          </a:p>
          <a:p>
            <a:pPr algn="l"/>
            <a:endParaRPr lang="en-US" sz="2000" b="1" dirty="0">
              <a:solidFill>
                <a:schemeClr val="tx1"/>
              </a:solidFill>
            </a:endParaRPr>
          </a:p>
          <a:p>
            <a:pPr algn="l"/>
            <a:endParaRPr lang="en-US" sz="2000" b="1" dirty="0">
              <a:solidFill>
                <a:schemeClr val="tx1"/>
              </a:solidFill>
            </a:endParaRPr>
          </a:p>
        </p:txBody>
      </p:sp>
    </p:spTree>
    <p:extLst>
      <p:ext uri="{BB962C8B-B14F-4D97-AF65-F5344CB8AC3E}">
        <p14:creationId xmlns:p14="http://schemas.microsoft.com/office/powerpoint/2010/main" val="1428117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lnSpcReduction="10000"/>
          </a:bodyPr>
          <a:lstStyle/>
          <a:p>
            <a:pPr algn="l"/>
            <a:endParaRPr lang="en-US" sz="2400" dirty="0">
              <a:solidFill>
                <a:schemeClr val="tx2">
                  <a:lumMod val="50000"/>
                </a:schemeClr>
              </a:solidFill>
            </a:endParaRPr>
          </a:p>
          <a:p>
            <a:pPr algn="l"/>
            <a:r>
              <a:rPr lang="en-US" sz="2600" dirty="0">
                <a:solidFill>
                  <a:srgbClr val="C00000"/>
                </a:solidFill>
                <a:latin typeface="AR DESTINE" pitchFamily="2" charset="0"/>
              </a:rPr>
              <a:t>Denial-of-Service :</a:t>
            </a:r>
          </a:p>
          <a:p>
            <a:pPr algn="l"/>
            <a:r>
              <a:rPr lang="en-US" sz="2600" dirty="0">
                <a:solidFill>
                  <a:schemeClr val="tx1"/>
                </a:solidFill>
              </a:rPr>
              <a:t>This  attack attempts to make the system or network resources unavailable to the users from accessing their data and applications from cloud.</a:t>
            </a:r>
          </a:p>
          <a:p>
            <a:pPr algn="l"/>
            <a:endParaRPr lang="en-US" sz="2600" dirty="0">
              <a:solidFill>
                <a:schemeClr val="tx1"/>
              </a:solidFill>
            </a:endParaRPr>
          </a:p>
          <a:p>
            <a:pPr algn="l"/>
            <a:r>
              <a:rPr lang="en-US" sz="2600" dirty="0">
                <a:solidFill>
                  <a:srgbClr val="C00000"/>
                </a:solidFill>
                <a:latin typeface="AR DESTINE" pitchFamily="2" charset="0"/>
              </a:rPr>
              <a:t>Abuse of Cloud Service :</a:t>
            </a:r>
          </a:p>
          <a:p>
            <a:pPr algn="l"/>
            <a:r>
              <a:rPr lang="en-US" sz="2600" dirty="0">
                <a:solidFill>
                  <a:schemeClr val="tx1"/>
                </a:solidFill>
              </a:rPr>
              <a:t>The main concern is for the CSVs rather than cloud service clients since the users will be trying to hack the system to gain access to confidential data.</a:t>
            </a:r>
          </a:p>
          <a:p>
            <a:pPr algn="l"/>
            <a:endParaRPr lang="en-US" sz="2600" dirty="0">
              <a:solidFill>
                <a:schemeClr val="tx1"/>
              </a:solidFill>
            </a:endParaRPr>
          </a:p>
          <a:p>
            <a:pPr algn="l"/>
            <a:r>
              <a:rPr lang="en-US" sz="2600" dirty="0">
                <a:solidFill>
                  <a:srgbClr val="C00000"/>
                </a:solidFill>
                <a:latin typeface="AR DESTINE" pitchFamily="2" charset="0"/>
              </a:rPr>
              <a:t>Malicious Insiders :</a:t>
            </a:r>
          </a:p>
          <a:p>
            <a:pPr algn="l"/>
            <a:r>
              <a:rPr lang="en-US" sz="2600" dirty="0">
                <a:solidFill>
                  <a:schemeClr val="tx1"/>
                </a:solidFill>
              </a:rPr>
              <a:t>The employees who are working for cloud service providers such as the system administrator will have complete access to the confidential resources. Their access can be a big threat to customers to view confidential data. </a:t>
            </a:r>
            <a:r>
              <a:rPr lang="en-US" baseline="30000" dirty="0">
                <a:solidFill>
                  <a:srgbClr val="0099FF"/>
                </a:solidFill>
              </a:rPr>
              <a:t>[11]</a:t>
            </a:r>
            <a:endParaRPr lang="en-US" sz="2600" baseline="30000" dirty="0">
              <a:solidFill>
                <a:srgbClr val="0099FF"/>
              </a:solidFill>
            </a:endParaRPr>
          </a:p>
          <a:p>
            <a:pPr algn="l"/>
            <a:endParaRPr lang="en-US" sz="2600" dirty="0">
              <a:solidFill>
                <a:schemeClr val="tx1"/>
              </a:solidFill>
            </a:endParaRPr>
          </a:p>
          <a:p>
            <a:pPr algn="l"/>
            <a:endParaRPr lang="en-US" sz="2400" dirty="0">
              <a:solidFill>
                <a:schemeClr val="tx1"/>
              </a:solidFill>
            </a:endParaRPr>
          </a:p>
        </p:txBody>
      </p:sp>
    </p:spTree>
    <p:extLst>
      <p:ext uri="{BB962C8B-B14F-4D97-AF65-F5344CB8AC3E}">
        <p14:creationId xmlns:p14="http://schemas.microsoft.com/office/powerpoint/2010/main" val="640463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ctr">
              <a:buNone/>
            </a:pPr>
            <a:r>
              <a:rPr lang="en-US" dirty="0"/>
              <a:t>WHY DO WE NEED </a:t>
            </a:r>
            <a:r>
              <a:rPr lang="en-US" b="1" dirty="0">
                <a:solidFill>
                  <a:schemeClr val="accent2">
                    <a:lumMod val="50000"/>
                  </a:schemeClr>
                </a:solidFill>
              </a:rPr>
              <a:t>CLOUD-SECURITY</a:t>
            </a:r>
            <a:r>
              <a:rPr lang="en-US" b="1" dirty="0"/>
              <a:t> </a:t>
            </a:r>
            <a:r>
              <a:rPr lang="en-US" dirty="0"/>
              <a:t>?</a:t>
            </a:r>
          </a:p>
          <a:p>
            <a:pPr>
              <a:buNone/>
            </a:pPr>
            <a:r>
              <a:rPr lang="en-US" dirty="0"/>
              <a:t> </a:t>
            </a:r>
          </a:p>
          <a:p>
            <a:pPr>
              <a:buNone/>
            </a:pPr>
            <a:r>
              <a:rPr lang="en-US" sz="3000" dirty="0"/>
              <a:t>    </a:t>
            </a:r>
            <a:r>
              <a:rPr lang="en-IN" sz="3000" b="1" i="1" dirty="0"/>
              <a:t>Cloud</a:t>
            </a:r>
            <a:r>
              <a:rPr lang="en-IN" sz="3000" i="1" dirty="0"/>
              <a:t> </a:t>
            </a:r>
            <a:r>
              <a:rPr lang="en-IN" sz="3000" i="1" dirty="0">
                <a:solidFill>
                  <a:schemeClr val="bg2">
                    <a:lumMod val="25000"/>
                  </a:schemeClr>
                </a:solidFill>
              </a:rPr>
              <a:t>adoption is expected to accelerate in the coming years, organizations are still wary of the cloud as the right delivery environment for many business applications. The dominant concern is Security.</a:t>
            </a:r>
            <a:r>
              <a:rPr lang="en-IN" sz="3000" dirty="0">
                <a:solidFill>
                  <a:schemeClr val="bg2">
                    <a:lumMod val="25000"/>
                  </a:schemeClr>
                </a:solidFill>
              </a:rPr>
              <a:t>  </a:t>
            </a:r>
          </a:p>
          <a:p>
            <a:pPr algn="ctr">
              <a:buNone/>
            </a:pPr>
            <a:r>
              <a:rPr lang="en-IN" dirty="0"/>
              <a:t>    Businesses question whether their data is safe in the cloud, and how they can employ an on-demand service while maintaining regulatory and industry compliance.</a:t>
            </a:r>
          </a:p>
          <a:p>
            <a:pPr>
              <a:buNone/>
            </a:pPr>
            <a:r>
              <a:rPr lang="en-IN" dirty="0">
                <a:solidFill>
                  <a:srgbClr val="0099FF"/>
                </a:solidFill>
              </a:rPr>
              <a:t>    </a:t>
            </a:r>
            <a:r>
              <a:rPr lang="en-IN" sz="2800" b="1" dirty="0">
                <a:solidFill>
                  <a:srgbClr val="0099FF"/>
                </a:solidFill>
              </a:rPr>
              <a:t>Organizations are right to balk about going head first into the cloud without some guarantees about protection. </a:t>
            </a:r>
          </a:p>
          <a:p>
            <a:pPr>
              <a:buNone/>
            </a:pPr>
            <a:endParaRPr lang="en-US" dirty="0"/>
          </a:p>
          <a:p>
            <a:pPr algn="ctr">
              <a:buNone/>
            </a:pPr>
            <a:endParaRPr lang="en-US" dirty="0"/>
          </a:p>
        </p:txBody>
      </p:sp>
    </p:spTree>
    <p:extLst>
      <p:ext uri="{BB962C8B-B14F-4D97-AF65-F5344CB8AC3E}">
        <p14:creationId xmlns:p14="http://schemas.microsoft.com/office/powerpoint/2010/main" val="2733037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r>
              <a:rPr lang="en-IN" sz="3600" b="1" dirty="0">
                <a:solidFill>
                  <a:srgbClr val="0099FF"/>
                </a:solidFill>
                <a:latin typeface="AR DESTINE" pitchFamily="2" charset="0"/>
                <a:cs typeface="Times New Roman" pitchFamily="18" charset="0"/>
              </a:rPr>
              <a:t>SECURITY  MEASURES  OF  CLOUD</a:t>
            </a:r>
          </a:p>
          <a:p>
            <a:pPr algn="l"/>
            <a:endParaRPr lang="en-US" sz="2400" b="1" u="sng" dirty="0">
              <a:solidFill>
                <a:schemeClr val="tx1"/>
              </a:solidFill>
              <a:latin typeface="Times New Roman" pitchFamily="18" charset="0"/>
              <a:cs typeface="Times New Roman" pitchFamily="18" charset="0"/>
            </a:endParaRPr>
          </a:p>
          <a:p>
            <a:pPr algn="l">
              <a:lnSpc>
                <a:spcPct val="150000"/>
              </a:lnSpc>
              <a:buClr>
                <a:srgbClr val="0099FF"/>
              </a:buClr>
              <a:buFont typeface="Wingdings" pitchFamily="2" charset="2"/>
              <a:buChar char="ü"/>
            </a:pPr>
            <a:r>
              <a:rPr lang="en-US" sz="2800" b="1" dirty="0">
                <a:solidFill>
                  <a:schemeClr val="accent1">
                    <a:lumMod val="50000"/>
                  </a:schemeClr>
                </a:solidFill>
                <a:latin typeface="Times New Roman" pitchFamily="18" charset="0"/>
                <a:cs typeface="Times New Roman" pitchFamily="18" charset="0"/>
              </a:rPr>
              <a:t> </a:t>
            </a:r>
            <a:r>
              <a:rPr lang="en-US" sz="2800" dirty="0">
                <a:solidFill>
                  <a:schemeClr val="tx1"/>
                </a:solidFill>
                <a:cs typeface="Times New Roman" pitchFamily="18" charset="0"/>
              </a:rPr>
              <a:t>U</a:t>
            </a:r>
            <a:r>
              <a:rPr lang="en-US" dirty="0">
                <a:solidFill>
                  <a:schemeClr val="tx1"/>
                </a:solidFill>
                <a:cs typeface="Times New Roman" pitchFamily="18" charset="0"/>
              </a:rPr>
              <a:t>ser control.</a:t>
            </a:r>
          </a:p>
          <a:p>
            <a:pPr algn="l">
              <a:lnSpc>
                <a:spcPct val="150000"/>
              </a:lnSpc>
              <a:buClr>
                <a:srgbClr val="0099FF"/>
              </a:buClr>
            </a:pPr>
            <a:endParaRPr lang="en-US" dirty="0">
              <a:solidFill>
                <a:schemeClr val="tx1"/>
              </a:solidFill>
              <a:cs typeface="Times New Roman" pitchFamily="18" charset="0"/>
            </a:endParaRPr>
          </a:p>
          <a:p>
            <a:pPr algn="l">
              <a:lnSpc>
                <a:spcPct val="150000"/>
              </a:lnSpc>
              <a:buClr>
                <a:srgbClr val="0099FF"/>
              </a:buClr>
              <a:buFont typeface="Wingdings" pitchFamily="2" charset="2"/>
              <a:buChar char="ü"/>
            </a:pPr>
            <a:r>
              <a:rPr lang="en-US" dirty="0">
                <a:solidFill>
                  <a:schemeClr val="tx1"/>
                </a:solidFill>
                <a:cs typeface="Times New Roman" pitchFamily="18" charset="0"/>
              </a:rPr>
              <a:t> Investigative support, investigating inappropriate or illegal activity may be impossible in cloud computing.</a:t>
            </a:r>
          </a:p>
          <a:p>
            <a:pPr algn="l">
              <a:lnSpc>
                <a:spcPct val="150000"/>
              </a:lnSpc>
              <a:buClr>
                <a:srgbClr val="0099FF"/>
              </a:buClr>
            </a:pPr>
            <a:endParaRPr lang="en-US" dirty="0">
              <a:solidFill>
                <a:schemeClr val="tx1"/>
              </a:solidFill>
              <a:cs typeface="Times New Roman" pitchFamily="18" charset="0"/>
            </a:endParaRPr>
          </a:p>
          <a:p>
            <a:pPr algn="l">
              <a:lnSpc>
                <a:spcPct val="150000"/>
              </a:lnSpc>
              <a:buClr>
                <a:srgbClr val="0099FF"/>
              </a:buClr>
              <a:buFont typeface="Wingdings" pitchFamily="2" charset="2"/>
              <a:buChar char="ü"/>
            </a:pPr>
            <a:r>
              <a:rPr lang="en-US" dirty="0">
                <a:solidFill>
                  <a:schemeClr val="tx1"/>
                </a:solidFill>
                <a:cs typeface="Times New Roman" pitchFamily="18" charset="0"/>
              </a:rPr>
              <a:t> Intrusion detection and prevention.</a:t>
            </a:r>
            <a:endParaRPr lang="en-US" b="1" dirty="0">
              <a:solidFill>
                <a:schemeClr val="accent1">
                  <a:lumMod val="50000"/>
                </a:schemeClr>
              </a:solidFill>
              <a:latin typeface="Times New Roman" pitchFamily="18" charset="0"/>
              <a:cs typeface="Times New Roman" pitchFamily="18" charset="0"/>
            </a:endParaRPr>
          </a:p>
          <a:p>
            <a:pPr algn="l"/>
            <a:r>
              <a:rPr lang="en-US" sz="2400" b="1" dirty="0">
                <a:solidFill>
                  <a:schemeClr val="accent1">
                    <a:lumMod val="50000"/>
                  </a:schemeClr>
                </a:solidFill>
                <a:latin typeface="Times New Roman" pitchFamily="18" charset="0"/>
                <a:cs typeface="Times New Roman" pitchFamily="18" charset="0"/>
              </a:rPr>
              <a:t>  </a:t>
            </a:r>
            <a:endParaRPr lang="en-IN" sz="2400" b="1" dirty="0">
              <a:solidFill>
                <a:schemeClr val="accent1">
                  <a:lumMod val="50000"/>
                </a:schemeClr>
              </a:solidFill>
              <a:latin typeface="Times New Roman" pitchFamily="18" charset="0"/>
              <a:cs typeface="Times New Roman" pitchFamily="18" charset="0"/>
            </a:endParaRPr>
          </a:p>
          <a:p>
            <a:pPr algn="l"/>
            <a:endParaRPr lang="en-IN" sz="2400" b="1" u="sng"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645293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lnSpcReduction="10000"/>
          </a:bodyPr>
          <a:lstStyle/>
          <a:p>
            <a:pPr>
              <a:buNone/>
            </a:pPr>
            <a:r>
              <a:rPr lang="en-US" b="1" dirty="0">
                <a:latin typeface="Times New Roman" pitchFamily="18" charset="0"/>
                <a:cs typeface="Times New Roman" pitchFamily="18" charset="0"/>
              </a:rPr>
              <a:t> </a:t>
            </a:r>
          </a:p>
          <a:p>
            <a:pPr>
              <a:lnSpc>
                <a:spcPct val="150000"/>
              </a:lnSpc>
              <a:buClr>
                <a:srgbClr val="0099FF"/>
              </a:buClr>
              <a:buFont typeface="Wingdings" pitchFamily="2" charset="2"/>
              <a:buChar char="ü"/>
            </a:pPr>
            <a:r>
              <a:rPr lang="en-US" dirty="0">
                <a:cs typeface="Times New Roman" pitchFamily="18" charset="0"/>
              </a:rPr>
              <a:t> Misconfiguration takes place, because lack of expertise coupled with insufficient communication.</a:t>
            </a:r>
          </a:p>
          <a:p>
            <a:pPr>
              <a:lnSpc>
                <a:spcPct val="150000"/>
              </a:lnSpc>
              <a:buClr>
                <a:srgbClr val="0099FF"/>
              </a:buClr>
              <a:buNone/>
            </a:pPr>
            <a:endParaRPr lang="en-US" dirty="0">
              <a:cs typeface="Times New Roman" pitchFamily="18" charset="0"/>
            </a:endParaRPr>
          </a:p>
          <a:p>
            <a:pPr>
              <a:lnSpc>
                <a:spcPct val="150000"/>
              </a:lnSpc>
              <a:buClr>
                <a:srgbClr val="0099FF"/>
              </a:buClr>
              <a:buFont typeface="Wingdings" pitchFamily="2" charset="2"/>
              <a:buChar char="ü"/>
            </a:pPr>
            <a:r>
              <a:rPr lang="en-US" dirty="0">
                <a:cs typeface="Times New Roman" pitchFamily="18" charset="0"/>
              </a:rPr>
              <a:t> Threat to access important information is also a major concern which can lead to huge loss of data and can even lead to hacking.</a:t>
            </a:r>
          </a:p>
          <a:p>
            <a:pPr>
              <a:lnSpc>
                <a:spcPct val="150000"/>
              </a:lnSpc>
              <a:buClr>
                <a:srgbClr val="0099FF"/>
              </a:buClr>
              <a:buNone/>
            </a:pPr>
            <a:endParaRPr lang="en-US" dirty="0">
              <a:cs typeface="Times New Roman" pitchFamily="18" charset="0"/>
            </a:endParaRPr>
          </a:p>
          <a:p>
            <a:pPr>
              <a:lnSpc>
                <a:spcPct val="150000"/>
              </a:lnSpc>
              <a:buClr>
                <a:srgbClr val="0099FF"/>
              </a:buClr>
              <a:buFont typeface="Wingdings" pitchFamily="2" charset="2"/>
              <a:buChar char="ü"/>
            </a:pPr>
            <a:r>
              <a:rPr lang="en-US" dirty="0">
                <a:cs typeface="Times New Roman" pitchFamily="18" charset="0"/>
              </a:rPr>
              <a:t> Availability and backup. </a:t>
            </a:r>
            <a:r>
              <a:rPr lang="en-US" baseline="30000" dirty="0">
                <a:solidFill>
                  <a:srgbClr val="0099FF"/>
                </a:solidFill>
                <a:cs typeface="Times New Roman" pitchFamily="18" charset="0"/>
              </a:rPr>
              <a:t>[23]</a:t>
            </a:r>
          </a:p>
          <a:p>
            <a:endParaRPr lang="en-US" dirty="0"/>
          </a:p>
        </p:txBody>
      </p:sp>
    </p:spTree>
    <p:extLst>
      <p:ext uri="{BB962C8B-B14F-4D97-AF65-F5344CB8AC3E}">
        <p14:creationId xmlns:p14="http://schemas.microsoft.com/office/powerpoint/2010/main" val="175539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0" y="0"/>
            <a:ext cx="9144000" cy="646331"/>
          </a:xfrm>
          <a:prstGeom prst="rect">
            <a:avLst/>
          </a:prstGeom>
          <a:noFill/>
        </p:spPr>
        <p:txBody>
          <a:bodyPr wrap="square" rtlCol="0">
            <a:spAutoFit/>
          </a:bodyPr>
          <a:lstStyle/>
          <a:p>
            <a:pPr algn="ctr"/>
            <a:r>
              <a:rPr lang="en-US" sz="3600" b="1" dirty="0">
                <a:solidFill>
                  <a:srgbClr val="0099FF"/>
                </a:solidFill>
                <a:latin typeface="AR DESTINE" pitchFamily="2" charset="0"/>
              </a:rPr>
              <a:t>Four General Server Risks in Cloud</a:t>
            </a:r>
            <a:endParaRPr lang="en-US" sz="3200" baseline="30000" dirty="0">
              <a:solidFill>
                <a:srgbClr val="0099FF"/>
              </a:solidFill>
            </a:endParaRPr>
          </a:p>
        </p:txBody>
      </p:sp>
      <p:pic>
        <p:nvPicPr>
          <p:cNvPr id="6" name="Content Placeholder 5" descr="RM.png"/>
          <p:cNvPicPr>
            <a:picLocks noGrp="1" noChangeAspect="1"/>
          </p:cNvPicPr>
          <p:nvPr>
            <p:ph idx="1"/>
          </p:nvPr>
        </p:nvPicPr>
        <p:blipFill>
          <a:blip r:embed="rId2" cstate="print">
            <a:duotone>
              <a:schemeClr val="accent6">
                <a:shade val="45000"/>
                <a:satMod val="135000"/>
              </a:schemeClr>
              <a:prstClr val="white"/>
            </a:duotone>
          </a:blip>
          <a:stretch>
            <a:fillRect/>
          </a:stretch>
        </p:blipFill>
        <p:spPr>
          <a:xfrm>
            <a:off x="2214546" y="1500174"/>
            <a:ext cx="8592750" cy="4491579"/>
          </a:xfrm>
          <a:prstGeom prst="rect">
            <a:avLst/>
          </a:prstGeom>
          <a:noFill/>
          <a:ln>
            <a:noFill/>
          </a:ln>
        </p:spPr>
      </p:pic>
    </p:spTree>
    <p:extLst>
      <p:ext uri="{BB962C8B-B14F-4D97-AF65-F5344CB8AC3E}">
        <p14:creationId xmlns:p14="http://schemas.microsoft.com/office/powerpoint/2010/main" val="3878169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pPr algn="l">
              <a:lnSpc>
                <a:spcPct val="150000"/>
              </a:lnSpc>
            </a:pPr>
            <a:r>
              <a:rPr lang="en-US" sz="2800" b="1" dirty="0">
                <a:solidFill>
                  <a:srgbClr val="C00000"/>
                </a:solidFill>
                <a:latin typeface="AR DESTINE" pitchFamily="2" charset="0"/>
              </a:rPr>
              <a:t>Denial of Service (</a:t>
            </a:r>
            <a:r>
              <a:rPr lang="en-US" sz="2800" b="1" dirty="0" err="1">
                <a:solidFill>
                  <a:srgbClr val="C00000"/>
                </a:solidFill>
                <a:latin typeface="AR DESTINE" pitchFamily="2" charset="0"/>
              </a:rPr>
              <a:t>DoS</a:t>
            </a:r>
            <a:r>
              <a:rPr lang="en-US" sz="2800" b="1" dirty="0">
                <a:solidFill>
                  <a:srgbClr val="C00000"/>
                </a:solidFill>
                <a:latin typeface="AR DESTINE" pitchFamily="2" charset="0"/>
              </a:rPr>
              <a:t>) :</a:t>
            </a:r>
          </a:p>
          <a:p>
            <a:pPr algn="l">
              <a:lnSpc>
                <a:spcPct val="150000"/>
              </a:lnSpc>
            </a:pPr>
            <a:r>
              <a:rPr lang="en-US" sz="2800" dirty="0">
                <a:solidFill>
                  <a:schemeClr val="tx1">
                    <a:lumMod val="95000"/>
                    <a:lumOff val="5000"/>
                  </a:schemeClr>
                </a:solidFill>
              </a:rPr>
              <a:t>	Being of the latter is obviously always an issue for servers. The added risk to using the cloud is that attacks on other users of the cloud would affect your</a:t>
            </a:r>
          </a:p>
          <a:p>
            <a:pPr algn="l">
              <a:lnSpc>
                <a:spcPct val="150000"/>
              </a:lnSpc>
            </a:pPr>
            <a:r>
              <a:rPr lang="en-US" sz="2800" dirty="0">
                <a:solidFill>
                  <a:schemeClr val="tx1">
                    <a:lumMod val="95000"/>
                    <a:lumOff val="5000"/>
                  </a:schemeClr>
                </a:solidFill>
              </a:rPr>
              <a:t>portion. </a:t>
            </a:r>
          </a:p>
          <a:p>
            <a:pPr algn="l">
              <a:lnSpc>
                <a:spcPct val="150000"/>
              </a:lnSpc>
            </a:pPr>
            <a:endParaRPr lang="en-US" sz="2800" dirty="0">
              <a:solidFill>
                <a:schemeClr val="tx1">
                  <a:lumMod val="95000"/>
                  <a:lumOff val="5000"/>
                </a:schemeClr>
              </a:solidFill>
            </a:endParaRPr>
          </a:p>
          <a:p>
            <a:pPr algn="l">
              <a:lnSpc>
                <a:spcPct val="150000"/>
              </a:lnSpc>
            </a:pPr>
            <a:r>
              <a:rPr lang="en-US" sz="2800" b="1" dirty="0">
                <a:solidFill>
                  <a:srgbClr val="C00000"/>
                </a:solidFill>
                <a:latin typeface="AR DESTINE" pitchFamily="2" charset="0"/>
              </a:rPr>
              <a:t>Data Breaches:</a:t>
            </a:r>
          </a:p>
          <a:p>
            <a:pPr algn="l">
              <a:lnSpc>
                <a:spcPct val="150000"/>
              </a:lnSpc>
            </a:pPr>
            <a:r>
              <a:rPr lang="en-US" sz="2800" dirty="0">
                <a:solidFill>
                  <a:schemeClr val="tx1">
                    <a:lumMod val="95000"/>
                    <a:lumOff val="5000"/>
                  </a:schemeClr>
                </a:solidFill>
              </a:rPr>
              <a:t>	Have greater potential of disaster on the cloud. A single flaw in a cloud service could cause one data breach to extend to a breach of the entire system.</a:t>
            </a:r>
          </a:p>
        </p:txBody>
      </p:sp>
    </p:spTree>
    <p:extLst>
      <p:ext uri="{BB962C8B-B14F-4D97-AF65-F5344CB8AC3E}">
        <p14:creationId xmlns:p14="http://schemas.microsoft.com/office/powerpoint/2010/main" val="4233224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nSpc>
                <a:spcPct val="150000"/>
              </a:lnSpc>
              <a:buNone/>
            </a:pPr>
            <a:r>
              <a:rPr lang="en-US" sz="2800" b="1" dirty="0">
                <a:solidFill>
                  <a:srgbClr val="C00000"/>
                </a:solidFill>
                <a:latin typeface="AR DESTINE" pitchFamily="2" charset="0"/>
              </a:rPr>
              <a:t>Data loss :</a:t>
            </a:r>
          </a:p>
          <a:p>
            <a:pPr>
              <a:lnSpc>
                <a:spcPct val="150000"/>
              </a:lnSpc>
              <a:buNone/>
            </a:pPr>
            <a:r>
              <a:rPr lang="en-US" sz="2800" dirty="0">
                <a:solidFill>
                  <a:schemeClr val="tx1">
                    <a:lumMod val="95000"/>
                    <a:lumOff val="5000"/>
                  </a:schemeClr>
                </a:solidFill>
              </a:rPr>
              <a:t>		It</a:t>
            </a:r>
            <a:r>
              <a:rPr lang="en-US" sz="2800" b="1" dirty="0">
                <a:solidFill>
                  <a:schemeClr val="tx1">
                    <a:lumMod val="95000"/>
                    <a:lumOff val="5000"/>
                  </a:schemeClr>
                </a:solidFill>
              </a:rPr>
              <a:t> </a:t>
            </a:r>
            <a:r>
              <a:rPr lang="en-US" sz="2800" dirty="0">
                <a:solidFill>
                  <a:schemeClr val="tx1">
                    <a:lumMod val="95000"/>
                    <a:lumOff val="5000"/>
                  </a:schemeClr>
                </a:solidFill>
              </a:rPr>
              <a:t>is an issue not unique to the cloud. Power loss is a potential scenario everywhere on Earth and sometimes unavoidable.</a:t>
            </a:r>
            <a:endParaRPr lang="en-US" sz="2800" b="1" dirty="0">
              <a:solidFill>
                <a:srgbClr val="C00000"/>
              </a:solidFill>
              <a:latin typeface="AR DESTINE" pitchFamily="2" charset="0"/>
            </a:endParaRPr>
          </a:p>
          <a:p>
            <a:pPr>
              <a:lnSpc>
                <a:spcPct val="150000"/>
              </a:lnSpc>
              <a:buNone/>
            </a:pPr>
            <a:r>
              <a:rPr lang="en-US" sz="2800" b="1" dirty="0">
                <a:solidFill>
                  <a:srgbClr val="C00000"/>
                </a:solidFill>
                <a:latin typeface="AR DESTINE" pitchFamily="2" charset="0"/>
              </a:rPr>
              <a:t>Data Integrity :</a:t>
            </a:r>
          </a:p>
          <a:p>
            <a:pPr>
              <a:lnSpc>
                <a:spcPct val="150000"/>
              </a:lnSpc>
              <a:buNone/>
            </a:pPr>
            <a:r>
              <a:rPr lang="en-US" sz="2800" b="1" dirty="0">
                <a:solidFill>
                  <a:srgbClr val="C00000"/>
                </a:solidFill>
                <a:latin typeface="AR DESTINE" pitchFamily="2" charset="0"/>
              </a:rPr>
              <a:t>		</a:t>
            </a:r>
            <a:r>
              <a:rPr lang="en-US" sz="2800" dirty="0">
                <a:solidFill>
                  <a:schemeClr val="tx1">
                    <a:lumMod val="95000"/>
                    <a:lumOff val="5000"/>
                  </a:schemeClr>
                </a:solidFill>
              </a:rPr>
              <a:t>The risk of giving other access to your server’s internals and secrets is once again almost unavoidable . Unless you were to buy, setup, and implement your own server in your home you will probably have to trust someone else to help you, thereby risking the data’s integrity. </a:t>
            </a:r>
            <a:r>
              <a:rPr lang="en-US" baseline="30000" dirty="0">
                <a:solidFill>
                  <a:srgbClr val="0099FF"/>
                </a:solidFill>
              </a:rPr>
              <a:t>[4]</a:t>
            </a:r>
            <a:endParaRPr lang="en-US" sz="2800" baseline="30000" dirty="0">
              <a:solidFill>
                <a:srgbClr val="0099FF"/>
              </a:solidFill>
            </a:endParaRPr>
          </a:p>
          <a:p>
            <a:pPr>
              <a:buNone/>
            </a:pPr>
            <a:endParaRPr lang="en-US" dirty="0">
              <a:solidFill>
                <a:schemeClr val="tx1">
                  <a:lumMod val="95000"/>
                  <a:lumOff val="5000"/>
                </a:schemeClr>
              </a:solidFill>
            </a:endParaRPr>
          </a:p>
        </p:txBody>
      </p:sp>
    </p:spTree>
    <p:extLst>
      <p:ext uri="{BB962C8B-B14F-4D97-AF65-F5344CB8AC3E}">
        <p14:creationId xmlns:p14="http://schemas.microsoft.com/office/powerpoint/2010/main" val="2920391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gn="ctr">
              <a:buNone/>
            </a:pPr>
            <a:r>
              <a:rPr lang="en-IN" sz="3600" b="1" dirty="0">
                <a:solidFill>
                  <a:srgbClr val="0099FF"/>
                </a:solidFill>
                <a:latin typeface="AR DESTINE" pitchFamily="2" charset="0"/>
              </a:rPr>
              <a:t>APPLICATIONS OF CLOUD COMPUTING</a:t>
            </a:r>
          </a:p>
          <a:p>
            <a:pPr>
              <a:buNone/>
            </a:pPr>
            <a:endParaRPr lang="en-US" dirty="0"/>
          </a:p>
          <a:p>
            <a:pPr marL="514350" indent="-514350">
              <a:lnSpc>
                <a:spcPct val="150000"/>
              </a:lnSpc>
              <a:buClr>
                <a:srgbClr val="0099FF"/>
              </a:buClr>
              <a:buFont typeface="+mj-lt"/>
              <a:buAutoNum type="arabicParenR"/>
            </a:pPr>
            <a:r>
              <a:rPr lang="en-US" sz="2800" dirty="0"/>
              <a:t>Cloud computing provides dependable and secure data storage center.</a:t>
            </a:r>
          </a:p>
          <a:p>
            <a:pPr marL="514350" indent="-514350">
              <a:lnSpc>
                <a:spcPct val="150000"/>
              </a:lnSpc>
              <a:buClr>
                <a:srgbClr val="0099FF"/>
              </a:buClr>
              <a:buFont typeface="+mj-lt"/>
              <a:buAutoNum type="arabicParenR"/>
            </a:pPr>
            <a:r>
              <a:rPr lang="en-US" sz="2800" dirty="0"/>
              <a:t>Cloud computing can realize data sharing between different equipments.</a:t>
            </a:r>
          </a:p>
          <a:p>
            <a:pPr marL="514350" indent="-514350">
              <a:lnSpc>
                <a:spcPct val="150000"/>
              </a:lnSpc>
              <a:buClr>
                <a:srgbClr val="0099FF"/>
              </a:buClr>
              <a:buFont typeface="+mj-lt"/>
              <a:buAutoNum type="arabicParenR"/>
            </a:pPr>
            <a:r>
              <a:rPr lang="en-US" sz="2800" dirty="0"/>
              <a:t>The cloud provides nearly infinite possibility for users to use the internet.</a:t>
            </a:r>
          </a:p>
          <a:p>
            <a:pPr marL="514350" indent="-514350">
              <a:lnSpc>
                <a:spcPct val="150000"/>
              </a:lnSpc>
              <a:buClr>
                <a:srgbClr val="0099FF"/>
              </a:buClr>
              <a:buFont typeface="+mj-lt"/>
              <a:buAutoNum type="arabicParenR"/>
            </a:pPr>
            <a:r>
              <a:rPr lang="en-US" sz="2800" dirty="0"/>
              <a:t>Cloud computing does not need high quality equipment for the user and it is easy to use. </a:t>
            </a:r>
            <a:r>
              <a:rPr lang="en-US" baseline="30000" dirty="0">
                <a:solidFill>
                  <a:srgbClr val="0099FF"/>
                </a:solidFill>
              </a:rPr>
              <a:t>[3]</a:t>
            </a:r>
          </a:p>
        </p:txBody>
      </p:sp>
    </p:spTree>
    <p:extLst>
      <p:ext uri="{BB962C8B-B14F-4D97-AF65-F5344CB8AC3E}">
        <p14:creationId xmlns:p14="http://schemas.microsoft.com/office/powerpoint/2010/main" val="570415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lnSpcReduction="10000"/>
          </a:bodyPr>
          <a:lstStyle/>
          <a:p>
            <a:r>
              <a:rPr lang="en-IN" sz="3600" b="1" dirty="0">
                <a:solidFill>
                  <a:srgbClr val="0099FF"/>
                </a:solidFill>
                <a:latin typeface="AR DESTINE" pitchFamily="2" charset="0"/>
                <a:cs typeface="Times New Roman" pitchFamily="18" charset="0"/>
              </a:rPr>
              <a:t> FUTURE SCOPE OF CLOUD SECURITY</a:t>
            </a:r>
          </a:p>
          <a:p>
            <a:pPr algn="l"/>
            <a:r>
              <a:rPr lang="en-US" sz="2800" b="1" dirty="0">
                <a:solidFill>
                  <a:schemeClr val="tx1"/>
                </a:solidFill>
                <a:latin typeface="Times New Roman" pitchFamily="18" charset="0"/>
                <a:cs typeface="Times New Roman" pitchFamily="18" charset="0"/>
              </a:rPr>
              <a:t> </a:t>
            </a:r>
          </a:p>
          <a:p>
            <a:pPr algn="l">
              <a:lnSpc>
                <a:spcPct val="150000"/>
              </a:lnSpc>
              <a:buClr>
                <a:srgbClr val="0099FF"/>
              </a:buClr>
              <a:buFont typeface="Wingdings" pitchFamily="2" charset="2"/>
              <a:buChar char="q"/>
            </a:pPr>
            <a:r>
              <a:rPr lang="en-US" sz="2800" dirty="0">
                <a:solidFill>
                  <a:schemeClr val="tx1"/>
                </a:solidFill>
                <a:cs typeface="Times New Roman" pitchFamily="18" charset="0"/>
              </a:rPr>
              <a:t> It is facing many challenges regarding the security of data.</a:t>
            </a:r>
          </a:p>
          <a:p>
            <a:pPr algn="l">
              <a:lnSpc>
                <a:spcPct val="150000"/>
              </a:lnSpc>
              <a:buClr>
                <a:srgbClr val="0099FF"/>
              </a:buClr>
              <a:buFont typeface="Wingdings" pitchFamily="2" charset="2"/>
              <a:buChar char="q"/>
            </a:pPr>
            <a:r>
              <a:rPr lang="en-US" sz="2800" dirty="0">
                <a:solidFill>
                  <a:schemeClr val="tx1"/>
                </a:solidFill>
                <a:cs typeface="Times New Roman" pitchFamily="18" charset="0"/>
              </a:rPr>
              <a:t> Modification of this technology helps to secure the data.</a:t>
            </a:r>
          </a:p>
          <a:p>
            <a:pPr algn="l">
              <a:lnSpc>
                <a:spcPct val="150000"/>
              </a:lnSpc>
              <a:buClr>
                <a:srgbClr val="0099FF"/>
              </a:buClr>
              <a:buFont typeface="Wingdings" pitchFamily="2" charset="2"/>
              <a:buChar char="q"/>
            </a:pPr>
            <a:r>
              <a:rPr lang="en-US" sz="2800" dirty="0">
                <a:solidFill>
                  <a:schemeClr val="tx1"/>
                </a:solidFill>
                <a:cs typeface="Times New Roman" pitchFamily="18" charset="0"/>
              </a:rPr>
              <a:t> Many research on this technology are taking place which would eventually help this technology to expand its scope in future leading to more secure data.</a:t>
            </a:r>
          </a:p>
          <a:p>
            <a:pPr algn="l">
              <a:lnSpc>
                <a:spcPct val="150000"/>
              </a:lnSpc>
              <a:buClr>
                <a:srgbClr val="0099FF"/>
              </a:buClr>
              <a:buFont typeface="Wingdings" pitchFamily="2" charset="2"/>
              <a:buChar char="q"/>
            </a:pPr>
            <a:r>
              <a:rPr lang="en-US" sz="2800" dirty="0">
                <a:solidFill>
                  <a:schemeClr val="tx1"/>
                </a:solidFill>
                <a:cs typeface="Times New Roman" pitchFamily="18" charset="0"/>
              </a:rPr>
              <a:t> Architectures , thus it will help to grow the IT industry as well as advancement of this technology would help in big organizations as well as full-fill the requirement of public industry as well. </a:t>
            </a:r>
            <a:r>
              <a:rPr lang="en-US" sz="2800" baseline="30000" dirty="0">
                <a:solidFill>
                  <a:srgbClr val="0099FF"/>
                </a:solidFill>
                <a:cs typeface="Times New Roman" pitchFamily="18" charset="0"/>
              </a:rPr>
              <a:t>[23]</a:t>
            </a:r>
            <a:endParaRPr lang="en-IN" sz="2800" baseline="30000" dirty="0">
              <a:solidFill>
                <a:srgbClr val="0099FF"/>
              </a:solidFill>
              <a:cs typeface="Times New Roman" pitchFamily="18" charset="0"/>
            </a:endParaRPr>
          </a:p>
        </p:txBody>
      </p:sp>
    </p:spTree>
    <p:extLst>
      <p:ext uri="{BB962C8B-B14F-4D97-AF65-F5344CB8AC3E}">
        <p14:creationId xmlns:p14="http://schemas.microsoft.com/office/powerpoint/2010/main" val="3251487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7500" lnSpcReduction="20000"/>
          </a:bodyPr>
          <a:lstStyle/>
          <a:p>
            <a:pPr algn="ctr">
              <a:buNone/>
            </a:pPr>
            <a:r>
              <a:rPr lang="en-US" sz="5100" b="1" dirty="0">
                <a:solidFill>
                  <a:srgbClr val="0099FF"/>
                </a:solidFill>
                <a:latin typeface="AR DESTINE" pitchFamily="2" charset="0"/>
                <a:cs typeface="Times New Roman" pitchFamily="18" charset="0"/>
              </a:rPr>
              <a:t>STEPS TAKEN FOR BETTER CLOUD</a:t>
            </a:r>
          </a:p>
          <a:p>
            <a:pPr>
              <a:buNone/>
            </a:pPr>
            <a:endParaRPr lang="en-US" sz="3600" b="1" dirty="0">
              <a:solidFill>
                <a:schemeClr val="tx1">
                  <a:lumMod val="95000"/>
                  <a:lumOff val="5000"/>
                </a:schemeClr>
              </a:solidFill>
              <a:latin typeface="Times New Roman" pitchFamily="18" charset="0"/>
              <a:cs typeface="Times New Roman" pitchFamily="18" charset="0"/>
            </a:endParaRPr>
          </a:p>
          <a:p>
            <a:pPr>
              <a:lnSpc>
                <a:spcPct val="120000"/>
              </a:lnSpc>
              <a:buClr>
                <a:srgbClr val="0099FF"/>
              </a:buClr>
              <a:buFont typeface="Wingdings" pitchFamily="2" charset="2"/>
              <a:buChar char="Ø"/>
            </a:pPr>
            <a:r>
              <a:rPr lang="en-US" sz="3400" dirty="0">
                <a:cs typeface="Times New Roman" pitchFamily="18" charset="0"/>
              </a:rPr>
              <a:t>There are organizations working towards a more secure cloud, such as the CSA (CLOUD SECURITY ALLIANCE).</a:t>
            </a:r>
          </a:p>
          <a:p>
            <a:pPr>
              <a:lnSpc>
                <a:spcPct val="120000"/>
              </a:lnSpc>
              <a:buClr>
                <a:srgbClr val="0099FF"/>
              </a:buClr>
              <a:buFont typeface="Wingdings" pitchFamily="2" charset="2"/>
              <a:buChar char="Ø"/>
            </a:pPr>
            <a:r>
              <a:rPr lang="en-US" sz="3400" dirty="0">
                <a:cs typeface="Times New Roman" pitchFamily="18" charset="0"/>
              </a:rPr>
              <a:t>Another is Silver Sky, an expert provider of cloud security and provider of “the industry’s only advanced Security-as-a-Service platform from the cloud”.</a:t>
            </a:r>
          </a:p>
          <a:p>
            <a:pPr>
              <a:lnSpc>
                <a:spcPct val="120000"/>
              </a:lnSpc>
              <a:buClr>
                <a:srgbClr val="0099FF"/>
              </a:buClr>
              <a:buFont typeface="Wingdings" pitchFamily="2" charset="2"/>
              <a:buChar char="Ø"/>
            </a:pPr>
            <a:r>
              <a:rPr lang="en-US" sz="3400" dirty="0">
                <a:cs typeface="Times New Roman" pitchFamily="18" charset="0"/>
              </a:rPr>
              <a:t>The CTO of Silver Sky, Andrew </a:t>
            </a:r>
            <a:r>
              <a:rPr lang="en-US" sz="3400" dirty="0" err="1">
                <a:cs typeface="Times New Roman" pitchFamily="18" charset="0"/>
              </a:rPr>
              <a:t>Jaquith</a:t>
            </a:r>
            <a:r>
              <a:rPr lang="en-US" sz="3400" dirty="0">
                <a:cs typeface="Times New Roman" pitchFamily="18" charset="0"/>
              </a:rPr>
              <a:t>, explains that many CIOs are moving their services to the cloud in order to save money, but that security remains a key concern and these moves may be insecure or at least hasty.</a:t>
            </a:r>
          </a:p>
          <a:p>
            <a:pPr>
              <a:lnSpc>
                <a:spcPct val="120000"/>
              </a:lnSpc>
              <a:buClr>
                <a:srgbClr val="0099FF"/>
              </a:buClr>
              <a:buFont typeface="Wingdings" pitchFamily="2" charset="2"/>
              <a:buChar char="Ø"/>
            </a:pPr>
            <a:r>
              <a:rPr lang="en-US" sz="3400" dirty="0">
                <a:cs typeface="Times New Roman" pitchFamily="18" charset="0"/>
              </a:rPr>
              <a:t>On the other hand, he also explains that many cloud service providers are becoming clearer, more transparent, and more assured than ever before that they could protect customer data.</a:t>
            </a:r>
          </a:p>
        </p:txBody>
      </p:sp>
    </p:spTree>
    <p:extLst>
      <p:ext uri="{BB962C8B-B14F-4D97-AF65-F5344CB8AC3E}">
        <p14:creationId xmlns:p14="http://schemas.microsoft.com/office/powerpoint/2010/main" val="3093867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lgn="ctr">
              <a:buNone/>
            </a:pPr>
            <a:r>
              <a:rPr lang="en-IN" sz="3600" b="1" dirty="0">
                <a:solidFill>
                  <a:srgbClr val="0099FF"/>
                </a:solidFill>
                <a:latin typeface="AR DESTINE" pitchFamily="2" charset="0"/>
                <a:cs typeface="Times New Roman" panose="02020603050405020304" pitchFamily="18" charset="0"/>
              </a:rPr>
              <a:t>SOLUTIONS OF ISSUES IN CLOUD SECURITY</a:t>
            </a:r>
            <a:endParaRPr lang="en-IN" b="1" dirty="0">
              <a:solidFill>
                <a:srgbClr val="0099FF"/>
              </a:solidFill>
              <a:latin typeface="AR DESTINE" pitchFamily="2" charset="0"/>
              <a:cs typeface="Times New Roman" panose="02020603050405020304" pitchFamily="18" charset="0"/>
            </a:endParaRPr>
          </a:p>
          <a:p>
            <a:pPr>
              <a:lnSpc>
                <a:spcPct val="150000"/>
              </a:lnSpc>
              <a:buClr>
                <a:srgbClr val="C00000"/>
              </a:buClr>
              <a:buFont typeface="Calibri" pitchFamily="34" charset="0"/>
              <a:buChar char="‼"/>
            </a:pPr>
            <a:r>
              <a:rPr lang="en-IN" sz="2800" dirty="0">
                <a:solidFill>
                  <a:schemeClr val="tx1">
                    <a:lumMod val="95000"/>
                    <a:lumOff val="5000"/>
                  </a:schemeClr>
                </a:solidFill>
                <a:cs typeface="Times New Roman" panose="02020603050405020304" pitchFamily="18" charset="0"/>
              </a:rPr>
              <a:t>Network and security audits</a:t>
            </a:r>
          </a:p>
          <a:p>
            <a:pPr>
              <a:lnSpc>
                <a:spcPct val="150000"/>
              </a:lnSpc>
              <a:buClr>
                <a:srgbClr val="C00000"/>
              </a:buClr>
              <a:buFont typeface="Calibri" pitchFamily="34" charset="0"/>
              <a:buChar char="‼"/>
            </a:pPr>
            <a:r>
              <a:rPr lang="en-IN" sz="2800" dirty="0">
                <a:solidFill>
                  <a:schemeClr val="tx1">
                    <a:lumMod val="95000"/>
                    <a:lumOff val="5000"/>
                  </a:schemeClr>
                </a:solidFill>
                <a:cs typeface="Times New Roman" panose="02020603050405020304" pitchFamily="18" charset="0"/>
              </a:rPr>
              <a:t>Security threat assessments </a:t>
            </a:r>
          </a:p>
          <a:p>
            <a:pPr>
              <a:lnSpc>
                <a:spcPct val="150000"/>
              </a:lnSpc>
              <a:buClr>
                <a:srgbClr val="C00000"/>
              </a:buClr>
              <a:buFont typeface="Calibri" pitchFamily="34" charset="0"/>
              <a:buChar char="‼"/>
            </a:pPr>
            <a:r>
              <a:rPr lang="en-IN" sz="2800" dirty="0">
                <a:solidFill>
                  <a:schemeClr val="tx1">
                    <a:lumMod val="95000"/>
                    <a:lumOff val="5000"/>
                  </a:schemeClr>
                </a:solidFill>
                <a:cs typeface="Times New Roman" panose="02020603050405020304" pitchFamily="18" charset="0"/>
              </a:rPr>
              <a:t>Secure network and infrastructure design</a:t>
            </a:r>
          </a:p>
          <a:p>
            <a:pPr>
              <a:lnSpc>
                <a:spcPct val="150000"/>
              </a:lnSpc>
              <a:buClr>
                <a:srgbClr val="C00000"/>
              </a:buClr>
              <a:buFont typeface="Calibri" pitchFamily="34" charset="0"/>
              <a:buChar char="‼"/>
            </a:pPr>
            <a:r>
              <a:rPr lang="en-IN" sz="2800" dirty="0">
                <a:solidFill>
                  <a:schemeClr val="tx1">
                    <a:lumMod val="95000"/>
                    <a:lumOff val="5000"/>
                  </a:schemeClr>
                </a:solidFill>
                <a:cs typeface="Times New Roman" panose="02020603050405020304" pitchFamily="18" charset="0"/>
              </a:rPr>
              <a:t>Network perimeter protection, including firewalls and intrusion detection</a:t>
            </a:r>
          </a:p>
          <a:p>
            <a:pPr>
              <a:lnSpc>
                <a:spcPct val="150000"/>
              </a:lnSpc>
              <a:buClr>
                <a:srgbClr val="C00000"/>
              </a:buClr>
              <a:buFont typeface="Calibri" pitchFamily="34" charset="0"/>
              <a:buChar char="‼"/>
            </a:pPr>
            <a:r>
              <a:rPr lang="en-IN" sz="2800" dirty="0">
                <a:solidFill>
                  <a:schemeClr val="tx1">
                    <a:lumMod val="95000"/>
                    <a:lumOff val="5000"/>
                  </a:schemeClr>
                </a:solidFill>
                <a:cs typeface="Times New Roman" panose="02020603050405020304" pitchFamily="18" charset="0"/>
              </a:rPr>
              <a:t>Remote access strategies, including VPN implementations</a:t>
            </a:r>
          </a:p>
          <a:p>
            <a:pPr>
              <a:lnSpc>
                <a:spcPct val="150000"/>
              </a:lnSpc>
              <a:buClr>
                <a:srgbClr val="C00000"/>
              </a:buClr>
              <a:buFont typeface="Calibri" pitchFamily="34" charset="0"/>
              <a:buChar char="‼"/>
            </a:pPr>
            <a:r>
              <a:rPr lang="en-IN" sz="2800" dirty="0">
                <a:solidFill>
                  <a:schemeClr val="tx1">
                    <a:lumMod val="95000"/>
                    <a:lumOff val="5000"/>
                  </a:schemeClr>
                </a:solidFill>
                <a:cs typeface="Times New Roman" panose="02020603050405020304" pitchFamily="18" charset="0"/>
              </a:rPr>
              <a:t>Data loss prevention for information in motion and at rest </a:t>
            </a:r>
            <a:r>
              <a:rPr lang="en-IN" sz="2800" baseline="30000" dirty="0">
                <a:solidFill>
                  <a:srgbClr val="0099FF"/>
                </a:solidFill>
                <a:cs typeface="Times New Roman" panose="02020603050405020304" pitchFamily="18" charset="0"/>
              </a:rPr>
              <a:t>[23]</a:t>
            </a:r>
          </a:p>
          <a:p>
            <a:pPr>
              <a:buNone/>
            </a:pPr>
            <a:endParaRPr lang="en-IN"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0063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marL="0" indent="0" algn="ctr">
              <a:buNone/>
            </a:pPr>
            <a:r>
              <a:rPr lang="en-IN" sz="3600" b="1" dirty="0">
                <a:solidFill>
                  <a:srgbClr val="0099FF"/>
                </a:solidFill>
                <a:latin typeface="AR DESTINE" pitchFamily="2" charset="0"/>
                <a:cs typeface="Times New Roman" panose="02020603050405020304" pitchFamily="18" charset="0"/>
              </a:rPr>
              <a:t>CONCLUSION</a:t>
            </a:r>
          </a:p>
          <a:p>
            <a:pPr marL="0" indent="0" algn="ctr">
              <a:buNone/>
            </a:pPr>
            <a:endParaRPr lang="en-IN" sz="3600" b="1" u="sng" dirty="0">
              <a:solidFill>
                <a:schemeClr val="accent3">
                  <a:lumMod val="50000"/>
                </a:schemeClr>
              </a:solidFill>
              <a:latin typeface="Times New Roman" panose="02020603050405020304" pitchFamily="18" charset="0"/>
              <a:cs typeface="Times New Roman" panose="02020603050405020304" pitchFamily="18" charset="0"/>
            </a:endParaRPr>
          </a:p>
          <a:p>
            <a:pPr>
              <a:lnSpc>
                <a:spcPct val="160000"/>
              </a:lnSpc>
              <a:buClr>
                <a:srgbClr val="0099FF"/>
              </a:buClr>
              <a:buFont typeface="Wingdings" pitchFamily="2" charset="2"/>
              <a:buChar char="ü"/>
            </a:pPr>
            <a:r>
              <a:rPr lang="en-IN" sz="2800" dirty="0">
                <a:latin typeface="+mj-lt"/>
              </a:rPr>
              <a:t> </a:t>
            </a:r>
            <a:r>
              <a:rPr lang="en-IN" sz="3000" dirty="0"/>
              <a:t>The Cloud provides many options for the everyday computer user as well as large and small businesses.</a:t>
            </a:r>
          </a:p>
          <a:p>
            <a:pPr>
              <a:lnSpc>
                <a:spcPct val="160000"/>
              </a:lnSpc>
              <a:buClr>
                <a:srgbClr val="0099FF"/>
              </a:buClr>
              <a:buFont typeface="Wingdings" pitchFamily="2" charset="2"/>
              <a:buChar char="ü"/>
            </a:pPr>
            <a:r>
              <a:rPr lang="en-IN" sz="3000" dirty="0"/>
              <a:t> Clouds are more subjected to the data theft, malicious access, and unsecured internet access.</a:t>
            </a:r>
          </a:p>
          <a:p>
            <a:pPr>
              <a:lnSpc>
                <a:spcPct val="160000"/>
              </a:lnSpc>
              <a:buClr>
                <a:srgbClr val="0099FF"/>
              </a:buClr>
              <a:buFont typeface="Wingdings" pitchFamily="2" charset="2"/>
              <a:buChar char="ü"/>
            </a:pPr>
            <a:r>
              <a:rPr lang="en-IN" sz="3000" dirty="0"/>
              <a:t> Efforts have been made to enforce confidentiality, integrity and privacy of data.</a:t>
            </a:r>
          </a:p>
          <a:p>
            <a:pPr>
              <a:lnSpc>
                <a:spcPct val="160000"/>
              </a:lnSpc>
              <a:buClr>
                <a:srgbClr val="0099FF"/>
              </a:buClr>
              <a:buFont typeface="Wingdings" pitchFamily="2" charset="2"/>
              <a:buChar char="ü"/>
            </a:pPr>
            <a:r>
              <a:rPr lang="en-IN" sz="3000" dirty="0">
                <a:cs typeface="Times New Roman" panose="02020603050405020304" pitchFamily="18" charset="0"/>
              </a:rPr>
              <a:t> We have discussed the Issues, Factors Affecting the Data Security, Threats to it, Measures being taken towards it, Applications of it as well.</a:t>
            </a:r>
          </a:p>
          <a:p>
            <a:pPr marL="0" indent="0" algn="ctr">
              <a:buNone/>
            </a:pPr>
            <a:endParaRPr lang="en-IN" sz="2800" dirty="0">
              <a:solidFill>
                <a:schemeClr val="tx2">
                  <a:lumMod val="50000"/>
                </a:schemeClr>
              </a:solidFill>
            </a:endParaRPr>
          </a:p>
        </p:txBody>
      </p:sp>
    </p:spTree>
    <p:extLst>
      <p:ext uri="{BB962C8B-B14F-4D97-AF65-F5344CB8AC3E}">
        <p14:creationId xmlns:p14="http://schemas.microsoft.com/office/powerpoint/2010/main" val="1308471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lgn="ctr">
              <a:buNone/>
            </a:pPr>
            <a:endParaRPr lang="en-IN" b="1" u="sng" dirty="0">
              <a:solidFill>
                <a:srgbClr val="C00000"/>
              </a:solidFill>
              <a:latin typeface="Times New Roman" panose="02020603050405020304" pitchFamily="18" charset="0"/>
              <a:cs typeface="Times New Roman" panose="02020603050405020304" pitchFamily="18" charset="0"/>
            </a:endParaRPr>
          </a:p>
          <a:p>
            <a:pPr>
              <a:lnSpc>
                <a:spcPct val="150000"/>
              </a:lnSpc>
              <a:buClr>
                <a:srgbClr val="0099FF"/>
              </a:buClr>
              <a:buFont typeface="Wingdings" pitchFamily="2" charset="2"/>
              <a:buChar char="ü"/>
            </a:pPr>
            <a:r>
              <a:rPr lang="en-IN" sz="2800" dirty="0"/>
              <a:t> The customers before shifting their data enter to cloud, they should understand the sensitivity of data and choose the cloud model based on their requirement.</a:t>
            </a:r>
          </a:p>
          <a:p>
            <a:pPr>
              <a:lnSpc>
                <a:spcPct val="150000"/>
              </a:lnSpc>
              <a:buClr>
                <a:srgbClr val="0099FF"/>
              </a:buClr>
              <a:buFont typeface="Wingdings" pitchFamily="2" charset="2"/>
              <a:buChar char="ü"/>
            </a:pPr>
            <a:r>
              <a:rPr lang="en-IN" sz="2800" dirty="0"/>
              <a:t> Thus it will help to grow the IT industry as well as advancement of this technology would help in big organizations as well as full-fill the requirement of public industry as well. </a:t>
            </a:r>
            <a:r>
              <a:rPr lang="en-IN" baseline="30000" dirty="0">
                <a:solidFill>
                  <a:srgbClr val="0099FF"/>
                </a:solidFill>
              </a:rPr>
              <a:t>[23]</a:t>
            </a:r>
            <a:endParaRPr lang="en-IN" sz="2800" b="1" baseline="30000" dirty="0">
              <a:solidFill>
                <a:srgbClr val="0099FF"/>
              </a:solidFill>
              <a:cs typeface="Times New Roman" panose="02020603050405020304" pitchFamily="18" charset="0"/>
            </a:endParaRPr>
          </a:p>
          <a:p>
            <a:pPr algn="ctr"/>
            <a:endParaRPr lang="en-IN" dirty="0">
              <a:solidFill>
                <a:srgbClr val="C00000"/>
              </a:solidFill>
            </a:endParaRPr>
          </a:p>
          <a:p>
            <a:pPr marL="0" indent="0">
              <a:buNone/>
            </a:pPr>
            <a:endParaRPr lang="en-IN" sz="2800" dirty="0">
              <a:solidFill>
                <a:srgbClr val="C00000"/>
              </a:solidFill>
            </a:endParaRPr>
          </a:p>
        </p:txBody>
      </p:sp>
    </p:spTree>
    <p:extLst>
      <p:ext uri="{BB962C8B-B14F-4D97-AF65-F5344CB8AC3E}">
        <p14:creationId xmlns:p14="http://schemas.microsoft.com/office/powerpoint/2010/main" val="3545730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t>Security at Different Levels</a:t>
            </a:r>
          </a:p>
        </p:txBody>
      </p:sp>
      <p:sp>
        <p:nvSpPr>
          <p:cNvPr id="15363" name="Content Placeholder 2"/>
          <p:cNvSpPr>
            <a:spLocks noGrp="1"/>
          </p:cNvSpPr>
          <p:nvPr>
            <p:ph idx="1"/>
          </p:nvPr>
        </p:nvSpPr>
        <p:spPr/>
        <p:txBody>
          <a:bodyPr/>
          <a:lstStyle/>
          <a:p>
            <a:pPr>
              <a:buFont typeface="Arial" panose="020B0604020202020204" pitchFamily="34" charset="0"/>
              <a:buNone/>
            </a:pPr>
            <a:r>
              <a:rPr lang="en-US" sz="2400">
                <a:latin typeface="Times New Roman" panose="02020603050405020304" pitchFamily="18" charset="0"/>
                <a:cs typeface="Times New Roman" panose="02020603050405020304" pitchFamily="18" charset="0"/>
              </a:rPr>
              <a:t>We need Security at following levels:</a:t>
            </a:r>
          </a:p>
          <a:p>
            <a:pPr>
              <a:buFont typeface="Arial" panose="020B0604020202020204" pitchFamily="34" charset="0"/>
              <a:buNone/>
            </a:pP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Server access security </a:t>
            </a:r>
          </a:p>
          <a:p>
            <a:r>
              <a:rPr lang="en-US" sz="2400">
                <a:latin typeface="Times New Roman" panose="02020603050405020304" pitchFamily="18" charset="0"/>
                <a:cs typeface="Times New Roman" panose="02020603050405020304" pitchFamily="18" charset="0"/>
              </a:rPr>
              <a:t>Internet access security</a:t>
            </a:r>
          </a:p>
          <a:p>
            <a:r>
              <a:rPr lang="en-US" sz="2400">
                <a:latin typeface="Times New Roman" panose="02020603050405020304" pitchFamily="18" charset="0"/>
                <a:cs typeface="Times New Roman" panose="02020603050405020304" pitchFamily="18" charset="0"/>
              </a:rPr>
              <a:t>Database access security</a:t>
            </a:r>
          </a:p>
          <a:p>
            <a:r>
              <a:rPr lang="en-US" sz="2400">
                <a:latin typeface="Times New Roman" panose="02020603050405020304" pitchFamily="18" charset="0"/>
                <a:cs typeface="Times New Roman" panose="02020603050405020304" pitchFamily="18" charset="0"/>
              </a:rPr>
              <a:t>Data privacy security</a:t>
            </a:r>
          </a:p>
          <a:p>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4803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t>Research Questions</a:t>
            </a:r>
          </a:p>
        </p:txBody>
      </p:sp>
      <p:sp>
        <p:nvSpPr>
          <p:cNvPr id="16387" name="Content Placeholder 2"/>
          <p:cNvSpPr>
            <a:spLocks noGrp="1"/>
          </p:cNvSpPr>
          <p:nvPr>
            <p:ph idx="1"/>
          </p:nvPr>
        </p:nvSpPr>
        <p:spPr/>
        <p:txBody>
          <a:bodyPr/>
          <a:lstStyle/>
          <a:p>
            <a:pPr>
              <a:buFont typeface="Arial" panose="020B0604020202020204" pitchFamily="34" charset="0"/>
              <a:buNone/>
            </a:pPr>
            <a:r>
              <a:rPr lang="en-US"/>
              <a:t>At a Broad level,</a:t>
            </a:r>
          </a:p>
          <a:p>
            <a:pPr>
              <a:buFont typeface="Arial" panose="020B0604020202020204" pitchFamily="34" charset="0"/>
              <a:buNone/>
            </a:pPr>
            <a:r>
              <a:rPr lang="en-US"/>
              <a:t>Two major Questions are:</a:t>
            </a:r>
          </a:p>
          <a:p>
            <a:pPr>
              <a:buFont typeface="Arial" panose="020B0604020202020204" pitchFamily="34" charset="0"/>
              <a:buNone/>
            </a:pPr>
            <a:endParaRPr lang="en-US"/>
          </a:p>
          <a:p>
            <a:r>
              <a:rPr lang="en-US"/>
              <a:t>How much secure is the Data?</a:t>
            </a:r>
            <a:br>
              <a:rPr lang="en-US"/>
            </a:br>
            <a:r>
              <a:rPr lang="en-US"/>
              <a:t>	</a:t>
            </a:r>
          </a:p>
          <a:p>
            <a:r>
              <a:rPr lang="en-US"/>
              <a:t>How much secure is the Code?</a:t>
            </a:r>
          </a:p>
          <a:p>
            <a:endParaRPr lang="en-US"/>
          </a:p>
        </p:txBody>
      </p:sp>
    </p:spTree>
    <p:extLst>
      <p:ext uri="{BB962C8B-B14F-4D97-AF65-F5344CB8AC3E}">
        <p14:creationId xmlns:p14="http://schemas.microsoft.com/office/powerpoint/2010/main" val="3562350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dirty="0"/>
              <a:t>How much safe is data from Natural disaster?</a:t>
            </a:r>
          </a:p>
        </p:txBody>
      </p:sp>
      <p:sp>
        <p:nvSpPr>
          <p:cNvPr id="17411" name="Content Placeholder 2"/>
          <p:cNvSpPr>
            <a:spLocks noGrp="1"/>
          </p:cNvSpPr>
          <p:nvPr>
            <p:ph idx="1"/>
          </p:nvPr>
        </p:nvSpPr>
        <p:spPr/>
        <p:txBody>
          <a:bodyPr/>
          <a:lstStyle/>
          <a:p>
            <a:endParaRPr lang="en-US"/>
          </a:p>
          <a:p>
            <a:r>
              <a:rPr lang="en-US"/>
              <a:t>Data can be redundantly store in multiple physical location.</a:t>
            </a:r>
          </a:p>
          <a:p>
            <a:endParaRPr lang="en-US"/>
          </a:p>
          <a:p>
            <a:r>
              <a:rPr lang="en-US"/>
              <a:t>Physical location should be distributed across world.</a:t>
            </a:r>
          </a:p>
        </p:txBody>
      </p:sp>
    </p:spTree>
    <p:extLst>
      <p:ext uri="{BB962C8B-B14F-4D97-AF65-F5344CB8AC3E}">
        <p14:creationId xmlns:p14="http://schemas.microsoft.com/office/powerpoint/2010/main" val="20419322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t>Data centre Security?</a:t>
            </a:r>
          </a:p>
        </p:txBody>
      </p:sp>
      <p:sp>
        <p:nvSpPr>
          <p:cNvPr id="3" name="Content Placeholder 2"/>
          <p:cNvSpPr>
            <a:spLocks noGrp="1"/>
          </p:cNvSpPr>
          <p:nvPr>
            <p:ph idx="1"/>
          </p:nvPr>
        </p:nvSpPr>
        <p:spPr/>
        <p:txBody>
          <a:bodyPr rtlCol="0">
            <a:normAutofit fontScale="92500" lnSpcReduction="10000"/>
          </a:bodyPr>
          <a:lstStyle/>
          <a:p>
            <a:pPr marL="274320" indent="-274320" algn="just" fontAlgn="auto">
              <a:spcBef>
                <a:spcPts val="580"/>
              </a:spcBef>
              <a:spcAft>
                <a:spcPts val="0"/>
              </a:spcAft>
              <a:buClr>
                <a:schemeClr val="accent3"/>
              </a:buClr>
              <a:buFont typeface="Arial" pitchFamily="34" charset="0"/>
              <a:buChar char="•"/>
              <a:defRPr/>
            </a:pPr>
            <a:r>
              <a:rPr lang="en-US" sz="2400" dirty="0">
                <a:latin typeface="Times New Roman" pitchFamily="18" charset="0"/>
                <a:cs typeface="Times New Roman" pitchFamily="18" charset="0"/>
              </a:rPr>
              <a:t>Professional Security staff utilizing video surveillance, state of the art intrusion detection systems, and other electronic means.</a:t>
            </a:r>
          </a:p>
          <a:p>
            <a:pPr marL="274320" indent="-274320" algn="just" fontAlgn="auto">
              <a:spcBef>
                <a:spcPts val="580"/>
              </a:spcBef>
              <a:spcAft>
                <a:spcPts val="0"/>
              </a:spcAft>
              <a:buClr>
                <a:schemeClr val="accent3"/>
              </a:buClr>
              <a:buFont typeface="Arial" pitchFamily="34" charset="0"/>
              <a:buChar char="•"/>
              <a:defRPr/>
            </a:pPr>
            <a:endParaRPr lang="en-US" sz="2400" dirty="0">
              <a:latin typeface="Times New Roman" pitchFamily="18" charset="0"/>
              <a:cs typeface="Times New Roman" pitchFamily="18" charset="0"/>
            </a:endParaRPr>
          </a:p>
          <a:p>
            <a:pPr marL="274320" indent="-274320" algn="just" fontAlgn="auto">
              <a:spcBef>
                <a:spcPts val="580"/>
              </a:spcBef>
              <a:spcAft>
                <a:spcPts val="0"/>
              </a:spcAft>
              <a:buClr>
                <a:schemeClr val="accent3"/>
              </a:buClr>
              <a:buFont typeface="Arial" pitchFamily="34" charset="0"/>
              <a:buChar char="•"/>
              <a:defRPr/>
            </a:pPr>
            <a:r>
              <a:rPr lang="en-US" sz="2400" dirty="0">
                <a:latin typeface="Times New Roman" pitchFamily="18" charset="0"/>
                <a:cs typeface="Times New Roman" pitchFamily="18" charset="0"/>
              </a:rPr>
              <a:t>When an employee no longer has a business need to access datacenter his  privileges to access datacenter should be immediately revoked.</a:t>
            </a:r>
          </a:p>
          <a:p>
            <a:pPr marL="274320" indent="-274320" algn="just" fontAlgn="auto">
              <a:spcBef>
                <a:spcPts val="580"/>
              </a:spcBef>
              <a:spcAft>
                <a:spcPts val="0"/>
              </a:spcAft>
              <a:buClr>
                <a:schemeClr val="accent3"/>
              </a:buClr>
              <a:buFont typeface="Arial" pitchFamily="34" charset="0"/>
              <a:buChar char="•"/>
              <a:defRPr/>
            </a:pPr>
            <a:endParaRPr lang="en-US" sz="2400" dirty="0">
              <a:latin typeface="Times New Roman" pitchFamily="18" charset="0"/>
              <a:cs typeface="Times New Roman" pitchFamily="18" charset="0"/>
            </a:endParaRPr>
          </a:p>
          <a:p>
            <a:pPr marL="274320" indent="-274320" algn="just" fontAlgn="auto">
              <a:spcBef>
                <a:spcPts val="580"/>
              </a:spcBef>
              <a:spcAft>
                <a:spcPts val="0"/>
              </a:spcAft>
              <a:buClr>
                <a:schemeClr val="accent3"/>
              </a:buClr>
              <a:buFont typeface="Arial" pitchFamily="34" charset="0"/>
              <a:buChar char="•"/>
              <a:defRPr/>
            </a:pPr>
            <a:r>
              <a:rPr lang="en-US" sz="2400" dirty="0">
                <a:latin typeface="Times New Roman" pitchFamily="18" charset="0"/>
                <a:cs typeface="Times New Roman" pitchFamily="18" charset="0"/>
              </a:rPr>
              <a:t>All physical and electronic access to data centers by employees should be logged and audited routinely.</a:t>
            </a:r>
          </a:p>
          <a:p>
            <a:pPr marL="274320" indent="-274320" algn="just" fontAlgn="auto">
              <a:spcBef>
                <a:spcPts val="580"/>
              </a:spcBef>
              <a:spcAft>
                <a:spcPts val="0"/>
              </a:spcAft>
              <a:buClr>
                <a:schemeClr val="accent3"/>
              </a:buClr>
              <a:buFont typeface="Arial" pitchFamily="34" charset="0"/>
              <a:buChar char="•"/>
              <a:defRPr/>
            </a:pPr>
            <a:endParaRPr lang="en-US" sz="2400" b="1" dirty="0">
              <a:latin typeface="Times New Roman" pitchFamily="18" charset="0"/>
              <a:cs typeface="Times New Roman" pitchFamily="18" charset="0"/>
            </a:endParaRPr>
          </a:p>
          <a:p>
            <a:pPr marL="274320" indent="-274320" algn="just" fontAlgn="auto">
              <a:spcBef>
                <a:spcPts val="580"/>
              </a:spcBef>
              <a:spcAft>
                <a:spcPts val="0"/>
              </a:spcAft>
              <a:buClr>
                <a:schemeClr val="accent3"/>
              </a:buClr>
              <a:buFont typeface="Arial" pitchFamily="34" charset="0"/>
              <a:buChar char="•"/>
              <a:defRPr/>
            </a:pPr>
            <a:r>
              <a:rPr lang="en-US" sz="2400" b="1" dirty="0">
                <a:latin typeface="Times New Roman" pitchFamily="18" charset="0"/>
                <a:cs typeface="Times New Roman" pitchFamily="18" charset="0"/>
              </a:rPr>
              <a:t>Audit tools</a:t>
            </a:r>
            <a:r>
              <a:rPr lang="en-US" sz="2400" dirty="0">
                <a:latin typeface="Times New Roman" pitchFamily="18" charset="0"/>
                <a:cs typeface="Times New Roman" pitchFamily="18" charset="0"/>
              </a:rPr>
              <a:t> so that users can easily determine how their data is stored, protected, used, and verify policy enforcement.</a:t>
            </a:r>
          </a:p>
          <a:p>
            <a:pPr marL="274320" indent="-274320" algn="just" fontAlgn="auto">
              <a:spcBef>
                <a:spcPts val="580"/>
              </a:spcBef>
              <a:spcAft>
                <a:spcPts val="0"/>
              </a:spcAft>
              <a:buClr>
                <a:schemeClr val="accent3"/>
              </a:buClr>
              <a:buFont typeface="Arial" pitchFamily="34" charset="0"/>
              <a:buNone/>
              <a:defRPr/>
            </a:pPr>
            <a:endParaRPr lang="en-US" sz="2400" b="1" dirty="0">
              <a:latin typeface="Times New Roman" pitchFamily="18" charset="0"/>
              <a:cs typeface="Times New Roman" pitchFamily="18" charset="0"/>
            </a:endParaRPr>
          </a:p>
          <a:p>
            <a:pPr marL="274320" indent="-274320" algn="just" fontAlgn="auto">
              <a:spcBef>
                <a:spcPts val="580"/>
              </a:spcBef>
              <a:spcAft>
                <a:spcPts val="0"/>
              </a:spcAft>
              <a:buClr>
                <a:schemeClr val="accent3"/>
              </a:buClr>
              <a:buFont typeface="Arial" pitchFamily="34" charset="0"/>
              <a:buChar char="•"/>
              <a:defRPr/>
            </a:pPr>
            <a:endParaRPr lang="en-US" sz="2400" dirty="0">
              <a:latin typeface="Times New Roman" pitchFamily="18" charset="0"/>
              <a:cs typeface="Times New Roman" pitchFamily="18" charset="0"/>
            </a:endParaRPr>
          </a:p>
        </p:txBody>
      </p:sp>
      <p:pic>
        <p:nvPicPr>
          <p:cNvPr id="18436" name="Picture 3" descr="Nielsen Netratings submitting to audit.bmp"/>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7000" y="304800"/>
            <a:ext cx="13620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2111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b="1"/>
              <a:t>Backups of Data</a:t>
            </a:r>
            <a:endParaRPr lang="en-US"/>
          </a:p>
        </p:txBody>
      </p:sp>
      <p:sp>
        <p:nvSpPr>
          <p:cNvPr id="19459" name="Content Placeholder 2"/>
          <p:cNvSpPr>
            <a:spLocks noGrp="1"/>
          </p:cNvSpPr>
          <p:nvPr>
            <p:ph idx="1"/>
          </p:nvPr>
        </p:nvSpPr>
        <p:spPr/>
        <p:txBody>
          <a:bodyPr/>
          <a:lstStyle/>
          <a:p>
            <a:r>
              <a:rPr lang="en-US" sz="2400">
                <a:latin typeface="Times New Roman" panose="02020603050405020304" pitchFamily="18" charset="0"/>
                <a:cs typeface="Times New Roman" panose="02020603050405020304" pitchFamily="18" charset="0"/>
              </a:rPr>
              <a:t>Data store in database of provider should be redundantly store in multiple physical location.</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Data that is generated during  running  of program on instances is all customer data and therefore provider should not perform backups.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Control of Administrator on Databases.</a:t>
            </a:r>
          </a:p>
          <a:p>
            <a:endParaRPr lang="en-US" sz="2400" b="1" i="1">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5919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b="1"/>
              <a:t>Data Sanitization</a:t>
            </a:r>
            <a:endParaRPr lang="en-US"/>
          </a:p>
        </p:txBody>
      </p:sp>
      <p:sp>
        <p:nvSpPr>
          <p:cNvPr id="20483" name="Content Placeholder 2"/>
          <p:cNvSpPr>
            <a:spLocks noGrp="1"/>
          </p:cNvSpPr>
          <p:nvPr>
            <p:ph idx="1"/>
          </p:nvPr>
        </p:nvSpPr>
        <p:spPr/>
        <p:txBody>
          <a:bodyPr/>
          <a:lstStyle/>
          <a:p>
            <a:r>
              <a:rPr lang="en-US" sz="2400">
                <a:latin typeface="Times New Roman" panose="02020603050405020304" pitchFamily="18" charset="0"/>
                <a:cs typeface="Times New Roman" panose="02020603050405020304" pitchFamily="18" charset="0"/>
              </a:rPr>
              <a:t>Sanitization is the process of removing sensitive information from a storage device.</a:t>
            </a:r>
          </a:p>
          <a:p>
            <a:r>
              <a:rPr lang="en-US" sz="2400">
                <a:latin typeface="Times New Roman" panose="02020603050405020304" pitchFamily="18" charset="0"/>
                <a:cs typeface="Times New Roman" panose="02020603050405020304" pitchFamily="18" charset="0"/>
              </a:rPr>
              <a:t>What happens to data stored in a cloud computing environment once it has passed its user’s “use by date”</a:t>
            </a:r>
          </a:p>
          <a:p>
            <a:r>
              <a:rPr lang="en-US" sz="2400">
                <a:latin typeface="Times New Roman" panose="02020603050405020304" pitchFamily="18" charset="0"/>
                <a:cs typeface="Times New Roman" panose="02020603050405020304" pitchFamily="18" charset="0"/>
              </a:rPr>
              <a:t>What data sanitization practices does the cloud computing service provider propose to implement for redundant and retiring data storage devices as and when these devices are retired or taken out of service.</a:t>
            </a:r>
          </a:p>
        </p:txBody>
      </p:sp>
      <p:pic>
        <p:nvPicPr>
          <p:cNvPr id="20484" name="Picture 3" descr="art_data_destruc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5029200"/>
            <a:ext cx="2514600"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0054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endParaRPr lang="en-US"/>
          </a:p>
        </p:txBody>
      </p:sp>
      <p:sp>
        <p:nvSpPr>
          <p:cNvPr id="21507" name="Content Placeholder 2"/>
          <p:cNvSpPr>
            <a:spLocks noGrp="1"/>
          </p:cNvSpPr>
          <p:nvPr>
            <p:ph idx="1"/>
          </p:nvPr>
        </p:nvSpPr>
        <p:spPr/>
        <p:txBody>
          <a:bodyPr/>
          <a:lstStyle/>
          <a:p>
            <a:r>
              <a:rPr lang="en-US" sz="2400" b="1"/>
              <a:t>Some virus and worm create--</a:t>
            </a:r>
          </a:p>
          <a:p>
            <a:r>
              <a:rPr lang="en-US" sz="2400" b="1"/>
              <a:t>Job Starvation Issue : </a:t>
            </a:r>
            <a:r>
              <a:rPr lang="en-US" sz="2400"/>
              <a:t>where one job takes up a huge amount of resource resulting in a resource starvation for the other jobs.</a:t>
            </a:r>
          </a:p>
          <a:p>
            <a:endParaRPr lang="en-US" sz="2400">
              <a:latin typeface="Times New Roman" panose="02020603050405020304" pitchFamily="18" charset="0"/>
              <a:cs typeface="Times New Roman" panose="02020603050405020304" pitchFamily="18" charset="0"/>
            </a:endParaRPr>
          </a:p>
          <a:p>
            <a:r>
              <a:rPr lang="en-US" sz="2400"/>
              <a:t>Solutions: </a:t>
            </a:r>
            <a:endParaRPr lang="en-US" sz="2400" i="1"/>
          </a:p>
          <a:p>
            <a:r>
              <a:rPr lang="en-US" sz="2400" i="1"/>
              <a:t>Advanced reservations of resources</a:t>
            </a:r>
          </a:p>
          <a:p>
            <a:r>
              <a:rPr lang="en-US" sz="2400" i="1"/>
              <a:t>priority reduction</a:t>
            </a:r>
          </a:p>
          <a:p>
            <a:endParaRPr lang="en-US" sz="2400" i="1">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09290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b="1"/>
              <a:t>Information Security</a:t>
            </a:r>
            <a:endParaRPr lang="en-US"/>
          </a:p>
        </p:txBody>
      </p:sp>
      <p:sp>
        <p:nvSpPr>
          <p:cNvPr id="20483" name="Content Placeholder 2"/>
          <p:cNvSpPr>
            <a:spLocks noGrp="1"/>
          </p:cNvSpPr>
          <p:nvPr>
            <p:ph idx="1"/>
          </p:nvPr>
        </p:nvSpPr>
        <p:spPr/>
        <p:txBody>
          <a:bodyPr>
            <a:normAutofit lnSpcReduction="10000"/>
          </a:bodyPr>
          <a:lstStyle/>
          <a:p>
            <a:pPr marL="274320" indent="-274320" fontAlgn="auto">
              <a:spcBef>
                <a:spcPts val="580"/>
              </a:spcBef>
              <a:spcAft>
                <a:spcPts val="0"/>
              </a:spcAft>
              <a:buClr>
                <a:schemeClr val="accent3"/>
              </a:buClr>
              <a:buFont typeface="Wingdings 2"/>
              <a:buChar char=""/>
              <a:defRPr/>
            </a:pPr>
            <a:r>
              <a:rPr lang="en-US" sz="2200">
                <a:latin typeface="Times New Roman" pitchFamily="18" charset="0"/>
                <a:cs typeface="Times New Roman" pitchFamily="18" charset="0"/>
              </a:rPr>
              <a:t>Security related to the information exchanged between different hosts or between hosts and users.</a:t>
            </a:r>
          </a:p>
          <a:p>
            <a:pPr marL="274320" indent="-274320" fontAlgn="auto">
              <a:spcBef>
                <a:spcPts val="580"/>
              </a:spcBef>
              <a:spcAft>
                <a:spcPts val="0"/>
              </a:spcAft>
              <a:buClr>
                <a:schemeClr val="accent3"/>
              </a:buClr>
              <a:buFont typeface="Wingdings 2"/>
              <a:buChar char=""/>
              <a:defRPr/>
            </a:pPr>
            <a:r>
              <a:rPr lang="en-US" sz="2200">
                <a:latin typeface="Times New Roman" pitchFamily="18" charset="0"/>
                <a:cs typeface="Times New Roman" pitchFamily="18" charset="0"/>
              </a:rPr>
              <a:t> This issues pertaining to </a:t>
            </a:r>
            <a:r>
              <a:rPr lang="en-US" sz="2200" b="1" i="1">
                <a:latin typeface="Times New Roman" pitchFamily="18" charset="0"/>
                <a:cs typeface="Times New Roman" pitchFamily="18" charset="0"/>
              </a:rPr>
              <a:t>secure communication</a:t>
            </a:r>
            <a:r>
              <a:rPr lang="en-US" sz="2200" i="1">
                <a:latin typeface="Times New Roman" pitchFamily="18" charset="0"/>
                <a:cs typeface="Times New Roman" pitchFamily="18" charset="0"/>
              </a:rPr>
              <a:t>, </a:t>
            </a:r>
            <a:r>
              <a:rPr lang="en-US" sz="2200" b="1" i="1">
                <a:latin typeface="Times New Roman" pitchFamily="18" charset="0"/>
                <a:cs typeface="Times New Roman" pitchFamily="18" charset="0"/>
              </a:rPr>
              <a:t>authentication</a:t>
            </a:r>
            <a:r>
              <a:rPr lang="en-US" sz="2200" i="1">
                <a:latin typeface="Times New Roman" pitchFamily="18" charset="0"/>
                <a:cs typeface="Times New Roman" pitchFamily="18" charset="0"/>
              </a:rPr>
              <a:t>, and issues </a:t>
            </a:r>
            <a:r>
              <a:rPr lang="en-US" sz="2200">
                <a:latin typeface="Times New Roman" pitchFamily="18" charset="0"/>
                <a:cs typeface="Times New Roman" pitchFamily="18" charset="0"/>
              </a:rPr>
              <a:t>concerning </a:t>
            </a:r>
            <a:r>
              <a:rPr lang="en-US" sz="2200" b="1" i="1">
                <a:latin typeface="Times New Roman" pitchFamily="18" charset="0"/>
                <a:cs typeface="Times New Roman" pitchFamily="18" charset="0"/>
              </a:rPr>
              <a:t>single sign on</a:t>
            </a:r>
            <a:r>
              <a:rPr lang="en-US" sz="2200" i="1">
                <a:latin typeface="Times New Roman" pitchFamily="18" charset="0"/>
                <a:cs typeface="Times New Roman" pitchFamily="18" charset="0"/>
              </a:rPr>
              <a:t> and </a:t>
            </a:r>
            <a:r>
              <a:rPr lang="en-US" sz="2200" b="1" i="1">
                <a:latin typeface="Times New Roman" pitchFamily="18" charset="0"/>
                <a:cs typeface="Times New Roman" pitchFamily="18" charset="0"/>
              </a:rPr>
              <a:t>delegation</a:t>
            </a:r>
            <a:r>
              <a:rPr lang="en-US" sz="2200" i="1">
                <a:latin typeface="Times New Roman" pitchFamily="18" charset="0"/>
                <a:cs typeface="Times New Roman" pitchFamily="18" charset="0"/>
              </a:rPr>
              <a:t>.</a:t>
            </a:r>
            <a:endParaRPr lang="en-US" sz="2200">
              <a:latin typeface="Times New Roman" pitchFamily="18" charset="0"/>
              <a:cs typeface="Times New Roman" pitchFamily="18" charset="0"/>
            </a:endParaRPr>
          </a:p>
          <a:p>
            <a:pPr marL="274320" indent="-274320" fontAlgn="auto">
              <a:spcBef>
                <a:spcPts val="580"/>
              </a:spcBef>
              <a:spcAft>
                <a:spcPts val="0"/>
              </a:spcAft>
              <a:buClr>
                <a:schemeClr val="accent3"/>
              </a:buClr>
              <a:buFont typeface="Wingdings 2"/>
              <a:buChar char=""/>
              <a:defRPr/>
            </a:pPr>
            <a:r>
              <a:rPr lang="en-US" sz="2200">
                <a:latin typeface="Times New Roman" pitchFamily="18" charset="0"/>
                <a:cs typeface="Times New Roman" pitchFamily="18" charset="0"/>
              </a:rPr>
              <a:t>Secure communication issues include those security concerns that arise during the communication between two entities.</a:t>
            </a:r>
          </a:p>
          <a:p>
            <a:pPr marL="274320" indent="-274320" fontAlgn="auto">
              <a:spcBef>
                <a:spcPts val="580"/>
              </a:spcBef>
              <a:spcAft>
                <a:spcPts val="0"/>
              </a:spcAft>
              <a:buClr>
                <a:schemeClr val="accent3"/>
              </a:buClr>
              <a:buFont typeface="Wingdings 2"/>
              <a:buChar char=""/>
              <a:defRPr/>
            </a:pPr>
            <a:r>
              <a:rPr lang="en-US" sz="2200">
                <a:latin typeface="Times New Roman" pitchFamily="18" charset="0"/>
                <a:cs typeface="Times New Roman" pitchFamily="18" charset="0"/>
              </a:rPr>
              <a:t>These include confidentiality and integrity issues. Confidentiality indicates that all data sent by users should be accessible to only “legitimate” receivers, and integrity indicates that all data received should only be sent/modified by “legitimate” senders.</a:t>
            </a:r>
          </a:p>
          <a:p>
            <a:pPr marL="274320" indent="-274320" fontAlgn="auto">
              <a:spcBef>
                <a:spcPts val="580"/>
              </a:spcBef>
              <a:spcAft>
                <a:spcPts val="0"/>
              </a:spcAft>
              <a:buClr>
                <a:schemeClr val="accent3"/>
              </a:buClr>
              <a:buFont typeface="Wingdings 2"/>
              <a:buChar char=""/>
              <a:defRPr/>
            </a:pPr>
            <a:r>
              <a:rPr lang="en-US" sz="2200" b="1">
                <a:latin typeface="Times New Roman" pitchFamily="18" charset="0"/>
                <a:cs typeface="Times New Roman" pitchFamily="18" charset="0"/>
              </a:rPr>
              <a:t>Solution: </a:t>
            </a:r>
            <a:r>
              <a:rPr lang="en-US" sz="2200">
                <a:latin typeface="Times New Roman" pitchFamily="18" charset="0"/>
                <a:cs typeface="Times New Roman" pitchFamily="18" charset="0"/>
              </a:rPr>
              <a:t>public key encryption, X.509 certificates, and the Secure Sockets Layer (SSL)  enables secure authentication and communication over computer networks.</a:t>
            </a:r>
            <a:endParaRPr lang="en-US" sz="2200" b="1">
              <a:latin typeface="Times New Roman" pitchFamily="18" charset="0"/>
              <a:cs typeface="Times New Roman" pitchFamily="18" charset="0"/>
            </a:endParaRPr>
          </a:p>
          <a:p>
            <a:pPr marL="274320" indent="-274320" fontAlgn="auto">
              <a:spcBef>
                <a:spcPts val="580"/>
              </a:spcBef>
              <a:spcAft>
                <a:spcPts val="0"/>
              </a:spcAft>
              <a:buClr>
                <a:schemeClr val="accent3"/>
              </a:buClr>
              <a:buFont typeface="Wingdings 2"/>
              <a:buChar char=""/>
              <a:defRPr/>
            </a:pPr>
            <a:endParaRPr lang="en-US" sz="2200">
              <a:latin typeface="Times New Roman" pitchFamily="18" charset="0"/>
              <a:cs typeface="Times New Roman" pitchFamily="18" charset="0"/>
            </a:endParaRPr>
          </a:p>
        </p:txBody>
      </p:sp>
    </p:spTree>
    <p:extLst>
      <p:ext uri="{BB962C8B-B14F-4D97-AF65-F5344CB8AC3E}">
        <p14:creationId xmlns:p14="http://schemas.microsoft.com/office/powerpoint/2010/main" val="2518105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14400" y="990600"/>
            <a:ext cx="6208713" cy="4525963"/>
          </a:xfrm>
        </p:spPr>
      </p:pic>
    </p:spTree>
    <p:extLst>
      <p:ext uri="{BB962C8B-B14F-4D97-AF65-F5344CB8AC3E}">
        <p14:creationId xmlns:p14="http://schemas.microsoft.com/office/powerpoint/2010/main" val="14106628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idx="1"/>
          </p:nvPr>
        </p:nvSpPr>
        <p:spPr>
          <a:xfrm>
            <a:off x="457200" y="1535113"/>
            <a:ext cx="5715000" cy="903287"/>
          </a:xfrm>
        </p:spPr>
        <p:txBody>
          <a:bodyPr rtlCol="0">
            <a:normAutofit fontScale="70000" lnSpcReduction="20000"/>
          </a:bodyPr>
          <a:lstStyle/>
          <a:p>
            <a:pPr fontAlgn="auto">
              <a:spcBef>
                <a:spcPts val="580"/>
              </a:spcBef>
              <a:spcAft>
                <a:spcPts val="0"/>
              </a:spcAft>
              <a:buClr>
                <a:schemeClr val="accent3"/>
              </a:buClr>
              <a:buFont typeface="Arial" pitchFamily="34" charset="0"/>
              <a:buNone/>
              <a:defRPr/>
            </a:pPr>
            <a:endParaRPr lang="en-US" dirty="0"/>
          </a:p>
          <a:p>
            <a:pPr fontAlgn="auto">
              <a:spcBef>
                <a:spcPts val="580"/>
              </a:spcBef>
              <a:spcAft>
                <a:spcPts val="0"/>
              </a:spcAft>
              <a:buClr>
                <a:schemeClr val="accent3"/>
              </a:buClr>
              <a:buFont typeface="Arial" pitchFamily="34" charset="0"/>
              <a:buNone/>
              <a:defRPr/>
            </a:pPr>
            <a:r>
              <a:rPr lang="en-US" dirty="0"/>
              <a:t>We need Anti –Virus layer to help control </a:t>
            </a:r>
          </a:p>
          <a:p>
            <a:pPr fontAlgn="auto">
              <a:spcBef>
                <a:spcPts val="580"/>
              </a:spcBef>
              <a:spcAft>
                <a:spcPts val="0"/>
              </a:spcAft>
              <a:buClr>
                <a:schemeClr val="accent3"/>
              </a:buClr>
              <a:buFont typeface="Arial" pitchFamily="34" charset="0"/>
              <a:buNone/>
              <a:defRPr/>
            </a:pPr>
            <a:r>
              <a:rPr lang="en-US" dirty="0"/>
              <a:t>and protect:</a:t>
            </a:r>
          </a:p>
          <a:p>
            <a:pPr fontAlgn="auto">
              <a:spcBef>
                <a:spcPts val="580"/>
              </a:spcBef>
              <a:spcAft>
                <a:spcPts val="0"/>
              </a:spcAft>
              <a:buClr>
                <a:schemeClr val="accent3"/>
              </a:buClr>
              <a:buFont typeface="Arial" pitchFamily="34" charset="0"/>
              <a:buNone/>
              <a:defRPr/>
            </a:pPr>
            <a:endParaRPr lang="en-US" dirty="0"/>
          </a:p>
        </p:txBody>
      </p:sp>
      <p:sp>
        <p:nvSpPr>
          <p:cNvPr id="24579" name="Content Placeholder 6"/>
          <p:cNvSpPr>
            <a:spLocks noGrp="1"/>
          </p:cNvSpPr>
          <p:nvPr>
            <p:ph sz="quarter" idx="2"/>
          </p:nvPr>
        </p:nvSpPr>
        <p:spPr>
          <a:xfrm>
            <a:off x="381000" y="2708275"/>
            <a:ext cx="4041775" cy="3886200"/>
          </a:xfrm>
        </p:spPr>
        <p:txBody>
          <a:bodyPr/>
          <a:lstStyle/>
          <a:p>
            <a:endParaRPr lang="en-US"/>
          </a:p>
          <a:p>
            <a:r>
              <a:rPr lang="en-US"/>
              <a:t>- </a:t>
            </a:r>
            <a:r>
              <a:rPr lang="en-US" b="1"/>
              <a:t>Memory and CPU</a:t>
            </a:r>
          </a:p>
          <a:p>
            <a:r>
              <a:rPr lang="en-US"/>
              <a:t>- </a:t>
            </a:r>
            <a:r>
              <a:rPr lang="en-US" b="1"/>
              <a:t>Networking</a:t>
            </a:r>
          </a:p>
          <a:p>
            <a:r>
              <a:rPr lang="en-US"/>
              <a:t>- </a:t>
            </a:r>
            <a:r>
              <a:rPr lang="en-US" b="1"/>
              <a:t>Process execution control</a:t>
            </a:r>
          </a:p>
          <a:p>
            <a:r>
              <a:rPr lang="en-US"/>
              <a:t>- </a:t>
            </a:r>
            <a:r>
              <a:rPr lang="en-US" b="1"/>
              <a:t>Storage</a:t>
            </a:r>
            <a:endParaRPr lang="en-US"/>
          </a:p>
        </p:txBody>
      </p:sp>
      <p:pic>
        <p:nvPicPr>
          <p:cNvPr id="24580" name="Content Placeholder 9" descr="virtualization security.bmp"/>
          <p:cNvPicPr>
            <a:picLocks noGrp="1" noChangeAspect="1"/>
          </p:cNvPicPr>
          <p:nvPr>
            <p:ph sz="quarter" idx="4"/>
          </p:nvPr>
        </p:nvPicPr>
        <p:blipFill>
          <a:blip r:embed="rId2">
            <a:extLst>
              <a:ext uri="{28A0092B-C50C-407E-A947-70E740481C1C}">
                <a14:useLocalDpi xmlns:a14="http://schemas.microsoft.com/office/drawing/2010/main" val="0"/>
              </a:ext>
            </a:extLst>
          </a:blip>
          <a:srcRect/>
          <a:stretch>
            <a:fillRect/>
          </a:stretch>
        </p:blipFill>
        <p:spPr>
          <a:xfrm>
            <a:off x="5724525" y="2209800"/>
            <a:ext cx="2428875" cy="1828800"/>
          </a:xfrm>
        </p:spPr>
      </p:pic>
    </p:spTree>
    <p:extLst>
      <p:ext uri="{BB962C8B-B14F-4D97-AF65-F5344CB8AC3E}">
        <p14:creationId xmlns:p14="http://schemas.microsoft.com/office/powerpoint/2010/main" val="2856541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endParaRPr lang="en-US"/>
          </a:p>
        </p:txBody>
      </p:sp>
      <p:sp>
        <p:nvSpPr>
          <p:cNvPr id="26627" name="Content Placeholder 2"/>
          <p:cNvSpPr>
            <a:spLocks noGrp="1"/>
          </p:cNvSpPr>
          <p:nvPr>
            <p:ph idx="1"/>
          </p:nvPr>
        </p:nvSpPr>
        <p:spPr/>
        <p:txBody>
          <a:bodyPr>
            <a:normAutofit fontScale="92500" lnSpcReduction="20000"/>
          </a:bodyPr>
          <a:lstStyle/>
          <a:p>
            <a:pPr marL="274320" indent="-274320" fontAlgn="auto">
              <a:spcAft>
                <a:spcPts val="0"/>
              </a:spcAft>
              <a:buClr>
                <a:schemeClr val="accent3"/>
              </a:buClr>
              <a:buFont typeface="Arial" charset="0"/>
              <a:buChar char="•"/>
              <a:defRPr/>
            </a:pPr>
            <a:r>
              <a:rPr lang="en-US" b="1"/>
              <a:t>Management Related Issues: </a:t>
            </a:r>
          </a:p>
          <a:p>
            <a:pPr marL="274320" indent="-274320" fontAlgn="auto">
              <a:spcAft>
                <a:spcPts val="0"/>
              </a:spcAft>
              <a:buClr>
                <a:schemeClr val="accent3"/>
              </a:buClr>
              <a:buFont typeface="Arial" charset="0"/>
              <a:buNone/>
              <a:defRPr/>
            </a:pPr>
            <a:r>
              <a:rPr lang="en-US"/>
              <a:t>    Management is important as the cloud is heterogeneous in nature and may consist of multiple entities, components, users, domains, policies, and stake holders.</a:t>
            </a:r>
          </a:p>
          <a:p>
            <a:pPr marL="274320" indent="-274320" fontAlgn="auto">
              <a:spcAft>
                <a:spcPts val="0"/>
              </a:spcAft>
              <a:buClr>
                <a:schemeClr val="accent3"/>
              </a:buClr>
              <a:buFont typeface="Arial" charset="0"/>
              <a:buChar char="•"/>
              <a:defRPr/>
            </a:pPr>
            <a:r>
              <a:rPr lang="en-US" b="1"/>
              <a:t>Credential Management:</a:t>
            </a:r>
            <a:r>
              <a:rPr lang="en-US"/>
              <a:t>Credential management systems store and manage the credentials for a variety of systems and users can access them according to their needs.</a:t>
            </a:r>
          </a:p>
          <a:p>
            <a:pPr marL="274320" indent="-274320" fontAlgn="auto">
              <a:spcAft>
                <a:spcPts val="0"/>
              </a:spcAft>
              <a:buClr>
                <a:schemeClr val="accent3"/>
              </a:buClr>
              <a:buFont typeface="Arial" charset="0"/>
              <a:buChar char="•"/>
              <a:defRPr/>
            </a:pPr>
            <a:r>
              <a:rPr lang="en-US"/>
              <a:t>Secure and safe </a:t>
            </a:r>
            <a:r>
              <a:rPr lang="en-US" i="1"/>
              <a:t>storage of credentials is </a:t>
            </a:r>
            <a:r>
              <a:rPr lang="en-US"/>
              <a:t>equally important.</a:t>
            </a:r>
          </a:p>
        </p:txBody>
      </p:sp>
    </p:spTree>
    <p:extLst>
      <p:ext uri="{BB962C8B-B14F-4D97-AF65-F5344CB8AC3E}">
        <p14:creationId xmlns:p14="http://schemas.microsoft.com/office/powerpoint/2010/main" val="5244072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t>How secure is encryption Scheme</a:t>
            </a:r>
          </a:p>
        </p:txBody>
      </p:sp>
      <p:sp>
        <p:nvSpPr>
          <p:cNvPr id="26627" name="Content Placeholder 2"/>
          <p:cNvSpPr>
            <a:spLocks noGrp="1"/>
          </p:cNvSpPr>
          <p:nvPr>
            <p:ph idx="1"/>
          </p:nvPr>
        </p:nvSpPr>
        <p:spPr/>
        <p:txBody>
          <a:bodyPr/>
          <a:lstStyle/>
          <a:p>
            <a:r>
              <a:rPr lang="en-US" sz="2400"/>
              <a:t>Is it possible for all of my data to be fully encrypted?</a:t>
            </a:r>
          </a:p>
          <a:p>
            <a:r>
              <a:rPr lang="en-US" sz="2400"/>
              <a:t> What algorithms are used? </a:t>
            </a:r>
          </a:p>
          <a:p>
            <a:r>
              <a:rPr lang="en-US" sz="2400"/>
              <a:t>Who holds, maintains and issues the keys?</a:t>
            </a:r>
          </a:p>
          <a:p>
            <a:pPr>
              <a:buFont typeface="Arial" panose="020B0604020202020204" pitchFamily="34" charset="0"/>
              <a:buNone/>
            </a:pPr>
            <a:r>
              <a:rPr lang="en-US" sz="2400">
                <a:latin typeface="Times New Roman" panose="02020603050405020304" pitchFamily="18" charset="0"/>
                <a:cs typeface="Times New Roman" panose="02020603050405020304" pitchFamily="18" charset="0"/>
              </a:rPr>
              <a:t>Problem:</a:t>
            </a:r>
          </a:p>
          <a:p>
            <a:r>
              <a:rPr lang="en-US" sz="2400">
                <a:latin typeface="Times New Roman" panose="02020603050405020304" pitchFamily="18" charset="0"/>
                <a:cs typeface="Times New Roman" panose="02020603050405020304" pitchFamily="18" charset="0"/>
              </a:rPr>
              <a:t>Encryption accidents can make data totally unusable.</a:t>
            </a:r>
          </a:p>
          <a:p>
            <a:r>
              <a:rPr lang="en-US" sz="2400">
                <a:latin typeface="Times New Roman" panose="02020603050405020304" pitchFamily="18" charset="0"/>
                <a:cs typeface="Times New Roman" panose="02020603050405020304" pitchFamily="18" charset="0"/>
              </a:rPr>
              <a:t>Encryption can complicate availability</a:t>
            </a:r>
          </a:p>
          <a:p>
            <a:pPr>
              <a:buFont typeface="Arial" panose="020B0604020202020204" pitchFamily="34" charset="0"/>
              <a:buNone/>
            </a:pPr>
            <a:r>
              <a:rPr lang="en-US" sz="2400">
                <a:latin typeface="Times New Roman" panose="02020603050405020304" pitchFamily="18" charset="0"/>
                <a:cs typeface="Times New Roman" panose="02020603050405020304" pitchFamily="18" charset="0"/>
              </a:rPr>
              <a:t>Solution</a:t>
            </a:r>
          </a:p>
          <a:p>
            <a:r>
              <a:rPr lang="en-US" sz="2400">
                <a:latin typeface="Times New Roman" panose="02020603050405020304" pitchFamily="18" charset="0"/>
                <a:cs typeface="Times New Roman" panose="02020603050405020304" pitchFamily="18" charset="0"/>
              </a:rPr>
              <a:t>The cloud provider should provide evidence that encryption schemes were designed and tested by experienced specialists. </a:t>
            </a:r>
            <a:endParaRPr lang="en-US" sz="2400"/>
          </a:p>
        </p:txBody>
      </p:sp>
      <p:pic>
        <p:nvPicPr>
          <p:cNvPr id="26628" name="Picture 3" descr="key-ar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1905000"/>
            <a:ext cx="122872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06379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t>Investigative Support</a:t>
            </a:r>
          </a:p>
        </p:txBody>
      </p:sp>
      <p:sp>
        <p:nvSpPr>
          <p:cNvPr id="27651" name="Content Placeholder 2"/>
          <p:cNvSpPr>
            <a:spLocks noGrp="1"/>
          </p:cNvSpPr>
          <p:nvPr>
            <p:ph idx="1"/>
          </p:nvPr>
        </p:nvSpPr>
        <p:spPr/>
        <p:txBody>
          <a:bodyPr/>
          <a:lstStyle/>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Investigating inappropriate or illegal activity may be difficult in cloud computing because</a:t>
            </a:r>
          </a:p>
          <a:p>
            <a:pPr>
              <a:buFont typeface="Arial" panose="020B0604020202020204" pitchFamily="34" charset="0"/>
              <a:buNone/>
            </a:pPr>
            <a:r>
              <a:rPr lang="en-US" sz="2400">
                <a:latin typeface="Times New Roman" panose="02020603050405020304" pitchFamily="18" charset="0"/>
                <a:cs typeface="Times New Roman" panose="02020603050405020304" pitchFamily="18" charset="0"/>
              </a:rPr>
              <a:t>-- logging and data for multiple customers may be co-located </a:t>
            </a:r>
          </a:p>
          <a:p>
            <a:pPr>
              <a:buFont typeface="Arial" panose="020B0604020202020204" pitchFamily="34" charset="0"/>
              <a:buNone/>
            </a:pPr>
            <a:r>
              <a:rPr lang="en-US" sz="2400">
                <a:latin typeface="Times New Roman" panose="02020603050405020304" pitchFamily="18" charset="0"/>
                <a:cs typeface="Times New Roman" panose="02020603050405020304" pitchFamily="18" charset="0"/>
              </a:rPr>
              <a:t>-- may also be geographically spread across an ever-changing set of hosts and data centers. </a:t>
            </a:r>
          </a:p>
          <a:p>
            <a:pPr>
              <a:buFont typeface="Arial" panose="020B0604020202020204" pitchFamily="34" charset="0"/>
              <a:buNone/>
            </a:pPr>
            <a:r>
              <a:rPr lang="en-US" sz="2400">
                <a:latin typeface="Times New Roman" panose="02020603050405020304" pitchFamily="18" charset="0"/>
                <a:cs typeface="Times New Roman" panose="02020603050405020304" pitchFamily="18" charset="0"/>
              </a:rPr>
              <a:t>Solution:  get a contractual commitment to support specific forms of investigation, along with evidence that the vendor has already successfully supported such activities.</a:t>
            </a:r>
          </a:p>
          <a:p>
            <a:pPr>
              <a:buFont typeface="Arial" panose="020B0604020202020204" pitchFamily="34" charset="0"/>
              <a:buNone/>
            </a:pPr>
            <a:endParaRPr lang="en-US" sz="2400">
              <a:latin typeface="Times New Roman" panose="02020603050405020304" pitchFamily="18" charset="0"/>
              <a:cs typeface="Times New Roman" panose="02020603050405020304" pitchFamily="18" charset="0"/>
            </a:endParaRPr>
          </a:p>
        </p:txBody>
      </p:sp>
      <p:pic>
        <p:nvPicPr>
          <p:cNvPr id="27652" name="Picture 3" descr="audi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304800"/>
            <a:ext cx="112077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0053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dirty="0"/>
              <a:t>How to ensure Users that both</a:t>
            </a:r>
            <a:br>
              <a:rPr lang="en-US" dirty="0"/>
            </a:br>
            <a:r>
              <a:rPr lang="en-US" dirty="0"/>
              <a:t> Data and Code are safe?</a:t>
            </a:r>
          </a:p>
        </p:txBody>
      </p:sp>
      <p:sp>
        <p:nvSpPr>
          <p:cNvPr id="31747" name="Content Placeholder 2"/>
          <p:cNvSpPr>
            <a:spLocks noGrp="1"/>
          </p:cNvSpPr>
          <p:nvPr>
            <p:ph idx="1"/>
          </p:nvPr>
        </p:nvSpPr>
        <p:spPr/>
        <p:txBody>
          <a:bodyPr>
            <a:normAutofit lnSpcReduction="10000"/>
          </a:bodyPr>
          <a:lstStyle/>
          <a:p>
            <a:pPr marL="274320" indent="-274320" fontAlgn="auto">
              <a:spcBef>
                <a:spcPts val="580"/>
              </a:spcBef>
              <a:spcAft>
                <a:spcPts val="0"/>
              </a:spcAft>
              <a:buClr>
                <a:schemeClr val="accent3"/>
              </a:buClr>
              <a:buFont typeface="Wingdings 2"/>
              <a:buChar char=""/>
              <a:defRPr/>
            </a:pPr>
            <a:endParaRPr lang="en-US" sz="2400" dirty="0">
              <a:latin typeface="Times New Roman" pitchFamily="18" charset="0"/>
              <a:cs typeface="Times New Roman" pitchFamily="18" charset="0"/>
            </a:endParaRPr>
          </a:p>
          <a:p>
            <a:pPr marL="274320" indent="-274320" fontAlgn="auto">
              <a:spcBef>
                <a:spcPts val="580"/>
              </a:spcBef>
              <a:spcAft>
                <a:spcPts val="0"/>
              </a:spcAft>
              <a:buClr>
                <a:schemeClr val="accent3"/>
              </a:buClr>
              <a:buFont typeface="Wingdings 2"/>
              <a:buChar char=""/>
              <a:defRPr/>
            </a:pPr>
            <a:r>
              <a:rPr lang="en-US" sz="2400" dirty="0">
                <a:latin typeface="Times New Roman" pitchFamily="18" charset="0"/>
                <a:cs typeface="Times New Roman" pitchFamily="18" charset="0"/>
              </a:rPr>
              <a:t>Very hard for the customer to actually verify the currently implemented security practices and initiatives of a cloud computing service provider because the customer generally has no access to the provider’s facility which can be comprised of multiple facilities spread around the globe.</a:t>
            </a:r>
          </a:p>
          <a:p>
            <a:pPr marL="274320" indent="-274320" fontAlgn="auto">
              <a:spcBef>
                <a:spcPts val="580"/>
              </a:spcBef>
              <a:spcAft>
                <a:spcPts val="0"/>
              </a:spcAft>
              <a:buClr>
                <a:schemeClr val="accent3"/>
              </a:buClr>
              <a:buFont typeface="Wingdings 2"/>
              <a:buChar char=""/>
              <a:defRPr/>
            </a:pPr>
            <a:endParaRPr lang="en-US" sz="2400" dirty="0">
              <a:latin typeface="Times New Roman" pitchFamily="18" charset="0"/>
              <a:cs typeface="Times New Roman" pitchFamily="18" charset="0"/>
            </a:endParaRPr>
          </a:p>
          <a:p>
            <a:pPr marL="274320" indent="-274320" fontAlgn="auto">
              <a:spcBef>
                <a:spcPts val="580"/>
              </a:spcBef>
              <a:spcAft>
                <a:spcPts val="0"/>
              </a:spcAft>
              <a:buClr>
                <a:schemeClr val="accent3"/>
              </a:buClr>
              <a:buFont typeface="Arial" charset="0"/>
              <a:buNone/>
              <a:defRPr/>
            </a:pPr>
            <a:r>
              <a:rPr lang="en-US" sz="2400" b="1" dirty="0">
                <a:latin typeface="Times New Roman" pitchFamily="18" charset="0"/>
                <a:cs typeface="Times New Roman" pitchFamily="18" charset="0"/>
              </a:rPr>
              <a:t>Solution:</a:t>
            </a:r>
          </a:p>
          <a:p>
            <a:pPr marL="274320" indent="-274320" fontAlgn="auto">
              <a:spcBef>
                <a:spcPts val="580"/>
              </a:spcBef>
              <a:spcAft>
                <a:spcPts val="0"/>
              </a:spcAft>
              <a:buClr>
                <a:schemeClr val="accent3"/>
              </a:buClr>
              <a:buFont typeface="Wingdings 2"/>
              <a:buChar char=""/>
              <a:defRPr/>
            </a:pPr>
            <a:r>
              <a:rPr lang="en-US" sz="2400" dirty="0">
                <a:latin typeface="Times New Roman" pitchFamily="18" charset="0"/>
                <a:cs typeface="Times New Roman" pitchFamily="18" charset="0"/>
              </a:rPr>
              <a:t>Provider should get some standard certificate  from some governing  or standardized institution that ensure users that provider has established adequate internal control and these control are operating efficiently.</a:t>
            </a:r>
          </a:p>
        </p:txBody>
      </p:sp>
      <p:pic>
        <p:nvPicPr>
          <p:cNvPr id="28676" name="Picture 3" descr="06norfed_montage375x52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152400"/>
            <a:ext cx="1143000" cy="159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83146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Trends associated with Cloud Security</a:t>
            </a:r>
          </a:p>
        </p:txBody>
      </p:sp>
      <p:sp>
        <p:nvSpPr>
          <p:cNvPr id="3" name="Content Placeholder 2"/>
          <p:cNvSpPr>
            <a:spLocks noGrp="1"/>
          </p:cNvSpPr>
          <p:nvPr>
            <p:ph idx="1"/>
          </p:nvPr>
        </p:nvSpPr>
        <p:spPr/>
        <p:txBody>
          <a:bodyPr>
            <a:normAutofit fontScale="85000" lnSpcReduction="20000"/>
          </a:bodyPr>
          <a:lstStyle/>
          <a:p>
            <a:endParaRPr lang="en-US" dirty="0"/>
          </a:p>
          <a:p>
            <a:r>
              <a:rPr lang="en-US" dirty="0"/>
              <a:t>Increasing Partnerships between CSPs and Security Solution Providers Expected </a:t>
            </a:r>
          </a:p>
          <a:p>
            <a:r>
              <a:rPr lang="en-US" dirty="0"/>
              <a:t>Increasing Emergence of Cloud Service-specific Security Solution Providers </a:t>
            </a:r>
          </a:p>
          <a:p>
            <a:r>
              <a:rPr lang="en-US" dirty="0"/>
              <a:t>Identity Management and Encryption to Remain the Top Cloud Security Solutions Offered </a:t>
            </a:r>
          </a:p>
          <a:p>
            <a:r>
              <a:rPr lang="en-US" dirty="0"/>
              <a:t>Increasing Availability of Cloud Security Solutions for Small and Medium-sized Businesses (SMBs) </a:t>
            </a:r>
          </a:p>
          <a:p>
            <a:r>
              <a:rPr lang="en-US" dirty="0"/>
              <a:t>Emergence of Strong Cloud Security Standard and Guidelines </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Cloud Security Important</a:t>
            </a:r>
          </a:p>
        </p:txBody>
      </p:sp>
      <p:sp>
        <p:nvSpPr>
          <p:cNvPr id="3" name="Content Placeholder 2"/>
          <p:cNvSpPr>
            <a:spLocks noGrp="1"/>
          </p:cNvSpPr>
          <p:nvPr>
            <p:ph idx="1"/>
          </p:nvPr>
        </p:nvSpPr>
        <p:spPr/>
        <p:txBody>
          <a:bodyPr>
            <a:normAutofit fontScale="92500" lnSpcReduction="10000"/>
          </a:bodyPr>
          <a:lstStyle/>
          <a:p>
            <a:pPr>
              <a:buNone/>
            </a:pPr>
            <a:endParaRPr lang="en-US" dirty="0"/>
          </a:p>
          <a:p>
            <a:r>
              <a:rPr lang="en-US" dirty="0"/>
              <a:t>Increasing Usage of Cloud Services in Non-traditional Sectors </a:t>
            </a:r>
          </a:p>
          <a:p>
            <a:r>
              <a:rPr lang="en-US" dirty="0"/>
              <a:t>Growing Adoption of Cloud Services in Government Departments </a:t>
            </a:r>
          </a:p>
          <a:p>
            <a:r>
              <a:rPr lang="en-US" dirty="0"/>
              <a:t>Rise in Cloud Service-specific Attacks </a:t>
            </a:r>
          </a:p>
          <a:p>
            <a:r>
              <a:rPr lang="en-US" dirty="0"/>
              <a:t>Growing Usage of Cloud Services for Critical Data Storage </a:t>
            </a:r>
          </a:p>
          <a:p>
            <a:r>
              <a:rPr lang="en-US" dirty="0"/>
              <a:t>Rise in Employee Mobility </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the challenges?</a:t>
            </a:r>
          </a:p>
        </p:txBody>
      </p:sp>
      <p:sp>
        <p:nvSpPr>
          <p:cNvPr id="3" name="Content Placeholder 2"/>
          <p:cNvSpPr>
            <a:spLocks noGrp="1"/>
          </p:cNvSpPr>
          <p:nvPr>
            <p:ph idx="1"/>
          </p:nvPr>
        </p:nvSpPr>
        <p:spPr/>
        <p:txBody>
          <a:bodyPr/>
          <a:lstStyle/>
          <a:p>
            <a:pPr>
              <a:buNone/>
            </a:pPr>
            <a:r>
              <a:rPr lang="en-US" dirty="0"/>
              <a:t> </a:t>
            </a:r>
          </a:p>
          <a:p>
            <a:r>
              <a:rPr lang="en-US" dirty="0"/>
              <a:t>CSPs believe that Security is End-users’ Issue </a:t>
            </a:r>
          </a:p>
          <a:p>
            <a:r>
              <a:rPr lang="en-US" dirty="0"/>
              <a:t>Lack of Awareness about Cloud Security </a:t>
            </a:r>
          </a:p>
          <a:p>
            <a:r>
              <a:rPr lang="en-US" dirty="0"/>
              <a:t>Inconsistent Network Connection Issues </a:t>
            </a:r>
          </a:p>
          <a:p>
            <a:r>
              <a:rPr lang="en-US" dirty="0"/>
              <a:t>Lack of Proper Cloud Security Standards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End-users/customers expect from Cloud Security</a:t>
            </a:r>
          </a:p>
        </p:txBody>
      </p:sp>
      <p:sp>
        <p:nvSpPr>
          <p:cNvPr id="3" name="Content Placeholder 2"/>
          <p:cNvSpPr>
            <a:spLocks noGrp="1"/>
          </p:cNvSpPr>
          <p:nvPr>
            <p:ph idx="1"/>
          </p:nvPr>
        </p:nvSpPr>
        <p:spPr/>
        <p:txBody>
          <a:bodyPr/>
          <a:lstStyle/>
          <a:p>
            <a:pPr>
              <a:buNone/>
            </a:pPr>
            <a:r>
              <a:rPr lang="en-US" dirty="0"/>
              <a:t> </a:t>
            </a:r>
          </a:p>
          <a:p>
            <a:r>
              <a:rPr lang="en-US" dirty="0"/>
              <a:t>Strong Overall Security Offered </a:t>
            </a:r>
          </a:p>
          <a:p>
            <a:r>
              <a:rPr lang="en-US" dirty="0"/>
              <a:t>Suite of Security Solutions Offered </a:t>
            </a:r>
          </a:p>
          <a:p>
            <a:r>
              <a:rPr lang="en-US" dirty="0"/>
              <a:t>Encryption Key Management Features Offered </a:t>
            </a:r>
          </a:p>
          <a:p>
            <a:r>
              <a:rPr lang="en-US" dirty="0"/>
              <a:t>Availability of Fine Granular Control </a:t>
            </a:r>
          </a:p>
        </p:txBody>
      </p:sp>
    </p:spTree>
  </p:cSld>
  <p:clrMapOvr>
    <a:masterClrMapping/>
  </p:clrMapOvr>
</p:sld>
</file>

<file path=ppt/theme/theme1.xml><?xml version="1.0" encoding="utf-8"?>
<a:theme xmlns:a="http://schemas.openxmlformats.org/drawingml/2006/main" name="TS03000069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72EEC8D4-0E78-4821-9514-F30828F0BC1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1057</TotalTime>
  <Words>2165</Words>
  <Application>Microsoft Office PowerPoint</Application>
  <PresentationFormat>On-screen Show (4:3)</PresentationFormat>
  <Paragraphs>233</Paragraphs>
  <Slides>40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Andalus</vt:lpstr>
      <vt:lpstr>AR DESTINE</vt:lpstr>
      <vt:lpstr>Arial</vt:lpstr>
      <vt:lpstr>Bookman Old Style</vt:lpstr>
      <vt:lpstr>Calibri</vt:lpstr>
      <vt:lpstr>Times New Roman</vt:lpstr>
      <vt:lpstr>Wingdings</vt:lpstr>
      <vt:lpstr>Wingdings 2</vt:lpstr>
      <vt:lpstr>TS030000690</vt:lpstr>
      <vt:lpstr>Cloud Security</vt:lpstr>
      <vt:lpstr>What are the major concerns, issues or fears </vt:lpstr>
      <vt:lpstr>Security Is the Major Challenge</vt:lpstr>
      <vt:lpstr>Global Cloud Security Market by End-User Segmentation</vt:lpstr>
      <vt:lpstr>Dangers and Vulnerabilities</vt:lpstr>
      <vt:lpstr>Common Security Requirements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Security at Different Levels</vt:lpstr>
      <vt:lpstr>Research Questions</vt:lpstr>
      <vt:lpstr>How much safe is data from Natural disaster?</vt:lpstr>
      <vt:lpstr>Data centre Security?</vt:lpstr>
      <vt:lpstr>Backups of Data</vt:lpstr>
      <vt:lpstr>Data Sanitization</vt:lpstr>
      <vt:lpstr>PowerPoint Presentation</vt:lpstr>
      <vt:lpstr>Information Security</vt:lpstr>
      <vt:lpstr>PowerPoint Presentation</vt:lpstr>
      <vt:lpstr>PowerPoint Presentation</vt:lpstr>
      <vt:lpstr>PowerPoint Presentation</vt:lpstr>
      <vt:lpstr>How secure is encryption Scheme</vt:lpstr>
      <vt:lpstr>Investigative Support</vt:lpstr>
      <vt:lpstr>How to ensure Users that both  Data and Code are safe?</vt:lpstr>
      <vt:lpstr>Trends associated with Cloud Security</vt:lpstr>
      <vt:lpstr>Why is Cloud Security Important</vt:lpstr>
      <vt:lpstr>What are the challenges?</vt:lpstr>
      <vt:lpstr>What End-users/customers expect from Cloud Security</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Security</dc:title>
  <dc:creator>Venkat</dc:creator>
  <cp:lastModifiedBy>GATHAMS</cp:lastModifiedBy>
  <cp:revision>78</cp:revision>
  <dcterms:created xsi:type="dcterms:W3CDTF">2012-08-09T04:29:34Z</dcterms:created>
  <dcterms:modified xsi:type="dcterms:W3CDTF">2026-05-18T05:10:53Z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TC300006909990</vt:lpwstr>
  </property>
</Properties>
</file>