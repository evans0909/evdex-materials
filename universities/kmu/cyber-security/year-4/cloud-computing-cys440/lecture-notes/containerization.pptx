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 id="272" r:id="rId6"/>
    <p:sldId id="257" r:id="rId7"/>
    <p:sldId id="259" r:id="rId8"/>
    <p:sldId id="286" r:id="rId9"/>
    <p:sldId id="283" r:id="rId10"/>
    <p:sldId id="284" r:id="rId11"/>
    <p:sldId id="285" r:id="rId12"/>
    <p:sldId id="274" r:id="rId13"/>
    <p:sldId id="276" r:id="rId14"/>
    <p:sldId id="277" r:id="rId15"/>
    <p:sldId id="260" r:id="rId16"/>
    <p:sldId id="261" r:id="rId17"/>
    <p:sldId id="263" r:id="rId18"/>
    <p:sldId id="264" r:id="rId19"/>
    <p:sldId id="265" r:id="rId20"/>
    <p:sldId id="262" r:id="rId21"/>
    <p:sldId id="267" r:id="rId22"/>
    <p:sldId id="268" r:id="rId23"/>
    <p:sldId id="269" r:id="rId24"/>
    <p:sldId id="270" r:id="rId25"/>
    <p:sldId id="27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081D14-9EB4-4E05-9383-2A7E2ECFC75C}" type="datetimeFigureOut">
              <a:rPr lang="en-IN" smtClean="0"/>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E218EB-DDD5-4E30-B1A8-21B26B45BE72}"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6E218EB-DDD5-4E30-B1A8-21B26B45BE72}" type="slidenum">
              <a:rPr lang="en-IN" smtClean="0"/>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fld id="{D6AE6635-9198-473B-B726-CBF2C2B362CE}" type="datetimeFigureOut">
              <a:rPr lang="en-IN" smtClean="0"/>
            </a:fld>
            <a:endParaRPr lang="en-IN"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endParaRPr lang="en-IN" dirty="0"/>
          </a:p>
        </p:txBody>
      </p:sp>
      <p:sp>
        <p:nvSpPr>
          <p:cNvPr id="27" name="Slide Number Placeholder 26"/>
          <p:cNvSpPr>
            <a:spLocks noGrp="1"/>
          </p:cNvSpPr>
          <p:nvPr>
            <p:ph type="sldNum" sz="quarter" idx="12"/>
          </p:nvPr>
        </p:nvSpPr>
        <p:spPr/>
        <p:txBody>
          <a:bodyPr/>
          <a:lstStyle>
            <a:lvl1pPr>
              <a:defRPr>
                <a:solidFill>
                  <a:srgbClr val="FFFFFF"/>
                </a:solidFill>
              </a:defRPr>
            </a:lvl1pPr>
          </a:lstStyle>
          <a:p>
            <a:fld id="{95146E04-2DE8-4DEE-8A28-6B49E1EAAF65}" type="slidenum">
              <a:rPr lang="en-IN" smtClean="0"/>
            </a:fld>
            <a:endParaRPr lang="en-IN"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AE6635-9198-473B-B726-CBF2C2B362CE}"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5146E04-2DE8-4DEE-8A28-6B49E1EAAF65}" type="slidenum">
              <a:rPr lang="en-IN" smtClean="0"/>
            </a:fld>
            <a:endParaRPr lang="en-IN" dirty="0"/>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D6AE6635-9198-473B-B726-CBF2C2B362CE}"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5146E04-2DE8-4DEE-8A28-6B49E1EAAF65}" type="slidenum">
              <a:rPr lang="en-IN" smtClean="0"/>
            </a:fld>
            <a:endParaRPr lang="en-IN"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6AE6635-9198-473B-B726-CBF2C2B362CE}"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5146E04-2DE8-4DEE-8A28-6B49E1EAAF65}" type="slidenum">
              <a:rPr lang="en-IN" smtClean="0"/>
            </a:fld>
            <a:endParaRPr lang="en-IN" dirty="0"/>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6AE6635-9198-473B-B726-CBF2C2B362CE}" type="datetimeFigureOut">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95146E04-2DE8-4DEE-8A28-6B49E1EAAF65}" type="slidenum">
              <a:rPr lang="en-IN" smtClean="0"/>
            </a:fld>
            <a:endParaRPr lang="en-IN"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6AE6635-9198-473B-B726-CBF2C2B362CE}" type="datetimeFigureOut">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95146E04-2DE8-4DEE-8A28-6B49E1EAAF65}" type="slidenum">
              <a:rPr lang="en-IN" smtClean="0"/>
            </a:fld>
            <a:endParaRPr lang="en-IN" dirty="0"/>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AE6635-9198-473B-B726-CBF2C2B362CE}" type="datetimeFigureOut">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95146E04-2DE8-4DEE-8A28-6B49E1EAAF65}" type="slidenum">
              <a:rPr lang="en-IN" smtClean="0"/>
            </a:fld>
            <a:endParaRPr lang="en-IN"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D6AE6635-9198-473B-B726-CBF2C2B362CE}" type="datetimeFigureOut">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5146E04-2DE8-4DEE-8A28-6B49E1EAAF65}" type="slidenum">
              <a:rPr lang="en-IN" smtClean="0"/>
            </a:fld>
            <a:endParaRPr lang="en-IN"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lstStyle>
          <a:p>
            <a:fld id="{D6AE6635-9198-473B-B726-CBF2C2B362CE}" type="datetimeFigureOut">
              <a:rPr lang="en-IN" smtClean="0"/>
            </a:fld>
            <a:endParaRPr lang="en-IN"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en-IN"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95146E04-2DE8-4DEE-8A28-6B49E1EAAF65}" type="slidenum">
              <a:rPr lang="en-IN" smtClean="0"/>
            </a:fld>
            <a:endParaRPr lang="en-IN"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smtClean="0"/>
              <a:t>Click to edit Master title style</a:t>
            </a:r>
            <a:endParaRPr kumimoji="0" lang="en-US"/>
          </a:p>
        </p:txBody>
      </p:sp>
      <p:sp>
        <p:nvSpPr>
          <p:cNvPr id="8" name="Freeform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AE6635-9198-473B-B726-CBF2C2B362CE}"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5146E04-2DE8-4DEE-8A28-6B49E1EAAF65}" type="slidenum">
              <a:rPr lang="en-IN" smtClean="0"/>
            </a:fld>
            <a:endParaRPr lang="en-IN"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AE6635-9198-473B-B726-CBF2C2B362CE}" type="datetimeFigureOut">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5146E04-2DE8-4DEE-8A28-6B49E1EAAF65}" type="slidenum">
              <a:rPr lang="en-IN" smtClean="0"/>
            </a:fld>
            <a:endParaRPr lang="en-IN"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D6AE6635-9198-473B-B726-CBF2C2B362CE}" type="datetimeFigureOut">
              <a:rPr lang="en-IN" smtClean="0"/>
            </a:fld>
            <a:endParaRPr lang="en-IN"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en-IN"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95146E04-2DE8-4DEE-8A28-6B49E1EAAF65}"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17.wdp"/><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19.wdp"/><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21.wdp"/><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23.wdp"/><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6400" y="304800"/>
            <a:ext cx="5943600" cy="839162"/>
          </a:xfrm>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Containerization</a:t>
            </a:r>
            <a:endParaRPr lang="en-IN" sz="4400" dirty="0">
              <a:effectLst/>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13816" y="5339823"/>
            <a:ext cx="7772400" cy="1199704"/>
          </a:xfrm>
        </p:spPr>
        <p:txBody>
          <a:bodyPr>
            <a:normAutofit/>
          </a:bodyPr>
          <a:lstStyle/>
          <a:p>
            <a:pPr algn="just"/>
            <a:r>
              <a:rPr lang="en-US" sz="2000" dirty="0" smtClean="0">
                <a:solidFill>
                  <a:schemeClr val="tx1"/>
                </a:solidFill>
                <a:latin typeface="Times New Roman" panose="02020603050405020304" pitchFamily="18" charset="0"/>
                <a:cs typeface="Times New Roman" panose="02020603050405020304" pitchFamily="18" charset="0"/>
              </a:rPr>
              <a:t>Presented By:</a:t>
            </a:r>
            <a:endParaRPr lang="en-US" sz="2000" dirty="0" smtClean="0">
              <a:solidFill>
                <a:schemeClr val="tx1"/>
              </a:solidFill>
              <a:latin typeface="Times New Roman" panose="02020603050405020304" pitchFamily="18" charset="0"/>
              <a:cs typeface="Times New Roman" panose="02020603050405020304" pitchFamily="18" charset="0"/>
            </a:endParaRPr>
          </a:p>
          <a:p>
            <a:pPr algn="just"/>
            <a:r>
              <a:rPr lang="en-US" altLang="en-IN" sz="2000" dirty="0">
                <a:solidFill>
                  <a:schemeClr val="tx1"/>
                </a:solidFill>
                <a:latin typeface="Times New Roman" panose="02020603050405020304" pitchFamily="18" charset="0"/>
                <a:cs typeface="Times New Roman" panose="02020603050405020304" pitchFamily="18" charset="0"/>
              </a:rPr>
              <a:t>Eng Ngosa Gathams</a:t>
            </a:r>
            <a:endParaRPr lang="en-US" altLang="en-IN" sz="2000" dirty="0">
              <a:solidFill>
                <a:schemeClr val="tx1"/>
              </a:solidFill>
              <a:latin typeface="Times New Roman" panose="02020603050405020304" pitchFamily="18" charset="0"/>
              <a:cs typeface="Times New Roman" panose="02020603050405020304" pitchFamily="18" charset="0"/>
            </a:endParaRPr>
          </a:p>
          <a:p>
            <a:pPr algn="just"/>
            <a:endParaRPr lang="en-US" altLang="en-IN" sz="2000" dirty="0">
              <a:solidFill>
                <a:schemeClr val="tx1"/>
              </a:solidFill>
              <a:latin typeface="Times New Roman" panose="02020603050405020304" pitchFamily="18" charset="0"/>
              <a:cs typeface="Times New Roman" panose="02020603050405020304" pitchFamily="18" charset="0"/>
            </a:endParaRPr>
          </a:p>
        </p:txBody>
      </p:sp>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1219201"/>
            <a:ext cx="76200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buSzPct val="150000"/>
              <a:buFont typeface="Arial" panose="020B0604020202020204" pitchFamily="34" charset="0"/>
              <a:buChar char="•"/>
            </a:pPr>
            <a:r>
              <a:rPr lang="en-US" dirty="0" smtClean="0"/>
              <a:t>Introduction</a:t>
            </a:r>
            <a:endParaRPr lang="en-US" dirty="0" smtClean="0"/>
          </a:p>
          <a:p>
            <a:pPr algn="just">
              <a:buSzPct val="150000"/>
              <a:buFont typeface="Arial" panose="020B0604020202020204" pitchFamily="34" charset="0"/>
              <a:buChar char="•"/>
            </a:pPr>
            <a:r>
              <a:rPr lang="en-US" dirty="0" smtClean="0"/>
              <a:t>How </a:t>
            </a:r>
            <a:r>
              <a:rPr lang="en-US" dirty="0" smtClean="0"/>
              <a:t>Containers Work?</a:t>
            </a:r>
            <a:endParaRPr lang="en-US" dirty="0" smtClean="0"/>
          </a:p>
          <a:p>
            <a:pPr algn="just">
              <a:buSzPct val="150000"/>
              <a:buFont typeface="Arial" panose="020B0604020202020204" pitchFamily="34" charset="0"/>
              <a:buChar char="•"/>
            </a:pPr>
            <a:r>
              <a:rPr lang="en-US" dirty="0" smtClean="0"/>
              <a:t>Architecture</a:t>
            </a:r>
            <a:endParaRPr lang="en-US" dirty="0" smtClean="0"/>
          </a:p>
          <a:p>
            <a:pPr algn="just">
              <a:buSzPct val="150000"/>
              <a:buFont typeface="Arial" panose="020B0604020202020204" pitchFamily="34" charset="0"/>
              <a:buChar char="•"/>
            </a:pPr>
            <a:r>
              <a:rPr lang="en-US" dirty="0"/>
              <a:t>Different </a:t>
            </a:r>
            <a:r>
              <a:rPr lang="en-US" dirty="0" smtClean="0"/>
              <a:t>Tools</a:t>
            </a:r>
            <a:endParaRPr lang="en-US" dirty="0" smtClean="0"/>
          </a:p>
          <a:p>
            <a:pPr algn="just">
              <a:buSzPct val="150000"/>
              <a:buFont typeface="Arial" panose="020B0604020202020204" pitchFamily="34" charset="0"/>
              <a:buChar char="•"/>
            </a:pPr>
            <a:r>
              <a:rPr lang="en-US" dirty="0" smtClean="0"/>
              <a:t>Containerization Vs Virtualization</a:t>
            </a:r>
            <a:endParaRPr lang="en-US" dirty="0" smtClean="0"/>
          </a:p>
          <a:p>
            <a:pPr algn="just">
              <a:buSzPct val="150000"/>
              <a:buFont typeface="Arial" panose="020B0604020202020204" pitchFamily="34" charset="0"/>
              <a:buChar char="•"/>
            </a:pPr>
            <a:r>
              <a:rPr lang="en-US" dirty="0" smtClean="0"/>
              <a:t>Services</a:t>
            </a:r>
            <a:endParaRPr lang="en-US" dirty="0" smtClean="0"/>
          </a:p>
          <a:p>
            <a:pPr algn="just">
              <a:buSzPct val="150000"/>
              <a:buFont typeface="Arial" panose="020B0604020202020204" pitchFamily="34" charset="0"/>
              <a:buChar char="•"/>
            </a:pPr>
            <a:r>
              <a:rPr lang="en-US" dirty="0" smtClean="0"/>
              <a:t>Advantages </a:t>
            </a:r>
            <a:endParaRPr lang="en-US" dirty="0"/>
          </a:p>
          <a:p>
            <a:pPr algn="just">
              <a:buSzPct val="150000"/>
              <a:buFont typeface="Arial" panose="020B0604020202020204" pitchFamily="34" charset="0"/>
              <a:buChar char="•"/>
            </a:pPr>
            <a:r>
              <a:rPr lang="en-US" dirty="0" smtClean="0"/>
              <a:t>Disadvantages</a:t>
            </a:r>
            <a:endParaRPr lang="en-US" dirty="0" smtClean="0"/>
          </a:p>
          <a:p>
            <a:pPr algn="just">
              <a:buSzPct val="150000"/>
              <a:buFont typeface="Arial" panose="020B0604020202020204" pitchFamily="34" charset="0"/>
              <a:buChar char="•"/>
            </a:pPr>
            <a:r>
              <a:rPr lang="en-US" dirty="0" smtClean="0"/>
              <a:t>Conclusion </a:t>
            </a:r>
            <a:endParaRPr lang="en-US" dirty="0" smtClean="0"/>
          </a:p>
          <a:p>
            <a:pPr algn="just">
              <a:buSzPct val="150000"/>
              <a:buFont typeface="Arial" panose="020B0604020202020204" pitchFamily="34" charset="0"/>
              <a:buChar char="•"/>
            </a:pPr>
            <a:endParaRPr lang="en-US" dirty="0" smtClean="0"/>
          </a:p>
          <a:p>
            <a:pPr algn="just">
              <a:buSzPct val="150000"/>
              <a:buFont typeface="Arial" panose="020B0604020202020204" pitchFamily="34" charset="0"/>
              <a:buChar char="•"/>
            </a:pPr>
            <a:endParaRPr lang="en-IN" dirty="0"/>
          </a:p>
        </p:txBody>
      </p:sp>
      <p:sp>
        <p:nvSpPr>
          <p:cNvPr id="3" name="Title 2"/>
          <p:cNvSpPr>
            <a:spLocks noGrp="1"/>
          </p:cNvSpPr>
          <p:nvPr>
            <p:ph type="title"/>
          </p:nvPr>
        </p:nvSpPr>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Contents</a:t>
            </a:r>
            <a:endParaRPr lang="en-IN" sz="440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525146"/>
            <a:ext cx="8229600" cy="641985"/>
          </a:xfrm>
          <a:prstGeom prst="rect">
            <a:avLst/>
          </a:prstGeom>
        </p:spPr>
        <p:txBody>
          <a:bodyPr vert="horz" wrap="square" lIns="0" tIns="11516" rIns="0" bIns="0" rtlCol="0">
            <a:spAutoFit/>
          </a:bodyPr>
          <a:lstStyle/>
          <a:p>
            <a:pPr marL="1873250">
              <a:lnSpc>
                <a:spcPct val="100000"/>
              </a:lnSpc>
              <a:spcBef>
                <a:spcPts val="100"/>
              </a:spcBef>
            </a:pPr>
            <a:r>
              <a:rPr spc="-10" dirty="0"/>
              <a:t>Virtualization</a:t>
            </a:r>
            <a:r>
              <a:rPr spc="-235" dirty="0"/>
              <a:t> </a:t>
            </a:r>
            <a:r>
              <a:rPr spc="-10" dirty="0"/>
              <a:t>Types</a:t>
            </a:r>
            <a:endParaRPr spc="-10" dirty="0"/>
          </a:p>
        </p:txBody>
      </p:sp>
      <p:sp>
        <p:nvSpPr>
          <p:cNvPr id="3" name="object 3"/>
          <p:cNvSpPr txBox="1"/>
          <p:nvPr/>
        </p:nvSpPr>
        <p:spPr>
          <a:xfrm>
            <a:off x="534360" y="1708453"/>
            <a:ext cx="140500" cy="189230"/>
          </a:xfrm>
          <a:prstGeom prst="rect">
            <a:avLst/>
          </a:prstGeom>
        </p:spPr>
        <p:txBody>
          <a:bodyPr vert="horz" wrap="square" lIns="0" tIns="14971" rIns="0" bIns="0" rtlCol="0">
            <a:spAutoFit/>
          </a:bodyPr>
          <a:lstStyle/>
          <a:p>
            <a:pPr marL="12700">
              <a:lnSpc>
                <a:spcPct val="100000"/>
              </a:lnSpc>
              <a:spcBef>
                <a:spcPts val="130"/>
              </a:spcBef>
            </a:pPr>
            <a:r>
              <a:rPr sz="1135" spc="-50" dirty="0">
                <a:latin typeface="OpenSymbol"/>
                <a:cs typeface="OpenSymbol"/>
              </a:rPr>
              <a:t>●</a:t>
            </a:r>
            <a:endParaRPr sz="1135">
              <a:latin typeface="OpenSymbol"/>
              <a:cs typeface="OpenSymbol"/>
            </a:endParaRPr>
          </a:p>
        </p:txBody>
      </p:sp>
      <p:sp>
        <p:nvSpPr>
          <p:cNvPr id="4" name="object 4"/>
          <p:cNvSpPr txBox="1"/>
          <p:nvPr/>
        </p:nvSpPr>
        <p:spPr>
          <a:xfrm>
            <a:off x="534360" y="4003666"/>
            <a:ext cx="140500" cy="189230"/>
          </a:xfrm>
          <a:prstGeom prst="rect">
            <a:avLst/>
          </a:prstGeom>
        </p:spPr>
        <p:txBody>
          <a:bodyPr vert="horz" wrap="square" lIns="0" tIns="14971" rIns="0" bIns="0" rtlCol="0">
            <a:spAutoFit/>
          </a:bodyPr>
          <a:lstStyle/>
          <a:p>
            <a:pPr marL="12700">
              <a:lnSpc>
                <a:spcPct val="100000"/>
              </a:lnSpc>
              <a:spcBef>
                <a:spcPts val="130"/>
              </a:spcBef>
            </a:pPr>
            <a:r>
              <a:rPr sz="1135" spc="-50" dirty="0">
                <a:latin typeface="OpenSymbol"/>
                <a:cs typeface="OpenSymbol"/>
              </a:rPr>
              <a:t>●</a:t>
            </a:r>
            <a:endParaRPr sz="1135">
              <a:latin typeface="OpenSymbol"/>
              <a:cs typeface="OpenSymbol"/>
            </a:endParaRPr>
          </a:p>
        </p:txBody>
      </p:sp>
      <p:sp>
        <p:nvSpPr>
          <p:cNvPr id="5" name="object 5"/>
          <p:cNvSpPr txBox="1"/>
          <p:nvPr/>
        </p:nvSpPr>
        <p:spPr>
          <a:xfrm>
            <a:off x="534360" y="4898489"/>
            <a:ext cx="140500" cy="189230"/>
          </a:xfrm>
          <a:prstGeom prst="rect">
            <a:avLst/>
          </a:prstGeom>
        </p:spPr>
        <p:txBody>
          <a:bodyPr vert="horz" wrap="square" lIns="0" tIns="14971" rIns="0" bIns="0" rtlCol="0">
            <a:spAutoFit/>
          </a:bodyPr>
          <a:lstStyle/>
          <a:p>
            <a:pPr marL="12700">
              <a:lnSpc>
                <a:spcPct val="100000"/>
              </a:lnSpc>
              <a:spcBef>
                <a:spcPts val="130"/>
              </a:spcBef>
            </a:pPr>
            <a:r>
              <a:rPr sz="1135" spc="-50" dirty="0">
                <a:latin typeface="OpenSymbol"/>
                <a:cs typeface="OpenSymbol"/>
              </a:rPr>
              <a:t>●</a:t>
            </a:r>
            <a:endParaRPr sz="1135">
              <a:latin typeface="OpenSymbol"/>
              <a:cs typeface="OpenSymbol"/>
            </a:endParaRPr>
          </a:p>
        </p:txBody>
      </p:sp>
      <p:sp>
        <p:nvSpPr>
          <p:cNvPr id="6" name="object 6"/>
          <p:cNvSpPr txBox="1"/>
          <p:nvPr/>
        </p:nvSpPr>
        <p:spPr>
          <a:xfrm>
            <a:off x="801539" y="1449273"/>
            <a:ext cx="7854166" cy="3447415"/>
          </a:xfrm>
          <a:prstGeom prst="rect">
            <a:avLst/>
          </a:prstGeom>
        </p:spPr>
        <p:txBody>
          <a:bodyPr vert="horz" wrap="square" lIns="0" tIns="126680" rIns="0" bIns="0" rtlCol="0">
            <a:spAutoFit/>
          </a:bodyPr>
          <a:lstStyle/>
          <a:p>
            <a:pPr marL="12700">
              <a:lnSpc>
                <a:spcPct val="100000"/>
              </a:lnSpc>
              <a:spcBef>
                <a:spcPts val="1100"/>
              </a:spcBef>
            </a:pPr>
            <a:r>
              <a:rPr sz="2630" dirty="0">
                <a:latin typeface="Liberation Sans"/>
                <a:cs typeface="Liberation Sans"/>
              </a:rPr>
              <a:t>Hardware</a:t>
            </a:r>
            <a:r>
              <a:rPr sz="2630" spc="-30" dirty="0">
                <a:latin typeface="Liberation Sans"/>
                <a:cs typeface="Liberation Sans"/>
              </a:rPr>
              <a:t> </a:t>
            </a:r>
            <a:r>
              <a:rPr sz="2630" spc="-10" dirty="0">
                <a:latin typeface="Liberation Sans"/>
                <a:cs typeface="Liberation Sans"/>
              </a:rPr>
              <a:t>Level</a:t>
            </a:r>
            <a:endParaRPr sz="2630">
              <a:latin typeface="Liberation Sans"/>
              <a:cs typeface="Liberation Sans"/>
            </a:endParaRPr>
          </a:p>
          <a:p>
            <a:pPr marL="406400" marR="1683385" indent="-294640">
              <a:lnSpc>
                <a:spcPct val="124000"/>
              </a:lnSpc>
              <a:spcBef>
                <a:spcPts val="140"/>
              </a:spcBef>
              <a:buSzPct val="75000"/>
              <a:buFont typeface="OpenSymbol"/>
              <a:buChar char="–"/>
              <a:tabLst>
                <a:tab pos="406400" algn="l"/>
              </a:tabLst>
            </a:pPr>
            <a:r>
              <a:rPr sz="3470" baseline="1000" dirty="0">
                <a:latin typeface="Liberation Sans"/>
                <a:cs typeface="Liberation Sans"/>
              </a:rPr>
              <a:t>Full</a:t>
            </a:r>
            <a:r>
              <a:rPr sz="3470" spc="-150" baseline="1000" dirty="0">
                <a:latin typeface="Liberation Sans"/>
                <a:cs typeface="Liberation Sans"/>
              </a:rPr>
              <a:t> </a:t>
            </a:r>
            <a:r>
              <a:rPr sz="3470" baseline="1000" dirty="0">
                <a:latin typeface="Liberation Sans"/>
                <a:cs typeface="Liberation Sans"/>
              </a:rPr>
              <a:t>Virtualization:</a:t>
            </a:r>
            <a:r>
              <a:rPr sz="3470" spc="-135" baseline="1000" dirty="0">
                <a:latin typeface="Liberation Sans"/>
                <a:cs typeface="Liberation Sans"/>
              </a:rPr>
              <a:t> </a:t>
            </a:r>
            <a:r>
              <a:rPr sz="3470" baseline="1000" dirty="0">
                <a:latin typeface="Liberation Sans"/>
                <a:cs typeface="Liberation Sans"/>
              </a:rPr>
              <a:t>Oracle</a:t>
            </a:r>
            <a:r>
              <a:rPr sz="3470" spc="-135" baseline="1000" dirty="0">
                <a:latin typeface="Liberation Sans"/>
                <a:cs typeface="Liberation Sans"/>
              </a:rPr>
              <a:t> </a:t>
            </a:r>
            <a:r>
              <a:rPr sz="3470" baseline="1000" dirty="0">
                <a:latin typeface="Liberation Sans"/>
                <a:cs typeface="Liberation Sans"/>
              </a:rPr>
              <a:t>VirtualBox,</a:t>
            </a:r>
            <a:r>
              <a:rPr sz="3470" spc="-142" baseline="1000" dirty="0">
                <a:latin typeface="Liberation Sans"/>
                <a:cs typeface="Liberation Sans"/>
              </a:rPr>
              <a:t> </a:t>
            </a:r>
            <a:r>
              <a:rPr sz="3470" spc="-15" baseline="1000" dirty="0">
                <a:latin typeface="Liberation Sans"/>
                <a:cs typeface="Liberation Sans"/>
              </a:rPr>
              <a:t>VMWare </a:t>
            </a:r>
            <a:r>
              <a:rPr sz="2310" spc="-10" dirty="0">
                <a:latin typeface="Liberation Sans"/>
                <a:cs typeface="Liberation Sans"/>
              </a:rPr>
              <a:t>Workstation,</a:t>
            </a:r>
            <a:r>
              <a:rPr sz="2310" spc="-60" dirty="0">
                <a:latin typeface="Liberation Sans"/>
                <a:cs typeface="Liberation Sans"/>
              </a:rPr>
              <a:t> </a:t>
            </a:r>
            <a:r>
              <a:rPr sz="2310" spc="-20" dirty="0">
                <a:latin typeface="Liberation Sans"/>
                <a:cs typeface="Liberation Sans"/>
              </a:rPr>
              <a:t>Qemu</a:t>
            </a:r>
            <a:endParaRPr sz="2310">
              <a:latin typeface="Liberation Sans"/>
              <a:cs typeface="Liberation Sans"/>
            </a:endParaRPr>
          </a:p>
          <a:p>
            <a:pPr marL="406400" marR="1020445" indent="-294640">
              <a:lnSpc>
                <a:spcPct val="124000"/>
              </a:lnSpc>
              <a:spcBef>
                <a:spcPts val="140"/>
              </a:spcBef>
              <a:buSzPct val="75000"/>
              <a:buFont typeface="OpenSymbol"/>
              <a:buChar char="–"/>
              <a:tabLst>
                <a:tab pos="406400" algn="l"/>
              </a:tabLst>
            </a:pPr>
            <a:r>
              <a:rPr sz="3470" baseline="1000" dirty="0">
                <a:latin typeface="Liberation Sans"/>
                <a:cs typeface="Liberation Sans"/>
              </a:rPr>
              <a:t>Bare</a:t>
            </a:r>
            <a:r>
              <a:rPr sz="3470" spc="-104" baseline="1000" dirty="0">
                <a:latin typeface="Liberation Sans"/>
                <a:cs typeface="Liberation Sans"/>
              </a:rPr>
              <a:t> </a:t>
            </a:r>
            <a:r>
              <a:rPr sz="3470" baseline="1000" dirty="0">
                <a:latin typeface="Liberation Sans"/>
                <a:cs typeface="Liberation Sans"/>
              </a:rPr>
              <a:t>Metal</a:t>
            </a:r>
            <a:r>
              <a:rPr sz="3470" spc="-104" baseline="1000" dirty="0">
                <a:latin typeface="Liberation Sans"/>
                <a:cs typeface="Liberation Sans"/>
              </a:rPr>
              <a:t> </a:t>
            </a:r>
            <a:r>
              <a:rPr sz="3470" baseline="1000" dirty="0">
                <a:latin typeface="Liberation Sans"/>
                <a:cs typeface="Liberation Sans"/>
              </a:rPr>
              <a:t>Virtualization:</a:t>
            </a:r>
            <a:r>
              <a:rPr sz="3470" spc="-104" baseline="1000" dirty="0">
                <a:latin typeface="Liberation Sans"/>
                <a:cs typeface="Liberation Sans"/>
              </a:rPr>
              <a:t> </a:t>
            </a:r>
            <a:r>
              <a:rPr sz="3470" baseline="1000" dirty="0">
                <a:latin typeface="Liberation Sans"/>
                <a:cs typeface="Liberation Sans"/>
              </a:rPr>
              <a:t>RedHat</a:t>
            </a:r>
            <a:r>
              <a:rPr sz="3470" spc="-104" baseline="1000" dirty="0">
                <a:latin typeface="Liberation Sans"/>
                <a:cs typeface="Liberation Sans"/>
              </a:rPr>
              <a:t> </a:t>
            </a:r>
            <a:r>
              <a:rPr sz="3470" baseline="1000" dirty="0">
                <a:latin typeface="Liberation Sans"/>
                <a:cs typeface="Liberation Sans"/>
              </a:rPr>
              <a:t>KVM,</a:t>
            </a:r>
            <a:r>
              <a:rPr sz="3470" spc="-97" baseline="1000" dirty="0">
                <a:latin typeface="Liberation Sans"/>
                <a:cs typeface="Liberation Sans"/>
              </a:rPr>
              <a:t> </a:t>
            </a:r>
            <a:r>
              <a:rPr sz="3470" baseline="1000" dirty="0">
                <a:latin typeface="Liberation Sans"/>
                <a:cs typeface="Liberation Sans"/>
              </a:rPr>
              <a:t>Citrix</a:t>
            </a:r>
            <a:r>
              <a:rPr sz="3470" spc="-104" baseline="1000" dirty="0">
                <a:latin typeface="Liberation Sans"/>
                <a:cs typeface="Liberation Sans"/>
              </a:rPr>
              <a:t> </a:t>
            </a:r>
            <a:r>
              <a:rPr sz="3470" spc="-30" baseline="1000" dirty="0">
                <a:latin typeface="Liberation Sans"/>
                <a:cs typeface="Liberation Sans"/>
              </a:rPr>
              <a:t>Xen, </a:t>
            </a:r>
            <a:r>
              <a:rPr sz="2310" spc="-10" dirty="0">
                <a:latin typeface="Liberation Sans"/>
                <a:cs typeface="Liberation Sans"/>
              </a:rPr>
              <a:t>VMWare</a:t>
            </a:r>
            <a:r>
              <a:rPr sz="2310" spc="-100" dirty="0">
                <a:latin typeface="Liberation Sans"/>
                <a:cs typeface="Liberation Sans"/>
              </a:rPr>
              <a:t> </a:t>
            </a:r>
            <a:r>
              <a:rPr sz="2310" dirty="0">
                <a:latin typeface="Liberation Sans"/>
                <a:cs typeface="Liberation Sans"/>
              </a:rPr>
              <a:t>Vsphere,</a:t>
            </a:r>
            <a:r>
              <a:rPr sz="2310" spc="-95" dirty="0">
                <a:latin typeface="Liberation Sans"/>
                <a:cs typeface="Liberation Sans"/>
              </a:rPr>
              <a:t> </a:t>
            </a:r>
            <a:r>
              <a:rPr sz="2310" dirty="0">
                <a:latin typeface="Liberation Sans"/>
                <a:cs typeface="Liberation Sans"/>
              </a:rPr>
              <a:t>Microsoft</a:t>
            </a:r>
            <a:r>
              <a:rPr sz="2310" spc="-90" dirty="0">
                <a:latin typeface="Liberation Sans"/>
                <a:cs typeface="Liberation Sans"/>
              </a:rPr>
              <a:t> </a:t>
            </a:r>
            <a:r>
              <a:rPr sz="2310" spc="-10" dirty="0">
                <a:latin typeface="Liberation Sans"/>
                <a:cs typeface="Liberation Sans"/>
              </a:rPr>
              <a:t>HyperV</a:t>
            </a:r>
            <a:endParaRPr sz="2310">
              <a:latin typeface="Liberation Sans"/>
              <a:cs typeface="Liberation Sans"/>
            </a:endParaRPr>
          </a:p>
          <a:p>
            <a:pPr marL="12700" marR="418465">
              <a:lnSpc>
                <a:spcPts val="3240"/>
              </a:lnSpc>
              <a:spcBef>
                <a:spcPts val="1345"/>
              </a:spcBef>
            </a:pPr>
            <a:r>
              <a:rPr sz="2630" dirty="0">
                <a:latin typeface="Liberation Sans"/>
                <a:cs typeface="Liberation Sans"/>
              </a:rPr>
              <a:t>Operating</a:t>
            </a:r>
            <a:r>
              <a:rPr sz="2630" spc="-15" dirty="0">
                <a:latin typeface="Liberation Sans"/>
                <a:cs typeface="Liberation Sans"/>
              </a:rPr>
              <a:t> </a:t>
            </a:r>
            <a:r>
              <a:rPr sz="2630" dirty="0">
                <a:latin typeface="Liberation Sans"/>
                <a:cs typeface="Liberation Sans"/>
              </a:rPr>
              <a:t>System</a:t>
            </a:r>
            <a:r>
              <a:rPr sz="2630" spc="-10" dirty="0">
                <a:latin typeface="Liberation Sans"/>
                <a:cs typeface="Liberation Sans"/>
              </a:rPr>
              <a:t> </a:t>
            </a:r>
            <a:r>
              <a:rPr sz="2630" dirty="0">
                <a:latin typeface="Liberation Sans"/>
                <a:cs typeface="Liberation Sans"/>
              </a:rPr>
              <a:t>Level</a:t>
            </a:r>
            <a:r>
              <a:rPr sz="2630" spc="-10" dirty="0">
                <a:latin typeface="Liberation Sans"/>
                <a:cs typeface="Liberation Sans"/>
              </a:rPr>
              <a:t> </a:t>
            </a:r>
            <a:r>
              <a:rPr sz="2630" dirty="0">
                <a:latin typeface="Liberation Sans"/>
                <a:cs typeface="Liberation Sans"/>
              </a:rPr>
              <a:t>(OS</a:t>
            </a:r>
            <a:r>
              <a:rPr sz="2630" spc="-5" dirty="0">
                <a:latin typeface="Liberation Sans"/>
                <a:cs typeface="Liberation Sans"/>
              </a:rPr>
              <a:t> </a:t>
            </a:r>
            <a:r>
              <a:rPr sz="2630" dirty="0">
                <a:latin typeface="Liberation Sans"/>
                <a:cs typeface="Liberation Sans"/>
              </a:rPr>
              <a:t>Container):</a:t>
            </a:r>
            <a:r>
              <a:rPr sz="2630" spc="-5" dirty="0">
                <a:latin typeface="Liberation Sans"/>
                <a:cs typeface="Liberation Sans"/>
              </a:rPr>
              <a:t> </a:t>
            </a:r>
            <a:r>
              <a:rPr sz="2630" spc="-10" dirty="0">
                <a:latin typeface="Liberation Sans"/>
                <a:cs typeface="Liberation Sans"/>
              </a:rPr>
              <a:t>OpenVZ, </a:t>
            </a:r>
            <a:r>
              <a:rPr sz="2630" spc="-25" dirty="0">
                <a:latin typeface="Liberation Sans"/>
                <a:cs typeface="Liberation Sans"/>
              </a:rPr>
              <a:t>LXC</a:t>
            </a:r>
            <a:endParaRPr sz="2630">
              <a:latin typeface="Liberation Sans"/>
              <a:cs typeface="Liberation Sans"/>
            </a:endParaRPr>
          </a:p>
          <a:p>
            <a:pPr marL="12700">
              <a:lnSpc>
                <a:spcPct val="100000"/>
              </a:lnSpc>
              <a:spcBef>
                <a:spcPts val="985"/>
              </a:spcBef>
            </a:pPr>
            <a:r>
              <a:rPr sz="2630" dirty="0">
                <a:latin typeface="Liberation Sans"/>
                <a:cs typeface="Liberation Sans"/>
              </a:rPr>
              <a:t>Application</a:t>
            </a:r>
            <a:r>
              <a:rPr sz="2630" spc="-35" dirty="0">
                <a:latin typeface="Liberation Sans"/>
                <a:cs typeface="Liberation Sans"/>
              </a:rPr>
              <a:t> </a:t>
            </a:r>
            <a:r>
              <a:rPr sz="2630" dirty="0">
                <a:latin typeface="Liberation Sans"/>
                <a:cs typeface="Liberation Sans"/>
              </a:rPr>
              <a:t>Level</a:t>
            </a:r>
            <a:r>
              <a:rPr sz="2630" spc="-35" dirty="0">
                <a:latin typeface="Liberation Sans"/>
                <a:cs typeface="Liberation Sans"/>
              </a:rPr>
              <a:t> </a:t>
            </a:r>
            <a:r>
              <a:rPr sz="2630" dirty="0">
                <a:latin typeface="Liberation Sans"/>
                <a:cs typeface="Liberation Sans"/>
              </a:rPr>
              <a:t>(Application</a:t>
            </a:r>
            <a:r>
              <a:rPr sz="2630" spc="-45" dirty="0">
                <a:latin typeface="Liberation Sans"/>
                <a:cs typeface="Liberation Sans"/>
              </a:rPr>
              <a:t> </a:t>
            </a:r>
            <a:r>
              <a:rPr sz="2630" dirty="0">
                <a:latin typeface="Liberation Sans"/>
                <a:cs typeface="Liberation Sans"/>
              </a:rPr>
              <a:t>Container):</a:t>
            </a:r>
            <a:r>
              <a:rPr sz="2630" spc="-35" dirty="0">
                <a:latin typeface="Liberation Sans"/>
                <a:cs typeface="Liberation Sans"/>
              </a:rPr>
              <a:t> </a:t>
            </a:r>
            <a:r>
              <a:rPr sz="2630" dirty="0">
                <a:latin typeface="Liberation Sans"/>
                <a:cs typeface="Liberation Sans"/>
              </a:rPr>
              <a:t>Docker,</a:t>
            </a:r>
            <a:r>
              <a:rPr sz="2630" spc="-40" dirty="0">
                <a:latin typeface="Liberation Sans"/>
                <a:cs typeface="Liberation Sans"/>
              </a:rPr>
              <a:t> </a:t>
            </a:r>
            <a:r>
              <a:rPr sz="2630" spc="-25" dirty="0">
                <a:latin typeface="Liberation Sans"/>
                <a:cs typeface="Liberation Sans"/>
              </a:rPr>
              <a:t>rkt</a:t>
            </a:r>
            <a:endParaRPr sz="2630">
              <a:latin typeface="Liberation Sans"/>
              <a:cs typeface="Liberation Sans"/>
            </a:endParaRPr>
          </a:p>
        </p:txBody>
      </p:sp>
      <p:pic>
        <p:nvPicPr>
          <p:cNvPr id="7" name="object 7"/>
          <p:cNvPicPr/>
          <p:nvPr/>
        </p:nvPicPr>
        <p:blipFill>
          <a:blip r:embed="rId1" cstate="print"/>
          <a:stretch>
            <a:fillRect/>
          </a:stretch>
        </p:blipFill>
        <p:spPr>
          <a:xfrm>
            <a:off x="130135" y="6302335"/>
            <a:ext cx="1174670" cy="538966"/>
          </a:xfrm>
          <a:prstGeom prst="rect">
            <a:avLst/>
          </a:prstGeom>
        </p:spPr>
      </p:pic>
      <p:sp>
        <p:nvSpPr>
          <p:cNvPr id="8" name="object 8"/>
          <p:cNvSpPr txBox="1">
            <a:spLocks noGrp="1"/>
          </p:cNvSpPr>
          <p:nvPr>
            <p:ph type="sldNum" sz="quarter" idx="7"/>
          </p:nvPr>
        </p:nvSpPr>
        <p:spPr>
          <a:xfrm>
            <a:off x="8647272" y="6564154"/>
            <a:ext cx="365760" cy="208915"/>
          </a:xfrm>
          <a:prstGeom prst="rect">
            <a:avLst/>
          </a:prstGeom>
        </p:spPr>
        <p:txBody>
          <a:bodyPr vert="horz" wrap="square" lIns="0" tIns="0" rIns="0" bIns="0" rtlCol="0">
            <a:spAutoFit/>
          </a:bodyPr>
          <a:lstStyle/>
          <a:p>
            <a:pPr marL="12700">
              <a:lnSpc>
                <a:spcPts val="1630"/>
              </a:lnSpc>
            </a:pPr>
            <a:fld id="{81D60167-4931-47E6-BA6A-407CBD079E47}" type="slidenum">
              <a:rPr sz="905" spc="-25" dirty="0"/>
            </a:fld>
            <a:endParaRPr sz="905" spc="-25"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algn="just">
              <a:lnSpc>
                <a:spcPct val="150000"/>
              </a:lnSpc>
              <a:buSzPct val="15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Containerization is defined as a form of operating system virtualization, through which applications are run in isolated user spaces called containers, all using the same shared operating system (OS). A container is essentially a fully packaged and portable computing environment:</a:t>
            </a:r>
            <a:endParaRPr lang="en-US" sz="24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Everything an application needs to run – its binaries, libraries, configuration files and dependencies – is encapsulated and isolated in its container.</a:t>
            </a:r>
            <a:endParaRPr lang="en-US" sz="24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container itself is abstracted away from the host OS, with only limited access to underlying resources – much like a lightweight virtual machine (VM</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Introduction Of Containerization</a:t>
            </a:r>
            <a:endParaRPr lang="en-IN" sz="440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690872"/>
          </a:xfrm>
        </p:spPr>
        <p:txBody>
          <a:bodyPr>
            <a:normAutofit fontScale="70000" lnSpcReduction="20000"/>
          </a:bodyPr>
          <a:lstStyle/>
          <a:p>
            <a:pPr algn="just">
              <a:lnSpc>
                <a:spcPct val="170000"/>
              </a:lnSpc>
              <a:buSzPct val="15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container is an executable package of software, running on top of a host OS</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 host(s) may support many containers (tens, hundreds or even thousands</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lnSpc>
                <a:spcPct val="170000"/>
              </a:lnSpc>
              <a:buSzPct val="15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the bottom, there is the hardware </a:t>
            </a:r>
            <a:r>
              <a:rPr lang="en-US" dirty="0" smtClean="0">
                <a:latin typeface="Times New Roman" panose="02020603050405020304" pitchFamily="18" charset="0"/>
                <a:cs typeface="Times New Roman" panose="02020603050405020304" pitchFamily="18" charset="0"/>
              </a:rPr>
              <a:t>including </a:t>
            </a:r>
            <a:r>
              <a:rPr lang="en-US" dirty="0">
                <a:latin typeface="Times New Roman" panose="02020603050405020304" pitchFamily="18" charset="0"/>
                <a:cs typeface="Times New Roman" panose="02020603050405020304" pitchFamily="18" charset="0"/>
              </a:rPr>
              <a:t>its </a:t>
            </a:r>
            <a:r>
              <a:rPr lang="en-US" dirty="0" smtClean="0">
                <a:latin typeface="Times New Roman" panose="02020603050405020304" pitchFamily="18" charset="0"/>
                <a:cs typeface="Times New Roman" panose="02020603050405020304" pitchFamily="18" charset="0"/>
              </a:rPr>
              <a:t>CPU, </a:t>
            </a:r>
            <a:r>
              <a:rPr lang="en-US" dirty="0">
                <a:latin typeface="Times New Roman" panose="02020603050405020304" pitchFamily="18" charset="0"/>
                <a:cs typeface="Times New Roman" panose="02020603050405020304" pitchFamily="18" charset="0"/>
              </a:rPr>
              <a:t>disk storage and network interfaces.</a:t>
            </a:r>
            <a:endParaRPr lang="en-US" dirty="0">
              <a:latin typeface="Times New Roman" panose="02020603050405020304" pitchFamily="18" charset="0"/>
              <a:cs typeface="Times New Roman" panose="02020603050405020304" pitchFamily="18" charset="0"/>
            </a:endParaRPr>
          </a:p>
          <a:p>
            <a:pPr algn="just">
              <a:lnSpc>
                <a:spcPct val="170000"/>
              </a:lnSpc>
              <a:buSzPct val="15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Above that, there is the host OS and its kernel – the latter serves as a bridge between the software of the OS and the hardware of the underlying system.</a:t>
            </a:r>
            <a:endParaRPr lang="en-US" dirty="0">
              <a:latin typeface="Times New Roman" panose="02020603050405020304" pitchFamily="18" charset="0"/>
              <a:cs typeface="Times New Roman" panose="02020603050405020304" pitchFamily="18" charset="0"/>
            </a:endParaRPr>
          </a:p>
          <a:p>
            <a:pPr algn="just">
              <a:lnSpc>
                <a:spcPct val="170000"/>
              </a:lnSpc>
              <a:buSzPct val="15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container engine and its minimal guest OS, which are particular to the containerization technology being used, sit atop the host OS.</a:t>
            </a:r>
            <a:endParaRPr lang="en-US" dirty="0">
              <a:latin typeface="Times New Roman" panose="02020603050405020304" pitchFamily="18" charset="0"/>
              <a:cs typeface="Times New Roman" panose="02020603050405020304" pitchFamily="18" charset="0"/>
            </a:endParaRPr>
          </a:p>
          <a:p>
            <a:pPr algn="just">
              <a:lnSpc>
                <a:spcPct val="170000"/>
              </a:lnSpc>
              <a:buSzPct val="150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the very top are the binaries and libraries (bins/libs) for each application and the apps themselves, running in their isolated user spaces (containers).</a:t>
            </a:r>
            <a:endParaRPr lang="en-US" dirty="0">
              <a:latin typeface="Times New Roman" panose="02020603050405020304" pitchFamily="18" charset="0"/>
              <a:cs typeface="Times New Roman" panose="02020603050405020304" pitchFamily="18" charset="0"/>
            </a:endParaRPr>
          </a:p>
          <a:p>
            <a:pPr algn="just">
              <a:lnSpc>
                <a:spcPct val="170000"/>
              </a:lnSpc>
              <a:buSzPct val="1500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How </a:t>
            </a:r>
            <a:r>
              <a:rPr lang="en-US" sz="4400" dirty="0" smtClean="0">
                <a:effectLst/>
                <a:latin typeface="Times New Roman" panose="02020603050405020304" pitchFamily="18" charset="0"/>
                <a:cs typeface="Times New Roman" panose="02020603050405020304" pitchFamily="18" charset="0"/>
              </a:rPr>
              <a:t>Containers Work?</a:t>
            </a:r>
            <a:endParaRPr lang="en-IN" sz="440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5432788"/>
            <a:ext cx="9140545" cy="1422848"/>
            <a:chOff x="0" y="5987983"/>
            <a:chExt cx="10079990" cy="1569085"/>
          </a:xfrm>
        </p:grpSpPr>
        <p:pic>
          <p:nvPicPr>
            <p:cNvPr id="3" name="object 3"/>
            <p:cNvPicPr/>
            <p:nvPr/>
          </p:nvPicPr>
          <p:blipFill>
            <a:blip r:embed="rId1" cstate="print"/>
            <a:stretch>
              <a:fillRect/>
            </a:stretch>
          </p:blipFill>
          <p:spPr>
            <a:xfrm>
              <a:off x="0" y="5987983"/>
              <a:ext cx="10079990" cy="1568516"/>
            </a:xfrm>
            <a:prstGeom prst="rect">
              <a:avLst/>
            </a:prstGeom>
          </p:spPr>
        </p:pic>
        <p:pic>
          <p:nvPicPr>
            <p:cNvPr id="4" name="object 4"/>
            <p:cNvPicPr/>
            <p:nvPr/>
          </p:nvPicPr>
          <p:blipFill>
            <a:blip r:embed="rId2" cstate="print"/>
            <a:stretch>
              <a:fillRect/>
            </a:stretch>
          </p:blipFill>
          <p:spPr>
            <a:xfrm>
              <a:off x="143510" y="6946900"/>
              <a:ext cx="1295400" cy="594360"/>
            </a:xfrm>
            <a:prstGeom prst="rect">
              <a:avLst/>
            </a:prstGeom>
          </p:spPr>
        </p:pic>
      </p:grpSp>
      <p:sp>
        <p:nvSpPr>
          <p:cNvPr id="5" name="object 5"/>
          <p:cNvSpPr txBox="1">
            <a:spLocks noGrp="1"/>
          </p:cNvSpPr>
          <p:nvPr>
            <p:ph type="title"/>
          </p:nvPr>
        </p:nvSpPr>
        <p:spPr>
          <a:xfrm>
            <a:off x="457200" y="525146"/>
            <a:ext cx="8229600" cy="641985"/>
          </a:xfrm>
          <a:prstGeom prst="rect">
            <a:avLst/>
          </a:prstGeom>
        </p:spPr>
        <p:txBody>
          <a:bodyPr vert="horz" wrap="square" lIns="0" tIns="11516" rIns="0" bIns="0" rtlCol="0">
            <a:spAutoFit/>
          </a:bodyPr>
          <a:lstStyle/>
          <a:p>
            <a:pPr marL="2314575">
              <a:lnSpc>
                <a:spcPct val="100000"/>
              </a:lnSpc>
              <a:spcBef>
                <a:spcPts val="100"/>
              </a:spcBef>
            </a:pPr>
            <a:r>
              <a:rPr dirty="0"/>
              <a:t>Container</a:t>
            </a:r>
            <a:r>
              <a:rPr spc="-125" dirty="0"/>
              <a:t> </a:t>
            </a:r>
            <a:r>
              <a:rPr dirty="0"/>
              <a:t>&amp;</a:t>
            </a:r>
            <a:r>
              <a:rPr spc="-114" dirty="0"/>
              <a:t> </a:t>
            </a:r>
            <a:r>
              <a:rPr spc="-25" dirty="0"/>
              <a:t>VM</a:t>
            </a:r>
            <a:endParaRPr spc="-25" dirty="0"/>
          </a:p>
        </p:txBody>
      </p:sp>
      <p:sp>
        <p:nvSpPr>
          <p:cNvPr id="6" name="object 6"/>
          <p:cNvSpPr txBox="1"/>
          <p:nvPr/>
        </p:nvSpPr>
        <p:spPr>
          <a:xfrm>
            <a:off x="732440" y="5435152"/>
            <a:ext cx="7667025" cy="726440"/>
          </a:xfrm>
          <a:prstGeom prst="rect">
            <a:avLst/>
          </a:prstGeom>
        </p:spPr>
        <p:txBody>
          <a:bodyPr vert="horz" wrap="square" lIns="0" tIns="42034" rIns="0" bIns="0" rtlCol="0">
            <a:spAutoFit/>
          </a:bodyPr>
          <a:lstStyle/>
          <a:p>
            <a:pPr marL="652780" marR="5080" indent="-640080">
              <a:lnSpc>
                <a:spcPts val="2670"/>
              </a:lnSpc>
              <a:spcBef>
                <a:spcPts val="365"/>
              </a:spcBef>
            </a:pPr>
            <a:r>
              <a:rPr sz="2175" dirty="0">
                <a:latin typeface="Liberation Sans"/>
                <a:cs typeface="Liberation Sans"/>
              </a:rPr>
              <a:t>Containers</a:t>
            </a:r>
            <a:r>
              <a:rPr sz="2175" spc="-80" dirty="0">
                <a:latin typeface="Liberation Sans"/>
                <a:cs typeface="Liberation Sans"/>
              </a:rPr>
              <a:t> </a:t>
            </a:r>
            <a:r>
              <a:rPr sz="2175" dirty="0">
                <a:latin typeface="Liberation Sans"/>
                <a:cs typeface="Liberation Sans"/>
              </a:rPr>
              <a:t>and</a:t>
            </a:r>
            <a:r>
              <a:rPr sz="2175" spc="-95" dirty="0">
                <a:latin typeface="Liberation Sans"/>
                <a:cs typeface="Liberation Sans"/>
              </a:rPr>
              <a:t> </a:t>
            </a:r>
            <a:r>
              <a:rPr sz="2175" dirty="0">
                <a:latin typeface="Liberation Sans"/>
                <a:cs typeface="Liberation Sans"/>
              </a:rPr>
              <a:t>VMs</a:t>
            </a:r>
            <a:r>
              <a:rPr sz="2175" spc="-85" dirty="0">
                <a:latin typeface="Liberation Sans"/>
                <a:cs typeface="Liberation Sans"/>
              </a:rPr>
              <a:t> </a:t>
            </a:r>
            <a:r>
              <a:rPr sz="2175" dirty="0">
                <a:latin typeface="Liberation Sans"/>
                <a:cs typeface="Liberation Sans"/>
              </a:rPr>
              <a:t>together</a:t>
            </a:r>
            <a:r>
              <a:rPr sz="2175" spc="-80" dirty="0">
                <a:latin typeface="Liberation Sans"/>
                <a:cs typeface="Liberation Sans"/>
              </a:rPr>
              <a:t> </a:t>
            </a:r>
            <a:r>
              <a:rPr sz="2175" dirty="0">
                <a:latin typeface="Liberation Sans"/>
                <a:cs typeface="Liberation Sans"/>
              </a:rPr>
              <a:t>provide</a:t>
            </a:r>
            <a:r>
              <a:rPr sz="2175" spc="-90" dirty="0">
                <a:latin typeface="Liberation Sans"/>
                <a:cs typeface="Liberation Sans"/>
              </a:rPr>
              <a:t> </a:t>
            </a:r>
            <a:r>
              <a:rPr sz="2175" dirty="0">
                <a:latin typeface="Liberation Sans"/>
                <a:cs typeface="Liberation Sans"/>
              </a:rPr>
              <a:t>a</a:t>
            </a:r>
            <a:r>
              <a:rPr sz="2175" spc="-95" dirty="0">
                <a:latin typeface="Liberation Sans"/>
                <a:cs typeface="Liberation Sans"/>
              </a:rPr>
              <a:t> </a:t>
            </a:r>
            <a:r>
              <a:rPr sz="2175" dirty="0">
                <a:latin typeface="Liberation Sans"/>
                <a:cs typeface="Liberation Sans"/>
              </a:rPr>
              <a:t>tremendous</a:t>
            </a:r>
            <a:r>
              <a:rPr sz="2175" spc="-85" dirty="0">
                <a:latin typeface="Liberation Sans"/>
                <a:cs typeface="Liberation Sans"/>
              </a:rPr>
              <a:t> </a:t>
            </a:r>
            <a:r>
              <a:rPr sz="2175" dirty="0">
                <a:latin typeface="Liberation Sans"/>
                <a:cs typeface="Liberation Sans"/>
              </a:rPr>
              <a:t>amount</a:t>
            </a:r>
            <a:r>
              <a:rPr sz="2175" spc="-90" dirty="0">
                <a:latin typeface="Liberation Sans"/>
                <a:cs typeface="Liberation Sans"/>
              </a:rPr>
              <a:t> </a:t>
            </a:r>
            <a:r>
              <a:rPr sz="2175" spc="-25" dirty="0">
                <a:latin typeface="Liberation Sans"/>
                <a:cs typeface="Liberation Sans"/>
              </a:rPr>
              <a:t>of </a:t>
            </a:r>
            <a:r>
              <a:rPr sz="2175" dirty="0">
                <a:latin typeface="Liberation Sans"/>
                <a:cs typeface="Liberation Sans"/>
              </a:rPr>
              <a:t>flexibility</a:t>
            </a:r>
            <a:r>
              <a:rPr sz="2175" spc="-70" dirty="0">
                <a:latin typeface="Liberation Sans"/>
                <a:cs typeface="Liberation Sans"/>
              </a:rPr>
              <a:t> </a:t>
            </a:r>
            <a:r>
              <a:rPr sz="2175" dirty="0">
                <a:latin typeface="Liberation Sans"/>
                <a:cs typeface="Liberation Sans"/>
              </a:rPr>
              <a:t>for</a:t>
            </a:r>
            <a:r>
              <a:rPr sz="2175" spc="-65" dirty="0">
                <a:latin typeface="Liberation Sans"/>
                <a:cs typeface="Liberation Sans"/>
              </a:rPr>
              <a:t> </a:t>
            </a:r>
            <a:r>
              <a:rPr sz="2175" dirty="0">
                <a:latin typeface="Liberation Sans"/>
                <a:cs typeface="Liberation Sans"/>
              </a:rPr>
              <a:t>IT</a:t>
            </a:r>
            <a:r>
              <a:rPr sz="2175" spc="-105" dirty="0">
                <a:latin typeface="Liberation Sans"/>
                <a:cs typeface="Liberation Sans"/>
              </a:rPr>
              <a:t> </a:t>
            </a:r>
            <a:r>
              <a:rPr sz="2175" dirty="0">
                <a:latin typeface="Liberation Sans"/>
                <a:cs typeface="Liberation Sans"/>
              </a:rPr>
              <a:t>to</a:t>
            </a:r>
            <a:r>
              <a:rPr sz="2175" spc="-65" dirty="0">
                <a:latin typeface="Liberation Sans"/>
                <a:cs typeface="Liberation Sans"/>
              </a:rPr>
              <a:t> </a:t>
            </a:r>
            <a:r>
              <a:rPr sz="2175" dirty="0">
                <a:latin typeface="Liberation Sans"/>
                <a:cs typeface="Liberation Sans"/>
              </a:rPr>
              <a:t>optimally</a:t>
            </a:r>
            <a:r>
              <a:rPr sz="2175" spc="-70" dirty="0">
                <a:latin typeface="Liberation Sans"/>
                <a:cs typeface="Liberation Sans"/>
              </a:rPr>
              <a:t> </a:t>
            </a:r>
            <a:r>
              <a:rPr sz="2175" dirty="0">
                <a:latin typeface="Liberation Sans"/>
                <a:cs typeface="Liberation Sans"/>
              </a:rPr>
              <a:t>deploy</a:t>
            </a:r>
            <a:r>
              <a:rPr sz="2175" spc="-70" dirty="0">
                <a:latin typeface="Liberation Sans"/>
                <a:cs typeface="Liberation Sans"/>
              </a:rPr>
              <a:t> </a:t>
            </a:r>
            <a:r>
              <a:rPr sz="2175" dirty="0">
                <a:latin typeface="Liberation Sans"/>
                <a:cs typeface="Liberation Sans"/>
              </a:rPr>
              <a:t>and</a:t>
            </a:r>
            <a:r>
              <a:rPr sz="2175" spc="-75" dirty="0">
                <a:latin typeface="Liberation Sans"/>
                <a:cs typeface="Liberation Sans"/>
              </a:rPr>
              <a:t> </a:t>
            </a:r>
            <a:r>
              <a:rPr sz="2175" dirty="0">
                <a:latin typeface="Liberation Sans"/>
                <a:cs typeface="Liberation Sans"/>
              </a:rPr>
              <a:t>manage</a:t>
            </a:r>
            <a:r>
              <a:rPr sz="2175" spc="-70" dirty="0">
                <a:latin typeface="Liberation Sans"/>
                <a:cs typeface="Liberation Sans"/>
              </a:rPr>
              <a:t> </a:t>
            </a:r>
            <a:r>
              <a:rPr sz="2175" spc="-10" dirty="0">
                <a:latin typeface="Liberation Sans"/>
                <a:cs typeface="Liberation Sans"/>
              </a:rPr>
              <a:t>apps.</a:t>
            </a:r>
            <a:endParaRPr sz="2175">
              <a:latin typeface="Liberation Sans"/>
              <a:cs typeface="Liberation Sans"/>
            </a:endParaRPr>
          </a:p>
        </p:txBody>
      </p:sp>
      <p:pic>
        <p:nvPicPr>
          <p:cNvPr id="7" name="object 7"/>
          <p:cNvPicPr/>
          <p:nvPr/>
        </p:nvPicPr>
        <p:blipFill>
          <a:blip r:embed="rId3" cstate="print"/>
          <a:stretch>
            <a:fillRect/>
          </a:stretch>
        </p:blipFill>
        <p:spPr>
          <a:xfrm>
            <a:off x="556240" y="1257012"/>
            <a:ext cx="8153592" cy="4014608"/>
          </a:xfrm>
          <a:prstGeom prst="rect">
            <a:avLst/>
          </a:prstGeom>
        </p:spPr>
      </p:pic>
      <p:sp>
        <p:nvSpPr>
          <p:cNvPr id="8" name="object 8"/>
          <p:cNvSpPr txBox="1">
            <a:spLocks noGrp="1"/>
          </p:cNvSpPr>
          <p:nvPr>
            <p:ph type="sldNum" sz="quarter" idx="7"/>
          </p:nvPr>
        </p:nvSpPr>
        <p:spPr>
          <a:xfrm>
            <a:off x="8647272" y="6564154"/>
            <a:ext cx="365760" cy="208915"/>
          </a:xfrm>
          <a:prstGeom prst="rect">
            <a:avLst/>
          </a:prstGeom>
        </p:spPr>
        <p:txBody>
          <a:bodyPr vert="horz" wrap="square" lIns="0" tIns="0" rIns="0" bIns="0" rtlCol="0">
            <a:spAutoFit/>
          </a:bodyPr>
          <a:lstStyle/>
          <a:p>
            <a:pPr marL="12700">
              <a:lnSpc>
                <a:spcPts val="1630"/>
              </a:lnSpc>
            </a:pPr>
            <a:fld id="{81D60167-4931-47E6-BA6A-407CBD079E47}" type="slidenum">
              <a:rPr sz="905" spc="-25" dirty="0"/>
            </a:fld>
            <a:endParaRPr sz="905" spc="-25"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What is Containerization? - Technology and Trends"/>
          <p:cNvPicPr>
            <a:picLocks noChangeAspect="1" noChangeArrowheads="1"/>
          </p:cNvPicPr>
          <p:nvPr/>
        </p:nvPicPr>
        <p:blipFill rotWithShape="1">
          <a:blip r:embed="rId1">
            <a:extLst>
              <a:ext uri="{28A0092B-C50C-407E-A947-70E740481C1C}">
                <a14:useLocalDpi xmlns:a14="http://schemas.microsoft.com/office/drawing/2010/main" val="0"/>
              </a:ext>
            </a:extLst>
          </a:blip>
          <a:srcRect r="-4" b="-2"/>
          <a:stretch>
            <a:fillRect/>
          </a:stretch>
        </p:blipFill>
        <p:spPr bwMode="auto">
          <a:xfrm>
            <a:off x="241300" y="1098550"/>
            <a:ext cx="8661401" cy="4660901"/>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054"/>
          <p:cNvSpPr>
            <a:spLocks noGrp="1" noRot="1" noChangeAspect="1" noMove="1" noResize="1" noEditPoints="1" noAdjustHandles="1" noChangeArrowheads="1" noChangeShapeType="1" noTextEdit="1"/>
          </p:cNvSpPr>
          <p:nvPr/>
        </p:nvSpPr>
        <p:spPr bwMode="white">
          <a:xfrm>
            <a:off x="1143" y="85725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pic>
        <p:nvPicPr>
          <p:cNvPr id="2050" name="Picture 2" descr="Containerization: A Definition and Best Practices Guide - Plutora.com"/>
          <p:cNvPicPr>
            <a:picLocks noChangeAspect="1" noChangeArrowheads="1"/>
          </p:cNvPicPr>
          <p:nvPr/>
        </p:nvPicPr>
        <p:blipFill rotWithShape="1">
          <a:blip r:embed="rId1">
            <a:extLst>
              <a:ext uri="{28A0092B-C50C-407E-A947-70E740481C1C}">
                <a14:useLocalDpi xmlns:a14="http://schemas.microsoft.com/office/drawing/2010/main" val="0"/>
              </a:ext>
            </a:extLst>
          </a:blip>
          <a:srcRect t="8945" b="3181"/>
          <a:stretch>
            <a:fillRect/>
          </a:stretch>
        </p:blipFill>
        <p:spPr bwMode="auto">
          <a:xfrm>
            <a:off x="15" y="858212"/>
            <a:ext cx="9143985" cy="51425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lfresco Docs - Deployment and Containerization Support Polic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992981"/>
            <a:ext cx="9144000" cy="4872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5432788"/>
            <a:ext cx="9140545" cy="1422848"/>
            <a:chOff x="0" y="5987983"/>
            <a:chExt cx="10079990" cy="1569085"/>
          </a:xfrm>
        </p:grpSpPr>
        <p:pic>
          <p:nvPicPr>
            <p:cNvPr id="3" name="object 3"/>
            <p:cNvPicPr/>
            <p:nvPr/>
          </p:nvPicPr>
          <p:blipFill>
            <a:blip r:embed="rId1" cstate="print"/>
            <a:stretch>
              <a:fillRect/>
            </a:stretch>
          </p:blipFill>
          <p:spPr>
            <a:xfrm>
              <a:off x="0" y="5987983"/>
              <a:ext cx="10079990" cy="1568516"/>
            </a:xfrm>
            <a:prstGeom prst="rect">
              <a:avLst/>
            </a:prstGeom>
          </p:spPr>
        </p:pic>
        <p:pic>
          <p:nvPicPr>
            <p:cNvPr id="4" name="object 4"/>
            <p:cNvPicPr/>
            <p:nvPr/>
          </p:nvPicPr>
          <p:blipFill>
            <a:blip r:embed="rId2" cstate="print"/>
            <a:stretch>
              <a:fillRect/>
            </a:stretch>
          </p:blipFill>
          <p:spPr>
            <a:xfrm>
              <a:off x="143510" y="6946900"/>
              <a:ext cx="1295400" cy="594360"/>
            </a:xfrm>
            <a:prstGeom prst="rect">
              <a:avLst/>
            </a:prstGeom>
          </p:spPr>
        </p:pic>
      </p:grpSp>
      <p:sp>
        <p:nvSpPr>
          <p:cNvPr id="5" name="object 5"/>
          <p:cNvSpPr txBox="1">
            <a:spLocks noGrp="1"/>
          </p:cNvSpPr>
          <p:nvPr>
            <p:ph type="title"/>
          </p:nvPr>
        </p:nvSpPr>
        <p:spPr>
          <a:xfrm>
            <a:off x="457200" y="525146"/>
            <a:ext cx="8229600" cy="641985"/>
          </a:xfrm>
          <a:prstGeom prst="rect">
            <a:avLst/>
          </a:prstGeom>
        </p:spPr>
        <p:txBody>
          <a:bodyPr vert="horz" wrap="square" lIns="0" tIns="11516" rIns="0" bIns="0" rtlCol="0">
            <a:spAutoFit/>
          </a:bodyPr>
          <a:lstStyle/>
          <a:p>
            <a:pPr marL="2221230">
              <a:lnSpc>
                <a:spcPct val="100000"/>
              </a:lnSpc>
              <a:spcBef>
                <a:spcPts val="100"/>
              </a:spcBef>
            </a:pPr>
            <a:r>
              <a:rPr dirty="0"/>
              <a:t>Container</a:t>
            </a:r>
            <a:r>
              <a:rPr spc="-100" dirty="0"/>
              <a:t> </a:t>
            </a:r>
            <a:r>
              <a:rPr dirty="0"/>
              <a:t>vs</a:t>
            </a:r>
            <a:r>
              <a:rPr spc="-90" dirty="0"/>
              <a:t> </a:t>
            </a:r>
            <a:r>
              <a:rPr spc="-25" dirty="0"/>
              <a:t>VM</a:t>
            </a:r>
            <a:endParaRPr spc="-25" dirty="0"/>
          </a:p>
        </p:txBody>
      </p:sp>
      <p:pic>
        <p:nvPicPr>
          <p:cNvPr id="6" name="object 6"/>
          <p:cNvPicPr/>
          <p:nvPr/>
        </p:nvPicPr>
        <p:blipFill>
          <a:blip r:embed="rId3" cstate="print"/>
          <a:stretch>
            <a:fillRect/>
          </a:stretch>
        </p:blipFill>
        <p:spPr>
          <a:xfrm>
            <a:off x="457200" y="1365266"/>
            <a:ext cx="4014608" cy="3608080"/>
          </a:xfrm>
          <a:prstGeom prst="rect">
            <a:avLst/>
          </a:prstGeom>
        </p:spPr>
      </p:pic>
      <p:pic>
        <p:nvPicPr>
          <p:cNvPr id="7" name="object 7"/>
          <p:cNvPicPr/>
          <p:nvPr/>
        </p:nvPicPr>
        <p:blipFill>
          <a:blip r:embed="rId4" cstate="print"/>
          <a:stretch>
            <a:fillRect/>
          </a:stretch>
        </p:blipFill>
        <p:spPr>
          <a:xfrm>
            <a:off x="4672192" y="1371024"/>
            <a:ext cx="4014608" cy="3598866"/>
          </a:xfrm>
          <a:prstGeom prst="rect">
            <a:avLst/>
          </a:prstGeom>
        </p:spPr>
      </p:pic>
      <p:sp>
        <p:nvSpPr>
          <p:cNvPr id="8" name="object 8"/>
          <p:cNvSpPr txBox="1"/>
          <p:nvPr/>
        </p:nvSpPr>
        <p:spPr>
          <a:xfrm>
            <a:off x="591942" y="5100026"/>
            <a:ext cx="3841286" cy="600075"/>
          </a:xfrm>
          <a:prstGeom prst="rect">
            <a:avLst/>
          </a:prstGeom>
        </p:spPr>
        <p:txBody>
          <a:bodyPr vert="horz" wrap="square" lIns="0" tIns="35124" rIns="0" bIns="0" rtlCol="0">
            <a:spAutoFit/>
          </a:bodyPr>
          <a:lstStyle/>
          <a:p>
            <a:pPr marL="12065" marR="5080" algn="ctr">
              <a:lnSpc>
                <a:spcPct val="92000"/>
              </a:lnSpc>
              <a:spcBef>
                <a:spcPts val="305"/>
              </a:spcBef>
            </a:pPr>
            <a:r>
              <a:rPr sz="1995" dirty="0">
                <a:latin typeface="Liberation Sans"/>
                <a:cs typeface="Liberation Sans"/>
              </a:rPr>
              <a:t>VMs</a:t>
            </a:r>
            <a:r>
              <a:rPr sz="1995" spc="-70" dirty="0">
                <a:latin typeface="Liberation Sans"/>
                <a:cs typeface="Liberation Sans"/>
              </a:rPr>
              <a:t> </a:t>
            </a:r>
            <a:r>
              <a:rPr sz="1995" dirty="0">
                <a:latin typeface="Liberation Sans"/>
                <a:cs typeface="Liberation Sans"/>
              </a:rPr>
              <a:t>are</a:t>
            </a:r>
            <a:r>
              <a:rPr sz="1995" spc="-60" dirty="0">
                <a:latin typeface="Liberation Sans"/>
                <a:cs typeface="Liberation Sans"/>
              </a:rPr>
              <a:t> </a:t>
            </a:r>
            <a:r>
              <a:rPr sz="1995" dirty="0">
                <a:latin typeface="Liberation Sans"/>
                <a:cs typeface="Liberation Sans"/>
              </a:rPr>
              <a:t>an</a:t>
            </a:r>
            <a:r>
              <a:rPr sz="1995" spc="-65" dirty="0">
                <a:latin typeface="Liberation Sans"/>
                <a:cs typeface="Liberation Sans"/>
              </a:rPr>
              <a:t> </a:t>
            </a:r>
            <a:r>
              <a:rPr sz="1995" dirty="0">
                <a:latin typeface="Liberation Sans"/>
                <a:cs typeface="Liberation Sans"/>
              </a:rPr>
              <a:t>infrastructure</a:t>
            </a:r>
            <a:r>
              <a:rPr sz="1995" spc="-60" dirty="0">
                <a:latin typeface="Liberation Sans"/>
                <a:cs typeface="Liberation Sans"/>
              </a:rPr>
              <a:t> </a:t>
            </a:r>
            <a:r>
              <a:rPr sz="1995" spc="-10" dirty="0">
                <a:latin typeface="Liberation Sans"/>
                <a:cs typeface="Liberation Sans"/>
              </a:rPr>
              <a:t>level </a:t>
            </a:r>
            <a:r>
              <a:rPr sz="1995" dirty="0">
                <a:latin typeface="Liberation Sans"/>
                <a:cs typeface="Liberation Sans"/>
              </a:rPr>
              <a:t>construct</a:t>
            </a:r>
            <a:r>
              <a:rPr sz="1995" spc="-60" dirty="0">
                <a:latin typeface="Liberation Sans"/>
                <a:cs typeface="Liberation Sans"/>
              </a:rPr>
              <a:t> </a:t>
            </a:r>
            <a:r>
              <a:rPr sz="1995" dirty="0">
                <a:latin typeface="Liberation Sans"/>
                <a:cs typeface="Liberation Sans"/>
              </a:rPr>
              <a:t>to</a:t>
            </a:r>
            <a:r>
              <a:rPr sz="1995" spc="-65" dirty="0">
                <a:latin typeface="Liberation Sans"/>
                <a:cs typeface="Liberation Sans"/>
              </a:rPr>
              <a:t> </a:t>
            </a:r>
            <a:r>
              <a:rPr sz="1995" dirty="0">
                <a:latin typeface="Liberation Sans"/>
                <a:cs typeface="Liberation Sans"/>
              </a:rPr>
              <a:t>turn</a:t>
            </a:r>
            <a:r>
              <a:rPr sz="1995" spc="-60" dirty="0">
                <a:latin typeface="Liberation Sans"/>
                <a:cs typeface="Liberation Sans"/>
              </a:rPr>
              <a:t> </a:t>
            </a:r>
            <a:r>
              <a:rPr sz="1995" dirty="0">
                <a:latin typeface="Liberation Sans"/>
                <a:cs typeface="Liberation Sans"/>
              </a:rPr>
              <a:t>one</a:t>
            </a:r>
            <a:r>
              <a:rPr sz="1995" spc="-65" dirty="0">
                <a:latin typeface="Liberation Sans"/>
                <a:cs typeface="Liberation Sans"/>
              </a:rPr>
              <a:t> </a:t>
            </a:r>
            <a:r>
              <a:rPr sz="1995" dirty="0">
                <a:latin typeface="Liberation Sans"/>
                <a:cs typeface="Liberation Sans"/>
              </a:rPr>
              <a:t>machine</a:t>
            </a:r>
            <a:r>
              <a:rPr sz="1995" spc="-60" dirty="0">
                <a:latin typeface="Liberation Sans"/>
                <a:cs typeface="Liberation Sans"/>
              </a:rPr>
              <a:t> </a:t>
            </a:r>
            <a:r>
              <a:rPr sz="1995" spc="-20" dirty="0">
                <a:latin typeface="Liberation Sans"/>
                <a:cs typeface="Liberation Sans"/>
              </a:rPr>
              <a:t>into </a:t>
            </a:r>
            <a:r>
              <a:rPr sz="1995" dirty="0">
                <a:latin typeface="Liberation Sans"/>
                <a:cs typeface="Liberation Sans"/>
              </a:rPr>
              <a:t>many</a:t>
            </a:r>
            <a:r>
              <a:rPr sz="1995" spc="-60" dirty="0">
                <a:latin typeface="Liberation Sans"/>
                <a:cs typeface="Liberation Sans"/>
              </a:rPr>
              <a:t> </a:t>
            </a:r>
            <a:r>
              <a:rPr sz="1995" spc="-10" dirty="0">
                <a:latin typeface="Liberation Sans"/>
                <a:cs typeface="Liberation Sans"/>
              </a:rPr>
              <a:t>servers</a:t>
            </a:r>
            <a:endParaRPr sz="1995">
              <a:latin typeface="Liberation Sans"/>
              <a:cs typeface="Liberation Sans"/>
            </a:endParaRPr>
          </a:p>
        </p:txBody>
      </p:sp>
      <p:sp>
        <p:nvSpPr>
          <p:cNvPr id="10" name="object 10"/>
          <p:cNvSpPr txBox="1">
            <a:spLocks noGrp="1"/>
          </p:cNvSpPr>
          <p:nvPr>
            <p:ph type="sldNum" sz="quarter" idx="7"/>
          </p:nvPr>
        </p:nvSpPr>
        <p:spPr>
          <a:xfrm>
            <a:off x="8647272" y="6564154"/>
            <a:ext cx="365760" cy="208915"/>
          </a:xfrm>
          <a:prstGeom prst="rect">
            <a:avLst/>
          </a:prstGeom>
        </p:spPr>
        <p:txBody>
          <a:bodyPr vert="horz" wrap="square" lIns="0" tIns="0" rIns="0" bIns="0" rtlCol="0">
            <a:spAutoFit/>
          </a:bodyPr>
          <a:lstStyle/>
          <a:p>
            <a:pPr marL="12700">
              <a:lnSpc>
                <a:spcPts val="1630"/>
              </a:lnSpc>
            </a:pPr>
            <a:fld id="{81D60167-4931-47E6-BA6A-407CBD079E47}" type="slidenum">
              <a:rPr sz="905" spc="-25" dirty="0"/>
            </a:fld>
            <a:endParaRPr sz="905" spc="-25" dirty="0"/>
          </a:p>
        </p:txBody>
      </p:sp>
      <p:sp>
        <p:nvSpPr>
          <p:cNvPr id="9" name="object 9"/>
          <p:cNvSpPr txBox="1"/>
          <p:nvPr/>
        </p:nvSpPr>
        <p:spPr>
          <a:xfrm>
            <a:off x="5492157" y="5100026"/>
            <a:ext cx="2530147" cy="664845"/>
          </a:xfrm>
          <a:prstGeom prst="rect">
            <a:avLst/>
          </a:prstGeom>
        </p:spPr>
        <p:txBody>
          <a:bodyPr vert="horz" wrap="square" lIns="0" tIns="39731" rIns="0" bIns="0" rtlCol="0">
            <a:spAutoFit/>
          </a:bodyPr>
          <a:lstStyle/>
          <a:p>
            <a:pPr marL="499745" marR="5080" indent="-487680">
              <a:lnSpc>
                <a:spcPts val="2440"/>
              </a:lnSpc>
              <a:spcBef>
                <a:spcPts val="345"/>
              </a:spcBef>
            </a:pPr>
            <a:r>
              <a:rPr sz="1995" dirty="0">
                <a:latin typeface="Liberation Sans"/>
                <a:cs typeface="Liberation Sans"/>
              </a:rPr>
              <a:t>Containers</a:t>
            </a:r>
            <a:r>
              <a:rPr sz="1995" spc="-65" dirty="0">
                <a:latin typeface="Liberation Sans"/>
                <a:cs typeface="Liberation Sans"/>
              </a:rPr>
              <a:t> </a:t>
            </a:r>
            <a:r>
              <a:rPr sz="1995" dirty="0">
                <a:latin typeface="Liberation Sans"/>
                <a:cs typeface="Liberation Sans"/>
              </a:rPr>
              <a:t>are</a:t>
            </a:r>
            <a:r>
              <a:rPr sz="1995" spc="-55" dirty="0">
                <a:latin typeface="Liberation Sans"/>
                <a:cs typeface="Liberation Sans"/>
              </a:rPr>
              <a:t> </a:t>
            </a:r>
            <a:r>
              <a:rPr sz="1995" dirty="0">
                <a:latin typeface="Liberation Sans"/>
                <a:cs typeface="Liberation Sans"/>
              </a:rPr>
              <a:t>an</a:t>
            </a:r>
            <a:r>
              <a:rPr sz="1995" spc="-65" dirty="0">
                <a:latin typeface="Liberation Sans"/>
                <a:cs typeface="Liberation Sans"/>
              </a:rPr>
              <a:t> </a:t>
            </a:r>
            <a:r>
              <a:rPr sz="1995" spc="-25" dirty="0">
                <a:latin typeface="Liberation Sans"/>
                <a:cs typeface="Liberation Sans"/>
              </a:rPr>
              <a:t>app </a:t>
            </a:r>
            <a:r>
              <a:rPr sz="1995" dirty="0">
                <a:latin typeface="Liberation Sans"/>
                <a:cs typeface="Liberation Sans"/>
              </a:rPr>
              <a:t>level</a:t>
            </a:r>
            <a:r>
              <a:rPr sz="1995" spc="-50" dirty="0">
                <a:latin typeface="Liberation Sans"/>
                <a:cs typeface="Liberation Sans"/>
              </a:rPr>
              <a:t> </a:t>
            </a:r>
            <a:r>
              <a:rPr sz="1995" spc="-10" dirty="0">
                <a:latin typeface="Liberation Sans"/>
                <a:cs typeface="Liberation Sans"/>
              </a:rPr>
              <a:t>construct</a:t>
            </a:r>
            <a:endParaRPr sz="1995">
              <a:latin typeface="Liberation Sans"/>
              <a:cs typeface="Liberation Sans"/>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5432788"/>
            <a:ext cx="9140545" cy="1422332"/>
          </a:xfrm>
          <a:prstGeom prst="rect">
            <a:avLst/>
          </a:prstGeom>
        </p:spPr>
      </p:pic>
      <p:sp>
        <p:nvSpPr>
          <p:cNvPr id="3" name="object 3"/>
          <p:cNvSpPr txBox="1">
            <a:spLocks noGrp="1"/>
          </p:cNvSpPr>
          <p:nvPr>
            <p:ph type="title"/>
          </p:nvPr>
        </p:nvSpPr>
        <p:spPr>
          <a:xfrm>
            <a:off x="2725925" y="185106"/>
            <a:ext cx="3683512" cy="1273175"/>
          </a:xfrm>
          <a:prstGeom prst="rect">
            <a:avLst/>
          </a:prstGeom>
        </p:spPr>
        <p:txBody>
          <a:bodyPr vert="horz" wrap="square" lIns="0" tIns="11516" rIns="0" bIns="0" rtlCol="0">
            <a:spAutoFit/>
          </a:bodyPr>
          <a:lstStyle/>
          <a:p>
            <a:pPr marL="12700">
              <a:lnSpc>
                <a:spcPct val="100000"/>
              </a:lnSpc>
              <a:spcBef>
                <a:spcPts val="100"/>
              </a:spcBef>
              <a:tabLst>
                <a:tab pos="3737610" algn="l"/>
              </a:tabLst>
            </a:pPr>
            <a:r>
              <a:rPr dirty="0"/>
              <a:t>What</a:t>
            </a:r>
            <a:r>
              <a:rPr spc="-120" dirty="0"/>
              <a:t> </a:t>
            </a:r>
            <a:r>
              <a:rPr spc="-25" dirty="0"/>
              <a:t>is</a:t>
            </a:r>
            <a:r>
              <a:rPr dirty="0"/>
              <a:t>	</a:t>
            </a:r>
            <a:r>
              <a:rPr spc="-50" dirty="0"/>
              <a:t>?</a:t>
            </a:r>
            <a:endParaRPr spc="-50" dirty="0"/>
          </a:p>
        </p:txBody>
      </p:sp>
      <p:sp>
        <p:nvSpPr>
          <p:cNvPr id="4" name="object 4"/>
          <p:cNvSpPr txBox="1"/>
          <p:nvPr/>
        </p:nvSpPr>
        <p:spPr>
          <a:xfrm>
            <a:off x="538965" y="1713060"/>
            <a:ext cx="148561" cy="201930"/>
          </a:xfrm>
          <a:prstGeom prst="rect">
            <a:avLst/>
          </a:prstGeom>
        </p:spPr>
        <p:txBody>
          <a:bodyPr vert="horz" wrap="square" lIns="0" tIns="13819" rIns="0" bIns="0" rtlCol="0">
            <a:spAutoFit/>
          </a:bodyPr>
          <a:lstStyle/>
          <a:p>
            <a:pPr marL="12700">
              <a:lnSpc>
                <a:spcPct val="100000"/>
              </a:lnSpc>
              <a:spcBef>
                <a:spcPts val="120"/>
              </a:spcBef>
            </a:pPr>
            <a:r>
              <a:rPr sz="1225" spc="-50" dirty="0">
                <a:latin typeface="OpenSymbol"/>
                <a:cs typeface="OpenSymbol"/>
              </a:rPr>
              <a:t>●</a:t>
            </a:r>
            <a:endParaRPr sz="1225">
              <a:latin typeface="OpenSymbol"/>
              <a:cs typeface="OpenSymbol"/>
            </a:endParaRPr>
          </a:p>
        </p:txBody>
      </p:sp>
      <p:sp>
        <p:nvSpPr>
          <p:cNvPr id="5" name="object 5"/>
          <p:cNvSpPr txBox="1"/>
          <p:nvPr/>
        </p:nvSpPr>
        <p:spPr>
          <a:xfrm>
            <a:off x="821117" y="1561044"/>
            <a:ext cx="7792554" cy="3352165"/>
          </a:xfrm>
          <a:prstGeom prst="rect">
            <a:avLst/>
          </a:prstGeom>
        </p:spPr>
        <p:txBody>
          <a:bodyPr vert="horz" wrap="square" lIns="0" tIns="49520" rIns="0" bIns="0" rtlCol="0">
            <a:spAutoFit/>
          </a:bodyPr>
          <a:lstStyle/>
          <a:p>
            <a:pPr marL="12700" marR="178435">
              <a:lnSpc>
                <a:spcPts val="3420"/>
              </a:lnSpc>
              <a:spcBef>
                <a:spcPts val="430"/>
              </a:spcBef>
            </a:pPr>
            <a:r>
              <a:rPr sz="2765" dirty="0">
                <a:latin typeface="Liberation Sans"/>
                <a:cs typeface="Liberation Sans"/>
              </a:rPr>
              <a:t>Docker</a:t>
            </a:r>
            <a:r>
              <a:rPr sz="2765" spc="-15" dirty="0">
                <a:latin typeface="Liberation Sans"/>
                <a:cs typeface="Liberation Sans"/>
              </a:rPr>
              <a:t> </a:t>
            </a:r>
            <a:r>
              <a:rPr sz="2765" dirty="0">
                <a:latin typeface="Liberation Sans"/>
                <a:cs typeface="Liberation Sans"/>
              </a:rPr>
              <a:t>is</a:t>
            </a:r>
            <a:r>
              <a:rPr sz="2765" spc="-15" dirty="0">
                <a:latin typeface="Liberation Sans"/>
                <a:cs typeface="Liberation Sans"/>
              </a:rPr>
              <a:t> </a:t>
            </a:r>
            <a:r>
              <a:rPr sz="2765" dirty="0">
                <a:latin typeface="Liberation Sans"/>
                <a:cs typeface="Liberation Sans"/>
              </a:rPr>
              <a:t>an</a:t>
            </a:r>
            <a:r>
              <a:rPr sz="2765" spc="-15" dirty="0">
                <a:latin typeface="Liberation Sans"/>
                <a:cs typeface="Liberation Sans"/>
              </a:rPr>
              <a:t> </a:t>
            </a:r>
            <a:r>
              <a:rPr sz="2765" spc="-10" dirty="0">
                <a:latin typeface="Liberation Sans"/>
                <a:cs typeface="Liberation Sans"/>
              </a:rPr>
              <a:t>open-</a:t>
            </a:r>
            <a:r>
              <a:rPr sz="2765" dirty="0">
                <a:latin typeface="Liberation Sans"/>
                <a:cs typeface="Liberation Sans"/>
              </a:rPr>
              <a:t>source</a:t>
            </a:r>
            <a:r>
              <a:rPr sz="2765" spc="-20" dirty="0">
                <a:latin typeface="Liberation Sans"/>
                <a:cs typeface="Liberation Sans"/>
              </a:rPr>
              <a:t> </a:t>
            </a:r>
            <a:r>
              <a:rPr sz="2765" dirty="0">
                <a:latin typeface="Liberation Sans"/>
                <a:cs typeface="Liberation Sans"/>
              </a:rPr>
              <a:t>project</a:t>
            </a:r>
            <a:r>
              <a:rPr sz="2765" spc="-15" dirty="0">
                <a:latin typeface="Liberation Sans"/>
                <a:cs typeface="Liberation Sans"/>
              </a:rPr>
              <a:t> </a:t>
            </a:r>
            <a:r>
              <a:rPr sz="2765" dirty="0">
                <a:latin typeface="Liberation Sans"/>
                <a:cs typeface="Liberation Sans"/>
              </a:rPr>
              <a:t>that</a:t>
            </a:r>
            <a:r>
              <a:rPr sz="2765" spc="-10" dirty="0">
                <a:latin typeface="Liberation Sans"/>
                <a:cs typeface="Liberation Sans"/>
              </a:rPr>
              <a:t> automates </a:t>
            </a:r>
            <a:r>
              <a:rPr sz="2765" dirty="0">
                <a:latin typeface="Liberation Sans"/>
                <a:cs typeface="Liberation Sans"/>
              </a:rPr>
              <a:t>the</a:t>
            </a:r>
            <a:r>
              <a:rPr sz="2765" spc="-35" dirty="0">
                <a:latin typeface="Liberation Sans"/>
                <a:cs typeface="Liberation Sans"/>
              </a:rPr>
              <a:t> </a:t>
            </a:r>
            <a:r>
              <a:rPr sz="2765" dirty="0">
                <a:latin typeface="Liberation Sans"/>
                <a:cs typeface="Liberation Sans"/>
              </a:rPr>
              <a:t>deployment</a:t>
            </a:r>
            <a:r>
              <a:rPr sz="2765" spc="-25" dirty="0">
                <a:latin typeface="Liberation Sans"/>
                <a:cs typeface="Liberation Sans"/>
              </a:rPr>
              <a:t> </a:t>
            </a:r>
            <a:r>
              <a:rPr sz="2765" dirty="0">
                <a:latin typeface="Liberation Sans"/>
                <a:cs typeface="Liberation Sans"/>
              </a:rPr>
              <a:t>of</a:t>
            </a:r>
            <a:r>
              <a:rPr sz="2765" spc="-20" dirty="0">
                <a:latin typeface="Liberation Sans"/>
                <a:cs typeface="Liberation Sans"/>
              </a:rPr>
              <a:t> </a:t>
            </a:r>
            <a:r>
              <a:rPr sz="2765" dirty="0">
                <a:latin typeface="Liberation Sans"/>
                <a:cs typeface="Liberation Sans"/>
              </a:rPr>
              <a:t>applications</a:t>
            </a:r>
            <a:r>
              <a:rPr sz="2765" spc="-25" dirty="0">
                <a:latin typeface="Liberation Sans"/>
                <a:cs typeface="Liberation Sans"/>
              </a:rPr>
              <a:t> </a:t>
            </a:r>
            <a:r>
              <a:rPr sz="2765" dirty="0">
                <a:latin typeface="Liberation Sans"/>
                <a:cs typeface="Liberation Sans"/>
              </a:rPr>
              <a:t>inside</a:t>
            </a:r>
            <a:r>
              <a:rPr sz="2765" spc="-25" dirty="0">
                <a:latin typeface="Liberation Sans"/>
                <a:cs typeface="Liberation Sans"/>
              </a:rPr>
              <a:t> </a:t>
            </a:r>
            <a:r>
              <a:rPr sz="2765" spc="-10" dirty="0">
                <a:latin typeface="Liberation Sans"/>
                <a:cs typeface="Liberation Sans"/>
              </a:rPr>
              <a:t>software container</a:t>
            </a:r>
            <a:endParaRPr sz="2765">
              <a:latin typeface="Liberation Sans"/>
              <a:cs typeface="Liberation Sans"/>
            </a:endParaRPr>
          </a:p>
          <a:p>
            <a:pPr marL="12700" marR="5080">
              <a:lnSpc>
                <a:spcPct val="94000"/>
              </a:lnSpc>
              <a:spcBef>
                <a:spcPts val="1285"/>
              </a:spcBef>
            </a:pPr>
            <a:r>
              <a:rPr sz="2765" dirty="0">
                <a:latin typeface="Liberation Sans"/>
                <a:cs typeface="Liberation Sans"/>
              </a:rPr>
              <a:t>Docker</a:t>
            </a:r>
            <a:r>
              <a:rPr sz="2765" spc="-15" dirty="0">
                <a:latin typeface="Liberation Sans"/>
                <a:cs typeface="Liberation Sans"/>
              </a:rPr>
              <a:t> </a:t>
            </a:r>
            <a:r>
              <a:rPr sz="2765" dirty="0">
                <a:latin typeface="Liberation Sans"/>
                <a:cs typeface="Liberation Sans"/>
              </a:rPr>
              <a:t>containers</a:t>
            </a:r>
            <a:r>
              <a:rPr sz="2765" spc="-20" dirty="0">
                <a:latin typeface="Liberation Sans"/>
                <a:cs typeface="Liberation Sans"/>
              </a:rPr>
              <a:t> </a:t>
            </a:r>
            <a:r>
              <a:rPr sz="2765" dirty="0">
                <a:latin typeface="Liberation Sans"/>
                <a:cs typeface="Liberation Sans"/>
              </a:rPr>
              <a:t>wrap</a:t>
            </a:r>
            <a:r>
              <a:rPr sz="2765" spc="-20" dirty="0">
                <a:latin typeface="Liberation Sans"/>
                <a:cs typeface="Liberation Sans"/>
              </a:rPr>
              <a:t> </a:t>
            </a:r>
            <a:r>
              <a:rPr sz="2765" dirty="0">
                <a:latin typeface="Liberation Sans"/>
                <a:cs typeface="Liberation Sans"/>
              </a:rPr>
              <a:t>up</a:t>
            </a:r>
            <a:r>
              <a:rPr sz="2765" spc="-20" dirty="0">
                <a:latin typeface="Liberation Sans"/>
                <a:cs typeface="Liberation Sans"/>
              </a:rPr>
              <a:t> </a:t>
            </a:r>
            <a:r>
              <a:rPr sz="2765" dirty="0">
                <a:latin typeface="Liberation Sans"/>
                <a:cs typeface="Liberation Sans"/>
              </a:rPr>
              <a:t>a</a:t>
            </a:r>
            <a:r>
              <a:rPr sz="2765" spc="-25" dirty="0">
                <a:latin typeface="Liberation Sans"/>
                <a:cs typeface="Liberation Sans"/>
              </a:rPr>
              <a:t> </a:t>
            </a:r>
            <a:r>
              <a:rPr sz="2765" dirty="0">
                <a:latin typeface="Liberation Sans"/>
                <a:cs typeface="Liberation Sans"/>
              </a:rPr>
              <a:t>piece</a:t>
            </a:r>
            <a:r>
              <a:rPr sz="2765" spc="-15" dirty="0">
                <a:latin typeface="Liberation Sans"/>
                <a:cs typeface="Liberation Sans"/>
              </a:rPr>
              <a:t> </a:t>
            </a:r>
            <a:r>
              <a:rPr sz="2765" dirty="0">
                <a:latin typeface="Liberation Sans"/>
                <a:cs typeface="Liberation Sans"/>
              </a:rPr>
              <a:t>of</a:t>
            </a:r>
            <a:r>
              <a:rPr sz="2765" spc="-20" dirty="0">
                <a:latin typeface="Liberation Sans"/>
                <a:cs typeface="Liberation Sans"/>
              </a:rPr>
              <a:t> </a:t>
            </a:r>
            <a:r>
              <a:rPr sz="2765" dirty="0">
                <a:latin typeface="Liberation Sans"/>
                <a:cs typeface="Liberation Sans"/>
              </a:rPr>
              <a:t>software</a:t>
            </a:r>
            <a:r>
              <a:rPr sz="2765" spc="-20" dirty="0">
                <a:latin typeface="Liberation Sans"/>
                <a:cs typeface="Liberation Sans"/>
              </a:rPr>
              <a:t> </a:t>
            </a:r>
            <a:r>
              <a:rPr sz="2765" spc="-25" dirty="0">
                <a:latin typeface="Liberation Sans"/>
                <a:cs typeface="Liberation Sans"/>
              </a:rPr>
              <a:t>in </a:t>
            </a:r>
            <a:r>
              <a:rPr sz="2765" dirty="0">
                <a:latin typeface="Liberation Sans"/>
                <a:cs typeface="Liberation Sans"/>
              </a:rPr>
              <a:t>a</a:t>
            </a:r>
            <a:r>
              <a:rPr sz="2765" spc="-25" dirty="0">
                <a:latin typeface="Liberation Sans"/>
                <a:cs typeface="Liberation Sans"/>
              </a:rPr>
              <a:t> </a:t>
            </a:r>
            <a:r>
              <a:rPr sz="2765" dirty="0">
                <a:latin typeface="Liberation Sans"/>
                <a:cs typeface="Liberation Sans"/>
              </a:rPr>
              <a:t>complete</a:t>
            </a:r>
            <a:r>
              <a:rPr sz="2765" spc="-25" dirty="0">
                <a:latin typeface="Liberation Sans"/>
                <a:cs typeface="Liberation Sans"/>
              </a:rPr>
              <a:t> </a:t>
            </a:r>
            <a:r>
              <a:rPr sz="2765" dirty="0">
                <a:latin typeface="Liberation Sans"/>
                <a:cs typeface="Liberation Sans"/>
              </a:rPr>
              <a:t>file</a:t>
            </a:r>
            <a:r>
              <a:rPr sz="2765" spc="-20" dirty="0">
                <a:latin typeface="Liberation Sans"/>
                <a:cs typeface="Liberation Sans"/>
              </a:rPr>
              <a:t> </a:t>
            </a:r>
            <a:r>
              <a:rPr sz="2765" dirty="0">
                <a:latin typeface="Liberation Sans"/>
                <a:cs typeface="Liberation Sans"/>
              </a:rPr>
              <a:t>system</a:t>
            </a:r>
            <a:r>
              <a:rPr sz="2765" spc="-25" dirty="0">
                <a:latin typeface="Liberation Sans"/>
                <a:cs typeface="Liberation Sans"/>
              </a:rPr>
              <a:t> </a:t>
            </a:r>
            <a:r>
              <a:rPr sz="2765" dirty="0">
                <a:latin typeface="Liberation Sans"/>
                <a:cs typeface="Liberation Sans"/>
              </a:rPr>
              <a:t>that</a:t>
            </a:r>
            <a:r>
              <a:rPr sz="2765" spc="-25" dirty="0">
                <a:latin typeface="Liberation Sans"/>
                <a:cs typeface="Liberation Sans"/>
              </a:rPr>
              <a:t> </a:t>
            </a:r>
            <a:r>
              <a:rPr sz="2765" dirty="0">
                <a:latin typeface="Liberation Sans"/>
                <a:cs typeface="Liberation Sans"/>
              </a:rPr>
              <a:t>contains</a:t>
            </a:r>
            <a:r>
              <a:rPr sz="2765" spc="-25" dirty="0">
                <a:latin typeface="Liberation Sans"/>
                <a:cs typeface="Liberation Sans"/>
              </a:rPr>
              <a:t> </a:t>
            </a:r>
            <a:r>
              <a:rPr sz="2765" dirty="0">
                <a:latin typeface="Liberation Sans"/>
                <a:cs typeface="Liberation Sans"/>
              </a:rPr>
              <a:t>everything</a:t>
            </a:r>
            <a:r>
              <a:rPr sz="2765" spc="-30" dirty="0">
                <a:latin typeface="Liberation Sans"/>
                <a:cs typeface="Liberation Sans"/>
              </a:rPr>
              <a:t> </a:t>
            </a:r>
            <a:r>
              <a:rPr sz="2765" spc="-25" dirty="0">
                <a:latin typeface="Liberation Sans"/>
                <a:cs typeface="Liberation Sans"/>
              </a:rPr>
              <a:t>it </a:t>
            </a:r>
            <a:r>
              <a:rPr sz="2765" dirty="0">
                <a:latin typeface="Liberation Sans"/>
                <a:cs typeface="Liberation Sans"/>
              </a:rPr>
              <a:t>needs</a:t>
            </a:r>
            <a:r>
              <a:rPr sz="2765" spc="-30" dirty="0">
                <a:latin typeface="Liberation Sans"/>
                <a:cs typeface="Liberation Sans"/>
              </a:rPr>
              <a:t> </a:t>
            </a:r>
            <a:r>
              <a:rPr sz="2765" dirty="0">
                <a:latin typeface="Liberation Sans"/>
                <a:cs typeface="Liberation Sans"/>
              </a:rPr>
              <a:t>to</a:t>
            </a:r>
            <a:r>
              <a:rPr sz="2765" spc="-25" dirty="0">
                <a:latin typeface="Liberation Sans"/>
                <a:cs typeface="Liberation Sans"/>
              </a:rPr>
              <a:t> </a:t>
            </a:r>
            <a:r>
              <a:rPr sz="2765" dirty="0">
                <a:latin typeface="Liberation Sans"/>
                <a:cs typeface="Liberation Sans"/>
              </a:rPr>
              <a:t>run:</a:t>
            </a:r>
            <a:r>
              <a:rPr sz="2765" spc="-20" dirty="0">
                <a:latin typeface="Liberation Sans"/>
                <a:cs typeface="Liberation Sans"/>
              </a:rPr>
              <a:t> </a:t>
            </a:r>
            <a:r>
              <a:rPr sz="2765" dirty="0">
                <a:latin typeface="Liberation Sans"/>
                <a:cs typeface="Liberation Sans"/>
              </a:rPr>
              <a:t>code,</a:t>
            </a:r>
            <a:r>
              <a:rPr sz="2765" spc="-25" dirty="0">
                <a:latin typeface="Liberation Sans"/>
                <a:cs typeface="Liberation Sans"/>
              </a:rPr>
              <a:t> </a:t>
            </a:r>
            <a:r>
              <a:rPr sz="2765" dirty="0">
                <a:latin typeface="Liberation Sans"/>
                <a:cs typeface="Liberation Sans"/>
              </a:rPr>
              <a:t>runtime,</a:t>
            </a:r>
            <a:r>
              <a:rPr sz="2765" spc="-20" dirty="0">
                <a:latin typeface="Liberation Sans"/>
                <a:cs typeface="Liberation Sans"/>
              </a:rPr>
              <a:t> </a:t>
            </a:r>
            <a:r>
              <a:rPr sz="2765" dirty="0">
                <a:latin typeface="Liberation Sans"/>
                <a:cs typeface="Liberation Sans"/>
              </a:rPr>
              <a:t>system</a:t>
            </a:r>
            <a:r>
              <a:rPr sz="2765" spc="-25" dirty="0">
                <a:latin typeface="Liberation Sans"/>
                <a:cs typeface="Liberation Sans"/>
              </a:rPr>
              <a:t> </a:t>
            </a:r>
            <a:r>
              <a:rPr sz="2765" dirty="0">
                <a:latin typeface="Liberation Sans"/>
                <a:cs typeface="Liberation Sans"/>
              </a:rPr>
              <a:t>tools,</a:t>
            </a:r>
            <a:r>
              <a:rPr sz="2765" spc="-20" dirty="0">
                <a:latin typeface="Liberation Sans"/>
                <a:cs typeface="Liberation Sans"/>
              </a:rPr>
              <a:t> </a:t>
            </a:r>
            <a:r>
              <a:rPr sz="2765" spc="-10" dirty="0">
                <a:latin typeface="Liberation Sans"/>
                <a:cs typeface="Liberation Sans"/>
              </a:rPr>
              <a:t>system </a:t>
            </a:r>
            <a:r>
              <a:rPr sz="2765" dirty="0">
                <a:latin typeface="Liberation Sans"/>
                <a:cs typeface="Liberation Sans"/>
              </a:rPr>
              <a:t>libraries</a:t>
            </a:r>
            <a:r>
              <a:rPr sz="2765" spc="-20" dirty="0">
                <a:latin typeface="Liberation Sans"/>
                <a:cs typeface="Liberation Sans"/>
              </a:rPr>
              <a:t> </a:t>
            </a:r>
            <a:r>
              <a:rPr sz="2765" dirty="0">
                <a:latin typeface="Liberation Sans"/>
                <a:cs typeface="Liberation Sans"/>
              </a:rPr>
              <a:t>–</a:t>
            </a:r>
            <a:r>
              <a:rPr sz="2765" spc="-10" dirty="0">
                <a:latin typeface="Liberation Sans"/>
                <a:cs typeface="Liberation Sans"/>
              </a:rPr>
              <a:t> </a:t>
            </a:r>
            <a:r>
              <a:rPr sz="2765" dirty="0">
                <a:latin typeface="Liberation Sans"/>
                <a:cs typeface="Liberation Sans"/>
              </a:rPr>
              <a:t>anything</a:t>
            </a:r>
            <a:r>
              <a:rPr sz="2765" spc="-10" dirty="0">
                <a:latin typeface="Liberation Sans"/>
                <a:cs typeface="Liberation Sans"/>
              </a:rPr>
              <a:t> </a:t>
            </a:r>
            <a:r>
              <a:rPr sz="2765" dirty="0">
                <a:latin typeface="Liberation Sans"/>
                <a:cs typeface="Liberation Sans"/>
              </a:rPr>
              <a:t>you</a:t>
            </a:r>
            <a:r>
              <a:rPr sz="2765" spc="-15" dirty="0">
                <a:latin typeface="Liberation Sans"/>
                <a:cs typeface="Liberation Sans"/>
              </a:rPr>
              <a:t> </a:t>
            </a:r>
            <a:r>
              <a:rPr sz="2765" dirty="0">
                <a:latin typeface="Liberation Sans"/>
                <a:cs typeface="Liberation Sans"/>
              </a:rPr>
              <a:t>can</a:t>
            </a:r>
            <a:r>
              <a:rPr sz="2765" spc="-10" dirty="0">
                <a:latin typeface="Liberation Sans"/>
                <a:cs typeface="Liberation Sans"/>
              </a:rPr>
              <a:t> </a:t>
            </a:r>
            <a:r>
              <a:rPr sz="2765" dirty="0">
                <a:latin typeface="Liberation Sans"/>
                <a:cs typeface="Liberation Sans"/>
              </a:rPr>
              <a:t>install</a:t>
            </a:r>
            <a:r>
              <a:rPr sz="2765" spc="-5" dirty="0">
                <a:latin typeface="Liberation Sans"/>
                <a:cs typeface="Liberation Sans"/>
              </a:rPr>
              <a:t> </a:t>
            </a:r>
            <a:r>
              <a:rPr sz="2765" dirty="0">
                <a:latin typeface="Liberation Sans"/>
                <a:cs typeface="Liberation Sans"/>
              </a:rPr>
              <a:t>on</a:t>
            </a:r>
            <a:r>
              <a:rPr sz="2765" spc="-10" dirty="0">
                <a:latin typeface="Liberation Sans"/>
                <a:cs typeface="Liberation Sans"/>
              </a:rPr>
              <a:t> </a:t>
            </a:r>
            <a:r>
              <a:rPr sz="2765" dirty="0">
                <a:latin typeface="Liberation Sans"/>
                <a:cs typeface="Liberation Sans"/>
              </a:rPr>
              <a:t>a</a:t>
            </a:r>
            <a:r>
              <a:rPr sz="2765" spc="-15" dirty="0">
                <a:latin typeface="Liberation Sans"/>
                <a:cs typeface="Liberation Sans"/>
              </a:rPr>
              <a:t> </a:t>
            </a:r>
            <a:r>
              <a:rPr sz="2765" spc="-10" dirty="0">
                <a:latin typeface="Liberation Sans"/>
                <a:cs typeface="Liberation Sans"/>
              </a:rPr>
              <a:t>server.</a:t>
            </a:r>
            <a:endParaRPr sz="2765">
              <a:latin typeface="Liberation Sans"/>
              <a:cs typeface="Liberation Sans"/>
            </a:endParaRPr>
          </a:p>
          <a:p>
            <a:pPr marL="12700" marR="283845">
              <a:lnSpc>
                <a:spcPts val="3420"/>
              </a:lnSpc>
              <a:spcBef>
                <a:spcPts val="1435"/>
              </a:spcBef>
            </a:pPr>
            <a:r>
              <a:rPr sz="2765" dirty="0">
                <a:latin typeface="Liberation Sans"/>
                <a:cs typeface="Liberation Sans"/>
              </a:rPr>
              <a:t>This</a:t>
            </a:r>
            <a:r>
              <a:rPr sz="2765" spc="-10" dirty="0">
                <a:latin typeface="Liberation Sans"/>
                <a:cs typeface="Liberation Sans"/>
              </a:rPr>
              <a:t> </a:t>
            </a:r>
            <a:r>
              <a:rPr sz="2765" dirty="0">
                <a:latin typeface="Liberation Sans"/>
                <a:cs typeface="Liberation Sans"/>
              </a:rPr>
              <a:t>guarantees</a:t>
            </a:r>
            <a:r>
              <a:rPr sz="2765" spc="-10" dirty="0">
                <a:latin typeface="Liberation Sans"/>
                <a:cs typeface="Liberation Sans"/>
              </a:rPr>
              <a:t> </a:t>
            </a:r>
            <a:r>
              <a:rPr sz="2765" dirty="0">
                <a:latin typeface="Liberation Sans"/>
                <a:cs typeface="Liberation Sans"/>
              </a:rPr>
              <a:t>that</a:t>
            </a:r>
            <a:r>
              <a:rPr sz="2765" spc="-15" dirty="0">
                <a:latin typeface="Liberation Sans"/>
                <a:cs typeface="Liberation Sans"/>
              </a:rPr>
              <a:t> </a:t>
            </a:r>
            <a:r>
              <a:rPr sz="2765" dirty="0">
                <a:latin typeface="Liberation Sans"/>
                <a:cs typeface="Liberation Sans"/>
              </a:rPr>
              <a:t>it</a:t>
            </a:r>
            <a:r>
              <a:rPr sz="2765" spc="-15" dirty="0">
                <a:latin typeface="Liberation Sans"/>
                <a:cs typeface="Liberation Sans"/>
              </a:rPr>
              <a:t> </a:t>
            </a:r>
            <a:r>
              <a:rPr sz="2765" dirty="0">
                <a:latin typeface="Liberation Sans"/>
                <a:cs typeface="Liberation Sans"/>
              </a:rPr>
              <a:t>will</a:t>
            </a:r>
            <a:r>
              <a:rPr sz="2765" spc="-10" dirty="0">
                <a:latin typeface="Liberation Sans"/>
                <a:cs typeface="Liberation Sans"/>
              </a:rPr>
              <a:t> </a:t>
            </a:r>
            <a:r>
              <a:rPr sz="2765" dirty="0">
                <a:latin typeface="Liberation Sans"/>
                <a:cs typeface="Liberation Sans"/>
              </a:rPr>
              <a:t>always</a:t>
            </a:r>
            <a:r>
              <a:rPr sz="2765" spc="-10" dirty="0">
                <a:latin typeface="Liberation Sans"/>
                <a:cs typeface="Liberation Sans"/>
              </a:rPr>
              <a:t> </a:t>
            </a:r>
            <a:r>
              <a:rPr sz="2765" dirty="0">
                <a:latin typeface="Liberation Sans"/>
                <a:cs typeface="Liberation Sans"/>
              </a:rPr>
              <a:t>run</a:t>
            </a:r>
            <a:r>
              <a:rPr sz="2765" spc="-20" dirty="0">
                <a:latin typeface="Liberation Sans"/>
                <a:cs typeface="Liberation Sans"/>
              </a:rPr>
              <a:t> </a:t>
            </a:r>
            <a:r>
              <a:rPr sz="2765" dirty="0">
                <a:latin typeface="Liberation Sans"/>
                <a:cs typeface="Liberation Sans"/>
              </a:rPr>
              <a:t>the</a:t>
            </a:r>
            <a:r>
              <a:rPr sz="2765" spc="-20" dirty="0">
                <a:latin typeface="Liberation Sans"/>
                <a:cs typeface="Liberation Sans"/>
              </a:rPr>
              <a:t> </a:t>
            </a:r>
            <a:r>
              <a:rPr sz="2765" spc="-10" dirty="0">
                <a:latin typeface="Liberation Sans"/>
                <a:cs typeface="Liberation Sans"/>
              </a:rPr>
              <a:t>same, </a:t>
            </a:r>
            <a:r>
              <a:rPr sz="2765" dirty="0">
                <a:latin typeface="Liberation Sans"/>
                <a:cs typeface="Liberation Sans"/>
              </a:rPr>
              <a:t>regardless</a:t>
            </a:r>
            <a:r>
              <a:rPr sz="2765" spc="-25" dirty="0">
                <a:latin typeface="Liberation Sans"/>
                <a:cs typeface="Liberation Sans"/>
              </a:rPr>
              <a:t> </a:t>
            </a:r>
            <a:r>
              <a:rPr sz="2765" dirty="0">
                <a:latin typeface="Liberation Sans"/>
                <a:cs typeface="Liberation Sans"/>
              </a:rPr>
              <a:t>of</a:t>
            </a:r>
            <a:r>
              <a:rPr sz="2765" spc="-15" dirty="0">
                <a:latin typeface="Liberation Sans"/>
                <a:cs typeface="Liberation Sans"/>
              </a:rPr>
              <a:t> </a:t>
            </a:r>
            <a:r>
              <a:rPr sz="2765" dirty="0">
                <a:latin typeface="Liberation Sans"/>
                <a:cs typeface="Liberation Sans"/>
              </a:rPr>
              <a:t>the</a:t>
            </a:r>
            <a:r>
              <a:rPr sz="2765" spc="-20" dirty="0">
                <a:latin typeface="Liberation Sans"/>
                <a:cs typeface="Liberation Sans"/>
              </a:rPr>
              <a:t> </a:t>
            </a:r>
            <a:r>
              <a:rPr sz="2765" dirty="0">
                <a:latin typeface="Liberation Sans"/>
                <a:cs typeface="Liberation Sans"/>
              </a:rPr>
              <a:t>environment</a:t>
            </a:r>
            <a:r>
              <a:rPr sz="2765" spc="-10" dirty="0">
                <a:latin typeface="Liberation Sans"/>
                <a:cs typeface="Liberation Sans"/>
              </a:rPr>
              <a:t> </a:t>
            </a:r>
            <a:r>
              <a:rPr sz="2765" dirty="0">
                <a:latin typeface="Liberation Sans"/>
                <a:cs typeface="Liberation Sans"/>
              </a:rPr>
              <a:t>it</a:t>
            </a:r>
            <a:r>
              <a:rPr sz="2765" spc="-15" dirty="0">
                <a:latin typeface="Liberation Sans"/>
                <a:cs typeface="Liberation Sans"/>
              </a:rPr>
              <a:t> </a:t>
            </a:r>
            <a:r>
              <a:rPr sz="2765" dirty="0">
                <a:latin typeface="Liberation Sans"/>
                <a:cs typeface="Liberation Sans"/>
              </a:rPr>
              <a:t>is</a:t>
            </a:r>
            <a:r>
              <a:rPr sz="2765" spc="-25" dirty="0">
                <a:latin typeface="Liberation Sans"/>
                <a:cs typeface="Liberation Sans"/>
              </a:rPr>
              <a:t> </a:t>
            </a:r>
            <a:r>
              <a:rPr sz="2765" dirty="0">
                <a:latin typeface="Liberation Sans"/>
                <a:cs typeface="Liberation Sans"/>
              </a:rPr>
              <a:t>running</a:t>
            </a:r>
            <a:r>
              <a:rPr sz="2765" spc="-20" dirty="0">
                <a:latin typeface="Liberation Sans"/>
                <a:cs typeface="Liberation Sans"/>
              </a:rPr>
              <a:t> </a:t>
            </a:r>
            <a:r>
              <a:rPr sz="2765" spc="-25" dirty="0">
                <a:latin typeface="Liberation Sans"/>
                <a:cs typeface="Liberation Sans"/>
              </a:rPr>
              <a:t>in.</a:t>
            </a:r>
            <a:endParaRPr sz="2765">
              <a:latin typeface="Liberation Sans"/>
              <a:cs typeface="Liberation Sans"/>
            </a:endParaRPr>
          </a:p>
        </p:txBody>
      </p:sp>
      <p:sp>
        <p:nvSpPr>
          <p:cNvPr id="6" name="object 6"/>
          <p:cNvSpPr txBox="1"/>
          <p:nvPr/>
        </p:nvSpPr>
        <p:spPr>
          <a:xfrm>
            <a:off x="538965" y="3051262"/>
            <a:ext cx="148561" cy="201930"/>
          </a:xfrm>
          <a:prstGeom prst="rect">
            <a:avLst/>
          </a:prstGeom>
        </p:spPr>
        <p:txBody>
          <a:bodyPr vert="horz" wrap="square" lIns="0" tIns="13819" rIns="0" bIns="0" rtlCol="0">
            <a:spAutoFit/>
          </a:bodyPr>
          <a:lstStyle/>
          <a:p>
            <a:pPr marL="12700">
              <a:lnSpc>
                <a:spcPct val="100000"/>
              </a:lnSpc>
              <a:spcBef>
                <a:spcPts val="120"/>
              </a:spcBef>
            </a:pPr>
            <a:r>
              <a:rPr sz="1225" spc="-50" dirty="0">
                <a:latin typeface="OpenSymbol"/>
                <a:cs typeface="OpenSymbol"/>
              </a:rPr>
              <a:t>●</a:t>
            </a:r>
            <a:endParaRPr sz="1225">
              <a:latin typeface="OpenSymbol"/>
              <a:cs typeface="OpenSymbol"/>
            </a:endParaRPr>
          </a:p>
        </p:txBody>
      </p:sp>
      <p:sp>
        <p:nvSpPr>
          <p:cNvPr id="7" name="object 7"/>
          <p:cNvSpPr txBox="1"/>
          <p:nvPr/>
        </p:nvSpPr>
        <p:spPr>
          <a:xfrm>
            <a:off x="538965" y="4783325"/>
            <a:ext cx="148561" cy="201930"/>
          </a:xfrm>
          <a:prstGeom prst="rect">
            <a:avLst/>
          </a:prstGeom>
        </p:spPr>
        <p:txBody>
          <a:bodyPr vert="horz" wrap="square" lIns="0" tIns="13819" rIns="0" bIns="0" rtlCol="0">
            <a:spAutoFit/>
          </a:bodyPr>
          <a:lstStyle/>
          <a:p>
            <a:pPr marL="12700">
              <a:lnSpc>
                <a:spcPct val="100000"/>
              </a:lnSpc>
              <a:spcBef>
                <a:spcPts val="120"/>
              </a:spcBef>
            </a:pPr>
            <a:r>
              <a:rPr sz="1225" spc="-50" dirty="0">
                <a:latin typeface="OpenSymbol"/>
                <a:cs typeface="OpenSymbol"/>
              </a:rPr>
              <a:t>●</a:t>
            </a:r>
            <a:endParaRPr sz="1225">
              <a:latin typeface="OpenSymbol"/>
              <a:cs typeface="OpenSymbol"/>
            </a:endParaRPr>
          </a:p>
        </p:txBody>
      </p:sp>
      <p:pic>
        <p:nvPicPr>
          <p:cNvPr id="8" name="object 8"/>
          <p:cNvPicPr/>
          <p:nvPr/>
        </p:nvPicPr>
        <p:blipFill>
          <a:blip r:embed="rId2" cstate="print"/>
          <a:stretch>
            <a:fillRect/>
          </a:stretch>
        </p:blipFill>
        <p:spPr>
          <a:xfrm>
            <a:off x="130135" y="6302335"/>
            <a:ext cx="1174670" cy="538966"/>
          </a:xfrm>
          <a:prstGeom prst="rect">
            <a:avLst/>
          </a:prstGeom>
        </p:spPr>
      </p:pic>
      <p:pic>
        <p:nvPicPr>
          <p:cNvPr id="9" name="object 9"/>
          <p:cNvPicPr/>
          <p:nvPr/>
        </p:nvPicPr>
        <p:blipFill>
          <a:blip r:embed="rId3" cstate="print"/>
          <a:stretch>
            <a:fillRect/>
          </a:stretch>
        </p:blipFill>
        <p:spPr>
          <a:xfrm>
            <a:off x="4505205" y="306910"/>
            <a:ext cx="1536284" cy="1113633"/>
          </a:xfrm>
          <a:prstGeom prst="rect">
            <a:avLst/>
          </a:prstGeom>
        </p:spPr>
      </p:pic>
      <p:sp>
        <p:nvSpPr>
          <p:cNvPr id="10" name="object 10"/>
          <p:cNvSpPr txBox="1">
            <a:spLocks noGrp="1"/>
          </p:cNvSpPr>
          <p:nvPr>
            <p:ph type="sldNum" sz="quarter" idx="7"/>
          </p:nvPr>
        </p:nvSpPr>
        <p:spPr>
          <a:xfrm>
            <a:off x="8647272" y="6564154"/>
            <a:ext cx="365760" cy="208915"/>
          </a:xfrm>
          <a:prstGeom prst="rect">
            <a:avLst/>
          </a:prstGeom>
        </p:spPr>
        <p:txBody>
          <a:bodyPr vert="horz" wrap="square" lIns="0" tIns="0" rIns="0" bIns="0" rtlCol="0">
            <a:spAutoFit/>
          </a:bodyPr>
          <a:lstStyle/>
          <a:p>
            <a:pPr marL="12700">
              <a:lnSpc>
                <a:spcPts val="1630"/>
              </a:lnSpc>
            </a:pPr>
            <a:fld id="{81D60167-4931-47E6-BA6A-407CBD079E47}" type="slidenum">
              <a:rPr sz="905" spc="-25" dirty="0"/>
            </a:fld>
            <a:endParaRPr sz="905" spc="-25" dirty="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199050"/>
            <a:ext cx="9140545" cy="4656070"/>
            <a:chOff x="0" y="2421889"/>
            <a:chExt cx="10079990" cy="5134610"/>
          </a:xfrm>
        </p:grpSpPr>
        <p:pic>
          <p:nvPicPr>
            <p:cNvPr id="3" name="object 3"/>
            <p:cNvPicPr/>
            <p:nvPr/>
          </p:nvPicPr>
          <p:blipFill>
            <a:blip r:embed="rId1" cstate="print"/>
            <a:stretch>
              <a:fillRect/>
            </a:stretch>
          </p:blipFill>
          <p:spPr>
            <a:xfrm>
              <a:off x="143510" y="6946899"/>
              <a:ext cx="1295400" cy="594360"/>
            </a:xfrm>
            <a:prstGeom prst="rect">
              <a:avLst/>
            </a:prstGeom>
          </p:spPr>
        </p:pic>
        <p:sp>
          <p:nvSpPr>
            <p:cNvPr id="4" name="object 4"/>
            <p:cNvSpPr/>
            <p:nvPr/>
          </p:nvSpPr>
          <p:spPr>
            <a:xfrm>
              <a:off x="525780" y="2421889"/>
              <a:ext cx="2782570" cy="3404870"/>
            </a:xfrm>
            <a:custGeom>
              <a:avLst/>
              <a:gdLst/>
              <a:ahLst/>
              <a:cxnLst/>
              <a:rect l="l" t="t" r="r" b="b"/>
              <a:pathLst>
                <a:path w="2782570" h="3404870">
                  <a:moveTo>
                    <a:pt x="2782570" y="0"/>
                  </a:moveTo>
                  <a:lnTo>
                    <a:pt x="0" y="0"/>
                  </a:lnTo>
                  <a:lnTo>
                    <a:pt x="0" y="3404870"/>
                  </a:lnTo>
                  <a:lnTo>
                    <a:pt x="2324100" y="3404870"/>
                  </a:lnTo>
                  <a:lnTo>
                    <a:pt x="2782570" y="2951480"/>
                  </a:lnTo>
                  <a:lnTo>
                    <a:pt x="2782570" y="0"/>
                  </a:lnTo>
                  <a:close/>
                </a:path>
              </a:pathLst>
            </a:custGeom>
            <a:solidFill>
              <a:srgbClr val="EFEEEE"/>
            </a:solidFill>
          </p:spPr>
          <p:txBody>
            <a:bodyPr wrap="square" lIns="0" tIns="0" rIns="0" bIns="0" rtlCol="0"/>
            <a:lstStyle/>
            <a:p>
              <a:endParaRPr sz="1630"/>
            </a:p>
          </p:txBody>
        </p:sp>
        <p:sp>
          <p:nvSpPr>
            <p:cNvPr id="5" name="object 5"/>
            <p:cNvSpPr/>
            <p:nvPr/>
          </p:nvSpPr>
          <p:spPr>
            <a:xfrm>
              <a:off x="2854960" y="5373369"/>
              <a:ext cx="453390" cy="453390"/>
            </a:xfrm>
            <a:custGeom>
              <a:avLst/>
              <a:gdLst/>
              <a:ahLst/>
              <a:cxnLst/>
              <a:rect l="l" t="t" r="r" b="b"/>
              <a:pathLst>
                <a:path w="453389" h="453389">
                  <a:moveTo>
                    <a:pt x="453389" y="0"/>
                  </a:moveTo>
                  <a:lnTo>
                    <a:pt x="0" y="0"/>
                  </a:lnTo>
                  <a:lnTo>
                    <a:pt x="0" y="453389"/>
                  </a:lnTo>
                  <a:lnTo>
                    <a:pt x="453389" y="0"/>
                  </a:lnTo>
                  <a:close/>
                </a:path>
              </a:pathLst>
            </a:custGeom>
            <a:solidFill>
              <a:srgbClr val="77A1D4"/>
            </a:solidFill>
          </p:spPr>
          <p:txBody>
            <a:bodyPr wrap="square" lIns="0" tIns="0" rIns="0" bIns="0" rtlCol="0"/>
            <a:lstStyle/>
            <a:p>
              <a:endParaRPr sz="1630"/>
            </a:p>
          </p:txBody>
        </p:sp>
        <p:sp>
          <p:nvSpPr>
            <p:cNvPr id="6" name="object 6"/>
            <p:cNvSpPr/>
            <p:nvPr/>
          </p:nvSpPr>
          <p:spPr>
            <a:xfrm>
              <a:off x="3667760" y="2421889"/>
              <a:ext cx="5920740" cy="3411220"/>
            </a:xfrm>
            <a:custGeom>
              <a:avLst/>
              <a:gdLst/>
              <a:ahLst/>
              <a:cxnLst/>
              <a:rect l="l" t="t" r="r" b="b"/>
              <a:pathLst>
                <a:path w="5920740" h="3411220">
                  <a:moveTo>
                    <a:pt x="2781300" y="0"/>
                  </a:moveTo>
                  <a:lnTo>
                    <a:pt x="0" y="0"/>
                  </a:lnTo>
                  <a:lnTo>
                    <a:pt x="0" y="3404870"/>
                  </a:lnTo>
                  <a:lnTo>
                    <a:pt x="2317750" y="3404870"/>
                  </a:lnTo>
                  <a:lnTo>
                    <a:pt x="2781300" y="2946400"/>
                  </a:lnTo>
                  <a:lnTo>
                    <a:pt x="2781300" y="0"/>
                  </a:lnTo>
                  <a:close/>
                </a:path>
                <a:path w="5920740" h="3411220">
                  <a:moveTo>
                    <a:pt x="5920740" y="5080"/>
                  </a:moveTo>
                  <a:lnTo>
                    <a:pt x="3139440" y="5080"/>
                  </a:lnTo>
                  <a:lnTo>
                    <a:pt x="3139440" y="3411220"/>
                  </a:lnTo>
                  <a:lnTo>
                    <a:pt x="5462270" y="3411220"/>
                  </a:lnTo>
                  <a:lnTo>
                    <a:pt x="5920740" y="2952762"/>
                  </a:lnTo>
                  <a:lnTo>
                    <a:pt x="5920740" y="5080"/>
                  </a:lnTo>
                  <a:close/>
                </a:path>
              </a:pathLst>
            </a:custGeom>
            <a:solidFill>
              <a:srgbClr val="EFEEEE"/>
            </a:solidFill>
          </p:spPr>
          <p:txBody>
            <a:bodyPr wrap="square" lIns="0" tIns="0" rIns="0" bIns="0" rtlCol="0"/>
            <a:lstStyle/>
            <a:p>
              <a:endParaRPr sz="1630"/>
            </a:p>
          </p:txBody>
        </p:sp>
        <p:sp>
          <p:nvSpPr>
            <p:cNvPr id="7" name="object 7"/>
            <p:cNvSpPr/>
            <p:nvPr/>
          </p:nvSpPr>
          <p:spPr>
            <a:xfrm>
              <a:off x="5990590" y="5373369"/>
              <a:ext cx="3594100" cy="453390"/>
            </a:xfrm>
            <a:custGeom>
              <a:avLst/>
              <a:gdLst/>
              <a:ahLst/>
              <a:cxnLst/>
              <a:rect l="l" t="t" r="r" b="b"/>
              <a:pathLst>
                <a:path w="3594100" h="453389">
                  <a:moveTo>
                    <a:pt x="458470" y="5080"/>
                  </a:moveTo>
                  <a:lnTo>
                    <a:pt x="0" y="5080"/>
                  </a:lnTo>
                  <a:lnTo>
                    <a:pt x="0" y="453390"/>
                  </a:lnTo>
                  <a:lnTo>
                    <a:pt x="458470" y="5080"/>
                  </a:lnTo>
                  <a:close/>
                </a:path>
                <a:path w="3594100" h="453389">
                  <a:moveTo>
                    <a:pt x="3594100" y="0"/>
                  </a:moveTo>
                  <a:lnTo>
                    <a:pt x="3135630" y="0"/>
                  </a:lnTo>
                  <a:lnTo>
                    <a:pt x="3135630" y="453390"/>
                  </a:lnTo>
                  <a:lnTo>
                    <a:pt x="3594100" y="0"/>
                  </a:lnTo>
                  <a:close/>
                </a:path>
              </a:pathLst>
            </a:custGeom>
            <a:solidFill>
              <a:srgbClr val="476DB1"/>
            </a:solidFill>
          </p:spPr>
          <p:txBody>
            <a:bodyPr wrap="square" lIns="0" tIns="0" rIns="0" bIns="0" rtlCol="0"/>
            <a:lstStyle/>
            <a:p>
              <a:endParaRPr sz="1630"/>
            </a:p>
          </p:txBody>
        </p:sp>
      </p:grpSp>
      <p:sp>
        <p:nvSpPr>
          <p:cNvPr id="8" name="object 8"/>
          <p:cNvSpPr txBox="1">
            <a:spLocks noGrp="1"/>
          </p:cNvSpPr>
          <p:nvPr>
            <p:ph type="title"/>
          </p:nvPr>
        </p:nvSpPr>
        <p:spPr>
          <a:xfrm>
            <a:off x="457200" y="209551"/>
            <a:ext cx="8229600" cy="1273175"/>
          </a:xfrm>
          <a:prstGeom prst="rect">
            <a:avLst/>
          </a:prstGeom>
        </p:spPr>
        <p:txBody>
          <a:bodyPr vert="horz" wrap="square" lIns="0" tIns="11516" rIns="0" bIns="0" rtlCol="0">
            <a:spAutoFit/>
          </a:bodyPr>
          <a:lstStyle/>
          <a:p>
            <a:pPr marL="12700">
              <a:lnSpc>
                <a:spcPct val="100000"/>
              </a:lnSpc>
              <a:spcBef>
                <a:spcPts val="100"/>
              </a:spcBef>
            </a:pPr>
            <a:r>
              <a:rPr dirty="0"/>
              <a:t>Key</a:t>
            </a:r>
            <a:r>
              <a:rPr spc="-65" dirty="0"/>
              <a:t> </a:t>
            </a:r>
            <a:r>
              <a:rPr dirty="0"/>
              <a:t>Benefits</a:t>
            </a:r>
            <a:r>
              <a:rPr spc="-60" dirty="0"/>
              <a:t> </a:t>
            </a:r>
            <a:r>
              <a:rPr dirty="0"/>
              <a:t>of</a:t>
            </a:r>
            <a:r>
              <a:rPr spc="-65" dirty="0"/>
              <a:t> </a:t>
            </a:r>
            <a:r>
              <a:rPr dirty="0"/>
              <a:t>Docker</a:t>
            </a:r>
            <a:r>
              <a:rPr spc="-60" dirty="0"/>
              <a:t> </a:t>
            </a:r>
            <a:r>
              <a:rPr spc="-10" dirty="0"/>
              <a:t>Containers</a:t>
            </a:r>
            <a:endParaRPr spc="-10" dirty="0"/>
          </a:p>
        </p:txBody>
      </p:sp>
      <p:sp>
        <p:nvSpPr>
          <p:cNvPr id="16" name="object 16"/>
          <p:cNvSpPr txBox="1">
            <a:spLocks noGrp="1"/>
          </p:cNvSpPr>
          <p:nvPr>
            <p:ph type="sldNum" sz="quarter" idx="7"/>
          </p:nvPr>
        </p:nvSpPr>
        <p:spPr>
          <a:xfrm>
            <a:off x="8647272" y="6564154"/>
            <a:ext cx="365760" cy="208915"/>
          </a:xfrm>
          <a:prstGeom prst="rect">
            <a:avLst/>
          </a:prstGeom>
        </p:spPr>
        <p:txBody>
          <a:bodyPr vert="horz" wrap="square" lIns="0" tIns="0" rIns="0" bIns="0" rtlCol="0">
            <a:spAutoFit/>
          </a:bodyPr>
          <a:lstStyle/>
          <a:p>
            <a:pPr marL="12700">
              <a:lnSpc>
                <a:spcPts val="1630"/>
              </a:lnSpc>
            </a:pPr>
            <a:fld id="{81D60167-4931-47E6-BA6A-407CBD079E47}" type="slidenum">
              <a:rPr sz="905" spc="-25" dirty="0"/>
            </a:fld>
            <a:endParaRPr sz="905" spc="-25" dirty="0"/>
          </a:p>
        </p:txBody>
      </p:sp>
      <p:sp>
        <p:nvSpPr>
          <p:cNvPr id="9" name="object 9"/>
          <p:cNvSpPr txBox="1"/>
          <p:nvPr/>
        </p:nvSpPr>
        <p:spPr>
          <a:xfrm>
            <a:off x="476778" y="1611715"/>
            <a:ext cx="2523237" cy="474345"/>
          </a:xfrm>
          <a:prstGeom prst="rect">
            <a:avLst/>
          </a:prstGeom>
          <a:solidFill>
            <a:srgbClr val="77A1D4"/>
          </a:solidFill>
        </p:spPr>
        <p:txBody>
          <a:bodyPr vert="horz" wrap="square" lIns="0" tIns="28790" rIns="0" bIns="0" rtlCol="0">
            <a:spAutoFit/>
          </a:bodyPr>
          <a:lstStyle/>
          <a:p>
            <a:pPr marL="212090">
              <a:lnSpc>
                <a:spcPct val="100000"/>
              </a:lnSpc>
              <a:spcBef>
                <a:spcPts val="250"/>
              </a:spcBef>
            </a:pPr>
            <a:r>
              <a:rPr sz="2900" b="1" spc="-10" dirty="0">
                <a:latin typeface="Liberation Sans"/>
                <a:cs typeface="Liberation Sans"/>
              </a:rPr>
              <a:t>Speed</a:t>
            </a:r>
            <a:endParaRPr sz="2900">
              <a:latin typeface="Liberation Sans"/>
              <a:cs typeface="Liberation Sans"/>
            </a:endParaRPr>
          </a:p>
        </p:txBody>
      </p:sp>
      <p:sp>
        <p:nvSpPr>
          <p:cNvPr id="10" name="object 10"/>
          <p:cNvSpPr txBox="1"/>
          <p:nvPr/>
        </p:nvSpPr>
        <p:spPr>
          <a:xfrm>
            <a:off x="3325928" y="1611715"/>
            <a:ext cx="2522086" cy="474345"/>
          </a:xfrm>
          <a:prstGeom prst="rect">
            <a:avLst/>
          </a:prstGeom>
          <a:solidFill>
            <a:srgbClr val="476DB1"/>
          </a:solidFill>
        </p:spPr>
        <p:txBody>
          <a:bodyPr vert="horz" wrap="square" lIns="0" tIns="28790" rIns="0" bIns="0" rtlCol="0">
            <a:spAutoFit/>
          </a:bodyPr>
          <a:lstStyle/>
          <a:p>
            <a:pPr marL="201295">
              <a:lnSpc>
                <a:spcPct val="100000"/>
              </a:lnSpc>
              <a:spcBef>
                <a:spcPts val="250"/>
              </a:spcBef>
            </a:pPr>
            <a:r>
              <a:rPr sz="2900" b="1" spc="-10" dirty="0">
                <a:latin typeface="Liberation Sans"/>
                <a:cs typeface="Liberation Sans"/>
              </a:rPr>
              <a:t>Portability</a:t>
            </a:r>
            <a:endParaRPr sz="2900">
              <a:latin typeface="Liberation Sans"/>
              <a:cs typeface="Liberation Sans"/>
            </a:endParaRPr>
          </a:p>
        </p:txBody>
      </p:sp>
      <p:sp>
        <p:nvSpPr>
          <p:cNvPr id="11" name="object 11"/>
          <p:cNvSpPr txBox="1"/>
          <p:nvPr/>
        </p:nvSpPr>
        <p:spPr>
          <a:xfrm>
            <a:off x="6172776" y="1602502"/>
            <a:ext cx="2523237" cy="483235"/>
          </a:xfrm>
          <a:prstGeom prst="rect">
            <a:avLst/>
          </a:prstGeom>
          <a:solidFill>
            <a:srgbClr val="304D88"/>
          </a:solidFill>
        </p:spPr>
        <p:txBody>
          <a:bodyPr vert="horz" wrap="square" lIns="0" tIns="38004" rIns="0" bIns="0" rtlCol="0">
            <a:spAutoFit/>
          </a:bodyPr>
          <a:lstStyle/>
          <a:p>
            <a:pPr marL="266700">
              <a:lnSpc>
                <a:spcPct val="100000"/>
              </a:lnSpc>
              <a:spcBef>
                <a:spcPts val="330"/>
              </a:spcBef>
            </a:pPr>
            <a:r>
              <a:rPr sz="2900" b="1" spc="-10" dirty="0">
                <a:latin typeface="Liberation Sans"/>
                <a:cs typeface="Liberation Sans"/>
              </a:rPr>
              <a:t>Efficiency</a:t>
            </a:r>
            <a:endParaRPr sz="2900">
              <a:latin typeface="Liberation Sans"/>
              <a:cs typeface="Liberation Sans"/>
            </a:endParaRPr>
          </a:p>
        </p:txBody>
      </p:sp>
      <p:sp>
        <p:nvSpPr>
          <p:cNvPr id="12" name="object 12"/>
          <p:cNvSpPr txBox="1"/>
          <p:nvPr/>
        </p:nvSpPr>
        <p:spPr>
          <a:xfrm>
            <a:off x="663342" y="2878517"/>
            <a:ext cx="2000970" cy="1417320"/>
          </a:xfrm>
          <a:prstGeom prst="rect">
            <a:avLst/>
          </a:prstGeom>
        </p:spPr>
        <p:txBody>
          <a:bodyPr vert="horz" wrap="square" lIns="0" tIns="11516" rIns="0" bIns="0" rtlCol="0">
            <a:spAutoFit/>
          </a:bodyPr>
          <a:lstStyle/>
          <a:p>
            <a:pPr algn="ctr">
              <a:lnSpc>
                <a:spcPts val="2780"/>
              </a:lnSpc>
              <a:spcBef>
                <a:spcPts val="100"/>
              </a:spcBef>
            </a:pPr>
            <a:r>
              <a:rPr sz="2175" dirty="0">
                <a:latin typeface="Liberation Sans"/>
                <a:cs typeface="Liberation Sans"/>
              </a:rPr>
              <a:t>No</a:t>
            </a:r>
            <a:r>
              <a:rPr sz="2175" spc="-25" dirty="0">
                <a:latin typeface="Liberation Sans"/>
                <a:cs typeface="Liberation Sans"/>
              </a:rPr>
              <a:t> </a:t>
            </a:r>
            <a:r>
              <a:rPr sz="2175" dirty="0">
                <a:latin typeface="Liberation Sans"/>
                <a:cs typeface="Liberation Sans"/>
              </a:rPr>
              <a:t>OS</a:t>
            </a:r>
            <a:r>
              <a:rPr sz="2175" spc="-20" dirty="0">
                <a:latin typeface="Liberation Sans"/>
                <a:cs typeface="Liberation Sans"/>
              </a:rPr>
              <a:t> </a:t>
            </a:r>
            <a:r>
              <a:rPr sz="2175" dirty="0">
                <a:latin typeface="Liberation Sans"/>
                <a:cs typeface="Liberation Sans"/>
              </a:rPr>
              <a:t>to</a:t>
            </a:r>
            <a:r>
              <a:rPr sz="2175" spc="-15" dirty="0">
                <a:latin typeface="Liberation Sans"/>
                <a:cs typeface="Liberation Sans"/>
              </a:rPr>
              <a:t> </a:t>
            </a:r>
            <a:r>
              <a:rPr sz="2175" spc="-20" dirty="0">
                <a:latin typeface="Liberation Sans"/>
                <a:cs typeface="Liberation Sans"/>
              </a:rPr>
              <a:t>boot</a:t>
            </a:r>
            <a:endParaRPr sz="2175">
              <a:latin typeface="Liberation Sans"/>
              <a:cs typeface="Liberation Sans"/>
            </a:endParaRPr>
          </a:p>
          <a:p>
            <a:pPr marL="3175" algn="ctr">
              <a:lnSpc>
                <a:spcPts val="2675"/>
              </a:lnSpc>
            </a:pPr>
            <a:r>
              <a:rPr sz="2175" spc="-50" dirty="0">
                <a:latin typeface="Liberation Sans"/>
                <a:cs typeface="Liberation Sans"/>
              </a:rPr>
              <a:t>=</a:t>
            </a:r>
            <a:endParaRPr sz="2175">
              <a:latin typeface="Liberation Sans"/>
              <a:cs typeface="Liberation Sans"/>
            </a:endParaRPr>
          </a:p>
          <a:p>
            <a:pPr marL="12700" marR="5080" indent="2540" algn="ctr">
              <a:lnSpc>
                <a:spcPts val="2680"/>
              </a:lnSpc>
              <a:spcBef>
                <a:spcPts val="150"/>
              </a:spcBef>
            </a:pPr>
            <a:r>
              <a:rPr sz="2175" spc="-10" dirty="0">
                <a:latin typeface="Liberation Sans"/>
                <a:cs typeface="Liberation Sans"/>
              </a:rPr>
              <a:t>Application </a:t>
            </a:r>
            <a:r>
              <a:rPr sz="2175" dirty="0">
                <a:latin typeface="Liberation Sans"/>
                <a:cs typeface="Liberation Sans"/>
              </a:rPr>
              <a:t>online</a:t>
            </a:r>
            <a:r>
              <a:rPr sz="2175" spc="-65" dirty="0">
                <a:latin typeface="Liberation Sans"/>
                <a:cs typeface="Liberation Sans"/>
              </a:rPr>
              <a:t> </a:t>
            </a:r>
            <a:r>
              <a:rPr sz="2175" dirty="0">
                <a:latin typeface="Liberation Sans"/>
                <a:cs typeface="Liberation Sans"/>
              </a:rPr>
              <a:t>in</a:t>
            </a:r>
            <a:r>
              <a:rPr sz="2175" spc="-65" dirty="0">
                <a:latin typeface="Liberation Sans"/>
                <a:cs typeface="Liberation Sans"/>
              </a:rPr>
              <a:t> </a:t>
            </a:r>
            <a:r>
              <a:rPr sz="2175" spc="-10" dirty="0">
                <a:latin typeface="Liberation Sans"/>
                <a:cs typeface="Liberation Sans"/>
              </a:rPr>
              <a:t>secons</a:t>
            </a:r>
            <a:endParaRPr sz="2175">
              <a:latin typeface="Liberation Sans"/>
              <a:cs typeface="Liberation Sans"/>
            </a:endParaRPr>
          </a:p>
        </p:txBody>
      </p:sp>
      <p:sp>
        <p:nvSpPr>
          <p:cNvPr id="13" name="object 13"/>
          <p:cNvSpPr txBox="1"/>
          <p:nvPr/>
        </p:nvSpPr>
        <p:spPr>
          <a:xfrm>
            <a:off x="3662207" y="2421317"/>
            <a:ext cx="1850105" cy="2350135"/>
          </a:xfrm>
          <a:prstGeom prst="rect">
            <a:avLst/>
          </a:prstGeom>
        </p:spPr>
        <p:txBody>
          <a:bodyPr vert="horz" wrap="square" lIns="0" tIns="35124" rIns="0" bIns="0" rtlCol="0">
            <a:spAutoFit/>
          </a:bodyPr>
          <a:lstStyle/>
          <a:p>
            <a:pPr marL="12700" marR="55245" indent="85725" algn="ctr">
              <a:lnSpc>
                <a:spcPct val="93000"/>
              </a:lnSpc>
              <a:spcBef>
                <a:spcPts val="305"/>
              </a:spcBef>
            </a:pPr>
            <a:r>
              <a:rPr sz="2175" spc="-20" dirty="0">
                <a:latin typeface="Liberation Sans"/>
                <a:cs typeface="Liberation Sans"/>
              </a:rPr>
              <a:t>Less </a:t>
            </a:r>
            <a:r>
              <a:rPr sz="2175" spc="-10" dirty="0">
                <a:latin typeface="Liberation Sans"/>
                <a:cs typeface="Liberation Sans"/>
              </a:rPr>
              <a:t>dependency between </a:t>
            </a:r>
            <a:r>
              <a:rPr sz="2175" dirty="0">
                <a:latin typeface="Liberation Sans"/>
                <a:cs typeface="Liberation Sans"/>
              </a:rPr>
              <a:t>process</a:t>
            </a:r>
            <a:r>
              <a:rPr sz="2175" spc="-95" dirty="0">
                <a:latin typeface="Liberation Sans"/>
                <a:cs typeface="Liberation Sans"/>
              </a:rPr>
              <a:t> </a:t>
            </a:r>
            <a:r>
              <a:rPr sz="2175" spc="-10" dirty="0">
                <a:latin typeface="Liberation Sans"/>
                <a:cs typeface="Liberation Sans"/>
              </a:rPr>
              <a:t>layers</a:t>
            </a:r>
            <a:endParaRPr sz="2175">
              <a:latin typeface="Liberation Sans"/>
              <a:cs typeface="Liberation Sans"/>
            </a:endParaRPr>
          </a:p>
          <a:p>
            <a:pPr marL="34925" algn="ctr">
              <a:lnSpc>
                <a:spcPts val="2575"/>
              </a:lnSpc>
            </a:pPr>
            <a:r>
              <a:rPr sz="2175" spc="-50" dirty="0">
                <a:latin typeface="Liberation Sans"/>
                <a:cs typeface="Liberation Sans"/>
              </a:rPr>
              <a:t>=</a:t>
            </a:r>
            <a:endParaRPr sz="2175">
              <a:latin typeface="Liberation Sans"/>
              <a:cs typeface="Liberation Sans"/>
            </a:endParaRPr>
          </a:p>
          <a:p>
            <a:pPr marL="46355" marR="5080" algn="ctr">
              <a:lnSpc>
                <a:spcPts val="2680"/>
              </a:lnSpc>
              <a:spcBef>
                <a:spcPts val="150"/>
              </a:spcBef>
            </a:pPr>
            <a:r>
              <a:rPr sz="2175" dirty="0">
                <a:latin typeface="Liberation Sans"/>
                <a:cs typeface="Liberation Sans"/>
              </a:rPr>
              <a:t>Ability</a:t>
            </a:r>
            <a:r>
              <a:rPr sz="2175" spc="-40" dirty="0">
                <a:latin typeface="Liberation Sans"/>
                <a:cs typeface="Liberation Sans"/>
              </a:rPr>
              <a:t> </a:t>
            </a:r>
            <a:r>
              <a:rPr sz="2175" dirty="0">
                <a:latin typeface="Liberation Sans"/>
                <a:cs typeface="Liberation Sans"/>
              </a:rPr>
              <a:t>to</a:t>
            </a:r>
            <a:r>
              <a:rPr sz="2175" spc="-55" dirty="0">
                <a:latin typeface="Liberation Sans"/>
                <a:cs typeface="Liberation Sans"/>
              </a:rPr>
              <a:t> </a:t>
            </a:r>
            <a:r>
              <a:rPr sz="2175" spc="-20" dirty="0">
                <a:latin typeface="Liberation Sans"/>
                <a:cs typeface="Liberation Sans"/>
              </a:rPr>
              <a:t>move </a:t>
            </a:r>
            <a:r>
              <a:rPr sz="2175" spc="-10" dirty="0">
                <a:latin typeface="Liberation Sans"/>
                <a:cs typeface="Liberation Sans"/>
              </a:rPr>
              <a:t>between infrastructure</a:t>
            </a:r>
            <a:endParaRPr sz="2175">
              <a:latin typeface="Liberation Sans"/>
              <a:cs typeface="Liberation Sans"/>
            </a:endParaRPr>
          </a:p>
        </p:txBody>
      </p:sp>
      <p:sp>
        <p:nvSpPr>
          <p:cNvPr id="14" name="object 14"/>
          <p:cNvSpPr txBox="1"/>
          <p:nvPr/>
        </p:nvSpPr>
        <p:spPr>
          <a:xfrm>
            <a:off x="6816541" y="2846271"/>
            <a:ext cx="1252406" cy="727710"/>
          </a:xfrm>
          <a:prstGeom prst="rect">
            <a:avLst/>
          </a:prstGeom>
        </p:spPr>
        <p:txBody>
          <a:bodyPr vert="horz" wrap="square" lIns="0" tIns="40883" rIns="0" bIns="0" rtlCol="0">
            <a:spAutoFit/>
          </a:bodyPr>
          <a:lstStyle/>
          <a:p>
            <a:pPr marL="21590" marR="5080" indent="-8890">
              <a:lnSpc>
                <a:spcPts val="2680"/>
              </a:lnSpc>
              <a:spcBef>
                <a:spcPts val="355"/>
              </a:spcBef>
            </a:pPr>
            <a:r>
              <a:rPr sz="2175" dirty="0">
                <a:latin typeface="Liberation Sans"/>
                <a:cs typeface="Liberation Sans"/>
              </a:rPr>
              <a:t>-</a:t>
            </a:r>
            <a:r>
              <a:rPr sz="2175" spc="-20" dirty="0">
                <a:latin typeface="Liberation Sans"/>
                <a:cs typeface="Liberation Sans"/>
              </a:rPr>
              <a:t> </a:t>
            </a:r>
            <a:r>
              <a:rPr sz="2175" dirty="0">
                <a:latin typeface="Liberation Sans"/>
                <a:cs typeface="Liberation Sans"/>
              </a:rPr>
              <a:t>Less</a:t>
            </a:r>
            <a:r>
              <a:rPr sz="2175" spc="-25" dirty="0">
                <a:latin typeface="Liberation Sans"/>
                <a:cs typeface="Liberation Sans"/>
              </a:rPr>
              <a:t> OS </a:t>
            </a:r>
            <a:r>
              <a:rPr sz="2175" spc="-10" dirty="0">
                <a:latin typeface="Liberation Sans"/>
                <a:cs typeface="Liberation Sans"/>
              </a:rPr>
              <a:t>Overhead</a:t>
            </a:r>
            <a:endParaRPr sz="2175">
              <a:latin typeface="Liberation Sans"/>
              <a:cs typeface="Liberation Sans"/>
            </a:endParaRPr>
          </a:p>
        </p:txBody>
      </p:sp>
      <p:sp>
        <p:nvSpPr>
          <p:cNvPr id="15" name="object 15"/>
          <p:cNvSpPr txBox="1"/>
          <p:nvPr/>
        </p:nvSpPr>
        <p:spPr>
          <a:xfrm>
            <a:off x="6601185" y="3771036"/>
            <a:ext cx="1682542" cy="727710"/>
          </a:xfrm>
          <a:prstGeom prst="rect">
            <a:avLst/>
          </a:prstGeom>
        </p:spPr>
        <p:txBody>
          <a:bodyPr vert="horz" wrap="square" lIns="0" tIns="40883" rIns="0" bIns="0" rtlCol="0">
            <a:spAutoFit/>
          </a:bodyPr>
          <a:lstStyle/>
          <a:p>
            <a:pPr marL="445135" marR="5080" indent="-433070">
              <a:lnSpc>
                <a:spcPts val="2680"/>
              </a:lnSpc>
              <a:spcBef>
                <a:spcPts val="355"/>
              </a:spcBef>
            </a:pPr>
            <a:r>
              <a:rPr sz="2175" dirty="0">
                <a:latin typeface="Liberation Sans"/>
                <a:cs typeface="Liberation Sans"/>
              </a:rPr>
              <a:t>-</a:t>
            </a:r>
            <a:r>
              <a:rPr sz="2175" spc="-50" dirty="0">
                <a:latin typeface="Liberation Sans"/>
                <a:cs typeface="Liberation Sans"/>
              </a:rPr>
              <a:t> </a:t>
            </a:r>
            <a:r>
              <a:rPr sz="2175" dirty="0">
                <a:latin typeface="Liberation Sans"/>
                <a:cs typeface="Liberation Sans"/>
              </a:rPr>
              <a:t>Improve</a:t>
            </a:r>
            <a:r>
              <a:rPr sz="2175" spc="-60" dirty="0">
                <a:latin typeface="Liberation Sans"/>
                <a:cs typeface="Liberation Sans"/>
              </a:rPr>
              <a:t> </a:t>
            </a:r>
            <a:r>
              <a:rPr sz="2175" spc="-25" dirty="0">
                <a:latin typeface="Liberation Sans"/>
                <a:cs typeface="Liberation Sans"/>
              </a:rPr>
              <a:t>VM </a:t>
            </a:r>
            <a:r>
              <a:rPr sz="2175" spc="-10" dirty="0">
                <a:latin typeface="Liberation Sans"/>
                <a:cs typeface="Liberation Sans"/>
              </a:rPr>
              <a:t>density</a:t>
            </a:r>
            <a:endParaRPr sz="2175">
              <a:latin typeface="Liberation Sans"/>
              <a:cs typeface="Liberation Sans"/>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152400"/>
            <a:ext cx="8229600" cy="1143000"/>
          </a:xfrm>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Architecture</a:t>
            </a:r>
            <a:endParaRPr lang="en-IN" sz="4400" dirty="0">
              <a:effectLst/>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1200" y="1143000"/>
            <a:ext cx="5381625" cy="493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Tools Used in Containerization</a:t>
            </a:r>
            <a:endParaRPr lang="en-IN" sz="4400" dirty="0">
              <a:effectLst/>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lnSpc>
                <a:spcPct val="150000"/>
              </a:lnSpc>
              <a:buSzPct val="1500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Docker </a:t>
            </a:r>
            <a:endParaRPr lang="en-IN" sz="24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Kubernetes </a:t>
            </a:r>
            <a:endParaRPr lang="en-IN" sz="24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AWS </a:t>
            </a:r>
            <a:r>
              <a:rPr lang="en-IN" sz="2400" dirty="0" smtClean="0">
                <a:latin typeface="Times New Roman" panose="02020603050405020304" pitchFamily="18" charset="0"/>
                <a:cs typeface="Times New Roman" panose="02020603050405020304" pitchFamily="18" charset="0"/>
              </a:rPr>
              <a:t>ECS</a:t>
            </a:r>
            <a:endParaRPr lang="en-IN" sz="24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Azure Container Service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257800"/>
          </a:xfrm>
        </p:spPr>
        <p:txBody>
          <a:bodyPr>
            <a:normAutofit/>
          </a:bodyPr>
          <a:lstStyle/>
          <a:p>
            <a:pPr algn="just">
              <a:lnSpc>
                <a:spcPct val="150000"/>
              </a:lnSpc>
              <a:buSzPct val="1500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Docker</a:t>
            </a:r>
            <a:r>
              <a:rPr lang="en-US" sz="1800" dirty="0">
                <a:latin typeface="Times New Roman" panose="02020603050405020304" pitchFamily="18" charset="0"/>
                <a:cs typeface="Times New Roman" panose="02020603050405020304" pitchFamily="18" charset="0"/>
              </a:rPr>
              <a:t> is a set of platform as a service (PaaS) products that use OS-level virtualization to deliver software in packages called containers. </a:t>
            </a:r>
            <a:endParaRPr lang="en-US" sz="18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Docker </a:t>
            </a:r>
            <a:r>
              <a:rPr lang="en-US" sz="1800" dirty="0">
                <a:latin typeface="Times New Roman" panose="02020603050405020304" pitchFamily="18" charset="0"/>
                <a:cs typeface="Times New Roman" panose="02020603050405020304" pitchFamily="18" charset="0"/>
              </a:rPr>
              <a:t>can package an application and its dependencies in a virtual container that can run on any Linux, Windows, or </a:t>
            </a:r>
            <a:r>
              <a:rPr lang="en-US" sz="1800" dirty="0" smtClean="0">
                <a:latin typeface="Times New Roman" panose="02020603050405020304" pitchFamily="18" charset="0"/>
                <a:cs typeface="Times New Roman" panose="02020603050405020304" pitchFamily="18" charset="0"/>
              </a:rPr>
              <a:t>macOS </a:t>
            </a:r>
            <a:r>
              <a:rPr lang="en-US" sz="1800" dirty="0">
                <a:latin typeface="Times New Roman" panose="02020603050405020304" pitchFamily="18" charset="0"/>
                <a:cs typeface="Times New Roman" panose="02020603050405020304" pitchFamily="18" charset="0"/>
              </a:rPr>
              <a:t>computer. </a:t>
            </a:r>
            <a:endParaRPr lang="en-US" sz="1800" dirty="0" smtClean="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This </a:t>
            </a:r>
            <a:r>
              <a:rPr lang="en-US" sz="1800" dirty="0">
                <a:latin typeface="Times New Roman" panose="02020603050405020304" pitchFamily="18" charset="0"/>
                <a:cs typeface="Times New Roman" panose="02020603050405020304" pitchFamily="18" charset="0"/>
              </a:rPr>
              <a:t>enables the application to run in a variety of locations, such as </a:t>
            </a:r>
            <a:r>
              <a:rPr lang="en-US" sz="1800" dirty="0" smtClean="0">
                <a:latin typeface="Times New Roman" panose="02020603050405020304" pitchFamily="18" charset="0"/>
                <a:cs typeface="Times New Roman" panose="02020603050405020304" pitchFamily="18" charset="0"/>
              </a:rPr>
              <a:t>on-premises</a:t>
            </a:r>
            <a:r>
              <a:rPr lang="en-US" sz="1800" dirty="0">
                <a:latin typeface="Times New Roman" panose="02020603050405020304" pitchFamily="18" charset="0"/>
                <a:cs typeface="Times New Roman" panose="02020603050405020304" pitchFamily="18" charset="0"/>
              </a:rPr>
              <a:t>,</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 a public </a:t>
            </a:r>
            <a:r>
              <a:rPr lang="en-US" sz="1800" dirty="0" smtClean="0">
                <a:latin typeface="Times New Roman" panose="02020603050405020304" pitchFamily="18" charset="0"/>
                <a:cs typeface="Times New Roman" panose="02020603050405020304" pitchFamily="18" charset="0"/>
              </a:rPr>
              <a:t>cloud </a:t>
            </a:r>
            <a:r>
              <a:rPr lang="en-US" sz="1800" dirty="0">
                <a:latin typeface="Times New Roman" panose="02020603050405020304" pitchFamily="18" charset="0"/>
                <a:cs typeface="Times New Roman" panose="02020603050405020304" pitchFamily="18" charset="0"/>
              </a:rPr>
              <a:t>and/or in a private </a:t>
            </a:r>
            <a:r>
              <a:rPr lang="en-US" sz="1800" dirty="0" smtClean="0">
                <a:latin typeface="Times New Roman" panose="02020603050405020304" pitchFamily="18" charset="0"/>
                <a:cs typeface="Times New Roman" panose="02020603050405020304" pitchFamily="18" charset="0"/>
              </a:rPr>
              <a:t>cloud</a:t>
            </a:r>
            <a:endParaRPr lang="en-IN" sz="18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81000" y="0"/>
            <a:ext cx="8229600" cy="1143000"/>
          </a:xfrm>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Docker</a:t>
            </a:r>
            <a:endParaRPr lang="en-IN" sz="4400" dirty="0">
              <a:effectLst/>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1" cstate="print">
            <a:extLst>
              <a:ext uri="{BEBA8EAE-BF5A-486C-A8C5-ECC9F3942E4B}">
                <a14:imgProps xmlns:a14="http://schemas.microsoft.com/office/drawing/2010/main">
                  <a14:imgLayer r:embed="rId2">
                    <a14:imgEffect>
                      <a14:brightnessContrast contrast="-40000"/>
                    </a14:imgEffect>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3657600" y="3505200"/>
            <a:ext cx="4495800" cy="306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1143000"/>
          </a:xfrm>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Kubernetes</a:t>
            </a:r>
            <a:endParaRPr lang="en-IN" sz="4400" dirty="0">
              <a:effectLst/>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457200" y="1371600"/>
            <a:ext cx="8229600" cy="5334000"/>
          </a:xfrm>
        </p:spPr>
        <p:txBody>
          <a:bodyPr>
            <a:normAutofit/>
          </a:bodyPr>
          <a:lstStyle/>
          <a:p>
            <a:pPr algn="just">
              <a:lnSpc>
                <a:spcPct val="150000"/>
              </a:lnSpc>
              <a:buSzPct val="150000"/>
              <a:buFont typeface="Arial" panose="020B0604020202020204" pitchFamily="34" charset="0"/>
              <a:buChar char="•"/>
            </a:pPr>
            <a:r>
              <a:rPr lang="en-US" sz="1800" b="1" dirty="0" smtClean="0">
                <a:latin typeface="Times New Roman" panose="02020603050405020304" pitchFamily="18" charset="0"/>
                <a:cs typeface="Times New Roman" panose="02020603050405020304" pitchFamily="18" charset="0"/>
              </a:rPr>
              <a:t>Kubernetes</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is an open-source </a:t>
            </a:r>
            <a:r>
              <a:rPr lang="en-US" sz="1800" dirty="0" smtClean="0">
                <a:latin typeface="Times New Roman" panose="02020603050405020304" pitchFamily="18" charset="0"/>
                <a:cs typeface="Times New Roman" panose="02020603050405020304" pitchFamily="18" charset="0"/>
              </a:rPr>
              <a:t>container-orchestration</a:t>
            </a:r>
            <a:r>
              <a:rPr lang="en-US" sz="1800" dirty="0">
                <a:latin typeface="Times New Roman" panose="02020603050405020304" pitchFamily="18" charset="0"/>
                <a:cs typeface="Times New Roman" panose="02020603050405020304" pitchFamily="18" charset="0"/>
              </a:rPr>
              <a:t> system for automating computer application deployment, scaling, and </a:t>
            </a:r>
            <a:r>
              <a:rPr lang="en-US" sz="1800" dirty="0" smtClean="0">
                <a:latin typeface="Times New Roman" panose="02020603050405020304" pitchFamily="18" charset="0"/>
                <a:cs typeface="Times New Roman" panose="02020603050405020304" pitchFamily="18" charset="0"/>
              </a:rPr>
              <a:t>management.</a:t>
            </a:r>
            <a:endParaRPr lang="en-US" sz="1800" baseline="30000" dirty="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It </a:t>
            </a:r>
            <a:r>
              <a:rPr lang="en-US" sz="1800" dirty="0">
                <a:latin typeface="Times New Roman" panose="02020603050405020304" pitchFamily="18" charset="0"/>
                <a:cs typeface="Times New Roman" panose="02020603050405020304" pitchFamily="18" charset="0"/>
              </a:rPr>
              <a:t>was originally designed by </a:t>
            </a:r>
            <a:r>
              <a:rPr lang="en-US" sz="1800" dirty="0" smtClean="0">
                <a:latin typeface="Times New Roman" panose="02020603050405020304" pitchFamily="18" charset="0"/>
                <a:cs typeface="Times New Roman" panose="02020603050405020304" pitchFamily="18" charset="0"/>
              </a:rPr>
              <a:t>Google</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and </a:t>
            </a:r>
            <a:r>
              <a:rPr lang="en-US" sz="1800" dirty="0">
                <a:latin typeface="Times New Roman" panose="02020603050405020304" pitchFamily="18" charset="0"/>
                <a:cs typeface="Times New Roman" panose="02020603050405020304" pitchFamily="18" charset="0"/>
              </a:rPr>
              <a:t>is now maintained by the Cloud </a:t>
            </a:r>
            <a:r>
              <a:rPr lang="en-US" sz="1800" dirty="0" smtClean="0">
                <a:latin typeface="Times New Roman" panose="02020603050405020304" pitchFamily="18" charset="0"/>
                <a:cs typeface="Times New Roman" panose="02020603050405020304" pitchFamily="18" charset="0"/>
              </a:rPr>
              <a:t>Native </a:t>
            </a:r>
            <a:r>
              <a:rPr lang="en-US" sz="1800" dirty="0">
                <a:latin typeface="Times New Roman" panose="02020603050405020304" pitchFamily="18" charset="0"/>
                <a:cs typeface="Times New Roman" panose="02020603050405020304" pitchFamily="18" charset="0"/>
              </a:rPr>
              <a:t>Computing </a:t>
            </a:r>
            <a:r>
              <a:rPr lang="en-US" sz="1800" dirty="0" smtClean="0">
                <a:latin typeface="Times New Roman" panose="02020603050405020304" pitchFamily="18" charset="0"/>
                <a:cs typeface="Times New Roman" panose="02020603050405020304" pitchFamily="18" charset="0"/>
              </a:rPr>
              <a:t>Foundation </a:t>
            </a:r>
            <a:r>
              <a:rPr lang="en-US" sz="1800" dirty="0">
                <a:latin typeface="Times New Roman" panose="02020603050405020304" pitchFamily="18" charset="0"/>
                <a:cs typeface="Times New Roman" panose="02020603050405020304" pitchFamily="18" charset="0"/>
              </a:rPr>
              <a:t>It aims to provide a "platform for automating deployment, scaling, and operations of application containers across clusters of hosts".</a:t>
            </a:r>
            <a:endParaRPr lang="en-IN" sz="1800" dirty="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1" cstate="print">
            <a:extLst>
              <a:ext uri="{BEBA8EAE-BF5A-486C-A8C5-ECC9F3942E4B}">
                <a14:imgProps xmlns:a14="http://schemas.microsoft.com/office/drawing/2010/main">
                  <a14:imgLayer r:embed="rId2">
                    <a14:imgEffect>
                      <a14:brightnessContrast contrast="20000"/>
                    </a14:imgEffect>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1676400" y="3505200"/>
            <a:ext cx="588772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638800"/>
          </a:xfrm>
        </p:spPr>
        <p:txBody>
          <a:bodyPr>
            <a:noAutofit/>
          </a:bodyPr>
          <a:lstStyle/>
          <a:p>
            <a:pPr algn="just">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Amazon Elastic Container Service (Amazon ECS) is a highly scalable, fast container management service that makes it easy to run, stop, and manage containers on a cluster. </a:t>
            </a:r>
            <a:endParaRPr lang="en-US" sz="1800" dirty="0" smtClean="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Alternatively</a:t>
            </a:r>
            <a:r>
              <a:rPr lang="en-US" sz="1800" dirty="0">
                <a:latin typeface="Times New Roman" panose="02020603050405020304" pitchFamily="18" charset="0"/>
                <a:cs typeface="Times New Roman" panose="02020603050405020304" pitchFamily="18" charset="0"/>
              </a:rPr>
              <a:t>, for more control over your infrastructure, you can run your tasks and services on a cluster of Amazon EC2 instances that you manage</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81000" y="-76200"/>
            <a:ext cx="8229600" cy="1143000"/>
          </a:xfrm>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AWS ECS</a:t>
            </a:r>
            <a:endParaRPr lang="en-IN" sz="4400" dirty="0">
              <a:effectLst/>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1" cstate="print">
            <a:extLst>
              <a:ext uri="{BEBA8EAE-BF5A-486C-A8C5-ECC9F3942E4B}">
                <a14:imgProps xmlns:a14="http://schemas.microsoft.com/office/drawing/2010/main">
                  <a14:imgLayer r:embed="rId2">
                    <a14:imgEffect>
                      <a14:saturation sat="400000"/>
                    </a14:imgEffect>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295400" y="3112008"/>
            <a:ext cx="68199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ctr"/>
            <a:r>
              <a:rPr lang="en-US" sz="4400" dirty="0" smtClean="0">
                <a:effectLst/>
                <a:latin typeface="Times New Roman" panose="02020603050405020304" pitchFamily="18" charset="0"/>
                <a:cs typeface="Times New Roman" panose="02020603050405020304" pitchFamily="18" charset="0"/>
              </a:rPr>
              <a:t>Containerization Vs Virtualization</a:t>
            </a:r>
            <a:endParaRPr lang="en-IN" sz="4400" dirty="0">
              <a:effectLst/>
              <a:latin typeface="Times New Roman" panose="02020603050405020304" pitchFamily="18" charset="0"/>
              <a:cs typeface="Times New Roman" panose="02020603050405020304" pitchFamily="18" charset="0"/>
            </a:endParaRPr>
          </a:p>
        </p:txBody>
      </p:sp>
      <p:pic>
        <p:nvPicPr>
          <p:cNvPr id="3077" name="Picture 5" descr="Docker Architecture | Aqua"/>
          <p:cNvPicPr>
            <a:picLocks noChangeAspect="1" noChangeArrowheads="1"/>
          </p:cNvPicPr>
          <p:nvPr/>
        </p:nvPicPr>
        <p:blipFill>
          <a:blip r:embed="rId1">
            <a:extLst>
              <a:ext uri="{BEBA8EAE-BF5A-486C-A8C5-ECC9F3942E4B}">
                <a14:imgProps xmlns:a14="http://schemas.microsoft.com/office/drawing/2010/main">
                  <a14:imgLayer r:embed="rId2">
                    <a14:imgEffect>
                      <a14:brightnessContrast contrast="20000"/>
                    </a14:imgEffect>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685800" y="1447800"/>
            <a:ext cx="7696200" cy="434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525963"/>
          </a:xfrm>
        </p:spPr>
        <p:txBody>
          <a:bodyPr>
            <a:noAutofit/>
          </a:bodyPr>
          <a:lstStyle/>
          <a:p>
            <a:pPr algn="just" fontAlgn="base">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Containers as a Service ( CaaS ) is a cloud-based service that allows software developers and IT departments to upload, organize, run, scale, and manage containers by using container-based virtualization.</a:t>
            </a:r>
            <a:endParaRPr lang="en-US" sz="1800" dirty="0">
              <a:latin typeface="Times New Roman" panose="02020603050405020304" pitchFamily="18" charset="0"/>
              <a:cs typeface="Times New Roman" panose="02020603050405020304" pitchFamily="18" charset="0"/>
            </a:endParaRPr>
          </a:p>
          <a:p>
            <a:pPr algn="just" fontAlgn="base">
              <a:lnSpc>
                <a:spcPct val="150000"/>
              </a:lnSpc>
              <a:buSzPct val="1500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 container is a package of software that includes all dependencies: code, runtime, configuration, and system libraries so that it can run on any host system. </a:t>
            </a:r>
            <a:endParaRPr lang="en-US" sz="1800" dirty="0" smtClean="0">
              <a:latin typeface="Times New Roman" panose="02020603050405020304" pitchFamily="18" charset="0"/>
              <a:cs typeface="Times New Roman" panose="02020603050405020304" pitchFamily="18" charset="0"/>
            </a:endParaRPr>
          </a:p>
          <a:p>
            <a:pPr algn="just" fontAlgn="base">
              <a:lnSpc>
                <a:spcPct val="150000"/>
              </a:lnSpc>
              <a:buSzPct val="150000"/>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CaaS </a:t>
            </a:r>
            <a:r>
              <a:rPr lang="en-US" sz="1800" dirty="0">
                <a:latin typeface="Times New Roman" panose="02020603050405020304" pitchFamily="18" charset="0"/>
                <a:cs typeface="Times New Roman" panose="02020603050405020304" pitchFamily="18" charset="0"/>
              </a:rPr>
              <a:t>enables software teams to rapidly deploy and scale containerized applications to high availability cloud infrastructures. </a:t>
            </a:r>
            <a:endParaRPr lang="en-US" sz="1800" dirty="0" smtClean="0">
              <a:latin typeface="Times New Roman" panose="02020603050405020304" pitchFamily="18" charset="0"/>
              <a:cs typeface="Times New Roman" panose="02020603050405020304" pitchFamily="18" charset="0"/>
            </a:endParaRPr>
          </a:p>
          <a:p>
            <a:pPr algn="just" fontAlgn="base">
              <a:lnSpc>
                <a:spcPct val="150000"/>
              </a:lnSpc>
              <a:buSzPct val="150000"/>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CaaS </a:t>
            </a:r>
            <a:r>
              <a:rPr lang="en-US" sz="1800" dirty="0">
                <a:latin typeface="Times New Roman" panose="02020603050405020304" pitchFamily="18" charset="0"/>
                <a:cs typeface="Times New Roman" panose="02020603050405020304" pitchFamily="18" charset="0"/>
              </a:rPr>
              <a:t>differs from Platform as a Service (PaaS) since it relies on the use of containers. PaaS is concerned with explicit ‘language stack’ deployments like Ruby on Rails, or Node.js, whereas CaaS can deploy multiple stacks per container.</a:t>
            </a:r>
            <a:endParaRPr lang="en-US" sz="18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457200" y="152400"/>
            <a:ext cx="8229600" cy="1143000"/>
          </a:xfrm>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Services Of Containerization</a:t>
            </a:r>
            <a:endParaRPr lang="en-IN" sz="440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953000"/>
          </a:xfrm>
        </p:spPr>
        <p:txBody>
          <a:bodyPr>
            <a:noAutofit/>
          </a:bodyPr>
          <a:lstStyle/>
          <a:p>
            <a:pPr algn="just">
              <a:lnSpc>
                <a:spcPct val="170000"/>
              </a:lnSpc>
              <a:buSzPct val="150000"/>
              <a:buFont typeface="Arial" panose="020B0604020202020204" pitchFamily="34" charset="0"/>
              <a:buChar char="•"/>
            </a:pPr>
            <a:r>
              <a:rPr lang="en-US" sz="1500" b="1" dirty="0" smtClean="0">
                <a:latin typeface="Times New Roman" panose="02020603050405020304" pitchFamily="18" charset="0"/>
                <a:cs typeface="Times New Roman" panose="02020603050405020304" pitchFamily="18" charset="0"/>
              </a:rPr>
              <a:t>Portability : </a:t>
            </a:r>
            <a:r>
              <a:rPr lang="en-US" sz="1500" dirty="0" smtClean="0">
                <a:latin typeface="Times New Roman" panose="02020603050405020304" pitchFamily="18" charset="0"/>
                <a:cs typeface="Times New Roman" panose="02020603050405020304" pitchFamily="18" charset="0"/>
              </a:rPr>
              <a:t>The </a:t>
            </a:r>
            <a:r>
              <a:rPr lang="en-US" sz="1500" dirty="0">
                <a:latin typeface="Times New Roman" panose="02020603050405020304" pitchFamily="18" charset="0"/>
                <a:cs typeface="Times New Roman" panose="02020603050405020304" pitchFamily="18" charset="0"/>
              </a:rPr>
              <a:t>main advantage of a container is its independent nature, which differs from virtual machines. The idea behind it is to provide the whole environment without even getting dependent upon the host hardware, limiting the problem of specification, and covering efficient resource usage</a:t>
            </a:r>
            <a:r>
              <a:rPr lang="en-US" sz="1500" dirty="0" smtClean="0">
                <a:latin typeface="Times New Roman" panose="02020603050405020304" pitchFamily="18" charset="0"/>
                <a:cs typeface="Times New Roman" panose="02020603050405020304" pitchFamily="18" charset="0"/>
              </a:rPr>
              <a:t>.</a:t>
            </a:r>
            <a:endParaRPr lang="en-US" sz="1500" dirty="0" smtClean="0">
              <a:latin typeface="Times New Roman" panose="02020603050405020304" pitchFamily="18" charset="0"/>
              <a:cs typeface="Times New Roman" panose="02020603050405020304" pitchFamily="18" charset="0"/>
            </a:endParaRPr>
          </a:p>
          <a:p>
            <a:pPr algn="just">
              <a:lnSpc>
                <a:spcPct val="170000"/>
              </a:lnSpc>
              <a:buSzPct val="150000"/>
              <a:buFont typeface="Arial" panose="020B0604020202020204" pitchFamily="34" charset="0"/>
              <a:buChar char="•"/>
            </a:pPr>
            <a:r>
              <a:rPr lang="en-US" sz="1500" b="1" dirty="0" smtClean="0">
                <a:latin typeface="Times New Roman" panose="02020603050405020304" pitchFamily="18" charset="0"/>
                <a:cs typeface="Times New Roman" panose="02020603050405020304" pitchFamily="18" charset="0"/>
              </a:rPr>
              <a:t>2</a:t>
            </a:r>
            <a:r>
              <a:rPr lang="en-US" sz="1500" b="1" dirty="0">
                <a:latin typeface="Times New Roman" panose="02020603050405020304" pitchFamily="18" charset="0"/>
                <a:cs typeface="Times New Roman" panose="02020603050405020304" pitchFamily="18" charset="0"/>
              </a:rPr>
              <a:t>. Light </a:t>
            </a:r>
            <a:r>
              <a:rPr lang="en-US" sz="1500" b="1" dirty="0" smtClean="0">
                <a:latin typeface="Times New Roman" panose="02020603050405020304" pitchFamily="18" charset="0"/>
                <a:cs typeface="Times New Roman" panose="02020603050405020304" pitchFamily="18" charset="0"/>
              </a:rPr>
              <a:t>Weight : </a:t>
            </a:r>
            <a:r>
              <a:rPr lang="en-US" sz="1500" dirty="0" smtClean="0">
                <a:latin typeface="Times New Roman" panose="02020603050405020304" pitchFamily="18" charset="0"/>
                <a:cs typeface="Times New Roman" panose="02020603050405020304" pitchFamily="18" charset="0"/>
              </a:rPr>
              <a:t>Not </a:t>
            </a:r>
            <a:r>
              <a:rPr lang="en-US" sz="1500" dirty="0">
                <a:latin typeface="Times New Roman" panose="02020603050405020304" pitchFamily="18" charset="0"/>
                <a:cs typeface="Times New Roman" panose="02020603050405020304" pitchFamily="18" charset="0"/>
              </a:rPr>
              <a:t>being dependent upon the hardware means it is not having any overhead or OS associated with it. This container property helps you transfer your application from one environment to another without any overhead problem</a:t>
            </a:r>
            <a:r>
              <a:rPr lang="en-US" sz="1500" dirty="0" smtClean="0">
                <a:latin typeface="Times New Roman" panose="02020603050405020304" pitchFamily="18" charset="0"/>
                <a:cs typeface="Times New Roman" panose="02020603050405020304" pitchFamily="18" charset="0"/>
              </a:rPr>
              <a:t>.</a:t>
            </a:r>
            <a:endParaRPr lang="en-US" sz="1500" dirty="0" smtClean="0">
              <a:latin typeface="Times New Roman" panose="02020603050405020304" pitchFamily="18" charset="0"/>
              <a:cs typeface="Times New Roman" panose="02020603050405020304" pitchFamily="18" charset="0"/>
            </a:endParaRPr>
          </a:p>
          <a:p>
            <a:pPr algn="just">
              <a:lnSpc>
                <a:spcPct val="170000"/>
              </a:lnSpc>
              <a:buSzPct val="150000"/>
              <a:buFont typeface="Arial" panose="020B0604020202020204" pitchFamily="34" charset="0"/>
              <a:buChar char="•"/>
            </a:pPr>
            <a:r>
              <a:rPr lang="en-US" sz="1500" b="1" dirty="0" smtClean="0">
                <a:latin typeface="Times New Roman" panose="02020603050405020304" pitchFamily="18" charset="0"/>
                <a:cs typeface="Times New Roman" panose="02020603050405020304" pitchFamily="18" charset="0"/>
              </a:rPr>
              <a:t>3</a:t>
            </a:r>
            <a:r>
              <a:rPr lang="en-US" sz="1500" b="1" dirty="0">
                <a:latin typeface="Times New Roman" panose="02020603050405020304" pitchFamily="18" charset="0"/>
                <a:cs typeface="Times New Roman" panose="02020603050405020304" pitchFamily="18" charset="0"/>
              </a:rPr>
              <a:t>. </a:t>
            </a:r>
            <a:r>
              <a:rPr lang="en-US" sz="1500" b="1" dirty="0" smtClean="0">
                <a:latin typeface="Times New Roman" panose="02020603050405020304" pitchFamily="18" charset="0"/>
                <a:cs typeface="Times New Roman" panose="02020603050405020304" pitchFamily="18" charset="0"/>
              </a:rPr>
              <a:t>Speed : </a:t>
            </a:r>
            <a:r>
              <a:rPr lang="en-US" sz="1500" dirty="0" smtClean="0">
                <a:latin typeface="Times New Roman" panose="02020603050405020304" pitchFamily="18" charset="0"/>
                <a:cs typeface="Times New Roman" panose="02020603050405020304" pitchFamily="18" charset="0"/>
              </a:rPr>
              <a:t>The </a:t>
            </a:r>
            <a:r>
              <a:rPr lang="en-US" sz="1500" dirty="0">
                <a:latin typeface="Times New Roman" panose="02020603050405020304" pitchFamily="18" charset="0"/>
                <a:cs typeface="Times New Roman" panose="02020603050405020304" pitchFamily="18" charset="0"/>
              </a:rPr>
              <a:t>speed associated with containers gives out the solution to many problems. For example, if you have deployed an application through containers, then usage and the functionality associated with the application would be way much more efficient than that same application used through Virtual Machines</a:t>
            </a:r>
            <a:r>
              <a:rPr lang="en-US" sz="1500" dirty="0" smtClean="0">
                <a:latin typeface="Times New Roman" panose="02020603050405020304" pitchFamily="18" charset="0"/>
                <a:cs typeface="Times New Roman" panose="02020603050405020304" pitchFamily="18" charset="0"/>
              </a:rPr>
              <a:t>.</a:t>
            </a:r>
            <a:endParaRPr lang="en-US" sz="1500" dirty="0" smtClean="0">
              <a:latin typeface="Times New Roman" panose="02020603050405020304" pitchFamily="18" charset="0"/>
              <a:cs typeface="Times New Roman" panose="02020603050405020304" pitchFamily="18" charset="0"/>
            </a:endParaRPr>
          </a:p>
          <a:p>
            <a:pPr algn="just">
              <a:lnSpc>
                <a:spcPct val="170000"/>
              </a:lnSpc>
              <a:buSzPct val="150000"/>
              <a:buFont typeface="Arial" panose="020B0604020202020204" pitchFamily="34" charset="0"/>
              <a:buChar char="•"/>
            </a:pPr>
            <a:r>
              <a:rPr lang="en-US" sz="1500" b="1" dirty="0" smtClean="0">
                <a:latin typeface="Times New Roman" panose="02020603050405020304" pitchFamily="18" charset="0"/>
                <a:cs typeface="Times New Roman" panose="02020603050405020304" pitchFamily="18" charset="0"/>
              </a:rPr>
              <a:t>4</a:t>
            </a:r>
            <a:r>
              <a:rPr lang="en-US" sz="1500" b="1" dirty="0">
                <a:latin typeface="Times New Roman" panose="02020603050405020304" pitchFamily="18" charset="0"/>
                <a:cs typeface="Times New Roman" panose="02020603050405020304" pitchFamily="18" charset="0"/>
              </a:rPr>
              <a:t>. </a:t>
            </a:r>
            <a:r>
              <a:rPr lang="en-US" sz="1500" b="1" dirty="0" smtClean="0">
                <a:latin typeface="Times New Roman" panose="02020603050405020304" pitchFamily="18" charset="0"/>
                <a:cs typeface="Times New Roman" panose="02020603050405020304" pitchFamily="18" charset="0"/>
              </a:rPr>
              <a:t>Cost-Efficient :</a:t>
            </a:r>
            <a:r>
              <a:rPr lang="en-US" sz="1500" dirty="0" smtClean="0">
                <a:latin typeface="Times New Roman" panose="02020603050405020304" pitchFamily="18" charset="0"/>
                <a:cs typeface="Times New Roman" panose="02020603050405020304" pitchFamily="18" charset="0"/>
              </a:rPr>
              <a:t>The </a:t>
            </a:r>
            <a:r>
              <a:rPr lang="en-US" sz="1500" dirty="0">
                <a:latin typeface="Times New Roman" panose="02020603050405020304" pitchFamily="18" charset="0"/>
                <a:cs typeface="Times New Roman" panose="02020603050405020304" pitchFamily="18" charset="0"/>
              </a:rPr>
              <a:t>cost-efficiency of containers is very much the sole reason companies adopt this technology and make their applications more </a:t>
            </a:r>
            <a:r>
              <a:rPr lang="en-US" sz="1500" dirty="0" smtClean="0">
                <a:latin typeface="Times New Roman" panose="02020603050405020304" pitchFamily="18" charset="0"/>
                <a:cs typeface="Times New Roman" panose="02020603050405020304" pitchFamily="18" charset="0"/>
              </a:rPr>
              <a:t>containerized</a:t>
            </a:r>
            <a:endParaRPr lang="en-IN" sz="15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381000" y="12192"/>
            <a:ext cx="8229600" cy="1143000"/>
          </a:xfrm>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Advantages</a:t>
            </a:r>
            <a:endParaRPr lang="en-IN" sz="440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lnSpc>
                <a:spcPct val="150000"/>
              </a:lnSpc>
              <a:buSzPct val="1500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1. </a:t>
            </a:r>
            <a:r>
              <a:rPr lang="en-US" sz="2000" b="1" dirty="0" smtClean="0">
                <a:latin typeface="Times New Roman" panose="02020603050405020304" pitchFamily="18" charset="0"/>
                <a:cs typeface="Times New Roman" panose="02020603050405020304" pitchFamily="18" charset="0"/>
              </a:rPr>
              <a:t>Security  : </a:t>
            </a:r>
            <a:r>
              <a:rPr lang="en-US" sz="2000" dirty="0" smtClean="0">
                <a:latin typeface="Times New Roman" panose="02020603050405020304" pitchFamily="18" charset="0"/>
                <a:cs typeface="Times New Roman" panose="02020603050405020304" pitchFamily="18" charset="0"/>
              </a:rPr>
              <a:t>One </a:t>
            </a:r>
            <a:r>
              <a:rPr lang="en-US" sz="2000" dirty="0">
                <a:latin typeface="Times New Roman" panose="02020603050405020304" pitchFamily="18" charset="0"/>
                <a:cs typeface="Times New Roman" panose="02020603050405020304" pitchFamily="18" charset="0"/>
              </a:rPr>
              <a:t>can not ignore the security issues with the container and associated containers. In reality, hackers can penetrate its OS-level virtualization. </a:t>
            </a:r>
            <a:r>
              <a:rPr lang="en-US" sz="2000" dirty="0" smtClean="0">
                <a:latin typeface="Times New Roman" panose="02020603050405020304" pitchFamily="18" charset="0"/>
                <a:cs typeface="Times New Roman" panose="02020603050405020304" pitchFamily="18" charset="0"/>
              </a:rPr>
              <a:t>Yes</a:t>
            </a:r>
            <a:r>
              <a:rPr lang="en-US" sz="2000" dirty="0">
                <a:latin typeface="Times New Roman" panose="02020603050405020304" pitchFamily="18" charset="0"/>
                <a:cs typeface="Times New Roman" panose="02020603050405020304" pitchFamily="18" charset="0"/>
              </a:rPr>
              <a:t>, they do have this flaw, but it is not that easy to breach containers' security. While in the case of Virtual Machines, you have a hypervisor that provides a petite point of the breach, which is more secure than that of the container's </a:t>
            </a:r>
            <a:r>
              <a:rPr lang="en-US" sz="2000" dirty="0" smtClean="0">
                <a:latin typeface="Times New Roman" panose="02020603050405020304" pitchFamily="18" charset="0"/>
                <a:cs typeface="Times New Roman" panose="02020603050405020304" pitchFamily="18" charset="0"/>
              </a:rPr>
              <a:t>surface.</a:t>
            </a:r>
            <a:endParaRPr lang="en-US" sz="2000" dirty="0" smtClean="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Monitoring : </a:t>
            </a:r>
            <a:r>
              <a:rPr lang="en-US" sz="2000" dirty="0" smtClean="0">
                <a:latin typeface="Times New Roman" panose="02020603050405020304" pitchFamily="18" charset="0"/>
                <a:cs typeface="Times New Roman" panose="02020603050405020304" pitchFamily="18" charset="0"/>
              </a:rPr>
              <a:t>Sometimes</a:t>
            </a:r>
            <a:r>
              <a:rPr lang="en-US" sz="2000" dirty="0">
                <a:latin typeface="Times New Roman" panose="02020603050405020304" pitchFamily="18" charset="0"/>
                <a:cs typeface="Times New Roman" panose="02020603050405020304" pitchFamily="18" charset="0"/>
              </a:rPr>
              <a:t>, there could be a chance that many containers are working on the same server, which is a good thing. But when you look at the maintenance side, you will find it very hard to manage it all. This could lead to many mishaps around the system.</a:t>
            </a:r>
            <a:endParaRPr lang="en-IN" sz="20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Disadvantages</a:t>
            </a:r>
            <a:endParaRPr lang="en-IN" sz="440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lnSpc>
                <a:spcPct val="150000"/>
              </a:lnSpc>
              <a:buSzPct val="150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Various containerization tools are available in the market that could best suit our requirements. The power of containers helps them get the desired output, irrespective of the OS at the client-side or other dependencies. </a:t>
            </a:r>
            <a:endParaRPr lang="en-US" sz="2000" dirty="0" smtClean="0">
              <a:latin typeface="Times New Roman" panose="02020603050405020304" pitchFamily="18" charset="0"/>
              <a:cs typeface="Times New Roman" panose="02020603050405020304" pitchFamily="18" charset="0"/>
            </a:endParaRPr>
          </a:p>
          <a:p>
            <a:pPr algn="just">
              <a:lnSpc>
                <a:spcPct val="150000"/>
              </a:lnSpc>
              <a:buSzPct val="1500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the lifecycle of software, there could be multiple rolling updates necessary for creating the best software. Now, you get to choose which containers are the best fit and capable of updating very easily and quickly on the go for you.</a:t>
            </a:r>
            <a:endParaRPr lang="en-IN" sz="20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pPr algn="ctr"/>
            <a:r>
              <a:rPr lang="en-US" sz="4400" dirty="0" smtClean="0">
                <a:effectLst/>
                <a:latin typeface="Times New Roman" panose="02020603050405020304" pitchFamily="18" charset="0"/>
                <a:cs typeface="Times New Roman" panose="02020603050405020304" pitchFamily="18" charset="0"/>
              </a:rPr>
              <a:t>Conclusion</a:t>
            </a:r>
            <a:endParaRPr lang="en-IN" sz="440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393192"/>
            <a:ext cx="7924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6863</Words>
  <Application>WPS Presentation</Application>
  <PresentationFormat>On-screen Show (4:3)</PresentationFormat>
  <Paragraphs>152</Paragraphs>
  <Slides>23</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23</vt:i4>
      </vt:variant>
    </vt:vector>
  </HeadingPairs>
  <TitlesOfParts>
    <vt:vector size="40" baseType="lpstr">
      <vt:lpstr>Arial</vt:lpstr>
      <vt:lpstr>SimSun</vt:lpstr>
      <vt:lpstr>Wingdings</vt:lpstr>
      <vt:lpstr>Wingdings 3</vt:lpstr>
      <vt:lpstr>Verdana</vt:lpstr>
      <vt:lpstr>Wingdings 2</vt:lpstr>
      <vt:lpstr>Times New Roman</vt:lpstr>
      <vt:lpstr>Lucida Sans Unicode</vt:lpstr>
      <vt:lpstr>Microsoft YaHei</vt:lpstr>
      <vt:lpstr>Arial Unicode MS</vt:lpstr>
      <vt:lpstr>Calibri</vt:lpstr>
      <vt:lpstr>OpenSymbol</vt:lpstr>
      <vt:lpstr>Euphorigenic</vt:lpstr>
      <vt:lpstr>Liberation Sans</vt:lpstr>
      <vt:lpstr>IBM Plex Sans</vt:lpstr>
      <vt:lpstr>Yellowtail</vt:lpstr>
      <vt:lpstr>Concourse</vt:lpstr>
      <vt:lpstr>Containerization</vt:lpstr>
      <vt:lpstr>Contents</vt:lpstr>
      <vt:lpstr>Virtualization Types</vt:lpstr>
      <vt:lpstr>Introduction Of Containerization</vt:lpstr>
      <vt:lpstr>How Containers Work?</vt:lpstr>
      <vt:lpstr>Container &amp; VM</vt:lpstr>
      <vt:lpstr>PowerPoint 演示文稿</vt:lpstr>
      <vt:lpstr>PowerPoint 演示文稿</vt:lpstr>
      <vt:lpstr>PowerPoint 演示文稿</vt:lpstr>
      <vt:lpstr>Container vs VM</vt:lpstr>
      <vt:lpstr>What is	?</vt:lpstr>
      <vt:lpstr>Key Benefits of Docker Containers</vt:lpstr>
      <vt:lpstr>Architecture</vt:lpstr>
      <vt:lpstr>Tools Used in Containerization</vt:lpstr>
      <vt:lpstr>Docker</vt:lpstr>
      <vt:lpstr>Kubernetes</vt:lpstr>
      <vt:lpstr>AWS ECS</vt:lpstr>
      <vt:lpstr>Containerization Vs Virtualization</vt:lpstr>
      <vt:lpstr>Services Of Containerization</vt:lpstr>
      <vt:lpstr>Advantages</vt:lpstr>
      <vt:lpstr>Disadvantages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CONTAINERIZATION</dc:title>
  <dc:creator>user</dc:creator>
  <cp:lastModifiedBy>Owner</cp:lastModifiedBy>
  <cp:revision>69</cp:revision>
  <dcterms:created xsi:type="dcterms:W3CDTF">2021-07-04T02:42:00Z</dcterms:created>
  <dcterms:modified xsi:type="dcterms:W3CDTF">2026-05-26T04:50:58Z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F0DA675F650A4775A212AB61C5CF0B82_13</vt:lpwstr>
  </property>
</Properties>
</file>