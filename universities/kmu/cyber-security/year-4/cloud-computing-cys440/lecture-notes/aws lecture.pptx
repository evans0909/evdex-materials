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media/image7.jpg" ContentType="image/jpeg"/>
  <Override PartName="/ppt/notesSlides/notesSlide5.xml" ContentType="application/vnd.openxmlformats-officedocument.presentationml.notesSlide+xml"/>
  <Override PartName="/ppt/notesSlides/notesSlide6.xml" ContentType="application/vnd.openxmlformats-officedocument.presentationml.notesSlide+xml"/>
  <Override PartName="/ppt/media/image8.jpg" ContentType="image/jpeg"/>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media/image21.jpg" ContentType="image/jpeg"/>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media/image27.jpg" ContentType="image/jpeg"/>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media/image32.jpg" ContentType="image/jpeg"/>
  <Override PartName="/ppt/notesSlides/notesSlide23.xml" ContentType="application/vnd.openxmlformats-officedocument.presentationml.notesSlide+xml"/>
  <Override PartName="/ppt/media/image33.jpg" ContentType="image/jpe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3"/>
  </p:notesMasterIdLst>
  <p:sldIdLst>
    <p:sldId id="256" r:id="rId2"/>
    <p:sldId id="257" r:id="rId3"/>
    <p:sldId id="259" r:id="rId4"/>
    <p:sldId id="258" r:id="rId5"/>
    <p:sldId id="283" r:id="rId6"/>
    <p:sldId id="284" r:id="rId7"/>
    <p:sldId id="260" r:id="rId8"/>
    <p:sldId id="261" r:id="rId9"/>
    <p:sldId id="300" r:id="rId10"/>
    <p:sldId id="285" r:id="rId11"/>
    <p:sldId id="265" r:id="rId12"/>
    <p:sldId id="266" r:id="rId13"/>
    <p:sldId id="286" r:id="rId14"/>
    <p:sldId id="267" r:id="rId15"/>
    <p:sldId id="287" r:id="rId16"/>
    <p:sldId id="268" r:id="rId17"/>
    <p:sldId id="288" r:id="rId18"/>
    <p:sldId id="269" r:id="rId19"/>
    <p:sldId id="289" r:id="rId20"/>
    <p:sldId id="270" r:id="rId21"/>
    <p:sldId id="290" r:id="rId22"/>
    <p:sldId id="271" r:id="rId23"/>
    <p:sldId id="272" r:id="rId24"/>
    <p:sldId id="273" r:id="rId25"/>
    <p:sldId id="274" r:id="rId26"/>
    <p:sldId id="291" r:id="rId27"/>
    <p:sldId id="275" r:id="rId28"/>
    <p:sldId id="292" r:id="rId29"/>
    <p:sldId id="276" r:id="rId30"/>
    <p:sldId id="277" r:id="rId31"/>
    <p:sldId id="294" r:id="rId32"/>
    <p:sldId id="295" r:id="rId33"/>
    <p:sldId id="296" r:id="rId34"/>
    <p:sldId id="298" r:id="rId35"/>
    <p:sldId id="299" r:id="rId36"/>
    <p:sldId id="301" r:id="rId37"/>
    <p:sldId id="278" r:id="rId38"/>
    <p:sldId id="279" r:id="rId39"/>
    <p:sldId id="280" r:id="rId40"/>
    <p:sldId id="281" r:id="rId41"/>
    <p:sldId id="282" r:id="rId42"/>
  </p:sldIdLst>
  <p:sldSz cx="9144000" cy="5143500" type="screen16x9"/>
  <p:notesSz cx="6858000" cy="9144000"/>
  <p:embeddedFontLst>
    <p:embeddedFont>
      <p:font typeface="Calibri" panose="020F0502020204030204" pitchFamily="34" charset="0"/>
      <p:regular r:id="rId44"/>
      <p:bold r:id="rId45"/>
      <p:italic r:id="rId46"/>
      <p:boldItalic r:id="rId47"/>
    </p:embeddedFont>
    <p:embeddedFont>
      <p:font typeface="Lato" panose="020B0604020202020204" charset="0"/>
      <p:regular r:id="rId48"/>
      <p:bold r:id="rId49"/>
      <p:italic r:id="rId50"/>
      <p:boldItalic r:id="rId51"/>
    </p:embeddedFont>
    <p:embeddedFont>
      <p:font typeface="Raleway" panose="020B0604020202020204" charset="0"/>
      <p:regular r:id="rId52"/>
      <p:bold r:id="rId53"/>
      <p:italic r:id="rId54"/>
      <p:boldItalic r:id="rId55"/>
    </p:embeddedFont>
    <p:embeddedFont>
      <p:font typeface="Roboto" panose="02000000000000000000" pitchFamily="2" charset="0"/>
      <p:bold r:id="rId5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606" y="9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4.fntdata"/><Relationship Id="rId50" Type="http://schemas.openxmlformats.org/officeDocument/2006/relationships/font" Target="fonts/font7.fntdata"/><Relationship Id="rId55" Type="http://schemas.openxmlformats.org/officeDocument/2006/relationships/font" Target="fonts/font12.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2.fntdata"/><Relationship Id="rId53" Type="http://schemas.openxmlformats.org/officeDocument/2006/relationships/font" Target="fonts/font10.fntdata"/><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font" Target="fonts/font5.fntdata"/><Relationship Id="rId56" Type="http://schemas.openxmlformats.org/officeDocument/2006/relationships/font" Target="fonts/font13.fntdata"/><Relationship Id="rId8" Type="http://schemas.openxmlformats.org/officeDocument/2006/relationships/slide" Target="slides/slide7.xml"/><Relationship Id="rId51" Type="http://schemas.openxmlformats.org/officeDocument/2006/relationships/font" Target="fonts/font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3.fntdata"/><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6.fntdata"/><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1.fntdata"/><Relationship Id="rId52" Type="http://schemas.openxmlformats.org/officeDocument/2006/relationships/font" Target="fonts/font9.fntdata"/><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da51fb8819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da51fb8819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da51fb8819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da51fb8819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da51fb8819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da51fb8819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da51fb8819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da51fb8819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dc24471d8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dc24471d8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d981175230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d981175230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dc24471d89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dc24471d89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dc24471d89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dc24471d89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dc24471d89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dc24471d89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dc24471d89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dc24471d89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dc24471d89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dc24471d89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dc24471d89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dc24471d89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dc24471d89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dc24471d89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dc24471d89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dc24471d89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d981175230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d981175230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dc24471d89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dc24471d89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dc24471d89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dc24471d89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da51fb8819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da51fb8819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da51fb8819_0_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da51fb8819_0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da51fb8819_0_1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da51fb8819_0_1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da51fb8819_0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da51fb8819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d981175230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d981175230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1" i="0">
                <a:solidFill>
                  <a:schemeClr val="tx1"/>
                </a:solidFill>
                <a:latin typeface="Roboto"/>
                <a:cs typeface="Roboto"/>
              </a:defRPr>
            </a:lvl1pPr>
          </a:lstStyle>
          <a:p>
            <a:endParaRPr/>
          </a:p>
        </p:txBody>
      </p:sp>
      <p:sp>
        <p:nvSpPr>
          <p:cNvPr id="3" name="Holder 3"/>
          <p:cNvSpPr>
            <a:spLocks noGrp="1"/>
          </p:cNvSpPr>
          <p:nvPr>
            <p:ph type="body" idx="1"/>
          </p:nvPr>
        </p:nvSpPr>
        <p:spPr/>
        <p:txBody>
          <a:bodyPr lIns="0" tIns="0" rIns="0" bIns="0"/>
          <a:lstStyle>
            <a:lvl1pPr>
              <a:defRPr sz="1100" b="0" i="0">
                <a:solidFill>
                  <a:schemeClr val="tx1"/>
                </a:solidFill>
                <a:latin typeface="Roboto"/>
                <a:cs typeface="Roboto"/>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6075000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4435158"/>
          </a:xfrm>
          <a:custGeom>
            <a:avLst/>
            <a:gdLst/>
            <a:ahLst/>
            <a:cxnLst/>
            <a:rect l="l" t="t" r="r" b="b"/>
            <a:pathLst>
              <a:path w="18288000" h="8870315">
                <a:moveTo>
                  <a:pt x="0" y="8870251"/>
                </a:moveTo>
                <a:lnTo>
                  <a:pt x="18287998" y="8870251"/>
                </a:lnTo>
                <a:lnTo>
                  <a:pt x="18287998" y="0"/>
                </a:lnTo>
                <a:lnTo>
                  <a:pt x="0" y="0"/>
                </a:lnTo>
                <a:lnTo>
                  <a:pt x="0" y="8870251"/>
                </a:lnTo>
                <a:close/>
              </a:path>
            </a:pathLst>
          </a:custGeom>
          <a:solidFill>
            <a:srgbClr val="F5F5F5"/>
          </a:solidFill>
        </p:spPr>
        <p:txBody>
          <a:bodyPr wrap="square" lIns="0" tIns="0" rIns="0" bIns="0" rtlCol="0"/>
          <a:lstStyle/>
          <a:p>
            <a:endParaRPr sz="700"/>
          </a:p>
        </p:txBody>
      </p:sp>
      <p:sp>
        <p:nvSpPr>
          <p:cNvPr id="17" name="bg object 17"/>
          <p:cNvSpPr/>
          <p:nvPr/>
        </p:nvSpPr>
        <p:spPr>
          <a:xfrm>
            <a:off x="516732" y="3822763"/>
            <a:ext cx="3491230" cy="0"/>
          </a:xfrm>
          <a:custGeom>
            <a:avLst/>
            <a:gdLst/>
            <a:ahLst/>
            <a:cxnLst/>
            <a:rect l="l" t="t" r="r" b="b"/>
            <a:pathLst>
              <a:path w="6982459">
                <a:moveTo>
                  <a:pt x="0" y="0"/>
                </a:moveTo>
                <a:lnTo>
                  <a:pt x="6981853" y="0"/>
                </a:lnTo>
              </a:path>
            </a:pathLst>
          </a:custGeom>
          <a:ln w="9524">
            <a:solidFill>
              <a:srgbClr val="6421B8"/>
            </a:solidFill>
          </a:ln>
        </p:spPr>
        <p:txBody>
          <a:bodyPr wrap="square" lIns="0" tIns="0" rIns="0" bIns="0" rtlCol="0"/>
          <a:lstStyle/>
          <a:p>
            <a:endParaRPr sz="700"/>
          </a:p>
        </p:txBody>
      </p:sp>
      <p:sp>
        <p:nvSpPr>
          <p:cNvPr id="18" name="bg object 18"/>
          <p:cNvSpPr/>
          <p:nvPr/>
        </p:nvSpPr>
        <p:spPr>
          <a:xfrm>
            <a:off x="4706" y="4435125"/>
            <a:ext cx="9139238" cy="709613"/>
          </a:xfrm>
          <a:custGeom>
            <a:avLst/>
            <a:gdLst/>
            <a:ahLst/>
            <a:cxnLst/>
            <a:rect l="l" t="t" r="r" b="b"/>
            <a:pathLst>
              <a:path w="18278475" h="1419225">
                <a:moveTo>
                  <a:pt x="18278473" y="1419224"/>
                </a:moveTo>
                <a:lnTo>
                  <a:pt x="0" y="1419224"/>
                </a:lnTo>
                <a:lnTo>
                  <a:pt x="0" y="0"/>
                </a:lnTo>
                <a:lnTo>
                  <a:pt x="18278473" y="0"/>
                </a:lnTo>
                <a:lnTo>
                  <a:pt x="18278473" y="1419224"/>
                </a:lnTo>
                <a:close/>
              </a:path>
            </a:pathLst>
          </a:custGeom>
          <a:solidFill>
            <a:srgbClr val="6421B8"/>
          </a:solidFill>
        </p:spPr>
        <p:txBody>
          <a:bodyPr wrap="square" lIns="0" tIns="0" rIns="0" bIns="0" rtlCol="0"/>
          <a:lstStyle/>
          <a:p>
            <a:endParaRPr sz="700"/>
          </a:p>
        </p:txBody>
      </p:sp>
      <p:sp>
        <p:nvSpPr>
          <p:cNvPr id="2" name="Holder 2"/>
          <p:cNvSpPr>
            <a:spLocks noGrp="1"/>
          </p:cNvSpPr>
          <p:nvPr>
            <p:ph type="title"/>
          </p:nvPr>
        </p:nvSpPr>
        <p:spPr/>
        <p:txBody>
          <a:bodyPr lIns="0" tIns="0" rIns="0" bIns="0"/>
          <a:lstStyle>
            <a:lvl1pPr>
              <a:defRPr sz="2500" b="1" i="0">
                <a:solidFill>
                  <a:schemeClr val="tx1"/>
                </a:solidFill>
                <a:latin typeface="Roboto"/>
                <a:cs typeface="Roboto"/>
              </a:defRPr>
            </a:lvl1pPr>
          </a:lstStyle>
          <a:p>
            <a:endParaRPr/>
          </a:p>
        </p:txBody>
      </p:sp>
      <p:sp>
        <p:nvSpPr>
          <p:cNvPr id="3" name="Holder 3"/>
          <p:cNvSpPr>
            <a:spLocks noGrp="1"/>
          </p:cNvSpPr>
          <p:nvPr>
            <p:ph sz="half" idx="2"/>
          </p:nvPr>
        </p:nvSpPr>
        <p:spPr>
          <a:xfrm>
            <a:off x="457200" y="1183005"/>
            <a:ext cx="3977640" cy="230063"/>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230063"/>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0409983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hyperlink" Target="https://aws.amazon.com/about-aws/global-infrastructure/"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hyperlink" Target="https://ap-south-1.console.aws.amazon.com/console/home?region=ap-south-1"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hyperlink" Target="http://www.youtube.com/watch?v=RGWgfhZByAI" TargetMode="External"/><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9.png"/><Relationship Id="rId4" Type="http://schemas.openxmlformats.org/officeDocument/2006/relationships/image" Target="../media/image8.jp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26.png"/><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hyperlink" Target="http://www.youtube.com/watch?v=4Zw1IOxW-oA" TargetMode="External"/><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28.png"/><Relationship Id="rId4" Type="http://schemas.openxmlformats.org/officeDocument/2006/relationships/image" Target="../media/image27.jpg"/></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3" Type="http://schemas.openxmlformats.org/officeDocument/2006/relationships/hyperlink" Target="https://www.youtube.com/watch?v=vg5onp8TU6Q" TargetMode="External"/><Relationship Id="rId2" Type="http://schemas.openxmlformats.org/officeDocument/2006/relationships/notesSlide" Target="../notesSlides/notesSlide22.xml"/><Relationship Id="rId1" Type="http://schemas.openxmlformats.org/officeDocument/2006/relationships/slideLayout" Target="../slideLayouts/slideLayout11.xml"/><Relationship Id="rId4" Type="http://schemas.openxmlformats.org/officeDocument/2006/relationships/image" Target="../media/image32.jpg"/></Relationships>
</file>

<file path=ppt/slides/_rels/slide41.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AWS Architecture </a:t>
            </a:r>
            <a:endParaRPr dirty="0"/>
          </a:p>
        </p:txBody>
      </p:sp>
      <p:sp>
        <p:nvSpPr>
          <p:cNvPr id="87" name="Google Shape;87;p13"/>
          <p:cNvSpPr txBox="1">
            <a:spLocks noGrp="1"/>
          </p:cNvSpPr>
          <p:nvPr>
            <p:ph type="subTitle" idx="1"/>
          </p:nvPr>
        </p:nvSpPr>
        <p:spPr>
          <a:xfrm>
            <a:off x="729625" y="3172900"/>
            <a:ext cx="7688100" cy="891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800" b="1" dirty="0"/>
              <a:t>Eng. </a:t>
            </a:r>
            <a:r>
              <a:rPr lang="en-US" sz="1800" b="1" dirty="0"/>
              <a:t>NGOSA GATHAMS</a:t>
            </a:r>
          </a:p>
          <a:p>
            <a:pPr marL="0" lvl="0" indent="0" algn="l" rtl="0">
              <a:spcBef>
                <a:spcPts val="0"/>
              </a:spcBef>
              <a:spcAft>
                <a:spcPts val="0"/>
              </a:spcAft>
              <a:buNone/>
            </a:pPr>
            <a:endParaRPr sz="18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lnSpc>
                <a:spcPct val="155000"/>
              </a:lnSpc>
              <a:spcBef>
                <a:spcPts val="1800"/>
              </a:spcBef>
              <a:spcAft>
                <a:spcPts val="400"/>
              </a:spcAft>
              <a:buNone/>
            </a:pPr>
            <a:r>
              <a:rPr lang="en" sz="1950">
                <a:solidFill>
                  <a:srgbClr val="222222"/>
                </a:solidFill>
                <a:highlight>
                  <a:srgbClr val="FFFFFF"/>
                </a:highlight>
                <a:latin typeface="Arial"/>
                <a:ea typeface="Arial"/>
                <a:cs typeface="Arial"/>
                <a:sym typeface="Arial"/>
              </a:rPr>
              <a:t>What is AWS</a:t>
            </a:r>
            <a:endParaRPr/>
          </a:p>
        </p:txBody>
      </p:sp>
      <p:sp>
        <p:nvSpPr>
          <p:cNvPr id="93" name="Google Shape;93;p1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fontScale="85000" lnSpcReduction="20000"/>
          </a:bodyPr>
          <a:lstStyle/>
          <a:p>
            <a:pPr marL="0" lvl="0" indent="0" algn="just" rtl="0">
              <a:spcBef>
                <a:spcPts val="0"/>
              </a:spcBef>
              <a:spcAft>
                <a:spcPts val="0"/>
              </a:spcAft>
              <a:buNone/>
            </a:pPr>
            <a:r>
              <a:rPr lang="en" sz="2000" b="1" dirty="0">
                <a:solidFill>
                  <a:srgbClr val="222222"/>
                </a:solidFill>
                <a:highlight>
                  <a:srgbClr val="FFFFFF"/>
                </a:highlight>
                <a:latin typeface="Arial"/>
                <a:ea typeface="Arial"/>
                <a:cs typeface="Arial"/>
                <a:sym typeface="Arial"/>
              </a:rPr>
              <a:t>Amazon Web Services</a:t>
            </a:r>
            <a:r>
              <a:rPr lang="en" sz="2000" dirty="0">
                <a:solidFill>
                  <a:srgbClr val="222222"/>
                </a:solidFill>
                <a:highlight>
                  <a:srgbClr val="FFFFFF"/>
                </a:highlight>
                <a:latin typeface="Arial"/>
                <a:ea typeface="Arial"/>
                <a:cs typeface="Arial"/>
                <a:sym typeface="Arial"/>
              </a:rPr>
              <a:t> is a platform that offers flexible, reliable, scalable, easy-to-use and cost-effective cloud computing solutions.</a:t>
            </a:r>
          </a:p>
          <a:p>
            <a:pPr marL="0" lvl="0" indent="0" algn="just" rtl="0">
              <a:spcBef>
                <a:spcPts val="0"/>
              </a:spcBef>
              <a:spcAft>
                <a:spcPts val="0"/>
              </a:spcAft>
              <a:buNone/>
            </a:pPr>
            <a:endParaRPr lang="en" sz="2000" dirty="0">
              <a:solidFill>
                <a:srgbClr val="222222"/>
              </a:solidFill>
              <a:highlight>
                <a:srgbClr val="FFFFFF"/>
              </a:highlight>
              <a:latin typeface="Arial"/>
              <a:ea typeface="Arial"/>
              <a:cs typeface="Arial"/>
              <a:sym typeface="Arial"/>
            </a:endParaRPr>
          </a:p>
          <a:p>
            <a:pPr marL="0" lvl="0" indent="0" algn="just">
              <a:buNone/>
            </a:pPr>
            <a:r>
              <a:rPr lang="en-US" sz="2100" spc="50" dirty="0">
                <a:solidFill>
                  <a:srgbClr val="13110E"/>
                </a:solidFill>
                <a:highlight>
                  <a:srgbClr val="FFFFFF"/>
                </a:highlight>
                <a:latin typeface="Calibri" panose="020F0502020204030204" pitchFamily="34" charset="0"/>
                <a:cs typeface="Calibri" panose="020F0502020204030204" pitchFamily="34" charset="0"/>
              </a:rPr>
              <a:t>Amazon</a:t>
            </a:r>
            <a:r>
              <a:rPr lang="en-US" sz="2100" spc="155" dirty="0">
                <a:solidFill>
                  <a:srgbClr val="13110E"/>
                </a:solidFill>
                <a:highlight>
                  <a:srgbClr val="FFFFFF"/>
                </a:highlight>
                <a:latin typeface="Calibri" panose="020F0502020204030204" pitchFamily="34" charset="0"/>
                <a:cs typeface="Calibri" panose="020F0502020204030204" pitchFamily="34" charset="0"/>
              </a:rPr>
              <a:t> </a:t>
            </a:r>
            <a:r>
              <a:rPr lang="en-US" sz="2100" dirty="0">
                <a:solidFill>
                  <a:srgbClr val="13110E"/>
                </a:solidFill>
                <a:highlight>
                  <a:srgbClr val="FFFFFF"/>
                </a:highlight>
                <a:latin typeface="Calibri" panose="020F0502020204030204" pitchFamily="34" charset="0"/>
                <a:cs typeface="Calibri" panose="020F0502020204030204" pitchFamily="34" charset="0"/>
              </a:rPr>
              <a:t>Web</a:t>
            </a:r>
            <a:r>
              <a:rPr lang="en-US" sz="2100" spc="160" dirty="0">
                <a:solidFill>
                  <a:srgbClr val="13110E"/>
                </a:solidFill>
                <a:highlight>
                  <a:srgbClr val="FFFFFF"/>
                </a:highlight>
                <a:latin typeface="Calibri" panose="020F0502020204030204" pitchFamily="34" charset="0"/>
                <a:cs typeface="Calibri" panose="020F0502020204030204" pitchFamily="34" charset="0"/>
              </a:rPr>
              <a:t> </a:t>
            </a:r>
            <a:r>
              <a:rPr lang="en-US" sz="2100" spc="50" dirty="0">
                <a:solidFill>
                  <a:srgbClr val="13110E"/>
                </a:solidFill>
                <a:highlight>
                  <a:srgbClr val="FFFFFF"/>
                </a:highlight>
                <a:latin typeface="Calibri" panose="020F0502020204030204" pitchFamily="34" charset="0"/>
                <a:cs typeface="Calibri" panose="020F0502020204030204" pitchFamily="34" charset="0"/>
              </a:rPr>
              <a:t>Services</a:t>
            </a:r>
            <a:r>
              <a:rPr lang="en-US" sz="2100" spc="160" dirty="0">
                <a:solidFill>
                  <a:srgbClr val="13110E"/>
                </a:solidFill>
                <a:highlight>
                  <a:srgbClr val="FFFFFF"/>
                </a:highlight>
                <a:latin typeface="Calibri" panose="020F0502020204030204" pitchFamily="34" charset="0"/>
                <a:cs typeface="Calibri" panose="020F0502020204030204" pitchFamily="34" charset="0"/>
              </a:rPr>
              <a:t> </a:t>
            </a:r>
            <a:r>
              <a:rPr lang="en-US" sz="2100" spc="50" dirty="0">
                <a:solidFill>
                  <a:srgbClr val="13110E"/>
                </a:solidFill>
                <a:highlight>
                  <a:srgbClr val="FFFFFF"/>
                </a:highlight>
                <a:latin typeface="Calibri" panose="020F0502020204030204" pitchFamily="34" charset="0"/>
                <a:cs typeface="Calibri" panose="020F0502020204030204" pitchFamily="34" charset="0"/>
              </a:rPr>
              <a:t>(AWS)</a:t>
            </a:r>
            <a:r>
              <a:rPr lang="en-US" sz="2100" spc="155" dirty="0">
                <a:solidFill>
                  <a:srgbClr val="13110E"/>
                </a:solidFill>
                <a:highlight>
                  <a:srgbClr val="FFFFFF"/>
                </a:highlight>
                <a:latin typeface="Calibri" panose="020F0502020204030204" pitchFamily="34" charset="0"/>
                <a:cs typeface="Calibri" panose="020F0502020204030204" pitchFamily="34" charset="0"/>
              </a:rPr>
              <a:t> </a:t>
            </a:r>
            <a:r>
              <a:rPr lang="en-US" sz="2100" dirty="0">
                <a:solidFill>
                  <a:srgbClr val="13110E"/>
                </a:solidFill>
                <a:highlight>
                  <a:srgbClr val="FFFFFF"/>
                </a:highlight>
                <a:latin typeface="Calibri" panose="020F0502020204030204" pitchFamily="34" charset="0"/>
                <a:cs typeface="Calibri" panose="020F0502020204030204" pitchFamily="34" charset="0"/>
              </a:rPr>
              <a:t>is</a:t>
            </a:r>
            <a:r>
              <a:rPr lang="en-US" sz="2100" spc="160" dirty="0">
                <a:solidFill>
                  <a:srgbClr val="13110E"/>
                </a:solidFill>
                <a:highlight>
                  <a:srgbClr val="FFFFFF"/>
                </a:highlight>
                <a:latin typeface="Calibri" panose="020F0502020204030204" pitchFamily="34" charset="0"/>
                <a:cs typeface="Calibri" panose="020F0502020204030204" pitchFamily="34" charset="0"/>
              </a:rPr>
              <a:t> </a:t>
            </a:r>
            <a:r>
              <a:rPr lang="en-US" sz="2100" dirty="0">
                <a:solidFill>
                  <a:srgbClr val="13110E"/>
                </a:solidFill>
                <a:highlight>
                  <a:srgbClr val="FFFFFF"/>
                </a:highlight>
                <a:latin typeface="Calibri" panose="020F0502020204030204" pitchFamily="34" charset="0"/>
                <a:cs typeface="Calibri" panose="020F0502020204030204" pitchFamily="34" charset="0"/>
              </a:rPr>
              <a:t>the</a:t>
            </a:r>
            <a:r>
              <a:rPr lang="en-US" sz="2100" spc="155" dirty="0">
                <a:solidFill>
                  <a:srgbClr val="13110E"/>
                </a:solidFill>
                <a:highlight>
                  <a:srgbClr val="FFFFFF"/>
                </a:highlight>
                <a:latin typeface="Calibri" panose="020F0502020204030204" pitchFamily="34" charset="0"/>
                <a:cs typeface="Calibri" panose="020F0502020204030204" pitchFamily="34" charset="0"/>
              </a:rPr>
              <a:t> </a:t>
            </a:r>
            <a:r>
              <a:rPr lang="en-US" sz="2100" spc="45" dirty="0">
                <a:solidFill>
                  <a:srgbClr val="13110E"/>
                </a:solidFill>
                <a:highlight>
                  <a:srgbClr val="FFFFFF"/>
                </a:highlight>
                <a:latin typeface="Calibri" panose="020F0502020204030204" pitchFamily="34" charset="0"/>
                <a:cs typeface="Calibri" panose="020F0502020204030204" pitchFamily="34" charset="0"/>
              </a:rPr>
              <a:t>world’s</a:t>
            </a:r>
            <a:r>
              <a:rPr lang="en-US" sz="2100" spc="160" dirty="0">
                <a:solidFill>
                  <a:srgbClr val="13110E"/>
                </a:solidFill>
                <a:highlight>
                  <a:srgbClr val="FFFFFF"/>
                </a:highlight>
                <a:latin typeface="Calibri" panose="020F0502020204030204" pitchFamily="34" charset="0"/>
                <a:cs typeface="Calibri" panose="020F0502020204030204" pitchFamily="34" charset="0"/>
              </a:rPr>
              <a:t> </a:t>
            </a:r>
            <a:r>
              <a:rPr lang="en-US" sz="2100" spc="-20" dirty="0">
                <a:solidFill>
                  <a:srgbClr val="13110E"/>
                </a:solidFill>
                <a:highlight>
                  <a:srgbClr val="FFFFFF"/>
                </a:highlight>
                <a:latin typeface="Calibri" panose="020F0502020204030204" pitchFamily="34" charset="0"/>
                <a:cs typeface="Calibri" panose="020F0502020204030204" pitchFamily="34" charset="0"/>
              </a:rPr>
              <a:t>most </a:t>
            </a:r>
            <a:r>
              <a:rPr lang="en-US" sz="2100" spc="50" dirty="0">
                <a:solidFill>
                  <a:srgbClr val="13110E"/>
                </a:solidFill>
                <a:highlight>
                  <a:srgbClr val="FFFFFF"/>
                </a:highlight>
                <a:latin typeface="Calibri" panose="020F0502020204030204" pitchFamily="34" charset="0"/>
                <a:cs typeface="Calibri" panose="020F0502020204030204" pitchFamily="34" charset="0"/>
              </a:rPr>
              <a:t>comprehensive</a:t>
            </a:r>
            <a:r>
              <a:rPr lang="en-US" sz="2100" spc="195" dirty="0">
                <a:solidFill>
                  <a:srgbClr val="13110E"/>
                </a:solidFill>
                <a:highlight>
                  <a:srgbClr val="FFFFFF"/>
                </a:highlight>
                <a:latin typeface="Calibri" panose="020F0502020204030204" pitchFamily="34" charset="0"/>
                <a:cs typeface="Calibri" panose="020F0502020204030204" pitchFamily="34" charset="0"/>
              </a:rPr>
              <a:t> </a:t>
            </a:r>
            <a:r>
              <a:rPr lang="en-US" sz="2100" dirty="0">
                <a:solidFill>
                  <a:srgbClr val="13110E"/>
                </a:solidFill>
                <a:highlight>
                  <a:srgbClr val="FFFFFF"/>
                </a:highlight>
                <a:latin typeface="Calibri" panose="020F0502020204030204" pitchFamily="34" charset="0"/>
                <a:cs typeface="Calibri" panose="020F0502020204030204" pitchFamily="34" charset="0"/>
              </a:rPr>
              <a:t>and</a:t>
            </a:r>
            <a:r>
              <a:rPr lang="en-US" sz="2100" spc="195" dirty="0">
                <a:solidFill>
                  <a:srgbClr val="13110E"/>
                </a:solidFill>
                <a:highlight>
                  <a:srgbClr val="FFFFFF"/>
                </a:highlight>
                <a:latin typeface="Calibri" panose="020F0502020204030204" pitchFamily="34" charset="0"/>
                <a:cs typeface="Calibri" panose="020F0502020204030204" pitchFamily="34" charset="0"/>
              </a:rPr>
              <a:t> </a:t>
            </a:r>
            <a:r>
              <a:rPr lang="en-US" sz="2100" spc="50" dirty="0">
                <a:solidFill>
                  <a:srgbClr val="13110E"/>
                </a:solidFill>
                <a:highlight>
                  <a:srgbClr val="FFFFFF"/>
                </a:highlight>
                <a:latin typeface="Calibri" panose="020F0502020204030204" pitchFamily="34" charset="0"/>
                <a:cs typeface="Calibri" panose="020F0502020204030204" pitchFamily="34" charset="0"/>
              </a:rPr>
              <a:t>broadly</a:t>
            </a:r>
            <a:r>
              <a:rPr lang="en-US" sz="2100" spc="195" dirty="0">
                <a:solidFill>
                  <a:srgbClr val="13110E"/>
                </a:solidFill>
                <a:highlight>
                  <a:srgbClr val="FFFFFF"/>
                </a:highlight>
                <a:latin typeface="Calibri" panose="020F0502020204030204" pitchFamily="34" charset="0"/>
                <a:cs typeface="Calibri" panose="020F0502020204030204" pitchFamily="34" charset="0"/>
              </a:rPr>
              <a:t> </a:t>
            </a:r>
            <a:r>
              <a:rPr lang="en-US" sz="2100" spc="50" dirty="0">
                <a:solidFill>
                  <a:srgbClr val="13110E"/>
                </a:solidFill>
                <a:highlight>
                  <a:srgbClr val="FFFFFF"/>
                </a:highlight>
                <a:latin typeface="Calibri" panose="020F0502020204030204" pitchFamily="34" charset="0"/>
                <a:cs typeface="Calibri" panose="020F0502020204030204" pitchFamily="34" charset="0"/>
              </a:rPr>
              <a:t>adopted</a:t>
            </a:r>
            <a:r>
              <a:rPr lang="en-US" sz="2100" spc="195" dirty="0">
                <a:solidFill>
                  <a:srgbClr val="13110E"/>
                </a:solidFill>
                <a:highlight>
                  <a:srgbClr val="FFFFFF"/>
                </a:highlight>
                <a:latin typeface="Calibri" panose="020F0502020204030204" pitchFamily="34" charset="0"/>
                <a:cs typeface="Calibri" panose="020F0502020204030204" pitchFamily="34" charset="0"/>
              </a:rPr>
              <a:t> </a:t>
            </a:r>
            <a:r>
              <a:rPr lang="en-US" sz="2100" dirty="0">
                <a:solidFill>
                  <a:srgbClr val="13110E"/>
                </a:solidFill>
                <a:highlight>
                  <a:srgbClr val="FFFFFF"/>
                </a:highlight>
                <a:latin typeface="Calibri" panose="020F0502020204030204" pitchFamily="34" charset="0"/>
                <a:cs typeface="Calibri" panose="020F0502020204030204" pitchFamily="34" charset="0"/>
              </a:rPr>
              <a:t>cloud</a:t>
            </a:r>
            <a:r>
              <a:rPr lang="en-US" sz="2100" spc="195" dirty="0">
                <a:solidFill>
                  <a:srgbClr val="13110E"/>
                </a:solidFill>
                <a:highlight>
                  <a:srgbClr val="FFFFFF"/>
                </a:highlight>
                <a:latin typeface="Calibri" panose="020F0502020204030204" pitchFamily="34" charset="0"/>
                <a:cs typeface="Calibri" panose="020F0502020204030204" pitchFamily="34" charset="0"/>
              </a:rPr>
              <a:t> </a:t>
            </a:r>
            <a:r>
              <a:rPr lang="en-US" sz="2100" spc="40" dirty="0">
                <a:solidFill>
                  <a:srgbClr val="13110E"/>
                </a:solidFill>
                <a:highlight>
                  <a:srgbClr val="FFFFFF"/>
                </a:highlight>
                <a:latin typeface="Calibri" panose="020F0502020204030204" pitchFamily="34" charset="0"/>
                <a:cs typeface="Calibri" panose="020F0502020204030204" pitchFamily="34" charset="0"/>
              </a:rPr>
              <a:t>platform, </a:t>
            </a:r>
            <a:r>
              <a:rPr lang="en-US" sz="2100" spc="45" dirty="0">
                <a:solidFill>
                  <a:srgbClr val="13110E"/>
                </a:solidFill>
                <a:highlight>
                  <a:srgbClr val="FFFFFF"/>
                </a:highlight>
                <a:latin typeface="Calibri" panose="020F0502020204030204" pitchFamily="34" charset="0"/>
                <a:cs typeface="Calibri" panose="020F0502020204030204" pitchFamily="34" charset="0"/>
              </a:rPr>
              <a:t>offering</a:t>
            </a:r>
            <a:r>
              <a:rPr lang="en-US" sz="2100" spc="200" dirty="0">
                <a:solidFill>
                  <a:srgbClr val="13110E"/>
                </a:solidFill>
                <a:highlight>
                  <a:srgbClr val="FFFFFF"/>
                </a:highlight>
                <a:latin typeface="Calibri" panose="020F0502020204030204" pitchFamily="34" charset="0"/>
                <a:cs typeface="Calibri" panose="020F0502020204030204" pitchFamily="34" charset="0"/>
              </a:rPr>
              <a:t> </a:t>
            </a:r>
            <a:r>
              <a:rPr lang="en-US" sz="2100" dirty="0">
                <a:solidFill>
                  <a:srgbClr val="13110E"/>
                </a:solidFill>
                <a:highlight>
                  <a:srgbClr val="FFFFFF"/>
                </a:highlight>
                <a:latin typeface="Calibri" panose="020F0502020204030204" pitchFamily="34" charset="0"/>
                <a:cs typeface="Calibri" panose="020F0502020204030204" pitchFamily="34" charset="0"/>
              </a:rPr>
              <a:t>over</a:t>
            </a:r>
            <a:r>
              <a:rPr lang="en-US" sz="2100" spc="204" dirty="0">
                <a:solidFill>
                  <a:srgbClr val="13110E"/>
                </a:solidFill>
                <a:highlight>
                  <a:srgbClr val="FFFFFF"/>
                </a:highlight>
                <a:latin typeface="Calibri" panose="020F0502020204030204" pitchFamily="34" charset="0"/>
                <a:cs typeface="Calibri" panose="020F0502020204030204" pitchFamily="34" charset="0"/>
              </a:rPr>
              <a:t> </a:t>
            </a:r>
            <a:r>
              <a:rPr lang="en-US" sz="2100" dirty="0">
                <a:solidFill>
                  <a:srgbClr val="13110E"/>
                </a:solidFill>
                <a:highlight>
                  <a:srgbClr val="FFFFFF"/>
                </a:highlight>
                <a:latin typeface="Calibri" panose="020F0502020204030204" pitchFamily="34" charset="0"/>
                <a:cs typeface="Calibri" panose="020F0502020204030204" pitchFamily="34" charset="0"/>
              </a:rPr>
              <a:t>200</a:t>
            </a:r>
            <a:r>
              <a:rPr lang="en-US" sz="2100" spc="204" dirty="0">
                <a:solidFill>
                  <a:srgbClr val="13110E"/>
                </a:solidFill>
                <a:highlight>
                  <a:srgbClr val="FFFFFF"/>
                </a:highlight>
                <a:latin typeface="Calibri" panose="020F0502020204030204" pitchFamily="34" charset="0"/>
                <a:cs typeface="Calibri" panose="020F0502020204030204" pitchFamily="34" charset="0"/>
              </a:rPr>
              <a:t> </a:t>
            </a:r>
            <a:r>
              <a:rPr lang="en-US" sz="2100" spc="50" dirty="0">
                <a:solidFill>
                  <a:srgbClr val="13110E"/>
                </a:solidFill>
                <a:highlight>
                  <a:srgbClr val="FFFFFF"/>
                </a:highlight>
                <a:latin typeface="Calibri" panose="020F0502020204030204" pitchFamily="34" charset="0"/>
                <a:cs typeface="Calibri" panose="020F0502020204030204" pitchFamily="34" charset="0"/>
              </a:rPr>
              <a:t>fully-featured</a:t>
            </a:r>
            <a:r>
              <a:rPr lang="en-US" sz="2100" spc="204" dirty="0">
                <a:solidFill>
                  <a:srgbClr val="13110E"/>
                </a:solidFill>
                <a:highlight>
                  <a:srgbClr val="FFFFFF"/>
                </a:highlight>
                <a:latin typeface="Calibri" panose="020F0502020204030204" pitchFamily="34" charset="0"/>
                <a:cs typeface="Calibri" panose="020F0502020204030204" pitchFamily="34" charset="0"/>
              </a:rPr>
              <a:t> </a:t>
            </a:r>
            <a:r>
              <a:rPr lang="en-US" sz="2100" spc="45" dirty="0">
                <a:solidFill>
                  <a:srgbClr val="13110E"/>
                </a:solidFill>
                <a:highlight>
                  <a:srgbClr val="FFFFFF"/>
                </a:highlight>
                <a:latin typeface="Calibri" panose="020F0502020204030204" pitchFamily="34" charset="0"/>
                <a:cs typeface="Calibri" panose="020F0502020204030204" pitchFamily="34" charset="0"/>
              </a:rPr>
              <a:t>services</a:t>
            </a:r>
            <a:r>
              <a:rPr lang="en-US" sz="2100" spc="204" dirty="0">
                <a:solidFill>
                  <a:srgbClr val="13110E"/>
                </a:solidFill>
                <a:highlight>
                  <a:srgbClr val="FFFFFF"/>
                </a:highlight>
                <a:latin typeface="Calibri" panose="020F0502020204030204" pitchFamily="34" charset="0"/>
                <a:cs typeface="Calibri" panose="020F0502020204030204" pitchFamily="34" charset="0"/>
              </a:rPr>
              <a:t> </a:t>
            </a:r>
            <a:r>
              <a:rPr lang="en-US" sz="2100" dirty="0">
                <a:solidFill>
                  <a:srgbClr val="13110E"/>
                </a:solidFill>
                <a:highlight>
                  <a:srgbClr val="FFFFFF"/>
                </a:highlight>
                <a:latin typeface="Calibri" panose="020F0502020204030204" pitchFamily="34" charset="0"/>
                <a:cs typeface="Calibri" panose="020F0502020204030204" pitchFamily="34" charset="0"/>
              </a:rPr>
              <a:t>from</a:t>
            </a:r>
            <a:r>
              <a:rPr lang="en-US" sz="2100" spc="204" dirty="0">
                <a:solidFill>
                  <a:srgbClr val="13110E"/>
                </a:solidFill>
                <a:highlight>
                  <a:srgbClr val="FFFFFF"/>
                </a:highlight>
                <a:latin typeface="Calibri" panose="020F0502020204030204" pitchFamily="34" charset="0"/>
                <a:cs typeface="Calibri" panose="020F0502020204030204" pitchFamily="34" charset="0"/>
              </a:rPr>
              <a:t> </a:t>
            </a:r>
            <a:r>
              <a:rPr lang="en-US" sz="2100" spc="30" dirty="0">
                <a:solidFill>
                  <a:srgbClr val="13110E"/>
                </a:solidFill>
                <a:highlight>
                  <a:srgbClr val="FFFFFF"/>
                </a:highlight>
                <a:latin typeface="Calibri" panose="020F0502020204030204" pitchFamily="34" charset="0"/>
                <a:cs typeface="Calibri" panose="020F0502020204030204" pitchFamily="34" charset="0"/>
              </a:rPr>
              <a:t>data </a:t>
            </a:r>
            <a:r>
              <a:rPr lang="en-US" sz="2100" spc="50" dirty="0">
                <a:solidFill>
                  <a:srgbClr val="13110E"/>
                </a:solidFill>
                <a:highlight>
                  <a:srgbClr val="FFFFFF"/>
                </a:highlight>
                <a:latin typeface="Calibri" panose="020F0502020204030204" pitchFamily="34" charset="0"/>
                <a:cs typeface="Calibri" panose="020F0502020204030204" pitchFamily="34" charset="0"/>
              </a:rPr>
              <a:t>centers</a:t>
            </a:r>
            <a:r>
              <a:rPr lang="en-US" sz="2100" spc="220" dirty="0">
                <a:solidFill>
                  <a:srgbClr val="13110E"/>
                </a:solidFill>
                <a:highlight>
                  <a:srgbClr val="FFFFFF"/>
                </a:highlight>
                <a:latin typeface="Calibri" panose="020F0502020204030204" pitchFamily="34" charset="0"/>
                <a:cs typeface="Calibri" panose="020F0502020204030204" pitchFamily="34" charset="0"/>
              </a:rPr>
              <a:t> </a:t>
            </a:r>
            <a:r>
              <a:rPr lang="en-US" sz="2100" dirty="0">
                <a:solidFill>
                  <a:srgbClr val="13110E"/>
                </a:solidFill>
                <a:highlight>
                  <a:srgbClr val="FFFFFF"/>
                </a:highlight>
                <a:latin typeface="Calibri" panose="020F0502020204030204" pitchFamily="34" charset="0"/>
                <a:cs typeface="Calibri" panose="020F0502020204030204" pitchFamily="34" charset="0"/>
              </a:rPr>
              <a:t>globally.</a:t>
            </a:r>
            <a:r>
              <a:rPr lang="en-US" sz="2100" spc="225" dirty="0">
                <a:solidFill>
                  <a:srgbClr val="13110E"/>
                </a:solidFill>
                <a:highlight>
                  <a:srgbClr val="FFFFFF"/>
                </a:highlight>
                <a:latin typeface="Calibri" panose="020F0502020204030204" pitchFamily="34" charset="0"/>
                <a:cs typeface="Calibri" panose="020F0502020204030204" pitchFamily="34" charset="0"/>
              </a:rPr>
              <a:t> </a:t>
            </a:r>
            <a:r>
              <a:rPr lang="en-US" sz="2100" spc="45" dirty="0">
                <a:solidFill>
                  <a:srgbClr val="13110E"/>
                </a:solidFill>
                <a:highlight>
                  <a:srgbClr val="FFFFFF"/>
                </a:highlight>
                <a:latin typeface="Calibri" panose="020F0502020204030204" pitchFamily="34" charset="0"/>
                <a:cs typeface="Calibri" panose="020F0502020204030204" pitchFamily="34" charset="0"/>
              </a:rPr>
              <a:t>Millions</a:t>
            </a:r>
            <a:r>
              <a:rPr lang="en-US" sz="2100" spc="220" dirty="0">
                <a:solidFill>
                  <a:srgbClr val="13110E"/>
                </a:solidFill>
                <a:highlight>
                  <a:srgbClr val="FFFFFF"/>
                </a:highlight>
                <a:latin typeface="Calibri" panose="020F0502020204030204" pitchFamily="34" charset="0"/>
                <a:cs typeface="Calibri" panose="020F0502020204030204" pitchFamily="34" charset="0"/>
              </a:rPr>
              <a:t> </a:t>
            </a:r>
            <a:r>
              <a:rPr lang="en-US" sz="2100" dirty="0">
                <a:solidFill>
                  <a:srgbClr val="13110E"/>
                </a:solidFill>
                <a:highlight>
                  <a:srgbClr val="FFFFFF"/>
                </a:highlight>
                <a:latin typeface="Calibri" panose="020F0502020204030204" pitchFamily="34" charset="0"/>
                <a:cs typeface="Calibri" panose="020F0502020204030204" pitchFamily="34" charset="0"/>
              </a:rPr>
              <a:t>of</a:t>
            </a:r>
            <a:r>
              <a:rPr lang="en-US" sz="2100" spc="225" dirty="0">
                <a:solidFill>
                  <a:srgbClr val="13110E"/>
                </a:solidFill>
                <a:highlight>
                  <a:srgbClr val="FFFFFF"/>
                </a:highlight>
                <a:latin typeface="Calibri" panose="020F0502020204030204" pitchFamily="34" charset="0"/>
                <a:cs typeface="Calibri" panose="020F0502020204030204" pitchFamily="34" charset="0"/>
              </a:rPr>
              <a:t> </a:t>
            </a:r>
            <a:r>
              <a:rPr lang="en-US" sz="2100" spc="55" dirty="0">
                <a:solidFill>
                  <a:srgbClr val="13110E"/>
                </a:solidFill>
                <a:highlight>
                  <a:srgbClr val="FFFFFF"/>
                </a:highlight>
                <a:latin typeface="Calibri" panose="020F0502020204030204" pitchFamily="34" charset="0"/>
                <a:cs typeface="Calibri" panose="020F0502020204030204" pitchFamily="34" charset="0"/>
              </a:rPr>
              <a:t>customers—</a:t>
            </a:r>
            <a:r>
              <a:rPr lang="en-US" sz="2100" spc="45" dirty="0">
                <a:solidFill>
                  <a:srgbClr val="13110E"/>
                </a:solidFill>
                <a:highlight>
                  <a:srgbClr val="FFFFFF"/>
                </a:highlight>
                <a:latin typeface="Calibri" panose="020F0502020204030204" pitchFamily="34" charset="0"/>
                <a:cs typeface="Calibri" panose="020F0502020204030204" pitchFamily="34" charset="0"/>
              </a:rPr>
              <a:t>including</a:t>
            </a:r>
            <a:r>
              <a:rPr lang="en-US" sz="2100" spc="220" dirty="0">
                <a:solidFill>
                  <a:srgbClr val="13110E"/>
                </a:solidFill>
                <a:highlight>
                  <a:srgbClr val="FFFFFF"/>
                </a:highlight>
                <a:latin typeface="Calibri" panose="020F0502020204030204" pitchFamily="34" charset="0"/>
                <a:cs typeface="Calibri" panose="020F0502020204030204" pitchFamily="34" charset="0"/>
              </a:rPr>
              <a:t> </a:t>
            </a:r>
            <a:r>
              <a:rPr lang="en-US" sz="2100" spc="-25" dirty="0">
                <a:solidFill>
                  <a:srgbClr val="13110E"/>
                </a:solidFill>
                <a:highlight>
                  <a:srgbClr val="FFFFFF"/>
                </a:highlight>
                <a:latin typeface="Calibri" panose="020F0502020204030204" pitchFamily="34" charset="0"/>
                <a:cs typeface="Calibri" panose="020F0502020204030204" pitchFamily="34" charset="0"/>
              </a:rPr>
              <a:t>the </a:t>
            </a:r>
            <a:r>
              <a:rPr lang="en-US" sz="2100" spc="55" dirty="0">
                <a:solidFill>
                  <a:srgbClr val="13110E"/>
                </a:solidFill>
                <a:highlight>
                  <a:srgbClr val="FFFFFF"/>
                </a:highlight>
                <a:latin typeface="Calibri" panose="020F0502020204030204" pitchFamily="34" charset="0"/>
                <a:cs typeface="Calibri" panose="020F0502020204030204" pitchFamily="34" charset="0"/>
              </a:rPr>
              <a:t>fastest-</a:t>
            </a:r>
            <a:r>
              <a:rPr lang="en-US" sz="2100" spc="50" dirty="0">
                <a:solidFill>
                  <a:srgbClr val="13110E"/>
                </a:solidFill>
                <a:highlight>
                  <a:srgbClr val="FFFFFF"/>
                </a:highlight>
                <a:latin typeface="Calibri" panose="020F0502020204030204" pitchFamily="34" charset="0"/>
                <a:cs typeface="Calibri" panose="020F0502020204030204" pitchFamily="34" charset="0"/>
              </a:rPr>
              <a:t>growing</a:t>
            </a:r>
            <a:r>
              <a:rPr lang="en-US" sz="2100" spc="110" dirty="0">
                <a:solidFill>
                  <a:srgbClr val="13110E"/>
                </a:solidFill>
                <a:highlight>
                  <a:srgbClr val="FFFFFF"/>
                </a:highlight>
                <a:latin typeface="Calibri" panose="020F0502020204030204" pitchFamily="34" charset="0"/>
                <a:cs typeface="Calibri" panose="020F0502020204030204" pitchFamily="34" charset="0"/>
              </a:rPr>
              <a:t> </a:t>
            </a:r>
            <a:r>
              <a:rPr lang="en-US" sz="2100" spc="50" dirty="0">
                <a:solidFill>
                  <a:srgbClr val="13110E"/>
                </a:solidFill>
                <a:highlight>
                  <a:srgbClr val="FFFFFF"/>
                </a:highlight>
                <a:latin typeface="Calibri" panose="020F0502020204030204" pitchFamily="34" charset="0"/>
                <a:cs typeface="Calibri" panose="020F0502020204030204" pitchFamily="34" charset="0"/>
              </a:rPr>
              <a:t>startups,</a:t>
            </a:r>
            <a:r>
              <a:rPr lang="en-US" sz="2100" spc="114" dirty="0">
                <a:solidFill>
                  <a:srgbClr val="13110E"/>
                </a:solidFill>
                <a:highlight>
                  <a:srgbClr val="FFFFFF"/>
                </a:highlight>
                <a:latin typeface="Calibri" panose="020F0502020204030204" pitchFamily="34" charset="0"/>
                <a:cs typeface="Calibri" panose="020F0502020204030204" pitchFamily="34" charset="0"/>
              </a:rPr>
              <a:t> </a:t>
            </a:r>
            <a:r>
              <a:rPr lang="en-US" sz="2100" spc="50" dirty="0">
                <a:solidFill>
                  <a:srgbClr val="13110E"/>
                </a:solidFill>
                <a:highlight>
                  <a:srgbClr val="FFFFFF"/>
                </a:highlight>
                <a:latin typeface="Calibri" panose="020F0502020204030204" pitchFamily="34" charset="0"/>
                <a:cs typeface="Calibri" panose="020F0502020204030204" pitchFamily="34" charset="0"/>
              </a:rPr>
              <a:t>largest</a:t>
            </a:r>
            <a:r>
              <a:rPr lang="en-US" sz="2100" spc="114" dirty="0">
                <a:solidFill>
                  <a:srgbClr val="13110E"/>
                </a:solidFill>
                <a:highlight>
                  <a:srgbClr val="FFFFFF"/>
                </a:highlight>
                <a:latin typeface="Calibri" panose="020F0502020204030204" pitchFamily="34" charset="0"/>
                <a:cs typeface="Calibri" panose="020F0502020204030204" pitchFamily="34" charset="0"/>
              </a:rPr>
              <a:t> </a:t>
            </a:r>
            <a:r>
              <a:rPr lang="en-US" sz="2100" spc="50" dirty="0">
                <a:solidFill>
                  <a:srgbClr val="13110E"/>
                </a:solidFill>
                <a:highlight>
                  <a:srgbClr val="FFFFFF"/>
                </a:highlight>
                <a:latin typeface="Calibri" panose="020F0502020204030204" pitchFamily="34" charset="0"/>
                <a:cs typeface="Calibri" panose="020F0502020204030204" pitchFamily="34" charset="0"/>
              </a:rPr>
              <a:t>enterprises,</a:t>
            </a:r>
            <a:r>
              <a:rPr lang="en-US" sz="2100" spc="114" dirty="0">
                <a:solidFill>
                  <a:srgbClr val="13110E"/>
                </a:solidFill>
                <a:highlight>
                  <a:srgbClr val="FFFFFF"/>
                </a:highlight>
                <a:latin typeface="Calibri" panose="020F0502020204030204" pitchFamily="34" charset="0"/>
                <a:cs typeface="Calibri" panose="020F0502020204030204" pitchFamily="34" charset="0"/>
              </a:rPr>
              <a:t> </a:t>
            </a:r>
            <a:r>
              <a:rPr lang="en-US" sz="2100" spc="-25" dirty="0">
                <a:solidFill>
                  <a:srgbClr val="13110E"/>
                </a:solidFill>
                <a:highlight>
                  <a:srgbClr val="FFFFFF"/>
                </a:highlight>
                <a:latin typeface="Calibri" panose="020F0502020204030204" pitchFamily="34" charset="0"/>
                <a:cs typeface="Calibri" panose="020F0502020204030204" pitchFamily="34" charset="0"/>
              </a:rPr>
              <a:t>and </a:t>
            </a:r>
            <a:r>
              <a:rPr lang="en-US" sz="2100" spc="45" dirty="0">
                <a:solidFill>
                  <a:srgbClr val="13110E"/>
                </a:solidFill>
                <a:highlight>
                  <a:srgbClr val="FFFFFF"/>
                </a:highlight>
                <a:latin typeface="Calibri" panose="020F0502020204030204" pitchFamily="34" charset="0"/>
                <a:cs typeface="Calibri" panose="020F0502020204030204" pitchFamily="34" charset="0"/>
              </a:rPr>
              <a:t>leading</a:t>
            </a:r>
            <a:r>
              <a:rPr lang="en-US" sz="2100" spc="225" dirty="0">
                <a:solidFill>
                  <a:srgbClr val="13110E"/>
                </a:solidFill>
                <a:highlight>
                  <a:srgbClr val="FFFFFF"/>
                </a:highlight>
                <a:latin typeface="Calibri" panose="020F0502020204030204" pitchFamily="34" charset="0"/>
                <a:cs typeface="Calibri" panose="020F0502020204030204" pitchFamily="34" charset="0"/>
              </a:rPr>
              <a:t> </a:t>
            </a:r>
            <a:r>
              <a:rPr lang="en-US" sz="2100" spc="50" dirty="0">
                <a:solidFill>
                  <a:srgbClr val="13110E"/>
                </a:solidFill>
                <a:highlight>
                  <a:srgbClr val="FFFFFF"/>
                </a:highlight>
                <a:latin typeface="Calibri" panose="020F0502020204030204" pitchFamily="34" charset="0"/>
                <a:cs typeface="Calibri" panose="020F0502020204030204" pitchFamily="34" charset="0"/>
              </a:rPr>
              <a:t>government</a:t>
            </a:r>
            <a:r>
              <a:rPr lang="en-US" sz="2100" spc="225" dirty="0">
                <a:solidFill>
                  <a:srgbClr val="13110E"/>
                </a:solidFill>
                <a:highlight>
                  <a:srgbClr val="FFFFFF"/>
                </a:highlight>
                <a:latin typeface="Calibri" panose="020F0502020204030204" pitchFamily="34" charset="0"/>
                <a:cs typeface="Calibri" panose="020F0502020204030204" pitchFamily="34" charset="0"/>
              </a:rPr>
              <a:t> </a:t>
            </a:r>
            <a:r>
              <a:rPr lang="en-US" sz="2100" spc="55" dirty="0">
                <a:solidFill>
                  <a:srgbClr val="13110E"/>
                </a:solidFill>
                <a:highlight>
                  <a:srgbClr val="FFFFFF"/>
                </a:highlight>
                <a:latin typeface="Calibri" panose="020F0502020204030204" pitchFamily="34" charset="0"/>
                <a:cs typeface="Calibri" panose="020F0502020204030204" pitchFamily="34" charset="0"/>
              </a:rPr>
              <a:t>agencies—</a:t>
            </a:r>
            <a:r>
              <a:rPr lang="en-US" sz="2100" dirty="0">
                <a:solidFill>
                  <a:srgbClr val="13110E"/>
                </a:solidFill>
                <a:highlight>
                  <a:srgbClr val="FFFFFF"/>
                </a:highlight>
                <a:latin typeface="Calibri" panose="020F0502020204030204" pitchFamily="34" charset="0"/>
                <a:cs typeface="Calibri" panose="020F0502020204030204" pitchFamily="34" charset="0"/>
              </a:rPr>
              <a:t>are</a:t>
            </a:r>
            <a:r>
              <a:rPr lang="en-US" sz="2100" spc="229" dirty="0">
                <a:solidFill>
                  <a:srgbClr val="13110E"/>
                </a:solidFill>
                <a:highlight>
                  <a:srgbClr val="FFFFFF"/>
                </a:highlight>
                <a:latin typeface="Calibri" panose="020F0502020204030204" pitchFamily="34" charset="0"/>
                <a:cs typeface="Calibri" panose="020F0502020204030204" pitchFamily="34" charset="0"/>
              </a:rPr>
              <a:t> </a:t>
            </a:r>
            <a:r>
              <a:rPr lang="en-US" sz="2100" dirty="0">
                <a:solidFill>
                  <a:srgbClr val="13110E"/>
                </a:solidFill>
                <a:highlight>
                  <a:srgbClr val="FFFFFF"/>
                </a:highlight>
                <a:latin typeface="Calibri" panose="020F0502020204030204" pitchFamily="34" charset="0"/>
                <a:cs typeface="Calibri" panose="020F0502020204030204" pitchFamily="34" charset="0"/>
              </a:rPr>
              <a:t>using</a:t>
            </a:r>
            <a:r>
              <a:rPr lang="en-US" sz="2100" spc="225" dirty="0">
                <a:solidFill>
                  <a:srgbClr val="13110E"/>
                </a:solidFill>
                <a:highlight>
                  <a:srgbClr val="FFFFFF"/>
                </a:highlight>
                <a:latin typeface="Calibri" panose="020F0502020204030204" pitchFamily="34" charset="0"/>
                <a:cs typeface="Calibri" panose="020F0502020204030204" pitchFamily="34" charset="0"/>
              </a:rPr>
              <a:t> </a:t>
            </a:r>
            <a:r>
              <a:rPr lang="en-US" sz="2100" dirty="0">
                <a:solidFill>
                  <a:srgbClr val="13110E"/>
                </a:solidFill>
                <a:highlight>
                  <a:srgbClr val="FFFFFF"/>
                </a:highlight>
                <a:latin typeface="Calibri" panose="020F0502020204030204" pitchFamily="34" charset="0"/>
                <a:cs typeface="Calibri" panose="020F0502020204030204" pitchFamily="34" charset="0"/>
              </a:rPr>
              <a:t>AWS</a:t>
            </a:r>
            <a:r>
              <a:rPr lang="en-US" sz="2100" spc="225" dirty="0">
                <a:solidFill>
                  <a:srgbClr val="13110E"/>
                </a:solidFill>
                <a:highlight>
                  <a:srgbClr val="FFFFFF"/>
                </a:highlight>
                <a:latin typeface="Calibri" panose="020F0502020204030204" pitchFamily="34" charset="0"/>
                <a:cs typeface="Calibri" panose="020F0502020204030204" pitchFamily="34" charset="0"/>
              </a:rPr>
              <a:t> </a:t>
            </a:r>
            <a:r>
              <a:rPr lang="en-US" sz="2100" spc="-25" dirty="0">
                <a:solidFill>
                  <a:srgbClr val="13110E"/>
                </a:solidFill>
                <a:highlight>
                  <a:srgbClr val="FFFFFF"/>
                </a:highlight>
                <a:latin typeface="Calibri" panose="020F0502020204030204" pitchFamily="34" charset="0"/>
                <a:cs typeface="Calibri" panose="020F0502020204030204" pitchFamily="34" charset="0"/>
              </a:rPr>
              <a:t>to </a:t>
            </a:r>
            <a:r>
              <a:rPr lang="en-US" sz="2100" dirty="0">
                <a:solidFill>
                  <a:srgbClr val="13110E"/>
                </a:solidFill>
                <a:highlight>
                  <a:srgbClr val="FFFFFF"/>
                </a:highlight>
                <a:latin typeface="Calibri" panose="020F0502020204030204" pitchFamily="34" charset="0"/>
                <a:cs typeface="Calibri" panose="020F0502020204030204" pitchFamily="34" charset="0"/>
              </a:rPr>
              <a:t>lower</a:t>
            </a:r>
            <a:r>
              <a:rPr lang="en-US" sz="2100" spc="265" dirty="0">
                <a:solidFill>
                  <a:srgbClr val="13110E"/>
                </a:solidFill>
                <a:highlight>
                  <a:srgbClr val="FFFFFF"/>
                </a:highlight>
                <a:latin typeface="Calibri" panose="020F0502020204030204" pitchFamily="34" charset="0"/>
                <a:cs typeface="Calibri" panose="020F0502020204030204" pitchFamily="34" charset="0"/>
              </a:rPr>
              <a:t> </a:t>
            </a:r>
            <a:r>
              <a:rPr lang="en-US" sz="2100" dirty="0">
                <a:solidFill>
                  <a:srgbClr val="13110E"/>
                </a:solidFill>
                <a:highlight>
                  <a:srgbClr val="FFFFFF"/>
                </a:highlight>
                <a:latin typeface="Calibri" panose="020F0502020204030204" pitchFamily="34" charset="0"/>
                <a:cs typeface="Calibri" panose="020F0502020204030204" pitchFamily="34" charset="0"/>
              </a:rPr>
              <a:t>costs,</a:t>
            </a:r>
            <a:r>
              <a:rPr lang="en-US" sz="2100" spc="270" dirty="0">
                <a:solidFill>
                  <a:srgbClr val="13110E"/>
                </a:solidFill>
                <a:highlight>
                  <a:srgbClr val="FFFFFF"/>
                </a:highlight>
                <a:latin typeface="Calibri" panose="020F0502020204030204" pitchFamily="34" charset="0"/>
                <a:cs typeface="Calibri" panose="020F0502020204030204" pitchFamily="34" charset="0"/>
              </a:rPr>
              <a:t> </a:t>
            </a:r>
            <a:r>
              <a:rPr lang="en-US" sz="2100" spc="50" dirty="0">
                <a:solidFill>
                  <a:srgbClr val="13110E"/>
                </a:solidFill>
                <a:highlight>
                  <a:srgbClr val="FFFFFF"/>
                </a:highlight>
                <a:latin typeface="Calibri" panose="020F0502020204030204" pitchFamily="34" charset="0"/>
                <a:cs typeface="Calibri" panose="020F0502020204030204" pitchFamily="34" charset="0"/>
              </a:rPr>
              <a:t>become</a:t>
            </a:r>
            <a:r>
              <a:rPr lang="en-US" sz="2100" spc="270" dirty="0">
                <a:solidFill>
                  <a:srgbClr val="13110E"/>
                </a:solidFill>
                <a:highlight>
                  <a:srgbClr val="FFFFFF"/>
                </a:highlight>
                <a:latin typeface="Calibri" panose="020F0502020204030204" pitchFamily="34" charset="0"/>
                <a:cs typeface="Calibri" panose="020F0502020204030204" pitchFamily="34" charset="0"/>
              </a:rPr>
              <a:t> </a:t>
            </a:r>
            <a:r>
              <a:rPr lang="en-US" sz="2100" dirty="0">
                <a:solidFill>
                  <a:srgbClr val="13110E"/>
                </a:solidFill>
                <a:highlight>
                  <a:srgbClr val="FFFFFF"/>
                </a:highlight>
                <a:latin typeface="Calibri" panose="020F0502020204030204" pitchFamily="34" charset="0"/>
                <a:cs typeface="Calibri" panose="020F0502020204030204" pitchFamily="34" charset="0"/>
              </a:rPr>
              <a:t>more</a:t>
            </a:r>
            <a:r>
              <a:rPr lang="en-US" sz="2100" spc="270" dirty="0">
                <a:solidFill>
                  <a:srgbClr val="13110E"/>
                </a:solidFill>
                <a:highlight>
                  <a:srgbClr val="FFFFFF"/>
                </a:highlight>
                <a:latin typeface="Calibri" panose="020F0502020204030204" pitchFamily="34" charset="0"/>
                <a:cs typeface="Calibri" panose="020F0502020204030204" pitchFamily="34" charset="0"/>
              </a:rPr>
              <a:t> </a:t>
            </a:r>
            <a:r>
              <a:rPr lang="en-US" sz="2100" dirty="0">
                <a:solidFill>
                  <a:srgbClr val="13110E"/>
                </a:solidFill>
                <a:highlight>
                  <a:srgbClr val="FFFFFF"/>
                </a:highlight>
                <a:latin typeface="Calibri" panose="020F0502020204030204" pitchFamily="34" charset="0"/>
                <a:cs typeface="Calibri" panose="020F0502020204030204" pitchFamily="34" charset="0"/>
              </a:rPr>
              <a:t>agile,</a:t>
            </a:r>
            <a:r>
              <a:rPr lang="en-US" sz="2100" spc="270" dirty="0">
                <a:solidFill>
                  <a:srgbClr val="13110E"/>
                </a:solidFill>
                <a:highlight>
                  <a:srgbClr val="FFFFFF"/>
                </a:highlight>
                <a:latin typeface="Calibri" panose="020F0502020204030204" pitchFamily="34" charset="0"/>
                <a:cs typeface="Calibri" panose="020F0502020204030204" pitchFamily="34" charset="0"/>
              </a:rPr>
              <a:t> </a:t>
            </a:r>
            <a:r>
              <a:rPr lang="en-US" sz="2100" dirty="0">
                <a:solidFill>
                  <a:srgbClr val="13110E"/>
                </a:solidFill>
                <a:highlight>
                  <a:srgbClr val="FFFFFF"/>
                </a:highlight>
                <a:latin typeface="Calibri" panose="020F0502020204030204" pitchFamily="34" charset="0"/>
                <a:cs typeface="Calibri" panose="020F0502020204030204" pitchFamily="34" charset="0"/>
              </a:rPr>
              <a:t>and</a:t>
            </a:r>
            <a:r>
              <a:rPr lang="en-US" sz="2100" spc="270" dirty="0">
                <a:solidFill>
                  <a:srgbClr val="13110E"/>
                </a:solidFill>
                <a:highlight>
                  <a:srgbClr val="FFFFFF"/>
                </a:highlight>
                <a:latin typeface="Calibri" panose="020F0502020204030204" pitchFamily="34" charset="0"/>
                <a:cs typeface="Calibri" panose="020F0502020204030204" pitchFamily="34" charset="0"/>
              </a:rPr>
              <a:t> </a:t>
            </a:r>
            <a:r>
              <a:rPr lang="en-US" sz="2100" spc="50" dirty="0">
                <a:solidFill>
                  <a:srgbClr val="13110E"/>
                </a:solidFill>
                <a:highlight>
                  <a:srgbClr val="FFFFFF"/>
                </a:highlight>
                <a:latin typeface="Calibri" panose="020F0502020204030204" pitchFamily="34" charset="0"/>
                <a:cs typeface="Calibri" panose="020F0502020204030204" pitchFamily="34" charset="0"/>
              </a:rPr>
              <a:t>innovate</a:t>
            </a:r>
            <a:r>
              <a:rPr lang="en-US" sz="2100" spc="270" dirty="0">
                <a:solidFill>
                  <a:srgbClr val="13110E"/>
                </a:solidFill>
                <a:highlight>
                  <a:srgbClr val="FFFFFF"/>
                </a:highlight>
                <a:latin typeface="Calibri" panose="020F0502020204030204" pitchFamily="34" charset="0"/>
                <a:cs typeface="Calibri" panose="020F0502020204030204" pitchFamily="34" charset="0"/>
              </a:rPr>
              <a:t> </a:t>
            </a:r>
            <a:r>
              <a:rPr lang="en-US" sz="2100" spc="35" dirty="0">
                <a:solidFill>
                  <a:srgbClr val="13110E"/>
                </a:solidFill>
                <a:highlight>
                  <a:srgbClr val="FFFFFF"/>
                </a:highlight>
                <a:latin typeface="Calibri" panose="020F0502020204030204" pitchFamily="34" charset="0"/>
                <a:cs typeface="Calibri" panose="020F0502020204030204" pitchFamily="34" charset="0"/>
              </a:rPr>
              <a:t>faster</a:t>
            </a:r>
            <a:endParaRPr sz="2100" dirty="0">
              <a:solidFill>
                <a:srgbClr val="222222"/>
              </a:solidFill>
              <a:highlight>
                <a:srgbClr val="FFFFFF"/>
              </a:highlight>
              <a:latin typeface="Calibri" panose="020F0502020204030204" pitchFamily="34" charset="0"/>
              <a:ea typeface="Arial"/>
              <a:cs typeface="Calibri" panose="020F0502020204030204" pitchFamily="34" charset="0"/>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6"/>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AWS Global Architecture</a:t>
            </a:r>
            <a:endParaRPr/>
          </a:p>
        </p:txBody>
      </p:sp>
      <p:sp>
        <p:nvSpPr>
          <p:cNvPr id="106" name="Google Shape;106;p16"/>
          <p:cNvSpPr txBox="1">
            <a:spLocks noGrp="1"/>
          </p:cNvSpPr>
          <p:nvPr>
            <p:ph type="subTitle" idx="1"/>
          </p:nvPr>
        </p:nvSpPr>
        <p:spPr>
          <a:xfrm>
            <a:off x="730000" y="2438225"/>
            <a:ext cx="3300900" cy="759000"/>
          </a:xfrm>
          <a:prstGeom prst="rect">
            <a:avLst/>
          </a:prstGeom>
        </p:spPr>
        <p:txBody>
          <a:bodyPr spcFirstLastPara="1" wrap="square" lIns="91425" tIns="91425" rIns="91425" bIns="91425" anchor="t" anchorCtr="0">
            <a:noAutofit/>
          </a:bodyPr>
          <a:lstStyle/>
          <a:p>
            <a:pPr marL="457200" lvl="0" indent="-336708" algn="l" rtl="0">
              <a:lnSpc>
                <a:spcPct val="95000"/>
              </a:lnSpc>
              <a:spcBef>
                <a:spcPts val="0"/>
              </a:spcBef>
              <a:spcAft>
                <a:spcPts val="0"/>
              </a:spcAft>
              <a:buSzPts val="1703"/>
              <a:buChar char="●"/>
            </a:pPr>
            <a:r>
              <a:rPr lang="en" sz="1702"/>
              <a:t>Regions</a:t>
            </a:r>
            <a:endParaRPr sz="1702"/>
          </a:p>
          <a:p>
            <a:pPr marL="457200" lvl="0" indent="-336708" algn="l" rtl="0">
              <a:lnSpc>
                <a:spcPct val="95000"/>
              </a:lnSpc>
              <a:spcBef>
                <a:spcPts val="0"/>
              </a:spcBef>
              <a:spcAft>
                <a:spcPts val="0"/>
              </a:spcAft>
              <a:buSzPts val="1703"/>
              <a:buChar char="●"/>
            </a:pPr>
            <a:r>
              <a:rPr lang="en" sz="1702"/>
              <a:t>Availability Zones</a:t>
            </a:r>
            <a:endParaRPr sz="1702"/>
          </a:p>
          <a:p>
            <a:pPr marL="457200" lvl="0" indent="-336708" algn="l" rtl="0">
              <a:lnSpc>
                <a:spcPct val="95000"/>
              </a:lnSpc>
              <a:spcBef>
                <a:spcPts val="0"/>
              </a:spcBef>
              <a:spcAft>
                <a:spcPts val="0"/>
              </a:spcAft>
              <a:buSzPts val="1703"/>
              <a:buChar char="●"/>
            </a:pPr>
            <a:r>
              <a:rPr lang="en" sz="1702"/>
              <a:t>Edge Locations</a:t>
            </a:r>
            <a:endParaRPr sz="1979"/>
          </a:p>
        </p:txBody>
      </p:sp>
      <p:pic>
        <p:nvPicPr>
          <p:cNvPr id="107" name="Google Shape;107;p16"/>
          <p:cNvPicPr preferRelativeResize="0"/>
          <p:nvPr/>
        </p:nvPicPr>
        <p:blipFill>
          <a:blip r:embed="rId3">
            <a:alphaModFix/>
          </a:blip>
          <a:stretch>
            <a:fillRect/>
          </a:stretch>
        </p:blipFill>
        <p:spPr>
          <a:xfrm>
            <a:off x="3157300" y="1121799"/>
            <a:ext cx="5799849" cy="2899925"/>
          </a:xfrm>
          <a:prstGeom prst="rect">
            <a:avLst/>
          </a:prstGeom>
          <a:noFill/>
          <a:ln>
            <a:noFill/>
          </a:ln>
        </p:spPr>
      </p:pic>
      <p:sp>
        <p:nvSpPr>
          <p:cNvPr id="108" name="Google Shape;108;p16"/>
          <p:cNvSpPr txBox="1"/>
          <p:nvPr/>
        </p:nvSpPr>
        <p:spPr>
          <a:xfrm>
            <a:off x="4892750" y="4021725"/>
            <a:ext cx="4064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u="sng">
                <a:solidFill>
                  <a:schemeClr val="hlink"/>
                </a:solidFill>
                <a:latin typeface="Lato"/>
                <a:ea typeface="Lato"/>
                <a:cs typeface="Lato"/>
                <a:sym typeface="Lato"/>
                <a:hlinkClick r:id="rId4"/>
              </a:rPr>
              <a:t>https://aws.amazon.com/about-aws/global-infrastructure/</a:t>
            </a:r>
            <a:endParaRPr sz="1200">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
            <a:ext cx="9144000" cy="5143500"/>
            <a:chOff x="0" y="1"/>
            <a:chExt cx="18288000" cy="10287000"/>
          </a:xfrm>
        </p:grpSpPr>
        <p:pic>
          <p:nvPicPr>
            <p:cNvPr id="3" name="object 3"/>
            <p:cNvPicPr/>
            <p:nvPr/>
          </p:nvPicPr>
          <p:blipFill>
            <a:blip r:embed="rId2" cstate="print"/>
            <a:stretch>
              <a:fillRect/>
            </a:stretch>
          </p:blipFill>
          <p:spPr>
            <a:xfrm>
              <a:off x="0" y="1"/>
              <a:ext cx="18288000" cy="10286999"/>
            </a:xfrm>
            <a:prstGeom prst="rect">
              <a:avLst/>
            </a:prstGeom>
          </p:spPr>
        </p:pic>
        <p:sp>
          <p:nvSpPr>
            <p:cNvPr id="4" name="object 4"/>
            <p:cNvSpPr/>
            <p:nvPr/>
          </p:nvSpPr>
          <p:spPr>
            <a:xfrm>
              <a:off x="168960" y="5351830"/>
              <a:ext cx="15312390" cy="4629150"/>
            </a:xfrm>
            <a:custGeom>
              <a:avLst/>
              <a:gdLst/>
              <a:ahLst/>
              <a:cxnLst/>
              <a:rect l="l" t="t" r="r" b="b"/>
              <a:pathLst>
                <a:path w="15312390" h="4629150">
                  <a:moveTo>
                    <a:pt x="5346903" y="468414"/>
                  </a:moveTo>
                  <a:lnTo>
                    <a:pt x="5344490" y="420611"/>
                  </a:lnTo>
                  <a:lnTo>
                    <a:pt x="5337391" y="374180"/>
                  </a:lnTo>
                  <a:lnTo>
                    <a:pt x="5325859" y="329336"/>
                  </a:lnTo>
                  <a:lnTo>
                    <a:pt x="5310124" y="286334"/>
                  </a:lnTo>
                  <a:lnTo>
                    <a:pt x="5290413" y="245402"/>
                  </a:lnTo>
                  <a:lnTo>
                    <a:pt x="5266982" y="206768"/>
                  </a:lnTo>
                  <a:lnTo>
                    <a:pt x="5240071" y="170700"/>
                  </a:lnTo>
                  <a:lnTo>
                    <a:pt x="5209895" y="137414"/>
                  </a:lnTo>
                  <a:lnTo>
                    <a:pt x="5176698" y="107149"/>
                  </a:lnTo>
                  <a:lnTo>
                    <a:pt x="5140731" y="80149"/>
                  </a:lnTo>
                  <a:lnTo>
                    <a:pt x="5102225" y="56654"/>
                  </a:lnTo>
                  <a:lnTo>
                    <a:pt x="5061407" y="36893"/>
                  </a:lnTo>
                  <a:lnTo>
                    <a:pt x="5018532" y="21107"/>
                  </a:lnTo>
                  <a:lnTo>
                    <a:pt x="4973828" y="9537"/>
                  </a:lnTo>
                  <a:lnTo>
                    <a:pt x="4927524" y="2425"/>
                  </a:lnTo>
                  <a:lnTo>
                    <a:pt x="4879873" y="0"/>
                  </a:lnTo>
                  <a:lnTo>
                    <a:pt x="467042" y="0"/>
                  </a:lnTo>
                  <a:lnTo>
                    <a:pt x="419379" y="2425"/>
                  </a:lnTo>
                  <a:lnTo>
                    <a:pt x="373087" y="9537"/>
                  </a:lnTo>
                  <a:lnTo>
                    <a:pt x="328371" y="21107"/>
                  </a:lnTo>
                  <a:lnTo>
                    <a:pt x="285496" y="36893"/>
                  </a:lnTo>
                  <a:lnTo>
                    <a:pt x="244678" y="56654"/>
                  </a:lnTo>
                  <a:lnTo>
                    <a:pt x="206171" y="80149"/>
                  </a:lnTo>
                  <a:lnTo>
                    <a:pt x="170205" y="107149"/>
                  </a:lnTo>
                  <a:lnTo>
                    <a:pt x="137020" y="137414"/>
                  </a:lnTo>
                  <a:lnTo>
                    <a:pt x="106845" y="170700"/>
                  </a:lnTo>
                  <a:lnTo>
                    <a:pt x="79921" y="206768"/>
                  </a:lnTo>
                  <a:lnTo>
                    <a:pt x="56489" y="245402"/>
                  </a:lnTo>
                  <a:lnTo>
                    <a:pt x="36791" y="286334"/>
                  </a:lnTo>
                  <a:lnTo>
                    <a:pt x="21056" y="329336"/>
                  </a:lnTo>
                  <a:lnTo>
                    <a:pt x="9512" y="374180"/>
                  </a:lnTo>
                  <a:lnTo>
                    <a:pt x="2425" y="420611"/>
                  </a:lnTo>
                  <a:lnTo>
                    <a:pt x="0" y="468414"/>
                  </a:lnTo>
                  <a:lnTo>
                    <a:pt x="0" y="2046960"/>
                  </a:lnTo>
                  <a:lnTo>
                    <a:pt x="2425" y="2094750"/>
                  </a:lnTo>
                  <a:lnTo>
                    <a:pt x="9512" y="2141182"/>
                  </a:lnTo>
                  <a:lnTo>
                    <a:pt x="21056" y="2186025"/>
                  </a:lnTo>
                  <a:lnTo>
                    <a:pt x="36791" y="2229040"/>
                  </a:lnTo>
                  <a:lnTo>
                    <a:pt x="56489" y="2269972"/>
                  </a:lnTo>
                  <a:lnTo>
                    <a:pt x="79921" y="2308593"/>
                  </a:lnTo>
                  <a:lnTo>
                    <a:pt x="106845" y="2344661"/>
                  </a:lnTo>
                  <a:lnTo>
                    <a:pt x="137020" y="2377948"/>
                  </a:lnTo>
                  <a:lnTo>
                    <a:pt x="170205" y="2408212"/>
                  </a:lnTo>
                  <a:lnTo>
                    <a:pt x="206171" y="2435212"/>
                  </a:lnTo>
                  <a:lnTo>
                    <a:pt x="244678" y="2458720"/>
                  </a:lnTo>
                  <a:lnTo>
                    <a:pt x="285496" y="2478481"/>
                  </a:lnTo>
                  <a:lnTo>
                    <a:pt x="328371" y="2494267"/>
                  </a:lnTo>
                  <a:lnTo>
                    <a:pt x="373087" y="2505824"/>
                  </a:lnTo>
                  <a:lnTo>
                    <a:pt x="419379" y="2512949"/>
                  </a:lnTo>
                  <a:lnTo>
                    <a:pt x="467042" y="2515374"/>
                  </a:lnTo>
                  <a:lnTo>
                    <a:pt x="4879873" y="2515374"/>
                  </a:lnTo>
                  <a:lnTo>
                    <a:pt x="4927524" y="2512949"/>
                  </a:lnTo>
                  <a:lnTo>
                    <a:pt x="4973828" y="2505824"/>
                  </a:lnTo>
                  <a:lnTo>
                    <a:pt x="5018532" y="2494267"/>
                  </a:lnTo>
                  <a:lnTo>
                    <a:pt x="5061407" y="2478481"/>
                  </a:lnTo>
                  <a:lnTo>
                    <a:pt x="5102225" y="2458720"/>
                  </a:lnTo>
                  <a:lnTo>
                    <a:pt x="5140731" y="2435212"/>
                  </a:lnTo>
                  <a:lnTo>
                    <a:pt x="5176698" y="2408212"/>
                  </a:lnTo>
                  <a:lnTo>
                    <a:pt x="5209895" y="2377948"/>
                  </a:lnTo>
                  <a:lnTo>
                    <a:pt x="5240071" y="2344661"/>
                  </a:lnTo>
                  <a:lnTo>
                    <a:pt x="5266982" y="2308593"/>
                  </a:lnTo>
                  <a:lnTo>
                    <a:pt x="5290413" y="2269972"/>
                  </a:lnTo>
                  <a:lnTo>
                    <a:pt x="5310124" y="2229040"/>
                  </a:lnTo>
                  <a:lnTo>
                    <a:pt x="5325859" y="2186025"/>
                  </a:lnTo>
                  <a:lnTo>
                    <a:pt x="5337391" y="2141182"/>
                  </a:lnTo>
                  <a:lnTo>
                    <a:pt x="5344490" y="2094750"/>
                  </a:lnTo>
                  <a:lnTo>
                    <a:pt x="5346903" y="2046960"/>
                  </a:lnTo>
                  <a:lnTo>
                    <a:pt x="5346903" y="468414"/>
                  </a:lnTo>
                  <a:close/>
                </a:path>
                <a:path w="15312390" h="4629150">
                  <a:moveTo>
                    <a:pt x="10963567" y="2756306"/>
                  </a:moveTo>
                  <a:lnTo>
                    <a:pt x="10960697" y="2710154"/>
                  </a:lnTo>
                  <a:lnTo>
                    <a:pt x="10952302" y="2665692"/>
                  </a:lnTo>
                  <a:lnTo>
                    <a:pt x="10938751" y="2623261"/>
                  </a:lnTo>
                  <a:lnTo>
                    <a:pt x="10920374" y="2583205"/>
                  </a:lnTo>
                  <a:lnTo>
                    <a:pt x="10897527" y="2545892"/>
                  </a:lnTo>
                  <a:lnTo>
                    <a:pt x="10870565" y="2511653"/>
                  </a:lnTo>
                  <a:lnTo>
                    <a:pt x="10839831" y="2480856"/>
                  </a:lnTo>
                  <a:lnTo>
                    <a:pt x="10805668" y="2453830"/>
                  </a:lnTo>
                  <a:lnTo>
                    <a:pt x="10768432" y="2430932"/>
                  </a:lnTo>
                  <a:lnTo>
                    <a:pt x="10728465" y="2412517"/>
                  </a:lnTo>
                  <a:lnTo>
                    <a:pt x="10686123" y="2398941"/>
                  </a:lnTo>
                  <a:lnTo>
                    <a:pt x="10641749" y="2390533"/>
                  </a:lnTo>
                  <a:lnTo>
                    <a:pt x="10595686" y="2387650"/>
                  </a:lnTo>
                  <a:lnTo>
                    <a:pt x="7119747" y="2387650"/>
                  </a:lnTo>
                  <a:lnTo>
                    <a:pt x="7073697" y="2390533"/>
                  </a:lnTo>
                  <a:lnTo>
                    <a:pt x="7029323" y="2398941"/>
                  </a:lnTo>
                  <a:lnTo>
                    <a:pt x="6986981" y="2412517"/>
                  </a:lnTo>
                  <a:lnTo>
                    <a:pt x="6947014" y="2430932"/>
                  </a:lnTo>
                  <a:lnTo>
                    <a:pt x="6909778" y="2453830"/>
                  </a:lnTo>
                  <a:lnTo>
                    <a:pt x="6875615" y="2480856"/>
                  </a:lnTo>
                  <a:lnTo>
                    <a:pt x="6844881" y="2511653"/>
                  </a:lnTo>
                  <a:lnTo>
                    <a:pt x="6817919" y="2545892"/>
                  </a:lnTo>
                  <a:lnTo>
                    <a:pt x="6795071" y="2583205"/>
                  </a:lnTo>
                  <a:lnTo>
                    <a:pt x="6776694" y="2623261"/>
                  </a:lnTo>
                  <a:lnTo>
                    <a:pt x="6763131" y="2665692"/>
                  </a:lnTo>
                  <a:lnTo>
                    <a:pt x="6754749" y="2710154"/>
                  </a:lnTo>
                  <a:lnTo>
                    <a:pt x="6751879" y="2756306"/>
                  </a:lnTo>
                  <a:lnTo>
                    <a:pt x="6751879" y="4182275"/>
                  </a:lnTo>
                  <a:lnTo>
                    <a:pt x="6754749" y="4228427"/>
                  </a:lnTo>
                  <a:lnTo>
                    <a:pt x="6763131" y="4272889"/>
                  </a:lnTo>
                  <a:lnTo>
                    <a:pt x="6776694" y="4315320"/>
                  </a:lnTo>
                  <a:lnTo>
                    <a:pt x="6795071" y="4355376"/>
                  </a:lnTo>
                  <a:lnTo>
                    <a:pt x="6817919" y="4392688"/>
                  </a:lnTo>
                  <a:lnTo>
                    <a:pt x="6844881" y="4426928"/>
                  </a:lnTo>
                  <a:lnTo>
                    <a:pt x="6875615" y="4457725"/>
                  </a:lnTo>
                  <a:lnTo>
                    <a:pt x="6909778" y="4484751"/>
                  </a:lnTo>
                  <a:lnTo>
                    <a:pt x="6947014" y="4507649"/>
                  </a:lnTo>
                  <a:lnTo>
                    <a:pt x="6986981" y="4526064"/>
                  </a:lnTo>
                  <a:lnTo>
                    <a:pt x="7029323" y="4539640"/>
                  </a:lnTo>
                  <a:lnTo>
                    <a:pt x="7073697" y="4548048"/>
                  </a:lnTo>
                  <a:lnTo>
                    <a:pt x="7119747" y="4550930"/>
                  </a:lnTo>
                  <a:lnTo>
                    <a:pt x="10595686" y="4550930"/>
                  </a:lnTo>
                  <a:lnTo>
                    <a:pt x="10641749" y="4548048"/>
                  </a:lnTo>
                  <a:lnTo>
                    <a:pt x="10686123" y="4539640"/>
                  </a:lnTo>
                  <a:lnTo>
                    <a:pt x="10728465" y="4526064"/>
                  </a:lnTo>
                  <a:lnTo>
                    <a:pt x="10768432" y="4507649"/>
                  </a:lnTo>
                  <a:lnTo>
                    <a:pt x="10805668" y="4484751"/>
                  </a:lnTo>
                  <a:lnTo>
                    <a:pt x="10839831" y="4457725"/>
                  </a:lnTo>
                  <a:lnTo>
                    <a:pt x="10870565" y="4426928"/>
                  </a:lnTo>
                  <a:lnTo>
                    <a:pt x="10897527" y="4392688"/>
                  </a:lnTo>
                  <a:lnTo>
                    <a:pt x="10920374" y="4355376"/>
                  </a:lnTo>
                  <a:lnTo>
                    <a:pt x="10938751" y="4315320"/>
                  </a:lnTo>
                  <a:lnTo>
                    <a:pt x="10952302" y="4272889"/>
                  </a:lnTo>
                  <a:lnTo>
                    <a:pt x="10960697" y="4228427"/>
                  </a:lnTo>
                  <a:lnTo>
                    <a:pt x="10963567" y="4182275"/>
                  </a:lnTo>
                  <a:lnTo>
                    <a:pt x="10963567" y="2756306"/>
                  </a:lnTo>
                  <a:close/>
                </a:path>
                <a:path w="15312390" h="4629150">
                  <a:moveTo>
                    <a:pt x="15312238" y="2671165"/>
                  </a:moveTo>
                  <a:lnTo>
                    <a:pt x="15309012" y="2623286"/>
                  </a:lnTo>
                  <a:lnTo>
                    <a:pt x="15299601" y="2577350"/>
                  </a:lnTo>
                  <a:lnTo>
                    <a:pt x="15284438" y="2533764"/>
                  </a:lnTo>
                  <a:lnTo>
                    <a:pt x="15263965" y="2492946"/>
                  </a:lnTo>
                  <a:lnTo>
                    <a:pt x="15238578" y="2455341"/>
                  </a:lnTo>
                  <a:lnTo>
                    <a:pt x="15208707" y="2421382"/>
                  </a:lnTo>
                  <a:lnTo>
                    <a:pt x="15174798" y="2391460"/>
                  </a:lnTo>
                  <a:lnTo>
                    <a:pt x="15137257" y="2366035"/>
                  </a:lnTo>
                  <a:lnTo>
                    <a:pt x="15096516" y="2345525"/>
                  </a:lnTo>
                  <a:lnTo>
                    <a:pt x="15053005" y="2330335"/>
                  </a:lnTo>
                  <a:lnTo>
                    <a:pt x="15007133" y="2320912"/>
                  </a:lnTo>
                  <a:lnTo>
                    <a:pt x="14959343" y="2317673"/>
                  </a:lnTo>
                  <a:lnTo>
                    <a:pt x="11624945" y="2317673"/>
                  </a:lnTo>
                  <a:lnTo>
                    <a:pt x="11577142" y="2320912"/>
                  </a:lnTo>
                  <a:lnTo>
                    <a:pt x="11531283" y="2330335"/>
                  </a:lnTo>
                  <a:lnTo>
                    <a:pt x="11487760" y="2345525"/>
                  </a:lnTo>
                  <a:lnTo>
                    <a:pt x="11447018" y="2366035"/>
                  </a:lnTo>
                  <a:lnTo>
                    <a:pt x="11409477" y="2391460"/>
                  </a:lnTo>
                  <a:lnTo>
                    <a:pt x="11375568" y="2421382"/>
                  </a:lnTo>
                  <a:lnTo>
                    <a:pt x="11345710" y="2455341"/>
                  </a:lnTo>
                  <a:lnTo>
                    <a:pt x="11320323" y="2492946"/>
                  </a:lnTo>
                  <a:lnTo>
                    <a:pt x="11299838" y="2533764"/>
                  </a:lnTo>
                  <a:lnTo>
                    <a:pt x="11284674" y="2577350"/>
                  </a:lnTo>
                  <a:lnTo>
                    <a:pt x="11275276" y="2623286"/>
                  </a:lnTo>
                  <a:lnTo>
                    <a:pt x="11272037" y="2671165"/>
                  </a:lnTo>
                  <a:lnTo>
                    <a:pt x="11272037" y="4275175"/>
                  </a:lnTo>
                  <a:lnTo>
                    <a:pt x="11275276" y="4323042"/>
                  </a:lnTo>
                  <a:lnTo>
                    <a:pt x="11284674" y="4368990"/>
                  </a:lnTo>
                  <a:lnTo>
                    <a:pt x="11299838" y="4412577"/>
                  </a:lnTo>
                  <a:lnTo>
                    <a:pt x="11320323" y="4453382"/>
                  </a:lnTo>
                  <a:lnTo>
                    <a:pt x="11345710" y="4490986"/>
                  </a:lnTo>
                  <a:lnTo>
                    <a:pt x="11375568" y="4524959"/>
                  </a:lnTo>
                  <a:lnTo>
                    <a:pt x="11409477" y="4554867"/>
                  </a:lnTo>
                  <a:lnTo>
                    <a:pt x="11447018" y="4580293"/>
                  </a:lnTo>
                  <a:lnTo>
                    <a:pt x="11487760" y="4600816"/>
                  </a:lnTo>
                  <a:lnTo>
                    <a:pt x="11531283" y="4616005"/>
                  </a:lnTo>
                  <a:lnTo>
                    <a:pt x="11577142" y="4625429"/>
                  </a:lnTo>
                  <a:lnTo>
                    <a:pt x="11624945" y="4628654"/>
                  </a:lnTo>
                  <a:lnTo>
                    <a:pt x="14959343" y="4628654"/>
                  </a:lnTo>
                  <a:lnTo>
                    <a:pt x="15007133" y="4625429"/>
                  </a:lnTo>
                  <a:lnTo>
                    <a:pt x="15053005" y="4616005"/>
                  </a:lnTo>
                  <a:lnTo>
                    <a:pt x="15096516" y="4600816"/>
                  </a:lnTo>
                  <a:lnTo>
                    <a:pt x="15137257" y="4580293"/>
                  </a:lnTo>
                  <a:lnTo>
                    <a:pt x="15174798" y="4554867"/>
                  </a:lnTo>
                  <a:lnTo>
                    <a:pt x="15208707" y="4524959"/>
                  </a:lnTo>
                  <a:lnTo>
                    <a:pt x="15238578" y="4490986"/>
                  </a:lnTo>
                  <a:lnTo>
                    <a:pt x="15263965" y="4453382"/>
                  </a:lnTo>
                  <a:lnTo>
                    <a:pt x="15284438" y="4412577"/>
                  </a:lnTo>
                  <a:lnTo>
                    <a:pt x="15299601" y="4368990"/>
                  </a:lnTo>
                  <a:lnTo>
                    <a:pt x="15309012" y="4323042"/>
                  </a:lnTo>
                  <a:lnTo>
                    <a:pt x="15312238" y="4275175"/>
                  </a:lnTo>
                  <a:lnTo>
                    <a:pt x="15312238" y="2671165"/>
                  </a:lnTo>
                  <a:close/>
                </a:path>
              </a:pathLst>
            </a:custGeom>
            <a:solidFill>
              <a:srgbClr val="FFFFFF"/>
            </a:solidFill>
          </p:spPr>
          <p:txBody>
            <a:bodyPr wrap="square" lIns="0" tIns="0" rIns="0" bIns="0" rtlCol="0"/>
            <a:lstStyle/>
            <a:p>
              <a:endParaRPr sz="700"/>
            </a:p>
          </p:txBody>
        </p:sp>
      </p:grpSp>
      <p:sp>
        <p:nvSpPr>
          <p:cNvPr id="5" name="object 5"/>
          <p:cNvSpPr txBox="1"/>
          <p:nvPr/>
        </p:nvSpPr>
        <p:spPr>
          <a:xfrm>
            <a:off x="6003578" y="4395380"/>
            <a:ext cx="1453515" cy="330796"/>
          </a:xfrm>
          <a:prstGeom prst="rect">
            <a:avLst/>
          </a:prstGeom>
        </p:spPr>
        <p:txBody>
          <a:bodyPr vert="horz" wrap="square" lIns="0" tIns="6033" rIns="0" bIns="0" rtlCol="0">
            <a:spAutoFit/>
          </a:bodyPr>
          <a:lstStyle/>
          <a:p>
            <a:pPr marL="6350" marR="2540" indent="4763">
              <a:lnSpc>
                <a:spcPct val="115100"/>
              </a:lnSpc>
              <a:spcBef>
                <a:spcPts val="48"/>
              </a:spcBef>
            </a:pPr>
            <a:r>
              <a:rPr sz="950" b="1" dirty="0">
                <a:solidFill>
                  <a:srgbClr val="13110E"/>
                </a:solidFill>
                <a:latin typeface="Roboto"/>
                <a:cs typeface="Roboto"/>
              </a:rPr>
              <a:t>218+</a:t>
            </a:r>
            <a:r>
              <a:rPr sz="950" b="1" spc="138" dirty="0">
                <a:solidFill>
                  <a:srgbClr val="13110E"/>
                </a:solidFill>
                <a:latin typeface="Roboto"/>
                <a:cs typeface="Roboto"/>
              </a:rPr>
              <a:t> </a:t>
            </a:r>
            <a:r>
              <a:rPr sz="950" b="1" dirty="0">
                <a:solidFill>
                  <a:srgbClr val="13110E"/>
                </a:solidFill>
                <a:latin typeface="Roboto"/>
                <a:cs typeface="Roboto"/>
              </a:rPr>
              <a:t>Edge</a:t>
            </a:r>
            <a:r>
              <a:rPr sz="950" b="1" spc="140" dirty="0">
                <a:solidFill>
                  <a:srgbClr val="13110E"/>
                </a:solidFill>
                <a:latin typeface="Roboto"/>
                <a:cs typeface="Roboto"/>
              </a:rPr>
              <a:t> </a:t>
            </a:r>
            <a:r>
              <a:rPr sz="950" b="1" dirty="0">
                <a:solidFill>
                  <a:srgbClr val="13110E"/>
                </a:solidFill>
                <a:latin typeface="Roboto"/>
                <a:cs typeface="Roboto"/>
              </a:rPr>
              <a:t>Locations</a:t>
            </a:r>
            <a:r>
              <a:rPr sz="950" b="1" spc="138" dirty="0">
                <a:solidFill>
                  <a:srgbClr val="13110E"/>
                </a:solidFill>
                <a:latin typeface="Roboto"/>
                <a:cs typeface="Roboto"/>
              </a:rPr>
              <a:t> </a:t>
            </a:r>
            <a:r>
              <a:rPr sz="950" b="1" spc="-13" dirty="0">
                <a:solidFill>
                  <a:srgbClr val="13110E"/>
                </a:solidFill>
                <a:latin typeface="Roboto"/>
                <a:cs typeface="Roboto"/>
              </a:rPr>
              <a:t>and </a:t>
            </a:r>
            <a:r>
              <a:rPr sz="950" b="1" dirty="0">
                <a:solidFill>
                  <a:srgbClr val="13110E"/>
                </a:solidFill>
                <a:latin typeface="Roboto"/>
                <a:cs typeface="Roboto"/>
              </a:rPr>
              <a:t>12</a:t>
            </a:r>
            <a:r>
              <a:rPr sz="950" b="1" spc="115" dirty="0">
                <a:solidFill>
                  <a:srgbClr val="13110E"/>
                </a:solidFill>
                <a:latin typeface="Roboto"/>
                <a:cs typeface="Roboto"/>
              </a:rPr>
              <a:t> </a:t>
            </a:r>
            <a:r>
              <a:rPr sz="950" b="1" dirty="0">
                <a:solidFill>
                  <a:srgbClr val="13110E"/>
                </a:solidFill>
                <a:latin typeface="Roboto"/>
                <a:cs typeface="Roboto"/>
              </a:rPr>
              <a:t>Regional</a:t>
            </a:r>
            <a:r>
              <a:rPr sz="950" b="1" spc="118" dirty="0">
                <a:solidFill>
                  <a:srgbClr val="13110E"/>
                </a:solidFill>
                <a:latin typeface="Roboto"/>
                <a:cs typeface="Roboto"/>
              </a:rPr>
              <a:t> </a:t>
            </a:r>
            <a:r>
              <a:rPr sz="950" b="1" dirty="0">
                <a:solidFill>
                  <a:srgbClr val="13110E"/>
                </a:solidFill>
                <a:latin typeface="Roboto"/>
                <a:cs typeface="Roboto"/>
              </a:rPr>
              <a:t>Edge</a:t>
            </a:r>
            <a:r>
              <a:rPr sz="950" b="1" spc="115" dirty="0">
                <a:solidFill>
                  <a:srgbClr val="13110E"/>
                </a:solidFill>
                <a:latin typeface="Roboto"/>
                <a:cs typeface="Roboto"/>
              </a:rPr>
              <a:t> </a:t>
            </a:r>
            <a:r>
              <a:rPr sz="950" b="1" spc="-5" dirty="0">
                <a:solidFill>
                  <a:srgbClr val="13110E"/>
                </a:solidFill>
                <a:latin typeface="Roboto"/>
                <a:cs typeface="Roboto"/>
              </a:rPr>
              <a:t>Caches</a:t>
            </a:r>
            <a:endParaRPr sz="950">
              <a:latin typeface="Roboto"/>
              <a:cs typeface="Roboto"/>
            </a:endParaRPr>
          </a:p>
        </p:txBody>
      </p:sp>
      <p:sp>
        <p:nvSpPr>
          <p:cNvPr id="6" name="object 6"/>
          <p:cNvSpPr txBox="1"/>
          <p:nvPr/>
        </p:nvSpPr>
        <p:spPr>
          <a:xfrm>
            <a:off x="5954226" y="4125531"/>
            <a:ext cx="1551940" cy="168636"/>
          </a:xfrm>
          <a:prstGeom prst="rect">
            <a:avLst/>
          </a:prstGeom>
        </p:spPr>
        <p:txBody>
          <a:bodyPr vert="horz" wrap="square" lIns="0" tIns="6985" rIns="0" bIns="0" rtlCol="0">
            <a:spAutoFit/>
          </a:bodyPr>
          <a:lstStyle/>
          <a:p>
            <a:pPr marL="6350">
              <a:spcBef>
                <a:spcPts val="55"/>
              </a:spcBef>
            </a:pPr>
            <a:r>
              <a:rPr sz="1050" b="1" dirty="0">
                <a:solidFill>
                  <a:srgbClr val="13110E"/>
                </a:solidFill>
                <a:latin typeface="Roboto"/>
                <a:cs typeface="Roboto"/>
              </a:rPr>
              <a:t>230+</a:t>
            </a:r>
            <a:r>
              <a:rPr sz="1050" b="1" spc="100" dirty="0">
                <a:solidFill>
                  <a:srgbClr val="13110E"/>
                </a:solidFill>
                <a:latin typeface="Roboto"/>
                <a:cs typeface="Roboto"/>
              </a:rPr>
              <a:t> </a:t>
            </a:r>
            <a:r>
              <a:rPr sz="1050" b="1" dirty="0">
                <a:solidFill>
                  <a:srgbClr val="13110E"/>
                </a:solidFill>
                <a:latin typeface="Roboto"/>
                <a:cs typeface="Roboto"/>
              </a:rPr>
              <a:t>Points</a:t>
            </a:r>
            <a:r>
              <a:rPr sz="1050" b="1" spc="102" dirty="0">
                <a:solidFill>
                  <a:srgbClr val="13110E"/>
                </a:solidFill>
                <a:latin typeface="Roboto"/>
                <a:cs typeface="Roboto"/>
              </a:rPr>
              <a:t> </a:t>
            </a:r>
            <a:r>
              <a:rPr sz="1050" b="1" dirty="0">
                <a:solidFill>
                  <a:srgbClr val="13110E"/>
                </a:solidFill>
                <a:latin typeface="Roboto"/>
                <a:cs typeface="Roboto"/>
              </a:rPr>
              <a:t>of</a:t>
            </a:r>
            <a:r>
              <a:rPr sz="1050" b="1" spc="100" dirty="0">
                <a:solidFill>
                  <a:srgbClr val="13110E"/>
                </a:solidFill>
                <a:latin typeface="Roboto"/>
                <a:cs typeface="Roboto"/>
              </a:rPr>
              <a:t> </a:t>
            </a:r>
            <a:r>
              <a:rPr sz="1050" b="1" spc="-5" dirty="0">
                <a:solidFill>
                  <a:srgbClr val="13110E"/>
                </a:solidFill>
                <a:latin typeface="Roboto"/>
                <a:cs typeface="Roboto"/>
              </a:rPr>
              <a:t>Presence</a:t>
            </a:r>
            <a:endParaRPr sz="1050">
              <a:latin typeface="Roboto"/>
              <a:cs typeface="Roboto"/>
            </a:endParaRPr>
          </a:p>
        </p:txBody>
      </p:sp>
      <p:grpSp>
        <p:nvGrpSpPr>
          <p:cNvPr id="7" name="object 7"/>
          <p:cNvGrpSpPr/>
          <p:nvPr/>
        </p:nvGrpSpPr>
        <p:grpSpPr>
          <a:xfrm>
            <a:off x="1278216" y="520343"/>
            <a:ext cx="5773738" cy="3525520"/>
            <a:chOff x="2556431" y="1040685"/>
            <a:chExt cx="11547475" cy="7051040"/>
          </a:xfrm>
        </p:grpSpPr>
        <p:sp>
          <p:nvSpPr>
            <p:cNvPr id="8" name="object 8"/>
            <p:cNvSpPr/>
            <p:nvPr/>
          </p:nvSpPr>
          <p:spPr>
            <a:xfrm>
              <a:off x="2556421" y="5059133"/>
              <a:ext cx="11196955" cy="3032760"/>
            </a:xfrm>
            <a:custGeom>
              <a:avLst/>
              <a:gdLst/>
              <a:ahLst/>
              <a:cxnLst/>
              <a:rect l="l" t="t" r="r" b="b"/>
              <a:pathLst>
                <a:path w="11196955" h="3032759">
                  <a:moveTo>
                    <a:pt x="581025" y="290512"/>
                  </a:moveTo>
                  <a:lnTo>
                    <a:pt x="577888" y="247891"/>
                  </a:lnTo>
                  <a:lnTo>
                    <a:pt x="568515" y="206184"/>
                  </a:lnTo>
                  <a:lnTo>
                    <a:pt x="553135" y="166306"/>
                  </a:lnTo>
                  <a:lnTo>
                    <a:pt x="532066" y="129120"/>
                  </a:lnTo>
                  <a:lnTo>
                    <a:pt x="505777" y="95415"/>
                  </a:lnTo>
                  <a:lnTo>
                    <a:pt x="474814" y="65951"/>
                  </a:lnTo>
                  <a:lnTo>
                    <a:pt x="439864" y="41338"/>
                  </a:lnTo>
                  <a:lnTo>
                    <a:pt x="401688" y="22123"/>
                  </a:lnTo>
                  <a:lnTo>
                    <a:pt x="361111" y="8712"/>
                  </a:lnTo>
                  <a:lnTo>
                    <a:pt x="318985" y="1397"/>
                  </a:lnTo>
                  <a:lnTo>
                    <a:pt x="290512" y="0"/>
                  </a:lnTo>
                  <a:lnTo>
                    <a:pt x="283387" y="88"/>
                  </a:lnTo>
                  <a:lnTo>
                    <a:pt x="240855" y="4279"/>
                  </a:lnTo>
                  <a:lnTo>
                    <a:pt x="199390" y="14668"/>
                  </a:lnTo>
                  <a:lnTo>
                    <a:pt x="159905" y="31026"/>
                  </a:lnTo>
                  <a:lnTo>
                    <a:pt x="123240" y="52997"/>
                  </a:lnTo>
                  <a:lnTo>
                    <a:pt x="90195" y="80111"/>
                  </a:lnTo>
                  <a:lnTo>
                    <a:pt x="61493" y="111785"/>
                  </a:lnTo>
                  <a:lnTo>
                    <a:pt x="37744" y="147320"/>
                  </a:lnTo>
                  <a:lnTo>
                    <a:pt x="19469" y="185966"/>
                  </a:lnTo>
                  <a:lnTo>
                    <a:pt x="7061" y="226860"/>
                  </a:lnTo>
                  <a:lnTo>
                    <a:pt x="787" y="269151"/>
                  </a:lnTo>
                  <a:lnTo>
                    <a:pt x="0" y="290512"/>
                  </a:lnTo>
                  <a:lnTo>
                    <a:pt x="88" y="297649"/>
                  </a:lnTo>
                  <a:lnTo>
                    <a:pt x="4279" y="340182"/>
                  </a:lnTo>
                  <a:lnTo>
                    <a:pt x="14668" y="381647"/>
                  </a:lnTo>
                  <a:lnTo>
                    <a:pt x="31026" y="421132"/>
                  </a:lnTo>
                  <a:lnTo>
                    <a:pt x="52997" y="457796"/>
                  </a:lnTo>
                  <a:lnTo>
                    <a:pt x="80111" y="490829"/>
                  </a:lnTo>
                  <a:lnTo>
                    <a:pt x="111785" y="519544"/>
                  </a:lnTo>
                  <a:lnTo>
                    <a:pt x="147320" y="543280"/>
                  </a:lnTo>
                  <a:lnTo>
                    <a:pt x="185966" y="561568"/>
                  </a:lnTo>
                  <a:lnTo>
                    <a:pt x="226860" y="573963"/>
                  </a:lnTo>
                  <a:lnTo>
                    <a:pt x="269151" y="580237"/>
                  </a:lnTo>
                  <a:lnTo>
                    <a:pt x="290512" y="581025"/>
                  </a:lnTo>
                  <a:lnTo>
                    <a:pt x="297649" y="580936"/>
                  </a:lnTo>
                  <a:lnTo>
                    <a:pt x="340182" y="576757"/>
                  </a:lnTo>
                  <a:lnTo>
                    <a:pt x="381647" y="566369"/>
                  </a:lnTo>
                  <a:lnTo>
                    <a:pt x="421132" y="550011"/>
                  </a:lnTo>
                  <a:lnTo>
                    <a:pt x="457796" y="528027"/>
                  </a:lnTo>
                  <a:lnTo>
                    <a:pt x="490829" y="500926"/>
                  </a:lnTo>
                  <a:lnTo>
                    <a:pt x="519544" y="469252"/>
                  </a:lnTo>
                  <a:lnTo>
                    <a:pt x="543293" y="433705"/>
                  </a:lnTo>
                  <a:lnTo>
                    <a:pt x="561568" y="395071"/>
                  </a:lnTo>
                  <a:lnTo>
                    <a:pt x="573976" y="354164"/>
                  </a:lnTo>
                  <a:lnTo>
                    <a:pt x="580237" y="311886"/>
                  </a:lnTo>
                  <a:lnTo>
                    <a:pt x="581025" y="290512"/>
                  </a:lnTo>
                  <a:close/>
                </a:path>
                <a:path w="11196955" h="3032759">
                  <a:moveTo>
                    <a:pt x="6763067" y="2741942"/>
                  </a:moveTo>
                  <a:lnTo>
                    <a:pt x="6759930" y="2699308"/>
                  </a:lnTo>
                  <a:lnTo>
                    <a:pt x="6750558" y="2657614"/>
                  </a:lnTo>
                  <a:lnTo>
                    <a:pt x="6735178" y="2617736"/>
                  </a:lnTo>
                  <a:lnTo>
                    <a:pt x="6714109" y="2580538"/>
                  </a:lnTo>
                  <a:lnTo>
                    <a:pt x="6687807" y="2546845"/>
                  </a:lnTo>
                  <a:lnTo>
                    <a:pt x="6656857" y="2517368"/>
                  </a:lnTo>
                  <a:lnTo>
                    <a:pt x="6621907" y="2492756"/>
                  </a:lnTo>
                  <a:lnTo>
                    <a:pt x="6583731" y="2473541"/>
                  </a:lnTo>
                  <a:lnTo>
                    <a:pt x="6543141" y="2460129"/>
                  </a:lnTo>
                  <a:lnTo>
                    <a:pt x="6501028" y="2452827"/>
                  </a:lnTo>
                  <a:lnTo>
                    <a:pt x="6472555" y="2451430"/>
                  </a:lnTo>
                  <a:lnTo>
                    <a:pt x="6465430" y="2451519"/>
                  </a:lnTo>
                  <a:lnTo>
                    <a:pt x="6422898" y="2455710"/>
                  </a:lnTo>
                  <a:lnTo>
                    <a:pt x="6381432" y="2466086"/>
                  </a:lnTo>
                  <a:lnTo>
                    <a:pt x="6341935" y="2482443"/>
                  </a:lnTo>
                  <a:lnTo>
                    <a:pt x="6305270" y="2504427"/>
                  </a:lnTo>
                  <a:lnTo>
                    <a:pt x="6272238" y="2531541"/>
                  </a:lnTo>
                  <a:lnTo>
                    <a:pt x="6243536" y="2563215"/>
                  </a:lnTo>
                  <a:lnTo>
                    <a:pt x="6219787" y="2598750"/>
                  </a:lnTo>
                  <a:lnTo>
                    <a:pt x="6201511" y="2637383"/>
                  </a:lnTo>
                  <a:lnTo>
                    <a:pt x="6189103" y="2678290"/>
                  </a:lnTo>
                  <a:lnTo>
                    <a:pt x="6182830" y="2720568"/>
                  </a:lnTo>
                  <a:lnTo>
                    <a:pt x="6182042" y="2741942"/>
                  </a:lnTo>
                  <a:lnTo>
                    <a:pt x="6182131" y="2749067"/>
                  </a:lnTo>
                  <a:lnTo>
                    <a:pt x="6186322" y="2791599"/>
                  </a:lnTo>
                  <a:lnTo>
                    <a:pt x="6196711" y="2833078"/>
                  </a:lnTo>
                  <a:lnTo>
                    <a:pt x="6213068" y="2872562"/>
                  </a:lnTo>
                  <a:lnTo>
                    <a:pt x="6235039" y="2909227"/>
                  </a:lnTo>
                  <a:lnTo>
                    <a:pt x="6262154" y="2942259"/>
                  </a:lnTo>
                  <a:lnTo>
                    <a:pt x="6293828" y="2970961"/>
                  </a:lnTo>
                  <a:lnTo>
                    <a:pt x="6329362" y="2994710"/>
                  </a:lnTo>
                  <a:lnTo>
                    <a:pt x="6368008" y="3012986"/>
                  </a:lnTo>
                  <a:lnTo>
                    <a:pt x="6408902" y="3025394"/>
                  </a:lnTo>
                  <a:lnTo>
                    <a:pt x="6451193" y="3031667"/>
                  </a:lnTo>
                  <a:lnTo>
                    <a:pt x="6472555" y="3032455"/>
                  </a:lnTo>
                  <a:lnTo>
                    <a:pt x="6479692" y="3032366"/>
                  </a:lnTo>
                  <a:lnTo>
                    <a:pt x="6522225" y="3028175"/>
                  </a:lnTo>
                  <a:lnTo>
                    <a:pt x="6563690" y="3017786"/>
                  </a:lnTo>
                  <a:lnTo>
                    <a:pt x="6603174" y="3001429"/>
                  </a:lnTo>
                  <a:lnTo>
                    <a:pt x="6639839" y="2979458"/>
                  </a:lnTo>
                  <a:lnTo>
                    <a:pt x="6672872" y="2952343"/>
                  </a:lnTo>
                  <a:lnTo>
                    <a:pt x="6701587" y="2920669"/>
                  </a:lnTo>
                  <a:lnTo>
                    <a:pt x="6725323" y="2885135"/>
                  </a:lnTo>
                  <a:lnTo>
                    <a:pt x="6743598" y="2846489"/>
                  </a:lnTo>
                  <a:lnTo>
                    <a:pt x="6756006" y="2805595"/>
                  </a:lnTo>
                  <a:lnTo>
                    <a:pt x="6762280" y="2763316"/>
                  </a:lnTo>
                  <a:lnTo>
                    <a:pt x="6763067" y="2741942"/>
                  </a:lnTo>
                  <a:close/>
                </a:path>
                <a:path w="11196955" h="3032759">
                  <a:moveTo>
                    <a:pt x="11196561" y="2678163"/>
                  </a:moveTo>
                  <a:lnTo>
                    <a:pt x="11193424" y="2635542"/>
                  </a:lnTo>
                  <a:lnTo>
                    <a:pt x="11184052" y="2593835"/>
                  </a:lnTo>
                  <a:lnTo>
                    <a:pt x="11168672" y="2553957"/>
                  </a:lnTo>
                  <a:lnTo>
                    <a:pt x="11147603" y="2516759"/>
                  </a:lnTo>
                  <a:lnTo>
                    <a:pt x="11121301" y="2483066"/>
                  </a:lnTo>
                  <a:lnTo>
                    <a:pt x="11090351" y="2453602"/>
                  </a:lnTo>
                  <a:lnTo>
                    <a:pt x="11055401" y="2428989"/>
                  </a:lnTo>
                  <a:lnTo>
                    <a:pt x="11017225" y="2409761"/>
                  </a:lnTo>
                  <a:lnTo>
                    <a:pt x="10976635" y="2396363"/>
                  </a:lnTo>
                  <a:lnTo>
                    <a:pt x="10934522" y="2389047"/>
                  </a:lnTo>
                  <a:lnTo>
                    <a:pt x="10906049" y="2387650"/>
                  </a:lnTo>
                  <a:lnTo>
                    <a:pt x="10898924" y="2387739"/>
                  </a:lnTo>
                  <a:lnTo>
                    <a:pt x="10856392" y="2391930"/>
                  </a:lnTo>
                  <a:lnTo>
                    <a:pt x="10814926" y="2402319"/>
                  </a:lnTo>
                  <a:lnTo>
                    <a:pt x="10775429" y="2418677"/>
                  </a:lnTo>
                  <a:lnTo>
                    <a:pt x="10738764" y="2440648"/>
                  </a:lnTo>
                  <a:lnTo>
                    <a:pt x="10705732" y="2467762"/>
                  </a:lnTo>
                  <a:lnTo>
                    <a:pt x="10677030" y="2499436"/>
                  </a:lnTo>
                  <a:lnTo>
                    <a:pt x="10653281" y="2534970"/>
                  </a:lnTo>
                  <a:lnTo>
                    <a:pt x="10635005" y="2573617"/>
                  </a:lnTo>
                  <a:lnTo>
                    <a:pt x="10622598" y="2614511"/>
                  </a:lnTo>
                  <a:lnTo>
                    <a:pt x="10616324" y="2656802"/>
                  </a:lnTo>
                  <a:lnTo>
                    <a:pt x="10615536" y="2678163"/>
                  </a:lnTo>
                  <a:lnTo>
                    <a:pt x="10615625" y="2685300"/>
                  </a:lnTo>
                  <a:lnTo>
                    <a:pt x="10619816" y="2727833"/>
                  </a:lnTo>
                  <a:lnTo>
                    <a:pt x="10630205" y="2769298"/>
                  </a:lnTo>
                  <a:lnTo>
                    <a:pt x="10646562" y="2808782"/>
                  </a:lnTo>
                  <a:lnTo>
                    <a:pt x="10668533" y="2845447"/>
                  </a:lnTo>
                  <a:lnTo>
                    <a:pt x="10695648" y="2878480"/>
                  </a:lnTo>
                  <a:lnTo>
                    <a:pt x="10727322" y="2907195"/>
                  </a:lnTo>
                  <a:lnTo>
                    <a:pt x="10762856" y="2930931"/>
                  </a:lnTo>
                  <a:lnTo>
                    <a:pt x="10801502" y="2949206"/>
                  </a:lnTo>
                  <a:lnTo>
                    <a:pt x="10842396" y="2961614"/>
                  </a:lnTo>
                  <a:lnTo>
                    <a:pt x="10884687" y="2967888"/>
                  </a:lnTo>
                  <a:lnTo>
                    <a:pt x="10906049" y="2968675"/>
                  </a:lnTo>
                  <a:lnTo>
                    <a:pt x="10913186" y="2968587"/>
                  </a:lnTo>
                  <a:lnTo>
                    <a:pt x="10955719" y="2964396"/>
                  </a:lnTo>
                  <a:lnTo>
                    <a:pt x="10997184" y="2954020"/>
                  </a:lnTo>
                  <a:lnTo>
                    <a:pt x="11036668" y="2937662"/>
                  </a:lnTo>
                  <a:lnTo>
                    <a:pt x="11073333" y="2915678"/>
                  </a:lnTo>
                  <a:lnTo>
                    <a:pt x="11106366" y="2888564"/>
                  </a:lnTo>
                  <a:lnTo>
                    <a:pt x="11135081" y="2856890"/>
                  </a:lnTo>
                  <a:lnTo>
                    <a:pt x="11158817" y="2821355"/>
                  </a:lnTo>
                  <a:lnTo>
                    <a:pt x="11177092" y="2782722"/>
                  </a:lnTo>
                  <a:lnTo>
                    <a:pt x="11189500" y="2741815"/>
                  </a:lnTo>
                  <a:lnTo>
                    <a:pt x="11195774" y="2699537"/>
                  </a:lnTo>
                  <a:lnTo>
                    <a:pt x="11196561" y="2678163"/>
                  </a:lnTo>
                  <a:close/>
                </a:path>
              </a:pathLst>
            </a:custGeom>
            <a:solidFill>
              <a:srgbClr val="6421B8"/>
            </a:solidFill>
          </p:spPr>
          <p:txBody>
            <a:bodyPr wrap="square" lIns="0" tIns="0" rIns="0" bIns="0" rtlCol="0"/>
            <a:lstStyle/>
            <a:p>
              <a:endParaRPr sz="700"/>
            </a:p>
          </p:txBody>
        </p:sp>
        <p:sp>
          <p:nvSpPr>
            <p:cNvPr id="9" name="object 9"/>
            <p:cNvSpPr/>
            <p:nvPr/>
          </p:nvSpPr>
          <p:spPr>
            <a:xfrm>
              <a:off x="4175619" y="1040685"/>
              <a:ext cx="9928225" cy="85725"/>
            </a:xfrm>
            <a:custGeom>
              <a:avLst/>
              <a:gdLst/>
              <a:ahLst/>
              <a:cxnLst/>
              <a:rect l="l" t="t" r="r" b="b"/>
              <a:pathLst>
                <a:path w="9928225" h="85725">
                  <a:moveTo>
                    <a:pt x="9928025" y="85724"/>
                  </a:moveTo>
                  <a:lnTo>
                    <a:pt x="0" y="85724"/>
                  </a:lnTo>
                  <a:lnTo>
                    <a:pt x="0" y="0"/>
                  </a:lnTo>
                  <a:lnTo>
                    <a:pt x="9928025" y="0"/>
                  </a:lnTo>
                  <a:lnTo>
                    <a:pt x="9928025" y="85724"/>
                  </a:lnTo>
                  <a:close/>
                </a:path>
              </a:pathLst>
            </a:custGeom>
            <a:solidFill>
              <a:srgbClr val="FFFFFF"/>
            </a:solidFill>
          </p:spPr>
          <p:txBody>
            <a:bodyPr wrap="square" lIns="0" tIns="0" rIns="0" bIns="0" rtlCol="0"/>
            <a:lstStyle/>
            <a:p>
              <a:endParaRPr sz="700"/>
            </a:p>
          </p:txBody>
        </p:sp>
      </p:grpSp>
      <p:sp>
        <p:nvSpPr>
          <p:cNvPr id="10" name="object 10"/>
          <p:cNvSpPr txBox="1">
            <a:spLocks noGrp="1"/>
          </p:cNvSpPr>
          <p:nvPr>
            <p:ph type="title"/>
          </p:nvPr>
        </p:nvSpPr>
        <p:spPr>
          <a:xfrm>
            <a:off x="155850" y="222513"/>
            <a:ext cx="4260300" cy="1701594"/>
          </a:xfrm>
          <a:prstGeom prst="rect">
            <a:avLst/>
          </a:prstGeom>
        </p:spPr>
        <p:txBody>
          <a:bodyPr spcFirstLastPara="1" vert="horz" wrap="square" lIns="0" tIns="117958" rIns="0" bIns="0" rtlCol="0" anchor="t" anchorCtr="0">
            <a:spAutoFit/>
          </a:bodyPr>
          <a:lstStyle/>
          <a:p>
            <a:pPr marL="1805940">
              <a:spcBef>
                <a:spcPts val="50"/>
              </a:spcBef>
            </a:pPr>
            <a:r>
              <a:rPr sz="3400" dirty="0">
                <a:solidFill>
                  <a:srgbClr val="FFFFFF"/>
                </a:solidFill>
              </a:rPr>
              <a:t>AWS</a:t>
            </a:r>
            <a:r>
              <a:rPr sz="3400" spc="-180" dirty="0">
                <a:solidFill>
                  <a:srgbClr val="FFFFFF"/>
                </a:solidFill>
              </a:rPr>
              <a:t> </a:t>
            </a:r>
            <a:r>
              <a:rPr sz="3400" spc="-20" dirty="0">
                <a:solidFill>
                  <a:srgbClr val="FFFFFF"/>
                </a:solidFill>
              </a:rPr>
              <a:t>Global</a:t>
            </a:r>
            <a:r>
              <a:rPr sz="3400" spc="-178" dirty="0">
                <a:solidFill>
                  <a:srgbClr val="FFFFFF"/>
                </a:solidFill>
              </a:rPr>
              <a:t> </a:t>
            </a:r>
            <a:r>
              <a:rPr sz="3400" spc="-25" dirty="0">
                <a:solidFill>
                  <a:srgbClr val="FFFFFF"/>
                </a:solidFill>
              </a:rPr>
              <a:t>Infrastructure</a:t>
            </a:r>
            <a:endParaRPr sz="3400" dirty="0"/>
          </a:p>
        </p:txBody>
      </p:sp>
      <p:sp>
        <p:nvSpPr>
          <p:cNvPr id="11" name="object 11"/>
          <p:cNvSpPr txBox="1"/>
          <p:nvPr/>
        </p:nvSpPr>
        <p:spPr>
          <a:xfrm>
            <a:off x="2108128" y="714734"/>
            <a:ext cx="4927918" cy="283411"/>
          </a:xfrm>
          <a:prstGeom prst="rect">
            <a:avLst/>
          </a:prstGeom>
        </p:spPr>
        <p:txBody>
          <a:bodyPr vert="horz" wrap="square" lIns="0" tIns="6350" rIns="0" bIns="0" rtlCol="0">
            <a:spAutoFit/>
          </a:bodyPr>
          <a:lstStyle/>
          <a:p>
            <a:pPr marL="6350">
              <a:spcBef>
                <a:spcPts val="50"/>
              </a:spcBef>
            </a:pPr>
            <a:r>
              <a:rPr sz="900" dirty="0">
                <a:solidFill>
                  <a:srgbClr val="FFFFFF"/>
                </a:solidFill>
                <a:latin typeface="Roboto"/>
                <a:cs typeface="Roboto"/>
              </a:rPr>
              <a:t>The</a:t>
            </a:r>
            <a:r>
              <a:rPr sz="900" spc="113" dirty="0">
                <a:solidFill>
                  <a:srgbClr val="FFFFFF"/>
                </a:solidFill>
                <a:latin typeface="Roboto"/>
                <a:cs typeface="Roboto"/>
              </a:rPr>
              <a:t> </a:t>
            </a:r>
            <a:r>
              <a:rPr sz="900" dirty="0">
                <a:solidFill>
                  <a:srgbClr val="FFFFFF"/>
                </a:solidFill>
                <a:latin typeface="Roboto"/>
                <a:cs typeface="Roboto"/>
              </a:rPr>
              <a:t>Most</a:t>
            </a:r>
            <a:r>
              <a:rPr sz="900" spc="113" dirty="0">
                <a:solidFill>
                  <a:srgbClr val="FFFFFF"/>
                </a:solidFill>
                <a:latin typeface="Roboto"/>
                <a:cs typeface="Roboto"/>
              </a:rPr>
              <a:t> </a:t>
            </a:r>
            <a:r>
              <a:rPr sz="900" dirty="0">
                <a:solidFill>
                  <a:srgbClr val="FFFFFF"/>
                </a:solidFill>
                <a:latin typeface="Roboto"/>
                <a:cs typeface="Roboto"/>
              </a:rPr>
              <a:t>Secure,</a:t>
            </a:r>
            <a:r>
              <a:rPr sz="900" spc="115" dirty="0">
                <a:solidFill>
                  <a:srgbClr val="FFFFFF"/>
                </a:solidFill>
                <a:latin typeface="Roboto"/>
                <a:cs typeface="Roboto"/>
              </a:rPr>
              <a:t> </a:t>
            </a:r>
            <a:r>
              <a:rPr sz="900" dirty="0">
                <a:solidFill>
                  <a:srgbClr val="FFFFFF"/>
                </a:solidFill>
                <a:latin typeface="Roboto"/>
                <a:cs typeface="Roboto"/>
              </a:rPr>
              <a:t>Extensive,</a:t>
            </a:r>
            <a:r>
              <a:rPr sz="900" spc="113" dirty="0">
                <a:solidFill>
                  <a:srgbClr val="FFFFFF"/>
                </a:solidFill>
                <a:latin typeface="Roboto"/>
                <a:cs typeface="Roboto"/>
              </a:rPr>
              <a:t> </a:t>
            </a:r>
            <a:r>
              <a:rPr sz="900" dirty="0">
                <a:solidFill>
                  <a:srgbClr val="FFFFFF"/>
                </a:solidFill>
                <a:latin typeface="Roboto"/>
                <a:cs typeface="Roboto"/>
              </a:rPr>
              <a:t>and</a:t>
            </a:r>
            <a:r>
              <a:rPr sz="900" spc="115" dirty="0">
                <a:solidFill>
                  <a:srgbClr val="FFFFFF"/>
                </a:solidFill>
                <a:latin typeface="Roboto"/>
                <a:cs typeface="Roboto"/>
              </a:rPr>
              <a:t> </a:t>
            </a:r>
            <a:r>
              <a:rPr sz="900" dirty="0">
                <a:solidFill>
                  <a:srgbClr val="FFFFFF"/>
                </a:solidFill>
                <a:latin typeface="Roboto"/>
                <a:cs typeface="Roboto"/>
              </a:rPr>
              <a:t>Reliable</a:t>
            </a:r>
            <a:r>
              <a:rPr sz="900" spc="113" dirty="0">
                <a:solidFill>
                  <a:srgbClr val="FFFFFF"/>
                </a:solidFill>
                <a:latin typeface="Roboto"/>
                <a:cs typeface="Roboto"/>
              </a:rPr>
              <a:t> </a:t>
            </a:r>
            <a:r>
              <a:rPr sz="900" dirty="0">
                <a:solidFill>
                  <a:srgbClr val="FFFFFF"/>
                </a:solidFill>
                <a:latin typeface="Roboto"/>
                <a:cs typeface="Roboto"/>
              </a:rPr>
              <a:t>Global</a:t>
            </a:r>
            <a:r>
              <a:rPr sz="900" spc="115" dirty="0">
                <a:solidFill>
                  <a:srgbClr val="FFFFFF"/>
                </a:solidFill>
                <a:latin typeface="Roboto"/>
                <a:cs typeface="Roboto"/>
              </a:rPr>
              <a:t> </a:t>
            </a:r>
            <a:r>
              <a:rPr sz="900" dirty="0">
                <a:solidFill>
                  <a:srgbClr val="FFFFFF"/>
                </a:solidFill>
                <a:latin typeface="Roboto"/>
                <a:cs typeface="Roboto"/>
              </a:rPr>
              <a:t>Cloud</a:t>
            </a:r>
            <a:r>
              <a:rPr sz="900" spc="113" dirty="0">
                <a:solidFill>
                  <a:srgbClr val="FFFFFF"/>
                </a:solidFill>
                <a:latin typeface="Roboto"/>
                <a:cs typeface="Roboto"/>
              </a:rPr>
              <a:t> </a:t>
            </a:r>
            <a:r>
              <a:rPr sz="900" dirty="0">
                <a:solidFill>
                  <a:srgbClr val="FFFFFF"/>
                </a:solidFill>
                <a:latin typeface="Roboto"/>
                <a:cs typeface="Roboto"/>
              </a:rPr>
              <a:t>Infrastructure,</a:t>
            </a:r>
            <a:r>
              <a:rPr sz="900" spc="115" dirty="0">
                <a:solidFill>
                  <a:srgbClr val="FFFFFF"/>
                </a:solidFill>
                <a:latin typeface="Roboto"/>
                <a:cs typeface="Roboto"/>
              </a:rPr>
              <a:t> </a:t>
            </a:r>
            <a:r>
              <a:rPr sz="900" dirty="0">
                <a:solidFill>
                  <a:srgbClr val="FFFFFF"/>
                </a:solidFill>
                <a:latin typeface="Roboto"/>
                <a:cs typeface="Roboto"/>
              </a:rPr>
              <a:t>for</a:t>
            </a:r>
            <a:r>
              <a:rPr sz="900" spc="113" dirty="0">
                <a:solidFill>
                  <a:srgbClr val="FFFFFF"/>
                </a:solidFill>
                <a:latin typeface="Roboto"/>
                <a:cs typeface="Roboto"/>
              </a:rPr>
              <a:t> </a:t>
            </a:r>
            <a:r>
              <a:rPr sz="900" dirty="0">
                <a:solidFill>
                  <a:srgbClr val="FFFFFF"/>
                </a:solidFill>
                <a:latin typeface="Roboto"/>
                <a:cs typeface="Roboto"/>
              </a:rPr>
              <a:t>all</a:t>
            </a:r>
            <a:r>
              <a:rPr sz="900" spc="115" dirty="0">
                <a:solidFill>
                  <a:srgbClr val="FFFFFF"/>
                </a:solidFill>
                <a:latin typeface="Roboto"/>
                <a:cs typeface="Roboto"/>
              </a:rPr>
              <a:t> </a:t>
            </a:r>
            <a:r>
              <a:rPr sz="900" dirty="0">
                <a:solidFill>
                  <a:srgbClr val="FFFFFF"/>
                </a:solidFill>
                <a:latin typeface="Roboto"/>
                <a:cs typeface="Roboto"/>
              </a:rPr>
              <a:t>your</a:t>
            </a:r>
            <a:r>
              <a:rPr sz="900" spc="113" dirty="0">
                <a:solidFill>
                  <a:srgbClr val="FFFFFF"/>
                </a:solidFill>
                <a:latin typeface="Roboto"/>
                <a:cs typeface="Roboto"/>
              </a:rPr>
              <a:t> </a:t>
            </a:r>
            <a:r>
              <a:rPr sz="900" spc="-5" dirty="0">
                <a:solidFill>
                  <a:srgbClr val="FFFFFF"/>
                </a:solidFill>
                <a:latin typeface="Roboto"/>
                <a:cs typeface="Roboto"/>
              </a:rPr>
              <a:t>applications</a:t>
            </a:r>
            <a:endParaRPr sz="900">
              <a:latin typeface="Roboto"/>
              <a:cs typeface="Roboto"/>
            </a:endParaRPr>
          </a:p>
        </p:txBody>
      </p:sp>
      <p:sp>
        <p:nvSpPr>
          <p:cNvPr id="12" name="object 12"/>
          <p:cNvSpPr txBox="1"/>
          <p:nvPr/>
        </p:nvSpPr>
        <p:spPr>
          <a:xfrm>
            <a:off x="393941" y="3063680"/>
            <a:ext cx="2057083" cy="914353"/>
          </a:xfrm>
          <a:prstGeom prst="rect">
            <a:avLst/>
          </a:prstGeom>
        </p:spPr>
        <p:txBody>
          <a:bodyPr vert="horz" wrap="square" lIns="0" tIns="6350" rIns="0" bIns="0" rtlCol="0">
            <a:spAutoFit/>
          </a:bodyPr>
          <a:lstStyle/>
          <a:p>
            <a:pPr marL="55880">
              <a:spcBef>
                <a:spcPts val="50"/>
              </a:spcBef>
            </a:pPr>
            <a:r>
              <a:rPr sz="1525" b="1" dirty="0">
                <a:solidFill>
                  <a:srgbClr val="13110E"/>
                </a:solidFill>
                <a:latin typeface="Roboto"/>
                <a:cs typeface="Roboto"/>
              </a:rPr>
              <a:t>25</a:t>
            </a:r>
            <a:r>
              <a:rPr sz="1525" b="1" spc="140" dirty="0">
                <a:solidFill>
                  <a:srgbClr val="13110E"/>
                </a:solidFill>
                <a:latin typeface="Roboto"/>
                <a:cs typeface="Roboto"/>
              </a:rPr>
              <a:t> </a:t>
            </a:r>
            <a:r>
              <a:rPr sz="1525" b="1" dirty="0">
                <a:solidFill>
                  <a:srgbClr val="13110E"/>
                </a:solidFill>
                <a:latin typeface="Roboto"/>
                <a:cs typeface="Roboto"/>
              </a:rPr>
              <a:t>Launched</a:t>
            </a:r>
            <a:r>
              <a:rPr sz="1525" b="1" spc="153" dirty="0">
                <a:solidFill>
                  <a:srgbClr val="13110E"/>
                </a:solidFill>
                <a:latin typeface="Roboto"/>
                <a:cs typeface="Roboto"/>
              </a:rPr>
              <a:t> </a:t>
            </a:r>
            <a:r>
              <a:rPr sz="1525" b="1" spc="-5" dirty="0">
                <a:solidFill>
                  <a:srgbClr val="13110E"/>
                </a:solidFill>
                <a:latin typeface="Roboto"/>
                <a:cs typeface="Roboto"/>
              </a:rPr>
              <a:t>Regions</a:t>
            </a:r>
            <a:endParaRPr sz="1525">
              <a:latin typeface="Roboto"/>
              <a:cs typeface="Roboto"/>
            </a:endParaRPr>
          </a:p>
          <a:p>
            <a:pPr marL="6350">
              <a:spcBef>
                <a:spcPts val="1350"/>
              </a:spcBef>
            </a:pPr>
            <a:r>
              <a:rPr sz="800" dirty="0">
                <a:solidFill>
                  <a:srgbClr val="13110E"/>
                </a:solidFill>
                <a:latin typeface="Roboto"/>
                <a:cs typeface="Roboto"/>
              </a:rPr>
              <a:t>Each</a:t>
            </a:r>
            <a:r>
              <a:rPr sz="800" spc="123" dirty="0">
                <a:solidFill>
                  <a:srgbClr val="13110E"/>
                </a:solidFill>
                <a:latin typeface="Roboto"/>
                <a:cs typeface="Roboto"/>
              </a:rPr>
              <a:t> </a:t>
            </a:r>
            <a:r>
              <a:rPr sz="800" dirty="0">
                <a:solidFill>
                  <a:srgbClr val="13110E"/>
                </a:solidFill>
                <a:latin typeface="Roboto"/>
                <a:cs typeface="Roboto"/>
              </a:rPr>
              <a:t>with</a:t>
            </a:r>
            <a:r>
              <a:rPr sz="800" spc="123" dirty="0">
                <a:solidFill>
                  <a:srgbClr val="13110E"/>
                </a:solidFill>
                <a:latin typeface="Roboto"/>
                <a:cs typeface="Roboto"/>
              </a:rPr>
              <a:t> </a:t>
            </a:r>
            <a:r>
              <a:rPr sz="800" dirty="0">
                <a:solidFill>
                  <a:srgbClr val="13110E"/>
                </a:solidFill>
                <a:latin typeface="Roboto"/>
                <a:cs typeface="Roboto"/>
              </a:rPr>
              <a:t>multiple</a:t>
            </a:r>
            <a:r>
              <a:rPr sz="800" spc="123" dirty="0">
                <a:solidFill>
                  <a:srgbClr val="13110E"/>
                </a:solidFill>
                <a:latin typeface="Roboto"/>
                <a:cs typeface="Roboto"/>
              </a:rPr>
              <a:t> </a:t>
            </a:r>
            <a:r>
              <a:rPr sz="800" dirty="0">
                <a:solidFill>
                  <a:srgbClr val="13110E"/>
                </a:solidFill>
                <a:latin typeface="Roboto"/>
                <a:cs typeface="Roboto"/>
              </a:rPr>
              <a:t>Availability</a:t>
            </a:r>
            <a:r>
              <a:rPr sz="800" spc="123" dirty="0">
                <a:solidFill>
                  <a:srgbClr val="13110E"/>
                </a:solidFill>
                <a:latin typeface="Roboto"/>
                <a:cs typeface="Roboto"/>
              </a:rPr>
              <a:t> </a:t>
            </a:r>
            <a:r>
              <a:rPr sz="800" dirty="0">
                <a:solidFill>
                  <a:srgbClr val="13110E"/>
                </a:solidFill>
                <a:latin typeface="Roboto"/>
                <a:cs typeface="Roboto"/>
              </a:rPr>
              <a:t>Zones</a:t>
            </a:r>
            <a:r>
              <a:rPr sz="800" spc="123" dirty="0">
                <a:solidFill>
                  <a:srgbClr val="13110E"/>
                </a:solidFill>
                <a:latin typeface="Roboto"/>
                <a:cs typeface="Roboto"/>
              </a:rPr>
              <a:t> </a:t>
            </a:r>
            <a:r>
              <a:rPr sz="800" spc="-5" dirty="0">
                <a:solidFill>
                  <a:srgbClr val="13110E"/>
                </a:solidFill>
                <a:latin typeface="Roboto"/>
                <a:cs typeface="Roboto"/>
              </a:rPr>
              <a:t>(AZ’s)</a:t>
            </a:r>
            <a:endParaRPr sz="800">
              <a:latin typeface="Roboto"/>
              <a:cs typeface="Roboto"/>
            </a:endParaRPr>
          </a:p>
          <a:p>
            <a:pPr marR="193675" algn="ctr">
              <a:spcBef>
                <a:spcPts val="660"/>
              </a:spcBef>
            </a:pPr>
            <a:r>
              <a:rPr sz="1025" b="1" dirty="0">
                <a:latin typeface="Open Sans"/>
                <a:cs typeface="Open Sans"/>
              </a:rPr>
              <a:t>81</a:t>
            </a:r>
            <a:r>
              <a:rPr sz="1025" b="1" spc="13" dirty="0">
                <a:latin typeface="Open Sans"/>
                <a:cs typeface="Open Sans"/>
              </a:rPr>
              <a:t> </a:t>
            </a:r>
            <a:r>
              <a:rPr sz="1025" b="1" dirty="0">
                <a:latin typeface="Open Sans"/>
                <a:cs typeface="Open Sans"/>
              </a:rPr>
              <a:t>Availability</a:t>
            </a:r>
            <a:r>
              <a:rPr sz="1025" b="1" spc="13" dirty="0">
                <a:latin typeface="Open Sans"/>
                <a:cs typeface="Open Sans"/>
              </a:rPr>
              <a:t> </a:t>
            </a:r>
            <a:r>
              <a:rPr sz="1025" b="1" spc="-10" dirty="0">
                <a:latin typeface="Open Sans"/>
                <a:cs typeface="Open Sans"/>
              </a:rPr>
              <a:t>Zones</a:t>
            </a:r>
            <a:endParaRPr sz="1025">
              <a:latin typeface="Open Sans"/>
              <a:cs typeface="Open Sans"/>
            </a:endParaRPr>
          </a:p>
        </p:txBody>
      </p:sp>
      <p:sp>
        <p:nvSpPr>
          <p:cNvPr id="13" name="object 13"/>
          <p:cNvSpPr txBox="1"/>
          <p:nvPr/>
        </p:nvSpPr>
        <p:spPr>
          <a:xfrm>
            <a:off x="3706860" y="4173576"/>
            <a:ext cx="1676400" cy="707886"/>
          </a:xfrm>
          <a:prstGeom prst="rect">
            <a:avLst/>
          </a:prstGeom>
        </p:spPr>
        <p:txBody>
          <a:bodyPr vert="horz" wrap="square" lIns="0" tIns="6350" rIns="0" bIns="0" rtlCol="0">
            <a:spAutoFit/>
          </a:bodyPr>
          <a:lstStyle/>
          <a:p>
            <a:pPr marR="59055" algn="ctr">
              <a:spcBef>
                <a:spcPts val="50"/>
              </a:spcBef>
            </a:pPr>
            <a:r>
              <a:rPr sz="1200" b="1" dirty="0">
                <a:solidFill>
                  <a:srgbClr val="13110E"/>
                </a:solidFill>
                <a:latin typeface="Roboto"/>
                <a:cs typeface="Roboto"/>
              </a:rPr>
              <a:t>5</a:t>
            </a:r>
            <a:r>
              <a:rPr sz="1200" b="1" spc="80" dirty="0">
                <a:solidFill>
                  <a:srgbClr val="13110E"/>
                </a:solidFill>
                <a:latin typeface="Roboto"/>
                <a:cs typeface="Roboto"/>
              </a:rPr>
              <a:t> </a:t>
            </a:r>
            <a:r>
              <a:rPr sz="1200" b="1" dirty="0">
                <a:solidFill>
                  <a:srgbClr val="13110E"/>
                </a:solidFill>
                <a:latin typeface="Roboto"/>
                <a:cs typeface="Roboto"/>
              </a:rPr>
              <a:t>Local</a:t>
            </a:r>
            <a:r>
              <a:rPr sz="1200" b="1" spc="80" dirty="0">
                <a:solidFill>
                  <a:srgbClr val="13110E"/>
                </a:solidFill>
                <a:latin typeface="Roboto"/>
                <a:cs typeface="Roboto"/>
              </a:rPr>
              <a:t> </a:t>
            </a:r>
            <a:r>
              <a:rPr sz="1200" b="1" spc="-10" dirty="0">
                <a:solidFill>
                  <a:srgbClr val="13110E"/>
                </a:solidFill>
                <a:latin typeface="Roboto"/>
                <a:cs typeface="Roboto"/>
              </a:rPr>
              <a:t>Zones</a:t>
            </a:r>
            <a:endParaRPr sz="1200">
              <a:latin typeface="Roboto"/>
              <a:cs typeface="Roboto"/>
            </a:endParaRPr>
          </a:p>
          <a:p>
            <a:pPr marR="59055" algn="ctr">
              <a:spcBef>
                <a:spcPts val="1018"/>
              </a:spcBef>
            </a:pPr>
            <a:r>
              <a:rPr sz="1250" b="1" dirty="0">
                <a:solidFill>
                  <a:srgbClr val="13110E"/>
                </a:solidFill>
                <a:latin typeface="Roboto"/>
                <a:cs typeface="Roboto"/>
              </a:rPr>
              <a:t>14</a:t>
            </a:r>
            <a:r>
              <a:rPr sz="1250" b="1" spc="143" dirty="0">
                <a:solidFill>
                  <a:srgbClr val="13110E"/>
                </a:solidFill>
                <a:latin typeface="Roboto"/>
                <a:cs typeface="Roboto"/>
              </a:rPr>
              <a:t> </a:t>
            </a:r>
            <a:r>
              <a:rPr sz="1250" b="1" dirty="0">
                <a:solidFill>
                  <a:srgbClr val="13110E"/>
                </a:solidFill>
                <a:latin typeface="Roboto"/>
                <a:cs typeface="Roboto"/>
              </a:rPr>
              <a:t>Wavelength</a:t>
            </a:r>
            <a:r>
              <a:rPr sz="1250" b="1" spc="145" dirty="0">
                <a:solidFill>
                  <a:srgbClr val="13110E"/>
                </a:solidFill>
                <a:latin typeface="Roboto"/>
                <a:cs typeface="Roboto"/>
              </a:rPr>
              <a:t> </a:t>
            </a:r>
            <a:r>
              <a:rPr sz="1250" b="1" spc="-10" dirty="0">
                <a:solidFill>
                  <a:srgbClr val="13110E"/>
                </a:solidFill>
                <a:latin typeface="Roboto"/>
                <a:cs typeface="Roboto"/>
              </a:rPr>
              <a:t>Zones</a:t>
            </a:r>
            <a:endParaRPr sz="1250">
              <a:latin typeface="Roboto"/>
              <a:cs typeface="Roboto"/>
            </a:endParaRPr>
          </a:p>
          <a:p>
            <a:pPr marL="60325">
              <a:spcBef>
                <a:spcPts val="633"/>
              </a:spcBef>
            </a:pPr>
            <a:r>
              <a:rPr sz="775" b="1" dirty="0">
                <a:latin typeface="Open Sans"/>
                <a:cs typeface="Open Sans"/>
              </a:rPr>
              <a:t>For</a:t>
            </a:r>
            <a:r>
              <a:rPr sz="775" b="1" spc="-35" dirty="0">
                <a:latin typeface="Open Sans"/>
                <a:cs typeface="Open Sans"/>
              </a:rPr>
              <a:t> </a:t>
            </a:r>
            <a:r>
              <a:rPr sz="775" b="1" dirty="0">
                <a:latin typeface="Open Sans"/>
                <a:cs typeface="Open Sans"/>
              </a:rPr>
              <a:t>ultralow</a:t>
            </a:r>
            <a:r>
              <a:rPr sz="775" b="1" spc="-33" dirty="0">
                <a:latin typeface="Open Sans"/>
                <a:cs typeface="Open Sans"/>
              </a:rPr>
              <a:t> </a:t>
            </a:r>
            <a:r>
              <a:rPr sz="775" b="1" dirty="0">
                <a:latin typeface="Open Sans"/>
                <a:cs typeface="Open Sans"/>
              </a:rPr>
              <a:t>latency</a:t>
            </a:r>
            <a:r>
              <a:rPr sz="775" b="1" spc="-33" dirty="0">
                <a:latin typeface="Open Sans"/>
                <a:cs typeface="Open Sans"/>
              </a:rPr>
              <a:t> </a:t>
            </a:r>
            <a:r>
              <a:rPr sz="775" b="1" spc="-5" dirty="0">
                <a:latin typeface="Open Sans"/>
                <a:cs typeface="Open Sans"/>
              </a:rPr>
              <a:t>applications</a:t>
            </a:r>
            <a:endParaRPr sz="775">
              <a:latin typeface="Open Sans"/>
              <a:cs typeface="Open Sans"/>
            </a:endParaRPr>
          </a:p>
        </p:txBody>
      </p:sp>
      <p:sp>
        <p:nvSpPr>
          <p:cNvPr id="14" name="object 14"/>
          <p:cNvSpPr txBox="1"/>
          <p:nvPr/>
        </p:nvSpPr>
        <p:spPr>
          <a:xfrm>
            <a:off x="8173736" y="56323"/>
            <a:ext cx="911860" cy="138499"/>
          </a:xfrm>
          <a:prstGeom prst="rect">
            <a:avLst/>
          </a:prstGeom>
        </p:spPr>
        <p:txBody>
          <a:bodyPr vert="horz" wrap="square" lIns="0" tIns="7620" rIns="0" bIns="0" rtlCol="0">
            <a:spAutoFit/>
          </a:bodyPr>
          <a:lstStyle/>
          <a:p>
            <a:pPr marL="6350">
              <a:spcBef>
                <a:spcPts val="60"/>
              </a:spcBef>
            </a:pPr>
            <a:r>
              <a:rPr sz="850" dirty="0">
                <a:solidFill>
                  <a:srgbClr val="13110E"/>
                </a:solidFill>
                <a:latin typeface="Open Sans Light"/>
                <a:cs typeface="Open Sans Light"/>
              </a:rPr>
              <a:t>Learn</a:t>
            </a:r>
            <a:r>
              <a:rPr sz="850" spc="15" dirty="0">
                <a:solidFill>
                  <a:srgbClr val="13110E"/>
                </a:solidFill>
                <a:latin typeface="Open Sans Light"/>
                <a:cs typeface="Open Sans Light"/>
              </a:rPr>
              <a:t> </a:t>
            </a:r>
            <a:r>
              <a:rPr sz="850" dirty="0">
                <a:solidFill>
                  <a:srgbClr val="13110E"/>
                </a:solidFill>
                <a:latin typeface="Open Sans Light"/>
                <a:cs typeface="Open Sans Light"/>
              </a:rPr>
              <a:t>With</a:t>
            </a:r>
            <a:r>
              <a:rPr sz="850" spc="15" dirty="0">
                <a:solidFill>
                  <a:srgbClr val="13110E"/>
                </a:solidFill>
                <a:latin typeface="Open Sans Light"/>
                <a:cs typeface="Open Sans Light"/>
              </a:rPr>
              <a:t> </a:t>
            </a:r>
            <a:r>
              <a:rPr sz="850" spc="-5" dirty="0">
                <a:solidFill>
                  <a:srgbClr val="13110E"/>
                </a:solidFill>
                <a:latin typeface="Open Sans Light"/>
                <a:cs typeface="Open Sans Light"/>
              </a:rPr>
              <a:t>Sandip</a:t>
            </a:r>
            <a:endParaRPr sz="850">
              <a:latin typeface="Open Sans Light"/>
              <a:cs typeface="Open Sans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10848" y="695158"/>
            <a:ext cx="4652963" cy="2638425"/>
            <a:chOff x="421695" y="1390316"/>
            <a:chExt cx="9305925" cy="5276850"/>
          </a:xfrm>
        </p:grpSpPr>
        <p:pic>
          <p:nvPicPr>
            <p:cNvPr id="3" name="object 3"/>
            <p:cNvPicPr/>
            <p:nvPr/>
          </p:nvPicPr>
          <p:blipFill>
            <a:blip r:embed="rId2" cstate="print"/>
            <a:stretch>
              <a:fillRect/>
            </a:stretch>
          </p:blipFill>
          <p:spPr>
            <a:xfrm>
              <a:off x="421695" y="1390316"/>
              <a:ext cx="9305924" cy="5276849"/>
            </a:xfrm>
            <a:prstGeom prst="rect">
              <a:avLst/>
            </a:prstGeom>
          </p:spPr>
        </p:pic>
        <p:pic>
          <p:nvPicPr>
            <p:cNvPr id="4" name="object 4"/>
            <p:cNvPicPr/>
            <p:nvPr/>
          </p:nvPicPr>
          <p:blipFill>
            <a:blip r:embed="rId3" cstate="print"/>
            <a:stretch>
              <a:fillRect/>
            </a:stretch>
          </p:blipFill>
          <p:spPr>
            <a:xfrm>
              <a:off x="421695" y="1390317"/>
              <a:ext cx="9305924" cy="5276849"/>
            </a:xfrm>
            <a:prstGeom prst="rect">
              <a:avLst/>
            </a:prstGeom>
          </p:spPr>
        </p:pic>
      </p:grpSp>
      <p:sp>
        <p:nvSpPr>
          <p:cNvPr id="5" name="object 5"/>
          <p:cNvSpPr txBox="1">
            <a:spLocks noGrp="1"/>
          </p:cNvSpPr>
          <p:nvPr>
            <p:ph type="title"/>
          </p:nvPr>
        </p:nvSpPr>
        <p:spPr>
          <a:xfrm>
            <a:off x="5084461" y="259856"/>
            <a:ext cx="3089275" cy="1600053"/>
          </a:xfrm>
          <a:prstGeom prst="rect">
            <a:avLst/>
          </a:prstGeom>
        </p:spPr>
        <p:txBody>
          <a:bodyPr spcFirstLastPara="1" vert="horz" wrap="square" lIns="0" tIns="6350" rIns="0" bIns="0" rtlCol="0" anchor="t" anchorCtr="0">
            <a:spAutoFit/>
          </a:bodyPr>
          <a:lstStyle/>
          <a:p>
            <a:pPr marL="6350" marR="2540">
              <a:lnSpc>
                <a:spcPct val="107400"/>
              </a:lnSpc>
              <a:spcBef>
                <a:spcPts val="50"/>
              </a:spcBef>
            </a:pPr>
            <a:r>
              <a:rPr sz="3200" b="0" dirty="0">
                <a:solidFill>
                  <a:srgbClr val="13110E"/>
                </a:solidFill>
              </a:rPr>
              <a:t>What</a:t>
            </a:r>
            <a:r>
              <a:rPr sz="3200" b="0" spc="-150" dirty="0">
                <a:solidFill>
                  <a:srgbClr val="13110E"/>
                </a:solidFill>
              </a:rPr>
              <a:t> </a:t>
            </a:r>
            <a:r>
              <a:rPr sz="3200" b="0" dirty="0">
                <a:solidFill>
                  <a:srgbClr val="13110E"/>
                </a:solidFill>
              </a:rPr>
              <a:t>is</a:t>
            </a:r>
            <a:r>
              <a:rPr sz="3200" b="0" spc="-150" dirty="0">
                <a:solidFill>
                  <a:srgbClr val="13110E"/>
                </a:solidFill>
              </a:rPr>
              <a:t> </a:t>
            </a:r>
            <a:r>
              <a:rPr sz="3200" b="0" spc="-13" dirty="0">
                <a:solidFill>
                  <a:srgbClr val="13110E"/>
                </a:solidFill>
              </a:rPr>
              <a:t>Region</a:t>
            </a:r>
            <a:r>
              <a:rPr sz="3200" b="0" spc="-150" dirty="0">
                <a:solidFill>
                  <a:srgbClr val="13110E"/>
                </a:solidFill>
              </a:rPr>
              <a:t> </a:t>
            </a:r>
            <a:r>
              <a:rPr sz="3200" b="0" spc="-25" dirty="0">
                <a:solidFill>
                  <a:srgbClr val="13110E"/>
                </a:solidFill>
              </a:rPr>
              <a:t>&amp; </a:t>
            </a:r>
            <a:r>
              <a:rPr sz="3200" b="0" spc="-23" dirty="0">
                <a:solidFill>
                  <a:srgbClr val="13110E"/>
                </a:solidFill>
              </a:rPr>
              <a:t>Avilability</a:t>
            </a:r>
            <a:r>
              <a:rPr sz="3200" b="0" spc="-160" dirty="0">
                <a:solidFill>
                  <a:srgbClr val="13110E"/>
                </a:solidFill>
              </a:rPr>
              <a:t> </a:t>
            </a:r>
            <a:r>
              <a:rPr sz="3200" b="0" spc="-30" dirty="0">
                <a:solidFill>
                  <a:srgbClr val="13110E"/>
                </a:solidFill>
              </a:rPr>
              <a:t>Zones?</a:t>
            </a:r>
            <a:endParaRPr sz="3200" dirty="0"/>
          </a:p>
        </p:txBody>
      </p:sp>
      <p:sp>
        <p:nvSpPr>
          <p:cNvPr id="6" name="object 6"/>
          <p:cNvSpPr txBox="1"/>
          <p:nvPr/>
        </p:nvSpPr>
        <p:spPr>
          <a:xfrm>
            <a:off x="5089998" y="1832081"/>
            <a:ext cx="3198495" cy="1605055"/>
          </a:xfrm>
          <a:prstGeom prst="rect">
            <a:avLst/>
          </a:prstGeom>
        </p:spPr>
        <p:txBody>
          <a:bodyPr vert="horz" wrap="square" lIns="0" tIns="6350" rIns="0" bIns="0" rtlCol="0">
            <a:spAutoFit/>
          </a:bodyPr>
          <a:lstStyle/>
          <a:p>
            <a:pPr marL="6350" marR="2540">
              <a:lnSpc>
                <a:spcPct val="107100"/>
              </a:lnSpc>
              <a:spcBef>
                <a:spcPts val="50"/>
              </a:spcBef>
            </a:pPr>
            <a:r>
              <a:rPr dirty="0">
                <a:solidFill>
                  <a:srgbClr val="13110E"/>
                </a:solidFill>
                <a:latin typeface="Roboto"/>
                <a:cs typeface="Roboto"/>
              </a:rPr>
              <a:t>AWS</a:t>
            </a:r>
            <a:r>
              <a:rPr spc="98" dirty="0">
                <a:solidFill>
                  <a:srgbClr val="13110E"/>
                </a:solidFill>
                <a:latin typeface="Roboto"/>
                <a:cs typeface="Roboto"/>
              </a:rPr>
              <a:t> </a:t>
            </a:r>
            <a:r>
              <a:rPr dirty="0">
                <a:solidFill>
                  <a:srgbClr val="13110E"/>
                </a:solidFill>
                <a:latin typeface="Roboto"/>
                <a:cs typeface="Roboto"/>
              </a:rPr>
              <a:t>has</a:t>
            </a:r>
            <a:r>
              <a:rPr spc="100" dirty="0">
                <a:solidFill>
                  <a:srgbClr val="13110E"/>
                </a:solidFill>
                <a:latin typeface="Roboto"/>
                <a:cs typeface="Roboto"/>
              </a:rPr>
              <a:t> </a:t>
            </a:r>
            <a:r>
              <a:rPr dirty="0">
                <a:solidFill>
                  <a:srgbClr val="13110E"/>
                </a:solidFill>
                <a:latin typeface="Roboto"/>
                <a:cs typeface="Roboto"/>
              </a:rPr>
              <a:t>the</a:t>
            </a:r>
            <a:r>
              <a:rPr spc="98" dirty="0">
                <a:solidFill>
                  <a:srgbClr val="13110E"/>
                </a:solidFill>
                <a:latin typeface="Roboto"/>
                <a:cs typeface="Roboto"/>
              </a:rPr>
              <a:t> </a:t>
            </a:r>
            <a:r>
              <a:rPr dirty="0">
                <a:solidFill>
                  <a:srgbClr val="13110E"/>
                </a:solidFill>
                <a:latin typeface="Roboto"/>
                <a:cs typeface="Roboto"/>
              </a:rPr>
              <a:t>concept</a:t>
            </a:r>
            <a:r>
              <a:rPr spc="100" dirty="0">
                <a:solidFill>
                  <a:srgbClr val="13110E"/>
                </a:solidFill>
                <a:latin typeface="Roboto"/>
                <a:cs typeface="Roboto"/>
              </a:rPr>
              <a:t> </a:t>
            </a:r>
            <a:r>
              <a:rPr dirty="0">
                <a:solidFill>
                  <a:srgbClr val="13110E"/>
                </a:solidFill>
                <a:latin typeface="Roboto"/>
                <a:cs typeface="Roboto"/>
              </a:rPr>
              <a:t>of</a:t>
            </a:r>
            <a:r>
              <a:rPr spc="98" dirty="0">
                <a:solidFill>
                  <a:srgbClr val="13110E"/>
                </a:solidFill>
                <a:latin typeface="Roboto"/>
                <a:cs typeface="Roboto"/>
              </a:rPr>
              <a:t> </a:t>
            </a:r>
            <a:r>
              <a:rPr dirty="0">
                <a:solidFill>
                  <a:srgbClr val="13110E"/>
                </a:solidFill>
                <a:latin typeface="Roboto"/>
                <a:cs typeface="Roboto"/>
              </a:rPr>
              <a:t>a</a:t>
            </a:r>
            <a:r>
              <a:rPr spc="100" dirty="0">
                <a:solidFill>
                  <a:srgbClr val="13110E"/>
                </a:solidFill>
                <a:latin typeface="Roboto"/>
                <a:cs typeface="Roboto"/>
              </a:rPr>
              <a:t> </a:t>
            </a:r>
            <a:r>
              <a:rPr b="1" spc="-5" dirty="0">
                <a:solidFill>
                  <a:srgbClr val="13110E"/>
                </a:solidFill>
                <a:latin typeface="Roboto"/>
                <a:cs typeface="Roboto"/>
              </a:rPr>
              <a:t>Region</a:t>
            </a:r>
            <a:r>
              <a:rPr spc="-5" dirty="0">
                <a:solidFill>
                  <a:srgbClr val="13110E"/>
                </a:solidFill>
                <a:latin typeface="Roboto"/>
                <a:cs typeface="Roboto"/>
              </a:rPr>
              <a:t>, </a:t>
            </a:r>
            <a:r>
              <a:rPr dirty="0">
                <a:solidFill>
                  <a:srgbClr val="13110E"/>
                </a:solidFill>
                <a:latin typeface="Roboto"/>
                <a:cs typeface="Roboto"/>
              </a:rPr>
              <a:t>which</a:t>
            </a:r>
            <a:r>
              <a:rPr spc="148" dirty="0">
                <a:solidFill>
                  <a:srgbClr val="13110E"/>
                </a:solidFill>
                <a:latin typeface="Roboto"/>
                <a:cs typeface="Roboto"/>
              </a:rPr>
              <a:t> </a:t>
            </a:r>
            <a:r>
              <a:rPr dirty="0">
                <a:solidFill>
                  <a:srgbClr val="13110E"/>
                </a:solidFill>
                <a:latin typeface="Roboto"/>
                <a:cs typeface="Roboto"/>
              </a:rPr>
              <a:t>is</a:t>
            </a:r>
            <a:r>
              <a:rPr spc="148" dirty="0">
                <a:solidFill>
                  <a:srgbClr val="13110E"/>
                </a:solidFill>
                <a:latin typeface="Roboto"/>
                <a:cs typeface="Roboto"/>
              </a:rPr>
              <a:t> </a:t>
            </a:r>
            <a:r>
              <a:rPr dirty="0">
                <a:solidFill>
                  <a:srgbClr val="13110E"/>
                </a:solidFill>
                <a:latin typeface="Roboto"/>
                <a:cs typeface="Roboto"/>
              </a:rPr>
              <a:t>a</a:t>
            </a:r>
            <a:r>
              <a:rPr spc="148" dirty="0">
                <a:solidFill>
                  <a:srgbClr val="13110E"/>
                </a:solidFill>
                <a:latin typeface="Roboto"/>
                <a:cs typeface="Roboto"/>
              </a:rPr>
              <a:t> </a:t>
            </a:r>
            <a:r>
              <a:rPr dirty="0">
                <a:solidFill>
                  <a:srgbClr val="13110E"/>
                </a:solidFill>
                <a:latin typeface="Roboto"/>
                <a:cs typeface="Roboto"/>
              </a:rPr>
              <a:t>physical</a:t>
            </a:r>
            <a:r>
              <a:rPr spc="148" dirty="0">
                <a:solidFill>
                  <a:srgbClr val="13110E"/>
                </a:solidFill>
                <a:latin typeface="Roboto"/>
                <a:cs typeface="Roboto"/>
              </a:rPr>
              <a:t> </a:t>
            </a:r>
            <a:r>
              <a:rPr dirty="0">
                <a:solidFill>
                  <a:srgbClr val="13110E"/>
                </a:solidFill>
                <a:latin typeface="Roboto"/>
                <a:cs typeface="Roboto"/>
              </a:rPr>
              <a:t>location</a:t>
            </a:r>
            <a:r>
              <a:rPr spc="148" dirty="0">
                <a:solidFill>
                  <a:srgbClr val="13110E"/>
                </a:solidFill>
                <a:latin typeface="Roboto"/>
                <a:cs typeface="Roboto"/>
              </a:rPr>
              <a:t> </a:t>
            </a:r>
            <a:r>
              <a:rPr dirty="0">
                <a:solidFill>
                  <a:srgbClr val="13110E"/>
                </a:solidFill>
                <a:latin typeface="Roboto"/>
                <a:cs typeface="Roboto"/>
              </a:rPr>
              <a:t>around</a:t>
            </a:r>
            <a:r>
              <a:rPr spc="148" dirty="0">
                <a:solidFill>
                  <a:srgbClr val="13110E"/>
                </a:solidFill>
                <a:latin typeface="Roboto"/>
                <a:cs typeface="Roboto"/>
              </a:rPr>
              <a:t> </a:t>
            </a:r>
            <a:r>
              <a:rPr spc="-13" dirty="0">
                <a:solidFill>
                  <a:srgbClr val="13110E"/>
                </a:solidFill>
                <a:latin typeface="Roboto"/>
                <a:cs typeface="Roboto"/>
              </a:rPr>
              <a:t>the </a:t>
            </a:r>
            <a:r>
              <a:rPr dirty="0">
                <a:solidFill>
                  <a:srgbClr val="13110E"/>
                </a:solidFill>
                <a:latin typeface="Roboto"/>
                <a:cs typeface="Roboto"/>
              </a:rPr>
              <a:t>world</a:t>
            </a:r>
            <a:r>
              <a:rPr spc="148" dirty="0">
                <a:solidFill>
                  <a:srgbClr val="13110E"/>
                </a:solidFill>
                <a:latin typeface="Roboto"/>
                <a:cs typeface="Roboto"/>
              </a:rPr>
              <a:t> </a:t>
            </a:r>
            <a:r>
              <a:rPr dirty="0">
                <a:solidFill>
                  <a:srgbClr val="13110E"/>
                </a:solidFill>
                <a:latin typeface="Roboto"/>
                <a:cs typeface="Roboto"/>
              </a:rPr>
              <a:t>where</a:t>
            </a:r>
            <a:r>
              <a:rPr spc="150" dirty="0">
                <a:solidFill>
                  <a:srgbClr val="13110E"/>
                </a:solidFill>
                <a:latin typeface="Roboto"/>
                <a:cs typeface="Roboto"/>
              </a:rPr>
              <a:t> </a:t>
            </a:r>
            <a:r>
              <a:rPr dirty="0">
                <a:solidFill>
                  <a:srgbClr val="13110E"/>
                </a:solidFill>
                <a:latin typeface="Roboto"/>
                <a:cs typeface="Roboto"/>
              </a:rPr>
              <a:t>they</a:t>
            </a:r>
            <a:r>
              <a:rPr spc="148" dirty="0">
                <a:solidFill>
                  <a:srgbClr val="13110E"/>
                </a:solidFill>
                <a:latin typeface="Roboto"/>
                <a:cs typeface="Roboto"/>
              </a:rPr>
              <a:t> </a:t>
            </a:r>
            <a:r>
              <a:rPr dirty="0">
                <a:solidFill>
                  <a:srgbClr val="13110E"/>
                </a:solidFill>
                <a:latin typeface="Roboto"/>
                <a:cs typeface="Roboto"/>
              </a:rPr>
              <a:t>cluster</a:t>
            </a:r>
            <a:r>
              <a:rPr spc="150" dirty="0">
                <a:solidFill>
                  <a:srgbClr val="13110E"/>
                </a:solidFill>
                <a:latin typeface="Roboto"/>
                <a:cs typeface="Roboto"/>
              </a:rPr>
              <a:t> </a:t>
            </a:r>
            <a:r>
              <a:rPr dirty="0">
                <a:solidFill>
                  <a:srgbClr val="13110E"/>
                </a:solidFill>
                <a:latin typeface="Roboto"/>
                <a:cs typeface="Roboto"/>
              </a:rPr>
              <a:t>data</a:t>
            </a:r>
            <a:r>
              <a:rPr spc="148" dirty="0">
                <a:solidFill>
                  <a:srgbClr val="13110E"/>
                </a:solidFill>
                <a:latin typeface="Roboto"/>
                <a:cs typeface="Roboto"/>
              </a:rPr>
              <a:t> </a:t>
            </a:r>
            <a:r>
              <a:rPr spc="-5" dirty="0">
                <a:solidFill>
                  <a:srgbClr val="13110E"/>
                </a:solidFill>
                <a:latin typeface="Roboto"/>
                <a:cs typeface="Roboto"/>
              </a:rPr>
              <a:t>centers.</a:t>
            </a:r>
            <a:endParaRPr>
              <a:latin typeface="Roboto"/>
              <a:cs typeface="Roboto"/>
            </a:endParaRPr>
          </a:p>
          <a:p>
            <a:pPr>
              <a:spcBef>
                <a:spcPts val="120"/>
              </a:spcBef>
            </a:pPr>
            <a:endParaRPr>
              <a:latin typeface="Roboto"/>
              <a:cs typeface="Roboto"/>
            </a:endParaRPr>
          </a:p>
          <a:p>
            <a:pPr marL="6350" marR="265113">
              <a:lnSpc>
                <a:spcPct val="107100"/>
              </a:lnSpc>
            </a:pPr>
            <a:r>
              <a:rPr dirty="0">
                <a:solidFill>
                  <a:srgbClr val="13110E"/>
                </a:solidFill>
                <a:latin typeface="Roboto"/>
                <a:cs typeface="Roboto"/>
              </a:rPr>
              <a:t>They</a:t>
            </a:r>
            <a:r>
              <a:rPr spc="127" dirty="0">
                <a:solidFill>
                  <a:srgbClr val="13110E"/>
                </a:solidFill>
                <a:latin typeface="Roboto"/>
                <a:cs typeface="Roboto"/>
              </a:rPr>
              <a:t> </a:t>
            </a:r>
            <a:r>
              <a:rPr dirty="0">
                <a:solidFill>
                  <a:srgbClr val="13110E"/>
                </a:solidFill>
                <a:latin typeface="Roboto"/>
                <a:cs typeface="Roboto"/>
              </a:rPr>
              <a:t>call</a:t>
            </a:r>
            <a:r>
              <a:rPr spc="127" dirty="0">
                <a:solidFill>
                  <a:srgbClr val="13110E"/>
                </a:solidFill>
                <a:latin typeface="Roboto"/>
                <a:cs typeface="Roboto"/>
              </a:rPr>
              <a:t> </a:t>
            </a:r>
            <a:r>
              <a:rPr dirty="0">
                <a:solidFill>
                  <a:srgbClr val="13110E"/>
                </a:solidFill>
                <a:latin typeface="Roboto"/>
                <a:cs typeface="Roboto"/>
              </a:rPr>
              <a:t>each</a:t>
            </a:r>
            <a:r>
              <a:rPr spc="130" dirty="0">
                <a:solidFill>
                  <a:srgbClr val="13110E"/>
                </a:solidFill>
                <a:latin typeface="Roboto"/>
                <a:cs typeface="Roboto"/>
              </a:rPr>
              <a:t> </a:t>
            </a:r>
            <a:r>
              <a:rPr dirty="0">
                <a:solidFill>
                  <a:srgbClr val="13110E"/>
                </a:solidFill>
                <a:latin typeface="Roboto"/>
                <a:cs typeface="Roboto"/>
              </a:rPr>
              <a:t>group</a:t>
            </a:r>
            <a:r>
              <a:rPr spc="127" dirty="0">
                <a:solidFill>
                  <a:srgbClr val="13110E"/>
                </a:solidFill>
                <a:latin typeface="Roboto"/>
                <a:cs typeface="Roboto"/>
              </a:rPr>
              <a:t> </a:t>
            </a:r>
            <a:r>
              <a:rPr dirty="0">
                <a:solidFill>
                  <a:srgbClr val="13110E"/>
                </a:solidFill>
                <a:latin typeface="Roboto"/>
                <a:cs typeface="Roboto"/>
              </a:rPr>
              <a:t>of</a:t>
            </a:r>
            <a:r>
              <a:rPr spc="127" dirty="0">
                <a:solidFill>
                  <a:srgbClr val="13110E"/>
                </a:solidFill>
                <a:latin typeface="Roboto"/>
                <a:cs typeface="Roboto"/>
              </a:rPr>
              <a:t> </a:t>
            </a:r>
            <a:r>
              <a:rPr dirty="0">
                <a:solidFill>
                  <a:srgbClr val="13110E"/>
                </a:solidFill>
                <a:latin typeface="Roboto"/>
                <a:cs typeface="Roboto"/>
              </a:rPr>
              <a:t>logical</a:t>
            </a:r>
            <a:r>
              <a:rPr spc="130" dirty="0">
                <a:solidFill>
                  <a:srgbClr val="13110E"/>
                </a:solidFill>
                <a:latin typeface="Roboto"/>
                <a:cs typeface="Roboto"/>
              </a:rPr>
              <a:t> </a:t>
            </a:r>
            <a:r>
              <a:rPr spc="-10" dirty="0">
                <a:solidFill>
                  <a:srgbClr val="13110E"/>
                </a:solidFill>
                <a:latin typeface="Roboto"/>
                <a:cs typeface="Roboto"/>
              </a:rPr>
              <a:t>data </a:t>
            </a:r>
            <a:r>
              <a:rPr dirty="0">
                <a:solidFill>
                  <a:srgbClr val="13110E"/>
                </a:solidFill>
                <a:latin typeface="Roboto"/>
                <a:cs typeface="Roboto"/>
              </a:rPr>
              <a:t>centers</a:t>
            </a:r>
            <a:r>
              <a:rPr spc="198" dirty="0">
                <a:solidFill>
                  <a:srgbClr val="13110E"/>
                </a:solidFill>
                <a:latin typeface="Roboto"/>
                <a:cs typeface="Roboto"/>
              </a:rPr>
              <a:t> </a:t>
            </a:r>
            <a:r>
              <a:rPr dirty="0">
                <a:solidFill>
                  <a:srgbClr val="13110E"/>
                </a:solidFill>
                <a:latin typeface="Roboto"/>
                <a:cs typeface="Roboto"/>
              </a:rPr>
              <a:t>an</a:t>
            </a:r>
            <a:r>
              <a:rPr spc="198" dirty="0">
                <a:solidFill>
                  <a:srgbClr val="13110E"/>
                </a:solidFill>
                <a:latin typeface="Roboto"/>
                <a:cs typeface="Roboto"/>
              </a:rPr>
              <a:t> </a:t>
            </a:r>
            <a:r>
              <a:rPr b="1" dirty="0">
                <a:solidFill>
                  <a:srgbClr val="13110E"/>
                </a:solidFill>
                <a:latin typeface="Roboto"/>
                <a:cs typeface="Roboto"/>
              </a:rPr>
              <a:t>Availability</a:t>
            </a:r>
            <a:r>
              <a:rPr b="1" spc="200" dirty="0">
                <a:solidFill>
                  <a:srgbClr val="13110E"/>
                </a:solidFill>
                <a:latin typeface="Roboto"/>
                <a:cs typeface="Roboto"/>
              </a:rPr>
              <a:t> </a:t>
            </a:r>
            <a:r>
              <a:rPr b="1" spc="-5" dirty="0">
                <a:solidFill>
                  <a:srgbClr val="13110E"/>
                </a:solidFill>
                <a:latin typeface="Roboto"/>
                <a:cs typeface="Roboto"/>
              </a:rPr>
              <a:t>Zone</a:t>
            </a:r>
            <a:r>
              <a:rPr spc="-5" dirty="0">
                <a:solidFill>
                  <a:srgbClr val="13110E"/>
                </a:solidFill>
                <a:latin typeface="Roboto"/>
                <a:cs typeface="Roboto"/>
              </a:rPr>
              <a:t>.</a:t>
            </a:r>
            <a:endParaRPr>
              <a:latin typeface="Roboto"/>
              <a:cs typeface="Roboto"/>
            </a:endParaRPr>
          </a:p>
        </p:txBody>
      </p:sp>
      <p:sp>
        <p:nvSpPr>
          <p:cNvPr id="7" name="object 7"/>
          <p:cNvSpPr txBox="1"/>
          <p:nvPr/>
        </p:nvSpPr>
        <p:spPr>
          <a:xfrm>
            <a:off x="5089998" y="3432281"/>
            <a:ext cx="3176905" cy="685252"/>
          </a:xfrm>
          <a:prstGeom prst="rect">
            <a:avLst/>
          </a:prstGeom>
        </p:spPr>
        <p:txBody>
          <a:bodyPr vert="horz" wrap="square" lIns="0" tIns="6350" rIns="0" bIns="0" rtlCol="0">
            <a:spAutoFit/>
          </a:bodyPr>
          <a:lstStyle/>
          <a:p>
            <a:pPr marL="6350" marR="2540">
              <a:lnSpc>
                <a:spcPct val="107100"/>
              </a:lnSpc>
              <a:spcBef>
                <a:spcPts val="50"/>
              </a:spcBef>
            </a:pPr>
            <a:r>
              <a:rPr dirty="0">
                <a:solidFill>
                  <a:srgbClr val="13110E"/>
                </a:solidFill>
                <a:latin typeface="Roboto"/>
                <a:cs typeface="Roboto"/>
              </a:rPr>
              <a:t>Each</a:t>
            </a:r>
            <a:r>
              <a:rPr spc="130" dirty="0">
                <a:solidFill>
                  <a:srgbClr val="13110E"/>
                </a:solidFill>
                <a:latin typeface="Roboto"/>
                <a:cs typeface="Roboto"/>
              </a:rPr>
              <a:t> </a:t>
            </a:r>
            <a:r>
              <a:rPr dirty="0">
                <a:solidFill>
                  <a:srgbClr val="13110E"/>
                </a:solidFill>
                <a:latin typeface="Roboto"/>
                <a:cs typeface="Roboto"/>
              </a:rPr>
              <a:t>AWS</a:t>
            </a:r>
            <a:r>
              <a:rPr spc="130" dirty="0">
                <a:solidFill>
                  <a:srgbClr val="13110E"/>
                </a:solidFill>
                <a:latin typeface="Roboto"/>
                <a:cs typeface="Roboto"/>
              </a:rPr>
              <a:t> </a:t>
            </a:r>
            <a:r>
              <a:rPr dirty="0">
                <a:solidFill>
                  <a:srgbClr val="13110E"/>
                </a:solidFill>
                <a:latin typeface="Roboto"/>
                <a:cs typeface="Roboto"/>
              </a:rPr>
              <a:t>Region</a:t>
            </a:r>
            <a:r>
              <a:rPr spc="130" dirty="0">
                <a:solidFill>
                  <a:srgbClr val="13110E"/>
                </a:solidFill>
                <a:latin typeface="Roboto"/>
                <a:cs typeface="Roboto"/>
              </a:rPr>
              <a:t> </a:t>
            </a:r>
            <a:r>
              <a:rPr dirty="0">
                <a:solidFill>
                  <a:srgbClr val="13110E"/>
                </a:solidFill>
                <a:latin typeface="Roboto"/>
                <a:cs typeface="Roboto"/>
              </a:rPr>
              <a:t>consists</a:t>
            </a:r>
            <a:r>
              <a:rPr spc="130" dirty="0">
                <a:solidFill>
                  <a:srgbClr val="13110E"/>
                </a:solidFill>
                <a:latin typeface="Roboto"/>
                <a:cs typeface="Roboto"/>
              </a:rPr>
              <a:t> </a:t>
            </a:r>
            <a:r>
              <a:rPr dirty="0">
                <a:solidFill>
                  <a:srgbClr val="13110E"/>
                </a:solidFill>
                <a:latin typeface="Roboto"/>
                <a:cs typeface="Roboto"/>
              </a:rPr>
              <a:t>of</a:t>
            </a:r>
            <a:r>
              <a:rPr spc="130" dirty="0">
                <a:solidFill>
                  <a:srgbClr val="13110E"/>
                </a:solidFill>
                <a:latin typeface="Roboto"/>
                <a:cs typeface="Roboto"/>
              </a:rPr>
              <a:t> </a:t>
            </a:r>
            <a:r>
              <a:rPr spc="-5" dirty="0">
                <a:solidFill>
                  <a:srgbClr val="13110E"/>
                </a:solidFill>
                <a:latin typeface="Roboto"/>
                <a:cs typeface="Roboto"/>
              </a:rPr>
              <a:t>multiple, </a:t>
            </a:r>
            <a:r>
              <a:rPr dirty="0">
                <a:solidFill>
                  <a:srgbClr val="13110E"/>
                </a:solidFill>
                <a:latin typeface="Roboto"/>
                <a:cs typeface="Roboto"/>
              </a:rPr>
              <a:t>isolated,</a:t>
            </a:r>
            <a:r>
              <a:rPr spc="200" dirty="0">
                <a:solidFill>
                  <a:srgbClr val="13110E"/>
                </a:solidFill>
                <a:latin typeface="Roboto"/>
                <a:cs typeface="Roboto"/>
              </a:rPr>
              <a:t> </a:t>
            </a:r>
            <a:r>
              <a:rPr dirty="0">
                <a:solidFill>
                  <a:srgbClr val="13110E"/>
                </a:solidFill>
                <a:latin typeface="Roboto"/>
                <a:cs typeface="Roboto"/>
              </a:rPr>
              <a:t>and</a:t>
            </a:r>
            <a:r>
              <a:rPr spc="200" dirty="0">
                <a:solidFill>
                  <a:srgbClr val="13110E"/>
                </a:solidFill>
                <a:latin typeface="Roboto"/>
                <a:cs typeface="Roboto"/>
              </a:rPr>
              <a:t> </a:t>
            </a:r>
            <a:r>
              <a:rPr dirty="0">
                <a:solidFill>
                  <a:srgbClr val="13110E"/>
                </a:solidFill>
                <a:latin typeface="Roboto"/>
                <a:cs typeface="Roboto"/>
              </a:rPr>
              <a:t>physically</a:t>
            </a:r>
            <a:r>
              <a:rPr spc="200" dirty="0">
                <a:solidFill>
                  <a:srgbClr val="13110E"/>
                </a:solidFill>
                <a:latin typeface="Roboto"/>
                <a:cs typeface="Roboto"/>
              </a:rPr>
              <a:t> </a:t>
            </a:r>
            <a:r>
              <a:rPr dirty="0">
                <a:solidFill>
                  <a:srgbClr val="13110E"/>
                </a:solidFill>
                <a:latin typeface="Roboto"/>
                <a:cs typeface="Roboto"/>
              </a:rPr>
              <a:t>separate</a:t>
            </a:r>
            <a:r>
              <a:rPr spc="200" dirty="0">
                <a:solidFill>
                  <a:srgbClr val="13110E"/>
                </a:solidFill>
                <a:latin typeface="Roboto"/>
                <a:cs typeface="Roboto"/>
              </a:rPr>
              <a:t> </a:t>
            </a:r>
            <a:r>
              <a:rPr spc="-13" dirty="0">
                <a:solidFill>
                  <a:srgbClr val="13110E"/>
                </a:solidFill>
                <a:latin typeface="Roboto"/>
                <a:cs typeface="Roboto"/>
              </a:rPr>
              <a:t>AZs </a:t>
            </a:r>
            <a:r>
              <a:rPr dirty="0">
                <a:solidFill>
                  <a:srgbClr val="13110E"/>
                </a:solidFill>
                <a:latin typeface="Roboto"/>
                <a:cs typeface="Roboto"/>
              </a:rPr>
              <a:t>within</a:t>
            </a:r>
            <a:r>
              <a:rPr spc="160" dirty="0">
                <a:solidFill>
                  <a:srgbClr val="13110E"/>
                </a:solidFill>
                <a:latin typeface="Roboto"/>
                <a:cs typeface="Roboto"/>
              </a:rPr>
              <a:t> </a:t>
            </a:r>
            <a:r>
              <a:rPr dirty="0">
                <a:solidFill>
                  <a:srgbClr val="13110E"/>
                </a:solidFill>
                <a:latin typeface="Roboto"/>
                <a:cs typeface="Roboto"/>
              </a:rPr>
              <a:t>a</a:t>
            </a:r>
            <a:r>
              <a:rPr spc="160" dirty="0">
                <a:solidFill>
                  <a:srgbClr val="13110E"/>
                </a:solidFill>
                <a:latin typeface="Roboto"/>
                <a:cs typeface="Roboto"/>
              </a:rPr>
              <a:t> </a:t>
            </a:r>
            <a:r>
              <a:rPr dirty="0">
                <a:solidFill>
                  <a:srgbClr val="13110E"/>
                </a:solidFill>
                <a:latin typeface="Roboto"/>
                <a:cs typeface="Roboto"/>
              </a:rPr>
              <a:t>geographic</a:t>
            </a:r>
            <a:r>
              <a:rPr spc="163" dirty="0">
                <a:solidFill>
                  <a:srgbClr val="13110E"/>
                </a:solidFill>
                <a:latin typeface="Roboto"/>
                <a:cs typeface="Roboto"/>
              </a:rPr>
              <a:t> </a:t>
            </a:r>
            <a:r>
              <a:rPr spc="-10" dirty="0">
                <a:solidFill>
                  <a:srgbClr val="13110E"/>
                </a:solidFill>
                <a:latin typeface="Roboto"/>
                <a:cs typeface="Roboto"/>
              </a:rPr>
              <a:t>area</a:t>
            </a:r>
            <a:endParaRPr>
              <a:latin typeface="Roboto"/>
              <a:cs typeface="Roboto"/>
            </a:endParaRPr>
          </a:p>
        </p:txBody>
      </p:sp>
      <p:sp>
        <p:nvSpPr>
          <p:cNvPr id="9" name="object 9"/>
          <p:cNvSpPr/>
          <p:nvPr/>
        </p:nvSpPr>
        <p:spPr>
          <a:xfrm>
            <a:off x="2797586" y="3664991"/>
            <a:ext cx="12700" cy="40005"/>
          </a:xfrm>
          <a:custGeom>
            <a:avLst/>
            <a:gdLst/>
            <a:ahLst/>
            <a:cxnLst/>
            <a:rect l="l" t="t" r="r" b="b"/>
            <a:pathLst>
              <a:path w="25400" h="80009">
                <a:moveTo>
                  <a:pt x="19310" y="79783"/>
                </a:moveTo>
                <a:lnTo>
                  <a:pt x="5570" y="79783"/>
                </a:lnTo>
                <a:lnTo>
                  <a:pt x="0" y="74187"/>
                </a:lnTo>
                <a:lnTo>
                  <a:pt x="0" y="5597"/>
                </a:lnTo>
                <a:lnTo>
                  <a:pt x="5570" y="0"/>
                </a:lnTo>
                <a:lnTo>
                  <a:pt x="19310" y="0"/>
                </a:lnTo>
                <a:lnTo>
                  <a:pt x="24881" y="5597"/>
                </a:lnTo>
                <a:lnTo>
                  <a:pt x="24881" y="12504"/>
                </a:lnTo>
                <a:lnTo>
                  <a:pt x="24881" y="74187"/>
                </a:lnTo>
                <a:lnTo>
                  <a:pt x="19310" y="79783"/>
                </a:lnTo>
                <a:close/>
              </a:path>
            </a:pathLst>
          </a:custGeom>
          <a:solidFill>
            <a:srgbClr val="000000"/>
          </a:solidFill>
        </p:spPr>
        <p:txBody>
          <a:bodyPr wrap="square" lIns="0" tIns="0" rIns="0" bIns="0" rtlCol="0"/>
          <a:lstStyle/>
          <a:p>
            <a:endParaRPr sz="700"/>
          </a:p>
        </p:txBody>
      </p:sp>
      <p:grpSp>
        <p:nvGrpSpPr>
          <p:cNvPr id="10" name="object 10"/>
          <p:cNvGrpSpPr/>
          <p:nvPr/>
        </p:nvGrpSpPr>
        <p:grpSpPr>
          <a:xfrm>
            <a:off x="2644702" y="3686554"/>
            <a:ext cx="318453" cy="378778"/>
            <a:chOff x="5289404" y="7373108"/>
            <a:chExt cx="636905" cy="757555"/>
          </a:xfrm>
        </p:grpSpPr>
        <p:sp>
          <p:nvSpPr>
            <p:cNvPr id="11" name="object 11"/>
            <p:cNvSpPr/>
            <p:nvPr/>
          </p:nvSpPr>
          <p:spPr>
            <a:xfrm>
              <a:off x="5289397" y="7373111"/>
              <a:ext cx="636905" cy="627380"/>
            </a:xfrm>
            <a:custGeom>
              <a:avLst/>
              <a:gdLst/>
              <a:ahLst/>
              <a:cxnLst/>
              <a:rect l="l" t="t" r="r" b="b"/>
              <a:pathLst>
                <a:path w="636904" h="627379">
                  <a:moveTo>
                    <a:pt x="74930" y="297167"/>
                  </a:moveTo>
                  <a:lnTo>
                    <a:pt x="69354" y="291566"/>
                  </a:lnTo>
                  <a:lnTo>
                    <a:pt x="12446" y="291566"/>
                  </a:lnTo>
                  <a:lnTo>
                    <a:pt x="5575" y="291566"/>
                  </a:lnTo>
                  <a:lnTo>
                    <a:pt x="0" y="297167"/>
                  </a:lnTo>
                  <a:lnTo>
                    <a:pt x="0" y="310984"/>
                  </a:lnTo>
                  <a:lnTo>
                    <a:pt x="5575" y="316585"/>
                  </a:lnTo>
                  <a:lnTo>
                    <a:pt x="69354" y="316585"/>
                  </a:lnTo>
                  <a:lnTo>
                    <a:pt x="74930" y="310984"/>
                  </a:lnTo>
                  <a:lnTo>
                    <a:pt x="74930" y="297167"/>
                  </a:lnTo>
                  <a:close/>
                </a:path>
                <a:path w="636904" h="627379">
                  <a:moveTo>
                    <a:pt x="91160" y="164363"/>
                  </a:moveTo>
                  <a:lnTo>
                    <a:pt x="89115" y="156743"/>
                  </a:lnTo>
                  <a:lnTo>
                    <a:pt x="83185" y="153327"/>
                  </a:lnTo>
                  <a:lnTo>
                    <a:pt x="35979" y="125933"/>
                  </a:lnTo>
                  <a:lnTo>
                    <a:pt x="30048" y="122516"/>
                  </a:lnTo>
                  <a:lnTo>
                    <a:pt x="22479" y="124561"/>
                  </a:lnTo>
                  <a:lnTo>
                    <a:pt x="15659" y="136486"/>
                  </a:lnTo>
                  <a:lnTo>
                    <a:pt x="17703" y="144094"/>
                  </a:lnTo>
                  <a:lnTo>
                    <a:pt x="23634" y="147523"/>
                  </a:lnTo>
                  <a:lnTo>
                    <a:pt x="70840" y="174917"/>
                  </a:lnTo>
                  <a:lnTo>
                    <a:pt x="76771" y="178346"/>
                  </a:lnTo>
                  <a:lnTo>
                    <a:pt x="84340" y="176288"/>
                  </a:lnTo>
                  <a:lnTo>
                    <a:pt x="91160" y="164363"/>
                  </a:lnTo>
                  <a:close/>
                </a:path>
                <a:path w="636904" h="627379">
                  <a:moveTo>
                    <a:pt x="193103" y="61417"/>
                  </a:moveTo>
                  <a:lnTo>
                    <a:pt x="189687" y="55460"/>
                  </a:lnTo>
                  <a:lnTo>
                    <a:pt x="162445" y="8013"/>
                  </a:lnTo>
                  <a:lnTo>
                    <a:pt x="159029" y="2057"/>
                  </a:lnTo>
                  <a:lnTo>
                    <a:pt x="151460" y="0"/>
                  </a:lnTo>
                  <a:lnTo>
                    <a:pt x="139598" y="6858"/>
                  </a:lnTo>
                  <a:lnTo>
                    <a:pt x="137553" y="14465"/>
                  </a:lnTo>
                  <a:lnTo>
                    <a:pt x="140957" y="20421"/>
                  </a:lnTo>
                  <a:lnTo>
                    <a:pt x="168211" y="67868"/>
                  </a:lnTo>
                  <a:lnTo>
                    <a:pt x="171615" y="73825"/>
                  </a:lnTo>
                  <a:lnTo>
                    <a:pt x="179197" y="75882"/>
                  </a:lnTo>
                  <a:lnTo>
                    <a:pt x="191058" y="69037"/>
                  </a:lnTo>
                  <a:lnTo>
                    <a:pt x="193103" y="61417"/>
                  </a:lnTo>
                  <a:close/>
                </a:path>
                <a:path w="636904" h="627379">
                  <a:moveTo>
                    <a:pt x="498868" y="14465"/>
                  </a:moveTo>
                  <a:lnTo>
                    <a:pt x="496824" y="6858"/>
                  </a:lnTo>
                  <a:lnTo>
                    <a:pt x="490893" y="3429"/>
                  </a:lnTo>
                  <a:lnTo>
                    <a:pt x="484962" y="0"/>
                  </a:lnTo>
                  <a:lnTo>
                    <a:pt x="477393" y="2057"/>
                  </a:lnTo>
                  <a:lnTo>
                    <a:pt x="473976" y="8013"/>
                  </a:lnTo>
                  <a:lnTo>
                    <a:pt x="446722" y="55460"/>
                  </a:lnTo>
                  <a:lnTo>
                    <a:pt x="443318" y="61417"/>
                  </a:lnTo>
                  <a:lnTo>
                    <a:pt x="445363" y="69037"/>
                  </a:lnTo>
                  <a:lnTo>
                    <a:pt x="457225" y="75882"/>
                  </a:lnTo>
                  <a:lnTo>
                    <a:pt x="464794" y="73825"/>
                  </a:lnTo>
                  <a:lnTo>
                    <a:pt x="468210" y="67868"/>
                  </a:lnTo>
                  <a:lnTo>
                    <a:pt x="495452" y="20421"/>
                  </a:lnTo>
                  <a:lnTo>
                    <a:pt x="498868" y="14465"/>
                  </a:lnTo>
                  <a:close/>
                </a:path>
                <a:path w="636904" h="627379">
                  <a:moveTo>
                    <a:pt x="530542" y="306019"/>
                  </a:moveTo>
                  <a:lnTo>
                    <a:pt x="526224" y="263017"/>
                  </a:lnTo>
                  <a:lnTo>
                    <a:pt x="513854" y="222948"/>
                  </a:lnTo>
                  <a:lnTo>
                    <a:pt x="505663" y="207797"/>
                  </a:lnTo>
                  <a:lnTo>
                    <a:pt x="505663" y="306019"/>
                  </a:lnTo>
                  <a:lnTo>
                    <a:pt x="502691" y="343674"/>
                  </a:lnTo>
                  <a:lnTo>
                    <a:pt x="494753" y="371640"/>
                  </a:lnTo>
                  <a:lnTo>
                    <a:pt x="483362" y="393382"/>
                  </a:lnTo>
                  <a:lnTo>
                    <a:pt x="469988" y="412330"/>
                  </a:lnTo>
                  <a:lnTo>
                    <a:pt x="451866" y="438365"/>
                  </a:lnTo>
                  <a:lnTo>
                    <a:pt x="435648" y="471474"/>
                  </a:lnTo>
                  <a:lnTo>
                    <a:pt x="423976" y="517715"/>
                  </a:lnTo>
                  <a:lnTo>
                    <a:pt x="419493" y="583120"/>
                  </a:lnTo>
                  <a:lnTo>
                    <a:pt x="419493" y="588238"/>
                  </a:lnTo>
                  <a:lnTo>
                    <a:pt x="417410" y="592912"/>
                  </a:lnTo>
                  <a:lnTo>
                    <a:pt x="410667" y="599681"/>
                  </a:lnTo>
                  <a:lnTo>
                    <a:pt x="406019" y="601789"/>
                  </a:lnTo>
                  <a:lnTo>
                    <a:pt x="230403" y="601789"/>
                  </a:lnTo>
                  <a:lnTo>
                    <a:pt x="225755" y="599681"/>
                  </a:lnTo>
                  <a:lnTo>
                    <a:pt x="219011" y="592912"/>
                  </a:lnTo>
                  <a:lnTo>
                    <a:pt x="216916" y="588238"/>
                  </a:lnTo>
                  <a:lnTo>
                    <a:pt x="216916" y="583120"/>
                  </a:lnTo>
                  <a:lnTo>
                    <a:pt x="212445" y="517715"/>
                  </a:lnTo>
                  <a:lnTo>
                    <a:pt x="200761" y="471474"/>
                  </a:lnTo>
                  <a:lnTo>
                    <a:pt x="184543" y="438365"/>
                  </a:lnTo>
                  <a:lnTo>
                    <a:pt x="166433" y="412330"/>
                  </a:lnTo>
                  <a:lnTo>
                    <a:pt x="153060" y="393382"/>
                  </a:lnTo>
                  <a:lnTo>
                    <a:pt x="141668" y="371640"/>
                  </a:lnTo>
                  <a:lnTo>
                    <a:pt x="133731" y="343674"/>
                  </a:lnTo>
                  <a:lnTo>
                    <a:pt x="130759" y="306019"/>
                  </a:lnTo>
                  <a:lnTo>
                    <a:pt x="134569" y="268046"/>
                  </a:lnTo>
                  <a:lnTo>
                    <a:pt x="162775" y="200685"/>
                  </a:lnTo>
                  <a:lnTo>
                    <a:pt x="213410" y="149796"/>
                  </a:lnTo>
                  <a:lnTo>
                    <a:pt x="280428" y="121450"/>
                  </a:lnTo>
                  <a:lnTo>
                    <a:pt x="318211" y="117627"/>
                  </a:lnTo>
                  <a:lnTo>
                    <a:pt x="355993" y="121450"/>
                  </a:lnTo>
                  <a:lnTo>
                    <a:pt x="423011" y="149796"/>
                  </a:lnTo>
                  <a:lnTo>
                    <a:pt x="473646" y="200685"/>
                  </a:lnTo>
                  <a:lnTo>
                    <a:pt x="501853" y="268046"/>
                  </a:lnTo>
                  <a:lnTo>
                    <a:pt x="505663" y="306019"/>
                  </a:lnTo>
                  <a:lnTo>
                    <a:pt x="505663" y="207797"/>
                  </a:lnTo>
                  <a:lnTo>
                    <a:pt x="494271" y="186702"/>
                  </a:lnTo>
                  <a:lnTo>
                    <a:pt x="468350" y="155117"/>
                  </a:lnTo>
                  <a:lnTo>
                    <a:pt x="436918" y="129057"/>
                  </a:lnTo>
                  <a:lnTo>
                    <a:pt x="415950" y="117627"/>
                  </a:lnTo>
                  <a:lnTo>
                    <a:pt x="400862" y="109385"/>
                  </a:lnTo>
                  <a:lnTo>
                    <a:pt x="360997" y="96951"/>
                  </a:lnTo>
                  <a:lnTo>
                    <a:pt x="318211" y="92621"/>
                  </a:lnTo>
                  <a:lnTo>
                    <a:pt x="275424" y="96951"/>
                  </a:lnTo>
                  <a:lnTo>
                    <a:pt x="235559" y="109385"/>
                  </a:lnTo>
                  <a:lnTo>
                    <a:pt x="199491" y="129057"/>
                  </a:lnTo>
                  <a:lnTo>
                    <a:pt x="168071" y="155117"/>
                  </a:lnTo>
                  <a:lnTo>
                    <a:pt x="142138" y="186702"/>
                  </a:lnTo>
                  <a:lnTo>
                    <a:pt x="122567" y="222948"/>
                  </a:lnTo>
                  <a:lnTo>
                    <a:pt x="110197" y="263017"/>
                  </a:lnTo>
                  <a:lnTo>
                    <a:pt x="105879" y="306019"/>
                  </a:lnTo>
                  <a:lnTo>
                    <a:pt x="109270" y="348945"/>
                  </a:lnTo>
                  <a:lnTo>
                    <a:pt x="118300" y="380834"/>
                  </a:lnTo>
                  <a:lnTo>
                    <a:pt x="131279" y="405587"/>
                  </a:lnTo>
                  <a:lnTo>
                    <a:pt x="146507" y="427177"/>
                  </a:lnTo>
                  <a:lnTo>
                    <a:pt x="162839" y="450684"/>
                  </a:lnTo>
                  <a:lnTo>
                    <a:pt x="177469" y="480758"/>
                  </a:lnTo>
                  <a:lnTo>
                    <a:pt x="187998" y="523024"/>
                  </a:lnTo>
                  <a:lnTo>
                    <a:pt x="192036" y="583120"/>
                  </a:lnTo>
                  <a:lnTo>
                    <a:pt x="192925" y="591896"/>
                  </a:lnTo>
                  <a:lnTo>
                    <a:pt x="218605" y="623354"/>
                  </a:lnTo>
                  <a:lnTo>
                    <a:pt x="235496" y="626795"/>
                  </a:lnTo>
                  <a:lnTo>
                    <a:pt x="400926" y="626795"/>
                  </a:lnTo>
                  <a:lnTo>
                    <a:pt x="436943" y="607504"/>
                  </a:lnTo>
                  <a:lnTo>
                    <a:pt x="440029" y="601789"/>
                  </a:lnTo>
                  <a:lnTo>
                    <a:pt x="440956" y="600087"/>
                  </a:lnTo>
                  <a:lnTo>
                    <a:pt x="441083" y="599681"/>
                  </a:lnTo>
                  <a:lnTo>
                    <a:pt x="443496" y="591896"/>
                  </a:lnTo>
                  <a:lnTo>
                    <a:pt x="444385" y="583120"/>
                  </a:lnTo>
                  <a:lnTo>
                    <a:pt x="448424" y="523024"/>
                  </a:lnTo>
                  <a:lnTo>
                    <a:pt x="458952" y="480758"/>
                  </a:lnTo>
                  <a:lnTo>
                    <a:pt x="473583" y="450684"/>
                  </a:lnTo>
                  <a:lnTo>
                    <a:pt x="489915" y="427177"/>
                  </a:lnTo>
                  <a:lnTo>
                    <a:pt x="505142" y="405587"/>
                  </a:lnTo>
                  <a:lnTo>
                    <a:pt x="518121" y="380834"/>
                  </a:lnTo>
                  <a:lnTo>
                    <a:pt x="527151" y="348945"/>
                  </a:lnTo>
                  <a:lnTo>
                    <a:pt x="530542" y="306019"/>
                  </a:lnTo>
                  <a:close/>
                </a:path>
                <a:path w="636904" h="627379">
                  <a:moveTo>
                    <a:pt x="620763" y="136486"/>
                  </a:moveTo>
                  <a:lnTo>
                    <a:pt x="617347" y="130530"/>
                  </a:lnTo>
                  <a:lnTo>
                    <a:pt x="613943" y="124561"/>
                  </a:lnTo>
                  <a:lnTo>
                    <a:pt x="606374" y="122516"/>
                  </a:lnTo>
                  <a:lnTo>
                    <a:pt x="600430" y="125933"/>
                  </a:lnTo>
                  <a:lnTo>
                    <a:pt x="553237" y="153327"/>
                  </a:lnTo>
                  <a:lnTo>
                    <a:pt x="547306" y="156743"/>
                  </a:lnTo>
                  <a:lnTo>
                    <a:pt x="545261" y="164363"/>
                  </a:lnTo>
                  <a:lnTo>
                    <a:pt x="552081" y="176288"/>
                  </a:lnTo>
                  <a:lnTo>
                    <a:pt x="559650" y="178346"/>
                  </a:lnTo>
                  <a:lnTo>
                    <a:pt x="565581" y="174917"/>
                  </a:lnTo>
                  <a:lnTo>
                    <a:pt x="612787" y="147523"/>
                  </a:lnTo>
                  <a:lnTo>
                    <a:pt x="618718" y="144094"/>
                  </a:lnTo>
                  <a:lnTo>
                    <a:pt x="620763" y="136486"/>
                  </a:lnTo>
                  <a:close/>
                </a:path>
                <a:path w="636904" h="627379">
                  <a:moveTo>
                    <a:pt x="636422" y="297167"/>
                  </a:moveTo>
                  <a:lnTo>
                    <a:pt x="630847" y="291566"/>
                  </a:lnTo>
                  <a:lnTo>
                    <a:pt x="567067" y="291566"/>
                  </a:lnTo>
                  <a:lnTo>
                    <a:pt x="561492" y="297167"/>
                  </a:lnTo>
                  <a:lnTo>
                    <a:pt x="561492" y="310984"/>
                  </a:lnTo>
                  <a:lnTo>
                    <a:pt x="567067" y="316585"/>
                  </a:lnTo>
                  <a:lnTo>
                    <a:pt x="623976" y="316585"/>
                  </a:lnTo>
                  <a:lnTo>
                    <a:pt x="630847" y="316585"/>
                  </a:lnTo>
                  <a:lnTo>
                    <a:pt x="636422" y="310984"/>
                  </a:lnTo>
                  <a:lnTo>
                    <a:pt x="636422" y="297167"/>
                  </a:lnTo>
                  <a:close/>
                </a:path>
              </a:pathLst>
            </a:custGeom>
            <a:solidFill>
              <a:srgbClr val="000000"/>
            </a:solidFill>
          </p:spPr>
          <p:txBody>
            <a:bodyPr wrap="square" lIns="0" tIns="0" rIns="0" bIns="0" rtlCol="0"/>
            <a:lstStyle/>
            <a:p>
              <a:endParaRPr sz="700"/>
            </a:p>
          </p:txBody>
        </p:sp>
        <p:pic>
          <p:nvPicPr>
            <p:cNvPr id="12" name="object 12"/>
            <p:cNvPicPr/>
            <p:nvPr/>
          </p:nvPicPr>
          <p:blipFill>
            <a:blip r:embed="rId4" cstate="print"/>
            <a:stretch>
              <a:fillRect/>
            </a:stretch>
          </p:blipFill>
          <p:spPr>
            <a:xfrm>
              <a:off x="5504966" y="7750728"/>
              <a:ext cx="205293" cy="379499"/>
            </a:xfrm>
            <a:prstGeom prst="rect">
              <a:avLst/>
            </a:prstGeom>
          </p:spPr>
        </p:pic>
      </p:grpSp>
      <p:sp>
        <p:nvSpPr>
          <p:cNvPr id="13" name="object 13"/>
          <p:cNvSpPr txBox="1"/>
          <p:nvPr/>
        </p:nvSpPr>
        <p:spPr>
          <a:xfrm>
            <a:off x="30836" y="3691987"/>
            <a:ext cx="4806315" cy="769763"/>
          </a:xfrm>
          <a:prstGeom prst="rect">
            <a:avLst/>
          </a:prstGeom>
        </p:spPr>
        <p:txBody>
          <a:bodyPr vert="horz" wrap="square" lIns="0" tIns="6668" rIns="0" bIns="0" rtlCol="0">
            <a:spAutoFit/>
          </a:bodyPr>
          <a:lstStyle/>
          <a:p>
            <a:pPr algn="ctr">
              <a:spcBef>
                <a:spcPts val="53"/>
              </a:spcBef>
            </a:pPr>
            <a:r>
              <a:rPr sz="2125" b="1" spc="-13" dirty="0">
                <a:solidFill>
                  <a:srgbClr val="13110E"/>
                </a:solidFill>
                <a:latin typeface="Open Sans Extrabold"/>
                <a:cs typeface="Open Sans Extrabold"/>
              </a:rPr>
              <a:t>Tip</a:t>
            </a:r>
            <a:endParaRPr sz="2125">
              <a:latin typeface="Open Sans Extrabold"/>
              <a:cs typeface="Open Sans Extrabold"/>
            </a:endParaRPr>
          </a:p>
          <a:p>
            <a:pPr algn="ctr">
              <a:spcBef>
                <a:spcPts val="1298"/>
              </a:spcBef>
            </a:pPr>
            <a:r>
              <a:rPr sz="1750" b="1" dirty="0">
                <a:solidFill>
                  <a:srgbClr val="13110E"/>
                </a:solidFill>
                <a:latin typeface="Open Sans"/>
                <a:cs typeface="Open Sans"/>
              </a:rPr>
              <a:t>Edge</a:t>
            </a:r>
            <a:r>
              <a:rPr sz="1750" b="1" spc="-23" dirty="0">
                <a:solidFill>
                  <a:srgbClr val="13110E"/>
                </a:solidFill>
                <a:latin typeface="Open Sans"/>
                <a:cs typeface="Open Sans"/>
              </a:rPr>
              <a:t> </a:t>
            </a:r>
            <a:r>
              <a:rPr sz="1750" b="1" dirty="0">
                <a:solidFill>
                  <a:srgbClr val="13110E"/>
                </a:solidFill>
                <a:latin typeface="Open Sans"/>
                <a:cs typeface="Open Sans"/>
              </a:rPr>
              <a:t>location</a:t>
            </a:r>
            <a:r>
              <a:rPr sz="1750" b="1" spc="-23" dirty="0">
                <a:solidFill>
                  <a:srgbClr val="13110E"/>
                </a:solidFill>
                <a:latin typeface="Open Sans"/>
                <a:cs typeface="Open Sans"/>
              </a:rPr>
              <a:t> </a:t>
            </a:r>
            <a:r>
              <a:rPr sz="1750" b="1" dirty="0">
                <a:solidFill>
                  <a:srgbClr val="13110E"/>
                </a:solidFill>
                <a:latin typeface="Open Sans"/>
                <a:cs typeface="Open Sans"/>
              </a:rPr>
              <a:t>&gt;</a:t>
            </a:r>
            <a:r>
              <a:rPr sz="1750" b="1" spc="-23" dirty="0">
                <a:solidFill>
                  <a:srgbClr val="13110E"/>
                </a:solidFill>
                <a:latin typeface="Open Sans"/>
                <a:cs typeface="Open Sans"/>
              </a:rPr>
              <a:t> </a:t>
            </a:r>
            <a:r>
              <a:rPr sz="1750" b="1" dirty="0">
                <a:solidFill>
                  <a:srgbClr val="13110E"/>
                </a:solidFill>
                <a:latin typeface="Open Sans"/>
                <a:cs typeface="Open Sans"/>
              </a:rPr>
              <a:t>Availability</a:t>
            </a:r>
            <a:r>
              <a:rPr sz="1750" b="1" spc="-23" dirty="0">
                <a:solidFill>
                  <a:srgbClr val="13110E"/>
                </a:solidFill>
                <a:latin typeface="Open Sans"/>
                <a:cs typeface="Open Sans"/>
              </a:rPr>
              <a:t> </a:t>
            </a:r>
            <a:r>
              <a:rPr sz="1750" b="1" dirty="0">
                <a:solidFill>
                  <a:srgbClr val="13110E"/>
                </a:solidFill>
                <a:latin typeface="Open Sans"/>
                <a:cs typeface="Open Sans"/>
              </a:rPr>
              <a:t>Zones</a:t>
            </a:r>
            <a:r>
              <a:rPr sz="1750" b="1" spc="-20" dirty="0">
                <a:solidFill>
                  <a:srgbClr val="13110E"/>
                </a:solidFill>
                <a:latin typeface="Open Sans"/>
                <a:cs typeface="Open Sans"/>
              </a:rPr>
              <a:t> </a:t>
            </a:r>
            <a:r>
              <a:rPr sz="1750" b="1" dirty="0">
                <a:solidFill>
                  <a:srgbClr val="13110E"/>
                </a:solidFill>
                <a:latin typeface="Open Sans"/>
                <a:cs typeface="Open Sans"/>
              </a:rPr>
              <a:t>&gt;</a:t>
            </a:r>
            <a:r>
              <a:rPr sz="1750" b="1" spc="-23" dirty="0">
                <a:solidFill>
                  <a:srgbClr val="13110E"/>
                </a:solidFill>
                <a:latin typeface="Open Sans"/>
                <a:cs typeface="Open Sans"/>
              </a:rPr>
              <a:t> </a:t>
            </a:r>
            <a:r>
              <a:rPr sz="1750" b="1" spc="-5" dirty="0">
                <a:solidFill>
                  <a:srgbClr val="13110E"/>
                </a:solidFill>
                <a:latin typeface="Open Sans"/>
                <a:cs typeface="Open Sans"/>
              </a:rPr>
              <a:t>Regions</a:t>
            </a:r>
            <a:endParaRPr sz="1750">
              <a:latin typeface="Open Sans"/>
              <a:cs typeface="Open Sans"/>
            </a:endParaRPr>
          </a:p>
        </p:txBody>
      </p:sp>
      <p:sp>
        <p:nvSpPr>
          <p:cNvPr id="14" name="object 14"/>
          <p:cNvSpPr txBox="1"/>
          <p:nvPr/>
        </p:nvSpPr>
        <p:spPr>
          <a:xfrm>
            <a:off x="8173736" y="56321"/>
            <a:ext cx="911860" cy="138499"/>
          </a:xfrm>
          <a:prstGeom prst="rect">
            <a:avLst/>
          </a:prstGeom>
        </p:spPr>
        <p:txBody>
          <a:bodyPr vert="horz" wrap="square" lIns="0" tIns="7620" rIns="0" bIns="0" rtlCol="0">
            <a:spAutoFit/>
          </a:bodyPr>
          <a:lstStyle/>
          <a:p>
            <a:pPr marL="6350">
              <a:spcBef>
                <a:spcPts val="60"/>
              </a:spcBef>
            </a:pPr>
            <a:r>
              <a:rPr sz="850" dirty="0">
                <a:solidFill>
                  <a:srgbClr val="13110E"/>
                </a:solidFill>
                <a:latin typeface="Open Sans Light"/>
                <a:cs typeface="Open Sans Light"/>
              </a:rPr>
              <a:t>Learn</a:t>
            </a:r>
            <a:r>
              <a:rPr sz="850" spc="15" dirty="0">
                <a:solidFill>
                  <a:srgbClr val="13110E"/>
                </a:solidFill>
                <a:latin typeface="Open Sans Light"/>
                <a:cs typeface="Open Sans Light"/>
              </a:rPr>
              <a:t> </a:t>
            </a:r>
            <a:r>
              <a:rPr sz="850" dirty="0">
                <a:solidFill>
                  <a:srgbClr val="13110E"/>
                </a:solidFill>
                <a:latin typeface="Open Sans Light"/>
                <a:cs typeface="Open Sans Light"/>
              </a:rPr>
              <a:t>With</a:t>
            </a:r>
            <a:r>
              <a:rPr sz="850" spc="15" dirty="0">
                <a:solidFill>
                  <a:srgbClr val="13110E"/>
                </a:solidFill>
                <a:latin typeface="Open Sans Light"/>
                <a:cs typeface="Open Sans Light"/>
              </a:rPr>
              <a:t> </a:t>
            </a:r>
            <a:r>
              <a:rPr sz="850" spc="-5" dirty="0">
                <a:solidFill>
                  <a:srgbClr val="13110E"/>
                </a:solidFill>
                <a:latin typeface="Open Sans Light"/>
                <a:cs typeface="Open Sans Light"/>
              </a:rPr>
              <a:t>Sandip</a:t>
            </a:r>
            <a:endParaRPr sz="850">
              <a:latin typeface="Open Sans Light"/>
              <a:cs typeface="Open Sans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3911" y="905475"/>
            <a:ext cx="4391025" cy="2481262"/>
          </a:xfrm>
          <a:prstGeom prst="rect">
            <a:avLst/>
          </a:prstGeom>
        </p:spPr>
      </p:pic>
      <p:sp>
        <p:nvSpPr>
          <p:cNvPr id="3" name="object 3"/>
          <p:cNvSpPr txBox="1">
            <a:spLocks noGrp="1"/>
          </p:cNvSpPr>
          <p:nvPr>
            <p:ph type="title"/>
          </p:nvPr>
        </p:nvSpPr>
        <p:spPr>
          <a:xfrm>
            <a:off x="4565650" y="503001"/>
            <a:ext cx="4347845" cy="1004121"/>
          </a:xfrm>
          <a:prstGeom prst="rect">
            <a:avLst/>
          </a:prstGeom>
        </p:spPr>
        <p:txBody>
          <a:bodyPr spcFirstLastPara="1" vert="horz" wrap="square" lIns="0" tIns="6350" rIns="0" bIns="0" rtlCol="0" anchor="t" anchorCtr="0">
            <a:spAutoFit/>
          </a:bodyPr>
          <a:lstStyle/>
          <a:p>
            <a:pPr marL="6350">
              <a:spcBef>
                <a:spcPts val="50"/>
              </a:spcBef>
            </a:pPr>
            <a:r>
              <a:rPr sz="3200" b="0" dirty="0">
                <a:solidFill>
                  <a:srgbClr val="13110E"/>
                </a:solidFill>
              </a:rPr>
              <a:t>What</a:t>
            </a:r>
            <a:r>
              <a:rPr sz="3200" b="0" spc="-155" dirty="0">
                <a:solidFill>
                  <a:srgbClr val="13110E"/>
                </a:solidFill>
              </a:rPr>
              <a:t> </a:t>
            </a:r>
            <a:r>
              <a:rPr sz="3200" b="0" dirty="0">
                <a:solidFill>
                  <a:srgbClr val="13110E"/>
                </a:solidFill>
              </a:rPr>
              <a:t>is</a:t>
            </a:r>
            <a:r>
              <a:rPr sz="3200" b="0" spc="-153" dirty="0">
                <a:solidFill>
                  <a:srgbClr val="13110E"/>
                </a:solidFill>
              </a:rPr>
              <a:t> </a:t>
            </a:r>
            <a:r>
              <a:rPr sz="3200" b="0" dirty="0">
                <a:solidFill>
                  <a:srgbClr val="13110E"/>
                </a:solidFill>
              </a:rPr>
              <a:t>Edge</a:t>
            </a:r>
            <a:r>
              <a:rPr sz="3200" b="0" spc="-153" dirty="0">
                <a:solidFill>
                  <a:srgbClr val="13110E"/>
                </a:solidFill>
              </a:rPr>
              <a:t> </a:t>
            </a:r>
            <a:r>
              <a:rPr sz="3200" b="0" spc="-28" dirty="0">
                <a:solidFill>
                  <a:srgbClr val="13110E"/>
                </a:solidFill>
              </a:rPr>
              <a:t>Locations?</a:t>
            </a:r>
            <a:endParaRPr sz="3200" dirty="0"/>
          </a:p>
        </p:txBody>
      </p:sp>
      <p:sp>
        <p:nvSpPr>
          <p:cNvPr id="4" name="object 4"/>
          <p:cNvSpPr txBox="1"/>
          <p:nvPr/>
        </p:nvSpPr>
        <p:spPr>
          <a:xfrm>
            <a:off x="4565650" y="1659748"/>
            <a:ext cx="4119563" cy="2076531"/>
          </a:xfrm>
          <a:prstGeom prst="rect">
            <a:avLst/>
          </a:prstGeom>
        </p:spPr>
        <p:txBody>
          <a:bodyPr vert="horz" wrap="square" lIns="0" tIns="6350" rIns="0" bIns="0" rtlCol="0">
            <a:spAutoFit/>
          </a:bodyPr>
          <a:lstStyle/>
          <a:p>
            <a:pPr marL="6350" marR="2540">
              <a:lnSpc>
                <a:spcPct val="107100"/>
              </a:lnSpc>
              <a:spcBef>
                <a:spcPts val="50"/>
              </a:spcBef>
            </a:pPr>
            <a:r>
              <a:rPr dirty="0">
                <a:solidFill>
                  <a:srgbClr val="13110E"/>
                </a:solidFill>
                <a:latin typeface="Roboto"/>
                <a:cs typeface="Roboto"/>
              </a:rPr>
              <a:t>An</a:t>
            </a:r>
            <a:r>
              <a:rPr spc="143" dirty="0">
                <a:solidFill>
                  <a:srgbClr val="13110E"/>
                </a:solidFill>
                <a:latin typeface="Roboto"/>
                <a:cs typeface="Roboto"/>
              </a:rPr>
              <a:t> </a:t>
            </a:r>
            <a:r>
              <a:rPr dirty="0">
                <a:solidFill>
                  <a:srgbClr val="13110E"/>
                </a:solidFill>
                <a:latin typeface="Roboto"/>
                <a:cs typeface="Roboto"/>
              </a:rPr>
              <a:t>edge</a:t>
            </a:r>
            <a:r>
              <a:rPr spc="143" dirty="0">
                <a:solidFill>
                  <a:srgbClr val="13110E"/>
                </a:solidFill>
                <a:latin typeface="Roboto"/>
                <a:cs typeface="Roboto"/>
              </a:rPr>
              <a:t> </a:t>
            </a:r>
            <a:r>
              <a:rPr dirty="0">
                <a:solidFill>
                  <a:srgbClr val="13110E"/>
                </a:solidFill>
                <a:latin typeface="Roboto"/>
                <a:cs typeface="Roboto"/>
              </a:rPr>
              <a:t>location</a:t>
            </a:r>
            <a:r>
              <a:rPr spc="143" dirty="0">
                <a:solidFill>
                  <a:srgbClr val="13110E"/>
                </a:solidFill>
                <a:latin typeface="Roboto"/>
                <a:cs typeface="Roboto"/>
              </a:rPr>
              <a:t> </a:t>
            </a:r>
            <a:r>
              <a:rPr dirty="0">
                <a:solidFill>
                  <a:srgbClr val="13110E"/>
                </a:solidFill>
                <a:latin typeface="Roboto"/>
                <a:cs typeface="Roboto"/>
              </a:rPr>
              <a:t>is</a:t>
            </a:r>
            <a:r>
              <a:rPr spc="143" dirty="0">
                <a:solidFill>
                  <a:srgbClr val="13110E"/>
                </a:solidFill>
                <a:latin typeface="Roboto"/>
                <a:cs typeface="Roboto"/>
              </a:rPr>
              <a:t> </a:t>
            </a:r>
            <a:r>
              <a:rPr dirty="0">
                <a:solidFill>
                  <a:srgbClr val="13110E"/>
                </a:solidFill>
                <a:latin typeface="Roboto"/>
                <a:cs typeface="Roboto"/>
              </a:rPr>
              <a:t>where</a:t>
            </a:r>
            <a:r>
              <a:rPr spc="143" dirty="0">
                <a:solidFill>
                  <a:srgbClr val="13110E"/>
                </a:solidFill>
                <a:latin typeface="Roboto"/>
                <a:cs typeface="Roboto"/>
              </a:rPr>
              <a:t> </a:t>
            </a:r>
            <a:r>
              <a:rPr dirty="0">
                <a:solidFill>
                  <a:srgbClr val="13110E"/>
                </a:solidFill>
                <a:latin typeface="Roboto"/>
                <a:cs typeface="Roboto"/>
              </a:rPr>
              <a:t>end-users</a:t>
            </a:r>
            <a:r>
              <a:rPr spc="143" dirty="0">
                <a:solidFill>
                  <a:srgbClr val="13110E"/>
                </a:solidFill>
                <a:latin typeface="Roboto"/>
                <a:cs typeface="Roboto"/>
              </a:rPr>
              <a:t> </a:t>
            </a:r>
            <a:r>
              <a:rPr spc="-5" dirty="0">
                <a:solidFill>
                  <a:srgbClr val="13110E"/>
                </a:solidFill>
                <a:latin typeface="Roboto"/>
                <a:cs typeface="Roboto"/>
              </a:rPr>
              <a:t>access </a:t>
            </a:r>
            <a:r>
              <a:rPr dirty="0">
                <a:solidFill>
                  <a:srgbClr val="13110E"/>
                </a:solidFill>
                <a:latin typeface="Roboto"/>
                <a:cs typeface="Roboto"/>
              </a:rPr>
              <a:t>services</a:t>
            </a:r>
            <a:r>
              <a:rPr spc="140" dirty="0">
                <a:solidFill>
                  <a:srgbClr val="13110E"/>
                </a:solidFill>
                <a:latin typeface="Roboto"/>
                <a:cs typeface="Roboto"/>
              </a:rPr>
              <a:t> </a:t>
            </a:r>
            <a:r>
              <a:rPr dirty="0">
                <a:solidFill>
                  <a:srgbClr val="13110E"/>
                </a:solidFill>
                <a:latin typeface="Roboto"/>
                <a:cs typeface="Roboto"/>
              </a:rPr>
              <a:t>located</a:t>
            </a:r>
            <a:r>
              <a:rPr spc="143" dirty="0">
                <a:solidFill>
                  <a:srgbClr val="13110E"/>
                </a:solidFill>
                <a:latin typeface="Roboto"/>
                <a:cs typeface="Roboto"/>
              </a:rPr>
              <a:t> </a:t>
            </a:r>
            <a:r>
              <a:rPr dirty="0">
                <a:solidFill>
                  <a:srgbClr val="13110E"/>
                </a:solidFill>
                <a:latin typeface="Roboto"/>
                <a:cs typeface="Roboto"/>
              </a:rPr>
              <a:t>at</a:t>
            </a:r>
            <a:r>
              <a:rPr spc="143" dirty="0">
                <a:solidFill>
                  <a:srgbClr val="13110E"/>
                </a:solidFill>
                <a:latin typeface="Roboto"/>
                <a:cs typeface="Roboto"/>
              </a:rPr>
              <a:t> </a:t>
            </a:r>
            <a:r>
              <a:rPr dirty="0">
                <a:solidFill>
                  <a:srgbClr val="13110E"/>
                </a:solidFill>
                <a:latin typeface="Roboto"/>
                <a:cs typeface="Roboto"/>
              </a:rPr>
              <a:t>AWS,</a:t>
            </a:r>
            <a:r>
              <a:rPr spc="143" dirty="0">
                <a:solidFill>
                  <a:srgbClr val="13110E"/>
                </a:solidFill>
                <a:latin typeface="Roboto"/>
                <a:cs typeface="Roboto"/>
              </a:rPr>
              <a:t> </a:t>
            </a:r>
            <a:r>
              <a:rPr dirty="0">
                <a:solidFill>
                  <a:srgbClr val="13110E"/>
                </a:solidFill>
                <a:latin typeface="Roboto"/>
                <a:cs typeface="Roboto"/>
              </a:rPr>
              <a:t>the</a:t>
            </a:r>
            <a:r>
              <a:rPr spc="140" dirty="0">
                <a:solidFill>
                  <a:srgbClr val="13110E"/>
                </a:solidFill>
                <a:latin typeface="Roboto"/>
                <a:cs typeface="Roboto"/>
              </a:rPr>
              <a:t> </a:t>
            </a:r>
            <a:r>
              <a:rPr dirty="0">
                <a:solidFill>
                  <a:srgbClr val="13110E"/>
                </a:solidFill>
                <a:latin typeface="Roboto"/>
                <a:cs typeface="Roboto"/>
              </a:rPr>
              <a:t>cloud</a:t>
            </a:r>
            <a:r>
              <a:rPr spc="143" dirty="0">
                <a:solidFill>
                  <a:srgbClr val="13110E"/>
                </a:solidFill>
                <a:latin typeface="Roboto"/>
                <a:cs typeface="Roboto"/>
              </a:rPr>
              <a:t> </a:t>
            </a:r>
            <a:r>
              <a:rPr spc="-5" dirty="0">
                <a:solidFill>
                  <a:srgbClr val="13110E"/>
                </a:solidFill>
                <a:latin typeface="Roboto"/>
                <a:cs typeface="Roboto"/>
              </a:rPr>
              <a:t>computing </a:t>
            </a:r>
            <a:r>
              <a:rPr dirty="0">
                <a:solidFill>
                  <a:srgbClr val="13110E"/>
                </a:solidFill>
                <a:latin typeface="Roboto"/>
                <a:cs typeface="Roboto"/>
              </a:rPr>
              <a:t>division</a:t>
            </a:r>
            <a:r>
              <a:rPr spc="200" dirty="0">
                <a:solidFill>
                  <a:srgbClr val="13110E"/>
                </a:solidFill>
                <a:latin typeface="Roboto"/>
                <a:cs typeface="Roboto"/>
              </a:rPr>
              <a:t> </a:t>
            </a:r>
            <a:r>
              <a:rPr dirty="0">
                <a:solidFill>
                  <a:srgbClr val="13110E"/>
                </a:solidFill>
                <a:latin typeface="Roboto"/>
                <a:cs typeface="Roboto"/>
              </a:rPr>
              <a:t>of</a:t>
            </a:r>
            <a:r>
              <a:rPr spc="200" dirty="0">
                <a:solidFill>
                  <a:srgbClr val="13110E"/>
                </a:solidFill>
                <a:latin typeface="Roboto"/>
                <a:cs typeface="Roboto"/>
              </a:rPr>
              <a:t> </a:t>
            </a:r>
            <a:r>
              <a:rPr dirty="0">
                <a:solidFill>
                  <a:srgbClr val="13110E"/>
                </a:solidFill>
                <a:latin typeface="Roboto"/>
                <a:cs typeface="Roboto"/>
              </a:rPr>
              <a:t>US-headquartered</a:t>
            </a:r>
            <a:r>
              <a:rPr spc="200" dirty="0">
                <a:solidFill>
                  <a:srgbClr val="13110E"/>
                </a:solidFill>
                <a:latin typeface="Roboto"/>
                <a:cs typeface="Roboto"/>
              </a:rPr>
              <a:t> </a:t>
            </a:r>
            <a:r>
              <a:rPr dirty="0">
                <a:solidFill>
                  <a:srgbClr val="13110E"/>
                </a:solidFill>
                <a:latin typeface="Roboto"/>
                <a:cs typeface="Roboto"/>
              </a:rPr>
              <a:t>Amazon.</a:t>
            </a:r>
            <a:r>
              <a:rPr spc="203" dirty="0">
                <a:solidFill>
                  <a:srgbClr val="13110E"/>
                </a:solidFill>
                <a:latin typeface="Roboto"/>
                <a:cs typeface="Roboto"/>
              </a:rPr>
              <a:t> </a:t>
            </a:r>
            <a:r>
              <a:rPr dirty="0">
                <a:solidFill>
                  <a:srgbClr val="13110E"/>
                </a:solidFill>
                <a:latin typeface="Roboto"/>
                <a:cs typeface="Roboto"/>
              </a:rPr>
              <a:t>They</a:t>
            </a:r>
            <a:r>
              <a:rPr spc="200" dirty="0">
                <a:solidFill>
                  <a:srgbClr val="13110E"/>
                </a:solidFill>
                <a:latin typeface="Roboto"/>
                <a:cs typeface="Roboto"/>
              </a:rPr>
              <a:t> </a:t>
            </a:r>
            <a:r>
              <a:rPr spc="-13" dirty="0">
                <a:solidFill>
                  <a:srgbClr val="13110E"/>
                </a:solidFill>
                <a:latin typeface="Roboto"/>
                <a:cs typeface="Roboto"/>
              </a:rPr>
              <a:t>are </a:t>
            </a:r>
            <a:r>
              <a:rPr dirty="0">
                <a:solidFill>
                  <a:srgbClr val="13110E"/>
                </a:solidFill>
                <a:latin typeface="Roboto"/>
                <a:cs typeface="Roboto"/>
              </a:rPr>
              <a:t>located</a:t>
            </a:r>
            <a:r>
              <a:rPr spc="130" dirty="0">
                <a:solidFill>
                  <a:srgbClr val="13110E"/>
                </a:solidFill>
                <a:latin typeface="Roboto"/>
                <a:cs typeface="Roboto"/>
              </a:rPr>
              <a:t> </a:t>
            </a:r>
            <a:r>
              <a:rPr dirty="0">
                <a:solidFill>
                  <a:srgbClr val="13110E"/>
                </a:solidFill>
                <a:latin typeface="Roboto"/>
                <a:cs typeface="Roboto"/>
              </a:rPr>
              <a:t>in</a:t>
            </a:r>
            <a:r>
              <a:rPr spc="133" dirty="0">
                <a:solidFill>
                  <a:srgbClr val="13110E"/>
                </a:solidFill>
                <a:latin typeface="Roboto"/>
                <a:cs typeface="Roboto"/>
              </a:rPr>
              <a:t> </a:t>
            </a:r>
            <a:r>
              <a:rPr dirty="0">
                <a:solidFill>
                  <a:srgbClr val="13110E"/>
                </a:solidFill>
                <a:latin typeface="Roboto"/>
                <a:cs typeface="Roboto"/>
              </a:rPr>
              <a:t>most</a:t>
            </a:r>
            <a:r>
              <a:rPr spc="130" dirty="0">
                <a:solidFill>
                  <a:srgbClr val="13110E"/>
                </a:solidFill>
                <a:latin typeface="Roboto"/>
                <a:cs typeface="Roboto"/>
              </a:rPr>
              <a:t> </a:t>
            </a:r>
            <a:r>
              <a:rPr dirty="0">
                <a:solidFill>
                  <a:srgbClr val="13110E"/>
                </a:solidFill>
                <a:latin typeface="Roboto"/>
                <a:cs typeface="Roboto"/>
              </a:rPr>
              <a:t>of</a:t>
            </a:r>
            <a:r>
              <a:rPr spc="133" dirty="0">
                <a:solidFill>
                  <a:srgbClr val="13110E"/>
                </a:solidFill>
                <a:latin typeface="Roboto"/>
                <a:cs typeface="Roboto"/>
              </a:rPr>
              <a:t> </a:t>
            </a:r>
            <a:r>
              <a:rPr dirty="0">
                <a:solidFill>
                  <a:srgbClr val="13110E"/>
                </a:solidFill>
                <a:latin typeface="Roboto"/>
                <a:cs typeface="Roboto"/>
              </a:rPr>
              <a:t>the</a:t>
            </a:r>
            <a:r>
              <a:rPr spc="133" dirty="0">
                <a:solidFill>
                  <a:srgbClr val="13110E"/>
                </a:solidFill>
                <a:latin typeface="Roboto"/>
                <a:cs typeface="Roboto"/>
              </a:rPr>
              <a:t> </a:t>
            </a:r>
            <a:r>
              <a:rPr dirty="0">
                <a:solidFill>
                  <a:srgbClr val="13110E"/>
                </a:solidFill>
                <a:latin typeface="Roboto"/>
                <a:cs typeface="Roboto"/>
              </a:rPr>
              <a:t>major</a:t>
            </a:r>
            <a:r>
              <a:rPr spc="130" dirty="0">
                <a:solidFill>
                  <a:srgbClr val="13110E"/>
                </a:solidFill>
                <a:latin typeface="Roboto"/>
                <a:cs typeface="Roboto"/>
              </a:rPr>
              <a:t> </a:t>
            </a:r>
            <a:r>
              <a:rPr dirty="0">
                <a:solidFill>
                  <a:srgbClr val="13110E"/>
                </a:solidFill>
                <a:latin typeface="Roboto"/>
                <a:cs typeface="Roboto"/>
              </a:rPr>
              <a:t>cities</a:t>
            </a:r>
            <a:r>
              <a:rPr spc="133" dirty="0">
                <a:solidFill>
                  <a:srgbClr val="13110E"/>
                </a:solidFill>
                <a:latin typeface="Roboto"/>
                <a:cs typeface="Roboto"/>
              </a:rPr>
              <a:t> </a:t>
            </a:r>
            <a:r>
              <a:rPr dirty="0">
                <a:solidFill>
                  <a:srgbClr val="13110E"/>
                </a:solidFill>
                <a:latin typeface="Roboto"/>
                <a:cs typeface="Roboto"/>
              </a:rPr>
              <a:t>around</a:t>
            </a:r>
            <a:r>
              <a:rPr spc="133" dirty="0">
                <a:solidFill>
                  <a:srgbClr val="13110E"/>
                </a:solidFill>
                <a:latin typeface="Roboto"/>
                <a:cs typeface="Roboto"/>
              </a:rPr>
              <a:t> </a:t>
            </a:r>
            <a:r>
              <a:rPr spc="-13" dirty="0">
                <a:solidFill>
                  <a:srgbClr val="13110E"/>
                </a:solidFill>
                <a:latin typeface="Roboto"/>
                <a:cs typeface="Roboto"/>
              </a:rPr>
              <a:t>the </a:t>
            </a:r>
            <a:r>
              <a:rPr dirty="0">
                <a:solidFill>
                  <a:srgbClr val="13110E"/>
                </a:solidFill>
                <a:latin typeface="Roboto"/>
                <a:cs typeface="Roboto"/>
              </a:rPr>
              <a:t>world</a:t>
            </a:r>
            <a:r>
              <a:rPr spc="140" dirty="0">
                <a:solidFill>
                  <a:srgbClr val="13110E"/>
                </a:solidFill>
                <a:latin typeface="Roboto"/>
                <a:cs typeface="Roboto"/>
              </a:rPr>
              <a:t> </a:t>
            </a:r>
            <a:r>
              <a:rPr dirty="0">
                <a:solidFill>
                  <a:srgbClr val="13110E"/>
                </a:solidFill>
                <a:latin typeface="Roboto"/>
                <a:cs typeface="Roboto"/>
              </a:rPr>
              <a:t>and</a:t>
            </a:r>
            <a:r>
              <a:rPr spc="140" dirty="0">
                <a:solidFill>
                  <a:srgbClr val="13110E"/>
                </a:solidFill>
                <a:latin typeface="Roboto"/>
                <a:cs typeface="Roboto"/>
              </a:rPr>
              <a:t> </a:t>
            </a:r>
            <a:r>
              <a:rPr dirty="0">
                <a:solidFill>
                  <a:srgbClr val="13110E"/>
                </a:solidFill>
                <a:latin typeface="Roboto"/>
                <a:cs typeface="Roboto"/>
              </a:rPr>
              <a:t>are</a:t>
            </a:r>
            <a:r>
              <a:rPr spc="140" dirty="0">
                <a:solidFill>
                  <a:srgbClr val="13110E"/>
                </a:solidFill>
                <a:latin typeface="Roboto"/>
                <a:cs typeface="Roboto"/>
              </a:rPr>
              <a:t> </a:t>
            </a:r>
            <a:r>
              <a:rPr dirty="0">
                <a:solidFill>
                  <a:srgbClr val="13110E"/>
                </a:solidFill>
                <a:latin typeface="Roboto"/>
                <a:cs typeface="Roboto"/>
              </a:rPr>
              <a:t>specifically</a:t>
            </a:r>
            <a:r>
              <a:rPr spc="140" dirty="0">
                <a:solidFill>
                  <a:srgbClr val="13110E"/>
                </a:solidFill>
                <a:latin typeface="Roboto"/>
                <a:cs typeface="Roboto"/>
              </a:rPr>
              <a:t> </a:t>
            </a:r>
            <a:r>
              <a:rPr dirty="0">
                <a:solidFill>
                  <a:srgbClr val="13110E"/>
                </a:solidFill>
                <a:latin typeface="Roboto"/>
                <a:cs typeface="Roboto"/>
              </a:rPr>
              <a:t>used</a:t>
            </a:r>
            <a:r>
              <a:rPr spc="143" dirty="0">
                <a:solidFill>
                  <a:srgbClr val="13110E"/>
                </a:solidFill>
                <a:latin typeface="Roboto"/>
                <a:cs typeface="Roboto"/>
              </a:rPr>
              <a:t> </a:t>
            </a:r>
            <a:r>
              <a:rPr dirty="0">
                <a:solidFill>
                  <a:srgbClr val="13110E"/>
                </a:solidFill>
                <a:latin typeface="Roboto"/>
                <a:cs typeface="Roboto"/>
              </a:rPr>
              <a:t>by</a:t>
            </a:r>
            <a:r>
              <a:rPr spc="140" dirty="0">
                <a:solidFill>
                  <a:srgbClr val="13110E"/>
                </a:solidFill>
                <a:latin typeface="Roboto"/>
                <a:cs typeface="Roboto"/>
              </a:rPr>
              <a:t> </a:t>
            </a:r>
            <a:r>
              <a:rPr spc="-5" dirty="0">
                <a:solidFill>
                  <a:srgbClr val="13110E"/>
                </a:solidFill>
                <a:latin typeface="Roboto"/>
                <a:cs typeface="Roboto"/>
              </a:rPr>
              <a:t>CloudFront </a:t>
            </a:r>
            <a:r>
              <a:rPr dirty="0">
                <a:solidFill>
                  <a:srgbClr val="13110E"/>
                </a:solidFill>
                <a:latin typeface="Roboto"/>
                <a:cs typeface="Roboto"/>
              </a:rPr>
              <a:t>(CDN)</a:t>
            </a:r>
            <a:r>
              <a:rPr spc="148" dirty="0">
                <a:solidFill>
                  <a:srgbClr val="13110E"/>
                </a:solidFill>
                <a:latin typeface="Roboto"/>
                <a:cs typeface="Roboto"/>
              </a:rPr>
              <a:t> </a:t>
            </a:r>
            <a:r>
              <a:rPr dirty="0">
                <a:solidFill>
                  <a:srgbClr val="13110E"/>
                </a:solidFill>
                <a:latin typeface="Roboto"/>
                <a:cs typeface="Roboto"/>
              </a:rPr>
              <a:t>to</a:t>
            </a:r>
            <a:r>
              <a:rPr spc="150" dirty="0">
                <a:solidFill>
                  <a:srgbClr val="13110E"/>
                </a:solidFill>
                <a:latin typeface="Roboto"/>
                <a:cs typeface="Roboto"/>
              </a:rPr>
              <a:t> </a:t>
            </a:r>
            <a:r>
              <a:rPr dirty="0">
                <a:solidFill>
                  <a:srgbClr val="13110E"/>
                </a:solidFill>
                <a:latin typeface="Roboto"/>
                <a:cs typeface="Roboto"/>
              </a:rPr>
              <a:t>distribute</a:t>
            </a:r>
            <a:r>
              <a:rPr spc="148" dirty="0">
                <a:solidFill>
                  <a:srgbClr val="13110E"/>
                </a:solidFill>
                <a:latin typeface="Roboto"/>
                <a:cs typeface="Roboto"/>
              </a:rPr>
              <a:t> </a:t>
            </a:r>
            <a:r>
              <a:rPr dirty="0">
                <a:solidFill>
                  <a:srgbClr val="13110E"/>
                </a:solidFill>
                <a:latin typeface="Roboto"/>
                <a:cs typeface="Roboto"/>
              </a:rPr>
              <a:t>content</a:t>
            </a:r>
            <a:r>
              <a:rPr spc="150" dirty="0">
                <a:solidFill>
                  <a:srgbClr val="13110E"/>
                </a:solidFill>
                <a:latin typeface="Roboto"/>
                <a:cs typeface="Roboto"/>
              </a:rPr>
              <a:t> </a:t>
            </a:r>
            <a:r>
              <a:rPr dirty="0">
                <a:solidFill>
                  <a:srgbClr val="13110E"/>
                </a:solidFill>
                <a:latin typeface="Roboto"/>
                <a:cs typeface="Roboto"/>
              </a:rPr>
              <a:t>to</a:t>
            </a:r>
            <a:r>
              <a:rPr spc="150" dirty="0">
                <a:solidFill>
                  <a:srgbClr val="13110E"/>
                </a:solidFill>
                <a:latin typeface="Roboto"/>
                <a:cs typeface="Roboto"/>
              </a:rPr>
              <a:t> </a:t>
            </a:r>
            <a:r>
              <a:rPr dirty="0">
                <a:solidFill>
                  <a:srgbClr val="13110E"/>
                </a:solidFill>
                <a:latin typeface="Roboto"/>
                <a:cs typeface="Roboto"/>
              </a:rPr>
              <a:t>end-users</a:t>
            </a:r>
            <a:r>
              <a:rPr spc="148" dirty="0">
                <a:solidFill>
                  <a:srgbClr val="13110E"/>
                </a:solidFill>
                <a:latin typeface="Roboto"/>
                <a:cs typeface="Roboto"/>
              </a:rPr>
              <a:t> </a:t>
            </a:r>
            <a:r>
              <a:rPr dirty="0">
                <a:solidFill>
                  <a:srgbClr val="13110E"/>
                </a:solidFill>
                <a:latin typeface="Roboto"/>
                <a:cs typeface="Roboto"/>
              </a:rPr>
              <a:t>to</a:t>
            </a:r>
            <a:r>
              <a:rPr spc="150" dirty="0">
                <a:solidFill>
                  <a:srgbClr val="13110E"/>
                </a:solidFill>
                <a:latin typeface="Roboto"/>
                <a:cs typeface="Roboto"/>
              </a:rPr>
              <a:t> </a:t>
            </a:r>
            <a:r>
              <a:rPr spc="-5" dirty="0">
                <a:solidFill>
                  <a:srgbClr val="13110E"/>
                </a:solidFill>
                <a:latin typeface="Roboto"/>
                <a:cs typeface="Roboto"/>
              </a:rPr>
              <a:t>reduce latency.</a:t>
            </a:r>
            <a:endParaRPr dirty="0">
              <a:latin typeface="Roboto"/>
              <a:cs typeface="Roboto"/>
            </a:endParaRPr>
          </a:p>
          <a:p>
            <a:pPr>
              <a:spcBef>
                <a:spcPts val="240"/>
              </a:spcBef>
            </a:pPr>
            <a:endParaRPr dirty="0">
              <a:latin typeface="Roboto"/>
              <a:cs typeface="Roboto"/>
            </a:endParaRPr>
          </a:p>
          <a:p>
            <a:pPr marL="6350"/>
            <a:endParaRPr dirty="0">
              <a:latin typeface="Roboto"/>
              <a:cs typeface="Roboto"/>
            </a:endParaRPr>
          </a:p>
        </p:txBody>
      </p:sp>
      <p:sp>
        <p:nvSpPr>
          <p:cNvPr id="5" name="object 5"/>
          <p:cNvSpPr/>
          <p:nvPr/>
        </p:nvSpPr>
        <p:spPr>
          <a:xfrm>
            <a:off x="2797586" y="3664993"/>
            <a:ext cx="12700" cy="40005"/>
          </a:xfrm>
          <a:custGeom>
            <a:avLst/>
            <a:gdLst/>
            <a:ahLst/>
            <a:cxnLst/>
            <a:rect l="l" t="t" r="r" b="b"/>
            <a:pathLst>
              <a:path w="25400" h="80009">
                <a:moveTo>
                  <a:pt x="19310" y="79783"/>
                </a:moveTo>
                <a:lnTo>
                  <a:pt x="5570" y="79783"/>
                </a:lnTo>
                <a:lnTo>
                  <a:pt x="0" y="74187"/>
                </a:lnTo>
                <a:lnTo>
                  <a:pt x="0" y="5597"/>
                </a:lnTo>
                <a:lnTo>
                  <a:pt x="5570" y="0"/>
                </a:lnTo>
                <a:lnTo>
                  <a:pt x="19310" y="0"/>
                </a:lnTo>
                <a:lnTo>
                  <a:pt x="24881" y="5597"/>
                </a:lnTo>
                <a:lnTo>
                  <a:pt x="24881" y="12504"/>
                </a:lnTo>
                <a:lnTo>
                  <a:pt x="24881" y="74187"/>
                </a:lnTo>
                <a:lnTo>
                  <a:pt x="19310" y="79783"/>
                </a:lnTo>
                <a:close/>
              </a:path>
            </a:pathLst>
          </a:custGeom>
          <a:solidFill>
            <a:srgbClr val="000000"/>
          </a:solidFill>
        </p:spPr>
        <p:txBody>
          <a:bodyPr wrap="square" lIns="0" tIns="0" rIns="0" bIns="0" rtlCol="0"/>
          <a:lstStyle/>
          <a:p>
            <a:endParaRPr sz="700"/>
          </a:p>
        </p:txBody>
      </p:sp>
      <p:grpSp>
        <p:nvGrpSpPr>
          <p:cNvPr id="6" name="object 6"/>
          <p:cNvGrpSpPr/>
          <p:nvPr/>
        </p:nvGrpSpPr>
        <p:grpSpPr>
          <a:xfrm>
            <a:off x="2644702" y="3686556"/>
            <a:ext cx="318453" cy="378778"/>
            <a:chOff x="5289404" y="7373111"/>
            <a:chExt cx="636905" cy="757555"/>
          </a:xfrm>
        </p:grpSpPr>
        <p:sp>
          <p:nvSpPr>
            <p:cNvPr id="7" name="object 7"/>
            <p:cNvSpPr/>
            <p:nvPr/>
          </p:nvSpPr>
          <p:spPr>
            <a:xfrm>
              <a:off x="5289397" y="7373112"/>
              <a:ext cx="636905" cy="627380"/>
            </a:xfrm>
            <a:custGeom>
              <a:avLst/>
              <a:gdLst/>
              <a:ahLst/>
              <a:cxnLst/>
              <a:rect l="l" t="t" r="r" b="b"/>
              <a:pathLst>
                <a:path w="636904" h="627379">
                  <a:moveTo>
                    <a:pt x="74930" y="297167"/>
                  </a:moveTo>
                  <a:lnTo>
                    <a:pt x="69354" y="291579"/>
                  </a:lnTo>
                  <a:lnTo>
                    <a:pt x="12446" y="291579"/>
                  </a:lnTo>
                  <a:lnTo>
                    <a:pt x="5575" y="291579"/>
                  </a:lnTo>
                  <a:lnTo>
                    <a:pt x="0" y="297167"/>
                  </a:lnTo>
                  <a:lnTo>
                    <a:pt x="0" y="310984"/>
                  </a:lnTo>
                  <a:lnTo>
                    <a:pt x="5575" y="316585"/>
                  </a:lnTo>
                  <a:lnTo>
                    <a:pt x="69354" y="316585"/>
                  </a:lnTo>
                  <a:lnTo>
                    <a:pt x="74930" y="310984"/>
                  </a:lnTo>
                  <a:lnTo>
                    <a:pt x="74930" y="297167"/>
                  </a:lnTo>
                  <a:close/>
                </a:path>
                <a:path w="636904" h="627379">
                  <a:moveTo>
                    <a:pt x="91160" y="164363"/>
                  </a:moveTo>
                  <a:lnTo>
                    <a:pt x="89115" y="156756"/>
                  </a:lnTo>
                  <a:lnTo>
                    <a:pt x="83185" y="153327"/>
                  </a:lnTo>
                  <a:lnTo>
                    <a:pt x="35979" y="125945"/>
                  </a:lnTo>
                  <a:lnTo>
                    <a:pt x="30048" y="122516"/>
                  </a:lnTo>
                  <a:lnTo>
                    <a:pt x="22479" y="124574"/>
                  </a:lnTo>
                  <a:lnTo>
                    <a:pt x="15659" y="136486"/>
                  </a:lnTo>
                  <a:lnTo>
                    <a:pt x="17703" y="144106"/>
                  </a:lnTo>
                  <a:lnTo>
                    <a:pt x="23634" y="147523"/>
                  </a:lnTo>
                  <a:lnTo>
                    <a:pt x="70840" y="174917"/>
                  </a:lnTo>
                  <a:lnTo>
                    <a:pt x="76771" y="178346"/>
                  </a:lnTo>
                  <a:lnTo>
                    <a:pt x="84340" y="176288"/>
                  </a:lnTo>
                  <a:lnTo>
                    <a:pt x="91160" y="164363"/>
                  </a:lnTo>
                  <a:close/>
                </a:path>
                <a:path w="636904" h="627379">
                  <a:moveTo>
                    <a:pt x="193103" y="61417"/>
                  </a:moveTo>
                  <a:lnTo>
                    <a:pt x="189687" y="55460"/>
                  </a:lnTo>
                  <a:lnTo>
                    <a:pt x="162445" y="8026"/>
                  </a:lnTo>
                  <a:lnTo>
                    <a:pt x="159029" y="2057"/>
                  </a:lnTo>
                  <a:lnTo>
                    <a:pt x="151460" y="0"/>
                  </a:lnTo>
                  <a:lnTo>
                    <a:pt x="139598" y="6858"/>
                  </a:lnTo>
                  <a:lnTo>
                    <a:pt x="137553" y="14465"/>
                  </a:lnTo>
                  <a:lnTo>
                    <a:pt x="140957" y="20434"/>
                  </a:lnTo>
                  <a:lnTo>
                    <a:pt x="168211" y="67868"/>
                  </a:lnTo>
                  <a:lnTo>
                    <a:pt x="171615" y="73825"/>
                  </a:lnTo>
                  <a:lnTo>
                    <a:pt x="179197" y="75882"/>
                  </a:lnTo>
                  <a:lnTo>
                    <a:pt x="191058" y="69037"/>
                  </a:lnTo>
                  <a:lnTo>
                    <a:pt x="193103" y="61417"/>
                  </a:lnTo>
                  <a:close/>
                </a:path>
                <a:path w="636904" h="627379">
                  <a:moveTo>
                    <a:pt x="498868" y="14465"/>
                  </a:moveTo>
                  <a:lnTo>
                    <a:pt x="496824" y="6858"/>
                  </a:lnTo>
                  <a:lnTo>
                    <a:pt x="490893" y="3429"/>
                  </a:lnTo>
                  <a:lnTo>
                    <a:pt x="484962" y="0"/>
                  </a:lnTo>
                  <a:lnTo>
                    <a:pt x="477393" y="2057"/>
                  </a:lnTo>
                  <a:lnTo>
                    <a:pt x="473976" y="8026"/>
                  </a:lnTo>
                  <a:lnTo>
                    <a:pt x="446722" y="55460"/>
                  </a:lnTo>
                  <a:lnTo>
                    <a:pt x="443318" y="61417"/>
                  </a:lnTo>
                  <a:lnTo>
                    <a:pt x="445363" y="69037"/>
                  </a:lnTo>
                  <a:lnTo>
                    <a:pt x="457225" y="75882"/>
                  </a:lnTo>
                  <a:lnTo>
                    <a:pt x="464794" y="73825"/>
                  </a:lnTo>
                  <a:lnTo>
                    <a:pt x="468210" y="67868"/>
                  </a:lnTo>
                  <a:lnTo>
                    <a:pt x="495452" y="20434"/>
                  </a:lnTo>
                  <a:lnTo>
                    <a:pt x="498868" y="14465"/>
                  </a:lnTo>
                  <a:close/>
                </a:path>
                <a:path w="636904" h="627379">
                  <a:moveTo>
                    <a:pt x="530542" y="306019"/>
                  </a:moveTo>
                  <a:lnTo>
                    <a:pt x="526224" y="263017"/>
                  </a:lnTo>
                  <a:lnTo>
                    <a:pt x="513854" y="222961"/>
                  </a:lnTo>
                  <a:lnTo>
                    <a:pt x="505663" y="207797"/>
                  </a:lnTo>
                  <a:lnTo>
                    <a:pt x="505663" y="306019"/>
                  </a:lnTo>
                  <a:lnTo>
                    <a:pt x="502691" y="343674"/>
                  </a:lnTo>
                  <a:lnTo>
                    <a:pt x="494753" y="371640"/>
                  </a:lnTo>
                  <a:lnTo>
                    <a:pt x="483362" y="393382"/>
                  </a:lnTo>
                  <a:lnTo>
                    <a:pt x="469988" y="412330"/>
                  </a:lnTo>
                  <a:lnTo>
                    <a:pt x="451866" y="438365"/>
                  </a:lnTo>
                  <a:lnTo>
                    <a:pt x="435648" y="471487"/>
                  </a:lnTo>
                  <a:lnTo>
                    <a:pt x="423976" y="517715"/>
                  </a:lnTo>
                  <a:lnTo>
                    <a:pt x="419493" y="583120"/>
                  </a:lnTo>
                  <a:lnTo>
                    <a:pt x="419493" y="588238"/>
                  </a:lnTo>
                  <a:lnTo>
                    <a:pt x="417410" y="592912"/>
                  </a:lnTo>
                  <a:lnTo>
                    <a:pt x="410667" y="599694"/>
                  </a:lnTo>
                  <a:lnTo>
                    <a:pt x="406019" y="601789"/>
                  </a:lnTo>
                  <a:lnTo>
                    <a:pt x="230403" y="601789"/>
                  </a:lnTo>
                  <a:lnTo>
                    <a:pt x="225755" y="599694"/>
                  </a:lnTo>
                  <a:lnTo>
                    <a:pt x="219011" y="592912"/>
                  </a:lnTo>
                  <a:lnTo>
                    <a:pt x="216916" y="588238"/>
                  </a:lnTo>
                  <a:lnTo>
                    <a:pt x="216916" y="583120"/>
                  </a:lnTo>
                  <a:lnTo>
                    <a:pt x="212445" y="517715"/>
                  </a:lnTo>
                  <a:lnTo>
                    <a:pt x="200761" y="471487"/>
                  </a:lnTo>
                  <a:lnTo>
                    <a:pt x="184543" y="438365"/>
                  </a:lnTo>
                  <a:lnTo>
                    <a:pt x="166433" y="412330"/>
                  </a:lnTo>
                  <a:lnTo>
                    <a:pt x="153060" y="393382"/>
                  </a:lnTo>
                  <a:lnTo>
                    <a:pt x="141668" y="371640"/>
                  </a:lnTo>
                  <a:lnTo>
                    <a:pt x="133731" y="343674"/>
                  </a:lnTo>
                  <a:lnTo>
                    <a:pt x="130759" y="306019"/>
                  </a:lnTo>
                  <a:lnTo>
                    <a:pt x="134569" y="268058"/>
                  </a:lnTo>
                  <a:lnTo>
                    <a:pt x="162775" y="200685"/>
                  </a:lnTo>
                  <a:lnTo>
                    <a:pt x="213410" y="149796"/>
                  </a:lnTo>
                  <a:lnTo>
                    <a:pt x="280428" y="121450"/>
                  </a:lnTo>
                  <a:lnTo>
                    <a:pt x="318211" y="117627"/>
                  </a:lnTo>
                  <a:lnTo>
                    <a:pt x="355993" y="121450"/>
                  </a:lnTo>
                  <a:lnTo>
                    <a:pt x="423011" y="149796"/>
                  </a:lnTo>
                  <a:lnTo>
                    <a:pt x="473646" y="200685"/>
                  </a:lnTo>
                  <a:lnTo>
                    <a:pt x="501853" y="268058"/>
                  </a:lnTo>
                  <a:lnTo>
                    <a:pt x="505663" y="306019"/>
                  </a:lnTo>
                  <a:lnTo>
                    <a:pt x="505663" y="207797"/>
                  </a:lnTo>
                  <a:lnTo>
                    <a:pt x="494271" y="186702"/>
                  </a:lnTo>
                  <a:lnTo>
                    <a:pt x="468350" y="155117"/>
                  </a:lnTo>
                  <a:lnTo>
                    <a:pt x="436918" y="129070"/>
                  </a:lnTo>
                  <a:lnTo>
                    <a:pt x="415950" y="117627"/>
                  </a:lnTo>
                  <a:lnTo>
                    <a:pt x="400862" y="109385"/>
                  </a:lnTo>
                  <a:lnTo>
                    <a:pt x="360997" y="96951"/>
                  </a:lnTo>
                  <a:lnTo>
                    <a:pt x="318211" y="92621"/>
                  </a:lnTo>
                  <a:lnTo>
                    <a:pt x="275424" y="96951"/>
                  </a:lnTo>
                  <a:lnTo>
                    <a:pt x="235559" y="109385"/>
                  </a:lnTo>
                  <a:lnTo>
                    <a:pt x="199491" y="129070"/>
                  </a:lnTo>
                  <a:lnTo>
                    <a:pt x="168071" y="155117"/>
                  </a:lnTo>
                  <a:lnTo>
                    <a:pt x="142138" y="186702"/>
                  </a:lnTo>
                  <a:lnTo>
                    <a:pt x="122567" y="222961"/>
                  </a:lnTo>
                  <a:lnTo>
                    <a:pt x="110197" y="263017"/>
                  </a:lnTo>
                  <a:lnTo>
                    <a:pt x="105879" y="306019"/>
                  </a:lnTo>
                  <a:lnTo>
                    <a:pt x="109270" y="348957"/>
                  </a:lnTo>
                  <a:lnTo>
                    <a:pt x="118300" y="380834"/>
                  </a:lnTo>
                  <a:lnTo>
                    <a:pt x="131279" y="405599"/>
                  </a:lnTo>
                  <a:lnTo>
                    <a:pt x="146507" y="427177"/>
                  </a:lnTo>
                  <a:lnTo>
                    <a:pt x="162839" y="450697"/>
                  </a:lnTo>
                  <a:lnTo>
                    <a:pt x="177469" y="480758"/>
                  </a:lnTo>
                  <a:lnTo>
                    <a:pt x="187998" y="523024"/>
                  </a:lnTo>
                  <a:lnTo>
                    <a:pt x="192036" y="583120"/>
                  </a:lnTo>
                  <a:lnTo>
                    <a:pt x="192925" y="591908"/>
                  </a:lnTo>
                  <a:lnTo>
                    <a:pt x="218605" y="623354"/>
                  </a:lnTo>
                  <a:lnTo>
                    <a:pt x="235496" y="626795"/>
                  </a:lnTo>
                  <a:lnTo>
                    <a:pt x="400926" y="626795"/>
                  </a:lnTo>
                  <a:lnTo>
                    <a:pt x="436943" y="607517"/>
                  </a:lnTo>
                  <a:lnTo>
                    <a:pt x="440029" y="601789"/>
                  </a:lnTo>
                  <a:lnTo>
                    <a:pt x="440956" y="600087"/>
                  </a:lnTo>
                  <a:lnTo>
                    <a:pt x="441083" y="599694"/>
                  </a:lnTo>
                  <a:lnTo>
                    <a:pt x="443496" y="591908"/>
                  </a:lnTo>
                  <a:lnTo>
                    <a:pt x="444385" y="583120"/>
                  </a:lnTo>
                  <a:lnTo>
                    <a:pt x="448424" y="523024"/>
                  </a:lnTo>
                  <a:lnTo>
                    <a:pt x="458952" y="480758"/>
                  </a:lnTo>
                  <a:lnTo>
                    <a:pt x="473583" y="450697"/>
                  </a:lnTo>
                  <a:lnTo>
                    <a:pt x="489915" y="427177"/>
                  </a:lnTo>
                  <a:lnTo>
                    <a:pt x="505142" y="405599"/>
                  </a:lnTo>
                  <a:lnTo>
                    <a:pt x="518121" y="380834"/>
                  </a:lnTo>
                  <a:lnTo>
                    <a:pt x="527151" y="348957"/>
                  </a:lnTo>
                  <a:lnTo>
                    <a:pt x="530542" y="306019"/>
                  </a:lnTo>
                  <a:close/>
                </a:path>
                <a:path w="636904" h="627379">
                  <a:moveTo>
                    <a:pt x="620763" y="136486"/>
                  </a:moveTo>
                  <a:lnTo>
                    <a:pt x="617347" y="130530"/>
                  </a:lnTo>
                  <a:lnTo>
                    <a:pt x="613943" y="124574"/>
                  </a:lnTo>
                  <a:lnTo>
                    <a:pt x="606374" y="122516"/>
                  </a:lnTo>
                  <a:lnTo>
                    <a:pt x="600430" y="125945"/>
                  </a:lnTo>
                  <a:lnTo>
                    <a:pt x="553237" y="153327"/>
                  </a:lnTo>
                  <a:lnTo>
                    <a:pt x="547306" y="156756"/>
                  </a:lnTo>
                  <a:lnTo>
                    <a:pt x="545261" y="164363"/>
                  </a:lnTo>
                  <a:lnTo>
                    <a:pt x="552081" y="176288"/>
                  </a:lnTo>
                  <a:lnTo>
                    <a:pt x="559650" y="178346"/>
                  </a:lnTo>
                  <a:lnTo>
                    <a:pt x="565581" y="174917"/>
                  </a:lnTo>
                  <a:lnTo>
                    <a:pt x="612787" y="147523"/>
                  </a:lnTo>
                  <a:lnTo>
                    <a:pt x="618718" y="144106"/>
                  </a:lnTo>
                  <a:lnTo>
                    <a:pt x="620763" y="136486"/>
                  </a:lnTo>
                  <a:close/>
                </a:path>
                <a:path w="636904" h="627379">
                  <a:moveTo>
                    <a:pt x="636422" y="297180"/>
                  </a:moveTo>
                  <a:lnTo>
                    <a:pt x="630847" y="291579"/>
                  </a:lnTo>
                  <a:lnTo>
                    <a:pt x="567067" y="291579"/>
                  </a:lnTo>
                  <a:lnTo>
                    <a:pt x="561492" y="297180"/>
                  </a:lnTo>
                  <a:lnTo>
                    <a:pt x="561492" y="310984"/>
                  </a:lnTo>
                  <a:lnTo>
                    <a:pt x="567067" y="316585"/>
                  </a:lnTo>
                  <a:lnTo>
                    <a:pt x="623976" y="316585"/>
                  </a:lnTo>
                  <a:lnTo>
                    <a:pt x="630847" y="316585"/>
                  </a:lnTo>
                  <a:lnTo>
                    <a:pt x="636422" y="310984"/>
                  </a:lnTo>
                  <a:lnTo>
                    <a:pt x="636422" y="297180"/>
                  </a:lnTo>
                  <a:close/>
                </a:path>
              </a:pathLst>
            </a:custGeom>
            <a:solidFill>
              <a:srgbClr val="000000"/>
            </a:solidFill>
          </p:spPr>
          <p:txBody>
            <a:bodyPr wrap="square" lIns="0" tIns="0" rIns="0" bIns="0" rtlCol="0"/>
            <a:lstStyle/>
            <a:p>
              <a:endParaRPr sz="700"/>
            </a:p>
          </p:txBody>
        </p:sp>
        <p:pic>
          <p:nvPicPr>
            <p:cNvPr id="8" name="object 8"/>
            <p:cNvPicPr/>
            <p:nvPr/>
          </p:nvPicPr>
          <p:blipFill>
            <a:blip r:embed="rId3" cstate="print"/>
            <a:stretch>
              <a:fillRect/>
            </a:stretch>
          </p:blipFill>
          <p:spPr>
            <a:xfrm>
              <a:off x="5504966" y="7750731"/>
              <a:ext cx="205293" cy="379499"/>
            </a:xfrm>
            <a:prstGeom prst="rect">
              <a:avLst/>
            </a:prstGeom>
          </p:spPr>
        </p:pic>
      </p:grpSp>
      <p:sp>
        <p:nvSpPr>
          <p:cNvPr id="9" name="object 9"/>
          <p:cNvSpPr txBox="1"/>
          <p:nvPr/>
        </p:nvSpPr>
        <p:spPr>
          <a:xfrm>
            <a:off x="30836" y="3691988"/>
            <a:ext cx="4806315" cy="769763"/>
          </a:xfrm>
          <a:prstGeom prst="rect">
            <a:avLst/>
          </a:prstGeom>
        </p:spPr>
        <p:txBody>
          <a:bodyPr vert="horz" wrap="square" lIns="0" tIns="6668" rIns="0" bIns="0" rtlCol="0">
            <a:spAutoFit/>
          </a:bodyPr>
          <a:lstStyle/>
          <a:p>
            <a:pPr algn="ctr">
              <a:spcBef>
                <a:spcPts val="53"/>
              </a:spcBef>
            </a:pPr>
            <a:r>
              <a:rPr sz="2125" b="1" spc="-13" dirty="0">
                <a:solidFill>
                  <a:srgbClr val="13110E"/>
                </a:solidFill>
                <a:latin typeface="Open Sans Extrabold"/>
                <a:cs typeface="Open Sans Extrabold"/>
              </a:rPr>
              <a:t>Tip</a:t>
            </a:r>
            <a:endParaRPr sz="2125">
              <a:latin typeface="Open Sans Extrabold"/>
              <a:cs typeface="Open Sans Extrabold"/>
            </a:endParaRPr>
          </a:p>
          <a:p>
            <a:pPr algn="ctr">
              <a:spcBef>
                <a:spcPts val="1298"/>
              </a:spcBef>
            </a:pPr>
            <a:r>
              <a:rPr sz="1750" b="1" dirty="0">
                <a:solidFill>
                  <a:srgbClr val="13110E"/>
                </a:solidFill>
                <a:latin typeface="Open Sans"/>
                <a:cs typeface="Open Sans"/>
              </a:rPr>
              <a:t>Edge</a:t>
            </a:r>
            <a:r>
              <a:rPr sz="1750" b="1" spc="-23" dirty="0">
                <a:solidFill>
                  <a:srgbClr val="13110E"/>
                </a:solidFill>
                <a:latin typeface="Open Sans"/>
                <a:cs typeface="Open Sans"/>
              </a:rPr>
              <a:t> </a:t>
            </a:r>
            <a:r>
              <a:rPr sz="1750" b="1" dirty="0">
                <a:solidFill>
                  <a:srgbClr val="13110E"/>
                </a:solidFill>
                <a:latin typeface="Open Sans"/>
                <a:cs typeface="Open Sans"/>
              </a:rPr>
              <a:t>location</a:t>
            </a:r>
            <a:r>
              <a:rPr sz="1750" b="1" spc="-23" dirty="0">
                <a:solidFill>
                  <a:srgbClr val="13110E"/>
                </a:solidFill>
                <a:latin typeface="Open Sans"/>
                <a:cs typeface="Open Sans"/>
              </a:rPr>
              <a:t> </a:t>
            </a:r>
            <a:r>
              <a:rPr sz="1750" b="1" dirty="0">
                <a:solidFill>
                  <a:srgbClr val="13110E"/>
                </a:solidFill>
                <a:latin typeface="Open Sans"/>
                <a:cs typeface="Open Sans"/>
              </a:rPr>
              <a:t>&gt;</a:t>
            </a:r>
            <a:r>
              <a:rPr sz="1750" b="1" spc="-23" dirty="0">
                <a:solidFill>
                  <a:srgbClr val="13110E"/>
                </a:solidFill>
                <a:latin typeface="Open Sans"/>
                <a:cs typeface="Open Sans"/>
              </a:rPr>
              <a:t> </a:t>
            </a:r>
            <a:r>
              <a:rPr sz="1750" b="1" dirty="0">
                <a:solidFill>
                  <a:srgbClr val="13110E"/>
                </a:solidFill>
                <a:latin typeface="Open Sans"/>
                <a:cs typeface="Open Sans"/>
              </a:rPr>
              <a:t>Availability</a:t>
            </a:r>
            <a:r>
              <a:rPr sz="1750" b="1" spc="-23" dirty="0">
                <a:solidFill>
                  <a:srgbClr val="13110E"/>
                </a:solidFill>
                <a:latin typeface="Open Sans"/>
                <a:cs typeface="Open Sans"/>
              </a:rPr>
              <a:t> </a:t>
            </a:r>
            <a:r>
              <a:rPr sz="1750" b="1" dirty="0">
                <a:solidFill>
                  <a:srgbClr val="13110E"/>
                </a:solidFill>
                <a:latin typeface="Open Sans"/>
                <a:cs typeface="Open Sans"/>
              </a:rPr>
              <a:t>Zones</a:t>
            </a:r>
            <a:r>
              <a:rPr sz="1750" b="1" spc="-20" dirty="0">
                <a:solidFill>
                  <a:srgbClr val="13110E"/>
                </a:solidFill>
                <a:latin typeface="Open Sans"/>
                <a:cs typeface="Open Sans"/>
              </a:rPr>
              <a:t> </a:t>
            </a:r>
            <a:r>
              <a:rPr sz="1750" b="1" dirty="0">
                <a:solidFill>
                  <a:srgbClr val="13110E"/>
                </a:solidFill>
                <a:latin typeface="Open Sans"/>
                <a:cs typeface="Open Sans"/>
              </a:rPr>
              <a:t>&gt;</a:t>
            </a:r>
            <a:r>
              <a:rPr sz="1750" b="1" spc="-23" dirty="0">
                <a:solidFill>
                  <a:srgbClr val="13110E"/>
                </a:solidFill>
                <a:latin typeface="Open Sans"/>
                <a:cs typeface="Open Sans"/>
              </a:rPr>
              <a:t> </a:t>
            </a:r>
            <a:r>
              <a:rPr sz="1750" b="1" spc="-5" dirty="0">
                <a:solidFill>
                  <a:srgbClr val="13110E"/>
                </a:solidFill>
                <a:latin typeface="Open Sans"/>
                <a:cs typeface="Open Sans"/>
              </a:rPr>
              <a:t>Regions</a:t>
            </a:r>
            <a:endParaRPr sz="1750">
              <a:latin typeface="Open Sans"/>
              <a:cs typeface="Open Sans"/>
            </a:endParaRPr>
          </a:p>
        </p:txBody>
      </p:sp>
      <p:sp>
        <p:nvSpPr>
          <p:cNvPr id="10" name="object 10"/>
          <p:cNvSpPr txBox="1"/>
          <p:nvPr/>
        </p:nvSpPr>
        <p:spPr>
          <a:xfrm>
            <a:off x="8173736" y="56323"/>
            <a:ext cx="911860" cy="138499"/>
          </a:xfrm>
          <a:prstGeom prst="rect">
            <a:avLst/>
          </a:prstGeom>
        </p:spPr>
        <p:txBody>
          <a:bodyPr vert="horz" wrap="square" lIns="0" tIns="7620" rIns="0" bIns="0" rtlCol="0">
            <a:spAutoFit/>
          </a:bodyPr>
          <a:lstStyle/>
          <a:p>
            <a:pPr marL="6350">
              <a:spcBef>
                <a:spcPts val="60"/>
              </a:spcBef>
            </a:pPr>
            <a:r>
              <a:rPr sz="850" dirty="0">
                <a:solidFill>
                  <a:srgbClr val="13110E"/>
                </a:solidFill>
                <a:latin typeface="Open Sans Light"/>
                <a:cs typeface="Open Sans Light"/>
              </a:rPr>
              <a:t>Learn</a:t>
            </a:r>
            <a:r>
              <a:rPr sz="850" spc="15" dirty="0">
                <a:solidFill>
                  <a:srgbClr val="13110E"/>
                </a:solidFill>
                <a:latin typeface="Open Sans Light"/>
                <a:cs typeface="Open Sans Light"/>
              </a:rPr>
              <a:t> </a:t>
            </a:r>
            <a:r>
              <a:rPr sz="850" dirty="0">
                <a:solidFill>
                  <a:srgbClr val="13110E"/>
                </a:solidFill>
                <a:latin typeface="Open Sans Light"/>
                <a:cs typeface="Open Sans Light"/>
              </a:rPr>
              <a:t>With</a:t>
            </a:r>
            <a:r>
              <a:rPr sz="850" spc="15" dirty="0">
                <a:solidFill>
                  <a:srgbClr val="13110E"/>
                </a:solidFill>
                <a:latin typeface="Open Sans Light"/>
                <a:cs typeface="Open Sans Light"/>
              </a:rPr>
              <a:t> </a:t>
            </a:r>
            <a:r>
              <a:rPr sz="850" spc="-5" dirty="0">
                <a:solidFill>
                  <a:srgbClr val="13110E"/>
                </a:solidFill>
                <a:latin typeface="Open Sans Light"/>
                <a:cs typeface="Open Sans Light"/>
              </a:rPr>
              <a:t>Sandip</a:t>
            </a:r>
            <a:endParaRPr sz="850">
              <a:latin typeface="Open Sans Light"/>
              <a:cs typeface="Open Sans Ligh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7"/>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Shared Responsibility Model</a:t>
            </a:r>
            <a:endParaRPr/>
          </a:p>
        </p:txBody>
      </p:sp>
      <p:sp>
        <p:nvSpPr>
          <p:cNvPr id="114" name="Google Shape;114;p17"/>
          <p:cNvSpPr txBox="1">
            <a:spLocks noGrp="1"/>
          </p:cNvSpPr>
          <p:nvPr>
            <p:ph type="subTitle" idx="1"/>
          </p:nvPr>
        </p:nvSpPr>
        <p:spPr>
          <a:xfrm>
            <a:off x="249950" y="3161525"/>
            <a:ext cx="3933300" cy="1416300"/>
          </a:xfrm>
          <a:prstGeom prst="rect">
            <a:avLst/>
          </a:prstGeom>
        </p:spPr>
        <p:txBody>
          <a:bodyPr spcFirstLastPara="1" wrap="square" lIns="91425" tIns="91425" rIns="91425" bIns="91425" anchor="t" anchorCtr="0">
            <a:noAutofit/>
          </a:bodyPr>
          <a:lstStyle/>
          <a:p>
            <a:pPr marL="457200" lvl="0" indent="-337820" algn="l" rtl="0">
              <a:spcBef>
                <a:spcPts val="0"/>
              </a:spcBef>
              <a:spcAft>
                <a:spcPts val="0"/>
              </a:spcAft>
              <a:buSzPts val="1720"/>
              <a:buChar char="●"/>
            </a:pPr>
            <a:r>
              <a:rPr lang="en" sz="1720"/>
              <a:t>Customer responsibility “Security </a:t>
            </a:r>
            <a:r>
              <a:rPr lang="en" sz="1720" b="1">
                <a:solidFill>
                  <a:srgbClr val="FF0000"/>
                </a:solidFill>
              </a:rPr>
              <a:t>in</a:t>
            </a:r>
            <a:r>
              <a:rPr lang="en" sz="1720"/>
              <a:t> the Cloud”</a:t>
            </a:r>
            <a:endParaRPr sz="1720"/>
          </a:p>
          <a:p>
            <a:pPr marL="457200" lvl="0" indent="-337820" algn="l" rtl="0">
              <a:spcBef>
                <a:spcPts val="0"/>
              </a:spcBef>
              <a:spcAft>
                <a:spcPts val="0"/>
              </a:spcAft>
              <a:buSzPts val="1720"/>
              <a:buChar char="●"/>
            </a:pPr>
            <a:r>
              <a:rPr lang="en" sz="1720"/>
              <a:t>AWS responsibility “Security </a:t>
            </a:r>
            <a:r>
              <a:rPr lang="en" sz="1720" b="1">
                <a:solidFill>
                  <a:srgbClr val="FF0000"/>
                </a:solidFill>
              </a:rPr>
              <a:t>of</a:t>
            </a:r>
            <a:r>
              <a:rPr lang="en" sz="1720"/>
              <a:t> the Cloud”</a:t>
            </a:r>
            <a:endParaRPr sz="1720"/>
          </a:p>
        </p:txBody>
      </p:sp>
      <p:pic>
        <p:nvPicPr>
          <p:cNvPr id="115" name="Google Shape;115;p17"/>
          <p:cNvPicPr preferRelativeResize="0"/>
          <p:nvPr/>
        </p:nvPicPr>
        <p:blipFill>
          <a:blip r:embed="rId3">
            <a:alphaModFix/>
          </a:blip>
          <a:stretch>
            <a:fillRect/>
          </a:stretch>
        </p:blipFill>
        <p:spPr>
          <a:xfrm>
            <a:off x="4109825" y="1171125"/>
            <a:ext cx="5113101" cy="280124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to access AWS Resources</a:t>
            </a:r>
            <a:endParaRPr/>
          </a:p>
        </p:txBody>
      </p:sp>
      <p:sp>
        <p:nvSpPr>
          <p:cNvPr id="121" name="Google Shape;121;p18"/>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lnSpcReduction="10000"/>
          </a:bodyPr>
          <a:lstStyle/>
          <a:p>
            <a:pPr marL="457200" lvl="0" indent="-311150" algn="l" rtl="0">
              <a:spcBef>
                <a:spcPts val="0"/>
              </a:spcBef>
              <a:spcAft>
                <a:spcPts val="0"/>
              </a:spcAft>
              <a:buSzPts val="1300"/>
              <a:buChar char="●"/>
            </a:pPr>
            <a:r>
              <a:rPr lang="en" sz="2400" u="sng" dirty="0">
                <a:solidFill>
                  <a:schemeClr val="hlink"/>
                </a:solidFill>
                <a:hlinkClick r:id="rId3"/>
              </a:rPr>
              <a:t>AWS Management Console or Web Console</a:t>
            </a:r>
            <a:endParaRPr sz="2400" dirty="0"/>
          </a:p>
          <a:p>
            <a:pPr marL="457200" lvl="0" indent="-311150" algn="l" rtl="0">
              <a:spcBef>
                <a:spcPts val="0"/>
              </a:spcBef>
              <a:spcAft>
                <a:spcPts val="0"/>
              </a:spcAft>
              <a:buSzPts val="1300"/>
              <a:buChar char="●"/>
            </a:pPr>
            <a:r>
              <a:rPr lang="en" sz="2400" dirty="0"/>
              <a:t>Command Line Interface (CLI)</a:t>
            </a:r>
            <a:endParaRPr sz="2400" dirty="0"/>
          </a:p>
          <a:p>
            <a:pPr marL="457200" lvl="0" indent="-311150" algn="l" rtl="0">
              <a:spcBef>
                <a:spcPts val="0"/>
              </a:spcBef>
              <a:spcAft>
                <a:spcPts val="0"/>
              </a:spcAft>
              <a:buSzPts val="1300"/>
              <a:buChar char="●"/>
            </a:pPr>
            <a:r>
              <a:rPr lang="en" sz="2400" dirty="0"/>
              <a:t>Integrated Development Environment (IDE)</a:t>
            </a:r>
            <a:endParaRPr sz="2400" dirty="0"/>
          </a:p>
          <a:p>
            <a:pPr marL="457200" lvl="0" indent="-311150" algn="l" rtl="0">
              <a:spcBef>
                <a:spcPts val="0"/>
              </a:spcBef>
              <a:spcAft>
                <a:spcPts val="0"/>
              </a:spcAft>
              <a:buSzPts val="1300"/>
              <a:buChar char="●"/>
            </a:pPr>
            <a:r>
              <a:rPr lang="en" sz="2400" dirty="0"/>
              <a:t>Software Development Kit (SDK)</a:t>
            </a:r>
            <a:endParaRPr sz="2400" dirty="0"/>
          </a:p>
          <a:p>
            <a:pPr marL="457200" lvl="0" indent="-311150" algn="l" rtl="0">
              <a:spcBef>
                <a:spcPts val="0"/>
              </a:spcBef>
              <a:spcAft>
                <a:spcPts val="0"/>
              </a:spcAft>
              <a:buSzPts val="1300"/>
              <a:buChar char="●"/>
            </a:pPr>
            <a:r>
              <a:rPr lang="en" sz="2400" dirty="0"/>
              <a:t>Infrastructure as Code</a:t>
            </a:r>
            <a:endParaRPr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8000" y="438468"/>
            <a:ext cx="2054860" cy="1215846"/>
          </a:xfrm>
          <a:prstGeom prst="rect">
            <a:avLst/>
          </a:prstGeom>
        </p:spPr>
        <p:txBody>
          <a:bodyPr spcFirstLastPara="1" vert="horz" wrap="square" lIns="0" tIns="6350" rIns="0" bIns="0" rtlCol="0" anchor="t" anchorCtr="0">
            <a:spAutoFit/>
          </a:bodyPr>
          <a:lstStyle/>
          <a:p>
            <a:pPr marL="6350" marR="2540">
              <a:lnSpc>
                <a:spcPct val="107600"/>
              </a:lnSpc>
              <a:spcBef>
                <a:spcPts val="50"/>
              </a:spcBef>
            </a:pPr>
            <a:r>
              <a:rPr sz="3600" dirty="0">
                <a:solidFill>
                  <a:srgbClr val="13110E"/>
                </a:solidFill>
              </a:rPr>
              <a:t>AWS</a:t>
            </a:r>
            <a:r>
              <a:rPr sz="3600" spc="-205" dirty="0">
                <a:solidFill>
                  <a:srgbClr val="13110E"/>
                </a:solidFill>
              </a:rPr>
              <a:t> </a:t>
            </a:r>
            <a:r>
              <a:rPr sz="3600" spc="-20" dirty="0">
                <a:solidFill>
                  <a:srgbClr val="13110E"/>
                </a:solidFill>
              </a:rPr>
              <a:t>Core </a:t>
            </a:r>
            <a:r>
              <a:rPr sz="3600" spc="-5" dirty="0">
                <a:solidFill>
                  <a:srgbClr val="13110E"/>
                </a:solidFill>
              </a:rPr>
              <a:t>Services</a:t>
            </a:r>
            <a:endParaRPr sz="3600"/>
          </a:p>
        </p:txBody>
      </p:sp>
      <p:grpSp>
        <p:nvGrpSpPr>
          <p:cNvPr id="3" name="object 3"/>
          <p:cNvGrpSpPr/>
          <p:nvPr/>
        </p:nvGrpSpPr>
        <p:grpSpPr>
          <a:xfrm>
            <a:off x="514351" y="879803"/>
            <a:ext cx="7555865" cy="3391217"/>
            <a:chOff x="1028702" y="1759606"/>
            <a:chExt cx="15111730" cy="6782434"/>
          </a:xfrm>
        </p:grpSpPr>
        <p:sp>
          <p:nvSpPr>
            <p:cNvPr id="4" name="object 4"/>
            <p:cNvSpPr/>
            <p:nvPr/>
          </p:nvSpPr>
          <p:spPr>
            <a:xfrm>
              <a:off x="9153469" y="1764369"/>
              <a:ext cx="6982459" cy="0"/>
            </a:xfrm>
            <a:custGeom>
              <a:avLst/>
              <a:gdLst/>
              <a:ahLst/>
              <a:cxnLst/>
              <a:rect l="l" t="t" r="r" b="b"/>
              <a:pathLst>
                <a:path w="6982459">
                  <a:moveTo>
                    <a:pt x="0" y="0"/>
                  </a:moveTo>
                  <a:lnTo>
                    <a:pt x="6981853" y="0"/>
                  </a:lnTo>
                </a:path>
              </a:pathLst>
            </a:custGeom>
            <a:ln w="9524">
              <a:solidFill>
                <a:srgbClr val="6421B8"/>
              </a:solidFill>
            </a:ln>
          </p:spPr>
          <p:txBody>
            <a:bodyPr wrap="square" lIns="0" tIns="0" rIns="0" bIns="0" rtlCol="0"/>
            <a:lstStyle/>
            <a:p>
              <a:endParaRPr sz="700"/>
            </a:p>
          </p:txBody>
        </p:sp>
        <p:sp>
          <p:nvSpPr>
            <p:cNvPr id="5" name="object 5"/>
            <p:cNvSpPr/>
            <p:nvPr/>
          </p:nvSpPr>
          <p:spPr>
            <a:xfrm>
              <a:off x="9153469" y="2519308"/>
              <a:ext cx="6982459" cy="0"/>
            </a:xfrm>
            <a:custGeom>
              <a:avLst/>
              <a:gdLst/>
              <a:ahLst/>
              <a:cxnLst/>
              <a:rect l="l" t="t" r="r" b="b"/>
              <a:pathLst>
                <a:path w="6982459">
                  <a:moveTo>
                    <a:pt x="0" y="0"/>
                  </a:moveTo>
                  <a:lnTo>
                    <a:pt x="6981853" y="0"/>
                  </a:lnTo>
                </a:path>
              </a:pathLst>
            </a:custGeom>
            <a:ln w="9524">
              <a:solidFill>
                <a:srgbClr val="6421B8"/>
              </a:solidFill>
            </a:ln>
          </p:spPr>
          <p:txBody>
            <a:bodyPr wrap="square" lIns="0" tIns="0" rIns="0" bIns="0" rtlCol="0"/>
            <a:lstStyle/>
            <a:p>
              <a:endParaRPr sz="700"/>
            </a:p>
          </p:txBody>
        </p:sp>
        <p:sp>
          <p:nvSpPr>
            <p:cNvPr id="6" name="object 6"/>
            <p:cNvSpPr/>
            <p:nvPr/>
          </p:nvSpPr>
          <p:spPr>
            <a:xfrm>
              <a:off x="9153469" y="3185058"/>
              <a:ext cx="6982459" cy="0"/>
            </a:xfrm>
            <a:custGeom>
              <a:avLst/>
              <a:gdLst/>
              <a:ahLst/>
              <a:cxnLst/>
              <a:rect l="l" t="t" r="r" b="b"/>
              <a:pathLst>
                <a:path w="6982459">
                  <a:moveTo>
                    <a:pt x="0" y="0"/>
                  </a:moveTo>
                  <a:lnTo>
                    <a:pt x="6981853" y="0"/>
                  </a:lnTo>
                </a:path>
              </a:pathLst>
            </a:custGeom>
            <a:ln w="9524">
              <a:solidFill>
                <a:srgbClr val="6421B8"/>
              </a:solidFill>
            </a:ln>
          </p:spPr>
          <p:txBody>
            <a:bodyPr wrap="square" lIns="0" tIns="0" rIns="0" bIns="0" rtlCol="0"/>
            <a:lstStyle/>
            <a:p>
              <a:endParaRPr sz="700"/>
            </a:p>
          </p:txBody>
        </p:sp>
        <p:sp>
          <p:nvSpPr>
            <p:cNvPr id="7" name="object 7"/>
            <p:cNvSpPr/>
            <p:nvPr/>
          </p:nvSpPr>
          <p:spPr>
            <a:xfrm>
              <a:off x="9153469" y="3949523"/>
              <a:ext cx="6982459" cy="0"/>
            </a:xfrm>
            <a:custGeom>
              <a:avLst/>
              <a:gdLst/>
              <a:ahLst/>
              <a:cxnLst/>
              <a:rect l="l" t="t" r="r" b="b"/>
              <a:pathLst>
                <a:path w="6982459">
                  <a:moveTo>
                    <a:pt x="0" y="0"/>
                  </a:moveTo>
                  <a:lnTo>
                    <a:pt x="6981853" y="0"/>
                  </a:lnTo>
                </a:path>
              </a:pathLst>
            </a:custGeom>
            <a:ln w="9524">
              <a:solidFill>
                <a:srgbClr val="6421B8"/>
              </a:solidFill>
            </a:ln>
          </p:spPr>
          <p:txBody>
            <a:bodyPr wrap="square" lIns="0" tIns="0" rIns="0" bIns="0" rtlCol="0"/>
            <a:lstStyle/>
            <a:p>
              <a:endParaRPr sz="700"/>
            </a:p>
          </p:txBody>
        </p:sp>
        <p:sp>
          <p:nvSpPr>
            <p:cNvPr id="8" name="object 8"/>
            <p:cNvSpPr/>
            <p:nvPr/>
          </p:nvSpPr>
          <p:spPr>
            <a:xfrm>
              <a:off x="9153469" y="4596228"/>
              <a:ext cx="6982459" cy="0"/>
            </a:xfrm>
            <a:custGeom>
              <a:avLst/>
              <a:gdLst/>
              <a:ahLst/>
              <a:cxnLst/>
              <a:rect l="l" t="t" r="r" b="b"/>
              <a:pathLst>
                <a:path w="6982459">
                  <a:moveTo>
                    <a:pt x="0" y="0"/>
                  </a:moveTo>
                  <a:lnTo>
                    <a:pt x="6981853" y="0"/>
                  </a:lnTo>
                </a:path>
              </a:pathLst>
            </a:custGeom>
            <a:ln w="9524">
              <a:solidFill>
                <a:srgbClr val="6421B8"/>
              </a:solidFill>
            </a:ln>
          </p:spPr>
          <p:txBody>
            <a:bodyPr wrap="square" lIns="0" tIns="0" rIns="0" bIns="0" rtlCol="0"/>
            <a:lstStyle/>
            <a:p>
              <a:endParaRPr sz="700"/>
            </a:p>
          </p:txBody>
        </p:sp>
        <p:sp>
          <p:nvSpPr>
            <p:cNvPr id="9" name="object 9"/>
            <p:cNvSpPr/>
            <p:nvPr/>
          </p:nvSpPr>
          <p:spPr>
            <a:xfrm>
              <a:off x="9153469" y="5351162"/>
              <a:ext cx="6982459" cy="0"/>
            </a:xfrm>
            <a:custGeom>
              <a:avLst/>
              <a:gdLst/>
              <a:ahLst/>
              <a:cxnLst/>
              <a:rect l="l" t="t" r="r" b="b"/>
              <a:pathLst>
                <a:path w="6982459">
                  <a:moveTo>
                    <a:pt x="0" y="0"/>
                  </a:moveTo>
                  <a:lnTo>
                    <a:pt x="6981853" y="0"/>
                  </a:lnTo>
                </a:path>
              </a:pathLst>
            </a:custGeom>
            <a:ln w="9524">
              <a:solidFill>
                <a:srgbClr val="6421B8"/>
              </a:solidFill>
            </a:ln>
          </p:spPr>
          <p:txBody>
            <a:bodyPr wrap="square" lIns="0" tIns="0" rIns="0" bIns="0" rtlCol="0"/>
            <a:lstStyle/>
            <a:p>
              <a:endParaRPr sz="700"/>
            </a:p>
          </p:txBody>
        </p:sp>
        <p:sp>
          <p:nvSpPr>
            <p:cNvPr id="10" name="object 10"/>
            <p:cNvSpPr/>
            <p:nvPr/>
          </p:nvSpPr>
          <p:spPr>
            <a:xfrm>
              <a:off x="9153469" y="6016918"/>
              <a:ext cx="6982459" cy="0"/>
            </a:xfrm>
            <a:custGeom>
              <a:avLst/>
              <a:gdLst/>
              <a:ahLst/>
              <a:cxnLst/>
              <a:rect l="l" t="t" r="r" b="b"/>
              <a:pathLst>
                <a:path w="6982459">
                  <a:moveTo>
                    <a:pt x="0" y="0"/>
                  </a:moveTo>
                  <a:lnTo>
                    <a:pt x="6981853" y="0"/>
                  </a:lnTo>
                </a:path>
              </a:pathLst>
            </a:custGeom>
            <a:ln w="9524">
              <a:solidFill>
                <a:srgbClr val="6421B8"/>
              </a:solidFill>
            </a:ln>
          </p:spPr>
          <p:txBody>
            <a:bodyPr wrap="square" lIns="0" tIns="0" rIns="0" bIns="0" rtlCol="0"/>
            <a:lstStyle/>
            <a:p>
              <a:endParaRPr sz="700"/>
            </a:p>
          </p:txBody>
        </p:sp>
        <p:sp>
          <p:nvSpPr>
            <p:cNvPr id="11" name="object 11"/>
            <p:cNvSpPr/>
            <p:nvPr/>
          </p:nvSpPr>
          <p:spPr>
            <a:xfrm>
              <a:off x="9153469" y="6809958"/>
              <a:ext cx="6982459" cy="0"/>
            </a:xfrm>
            <a:custGeom>
              <a:avLst/>
              <a:gdLst/>
              <a:ahLst/>
              <a:cxnLst/>
              <a:rect l="l" t="t" r="r" b="b"/>
              <a:pathLst>
                <a:path w="6982459">
                  <a:moveTo>
                    <a:pt x="0" y="0"/>
                  </a:moveTo>
                  <a:lnTo>
                    <a:pt x="6981853" y="0"/>
                  </a:lnTo>
                </a:path>
              </a:pathLst>
            </a:custGeom>
            <a:ln w="9524">
              <a:solidFill>
                <a:srgbClr val="6421B8"/>
              </a:solidFill>
            </a:ln>
          </p:spPr>
          <p:txBody>
            <a:bodyPr wrap="square" lIns="0" tIns="0" rIns="0" bIns="0" rtlCol="0"/>
            <a:lstStyle/>
            <a:p>
              <a:endParaRPr sz="700"/>
            </a:p>
          </p:txBody>
        </p:sp>
        <p:sp>
          <p:nvSpPr>
            <p:cNvPr id="12" name="object 12"/>
            <p:cNvSpPr/>
            <p:nvPr/>
          </p:nvSpPr>
          <p:spPr>
            <a:xfrm>
              <a:off x="1033464" y="5853856"/>
              <a:ext cx="6982459" cy="0"/>
            </a:xfrm>
            <a:custGeom>
              <a:avLst/>
              <a:gdLst/>
              <a:ahLst/>
              <a:cxnLst/>
              <a:rect l="l" t="t" r="r" b="b"/>
              <a:pathLst>
                <a:path w="6982459">
                  <a:moveTo>
                    <a:pt x="0" y="0"/>
                  </a:moveTo>
                  <a:lnTo>
                    <a:pt x="6981853" y="0"/>
                  </a:lnTo>
                </a:path>
              </a:pathLst>
            </a:custGeom>
            <a:ln w="9524">
              <a:solidFill>
                <a:srgbClr val="6421B8"/>
              </a:solidFill>
            </a:ln>
          </p:spPr>
          <p:txBody>
            <a:bodyPr wrap="square" lIns="0" tIns="0" rIns="0" bIns="0" rtlCol="0"/>
            <a:lstStyle/>
            <a:p>
              <a:endParaRPr sz="700"/>
            </a:p>
          </p:txBody>
        </p:sp>
        <p:sp>
          <p:nvSpPr>
            <p:cNvPr id="13" name="object 13"/>
            <p:cNvSpPr/>
            <p:nvPr/>
          </p:nvSpPr>
          <p:spPr>
            <a:xfrm>
              <a:off x="1033464" y="6819483"/>
              <a:ext cx="6982459" cy="0"/>
            </a:xfrm>
            <a:custGeom>
              <a:avLst/>
              <a:gdLst/>
              <a:ahLst/>
              <a:cxnLst/>
              <a:rect l="l" t="t" r="r" b="b"/>
              <a:pathLst>
                <a:path w="6982459">
                  <a:moveTo>
                    <a:pt x="0" y="0"/>
                  </a:moveTo>
                  <a:lnTo>
                    <a:pt x="6981853" y="0"/>
                  </a:lnTo>
                </a:path>
              </a:pathLst>
            </a:custGeom>
            <a:ln w="9524">
              <a:solidFill>
                <a:srgbClr val="6421B8"/>
              </a:solidFill>
            </a:ln>
          </p:spPr>
          <p:txBody>
            <a:bodyPr wrap="square" lIns="0" tIns="0" rIns="0" bIns="0" rtlCol="0"/>
            <a:lstStyle/>
            <a:p>
              <a:endParaRPr sz="700"/>
            </a:p>
          </p:txBody>
        </p:sp>
        <p:sp>
          <p:nvSpPr>
            <p:cNvPr id="14" name="object 14"/>
            <p:cNvSpPr/>
            <p:nvPr/>
          </p:nvSpPr>
          <p:spPr>
            <a:xfrm>
              <a:off x="1033464" y="8536851"/>
              <a:ext cx="6982459" cy="0"/>
            </a:xfrm>
            <a:custGeom>
              <a:avLst/>
              <a:gdLst/>
              <a:ahLst/>
              <a:cxnLst/>
              <a:rect l="l" t="t" r="r" b="b"/>
              <a:pathLst>
                <a:path w="6982459">
                  <a:moveTo>
                    <a:pt x="0" y="0"/>
                  </a:moveTo>
                  <a:lnTo>
                    <a:pt x="6981853" y="0"/>
                  </a:lnTo>
                </a:path>
              </a:pathLst>
            </a:custGeom>
            <a:ln w="9524">
              <a:solidFill>
                <a:srgbClr val="6421B8"/>
              </a:solidFill>
            </a:ln>
          </p:spPr>
          <p:txBody>
            <a:bodyPr wrap="square" lIns="0" tIns="0" rIns="0" bIns="0" rtlCol="0"/>
            <a:lstStyle/>
            <a:p>
              <a:endParaRPr sz="700"/>
            </a:p>
          </p:txBody>
        </p:sp>
      </p:grpSp>
      <p:sp>
        <p:nvSpPr>
          <p:cNvPr id="15" name="object 15"/>
          <p:cNvSpPr txBox="1"/>
          <p:nvPr/>
        </p:nvSpPr>
        <p:spPr>
          <a:xfrm>
            <a:off x="4568003" y="582503"/>
            <a:ext cx="801053" cy="221856"/>
          </a:xfrm>
          <a:prstGeom prst="rect">
            <a:avLst/>
          </a:prstGeom>
        </p:spPr>
        <p:txBody>
          <a:bodyPr vert="horz" wrap="square" lIns="0" tIns="6350" rIns="0" bIns="0" rtlCol="0">
            <a:spAutoFit/>
          </a:bodyPr>
          <a:lstStyle/>
          <a:p>
            <a:pPr marL="6350">
              <a:spcBef>
                <a:spcPts val="50"/>
              </a:spcBef>
            </a:pPr>
            <a:r>
              <a:rPr b="1" dirty="0">
                <a:solidFill>
                  <a:srgbClr val="13110E"/>
                </a:solidFill>
                <a:latin typeface="Roboto"/>
                <a:cs typeface="Roboto"/>
              </a:rPr>
              <a:t>AWS</a:t>
            </a:r>
            <a:r>
              <a:rPr b="1" spc="78" dirty="0">
                <a:solidFill>
                  <a:srgbClr val="13110E"/>
                </a:solidFill>
                <a:latin typeface="Roboto"/>
                <a:cs typeface="Roboto"/>
              </a:rPr>
              <a:t> </a:t>
            </a:r>
            <a:r>
              <a:rPr b="1" spc="-13" dirty="0">
                <a:solidFill>
                  <a:srgbClr val="13110E"/>
                </a:solidFill>
                <a:latin typeface="Roboto"/>
                <a:cs typeface="Roboto"/>
              </a:rPr>
              <a:t>RDS</a:t>
            </a:r>
            <a:endParaRPr>
              <a:latin typeface="Roboto"/>
              <a:cs typeface="Roboto"/>
            </a:endParaRPr>
          </a:p>
        </p:txBody>
      </p:sp>
      <p:sp>
        <p:nvSpPr>
          <p:cNvPr id="16" name="object 16"/>
          <p:cNvSpPr txBox="1"/>
          <p:nvPr/>
        </p:nvSpPr>
        <p:spPr>
          <a:xfrm>
            <a:off x="4568003" y="974261"/>
            <a:ext cx="670560" cy="221856"/>
          </a:xfrm>
          <a:prstGeom prst="rect">
            <a:avLst/>
          </a:prstGeom>
        </p:spPr>
        <p:txBody>
          <a:bodyPr vert="horz" wrap="square" lIns="0" tIns="6350" rIns="0" bIns="0" rtlCol="0">
            <a:spAutoFit/>
          </a:bodyPr>
          <a:lstStyle/>
          <a:p>
            <a:pPr marL="6350">
              <a:spcBef>
                <a:spcPts val="50"/>
              </a:spcBef>
            </a:pPr>
            <a:r>
              <a:rPr b="1" dirty="0">
                <a:solidFill>
                  <a:srgbClr val="13110E"/>
                </a:solidFill>
                <a:latin typeface="Roboto"/>
                <a:cs typeface="Roboto"/>
              </a:rPr>
              <a:t>AWS</a:t>
            </a:r>
            <a:r>
              <a:rPr b="1" spc="78" dirty="0">
                <a:solidFill>
                  <a:srgbClr val="13110E"/>
                </a:solidFill>
                <a:latin typeface="Roboto"/>
                <a:cs typeface="Roboto"/>
              </a:rPr>
              <a:t> </a:t>
            </a:r>
            <a:r>
              <a:rPr b="1" spc="-13" dirty="0">
                <a:solidFill>
                  <a:srgbClr val="13110E"/>
                </a:solidFill>
                <a:latin typeface="Roboto"/>
                <a:cs typeface="Roboto"/>
              </a:rPr>
              <a:t>S3</a:t>
            </a:r>
            <a:endParaRPr>
              <a:latin typeface="Roboto"/>
              <a:cs typeface="Roboto"/>
            </a:endParaRPr>
          </a:p>
        </p:txBody>
      </p:sp>
      <p:sp>
        <p:nvSpPr>
          <p:cNvPr id="17" name="object 17"/>
          <p:cNvSpPr txBox="1"/>
          <p:nvPr/>
        </p:nvSpPr>
        <p:spPr>
          <a:xfrm>
            <a:off x="4568003" y="1292848"/>
            <a:ext cx="788353" cy="221856"/>
          </a:xfrm>
          <a:prstGeom prst="rect">
            <a:avLst/>
          </a:prstGeom>
        </p:spPr>
        <p:txBody>
          <a:bodyPr vert="horz" wrap="square" lIns="0" tIns="6350" rIns="0" bIns="0" rtlCol="0">
            <a:spAutoFit/>
          </a:bodyPr>
          <a:lstStyle/>
          <a:p>
            <a:pPr marL="6350">
              <a:spcBef>
                <a:spcPts val="50"/>
              </a:spcBef>
            </a:pPr>
            <a:r>
              <a:rPr b="1" dirty="0">
                <a:solidFill>
                  <a:srgbClr val="13110E"/>
                </a:solidFill>
                <a:latin typeface="Roboto"/>
                <a:cs typeface="Roboto"/>
              </a:rPr>
              <a:t>AWS</a:t>
            </a:r>
            <a:r>
              <a:rPr b="1" spc="78" dirty="0">
                <a:solidFill>
                  <a:srgbClr val="13110E"/>
                </a:solidFill>
                <a:latin typeface="Roboto"/>
                <a:cs typeface="Roboto"/>
              </a:rPr>
              <a:t> </a:t>
            </a:r>
            <a:r>
              <a:rPr b="1" spc="-13" dirty="0">
                <a:solidFill>
                  <a:srgbClr val="13110E"/>
                </a:solidFill>
                <a:latin typeface="Roboto"/>
                <a:cs typeface="Roboto"/>
              </a:rPr>
              <a:t>ECS</a:t>
            </a:r>
            <a:endParaRPr>
              <a:latin typeface="Roboto"/>
              <a:cs typeface="Roboto"/>
            </a:endParaRPr>
          </a:p>
        </p:txBody>
      </p:sp>
      <p:sp>
        <p:nvSpPr>
          <p:cNvPr id="18" name="object 18"/>
          <p:cNvSpPr txBox="1"/>
          <p:nvPr/>
        </p:nvSpPr>
        <p:spPr>
          <a:xfrm>
            <a:off x="4568003" y="1660793"/>
            <a:ext cx="1114425" cy="221856"/>
          </a:xfrm>
          <a:prstGeom prst="rect">
            <a:avLst/>
          </a:prstGeom>
        </p:spPr>
        <p:txBody>
          <a:bodyPr vert="horz" wrap="square" lIns="0" tIns="6350" rIns="0" bIns="0" rtlCol="0">
            <a:spAutoFit/>
          </a:bodyPr>
          <a:lstStyle/>
          <a:p>
            <a:pPr marL="6350">
              <a:spcBef>
                <a:spcPts val="50"/>
              </a:spcBef>
            </a:pPr>
            <a:r>
              <a:rPr b="1" dirty="0">
                <a:solidFill>
                  <a:srgbClr val="13110E"/>
                </a:solidFill>
                <a:latin typeface="Roboto"/>
                <a:cs typeface="Roboto"/>
              </a:rPr>
              <a:t>AWS</a:t>
            </a:r>
            <a:r>
              <a:rPr b="1" spc="78" dirty="0">
                <a:solidFill>
                  <a:srgbClr val="13110E"/>
                </a:solidFill>
                <a:latin typeface="Roboto"/>
                <a:cs typeface="Roboto"/>
              </a:rPr>
              <a:t> </a:t>
            </a:r>
            <a:r>
              <a:rPr b="1" spc="-5" dirty="0">
                <a:solidFill>
                  <a:srgbClr val="13110E"/>
                </a:solidFill>
                <a:latin typeface="Roboto"/>
                <a:cs typeface="Roboto"/>
              </a:rPr>
              <a:t>Lambda</a:t>
            </a:r>
            <a:endParaRPr>
              <a:latin typeface="Roboto"/>
              <a:cs typeface="Roboto"/>
            </a:endParaRPr>
          </a:p>
        </p:txBody>
      </p:sp>
      <p:sp>
        <p:nvSpPr>
          <p:cNvPr id="19" name="object 19"/>
          <p:cNvSpPr txBox="1"/>
          <p:nvPr/>
        </p:nvSpPr>
        <p:spPr>
          <a:xfrm>
            <a:off x="4568003" y="1998430"/>
            <a:ext cx="1373823" cy="221856"/>
          </a:xfrm>
          <a:prstGeom prst="rect">
            <a:avLst/>
          </a:prstGeom>
        </p:spPr>
        <p:txBody>
          <a:bodyPr vert="horz" wrap="square" lIns="0" tIns="6350" rIns="0" bIns="0" rtlCol="0">
            <a:spAutoFit/>
          </a:bodyPr>
          <a:lstStyle/>
          <a:p>
            <a:pPr marL="6350">
              <a:spcBef>
                <a:spcPts val="50"/>
              </a:spcBef>
            </a:pPr>
            <a:r>
              <a:rPr b="1" dirty="0">
                <a:solidFill>
                  <a:srgbClr val="13110E"/>
                </a:solidFill>
                <a:latin typeface="Roboto"/>
                <a:cs typeface="Roboto"/>
              </a:rPr>
              <a:t>AWS</a:t>
            </a:r>
            <a:r>
              <a:rPr b="1" spc="78" dirty="0">
                <a:solidFill>
                  <a:srgbClr val="13110E"/>
                </a:solidFill>
                <a:latin typeface="Roboto"/>
                <a:cs typeface="Roboto"/>
              </a:rPr>
              <a:t> </a:t>
            </a:r>
            <a:r>
              <a:rPr b="1" spc="-5" dirty="0">
                <a:solidFill>
                  <a:srgbClr val="13110E"/>
                </a:solidFill>
                <a:latin typeface="Roboto"/>
                <a:cs typeface="Roboto"/>
              </a:rPr>
              <a:t>CloudFront</a:t>
            </a:r>
            <a:endParaRPr>
              <a:latin typeface="Roboto"/>
              <a:cs typeface="Roboto"/>
            </a:endParaRPr>
          </a:p>
        </p:txBody>
      </p:sp>
      <p:sp>
        <p:nvSpPr>
          <p:cNvPr id="20" name="object 20"/>
          <p:cNvSpPr txBox="1"/>
          <p:nvPr/>
        </p:nvSpPr>
        <p:spPr>
          <a:xfrm>
            <a:off x="4568003" y="2368801"/>
            <a:ext cx="1454468" cy="221856"/>
          </a:xfrm>
          <a:prstGeom prst="rect">
            <a:avLst/>
          </a:prstGeom>
        </p:spPr>
        <p:txBody>
          <a:bodyPr vert="horz" wrap="square" lIns="0" tIns="6350" rIns="0" bIns="0" rtlCol="0">
            <a:spAutoFit/>
          </a:bodyPr>
          <a:lstStyle/>
          <a:p>
            <a:pPr marL="6350">
              <a:spcBef>
                <a:spcPts val="50"/>
              </a:spcBef>
            </a:pPr>
            <a:r>
              <a:rPr b="1" dirty="0">
                <a:solidFill>
                  <a:srgbClr val="13110E"/>
                </a:solidFill>
                <a:latin typeface="Roboto"/>
                <a:cs typeface="Roboto"/>
              </a:rPr>
              <a:t>AWS</a:t>
            </a:r>
            <a:r>
              <a:rPr b="1" spc="78" dirty="0">
                <a:solidFill>
                  <a:srgbClr val="13110E"/>
                </a:solidFill>
                <a:latin typeface="Roboto"/>
                <a:cs typeface="Roboto"/>
              </a:rPr>
              <a:t> </a:t>
            </a:r>
            <a:r>
              <a:rPr b="1" spc="-5" dirty="0">
                <a:solidFill>
                  <a:srgbClr val="13110E"/>
                </a:solidFill>
                <a:latin typeface="Roboto"/>
                <a:cs typeface="Roboto"/>
              </a:rPr>
              <a:t>CloudWatch</a:t>
            </a:r>
            <a:endParaRPr>
              <a:latin typeface="Roboto"/>
              <a:cs typeface="Roboto"/>
            </a:endParaRPr>
          </a:p>
        </p:txBody>
      </p:sp>
      <p:sp>
        <p:nvSpPr>
          <p:cNvPr id="21" name="object 21"/>
          <p:cNvSpPr txBox="1"/>
          <p:nvPr/>
        </p:nvSpPr>
        <p:spPr>
          <a:xfrm>
            <a:off x="4568003" y="2708775"/>
            <a:ext cx="781368" cy="221856"/>
          </a:xfrm>
          <a:prstGeom prst="rect">
            <a:avLst/>
          </a:prstGeom>
        </p:spPr>
        <p:txBody>
          <a:bodyPr vert="horz" wrap="square" lIns="0" tIns="6350" rIns="0" bIns="0" rtlCol="0">
            <a:spAutoFit/>
          </a:bodyPr>
          <a:lstStyle/>
          <a:p>
            <a:pPr marL="6350">
              <a:spcBef>
                <a:spcPts val="50"/>
              </a:spcBef>
            </a:pPr>
            <a:r>
              <a:rPr b="1" dirty="0">
                <a:solidFill>
                  <a:srgbClr val="13110E"/>
                </a:solidFill>
                <a:latin typeface="Roboto"/>
                <a:cs typeface="Roboto"/>
              </a:rPr>
              <a:t>AWS</a:t>
            </a:r>
            <a:r>
              <a:rPr b="1" spc="78" dirty="0">
                <a:solidFill>
                  <a:srgbClr val="13110E"/>
                </a:solidFill>
                <a:latin typeface="Roboto"/>
                <a:cs typeface="Roboto"/>
              </a:rPr>
              <a:t> </a:t>
            </a:r>
            <a:r>
              <a:rPr b="1" spc="-13" dirty="0">
                <a:solidFill>
                  <a:srgbClr val="13110E"/>
                </a:solidFill>
                <a:latin typeface="Roboto"/>
                <a:cs typeface="Roboto"/>
              </a:rPr>
              <a:t>SES</a:t>
            </a:r>
            <a:endParaRPr>
              <a:latin typeface="Roboto"/>
              <a:cs typeface="Roboto"/>
            </a:endParaRPr>
          </a:p>
        </p:txBody>
      </p:sp>
      <p:sp>
        <p:nvSpPr>
          <p:cNvPr id="22" name="object 22"/>
          <p:cNvSpPr txBox="1"/>
          <p:nvPr/>
        </p:nvSpPr>
        <p:spPr>
          <a:xfrm>
            <a:off x="4568003" y="3114820"/>
            <a:ext cx="807085" cy="221856"/>
          </a:xfrm>
          <a:prstGeom prst="rect">
            <a:avLst/>
          </a:prstGeom>
        </p:spPr>
        <p:txBody>
          <a:bodyPr vert="horz" wrap="square" lIns="0" tIns="6350" rIns="0" bIns="0" rtlCol="0">
            <a:spAutoFit/>
          </a:bodyPr>
          <a:lstStyle/>
          <a:p>
            <a:pPr marL="6350">
              <a:spcBef>
                <a:spcPts val="50"/>
              </a:spcBef>
            </a:pPr>
            <a:r>
              <a:rPr b="1" dirty="0">
                <a:solidFill>
                  <a:srgbClr val="13110E"/>
                </a:solidFill>
                <a:latin typeface="Roboto"/>
                <a:cs typeface="Roboto"/>
              </a:rPr>
              <a:t>AWS</a:t>
            </a:r>
            <a:r>
              <a:rPr b="1" spc="78" dirty="0">
                <a:solidFill>
                  <a:srgbClr val="13110E"/>
                </a:solidFill>
                <a:latin typeface="Roboto"/>
                <a:cs typeface="Roboto"/>
              </a:rPr>
              <a:t> </a:t>
            </a:r>
            <a:r>
              <a:rPr b="1" spc="-13" dirty="0">
                <a:solidFill>
                  <a:srgbClr val="13110E"/>
                </a:solidFill>
                <a:latin typeface="Roboto"/>
                <a:cs typeface="Roboto"/>
              </a:rPr>
              <a:t>SNS</a:t>
            </a:r>
            <a:endParaRPr>
              <a:latin typeface="Roboto"/>
              <a:cs typeface="Roboto"/>
            </a:endParaRPr>
          </a:p>
        </p:txBody>
      </p:sp>
      <p:sp>
        <p:nvSpPr>
          <p:cNvPr id="23" name="object 23"/>
          <p:cNvSpPr txBox="1"/>
          <p:nvPr/>
        </p:nvSpPr>
        <p:spPr>
          <a:xfrm>
            <a:off x="508000" y="1841397"/>
            <a:ext cx="3328988" cy="2307683"/>
          </a:xfrm>
          <a:prstGeom prst="rect">
            <a:avLst/>
          </a:prstGeom>
        </p:spPr>
        <p:txBody>
          <a:bodyPr vert="horz" wrap="square" lIns="0" tIns="6350" rIns="0" bIns="0" rtlCol="0">
            <a:spAutoFit/>
          </a:bodyPr>
          <a:lstStyle/>
          <a:p>
            <a:pPr marL="6350" marR="2540" algn="just">
              <a:lnSpc>
                <a:spcPct val="107100"/>
              </a:lnSpc>
              <a:spcBef>
                <a:spcPts val="50"/>
              </a:spcBef>
            </a:pPr>
            <a:r>
              <a:rPr b="1" dirty="0">
                <a:solidFill>
                  <a:srgbClr val="13110E"/>
                </a:solidFill>
                <a:latin typeface="Roboto"/>
                <a:cs typeface="Roboto"/>
              </a:rPr>
              <a:t>List</a:t>
            </a:r>
            <a:r>
              <a:rPr b="1" spc="98" dirty="0">
                <a:solidFill>
                  <a:srgbClr val="13110E"/>
                </a:solidFill>
                <a:latin typeface="Roboto"/>
                <a:cs typeface="Roboto"/>
              </a:rPr>
              <a:t> </a:t>
            </a:r>
            <a:r>
              <a:rPr b="1" dirty="0">
                <a:solidFill>
                  <a:srgbClr val="13110E"/>
                </a:solidFill>
                <a:latin typeface="Roboto"/>
                <a:cs typeface="Roboto"/>
              </a:rPr>
              <a:t>of</a:t>
            </a:r>
            <a:r>
              <a:rPr b="1" spc="98" dirty="0">
                <a:solidFill>
                  <a:srgbClr val="13110E"/>
                </a:solidFill>
                <a:latin typeface="Roboto"/>
                <a:cs typeface="Roboto"/>
              </a:rPr>
              <a:t> </a:t>
            </a:r>
            <a:r>
              <a:rPr b="1" dirty="0">
                <a:solidFill>
                  <a:srgbClr val="13110E"/>
                </a:solidFill>
                <a:latin typeface="Roboto"/>
                <a:cs typeface="Roboto"/>
              </a:rPr>
              <a:t>the</a:t>
            </a:r>
            <a:r>
              <a:rPr b="1" spc="98" dirty="0">
                <a:solidFill>
                  <a:srgbClr val="13110E"/>
                </a:solidFill>
                <a:latin typeface="Roboto"/>
                <a:cs typeface="Roboto"/>
              </a:rPr>
              <a:t> </a:t>
            </a:r>
            <a:r>
              <a:rPr b="1" spc="23" dirty="0">
                <a:solidFill>
                  <a:srgbClr val="13110E"/>
                </a:solidFill>
                <a:latin typeface="Roboto"/>
                <a:cs typeface="Roboto"/>
              </a:rPr>
              <a:t>services</a:t>
            </a:r>
            <a:r>
              <a:rPr b="1" spc="100" dirty="0">
                <a:solidFill>
                  <a:srgbClr val="13110E"/>
                </a:solidFill>
                <a:latin typeface="Roboto"/>
                <a:cs typeface="Roboto"/>
              </a:rPr>
              <a:t> </a:t>
            </a:r>
            <a:r>
              <a:rPr b="1" dirty="0">
                <a:solidFill>
                  <a:srgbClr val="13110E"/>
                </a:solidFill>
                <a:latin typeface="Roboto"/>
                <a:cs typeface="Roboto"/>
              </a:rPr>
              <a:t>you</a:t>
            </a:r>
            <a:r>
              <a:rPr b="1" spc="98" dirty="0">
                <a:solidFill>
                  <a:srgbClr val="13110E"/>
                </a:solidFill>
                <a:latin typeface="Roboto"/>
                <a:cs typeface="Roboto"/>
              </a:rPr>
              <a:t> </a:t>
            </a:r>
            <a:r>
              <a:rPr b="1" dirty="0">
                <a:solidFill>
                  <a:srgbClr val="13110E"/>
                </a:solidFill>
                <a:latin typeface="Roboto"/>
                <a:cs typeface="Roboto"/>
              </a:rPr>
              <a:t>MUST</a:t>
            </a:r>
            <a:r>
              <a:rPr b="1" spc="98" dirty="0">
                <a:solidFill>
                  <a:srgbClr val="13110E"/>
                </a:solidFill>
                <a:latin typeface="Roboto"/>
                <a:cs typeface="Roboto"/>
              </a:rPr>
              <a:t> </a:t>
            </a:r>
            <a:r>
              <a:rPr b="1" spc="18" dirty="0">
                <a:solidFill>
                  <a:srgbClr val="13110E"/>
                </a:solidFill>
                <a:latin typeface="Roboto"/>
                <a:cs typeface="Roboto"/>
              </a:rPr>
              <a:t>definitely </a:t>
            </a:r>
            <a:r>
              <a:rPr b="1" spc="-10" dirty="0">
                <a:solidFill>
                  <a:srgbClr val="13110E"/>
                </a:solidFill>
                <a:latin typeface="Roboto"/>
                <a:cs typeface="Roboto"/>
              </a:rPr>
              <a:t>know</a:t>
            </a:r>
            <a:endParaRPr>
              <a:latin typeface="Roboto"/>
              <a:cs typeface="Roboto"/>
            </a:endParaRPr>
          </a:p>
          <a:p>
            <a:pPr>
              <a:spcBef>
                <a:spcPts val="720"/>
              </a:spcBef>
            </a:pPr>
            <a:endParaRPr>
              <a:latin typeface="Roboto"/>
              <a:cs typeface="Roboto"/>
            </a:endParaRPr>
          </a:p>
          <a:p>
            <a:pPr marL="6350" algn="just"/>
            <a:r>
              <a:rPr b="1" dirty="0">
                <a:solidFill>
                  <a:srgbClr val="13110E"/>
                </a:solidFill>
                <a:latin typeface="Roboto"/>
                <a:cs typeface="Roboto"/>
              </a:rPr>
              <a:t>AWS</a:t>
            </a:r>
            <a:r>
              <a:rPr b="1" spc="78" dirty="0">
                <a:solidFill>
                  <a:srgbClr val="13110E"/>
                </a:solidFill>
                <a:latin typeface="Roboto"/>
                <a:cs typeface="Roboto"/>
              </a:rPr>
              <a:t> </a:t>
            </a:r>
            <a:r>
              <a:rPr b="1" spc="-13" dirty="0">
                <a:solidFill>
                  <a:srgbClr val="13110E"/>
                </a:solidFill>
                <a:latin typeface="Roboto"/>
                <a:cs typeface="Roboto"/>
              </a:rPr>
              <a:t>IAM</a:t>
            </a:r>
            <a:endParaRPr>
              <a:latin typeface="Roboto"/>
              <a:cs typeface="Roboto"/>
            </a:endParaRPr>
          </a:p>
          <a:p>
            <a:pPr marL="6350" marR="2521268" algn="just">
              <a:lnSpc>
                <a:spcPct val="200100"/>
              </a:lnSpc>
              <a:spcBef>
                <a:spcPts val="665"/>
              </a:spcBef>
            </a:pPr>
            <a:r>
              <a:rPr b="1" dirty="0">
                <a:solidFill>
                  <a:srgbClr val="13110E"/>
                </a:solidFill>
                <a:latin typeface="Roboto"/>
                <a:cs typeface="Roboto"/>
              </a:rPr>
              <a:t>AWS</a:t>
            </a:r>
            <a:r>
              <a:rPr b="1" spc="78" dirty="0">
                <a:solidFill>
                  <a:srgbClr val="13110E"/>
                </a:solidFill>
                <a:latin typeface="Roboto"/>
                <a:cs typeface="Roboto"/>
              </a:rPr>
              <a:t> </a:t>
            </a:r>
            <a:r>
              <a:rPr b="1" spc="-13" dirty="0">
                <a:solidFill>
                  <a:srgbClr val="13110E"/>
                </a:solidFill>
                <a:latin typeface="Roboto"/>
                <a:cs typeface="Roboto"/>
              </a:rPr>
              <a:t>EC2 </a:t>
            </a:r>
            <a:r>
              <a:rPr b="1" dirty="0">
                <a:solidFill>
                  <a:srgbClr val="13110E"/>
                </a:solidFill>
                <a:latin typeface="Roboto"/>
                <a:cs typeface="Roboto"/>
              </a:rPr>
              <a:t>AWS</a:t>
            </a:r>
            <a:r>
              <a:rPr b="1" spc="78" dirty="0">
                <a:solidFill>
                  <a:srgbClr val="13110E"/>
                </a:solidFill>
                <a:latin typeface="Roboto"/>
                <a:cs typeface="Roboto"/>
              </a:rPr>
              <a:t> </a:t>
            </a:r>
            <a:r>
              <a:rPr b="1" spc="-13" dirty="0">
                <a:solidFill>
                  <a:srgbClr val="13110E"/>
                </a:solidFill>
                <a:latin typeface="Roboto"/>
                <a:cs typeface="Roboto"/>
              </a:rPr>
              <a:t>EBS </a:t>
            </a:r>
            <a:r>
              <a:rPr b="1" dirty="0">
                <a:solidFill>
                  <a:srgbClr val="13110E"/>
                </a:solidFill>
                <a:latin typeface="Roboto"/>
                <a:cs typeface="Roboto"/>
              </a:rPr>
              <a:t>AWS</a:t>
            </a:r>
            <a:r>
              <a:rPr b="1" spc="78" dirty="0">
                <a:solidFill>
                  <a:srgbClr val="13110E"/>
                </a:solidFill>
                <a:latin typeface="Roboto"/>
                <a:cs typeface="Roboto"/>
              </a:rPr>
              <a:t> </a:t>
            </a:r>
            <a:r>
              <a:rPr b="1" spc="-13" dirty="0">
                <a:solidFill>
                  <a:srgbClr val="13110E"/>
                </a:solidFill>
                <a:latin typeface="Roboto"/>
                <a:cs typeface="Roboto"/>
              </a:rPr>
              <a:t>VPC</a:t>
            </a:r>
            <a:endParaRPr>
              <a:latin typeface="Roboto"/>
              <a:cs typeface="Roboto"/>
            </a:endParaRPr>
          </a:p>
        </p:txBody>
      </p:sp>
      <p:grpSp>
        <p:nvGrpSpPr>
          <p:cNvPr id="24" name="object 24"/>
          <p:cNvGrpSpPr/>
          <p:nvPr/>
        </p:nvGrpSpPr>
        <p:grpSpPr>
          <a:xfrm>
            <a:off x="4576735" y="3783163"/>
            <a:ext cx="3491230" cy="574358"/>
            <a:chOff x="9153469" y="7566326"/>
            <a:chExt cx="6982459" cy="1148715"/>
          </a:xfrm>
        </p:grpSpPr>
        <p:sp>
          <p:nvSpPr>
            <p:cNvPr id="25" name="object 25"/>
            <p:cNvSpPr/>
            <p:nvPr/>
          </p:nvSpPr>
          <p:spPr>
            <a:xfrm>
              <a:off x="9153469" y="7571089"/>
              <a:ext cx="6982459" cy="0"/>
            </a:xfrm>
            <a:custGeom>
              <a:avLst/>
              <a:gdLst/>
              <a:ahLst/>
              <a:cxnLst/>
              <a:rect l="l" t="t" r="r" b="b"/>
              <a:pathLst>
                <a:path w="6982459">
                  <a:moveTo>
                    <a:pt x="0" y="0"/>
                  </a:moveTo>
                  <a:lnTo>
                    <a:pt x="6981853" y="0"/>
                  </a:lnTo>
                </a:path>
              </a:pathLst>
            </a:custGeom>
            <a:ln w="9524">
              <a:solidFill>
                <a:srgbClr val="6421B8"/>
              </a:solidFill>
            </a:ln>
          </p:spPr>
          <p:txBody>
            <a:bodyPr wrap="square" lIns="0" tIns="0" rIns="0" bIns="0" rtlCol="0"/>
            <a:lstStyle/>
            <a:p>
              <a:endParaRPr sz="700"/>
            </a:p>
          </p:txBody>
        </p:sp>
        <p:sp>
          <p:nvSpPr>
            <p:cNvPr id="26" name="object 26"/>
            <p:cNvSpPr/>
            <p:nvPr/>
          </p:nvSpPr>
          <p:spPr>
            <a:xfrm>
              <a:off x="9153469" y="8709802"/>
              <a:ext cx="6982459" cy="0"/>
            </a:xfrm>
            <a:custGeom>
              <a:avLst/>
              <a:gdLst/>
              <a:ahLst/>
              <a:cxnLst/>
              <a:rect l="l" t="t" r="r" b="b"/>
              <a:pathLst>
                <a:path w="6982459">
                  <a:moveTo>
                    <a:pt x="0" y="0"/>
                  </a:moveTo>
                  <a:lnTo>
                    <a:pt x="6981853" y="0"/>
                  </a:lnTo>
                </a:path>
              </a:pathLst>
            </a:custGeom>
            <a:ln w="9524">
              <a:solidFill>
                <a:srgbClr val="6421B8"/>
              </a:solidFill>
            </a:ln>
          </p:spPr>
          <p:txBody>
            <a:bodyPr wrap="square" lIns="0" tIns="0" rIns="0" bIns="0" rtlCol="0"/>
            <a:lstStyle/>
            <a:p>
              <a:endParaRPr sz="700"/>
            </a:p>
          </p:txBody>
        </p:sp>
      </p:grpSp>
      <p:sp>
        <p:nvSpPr>
          <p:cNvPr id="27" name="object 27"/>
          <p:cNvSpPr txBox="1"/>
          <p:nvPr/>
        </p:nvSpPr>
        <p:spPr>
          <a:xfrm>
            <a:off x="4568003" y="3485866"/>
            <a:ext cx="804228" cy="221856"/>
          </a:xfrm>
          <a:prstGeom prst="rect">
            <a:avLst/>
          </a:prstGeom>
        </p:spPr>
        <p:txBody>
          <a:bodyPr vert="horz" wrap="square" lIns="0" tIns="6350" rIns="0" bIns="0" rtlCol="0">
            <a:spAutoFit/>
          </a:bodyPr>
          <a:lstStyle/>
          <a:p>
            <a:pPr marL="6350">
              <a:spcBef>
                <a:spcPts val="50"/>
              </a:spcBef>
            </a:pPr>
            <a:r>
              <a:rPr b="1" dirty="0">
                <a:solidFill>
                  <a:srgbClr val="13110E"/>
                </a:solidFill>
                <a:latin typeface="Roboto"/>
                <a:cs typeface="Roboto"/>
              </a:rPr>
              <a:t>AWS</a:t>
            </a:r>
            <a:r>
              <a:rPr b="1" spc="78" dirty="0">
                <a:solidFill>
                  <a:srgbClr val="13110E"/>
                </a:solidFill>
                <a:latin typeface="Roboto"/>
                <a:cs typeface="Roboto"/>
              </a:rPr>
              <a:t> </a:t>
            </a:r>
            <a:r>
              <a:rPr b="1" spc="-13" dirty="0">
                <a:solidFill>
                  <a:srgbClr val="13110E"/>
                </a:solidFill>
                <a:latin typeface="Roboto"/>
                <a:cs typeface="Roboto"/>
              </a:rPr>
              <a:t>SQS</a:t>
            </a:r>
            <a:endParaRPr>
              <a:latin typeface="Roboto"/>
              <a:cs typeface="Roboto"/>
            </a:endParaRPr>
          </a:p>
        </p:txBody>
      </p:sp>
      <p:sp>
        <p:nvSpPr>
          <p:cNvPr id="28" name="object 28"/>
          <p:cNvSpPr txBox="1"/>
          <p:nvPr/>
        </p:nvSpPr>
        <p:spPr>
          <a:xfrm>
            <a:off x="4568003" y="3839183"/>
            <a:ext cx="3395663" cy="454740"/>
          </a:xfrm>
          <a:prstGeom prst="rect">
            <a:avLst/>
          </a:prstGeom>
        </p:spPr>
        <p:txBody>
          <a:bodyPr vert="horz" wrap="square" lIns="0" tIns="6350" rIns="0" bIns="0" rtlCol="0">
            <a:spAutoFit/>
          </a:bodyPr>
          <a:lstStyle/>
          <a:p>
            <a:pPr marL="6350" marR="2540">
              <a:lnSpc>
                <a:spcPct val="107100"/>
              </a:lnSpc>
              <a:spcBef>
                <a:spcPts val="50"/>
              </a:spcBef>
            </a:pPr>
            <a:r>
              <a:rPr b="1" dirty="0">
                <a:solidFill>
                  <a:srgbClr val="13110E"/>
                </a:solidFill>
                <a:latin typeface="Roboto"/>
                <a:cs typeface="Roboto"/>
              </a:rPr>
              <a:t>AWS</a:t>
            </a:r>
            <a:r>
              <a:rPr b="1" spc="102" dirty="0">
                <a:solidFill>
                  <a:srgbClr val="13110E"/>
                </a:solidFill>
                <a:latin typeface="Roboto"/>
                <a:cs typeface="Roboto"/>
              </a:rPr>
              <a:t> </a:t>
            </a:r>
            <a:r>
              <a:rPr b="1" dirty="0">
                <a:solidFill>
                  <a:srgbClr val="13110E"/>
                </a:solidFill>
                <a:latin typeface="Roboto"/>
                <a:cs typeface="Roboto"/>
              </a:rPr>
              <a:t>DevOps</a:t>
            </a:r>
            <a:r>
              <a:rPr b="1" spc="105" dirty="0">
                <a:solidFill>
                  <a:srgbClr val="13110E"/>
                </a:solidFill>
                <a:latin typeface="Roboto"/>
                <a:cs typeface="Roboto"/>
              </a:rPr>
              <a:t> </a:t>
            </a:r>
            <a:r>
              <a:rPr b="1" dirty="0">
                <a:solidFill>
                  <a:srgbClr val="13110E"/>
                </a:solidFill>
                <a:latin typeface="Roboto"/>
                <a:cs typeface="Roboto"/>
              </a:rPr>
              <a:t>tools</a:t>
            </a:r>
            <a:r>
              <a:rPr b="1" spc="105" dirty="0">
                <a:solidFill>
                  <a:srgbClr val="13110E"/>
                </a:solidFill>
                <a:latin typeface="Roboto"/>
                <a:cs typeface="Roboto"/>
              </a:rPr>
              <a:t> </a:t>
            </a:r>
            <a:r>
              <a:rPr b="1" spc="23" dirty="0">
                <a:solidFill>
                  <a:srgbClr val="13110E"/>
                </a:solidFill>
                <a:latin typeface="Roboto"/>
                <a:cs typeface="Roboto"/>
              </a:rPr>
              <a:t>(CodePipeline</a:t>
            </a:r>
            <a:r>
              <a:rPr b="1" spc="105" dirty="0">
                <a:solidFill>
                  <a:srgbClr val="13110E"/>
                </a:solidFill>
                <a:latin typeface="Roboto"/>
                <a:cs typeface="Roboto"/>
              </a:rPr>
              <a:t> </a:t>
            </a:r>
            <a:r>
              <a:rPr b="1" dirty="0">
                <a:solidFill>
                  <a:srgbClr val="13110E"/>
                </a:solidFill>
                <a:latin typeface="Roboto"/>
                <a:cs typeface="Roboto"/>
              </a:rPr>
              <a:t>+</a:t>
            </a:r>
            <a:r>
              <a:rPr b="1" spc="105" dirty="0">
                <a:solidFill>
                  <a:srgbClr val="13110E"/>
                </a:solidFill>
                <a:latin typeface="Roboto"/>
                <a:cs typeface="Roboto"/>
              </a:rPr>
              <a:t> </a:t>
            </a:r>
            <a:r>
              <a:rPr b="1" spc="-10" dirty="0">
                <a:solidFill>
                  <a:srgbClr val="13110E"/>
                </a:solidFill>
                <a:latin typeface="Roboto"/>
                <a:cs typeface="Roboto"/>
              </a:rPr>
              <a:t>Code </a:t>
            </a:r>
            <a:r>
              <a:rPr b="1" dirty="0">
                <a:solidFill>
                  <a:srgbClr val="13110E"/>
                </a:solidFill>
                <a:latin typeface="Roboto"/>
                <a:cs typeface="Roboto"/>
              </a:rPr>
              <a:t>Commit</a:t>
            </a:r>
            <a:r>
              <a:rPr b="1" spc="125" dirty="0">
                <a:solidFill>
                  <a:srgbClr val="13110E"/>
                </a:solidFill>
                <a:latin typeface="Roboto"/>
                <a:cs typeface="Roboto"/>
              </a:rPr>
              <a:t> </a:t>
            </a:r>
            <a:r>
              <a:rPr b="1" dirty="0">
                <a:solidFill>
                  <a:srgbClr val="13110E"/>
                </a:solidFill>
                <a:latin typeface="Roboto"/>
                <a:cs typeface="Roboto"/>
              </a:rPr>
              <a:t>+</a:t>
            </a:r>
            <a:r>
              <a:rPr b="1" spc="127" dirty="0">
                <a:solidFill>
                  <a:srgbClr val="13110E"/>
                </a:solidFill>
                <a:latin typeface="Roboto"/>
                <a:cs typeface="Roboto"/>
              </a:rPr>
              <a:t> </a:t>
            </a:r>
            <a:r>
              <a:rPr b="1" dirty="0">
                <a:solidFill>
                  <a:srgbClr val="13110E"/>
                </a:solidFill>
                <a:latin typeface="Roboto"/>
                <a:cs typeface="Roboto"/>
              </a:rPr>
              <a:t>CodeBuild</a:t>
            </a:r>
            <a:r>
              <a:rPr b="1" spc="125" dirty="0">
                <a:solidFill>
                  <a:srgbClr val="13110E"/>
                </a:solidFill>
                <a:latin typeface="Roboto"/>
                <a:cs typeface="Roboto"/>
              </a:rPr>
              <a:t> </a:t>
            </a:r>
            <a:r>
              <a:rPr b="1" dirty="0">
                <a:solidFill>
                  <a:srgbClr val="13110E"/>
                </a:solidFill>
                <a:latin typeface="Roboto"/>
                <a:cs typeface="Roboto"/>
              </a:rPr>
              <a:t>+</a:t>
            </a:r>
            <a:r>
              <a:rPr b="1" spc="127" dirty="0">
                <a:solidFill>
                  <a:srgbClr val="13110E"/>
                </a:solidFill>
                <a:latin typeface="Roboto"/>
                <a:cs typeface="Roboto"/>
              </a:rPr>
              <a:t> </a:t>
            </a:r>
            <a:r>
              <a:rPr b="1" spc="-5" dirty="0">
                <a:solidFill>
                  <a:srgbClr val="13110E"/>
                </a:solidFill>
                <a:latin typeface="Roboto"/>
                <a:cs typeface="Roboto"/>
              </a:rPr>
              <a:t>CodeDeploy)</a:t>
            </a:r>
            <a:endParaRPr>
              <a:latin typeface="Roboto"/>
              <a:cs typeface="Roboto"/>
            </a:endParaRPr>
          </a:p>
        </p:txBody>
      </p:sp>
      <p:sp>
        <p:nvSpPr>
          <p:cNvPr id="29" name="object 29"/>
          <p:cNvSpPr txBox="1"/>
          <p:nvPr/>
        </p:nvSpPr>
        <p:spPr>
          <a:xfrm>
            <a:off x="8173736" y="56320"/>
            <a:ext cx="911860" cy="138499"/>
          </a:xfrm>
          <a:prstGeom prst="rect">
            <a:avLst/>
          </a:prstGeom>
        </p:spPr>
        <p:txBody>
          <a:bodyPr vert="horz" wrap="square" lIns="0" tIns="7620" rIns="0" bIns="0" rtlCol="0">
            <a:spAutoFit/>
          </a:bodyPr>
          <a:lstStyle/>
          <a:p>
            <a:pPr marL="6350">
              <a:spcBef>
                <a:spcPts val="60"/>
              </a:spcBef>
            </a:pPr>
            <a:r>
              <a:rPr sz="850" dirty="0">
                <a:solidFill>
                  <a:srgbClr val="13110E"/>
                </a:solidFill>
                <a:latin typeface="Open Sans Light"/>
                <a:cs typeface="Open Sans Light"/>
              </a:rPr>
              <a:t>Learn</a:t>
            </a:r>
            <a:r>
              <a:rPr sz="850" spc="15" dirty="0">
                <a:solidFill>
                  <a:srgbClr val="13110E"/>
                </a:solidFill>
                <a:latin typeface="Open Sans Light"/>
                <a:cs typeface="Open Sans Light"/>
              </a:rPr>
              <a:t> </a:t>
            </a:r>
            <a:r>
              <a:rPr sz="850" dirty="0">
                <a:solidFill>
                  <a:srgbClr val="13110E"/>
                </a:solidFill>
                <a:latin typeface="Open Sans Light"/>
                <a:cs typeface="Open Sans Light"/>
              </a:rPr>
              <a:t>With</a:t>
            </a:r>
            <a:r>
              <a:rPr sz="850" spc="15" dirty="0">
                <a:solidFill>
                  <a:srgbClr val="13110E"/>
                </a:solidFill>
                <a:latin typeface="Open Sans Light"/>
                <a:cs typeface="Open Sans Light"/>
              </a:rPr>
              <a:t> </a:t>
            </a:r>
            <a:r>
              <a:rPr sz="850" spc="-5" dirty="0">
                <a:solidFill>
                  <a:srgbClr val="13110E"/>
                </a:solidFill>
                <a:latin typeface="Open Sans Light"/>
                <a:cs typeface="Open Sans Light"/>
              </a:rPr>
              <a:t>Sandip</a:t>
            </a:r>
            <a:endParaRPr sz="850">
              <a:latin typeface="Open Sans Light"/>
              <a:cs typeface="Open Sans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6577" y="-26640"/>
            <a:ext cx="7857440" cy="727443"/>
          </a:xfrm>
          <a:prstGeom prst="rect">
            <a:avLst/>
          </a:prstGeom>
        </p:spPr>
        <p:txBody>
          <a:bodyPr spcFirstLastPara="1" vert="horz" wrap="square" lIns="0" tIns="87948" rIns="0" bIns="0" rtlCol="0" anchor="t" anchorCtr="0">
            <a:spAutoFit/>
          </a:bodyPr>
          <a:lstStyle/>
          <a:p>
            <a:pPr marL="12700">
              <a:spcBef>
                <a:spcPts val="693"/>
              </a:spcBef>
            </a:pPr>
            <a:r>
              <a:rPr b="0" dirty="0">
                <a:latin typeface="Roboto"/>
                <a:cs typeface="Roboto"/>
              </a:rPr>
              <a:t>AWS</a:t>
            </a:r>
            <a:r>
              <a:rPr b="0" spc="-73" dirty="0"/>
              <a:t> </a:t>
            </a:r>
            <a:r>
              <a:rPr b="0" dirty="0">
                <a:latin typeface="Roboto"/>
                <a:cs typeface="Roboto"/>
              </a:rPr>
              <a:t>Identity</a:t>
            </a:r>
            <a:r>
              <a:rPr b="0" spc="-73" dirty="0"/>
              <a:t> </a:t>
            </a:r>
            <a:r>
              <a:rPr b="0" dirty="0">
                <a:latin typeface="Roboto"/>
                <a:cs typeface="Roboto"/>
              </a:rPr>
              <a:t>and</a:t>
            </a:r>
            <a:r>
              <a:rPr b="0" spc="-73" dirty="0"/>
              <a:t> </a:t>
            </a:r>
            <a:r>
              <a:rPr b="0" dirty="0">
                <a:latin typeface="Roboto"/>
                <a:cs typeface="Roboto"/>
              </a:rPr>
              <a:t>Access</a:t>
            </a:r>
            <a:r>
              <a:rPr b="0" spc="-73" dirty="0"/>
              <a:t> </a:t>
            </a:r>
            <a:r>
              <a:rPr b="0" dirty="0">
                <a:latin typeface="Roboto"/>
                <a:cs typeface="Roboto"/>
              </a:rPr>
              <a:t>Management</a:t>
            </a:r>
            <a:r>
              <a:rPr b="0" spc="-73" dirty="0"/>
              <a:t> </a:t>
            </a:r>
            <a:r>
              <a:rPr b="0" spc="-5" dirty="0"/>
              <a:t>(IAM)</a:t>
            </a:r>
          </a:p>
          <a:p>
            <a:pPr marL="12700">
              <a:spcBef>
                <a:spcPts val="233"/>
              </a:spcBef>
            </a:pPr>
            <a:r>
              <a:rPr sz="900" dirty="0">
                <a:latin typeface="Open Sans"/>
                <a:cs typeface="Open Sans"/>
              </a:rPr>
              <a:t>Securely</a:t>
            </a:r>
            <a:r>
              <a:rPr sz="900" spc="-15" dirty="0">
                <a:latin typeface="Open Sans"/>
                <a:cs typeface="Open Sans"/>
              </a:rPr>
              <a:t> </a:t>
            </a:r>
            <a:r>
              <a:rPr sz="900" dirty="0">
                <a:latin typeface="Open Sans"/>
                <a:cs typeface="Open Sans"/>
              </a:rPr>
              <a:t>manage</a:t>
            </a:r>
            <a:r>
              <a:rPr sz="900" spc="-13" dirty="0">
                <a:latin typeface="Open Sans"/>
                <a:cs typeface="Open Sans"/>
              </a:rPr>
              <a:t> </a:t>
            </a:r>
            <a:r>
              <a:rPr sz="900" dirty="0">
                <a:latin typeface="Open Sans"/>
                <a:cs typeface="Open Sans"/>
              </a:rPr>
              <a:t>access</a:t>
            </a:r>
            <a:r>
              <a:rPr sz="900" spc="-13" dirty="0">
                <a:latin typeface="Open Sans"/>
                <a:cs typeface="Open Sans"/>
              </a:rPr>
              <a:t> </a:t>
            </a:r>
            <a:r>
              <a:rPr sz="900" dirty="0">
                <a:latin typeface="Open Sans"/>
                <a:cs typeface="Open Sans"/>
              </a:rPr>
              <a:t>to</a:t>
            </a:r>
            <a:r>
              <a:rPr sz="900" spc="-13" dirty="0">
                <a:latin typeface="Open Sans"/>
                <a:cs typeface="Open Sans"/>
              </a:rPr>
              <a:t> </a:t>
            </a:r>
            <a:r>
              <a:rPr sz="900" dirty="0">
                <a:latin typeface="Open Sans"/>
                <a:cs typeface="Open Sans"/>
              </a:rPr>
              <a:t>AWS</a:t>
            </a:r>
            <a:r>
              <a:rPr sz="900" spc="-15" dirty="0">
                <a:latin typeface="Open Sans"/>
                <a:cs typeface="Open Sans"/>
              </a:rPr>
              <a:t> </a:t>
            </a:r>
            <a:r>
              <a:rPr sz="900" dirty="0">
                <a:latin typeface="Open Sans"/>
                <a:cs typeface="Open Sans"/>
              </a:rPr>
              <a:t>services</a:t>
            </a:r>
            <a:r>
              <a:rPr sz="900" spc="-13" dirty="0">
                <a:latin typeface="Open Sans"/>
                <a:cs typeface="Open Sans"/>
              </a:rPr>
              <a:t> </a:t>
            </a:r>
            <a:r>
              <a:rPr sz="900" dirty="0">
                <a:latin typeface="Open Sans"/>
                <a:cs typeface="Open Sans"/>
              </a:rPr>
              <a:t>and</a:t>
            </a:r>
            <a:r>
              <a:rPr sz="900" spc="-13" dirty="0">
                <a:latin typeface="Open Sans"/>
                <a:cs typeface="Open Sans"/>
              </a:rPr>
              <a:t> </a:t>
            </a:r>
            <a:r>
              <a:rPr sz="900" spc="-5" dirty="0">
                <a:latin typeface="Open Sans"/>
                <a:cs typeface="Open Sans"/>
              </a:rPr>
              <a:t>resources</a:t>
            </a:r>
            <a:endParaRPr sz="900" dirty="0">
              <a:latin typeface="Open Sans"/>
              <a:cs typeface="Open Sans"/>
            </a:endParaRPr>
          </a:p>
        </p:txBody>
      </p:sp>
      <p:sp>
        <p:nvSpPr>
          <p:cNvPr id="3" name="object 3"/>
          <p:cNvSpPr txBox="1"/>
          <p:nvPr/>
        </p:nvSpPr>
        <p:spPr>
          <a:xfrm>
            <a:off x="155850" y="877784"/>
            <a:ext cx="8771573" cy="3639394"/>
          </a:xfrm>
          <a:prstGeom prst="rect">
            <a:avLst/>
          </a:prstGeom>
        </p:spPr>
        <p:txBody>
          <a:bodyPr vert="horz" wrap="square" lIns="0" tIns="6350" rIns="0" bIns="0" rtlCol="0">
            <a:spAutoFit/>
          </a:bodyPr>
          <a:lstStyle/>
          <a:p>
            <a:pPr marL="140653" marR="2540">
              <a:lnSpc>
                <a:spcPct val="114599"/>
              </a:lnSpc>
              <a:spcBef>
                <a:spcPts val="50"/>
              </a:spcBef>
            </a:pPr>
            <a:r>
              <a:rPr sz="1200" dirty="0">
                <a:latin typeface="Roboto"/>
                <a:cs typeface="Roboto"/>
              </a:rPr>
              <a:t>AWS</a:t>
            </a:r>
            <a:r>
              <a:rPr sz="1200" spc="-28" dirty="0">
                <a:latin typeface="Roboto"/>
                <a:cs typeface="Roboto"/>
              </a:rPr>
              <a:t> </a:t>
            </a:r>
            <a:r>
              <a:rPr sz="1200" dirty="0">
                <a:latin typeface="Roboto"/>
                <a:cs typeface="Roboto"/>
              </a:rPr>
              <a:t>Identity</a:t>
            </a:r>
            <a:r>
              <a:rPr sz="1200" spc="-25" dirty="0">
                <a:latin typeface="Roboto"/>
                <a:cs typeface="Roboto"/>
              </a:rPr>
              <a:t> </a:t>
            </a:r>
            <a:r>
              <a:rPr sz="1200" dirty="0">
                <a:latin typeface="Roboto"/>
                <a:cs typeface="Roboto"/>
              </a:rPr>
              <a:t>and</a:t>
            </a:r>
            <a:r>
              <a:rPr sz="1200" spc="-28" dirty="0">
                <a:latin typeface="Roboto"/>
                <a:cs typeface="Roboto"/>
              </a:rPr>
              <a:t> </a:t>
            </a:r>
            <a:r>
              <a:rPr sz="1200" dirty="0">
                <a:latin typeface="Roboto"/>
                <a:cs typeface="Roboto"/>
              </a:rPr>
              <a:t>Access</a:t>
            </a:r>
            <a:r>
              <a:rPr sz="1200" spc="-25" dirty="0">
                <a:latin typeface="Roboto"/>
                <a:cs typeface="Roboto"/>
              </a:rPr>
              <a:t> </a:t>
            </a:r>
            <a:r>
              <a:rPr sz="1200" dirty="0">
                <a:latin typeface="Roboto"/>
                <a:cs typeface="Roboto"/>
              </a:rPr>
              <a:t>Management</a:t>
            </a:r>
            <a:r>
              <a:rPr sz="1200" spc="-28" dirty="0">
                <a:latin typeface="Roboto"/>
                <a:cs typeface="Roboto"/>
              </a:rPr>
              <a:t> </a:t>
            </a:r>
            <a:r>
              <a:rPr sz="1200" dirty="0">
                <a:latin typeface="Roboto"/>
                <a:cs typeface="Roboto"/>
              </a:rPr>
              <a:t>(IAM)</a:t>
            </a:r>
            <a:r>
              <a:rPr sz="1200" spc="-25" dirty="0">
                <a:latin typeface="Roboto"/>
                <a:cs typeface="Roboto"/>
              </a:rPr>
              <a:t> </a:t>
            </a:r>
            <a:r>
              <a:rPr sz="1200" dirty="0">
                <a:latin typeface="Roboto"/>
                <a:cs typeface="Roboto"/>
              </a:rPr>
              <a:t>enables</a:t>
            </a:r>
            <a:r>
              <a:rPr sz="1200" spc="-28" dirty="0">
                <a:latin typeface="Roboto"/>
                <a:cs typeface="Roboto"/>
              </a:rPr>
              <a:t> </a:t>
            </a:r>
            <a:r>
              <a:rPr sz="1200" dirty="0">
                <a:latin typeface="Roboto"/>
                <a:cs typeface="Roboto"/>
              </a:rPr>
              <a:t>you</a:t>
            </a:r>
            <a:r>
              <a:rPr sz="1200" spc="-25" dirty="0">
                <a:latin typeface="Roboto"/>
                <a:cs typeface="Roboto"/>
              </a:rPr>
              <a:t> </a:t>
            </a:r>
            <a:r>
              <a:rPr sz="1200" dirty="0">
                <a:latin typeface="Roboto"/>
                <a:cs typeface="Roboto"/>
              </a:rPr>
              <a:t>to</a:t>
            </a:r>
            <a:r>
              <a:rPr sz="1200" spc="-28" dirty="0">
                <a:latin typeface="Roboto"/>
                <a:cs typeface="Roboto"/>
              </a:rPr>
              <a:t> </a:t>
            </a:r>
            <a:r>
              <a:rPr sz="1200" dirty="0">
                <a:latin typeface="Roboto"/>
                <a:cs typeface="Roboto"/>
              </a:rPr>
              <a:t>manage</a:t>
            </a:r>
            <a:r>
              <a:rPr sz="1200" spc="-25" dirty="0">
                <a:latin typeface="Roboto"/>
                <a:cs typeface="Roboto"/>
              </a:rPr>
              <a:t> </a:t>
            </a:r>
            <a:r>
              <a:rPr sz="1200" dirty="0">
                <a:latin typeface="Roboto"/>
                <a:cs typeface="Roboto"/>
              </a:rPr>
              <a:t>access</a:t>
            </a:r>
            <a:r>
              <a:rPr sz="1200" spc="-28" dirty="0">
                <a:latin typeface="Roboto"/>
                <a:cs typeface="Roboto"/>
              </a:rPr>
              <a:t> </a:t>
            </a:r>
            <a:r>
              <a:rPr sz="1200" dirty="0">
                <a:latin typeface="Roboto"/>
                <a:cs typeface="Roboto"/>
              </a:rPr>
              <a:t>to</a:t>
            </a:r>
            <a:r>
              <a:rPr sz="1200" spc="-25" dirty="0">
                <a:latin typeface="Roboto"/>
                <a:cs typeface="Roboto"/>
              </a:rPr>
              <a:t> </a:t>
            </a:r>
            <a:r>
              <a:rPr sz="1200" dirty="0">
                <a:latin typeface="Roboto"/>
                <a:cs typeface="Roboto"/>
              </a:rPr>
              <a:t>AWS</a:t>
            </a:r>
            <a:r>
              <a:rPr sz="1200" spc="-28" dirty="0">
                <a:latin typeface="Roboto"/>
                <a:cs typeface="Roboto"/>
              </a:rPr>
              <a:t> </a:t>
            </a:r>
            <a:r>
              <a:rPr sz="1200" dirty="0">
                <a:latin typeface="Roboto"/>
                <a:cs typeface="Roboto"/>
              </a:rPr>
              <a:t>services</a:t>
            </a:r>
            <a:r>
              <a:rPr sz="1200" spc="-25" dirty="0">
                <a:latin typeface="Roboto"/>
                <a:cs typeface="Roboto"/>
              </a:rPr>
              <a:t> </a:t>
            </a:r>
            <a:r>
              <a:rPr sz="1200" dirty="0">
                <a:latin typeface="Roboto"/>
                <a:cs typeface="Roboto"/>
              </a:rPr>
              <a:t>and</a:t>
            </a:r>
            <a:r>
              <a:rPr sz="1200" spc="-25" dirty="0">
                <a:latin typeface="Roboto"/>
                <a:cs typeface="Roboto"/>
              </a:rPr>
              <a:t> </a:t>
            </a:r>
            <a:r>
              <a:rPr sz="1200" dirty="0">
                <a:latin typeface="Roboto"/>
                <a:cs typeface="Roboto"/>
              </a:rPr>
              <a:t>resources</a:t>
            </a:r>
            <a:r>
              <a:rPr sz="1200" spc="-28" dirty="0">
                <a:latin typeface="Roboto"/>
                <a:cs typeface="Roboto"/>
              </a:rPr>
              <a:t> </a:t>
            </a:r>
            <a:r>
              <a:rPr sz="1200" dirty="0">
                <a:latin typeface="Roboto"/>
                <a:cs typeface="Roboto"/>
              </a:rPr>
              <a:t>securely.</a:t>
            </a:r>
            <a:r>
              <a:rPr sz="1200" spc="-25" dirty="0">
                <a:latin typeface="Roboto"/>
                <a:cs typeface="Roboto"/>
              </a:rPr>
              <a:t> </a:t>
            </a:r>
            <a:r>
              <a:rPr sz="1200" spc="-5" dirty="0">
                <a:latin typeface="Roboto"/>
                <a:cs typeface="Roboto"/>
              </a:rPr>
              <a:t>Using </a:t>
            </a:r>
            <a:r>
              <a:rPr sz="1200" dirty="0">
                <a:latin typeface="Roboto"/>
                <a:cs typeface="Roboto"/>
              </a:rPr>
              <a:t>IAM,</a:t>
            </a:r>
            <a:r>
              <a:rPr sz="1200" spc="-20" dirty="0">
                <a:latin typeface="Roboto"/>
                <a:cs typeface="Roboto"/>
              </a:rPr>
              <a:t> </a:t>
            </a:r>
            <a:r>
              <a:rPr sz="1200" dirty="0">
                <a:latin typeface="Roboto"/>
                <a:cs typeface="Roboto"/>
              </a:rPr>
              <a:t>you</a:t>
            </a:r>
            <a:r>
              <a:rPr sz="1200" spc="-18" dirty="0">
                <a:latin typeface="Roboto"/>
                <a:cs typeface="Roboto"/>
              </a:rPr>
              <a:t> </a:t>
            </a:r>
            <a:r>
              <a:rPr sz="1200" dirty="0">
                <a:latin typeface="Roboto"/>
                <a:cs typeface="Roboto"/>
              </a:rPr>
              <a:t>can</a:t>
            </a:r>
            <a:r>
              <a:rPr sz="1200" spc="-20" dirty="0">
                <a:latin typeface="Roboto"/>
                <a:cs typeface="Roboto"/>
              </a:rPr>
              <a:t> </a:t>
            </a:r>
            <a:r>
              <a:rPr sz="1200" dirty="0">
                <a:latin typeface="Roboto"/>
                <a:cs typeface="Roboto"/>
              </a:rPr>
              <a:t>create</a:t>
            </a:r>
            <a:r>
              <a:rPr sz="1200" spc="-18" dirty="0">
                <a:latin typeface="Roboto"/>
                <a:cs typeface="Roboto"/>
              </a:rPr>
              <a:t> </a:t>
            </a:r>
            <a:r>
              <a:rPr sz="1200" dirty="0">
                <a:latin typeface="Roboto"/>
                <a:cs typeface="Roboto"/>
              </a:rPr>
              <a:t>and</a:t>
            </a:r>
            <a:r>
              <a:rPr sz="1200" spc="-18" dirty="0">
                <a:latin typeface="Roboto"/>
                <a:cs typeface="Roboto"/>
              </a:rPr>
              <a:t> </a:t>
            </a:r>
            <a:r>
              <a:rPr sz="1200" dirty="0">
                <a:latin typeface="Roboto"/>
                <a:cs typeface="Roboto"/>
              </a:rPr>
              <a:t>manage</a:t>
            </a:r>
            <a:r>
              <a:rPr sz="1200" spc="-20" dirty="0">
                <a:latin typeface="Roboto"/>
                <a:cs typeface="Roboto"/>
              </a:rPr>
              <a:t> </a:t>
            </a:r>
            <a:r>
              <a:rPr sz="1200" dirty="0">
                <a:latin typeface="Roboto"/>
                <a:cs typeface="Roboto"/>
              </a:rPr>
              <a:t>AWS</a:t>
            </a:r>
            <a:r>
              <a:rPr sz="1200" spc="-18" dirty="0">
                <a:latin typeface="Roboto"/>
                <a:cs typeface="Roboto"/>
              </a:rPr>
              <a:t> </a:t>
            </a:r>
            <a:r>
              <a:rPr sz="1200" dirty="0">
                <a:latin typeface="Roboto"/>
                <a:cs typeface="Roboto"/>
              </a:rPr>
              <a:t>users</a:t>
            </a:r>
            <a:r>
              <a:rPr sz="1200" spc="-18" dirty="0">
                <a:latin typeface="Roboto"/>
                <a:cs typeface="Roboto"/>
              </a:rPr>
              <a:t> </a:t>
            </a:r>
            <a:r>
              <a:rPr sz="1200" dirty="0">
                <a:latin typeface="Roboto"/>
                <a:cs typeface="Roboto"/>
              </a:rPr>
              <a:t>and</a:t>
            </a:r>
            <a:r>
              <a:rPr sz="1200" spc="-20" dirty="0">
                <a:latin typeface="Roboto"/>
                <a:cs typeface="Roboto"/>
              </a:rPr>
              <a:t> </a:t>
            </a:r>
            <a:r>
              <a:rPr sz="1200" dirty="0">
                <a:latin typeface="Roboto"/>
                <a:cs typeface="Roboto"/>
              </a:rPr>
              <a:t>groups,</a:t>
            </a:r>
            <a:r>
              <a:rPr sz="1200" spc="-18" dirty="0">
                <a:latin typeface="Roboto"/>
                <a:cs typeface="Roboto"/>
              </a:rPr>
              <a:t> </a:t>
            </a:r>
            <a:r>
              <a:rPr sz="1200" dirty="0">
                <a:latin typeface="Roboto"/>
                <a:cs typeface="Roboto"/>
              </a:rPr>
              <a:t>and</a:t>
            </a:r>
            <a:r>
              <a:rPr sz="1200" spc="-20" dirty="0">
                <a:latin typeface="Roboto"/>
                <a:cs typeface="Roboto"/>
              </a:rPr>
              <a:t> </a:t>
            </a:r>
            <a:r>
              <a:rPr sz="1200" dirty="0">
                <a:latin typeface="Roboto"/>
                <a:cs typeface="Roboto"/>
              </a:rPr>
              <a:t>use</a:t>
            </a:r>
            <a:r>
              <a:rPr sz="1200" spc="-18" dirty="0">
                <a:latin typeface="Roboto"/>
                <a:cs typeface="Roboto"/>
              </a:rPr>
              <a:t> </a:t>
            </a:r>
            <a:r>
              <a:rPr sz="1200" dirty="0">
                <a:latin typeface="Roboto"/>
                <a:cs typeface="Roboto"/>
              </a:rPr>
              <a:t>permissions</a:t>
            </a:r>
            <a:r>
              <a:rPr sz="1200" spc="-18" dirty="0">
                <a:latin typeface="Roboto"/>
                <a:cs typeface="Roboto"/>
              </a:rPr>
              <a:t> </a:t>
            </a:r>
            <a:r>
              <a:rPr sz="1200" dirty="0">
                <a:latin typeface="Roboto"/>
                <a:cs typeface="Roboto"/>
              </a:rPr>
              <a:t>to</a:t>
            </a:r>
            <a:r>
              <a:rPr sz="1200" spc="-20" dirty="0">
                <a:latin typeface="Roboto"/>
                <a:cs typeface="Roboto"/>
              </a:rPr>
              <a:t> </a:t>
            </a:r>
            <a:r>
              <a:rPr sz="1200" dirty="0">
                <a:latin typeface="Roboto"/>
                <a:cs typeface="Roboto"/>
              </a:rPr>
              <a:t>allow</a:t>
            </a:r>
            <a:r>
              <a:rPr sz="1200" spc="-18" dirty="0">
                <a:latin typeface="Roboto"/>
                <a:cs typeface="Roboto"/>
              </a:rPr>
              <a:t> </a:t>
            </a:r>
            <a:r>
              <a:rPr sz="1200" dirty="0">
                <a:latin typeface="Roboto"/>
                <a:cs typeface="Roboto"/>
              </a:rPr>
              <a:t>and</a:t>
            </a:r>
            <a:r>
              <a:rPr sz="1200" spc="-18" dirty="0">
                <a:latin typeface="Roboto"/>
                <a:cs typeface="Roboto"/>
              </a:rPr>
              <a:t> </a:t>
            </a:r>
            <a:r>
              <a:rPr sz="1200" dirty="0">
                <a:latin typeface="Roboto"/>
                <a:cs typeface="Roboto"/>
              </a:rPr>
              <a:t>deny</a:t>
            </a:r>
            <a:r>
              <a:rPr sz="1200" spc="-20" dirty="0">
                <a:latin typeface="Roboto"/>
                <a:cs typeface="Roboto"/>
              </a:rPr>
              <a:t> </a:t>
            </a:r>
            <a:r>
              <a:rPr sz="1200" dirty="0">
                <a:latin typeface="Roboto"/>
                <a:cs typeface="Roboto"/>
              </a:rPr>
              <a:t>their</a:t>
            </a:r>
            <a:r>
              <a:rPr sz="1200" spc="-18" dirty="0">
                <a:latin typeface="Roboto"/>
                <a:cs typeface="Roboto"/>
              </a:rPr>
              <a:t> </a:t>
            </a:r>
            <a:r>
              <a:rPr sz="1200" dirty="0">
                <a:latin typeface="Roboto"/>
                <a:cs typeface="Roboto"/>
              </a:rPr>
              <a:t>access</a:t>
            </a:r>
            <a:r>
              <a:rPr sz="1200" spc="-20" dirty="0">
                <a:latin typeface="Roboto"/>
                <a:cs typeface="Roboto"/>
              </a:rPr>
              <a:t> </a:t>
            </a:r>
            <a:r>
              <a:rPr sz="1200" dirty="0">
                <a:latin typeface="Roboto"/>
                <a:cs typeface="Roboto"/>
              </a:rPr>
              <a:t>to</a:t>
            </a:r>
            <a:r>
              <a:rPr sz="1200" spc="-18" dirty="0">
                <a:latin typeface="Roboto"/>
                <a:cs typeface="Roboto"/>
              </a:rPr>
              <a:t> </a:t>
            </a:r>
            <a:r>
              <a:rPr sz="1200" dirty="0">
                <a:latin typeface="Roboto"/>
                <a:cs typeface="Roboto"/>
              </a:rPr>
              <a:t>AWS</a:t>
            </a:r>
            <a:r>
              <a:rPr sz="1200" spc="-18" dirty="0">
                <a:latin typeface="Roboto"/>
                <a:cs typeface="Roboto"/>
              </a:rPr>
              <a:t> </a:t>
            </a:r>
            <a:r>
              <a:rPr sz="1200" spc="-5" dirty="0">
                <a:latin typeface="Roboto"/>
                <a:cs typeface="Roboto"/>
              </a:rPr>
              <a:t>resources.</a:t>
            </a:r>
            <a:endParaRPr sz="1200" dirty="0">
              <a:latin typeface="Roboto"/>
              <a:cs typeface="Roboto"/>
            </a:endParaRPr>
          </a:p>
          <a:p>
            <a:pPr marR="814705" algn="ctr"/>
            <a:r>
              <a:rPr sz="1450" b="1" dirty="0">
                <a:latin typeface="Open Sans Extrabold"/>
                <a:cs typeface="Open Sans Extrabold"/>
              </a:rPr>
              <a:t>Points</a:t>
            </a:r>
            <a:r>
              <a:rPr sz="1450" b="1" spc="-35" dirty="0">
                <a:latin typeface="Open Sans Extrabold"/>
                <a:cs typeface="Open Sans Extrabold"/>
              </a:rPr>
              <a:t> </a:t>
            </a:r>
            <a:r>
              <a:rPr sz="1450" b="1" dirty="0">
                <a:latin typeface="Open Sans Extrabold"/>
                <a:cs typeface="Open Sans Extrabold"/>
              </a:rPr>
              <a:t>to</a:t>
            </a:r>
            <a:r>
              <a:rPr sz="1450" b="1" spc="-35" dirty="0">
                <a:latin typeface="Open Sans Extrabold"/>
                <a:cs typeface="Open Sans Extrabold"/>
              </a:rPr>
              <a:t> </a:t>
            </a:r>
            <a:r>
              <a:rPr sz="1450" b="1" spc="-10" dirty="0">
                <a:latin typeface="Open Sans Extrabold"/>
                <a:cs typeface="Open Sans Extrabold"/>
              </a:rPr>
              <a:t>focus</a:t>
            </a:r>
            <a:endParaRPr sz="1450" dirty="0">
              <a:latin typeface="Open Sans Extrabold"/>
              <a:cs typeface="Open Sans Extrabold"/>
            </a:endParaRPr>
          </a:p>
          <a:p>
            <a:pPr marL="526098">
              <a:spcBef>
                <a:spcPts val="1693"/>
              </a:spcBef>
              <a:tabLst>
                <a:tab pos="2012315" algn="l"/>
              </a:tabLst>
            </a:pPr>
            <a:r>
              <a:rPr sz="1200" b="1" dirty="0">
                <a:latin typeface="Open Sans"/>
                <a:cs typeface="Open Sans"/>
              </a:rPr>
              <a:t>Basic</a:t>
            </a:r>
            <a:r>
              <a:rPr sz="1200" b="1" spc="-33" dirty="0">
                <a:latin typeface="Open Sans"/>
                <a:cs typeface="Open Sans"/>
              </a:rPr>
              <a:t> </a:t>
            </a:r>
            <a:r>
              <a:rPr sz="1200" b="1" spc="-5" dirty="0">
                <a:latin typeface="Open Sans"/>
                <a:cs typeface="Open Sans"/>
              </a:rPr>
              <a:t>Components</a:t>
            </a:r>
            <a:r>
              <a:rPr sz="1200" b="1" dirty="0">
                <a:latin typeface="Open Sans"/>
                <a:cs typeface="Open Sans"/>
              </a:rPr>
              <a:t>	</a:t>
            </a:r>
            <a:r>
              <a:rPr sz="1200" dirty="0">
                <a:latin typeface="Open Sans Light"/>
                <a:cs typeface="Open Sans Light"/>
              </a:rPr>
              <a:t>Learn</a:t>
            </a:r>
            <a:r>
              <a:rPr sz="1200" spc="-8" dirty="0">
                <a:latin typeface="Open Sans Light"/>
                <a:cs typeface="Open Sans Light"/>
              </a:rPr>
              <a:t> </a:t>
            </a:r>
            <a:r>
              <a:rPr sz="1200" dirty="0">
                <a:latin typeface="Open Sans Light"/>
                <a:cs typeface="Open Sans Light"/>
              </a:rPr>
              <a:t>about</a:t>
            </a:r>
            <a:r>
              <a:rPr sz="1200" spc="-5" dirty="0">
                <a:latin typeface="Open Sans Light"/>
                <a:cs typeface="Open Sans Light"/>
              </a:rPr>
              <a:t> </a:t>
            </a:r>
            <a:r>
              <a:rPr sz="1200" dirty="0">
                <a:latin typeface="Open Sans Light"/>
                <a:cs typeface="Open Sans Light"/>
              </a:rPr>
              <a:t>basic</a:t>
            </a:r>
            <a:r>
              <a:rPr sz="1200" spc="-8" dirty="0">
                <a:latin typeface="Open Sans Light"/>
                <a:cs typeface="Open Sans Light"/>
              </a:rPr>
              <a:t> </a:t>
            </a:r>
            <a:r>
              <a:rPr sz="1200" dirty="0">
                <a:latin typeface="Open Sans Light"/>
                <a:cs typeface="Open Sans Light"/>
              </a:rPr>
              <a:t>components</a:t>
            </a:r>
            <a:r>
              <a:rPr sz="1200" spc="-5" dirty="0">
                <a:latin typeface="Open Sans Light"/>
                <a:cs typeface="Open Sans Light"/>
              </a:rPr>
              <a:t> </a:t>
            </a:r>
            <a:r>
              <a:rPr sz="1200" dirty="0">
                <a:latin typeface="Open Sans Light"/>
                <a:cs typeface="Open Sans Light"/>
              </a:rPr>
              <a:t>of</a:t>
            </a:r>
            <a:r>
              <a:rPr sz="1200" spc="-5" dirty="0">
                <a:latin typeface="Open Sans Light"/>
                <a:cs typeface="Open Sans Light"/>
              </a:rPr>
              <a:t> </a:t>
            </a:r>
            <a:r>
              <a:rPr sz="1200" dirty="0">
                <a:latin typeface="Open Sans Light"/>
                <a:cs typeface="Open Sans Light"/>
              </a:rPr>
              <a:t>IAM:</a:t>
            </a:r>
            <a:r>
              <a:rPr sz="1200" spc="-8" dirty="0">
                <a:latin typeface="Open Sans Light"/>
                <a:cs typeface="Open Sans Light"/>
              </a:rPr>
              <a:t> </a:t>
            </a:r>
            <a:r>
              <a:rPr sz="1200" dirty="0">
                <a:latin typeface="Open Sans Light"/>
                <a:cs typeface="Open Sans Light"/>
              </a:rPr>
              <a:t>Users,</a:t>
            </a:r>
            <a:r>
              <a:rPr sz="1200" spc="-5" dirty="0">
                <a:latin typeface="Open Sans Light"/>
                <a:cs typeface="Open Sans Light"/>
              </a:rPr>
              <a:t> </a:t>
            </a:r>
            <a:r>
              <a:rPr sz="1200" dirty="0">
                <a:latin typeface="Open Sans Light"/>
                <a:cs typeface="Open Sans Light"/>
              </a:rPr>
              <a:t>Groups,</a:t>
            </a:r>
            <a:r>
              <a:rPr sz="1200" spc="-5" dirty="0">
                <a:latin typeface="Open Sans Light"/>
                <a:cs typeface="Open Sans Light"/>
              </a:rPr>
              <a:t> </a:t>
            </a:r>
            <a:r>
              <a:rPr sz="1200" dirty="0">
                <a:latin typeface="Open Sans Light"/>
                <a:cs typeface="Open Sans Light"/>
              </a:rPr>
              <a:t>Permissions,</a:t>
            </a:r>
            <a:r>
              <a:rPr sz="1200" spc="-8" dirty="0">
                <a:latin typeface="Open Sans Light"/>
                <a:cs typeface="Open Sans Light"/>
              </a:rPr>
              <a:t> </a:t>
            </a:r>
            <a:r>
              <a:rPr sz="1200" dirty="0">
                <a:latin typeface="Open Sans Light"/>
                <a:cs typeface="Open Sans Light"/>
              </a:rPr>
              <a:t>MFA,</a:t>
            </a:r>
            <a:r>
              <a:rPr sz="1200" spc="-5" dirty="0">
                <a:latin typeface="Open Sans Light"/>
                <a:cs typeface="Open Sans Light"/>
              </a:rPr>
              <a:t> </a:t>
            </a:r>
            <a:r>
              <a:rPr sz="1200" dirty="0">
                <a:latin typeface="Open Sans Light"/>
                <a:cs typeface="Open Sans Light"/>
              </a:rPr>
              <a:t>Roles,</a:t>
            </a:r>
            <a:r>
              <a:rPr sz="1200" spc="-5" dirty="0">
                <a:latin typeface="Open Sans Light"/>
                <a:cs typeface="Open Sans Light"/>
              </a:rPr>
              <a:t> Policies</a:t>
            </a:r>
            <a:endParaRPr sz="1200" dirty="0">
              <a:latin typeface="Open Sans Light"/>
              <a:cs typeface="Open Sans Light"/>
            </a:endParaRPr>
          </a:p>
          <a:p>
            <a:pPr marL="6350">
              <a:spcBef>
                <a:spcPts val="1278"/>
              </a:spcBef>
              <a:tabLst>
                <a:tab pos="2012315" algn="l"/>
                <a:tab pos="6502083" algn="l"/>
              </a:tabLst>
            </a:pPr>
            <a:r>
              <a:rPr sz="1200" b="1" dirty="0">
                <a:latin typeface="Open Sans"/>
                <a:cs typeface="Open Sans"/>
              </a:rPr>
              <a:t>Don't</a:t>
            </a:r>
            <a:r>
              <a:rPr sz="1200" b="1" spc="-15" dirty="0">
                <a:latin typeface="Open Sans"/>
                <a:cs typeface="Open Sans"/>
              </a:rPr>
              <a:t> </a:t>
            </a:r>
            <a:r>
              <a:rPr sz="1200" b="1" dirty="0">
                <a:latin typeface="Open Sans"/>
                <a:cs typeface="Open Sans"/>
              </a:rPr>
              <a:t>use</a:t>
            </a:r>
            <a:r>
              <a:rPr sz="1200" b="1" spc="-13" dirty="0">
                <a:latin typeface="Open Sans"/>
                <a:cs typeface="Open Sans"/>
              </a:rPr>
              <a:t> </a:t>
            </a:r>
            <a:r>
              <a:rPr sz="1200" b="1" dirty="0">
                <a:latin typeface="Open Sans"/>
                <a:cs typeface="Open Sans"/>
              </a:rPr>
              <a:t>Root</a:t>
            </a:r>
            <a:r>
              <a:rPr sz="1200" b="1" spc="-13" dirty="0">
                <a:latin typeface="Open Sans"/>
                <a:cs typeface="Open Sans"/>
              </a:rPr>
              <a:t> </a:t>
            </a:r>
            <a:r>
              <a:rPr sz="1200" b="1" dirty="0">
                <a:latin typeface="Open Sans"/>
                <a:cs typeface="Open Sans"/>
              </a:rPr>
              <a:t>and</a:t>
            </a:r>
            <a:r>
              <a:rPr sz="1200" b="1" spc="-13" dirty="0">
                <a:latin typeface="Open Sans"/>
                <a:cs typeface="Open Sans"/>
              </a:rPr>
              <a:t> </a:t>
            </a:r>
            <a:r>
              <a:rPr sz="1200" b="1" spc="-5" dirty="0">
                <a:latin typeface="Open Sans"/>
                <a:cs typeface="Open Sans"/>
              </a:rPr>
              <a:t>never</a:t>
            </a:r>
            <a:r>
              <a:rPr sz="1200" b="1" dirty="0">
                <a:latin typeface="Open Sans"/>
                <a:cs typeface="Open Sans"/>
              </a:rPr>
              <a:t>	</a:t>
            </a:r>
            <a:r>
              <a:rPr sz="1200" dirty="0">
                <a:latin typeface="Open Sans Light"/>
                <a:cs typeface="Open Sans Light"/>
              </a:rPr>
              <a:t>It</a:t>
            </a:r>
            <a:r>
              <a:rPr sz="1200" spc="-5" dirty="0">
                <a:latin typeface="Open Sans Light"/>
                <a:cs typeface="Open Sans Light"/>
              </a:rPr>
              <a:t> </a:t>
            </a:r>
            <a:r>
              <a:rPr sz="1200" dirty="0">
                <a:latin typeface="Open Sans Light"/>
                <a:cs typeface="Open Sans Light"/>
              </a:rPr>
              <a:t>is</a:t>
            </a:r>
            <a:r>
              <a:rPr sz="1200" spc="-5" dirty="0">
                <a:latin typeface="Open Sans Light"/>
                <a:cs typeface="Open Sans Light"/>
              </a:rPr>
              <a:t> </a:t>
            </a:r>
            <a:r>
              <a:rPr sz="1200" dirty="0">
                <a:latin typeface="Open Sans Light"/>
                <a:cs typeface="Open Sans Light"/>
              </a:rPr>
              <a:t>recommended</a:t>
            </a:r>
            <a:r>
              <a:rPr sz="1200" spc="-5" dirty="0">
                <a:latin typeface="Open Sans Light"/>
                <a:cs typeface="Open Sans Light"/>
              </a:rPr>
              <a:t> </a:t>
            </a:r>
            <a:r>
              <a:rPr sz="1200" dirty="0">
                <a:latin typeface="Open Sans Light"/>
                <a:cs typeface="Open Sans Light"/>
              </a:rPr>
              <a:t>to</a:t>
            </a:r>
            <a:r>
              <a:rPr sz="1200" spc="-5" dirty="0">
                <a:latin typeface="Open Sans Light"/>
                <a:cs typeface="Open Sans Light"/>
              </a:rPr>
              <a:t> </a:t>
            </a:r>
            <a:r>
              <a:rPr sz="1200" dirty="0">
                <a:latin typeface="Open Sans Light"/>
                <a:cs typeface="Open Sans Light"/>
              </a:rPr>
              <a:t>not</a:t>
            </a:r>
            <a:r>
              <a:rPr sz="1200" spc="-5" dirty="0">
                <a:latin typeface="Open Sans Light"/>
                <a:cs typeface="Open Sans Light"/>
              </a:rPr>
              <a:t> </a:t>
            </a:r>
            <a:r>
              <a:rPr sz="1200" dirty="0">
                <a:latin typeface="Open Sans Light"/>
                <a:cs typeface="Open Sans Light"/>
              </a:rPr>
              <a:t>use</a:t>
            </a:r>
            <a:r>
              <a:rPr sz="1200" spc="-5" dirty="0">
                <a:latin typeface="Open Sans Light"/>
                <a:cs typeface="Open Sans Light"/>
              </a:rPr>
              <a:t> </a:t>
            </a:r>
            <a:r>
              <a:rPr sz="1200" dirty="0">
                <a:latin typeface="Open Sans Light"/>
                <a:cs typeface="Open Sans Light"/>
              </a:rPr>
              <a:t>root</a:t>
            </a:r>
            <a:r>
              <a:rPr sz="1200" spc="-5" dirty="0">
                <a:latin typeface="Open Sans Light"/>
                <a:cs typeface="Open Sans Light"/>
              </a:rPr>
              <a:t> </a:t>
            </a:r>
            <a:r>
              <a:rPr sz="1200" dirty="0">
                <a:latin typeface="Open Sans Light"/>
                <a:cs typeface="Open Sans Light"/>
              </a:rPr>
              <a:t>for</a:t>
            </a:r>
            <a:r>
              <a:rPr sz="1200" spc="-5" dirty="0">
                <a:latin typeface="Open Sans Light"/>
                <a:cs typeface="Open Sans Light"/>
              </a:rPr>
              <a:t> </a:t>
            </a:r>
            <a:r>
              <a:rPr sz="1200" dirty="0">
                <a:latin typeface="Open Sans Light"/>
                <a:cs typeface="Open Sans Light"/>
              </a:rPr>
              <a:t>everything,</a:t>
            </a:r>
            <a:r>
              <a:rPr sz="1200" spc="-5" dirty="0">
                <a:latin typeface="Open Sans Light"/>
                <a:cs typeface="Open Sans Light"/>
              </a:rPr>
              <a:t> </a:t>
            </a:r>
            <a:r>
              <a:rPr sz="1200" dirty="0">
                <a:latin typeface="Open Sans Light"/>
                <a:cs typeface="Open Sans Light"/>
              </a:rPr>
              <a:t>instead,</a:t>
            </a:r>
            <a:r>
              <a:rPr sz="1200" spc="-5" dirty="0">
                <a:latin typeface="Open Sans Light"/>
                <a:cs typeface="Open Sans Light"/>
              </a:rPr>
              <a:t> create</a:t>
            </a:r>
            <a:r>
              <a:rPr sz="1200" dirty="0">
                <a:latin typeface="Open Sans Light"/>
                <a:cs typeface="Open Sans Light"/>
              </a:rPr>
              <a:t>	IAM users, and utilize </a:t>
            </a:r>
            <a:r>
              <a:rPr sz="1200" spc="-10" dirty="0">
                <a:latin typeface="Open Sans Light"/>
                <a:cs typeface="Open Sans Light"/>
              </a:rPr>
              <a:t>them</a:t>
            </a:r>
            <a:endParaRPr sz="1200" dirty="0">
              <a:latin typeface="Open Sans Light"/>
              <a:cs typeface="Open Sans Light"/>
            </a:endParaRPr>
          </a:p>
          <a:p>
            <a:pPr marL="2012315" marR="143193" indent="-1408430">
              <a:lnSpc>
                <a:spcPct val="114599"/>
              </a:lnSpc>
              <a:tabLst>
                <a:tab pos="2012315" algn="l"/>
              </a:tabLst>
            </a:pPr>
            <a:r>
              <a:rPr sz="1200" b="1" dirty="0">
                <a:latin typeface="Open Sans"/>
                <a:cs typeface="Open Sans"/>
              </a:rPr>
              <a:t>share root </a:t>
            </a:r>
            <a:r>
              <a:rPr sz="1200" b="1" spc="-5" dirty="0">
                <a:latin typeface="Open Sans"/>
                <a:cs typeface="Open Sans"/>
              </a:rPr>
              <a:t>access</a:t>
            </a:r>
            <a:r>
              <a:rPr sz="1200" b="1" dirty="0">
                <a:latin typeface="Open Sans"/>
                <a:cs typeface="Open Sans"/>
              </a:rPr>
              <a:t>	</a:t>
            </a:r>
            <a:r>
              <a:rPr sz="1200" dirty="0">
                <a:latin typeface="Open Sans Light"/>
                <a:cs typeface="Open Sans Light"/>
              </a:rPr>
              <a:t>and</a:t>
            </a:r>
            <a:r>
              <a:rPr sz="1200" spc="-8" dirty="0">
                <a:latin typeface="Open Sans Light"/>
                <a:cs typeface="Open Sans Light"/>
              </a:rPr>
              <a:t> </a:t>
            </a:r>
            <a:r>
              <a:rPr sz="1200" dirty="0">
                <a:latin typeface="Open Sans Light"/>
                <a:cs typeface="Open Sans Light"/>
              </a:rPr>
              <a:t>never</a:t>
            </a:r>
            <a:r>
              <a:rPr sz="1200" spc="-5" dirty="0">
                <a:latin typeface="Open Sans Light"/>
                <a:cs typeface="Open Sans Light"/>
              </a:rPr>
              <a:t> </a:t>
            </a:r>
            <a:r>
              <a:rPr sz="1200" dirty="0">
                <a:latin typeface="Open Sans Light"/>
                <a:cs typeface="Open Sans Light"/>
              </a:rPr>
              <a:t>share</a:t>
            </a:r>
            <a:r>
              <a:rPr sz="1200" spc="-5" dirty="0">
                <a:latin typeface="Open Sans Light"/>
                <a:cs typeface="Open Sans Light"/>
              </a:rPr>
              <a:t> </a:t>
            </a:r>
            <a:r>
              <a:rPr sz="1200" dirty="0">
                <a:latin typeface="Open Sans Light"/>
                <a:cs typeface="Open Sans Light"/>
              </a:rPr>
              <a:t>root</a:t>
            </a:r>
            <a:r>
              <a:rPr sz="1200" spc="-5" dirty="0">
                <a:latin typeface="Open Sans Light"/>
                <a:cs typeface="Open Sans Light"/>
              </a:rPr>
              <a:t> </a:t>
            </a:r>
            <a:r>
              <a:rPr sz="1200" dirty="0">
                <a:latin typeface="Open Sans Light"/>
                <a:cs typeface="Open Sans Light"/>
              </a:rPr>
              <a:t>access</a:t>
            </a:r>
            <a:r>
              <a:rPr sz="1200" spc="-5" dirty="0">
                <a:latin typeface="Open Sans Light"/>
                <a:cs typeface="Open Sans Light"/>
              </a:rPr>
              <a:t> </a:t>
            </a:r>
            <a:r>
              <a:rPr sz="1200" dirty="0">
                <a:latin typeface="Open Sans Light"/>
                <a:cs typeface="Open Sans Light"/>
              </a:rPr>
              <a:t>to</a:t>
            </a:r>
            <a:r>
              <a:rPr sz="1200" spc="-5" dirty="0">
                <a:latin typeface="Open Sans Light"/>
                <a:cs typeface="Open Sans Light"/>
              </a:rPr>
              <a:t> </a:t>
            </a:r>
            <a:r>
              <a:rPr sz="1200" dirty="0">
                <a:latin typeface="Open Sans Light"/>
                <a:cs typeface="Open Sans Light"/>
              </a:rPr>
              <a:t>anyone,</a:t>
            </a:r>
            <a:r>
              <a:rPr sz="1200" spc="-5" dirty="0">
                <a:latin typeface="Open Sans Light"/>
                <a:cs typeface="Open Sans Light"/>
              </a:rPr>
              <a:t> </a:t>
            </a:r>
            <a:r>
              <a:rPr sz="1200" dirty="0">
                <a:latin typeface="Open Sans Light"/>
                <a:cs typeface="Open Sans Light"/>
              </a:rPr>
              <a:t>must</a:t>
            </a:r>
            <a:r>
              <a:rPr sz="1200" spc="-5" dirty="0">
                <a:latin typeface="Open Sans Light"/>
                <a:cs typeface="Open Sans Light"/>
              </a:rPr>
              <a:t> </a:t>
            </a:r>
            <a:r>
              <a:rPr sz="1200" dirty="0">
                <a:latin typeface="Open Sans Light"/>
                <a:cs typeface="Open Sans Light"/>
              </a:rPr>
              <a:t>enable</a:t>
            </a:r>
            <a:r>
              <a:rPr sz="1200" spc="-5" dirty="0">
                <a:latin typeface="Open Sans Light"/>
                <a:cs typeface="Open Sans Light"/>
              </a:rPr>
              <a:t> </a:t>
            </a:r>
            <a:r>
              <a:rPr sz="1200" dirty="0">
                <a:latin typeface="Open Sans Light"/>
                <a:cs typeface="Open Sans Light"/>
              </a:rPr>
              <a:t>Multi-Factor</a:t>
            </a:r>
            <a:r>
              <a:rPr sz="1200" spc="-5" dirty="0">
                <a:latin typeface="Open Sans Light"/>
                <a:cs typeface="Open Sans Light"/>
              </a:rPr>
              <a:t> </a:t>
            </a:r>
            <a:r>
              <a:rPr sz="1200" dirty="0">
                <a:latin typeface="Open Sans Light"/>
                <a:cs typeface="Open Sans Light"/>
              </a:rPr>
              <a:t>Authentication</a:t>
            </a:r>
            <a:r>
              <a:rPr sz="1200" spc="-5" dirty="0">
                <a:latin typeface="Open Sans Light"/>
                <a:cs typeface="Open Sans Light"/>
              </a:rPr>
              <a:t> </a:t>
            </a:r>
            <a:r>
              <a:rPr sz="1200" dirty="0">
                <a:latin typeface="Open Sans Light"/>
                <a:cs typeface="Open Sans Light"/>
              </a:rPr>
              <a:t>for</a:t>
            </a:r>
            <a:r>
              <a:rPr sz="1200" spc="-5" dirty="0">
                <a:latin typeface="Open Sans Light"/>
                <a:cs typeface="Open Sans Light"/>
              </a:rPr>
              <a:t> </a:t>
            </a:r>
            <a:r>
              <a:rPr sz="1200" dirty="0">
                <a:latin typeface="Open Sans Light"/>
                <a:cs typeface="Open Sans Light"/>
              </a:rPr>
              <a:t>root</a:t>
            </a:r>
            <a:r>
              <a:rPr sz="1200" spc="-5" dirty="0">
                <a:latin typeface="Open Sans Light"/>
                <a:cs typeface="Open Sans Light"/>
              </a:rPr>
              <a:t> </a:t>
            </a:r>
            <a:r>
              <a:rPr sz="1200" dirty="0">
                <a:latin typeface="Open Sans Light"/>
                <a:cs typeface="Open Sans Light"/>
              </a:rPr>
              <a:t>(and</a:t>
            </a:r>
            <a:r>
              <a:rPr sz="1200" spc="-5" dirty="0">
                <a:latin typeface="Open Sans Light"/>
                <a:cs typeface="Open Sans Light"/>
              </a:rPr>
              <a:t> </a:t>
            </a:r>
            <a:r>
              <a:rPr sz="1200" spc="-13" dirty="0">
                <a:latin typeface="Open Sans Light"/>
                <a:cs typeface="Open Sans Light"/>
              </a:rPr>
              <a:t>for </a:t>
            </a:r>
            <a:r>
              <a:rPr sz="1200" dirty="0">
                <a:latin typeface="Open Sans Light"/>
                <a:cs typeface="Open Sans Light"/>
              </a:rPr>
              <a:t>all other IAM </a:t>
            </a:r>
            <a:r>
              <a:rPr sz="1200" spc="-5" dirty="0">
                <a:latin typeface="Open Sans Light"/>
                <a:cs typeface="Open Sans Light"/>
              </a:rPr>
              <a:t>users)</a:t>
            </a:r>
            <a:endParaRPr sz="1200" dirty="0">
              <a:latin typeface="Open Sans Light"/>
              <a:cs typeface="Open Sans Light"/>
            </a:endParaRPr>
          </a:p>
          <a:p>
            <a:pPr marL="345758">
              <a:spcBef>
                <a:spcPts val="723"/>
              </a:spcBef>
              <a:tabLst>
                <a:tab pos="2012315" algn="l"/>
              </a:tabLst>
            </a:pPr>
            <a:r>
              <a:rPr sz="1200" b="1" dirty="0">
                <a:latin typeface="Open Sans"/>
                <a:cs typeface="Open Sans"/>
              </a:rPr>
              <a:t>Use</a:t>
            </a:r>
            <a:r>
              <a:rPr sz="1200" b="1" spc="-10" dirty="0">
                <a:latin typeface="Open Sans"/>
                <a:cs typeface="Open Sans"/>
              </a:rPr>
              <a:t> </a:t>
            </a:r>
            <a:r>
              <a:rPr sz="1200" b="1" dirty="0">
                <a:latin typeface="Open Sans"/>
                <a:cs typeface="Open Sans"/>
              </a:rPr>
              <a:t>roles</a:t>
            </a:r>
            <a:r>
              <a:rPr sz="1200" b="1" spc="-8" dirty="0">
                <a:latin typeface="Open Sans"/>
                <a:cs typeface="Open Sans"/>
              </a:rPr>
              <a:t> </a:t>
            </a:r>
            <a:r>
              <a:rPr sz="1200" b="1" dirty="0">
                <a:latin typeface="Open Sans"/>
                <a:cs typeface="Open Sans"/>
              </a:rPr>
              <a:t>as</a:t>
            </a:r>
            <a:r>
              <a:rPr sz="1200" b="1" spc="-10" dirty="0">
                <a:latin typeface="Open Sans"/>
                <a:cs typeface="Open Sans"/>
              </a:rPr>
              <a:t> </a:t>
            </a:r>
            <a:r>
              <a:rPr sz="1200" b="1" dirty="0">
                <a:latin typeface="Open Sans"/>
                <a:cs typeface="Open Sans"/>
              </a:rPr>
              <a:t>much</a:t>
            </a:r>
            <a:r>
              <a:rPr sz="1200" b="1" spc="-8" dirty="0">
                <a:latin typeface="Open Sans"/>
                <a:cs typeface="Open Sans"/>
              </a:rPr>
              <a:t> </a:t>
            </a:r>
            <a:r>
              <a:rPr sz="1200" b="1" spc="-13" dirty="0">
                <a:latin typeface="Open Sans"/>
                <a:cs typeface="Open Sans"/>
              </a:rPr>
              <a:t>as</a:t>
            </a:r>
            <a:r>
              <a:rPr sz="1200" b="1" dirty="0">
                <a:latin typeface="Open Sans"/>
                <a:cs typeface="Open Sans"/>
              </a:rPr>
              <a:t>	</a:t>
            </a:r>
            <a:r>
              <a:rPr sz="1200" dirty="0">
                <a:latin typeface="Open Sans Light"/>
                <a:cs typeface="Open Sans Light"/>
              </a:rPr>
              <a:t>Instead</a:t>
            </a:r>
            <a:r>
              <a:rPr sz="1200" spc="-3" dirty="0">
                <a:latin typeface="Open Sans Light"/>
                <a:cs typeface="Open Sans Light"/>
              </a:rPr>
              <a:t> </a:t>
            </a:r>
            <a:r>
              <a:rPr sz="1200" dirty="0">
                <a:latin typeface="Open Sans Light"/>
                <a:cs typeface="Open Sans Light"/>
              </a:rPr>
              <a:t>of</a:t>
            </a:r>
            <a:r>
              <a:rPr sz="1200" spc="-3" dirty="0">
                <a:latin typeface="Open Sans Light"/>
                <a:cs typeface="Open Sans Light"/>
              </a:rPr>
              <a:t> </a:t>
            </a:r>
            <a:r>
              <a:rPr sz="1200" dirty="0">
                <a:latin typeface="Open Sans Light"/>
                <a:cs typeface="Open Sans Light"/>
              </a:rPr>
              <a:t>creating IAM</a:t>
            </a:r>
            <a:r>
              <a:rPr sz="1200" spc="-3" dirty="0">
                <a:latin typeface="Open Sans Light"/>
                <a:cs typeface="Open Sans Light"/>
              </a:rPr>
              <a:t> </a:t>
            </a:r>
            <a:r>
              <a:rPr sz="1200" dirty="0">
                <a:latin typeface="Open Sans Light"/>
                <a:cs typeface="Open Sans Light"/>
              </a:rPr>
              <a:t>users and</a:t>
            </a:r>
            <a:r>
              <a:rPr sz="1200" spc="-3" dirty="0">
                <a:latin typeface="Open Sans Light"/>
                <a:cs typeface="Open Sans Light"/>
              </a:rPr>
              <a:t> </a:t>
            </a:r>
            <a:r>
              <a:rPr sz="1200" dirty="0">
                <a:latin typeface="Open Sans Light"/>
                <a:cs typeface="Open Sans Light"/>
              </a:rPr>
              <a:t>credentials,</a:t>
            </a:r>
            <a:r>
              <a:rPr sz="1200" spc="-3" dirty="0">
                <a:latin typeface="Open Sans Light"/>
                <a:cs typeface="Open Sans Light"/>
              </a:rPr>
              <a:t> </a:t>
            </a:r>
            <a:r>
              <a:rPr sz="1200" dirty="0">
                <a:latin typeface="Open Sans Light"/>
                <a:cs typeface="Open Sans Light"/>
              </a:rPr>
              <a:t>it's recommended,</a:t>
            </a:r>
            <a:r>
              <a:rPr sz="1200" spc="-3" dirty="0">
                <a:latin typeface="Open Sans Light"/>
                <a:cs typeface="Open Sans Light"/>
              </a:rPr>
              <a:t> </a:t>
            </a:r>
            <a:r>
              <a:rPr sz="1200" dirty="0">
                <a:latin typeface="Open Sans Light"/>
                <a:cs typeface="Open Sans Light"/>
              </a:rPr>
              <a:t>as well</a:t>
            </a:r>
            <a:r>
              <a:rPr sz="1200" spc="-3" dirty="0">
                <a:latin typeface="Open Sans Light"/>
                <a:cs typeface="Open Sans Light"/>
              </a:rPr>
              <a:t> </a:t>
            </a:r>
            <a:r>
              <a:rPr sz="1200" dirty="0">
                <a:latin typeface="Open Sans Light"/>
                <a:cs typeface="Open Sans Light"/>
              </a:rPr>
              <a:t>as</a:t>
            </a:r>
            <a:r>
              <a:rPr sz="1200" spc="-3" dirty="0">
                <a:latin typeface="Open Sans Light"/>
                <a:cs typeface="Open Sans Light"/>
              </a:rPr>
              <a:t> </a:t>
            </a:r>
            <a:r>
              <a:rPr sz="1200" dirty="0">
                <a:latin typeface="Open Sans Light"/>
                <a:cs typeface="Open Sans Light"/>
              </a:rPr>
              <a:t>a better</a:t>
            </a:r>
            <a:r>
              <a:rPr sz="1200" spc="-3" dirty="0">
                <a:latin typeface="Open Sans Light"/>
                <a:cs typeface="Open Sans Light"/>
              </a:rPr>
              <a:t> </a:t>
            </a:r>
            <a:r>
              <a:rPr sz="1200" dirty="0">
                <a:latin typeface="Open Sans Light"/>
                <a:cs typeface="Open Sans Light"/>
              </a:rPr>
              <a:t>+ secure</a:t>
            </a:r>
            <a:r>
              <a:rPr sz="1200" spc="-3" dirty="0">
                <a:latin typeface="Open Sans Light"/>
                <a:cs typeface="Open Sans Light"/>
              </a:rPr>
              <a:t> </a:t>
            </a:r>
            <a:r>
              <a:rPr sz="1200" spc="-13" dirty="0">
                <a:latin typeface="Open Sans Light"/>
                <a:cs typeface="Open Sans Light"/>
              </a:rPr>
              <a:t>way</a:t>
            </a:r>
            <a:endParaRPr sz="1200" dirty="0">
              <a:latin typeface="Open Sans Light"/>
              <a:cs typeface="Open Sans Light"/>
            </a:endParaRPr>
          </a:p>
          <a:p>
            <a:pPr marL="1303020">
              <a:spcBef>
                <a:spcPts val="210"/>
              </a:spcBef>
              <a:tabLst>
                <a:tab pos="2012315" algn="l"/>
              </a:tabLst>
            </a:pPr>
            <a:r>
              <a:rPr sz="1200" b="1" spc="-5" dirty="0">
                <a:latin typeface="Open Sans"/>
                <a:cs typeface="Open Sans"/>
              </a:rPr>
              <a:t>possible</a:t>
            </a:r>
            <a:r>
              <a:rPr sz="1200" b="1" dirty="0">
                <a:latin typeface="Open Sans"/>
                <a:cs typeface="Open Sans"/>
              </a:rPr>
              <a:t>	</a:t>
            </a:r>
            <a:r>
              <a:rPr sz="1200" dirty="0">
                <a:latin typeface="Open Sans Light"/>
                <a:cs typeface="Open Sans Light"/>
              </a:rPr>
              <a:t>is</a:t>
            </a:r>
            <a:r>
              <a:rPr sz="1200" spc="-3" dirty="0">
                <a:latin typeface="Open Sans Light"/>
                <a:cs typeface="Open Sans Light"/>
              </a:rPr>
              <a:t> </a:t>
            </a:r>
            <a:r>
              <a:rPr sz="1200" dirty="0">
                <a:latin typeface="Open Sans Light"/>
                <a:cs typeface="Open Sans Light"/>
              </a:rPr>
              <a:t>to use</a:t>
            </a:r>
            <a:r>
              <a:rPr sz="1200" spc="-3" dirty="0">
                <a:latin typeface="Open Sans Light"/>
                <a:cs typeface="Open Sans Light"/>
              </a:rPr>
              <a:t> </a:t>
            </a:r>
            <a:r>
              <a:rPr sz="1200" dirty="0">
                <a:latin typeface="Open Sans Light"/>
                <a:cs typeface="Open Sans Light"/>
              </a:rPr>
              <a:t>IAM role</a:t>
            </a:r>
            <a:r>
              <a:rPr sz="1200" spc="-3" dirty="0">
                <a:latin typeface="Open Sans Light"/>
                <a:cs typeface="Open Sans Light"/>
              </a:rPr>
              <a:t> </a:t>
            </a:r>
            <a:r>
              <a:rPr sz="1200" dirty="0">
                <a:latin typeface="Open Sans Light"/>
                <a:cs typeface="Open Sans Light"/>
              </a:rPr>
              <a:t>if IAM role</a:t>
            </a:r>
            <a:r>
              <a:rPr sz="1200" spc="-3" dirty="0">
                <a:latin typeface="Open Sans Light"/>
                <a:cs typeface="Open Sans Light"/>
              </a:rPr>
              <a:t> </a:t>
            </a:r>
            <a:r>
              <a:rPr sz="1200" dirty="0">
                <a:latin typeface="Open Sans Light"/>
                <a:cs typeface="Open Sans Light"/>
              </a:rPr>
              <a:t>can be</a:t>
            </a:r>
            <a:r>
              <a:rPr sz="1200" spc="-3" dirty="0">
                <a:latin typeface="Open Sans Light"/>
                <a:cs typeface="Open Sans Light"/>
              </a:rPr>
              <a:t> </a:t>
            </a:r>
            <a:r>
              <a:rPr sz="1200" dirty="0">
                <a:latin typeface="Open Sans Light"/>
                <a:cs typeface="Open Sans Light"/>
              </a:rPr>
              <a:t>used. e.g. IAM</a:t>
            </a:r>
            <a:r>
              <a:rPr sz="1200" spc="-3" dirty="0">
                <a:latin typeface="Open Sans Light"/>
                <a:cs typeface="Open Sans Light"/>
              </a:rPr>
              <a:t> </a:t>
            </a:r>
            <a:r>
              <a:rPr sz="1200" dirty="0">
                <a:latin typeface="Open Sans Light"/>
                <a:cs typeface="Open Sans Light"/>
              </a:rPr>
              <a:t>instance role,</a:t>
            </a:r>
            <a:r>
              <a:rPr sz="1200" spc="-3" dirty="0">
                <a:latin typeface="Open Sans Light"/>
                <a:cs typeface="Open Sans Light"/>
              </a:rPr>
              <a:t> </a:t>
            </a:r>
            <a:r>
              <a:rPr sz="1200" dirty="0">
                <a:latin typeface="Open Sans Light"/>
                <a:cs typeface="Open Sans Light"/>
              </a:rPr>
              <a:t>IAM service </a:t>
            </a:r>
            <a:r>
              <a:rPr sz="1200" spc="-10" dirty="0">
                <a:latin typeface="Open Sans Light"/>
                <a:cs typeface="Open Sans Light"/>
              </a:rPr>
              <a:t>role</a:t>
            </a:r>
            <a:endParaRPr sz="1200" dirty="0">
              <a:latin typeface="Open Sans Light"/>
              <a:cs typeface="Open Sans Light"/>
            </a:endParaRPr>
          </a:p>
          <a:p>
            <a:pPr marL="768350">
              <a:spcBef>
                <a:spcPts val="1383"/>
              </a:spcBef>
              <a:tabLst>
                <a:tab pos="2012315" algn="l"/>
              </a:tabLst>
            </a:pPr>
            <a:r>
              <a:rPr sz="1200" b="1" dirty="0">
                <a:latin typeface="Open Sans"/>
                <a:cs typeface="Open Sans"/>
              </a:rPr>
              <a:t>Use </a:t>
            </a:r>
            <a:r>
              <a:rPr sz="1200" b="1" spc="-5" dirty="0">
                <a:latin typeface="Open Sans"/>
                <a:cs typeface="Open Sans"/>
              </a:rPr>
              <a:t>Temporary</a:t>
            </a:r>
            <a:r>
              <a:rPr sz="1200" b="1" dirty="0">
                <a:latin typeface="Open Sans"/>
                <a:cs typeface="Open Sans"/>
              </a:rPr>
              <a:t>	</a:t>
            </a:r>
            <a:r>
              <a:rPr sz="1200" dirty="0">
                <a:latin typeface="Open Sans Light"/>
                <a:cs typeface="Open Sans Light"/>
              </a:rPr>
              <a:t>Utilize Identity Federation when applicable, e.g Enterprise identity federation, Web-</a:t>
            </a:r>
            <a:r>
              <a:rPr sz="1200" spc="-5" dirty="0">
                <a:latin typeface="Open Sans Light"/>
                <a:cs typeface="Open Sans Light"/>
              </a:rPr>
              <a:t>based</a:t>
            </a:r>
            <a:endParaRPr sz="1200" dirty="0">
              <a:latin typeface="Open Sans Light"/>
              <a:cs typeface="Open Sans Light"/>
            </a:endParaRPr>
          </a:p>
          <a:p>
            <a:pPr marL="985520">
              <a:spcBef>
                <a:spcPts val="210"/>
              </a:spcBef>
              <a:tabLst>
                <a:tab pos="2012315" algn="l"/>
              </a:tabLst>
            </a:pPr>
            <a:r>
              <a:rPr sz="1200" b="1" spc="-5" dirty="0">
                <a:latin typeface="Open Sans"/>
                <a:cs typeface="Open Sans"/>
              </a:rPr>
              <a:t>Credentrials</a:t>
            </a:r>
            <a:r>
              <a:rPr sz="1200" b="1" dirty="0">
                <a:latin typeface="Open Sans"/>
                <a:cs typeface="Open Sans"/>
              </a:rPr>
              <a:t>	</a:t>
            </a:r>
            <a:r>
              <a:rPr sz="1200" dirty="0">
                <a:latin typeface="Open Sans Light"/>
                <a:cs typeface="Open Sans Light"/>
              </a:rPr>
              <a:t>Federation, Cross-account Access Role </a:t>
            </a:r>
            <a:r>
              <a:rPr sz="1200" spc="-13" dirty="0">
                <a:latin typeface="Open Sans Light"/>
                <a:cs typeface="Open Sans Light"/>
              </a:rPr>
              <a:t>etc</a:t>
            </a:r>
            <a:endParaRPr sz="1200" dirty="0">
              <a:latin typeface="Open Sans Light"/>
              <a:cs typeface="Open Sans Light"/>
            </a:endParaRPr>
          </a:p>
          <a:p>
            <a:pPr marL="2107565" marR="509905" indent="-1821180">
              <a:lnSpc>
                <a:spcPct val="114599"/>
              </a:lnSpc>
              <a:spcBef>
                <a:spcPts val="1018"/>
              </a:spcBef>
              <a:tabLst>
                <a:tab pos="2107565" algn="l"/>
              </a:tabLst>
            </a:pPr>
            <a:r>
              <a:rPr sz="1200" b="1" dirty="0">
                <a:latin typeface="Open Sans"/>
                <a:cs typeface="Open Sans"/>
              </a:rPr>
              <a:t>Utilize</a:t>
            </a:r>
            <a:r>
              <a:rPr sz="1200" b="1" spc="-20" dirty="0">
                <a:latin typeface="Open Sans"/>
                <a:cs typeface="Open Sans"/>
              </a:rPr>
              <a:t> </a:t>
            </a:r>
            <a:r>
              <a:rPr sz="1200" b="1" dirty="0">
                <a:latin typeface="Open Sans"/>
                <a:cs typeface="Open Sans"/>
              </a:rPr>
              <a:t>IAM</a:t>
            </a:r>
            <a:r>
              <a:rPr sz="1200" b="1" spc="-20" dirty="0">
                <a:latin typeface="Open Sans"/>
                <a:cs typeface="Open Sans"/>
              </a:rPr>
              <a:t> </a:t>
            </a:r>
            <a:r>
              <a:rPr sz="1200" b="1" spc="-5" dirty="0">
                <a:latin typeface="Open Sans"/>
                <a:cs typeface="Open Sans"/>
              </a:rPr>
              <a:t>Credentials</a:t>
            </a:r>
            <a:r>
              <a:rPr sz="1200" b="1" dirty="0">
                <a:latin typeface="Open Sans"/>
                <a:cs typeface="Open Sans"/>
              </a:rPr>
              <a:t>	</a:t>
            </a:r>
            <a:r>
              <a:rPr sz="1200" dirty="0">
                <a:latin typeface="Open Sans Light"/>
                <a:cs typeface="Open Sans Light"/>
              </a:rPr>
              <a:t>Utilize</a:t>
            </a:r>
            <a:r>
              <a:rPr sz="1200" spc="-5" dirty="0">
                <a:latin typeface="Open Sans Light"/>
                <a:cs typeface="Open Sans Light"/>
              </a:rPr>
              <a:t> </a:t>
            </a:r>
            <a:r>
              <a:rPr sz="1200" dirty="0">
                <a:latin typeface="Open Sans Light"/>
                <a:cs typeface="Open Sans Light"/>
              </a:rPr>
              <a:t>Access</a:t>
            </a:r>
            <a:r>
              <a:rPr sz="1200" spc="-3" dirty="0">
                <a:latin typeface="Open Sans Light"/>
                <a:cs typeface="Open Sans Light"/>
              </a:rPr>
              <a:t> </a:t>
            </a:r>
            <a:r>
              <a:rPr sz="1200" dirty="0">
                <a:latin typeface="Open Sans Light"/>
                <a:cs typeface="Open Sans Light"/>
              </a:rPr>
              <a:t>Keys</a:t>
            </a:r>
            <a:r>
              <a:rPr sz="1200" spc="-3" dirty="0">
                <a:latin typeface="Open Sans Light"/>
                <a:cs typeface="Open Sans Light"/>
              </a:rPr>
              <a:t> </a:t>
            </a:r>
            <a:r>
              <a:rPr sz="1200" dirty="0">
                <a:latin typeface="Open Sans Light"/>
                <a:cs typeface="Open Sans Light"/>
              </a:rPr>
              <a:t>and</a:t>
            </a:r>
            <a:r>
              <a:rPr sz="1200" spc="-3" dirty="0">
                <a:latin typeface="Open Sans Light"/>
                <a:cs typeface="Open Sans Light"/>
              </a:rPr>
              <a:t> </a:t>
            </a:r>
            <a:r>
              <a:rPr sz="1200" dirty="0">
                <a:latin typeface="Open Sans Light"/>
                <a:cs typeface="Open Sans Light"/>
              </a:rPr>
              <a:t>password</a:t>
            </a:r>
            <a:r>
              <a:rPr sz="1200" spc="-3" dirty="0">
                <a:latin typeface="Open Sans Light"/>
                <a:cs typeface="Open Sans Light"/>
              </a:rPr>
              <a:t> </a:t>
            </a:r>
            <a:r>
              <a:rPr sz="1200" dirty="0">
                <a:latin typeface="Open Sans Light"/>
                <a:cs typeface="Open Sans Light"/>
              </a:rPr>
              <a:t>for</a:t>
            </a:r>
            <a:r>
              <a:rPr sz="1200" spc="-3" dirty="0">
                <a:latin typeface="Open Sans Light"/>
                <a:cs typeface="Open Sans Light"/>
              </a:rPr>
              <a:t> </a:t>
            </a:r>
            <a:r>
              <a:rPr sz="1200" dirty="0">
                <a:latin typeface="Open Sans Light"/>
                <a:cs typeface="Open Sans Light"/>
              </a:rPr>
              <a:t>AWS</a:t>
            </a:r>
            <a:r>
              <a:rPr sz="1200" spc="-3" dirty="0">
                <a:latin typeface="Open Sans Light"/>
                <a:cs typeface="Open Sans Light"/>
              </a:rPr>
              <a:t> </a:t>
            </a:r>
            <a:r>
              <a:rPr sz="1200" dirty="0">
                <a:latin typeface="Open Sans Light"/>
                <a:cs typeface="Open Sans Light"/>
              </a:rPr>
              <a:t>CLI</a:t>
            </a:r>
            <a:r>
              <a:rPr sz="1200" spc="-3" dirty="0">
                <a:latin typeface="Open Sans Light"/>
                <a:cs typeface="Open Sans Light"/>
              </a:rPr>
              <a:t> </a:t>
            </a:r>
            <a:r>
              <a:rPr sz="1200" dirty="0">
                <a:latin typeface="Open Sans Light"/>
                <a:cs typeface="Open Sans Light"/>
              </a:rPr>
              <a:t>&amp;</a:t>
            </a:r>
            <a:r>
              <a:rPr sz="1200" spc="-3" dirty="0">
                <a:latin typeface="Open Sans Light"/>
                <a:cs typeface="Open Sans Light"/>
              </a:rPr>
              <a:t> </a:t>
            </a:r>
            <a:r>
              <a:rPr sz="1200" dirty="0">
                <a:latin typeface="Open Sans Light"/>
                <a:cs typeface="Open Sans Light"/>
              </a:rPr>
              <a:t>API</a:t>
            </a:r>
            <a:r>
              <a:rPr sz="1200" spc="-3" dirty="0">
                <a:latin typeface="Open Sans Light"/>
                <a:cs typeface="Open Sans Light"/>
              </a:rPr>
              <a:t> </a:t>
            </a:r>
            <a:r>
              <a:rPr sz="1200" dirty="0">
                <a:latin typeface="Open Sans Light"/>
                <a:cs typeface="Open Sans Light"/>
              </a:rPr>
              <a:t>Access,</a:t>
            </a:r>
            <a:r>
              <a:rPr sz="1200" spc="-3" dirty="0">
                <a:latin typeface="Open Sans Light"/>
                <a:cs typeface="Open Sans Light"/>
              </a:rPr>
              <a:t> </a:t>
            </a:r>
            <a:r>
              <a:rPr sz="1200" dirty="0">
                <a:latin typeface="Open Sans Light"/>
                <a:cs typeface="Open Sans Light"/>
              </a:rPr>
              <a:t>use</a:t>
            </a:r>
            <a:r>
              <a:rPr sz="1200" spc="-3" dirty="0">
                <a:latin typeface="Open Sans Light"/>
                <a:cs typeface="Open Sans Light"/>
              </a:rPr>
              <a:t> </a:t>
            </a:r>
            <a:r>
              <a:rPr sz="1200" dirty="0">
                <a:latin typeface="Open Sans Light"/>
                <a:cs typeface="Open Sans Light"/>
              </a:rPr>
              <a:t>IAM</a:t>
            </a:r>
            <a:r>
              <a:rPr sz="1200" spc="-3" dirty="0">
                <a:latin typeface="Open Sans Light"/>
                <a:cs typeface="Open Sans Light"/>
              </a:rPr>
              <a:t> </a:t>
            </a:r>
            <a:r>
              <a:rPr sz="1200" dirty="0">
                <a:latin typeface="Open Sans Light"/>
                <a:cs typeface="Open Sans Light"/>
              </a:rPr>
              <a:t>user</a:t>
            </a:r>
            <a:r>
              <a:rPr sz="1200" spc="-3" dirty="0">
                <a:latin typeface="Open Sans Light"/>
                <a:cs typeface="Open Sans Light"/>
              </a:rPr>
              <a:t> </a:t>
            </a:r>
            <a:r>
              <a:rPr sz="1200" dirty="0">
                <a:latin typeface="Open Sans Light"/>
                <a:cs typeface="Open Sans Light"/>
              </a:rPr>
              <a:t>for</a:t>
            </a:r>
            <a:r>
              <a:rPr sz="1200" spc="-3" dirty="0">
                <a:latin typeface="Open Sans Light"/>
                <a:cs typeface="Open Sans Light"/>
              </a:rPr>
              <a:t> </a:t>
            </a:r>
            <a:r>
              <a:rPr sz="1200" spc="-5" dirty="0">
                <a:latin typeface="Open Sans Light"/>
                <a:cs typeface="Open Sans Light"/>
              </a:rPr>
              <a:t>CodeCommit access</a:t>
            </a:r>
            <a:endParaRPr sz="1200" dirty="0">
              <a:latin typeface="Open Sans Light"/>
              <a:cs typeface="Open Sans Light"/>
            </a:endParaRPr>
          </a:p>
        </p:txBody>
      </p:sp>
      <p:sp>
        <p:nvSpPr>
          <p:cNvPr id="4" name="object 4"/>
          <p:cNvSpPr txBox="1"/>
          <p:nvPr/>
        </p:nvSpPr>
        <p:spPr>
          <a:xfrm>
            <a:off x="8173736" y="56320"/>
            <a:ext cx="911860" cy="138499"/>
          </a:xfrm>
          <a:prstGeom prst="rect">
            <a:avLst/>
          </a:prstGeom>
        </p:spPr>
        <p:txBody>
          <a:bodyPr vert="horz" wrap="square" lIns="0" tIns="7620" rIns="0" bIns="0" rtlCol="0">
            <a:spAutoFit/>
          </a:bodyPr>
          <a:lstStyle/>
          <a:p>
            <a:pPr marL="6350">
              <a:spcBef>
                <a:spcPts val="60"/>
              </a:spcBef>
            </a:pPr>
            <a:r>
              <a:rPr sz="850" dirty="0">
                <a:solidFill>
                  <a:srgbClr val="13110E"/>
                </a:solidFill>
                <a:latin typeface="Open Sans Light"/>
                <a:cs typeface="Open Sans Light"/>
              </a:rPr>
              <a:t>Learn</a:t>
            </a:r>
            <a:r>
              <a:rPr sz="850" spc="15" dirty="0">
                <a:solidFill>
                  <a:srgbClr val="13110E"/>
                </a:solidFill>
                <a:latin typeface="Open Sans Light"/>
                <a:cs typeface="Open Sans Light"/>
              </a:rPr>
              <a:t> </a:t>
            </a:r>
            <a:r>
              <a:rPr sz="850" dirty="0">
                <a:solidFill>
                  <a:srgbClr val="13110E"/>
                </a:solidFill>
                <a:latin typeface="Open Sans Light"/>
                <a:cs typeface="Open Sans Light"/>
              </a:rPr>
              <a:t>With</a:t>
            </a:r>
            <a:r>
              <a:rPr sz="850" spc="15" dirty="0">
                <a:solidFill>
                  <a:srgbClr val="13110E"/>
                </a:solidFill>
                <a:latin typeface="Open Sans Light"/>
                <a:cs typeface="Open Sans Light"/>
              </a:rPr>
              <a:t> </a:t>
            </a:r>
            <a:r>
              <a:rPr sz="850" spc="-5" dirty="0">
                <a:solidFill>
                  <a:srgbClr val="13110E"/>
                </a:solidFill>
                <a:latin typeface="Open Sans Light"/>
                <a:cs typeface="Open Sans Light"/>
              </a:rPr>
              <a:t>Sandip</a:t>
            </a:r>
            <a:endParaRPr sz="850">
              <a:latin typeface="Open Sans Light"/>
              <a:cs typeface="Open Sans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Route53</a:t>
            </a:r>
            <a:endParaRPr/>
          </a:p>
        </p:txBody>
      </p:sp>
      <p:pic>
        <p:nvPicPr>
          <p:cNvPr id="145" name="Google Shape;145;p22" descr="Learn more about Amazon Route 53 at - https://amzn.to/34a5ygz.&#10;Amazon Route 53 is a highly available and scalable cloud Domain Name System (DNS) web service. It is designed to give developers and businesses an extremely reliable and cost effective way to route end users to Internet applications by translating names like www.example.com into the numeric IP addresses like 192.0.2.1 that computers use to connect to each other. Amazon Route 53 is fully compliant with IPv6 as well." title="Amazon Route 53">
            <a:hlinkClick r:id="rId3"/>
          </p:cNvPr>
          <p:cNvPicPr preferRelativeResize="0"/>
          <p:nvPr/>
        </p:nvPicPr>
        <p:blipFill>
          <a:blip r:embed="rId4">
            <a:alphaModFix/>
          </a:blip>
          <a:stretch>
            <a:fillRect/>
          </a:stretch>
        </p:blipFill>
        <p:spPr>
          <a:xfrm>
            <a:off x="4575425" y="857250"/>
            <a:ext cx="4572000" cy="3429000"/>
          </a:xfrm>
          <a:prstGeom prst="rect">
            <a:avLst/>
          </a:prstGeom>
          <a:noFill/>
          <a:ln>
            <a:noFill/>
          </a:ln>
        </p:spPr>
      </p:pic>
      <p:pic>
        <p:nvPicPr>
          <p:cNvPr id="146" name="Google Shape;146;p22"/>
          <p:cNvPicPr preferRelativeResize="0"/>
          <p:nvPr/>
        </p:nvPicPr>
        <p:blipFill>
          <a:blip r:embed="rId5">
            <a:alphaModFix/>
          </a:blip>
          <a:stretch>
            <a:fillRect/>
          </a:stretch>
        </p:blipFill>
        <p:spPr>
          <a:xfrm>
            <a:off x="730000" y="1952625"/>
            <a:ext cx="1828800" cy="12382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5"/>
                                        </p:tgtEl>
                                        <p:attrNameLst>
                                          <p:attrName>style.visibility</p:attrName>
                                        </p:attrNameLst>
                                      </p:cBhvr>
                                      <p:to>
                                        <p:strVal val="visible"/>
                                      </p:to>
                                    </p:set>
                                    <p:animEffect transition="in" filter="fade">
                                      <p:cBhvr>
                                        <p:cTn id="7" dur="1000"/>
                                        <p:tgtEl>
                                          <p:spTgt spid="1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3"/>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Virtual Private Cloud (VPC)</a:t>
            </a:r>
            <a:endParaRPr/>
          </a:p>
        </p:txBody>
      </p:sp>
      <p:sp>
        <p:nvSpPr>
          <p:cNvPr id="152" name="Google Shape;152;p23"/>
          <p:cNvSpPr txBox="1">
            <a:spLocks noGrp="1"/>
          </p:cNvSpPr>
          <p:nvPr>
            <p:ph type="subTitle" idx="1"/>
          </p:nvPr>
        </p:nvSpPr>
        <p:spPr>
          <a:xfrm>
            <a:off x="724950" y="3161525"/>
            <a:ext cx="2563800" cy="1074900"/>
          </a:xfrm>
          <a:prstGeom prst="rect">
            <a:avLst/>
          </a:prstGeom>
        </p:spPr>
        <p:txBody>
          <a:bodyPr spcFirstLastPara="1" wrap="square" lIns="91425" tIns="91425" rIns="91425" bIns="91425" anchor="t" anchorCtr="0">
            <a:normAutofit fontScale="92500"/>
          </a:bodyPr>
          <a:lstStyle/>
          <a:p>
            <a:pPr marL="0" lvl="0" indent="0" algn="l" rtl="0">
              <a:spcBef>
                <a:spcPts val="0"/>
              </a:spcBef>
              <a:spcAft>
                <a:spcPts val="0"/>
              </a:spcAft>
              <a:buNone/>
            </a:pPr>
            <a:r>
              <a:rPr lang="en" sz="1400"/>
              <a:t>Amazon VPC) is a service that </a:t>
            </a:r>
            <a:endParaRPr sz="1400"/>
          </a:p>
          <a:p>
            <a:pPr marL="0" lvl="0" indent="0" algn="l" rtl="0">
              <a:spcBef>
                <a:spcPts val="0"/>
              </a:spcBef>
              <a:spcAft>
                <a:spcPts val="0"/>
              </a:spcAft>
              <a:buNone/>
            </a:pPr>
            <a:r>
              <a:rPr lang="en" sz="1400"/>
              <a:t>lets you launch AWS resources </a:t>
            </a:r>
            <a:endParaRPr sz="1400"/>
          </a:p>
          <a:p>
            <a:pPr marL="0" lvl="0" indent="0" algn="l" rtl="0">
              <a:spcBef>
                <a:spcPts val="0"/>
              </a:spcBef>
              <a:spcAft>
                <a:spcPts val="0"/>
              </a:spcAft>
              <a:buNone/>
            </a:pPr>
            <a:r>
              <a:rPr lang="en" sz="1400"/>
              <a:t>in a logically isolated virtual </a:t>
            </a:r>
            <a:endParaRPr sz="1400"/>
          </a:p>
          <a:p>
            <a:pPr marL="0" lvl="0" indent="0" algn="l" rtl="0">
              <a:spcBef>
                <a:spcPts val="0"/>
              </a:spcBef>
              <a:spcAft>
                <a:spcPts val="0"/>
              </a:spcAft>
              <a:buNone/>
            </a:pPr>
            <a:r>
              <a:rPr lang="en" sz="1400"/>
              <a:t>network that you define.</a:t>
            </a:r>
            <a:endParaRPr sz="1400"/>
          </a:p>
        </p:txBody>
      </p:sp>
      <p:pic>
        <p:nvPicPr>
          <p:cNvPr id="153" name="Google Shape;153;p23"/>
          <p:cNvPicPr preferRelativeResize="0"/>
          <p:nvPr/>
        </p:nvPicPr>
        <p:blipFill>
          <a:blip r:embed="rId3">
            <a:alphaModFix/>
          </a:blip>
          <a:stretch>
            <a:fillRect/>
          </a:stretch>
        </p:blipFill>
        <p:spPr>
          <a:xfrm>
            <a:off x="3288675" y="143373"/>
            <a:ext cx="5781851" cy="48567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850" y="222513"/>
            <a:ext cx="4260300" cy="1086611"/>
          </a:xfrm>
          <a:prstGeom prst="rect">
            <a:avLst/>
          </a:prstGeom>
        </p:spPr>
        <p:txBody>
          <a:bodyPr spcFirstLastPara="1" vert="horz" wrap="square" lIns="0" tIns="88042" rIns="0" bIns="0" rtlCol="0" anchor="t" anchorCtr="0">
            <a:spAutoFit/>
          </a:bodyPr>
          <a:lstStyle/>
          <a:p>
            <a:pPr marL="12700">
              <a:spcBef>
                <a:spcPts val="485"/>
              </a:spcBef>
            </a:pPr>
            <a:r>
              <a:rPr dirty="0"/>
              <a:t>Amazon</a:t>
            </a:r>
            <a:r>
              <a:rPr spc="-40" dirty="0"/>
              <a:t> </a:t>
            </a:r>
            <a:r>
              <a:rPr dirty="0"/>
              <a:t>Virtual</a:t>
            </a:r>
            <a:r>
              <a:rPr spc="-38" dirty="0"/>
              <a:t> </a:t>
            </a:r>
            <a:r>
              <a:rPr dirty="0"/>
              <a:t>Private</a:t>
            </a:r>
            <a:r>
              <a:rPr spc="-40" dirty="0"/>
              <a:t> </a:t>
            </a:r>
            <a:r>
              <a:rPr dirty="0"/>
              <a:t>Cloud</a:t>
            </a:r>
            <a:r>
              <a:rPr spc="-38" dirty="0"/>
              <a:t> </a:t>
            </a:r>
            <a:r>
              <a:rPr spc="-5" dirty="0"/>
              <a:t>(VPC)</a:t>
            </a:r>
          </a:p>
          <a:p>
            <a:pPr marL="12700">
              <a:spcBef>
                <a:spcPts val="155"/>
              </a:spcBef>
            </a:pPr>
            <a:r>
              <a:rPr sz="900" dirty="0"/>
              <a:t>Build</a:t>
            </a:r>
            <a:r>
              <a:rPr sz="900" spc="-15" dirty="0"/>
              <a:t> </a:t>
            </a:r>
            <a:r>
              <a:rPr sz="900" dirty="0"/>
              <a:t>on</a:t>
            </a:r>
            <a:r>
              <a:rPr sz="900" spc="-13" dirty="0"/>
              <a:t> </a:t>
            </a:r>
            <a:r>
              <a:rPr sz="900" dirty="0"/>
              <a:t>a</a:t>
            </a:r>
            <a:r>
              <a:rPr sz="900" spc="-13" dirty="0"/>
              <a:t> </a:t>
            </a:r>
            <a:r>
              <a:rPr sz="900" dirty="0"/>
              <a:t>logically</a:t>
            </a:r>
            <a:r>
              <a:rPr sz="900" spc="-10" dirty="0"/>
              <a:t> </a:t>
            </a:r>
            <a:r>
              <a:rPr sz="900" dirty="0"/>
              <a:t>isolated</a:t>
            </a:r>
            <a:r>
              <a:rPr sz="900" spc="-13" dirty="0"/>
              <a:t> </a:t>
            </a:r>
            <a:r>
              <a:rPr sz="900" dirty="0"/>
              <a:t>virtual</a:t>
            </a:r>
            <a:r>
              <a:rPr sz="900" spc="-13" dirty="0"/>
              <a:t> </a:t>
            </a:r>
            <a:r>
              <a:rPr sz="900" dirty="0"/>
              <a:t>network</a:t>
            </a:r>
            <a:r>
              <a:rPr sz="900" spc="-13" dirty="0"/>
              <a:t> </a:t>
            </a:r>
            <a:r>
              <a:rPr sz="900" dirty="0"/>
              <a:t>in</a:t>
            </a:r>
            <a:r>
              <a:rPr sz="900" spc="-10" dirty="0"/>
              <a:t> </a:t>
            </a:r>
            <a:r>
              <a:rPr sz="900" dirty="0"/>
              <a:t>the</a:t>
            </a:r>
            <a:r>
              <a:rPr sz="900" spc="-13" dirty="0"/>
              <a:t> </a:t>
            </a:r>
            <a:r>
              <a:rPr sz="900" dirty="0"/>
              <a:t>AWS</a:t>
            </a:r>
            <a:r>
              <a:rPr sz="900" spc="-13" dirty="0"/>
              <a:t> </a:t>
            </a:r>
            <a:r>
              <a:rPr sz="900" spc="-5" dirty="0"/>
              <a:t>cloud</a:t>
            </a:r>
            <a:endParaRPr sz="900"/>
          </a:p>
        </p:txBody>
      </p:sp>
      <p:sp>
        <p:nvSpPr>
          <p:cNvPr id="3" name="object 3"/>
          <p:cNvSpPr txBox="1"/>
          <p:nvPr/>
        </p:nvSpPr>
        <p:spPr>
          <a:xfrm>
            <a:off x="118087" y="720467"/>
            <a:ext cx="8804593" cy="1875898"/>
          </a:xfrm>
          <a:prstGeom prst="rect">
            <a:avLst/>
          </a:prstGeom>
        </p:spPr>
        <p:txBody>
          <a:bodyPr vert="horz" wrap="square" lIns="0" tIns="33020" rIns="0" bIns="0" rtlCol="0">
            <a:spAutoFit/>
          </a:bodyPr>
          <a:lstStyle/>
          <a:p>
            <a:pPr marL="176213" algn="just">
              <a:spcBef>
                <a:spcPts val="260"/>
              </a:spcBef>
            </a:pPr>
            <a:r>
              <a:rPr sz="1200" dirty="0">
                <a:latin typeface="Roboto"/>
                <a:cs typeface="Roboto"/>
              </a:rPr>
              <a:t>Amazon</a:t>
            </a:r>
            <a:r>
              <a:rPr sz="1200" spc="-23" dirty="0">
                <a:latin typeface="Roboto"/>
                <a:cs typeface="Roboto"/>
              </a:rPr>
              <a:t> </a:t>
            </a:r>
            <a:r>
              <a:rPr sz="1200" dirty="0">
                <a:latin typeface="Roboto"/>
                <a:cs typeface="Roboto"/>
              </a:rPr>
              <a:t>Virtual</a:t>
            </a:r>
            <a:r>
              <a:rPr sz="1200" spc="-20" dirty="0">
                <a:latin typeface="Roboto"/>
                <a:cs typeface="Roboto"/>
              </a:rPr>
              <a:t> </a:t>
            </a:r>
            <a:r>
              <a:rPr sz="1200" dirty="0">
                <a:latin typeface="Roboto"/>
                <a:cs typeface="Roboto"/>
              </a:rPr>
              <a:t>Private</a:t>
            </a:r>
            <a:r>
              <a:rPr sz="1200" spc="-20" dirty="0">
                <a:latin typeface="Roboto"/>
                <a:cs typeface="Roboto"/>
              </a:rPr>
              <a:t> </a:t>
            </a:r>
            <a:r>
              <a:rPr sz="1200" dirty="0">
                <a:latin typeface="Roboto"/>
                <a:cs typeface="Roboto"/>
              </a:rPr>
              <a:t>Cloud</a:t>
            </a:r>
            <a:r>
              <a:rPr sz="1200" spc="-23" dirty="0">
                <a:latin typeface="Roboto"/>
                <a:cs typeface="Roboto"/>
              </a:rPr>
              <a:t> </a:t>
            </a:r>
            <a:r>
              <a:rPr sz="1200" dirty="0">
                <a:latin typeface="Roboto"/>
                <a:cs typeface="Roboto"/>
              </a:rPr>
              <a:t>(Amazon</a:t>
            </a:r>
            <a:r>
              <a:rPr sz="1200" spc="-20" dirty="0">
                <a:latin typeface="Roboto"/>
                <a:cs typeface="Roboto"/>
              </a:rPr>
              <a:t> </a:t>
            </a:r>
            <a:r>
              <a:rPr sz="1200" dirty="0">
                <a:latin typeface="Roboto"/>
                <a:cs typeface="Roboto"/>
              </a:rPr>
              <a:t>VPC)</a:t>
            </a:r>
            <a:r>
              <a:rPr sz="1200" spc="-20" dirty="0">
                <a:latin typeface="Roboto"/>
                <a:cs typeface="Roboto"/>
              </a:rPr>
              <a:t> </a:t>
            </a:r>
            <a:r>
              <a:rPr sz="1200" dirty="0">
                <a:latin typeface="Roboto"/>
                <a:cs typeface="Roboto"/>
              </a:rPr>
              <a:t>is</a:t>
            </a:r>
            <a:r>
              <a:rPr sz="1200" spc="-23" dirty="0">
                <a:latin typeface="Roboto"/>
                <a:cs typeface="Roboto"/>
              </a:rPr>
              <a:t> </a:t>
            </a:r>
            <a:r>
              <a:rPr sz="1200" dirty="0">
                <a:latin typeface="Roboto"/>
                <a:cs typeface="Roboto"/>
              </a:rPr>
              <a:t>a</a:t>
            </a:r>
            <a:r>
              <a:rPr sz="1200" spc="-20" dirty="0">
                <a:latin typeface="Roboto"/>
                <a:cs typeface="Roboto"/>
              </a:rPr>
              <a:t> </a:t>
            </a:r>
            <a:r>
              <a:rPr sz="1200" dirty="0">
                <a:latin typeface="Roboto"/>
                <a:cs typeface="Roboto"/>
              </a:rPr>
              <a:t>service</a:t>
            </a:r>
            <a:r>
              <a:rPr sz="1200" spc="-20" dirty="0">
                <a:latin typeface="Roboto"/>
                <a:cs typeface="Roboto"/>
              </a:rPr>
              <a:t> </a:t>
            </a:r>
            <a:r>
              <a:rPr sz="1200" dirty="0">
                <a:latin typeface="Roboto"/>
                <a:cs typeface="Roboto"/>
              </a:rPr>
              <a:t>that</a:t>
            </a:r>
            <a:r>
              <a:rPr sz="1200" spc="-20" dirty="0">
                <a:latin typeface="Roboto"/>
                <a:cs typeface="Roboto"/>
              </a:rPr>
              <a:t> </a:t>
            </a:r>
            <a:r>
              <a:rPr sz="1200" dirty="0">
                <a:latin typeface="Roboto"/>
                <a:cs typeface="Roboto"/>
              </a:rPr>
              <a:t>lets</a:t>
            </a:r>
            <a:r>
              <a:rPr sz="1200" spc="-23" dirty="0">
                <a:latin typeface="Roboto"/>
                <a:cs typeface="Roboto"/>
              </a:rPr>
              <a:t> </a:t>
            </a:r>
            <a:r>
              <a:rPr sz="1200" dirty="0">
                <a:latin typeface="Roboto"/>
                <a:cs typeface="Roboto"/>
              </a:rPr>
              <a:t>you</a:t>
            </a:r>
            <a:r>
              <a:rPr sz="1200" spc="-20" dirty="0">
                <a:latin typeface="Roboto"/>
                <a:cs typeface="Roboto"/>
              </a:rPr>
              <a:t> </a:t>
            </a:r>
            <a:r>
              <a:rPr sz="1200" dirty="0">
                <a:latin typeface="Roboto"/>
                <a:cs typeface="Roboto"/>
              </a:rPr>
              <a:t>launch</a:t>
            </a:r>
            <a:r>
              <a:rPr sz="1200" spc="-20" dirty="0">
                <a:latin typeface="Roboto"/>
                <a:cs typeface="Roboto"/>
              </a:rPr>
              <a:t> </a:t>
            </a:r>
            <a:r>
              <a:rPr sz="1200" dirty="0">
                <a:latin typeface="Roboto"/>
                <a:cs typeface="Roboto"/>
              </a:rPr>
              <a:t>AWS</a:t>
            </a:r>
            <a:r>
              <a:rPr sz="1200" spc="-23" dirty="0">
                <a:latin typeface="Roboto"/>
                <a:cs typeface="Roboto"/>
              </a:rPr>
              <a:t> </a:t>
            </a:r>
            <a:r>
              <a:rPr sz="1200" dirty="0">
                <a:latin typeface="Roboto"/>
                <a:cs typeface="Roboto"/>
              </a:rPr>
              <a:t>resources</a:t>
            </a:r>
            <a:r>
              <a:rPr sz="1200" spc="-20" dirty="0">
                <a:latin typeface="Roboto"/>
                <a:cs typeface="Roboto"/>
              </a:rPr>
              <a:t> </a:t>
            </a:r>
            <a:r>
              <a:rPr sz="1200" dirty="0">
                <a:latin typeface="Roboto"/>
                <a:cs typeface="Roboto"/>
              </a:rPr>
              <a:t>in</a:t>
            </a:r>
            <a:r>
              <a:rPr sz="1200" spc="-20" dirty="0">
                <a:latin typeface="Roboto"/>
                <a:cs typeface="Roboto"/>
              </a:rPr>
              <a:t> </a:t>
            </a:r>
            <a:r>
              <a:rPr sz="1200" dirty="0">
                <a:latin typeface="Roboto"/>
                <a:cs typeface="Roboto"/>
              </a:rPr>
              <a:t>a</a:t>
            </a:r>
            <a:r>
              <a:rPr sz="1200" spc="-23" dirty="0">
                <a:latin typeface="Roboto"/>
                <a:cs typeface="Roboto"/>
              </a:rPr>
              <a:t> </a:t>
            </a:r>
            <a:r>
              <a:rPr sz="1200" dirty="0">
                <a:latin typeface="Roboto"/>
                <a:cs typeface="Roboto"/>
              </a:rPr>
              <a:t>logically</a:t>
            </a:r>
            <a:r>
              <a:rPr sz="1200" spc="-20" dirty="0">
                <a:latin typeface="Roboto"/>
                <a:cs typeface="Roboto"/>
              </a:rPr>
              <a:t> </a:t>
            </a:r>
            <a:r>
              <a:rPr sz="1200" dirty="0">
                <a:latin typeface="Roboto"/>
                <a:cs typeface="Roboto"/>
              </a:rPr>
              <a:t>isolated</a:t>
            </a:r>
            <a:r>
              <a:rPr sz="1200" spc="-20" dirty="0">
                <a:latin typeface="Roboto"/>
                <a:cs typeface="Roboto"/>
              </a:rPr>
              <a:t> </a:t>
            </a:r>
            <a:r>
              <a:rPr sz="1200" spc="-5" dirty="0">
                <a:latin typeface="Roboto"/>
                <a:cs typeface="Roboto"/>
              </a:rPr>
              <a:t>virtual</a:t>
            </a:r>
            <a:endParaRPr sz="1200">
              <a:latin typeface="Roboto"/>
              <a:cs typeface="Roboto"/>
            </a:endParaRPr>
          </a:p>
          <a:p>
            <a:pPr marL="176213" marR="2540" algn="just">
              <a:lnSpc>
                <a:spcPct val="114599"/>
              </a:lnSpc>
            </a:pPr>
            <a:r>
              <a:rPr sz="1200" dirty="0">
                <a:latin typeface="Roboto"/>
                <a:cs typeface="Roboto"/>
              </a:rPr>
              <a:t>network</a:t>
            </a:r>
            <a:r>
              <a:rPr sz="1200" spc="-35" dirty="0">
                <a:latin typeface="Roboto"/>
                <a:cs typeface="Roboto"/>
              </a:rPr>
              <a:t> </a:t>
            </a:r>
            <a:r>
              <a:rPr sz="1200" dirty="0">
                <a:latin typeface="Roboto"/>
                <a:cs typeface="Roboto"/>
              </a:rPr>
              <a:t>that</a:t>
            </a:r>
            <a:r>
              <a:rPr sz="1200" spc="-35" dirty="0">
                <a:latin typeface="Roboto"/>
                <a:cs typeface="Roboto"/>
              </a:rPr>
              <a:t> </a:t>
            </a:r>
            <a:r>
              <a:rPr sz="1200" dirty="0">
                <a:latin typeface="Roboto"/>
                <a:cs typeface="Roboto"/>
              </a:rPr>
              <a:t>you</a:t>
            </a:r>
            <a:r>
              <a:rPr sz="1200" spc="-33" dirty="0">
                <a:latin typeface="Roboto"/>
                <a:cs typeface="Roboto"/>
              </a:rPr>
              <a:t> </a:t>
            </a:r>
            <a:r>
              <a:rPr sz="1200" dirty="0">
                <a:latin typeface="Roboto"/>
                <a:cs typeface="Roboto"/>
              </a:rPr>
              <a:t>define.</a:t>
            </a:r>
            <a:r>
              <a:rPr sz="1200" spc="-35" dirty="0">
                <a:latin typeface="Roboto"/>
                <a:cs typeface="Roboto"/>
              </a:rPr>
              <a:t> </a:t>
            </a:r>
            <a:r>
              <a:rPr sz="1200" dirty="0">
                <a:latin typeface="Roboto"/>
                <a:cs typeface="Roboto"/>
              </a:rPr>
              <a:t>You</a:t>
            </a:r>
            <a:r>
              <a:rPr sz="1200" spc="-35" dirty="0">
                <a:latin typeface="Roboto"/>
                <a:cs typeface="Roboto"/>
              </a:rPr>
              <a:t> </a:t>
            </a:r>
            <a:r>
              <a:rPr sz="1200" dirty="0">
                <a:latin typeface="Roboto"/>
                <a:cs typeface="Roboto"/>
              </a:rPr>
              <a:t>have</a:t>
            </a:r>
            <a:r>
              <a:rPr sz="1200" spc="-33" dirty="0">
                <a:latin typeface="Roboto"/>
                <a:cs typeface="Roboto"/>
              </a:rPr>
              <a:t> </a:t>
            </a:r>
            <a:r>
              <a:rPr sz="1200" dirty="0">
                <a:latin typeface="Roboto"/>
                <a:cs typeface="Roboto"/>
              </a:rPr>
              <a:t>complete</a:t>
            </a:r>
            <a:r>
              <a:rPr sz="1200" spc="-35" dirty="0">
                <a:latin typeface="Roboto"/>
                <a:cs typeface="Roboto"/>
              </a:rPr>
              <a:t> </a:t>
            </a:r>
            <a:r>
              <a:rPr sz="1200" dirty="0">
                <a:latin typeface="Roboto"/>
                <a:cs typeface="Roboto"/>
              </a:rPr>
              <a:t>control</a:t>
            </a:r>
            <a:r>
              <a:rPr sz="1200" spc="-35" dirty="0">
                <a:latin typeface="Roboto"/>
                <a:cs typeface="Roboto"/>
              </a:rPr>
              <a:t> </a:t>
            </a:r>
            <a:r>
              <a:rPr sz="1200" dirty="0">
                <a:latin typeface="Roboto"/>
                <a:cs typeface="Roboto"/>
              </a:rPr>
              <a:t>over</a:t>
            </a:r>
            <a:r>
              <a:rPr sz="1200" spc="-33" dirty="0">
                <a:latin typeface="Roboto"/>
                <a:cs typeface="Roboto"/>
              </a:rPr>
              <a:t> </a:t>
            </a:r>
            <a:r>
              <a:rPr sz="1200" dirty="0">
                <a:latin typeface="Roboto"/>
                <a:cs typeface="Roboto"/>
              </a:rPr>
              <a:t>your</a:t>
            </a:r>
            <a:r>
              <a:rPr sz="1200" spc="-35" dirty="0">
                <a:latin typeface="Roboto"/>
                <a:cs typeface="Roboto"/>
              </a:rPr>
              <a:t> </a:t>
            </a:r>
            <a:r>
              <a:rPr sz="1200" dirty="0">
                <a:latin typeface="Roboto"/>
                <a:cs typeface="Roboto"/>
              </a:rPr>
              <a:t>virtual</a:t>
            </a:r>
            <a:r>
              <a:rPr sz="1200" spc="-35" dirty="0">
                <a:latin typeface="Roboto"/>
                <a:cs typeface="Roboto"/>
              </a:rPr>
              <a:t> </a:t>
            </a:r>
            <a:r>
              <a:rPr sz="1200" dirty="0">
                <a:latin typeface="Roboto"/>
                <a:cs typeface="Roboto"/>
              </a:rPr>
              <a:t>networking</a:t>
            </a:r>
            <a:r>
              <a:rPr sz="1200" spc="-33" dirty="0">
                <a:latin typeface="Roboto"/>
                <a:cs typeface="Roboto"/>
              </a:rPr>
              <a:t> </a:t>
            </a:r>
            <a:r>
              <a:rPr sz="1200" dirty="0">
                <a:latin typeface="Roboto"/>
                <a:cs typeface="Roboto"/>
              </a:rPr>
              <a:t>environment,</a:t>
            </a:r>
            <a:r>
              <a:rPr sz="1200" spc="-35" dirty="0">
                <a:latin typeface="Roboto"/>
                <a:cs typeface="Roboto"/>
              </a:rPr>
              <a:t> </a:t>
            </a:r>
            <a:r>
              <a:rPr sz="1200" dirty="0">
                <a:latin typeface="Roboto"/>
                <a:cs typeface="Roboto"/>
              </a:rPr>
              <a:t>including</a:t>
            </a:r>
            <a:r>
              <a:rPr sz="1200" spc="-35" dirty="0">
                <a:latin typeface="Roboto"/>
                <a:cs typeface="Roboto"/>
              </a:rPr>
              <a:t> </a:t>
            </a:r>
            <a:r>
              <a:rPr sz="1200" dirty="0">
                <a:latin typeface="Roboto"/>
                <a:cs typeface="Roboto"/>
              </a:rPr>
              <a:t>selection</a:t>
            </a:r>
            <a:r>
              <a:rPr sz="1200" spc="-33" dirty="0">
                <a:latin typeface="Roboto"/>
                <a:cs typeface="Roboto"/>
              </a:rPr>
              <a:t> </a:t>
            </a:r>
            <a:r>
              <a:rPr sz="1200" dirty="0">
                <a:latin typeface="Roboto"/>
                <a:cs typeface="Roboto"/>
              </a:rPr>
              <a:t>of</a:t>
            </a:r>
            <a:r>
              <a:rPr sz="1200" spc="-35" dirty="0">
                <a:latin typeface="Roboto"/>
                <a:cs typeface="Roboto"/>
              </a:rPr>
              <a:t> </a:t>
            </a:r>
            <a:r>
              <a:rPr sz="1200" dirty="0">
                <a:latin typeface="Roboto"/>
                <a:cs typeface="Roboto"/>
              </a:rPr>
              <a:t>your</a:t>
            </a:r>
            <a:r>
              <a:rPr sz="1200" spc="-35" dirty="0">
                <a:latin typeface="Roboto"/>
                <a:cs typeface="Roboto"/>
              </a:rPr>
              <a:t> </a:t>
            </a:r>
            <a:r>
              <a:rPr sz="1200" dirty="0">
                <a:latin typeface="Roboto"/>
                <a:cs typeface="Roboto"/>
              </a:rPr>
              <a:t>own</a:t>
            </a:r>
            <a:r>
              <a:rPr sz="1200" spc="-33" dirty="0">
                <a:latin typeface="Roboto"/>
                <a:cs typeface="Roboto"/>
              </a:rPr>
              <a:t> </a:t>
            </a:r>
            <a:r>
              <a:rPr sz="1200" spc="-13" dirty="0">
                <a:latin typeface="Roboto"/>
                <a:cs typeface="Roboto"/>
              </a:rPr>
              <a:t>IP </a:t>
            </a:r>
            <a:r>
              <a:rPr sz="1200" dirty="0">
                <a:latin typeface="Roboto"/>
                <a:cs typeface="Roboto"/>
              </a:rPr>
              <a:t>address</a:t>
            </a:r>
            <a:r>
              <a:rPr sz="1200" spc="-25" dirty="0">
                <a:latin typeface="Roboto"/>
                <a:cs typeface="Roboto"/>
              </a:rPr>
              <a:t> </a:t>
            </a:r>
            <a:r>
              <a:rPr sz="1200" dirty="0">
                <a:latin typeface="Roboto"/>
                <a:cs typeface="Roboto"/>
              </a:rPr>
              <a:t>range,</a:t>
            </a:r>
            <a:r>
              <a:rPr sz="1200" spc="-23" dirty="0">
                <a:latin typeface="Roboto"/>
                <a:cs typeface="Roboto"/>
              </a:rPr>
              <a:t> </a:t>
            </a:r>
            <a:r>
              <a:rPr sz="1200" dirty="0">
                <a:latin typeface="Roboto"/>
                <a:cs typeface="Roboto"/>
              </a:rPr>
              <a:t>creation</a:t>
            </a:r>
            <a:r>
              <a:rPr sz="1200" spc="-23" dirty="0">
                <a:latin typeface="Roboto"/>
                <a:cs typeface="Roboto"/>
              </a:rPr>
              <a:t> </a:t>
            </a:r>
            <a:r>
              <a:rPr sz="1200" dirty="0">
                <a:latin typeface="Roboto"/>
                <a:cs typeface="Roboto"/>
              </a:rPr>
              <a:t>of</a:t>
            </a:r>
            <a:r>
              <a:rPr sz="1200" spc="-23" dirty="0">
                <a:latin typeface="Roboto"/>
                <a:cs typeface="Roboto"/>
              </a:rPr>
              <a:t> </a:t>
            </a:r>
            <a:r>
              <a:rPr sz="1200" dirty="0">
                <a:latin typeface="Roboto"/>
                <a:cs typeface="Roboto"/>
              </a:rPr>
              <a:t>subnets,</a:t>
            </a:r>
            <a:r>
              <a:rPr sz="1200" spc="-23" dirty="0">
                <a:latin typeface="Roboto"/>
                <a:cs typeface="Roboto"/>
              </a:rPr>
              <a:t> </a:t>
            </a:r>
            <a:r>
              <a:rPr sz="1200" dirty="0">
                <a:latin typeface="Roboto"/>
                <a:cs typeface="Roboto"/>
              </a:rPr>
              <a:t>and</a:t>
            </a:r>
            <a:r>
              <a:rPr sz="1200" spc="-23" dirty="0">
                <a:latin typeface="Roboto"/>
                <a:cs typeface="Roboto"/>
              </a:rPr>
              <a:t> </a:t>
            </a:r>
            <a:r>
              <a:rPr sz="1200" dirty="0">
                <a:latin typeface="Roboto"/>
                <a:cs typeface="Roboto"/>
              </a:rPr>
              <a:t>configuration</a:t>
            </a:r>
            <a:r>
              <a:rPr sz="1200" spc="-23" dirty="0">
                <a:latin typeface="Roboto"/>
                <a:cs typeface="Roboto"/>
              </a:rPr>
              <a:t> </a:t>
            </a:r>
            <a:r>
              <a:rPr sz="1200" dirty="0">
                <a:latin typeface="Roboto"/>
                <a:cs typeface="Roboto"/>
              </a:rPr>
              <a:t>of</a:t>
            </a:r>
            <a:r>
              <a:rPr sz="1200" spc="-23" dirty="0">
                <a:latin typeface="Roboto"/>
                <a:cs typeface="Roboto"/>
              </a:rPr>
              <a:t> </a:t>
            </a:r>
            <a:r>
              <a:rPr sz="1200" dirty="0">
                <a:latin typeface="Roboto"/>
                <a:cs typeface="Roboto"/>
              </a:rPr>
              <a:t>route</a:t>
            </a:r>
            <a:r>
              <a:rPr sz="1200" spc="-25" dirty="0">
                <a:latin typeface="Roboto"/>
                <a:cs typeface="Roboto"/>
              </a:rPr>
              <a:t> </a:t>
            </a:r>
            <a:r>
              <a:rPr sz="1200" dirty="0">
                <a:latin typeface="Roboto"/>
                <a:cs typeface="Roboto"/>
              </a:rPr>
              <a:t>tables</a:t>
            </a:r>
            <a:r>
              <a:rPr sz="1200" spc="-23" dirty="0">
                <a:latin typeface="Roboto"/>
                <a:cs typeface="Roboto"/>
              </a:rPr>
              <a:t> </a:t>
            </a:r>
            <a:r>
              <a:rPr sz="1200" dirty="0">
                <a:latin typeface="Roboto"/>
                <a:cs typeface="Roboto"/>
              </a:rPr>
              <a:t>and</a:t>
            </a:r>
            <a:r>
              <a:rPr sz="1200" spc="-23" dirty="0">
                <a:latin typeface="Roboto"/>
                <a:cs typeface="Roboto"/>
              </a:rPr>
              <a:t> </a:t>
            </a:r>
            <a:r>
              <a:rPr sz="1200" dirty="0">
                <a:latin typeface="Roboto"/>
                <a:cs typeface="Roboto"/>
              </a:rPr>
              <a:t>network</a:t>
            </a:r>
            <a:r>
              <a:rPr sz="1200" spc="-23" dirty="0">
                <a:latin typeface="Roboto"/>
                <a:cs typeface="Roboto"/>
              </a:rPr>
              <a:t> </a:t>
            </a:r>
            <a:r>
              <a:rPr sz="1200" dirty="0">
                <a:latin typeface="Roboto"/>
                <a:cs typeface="Roboto"/>
              </a:rPr>
              <a:t>gateways.</a:t>
            </a:r>
            <a:r>
              <a:rPr sz="1200" spc="-23" dirty="0">
                <a:latin typeface="Roboto"/>
                <a:cs typeface="Roboto"/>
              </a:rPr>
              <a:t> </a:t>
            </a:r>
            <a:r>
              <a:rPr sz="1200" dirty="0">
                <a:latin typeface="Roboto"/>
                <a:cs typeface="Roboto"/>
              </a:rPr>
              <a:t>You</a:t>
            </a:r>
            <a:r>
              <a:rPr sz="1200" spc="-23" dirty="0">
                <a:latin typeface="Roboto"/>
                <a:cs typeface="Roboto"/>
              </a:rPr>
              <a:t> </a:t>
            </a:r>
            <a:r>
              <a:rPr sz="1200" dirty="0">
                <a:latin typeface="Roboto"/>
                <a:cs typeface="Roboto"/>
              </a:rPr>
              <a:t>can</a:t>
            </a:r>
            <a:r>
              <a:rPr sz="1200" spc="-23" dirty="0">
                <a:latin typeface="Roboto"/>
                <a:cs typeface="Roboto"/>
              </a:rPr>
              <a:t> </a:t>
            </a:r>
            <a:r>
              <a:rPr sz="1200" dirty="0">
                <a:latin typeface="Roboto"/>
                <a:cs typeface="Roboto"/>
              </a:rPr>
              <a:t>use</a:t>
            </a:r>
            <a:r>
              <a:rPr sz="1200" spc="-23" dirty="0">
                <a:latin typeface="Roboto"/>
                <a:cs typeface="Roboto"/>
              </a:rPr>
              <a:t> </a:t>
            </a:r>
            <a:r>
              <a:rPr sz="1200" dirty="0">
                <a:latin typeface="Roboto"/>
                <a:cs typeface="Roboto"/>
              </a:rPr>
              <a:t>both</a:t>
            </a:r>
            <a:r>
              <a:rPr sz="1200" spc="-23" dirty="0">
                <a:latin typeface="Roboto"/>
                <a:cs typeface="Roboto"/>
              </a:rPr>
              <a:t> </a:t>
            </a:r>
            <a:r>
              <a:rPr sz="1200" dirty="0">
                <a:latin typeface="Roboto"/>
                <a:cs typeface="Roboto"/>
              </a:rPr>
              <a:t>IPv4</a:t>
            </a:r>
            <a:r>
              <a:rPr sz="1200" spc="-25" dirty="0">
                <a:latin typeface="Roboto"/>
                <a:cs typeface="Roboto"/>
              </a:rPr>
              <a:t> </a:t>
            </a:r>
            <a:r>
              <a:rPr sz="1200" dirty="0">
                <a:latin typeface="Roboto"/>
                <a:cs typeface="Roboto"/>
              </a:rPr>
              <a:t>and</a:t>
            </a:r>
            <a:r>
              <a:rPr sz="1200" spc="-23" dirty="0">
                <a:latin typeface="Roboto"/>
                <a:cs typeface="Roboto"/>
              </a:rPr>
              <a:t> </a:t>
            </a:r>
            <a:r>
              <a:rPr sz="1200" dirty="0">
                <a:latin typeface="Roboto"/>
                <a:cs typeface="Roboto"/>
              </a:rPr>
              <a:t>IPv6</a:t>
            </a:r>
            <a:r>
              <a:rPr sz="1200" spc="-23" dirty="0">
                <a:latin typeface="Roboto"/>
                <a:cs typeface="Roboto"/>
              </a:rPr>
              <a:t> </a:t>
            </a:r>
            <a:r>
              <a:rPr sz="1200" spc="-13" dirty="0">
                <a:latin typeface="Roboto"/>
                <a:cs typeface="Roboto"/>
              </a:rPr>
              <a:t>for </a:t>
            </a:r>
            <a:r>
              <a:rPr sz="1200" dirty="0">
                <a:latin typeface="Roboto"/>
                <a:cs typeface="Roboto"/>
              </a:rPr>
              <a:t>most</a:t>
            </a:r>
            <a:r>
              <a:rPr sz="1200" spc="-28" dirty="0">
                <a:latin typeface="Roboto"/>
                <a:cs typeface="Roboto"/>
              </a:rPr>
              <a:t> </a:t>
            </a:r>
            <a:r>
              <a:rPr sz="1200" dirty="0">
                <a:latin typeface="Roboto"/>
                <a:cs typeface="Roboto"/>
              </a:rPr>
              <a:t>resources</a:t>
            </a:r>
            <a:r>
              <a:rPr sz="1200" spc="-25" dirty="0">
                <a:latin typeface="Roboto"/>
                <a:cs typeface="Roboto"/>
              </a:rPr>
              <a:t> </a:t>
            </a:r>
            <a:r>
              <a:rPr sz="1200" dirty="0">
                <a:latin typeface="Roboto"/>
                <a:cs typeface="Roboto"/>
              </a:rPr>
              <a:t>in</a:t>
            </a:r>
            <a:r>
              <a:rPr sz="1200" spc="-25" dirty="0">
                <a:latin typeface="Roboto"/>
                <a:cs typeface="Roboto"/>
              </a:rPr>
              <a:t> </a:t>
            </a:r>
            <a:r>
              <a:rPr sz="1200" dirty="0">
                <a:latin typeface="Roboto"/>
                <a:cs typeface="Roboto"/>
              </a:rPr>
              <a:t>your</a:t>
            </a:r>
            <a:r>
              <a:rPr sz="1200" spc="-28" dirty="0">
                <a:latin typeface="Roboto"/>
                <a:cs typeface="Roboto"/>
              </a:rPr>
              <a:t> </a:t>
            </a:r>
            <a:r>
              <a:rPr sz="1200" dirty="0">
                <a:latin typeface="Roboto"/>
                <a:cs typeface="Roboto"/>
              </a:rPr>
              <a:t>virtual</a:t>
            </a:r>
            <a:r>
              <a:rPr sz="1200" spc="-25" dirty="0">
                <a:latin typeface="Roboto"/>
                <a:cs typeface="Roboto"/>
              </a:rPr>
              <a:t> </a:t>
            </a:r>
            <a:r>
              <a:rPr sz="1200" dirty="0">
                <a:latin typeface="Roboto"/>
                <a:cs typeface="Roboto"/>
              </a:rPr>
              <a:t>private</a:t>
            </a:r>
            <a:r>
              <a:rPr sz="1200" spc="-25" dirty="0">
                <a:latin typeface="Roboto"/>
                <a:cs typeface="Roboto"/>
              </a:rPr>
              <a:t> </a:t>
            </a:r>
            <a:r>
              <a:rPr sz="1200" dirty="0">
                <a:latin typeface="Roboto"/>
                <a:cs typeface="Roboto"/>
              </a:rPr>
              <a:t>cloud,</a:t>
            </a:r>
            <a:r>
              <a:rPr sz="1200" spc="-28" dirty="0">
                <a:latin typeface="Roboto"/>
                <a:cs typeface="Roboto"/>
              </a:rPr>
              <a:t> </a:t>
            </a:r>
            <a:r>
              <a:rPr sz="1200" dirty="0">
                <a:latin typeface="Roboto"/>
                <a:cs typeface="Roboto"/>
              </a:rPr>
              <a:t>helping</a:t>
            </a:r>
            <a:r>
              <a:rPr sz="1200" spc="-25" dirty="0">
                <a:latin typeface="Roboto"/>
                <a:cs typeface="Roboto"/>
              </a:rPr>
              <a:t> </a:t>
            </a:r>
            <a:r>
              <a:rPr sz="1200" dirty="0">
                <a:latin typeface="Roboto"/>
                <a:cs typeface="Roboto"/>
              </a:rPr>
              <a:t>to</a:t>
            </a:r>
            <a:r>
              <a:rPr sz="1200" spc="-25" dirty="0">
                <a:latin typeface="Roboto"/>
                <a:cs typeface="Roboto"/>
              </a:rPr>
              <a:t> </a:t>
            </a:r>
            <a:r>
              <a:rPr sz="1200" dirty="0">
                <a:latin typeface="Roboto"/>
                <a:cs typeface="Roboto"/>
              </a:rPr>
              <a:t>ensure</a:t>
            </a:r>
            <a:r>
              <a:rPr sz="1200" spc="-28" dirty="0">
                <a:latin typeface="Roboto"/>
                <a:cs typeface="Roboto"/>
              </a:rPr>
              <a:t> </a:t>
            </a:r>
            <a:r>
              <a:rPr sz="1200" dirty="0">
                <a:latin typeface="Roboto"/>
                <a:cs typeface="Roboto"/>
              </a:rPr>
              <a:t>secure</a:t>
            </a:r>
            <a:r>
              <a:rPr sz="1200" spc="-25" dirty="0">
                <a:latin typeface="Roboto"/>
                <a:cs typeface="Roboto"/>
              </a:rPr>
              <a:t> </a:t>
            </a:r>
            <a:r>
              <a:rPr sz="1200" dirty="0">
                <a:latin typeface="Roboto"/>
                <a:cs typeface="Roboto"/>
              </a:rPr>
              <a:t>and</a:t>
            </a:r>
            <a:r>
              <a:rPr sz="1200" spc="-25" dirty="0">
                <a:latin typeface="Roboto"/>
                <a:cs typeface="Roboto"/>
              </a:rPr>
              <a:t> </a:t>
            </a:r>
            <a:r>
              <a:rPr sz="1200" dirty="0">
                <a:latin typeface="Roboto"/>
                <a:cs typeface="Roboto"/>
              </a:rPr>
              <a:t>easy</a:t>
            </a:r>
            <a:r>
              <a:rPr sz="1200" spc="-28" dirty="0">
                <a:latin typeface="Roboto"/>
                <a:cs typeface="Roboto"/>
              </a:rPr>
              <a:t> </a:t>
            </a:r>
            <a:r>
              <a:rPr sz="1200" dirty="0">
                <a:latin typeface="Roboto"/>
                <a:cs typeface="Roboto"/>
              </a:rPr>
              <a:t>access</a:t>
            </a:r>
            <a:r>
              <a:rPr sz="1200" spc="-25" dirty="0">
                <a:latin typeface="Roboto"/>
                <a:cs typeface="Roboto"/>
              </a:rPr>
              <a:t> </a:t>
            </a:r>
            <a:r>
              <a:rPr sz="1200" dirty="0">
                <a:latin typeface="Roboto"/>
                <a:cs typeface="Roboto"/>
              </a:rPr>
              <a:t>to</a:t>
            </a:r>
            <a:r>
              <a:rPr sz="1200" spc="-25" dirty="0">
                <a:latin typeface="Roboto"/>
                <a:cs typeface="Roboto"/>
              </a:rPr>
              <a:t> </a:t>
            </a:r>
            <a:r>
              <a:rPr sz="1200" dirty="0">
                <a:latin typeface="Roboto"/>
                <a:cs typeface="Roboto"/>
              </a:rPr>
              <a:t>resources</a:t>
            </a:r>
            <a:r>
              <a:rPr sz="1200" spc="-25" dirty="0">
                <a:latin typeface="Roboto"/>
                <a:cs typeface="Roboto"/>
              </a:rPr>
              <a:t> </a:t>
            </a:r>
            <a:r>
              <a:rPr sz="1200" dirty="0">
                <a:latin typeface="Roboto"/>
                <a:cs typeface="Roboto"/>
              </a:rPr>
              <a:t>and</a:t>
            </a:r>
            <a:r>
              <a:rPr sz="1200" spc="-28" dirty="0">
                <a:latin typeface="Roboto"/>
                <a:cs typeface="Roboto"/>
              </a:rPr>
              <a:t> </a:t>
            </a:r>
            <a:r>
              <a:rPr sz="1200" spc="-5" dirty="0">
                <a:latin typeface="Roboto"/>
                <a:cs typeface="Roboto"/>
              </a:rPr>
              <a:t>applications.</a:t>
            </a:r>
            <a:endParaRPr sz="1200">
              <a:latin typeface="Roboto"/>
              <a:cs typeface="Roboto"/>
            </a:endParaRPr>
          </a:p>
          <a:p>
            <a:pPr marR="776605" algn="ctr">
              <a:spcBef>
                <a:spcPts val="905"/>
              </a:spcBef>
            </a:pPr>
            <a:r>
              <a:rPr sz="1450" b="1" dirty="0">
                <a:latin typeface="Open Sans Extrabold"/>
                <a:cs typeface="Open Sans Extrabold"/>
              </a:rPr>
              <a:t>Points</a:t>
            </a:r>
            <a:r>
              <a:rPr sz="1450" b="1" spc="-35" dirty="0">
                <a:latin typeface="Open Sans Extrabold"/>
                <a:cs typeface="Open Sans Extrabold"/>
              </a:rPr>
              <a:t> </a:t>
            </a:r>
            <a:r>
              <a:rPr sz="1450" b="1" dirty="0">
                <a:latin typeface="Open Sans Extrabold"/>
                <a:cs typeface="Open Sans Extrabold"/>
              </a:rPr>
              <a:t>to</a:t>
            </a:r>
            <a:r>
              <a:rPr sz="1450" b="1" spc="-35" dirty="0">
                <a:latin typeface="Open Sans Extrabold"/>
                <a:cs typeface="Open Sans Extrabold"/>
              </a:rPr>
              <a:t> </a:t>
            </a:r>
            <a:r>
              <a:rPr sz="1450" b="1" spc="-10" dirty="0">
                <a:latin typeface="Open Sans Extrabold"/>
                <a:cs typeface="Open Sans Extrabold"/>
              </a:rPr>
              <a:t>focus</a:t>
            </a:r>
            <a:endParaRPr sz="1450">
              <a:latin typeface="Open Sans Extrabold"/>
              <a:cs typeface="Open Sans Extrabold"/>
            </a:endParaRPr>
          </a:p>
          <a:p>
            <a:pPr marL="20955">
              <a:spcBef>
                <a:spcPts val="638"/>
              </a:spcBef>
              <a:tabLst>
                <a:tab pos="1218565" algn="l"/>
              </a:tabLst>
            </a:pPr>
            <a:r>
              <a:rPr sz="1200" b="1" spc="-5" dirty="0">
                <a:latin typeface="Roboto"/>
                <a:cs typeface="Roboto"/>
              </a:rPr>
              <a:t>Conceptualize</a:t>
            </a:r>
            <a:r>
              <a:rPr sz="1200" b="1" spc="-13" dirty="0">
                <a:latin typeface="Roboto"/>
                <a:cs typeface="Roboto"/>
              </a:rPr>
              <a:t> </a:t>
            </a:r>
            <a:r>
              <a:rPr sz="1200" b="1" spc="-25" dirty="0">
                <a:latin typeface="Roboto"/>
                <a:cs typeface="Roboto"/>
              </a:rPr>
              <a:t>&amp;</a:t>
            </a:r>
            <a:r>
              <a:rPr sz="1200" b="1" dirty="0">
                <a:latin typeface="Roboto"/>
                <a:cs typeface="Roboto"/>
              </a:rPr>
              <a:t>	</a:t>
            </a:r>
            <a:r>
              <a:rPr sz="1200" dirty="0">
                <a:latin typeface="Roboto"/>
                <a:cs typeface="Roboto"/>
              </a:rPr>
              <a:t>Understand</a:t>
            </a:r>
            <a:r>
              <a:rPr sz="1200" spc="-30" dirty="0">
                <a:latin typeface="Roboto"/>
                <a:cs typeface="Roboto"/>
              </a:rPr>
              <a:t> </a:t>
            </a:r>
            <a:r>
              <a:rPr sz="1200" dirty="0">
                <a:latin typeface="Roboto"/>
                <a:cs typeface="Roboto"/>
              </a:rPr>
              <a:t>very</a:t>
            </a:r>
            <a:r>
              <a:rPr sz="1200" spc="-30" dirty="0">
                <a:latin typeface="Roboto"/>
                <a:cs typeface="Roboto"/>
              </a:rPr>
              <a:t> </a:t>
            </a:r>
            <a:r>
              <a:rPr sz="1200" dirty="0">
                <a:latin typeface="Roboto"/>
                <a:cs typeface="Roboto"/>
              </a:rPr>
              <a:t>well</a:t>
            </a:r>
            <a:r>
              <a:rPr sz="1200" spc="-30" dirty="0">
                <a:latin typeface="Roboto"/>
                <a:cs typeface="Roboto"/>
              </a:rPr>
              <a:t> </a:t>
            </a:r>
            <a:r>
              <a:rPr sz="1200" dirty="0">
                <a:latin typeface="Roboto"/>
                <a:cs typeface="Roboto"/>
              </a:rPr>
              <a:t>these</a:t>
            </a:r>
            <a:r>
              <a:rPr sz="1200" spc="-30" dirty="0">
                <a:latin typeface="Roboto"/>
                <a:cs typeface="Roboto"/>
              </a:rPr>
              <a:t> </a:t>
            </a:r>
            <a:r>
              <a:rPr sz="1200" dirty="0">
                <a:latin typeface="Roboto"/>
                <a:cs typeface="Roboto"/>
              </a:rPr>
              <a:t>concepts:</a:t>
            </a:r>
            <a:r>
              <a:rPr sz="1200" spc="-30" dirty="0">
                <a:latin typeface="Roboto"/>
                <a:cs typeface="Roboto"/>
              </a:rPr>
              <a:t> </a:t>
            </a:r>
            <a:r>
              <a:rPr sz="1200" dirty="0">
                <a:latin typeface="Roboto"/>
                <a:cs typeface="Roboto"/>
              </a:rPr>
              <a:t>CIDR,</a:t>
            </a:r>
            <a:r>
              <a:rPr sz="1200" spc="-30" dirty="0">
                <a:latin typeface="Roboto"/>
                <a:cs typeface="Roboto"/>
              </a:rPr>
              <a:t> </a:t>
            </a:r>
            <a:r>
              <a:rPr sz="1200" dirty="0">
                <a:latin typeface="Roboto"/>
                <a:cs typeface="Roboto"/>
              </a:rPr>
              <a:t>Subnet,</a:t>
            </a:r>
            <a:r>
              <a:rPr sz="1200" spc="-30" dirty="0">
                <a:latin typeface="Roboto"/>
                <a:cs typeface="Roboto"/>
              </a:rPr>
              <a:t> </a:t>
            </a:r>
            <a:r>
              <a:rPr sz="1200" dirty="0">
                <a:latin typeface="Roboto"/>
                <a:cs typeface="Roboto"/>
              </a:rPr>
              <a:t>Internet</a:t>
            </a:r>
            <a:r>
              <a:rPr sz="1200" spc="-30" dirty="0">
                <a:latin typeface="Roboto"/>
                <a:cs typeface="Roboto"/>
              </a:rPr>
              <a:t> </a:t>
            </a:r>
            <a:r>
              <a:rPr sz="1200" dirty="0">
                <a:latin typeface="Roboto"/>
                <a:cs typeface="Roboto"/>
              </a:rPr>
              <a:t>Gateway,</a:t>
            </a:r>
            <a:r>
              <a:rPr sz="1200" spc="-30" dirty="0">
                <a:latin typeface="Roboto"/>
                <a:cs typeface="Roboto"/>
              </a:rPr>
              <a:t> </a:t>
            </a:r>
            <a:r>
              <a:rPr sz="1200" dirty="0">
                <a:latin typeface="Roboto"/>
                <a:cs typeface="Roboto"/>
              </a:rPr>
              <a:t>NAT</a:t>
            </a:r>
            <a:r>
              <a:rPr sz="1200" spc="-30" dirty="0">
                <a:latin typeface="Roboto"/>
                <a:cs typeface="Roboto"/>
              </a:rPr>
              <a:t> </a:t>
            </a:r>
            <a:r>
              <a:rPr sz="1200" dirty="0">
                <a:latin typeface="Roboto"/>
                <a:cs typeface="Roboto"/>
              </a:rPr>
              <a:t>Gateway</a:t>
            </a:r>
            <a:r>
              <a:rPr sz="1200" spc="-30" dirty="0">
                <a:latin typeface="Roboto"/>
                <a:cs typeface="Roboto"/>
              </a:rPr>
              <a:t> </a:t>
            </a:r>
            <a:r>
              <a:rPr sz="1200" dirty="0">
                <a:latin typeface="Roboto"/>
                <a:cs typeface="Roboto"/>
              </a:rPr>
              <a:t>&amp;</a:t>
            </a:r>
            <a:r>
              <a:rPr sz="1200" spc="-30" dirty="0">
                <a:latin typeface="Roboto"/>
                <a:cs typeface="Roboto"/>
              </a:rPr>
              <a:t> </a:t>
            </a:r>
            <a:r>
              <a:rPr sz="1200" dirty="0">
                <a:latin typeface="Roboto"/>
                <a:cs typeface="Roboto"/>
              </a:rPr>
              <a:t>NAT</a:t>
            </a:r>
            <a:r>
              <a:rPr sz="1200" spc="-30" dirty="0">
                <a:latin typeface="Roboto"/>
                <a:cs typeface="Roboto"/>
              </a:rPr>
              <a:t> </a:t>
            </a:r>
            <a:r>
              <a:rPr sz="1200" dirty="0">
                <a:latin typeface="Roboto"/>
                <a:cs typeface="Roboto"/>
              </a:rPr>
              <a:t>instances,</a:t>
            </a:r>
            <a:r>
              <a:rPr sz="1200" spc="-28" dirty="0">
                <a:latin typeface="Roboto"/>
                <a:cs typeface="Roboto"/>
              </a:rPr>
              <a:t> </a:t>
            </a:r>
            <a:r>
              <a:rPr sz="1200" spc="-5" dirty="0">
                <a:latin typeface="Roboto"/>
                <a:cs typeface="Roboto"/>
              </a:rPr>
              <a:t>Virtual</a:t>
            </a:r>
            <a:endParaRPr sz="1200">
              <a:latin typeface="Roboto"/>
              <a:cs typeface="Roboto"/>
            </a:endParaRPr>
          </a:p>
          <a:p>
            <a:pPr marL="102552">
              <a:spcBef>
                <a:spcPts val="210"/>
              </a:spcBef>
              <a:tabLst>
                <a:tab pos="1218565" algn="l"/>
              </a:tabLst>
            </a:pPr>
            <a:r>
              <a:rPr sz="1200" b="1" dirty="0">
                <a:latin typeface="Roboto"/>
                <a:cs typeface="Roboto"/>
              </a:rPr>
              <a:t>understand</a:t>
            </a:r>
            <a:r>
              <a:rPr sz="1200" b="1" spc="-63" dirty="0">
                <a:latin typeface="Roboto"/>
                <a:cs typeface="Roboto"/>
              </a:rPr>
              <a:t> </a:t>
            </a:r>
            <a:r>
              <a:rPr sz="1200" b="1" spc="-13" dirty="0">
                <a:latin typeface="Roboto"/>
                <a:cs typeface="Roboto"/>
              </a:rPr>
              <a:t>the</a:t>
            </a:r>
            <a:r>
              <a:rPr sz="1200" b="1" dirty="0">
                <a:latin typeface="Roboto"/>
                <a:cs typeface="Roboto"/>
              </a:rPr>
              <a:t>	</a:t>
            </a:r>
            <a:r>
              <a:rPr sz="1200" dirty="0">
                <a:latin typeface="Roboto"/>
                <a:cs typeface="Roboto"/>
              </a:rPr>
              <a:t>Private</a:t>
            </a:r>
            <a:r>
              <a:rPr sz="1200" spc="-38" dirty="0">
                <a:latin typeface="Roboto"/>
                <a:cs typeface="Roboto"/>
              </a:rPr>
              <a:t> </a:t>
            </a:r>
            <a:r>
              <a:rPr sz="1200" dirty="0">
                <a:latin typeface="Roboto"/>
                <a:cs typeface="Roboto"/>
              </a:rPr>
              <a:t>Gateway,</a:t>
            </a:r>
            <a:r>
              <a:rPr sz="1200" spc="-38" dirty="0">
                <a:latin typeface="Roboto"/>
                <a:cs typeface="Roboto"/>
              </a:rPr>
              <a:t> </a:t>
            </a:r>
            <a:r>
              <a:rPr sz="1200" dirty="0">
                <a:latin typeface="Roboto"/>
                <a:cs typeface="Roboto"/>
              </a:rPr>
              <a:t>Customer</a:t>
            </a:r>
            <a:r>
              <a:rPr sz="1200" spc="-38" dirty="0">
                <a:latin typeface="Roboto"/>
                <a:cs typeface="Roboto"/>
              </a:rPr>
              <a:t> </a:t>
            </a:r>
            <a:r>
              <a:rPr sz="1200" dirty="0">
                <a:latin typeface="Roboto"/>
                <a:cs typeface="Roboto"/>
              </a:rPr>
              <a:t>Gateway,</a:t>
            </a:r>
            <a:r>
              <a:rPr sz="1200" spc="-35" dirty="0">
                <a:latin typeface="Roboto"/>
                <a:cs typeface="Roboto"/>
              </a:rPr>
              <a:t> </a:t>
            </a:r>
            <a:r>
              <a:rPr sz="1200" dirty="0">
                <a:latin typeface="Roboto"/>
                <a:cs typeface="Roboto"/>
              </a:rPr>
              <a:t>Router,</a:t>
            </a:r>
            <a:r>
              <a:rPr sz="1200" spc="-38" dirty="0">
                <a:latin typeface="Roboto"/>
                <a:cs typeface="Roboto"/>
              </a:rPr>
              <a:t> </a:t>
            </a:r>
            <a:r>
              <a:rPr sz="1200" dirty="0">
                <a:latin typeface="Roboto"/>
                <a:cs typeface="Roboto"/>
              </a:rPr>
              <a:t>VPC</a:t>
            </a:r>
            <a:r>
              <a:rPr sz="1200" spc="-38" dirty="0">
                <a:latin typeface="Roboto"/>
                <a:cs typeface="Roboto"/>
              </a:rPr>
              <a:t> </a:t>
            </a:r>
            <a:r>
              <a:rPr sz="1200" dirty="0">
                <a:latin typeface="Roboto"/>
                <a:cs typeface="Roboto"/>
              </a:rPr>
              <a:t>Endpoints,</a:t>
            </a:r>
            <a:r>
              <a:rPr sz="1200" spc="-38" dirty="0">
                <a:latin typeface="Roboto"/>
                <a:cs typeface="Roboto"/>
              </a:rPr>
              <a:t> </a:t>
            </a:r>
            <a:r>
              <a:rPr sz="1200" spc="-10" dirty="0">
                <a:latin typeface="Roboto"/>
                <a:cs typeface="Roboto"/>
              </a:rPr>
              <a:t>Egress-</a:t>
            </a:r>
            <a:r>
              <a:rPr sz="1200" dirty="0">
                <a:latin typeface="Roboto"/>
                <a:cs typeface="Roboto"/>
              </a:rPr>
              <a:t>only</a:t>
            </a:r>
            <a:r>
              <a:rPr sz="1200" spc="-35" dirty="0">
                <a:latin typeface="Roboto"/>
                <a:cs typeface="Roboto"/>
              </a:rPr>
              <a:t> </a:t>
            </a:r>
            <a:r>
              <a:rPr sz="1200" dirty="0">
                <a:latin typeface="Roboto"/>
                <a:cs typeface="Roboto"/>
              </a:rPr>
              <a:t>Internet</a:t>
            </a:r>
            <a:r>
              <a:rPr sz="1200" spc="-38" dirty="0">
                <a:latin typeface="Roboto"/>
                <a:cs typeface="Roboto"/>
              </a:rPr>
              <a:t> </a:t>
            </a:r>
            <a:r>
              <a:rPr sz="1200" dirty="0">
                <a:latin typeface="Roboto"/>
                <a:cs typeface="Roboto"/>
              </a:rPr>
              <a:t>Gateway,</a:t>
            </a:r>
            <a:r>
              <a:rPr sz="1200" spc="-38" dirty="0">
                <a:latin typeface="Roboto"/>
                <a:cs typeface="Roboto"/>
              </a:rPr>
              <a:t> </a:t>
            </a:r>
            <a:r>
              <a:rPr sz="1200" dirty="0">
                <a:latin typeface="Roboto"/>
                <a:cs typeface="Roboto"/>
              </a:rPr>
              <a:t>Security</a:t>
            </a:r>
            <a:r>
              <a:rPr sz="1200" spc="-35" dirty="0">
                <a:latin typeface="Roboto"/>
                <a:cs typeface="Roboto"/>
              </a:rPr>
              <a:t> </a:t>
            </a:r>
            <a:r>
              <a:rPr sz="1200" spc="-5" dirty="0">
                <a:latin typeface="Roboto"/>
                <a:cs typeface="Roboto"/>
              </a:rPr>
              <a:t>Groups,</a:t>
            </a:r>
            <a:endParaRPr sz="1200">
              <a:latin typeface="Roboto"/>
              <a:cs typeface="Roboto"/>
            </a:endParaRPr>
          </a:p>
          <a:p>
            <a:pPr marL="6350">
              <a:spcBef>
                <a:spcPts val="210"/>
              </a:spcBef>
              <a:tabLst>
                <a:tab pos="1218565" algn="l"/>
              </a:tabLst>
            </a:pPr>
            <a:r>
              <a:rPr sz="1200" b="1" dirty="0">
                <a:latin typeface="Roboto"/>
                <a:cs typeface="Roboto"/>
              </a:rPr>
              <a:t>key</a:t>
            </a:r>
            <a:r>
              <a:rPr sz="1200" b="1" spc="-20" dirty="0">
                <a:latin typeface="Roboto"/>
                <a:cs typeface="Roboto"/>
              </a:rPr>
              <a:t> </a:t>
            </a:r>
            <a:r>
              <a:rPr sz="1200" b="1" spc="-5" dirty="0">
                <a:latin typeface="Roboto"/>
                <a:cs typeface="Roboto"/>
              </a:rPr>
              <a:t>components</a:t>
            </a:r>
            <a:r>
              <a:rPr sz="1200" b="1" dirty="0">
                <a:latin typeface="Roboto"/>
                <a:cs typeface="Roboto"/>
              </a:rPr>
              <a:t>	</a:t>
            </a:r>
            <a:r>
              <a:rPr sz="1200" dirty="0">
                <a:latin typeface="Roboto"/>
                <a:cs typeface="Roboto"/>
              </a:rPr>
              <a:t>Networks</a:t>
            </a:r>
            <a:r>
              <a:rPr sz="1200" spc="-23" dirty="0">
                <a:latin typeface="Roboto"/>
                <a:cs typeface="Roboto"/>
              </a:rPr>
              <a:t> </a:t>
            </a:r>
            <a:r>
              <a:rPr sz="1200" dirty="0">
                <a:latin typeface="Roboto"/>
                <a:cs typeface="Roboto"/>
              </a:rPr>
              <a:t>ACL,</a:t>
            </a:r>
            <a:r>
              <a:rPr sz="1200" spc="-23" dirty="0">
                <a:latin typeface="Roboto"/>
                <a:cs typeface="Roboto"/>
              </a:rPr>
              <a:t> </a:t>
            </a:r>
            <a:r>
              <a:rPr sz="1200" dirty="0">
                <a:latin typeface="Roboto"/>
                <a:cs typeface="Roboto"/>
              </a:rPr>
              <a:t>AWS</a:t>
            </a:r>
            <a:r>
              <a:rPr sz="1200" spc="-20" dirty="0">
                <a:latin typeface="Roboto"/>
                <a:cs typeface="Roboto"/>
              </a:rPr>
              <a:t> </a:t>
            </a:r>
            <a:r>
              <a:rPr sz="1200" dirty="0">
                <a:latin typeface="Roboto"/>
                <a:cs typeface="Roboto"/>
              </a:rPr>
              <a:t>direct</a:t>
            </a:r>
            <a:r>
              <a:rPr sz="1200" spc="-23" dirty="0">
                <a:latin typeface="Roboto"/>
                <a:cs typeface="Roboto"/>
              </a:rPr>
              <a:t> </a:t>
            </a:r>
            <a:r>
              <a:rPr sz="1200" dirty="0">
                <a:latin typeface="Roboto"/>
                <a:cs typeface="Roboto"/>
              </a:rPr>
              <a:t>connect,</a:t>
            </a:r>
            <a:r>
              <a:rPr sz="1200" spc="-20" dirty="0">
                <a:latin typeface="Roboto"/>
                <a:cs typeface="Roboto"/>
              </a:rPr>
              <a:t> </a:t>
            </a:r>
            <a:r>
              <a:rPr sz="1200" dirty="0">
                <a:latin typeface="Roboto"/>
                <a:cs typeface="Roboto"/>
              </a:rPr>
              <a:t>VPC</a:t>
            </a:r>
            <a:r>
              <a:rPr sz="1200" spc="-23" dirty="0">
                <a:latin typeface="Roboto"/>
                <a:cs typeface="Roboto"/>
              </a:rPr>
              <a:t> </a:t>
            </a:r>
            <a:r>
              <a:rPr sz="1200" dirty="0">
                <a:latin typeface="Roboto"/>
                <a:cs typeface="Roboto"/>
              </a:rPr>
              <a:t>Flow</a:t>
            </a:r>
            <a:r>
              <a:rPr sz="1200" spc="-23" dirty="0">
                <a:latin typeface="Roboto"/>
                <a:cs typeface="Roboto"/>
              </a:rPr>
              <a:t> </a:t>
            </a:r>
            <a:r>
              <a:rPr sz="1200" dirty="0">
                <a:latin typeface="Roboto"/>
                <a:cs typeface="Roboto"/>
              </a:rPr>
              <a:t>Logs,</a:t>
            </a:r>
            <a:r>
              <a:rPr sz="1200" spc="-20" dirty="0">
                <a:latin typeface="Roboto"/>
                <a:cs typeface="Roboto"/>
              </a:rPr>
              <a:t> </a:t>
            </a:r>
            <a:r>
              <a:rPr sz="1200" dirty="0">
                <a:latin typeface="Roboto"/>
                <a:cs typeface="Roboto"/>
              </a:rPr>
              <a:t>VPC</a:t>
            </a:r>
            <a:r>
              <a:rPr sz="1200" spc="-23" dirty="0">
                <a:latin typeface="Roboto"/>
                <a:cs typeface="Roboto"/>
              </a:rPr>
              <a:t> </a:t>
            </a:r>
            <a:r>
              <a:rPr sz="1200" dirty="0">
                <a:latin typeface="Roboto"/>
                <a:cs typeface="Roboto"/>
              </a:rPr>
              <a:t>endpoints,</a:t>
            </a:r>
            <a:r>
              <a:rPr sz="1200" spc="-20" dirty="0">
                <a:latin typeface="Roboto"/>
                <a:cs typeface="Roboto"/>
              </a:rPr>
              <a:t> </a:t>
            </a:r>
            <a:r>
              <a:rPr sz="1200" dirty="0">
                <a:latin typeface="Roboto"/>
                <a:cs typeface="Roboto"/>
              </a:rPr>
              <a:t>VPC</a:t>
            </a:r>
            <a:r>
              <a:rPr sz="1200" spc="-23" dirty="0">
                <a:latin typeface="Roboto"/>
                <a:cs typeface="Roboto"/>
              </a:rPr>
              <a:t> </a:t>
            </a:r>
            <a:r>
              <a:rPr sz="1200" spc="-5" dirty="0">
                <a:latin typeface="Roboto"/>
                <a:cs typeface="Roboto"/>
              </a:rPr>
              <a:t>peering,</a:t>
            </a:r>
            <a:endParaRPr sz="1200">
              <a:latin typeface="Roboto"/>
              <a:cs typeface="Roboto"/>
            </a:endParaRPr>
          </a:p>
        </p:txBody>
      </p:sp>
      <p:sp>
        <p:nvSpPr>
          <p:cNvPr id="4" name="object 4"/>
          <p:cNvSpPr txBox="1"/>
          <p:nvPr/>
        </p:nvSpPr>
        <p:spPr>
          <a:xfrm>
            <a:off x="8173736" y="56326"/>
            <a:ext cx="911860" cy="138499"/>
          </a:xfrm>
          <a:prstGeom prst="rect">
            <a:avLst/>
          </a:prstGeom>
        </p:spPr>
        <p:txBody>
          <a:bodyPr vert="horz" wrap="square" lIns="0" tIns="7620" rIns="0" bIns="0" rtlCol="0">
            <a:spAutoFit/>
          </a:bodyPr>
          <a:lstStyle/>
          <a:p>
            <a:pPr marL="6350">
              <a:spcBef>
                <a:spcPts val="60"/>
              </a:spcBef>
            </a:pPr>
            <a:r>
              <a:rPr sz="850" dirty="0">
                <a:solidFill>
                  <a:srgbClr val="13110E"/>
                </a:solidFill>
                <a:latin typeface="Open Sans Light"/>
                <a:cs typeface="Open Sans Light"/>
              </a:rPr>
              <a:t>Learn</a:t>
            </a:r>
            <a:r>
              <a:rPr sz="850" spc="15" dirty="0">
                <a:solidFill>
                  <a:srgbClr val="13110E"/>
                </a:solidFill>
                <a:latin typeface="Open Sans Light"/>
                <a:cs typeface="Open Sans Light"/>
              </a:rPr>
              <a:t> </a:t>
            </a:r>
            <a:r>
              <a:rPr sz="850" dirty="0">
                <a:solidFill>
                  <a:srgbClr val="13110E"/>
                </a:solidFill>
                <a:latin typeface="Open Sans Light"/>
                <a:cs typeface="Open Sans Light"/>
              </a:rPr>
              <a:t>With</a:t>
            </a:r>
            <a:r>
              <a:rPr sz="850" spc="15" dirty="0">
                <a:solidFill>
                  <a:srgbClr val="13110E"/>
                </a:solidFill>
                <a:latin typeface="Open Sans Light"/>
                <a:cs typeface="Open Sans Light"/>
              </a:rPr>
              <a:t> </a:t>
            </a:r>
            <a:r>
              <a:rPr sz="850" spc="-5" dirty="0">
                <a:solidFill>
                  <a:srgbClr val="13110E"/>
                </a:solidFill>
                <a:latin typeface="Open Sans Light"/>
                <a:cs typeface="Open Sans Light"/>
              </a:rPr>
              <a:t>Sandip</a:t>
            </a:r>
            <a:endParaRPr sz="850">
              <a:latin typeface="Open Sans Light"/>
              <a:cs typeface="Open Sans Light"/>
            </a:endParaRPr>
          </a:p>
        </p:txBody>
      </p:sp>
      <p:sp>
        <p:nvSpPr>
          <p:cNvPr id="5" name="object 5"/>
          <p:cNvSpPr txBox="1"/>
          <p:nvPr/>
        </p:nvSpPr>
        <p:spPr>
          <a:xfrm>
            <a:off x="697533" y="2903368"/>
            <a:ext cx="499428" cy="191078"/>
          </a:xfrm>
          <a:prstGeom prst="rect">
            <a:avLst/>
          </a:prstGeom>
        </p:spPr>
        <p:txBody>
          <a:bodyPr vert="horz" wrap="square" lIns="0" tIns="6350" rIns="0" bIns="0" rtlCol="0">
            <a:spAutoFit/>
          </a:bodyPr>
          <a:lstStyle/>
          <a:p>
            <a:pPr marL="6350">
              <a:spcBef>
                <a:spcPts val="50"/>
              </a:spcBef>
            </a:pPr>
            <a:r>
              <a:rPr sz="1200" b="1" spc="-5" dirty="0">
                <a:latin typeface="Roboto"/>
                <a:cs typeface="Roboto"/>
              </a:rPr>
              <a:t>Pricing</a:t>
            </a:r>
            <a:endParaRPr sz="1200">
              <a:latin typeface="Roboto"/>
              <a:cs typeface="Roboto"/>
            </a:endParaRPr>
          </a:p>
        </p:txBody>
      </p:sp>
      <p:sp>
        <p:nvSpPr>
          <p:cNvPr id="6" name="object 6"/>
          <p:cNvSpPr txBox="1"/>
          <p:nvPr/>
        </p:nvSpPr>
        <p:spPr>
          <a:xfrm>
            <a:off x="1330521" y="2861458"/>
            <a:ext cx="7619683" cy="416524"/>
          </a:xfrm>
          <a:prstGeom prst="rect">
            <a:avLst/>
          </a:prstGeom>
        </p:spPr>
        <p:txBody>
          <a:bodyPr vert="horz" wrap="square" lIns="0" tIns="6350" rIns="0" bIns="0" rtlCol="0">
            <a:spAutoFit/>
          </a:bodyPr>
          <a:lstStyle/>
          <a:p>
            <a:pPr marL="6350" marR="2540">
              <a:lnSpc>
                <a:spcPct val="114599"/>
              </a:lnSpc>
              <a:spcBef>
                <a:spcPts val="50"/>
              </a:spcBef>
            </a:pPr>
            <a:r>
              <a:rPr sz="1200" dirty="0">
                <a:latin typeface="Roboto"/>
                <a:cs typeface="Roboto"/>
              </a:rPr>
              <a:t>Always</a:t>
            </a:r>
            <a:r>
              <a:rPr sz="1200" spc="-30" dirty="0">
                <a:latin typeface="Roboto"/>
                <a:cs typeface="Roboto"/>
              </a:rPr>
              <a:t> </a:t>
            </a:r>
            <a:r>
              <a:rPr sz="1200" dirty="0">
                <a:latin typeface="Roboto"/>
                <a:cs typeface="Roboto"/>
              </a:rPr>
              <a:t>remember</a:t>
            </a:r>
            <a:r>
              <a:rPr sz="1200" spc="-30" dirty="0">
                <a:latin typeface="Roboto"/>
                <a:cs typeface="Roboto"/>
              </a:rPr>
              <a:t> </a:t>
            </a:r>
            <a:r>
              <a:rPr sz="1200" dirty="0">
                <a:latin typeface="Roboto"/>
                <a:cs typeface="Roboto"/>
              </a:rPr>
              <a:t>to</a:t>
            </a:r>
            <a:r>
              <a:rPr sz="1200" spc="-30" dirty="0">
                <a:latin typeface="Roboto"/>
                <a:cs typeface="Roboto"/>
              </a:rPr>
              <a:t> </a:t>
            </a:r>
            <a:r>
              <a:rPr sz="1200" dirty="0">
                <a:latin typeface="Roboto"/>
                <a:cs typeface="Roboto"/>
              </a:rPr>
              <a:t>check</a:t>
            </a:r>
            <a:r>
              <a:rPr sz="1200" spc="-28" dirty="0">
                <a:latin typeface="Roboto"/>
                <a:cs typeface="Roboto"/>
              </a:rPr>
              <a:t> </a:t>
            </a:r>
            <a:r>
              <a:rPr sz="1200" dirty="0">
                <a:latin typeface="Roboto"/>
                <a:cs typeface="Roboto"/>
              </a:rPr>
              <a:t>the</a:t>
            </a:r>
            <a:r>
              <a:rPr sz="1200" spc="-30" dirty="0">
                <a:latin typeface="Roboto"/>
                <a:cs typeface="Roboto"/>
              </a:rPr>
              <a:t> </a:t>
            </a:r>
            <a:r>
              <a:rPr sz="1200" dirty="0">
                <a:latin typeface="Roboto"/>
                <a:cs typeface="Roboto"/>
              </a:rPr>
              <a:t>pricing</a:t>
            </a:r>
            <a:r>
              <a:rPr sz="1200" spc="-30" dirty="0">
                <a:latin typeface="Roboto"/>
                <a:cs typeface="Roboto"/>
              </a:rPr>
              <a:t> </a:t>
            </a:r>
            <a:r>
              <a:rPr sz="1200" dirty="0">
                <a:latin typeface="Roboto"/>
                <a:cs typeface="Roboto"/>
              </a:rPr>
              <a:t>estimate</a:t>
            </a:r>
            <a:r>
              <a:rPr sz="1200" spc="-28" dirty="0">
                <a:latin typeface="Roboto"/>
                <a:cs typeface="Roboto"/>
              </a:rPr>
              <a:t> </a:t>
            </a:r>
            <a:r>
              <a:rPr sz="1200" dirty="0">
                <a:latin typeface="Roboto"/>
                <a:cs typeface="Roboto"/>
              </a:rPr>
              <a:t>before</a:t>
            </a:r>
            <a:r>
              <a:rPr sz="1200" spc="-30" dirty="0">
                <a:latin typeface="Roboto"/>
                <a:cs typeface="Roboto"/>
              </a:rPr>
              <a:t> </a:t>
            </a:r>
            <a:r>
              <a:rPr sz="1200" dirty="0">
                <a:latin typeface="Roboto"/>
                <a:cs typeface="Roboto"/>
              </a:rPr>
              <a:t>selecting</a:t>
            </a:r>
            <a:r>
              <a:rPr sz="1200" spc="-30" dirty="0">
                <a:latin typeface="Roboto"/>
                <a:cs typeface="Roboto"/>
              </a:rPr>
              <a:t> </a:t>
            </a:r>
            <a:r>
              <a:rPr sz="1200" spc="-10" dirty="0">
                <a:latin typeface="Roboto"/>
                <a:cs typeface="Roboto"/>
              </a:rPr>
              <a:t>VPC/Network-</a:t>
            </a:r>
            <a:r>
              <a:rPr sz="1200" dirty="0">
                <a:latin typeface="Roboto"/>
                <a:cs typeface="Roboto"/>
              </a:rPr>
              <a:t>specific</a:t>
            </a:r>
            <a:r>
              <a:rPr sz="1200" spc="-28" dirty="0">
                <a:latin typeface="Roboto"/>
                <a:cs typeface="Roboto"/>
              </a:rPr>
              <a:t> </a:t>
            </a:r>
            <a:r>
              <a:rPr sz="1200" dirty="0">
                <a:latin typeface="Roboto"/>
                <a:cs typeface="Roboto"/>
              </a:rPr>
              <a:t>service,</a:t>
            </a:r>
            <a:r>
              <a:rPr sz="1200" spc="-30" dirty="0">
                <a:latin typeface="Roboto"/>
                <a:cs typeface="Roboto"/>
              </a:rPr>
              <a:t> </a:t>
            </a:r>
            <a:r>
              <a:rPr sz="1200" dirty="0">
                <a:latin typeface="Roboto"/>
                <a:cs typeface="Roboto"/>
              </a:rPr>
              <a:t>for</a:t>
            </a:r>
            <a:r>
              <a:rPr sz="1200" spc="-30" dirty="0">
                <a:latin typeface="Roboto"/>
                <a:cs typeface="Roboto"/>
              </a:rPr>
              <a:t> </a:t>
            </a:r>
            <a:r>
              <a:rPr sz="1200" dirty="0">
                <a:latin typeface="Roboto"/>
                <a:cs typeface="Roboto"/>
              </a:rPr>
              <a:t>example</a:t>
            </a:r>
            <a:r>
              <a:rPr sz="1200" spc="-28" dirty="0">
                <a:latin typeface="Roboto"/>
                <a:cs typeface="Roboto"/>
              </a:rPr>
              <a:t> </a:t>
            </a:r>
            <a:r>
              <a:rPr sz="1200" spc="-13" dirty="0">
                <a:latin typeface="Roboto"/>
                <a:cs typeface="Roboto"/>
              </a:rPr>
              <a:t>NAT </a:t>
            </a:r>
            <a:r>
              <a:rPr sz="1200" dirty="0">
                <a:latin typeface="Roboto"/>
                <a:cs typeface="Roboto"/>
              </a:rPr>
              <a:t>gateway</a:t>
            </a:r>
            <a:r>
              <a:rPr sz="1200" spc="-28" dirty="0">
                <a:latin typeface="Roboto"/>
                <a:cs typeface="Roboto"/>
              </a:rPr>
              <a:t> </a:t>
            </a:r>
            <a:r>
              <a:rPr sz="1200" dirty="0">
                <a:latin typeface="Roboto"/>
                <a:cs typeface="Roboto"/>
              </a:rPr>
              <a:t>charges,</a:t>
            </a:r>
            <a:r>
              <a:rPr sz="1200" spc="-28" dirty="0">
                <a:latin typeface="Roboto"/>
                <a:cs typeface="Roboto"/>
              </a:rPr>
              <a:t> </a:t>
            </a:r>
            <a:r>
              <a:rPr sz="1200" dirty="0">
                <a:latin typeface="Roboto"/>
                <a:cs typeface="Roboto"/>
              </a:rPr>
              <a:t>VPC</a:t>
            </a:r>
            <a:r>
              <a:rPr sz="1200" spc="-25" dirty="0">
                <a:latin typeface="Roboto"/>
                <a:cs typeface="Roboto"/>
              </a:rPr>
              <a:t> </a:t>
            </a:r>
            <a:r>
              <a:rPr sz="1200" dirty="0">
                <a:latin typeface="Roboto"/>
                <a:cs typeface="Roboto"/>
              </a:rPr>
              <a:t>endpoint</a:t>
            </a:r>
            <a:r>
              <a:rPr sz="1200" spc="-28" dirty="0">
                <a:latin typeface="Roboto"/>
                <a:cs typeface="Roboto"/>
              </a:rPr>
              <a:t> </a:t>
            </a:r>
            <a:r>
              <a:rPr sz="1200" dirty="0">
                <a:latin typeface="Roboto"/>
                <a:cs typeface="Roboto"/>
              </a:rPr>
              <a:t>charges,</a:t>
            </a:r>
            <a:r>
              <a:rPr sz="1200" spc="-25" dirty="0">
                <a:latin typeface="Roboto"/>
                <a:cs typeface="Roboto"/>
              </a:rPr>
              <a:t> </a:t>
            </a:r>
            <a:r>
              <a:rPr sz="1200" dirty="0">
                <a:latin typeface="Roboto"/>
                <a:cs typeface="Roboto"/>
              </a:rPr>
              <a:t>VPN</a:t>
            </a:r>
            <a:r>
              <a:rPr sz="1200" spc="-28" dirty="0">
                <a:latin typeface="Roboto"/>
                <a:cs typeface="Roboto"/>
              </a:rPr>
              <a:t> </a:t>
            </a:r>
            <a:r>
              <a:rPr sz="1200" dirty="0">
                <a:latin typeface="Roboto"/>
                <a:cs typeface="Roboto"/>
              </a:rPr>
              <a:t>connection</a:t>
            </a:r>
            <a:r>
              <a:rPr sz="1200" spc="-28" dirty="0">
                <a:latin typeface="Roboto"/>
                <a:cs typeface="Roboto"/>
              </a:rPr>
              <a:t> </a:t>
            </a:r>
            <a:r>
              <a:rPr sz="1200" dirty="0">
                <a:latin typeface="Roboto"/>
                <a:cs typeface="Roboto"/>
              </a:rPr>
              <a:t>per</a:t>
            </a:r>
            <a:r>
              <a:rPr sz="1200" spc="-25" dirty="0">
                <a:latin typeface="Roboto"/>
                <a:cs typeface="Roboto"/>
              </a:rPr>
              <a:t> </a:t>
            </a:r>
            <a:r>
              <a:rPr sz="1200" dirty="0">
                <a:latin typeface="Roboto"/>
                <a:cs typeface="Roboto"/>
              </a:rPr>
              <a:t>hour</a:t>
            </a:r>
            <a:r>
              <a:rPr sz="1200" spc="-28" dirty="0">
                <a:latin typeface="Roboto"/>
                <a:cs typeface="Roboto"/>
              </a:rPr>
              <a:t> </a:t>
            </a:r>
            <a:r>
              <a:rPr sz="1200" spc="-5" dirty="0">
                <a:latin typeface="Roboto"/>
                <a:cs typeface="Roboto"/>
              </a:rPr>
              <a:t>charges</a:t>
            </a:r>
            <a:endParaRPr sz="1200">
              <a:latin typeface="Roboto"/>
              <a:cs typeface="Roboto"/>
            </a:endParaRPr>
          </a:p>
        </p:txBody>
      </p:sp>
      <p:sp>
        <p:nvSpPr>
          <p:cNvPr id="7" name="object 7"/>
          <p:cNvSpPr txBox="1"/>
          <p:nvPr/>
        </p:nvSpPr>
        <p:spPr>
          <a:xfrm>
            <a:off x="116061" y="3479708"/>
            <a:ext cx="1080770" cy="191078"/>
          </a:xfrm>
          <a:prstGeom prst="rect">
            <a:avLst/>
          </a:prstGeom>
        </p:spPr>
        <p:txBody>
          <a:bodyPr vert="horz" wrap="square" lIns="0" tIns="6350" rIns="0" bIns="0" rtlCol="0">
            <a:spAutoFit/>
          </a:bodyPr>
          <a:lstStyle/>
          <a:p>
            <a:pPr marL="6350">
              <a:spcBef>
                <a:spcPts val="50"/>
              </a:spcBef>
            </a:pPr>
            <a:r>
              <a:rPr sz="1200" b="1" dirty="0">
                <a:latin typeface="Roboto"/>
                <a:cs typeface="Roboto"/>
              </a:rPr>
              <a:t>Understand</a:t>
            </a:r>
            <a:r>
              <a:rPr sz="1200" b="1" spc="-63" dirty="0">
                <a:latin typeface="Roboto"/>
                <a:cs typeface="Roboto"/>
              </a:rPr>
              <a:t> </a:t>
            </a:r>
            <a:r>
              <a:rPr sz="1200" b="1" spc="-13" dirty="0">
                <a:latin typeface="Roboto"/>
                <a:cs typeface="Roboto"/>
              </a:rPr>
              <a:t>ENI</a:t>
            </a:r>
            <a:endParaRPr sz="1200">
              <a:latin typeface="Roboto"/>
              <a:cs typeface="Roboto"/>
            </a:endParaRPr>
          </a:p>
        </p:txBody>
      </p:sp>
      <p:sp>
        <p:nvSpPr>
          <p:cNvPr id="8" name="object 8"/>
          <p:cNvSpPr txBox="1"/>
          <p:nvPr/>
        </p:nvSpPr>
        <p:spPr>
          <a:xfrm>
            <a:off x="1330521" y="3453038"/>
            <a:ext cx="7284720" cy="416524"/>
          </a:xfrm>
          <a:prstGeom prst="rect">
            <a:avLst/>
          </a:prstGeom>
        </p:spPr>
        <p:txBody>
          <a:bodyPr vert="horz" wrap="square" lIns="0" tIns="6350" rIns="0" bIns="0" rtlCol="0">
            <a:spAutoFit/>
          </a:bodyPr>
          <a:lstStyle/>
          <a:p>
            <a:pPr marL="6350" marR="2540">
              <a:lnSpc>
                <a:spcPct val="114599"/>
              </a:lnSpc>
              <a:spcBef>
                <a:spcPts val="50"/>
              </a:spcBef>
            </a:pPr>
            <a:r>
              <a:rPr sz="1200" dirty="0">
                <a:latin typeface="Roboto"/>
                <a:cs typeface="Roboto"/>
              </a:rPr>
              <a:t>Understand</a:t>
            </a:r>
            <a:r>
              <a:rPr sz="1200" spc="-20" dirty="0">
                <a:latin typeface="Roboto"/>
                <a:cs typeface="Roboto"/>
              </a:rPr>
              <a:t> </a:t>
            </a:r>
            <a:r>
              <a:rPr sz="1200" dirty="0">
                <a:latin typeface="Roboto"/>
                <a:cs typeface="Roboto"/>
              </a:rPr>
              <a:t>what</a:t>
            </a:r>
            <a:r>
              <a:rPr sz="1200" spc="-20" dirty="0">
                <a:latin typeface="Roboto"/>
                <a:cs typeface="Roboto"/>
              </a:rPr>
              <a:t> </a:t>
            </a:r>
            <a:r>
              <a:rPr sz="1200" dirty="0">
                <a:latin typeface="Roboto"/>
                <a:cs typeface="Roboto"/>
              </a:rPr>
              <a:t>is</a:t>
            </a:r>
            <a:r>
              <a:rPr sz="1200" spc="-20" dirty="0">
                <a:latin typeface="Roboto"/>
                <a:cs typeface="Roboto"/>
              </a:rPr>
              <a:t> </a:t>
            </a:r>
            <a:r>
              <a:rPr sz="1200" dirty="0">
                <a:latin typeface="Roboto"/>
                <a:cs typeface="Roboto"/>
              </a:rPr>
              <a:t>ENI</a:t>
            </a:r>
            <a:r>
              <a:rPr sz="1200" spc="-18" dirty="0">
                <a:latin typeface="Roboto"/>
                <a:cs typeface="Roboto"/>
              </a:rPr>
              <a:t> </a:t>
            </a:r>
            <a:r>
              <a:rPr sz="1200" dirty="0">
                <a:latin typeface="Roboto"/>
                <a:cs typeface="Roboto"/>
              </a:rPr>
              <a:t>and</a:t>
            </a:r>
            <a:r>
              <a:rPr sz="1200" spc="-20" dirty="0">
                <a:latin typeface="Roboto"/>
                <a:cs typeface="Roboto"/>
              </a:rPr>
              <a:t> </a:t>
            </a:r>
            <a:r>
              <a:rPr sz="1200" dirty="0">
                <a:latin typeface="Roboto"/>
                <a:cs typeface="Roboto"/>
              </a:rPr>
              <a:t>how</a:t>
            </a:r>
            <a:r>
              <a:rPr sz="1200" spc="-20" dirty="0">
                <a:latin typeface="Roboto"/>
                <a:cs typeface="Roboto"/>
              </a:rPr>
              <a:t> </a:t>
            </a:r>
            <a:r>
              <a:rPr sz="1200" dirty="0">
                <a:latin typeface="Roboto"/>
                <a:cs typeface="Roboto"/>
              </a:rPr>
              <a:t>can</a:t>
            </a:r>
            <a:r>
              <a:rPr sz="1200" spc="-20" dirty="0">
                <a:latin typeface="Roboto"/>
                <a:cs typeface="Roboto"/>
              </a:rPr>
              <a:t> </a:t>
            </a:r>
            <a:r>
              <a:rPr sz="1200" dirty="0">
                <a:latin typeface="Roboto"/>
                <a:cs typeface="Roboto"/>
              </a:rPr>
              <a:t>you</a:t>
            </a:r>
            <a:r>
              <a:rPr sz="1200" spc="-18" dirty="0">
                <a:latin typeface="Roboto"/>
                <a:cs typeface="Roboto"/>
              </a:rPr>
              <a:t> </a:t>
            </a:r>
            <a:r>
              <a:rPr sz="1200" dirty="0">
                <a:latin typeface="Roboto"/>
                <a:cs typeface="Roboto"/>
              </a:rPr>
              <a:t>utilize</a:t>
            </a:r>
            <a:r>
              <a:rPr sz="1200" spc="-20" dirty="0">
                <a:latin typeface="Roboto"/>
                <a:cs typeface="Roboto"/>
              </a:rPr>
              <a:t> </a:t>
            </a:r>
            <a:r>
              <a:rPr sz="1200" dirty="0">
                <a:latin typeface="Roboto"/>
                <a:cs typeface="Roboto"/>
              </a:rPr>
              <a:t>it,</a:t>
            </a:r>
            <a:r>
              <a:rPr sz="1200" spc="-20" dirty="0">
                <a:latin typeface="Roboto"/>
                <a:cs typeface="Roboto"/>
              </a:rPr>
              <a:t> </a:t>
            </a:r>
            <a:r>
              <a:rPr sz="1200" dirty="0">
                <a:latin typeface="Roboto"/>
                <a:cs typeface="Roboto"/>
              </a:rPr>
              <a:t>it</a:t>
            </a:r>
            <a:r>
              <a:rPr sz="1200" spc="-20" dirty="0">
                <a:latin typeface="Roboto"/>
                <a:cs typeface="Roboto"/>
              </a:rPr>
              <a:t> </a:t>
            </a:r>
            <a:r>
              <a:rPr sz="1200" dirty="0">
                <a:latin typeface="Roboto"/>
                <a:cs typeface="Roboto"/>
              </a:rPr>
              <a:t>basically</a:t>
            </a:r>
            <a:r>
              <a:rPr sz="1200" spc="-18" dirty="0">
                <a:latin typeface="Roboto"/>
                <a:cs typeface="Roboto"/>
              </a:rPr>
              <a:t> </a:t>
            </a:r>
            <a:r>
              <a:rPr sz="1200" dirty="0">
                <a:latin typeface="Roboto"/>
                <a:cs typeface="Roboto"/>
              </a:rPr>
              <a:t>gives</a:t>
            </a:r>
            <a:r>
              <a:rPr sz="1200" spc="-20" dirty="0">
                <a:latin typeface="Roboto"/>
                <a:cs typeface="Roboto"/>
              </a:rPr>
              <a:t> </a:t>
            </a:r>
            <a:r>
              <a:rPr sz="1200" dirty="0">
                <a:latin typeface="Roboto"/>
                <a:cs typeface="Roboto"/>
              </a:rPr>
              <a:t>you</a:t>
            </a:r>
            <a:r>
              <a:rPr sz="1200" spc="-20" dirty="0">
                <a:latin typeface="Roboto"/>
                <a:cs typeface="Roboto"/>
              </a:rPr>
              <a:t> </a:t>
            </a:r>
            <a:r>
              <a:rPr sz="1200" dirty="0">
                <a:latin typeface="Roboto"/>
                <a:cs typeface="Roboto"/>
              </a:rPr>
              <a:t>a</a:t>
            </a:r>
            <a:r>
              <a:rPr sz="1200" spc="-20" dirty="0">
                <a:latin typeface="Roboto"/>
                <a:cs typeface="Roboto"/>
              </a:rPr>
              <a:t> </a:t>
            </a:r>
            <a:r>
              <a:rPr sz="1200" dirty="0">
                <a:latin typeface="Roboto"/>
                <a:cs typeface="Roboto"/>
              </a:rPr>
              <a:t>unique</a:t>
            </a:r>
            <a:r>
              <a:rPr sz="1200" spc="-18" dirty="0">
                <a:latin typeface="Roboto"/>
                <a:cs typeface="Roboto"/>
              </a:rPr>
              <a:t> </a:t>
            </a:r>
            <a:r>
              <a:rPr sz="1200" dirty="0">
                <a:latin typeface="Roboto"/>
                <a:cs typeface="Roboto"/>
              </a:rPr>
              <a:t>MAC</a:t>
            </a:r>
            <a:r>
              <a:rPr sz="1200" spc="-20" dirty="0">
                <a:latin typeface="Roboto"/>
                <a:cs typeface="Roboto"/>
              </a:rPr>
              <a:t> </a:t>
            </a:r>
            <a:r>
              <a:rPr sz="1200" dirty="0">
                <a:latin typeface="Roboto"/>
                <a:cs typeface="Roboto"/>
              </a:rPr>
              <a:t>address</a:t>
            </a:r>
            <a:r>
              <a:rPr sz="1200" spc="-20" dirty="0">
                <a:latin typeface="Roboto"/>
                <a:cs typeface="Roboto"/>
              </a:rPr>
              <a:t> </a:t>
            </a:r>
            <a:r>
              <a:rPr sz="1200" dirty="0">
                <a:latin typeface="Roboto"/>
                <a:cs typeface="Roboto"/>
              </a:rPr>
              <a:t>which</a:t>
            </a:r>
            <a:r>
              <a:rPr sz="1200" spc="-18" dirty="0">
                <a:latin typeface="Roboto"/>
                <a:cs typeface="Roboto"/>
              </a:rPr>
              <a:t> </a:t>
            </a:r>
            <a:r>
              <a:rPr sz="1200" dirty="0">
                <a:latin typeface="Roboto"/>
                <a:cs typeface="Roboto"/>
              </a:rPr>
              <a:t>can</a:t>
            </a:r>
            <a:r>
              <a:rPr sz="1200" spc="-20" dirty="0">
                <a:latin typeface="Roboto"/>
                <a:cs typeface="Roboto"/>
              </a:rPr>
              <a:t> </a:t>
            </a:r>
            <a:r>
              <a:rPr sz="1200" spc="-13" dirty="0">
                <a:latin typeface="Roboto"/>
                <a:cs typeface="Roboto"/>
              </a:rPr>
              <a:t>be </a:t>
            </a:r>
            <a:r>
              <a:rPr sz="1200" dirty="0">
                <a:latin typeface="Roboto"/>
                <a:cs typeface="Roboto"/>
              </a:rPr>
              <a:t>used</a:t>
            </a:r>
            <a:r>
              <a:rPr sz="1200" spc="-30" dirty="0">
                <a:latin typeface="Roboto"/>
                <a:cs typeface="Roboto"/>
              </a:rPr>
              <a:t> </a:t>
            </a:r>
            <a:r>
              <a:rPr sz="1200" dirty="0">
                <a:latin typeface="Roboto"/>
                <a:cs typeface="Roboto"/>
              </a:rPr>
              <a:t>for</a:t>
            </a:r>
            <a:r>
              <a:rPr sz="1200" spc="-30" dirty="0">
                <a:latin typeface="Roboto"/>
                <a:cs typeface="Roboto"/>
              </a:rPr>
              <a:t> </a:t>
            </a:r>
            <a:r>
              <a:rPr sz="1200" dirty="0">
                <a:latin typeface="Roboto"/>
                <a:cs typeface="Roboto"/>
              </a:rPr>
              <a:t>licensing</a:t>
            </a:r>
            <a:r>
              <a:rPr sz="1200" spc="-30" dirty="0">
                <a:latin typeface="Roboto"/>
                <a:cs typeface="Roboto"/>
              </a:rPr>
              <a:t> </a:t>
            </a:r>
            <a:r>
              <a:rPr sz="1200" spc="-5" dirty="0">
                <a:latin typeface="Roboto"/>
                <a:cs typeface="Roboto"/>
              </a:rPr>
              <a:t>purpose</a:t>
            </a:r>
            <a:endParaRPr sz="1200">
              <a:latin typeface="Roboto"/>
              <a:cs typeface="Roboto"/>
            </a:endParaRPr>
          </a:p>
        </p:txBody>
      </p:sp>
      <p:sp>
        <p:nvSpPr>
          <p:cNvPr id="9" name="object 9"/>
          <p:cNvSpPr txBox="1"/>
          <p:nvPr/>
        </p:nvSpPr>
        <p:spPr>
          <a:xfrm>
            <a:off x="599008" y="4001582"/>
            <a:ext cx="597853" cy="416524"/>
          </a:xfrm>
          <a:prstGeom prst="rect">
            <a:avLst/>
          </a:prstGeom>
        </p:spPr>
        <p:txBody>
          <a:bodyPr vert="horz" wrap="square" lIns="0" tIns="6350" rIns="0" bIns="0" rtlCol="0">
            <a:spAutoFit/>
          </a:bodyPr>
          <a:lstStyle/>
          <a:p>
            <a:pPr marL="15558" marR="2540" indent="-9525">
              <a:lnSpc>
                <a:spcPct val="114599"/>
              </a:lnSpc>
              <a:spcBef>
                <a:spcPts val="50"/>
              </a:spcBef>
            </a:pPr>
            <a:r>
              <a:rPr sz="1200" b="1" spc="-5" dirty="0">
                <a:latin typeface="Roboto"/>
                <a:cs typeface="Roboto"/>
              </a:rPr>
              <a:t>Tenancy Options:</a:t>
            </a:r>
            <a:endParaRPr sz="1200">
              <a:latin typeface="Roboto"/>
              <a:cs typeface="Roboto"/>
            </a:endParaRPr>
          </a:p>
        </p:txBody>
      </p:sp>
      <p:sp>
        <p:nvSpPr>
          <p:cNvPr id="10" name="object 10"/>
          <p:cNvSpPr txBox="1"/>
          <p:nvPr/>
        </p:nvSpPr>
        <p:spPr>
          <a:xfrm>
            <a:off x="1330521" y="4001582"/>
            <a:ext cx="7576503" cy="841256"/>
          </a:xfrm>
          <a:prstGeom prst="rect">
            <a:avLst/>
          </a:prstGeom>
        </p:spPr>
        <p:txBody>
          <a:bodyPr vert="horz" wrap="square" lIns="0" tIns="6350" rIns="0" bIns="0" rtlCol="0">
            <a:spAutoFit/>
          </a:bodyPr>
          <a:lstStyle/>
          <a:p>
            <a:pPr marL="6350" marR="2540">
              <a:lnSpc>
                <a:spcPct val="114599"/>
              </a:lnSpc>
              <a:spcBef>
                <a:spcPts val="50"/>
              </a:spcBef>
            </a:pPr>
            <a:r>
              <a:rPr sz="1200" dirty="0">
                <a:latin typeface="Roboto"/>
                <a:cs typeface="Roboto"/>
              </a:rPr>
              <a:t>Tenancy</a:t>
            </a:r>
            <a:r>
              <a:rPr sz="1200" spc="-28" dirty="0">
                <a:latin typeface="Roboto"/>
                <a:cs typeface="Roboto"/>
              </a:rPr>
              <a:t> </a:t>
            </a:r>
            <a:r>
              <a:rPr sz="1200" dirty="0">
                <a:latin typeface="Roboto"/>
                <a:cs typeface="Roboto"/>
              </a:rPr>
              <a:t>options</a:t>
            </a:r>
            <a:r>
              <a:rPr sz="1200" spc="-28" dirty="0">
                <a:latin typeface="Roboto"/>
                <a:cs typeface="Roboto"/>
              </a:rPr>
              <a:t> </a:t>
            </a:r>
            <a:r>
              <a:rPr sz="1200" dirty="0">
                <a:latin typeface="Roboto"/>
                <a:cs typeface="Roboto"/>
              </a:rPr>
              <a:t>are</a:t>
            </a:r>
            <a:r>
              <a:rPr sz="1200" spc="-28" dirty="0">
                <a:latin typeface="Roboto"/>
                <a:cs typeface="Roboto"/>
              </a:rPr>
              <a:t> </a:t>
            </a:r>
            <a:r>
              <a:rPr sz="1200" dirty="0">
                <a:latin typeface="Roboto"/>
                <a:cs typeface="Roboto"/>
              </a:rPr>
              <a:t>either</a:t>
            </a:r>
            <a:r>
              <a:rPr sz="1200" spc="-28" dirty="0">
                <a:latin typeface="Roboto"/>
                <a:cs typeface="Roboto"/>
              </a:rPr>
              <a:t> </a:t>
            </a:r>
            <a:r>
              <a:rPr sz="1200" dirty="0">
                <a:latin typeface="Roboto"/>
                <a:cs typeface="Roboto"/>
              </a:rPr>
              <a:t>shared</a:t>
            </a:r>
            <a:r>
              <a:rPr sz="1200" spc="-25" dirty="0">
                <a:latin typeface="Roboto"/>
                <a:cs typeface="Roboto"/>
              </a:rPr>
              <a:t> </a:t>
            </a:r>
            <a:r>
              <a:rPr sz="1200" dirty="0">
                <a:latin typeface="Roboto"/>
                <a:cs typeface="Roboto"/>
              </a:rPr>
              <a:t>or</a:t>
            </a:r>
            <a:r>
              <a:rPr sz="1200" spc="-28" dirty="0">
                <a:latin typeface="Roboto"/>
                <a:cs typeface="Roboto"/>
              </a:rPr>
              <a:t> </a:t>
            </a:r>
            <a:r>
              <a:rPr sz="1200" dirty="0">
                <a:latin typeface="Roboto"/>
                <a:cs typeface="Roboto"/>
              </a:rPr>
              <a:t>dedicated,</a:t>
            </a:r>
            <a:r>
              <a:rPr sz="1200" spc="-28" dirty="0">
                <a:latin typeface="Roboto"/>
                <a:cs typeface="Roboto"/>
              </a:rPr>
              <a:t> </a:t>
            </a:r>
            <a:r>
              <a:rPr sz="1200" dirty="0">
                <a:latin typeface="Roboto"/>
                <a:cs typeface="Roboto"/>
              </a:rPr>
              <a:t>inside</a:t>
            </a:r>
            <a:r>
              <a:rPr sz="1200" spc="-28" dirty="0">
                <a:latin typeface="Roboto"/>
                <a:cs typeface="Roboto"/>
              </a:rPr>
              <a:t> </a:t>
            </a:r>
            <a:r>
              <a:rPr sz="1200" dirty="0">
                <a:latin typeface="Roboto"/>
                <a:cs typeface="Roboto"/>
              </a:rPr>
              <a:t>VPC.</a:t>
            </a:r>
            <a:r>
              <a:rPr sz="1200" spc="-28" dirty="0">
                <a:latin typeface="Roboto"/>
                <a:cs typeface="Roboto"/>
              </a:rPr>
              <a:t> </a:t>
            </a:r>
            <a:r>
              <a:rPr sz="1200" dirty="0">
                <a:latin typeface="Roboto"/>
                <a:cs typeface="Roboto"/>
              </a:rPr>
              <a:t>while</a:t>
            </a:r>
            <a:r>
              <a:rPr sz="1200" spc="-25" dirty="0">
                <a:latin typeface="Roboto"/>
                <a:cs typeface="Roboto"/>
              </a:rPr>
              <a:t> </a:t>
            </a:r>
            <a:r>
              <a:rPr sz="1200" spc="-5" dirty="0">
                <a:latin typeface="Roboto"/>
                <a:cs typeface="Roboto"/>
              </a:rPr>
              <a:t>creating/assigning</a:t>
            </a:r>
            <a:r>
              <a:rPr sz="1200" spc="-28" dirty="0">
                <a:latin typeface="Roboto"/>
                <a:cs typeface="Roboto"/>
              </a:rPr>
              <a:t> </a:t>
            </a:r>
            <a:r>
              <a:rPr sz="1200" dirty="0">
                <a:latin typeface="Roboto"/>
                <a:cs typeface="Roboto"/>
              </a:rPr>
              <a:t>resources,</a:t>
            </a:r>
            <a:r>
              <a:rPr sz="1200" spc="-28" dirty="0">
                <a:latin typeface="Roboto"/>
                <a:cs typeface="Roboto"/>
              </a:rPr>
              <a:t> </a:t>
            </a:r>
            <a:r>
              <a:rPr sz="1200" dirty="0">
                <a:latin typeface="Roboto"/>
                <a:cs typeface="Roboto"/>
              </a:rPr>
              <a:t>you</a:t>
            </a:r>
            <a:r>
              <a:rPr sz="1200" spc="-28" dirty="0">
                <a:latin typeface="Roboto"/>
                <a:cs typeface="Roboto"/>
              </a:rPr>
              <a:t> </a:t>
            </a:r>
            <a:r>
              <a:rPr sz="1200" dirty="0">
                <a:latin typeface="Roboto"/>
                <a:cs typeface="Roboto"/>
              </a:rPr>
              <a:t>have</a:t>
            </a:r>
            <a:r>
              <a:rPr sz="1200" spc="-28" dirty="0">
                <a:latin typeface="Roboto"/>
                <a:cs typeface="Roboto"/>
              </a:rPr>
              <a:t> </a:t>
            </a:r>
            <a:r>
              <a:rPr sz="1200" spc="-13" dirty="0">
                <a:latin typeface="Roboto"/>
                <a:cs typeface="Roboto"/>
              </a:rPr>
              <a:t>the </a:t>
            </a:r>
            <a:r>
              <a:rPr sz="1200" dirty="0">
                <a:latin typeface="Roboto"/>
                <a:cs typeface="Roboto"/>
              </a:rPr>
              <a:t>option</a:t>
            </a:r>
            <a:r>
              <a:rPr sz="1200" spc="-28" dirty="0">
                <a:latin typeface="Roboto"/>
                <a:cs typeface="Roboto"/>
              </a:rPr>
              <a:t> </a:t>
            </a:r>
            <a:r>
              <a:rPr sz="1200" dirty="0">
                <a:latin typeface="Roboto"/>
                <a:cs typeface="Roboto"/>
              </a:rPr>
              <a:t>to</a:t>
            </a:r>
            <a:r>
              <a:rPr sz="1200" spc="-25" dirty="0">
                <a:latin typeface="Roboto"/>
                <a:cs typeface="Roboto"/>
              </a:rPr>
              <a:t> </a:t>
            </a:r>
            <a:r>
              <a:rPr sz="1200" dirty="0">
                <a:latin typeface="Roboto"/>
                <a:cs typeface="Roboto"/>
              </a:rPr>
              <a:t>select</a:t>
            </a:r>
            <a:r>
              <a:rPr sz="1200" spc="-25" dirty="0">
                <a:latin typeface="Roboto"/>
                <a:cs typeface="Roboto"/>
              </a:rPr>
              <a:t> </a:t>
            </a:r>
            <a:r>
              <a:rPr sz="1200" dirty="0">
                <a:latin typeface="Roboto"/>
                <a:cs typeface="Roboto"/>
              </a:rPr>
              <a:t>tenancy,</a:t>
            </a:r>
            <a:r>
              <a:rPr sz="1200" spc="-25" dirty="0">
                <a:latin typeface="Roboto"/>
                <a:cs typeface="Roboto"/>
              </a:rPr>
              <a:t> </a:t>
            </a:r>
            <a:r>
              <a:rPr sz="1200" dirty="0">
                <a:latin typeface="Roboto"/>
                <a:cs typeface="Roboto"/>
              </a:rPr>
              <a:t>either</a:t>
            </a:r>
            <a:r>
              <a:rPr sz="1200" spc="-25" dirty="0">
                <a:latin typeface="Roboto"/>
                <a:cs typeface="Roboto"/>
              </a:rPr>
              <a:t> </a:t>
            </a:r>
            <a:r>
              <a:rPr sz="1200" dirty="0">
                <a:latin typeface="Roboto"/>
                <a:cs typeface="Roboto"/>
              </a:rPr>
              <a:t>shared</a:t>
            </a:r>
            <a:r>
              <a:rPr sz="1200" spc="-25" dirty="0">
                <a:latin typeface="Roboto"/>
                <a:cs typeface="Roboto"/>
              </a:rPr>
              <a:t> </a:t>
            </a:r>
            <a:r>
              <a:rPr sz="1200" dirty="0">
                <a:latin typeface="Roboto"/>
                <a:cs typeface="Roboto"/>
              </a:rPr>
              <a:t>which</a:t>
            </a:r>
            <a:r>
              <a:rPr sz="1200" spc="-25" dirty="0">
                <a:latin typeface="Roboto"/>
                <a:cs typeface="Roboto"/>
              </a:rPr>
              <a:t> </a:t>
            </a:r>
            <a:r>
              <a:rPr sz="1200" dirty="0">
                <a:latin typeface="Roboto"/>
                <a:cs typeface="Roboto"/>
              </a:rPr>
              <a:t>is</a:t>
            </a:r>
            <a:r>
              <a:rPr sz="1200" spc="-28" dirty="0">
                <a:latin typeface="Roboto"/>
                <a:cs typeface="Roboto"/>
              </a:rPr>
              <a:t> </a:t>
            </a:r>
            <a:r>
              <a:rPr sz="1200" dirty="0">
                <a:latin typeface="Roboto"/>
                <a:cs typeface="Roboto"/>
              </a:rPr>
              <a:t>virtually</a:t>
            </a:r>
            <a:r>
              <a:rPr sz="1200" spc="-25" dirty="0">
                <a:latin typeface="Roboto"/>
                <a:cs typeface="Roboto"/>
              </a:rPr>
              <a:t> </a:t>
            </a:r>
            <a:r>
              <a:rPr sz="1200" dirty="0">
                <a:latin typeface="Roboto"/>
                <a:cs typeface="Roboto"/>
              </a:rPr>
              <a:t>assigned</a:t>
            </a:r>
            <a:r>
              <a:rPr sz="1200" spc="-25" dirty="0">
                <a:latin typeface="Roboto"/>
                <a:cs typeface="Roboto"/>
              </a:rPr>
              <a:t> </a:t>
            </a:r>
            <a:r>
              <a:rPr sz="1200" dirty="0">
                <a:latin typeface="Roboto"/>
                <a:cs typeface="Roboto"/>
              </a:rPr>
              <a:t>to</a:t>
            </a:r>
            <a:r>
              <a:rPr sz="1200" spc="-25" dirty="0">
                <a:latin typeface="Roboto"/>
                <a:cs typeface="Roboto"/>
              </a:rPr>
              <a:t> </a:t>
            </a:r>
            <a:r>
              <a:rPr sz="1200" dirty="0">
                <a:latin typeface="Roboto"/>
                <a:cs typeface="Roboto"/>
              </a:rPr>
              <a:t>a</a:t>
            </a:r>
            <a:r>
              <a:rPr sz="1200" spc="-25" dirty="0">
                <a:latin typeface="Roboto"/>
                <a:cs typeface="Roboto"/>
              </a:rPr>
              <a:t> </a:t>
            </a:r>
            <a:r>
              <a:rPr sz="1200" dirty="0">
                <a:latin typeface="Roboto"/>
                <a:cs typeface="Roboto"/>
              </a:rPr>
              <a:t>common</a:t>
            </a:r>
            <a:r>
              <a:rPr sz="1200" spc="-25" dirty="0">
                <a:latin typeface="Roboto"/>
                <a:cs typeface="Roboto"/>
              </a:rPr>
              <a:t> </a:t>
            </a:r>
            <a:r>
              <a:rPr sz="1200" dirty="0">
                <a:latin typeface="Roboto"/>
                <a:cs typeface="Roboto"/>
              </a:rPr>
              <a:t>pool</a:t>
            </a:r>
            <a:r>
              <a:rPr sz="1200" spc="-25" dirty="0">
                <a:latin typeface="Roboto"/>
                <a:cs typeface="Roboto"/>
              </a:rPr>
              <a:t> </a:t>
            </a:r>
            <a:r>
              <a:rPr sz="1200" dirty="0">
                <a:latin typeface="Roboto"/>
                <a:cs typeface="Roboto"/>
              </a:rPr>
              <a:t>of</a:t>
            </a:r>
            <a:r>
              <a:rPr sz="1200" spc="-25" dirty="0">
                <a:latin typeface="Roboto"/>
                <a:cs typeface="Roboto"/>
              </a:rPr>
              <a:t> </a:t>
            </a:r>
            <a:r>
              <a:rPr sz="1200" dirty="0">
                <a:latin typeface="Roboto"/>
                <a:cs typeface="Roboto"/>
              </a:rPr>
              <a:t>resources,</a:t>
            </a:r>
            <a:r>
              <a:rPr sz="1200" spc="-28" dirty="0">
                <a:latin typeface="Roboto"/>
                <a:cs typeface="Roboto"/>
              </a:rPr>
              <a:t> </a:t>
            </a:r>
            <a:r>
              <a:rPr sz="1200" dirty="0">
                <a:latin typeface="Roboto"/>
                <a:cs typeface="Roboto"/>
              </a:rPr>
              <a:t>and</a:t>
            </a:r>
            <a:r>
              <a:rPr sz="1200" spc="-25" dirty="0">
                <a:latin typeface="Roboto"/>
                <a:cs typeface="Roboto"/>
              </a:rPr>
              <a:t> </a:t>
            </a:r>
            <a:r>
              <a:rPr sz="1200" spc="-5" dirty="0">
                <a:latin typeface="Roboto"/>
                <a:cs typeface="Roboto"/>
              </a:rPr>
              <a:t>dedicated </a:t>
            </a:r>
            <a:r>
              <a:rPr sz="1200" dirty="0">
                <a:latin typeface="Roboto"/>
                <a:cs typeface="Roboto"/>
              </a:rPr>
              <a:t>in</a:t>
            </a:r>
            <a:r>
              <a:rPr sz="1200" spc="-23" dirty="0">
                <a:latin typeface="Roboto"/>
                <a:cs typeface="Roboto"/>
              </a:rPr>
              <a:t> </a:t>
            </a:r>
            <a:r>
              <a:rPr sz="1200" dirty="0">
                <a:latin typeface="Roboto"/>
                <a:cs typeface="Roboto"/>
              </a:rPr>
              <a:t>which</a:t>
            </a:r>
            <a:r>
              <a:rPr sz="1200" spc="-20" dirty="0">
                <a:latin typeface="Roboto"/>
                <a:cs typeface="Roboto"/>
              </a:rPr>
              <a:t> </a:t>
            </a:r>
            <a:r>
              <a:rPr sz="1200" dirty="0">
                <a:latin typeface="Roboto"/>
                <a:cs typeface="Roboto"/>
              </a:rPr>
              <a:t>you</a:t>
            </a:r>
            <a:r>
              <a:rPr sz="1200" spc="-20" dirty="0">
                <a:latin typeface="Roboto"/>
                <a:cs typeface="Roboto"/>
              </a:rPr>
              <a:t> </a:t>
            </a:r>
            <a:r>
              <a:rPr sz="1200" dirty="0">
                <a:latin typeface="Roboto"/>
                <a:cs typeface="Roboto"/>
              </a:rPr>
              <a:t>get</a:t>
            </a:r>
            <a:r>
              <a:rPr sz="1200" spc="-20" dirty="0">
                <a:latin typeface="Roboto"/>
                <a:cs typeface="Roboto"/>
              </a:rPr>
              <a:t> </a:t>
            </a:r>
            <a:r>
              <a:rPr sz="1200" dirty="0">
                <a:latin typeface="Roboto"/>
                <a:cs typeface="Roboto"/>
              </a:rPr>
              <a:t>dedicated</a:t>
            </a:r>
            <a:r>
              <a:rPr sz="1200" spc="-20" dirty="0">
                <a:latin typeface="Roboto"/>
                <a:cs typeface="Roboto"/>
              </a:rPr>
              <a:t> </a:t>
            </a:r>
            <a:r>
              <a:rPr sz="1200" dirty="0">
                <a:latin typeface="Roboto"/>
                <a:cs typeface="Roboto"/>
              </a:rPr>
              <a:t>hardware</a:t>
            </a:r>
            <a:r>
              <a:rPr sz="1200" spc="-20" dirty="0">
                <a:latin typeface="Roboto"/>
                <a:cs typeface="Roboto"/>
              </a:rPr>
              <a:t> </a:t>
            </a:r>
            <a:r>
              <a:rPr sz="1200" dirty="0">
                <a:latin typeface="Roboto"/>
                <a:cs typeface="Roboto"/>
              </a:rPr>
              <a:t>for</a:t>
            </a:r>
            <a:r>
              <a:rPr sz="1200" spc="-20" dirty="0">
                <a:latin typeface="Roboto"/>
                <a:cs typeface="Roboto"/>
              </a:rPr>
              <a:t> </a:t>
            </a:r>
            <a:r>
              <a:rPr sz="1200" dirty="0">
                <a:latin typeface="Roboto"/>
                <a:cs typeface="Roboto"/>
              </a:rPr>
              <a:t>a</a:t>
            </a:r>
            <a:r>
              <a:rPr sz="1200" spc="-20" dirty="0">
                <a:latin typeface="Roboto"/>
                <a:cs typeface="Roboto"/>
              </a:rPr>
              <a:t> </a:t>
            </a:r>
            <a:r>
              <a:rPr sz="1200" dirty="0">
                <a:latin typeface="Roboto"/>
                <a:cs typeface="Roboto"/>
              </a:rPr>
              <a:t>pool</a:t>
            </a:r>
            <a:r>
              <a:rPr sz="1200" spc="-20" dirty="0">
                <a:latin typeface="Roboto"/>
                <a:cs typeface="Roboto"/>
              </a:rPr>
              <a:t> </a:t>
            </a:r>
            <a:r>
              <a:rPr sz="1200" dirty="0">
                <a:latin typeface="Roboto"/>
                <a:cs typeface="Roboto"/>
              </a:rPr>
              <a:t>of</a:t>
            </a:r>
            <a:r>
              <a:rPr sz="1200" spc="-20" dirty="0">
                <a:latin typeface="Roboto"/>
                <a:cs typeface="Roboto"/>
              </a:rPr>
              <a:t> </a:t>
            </a:r>
            <a:r>
              <a:rPr sz="1200" dirty="0">
                <a:latin typeface="Roboto"/>
                <a:cs typeface="Roboto"/>
              </a:rPr>
              <a:t>resource</a:t>
            </a:r>
            <a:r>
              <a:rPr sz="1200" spc="-20" dirty="0">
                <a:latin typeface="Roboto"/>
                <a:cs typeface="Roboto"/>
              </a:rPr>
              <a:t> </a:t>
            </a:r>
            <a:r>
              <a:rPr sz="1200" dirty="0">
                <a:latin typeface="Roboto"/>
                <a:cs typeface="Roboto"/>
              </a:rPr>
              <a:t>allocation</a:t>
            </a:r>
            <a:r>
              <a:rPr sz="1200" spc="-20" dirty="0">
                <a:latin typeface="Roboto"/>
                <a:cs typeface="Roboto"/>
              </a:rPr>
              <a:t> </a:t>
            </a:r>
            <a:r>
              <a:rPr sz="1200" dirty="0">
                <a:latin typeface="Roboto"/>
                <a:cs typeface="Roboto"/>
              </a:rPr>
              <a:t>and</a:t>
            </a:r>
            <a:r>
              <a:rPr sz="1200" spc="-20" dirty="0">
                <a:latin typeface="Roboto"/>
                <a:cs typeface="Roboto"/>
              </a:rPr>
              <a:t> </a:t>
            </a:r>
            <a:r>
              <a:rPr sz="1200" dirty="0">
                <a:latin typeface="Roboto"/>
                <a:cs typeface="Roboto"/>
              </a:rPr>
              <a:t>it's</a:t>
            </a:r>
            <a:r>
              <a:rPr sz="1200" spc="-20" dirty="0">
                <a:latin typeface="Roboto"/>
                <a:cs typeface="Roboto"/>
              </a:rPr>
              <a:t> </a:t>
            </a:r>
            <a:r>
              <a:rPr sz="1200" dirty="0">
                <a:latin typeface="Roboto"/>
                <a:cs typeface="Roboto"/>
              </a:rPr>
              <a:t>not</a:t>
            </a:r>
            <a:r>
              <a:rPr sz="1200" spc="-20" dirty="0">
                <a:latin typeface="Roboto"/>
                <a:cs typeface="Roboto"/>
              </a:rPr>
              <a:t> </a:t>
            </a:r>
            <a:r>
              <a:rPr sz="1200" dirty="0">
                <a:latin typeface="Roboto"/>
                <a:cs typeface="Roboto"/>
              </a:rPr>
              <a:t>shared</a:t>
            </a:r>
            <a:r>
              <a:rPr sz="1200" spc="-20" dirty="0">
                <a:latin typeface="Roboto"/>
                <a:cs typeface="Roboto"/>
              </a:rPr>
              <a:t> </a:t>
            </a:r>
            <a:r>
              <a:rPr sz="1200" dirty="0">
                <a:latin typeface="Roboto"/>
                <a:cs typeface="Roboto"/>
              </a:rPr>
              <a:t>with</a:t>
            </a:r>
            <a:r>
              <a:rPr sz="1200" spc="-20" dirty="0">
                <a:latin typeface="Roboto"/>
                <a:cs typeface="Roboto"/>
              </a:rPr>
              <a:t> </a:t>
            </a:r>
            <a:r>
              <a:rPr sz="1200" dirty="0">
                <a:latin typeface="Roboto"/>
                <a:cs typeface="Roboto"/>
              </a:rPr>
              <a:t>anyone,</a:t>
            </a:r>
            <a:r>
              <a:rPr sz="1200" spc="-20" dirty="0">
                <a:latin typeface="Roboto"/>
                <a:cs typeface="Roboto"/>
              </a:rPr>
              <a:t> </a:t>
            </a:r>
            <a:r>
              <a:rPr sz="1200" dirty="0">
                <a:latin typeface="Roboto"/>
                <a:cs typeface="Roboto"/>
              </a:rPr>
              <a:t>it</a:t>
            </a:r>
            <a:r>
              <a:rPr sz="1200" spc="-20" dirty="0">
                <a:latin typeface="Roboto"/>
                <a:cs typeface="Roboto"/>
              </a:rPr>
              <a:t> </a:t>
            </a:r>
            <a:r>
              <a:rPr sz="1200" spc="-5" dirty="0">
                <a:latin typeface="Roboto"/>
                <a:cs typeface="Roboto"/>
              </a:rPr>
              <a:t>often </a:t>
            </a:r>
            <a:r>
              <a:rPr sz="1200" dirty="0">
                <a:latin typeface="Roboto"/>
                <a:cs typeface="Roboto"/>
              </a:rPr>
              <a:t>required</a:t>
            </a:r>
            <a:r>
              <a:rPr sz="1200" spc="-28" dirty="0">
                <a:latin typeface="Roboto"/>
                <a:cs typeface="Roboto"/>
              </a:rPr>
              <a:t> </a:t>
            </a:r>
            <a:r>
              <a:rPr sz="1200" dirty="0">
                <a:latin typeface="Roboto"/>
                <a:cs typeface="Roboto"/>
              </a:rPr>
              <a:t>for</a:t>
            </a:r>
            <a:r>
              <a:rPr sz="1200" spc="-28" dirty="0">
                <a:latin typeface="Roboto"/>
                <a:cs typeface="Roboto"/>
              </a:rPr>
              <a:t> </a:t>
            </a:r>
            <a:r>
              <a:rPr sz="1200" dirty="0">
                <a:latin typeface="Roboto"/>
                <a:cs typeface="Roboto"/>
              </a:rPr>
              <a:t>regulatory</a:t>
            </a:r>
            <a:r>
              <a:rPr sz="1200" spc="-28" dirty="0">
                <a:latin typeface="Roboto"/>
                <a:cs typeface="Roboto"/>
              </a:rPr>
              <a:t> </a:t>
            </a:r>
            <a:r>
              <a:rPr sz="1200" dirty="0">
                <a:latin typeface="Roboto"/>
                <a:cs typeface="Roboto"/>
              </a:rPr>
              <a:t>purposes,</a:t>
            </a:r>
            <a:r>
              <a:rPr sz="1200" spc="-28" dirty="0">
                <a:latin typeface="Roboto"/>
                <a:cs typeface="Roboto"/>
              </a:rPr>
              <a:t> </a:t>
            </a:r>
            <a:r>
              <a:rPr sz="1200" dirty="0">
                <a:latin typeface="Roboto"/>
                <a:cs typeface="Roboto"/>
              </a:rPr>
              <a:t>but</a:t>
            </a:r>
            <a:r>
              <a:rPr sz="1200" spc="-28" dirty="0">
                <a:latin typeface="Roboto"/>
                <a:cs typeface="Roboto"/>
              </a:rPr>
              <a:t> </a:t>
            </a:r>
            <a:r>
              <a:rPr sz="1200" dirty="0">
                <a:latin typeface="Roboto"/>
                <a:cs typeface="Roboto"/>
              </a:rPr>
              <a:t>cost</a:t>
            </a:r>
            <a:r>
              <a:rPr sz="1200" spc="-28" dirty="0">
                <a:latin typeface="Roboto"/>
                <a:cs typeface="Roboto"/>
              </a:rPr>
              <a:t> </a:t>
            </a:r>
            <a:r>
              <a:rPr sz="1200" dirty="0">
                <a:latin typeface="Roboto"/>
                <a:cs typeface="Roboto"/>
              </a:rPr>
              <a:t>is</a:t>
            </a:r>
            <a:r>
              <a:rPr sz="1200" spc="-28" dirty="0">
                <a:latin typeface="Roboto"/>
                <a:cs typeface="Roboto"/>
              </a:rPr>
              <a:t> </a:t>
            </a:r>
            <a:r>
              <a:rPr sz="1200" dirty="0">
                <a:latin typeface="Roboto"/>
                <a:cs typeface="Roboto"/>
              </a:rPr>
              <a:t>higher</a:t>
            </a:r>
            <a:r>
              <a:rPr sz="1200" spc="-28" dirty="0">
                <a:latin typeface="Roboto"/>
                <a:cs typeface="Roboto"/>
              </a:rPr>
              <a:t> </a:t>
            </a:r>
            <a:r>
              <a:rPr sz="1200" dirty="0">
                <a:latin typeface="Roboto"/>
                <a:cs typeface="Roboto"/>
              </a:rPr>
              <a:t>than</a:t>
            </a:r>
            <a:r>
              <a:rPr sz="1200" spc="-25" dirty="0">
                <a:latin typeface="Roboto"/>
                <a:cs typeface="Roboto"/>
              </a:rPr>
              <a:t> </a:t>
            </a:r>
            <a:r>
              <a:rPr sz="1200" dirty="0">
                <a:latin typeface="Roboto"/>
                <a:cs typeface="Roboto"/>
              </a:rPr>
              <a:t>shared</a:t>
            </a:r>
            <a:r>
              <a:rPr sz="1200" spc="-28" dirty="0">
                <a:latin typeface="Roboto"/>
                <a:cs typeface="Roboto"/>
              </a:rPr>
              <a:t> </a:t>
            </a:r>
            <a:r>
              <a:rPr sz="1200" spc="-5" dirty="0">
                <a:latin typeface="Roboto"/>
                <a:cs typeface="Roboto"/>
              </a:rPr>
              <a:t>tendency.</a:t>
            </a:r>
            <a:endParaRPr sz="1200">
              <a:latin typeface="Roboto"/>
              <a:cs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4"/>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Elastic Compute Cloud (EC2)</a:t>
            </a:r>
            <a:endParaRPr/>
          </a:p>
        </p:txBody>
      </p:sp>
      <p:sp>
        <p:nvSpPr>
          <p:cNvPr id="159" name="Google Shape;159;p24"/>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p>
            <a:pPr marL="457200" lvl="0" indent="-323850" algn="l" rtl="0">
              <a:spcBef>
                <a:spcPts val="0"/>
              </a:spcBef>
              <a:spcAft>
                <a:spcPts val="0"/>
              </a:spcAft>
              <a:buSzPts val="1500"/>
              <a:buChar char="●"/>
            </a:pPr>
            <a:r>
              <a:rPr lang="en" sz="1500"/>
              <a:t>Instance types</a:t>
            </a:r>
            <a:endParaRPr sz="1500"/>
          </a:p>
          <a:p>
            <a:pPr marL="457200" lvl="0" indent="-323850" algn="l" rtl="0">
              <a:spcBef>
                <a:spcPts val="0"/>
              </a:spcBef>
              <a:spcAft>
                <a:spcPts val="0"/>
              </a:spcAft>
              <a:buSzPts val="1500"/>
              <a:buChar char="●"/>
            </a:pPr>
            <a:r>
              <a:rPr lang="en" sz="1500"/>
              <a:t>Amazon Machine Images (AMI)</a:t>
            </a:r>
            <a:endParaRPr sz="1500"/>
          </a:p>
          <a:p>
            <a:pPr marL="457200" lvl="0" indent="-323850" algn="l" rtl="0">
              <a:spcBef>
                <a:spcPts val="0"/>
              </a:spcBef>
              <a:spcAft>
                <a:spcPts val="0"/>
              </a:spcAft>
              <a:buSzPts val="1500"/>
              <a:buChar char="●"/>
            </a:pPr>
            <a:r>
              <a:rPr lang="en" sz="1500"/>
              <a:t>Elastic IPs</a:t>
            </a:r>
            <a:endParaRPr sz="1500"/>
          </a:p>
          <a:p>
            <a:pPr marL="457200" lvl="0" indent="-323850" algn="l" rtl="0">
              <a:spcBef>
                <a:spcPts val="0"/>
              </a:spcBef>
              <a:spcAft>
                <a:spcPts val="0"/>
              </a:spcAft>
              <a:buSzPts val="1500"/>
              <a:buChar char="●"/>
            </a:pPr>
            <a:r>
              <a:rPr lang="en" sz="1500"/>
              <a:t>Auto Scaling</a:t>
            </a:r>
            <a:endParaRPr sz="1500"/>
          </a:p>
          <a:p>
            <a:pPr marL="457200" lvl="0" indent="-323850" algn="l" rtl="0">
              <a:spcBef>
                <a:spcPts val="0"/>
              </a:spcBef>
              <a:spcAft>
                <a:spcPts val="0"/>
              </a:spcAft>
              <a:buSzPts val="1500"/>
              <a:buChar char="●"/>
            </a:pPr>
            <a:r>
              <a:rPr lang="en" sz="1500"/>
              <a:t>Elastic Block Storage (EBS)</a:t>
            </a:r>
            <a:endParaRPr sz="1500"/>
          </a:p>
          <a:p>
            <a:pPr marL="457200" lvl="0" indent="-323850" algn="l" rtl="0">
              <a:spcBef>
                <a:spcPts val="0"/>
              </a:spcBef>
              <a:spcAft>
                <a:spcPts val="0"/>
              </a:spcAft>
              <a:buSzPts val="1500"/>
              <a:buChar char="●"/>
            </a:pPr>
            <a:r>
              <a:rPr lang="en" sz="1500"/>
              <a:t>Snapshots</a:t>
            </a:r>
            <a:endParaRPr sz="1500"/>
          </a:p>
        </p:txBody>
      </p:sp>
      <p:pic>
        <p:nvPicPr>
          <p:cNvPr id="160" name="Google Shape;160;p24"/>
          <p:cNvPicPr preferRelativeResize="0"/>
          <p:nvPr/>
        </p:nvPicPr>
        <p:blipFill>
          <a:blip r:embed="rId3">
            <a:alphaModFix/>
          </a:blip>
          <a:stretch>
            <a:fillRect/>
          </a:stretch>
        </p:blipFill>
        <p:spPr>
          <a:xfrm>
            <a:off x="1348275" y="2237075"/>
            <a:ext cx="1243201" cy="15054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1676" y="107983"/>
            <a:ext cx="1346835" cy="403957"/>
          </a:xfrm>
          <a:prstGeom prst="rect">
            <a:avLst/>
          </a:prstGeom>
        </p:spPr>
        <p:txBody>
          <a:bodyPr spcFirstLastPara="1" vert="horz" wrap="square" lIns="0" tIns="6350" rIns="0" bIns="0" rtlCol="0" anchor="t" anchorCtr="0">
            <a:spAutoFit/>
          </a:bodyPr>
          <a:lstStyle/>
          <a:p>
            <a:pPr marL="6350">
              <a:spcBef>
                <a:spcPts val="50"/>
              </a:spcBef>
            </a:pPr>
            <a:r>
              <a:rPr dirty="0"/>
              <a:t>AWS</a:t>
            </a:r>
            <a:r>
              <a:rPr spc="-45" dirty="0"/>
              <a:t> </a:t>
            </a:r>
            <a:r>
              <a:rPr spc="-13" dirty="0"/>
              <a:t>EC2</a:t>
            </a:r>
          </a:p>
        </p:txBody>
      </p:sp>
      <p:sp>
        <p:nvSpPr>
          <p:cNvPr id="3" name="object 3"/>
          <p:cNvSpPr txBox="1"/>
          <p:nvPr/>
        </p:nvSpPr>
        <p:spPr>
          <a:xfrm>
            <a:off x="288038" y="583247"/>
            <a:ext cx="8633143" cy="849784"/>
          </a:xfrm>
          <a:prstGeom prst="rect">
            <a:avLst/>
          </a:prstGeom>
        </p:spPr>
        <p:txBody>
          <a:bodyPr vert="horz" wrap="square" lIns="0" tIns="6350" rIns="0" bIns="0" rtlCol="0">
            <a:spAutoFit/>
          </a:bodyPr>
          <a:lstStyle/>
          <a:p>
            <a:pPr marL="6350">
              <a:spcBef>
                <a:spcPts val="50"/>
              </a:spcBef>
            </a:pPr>
            <a:r>
              <a:rPr sz="900" b="1" dirty="0">
                <a:latin typeface="Open Sans"/>
                <a:cs typeface="Open Sans"/>
              </a:rPr>
              <a:t>Secure</a:t>
            </a:r>
            <a:r>
              <a:rPr sz="900" b="1" spc="-18" dirty="0">
                <a:latin typeface="Open Sans"/>
                <a:cs typeface="Open Sans"/>
              </a:rPr>
              <a:t> </a:t>
            </a:r>
            <a:r>
              <a:rPr sz="900" b="1" dirty="0">
                <a:latin typeface="Open Sans"/>
                <a:cs typeface="Open Sans"/>
              </a:rPr>
              <a:t>and</a:t>
            </a:r>
            <a:r>
              <a:rPr sz="900" b="1" spc="-15" dirty="0">
                <a:latin typeface="Open Sans"/>
                <a:cs typeface="Open Sans"/>
              </a:rPr>
              <a:t> </a:t>
            </a:r>
            <a:r>
              <a:rPr sz="900" b="1" dirty="0">
                <a:latin typeface="Open Sans"/>
                <a:cs typeface="Open Sans"/>
              </a:rPr>
              <a:t>resizable</a:t>
            </a:r>
            <a:r>
              <a:rPr sz="900" b="1" spc="-18" dirty="0">
                <a:latin typeface="Open Sans"/>
                <a:cs typeface="Open Sans"/>
              </a:rPr>
              <a:t> </a:t>
            </a:r>
            <a:r>
              <a:rPr sz="900" b="1" dirty="0">
                <a:latin typeface="Open Sans"/>
                <a:cs typeface="Open Sans"/>
              </a:rPr>
              <a:t>compute</a:t>
            </a:r>
            <a:r>
              <a:rPr sz="900" b="1" spc="-15" dirty="0">
                <a:latin typeface="Open Sans"/>
                <a:cs typeface="Open Sans"/>
              </a:rPr>
              <a:t> </a:t>
            </a:r>
            <a:r>
              <a:rPr sz="900" b="1" dirty="0">
                <a:latin typeface="Open Sans"/>
                <a:cs typeface="Open Sans"/>
              </a:rPr>
              <a:t>capacity</a:t>
            </a:r>
            <a:r>
              <a:rPr sz="900" b="1" spc="-15" dirty="0">
                <a:latin typeface="Open Sans"/>
                <a:cs typeface="Open Sans"/>
              </a:rPr>
              <a:t> </a:t>
            </a:r>
            <a:r>
              <a:rPr sz="900" b="1" dirty="0">
                <a:latin typeface="Open Sans"/>
                <a:cs typeface="Open Sans"/>
              </a:rPr>
              <a:t>to</a:t>
            </a:r>
            <a:r>
              <a:rPr sz="900" b="1" spc="-18" dirty="0">
                <a:latin typeface="Open Sans"/>
                <a:cs typeface="Open Sans"/>
              </a:rPr>
              <a:t> </a:t>
            </a:r>
            <a:r>
              <a:rPr sz="900" b="1" dirty="0">
                <a:latin typeface="Open Sans"/>
                <a:cs typeface="Open Sans"/>
              </a:rPr>
              <a:t>support</a:t>
            </a:r>
            <a:r>
              <a:rPr sz="900" b="1" spc="-15" dirty="0">
                <a:latin typeface="Open Sans"/>
                <a:cs typeface="Open Sans"/>
              </a:rPr>
              <a:t> </a:t>
            </a:r>
            <a:r>
              <a:rPr sz="900" b="1" dirty="0">
                <a:latin typeface="Open Sans"/>
                <a:cs typeface="Open Sans"/>
              </a:rPr>
              <a:t>virtually</a:t>
            </a:r>
            <a:r>
              <a:rPr sz="900" b="1" spc="-15" dirty="0">
                <a:latin typeface="Open Sans"/>
                <a:cs typeface="Open Sans"/>
              </a:rPr>
              <a:t> </a:t>
            </a:r>
            <a:r>
              <a:rPr sz="900" b="1" dirty="0">
                <a:latin typeface="Open Sans"/>
                <a:cs typeface="Open Sans"/>
              </a:rPr>
              <a:t>any</a:t>
            </a:r>
            <a:r>
              <a:rPr sz="900" b="1" spc="-18" dirty="0">
                <a:latin typeface="Open Sans"/>
                <a:cs typeface="Open Sans"/>
              </a:rPr>
              <a:t> </a:t>
            </a:r>
            <a:r>
              <a:rPr sz="900" b="1" dirty="0">
                <a:latin typeface="Open Sans"/>
                <a:cs typeface="Open Sans"/>
              </a:rPr>
              <a:t>workload</a:t>
            </a:r>
            <a:r>
              <a:rPr sz="900" b="1" spc="-15" dirty="0">
                <a:latin typeface="Open Sans"/>
                <a:cs typeface="Open Sans"/>
              </a:rPr>
              <a:t> </a:t>
            </a:r>
            <a:r>
              <a:rPr sz="900" b="1" dirty="0">
                <a:latin typeface="Open Sans"/>
                <a:cs typeface="Open Sans"/>
              </a:rPr>
              <a:t>Get</a:t>
            </a:r>
            <a:r>
              <a:rPr sz="900" b="1" spc="-18" dirty="0">
                <a:latin typeface="Open Sans"/>
                <a:cs typeface="Open Sans"/>
              </a:rPr>
              <a:t> </a:t>
            </a:r>
            <a:r>
              <a:rPr sz="900" b="1" dirty="0">
                <a:latin typeface="Open Sans"/>
                <a:cs typeface="Open Sans"/>
              </a:rPr>
              <a:t>started</a:t>
            </a:r>
            <a:r>
              <a:rPr sz="900" b="1" spc="-15" dirty="0">
                <a:latin typeface="Open Sans"/>
                <a:cs typeface="Open Sans"/>
              </a:rPr>
              <a:t> </a:t>
            </a:r>
            <a:r>
              <a:rPr sz="900" b="1" dirty="0">
                <a:latin typeface="Open Sans"/>
                <a:cs typeface="Open Sans"/>
              </a:rPr>
              <a:t>with</a:t>
            </a:r>
            <a:r>
              <a:rPr sz="900" b="1" spc="-15" dirty="0">
                <a:latin typeface="Open Sans"/>
                <a:cs typeface="Open Sans"/>
              </a:rPr>
              <a:t> </a:t>
            </a:r>
            <a:r>
              <a:rPr sz="900" b="1" dirty="0">
                <a:latin typeface="Open Sans"/>
                <a:cs typeface="Open Sans"/>
              </a:rPr>
              <a:t>Amazon</a:t>
            </a:r>
            <a:r>
              <a:rPr sz="900" b="1" spc="-18" dirty="0">
                <a:latin typeface="Open Sans"/>
                <a:cs typeface="Open Sans"/>
              </a:rPr>
              <a:t> </a:t>
            </a:r>
            <a:r>
              <a:rPr sz="900" b="1" spc="-13" dirty="0">
                <a:latin typeface="Open Sans"/>
                <a:cs typeface="Open Sans"/>
              </a:rPr>
              <a:t>EC2</a:t>
            </a:r>
            <a:endParaRPr sz="900">
              <a:latin typeface="Open Sans"/>
              <a:cs typeface="Open Sans"/>
            </a:endParaRPr>
          </a:p>
          <a:p>
            <a:pPr marL="6350" marR="2540">
              <a:lnSpc>
                <a:spcPct val="116500"/>
              </a:lnSpc>
              <a:spcBef>
                <a:spcPts val="1048"/>
              </a:spcBef>
            </a:pPr>
            <a:r>
              <a:rPr sz="1100" dirty="0">
                <a:latin typeface="Open Sans Light"/>
                <a:cs typeface="Open Sans Light"/>
              </a:rPr>
              <a:t>Amazon</a:t>
            </a:r>
            <a:r>
              <a:rPr sz="1100" spc="-30" dirty="0">
                <a:latin typeface="Open Sans Light"/>
                <a:cs typeface="Open Sans Light"/>
              </a:rPr>
              <a:t> </a:t>
            </a:r>
            <a:r>
              <a:rPr sz="1100" dirty="0">
                <a:latin typeface="Open Sans Light"/>
                <a:cs typeface="Open Sans Light"/>
              </a:rPr>
              <a:t>Elastic</a:t>
            </a:r>
            <a:r>
              <a:rPr sz="1100" spc="-28" dirty="0">
                <a:latin typeface="Open Sans Light"/>
                <a:cs typeface="Open Sans Light"/>
              </a:rPr>
              <a:t> </a:t>
            </a:r>
            <a:r>
              <a:rPr sz="1100" dirty="0">
                <a:latin typeface="Open Sans Light"/>
                <a:cs typeface="Open Sans Light"/>
              </a:rPr>
              <a:t>Compute</a:t>
            </a:r>
            <a:r>
              <a:rPr sz="1100" spc="-28" dirty="0">
                <a:latin typeface="Open Sans Light"/>
                <a:cs typeface="Open Sans Light"/>
              </a:rPr>
              <a:t> </a:t>
            </a:r>
            <a:r>
              <a:rPr sz="1100" dirty="0">
                <a:latin typeface="Open Sans Light"/>
                <a:cs typeface="Open Sans Light"/>
              </a:rPr>
              <a:t>Cloud</a:t>
            </a:r>
            <a:r>
              <a:rPr sz="1100" spc="-28" dirty="0">
                <a:latin typeface="Open Sans Light"/>
                <a:cs typeface="Open Sans Light"/>
              </a:rPr>
              <a:t> </a:t>
            </a:r>
            <a:r>
              <a:rPr sz="1100" dirty="0">
                <a:latin typeface="Open Sans Light"/>
                <a:cs typeface="Open Sans Light"/>
              </a:rPr>
              <a:t>(Amazon</a:t>
            </a:r>
            <a:r>
              <a:rPr sz="1100" spc="-28" dirty="0">
                <a:latin typeface="Open Sans Light"/>
                <a:cs typeface="Open Sans Light"/>
              </a:rPr>
              <a:t> </a:t>
            </a:r>
            <a:r>
              <a:rPr sz="1100" dirty="0">
                <a:latin typeface="Open Sans Light"/>
                <a:cs typeface="Open Sans Light"/>
              </a:rPr>
              <a:t>EC2)</a:t>
            </a:r>
            <a:r>
              <a:rPr sz="1100" spc="-30" dirty="0">
                <a:latin typeface="Open Sans Light"/>
                <a:cs typeface="Open Sans Light"/>
              </a:rPr>
              <a:t> </a:t>
            </a:r>
            <a:r>
              <a:rPr sz="1100" dirty="0">
                <a:latin typeface="Open Sans Light"/>
                <a:cs typeface="Open Sans Light"/>
              </a:rPr>
              <a:t>is</a:t>
            </a:r>
            <a:r>
              <a:rPr sz="1100" spc="-28" dirty="0">
                <a:latin typeface="Open Sans Light"/>
                <a:cs typeface="Open Sans Light"/>
              </a:rPr>
              <a:t> </a:t>
            </a:r>
            <a:r>
              <a:rPr sz="1100" dirty="0">
                <a:latin typeface="Open Sans Light"/>
                <a:cs typeface="Open Sans Light"/>
              </a:rPr>
              <a:t>a</a:t>
            </a:r>
            <a:r>
              <a:rPr sz="1100" spc="-28" dirty="0">
                <a:latin typeface="Open Sans Light"/>
                <a:cs typeface="Open Sans Light"/>
              </a:rPr>
              <a:t> </a:t>
            </a:r>
            <a:r>
              <a:rPr sz="1100" dirty="0">
                <a:latin typeface="Open Sans Light"/>
                <a:cs typeface="Open Sans Light"/>
              </a:rPr>
              <a:t>web</a:t>
            </a:r>
            <a:r>
              <a:rPr sz="1100" spc="-28" dirty="0">
                <a:latin typeface="Open Sans Light"/>
                <a:cs typeface="Open Sans Light"/>
              </a:rPr>
              <a:t> </a:t>
            </a:r>
            <a:r>
              <a:rPr sz="1100" dirty="0">
                <a:latin typeface="Open Sans Light"/>
                <a:cs typeface="Open Sans Light"/>
              </a:rPr>
              <a:t>service</a:t>
            </a:r>
            <a:r>
              <a:rPr sz="1100" spc="-28" dirty="0">
                <a:latin typeface="Open Sans Light"/>
                <a:cs typeface="Open Sans Light"/>
              </a:rPr>
              <a:t> </a:t>
            </a:r>
            <a:r>
              <a:rPr sz="1100" dirty="0">
                <a:latin typeface="Open Sans Light"/>
                <a:cs typeface="Open Sans Light"/>
              </a:rPr>
              <a:t>that</a:t>
            </a:r>
            <a:r>
              <a:rPr sz="1100" spc="-30" dirty="0">
                <a:latin typeface="Open Sans Light"/>
                <a:cs typeface="Open Sans Light"/>
              </a:rPr>
              <a:t> </a:t>
            </a:r>
            <a:r>
              <a:rPr sz="1100" dirty="0">
                <a:latin typeface="Open Sans Light"/>
                <a:cs typeface="Open Sans Light"/>
              </a:rPr>
              <a:t>provides</a:t>
            </a:r>
            <a:r>
              <a:rPr sz="1100" spc="-28" dirty="0">
                <a:latin typeface="Open Sans Light"/>
                <a:cs typeface="Open Sans Light"/>
              </a:rPr>
              <a:t> </a:t>
            </a:r>
            <a:r>
              <a:rPr sz="1100" dirty="0">
                <a:latin typeface="Open Sans Light"/>
                <a:cs typeface="Open Sans Light"/>
              </a:rPr>
              <a:t>secure,</a:t>
            </a:r>
            <a:r>
              <a:rPr sz="1100" spc="-28" dirty="0">
                <a:latin typeface="Open Sans Light"/>
                <a:cs typeface="Open Sans Light"/>
              </a:rPr>
              <a:t> </a:t>
            </a:r>
            <a:r>
              <a:rPr sz="1100" dirty="0">
                <a:latin typeface="Open Sans Light"/>
                <a:cs typeface="Open Sans Light"/>
              </a:rPr>
              <a:t>resizable</a:t>
            </a:r>
            <a:r>
              <a:rPr sz="1100" spc="-28" dirty="0">
                <a:latin typeface="Open Sans Light"/>
                <a:cs typeface="Open Sans Light"/>
              </a:rPr>
              <a:t> </a:t>
            </a:r>
            <a:r>
              <a:rPr sz="1100" dirty="0">
                <a:latin typeface="Open Sans Light"/>
                <a:cs typeface="Open Sans Light"/>
              </a:rPr>
              <a:t>compute</a:t>
            </a:r>
            <a:r>
              <a:rPr sz="1100" spc="-28" dirty="0">
                <a:latin typeface="Open Sans Light"/>
                <a:cs typeface="Open Sans Light"/>
              </a:rPr>
              <a:t> </a:t>
            </a:r>
            <a:r>
              <a:rPr sz="1100" dirty="0">
                <a:latin typeface="Open Sans Light"/>
                <a:cs typeface="Open Sans Light"/>
              </a:rPr>
              <a:t>capacity</a:t>
            </a:r>
            <a:r>
              <a:rPr sz="1100" spc="-28" dirty="0">
                <a:latin typeface="Open Sans Light"/>
                <a:cs typeface="Open Sans Light"/>
              </a:rPr>
              <a:t> </a:t>
            </a:r>
            <a:r>
              <a:rPr sz="1100" dirty="0">
                <a:latin typeface="Open Sans Light"/>
                <a:cs typeface="Open Sans Light"/>
              </a:rPr>
              <a:t>in</a:t>
            </a:r>
            <a:r>
              <a:rPr sz="1100" spc="-30" dirty="0">
                <a:latin typeface="Open Sans Light"/>
                <a:cs typeface="Open Sans Light"/>
              </a:rPr>
              <a:t> </a:t>
            </a:r>
            <a:r>
              <a:rPr sz="1100" dirty="0">
                <a:latin typeface="Open Sans Light"/>
                <a:cs typeface="Open Sans Light"/>
              </a:rPr>
              <a:t>the</a:t>
            </a:r>
            <a:r>
              <a:rPr sz="1100" spc="-28" dirty="0">
                <a:latin typeface="Open Sans Light"/>
                <a:cs typeface="Open Sans Light"/>
              </a:rPr>
              <a:t> </a:t>
            </a:r>
            <a:r>
              <a:rPr sz="1100" dirty="0">
                <a:latin typeface="Open Sans Light"/>
                <a:cs typeface="Open Sans Light"/>
              </a:rPr>
              <a:t>cloud.</a:t>
            </a:r>
            <a:r>
              <a:rPr sz="1100" spc="-28" dirty="0">
                <a:latin typeface="Open Sans Light"/>
                <a:cs typeface="Open Sans Light"/>
              </a:rPr>
              <a:t> </a:t>
            </a:r>
            <a:r>
              <a:rPr sz="1100" dirty="0">
                <a:latin typeface="Open Sans Light"/>
                <a:cs typeface="Open Sans Light"/>
              </a:rPr>
              <a:t>It</a:t>
            </a:r>
            <a:r>
              <a:rPr sz="1100" spc="-28" dirty="0">
                <a:latin typeface="Open Sans Light"/>
                <a:cs typeface="Open Sans Light"/>
              </a:rPr>
              <a:t> </a:t>
            </a:r>
            <a:r>
              <a:rPr sz="1100" dirty="0">
                <a:latin typeface="Open Sans Light"/>
                <a:cs typeface="Open Sans Light"/>
              </a:rPr>
              <a:t>is</a:t>
            </a:r>
            <a:r>
              <a:rPr sz="1100" spc="-28" dirty="0">
                <a:latin typeface="Open Sans Light"/>
                <a:cs typeface="Open Sans Light"/>
              </a:rPr>
              <a:t> </a:t>
            </a:r>
            <a:r>
              <a:rPr sz="1100" spc="-5" dirty="0">
                <a:latin typeface="Open Sans Light"/>
                <a:cs typeface="Open Sans Light"/>
              </a:rPr>
              <a:t>designed </a:t>
            </a:r>
            <a:r>
              <a:rPr sz="1100" dirty="0">
                <a:latin typeface="Open Sans Light"/>
                <a:cs typeface="Open Sans Light"/>
              </a:rPr>
              <a:t>to</a:t>
            </a:r>
            <a:r>
              <a:rPr sz="1100" spc="-28" dirty="0">
                <a:latin typeface="Open Sans Light"/>
                <a:cs typeface="Open Sans Light"/>
              </a:rPr>
              <a:t> </a:t>
            </a:r>
            <a:r>
              <a:rPr sz="1100" dirty="0">
                <a:latin typeface="Open Sans Light"/>
                <a:cs typeface="Open Sans Light"/>
              </a:rPr>
              <a:t>make</a:t>
            </a:r>
            <a:r>
              <a:rPr sz="1100" spc="-28" dirty="0">
                <a:latin typeface="Open Sans Light"/>
                <a:cs typeface="Open Sans Light"/>
              </a:rPr>
              <a:t> </a:t>
            </a:r>
            <a:r>
              <a:rPr sz="1100" spc="-10" dirty="0">
                <a:latin typeface="Open Sans Light"/>
                <a:cs typeface="Open Sans Light"/>
              </a:rPr>
              <a:t>web-</a:t>
            </a:r>
            <a:r>
              <a:rPr sz="1100" dirty="0">
                <a:latin typeface="Open Sans Light"/>
                <a:cs typeface="Open Sans Light"/>
              </a:rPr>
              <a:t>scale</a:t>
            </a:r>
            <a:r>
              <a:rPr sz="1100" spc="-28" dirty="0">
                <a:latin typeface="Open Sans Light"/>
                <a:cs typeface="Open Sans Light"/>
              </a:rPr>
              <a:t> </a:t>
            </a:r>
            <a:r>
              <a:rPr sz="1100" dirty="0">
                <a:latin typeface="Open Sans Light"/>
                <a:cs typeface="Open Sans Light"/>
              </a:rPr>
              <a:t>cloud</a:t>
            </a:r>
            <a:r>
              <a:rPr sz="1100" spc="-28" dirty="0">
                <a:latin typeface="Open Sans Light"/>
                <a:cs typeface="Open Sans Light"/>
              </a:rPr>
              <a:t> </a:t>
            </a:r>
            <a:r>
              <a:rPr sz="1100" dirty="0">
                <a:latin typeface="Open Sans Light"/>
                <a:cs typeface="Open Sans Light"/>
              </a:rPr>
              <a:t>computing</a:t>
            </a:r>
            <a:r>
              <a:rPr sz="1100" spc="-28" dirty="0">
                <a:latin typeface="Open Sans Light"/>
                <a:cs typeface="Open Sans Light"/>
              </a:rPr>
              <a:t> </a:t>
            </a:r>
            <a:r>
              <a:rPr sz="1100" dirty="0">
                <a:latin typeface="Open Sans Light"/>
                <a:cs typeface="Open Sans Light"/>
              </a:rPr>
              <a:t>easier</a:t>
            </a:r>
            <a:r>
              <a:rPr sz="1100" spc="-28" dirty="0">
                <a:latin typeface="Open Sans Light"/>
                <a:cs typeface="Open Sans Light"/>
              </a:rPr>
              <a:t> </a:t>
            </a:r>
            <a:r>
              <a:rPr sz="1100" dirty="0">
                <a:latin typeface="Open Sans Light"/>
                <a:cs typeface="Open Sans Light"/>
              </a:rPr>
              <a:t>for</a:t>
            </a:r>
            <a:r>
              <a:rPr sz="1100" spc="-28" dirty="0">
                <a:latin typeface="Open Sans Light"/>
                <a:cs typeface="Open Sans Light"/>
              </a:rPr>
              <a:t> </a:t>
            </a:r>
            <a:r>
              <a:rPr sz="1100" dirty="0">
                <a:latin typeface="Open Sans Light"/>
                <a:cs typeface="Open Sans Light"/>
              </a:rPr>
              <a:t>developers.</a:t>
            </a:r>
            <a:r>
              <a:rPr sz="1100" spc="-28" dirty="0">
                <a:latin typeface="Open Sans Light"/>
                <a:cs typeface="Open Sans Light"/>
              </a:rPr>
              <a:t> </a:t>
            </a:r>
            <a:r>
              <a:rPr sz="1100" dirty="0">
                <a:latin typeface="Open Sans Light"/>
                <a:cs typeface="Open Sans Light"/>
              </a:rPr>
              <a:t>Amazon</a:t>
            </a:r>
            <a:r>
              <a:rPr sz="1100" spc="-28" dirty="0">
                <a:latin typeface="Open Sans Light"/>
                <a:cs typeface="Open Sans Light"/>
              </a:rPr>
              <a:t> </a:t>
            </a:r>
            <a:r>
              <a:rPr sz="1100" dirty="0">
                <a:latin typeface="Open Sans Light"/>
                <a:cs typeface="Open Sans Light"/>
              </a:rPr>
              <a:t>EC2’s</a:t>
            </a:r>
            <a:r>
              <a:rPr sz="1100" spc="-28" dirty="0">
                <a:latin typeface="Open Sans Light"/>
                <a:cs typeface="Open Sans Light"/>
              </a:rPr>
              <a:t> </a:t>
            </a:r>
            <a:r>
              <a:rPr sz="1100" dirty="0">
                <a:latin typeface="Open Sans Light"/>
                <a:cs typeface="Open Sans Light"/>
              </a:rPr>
              <a:t>simple</a:t>
            </a:r>
            <a:r>
              <a:rPr sz="1100" spc="-28" dirty="0">
                <a:latin typeface="Open Sans Light"/>
                <a:cs typeface="Open Sans Light"/>
              </a:rPr>
              <a:t> </a:t>
            </a:r>
            <a:r>
              <a:rPr sz="1100" dirty="0">
                <a:latin typeface="Open Sans Light"/>
                <a:cs typeface="Open Sans Light"/>
              </a:rPr>
              <a:t>web</a:t>
            </a:r>
            <a:r>
              <a:rPr sz="1100" spc="-28" dirty="0">
                <a:latin typeface="Open Sans Light"/>
                <a:cs typeface="Open Sans Light"/>
              </a:rPr>
              <a:t> </a:t>
            </a:r>
            <a:r>
              <a:rPr sz="1100" dirty="0">
                <a:latin typeface="Open Sans Light"/>
                <a:cs typeface="Open Sans Light"/>
              </a:rPr>
              <a:t>service</a:t>
            </a:r>
            <a:r>
              <a:rPr sz="1100" spc="-28" dirty="0">
                <a:latin typeface="Open Sans Light"/>
                <a:cs typeface="Open Sans Light"/>
              </a:rPr>
              <a:t> </a:t>
            </a:r>
            <a:r>
              <a:rPr sz="1100" dirty="0">
                <a:latin typeface="Open Sans Light"/>
                <a:cs typeface="Open Sans Light"/>
              </a:rPr>
              <a:t>interface</a:t>
            </a:r>
            <a:r>
              <a:rPr sz="1100" spc="-28" dirty="0">
                <a:latin typeface="Open Sans Light"/>
                <a:cs typeface="Open Sans Light"/>
              </a:rPr>
              <a:t> </a:t>
            </a:r>
            <a:r>
              <a:rPr sz="1100" dirty="0">
                <a:latin typeface="Open Sans Light"/>
                <a:cs typeface="Open Sans Light"/>
              </a:rPr>
              <a:t>allows</a:t>
            </a:r>
            <a:r>
              <a:rPr sz="1100" spc="-28" dirty="0">
                <a:latin typeface="Open Sans Light"/>
                <a:cs typeface="Open Sans Light"/>
              </a:rPr>
              <a:t> </a:t>
            </a:r>
            <a:r>
              <a:rPr sz="1100" dirty="0">
                <a:latin typeface="Open Sans Light"/>
                <a:cs typeface="Open Sans Light"/>
              </a:rPr>
              <a:t>you</a:t>
            </a:r>
            <a:r>
              <a:rPr sz="1100" spc="-28" dirty="0">
                <a:latin typeface="Open Sans Light"/>
                <a:cs typeface="Open Sans Light"/>
              </a:rPr>
              <a:t> </a:t>
            </a:r>
            <a:r>
              <a:rPr sz="1100" dirty="0">
                <a:latin typeface="Open Sans Light"/>
                <a:cs typeface="Open Sans Light"/>
              </a:rPr>
              <a:t>to</a:t>
            </a:r>
            <a:r>
              <a:rPr sz="1100" spc="-28" dirty="0">
                <a:latin typeface="Open Sans Light"/>
                <a:cs typeface="Open Sans Light"/>
              </a:rPr>
              <a:t> </a:t>
            </a:r>
            <a:r>
              <a:rPr sz="1100" dirty="0">
                <a:latin typeface="Open Sans Light"/>
                <a:cs typeface="Open Sans Light"/>
              </a:rPr>
              <a:t>obtain</a:t>
            </a:r>
            <a:r>
              <a:rPr sz="1100" spc="-28" dirty="0">
                <a:latin typeface="Open Sans Light"/>
                <a:cs typeface="Open Sans Light"/>
              </a:rPr>
              <a:t> </a:t>
            </a:r>
            <a:r>
              <a:rPr sz="1100" dirty="0">
                <a:latin typeface="Open Sans Light"/>
                <a:cs typeface="Open Sans Light"/>
              </a:rPr>
              <a:t>and</a:t>
            </a:r>
            <a:r>
              <a:rPr sz="1100" spc="-28" dirty="0">
                <a:latin typeface="Open Sans Light"/>
                <a:cs typeface="Open Sans Light"/>
              </a:rPr>
              <a:t> </a:t>
            </a:r>
            <a:r>
              <a:rPr sz="1100" spc="-5" dirty="0">
                <a:latin typeface="Open Sans Light"/>
                <a:cs typeface="Open Sans Light"/>
              </a:rPr>
              <a:t>configure </a:t>
            </a:r>
            <a:r>
              <a:rPr sz="1100" dirty="0">
                <a:latin typeface="Open Sans Light"/>
                <a:cs typeface="Open Sans Light"/>
              </a:rPr>
              <a:t>capacity</a:t>
            </a:r>
            <a:r>
              <a:rPr sz="1100" spc="-30" dirty="0">
                <a:latin typeface="Open Sans Light"/>
                <a:cs typeface="Open Sans Light"/>
              </a:rPr>
              <a:t> </a:t>
            </a:r>
            <a:r>
              <a:rPr sz="1100" dirty="0">
                <a:latin typeface="Open Sans Light"/>
                <a:cs typeface="Open Sans Light"/>
              </a:rPr>
              <a:t>with</a:t>
            </a:r>
            <a:r>
              <a:rPr sz="1100" spc="-28" dirty="0">
                <a:latin typeface="Open Sans Light"/>
                <a:cs typeface="Open Sans Light"/>
              </a:rPr>
              <a:t> </a:t>
            </a:r>
            <a:r>
              <a:rPr sz="1100" dirty="0">
                <a:latin typeface="Open Sans Light"/>
                <a:cs typeface="Open Sans Light"/>
              </a:rPr>
              <a:t>minimal</a:t>
            </a:r>
            <a:r>
              <a:rPr sz="1100" spc="-30" dirty="0">
                <a:latin typeface="Open Sans Light"/>
                <a:cs typeface="Open Sans Light"/>
              </a:rPr>
              <a:t> </a:t>
            </a:r>
            <a:r>
              <a:rPr sz="1100" dirty="0">
                <a:latin typeface="Open Sans Light"/>
                <a:cs typeface="Open Sans Light"/>
              </a:rPr>
              <a:t>friction.</a:t>
            </a:r>
            <a:r>
              <a:rPr sz="1100" spc="-28" dirty="0">
                <a:latin typeface="Open Sans Light"/>
                <a:cs typeface="Open Sans Light"/>
              </a:rPr>
              <a:t> </a:t>
            </a:r>
            <a:r>
              <a:rPr sz="1100" dirty="0">
                <a:latin typeface="Open Sans Light"/>
                <a:cs typeface="Open Sans Light"/>
              </a:rPr>
              <a:t>It</a:t>
            </a:r>
            <a:r>
              <a:rPr sz="1100" spc="-28" dirty="0">
                <a:latin typeface="Open Sans Light"/>
                <a:cs typeface="Open Sans Light"/>
              </a:rPr>
              <a:t> </a:t>
            </a:r>
            <a:r>
              <a:rPr sz="1100" dirty="0">
                <a:latin typeface="Open Sans Light"/>
                <a:cs typeface="Open Sans Light"/>
              </a:rPr>
              <a:t>provides</a:t>
            </a:r>
            <a:r>
              <a:rPr sz="1100" spc="-30" dirty="0">
                <a:latin typeface="Open Sans Light"/>
                <a:cs typeface="Open Sans Light"/>
              </a:rPr>
              <a:t> </a:t>
            </a:r>
            <a:r>
              <a:rPr sz="1100" dirty="0">
                <a:latin typeface="Open Sans Light"/>
                <a:cs typeface="Open Sans Light"/>
              </a:rPr>
              <a:t>you</a:t>
            </a:r>
            <a:r>
              <a:rPr sz="1100" spc="-28" dirty="0">
                <a:latin typeface="Open Sans Light"/>
                <a:cs typeface="Open Sans Light"/>
              </a:rPr>
              <a:t> </a:t>
            </a:r>
            <a:r>
              <a:rPr sz="1100" dirty="0">
                <a:latin typeface="Open Sans Light"/>
                <a:cs typeface="Open Sans Light"/>
              </a:rPr>
              <a:t>with</a:t>
            </a:r>
            <a:r>
              <a:rPr sz="1100" spc="-30" dirty="0">
                <a:latin typeface="Open Sans Light"/>
                <a:cs typeface="Open Sans Light"/>
              </a:rPr>
              <a:t> </a:t>
            </a:r>
            <a:r>
              <a:rPr sz="1100" dirty="0">
                <a:latin typeface="Open Sans Light"/>
                <a:cs typeface="Open Sans Light"/>
              </a:rPr>
              <a:t>complete</a:t>
            </a:r>
            <a:r>
              <a:rPr sz="1100" spc="-28" dirty="0">
                <a:latin typeface="Open Sans Light"/>
                <a:cs typeface="Open Sans Light"/>
              </a:rPr>
              <a:t> </a:t>
            </a:r>
            <a:r>
              <a:rPr sz="1100" dirty="0">
                <a:latin typeface="Open Sans Light"/>
                <a:cs typeface="Open Sans Light"/>
              </a:rPr>
              <a:t>control</a:t>
            </a:r>
            <a:r>
              <a:rPr sz="1100" spc="-28" dirty="0">
                <a:latin typeface="Open Sans Light"/>
                <a:cs typeface="Open Sans Light"/>
              </a:rPr>
              <a:t> </a:t>
            </a:r>
            <a:r>
              <a:rPr sz="1100" dirty="0">
                <a:latin typeface="Open Sans Light"/>
                <a:cs typeface="Open Sans Light"/>
              </a:rPr>
              <a:t>of</a:t>
            </a:r>
            <a:r>
              <a:rPr sz="1100" spc="-30" dirty="0">
                <a:latin typeface="Open Sans Light"/>
                <a:cs typeface="Open Sans Light"/>
              </a:rPr>
              <a:t> </a:t>
            </a:r>
            <a:r>
              <a:rPr sz="1100" dirty="0">
                <a:latin typeface="Open Sans Light"/>
                <a:cs typeface="Open Sans Light"/>
              </a:rPr>
              <a:t>your</a:t>
            </a:r>
            <a:r>
              <a:rPr sz="1100" spc="-28" dirty="0">
                <a:latin typeface="Open Sans Light"/>
                <a:cs typeface="Open Sans Light"/>
              </a:rPr>
              <a:t> </a:t>
            </a:r>
            <a:r>
              <a:rPr sz="1100" dirty="0">
                <a:latin typeface="Open Sans Light"/>
                <a:cs typeface="Open Sans Light"/>
              </a:rPr>
              <a:t>computing</a:t>
            </a:r>
            <a:r>
              <a:rPr sz="1100" spc="-30" dirty="0">
                <a:latin typeface="Open Sans Light"/>
                <a:cs typeface="Open Sans Light"/>
              </a:rPr>
              <a:t> </a:t>
            </a:r>
            <a:r>
              <a:rPr sz="1100" dirty="0">
                <a:latin typeface="Open Sans Light"/>
                <a:cs typeface="Open Sans Light"/>
              </a:rPr>
              <a:t>resources</a:t>
            </a:r>
            <a:r>
              <a:rPr sz="1100" spc="-28" dirty="0">
                <a:latin typeface="Open Sans Light"/>
                <a:cs typeface="Open Sans Light"/>
              </a:rPr>
              <a:t> </a:t>
            </a:r>
            <a:r>
              <a:rPr sz="1100" dirty="0">
                <a:latin typeface="Open Sans Light"/>
                <a:cs typeface="Open Sans Light"/>
              </a:rPr>
              <a:t>and</a:t>
            </a:r>
            <a:r>
              <a:rPr sz="1100" spc="-28" dirty="0">
                <a:latin typeface="Open Sans Light"/>
                <a:cs typeface="Open Sans Light"/>
              </a:rPr>
              <a:t> </a:t>
            </a:r>
            <a:r>
              <a:rPr sz="1100" dirty="0">
                <a:latin typeface="Open Sans Light"/>
                <a:cs typeface="Open Sans Light"/>
              </a:rPr>
              <a:t>lets</a:t>
            </a:r>
            <a:r>
              <a:rPr sz="1100" spc="-30" dirty="0">
                <a:latin typeface="Open Sans Light"/>
                <a:cs typeface="Open Sans Light"/>
              </a:rPr>
              <a:t> </a:t>
            </a:r>
            <a:r>
              <a:rPr sz="1100" dirty="0">
                <a:latin typeface="Open Sans Light"/>
                <a:cs typeface="Open Sans Light"/>
              </a:rPr>
              <a:t>you</a:t>
            </a:r>
            <a:r>
              <a:rPr sz="1100" spc="-28" dirty="0">
                <a:latin typeface="Open Sans Light"/>
                <a:cs typeface="Open Sans Light"/>
              </a:rPr>
              <a:t> </a:t>
            </a:r>
            <a:r>
              <a:rPr sz="1100" dirty="0">
                <a:latin typeface="Open Sans Light"/>
                <a:cs typeface="Open Sans Light"/>
              </a:rPr>
              <a:t>run</a:t>
            </a:r>
            <a:r>
              <a:rPr sz="1100" spc="-30" dirty="0">
                <a:latin typeface="Open Sans Light"/>
                <a:cs typeface="Open Sans Light"/>
              </a:rPr>
              <a:t> </a:t>
            </a:r>
            <a:r>
              <a:rPr sz="1100" dirty="0">
                <a:latin typeface="Open Sans Light"/>
                <a:cs typeface="Open Sans Light"/>
              </a:rPr>
              <a:t>on</a:t>
            </a:r>
            <a:r>
              <a:rPr sz="1100" spc="-28" dirty="0">
                <a:latin typeface="Open Sans Light"/>
                <a:cs typeface="Open Sans Light"/>
              </a:rPr>
              <a:t> </a:t>
            </a:r>
            <a:r>
              <a:rPr sz="1100" dirty="0">
                <a:latin typeface="Open Sans Light"/>
                <a:cs typeface="Open Sans Light"/>
              </a:rPr>
              <a:t>Amazon’s</a:t>
            </a:r>
            <a:r>
              <a:rPr sz="1100" spc="-28" dirty="0">
                <a:latin typeface="Open Sans Light"/>
                <a:cs typeface="Open Sans Light"/>
              </a:rPr>
              <a:t> </a:t>
            </a:r>
            <a:r>
              <a:rPr sz="1100" spc="-5" dirty="0">
                <a:latin typeface="Open Sans Light"/>
                <a:cs typeface="Open Sans Light"/>
              </a:rPr>
              <a:t>proven</a:t>
            </a:r>
            <a:endParaRPr sz="1100">
              <a:latin typeface="Open Sans Light"/>
              <a:cs typeface="Open Sans Light"/>
            </a:endParaRPr>
          </a:p>
        </p:txBody>
      </p:sp>
      <p:sp>
        <p:nvSpPr>
          <p:cNvPr id="4" name="object 4"/>
          <p:cNvSpPr txBox="1"/>
          <p:nvPr/>
        </p:nvSpPr>
        <p:spPr>
          <a:xfrm>
            <a:off x="286395" y="1466900"/>
            <a:ext cx="1762443" cy="486030"/>
          </a:xfrm>
          <a:prstGeom prst="rect">
            <a:avLst/>
          </a:prstGeom>
        </p:spPr>
        <p:txBody>
          <a:bodyPr vert="horz" wrap="square" lIns="0" tIns="6350" rIns="0" bIns="0" rtlCol="0">
            <a:spAutoFit/>
          </a:bodyPr>
          <a:lstStyle/>
          <a:p>
            <a:pPr marL="7938">
              <a:spcBef>
                <a:spcPts val="50"/>
              </a:spcBef>
            </a:pPr>
            <a:r>
              <a:rPr sz="1100" dirty="0">
                <a:latin typeface="Open Sans Light"/>
                <a:cs typeface="Open Sans Light"/>
              </a:rPr>
              <a:t>computing</a:t>
            </a:r>
            <a:r>
              <a:rPr sz="1100" spc="-50" dirty="0">
                <a:latin typeface="Open Sans Light"/>
                <a:cs typeface="Open Sans Light"/>
              </a:rPr>
              <a:t> </a:t>
            </a:r>
            <a:r>
              <a:rPr sz="1100" spc="-5" dirty="0">
                <a:latin typeface="Open Sans Light"/>
                <a:cs typeface="Open Sans Light"/>
              </a:rPr>
              <a:t>environment.</a:t>
            </a:r>
            <a:endParaRPr sz="1100">
              <a:latin typeface="Open Sans Light"/>
              <a:cs typeface="Open Sans Light"/>
            </a:endParaRPr>
          </a:p>
          <a:p>
            <a:pPr marL="6350">
              <a:spcBef>
                <a:spcPts val="1118"/>
              </a:spcBef>
            </a:pPr>
            <a:r>
              <a:rPr sz="1100" b="1" dirty="0">
                <a:latin typeface="Open Sans"/>
                <a:cs typeface="Open Sans"/>
              </a:rPr>
              <a:t>Instance</a:t>
            </a:r>
            <a:r>
              <a:rPr sz="1100" b="1" spc="-33" dirty="0">
                <a:latin typeface="Open Sans"/>
                <a:cs typeface="Open Sans"/>
              </a:rPr>
              <a:t> </a:t>
            </a:r>
            <a:r>
              <a:rPr sz="1100" b="1" dirty="0">
                <a:latin typeface="Open Sans"/>
                <a:cs typeface="Open Sans"/>
              </a:rPr>
              <a:t>Types</a:t>
            </a:r>
            <a:r>
              <a:rPr sz="1100" b="1" spc="-33" dirty="0">
                <a:latin typeface="Open Sans"/>
                <a:cs typeface="Open Sans"/>
              </a:rPr>
              <a:t> </a:t>
            </a:r>
            <a:r>
              <a:rPr sz="1100" b="1" spc="-5" dirty="0">
                <a:latin typeface="Open Sans"/>
                <a:cs typeface="Open Sans"/>
              </a:rPr>
              <a:t>Selection:</a:t>
            </a:r>
            <a:endParaRPr sz="1100">
              <a:latin typeface="Open Sans"/>
              <a:cs typeface="Open Sans"/>
            </a:endParaRPr>
          </a:p>
        </p:txBody>
      </p:sp>
      <p:sp>
        <p:nvSpPr>
          <p:cNvPr id="5" name="object 5"/>
          <p:cNvSpPr txBox="1"/>
          <p:nvPr/>
        </p:nvSpPr>
        <p:spPr>
          <a:xfrm>
            <a:off x="2159576" y="1492229"/>
            <a:ext cx="6500178" cy="836640"/>
          </a:xfrm>
          <a:prstGeom prst="rect">
            <a:avLst/>
          </a:prstGeom>
        </p:spPr>
        <p:txBody>
          <a:bodyPr vert="horz" wrap="square" lIns="0" tIns="64453" rIns="0" bIns="0" rtlCol="0">
            <a:spAutoFit/>
          </a:bodyPr>
          <a:lstStyle/>
          <a:p>
            <a:pPr marL="1636395">
              <a:spcBef>
                <a:spcPts val="508"/>
              </a:spcBef>
            </a:pPr>
            <a:r>
              <a:rPr sz="1100" b="1" dirty="0">
                <a:latin typeface="Open Sans Extrabold"/>
                <a:cs typeface="Open Sans Extrabold"/>
              </a:rPr>
              <a:t>Points</a:t>
            </a:r>
            <a:r>
              <a:rPr sz="1100" b="1" spc="-23" dirty="0">
                <a:latin typeface="Open Sans Extrabold"/>
                <a:cs typeface="Open Sans Extrabold"/>
              </a:rPr>
              <a:t> </a:t>
            </a:r>
            <a:r>
              <a:rPr sz="1100" b="1" dirty="0">
                <a:latin typeface="Open Sans Extrabold"/>
                <a:cs typeface="Open Sans Extrabold"/>
              </a:rPr>
              <a:t>to</a:t>
            </a:r>
            <a:r>
              <a:rPr sz="1100" b="1" spc="-20" dirty="0">
                <a:latin typeface="Open Sans Extrabold"/>
                <a:cs typeface="Open Sans Extrabold"/>
              </a:rPr>
              <a:t> </a:t>
            </a:r>
            <a:r>
              <a:rPr sz="1100" b="1" spc="-5" dirty="0">
                <a:latin typeface="Open Sans Extrabold"/>
                <a:cs typeface="Open Sans Extrabold"/>
              </a:rPr>
              <a:t>focus</a:t>
            </a:r>
            <a:endParaRPr sz="1100">
              <a:latin typeface="Open Sans Extrabold"/>
              <a:cs typeface="Open Sans Extrabold"/>
            </a:endParaRPr>
          </a:p>
          <a:p>
            <a:pPr marL="6350" marR="2540">
              <a:lnSpc>
                <a:spcPct val="116500"/>
              </a:lnSpc>
              <a:spcBef>
                <a:spcPts val="242"/>
              </a:spcBef>
            </a:pPr>
            <a:r>
              <a:rPr sz="1100" dirty="0">
                <a:latin typeface="Open Sans Light"/>
                <a:cs typeface="Open Sans Light"/>
              </a:rPr>
              <a:t>Based</a:t>
            </a:r>
            <a:r>
              <a:rPr sz="1100" spc="-28" dirty="0">
                <a:latin typeface="Open Sans Light"/>
                <a:cs typeface="Open Sans Light"/>
              </a:rPr>
              <a:t> </a:t>
            </a:r>
            <a:r>
              <a:rPr sz="1100" dirty="0">
                <a:latin typeface="Open Sans Light"/>
                <a:cs typeface="Open Sans Light"/>
              </a:rPr>
              <a:t>on</a:t>
            </a:r>
            <a:r>
              <a:rPr sz="1100" spc="-28" dirty="0">
                <a:latin typeface="Open Sans Light"/>
                <a:cs typeface="Open Sans Light"/>
              </a:rPr>
              <a:t> </a:t>
            </a:r>
            <a:r>
              <a:rPr sz="1100" dirty="0">
                <a:latin typeface="Open Sans Light"/>
                <a:cs typeface="Open Sans Light"/>
              </a:rPr>
              <a:t>need</a:t>
            </a:r>
            <a:r>
              <a:rPr sz="1100" spc="-28" dirty="0">
                <a:latin typeface="Open Sans Light"/>
                <a:cs typeface="Open Sans Light"/>
              </a:rPr>
              <a:t> </a:t>
            </a:r>
            <a:r>
              <a:rPr sz="1100" dirty="0">
                <a:latin typeface="Open Sans Light"/>
                <a:cs typeface="Open Sans Light"/>
              </a:rPr>
              <a:t>one</a:t>
            </a:r>
            <a:r>
              <a:rPr sz="1100" spc="-28" dirty="0">
                <a:latin typeface="Open Sans Light"/>
                <a:cs typeface="Open Sans Light"/>
              </a:rPr>
              <a:t> </a:t>
            </a:r>
            <a:r>
              <a:rPr sz="1100" dirty="0">
                <a:latin typeface="Open Sans Light"/>
                <a:cs typeface="Open Sans Light"/>
              </a:rPr>
              <a:t>should</a:t>
            </a:r>
            <a:r>
              <a:rPr sz="1100" spc="-25" dirty="0">
                <a:latin typeface="Open Sans Light"/>
                <a:cs typeface="Open Sans Light"/>
              </a:rPr>
              <a:t> </a:t>
            </a:r>
            <a:r>
              <a:rPr sz="1100" dirty="0">
                <a:latin typeface="Open Sans Light"/>
                <a:cs typeface="Open Sans Light"/>
              </a:rPr>
              <a:t>select</a:t>
            </a:r>
            <a:r>
              <a:rPr sz="1100" spc="-28" dirty="0">
                <a:latin typeface="Open Sans Light"/>
                <a:cs typeface="Open Sans Light"/>
              </a:rPr>
              <a:t> </a:t>
            </a:r>
            <a:r>
              <a:rPr sz="1100" dirty="0">
                <a:latin typeface="Open Sans Light"/>
                <a:cs typeface="Open Sans Light"/>
              </a:rPr>
              <a:t>the</a:t>
            </a:r>
            <a:r>
              <a:rPr sz="1100" spc="-28" dirty="0">
                <a:latin typeface="Open Sans Light"/>
                <a:cs typeface="Open Sans Light"/>
              </a:rPr>
              <a:t> </a:t>
            </a:r>
            <a:r>
              <a:rPr sz="1100" dirty="0">
                <a:latin typeface="Open Sans Light"/>
                <a:cs typeface="Open Sans Light"/>
              </a:rPr>
              <a:t>instance</a:t>
            </a:r>
            <a:r>
              <a:rPr sz="1100" spc="-28" dirty="0">
                <a:latin typeface="Open Sans Light"/>
                <a:cs typeface="Open Sans Light"/>
              </a:rPr>
              <a:t> </a:t>
            </a:r>
            <a:r>
              <a:rPr sz="1100" dirty="0">
                <a:latin typeface="Open Sans Light"/>
                <a:cs typeface="Open Sans Light"/>
              </a:rPr>
              <a:t>type</a:t>
            </a:r>
            <a:r>
              <a:rPr sz="1100" spc="-28" dirty="0">
                <a:latin typeface="Open Sans Light"/>
                <a:cs typeface="Open Sans Light"/>
              </a:rPr>
              <a:t> </a:t>
            </a:r>
            <a:r>
              <a:rPr sz="1100" dirty="0">
                <a:latin typeface="Open Sans Light"/>
                <a:cs typeface="Open Sans Light"/>
              </a:rPr>
              <a:t>and</a:t>
            </a:r>
            <a:r>
              <a:rPr sz="1100" spc="-25" dirty="0">
                <a:latin typeface="Open Sans Light"/>
                <a:cs typeface="Open Sans Light"/>
              </a:rPr>
              <a:t> </a:t>
            </a:r>
            <a:r>
              <a:rPr sz="1100" dirty="0">
                <a:latin typeface="Open Sans Light"/>
                <a:cs typeface="Open Sans Light"/>
              </a:rPr>
              <a:t>size</a:t>
            </a:r>
            <a:r>
              <a:rPr sz="1100" spc="-28" dirty="0">
                <a:latin typeface="Open Sans Light"/>
                <a:cs typeface="Open Sans Light"/>
              </a:rPr>
              <a:t> </a:t>
            </a:r>
            <a:r>
              <a:rPr sz="1100" dirty="0">
                <a:latin typeface="Open Sans Light"/>
                <a:cs typeface="Open Sans Light"/>
              </a:rPr>
              <a:t>such</a:t>
            </a:r>
            <a:r>
              <a:rPr sz="1100" spc="-28" dirty="0">
                <a:latin typeface="Open Sans Light"/>
                <a:cs typeface="Open Sans Light"/>
              </a:rPr>
              <a:t> </a:t>
            </a:r>
            <a:r>
              <a:rPr sz="1100" dirty="0">
                <a:latin typeface="Open Sans Light"/>
                <a:cs typeface="Open Sans Light"/>
              </a:rPr>
              <a:t>as</a:t>
            </a:r>
            <a:r>
              <a:rPr sz="1100" spc="-28" dirty="0">
                <a:latin typeface="Open Sans Light"/>
                <a:cs typeface="Open Sans Light"/>
              </a:rPr>
              <a:t> </a:t>
            </a:r>
            <a:r>
              <a:rPr sz="1100" dirty="0">
                <a:latin typeface="Open Sans Light"/>
                <a:cs typeface="Open Sans Light"/>
              </a:rPr>
              <a:t>General</a:t>
            </a:r>
            <a:r>
              <a:rPr sz="1100" spc="-28" dirty="0">
                <a:latin typeface="Open Sans Light"/>
                <a:cs typeface="Open Sans Light"/>
              </a:rPr>
              <a:t> </a:t>
            </a:r>
            <a:r>
              <a:rPr sz="1100" dirty="0">
                <a:latin typeface="Open Sans Light"/>
                <a:cs typeface="Open Sans Light"/>
              </a:rPr>
              <a:t>Purpose</a:t>
            </a:r>
            <a:r>
              <a:rPr sz="1100" spc="-25" dirty="0">
                <a:latin typeface="Open Sans Light"/>
                <a:cs typeface="Open Sans Light"/>
              </a:rPr>
              <a:t> </a:t>
            </a:r>
            <a:r>
              <a:rPr sz="1100" dirty="0">
                <a:latin typeface="Open Sans Light"/>
                <a:cs typeface="Open Sans Light"/>
              </a:rPr>
              <a:t>–</a:t>
            </a:r>
            <a:r>
              <a:rPr sz="1100" spc="-28" dirty="0">
                <a:latin typeface="Open Sans Light"/>
                <a:cs typeface="Open Sans Light"/>
              </a:rPr>
              <a:t> </a:t>
            </a:r>
            <a:r>
              <a:rPr sz="1100" dirty="0">
                <a:latin typeface="Open Sans Light"/>
                <a:cs typeface="Open Sans Light"/>
              </a:rPr>
              <a:t>(T2,</a:t>
            </a:r>
            <a:r>
              <a:rPr sz="1100" spc="-28" dirty="0">
                <a:latin typeface="Open Sans Light"/>
                <a:cs typeface="Open Sans Light"/>
              </a:rPr>
              <a:t> </a:t>
            </a:r>
            <a:r>
              <a:rPr sz="1100" dirty="0">
                <a:latin typeface="Open Sans Light"/>
                <a:cs typeface="Open Sans Light"/>
              </a:rPr>
              <a:t>M4,</a:t>
            </a:r>
            <a:r>
              <a:rPr sz="1100" spc="-28" dirty="0">
                <a:latin typeface="Open Sans Light"/>
                <a:cs typeface="Open Sans Light"/>
              </a:rPr>
              <a:t> </a:t>
            </a:r>
            <a:r>
              <a:rPr sz="1100" spc="-10" dirty="0">
                <a:latin typeface="Open Sans Light"/>
                <a:cs typeface="Open Sans Light"/>
              </a:rPr>
              <a:t>M3), </a:t>
            </a:r>
            <a:r>
              <a:rPr sz="1100" dirty="0">
                <a:latin typeface="Open Sans Light"/>
                <a:cs typeface="Open Sans Light"/>
              </a:rPr>
              <a:t>Compute</a:t>
            </a:r>
            <a:r>
              <a:rPr sz="1100" spc="-28" dirty="0">
                <a:latin typeface="Open Sans Light"/>
                <a:cs typeface="Open Sans Light"/>
              </a:rPr>
              <a:t> </a:t>
            </a:r>
            <a:r>
              <a:rPr sz="1100" dirty="0">
                <a:latin typeface="Open Sans Light"/>
                <a:cs typeface="Open Sans Light"/>
              </a:rPr>
              <a:t>Optimized</a:t>
            </a:r>
            <a:r>
              <a:rPr sz="1100" spc="-25" dirty="0">
                <a:latin typeface="Open Sans Light"/>
                <a:cs typeface="Open Sans Light"/>
              </a:rPr>
              <a:t> </a:t>
            </a:r>
            <a:r>
              <a:rPr sz="1100" dirty="0">
                <a:latin typeface="Open Sans Light"/>
                <a:cs typeface="Open Sans Light"/>
              </a:rPr>
              <a:t>–</a:t>
            </a:r>
            <a:r>
              <a:rPr sz="1100" spc="-25" dirty="0">
                <a:latin typeface="Open Sans Light"/>
                <a:cs typeface="Open Sans Light"/>
              </a:rPr>
              <a:t> </a:t>
            </a:r>
            <a:r>
              <a:rPr sz="1100" dirty="0">
                <a:latin typeface="Open Sans Light"/>
                <a:cs typeface="Open Sans Light"/>
              </a:rPr>
              <a:t>(C5,</a:t>
            </a:r>
            <a:r>
              <a:rPr sz="1100" spc="-25" dirty="0">
                <a:latin typeface="Open Sans Light"/>
                <a:cs typeface="Open Sans Light"/>
              </a:rPr>
              <a:t> </a:t>
            </a:r>
            <a:r>
              <a:rPr sz="1100" dirty="0">
                <a:latin typeface="Open Sans Light"/>
                <a:cs typeface="Open Sans Light"/>
              </a:rPr>
              <a:t>C4,</a:t>
            </a:r>
            <a:r>
              <a:rPr sz="1100" spc="-25" dirty="0">
                <a:latin typeface="Open Sans Light"/>
                <a:cs typeface="Open Sans Light"/>
              </a:rPr>
              <a:t> </a:t>
            </a:r>
            <a:r>
              <a:rPr sz="1100" dirty="0">
                <a:latin typeface="Open Sans Light"/>
                <a:cs typeface="Open Sans Light"/>
              </a:rPr>
              <a:t>C3),</a:t>
            </a:r>
            <a:r>
              <a:rPr sz="1100" spc="-25" dirty="0">
                <a:latin typeface="Open Sans Light"/>
                <a:cs typeface="Open Sans Light"/>
              </a:rPr>
              <a:t> </a:t>
            </a:r>
            <a:r>
              <a:rPr sz="1100" dirty="0">
                <a:latin typeface="Open Sans Light"/>
                <a:cs typeface="Open Sans Light"/>
              </a:rPr>
              <a:t>Memory</a:t>
            </a:r>
            <a:r>
              <a:rPr sz="1100" spc="-28" dirty="0">
                <a:latin typeface="Open Sans Light"/>
                <a:cs typeface="Open Sans Light"/>
              </a:rPr>
              <a:t> </a:t>
            </a:r>
            <a:r>
              <a:rPr sz="1100" dirty="0">
                <a:latin typeface="Open Sans Light"/>
                <a:cs typeface="Open Sans Light"/>
              </a:rPr>
              <a:t>Optimized</a:t>
            </a:r>
            <a:r>
              <a:rPr sz="1100" spc="-25" dirty="0">
                <a:latin typeface="Open Sans Light"/>
                <a:cs typeface="Open Sans Light"/>
              </a:rPr>
              <a:t> </a:t>
            </a:r>
            <a:r>
              <a:rPr sz="1100" dirty="0">
                <a:latin typeface="Open Sans Light"/>
                <a:cs typeface="Open Sans Light"/>
              </a:rPr>
              <a:t>–</a:t>
            </a:r>
            <a:r>
              <a:rPr sz="1100" spc="-25" dirty="0">
                <a:latin typeface="Open Sans Light"/>
                <a:cs typeface="Open Sans Light"/>
              </a:rPr>
              <a:t> </a:t>
            </a:r>
            <a:r>
              <a:rPr sz="1100" dirty="0">
                <a:latin typeface="Open Sans Light"/>
                <a:cs typeface="Open Sans Light"/>
              </a:rPr>
              <a:t>(X1,</a:t>
            </a:r>
            <a:r>
              <a:rPr sz="1100" spc="-25" dirty="0">
                <a:latin typeface="Open Sans Light"/>
                <a:cs typeface="Open Sans Light"/>
              </a:rPr>
              <a:t> </a:t>
            </a:r>
            <a:r>
              <a:rPr sz="1100" dirty="0">
                <a:latin typeface="Open Sans Light"/>
                <a:cs typeface="Open Sans Light"/>
              </a:rPr>
              <a:t>R4,</a:t>
            </a:r>
            <a:r>
              <a:rPr sz="1100" spc="-25" dirty="0">
                <a:latin typeface="Open Sans Light"/>
                <a:cs typeface="Open Sans Light"/>
              </a:rPr>
              <a:t> </a:t>
            </a:r>
            <a:r>
              <a:rPr sz="1100" dirty="0">
                <a:latin typeface="Open Sans Light"/>
                <a:cs typeface="Open Sans Light"/>
              </a:rPr>
              <a:t>R3),</a:t>
            </a:r>
            <a:r>
              <a:rPr sz="1100" spc="-25" dirty="0">
                <a:latin typeface="Open Sans Light"/>
                <a:cs typeface="Open Sans Light"/>
              </a:rPr>
              <a:t> </a:t>
            </a:r>
            <a:r>
              <a:rPr sz="1100" dirty="0">
                <a:latin typeface="Open Sans Light"/>
                <a:cs typeface="Open Sans Light"/>
              </a:rPr>
              <a:t>Accelerated</a:t>
            </a:r>
            <a:r>
              <a:rPr sz="1100" spc="-28" dirty="0">
                <a:latin typeface="Open Sans Light"/>
                <a:cs typeface="Open Sans Light"/>
              </a:rPr>
              <a:t> </a:t>
            </a:r>
            <a:r>
              <a:rPr sz="1100" dirty="0">
                <a:latin typeface="Open Sans Light"/>
                <a:cs typeface="Open Sans Light"/>
              </a:rPr>
              <a:t>Computing</a:t>
            </a:r>
            <a:r>
              <a:rPr sz="1100" spc="-25" dirty="0">
                <a:latin typeface="Open Sans Light"/>
                <a:cs typeface="Open Sans Light"/>
              </a:rPr>
              <a:t> </a:t>
            </a:r>
            <a:r>
              <a:rPr sz="1100" dirty="0">
                <a:latin typeface="Open Sans Light"/>
                <a:cs typeface="Open Sans Light"/>
              </a:rPr>
              <a:t>(P3,</a:t>
            </a:r>
            <a:r>
              <a:rPr sz="1100" spc="-25" dirty="0">
                <a:latin typeface="Open Sans Light"/>
                <a:cs typeface="Open Sans Light"/>
              </a:rPr>
              <a:t> </a:t>
            </a:r>
            <a:r>
              <a:rPr sz="1100" dirty="0">
                <a:latin typeface="Open Sans Light"/>
                <a:cs typeface="Open Sans Light"/>
              </a:rPr>
              <a:t>P2,</a:t>
            </a:r>
            <a:r>
              <a:rPr sz="1100" spc="-25" dirty="0">
                <a:latin typeface="Open Sans Light"/>
                <a:cs typeface="Open Sans Light"/>
              </a:rPr>
              <a:t> </a:t>
            </a:r>
            <a:r>
              <a:rPr sz="1100" spc="-13" dirty="0">
                <a:latin typeface="Open Sans Light"/>
                <a:cs typeface="Open Sans Light"/>
              </a:rPr>
              <a:t>G3, </a:t>
            </a:r>
            <a:r>
              <a:rPr sz="1100" dirty="0">
                <a:latin typeface="Open Sans Light"/>
                <a:cs typeface="Open Sans Light"/>
              </a:rPr>
              <a:t>F1),</a:t>
            </a:r>
            <a:r>
              <a:rPr sz="1100" spc="-23" dirty="0">
                <a:latin typeface="Open Sans Light"/>
                <a:cs typeface="Open Sans Light"/>
              </a:rPr>
              <a:t> </a:t>
            </a:r>
            <a:r>
              <a:rPr sz="1100" dirty="0">
                <a:latin typeface="Open Sans Light"/>
                <a:cs typeface="Open Sans Light"/>
              </a:rPr>
              <a:t>Storage</a:t>
            </a:r>
            <a:r>
              <a:rPr sz="1100" spc="-20" dirty="0">
                <a:latin typeface="Open Sans Light"/>
                <a:cs typeface="Open Sans Light"/>
              </a:rPr>
              <a:t> </a:t>
            </a:r>
            <a:r>
              <a:rPr sz="1100" spc="-5" dirty="0">
                <a:latin typeface="Open Sans Light"/>
                <a:cs typeface="Open Sans Light"/>
              </a:rPr>
              <a:t>optimized-</a:t>
            </a:r>
            <a:r>
              <a:rPr sz="1100" dirty="0">
                <a:latin typeface="Open Sans Light"/>
                <a:cs typeface="Open Sans Light"/>
              </a:rPr>
              <a:t>(I3),</a:t>
            </a:r>
            <a:r>
              <a:rPr sz="1100" spc="-20" dirty="0">
                <a:latin typeface="Open Sans Light"/>
                <a:cs typeface="Open Sans Light"/>
              </a:rPr>
              <a:t> </a:t>
            </a:r>
            <a:r>
              <a:rPr sz="1100" spc="-10" dirty="0">
                <a:latin typeface="Open Sans Light"/>
                <a:cs typeface="Open Sans Light"/>
              </a:rPr>
              <a:t>Dense-</a:t>
            </a:r>
            <a:r>
              <a:rPr sz="1100" dirty="0">
                <a:latin typeface="Open Sans Light"/>
                <a:cs typeface="Open Sans Light"/>
              </a:rPr>
              <a:t>storage</a:t>
            </a:r>
            <a:r>
              <a:rPr sz="1100" spc="-20" dirty="0">
                <a:latin typeface="Open Sans Light"/>
                <a:cs typeface="Open Sans Light"/>
              </a:rPr>
              <a:t> </a:t>
            </a:r>
            <a:r>
              <a:rPr sz="1100" dirty="0">
                <a:latin typeface="Open Sans Light"/>
                <a:cs typeface="Open Sans Light"/>
              </a:rPr>
              <a:t>Instances</a:t>
            </a:r>
            <a:r>
              <a:rPr sz="1100" spc="-20" dirty="0">
                <a:latin typeface="Open Sans Light"/>
                <a:cs typeface="Open Sans Light"/>
              </a:rPr>
              <a:t> </a:t>
            </a:r>
            <a:r>
              <a:rPr sz="1100" dirty="0">
                <a:latin typeface="Open Sans Light"/>
                <a:cs typeface="Open Sans Light"/>
              </a:rPr>
              <a:t>–</a:t>
            </a:r>
            <a:r>
              <a:rPr sz="1100" spc="-20" dirty="0">
                <a:latin typeface="Open Sans Light"/>
                <a:cs typeface="Open Sans Light"/>
              </a:rPr>
              <a:t> </a:t>
            </a:r>
            <a:r>
              <a:rPr sz="1100" spc="-10" dirty="0">
                <a:latin typeface="Open Sans Light"/>
                <a:cs typeface="Open Sans Light"/>
              </a:rPr>
              <a:t>(D2)</a:t>
            </a:r>
            <a:endParaRPr sz="1100">
              <a:latin typeface="Open Sans Light"/>
              <a:cs typeface="Open Sans Light"/>
            </a:endParaRPr>
          </a:p>
        </p:txBody>
      </p:sp>
      <p:sp>
        <p:nvSpPr>
          <p:cNvPr id="6" name="object 6"/>
          <p:cNvSpPr txBox="1"/>
          <p:nvPr/>
        </p:nvSpPr>
        <p:spPr>
          <a:xfrm>
            <a:off x="644178" y="2392978"/>
            <a:ext cx="8103870" cy="2222853"/>
          </a:xfrm>
          <a:prstGeom prst="rect">
            <a:avLst/>
          </a:prstGeom>
        </p:spPr>
        <p:txBody>
          <a:bodyPr vert="horz" wrap="square" lIns="0" tIns="6350" rIns="0" bIns="0" rtlCol="0">
            <a:spAutoFit/>
          </a:bodyPr>
          <a:lstStyle/>
          <a:p>
            <a:pPr marL="1521460" marR="314325" indent="-1334770">
              <a:lnSpc>
                <a:spcPct val="116500"/>
              </a:lnSpc>
              <a:spcBef>
                <a:spcPts val="50"/>
              </a:spcBef>
              <a:tabLst>
                <a:tab pos="1521460" algn="l"/>
                <a:tab pos="4711065" algn="l"/>
              </a:tabLst>
            </a:pPr>
            <a:r>
              <a:rPr sz="1100" b="1" dirty="0">
                <a:latin typeface="Open Sans"/>
                <a:cs typeface="Open Sans"/>
              </a:rPr>
              <a:t>Storage</a:t>
            </a:r>
            <a:r>
              <a:rPr sz="1100" b="1" spc="-43" dirty="0">
                <a:latin typeface="Open Sans"/>
                <a:cs typeface="Open Sans"/>
              </a:rPr>
              <a:t> </a:t>
            </a:r>
            <a:r>
              <a:rPr sz="1100" b="1" spc="-5" dirty="0">
                <a:latin typeface="Open Sans"/>
                <a:cs typeface="Open Sans"/>
              </a:rPr>
              <a:t>Selection:</a:t>
            </a:r>
            <a:r>
              <a:rPr sz="1100" b="1" dirty="0">
                <a:latin typeface="Open Sans"/>
                <a:cs typeface="Open Sans"/>
              </a:rPr>
              <a:t>	</a:t>
            </a:r>
            <a:r>
              <a:rPr sz="1100" dirty="0">
                <a:latin typeface="Open Sans Light"/>
                <a:cs typeface="Open Sans Light"/>
              </a:rPr>
              <a:t>Select</a:t>
            </a:r>
            <a:r>
              <a:rPr sz="1100" spc="-30" dirty="0">
                <a:latin typeface="Open Sans Light"/>
                <a:cs typeface="Open Sans Light"/>
              </a:rPr>
              <a:t> </a:t>
            </a:r>
            <a:r>
              <a:rPr sz="1100" dirty="0">
                <a:latin typeface="Open Sans Light"/>
                <a:cs typeface="Open Sans Light"/>
              </a:rPr>
              <a:t>and</a:t>
            </a:r>
            <a:r>
              <a:rPr sz="1100" spc="-30" dirty="0">
                <a:latin typeface="Open Sans Light"/>
                <a:cs typeface="Open Sans Light"/>
              </a:rPr>
              <a:t> </a:t>
            </a:r>
            <a:r>
              <a:rPr sz="1100" dirty="0">
                <a:latin typeface="Open Sans Light"/>
                <a:cs typeface="Open Sans Light"/>
              </a:rPr>
              <a:t>use</a:t>
            </a:r>
            <a:r>
              <a:rPr sz="1100" spc="-30" dirty="0">
                <a:latin typeface="Open Sans Light"/>
                <a:cs typeface="Open Sans Light"/>
              </a:rPr>
              <a:t> </a:t>
            </a:r>
            <a:r>
              <a:rPr sz="1100" dirty="0">
                <a:latin typeface="Open Sans Light"/>
                <a:cs typeface="Open Sans Light"/>
              </a:rPr>
              <a:t>storage</a:t>
            </a:r>
            <a:r>
              <a:rPr sz="1100" spc="-30" dirty="0">
                <a:latin typeface="Open Sans Light"/>
                <a:cs typeface="Open Sans Light"/>
              </a:rPr>
              <a:t> </a:t>
            </a:r>
            <a:r>
              <a:rPr sz="1100" dirty="0">
                <a:latin typeface="Open Sans Light"/>
                <a:cs typeface="Open Sans Light"/>
              </a:rPr>
              <a:t>as</a:t>
            </a:r>
            <a:r>
              <a:rPr sz="1100" spc="-30" dirty="0">
                <a:latin typeface="Open Sans Light"/>
                <a:cs typeface="Open Sans Light"/>
              </a:rPr>
              <a:t> </a:t>
            </a:r>
            <a:r>
              <a:rPr sz="1100" dirty="0">
                <a:latin typeface="Open Sans Light"/>
                <a:cs typeface="Open Sans Light"/>
              </a:rPr>
              <a:t>per</a:t>
            </a:r>
            <a:r>
              <a:rPr sz="1100" spc="-28" dirty="0">
                <a:latin typeface="Open Sans Light"/>
                <a:cs typeface="Open Sans Light"/>
              </a:rPr>
              <a:t> </a:t>
            </a:r>
            <a:r>
              <a:rPr sz="1100" dirty="0">
                <a:latin typeface="Open Sans Light"/>
                <a:cs typeface="Open Sans Light"/>
              </a:rPr>
              <a:t>need,</a:t>
            </a:r>
            <a:r>
              <a:rPr sz="1100" spc="-30" dirty="0">
                <a:latin typeface="Open Sans Light"/>
                <a:cs typeface="Open Sans Light"/>
              </a:rPr>
              <a:t> </a:t>
            </a:r>
            <a:r>
              <a:rPr sz="1100" dirty="0">
                <a:latin typeface="Open Sans Light"/>
                <a:cs typeface="Open Sans Light"/>
              </a:rPr>
              <a:t>allocate</a:t>
            </a:r>
            <a:r>
              <a:rPr sz="1100" spc="-30" dirty="0">
                <a:latin typeface="Open Sans Light"/>
                <a:cs typeface="Open Sans Light"/>
              </a:rPr>
              <a:t> </a:t>
            </a:r>
            <a:r>
              <a:rPr sz="1100" dirty="0">
                <a:latin typeface="Open Sans Light"/>
                <a:cs typeface="Open Sans Light"/>
              </a:rPr>
              <a:t>as</a:t>
            </a:r>
            <a:r>
              <a:rPr sz="1100" spc="-30" dirty="0">
                <a:latin typeface="Open Sans Light"/>
                <a:cs typeface="Open Sans Light"/>
              </a:rPr>
              <a:t> </a:t>
            </a:r>
            <a:r>
              <a:rPr sz="1100" dirty="0">
                <a:latin typeface="Open Sans Light"/>
                <a:cs typeface="Open Sans Light"/>
              </a:rPr>
              <a:t>per</a:t>
            </a:r>
            <a:r>
              <a:rPr sz="1100" spc="-30" dirty="0">
                <a:latin typeface="Open Sans Light"/>
                <a:cs typeface="Open Sans Light"/>
              </a:rPr>
              <a:t> </a:t>
            </a:r>
            <a:r>
              <a:rPr sz="1100" dirty="0">
                <a:latin typeface="Open Sans Light"/>
                <a:cs typeface="Open Sans Light"/>
              </a:rPr>
              <a:t>application</a:t>
            </a:r>
            <a:r>
              <a:rPr sz="1100" spc="-28" dirty="0">
                <a:latin typeface="Open Sans Light"/>
                <a:cs typeface="Open Sans Light"/>
              </a:rPr>
              <a:t> </a:t>
            </a:r>
            <a:r>
              <a:rPr sz="1100" dirty="0">
                <a:latin typeface="Open Sans Light"/>
                <a:cs typeface="Open Sans Light"/>
              </a:rPr>
              <a:t>need,</a:t>
            </a:r>
            <a:r>
              <a:rPr sz="1100" spc="-30" dirty="0">
                <a:latin typeface="Open Sans Light"/>
                <a:cs typeface="Open Sans Light"/>
              </a:rPr>
              <a:t> </a:t>
            </a:r>
            <a:r>
              <a:rPr sz="1100" dirty="0">
                <a:latin typeface="Open Sans Light"/>
                <a:cs typeface="Open Sans Light"/>
              </a:rPr>
              <a:t>and</a:t>
            </a:r>
            <a:r>
              <a:rPr sz="1100" spc="-30" dirty="0">
                <a:latin typeface="Open Sans Light"/>
                <a:cs typeface="Open Sans Light"/>
              </a:rPr>
              <a:t> </a:t>
            </a:r>
            <a:r>
              <a:rPr sz="1100" dirty="0">
                <a:latin typeface="Open Sans Light"/>
                <a:cs typeface="Open Sans Light"/>
              </a:rPr>
              <a:t>don't</a:t>
            </a:r>
            <a:r>
              <a:rPr sz="1100" spc="-30" dirty="0">
                <a:latin typeface="Open Sans Light"/>
                <a:cs typeface="Open Sans Light"/>
              </a:rPr>
              <a:t> </a:t>
            </a:r>
            <a:r>
              <a:rPr sz="1100" dirty="0">
                <a:latin typeface="Open Sans Light"/>
                <a:cs typeface="Open Sans Light"/>
              </a:rPr>
              <a:t>overestimate,</a:t>
            </a:r>
            <a:r>
              <a:rPr sz="1100" spc="-30" dirty="0">
                <a:latin typeface="Open Sans Light"/>
                <a:cs typeface="Open Sans Light"/>
              </a:rPr>
              <a:t> </a:t>
            </a:r>
            <a:r>
              <a:rPr sz="1100" dirty="0">
                <a:latin typeface="Open Sans Light"/>
                <a:cs typeface="Open Sans Light"/>
              </a:rPr>
              <a:t>if</a:t>
            </a:r>
            <a:r>
              <a:rPr sz="1100" spc="-30" dirty="0">
                <a:latin typeface="Open Sans Light"/>
                <a:cs typeface="Open Sans Light"/>
              </a:rPr>
              <a:t> </a:t>
            </a:r>
            <a:r>
              <a:rPr sz="1100" spc="-10" dirty="0">
                <a:latin typeface="Open Sans Light"/>
                <a:cs typeface="Open Sans Light"/>
              </a:rPr>
              <a:t>need </a:t>
            </a:r>
            <a:r>
              <a:rPr sz="1100" dirty="0">
                <a:latin typeface="Open Sans Light"/>
                <a:cs typeface="Open Sans Light"/>
              </a:rPr>
              <a:t>huge</a:t>
            </a:r>
            <a:r>
              <a:rPr sz="1100" spc="-23" dirty="0">
                <a:latin typeface="Open Sans Light"/>
                <a:cs typeface="Open Sans Light"/>
              </a:rPr>
              <a:t> </a:t>
            </a:r>
            <a:r>
              <a:rPr sz="1100" dirty="0">
                <a:latin typeface="Open Sans Light"/>
                <a:cs typeface="Open Sans Light"/>
              </a:rPr>
              <a:t>storage</a:t>
            </a:r>
            <a:r>
              <a:rPr sz="1100" spc="-23" dirty="0">
                <a:latin typeface="Open Sans Light"/>
                <a:cs typeface="Open Sans Light"/>
              </a:rPr>
              <a:t> </a:t>
            </a:r>
            <a:r>
              <a:rPr sz="1100" dirty="0">
                <a:latin typeface="Open Sans Light"/>
                <a:cs typeface="Open Sans Light"/>
              </a:rPr>
              <a:t>to</a:t>
            </a:r>
            <a:r>
              <a:rPr sz="1100" spc="-23" dirty="0">
                <a:latin typeface="Open Sans Light"/>
                <a:cs typeface="Open Sans Light"/>
              </a:rPr>
              <a:t> </a:t>
            </a:r>
            <a:r>
              <a:rPr sz="1100" dirty="0">
                <a:latin typeface="Open Sans Light"/>
                <a:cs typeface="Open Sans Light"/>
              </a:rPr>
              <a:t>store</a:t>
            </a:r>
            <a:r>
              <a:rPr sz="1100" spc="-23" dirty="0">
                <a:latin typeface="Open Sans Light"/>
                <a:cs typeface="Open Sans Light"/>
              </a:rPr>
              <a:t> </a:t>
            </a:r>
            <a:r>
              <a:rPr sz="1100" dirty="0">
                <a:latin typeface="Open Sans Light"/>
                <a:cs typeface="Open Sans Light"/>
              </a:rPr>
              <a:t>some</a:t>
            </a:r>
            <a:r>
              <a:rPr sz="1100" spc="-20" dirty="0">
                <a:latin typeface="Open Sans Light"/>
                <a:cs typeface="Open Sans Light"/>
              </a:rPr>
              <a:t> </a:t>
            </a:r>
            <a:r>
              <a:rPr sz="1100" dirty="0">
                <a:latin typeface="Open Sans Light"/>
                <a:cs typeface="Open Sans Light"/>
              </a:rPr>
              <a:t>data</a:t>
            </a:r>
            <a:r>
              <a:rPr sz="1100" spc="-23" dirty="0">
                <a:latin typeface="Open Sans Light"/>
                <a:cs typeface="Open Sans Light"/>
              </a:rPr>
              <a:t> </a:t>
            </a:r>
            <a:r>
              <a:rPr sz="1100" dirty="0">
                <a:latin typeface="Open Sans Light"/>
                <a:cs typeface="Open Sans Light"/>
              </a:rPr>
              <a:t>then</a:t>
            </a:r>
            <a:r>
              <a:rPr sz="1100" spc="-23" dirty="0">
                <a:latin typeface="Open Sans Light"/>
                <a:cs typeface="Open Sans Light"/>
              </a:rPr>
              <a:t> </a:t>
            </a:r>
            <a:r>
              <a:rPr sz="1100" dirty="0">
                <a:latin typeface="Open Sans Light"/>
                <a:cs typeface="Open Sans Light"/>
              </a:rPr>
              <a:t>store</a:t>
            </a:r>
            <a:r>
              <a:rPr sz="1100" spc="-23" dirty="0">
                <a:latin typeface="Open Sans Light"/>
                <a:cs typeface="Open Sans Light"/>
              </a:rPr>
              <a:t> </a:t>
            </a:r>
            <a:r>
              <a:rPr sz="1100" dirty="0">
                <a:latin typeface="Open Sans Light"/>
                <a:cs typeface="Open Sans Light"/>
              </a:rPr>
              <a:t>in</a:t>
            </a:r>
            <a:r>
              <a:rPr sz="1100" spc="-20" dirty="0">
                <a:latin typeface="Open Sans Light"/>
                <a:cs typeface="Open Sans Light"/>
              </a:rPr>
              <a:t> </a:t>
            </a:r>
            <a:r>
              <a:rPr sz="1100" dirty="0">
                <a:latin typeface="Open Sans Light"/>
                <a:cs typeface="Open Sans Light"/>
              </a:rPr>
              <a:t>AWS</a:t>
            </a:r>
            <a:r>
              <a:rPr sz="1100" spc="-23" dirty="0">
                <a:latin typeface="Open Sans Light"/>
                <a:cs typeface="Open Sans Light"/>
              </a:rPr>
              <a:t> </a:t>
            </a:r>
            <a:r>
              <a:rPr sz="1100" dirty="0">
                <a:latin typeface="Open Sans Light"/>
                <a:cs typeface="Open Sans Light"/>
              </a:rPr>
              <a:t>S3</a:t>
            </a:r>
            <a:r>
              <a:rPr sz="1100" spc="-23" dirty="0">
                <a:latin typeface="Open Sans Light"/>
                <a:cs typeface="Open Sans Light"/>
              </a:rPr>
              <a:t> </a:t>
            </a:r>
            <a:r>
              <a:rPr sz="1100" dirty="0">
                <a:latin typeface="Open Sans Light"/>
                <a:cs typeface="Open Sans Light"/>
              </a:rPr>
              <a:t>instead</a:t>
            </a:r>
            <a:r>
              <a:rPr sz="1100" spc="-23" dirty="0">
                <a:latin typeface="Open Sans Light"/>
                <a:cs typeface="Open Sans Light"/>
              </a:rPr>
              <a:t> </a:t>
            </a:r>
            <a:r>
              <a:rPr sz="1100" dirty="0">
                <a:latin typeface="Open Sans Light"/>
                <a:cs typeface="Open Sans Light"/>
              </a:rPr>
              <a:t>of</a:t>
            </a:r>
            <a:r>
              <a:rPr sz="1100" spc="-20" dirty="0">
                <a:latin typeface="Open Sans Light"/>
                <a:cs typeface="Open Sans Light"/>
              </a:rPr>
              <a:t> </a:t>
            </a:r>
            <a:r>
              <a:rPr sz="1100" dirty="0">
                <a:latin typeface="Open Sans Light"/>
                <a:cs typeface="Open Sans Light"/>
              </a:rPr>
              <a:t>EBS</a:t>
            </a:r>
            <a:r>
              <a:rPr sz="1100" spc="-23" dirty="0">
                <a:latin typeface="Open Sans Light"/>
                <a:cs typeface="Open Sans Light"/>
              </a:rPr>
              <a:t> </a:t>
            </a:r>
            <a:r>
              <a:rPr sz="1100" dirty="0">
                <a:latin typeface="Open Sans Light"/>
                <a:cs typeface="Open Sans Light"/>
              </a:rPr>
              <a:t>Volume,</a:t>
            </a:r>
            <a:r>
              <a:rPr sz="1100" spc="-23" dirty="0">
                <a:latin typeface="Open Sans Light"/>
                <a:cs typeface="Open Sans Light"/>
              </a:rPr>
              <a:t> </a:t>
            </a:r>
            <a:r>
              <a:rPr sz="1100" dirty="0">
                <a:latin typeface="Open Sans Light"/>
                <a:cs typeface="Open Sans Light"/>
              </a:rPr>
              <a:t>and</a:t>
            </a:r>
            <a:r>
              <a:rPr sz="1100" spc="-23" dirty="0">
                <a:latin typeface="Open Sans Light"/>
                <a:cs typeface="Open Sans Light"/>
              </a:rPr>
              <a:t> </a:t>
            </a:r>
            <a:r>
              <a:rPr sz="1100" dirty="0">
                <a:latin typeface="Open Sans Light"/>
                <a:cs typeface="Open Sans Light"/>
              </a:rPr>
              <a:t>if</a:t>
            </a:r>
            <a:r>
              <a:rPr sz="1100" spc="-20" dirty="0">
                <a:latin typeface="Open Sans Light"/>
                <a:cs typeface="Open Sans Light"/>
              </a:rPr>
              <a:t> </a:t>
            </a:r>
            <a:r>
              <a:rPr sz="1100" dirty="0">
                <a:latin typeface="Open Sans Light"/>
                <a:cs typeface="Open Sans Light"/>
              </a:rPr>
              <a:t>need</a:t>
            </a:r>
            <a:r>
              <a:rPr sz="1100" spc="-23" dirty="0">
                <a:latin typeface="Open Sans Light"/>
                <a:cs typeface="Open Sans Light"/>
              </a:rPr>
              <a:t> </a:t>
            </a:r>
            <a:r>
              <a:rPr sz="1100" spc="-5" dirty="0">
                <a:latin typeface="Open Sans Light"/>
                <a:cs typeface="Open Sans Light"/>
              </a:rPr>
              <a:t>multiple </a:t>
            </a:r>
            <a:r>
              <a:rPr sz="1100" dirty="0">
                <a:latin typeface="Open Sans Light"/>
                <a:cs typeface="Open Sans Light"/>
              </a:rPr>
              <a:t>instances</a:t>
            </a:r>
            <a:r>
              <a:rPr sz="1100" spc="-28" dirty="0">
                <a:latin typeface="Open Sans Light"/>
                <a:cs typeface="Open Sans Light"/>
              </a:rPr>
              <a:t> </a:t>
            </a:r>
            <a:r>
              <a:rPr sz="1100" dirty="0">
                <a:latin typeface="Open Sans Light"/>
                <a:cs typeface="Open Sans Light"/>
              </a:rPr>
              <a:t>need</a:t>
            </a:r>
            <a:r>
              <a:rPr sz="1100" spc="-28" dirty="0">
                <a:latin typeface="Open Sans Light"/>
                <a:cs typeface="Open Sans Light"/>
              </a:rPr>
              <a:t> </a:t>
            </a:r>
            <a:r>
              <a:rPr sz="1100" dirty="0">
                <a:latin typeface="Open Sans Light"/>
                <a:cs typeface="Open Sans Light"/>
              </a:rPr>
              <a:t>to</a:t>
            </a:r>
            <a:r>
              <a:rPr sz="1100" spc="-25" dirty="0">
                <a:latin typeface="Open Sans Light"/>
                <a:cs typeface="Open Sans Light"/>
              </a:rPr>
              <a:t> </a:t>
            </a:r>
            <a:r>
              <a:rPr sz="1100" dirty="0">
                <a:latin typeface="Open Sans Light"/>
                <a:cs typeface="Open Sans Light"/>
              </a:rPr>
              <a:t>use</a:t>
            </a:r>
            <a:r>
              <a:rPr sz="1100" spc="-28" dirty="0">
                <a:latin typeface="Open Sans Light"/>
                <a:cs typeface="Open Sans Light"/>
              </a:rPr>
              <a:t> </a:t>
            </a:r>
            <a:r>
              <a:rPr sz="1100" dirty="0">
                <a:latin typeface="Open Sans Light"/>
                <a:cs typeface="Open Sans Light"/>
              </a:rPr>
              <a:t>a</a:t>
            </a:r>
            <a:r>
              <a:rPr sz="1100" spc="-25" dirty="0">
                <a:latin typeface="Open Sans Light"/>
                <a:cs typeface="Open Sans Light"/>
              </a:rPr>
              <a:t> </a:t>
            </a:r>
            <a:r>
              <a:rPr sz="1100" dirty="0">
                <a:latin typeface="Open Sans Light"/>
                <a:cs typeface="Open Sans Light"/>
              </a:rPr>
              <a:t>common</a:t>
            </a:r>
            <a:r>
              <a:rPr sz="1100" spc="-28" dirty="0">
                <a:latin typeface="Open Sans Light"/>
                <a:cs typeface="Open Sans Light"/>
              </a:rPr>
              <a:t> </a:t>
            </a:r>
            <a:r>
              <a:rPr sz="1100" dirty="0">
                <a:latin typeface="Open Sans Light"/>
                <a:cs typeface="Open Sans Light"/>
              </a:rPr>
              <a:t>storage</a:t>
            </a:r>
            <a:r>
              <a:rPr sz="1100" spc="-25" dirty="0">
                <a:latin typeface="Open Sans Light"/>
                <a:cs typeface="Open Sans Light"/>
              </a:rPr>
              <a:t> </a:t>
            </a:r>
            <a:r>
              <a:rPr sz="1100" spc="-5" dirty="0">
                <a:latin typeface="Open Sans Light"/>
                <a:cs typeface="Open Sans Light"/>
              </a:rPr>
              <a:t>location</a:t>
            </a:r>
            <a:r>
              <a:rPr sz="1100" dirty="0">
                <a:latin typeface="Open Sans Light"/>
                <a:cs typeface="Open Sans Light"/>
              </a:rPr>
              <a:t>	then</a:t>
            </a:r>
            <a:r>
              <a:rPr sz="1100" spc="-28" dirty="0">
                <a:latin typeface="Open Sans Light"/>
                <a:cs typeface="Open Sans Light"/>
              </a:rPr>
              <a:t> </a:t>
            </a:r>
            <a:r>
              <a:rPr sz="1100" dirty="0">
                <a:latin typeface="Open Sans Light"/>
                <a:cs typeface="Open Sans Light"/>
              </a:rPr>
              <a:t>use</a:t>
            </a:r>
            <a:r>
              <a:rPr sz="1100" spc="-25" dirty="0">
                <a:latin typeface="Open Sans Light"/>
                <a:cs typeface="Open Sans Light"/>
              </a:rPr>
              <a:t> </a:t>
            </a:r>
            <a:r>
              <a:rPr sz="1100" dirty="0">
                <a:latin typeface="Open Sans Light"/>
                <a:cs typeface="Open Sans Light"/>
              </a:rPr>
              <a:t>AWS</a:t>
            </a:r>
            <a:r>
              <a:rPr sz="1100" spc="-25" dirty="0">
                <a:latin typeface="Open Sans Light"/>
                <a:cs typeface="Open Sans Light"/>
              </a:rPr>
              <a:t> </a:t>
            </a:r>
            <a:r>
              <a:rPr sz="1100" spc="-13" dirty="0">
                <a:latin typeface="Open Sans Light"/>
                <a:cs typeface="Open Sans Light"/>
              </a:rPr>
              <a:t>EFS</a:t>
            </a:r>
            <a:endParaRPr sz="1100">
              <a:latin typeface="Open Sans Light"/>
              <a:cs typeface="Open Sans Light"/>
            </a:endParaRPr>
          </a:p>
          <a:p>
            <a:pPr marL="6350" algn="just">
              <a:spcBef>
                <a:spcPts val="1190"/>
              </a:spcBef>
            </a:pPr>
            <a:r>
              <a:rPr sz="1100" b="1" dirty="0">
                <a:latin typeface="Open Sans"/>
                <a:cs typeface="Open Sans"/>
              </a:rPr>
              <a:t>Network</a:t>
            </a:r>
            <a:r>
              <a:rPr sz="1100" b="1" spc="-30" dirty="0">
                <a:latin typeface="Open Sans"/>
                <a:cs typeface="Open Sans"/>
              </a:rPr>
              <a:t> </a:t>
            </a:r>
            <a:r>
              <a:rPr sz="1100" b="1" dirty="0">
                <a:latin typeface="Open Sans"/>
                <a:cs typeface="Open Sans"/>
              </a:rPr>
              <a:t>Selection</a:t>
            </a:r>
            <a:r>
              <a:rPr sz="1100" b="1" spc="-30" dirty="0">
                <a:latin typeface="Open Sans"/>
                <a:cs typeface="Open Sans"/>
              </a:rPr>
              <a:t> </a:t>
            </a:r>
            <a:r>
              <a:rPr sz="1100" b="1" dirty="0">
                <a:latin typeface="Open Sans"/>
                <a:cs typeface="Open Sans"/>
              </a:rPr>
              <a:t>&amp;</a:t>
            </a:r>
            <a:r>
              <a:rPr sz="1100" b="1" spc="23" dirty="0">
                <a:latin typeface="Open Sans"/>
                <a:cs typeface="Open Sans"/>
              </a:rPr>
              <a:t>  </a:t>
            </a:r>
            <a:r>
              <a:rPr sz="1100" dirty="0">
                <a:latin typeface="Open Sans Light"/>
                <a:cs typeface="Open Sans Light"/>
              </a:rPr>
              <a:t>Configure</a:t>
            </a:r>
            <a:r>
              <a:rPr sz="1100" spc="-28" dirty="0">
                <a:latin typeface="Open Sans Light"/>
                <a:cs typeface="Open Sans Light"/>
              </a:rPr>
              <a:t> </a:t>
            </a:r>
            <a:r>
              <a:rPr sz="1100" dirty="0">
                <a:latin typeface="Open Sans Light"/>
                <a:cs typeface="Open Sans Light"/>
              </a:rPr>
              <a:t>secure</a:t>
            </a:r>
            <a:r>
              <a:rPr sz="1100" spc="-30" dirty="0">
                <a:latin typeface="Open Sans Light"/>
                <a:cs typeface="Open Sans Light"/>
              </a:rPr>
              <a:t> </a:t>
            </a:r>
            <a:r>
              <a:rPr sz="1100" dirty="0">
                <a:latin typeface="Open Sans Light"/>
                <a:cs typeface="Open Sans Light"/>
              </a:rPr>
              <a:t>VPC</a:t>
            </a:r>
            <a:r>
              <a:rPr sz="1100" spc="-30" dirty="0">
                <a:latin typeface="Open Sans Light"/>
                <a:cs typeface="Open Sans Light"/>
              </a:rPr>
              <a:t> </a:t>
            </a:r>
            <a:r>
              <a:rPr sz="1100" dirty="0">
                <a:latin typeface="Open Sans Light"/>
                <a:cs typeface="Open Sans Light"/>
              </a:rPr>
              <a:t>by</a:t>
            </a:r>
            <a:r>
              <a:rPr sz="1100" spc="-28" dirty="0">
                <a:latin typeface="Open Sans Light"/>
                <a:cs typeface="Open Sans Light"/>
              </a:rPr>
              <a:t> </a:t>
            </a:r>
            <a:r>
              <a:rPr sz="1100" dirty="0">
                <a:latin typeface="Open Sans Light"/>
                <a:cs typeface="Open Sans Light"/>
              </a:rPr>
              <a:t>configuring</a:t>
            </a:r>
            <a:r>
              <a:rPr sz="1100" spc="-30" dirty="0">
                <a:latin typeface="Open Sans Light"/>
                <a:cs typeface="Open Sans Light"/>
              </a:rPr>
              <a:t> </a:t>
            </a:r>
            <a:r>
              <a:rPr sz="1100" spc="-5" dirty="0">
                <a:latin typeface="Open Sans Light"/>
                <a:cs typeface="Open Sans Light"/>
              </a:rPr>
              <a:t>Public/Private</a:t>
            </a:r>
            <a:r>
              <a:rPr sz="1100" spc="-30" dirty="0">
                <a:latin typeface="Open Sans Light"/>
                <a:cs typeface="Open Sans Light"/>
              </a:rPr>
              <a:t> </a:t>
            </a:r>
            <a:r>
              <a:rPr sz="1100" dirty="0">
                <a:latin typeface="Open Sans Light"/>
                <a:cs typeface="Open Sans Light"/>
              </a:rPr>
              <a:t>subnets,</a:t>
            </a:r>
            <a:r>
              <a:rPr sz="1100" spc="-30" dirty="0">
                <a:latin typeface="Open Sans Light"/>
                <a:cs typeface="Open Sans Light"/>
              </a:rPr>
              <a:t> </a:t>
            </a:r>
            <a:r>
              <a:rPr sz="1100" dirty="0">
                <a:latin typeface="Open Sans Light"/>
                <a:cs typeface="Open Sans Light"/>
              </a:rPr>
              <a:t>assign</a:t>
            </a:r>
            <a:r>
              <a:rPr sz="1100" spc="-30" dirty="0">
                <a:latin typeface="Open Sans Light"/>
                <a:cs typeface="Open Sans Light"/>
              </a:rPr>
              <a:t> </a:t>
            </a:r>
            <a:r>
              <a:rPr sz="1100" dirty="0">
                <a:latin typeface="Open Sans Light"/>
                <a:cs typeface="Open Sans Light"/>
              </a:rPr>
              <a:t>Elastic</a:t>
            </a:r>
            <a:r>
              <a:rPr sz="1100" spc="-30" dirty="0">
                <a:latin typeface="Open Sans Light"/>
                <a:cs typeface="Open Sans Light"/>
              </a:rPr>
              <a:t> </a:t>
            </a:r>
            <a:r>
              <a:rPr sz="1100" dirty="0">
                <a:latin typeface="Open Sans Light"/>
                <a:cs typeface="Open Sans Light"/>
              </a:rPr>
              <a:t>IPS</a:t>
            </a:r>
            <a:r>
              <a:rPr sz="1100" spc="-30" dirty="0">
                <a:latin typeface="Open Sans Light"/>
                <a:cs typeface="Open Sans Light"/>
              </a:rPr>
              <a:t> </a:t>
            </a:r>
            <a:r>
              <a:rPr sz="1100" dirty="0">
                <a:latin typeface="Open Sans Light"/>
                <a:cs typeface="Open Sans Light"/>
              </a:rPr>
              <a:t>properly,</a:t>
            </a:r>
            <a:r>
              <a:rPr sz="1100" spc="-30" dirty="0">
                <a:latin typeface="Open Sans Light"/>
                <a:cs typeface="Open Sans Light"/>
              </a:rPr>
              <a:t> </a:t>
            </a:r>
            <a:r>
              <a:rPr sz="1100" dirty="0">
                <a:latin typeface="Open Sans Light"/>
                <a:cs typeface="Open Sans Light"/>
              </a:rPr>
              <a:t>and</a:t>
            </a:r>
            <a:r>
              <a:rPr sz="1100" spc="-30" dirty="0">
                <a:latin typeface="Open Sans Light"/>
                <a:cs typeface="Open Sans Light"/>
              </a:rPr>
              <a:t> </a:t>
            </a:r>
            <a:r>
              <a:rPr sz="1100" dirty="0">
                <a:latin typeface="Open Sans Light"/>
                <a:cs typeface="Open Sans Light"/>
              </a:rPr>
              <a:t>use</a:t>
            </a:r>
            <a:r>
              <a:rPr sz="1100" spc="-30" dirty="0">
                <a:latin typeface="Open Sans Light"/>
                <a:cs typeface="Open Sans Light"/>
              </a:rPr>
              <a:t> </a:t>
            </a:r>
            <a:r>
              <a:rPr sz="1100" dirty="0">
                <a:latin typeface="Open Sans Light"/>
                <a:cs typeface="Open Sans Light"/>
              </a:rPr>
              <a:t>only</a:t>
            </a:r>
            <a:r>
              <a:rPr sz="1100" spc="-30" dirty="0">
                <a:latin typeface="Open Sans Light"/>
                <a:cs typeface="Open Sans Light"/>
              </a:rPr>
              <a:t> </a:t>
            </a:r>
            <a:r>
              <a:rPr sz="1100" spc="-13" dirty="0">
                <a:latin typeface="Open Sans Light"/>
                <a:cs typeface="Open Sans Light"/>
              </a:rPr>
              <a:t>if</a:t>
            </a:r>
            <a:endParaRPr sz="1100">
              <a:latin typeface="Open Sans Light"/>
              <a:cs typeface="Open Sans Light"/>
            </a:endParaRPr>
          </a:p>
          <a:p>
            <a:pPr marL="1521460" marR="35878" indent="-1091248" algn="just">
              <a:lnSpc>
                <a:spcPct val="116500"/>
              </a:lnSpc>
            </a:pPr>
            <a:r>
              <a:rPr sz="1100" b="1" dirty="0">
                <a:latin typeface="Open Sans"/>
                <a:cs typeface="Open Sans"/>
              </a:rPr>
              <a:t>Configuration:</a:t>
            </a:r>
            <a:r>
              <a:rPr sz="1100" b="1" spc="23" dirty="0">
                <a:latin typeface="Open Sans"/>
                <a:cs typeface="Open Sans"/>
              </a:rPr>
              <a:t>  </a:t>
            </a:r>
            <a:r>
              <a:rPr sz="1100" dirty="0">
                <a:latin typeface="Open Sans Light"/>
                <a:cs typeface="Open Sans Light"/>
              </a:rPr>
              <a:t>needed</a:t>
            </a:r>
            <a:r>
              <a:rPr sz="1100" spc="-33" dirty="0">
                <a:latin typeface="Open Sans Light"/>
                <a:cs typeface="Open Sans Light"/>
              </a:rPr>
              <a:t> </a:t>
            </a:r>
            <a:r>
              <a:rPr sz="1100" dirty="0">
                <a:latin typeface="Open Sans Light"/>
                <a:cs typeface="Open Sans Light"/>
              </a:rPr>
              <a:t>else</a:t>
            </a:r>
            <a:r>
              <a:rPr sz="1100" spc="-30" dirty="0">
                <a:latin typeface="Open Sans Light"/>
                <a:cs typeface="Open Sans Light"/>
              </a:rPr>
              <a:t> </a:t>
            </a:r>
            <a:r>
              <a:rPr sz="1100" dirty="0">
                <a:latin typeface="Open Sans Light"/>
                <a:cs typeface="Open Sans Light"/>
              </a:rPr>
              <a:t>release</a:t>
            </a:r>
            <a:r>
              <a:rPr sz="1100" spc="-33" dirty="0">
                <a:latin typeface="Open Sans Light"/>
                <a:cs typeface="Open Sans Light"/>
              </a:rPr>
              <a:t> </a:t>
            </a:r>
            <a:r>
              <a:rPr sz="1100" dirty="0">
                <a:latin typeface="Open Sans Light"/>
                <a:cs typeface="Open Sans Light"/>
              </a:rPr>
              <a:t>the</a:t>
            </a:r>
            <a:r>
              <a:rPr sz="1100" spc="-30" dirty="0">
                <a:latin typeface="Open Sans Light"/>
                <a:cs typeface="Open Sans Light"/>
              </a:rPr>
              <a:t> </a:t>
            </a:r>
            <a:r>
              <a:rPr sz="1100" dirty="0">
                <a:latin typeface="Open Sans Light"/>
                <a:cs typeface="Open Sans Light"/>
              </a:rPr>
              <a:t>same,</a:t>
            </a:r>
            <a:r>
              <a:rPr sz="1100" spc="-33" dirty="0">
                <a:latin typeface="Open Sans Light"/>
                <a:cs typeface="Open Sans Light"/>
              </a:rPr>
              <a:t> </a:t>
            </a:r>
            <a:r>
              <a:rPr sz="1100" dirty="0">
                <a:latin typeface="Open Sans Light"/>
                <a:cs typeface="Open Sans Light"/>
              </a:rPr>
              <a:t>make</a:t>
            </a:r>
            <a:r>
              <a:rPr sz="1100" spc="-30" dirty="0">
                <a:latin typeface="Open Sans Light"/>
                <a:cs typeface="Open Sans Light"/>
              </a:rPr>
              <a:t> </a:t>
            </a:r>
            <a:r>
              <a:rPr sz="1100" dirty="0">
                <a:latin typeface="Open Sans Light"/>
                <a:cs typeface="Open Sans Light"/>
              </a:rPr>
              <a:t>sure</a:t>
            </a:r>
            <a:r>
              <a:rPr sz="1100" spc="-33" dirty="0">
                <a:latin typeface="Open Sans Light"/>
                <a:cs typeface="Open Sans Light"/>
              </a:rPr>
              <a:t> </a:t>
            </a:r>
            <a:r>
              <a:rPr sz="1100" dirty="0">
                <a:latin typeface="Open Sans Light"/>
                <a:cs typeface="Open Sans Light"/>
              </a:rPr>
              <a:t>configure</a:t>
            </a:r>
            <a:r>
              <a:rPr sz="1100" spc="-30" dirty="0">
                <a:latin typeface="Open Sans Light"/>
                <a:cs typeface="Open Sans Light"/>
              </a:rPr>
              <a:t> </a:t>
            </a:r>
            <a:r>
              <a:rPr sz="1100" dirty="0">
                <a:latin typeface="Open Sans Light"/>
                <a:cs typeface="Open Sans Light"/>
              </a:rPr>
              <a:t>security</a:t>
            </a:r>
            <a:r>
              <a:rPr sz="1100" spc="-33" dirty="0">
                <a:latin typeface="Open Sans Light"/>
                <a:cs typeface="Open Sans Light"/>
              </a:rPr>
              <a:t> </a:t>
            </a:r>
            <a:r>
              <a:rPr sz="1100" dirty="0">
                <a:latin typeface="Open Sans Light"/>
                <a:cs typeface="Open Sans Light"/>
              </a:rPr>
              <a:t>groups</a:t>
            </a:r>
            <a:r>
              <a:rPr sz="1100" spc="-30" dirty="0">
                <a:latin typeface="Open Sans Light"/>
                <a:cs typeface="Open Sans Light"/>
              </a:rPr>
              <a:t> </a:t>
            </a:r>
            <a:r>
              <a:rPr sz="1100" dirty="0">
                <a:latin typeface="Open Sans Light"/>
                <a:cs typeface="Open Sans Light"/>
              </a:rPr>
              <a:t>properly</a:t>
            </a:r>
            <a:r>
              <a:rPr sz="1100" spc="-33" dirty="0">
                <a:latin typeface="Open Sans Light"/>
                <a:cs typeface="Open Sans Light"/>
              </a:rPr>
              <a:t> </a:t>
            </a:r>
            <a:r>
              <a:rPr sz="1100" dirty="0">
                <a:latin typeface="Open Sans Light"/>
                <a:cs typeface="Open Sans Light"/>
              </a:rPr>
              <a:t>and</a:t>
            </a:r>
            <a:r>
              <a:rPr sz="1100" spc="-30" dirty="0">
                <a:latin typeface="Open Sans Light"/>
                <a:cs typeface="Open Sans Light"/>
              </a:rPr>
              <a:t> </a:t>
            </a:r>
            <a:r>
              <a:rPr sz="1100" dirty="0">
                <a:latin typeface="Open Sans Light"/>
                <a:cs typeface="Open Sans Light"/>
              </a:rPr>
              <a:t>allow</a:t>
            </a:r>
            <a:r>
              <a:rPr sz="1100" spc="-33" dirty="0">
                <a:latin typeface="Open Sans Light"/>
                <a:cs typeface="Open Sans Light"/>
              </a:rPr>
              <a:t> </a:t>
            </a:r>
            <a:r>
              <a:rPr sz="1100" dirty="0">
                <a:latin typeface="Open Sans Light"/>
                <a:cs typeface="Open Sans Light"/>
              </a:rPr>
              <a:t>port</a:t>
            </a:r>
            <a:r>
              <a:rPr sz="1100" spc="-30" dirty="0">
                <a:latin typeface="Open Sans Light"/>
                <a:cs typeface="Open Sans Light"/>
              </a:rPr>
              <a:t> </a:t>
            </a:r>
            <a:r>
              <a:rPr sz="1100" dirty="0">
                <a:latin typeface="Open Sans Light"/>
                <a:cs typeface="Open Sans Light"/>
              </a:rPr>
              <a:t>that</a:t>
            </a:r>
            <a:r>
              <a:rPr sz="1100" spc="-33" dirty="0">
                <a:latin typeface="Open Sans Light"/>
                <a:cs typeface="Open Sans Light"/>
              </a:rPr>
              <a:t> </a:t>
            </a:r>
            <a:r>
              <a:rPr sz="1100" spc="-5" dirty="0">
                <a:latin typeface="Open Sans Light"/>
                <a:cs typeface="Open Sans Light"/>
              </a:rPr>
              <a:t>needed </a:t>
            </a:r>
            <a:r>
              <a:rPr sz="1100" dirty="0">
                <a:latin typeface="Open Sans Light"/>
                <a:cs typeface="Open Sans Light"/>
              </a:rPr>
              <a:t>and</a:t>
            </a:r>
            <a:r>
              <a:rPr sz="1100" spc="-33" dirty="0">
                <a:latin typeface="Open Sans Light"/>
                <a:cs typeface="Open Sans Light"/>
              </a:rPr>
              <a:t> </a:t>
            </a:r>
            <a:r>
              <a:rPr sz="1100" dirty="0">
                <a:latin typeface="Open Sans Light"/>
                <a:cs typeface="Open Sans Light"/>
              </a:rPr>
              <a:t>to</a:t>
            </a:r>
            <a:r>
              <a:rPr sz="1100" spc="-30" dirty="0">
                <a:latin typeface="Open Sans Light"/>
                <a:cs typeface="Open Sans Light"/>
              </a:rPr>
              <a:t> </a:t>
            </a:r>
            <a:r>
              <a:rPr sz="1100" dirty="0">
                <a:latin typeface="Open Sans Light"/>
                <a:cs typeface="Open Sans Light"/>
              </a:rPr>
              <a:t>the</a:t>
            </a:r>
            <a:r>
              <a:rPr sz="1100" spc="-30" dirty="0">
                <a:latin typeface="Open Sans Light"/>
                <a:cs typeface="Open Sans Light"/>
              </a:rPr>
              <a:t> </a:t>
            </a:r>
            <a:r>
              <a:rPr sz="1100" dirty="0">
                <a:latin typeface="Open Sans Light"/>
                <a:cs typeface="Open Sans Light"/>
              </a:rPr>
              <a:t>targeted</a:t>
            </a:r>
            <a:r>
              <a:rPr sz="1100" spc="-33" dirty="0">
                <a:latin typeface="Open Sans Light"/>
                <a:cs typeface="Open Sans Light"/>
              </a:rPr>
              <a:t> </a:t>
            </a:r>
            <a:r>
              <a:rPr sz="1100" dirty="0">
                <a:latin typeface="Open Sans Light"/>
                <a:cs typeface="Open Sans Light"/>
              </a:rPr>
              <a:t>users,</a:t>
            </a:r>
            <a:r>
              <a:rPr sz="1100" spc="-30" dirty="0">
                <a:latin typeface="Open Sans Light"/>
                <a:cs typeface="Open Sans Light"/>
              </a:rPr>
              <a:t> </a:t>
            </a:r>
            <a:r>
              <a:rPr sz="1100" dirty="0">
                <a:latin typeface="Open Sans Light"/>
                <a:cs typeface="Open Sans Light"/>
              </a:rPr>
              <a:t>allow</a:t>
            </a:r>
            <a:r>
              <a:rPr sz="1100" spc="-30" dirty="0">
                <a:latin typeface="Open Sans Light"/>
                <a:cs typeface="Open Sans Light"/>
              </a:rPr>
              <a:t> </a:t>
            </a:r>
            <a:r>
              <a:rPr sz="1100" dirty="0">
                <a:latin typeface="Open Sans Light"/>
                <a:cs typeface="Open Sans Light"/>
              </a:rPr>
              <a:t>ssh</a:t>
            </a:r>
            <a:r>
              <a:rPr sz="1100" spc="-30" dirty="0">
                <a:latin typeface="Open Sans Light"/>
                <a:cs typeface="Open Sans Light"/>
              </a:rPr>
              <a:t> </a:t>
            </a:r>
            <a:r>
              <a:rPr sz="1100" dirty="0">
                <a:latin typeface="Open Sans Light"/>
                <a:cs typeface="Open Sans Light"/>
              </a:rPr>
              <a:t>to</a:t>
            </a:r>
            <a:r>
              <a:rPr sz="1100" spc="-33" dirty="0">
                <a:latin typeface="Open Sans Light"/>
                <a:cs typeface="Open Sans Light"/>
              </a:rPr>
              <a:t> </a:t>
            </a:r>
            <a:r>
              <a:rPr sz="1100" dirty="0">
                <a:latin typeface="Open Sans Light"/>
                <a:cs typeface="Open Sans Light"/>
              </a:rPr>
              <a:t>particular</a:t>
            </a:r>
            <a:r>
              <a:rPr sz="1100" spc="-30" dirty="0">
                <a:latin typeface="Open Sans Light"/>
                <a:cs typeface="Open Sans Light"/>
              </a:rPr>
              <a:t> </a:t>
            </a:r>
            <a:r>
              <a:rPr sz="1100" dirty="0">
                <a:latin typeface="Open Sans Light"/>
                <a:cs typeface="Open Sans Light"/>
              </a:rPr>
              <a:t>IP</a:t>
            </a:r>
            <a:r>
              <a:rPr sz="1100" spc="-30" dirty="0">
                <a:latin typeface="Open Sans Light"/>
                <a:cs typeface="Open Sans Light"/>
              </a:rPr>
              <a:t> </a:t>
            </a:r>
            <a:r>
              <a:rPr sz="1100" dirty="0">
                <a:latin typeface="Open Sans Light"/>
                <a:cs typeface="Open Sans Light"/>
              </a:rPr>
              <a:t>addresses,</a:t>
            </a:r>
            <a:r>
              <a:rPr sz="1100" spc="-33" dirty="0">
                <a:latin typeface="Open Sans Light"/>
                <a:cs typeface="Open Sans Light"/>
              </a:rPr>
              <a:t> </a:t>
            </a:r>
            <a:r>
              <a:rPr sz="1100" dirty="0">
                <a:latin typeface="Open Sans Light"/>
                <a:cs typeface="Open Sans Light"/>
              </a:rPr>
              <a:t>only</a:t>
            </a:r>
            <a:r>
              <a:rPr sz="1100" spc="-30" dirty="0">
                <a:latin typeface="Open Sans Light"/>
                <a:cs typeface="Open Sans Light"/>
              </a:rPr>
              <a:t> </a:t>
            </a:r>
            <a:r>
              <a:rPr sz="1100" dirty="0">
                <a:latin typeface="Open Sans Light"/>
                <a:cs typeface="Open Sans Light"/>
              </a:rPr>
              <a:t>necessary</a:t>
            </a:r>
            <a:r>
              <a:rPr sz="1100" spc="-30" dirty="0">
                <a:latin typeface="Open Sans Light"/>
                <a:cs typeface="Open Sans Light"/>
              </a:rPr>
              <a:t> </a:t>
            </a:r>
            <a:r>
              <a:rPr sz="1100" dirty="0">
                <a:latin typeface="Open Sans Light"/>
                <a:cs typeface="Open Sans Light"/>
              </a:rPr>
              <a:t>persons</a:t>
            </a:r>
            <a:r>
              <a:rPr sz="1100" spc="-30" dirty="0">
                <a:latin typeface="Open Sans Light"/>
                <a:cs typeface="Open Sans Light"/>
              </a:rPr>
              <a:t> </a:t>
            </a:r>
            <a:r>
              <a:rPr sz="1100" dirty="0">
                <a:latin typeface="Open Sans Light"/>
                <a:cs typeface="Open Sans Light"/>
              </a:rPr>
              <a:t>should</a:t>
            </a:r>
            <a:r>
              <a:rPr sz="1100" spc="-33" dirty="0">
                <a:latin typeface="Open Sans Light"/>
                <a:cs typeface="Open Sans Light"/>
              </a:rPr>
              <a:t> </a:t>
            </a:r>
            <a:r>
              <a:rPr sz="1100" dirty="0">
                <a:latin typeface="Open Sans Light"/>
                <a:cs typeface="Open Sans Light"/>
              </a:rPr>
              <a:t>have</a:t>
            </a:r>
            <a:r>
              <a:rPr sz="1100" spc="-30" dirty="0">
                <a:latin typeface="Open Sans Light"/>
                <a:cs typeface="Open Sans Light"/>
              </a:rPr>
              <a:t> </a:t>
            </a:r>
            <a:r>
              <a:rPr sz="1100" spc="-10" dirty="0">
                <a:latin typeface="Open Sans Light"/>
                <a:cs typeface="Open Sans Light"/>
              </a:rPr>
              <a:t>.pem </a:t>
            </a:r>
            <a:r>
              <a:rPr sz="1100" dirty="0">
                <a:latin typeface="Open Sans Light"/>
                <a:cs typeface="Open Sans Light"/>
              </a:rPr>
              <a:t>access</a:t>
            </a:r>
            <a:r>
              <a:rPr sz="1100" spc="-28" dirty="0">
                <a:latin typeface="Open Sans Light"/>
                <a:cs typeface="Open Sans Light"/>
              </a:rPr>
              <a:t> </a:t>
            </a:r>
            <a:r>
              <a:rPr sz="1100" dirty="0">
                <a:latin typeface="Open Sans Light"/>
                <a:cs typeface="Open Sans Light"/>
              </a:rPr>
              <a:t>or</a:t>
            </a:r>
            <a:r>
              <a:rPr sz="1100" spc="-28" dirty="0">
                <a:latin typeface="Open Sans Light"/>
                <a:cs typeface="Open Sans Light"/>
              </a:rPr>
              <a:t> </a:t>
            </a:r>
            <a:r>
              <a:rPr sz="1100" dirty="0">
                <a:latin typeface="Open Sans Light"/>
                <a:cs typeface="Open Sans Light"/>
              </a:rPr>
              <a:t>even</a:t>
            </a:r>
            <a:r>
              <a:rPr sz="1100" spc="-28" dirty="0">
                <a:latin typeface="Open Sans Light"/>
                <a:cs typeface="Open Sans Light"/>
              </a:rPr>
              <a:t> </a:t>
            </a:r>
            <a:r>
              <a:rPr sz="1100" dirty="0">
                <a:latin typeface="Open Sans Light"/>
                <a:cs typeface="Open Sans Light"/>
              </a:rPr>
              <a:t>better</a:t>
            </a:r>
            <a:r>
              <a:rPr sz="1100" spc="-28" dirty="0">
                <a:latin typeface="Open Sans Light"/>
                <a:cs typeface="Open Sans Light"/>
              </a:rPr>
              <a:t> </a:t>
            </a:r>
            <a:r>
              <a:rPr sz="1100" dirty="0">
                <a:latin typeface="Open Sans Light"/>
                <a:cs typeface="Open Sans Light"/>
              </a:rPr>
              <a:t>use</a:t>
            </a:r>
            <a:r>
              <a:rPr sz="1100" spc="-25" dirty="0">
                <a:latin typeface="Open Sans Light"/>
                <a:cs typeface="Open Sans Light"/>
              </a:rPr>
              <a:t> </a:t>
            </a:r>
            <a:r>
              <a:rPr sz="1100" dirty="0">
                <a:latin typeface="Open Sans Light"/>
                <a:cs typeface="Open Sans Light"/>
              </a:rPr>
              <a:t>AWS</a:t>
            </a:r>
            <a:r>
              <a:rPr sz="1100" spc="-28" dirty="0">
                <a:latin typeface="Open Sans Light"/>
                <a:cs typeface="Open Sans Light"/>
              </a:rPr>
              <a:t> </a:t>
            </a:r>
            <a:r>
              <a:rPr sz="1100" spc="-13" dirty="0">
                <a:latin typeface="Open Sans Light"/>
                <a:cs typeface="Open Sans Light"/>
              </a:rPr>
              <a:t>SSM</a:t>
            </a:r>
            <a:endParaRPr sz="1100">
              <a:latin typeface="Open Sans Light"/>
              <a:cs typeface="Open Sans Light"/>
            </a:endParaRPr>
          </a:p>
          <a:p>
            <a:pPr marL="1521460" marR="2540" indent="-1345883">
              <a:lnSpc>
                <a:spcPct val="116500"/>
              </a:lnSpc>
              <a:spcBef>
                <a:spcPts val="1015"/>
              </a:spcBef>
              <a:tabLst>
                <a:tab pos="1521460" algn="l"/>
              </a:tabLst>
            </a:pPr>
            <a:r>
              <a:rPr sz="1100" b="1" dirty="0">
                <a:latin typeface="Open Sans"/>
                <a:cs typeface="Open Sans"/>
              </a:rPr>
              <a:t>Cost</a:t>
            </a:r>
            <a:r>
              <a:rPr sz="1100" b="1" spc="-18" dirty="0">
                <a:latin typeface="Open Sans"/>
                <a:cs typeface="Open Sans"/>
              </a:rPr>
              <a:t> </a:t>
            </a:r>
            <a:r>
              <a:rPr sz="1100" b="1" spc="-5" dirty="0">
                <a:latin typeface="Open Sans"/>
                <a:cs typeface="Open Sans"/>
              </a:rPr>
              <a:t>Optimization</a:t>
            </a:r>
            <a:r>
              <a:rPr sz="1100" b="1" dirty="0">
                <a:latin typeface="Open Sans"/>
                <a:cs typeface="Open Sans"/>
              </a:rPr>
              <a:t>	</a:t>
            </a:r>
            <a:r>
              <a:rPr sz="1100" dirty="0">
                <a:latin typeface="Open Sans Light"/>
                <a:cs typeface="Open Sans Light"/>
              </a:rPr>
              <a:t>Use</a:t>
            </a:r>
            <a:r>
              <a:rPr sz="1100" spc="-30" dirty="0">
                <a:latin typeface="Open Sans Light"/>
                <a:cs typeface="Open Sans Light"/>
              </a:rPr>
              <a:t> </a:t>
            </a:r>
            <a:r>
              <a:rPr sz="1100" b="1" dirty="0">
                <a:latin typeface="Open Sans"/>
                <a:cs typeface="Open Sans"/>
              </a:rPr>
              <a:t>Spot</a:t>
            </a:r>
            <a:r>
              <a:rPr sz="1100" b="1" spc="-30" dirty="0">
                <a:latin typeface="Open Sans"/>
                <a:cs typeface="Open Sans"/>
              </a:rPr>
              <a:t> </a:t>
            </a:r>
            <a:r>
              <a:rPr sz="1100" b="1" dirty="0">
                <a:latin typeface="Open Sans"/>
                <a:cs typeface="Open Sans"/>
              </a:rPr>
              <a:t>Instances</a:t>
            </a:r>
            <a:r>
              <a:rPr sz="1100" dirty="0">
                <a:latin typeface="Open Sans Light"/>
                <a:cs typeface="Open Sans Light"/>
              </a:rPr>
              <a:t>,</a:t>
            </a:r>
            <a:r>
              <a:rPr sz="1100" spc="-28" dirty="0">
                <a:latin typeface="Open Sans Light"/>
                <a:cs typeface="Open Sans Light"/>
              </a:rPr>
              <a:t> </a:t>
            </a:r>
            <a:r>
              <a:rPr sz="1100" b="1" dirty="0">
                <a:latin typeface="Open Sans"/>
                <a:cs typeface="Open Sans"/>
              </a:rPr>
              <a:t>Reserve</a:t>
            </a:r>
            <a:r>
              <a:rPr sz="1100" b="1" spc="-30" dirty="0">
                <a:latin typeface="Open Sans"/>
                <a:cs typeface="Open Sans"/>
              </a:rPr>
              <a:t> </a:t>
            </a:r>
            <a:r>
              <a:rPr sz="1100" b="1" dirty="0">
                <a:latin typeface="Open Sans"/>
                <a:cs typeface="Open Sans"/>
              </a:rPr>
              <a:t>Instances</a:t>
            </a:r>
            <a:r>
              <a:rPr sz="1100" dirty="0">
                <a:latin typeface="Open Sans Light"/>
                <a:cs typeface="Open Sans Light"/>
              </a:rPr>
              <a:t>,</a:t>
            </a:r>
            <a:r>
              <a:rPr sz="1100" spc="-28" dirty="0">
                <a:latin typeface="Open Sans Light"/>
                <a:cs typeface="Open Sans Light"/>
              </a:rPr>
              <a:t> </a:t>
            </a:r>
            <a:r>
              <a:rPr sz="1100" b="1" dirty="0">
                <a:latin typeface="Open Sans"/>
                <a:cs typeface="Open Sans"/>
              </a:rPr>
              <a:t>Saving</a:t>
            </a:r>
            <a:r>
              <a:rPr sz="1100" b="1" spc="-30" dirty="0">
                <a:latin typeface="Open Sans"/>
                <a:cs typeface="Open Sans"/>
              </a:rPr>
              <a:t> </a:t>
            </a:r>
            <a:r>
              <a:rPr sz="1100" b="1" dirty="0">
                <a:latin typeface="Open Sans"/>
                <a:cs typeface="Open Sans"/>
              </a:rPr>
              <a:t>Plans</a:t>
            </a:r>
            <a:r>
              <a:rPr sz="1100" b="1" spc="-30" dirty="0">
                <a:latin typeface="Open Sans"/>
                <a:cs typeface="Open Sans"/>
              </a:rPr>
              <a:t> </a:t>
            </a:r>
            <a:r>
              <a:rPr sz="1100" dirty="0">
                <a:latin typeface="Open Sans Light"/>
                <a:cs typeface="Open Sans Light"/>
              </a:rPr>
              <a:t>and</a:t>
            </a:r>
            <a:r>
              <a:rPr sz="1100" spc="-28" dirty="0">
                <a:latin typeface="Open Sans Light"/>
                <a:cs typeface="Open Sans Light"/>
              </a:rPr>
              <a:t> </a:t>
            </a:r>
            <a:r>
              <a:rPr sz="1100" dirty="0">
                <a:latin typeface="Open Sans Light"/>
                <a:cs typeface="Open Sans Light"/>
              </a:rPr>
              <a:t>create</a:t>
            </a:r>
            <a:r>
              <a:rPr sz="1100" spc="-30" dirty="0">
                <a:latin typeface="Open Sans Light"/>
                <a:cs typeface="Open Sans Light"/>
              </a:rPr>
              <a:t> </a:t>
            </a:r>
            <a:r>
              <a:rPr sz="1100" dirty="0">
                <a:latin typeface="Open Sans Light"/>
                <a:cs typeface="Open Sans Light"/>
              </a:rPr>
              <a:t>a</a:t>
            </a:r>
            <a:r>
              <a:rPr sz="1100" spc="-28" dirty="0">
                <a:latin typeface="Open Sans Light"/>
                <a:cs typeface="Open Sans Light"/>
              </a:rPr>
              <a:t> </a:t>
            </a:r>
            <a:r>
              <a:rPr sz="1100" dirty="0">
                <a:latin typeface="Open Sans Light"/>
                <a:cs typeface="Open Sans Light"/>
              </a:rPr>
              <a:t>strategy</a:t>
            </a:r>
            <a:r>
              <a:rPr sz="1100" spc="-30" dirty="0">
                <a:latin typeface="Open Sans Light"/>
                <a:cs typeface="Open Sans Light"/>
              </a:rPr>
              <a:t> </a:t>
            </a:r>
            <a:r>
              <a:rPr sz="1100" dirty="0">
                <a:latin typeface="Open Sans Light"/>
                <a:cs typeface="Open Sans Light"/>
              </a:rPr>
              <a:t>to</a:t>
            </a:r>
            <a:r>
              <a:rPr sz="1100" spc="-30" dirty="0">
                <a:latin typeface="Open Sans Light"/>
                <a:cs typeface="Open Sans Light"/>
              </a:rPr>
              <a:t> </a:t>
            </a:r>
            <a:r>
              <a:rPr sz="1100" dirty="0">
                <a:latin typeface="Open Sans Light"/>
                <a:cs typeface="Open Sans Light"/>
              </a:rPr>
              <a:t>reduce</a:t>
            </a:r>
            <a:r>
              <a:rPr sz="1100" spc="-28" dirty="0">
                <a:latin typeface="Open Sans Light"/>
                <a:cs typeface="Open Sans Light"/>
              </a:rPr>
              <a:t> </a:t>
            </a:r>
            <a:r>
              <a:rPr sz="1100" dirty="0">
                <a:latin typeface="Open Sans Light"/>
                <a:cs typeface="Open Sans Light"/>
              </a:rPr>
              <a:t>the</a:t>
            </a:r>
            <a:r>
              <a:rPr sz="1100" spc="-30" dirty="0">
                <a:latin typeface="Open Sans Light"/>
                <a:cs typeface="Open Sans Light"/>
              </a:rPr>
              <a:t> </a:t>
            </a:r>
            <a:r>
              <a:rPr sz="1100" dirty="0">
                <a:latin typeface="Open Sans Light"/>
                <a:cs typeface="Open Sans Light"/>
              </a:rPr>
              <a:t>cost,</a:t>
            </a:r>
            <a:r>
              <a:rPr sz="1100" spc="-28" dirty="0">
                <a:latin typeface="Open Sans Light"/>
                <a:cs typeface="Open Sans Light"/>
              </a:rPr>
              <a:t> </a:t>
            </a:r>
            <a:r>
              <a:rPr sz="1100" spc="-13" dirty="0">
                <a:latin typeface="Open Sans Light"/>
                <a:cs typeface="Open Sans Light"/>
              </a:rPr>
              <a:t>use </a:t>
            </a:r>
            <a:r>
              <a:rPr sz="1100" b="1" spc="-10" dirty="0">
                <a:latin typeface="Open Sans"/>
                <a:cs typeface="Open Sans"/>
              </a:rPr>
              <a:t>auto-</a:t>
            </a:r>
            <a:r>
              <a:rPr sz="1100" b="1" dirty="0">
                <a:latin typeface="Open Sans"/>
                <a:cs typeface="Open Sans"/>
              </a:rPr>
              <a:t>scaling</a:t>
            </a:r>
            <a:r>
              <a:rPr sz="1100" b="1" spc="-28" dirty="0">
                <a:latin typeface="Open Sans"/>
                <a:cs typeface="Open Sans"/>
              </a:rPr>
              <a:t> </a:t>
            </a:r>
            <a:r>
              <a:rPr sz="1100" dirty="0">
                <a:latin typeface="Open Sans Light"/>
                <a:cs typeface="Open Sans Light"/>
              </a:rPr>
              <a:t>to</a:t>
            </a:r>
            <a:r>
              <a:rPr sz="1100" spc="-28" dirty="0">
                <a:latin typeface="Open Sans Light"/>
                <a:cs typeface="Open Sans Light"/>
              </a:rPr>
              <a:t> </a:t>
            </a:r>
            <a:r>
              <a:rPr sz="1100" dirty="0">
                <a:latin typeface="Open Sans Light"/>
                <a:cs typeface="Open Sans Light"/>
              </a:rPr>
              <a:t>scale</a:t>
            </a:r>
            <a:r>
              <a:rPr sz="1100" spc="-28" dirty="0">
                <a:latin typeface="Open Sans Light"/>
                <a:cs typeface="Open Sans Light"/>
              </a:rPr>
              <a:t> </a:t>
            </a:r>
            <a:r>
              <a:rPr sz="1100" dirty="0">
                <a:latin typeface="Open Sans Light"/>
                <a:cs typeface="Open Sans Light"/>
              </a:rPr>
              <a:t>in</a:t>
            </a:r>
            <a:r>
              <a:rPr sz="1100" spc="-25" dirty="0">
                <a:latin typeface="Open Sans Light"/>
                <a:cs typeface="Open Sans Light"/>
              </a:rPr>
              <a:t> </a:t>
            </a:r>
            <a:r>
              <a:rPr sz="1100" dirty="0">
                <a:latin typeface="Open Sans Light"/>
                <a:cs typeface="Open Sans Light"/>
              </a:rPr>
              <a:t>when</a:t>
            </a:r>
            <a:r>
              <a:rPr sz="1100" spc="-28" dirty="0">
                <a:latin typeface="Open Sans Light"/>
                <a:cs typeface="Open Sans Light"/>
              </a:rPr>
              <a:t> </a:t>
            </a:r>
            <a:r>
              <a:rPr sz="1100" dirty="0">
                <a:latin typeface="Open Sans Light"/>
                <a:cs typeface="Open Sans Light"/>
              </a:rPr>
              <a:t>resources</a:t>
            </a:r>
            <a:r>
              <a:rPr sz="1100" spc="-28" dirty="0">
                <a:latin typeface="Open Sans Light"/>
                <a:cs typeface="Open Sans Light"/>
              </a:rPr>
              <a:t> </a:t>
            </a:r>
            <a:r>
              <a:rPr sz="1100" dirty="0">
                <a:latin typeface="Open Sans Light"/>
                <a:cs typeface="Open Sans Light"/>
              </a:rPr>
              <a:t>not</a:t>
            </a:r>
            <a:r>
              <a:rPr sz="1100" spc="-25" dirty="0">
                <a:latin typeface="Open Sans Light"/>
                <a:cs typeface="Open Sans Light"/>
              </a:rPr>
              <a:t> </a:t>
            </a:r>
            <a:r>
              <a:rPr sz="1100" dirty="0">
                <a:latin typeface="Open Sans Light"/>
                <a:cs typeface="Open Sans Light"/>
              </a:rPr>
              <a:t>needed</a:t>
            </a:r>
            <a:r>
              <a:rPr sz="1100" spc="-28" dirty="0">
                <a:latin typeface="Open Sans Light"/>
                <a:cs typeface="Open Sans Light"/>
              </a:rPr>
              <a:t> </a:t>
            </a:r>
            <a:r>
              <a:rPr sz="1100" dirty="0">
                <a:latin typeface="Open Sans Light"/>
                <a:cs typeface="Open Sans Light"/>
              </a:rPr>
              <a:t>and</a:t>
            </a:r>
            <a:r>
              <a:rPr sz="1100" spc="-28" dirty="0">
                <a:latin typeface="Open Sans Light"/>
                <a:cs typeface="Open Sans Light"/>
              </a:rPr>
              <a:t> </a:t>
            </a:r>
            <a:r>
              <a:rPr sz="1100" dirty="0">
                <a:latin typeface="Open Sans Light"/>
                <a:cs typeface="Open Sans Light"/>
              </a:rPr>
              <a:t>scale</a:t>
            </a:r>
            <a:r>
              <a:rPr sz="1100" spc="-25" dirty="0">
                <a:latin typeface="Open Sans Light"/>
                <a:cs typeface="Open Sans Light"/>
              </a:rPr>
              <a:t> </a:t>
            </a:r>
            <a:r>
              <a:rPr sz="1100" dirty="0">
                <a:latin typeface="Open Sans Light"/>
                <a:cs typeface="Open Sans Light"/>
              </a:rPr>
              <a:t>up</a:t>
            </a:r>
            <a:r>
              <a:rPr sz="1100" spc="-28" dirty="0">
                <a:latin typeface="Open Sans Light"/>
                <a:cs typeface="Open Sans Light"/>
              </a:rPr>
              <a:t> </a:t>
            </a:r>
            <a:r>
              <a:rPr sz="1100" dirty="0">
                <a:latin typeface="Open Sans Light"/>
                <a:cs typeface="Open Sans Light"/>
              </a:rPr>
              <a:t>and</a:t>
            </a:r>
            <a:r>
              <a:rPr sz="1100" spc="-28" dirty="0">
                <a:latin typeface="Open Sans Light"/>
                <a:cs typeface="Open Sans Light"/>
              </a:rPr>
              <a:t> </a:t>
            </a:r>
            <a:r>
              <a:rPr sz="1100" dirty="0">
                <a:latin typeface="Open Sans Light"/>
                <a:cs typeface="Open Sans Light"/>
              </a:rPr>
              <a:t>when</a:t>
            </a:r>
            <a:r>
              <a:rPr sz="1100" spc="-25" dirty="0">
                <a:latin typeface="Open Sans Light"/>
                <a:cs typeface="Open Sans Light"/>
              </a:rPr>
              <a:t> </a:t>
            </a:r>
            <a:r>
              <a:rPr sz="1100" dirty="0">
                <a:latin typeface="Open Sans Light"/>
                <a:cs typeface="Open Sans Light"/>
              </a:rPr>
              <a:t>needed,</a:t>
            </a:r>
            <a:r>
              <a:rPr sz="1100" spc="-28" dirty="0">
                <a:latin typeface="Open Sans Light"/>
                <a:cs typeface="Open Sans Light"/>
              </a:rPr>
              <a:t> </a:t>
            </a:r>
            <a:r>
              <a:rPr sz="1100" dirty="0">
                <a:latin typeface="Open Sans Light"/>
                <a:cs typeface="Open Sans Light"/>
              </a:rPr>
              <a:t>use</a:t>
            </a:r>
            <a:r>
              <a:rPr sz="1100" spc="-28" dirty="0">
                <a:latin typeface="Open Sans Light"/>
                <a:cs typeface="Open Sans Light"/>
              </a:rPr>
              <a:t> </a:t>
            </a:r>
            <a:r>
              <a:rPr sz="1100" dirty="0">
                <a:latin typeface="Open Sans Light"/>
                <a:cs typeface="Open Sans Light"/>
              </a:rPr>
              <a:t>auto</a:t>
            </a:r>
            <a:r>
              <a:rPr sz="1100" spc="-25" dirty="0">
                <a:latin typeface="Open Sans Light"/>
                <a:cs typeface="Open Sans Light"/>
              </a:rPr>
              <a:t> </a:t>
            </a:r>
            <a:r>
              <a:rPr sz="1100" dirty="0">
                <a:latin typeface="Open Sans Light"/>
                <a:cs typeface="Open Sans Light"/>
              </a:rPr>
              <a:t>turn</a:t>
            </a:r>
            <a:r>
              <a:rPr sz="1100" spc="-28" dirty="0">
                <a:latin typeface="Open Sans Light"/>
                <a:cs typeface="Open Sans Light"/>
              </a:rPr>
              <a:t> </a:t>
            </a:r>
            <a:r>
              <a:rPr sz="1100" spc="-13" dirty="0">
                <a:latin typeface="Open Sans Light"/>
                <a:cs typeface="Open Sans Light"/>
              </a:rPr>
              <a:t>off </a:t>
            </a:r>
            <a:r>
              <a:rPr sz="1100" dirty="0">
                <a:latin typeface="Open Sans Light"/>
                <a:cs typeface="Open Sans Light"/>
              </a:rPr>
              <a:t>instances</a:t>
            </a:r>
            <a:r>
              <a:rPr sz="1100" spc="-33" dirty="0">
                <a:latin typeface="Open Sans Light"/>
                <a:cs typeface="Open Sans Light"/>
              </a:rPr>
              <a:t> </a:t>
            </a:r>
            <a:r>
              <a:rPr sz="1100" dirty="0">
                <a:latin typeface="Open Sans Light"/>
                <a:cs typeface="Open Sans Light"/>
              </a:rPr>
              <a:t>if</a:t>
            </a:r>
            <a:r>
              <a:rPr sz="1100" spc="-30" dirty="0">
                <a:latin typeface="Open Sans Light"/>
                <a:cs typeface="Open Sans Light"/>
              </a:rPr>
              <a:t> </a:t>
            </a:r>
            <a:r>
              <a:rPr sz="1100" dirty="0">
                <a:latin typeface="Open Sans Light"/>
                <a:cs typeface="Open Sans Light"/>
              </a:rPr>
              <a:t>instances</a:t>
            </a:r>
            <a:r>
              <a:rPr sz="1100" spc="-33" dirty="0">
                <a:latin typeface="Open Sans Light"/>
                <a:cs typeface="Open Sans Light"/>
              </a:rPr>
              <a:t> </a:t>
            </a:r>
            <a:r>
              <a:rPr sz="1100" dirty="0">
                <a:latin typeface="Open Sans Light"/>
                <a:cs typeface="Open Sans Light"/>
              </a:rPr>
              <a:t>not</a:t>
            </a:r>
            <a:r>
              <a:rPr sz="1100" spc="-30" dirty="0">
                <a:latin typeface="Open Sans Light"/>
                <a:cs typeface="Open Sans Light"/>
              </a:rPr>
              <a:t> </a:t>
            </a:r>
            <a:r>
              <a:rPr sz="1100" dirty="0">
                <a:latin typeface="Open Sans Light"/>
                <a:cs typeface="Open Sans Light"/>
              </a:rPr>
              <a:t>in</a:t>
            </a:r>
            <a:r>
              <a:rPr sz="1100" spc="-30" dirty="0">
                <a:latin typeface="Open Sans Light"/>
                <a:cs typeface="Open Sans Light"/>
              </a:rPr>
              <a:t> </a:t>
            </a:r>
            <a:r>
              <a:rPr sz="1100" dirty="0">
                <a:latin typeface="Open Sans Light"/>
                <a:cs typeface="Open Sans Light"/>
              </a:rPr>
              <a:t>use,</a:t>
            </a:r>
            <a:r>
              <a:rPr sz="1100" spc="-33" dirty="0">
                <a:latin typeface="Open Sans Light"/>
                <a:cs typeface="Open Sans Light"/>
              </a:rPr>
              <a:t> </a:t>
            </a:r>
            <a:r>
              <a:rPr sz="1100" dirty="0">
                <a:latin typeface="Open Sans Light"/>
                <a:cs typeface="Open Sans Light"/>
              </a:rPr>
              <a:t>use</a:t>
            </a:r>
            <a:r>
              <a:rPr sz="1100" spc="-30" dirty="0">
                <a:latin typeface="Open Sans Light"/>
                <a:cs typeface="Open Sans Light"/>
              </a:rPr>
              <a:t> </a:t>
            </a:r>
            <a:r>
              <a:rPr sz="1100" b="1" dirty="0">
                <a:latin typeface="Open Sans"/>
                <a:cs typeface="Open Sans"/>
              </a:rPr>
              <a:t>serverless</a:t>
            </a:r>
            <a:r>
              <a:rPr sz="1100" b="1" spc="-30" dirty="0">
                <a:latin typeface="Open Sans"/>
                <a:cs typeface="Open Sans"/>
              </a:rPr>
              <a:t> </a:t>
            </a:r>
            <a:r>
              <a:rPr sz="1100" dirty="0">
                <a:latin typeface="Open Sans Light"/>
                <a:cs typeface="Open Sans Light"/>
              </a:rPr>
              <a:t>tech</a:t>
            </a:r>
            <a:r>
              <a:rPr sz="1100" spc="-33" dirty="0">
                <a:latin typeface="Open Sans Light"/>
                <a:cs typeface="Open Sans Light"/>
              </a:rPr>
              <a:t> </a:t>
            </a:r>
            <a:r>
              <a:rPr sz="1100" dirty="0">
                <a:latin typeface="Open Sans Light"/>
                <a:cs typeface="Open Sans Light"/>
              </a:rPr>
              <a:t>(</a:t>
            </a:r>
            <a:r>
              <a:rPr sz="1100" b="1" dirty="0">
                <a:latin typeface="Open Sans"/>
                <a:cs typeface="Open Sans"/>
              </a:rPr>
              <a:t>Lambda</a:t>
            </a:r>
            <a:r>
              <a:rPr sz="1100" dirty="0">
                <a:latin typeface="Open Sans Light"/>
                <a:cs typeface="Open Sans Light"/>
              </a:rPr>
              <a:t>)</a:t>
            </a:r>
            <a:r>
              <a:rPr sz="1100" spc="-30" dirty="0">
                <a:latin typeface="Open Sans Light"/>
                <a:cs typeface="Open Sans Light"/>
              </a:rPr>
              <a:t> </a:t>
            </a:r>
            <a:r>
              <a:rPr sz="1100" dirty="0">
                <a:latin typeface="Open Sans Light"/>
                <a:cs typeface="Open Sans Light"/>
              </a:rPr>
              <a:t>if</a:t>
            </a:r>
            <a:r>
              <a:rPr sz="1100" spc="-30" dirty="0">
                <a:latin typeface="Open Sans Light"/>
                <a:cs typeface="Open Sans Light"/>
              </a:rPr>
              <a:t> </a:t>
            </a:r>
            <a:r>
              <a:rPr sz="1100" dirty="0">
                <a:latin typeface="Open Sans Light"/>
                <a:cs typeface="Open Sans Light"/>
              </a:rPr>
              <a:t>the</a:t>
            </a:r>
            <a:r>
              <a:rPr sz="1100" spc="-33" dirty="0">
                <a:latin typeface="Open Sans Light"/>
                <a:cs typeface="Open Sans Light"/>
              </a:rPr>
              <a:t> </a:t>
            </a:r>
            <a:r>
              <a:rPr sz="1100" dirty="0">
                <a:latin typeface="Open Sans Light"/>
                <a:cs typeface="Open Sans Light"/>
              </a:rPr>
              <a:t>application</a:t>
            </a:r>
            <a:r>
              <a:rPr sz="1100" spc="-30" dirty="0">
                <a:latin typeface="Open Sans Light"/>
                <a:cs typeface="Open Sans Light"/>
              </a:rPr>
              <a:t> </a:t>
            </a:r>
            <a:r>
              <a:rPr sz="1100" dirty="0">
                <a:latin typeface="Open Sans Light"/>
                <a:cs typeface="Open Sans Light"/>
              </a:rPr>
              <a:t>is</a:t>
            </a:r>
            <a:r>
              <a:rPr sz="1100" spc="-33" dirty="0">
                <a:latin typeface="Open Sans Light"/>
                <a:cs typeface="Open Sans Light"/>
              </a:rPr>
              <a:t> </a:t>
            </a:r>
            <a:r>
              <a:rPr sz="1100" dirty="0">
                <a:latin typeface="Open Sans Light"/>
                <a:cs typeface="Open Sans Light"/>
              </a:rPr>
              <a:t>intermittent</a:t>
            </a:r>
            <a:r>
              <a:rPr sz="1100" spc="-30" dirty="0">
                <a:latin typeface="Open Sans Light"/>
                <a:cs typeface="Open Sans Light"/>
              </a:rPr>
              <a:t> </a:t>
            </a:r>
            <a:r>
              <a:rPr sz="1100" dirty="0">
                <a:latin typeface="Open Sans Light"/>
                <a:cs typeface="Open Sans Light"/>
              </a:rPr>
              <a:t>of</a:t>
            </a:r>
            <a:r>
              <a:rPr sz="1100" spc="-30" dirty="0">
                <a:latin typeface="Open Sans Light"/>
                <a:cs typeface="Open Sans Light"/>
              </a:rPr>
              <a:t> </a:t>
            </a:r>
            <a:r>
              <a:rPr sz="1100" spc="-5" dirty="0">
                <a:latin typeface="Open Sans Light"/>
                <a:cs typeface="Open Sans Light"/>
              </a:rPr>
              <a:t>event- based</a:t>
            </a:r>
            <a:endParaRPr sz="1100">
              <a:latin typeface="Open Sans Light"/>
              <a:cs typeface="Open Sans Light"/>
            </a:endParaRPr>
          </a:p>
        </p:txBody>
      </p:sp>
      <p:sp>
        <p:nvSpPr>
          <p:cNvPr id="7" name="object 7"/>
          <p:cNvSpPr txBox="1"/>
          <p:nvPr/>
        </p:nvSpPr>
        <p:spPr>
          <a:xfrm>
            <a:off x="8173736" y="56320"/>
            <a:ext cx="911860" cy="138499"/>
          </a:xfrm>
          <a:prstGeom prst="rect">
            <a:avLst/>
          </a:prstGeom>
        </p:spPr>
        <p:txBody>
          <a:bodyPr vert="horz" wrap="square" lIns="0" tIns="7620" rIns="0" bIns="0" rtlCol="0">
            <a:spAutoFit/>
          </a:bodyPr>
          <a:lstStyle/>
          <a:p>
            <a:pPr marL="6350">
              <a:spcBef>
                <a:spcPts val="60"/>
              </a:spcBef>
            </a:pPr>
            <a:r>
              <a:rPr sz="850" dirty="0">
                <a:solidFill>
                  <a:srgbClr val="13110E"/>
                </a:solidFill>
                <a:latin typeface="Open Sans Light"/>
                <a:cs typeface="Open Sans Light"/>
              </a:rPr>
              <a:t>Learn</a:t>
            </a:r>
            <a:r>
              <a:rPr sz="850" spc="15" dirty="0">
                <a:solidFill>
                  <a:srgbClr val="13110E"/>
                </a:solidFill>
                <a:latin typeface="Open Sans Light"/>
                <a:cs typeface="Open Sans Light"/>
              </a:rPr>
              <a:t> </a:t>
            </a:r>
            <a:r>
              <a:rPr sz="850" dirty="0">
                <a:solidFill>
                  <a:srgbClr val="13110E"/>
                </a:solidFill>
                <a:latin typeface="Open Sans Light"/>
                <a:cs typeface="Open Sans Light"/>
              </a:rPr>
              <a:t>With</a:t>
            </a:r>
            <a:r>
              <a:rPr sz="850" spc="15" dirty="0">
                <a:solidFill>
                  <a:srgbClr val="13110E"/>
                </a:solidFill>
                <a:latin typeface="Open Sans Light"/>
                <a:cs typeface="Open Sans Light"/>
              </a:rPr>
              <a:t> </a:t>
            </a:r>
            <a:r>
              <a:rPr sz="850" spc="-5" dirty="0">
                <a:solidFill>
                  <a:srgbClr val="13110E"/>
                </a:solidFill>
                <a:latin typeface="Open Sans Light"/>
                <a:cs typeface="Open Sans Light"/>
              </a:rPr>
              <a:t>Sandip</a:t>
            </a:r>
            <a:endParaRPr sz="850">
              <a:latin typeface="Open Sans Light"/>
              <a:cs typeface="Open Sans 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5"/>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Simple Storage Service (S3)</a:t>
            </a:r>
            <a:endParaRPr/>
          </a:p>
        </p:txBody>
      </p:sp>
      <p:sp>
        <p:nvSpPr>
          <p:cNvPr id="166" name="Google Shape;166;p25"/>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p>
            <a:pPr marL="457200" lvl="0" indent="-323850" algn="l" rtl="0">
              <a:spcBef>
                <a:spcPts val="0"/>
              </a:spcBef>
              <a:spcAft>
                <a:spcPts val="0"/>
              </a:spcAft>
              <a:buSzPts val="1500"/>
              <a:buChar char="●"/>
            </a:pPr>
            <a:r>
              <a:rPr lang="en" sz="1500"/>
              <a:t>Amazon S3 is an object storage service.</a:t>
            </a:r>
            <a:endParaRPr sz="1500"/>
          </a:p>
          <a:p>
            <a:pPr marL="457200" lvl="0" indent="-323850" algn="l" rtl="0">
              <a:spcBef>
                <a:spcPts val="0"/>
              </a:spcBef>
              <a:spcAft>
                <a:spcPts val="0"/>
              </a:spcAft>
              <a:buSzPts val="1500"/>
              <a:buChar char="●"/>
            </a:pPr>
            <a:r>
              <a:rPr lang="en" sz="1500"/>
              <a:t>S3 is designed for 11 9’s of durability which is 99.999999999 %.</a:t>
            </a:r>
            <a:endParaRPr sz="1500"/>
          </a:p>
          <a:p>
            <a:pPr marL="457200" lvl="0" indent="-323850" algn="l" rtl="0">
              <a:spcBef>
                <a:spcPts val="0"/>
              </a:spcBef>
              <a:spcAft>
                <a:spcPts val="0"/>
              </a:spcAft>
              <a:buSzPts val="1500"/>
              <a:buChar char="●"/>
            </a:pPr>
            <a:r>
              <a:rPr lang="en" sz="1500"/>
              <a:t>Designed for 99.99% availability over a given year.</a:t>
            </a:r>
            <a:endParaRPr sz="1500"/>
          </a:p>
          <a:p>
            <a:pPr marL="457200" lvl="0" indent="-323850" algn="l" rtl="0">
              <a:spcBef>
                <a:spcPts val="0"/>
              </a:spcBef>
              <a:spcAft>
                <a:spcPts val="0"/>
              </a:spcAft>
              <a:buSzPts val="1500"/>
              <a:buChar char="●"/>
            </a:pPr>
            <a:r>
              <a:rPr lang="en" sz="1500"/>
              <a:t>Supports SSL for data in transit and encryption of data at rest.</a:t>
            </a:r>
            <a:endParaRPr sz="1500"/>
          </a:p>
          <a:p>
            <a:pPr marL="457200" lvl="0" indent="-323850" algn="l" rtl="0">
              <a:spcBef>
                <a:spcPts val="0"/>
              </a:spcBef>
              <a:spcAft>
                <a:spcPts val="0"/>
              </a:spcAft>
              <a:buSzPts val="1500"/>
              <a:buChar char="●"/>
            </a:pPr>
            <a:r>
              <a:rPr lang="en" sz="1500"/>
              <a:t>Storage classes.</a:t>
            </a:r>
            <a:endParaRPr sz="1500"/>
          </a:p>
        </p:txBody>
      </p:sp>
      <p:pic>
        <p:nvPicPr>
          <p:cNvPr id="167" name="Google Shape;167;p25"/>
          <p:cNvPicPr preferRelativeResize="0"/>
          <p:nvPr/>
        </p:nvPicPr>
        <p:blipFill>
          <a:blip r:embed="rId3">
            <a:alphaModFix/>
          </a:blip>
          <a:stretch>
            <a:fillRect/>
          </a:stretch>
        </p:blipFill>
        <p:spPr>
          <a:xfrm>
            <a:off x="1238050" y="2315225"/>
            <a:ext cx="1184075" cy="14338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8038" y="28551"/>
            <a:ext cx="6537325" cy="403957"/>
          </a:xfrm>
          <a:prstGeom prst="rect">
            <a:avLst/>
          </a:prstGeom>
        </p:spPr>
        <p:txBody>
          <a:bodyPr spcFirstLastPara="1" vert="horz" wrap="square" lIns="0" tIns="6350" rIns="0" bIns="0" rtlCol="0" anchor="t" anchorCtr="0">
            <a:spAutoFit/>
          </a:bodyPr>
          <a:lstStyle/>
          <a:p>
            <a:pPr marL="6350">
              <a:spcBef>
                <a:spcPts val="50"/>
              </a:spcBef>
            </a:pPr>
            <a:r>
              <a:rPr dirty="0"/>
              <a:t>Amazon</a:t>
            </a:r>
            <a:r>
              <a:rPr spc="-38" dirty="0"/>
              <a:t> </a:t>
            </a:r>
            <a:r>
              <a:rPr dirty="0"/>
              <a:t>Simple</a:t>
            </a:r>
            <a:r>
              <a:rPr spc="-38" dirty="0"/>
              <a:t> </a:t>
            </a:r>
            <a:r>
              <a:rPr dirty="0"/>
              <a:t>Storage</a:t>
            </a:r>
            <a:r>
              <a:rPr spc="-38" dirty="0"/>
              <a:t> </a:t>
            </a:r>
            <a:r>
              <a:rPr dirty="0"/>
              <a:t>Service</a:t>
            </a:r>
            <a:r>
              <a:rPr spc="-38" dirty="0"/>
              <a:t> </a:t>
            </a:r>
            <a:r>
              <a:rPr dirty="0"/>
              <a:t>(Amazon</a:t>
            </a:r>
            <a:r>
              <a:rPr spc="-38" dirty="0"/>
              <a:t> </a:t>
            </a:r>
            <a:r>
              <a:rPr spc="-13" dirty="0"/>
              <a:t>S3)</a:t>
            </a:r>
          </a:p>
        </p:txBody>
      </p:sp>
      <p:sp>
        <p:nvSpPr>
          <p:cNvPr id="3" name="object 3"/>
          <p:cNvSpPr txBox="1"/>
          <p:nvPr/>
        </p:nvSpPr>
        <p:spPr>
          <a:xfrm>
            <a:off x="8173736" y="56322"/>
            <a:ext cx="911860" cy="138499"/>
          </a:xfrm>
          <a:prstGeom prst="rect">
            <a:avLst/>
          </a:prstGeom>
        </p:spPr>
        <p:txBody>
          <a:bodyPr vert="horz" wrap="square" lIns="0" tIns="7620" rIns="0" bIns="0" rtlCol="0">
            <a:spAutoFit/>
          </a:bodyPr>
          <a:lstStyle/>
          <a:p>
            <a:pPr marL="6350">
              <a:spcBef>
                <a:spcPts val="60"/>
              </a:spcBef>
            </a:pPr>
            <a:r>
              <a:rPr sz="850" dirty="0">
                <a:solidFill>
                  <a:srgbClr val="13110E"/>
                </a:solidFill>
                <a:latin typeface="Open Sans Light"/>
                <a:cs typeface="Open Sans Light"/>
              </a:rPr>
              <a:t>Learn</a:t>
            </a:r>
            <a:r>
              <a:rPr sz="850" spc="15" dirty="0">
                <a:solidFill>
                  <a:srgbClr val="13110E"/>
                </a:solidFill>
                <a:latin typeface="Open Sans Light"/>
                <a:cs typeface="Open Sans Light"/>
              </a:rPr>
              <a:t> </a:t>
            </a:r>
            <a:r>
              <a:rPr sz="850" dirty="0">
                <a:solidFill>
                  <a:srgbClr val="13110E"/>
                </a:solidFill>
                <a:latin typeface="Open Sans Light"/>
                <a:cs typeface="Open Sans Light"/>
              </a:rPr>
              <a:t>With</a:t>
            </a:r>
            <a:r>
              <a:rPr sz="850" spc="15" dirty="0">
                <a:solidFill>
                  <a:srgbClr val="13110E"/>
                </a:solidFill>
                <a:latin typeface="Open Sans Light"/>
                <a:cs typeface="Open Sans Light"/>
              </a:rPr>
              <a:t> </a:t>
            </a:r>
            <a:r>
              <a:rPr sz="850" spc="-5" dirty="0">
                <a:solidFill>
                  <a:srgbClr val="13110E"/>
                </a:solidFill>
                <a:latin typeface="Open Sans Light"/>
                <a:cs typeface="Open Sans Light"/>
              </a:rPr>
              <a:t>Sandip</a:t>
            </a:r>
            <a:endParaRPr sz="850">
              <a:latin typeface="Open Sans Light"/>
              <a:cs typeface="Open Sans Light"/>
            </a:endParaRPr>
          </a:p>
        </p:txBody>
      </p:sp>
      <p:sp>
        <p:nvSpPr>
          <p:cNvPr id="4" name="object 4"/>
          <p:cNvSpPr txBox="1"/>
          <p:nvPr/>
        </p:nvSpPr>
        <p:spPr>
          <a:xfrm>
            <a:off x="766291" y="3914931"/>
            <a:ext cx="395923" cy="388311"/>
          </a:xfrm>
          <a:prstGeom prst="rect">
            <a:avLst/>
          </a:prstGeom>
        </p:spPr>
        <p:txBody>
          <a:bodyPr vert="horz" wrap="square" lIns="0" tIns="6350" rIns="0" bIns="0" rtlCol="0">
            <a:spAutoFit/>
          </a:bodyPr>
          <a:lstStyle/>
          <a:p>
            <a:pPr marL="40958" marR="2540" indent="-34925">
              <a:lnSpc>
                <a:spcPct val="116500"/>
              </a:lnSpc>
              <a:spcBef>
                <a:spcPts val="50"/>
              </a:spcBef>
            </a:pPr>
            <a:r>
              <a:rPr sz="1100" b="1" spc="-5" dirty="0">
                <a:latin typeface="Roboto"/>
                <a:cs typeface="Roboto"/>
              </a:rPr>
              <a:t>utilize these</a:t>
            </a:r>
            <a:endParaRPr sz="1100">
              <a:latin typeface="Roboto"/>
              <a:cs typeface="Roboto"/>
            </a:endParaRPr>
          </a:p>
        </p:txBody>
      </p:sp>
      <p:sp>
        <p:nvSpPr>
          <p:cNvPr id="5" name="object 5"/>
          <p:cNvSpPr txBox="1"/>
          <p:nvPr/>
        </p:nvSpPr>
        <p:spPr>
          <a:xfrm>
            <a:off x="191368" y="350049"/>
            <a:ext cx="8783320" cy="3612399"/>
          </a:xfrm>
          <a:prstGeom prst="rect">
            <a:avLst/>
          </a:prstGeom>
        </p:spPr>
        <p:txBody>
          <a:bodyPr vert="horz" wrap="square" lIns="0" tIns="85725" rIns="0" bIns="0" rtlCol="0">
            <a:spAutoFit/>
          </a:bodyPr>
          <a:lstStyle/>
          <a:p>
            <a:pPr marL="102870">
              <a:spcBef>
                <a:spcPts val="675"/>
              </a:spcBef>
            </a:pPr>
            <a:r>
              <a:rPr sz="900" b="1" dirty="0">
                <a:latin typeface="Roboto"/>
                <a:cs typeface="Roboto"/>
              </a:rPr>
              <a:t>Set</a:t>
            </a:r>
            <a:r>
              <a:rPr sz="900" b="1" spc="-10" dirty="0">
                <a:latin typeface="Roboto"/>
                <a:cs typeface="Roboto"/>
              </a:rPr>
              <a:t> </a:t>
            </a:r>
            <a:r>
              <a:rPr sz="900" b="1" dirty="0">
                <a:latin typeface="Roboto"/>
                <a:cs typeface="Roboto"/>
              </a:rPr>
              <a:t>up,</a:t>
            </a:r>
            <a:r>
              <a:rPr sz="900" b="1" spc="-8" dirty="0">
                <a:latin typeface="Roboto"/>
                <a:cs typeface="Roboto"/>
              </a:rPr>
              <a:t> </a:t>
            </a:r>
            <a:r>
              <a:rPr sz="900" b="1" dirty="0">
                <a:latin typeface="Roboto"/>
                <a:cs typeface="Roboto"/>
              </a:rPr>
              <a:t>operate,</a:t>
            </a:r>
            <a:r>
              <a:rPr sz="900" b="1" spc="-10" dirty="0">
                <a:latin typeface="Roboto"/>
                <a:cs typeface="Roboto"/>
              </a:rPr>
              <a:t> </a:t>
            </a:r>
            <a:r>
              <a:rPr sz="900" b="1" dirty="0">
                <a:latin typeface="Roboto"/>
                <a:cs typeface="Roboto"/>
              </a:rPr>
              <a:t>and</a:t>
            </a:r>
            <a:r>
              <a:rPr sz="900" b="1" spc="-8" dirty="0">
                <a:latin typeface="Roboto"/>
                <a:cs typeface="Roboto"/>
              </a:rPr>
              <a:t> </a:t>
            </a:r>
            <a:r>
              <a:rPr sz="900" b="1" dirty="0">
                <a:latin typeface="Roboto"/>
                <a:cs typeface="Roboto"/>
              </a:rPr>
              <a:t>scale</a:t>
            </a:r>
            <a:r>
              <a:rPr sz="900" b="1" spc="-8" dirty="0">
                <a:latin typeface="Roboto"/>
                <a:cs typeface="Roboto"/>
              </a:rPr>
              <a:t> </a:t>
            </a:r>
            <a:r>
              <a:rPr sz="900" b="1" dirty="0">
                <a:latin typeface="Roboto"/>
                <a:cs typeface="Roboto"/>
              </a:rPr>
              <a:t>a</a:t>
            </a:r>
            <a:r>
              <a:rPr sz="900" b="1" spc="-10" dirty="0">
                <a:latin typeface="Roboto"/>
                <a:cs typeface="Roboto"/>
              </a:rPr>
              <a:t> </a:t>
            </a:r>
            <a:r>
              <a:rPr sz="900" b="1" dirty="0">
                <a:latin typeface="Roboto"/>
                <a:cs typeface="Roboto"/>
              </a:rPr>
              <a:t>relational</a:t>
            </a:r>
            <a:r>
              <a:rPr sz="900" b="1" spc="-8" dirty="0">
                <a:latin typeface="Roboto"/>
                <a:cs typeface="Roboto"/>
              </a:rPr>
              <a:t> </a:t>
            </a:r>
            <a:r>
              <a:rPr sz="900" b="1" dirty="0">
                <a:latin typeface="Roboto"/>
                <a:cs typeface="Roboto"/>
              </a:rPr>
              <a:t>database</a:t>
            </a:r>
            <a:r>
              <a:rPr sz="900" b="1" spc="-8" dirty="0">
                <a:latin typeface="Roboto"/>
                <a:cs typeface="Roboto"/>
              </a:rPr>
              <a:t> </a:t>
            </a:r>
            <a:r>
              <a:rPr sz="900" b="1" dirty="0">
                <a:latin typeface="Roboto"/>
                <a:cs typeface="Roboto"/>
              </a:rPr>
              <a:t>in</a:t>
            </a:r>
            <a:r>
              <a:rPr sz="900" b="1" spc="-10" dirty="0">
                <a:latin typeface="Roboto"/>
                <a:cs typeface="Roboto"/>
              </a:rPr>
              <a:t> </a:t>
            </a:r>
            <a:r>
              <a:rPr sz="900" b="1" dirty="0">
                <a:latin typeface="Roboto"/>
                <a:cs typeface="Roboto"/>
              </a:rPr>
              <a:t>the</a:t>
            </a:r>
            <a:r>
              <a:rPr sz="900" b="1" spc="-8" dirty="0">
                <a:latin typeface="Roboto"/>
                <a:cs typeface="Roboto"/>
              </a:rPr>
              <a:t> </a:t>
            </a:r>
            <a:r>
              <a:rPr sz="900" b="1" dirty="0">
                <a:latin typeface="Roboto"/>
                <a:cs typeface="Roboto"/>
              </a:rPr>
              <a:t>cloud</a:t>
            </a:r>
            <a:r>
              <a:rPr sz="900" b="1" spc="-10" dirty="0">
                <a:latin typeface="Roboto"/>
                <a:cs typeface="Roboto"/>
              </a:rPr>
              <a:t> </a:t>
            </a:r>
            <a:r>
              <a:rPr sz="900" b="1" dirty="0">
                <a:latin typeface="Roboto"/>
                <a:cs typeface="Roboto"/>
              </a:rPr>
              <a:t>with</a:t>
            </a:r>
            <a:r>
              <a:rPr sz="900" b="1" spc="-8" dirty="0">
                <a:latin typeface="Roboto"/>
                <a:cs typeface="Roboto"/>
              </a:rPr>
              <a:t> </a:t>
            </a:r>
            <a:r>
              <a:rPr sz="900" b="1" dirty="0">
                <a:latin typeface="Roboto"/>
                <a:cs typeface="Roboto"/>
              </a:rPr>
              <a:t>just</a:t>
            </a:r>
            <a:r>
              <a:rPr sz="900" b="1" spc="-8" dirty="0">
                <a:latin typeface="Roboto"/>
                <a:cs typeface="Roboto"/>
              </a:rPr>
              <a:t> </a:t>
            </a:r>
            <a:r>
              <a:rPr sz="900" b="1" dirty="0">
                <a:latin typeface="Roboto"/>
                <a:cs typeface="Roboto"/>
              </a:rPr>
              <a:t>a</a:t>
            </a:r>
            <a:r>
              <a:rPr sz="900" b="1" spc="-10" dirty="0">
                <a:latin typeface="Roboto"/>
                <a:cs typeface="Roboto"/>
              </a:rPr>
              <a:t> </a:t>
            </a:r>
            <a:r>
              <a:rPr sz="900" b="1" dirty="0">
                <a:latin typeface="Roboto"/>
                <a:cs typeface="Roboto"/>
              </a:rPr>
              <a:t>few</a:t>
            </a:r>
            <a:r>
              <a:rPr sz="900" b="1" spc="-8" dirty="0">
                <a:latin typeface="Roboto"/>
                <a:cs typeface="Roboto"/>
              </a:rPr>
              <a:t> </a:t>
            </a:r>
            <a:r>
              <a:rPr sz="900" b="1" spc="-5" dirty="0">
                <a:latin typeface="Roboto"/>
                <a:cs typeface="Roboto"/>
              </a:rPr>
              <a:t>clicks.</a:t>
            </a:r>
            <a:endParaRPr sz="900">
              <a:latin typeface="Roboto"/>
              <a:cs typeface="Roboto"/>
            </a:endParaRPr>
          </a:p>
          <a:p>
            <a:pPr marL="102870" marR="62865">
              <a:lnSpc>
                <a:spcPct val="116500"/>
              </a:lnSpc>
              <a:spcBef>
                <a:spcPts val="545"/>
              </a:spcBef>
            </a:pPr>
            <a:r>
              <a:rPr sz="1100" dirty="0">
                <a:latin typeface="Roboto"/>
                <a:cs typeface="Roboto"/>
              </a:rPr>
              <a:t>Amazon</a:t>
            </a:r>
            <a:r>
              <a:rPr sz="1100" spc="-28" dirty="0">
                <a:latin typeface="Roboto"/>
                <a:cs typeface="Roboto"/>
              </a:rPr>
              <a:t> </a:t>
            </a:r>
            <a:r>
              <a:rPr sz="1100" dirty="0">
                <a:latin typeface="Roboto"/>
                <a:cs typeface="Roboto"/>
              </a:rPr>
              <a:t>Simple</a:t>
            </a:r>
            <a:r>
              <a:rPr sz="1100" spc="-25" dirty="0">
                <a:latin typeface="Roboto"/>
                <a:cs typeface="Roboto"/>
              </a:rPr>
              <a:t> </a:t>
            </a:r>
            <a:r>
              <a:rPr sz="1100" dirty="0">
                <a:latin typeface="Roboto"/>
                <a:cs typeface="Roboto"/>
              </a:rPr>
              <a:t>Storage</a:t>
            </a:r>
            <a:r>
              <a:rPr sz="1100" spc="-25" dirty="0">
                <a:latin typeface="Roboto"/>
                <a:cs typeface="Roboto"/>
              </a:rPr>
              <a:t> </a:t>
            </a:r>
            <a:r>
              <a:rPr sz="1100" dirty="0">
                <a:latin typeface="Roboto"/>
                <a:cs typeface="Roboto"/>
              </a:rPr>
              <a:t>Service</a:t>
            </a:r>
            <a:r>
              <a:rPr sz="1100" spc="-25" dirty="0">
                <a:latin typeface="Roboto"/>
                <a:cs typeface="Roboto"/>
              </a:rPr>
              <a:t> </a:t>
            </a:r>
            <a:r>
              <a:rPr sz="1100" dirty="0">
                <a:latin typeface="Roboto"/>
                <a:cs typeface="Roboto"/>
              </a:rPr>
              <a:t>(Amazon</a:t>
            </a:r>
            <a:r>
              <a:rPr sz="1100" spc="-25" dirty="0">
                <a:latin typeface="Roboto"/>
                <a:cs typeface="Roboto"/>
              </a:rPr>
              <a:t> </a:t>
            </a:r>
            <a:r>
              <a:rPr sz="1100" dirty="0">
                <a:latin typeface="Roboto"/>
                <a:cs typeface="Roboto"/>
              </a:rPr>
              <a:t>S3)</a:t>
            </a:r>
            <a:r>
              <a:rPr sz="1100" spc="-25" dirty="0">
                <a:latin typeface="Roboto"/>
                <a:cs typeface="Roboto"/>
              </a:rPr>
              <a:t> </a:t>
            </a:r>
            <a:r>
              <a:rPr sz="1100" dirty="0">
                <a:latin typeface="Roboto"/>
                <a:cs typeface="Roboto"/>
              </a:rPr>
              <a:t>is</a:t>
            </a:r>
            <a:r>
              <a:rPr sz="1100" spc="-25" dirty="0">
                <a:latin typeface="Roboto"/>
                <a:cs typeface="Roboto"/>
              </a:rPr>
              <a:t> </a:t>
            </a:r>
            <a:r>
              <a:rPr sz="1100" dirty="0">
                <a:latin typeface="Roboto"/>
                <a:cs typeface="Roboto"/>
              </a:rPr>
              <a:t>an</a:t>
            </a:r>
            <a:r>
              <a:rPr sz="1100" spc="-25" dirty="0">
                <a:latin typeface="Roboto"/>
                <a:cs typeface="Roboto"/>
              </a:rPr>
              <a:t> </a:t>
            </a:r>
            <a:r>
              <a:rPr sz="1100" dirty="0">
                <a:latin typeface="Roboto"/>
                <a:cs typeface="Roboto"/>
              </a:rPr>
              <a:t>object</a:t>
            </a:r>
            <a:r>
              <a:rPr sz="1100" spc="-25" dirty="0">
                <a:latin typeface="Roboto"/>
                <a:cs typeface="Roboto"/>
              </a:rPr>
              <a:t> </a:t>
            </a:r>
            <a:r>
              <a:rPr sz="1100" dirty="0">
                <a:latin typeface="Roboto"/>
                <a:cs typeface="Roboto"/>
              </a:rPr>
              <a:t>storage</a:t>
            </a:r>
            <a:r>
              <a:rPr sz="1100" spc="-25" dirty="0">
                <a:latin typeface="Roboto"/>
                <a:cs typeface="Roboto"/>
              </a:rPr>
              <a:t> </a:t>
            </a:r>
            <a:r>
              <a:rPr sz="1100" dirty="0">
                <a:latin typeface="Roboto"/>
                <a:cs typeface="Roboto"/>
              </a:rPr>
              <a:t>service</a:t>
            </a:r>
            <a:r>
              <a:rPr sz="1100" spc="-25" dirty="0">
                <a:latin typeface="Roboto"/>
                <a:cs typeface="Roboto"/>
              </a:rPr>
              <a:t> </a:t>
            </a:r>
            <a:r>
              <a:rPr sz="1100" dirty="0">
                <a:latin typeface="Roboto"/>
                <a:cs typeface="Roboto"/>
              </a:rPr>
              <a:t>that</a:t>
            </a:r>
            <a:r>
              <a:rPr sz="1100" spc="-25" dirty="0">
                <a:latin typeface="Roboto"/>
                <a:cs typeface="Roboto"/>
              </a:rPr>
              <a:t> </a:t>
            </a:r>
            <a:r>
              <a:rPr sz="1100" dirty="0">
                <a:latin typeface="Roboto"/>
                <a:cs typeface="Roboto"/>
              </a:rPr>
              <a:t>offers</a:t>
            </a:r>
            <a:r>
              <a:rPr sz="1100" spc="-25" dirty="0">
                <a:latin typeface="Roboto"/>
                <a:cs typeface="Roboto"/>
              </a:rPr>
              <a:t> </a:t>
            </a:r>
            <a:r>
              <a:rPr sz="1100" spc="-5" dirty="0">
                <a:latin typeface="Roboto"/>
                <a:cs typeface="Roboto"/>
              </a:rPr>
              <a:t>industry-</a:t>
            </a:r>
            <a:r>
              <a:rPr sz="1100" dirty="0">
                <a:latin typeface="Roboto"/>
                <a:cs typeface="Roboto"/>
              </a:rPr>
              <a:t>leading</a:t>
            </a:r>
            <a:r>
              <a:rPr sz="1100" spc="-25" dirty="0">
                <a:latin typeface="Roboto"/>
                <a:cs typeface="Roboto"/>
              </a:rPr>
              <a:t> </a:t>
            </a:r>
            <a:r>
              <a:rPr sz="1100" dirty="0">
                <a:latin typeface="Roboto"/>
                <a:cs typeface="Roboto"/>
              </a:rPr>
              <a:t>scalability,</a:t>
            </a:r>
            <a:r>
              <a:rPr sz="1100" spc="-28" dirty="0">
                <a:latin typeface="Roboto"/>
                <a:cs typeface="Roboto"/>
              </a:rPr>
              <a:t> </a:t>
            </a:r>
            <a:r>
              <a:rPr sz="1100" dirty="0">
                <a:latin typeface="Roboto"/>
                <a:cs typeface="Roboto"/>
              </a:rPr>
              <a:t>data</a:t>
            </a:r>
            <a:r>
              <a:rPr sz="1100" spc="-25" dirty="0">
                <a:latin typeface="Roboto"/>
                <a:cs typeface="Roboto"/>
              </a:rPr>
              <a:t> </a:t>
            </a:r>
            <a:r>
              <a:rPr sz="1100" dirty="0">
                <a:latin typeface="Roboto"/>
                <a:cs typeface="Roboto"/>
              </a:rPr>
              <a:t>availability,</a:t>
            </a:r>
            <a:r>
              <a:rPr sz="1100" spc="-25" dirty="0">
                <a:latin typeface="Roboto"/>
                <a:cs typeface="Roboto"/>
              </a:rPr>
              <a:t> </a:t>
            </a:r>
            <a:r>
              <a:rPr sz="1100" spc="-5" dirty="0">
                <a:latin typeface="Roboto"/>
                <a:cs typeface="Roboto"/>
              </a:rPr>
              <a:t>security, </a:t>
            </a:r>
            <a:r>
              <a:rPr sz="1100" dirty="0">
                <a:latin typeface="Roboto"/>
                <a:cs typeface="Roboto"/>
              </a:rPr>
              <a:t>and</a:t>
            </a:r>
            <a:r>
              <a:rPr sz="1100" spc="-18" dirty="0">
                <a:latin typeface="Roboto"/>
                <a:cs typeface="Roboto"/>
              </a:rPr>
              <a:t> </a:t>
            </a:r>
            <a:r>
              <a:rPr sz="1100" dirty="0">
                <a:latin typeface="Roboto"/>
                <a:cs typeface="Roboto"/>
              </a:rPr>
              <a:t>performance.</a:t>
            </a:r>
            <a:r>
              <a:rPr sz="1100" spc="-18" dirty="0">
                <a:latin typeface="Roboto"/>
                <a:cs typeface="Roboto"/>
              </a:rPr>
              <a:t> </a:t>
            </a:r>
            <a:r>
              <a:rPr sz="1100" dirty="0">
                <a:latin typeface="Roboto"/>
                <a:cs typeface="Roboto"/>
              </a:rPr>
              <a:t>This</a:t>
            </a:r>
            <a:r>
              <a:rPr sz="1100" spc="-18" dirty="0">
                <a:latin typeface="Roboto"/>
                <a:cs typeface="Roboto"/>
              </a:rPr>
              <a:t> </a:t>
            </a:r>
            <a:r>
              <a:rPr sz="1100" dirty="0">
                <a:latin typeface="Roboto"/>
                <a:cs typeface="Roboto"/>
              </a:rPr>
              <a:t>means</a:t>
            </a:r>
            <a:r>
              <a:rPr sz="1100" spc="-18" dirty="0">
                <a:latin typeface="Roboto"/>
                <a:cs typeface="Roboto"/>
              </a:rPr>
              <a:t> </a:t>
            </a:r>
            <a:r>
              <a:rPr sz="1100" dirty="0">
                <a:latin typeface="Roboto"/>
                <a:cs typeface="Roboto"/>
              </a:rPr>
              <a:t>customers</a:t>
            </a:r>
            <a:r>
              <a:rPr sz="1100" spc="-18" dirty="0">
                <a:latin typeface="Roboto"/>
                <a:cs typeface="Roboto"/>
              </a:rPr>
              <a:t> </a:t>
            </a:r>
            <a:r>
              <a:rPr sz="1100" dirty="0">
                <a:latin typeface="Roboto"/>
                <a:cs typeface="Roboto"/>
              </a:rPr>
              <a:t>of</a:t>
            </a:r>
            <a:r>
              <a:rPr sz="1100" spc="-15" dirty="0">
                <a:latin typeface="Roboto"/>
                <a:cs typeface="Roboto"/>
              </a:rPr>
              <a:t> </a:t>
            </a:r>
            <a:r>
              <a:rPr sz="1100" dirty="0">
                <a:latin typeface="Roboto"/>
                <a:cs typeface="Roboto"/>
              </a:rPr>
              <a:t>all</a:t>
            </a:r>
            <a:r>
              <a:rPr sz="1100" spc="-18" dirty="0">
                <a:latin typeface="Roboto"/>
                <a:cs typeface="Roboto"/>
              </a:rPr>
              <a:t> </a:t>
            </a:r>
            <a:r>
              <a:rPr sz="1100" dirty="0">
                <a:latin typeface="Roboto"/>
                <a:cs typeface="Roboto"/>
              </a:rPr>
              <a:t>sizes</a:t>
            </a:r>
            <a:r>
              <a:rPr sz="1100" spc="-18" dirty="0">
                <a:latin typeface="Roboto"/>
                <a:cs typeface="Roboto"/>
              </a:rPr>
              <a:t> </a:t>
            </a:r>
            <a:r>
              <a:rPr sz="1100" dirty="0">
                <a:latin typeface="Roboto"/>
                <a:cs typeface="Roboto"/>
              </a:rPr>
              <a:t>and</a:t>
            </a:r>
            <a:r>
              <a:rPr sz="1100" spc="-18" dirty="0">
                <a:latin typeface="Roboto"/>
                <a:cs typeface="Roboto"/>
              </a:rPr>
              <a:t> </a:t>
            </a:r>
            <a:r>
              <a:rPr sz="1100" dirty="0">
                <a:latin typeface="Roboto"/>
                <a:cs typeface="Roboto"/>
              </a:rPr>
              <a:t>industries</a:t>
            </a:r>
            <a:r>
              <a:rPr sz="1100" spc="-18" dirty="0">
                <a:latin typeface="Roboto"/>
                <a:cs typeface="Roboto"/>
              </a:rPr>
              <a:t> </a:t>
            </a:r>
            <a:r>
              <a:rPr sz="1100" dirty="0">
                <a:latin typeface="Roboto"/>
                <a:cs typeface="Roboto"/>
              </a:rPr>
              <a:t>can</a:t>
            </a:r>
            <a:r>
              <a:rPr sz="1100" spc="-15" dirty="0">
                <a:latin typeface="Roboto"/>
                <a:cs typeface="Roboto"/>
              </a:rPr>
              <a:t> </a:t>
            </a:r>
            <a:r>
              <a:rPr sz="1100" dirty="0">
                <a:latin typeface="Roboto"/>
                <a:cs typeface="Roboto"/>
              </a:rPr>
              <a:t>use</a:t>
            </a:r>
            <a:r>
              <a:rPr sz="1100" spc="-18" dirty="0">
                <a:latin typeface="Roboto"/>
                <a:cs typeface="Roboto"/>
              </a:rPr>
              <a:t> </a:t>
            </a:r>
            <a:r>
              <a:rPr sz="1100" dirty="0">
                <a:latin typeface="Roboto"/>
                <a:cs typeface="Roboto"/>
              </a:rPr>
              <a:t>it</a:t>
            </a:r>
            <a:r>
              <a:rPr sz="1100" spc="-18" dirty="0">
                <a:latin typeface="Roboto"/>
                <a:cs typeface="Roboto"/>
              </a:rPr>
              <a:t> </a:t>
            </a:r>
            <a:r>
              <a:rPr sz="1100" dirty="0">
                <a:latin typeface="Roboto"/>
                <a:cs typeface="Roboto"/>
              </a:rPr>
              <a:t>to</a:t>
            </a:r>
            <a:r>
              <a:rPr sz="1100" spc="-18" dirty="0">
                <a:latin typeface="Roboto"/>
                <a:cs typeface="Roboto"/>
              </a:rPr>
              <a:t> </a:t>
            </a:r>
            <a:r>
              <a:rPr sz="1100" dirty="0">
                <a:latin typeface="Roboto"/>
                <a:cs typeface="Roboto"/>
              </a:rPr>
              <a:t>store</a:t>
            </a:r>
            <a:r>
              <a:rPr sz="1100" spc="-18" dirty="0">
                <a:latin typeface="Roboto"/>
                <a:cs typeface="Roboto"/>
              </a:rPr>
              <a:t> </a:t>
            </a:r>
            <a:r>
              <a:rPr sz="1100" dirty="0">
                <a:latin typeface="Roboto"/>
                <a:cs typeface="Roboto"/>
              </a:rPr>
              <a:t>and</a:t>
            </a:r>
            <a:r>
              <a:rPr sz="1100" spc="-15" dirty="0">
                <a:latin typeface="Roboto"/>
                <a:cs typeface="Roboto"/>
              </a:rPr>
              <a:t> </a:t>
            </a:r>
            <a:r>
              <a:rPr sz="1100" dirty="0">
                <a:latin typeface="Roboto"/>
                <a:cs typeface="Roboto"/>
              </a:rPr>
              <a:t>protect</a:t>
            </a:r>
            <a:r>
              <a:rPr sz="1100" spc="-18" dirty="0">
                <a:latin typeface="Roboto"/>
                <a:cs typeface="Roboto"/>
              </a:rPr>
              <a:t> </a:t>
            </a:r>
            <a:r>
              <a:rPr sz="1100" dirty="0">
                <a:latin typeface="Roboto"/>
                <a:cs typeface="Roboto"/>
              </a:rPr>
              <a:t>any</a:t>
            </a:r>
            <a:r>
              <a:rPr sz="1100" spc="-18" dirty="0">
                <a:latin typeface="Roboto"/>
                <a:cs typeface="Roboto"/>
              </a:rPr>
              <a:t> </a:t>
            </a:r>
            <a:r>
              <a:rPr sz="1100" dirty="0">
                <a:latin typeface="Roboto"/>
                <a:cs typeface="Roboto"/>
              </a:rPr>
              <a:t>amount</a:t>
            </a:r>
            <a:r>
              <a:rPr sz="1100" spc="-18" dirty="0">
                <a:latin typeface="Roboto"/>
                <a:cs typeface="Roboto"/>
              </a:rPr>
              <a:t> </a:t>
            </a:r>
            <a:r>
              <a:rPr sz="1100" dirty="0">
                <a:latin typeface="Roboto"/>
                <a:cs typeface="Roboto"/>
              </a:rPr>
              <a:t>of</a:t>
            </a:r>
            <a:r>
              <a:rPr sz="1100" spc="-18" dirty="0">
                <a:latin typeface="Roboto"/>
                <a:cs typeface="Roboto"/>
              </a:rPr>
              <a:t> </a:t>
            </a:r>
            <a:r>
              <a:rPr sz="1100" dirty="0">
                <a:latin typeface="Roboto"/>
                <a:cs typeface="Roboto"/>
              </a:rPr>
              <a:t>data</a:t>
            </a:r>
            <a:r>
              <a:rPr sz="1100" spc="-18" dirty="0">
                <a:latin typeface="Roboto"/>
                <a:cs typeface="Roboto"/>
              </a:rPr>
              <a:t> </a:t>
            </a:r>
            <a:r>
              <a:rPr sz="1100" dirty="0">
                <a:latin typeface="Roboto"/>
                <a:cs typeface="Roboto"/>
              </a:rPr>
              <a:t>for</a:t>
            </a:r>
            <a:r>
              <a:rPr sz="1100" spc="-15" dirty="0">
                <a:latin typeface="Roboto"/>
                <a:cs typeface="Roboto"/>
              </a:rPr>
              <a:t> </a:t>
            </a:r>
            <a:r>
              <a:rPr sz="1100" dirty="0">
                <a:latin typeface="Roboto"/>
                <a:cs typeface="Roboto"/>
              </a:rPr>
              <a:t>a</a:t>
            </a:r>
            <a:r>
              <a:rPr sz="1100" spc="-18" dirty="0">
                <a:latin typeface="Roboto"/>
                <a:cs typeface="Roboto"/>
              </a:rPr>
              <a:t> </a:t>
            </a:r>
            <a:r>
              <a:rPr sz="1100" dirty="0">
                <a:latin typeface="Roboto"/>
                <a:cs typeface="Roboto"/>
              </a:rPr>
              <a:t>range</a:t>
            </a:r>
            <a:r>
              <a:rPr sz="1100" spc="-18" dirty="0">
                <a:latin typeface="Roboto"/>
                <a:cs typeface="Roboto"/>
              </a:rPr>
              <a:t> </a:t>
            </a:r>
            <a:r>
              <a:rPr sz="1100" dirty="0">
                <a:latin typeface="Roboto"/>
                <a:cs typeface="Roboto"/>
              </a:rPr>
              <a:t>of</a:t>
            </a:r>
            <a:r>
              <a:rPr sz="1100" spc="-18" dirty="0">
                <a:latin typeface="Roboto"/>
                <a:cs typeface="Roboto"/>
              </a:rPr>
              <a:t> </a:t>
            </a:r>
            <a:r>
              <a:rPr sz="1100" spc="-13" dirty="0">
                <a:latin typeface="Roboto"/>
                <a:cs typeface="Roboto"/>
              </a:rPr>
              <a:t>use </a:t>
            </a:r>
            <a:r>
              <a:rPr sz="1100" dirty="0">
                <a:latin typeface="Roboto"/>
                <a:cs typeface="Roboto"/>
              </a:rPr>
              <a:t>cases,</a:t>
            </a:r>
            <a:r>
              <a:rPr sz="1100" spc="-33" dirty="0">
                <a:latin typeface="Roboto"/>
                <a:cs typeface="Roboto"/>
              </a:rPr>
              <a:t> </a:t>
            </a:r>
            <a:r>
              <a:rPr sz="1100" dirty="0">
                <a:latin typeface="Roboto"/>
                <a:cs typeface="Roboto"/>
              </a:rPr>
              <a:t>such</a:t>
            </a:r>
            <a:r>
              <a:rPr sz="1100" spc="-30" dirty="0">
                <a:latin typeface="Roboto"/>
                <a:cs typeface="Roboto"/>
              </a:rPr>
              <a:t> </a:t>
            </a:r>
            <a:r>
              <a:rPr sz="1100" dirty="0">
                <a:latin typeface="Roboto"/>
                <a:cs typeface="Roboto"/>
              </a:rPr>
              <a:t>as</a:t>
            </a:r>
            <a:r>
              <a:rPr sz="1100" spc="-30" dirty="0">
                <a:latin typeface="Roboto"/>
                <a:cs typeface="Roboto"/>
              </a:rPr>
              <a:t> </a:t>
            </a:r>
            <a:r>
              <a:rPr sz="1100" dirty="0">
                <a:latin typeface="Roboto"/>
                <a:cs typeface="Roboto"/>
              </a:rPr>
              <a:t>data</a:t>
            </a:r>
            <a:r>
              <a:rPr sz="1100" spc="-30" dirty="0">
                <a:latin typeface="Roboto"/>
                <a:cs typeface="Roboto"/>
              </a:rPr>
              <a:t> </a:t>
            </a:r>
            <a:r>
              <a:rPr sz="1100" dirty="0">
                <a:latin typeface="Roboto"/>
                <a:cs typeface="Roboto"/>
              </a:rPr>
              <a:t>lakes,</a:t>
            </a:r>
            <a:r>
              <a:rPr sz="1100" spc="-30" dirty="0">
                <a:latin typeface="Roboto"/>
                <a:cs typeface="Roboto"/>
              </a:rPr>
              <a:t> </a:t>
            </a:r>
            <a:r>
              <a:rPr sz="1100" dirty="0">
                <a:latin typeface="Roboto"/>
                <a:cs typeface="Roboto"/>
              </a:rPr>
              <a:t>websites,</a:t>
            </a:r>
            <a:r>
              <a:rPr sz="1100" spc="-30" dirty="0">
                <a:latin typeface="Roboto"/>
                <a:cs typeface="Roboto"/>
              </a:rPr>
              <a:t> </a:t>
            </a:r>
            <a:r>
              <a:rPr sz="1100" dirty="0">
                <a:latin typeface="Roboto"/>
                <a:cs typeface="Roboto"/>
              </a:rPr>
              <a:t>mobile</a:t>
            </a:r>
            <a:r>
              <a:rPr sz="1100" spc="-30" dirty="0">
                <a:latin typeface="Roboto"/>
                <a:cs typeface="Roboto"/>
              </a:rPr>
              <a:t> </a:t>
            </a:r>
            <a:r>
              <a:rPr sz="1100" dirty="0">
                <a:latin typeface="Roboto"/>
                <a:cs typeface="Roboto"/>
              </a:rPr>
              <a:t>applications,</a:t>
            </a:r>
            <a:r>
              <a:rPr sz="1100" spc="-30" dirty="0">
                <a:latin typeface="Roboto"/>
                <a:cs typeface="Roboto"/>
              </a:rPr>
              <a:t> </a:t>
            </a:r>
            <a:r>
              <a:rPr sz="1100" dirty="0">
                <a:latin typeface="Roboto"/>
                <a:cs typeface="Roboto"/>
              </a:rPr>
              <a:t>backup</a:t>
            </a:r>
            <a:r>
              <a:rPr sz="1100" spc="-30" dirty="0">
                <a:latin typeface="Roboto"/>
                <a:cs typeface="Roboto"/>
              </a:rPr>
              <a:t> </a:t>
            </a:r>
            <a:r>
              <a:rPr sz="1100" dirty="0">
                <a:latin typeface="Roboto"/>
                <a:cs typeface="Roboto"/>
              </a:rPr>
              <a:t>and</a:t>
            </a:r>
            <a:r>
              <a:rPr sz="1100" spc="-30" dirty="0">
                <a:latin typeface="Roboto"/>
                <a:cs typeface="Roboto"/>
              </a:rPr>
              <a:t> </a:t>
            </a:r>
            <a:r>
              <a:rPr sz="1100" dirty="0">
                <a:latin typeface="Roboto"/>
                <a:cs typeface="Roboto"/>
              </a:rPr>
              <a:t>restore,</a:t>
            </a:r>
            <a:r>
              <a:rPr sz="1100" spc="-30" dirty="0">
                <a:latin typeface="Roboto"/>
                <a:cs typeface="Roboto"/>
              </a:rPr>
              <a:t> </a:t>
            </a:r>
            <a:r>
              <a:rPr sz="1100" dirty="0">
                <a:latin typeface="Roboto"/>
                <a:cs typeface="Roboto"/>
              </a:rPr>
              <a:t>archive,</a:t>
            </a:r>
            <a:r>
              <a:rPr sz="1100" spc="-30" dirty="0">
                <a:latin typeface="Roboto"/>
                <a:cs typeface="Roboto"/>
              </a:rPr>
              <a:t> </a:t>
            </a:r>
            <a:r>
              <a:rPr sz="1100" dirty="0">
                <a:latin typeface="Roboto"/>
                <a:cs typeface="Roboto"/>
              </a:rPr>
              <a:t>enterprise</a:t>
            </a:r>
            <a:r>
              <a:rPr sz="1100" spc="-30" dirty="0">
                <a:latin typeface="Roboto"/>
                <a:cs typeface="Roboto"/>
              </a:rPr>
              <a:t> </a:t>
            </a:r>
            <a:r>
              <a:rPr sz="1100" dirty="0">
                <a:latin typeface="Roboto"/>
                <a:cs typeface="Roboto"/>
              </a:rPr>
              <a:t>applications,</a:t>
            </a:r>
            <a:r>
              <a:rPr sz="1100" spc="-33" dirty="0">
                <a:latin typeface="Roboto"/>
                <a:cs typeface="Roboto"/>
              </a:rPr>
              <a:t> </a:t>
            </a:r>
            <a:r>
              <a:rPr sz="1100" dirty="0">
                <a:latin typeface="Roboto"/>
                <a:cs typeface="Roboto"/>
              </a:rPr>
              <a:t>IoT</a:t>
            </a:r>
            <a:r>
              <a:rPr sz="1100" spc="-30" dirty="0">
                <a:latin typeface="Roboto"/>
                <a:cs typeface="Roboto"/>
              </a:rPr>
              <a:t> </a:t>
            </a:r>
            <a:r>
              <a:rPr sz="1100" dirty="0">
                <a:latin typeface="Roboto"/>
                <a:cs typeface="Roboto"/>
              </a:rPr>
              <a:t>devices,</a:t>
            </a:r>
            <a:r>
              <a:rPr sz="1100" spc="-30" dirty="0">
                <a:latin typeface="Roboto"/>
                <a:cs typeface="Roboto"/>
              </a:rPr>
              <a:t> </a:t>
            </a:r>
            <a:r>
              <a:rPr sz="1100" dirty="0">
                <a:latin typeface="Roboto"/>
                <a:cs typeface="Roboto"/>
              </a:rPr>
              <a:t>and</a:t>
            </a:r>
            <a:r>
              <a:rPr sz="1100" spc="-30" dirty="0">
                <a:latin typeface="Roboto"/>
                <a:cs typeface="Roboto"/>
              </a:rPr>
              <a:t> </a:t>
            </a:r>
            <a:r>
              <a:rPr sz="1100" dirty="0">
                <a:latin typeface="Roboto"/>
                <a:cs typeface="Roboto"/>
              </a:rPr>
              <a:t>big</a:t>
            </a:r>
            <a:r>
              <a:rPr sz="1100" spc="-30" dirty="0">
                <a:latin typeface="Roboto"/>
                <a:cs typeface="Roboto"/>
              </a:rPr>
              <a:t> </a:t>
            </a:r>
            <a:r>
              <a:rPr sz="1100" spc="-10" dirty="0">
                <a:latin typeface="Roboto"/>
                <a:cs typeface="Roboto"/>
              </a:rPr>
              <a:t>data </a:t>
            </a:r>
            <a:r>
              <a:rPr sz="1100" dirty="0">
                <a:latin typeface="Roboto"/>
                <a:cs typeface="Roboto"/>
              </a:rPr>
              <a:t>analytics.</a:t>
            </a:r>
            <a:r>
              <a:rPr sz="1100" spc="-23" dirty="0">
                <a:latin typeface="Roboto"/>
                <a:cs typeface="Roboto"/>
              </a:rPr>
              <a:t> </a:t>
            </a:r>
            <a:r>
              <a:rPr sz="1100" dirty="0">
                <a:latin typeface="Roboto"/>
                <a:cs typeface="Roboto"/>
              </a:rPr>
              <a:t>Amazon</a:t>
            </a:r>
            <a:r>
              <a:rPr sz="1100" spc="-20" dirty="0">
                <a:latin typeface="Roboto"/>
                <a:cs typeface="Roboto"/>
              </a:rPr>
              <a:t> </a:t>
            </a:r>
            <a:r>
              <a:rPr sz="1100" dirty="0">
                <a:latin typeface="Roboto"/>
                <a:cs typeface="Roboto"/>
              </a:rPr>
              <a:t>S3</a:t>
            </a:r>
            <a:r>
              <a:rPr sz="1100" spc="-23" dirty="0">
                <a:latin typeface="Roboto"/>
                <a:cs typeface="Roboto"/>
              </a:rPr>
              <a:t> </a:t>
            </a:r>
            <a:r>
              <a:rPr sz="1100" dirty="0">
                <a:latin typeface="Roboto"/>
                <a:cs typeface="Roboto"/>
              </a:rPr>
              <a:t>provides</a:t>
            </a:r>
            <a:r>
              <a:rPr sz="1100" spc="-20" dirty="0">
                <a:latin typeface="Roboto"/>
                <a:cs typeface="Roboto"/>
              </a:rPr>
              <a:t> </a:t>
            </a:r>
            <a:r>
              <a:rPr sz="1100" spc="-5" dirty="0">
                <a:latin typeface="Roboto"/>
                <a:cs typeface="Roboto"/>
              </a:rPr>
              <a:t>easy-to-</a:t>
            </a:r>
            <a:r>
              <a:rPr sz="1100" dirty="0">
                <a:latin typeface="Roboto"/>
                <a:cs typeface="Roboto"/>
              </a:rPr>
              <a:t>use</a:t>
            </a:r>
            <a:r>
              <a:rPr sz="1100" spc="-23" dirty="0">
                <a:latin typeface="Roboto"/>
                <a:cs typeface="Roboto"/>
              </a:rPr>
              <a:t> </a:t>
            </a:r>
            <a:r>
              <a:rPr sz="1100" dirty="0">
                <a:latin typeface="Roboto"/>
                <a:cs typeface="Roboto"/>
              </a:rPr>
              <a:t>management</a:t>
            </a:r>
            <a:r>
              <a:rPr sz="1100" spc="-20" dirty="0">
                <a:latin typeface="Roboto"/>
                <a:cs typeface="Roboto"/>
              </a:rPr>
              <a:t> </a:t>
            </a:r>
            <a:r>
              <a:rPr sz="1100" dirty="0">
                <a:latin typeface="Roboto"/>
                <a:cs typeface="Roboto"/>
              </a:rPr>
              <a:t>features</a:t>
            </a:r>
            <a:r>
              <a:rPr sz="1100" spc="-23" dirty="0">
                <a:latin typeface="Roboto"/>
                <a:cs typeface="Roboto"/>
              </a:rPr>
              <a:t> </a:t>
            </a:r>
            <a:r>
              <a:rPr sz="1100" dirty="0">
                <a:latin typeface="Roboto"/>
                <a:cs typeface="Roboto"/>
              </a:rPr>
              <a:t>so</a:t>
            </a:r>
            <a:r>
              <a:rPr sz="1100" spc="-20" dirty="0">
                <a:latin typeface="Roboto"/>
                <a:cs typeface="Roboto"/>
              </a:rPr>
              <a:t> </a:t>
            </a:r>
            <a:r>
              <a:rPr sz="1100" dirty="0">
                <a:latin typeface="Roboto"/>
                <a:cs typeface="Roboto"/>
              </a:rPr>
              <a:t>you</a:t>
            </a:r>
            <a:r>
              <a:rPr sz="1100" spc="-20" dirty="0">
                <a:latin typeface="Roboto"/>
                <a:cs typeface="Roboto"/>
              </a:rPr>
              <a:t> </a:t>
            </a:r>
            <a:r>
              <a:rPr sz="1100" dirty="0">
                <a:latin typeface="Roboto"/>
                <a:cs typeface="Roboto"/>
              </a:rPr>
              <a:t>can</a:t>
            </a:r>
            <a:r>
              <a:rPr sz="1100" spc="-23" dirty="0">
                <a:latin typeface="Roboto"/>
                <a:cs typeface="Roboto"/>
              </a:rPr>
              <a:t> </a:t>
            </a:r>
            <a:r>
              <a:rPr sz="1100" dirty="0">
                <a:latin typeface="Roboto"/>
                <a:cs typeface="Roboto"/>
              </a:rPr>
              <a:t>organize</a:t>
            </a:r>
            <a:r>
              <a:rPr sz="1100" spc="-20" dirty="0">
                <a:latin typeface="Roboto"/>
                <a:cs typeface="Roboto"/>
              </a:rPr>
              <a:t> </a:t>
            </a:r>
            <a:r>
              <a:rPr sz="1100" dirty="0">
                <a:latin typeface="Roboto"/>
                <a:cs typeface="Roboto"/>
              </a:rPr>
              <a:t>your</a:t>
            </a:r>
            <a:r>
              <a:rPr sz="1100" spc="-23" dirty="0">
                <a:latin typeface="Roboto"/>
                <a:cs typeface="Roboto"/>
              </a:rPr>
              <a:t> </a:t>
            </a:r>
            <a:r>
              <a:rPr sz="1100" dirty="0">
                <a:latin typeface="Roboto"/>
                <a:cs typeface="Roboto"/>
              </a:rPr>
              <a:t>data</a:t>
            </a:r>
            <a:r>
              <a:rPr sz="1100" spc="-20" dirty="0">
                <a:latin typeface="Roboto"/>
                <a:cs typeface="Roboto"/>
              </a:rPr>
              <a:t> </a:t>
            </a:r>
            <a:r>
              <a:rPr sz="1100" dirty="0">
                <a:latin typeface="Roboto"/>
                <a:cs typeface="Roboto"/>
              </a:rPr>
              <a:t>and</a:t>
            </a:r>
            <a:r>
              <a:rPr sz="1100" spc="-23" dirty="0">
                <a:latin typeface="Roboto"/>
                <a:cs typeface="Roboto"/>
              </a:rPr>
              <a:t> </a:t>
            </a:r>
            <a:r>
              <a:rPr sz="1100" dirty="0">
                <a:latin typeface="Roboto"/>
                <a:cs typeface="Roboto"/>
              </a:rPr>
              <a:t>configure</a:t>
            </a:r>
            <a:r>
              <a:rPr sz="1100" spc="-20" dirty="0">
                <a:latin typeface="Roboto"/>
                <a:cs typeface="Roboto"/>
              </a:rPr>
              <a:t> </a:t>
            </a:r>
            <a:r>
              <a:rPr sz="1100" spc="-5" dirty="0">
                <a:latin typeface="Roboto"/>
                <a:cs typeface="Roboto"/>
              </a:rPr>
              <a:t>finely-</a:t>
            </a:r>
            <a:r>
              <a:rPr sz="1100" dirty="0">
                <a:latin typeface="Roboto"/>
                <a:cs typeface="Roboto"/>
              </a:rPr>
              <a:t>tuned</a:t>
            </a:r>
            <a:r>
              <a:rPr sz="1100" spc="-20" dirty="0">
                <a:latin typeface="Roboto"/>
                <a:cs typeface="Roboto"/>
              </a:rPr>
              <a:t> </a:t>
            </a:r>
            <a:r>
              <a:rPr sz="1100" dirty="0">
                <a:latin typeface="Roboto"/>
                <a:cs typeface="Roboto"/>
              </a:rPr>
              <a:t>access</a:t>
            </a:r>
            <a:r>
              <a:rPr sz="1100" spc="-23" dirty="0">
                <a:latin typeface="Roboto"/>
                <a:cs typeface="Roboto"/>
              </a:rPr>
              <a:t> </a:t>
            </a:r>
            <a:r>
              <a:rPr sz="1100" spc="-5" dirty="0">
                <a:latin typeface="Roboto"/>
                <a:cs typeface="Roboto"/>
              </a:rPr>
              <a:t>controls </a:t>
            </a:r>
            <a:r>
              <a:rPr sz="1100" dirty="0">
                <a:latin typeface="Roboto"/>
                <a:cs typeface="Roboto"/>
              </a:rPr>
              <a:t>to</a:t>
            </a:r>
            <a:r>
              <a:rPr sz="1100" spc="-28" dirty="0">
                <a:latin typeface="Roboto"/>
                <a:cs typeface="Roboto"/>
              </a:rPr>
              <a:t> </a:t>
            </a:r>
            <a:r>
              <a:rPr sz="1100" dirty="0">
                <a:latin typeface="Roboto"/>
                <a:cs typeface="Roboto"/>
              </a:rPr>
              <a:t>meet</a:t>
            </a:r>
            <a:r>
              <a:rPr sz="1100" spc="-25" dirty="0">
                <a:latin typeface="Roboto"/>
                <a:cs typeface="Roboto"/>
              </a:rPr>
              <a:t> </a:t>
            </a:r>
            <a:r>
              <a:rPr sz="1100" dirty="0">
                <a:latin typeface="Roboto"/>
                <a:cs typeface="Roboto"/>
              </a:rPr>
              <a:t>your</a:t>
            </a:r>
            <a:r>
              <a:rPr sz="1100" spc="-25" dirty="0">
                <a:latin typeface="Roboto"/>
                <a:cs typeface="Roboto"/>
              </a:rPr>
              <a:t> </a:t>
            </a:r>
            <a:r>
              <a:rPr sz="1100" dirty="0">
                <a:latin typeface="Roboto"/>
                <a:cs typeface="Roboto"/>
              </a:rPr>
              <a:t>specific</a:t>
            </a:r>
            <a:r>
              <a:rPr sz="1100" spc="-28" dirty="0">
                <a:latin typeface="Roboto"/>
                <a:cs typeface="Roboto"/>
              </a:rPr>
              <a:t> </a:t>
            </a:r>
            <a:r>
              <a:rPr sz="1100" dirty="0">
                <a:latin typeface="Roboto"/>
                <a:cs typeface="Roboto"/>
              </a:rPr>
              <a:t>business,</a:t>
            </a:r>
            <a:r>
              <a:rPr sz="1100" spc="-25" dirty="0">
                <a:latin typeface="Roboto"/>
                <a:cs typeface="Roboto"/>
              </a:rPr>
              <a:t> </a:t>
            </a:r>
            <a:r>
              <a:rPr sz="1100" dirty="0">
                <a:latin typeface="Roboto"/>
                <a:cs typeface="Roboto"/>
              </a:rPr>
              <a:t>organizational,</a:t>
            </a:r>
            <a:r>
              <a:rPr sz="1100" spc="-25" dirty="0">
                <a:latin typeface="Roboto"/>
                <a:cs typeface="Roboto"/>
              </a:rPr>
              <a:t> </a:t>
            </a:r>
            <a:r>
              <a:rPr sz="1100" dirty="0">
                <a:latin typeface="Roboto"/>
                <a:cs typeface="Roboto"/>
              </a:rPr>
              <a:t>and</a:t>
            </a:r>
            <a:r>
              <a:rPr sz="1100" spc="-25" dirty="0">
                <a:latin typeface="Roboto"/>
                <a:cs typeface="Roboto"/>
              </a:rPr>
              <a:t> </a:t>
            </a:r>
            <a:r>
              <a:rPr sz="1100" dirty="0">
                <a:latin typeface="Roboto"/>
                <a:cs typeface="Roboto"/>
              </a:rPr>
              <a:t>compliance</a:t>
            </a:r>
            <a:r>
              <a:rPr sz="1100" spc="-28" dirty="0">
                <a:latin typeface="Roboto"/>
                <a:cs typeface="Roboto"/>
              </a:rPr>
              <a:t> </a:t>
            </a:r>
            <a:r>
              <a:rPr sz="1100" dirty="0">
                <a:latin typeface="Roboto"/>
                <a:cs typeface="Roboto"/>
              </a:rPr>
              <a:t>requirements.</a:t>
            </a:r>
            <a:r>
              <a:rPr sz="1100" spc="-25" dirty="0">
                <a:latin typeface="Roboto"/>
                <a:cs typeface="Roboto"/>
              </a:rPr>
              <a:t> </a:t>
            </a:r>
            <a:r>
              <a:rPr sz="1100" dirty="0">
                <a:latin typeface="Roboto"/>
                <a:cs typeface="Roboto"/>
              </a:rPr>
              <a:t>Amazon</a:t>
            </a:r>
            <a:r>
              <a:rPr sz="1100" spc="-25" dirty="0">
                <a:latin typeface="Roboto"/>
                <a:cs typeface="Roboto"/>
              </a:rPr>
              <a:t> </a:t>
            </a:r>
            <a:r>
              <a:rPr sz="1100" dirty="0">
                <a:latin typeface="Roboto"/>
                <a:cs typeface="Roboto"/>
              </a:rPr>
              <a:t>S3</a:t>
            </a:r>
            <a:r>
              <a:rPr sz="1100" spc="-25" dirty="0">
                <a:latin typeface="Roboto"/>
                <a:cs typeface="Roboto"/>
              </a:rPr>
              <a:t> </a:t>
            </a:r>
            <a:r>
              <a:rPr sz="1100" dirty="0">
                <a:latin typeface="Roboto"/>
                <a:cs typeface="Roboto"/>
              </a:rPr>
              <a:t>is</a:t>
            </a:r>
            <a:r>
              <a:rPr sz="1100" spc="-28" dirty="0">
                <a:latin typeface="Roboto"/>
                <a:cs typeface="Roboto"/>
              </a:rPr>
              <a:t> </a:t>
            </a:r>
            <a:r>
              <a:rPr sz="1100" dirty="0">
                <a:latin typeface="Roboto"/>
                <a:cs typeface="Roboto"/>
              </a:rPr>
              <a:t>designed</a:t>
            </a:r>
            <a:r>
              <a:rPr sz="1100" spc="-25" dirty="0">
                <a:latin typeface="Roboto"/>
                <a:cs typeface="Roboto"/>
              </a:rPr>
              <a:t> </a:t>
            </a:r>
            <a:r>
              <a:rPr sz="1100" dirty="0">
                <a:latin typeface="Roboto"/>
                <a:cs typeface="Roboto"/>
              </a:rPr>
              <a:t>for</a:t>
            </a:r>
            <a:r>
              <a:rPr sz="1100" spc="-25" dirty="0">
                <a:latin typeface="Roboto"/>
                <a:cs typeface="Roboto"/>
              </a:rPr>
              <a:t> </a:t>
            </a:r>
            <a:r>
              <a:rPr sz="1100" spc="-5" dirty="0">
                <a:latin typeface="Roboto"/>
                <a:cs typeface="Roboto"/>
              </a:rPr>
              <a:t>99.999999999%</a:t>
            </a:r>
            <a:r>
              <a:rPr sz="1100" spc="-28" dirty="0">
                <a:latin typeface="Roboto"/>
                <a:cs typeface="Roboto"/>
              </a:rPr>
              <a:t> </a:t>
            </a:r>
            <a:r>
              <a:rPr sz="1100" dirty="0">
                <a:latin typeface="Roboto"/>
                <a:cs typeface="Roboto"/>
              </a:rPr>
              <a:t>(11</a:t>
            </a:r>
            <a:r>
              <a:rPr sz="1100" spc="-25" dirty="0">
                <a:latin typeface="Roboto"/>
                <a:cs typeface="Roboto"/>
              </a:rPr>
              <a:t> </a:t>
            </a:r>
            <a:r>
              <a:rPr sz="1100" dirty="0">
                <a:latin typeface="Roboto"/>
                <a:cs typeface="Roboto"/>
              </a:rPr>
              <a:t>9's)</a:t>
            </a:r>
            <a:r>
              <a:rPr sz="1100" spc="-25" dirty="0">
                <a:latin typeface="Roboto"/>
                <a:cs typeface="Roboto"/>
              </a:rPr>
              <a:t> </a:t>
            </a:r>
            <a:r>
              <a:rPr sz="1100" spc="-13" dirty="0">
                <a:latin typeface="Roboto"/>
                <a:cs typeface="Roboto"/>
              </a:rPr>
              <a:t>of </a:t>
            </a:r>
            <a:r>
              <a:rPr sz="1100" dirty="0">
                <a:latin typeface="Roboto"/>
                <a:cs typeface="Roboto"/>
              </a:rPr>
              <a:t>durability,</a:t>
            </a:r>
            <a:r>
              <a:rPr sz="1100" spc="-25" dirty="0">
                <a:latin typeface="Roboto"/>
                <a:cs typeface="Roboto"/>
              </a:rPr>
              <a:t> </a:t>
            </a:r>
            <a:r>
              <a:rPr sz="1100" dirty="0">
                <a:latin typeface="Roboto"/>
                <a:cs typeface="Roboto"/>
              </a:rPr>
              <a:t>and</a:t>
            </a:r>
            <a:r>
              <a:rPr sz="1100" spc="-23" dirty="0">
                <a:latin typeface="Roboto"/>
                <a:cs typeface="Roboto"/>
              </a:rPr>
              <a:t> </a:t>
            </a:r>
            <a:r>
              <a:rPr sz="1100" dirty="0">
                <a:latin typeface="Roboto"/>
                <a:cs typeface="Roboto"/>
              </a:rPr>
              <a:t>stores</a:t>
            </a:r>
            <a:r>
              <a:rPr sz="1100" spc="-23" dirty="0">
                <a:latin typeface="Roboto"/>
                <a:cs typeface="Roboto"/>
              </a:rPr>
              <a:t> </a:t>
            </a:r>
            <a:r>
              <a:rPr sz="1100" dirty="0">
                <a:latin typeface="Roboto"/>
                <a:cs typeface="Roboto"/>
              </a:rPr>
              <a:t>data</a:t>
            </a:r>
            <a:r>
              <a:rPr sz="1100" spc="-23" dirty="0">
                <a:latin typeface="Roboto"/>
                <a:cs typeface="Roboto"/>
              </a:rPr>
              <a:t> </a:t>
            </a:r>
            <a:r>
              <a:rPr sz="1100" dirty="0">
                <a:latin typeface="Roboto"/>
                <a:cs typeface="Roboto"/>
              </a:rPr>
              <a:t>for</a:t>
            </a:r>
            <a:r>
              <a:rPr sz="1100" spc="-23" dirty="0">
                <a:latin typeface="Roboto"/>
                <a:cs typeface="Roboto"/>
              </a:rPr>
              <a:t> </a:t>
            </a:r>
            <a:r>
              <a:rPr sz="1100" dirty="0">
                <a:latin typeface="Roboto"/>
                <a:cs typeface="Roboto"/>
              </a:rPr>
              <a:t>millions</a:t>
            </a:r>
            <a:r>
              <a:rPr sz="1100" spc="-25" dirty="0">
                <a:latin typeface="Roboto"/>
                <a:cs typeface="Roboto"/>
              </a:rPr>
              <a:t> </a:t>
            </a:r>
            <a:r>
              <a:rPr sz="1100" dirty="0">
                <a:latin typeface="Roboto"/>
                <a:cs typeface="Roboto"/>
              </a:rPr>
              <a:t>of</a:t>
            </a:r>
            <a:r>
              <a:rPr sz="1100" spc="-23" dirty="0">
                <a:latin typeface="Roboto"/>
                <a:cs typeface="Roboto"/>
              </a:rPr>
              <a:t> </a:t>
            </a:r>
            <a:r>
              <a:rPr sz="1100" dirty="0">
                <a:latin typeface="Roboto"/>
                <a:cs typeface="Roboto"/>
              </a:rPr>
              <a:t>applications</a:t>
            </a:r>
            <a:r>
              <a:rPr sz="1100" spc="-23" dirty="0">
                <a:latin typeface="Roboto"/>
                <a:cs typeface="Roboto"/>
              </a:rPr>
              <a:t> </a:t>
            </a:r>
            <a:r>
              <a:rPr sz="1100" dirty="0">
                <a:latin typeface="Roboto"/>
                <a:cs typeface="Roboto"/>
              </a:rPr>
              <a:t>for</a:t>
            </a:r>
            <a:r>
              <a:rPr sz="1100" spc="-23" dirty="0">
                <a:latin typeface="Roboto"/>
                <a:cs typeface="Roboto"/>
              </a:rPr>
              <a:t> </a:t>
            </a:r>
            <a:r>
              <a:rPr sz="1100" dirty="0">
                <a:latin typeface="Roboto"/>
                <a:cs typeface="Roboto"/>
              </a:rPr>
              <a:t>companies</a:t>
            </a:r>
            <a:r>
              <a:rPr sz="1100" spc="-23" dirty="0">
                <a:latin typeface="Roboto"/>
                <a:cs typeface="Roboto"/>
              </a:rPr>
              <a:t> </a:t>
            </a:r>
            <a:r>
              <a:rPr sz="1100" dirty="0">
                <a:latin typeface="Roboto"/>
                <a:cs typeface="Roboto"/>
              </a:rPr>
              <a:t>all</a:t>
            </a:r>
            <a:r>
              <a:rPr sz="1100" spc="-25" dirty="0">
                <a:latin typeface="Roboto"/>
                <a:cs typeface="Roboto"/>
              </a:rPr>
              <a:t> </a:t>
            </a:r>
            <a:r>
              <a:rPr sz="1100" dirty="0">
                <a:latin typeface="Roboto"/>
                <a:cs typeface="Roboto"/>
              </a:rPr>
              <a:t>around</a:t>
            </a:r>
            <a:r>
              <a:rPr sz="1100" spc="-23" dirty="0">
                <a:latin typeface="Roboto"/>
                <a:cs typeface="Roboto"/>
              </a:rPr>
              <a:t> </a:t>
            </a:r>
            <a:r>
              <a:rPr sz="1100" dirty="0">
                <a:latin typeface="Roboto"/>
                <a:cs typeface="Roboto"/>
              </a:rPr>
              <a:t>the</a:t>
            </a:r>
            <a:r>
              <a:rPr sz="1100" spc="-23" dirty="0">
                <a:latin typeface="Roboto"/>
                <a:cs typeface="Roboto"/>
              </a:rPr>
              <a:t> </a:t>
            </a:r>
            <a:r>
              <a:rPr sz="1100" spc="-5" dirty="0">
                <a:latin typeface="Roboto"/>
                <a:cs typeface="Roboto"/>
              </a:rPr>
              <a:t>world.</a:t>
            </a:r>
            <a:endParaRPr sz="1100">
              <a:latin typeface="Roboto"/>
              <a:cs typeface="Roboto"/>
            </a:endParaRPr>
          </a:p>
          <a:p>
            <a:pPr marR="859790" algn="ctr">
              <a:spcBef>
                <a:spcPts val="370"/>
              </a:spcBef>
            </a:pPr>
            <a:r>
              <a:rPr sz="1100" b="1" dirty="0">
                <a:latin typeface="Open Sans Extrabold"/>
                <a:cs typeface="Open Sans Extrabold"/>
              </a:rPr>
              <a:t>Points</a:t>
            </a:r>
            <a:r>
              <a:rPr sz="1100" b="1" spc="-23" dirty="0">
                <a:latin typeface="Open Sans Extrabold"/>
                <a:cs typeface="Open Sans Extrabold"/>
              </a:rPr>
              <a:t> </a:t>
            </a:r>
            <a:r>
              <a:rPr sz="1100" b="1" dirty="0">
                <a:latin typeface="Open Sans Extrabold"/>
                <a:cs typeface="Open Sans Extrabold"/>
              </a:rPr>
              <a:t>to</a:t>
            </a:r>
            <a:r>
              <a:rPr sz="1100" b="1" spc="-20" dirty="0">
                <a:latin typeface="Open Sans Extrabold"/>
                <a:cs typeface="Open Sans Extrabold"/>
              </a:rPr>
              <a:t> </a:t>
            </a:r>
            <a:r>
              <a:rPr sz="1100" b="1" spc="-5" dirty="0">
                <a:latin typeface="Open Sans Extrabold"/>
                <a:cs typeface="Open Sans Extrabold"/>
              </a:rPr>
              <a:t>focus</a:t>
            </a:r>
            <a:endParaRPr sz="1100">
              <a:latin typeface="Open Sans Extrabold"/>
              <a:cs typeface="Open Sans Extrabold"/>
            </a:endParaRPr>
          </a:p>
          <a:p>
            <a:pPr marL="360998">
              <a:spcBef>
                <a:spcPts val="738"/>
              </a:spcBef>
              <a:tabLst>
                <a:tab pos="1203643" algn="l"/>
              </a:tabLst>
            </a:pPr>
            <a:r>
              <a:rPr sz="1100" b="1" spc="-5" dirty="0">
                <a:latin typeface="Roboto"/>
                <a:cs typeface="Roboto"/>
              </a:rPr>
              <a:t>Understand</a:t>
            </a:r>
            <a:r>
              <a:rPr sz="1100" b="1" dirty="0">
                <a:latin typeface="Roboto"/>
                <a:cs typeface="Roboto"/>
              </a:rPr>
              <a:t>	</a:t>
            </a:r>
            <a:r>
              <a:rPr sz="1100" dirty="0">
                <a:latin typeface="Roboto"/>
                <a:cs typeface="Roboto"/>
              </a:rPr>
              <a:t>S3</a:t>
            </a:r>
            <a:r>
              <a:rPr sz="1100" spc="-25" dirty="0">
                <a:latin typeface="Roboto"/>
                <a:cs typeface="Roboto"/>
              </a:rPr>
              <a:t> </a:t>
            </a:r>
            <a:r>
              <a:rPr sz="1100" dirty="0">
                <a:latin typeface="Roboto"/>
                <a:cs typeface="Roboto"/>
              </a:rPr>
              <a:t>STANDARD</a:t>
            </a:r>
            <a:r>
              <a:rPr sz="1100" spc="-23" dirty="0">
                <a:latin typeface="Roboto"/>
                <a:cs typeface="Roboto"/>
              </a:rPr>
              <a:t> </a:t>
            </a:r>
            <a:r>
              <a:rPr sz="1100" dirty="0">
                <a:latin typeface="Roboto"/>
                <a:cs typeface="Roboto"/>
              </a:rPr>
              <a:t>for</a:t>
            </a:r>
            <a:r>
              <a:rPr sz="1100" spc="-23" dirty="0">
                <a:latin typeface="Roboto"/>
                <a:cs typeface="Roboto"/>
              </a:rPr>
              <a:t> </a:t>
            </a:r>
            <a:r>
              <a:rPr sz="1100" spc="-5" dirty="0">
                <a:latin typeface="Roboto"/>
                <a:cs typeface="Roboto"/>
              </a:rPr>
              <a:t>general-</a:t>
            </a:r>
            <a:r>
              <a:rPr sz="1100" dirty="0">
                <a:latin typeface="Roboto"/>
                <a:cs typeface="Roboto"/>
              </a:rPr>
              <a:t>purpose</a:t>
            </a:r>
            <a:r>
              <a:rPr sz="1100" spc="-23" dirty="0">
                <a:latin typeface="Roboto"/>
                <a:cs typeface="Roboto"/>
              </a:rPr>
              <a:t> </a:t>
            </a:r>
            <a:r>
              <a:rPr sz="1100" dirty="0">
                <a:latin typeface="Roboto"/>
                <a:cs typeface="Roboto"/>
              </a:rPr>
              <a:t>storage</a:t>
            </a:r>
            <a:r>
              <a:rPr sz="1100" spc="-23" dirty="0">
                <a:latin typeface="Roboto"/>
                <a:cs typeface="Roboto"/>
              </a:rPr>
              <a:t> </a:t>
            </a:r>
            <a:r>
              <a:rPr sz="1100" dirty="0">
                <a:latin typeface="Roboto"/>
                <a:cs typeface="Roboto"/>
              </a:rPr>
              <a:t>of</a:t>
            </a:r>
            <a:r>
              <a:rPr sz="1100" spc="-23" dirty="0">
                <a:latin typeface="Roboto"/>
                <a:cs typeface="Roboto"/>
              </a:rPr>
              <a:t> </a:t>
            </a:r>
            <a:r>
              <a:rPr sz="1100" dirty="0">
                <a:latin typeface="Roboto"/>
                <a:cs typeface="Roboto"/>
              </a:rPr>
              <a:t>frequently</a:t>
            </a:r>
            <a:r>
              <a:rPr sz="1100" spc="-25" dirty="0">
                <a:latin typeface="Roboto"/>
                <a:cs typeface="Roboto"/>
              </a:rPr>
              <a:t> </a:t>
            </a:r>
            <a:r>
              <a:rPr sz="1100" dirty="0">
                <a:latin typeface="Roboto"/>
                <a:cs typeface="Roboto"/>
              </a:rPr>
              <a:t>accessed</a:t>
            </a:r>
            <a:r>
              <a:rPr sz="1100" spc="-23" dirty="0">
                <a:latin typeface="Roboto"/>
                <a:cs typeface="Roboto"/>
              </a:rPr>
              <a:t> </a:t>
            </a:r>
            <a:r>
              <a:rPr sz="1100" spc="-10" dirty="0">
                <a:latin typeface="Roboto"/>
                <a:cs typeface="Roboto"/>
              </a:rPr>
              <a:t>data</a:t>
            </a:r>
            <a:endParaRPr sz="1100">
              <a:latin typeface="Roboto"/>
              <a:cs typeface="Roboto"/>
            </a:endParaRPr>
          </a:p>
          <a:p>
            <a:pPr marL="1203643" marR="189230" indent="-1089978">
              <a:lnSpc>
                <a:spcPct val="116500"/>
              </a:lnSpc>
              <a:tabLst>
                <a:tab pos="1203643" algn="l"/>
              </a:tabLst>
            </a:pPr>
            <a:r>
              <a:rPr sz="1100" b="1" dirty="0">
                <a:latin typeface="Roboto"/>
                <a:cs typeface="Roboto"/>
              </a:rPr>
              <a:t>storage</a:t>
            </a:r>
            <a:r>
              <a:rPr sz="1100" b="1" spc="-23" dirty="0">
                <a:latin typeface="Roboto"/>
                <a:cs typeface="Roboto"/>
              </a:rPr>
              <a:t> </a:t>
            </a:r>
            <a:r>
              <a:rPr sz="1100" b="1" spc="-5" dirty="0">
                <a:latin typeface="Roboto"/>
                <a:cs typeface="Roboto"/>
              </a:rPr>
              <a:t>Classes</a:t>
            </a:r>
            <a:r>
              <a:rPr sz="1100" b="1" dirty="0">
                <a:latin typeface="Roboto"/>
                <a:cs typeface="Roboto"/>
              </a:rPr>
              <a:t>	</a:t>
            </a:r>
            <a:r>
              <a:rPr sz="1100" dirty="0">
                <a:latin typeface="Roboto"/>
                <a:cs typeface="Roboto"/>
              </a:rPr>
              <a:t>S3</a:t>
            </a:r>
            <a:r>
              <a:rPr sz="1100" spc="-23" dirty="0">
                <a:latin typeface="Roboto"/>
                <a:cs typeface="Roboto"/>
              </a:rPr>
              <a:t> </a:t>
            </a:r>
            <a:r>
              <a:rPr sz="1100" dirty="0">
                <a:latin typeface="Roboto"/>
                <a:cs typeface="Roboto"/>
              </a:rPr>
              <a:t>STANDARD_IA</a:t>
            </a:r>
            <a:r>
              <a:rPr sz="1100" spc="-23" dirty="0">
                <a:latin typeface="Roboto"/>
                <a:cs typeface="Roboto"/>
              </a:rPr>
              <a:t> </a:t>
            </a:r>
            <a:r>
              <a:rPr sz="1100" dirty="0">
                <a:latin typeface="Roboto"/>
                <a:cs typeface="Roboto"/>
              </a:rPr>
              <a:t>for</a:t>
            </a:r>
            <a:r>
              <a:rPr sz="1100" spc="-23" dirty="0">
                <a:latin typeface="Roboto"/>
                <a:cs typeface="Roboto"/>
              </a:rPr>
              <a:t> </a:t>
            </a:r>
            <a:r>
              <a:rPr sz="1100" spc="-5" dirty="0">
                <a:latin typeface="Roboto"/>
                <a:cs typeface="Roboto"/>
              </a:rPr>
              <a:t>long-</a:t>
            </a:r>
            <a:r>
              <a:rPr sz="1100" dirty="0">
                <a:latin typeface="Roboto"/>
                <a:cs typeface="Roboto"/>
              </a:rPr>
              <a:t>lived,</a:t>
            </a:r>
            <a:r>
              <a:rPr sz="1100" spc="-20" dirty="0">
                <a:latin typeface="Roboto"/>
                <a:cs typeface="Roboto"/>
              </a:rPr>
              <a:t> </a:t>
            </a:r>
            <a:r>
              <a:rPr sz="1100" dirty="0">
                <a:latin typeface="Roboto"/>
                <a:cs typeface="Roboto"/>
              </a:rPr>
              <a:t>but</a:t>
            </a:r>
            <a:r>
              <a:rPr sz="1100" spc="-23" dirty="0">
                <a:latin typeface="Roboto"/>
                <a:cs typeface="Roboto"/>
              </a:rPr>
              <a:t> </a:t>
            </a:r>
            <a:r>
              <a:rPr sz="1100" dirty="0">
                <a:latin typeface="Roboto"/>
                <a:cs typeface="Roboto"/>
              </a:rPr>
              <a:t>less</a:t>
            </a:r>
            <a:r>
              <a:rPr sz="1100" spc="-23" dirty="0">
                <a:latin typeface="Roboto"/>
                <a:cs typeface="Roboto"/>
              </a:rPr>
              <a:t> </a:t>
            </a:r>
            <a:r>
              <a:rPr sz="1100" dirty="0">
                <a:latin typeface="Roboto"/>
                <a:cs typeface="Roboto"/>
              </a:rPr>
              <a:t>frequently</a:t>
            </a:r>
            <a:r>
              <a:rPr sz="1100" spc="-20" dirty="0">
                <a:latin typeface="Roboto"/>
                <a:cs typeface="Roboto"/>
              </a:rPr>
              <a:t> </a:t>
            </a:r>
            <a:r>
              <a:rPr sz="1100" dirty="0">
                <a:latin typeface="Roboto"/>
                <a:cs typeface="Roboto"/>
              </a:rPr>
              <a:t>accessed</a:t>
            </a:r>
            <a:r>
              <a:rPr sz="1100" spc="-23" dirty="0">
                <a:latin typeface="Roboto"/>
                <a:cs typeface="Roboto"/>
              </a:rPr>
              <a:t> </a:t>
            </a:r>
            <a:r>
              <a:rPr sz="1100" dirty="0">
                <a:latin typeface="Roboto"/>
                <a:cs typeface="Roboto"/>
              </a:rPr>
              <a:t>data.</a:t>
            </a:r>
            <a:r>
              <a:rPr sz="1100" spc="-23" dirty="0">
                <a:latin typeface="Roboto"/>
                <a:cs typeface="Roboto"/>
              </a:rPr>
              <a:t> </a:t>
            </a:r>
            <a:r>
              <a:rPr sz="1100" dirty="0">
                <a:latin typeface="Roboto"/>
                <a:cs typeface="Roboto"/>
              </a:rPr>
              <a:t>It</a:t>
            </a:r>
            <a:r>
              <a:rPr sz="1100" spc="-23" dirty="0">
                <a:latin typeface="Roboto"/>
                <a:cs typeface="Roboto"/>
              </a:rPr>
              <a:t> </a:t>
            </a:r>
            <a:r>
              <a:rPr sz="1100" dirty="0">
                <a:latin typeface="Roboto"/>
                <a:cs typeface="Roboto"/>
              </a:rPr>
              <a:t>stores</a:t>
            </a:r>
            <a:r>
              <a:rPr sz="1100" spc="-20" dirty="0">
                <a:latin typeface="Roboto"/>
                <a:cs typeface="Roboto"/>
              </a:rPr>
              <a:t> </a:t>
            </a:r>
            <a:r>
              <a:rPr sz="1100" dirty="0">
                <a:latin typeface="Roboto"/>
                <a:cs typeface="Roboto"/>
              </a:rPr>
              <a:t>the</a:t>
            </a:r>
            <a:r>
              <a:rPr sz="1100" spc="-23" dirty="0">
                <a:latin typeface="Roboto"/>
                <a:cs typeface="Roboto"/>
              </a:rPr>
              <a:t> </a:t>
            </a:r>
            <a:r>
              <a:rPr sz="1100" dirty="0">
                <a:latin typeface="Roboto"/>
                <a:cs typeface="Roboto"/>
              </a:rPr>
              <a:t>object</a:t>
            </a:r>
            <a:r>
              <a:rPr sz="1100" spc="-23" dirty="0">
                <a:latin typeface="Roboto"/>
                <a:cs typeface="Roboto"/>
              </a:rPr>
              <a:t> </a:t>
            </a:r>
            <a:r>
              <a:rPr sz="1100" dirty="0">
                <a:latin typeface="Roboto"/>
                <a:cs typeface="Roboto"/>
              </a:rPr>
              <a:t>data</a:t>
            </a:r>
            <a:r>
              <a:rPr sz="1100" spc="-20" dirty="0">
                <a:latin typeface="Roboto"/>
                <a:cs typeface="Roboto"/>
              </a:rPr>
              <a:t> </a:t>
            </a:r>
            <a:r>
              <a:rPr sz="1100" dirty="0">
                <a:latin typeface="Roboto"/>
                <a:cs typeface="Roboto"/>
              </a:rPr>
              <a:t>redundantly</a:t>
            </a:r>
            <a:r>
              <a:rPr sz="1100" spc="-23" dirty="0">
                <a:latin typeface="Roboto"/>
                <a:cs typeface="Roboto"/>
              </a:rPr>
              <a:t> </a:t>
            </a:r>
            <a:r>
              <a:rPr sz="1100" dirty="0">
                <a:latin typeface="Roboto"/>
                <a:cs typeface="Roboto"/>
              </a:rPr>
              <a:t>across</a:t>
            </a:r>
            <a:r>
              <a:rPr sz="1100" spc="-23" dirty="0">
                <a:latin typeface="Roboto"/>
                <a:cs typeface="Roboto"/>
              </a:rPr>
              <a:t> </a:t>
            </a:r>
            <a:r>
              <a:rPr sz="1100" spc="-5" dirty="0">
                <a:latin typeface="Roboto"/>
                <a:cs typeface="Roboto"/>
              </a:rPr>
              <a:t>multiple geographically</a:t>
            </a:r>
            <a:r>
              <a:rPr sz="1100" spc="-25" dirty="0">
                <a:latin typeface="Roboto"/>
                <a:cs typeface="Roboto"/>
              </a:rPr>
              <a:t> </a:t>
            </a:r>
            <a:r>
              <a:rPr sz="1100" dirty="0">
                <a:latin typeface="Roboto"/>
                <a:cs typeface="Roboto"/>
              </a:rPr>
              <a:t>separated</a:t>
            </a:r>
            <a:r>
              <a:rPr sz="1100" spc="-25" dirty="0">
                <a:latin typeface="Roboto"/>
                <a:cs typeface="Roboto"/>
              </a:rPr>
              <a:t> </a:t>
            </a:r>
            <a:r>
              <a:rPr sz="1100" spc="-10" dirty="0">
                <a:latin typeface="Roboto"/>
                <a:cs typeface="Roboto"/>
              </a:rPr>
              <a:t>AZs.</a:t>
            </a:r>
            <a:endParaRPr sz="1100">
              <a:latin typeface="Roboto"/>
              <a:cs typeface="Roboto"/>
            </a:endParaRPr>
          </a:p>
          <a:p>
            <a:pPr marL="1203643" marR="114618">
              <a:lnSpc>
                <a:spcPct val="116500"/>
              </a:lnSpc>
            </a:pPr>
            <a:r>
              <a:rPr sz="1100" dirty="0">
                <a:latin typeface="Roboto"/>
                <a:cs typeface="Roboto"/>
              </a:rPr>
              <a:t>S3</a:t>
            </a:r>
            <a:r>
              <a:rPr sz="1100" spc="-20" dirty="0">
                <a:latin typeface="Roboto"/>
                <a:cs typeface="Roboto"/>
              </a:rPr>
              <a:t> </a:t>
            </a:r>
            <a:r>
              <a:rPr sz="1100" dirty="0">
                <a:latin typeface="Roboto"/>
                <a:cs typeface="Roboto"/>
              </a:rPr>
              <a:t>ONEZONE_IA</a:t>
            </a:r>
            <a:r>
              <a:rPr sz="1100" spc="-20" dirty="0">
                <a:latin typeface="Roboto"/>
                <a:cs typeface="Roboto"/>
              </a:rPr>
              <a:t> </a:t>
            </a:r>
            <a:r>
              <a:rPr sz="1100" dirty="0">
                <a:latin typeface="Roboto"/>
                <a:cs typeface="Roboto"/>
              </a:rPr>
              <a:t>stores</a:t>
            </a:r>
            <a:r>
              <a:rPr sz="1100" spc="-18" dirty="0">
                <a:latin typeface="Roboto"/>
                <a:cs typeface="Roboto"/>
              </a:rPr>
              <a:t> </a:t>
            </a:r>
            <a:r>
              <a:rPr sz="1100" dirty="0">
                <a:latin typeface="Roboto"/>
                <a:cs typeface="Roboto"/>
              </a:rPr>
              <a:t>the</a:t>
            </a:r>
            <a:r>
              <a:rPr sz="1100" spc="-20" dirty="0">
                <a:latin typeface="Roboto"/>
                <a:cs typeface="Roboto"/>
              </a:rPr>
              <a:t> </a:t>
            </a:r>
            <a:r>
              <a:rPr sz="1100" dirty="0">
                <a:latin typeface="Roboto"/>
                <a:cs typeface="Roboto"/>
              </a:rPr>
              <a:t>object</a:t>
            </a:r>
            <a:r>
              <a:rPr sz="1100" spc="-18" dirty="0">
                <a:latin typeface="Roboto"/>
                <a:cs typeface="Roboto"/>
              </a:rPr>
              <a:t> </a:t>
            </a:r>
            <a:r>
              <a:rPr sz="1100" dirty="0">
                <a:latin typeface="Roboto"/>
                <a:cs typeface="Roboto"/>
              </a:rPr>
              <a:t>data</a:t>
            </a:r>
            <a:r>
              <a:rPr sz="1100" spc="-20" dirty="0">
                <a:latin typeface="Roboto"/>
                <a:cs typeface="Roboto"/>
              </a:rPr>
              <a:t> </a:t>
            </a:r>
            <a:r>
              <a:rPr sz="1100" dirty="0">
                <a:latin typeface="Roboto"/>
                <a:cs typeface="Roboto"/>
              </a:rPr>
              <a:t>in</a:t>
            </a:r>
            <a:r>
              <a:rPr sz="1100" spc="-18" dirty="0">
                <a:latin typeface="Roboto"/>
                <a:cs typeface="Roboto"/>
              </a:rPr>
              <a:t> </a:t>
            </a:r>
            <a:r>
              <a:rPr sz="1100" dirty="0">
                <a:latin typeface="Roboto"/>
                <a:cs typeface="Roboto"/>
              </a:rPr>
              <a:t>only</a:t>
            </a:r>
            <a:r>
              <a:rPr sz="1100" spc="-20" dirty="0">
                <a:latin typeface="Roboto"/>
                <a:cs typeface="Roboto"/>
              </a:rPr>
              <a:t> </a:t>
            </a:r>
            <a:r>
              <a:rPr sz="1100" dirty="0">
                <a:latin typeface="Roboto"/>
                <a:cs typeface="Roboto"/>
              </a:rPr>
              <a:t>one</a:t>
            </a:r>
            <a:r>
              <a:rPr sz="1100" spc="-18" dirty="0">
                <a:latin typeface="Roboto"/>
                <a:cs typeface="Roboto"/>
              </a:rPr>
              <a:t> </a:t>
            </a:r>
            <a:r>
              <a:rPr sz="1100" dirty="0">
                <a:latin typeface="Roboto"/>
                <a:cs typeface="Roboto"/>
              </a:rPr>
              <a:t>AZ.</a:t>
            </a:r>
            <a:r>
              <a:rPr sz="1100" spc="-20" dirty="0">
                <a:latin typeface="Roboto"/>
                <a:cs typeface="Roboto"/>
              </a:rPr>
              <a:t> </a:t>
            </a:r>
            <a:r>
              <a:rPr sz="1100" dirty="0">
                <a:latin typeface="Roboto"/>
                <a:cs typeface="Roboto"/>
              </a:rPr>
              <a:t>Less</a:t>
            </a:r>
            <a:r>
              <a:rPr sz="1100" spc="-20" dirty="0">
                <a:latin typeface="Roboto"/>
                <a:cs typeface="Roboto"/>
              </a:rPr>
              <a:t> </a:t>
            </a:r>
            <a:r>
              <a:rPr sz="1100" dirty="0">
                <a:latin typeface="Roboto"/>
                <a:cs typeface="Roboto"/>
              </a:rPr>
              <a:t>expensive</a:t>
            </a:r>
            <a:r>
              <a:rPr sz="1100" spc="-18" dirty="0">
                <a:latin typeface="Roboto"/>
                <a:cs typeface="Roboto"/>
              </a:rPr>
              <a:t> </a:t>
            </a:r>
            <a:r>
              <a:rPr sz="1100" dirty="0">
                <a:latin typeface="Roboto"/>
                <a:cs typeface="Roboto"/>
              </a:rPr>
              <a:t>than</a:t>
            </a:r>
            <a:r>
              <a:rPr sz="1100" spc="-20" dirty="0">
                <a:latin typeface="Roboto"/>
                <a:cs typeface="Roboto"/>
              </a:rPr>
              <a:t> </a:t>
            </a:r>
            <a:r>
              <a:rPr sz="1100" dirty="0">
                <a:latin typeface="Roboto"/>
                <a:cs typeface="Roboto"/>
              </a:rPr>
              <a:t>STANDARD_IA,</a:t>
            </a:r>
            <a:r>
              <a:rPr sz="1100" spc="-18" dirty="0">
                <a:latin typeface="Roboto"/>
                <a:cs typeface="Roboto"/>
              </a:rPr>
              <a:t> </a:t>
            </a:r>
            <a:r>
              <a:rPr sz="1100" dirty="0">
                <a:latin typeface="Roboto"/>
                <a:cs typeface="Roboto"/>
              </a:rPr>
              <a:t>but</a:t>
            </a:r>
            <a:r>
              <a:rPr sz="1100" spc="-20" dirty="0">
                <a:latin typeface="Roboto"/>
                <a:cs typeface="Roboto"/>
              </a:rPr>
              <a:t> </a:t>
            </a:r>
            <a:r>
              <a:rPr sz="1100" dirty="0">
                <a:latin typeface="Roboto"/>
                <a:cs typeface="Roboto"/>
              </a:rPr>
              <a:t>data</a:t>
            </a:r>
            <a:r>
              <a:rPr sz="1100" spc="-18" dirty="0">
                <a:latin typeface="Roboto"/>
                <a:cs typeface="Roboto"/>
              </a:rPr>
              <a:t> </a:t>
            </a:r>
            <a:r>
              <a:rPr sz="1100" dirty="0">
                <a:latin typeface="Roboto"/>
                <a:cs typeface="Roboto"/>
              </a:rPr>
              <a:t>is</a:t>
            </a:r>
            <a:r>
              <a:rPr sz="1100" spc="-20" dirty="0">
                <a:latin typeface="Roboto"/>
                <a:cs typeface="Roboto"/>
              </a:rPr>
              <a:t> </a:t>
            </a:r>
            <a:r>
              <a:rPr sz="1100" dirty="0">
                <a:latin typeface="Roboto"/>
                <a:cs typeface="Roboto"/>
              </a:rPr>
              <a:t>not</a:t>
            </a:r>
            <a:r>
              <a:rPr sz="1100" spc="-18" dirty="0">
                <a:latin typeface="Roboto"/>
                <a:cs typeface="Roboto"/>
              </a:rPr>
              <a:t> </a:t>
            </a:r>
            <a:r>
              <a:rPr sz="1100" dirty="0">
                <a:latin typeface="Roboto"/>
                <a:cs typeface="Roboto"/>
              </a:rPr>
              <a:t>resilient</a:t>
            </a:r>
            <a:r>
              <a:rPr sz="1100" spc="-20" dirty="0">
                <a:latin typeface="Roboto"/>
                <a:cs typeface="Roboto"/>
              </a:rPr>
              <a:t> </a:t>
            </a:r>
            <a:r>
              <a:rPr sz="1100" dirty="0">
                <a:latin typeface="Roboto"/>
                <a:cs typeface="Roboto"/>
              </a:rPr>
              <a:t>to</a:t>
            </a:r>
            <a:r>
              <a:rPr sz="1100" spc="-20" dirty="0">
                <a:latin typeface="Roboto"/>
                <a:cs typeface="Roboto"/>
              </a:rPr>
              <a:t> </a:t>
            </a:r>
            <a:r>
              <a:rPr sz="1100" spc="-13" dirty="0">
                <a:latin typeface="Roboto"/>
                <a:cs typeface="Roboto"/>
              </a:rPr>
              <a:t>the </a:t>
            </a:r>
            <a:r>
              <a:rPr sz="1100" dirty="0">
                <a:latin typeface="Roboto"/>
                <a:cs typeface="Roboto"/>
              </a:rPr>
              <a:t>physical</a:t>
            </a:r>
            <a:r>
              <a:rPr sz="1100" spc="-23" dirty="0">
                <a:latin typeface="Roboto"/>
                <a:cs typeface="Roboto"/>
              </a:rPr>
              <a:t> </a:t>
            </a:r>
            <a:r>
              <a:rPr sz="1100" dirty="0">
                <a:latin typeface="Roboto"/>
                <a:cs typeface="Roboto"/>
              </a:rPr>
              <a:t>loss</a:t>
            </a:r>
            <a:r>
              <a:rPr sz="1100" spc="-20" dirty="0">
                <a:latin typeface="Roboto"/>
                <a:cs typeface="Roboto"/>
              </a:rPr>
              <a:t> </a:t>
            </a:r>
            <a:r>
              <a:rPr sz="1100" dirty="0">
                <a:latin typeface="Roboto"/>
                <a:cs typeface="Roboto"/>
              </a:rPr>
              <a:t>of</a:t>
            </a:r>
            <a:r>
              <a:rPr sz="1100" spc="-23" dirty="0">
                <a:latin typeface="Roboto"/>
                <a:cs typeface="Roboto"/>
              </a:rPr>
              <a:t> </a:t>
            </a:r>
            <a:r>
              <a:rPr sz="1100" dirty="0">
                <a:latin typeface="Roboto"/>
                <a:cs typeface="Roboto"/>
              </a:rPr>
              <a:t>the</a:t>
            </a:r>
            <a:r>
              <a:rPr sz="1100" spc="-20" dirty="0">
                <a:latin typeface="Roboto"/>
                <a:cs typeface="Roboto"/>
              </a:rPr>
              <a:t> </a:t>
            </a:r>
            <a:r>
              <a:rPr sz="1100" spc="-13" dirty="0">
                <a:latin typeface="Roboto"/>
                <a:cs typeface="Roboto"/>
              </a:rPr>
              <a:t>AZ</a:t>
            </a:r>
            <a:endParaRPr sz="1100">
              <a:latin typeface="Roboto"/>
              <a:cs typeface="Roboto"/>
            </a:endParaRPr>
          </a:p>
          <a:p>
            <a:pPr marL="1203643" marR="2540">
              <a:lnSpc>
                <a:spcPct val="116500"/>
              </a:lnSpc>
            </a:pPr>
            <a:r>
              <a:rPr sz="1100" dirty="0">
                <a:latin typeface="Roboto"/>
                <a:cs typeface="Roboto"/>
              </a:rPr>
              <a:t>Amazon</a:t>
            </a:r>
            <a:r>
              <a:rPr sz="1100" spc="-23" dirty="0">
                <a:latin typeface="Roboto"/>
                <a:cs typeface="Roboto"/>
              </a:rPr>
              <a:t> </a:t>
            </a:r>
            <a:r>
              <a:rPr sz="1100" dirty="0">
                <a:latin typeface="Roboto"/>
                <a:cs typeface="Roboto"/>
              </a:rPr>
              <a:t>S3</a:t>
            </a:r>
            <a:r>
              <a:rPr sz="1100" spc="-23" dirty="0">
                <a:latin typeface="Roboto"/>
                <a:cs typeface="Roboto"/>
              </a:rPr>
              <a:t> </a:t>
            </a:r>
            <a:r>
              <a:rPr sz="1100" dirty="0">
                <a:latin typeface="Roboto"/>
                <a:cs typeface="Roboto"/>
              </a:rPr>
              <a:t>Intelligent</a:t>
            </a:r>
            <a:r>
              <a:rPr sz="1100" spc="-20" dirty="0">
                <a:latin typeface="Roboto"/>
                <a:cs typeface="Roboto"/>
              </a:rPr>
              <a:t> </a:t>
            </a:r>
            <a:r>
              <a:rPr sz="1100" dirty="0">
                <a:latin typeface="Roboto"/>
                <a:cs typeface="Roboto"/>
              </a:rPr>
              <a:t>Tiering</a:t>
            </a:r>
            <a:r>
              <a:rPr sz="1100" spc="-23" dirty="0">
                <a:latin typeface="Roboto"/>
                <a:cs typeface="Roboto"/>
              </a:rPr>
              <a:t> </a:t>
            </a:r>
            <a:r>
              <a:rPr sz="1100" dirty="0">
                <a:latin typeface="Roboto"/>
                <a:cs typeface="Roboto"/>
              </a:rPr>
              <a:t>is</a:t>
            </a:r>
            <a:r>
              <a:rPr sz="1100" spc="-23" dirty="0">
                <a:latin typeface="Roboto"/>
                <a:cs typeface="Roboto"/>
              </a:rPr>
              <a:t> </a:t>
            </a:r>
            <a:r>
              <a:rPr sz="1100" dirty="0">
                <a:latin typeface="Roboto"/>
                <a:cs typeface="Roboto"/>
              </a:rPr>
              <a:t>a</a:t>
            </a:r>
            <a:r>
              <a:rPr sz="1100" spc="-20" dirty="0">
                <a:latin typeface="Roboto"/>
                <a:cs typeface="Roboto"/>
              </a:rPr>
              <a:t> </a:t>
            </a:r>
            <a:r>
              <a:rPr sz="1100" dirty="0">
                <a:latin typeface="Roboto"/>
                <a:cs typeface="Roboto"/>
              </a:rPr>
              <a:t>storage</a:t>
            </a:r>
            <a:r>
              <a:rPr sz="1100" spc="-23" dirty="0">
                <a:latin typeface="Roboto"/>
                <a:cs typeface="Roboto"/>
              </a:rPr>
              <a:t> </a:t>
            </a:r>
            <a:r>
              <a:rPr sz="1100" dirty="0">
                <a:latin typeface="Roboto"/>
                <a:cs typeface="Roboto"/>
              </a:rPr>
              <a:t>class</a:t>
            </a:r>
            <a:r>
              <a:rPr sz="1100" spc="-23" dirty="0">
                <a:latin typeface="Roboto"/>
                <a:cs typeface="Roboto"/>
              </a:rPr>
              <a:t> </a:t>
            </a:r>
            <a:r>
              <a:rPr sz="1100" dirty="0">
                <a:latin typeface="Roboto"/>
                <a:cs typeface="Roboto"/>
              </a:rPr>
              <a:t>designed</a:t>
            </a:r>
            <a:r>
              <a:rPr sz="1100" spc="-20" dirty="0">
                <a:latin typeface="Roboto"/>
                <a:cs typeface="Roboto"/>
              </a:rPr>
              <a:t> </a:t>
            </a:r>
            <a:r>
              <a:rPr sz="1100" dirty="0">
                <a:latin typeface="Roboto"/>
                <a:cs typeface="Roboto"/>
              </a:rPr>
              <a:t>for</a:t>
            </a:r>
            <a:r>
              <a:rPr sz="1100" spc="-23" dirty="0">
                <a:latin typeface="Roboto"/>
                <a:cs typeface="Roboto"/>
              </a:rPr>
              <a:t> </a:t>
            </a:r>
            <a:r>
              <a:rPr sz="1100" dirty="0">
                <a:latin typeface="Roboto"/>
                <a:cs typeface="Roboto"/>
              </a:rPr>
              <a:t>customers</a:t>
            </a:r>
            <a:r>
              <a:rPr sz="1100" spc="-23" dirty="0">
                <a:latin typeface="Roboto"/>
                <a:cs typeface="Roboto"/>
              </a:rPr>
              <a:t> </a:t>
            </a:r>
            <a:r>
              <a:rPr sz="1100" dirty="0">
                <a:latin typeface="Roboto"/>
                <a:cs typeface="Roboto"/>
              </a:rPr>
              <a:t>who</a:t>
            </a:r>
            <a:r>
              <a:rPr sz="1100" spc="-20" dirty="0">
                <a:latin typeface="Roboto"/>
                <a:cs typeface="Roboto"/>
              </a:rPr>
              <a:t> </a:t>
            </a:r>
            <a:r>
              <a:rPr sz="1100" dirty="0">
                <a:latin typeface="Roboto"/>
                <a:cs typeface="Roboto"/>
              </a:rPr>
              <a:t>want</a:t>
            </a:r>
            <a:r>
              <a:rPr sz="1100" spc="-23" dirty="0">
                <a:latin typeface="Roboto"/>
                <a:cs typeface="Roboto"/>
              </a:rPr>
              <a:t> </a:t>
            </a:r>
            <a:r>
              <a:rPr sz="1100" dirty="0">
                <a:latin typeface="Roboto"/>
                <a:cs typeface="Roboto"/>
              </a:rPr>
              <a:t>to</a:t>
            </a:r>
            <a:r>
              <a:rPr sz="1100" spc="-23" dirty="0">
                <a:latin typeface="Roboto"/>
                <a:cs typeface="Roboto"/>
              </a:rPr>
              <a:t> </a:t>
            </a:r>
            <a:r>
              <a:rPr sz="1100" dirty="0">
                <a:latin typeface="Roboto"/>
                <a:cs typeface="Roboto"/>
              </a:rPr>
              <a:t>optimize</a:t>
            </a:r>
            <a:r>
              <a:rPr sz="1100" spc="-20" dirty="0">
                <a:latin typeface="Roboto"/>
                <a:cs typeface="Roboto"/>
              </a:rPr>
              <a:t> </a:t>
            </a:r>
            <a:r>
              <a:rPr sz="1100" dirty="0">
                <a:latin typeface="Roboto"/>
                <a:cs typeface="Roboto"/>
              </a:rPr>
              <a:t>storage</a:t>
            </a:r>
            <a:r>
              <a:rPr sz="1100" spc="-23" dirty="0">
                <a:latin typeface="Roboto"/>
                <a:cs typeface="Roboto"/>
              </a:rPr>
              <a:t> </a:t>
            </a:r>
            <a:r>
              <a:rPr sz="1100" dirty="0">
                <a:latin typeface="Roboto"/>
                <a:cs typeface="Roboto"/>
              </a:rPr>
              <a:t>costs</a:t>
            </a:r>
            <a:r>
              <a:rPr sz="1100" spc="-23" dirty="0">
                <a:latin typeface="Roboto"/>
                <a:cs typeface="Roboto"/>
              </a:rPr>
              <a:t> </a:t>
            </a:r>
            <a:r>
              <a:rPr sz="1100" spc="-5" dirty="0">
                <a:latin typeface="Roboto"/>
                <a:cs typeface="Roboto"/>
              </a:rPr>
              <a:t>automatically </a:t>
            </a:r>
            <a:r>
              <a:rPr sz="1100" dirty="0">
                <a:latin typeface="Roboto"/>
                <a:cs typeface="Roboto"/>
              </a:rPr>
              <a:t>when</a:t>
            </a:r>
            <a:r>
              <a:rPr sz="1100" spc="-30" dirty="0">
                <a:latin typeface="Roboto"/>
                <a:cs typeface="Roboto"/>
              </a:rPr>
              <a:t> </a:t>
            </a:r>
            <a:r>
              <a:rPr sz="1100" dirty="0">
                <a:latin typeface="Roboto"/>
                <a:cs typeface="Roboto"/>
              </a:rPr>
              <a:t>data</a:t>
            </a:r>
            <a:r>
              <a:rPr sz="1100" spc="-28" dirty="0">
                <a:latin typeface="Roboto"/>
                <a:cs typeface="Roboto"/>
              </a:rPr>
              <a:t> </a:t>
            </a:r>
            <a:r>
              <a:rPr sz="1100" dirty="0">
                <a:latin typeface="Roboto"/>
                <a:cs typeface="Roboto"/>
              </a:rPr>
              <a:t>access</a:t>
            </a:r>
            <a:r>
              <a:rPr sz="1100" spc="-30" dirty="0">
                <a:latin typeface="Roboto"/>
                <a:cs typeface="Roboto"/>
              </a:rPr>
              <a:t> </a:t>
            </a:r>
            <a:r>
              <a:rPr sz="1100" dirty="0">
                <a:latin typeface="Roboto"/>
                <a:cs typeface="Roboto"/>
              </a:rPr>
              <a:t>patterns</a:t>
            </a:r>
            <a:r>
              <a:rPr sz="1100" spc="-28" dirty="0">
                <a:latin typeface="Roboto"/>
                <a:cs typeface="Roboto"/>
              </a:rPr>
              <a:t> </a:t>
            </a:r>
            <a:r>
              <a:rPr sz="1100" dirty="0">
                <a:latin typeface="Roboto"/>
                <a:cs typeface="Roboto"/>
              </a:rPr>
              <a:t>change,</a:t>
            </a:r>
            <a:r>
              <a:rPr sz="1100" spc="-30" dirty="0">
                <a:latin typeface="Roboto"/>
                <a:cs typeface="Roboto"/>
              </a:rPr>
              <a:t> </a:t>
            </a:r>
            <a:r>
              <a:rPr sz="1100" dirty="0">
                <a:latin typeface="Roboto"/>
                <a:cs typeface="Roboto"/>
              </a:rPr>
              <a:t>without</a:t>
            </a:r>
            <a:r>
              <a:rPr sz="1100" spc="-28" dirty="0">
                <a:latin typeface="Roboto"/>
                <a:cs typeface="Roboto"/>
              </a:rPr>
              <a:t> </a:t>
            </a:r>
            <a:r>
              <a:rPr sz="1100" dirty="0">
                <a:latin typeface="Roboto"/>
                <a:cs typeface="Roboto"/>
              </a:rPr>
              <a:t>performance</a:t>
            </a:r>
            <a:r>
              <a:rPr sz="1100" spc="-30" dirty="0">
                <a:latin typeface="Roboto"/>
                <a:cs typeface="Roboto"/>
              </a:rPr>
              <a:t> </a:t>
            </a:r>
            <a:r>
              <a:rPr sz="1100" dirty="0">
                <a:latin typeface="Roboto"/>
                <a:cs typeface="Roboto"/>
              </a:rPr>
              <a:t>impact</a:t>
            </a:r>
            <a:r>
              <a:rPr sz="1100" spc="-28" dirty="0">
                <a:latin typeface="Roboto"/>
                <a:cs typeface="Roboto"/>
              </a:rPr>
              <a:t> </a:t>
            </a:r>
            <a:r>
              <a:rPr sz="1100" dirty="0">
                <a:latin typeface="Roboto"/>
                <a:cs typeface="Roboto"/>
              </a:rPr>
              <a:t>or</a:t>
            </a:r>
            <a:r>
              <a:rPr sz="1100" spc="-30" dirty="0">
                <a:latin typeface="Roboto"/>
                <a:cs typeface="Roboto"/>
              </a:rPr>
              <a:t> </a:t>
            </a:r>
            <a:r>
              <a:rPr sz="1100" dirty="0">
                <a:latin typeface="Roboto"/>
                <a:cs typeface="Roboto"/>
              </a:rPr>
              <a:t>operational</a:t>
            </a:r>
            <a:r>
              <a:rPr sz="1100" spc="-28" dirty="0">
                <a:latin typeface="Roboto"/>
                <a:cs typeface="Roboto"/>
              </a:rPr>
              <a:t> </a:t>
            </a:r>
            <a:r>
              <a:rPr sz="1100" spc="-5" dirty="0">
                <a:latin typeface="Roboto"/>
                <a:cs typeface="Roboto"/>
              </a:rPr>
              <a:t>overhead</a:t>
            </a:r>
            <a:endParaRPr sz="1100">
              <a:latin typeface="Roboto"/>
              <a:cs typeface="Roboto"/>
            </a:endParaRPr>
          </a:p>
          <a:p>
            <a:pPr marL="1203643">
              <a:spcBef>
                <a:spcPts val="215"/>
              </a:spcBef>
            </a:pPr>
            <a:r>
              <a:rPr sz="1100" dirty="0">
                <a:latin typeface="Roboto"/>
                <a:cs typeface="Roboto"/>
              </a:rPr>
              <a:t>GLACIER</a:t>
            </a:r>
            <a:r>
              <a:rPr sz="1100" spc="-18" dirty="0">
                <a:latin typeface="Roboto"/>
                <a:cs typeface="Roboto"/>
              </a:rPr>
              <a:t> </a:t>
            </a:r>
            <a:r>
              <a:rPr sz="1100" dirty="0">
                <a:latin typeface="Roboto"/>
                <a:cs typeface="Roboto"/>
              </a:rPr>
              <a:t>is</a:t>
            </a:r>
            <a:r>
              <a:rPr sz="1100" spc="-18" dirty="0">
                <a:latin typeface="Roboto"/>
                <a:cs typeface="Roboto"/>
              </a:rPr>
              <a:t> </a:t>
            </a:r>
            <a:r>
              <a:rPr sz="1100" dirty="0">
                <a:latin typeface="Roboto"/>
                <a:cs typeface="Roboto"/>
              </a:rPr>
              <a:t>used</a:t>
            </a:r>
            <a:r>
              <a:rPr sz="1100" spc="-18" dirty="0">
                <a:latin typeface="Roboto"/>
                <a:cs typeface="Roboto"/>
              </a:rPr>
              <a:t> </a:t>
            </a:r>
            <a:r>
              <a:rPr sz="1100" dirty="0">
                <a:latin typeface="Roboto"/>
                <a:cs typeface="Roboto"/>
              </a:rPr>
              <a:t>for</a:t>
            </a:r>
            <a:r>
              <a:rPr sz="1100" spc="-15" dirty="0">
                <a:latin typeface="Roboto"/>
                <a:cs typeface="Roboto"/>
              </a:rPr>
              <a:t> </a:t>
            </a:r>
            <a:r>
              <a:rPr sz="1100" spc="-5" dirty="0">
                <a:latin typeface="Roboto"/>
                <a:cs typeface="Roboto"/>
              </a:rPr>
              <a:t>long-</a:t>
            </a:r>
            <a:r>
              <a:rPr sz="1100" dirty="0">
                <a:latin typeface="Roboto"/>
                <a:cs typeface="Roboto"/>
              </a:rPr>
              <a:t>term</a:t>
            </a:r>
            <a:r>
              <a:rPr sz="1100" spc="-18" dirty="0">
                <a:latin typeface="Roboto"/>
                <a:cs typeface="Roboto"/>
              </a:rPr>
              <a:t> </a:t>
            </a:r>
            <a:r>
              <a:rPr sz="1100" spc="-5" dirty="0">
                <a:latin typeface="Roboto"/>
                <a:cs typeface="Roboto"/>
              </a:rPr>
              <a:t>archive</a:t>
            </a:r>
            <a:endParaRPr sz="1100">
              <a:latin typeface="Roboto"/>
              <a:cs typeface="Roboto"/>
            </a:endParaRPr>
          </a:p>
          <a:p>
            <a:pPr marL="6350">
              <a:spcBef>
                <a:spcPts val="765"/>
              </a:spcBef>
              <a:tabLst>
                <a:tab pos="1080453" algn="l"/>
                <a:tab pos="1727518" algn="l"/>
              </a:tabLst>
            </a:pPr>
            <a:r>
              <a:rPr sz="1100" b="1" dirty="0">
                <a:latin typeface="Roboto"/>
                <a:cs typeface="Roboto"/>
              </a:rPr>
              <a:t>Understand</a:t>
            </a:r>
            <a:r>
              <a:rPr sz="1100" b="1" spc="-43" dirty="0">
                <a:latin typeface="Roboto"/>
                <a:cs typeface="Roboto"/>
              </a:rPr>
              <a:t> </a:t>
            </a:r>
            <a:r>
              <a:rPr sz="1100" b="1" spc="-13" dirty="0">
                <a:latin typeface="Roboto"/>
                <a:cs typeface="Roboto"/>
              </a:rPr>
              <a:t>and</a:t>
            </a:r>
            <a:r>
              <a:rPr sz="1100" b="1" dirty="0">
                <a:latin typeface="Roboto"/>
                <a:cs typeface="Roboto"/>
              </a:rPr>
              <a:t>	</a:t>
            </a:r>
            <a:r>
              <a:rPr sz="1100" spc="-5" dirty="0">
                <a:latin typeface="Roboto"/>
                <a:cs typeface="Roboto"/>
              </a:rPr>
              <a:t>key-</a:t>
            </a:r>
            <a:r>
              <a:rPr sz="1100" spc="-10" dirty="0">
                <a:latin typeface="Roboto"/>
                <a:cs typeface="Roboto"/>
              </a:rPr>
              <a:t>value</a:t>
            </a:r>
            <a:r>
              <a:rPr sz="1100" dirty="0">
                <a:latin typeface="Roboto"/>
                <a:cs typeface="Roboto"/>
              </a:rPr>
              <a:t>	data,</a:t>
            </a:r>
            <a:r>
              <a:rPr sz="1100" spc="-25" dirty="0">
                <a:latin typeface="Roboto"/>
                <a:cs typeface="Roboto"/>
              </a:rPr>
              <a:t> </a:t>
            </a:r>
            <a:r>
              <a:rPr sz="1100" dirty="0">
                <a:latin typeface="Roboto"/>
                <a:cs typeface="Roboto"/>
              </a:rPr>
              <a:t>metadata</a:t>
            </a:r>
            <a:r>
              <a:rPr sz="1100" spc="-23" dirty="0">
                <a:latin typeface="Roboto"/>
                <a:cs typeface="Roboto"/>
              </a:rPr>
              <a:t> </a:t>
            </a:r>
            <a:r>
              <a:rPr sz="1100" dirty="0">
                <a:latin typeface="Roboto"/>
                <a:cs typeface="Roboto"/>
              </a:rPr>
              <a:t>architecture,</a:t>
            </a:r>
            <a:r>
              <a:rPr sz="1100" spc="-25" dirty="0">
                <a:latin typeface="Roboto"/>
                <a:cs typeface="Roboto"/>
              </a:rPr>
              <a:t> </a:t>
            </a:r>
            <a:r>
              <a:rPr sz="1100" dirty="0">
                <a:latin typeface="Roboto"/>
                <a:cs typeface="Roboto"/>
              </a:rPr>
              <a:t>bucket</a:t>
            </a:r>
            <a:r>
              <a:rPr sz="1100" spc="-23" dirty="0">
                <a:latin typeface="Roboto"/>
                <a:cs typeface="Roboto"/>
              </a:rPr>
              <a:t> </a:t>
            </a:r>
            <a:r>
              <a:rPr sz="1100" dirty="0">
                <a:latin typeface="Roboto"/>
                <a:cs typeface="Roboto"/>
              </a:rPr>
              <a:t>naming</a:t>
            </a:r>
            <a:r>
              <a:rPr sz="1100" spc="-25" dirty="0">
                <a:latin typeface="Roboto"/>
                <a:cs typeface="Roboto"/>
              </a:rPr>
              <a:t> </a:t>
            </a:r>
            <a:r>
              <a:rPr sz="1100" dirty="0">
                <a:latin typeface="Roboto"/>
                <a:cs typeface="Roboto"/>
              </a:rPr>
              <a:t>as</a:t>
            </a:r>
            <a:r>
              <a:rPr sz="1100" spc="-23" dirty="0">
                <a:latin typeface="Roboto"/>
                <a:cs typeface="Roboto"/>
              </a:rPr>
              <a:t> </a:t>
            </a:r>
            <a:r>
              <a:rPr sz="1100" dirty="0">
                <a:latin typeface="Roboto"/>
                <a:cs typeface="Roboto"/>
              </a:rPr>
              <a:t>a</a:t>
            </a:r>
            <a:r>
              <a:rPr sz="1100" spc="-25" dirty="0">
                <a:latin typeface="Roboto"/>
                <a:cs typeface="Roboto"/>
              </a:rPr>
              <a:t> </a:t>
            </a:r>
            <a:r>
              <a:rPr sz="1100" dirty="0">
                <a:latin typeface="Roboto"/>
                <a:cs typeface="Roboto"/>
              </a:rPr>
              <a:t>domain</a:t>
            </a:r>
            <a:r>
              <a:rPr sz="1100" spc="-23" dirty="0">
                <a:latin typeface="Roboto"/>
                <a:cs typeface="Roboto"/>
              </a:rPr>
              <a:t> </a:t>
            </a:r>
            <a:r>
              <a:rPr sz="1100" dirty="0">
                <a:latin typeface="Roboto"/>
                <a:cs typeface="Roboto"/>
              </a:rPr>
              <a:t>naming,</a:t>
            </a:r>
            <a:r>
              <a:rPr sz="1100" spc="-23" dirty="0">
                <a:latin typeface="Roboto"/>
                <a:cs typeface="Roboto"/>
              </a:rPr>
              <a:t> </a:t>
            </a:r>
            <a:r>
              <a:rPr sz="1100" dirty="0">
                <a:latin typeface="Roboto"/>
                <a:cs typeface="Roboto"/>
              </a:rPr>
              <a:t>data</a:t>
            </a:r>
            <a:r>
              <a:rPr sz="1100" spc="-25" dirty="0">
                <a:latin typeface="Roboto"/>
                <a:cs typeface="Roboto"/>
              </a:rPr>
              <a:t> </a:t>
            </a:r>
            <a:r>
              <a:rPr sz="1100" dirty="0">
                <a:latin typeface="Roboto"/>
                <a:cs typeface="Roboto"/>
              </a:rPr>
              <a:t>consistency</a:t>
            </a:r>
            <a:r>
              <a:rPr sz="1100" spc="-23" dirty="0">
                <a:latin typeface="Roboto"/>
                <a:cs typeface="Roboto"/>
              </a:rPr>
              <a:t> </a:t>
            </a:r>
            <a:r>
              <a:rPr sz="1100" dirty="0">
                <a:latin typeface="Roboto"/>
                <a:cs typeface="Roboto"/>
              </a:rPr>
              <a:t>model</a:t>
            </a:r>
            <a:r>
              <a:rPr sz="1100" spc="-25" dirty="0">
                <a:latin typeface="Roboto"/>
                <a:cs typeface="Roboto"/>
              </a:rPr>
              <a:t> </a:t>
            </a:r>
            <a:r>
              <a:rPr sz="1100" dirty="0">
                <a:latin typeface="Roboto"/>
                <a:cs typeface="Roboto"/>
              </a:rPr>
              <a:t>(get,</a:t>
            </a:r>
            <a:r>
              <a:rPr sz="1100" spc="-23" dirty="0">
                <a:latin typeface="Roboto"/>
                <a:cs typeface="Roboto"/>
              </a:rPr>
              <a:t> </a:t>
            </a:r>
            <a:r>
              <a:rPr sz="1100" dirty="0">
                <a:latin typeface="Roboto"/>
                <a:cs typeface="Roboto"/>
              </a:rPr>
              <a:t>put,</a:t>
            </a:r>
            <a:r>
              <a:rPr sz="1100" spc="-25" dirty="0">
                <a:latin typeface="Roboto"/>
                <a:cs typeface="Roboto"/>
              </a:rPr>
              <a:t> </a:t>
            </a:r>
            <a:r>
              <a:rPr sz="1100" dirty="0">
                <a:latin typeface="Roboto"/>
                <a:cs typeface="Roboto"/>
              </a:rPr>
              <a:t>for</a:t>
            </a:r>
            <a:r>
              <a:rPr sz="1100" spc="-23" dirty="0">
                <a:latin typeface="Roboto"/>
                <a:cs typeface="Roboto"/>
              </a:rPr>
              <a:t> </a:t>
            </a:r>
            <a:r>
              <a:rPr sz="1100" spc="-5" dirty="0">
                <a:latin typeface="Roboto"/>
                <a:cs typeface="Roboto"/>
              </a:rPr>
              <a:t>delate</a:t>
            </a:r>
            <a:endParaRPr sz="1100">
              <a:latin typeface="Roboto"/>
              <a:cs typeface="Roboto"/>
            </a:endParaRPr>
          </a:p>
        </p:txBody>
      </p:sp>
      <p:sp>
        <p:nvSpPr>
          <p:cNvPr id="6" name="object 6"/>
          <p:cNvSpPr txBox="1"/>
          <p:nvPr/>
        </p:nvSpPr>
        <p:spPr>
          <a:xfrm>
            <a:off x="1265764" y="3914931"/>
            <a:ext cx="7375525" cy="784446"/>
          </a:xfrm>
          <a:prstGeom prst="rect">
            <a:avLst/>
          </a:prstGeom>
        </p:spPr>
        <p:txBody>
          <a:bodyPr vert="horz" wrap="square" lIns="0" tIns="6350" rIns="0" bIns="0" rtlCol="0">
            <a:spAutoFit/>
          </a:bodyPr>
          <a:lstStyle/>
          <a:p>
            <a:pPr marL="6350" marR="2540">
              <a:lnSpc>
                <a:spcPct val="116500"/>
              </a:lnSpc>
              <a:spcBef>
                <a:spcPts val="50"/>
              </a:spcBef>
              <a:tabLst>
                <a:tab pos="1050925" algn="l"/>
              </a:tabLst>
            </a:pPr>
            <a:r>
              <a:rPr sz="1100" dirty="0">
                <a:latin typeface="Roboto"/>
                <a:cs typeface="Roboto"/>
              </a:rPr>
              <a:t>request),</a:t>
            </a:r>
            <a:r>
              <a:rPr sz="1100" spc="-30" dirty="0">
                <a:latin typeface="Roboto"/>
                <a:cs typeface="Roboto"/>
              </a:rPr>
              <a:t> </a:t>
            </a:r>
            <a:r>
              <a:rPr sz="1100" dirty="0">
                <a:latin typeface="Roboto"/>
                <a:cs typeface="Roboto"/>
              </a:rPr>
              <a:t>understand</a:t>
            </a:r>
            <a:r>
              <a:rPr sz="1100" spc="-28" dirty="0">
                <a:latin typeface="Roboto"/>
                <a:cs typeface="Roboto"/>
              </a:rPr>
              <a:t> </a:t>
            </a:r>
            <a:r>
              <a:rPr sz="1100" dirty="0">
                <a:latin typeface="Roboto"/>
                <a:cs typeface="Roboto"/>
              </a:rPr>
              <a:t>buck</a:t>
            </a:r>
            <a:r>
              <a:rPr sz="1100" spc="-28" dirty="0">
                <a:latin typeface="Roboto"/>
                <a:cs typeface="Roboto"/>
              </a:rPr>
              <a:t> </a:t>
            </a:r>
            <a:r>
              <a:rPr sz="1100" dirty="0">
                <a:latin typeface="Roboto"/>
                <a:cs typeface="Roboto"/>
              </a:rPr>
              <a:t>policies,</a:t>
            </a:r>
            <a:r>
              <a:rPr sz="1100" spc="-30" dirty="0">
                <a:latin typeface="Roboto"/>
                <a:cs typeface="Roboto"/>
              </a:rPr>
              <a:t> </a:t>
            </a:r>
            <a:r>
              <a:rPr sz="1100" dirty="0">
                <a:latin typeface="Roboto"/>
                <a:cs typeface="Roboto"/>
              </a:rPr>
              <a:t>transfer</a:t>
            </a:r>
            <a:r>
              <a:rPr sz="1100" spc="-28" dirty="0">
                <a:latin typeface="Roboto"/>
                <a:cs typeface="Roboto"/>
              </a:rPr>
              <a:t> </a:t>
            </a:r>
            <a:r>
              <a:rPr sz="1100" dirty="0">
                <a:latin typeface="Roboto"/>
                <a:cs typeface="Roboto"/>
              </a:rPr>
              <a:t>accelerations</a:t>
            </a:r>
            <a:r>
              <a:rPr sz="1100" spc="-28" dirty="0">
                <a:latin typeface="Roboto"/>
                <a:cs typeface="Roboto"/>
              </a:rPr>
              <a:t> </a:t>
            </a:r>
            <a:r>
              <a:rPr sz="1100" dirty="0">
                <a:latin typeface="Roboto"/>
                <a:cs typeface="Roboto"/>
              </a:rPr>
              <a:t>using</a:t>
            </a:r>
            <a:r>
              <a:rPr sz="1100" spc="-28" dirty="0">
                <a:latin typeface="Roboto"/>
                <a:cs typeface="Roboto"/>
              </a:rPr>
              <a:t> </a:t>
            </a:r>
            <a:r>
              <a:rPr sz="1100" dirty="0">
                <a:latin typeface="Roboto"/>
                <a:cs typeface="Roboto"/>
              </a:rPr>
              <a:t>edge</a:t>
            </a:r>
            <a:r>
              <a:rPr sz="1100" spc="-30" dirty="0">
                <a:latin typeface="Roboto"/>
                <a:cs typeface="Roboto"/>
              </a:rPr>
              <a:t> </a:t>
            </a:r>
            <a:r>
              <a:rPr sz="1100" dirty="0">
                <a:latin typeface="Roboto"/>
                <a:cs typeface="Roboto"/>
              </a:rPr>
              <a:t>locations,</a:t>
            </a:r>
            <a:r>
              <a:rPr sz="1100" spc="-28" dirty="0">
                <a:latin typeface="Roboto"/>
                <a:cs typeface="Roboto"/>
              </a:rPr>
              <a:t> </a:t>
            </a:r>
            <a:r>
              <a:rPr sz="1100" dirty="0">
                <a:latin typeface="Roboto"/>
                <a:cs typeface="Roboto"/>
              </a:rPr>
              <a:t>life</a:t>
            </a:r>
            <a:r>
              <a:rPr sz="1100" spc="-28" dirty="0">
                <a:latin typeface="Roboto"/>
                <a:cs typeface="Roboto"/>
              </a:rPr>
              <a:t> </a:t>
            </a:r>
            <a:r>
              <a:rPr sz="1100" dirty="0">
                <a:latin typeface="Roboto"/>
                <a:cs typeface="Roboto"/>
              </a:rPr>
              <a:t>cycle</a:t>
            </a:r>
            <a:r>
              <a:rPr sz="1100" spc="-28" dirty="0">
                <a:latin typeface="Roboto"/>
                <a:cs typeface="Roboto"/>
              </a:rPr>
              <a:t> </a:t>
            </a:r>
            <a:r>
              <a:rPr sz="1100" dirty="0">
                <a:latin typeface="Roboto"/>
                <a:cs typeface="Roboto"/>
              </a:rPr>
              <a:t>policies,</a:t>
            </a:r>
            <a:r>
              <a:rPr sz="1100" spc="-30" dirty="0">
                <a:latin typeface="Roboto"/>
                <a:cs typeface="Roboto"/>
              </a:rPr>
              <a:t> </a:t>
            </a:r>
            <a:r>
              <a:rPr sz="1100" spc="-5" dirty="0">
                <a:latin typeface="Roboto"/>
                <a:cs typeface="Roboto"/>
              </a:rPr>
              <a:t>cross-</a:t>
            </a:r>
            <a:r>
              <a:rPr sz="1100" dirty="0">
                <a:latin typeface="Roboto"/>
                <a:cs typeface="Roboto"/>
              </a:rPr>
              <a:t>origin</a:t>
            </a:r>
            <a:r>
              <a:rPr sz="1100" spc="-28" dirty="0">
                <a:latin typeface="Roboto"/>
                <a:cs typeface="Roboto"/>
              </a:rPr>
              <a:t> </a:t>
            </a:r>
            <a:r>
              <a:rPr sz="1100" spc="-5" dirty="0">
                <a:latin typeface="Roboto"/>
                <a:cs typeface="Roboto"/>
              </a:rPr>
              <a:t>resource </a:t>
            </a:r>
            <a:r>
              <a:rPr sz="1100" dirty="0">
                <a:latin typeface="Roboto"/>
                <a:cs typeface="Roboto"/>
              </a:rPr>
              <a:t>sharing</a:t>
            </a:r>
            <a:r>
              <a:rPr sz="1100" spc="-45" dirty="0">
                <a:latin typeface="Roboto"/>
                <a:cs typeface="Roboto"/>
              </a:rPr>
              <a:t> </a:t>
            </a:r>
            <a:r>
              <a:rPr sz="1100" spc="-5" dirty="0">
                <a:latin typeface="Roboto"/>
                <a:cs typeface="Roboto"/>
              </a:rPr>
              <a:t>(CORS),</a:t>
            </a:r>
            <a:r>
              <a:rPr sz="1100" dirty="0">
                <a:latin typeface="Roboto"/>
                <a:cs typeface="Roboto"/>
              </a:rPr>
              <a:t>	events</a:t>
            </a:r>
            <a:r>
              <a:rPr sz="1100" spc="-20" dirty="0">
                <a:latin typeface="Roboto"/>
                <a:cs typeface="Roboto"/>
              </a:rPr>
              <a:t> </a:t>
            </a:r>
            <a:r>
              <a:rPr sz="1100" dirty="0">
                <a:latin typeface="Roboto"/>
                <a:cs typeface="Roboto"/>
              </a:rPr>
              <a:t>notification,</a:t>
            </a:r>
            <a:r>
              <a:rPr sz="1100" spc="-18" dirty="0">
                <a:latin typeface="Roboto"/>
                <a:cs typeface="Roboto"/>
              </a:rPr>
              <a:t> </a:t>
            </a:r>
            <a:r>
              <a:rPr sz="1100" dirty="0">
                <a:latin typeface="Roboto"/>
                <a:cs typeface="Roboto"/>
              </a:rPr>
              <a:t>and</a:t>
            </a:r>
            <a:r>
              <a:rPr sz="1100" spc="-20" dirty="0">
                <a:latin typeface="Roboto"/>
                <a:cs typeface="Roboto"/>
              </a:rPr>
              <a:t> </a:t>
            </a:r>
            <a:r>
              <a:rPr sz="1100" spc="-5" dirty="0">
                <a:latin typeface="Roboto"/>
                <a:cs typeface="Roboto"/>
              </a:rPr>
              <a:t>listening/processing</a:t>
            </a:r>
            <a:r>
              <a:rPr sz="1100" spc="-18" dirty="0">
                <a:latin typeface="Roboto"/>
                <a:cs typeface="Roboto"/>
              </a:rPr>
              <a:t> </a:t>
            </a:r>
            <a:r>
              <a:rPr sz="1100" dirty="0">
                <a:latin typeface="Roboto"/>
                <a:cs typeface="Roboto"/>
              </a:rPr>
              <a:t>to</a:t>
            </a:r>
            <a:r>
              <a:rPr sz="1100" spc="-20" dirty="0">
                <a:latin typeface="Roboto"/>
                <a:cs typeface="Roboto"/>
              </a:rPr>
              <a:t> </a:t>
            </a:r>
            <a:r>
              <a:rPr sz="1100" dirty="0">
                <a:latin typeface="Roboto"/>
                <a:cs typeface="Roboto"/>
              </a:rPr>
              <a:t>such</a:t>
            </a:r>
            <a:r>
              <a:rPr sz="1100" spc="-18" dirty="0">
                <a:latin typeface="Roboto"/>
                <a:cs typeface="Roboto"/>
              </a:rPr>
              <a:t> </a:t>
            </a:r>
            <a:r>
              <a:rPr sz="1100" dirty="0">
                <a:latin typeface="Roboto"/>
                <a:cs typeface="Roboto"/>
              </a:rPr>
              <a:t>events</a:t>
            </a:r>
            <a:r>
              <a:rPr sz="1100" spc="-20" dirty="0">
                <a:latin typeface="Roboto"/>
                <a:cs typeface="Roboto"/>
              </a:rPr>
              <a:t> </a:t>
            </a:r>
            <a:r>
              <a:rPr sz="1100" dirty="0">
                <a:latin typeface="Roboto"/>
                <a:cs typeface="Roboto"/>
              </a:rPr>
              <a:t>using</a:t>
            </a:r>
            <a:r>
              <a:rPr sz="1100" spc="-18" dirty="0">
                <a:latin typeface="Roboto"/>
                <a:cs typeface="Roboto"/>
              </a:rPr>
              <a:t> </a:t>
            </a:r>
            <a:r>
              <a:rPr sz="1100" dirty="0">
                <a:latin typeface="Roboto"/>
                <a:cs typeface="Roboto"/>
              </a:rPr>
              <a:t>AWS</a:t>
            </a:r>
            <a:r>
              <a:rPr sz="1100" spc="-20" dirty="0">
                <a:latin typeface="Roboto"/>
                <a:cs typeface="Roboto"/>
              </a:rPr>
              <a:t> </a:t>
            </a:r>
            <a:r>
              <a:rPr sz="1100" dirty="0">
                <a:latin typeface="Roboto"/>
                <a:cs typeface="Roboto"/>
              </a:rPr>
              <a:t>Lambda,</a:t>
            </a:r>
            <a:r>
              <a:rPr sz="1100" spc="-18" dirty="0">
                <a:latin typeface="Roboto"/>
                <a:cs typeface="Roboto"/>
              </a:rPr>
              <a:t> </a:t>
            </a:r>
            <a:r>
              <a:rPr sz="1100" dirty="0">
                <a:latin typeface="Roboto"/>
                <a:cs typeface="Roboto"/>
              </a:rPr>
              <a:t>s3</a:t>
            </a:r>
            <a:r>
              <a:rPr sz="1100" spc="-20" dirty="0">
                <a:latin typeface="Roboto"/>
                <a:cs typeface="Roboto"/>
              </a:rPr>
              <a:t> </a:t>
            </a:r>
            <a:r>
              <a:rPr sz="1100" dirty="0">
                <a:latin typeface="Roboto"/>
                <a:cs typeface="Roboto"/>
              </a:rPr>
              <a:t>static</a:t>
            </a:r>
            <a:r>
              <a:rPr sz="1100" spc="-18" dirty="0">
                <a:latin typeface="Roboto"/>
                <a:cs typeface="Roboto"/>
              </a:rPr>
              <a:t> </a:t>
            </a:r>
            <a:r>
              <a:rPr sz="1100" spc="-5" dirty="0">
                <a:latin typeface="Roboto"/>
                <a:cs typeface="Roboto"/>
              </a:rPr>
              <a:t>hosting, </a:t>
            </a:r>
            <a:r>
              <a:rPr sz="1100" dirty="0">
                <a:latin typeface="Roboto"/>
                <a:cs typeface="Roboto"/>
              </a:rPr>
              <a:t>encryption</a:t>
            </a:r>
            <a:r>
              <a:rPr sz="1100" spc="-18" dirty="0">
                <a:latin typeface="Roboto"/>
                <a:cs typeface="Roboto"/>
              </a:rPr>
              <a:t> </a:t>
            </a:r>
            <a:r>
              <a:rPr sz="1100" dirty="0">
                <a:latin typeface="Roboto"/>
                <a:cs typeface="Roboto"/>
              </a:rPr>
              <a:t>methods</a:t>
            </a:r>
            <a:r>
              <a:rPr sz="1100" spc="-18" dirty="0">
                <a:latin typeface="Roboto"/>
                <a:cs typeface="Roboto"/>
              </a:rPr>
              <a:t> </a:t>
            </a:r>
            <a:r>
              <a:rPr sz="1100" dirty="0">
                <a:latin typeface="Roboto"/>
                <a:cs typeface="Roboto"/>
              </a:rPr>
              <a:t>in</a:t>
            </a:r>
            <a:r>
              <a:rPr sz="1100" spc="-18" dirty="0">
                <a:latin typeface="Roboto"/>
                <a:cs typeface="Roboto"/>
              </a:rPr>
              <a:t> </a:t>
            </a:r>
            <a:r>
              <a:rPr sz="1100" dirty="0">
                <a:latin typeface="Roboto"/>
                <a:cs typeface="Roboto"/>
              </a:rPr>
              <a:t>S3,</a:t>
            </a:r>
            <a:r>
              <a:rPr sz="1100" spc="-18" dirty="0">
                <a:latin typeface="Roboto"/>
                <a:cs typeface="Roboto"/>
              </a:rPr>
              <a:t> </a:t>
            </a:r>
            <a:r>
              <a:rPr sz="1100" spc="-5" dirty="0">
                <a:latin typeface="Roboto"/>
                <a:cs typeface="Roboto"/>
              </a:rPr>
              <a:t>cross-</a:t>
            </a:r>
            <a:r>
              <a:rPr sz="1100" dirty="0">
                <a:latin typeface="Roboto"/>
                <a:cs typeface="Roboto"/>
              </a:rPr>
              <a:t>region</a:t>
            </a:r>
            <a:r>
              <a:rPr sz="1100" spc="-15" dirty="0">
                <a:latin typeface="Roboto"/>
                <a:cs typeface="Roboto"/>
              </a:rPr>
              <a:t> </a:t>
            </a:r>
            <a:r>
              <a:rPr sz="1100" dirty="0">
                <a:latin typeface="Roboto"/>
                <a:cs typeface="Roboto"/>
              </a:rPr>
              <a:t>replications,</a:t>
            </a:r>
            <a:r>
              <a:rPr sz="1100" spc="-18" dirty="0">
                <a:latin typeface="Roboto"/>
                <a:cs typeface="Roboto"/>
              </a:rPr>
              <a:t> </a:t>
            </a:r>
            <a:r>
              <a:rPr sz="1100" dirty="0">
                <a:latin typeface="Roboto"/>
                <a:cs typeface="Roboto"/>
              </a:rPr>
              <a:t>use</a:t>
            </a:r>
            <a:r>
              <a:rPr sz="1100" spc="-18" dirty="0">
                <a:latin typeface="Roboto"/>
                <a:cs typeface="Roboto"/>
              </a:rPr>
              <a:t> </a:t>
            </a:r>
            <a:r>
              <a:rPr sz="1100" dirty="0">
                <a:latin typeface="Roboto"/>
                <a:cs typeface="Roboto"/>
              </a:rPr>
              <a:t>S3</a:t>
            </a:r>
            <a:r>
              <a:rPr sz="1100" spc="-18" dirty="0">
                <a:latin typeface="Roboto"/>
                <a:cs typeface="Roboto"/>
              </a:rPr>
              <a:t> </a:t>
            </a:r>
            <a:r>
              <a:rPr sz="1100" spc="-5" dirty="0">
                <a:latin typeface="Roboto"/>
                <a:cs typeface="Roboto"/>
              </a:rPr>
              <a:t>programmatically</a:t>
            </a:r>
            <a:r>
              <a:rPr sz="1100" spc="-15" dirty="0">
                <a:latin typeface="Roboto"/>
                <a:cs typeface="Roboto"/>
              </a:rPr>
              <a:t> </a:t>
            </a:r>
            <a:r>
              <a:rPr sz="1100" dirty="0">
                <a:latin typeface="Roboto"/>
                <a:cs typeface="Roboto"/>
              </a:rPr>
              <a:t>using</a:t>
            </a:r>
            <a:r>
              <a:rPr sz="1100" spc="-18" dirty="0">
                <a:latin typeface="Roboto"/>
                <a:cs typeface="Roboto"/>
              </a:rPr>
              <a:t> </a:t>
            </a:r>
            <a:r>
              <a:rPr sz="1100" dirty="0">
                <a:latin typeface="Roboto"/>
                <a:cs typeface="Roboto"/>
              </a:rPr>
              <a:t>AWS</a:t>
            </a:r>
            <a:r>
              <a:rPr sz="1100" spc="-18" dirty="0">
                <a:latin typeface="Roboto"/>
                <a:cs typeface="Roboto"/>
              </a:rPr>
              <a:t> </a:t>
            </a:r>
            <a:r>
              <a:rPr sz="1100" dirty="0">
                <a:latin typeface="Roboto"/>
                <a:cs typeface="Roboto"/>
              </a:rPr>
              <a:t>SDK</a:t>
            </a:r>
            <a:r>
              <a:rPr sz="1100" spc="-18" dirty="0">
                <a:latin typeface="Roboto"/>
                <a:cs typeface="Roboto"/>
              </a:rPr>
              <a:t> </a:t>
            </a:r>
            <a:r>
              <a:rPr sz="1100" dirty="0">
                <a:latin typeface="Roboto"/>
                <a:cs typeface="Roboto"/>
              </a:rPr>
              <a:t>or</a:t>
            </a:r>
            <a:r>
              <a:rPr sz="1100" spc="-18" dirty="0">
                <a:latin typeface="Roboto"/>
                <a:cs typeface="Roboto"/>
              </a:rPr>
              <a:t> </a:t>
            </a:r>
            <a:r>
              <a:rPr sz="1100" dirty="0">
                <a:latin typeface="Roboto"/>
                <a:cs typeface="Roboto"/>
              </a:rPr>
              <a:t>via</a:t>
            </a:r>
            <a:r>
              <a:rPr sz="1100" spc="-15" dirty="0">
                <a:latin typeface="Roboto"/>
                <a:cs typeface="Roboto"/>
              </a:rPr>
              <a:t> </a:t>
            </a:r>
            <a:r>
              <a:rPr sz="1100" dirty="0">
                <a:latin typeface="Roboto"/>
                <a:cs typeface="Roboto"/>
              </a:rPr>
              <a:t>AWS</a:t>
            </a:r>
            <a:r>
              <a:rPr sz="1100" spc="-18" dirty="0">
                <a:latin typeface="Roboto"/>
                <a:cs typeface="Roboto"/>
              </a:rPr>
              <a:t> </a:t>
            </a:r>
            <a:r>
              <a:rPr sz="1100" spc="-13" dirty="0">
                <a:latin typeface="Roboto"/>
                <a:cs typeface="Roboto"/>
              </a:rPr>
              <a:t>Cli</a:t>
            </a:r>
            <a:endParaRPr sz="1100">
              <a:latin typeface="Roboto"/>
              <a:cs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6"/>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Cloudfront</a:t>
            </a:r>
            <a:endParaRPr/>
          </a:p>
        </p:txBody>
      </p:sp>
      <p:sp>
        <p:nvSpPr>
          <p:cNvPr id="173" name="Google Shape;173;p26"/>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1500"/>
              <a:t>CloudFront is a fast Content Delivery Network (CDN) service that securely delivers data, videos, applications, and APIs to customers globally with low latency, high transfer speeds.</a:t>
            </a:r>
            <a:endParaRPr sz="1500"/>
          </a:p>
        </p:txBody>
      </p:sp>
      <p:pic>
        <p:nvPicPr>
          <p:cNvPr id="174" name="Google Shape;174;p26"/>
          <p:cNvPicPr preferRelativeResize="0"/>
          <p:nvPr/>
        </p:nvPicPr>
        <p:blipFill>
          <a:blip r:embed="rId3">
            <a:alphaModFix/>
          </a:blip>
          <a:stretch>
            <a:fillRect/>
          </a:stretch>
        </p:blipFill>
        <p:spPr>
          <a:xfrm>
            <a:off x="4799250" y="2821700"/>
            <a:ext cx="4124350" cy="2321800"/>
          </a:xfrm>
          <a:prstGeom prst="rect">
            <a:avLst/>
          </a:prstGeom>
          <a:noFill/>
          <a:ln>
            <a:noFill/>
          </a:ln>
        </p:spPr>
      </p:pic>
      <p:pic>
        <p:nvPicPr>
          <p:cNvPr id="175" name="Google Shape;175;p26"/>
          <p:cNvPicPr preferRelativeResize="0"/>
          <p:nvPr/>
        </p:nvPicPr>
        <p:blipFill>
          <a:blip r:embed="rId4">
            <a:alphaModFix/>
          </a:blip>
          <a:stretch>
            <a:fillRect/>
          </a:stretch>
        </p:blipFill>
        <p:spPr>
          <a:xfrm>
            <a:off x="915375" y="2053250"/>
            <a:ext cx="1478800" cy="14788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8038" y="28552"/>
            <a:ext cx="2851468" cy="403957"/>
          </a:xfrm>
          <a:prstGeom prst="rect">
            <a:avLst/>
          </a:prstGeom>
        </p:spPr>
        <p:txBody>
          <a:bodyPr spcFirstLastPara="1" vert="horz" wrap="square" lIns="0" tIns="6350" rIns="0" bIns="0" rtlCol="0" anchor="t" anchorCtr="0">
            <a:spAutoFit/>
          </a:bodyPr>
          <a:lstStyle/>
          <a:p>
            <a:pPr marL="6350">
              <a:spcBef>
                <a:spcPts val="50"/>
              </a:spcBef>
            </a:pPr>
            <a:r>
              <a:rPr dirty="0"/>
              <a:t>Amazon</a:t>
            </a:r>
            <a:r>
              <a:rPr spc="-30" dirty="0"/>
              <a:t> </a:t>
            </a:r>
            <a:r>
              <a:rPr spc="-5" dirty="0"/>
              <a:t>CloudFront</a:t>
            </a:r>
          </a:p>
        </p:txBody>
      </p:sp>
      <p:sp>
        <p:nvSpPr>
          <p:cNvPr id="3" name="object 3"/>
          <p:cNvSpPr txBox="1"/>
          <p:nvPr/>
        </p:nvSpPr>
        <p:spPr>
          <a:xfrm>
            <a:off x="8173736" y="56323"/>
            <a:ext cx="911860" cy="138499"/>
          </a:xfrm>
          <a:prstGeom prst="rect">
            <a:avLst/>
          </a:prstGeom>
        </p:spPr>
        <p:txBody>
          <a:bodyPr vert="horz" wrap="square" lIns="0" tIns="7620" rIns="0" bIns="0" rtlCol="0">
            <a:spAutoFit/>
          </a:bodyPr>
          <a:lstStyle/>
          <a:p>
            <a:pPr marL="6350">
              <a:spcBef>
                <a:spcPts val="60"/>
              </a:spcBef>
            </a:pPr>
            <a:r>
              <a:rPr sz="850" dirty="0">
                <a:solidFill>
                  <a:srgbClr val="13110E"/>
                </a:solidFill>
                <a:latin typeface="Open Sans Light"/>
                <a:cs typeface="Open Sans Light"/>
              </a:rPr>
              <a:t>Learn</a:t>
            </a:r>
            <a:r>
              <a:rPr sz="850" spc="15" dirty="0">
                <a:solidFill>
                  <a:srgbClr val="13110E"/>
                </a:solidFill>
                <a:latin typeface="Open Sans Light"/>
                <a:cs typeface="Open Sans Light"/>
              </a:rPr>
              <a:t> </a:t>
            </a:r>
            <a:r>
              <a:rPr sz="850" dirty="0">
                <a:solidFill>
                  <a:srgbClr val="13110E"/>
                </a:solidFill>
                <a:latin typeface="Open Sans Light"/>
                <a:cs typeface="Open Sans Light"/>
              </a:rPr>
              <a:t>With</a:t>
            </a:r>
            <a:r>
              <a:rPr sz="850" spc="15" dirty="0">
                <a:solidFill>
                  <a:srgbClr val="13110E"/>
                </a:solidFill>
                <a:latin typeface="Open Sans Light"/>
                <a:cs typeface="Open Sans Light"/>
              </a:rPr>
              <a:t> </a:t>
            </a:r>
            <a:r>
              <a:rPr sz="850" spc="-5" dirty="0">
                <a:solidFill>
                  <a:srgbClr val="13110E"/>
                </a:solidFill>
                <a:latin typeface="Open Sans Light"/>
                <a:cs typeface="Open Sans Light"/>
              </a:rPr>
              <a:t>Sandip</a:t>
            </a:r>
            <a:endParaRPr sz="850">
              <a:latin typeface="Open Sans Light"/>
              <a:cs typeface="Open Sans Light"/>
            </a:endParaRPr>
          </a:p>
        </p:txBody>
      </p:sp>
      <p:sp>
        <p:nvSpPr>
          <p:cNvPr id="4" name="object 4"/>
          <p:cNvSpPr txBox="1"/>
          <p:nvPr/>
        </p:nvSpPr>
        <p:spPr>
          <a:xfrm>
            <a:off x="202188" y="377575"/>
            <a:ext cx="8843010" cy="4893135"/>
          </a:xfrm>
          <a:prstGeom prst="rect">
            <a:avLst/>
          </a:prstGeom>
        </p:spPr>
        <p:txBody>
          <a:bodyPr vert="horz" wrap="square" lIns="0" tIns="58103" rIns="0" bIns="0" rtlCol="0">
            <a:spAutoFit/>
          </a:bodyPr>
          <a:lstStyle/>
          <a:p>
            <a:pPr marL="92075">
              <a:spcBef>
                <a:spcPts val="458"/>
              </a:spcBef>
            </a:pPr>
            <a:r>
              <a:rPr sz="900" b="1" dirty="0">
                <a:latin typeface="Roboto"/>
                <a:cs typeface="Roboto"/>
              </a:rPr>
              <a:t>Fast,</a:t>
            </a:r>
            <a:r>
              <a:rPr sz="900" b="1" spc="-20" dirty="0">
                <a:latin typeface="Roboto"/>
                <a:cs typeface="Roboto"/>
              </a:rPr>
              <a:t> </a:t>
            </a:r>
            <a:r>
              <a:rPr sz="900" b="1" dirty="0">
                <a:latin typeface="Roboto"/>
                <a:cs typeface="Roboto"/>
              </a:rPr>
              <a:t>highly</a:t>
            </a:r>
            <a:r>
              <a:rPr sz="900" b="1" spc="-18" dirty="0">
                <a:latin typeface="Roboto"/>
                <a:cs typeface="Roboto"/>
              </a:rPr>
              <a:t> </a:t>
            </a:r>
            <a:r>
              <a:rPr sz="900" b="1" dirty="0">
                <a:latin typeface="Roboto"/>
                <a:cs typeface="Roboto"/>
              </a:rPr>
              <a:t>secure</a:t>
            </a:r>
            <a:r>
              <a:rPr sz="900" b="1" spc="-18" dirty="0">
                <a:latin typeface="Roboto"/>
                <a:cs typeface="Roboto"/>
              </a:rPr>
              <a:t> </a:t>
            </a:r>
            <a:r>
              <a:rPr sz="900" b="1" dirty="0">
                <a:latin typeface="Roboto"/>
                <a:cs typeface="Roboto"/>
              </a:rPr>
              <a:t>and</a:t>
            </a:r>
            <a:r>
              <a:rPr sz="900" b="1" spc="-18" dirty="0">
                <a:latin typeface="Roboto"/>
                <a:cs typeface="Roboto"/>
              </a:rPr>
              <a:t> </a:t>
            </a:r>
            <a:r>
              <a:rPr sz="900" b="1" spc="-5" dirty="0">
                <a:latin typeface="Roboto"/>
                <a:cs typeface="Roboto"/>
              </a:rPr>
              <a:t>programmable</a:t>
            </a:r>
            <a:r>
              <a:rPr sz="900" b="1" spc="-18" dirty="0">
                <a:latin typeface="Roboto"/>
                <a:cs typeface="Roboto"/>
              </a:rPr>
              <a:t> </a:t>
            </a:r>
            <a:r>
              <a:rPr sz="900" b="1" dirty="0">
                <a:latin typeface="Roboto"/>
                <a:cs typeface="Roboto"/>
              </a:rPr>
              <a:t>content</a:t>
            </a:r>
            <a:r>
              <a:rPr sz="900" b="1" spc="-18" dirty="0">
                <a:latin typeface="Roboto"/>
                <a:cs typeface="Roboto"/>
              </a:rPr>
              <a:t> </a:t>
            </a:r>
            <a:r>
              <a:rPr sz="900" b="1" dirty="0">
                <a:latin typeface="Roboto"/>
                <a:cs typeface="Roboto"/>
              </a:rPr>
              <a:t>delivery</a:t>
            </a:r>
            <a:r>
              <a:rPr sz="900" b="1" spc="-18" dirty="0">
                <a:latin typeface="Roboto"/>
                <a:cs typeface="Roboto"/>
              </a:rPr>
              <a:t> </a:t>
            </a:r>
            <a:r>
              <a:rPr sz="900" b="1" dirty="0">
                <a:latin typeface="Roboto"/>
                <a:cs typeface="Roboto"/>
              </a:rPr>
              <a:t>network</a:t>
            </a:r>
            <a:r>
              <a:rPr sz="900" b="1" spc="-18" dirty="0">
                <a:latin typeface="Roboto"/>
                <a:cs typeface="Roboto"/>
              </a:rPr>
              <a:t> </a:t>
            </a:r>
            <a:r>
              <a:rPr sz="900" b="1" spc="-5" dirty="0">
                <a:latin typeface="Roboto"/>
                <a:cs typeface="Roboto"/>
              </a:rPr>
              <a:t>(CDN)</a:t>
            </a:r>
            <a:endParaRPr sz="900">
              <a:latin typeface="Roboto"/>
              <a:cs typeface="Roboto"/>
            </a:endParaRPr>
          </a:p>
          <a:p>
            <a:pPr marL="92075" marR="120650">
              <a:lnSpc>
                <a:spcPct val="116500"/>
              </a:lnSpc>
              <a:spcBef>
                <a:spcPts val="280"/>
              </a:spcBef>
            </a:pPr>
            <a:r>
              <a:rPr sz="1100" dirty="0">
                <a:latin typeface="Roboto"/>
                <a:cs typeface="Roboto"/>
              </a:rPr>
              <a:t>Amazon</a:t>
            </a:r>
            <a:r>
              <a:rPr sz="1100" spc="-23" dirty="0">
                <a:latin typeface="Roboto"/>
                <a:cs typeface="Roboto"/>
              </a:rPr>
              <a:t> </a:t>
            </a:r>
            <a:r>
              <a:rPr sz="1100" dirty="0">
                <a:latin typeface="Roboto"/>
                <a:cs typeface="Roboto"/>
              </a:rPr>
              <a:t>CloudFront</a:t>
            </a:r>
            <a:r>
              <a:rPr sz="1100" spc="-23" dirty="0">
                <a:latin typeface="Roboto"/>
                <a:cs typeface="Roboto"/>
              </a:rPr>
              <a:t> </a:t>
            </a:r>
            <a:r>
              <a:rPr sz="1100" dirty="0">
                <a:latin typeface="Roboto"/>
                <a:cs typeface="Roboto"/>
              </a:rPr>
              <a:t>is</a:t>
            </a:r>
            <a:r>
              <a:rPr sz="1100" spc="-23" dirty="0">
                <a:latin typeface="Roboto"/>
                <a:cs typeface="Roboto"/>
              </a:rPr>
              <a:t> </a:t>
            </a:r>
            <a:r>
              <a:rPr sz="1100" dirty="0">
                <a:latin typeface="Roboto"/>
                <a:cs typeface="Roboto"/>
              </a:rPr>
              <a:t>a</a:t>
            </a:r>
            <a:r>
              <a:rPr sz="1100" spc="-23" dirty="0">
                <a:latin typeface="Roboto"/>
                <a:cs typeface="Roboto"/>
              </a:rPr>
              <a:t> </a:t>
            </a:r>
            <a:r>
              <a:rPr sz="1100" dirty="0">
                <a:latin typeface="Roboto"/>
                <a:cs typeface="Roboto"/>
              </a:rPr>
              <a:t>fast</a:t>
            </a:r>
            <a:r>
              <a:rPr sz="1100" spc="-23" dirty="0">
                <a:latin typeface="Roboto"/>
                <a:cs typeface="Roboto"/>
              </a:rPr>
              <a:t> </a:t>
            </a:r>
            <a:r>
              <a:rPr sz="1100" dirty="0">
                <a:latin typeface="Roboto"/>
                <a:cs typeface="Roboto"/>
              </a:rPr>
              <a:t>content</a:t>
            </a:r>
            <a:r>
              <a:rPr sz="1100" spc="-23" dirty="0">
                <a:latin typeface="Roboto"/>
                <a:cs typeface="Roboto"/>
              </a:rPr>
              <a:t> </a:t>
            </a:r>
            <a:r>
              <a:rPr sz="1100" dirty="0">
                <a:latin typeface="Roboto"/>
                <a:cs typeface="Roboto"/>
              </a:rPr>
              <a:t>delivery</a:t>
            </a:r>
            <a:r>
              <a:rPr sz="1100" spc="-23" dirty="0">
                <a:latin typeface="Roboto"/>
                <a:cs typeface="Roboto"/>
              </a:rPr>
              <a:t> </a:t>
            </a:r>
            <a:r>
              <a:rPr sz="1100" dirty="0">
                <a:latin typeface="Roboto"/>
                <a:cs typeface="Roboto"/>
              </a:rPr>
              <a:t>network</a:t>
            </a:r>
            <a:r>
              <a:rPr sz="1100" spc="-25" dirty="0">
                <a:latin typeface="Roboto"/>
                <a:cs typeface="Roboto"/>
              </a:rPr>
              <a:t> </a:t>
            </a:r>
            <a:r>
              <a:rPr sz="1100" dirty="0">
                <a:latin typeface="Roboto"/>
                <a:cs typeface="Roboto"/>
              </a:rPr>
              <a:t>(CDN)</a:t>
            </a:r>
            <a:r>
              <a:rPr sz="1100" spc="-23" dirty="0">
                <a:latin typeface="Roboto"/>
                <a:cs typeface="Roboto"/>
              </a:rPr>
              <a:t> </a:t>
            </a:r>
            <a:r>
              <a:rPr sz="1100" dirty="0">
                <a:latin typeface="Roboto"/>
                <a:cs typeface="Roboto"/>
              </a:rPr>
              <a:t>service</a:t>
            </a:r>
            <a:r>
              <a:rPr sz="1100" spc="-23" dirty="0">
                <a:latin typeface="Roboto"/>
                <a:cs typeface="Roboto"/>
              </a:rPr>
              <a:t> </a:t>
            </a:r>
            <a:r>
              <a:rPr sz="1100" dirty="0">
                <a:latin typeface="Roboto"/>
                <a:cs typeface="Roboto"/>
              </a:rPr>
              <a:t>that</a:t>
            </a:r>
            <a:r>
              <a:rPr sz="1100" spc="-23" dirty="0">
                <a:latin typeface="Roboto"/>
                <a:cs typeface="Roboto"/>
              </a:rPr>
              <a:t> </a:t>
            </a:r>
            <a:r>
              <a:rPr sz="1100" dirty="0">
                <a:latin typeface="Roboto"/>
                <a:cs typeface="Roboto"/>
              </a:rPr>
              <a:t>securely</a:t>
            </a:r>
            <a:r>
              <a:rPr sz="1100" spc="-23" dirty="0">
                <a:latin typeface="Roboto"/>
                <a:cs typeface="Roboto"/>
              </a:rPr>
              <a:t> </a:t>
            </a:r>
            <a:r>
              <a:rPr sz="1100" dirty="0">
                <a:latin typeface="Roboto"/>
                <a:cs typeface="Roboto"/>
              </a:rPr>
              <a:t>delivers</a:t>
            </a:r>
            <a:r>
              <a:rPr sz="1100" spc="-23" dirty="0">
                <a:latin typeface="Roboto"/>
                <a:cs typeface="Roboto"/>
              </a:rPr>
              <a:t> </a:t>
            </a:r>
            <a:r>
              <a:rPr sz="1100" dirty="0">
                <a:latin typeface="Roboto"/>
                <a:cs typeface="Roboto"/>
              </a:rPr>
              <a:t>data,</a:t>
            </a:r>
            <a:r>
              <a:rPr sz="1100" spc="-23" dirty="0">
                <a:latin typeface="Roboto"/>
                <a:cs typeface="Roboto"/>
              </a:rPr>
              <a:t> </a:t>
            </a:r>
            <a:r>
              <a:rPr sz="1100" dirty="0">
                <a:latin typeface="Roboto"/>
                <a:cs typeface="Roboto"/>
              </a:rPr>
              <a:t>videos,</a:t>
            </a:r>
            <a:r>
              <a:rPr sz="1100" spc="-23" dirty="0">
                <a:latin typeface="Roboto"/>
                <a:cs typeface="Roboto"/>
              </a:rPr>
              <a:t> </a:t>
            </a:r>
            <a:r>
              <a:rPr sz="1100" dirty="0">
                <a:latin typeface="Roboto"/>
                <a:cs typeface="Roboto"/>
              </a:rPr>
              <a:t>applications,</a:t>
            </a:r>
            <a:r>
              <a:rPr sz="1100" spc="-23" dirty="0">
                <a:latin typeface="Roboto"/>
                <a:cs typeface="Roboto"/>
              </a:rPr>
              <a:t> </a:t>
            </a:r>
            <a:r>
              <a:rPr sz="1100" dirty="0">
                <a:latin typeface="Roboto"/>
                <a:cs typeface="Roboto"/>
              </a:rPr>
              <a:t>and</a:t>
            </a:r>
            <a:r>
              <a:rPr sz="1100" spc="-23" dirty="0">
                <a:latin typeface="Roboto"/>
                <a:cs typeface="Roboto"/>
              </a:rPr>
              <a:t> </a:t>
            </a:r>
            <a:r>
              <a:rPr sz="1100" dirty="0">
                <a:latin typeface="Roboto"/>
                <a:cs typeface="Roboto"/>
              </a:rPr>
              <a:t>APIs</a:t>
            </a:r>
            <a:r>
              <a:rPr sz="1100" spc="-23" dirty="0">
                <a:latin typeface="Roboto"/>
                <a:cs typeface="Roboto"/>
              </a:rPr>
              <a:t> </a:t>
            </a:r>
            <a:r>
              <a:rPr sz="1100" dirty="0">
                <a:latin typeface="Roboto"/>
                <a:cs typeface="Roboto"/>
              </a:rPr>
              <a:t>to</a:t>
            </a:r>
            <a:r>
              <a:rPr sz="1100" spc="-23" dirty="0">
                <a:latin typeface="Roboto"/>
                <a:cs typeface="Roboto"/>
              </a:rPr>
              <a:t> </a:t>
            </a:r>
            <a:r>
              <a:rPr sz="1100" spc="-5" dirty="0">
                <a:latin typeface="Roboto"/>
                <a:cs typeface="Roboto"/>
              </a:rPr>
              <a:t>customers </a:t>
            </a:r>
            <a:r>
              <a:rPr sz="1100" dirty="0">
                <a:latin typeface="Roboto"/>
                <a:cs typeface="Roboto"/>
              </a:rPr>
              <a:t>globally</a:t>
            </a:r>
            <a:r>
              <a:rPr sz="1100" spc="-23" dirty="0">
                <a:latin typeface="Roboto"/>
                <a:cs typeface="Roboto"/>
              </a:rPr>
              <a:t> </a:t>
            </a:r>
            <a:r>
              <a:rPr sz="1100" dirty="0">
                <a:latin typeface="Roboto"/>
                <a:cs typeface="Roboto"/>
              </a:rPr>
              <a:t>with</a:t>
            </a:r>
            <a:r>
              <a:rPr sz="1100" spc="-23" dirty="0">
                <a:latin typeface="Roboto"/>
                <a:cs typeface="Roboto"/>
              </a:rPr>
              <a:t> </a:t>
            </a:r>
            <a:r>
              <a:rPr sz="1100" dirty="0">
                <a:latin typeface="Roboto"/>
                <a:cs typeface="Roboto"/>
              </a:rPr>
              <a:t>low</a:t>
            </a:r>
            <a:r>
              <a:rPr sz="1100" spc="-20" dirty="0">
                <a:latin typeface="Roboto"/>
                <a:cs typeface="Roboto"/>
              </a:rPr>
              <a:t> </a:t>
            </a:r>
            <a:r>
              <a:rPr sz="1100" dirty="0">
                <a:latin typeface="Roboto"/>
                <a:cs typeface="Roboto"/>
              </a:rPr>
              <a:t>latency,</a:t>
            </a:r>
            <a:r>
              <a:rPr sz="1100" spc="-23" dirty="0">
                <a:latin typeface="Roboto"/>
                <a:cs typeface="Roboto"/>
              </a:rPr>
              <a:t> </a:t>
            </a:r>
            <a:r>
              <a:rPr sz="1100" dirty="0">
                <a:latin typeface="Roboto"/>
                <a:cs typeface="Roboto"/>
              </a:rPr>
              <a:t>high</a:t>
            </a:r>
            <a:r>
              <a:rPr sz="1100" spc="-20" dirty="0">
                <a:latin typeface="Roboto"/>
                <a:cs typeface="Roboto"/>
              </a:rPr>
              <a:t> </a:t>
            </a:r>
            <a:r>
              <a:rPr sz="1100" dirty="0">
                <a:latin typeface="Roboto"/>
                <a:cs typeface="Roboto"/>
              </a:rPr>
              <a:t>transfer</a:t>
            </a:r>
            <a:r>
              <a:rPr sz="1100" spc="-23" dirty="0">
                <a:latin typeface="Roboto"/>
                <a:cs typeface="Roboto"/>
              </a:rPr>
              <a:t> </a:t>
            </a:r>
            <a:r>
              <a:rPr sz="1100" dirty="0">
                <a:latin typeface="Roboto"/>
                <a:cs typeface="Roboto"/>
              </a:rPr>
              <a:t>speeds,</a:t>
            </a:r>
            <a:r>
              <a:rPr sz="1100" spc="-20" dirty="0">
                <a:latin typeface="Roboto"/>
                <a:cs typeface="Roboto"/>
              </a:rPr>
              <a:t> </a:t>
            </a:r>
            <a:r>
              <a:rPr sz="1100" dirty="0">
                <a:latin typeface="Roboto"/>
                <a:cs typeface="Roboto"/>
              </a:rPr>
              <a:t>all</a:t>
            </a:r>
            <a:r>
              <a:rPr sz="1100" spc="-23" dirty="0">
                <a:latin typeface="Roboto"/>
                <a:cs typeface="Roboto"/>
              </a:rPr>
              <a:t> </a:t>
            </a:r>
            <a:r>
              <a:rPr sz="1100" dirty="0">
                <a:latin typeface="Roboto"/>
                <a:cs typeface="Roboto"/>
              </a:rPr>
              <a:t>within</a:t>
            </a:r>
            <a:r>
              <a:rPr sz="1100" spc="-20" dirty="0">
                <a:latin typeface="Roboto"/>
                <a:cs typeface="Roboto"/>
              </a:rPr>
              <a:t> </a:t>
            </a:r>
            <a:r>
              <a:rPr sz="1100" dirty="0">
                <a:latin typeface="Roboto"/>
                <a:cs typeface="Roboto"/>
              </a:rPr>
              <a:t>a</a:t>
            </a:r>
            <a:r>
              <a:rPr sz="1100" spc="-23" dirty="0">
                <a:latin typeface="Roboto"/>
                <a:cs typeface="Roboto"/>
              </a:rPr>
              <a:t> </a:t>
            </a:r>
            <a:r>
              <a:rPr sz="1100" spc="-5" dirty="0">
                <a:latin typeface="Roboto"/>
                <a:cs typeface="Roboto"/>
              </a:rPr>
              <a:t>developer-</a:t>
            </a:r>
            <a:r>
              <a:rPr sz="1100" dirty="0">
                <a:latin typeface="Roboto"/>
                <a:cs typeface="Roboto"/>
              </a:rPr>
              <a:t>friendly</a:t>
            </a:r>
            <a:r>
              <a:rPr sz="1100" spc="-20" dirty="0">
                <a:latin typeface="Roboto"/>
                <a:cs typeface="Roboto"/>
              </a:rPr>
              <a:t> </a:t>
            </a:r>
            <a:r>
              <a:rPr sz="1100" spc="-5" dirty="0">
                <a:latin typeface="Roboto"/>
                <a:cs typeface="Roboto"/>
              </a:rPr>
              <a:t>environment.</a:t>
            </a:r>
            <a:endParaRPr sz="1100">
              <a:latin typeface="Roboto"/>
              <a:cs typeface="Roboto"/>
            </a:endParaRPr>
          </a:p>
          <a:p>
            <a:pPr>
              <a:spcBef>
                <a:spcPts val="217"/>
              </a:spcBef>
            </a:pPr>
            <a:endParaRPr sz="1100">
              <a:latin typeface="Roboto"/>
              <a:cs typeface="Roboto"/>
            </a:endParaRPr>
          </a:p>
          <a:p>
            <a:pPr marL="92075" marR="78105">
              <a:lnSpc>
                <a:spcPct val="116500"/>
              </a:lnSpc>
            </a:pPr>
            <a:r>
              <a:rPr sz="1100" dirty="0">
                <a:latin typeface="Roboto"/>
                <a:cs typeface="Roboto"/>
              </a:rPr>
              <a:t>CloudFront</a:t>
            </a:r>
            <a:r>
              <a:rPr sz="1100" spc="-28" dirty="0">
                <a:latin typeface="Roboto"/>
                <a:cs typeface="Roboto"/>
              </a:rPr>
              <a:t> </a:t>
            </a:r>
            <a:r>
              <a:rPr sz="1100" dirty="0">
                <a:latin typeface="Roboto"/>
                <a:cs typeface="Roboto"/>
              </a:rPr>
              <a:t>offers</a:t>
            </a:r>
            <a:r>
              <a:rPr sz="1100" spc="-28" dirty="0">
                <a:latin typeface="Roboto"/>
                <a:cs typeface="Roboto"/>
              </a:rPr>
              <a:t> </a:t>
            </a:r>
            <a:r>
              <a:rPr sz="1100" dirty="0">
                <a:latin typeface="Roboto"/>
                <a:cs typeface="Roboto"/>
              </a:rPr>
              <a:t>the</a:t>
            </a:r>
            <a:r>
              <a:rPr sz="1100" spc="-28" dirty="0">
                <a:latin typeface="Roboto"/>
                <a:cs typeface="Roboto"/>
              </a:rPr>
              <a:t> </a:t>
            </a:r>
            <a:r>
              <a:rPr sz="1100" dirty="0">
                <a:latin typeface="Roboto"/>
                <a:cs typeface="Roboto"/>
              </a:rPr>
              <a:t>most</a:t>
            </a:r>
            <a:r>
              <a:rPr sz="1100" spc="-28" dirty="0">
                <a:latin typeface="Roboto"/>
                <a:cs typeface="Roboto"/>
              </a:rPr>
              <a:t> </a:t>
            </a:r>
            <a:r>
              <a:rPr sz="1100" dirty="0">
                <a:latin typeface="Roboto"/>
                <a:cs typeface="Roboto"/>
              </a:rPr>
              <a:t>advanced</a:t>
            </a:r>
            <a:r>
              <a:rPr sz="1100" spc="-28" dirty="0">
                <a:latin typeface="Roboto"/>
                <a:cs typeface="Roboto"/>
              </a:rPr>
              <a:t> </a:t>
            </a:r>
            <a:r>
              <a:rPr sz="1100" dirty="0">
                <a:latin typeface="Roboto"/>
                <a:cs typeface="Roboto"/>
              </a:rPr>
              <a:t>security</a:t>
            </a:r>
            <a:r>
              <a:rPr sz="1100" spc="-28" dirty="0">
                <a:latin typeface="Roboto"/>
                <a:cs typeface="Roboto"/>
              </a:rPr>
              <a:t> </a:t>
            </a:r>
            <a:r>
              <a:rPr sz="1100" dirty="0">
                <a:latin typeface="Roboto"/>
                <a:cs typeface="Roboto"/>
              </a:rPr>
              <a:t>capabilities,</a:t>
            </a:r>
            <a:r>
              <a:rPr sz="1100" spc="-25" dirty="0">
                <a:latin typeface="Roboto"/>
                <a:cs typeface="Roboto"/>
              </a:rPr>
              <a:t> </a:t>
            </a:r>
            <a:r>
              <a:rPr sz="1100" dirty="0">
                <a:latin typeface="Roboto"/>
                <a:cs typeface="Roboto"/>
              </a:rPr>
              <a:t>including</a:t>
            </a:r>
            <a:r>
              <a:rPr sz="1100" spc="-28" dirty="0">
                <a:latin typeface="Roboto"/>
                <a:cs typeface="Roboto"/>
              </a:rPr>
              <a:t> </a:t>
            </a:r>
            <a:r>
              <a:rPr sz="1100" dirty="0">
                <a:latin typeface="Roboto"/>
                <a:cs typeface="Roboto"/>
              </a:rPr>
              <a:t>field</a:t>
            </a:r>
            <a:r>
              <a:rPr sz="1100" spc="-28" dirty="0">
                <a:latin typeface="Roboto"/>
                <a:cs typeface="Roboto"/>
              </a:rPr>
              <a:t> </a:t>
            </a:r>
            <a:r>
              <a:rPr sz="1100" dirty="0">
                <a:latin typeface="Roboto"/>
                <a:cs typeface="Roboto"/>
              </a:rPr>
              <a:t>level</a:t>
            </a:r>
            <a:r>
              <a:rPr sz="1100" spc="-28" dirty="0">
                <a:latin typeface="Roboto"/>
                <a:cs typeface="Roboto"/>
              </a:rPr>
              <a:t> </a:t>
            </a:r>
            <a:r>
              <a:rPr sz="1100" dirty="0">
                <a:latin typeface="Roboto"/>
                <a:cs typeface="Roboto"/>
              </a:rPr>
              <a:t>encryption</a:t>
            </a:r>
            <a:r>
              <a:rPr sz="1100" spc="-28" dirty="0">
                <a:latin typeface="Roboto"/>
                <a:cs typeface="Roboto"/>
              </a:rPr>
              <a:t> </a:t>
            </a:r>
            <a:r>
              <a:rPr sz="1100" dirty="0">
                <a:latin typeface="Roboto"/>
                <a:cs typeface="Roboto"/>
              </a:rPr>
              <a:t>and</a:t>
            </a:r>
            <a:r>
              <a:rPr sz="1100" spc="-28" dirty="0">
                <a:latin typeface="Roboto"/>
                <a:cs typeface="Roboto"/>
              </a:rPr>
              <a:t> </a:t>
            </a:r>
            <a:r>
              <a:rPr sz="1100" dirty="0">
                <a:latin typeface="Roboto"/>
                <a:cs typeface="Roboto"/>
              </a:rPr>
              <a:t>HTTPS</a:t>
            </a:r>
            <a:r>
              <a:rPr sz="1100" spc="-25" dirty="0">
                <a:latin typeface="Roboto"/>
                <a:cs typeface="Roboto"/>
              </a:rPr>
              <a:t> </a:t>
            </a:r>
            <a:r>
              <a:rPr sz="1100" dirty="0">
                <a:latin typeface="Roboto"/>
                <a:cs typeface="Roboto"/>
              </a:rPr>
              <a:t>support,</a:t>
            </a:r>
            <a:r>
              <a:rPr sz="1100" spc="-28" dirty="0">
                <a:latin typeface="Roboto"/>
                <a:cs typeface="Roboto"/>
              </a:rPr>
              <a:t> </a:t>
            </a:r>
            <a:r>
              <a:rPr sz="1100" dirty="0">
                <a:latin typeface="Roboto"/>
                <a:cs typeface="Roboto"/>
              </a:rPr>
              <a:t>seamlessly</a:t>
            </a:r>
            <a:r>
              <a:rPr sz="1100" spc="-28" dirty="0">
                <a:latin typeface="Roboto"/>
                <a:cs typeface="Roboto"/>
              </a:rPr>
              <a:t> </a:t>
            </a:r>
            <a:r>
              <a:rPr sz="1100" dirty="0">
                <a:latin typeface="Roboto"/>
                <a:cs typeface="Roboto"/>
              </a:rPr>
              <a:t>integrated</a:t>
            </a:r>
            <a:r>
              <a:rPr sz="1100" spc="-28" dirty="0">
                <a:latin typeface="Roboto"/>
                <a:cs typeface="Roboto"/>
              </a:rPr>
              <a:t> </a:t>
            </a:r>
            <a:r>
              <a:rPr sz="1100" spc="-10" dirty="0">
                <a:latin typeface="Roboto"/>
                <a:cs typeface="Roboto"/>
              </a:rPr>
              <a:t>with </a:t>
            </a:r>
            <a:r>
              <a:rPr sz="1100" dirty="0">
                <a:latin typeface="Roboto"/>
                <a:cs typeface="Roboto"/>
              </a:rPr>
              <a:t>AWS</a:t>
            </a:r>
            <a:r>
              <a:rPr sz="1100" spc="-23" dirty="0">
                <a:latin typeface="Roboto"/>
                <a:cs typeface="Roboto"/>
              </a:rPr>
              <a:t> </a:t>
            </a:r>
            <a:r>
              <a:rPr sz="1100" dirty="0">
                <a:latin typeface="Roboto"/>
                <a:cs typeface="Roboto"/>
              </a:rPr>
              <a:t>Shield,</a:t>
            </a:r>
            <a:r>
              <a:rPr sz="1100" spc="-23" dirty="0">
                <a:latin typeface="Roboto"/>
                <a:cs typeface="Roboto"/>
              </a:rPr>
              <a:t> </a:t>
            </a:r>
            <a:r>
              <a:rPr sz="1100" dirty="0">
                <a:latin typeface="Roboto"/>
                <a:cs typeface="Roboto"/>
              </a:rPr>
              <a:t>AWS</a:t>
            </a:r>
            <a:r>
              <a:rPr sz="1100" spc="-23" dirty="0">
                <a:latin typeface="Roboto"/>
                <a:cs typeface="Roboto"/>
              </a:rPr>
              <a:t> </a:t>
            </a:r>
            <a:r>
              <a:rPr sz="1100" dirty="0">
                <a:latin typeface="Roboto"/>
                <a:cs typeface="Roboto"/>
              </a:rPr>
              <a:t>Web</a:t>
            </a:r>
            <a:r>
              <a:rPr sz="1100" spc="-20" dirty="0">
                <a:latin typeface="Roboto"/>
                <a:cs typeface="Roboto"/>
              </a:rPr>
              <a:t> </a:t>
            </a:r>
            <a:r>
              <a:rPr sz="1100" dirty="0">
                <a:latin typeface="Roboto"/>
                <a:cs typeface="Roboto"/>
              </a:rPr>
              <a:t>Application</a:t>
            </a:r>
            <a:r>
              <a:rPr sz="1100" spc="-23" dirty="0">
                <a:latin typeface="Roboto"/>
                <a:cs typeface="Roboto"/>
              </a:rPr>
              <a:t> </a:t>
            </a:r>
            <a:r>
              <a:rPr sz="1100" dirty="0">
                <a:latin typeface="Roboto"/>
                <a:cs typeface="Roboto"/>
              </a:rPr>
              <a:t>Firewall</a:t>
            </a:r>
            <a:r>
              <a:rPr sz="1100" spc="-23" dirty="0">
                <a:latin typeface="Roboto"/>
                <a:cs typeface="Roboto"/>
              </a:rPr>
              <a:t> </a:t>
            </a:r>
            <a:r>
              <a:rPr sz="1100" dirty="0">
                <a:latin typeface="Roboto"/>
                <a:cs typeface="Roboto"/>
              </a:rPr>
              <a:t>and</a:t>
            </a:r>
            <a:r>
              <a:rPr sz="1100" spc="-23" dirty="0">
                <a:latin typeface="Roboto"/>
                <a:cs typeface="Roboto"/>
              </a:rPr>
              <a:t> </a:t>
            </a:r>
            <a:r>
              <a:rPr sz="1100" dirty="0">
                <a:latin typeface="Roboto"/>
                <a:cs typeface="Roboto"/>
              </a:rPr>
              <a:t>Amazon</a:t>
            </a:r>
            <a:r>
              <a:rPr sz="1100" spc="-20" dirty="0">
                <a:latin typeface="Roboto"/>
                <a:cs typeface="Roboto"/>
              </a:rPr>
              <a:t> </a:t>
            </a:r>
            <a:r>
              <a:rPr sz="1100" dirty="0">
                <a:latin typeface="Roboto"/>
                <a:cs typeface="Roboto"/>
              </a:rPr>
              <a:t>Route</a:t>
            </a:r>
            <a:r>
              <a:rPr sz="1100" spc="-23" dirty="0">
                <a:latin typeface="Roboto"/>
                <a:cs typeface="Roboto"/>
              </a:rPr>
              <a:t> </a:t>
            </a:r>
            <a:r>
              <a:rPr sz="1100" dirty="0">
                <a:latin typeface="Roboto"/>
                <a:cs typeface="Roboto"/>
              </a:rPr>
              <a:t>53</a:t>
            </a:r>
            <a:r>
              <a:rPr sz="1100" spc="-23" dirty="0">
                <a:latin typeface="Roboto"/>
                <a:cs typeface="Roboto"/>
              </a:rPr>
              <a:t> </a:t>
            </a:r>
            <a:r>
              <a:rPr sz="1100" dirty="0">
                <a:latin typeface="Roboto"/>
                <a:cs typeface="Roboto"/>
              </a:rPr>
              <a:t>to</a:t>
            </a:r>
            <a:r>
              <a:rPr sz="1100" spc="-23" dirty="0">
                <a:latin typeface="Roboto"/>
                <a:cs typeface="Roboto"/>
              </a:rPr>
              <a:t> </a:t>
            </a:r>
            <a:r>
              <a:rPr sz="1100" dirty="0">
                <a:latin typeface="Roboto"/>
                <a:cs typeface="Roboto"/>
              </a:rPr>
              <a:t>protect</a:t>
            </a:r>
            <a:r>
              <a:rPr sz="1100" spc="-20" dirty="0">
                <a:latin typeface="Roboto"/>
                <a:cs typeface="Roboto"/>
              </a:rPr>
              <a:t> </a:t>
            </a:r>
            <a:r>
              <a:rPr sz="1100" dirty="0">
                <a:latin typeface="Roboto"/>
                <a:cs typeface="Roboto"/>
              </a:rPr>
              <a:t>against</a:t>
            </a:r>
            <a:r>
              <a:rPr sz="1100" spc="-23" dirty="0">
                <a:latin typeface="Roboto"/>
                <a:cs typeface="Roboto"/>
              </a:rPr>
              <a:t> </a:t>
            </a:r>
            <a:r>
              <a:rPr sz="1100" dirty="0">
                <a:latin typeface="Roboto"/>
                <a:cs typeface="Roboto"/>
              </a:rPr>
              <a:t>multiple</a:t>
            </a:r>
            <a:r>
              <a:rPr sz="1100" spc="-23" dirty="0">
                <a:latin typeface="Roboto"/>
                <a:cs typeface="Roboto"/>
              </a:rPr>
              <a:t> </a:t>
            </a:r>
            <a:r>
              <a:rPr sz="1100" dirty="0">
                <a:latin typeface="Roboto"/>
                <a:cs typeface="Roboto"/>
              </a:rPr>
              <a:t>types</a:t>
            </a:r>
            <a:r>
              <a:rPr sz="1100" spc="-23" dirty="0">
                <a:latin typeface="Roboto"/>
                <a:cs typeface="Roboto"/>
              </a:rPr>
              <a:t> </a:t>
            </a:r>
            <a:r>
              <a:rPr sz="1100" dirty="0">
                <a:latin typeface="Roboto"/>
                <a:cs typeface="Roboto"/>
              </a:rPr>
              <a:t>of</a:t>
            </a:r>
            <a:r>
              <a:rPr sz="1100" spc="-20" dirty="0">
                <a:latin typeface="Roboto"/>
                <a:cs typeface="Roboto"/>
              </a:rPr>
              <a:t> </a:t>
            </a:r>
            <a:r>
              <a:rPr sz="1100" dirty="0">
                <a:latin typeface="Roboto"/>
                <a:cs typeface="Roboto"/>
              </a:rPr>
              <a:t>attacks</a:t>
            </a:r>
            <a:r>
              <a:rPr sz="1100" spc="-23" dirty="0">
                <a:latin typeface="Roboto"/>
                <a:cs typeface="Roboto"/>
              </a:rPr>
              <a:t> </a:t>
            </a:r>
            <a:r>
              <a:rPr sz="1100" dirty="0">
                <a:latin typeface="Roboto"/>
                <a:cs typeface="Roboto"/>
              </a:rPr>
              <a:t>including</a:t>
            </a:r>
            <a:r>
              <a:rPr sz="1100" spc="-23" dirty="0">
                <a:latin typeface="Roboto"/>
                <a:cs typeface="Roboto"/>
              </a:rPr>
              <a:t> </a:t>
            </a:r>
            <a:r>
              <a:rPr sz="1100" dirty="0">
                <a:latin typeface="Roboto"/>
                <a:cs typeface="Roboto"/>
              </a:rPr>
              <a:t>network</a:t>
            </a:r>
            <a:r>
              <a:rPr sz="1100" spc="-23" dirty="0">
                <a:latin typeface="Roboto"/>
                <a:cs typeface="Roboto"/>
              </a:rPr>
              <a:t> </a:t>
            </a:r>
            <a:r>
              <a:rPr sz="1100" spc="-13" dirty="0">
                <a:latin typeface="Roboto"/>
                <a:cs typeface="Roboto"/>
              </a:rPr>
              <a:t>and </a:t>
            </a:r>
            <a:r>
              <a:rPr sz="1100" dirty="0">
                <a:latin typeface="Roboto"/>
                <a:cs typeface="Roboto"/>
              </a:rPr>
              <a:t>application</a:t>
            </a:r>
            <a:r>
              <a:rPr sz="1100" spc="-23" dirty="0">
                <a:latin typeface="Roboto"/>
                <a:cs typeface="Roboto"/>
              </a:rPr>
              <a:t> </a:t>
            </a:r>
            <a:r>
              <a:rPr sz="1100" dirty="0">
                <a:latin typeface="Roboto"/>
                <a:cs typeface="Roboto"/>
              </a:rPr>
              <a:t>layer</a:t>
            </a:r>
            <a:r>
              <a:rPr sz="1100" spc="-23" dirty="0">
                <a:latin typeface="Roboto"/>
                <a:cs typeface="Roboto"/>
              </a:rPr>
              <a:t> </a:t>
            </a:r>
            <a:r>
              <a:rPr sz="1100" dirty="0">
                <a:latin typeface="Roboto"/>
                <a:cs typeface="Roboto"/>
              </a:rPr>
              <a:t>DDoS</a:t>
            </a:r>
            <a:r>
              <a:rPr sz="1100" spc="-23" dirty="0">
                <a:latin typeface="Roboto"/>
                <a:cs typeface="Roboto"/>
              </a:rPr>
              <a:t> </a:t>
            </a:r>
            <a:r>
              <a:rPr sz="1100" dirty="0">
                <a:latin typeface="Roboto"/>
                <a:cs typeface="Roboto"/>
              </a:rPr>
              <a:t>attacks.</a:t>
            </a:r>
            <a:r>
              <a:rPr sz="1100" spc="-23" dirty="0">
                <a:latin typeface="Roboto"/>
                <a:cs typeface="Roboto"/>
              </a:rPr>
              <a:t> </a:t>
            </a:r>
            <a:r>
              <a:rPr sz="1100" dirty="0">
                <a:latin typeface="Roboto"/>
                <a:cs typeface="Roboto"/>
              </a:rPr>
              <a:t>These</a:t>
            </a:r>
            <a:r>
              <a:rPr sz="1100" spc="-23" dirty="0">
                <a:latin typeface="Roboto"/>
                <a:cs typeface="Roboto"/>
              </a:rPr>
              <a:t> </a:t>
            </a:r>
            <a:r>
              <a:rPr sz="1100" dirty="0">
                <a:latin typeface="Roboto"/>
                <a:cs typeface="Roboto"/>
              </a:rPr>
              <a:t>services</a:t>
            </a:r>
            <a:r>
              <a:rPr sz="1100" spc="-23" dirty="0">
                <a:latin typeface="Roboto"/>
                <a:cs typeface="Roboto"/>
              </a:rPr>
              <a:t> </a:t>
            </a:r>
            <a:r>
              <a:rPr sz="1100" spc="-5" dirty="0">
                <a:latin typeface="Roboto"/>
                <a:cs typeface="Roboto"/>
              </a:rPr>
              <a:t>co-</a:t>
            </a:r>
            <a:r>
              <a:rPr sz="1100" dirty="0">
                <a:latin typeface="Roboto"/>
                <a:cs typeface="Roboto"/>
              </a:rPr>
              <a:t>reside</a:t>
            </a:r>
            <a:r>
              <a:rPr sz="1100" spc="-23" dirty="0">
                <a:latin typeface="Roboto"/>
                <a:cs typeface="Roboto"/>
              </a:rPr>
              <a:t> </a:t>
            </a:r>
            <a:r>
              <a:rPr sz="1100" dirty="0">
                <a:latin typeface="Roboto"/>
                <a:cs typeface="Roboto"/>
              </a:rPr>
              <a:t>at</a:t>
            </a:r>
            <a:r>
              <a:rPr sz="1100" spc="-23" dirty="0">
                <a:latin typeface="Roboto"/>
                <a:cs typeface="Roboto"/>
              </a:rPr>
              <a:t> </a:t>
            </a:r>
            <a:r>
              <a:rPr sz="1100" dirty="0">
                <a:latin typeface="Roboto"/>
                <a:cs typeface="Roboto"/>
              </a:rPr>
              <a:t>edge</a:t>
            </a:r>
            <a:r>
              <a:rPr sz="1100" spc="-23" dirty="0">
                <a:latin typeface="Roboto"/>
                <a:cs typeface="Roboto"/>
              </a:rPr>
              <a:t> </a:t>
            </a:r>
            <a:r>
              <a:rPr sz="1100" dirty="0">
                <a:latin typeface="Roboto"/>
                <a:cs typeface="Roboto"/>
              </a:rPr>
              <a:t>networking</a:t>
            </a:r>
            <a:r>
              <a:rPr sz="1100" spc="-23" dirty="0">
                <a:latin typeface="Roboto"/>
                <a:cs typeface="Roboto"/>
              </a:rPr>
              <a:t> </a:t>
            </a:r>
            <a:r>
              <a:rPr sz="1100" dirty="0">
                <a:latin typeface="Roboto"/>
                <a:cs typeface="Roboto"/>
              </a:rPr>
              <a:t>locations</a:t>
            </a:r>
            <a:r>
              <a:rPr sz="1100" spc="-23" dirty="0">
                <a:latin typeface="Roboto"/>
                <a:cs typeface="Roboto"/>
              </a:rPr>
              <a:t> </a:t>
            </a:r>
            <a:r>
              <a:rPr sz="1100" dirty="0">
                <a:latin typeface="Roboto"/>
                <a:cs typeface="Roboto"/>
              </a:rPr>
              <a:t>–</a:t>
            </a:r>
            <a:r>
              <a:rPr sz="1100" spc="-23" dirty="0">
                <a:latin typeface="Roboto"/>
                <a:cs typeface="Roboto"/>
              </a:rPr>
              <a:t> </a:t>
            </a:r>
            <a:r>
              <a:rPr sz="1100" dirty="0">
                <a:latin typeface="Roboto"/>
                <a:cs typeface="Roboto"/>
              </a:rPr>
              <a:t>globally</a:t>
            </a:r>
            <a:r>
              <a:rPr sz="1100" spc="-23" dirty="0">
                <a:latin typeface="Roboto"/>
                <a:cs typeface="Roboto"/>
              </a:rPr>
              <a:t> </a:t>
            </a:r>
            <a:r>
              <a:rPr sz="1100" dirty="0">
                <a:latin typeface="Roboto"/>
                <a:cs typeface="Roboto"/>
              </a:rPr>
              <a:t>scaled</a:t>
            </a:r>
            <a:r>
              <a:rPr sz="1100" spc="-23" dirty="0">
                <a:latin typeface="Roboto"/>
                <a:cs typeface="Roboto"/>
              </a:rPr>
              <a:t> </a:t>
            </a:r>
            <a:r>
              <a:rPr sz="1100" dirty="0">
                <a:latin typeface="Roboto"/>
                <a:cs typeface="Roboto"/>
              </a:rPr>
              <a:t>and</a:t>
            </a:r>
            <a:r>
              <a:rPr sz="1100" spc="-23" dirty="0">
                <a:latin typeface="Roboto"/>
                <a:cs typeface="Roboto"/>
              </a:rPr>
              <a:t> </a:t>
            </a:r>
            <a:r>
              <a:rPr sz="1100" dirty="0">
                <a:latin typeface="Roboto"/>
                <a:cs typeface="Roboto"/>
              </a:rPr>
              <a:t>connected</a:t>
            </a:r>
            <a:r>
              <a:rPr sz="1100" spc="-23" dirty="0">
                <a:latin typeface="Roboto"/>
                <a:cs typeface="Roboto"/>
              </a:rPr>
              <a:t> </a:t>
            </a:r>
            <a:r>
              <a:rPr sz="1100" dirty="0">
                <a:latin typeface="Roboto"/>
                <a:cs typeface="Roboto"/>
              </a:rPr>
              <a:t>via</a:t>
            </a:r>
            <a:r>
              <a:rPr sz="1100" spc="-23" dirty="0">
                <a:latin typeface="Roboto"/>
                <a:cs typeface="Roboto"/>
              </a:rPr>
              <a:t> </a:t>
            </a:r>
            <a:r>
              <a:rPr sz="1100" dirty="0">
                <a:latin typeface="Roboto"/>
                <a:cs typeface="Roboto"/>
              </a:rPr>
              <a:t>the</a:t>
            </a:r>
            <a:r>
              <a:rPr sz="1100" spc="-23" dirty="0">
                <a:latin typeface="Roboto"/>
                <a:cs typeface="Roboto"/>
              </a:rPr>
              <a:t> </a:t>
            </a:r>
            <a:r>
              <a:rPr sz="1100" dirty="0">
                <a:latin typeface="Roboto"/>
                <a:cs typeface="Roboto"/>
              </a:rPr>
              <a:t>AWS</a:t>
            </a:r>
            <a:r>
              <a:rPr sz="1100" spc="-23" dirty="0">
                <a:latin typeface="Roboto"/>
                <a:cs typeface="Roboto"/>
              </a:rPr>
              <a:t> </a:t>
            </a:r>
            <a:r>
              <a:rPr sz="1100" spc="-5" dirty="0">
                <a:latin typeface="Roboto"/>
                <a:cs typeface="Roboto"/>
              </a:rPr>
              <a:t>network </a:t>
            </a:r>
            <a:r>
              <a:rPr sz="1100" dirty="0">
                <a:latin typeface="Roboto"/>
                <a:cs typeface="Roboto"/>
              </a:rPr>
              <a:t>backbone</a:t>
            </a:r>
            <a:r>
              <a:rPr sz="1100" spc="-25" dirty="0">
                <a:latin typeface="Roboto"/>
                <a:cs typeface="Roboto"/>
              </a:rPr>
              <a:t> </a:t>
            </a:r>
            <a:r>
              <a:rPr sz="1100" dirty="0">
                <a:latin typeface="Roboto"/>
                <a:cs typeface="Roboto"/>
              </a:rPr>
              <a:t>–</a:t>
            </a:r>
            <a:r>
              <a:rPr sz="1100" spc="-25" dirty="0">
                <a:latin typeface="Roboto"/>
                <a:cs typeface="Roboto"/>
              </a:rPr>
              <a:t> </a:t>
            </a:r>
            <a:r>
              <a:rPr sz="1100" dirty="0">
                <a:latin typeface="Roboto"/>
                <a:cs typeface="Roboto"/>
              </a:rPr>
              <a:t>providing</a:t>
            </a:r>
            <a:r>
              <a:rPr sz="1100" spc="-25" dirty="0">
                <a:latin typeface="Roboto"/>
                <a:cs typeface="Roboto"/>
              </a:rPr>
              <a:t> </a:t>
            </a:r>
            <a:r>
              <a:rPr sz="1100" dirty="0">
                <a:latin typeface="Roboto"/>
                <a:cs typeface="Roboto"/>
              </a:rPr>
              <a:t>a</a:t>
            </a:r>
            <a:r>
              <a:rPr sz="1100" spc="-23" dirty="0">
                <a:latin typeface="Roboto"/>
                <a:cs typeface="Roboto"/>
              </a:rPr>
              <a:t> </a:t>
            </a:r>
            <a:r>
              <a:rPr sz="1100" dirty="0">
                <a:latin typeface="Roboto"/>
                <a:cs typeface="Roboto"/>
              </a:rPr>
              <a:t>more</a:t>
            </a:r>
            <a:r>
              <a:rPr sz="1100" spc="-25" dirty="0">
                <a:latin typeface="Roboto"/>
                <a:cs typeface="Roboto"/>
              </a:rPr>
              <a:t> </a:t>
            </a:r>
            <a:r>
              <a:rPr sz="1100" dirty="0">
                <a:latin typeface="Roboto"/>
                <a:cs typeface="Roboto"/>
              </a:rPr>
              <a:t>secure,</a:t>
            </a:r>
            <a:r>
              <a:rPr sz="1100" spc="-25" dirty="0">
                <a:latin typeface="Roboto"/>
                <a:cs typeface="Roboto"/>
              </a:rPr>
              <a:t> </a:t>
            </a:r>
            <a:r>
              <a:rPr sz="1100" dirty="0">
                <a:latin typeface="Roboto"/>
                <a:cs typeface="Roboto"/>
              </a:rPr>
              <a:t>performant,</a:t>
            </a:r>
            <a:r>
              <a:rPr sz="1100" spc="-23" dirty="0">
                <a:latin typeface="Roboto"/>
                <a:cs typeface="Roboto"/>
              </a:rPr>
              <a:t> </a:t>
            </a:r>
            <a:r>
              <a:rPr sz="1100" dirty="0">
                <a:latin typeface="Roboto"/>
                <a:cs typeface="Roboto"/>
              </a:rPr>
              <a:t>and</a:t>
            </a:r>
            <a:r>
              <a:rPr sz="1100" spc="-25" dirty="0">
                <a:latin typeface="Roboto"/>
                <a:cs typeface="Roboto"/>
              </a:rPr>
              <a:t> </a:t>
            </a:r>
            <a:r>
              <a:rPr sz="1100" dirty="0">
                <a:latin typeface="Roboto"/>
                <a:cs typeface="Roboto"/>
              </a:rPr>
              <a:t>available</a:t>
            </a:r>
            <a:r>
              <a:rPr sz="1100" spc="-25" dirty="0">
                <a:latin typeface="Roboto"/>
                <a:cs typeface="Roboto"/>
              </a:rPr>
              <a:t> </a:t>
            </a:r>
            <a:r>
              <a:rPr sz="1100" dirty="0">
                <a:latin typeface="Roboto"/>
                <a:cs typeface="Roboto"/>
              </a:rPr>
              <a:t>experience</a:t>
            </a:r>
            <a:r>
              <a:rPr sz="1100" spc="-23" dirty="0">
                <a:latin typeface="Roboto"/>
                <a:cs typeface="Roboto"/>
              </a:rPr>
              <a:t> </a:t>
            </a:r>
            <a:r>
              <a:rPr sz="1100" dirty="0">
                <a:latin typeface="Roboto"/>
                <a:cs typeface="Roboto"/>
              </a:rPr>
              <a:t>for</a:t>
            </a:r>
            <a:r>
              <a:rPr sz="1100" spc="-25" dirty="0">
                <a:latin typeface="Roboto"/>
                <a:cs typeface="Roboto"/>
              </a:rPr>
              <a:t> </a:t>
            </a:r>
            <a:r>
              <a:rPr sz="1100" dirty="0">
                <a:latin typeface="Roboto"/>
                <a:cs typeface="Roboto"/>
              </a:rPr>
              <a:t>your</a:t>
            </a:r>
            <a:r>
              <a:rPr sz="1100" spc="-25" dirty="0">
                <a:latin typeface="Roboto"/>
                <a:cs typeface="Roboto"/>
              </a:rPr>
              <a:t> </a:t>
            </a:r>
            <a:r>
              <a:rPr sz="1100" spc="-5" dirty="0">
                <a:latin typeface="Roboto"/>
                <a:cs typeface="Roboto"/>
              </a:rPr>
              <a:t>users.</a:t>
            </a:r>
            <a:endParaRPr sz="1100">
              <a:latin typeface="Roboto"/>
              <a:cs typeface="Roboto"/>
            </a:endParaRPr>
          </a:p>
          <a:p>
            <a:pPr>
              <a:spcBef>
                <a:spcPts val="217"/>
              </a:spcBef>
            </a:pPr>
            <a:endParaRPr sz="1100">
              <a:latin typeface="Roboto"/>
              <a:cs typeface="Roboto"/>
            </a:endParaRPr>
          </a:p>
          <a:p>
            <a:pPr marL="92075" marR="403543">
              <a:lnSpc>
                <a:spcPct val="116500"/>
              </a:lnSpc>
            </a:pPr>
            <a:r>
              <a:rPr sz="1100" dirty="0">
                <a:latin typeface="Roboto"/>
                <a:cs typeface="Roboto"/>
              </a:rPr>
              <a:t>CloudFront</a:t>
            </a:r>
            <a:r>
              <a:rPr sz="1100" spc="-25" dirty="0">
                <a:latin typeface="Roboto"/>
                <a:cs typeface="Roboto"/>
              </a:rPr>
              <a:t> </a:t>
            </a:r>
            <a:r>
              <a:rPr sz="1100" dirty="0">
                <a:latin typeface="Roboto"/>
                <a:cs typeface="Roboto"/>
              </a:rPr>
              <a:t>works</a:t>
            </a:r>
            <a:r>
              <a:rPr sz="1100" spc="-23" dirty="0">
                <a:latin typeface="Roboto"/>
                <a:cs typeface="Roboto"/>
              </a:rPr>
              <a:t> </a:t>
            </a:r>
            <a:r>
              <a:rPr sz="1100" dirty="0">
                <a:latin typeface="Roboto"/>
                <a:cs typeface="Roboto"/>
              </a:rPr>
              <a:t>seamlessly</a:t>
            </a:r>
            <a:r>
              <a:rPr sz="1100" spc="-25" dirty="0">
                <a:latin typeface="Roboto"/>
                <a:cs typeface="Roboto"/>
              </a:rPr>
              <a:t> </a:t>
            </a:r>
            <a:r>
              <a:rPr sz="1100" dirty="0">
                <a:latin typeface="Roboto"/>
                <a:cs typeface="Roboto"/>
              </a:rPr>
              <a:t>with</a:t>
            </a:r>
            <a:r>
              <a:rPr sz="1100" spc="-23" dirty="0">
                <a:latin typeface="Roboto"/>
                <a:cs typeface="Roboto"/>
              </a:rPr>
              <a:t> </a:t>
            </a:r>
            <a:r>
              <a:rPr sz="1100" dirty="0">
                <a:latin typeface="Roboto"/>
                <a:cs typeface="Roboto"/>
              </a:rPr>
              <a:t>any</a:t>
            </a:r>
            <a:r>
              <a:rPr sz="1100" spc="-25" dirty="0">
                <a:latin typeface="Roboto"/>
                <a:cs typeface="Roboto"/>
              </a:rPr>
              <a:t> </a:t>
            </a:r>
            <a:r>
              <a:rPr sz="1100" dirty="0">
                <a:latin typeface="Roboto"/>
                <a:cs typeface="Roboto"/>
              </a:rPr>
              <a:t>AWS</a:t>
            </a:r>
            <a:r>
              <a:rPr sz="1100" spc="-23" dirty="0">
                <a:latin typeface="Roboto"/>
                <a:cs typeface="Roboto"/>
              </a:rPr>
              <a:t> </a:t>
            </a:r>
            <a:r>
              <a:rPr sz="1100" dirty="0">
                <a:latin typeface="Roboto"/>
                <a:cs typeface="Roboto"/>
              </a:rPr>
              <a:t>origin,</a:t>
            </a:r>
            <a:r>
              <a:rPr sz="1100" spc="-25" dirty="0">
                <a:latin typeface="Roboto"/>
                <a:cs typeface="Roboto"/>
              </a:rPr>
              <a:t> </a:t>
            </a:r>
            <a:r>
              <a:rPr sz="1100" dirty="0">
                <a:latin typeface="Roboto"/>
                <a:cs typeface="Roboto"/>
              </a:rPr>
              <a:t>such</a:t>
            </a:r>
            <a:r>
              <a:rPr sz="1100" spc="-23" dirty="0">
                <a:latin typeface="Roboto"/>
                <a:cs typeface="Roboto"/>
              </a:rPr>
              <a:t> </a:t>
            </a:r>
            <a:r>
              <a:rPr sz="1100" dirty="0">
                <a:latin typeface="Roboto"/>
                <a:cs typeface="Roboto"/>
              </a:rPr>
              <a:t>as</a:t>
            </a:r>
            <a:r>
              <a:rPr sz="1100" spc="-23" dirty="0">
                <a:latin typeface="Roboto"/>
                <a:cs typeface="Roboto"/>
              </a:rPr>
              <a:t> </a:t>
            </a:r>
            <a:r>
              <a:rPr sz="1100" dirty="0">
                <a:latin typeface="Roboto"/>
                <a:cs typeface="Roboto"/>
              </a:rPr>
              <a:t>Amazon</a:t>
            </a:r>
            <a:r>
              <a:rPr sz="1100" spc="-25" dirty="0">
                <a:latin typeface="Roboto"/>
                <a:cs typeface="Roboto"/>
              </a:rPr>
              <a:t> </a:t>
            </a:r>
            <a:r>
              <a:rPr sz="1100" dirty="0">
                <a:latin typeface="Roboto"/>
                <a:cs typeface="Roboto"/>
              </a:rPr>
              <a:t>S3,</a:t>
            </a:r>
            <a:r>
              <a:rPr sz="1100" spc="-23" dirty="0">
                <a:latin typeface="Roboto"/>
                <a:cs typeface="Roboto"/>
              </a:rPr>
              <a:t> </a:t>
            </a:r>
            <a:r>
              <a:rPr sz="1100" dirty="0">
                <a:latin typeface="Roboto"/>
                <a:cs typeface="Roboto"/>
              </a:rPr>
              <a:t>Amazon</a:t>
            </a:r>
            <a:r>
              <a:rPr sz="1100" spc="-25" dirty="0">
                <a:latin typeface="Roboto"/>
                <a:cs typeface="Roboto"/>
              </a:rPr>
              <a:t> </a:t>
            </a:r>
            <a:r>
              <a:rPr sz="1100" dirty="0">
                <a:latin typeface="Roboto"/>
                <a:cs typeface="Roboto"/>
              </a:rPr>
              <a:t>EC2,</a:t>
            </a:r>
            <a:r>
              <a:rPr sz="1100" spc="-23" dirty="0">
                <a:latin typeface="Roboto"/>
                <a:cs typeface="Roboto"/>
              </a:rPr>
              <a:t> </a:t>
            </a:r>
            <a:r>
              <a:rPr sz="1100" dirty="0">
                <a:latin typeface="Roboto"/>
                <a:cs typeface="Roboto"/>
              </a:rPr>
              <a:t>Elastic</a:t>
            </a:r>
            <a:r>
              <a:rPr sz="1100" spc="-25" dirty="0">
                <a:latin typeface="Roboto"/>
                <a:cs typeface="Roboto"/>
              </a:rPr>
              <a:t> </a:t>
            </a:r>
            <a:r>
              <a:rPr sz="1100" dirty="0">
                <a:latin typeface="Roboto"/>
                <a:cs typeface="Roboto"/>
              </a:rPr>
              <a:t>Load</a:t>
            </a:r>
            <a:r>
              <a:rPr sz="1100" spc="-23" dirty="0">
                <a:latin typeface="Roboto"/>
                <a:cs typeface="Roboto"/>
              </a:rPr>
              <a:t> </a:t>
            </a:r>
            <a:r>
              <a:rPr sz="1100" dirty="0">
                <a:latin typeface="Roboto"/>
                <a:cs typeface="Roboto"/>
              </a:rPr>
              <a:t>Balancing,</a:t>
            </a:r>
            <a:r>
              <a:rPr sz="1100" spc="-23" dirty="0">
                <a:latin typeface="Roboto"/>
                <a:cs typeface="Roboto"/>
              </a:rPr>
              <a:t> </a:t>
            </a:r>
            <a:r>
              <a:rPr sz="1100" dirty="0">
                <a:latin typeface="Roboto"/>
                <a:cs typeface="Roboto"/>
              </a:rPr>
              <a:t>or</a:t>
            </a:r>
            <a:r>
              <a:rPr sz="1100" spc="-25" dirty="0">
                <a:latin typeface="Roboto"/>
                <a:cs typeface="Roboto"/>
              </a:rPr>
              <a:t> </a:t>
            </a:r>
            <a:r>
              <a:rPr sz="1100" dirty="0">
                <a:latin typeface="Roboto"/>
                <a:cs typeface="Roboto"/>
              </a:rPr>
              <a:t>with</a:t>
            </a:r>
            <a:r>
              <a:rPr sz="1100" spc="-23" dirty="0">
                <a:latin typeface="Roboto"/>
                <a:cs typeface="Roboto"/>
              </a:rPr>
              <a:t> </a:t>
            </a:r>
            <a:r>
              <a:rPr sz="1100" dirty="0">
                <a:latin typeface="Roboto"/>
                <a:cs typeface="Roboto"/>
              </a:rPr>
              <a:t>any</a:t>
            </a:r>
            <a:r>
              <a:rPr sz="1100" spc="-25" dirty="0">
                <a:latin typeface="Roboto"/>
                <a:cs typeface="Roboto"/>
              </a:rPr>
              <a:t> </a:t>
            </a:r>
            <a:r>
              <a:rPr sz="1100" dirty="0">
                <a:latin typeface="Roboto"/>
                <a:cs typeface="Roboto"/>
              </a:rPr>
              <a:t>custom</a:t>
            </a:r>
            <a:r>
              <a:rPr sz="1100" spc="-23" dirty="0">
                <a:latin typeface="Roboto"/>
                <a:cs typeface="Roboto"/>
              </a:rPr>
              <a:t> </a:t>
            </a:r>
            <a:r>
              <a:rPr sz="1100" spc="-10" dirty="0">
                <a:latin typeface="Roboto"/>
                <a:cs typeface="Roboto"/>
              </a:rPr>
              <a:t>HTTP </a:t>
            </a:r>
            <a:r>
              <a:rPr sz="1100" dirty="0">
                <a:latin typeface="Roboto"/>
                <a:cs typeface="Roboto"/>
              </a:rPr>
              <a:t>origin.</a:t>
            </a:r>
            <a:r>
              <a:rPr sz="1100" spc="-25" dirty="0">
                <a:latin typeface="Roboto"/>
                <a:cs typeface="Roboto"/>
              </a:rPr>
              <a:t> </a:t>
            </a:r>
            <a:r>
              <a:rPr sz="1100" dirty="0">
                <a:latin typeface="Roboto"/>
                <a:cs typeface="Roboto"/>
              </a:rPr>
              <a:t>You</a:t>
            </a:r>
            <a:r>
              <a:rPr sz="1100" spc="-25" dirty="0">
                <a:latin typeface="Roboto"/>
                <a:cs typeface="Roboto"/>
              </a:rPr>
              <a:t> </a:t>
            </a:r>
            <a:r>
              <a:rPr sz="1100" dirty="0">
                <a:latin typeface="Roboto"/>
                <a:cs typeface="Roboto"/>
              </a:rPr>
              <a:t>can</a:t>
            </a:r>
            <a:r>
              <a:rPr sz="1100" spc="-23" dirty="0">
                <a:latin typeface="Roboto"/>
                <a:cs typeface="Roboto"/>
              </a:rPr>
              <a:t> </a:t>
            </a:r>
            <a:r>
              <a:rPr sz="1100" dirty="0">
                <a:latin typeface="Roboto"/>
                <a:cs typeface="Roboto"/>
              </a:rPr>
              <a:t>customize</a:t>
            </a:r>
            <a:r>
              <a:rPr sz="1100" spc="-25" dirty="0">
                <a:latin typeface="Roboto"/>
                <a:cs typeface="Roboto"/>
              </a:rPr>
              <a:t> </a:t>
            </a:r>
            <a:r>
              <a:rPr sz="1100" dirty="0">
                <a:latin typeface="Roboto"/>
                <a:cs typeface="Roboto"/>
              </a:rPr>
              <a:t>your</a:t>
            </a:r>
            <a:r>
              <a:rPr sz="1100" spc="-23" dirty="0">
                <a:latin typeface="Roboto"/>
                <a:cs typeface="Roboto"/>
              </a:rPr>
              <a:t> </a:t>
            </a:r>
            <a:r>
              <a:rPr sz="1100" dirty="0">
                <a:latin typeface="Roboto"/>
                <a:cs typeface="Roboto"/>
              </a:rPr>
              <a:t>content</a:t>
            </a:r>
            <a:r>
              <a:rPr sz="1100" spc="-25" dirty="0">
                <a:latin typeface="Roboto"/>
                <a:cs typeface="Roboto"/>
              </a:rPr>
              <a:t> </a:t>
            </a:r>
            <a:r>
              <a:rPr sz="1100" dirty="0">
                <a:latin typeface="Roboto"/>
                <a:cs typeface="Roboto"/>
              </a:rPr>
              <a:t>delivery</a:t>
            </a:r>
            <a:r>
              <a:rPr sz="1100" spc="-23" dirty="0">
                <a:latin typeface="Roboto"/>
                <a:cs typeface="Roboto"/>
              </a:rPr>
              <a:t> </a:t>
            </a:r>
            <a:r>
              <a:rPr sz="1100" dirty="0">
                <a:latin typeface="Roboto"/>
                <a:cs typeface="Roboto"/>
              </a:rPr>
              <a:t>through</a:t>
            </a:r>
            <a:r>
              <a:rPr sz="1100" spc="-25" dirty="0">
                <a:latin typeface="Roboto"/>
                <a:cs typeface="Roboto"/>
              </a:rPr>
              <a:t> </a:t>
            </a:r>
            <a:r>
              <a:rPr sz="1100" dirty="0">
                <a:latin typeface="Roboto"/>
                <a:cs typeface="Roboto"/>
              </a:rPr>
              <a:t>CloudFront</a:t>
            </a:r>
            <a:r>
              <a:rPr sz="1100" spc="-23" dirty="0">
                <a:latin typeface="Roboto"/>
                <a:cs typeface="Roboto"/>
              </a:rPr>
              <a:t> </a:t>
            </a:r>
            <a:r>
              <a:rPr sz="1100" dirty="0">
                <a:latin typeface="Roboto"/>
                <a:cs typeface="Roboto"/>
              </a:rPr>
              <a:t>using</a:t>
            </a:r>
            <a:r>
              <a:rPr sz="1100" spc="-25" dirty="0">
                <a:latin typeface="Roboto"/>
                <a:cs typeface="Roboto"/>
              </a:rPr>
              <a:t> </a:t>
            </a:r>
            <a:r>
              <a:rPr sz="1100" dirty="0">
                <a:latin typeface="Roboto"/>
                <a:cs typeface="Roboto"/>
              </a:rPr>
              <a:t>the</a:t>
            </a:r>
            <a:r>
              <a:rPr sz="1100" spc="-23" dirty="0">
                <a:latin typeface="Roboto"/>
                <a:cs typeface="Roboto"/>
              </a:rPr>
              <a:t> </a:t>
            </a:r>
            <a:r>
              <a:rPr sz="1100" dirty="0">
                <a:latin typeface="Roboto"/>
                <a:cs typeface="Roboto"/>
              </a:rPr>
              <a:t>secure</a:t>
            </a:r>
            <a:r>
              <a:rPr sz="1100" spc="-25" dirty="0">
                <a:latin typeface="Roboto"/>
                <a:cs typeface="Roboto"/>
              </a:rPr>
              <a:t> </a:t>
            </a:r>
            <a:r>
              <a:rPr sz="1100" dirty="0">
                <a:latin typeface="Roboto"/>
                <a:cs typeface="Roboto"/>
              </a:rPr>
              <a:t>and</a:t>
            </a:r>
            <a:r>
              <a:rPr sz="1100" spc="-23" dirty="0">
                <a:latin typeface="Roboto"/>
                <a:cs typeface="Roboto"/>
              </a:rPr>
              <a:t> </a:t>
            </a:r>
            <a:r>
              <a:rPr sz="1100" dirty="0">
                <a:latin typeface="Roboto"/>
                <a:cs typeface="Roboto"/>
              </a:rPr>
              <a:t>programmable</a:t>
            </a:r>
            <a:r>
              <a:rPr sz="1100" spc="-25" dirty="0">
                <a:latin typeface="Roboto"/>
                <a:cs typeface="Roboto"/>
              </a:rPr>
              <a:t> </a:t>
            </a:r>
            <a:r>
              <a:rPr sz="1100" dirty="0">
                <a:latin typeface="Roboto"/>
                <a:cs typeface="Roboto"/>
              </a:rPr>
              <a:t>edge</a:t>
            </a:r>
            <a:r>
              <a:rPr sz="1100" spc="-23" dirty="0">
                <a:latin typeface="Roboto"/>
                <a:cs typeface="Roboto"/>
              </a:rPr>
              <a:t> </a:t>
            </a:r>
            <a:r>
              <a:rPr sz="1100" dirty="0">
                <a:latin typeface="Roboto"/>
                <a:cs typeface="Roboto"/>
              </a:rPr>
              <a:t>computing</a:t>
            </a:r>
            <a:r>
              <a:rPr sz="1100" spc="-25" dirty="0">
                <a:latin typeface="Roboto"/>
                <a:cs typeface="Roboto"/>
              </a:rPr>
              <a:t> </a:t>
            </a:r>
            <a:r>
              <a:rPr sz="1100" spc="-5" dirty="0">
                <a:latin typeface="Roboto"/>
                <a:cs typeface="Roboto"/>
              </a:rPr>
              <a:t>features </a:t>
            </a:r>
            <a:r>
              <a:rPr sz="1100" dirty="0">
                <a:latin typeface="Roboto"/>
                <a:cs typeface="Roboto"/>
              </a:rPr>
              <a:t>CloudFront</a:t>
            </a:r>
            <a:r>
              <a:rPr sz="1100" spc="-23" dirty="0">
                <a:latin typeface="Roboto"/>
                <a:cs typeface="Roboto"/>
              </a:rPr>
              <a:t> </a:t>
            </a:r>
            <a:r>
              <a:rPr sz="1100" dirty="0">
                <a:latin typeface="Roboto"/>
                <a:cs typeface="Roboto"/>
              </a:rPr>
              <a:t>Functions</a:t>
            </a:r>
            <a:r>
              <a:rPr sz="1100" spc="-23" dirty="0">
                <a:latin typeface="Roboto"/>
                <a:cs typeface="Roboto"/>
              </a:rPr>
              <a:t> </a:t>
            </a:r>
            <a:r>
              <a:rPr sz="1100" dirty="0">
                <a:latin typeface="Roboto"/>
                <a:cs typeface="Roboto"/>
              </a:rPr>
              <a:t>and</a:t>
            </a:r>
            <a:r>
              <a:rPr sz="1100" spc="-23" dirty="0">
                <a:latin typeface="Roboto"/>
                <a:cs typeface="Roboto"/>
              </a:rPr>
              <a:t> </a:t>
            </a:r>
            <a:r>
              <a:rPr sz="1100" dirty="0">
                <a:latin typeface="Roboto"/>
                <a:cs typeface="Roboto"/>
              </a:rPr>
              <a:t>AWS</a:t>
            </a:r>
            <a:r>
              <a:rPr sz="1100" spc="-23" dirty="0">
                <a:latin typeface="Roboto"/>
                <a:cs typeface="Roboto"/>
              </a:rPr>
              <a:t> </a:t>
            </a:r>
            <a:r>
              <a:rPr sz="1100" spc="-5" dirty="0">
                <a:latin typeface="Roboto"/>
                <a:cs typeface="Roboto"/>
              </a:rPr>
              <a:t>Lambda@Edge.</a:t>
            </a:r>
            <a:endParaRPr sz="1100">
              <a:latin typeface="Roboto"/>
              <a:cs typeface="Roboto"/>
            </a:endParaRPr>
          </a:p>
          <a:p>
            <a:pPr marR="940435" algn="ctr">
              <a:lnSpc>
                <a:spcPts val="1310"/>
              </a:lnSpc>
            </a:pPr>
            <a:r>
              <a:rPr sz="1200" b="1" dirty="0">
                <a:latin typeface="Open Sans Extrabold"/>
                <a:cs typeface="Open Sans Extrabold"/>
              </a:rPr>
              <a:t>Points to </a:t>
            </a:r>
            <a:r>
              <a:rPr sz="1200" b="1" spc="-5" dirty="0">
                <a:latin typeface="Open Sans Extrabold"/>
                <a:cs typeface="Open Sans Extrabold"/>
              </a:rPr>
              <a:t>focus</a:t>
            </a:r>
            <a:endParaRPr sz="1200">
              <a:latin typeface="Open Sans Extrabold"/>
              <a:cs typeface="Open Sans Extrabold"/>
            </a:endParaRPr>
          </a:p>
          <a:p>
            <a:pPr marL="541973">
              <a:lnSpc>
                <a:spcPts val="1318"/>
              </a:lnSpc>
              <a:spcBef>
                <a:spcPts val="613"/>
              </a:spcBef>
              <a:tabLst>
                <a:tab pos="1192848" algn="l"/>
              </a:tabLst>
            </a:pPr>
            <a:r>
              <a:rPr sz="1100" b="1" dirty="0">
                <a:latin typeface="Roboto"/>
                <a:cs typeface="Roboto"/>
              </a:rPr>
              <a:t>Use</a:t>
            </a:r>
            <a:r>
              <a:rPr sz="1100" b="1" spc="-15" dirty="0">
                <a:latin typeface="Roboto"/>
                <a:cs typeface="Roboto"/>
              </a:rPr>
              <a:t> </a:t>
            </a:r>
            <a:r>
              <a:rPr sz="1100" b="1" spc="-10" dirty="0">
                <a:latin typeface="Roboto"/>
                <a:cs typeface="Roboto"/>
              </a:rPr>
              <a:t>case</a:t>
            </a:r>
            <a:r>
              <a:rPr sz="1100" b="1" dirty="0">
                <a:latin typeface="Roboto"/>
                <a:cs typeface="Roboto"/>
              </a:rPr>
              <a:t>	</a:t>
            </a:r>
            <a:r>
              <a:rPr sz="1100" dirty="0">
                <a:latin typeface="Roboto"/>
                <a:cs typeface="Roboto"/>
              </a:rPr>
              <a:t>It's</a:t>
            </a:r>
            <a:r>
              <a:rPr sz="1100" spc="-18" dirty="0">
                <a:latin typeface="Roboto"/>
                <a:cs typeface="Roboto"/>
              </a:rPr>
              <a:t> </a:t>
            </a:r>
            <a:r>
              <a:rPr sz="1100" dirty="0">
                <a:latin typeface="Roboto"/>
                <a:cs typeface="Roboto"/>
              </a:rPr>
              <a:t>a</a:t>
            </a:r>
            <a:r>
              <a:rPr sz="1100" spc="-18" dirty="0">
                <a:latin typeface="Roboto"/>
                <a:cs typeface="Roboto"/>
              </a:rPr>
              <a:t> </a:t>
            </a:r>
            <a:r>
              <a:rPr sz="1100" dirty="0">
                <a:latin typeface="Roboto"/>
                <a:cs typeface="Roboto"/>
              </a:rPr>
              <a:t>Content</a:t>
            </a:r>
            <a:r>
              <a:rPr sz="1100" spc="-18" dirty="0">
                <a:latin typeface="Roboto"/>
                <a:cs typeface="Roboto"/>
              </a:rPr>
              <a:t> </a:t>
            </a:r>
            <a:r>
              <a:rPr sz="1100" dirty="0">
                <a:latin typeface="Roboto"/>
                <a:cs typeface="Roboto"/>
              </a:rPr>
              <a:t>Delivery</a:t>
            </a:r>
            <a:r>
              <a:rPr sz="1100" spc="-15" dirty="0">
                <a:latin typeface="Roboto"/>
                <a:cs typeface="Roboto"/>
              </a:rPr>
              <a:t> </a:t>
            </a:r>
            <a:r>
              <a:rPr sz="1100" dirty="0">
                <a:latin typeface="Roboto"/>
                <a:cs typeface="Roboto"/>
              </a:rPr>
              <a:t>Network</a:t>
            </a:r>
            <a:r>
              <a:rPr sz="1100" spc="-18" dirty="0">
                <a:latin typeface="Roboto"/>
                <a:cs typeface="Roboto"/>
              </a:rPr>
              <a:t> </a:t>
            </a:r>
            <a:r>
              <a:rPr sz="1100" dirty="0">
                <a:latin typeface="Roboto"/>
                <a:cs typeface="Roboto"/>
              </a:rPr>
              <a:t>(CDN)</a:t>
            </a:r>
            <a:r>
              <a:rPr sz="1100" spc="-18" dirty="0">
                <a:latin typeface="Roboto"/>
                <a:cs typeface="Roboto"/>
              </a:rPr>
              <a:t> </a:t>
            </a:r>
            <a:r>
              <a:rPr sz="1100" spc="-5" dirty="0">
                <a:latin typeface="Roboto"/>
                <a:cs typeface="Roboto"/>
              </a:rPr>
              <a:t>service</a:t>
            </a:r>
            <a:endParaRPr sz="1100">
              <a:latin typeface="Roboto"/>
              <a:cs typeface="Roboto"/>
            </a:endParaRPr>
          </a:p>
          <a:p>
            <a:pPr marL="1192848">
              <a:lnSpc>
                <a:spcPts val="1318"/>
              </a:lnSpc>
            </a:pPr>
            <a:r>
              <a:rPr sz="1100" dirty="0">
                <a:latin typeface="Roboto"/>
                <a:cs typeface="Roboto"/>
              </a:rPr>
              <a:t>It</a:t>
            </a:r>
            <a:r>
              <a:rPr sz="1100" spc="-20" dirty="0">
                <a:latin typeface="Roboto"/>
                <a:cs typeface="Roboto"/>
              </a:rPr>
              <a:t> </a:t>
            </a:r>
            <a:r>
              <a:rPr sz="1100" dirty="0">
                <a:latin typeface="Roboto"/>
                <a:cs typeface="Roboto"/>
              </a:rPr>
              <a:t>delivers</a:t>
            </a:r>
            <a:r>
              <a:rPr sz="1100" spc="-18" dirty="0">
                <a:latin typeface="Roboto"/>
                <a:cs typeface="Roboto"/>
              </a:rPr>
              <a:t> </a:t>
            </a:r>
            <a:r>
              <a:rPr sz="1100" dirty="0">
                <a:latin typeface="Roboto"/>
                <a:cs typeface="Roboto"/>
              </a:rPr>
              <a:t>your</a:t>
            </a:r>
            <a:r>
              <a:rPr sz="1100" spc="-20" dirty="0">
                <a:latin typeface="Roboto"/>
                <a:cs typeface="Roboto"/>
              </a:rPr>
              <a:t> </a:t>
            </a:r>
            <a:r>
              <a:rPr sz="1100" dirty="0">
                <a:latin typeface="Roboto"/>
                <a:cs typeface="Roboto"/>
              </a:rPr>
              <a:t>content</a:t>
            </a:r>
            <a:r>
              <a:rPr sz="1100" spc="-20" dirty="0">
                <a:latin typeface="Roboto"/>
                <a:cs typeface="Roboto"/>
              </a:rPr>
              <a:t> </a:t>
            </a:r>
            <a:r>
              <a:rPr sz="1100" dirty="0">
                <a:latin typeface="Roboto"/>
                <a:cs typeface="Roboto"/>
              </a:rPr>
              <a:t>through</a:t>
            </a:r>
            <a:r>
              <a:rPr sz="1100" spc="-18" dirty="0">
                <a:latin typeface="Roboto"/>
                <a:cs typeface="Roboto"/>
              </a:rPr>
              <a:t> </a:t>
            </a:r>
            <a:r>
              <a:rPr sz="1100" dirty="0">
                <a:latin typeface="Roboto"/>
                <a:cs typeface="Roboto"/>
              </a:rPr>
              <a:t>a</a:t>
            </a:r>
            <a:r>
              <a:rPr sz="1100" spc="-20" dirty="0">
                <a:latin typeface="Roboto"/>
                <a:cs typeface="Roboto"/>
              </a:rPr>
              <a:t> </a:t>
            </a:r>
            <a:r>
              <a:rPr sz="1100" dirty="0">
                <a:latin typeface="Roboto"/>
                <a:cs typeface="Roboto"/>
              </a:rPr>
              <a:t>worldwide</a:t>
            </a:r>
            <a:r>
              <a:rPr sz="1100" spc="-18" dirty="0">
                <a:latin typeface="Roboto"/>
                <a:cs typeface="Roboto"/>
              </a:rPr>
              <a:t> </a:t>
            </a:r>
            <a:r>
              <a:rPr sz="1100" dirty="0">
                <a:latin typeface="Roboto"/>
                <a:cs typeface="Roboto"/>
              </a:rPr>
              <a:t>network</a:t>
            </a:r>
            <a:r>
              <a:rPr sz="1100" spc="-20" dirty="0">
                <a:latin typeface="Roboto"/>
                <a:cs typeface="Roboto"/>
              </a:rPr>
              <a:t> </a:t>
            </a:r>
            <a:r>
              <a:rPr sz="1100" dirty="0">
                <a:latin typeface="Roboto"/>
                <a:cs typeface="Roboto"/>
              </a:rPr>
              <a:t>of</a:t>
            </a:r>
            <a:r>
              <a:rPr sz="1100" spc="-18" dirty="0">
                <a:latin typeface="Roboto"/>
                <a:cs typeface="Roboto"/>
              </a:rPr>
              <a:t> </a:t>
            </a:r>
            <a:r>
              <a:rPr sz="1100" dirty="0">
                <a:latin typeface="Roboto"/>
                <a:cs typeface="Roboto"/>
              </a:rPr>
              <a:t>data</a:t>
            </a:r>
            <a:r>
              <a:rPr sz="1100" spc="-20" dirty="0">
                <a:latin typeface="Roboto"/>
                <a:cs typeface="Roboto"/>
              </a:rPr>
              <a:t> </a:t>
            </a:r>
            <a:r>
              <a:rPr sz="1100" dirty="0">
                <a:latin typeface="Roboto"/>
                <a:cs typeface="Roboto"/>
              </a:rPr>
              <a:t>centers</a:t>
            </a:r>
            <a:r>
              <a:rPr sz="1100" spc="-18" dirty="0">
                <a:latin typeface="Roboto"/>
                <a:cs typeface="Roboto"/>
              </a:rPr>
              <a:t> </a:t>
            </a:r>
            <a:r>
              <a:rPr sz="1100" dirty="0">
                <a:latin typeface="Roboto"/>
                <a:cs typeface="Roboto"/>
              </a:rPr>
              <a:t>called</a:t>
            </a:r>
            <a:r>
              <a:rPr sz="1100" spc="-20" dirty="0">
                <a:latin typeface="Roboto"/>
                <a:cs typeface="Roboto"/>
              </a:rPr>
              <a:t> </a:t>
            </a:r>
            <a:r>
              <a:rPr sz="1100" dirty="0">
                <a:latin typeface="Roboto"/>
                <a:cs typeface="Roboto"/>
              </a:rPr>
              <a:t>edge</a:t>
            </a:r>
            <a:r>
              <a:rPr sz="1100" spc="-18" dirty="0">
                <a:latin typeface="Roboto"/>
                <a:cs typeface="Roboto"/>
              </a:rPr>
              <a:t> </a:t>
            </a:r>
            <a:r>
              <a:rPr sz="1100" dirty="0">
                <a:latin typeface="Roboto"/>
                <a:cs typeface="Roboto"/>
              </a:rPr>
              <a:t>locations.</a:t>
            </a:r>
            <a:r>
              <a:rPr sz="1100" spc="-20" dirty="0">
                <a:latin typeface="Roboto"/>
                <a:cs typeface="Roboto"/>
              </a:rPr>
              <a:t> </a:t>
            </a:r>
            <a:r>
              <a:rPr sz="1100" dirty="0">
                <a:latin typeface="Roboto"/>
                <a:cs typeface="Roboto"/>
              </a:rPr>
              <a:t>When</a:t>
            </a:r>
            <a:r>
              <a:rPr sz="1100" spc="-18" dirty="0">
                <a:latin typeface="Roboto"/>
                <a:cs typeface="Roboto"/>
              </a:rPr>
              <a:t> </a:t>
            </a:r>
            <a:r>
              <a:rPr sz="1100" dirty="0">
                <a:latin typeface="Roboto"/>
                <a:cs typeface="Roboto"/>
              </a:rPr>
              <a:t>a</a:t>
            </a:r>
            <a:r>
              <a:rPr sz="1100" spc="-20" dirty="0">
                <a:latin typeface="Roboto"/>
                <a:cs typeface="Roboto"/>
              </a:rPr>
              <a:t> </a:t>
            </a:r>
            <a:r>
              <a:rPr sz="1100" dirty="0">
                <a:latin typeface="Roboto"/>
                <a:cs typeface="Roboto"/>
              </a:rPr>
              <a:t>user</a:t>
            </a:r>
            <a:r>
              <a:rPr sz="1100" spc="-18" dirty="0">
                <a:latin typeface="Roboto"/>
                <a:cs typeface="Roboto"/>
              </a:rPr>
              <a:t> </a:t>
            </a:r>
            <a:r>
              <a:rPr sz="1100" dirty="0">
                <a:latin typeface="Roboto"/>
                <a:cs typeface="Roboto"/>
              </a:rPr>
              <a:t>requests</a:t>
            </a:r>
            <a:r>
              <a:rPr sz="1100" spc="-20" dirty="0">
                <a:latin typeface="Roboto"/>
                <a:cs typeface="Roboto"/>
              </a:rPr>
              <a:t> </a:t>
            </a:r>
            <a:r>
              <a:rPr sz="1100" spc="-5" dirty="0">
                <a:latin typeface="Roboto"/>
                <a:cs typeface="Roboto"/>
              </a:rPr>
              <a:t>content</a:t>
            </a:r>
            <a:endParaRPr sz="1100">
              <a:latin typeface="Roboto"/>
              <a:cs typeface="Roboto"/>
            </a:endParaRPr>
          </a:p>
          <a:p>
            <a:pPr marL="1192848" marR="87630">
              <a:lnSpc>
                <a:spcPct val="116500"/>
              </a:lnSpc>
            </a:pPr>
            <a:r>
              <a:rPr sz="1100" dirty="0">
                <a:latin typeface="Roboto"/>
                <a:cs typeface="Roboto"/>
              </a:rPr>
              <a:t>that</a:t>
            </a:r>
            <a:r>
              <a:rPr sz="1100" spc="-20" dirty="0">
                <a:latin typeface="Roboto"/>
                <a:cs typeface="Roboto"/>
              </a:rPr>
              <a:t> </a:t>
            </a:r>
            <a:r>
              <a:rPr sz="1100" dirty="0">
                <a:latin typeface="Roboto"/>
                <a:cs typeface="Roboto"/>
              </a:rPr>
              <a:t>you’re</a:t>
            </a:r>
            <a:r>
              <a:rPr sz="1100" spc="-18" dirty="0">
                <a:latin typeface="Roboto"/>
                <a:cs typeface="Roboto"/>
              </a:rPr>
              <a:t> </a:t>
            </a:r>
            <a:r>
              <a:rPr sz="1100" dirty="0">
                <a:latin typeface="Roboto"/>
                <a:cs typeface="Roboto"/>
              </a:rPr>
              <a:t>serving</a:t>
            </a:r>
            <a:r>
              <a:rPr sz="1100" spc="-20" dirty="0">
                <a:latin typeface="Roboto"/>
                <a:cs typeface="Roboto"/>
              </a:rPr>
              <a:t> </a:t>
            </a:r>
            <a:r>
              <a:rPr sz="1100" dirty="0">
                <a:latin typeface="Roboto"/>
                <a:cs typeface="Roboto"/>
              </a:rPr>
              <a:t>with</a:t>
            </a:r>
            <a:r>
              <a:rPr sz="1100" spc="-18" dirty="0">
                <a:latin typeface="Roboto"/>
                <a:cs typeface="Roboto"/>
              </a:rPr>
              <a:t> </a:t>
            </a:r>
            <a:r>
              <a:rPr sz="1100" dirty="0">
                <a:latin typeface="Roboto"/>
                <a:cs typeface="Roboto"/>
              </a:rPr>
              <a:t>CloudFront,</a:t>
            </a:r>
            <a:r>
              <a:rPr sz="1100" spc="-18" dirty="0">
                <a:latin typeface="Roboto"/>
                <a:cs typeface="Roboto"/>
              </a:rPr>
              <a:t> </a:t>
            </a:r>
            <a:r>
              <a:rPr sz="1100" dirty="0">
                <a:latin typeface="Roboto"/>
                <a:cs typeface="Roboto"/>
              </a:rPr>
              <a:t>the</a:t>
            </a:r>
            <a:r>
              <a:rPr sz="1100" spc="-20" dirty="0">
                <a:latin typeface="Roboto"/>
                <a:cs typeface="Roboto"/>
              </a:rPr>
              <a:t> </a:t>
            </a:r>
            <a:r>
              <a:rPr sz="1100" dirty="0">
                <a:latin typeface="Roboto"/>
                <a:cs typeface="Roboto"/>
              </a:rPr>
              <a:t>user</a:t>
            </a:r>
            <a:r>
              <a:rPr sz="1100" spc="-18" dirty="0">
                <a:latin typeface="Roboto"/>
                <a:cs typeface="Roboto"/>
              </a:rPr>
              <a:t> </a:t>
            </a:r>
            <a:r>
              <a:rPr sz="1100" dirty="0">
                <a:latin typeface="Roboto"/>
                <a:cs typeface="Roboto"/>
              </a:rPr>
              <a:t>is</a:t>
            </a:r>
            <a:r>
              <a:rPr sz="1100" spc="-18" dirty="0">
                <a:latin typeface="Roboto"/>
                <a:cs typeface="Roboto"/>
              </a:rPr>
              <a:t> </a:t>
            </a:r>
            <a:r>
              <a:rPr sz="1100" dirty="0">
                <a:latin typeface="Roboto"/>
                <a:cs typeface="Roboto"/>
              </a:rPr>
              <a:t>routed</a:t>
            </a:r>
            <a:r>
              <a:rPr sz="1100" spc="-20" dirty="0">
                <a:latin typeface="Roboto"/>
                <a:cs typeface="Roboto"/>
              </a:rPr>
              <a:t> </a:t>
            </a:r>
            <a:r>
              <a:rPr sz="1100" dirty="0">
                <a:latin typeface="Roboto"/>
                <a:cs typeface="Roboto"/>
              </a:rPr>
              <a:t>to</a:t>
            </a:r>
            <a:r>
              <a:rPr sz="1100" spc="-18" dirty="0">
                <a:latin typeface="Roboto"/>
                <a:cs typeface="Roboto"/>
              </a:rPr>
              <a:t> </a:t>
            </a:r>
            <a:r>
              <a:rPr sz="1100" dirty="0">
                <a:latin typeface="Roboto"/>
                <a:cs typeface="Roboto"/>
              </a:rPr>
              <a:t>the</a:t>
            </a:r>
            <a:r>
              <a:rPr sz="1100" spc="-18" dirty="0">
                <a:latin typeface="Roboto"/>
                <a:cs typeface="Roboto"/>
              </a:rPr>
              <a:t> </a:t>
            </a:r>
            <a:r>
              <a:rPr sz="1100" dirty="0">
                <a:latin typeface="Roboto"/>
                <a:cs typeface="Roboto"/>
              </a:rPr>
              <a:t>edge</a:t>
            </a:r>
            <a:r>
              <a:rPr sz="1100" spc="-20" dirty="0">
                <a:latin typeface="Roboto"/>
                <a:cs typeface="Roboto"/>
              </a:rPr>
              <a:t> </a:t>
            </a:r>
            <a:r>
              <a:rPr sz="1100" dirty="0">
                <a:latin typeface="Roboto"/>
                <a:cs typeface="Roboto"/>
              </a:rPr>
              <a:t>location</a:t>
            </a:r>
            <a:r>
              <a:rPr sz="1100" spc="-18" dirty="0">
                <a:latin typeface="Roboto"/>
                <a:cs typeface="Roboto"/>
              </a:rPr>
              <a:t> </a:t>
            </a:r>
            <a:r>
              <a:rPr sz="1100" dirty="0">
                <a:latin typeface="Roboto"/>
                <a:cs typeface="Roboto"/>
              </a:rPr>
              <a:t>that</a:t>
            </a:r>
            <a:r>
              <a:rPr sz="1100" spc="-18" dirty="0">
                <a:latin typeface="Roboto"/>
                <a:cs typeface="Roboto"/>
              </a:rPr>
              <a:t> </a:t>
            </a:r>
            <a:r>
              <a:rPr sz="1100" dirty="0">
                <a:latin typeface="Roboto"/>
                <a:cs typeface="Roboto"/>
              </a:rPr>
              <a:t>provides</a:t>
            </a:r>
            <a:r>
              <a:rPr sz="1100" spc="-20" dirty="0">
                <a:latin typeface="Roboto"/>
                <a:cs typeface="Roboto"/>
              </a:rPr>
              <a:t> </a:t>
            </a:r>
            <a:r>
              <a:rPr sz="1100" dirty="0">
                <a:latin typeface="Roboto"/>
                <a:cs typeface="Roboto"/>
              </a:rPr>
              <a:t>the</a:t>
            </a:r>
            <a:r>
              <a:rPr sz="1100" spc="-18" dirty="0">
                <a:latin typeface="Roboto"/>
                <a:cs typeface="Roboto"/>
              </a:rPr>
              <a:t> </a:t>
            </a:r>
            <a:r>
              <a:rPr sz="1100" dirty="0">
                <a:latin typeface="Roboto"/>
                <a:cs typeface="Roboto"/>
              </a:rPr>
              <a:t>lowest</a:t>
            </a:r>
            <a:r>
              <a:rPr sz="1100" spc="-20" dirty="0">
                <a:latin typeface="Roboto"/>
                <a:cs typeface="Roboto"/>
              </a:rPr>
              <a:t> </a:t>
            </a:r>
            <a:r>
              <a:rPr sz="1100" dirty="0">
                <a:latin typeface="Roboto"/>
                <a:cs typeface="Roboto"/>
              </a:rPr>
              <a:t>latency,</a:t>
            </a:r>
            <a:r>
              <a:rPr sz="1100" spc="-18" dirty="0">
                <a:latin typeface="Roboto"/>
                <a:cs typeface="Roboto"/>
              </a:rPr>
              <a:t> </a:t>
            </a:r>
            <a:r>
              <a:rPr sz="1100" dirty="0">
                <a:latin typeface="Roboto"/>
                <a:cs typeface="Roboto"/>
              </a:rPr>
              <a:t>so</a:t>
            </a:r>
            <a:r>
              <a:rPr sz="1100" spc="-18" dirty="0">
                <a:latin typeface="Roboto"/>
                <a:cs typeface="Roboto"/>
              </a:rPr>
              <a:t> </a:t>
            </a:r>
            <a:r>
              <a:rPr sz="1100" dirty="0">
                <a:latin typeface="Roboto"/>
                <a:cs typeface="Roboto"/>
              </a:rPr>
              <a:t>that</a:t>
            </a:r>
            <a:r>
              <a:rPr sz="1100" spc="-20" dirty="0">
                <a:latin typeface="Roboto"/>
                <a:cs typeface="Roboto"/>
              </a:rPr>
              <a:t> </a:t>
            </a:r>
            <a:r>
              <a:rPr sz="1100" spc="-5" dirty="0">
                <a:latin typeface="Roboto"/>
                <a:cs typeface="Roboto"/>
              </a:rPr>
              <a:t>content </a:t>
            </a:r>
            <a:r>
              <a:rPr sz="1100" dirty="0">
                <a:latin typeface="Roboto"/>
                <a:cs typeface="Roboto"/>
              </a:rPr>
              <a:t>is</a:t>
            </a:r>
            <a:r>
              <a:rPr sz="1100" spc="-20" dirty="0">
                <a:latin typeface="Roboto"/>
                <a:cs typeface="Roboto"/>
              </a:rPr>
              <a:t> </a:t>
            </a:r>
            <a:r>
              <a:rPr sz="1100" dirty="0">
                <a:latin typeface="Roboto"/>
                <a:cs typeface="Roboto"/>
              </a:rPr>
              <a:t>delivered</a:t>
            </a:r>
            <a:r>
              <a:rPr sz="1100" spc="-18" dirty="0">
                <a:latin typeface="Roboto"/>
                <a:cs typeface="Roboto"/>
              </a:rPr>
              <a:t> </a:t>
            </a:r>
            <a:r>
              <a:rPr sz="1100" dirty="0">
                <a:latin typeface="Roboto"/>
                <a:cs typeface="Roboto"/>
              </a:rPr>
              <a:t>with</a:t>
            </a:r>
            <a:r>
              <a:rPr sz="1100" spc="-18" dirty="0">
                <a:latin typeface="Roboto"/>
                <a:cs typeface="Roboto"/>
              </a:rPr>
              <a:t> </a:t>
            </a:r>
            <a:r>
              <a:rPr sz="1100" dirty="0">
                <a:latin typeface="Roboto"/>
                <a:cs typeface="Roboto"/>
              </a:rPr>
              <a:t>the</a:t>
            </a:r>
            <a:r>
              <a:rPr sz="1100" spc="-18" dirty="0">
                <a:latin typeface="Roboto"/>
                <a:cs typeface="Roboto"/>
              </a:rPr>
              <a:t> </a:t>
            </a:r>
            <a:r>
              <a:rPr sz="1100" dirty="0">
                <a:latin typeface="Roboto"/>
                <a:cs typeface="Roboto"/>
              </a:rPr>
              <a:t>best</a:t>
            </a:r>
            <a:r>
              <a:rPr sz="1100" spc="-20" dirty="0">
                <a:latin typeface="Roboto"/>
                <a:cs typeface="Roboto"/>
              </a:rPr>
              <a:t> </a:t>
            </a:r>
            <a:r>
              <a:rPr sz="1100" dirty="0">
                <a:latin typeface="Roboto"/>
                <a:cs typeface="Roboto"/>
              </a:rPr>
              <a:t>possible</a:t>
            </a:r>
            <a:r>
              <a:rPr sz="1100" spc="-18" dirty="0">
                <a:latin typeface="Roboto"/>
                <a:cs typeface="Roboto"/>
              </a:rPr>
              <a:t> </a:t>
            </a:r>
            <a:r>
              <a:rPr sz="1100" dirty="0">
                <a:latin typeface="Roboto"/>
                <a:cs typeface="Roboto"/>
              </a:rPr>
              <a:t>performance.</a:t>
            </a:r>
            <a:r>
              <a:rPr sz="1100" spc="-18" dirty="0">
                <a:latin typeface="Roboto"/>
                <a:cs typeface="Roboto"/>
              </a:rPr>
              <a:t> </a:t>
            </a:r>
            <a:r>
              <a:rPr sz="1100" dirty="0">
                <a:latin typeface="Roboto"/>
                <a:cs typeface="Roboto"/>
              </a:rPr>
              <a:t>If</a:t>
            </a:r>
            <a:r>
              <a:rPr sz="1100" spc="-18" dirty="0">
                <a:latin typeface="Roboto"/>
                <a:cs typeface="Roboto"/>
              </a:rPr>
              <a:t> </a:t>
            </a:r>
            <a:r>
              <a:rPr sz="1100" dirty="0">
                <a:latin typeface="Roboto"/>
                <a:cs typeface="Roboto"/>
              </a:rPr>
              <a:t>the</a:t>
            </a:r>
            <a:r>
              <a:rPr sz="1100" spc="-20" dirty="0">
                <a:latin typeface="Roboto"/>
                <a:cs typeface="Roboto"/>
              </a:rPr>
              <a:t> </a:t>
            </a:r>
            <a:r>
              <a:rPr sz="1100" dirty="0">
                <a:latin typeface="Roboto"/>
                <a:cs typeface="Roboto"/>
              </a:rPr>
              <a:t>content</a:t>
            </a:r>
            <a:r>
              <a:rPr sz="1100" spc="-18" dirty="0">
                <a:latin typeface="Roboto"/>
                <a:cs typeface="Roboto"/>
              </a:rPr>
              <a:t> </a:t>
            </a:r>
            <a:r>
              <a:rPr sz="1100" dirty="0">
                <a:latin typeface="Roboto"/>
                <a:cs typeface="Roboto"/>
              </a:rPr>
              <a:t>is</a:t>
            </a:r>
            <a:r>
              <a:rPr sz="1100" spc="-18" dirty="0">
                <a:latin typeface="Roboto"/>
                <a:cs typeface="Roboto"/>
              </a:rPr>
              <a:t> </a:t>
            </a:r>
            <a:r>
              <a:rPr sz="1100" dirty="0">
                <a:latin typeface="Roboto"/>
                <a:cs typeface="Roboto"/>
              </a:rPr>
              <a:t>already</a:t>
            </a:r>
            <a:r>
              <a:rPr sz="1100" spc="-18" dirty="0">
                <a:latin typeface="Roboto"/>
                <a:cs typeface="Roboto"/>
              </a:rPr>
              <a:t> </a:t>
            </a:r>
            <a:r>
              <a:rPr sz="1100" dirty="0">
                <a:latin typeface="Roboto"/>
                <a:cs typeface="Roboto"/>
              </a:rPr>
              <a:t>in</a:t>
            </a:r>
            <a:r>
              <a:rPr sz="1100" spc="-18" dirty="0">
                <a:latin typeface="Roboto"/>
                <a:cs typeface="Roboto"/>
              </a:rPr>
              <a:t> </a:t>
            </a:r>
            <a:r>
              <a:rPr sz="1100" dirty="0">
                <a:latin typeface="Roboto"/>
                <a:cs typeface="Roboto"/>
              </a:rPr>
              <a:t>the</a:t>
            </a:r>
            <a:r>
              <a:rPr sz="1100" spc="-20" dirty="0">
                <a:latin typeface="Roboto"/>
                <a:cs typeface="Roboto"/>
              </a:rPr>
              <a:t> </a:t>
            </a:r>
            <a:r>
              <a:rPr sz="1100" dirty="0">
                <a:latin typeface="Roboto"/>
                <a:cs typeface="Roboto"/>
              </a:rPr>
              <a:t>edge</a:t>
            </a:r>
            <a:r>
              <a:rPr sz="1100" spc="-18" dirty="0">
                <a:latin typeface="Roboto"/>
                <a:cs typeface="Roboto"/>
              </a:rPr>
              <a:t> </a:t>
            </a:r>
            <a:r>
              <a:rPr sz="1100" dirty="0">
                <a:latin typeface="Roboto"/>
                <a:cs typeface="Roboto"/>
              </a:rPr>
              <a:t>location</a:t>
            </a:r>
            <a:r>
              <a:rPr sz="1100" spc="-18" dirty="0">
                <a:latin typeface="Roboto"/>
                <a:cs typeface="Roboto"/>
              </a:rPr>
              <a:t> </a:t>
            </a:r>
            <a:r>
              <a:rPr sz="1100" dirty="0">
                <a:latin typeface="Roboto"/>
                <a:cs typeface="Roboto"/>
              </a:rPr>
              <a:t>with</a:t>
            </a:r>
            <a:r>
              <a:rPr sz="1100" spc="-18" dirty="0">
                <a:latin typeface="Roboto"/>
                <a:cs typeface="Roboto"/>
              </a:rPr>
              <a:t> </a:t>
            </a:r>
            <a:r>
              <a:rPr sz="1100" dirty="0">
                <a:latin typeface="Roboto"/>
                <a:cs typeface="Roboto"/>
              </a:rPr>
              <a:t>the</a:t>
            </a:r>
            <a:r>
              <a:rPr sz="1100" spc="-20" dirty="0">
                <a:latin typeface="Roboto"/>
                <a:cs typeface="Roboto"/>
              </a:rPr>
              <a:t> </a:t>
            </a:r>
            <a:r>
              <a:rPr sz="1100" dirty="0">
                <a:latin typeface="Roboto"/>
                <a:cs typeface="Roboto"/>
              </a:rPr>
              <a:t>lowest</a:t>
            </a:r>
            <a:r>
              <a:rPr sz="1100" spc="-18" dirty="0">
                <a:latin typeface="Roboto"/>
                <a:cs typeface="Roboto"/>
              </a:rPr>
              <a:t> </a:t>
            </a:r>
            <a:r>
              <a:rPr sz="1100" spc="-5" dirty="0">
                <a:latin typeface="Roboto"/>
                <a:cs typeface="Roboto"/>
              </a:rPr>
              <a:t>latency, </a:t>
            </a:r>
            <a:r>
              <a:rPr sz="1100" dirty="0">
                <a:latin typeface="Roboto"/>
                <a:cs typeface="Roboto"/>
              </a:rPr>
              <a:t>CloudFront</a:t>
            </a:r>
            <a:r>
              <a:rPr sz="1100" spc="-20" dirty="0">
                <a:latin typeface="Roboto"/>
                <a:cs typeface="Roboto"/>
              </a:rPr>
              <a:t> </a:t>
            </a:r>
            <a:r>
              <a:rPr sz="1100" dirty="0">
                <a:latin typeface="Roboto"/>
                <a:cs typeface="Roboto"/>
              </a:rPr>
              <a:t>delivers</a:t>
            </a:r>
            <a:r>
              <a:rPr sz="1100" spc="-18" dirty="0">
                <a:latin typeface="Roboto"/>
                <a:cs typeface="Roboto"/>
              </a:rPr>
              <a:t> </a:t>
            </a:r>
            <a:r>
              <a:rPr sz="1100" dirty="0">
                <a:latin typeface="Roboto"/>
                <a:cs typeface="Roboto"/>
              </a:rPr>
              <a:t>it</a:t>
            </a:r>
            <a:r>
              <a:rPr sz="1100" spc="-18" dirty="0">
                <a:latin typeface="Roboto"/>
                <a:cs typeface="Roboto"/>
              </a:rPr>
              <a:t> </a:t>
            </a:r>
            <a:r>
              <a:rPr sz="1100" dirty="0">
                <a:latin typeface="Roboto"/>
                <a:cs typeface="Roboto"/>
              </a:rPr>
              <a:t>immediately.</a:t>
            </a:r>
            <a:r>
              <a:rPr sz="1100" spc="-18" dirty="0">
                <a:latin typeface="Roboto"/>
                <a:cs typeface="Roboto"/>
              </a:rPr>
              <a:t> </a:t>
            </a:r>
            <a:r>
              <a:rPr sz="1100" dirty="0">
                <a:latin typeface="Roboto"/>
                <a:cs typeface="Roboto"/>
              </a:rPr>
              <a:t>If</a:t>
            </a:r>
            <a:r>
              <a:rPr sz="1100" spc="-18" dirty="0">
                <a:latin typeface="Roboto"/>
                <a:cs typeface="Roboto"/>
              </a:rPr>
              <a:t> </a:t>
            </a:r>
            <a:r>
              <a:rPr sz="1100" dirty="0">
                <a:latin typeface="Roboto"/>
                <a:cs typeface="Roboto"/>
              </a:rPr>
              <a:t>the</a:t>
            </a:r>
            <a:r>
              <a:rPr sz="1100" spc="-18" dirty="0">
                <a:latin typeface="Roboto"/>
                <a:cs typeface="Roboto"/>
              </a:rPr>
              <a:t> </a:t>
            </a:r>
            <a:r>
              <a:rPr sz="1100" dirty="0">
                <a:latin typeface="Roboto"/>
                <a:cs typeface="Roboto"/>
              </a:rPr>
              <a:t>content</a:t>
            </a:r>
            <a:r>
              <a:rPr sz="1100" spc="-18" dirty="0">
                <a:latin typeface="Roboto"/>
                <a:cs typeface="Roboto"/>
              </a:rPr>
              <a:t> </a:t>
            </a:r>
            <a:r>
              <a:rPr sz="1100" dirty="0">
                <a:latin typeface="Roboto"/>
                <a:cs typeface="Roboto"/>
              </a:rPr>
              <a:t>is</a:t>
            </a:r>
            <a:r>
              <a:rPr sz="1100" spc="-18" dirty="0">
                <a:latin typeface="Roboto"/>
                <a:cs typeface="Roboto"/>
              </a:rPr>
              <a:t> </a:t>
            </a:r>
            <a:r>
              <a:rPr sz="1100" dirty="0">
                <a:latin typeface="Roboto"/>
                <a:cs typeface="Roboto"/>
              </a:rPr>
              <a:t>not</a:t>
            </a:r>
            <a:r>
              <a:rPr sz="1100" spc="-18" dirty="0">
                <a:latin typeface="Roboto"/>
                <a:cs typeface="Roboto"/>
              </a:rPr>
              <a:t> </a:t>
            </a:r>
            <a:r>
              <a:rPr sz="1100" dirty="0">
                <a:latin typeface="Roboto"/>
                <a:cs typeface="Roboto"/>
              </a:rPr>
              <a:t>in</a:t>
            </a:r>
            <a:r>
              <a:rPr sz="1100" spc="-18" dirty="0">
                <a:latin typeface="Roboto"/>
                <a:cs typeface="Roboto"/>
              </a:rPr>
              <a:t> </a:t>
            </a:r>
            <a:r>
              <a:rPr sz="1100" dirty="0">
                <a:latin typeface="Roboto"/>
                <a:cs typeface="Roboto"/>
              </a:rPr>
              <a:t>that</a:t>
            </a:r>
            <a:r>
              <a:rPr sz="1100" spc="-18" dirty="0">
                <a:latin typeface="Roboto"/>
                <a:cs typeface="Roboto"/>
              </a:rPr>
              <a:t> </a:t>
            </a:r>
            <a:r>
              <a:rPr sz="1100" dirty="0">
                <a:latin typeface="Roboto"/>
                <a:cs typeface="Roboto"/>
              </a:rPr>
              <a:t>edge</a:t>
            </a:r>
            <a:r>
              <a:rPr sz="1100" spc="-18" dirty="0">
                <a:latin typeface="Roboto"/>
                <a:cs typeface="Roboto"/>
              </a:rPr>
              <a:t> </a:t>
            </a:r>
            <a:r>
              <a:rPr sz="1100" dirty="0">
                <a:latin typeface="Roboto"/>
                <a:cs typeface="Roboto"/>
              </a:rPr>
              <a:t>location,</a:t>
            </a:r>
            <a:r>
              <a:rPr sz="1100" spc="-18" dirty="0">
                <a:latin typeface="Roboto"/>
                <a:cs typeface="Roboto"/>
              </a:rPr>
              <a:t> </a:t>
            </a:r>
            <a:r>
              <a:rPr sz="1100" dirty="0">
                <a:latin typeface="Roboto"/>
                <a:cs typeface="Roboto"/>
              </a:rPr>
              <a:t>CloudFront</a:t>
            </a:r>
            <a:r>
              <a:rPr sz="1100" spc="-18" dirty="0">
                <a:latin typeface="Roboto"/>
                <a:cs typeface="Roboto"/>
              </a:rPr>
              <a:t> </a:t>
            </a:r>
            <a:r>
              <a:rPr sz="1100" dirty="0">
                <a:latin typeface="Roboto"/>
                <a:cs typeface="Roboto"/>
              </a:rPr>
              <a:t>retrieves</a:t>
            </a:r>
            <a:r>
              <a:rPr sz="1100" spc="-18" dirty="0">
                <a:latin typeface="Roboto"/>
                <a:cs typeface="Roboto"/>
              </a:rPr>
              <a:t> </a:t>
            </a:r>
            <a:r>
              <a:rPr sz="1100" dirty="0">
                <a:latin typeface="Roboto"/>
                <a:cs typeface="Roboto"/>
              </a:rPr>
              <a:t>it</a:t>
            </a:r>
            <a:r>
              <a:rPr sz="1100" spc="-18" dirty="0">
                <a:latin typeface="Roboto"/>
                <a:cs typeface="Roboto"/>
              </a:rPr>
              <a:t> </a:t>
            </a:r>
            <a:r>
              <a:rPr sz="1100" dirty="0">
                <a:latin typeface="Roboto"/>
                <a:cs typeface="Roboto"/>
              </a:rPr>
              <a:t>from</a:t>
            </a:r>
            <a:r>
              <a:rPr sz="1100" spc="-18" dirty="0">
                <a:latin typeface="Roboto"/>
                <a:cs typeface="Roboto"/>
              </a:rPr>
              <a:t> </a:t>
            </a:r>
            <a:r>
              <a:rPr sz="1100" dirty="0">
                <a:latin typeface="Roboto"/>
                <a:cs typeface="Roboto"/>
              </a:rPr>
              <a:t>an</a:t>
            </a:r>
            <a:r>
              <a:rPr sz="1100" spc="-18" dirty="0">
                <a:latin typeface="Roboto"/>
                <a:cs typeface="Roboto"/>
              </a:rPr>
              <a:t> </a:t>
            </a:r>
            <a:r>
              <a:rPr sz="1100" dirty="0">
                <a:latin typeface="Roboto"/>
                <a:cs typeface="Roboto"/>
              </a:rPr>
              <a:t>origin</a:t>
            </a:r>
            <a:r>
              <a:rPr sz="1100" spc="-18" dirty="0">
                <a:latin typeface="Roboto"/>
                <a:cs typeface="Roboto"/>
              </a:rPr>
              <a:t> </a:t>
            </a:r>
            <a:r>
              <a:rPr sz="1100" spc="-10" dirty="0">
                <a:latin typeface="Roboto"/>
                <a:cs typeface="Roboto"/>
              </a:rPr>
              <a:t>that </a:t>
            </a:r>
            <a:r>
              <a:rPr sz="1100" dirty="0">
                <a:latin typeface="Roboto"/>
                <a:cs typeface="Roboto"/>
              </a:rPr>
              <a:t>you’ve</a:t>
            </a:r>
            <a:r>
              <a:rPr sz="1100" spc="-13" dirty="0">
                <a:latin typeface="Roboto"/>
                <a:cs typeface="Roboto"/>
              </a:rPr>
              <a:t> </a:t>
            </a:r>
            <a:r>
              <a:rPr sz="1100" spc="-5" dirty="0">
                <a:latin typeface="Roboto"/>
                <a:cs typeface="Roboto"/>
              </a:rPr>
              <a:t>defined</a:t>
            </a:r>
            <a:endParaRPr sz="1100">
              <a:latin typeface="Roboto"/>
              <a:cs typeface="Roboto"/>
            </a:endParaRPr>
          </a:p>
          <a:p>
            <a:pPr marL="237808">
              <a:spcBef>
                <a:spcPts val="878"/>
              </a:spcBef>
              <a:tabLst>
                <a:tab pos="1192848" algn="l"/>
              </a:tabLst>
            </a:pPr>
            <a:r>
              <a:rPr sz="1650" b="1" baseline="5050" dirty="0">
                <a:latin typeface="Roboto"/>
                <a:cs typeface="Roboto"/>
              </a:rPr>
              <a:t>Protocols</a:t>
            </a:r>
            <a:r>
              <a:rPr sz="1650" b="1" spc="-79" baseline="5050" dirty="0">
                <a:latin typeface="Roboto"/>
                <a:cs typeface="Roboto"/>
              </a:rPr>
              <a:t> </a:t>
            </a:r>
            <a:r>
              <a:rPr sz="1650" b="1" spc="-19" baseline="5050" dirty="0">
                <a:latin typeface="Roboto"/>
                <a:cs typeface="Roboto"/>
              </a:rPr>
              <a:t>and</a:t>
            </a:r>
            <a:r>
              <a:rPr sz="1650" b="1" baseline="5050" dirty="0">
                <a:latin typeface="Roboto"/>
                <a:cs typeface="Roboto"/>
              </a:rPr>
              <a:t>	</a:t>
            </a:r>
            <a:r>
              <a:rPr sz="1100" dirty="0">
                <a:latin typeface="Roboto"/>
                <a:cs typeface="Roboto"/>
              </a:rPr>
              <a:t>supports</a:t>
            </a:r>
            <a:r>
              <a:rPr sz="1100" spc="-23" dirty="0">
                <a:latin typeface="Roboto"/>
                <a:cs typeface="Roboto"/>
              </a:rPr>
              <a:t> </a:t>
            </a:r>
            <a:r>
              <a:rPr sz="1100" dirty="0">
                <a:latin typeface="Roboto"/>
                <a:cs typeface="Roboto"/>
              </a:rPr>
              <a:t>the</a:t>
            </a:r>
            <a:r>
              <a:rPr sz="1100" spc="-20" dirty="0">
                <a:latin typeface="Roboto"/>
                <a:cs typeface="Roboto"/>
              </a:rPr>
              <a:t> </a:t>
            </a:r>
            <a:r>
              <a:rPr sz="1100" dirty="0">
                <a:latin typeface="Roboto"/>
                <a:cs typeface="Roboto"/>
              </a:rPr>
              <a:t>WebSocket</a:t>
            </a:r>
            <a:r>
              <a:rPr sz="1100" spc="-20" dirty="0">
                <a:latin typeface="Roboto"/>
                <a:cs typeface="Roboto"/>
              </a:rPr>
              <a:t> </a:t>
            </a:r>
            <a:r>
              <a:rPr sz="1100" dirty="0">
                <a:latin typeface="Roboto"/>
                <a:cs typeface="Roboto"/>
              </a:rPr>
              <a:t>protocol</a:t>
            </a:r>
            <a:r>
              <a:rPr sz="1100" spc="-20" dirty="0">
                <a:latin typeface="Roboto"/>
                <a:cs typeface="Roboto"/>
              </a:rPr>
              <a:t> </a:t>
            </a:r>
            <a:r>
              <a:rPr sz="1100" dirty="0">
                <a:latin typeface="Roboto"/>
                <a:cs typeface="Roboto"/>
              </a:rPr>
              <a:t>as</a:t>
            </a:r>
            <a:r>
              <a:rPr sz="1100" spc="-20" dirty="0">
                <a:latin typeface="Roboto"/>
                <a:cs typeface="Roboto"/>
              </a:rPr>
              <a:t> </a:t>
            </a:r>
            <a:r>
              <a:rPr sz="1100" dirty="0">
                <a:latin typeface="Roboto"/>
                <a:cs typeface="Roboto"/>
              </a:rPr>
              <a:t>well</a:t>
            </a:r>
            <a:r>
              <a:rPr sz="1100" spc="-20" dirty="0">
                <a:latin typeface="Roboto"/>
                <a:cs typeface="Roboto"/>
              </a:rPr>
              <a:t> </a:t>
            </a:r>
            <a:r>
              <a:rPr sz="1100" dirty="0">
                <a:latin typeface="Roboto"/>
                <a:cs typeface="Roboto"/>
              </a:rPr>
              <a:t>as</a:t>
            </a:r>
            <a:r>
              <a:rPr sz="1100" spc="-20" dirty="0">
                <a:latin typeface="Roboto"/>
                <a:cs typeface="Roboto"/>
              </a:rPr>
              <a:t> </a:t>
            </a:r>
            <a:r>
              <a:rPr sz="1100" dirty="0">
                <a:latin typeface="Roboto"/>
                <a:cs typeface="Roboto"/>
              </a:rPr>
              <a:t>the</a:t>
            </a:r>
            <a:r>
              <a:rPr sz="1100" spc="-20" dirty="0">
                <a:latin typeface="Roboto"/>
                <a:cs typeface="Roboto"/>
              </a:rPr>
              <a:t> </a:t>
            </a:r>
            <a:r>
              <a:rPr sz="1100" dirty="0">
                <a:latin typeface="Roboto"/>
                <a:cs typeface="Roboto"/>
              </a:rPr>
              <a:t>HTTP</a:t>
            </a:r>
            <a:r>
              <a:rPr sz="1100" spc="-20" dirty="0">
                <a:latin typeface="Roboto"/>
                <a:cs typeface="Roboto"/>
              </a:rPr>
              <a:t> </a:t>
            </a:r>
            <a:r>
              <a:rPr sz="1100" dirty="0">
                <a:latin typeface="Roboto"/>
                <a:cs typeface="Roboto"/>
              </a:rPr>
              <a:t>protocol,</a:t>
            </a:r>
            <a:r>
              <a:rPr sz="1100" spc="-20" dirty="0">
                <a:latin typeface="Roboto"/>
                <a:cs typeface="Roboto"/>
              </a:rPr>
              <a:t> </a:t>
            </a:r>
            <a:r>
              <a:rPr sz="1100" dirty="0">
                <a:latin typeface="Roboto"/>
                <a:cs typeface="Roboto"/>
              </a:rPr>
              <a:t>and</a:t>
            </a:r>
            <a:r>
              <a:rPr sz="1100" spc="-20" dirty="0">
                <a:latin typeface="Roboto"/>
                <a:cs typeface="Roboto"/>
              </a:rPr>
              <a:t> </a:t>
            </a:r>
            <a:r>
              <a:rPr sz="1100" dirty="0">
                <a:latin typeface="Roboto"/>
                <a:cs typeface="Roboto"/>
              </a:rPr>
              <a:t>HTTP</a:t>
            </a:r>
            <a:r>
              <a:rPr sz="1100" spc="-20" dirty="0">
                <a:latin typeface="Roboto"/>
                <a:cs typeface="Roboto"/>
              </a:rPr>
              <a:t> </a:t>
            </a:r>
            <a:r>
              <a:rPr sz="1100" dirty="0">
                <a:latin typeface="Roboto"/>
                <a:cs typeface="Roboto"/>
              </a:rPr>
              <a:t>methods:</a:t>
            </a:r>
            <a:r>
              <a:rPr sz="1100" spc="-20" dirty="0">
                <a:latin typeface="Roboto"/>
                <a:cs typeface="Roboto"/>
              </a:rPr>
              <a:t> </a:t>
            </a:r>
            <a:r>
              <a:rPr sz="1100" dirty="0">
                <a:latin typeface="Roboto"/>
                <a:cs typeface="Roboto"/>
              </a:rPr>
              <a:t>GET,</a:t>
            </a:r>
            <a:r>
              <a:rPr sz="1100" spc="-20" dirty="0">
                <a:latin typeface="Roboto"/>
                <a:cs typeface="Roboto"/>
              </a:rPr>
              <a:t> </a:t>
            </a:r>
            <a:r>
              <a:rPr sz="1100" dirty="0">
                <a:latin typeface="Roboto"/>
                <a:cs typeface="Roboto"/>
              </a:rPr>
              <a:t>HEAD,</a:t>
            </a:r>
            <a:r>
              <a:rPr sz="1100" spc="-20" dirty="0">
                <a:latin typeface="Roboto"/>
                <a:cs typeface="Roboto"/>
              </a:rPr>
              <a:t> </a:t>
            </a:r>
            <a:r>
              <a:rPr sz="1100" dirty="0">
                <a:latin typeface="Roboto"/>
                <a:cs typeface="Roboto"/>
              </a:rPr>
              <a:t>POST,</a:t>
            </a:r>
            <a:r>
              <a:rPr sz="1100" spc="-20" dirty="0">
                <a:latin typeface="Roboto"/>
                <a:cs typeface="Roboto"/>
              </a:rPr>
              <a:t> </a:t>
            </a:r>
            <a:r>
              <a:rPr sz="1100" dirty="0">
                <a:latin typeface="Roboto"/>
                <a:cs typeface="Roboto"/>
              </a:rPr>
              <a:t>PUT,</a:t>
            </a:r>
            <a:r>
              <a:rPr sz="1100" spc="-20" dirty="0">
                <a:latin typeface="Roboto"/>
                <a:cs typeface="Roboto"/>
              </a:rPr>
              <a:t> </a:t>
            </a:r>
            <a:r>
              <a:rPr sz="1100" spc="-5" dirty="0">
                <a:latin typeface="Roboto"/>
                <a:cs typeface="Roboto"/>
              </a:rPr>
              <a:t>DELETE,</a:t>
            </a:r>
            <a:endParaRPr sz="1100">
              <a:latin typeface="Roboto"/>
              <a:cs typeface="Roboto"/>
            </a:endParaRPr>
          </a:p>
          <a:p>
            <a:pPr marL="25400">
              <a:spcBef>
                <a:spcPts val="108"/>
              </a:spcBef>
              <a:tabLst>
                <a:tab pos="1192848" algn="l"/>
              </a:tabLst>
            </a:pPr>
            <a:r>
              <a:rPr sz="1100" b="1" dirty="0">
                <a:latin typeface="Roboto"/>
                <a:cs typeface="Roboto"/>
              </a:rPr>
              <a:t>Methods</a:t>
            </a:r>
            <a:r>
              <a:rPr sz="1100" b="1" spc="-23" dirty="0">
                <a:latin typeface="Roboto"/>
                <a:cs typeface="Roboto"/>
              </a:rPr>
              <a:t> </a:t>
            </a:r>
            <a:r>
              <a:rPr sz="1100" b="1" spc="-5" dirty="0">
                <a:latin typeface="Roboto"/>
                <a:cs typeface="Roboto"/>
              </a:rPr>
              <a:t>Support</a:t>
            </a:r>
            <a:r>
              <a:rPr sz="1100" b="1" dirty="0">
                <a:latin typeface="Roboto"/>
                <a:cs typeface="Roboto"/>
              </a:rPr>
              <a:t>	</a:t>
            </a:r>
            <a:r>
              <a:rPr sz="1650" baseline="-5050" dirty="0">
                <a:latin typeface="Roboto"/>
                <a:cs typeface="Roboto"/>
              </a:rPr>
              <a:t>OPTIONS,</a:t>
            </a:r>
            <a:r>
              <a:rPr sz="1650" spc="-38" baseline="-5050" dirty="0">
                <a:latin typeface="Roboto"/>
                <a:cs typeface="Roboto"/>
              </a:rPr>
              <a:t> </a:t>
            </a:r>
            <a:r>
              <a:rPr sz="1650" spc="-8" baseline="-5050" dirty="0">
                <a:latin typeface="Roboto"/>
                <a:cs typeface="Roboto"/>
              </a:rPr>
              <a:t>PATCH.</a:t>
            </a:r>
            <a:endParaRPr sz="1650" baseline="-5050">
              <a:latin typeface="Roboto"/>
              <a:cs typeface="Roboto"/>
            </a:endParaRPr>
          </a:p>
          <a:p>
            <a:pPr marL="149225">
              <a:spcBef>
                <a:spcPts val="915"/>
              </a:spcBef>
              <a:tabLst>
                <a:tab pos="1192848" algn="l"/>
              </a:tabLst>
            </a:pPr>
            <a:r>
              <a:rPr sz="1650" b="1" baseline="5050" dirty="0">
                <a:latin typeface="Roboto"/>
                <a:cs typeface="Roboto"/>
              </a:rPr>
              <a:t>Understand</a:t>
            </a:r>
            <a:r>
              <a:rPr sz="1650" b="1" spc="-64" baseline="5050" dirty="0">
                <a:latin typeface="Roboto"/>
                <a:cs typeface="Roboto"/>
              </a:rPr>
              <a:t> </a:t>
            </a:r>
            <a:r>
              <a:rPr sz="1650" b="1" spc="-19" baseline="5050" dirty="0">
                <a:latin typeface="Roboto"/>
                <a:cs typeface="Roboto"/>
              </a:rPr>
              <a:t>the</a:t>
            </a:r>
            <a:r>
              <a:rPr sz="1650" b="1" baseline="5050" dirty="0">
                <a:latin typeface="Roboto"/>
                <a:cs typeface="Roboto"/>
              </a:rPr>
              <a:t>	</a:t>
            </a:r>
            <a:r>
              <a:rPr sz="1100" dirty="0">
                <a:latin typeface="Roboto"/>
                <a:cs typeface="Roboto"/>
              </a:rPr>
              <a:t>Origin,</a:t>
            </a:r>
            <a:r>
              <a:rPr sz="1100" spc="-30" dirty="0">
                <a:latin typeface="Roboto"/>
                <a:cs typeface="Roboto"/>
              </a:rPr>
              <a:t> </a:t>
            </a:r>
            <a:r>
              <a:rPr sz="1100" dirty="0">
                <a:latin typeface="Roboto"/>
                <a:cs typeface="Roboto"/>
              </a:rPr>
              <a:t>object</a:t>
            </a:r>
            <a:r>
              <a:rPr sz="1100" spc="-28" dirty="0">
                <a:latin typeface="Roboto"/>
                <a:cs typeface="Roboto"/>
              </a:rPr>
              <a:t> </a:t>
            </a:r>
            <a:r>
              <a:rPr sz="1100" dirty="0">
                <a:latin typeface="Roboto"/>
                <a:cs typeface="Roboto"/>
              </a:rPr>
              <a:t>caching,</a:t>
            </a:r>
            <a:r>
              <a:rPr sz="1100" spc="-28" dirty="0">
                <a:latin typeface="Roboto"/>
                <a:cs typeface="Roboto"/>
              </a:rPr>
              <a:t> </a:t>
            </a:r>
            <a:r>
              <a:rPr sz="1100" dirty="0">
                <a:latin typeface="Roboto"/>
                <a:cs typeface="Roboto"/>
              </a:rPr>
              <a:t>distribution,</a:t>
            </a:r>
            <a:r>
              <a:rPr sz="1100" spc="-28" dirty="0">
                <a:latin typeface="Roboto"/>
                <a:cs typeface="Roboto"/>
              </a:rPr>
              <a:t> </a:t>
            </a:r>
            <a:r>
              <a:rPr sz="1100" dirty="0">
                <a:latin typeface="Roboto"/>
                <a:cs typeface="Roboto"/>
              </a:rPr>
              <a:t>ACM</a:t>
            </a:r>
            <a:r>
              <a:rPr sz="1100" spc="-28" dirty="0">
                <a:latin typeface="Roboto"/>
                <a:cs typeface="Roboto"/>
              </a:rPr>
              <a:t> </a:t>
            </a:r>
            <a:r>
              <a:rPr sz="1100" dirty="0">
                <a:latin typeface="Roboto"/>
                <a:cs typeface="Roboto"/>
              </a:rPr>
              <a:t>integration</a:t>
            </a:r>
            <a:r>
              <a:rPr sz="1100" spc="-28" dirty="0">
                <a:latin typeface="Roboto"/>
                <a:cs typeface="Roboto"/>
              </a:rPr>
              <a:t> </a:t>
            </a:r>
            <a:r>
              <a:rPr sz="1100" dirty="0">
                <a:latin typeface="Roboto"/>
                <a:cs typeface="Roboto"/>
              </a:rPr>
              <a:t>for</a:t>
            </a:r>
            <a:r>
              <a:rPr sz="1100" spc="-30" dirty="0">
                <a:latin typeface="Roboto"/>
                <a:cs typeface="Roboto"/>
              </a:rPr>
              <a:t> </a:t>
            </a:r>
            <a:r>
              <a:rPr sz="1100" dirty="0">
                <a:latin typeface="Roboto"/>
                <a:cs typeface="Roboto"/>
              </a:rPr>
              <a:t>HTTPS,</a:t>
            </a:r>
            <a:r>
              <a:rPr sz="1100" spc="-28" dirty="0">
                <a:latin typeface="Roboto"/>
                <a:cs typeface="Roboto"/>
              </a:rPr>
              <a:t> </a:t>
            </a:r>
            <a:r>
              <a:rPr sz="1100" dirty="0">
                <a:latin typeface="Roboto"/>
                <a:cs typeface="Roboto"/>
              </a:rPr>
              <a:t>cache</a:t>
            </a:r>
            <a:r>
              <a:rPr sz="1100" spc="-28" dirty="0">
                <a:latin typeface="Roboto"/>
                <a:cs typeface="Roboto"/>
              </a:rPr>
              <a:t> </a:t>
            </a:r>
            <a:r>
              <a:rPr sz="1100" dirty="0">
                <a:latin typeface="Roboto"/>
                <a:cs typeface="Roboto"/>
              </a:rPr>
              <a:t>behavior,</a:t>
            </a:r>
            <a:r>
              <a:rPr sz="1100" spc="-28" dirty="0">
                <a:latin typeface="Roboto"/>
                <a:cs typeface="Roboto"/>
              </a:rPr>
              <a:t> </a:t>
            </a:r>
            <a:r>
              <a:rPr sz="1100" dirty="0">
                <a:latin typeface="Roboto"/>
                <a:cs typeface="Roboto"/>
              </a:rPr>
              <a:t>Price</a:t>
            </a:r>
            <a:r>
              <a:rPr sz="1100" spc="-28" dirty="0">
                <a:latin typeface="Roboto"/>
                <a:cs typeface="Roboto"/>
              </a:rPr>
              <a:t> </a:t>
            </a:r>
            <a:r>
              <a:rPr sz="1100" dirty="0">
                <a:latin typeface="Roboto"/>
                <a:cs typeface="Roboto"/>
              </a:rPr>
              <a:t>class,</a:t>
            </a:r>
            <a:r>
              <a:rPr sz="1100" spc="-28" dirty="0">
                <a:latin typeface="Roboto"/>
                <a:cs typeface="Roboto"/>
              </a:rPr>
              <a:t> </a:t>
            </a:r>
            <a:r>
              <a:rPr sz="1100" dirty="0">
                <a:latin typeface="Roboto"/>
                <a:cs typeface="Roboto"/>
              </a:rPr>
              <a:t>origin</a:t>
            </a:r>
            <a:r>
              <a:rPr sz="1100" spc="-28" dirty="0">
                <a:latin typeface="Roboto"/>
                <a:cs typeface="Roboto"/>
              </a:rPr>
              <a:t> </a:t>
            </a:r>
            <a:r>
              <a:rPr sz="1100" dirty="0">
                <a:latin typeface="Roboto"/>
                <a:cs typeface="Roboto"/>
              </a:rPr>
              <a:t>access</a:t>
            </a:r>
            <a:r>
              <a:rPr sz="1100" spc="-30" dirty="0">
                <a:latin typeface="Roboto"/>
                <a:cs typeface="Roboto"/>
              </a:rPr>
              <a:t> </a:t>
            </a:r>
            <a:r>
              <a:rPr sz="1100" dirty="0">
                <a:latin typeface="Roboto"/>
                <a:cs typeface="Roboto"/>
              </a:rPr>
              <a:t>identity,</a:t>
            </a:r>
            <a:r>
              <a:rPr sz="1100" spc="-28" dirty="0">
                <a:latin typeface="Roboto"/>
                <a:cs typeface="Roboto"/>
              </a:rPr>
              <a:t> </a:t>
            </a:r>
            <a:r>
              <a:rPr sz="1100" spc="-5" dirty="0">
                <a:latin typeface="Roboto"/>
                <a:cs typeface="Roboto"/>
              </a:rPr>
              <a:t>field-</a:t>
            </a:r>
            <a:r>
              <a:rPr sz="1100" spc="-10" dirty="0">
                <a:latin typeface="Roboto"/>
                <a:cs typeface="Roboto"/>
              </a:rPr>
              <a:t>level</a:t>
            </a:r>
            <a:endParaRPr sz="1100">
              <a:latin typeface="Roboto"/>
              <a:cs typeface="Roboto"/>
            </a:endParaRPr>
          </a:p>
          <a:p>
            <a:pPr marL="534988">
              <a:spcBef>
                <a:spcPts val="217"/>
              </a:spcBef>
              <a:tabLst>
                <a:tab pos="1192848" algn="l"/>
              </a:tabLst>
            </a:pPr>
            <a:r>
              <a:rPr sz="1650" b="1" spc="-8" baseline="5050" dirty="0">
                <a:latin typeface="Roboto"/>
                <a:cs typeface="Roboto"/>
              </a:rPr>
              <a:t>concepts</a:t>
            </a:r>
            <a:r>
              <a:rPr sz="1650" b="1" baseline="5050" dirty="0">
                <a:latin typeface="Roboto"/>
                <a:cs typeface="Roboto"/>
              </a:rPr>
              <a:t>	</a:t>
            </a:r>
            <a:r>
              <a:rPr sz="1100" dirty="0">
                <a:latin typeface="Roboto"/>
                <a:cs typeface="Roboto"/>
              </a:rPr>
              <a:t>encryption,</a:t>
            </a:r>
            <a:r>
              <a:rPr sz="1100" spc="-23" dirty="0">
                <a:latin typeface="Roboto"/>
                <a:cs typeface="Roboto"/>
              </a:rPr>
              <a:t> </a:t>
            </a:r>
            <a:r>
              <a:rPr sz="1100" dirty="0">
                <a:latin typeface="Roboto"/>
                <a:cs typeface="Roboto"/>
              </a:rPr>
              <a:t>CloudFront</a:t>
            </a:r>
            <a:r>
              <a:rPr sz="1100" spc="-23" dirty="0">
                <a:latin typeface="Roboto"/>
                <a:cs typeface="Roboto"/>
              </a:rPr>
              <a:t> </a:t>
            </a:r>
            <a:r>
              <a:rPr sz="1100" dirty="0">
                <a:latin typeface="Roboto"/>
                <a:cs typeface="Roboto"/>
              </a:rPr>
              <a:t>integration</a:t>
            </a:r>
            <a:r>
              <a:rPr sz="1100" spc="-23" dirty="0">
                <a:latin typeface="Roboto"/>
                <a:cs typeface="Roboto"/>
              </a:rPr>
              <a:t> </a:t>
            </a:r>
            <a:r>
              <a:rPr sz="1100" dirty="0">
                <a:latin typeface="Roboto"/>
                <a:cs typeface="Roboto"/>
              </a:rPr>
              <a:t>with</a:t>
            </a:r>
            <a:r>
              <a:rPr sz="1100" spc="-23" dirty="0">
                <a:latin typeface="Roboto"/>
                <a:cs typeface="Roboto"/>
              </a:rPr>
              <a:t> </a:t>
            </a:r>
            <a:r>
              <a:rPr sz="1100" dirty="0">
                <a:latin typeface="Roboto"/>
                <a:cs typeface="Roboto"/>
              </a:rPr>
              <a:t>AWS</a:t>
            </a:r>
            <a:r>
              <a:rPr sz="1100" spc="-23" dirty="0">
                <a:latin typeface="Roboto"/>
                <a:cs typeface="Roboto"/>
              </a:rPr>
              <a:t> </a:t>
            </a:r>
            <a:r>
              <a:rPr sz="1100" dirty="0">
                <a:latin typeface="Roboto"/>
                <a:cs typeface="Roboto"/>
              </a:rPr>
              <a:t>Shield,</a:t>
            </a:r>
            <a:r>
              <a:rPr sz="1100" spc="-23" dirty="0">
                <a:latin typeface="Roboto"/>
                <a:cs typeface="Roboto"/>
              </a:rPr>
              <a:t> </a:t>
            </a:r>
            <a:r>
              <a:rPr sz="1100" dirty="0">
                <a:latin typeface="Roboto"/>
                <a:cs typeface="Roboto"/>
              </a:rPr>
              <a:t>AWS</a:t>
            </a:r>
            <a:r>
              <a:rPr sz="1100" spc="-23" dirty="0">
                <a:latin typeface="Roboto"/>
                <a:cs typeface="Roboto"/>
              </a:rPr>
              <a:t> </a:t>
            </a:r>
            <a:r>
              <a:rPr sz="1100" dirty="0">
                <a:latin typeface="Roboto"/>
                <a:cs typeface="Roboto"/>
              </a:rPr>
              <a:t>WAF,</a:t>
            </a:r>
            <a:r>
              <a:rPr sz="1100" spc="-23" dirty="0">
                <a:latin typeface="Roboto"/>
                <a:cs typeface="Roboto"/>
              </a:rPr>
              <a:t> </a:t>
            </a:r>
            <a:r>
              <a:rPr sz="1100" dirty="0">
                <a:latin typeface="Roboto"/>
                <a:cs typeface="Roboto"/>
              </a:rPr>
              <a:t>and</a:t>
            </a:r>
            <a:r>
              <a:rPr sz="1100" spc="-23" dirty="0">
                <a:latin typeface="Roboto"/>
                <a:cs typeface="Roboto"/>
              </a:rPr>
              <a:t> </a:t>
            </a:r>
            <a:r>
              <a:rPr sz="1100" dirty="0">
                <a:latin typeface="Roboto"/>
                <a:cs typeface="Roboto"/>
              </a:rPr>
              <a:t>Route</a:t>
            </a:r>
            <a:r>
              <a:rPr sz="1100" spc="-23" dirty="0">
                <a:latin typeface="Roboto"/>
                <a:cs typeface="Roboto"/>
              </a:rPr>
              <a:t> </a:t>
            </a:r>
            <a:r>
              <a:rPr sz="1100" spc="-13" dirty="0">
                <a:latin typeface="Roboto"/>
                <a:cs typeface="Roboto"/>
              </a:rPr>
              <a:t>53</a:t>
            </a:r>
            <a:endParaRPr sz="1100">
              <a:latin typeface="Roboto"/>
              <a:cs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7"/>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Relational Database Service (RDS)</a:t>
            </a:r>
            <a:endParaRPr/>
          </a:p>
        </p:txBody>
      </p:sp>
      <p:sp>
        <p:nvSpPr>
          <p:cNvPr id="181" name="Google Shape;181;p27"/>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82" name="Google Shape;182;p27"/>
          <p:cNvPicPr preferRelativeResize="0"/>
          <p:nvPr/>
        </p:nvPicPr>
        <p:blipFill>
          <a:blip r:embed="rId3">
            <a:alphaModFix/>
          </a:blip>
          <a:stretch>
            <a:fillRect/>
          </a:stretch>
        </p:blipFill>
        <p:spPr>
          <a:xfrm>
            <a:off x="1096524" y="2717250"/>
            <a:ext cx="1218701" cy="1375626"/>
          </a:xfrm>
          <a:prstGeom prst="rect">
            <a:avLst/>
          </a:prstGeom>
          <a:noFill/>
          <a:ln>
            <a:noFill/>
          </a:ln>
        </p:spPr>
      </p:pic>
      <p:pic>
        <p:nvPicPr>
          <p:cNvPr id="183" name="Google Shape;183;p27"/>
          <p:cNvPicPr preferRelativeResize="0"/>
          <p:nvPr/>
        </p:nvPicPr>
        <p:blipFill>
          <a:blip r:embed="rId4">
            <a:alphaModFix/>
          </a:blip>
          <a:stretch>
            <a:fillRect/>
          </a:stretch>
        </p:blipFill>
        <p:spPr>
          <a:xfrm>
            <a:off x="3635700" y="835325"/>
            <a:ext cx="5508301" cy="347285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8038" y="28550"/>
            <a:ext cx="6167438" cy="403957"/>
          </a:xfrm>
          <a:prstGeom prst="rect">
            <a:avLst/>
          </a:prstGeom>
        </p:spPr>
        <p:txBody>
          <a:bodyPr spcFirstLastPara="1" vert="horz" wrap="square" lIns="0" tIns="6350" rIns="0" bIns="0" rtlCol="0" anchor="t" anchorCtr="0">
            <a:spAutoFit/>
          </a:bodyPr>
          <a:lstStyle/>
          <a:p>
            <a:pPr marL="6350">
              <a:spcBef>
                <a:spcPts val="50"/>
              </a:spcBef>
            </a:pPr>
            <a:r>
              <a:rPr dirty="0"/>
              <a:t>Amazon</a:t>
            </a:r>
            <a:r>
              <a:rPr spc="-40" dirty="0"/>
              <a:t> </a:t>
            </a:r>
            <a:r>
              <a:rPr dirty="0"/>
              <a:t>Relational</a:t>
            </a:r>
            <a:r>
              <a:rPr spc="-40" dirty="0"/>
              <a:t> </a:t>
            </a:r>
            <a:r>
              <a:rPr dirty="0"/>
              <a:t>Database</a:t>
            </a:r>
            <a:r>
              <a:rPr spc="-40" dirty="0"/>
              <a:t> </a:t>
            </a:r>
            <a:r>
              <a:rPr dirty="0"/>
              <a:t>Service</a:t>
            </a:r>
            <a:r>
              <a:rPr spc="-38" dirty="0"/>
              <a:t> </a:t>
            </a:r>
            <a:r>
              <a:rPr spc="-5" dirty="0"/>
              <a:t>(RDS)</a:t>
            </a:r>
          </a:p>
        </p:txBody>
      </p:sp>
      <p:sp>
        <p:nvSpPr>
          <p:cNvPr id="3" name="object 3"/>
          <p:cNvSpPr txBox="1"/>
          <p:nvPr/>
        </p:nvSpPr>
        <p:spPr>
          <a:xfrm>
            <a:off x="288038" y="350048"/>
            <a:ext cx="8214360" cy="1509772"/>
          </a:xfrm>
          <a:prstGeom prst="rect">
            <a:avLst/>
          </a:prstGeom>
        </p:spPr>
        <p:txBody>
          <a:bodyPr vert="horz" wrap="square" lIns="0" tIns="85725" rIns="0" bIns="0" rtlCol="0">
            <a:spAutoFit/>
          </a:bodyPr>
          <a:lstStyle/>
          <a:p>
            <a:pPr marL="6350">
              <a:spcBef>
                <a:spcPts val="675"/>
              </a:spcBef>
            </a:pPr>
            <a:r>
              <a:rPr sz="900" b="1" dirty="0">
                <a:latin typeface="Roboto"/>
                <a:cs typeface="Roboto"/>
              </a:rPr>
              <a:t>Set</a:t>
            </a:r>
            <a:r>
              <a:rPr sz="900" b="1" spc="-10" dirty="0">
                <a:latin typeface="Roboto"/>
                <a:cs typeface="Roboto"/>
              </a:rPr>
              <a:t> </a:t>
            </a:r>
            <a:r>
              <a:rPr sz="900" b="1" dirty="0">
                <a:latin typeface="Roboto"/>
                <a:cs typeface="Roboto"/>
              </a:rPr>
              <a:t>up,</a:t>
            </a:r>
            <a:r>
              <a:rPr sz="900" b="1" spc="-8" dirty="0">
                <a:latin typeface="Roboto"/>
                <a:cs typeface="Roboto"/>
              </a:rPr>
              <a:t> </a:t>
            </a:r>
            <a:r>
              <a:rPr sz="900" b="1" dirty="0">
                <a:latin typeface="Roboto"/>
                <a:cs typeface="Roboto"/>
              </a:rPr>
              <a:t>operate,</a:t>
            </a:r>
            <a:r>
              <a:rPr sz="900" b="1" spc="-10" dirty="0">
                <a:latin typeface="Roboto"/>
                <a:cs typeface="Roboto"/>
              </a:rPr>
              <a:t> </a:t>
            </a:r>
            <a:r>
              <a:rPr sz="900" b="1" dirty="0">
                <a:latin typeface="Roboto"/>
                <a:cs typeface="Roboto"/>
              </a:rPr>
              <a:t>and</a:t>
            </a:r>
            <a:r>
              <a:rPr sz="900" b="1" spc="-8" dirty="0">
                <a:latin typeface="Roboto"/>
                <a:cs typeface="Roboto"/>
              </a:rPr>
              <a:t> </a:t>
            </a:r>
            <a:r>
              <a:rPr sz="900" b="1" dirty="0">
                <a:latin typeface="Roboto"/>
                <a:cs typeface="Roboto"/>
              </a:rPr>
              <a:t>scale</a:t>
            </a:r>
            <a:r>
              <a:rPr sz="900" b="1" spc="-8" dirty="0">
                <a:latin typeface="Roboto"/>
                <a:cs typeface="Roboto"/>
              </a:rPr>
              <a:t> </a:t>
            </a:r>
            <a:r>
              <a:rPr sz="900" b="1" dirty="0">
                <a:latin typeface="Roboto"/>
                <a:cs typeface="Roboto"/>
              </a:rPr>
              <a:t>a</a:t>
            </a:r>
            <a:r>
              <a:rPr sz="900" b="1" spc="-10" dirty="0">
                <a:latin typeface="Roboto"/>
                <a:cs typeface="Roboto"/>
              </a:rPr>
              <a:t> </a:t>
            </a:r>
            <a:r>
              <a:rPr sz="900" b="1" dirty="0">
                <a:latin typeface="Roboto"/>
                <a:cs typeface="Roboto"/>
              </a:rPr>
              <a:t>relational</a:t>
            </a:r>
            <a:r>
              <a:rPr sz="900" b="1" spc="-8" dirty="0">
                <a:latin typeface="Roboto"/>
                <a:cs typeface="Roboto"/>
              </a:rPr>
              <a:t> </a:t>
            </a:r>
            <a:r>
              <a:rPr sz="900" b="1" dirty="0">
                <a:latin typeface="Roboto"/>
                <a:cs typeface="Roboto"/>
              </a:rPr>
              <a:t>database</a:t>
            </a:r>
            <a:r>
              <a:rPr sz="900" b="1" spc="-8" dirty="0">
                <a:latin typeface="Roboto"/>
                <a:cs typeface="Roboto"/>
              </a:rPr>
              <a:t> </a:t>
            </a:r>
            <a:r>
              <a:rPr sz="900" b="1" dirty="0">
                <a:latin typeface="Roboto"/>
                <a:cs typeface="Roboto"/>
              </a:rPr>
              <a:t>in</a:t>
            </a:r>
            <a:r>
              <a:rPr sz="900" b="1" spc="-10" dirty="0">
                <a:latin typeface="Roboto"/>
                <a:cs typeface="Roboto"/>
              </a:rPr>
              <a:t> </a:t>
            </a:r>
            <a:r>
              <a:rPr sz="900" b="1" dirty="0">
                <a:latin typeface="Roboto"/>
                <a:cs typeface="Roboto"/>
              </a:rPr>
              <a:t>the</a:t>
            </a:r>
            <a:r>
              <a:rPr sz="900" b="1" spc="-8" dirty="0">
                <a:latin typeface="Roboto"/>
                <a:cs typeface="Roboto"/>
              </a:rPr>
              <a:t> </a:t>
            </a:r>
            <a:r>
              <a:rPr sz="900" b="1" dirty="0">
                <a:latin typeface="Roboto"/>
                <a:cs typeface="Roboto"/>
              </a:rPr>
              <a:t>cloud</a:t>
            </a:r>
            <a:r>
              <a:rPr sz="900" b="1" spc="-10" dirty="0">
                <a:latin typeface="Roboto"/>
                <a:cs typeface="Roboto"/>
              </a:rPr>
              <a:t> </a:t>
            </a:r>
            <a:r>
              <a:rPr sz="900" b="1" dirty="0">
                <a:latin typeface="Roboto"/>
                <a:cs typeface="Roboto"/>
              </a:rPr>
              <a:t>with</a:t>
            </a:r>
            <a:r>
              <a:rPr sz="900" b="1" spc="-8" dirty="0">
                <a:latin typeface="Roboto"/>
                <a:cs typeface="Roboto"/>
              </a:rPr>
              <a:t> </a:t>
            </a:r>
            <a:r>
              <a:rPr sz="900" b="1" dirty="0">
                <a:latin typeface="Roboto"/>
                <a:cs typeface="Roboto"/>
              </a:rPr>
              <a:t>just</a:t>
            </a:r>
            <a:r>
              <a:rPr sz="900" b="1" spc="-8" dirty="0">
                <a:latin typeface="Roboto"/>
                <a:cs typeface="Roboto"/>
              </a:rPr>
              <a:t> </a:t>
            </a:r>
            <a:r>
              <a:rPr sz="900" b="1" dirty="0">
                <a:latin typeface="Roboto"/>
                <a:cs typeface="Roboto"/>
              </a:rPr>
              <a:t>a</a:t>
            </a:r>
            <a:r>
              <a:rPr sz="900" b="1" spc="-10" dirty="0">
                <a:latin typeface="Roboto"/>
                <a:cs typeface="Roboto"/>
              </a:rPr>
              <a:t> </a:t>
            </a:r>
            <a:r>
              <a:rPr sz="900" b="1" dirty="0">
                <a:latin typeface="Roboto"/>
                <a:cs typeface="Roboto"/>
              </a:rPr>
              <a:t>few</a:t>
            </a:r>
            <a:r>
              <a:rPr sz="900" b="1" spc="-8" dirty="0">
                <a:latin typeface="Roboto"/>
                <a:cs typeface="Roboto"/>
              </a:rPr>
              <a:t> </a:t>
            </a:r>
            <a:r>
              <a:rPr sz="900" b="1" spc="-5" dirty="0">
                <a:latin typeface="Roboto"/>
                <a:cs typeface="Roboto"/>
              </a:rPr>
              <a:t>clicks.</a:t>
            </a:r>
            <a:endParaRPr sz="900" dirty="0">
              <a:latin typeface="Roboto"/>
              <a:cs typeface="Roboto"/>
            </a:endParaRPr>
          </a:p>
          <a:p>
            <a:pPr marL="6350" marR="2540">
              <a:lnSpc>
                <a:spcPct val="116500"/>
              </a:lnSpc>
              <a:spcBef>
                <a:spcPts val="545"/>
              </a:spcBef>
            </a:pPr>
            <a:r>
              <a:rPr sz="1100" dirty="0">
                <a:latin typeface="Roboto"/>
                <a:cs typeface="Roboto"/>
              </a:rPr>
              <a:t>Amazon</a:t>
            </a:r>
            <a:r>
              <a:rPr sz="1100" spc="-23" dirty="0">
                <a:latin typeface="Roboto"/>
                <a:cs typeface="Roboto"/>
              </a:rPr>
              <a:t> </a:t>
            </a:r>
            <a:r>
              <a:rPr sz="1100" dirty="0">
                <a:latin typeface="Roboto"/>
                <a:cs typeface="Roboto"/>
              </a:rPr>
              <a:t>Relational</a:t>
            </a:r>
            <a:r>
              <a:rPr sz="1100" spc="-23" dirty="0">
                <a:latin typeface="Roboto"/>
                <a:cs typeface="Roboto"/>
              </a:rPr>
              <a:t> </a:t>
            </a:r>
            <a:r>
              <a:rPr sz="1100" dirty="0">
                <a:latin typeface="Roboto"/>
                <a:cs typeface="Roboto"/>
              </a:rPr>
              <a:t>Database</a:t>
            </a:r>
            <a:r>
              <a:rPr sz="1100" spc="-20" dirty="0">
                <a:latin typeface="Roboto"/>
                <a:cs typeface="Roboto"/>
              </a:rPr>
              <a:t> </a:t>
            </a:r>
            <a:r>
              <a:rPr sz="1100" dirty="0">
                <a:latin typeface="Roboto"/>
                <a:cs typeface="Roboto"/>
              </a:rPr>
              <a:t>Service</a:t>
            </a:r>
            <a:r>
              <a:rPr sz="1100" spc="-23" dirty="0">
                <a:latin typeface="Roboto"/>
                <a:cs typeface="Roboto"/>
              </a:rPr>
              <a:t> </a:t>
            </a:r>
            <a:r>
              <a:rPr sz="1100" dirty="0">
                <a:latin typeface="Roboto"/>
                <a:cs typeface="Roboto"/>
              </a:rPr>
              <a:t>(Amazon</a:t>
            </a:r>
            <a:r>
              <a:rPr sz="1100" spc="-23" dirty="0">
                <a:latin typeface="Roboto"/>
                <a:cs typeface="Roboto"/>
              </a:rPr>
              <a:t> </a:t>
            </a:r>
            <a:r>
              <a:rPr sz="1100" dirty="0">
                <a:latin typeface="Roboto"/>
                <a:cs typeface="Roboto"/>
              </a:rPr>
              <a:t>RDS)</a:t>
            </a:r>
            <a:r>
              <a:rPr sz="1100" spc="-20" dirty="0">
                <a:latin typeface="Roboto"/>
                <a:cs typeface="Roboto"/>
              </a:rPr>
              <a:t> </a:t>
            </a:r>
            <a:r>
              <a:rPr sz="1100" dirty="0">
                <a:latin typeface="Roboto"/>
                <a:cs typeface="Roboto"/>
              </a:rPr>
              <a:t>makes</a:t>
            </a:r>
            <a:r>
              <a:rPr sz="1100" spc="-23" dirty="0">
                <a:latin typeface="Roboto"/>
                <a:cs typeface="Roboto"/>
              </a:rPr>
              <a:t> </a:t>
            </a:r>
            <a:r>
              <a:rPr sz="1100" dirty="0">
                <a:latin typeface="Roboto"/>
                <a:cs typeface="Roboto"/>
              </a:rPr>
              <a:t>it</a:t>
            </a:r>
            <a:r>
              <a:rPr sz="1100" spc="-23" dirty="0">
                <a:latin typeface="Roboto"/>
                <a:cs typeface="Roboto"/>
              </a:rPr>
              <a:t> </a:t>
            </a:r>
            <a:r>
              <a:rPr sz="1100" dirty="0">
                <a:latin typeface="Roboto"/>
                <a:cs typeface="Roboto"/>
              </a:rPr>
              <a:t>easy</a:t>
            </a:r>
            <a:r>
              <a:rPr sz="1100" spc="-20" dirty="0">
                <a:latin typeface="Roboto"/>
                <a:cs typeface="Roboto"/>
              </a:rPr>
              <a:t> </a:t>
            </a:r>
            <a:r>
              <a:rPr sz="1100" dirty="0">
                <a:latin typeface="Roboto"/>
                <a:cs typeface="Roboto"/>
              </a:rPr>
              <a:t>to</a:t>
            </a:r>
            <a:r>
              <a:rPr sz="1100" spc="-23" dirty="0">
                <a:latin typeface="Roboto"/>
                <a:cs typeface="Roboto"/>
              </a:rPr>
              <a:t> </a:t>
            </a:r>
            <a:r>
              <a:rPr sz="1100" dirty="0">
                <a:latin typeface="Roboto"/>
                <a:cs typeface="Roboto"/>
              </a:rPr>
              <a:t>set</a:t>
            </a:r>
            <a:r>
              <a:rPr sz="1100" spc="-23" dirty="0">
                <a:latin typeface="Roboto"/>
                <a:cs typeface="Roboto"/>
              </a:rPr>
              <a:t> </a:t>
            </a:r>
            <a:r>
              <a:rPr sz="1100" dirty="0">
                <a:latin typeface="Roboto"/>
                <a:cs typeface="Roboto"/>
              </a:rPr>
              <a:t>up,</a:t>
            </a:r>
            <a:r>
              <a:rPr sz="1100" spc="-20" dirty="0">
                <a:latin typeface="Roboto"/>
                <a:cs typeface="Roboto"/>
              </a:rPr>
              <a:t> </a:t>
            </a:r>
            <a:r>
              <a:rPr sz="1100" dirty="0">
                <a:latin typeface="Roboto"/>
                <a:cs typeface="Roboto"/>
              </a:rPr>
              <a:t>operate,</a:t>
            </a:r>
            <a:r>
              <a:rPr sz="1100" spc="-23" dirty="0">
                <a:latin typeface="Roboto"/>
                <a:cs typeface="Roboto"/>
              </a:rPr>
              <a:t> </a:t>
            </a:r>
            <a:r>
              <a:rPr sz="1100" dirty="0">
                <a:latin typeface="Roboto"/>
                <a:cs typeface="Roboto"/>
              </a:rPr>
              <a:t>and</a:t>
            </a:r>
            <a:r>
              <a:rPr sz="1100" spc="-23" dirty="0">
                <a:latin typeface="Roboto"/>
                <a:cs typeface="Roboto"/>
              </a:rPr>
              <a:t> </a:t>
            </a:r>
            <a:r>
              <a:rPr sz="1100" dirty="0">
                <a:latin typeface="Roboto"/>
                <a:cs typeface="Roboto"/>
              </a:rPr>
              <a:t>scale</a:t>
            </a:r>
            <a:r>
              <a:rPr sz="1100" spc="-20" dirty="0">
                <a:latin typeface="Roboto"/>
                <a:cs typeface="Roboto"/>
              </a:rPr>
              <a:t> </a:t>
            </a:r>
            <a:r>
              <a:rPr sz="1100" dirty="0">
                <a:latin typeface="Roboto"/>
                <a:cs typeface="Roboto"/>
              </a:rPr>
              <a:t>a</a:t>
            </a:r>
            <a:r>
              <a:rPr sz="1100" spc="-23" dirty="0">
                <a:latin typeface="Roboto"/>
                <a:cs typeface="Roboto"/>
              </a:rPr>
              <a:t> </a:t>
            </a:r>
            <a:r>
              <a:rPr sz="1100" dirty="0">
                <a:latin typeface="Roboto"/>
                <a:cs typeface="Roboto"/>
              </a:rPr>
              <a:t>relational</a:t>
            </a:r>
            <a:r>
              <a:rPr sz="1100" spc="-23" dirty="0">
                <a:latin typeface="Roboto"/>
                <a:cs typeface="Roboto"/>
              </a:rPr>
              <a:t> </a:t>
            </a:r>
            <a:r>
              <a:rPr sz="1100" dirty="0">
                <a:latin typeface="Roboto"/>
                <a:cs typeface="Roboto"/>
              </a:rPr>
              <a:t>database</a:t>
            </a:r>
            <a:r>
              <a:rPr sz="1100" spc="-20" dirty="0">
                <a:latin typeface="Roboto"/>
                <a:cs typeface="Roboto"/>
              </a:rPr>
              <a:t> </a:t>
            </a:r>
            <a:r>
              <a:rPr sz="1100" dirty="0">
                <a:latin typeface="Roboto"/>
                <a:cs typeface="Roboto"/>
              </a:rPr>
              <a:t>in</a:t>
            </a:r>
            <a:r>
              <a:rPr sz="1100" spc="-23" dirty="0">
                <a:latin typeface="Roboto"/>
                <a:cs typeface="Roboto"/>
              </a:rPr>
              <a:t> </a:t>
            </a:r>
            <a:r>
              <a:rPr sz="1100" dirty="0">
                <a:latin typeface="Roboto"/>
                <a:cs typeface="Roboto"/>
              </a:rPr>
              <a:t>the</a:t>
            </a:r>
            <a:r>
              <a:rPr sz="1100" spc="-23" dirty="0">
                <a:latin typeface="Roboto"/>
                <a:cs typeface="Roboto"/>
              </a:rPr>
              <a:t> </a:t>
            </a:r>
            <a:r>
              <a:rPr sz="1100" dirty="0">
                <a:latin typeface="Roboto"/>
                <a:cs typeface="Roboto"/>
              </a:rPr>
              <a:t>cloud.</a:t>
            </a:r>
            <a:r>
              <a:rPr sz="1100" spc="-20" dirty="0">
                <a:latin typeface="Roboto"/>
                <a:cs typeface="Roboto"/>
              </a:rPr>
              <a:t> </a:t>
            </a:r>
            <a:r>
              <a:rPr sz="1100" spc="-13" dirty="0">
                <a:latin typeface="Roboto"/>
                <a:cs typeface="Roboto"/>
              </a:rPr>
              <a:t>It </a:t>
            </a:r>
            <a:r>
              <a:rPr sz="1100" dirty="0">
                <a:latin typeface="Roboto"/>
                <a:cs typeface="Roboto"/>
              </a:rPr>
              <a:t>provides</a:t>
            </a:r>
            <a:r>
              <a:rPr sz="1100" spc="-30" dirty="0">
                <a:latin typeface="Roboto"/>
                <a:cs typeface="Roboto"/>
              </a:rPr>
              <a:t> </a:t>
            </a:r>
            <a:r>
              <a:rPr sz="1100" spc="-5" dirty="0">
                <a:latin typeface="Roboto"/>
                <a:cs typeface="Roboto"/>
              </a:rPr>
              <a:t>cost-</a:t>
            </a:r>
            <a:r>
              <a:rPr sz="1100" dirty="0">
                <a:latin typeface="Roboto"/>
                <a:cs typeface="Roboto"/>
              </a:rPr>
              <a:t>efficient</a:t>
            </a:r>
            <a:r>
              <a:rPr sz="1100" spc="-28" dirty="0">
                <a:latin typeface="Roboto"/>
                <a:cs typeface="Roboto"/>
              </a:rPr>
              <a:t> </a:t>
            </a:r>
            <a:r>
              <a:rPr sz="1100" dirty="0">
                <a:latin typeface="Roboto"/>
                <a:cs typeface="Roboto"/>
              </a:rPr>
              <a:t>and</a:t>
            </a:r>
            <a:r>
              <a:rPr sz="1100" spc="-28" dirty="0">
                <a:latin typeface="Roboto"/>
                <a:cs typeface="Roboto"/>
              </a:rPr>
              <a:t> </a:t>
            </a:r>
            <a:r>
              <a:rPr sz="1100" dirty="0">
                <a:latin typeface="Roboto"/>
                <a:cs typeface="Roboto"/>
              </a:rPr>
              <a:t>resizable</a:t>
            </a:r>
            <a:r>
              <a:rPr sz="1100" spc="-30" dirty="0">
                <a:latin typeface="Roboto"/>
                <a:cs typeface="Roboto"/>
              </a:rPr>
              <a:t> </a:t>
            </a:r>
            <a:r>
              <a:rPr sz="1100" dirty="0">
                <a:latin typeface="Roboto"/>
                <a:cs typeface="Roboto"/>
              </a:rPr>
              <a:t>capacity</a:t>
            </a:r>
            <a:r>
              <a:rPr sz="1100" spc="-28" dirty="0">
                <a:latin typeface="Roboto"/>
                <a:cs typeface="Roboto"/>
              </a:rPr>
              <a:t> </a:t>
            </a:r>
            <a:r>
              <a:rPr sz="1100" dirty="0">
                <a:latin typeface="Roboto"/>
                <a:cs typeface="Roboto"/>
              </a:rPr>
              <a:t>while</a:t>
            </a:r>
            <a:r>
              <a:rPr sz="1100" spc="-28" dirty="0">
                <a:latin typeface="Roboto"/>
                <a:cs typeface="Roboto"/>
              </a:rPr>
              <a:t> </a:t>
            </a:r>
            <a:r>
              <a:rPr sz="1100" dirty="0">
                <a:latin typeface="Roboto"/>
                <a:cs typeface="Roboto"/>
              </a:rPr>
              <a:t>automating</a:t>
            </a:r>
            <a:r>
              <a:rPr sz="1100" spc="-30" dirty="0">
                <a:latin typeface="Roboto"/>
                <a:cs typeface="Roboto"/>
              </a:rPr>
              <a:t> </a:t>
            </a:r>
            <a:r>
              <a:rPr sz="1100" spc="-5" dirty="0">
                <a:latin typeface="Roboto"/>
                <a:cs typeface="Roboto"/>
              </a:rPr>
              <a:t>time-</a:t>
            </a:r>
            <a:r>
              <a:rPr sz="1100" dirty="0">
                <a:latin typeface="Roboto"/>
                <a:cs typeface="Roboto"/>
              </a:rPr>
              <a:t>consuming</a:t>
            </a:r>
            <a:r>
              <a:rPr sz="1100" spc="-28" dirty="0">
                <a:latin typeface="Roboto"/>
                <a:cs typeface="Roboto"/>
              </a:rPr>
              <a:t> </a:t>
            </a:r>
            <a:r>
              <a:rPr sz="1100" dirty="0">
                <a:latin typeface="Roboto"/>
                <a:cs typeface="Roboto"/>
              </a:rPr>
              <a:t>administration</a:t>
            </a:r>
            <a:r>
              <a:rPr sz="1100" spc="-28" dirty="0">
                <a:latin typeface="Roboto"/>
                <a:cs typeface="Roboto"/>
              </a:rPr>
              <a:t> </a:t>
            </a:r>
            <a:r>
              <a:rPr sz="1100" dirty="0">
                <a:latin typeface="Roboto"/>
                <a:cs typeface="Roboto"/>
              </a:rPr>
              <a:t>tasks</a:t>
            </a:r>
            <a:r>
              <a:rPr sz="1100" spc="-30" dirty="0">
                <a:latin typeface="Roboto"/>
                <a:cs typeface="Roboto"/>
              </a:rPr>
              <a:t> </a:t>
            </a:r>
            <a:r>
              <a:rPr sz="1100" dirty="0">
                <a:latin typeface="Roboto"/>
                <a:cs typeface="Roboto"/>
              </a:rPr>
              <a:t>such</a:t>
            </a:r>
            <a:r>
              <a:rPr sz="1100" spc="-28" dirty="0">
                <a:latin typeface="Roboto"/>
                <a:cs typeface="Roboto"/>
              </a:rPr>
              <a:t> </a:t>
            </a:r>
            <a:r>
              <a:rPr sz="1100" dirty="0">
                <a:latin typeface="Roboto"/>
                <a:cs typeface="Roboto"/>
              </a:rPr>
              <a:t>as</a:t>
            </a:r>
            <a:r>
              <a:rPr sz="1100" spc="-28" dirty="0">
                <a:latin typeface="Roboto"/>
                <a:cs typeface="Roboto"/>
              </a:rPr>
              <a:t> </a:t>
            </a:r>
            <a:r>
              <a:rPr sz="1100" dirty="0">
                <a:latin typeface="Roboto"/>
                <a:cs typeface="Roboto"/>
              </a:rPr>
              <a:t>hardware</a:t>
            </a:r>
            <a:r>
              <a:rPr sz="1100" spc="-28" dirty="0">
                <a:latin typeface="Roboto"/>
                <a:cs typeface="Roboto"/>
              </a:rPr>
              <a:t> </a:t>
            </a:r>
            <a:r>
              <a:rPr sz="1100" spc="-5" dirty="0">
                <a:latin typeface="Roboto"/>
                <a:cs typeface="Roboto"/>
              </a:rPr>
              <a:t>provisioning, </a:t>
            </a:r>
            <a:r>
              <a:rPr sz="1100" dirty="0">
                <a:latin typeface="Roboto"/>
                <a:cs typeface="Roboto"/>
              </a:rPr>
              <a:t>database</a:t>
            </a:r>
            <a:r>
              <a:rPr sz="1100" spc="-23" dirty="0">
                <a:latin typeface="Roboto"/>
                <a:cs typeface="Roboto"/>
              </a:rPr>
              <a:t> </a:t>
            </a:r>
            <a:r>
              <a:rPr sz="1100" dirty="0">
                <a:latin typeface="Roboto"/>
                <a:cs typeface="Roboto"/>
              </a:rPr>
              <a:t>setup,</a:t>
            </a:r>
            <a:r>
              <a:rPr sz="1100" spc="-23" dirty="0">
                <a:latin typeface="Roboto"/>
                <a:cs typeface="Roboto"/>
              </a:rPr>
              <a:t> </a:t>
            </a:r>
            <a:r>
              <a:rPr sz="1100" dirty="0">
                <a:latin typeface="Roboto"/>
                <a:cs typeface="Roboto"/>
              </a:rPr>
              <a:t>patching</a:t>
            </a:r>
            <a:r>
              <a:rPr sz="1100" spc="-20" dirty="0">
                <a:latin typeface="Roboto"/>
                <a:cs typeface="Roboto"/>
              </a:rPr>
              <a:t> </a:t>
            </a:r>
            <a:r>
              <a:rPr sz="1100" dirty="0">
                <a:latin typeface="Roboto"/>
                <a:cs typeface="Roboto"/>
              </a:rPr>
              <a:t>and</a:t>
            </a:r>
            <a:r>
              <a:rPr sz="1100" spc="-23" dirty="0">
                <a:latin typeface="Roboto"/>
                <a:cs typeface="Roboto"/>
              </a:rPr>
              <a:t> </a:t>
            </a:r>
            <a:r>
              <a:rPr sz="1100" dirty="0">
                <a:latin typeface="Roboto"/>
                <a:cs typeface="Roboto"/>
              </a:rPr>
              <a:t>backups.</a:t>
            </a:r>
            <a:r>
              <a:rPr sz="1100" spc="-20" dirty="0">
                <a:latin typeface="Roboto"/>
                <a:cs typeface="Roboto"/>
              </a:rPr>
              <a:t> </a:t>
            </a:r>
            <a:r>
              <a:rPr sz="1100" dirty="0">
                <a:latin typeface="Roboto"/>
                <a:cs typeface="Roboto"/>
              </a:rPr>
              <a:t>It</a:t>
            </a:r>
            <a:r>
              <a:rPr sz="1100" spc="-23" dirty="0">
                <a:latin typeface="Roboto"/>
                <a:cs typeface="Roboto"/>
              </a:rPr>
              <a:t> </a:t>
            </a:r>
            <a:r>
              <a:rPr sz="1100" dirty="0">
                <a:latin typeface="Roboto"/>
                <a:cs typeface="Roboto"/>
              </a:rPr>
              <a:t>frees</a:t>
            </a:r>
            <a:r>
              <a:rPr sz="1100" spc="-20" dirty="0">
                <a:latin typeface="Roboto"/>
                <a:cs typeface="Roboto"/>
              </a:rPr>
              <a:t> </a:t>
            </a:r>
            <a:r>
              <a:rPr sz="1100" dirty="0">
                <a:latin typeface="Roboto"/>
                <a:cs typeface="Roboto"/>
              </a:rPr>
              <a:t>you</a:t>
            </a:r>
            <a:r>
              <a:rPr sz="1100" spc="-23" dirty="0">
                <a:latin typeface="Roboto"/>
                <a:cs typeface="Roboto"/>
              </a:rPr>
              <a:t> </a:t>
            </a:r>
            <a:r>
              <a:rPr sz="1100" dirty="0">
                <a:latin typeface="Roboto"/>
                <a:cs typeface="Roboto"/>
              </a:rPr>
              <a:t>to</a:t>
            </a:r>
            <a:r>
              <a:rPr sz="1100" spc="-23" dirty="0">
                <a:latin typeface="Roboto"/>
                <a:cs typeface="Roboto"/>
              </a:rPr>
              <a:t> </a:t>
            </a:r>
            <a:r>
              <a:rPr sz="1100" dirty="0">
                <a:latin typeface="Roboto"/>
                <a:cs typeface="Roboto"/>
              </a:rPr>
              <a:t>focus</a:t>
            </a:r>
            <a:r>
              <a:rPr sz="1100" spc="-20" dirty="0">
                <a:latin typeface="Roboto"/>
                <a:cs typeface="Roboto"/>
              </a:rPr>
              <a:t> </a:t>
            </a:r>
            <a:r>
              <a:rPr sz="1100" dirty="0">
                <a:latin typeface="Roboto"/>
                <a:cs typeface="Roboto"/>
              </a:rPr>
              <a:t>on</a:t>
            </a:r>
            <a:r>
              <a:rPr sz="1100" spc="-23" dirty="0">
                <a:latin typeface="Roboto"/>
                <a:cs typeface="Roboto"/>
              </a:rPr>
              <a:t> </a:t>
            </a:r>
            <a:r>
              <a:rPr sz="1100" dirty="0">
                <a:latin typeface="Roboto"/>
                <a:cs typeface="Roboto"/>
              </a:rPr>
              <a:t>your</a:t>
            </a:r>
            <a:r>
              <a:rPr sz="1100" spc="-20" dirty="0">
                <a:latin typeface="Roboto"/>
                <a:cs typeface="Roboto"/>
              </a:rPr>
              <a:t> </a:t>
            </a:r>
            <a:r>
              <a:rPr sz="1100" dirty="0">
                <a:latin typeface="Roboto"/>
                <a:cs typeface="Roboto"/>
              </a:rPr>
              <a:t>applications</a:t>
            </a:r>
            <a:r>
              <a:rPr sz="1100" spc="-23" dirty="0">
                <a:latin typeface="Roboto"/>
                <a:cs typeface="Roboto"/>
              </a:rPr>
              <a:t> </a:t>
            </a:r>
            <a:r>
              <a:rPr sz="1100" dirty="0">
                <a:latin typeface="Roboto"/>
                <a:cs typeface="Roboto"/>
              </a:rPr>
              <a:t>so</a:t>
            </a:r>
            <a:r>
              <a:rPr sz="1100" spc="-20" dirty="0">
                <a:latin typeface="Roboto"/>
                <a:cs typeface="Roboto"/>
              </a:rPr>
              <a:t> </a:t>
            </a:r>
            <a:r>
              <a:rPr sz="1100" dirty="0">
                <a:latin typeface="Roboto"/>
                <a:cs typeface="Roboto"/>
              </a:rPr>
              <a:t>you</a:t>
            </a:r>
            <a:r>
              <a:rPr sz="1100" spc="-23" dirty="0">
                <a:latin typeface="Roboto"/>
                <a:cs typeface="Roboto"/>
              </a:rPr>
              <a:t> </a:t>
            </a:r>
            <a:r>
              <a:rPr sz="1100" dirty="0">
                <a:latin typeface="Roboto"/>
                <a:cs typeface="Roboto"/>
              </a:rPr>
              <a:t>can</a:t>
            </a:r>
            <a:r>
              <a:rPr sz="1100" spc="-20" dirty="0">
                <a:latin typeface="Roboto"/>
                <a:cs typeface="Roboto"/>
              </a:rPr>
              <a:t> </a:t>
            </a:r>
            <a:r>
              <a:rPr sz="1100" dirty="0">
                <a:latin typeface="Roboto"/>
                <a:cs typeface="Roboto"/>
              </a:rPr>
              <a:t>give</a:t>
            </a:r>
            <a:r>
              <a:rPr sz="1100" spc="-23" dirty="0">
                <a:latin typeface="Roboto"/>
                <a:cs typeface="Roboto"/>
              </a:rPr>
              <a:t> </a:t>
            </a:r>
            <a:r>
              <a:rPr sz="1100" dirty="0">
                <a:latin typeface="Roboto"/>
                <a:cs typeface="Roboto"/>
              </a:rPr>
              <a:t>them</a:t>
            </a:r>
            <a:r>
              <a:rPr sz="1100" spc="-23" dirty="0">
                <a:latin typeface="Roboto"/>
                <a:cs typeface="Roboto"/>
              </a:rPr>
              <a:t> </a:t>
            </a:r>
            <a:r>
              <a:rPr sz="1100" dirty="0">
                <a:latin typeface="Roboto"/>
                <a:cs typeface="Roboto"/>
              </a:rPr>
              <a:t>the</a:t>
            </a:r>
            <a:r>
              <a:rPr sz="1100" spc="-20" dirty="0">
                <a:latin typeface="Roboto"/>
                <a:cs typeface="Roboto"/>
              </a:rPr>
              <a:t> </a:t>
            </a:r>
            <a:r>
              <a:rPr sz="1100" dirty="0">
                <a:latin typeface="Roboto"/>
                <a:cs typeface="Roboto"/>
              </a:rPr>
              <a:t>fast</a:t>
            </a:r>
            <a:r>
              <a:rPr sz="1100" spc="-23" dirty="0">
                <a:latin typeface="Roboto"/>
                <a:cs typeface="Roboto"/>
              </a:rPr>
              <a:t> </a:t>
            </a:r>
            <a:r>
              <a:rPr sz="1100" dirty="0">
                <a:latin typeface="Roboto"/>
                <a:cs typeface="Roboto"/>
              </a:rPr>
              <a:t>performance,</a:t>
            </a:r>
            <a:r>
              <a:rPr sz="1100" spc="-20" dirty="0">
                <a:latin typeface="Roboto"/>
                <a:cs typeface="Roboto"/>
              </a:rPr>
              <a:t> </a:t>
            </a:r>
            <a:r>
              <a:rPr sz="1100" spc="-10" dirty="0">
                <a:latin typeface="Roboto"/>
                <a:cs typeface="Roboto"/>
              </a:rPr>
              <a:t>high </a:t>
            </a:r>
            <a:r>
              <a:rPr sz="1100" dirty="0">
                <a:latin typeface="Roboto"/>
                <a:cs typeface="Roboto"/>
              </a:rPr>
              <a:t>availability,</a:t>
            </a:r>
            <a:r>
              <a:rPr sz="1100" spc="-33" dirty="0">
                <a:latin typeface="Roboto"/>
                <a:cs typeface="Roboto"/>
              </a:rPr>
              <a:t> </a:t>
            </a:r>
            <a:r>
              <a:rPr sz="1100" dirty="0">
                <a:latin typeface="Roboto"/>
                <a:cs typeface="Roboto"/>
              </a:rPr>
              <a:t>security</a:t>
            </a:r>
            <a:r>
              <a:rPr sz="1100" spc="-33" dirty="0">
                <a:latin typeface="Roboto"/>
                <a:cs typeface="Roboto"/>
              </a:rPr>
              <a:t> </a:t>
            </a:r>
            <a:r>
              <a:rPr sz="1100" dirty="0">
                <a:latin typeface="Roboto"/>
                <a:cs typeface="Roboto"/>
              </a:rPr>
              <a:t>and</a:t>
            </a:r>
            <a:r>
              <a:rPr sz="1100" spc="-30" dirty="0">
                <a:latin typeface="Roboto"/>
                <a:cs typeface="Roboto"/>
              </a:rPr>
              <a:t> </a:t>
            </a:r>
            <a:r>
              <a:rPr sz="1100" dirty="0">
                <a:latin typeface="Roboto"/>
                <a:cs typeface="Roboto"/>
              </a:rPr>
              <a:t>compatibility</a:t>
            </a:r>
            <a:r>
              <a:rPr sz="1100" spc="-33" dirty="0">
                <a:latin typeface="Roboto"/>
                <a:cs typeface="Roboto"/>
              </a:rPr>
              <a:t> </a:t>
            </a:r>
            <a:r>
              <a:rPr sz="1100" dirty="0">
                <a:latin typeface="Roboto"/>
                <a:cs typeface="Roboto"/>
              </a:rPr>
              <a:t>they</a:t>
            </a:r>
            <a:r>
              <a:rPr sz="1100" spc="-33" dirty="0">
                <a:latin typeface="Roboto"/>
                <a:cs typeface="Roboto"/>
              </a:rPr>
              <a:t> </a:t>
            </a:r>
            <a:r>
              <a:rPr sz="1100" spc="-5" dirty="0">
                <a:latin typeface="Roboto"/>
                <a:cs typeface="Roboto"/>
              </a:rPr>
              <a:t>need.</a:t>
            </a:r>
            <a:endParaRPr sz="1100" dirty="0">
              <a:latin typeface="Roboto"/>
              <a:cs typeface="Roboto"/>
            </a:endParaRPr>
          </a:p>
          <a:p>
            <a:pPr marR="600393" algn="ctr">
              <a:spcBef>
                <a:spcPts val="35"/>
              </a:spcBef>
            </a:pPr>
            <a:r>
              <a:rPr sz="1100" b="1" dirty="0">
                <a:latin typeface="Open Sans Extrabold"/>
                <a:cs typeface="Open Sans Extrabold"/>
              </a:rPr>
              <a:t>Points</a:t>
            </a:r>
            <a:r>
              <a:rPr sz="1100" b="1" spc="-23" dirty="0">
                <a:latin typeface="Open Sans Extrabold"/>
                <a:cs typeface="Open Sans Extrabold"/>
              </a:rPr>
              <a:t> </a:t>
            </a:r>
            <a:r>
              <a:rPr sz="1100" b="1" dirty="0">
                <a:latin typeface="Open Sans Extrabold"/>
                <a:cs typeface="Open Sans Extrabold"/>
              </a:rPr>
              <a:t>to</a:t>
            </a:r>
            <a:r>
              <a:rPr sz="1100" b="1" spc="-20" dirty="0">
                <a:latin typeface="Open Sans Extrabold"/>
                <a:cs typeface="Open Sans Extrabold"/>
              </a:rPr>
              <a:t> </a:t>
            </a:r>
            <a:r>
              <a:rPr sz="1100" b="1" spc="-5" dirty="0">
                <a:latin typeface="Open Sans Extrabold"/>
                <a:cs typeface="Open Sans Extrabold"/>
              </a:rPr>
              <a:t>focus</a:t>
            </a:r>
            <a:endParaRPr sz="1100" dirty="0">
              <a:latin typeface="Open Sans Extrabold"/>
              <a:cs typeface="Open Sans Extrabold"/>
            </a:endParaRPr>
          </a:p>
          <a:p>
            <a:pPr marL="123825">
              <a:spcBef>
                <a:spcPts val="735"/>
              </a:spcBef>
              <a:tabLst>
                <a:tab pos="1048703" algn="l"/>
              </a:tabLst>
            </a:pPr>
            <a:r>
              <a:rPr sz="1100" b="1" spc="-5" dirty="0">
                <a:latin typeface="Roboto"/>
                <a:cs typeface="Roboto"/>
              </a:rPr>
              <a:t>Supportablity</a:t>
            </a:r>
            <a:r>
              <a:rPr sz="1100" b="1" dirty="0">
                <a:latin typeface="Roboto"/>
                <a:cs typeface="Roboto"/>
              </a:rPr>
              <a:t>	</a:t>
            </a:r>
            <a:r>
              <a:rPr sz="1100" dirty="0">
                <a:latin typeface="Roboto"/>
                <a:cs typeface="Roboto"/>
              </a:rPr>
              <a:t>It</a:t>
            </a:r>
            <a:r>
              <a:rPr sz="1100" spc="-35" dirty="0">
                <a:latin typeface="Roboto"/>
                <a:cs typeface="Roboto"/>
              </a:rPr>
              <a:t> </a:t>
            </a:r>
            <a:r>
              <a:rPr sz="1100" dirty="0">
                <a:latin typeface="Roboto"/>
                <a:cs typeface="Roboto"/>
              </a:rPr>
              <a:t>supports:</a:t>
            </a:r>
            <a:r>
              <a:rPr sz="1100" spc="-33" dirty="0">
                <a:latin typeface="Roboto"/>
                <a:cs typeface="Roboto"/>
              </a:rPr>
              <a:t> </a:t>
            </a:r>
            <a:r>
              <a:rPr sz="1100" b="1" dirty="0">
                <a:latin typeface="Roboto"/>
                <a:cs typeface="Roboto"/>
              </a:rPr>
              <a:t>Aurora</a:t>
            </a:r>
            <a:r>
              <a:rPr sz="1100" dirty="0">
                <a:latin typeface="Roboto"/>
                <a:cs typeface="Roboto"/>
              </a:rPr>
              <a:t>,</a:t>
            </a:r>
            <a:r>
              <a:rPr sz="1100" spc="-35" dirty="0">
                <a:latin typeface="Roboto"/>
                <a:cs typeface="Roboto"/>
              </a:rPr>
              <a:t> </a:t>
            </a:r>
            <a:r>
              <a:rPr sz="1100" dirty="0">
                <a:latin typeface="Roboto"/>
                <a:cs typeface="Roboto"/>
              </a:rPr>
              <a:t>MySQL,</a:t>
            </a:r>
            <a:r>
              <a:rPr sz="1100" spc="-33" dirty="0">
                <a:latin typeface="Roboto"/>
                <a:cs typeface="Roboto"/>
              </a:rPr>
              <a:t> </a:t>
            </a:r>
            <a:r>
              <a:rPr sz="1100" dirty="0">
                <a:latin typeface="Roboto"/>
                <a:cs typeface="Roboto"/>
              </a:rPr>
              <a:t>MariaDB,</a:t>
            </a:r>
            <a:r>
              <a:rPr sz="1100" spc="-33" dirty="0">
                <a:latin typeface="Roboto"/>
                <a:cs typeface="Roboto"/>
              </a:rPr>
              <a:t> </a:t>
            </a:r>
            <a:r>
              <a:rPr sz="1100" dirty="0">
                <a:latin typeface="Roboto"/>
                <a:cs typeface="Roboto"/>
              </a:rPr>
              <a:t>PostgreSQL,</a:t>
            </a:r>
            <a:r>
              <a:rPr sz="1100" spc="-35" dirty="0">
                <a:latin typeface="Roboto"/>
                <a:cs typeface="Roboto"/>
              </a:rPr>
              <a:t> </a:t>
            </a:r>
            <a:r>
              <a:rPr sz="1100" dirty="0">
                <a:latin typeface="Roboto"/>
                <a:cs typeface="Roboto"/>
              </a:rPr>
              <a:t>Oracle,</a:t>
            </a:r>
            <a:r>
              <a:rPr sz="1100" spc="-33" dirty="0">
                <a:latin typeface="Roboto"/>
                <a:cs typeface="Roboto"/>
              </a:rPr>
              <a:t> </a:t>
            </a:r>
            <a:r>
              <a:rPr sz="1100" dirty="0">
                <a:latin typeface="Roboto"/>
                <a:cs typeface="Roboto"/>
              </a:rPr>
              <a:t>Microsoft</a:t>
            </a:r>
            <a:r>
              <a:rPr sz="1100" spc="-35" dirty="0">
                <a:latin typeface="Roboto"/>
                <a:cs typeface="Roboto"/>
              </a:rPr>
              <a:t> </a:t>
            </a:r>
            <a:r>
              <a:rPr sz="1100" dirty="0">
                <a:latin typeface="Roboto"/>
                <a:cs typeface="Roboto"/>
              </a:rPr>
              <a:t>SQL</a:t>
            </a:r>
            <a:r>
              <a:rPr sz="1100" spc="-33" dirty="0">
                <a:latin typeface="Roboto"/>
                <a:cs typeface="Roboto"/>
              </a:rPr>
              <a:t> </a:t>
            </a:r>
            <a:r>
              <a:rPr sz="1100" spc="-5" dirty="0">
                <a:latin typeface="Roboto"/>
                <a:cs typeface="Roboto"/>
              </a:rPr>
              <a:t>Server</a:t>
            </a:r>
            <a:endParaRPr sz="1100" dirty="0">
              <a:latin typeface="Roboto"/>
              <a:cs typeface="Roboto"/>
            </a:endParaRPr>
          </a:p>
        </p:txBody>
      </p:sp>
      <p:sp>
        <p:nvSpPr>
          <p:cNvPr id="4" name="object 4"/>
          <p:cNvSpPr txBox="1"/>
          <p:nvPr/>
        </p:nvSpPr>
        <p:spPr>
          <a:xfrm>
            <a:off x="8173736" y="56322"/>
            <a:ext cx="911860" cy="138499"/>
          </a:xfrm>
          <a:prstGeom prst="rect">
            <a:avLst/>
          </a:prstGeom>
        </p:spPr>
        <p:txBody>
          <a:bodyPr vert="horz" wrap="square" lIns="0" tIns="7620" rIns="0" bIns="0" rtlCol="0">
            <a:spAutoFit/>
          </a:bodyPr>
          <a:lstStyle/>
          <a:p>
            <a:pPr marL="6350">
              <a:spcBef>
                <a:spcPts val="60"/>
              </a:spcBef>
            </a:pPr>
            <a:r>
              <a:rPr sz="850" dirty="0">
                <a:solidFill>
                  <a:srgbClr val="13110E"/>
                </a:solidFill>
                <a:latin typeface="Open Sans Light"/>
                <a:cs typeface="Open Sans Light"/>
              </a:rPr>
              <a:t>Learn</a:t>
            </a:r>
            <a:r>
              <a:rPr sz="850" spc="15" dirty="0">
                <a:solidFill>
                  <a:srgbClr val="13110E"/>
                </a:solidFill>
                <a:latin typeface="Open Sans Light"/>
                <a:cs typeface="Open Sans Light"/>
              </a:rPr>
              <a:t> </a:t>
            </a:r>
            <a:r>
              <a:rPr sz="850" dirty="0">
                <a:solidFill>
                  <a:srgbClr val="13110E"/>
                </a:solidFill>
                <a:latin typeface="Open Sans Light"/>
                <a:cs typeface="Open Sans Light"/>
              </a:rPr>
              <a:t>With</a:t>
            </a:r>
            <a:r>
              <a:rPr sz="850" spc="15" dirty="0">
                <a:solidFill>
                  <a:srgbClr val="13110E"/>
                </a:solidFill>
                <a:latin typeface="Open Sans Light"/>
                <a:cs typeface="Open Sans Light"/>
              </a:rPr>
              <a:t> </a:t>
            </a:r>
            <a:r>
              <a:rPr sz="850" spc="-5" dirty="0">
                <a:solidFill>
                  <a:srgbClr val="13110E"/>
                </a:solidFill>
                <a:latin typeface="Open Sans Light"/>
                <a:cs typeface="Open Sans Light"/>
              </a:rPr>
              <a:t>Sandip</a:t>
            </a:r>
            <a:endParaRPr sz="850">
              <a:latin typeface="Open Sans Light"/>
              <a:cs typeface="Open Sans Light"/>
            </a:endParaRPr>
          </a:p>
        </p:txBody>
      </p:sp>
      <p:sp>
        <p:nvSpPr>
          <p:cNvPr id="5" name="object 5"/>
          <p:cNvSpPr txBox="1"/>
          <p:nvPr/>
        </p:nvSpPr>
        <p:spPr>
          <a:xfrm>
            <a:off x="33834" y="1898165"/>
            <a:ext cx="1163003" cy="1017843"/>
          </a:xfrm>
          <a:prstGeom prst="rect">
            <a:avLst/>
          </a:prstGeom>
        </p:spPr>
        <p:txBody>
          <a:bodyPr vert="horz" wrap="square" lIns="0" tIns="6350" rIns="0" bIns="0" rtlCol="0">
            <a:spAutoFit/>
          </a:bodyPr>
          <a:lstStyle/>
          <a:p>
            <a:pPr marL="314643" marR="2540" indent="-106680" algn="r">
              <a:lnSpc>
                <a:spcPct val="116500"/>
              </a:lnSpc>
              <a:spcBef>
                <a:spcPts val="50"/>
              </a:spcBef>
            </a:pPr>
            <a:r>
              <a:rPr sz="1100" b="1" dirty="0">
                <a:latin typeface="Roboto"/>
                <a:cs typeface="Roboto"/>
              </a:rPr>
              <a:t>Usecase</a:t>
            </a:r>
            <a:r>
              <a:rPr sz="1100" b="1" spc="-33" dirty="0">
                <a:latin typeface="Roboto"/>
                <a:cs typeface="Roboto"/>
              </a:rPr>
              <a:t> </a:t>
            </a:r>
            <a:r>
              <a:rPr sz="1100" b="1" spc="-10" dirty="0">
                <a:latin typeface="Roboto"/>
                <a:cs typeface="Roboto"/>
              </a:rPr>
              <a:t>based </a:t>
            </a:r>
            <a:r>
              <a:rPr sz="1100" b="1" dirty="0">
                <a:latin typeface="Roboto"/>
                <a:cs typeface="Roboto"/>
              </a:rPr>
              <a:t>instance</a:t>
            </a:r>
            <a:r>
              <a:rPr sz="1100" b="1" spc="-38" dirty="0">
                <a:latin typeface="Roboto"/>
                <a:cs typeface="Roboto"/>
              </a:rPr>
              <a:t> </a:t>
            </a:r>
            <a:r>
              <a:rPr sz="1100" b="1" spc="-10" dirty="0">
                <a:latin typeface="Roboto"/>
                <a:cs typeface="Roboto"/>
              </a:rPr>
              <a:t>type</a:t>
            </a:r>
            <a:endParaRPr sz="1100">
              <a:latin typeface="Roboto"/>
              <a:cs typeface="Roboto"/>
            </a:endParaRPr>
          </a:p>
          <a:p>
            <a:pPr marR="2540" algn="r">
              <a:spcBef>
                <a:spcPts val="217"/>
              </a:spcBef>
            </a:pPr>
            <a:r>
              <a:rPr sz="1100" b="1" spc="-5" dirty="0">
                <a:latin typeface="Roboto"/>
                <a:cs typeface="Roboto"/>
              </a:rPr>
              <a:t>selection</a:t>
            </a:r>
            <a:endParaRPr sz="1100">
              <a:latin typeface="Roboto"/>
              <a:cs typeface="Roboto"/>
            </a:endParaRPr>
          </a:p>
          <a:p>
            <a:pPr marL="102870" marR="2540" indent="-96838" algn="r">
              <a:lnSpc>
                <a:spcPct val="116500"/>
              </a:lnSpc>
              <a:spcBef>
                <a:spcPts val="338"/>
              </a:spcBef>
            </a:pPr>
            <a:r>
              <a:rPr sz="1100" b="1" dirty="0">
                <a:latin typeface="Roboto"/>
                <a:cs typeface="Roboto"/>
              </a:rPr>
              <a:t>High</a:t>
            </a:r>
            <a:r>
              <a:rPr sz="1100" b="1" spc="-25" dirty="0">
                <a:latin typeface="Roboto"/>
                <a:cs typeface="Roboto"/>
              </a:rPr>
              <a:t> </a:t>
            </a:r>
            <a:r>
              <a:rPr sz="1100" b="1" dirty="0">
                <a:latin typeface="Roboto"/>
                <a:cs typeface="Roboto"/>
              </a:rPr>
              <a:t>Availability</a:t>
            </a:r>
            <a:r>
              <a:rPr sz="1100" b="1" spc="-23" dirty="0">
                <a:latin typeface="Roboto"/>
                <a:cs typeface="Roboto"/>
              </a:rPr>
              <a:t> </a:t>
            </a:r>
            <a:r>
              <a:rPr sz="1100" b="1" spc="-25" dirty="0">
                <a:latin typeface="Roboto"/>
                <a:cs typeface="Roboto"/>
              </a:rPr>
              <a:t>&amp; </a:t>
            </a:r>
            <a:r>
              <a:rPr sz="1100" b="1" dirty="0">
                <a:latin typeface="Roboto"/>
                <a:cs typeface="Roboto"/>
              </a:rPr>
              <a:t>Fault</a:t>
            </a:r>
            <a:r>
              <a:rPr sz="1100" b="1" spc="-15" dirty="0">
                <a:latin typeface="Roboto"/>
                <a:cs typeface="Roboto"/>
              </a:rPr>
              <a:t> </a:t>
            </a:r>
            <a:r>
              <a:rPr sz="1100" b="1" spc="-5" dirty="0">
                <a:latin typeface="Roboto"/>
                <a:cs typeface="Roboto"/>
              </a:rPr>
              <a:t>Taulenrece</a:t>
            </a:r>
            <a:endParaRPr sz="1100">
              <a:latin typeface="Roboto"/>
              <a:cs typeface="Roboto"/>
            </a:endParaRPr>
          </a:p>
        </p:txBody>
      </p:sp>
      <p:sp>
        <p:nvSpPr>
          <p:cNvPr id="7" name="object 7"/>
          <p:cNvSpPr txBox="1"/>
          <p:nvPr/>
        </p:nvSpPr>
        <p:spPr>
          <a:xfrm>
            <a:off x="385366" y="3113824"/>
            <a:ext cx="811530" cy="175689"/>
          </a:xfrm>
          <a:prstGeom prst="rect">
            <a:avLst/>
          </a:prstGeom>
        </p:spPr>
        <p:txBody>
          <a:bodyPr vert="horz" wrap="square" lIns="0" tIns="6350" rIns="0" bIns="0" rtlCol="0">
            <a:spAutoFit/>
          </a:bodyPr>
          <a:lstStyle/>
          <a:p>
            <a:pPr marL="6350">
              <a:spcBef>
                <a:spcPts val="50"/>
              </a:spcBef>
            </a:pPr>
            <a:r>
              <a:rPr sz="1100" b="1" dirty="0">
                <a:latin typeface="Roboto"/>
                <a:cs typeface="Roboto"/>
              </a:rPr>
              <a:t>Auto</a:t>
            </a:r>
            <a:r>
              <a:rPr sz="1100" b="1" spc="-15" dirty="0">
                <a:latin typeface="Roboto"/>
                <a:cs typeface="Roboto"/>
              </a:rPr>
              <a:t> </a:t>
            </a:r>
            <a:r>
              <a:rPr sz="1100" b="1" spc="-5" dirty="0">
                <a:latin typeface="Roboto"/>
                <a:cs typeface="Roboto"/>
              </a:rPr>
              <a:t>Scaling</a:t>
            </a:r>
            <a:endParaRPr sz="1100">
              <a:latin typeface="Roboto"/>
              <a:cs typeface="Roboto"/>
            </a:endParaRPr>
          </a:p>
        </p:txBody>
      </p:sp>
      <p:sp>
        <p:nvSpPr>
          <p:cNvPr id="8" name="object 8"/>
          <p:cNvSpPr txBox="1"/>
          <p:nvPr/>
        </p:nvSpPr>
        <p:spPr>
          <a:xfrm>
            <a:off x="495424" y="3532968"/>
            <a:ext cx="701675" cy="388311"/>
          </a:xfrm>
          <a:prstGeom prst="rect">
            <a:avLst/>
          </a:prstGeom>
        </p:spPr>
        <p:txBody>
          <a:bodyPr vert="horz" wrap="square" lIns="0" tIns="6350" rIns="0" bIns="0" rtlCol="0">
            <a:spAutoFit/>
          </a:bodyPr>
          <a:lstStyle/>
          <a:p>
            <a:pPr marL="6350" marR="2540" indent="116205">
              <a:lnSpc>
                <a:spcPct val="116500"/>
              </a:lnSpc>
              <a:spcBef>
                <a:spcPts val="50"/>
              </a:spcBef>
            </a:pPr>
            <a:r>
              <a:rPr sz="1100" b="1" dirty="0">
                <a:latin typeface="Roboto"/>
                <a:cs typeface="Roboto"/>
              </a:rPr>
              <a:t>Pricing</a:t>
            </a:r>
            <a:r>
              <a:rPr sz="1100" b="1" spc="-38" dirty="0">
                <a:latin typeface="Roboto"/>
                <a:cs typeface="Roboto"/>
              </a:rPr>
              <a:t> </a:t>
            </a:r>
            <a:r>
              <a:rPr sz="1100" b="1" spc="-25" dirty="0">
                <a:latin typeface="Roboto"/>
                <a:cs typeface="Roboto"/>
              </a:rPr>
              <a:t>&amp; </a:t>
            </a:r>
            <a:r>
              <a:rPr sz="1100" b="1" spc="-5" dirty="0">
                <a:latin typeface="Roboto"/>
                <a:cs typeface="Roboto"/>
              </a:rPr>
              <a:t>Monitoring</a:t>
            </a:r>
            <a:endParaRPr sz="1100">
              <a:latin typeface="Roboto"/>
              <a:cs typeface="Roboto"/>
            </a:endParaRPr>
          </a:p>
        </p:txBody>
      </p:sp>
      <p:sp>
        <p:nvSpPr>
          <p:cNvPr id="9" name="object 9"/>
          <p:cNvSpPr txBox="1"/>
          <p:nvPr/>
        </p:nvSpPr>
        <p:spPr>
          <a:xfrm>
            <a:off x="482178" y="4220280"/>
            <a:ext cx="714693" cy="388311"/>
          </a:xfrm>
          <a:prstGeom prst="rect">
            <a:avLst/>
          </a:prstGeom>
        </p:spPr>
        <p:txBody>
          <a:bodyPr vert="horz" wrap="square" lIns="0" tIns="6350" rIns="0" bIns="0" rtlCol="0">
            <a:spAutoFit/>
          </a:bodyPr>
          <a:lstStyle/>
          <a:p>
            <a:pPr marL="42545" marR="2540" indent="-36513">
              <a:lnSpc>
                <a:spcPct val="116500"/>
              </a:lnSpc>
              <a:spcBef>
                <a:spcPts val="50"/>
              </a:spcBef>
            </a:pPr>
            <a:r>
              <a:rPr sz="1100" b="1" dirty="0">
                <a:latin typeface="Roboto"/>
                <a:cs typeface="Roboto"/>
              </a:rPr>
              <a:t>Use</a:t>
            </a:r>
            <a:r>
              <a:rPr sz="1100" b="1" spc="-15" dirty="0">
                <a:latin typeface="Roboto"/>
                <a:cs typeface="Roboto"/>
              </a:rPr>
              <a:t> </a:t>
            </a:r>
            <a:r>
              <a:rPr sz="1100" b="1" spc="-5" dirty="0">
                <a:latin typeface="Roboto"/>
                <a:cs typeface="Roboto"/>
              </a:rPr>
              <a:t>Aurora Serverless</a:t>
            </a:r>
            <a:endParaRPr sz="1100">
              <a:latin typeface="Roboto"/>
              <a:cs typeface="Roboto"/>
            </a:endParaRPr>
          </a:p>
        </p:txBody>
      </p:sp>
      <p:sp>
        <p:nvSpPr>
          <p:cNvPr id="10" name="object 10"/>
          <p:cNvSpPr txBox="1"/>
          <p:nvPr/>
        </p:nvSpPr>
        <p:spPr>
          <a:xfrm>
            <a:off x="1330521" y="3070942"/>
            <a:ext cx="7621588" cy="1532535"/>
          </a:xfrm>
          <a:prstGeom prst="rect">
            <a:avLst/>
          </a:prstGeom>
        </p:spPr>
        <p:txBody>
          <a:bodyPr vert="horz" wrap="square" lIns="0" tIns="6350" rIns="0" bIns="0" rtlCol="0">
            <a:spAutoFit/>
          </a:bodyPr>
          <a:lstStyle/>
          <a:p>
            <a:pPr marL="6350" marR="17463">
              <a:lnSpc>
                <a:spcPct val="116500"/>
              </a:lnSpc>
              <a:spcBef>
                <a:spcPts val="50"/>
              </a:spcBef>
            </a:pPr>
            <a:r>
              <a:rPr sz="1100" dirty="0">
                <a:latin typeface="Roboto"/>
                <a:cs typeface="Roboto"/>
              </a:rPr>
              <a:t>Utilize</a:t>
            </a:r>
            <a:r>
              <a:rPr sz="1100" spc="-25" dirty="0">
                <a:latin typeface="Roboto"/>
                <a:cs typeface="Roboto"/>
              </a:rPr>
              <a:t> </a:t>
            </a:r>
            <a:r>
              <a:rPr sz="1100" dirty="0">
                <a:latin typeface="Roboto"/>
                <a:cs typeface="Roboto"/>
              </a:rPr>
              <a:t>RDS</a:t>
            </a:r>
            <a:r>
              <a:rPr sz="1100" spc="-25" dirty="0">
                <a:latin typeface="Roboto"/>
                <a:cs typeface="Roboto"/>
              </a:rPr>
              <a:t> </a:t>
            </a:r>
            <a:r>
              <a:rPr sz="1100" dirty="0">
                <a:latin typeface="Roboto"/>
                <a:cs typeface="Roboto"/>
              </a:rPr>
              <a:t>storage</a:t>
            </a:r>
            <a:r>
              <a:rPr sz="1100" spc="-23" dirty="0">
                <a:latin typeface="Roboto"/>
                <a:cs typeface="Roboto"/>
              </a:rPr>
              <a:t> </a:t>
            </a:r>
            <a:r>
              <a:rPr sz="1100" dirty="0">
                <a:latin typeface="Roboto"/>
                <a:cs typeface="Roboto"/>
              </a:rPr>
              <a:t>autoscaling.</a:t>
            </a:r>
            <a:r>
              <a:rPr sz="1100" spc="-25" dirty="0">
                <a:latin typeface="Roboto"/>
                <a:cs typeface="Roboto"/>
              </a:rPr>
              <a:t> </a:t>
            </a:r>
            <a:r>
              <a:rPr sz="1100" dirty="0">
                <a:latin typeface="Roboto"/>
                <a:cs typeface="Roboto"/>
              </a:rPr>
              <a:t>Amazon</a:t>
            </a:r>
            <a:r>
              <a:rPr sz="1100" spc="-23" dirty="0">
                <a:latin typeface="Roboto"/>
                <a:cs typeface="Roboto"/>
              </a:rPr>
              <a:t> </a:t>
            </a:r>
            <a:r>
              <a:rPr sz="1100" dirty="0">
                <a:latin typeface="Roboto"/>
                <a:cs typeface="Roboto"/>
              </a:rPr>
              <a:t>RDS</a:t>
            </a:r>
            <a:r>
              <a:rPr sz="1100" spc="-25" dirty="0">
                <a:latin typeface="Roboto"/>
                <a:cs typeface="Roboto"/>
              </a:rPr>
              <a:t> </a:t>
            </a:r>
            <a:r>
              <a:rPr sz="1100" dirty="0">
                <a:latin typeface="Roboto"/>
                <a:cs typeface="Roboto"/>
              </a:rPr>
              <a:t>for</a:t>
            </a:r>
            <a:r>
              <a:rPr sz="1100" spc="-23" dirty="0">
                <a:latin typeface="Roboto"/>
                <a:cs typeface="Roboto"/>
              </a:rPr>
              <a:t> </a:t>
            </a:r>
            <a:r>
              <a:rPr sz="1100" dirty="0">
                <a:latin typeface="Roboto"/>
                <a:cs typeface="Roboto"/>
              </a:rPr>
              <a:t>MariaDB,</a:t>
            </a:r>
            <a:r>
              <a:rPr sz="1100" spc="-25" dirty="0">
                <a:latin typeface="Roboto"/>
                <a:cs typeface="Roboto"/>
              </a:rPr>
              <a:t> </a:t>
            </a:r>
            <a:r>
              <a:rPr sz="1100" dirty="0">
                <a:latin typeface="Roboto"/>
                <a:cs typeface="Roboto"/>
              </a:rPr>
              <a:t>Amazon</a:t>
            </a:r>
            <a:r>
              <a:rPr sz="1100" spc="-25" dirty="0">
                <a:latin typeface="Roboto"/>
                <a:cs typeface="Roboto"/>
              </a:rPr>
              <a:t> </a:t>
            </a:r>
            <a:r>
              <a:rPr sz="1100" dirty="0">
                <a:latin typeface="Roboto"/>
                <a:cs typeface="Roboto"/>
              </a:rPr>
              <a:t>RDS</a:t>
            </a:r>
            <a:r>
              <a:rPr sz="1100" spc="-23" dirty="0">
                <a:latin typeface="Roboto"/>
                <a:cs typeface="Roboto"/>
              </a:rPr>
              <a:t> </a:t>
            </a:r>
            <a:r>
              <a:rPr sz="1100" dirty="0">
                <a:latin typeface="Roboto"/>
                <a:cs typeface="Roboto"/>
              </a:rPr>
              <a:t>for</a:t>
            </a:r>
            <a:r>
              <a:rPr sz="1100" spc="-25" dirty="0">
                <a:latin typeface="Roboto"/>
                <a:cs typeface="Roboto"/>
              </a:rPr>
              <a:t> </a:t>
            </a:r>
            <a:r>
              <a:rPr sz="1100" dirty="0">
                <a:latin typeface="Roboto"/>
                <a:cs typeface="Roboto"/>
              </a:rPr>
              <a:t>MySQL,</a:t>
            </a:r>
            <a:r>
              <a:rPr sz="1100" spc="-23" dirty="0">
                <a:latin typeface="Roboto"/>
                <a:cs typeface="Roboto"/>
              </a:rPr>
              <a:t> </a:t>
            </a:r>
            <a:r>
              <a:rPr sz="1100" dirty="0">
                <a:latin typeface="Roboto"/>
                <a:cs typeface="Roboto"/>
              </a:rPr>
              <a:t>Amazon</a:t>
            </a:r>
            <a:r>
              <a:rPr sz="1100" spc="-25" dirty="0">
                <a:latin typeface="Roboto"/>
                <a:cs typeface="Roboto"/>
              </a:rPr>
              <a:t> </a:t>
            </a:r>
            <a:r>
              <a:rPr sz="1100" dirty="0">
                <a:latin typeface="Roboto"/>
                <a:cs typeface="Roboto"/>
              </a:rPr>
              <a:t>RDS</a:t>
            </a:r>
            <a:r>
              <a:rPr sz="1100" spc="-23" dirty="0">
                <a:latin typeface="Roboto"/>
                <a:cs typeface="Roboto"/>
              </a:rPr>
              <a:t> </a:t>
            </a:r>
            <a:r>
              <a:rPr sz="1100" dirty="0">
                <a:latin typeface="Roboto"/>
                <a:cs typeface="Roboto"/>
              </a:rPr>
              <a:t>for</a:t>
            </a:r>
            <a:r>
              <a:rPr sz="1100" spc="-25" dirty="0">
                <a:latin typeface="Roboto"/>
                <a:cs typeface="Roboto"/>
              </a:rPr>
              <a:t> </a:t>
            </a:r>
            <a:r>
              <a:rPr sz="1100" dirty="0">
                <a:latin typeface="Roboto"/>
                <a:cs typeface="Roboto"/>
              </a:rPr>
              <a:t>PostgreSQL,</a:t>
            </a:r>
            <a:r>
              <a:rPr sz="1100" spc="-23" dirty="0">
                <a:latin typeface="Roboto"/>
                <a:cs typeface="Roboto"/>
              </a:rPr>
              <a:t> </a:t>
            </a:r>
            <a:r>
              <a:rPr sz="1100" spc="-5" dirty="0">
                <a:latin typeface="Roboto"/>
                <a:cs typeface="Roboto"/>
              </a:rPr>
              <a:t>Amazon </a:t>
            </a:r>
            <a:r>
              <a:rPr sz="1100" dirty="0">
                <a:latin typeface="Roboto"/>
                <a:cs typeface="Roboto"/>
              </a:rPr>
              <a:t>RDS</a:t>
            </a:r>
            <a:r>
              <a:rPr sz="1100" spc="-18" dirty="0">
                <a:latin typeface="Roboto"/>
                <a:cs typeface="Roboto"/>
              </a:rPr>
              <a:t> </a:t>
            </a:r>
            <a:r>
              <a:rPr sz="1100" dirty="0">
                <a:latin typeface="Roboto"/>
                <a:cs typeface="Roboto"/>
              </a:rPr>
              <a:t>for</a:t>
            </a:r>
            <a:r>
              <a:rPr sz="1100" spc="-18" dirty="0">
                <a:latin typeface="Roboto"/>
                <a:cs typeface="Roboto"/>
              </a:rPr>
              <a:t> </a:t>
            </a:r>
            <a:r>
              <a:rPr sz="1100" dirty="0">
                <a:latin typeface="Roboto"/>
                <a:cs typeface="Roboto"/>
              </a:rPr>
              <a:t>SQL</a:t>
            </a:r>
            <a:r>
              <a:rPr sz="1100" spc="-18" dirty="0">
                <a:latin typeface="Roboto"/>
                <a:cs typeface="Roboto"/>
              </a:rPr>
              <a:t> </a:t>
            </a:r>
            <a:r>
              <a:rPr sz="1100" dirty="0">
                <a:latin typeface="Roboto"/>
                <a:cs typeface="Roboto"/>
              </a:rPr>
              <a:t>Server,</a:t>
            </a:r>
            <a:r>
              <a:rPr sz="1100" spc="-18" dirty="0">
                <a:latin typeface="Roboto"/>
                <a:cs typeface="Roboto"/>
              </a:rPr>
              <a:t> </a:t>
            </a:r>
            <a:r>
              <a:rPr sz="1100" dirty="0">
                <a:latin typeface="Roboto"/>
                <a:cs typeface="Roboto"/>
              </a:rPr>
              <a:t>and</a:t>
            </a:r>
            <a:r>
              <a:rPr sz="1100" spc="-18" dirty="0">
                <a:latin typeface="Roboto"/>
                <a:cs typeface="Roboto"/>
              </a:rPr>
              <a:t> </a:t>
            </a:r>
            <a:r>
              <a:rPr sz="1100" dirty="0">
                <a:latin typeface="Roboto"/>
                <a:cs typeface="Roboto"/>
              </a:rPr>
              <a:t>Amazon</a:t>
            </a:r>
            <a:r>
              <a:rPr sz="1100" spc="-15" dirty="0">
                <a:latin typeface="Roboto"/>
                <a:cs typeface="Roboto"/>
              </a:rPr>
              <a:t> </a:t>
            </a:r>
            <a:r>
              <a:rPr sz="1100" dirty="0">
                <a:latin typeface="Roboto"/>
                <a:cs typeface="Roboto"/>
              </a:rPr>
              <a:t>RDS</a:t>
            </a:r>
            <a:r>
              <a:rPr sz="1100" spc="-18" dirty="0">
                <a:latin typeface="Roboto"/>
                <a:cs typeface="Roboto"/>
              </a:rPr>
              <a:t> </a:t>
            </a:r>
            <a:r>
              <a:rPr sz="1100" dirty="0">
                <a:latin typeface="Roboto"/>
                <a:cs typeface="Roboto"/>
              </a:rPr>
              <a:t>for</a:t>
            </a:r>
            <a:r>
              <a:rPr sz="1100" spc="-18" dirty="0">
                <a:latin typeface="Roboto"/>
                <a:cs typeface="Roboto"/>
              </a:rPr>
              <a:t> </a:t>
            </a:r>
            <a:r>
              <a:rPr sz="1100" dirty="0">
                <a:latin typeface="Roboto"/>
                <a:cs typeface="Roboto"/>
              </a:rPr>
              <a:t>Oracle</a:t>
            </a:r>
            <a:r>
              <a:rPr sz="1100" spc="-18" dirty="0">
                <a:latin typeface="Roboto"/>
                <a:cs typeface="Roboto"/>
              </a:rPr>
              <a:t> </a:t>
            </a:r>
            <a:r>
              <a:rPr sz="1100" dirty="0">
                <a:latin typeface="Roboto"/>
                <a:cs typeface="Roboto"/>
              </a:rPr>
              <a:t>support</a:t>
            </a:r>
            <a:r>
              <a:rPr sz="1100" spc="-18" dirty="0">
                <a:latin typeface="Roboto"/>
                <a:cs typeface="Roboto"/>
              </a:rPr>
              <a:t> </a:t>
            </a:r>
            <a:r>
              <a:rPr sz="1100" dirty="0">
                <a:latin typeface="Roboto"/>
                <a:cs typeface="Roboto"/>
              </a:rPr>
              <a:t>RDS</a:t>
            </a:r>
            <a:r>
              <a:rPr sz="1100" spc="-18" dirty="0">
                <a:latin typeface="Roboto"/>
                <a:cs typeface="Roboto"/>
              </a:rPr>
              <a:t> </a:t>
            </a:r>
            <a:r>
              <a:rPr sz="1100" dirty="0">
                <a:latin typeface="Roboto"/>
                <a:cs typeface="Roboto"/>
              </a:rPr>
              <a:t>Storage</a:t>
            </a:r>
            <a:r>
              <a:rPr sz="1100" spc="-15" dirty="0">
                <a:latin typeface="Roboto"/>
                <a:cs typeface="Roboto"/>
              </a:rPr>
              <a:t> </a:t>
            </a:r>
            <a:r>
              <a:rPr sz="1100" dirty="0">
                <a:latin typeface="Roboto"/>
                <a:cs typeface="Roboto"/>
              </a:rPr>
              <a:t>Auto</a:t>
            </a:r>
            <a:r>
              <a:rPr sz="1100" spc="-18" dirty="0">
                <a:latin typeface="Roboto"/>
                <a:cs typeface="Roboto"/>
              </a:rPr>
              <a:t> </a:t>
            </a:r>
            <a:r>
              <a:rPr sz="1100" spc="-5" dirty="0">
                <a:latin typeface="Roboto"/>
                <a:cs typeface="Roboto"/>
              </a:rPr>
              <a:t>Scaling.</a:t>
            </a:r>
            <a:endParaRPr sz="1100" dirty="0">
              <a:latin typeface="Roboto"/>
              <a:cs typeface="Roboto"/>
            </a:endParaRPr>
          </a:p>
          <a:p>
            <a:pPr marL="6350" marR="176848">
              <a:lnSpc>
                <a:spcPct val="116500"/>
              </a:lnSpc>
              <a:spcBef>
                <a:spcPts val="443"/>
              </a:spcBef>
              <a:tabLst>
                <a:tab pos="850582" algn="l"/>
              </a:tabLst>
            </a:pPr>
            <a:r>
              <a:rPr sz="1100" dirty="0">
                <a:latin typeface="Roboto"/>
                <a:cs typeface="Roboto"/>
              </a:rPr>
              <a:t>Choose</a:t>
            </a:r>
            <a:r>
              <a:rPr sz="1100" spc="-20" dirty="0">
                <a:latin typeface="Roboto"/>
                <a:cs typeface="Roboto"/>
              </a:rPr>
              <a:t> </a:t>
            </a:r>
            <a:r>
              <a:rPr sz="1100" dirty="0">
                <a:latin typeface="Roboto"/>
                <a:cs typeface="Roboto"/>
              </a:rPr>
              <a:t>DB</a:t>
            </a:r>
            <a:r>
              <a:rPr sz="1100" spc="-20" dirty="0">
                <a:latin typeface="Roboto"/>
                <a:cs typeface="Roboto"/>
              </a:rPr>
              <a:t> </a:t>
            </a:r>
            <a:r>
              <a:rPr sz="1100" dirty="0">
                <a:latin typeface="Roboto"/>
                <a:cs typeface="Roboto"/>
              </a:rPr>
              <a:t>engine</a:t>
            </a:r>
            <a:r>
              <a:rPr sz="1100" spc="-18" dirty="0">
                <a:latin typeface="Roboto"/>
                <a:cs typeface="Roboto"/>
              </a:rPr>
              <a:t> </a:t>
            </a:r>
            <a:r>
              <a:rPr sz="1100" dirty="0">
                <a:latin typeface="Roboto"/>
                <a:cs typeface="Roboto"/>
              </a:rPr>
              <a:t>based</a:t>
            </a:r>
            <a:r>
              <a:rPr sz="1100" spc="-20" dirty="0">
                <a:latin typeface="Roboto"/>
                <a:cs typeface="Roboto"/>
              </a:rPr>
              <a:t> </a:t>
            </a:r>
            <a:r>
              <a:rPr sz="1100" dirty="0">
                <a:latin typeface="Roboto"/>
                <a:cs typeface="Roboto"/>
              </a:rPr>
              <a:t>on</a:t>
            </a:r>
            <a:r>
              <a:rPr sz="1100" spc="-20" dirty="0">
                <a:latin typeface="Roboto"/>
                <a:cs typeface="Roboto"/>
              </a:rPr>
              <a:t> </a:t>
            </a:r>
            <a:r>
              <a:rPr sz="1100" dirty="0">
                <a:latin typeface="Roboto"/>
                <a:cs typeface="Roboto"/>
              </a:rPr>
              <a:t>the</a:t>
            </a:r>
            <a:r>
              <a:rPr sz="1100" spc="-18" dirty="0">
                <a:latin typeface="Roboto"/>
                <a:cs typeface="Roboto"/>
              </a:rPr>
              <a:t> </a:t>
            </a:r>
            <a:r>
              <a:rPr sz="1100" dirty="0">
                <a:latin typeface="Roboto"/>
                <a:cs typeface="Roboto"/>
              </a:rPr>
              <a:t>use</a:t>
            </a:r>
            <a:r>
              <a:rPr sz="1100" spc="-20" dirty="0">
                <a:latin typeface="Roboto"/>
                <a:cs typeface="Roboto"/>
              </a:rPr>
              <a:t> </a:t>
            </a:r>
            <a:r>
              <a:rPr sz="1100" dirty="0">
                <a:latin typeface="Roboto"/>
                <a:cs typeface="Roboto"/>
              </a:rPr>
              <a:t>case</a:t>
            </a:r>
            <a:r>
              <a:rPr sz="1100" spc="-18" dirty="0">
                <a:latin typeface="Roboto"/>
                <a:cs typeface="Roboto"/>
              </a:rPr>
              <a:t> </a:t>
            </a:r>
            <a:r>
              <a:rPr sz="1100" dirty="0">
                <a:latin typeface="Roboto"/>
                <a:cs typeface="Roboto"/>
              </a:rPr>
              <a:t>and</a:t>
            </a:r>
            <a:r>
              <a:rPr sz="1100" spc="-20" dirty="0">
                <a:latin typeface="Roboto"/>
                <a:cs typeface="Roboto"/>
              </a:rPr>
              <a:t> </a:t>
            </a:r>
            <a:r>
              <a:rPr sz="1100" dirty="0">
                <a:latin typeface="Roboto"/>
                <a:cs typeface="Roboto"/>
              </a:rPr>
              <a:t>Instances</a:t>
            </a:r>
            <a:r>
              <a:rPr sz="1100" spc="-20" dirty="0">
                <a:latin typeface="Roboto"/>
                <a:cs typeface="Roboto"/>
              </a:rPr>
              <a:t> </a:t>
            </a:r>
            <a:r>
              <a:rPr sz="1100" dirty="0">
                <a:latin typeface="Roboto"/>
                <a:cs typeface="Roboto"/>
              </a:rPr>
              <a:t>size</a:t>
            </a:r>
            <a:r>
              <a:rPr sz="1100" spc="-18" dirty="0">
                <a:latin typeface="Roboto"/>
                <a:cs typeface="Roboto"/>
              </a:rPr>
              <a:t> </a:t>
            </a:r>
            <a:r>
              <a:rPr sz="1100" dirty="0">
                <a:latin typeface="Roboto"/>
                <a:cs typeface="Roboto"/>
              </a:rPr>
              <a:t>based</a:t>
            </a:r>
            <a:r>
              <a:rPr sz="1100" spc="-20" dirty="0">
                <a:latin typeface="Roboto"/>
                <a:cs typeface="Roboto"/>
              </a:rPr>
              <a:t> </a:t>
            </a:r>
            <a:r>
              <a:rPr sz="1100" dirty="0">
                <a:latin typeface="Roboto"/>
                <a:cs typeface="Roboto"/>
              </a:rPr>
              <a:t>on</a:t>
            </a:r>
            <a:r>
              <a:rPr sz="1100" spc="-20" dirty="0">
                <a:latin typeface="Roboto"/>
                <a:cs typeface="Roboto"/>
              </a:rPr>
              <a:t> </a:t>
            </a:r>
            <a:r>
              <a:rPr sz="1100" dirty="0">
                <a:latin typeface="Roboto"/>
                <a:cs typeface="Roboto"/>
              </a:rPr>
              <a:t>use</a:t>
            </a:r>
            <a:r>
              <a:rPr sz="1100" spc="-18" dirty="0">
                <a:latin typeface="Roboto"/>
                <a:cs typeface="Roboto"/>
              </a:rPr>
              <a:t> </a:t>
            </a:r>
            <a:r>
              <a:rPr sz="1100" dirty="0">
                <a:latin typeface="Roboto"/>
                <a:cs typeface="Roboto"/>
              </a:rPr>
              <a:t>case</a:t>
            </a:r>
            <a:r>
              <a:rPr sz="1100" spc="-20" dirty="0">
                <a:latin typeface="Roboto"/>
                <a:cs typeface="Roboto"/>
              </a:rPr>
              <a:t> </a:t>
            </a:r>
            <a:r>
              <a:rPr sz="1100" dirty="0">
                <a:latin typeface="Roboto"/>
                <a:cs typeface="Roboto"/>
              </a:rPr>
              <a:t>+</a:t>
            </a:r>
            <a:r>
              <a:rPr sz="1100" spc="-18" dirty="0">
                <a:latin typeface="Roboto"/>
                <a:cs typeface="Roboto"/>
              </a:rPr>
              <a:t> </a:t>
            </a:r>
            <a:r>
              <a:rPr sz="1100" dirty="0">
                <a:latin typeface="Roboto"/>
                <a:cs typeface="Roboto"/>
              </a:rPr>
              <a:t>budget,</a:t>
            </a:r>
            <a:r>
              <a:rPr sz="1100" spc="-20" dirty="0">
                <a:latin typeface="Roboto"/>
                <a:cs typeface="Roboto"/>
              </a:rPr>
              <a:t> </a:t>
            </a:r>
            <a:r>
              <a:rPr sz="1100" dirty="0">
                <a:latin typeface="Roboto"/>
                <a:cs typeface="Roboto"/>
              </a:rPr>
              <a:t>use</a:t>
            </a:r>
            <a:r>
              <a:rPr sz="1100" spc="-20" dirty="0">
                <a:latin typeface="Roboto"/>
                <a:cs typeface="Roboto"/>
              </a:rPr>
              <a:t> </a:t>
            </a:r>
            <a:r>
              <a:rPr sz="1100" dirty="0">
                <a:latin typeface="Roboto"/>
                <a:cs typeface="Roboto"/>
              </a:rPr>
              <a:t>creation</a:t>
            </a:r>
            <a:r>
              <a:rPr sz="1100" spc="-18" dirty="0">
                <a:latin typeface="Roboto"/>
                <a:cs typeface="Roboto"/>
              </a:rPr>
              <a:t> </a:t>
            </a:r>
            <a:r>
              <a:rPr sz="1100" dirty="0">
                <a:latin typeface="Roboto"/>
                <a:cs typeface="Roboto"/>
              </a:rPr>
              <a:t>screen</a:t>
            </a:r>
            <a:r>
              <a:rPr sz="1100" spc="-20" dirty="0">
                <a:latin typeface="Roboto"/>
                <a:cs typeface="Roboto"/>
              </a:rPr>
              <a:t> </a:t>
            </a:r>
            <a:r>
              <a:rPr sz="1100" dirty="0">
                <a:latin typeface="Roboto"/>
                <a:cs typeface="Roboto"/>
              </a:rPr>
              <a:t>and</a:t>
            </a:r>
            <a:r>
              <a:rPr sz="1100" spc="-20" dirty="0">
                <a:latin typeface="Roboto"/>
                <a:cs typeface="Roboto"/>
              </a:rPr>
              <a:t> </a:t>
            </a:r>
            <a:r>
              <a:rPr sz="1100" spc="-10" dirty="0">
                <a:latin typeface="Roboto"/>
                <a:cs typeface="Roboto"/>
              </a:rPr>
              <a:t>cost </a:t>
            </a:r>
            <a:r>
              <a:rPr sz="1100" dirty="0">
                <a:latin typeface="Roboto"/>
                <a:cs typeface="Roboto"/>
              </a:rPr>
              <a:t>calculator</a:t>
            </a:r>
            <a:r>
              <a:rPr sz="1100" spc="-40" dirty="0">
                <a:latin typeface="Roboto"/>
                <a:cs typeface="Roboto"/>
              </a:rPr>
              <a:t> </a:t>
            </a:r>
            <a:r>
              <a:rPr sz="1100" spc="-13" dirty="0">
                <a:latin typeface="Roboto"/>
                <a:cs typeface="Roboto"/>
              </a:rPr>
              <a:t>to</a:t>
            </a:r>
            <a:r>
              <a:rPr sz="1100" dirty="0">
                <a:latin typeface="Roboto"/>
                <a:cs typeface="Roboto"/>
              </a:rPr>
              <a:t>	estimate</a:t>
            </a:r>
            <a:r>
              <a:rPr sz="1100" spc="-23" dirty="0">
                <a:latin typeface="Roboto"/>
                <a:cs typeface="Roboto"/>
              </a:rPr>
              <a:t> </a:t>
            </a:r>
            <a:r>
              <a:rPr sz="1100" dirty="0">
                <a:latin typeface="Roboto"/>
                <a:cs typeface="Roboto"/>
              </a:rPr>
              <a:t>the</a:t>
            </a:r>
            <a:r>
              <a:rPr sz="1100" spc="-23" dirty="0">
                <a:latin typeface="Roboto"/>
                <a:cs typeface="Roboto"/>
              </a:rPr>
              <a:t> </a:t>
            </a:r>
            <a:r>
              <a:rPr sz="1100" dirty="0">
                <a:latin typeface="Roboto"/>
                <a:cs typeface="Roboto"/>
              </a:rPr>
              <a:t>cost,</a:t>
            </a:r>
            <a:r>
              <a:rPr sz="1100" spc="-23" dirty="0">
                <a:latin typeface="Roboto"/>
                <a:cs typeface="Roboto"/>
              </a:rPr>
              <a:t> </a:t>
            </a:r>
            <a:r>
              <a:rPr sz="1100" dirty="0">
                <a:latin typeface="Roboto"/>
                <a:cs typeface="Roboto"/>
              </a:rPr>
              <a:t>enable</a:t>
            </a:r>
            <a:r>
              <a:rPr sz="1100" spc="-23" dirty="0">
                <a:latin typeface="Roboto"/>
                <a:cs typeface="Roboto"/>
              </a:rPr>
              <a:t> </a:t>
            </a:r>
            <a:r>
              <a:rPr sz="1100" dirty="0">
                <a:latin typeface="Roboto"/>
                <a:cs typeface="Roboto"/>
              </a:rPr>
              <a:t>the</a:t>
            </a:r>
            <a:r>
              <a:rPr sz="1100" spc="-23" dirty="0">
                <a:latin typeface="Roboto"/>
                <a:cs typeface="Roboto"/>
              </a:rPr>
              <a:t> </a:t>
            </a:r>
            <a:r>
              <a:rPr sz="1100" dirty="0">
                <a:latin typeface="Roboto"/>
                <a:cs typeface="Roboto"/>
              </a:rPr>
              <a:t>monitoring</a:t>
            </a:r>
            <a:r>
              <a:rPr sz="1100" spc="-23" dirty="0">
                <a:latin typeface="Roboto"/>
                <a:cs typeface="Roboto"/>
              </a:rPr>
              <a:t> </a:t>
            </a:r>
            <a:r>
              <a:rPr sz="1100" dirty="0">
                <a:latin typeface="Roboto"/>
                <a:cs typeface="Roboto"/>
              </a:rPr>
              <a:t>to</a:t>
            </a:r>
            <a:r>
              <a:rPr sz="1100" spc="-23" dirty="0">
                <a:latin typeface="Roboto"/>
                <a:cs typeface="Roboto"/>
              </a:rPr>
              <a:t> </a:t>
            </a:r>
            <a:r>
              <a:rPr sz="1100" dirty="0">
                <a:latin typeface="Roboto"/>
                <a:cs typeface="Roboto"/>
              </a:rPr>
              <a:t>observe</a:t>
            </a:r>
            <a:r>
              <a:rPr sz="1100" spc="-20" dirty="0">
                <a:latin typeface="Roboto"/>
                <a:cs typeface="Roboto"/>
              </a:rPr>
              <a:t> </a:t>
            </a:r>
            <a:r>
              <a:rPr sz="1100" dirty="0">
                <a:latin typeface="Roboto"/>
                <a:cs typeface="Roboto"/>
              </a:rPr>
              <a:t>free</a:t>
            </a:r>
            <a:r>
              <a:rPr sz="1100" spc="-23" dirty="0">
                <a:latin typeface="Roboto"/>
                <a:cs typeface="Roboto"/>
              </a:rPr>
              <a:t> </a:t>
            </a:r>
            <a:r>
              <a:rPr sz="1100" dirty="0">
                <a:latin typeface="Roboto"/>
                <a:cs typeface="Roboto"/>
              </a:rPr>
              <a:t>space,</a:t>
            </a:r>
            <a:r>
              <a:rPr sz="1100" spc="-23" dirty="0">
                <a:latin typeface="Roboto"/>
                <a:cs typeface="Roboto"/>
              </a:rPr>
              <a:t> </a:t>
            </a:r>
            <a:r>
              <a:rPr sz="1100" dirty="0">
                <a:latin typeface="Roboto"/>
                <a:cs typeface="Roboto"/>
              </a:rPr>
              <a:t>CPU,</a:t>
            </a:r>
            <a:r>
              <a:rPr sz="1100" spc="-23" dirty="0">
                <a:latin typeface="Roboto"/>
                <a:cs typeface="Roboto"/>
              </a:rPr>
              <a:t> </a:t>
            </a:r>
            <a:r>
              <a:rPr sz="1100" dirty="0">
                <a:latin typeface="Roboto"/>
                <a:cs typeface="Roboto"/>
              </a:rPr>
              <a:t>Network,</a:t>
            </a:r>
            <a:r>
              <a:rPr sz="1100" spc="-23" dirty="0">
                <a:latin typeface="Roboto"/>
                <a:cs typeface="Roboto"/>
              </a:rPr>
              <a:t> </a:t>
            </a:r>
            <a:r>
              <a:rPr sz="1100" dirty="0">
                <a:latin typeface="Roboto"/>
                <a:cs typeface="Roboto"/>
              </a:rPr>
              <a:t>Memory</a:t>
            </a:r>
            <a:r>
              <a:rPr sz="1100" spc="-23" dirty="0">
                <a:latin typeface="Roboto"/>
                <a:cs typeface="Roboto"/>
              </a:rPr>
              <a:t> </a:t>
            </a:r>
            <a:r>
              <a:rPr sz="1100" dirty="0">
                <a:latin typeface="Roboto"/>
                <a:cs typeface="Roboto"/>
              </a:rPr>
              <a:t>usage,</a:t>
            </a:r>
            <a:r>
              <a:rPr sz="1100" spc="-23" dirty="0">
                <a:latin typeface="Roboto"/>
                <a:cs typeface="Roboto"/>
              </a:rPr>
              <a:t> </a:t>
            </a:r>
            <a:r>
              <a:rPr sz="1100" dirty="0">
                <a:latin typeface="Roboto"/>
                <a:cs typeface="Roboto"/>
              </a:rPr>
              <a:t>set</a:t>
            </a:r>
            <a:r>
              <a:rPr sz="1100" spc="-23" dirty="0">
                <a:latin typeface="Roboto"/>
                <a:cs typeface="Roboto"/>
              </a:rPr>
              <a:t> </a:t>
            </a:r>
            <a:r>
              <a:rPr sz="1100" dirty="0">
                <a:latin typeface="Roboto"/>
                <a:cs typeface="Roboto"/>
              </a:rPr>
              <a:t>alerts</a:t>
            </a:r>
            <a:r>
              <a:rPr sz="1100" spc="-20" dirty="0">
                <a:latin typeface="Roboto"/>
                <a:cs typeface="Roboto"/>
              </a:rPr>
              <a:t> </a:t>
            </a:r>
            <a:r>
              <a:rPr sz="1100" spc="-13" dirty="0">
                <a:latin typeface="Roboto"/>
                <a:cs typeface="Roboto"/>
              </a:rPr>
              <a:t>as </a:t>
            </a:r>
            <a:r>
              <a:rPr sz="1100" dirty="0">
                <a:latin typeface="Roboto"/>
                <a:cs typeface="Roboto"/>
              </a:rPr>
              <a:t>needed,</a:t>
            </a:r>
            <a:r>
              <a:rPr sz="1100" spc="-23" dirty="0">
                <a:latin typeface="Roboto"/>
                <a:cs typeface="Roboto"/>
              </a:rPr>
              <a:t> </a:t>
            </a:r>
            <a:r>
              <a:rPr sz="1100" dirty="0">
                <a:latin typeface="Roboto"/>
                <a:cs typeface="Roboto"/>
              </a:rPr>
              <a:t>use</a:t>
            </a:r>
            <a:r>
              <a:rPr sz="1100" spc="-23" dirty="0">
                <a:latin typeface="Roboto"/>
                <a:cs typeface="Roboto"/>
              </a:rPr>
              <a:t> </a:t>
            </a:r>
            <a:r>
              <a:rPr sz="1100" dirty="0">
                <a:latin typeface="Roboto"/>
                <a:cs typeface="Roboto"/>
              </a:rPr>
              <a:t>reserved</a:t>
            </a:r>
            <a:r>
              <a:rPr sz="1100" spc="-23" dirty="0">
                <a:latin typeface="Roboto"/>
                <a:cs typeface="Roboto"/>
              </a:rPr>
              <a:t> </a:t>
            </a:r>
            <a:r>
              <a:rPr sz="1100" dirty="0">
                <a:latin typeface="Roboto"/>
                <a:cs typeface="Roboto"/>
              </a:rPr>
              <a:t>instances</a:t>
            </a:r>
            <a:r>
              <a:rPr sz="1100" spc="-23" dirty="0">
                <a:latin typeface="Roboto"/>
                <a:cs typeface="Roboto"/>
              </a:rPr>
              <a:t> </a:t>
            </a:r>
            <a:r>
              <a:rPr sz="1100" dirty="0">
                <a:latin typeface="Roboto"/>
                <a:cs typeface="Roboto"/>
              </a:rPr>
              <a:t>and</a:t>
            </a:r>
            <a:r>
              <a:rPr sz="1100" spc="-23" dirty="0">
                <a:latin typeface="Roboto"/>
                <a:cs typeface="Roboto"/>
              </a:rPr>
              <a:t> </a:t>
            </a:r>
            <a:r>
              <a:rPr sz="1100" dirty="0">
                <a:latin typeface="Roboto"/>
                <a:cs typeface="Roboto"/>
              </a:rPr>
              <a:t>savings</a:t>
            </a:r>
            <a:r>
              <a:rPr sz="1100" spc="-23" dirty="0">
                <a:latin typeface="Roboto"/>
                <a:cs typeface="Roboto"/>
              </a:rPr>
              <a:t> </a:t>
            </a:r>
            <a:r>
              <a:rPr sz="1100" dirty="0">
                <a:latin typeface="Roboto"/>
                <a:cs typeface="Roboto"/>
              </a:rPr>
              <a:t>plan</a:t>
            </a:r>
            <a:r>
              <a:rPr sz="1100" spc="-23" dirty="0">
                <a:latin typeface="Roboto"/>
                <a:cs typeface="Roboto"/>
              </a:rPr>
              <a:t> </a:t>
            </a:r>
            <a:r>
              <a:rPr sz="1100" dirty="0">
                <a:latin typeface="Roboto"/>
                <a:cs typeface="Roboto"/>
              </a:rPr>
              <a:t>to</a:t>
            </a:r>
            <a:r>
              <a:rPr sz="1100" spc="-23" dirty="0">
                <a:latin typeface="Roboto"/>
                <a:cs typeface="Roboto"/>
              </a:rPr>
              <a:t> </a:t>
            </a:r>
            <a:r>
              <a:rPr sz="1100" dirty="0">
                <a:latin typeface="Roboto"/>
                <a:cs typeface="Roboto"/>
              </a:rPr>
              <a:t>save</a:t>
            </a:r>
            <a:r>
              <a:rPr sz="1100" spc="-23" dirty="0">
                <a:latin typeface="Roboto"/>
                <a:cs typeface="Roboto"/>
              </a:rPr>
              <a:t> </a:t>
            </a:r>
            <a:r>
              <a:rPr sz="1100" spc="-10" dirty="0">
                <a:latin typeface="Roboto"/>
                <a:cs typeface="Roboto"/>
              </a:rPr>
              <a:t>cost</a:t>
            </a:r>
            <a:endParaRPr sz="1100" dirty="0">
              <a:latin typeface="Roboto"/>
              <a:cs typeface="Roboto"/>
            </a:endParaRPr>
          </a:p>
          <a:p>
            <a:pPr marL="6350" marR="2540">
              <a:lnSpc>
                <a:spcPct val="116500"/>
              </a:lnSpc>
              <a:spcBef>
                <a:spcPts val="798"/>
              </a:spcBef>
            </a:pPr>
            <a:r>
              <a:rPr sz="1100" dirty="0">
                <a:latin typeface="Roboto"/>
                <a:cs typeface="Roboto"/>
              </a:rPr>
              <a:t>use</a:t>
            </a:r>
            <a:r>
              <a:rPr sz="1100" spc="-25" dirty="0">
                <a:latin typeface="Roboto"/>
                <a:cs typeface="Roboto"/>
              </a:rPr>
              <a:t> </a:t>
            </a:r>
            <a:r>
              <a:rPr sz="1100" dirty="0">
                <a:latin typeface="Roboto"/>
                <a:cs typeface="Roboto"/>
              </a:rPr>
              <a:t>Aurora</a:t>
            </a:r>
            <a:r>
              <a:rPr sz="1100" spc="-23" dirty="0">
                <a:latin typeface="Roboto"/>
                <a:cs typeface="Roboto"/>
              </a:rPr>
              <a:t> </a:t>
            </a:r>
            <a:r>
              <a:rPr sz="1100" dirty="0">
                <a:latin typeface="Roboto"/>
                <a:cs typeface="Roboto"/>
              </a:rPr>
              <a:t>serverless,</a:t>
            </a:r>
            <a:r>
              <a:rPr sz="1100" spc="-23" dirty="0">
                <a:latin typeface="Roboto"/>
                <a:cs typeface="Roboto"/>
              </a:rPr>
              <a:t> </a:t>
            </a:r>
            <a:r>
              <a:rPr sz="1100" dirty="0">
                <a:latin typeface="Roboto"/>
                <a:cs typeface="Roboto"/>
              </a:rPr>
              <a:t>if</a:t>
            </a:r>
            <a:r>
              <a:rPr sz="1100" spc="-23" dirty="0">
                <a:latin typeface="Roboto"/>
                <a:cs typeface="Roboto"/>
              </a:rPr>
              <a:t> </a:t>
            </a:r>
            <a:r>
              <a:rPr sz="1100" dirty="0">
                <a:latin typeface="Roboto"/>
                <a:cs typeface="Roboto"/>
              </a:rPr>
              <a:t>your</a:t>
            </a:r>
            <a:r>
              <a:rPr sz="1100" spc="-23" dirty="0">
                <a:latin typeface="Roboto"/>
                <a:cs typeface="Roboto"/>
              </a:rPr>
              <a:t> </a:t>
            </a:r>
            <a:r>
              <a:rPr sz="1100" dirty="0">
                <a:latin typeface="Roboto"/>
                <a:cs typeface="Roboto"/>
              </a:rPr>
              <a:t>application</a:t>
            </a:r>
            <a:r>
              <a:rPr sz="1100" spc="-23" dirty="0">
                <a:latin typeface="Roboto"/>
                <a:cs typeface="Roboto"/>
              </a:rPr>
              <a:t> </a:t>
            </a:r>
            <a:r>
              <a:rPr sz="1100" dirty="0">
                <a:latin typeface="Roboto"/>
                <a:cs typeface="Roboto"/>
              </a:rPr>
              <a:t>is</a:t>
            </a:r>
            <a:r>
              <a:rPr sz="1100" spc="-23" dirty="0">
                <a:latin typeface="Roboto"/>
                <a:cs typeface="Roboto"/>
              </a:rPr>
              <a:t> </a:t>
            </a:r>
            <a:r>
              <a:rPr sz="1100" dirty="0">
                <a:latin typeface="Roboto"/>
                <a:cs typeface="Roboto"/>
              </a:rPr>
              <a:t>a</a:t>
            </a:r>
            <a:r>
              <a:rPr sz="1100" spc="-23" dirty="0">
                <a:latin typeface="Roboto"/>
                <a:cs typeface="Roboto"/>
              </a:rPr>
              <a:t> </a:t>
            </a:r>
            <a:r>
              <a:rPr sz="1100" dirty="0">
                <a:latin typeface="Roboto"/>
                <a:cs typeface="Roboto"/>
              </a:rPr>
              <a:t>Relational</a:t>
            </a:r>
            <a:r>
              <a:rPr sz="1100" spc="-23" dirty="0">
                <a:latin typeface="Roboto"/>
                <a:cs typeface="Roboto"/>
              </a:rPr>
              <a:t> </a:t>
            </a:r>
            <a:r>
              <a:rPr sz="1100" dirty="0">
                <a:latin typeface="Roboto"/>
                <a:cs typeface="Roboto"/>
              </a:rPr>
              <a:t>DB,</a:t>
            </a:r>
            <a:r>
              <a:rPr sz="1100" spc="-23" dirty="0">
                <a:latin typeface="Roboto"/>
                <a:cs typeface="Roboto"/>
              </a:rPr>
              <a:t> </a:t>
            </a:r>
            <a:r>
              <a:rPr sz="1100" dirty="0">
                <a:latin typeface="Roboto"/>
                <a:cs typeface="Roboto"/>
              </a:rPr>
              <a:t>usage</a:t>
            </a:r>
            <a:r>
              <a:rPr sz="1100" spc="-23" dirty="0">
                <a:latin typeface="Roboto"/>
                <a:cs typeface="Roboto"/>
              </a:rPr>
              <a:t> </a:t>
            </a:r>
            <a:r>
              <a:rPr sz="1100" dirty="0">
                <a:latin typeface="Roboto"/>
                <a:cs typeface="Roboto"/>
              </a:rPr>
              <a:t>is</a:t>
            </a:r>
            <a:r>
              <a:rPr sz="1100" spc="-23" dirty="0">
                <a:latin typeface="Roboto"/>
                <a:cs typeface="Roboto"/>
              </a:rPr>
              <a:t> </a:t>
            </a:r>
            <a:r>
              <a:rPr sz="1100" dirty="0">
                <a:latin typeface="Roboto"/>
                <a:cs typeface="Roboto"/>
              </a:rPr>
              <a:t>intermittent</a:t>
            </a:r>
            <a:r>
              <a:rPr sz="1100" spc="-23" dirty="0">
                <a:latin typeface="Roboto"/>
                <a:cs typeface="Roboto"/>
              </a:rPr>
              <a:t> </a:t>
            </a:r>
            <a:r>
              <a:rPr sz="1100" dirty="0">
                <a:latin typeface="Roboto"/>
                <a:cs typeface="Roboto"/>
              </a:rPr>
              <a:t>and</a:t>
            </a:r>
            <a:r>
              <a:rPr sz="1100" spc="-23" dirty="0">
                <a:latin typeface="Roboto"/>
                <a:cs typeface="Roboto"/>
              </a:rPr>
              <a:t> </a:t>
            </a:r>
            <a:r>
              <a:rPr sz="1100" dirty="0">
                <a:latin typeface="Roboto"/>
                <a:cs typeface="Roboto"/>
              </a:rPr>
              <a:t>unpredictable</a:t>
            </a:r>
            <a:r>
              <a:rPr sz="1100" spc="-23" dirty="0">
                <a:latin typeface="Roboto"/>
                <a:cs typeface="Roboto"/>
              </a:rPr>
              <a:t> </a:t>
            </a:r>
            <a:r>
              <a:rPr sz="1100" dirty="0">
                <a:latin typeface="Roboto"/>
                <a:cs typeface="Roboto"/>
              </a:rPr>
              <a:t>or</a:t>
            </a:r>
            <a:r>
              <a:rPr sz="1100" spc="-23" dirty="0">
                <a:latin typeface="Roboto"/>
                <a:cs typeface="Roboto"/>
              </a:rPr>
              <a:t> </a:t>
            </a:r>
            <a:r>
              <a:rPr sz="1100" dirty="0">
                <a:latin typeface="Roboto"/>
                <a:cs typeface="Roboto"/>
              </a:rPr>
              <a:t>of</a:t>
            </a:r>
            <a:r>
              <a:rPr sz="1100" spc="-25" dirty="0">
                <a:latin typeface="Roboto"/>
                <a:cs typeface="Roboto"/>
              </a:rPr>
              <a:t> </a:t>
            </a:r>
            <a:r>
              <a:rPr sz="1100" dirty="0">
                <a:latin typeface="Roboto"/>
                <a:cs typeface="Roboto"/>
              </a:rPr>
              <a:t>running</a:t>
            </a:r>
            <a:r>
              <a:rPr sz="1100" spc="-23" dirty="0">
                <a:latin typeface="Roboto"/>
                <a:cs typeface="Roboto"/>
              </a:rPr>
              <a:t> </a:t>
            </a:r>
            <a:r>
              <a:rPr sz="1100" spc="-5" dirty="0">
                <a:latin typeface="Roboto"/>
                <a:cs typeface="Roboto"/>
              </a:rPr>
              <a:t>serverless </a:t>
            </a:r>
            <a:r>
              <a:rPr sz="1100" dirty="0">
                <a:latin typeface="Roboto"/>
                <a:cs typeface="Roboto"/>
              </a:rPr>
              <a:t>applications,</a:t>
            </a:r>
            <a:r>
              <a:rPr sz="1100" spc="-23" dirty="0">
                <a:latin typeface="Roboto"/>
                <a:cs typeface="Roboto"/>
              </a:rPr>
              <a:t> </a:t>
            </a:r>
            <a:r>
              <a:rPr sz="1100" dirty="0">
                <a:latin typeface="Roboto"/>
                <a:cs typeface="Roboto"/>
              </a:rPr>
              <a:t>it</a:t>
            </a:r>
            <a:r>
              <a:rPr sz="1100" spc="-20" dirty="0">
                <a:latin typeface="Roboto"/>
                <a:cs typeface="Roboto"/>
              </a:rPr>
              <a:t> </a:t>
            </a:r>
            <a:r>
              <a:rPr sz="1100" dirty="0">
                <a:latin typeface="Roboto"/>
                <a:cs typeface="Roboto"/>
              </a:rPr>
              <a:t>saves</a:t>
            </a:r>
            <a:r>
              <a:rPr sz="1100" spc="-20" dirty="0">
                <a:latin typeface="Roboto"/>
                <a:cs typeface="Roboto"/>
              </a:rPr>
              <a:t> </a:t>
            </a:r>
            <a:r>
              <a:rPr sz="1100" dirty="0">
                <a:latin typeface="Roboto"/>
                <a:cs typeface="Roboto"/>
              </a:rPr>
              <a:t>a</a:t>
            </a:r>
            <a:r>
              <a:rPr sz="1100" spc="-20" dirty="0">
                <a:latin typeface="Roboto"/>
                <a:cs typeface="Roboto"/>
              </a:rPr>
              <a:t> </a:t>
            </a:r>
            <a:r>
              <a:rPr sz="1100" dirty="0">
                <a:latin typeface="Roboto"/>
                <a:cs typeface="Roboto"/>
              </a:rPr>
              <a:t>lot</a:t>
            </a:r>
            <a:r>
              <a:rPr sz="1100" spc="-20" dirty="0">
                <a:latin typeface="Roboto"/>
                <a:cs typeface="Roboto"/>
              </a:rPr>
              <a:t> </a:t>
            </a:r>
            <a:r>
              <a:rPr sz="1100" dirty="0">
                <a:latin typeface="Roboto"/>
                <a:cs typeface="Roboto"/>
              </a:rPr>
              <a:t>of</a:t>
            </a:r>
            <a:r>
              <a:rPr sz="1100" spc="-20" dirty="0">
                <a:latin typeface="Roboto"/>
                <a:cs typeface="Roboto"/>
              </a:rPr>
              <a:t> </a:t>
            </a:r>
            <a:r>
              <a:rPr sz="1100" spc="-5" dirty="0">
                <a:latin typeface="Roboto"/>
                <a:cs typeface="Roboto"/>
              </a:rPr>
              <a:t>cost!</a:t>
            </a:r>
            <a:endParaRPr sz="1100" dirty="0">
              <a:latin typeface="Roboto"/>
              <a:cs typeface="Roboto"/>
            </a:endParaRPr>
          </a:p>
        </p:txBody>
      </p:sp>
      <p:sp>
        <p:nvSpPr>
          <p:cNvPr id="11" name="object 11"/>
          <p:cNvSpPr txBox="1"/>
          <p:nvPr/>
        </p:nvSpPr>
        <p:spPr>
          <a:xfrm>
            <a:off x="117591" y="4643846"/>
            <a:ext cx="8488998" cy="388311"/>
          </a:xfrm>
          <a:prstGeom prst="rect">
            <a:avLst/>
          </a:prstGeom>
        </p:spPr>
        <p:txBody>
          <a:bodyPr vert="horz" wrap="square" lIns="0" tIns="6350" rIns="0" bIns="0" rtlCol="0">
            <a:spAutoFit/>
          </a:bodyPr>
          <a:lstStyle/>
          <a:p>
            <a:pPr marL="1219200" marR="15240" indent="-1200468">
              <a:lnSpc>
                <a:spcPct val="116500"/>
              </a:lnSpc>
              <a:spcBef>
                <a:spcPts val="50"/>
              </a:spcBef>
              <a:tabLst>
                <a:tab pos="1219200" algn="l"/>
              </a:tabLst>
            </a:pPr>
            <a:r>
              <a:rPr sz="1650" b="1" baseline="-5050" dirty="0">
                <a:latin typeface="Roboto"/>
                <a:cs typeface="Roboto"/>
              </a:rPr>
              <a:t>Backup</a:t>
            </a:r>
            <a:r>
              <a:rPr sz="1650" b="1" spc="-26" baseline="-5050" dirty="0">
                <a:latin typeface="Roboto"/>
                <a:cs typeface="Roboto"/>
              </a:rPr>
              <a:t> </a:t>
            </a:r>
            <a:r>
              <a:rPr sz="1650" b="1" baseline="-5050" dirty="0">
                <a:latin typeface="Roboto"/>
                <a:cs typeface="Roboto"/>
              </a:rPr>
              <a:t>&amp;</a:t>
            </a:r>
            <a:r>
              <a:rPr sz="1650" b="1" spc="-22" baseline="-5050" dirty="0">
                <a:latin typeface="Roboto"/>
                <a:cs typeface="Roboto"/>
              </a:rPr>
              <a:t> </a:t>
            </a:r>
            <a:r>
              <a:rPr sz="1650" b="1" spc="-8" baseline="-5050" dirty="0">
                <a:latin typeface="Roboto"/>
                <a:cs typeface="Roboto"/>
              </a:rPr>
              <a:t>Restore</a:t>
            </a:r>
            <a:r>
              <a:rPr sz="1650" b="1" baseline="-5050" dirty="0">
                <a:latin typeface="Roboto"/>
                <a:cs typeface="Roboto"/>
              </a:rPr>
              <a:t>	</a:t>
            </a:r>
            <a:r>
              <a:rPr sz="1100" dirty="0">
                <a:latin typeface="Roboto"/>
                <a:cs typeface="Roboto"/>
              </a:rPr>
              <a:t>One</a:t>
            </a:r>
            <a:r>
              <a:rPr sz="1100" spc="-20" dirty="0">
                <a:latin typeface="Roboto"/>
                <a:cs typeface="Roboto"/>
              </a:rPr>
              <a:t> </a:t>
            </a:r>
            <a:r>
              <a:rPr sz="1100" dirty="0">
                <a:latin typeface="Roboto"/>
                <a:cs typeface="Roboto"/>
              </a:rPr>
              <a:t>of</a:t>
            </a:r>
            <a:r>
              <a:rPr sz="1100" spc="-18" dirty="0">
                <a:latin typeface="Roboto"/>
                <a:cs typeface="Roboto"/>
              </a:rPr>
              <a:t> </a:t>
            </a:r>
            <a:r>
              <a:rPr sz="1100" dirty="0">
                <a:latin typeface="Roboto"/>
                <a:cs typeface="Roboto"/>
              </a:rPr>
              <a:t>the</a:t>
            </a:r>
            <a:r>
              <a:rPr sz="1100" spc="-20" dirty="0">
                <a:latin typeface="Roboto"/>
                <a:cs typeface="Roboto"/>
              </a:rPr>
              <a:t> </a:t>
            </a:r>
            <a:r>
              <a:rPr sz="1100" dirty="0">
                <a:latin typeface="Roboto"/>
                <a:cs typeface="Roboto"/>
              </a:rPr>
              <a:t>great</a:t>
            </a:r>
            <a:r>
              <a:rPr sz="1100" spc="-18" dirty="0">
                <a:latin typeface="Roboto"/>
                <a:cs typeface="Roboto"/>
              </a:rPr>
              <a:t> </a:t>
            </a:r>
            <a:r>
              <a:rPr sz="1100" dirty="0">
                <a:latin typeface="Roboto"/>
                <a:cs typeface="Roboto"/>
              </a:rPr>
              <a:t>features</a:t>
            </a:r>
            <a:r>
              <a:rPr sz="1100" spc="-20" dirty="0">
                <a:latin typeface="Roboto"/>
                <a:cs typeface="Roboto"/>
              </a:rPr>
              <a:t> </a:t>
            </a:r>
            <a:r>
              <a:rPr sz="1100" dirty="0">
                <a:latin typeface="Roboto"/>
                <a:cs typeface="Roboto"/>
              </a:rPr>
              <a:t>is</a:t>
            </a:r>
            <a:r>
              <a:rPr sz="1100" spc="-18" dirty="0">
                <a:latin typeface="Roboto"/>
                <a:cs typeface="Roboto"/>
              </a:rPr>
              <a:t> </a:t>
            </a:r>
            <a:r>
              <a:rPr sz="1100" dirty="0">
                <a:latin typeface="Roboto"/>
                <a:cs typeface="Roboto"/>
              </a:rPr>
              <a:t>Backup</a:t>
            </a:r>
            <a:r>
              <a:rPr sz="1100" spc="-20" dirty="0">
                <a:latin typeface="Roboto"/>
                <a:cs typeface="Roboto"/>
              </a:rPr>
              <a:t> </a:t>
            </a:r>
            <a:r>
              <a:rPr sz="1100" dirty="0">
                <a:latin typeface="Roboto"/>
                <a:cs typeface="Roboto"/>
              </a:rPr>
              <a:t>and</a:t>
            </a:r>
            <a:r>
              <a:rPr sz="1100" spc="-18" dirty="0">
                <a:latin typeface="Roboto"/>
                <a:cs typeface="Roboto"/>
              </a:rPr>
              <a:t> </a:t>
            </a:r>
            <a:r>
              <a:rPr sz="1100" dirty="0">
                <a:latin typeface="Roboto"/>
                <a:cs typeface="Roboto"/>
              </a:rPr>
              <a:t>Restore,</a:t>
            </a:r>
            <a:r>
              <a:rPr sz="1100" spc="-20" dirty="0">
                <a:latin typeface="Roboto"/>
                <a:cs typeface="Roboto"/>
              </a:rPr>
              <a:t> </a:t>
            </a:r>
            <a:r>
              <a:rPr sz="1100" dirty="0">
                <a:latin typeface="Roboto"/>
                <a:cs typeface="Roboto"/>
              </a:rPr>
              <a:t>use</a:t>
            </a:r>
            <a:r>
              <a:rPr sz="1100" spc="-18" dirty="0">
                <a:latin typeface="Roboto"/>
                <a:cs typeface="Roboto"/>
              </a:rPr>
              <a:t> </a:t>
            </a:r>
            <a:r>
              <a:rPr sz="1100" dirty="0">
                <a:latin typeface="Roboto"/>
                <a:cs typeface="Roboto"/>
              </a:rPr>
              <a:t>automated</a:t>
            </a:r>
            <a:r>
              <a:rPr sz="1100" spc="-20" dirty="0">
                <a:latin typeface="Roboto"/>
                <a:cs typeface="Roboto"/>
              </a:rPr>
              <a:t> </a:t>
            </a:r>
            <a:r>
              <a:rPr sz="1100" dirty="0">
                <a:latin typeface="Roboto"/>
                <a:cs typeface="Roboto"/>
              </a:rPr>
              <a:t>backups</a:t>
            </a:r>
            <a:r>
              <a:rPr sz="1100" spc="-18" dirty="0">
                <a:latin typeface="Roboto"/>
                <a:cs typeface="Roboto"/>
              </a:rPr>
              <a:t> </a:t>
            </a:r>
            <a:r>
              <a:rPr sz="1100" dirty="0">
                <a:latin typeface="Roboto"/>
                <a:cs typeface="Roboto"/>
              </a:rPr>
              <a:t>and</a:t>
            </a:r>
            <a:r>
              <a:rPr sz="1100" spc="-20" dirty="0">
                <a:latin typeface="Roboto"/>
                <a:cs typeface="Roboto"/>
              </a:rPr>
              <a:t> </a:t>
            </a:r>
            <a:r>
              <a:rPr sz="1100" dirty="0">
                <a:latin typeface="Roboto"/>
                <a:cs typeface="Roboto"/>
              </a:rPr>
              <a:t>set</a:t>
            </a:r>
            <a:r>
              <a:rPr sz="1100" spc="-18" dirty="0">
                <a:latin typeface="Roboto"/>
                <a:cs typeface="Roboto"/>
              </a:rPr>
              <a:t> </a:t>
            </a:r>
            <a:r>
              <a:rPr sz="1100" dirty="0">
                <a:latin typeface="Roboto"/>
                <a:cs typeface="Roboto"/>
              </a:rPr>
              <a:t>retention</a:t>
            </a:r>
            <a:r>
              <a:rPr sz="1100" spc="-18" dirty="0">
                <a:latin typeface="Roboto"/>
                <a:cs typeface="Roboto"/>
              </a:rPr>
              <a:t> </a:t>
            </a:r>
            <a:r>
              <a:rPr sz="1100" dirty="0">
                <a:latin typeface="Roboto"/>
                <a:cs typeface="Roboto"/>
              </a:rPr>
              <a:t>policy</a:t>
            </a:r>
            <a:r>
              <a:rPr sz="1100" spc="-20" dirty="0">
                <a:latin typeface="Roboto"/>
                <a:cs typeface="Roboto"/>
              </a:rPr>
              <a:t> </a:t>
            </a:r>
            <a:r>
              <a:rPr sz="1100" dirty="0">
                <a:latin typeface="Roboto"/>
                <a:cs typeface="Roboto"/>
              </a:rPr>
              <a:t>as</a:t>
            </a:r>
            <a:r>
              <a:rPr sz="1100" spc="-18" dirty="0">
                <a:latin typeface="Roboto"/>
                <a:cs typeface="Roboto"/>
              </a:rPr>
              <a:t> </a:t>
            </a:r>
            <a:r>
              <a:rPr sz="1100" dirty="0">
                <a:latin typeface="Roboto"/>
                <a:cs typeface="Roboto"/>
              </a:rPr>
              <a:t>needed</a:t>
            </a:r>
            <a:r>
              <a:rPr sz="1100" spc="-20" dirty="0">
                <a:latin typeface="Roboto"/>
                <a:cs typeface="Roboto"/>
              </a:rPr>
              <a:t> </a:t>
            </a:r>
            <a:r>
              <a:rPr sz="1100" dirty="0">
                <a:latin typeface="Roboto"/>
                <a:cs typeface="Roboto"/>
              </a:rPr>
              <a:t>or</a:t>
            </a:r>
            <a:r>
              <a:rPr sz="1100" spc="-18" dirty="0">
                <a:latin typeface="Roboto"/>
                <a:cs typeface="Roboto"/>
              </a:rPr>
              <a:t> </a:t>
            </a:r>
            <a:r>
              <a:rPr sz="1100" dirty="0">
                <a:latin typeface="Roboto"/>
                <a:cs typeface="Roboto"/>
              </a:rPr>
              <a:t>as</a:t>
            </a:r>
            <a:r>
              <a:rPr sz="1100" spc="-20" dirty="0">
                <a:latin typeface="Roboto"/>
                <a:cs typeface="Roboto"/>
              </a:rPr>
              <a:t> </a:t>
            </a:r>
            <a:r>
              <a:rPr sz="1100" spc="-13" dirty="0">
                <a:latin typeface="Roboto"/>
                <a:cs typeface="Roboto"/>
              </a:rPr>
              <a:t>per </a:t>
            </a:r>
            <a:r>
              <a:rPr sz="1100" dirty="0">
                <a:latin typeface="Roboto"/>
                <a:cs typeface="Roboto"/>
              </a:rPr>
              <a:t>business</a:t>
            </a:r>
            <a:r>
              <a:rPr sz="1100" spc="-45" dirty="0">
                <a:latin typeface="Roboto"/>
                <a:cs typeface="Roboto"/>
              </a:rPr>
              <a:t> </a:t>
            </a:r>
            <a:r>
              <a:rPr sz="1100" spc="-5" dirty="0">
                <a:latin typeface="Roboto"/>
                <a:cs typeface="Roboto"/>
              </a:rPr>
              <a:t>requirement</a:t>
            </a:r>
            <a:endParaRPr sz="1100">
              <a:latin typeface="Roboto"/>
              <a:cs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8"/>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Elasticache</a:t>
            </a:r>
            <a:endParaRPr/>
          </a:p>
        </p:txBody>
      </p:sp>
      <p:sp>
        <p:nvSpPr>
          <p:cNvPr id="189" name="Google Shape;189;p28"/>
          <p:cNvSpPr txBox="1">
            <a:spLocks noGrp="1"/>
          </p:cNvSpPr>
          <p:nvPr>
            <p:ph type="subTitle" idx="1"/>
          </p:nvPr>
        </p:nvSpPr>
        <p:spPr>
          <a:xfrm>
            <a:off x="730000" y="3404400"/>
            <a:ext cx="3300900" cy="7590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SzPts val="1600"/>
              <a:buAutoNum type="arabicPeriod"/>
            </a:pPr>
            <a:r>
              <a:rPr lang="en"/>
              <a:t>Caching</a:t>
            </a:r>
            <a:endParaRPr/>
          </a:p>
          <a:p>
            <a:pPr marL="457200" lvl="0" indent="-330200" algn="l" rtl="0">
              <a:spcBef>
                <a:spcPts val="0"/>
              </a:spcBef>
              <a:spcAft>
                <a:spcPts val="0"/>
              </a:spcAft>
              <a:buSzPts val="1600"/>
              <a:buAutoNum type="arabicPeriod"/>
            </a:pPr>
            <a:r>
              <a:rPr lang="en"/>
              <a:t>Session Storage</a:t>
            </a:r>
            <a:endParaRPr/>
          </a:p>
        </p:txBody>
      </p:sp>
      <p:sp>
        <p:nvSpPr>
          <p:cNvPr id="190" name="Google Shape;190;p28"/>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91" name="Google Shape;191;p28"/>
          <p:cNvPicPr preferRelativeResize="0"/>
          <p:nvPr/>
        </p:nvPicPr>
        <p:blipFill>
          <a:blip r:embed="rId3">
            <a:alphaModFix/>
          </a:blip>
          <a:stretch>
            <a:fillRect/>
          </a:stretch>
        </p:blipFill>
        <p:spPr>
          <a:xfrm>
            <a:off x="3619025" y="416121"/>
            <a:ext cx="5524975" cy="2010925"/>
          </a:xfrm>
          <a:prstGeom prst="rect">
            <a:avLst/>
          </a:prstGeom>
          <a:noFill/>
          <a:ln>
            <a:noFill/>
          </a:ln>
        </p:spPr>
      </p:pic>
      <p:pic>
        <p:nvPicPr>
          <p:cNvPr id="192" name="Google Shape;192;p28"/>
          <p:cNvPicPr preferRelativeResize="0"/>
          <p:nvPr/>
        </p:nvPicPr>
        <p:blipFill>
          <a:blip r:embed="rId4">
            <a:alphaModFix/>
          </a:blip>
          <a:stretch>
            <a:fillRect/>
          </a:stretch>
        </p:blipFill>
        <p:spPr>
          <a:xfrm>
            <a:off x="3619025" y="2858983"/>
            <a:ext cx="5524976" cy="1849842"/>
          </a:xfrm>
          <a:prstGeom prst="rect">
            <a:avLst/>
          </a:prstGeom>
          <a:noFill/>
          <a:ln>
            <a:noFill/>
          </a:ln>
        </p:spPr>
      </p:pic>
      <p:pic>
        <p:nvPicPr>
          <p:cNvPr id="193" name="Google Shape;193;p28"/>
          <p:cNvPicPr preferRelativeResize="0"/>
          <p:nvPr/>
        </p:nvPicPr>
        <p:blipFill>
          <a:blip r:embed="rId5">
            <a:alphaModFix/>
          </a:blip>
          <a:stretch>
            <a:fillRect/>
          </a:stretch>
        </p:blipFill>
        <p:spPr>
          <a:xfrm>
            <a:off x="857025" y="1728150"/>
            <a:ext cx="1687200" cy="16872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DynamoDB</a:t>
            </a:r>
            <a:endParaRPr/>
          </a:p>
        </p:txBody>
      </p:sp>
      <p:sp>
        <p:nvSpPr>
          <p:cNvPr id="199" name="Google Shape;199;p2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DynamoDB is a NoSQL database that supports both </a:t>
            </a:r>
            <a:r>
              <a:rPr lang="en" b="1"/>
              <a:t>key-value</a:t>
            </a:r>
            <a:r>
              <a:rPr lang="en"/>
              <a:t> and </a:t>
            </a:r>
            <a:r>
              <a:rPr lang="en" b="1"/>
              <a:t>document</a:t>
            </a:r>
            <a:r>
              <a:rPr lang="en"/>
              <a:t> database that delivers single-digit millisecond performance at any scale. DynamoDB can handle more than 10 trillion requests per day and can support peaks of more than 20 million requests per second.</a:t>
            </a:r>
            <a:endParaRPr/>
          </a:p>
        </p:txBody>
      </p:sp>
      <p:pic>
        <p:nvPicPr>
          <p:cNvPr id="200" name="Google Shape;200;p29"/>
          <p:cNvPicPr preferRelativeResize="0"/>
          <p:nvPr/>
        </p:nvPicPr>
        <p:blipFill>
          <a:blip r:embed="rId3">
            <a:alphaModFix/>
          </a:blip>
          <a:stretch>
            <a:fillRect/>
          </a:stretch>
        </p:blipFill>
        <p:spPr>
          <a:xfrm>
            <a:off x="787398" y="1808100"/>
            <a:ext cx="1862000" cy="1687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0"/>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Elastic Load Balancing (ELB)</a:t>
            </a:r>
            <a:endParaRPr/>
          </a:p>
        </p:txBody>
      </p:sp>
      <p:sp>
        <p:nvSpPr>
          <p:cNvPr id="206" name="Google Shape;206;p30"/>
          <p:cNvSpPr txBox="1">
            <a:spLocks noGrp="1"/>
          </p:cNvSpPr>
          <p:nvPr>
            <p:ph type="subTitle" idx="1"/>
          </p:nvPr>
        </p:nvSpPr>
        <p:spPr>
          <a:xfrm>
            <a:off x="730000" y="3398750"/>
            <a:ext cx="3300900" cy="13965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275"/>
              <a:buNone/>
            </a:pPr>
            <a:r>
              <a:rPr lang="en" sz="1425"/>
              <a:t>Types of ELB</a:t>
            </a:r>
            <a:endParaRPr sz="1425"/>
          </a:p>
          <a:p>
            <a:pPr marL="457200" lvl="0" indent="-319087" algn="l" rtl="0">
              <a:lnSpc>
                <a:spcPct val="95000"/>
              </a:lnSpc>
              <a:spcBef>
                <a:spcPts val="1200"/>
              </a:spcBef>
              <a:spcAft>
                <a:spcPts val="0"/>
              </a:spcAft>
              <a:buSzPts val="1425"/>
              <a:buChar char="●"/>
            </a:pPr>
            <a:r>
              <a:rPr lang="en" sz="1425"/>
              <a:t>Application Load Balancer</a:t>
            </a:r>
            <a:endParaRPr sz="1425"/>
          </a:p>
          <a:p>
            <a:pPr marL="457200" lvl="0" indent="-319087" algn="l" rtl="0">
              <a:lnSpc>
                <a:spcPct val="95000"/>
              </a:lnSpc>
              <a:spcBef>
                <a:spcPts val="0"/>
              </a:spcBef>
              <a:spcAft>
                <a:spcPts val="0"/>
              </a:spcAft>
              <a:buSzPts val="1425"/>
              <a:buChar char="●"/>
            </a:pPr>
            <a:r>
              <a:rPr lang="en" sz="1425"/>
              <a:t>Network Load Balancer</a:t>
            </a:r>
            <a:endParaRPr sz="1425"/>
          </a:p>
          <a:p>
            <a:pPr marL="457200" lvl="0" indent="-319087" algn="l" rtl="0">
              <a:lnSpc>
                <a:spcPct val="95000"/>
              </a:lnSpc>
              <a:spcBef>
                <a:spcPts val="0"/>
              </a:spcBef>
              <a:spcAft>
                <a:spcPts val="0"/>
              </a:spcAft>
              <a:buSzPts val="1425"/>
              <a:buChar char="●"/>
            </a:pPr>
            <a:r>
              <a:rPr lang="en" sz="1425"/>
              <a:t>Gateway Load Balancer</a:t>
            </a:r>
            <a:endParaRPr sz="1425"/>
          </a:p>
          <a:p>
            <a:pPr marL="457200" lvl="0" indent="-319087" algn="l" rtl="0">
              <a:lnSpc>
                <a:spcPct val="95000"/>
              </a:lnSpc>
              <a:spcBef>
                <a:spcPts val="0"/>
              </a:spcBef>
              <a:spcAft>
                <a:spcPts val="0"/>
              </a:spcAft>
              <a:buSzPts val="1425"/>
              <a:buChar char="●"/>
            </a:pPr>
            <a:r>
              <a:rPr lang="en" sz="1425"/>
              <a:t>Classic Load Balancer</a:t>
            </a:r>
            <a:endParaRPr sz="1425"/>
          </a:p>
          <a:p>
            <a:pPr marL="0" lvl="0" indent="0" algn="l" rtl="0">
              <a:lnSpc>
                <a:spcPct val="80000"/>
              </a:lnSpc>
              <a:spcBef>
                <a:spcPts val="1200"/>
              </a:spcBef>
              <a:spcAft>
                <a:spcPts val="0"/>
              </a:spcAft>
              <a:buSzPts val="275"/>
              <a:buNone/>
            </a:pPr>
            <a:endParaRPr sz="1500"/>
          </a:p>
        </p:txBody>
      </p:sp>
      <p:sp>
        <p:nvSpPr>
          <p:cNvPr id="207" name="Google Shape;207;p30"/>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Types of ELB</a:t>
            </a:r>
            <a:endParaRPr/>
          </a:p>
          <a:p>
            <a:pPr marL="457200" lvl="0" indent="-311150" algn="l" rtl="0">
              <a:spcBef>
                <a:spcPts val="1200"/>
              </a:spcBef>
              <a:spcAft>
                <a:spcPts val="0"/>
              </a:spcAft>
              <a:buSzPts val="1300"/>
              <a:buChar char="●"/>
            </a:pPr>
            <a:r>
              <a:rPr lang="en"/>
              <a:t>Application Load Balancer</a:t>
            </a:r>
            <a:endParaRPr/>
          </a:p>
          <a:p>
            <a:pPr marL="457200" lvl="0" indent="-311150" algn="l" rtl="0">
              <a:spcBef>
                <a:spcPts val="0"/>
              </a:spcBef>
              <a:spcAft>
                <a:spcPts val="0"/>
              </a:spcAft>
              <a:buSzPts val="1300"/>
              <a:buChar char="●"/>
            </a:pPr>
            <a:r>
              <a:rPr lang="en"/>
              <a:t>Network Load Balancer</a:t>
            </a:r>
            <a:endParaRPr/>
          </a:p>
          <a:p>
            <a:pPr marL="457200" lvl="0" indent="-311150" algn="l" rtl="0">
              <a:spcBef>
                <a:spcPts val="0"/>
              </a:spcBef>
              <a:spcAft>
                <a:spcPts val="0"/>
              </a:spcAft>
              <a:buSzPts val="1300"/>
              <a:buChar char="●"/>
            </a:pPr>
            <a:r>
              <a:rPr lang="en"/>
              <a:t>Gateway Load Balancer</a:t>
            </a:r>
            <a:endParaRPr/>
          </a:p>
          <a:p>
            <a:pPr marL="457200" lvl="0" indent="-311150" algn="l" rtl="0">
              <a:spcBef>
                <a:spcPts val="0"/>
              </a:spcBef>
              <a:spcAft>
                <a:spcPts val="0"/>
              </a:spcAft>
              <a:buSzPts val="1300"/>
              <a:buChar char="●"/>
            </a:pPr>
            <a:r>
              <a:rPr lang="en"/>
              <a:t>Classic Load Balancer</a:t>
            </a:r>
            <a:endParaRPr/>
          </a:p>
        </p:txBody>
      </p:sp>
      <p:pic>
        <p:nvPicPr>
          <p:cNvPr id="208" name="Google Shape;208;p30"/>
          <p:cNvPicPr preferRelativeResize="0"/>
          <p:nvPr/>
        </p:nvPicPr>
        <p:blipFill>
          <a:blip r:embed="rId3">
            <a:alphaModFix/>
          </a:blip>
          <a:stretch>
            <a:fillRect/>
          </a:stretch>
        </p:blipFill>
        <p:spPr>
          <a:xfrm>
            <a:off x="3784200" y="348250"/>
            <a:ext cx="5015119" cy="4447000"/>
          </a:xfrm>
          <a:prstGeom prst="rect">
            <a:avLst/>
          </a:prstGeom>
          <a:noFill/>
          <a:ln>
            <a:noFill/>
          </a:ln>
        </p:spPr>
      </p:pic>
      <p:pic>
        <p:nvPicPr>
          <p:cNvPr id="209" name="Google Shape;209;p30"/>
          <p:cNvPicPr preferRelativeResize="0"/>
          <p:nvPr/>
        </p:nvPicPr>
        <p:blipFill>
          <a:blip r:embed="rId4">
            <a:alphaModFix/>
          </a:blip>
          <a:stretch>
            <a:fillRect/>
          </a:stretch>
        </p:blipFill>
        <p:spPr>
          <a:xfrm>
            <a:off x="927350" y="1873475"/>
            <a:ext cx="1983825" cy="19838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1"/>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Simple Queue Service (SQS)</a:t>
            </a:r>
            <a:endParaRPr/>
          </a:p>
        </p:txBody>
      </p:sp>
      <p:sp>
        <p:nvSpPr>
          <p:cNvPr id="215" name="Google Shape;215;p31"/>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SQS  is a fully managed message queuing service that enables you to decouple and scale microservices, distributed systems, and serverless applications. </a:t>
            </a:r>
            <a:endParaRPr/>
          </a:p>
          <a:p>
            <a:pPr marL="0" lvl="0" indent="0" algn="l" rtl="0">
              <a:spcBef>
                <a:spcPts val="1200"/>
              </a:spcBef>
              <a:spcAft>
                <a:spcPts val="0"/>
              </a:spcAft>
              <a:buNone/>
            </a:pPr>
            <a:r>
              <a:rPr lang="en" b="1"/>
              <a:t>Standard queues</a:t>
            </a:r>
            <a:r>
              <a:rPr lang="en"/>
              <a:t> offer maximum throughput, best-effort ordering, and at-least-once delivery. </a:t>
            </a:r>
            <a:endParaRPr/>
          </a:p>
          <a:p>
            <a:pPr marL="0" lvl="0" indent="0" algn="l" rtl="0">
              <a:spcBef>
                <a:spcPts val="1200"/>
              </a:spcBef>
              <a:spcAft>
                <a:spcPts val="1200"/>
              </a:spcAft>
              <a:buNone/>
            </a:pPr>
            <a:r>
              <a:rPr lang="en" b="1"/>
              <a:t>SQS FIFO queues</a:t>
            </a:r>
            <a:r>
              <a:rPr lang="en"/>
              <a:t> are designed to guarantee that messages are processed exactly once, in the exact order that they are sent.</a:t>
            </a:r>
            <a:endParaRPr/>
          </a:p>
        </p:txBody>
      </p:sp>
      <p:pic>
        <p:nvPicPr>
          <p:cNvPr id="216" name="Google Shape;216;p31"/>
          <p:cNvPicPr preferRelativeResize="0"/>
          <p:nvPr/>
        </p:nvPicPr>
        <p:blipFill>
          <a:blip r:embed="rId3">
            <a:alphaModFix/>
          </a:blip>
          <a:stretch>
            <a:fillRect/>
          </a:stretch>
        </p:blipFill>
        <p:spPr>
          <a:xfrm>
            <a:off x="864225" y="2032400"/>
            <a:ext cx="2069475" cy="20694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8038" y="28550"/>
            <a:ext cx="4398010" cy="403957"/>
          </a:xfrm>
          <a:prstGeom prst="rect">
            <a:avLst/>
          </a:prstGeom>
        </p:spPr>
        <p:txBody>
          <a:bodyPr spcFirstLastPara="1" vert="horz" wrap="square" lIns="0" tIns="6350" rIns="0" bIns="0" rtlCol="0" anchor="t" anchorCtr="0">
            <a:spAutoFit/>
          </a:bodyPr>
          <a:lstStyle/>
          <a:p>
            <a:pPr marL="6350">
              <a:spcBef>
                <a:spcPts val="50"/>
              </a:spcBef>
            </a:pPr>
            <a:r>
              <a:rPr dirty="0"/>
              <a:t>Amazon</a:t>
            </a:r>
            <a:r>
              <a:rPr spc="-35" dirty="0"/>
              <a:t> </a:t>
            </a:r>
            <a:r>
              <a:rPr dirty="0"/>
              <a:t>Simple</a:t>
            </a:r>
            <a:r>
              <a:rPr spc="-33" dirty="0"/>
              <a:t> </a:t>
            </a:r>
            <a:r>
              <a:rPr dirty="0"/>
              <a:t>Queue</a:t>
            </a:r>
            <a:r>
              <a:rPr spc="-33" dirty="0"/>
              <a:t> </a:t>
            </a:r>
            <a:r>
              <a:rPr spc="-5" dirty="0"/>
              <a:t>Service</a:t>
            </a:r>
          </a:p>
        </p:txBody>
      </p:sp>
      <p:sp>
        <p:nvSpPr>
          <p:cNvPr id="3" name="object 3"/>
          <p:cNvSpPr txBox="1"/>
          <p:nvPr/>
        </p:nvSpPr>
        <p:spPr>
          <a:xfrm>
            <a:off x="8173736" y="56326"/>
            <a:ext cx="911860" cy="138499"/>
          </a:xfrm>
          <a:prstGeom prst="rect">
            <a:avLst/>
          </a:prstGeom>
        </p:spPr>
        <p:txBody>
          <a:bodyPr vert="horz" wrap="square" lIns="0" tIns="7620" rIns="0" bIns="0" rtlCol="0">
            <a:spAutoFit/>
          </a:bodyPr>
          <a:lstStyle/>
          <a:p>
            <a:pPr marL="6350">
              <a:spcBef>
                <a:spcPts val="60"/>
              </a:spcBef>
            </a:pPr>
            <a:r>
              <a:rPr sz="850" dirty="0">
                <a:solidFill>
                  <a:srgbClr val="13110E"/>
                </a:solidFill>
                <a:latin typeface="Open Sans Light"/>
                <a:cs typeface="Open Sans Light"/>
              </a:rPr>
              <a:t>Learn</a:t>
            </a:r>
            <a:r>
              <a:rPr sz="850" spc="15" dirty="0">
                <a:solidFill>
                  <a:srgbClr val="13110E"/>
                </a:solidFill>
                <a:latin typeface="Open Sans Light"/>
                <a:cs typeface="Open Sans Light"/>
              </a:rPr>
              <a:t> </a:t>
            </a:r>
            <a:r>
              <a:rPr sz="850" dirty="0">
                <a:solidFill>
                  <a:srgbClr val="13110E"/>
                </a:solidFill>
                <a:latin typeface="Open Sans Light"/>
                <a:cs typeface="Open Sans Light"/>
              </a:rPr>
              <a:t>With</a:t>
            </a:r>
            <a:r>
              <a:rPr sz="850" spc="15" dirty="0">
                <a:solidFill>
                  <a:srgbClr val="13110E"/>
                </a:solidFill>
                <a:latin typeface="Open Sans Light"/>
                <a:cs typeface="Open Sans Light"/>
              </a:rPr>
              <a:t> </a:t>
            </a:r>
            <a:r>
              <a:rPr sz="850" spc="-5" dirty="0">
                <a:solidFill>
                  <a:srgbClr val="13110E"/>
                </a:solidFill>
                <a:latin typeface="Open Sans Light"/>
                <a:cs typeface="Open Sans Light"/>
              </a:rPr>
              <a:t>Sandip</a:t>
            </a:r>
            <a:endParaRPr sz="850">
              <a:latin typeface="Open Sans Light"/>
              <a:cs typeface="Open Sans Light"/>
            </a:endParaRPr>
          </a:p>
        </p:txBody>
      </p:sp>
      <p:sp>
        <p:nvSpPr>
          <p:cNvPr id="4" name="object 4"/>
          <p:cNvSpPr txBox="1"/>
          <p:nvPr/>
        </p:nvSpPr>
        <p:spPr>
          <a:xfrm>
            <a:off x="269256" y="377582"/>
            <a:ext cx="8663940" cy="4699043"/>
          </a:xfrm>
          <a:prstGeom prst="rect">
            <a:avLst/>
          </a:prstGeom>
        </p:spPr>
        <p:txBody>
          <a:bodyPr vert="horz" wrap="square" lIns="0" tIns="58103" rIns="0" bIns="0" rtlCol="0">
            <a:spAutoFit/>
          </a:bodyPr>
          <a:lstStyle/>
          <a:p>
            <a:pPr marL="25083">
              <a:spcBef>
                <a:spcPts val="458"/>
              </a:spcBef>
            </a:pPr>
            <a:r>
              <a:rPr sz="900" b="1" dirty="0">
                <a:latin typeface="Roboto"/>
                <a:cs typeface="Roboto"/>
              </a:rPr>
              <a:t>Fully</a:t>
            </a:r>
            <a:r>
              <a:rPr sz="900" b="1" spc="-25" dirty="0">
                <a:latin typeface="Roboto"/>
                <a:cs typeface="Roboto"/>
              </a:rPr>
              <a:t> </a:t>
            </a:r>
            <a:r>
              <a:rPr sz="900" b="1" dirty="0">
                <a:latin typeface="Roboto"/>
                <a:cs typeface="Roboto"/>
              </a:rPr>
              <a:t>managed</a:t>
            </a:r>
            <a:r>
              <a:rPr sz="900" b="1" spc="-23" dirty="0">
                <a:latin typeface="Roboto"/>
                <a:cs typeface="Roboto"/>
              </a:rPr>
              <a:t> </a:t>
            </a:r>
            <a:r>
              <a:rPr sz="900" b="1" dirty="0">
                <a:latin typeface="Roboto"/>
                <a:cs typeface="Roboto"/>
              </a:rPr>
              <a:t>message</a:t>
            </a:r>
            <a:r>
              <a:rPr sz="900" b="1" spc="-23" dirty="0">
                <a:latin typeface="Roboto"/>
                <a:cs typeface="Roboto"/>
              </a:rPr>
              <a:t> </a:t>
            </a:r>
            <a:r>
              <a:rPr sz="900" b="1" dirty="0">
                <a:latin typeface="Roboto"/>
                <a:cs typeface="Roboto"/>
              </a:rPr>
              <a:t>queues</a:t>
            </a:r>
            <a:r>
              <a:rPr sz="900" b="1" spc="-23" dirty="0">
                <a:latin typeface="Roboto"/>
                <a:cs typeface="Roboto"/>
              </a:rPr>
              <a:t> </a:t>
            </a:r>
            <a:r>
              <a:rPr sz="900" b="1" dirty="0">
                <a:latin typeface="Roboto"/>
                <a:cs typeface="Roboto"/>
              </a:rPr>
              <a:t>for</a:t>
            </a:r>
            <a:r>
              <a:rPr sz="900" b="1" spc="-23" dirty="0">
                <a:latin typeface="Roboto"/>
                <a:cs typeface="Roboto"/>
              </a:rPr>
              <a:t> </a:t>
            </a:r>
            <a:r>
              <a:rPr sz="900" b="1" spc="-5" dirty="0">
                <a:latin typeface="Roboto"/>
                <a:cs typeface="Roboto"/>
              </a:rPr>
              <a:t>microservices,</a:t>
            </a:r>
            <a:r>
              <a:rPr sz="900" b="1" spc="-23" dirty="0">
                <a:latin typeface="Roboto"/>
                <a:cs typeface="Roboto"/>
              </a:rPr>
              <a:t> </a:t>
            </a:r>
            <a:r>
              <a:rPr sz="900" b="1" dirty="0">
                <a:latin typeface="Roboto"/>
                <a:cs typeface="Roboto"/>
              </a:rPr>
              <a:t>distributed</a:t>
            </a:r>
            <a:r>
              <a:rPr sz="900" b="1" spc="-23" dirty="0">
                <a:latin typeface="Roboto"/>
                <a:cs typeface="Roboto"/>
              </a:rPr>
              <a:t> </a:t>
            </a:r>
            <a:r>
              <a:rPr sz="900" b="1" dirty="0">
                <a:latin typeface="Roboto"/>
                <a:cs typeface="Roboto"/>
              </a:rPr>
              <a:t>systems,</a:t>
            </a:r>
            <a:r>
              <a:rPr sz="900" b="1" spc="-23" dirty="0">
                <a:latin typeface="Roboto"/>
                <a:cs typeface="Roboto"/>
              </a:rPr>
              <a:t> </a:t>
            </a:r>
            <a:r>
              <a:rPr sz="900" b="1" dirty="0">
                <a:latin typeface="Roboto"/>
                <a:cs typeface="Roboto"/>
              </a:rPr>
              <a:t>and</a:t>
            </a:r>
            <a:r>
              <a:rPr sz="900" b="1" spc="-23" dirty="0">
                <a:latin typeface="Roboto"/>
                <a:cs typeface="Roboto"/>
              </a:rPr>
              <a:t> </a:t>
            </a:r>
            <a:r>
              <a:rPr sz="900" b="1" dirty="0">
                <a:latin typeface="Roboto"/>
                <a:cs typeface="Roboto"/>
              </a:rPr>
              <a:t>serverless</a:t>
            </a:r>
            <a:r>
              <a:rPr sz="900" b="1" spc="-23" dirty="0">
                <a:latin typeface="Roboto"/>
                <a:cs typeface="Roboto"/>
              </a:rPr>
              <a:t> </a:t>
            </a:r>
            <a:r>
              <a:rPr sz="900" b="1" spc="-5" dirty="0">
                <a:latin typeface="Roboto"/>
                <a:cs typeface="Roboto"/>
              </a:rPr>
              <a:t>applications</a:t>
            </a:r>
            <a:endParaRPr sz="900">
              <a:latin typeface="Roboto"/>
              <a:cs typeface="Roboto"/>
            </a:endParaRPr>
          </a:p>
          <a:p>
            <a:pPr marL="25083" marR="191770">
              <a:lnSpc>
                <a:spcPct val="116500"/>
              </a:lnSpc>
              <a:spcBef>
                <a:spcPts val="280"/>
              </a:spcBef>
            </a:pPr>
            <a:r>
              <a:rPr sz="1100" dirty="0">
                <a:latin typeface="Roboto"/>
                <a:cs typeface="Roboto"/>
              </a:rPr>
              <a:t>Amazon</a:t>
            </a:r>
            <a:r>
              <a:rPr sz="1100" spc="-20" dirty="0">
                <a:latin typeface="Roboto"/>
                <a:cs typeface="Roboto"/>
              </a:rPr>
              <a:t> </a:t>
            </a:r>
            <a:r>
              <a:rPr sz="1100" dirty="0">
                <a:latin typeface="Roboto"/>
                <a:cs typeface="Roboto"/>
              </a:rPr>
              <a:t>Simple</a:t>
            </a:r>
            <a:r>
              <a:rPr sz="1100" spc="-20" dirty="0">
                <a:latin typeface="Roboto"/>
                <a:cs typeface="Roboto"/>
              </a:rPr>
              <a:t> </a:t>
            </a:r>
            <a:r>
              <a:rPr sz="1100" dirty="0">
                <a:latin typeface="Roboto"/>
                <a:cs typeface="Roboto"/>
              </a:rPr>
              <a:t>Queue</a:t>
            </a:r>
            <a:r>
              <a:rPr sz="1100" spc="-20" dirty="0">
                <a:latin typeface="Roboto"/>
                <a:cs typeface="Roboto"/>
              </a:rPr>
              <a:t> </a:t>
            </a:r>
            <a:r>
              <a:rPr sz="1100" dirty="0">
                <a:latin typeface="Roboto"/>
                <a:cs typeface="Roboto"/>
              </a:rPr>
              <a:t>Service</a:t>
            </a:r>
            <a:r>
              <a:rPr sz="1100" spc="-20" dirty="0">
                <a:latin typeface="Roboto"/>
                <a:cs typeface="Roboto"/>
              </a:rPr>
              <a:t> </a:t>
            </a:r>
            <a:r>
              <a:rPr sz="1100" dirty="0">
                <a:latin typeface="Roboto"/>
                <a:cs typeface="Roboto"/>
              </a:rPr>
              <a:t>(SQS)</a:t>
            </a:r>
            <a:r>
              <a:rPr sz="1100" spc="-20" dirty="0">
                <a:latin typeface="Roboto"/>
                <a:cs typeface="Roboto"/>
              </a:rPr>
              <a:t> </a:t>
            </a:r>
            <a:r>
              <a:rPr sz="1100" dirty="0">
                <a:latin typeface="Roboto"/>
                <a:cs typeface="Roboto"/>
              </a:rPr>
              <a:t>is</a:t>
            </a:r>
            <a:r>
              <a:rPr sz="1100" spc="-20" dirty="0">
                <a:latin typeface="Roboto"/>
                <a:cs typeface="Roboto"/>
              </a:rPr>
              <a:t> </a:t>
            </a:r>
            <a:r>
              <a:rPr sz="1100" dirty="0">
                <a:latin typeface="Roboto"/>
                <a:cs typeface="Roboto"/>
              </a:rPr>
              <a:t>a</a:t>
            </a:r>
            <a:r>
              <a:rPr sz="1100" spc="-20" dirty="0">
                <a:latin typeface="Roboto"/>
                <a:cs typeface="Roboto"/>
              </a:rPr>
              <a:t> </a:t>
            </a:r>
            <a:r>
              <a:rPr sz="1100" dirty="0">
                <a:latin typeface="Roboto"/>
                <a:cs typeface="Roboto"/>
              </a:rPr>
              <a:t>fully</a:t>
            </a:r>
            <a:r>
              <a:rPr sz="1100" spc="-20" dirty="0">
                <a:latin typeface="Roboto"/>
                <a:cs typeface="Roboto"/>
              </a:rPr>
              <a:t> </a:t>
            </a:r>
            <a:r>
              <a:rPr sz="1100" dirty="0">
                <a:latin typeface="Roboto"/>
                <a:cs typeface="Roboto"/>
              </a:rPr>
              <a:t>managed</a:t>
            </a:r>
            <a:r>
              <a:rPr sz="1100" spc="-20" dirty="0">
                <a:latin typeface="Roboto"/>
                <a:cs typeface="Roboto"/>
              </a:rPr>
              <a:t> </a:t>
            </a:r>
            <a:r>
              <a:rPr sz="1100" dirty="0">
                <a:latin typeface="Roboto"/>
                <a:cs typeface="Roboto"/>
              </a:rPr>
              <a:t>message</a:t>
            </a:r>
            <a:r>
              <a:rPr sz="1100" spc="-20" dirty="0">
                <a:latin typeface="Roboto"/>
                <a:cs typeface="Roboto"/>
              </a:rPr>
              <a:t> </a:t>
            </a:r>
            <a:r>
              <a:rPr sz="1100" dirty="0">
                <a:latin typeface="Roboto"/>
                <a:cs typeface="Roboto"/>
              </a:rPr>
              <a:t>queuing</a:t>
            </a:r>
            <a:r>
              <a:rPr sz="1100" spc="-20" dirty="0">
                <a:latin typeface="Roboto"/>
                <a:cs typeface="Roboto"/>
              </a:rPr>
              <a:t> </a:t>
            </a:r>
            <a:r>
              <a:rPr sz="1100" dirty="0">
                <a:latin typeface="Roboto"/>
                <a:cs typeface="Roboto"/>
              </a:rPr>
              <a:t>service</a:t>
            </a:r>
            <a:r>
              <a:rPr sz="1100" spc="-20" dirty="0">
                <a:latin typeface="Roboto"/>
                <a:cs typeface="Roboto"/>
              </a:rPr>
              <a:t> </a:t>
            </a:r>
            <a:r>
              <a:rPr sz="1100" dirty="0">
                <a:latin typeface="Roboto"/>
                <a:cs typeface="Roboto"/>
              </a:rPr>
              <a:t>that</a:t>
            </a:r>
            <a:r>
              <a:rPr sz="1100" spc="-20" dirty="0">
                <a:latin typeface="Roboto"/>
                <a:cs typeface="Roboto"/>
              </a:rPr>
              <a:t> </a:t>
            </a:r>
            <a:r>
              <a:rPr sz="1100" dirty="0">
                <a:latin typeface="Roboto"/>
                <a:cs typeface="Roboto"/>
              </a:rPr>
              <a:t>enables</a:t>
            </a:r>
            <a:r>
              <a:rPr sz="1100" spc="-20" dirty="0">
                <a:latin typeface="Roboto"/>
                <a:cs typeface="Roboto"/>
              </a:rPr>
              <a:t> </a:t>
            </a:r>
            <a:r>
              <a:rPr sz="1100" dirty="0">
                <a:latin typeface="Roboto"/>
                <a:cs typeface="Roboto"/>
              </a:rPr>
              <a:t>you</a:t>
            </a:r>
            <a:r>
              <a:rPr sz="1100" spc="-20" dirty="0">
                <a:latin typeface="Roboto"/>
                <a:cs typeface="Roboto"/>
              </a:rPr>
              <a:t> </a:t>
            </a:r>
            <a:r>
              <a:rPr sz="1100" dirty="0">
                <a:latin typeface="Roboto"/>
                <a:cs typeface="Roboto"/>
              </a:rPr>
              <a:t>to</a:t>
            </a:r>
            <a:r>
              <a:rPr sz="1100" spc="-20" dirty="0">
                <a:latin typeface="Roboto"/>
                <a:cs typeface="Roboto"/>
              </a:rPr>
              <a:t> </a:t>
            </a:r>
            <a:r>
              <a:rPr sz="1100" dirty="0">
                <a:latin typeface="Roboto"/>
                <a:cs typeface="Roboto"/>
              </a:rPr>
              <a:t>decouple</a:t>
            </a:r>
            <a:r>
              <a:rPr sz="1100" spc="-20" dirty="0">
                <a:latin typeface="Roboto"/>
                <a:cs typeface="Roboto"/>
              </a:rPr>
              <a:t> </a:t>
            </a:r>
            <a:r>
              <a:rPr sz="1100" dirty="0">
                <a:latin typeface="Roboto"/>
                <a:cs typeface="Roboto"/>
              </a:rPr>
              <a:t>and</a:t>
            </a:r>
            <a:r>
              <a:rPr sz="1100" spc="-20" dirty="0">
                <a:latin typeface="Roboto"/>
                <a:cs typeface="Roboto"/>
              </a:rPr>
              <a:t> </a:t>
            </a:r>
            <a:r>
              <a:rPr sz="1100" dirty="0">
                <a:latin typeface="Roboto"/>
                <a:cs typeface="Roboto"/>
              </a:rPr>
              <a:t>scale</a:t>
            </a:r>
            <a:r>
              <a:rPr sz="1100" spc="-20" dirty="0">
                <a:latin typeface="Roboto"/>
                <a:cs typeface="Roboto"/>
              </a:rPr>
              <a:t> </a:t>
            </a:r>
            <a:r>
              <a:rPr sz="1100" spc="-5" dirty="0">
                <a:latin typeface="Roboto"/>
                <a:cs typeface="Roboto"/>
              </a:rPr>
              <a:t>microservices, </a:t>
            </a:r>
            <a:r>
              <a:rPr sz="1100" dirty="0">
                <a:latin typeface="Roboto"/>
                <a:cs typeface="Roboto"/>
              </a:rPr>
              <a:t>distributed</a:t>
            </a:r>
            <a:r>
              <a:rPr sz="1100" spc="-35" dirty="0">
                <a:latin typeface="Roboto"/>
                <a:cs typeface="Roboto"/>
              </a:rPr>
              <a:t> </a:t>
            </a:r>
            <a:r>
              <a:rPr sz="1100" dirty="0">
                <a:latin typeface="Roboto"/>
                <a:cs typeface="Roboto"/>
              </a:rPr>
              <a:t>systems,</a:t>
            </a:r>
            <a:r>
              <a:rPr sz="1100" spc="-33" dirty="0">
                <a:latin typeface="Roboto"/>
                <a:cs typeface="Roboto"/>
              </a:rPr>
              <a:t> </a:t>
            </a:r>
            <a:r>
              <a:rPr sz="1100" dirty="0">
                <a:latin typeface="Roboto"/>
                <a:cs typeface="Roboto"/>
              </a:rPr>
              <a:t>and</a:t>
            </a:r>
            <a:r>
              <a:rPr sz="1100" spc="-33" dirty="0">
                <a:latin typeface="Roboto"/>
                <a:cs typeface="Roboto"/>
              </a:rPr>
              <a:t> </a:t>
            </a:r>
            <a:r>
              <a:rPr sz="1100" dirty="0">
                <a:latin typeface="Roboto"/>
                <a:cs typeface="Roboto"/>
              </a:rPr>
              <a:t>serverless</a:t>
            </a:r>
            <a:r>
              <a:rPr sz="1100" spc="-35" dirty="0">
                <a:latin typeface="Roboto"/>
                <a:cs typeface="Roboto"/>
              </a:rPr>
              <a:t> </a:t>
            </a:r>
            <a:r>
              <a:rPr sz="1100" spc="-5" dirty="0">
                <a:latin typeface="Roboto"/>
                <a:cs typeface="Roboto"/>
              </a:rPr>
              <a:t>applications.</a:t>
            </a:r>
            <a:endParaRPr sz="1100">
              <a:latin typeface="Roboto"/>
              <a:cs typeface="Roboto"/>
            </a:endParaRPr>
          </a:p>
          <a:p>
            <a:pPr marL="25083" marR="176213">
              <a:lnSpc>
                <a:spcPct val="116500"/>
              </a:lnSpc>
            </a:pPr>
            <a:r>
              <a:rPr sz="1100" dirty="0">
                <a:latin typeface="Roboto"/>
                <a:cs typeface="Roboto"/>
              </a:rPr>
              <a:t>SQS</a:t>
            </a:r>
            <a:r>
              <a:rPr sz="1100" spc="-28" dirty="0">
                <a:latin typeface="Roboto"/>
                <a:cs typeface="Roboto"/>
              </a:rPr>
              <a:t> </a:t>
            </a:r>
            <a:r>
              <a:rPr sz="1100" dirty="0">
                <a:latin typeface="Roboto"/>
                <a:cs typeface="Roboto"/>
              </a:rPr>
              <a:t>eliminates</a:t>
            </a:r>
            <a:r>
              <a:rPr sz="1100" spc="-28" dirty="0">
                <a:latin typeface="Roboto"/>
                <a:cs typeface="Roboto"/>
              </a:rPr>
              <a:t> </a:t>
            </a:r>
            <a:r>
              <a:rPr sz="1100" dirty="0">
                <a:latin typeface="Roboto"/>
                <a:cs typeface="Roboto"/>
              </a:rPr>
              <a:t>the</a:t>
            </a:r>
            <a:r>
              <a:rPr sz="1100" spc="-25" dirty="0">
                <a:latin typeface="Roboto"/>
                <a:cs typeface="Roboto"/>
              </a:rPr>
              <a:t> </a:t>
            </a:r>
            <a:r>
              <a:rPr sz="1100" dirty="0">
                <a:latin typeface="Roboto"/>
                <a:cs typeface="Roboto"/>
              </a:rPr>
              <a:t>complexity</a:t>
            </a:r>
            <a:r>
              <a:rPr sz="1100" spc="-28" dirty="0">
                <a:latin typeface="Roboto"/>
                <a:cs typeface="Roboto"/>
              </a:rPr>
              <a:t> </a:t>
            </a:r>
            <a:r>
              <a:rPr sz="1100" dirty="0">
                <a:latin typeface="Roboto"/>
                <a:cs typeface="Roboto"/>
              </a:rPr>
              <a:t>and</a:t>
            </a:r>
            <a:r>
              <a:rPr sz="1100" spc="-28" dirty="0">
                <a:latin typeface="Roboto"/>
                <a:cs typeface="Roboto"/>
              </a:rPr>
              <a:t> </a:t>
            </a:r>
            <a:r>
              <a:rPr sz="1100" dirty="0">
                <a:latin typeface="Roboto"/>
                <a:cs typeface="Roboto"/>
              </a:rPr>
              <a:t>overhead</a:t>
            </a:r>
            <a:r>
              <a:rPr sz="1100" spc="-25" dirty="0">
                <a:latin typeface="Roboto"/>
                <a:cs typeface="Roboto"/>
              </a:rPr>
              <a:t> </a:t>
            </a:r>
            <a:r>
              <a:rPr sz="1100" dirty="0">
                <a:latin typeface="Roboto"/>
                <a:cs typeface="Roboto"/>
              </a:rPr>
              <a:t>associated</a:t>
            </a:r>
            <a:r>
              <a:rPr sz="1100" spc="-28" dirty="0">
                <a:latin typeface="Roboto"/>
                <a:cs typeface="Roboto"/>
              </a:rPr>
              <a:t> </a:t>
            </a:r>
            <a:r>
              <a:rPr sz="1100" dirty="0">
                <a:latin typeface="Roboto"/>
                <a:cs typeface="Roboto"/>
              </a:rPr>
              <a:t>with</a:t>
            </a:r>
            <a:r>
              <a:rPr sz="1100" spc="-28" dirty="0">
                <a:latin typeface="Roboto"/>
                <a:cs typeface="Roboto"/>
              </a:rPr>
              <a:t> </a:t>
            </a:r>
            <a:r>
              <a:rPr sz="1100" dirty="0">
                <a:latin typeface="Roboto"/>
                <a:cs typeface="Roboto"/>
              </a:rPr>
              <a:t>managing</a:t>
            </a:r>
            <a:r>
              <a:rPr sz="1100" spc="-25" dirty="0">
                <a:latin typeface="Roboto"/>
                <a:cs typeface="Roboto"/>
              </a:rPr>
              <a:t> </a:t>
            </a:r>
            <a:r>
              <a:rPr sz="1100" dirty="0">
                <a:latin typeface="Roboto"/>
                <a:cs typeface="Roboto"/>
              </a:rPr>
              <a:t>and</a:t>
            </a:r>
            <a:r>
              <a:rPr sz="1100" spc="-28" dirty="0">
                <a:latin typeface="Roboto"/>
                <a:cs typeface="Roboto"/>
              </a:rPr>
              <a:t> </a:t>
            </a:r>
            <a:r>
              <a:rPr sz="1100" dirty="0">
                <a:latin typeface="Roboto"/>
                <a:cs typeface="Roboto"/>
              </a:rPr>
              <a:t>operating</a:t>
            </a:r>
            <a:r>
              <a:rPr sz="1100" spc="-28" dirty="0">
                <a:latin typeface="Roboto"/>
                <a:cs typeface="Roboto"/>
              </a:rPr>
              <a:t> </a:t>
            </a:r>
            <a:r>
              <a:rPr sz="1100" dirty="0">
                <a:latin typeface="Roboto"/>
                <a:cs typeface="Roboto"/>
              </a:rPr>
              <a:t>message</a:t>
            </a:r>
            <a:r>
              <a:rPr sz="1100" spc="-25" dirty="0">
                <a:latin typeface="Roboto"/>
                <a:cs typeface="Roboto"/>
              </a:rPr>
              <a:t> </a:t>
            </a:r>
            <a:r>
              <a:rPr sz="1100" dirty="0">
                <a:latin typeface="Roboto"/>
                <a:cs typeface="Roboto"/>
              </a:rPr>
              <a:t>oriented</a:t>
            </a:r>
            <a:r>
              <a:rPr sz="1100" spc="-28" dirty="0">
                <a:latin typeface="Roboto"/>
                <a:cs typeface="Roboto"/>
              </a:rPr>
              <a:t> </a:t>
            </a:r>
            <a:r>
              <a:rPr sz="1100" dirty="0">
                <a:latin typeface="Roboto"/>
                <a:cs typeface="Roboto"/>
              </a:rPr>
              <a:t>middleware,</a:t>
            </a:r>
            <a:r>
              <a:rPr sz="1100" spc="-28" dirty="0">
                <a:latin typeface="Roboto"/>
                <a:cs typeface="Roboto"/>
              </a:rPr>
              <a:t> </a:t>
            </a:r>
            <a:r>
              <a:rPr sz="1100" dirty="0">
                <a:latin typeface="Roboto"/>
                <a:cs typeface="Roboto"/>
              </a:rPr>
              <a:t>and</a:t>
            </a:r>
            <a:r>
              <a:rPr sz="1100" spc="-25" dirty="0">
                <a:latin typeface="Roboto"/>
                <a:cs typeface="Roboto"/>
              </a:rPr>
              <a:t> </a:t>
            </a:r>
            <a:r>
              <a:rPr sz="1100" spc="-5" dirty="0">
                <a:latin typeface="Roboto"/>
                <a:cs typeface="Roboto"/>
              </a:rPr>
              <a:t>empowers </a:t>
            </a:r>
            <a:r>
              <a:rPr sz="1100" dirty="0">
                <a:latin typeface="Roboto"/>
                <a:cs typeface="Roboto"/>
              </a:rPr>
              <a:t>developers</a:t>
            </a:r>
            <a:r>
              <a:rPr sz="1100" spc="-23" dirty="0">
                <a:latin typeface="Roboto"/>
                <a:cs typeface="Roboto"/>
              </a:rPr>
              <a:t> </a:t>
            </a:r>
            <a:r>
              <a:rPr sz="1100" dirty="0">
                <a:latin typeface="Roboto"/>
                <a:cs typeface="Roboto"/>
              </a:rPr>
              <a:t>to</a:t>
            </a:r>
            <a:r>
              <a:rPr sz="1100" spc="-20" dirty="0">
                <a:latin typeface="Roboto"/>
                <a:cs typeface="Roboto"/>
              </a:rPr>
              <a:t> </a:t>
            </a:r>
            <a:r>
              <a:rPr sz="1100" dirty="0">
                <a:latin typeface="Roboto"/>
                <a:cs typeface="Roboto"/>
              </a:rPr>
              <a:t>focus</a:t>
            </a:r>
            <a:r>
              <a:rPr sz="1100" spc="-23" dirty="0">
                <a:latin typeface="Roboto"/>
                <a:cs typeface="Roboto"/>
              </a:rPr>
              <a:t> </a:t>
            </a:r>
            <a:r>
              <a:rPr sz="1100" dirty="0">
                <a:latin typeface="Roboto"/>
                <a:cs typeface="Roboto"/>
              </a:rPr>
              <a:t>on</a:t>
            </a:r>
            <a:r>
              <a:rPr sz="1100" spc="-20" dirty="0">
                <a:latin typeface="Roboto"/>
                <a:cs typeface="Roboto"/>
              </a:rPr>
              <a:t> </a:t>
            </a:r>
            <a:r>
              <a:rPr sz="1100" dirty="0">
                <a:latin typeface="Roboto"/>
                <a:cs typeface="Roboto"/>
              </a:rPr>
              <a:t>differentiating</a:t>
            </a:r>
            <a:r>
              <a:rPr sz="1100" spc="-23" dirty="0">
                <a:latin typeface="Roboto"/>
                <a:cs typeface="Roboto"/>
              </a:rPr>
              <a:t> </a:t>
            </a:r>
            <a:r>
              <a:rPr sz="1100" dirty="0">
                <a:latin typeface="Roboto"/>
                <a:cs typeface="Roboto"/>
              </a:rPr>
              <a:t>work.</a:t>
            </a:r>
            <a:r>
              <a:rPr sz="1100" spc="-20" dirty="0">
                <a:latin typeface="Roboto"/>
                <a:cs typeface="Roboto"/>
              </a:rPr>
              <a:t> </a:t>
            </a:r>
            <a:r>
              <a:rPr sz="1100" dirty="0">
                <a:latin typeface="Roboto"/>
                <a:cs typeface="Roboto"/>
              </a:rPr>
              <a:t>Using</a:t>
            </a:r>
            <a:r>
              <a:rPr sz="1100" spc="-23" dirty="0">
                <a:latin typeface="Roboto"/>
                <a:cs typeface="Roboto"/>
              </a:rPr>
              <a:t> </a:t>
            </a:r>
            <a:r>
              <a:rPr sz="1100" dirty="0">
                <a:latin typeface="Roboto"/>
                <a:cs typeface="Roboto"/>
              </a:rPr>
              <a:t>SQS,</a:t>
            </a:r>
            <a:r>
              <a:rPr sz="1100" spc="-20" dirty="0">
                <a:latin typeface="Roboto"/>
                <a:cs typeface="Roboto"/>
              </a:rPr>
              <a:t> </a:t>
            </a:r>
            <a:r>
              <a:rPr sz="1100" dirty="0">
                <a:latin typeface="Roboto"/>
                <a:cs typeface="Roboto"/>
              </a:rPr>
              <a:t>you</a:t>
            </a:r>
            <a:r>
              <a:rPr sz="1100" spc="-23" dirty="0">
                <a:latin typeface="Roboto"/>
                <a:cs typeface="Roboto"/>
              </a:rPr>
              <a:t> </a:t>
            </a:r>
            <a:r>
              <a:rPr sz="1100" dirty="0">
                <a:latin typeface="Roboto"/>
                <a:cs typeface="Roboto"/>
              </a:rPr>
              <a:t>can</a:t>
            </a:r>
            <a:r>
              <a:rPr sz="1100" spc="-20" dirty="0">
                <a:latin typeface="Roboto"/>
                <a:cs typeface="Roboto"/>
              </a:rPr>
              <a:t> </a:t>
            </a:r>
            <a:r>
              <a:rPr sz="1100" dirty="0">
                <a:latin typeface="Roboto"/>
                <a:cs typeface="Roboto"/>
              </a:rPr>
              <a:t>send,</a:t>
            </a:r>
            <a:r>
              <a:rPr sz="1100" spc="-23" dirty="0">
                <a:latin typeface="Roboto"/>
                <a:cs typeface="Roboto"/>
              </a:rPr>
              <a:t> </a:t>
            </a:r>
            <a:r>
              <a:rPr sz="1100" dirty="0">
                <a:latin typeface="Roboto"/>
                <a:cs typeface="Roboto"/>
              </a:rPr>
              <a:t>store,</a:t>
            </a:r>
            <a:r>
              <a:rPr sz="1100" spc="-20" dirty="0">
                <a:latin typeface="Roboto"/>
                <a:cs typeface="Roboto"/>
              </a:rPr>
              <a:t> </a:t>
            </a:r>
            <a:r>
              <a:rPr sz="1100" dirty="0">
                <a:latin typeface="Roboto"/>
                <a:cs typeface="Roboto"/>
              </a:rPr>
              <a:t>and</a:t>
            </a:r>
            <a:r>
              <a:rPr sz="1100" spc="-20" dirty="0">
                <a:latin typeface="Roboto"/>
                <a:cs typeface="Roboto"/>
              </a:rPr>
              <a:t> </a:t>
            </a:r>
            <a:r>
              <a:rPr sz="1100" dirty="0">
                <a:latin typeface="Roboto"/>
                <a:cs typeface="Roboto"/>
              </a:rPr>
              <a:t>receive</a:t>
            </a:r>
            <a:r>
              <a:rPr sz="1100" spc="-23" dirty="0">
                <a:latin typeface="Roboto"/>
                <a:cs typeface="Roboto"/>
              </a:rPr>
              <a:t> </a:t>
            </a:r>
            <a:r>
              <a:rPr sz="1100" dirty="0">
                <a:latin typeface="Roboto"/>
                <a:cs typeface="Roboto"/>
              </a:rPr>
              <a:t>messages</a:t>
            </a:r>
            <a:r>
              <a:rPr sz="1100" spc="-20" dirty="0">
                <a:latin typeface="Roboto"/>
                <a:cs typeface="Roboto"/>
              </a:rPr>
              <a:t> </a:t>
            </a:r>
            <a:r>
              <a:rPr sz="1100" dirty="0">
                <a:latin typeface="Roboto"/>
                <a:cs typeface="Roboto"/>
              </a:rPr>
              <a:t>between</a:t>
            </a:r>
            <a:r>
              <a:rPr sz="1100" spc="-23" dirty="0">
                <a:latin typeface="Roboto"/>
                <a:cs typeface="Roboto"/>
              </a:rPr>
              <a:t> </a:t>
            </a:r>
            <a:r>
              <a:rPr sz="1100" dirty="0">
                <a:latin typeface="Roboto"/>
                <a:cs typeface="Roboto"/>
              </a:rPr>
              <a:t>software</a:t>
            </a:r>
            <a:r>
              <a:rPr sz="1100" spc="-20" dirty="0">
                <a:latin typeface="Roboto"/>
                <a:cs typeface="Roboto"/>
              </a:rPr>
              <a:t> </a:t>
            </a:r>
            <a:r>
              <a:rPr sz="1100" dirty="0">
                <a:latin typeface="Roboto"/>
                <a:cs typeface="Roboto"/>
              </a:rPr>
              <a:t>components</a:t>
            </a:r>
            <a:r>
              <a:rPr sz="1100" spc="-23" dirty="0">
                <a:latin typeface="Roboto"/>
                <a:cs typeface="Roboto"/>
              </a:rPr>
              <a:t> </a:t>
            </a:r>
            <a:r>
              <a:rPr sz="1100" dirty="0">
                <a:latin typeface="Roboto"/>
                <a:cs typeface="Roboto"/>
              </a:rPr>
              <a:t>at</a:t>
            </a:r>
            <a:r>
              <a:rPr sz="1100" spc="-20" dirty="0">
                <a:latin typeface="Roboto"/>
                <a:cs typeface="Roboto"/>
              </a:rPr>
              <a:t> </a:t>
            </a:r>
            <a:r>
              <a:rPr sz="1100" spc="-13" dirty="0">
                <a:latin typeface="Roboto"/>
                <a:cs typeface="Roboto"/>
              </a:rPr>
              <a:t>any </a:t>
            </a:r>
            <a:r>
              <a:rPr sz="1100" dirty="0">
                <a:latin typeface="Roboto"/>
                <a:cs typeface="Roboto"/>
              </a:rPr>
              <a:t>volume,</a:t>
            </a:r>
            <a:r>
              <a:rPr sz="1100" spc="-23" dirty="0">
                <a:latin typeface="Roboto"/>
                <a:cs typeface="Roboto"/>
              </a:rPr>
              <a:t> </a:t>
            </a:r>
            <a:r>
              <a:rPr sz="1100" dirty="0">
                <a:latin typeface="Roboto"/>
                <a:cs typeface="Roboto"/>
              </a:rPr>
              <a:t>without</a:t>
            </a:r>
            <a:r>
              <a:rPr sz="1100" spc="-20" dirty="0">
                <a:latin typeface="Roboto"/>
                <a:cs typeface="Roboto"/>
              </a:rPr>
              <a:t> </a:t>
            </a:r>
            <a:r>
              <a:rPr sz="1100" dirty="0">
                <a:latin typeface="Roboto"/>
                <a:cs typeface="Roboto"/>
              </a:rPr>
              <a:t>losing</a:t>
            </a:r>
            <a:r>
              <a:rPr sz="1100" spc="-20" dirty="0">
                <a:latin typeface="Roboto"/>
                <a:cs typeface="Roboto"/>
              </a:rPr>
              <a:t> </a:t>
            </a:r>
            <a:r>
              <a:rPr sz="1100" dirty="0">
                <a:latin typeface="Roboto"/>
                <a:cs typeface="Roboto"/>
              </a:rPr>
              <a:t>messages</a:t>
            </a:r>
            <a:r>
              <a:rPr sz="1100" spc="-23" dirty="0">
                <a:latin typeface="Roboto"/>
                <a:cs typeface="Roboto"/>
              </a:rPr>
              <a:t> </a:t>
            </a:r>
            <a:r>
              <a:rPr sz="1100" dirty="0">
                <a:latin typeface="Roboto"/>
                <a:cs typeface="Roboto"/>
              </a:rPr>
              <a:t>or</a:t>
            </a:r>
            <a:r>
              <a:rPr sz="1100" spc="-20" dirty="0">
                <a:latin typeface="Roboto"/>
                <a:cs typeface="Roboto"/>
              </a:rPr>
              <a:t> </a:t>
            </a:r>
            <a:r>
              <a:rPr sz="1100" dirty="0">
                <a:latin typeface="Roboto"/>
                <a:cs typeface="Roboto"/>
              </a:rPr>
              <a:t>requiring</a:t>
            </a:r>
            <a:r>
              <a:rPr sz="1100" spc="-20" dirty="0">
                <a:latin typeface="Roboto"/>
                <a:cs typeface="Roboto"/>
              </a:rPr>
              <a:t> </a:t>
            </a:r>
            <a:r>
              <a:rPr sz="1100" dirty="0">
                <a:latin typeface="Roboto"/>
                <a:cs typeface="Roboto"/>
              </a:rPr>
              <a:t>other</a:t>
            </a:r>
            <a:r>
              <a:rPr sz="1100" spc="-20" dirty="0">
                <a:latin typeface="Roboto"/>
                <a:cs typeface="Roboto"/>
              </a:rPr>
              <a:t> </a:t>
            </a:r>
            <a:r>
              <a:rPr sz="1100" dirty="0">
                <a:latin typeface="Roboto"/>
                <a:cs typeface="Roboto"/>
              </a:rPr>
              <a:t>services</a:t>
            </a:r>
            <a:r>
              <a:rPr sz="1100" spc="-23" dirty="0">
                <a:latin typeface="Roboto"/>
                <a:cs typeface="Roboto"/>
              </a:rPr>
              <a:t> </a:t>
            </a:r>
            <a:r>
              <a:rPr sz="1100" dirty="0">
                <a:latin typeface="Roboto"/>
                <a:cs typeface="Roboto"/>
              </a:rPr>
              <a:t>to</a:t>
            </a:r>
            <a:r>
              <a:rPr sz="1100" spc="-20" dirty="0">
                <a:latin typeface="Roboto"/>
                <a:cs typeface="Roboto"/>
              </a:rPr>
              <a:t> </a:t>
            </a:r>
            <a:r>
              <a:rPr sz="1100" dirty="0">
                <a:latin typeface="Roboto"/>
                <a:cs typeface="Roboto"/>
              </a:rPr>
              <a:t>be</a:t>
            </a:r>
            <a:r>
              <a:rPr sz="1100" spc="-20" dirty="0">
                <a:latin typeface="Roboto"/>
                <a:cs typeface="Roboto"/>
              </a:rPr>
              <a:t> </a:t>
            </a:r>
            <a:r>
              <a:rPr sz="1100" dirty="0">
                <a:latin typeface="Roboto"/>
                <a:cs typeface="Roboto"/>
              </a:rPr>
              <a:t>available.</a:t>
            </a:r>
            <a:r>
              <a:rPr sz="1100" spc="-23" dirty="0">
                <a:latin typeface="Roboto"/>
                <a:cs typeface="Roboto"/>
              </a:rPr>
              <a:t> </a:t>
            </a:r>
            <a:r>
              <a:rPr sz="1100" dirty="0">
                <a:latin typeface="Roboto"/>
                <a:cs typeface="Roboto"/>
              </a:rPr>
              <a:t>Get</a:t>
            </a:r>
            <a:r>
              <a:rPr sz="1100" spc="-20" dirty="0">
                <a:latin typeface="Roboto"/>
                <a:cs typeface="Roboto"/>
              </a:rPr>
              <a:t> </a:t>
            </a:r>
            <a:r>
              <a:rPr sz="1100" dirty="0">
                <a:latin typeface="Roboto"/>
                <a:cs typeface="Roboto"/>
              </a:rPr>
              <a:t>started</a:t>
            </a:r>
            <a:r>
              <a:rPr sz="1100" spc="-20" dirty="0">
                <a:latin typeface="Roboto"/>
                <a:cs typeface="Roboto"/>
              </a:rPr>
              <a:t> </a:t>
            </a:r>
            <a:r>
              <a:rPr sz="1100" dirty="0">
                <a:latin typeface="Roboto"/>
                <a:cs typeface="Roboto"/>
              </a:rPr>
              <a:t>with</a:t>
            </a:r>
            <a:r>
              <a:rPr sz="1100" spc="-20" dirty="0">
                <a:latin typeface="Roboto"/>
                <a:cs typeface="Roboto"/>
              </a:rPr>
              <a:t> </a:t>
            </a:r>
            <a:r>
              <a:rPr sz="1100" dirty="0">
                <a:latin typeface="Roboto"/>
                <a:cs typeface="Roboto"/>
              </a:rPr>
              <a:t>SQS</a:t>
            </a:r>
            <a:r>
              <a:rPr sz="1100" spc="-23" dirty="0">
                <a:latin typeface="Roboto"/>
                <a:cs typeface="Roboto"/>
              </a:rPr>
              <a:t> </a:t>
            </a:r>
            <a:r>
              <a:rPr sz="1100" dirty="0">
                <a:latin typeface="Roboto"/>
                <a:cs typeface="Roboto"/>
              </a:rPr>
              <a:t>in</a:t>
            </a:r>
            <a:r>
              <a:rPr sz="1100" spc="-20" dirty="0">
                <a:latin typeface="Roboto"/>
                <a:cs typeface="Roboto"/>
              </a:rPr>
              <a:t> </a:t>
            </a:r>
            <a:r>
              <a:rPr sz="1100" dirty="0">
                <a:latin typeface="Roboto"/>
                <a:cs typeface="Roboto"/>
              </a:rPr>
              <a:t>minutes</a:t>
            </a:r>
            <a:r>
              <a:rPr sz="1100" spc="-20" dirty="0">
                <a:latin typeface="Roboto"/>
                <a:cs typeface="Roboto"/>
              </a:rPr>
              <a:t> </a:t>
            </a:r>
            <a:r>
              <a:rPr sz="1100" dirty="0">
                <a:latin typeface="Roboto"/>
                <a:cs typeface="Roboto"/>
              </a:rPr>
              <a:t>using</a:t>
            </a:r>
            <a:r>
              <a:rPr sz="1100" spc="-23" dirty="0">
                <a:latin typeface="Roboto"/>
                <a:cs typeface="Roboto"/>
              </a:rPr>
              <a:t> </a:t>
            </a:r>
            <a:r>
              <a:rPr sz="1100" dirty="0">
                <a:latin typeface="Roboto"/>
                <a:cs typeface="Roboto"/>
              </a:rPr>
              <a:t>the</a:t>
            </a:r>
            <a:r>
              <a:rPr sz="1100" spc="-20" dirty="0">
                <a:latin typeface="Roboto"/>
                <a:cs typeface="Roboto"/>
              </a:rPr>
              <a:t> </a:t>
            </a:r>
            <a:r>
              <a:rPr sz="1100" dirty="0">
                <a:latin typeface="Roboto"/>
                <a:cs typeface="Roboto"/>
              </a:rPr>
              <a:t>AWS</a:t>
            </a:r>
            <a:r>
              <a:rPr sz="1100" spc="-20" dirty="0">
                <a:latin typeface="Roboto"/>
                <a:cs typeface="Roboto"/>
              </a:rPr>
              <a:t> </a:t>
            </a:r>
            <a:r>
              <a:rPr sz="1100" spc="-5" dirty="0">
                <a:latin typeface="Roboto"/>
                <a:cs typeface="Roboto"/>
              </a:rPr>
              <a:t>console, </a:t>
            </a:r>
            <a:r>
              <a:rPr sz="1100" dirty="0">
                <a:latin typeface="Roboto"/>
                <a:cs typeface="Roboto"/>
              </a:rPr>
              <a:t>Command</a:t>
            </a:r>
            <a:r>
              <a:rPr sz="1100" spc="-20" dirty="0">
                <a:latin typeface="Roboto"/>
                <a:cs typeface="Roboto"/>
              </a:rPr>
              <a:t> </a:t>
            </a:r>
            <a:r>
              <a:rPr sz="1100" dirty="0">
                <a:latin typeface="Roboto"/>
                <a:cs typeface="Roboto"/>
              </a:rPr>
              <a:t>Line</a:t>
            </a:r>
            <a:r>
              <a:rPr sz="1100" spc="-18" dirty="0">
                <a:latin typeface="Roboto"/>
                <a:cs typeface="Roboto"/>
              </a:rPr>
              <a:t> </a:t>
            </a:r>
            <a:r>
              <a:rPr sz="1100" dirty="0">
                <a:latin typeface="Roboto"/>
                <a:cs typeface="Roboto"/>
              </a:rPr>
              <a:t>Interface</a:t>
            </a:r>
            <a:r>
              <a:rPr sz="1100" spc="-18" dirty="0">
                <a:latin typeface="Roboto"/>
                <a:cs typeface="Roboto"/>
              </a:rPr>
              <a:t> </a:t>
            </a:r>
            <a:r>
              <a:rPr sz="1100" dirty="0">
                <a:latin typeface="Roboto"/>
                <a:cs typeface="Roboto"/>
              </a:rPr>
              <a:t>or</a:t>
            </a:r>
            <a:r>
              <a:rPr sz="1100" spc="-18" dirty="0">
                <a:latin typeface="Roboto"/>
                <a:cs typeface="Roboto"/>
              </a:rPr>
              <a:t> </a:t>
            </a:r>
            <a:r>
              <a:rPr sz="1100" dirty="0">
                <a:latin typeface="Roboto"/>
                <a:cs typeface="Roboto"/>
              </a:rPr>
              <a:t>SDK</a:t>
            </a:r>
            <a:r>
              <a:rPr sz="1100" spc="-18" dirty="0">
                <a:latin typeface="Roboto"/>
                <a:cs typeface="Roboto"/>
              </a:rPr>
              <a:t> </a:t>
            </a:r>
            <a:r>
              <a:rPr sz="1100" dirty="0">
                <a:latin typeface="Roboto"/>
                <a:cs typeface="Roboto"/>
              </a:rPr>
              <a:t>of</a:t>
            </a:r>
            <a:r>
              <a:rPr sz="1100" spc="-18" dirty="0">
                <a:latin typeface="Roboto"/>
                <a:cs typeface="Roboto"/>
              </a:rPr>
              <a:t> </a:t>
            </a:r>
            <a:r>
              <a:rPr sz="1100" dirty="0">
                <a:latin typeface="Roboto"/>
                <a:cs typeface="Roboto"/>
              </a:rPr>
              <a:t>your</a:t>
            </a:r>
            <a:r>
              <a:rPr sz="1100" spc="-18" dirty="0">
                <a:latin typeface="Roboto"/>
                <a:cs typeface="Roboto"/>
              </a:rPr>
              <a:t> </a:t>
            </a:r>
            <a:r>
              <a:rPr sz="1100" dirty="0">
                <a:latin typeface="Roboto"/>
                <a:cs typeface="Roboto"/>
              </a:rPr>
              <a:t>choice,</a:t>
            </a:r>
            <a:r>
              <a:rPr sz="1100" spc="-18" dirty="0">
                <a:latin typeface="Roboto"/>
                <a:cs typeface="Roboto"/>
              </a:rPr>
              <a:t> </a:t>
            </a:r>
            <a:r>
              <a:rPr sz="1100" dirty="0">
                <a:latin typeface="Roboto"/>
                <a:cs typeface="Roboto"/>
              </a:rPr>
              <a:t>and</a:t>
            </a:r>
            <a:r>
              <a:rPr sz="1100" spc="-18" dirty="0">
                <a:latin typeface="Roboto"/>
                <a:cs typeface="Roboto"/>
              </a:rPr>
              <a:t> </a:t>
            </a:r>
            <a:r>
              <a:rPr sz="1100" dirty="0">
                <a:latin typeface="Roboto"/>
                <a:cs typeface="Roboto"/>
              </a:rPr>
              <a:t>three</a:t>
            </a:r>
            <a:r>
              <a:rPr sz="1100" spc="-18" dirty="0">
                <a:latin typeface="Roboto"/>
                <a:cs typeface="Roboto"/>
              </a:rPr>
              <a:t> </a:t>
            </a:r>
            <a:r>
              <a:rPr sz="1100" dirty="0">
                <a:latin typeface="Roboto"/>
                <a:cs typeface="Roboto"/>
              </a:rPr>
              <a:t>simple</a:t>
            </a:r>
            <a:r>
              <a:rPr sz="1100" spc="-18" dirty="0">
                <a:latin typeface="Roboto"/>
                <a:cs typeface="Roboto"/>
              </a:rPr>
              <a:t> </a:t>
            </a:r>
            <a:r>
              <a:rPr sz="1100" spc="-5" dirty="0">
                <a:latin typeface="Roboto"/>
                <a:cs typeface="Roboto"/>
              </a:rPr>
              <a:t>commands.</a:t>
            </a:r>
            <a:endParaRPr sz="1100">
              <a:latin typeface="Roboto"/>
              <a:cs typeface="Roboto"/>
            </a:endParaRPr>
          </a:p>
          <a:p>
            <a:pPr>
              <a:spcBef>
                <a:spcPts val="217"/>
              </a:spcBef>
            </a:pPr>
            <a:endParaRPr sz="1100">
              <a:latin typeface="Roboto"/>
              <a:cs typeface="Roboto"/>
            </a:endParaRPr>
          </a:p>
          <a:p>
            <a:pPr marL="25083" marR="8890">
              <a:lnSpc>
                <a:spcPct val="116500"/>
              </a:lnSpc>
            </a:pPr>
            <a:r>
              <a:rPr sz="1100" dirty="0">
                <a:latin typeface="Roboto"/>
                <a:cs typeface="Roboto"/>
              </a:rPr>
              <a:t>SQS</a:t>
            </a:r>
            <a:r>
              <a:rPr sz="1100" spc="-23" dirty="0">
                <a:latin typeface="Roboto"/>
                <a:cs typeface="Roboto"/>
              </a:rPr>
              <a:t> </a:t>
            </a:r>
            <a:r>
              <a:rPr sz="1100" dirty="0">
                <a:latin typeface="Roboto"/>
                <a:cs typeface="Roboto"/>
              </a:rPr>
              <a:t>offers</a:t>
            </a:r>
            <a:r>
              <a:rPr sz="1100" spc="-20" dirty="0">
                <a:latin typeface="Roboto"/>
                <a:cs typeface="Roboto"/>
              </a:rPr>
              <a:t> </a:t>
            </a:r>
            <a:r>
              <a:rPr sz="1100" dirty="0">
                <a:latin typeface="Roboto"/>
                <a:cs typeface="Roboto"/>
              </a:rPr>
              <a:t>two</a:t>
            </a:r>
            <a:r>
              <a:rPr sz="1100" spc="-20" dirty="0">
                <a:latin typeface="Roboto"/>
                <a:cs typeface="Roboto"/>
              </a:rPr>
              <a:t> </a:t>
            </a:r>
            <a:r>
              <a:rPr sz="1100" dirty="0">
                <a:latin typeface="Roboto"/>
                <a:cs typeface="Roboto"/>
              </a:rPr>
              <a:t>types</a:t>
            </a:r>
            <a:r>
              <a:rPr sz="1100" spc="-20" dirty="0">
                <a:latin typeface="Roboto"/>
                <a:cs typeface="Roboto"/>
              </a:rPr>
              <a:t> </a:t>
            </a:r>
            <a:r>
              <a:rPr sz="1100" dirty="0">
                <a:latin typeface="Roboto"/>
                <a:cs typeface="Roboto"/>
              </a:rPr>
              <a:t>of</a:t>
            </a:r>
            <a:r>
              <a:rPr sz="1100" spc="-23" dirty="0">
                <a:latin typeface="Roboto"/>
                <a:cs typeface="Roboto"/>
              </a:rPr>
              <a:t> </a:t>
            </a:r>
            <a:r>
              <a:rPr sz="1100" dirty="0">
                <a:latin typeface="Roboto"/>
                <a:cs typeface="Roboto"/>
              </a:rPr>
              <a:t>message</a:t>
            </a:r>
            <a:r>
              <a:rPr sz="1100" spc="-20" dirty="0">
                <a:latin typeface="Roboto"/>
                <a:cs typeface="Roboto"/>
              </a:rPr>
              <a:t> </a:t>
            </a:r>
            <a:r>
              <a:rPr sz="1100" dirty="0">
                <a:latin typeface="Roboto"/>
                <a:cs typeface="Roboto"/>
              </a:rPr>
              <a:t>queues.</a:t>
            </a:r>
            <a:r>
              <a:rPr sz="1100" spc="-20" dirty="0">
                <a:latin typeface="Roboto"/>
                <a:cs typeface="Roboto"/>
              </a:rPr>
              <a:t> </a:t>
            </a:r>
            <a:r>
              <a:rPr sz="1100" dirty="0">
                <a:latin typeface="Roboto"/>
                <a:cs typeface="Roboto"/>
              </a:rPr>
              <a:t>Standard</a:t>
            </a:r>
            <a:r>
              <a:rPr sz="1100" spc="-20" dirty="0">
                <a:latin typeface="Roboto"/>
                <a:cs typeface="Roboto"/>
              </a:rPr>
              <a:t> </a:t>
            </a:r>
            <a:r>
              <a:rPr sz="1100" dirty="0">
                <a:latin typeface="Roboto"/>
                <a:cs typeface="Roboto"/>
              </a:rPr>
              <a:t>queues</a:t>
            </a:r>
            <a:r>
              <a:rPr sz="1100" spc="-23" dirty="0">
                <a:latin typeface="Roboto"/>
                <a:cs typeface="Roboto"/>
              </a:rPr>
              <a:t> </a:t>
            </a:r>
            <a:r>
              <a:rPr sz="1100" dirty="0">
                <a:latin typeface="Roboto"/>
                <a:cs typeface="Roboto"/>
              </a:rPr>
              <a:t>offer</a:t>
            </a:r>
            <a:r>
              <a:rPr sz="1100" spc="-20" dirty="0">
                <a:latin typeface="Roboto"/>
                <a:cs typeface="Roboto"/>
              </a:rPr>
              <a:t> </a:t>
            </a:r>
            <a:r>
              <a:rPr sz="1100" dirty="0">
                <a:latin typeface="Roboto"/>
                <a:cs typeface="Roboto"/>
              </a:rPr>
              <a:t>maximum</a:t>
            </a:r>
            <a:r>
              <a:rPr sz="1100" spc="-20" dirty="0">
                <a:latin typeface="Roboto"/>
                <a:cs typeface="Roboto"/>
              </a:rPr>
              <a:t> </a:t>
            </a:r>
            <a:r>
              <a:rPr sz="1100" dirty="0">
                <a:latin typeface="Roboto"/>
                <a:cs typeface="Roboto"/>
              </a:rPr>
              <a:t>throughput,</a:t>
            </a:r>
            <a:r>
              <a:rPr sz="1100" spc="-20" dirty="0">
                <a:latin typeface="Roboto"/>
                <a:cs typeface="Roboto"/>
              </a:rPr>
              <a:t> </a:t>
            </a:r>
            <a:r>
              <a:rPr sz="1100" spc="-5" dirty="0">
                <a:latin typeface="Roboto"/>
                <a:cs typeface="Roboto"/>
              </a:rPr>
              <a:t>best-</a:t>
            </a:r>
            <a:r>
              <a:rPr sz="1100" dirty="0">
                <a:latin typeface="Roboto"/>
                <a:cs typeface="Roboto"/>
              </a:rPr>
              <a:t>effort</a:t>
            </a:r>
            <a:r>
              <a:rPr sz="1100" spc="-23" dirty="0">
                <a:latin typeface="Roboto"/>
                <a:cs typeface="Roboto"/>
              </a:rPr>
              <a:t> </a:t>
            </a:r>
            <a:r>
              <a:rPr sz="1100" dirty="0">
                <a:latin typeface="Roboto"/>
                <a:cs typeface="Roboto"/>
              </a:rPr>
              <a:t>ordering,</a:t>
            </a:r>
            <a:r>
              <a:rPr sz="1100" spc="-20" dirty="0">
                <a:latin typeface="Roboto"/>
                <a:cs typeface="Roboto"/>
              </a:rPr>
              <a:t> </a:t>
            </a:r>
            <a:r>
              <a:rPr sz="1100" dirty="0">
                <a:latin typeface="Roboto"/>
                <a:cs typeface="Roboto"/>
              </a:rPr>
              <a:t>and</a:t>
            </a:r>
            <a:r>
              <a:rPr sz="1100" spc="-20" dirty="0">
                <a:latin typeface="Roboto"/>
                <a:cs typeface="Roboto"/>
              </a:rPr>
              <a:t> </a:t>
            </a:r>
            <a:r>
              <a:rPr sz="1100" spc="-5" dirty="0">
                <a:latin typeface="Roboto"/>
                <a:cs typeface="Roboto"/>
              </a:rPr>
              <a:t>at-least-</a:t>
            </a:r>
            <a:r>
              <a:rPr sz="1100" dirty="0">
                <a:latin typeface="Roboto"/>
                <a:cs typeface="Roboto"/>
              </a:rPr>
              <a:t>once</a:t>
            </a:r>
            <a:r>
              <a:rPr sz="1100" spc="-20" dirty="0">
                <a:latin typeface="Roboto"/>
                <a:cs typeface="Roboto"/>
              </a:rPr>
              <a:t> </a:t>
            </a:r>
            <a:r>
              <a:rPr sz="1100" dirty="0">
                <a:latin typeface="Roboto"/>
                <a:cs typeface="Roboto"/>
              </a:rPr>
              <a:t>delivery.</a:t>
            </a:r>
            <a:r>
              <a:rPr sz="1100" spc="-23" dirty="0">
                <a:latin typeface="Roboto"/>
                <a:cs typeface="Roboto"/>
              </a:rPr>
              <a:t> </a:t>
            </a:r>
            <a:r>
              <a:rPr sz="1100" spc="-13" dirty="0">
                <a:latin typeface="Roboto"/>
                <a:cs typeface="Roboto"/>
              </a:rPr>
              <a:t>SQS </a:t>
            </a:r>
            <a:r>
              <a:rPr sz="1100" dirty="0">
                <a:latin typeface="Roboto"/>
                <a:cs typeface="Roboto"/>
              </a:rPr>
              <a:t>FIFO</a:t>
            </a:r>
            <a:r>
              <a:rPr sz="1100" spc="-23" dirty="0">
                <a:latin typeface="Roboto"/>
                <a:cs typeface="Roboto"/>
              </a:rPr>
              <a:t> </a:t>
            </a:r>
            <a:r>
              <a:rPr sz="1100" dirty="0">
                <a:latin typeface="Roboto"/>
                <a:cs typeface="Roboto"/>
              </a:rPr>
              <a:t>queues</a:t>
            </a:r>
            <a:r>
              <a:rPr sz="1100" spc="-20" dirty="0">
                <a:latin typeface="Roboto"/>
                <a:cs typeface="Roboto"/>
              </a:rPr>
              <a:t> </a:t>
            </a:r>
            <a:r>
              <a:rPr sz="1100" dirty="0">
                <a:latin typeface="Roboto"/>
                <a:cs typeface="Roboto"/>
              </a:rPr>
              <a:t>are</a:t>
            </a:r>
            <a:r>
              <a:rPr sz="1100" spc="-20" dirty="0">
                <a:latin typeface="Roboto"/>
                <a:cs typeface="Roboto"/>
              </a:rPr>
              <a:t> </a:t>
            </a:r>
            <a:r>
              <a:rPr sz="1100" dirty="0">
                <a:latin typeface="Roboto"/>
                <a:cs typeface="Roboto"/>
              </a:rPr>
              <a:t>designed</a:t>
            </a:r>
            <a:r>
              <a:rPr sz="1100" spc="-20" dirty="0">
                <a:latin typeface="Roboto"/>
                <a:cs typeface="Roboto"/>
              </a:rPr>
              <a:t> </a:t>
            </a:r>
            <a:r>
              <a:rPr sz="1100" dirty="0">
                <a:latin typeface="Roboto"/>
                <a:cs typeface="Roboto"/>
              </a:rPr>
              <a:t>to</a:t>
            </a:r>
            <a:r>
              <a:rPr sz="1100" spc="-20" dirty="0">
                <a:latin typeface="Roboto"/>
                <a:cs typeface="Roboto"/>
              </a:rPr>
              <a:t> </a:t>
            </a:r>
            <a:r>
              <a:rPr sz="1100" dirty="0">
                <a:latin typeface="Roboto"/>
                <a:cs typeface="Roboto"/>
              </a:rPr>
              <a:t>guarantee</a:t>
            </a:r>
            <a:r>
              <a:rPr sz="1100" spc="-20" dirty="0">
                <a:latin typeface="Roboto"/>
                <a:cs typeface="Roboto"/>
              </a:rPr>
              <a:t> </a:t>
            </a:r>
            <a:r>
              <a:rPr sz="1100" dirty="0">
                <a:latin typeface="Roboto"/>
                <a:cs typeface="Roboto"/>
              </a:rPr>
              <a:t>that</a:t>
            </a:r>
            <a:r>
              <a:rPr sz="1100" spc="-20" dirty="0">
                <a:latin typeface="Roboto"/>
                <a:cs typeface="Roboto"/>
              </a:rPr>
              <a:t> </a:t>
            </a:r>
            <a:r>
              <a:rPr sz="1100" dirty="0">
                <a:latin typeface="Roboto"/>
                <a:cs typeface="Roboto"/>
              </a:rPr>
              <a:t>messages</a:t>
            </a:r>
            <a:r>
              <a:rPr sz="1100" spc="-20" dirty="0">
                <a:latin typeface="Roboto"/>
                <a:cs typeface="Roboto"/>
              </a:rPr>
              <a:t> </a:t>
            </a:r>
            <a:r>
              <a:rPr sz="1100" dirty="0">
                <a:latin typeface="Roboto"/>
                <a:cs typeface="Roboto"/>
              </a:rPr>
              <a:t>are</a:t>
            </a:r>
            <a:r>
              <a:rPr sz="1100" spc="-20" dirty="0">
                <a:latin typeface="Roboto"/>
                <a:cs typeface="Roboto"/>
              </a:rPr>
              <a:t> </a:t>
            </a:r>
            <a:r>
              <a:rPr sz="1100" dirty="0">
                <a:latin typeface="Roboto"/>
                <a:cs typeface="Roboto"/>
              </a:rPr>
              <a:t>processed</a:t>
            </a:r>
            <a:r>
              <a:rPr sz="1100" spc="-20" dirty="0">
                <a:latin typeface="Roboto"/>
                <a:cs typeface="Roboto"/>
              </a:rPr>
              <a:t> </a:t>
            </a:r>
            <a:r>
              <a:rPr sz="1100" dirty="0">
                <a:latin typeface="Roboto"/>
                <a:cs typeface="Roboto"/>
              </a:rPr>
              <a:t>exactly</a:t>
            </a:r>
            <a:r>
              <a:rPr sz="1100" spc="-20" dirty="0">
                <a:latin typeface="Roboto"/>
                <a:cs typeface="Roboto"/>
              </a:rPr>
              <a:t> </a:t>
            </a:r>
            <a:r>
              <a:rPr sz="1100" dirty="0">
                <a:latin typeface="Roboto"/>
                <a:cs typeface="Roboto"/>
              </a:rPr>
              <a:t>once,</a:t>
            </a:r>
            <a:r>
              <a:rPr sz="1100" spc="-20" dirty="0">
                <a:latin typeface="Roboto"/>
                <a:cs typeface="Roboto"/>
              </a:rPr>
              <a:t> </a:t>
            </a:r>
            <a:r>
              <a:rPr sz="1100" dirty="0">
                <a:latin typeface="Roboto"/>
                <a:cs typeface="Roboto"/>
              </a:rPr>
              <a:t>in</a:t>
            </a:r>
            <a:r>
              <a:rPr sz="1100" spc="-20" dirty="0">
                <a:latin typeface="Roboto"/>
                <a:cs typeface="Roboto"/>
              </a:rPr>
              <a:t> </a:t>
            </a:r>
            <a:r>
              <a:rPr sz="1100" dirty="0">
                <a:latin typeface="Roboto"/>
                <a:cs typeface="Roboto"/>
              </a:rPr>
              <a:t>the</a:t>
            </a:r>
            <a:r>
              <a:rPr sz="1100" spc="-20" dirty="0">
                <a:latin typeface="Roboto"/>
                <a:cs typeface="Roboto"/>
              </a:rPr>
              <a:t> </a:t>
            </a:r>
            <a:r>
              <a:rPr sz="1100" dirty="0">
                <a:latin typeface="Roboto"/>
                <a:cs typeface="Roboto"/>
              </a:rPr>
              <a:t>exact</a:t>
            </a:r>
            <a:r>
              <a:rPr sz="1100" spc="-20" dirty="0">
                <a:latin typeface="Roboto"/>
                <a:cs typeface="Roboto"/>
              </a:rPr>
              <a:t> </a:t>
            </a:r>
            <a:r>
              <a:rPr sz="1100" dirty="0">
                <a:latin typeface="Roboto"/>
                <a:cs typeface="Roboto"/>
              </a:rPr>
              <a:t>order</a:t>
            </a:r>
            <a:r>
              <a:rPr sz="1100" spc="-23" dirty="0">
                <a:latin typeface="Roboto"/>
                <a:cs typeface="Roboto"/>
              </a:rPr>
              <a:t> </a:t>
            </a:r>
            <a:r>
              <a:rPr sz="1100" dirty="0">
                <a:latin typeface="Roboto"/>
                <a:cs typeface="Roboto"/>
              </a:rPr>
              <a:t>that</a:t>
            </a:r>
            <a:r>
              <a:rPr sz="1100" spc="-20" dirty="0">
                <a:latin typeface="Roboto"/>
                <a:cs typeface="Roboto"/>
              </a:rPr>
              <a:t> </a:t>
            </a:r>
            <a:r>
              <a:rPr sz="1100" dirty="0">
                <a:latin typeface="Roboto"/>
                <a:cs typeface="Roboto"/>
              </a:rPr>
              <a:t>they</a:t>
            </a:r>
            <a:r>
              <a:rPr sz="1100" spc="-20" dirty="0">
                <a:latin typeface="Roboto"/>
                <a:cs typeface="Roboto"/>
              </a:rPr>
              <a:t> </a:t>
            </a:r>
            <a:r>
              <a:rPr sz="1100" dirty="0">
                <a:latin typeface="Roboto"/>
                <a:cs typeface="Roboto"/>
              </a:rPr>
              <a:t>are</a:t>
            </a:r>
            <a:r>
              <a:rPr sz="1100" spc="-20" dirty="0">
                <a:latin typeface="Roboto"/>
                <a:cs typeface="Roboto"/>
              </a:rPr>
              <a:t> </a:t>
            </a:r>
            <a:r>
              <a:rPr sz="1100" spc="-10" dirty="0">
                <a:latin typeface="Roboto"/>
                <a:cs typeface="Roboto"/>
              </a:rPr>
              <a:t>sent.</a:t>
            </a:r>
            <a:endParaRPr sz="1100">
              <a:latin typeface="Roboto"/>
              <a:cs typeface="Roboto"/>
            </a:endParaRPr>
          </a:p>
          <a:p>
            <a:pPr marR="760413" algn="ctr">
              <a:spcBef>
                <a:spcPts val="870"/>
              </a:spcBef>
            </a:pPr>
            <a:r>
              <a:rPr sz="1200" b="1" dirty="0">
                <a:latin typeface="Open Sans Extrabold"/>
                <a:cs typeface="Open Sans Extrabold"/>
              </a:rPr>
              <a:t>Points to </a:t>
            </a:r>
            <a:r>
              <a:rPr sz="1200" b="1" spc="-5" dirty="0">
                <a:latin typeface="Open Sans Extrabold"/>
                <a:cs typeface="Open Sans Extrabold"/>
              </a:rPr>
              <a:t>focus</a:t>
            </a:r>
            <a:endParaRPr sz="1200">
              <a:latin typeface="Open Sans Extrabold"/>
              <a:cs typeface="Open Sans Extrabold"/>
            </a:endParaRPr>
          </a:p>
          <a:p>
            <a:pPr marL="6350">
              <a:spcBef>
                <a:spcPts val="505"/>
              </a:spcBef>
              <a:tabLst>
                <a:tab pos="1183958" algn="l"/>
              </a:tabLst>
            </a:pPr>
            <a:r>
              <a:rPr sz="1100" b="1" dirty="0">
                <a:latin typeface="Roboto"/>
                <a:cs typeface="Roboto"/>
              </a:rPr>
              <a:t>Key</a:t>
            </a:r>
            <a:r>
              <a:rPr sz="1100" b="1" spc="-15" dirty="0">
                <a:latin typeface="Roboto"/>
                <a:cs typeface="Roboto"/>
              </a:rPr>
              <a:t> </a:t>
            </a:r>
            <a:r>
              <a:rPr sz="1100" b="1" dirty="0">
                <a:latin typeface="Roboto"/>
                <a:cs typeface="Roboto"/>
              </a:rPr>
              <a:t>parts</a:t>
            </a:r>
            <a:r>
              <a:rPr sz="1100" b="1" spc="-13" dirty="0">
                <a:latin typeface="Roboto"/>
                <a:cs typeface="Roboto"/>
              </a:rPr>
              <a:t> </a:t>
            </a:r>
            <a:r>
              <a:rPr sz="1100" b="1" dirty="0">
                <a:latin typeface="Roboto"/>
                <a:cs typeface="Roboto"/>
              </a:rPr>
              <a:t>need</a:t>
            </a:r>
            <a:r>
              <a:rPr sz="1100" b="1" spc="-15" dirty="0">
                <a:latin typeface="Roboto"/>
                <a:cs typeface="Roboto"/>
              </a:rPr>
              <a:t> </a:t>
            </a:r>
            <a:r>
              <a:rPr sz="1100" b="1" spc="-13" dirty="0">
                <a:latin typeface="Roboto"/>
                <a:cs typeface="Roboto"/>
              </a:rPr>
              <a:t>to</a:t>
            </a:r>
            <a:r>
              <a:rPr sz="1100" b="1" dirty="0">
                <a:latin typeface="Roboto"/>
                <a:cs typeface="Roboto"/>
              </a:rPr>
              <a:t>	</a:t>
            </a:r>
            <a:r>
              <a:rPr sz="1100" dirty="0">
                <a:latin typeface="Roboto"/>
                <a:cs typeface="Roboto"/>
              </a:rPr>
              <a:t>standard</a:t>
            </a:r>
            <a:r>
              <a:rPr sz="1100" spc="-30" dirty="0">
                <a:latin typeface="Roboto"/>
                <a:cs typeface="Roboto"/>
              </a:rPr>
              <a:t> </a:t>
            </a:r>
            <a:r>
              <a:rPr sz="1100" dirty="0">
                <a:latin typeface="Roboto"/>
                <a:cs typeface="Roboto"/>
              </a:rPr>
              <a:t>and</a:t>
            </a:r>
            <a:r>
              <a:rPr sz="1100" spc="-28" dirty="0">
                <a:latin typeface="Roboto"/>
                <a:cs typeface="Roboto"/>
              </a:rPr>
              <a:t> </a:t>
            </a:r>
            <a:r>
              <a:rPr sz="1100" dirty="0">
                <a:latin typeface="Roboto"/>
                <a:cs typeface="Roboto"/>
              </a:rPr>
              <a:t>FIFO</a:t>
            </a:r>
            <a:r>
              <a:rPr sz="1100" spc="-30" dirty="0">
                <a:latin typeface="Roboto"/>
                <a:cs typeface="Roboto"/>
              </a:rPr>
              <a:t> </a:t>
            </a:r>
            <a:r>
              <a:rPr sz="1100" dirty="0">
                <a:latin typeface="Roboto"/>
                <a:cs typeface="Roboto"/>
              </a:rPr>
              <a:t>queues</a:t>
            </a:r>
            <a:r>
              <a:rPr sz="1100" spc="-28" dirty="0">
                <a:latin typeface="Roboto"/>
                <a:cs typeface="Roboto"/>
              </a:rPr>
              <a:t> </a:t>
            </a:r>
            <a:r>
              <a:rPr sz="1100" dirty="0">
                <a:latin typeface="Roboto"/>
                <a:cs typeface="Roboto"/>
              </a:rPr>
              <a:t>for</a:t>
            </a:r>
            <a:r>
              <a:rPr sz="1100" spc="-30" dirty="0">
                <a:latin typeface="Roboto"/>
                <a:cs typeface="Roboto"/>
              </a:rPr>
              <a:t> </a:t>
            </a:r>
            <a:r>
              <a:rPr sz="1100" dirty="0">
                <a:latin typeface="Roboto"/>
                <a:cs typeface="Roboto"/>
              </a:rPr>
              <a:t>polling,</a:t>
            </a:r>
            <a:r>
              <a:rPr sz="1100" spc="-28" dirty="0">
                <a:latin typeface="Roboto"/>
                <a:cs typeface="Roboto"/>
              </a:rPr>
              <a:t> </a:t>
            </a:r>
            <a:r>
              <a:rPr sz="1100" dirty="0">
                <a:latin typeface="Roboto"/>
                <a:cs typeface="Roboto"/>
              </a:rPr>
              <a:t>message</a:t>
            </a:r>
            <a:r>
              <a:rPr sz="1100" spc="-30" dirty="0">
                <a:latin typeface="Roboto"/>
                <a:cs typeface="Roboto"/>
              </a:rPr>
              <a:t> </a:t>
            </a:r>
            <a:r>
              <a:rPr sz="1100" dirty="0">
                <a:latin typeface="Roboto"/>
                <a:cs typeface="Roboto"/>
              </a:rPr>
              <a:t>encryption,</a:t>
            </a:r>
            <a:r>
              <a:rPr sz="1100" spc="-28" dirty="0">
                <a:latin typeface="Roboto"/>
                <a:cs typeface="Roboto"/>
              </a:rPr>
              <a:t> </a:t>
            </a:r>
            <a:r>
              <a:rPr sz="1100" dirty="0">
                <a:latin typeface="Roboto"/>
                <a:cs typeface="Roboto"/>
              </a:rPr>
              <a:t>message</a:t>
            </a:r>
            <a:r>
              <a:rPr sz="1100" spc="-30" dirty="0">
                <a:latin typeface="Roboto"/>
                <a:cs typeface="Roboto"/>
              </a:rPr>
              <a:t> </a:t>
            </a:r>
            <a:r>
              <a:rPr sz="1100" dirty="0">
                <a:latin typeface="Roboto"/>
                <a:cs typeface="Roboto"/>
              </a:rPr>
              <a:t>attributes,</a:t>
            </a:r>
            <a:r>
              <a:rPr sz="1100" spc="-28" dirty="0">
                <a:latin typeface="Roboto"/>
                <a:cs typeface="Roboto"/>
              </a:rPr>
              <a:t> </a:t>
            </a:r>
            <a:r>
              <a:rPr sz="1100" dirty="0">
                <a:latin typeface="Roboto"/>
                <a:cs typeface="Roboto"/>
              </a:rPr>
              <a:t>Message</a:t>
            </a:r>
            <a:r>
              <a:rPr sz="1100" spc="-30" dirty="0">
                <a:latin typeface="Roboto"/>
                <a:cs typeface="Roboto"/>
              </a:rPr>
              <a:t> </a:t>
            </a:r>
            <a:r>
              <a:rPr sz="1100" dirty="0">
                <a:latin typeface="Roboto"/>
                <a:cs typeface="Roboto"/>
              </a:rPr>
              <a:t>timers,</a:t>
            </a:r>
            <a:r>
              <a:rPr sz="1100" spc="-28" dirty="0">
                <a:latin typeface="Roboto"/>
                <a:cs typeface="Roboto"/>
              </a:rPr>
              <a:t> </a:t>
            </a:r>
            <a:r>
              <a:rPr sz="1100" dirty="0">
                <a:latin typeface="Roboto"/>
                <a:cs typeface="Roboto"/>
              </a:rPr>
              <a:t>Long</a:t>
            </a:r>
            <a:r>
              <a:rPr sz="1100" spc="-30" dirty="0">
                <a:latin typeface="Roboto"/>
                <a:cs typeface="Roboto"/>
              </a:rPr>
              <a:t> </a:t>
            </a:r>
            <a:r>
              <a:rPr sz="1100" dirty="0">
                <a:latin typeface="Roboto"/>
                <a:cs typeface="Roboto"/>
              </a:rPr>
              <a:t>polling</a:t>
            </a:r>
            <a:r>
              <a:rPr sz="1100" spc="-28" dirty="0">
                <a:latin typeface="Roboto"/>
                <a:cs typeface="Roboto"/>
              </a:rPr>
              <a:t> </a:t>
            </a:r>
            <a:r>
              <a:rPr sz="1100" dirty="0">
                <a:latin typeface="Roboto"/>
                <a:cs typeface="Roboto"/>
              </a:rPr>
              <a:t>vs</a:t>
            </a:r>
            <a:r>
              <a:rPr sz="1100" spc="-30" dirty="0">
                <a:latin typeface="Roboto"/>
                <a:cs typeface="Roboto"/>
              </a:rPr>
              <a:t> </a:t>
            </a:r>
            <a:r>
              <a:rPr sz="1100" spc="-10" dirty="0">
                <a:latin typeface="Roboto"/>
                <a:cs typeface="Roboto"/>
              </a:rPr>
              <a:t>short</a:t>
            </a:r>
            <a:endParaRPr sz="1100">
              <a:latin typeface="Roboto"/>
              <a:cs typeface="Roboto"/>
            </a:endParaRPr>
          </a:p>
          <a:p>
            <a:pPr marL="410528">
              <a:spcBef>
                <a:spcPts val="217"/>
              </a:spcBef>
              <a:tabLst>
                <a:tab pos="1183958" algn="l"/>
              </a:tabLst>
            </a:pPr>
            <a:r>
              <a:rPr sz="1100" b="1" dirty="0">
                <a:latin typeface="Roboto"/>
                <a:cs typeface="Roboto"/>
              </a:rPr>
              <a:t>be</a:t>
            </a:r>
            <a:r>
              <a:rPr sz="1100" b="1" spc="-5" dirty="0">
                <a:latin typeface="Roboto"/>
                <a:cs typeface="Roboto"/>
              </a:rPr>
              <a:t> covered</a:t>
            </a:r>
            <a:r>
              <a:rPr sz="1100" b="1" dirty="0">
                <a:latin typeface="Roboto"/>
                <a:cs typeface="Roboto"/>
              </a:rPr>
              <a:t>	</a:t>
            </a:r>
            <a:r>
              <a:rPr sz="1100" dirty="0">
                <a:latin typeface="Roboto"/>
                <a:cs typeface="Roboto"/>
              </a:rPr>
              <a:t>polling,</a:t>
            </a:r>
            <a:r>
              <a:rPr sz="1100" spc="-28" dirty="0">
                <a:latin typeface="Roboto"/>
                <a:cs typeface="Roboto"/>
              </a:rPr>
              <a:t> </a:t>
            </a:r>
            <a:r>
              <a:rPr sz="1100" dirty="0">
                <a:latin typeface="Roboto"/>
                <a:cs typeface="Roboto"/>
              </a:rPr>
              <a:t>visibility</a:t>
            </a:r>
            <a:r>
              <a:rPr sz="1100" spc="-25" dirty="0">
                <a:latin typeface="Roboto"/>
                <a:cs typeface="Roboto"/>
              </a:rPr>
              <a:t> </a:t>
            </a:r>
            <a:r>
              <a:rPr sz="1100" dirty="0">
                <a:latin typeface="Roboto"/>
                <a:cs typeface="Roboto"/>
              </a:rPr>
              <a:t>timeout,</a:t>
            </a:r>
            <a:r>
              <a:rPr sz="1100" spc="-25" dirty="0">
                <a:latin typeface="Roboto"/>
                <a:cs typeface="Roboto"/>
              </a:rPr>
              <a:t> </a:t>
            </a:r>
            <a:r>
              <a:rPr sz="1100" spc="-5" dirty="0">
                <a:latin typeface="Roboto"/>
                <a:cs typeface="Roboto"/>
              </a:rPr>
              <a:t>dead-</a:t>
            </a:r>
            <a:r>
              <a:rPr sz="1100" dirty="0">
                <a:latin typeface="Roboto"/>
                <a:cs typeface="Roboto"/>
              </a:rPr>
              <a:t>letter</a:t>
            </a:r>
            <a:r>
              <a:rPr sz="1100" spc="-28" dirty="0">
                <a:latin typeface="Roboto"/>
                <a:cs typeface="Roboto"/>
              </a:rPr>
              <a:t> </a:t>
            </a:r>
            <a:r>
              <a:rPr sz="1100" dirty="0">
                <a:latin typeface="Roboto"/>
                <a:cs typeface="Roboto"/>
              </a:rPr>
              <a:t>queues,</a:t>
            </a:r>
            <a:r>
              <a:rPr sz="1100" spc="-25" dirty="0">
                <a:latin typeface="Roboto"/>
                <a:cs typeface="Roboto"/>
              </a:rPr>
              <a:t> </a:t>
            </a:r>
            <a:r>
              <a:rPr sz="1100" dirty="0">
                <a:latin typeface="Roboto"/>
                <a:cs typeface="Roboto"/>
              </a:rPr>
              <a:t>Delay</a:t>
            </a:r>
            <a:r>
              <a:rPr sz="1100" spc="-25" dirty="0">
                <a:latin typeface="Roboto"/>
                <a:cs typeface="Roboto"/>
              </a:rPr>
              <a:t> </a:t>
            </a:r>
            <a:r>
              <a:rPr sz="1100" dirty="0">
                <a:latin typeface="Roboto"/>
                <a:cs typeface="Roboto"/>
              </a:rPr>
              <a:t>queues,</a:t>
            </a:r>
            <a:r>
              <a:rPr sz="1100" spc="-25" dirty="0">
                <a:latin typeface="Roboto"/>
                <a:cs typeface="Roboto"/>
              </a:rPr>
              <a:t> </a:t>
            </a:r>
            <a:r>
              <a:rPr sz="1100" dirty="0">
                <a:latin typeface="Roboto"/>
                <a:cs typeface="Roboto"/>
              </a:rPr>
              <a:t>cost</a:t>
            </a:r>
            <a:r>
              <a:rPr sz="1100" spc="-28" dirty="0">
                <a:latin typeface="Roboto"/>
                <a:cs typeface="Roboto"/>
              </a:rPr>
              <a:t> </a:t>
            </a:r>
            <a:r>
              <a:rPr sz="1100" dirty="0">
                <a:latin typeface="Roboto"/>
                <a:cs typeface="Roboto"/>
              </a:rPr>
              <a:t>allocation</a:t>
            </a:r>
            <a:r>
              <a:rPr sz="1100" spc="-25" dirty="0">
                <a:latin typeface="Roboto"/>
                <a:cs typeface="Roboto"/>
              </a:rPr>
              <a:t> </a:t>
            </a:r>
            <a:r>
              <a:rPr sz="1100" dirty="0">
                <a:latin typeface="Roboto"/>
                <a:cs typeface="Roboto"/>
              </a:rPr>
              <a:t>tags,</a:t>
            </a:r>
            <a:r>
              <a:rPr sz="1100" spc="-25" dirty="0">
                <a:latin typeface="Roboto"/>
                <a:cs typeface="Roboto"/>
              </a:rPr>
              <a:t> </a:t>
            </a:r>
            <a:r>
              <a:rPr sz="1100" spc="-5" dirty="0">
                <a:latin typeface="Roboto"/>
                <a:cs typeface="Roboto"/>
              </a:rPr>
              <a:t>batches,</a:t>
            </a:r>
            <a:endParaRPr sz="1100">
              <a:latin typeface="Roboto"/>
              <a:cs typeface="Roboto"/>
            </a:endParaRPr>
          </a:p>
          <a:p>
            <a:pPr>
              <a:lnSpc>
                <a:spcPct val="100000"/>
              </a:lnSpc>
            </a:pPr>
            <a:endParaRPr sz="1100">
              <a:latin typeface="Roboto"/>
              <a:cs typeface="Roboto"/>
            </a:endParaRPr>
          </a:p>
          <a:p>
            <a:pPr>
              <a:spcBef>
                <a:spcPts val="350"/>
              </a:spcBef>
            </a:pPr>
            <a:endParaRPr sz="1100">
              <a:latin typeface="Roboto"/>
              <a:cs typeface="Roboto"/>
            </a:endParaRPr>
          </a:p>
          <a:p>
            <a:pPr marL="413703">
              <a:tabLst>
                <a:tab pos="1183958" algn="l"/>
                <a:tab pos="4251643" algn="l"/>
                <a:tab pos="4935855" algn="l"/>
              </a:tabLst>
            </a:pPr>
            <a:r>
              <a:rPr sz="1100" b="1" spc="-5" dirty="0">
                <a:latin typeface="Roboto"/>
                <a:cs typeface="Roboto"/>
              </a:rPr>
              <a:t>Integration</a:t>
            </a:r>
            <a:r>
              <a:rPr sz="1100" b="1" dirty="0">
                <a:latin typeface="Roboto"/>
                <a:cs typeface="Roboto"/>
              </a:rPr>
              <a:t>	</a:t>
            </a:r>
            <a:r>
              <a:rPr sz="1100" dirty="0">
                <a:latin typeface="Roboto"/>
                <a:cs typeface="Roboto"/>
              </a:rPr>
              <a:t>SNS</a:t>
            </a:r>
            <a:r>
              <a:rPr sz="1100" spc="-20" dirty="0">
                <a:latin typeface="Roboto"/>
                <a:cs typeface="Roboto"/>
              </a:rPr>
              <a:t> </a:t>
            </a:r>
            <a:r>
              <a:rPr sz="1100" dirty="0">
                <a:latin typeface="Roboto"/>
                <a:cs typeface="Roboto"/>
              </a:rPr>
              <a:t>can</a:t>
            </a:r>
            <a:r>
              <a:rPr sz="1100" spc="-18" dirty="0">
                <a:latin typeface="Roboto"/>
                <a:cs typeface="Roboto"/>
              </a:rPr>
              <a:t> </a:t>
            </a:r>
            <a:r>
              <a:rPr sz="1100" dirty="0">
                <a:latin typeface="Roboto"/>
                <a:cs typeface="Roboto"/>
              </a:rPr>
              <a:t>be</a:t>
            </a:r>
            <a:r>
              <a:rPr sz="1100" spc="-18" dirty="0">
                <a:latin typeface="Roboto"/>
                <a:cs typeface="Roboto"/>
              </a:rPr>
              <a:t> </a:t>
            </a:r>
            <a:r>
              <a:rPr sz="1100" dirty="0">
                <a:latin typeface="Roboto"/>
                <a:cs typeface="Roboto"/>
              </a:rPr>
              <a:t>easily</a:t>
            </a:r>
            <a:r>
              <a:rPr sz="1100" spc="-18" dirty="0">
                <a:latin typeface="Roboto"/>
                <a:cs typeface="Roboto"/>
              </a:rPr>
              <a:t> </a:t>
            </a:r>
            <a:r>
              <a:rPr sz="1100" dirty="0">
                <a:latin typeface="Roboto"/>
                <a:cs typeface="Roboto"/>
              </a:rPr>
              <a:t>integrated</a:t>
            </a:r>
            <a:r>
              <a:rPr sz="1100" spc="-20" dirty="0">
                <a:latin typeface="Roboto"/>
                <a:cs typeface="Roboto"/>
              </a:rPr>
              <a:t> </a:t>
            </a:r>
            <a:r>
              <a:rPr sz="1100" dirty="0">
                <a:latin typeface="Roboto"/>
                <a:cs typeface="Roboto"/>
              </a:rPr>
              <a:t>with</a:t>
            </a:r>
            <a:r>
              <a:rPr sz="1100" spc="-18" dirty="0">
                <a:latin typeface="Roboto"/>
                <a:cs typeface="Roboto"/>
              </a:rPr>
              <a:t> </a:t>
            </a:r>
            <a:r>
              <a:rPr sz="1100" dirty="0">
                <a:latin typeface="Roboto"/>
                <a:cs typeface="Roboto"/>
              </a:rPr>
              <a:t>other</a:t>
            </a:r>
            <a:r>
              <a:rPr sz="1100" spc="-18" dirty="0">
                <a:latin typeface="Roboto"/>
                <a:cs typeface="Roboto"/>
              </a:rPr>
              <a:t> </a:t>
            </a:r>
            <a:r>
              <a:rPr sz="1100" spc="-5" dirty="0">
                <a:latin typeface="Roboto"/>
                <a:cs typeface="Roboto"/>
              </a:rPr>
              <a:t>services,</a:t>
            </a:r>
            <a:r>
              <a:rPr sz="1100" dirty="0">
                <a:latin typeface="Roboto"/>
                <a:cs typeface="Roboto"/>
              </a:rPr>
              <a:t>	</a:t>
            </a:r>
            <a:r>
              <a:rPr sz="1100" spc="-5" dirty="0">
                <a:latin typeface="Roboto"/>
                <a:cs typeface="Roboto"/>
              </a:rPr>
              <a:t>especially</a:t>
            </a:r>
            <a:r>
              <a:rPr sz="1100" dirty="0">
                <a:latin typeface="Roboto"/>
                <a:cs typeface="Roboto"/>
              </a:rPr>
              <a:t>	AWS</a:t>
            </a:r>
            <a:r>
              <a:rPr sz="1100" spc="-20" dirty="0">
                <a:latin typeface="Roboto"/>
                <a:cs typeface="Roboto"/>
              </a:rPr>
              <a:t> </a:t>
            </a:r>
            <a:r>
              <a:rPr sz="1100" dirty="0">
                <a:latin typeface="Roboto"/>
                <a:cs typeface="Roboto"/>
              </a:rPr>
              <a:t>Ec2,</a:t>
            </a:r>
            <a:r>
              <a:rPr sz="1100" spc="-20" dirty="0">
                <a:latin typeface="Roboto"/>
                <a:cs typeface="Roboto"/>
              </a:rPr>
              <a:t> </a:t>
            </a:r>
            <a:r>
              <a:rPr sz="1100" dirty="0">
                <a:latin typeface="Roboto"/>
                <a:cs typeface="Roboto"/>
              </a:rPr>
              <a:t>Lambda,</a:t>
            </a:r>
            <a:r>
              <a:rPr sz="1100" spc="-18" dirty="0">
                <a:latin typeface="Roboto"/>
                <a:cs typeface="Roboto"/>
              </a:rPr>
              <a:t> </a:t>
            </a:r>
            <a:r>
              <a:rPr sz="1100" dirty="0">
                <a:latin typeface="Roboto"/>
                <a:cs typeface="Roboto"/>
              </a:rPr>
              <a:t>and</a:t>
            </a:r>
            <a:r>
              <a:rPr sz="1100" spc="-20" dirty="0">
                <a:latin typeface="Roboto"/>
                <a:cs typeface="Roboto"/>
              </a:rPr>
              <a:t> </a:t>
            </a:r>
            <a:r>
              <a:rPr sz="1100" dirty="0">
                <a:latin typeface="Roboto"/>
                <a:cs typeface="Roboto"/>
              </a:rPr>
              <a:t>other</a:t>
            </a:r>
            <a:r>
              <a:rPr sz="1100" spc="-18" dirty="0">
                <a:latin typeface="Roboto"/>
                <a:cs typeface="Roboto"/>
              </a:rPr>
              <a:t> </a:t>
            </a:r>
            <a:r>
              <a:rPr sz="1100" dirty="0">
                <a:latin typeface="Roboto"/>
                <a:cs typeface="Roboto"/>
              </a:rPr>
              <a:t>service</a:t>
            </a:r>
            <a:r>
              <a:rPr sz="1100" spc="-20" dirty="0">
                <a:latin typeface="Roboto"/>
                <a:cs typeface="Roboto"/>
              </a:rPr>
              <a:t> </a:t>
            </a:r>
            <a:r>
              <a:rPr sz="1100" dirty="0">
                <a:latin typeface="Roboto"/>
                <a:cs typeface="Roboto"/>
              </a:rPr>
              <a:t>to</a:t>
            </a:r>
            <a:r>
              <a:rPr sz="1100" spc="-18" dirty="0">
                <a:latin typeface="Roboto"/>
                <a:cs typeface="Roboto"/>
              </a:rPr>
              <a:t> </a:t>
            </a:r>
            <a:r>
              <a:rPr sz="1100" dirty="0">
                <a:latin typeface="Roboto"/>
                <a:cs typeface="Roboto"/>
              </a:rPr>
              <a:t>active</a:t>
            </a:r>
            <a:r>
              <a:rPr sz="1100" spc="-20" dirty="0">
                <a:latin typeface="Roboto"/>
                <a:cs typeface="Roboto"/>
              </a:rPr>
              <a:t> </a:t>
            </a:r>
            <a:r>
              <a:rPr sz="1100" dirty="0">
                <a:latin typeface="Roboto"/>
                <a:cs typeface="Roboto"/>
              </a:rPr>
              <a:t>even</a:t>
            </a:r>
            <a:r>
              <a:rPr sz="1100" spc="-20" dirty="0">
                <a:latin typeface="Roboto"/>
                <a:cs typeface="Roboto"/>
              </a:rPr>
              <a:t> </a:t>
            </a:r>
            <a:r>
              <a:rPr sz="1100" spc="-5" dirty="0">
                <a:latin typeface="Roboto"/>
                <a:cs typeface="Roboto"/>
              </a:rPr>
              <a:t>greater</a:t>
            </a:r>
            <a:endParaRPr sz="1100">
              <a:latin typeface="Roboto"/>
              <a:cs typeface="Roboto"/>
            </a:endParaRPr>
          </a:p>
          <a:p>
            <a:pPr marL="334963">
              <a:spcBef>
                <a:spcPts val="217"/>
              </a:spcBef>
              <a:tabLst>
                <a:tab pos="1183958" algn="l"/>
              </a:tabLst>
            </a:pPr>
            <a:r>
              <a:rPr sz="1100" b="1" dirty="0">
                <a:latin typeface="Roboto"/>
                <a:cs typeface="Roboto"/>
              </a:rPr>
              <a:t>&amp;</a:t>
            </a:r>
            <a:r>
              <a:rPr sz="1100" b="1" spc="-13" dirty="0">
                <a:latin typeface="Roboto"/>
                <a:cs typeface="Roboto"/>
              </a:rPr>
              <a:t> </a:t>
            </a:r>
            <a:r>
              <a:rPr sz="1100" b="1" dirty="0">
                <a:latin typeface="Roboto"/>
                <a:cs typeface="Roboto"/>
              </a:rPr>
              <a:t>Use</a:t>
            </a:r>
            <a:r>
              <a:rPr sz="1100" b="1" spc="-13" dirty="0">
                <a:latin typeface="Roboto"/>
                <a:cs typeface="Roboto"/>
              </a:rPr>
              <a:t> </a:t>
            </a:r>
            <a:r>
              <a:rPr sz="1100" b="1" spc="-10" dirty="0">
                <a:latin typeface="Roboto"/>
                <a:cs typeface="Roboto"/>
              </a:rPr>
              <a:t>cases</a:t>
            </a:r>
            <a:r>
              <a:rPr sz="1100" b="1" dirty="0">
                <a:latin typeface="Roboto"/>
                <a:cs typeface="Roboto"/>
              </a:rPr>
              <a:t>	</a:t>
            </a:r>
            <a:r>
              <a:rPr sz="1100" dirty="0">
                <a:latin typeface="Roboto"/>
                <a:cs typeface="Roboto"/>
              </a:rPr>
              <a:t>scalability</a:t>
            </a:r>
            <a:r>
              <a:rPr sz="1100" spc="-28" dirty="0">
                <a:latin typeface="Roboto"/>
                <a:cs typeface="Roboto"/>
              </a:rPr>
              <a:t> </a:t>
            </a:r>
            <a:r>
              <a:rPr sz="1100" dirty="0">
                <a:latin typeface="Roboto"/>
                <a:cs typeface="Roboto"/>
              </a:rPr>
              <a:t>and</a:t>
            </a:r>
            <a:r>
              <a:rPr sz="1100" spc="-28" dirty="0">
                <a:latin typeface="Roboto"/>
                <a:cs typeface="Roboto"/>
              </a:rPr>
              <a:t> </a:t>
            </a:r>
            <a:r>
              <a:rPr sz="1100" dirty="0">
                <a:latin typeface="Roboto"/>
                <a:cs typeface="Roboto"/>
              </a:rPr>
              <a:t>loose</a:t>
            </a:r>
            <a:r>
              <a:rPr sz="1100" spc="-25" dirty="0">
                <a:latin typeface="Roboto"/>
                <a:cs typeface="Roboto"/>
              </a:rPr>
              <a:t> </a:t>
            </a:r>
            <a:r>
              <a:rPr sz="1100" dirty="0">
                <a:latin typeface="Roboto"/>
                <a:cs typeface="Roboto"/>
              </a:rPr>
              <a:t>coupling</a:t>
            </a:r>
            <a:r>
              <a:rPr sz="1100" spc="-28" dirty="0">
                <a:latin typeface="Roboto"/>
                <a:cs typeface="Roboto"/>
              </a:rPr>
              <a:t> </a:t>
            </a:r>
            <a:r>
              <a:rPr sz="1100" dirty="0">
                <a:latin typeface="Roboto"/>
                <a:cs typeface="Roboto"/>
              </a:rPr>
              <a:t>infra</a:t>
            </a:r>
            <a:r>
              <a:rPr sz="1100" spc="-25" dirty="0">
                <a:latin typeface="Roboto"/>
                <a:cs typeface="Roboto"/>
              </a:rPr>
              <a:t> </a:t>
            </a:r>
            <a:r>
              <a:rPr sz="1100" spc="-5" dirty="0">
                <a:latin typeface="Roboto"/>
                <a:cs typeface="Roboto"/>
              </a:rPr>
              <a:t>goals</a:t>
            </a:r>
            <a:endParaRPr sz="1100">
              <a:latin typeface="Roboto"/>
              <a:cs typeface="Roboto"/>
            </a:endParaRPr>
          </a:p>
          <a:p>
            <a:pPr>
              <a:lnSpc>
                <a:spcPct val="100000"/>
              </a:lnSpc>
            </a:pPr>
            <a:endParaRPr sz="1100">
              <a:latin typeface="Roboto"/>
              <a:cs typeface="Roboto"/>
            </a:endParaRPr>
          </a:p>
          <a:p>
            <a:pPr>
              <a:spcBef>
                <a:spcPts val="95"/>
              </a:spcBef>
            </a:pPr>
            <a:endParaRPr sz="1100">
              <a:latin typeface="Roboto"/>
              <a:cs typeface="Roboto"/>
            </a:endParaRPr>
          </a:p>
          <a:p>
            <a:pPr marL="1183958" marR="58738" indent="-770573">
              <a:lnSpc>
                <a:spcPct val="116500"/>
              </a:lnSpc>
              <a:tabLst>
                <a:tab pos="1183958" algn="l"/>
                <a:tab pos="5498465" algn="l"/>
              </a:tabLst>
            </a:pPr>
            <a:r>
              <a:rPr sz="1100" b="1" spc="-5" dirty="0">
                <a:latin typeface="Roboto"/>
                <a:cs typeface="Roboto"/>
              </a:rPr>
              <a:t>Monitoring</a:t>
            </a:r>
            <a:r>
              <a:rPr sz="1100" b="1" dirty="0">
                <a:latin typeface="Roboto"/>
                <a:cs typeface="Roboto"/>
              </a:rPr>
              <a:t>	</a:t>
            </a:r>
            <a:r>
              <a:rPr sz="1100" dirty="0">
                <a:latin typeface="Roboto"/>
                <a:cs typeface="Roboto"/>
              </a:rPr>
              <a:t>SQS</a:t>
            </a:r>
            <a:r>
              <a:rPr sz="1100" spc="-23" dirty="0">
                <a:latin typeface="Roboto"/>
                <a:cs typeface="Roboto"/>
              </a:rPr>
              <a:t> </a:t>
            </a:r>
            <a:r>
              <a:rPr sz="1100" dirty="0">
                <a:latin typeface="Roboto"/>
                <a:cs typeface="Roboto"/>
              </a:rPr>
              <a:t>queues</a:t>
            </a:r>
            <a:r>
              <a:rPr sz="1100" spc="-23" dirty="0">
                <a:latin typeface="Roboto"/>
                <a:cs typeface="Roboto"/>
              </a:rPr>
              <a:t> </a:t>
            </a:r>
            <a:r>
              <a:rPr sz="1100" dirty="0">
                <a:latin typeface="Roboto"/>
                <a:cs typeface="Roboto"/>
              </a:rPr>
              <a:t>using</a:t>
            </a:r>
            <a:r>
              <a:rPr sz="1100" spc="-23" dirty="0">
                <a:latin typeface="Roboto"/>
                <a:cs typeface="Roboto"/>
              </a:rPr>
              <a:t> </a:t>
            </a:r>
            <a:r>
              <a:rPr sz="1100" dirty="0">
                <a:latin typeface="Roboto"/>
                <a:cs typeface="Roboto"/>
              </a:rPr>
              <a:t>CloudWatch,</a:t>
            </a:r>
            <a:r>
              <a:rPr sz="1100" spc="-23" dirty="0">
                <a:latin typeface="Roboto"/>
                <a:cs typeface="Roboto"/>
              </a:rPr>
              <a:t> </a:t>
            </a:r>
            <a:r>
              <a:rPr sz="1100" dirty="0">
                <a:latin typeface="Roboto"/>
                <a:cs typeface="Roboto"/>
              </a:rPr>
              <a:t>SQS</a:t>
            </a:r>
            <a:r>
              <a:rPr sz="1100" spc="-20" dirty="0">
                <a:latin typeface="Roboto"/>
                <a:cs typeface="Roboto"/>
              </a:rPr>
              <a:t> </a:t>
            </a:r>
            <a:r>
              <a:rPr sz="1100" dirty="0">
                <a:latin typeface="Roboto"/>
                <a:cs typeface="Roboto"/>
              </a:rPr>
              <a:t>API</a:t>
            </a:r>
            <a:r>
              <a:rPr sz="1100" spc="-23" dirty="0">
                <a:latin typeface="Roboto"/>
                <a:cs typeface="Roboto"/>
              </a:rPr>
              <a:t> </a:t>
            </a:r>
            <a:r>
              <a:rPr sz="1100" dirty="0">
                <a:latin typeface="Roboto"/>
                <a:cs typeface="Roboto"/>
              </a:rPr>
              <a:t>Calls</a:t>
            </a:r>
            <a:r>
              <a:rPr sz="1100" spc="-23" dirty="0">
                <a:latin typeface="Roboto"/>
                <a:cs typeface="Roboto"/>
              </a:rPr>
              <a:t> </a:t>
            </a:r>
            <a:r>
              <a:rPr sz="1100" dirty="0">
                <a:latin typeface="Roboto"/>
                <a:cs typeface="Roboto"/>
              </a:rPr>
              <a:t>Using</a:t>
            </a:r>
            <a:r>
              <a:rPr sz="1100" spc="-23" dirty="0">
                <a:latin typeface="Roboto"/>
                <a:cs typeface="Roboto"/>
              </a:rPr>
              <a:t> </a:t>
            </a:r>
            <a:r>
              <a:rPr sz="1100" dirty="0">
                <a:latin typeface="Roboto"/>
                <a:cs typeface="Roboto"/>
              </a:rPr>
              <a:t>AWS</a:t>
            </a:r>
            <a:r>
              <a:rPr sz="1100" spc="-23" dirty="0">
                <a:latin typeface="Roboto"/>
                <a:cs typeface="Roboto"/>
              </a:rPr>
              <a:t> </a:t>
            </a:r>
            <a:r>
              <a:rPr sz="1100" spc="-5" dirty="0">
                <a:latin typeface="Roboto"/>
                <a:cs typeface="Roboto"/>
              </a:rPr>
              <a:t>CloudTrail,</a:t>
            </a:r>
            <a:r>
              <a:rPr sz="1100" dirty="0">
                <a:latin typeface="Roboto"/>
                <a:cs typeface="Roboto"/>
              </a:rPr>
              <a:t>	Automate</a:t>
            </a:r>
            <a:r>
              <a:rPr sz="1100" spc="-20" dirty="0">
                <a:latin typeface="Roboto"/>
                <a:cs typeface="Roboto"/>
              </a:rPr>
              <a:t> </a:t>
            </a:r>
            <a:r>
              <a:rPr sz="1100" dirty="0">
                <a:latin typeface="Roboto"/>
                <a:cs typeface="Roboto"/>
              </a:rPr>
              <a:t>notifications</a:t>
            </a:r>
            <a:r>
              <a:rPr sz="1100" spc="-20" dirty="0">
                <a:latin typeface="Roboto"/>
                <a:cs typeface="Roboto"/>
              </a:rPr>
              <a:t> </a:t>
            </a:r>
            <a:r>
              <a:rPr sz="1100" dirty="0">
                <a:latin typeface="Roboto"/>
                <a:cs typeface="Roboto"/>
              </a:rPr>
              <a:t>from</a:t>
            </a:r>
            <a:r>
              <a:rPr sz="1100" spc="-20" dirty="0">
                <a:latin typeface="Roboto"/>
                <a:cs typeface="Roboto"/>
              </a:rPr>
              <a:t> </a:t>
            </a:r>
            <a:r>
              <a:rPr sz="1100" dirty="0">
                <a:latin typeface="Roboto"/>
                <a:cs typeface="Roboto"/>
              </a:rPr>
              <a:t>AWS</a:t>
            </a:r>
            <a:r>
              <a:rPr sz="1100" spc="-20" dirty="0">
                <a:latin typeface="Roboto"/>
                <a:cs typeface="Roboto"/>
              </a:rPr>
              <a:t> </a:t>
            </a:r>
            <a:r>
              <a:rPr sz="1100" dirty="0">
                <a:latin typeface="Roboto"/>
                <a:cs typeface="Roboto"/>
              </a:rPr>
              <a:t>Services</a:t>
            </a:r>
            <a:r>
              <a:rPr sz="1100" spc="-20" dirty="0">
                <a:latin typeface="Roboto"/>
                <a:cs typeface="Roboto"/>
              </a:rPr>
              <a:t> </a:t>
            </a:r>
            <a:r>
              <a:rPr sz="1100" dirty="0">
                <a:latin typeface="Roboto"/>
                <a:cs typeface="Roboto"/>
              </a:rPr>
              <a:t>to</a:t>
            </a:r>
            <a:r>
              <a:rPr sz="1100" spc="-20" dirty="0">
                <a:latin typeface="Roboto"/>
                <a:cs typeface="Roboto"/>
              </a:rPr>
              <a:t> </a:t>
            </a:r>
            <a:r>
              <a:rPr sz="1100" spc="-13" dirty="0">
                <a:latin typeface="Roboto"/>
                <a:cs typeface="Roboto"/>
              </a:rPr>
              <a:t>SQS </a:t>
            </a:r>
            <a:r>
              <a:rPr sz="1100" dirty="0">
                <a:latin typeface="Roboto"/>
                <a:cs typeface="Roboto"/>
              </a:rPr>
              <a:t>using</a:t>
            </a:r>
            <a:r>
              <a:rPr sz="1100" spc="-35" dirty="0">
                <a:latin typeface="Roboto"/>
                <a:cs typeface="Roboto"/>
              </a:rPr>
              <a:t> </a:t>
            </a:r>
            <a:r>
              <a:rPr sz="1100" dirty="0">
                <a:latin typeface="Roboto"/>
                <a:cs typeface="Roboto"/>
              </a:rPr>
              <a:t>CloudWatch</a:t>
            </a:r>
            <a:r>
              <a:rPr sz="1100" spc="-33" dirty="0">
                <a:latin typeface="Roboto"/>
                <a:cs typeface="Roboto"/>
              </a:rPr>
              <a:t> </a:t>
            </a:r>
            <a:r>
              <a:rPr sz="1100" spc="-5" dirty="0">
                <a:latin typeface="Roboto"/>
                <a:cs typeface="Roboto"/>
              </a:rPr>
              <a:t>Events</a:t>
            </a:r>
            <a:endParaRPr sz="1100">
              <a:latin typeface="Roboto"/>
              <a:cs typeface="Roboto"/>
            </a:endParaRPr>
          </a:p>
          <a:p>
            <a:pPr marL="813118">
              <a:spcBef>
                <a:spcPts val="878"/>
              </a:spcBef>
              <a:tabLst>
                <a:tab pos="1218565" algn="l"/>
              </a:tabLst>
            </a:pPr>
            <a:r>
              <a:rPr sz="1100" b="1" spc="-10" dirty="0">
                <a:latin typeface="Roboto"/>
                <a:cs typeface="Roboto"/>
              </a:rPr>
              <a:t>Cost</a:t>
            </a:r>
            <a:r>
              <a:rPr sz="1100" b="1" dirty="0">
                <a:latin typeface="Roboto"/>
                <a:cs typeface="Roboto"/>
              </a:rPr>
              <a:t>	</a:t>
            </a:r>
            <a:r>
              <a:rPr sz="1100" dirty="0">
                <a:latin typeface="Roboto"/>
                <a:cs typeface="Roboto"/>
              </a:rPr>
              <a:t>charged</a:t>
            </a:r>
            <a:r>
              <a:rPr sz="1100" spc="-20" dirty="0">
                <a:latin typeface="Roboto"/>
                <a:cs typeface="Roboto"/>
              </a:rPr>
              <a:t> </a:t>
            </a:r>
            <a:r>
              <a:rPr sz="1100" dirty="0">
                <a:latin typeface="Roboto"/>
                <a:cs typeface="Roboto"/>
              </a:rPr>
              <a:t>per</a:t>
            </a:r>
            <a:r>
              <a:rPr sz="1100" spc="-18" dirty="0">
                <a:latin typeface="Roboto"/>
                <a:cs typeface="Roboto"/>
              </a:rPr>
              <a:t> </a:t>
            </a:r>
            <a:r>
              <a:rPr sz="1100" dirty="0">
                <a:latin typeface="Roboto"/>
                <a:cs typeface="Roboto"/>
              </a:rPr>
              <a:t>1</a:t>
            </a:r>
            <a:r>
              <a:rPr sz="1100" spc="-20" dirty="0">
                <a:latin typeface="Roboto"/>
                <a:cs typeface="Roboto"/>
              </a:rPr>
              <a:t> </a:t>
            </a:r>
            <a:r>
              <a:rPr sz="1100" dirty="0">
                <a:latin typeface="Roboto"/>
                <a:cs typeface="Roboto"/>
              </a:rPr>
              <a:t>million</a:t>
            </a:r>
            <a:r>
              <a:rPr sz="1100" spc="-18" dirty="0">
                <a:latin typeface="Roboto"/>
                <a:cs typeface="Roboto"/>
              </a:rPr>
              <a:t> </a:t>
            </a:r>
            <a:r>
              <a:rPr sz="1100" dirty="0">
                <a:latin typeface="Roboto"/>
                <a:cs typeface="Roboto"/>
              </a:rPr>
              <a:t>SQS</a:t>
            </a:r>
            <a:r>
              <a:rPr sz="1100" spc="-20" dirty="0">
                <a:latin typeface="Roboto"/>
                <a:cs typeface="Roboto"/>
              </a:rPr>
              <a:t> </a:t>
            </a:r>
            <a:r>
              <a:rPr sz="1100" dirty="0">
                <a:latin typeface="Roboto"/>
                <a:cs typeface="Roboto"/>
              </a:rPr>
              <a:t>requests.</a:t>
            </a:r>
            <a:r>
              <a:rPr sz="1100" spc="-18" dirty="0">
                <a:latin typeface="Roboto"/>
                <a:cs typeface="Roboto"/>
              </a:rPr>
              <a:t> </a:t>
            </a:r>
            <a:r>
              <a:rPr sz="1100" dirty="0">
                <a:latin typeface="Roboto"/>
                <a:cs typeface="Roboto"/>
              </a:rPr>
              <a:t>Price</a:t>
            </a:r>
            <a:r>
              <a:rPr sz="1100" spc="-20" dirty="0">
                <a:latin typeface="Roboto"/>
                <a:cs typeface="Roboto"/>
              </a:rPr>
              <a:t> </a:t>
            </a:r>
            <a:r>
              <a:rPr sz="1100" dirty="0">
                <a:latin typeface="Roboto"/>
                <a:cs typeface="Roboto"/>
              </a:rPr>
              <a:t>depends</a:t>
            </a:r>
            <a:r>
              <a:rPr sz="1100" spc="-18" dirty="0">
                <a:latin typeface="Roboto"/>
                <a:cs typeface="Roboto"/>
              </a:rPr>
              <a:t> </a:t>
            </a:r>
            <a:r>
              <a:rPr sz="1100" dirty="0">
                <a:latin typeface="Roboto"/>
                <a:cs typeface="Roboto"/>
              </a:rPr>
              <a:t>on</a:t>
            </a:r>
            <a:r>
              <a:rPr sz="1100" spc="-20" dirty="0">
                <a:latin typeface="Roboto"/>
                <a:cs typeface="Roboto"/>
              </a:rPr>
              <a:t> </a:t>
            </a:r>
            <a:r>
              <a:rPr sz="1100" dirty="0">
                <a:latin typeface="Roboto"/>
                <a:cs typeface="Roboto"/>
              </a:rPr>
              <a:t>the</a:t>
            </a:r>
            <a:r>
              <a:rPr sz="1100" spc="-18" dirty="0">
                <a:latin typeface="Roboto"/>
                <a:cs typeface="Roboto"/>
              </a:rPr>
              <a:t> </a:t>
            </a:r>
            <a:r>
              <a:rPr sz="1100" dirty="0">
                <a:latin typeface="Roboto"/>
                <a:cs typeface="Roboto"/>
              </a:rPr>
              <a:t>type</a:t>
            </a:r>
            <a:r>
              <a:rPr sz="1100" spc="-20" dirty="0">
                <a:latin typeface="Roboto"/>
                <a:cs typeface="Roboto"/>
              </a:rPr>
              <a:t> </a:t>
            </a:r>
            <a:r>
              <a:rPr sz="1100" dirty="0">
                <a:latin typeface="Roboto"/>
                <a:cs typeface="Roboto"/>
              </a:rPr>
              <a:t>and</a:t>
            </a:r>
            <a:r>
              <a:rPr sz="1100" spc="-18" dirty="0">
                <a:latin typeface="Roboto"/>
                <a:cs typeface="Roboto"/>
              </a:rPr>
              <a:t> </a:t>
            </a:r>
            <a:r>
              <a:rPr sz="1100" dirty="0">
                <a:latin typeface="Roboto"/>
                <a:cs typeface="Roboto"/>
              </a:rPr>
              <a:t>data</a:t>
            </a:r>
            <a:r>
              <a:rPr sz="1100" spc="-20" dirty="0">
                <a:latin typeface="Roboto"/>
                <a:cs typeface="Roboto"/>
              </a:rPr>
              <a:t> </a:t>
            </a:r>
            <a:r>
              <a:rPr sz="1100" dirty="0">
                <a:latin typeface="Roboto"/>
                <a:cs typeface="Roboto"/>
              </a:rPr>
              <a:t>transfer</a:t>
            </a:r>
            <a:r>
              <a:rPr sz="1100" spc="-18" dirty="0">
                <a:latin typeface="Roboto"/>
                <a:cs typeface="Roboto"/>
              </a:rPr>
              <a:t> </a:t>
            </a:r>
            <a:r>
              <a:rPr sz="1100" dirty="0">
                <a:latin typeface="Roboto"/>
                <a:cs typeface="Roboto"/>
              </a:rPr>
              <a:t>cost</a:t>
            </a:r>
            <a:r>
              <a:rPr sz="1100" spc="-20" dirty="0">
                <a:latin typeface="Roboto"/>
                <a:cs typeface="Roboto"/>
              </a:rPr>
              <a:t> </a:t>
            </a:r>
            <a:r>
              <a:rPr sz="1100" dirty="0">
                <a:latin typeface="Roboto"/>
                <a:cs typeface="Roboto"/>
              </a:rPr>
              <a:t>for</a:t>
            </a:r>
            <a:r>
              <a:rPr sz="1100" spc="-18" dirty="0">
                <a:latin typeface="Roboto"/>
                <a:cs typeface="Roboto"/>
              </a:rPr>
              <a:t> </a:t>
            </a:r>
            <a:r>
              <a:rPr sz="1100" dirty="0">
                <a:latin typeface="Roboto"/>
                <a:cs typeface="Roboto"/>
              </a:rPr>
              <a:t>egress</a:t>
            </a:r>
            <a:r>
              <a:rPr sz="1100" spc="-18" dirty="0">
                <a:latin typeface="Roboto"/>
                <a:cs typeface="Roboto"/>
              </a:rPr>
              <a:t> </a:t>
            </a:r>
            <a:r>
              <a:rPr sz="1100" dirty="0">
                <a:latin typeface="Roboto"/>
                <a:cs typeface="Roboto"/>
              </a:rPr>
              <a:t>traffic</a:t>
            </a:r>
            <a:r>
              <a:rPr sz="1100" spc="-20" dirty="0">
                <a:latin typeface="Roboto"/>
                <a:cs typeface="Roboto"/>
              </a:rPr>
              <a:t> </a:t>
            </a:r>
            <a:r>
              <a:rPr sz="1100" dirty="0">
                <a:latin typeface="Roboto"/>
                <a:cs typeface="Roboto"/>
              </a:rPr>
              <a:t>after</a:t>
            </a:r>
            <a:r>
              <a:rPr sz="1100" spc="-18" dirty="0">
                <a:latin typeface="Roboto"/>
                <a:cs typeface="Roboto"/>
              </a:rPr>
              <a:t> </a:t>
            </a:r>
            <a:r>
              <a:rPr sz="1100" dirty="0">
                <a:latin typeface="Roboto"/>
                <a:cs typeface="Roboto"/>
              </a:rPr>
              <a:t>1</a:t>
            </a:r>
            <a:r>
              <a:rPr sz="1100" spc="-20" dirty="0">
                <a:latin typeface="Roboto"/>
                <a:cs typeface="Roboto"/>
              </a:rPr>
              <a:t> </a:t>
            </a:r>
            <a:r>
              <a:rPr sz="1100" spc="-5" dirty="0">
                <a:latin typeface="Roboto"/>
                <a:cs typeface="Roboto"/>
              </a:rPr>
              <a:t>GB/month</a:t>
            </a:r>
            <a:endParaRPr sz="1100">
              <a:latin typeface="Roboto"/>
              <a:cs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2"/>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Simple Notification Service (SNS)</a:t>
            </a:r>
            <a:endParaRPr/>
          </a:p>
        </p:txBody>
      </p:sp>
      <p:sp>
        <p:nvSpPr>
          <p:cNvPr id="222" name="Google Shape;222;p32"/>
          <p:cNvSpPr txBox="1">
            <a:spLocks noGrp="1"/>
          </p:cNvSpPr>
          <p:nvPr>
            <p:ph type="subTitle" idx="1"/>
          </p:nvPr>
        </p:nvSpPr>
        <p:spPr>
          <a:xfrm>
            <a:off x="730000" y="3568238"/>
            <a:ext cx="3300900" cy="7590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SzPts val="1600"/>
              <a:buAutoNum type="arabicPeriod"/>
            </a:pPr>
            <a:r>
              <a:rPr lang="en"/>
              <a:t>SMS Message</a:t>
            </a:r>
            <a:endParaRPr/>
          </a:p>
          <a:p>
            <a:pPr marL="457200" lvl="0" indent="-330200" algn="l" rtl="0">
              <a:spcBef>
                <a:spcPts val="0"/>
              </a:spcBef>
              <a:spcAft>
                <a:spcPts val="0"/>
              </a:spcAft>
              <a:buSzPts val="1600"/>
              <a:buAutoNum type="arabicPeriod"/>
            </a:pPr>
            <a:r>
              <a:rPr lang="en"/>
              <a:t>Push Notification</a:t>
            </a:r>
            <a:endParaRPr/>
          </a:p>
        </p:txBody>
      </p:sp>
      <p:pic>
        <p:nvPicPr>
          <p:cNvPr id="223" name="Google Shape;223;p32"/>
          <p:cNvPicPr preferRelativeResize="0"/>
          <p:nvPr/>
        </p:nvPicPr>
        <p:blipFill>
          <a:blip r:embed="rId3">
            <a:alphaModFix/>
          </a:blip>
          <a:stretch>
            <a:fillRect/>
          </a:stretch>
        </p:blipFill>
        <p:spPr>
          <a:xfrm>
            <a:off x="3892075" y="237375"/>
            <a:ext cx="5251926" cy="2437700"/>
          </a:xfrm>
          <a:prstGeom prst="rect">
            <a:avLst/>
          </a:prstGeom>
          <a:noFill/>
          <a:ln>
            <a:noFill/>
          </a:ln>
        </p:spPr>
      </p:pic>
      <p:pic>
        <p:nvPicPr>
          <p:cNvPr id="224" name="Google Shape;224;p32"/>
          <p:cNvPicPr preferRelativeResize="0"/>
          <p:nvPr/>
        </p:nvPicPr>
        <p:blipFill>
          <a:blip r:embed="rId4">
            <a:alphaModFix/>
          </a:blip>
          <a:stretch>
            <a:fillRect/>
          </a:stretch>
        </p:blipFill>
        <p:spPr>
          <a:xfrm>
            <a:off x="3392000" y="2948450"/>
            <a:ext cx="5752000" cy="1998575"/>
          </a:xfrm>
          <a:prstGeom prst="rect">
            <a:avLst/>
          </a:prstGeom>
          <a:noFill/>
          <a:ln>
            <a:noFill/>
          </a:ln>
        </p:spPr>
      </p:pic>
      <p:pic>
        <p:nvPicPr>
          <p:cNvPr id="225" name="Google Shape;225;p32"/>
          <p:cNvPicPr preferRelativeResize="0"/>
          <p:nvPr/>
        </p:nvPicPr>
        <p:blipFill>
          <a:blip r:embed="rId5">
            <a:alphaModFix/>
          </a:blip>
          <a:stretch>
            <a:fillRect/>
          </a:stretch>
        </p:blipFill>
        <p:spPr>
          <a:xfrm>
            <a:off x="1143725" y="2251313"/>
            <a:ext cx="1316925" cy="13169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8038" y="28550"/>
            <a:ext cx="5157788" cy="403957"/>
          </a:xfrm>
          <a:prstGeom prst="rect">
            <a:avLst/>
          </a:prstGeom>
        </p:spPr>
        <p:txBody>
          <a:bodyPr spcFirstLastPara="1" vert="horz" wrap="square" lIns="0" tIns="6350" rIns="0" bIns="0" rtlCol="0" anchor="t" anchorCtr="0">
            <a:spAutoFit/>
          </a:bodyPr>
          <a:lstStyle/>
          <a:p>
            <a:pPr marL="6350">
              <a:spcBef>
                <a:spcPts val="50"/>
              </a:spcBef>
            </a:pPr>
            <a:r>
              <a:rPr dirty="0"/>
              <a:t>Amazon</a:t>
            </a:r>
            <a:r>
              <a:rPr spc="-35" dirty="0"/>
              <a:t> </a:t>
            </a:r>
            <a:r>
              <a:rPr dirty="0"/>
              <a:t>Simple</a:t>
            </a:r>
            <a:r>
              <a:rPr spc="-33" dirty="0"/>
              <a:t> </a:t>
            </a:r>
            <a:r>
              <a:rPr dirty="0"/>
              <a:t>Notification</a:t>
            </a:r>
            <a:r>
              <a:rPr spc="-35" dirty="0"/>
              <a:t> </a:t>
            </a:r>
            <a:r>
              <a:rPr spc="-5" dirty="0"/>
              <a:t>Service</a:t>
            </a:r>
          </a:p>
        </p:txBody>
      </p:sp>
      <p:sp>
        <p:nvSpPr>
          <p:cNvPr id="3" name="object 3"/>
          <p:cNvSpPr txBox="1"/>
          <p:nvPr/>
        </p:nvSpPr>
        <p:spPr>
          <a:xfrm>
            <a:off x="8173736" y="56320"/>
            <a:ext cx="911860" cy="138499"/>
          </a:xfrm>
          <a:prstGeom prst="rect">
            <a:avLst/>
          </a:prstGeom>
        </p:spPr>
        <p:txBody>
          <a:bodyPr vert="horz" wrap="square" lIns="0" tIns="7620" rIns="0" bIns="0" rtlCol="0">
            <a:spAutoFit/>
          </a:bodyPr>
          <a:lstStyle/>
          <a:p>
            <a:pPr marL="6350">
              <a:spcBef>
                <a:spcPts val="60"/>
              </a:spcBef>
            </a:pPr>
            <a:r>
              <a:rPr sz="850" dirty="0">
                <a:solidFill>
                  <a:srgbClr val="13110E"/>
                </a:solidFill>
                <a:latin typeface="Open Sans Light"/>
                <a:cs typeface="Open Sans Light"/>
              </a:rPr>
              <a:t>Learn</a:t>
            </a:r>
            <a:r>
              <a:rPr sz="850" spc="15" dirty="0">
                <a:solidFill>
                  <a:srgbClr val="13110E"/>
                </a:solidFill>
                <a:latin typeface="Open Sans Light"/>
                <a:cs typeface="Open Sans Light"/>
              </a:rPr>
              <a:t> </a:t>
            </a:r>
            <a:r>
              <a:rPr sz="850" dirty="0">
                <a:solidFill>
                  <a:srgbClr val="13110E"/>
                </a:solidFill>
                <a:latin typeface="Open Sans Light"/>
                <a:cs typeface="Open Sans Light"/>
              </a:rPr>
              <a:t>With</a:t>
            </a:r>
            <a:r>
              <a:rPr sz="850" spc="15" dirty="0">
                <a:solidFill>
                  <a:srgbClr val="13110E"/>
                </a:solidFill>
                <a:latin typeface="Open Sans Light"/>
                <a:cs typeface="Open Sans Light"/>
              </a:rPr>
              <a:t> </a:t>
            </a:r>
            <a:r>
              <a:rPr sz="850" spc="-5" dirty="0">
                <a:solidFill>
                  <a:srgbClr val="13110E"/>
                </a:solidFill>
                <a:latin typeface="Open Sans Light"/>
                <a:cs typeface="Open Sans Light"/>
              </a:rPr>
              <a:t>Sandip</a:t>
            </a:r>
            <a:endParaRPr sz="850">
              <a:latin typeface="Open Sans Light"/>
              <a:cs typeface="Open Sans Light"/>
            </a:endParaRPr>
          </a:p>
        </p:txBody>
      </p:sp>
      <p:sp>
        <p:nvSpPr>
          <p:cNvPr id="4" name="object 4"/>
          <p:cNvSpPr txBox="1"/>
          <p:nvPr/>
        </p:nvSpPr>
        <p:spPr>
          <a:xfrm>
            <a:off x="210969" y="377574"/>
            <a:ext cx="8809355" cy="4450835"/>
          </a:xfrm>
          <a:prstGeom prst="rect">
            <a:avLst/>
          </a:prstGeom>
        </p:spPr>
        <p:txBody>
          <a:bodyPr vert="horz" wrap="square" lIns="0" tIns="58103" rIns="0" bIns="0" rtlCol="0">
            <a:spAutoFit/>
          </a:bodyPr>
          <a:lstStyle/>
          <a:p>
            <a:pPr marL="83185">
              <a:spcBef>
                <a:spcPts val="458"/>
              </a:spcBef>
            </a:pPr>
            <a:r>
              <a:rPr sz="900" b="1" dirty="0">
                <a:latin typeface="Roboto"/>
                <a:cs typeface="Roboto"/>
              </a:rPr>
              <a:t>Fully</a:t>
            </a:r>
            <a:r>
              <a:rPr sz="900" b="1" spc="-13" dirty="0">
                <a:latin typeface="Roboto"/>
                <a:cs typeface="Roboto"/>
              </a:rPr>
              <a:t> </a:t>
            </a:r>
            <a:r>
              <a:rPr sz="900" b="1" dirty="0">
                <a:latin typeface="Roboto"/>
                <a:cs typeface="Roboto"/>
              </a:rPr>
              <a:t>managed</a:t>
            </a:r>
            <a:r>
              <a:rPr sz="900" b="1" spc="-13" dirty="0">
                <a:latin typeface="Roboto"/>
                <a:cs typeface="Roboto"/>
              </a:rPr>
              <a:t> </a:t>
            </a:r>
            <a:r>
              <a:rPr sz="900" b="1" dirty="0">
                <a:latin typeface="Roboto"/>
                <a:cs typeface="Roboto"/>
              </a:rPr>
              <a:t>pub/sub</a:t>
            </a:r>
            <a:r>
              <a:rPr sz="900" b="1" spc="-13" dirty="0">
                <a:latin typeface="Roboto"/>
                <a:cs typeface="Roboto"/>
              </a:rPr>
              <a:t> </a:t>
            </a:r>
            <a:r>
              <a:rPr sz="900" b="1" dirty="0">
                <a:latin typeface="Roboto"/>
                <a:cs typeface="Roboto"/>
              </a:rPr>
              <a:t>messaging,</a:t>
            </a:r>
            <a:r>
              <a:rPr sz="900" b="1" spc="-13" dirty="0">
                <a:latin typeface="Roboto"/>
                <a:cs typeface="Roboto"/>
              </a:rPr>
              <a:t> </a:t>
            </a:r>
            <a:r>
              <a:rPr sz="900" b="1" dirty="0">
                <a:latin typeface="Roboto"/>
                <a:cs typeface="Roboto"/>
              </a:rPr>
              <a:t>SMS,</a:t>
            </a:r>
            <a:r>
              <a:rPr sz="900" b="1" spc="-13" dirty="0">
                <a:latin typeface="Roboto"/>
                <a:cs typeface="Roboto"/>
              </a:rPr>
              <a:t> </a:t>
            </a:r>
            <a:r>
              <a:rPr sz="900" b="1" dirty="0">
                <a:latin typeface="Roboto"/>
                <a:cs typeface="Roboto"/>
              </a:rPr>
              <a:t>email,</a:t>
            </a:r>
            <a:r>
              <a:rPr sz="900" b="1" spc="-13" dirty="0">
                <a:latin typeface="Roboto"/>
                <a:cs typeface="Roboto"/>
              </a:rPr>
              <a:t> </a:t>
            </a:r>
            <a:r>
              <a:rPr sz="900" b="1" dirty="0">
                <a:latin typeface="Roboto"/>
                <a:cs typeface="Roboto"/>
              </a:rPr>
              <a:t>and</a:t>
            </a:r>
            <a:r>
              <a:rPr sz="900" b="1" spc="-13" dirty="0">
                <a:latin typeface="Roboto"/>
                <a:cs typeface="Roboto"/>
              </a:rPr>
              <a:t> </a:t>
            </a:r>
            <a:r>
              <a:rPr sz="900" b="1" dirty="0">
                <a:latin typeface="Roboto"/>
                <a:cs typeface="Roboto"/>
              </a:rPr>
              <a:t>mobile</a:t>
            </a:r>
            <a:r>
              <a:rPr sz="900" b="1" spc="-13" dirty="0">
                <a:latin typeface="Roboto"/>
                <a:cs typeface="Roboto"/>
              </a:rPr>
              <a:t> </a:t>
            </a:r>
            <a:r>
              <a:rPr sz="900" b="1" dirty="0">
                <a:latin typeface="Roboto"/>
                <a:cs typeface="Roboto"/>
              </a:rPr>
              <a:t>push</a:t>
            </a:r>
            <a:r>
              <a:rPr sz="900" b="1" spc="-13" dirty="0">
                <a:latin typeface="Roboto"/>
                <a:cs typeface="Roboto"/>
              </a:rPr>
              <a:t> </a:t>
            </a:r>
            <a:r>
              <a:rPr sz="900" b="1" spc="-5" dirty="0">
                <a:latin typeface="Roboto"/>
                <a:cs typeface="Roboto"/>
              </a:rPr>
              <a:t>notifications</a:t>
            </a:r>
            <a:endParaRPr sz="900">
              <a:latin typeface="Roboto"/>
              <a:cs typeface="Roboto"/>
            </a:endParaRPr>
          </a:p>
          <a:p>
            <a:pPr marL="83185" marR="402590">
              <a:lnSpc>
                <a:spcPct val="116500"/>
              </a:lnSpc>
              <a:spcBef>
                <a:spcPts val="280"/>
              </a:spcBef>
            </a:pPr>
            <a:r>
              <a:rPr sz="1100" dirty="0">
                <a:latin typeface="Roboto"/>
                <a:cs typeface="Roboto"/>
              </a:rPr>
              <a:t>Amazon</a:t>
            </a:r>
            <a:r>
              <a:rPr sz="1100" spc="-25" dirty="0">
                <a:latin typeface="Roboto"/>
                <a:cs typeface="Roboto"/>
              </a:rPr>
              <a:t> </a:t>
            </a:r>
            <a:r>
              <a:rPr sz="1100" dirty="0">
                <a:latin typeface="Roboto"/>
                <a:cs typeface="Roboto"/>
              </a:rPr>
              <a:t>Simple</a:t>
            </a:r>
            <a:r>
              <a:rPr sz="1100" spc="-23" dirty="0">
                <a:latin typeface="Roboto"/>
                <a:cs typeface="Roboto"/>
              </a:rPr>
              <a:t> </a:t>
            </a:r>
            <a:r>
              <a:rPr sz="1100" dirty="0">
                <a:latin typeface="Roboto"/>
                <a:cs typeface="Roboto"/>
              </a:rPr>
              <a:t>Notification</a:t>
            </a:r>
            <a:r>
              <a:rPr sz="1100" spc="-25" dirty="0">
                <a:latin typeface="Roboto"/>
                <a:cs typeface="Roboto"/>
              </a:rPr>
              <a:t> </a:t>
            </a:r>
            <a:r>
              <a:rPr sz="1100" dirty="0">
                <a:latin typeface="Roboto"/>
                <a:cs typeface="Roboto"/>
              </a:rPr>
              <a:t>Service</a:t>
            </a:r>
            <a:r>
              <a:rPr sz="1100" spc="-23" dirty="0">
                <a:latin typeface="Roboto"/>
                <a:cs typeface="Roboto"/>
              </a:rPr>
              <a:t> </a:t>
            </a:r>
            <a:r>
              <a:rPr sz="1100" dirty="0">
                <a:latin typeface="Roboto"/>
                <a:cs typeface="Roboto"/>
              </a:rPr>
              <a:t>(Amazon</a:t>
            </a:r>
            <a:r>
              <a:rPr sz="1100" spc="-23" dirty="0">
                <a:latin typeface="Roboto"/>
                <a:cs typeface="Roboto"/>
              </a:rPr>
              <a:t> </a:t>
            </a:r>
            <a:r>
              <a:rPr sz="1100" dirty="0">
                <a:latin typeface="Roboto"/>
                <a:cs typeface="Roboto"/>
              </a:rPr>
              <a:t>SNS)</a:t>
            </a:r>
            <a:r>
              <a:rPr sz="1100" spc="-25" dirty="0">
                <a:latin typeface="Roboto"/>
                <a:cs typeface="Roboto"/>
              </a:rPr>
              <a:t> </a:t>
            </a:r>
            <a:r>
              <a:rPr sz="1100" dirty="0">
                <a:latin typeface="Roboto"/>
                <a:cs typeface="Roboto"/>
              </a:rPr>
              <a:t>is</a:t>
            </a:r>
            <a:r>
              <a:rPr sz="1100" spc="-23" dirty="0">
                <a:latin typeface="Roboto"/>
                <a:cs typeface="Roboto"/>
              </a:rPr>
              <a:t> </a:t>
            </a:r>
            <a:r>
              <a:rPr sz="1100" dirty="0">
                <a:latin typeface="Roboto"/>
                <a:cs typeface="Roboto"/>
              </a:rPr>
              <a:t>a</a:t>
            </a:r>
            <a:r>
              <a:rPr sz="1100" spc="-23" dirty="0">
                <a:latin typeface="Roboto"/>
                <a:cs typeface="Roboto"/>
              </a:rPr>
              <a:t> </a:t>
            </a:r>
            <a:r>
              <a:rPr sz="1100" dirty="0">
                <a:latin typeface="Roboto"/>
                <a:cs typeface="Roboto"/>
              </a:rPr>
              <a:t>fully</a:t>
            </a:r>
            <a:r>
              <a:rPr sz="1100" spc="-25" dirty="0">
                <a:latin typeface="Roboto"/>
                <a:cs typeface="Roboto"/>
              </a:rPr>
              <a:t> </a:t>
            </a:r>
            <a:r>
              <a:rPr sz="1100" dirty="0">
                <a:latin typeface="Roboto"/>
                <a:cs typeface="Roboto"/>
              </a:rPr>
              <a:t>managed</a:t>
            </a:r>
            <a:r>
              <a:rPr sz="1100" spc="-23" dirty="0">
                <a:latin typeface="Roboto"/>
                <a:cs typeface="Roboto"/>
              </a:rPr>
              <a:t> </a:t>
            </a:r>
            <a:r>
              <a:rPr sz="1100" dirty="0">
                <a:latin typeface="Roboto"/>
                <a:cs typeface="Roboto"/>
              </a:rPr>
              <a:t>messaging</a:t>
            </a:r>
            <a:r>
              <a:rPr sz="1100" spc="-23" dirty="0">
                <a:latin typeface="Roboto"/>
                <a:cs typeface="Roboto"/>
              </a:rPr>
              <a:t> </a:t>
            </a:r>
            <a:r>
              <a:rPr sz="1100" dirty="0">
                <a:latin typeface="Roboto"/>
                <a:cs typeface="Roboto"/>
              </a:rPr>
              <a:t>service</a:t>
            </a:r>
            <a:r>
              <a:rPr sz="1100" spc="-25" dirty="0">
                <a:latin typeface="Roboto"/>
                <a:cs typeface="Roboto"/>
              </a:rPr>
              <a:t> </a:t>
            </a:r>
            <a:r>
              <a:rPr sz="1100" dirty="0">
                <a:latin typeface="Roboto"/>
                <a:cs typeface="Roboto"/>
              </a:rPr>
              <a:t>for</a:t>
            </a:r>
            <a:r>
              <a:rPr sz="1100" spc="-23" dirty="0">
                <a:latin typeface="Roboto"/>
                <a:cs typeface="Roboto"/>
              </a:rPr>
              <a:t> </a:t>
            </a:r>
            <a:r>
              <a:rPr sz="1100" dirty="0">
                <a:latin typeface="Roboto"/>
                <a:cs typeface="Roboto"/>
              </a:rPr>
              <a:t>both</a:t>
            </a:r>
            <a:r>
              <a:rPr sz="1100" spc="-23" dirty="0">
                <a:latin typeface="Roboto"/>
                <a:cs typeface="Roboto"/>
              </a:rPr>
              <a:t> </a:t>
            </a:r>
            <a:r>
              <a:rPr sz="1100" spc="-5" dirty="0">
                <a:latin typeface="Roboto"/>
                <a:cs typeface="Roboto"/>
              </a:rPr>
              <a:t>application-to-</a:t>
            </a:r>
            <a:r>
              <a:rPr sz="1100" dirty="0">
                <a:latin typeface="Roboto"/>
                <a:cs typeface="Roboto"/>
              </a:rPr>
              <a:t>application</a:t>
            </a:r>
            <a:r>
              <a:rPr sz="1100" spc="-25" dirty="0">
                <a:latin typeface="Roboto"/>
                <a:cs typeface="Roboto"/>
              </a:rPr>
              <a:t> </a:t>
            </a:r>
            <a:r>
              <a:rPr sz="1100" dirty="0">
                <a:latin typeface="Roboto"/>
                <a:cs typeface="Roboto"/>
              </a:rPr>
              <a:t>(A2A)</a:t>
            </a:r>
            <a:r>
              <a:rPr sz="1100" spc="-23" dirty="0">
                <a:latin typeface="Roboto"/>
                <a:cs typeface="Roboto"/>
              </a:rPr>
              <a:t> </a:t>
            </a:r>
            <a:r>
              <a:rPr sz="1100" spc="-13" dirty="0">
                <a:latin typeface="Roboto"/>
                <a:cs typeface="Roboto"/>
              </a:rPr>
              <a:t>and </a:t>
            </a:r>
            <a:r>
              <a:rPr sz="1100" spc="-5" dirty="0">
                <a:latin typeface="Roboto"/>
                <a:cs typeface="Roboto"/>
              </a:rPr>
              <a:t>application-to-</a:t>
            </a:r>
            <a:r>
              <a:rPr sz="1100" dirty="0">
                <a:latin typeface="Roboto"/>
                <a:cs typeface="Roboto"/>
              </a:rPr>
              <a:t>person</a:t>
            </a:r>
            <a:r>
              <a:rPr sz="1100" spc="-20" dirty="0">
                <a:latin typeface="Roboto"/>
                <a:cs typeface="Roboto"/>
              </a:rPr>
              <a:t> </a:t>
            </a:r>
            <a:r>
              <a:rPr sz="1100" dirty="0">
                <a:latin typeface="Roboto"/>
                <a:cs typeface="Roboto"/>
              </a:rPr>
              <a:t>(A2P)</a:t>
            </a:r>
            <a:r>
              <a:rPr sz="1100" spc="-18" dirty="0">
                <a:latin typeface="Roboto"/>
                <a:cs typeface="Roboto"/>
              </a:rPr>
              <a:t> </a:t>
            </a:r>
            <a:r>
              <a:rPr sz="1100" spc="-5" dirty="0">
                <a:latin typeface="Roboto"/>
                <a:cs typeface="Roboto"/>
              </a:rPr>
              <a:t>communication.</a:t>
            </a:r>
            <a:endParaRPr sz="1100">
              <a:latin typeface="Roboto"/>
              <a:cs typeface="Roboto"/>
            </a:endParaRPr>
          </a:p>
          <a:p>
            <a:pPr marL="83185" marR="129858">
              <a:lnSpc>
                <a:spcPct val="116500"/>
              </a:lnSpc>
            </a:pPr>
            <a:r>
              <a:rPr sz="1100" dirty="0">
                <a:latin typeface="Roboto"/>
                <a:cs typeface="Roboto"/>
              </a:rPr>
              <a:t>The</a:t>
            </a:r>
            <a:r>
              <a:rPr sz="1100" spc="-28" dirty="0">
                <a:latin typeface="Roboto"/>
                <a:cs typeface="Roboto"/>
              </a:rPr>
              <a:t> </a:t>
            </a:r>
            <a:r>
              <a:rPr sz="1100" dirty="0">
                <a:latin typeface="Roboto"/>
                <a:cs typeface="Roboto"/>
              </a:rPr>
              <a:t>A2A</a:t>
            </a:r>
            <a:r>
              <a:rPr sz="1100" spc="-28" dirty="0">
                <a:latin typeface="Roboto"/>
                <a:cs typeface="Roboto"/>
              </a:rPr>
              <a:t> </a:t>
            </a:r>
            <a:r>
              <a:rPr sz="1100" dirty="0">
                <a:latin typeface="Roboto"/>
                <a:cs typeface="Roboto"/>
              </a:rPr>
              <a:t>pub/sub</a:t>
            </a:r>
            <a:r>
              <a:rPr sz="1100" spc="-28" dirty="0">
                <a:latin typeface="Roboto"/>
                <a:cs typeface="Roboto"/>
              </a:rPr>
              <a:t> </a:t>
            </a:r>
            <a:r>
              <a:rPr sz="1100" dirty="0">
                <a:latin typeface="Roboto"/>
                <a:cs typeface="Roboto"/>
              </a:rPr>
              <a:t>functionality</a:t>
            </a:r>
            <a:r>
              <a:rPr sz="1100" spc="-28" dirty="0">
                <a:latin typeface="Roboto"/>
                <a:cs typeface="Roboto"/>
              </a:rPr>
              <a:t> </a:t>
            </a:r>
            <a:r>
              <a:rPr sz="1100" dirty="0">
                <a:latin typeface="Roboto"/>
                <a:cs typeface="Roboto"/>
              </a:rPr>
              <a:t>provides</a:t>
            </a:r>
            <a:r>
              <a:rPr sz="1100" spc="-28" dirty="0">
                <a:latin typeface="Roboto"/>
                <a:cs typeface="Roboto"/>
              </a:rPr>
              <a:t> </a:t>
            </a:r>
            <a:r>
              <a:rPr sz="1100" dirty="0">
                <a:latin typeface="Roboto"/>
                <a:cs typeface="Roboto"/>
              </a:rPr>
              <a:t>topics</a:t>
            </a:r>
            <a:r>
              <a:rPr sz="1100" spc="-25" dirty="0">
                <a:latin typeface="Roboto"/>
                <a:cs typeface="Roboto"/>
              </a:rPr>
              <a:t> </a:t>
            </a:r>
            <a:r>
              <a:rPr sz="1100" dirty="0">
                <a:latin typeface="Roboto"/>
                <a:cs typeface="Roboto"/>
              </a:rPr>
              <a:t>for</a:t>
            </a:r>
            <a:r>
              <a:rPr sz="1100" spc="-28" dirty="0">
                <a:latin typeface="Roboto"/>
                <a:cs typeface="Roboto"/>
              </a:rPr>
              <a:t> </a:t>
            </a:r>
            <a:r>
              <a:rPr sz="1100" spc="-10" dirty="0">
                <a:latin typeface="Roboto"/>
                <a:cs typeface="Roboto"/>
              </a:rPr>
              <a:t>high-</a:t>
            </a:r>
            <a:r>
              <a:rPr sz="1100" dirty="0">
                <a:latin typeface="Roboto"/>
                <a:cs typeface="Roboto"/>
              </a:rPr>
              <a:t>throughput,</a:t>
            </a:r>
            <a:r>
              <a:rPr sz="1100" spc="-28" dirty="0">
                <a:latin typeface="Roboto"/>
                <a:cs typeface="Roboto"/>
              </a:rPr>
              <a:t> </a:t>
            </a:r>
            <a:r>
              <a:rPr sz="1100" spc="-10" dirty="0">
                <a:latin typeface="Roboto"/>
                <a:cs typeface="Roboto"/>
              </a:rPr>
              <a:t>push-</a:t>
            </a:r>
            <a:r>
              <a:rPr sz="1100" dirty="0">
                <a:latin typeface="Roboto"/>
                <a:cs typeface="Roboto"/>
              </a:rPr>
              <a:t>based,</a:t>
            </a:r>
            <a:r>
              <a:rPr sz="1100" spc="-28" dirty="0">
                <a:latin typeface="Roboto"/>
                <a:cs typeface="Roboto"/>
              </a:rPr>
              <a:t> </a:t>
            </a:r>
            <a:r>
              <a:rPr sz="1100" spc="-5" dirty="0">
                <a:latin typeface="Roboto"/>
                <a:cs typeface="Roboto"/>
              </a:rPr>
              <a:t>many-to-</a:t>
            </a:r>
            <a:r>
              <a:rPr sz="1100" dirty="0">
                <a:latin typeface="Roboto"/>
                <a:cs typeface="Roboto"/>
              </a:rPr>
              <a:t>many</a:t>
            </a:r>
            <a:r>
              <a:rPr sz="1100" spc="-28" dirty="0">
                <a:latin typeface="Roboto"/>
                <a:cs typeface="Roboto"/>
              </a:rPr>
              <a:t> </a:t>
            </a:r>
            <a:r>
              <a:rPr sz="1100" dirty="0">
                <a:latin typeface="Roboto"/>
                <a:cs typeface="Roboto"/>
              </a:rPr>
              <a:t>messaging</a:t>
            </a:r>
            <a:r>
              <a:rPr sz="1100" spc="-25" dirty="0">
                <a:latin typeface="Roboto"/>
                <a:cs typeface="Roboto"/>
              </a:rPr>
              <a:t> </a:t>
            </a:r>
            <a:r>
              <a:rPr sz="1100" dirty="0">
                <a:latin typeface="Roboto"/>
                <a:cs typeface="Roboto"/>
              </a:rPr>
              <a:t>between</a:t>
            </a:r>
            <a:r>
              <a:rPr sz="1100" spc="-28" dirty="0">
                <a:latin typeface="Roboto"/>
                <a:cs typeface="Roboto"/>
              </a:rPr>
              <a:t> </a:t>
            </a:r>
            <a:r>
              <a:rPr sz="1100" dirty="0">
                <a:latin typeface="Roboto"/>
                <a:cs typeface="Roboto"/>
              </a:rPr>
              <a:t>distributed</a:t>
            </a:r>
            <a:r>
              <a:rPr sz="1100" spc="-28" dirty="0">
                <a:latin typeface="Roboto"/>
                <a:cs typeface="Roboto"/>
              </a:rPr>
              <a:t> </a:t>
            </a:r>
            <a:r>
              <a:rPr sz="1100" spc="-5" dirty="0">
                <a:latin typeface="Roboto"/>
                <a:cs typeface="Roboto"/>
              </a:rPr>
              <a:t>systems, </a:t>
            </a:r>
            <a:r>
              <a:rPr sz="1100" dirty="0">
                <a:latin typeface="Roboto"/>
                <a:cs typeface="Roboto"/>
              </a:rPr>
              <a:t>microservices,</a:t>
            </a:r>
            <a:r>
              <a:rPr sz="1100" spc="-28" dirty="0">
                <a:latin typeface="Roboto"/>
                <a:cs typeface="Roboto"/>
              </a:rPr>
              <a:t> </a:t>
            </a:r>
            <a:r>
              <a:rPr sz="1100" dirty="0">
                <a:latin typeface="Roboto"/>
                <a:cs typeface="Roboto"/>
              </a:rPr>
              <a:t>and</a:t>
            </a:r>
            <a:r>
              <a:rPr sz="1100" spc="-28" dirty="0">
                <a:latin typeface="Roboto"/>
                <a:cs typeface="Roboto"/>
              </a:rPr>
              <a:t> </a:t>
            </a:r>
            <a:r>
              <a:rPr sz="1100" spc="-5" dirty="0">
                <a:latin typeface="Roboto"/>
                <a:cs typeface="Roboto"/>
              </a:rPr>
              <a:t>event-</a:t>
            </a:r>
            <a:r>
              <a:rPr sz="1100" dirty="0">
                <a:latin typeface="Roboto"/>
                <a:cs typeface="Roboto"/>
              </a:rPr>
              <a:t>driven</a:t>
            </a:r>
            <a:r>
              <a:rPr sz="1100" spc="-28" dirty="0">
                <a:latin typeface="Roboto"/>
                <a:cs typeface="Roboto"/>
              </a:rPr>
              <a:t> </a:t>
            </a:r>
            <a:r>
              <a:rPr sz="1100" dirty="0">
                <a:latin typeface="Roboto"/>
                <a:cs typeface="Roboto"/>
              </a:rPr>
              <a:t>serverless</a:t>
            </a:r>
            <a:r>
              <a:rPr sz="1100" spc="-25" dirty="0">
                <a:latin typeface="Roboto"/>
                <a:cs typeface="Roboto"/>
              </a:rPr>
              <a:t> </a:t>
            </a:r>
            <a:r>
              <a:rPr sz="1100" dirty="0">
                <a:latin typeface="Roboto"/>
                <a:cs typeface="Roboto"/>
              </a:rPr>
              <a:t>applications.</a:t>
            </a:r>
            <a:r>
              <a:rPr sz="1100" spc="-28" dirty="0">
                <a:latin typeface="Roboto"/>
                <a:cs typeface="Roboto"/>
              </a:rPr>
              <a:t> </a:t>
            </a:r>
            <a:r>
              <a:rPr sz="1100" dirty="0">
                <a:latin typeface="Roboto"/>
                <a:cs typeface="Roboto"/>
              </a:rPr>
              <a:t>Using</a:t>
            </a:r>
            <a:r>
              <a:rPr sz="1100" spc="-28" dirty="0">
                <a:latin typeface="Roboto"/>
                <a:cs typeface="Roboto"/>
              </a:rPr>
              <a:t> </a:t>
            </a:r>
            <a:r>
              <a:rPr sz="1100" dirty="0">
                <a:latin typeface="Roboto"/>
                <a:cs typeface="Roboto"/>
              </a:rPr>
              <a:t>Amazon</a:t>
            </a:r>
            <a:r>
              <a:rPr sz="1100" spc="-25" dirty="0">
                <a:latin typeface="Roboto"/>
                <a:cs typeface="Roboto"/>
              </a:rPr>
              <a:t> </a:t>
            </a:r>
            <a:r>
              <a:rPr sz="1100" dirty="0">
                <a:latin typeface="Roboto"/>
                <a:cs typeface="Roboto"/>
              </a:rPr>
              <a:t>SNS</a:t>
            </a:r>
            <a:r>
              <a:rPr sz="1100" spc="-28" dirty="0">
                <a:latin typeface="Roboto"/>
                <a:cs typeface="Roboto"/>
              </a:rPr>
              <a:t> </a:t>
            </a:r>
            <a:r>
              <a:rPr sz="1100" dirty="0">
                <a:latin typeface="Roboto"/>
                <a:cs typeface="Roboto"/>
              </a:rPr>
              <a:t>topics,</a:t>
            </a:r>
            <a:r>
              <a:rPr sz="1100" spc="-28" dirty="0">
                <a:latin typeface="Roboto"/>
                <a:cs typeface="Roboto"/>
              </a:rPr>
              <a:t> </a:t>
            </a:r>
            <a:r>
              <a:rPr sz="1100" dirty="0">
                <a:latin typeface="Roboto"/>
                <a:cs typeface="Roboto"/>
              </a:rPr>
              <a:t>your</a:t>
            </a:r>
            <a:r>
              <a:rPr sz="1100" spc="-28" dirty="0">
                <a:latin typeface="Roboto"/>
                <a:cs typeface="Roboto"/>
              </a:rPr>
              <a:t> </a:t>
            </a:r>
            <a:r>
              <a:rPr sz="1100" dirty="0">
                <a:latin typeface="Roboto"/>
                <a:cs typeface="Roboto"/>
              </a:rPr>
              <a:t>publisher</a:t>
            </a:r>
            <a:r>
              <a:rPr sz="1100" spc="-25" dirty="0">
                <a:latin typeface="Roboto"/>
                <a:cs typeface="Roboto"/>
              </a:rPr>
              <a:t> </a:t>
            </a:r>
            <a:r>
              <a:rPr sz="1100" dirty="0">
                <a:latin typeface="Roboto"/>
                <a:cs typeface="Roboto"/>
              </a:rPr>
              <a:t>systems</a:t>
            </a:r>
            <a:r>
              <a:rPr sz="1100" spc="-28" dirty="0">
                <a:latin typeface="Roboto"/>
                <a:cs typeface="Roboto"/>
              </a:rPr>
              <a:t> </a:t>
            </a:r>
            <a:r>
              <a:rPr sz="1100" dirty="0">
                <a:latin typeface="Roboto"/>
                <a:cs typeface="Roboto"/>
              </a:rPr>
              <a:t>can</a:t>
            </a:r>
            <a:r>
              <a:rPr sz="1100" spc="-28" dirty="0">
                <a:latin typeface="Roboto"/>
                <a:cs typeface="Roboto"/>
              </a:rPr>
              <a:t> </a:t>
            </a:r>
            <a:r>
              <a:rPr sz="1100" dirty="0">
                <a:latin typeface="Roboto"/>
                <a:cs typeface="Roboto"/>
              </a:rPr>
              <a:t>fanout</a:t>
            </a:r>
            <a:r>
              <a:rPr sz="1100" spc="-25" dirty="0">
                <a:latin typeface="Roboto"/>
                <a:cs typeface="Roboto"/>
              </a:rPr>
              <a:t> </a:t>
            </a:r>
            <a:r>
              <a:rPr sz="1100" dirty="0">
                <a:latin typeface="Roboto"/>
                <a:cs typeface="Roboto"/>
              </a:rPr>
              <a:t>messages</a:t>
            </a:r>
            <a:r>
              <a:rPr sz="1100" spc="-28" dirty="0">
                <a:latin typeface="Roboto"/>
                <a:cs typeface="Roboto"/>
              </a:rPr>
              <a:t> </a:t>
            </a:r>
            <a:r>
              <a:rPr sz="1100" dirty="0">
                <a:latin typeface="Roboto"/>
                <a:cs typeface="Roboto"/>
              </a:rPr>
              <a:t>to</a:t>
            </a:r>
            <a:r>
              <a:rPr sz="1100" spc="-28" dirty="0">
                <a:latin typeface="Roboto"/>
                <a:cs typeface="Roboto"/>
              </a:rPr>
              <a:t> </a:t>
            </a:r>
            <a:r>
              <a:rPr sz="1100" dirty="0">
                <a:latin typeface="Roboto"/>
                <a:cs typeface="Roboto"/>
              </a:rPr>
              <a:t>a</a:t>
            </a:r>
            <a:r>
              <a:rPr sz="1100" spc="-25" dirty="0">
                <a:latin typeface="Roboto"/>
                <a:cs typeface="Roboto"/>
              </a:rPr>
              <a:t> </a:t>
            </a:r>
            <a:r>
              <a:rPr sz="1100" spc="-10" dirty="0">
                <a:latin typeface="Roboto"/>
                <a:cs typeface="Roboto"/>
              </a:rPr>
              <a:t>large </a:t>
            </a:r>
            <a:r>
              <a:rPr sz="1100" dirty="0">
                <a:latin typeface="Roboto"/>
                <a:cs typeface="Roboto"/>
              </a:rPr>
              <a:t>number</a:t>
            </a:r>
            <a:r>
              <a:rPr sz="1100" spc="-28" dirty="0">
                <a:latin typeface="Roboto"/>
                <a:cs typeface="Roboto"/>
              </a:rPr>
              <a:t> </a:t>
            </a:r>
            <a:r>
              <a:rPr sz="1100" dirty="0">
                <a:latin typeface="Roboto"/>
                <a:cs typeface="Roboto"/>
              </a:rPr>
              <a:t>of</a:t>
            </a:r>
            <a:r>
              <a:rPr sz="1100" spc="-28" dirty="0">
                <a:latin typeface="Roboto"/>
                <a:cs typeface="Roboto"/>
              </a:rPr>
              <a:t> </a:t>
            </a:r>
            <a:r>
              <a:rPr sz="1100" dirty="0">
                <a:latin typeface="Roboto"/>
                <a:cs typeface="Roboto"/>
              </a:rPr>
              <a:t>subscriber</a:t>
            </a:r>
            <a:r>
              <a:rPr sz="1100" spc="-28" dirty="0">
                <a:latin typeface="Roboto"/>
                <a:cs typeface="Roboto"/>
              </a:rPr>
              <a:t> </a:t>
            </a:r>
            <a:r>
              <a:rPr sz="1100" dirty="0">
                <a:latin typeface="Roboto"/>
                <a:cs typeface="Roboto"/>
              </a:rPr>
              <a:t>systems</a:t>
            </a:r>
            <a:r>
              <a:rPr sz="1100" spc="-28" dirty="0">
                <a:latin typeface="Roboto"/>
                <a:cs typeface="Roboto"/>
              </a:rPr>
              <a:t> </a:t>
            </a:r>
            <a:r>
              <a:rPr sz="1100" dirty="0">
                <a:latin typeface="Roboto"/>
                <a:cs typeface="Roboto"/>
              </a:rPr>
              <a:t>including</a:t>
            </a:r>
            <a:r>
              <a:rPr sz="1100" spc="-28" dirty="0">
                <a:latin typeface="Roboto"/>
                <a:cs typeface="Roboto"/>
              </a:rPr>
              <a:t> </a:t>
            </a:r>
            <a:r>
              <a:rPr sz="1100" dirty="0">
                <a:latin typeface="Roboto"/>
                <a:cs typeface="Roboto"/>
              </a:rPr>
              <a:t>Amazon</a:t>
            </a:r>
            <a:r>
              <a:rPr sz="1100" spc="-28" dirty="0">
                <a:latin typeface="Roboto"/>
                <a:cs typeface="Roboto"/>
              </a:rPr>
              <a:t> </a:t>
            </a:r>
            <a:r>
              <a:rPr sz="1100" dirty="0">
                <a:latin typeface="Roboto"/>
                <a:cs typeface="Roboto"/>
              </a:rPr>
              <a:t>SQS</a:t>
            </a:r>
            <a:r>
              <a:rPr sz="1100" spc="-25" dirty="0">
                <a:latin typeface="Roboto"/>
                <a:cs typeface="Roboto"/>
              </a:rPr>
              <a:t> </a:t>
            </a:r>
            <a:r>
              <a:rPr sz="1100" dirty="0">
                <a:latin typeface="Roboto"/>
                <a:cs typeface="Roboto"/>
              </a:rPr>
              <a:t>queues,</a:t>
            </a:r>
            <a:r>
              <a:rPr sz="1100" spc="-28" dirty="0">
                <a:latin typeface="Roboto"/>
                <a:cs typeface="Roboto"/>
              </a:rPr>
              <a:t> </a:t>
            </a:r>
            <a:r>
              <a:rPr sz="1100" dirty="0">
                <a:latin typeface="Roboto"/>
                <a:cs typeface="Roboto"/>
              </a:rPr>
              <a:t>AWS</a:t>
            </a:r>
            <a:r>
              <a:rPr sz="1100" spc="-28" dirty="0">
                <a:latin typeface="Roboto"/>
                <a:cs typeface="Roboto"/>
              </a:rPr>
              <a:t> </a:t>
            </a:r>
            <a:r>
              <a:rPr sz="1100" dirty="0">
                <a:latin typeface="Roboto"/>
                <a:cs typeface="Roboto"/>
              </a:rPr>
              <a:t>Lambda</a:t>
            </a:r>
            <a:r>
              <a:rPr sz="1100" spc="-28" dirty="0">
                <a:latin typeface="Roboto"/>
                <a:cs typeface="Roboto"/>
              </a:rPr>
              <a:t> </a:t>
            </a:r>
            <a:r>
              <a:rPr sz="1100" dirty="0">
                <a:latin typeface="Roboto"/>
                <a:cs typeface="Roboto"/>
              </a:rPr>
              <a:t>functions</a:t>
            </a:r>
            <a:r>
              <a:rPr sz="1100" spc="-28" dirty="0">
                <a:latin typeface="Roboto"/>
                <a:cs typeface="Roboto"/>
              </a:rPr>
              <a:t> </a:t>
            </a:r>
            <a:r>
              <a:rPr sz="1100" dirty="0">
                <a:latin typeface="Roboto"/>
                <a:cs typeface="Roboto"/>
              </a:rPr>
              <a:t>and</a:t>
            </a:r>
            <a:r>
              <a:rPr sz="1100" spc="-28" dirty="0">
                <a:latin typeface="Roboto"/>
                <a:cs typeface="Roboto"/>
              </a:rPr>
              <a:t> </a:t>
            </a:r>
            <a:r>
              <a:rPr sz="1100" dirty="0">
                <a:latin typeface="Roboto"/>
                <a:cs typeface="Roboto"/>
              </a:rPr>
              <a:t>HTTPS</a:t>
            </a:r>
            <a:r>
              <a:rPr sz="1100" spc="-28" dirty="0">
                <a:latin typeface="Roboto"/>
                <a:cs typeface="Roboto"/>
              </a:rPr>
              <a:t> </a:t>
            </a:r>
            <a:r>
              <a:rPr sz="1100" dirty="0">
                <a:latin typeface="Roboto"/>
                <a:cs typeface="Roboto"/>
              </a:rPr>
              <a:t>endpoints,</a:t>
            </a:r>
            <a:r>
              <a:rPr sz="1100" spc="-25" dirty="0">
                <a:latin typeface="Roboto"/>
                <a:cs typeface="Roboto"/>
              </a:rPr>
              <a:t> </a:t>
            </a:r>
            <a:r>
              <a:rPr sz="1100" dirty="0">
                <a:latin typeface="Roboto"/>
                <a:cs typeface="Roboto"/>
              </a:rPr>
              <a:t>for</a:t>
            </a:r>
            <a:r>
              <a:rPr sz="1100" spc="-28" dirty="0">
                <a:latin typeface="Roboto"/>
                <a:cs typeface="Roboto"/>
              </a:rPr>
              <a:t> </a:t>
            </a:r>
            <a:r>
              <a:rPr sz="1100" dirty="0">
                <a:latin typeface="Roboto"/>
                <a:cs typeface="Roboto"/>
              </a:rPr>
              <a:t>parallel</a:t>
            </a:r>
            <a:r>
              <a:rPr sz="1100" spc="-28" dirty="0">
                <a:latin typeface="Roboto"/>
                <a:cs typeface="Roboto"/>
              </a:rPr>
              <a:t> </a:t>
            </a:r>
            <a:r>
              <a:rPr sz="1100" dirty="0">
                <a:latin typeface="Roboto"/>
                <a:cs typeface="Roboto"/>
              </a:rPr>
              <a:t>processing,</a:t>
            </a:r>
            <a:r>
              <a:rPr sz="1100" spc="-28" dirty="0">
                <a:latin typeface="Roboto"/>
                <a:cs typeface="Roboto"/>
              </a:rPr>
              <a:t> </a:t>
            </a:r>
            <a:r>
              <a:rPr sz="1100" spc="-13" dirty="0">
                <a:latin typeface="Roboto"/>
                <a:cs typeface="Roboto"/>
              </a:rPr>
              <a:t>and </a:t>
            </a:r>
            <a:r>
              <a:rPr sz="1100" dirty="0">
                <a:latin typeface="Roboto"/>
                <a:cs typeface="Roboto"/>
              </a:rPr>
              <a:t>Amazon</a:t>
            </a:r>
            <a:r>
              <a:rPr sz="1100" spc="-23" dirty="0">
                <a:latin typeface="Roboto"/>
                <a:cs typeface="Roboto"/>
              </a:rPr>
              <a:t> </a:t>
            </a:r>
            <a:r>
              <a:rPr sz="1100" dirty="0">
                <a:latin typeface="Roboto"/>
                <a:cs typeface="Roboto"/>
              </a:rPr>
              <a:t>Kinesis</a:t>
            </a:r>
            <a:r>
              <a:rPr sz="1100" spc="-23" dirty="0">
                <a:latin typeface="Roboto"/>
                <a:cs typeface="Roboto"/>
              </a:rPr>
              <a:t> </a:t>
            </a:r>
            <a:r>
              <a:rPr sz="1100" dirty="0">
                <a:latin typeface="Roboto"/>
                <a:cs typeface="Roboto"/>
              </a:rPr>
              <a:t>Data</a:t>
            </a:r>
            <a:r>
              <a:rPr sz="1100" spc="-23" dirty="0">
                <a:latin typeface="Roboto"/>
                <a:cs typeface="Roboto"/>
              </a:rPr>
              <a:t> </a:t>
            </a:r>
            <a:r>
              <a:rPr sz="1100" dirty="0">
                <a:latin typeface="Roboto"/>
                <a:cs typeface="Roboto"/>
              </a:rPr>
              <a:t>Firehose.</a:t>
            </a:r>
            <a:r>
              <a:rPr sz="1100" spc="-23" dirty="0">
                <a:latin typeface="Roboto"/>
                <a:cs typeface="Roboto"/>
              </a:rPr>
              <a:t> </a:t>
            </a:r>
            <a:r>
              <a:rPr sz="1100" dirty="0">
                <a:latin typeface="Roboto"/>
                <a:cs typeface="Roboto"/>
              </a:rPr>
              <a:t>The</a:t>
            </a:r>
            <a:r>
              <a:rPr sz="1100" spc="-20" dirty="0">
                <a:latin typeface="Roboto"/>
                <a:cs typeface="Roboto"/>
              </a:rPr>
              <a:t> </a:t>
            </a:r>
            <a:r>
              <a:rPr sz="1100" dirty="0">
                <a:latin typeface="Roboto"/>
                <a:cs typeface="Roboto"/>
              </a:rPr>
              <a:t>A2P</a:t>
            </a:r>
            <a:r>
              <a:rPr sz="1100" spc="-23" dirty="0">
                <a:latin typeface="Roboto"/>
                <a:cs typeface="Roboto"/>
              </a:rPr>
              <a:t> </a:t>
            </a:r>
            <a:r>
              <a:rPr sz="1100" dirty="0">
                <a:latin typeface="Roboto"/>
                <a:cs typeface="Roboto"/>
              </a:rPr>
              <a:t>functionality</a:t>
            </a:r>
            <a:r>
              <a:rPr sz="1100" spc="-23" dirty="0">
                <a:latin typeface="Roboto"/>
                <a:cs typeface="Roboto"/>
              </a:rPr>
              <a:t> </a:t>
            </a:r>
            <a:r>
              <a:rPr sz="1100" dirty="0">
                <a:latin typeface="Roboto"/>
                <a:cs typeface="Roboto"/>
              </a:rPr>
              <a:t>enables</a:t>
            </a:r>
            <a:r>
              <a:rPr sz="1100" spc="-23" dirty="0">
                <a:latin typeface="Roboto"/>
                <a:cs typeface="Roboto"/>
              </a:rPr>
              <a:t> </a:t>
            </a:r>
            <a:r>
              <a:rPr sz="1100" dirty="0">
                <a:latin typeface="Roboto"/>
                <a:cs typeface="Roboto"/>
              </a:rPr>
              <a:t>you</a:t>
            </a:r>
            <a:r>
              <a:rPr sz="1100" spc="-20" dirty="0">
                <a:latin typeface="Roboto"/>
                <a:cs typeface="Roboto"/>
              </a:rPr>
              <a:t> </a:t>
            </a:r>
            <a:r>
              <a:rPr sz="1100" dirty="0">
                <a:latin typeface="Roboto"/>
                <a:cs typeface="Roboto"/>
              </a:rPr>
              <a:t>to</a:t>
            </a:r>
            <a:r>
              <a:rPr sz="1100" spc="-23" dirty="0">
                <a:latin typeface="Roboto"/>
                <a:cs typeface="Roboto"/>
              </a:rPr>
              <a:t> </a:t>
            </a:r>
            <a:r>
              <a:rPr sz="1100" dirty="0">
                <a:latin typeface="Roboto"/>
                <a:cs typeface="Roboto"/>
              </a:rPr>
              <a:t>send</a:t>
            </a:r>
            <a:r>
              <a:rPr sz="1100" spc="-23" dirty="0">
                <a:latin typeface="Roboto"/>
                <a:cs typeface="Roboto"/>
              </a:rPr>
              <a:t> </a:t>
            </a:r>
            <a:r>
              <a:rPr sz="1100" dirty="0">
                <a:latin typeface="Roboto"/>
                <a:cs typeface="Roboto"/>
              </a:rPr>
              <a:t>messages</a:t>
            </a:r>
            <a:r>
              <a:rPr sz="1100" spc="-23" dirty="0">
                <a:latin typeface="Roboto"/>
                <a:cs typeface="Roboto"/>
              </a:rPr>
              <a:t> </a:t>
            </a:r>
            <a:r>
              <a:rPr sz="1100" dirty="0">
                <a:latin typeface="Roboto"/>
                <a:cs typeface="Roboto"/>
              </a:rPr>
              <a:t>to</a:t>
            </a:r>
            <a:r>
              <a:rPr sz="1100" spc="-20" dirty="0">
                <a:latin typeface="Roboto"/>
                <a:cs typeface="Roboto"/>
              </a:rPr>
              <a:t> </a:t>
            </a:r>
            <a:r>
              <a:rPr sz="1100" dirty="0">
                <a:latin typeface="Roboto"/>
                <a:cs typeface="Roboto"/>
              </a:rPr>
              <a:t>users</a:t>
            </a:r>
            <a:r>
              <a:rPr sz="1100" spc="-23" dirty="0">
                <a:latin typeface="Roboto"/>
                <a:cs typeface="Roboto"/>
              </a:rPr>
              <a:t> </a:t>
            </a:r>
            <a:r>
              <a:rPr sz="1100" dirty="0">
                <a:latin typeface="Roboto"/>
                <a:cs typeface="Roboto"/>
              </a:rPr>
              <a:t>at</a:t>
            </a:r>
            <a:r>
              <a:rPr sz="1100" spc="-23" dirty="0">
                <a:latin typeface="Roboto"/>
                <a:cs typeface="Roboto"/>
              </a:rPr>
              <a:t> </a:t>
            </a:r>
            <a:r>
              <a:rPr sz="1100" dirty="0">
                <a:latin typeface="Roboto"/>
                <a:cs typeface="Roboto"/>
              </a:rPr>
              <a:t>scale</a:t>
            </a:r>
            <a:r>
              <a:rPr sz="1100" spc="-23" dirty="0">
                <a:latin typeface="Roboto"/>
                <a:cs typeface="Roboto"/>
              </a:rPr>
              <a:t> </a:t>
            </a:r>
            <a:r>
              <a:rPr sz="1100" dirty="0">
                <a:latin typeface="Roboto"/>
                <a:cs typeface="Roboto"/>
              </a:rPr>
              <a:t>via</a:t>
            </a:r>
            <a:r>
              <a:rPr sz="1100" spc="-20" dirty="0">
                <a:latin typeface="Roboto"/>
                <a:cs typeface="Roboto"/>
              </a:rPr>
              <a:t> </a:t>
            </a:r>
            <a:r>
              <a:rPr sz="1100" dirty="0">
                <a:latin typeface="Roboto"/>
                <a:cs typeface="Roboto"/>
              </a:rPr>
              <a:t>SMS,</a:t>
            </a:r>
            <a:r>
              <a:rPr sz="1100" spc="-23" dirty="0">
                <a:latin typeface="Roboto"/>
                <a:cs typeface="Roboto"/>
              </a:rPr>
              <a:t> </a:t>
            </a:r>
            <a:r>
              <a:rPr sz="1100" dirty="0">
                <a:latin typeface="Roboto"/>
                <a:cs typeface="Roboto"/>
              </a:rPr>
              <a:t>mobile</a:t>
            </a:r>
            <a:r>
              <a:rPr sz="1100" spc="-23" dirty="0">
                <a:latin typeface="Roboto"/>
                <a:cs typeface="Roboto"/>
              </a:rPr>
              <a:t> </a:t>
            </a:r>
            <a:r>
              <a:rPr sz="1100" dirty="0">
                <a:latin typeface="Roboto"/>
                <a:cs typeface="Roboto"/>
              </a:rPr>
              <a:t>push,</a:t>
            </a:r>
            <a:r>
              <a:rPr sz="1100" spc="-23" dirty="0">
                <a:latin typeface="Roboto"/>
                <a:cs typeface="Roboto"/>
              </a:rPr>
              <a:t> </a:t>
            </a:r>
            <a:r>
              <a:rPr sz="1100" dirty="0">
                <a:latin typeface="Roboto"/>
                <a:cs typeface="Roboto"/>
              </a:rPr>
              <a:t>and</a:t>
            </a:r>
            <a:r>
              <a:rPr sz="1100" spc="-20" dirty="0">
                <a:latin typeface="Roboto"/>
                <a:cs typeface="Roboto"/>
              </a:rPr>
              <a:t> </a:t>
            </a:r>
            <a:r>
              <a:rPr sz="1100" spc="-5" dirty="0">
                <a:latin typeface="Roboto"/>
                <a:cs typeface="Roboto"/>
              </a:rPr>
              <a:t>email.</a:t>
            </a:r>
            <a:endParaRPr sz="1100">
              <a:latin typeface="Roboto"/>
              <a:cs typeface="Roboto"/>
            </a:endParaRPr>
          </a:p>
          <a:p>
            <a:pPr marR="905828" algn="ctr">
              <a:spcBef>
                <a:spcPts val="920"/>
              </a:spcBef>
            </a:pPr>
            <a:r>
              <a:rPr sz="1200" b="1" dirty="0">
                <a:latin typeface="Open Sans Extrabold"/>
                <a:cs typeface="Open Sans Extrabold"/>
              </a:rPr>
              <a:t>Points to </a:t>
            </a:r>
            <a:r>
              <a:rPr sz="1200" b="1" spc="-5" dirty="0">
                <a:latin typeface="Open Sans Extrabold"/>
                <a:cs typeface="Open Sans Extrabold"/>
              </a:rPr>
              <a:t>focus</a:t>
            </a:r>
            <a:endParaRPr sz="1200">
              <a:latin typeface="Open Sans Extrabold"/>
              <a:cs typeface="Open Sans Extrabold"/>
            </a:endParaRPr>
          </a:p>
          <a:p>
            <a:pPr marL="6350">
              <a:spcBef>
                <a:spcPts val="1280"/>
              </a:spcBef>
              <a:tabLst>
                <a:tab pos="1183958" algn="l"/>
              </a:tabLst>
            </a:pPr>
            <a:r>
              <a:rPr sz="1100" b="1" dirty="0">
                <a:latin typeface="Roboto"/>
                <a:cs typeface="Roboto"/>
              </a:rPr>
              <a:t>Key</a:t>
            </a:r>
            <a:r>
              <a:rPr sz="1100" b="1" spc="-15" dirty="0">
                <a:latin typeface="Roboto"/>
                <a:cs typeface="Roboto"/>
              </a:rPr>
              <a:t> </a:t>
            </a:r>
            <a:r>
              <a:rPr sz="1100" b="1" dirty="0">
                <a:latin typeface="Roboto"/>
                <a:cs typeface="Roboto"/>
              </a:rPr>
              <a:t>parts</a:t>
            </a:r>
            <a:r>
              <a:rPr sz="1100" b="1" spc="-13" dirty="0">
                <a:latin typeface="Roboto"/>
                <a:cs typeface="Roboto"/>
              </a:rPr>
              <a:t> </a:t>
            </a:r>
            <a:r>
              <a:rPr sz="1100" b="1" dirty="0">
                <a:latin typeface="Roboto"/>
                <a:cs typeface="Roboto"/>
              </a:rPr>
              <a:t>need</a:t>
            </a:r>
            <a:r>
              <a:rPr sz="1100" b="1" spc="-15" dirty="0">
                <a:latin typeface="Roboto"/>
                <a:cs typeface="Roboto"/>
              </a:rPr>
              <a:t> </a:t>
            </a:r>
            <a:r>
              <a:rPr sz="1100" b="1" spc="-13" dirty="0">
                <a:latin typeface="Roboto"/>
                <a:cs typeface="Roboto"/>
              </a:rPr>
              <a:t>to</a:t>
            </a:r>
            <a:r>
              <a:rPr sz="1100" b="1" dirty="0">
                <a:latin typeface="Roboto"/>
                <a:cs typeface="Roboto"/>
              </a:rPr>
              <a:t>	</a:t>
            </a:r>
            <a:r>
              <a:rPr sz="1100" spc="-5" dirty="0">
                <a:latin typeface="Roboto"/>
                <a:cs typeface="Roboto"/>
              </a:rPr>
              <a:t>Event-</a:t>
            </a:r>
            <a:r>
              <a:rPr sz="1100" dirty="0">
                <a:latin typeface="Roboto"/>
                <a:cs typeface="Roboto"/>
              </a:rPr>
              <a:t>driven</a:t>
            </a:r>
            <a:r>
              <a:rPr sz="1100" spc="-25" dirty="0">
                <a:latin typeface="Roboto"/>
                <a:cs typeface="Roboto"/>
              </a:rPr>
              <a:t> </a:t>
            </a:r>
            <a:r>
              <a:rPr sz="1100" dirty="0">
                <a:latin typeface="Roboto"/>
                <a:cs typeface="Roboto"/>
              </a:rPr>
              <a:t>computing</a:t>
            </a:r>
            <a:r>
              <a:rPr sz="1100" spc="-25" dirty="0">
                <a:latin typeface="Roboto"/>
                <a:cs typeface="Roboto"/>
              </a:rPr>
              <a:t> </a:t>
            </a:r>
            <a:r>
              <a:rPr sz="1100" dirty="0">
                <a:latin typeface="Roboto"/>
                <a:cs typeface="Roboto"/>
              </a:rPr>
              <a:t>model,</a:t>
            </a:r>
            <a:r>
              <a:rPr sz="1100" spc="-25" dirty="0">
                <a:latin typeface="Roboto"/>
                <a:cs typeface="Roboto"/>
              </a:rPr>
              <a:t> </a:t>
            </a:r>
            <a:r>
              <a:rPr sz="1100" dirty="0">
                <a:latin typeface="Roboto"/>
                <a:cs typeface="Roboto"/>
              </a:rPr>
              <a:t>Message</a:t>
            </a:r>
            <a:r>
              <a:rPr sz="1100" spc="-25" dirty="0">
                <a:latin typeface="Roboto"/>
                <a:cs typeface="Roboto"/>
              </a:rPr>
              <a:t> </a:t>
            </a:r>
            <a:r>
              <a:rPr sz="1100" dirty="0">
                <a:latin typeface="Roboto"/>
                <a:cs typeface="Roboto"/>
              </a:rPr>
              <a:t>filtering,</a:t>
            </a:r>
            <a:r>
              <a:rPr sz="1100" spc="-25" dirty="0">
                <a:latin typeface="Roboto"/>
                <a:cs typeface="Roboto"/>
              </a:rPr>
              <a:t> </a:t>
            </a:r>
            <a:r>
              <a:rPr sz="1100" dirty="0">
                <a:latin typeface="Roboto"/>
                <a:cs typeface="Roboto"/>
              </a:rPr>
              <a:t>SNS</a:t>
            </a:r>
            <a:r>
              <a:rPr sz="1100" spc="-25" dirty="0">
                <a:latin typeface="Roboto"/>
                <a:cs typeface="Roboto"/>
              </a:rPr>
              <a:t> </a:t>
            </a:r>
            <a:r>
              <a:rPr sz="1100" dirty="0">
                <a:latin typeface="Roboto"/>
                <a:cs typeface="Roboto"/>
              </a:rPr>
              <a:t>mobile</a:t>
            </a:r>
            <a:r>
              <a:rPr sz="1100" spc="-25" dirty="0">
                <a:latin typeface="Roboto"/>
                <a:cs typeface="Roboto"/>
              </a:rPr>
              <a:t> </a:t>
            </a:r>
            <a:r>
              <a:rPr sz="1100" dirty="0">
                <a:latin typeface="Roboto"/>
                <a:cs typeface="Roboto"/>
              </a:rPr>
              <a:t>notifications,</a:t>
            </a:r>
            <a:r>
              <a:rPr sz="1100" spc="-25" dirty="0">
                <a:latin typeface="Roboto"/>
                <a:cs typeface="Roboto"/>
              </a:rPr>
              <a:t> </a:t>
            </a:r>
            <a:r>
              <a:rPr sz="1100" dirty="0">
                <a:latin typeface="Roboto"/>
                <a:cs typeface="Roboto"/>
              </a:rPr>
              <a:t>Push</a:t>
            </a:r>
            <a:r>
              <a:rPr sz="1100" spc="-25" dirty="0">
                <a:latin typeface="Roboto"/>
                <a:cs typeface="Roboto"/>
              </a:rPr>
              <a:t> </a:t>
            </a:r>
            <a:r>
              <a:rPr sz="1100" dirty="0">
                <a:latin typeface="Roboto"/>
                <a:cs typeface="Roboto"/>
              </a:rPr>
              <a:t>email</a:t>
            </a:r>
            <a:r>
              <a:rPr sz="1100" spc="-25" dirty="0">
                <a:latin typeface="Roboto"/>
                <a:cs typeface="Roboto"/>
              </a:rPr>
              <a:t> </a:t>
            </a:r>
            <a:r>
              <a:rPr sz="1100" dirty="0">
                <a:latin typeface="Roboto"/>
                <a:cs typeface="Roboto"/>
              </a:rPr>
              <a:t>and</a:t>
            </a:r>
            <a:r>
              <a:rPr sz="1100" spc="-25" dirty="0">
                <a:latin typeface="Roboto"/>
                <a:cs typeface="Roboto"/>
              </a:rPr>
              <a:t> </a:t>
            </a:r>
            <a:r>
              <a:rPr sz="1100" dirty="0">
                <a:latin typeface="Roboto"/>
                <a:cs typeface="Roboto"/>
              </a:rPr>
              <a:t>text</a:t>
            </a:r>
            <a:r>
              <a:rPr sz="1100" spc="-25" dirty="0">
                <a:latin typeface="Roboto"/>
                <a:cs typeface="Roboto"/>
              </a:rPr>
              <a:t> </a:t>
            </a:r>
            <a:r>
              <a:rPr sz="1100" dirty="0">
                <a:latin typeface="Roboto"/>
                <a:cs typeface="Roboto"/>
              </a:rPr>
              <a:t>messaging</a:t>
            </a:r>
            <a:r>
              <a:rPr sz="1100" spc="-25" dirty="0">
                <a:latin typeface="Roboto"/>
                <a:cs typeface="Roboto"/>
              </a:rPr>
              <a:t> </a:t>
            </a:r>
            <a:r>
              <a:rPr sz="1100" dirty="0">
                <a:latin typeface="Roboto"/>
                <a:cs typeface="Roboto"/>
              </a:rPr>
              <a:t>using</a:t>
            </a:r>
            <a:r>
              <a:rPr sz="1100" spc="-25" dirty="0">
                <a:latin typeface="Roboto"/>
                <a:cs typeface="Roboto"/>
              </a:rPr>
              <a:t> </a:t>
            </a:r>
            <a:r>
              <a:rPr sz="1100" spc="-13" dirty="0">
                <a:latin typeface="Roboto"/>
                <a:cs typeface="Roboto"/>
              </a:rPr>
              <a:t>SNS</a:t>
            </a:r>
            <a:endParaRPr sz="1100">
              <a:latin typeface="Roboto"/>
              <a:cs typeface="Roboto"/>
            </a:endParaRPr>
          </a:p>
          <a:p>
            <a:pPr marL="410528">
              <a:spcBef>
                <a:spcPts val="217"/>
              </a:spcBef>
            </a:pPr>
            <a:r>
              <a:rPr sz="1100" b="1" dirty="0">
                <a:latin typeface="Roboto"/>
                <a:cs typeface="Roboto"/>
              </a:rPr>
              <a:t>be</a:t>
            </a:r>
            <a:r>
              <a:rPr sz="1100" b="1" spc="-5" dirty="0">
                <a:latin typeface="Roboto"/>
                <a:cs typeface="Roboto"/>
              </a:rPr>
              <a:t> covered</a:t>
            </a:r>
            <a:endParaRPr sz="1100">
              <a:latin typeface="Roboto"/>
              <a:cs typeface="Roboto"/>
            </a:endParaRPr>
          </a:p>
          <a:p>
            <a:pPr>
              <a:spcBef>
                <a:spcPts val="505"/>
              </a:spcBef>
            </a:pPr>
            <a:endParaRPr sz="1100">
              <a:latin typeface="Roboto"/>
              <a:cs typeface="Roboto"/>
            </a:endParaRPr>
          </a:p>
          <a:p>
            <a:pPr marL="413703">
              <a:tabLst>
                <a:tab pos="1183958" algn="l"/>
                <a:tab pos="4251643" algn="l"/>
                <a:tab pos="4935855" algn="l"/>
              </a:tabLst>
            </a:pPr>
            <a:r>
              <a:rPr sz="1100" b="1" spc="-5" dirty="0">
                <a:latin typeface="Roboto"/>
                <a:cs typeface="Roboto"/>
              </a:rPr>
              <a:t>Integration</a:t>
            </a:r>
            <a:r>
              <a:rPr sz="1100" b="1" dirty="0">
                <a:latin typeface="Roboto"/>
                <a:cs typeface="Roboto"/>
              </a:rPr>
              <a:t>	</a:t>
            </a:r>
            <a:r>
              <a:rPr sz="1100" dirty="0">
                <a:latin typeface="Roboto"/>
                <a:cs typeface="Roboto"/>
              </a:rPr>
              <a:t>SNS</a:t>
            </a:r>
            <a:r>
              <a:rPr sz="1100" spc="-20" dirty="0">
                <a:latin typeface="Roboto"/>
                <a:cs typeface="Roboto"/>
              </a:rPr>
              <a:t> </a:t>
            </a:r>
            <a:r>
              <a:rPr sz="1100" dirty="0">
                <a:latin typeface="Roboto"/>
                <a:cs typeface="Roboto"/>
              </a:rPr>
              <a:t>can</a:t>
            </a:r>
            <a:r>
              <a:rPr sz="1100" spc="-18" dirty="0">
                <a:latin typeface="Roboto"/>
                <a:cs typeface="Roboto"/>
              </a:rPr>
              <a:t> </a:t>
            </a:r>
            <a:r>
              <a:rPr sz="1100" dirty="0">
                <a:latin typeface="Roboto"/>
                <a:cs typeface="Roboto"/>
              </a:rPr>
              <a:t>be</a:t>
            </a:r>
            <a:r>
              <a:rPr sz="1100" spc="-18" dirty="0">
                <a:latin typeface="Roboto"/>
                <a:cs typeface="Roboto"/>
              </a:rPr>
              <a:t> </a:t>
            </a:r>
            <a:r>
              <a:rPr sz="1100" dirty="0">
                <a:latin typeface="Roboto"/>
                <a:cs typeface="Roboto"/>
              </a:rPr>
              <a:t>easily</a:t>
            </a:r>
            <a:r>
              <a:rPr sz="1100" spc="-18" dirty="0">
                <a:latin typeface="Roboto"/>
                <a:cs typeface="Roboto"/>
              </a:rPr>
              <a:t> </a:t>
            </a:r>
            <a:r>
              <a:rPr sz="1100" dirty="0">
                <a:latin typeface="Roboto"/>
                <a:cs typeface="Roboto"/>
              </a:rPr>
              <a:t>integrated</a:t>
            </a:r>
            <a:r>
              <a:rPr sz="1100" spc="-20" dirty="0">
                <a:latin typeface="Roboto"/>
                <a:cs typeface="Roboto"/>
              </a:rPr>
              <a:t> </a:t>
            </a:r>
            <a:r>
              <a:rPr sz="1100" dirty="0">
                <a:latin typeface="Roboto"/>
                <a:cs typeface="Roboto"/>
              </a:rPr>
              <a:t>with</a:t>
            </a:r>
            <a:r>
              <a:rPr sz="1100" spc="-18" dirty="0">
                <a:latin typeface="Roboto"/>
                <a:cs typeface="Roboto"/>
              </a:rPr>
              <a:t> </a:t>
            </a:r>
            <a:r>
              <a:rPr sz="1100" dirty="0">
                <a:latin typeface="Roboto"/>
                <a:cs typeface="Roboto"/>
              </a:rPr>
              <a:t>other</a:t>
            </a:r>
            <a:r>
              <a:rPr sz="1100" spc="-18" dirty="0">
                <a:latin typeface="Roboto"/>
                <a:cs typeface="Roboto"/>
              </a:rPr>
              <a:t> </a:t>
            </a:r>
            <a:r>
              <a:rPr sz="1100" spc="-5" dirty="0">
                <a:latin typeface="Roboto"/>
                <a:cs typeface="Roboto"/>
              </a:rPr>
              <a:t>services,</a:t>
            </a:r>
            <a:r>
              <a:rPr sz="1100" dirty="0">
                <a:latin typeface="Roboto"/>
                <a:cs typeface="Roboto"/>
              </a:rPr>
              <a:t>	</a:t>
            </a:r>
            <a:r>
              <a:rPr sz="1100" spc="-5" dirty="0">
                <a:latin typeface="Roboto"/>
                <a:cs typeface="Roboto"/>
              </a:rPr>
              <a:t>especially</a:t>
            </a:r>
            <a:r>
              <a:rPr sz="1100" dirty="0">
                <a:latin typeface="Roboto"/>
                <a:cs typeface="Roboto"/>
              </a:rPr>
              <a:t>	AWS</a:t>
            </a:r>
            <a:r>
              <a:rPr sz="1100" spc="-15" dirty="0">
                <a:latin typeface="Roboto"/>
                <a:cs typeface="Roboto"/>
              </a:rPr>
              <a:t> </a:t>
            </a:r>
            <a:r>
              <a:rPr sz="1100" spc="-5" dirty="0">
                <a:latin typeface="Roboto"/>
                <a:cs typeface="Roboto"/>
              </a:rPr>
              <a:t>Lambda</a:t>
            </a:r>
            <a:endParaRPr sz="1100">
              <a:latin typeface="Roboto"/>
              <a:cs typeface="Roboto"/>
            </a:endParaRPr>
          </a:p>
          <a:p>
            <a:pPr>
              <a:spcBef>
                <a:spcPts val="5"/>
              </a:spcBef>
            </a:pPr>
            <a:endParaRPr sz="1100">
              <a:latin typeface="Roboto"/>
              <a:cs typeface="Roboto"/>
            </a:endParaRPr>
          </a:p>
          <a:p>
            <a:pPr marL="1183958" marR="2540" indent="-722630">
              <a:lnSpc>
                <a:spcPct val="116500"/>
              </a:lnSpc>
              <a:tabLst>
                <a:tab pos="1183958" algn="l"/>
                <a:tab pos="3423603" algn="l"/>
              </a:tabLst>
            </a:pPr>
            <a:r>
              <a:rPr sz="1100" b="1" dirty="0">
                <a:latin typeface="Roboto"/>
                <a:cs typeface="Roboto"/>
              </a:rPr>
              <a:t>Use</a:t>
            </a:r>
            <a:r>
              <a:rPr sz="1100" b="1" spc="-15" dirty="0">
                <a:latin typeface="Roboto"/>
                <a:cs typeface="Roboto"/>
              </a:rPr>
              <a:t> </a:t>
            </a:r>
            <a:r>
              <a:rPr sz="1100" b="1" spc="-5" dirty="0">
                <a:latin typeface="Roboto"/>
                <a:cs typeface="Roboto"/>
              </a:rPr>
              <a:t>cases</a:t>
            </a:r>
            <a:r>
              <a:rPr sz="1100" b="1" dirty="0">
                <a:latin typeface="Roboto"/>
                <a:cs typeface="Roboto"/>
              </a:rPr>
              <a:t>	</a:t>
            </a:r>
            <a:r>
              <a:rPr sz="1100" dirty="0">
                <a:latin typeface="Roboto"/>
                <a:cs typeface="Roboto"/>
              </a:rPr>
              <a:t>Usse</a:t>
            </a:r>
            <a:r>
              <a:rPr sz="1100" spc="-28" dirty="0">
                <a:latin typeface="Roboto"/>
                <a:cs typeface="Roboto"/>
              </a:rPr>
              <a:t> </a:t>
            </a:r>
            <a:r>
              <a:rPr sz="1100" dirty="0">
                <a:latin typeface="Roboto"/>
                <a:cs typeface="Roboto"/>
              </a:rPr>
              <a:t>case</a:t>
            </a:r>
            <a:r>
              <a:rPr sz="1100" spc="-25" dirty="0">
                <a:latin typeface="Roboto"/>
                <a:cs typeface="Roboto"/>
              </a:rPr>
              <a:t> </a:t>
            </a:r>
            <a:r>
              <a:rPr sz="1100" dirty="0">
                <a:latin typeface="Roboto"/>
                <a:cs typeface="Roboto"/>
              </a:rPr>
              <a:t>might</a:t>
            </a:r>
            <a:r>
              <a:rPr sz="1100" spc="-28" dirty="0">
                <a:latin typeface="Roboto"/>
                <a:cs typeface="Roboto"/>
              </a:rPr>
              <a:t> </a:t>
            </a:r>
            <a:r>
              <a:rPr sz="1100" dirty="0">
                <a:latin typeface="Roboto"/>
                <a:cs typeface="Roboto"/>
              </a:rPr>
              <a:t>be,</a:t>
            </a:r>
            <a:r>
              <a:rPr sz="1100" spc="-25" dirty="0">
                <a:latin typeface="Roboto"/>
                <a:cs typeface="Roboto"/>
              </a:rPr>
              <a:t> </a:t>
            </a:r>
            <a:r>
              <a:rPr sz="1100" dirty="0">
                <a:latin typeface="Roboto"/>
                <a:cs typeface="Roboto"/>
              </a:rPr>
              <a:t>sending</a:t>
            </a:r>
            <a:r>
              <a:rPr sz="1100" spc="-28" dirty="0">
                <a:latin typeface="Roboto"/>
                <a:cs typeface="Roboto"/>
              </a:rPr>
              <a:t> </a:t>
            </a:r>
            <a:r>
              <a:rPr sz="1100" dirty="0">
                <a:latin typeface="Roboto"/>
                <a:cs typeface="Roboto"/>
              </a:rPr>
              <a:t>OTP</a:t>
            </a:r>
            <a:r>
              <a:rPr sz="1100" spc="-25" dirty="0">
                <a:latin typeface="Roboto"/>
                <a:cs typeface="Roboto"/>
              </a:rPr>
              <a:t> </a:t>
            </a:r>
            <a:r>
              <a:rPr sz="1100" dirty="0">
                <a:latin typeface="Roboto"/>
                <a:cs typeface="Roboto"/>
              </a:rPr>
              <a:t>text</a:t>
            </a:r>
            <a:r>
              <a:rPr sz="1100" spc="-28" dirty="0">
                <a:latin typeface="Roboto"/>
                <a:cs typeface="Roboto"/>
              </a:rPr>
              <a:t> </a:t>
            </a:r>
            <a:r>
              <a:rPr sz="1100" dirty="0">
                <a:latin typeface="Roboto"/>
                <a:cs typeface="Roboto"/>
              </a:rPr>
              <a:t>messages</a:t>
            </a:r>
            <a:r>
              <a:rPr sz="1100" spc="-25" dirty="0">
                <a:latin typeface="Roboto"/>
                <a:cs typeface="Roboto"/>
              </a:rPr>
              <a:t> </a:t>
            </a:r>
            <a:r>
              <a:rPr sz="1100" dirty="0">
                <a:latin typeface="Roboto"/>
                <a:cs typeface="Roboto"/>
              </a:rPr>
              <a:t>or</a:t>
            </a:r>
            <a:r>
              <a:rPr sz="1100" spc="-28" dirty="0">
                <a:latin typeface="Roboto"/>
                <a:cs typeface="Roboto"/>
              </a:rPr>
              <a:t> </a:t>
            </a:r>
            <a:r>
              <a:rPr sz="1100" dirty="0">
                <a:latin typeface="Roboto"/>
                <a:cs typeface="Roboto"/>
              </a:rPr>
              <a:t>promotion</a:t>
            </a:r>
            <a:r>
              <a:rPr sz="1100" spc="-25" dirty="0">
                <a:latin typeface="Roboto"/>
                <a:cs typeface="Roboto"/>
              </a:rPr>
              <a:t> </a:t>
            </a:r>
            <a:r>
              <a:rPr sz="1100" dirty="0">
                <a:latin typeface="Roboto"/>
                <a:cs typeface="Roboto"/>
              </a:rPr>
              <a:t>messages,</a:t>
            </a:r>
            <a:r>
              <a:rPr sz="1100" spc="-28" dirty="0">
                <a:latin typeface="Roboto"/>
                <a:cs typeface="Roboto"/>
              </a:rPr>
              <a:t> </a:t>
            </a:r>
            <a:r>
              <a:rPr sz="1100" dirty="0">
                <a:latin typeface="Roboto"/>
                <a:cs typeface="Roboto"/>
              </a:rPr>
              <a:t>android/ios</a:t>
            </a:r>
            <a:r>
              <a:rPr sz="1100" spc="-25" dirty="0">
                <a:latin typeface="Roboto"/>
                <a:cs typeface="Roboto"/>
              </a:rPr>
              <a:t> </a:t>
            </a:r>
            <a:r>
              <a:rPr sz="1100" dirty="0">
                <a:latin typeface="Roboto"/>
                <a:cs typeface="Roboto"/>
              </a:rPr>
              <a:t>push</a:t>
            </a:r>
            <a:r>
              <a:rPr sz="1100" spc="-28" dirty="0">
                <a:latin typeface="Roboto"/>
                <a:cs typeface="Roboto"/>
              </a:rPr>
              <a:t> </a:t>
            </a:r>
            <a:r>
              <a:rPr sz="1100" dirty="0">
                <a:latin typeface="Roboto"/>
                <a:cs typeface="Roboto"/>
              </a:rPr>
              <a:t>notifications,</a:t>
            </a:r>
            <a:r>
              <a:rPr sz="1100" spc="-25" dirty="0">
                <a:latin typeface="Roboto"/>
                <a:cs typeface="Roboto"/>
              </a:rPr>
              <a:t> </a:t>
            </a:r>
            <a:r>
              <a:rPr sz="1100" dirty="0">
                <a:latin typeface="Roboto"/>
                <a:cs typeface="Roboto"/>
              </a:rPr>
              <a:t>system</a:t>
            </a:r>
            <a:r>
              <a:rPr sz="1100" spc="-25" dirty="0">
                <a:latin typeface="Roboto"/>
                <a:cs typeface="Roboto"/>
              </a:rPr>
              <a:t> </a:t>
            </a:r>
            <a:r>
              <a:rPr sz="1100" dirty="0">
                <a:latin typeface="Roboto"/>
                <a:cs typeface="Roboto"/>
              </a:rPr>
              <a:t>to</a:t>
            </a:r>
            <a:r>
              <a:rPr sz="1100" spc="-28" dirty="0">
                <a:latin typeface="Roboto"/>
                <a:cs typeface="Roboto"/>
              </a:rPr>
              <a:t> </a:t>
            </a:r>
            <a:r>
              <a:rPr sz="1100" spc="-5" dirty="0">
                <a:latin typeface="Roboto"/>
                <a:cs typeface="Roboto"/>
              </a:rPr>
              <a:t>system </a:t>
            </a:r>
            <a:r>
              <a:rPr sz="1100" dirty="0">
                <a:latin typeface="Roboto"/>
                <a:cs typeface="Roboto"/>
              </a:rPr>
              <a:t>or</a:t>
            </a:r>
            <a:r>
              <a:rPr sz="1100" spc="-25" dirty="0">
                <a:latin typeface="Roboto"/>
                <a:cs typeface="Roboto"/>
              </a:rPr>
              <a:t> </a:t>
            </a:r>
            <a:r>
              <a:rPr sz="1100" dirty="0">
                <a:latin typeface="Roboto"/>
                <a:cs typeface="Roboto"/>
              </a:rPr>
              <a:t>service</a:t>
            </a:r>
            <a:r>
              <a:rPr sz="1100" spc="-23" dirty="0">
                <a:latin typeface="Roboto"/>
                <a:cs typeface="Roboto"/>
              </a:rPr>
              <a:t> </a:t>
            </a:r>
            <a:r>
              <a:rPr sz="1100" dirty="0">
                <a:latin typeface="Roboto"/>
                <a:cs typeface="Roboto"/>
              </a:rPr>
              <a:t>to</a:t>
            </a:r>
            <a:r>
              <a:rPr sz="1100" spc="-23" dirty="0">
                <a:latin typeface="Roboto"/>
                <a:cs typeface="Roboto"/>
              </a:rPr>
              <a:t> </a:t>
            </a:r>
            <a:r>
              <a:rPr sz="1100" dirty="0">
                <a:latin typeface="Roboto"/>
                <a:cs typeface="Roboto"/>
              </a:rPr>
              <a:t>service</a:t>
            </a:r>
            <a:r>
              <a:rPr sz="1100" spc="-23" dirty="0">
                <a:latin typeface="Roboto"/>
                <a:cs typeface="Roboto"/>
              </a:rPr>
              <a:t> </a:t>
            </a:r>
            <a:r>
              <a:rPr sz="1100" dirty="0">
                <a:latin typeface="Roboto"/>
                <a:cs typeface="Roboto"/>
              </a:rPr>
              <a:t>messaging</a:t>
            </a:r>
            <a:r>
              <a:rPr sz="1100" spc="-23" dirty="0">
                <a:latin typeface="Roboto"/>
                <a:cs typeface="Roboto"/>
              </a:rPr>
              <a:t> </a:t>
            </a:r>
            <a:r>
              <a:rPr sz="1100" spc="-13" dirty="0">
                <a:latin typeface="Roboto"/>
                <a:cs typeface="Roboto"/>
              </a:rPr>
              <a:t>via</a:t>
            </a:r>
            <a:r>
              <a:rPr sz="1100" dirty="0">
                <a:latin typeface="Roboto"/>
                <a:cs typeface="Roboto"/>
              </a:rPr>
              <a:t>	AWS</a:t>
            </a:r>
            <a:r>
              <a:rPr sz="1100" spc="-33" dirty="0">
                <a:latin typeface="Roboto"/>
                <a:cs typeface="Roboto"/>
              </a:rPr>
              <a:t> </a:t>
            </a:r>
            <a:r>
              <a:rPr sz="1100" dirty="0">
                <a:latin typeface="Roboto"/>
                <a:cs typeface="Roboto"/>
              </a:rPr>
              <a:t>Lambda,</a:t>
            </a:r>
            <a:r>
              <a:rPr sz="1100" spc="-30" dirty="0">
                <a:latin typeface="Roboto"/>
                <a:cs typeface="Roboto"/>
              </a:rPr>
              <a:t> </a:t>
            </a:r>
            <a:r>
              <a:rPr sz="1100" dirty="0">
                <a:latin typeface="Roboto"/>
                <a:cs typeface="Roboto"/>
              </a:rPr>
              <a:t>sending</a:t>
            </a:r>
            <a:r>
              <a:rPr sz="1100" spc="-30" dirty="0">
                <a:latin typeface="Roboto"/>
                <a:cs typeface="Roboto"/>
              </a:rPr>
              <a:t> </a:t>
            </a:r>
            <a:r>
              <a:rPr sz="1100" spc="-5" dirty="0">
                <a:latin typeface="Roboto"/>
                <a:cs typeface="Roboto"/>
              </a:rPr>
              <a:t>emails.</a:t>
            </a:r>
            <a:endParaRPr sz="1100">
              <a:latin typeface="Roboto"/>
              <a:cs typeface="Roboto"/>
            </a:endParaRPr>
          </a:p>
          <a:p>
            <a:pPr marL="1183958" marR="234950" indent="-770573">
              <a:lnSpc>
                <a:spcPct val="116500"/>
              </a:lnSpc>
              <a:spcBef>
                <a:spcPts val="530"/>
              </a:spcBef>
              <a:tabLst>
                <a:tab pos="1183958" algn="l"/>
              </a:tabLst>
            </a:pPr>
            <a:r>
              <a:rPr sz="1100" b="1" spc="-5" dirty="0">
                <a:latin typeface="Roboto"/>
                <a:cs typeface="Roboto"/>
              </a:rPr>
              <a:t>Monitoring</a:t>
            </a:r>
            <a:r>
              <a:rPr sz="1100" b="1" dirty="0">
                <a:latin typeface="Roboto"/>
                <a:cs typeface="Roboto"/>
              </a:rPr>
              <a:t>	</a:t>
            </a:r>
            <a:r>
              <a:rPr sz="1100" dirty="0">
                <a:latin typeface="Roboto"/>
                <a:cs typeface="Roboto"/>
              </a:rPr>
              <a:t>Message</a:t>
            </a:r>
            <a:r>
              <a:rPr sz="1100" spc="-25" dirty="0">
                <a:latin typeface="Roboto"/>
                <a:cs typeface="Roboto"/>
              </a:rPr>
              <a:t> </a:t>
            </a:r>
            <a:r>
              <a:rPr sz="1100" dirty="0">
                <a:latin typeface="Roboto"/>
                <a:cs typeface="Roboto"/>
              </a:rPr>
              <a:t>delivered</a:t>
            </a:r>
            <a:r>
              <a:rPr sz="1100" spc="-23" dirty="0">
                <a:latin typeface="Roboto"/>
                <a:cs typeface="Roboto"/>
              </a:rPr>
              <a:t> </a:t>
            </a:r>
            <a:r>
              <a:rPr sz="1100" dirty="0">
                <a:latin typeface="Roboto"/>
                <a:cs typeface="Roboto"/>
              </a:rPr>
              <a:t>can</a:t>
            </a:r>
            <a:r>
              <a:rPr sz="1100" spc="-25" dirty="0">
                <a:latin typeface="Roboto"/>
                <a:cs typeface="Roboto"/>
              </a:rPr>
              <a:t> </a:t>
            </a:r>
            <a:r>
              <a:rPr sz="1100" dirty="0">
                <a:latin typeface="Roboto"/>
                <a:cs typeface="Roboto"/>
              </a:rPr>
              <a:t>be</a:t>
            </a:r>
            <a:r>
              <a:rPr sz="1100" spc="-23" dirty="0">
                <a:latin typeface="Roboto"/>
                <a:cs typeface="Roboto"/>
              </a:rPr>
              <a:t> </a:t>
            </a:r>
            <a:r>
              <a:rPr sz="1100" dirty="0">
                <a:latin typeface="Roboto"/>
                <a:cs typeface="Roboto"/>
              </a:rPr>
              <a:t>tracked</a:t>
            </a:r>
            <a:r>
              <a:rPr sz="1100" spc="-23" dirty="0">
                <a:latin typeface="Roboto"/>
                <a:cs typeface="Roboto"/>
              </a:rPr>
              <a:t> </a:t>
            </a:r>
            <a:r>
              <a:rPr sz="1100" dirty="0">
                <a:latin typeface="Roboto"/>
                <a:cs typeface="Roboto"/>
              </a:rPr>
              <a:t>via</a:t>
            </a:r>
            <a:r>
              <a:rPr sz="1100" spc="-25" dirty="0">
                <a:latin typeface="Roboto"/>
                <a:cs typeface="Roboto"/>
              </a:rPr>
              <a:t> </a:t>
            </a:r>
            <a:r>
              <a:rPr sz="1100" dirty="0">
                <a:latin typeface="Roboto"/>
                <a:cs typeface="Roboto"/>
              </a:rPr>
              <a:t>AWS</a:t>
            </a:r>
            <a:r>
              <a:rPr sz="1100" spc="-23" dirty="0">
                <a:latin typeface="Roboto"/>
                <a:cs typeface="Roboto"/>
              </a:rPr>
              <a:t> </a:t>
            </a:r>
            <a:r>
              <a:rPr sz="1100" dirty="0">
                <a:latin typeface="Roboto"/>
                <a:cs typeface="Roboto"/>
              </a:rPr>
              <a:t>Cloudwatch</a:t>
            </a:r>
            <a:r>
              <a:rPr sz="1100" spc="-25" dirty="0">
                <a:latin typeface="Roboto"/>
                <a:cs typeface="Roboto"/>
              </a:rPr>
              <a:t> </a:t>
            </a:r>
            <a:r>
              <a:rPr sz="1100" dirty="0">
                <a:latin typeface="Roboto"/>
                <a:cs typeface="Roboto"/>
              </a:rPr>
              <a:t>logs</a:t>
            </a:r>
            <a:r>
              <a:rPr sz="1100" spc="-23" dirty="0">
                <a:latin typeface="Roboto"/>
                <a:cs typeface="Roboto"/>
              </a:rPr>
              <a:t> </a:t>
            </a:r>
            <a:r>
              <a:rPr sz="1100" dirty="0">
                <a:latin typeface="Roboto"/>
                <a:cs typeface="Roboto"/>
              </a:rPr>
              <a:t>for</a:t>
            </a:r>
            <a:r>
              <a:rPr sz="1100" spc="-23" dirty="0">
                <a:latin typeface="Roboto"/>
                <a:cs typeface="Roboto"/>
              </a:rPr>
              <a:t> </a:t>
            </a:r>
            <a:r>
              <a:rPr sz="1100" dirty="0">
                <a:latin typeface="Roboto"/>
                <a:cs typeface="Roboto"/>
              </a:rPr>
              <a:t>both</a:t>
            </a:r>
            <a:r>
              <a:rPr sz="1100" spc="-25" dirty="0">
                <a:latin typeface="Roboto"/>
                <a:cs typeface="Roboto"/>
              </a:rPr>
              <a:t> </a:t>
            </a:r>
            <a:r>
              <a:rPr sz="1100" dirty="0">
                <a:latin typeface="Roboto"/>
                <a:cs typeface="Roboto"/>
              </a:rPr>
              <a:t>failure</a:t>
            </a:r>
            <a:r>
              <a:rPr sz="1100" spc="-23" dirty="0">
                <a:latin typeface="Roboto"/>
                <a:cs typeface="Roboto"/>
              </a:rPr>
              <a:t> </a:t>
            </a:r>
            <a:r>
              <a:rPr sz="1100" dirty="0">
                <a:latin typeface="Roboto"/>
                <a:cs typeface="Roboto"/>
              </a:rPr>
              <a:t>and</a:t>
            </a:r>
            <a:r>
              <a:rPr sz="1100" spc="-25" dirty="0">
                <a:latin typeface="Roboto"/>
                <a:cs typeface="Roboto"/>
              </a:rPr>
              <a:t> </a:t>
            </a:r>
            <a:r>
              <a:rPr sz="1100" dirty="0">
                <a:latin typeface="Roboto"/>
                <a:cs typeface="Roboto"/>
              </a:rPr>
              <a:t>successful</a:t>
            </a:r>
            <a:r>
              <a:rPr sz="1100" spc="-23" dirty="0">
                <a:latin typeface="Roboto"/>
                <a:cs typeface="Roboto"/>
              </a:rPr>
              <a:t> </a:t>
            </a:r>
            <a:r>
              <a:rPr sz="1100" dirty="0">
                <a:latin typeface="Roboto"/>
                <a:cs typeface="Roboto"/>
              </a:rPr>
              <a:t>deliveries</a:t>
            </a:r>
            <a:r>
              <a:rPr sz="1100" spc="-23" dirty="0">
                <a:latin typeface="Roboto"/>
                <a:cs typeface="Roboto"/>
              </a:rPr>
              <a:t> </a:t>
            </a:r>
            <a:r>
              <a:rPr sz="1100" dirty="0">
                <a:latin typeface="Roboto"/>
                <a:cs typeface="Roboto"/>
              </a:rPr>
              <a:t>and</a:t>
            </a:r>
            <a:r>
              <a:rPr sz="1100" spc="-25" dirty="0">
                <a:latin typeface="Roboto"/>
                <a:cs typeface="Roboto"/>
              </a:rPr>
              <a:t> </a:t>
            </a:r>
            <a:r>
              <a:rPr sz="1100" dirty="0">
                <a:latin typeface="Roboto"/>
                <a:cs typeface="Roboto"/>
              </a:rPr>
              <a:t>easily</a:t>
            </a:r>
            <a:r>
              <a:rPr sz="1100" spc="-23" dirty="0">
                <a:latin typeface="Roboto"/>
                <a:cs typeface="Roboto"/>
              </a:rPr>
              <a:t> </a:t>
            </a:r>
            <a:r>
              <a:rPr sz="1100" spc="-5" dirty="0">
                <a:latin typeface="Roboto"/>
                <a:cs typeface="Roboto"/>
              </a:rPr>
              <a:t>search </a:t>
            </a:r>
            <a:r>
              <a:rPr sz="1100" dirty="0">
                <a:latin typeface="Roboto"/>
                <a:cs typeface="Roboto"/>
              </a:rPr>
              <a:t>able</a:t>
            </a:r>
            <a:r>
              <a:rPr sz="1100" spc="-25" dirty="0">
                <a:latin typeface="Roboto"/>
                <a:cs typeface="Roboto"/>
              </a:rPr>
              <a:t> </a:t>
            </a:r>
            <a:r>
              <a:rPr sz="1100" dirty="0">
                <a:latin typeface="Roboto"/>
                <a:cs typeface="Roboto"/>
              </a:rPr>
              <a:t>using</a:t>
            </a:r>
            <a:r>
              <a:rPr sz="1100" spc="-23" dirty="0">
                <a:latin typeface="Roboto"/>
                <a:cs typeface="Roboto"/>
              </a:rPr>
              <a:t> </a:t>
            </a:r>
            <a:r>
              <a:rPr sz="1100" dirty="0">
                <a:latin typeface="Roboto"/>
                <a:cs typeface="Roboto"/>
              </a:rPr>
              <a:t>AWS</a:t>
            </a:r>
            <a:r>
              <a:rPr sz="1100" spc="-25" dirty="0">
                <a:latin typeface="Roboto"/>
                <a:cs typeface="Roboto"/>
              </a:rPr>
              <a:t> </a:t>
            </a:r>
            <a:r>
              <a:rPr sz="1100" dirty="0">
                <a:latin typeface="Roboto"/>
                <a:cs typeface="Roboto"/>
              </a:rPr>
              <a:t>Cloudwatch</a:t>
            </a:r>
            <a:r>
              <a:rPr sz="1100" spc="-23" dirty="0">
                <a:latin typeface="Roboto"/>
                <a:cs typeface="Roboto"/>
              </a:rPr>
              <a:t> </a:t>
            </a:r>
            <a:r>
              <a:rPr sz="1100" dirty="0">
                <a:latin typeface="Roboto"/>
                <a:cs typeface="Roboto"/>
              </a:rPr>
              <a:t>log</a:t>
            </a:r>
            <a:r>
              <a:rPr sz="1100" spc="-23" dirty="0">
                <a:latin typeface="Roboto"/>
                <a:cs typeface="Roboto"/>
              </a:rPr>
              <a:t> </a:t>
            </a:r>
            <a:r>
              <a:rPr sz="1100" spc="-5" dirty="0">
                <a:latin typeface="Roboto"/>
                <a:cs typeface="Roboto"/>
              </a:rPr>
              <a:t>insights</a:t>
            </a:r>
            <a:endParaRPr sz="1100">
              <a:latin typeface="Roboto"/>
              <a:cs typeface="Roboto"/>
            </a:endParaRPr>
          </a:p>
          <a:p>
            <a:pPr marL="813118">
              <a:lnSpc>
                <a:spcPts val="1318"/>
              </a:lnSpc>
              <a:tabLst>
                <a:tab pos="1183958" algn="l"/>
              </a:tabLst>
            </a:pPr>
            <a:r>
              <a:rPr sz="1100" b="1" spc="-10" dirty="0">
                <a:latin typeface="Roboto"/>
                <a:cs typeface="Roboto"/>
              </a:rPr>
              <a:t>Cost</a:t>
            </a:r>
            <a:r>
              <a:rPr sz="1100" b="1" dirty="0">
                <a:latin typeface="Roboto"/>
                <a:cs typeface="Roboto"/>
              </a:rPr>
              <a:t>	</a:t>
            </a:r>
            <a:r>
              <a:rPr sz="1100" dirty="0">
                <a:latin typeface="Roboto"/>
                <a:cs typeface="Roboto"/>
              </a:rPr>
              <a:t>Cost</a:t>
            </a:r>
            <a:r>
              <a:rPr sz="1100" spc="-25" dirty="0">
                <a:latin typeface="Roboto"/>
                <a:cs typeface="Roboto"/>
              </a:rPr>
              <a:t> </a:t>
            </a:r>
            <a:r>
              <a:rPr sz="1100" dirty="0">
                <a:latin typeface="Roboto"/>
                <a:cs typeface="Roboto"/>
              </a:rPr>
              <a:t>is</a:t>
            </a:r>
            <a:r>
              <a:rPr sz="1100" spc="-25" dirty="0">
                <a:latin typeface="Roboto"/>
                <a:cs typeface="Roboto"/>
              </a:rPr>
              <a:t> </a:t>
            </a:r>
            <a:r>
              <a:rPr sz="1100" dirty="0">
                <a:latin typeface="Roboto"/>
                <a:cs typeface="Roboto"/>
              </a:rPr>
              <a:t>based</a:t>
            </a:r>
            <a:r>
              <a:rPr sz="1100" spc="-25" dirty="0">
                <a:latin typeface="Roboto"/>
                <a:cs typeface="Roboto"/>
              </a:rPr>
              <a:t> </a:t>
            </a:r>
            <a:r>
              <a:rPr sz="1100" dirty="0">
                <a:latin typeface="Roboto"/>
                <a:cs typeface="Roboto"/>
              </a:rPr>
              <a:t>on</a:t>
            </a:r>
            <a:r>
              <a:rPr sz="1100" spc="-23" dirty="0">
                <a:latin typeface="Roboto"/>
                <a:cs typeface="Roboto"/>
              </a:rPr>
              <a:t> </a:t>
            </a:r>
            <a:r>
              <a:rPr sz="1100" dirty="0">
                <a:latin typeface="Roboto"/>
                <a:cs typeface="Roboto"/>
              </a:rPr>
              <a:t>number</a:t>
            </a:r>
            <a:r>
              <a:rPr sz="1100" spc="-25" dirty="0">
                <a:latin typeface="Roboto"/>
                <a:cs typeface="Roboto"/>
              </a:rPr>
              <a:t> </a:t>
            </a:r>
            <a:r>
              <a:rPr sz="1100" dirty="0">
                <a:latin typeface="Roboto"/>
                <a:cs typeface="Roboto"/>
              </a:rPr>
              <a:t>of</a:t>
            </a:r>
            <a:r>
              <a:rPr sz="1100" spc="-25" dirty="0">
                <a:latin typeface="Roboto"/>
                <a:cs typeface="Roboto"/>
              </a:rPr>
              <a:t> </a:t>
            </a:r>
            <a:r>
              <a:rPr sz="1100" dirty="0">
                <a:latin typeface="Roboto"/>
                <a:cs typeface="Roboto"/>
              </a:rPr>
              <a:t>messages,</a:t>
            </a:r>
            <a:r>
              <a:rPr sz="1100" spc="-25" dirty="0">
                <a:latin typeface="Roboto"/>
                <a:cs typeface="Roboto"/>
              </a:rPr>
              <a:t> </a:t>
            </a:r>
            <a:r>
              <a:rPr sz="1100" dirty="0">
                <a:latin typeface="Roboto"/>
                <a:cs typeface="Roboto"/>
              </a:rPr>
              <a:t>notifications,</a:t>
            </a:r>
            <a:r>
              <a:rPr sz="1100" spc="-23" dirty="0">
                <a:latin typeface="Roboto"/>
                <a:cs typeface="Roboto"/>
              </a:rPr>
              <a:t> </a:t>
            </a:r>
            <a:r>
              <a:rPr sz="1100" dirty="0">
                <a:latin typeface="Roboto"/>
                <a:cs typeface="Roboto"/>
              </a:rPr>
              <a:t>SMS</a:t>
            </a:r>
            <a:r>
              <a:rPr sz="1100" spc="-25" dirty="0">
                <a:latin typeface="Roboto"/>
                <a:cs typeface="Roboto"/>
              </a:rPr>
              <a:t> </a:t>
            </a:r>
            <a:r>
              <a:rPr sz="1100" spc="-10" dirty="0">
                <a:latin typeface="Roboto"/>
                <a:cs typeface="Roboto"/>
              </a:rPr>
              <a:t>sent</a:t>
            </a:r>
            <a:endParaRPr sz="1100">
              <a:latin typeface="Roboto"/>
              <a:cs typeface="Roboto"/>
            </a:endParaRPr>
          </a:p>
          <a:p>
            <a:pPr>
              <a:spcBef>
                <a:spcPts val="535"/>
              </a:spcBef>
            </a:pPr>
            <a:endParaRPr sz="1100">
              <a:latin typeface="Roboto"/>
              <a:cs typeface="Roboto"/>
            </a:endParaRPr>
          </a:p>
          <a:p>
            <a:pPr marL="515303">
              <a:tabLst>
                <a:tab pos="897255" algn="l"/>
              </a:tabLst>
            </a:pPr>
            <a:r>
              <a:rPr sz="1100" b="1" spc="-10" dirty="0">
                <a:latin typeface="Roboto"/>
                <a:cs typeface="Roboto"/>
              </a:rPr>
              <a:t>Note</a:t>
            </a:r>
            <a:r>
              <a:rPr sz="1100" b="1" dirty="0">
                <a:latin typeface="Roboto"/>
                <a:cs typeface="Roboto"/>
              </a:rPr>
              <a:t>	</a:t>
            </a:r>
            <a:r>
              <a:rPr sz="1100" dirty="0">
                <a:latin typeface="Roboto"/>
                <a:cs typeface="Roboto"/>
              </a:rPr>
              <a:t>To</a:t>
            </a:r>
            <a:r>
              <a:rPr sz="1100" spc="-18" dirty="0">
                <a:latin typeface="Roboto"/>
                <a:cs typeface="Roboto"/>
              </a:rPr>
              <a:t> </a:t>
            </a:r>
            <a:r>
              <a:rPr sz="1100" dirty="0">
                <a:latin typeface="Roboto"/>
                <a:cs typeface="Roboto"/>
              </a:rPr>
              <a:t>send</a:t>
            </a:r>
            <a:r>
              <a:rPr sz="1100" spc="-18" dirty="0">
                <a:latin typeface="Roboto"/>
                <a:cs typeface="Roboto"/>
              </a:rPr>
              <a:t> </a:t>
            </a:r>
            <a:r>
              <a:rPr sz="1100" dirty="0">
                <a:latin typeface="Roboto"/>
                <a:cs typeface="Roboto"/>
              </a:rPr>
              <a:t>important</a:t>
            </a:r>
            <a:r>
              <a:rPr sz="1100" spc="-18" dirty="0">
                <a:latin typeface="Roboto"/>
                <a:cs typeface="Roboto"/>
              </a:rPr>
              <a:t> </a:t>
            </a:r>
            <a:r>
              <a:rPr sz="1100" dirty="0">
                <a:latin typeface="Roboto"/>
                <a:cs typeface="Roboto"/>
              </a:rPr>
              <a:t>SMS</a:t>
            </a:r>
            <a:r>
              <a:rPr sz="1100" spc="-15" dirty="0">
                <a:latin typeface="Roboto"/>
                <a:cs typeface="Roboto"/>
              </a:rPr>
              <a:t> </a:t>
            </a:r>
            <a:r>
              <a:rPr sz="1100" dirty="0">
                <a:latin typeface="Roboto"/>
                <a:cs typeface="Roboto"/>
              </a:rPr>
              <a:t>such</a:t>
            </a:r>
            <a:r>
              <a:rPr sz="1100" spc="-18" dirty="0">
                <a:latin typeface="Roboto"/>
                <a:cs typeface="Roboto"/>
              </a:rPr>
              <a:t> </a:t>
            </a:r>
            <a:r>
              <a:rPr sz="1100" dirty="0">
                <a:latin typeface="Roboto"/>
                <a:cs typeface="Roboto"/>
              </a:rPr>
              <a:t>as</a:t>
            </a:r>
            <a:r>
              <a:rPr sz="1100" spc="-18" dirty="0">
                <a:latin typeface="Roboto"/>
                <a:cs typeface="Roboto"/>
              </a:rPr>
              <a:t> </a:t>
            </a:r>
            <a:r>
              <a:rPr sz="1100" dirty="0">
                <a:latin typeface="Roboto"/>
                <a:cs typeface="Roboto"/>
              </a:rPr>
              <a:t>OTP</a:t>
            </a:r>
            <a:r>
              <a:rPr sz="1100" spc="-18" dirty="0">
                <a:latin typeface="Roboto"/>
                <a:cs typeface="Roboto"/>
              </a:rPr>
              <a:t> </a:t>
            </a:r>
            <a:r>
              <a:rPr sz="1100" dirty="0">
                <a:latin typeface="Roboto"/>
                <a:cs typeface="Roboto"/>
              </a:rPr>
              <a:t>you</a:t>
            </a:r>
            <a:r>
              <a:rPr sz="1100" spc="-15" dirty="0">
                <a:latin typeface="Roboto"/>
                <a:cs typeface="Roboto"/>
              </a:rPr>
              <a:t> </a:t>
            </a:r>
            <a:r>
              <a:rPr sz="1100" dirty="0">
                <a:latin typeface="Roboto"/>
                <a:cs typeface="Roboto"/>
              </a:rPr>
              <a:t>have</a:t>
            </a:r>
            <a:r>
              <a:rPr sz="1100" spc="-18" dirty="0">
                <a:latin typeface="Roboto"/>
                <a:cs typeface="Roboto"/>
              </a:rPr>
              <a:t> </a:t>
            </a:r>
            <a:r>
              <a:rPr sz="1100" dirty="0">
                <a:latin typeface="Roboto"/>
                <a:cs typeface="Roboto"/>
              </a:rPr>
              <a:t>to</a:t>
            </a:r>
            <a:r>
              <a:rPr sz="1100" spc="-18" dirty="0">
                <a:latin typeface="Roboto"/>
                <a:cs typeface="Roboto"/>
              </a:rPr>
              <a:t> </a:t>
            </a:r>
            <a:r>
              <a:rPr sz="1100" dirty="0">
                <a:latin typeface="Roboto"/>
                <a:cs typeface="Roboto"/>
              </a:rPr>
              <a:t>enable</a:t>
            </a:r>
            <a:r>
              <a:rPr sz="1100" spc="-18" dirty="0">
                <a:latin typeface="Roboto"/>
                <a:cs typeface="Roboto"/>
              </a:rPr>
              <a:t> </a:t>
            </a:r>
            <a:r>
              <a:rPr sz="1100" dirty="0">
                <a:latin typeface="Roboto"/>
                <a:cs typeface="Roboto"/>
              </a:rPr>
              <a:t>transaction</a:t>
            </a:r>
            <a:r>
              <a:rPr sz="1100" spc="-15" dirty="0">
                <a:latin typeface="Roboto"/>
                <a:cs typeface="Roboto"/>
              </a:rPr>
              <a:t> </a:t>
            </a:r>
            <a:r>
              <a:rPr sz="1100" dirty="0">
                <a:latin typeface="Roboto"/>
                <a:cs typeface="Roboto"/>
              </a:rPr>
              <a:t>mode</a:t>
            </a:r>
            <a:r>
              <a:rPr sz="1100" spc="-18" dirty="0">
                <a:latin typeface="Roboto"/>
                <a:cs typeface="Roboto"/>
              </a:rPr>
              <a:t> </a:t>
            </a:r>
            <a:r>
              <a:rPr sz="1100" dirty="0">
                <a:latin typeface="Roboto"/>
                <a:cs typeface="Roboto"/>
              </a:rPr>
              <a:t>with</a:t>
            </a:r>
            <a:r>
              <a:rPr sz="1100" spc="-18" dirty="0">
                <a:latin typeface="Roboto"/>
                <a:cs typeface="Roboto"/>
              </a:rPr>
              <a:t> </a:t>
            </a:r>
            <a:r>
              <a:rPr sz="1100" dirty="0">
                <a:latin typeface="Roboto"/>
                <a:cs typeface="Roboto"/>
              </a:rPr>
              <a:t>cost</a:t>
            </a:r>
            <a:r>
              <a:rPr sz="1100" spc="-18" dirty="0">
                <a:latin typeface="Roboto"/>
                <a:cs typeface="Roboto"/>
              </a:rPr>
              <a:t> </a:t>
            </a:r>
            <a:r>
              <a:rPr sz="1100" dirty="0">
                <a:latin typeface="Roboto"/>
                <a:cs typeface="Roboto"/>
              </a:rPr>
              <a:t>limit</a:t>
            </a:r>
            <a:r>
              <a:rPr sz="1100" spc="-15" dirty="0">
                <a:latin typeface="Roboto"/>
                <a:cs typeface="Roboto"/>
              </a:rPr>
              <a:t> </a:t>
            </a:r>
            <a:r>
              <a:rPr sz="1100" dirty="0">
                <a:latin typeface="Roboto"/>
                <a:cs typeface="Roboto"/>
              </a:rPr>
              <a:t>and</a:t>
            </a:r>
            <a:r>
              <a:rPr sz="1100" spc="-18" dirty="0">
                <a:latin typeface="Roboto"/>
                <a:cs typeface="Roboto"/>
              </a:rPr>
              <a:t> </a:t>
            </a:r>
            <a:r>
              <a:rPr sz="1100" dirty="0">
                <a:latin typeface="Roboto"/>
                <a:cs typeface="Roboto"/>
              </a:rPr>
              <a:t>have</a:t>
            </a:r>
            <a:r>
              <a:rPr sz="1100" spc="-18" dirty="0">
                <a:latin typeface="Roboto"/>
                <a:cs typeface="Roboto"/>
              </a:rPr>
              <a:t> </a:t>
            </a:r>
            <a:r>
              <a:rPr sz="1100" dirty="0">
                <a:latin typeface="Roboto"/>
                <a:cs typeface="Roboto"/>
              </a:rPr>
              <a:t>to</a:t>
            </a:r>
            <a:r>
              <a:rPr sz="1100" spc="-18" dirty="0">
                <a:latin typeface="Roboto"/>
                <a:cs typeface="Roboto"/>
              </a:rPr>
              <a:t> </a:t>
            </a:r>
            <a:r>
              <a:rPr sz="1100" dirty="0">
                <a:latin typeface="Roboto"/>
                <a:cs typeface="Roboto"/>
              </a:rPr>
              <a:t>apply</a:t>
            </a:r>
            <a:r>
              <a:rPr sz="1100" spc="-15" dirty="0">
                <a:latin typeface="Roboto"/>
                <a:cs typeface="Roboto"/>
              </a:rPr>
              <a:t> </a:t>
            </a:r>
            <a:r>
              <a:rPr sz="1100" dirty="0">
                <a:latin typeface="Roboto"/>
                <a:cs typeface="Roboto"/>
              </a:rPr>
              <a:t>via</a:t>
            </a:r>
            <a:r>
              <a:rPr sz="1100" spc="-18" dirty="0">
                <a:latin typeface="Roboto"/>
                <a:cs typeface="Roboto"/>
              </a:rPr>
              <a:t> </a:t>
            </a:r>
            <a:r>
              <a:rPr sz="1100" spc="-5" dirty="0">
                <a:latin typeface="Roboto"/>
                <a:cs typeface="Roboto"/>
              </a:rPr>
              <a:t>support</a:t>
            </a:r>
            <a:endParaRPr sz="1100">
              <a:latin typeface="Roboto"/>
              <a:cs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3"/>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Elasticsearch</a:t>
            </a:r>
            <a:endParaRPr/>
          </a:p>
        </p:txBody>
      </p:sp>
      <p:pic>
        <p:nvPicPr>
          <p:cNvPr id="231" name="Google Shape;231;p33" descr="Amazon Elasticsearch Service is a fully managed service that makes it easy for you to deploy, secure, and manage Elasticsearch at petabyte scale. Learn more at - https://amzn.to/2F0uvUp." title="Amazon Elasticsearch Service">
            <a:hlinkClick r:id="rId3"/>
          </p:cNvPr>
          <p:cNvPicPr preferRelativeResize="0"/>
          <p:nvPr/>
        </p:nvPicPr>
        <p:blipFill>
          <a:blip r:embed="rId4">
            <a:alphaModFix/>
          </a:blip>
          <a:stretch>
            <a:fillRect/>
          </a:stretch>
        </p:blipFill>
        <p:spPr>
          <a:xfrm>
            <a:off x="4572000" y="857250"/>
            <a:ext cx="4572000" cy="3429000"/>
          </a:xfrm>
          <a:prstGeom prst="rect">
            <a:avLst/>
          </a:prstGeom>
          <a:noFill/>
          <a:ln>
            <a:noFill/>
          </a:ln>
        </p:spPr>
      </p:pic>
      <p:pic>
        <p:nvPicPr>
          <p:cNvPr id="232" name="Google Shape;232;p33"/>
          <p:cNvPicPr preferRelativeResize="0"/>
          <p:nvPr/>
        </p:nvPicPr>
        <p:blipFill>
          <a:blip r:embed="rId5">
            <a:alphaModFix/>
          </a:blip>
          <a:stretch>
            <a:fillRect/>
          </a:stretch>
        </p:blipFill>
        <p:spPr>
          <a:xfrm>
            <a:off x="1143750" y="1965900"/>
            <a:ext cx="1467475" cy="1467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1"/>
                                        </p:tgtEl>
                                        <p:attrNameLst>
                                          <p:attrName>style.visibility</p:attrName>
                                        </p:attrNameLst>
                                      </p:cBhvr>
                                      <p:to>
                                        <p:strVal val="visible"/>
                                      </p:to>
                                    </p:set>
                                    <p:animEffect transition="in" filter="fade">
                                      <p:cBhvr>
                                        <p:cTn id="7" dur="1000"/>
                                        <p:tgtEl>
                                          <p:spTgt spid="2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4"/>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Serverless</a:t>
            </a:r>
            <a:endParaRPr/>
          </a:p>
        </p:txBody>
      </p:sp>
      <p:sp>
        <p:nvSpPr>
          <p:cNvPr id="238" name="Google Shape;238;p34"/>
          <p:cNvSpPr txBox="1">
            <a:spLocks noGrp="1"/>
          </p:cNvSpPr>
          <p:nvPr>
            <p:ph type="subTitle" idx="1"/>
          </p:nvPr>
        </p:nvSpPr>
        <p:spPr>
          <a:xfrm>
            <a:off x="724950" y="3161525"/>
            <a:ext cx="2882400" cy="1614600"/>
          </a:xfrm>
          <a:prstGeom prst="rect">
            <a:avLst/>
          </a:prstGeom>
        </p:spPr>
        <p:txBody>
          <a:bodyPr spcFirstLastPara="1" wrap="square" lIns="91425" tIns="91425" rIns="91425" bIns="91425" anchor="t" anchorCtr="0">
            <a:noAutofit/>
          </a:bodyPr>
          <a:lstStyle/>
          <a:p>
            <a:pPr marL="0" lvl="0" indent="0" algn="l" rtl="0">
              <a:lnSpc>
                <a:spcPct val="80000"/>
              </a:lnSpc>
              <a:spcBef>
                <a:spcPts val="0"/>
              </a:spcBef>
              <a:spcAft>
                <a:spcPts val="0"/>
              </a:spcAft>
              <a:buSzPts val="770"/>
              <a:buNone/>
            </a:pPr>
            <a:r>
              <a:rPr lang="en" sz="1420"/>
              <a:t>Serverless computing is a cloud computing execution model in </a:t>
            </a:r>
            <a:endParaRPr sz="1420"/>
          </a:p>
          <a:p>
            <a:pPr marL="0" lvl="0" indent="0" algn="l" rtl="0">
              <a:lnSpc>
                <a:spcPct val="80000"/>
              </a:lnSpc>
              <a:spcBef>
                <a:spcPts val="0"/>
              </a:spcBef>
              <a:spcAft>
                <a:spcPts val="0"/>
              </a:spcAft>
              <a:buSzPts val="770"/>
              <a:buNone/>
            </a:pPr>
            <a:r>
              <a:rPr lang="en" sz="1420"/>
              <a:t>which the cloud provider allocates machine resources on demand, taking care of the servers on behalf of their customers.</a:t>
            </a:r>
            <a:endParaRPr sz="1420"/>
          </a:p>
        </p:txBody>
      </p:sp>
      <p:pic>
        <p:nvPicPr>
          <p:cNvPr id="239" name="Google Shape;239;p34"/>
          <p:cNvPicPr preferRelativeResize="0"/>
          <p:nvPr/>
        </p:nvPicPr>
        <p:blipFill>
          <a:blip r:embed="rId3">
            <a:alphaModFix/>
          </a:blip>
          <a:stretch>
            <a:fillRect/>
          </a:stretch>
        </p:blipFill>
        <p:spPr>
          <a:xfrm>
            <a:off x="3607325" y="1102225"/>
            <a:ext cx="5536674" cy="29390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849" y="46982"/>
            <a:ext cx="7749285" cy="701890"/>
          </a:xfrm>
          <a:prstGeom prst="rect">
            <a:avLst/>
          </a:prstGeom>
        </p:spPr>
        <p:txBody>
          <a:bodyPr spcFirstLastPara="1" vert="horz" wrap="square" lIns="0" tIns="88042" rIns="0" bIns="0" rtlCol="0" anchor="t" anchorCtr="0">
            <a:spAutoFit/>
          </a:bodyPr>
          <a:lstStyle/>
          <a:p>
            <a:pPr marL="12700">
              <a:spcBef>
                <a:spcPts val="485"/>
              </a:spcBef>
            </a:pPr>
            <a:r>
              <a:rPr dirty="0"/>
              <a:t>Amazon</a:t>
            </a:r>
            <a:r>
              <a:rPr spc="-38" dirty="0"/>
              <a:t> </a:t>
            </a:r>
            <a:r>
              <a:rPr dirty="0"/>
              <a:t>Elastic</a:t>
            </a:r>
            <a:r>
              <a:rPr spc="-38" dirty="0"/>
              <a:t> </a:t>
            </a:r>
            <a:r>
              <a:rPr dirty="0"/>
              <a:t>Block</a:t>
            </a:r>
            <a:r>
              <a:rPr spc="-38" dirty="0"/>
              <a:t> </a:t>
            </a:r>
            <a:r>
              <a:rPr dirty="0"/>
              <a:t>Store</a:t>
            </a:r>
            <a:r>
              <a:rPr spc="-35" dirty="0"/>
              <a:t> </a:t>
            </a:r>
            <a:r>
              <a:rPr spc="-5" dirty="0"/>
              <a:t>(EBS)</a:t>
            </a:r>
          </a:p>
          <a:p>
            <a:pPr marL="12700">
              <a:spcBef>
                <a:spcPts val="155"/>
              </a:spcBef>
            </a:pPr>
            <a:r>
              <a:rPr sz="900" dirty="0"/>
              <a:t>Easy</a:t>
            </a:r>
            <a:r>
              <a:rPr sz="900" spc="-15" dirty="0"/>
              <a:t> </a:t>
            </a:r>
            <a:r>
              <a:rPr sz="900" dirty="0"/>
              <a:t>to</a:t>
            </a:r>
            <a:r>
              <a:rPr sz="900" spc="-15" dirty="0"/>
              <a:t> </a:t>
            </a:r>
            <a:r>
              <a:rPr sz="900" dirty="0"/>
              <a:t>use,</a:t>
            </a:r>
            <a:r>
              <a:rPr sz="900" spc="-13" dirty="0"/>
              <a:t> </a:t>
            </a:r>
            <a:r>
              <a:rPr sz="900" dirty="0"/>
              <a:t>high</a:t>
            </a:r>
            <a:r>
              <a:rPr sz="900" spc="-15" dirty="0"/>
              <a:t> </a:t>
            </a:r>
            <a:r>
              <a:rPr sz="900" dirty="0"/>
              <a:t>performance</a:t>
            </a:r>
            <a:r>
              <a:rPr sz="900" spc="-13" dirty="0"/>
              <a:t> </a:t>
            </a:r>
            <a:r>
              <a:rPr sz="900" dirty="0"/>
              <a:t>block</a:t>
            </a:r>
            <a:r>
              <a:rPr sz="900" spc="-15" dirty="0"/>
              <a:t> </a:t>
            </a:r>
            <a:r>
              <a:rPr sz="900" dirty="0"/>
              <a:t>storage</a:t>
            </a:r>
            <a:r>
              <a:rPr sz="900" spc="-13" dirty="0"/>
              <a:t> </a:t>
            </a:r>
            <a:r>
              <a:rPr sz="900" dirty="0"/>
              <a:t>at</a:t>
            </a:r>
            <a:r>
              <a:rPr sz="900" spc="-15" dirty="0"/>
              <a:t> </a:t>
            </a:r>
            <a:r>
              <a:rPr sz="900" dirty="0"/>
              <a:t>any</a:t>
            </a:r>
            <a:r>
              <a:rPr sz="900" spc="-15" dirty="0"/>
              <a:t> </a:t>
            </a:r>
            <a:r>
              <a:rPr sz="900" spc="-5" dirty="0"/>
              <a:t>scale</a:t>
            </a:r>
            <a:endParaRPr sz="900" dirty="0"/>
          </a:p>
        </p:txBody>
      </p:sp>
      <p:sp>
        <p:nvSpPr>
          <p:cNvPr id="3" name="object 3"/>
          <p:cNvSpPr txBox="1"/>
          <p:nvPr/>
        </p:nvSpPr>
        <p:spPr>
          <a:xfrm>
            <a:off x="8173736" y="56326"/>
            <a:ext cx="911860" cy="138499"/>
          </a:xfrm>
          <a:prstGeom prst="rect">
            <a:avLst/>
          </a:prstGeom>
        </p:spPr>
        <p:txBody>
          <a:bodyPr vert="horz" wrap="square" lIns="0" tIns="7620" rIns="0" bIns="0" rtlCol="0">
            <a:spAutoFit/>
          </a:bodyPr>
          <a:lstStyle/>
          <a:p>
            <a:pPr marL="6350">
              <a:spcBef>
                <a:spcPts val="60"/>
              </a:spcBef>
            </a:pPr>
            <a:r>
              <a:rPr sz="850" dirty="0">
                <a:solidFill>
                  <a:srgbClr val="13110E"/>
                </a:solidFill>
                <a:latin typeface="Open Sans Light"/>
                <a:cs typeface="Open Sans Light"/>
              </a:rPr>
              <a:t>Learn</a:t>
            </a:r>
            <a:r>
              <a:rPr sz="850" spc="15" dirty="0">
                <a:solidFill>
                  <a:srgbClr val="13110E"/>
                </a:solidFill>
                <a:latin typeface="Open Sans Light"/>
                <a:cs typeface="Open Sans Light"/>
              </a:rPr>
              <a:t> </a:t>
            </a:r>
            <a:r>
              <a:rPr sz="850" dirty="0">
                <a:solidFill>
                  <a:srgbClr val="13110E"/>
                </a:solidFill>
                <a:latin typeface="Open Sans Light"/>
                <a:cs typeface="Open Sans Light"/>
              </a:rPr>
              <a:t>With</a:t>
            </a:r>
            <a:r>
              <a:rPr sz="850" spc="15" dirty="0">
                <a:solidFill>
                  <a:srgbClr val="13110E"/>
                </a:solidFill>
                <a:latin typeface="Open Sans Light"/>
                <a:cs typeface="Open Sans Light"/>
              </a:rPr>
              <a:t> </a:t>
            </a:r>
            <a:r>
              <a:rPr sz="850" spc="-5" dirty="0">
                <a:solidFill>
                  <a:srgbClr val="13110E"/>
                </a:solidFill>
                <a:latin typeface="Open Sans Light"/>
                <a:cs typeface="Open Sans Light"/>
              </a:rPr>
              <a:t>Sandip</a:t>
            </a:r>
            <a:endParaRPr sz="850">
              <a:latin typeface="Open Sans Light"/>
              <a:cs typeface="Open Sans Light"/>
            </a:endParaRPr>
          </a:p>
        </p:txBody>
      </p:sp>
      <p:sp>
        <p:nvSpPr>
          <p:cNvPr id="4" name="object 4"/>
          <p:cNvSpPr txBox="1"/>
          <p:nvPr/>
        </p:nvSpPr>
        <p:spPr>
          <a:xfrm>
            <a:off x="288038" y="720467"/>
            <a:ext cx="8626475" cy="3213187"/>
          </a:xfrm>
          <a:prstGeom prst="rect">
            <a:avLst/>
          </a:prstGeom>
        </p:spPr>
        <p:txBody>
          <a:bodyPr vert="horz" wrap="square" lIns="0" tIns="6350" rIns="0" bIns="0" rtlCol="0">
            <a:spAutoFit/>
          </a:bodyPr>
          <a:lstStyle/>
          <a:p>
            <a:pPr marL="6350" marR="2540">
              <a:lnSpc>
                <a:spcPct val="114599"/>
              </a:lnSpc>
              <a:spcBef>
                <a:spcPts val="50"/>
              </a:spcBef>
            </a:pPr>
            <a:r>
              <a:rPr sz="1200" dirty="0">
                <a:latin typeface="Roboto"/>
                <a:cs typeface="Roboto"/>
              </a:rPr>
              <a:t>Amazon</a:t>
            </a:r>
            <a:r>
              <a:rPr sz="1200" spc="-23" dirty="0">
                <a:latin typeface="Roboto"/>
                <a:cs typeface="Roboto"/>
              </a:rPr>
              <a:t> </a:t>
            </a:r>
            <a:r>
              <a:rPr sz="1200" dirty="0">
                <a:latin typeface="Roboto"/>
                <a:cs typeface="Roboto"/>
              </a:rPr>
              <a:t>Elastic</a:t>
            </a:r>
            <a:r>
              <a:rPr sz="1200" spc="-23" dirty="0">
                <a:latin typeface="Roboto"/>
                <a:cs typeface="Roboto"/>
              </a:rPr>
              <a:t> </a:t>
            </a:r>
            <a:r>
              <a:rPr sz="1200" dirty="0">
                <a:latin typeface="Roboto"/>
                <a:cs typeface="Roboto"/>
              </a:rPr>
              <a:t>Block</a:t>
            </a:r>
            <a:r>
              <a:rPr sz="1200" spc="-23" dirty="0">
                <a:latin typeface="Roboto"/>
                <a:cs typeface="Roboto"/>
              </a:rPr>
              <a:t> </a:t>
            </a:r>
            <a:r>
              <a:rPr sz="1200" dirty="0">
                <a:latin typeface="Roboto"/>
                <a:cs typeface="Roboto"/>
              </a:rPr>
              <a:t>Store</a:t>
            </a:r>
            <a:r>
              <a:rPr sz="1200" spc="-23" dirty="0">
                <a:latin typeface="Roboto"/>
                <a:cs typeface="Roboto"/>
              </a:rPr>
              <a:t> </a:t>
            </a:r>
            <a:r>
              <a:rPr sz="1200" dirty="0">
                <a:latin typeface="Roboto"/>
                <a:cs typeface="Roboto"/>
              </a:rPr>
              <a:t>(EBS)</a:t>
            </a:r>
            <a:r>
              <a:rPr sz="1200" spc="-23" dirty="0">
                <a:latin typeface="Roboto"/>
                <a:cs typeface="Roboto"/>
              </a:rPr>
              <a:t> </a:t>
            </a:r>
            <a:r>
              <a:rPr sz="1200" dirty="0">
                <a:latin typeface="Roboto"/>
                <a:cs typeface="Roboto"/>
              </a:rPr>
              <a:t>is</a:t>
            </a:r>
            <a:r>
              <a:rPr sz="1200" spc="-23" dirty="0">
                <a:latin typeface="Roboto"/>
                <a:cs typeface="Roboto"/>
              </a:rPr>
              <a:t> </a:t>
            </a:r>
            <a:r>
              <a:rPr sz="1200" dirty="0">
                <a:latin typeface="Roboto"/>
                <a:cs typeface="Roboto"/>
              </a:rPr>
              <a:t>an</a:t>
            </a:r>
            <a:r>
              <a:rPr sz="1200" spc="-23" dirty="0">
                <a:latin typeface="Roboto"/>
                <a:cs typeface="Roboto"/>
              </a:rPr>
              <a:t> </a:t>
            </a:r>
            <a:r>
              <a:rPr sz="1200" spc="-10" dirty="0">
                <a:latin typeface="Roboto"/>
                <a:cs typeface="Roboto"/>
              </a:rPr>
              <a:t>easy-</a:t>
            </a:r>
            <a:r>
              <a:rPr sz="1200" spc="-5" dirty="0">
                <a:latin typeface="Roboto"/>
                <a:cs typeface="Roboto"/>
              </a:rPr>
              <a:t>to-</a:t>
            </a:r>
            <a:r>
              <a:rPr sz="1200" dirty="0">
                <a:latin typeface="Roboto"/>
                <a:cs typeface="Roboto"/>
              </a:rPr>
              <a:t>use,</a:t>
            </a:r>
            <a:r>
              <a:rPr sz="1200" spc="-23" dirty="0">
                <a:latin typeface="Roboto"/>
                <a:cs typeface="Roboto"/>
              </a:rPr>
              <a:t> </a:t>
            </a:r>
            <a:r>
              <a:rPr sz="1200" spc="-10" dirty="0">
                <a:latin typeface="Roboto"/>
                <a:cs typeface="Roboto"/>
              </a:rPr>
              <a:t>high-</a:t>
            </a:r>
            <a:r>
              <a:rPr sz="1200" dirty="0">
                <a:latin typeface="Roboto"/>
                <a:cs typeface="Roboto"/>
              </a:rPr>
              <a:t>performance,</a:t>
            </a:r>
            <a:r>
              <a:rPr sz="1200" spc="-23" dirty="0">
                <a:latin typeface="Roboto"/>
                <a:cs typeface="Roboto"/>
              </a:rPr>
              <a:t> </a:t>
            </a:r>
            <a:r>
              <a:rPr sz="1200" spc="-10" dirty="0">
                <a:latin typeface="Roboto"/>
                <a:cs typeface="Roboto"/>
              </a:rPr>
              <a:t>block-</a:t>
            </a:r>
            <a:r>
              <a:rPr sz="1200" dirty="0">
                <a:latin typeface="Roboto"/>
                <a:cs typeface="Roboto"/>
              </a:rPr>
              <a:t>storage</a:t>
            </a:r>
            <a:r>
              <a:rPr sz="1200" spc="-23" dirty="0">
                <a:latin typeface="Roboto"/>
                <a:cs typeface="Roboto"/>
              </a:rPr>
              <a:t> </a:t>
            </a:r>
            <a:r>
              <a:rPr sz="1200" dirty="0">
                <a:latin typeface="Roboto"/>
                <a:cs typeface="Roboto"/>
              </a:rPr>
              <a:t>service</a:t>
            </a:r>
            <a:r>
              <a:rPr sz="1200" spc="-23" dirty="0">
                <a:latin typeface="Roboto"/>
                <a:cs typeface="Roboto"/>
              </a:rPr>
              <a:t> </a:t>
            </a:r>
            <a:r>
              <a:rPr sz="1200" dirty="0">
                <a:latin typeface="Roboto"/>
                <a:cs typeface="Roboto"/>
              </a:rPr>
              <a:t>designed</a:t>
            </a:r>
            <a:r>
              <a:rPr sz="1200" spc="-23" dirty="0">
                <a:latin typeface="Roboto"/>
                <a:cs typeface="Roboto"/>
              </a:rPr>
              <a:t> </a:t>
            </a:r>
            <a:r>
              <a:rPr sz="1200" dirty="0">
                <a:latin typeface="Roboto"/>
                <a:cs typeface="Roboto"/>
              </a:rPr>
              <a:t>for</a:t>
            </a:r>
            <a:r>
              <a:rPr sz="1200" spc="-23" dirty="0">
                <a:latin typeface="Roboto"/>
                <a:cs typeface="Roboto"/>
              </a:rPr>
              <a:t> </a:t>
            </a:r>
            <a:r>
              <a:rPr sz="1200" dirty="0">
                <a:latin typeface="Roboto"/>
                <a:cs typeface="Roboto"/>
              </a:rPr>
              <a:t>use</a:t>
            </a:r>
            <a:r>
              <a:rPr sz="1200" spc="-23" dirty="0">
                <a:latin typeface="Roboto"/>
                <a:cs typeface="Roboto"/>
              </a:rPr>
              <a:t> </a:t>
            </a:r>
            <a:r>
              <a:rPr sz="1200" dirty="0">
                <a:latin typeface="Roboto"/>
                <a:cs typeface="Roboto"/>
              </a:rPr>
              <a:t>with</a:t>
            </a:r>
            <a:r>
              <a:rPr sz="1200" spc="-23" dirty="0">
                <a:latin typeface="Roboto"/>
                <a:cs typeface="Roboto"/>
              </a:rPr>
              <a:t> </a:t>
            </a:r>
            <a:r>
              <a:rPr sz="1200" spc="-5" dirty="0">
                <a:latin typeface="Roboto"/>
                <a:cs typeface="Roboto"/>
              </a:rPr>
              <a:t>Amazon </a:t>
            </a:r>
            <a:r>
              <a:rPr sz="1200" dirty="0">
                <a:latin typeface="Roboto"/>
                <a:cs typeface="Roboto"/>
              </a:rPr>
              <a:t>Elastic</a:t>
            </a:r>
            <a:r>
              <a:rPr sz="1200" spc="-25" dirty="0">
                <a:latin typeface="Roboto"/>
                <a:cs typeface="Roboto"/>
              </a:rPr>
              <a:t> </a:t>
            </a:r>
            <a:r>
              <a:rPr sz="1200" dirty="0">
                <a:latin typeface="Roboto"/>
                <a:cs typeface="Roboto"/>
              </a:rPr>
              <a:t>Compute</a:t>
            </a:r>
            <a:r>
              <a:rPr sz="1200" spc="-23" dirty="0">
                <a:latin typeface="Roboto"/>
                <a:cs typeface="Roboto"/>
              </a:rPr>
              <a:t> </a:t>
            </a:r>
            <a:r>
              <a:rPr sz="1200" dirty="0">
                <a:latin typeface="Roboto"/>
                <a:cs typeface="Roboto"/>
              </a:rPr>
              <a:t>Cloud</a:t>
            </a:r>
            <a:r>
              <a:rPr sz="1200" spc="-23" dirty="0">
                <a:latin typeface="Roboto"/>
                <a:cs typeface="Roboto"/>
              </a:rPr>
              <a:t> </a:t>
            </a:r>
            <a:r>
              <a:rPr sz="1200" dirty="0">
                <a:latin typeface="Roboto"/>
                <a:cs typeface="Roboto"/>
              </a:rPr>
              <a:t>(EC2)</a:t>
            </a:r>
            <a:r>
              <a:rPr sz="1200" spc="-25" dirty="0">
                <a:latin typeface="Roboto"/>
                <a:cs typeface="Roboto"/>
              </a:rPr>
              <a:t> </a:t>
            </a:r>
            <a:r>
              <a:rPr sz="1200" dirty="0">
                <a:latin typeface="Roboto"/>
                <a:cs typeface="Roboto"/>
              </a:rPr>
              <a:t>for</a:t>
            </a:r>
            <a:r>
              <a:rPr sz="1200" spc="-23" dirty="0">
                <a:latin typeface="Roboto"/>
                <a:cs typeface="Roboto"/>
              </a:rPr>
              <a:t> </a:t>
            </a:r>
            <a:r>
              <a:rPr sz="1200" dirty="0">
                <a:latin typeface="Roboto"/>
                <a:cs typeface="Roboto"/>
              </a:rPr>
              <a:t>both</a:t>
            </a:r>
            <a:r>
              <a:rPr sz="1200" spc="-23" dirty="0">
                <a:latin typeface="Roboto"/>
                <a:cs typeface="Roboto"/>
              </a:rPr>
              <a:t> </a:t>
            </a:r>
            <a:r>
              <a:rPr sz="1200" dirty="0">
                <a:latin typeface="Roboto"/>
                <a:cs typeface="Roboto"/>
              </a:rPr>
              <a:t>throughput</a:t>
            </a:r>
            <a:r>
              <a:rPr sz="1200" spc="-23" dirty="0">
                <a:latin typeface="Roboto"/>
                <a:cs typeface="Roboto"/>
              </a:rPr>
              <a:t> </a:t>
            </a:r>
            <a:r>
              <a:rPr sz="1200" dirty="0">
                <a:latin typeface="Roboto"/>
                <a:cs typeface="Roboto"/>
              </a:rPr>
              <a:t>and</a:t>
            </a:r>
            <a:r>
              <a:rPr sz="1200" spc="-25" dirty="0">
                <a:latin typeface="Roboto"/>
                <a:cs typeface="Roboto"/>
              </a:rPr>
              <a:t> </a:t>
            </a:r>
            <a:r>
              <a:rPr sz="1200" spc="-10" dirty="0">
                <a:latin typeface="Roboto"/>
                <a:cs typeface="Roboto"/>
              </a:rPr>
              <a:t>transaction-</a:t>
            </a:r>
            <a:r>
              <a:rPr sz="1200" dirty="0">
                <a:latin typeface="Roboto"/>
                <a:cs typeface="Roboto"/>
              </a:rPr>
              <a:t>intensive</a:t>
            </a:r>
            <a:r>
              <a:rPr sz="1200" spc="-23" dirty="0">
                <a:latin typeface="Roboto"/>
                <a:cs typeface="Roboto"/>
              </a:rPr>
              <a:t> </a:t>
            </a:r>
            <a:r>
              <a:rPr sz="1200" dirty="0">
                <a:latin typeface="Roboto"/>
                <a:cs typeface="Roboto"/>
              </a:rPr>
              <a:t>workloads</a:t>
            </a:r>
            <a:r>
              <a:rPr sz="1200" spc="-23" dirty="0">
                <a:latin typeface="Roboto"/>
                <a:cs typeface="Roboto"/>
              </a:rPr>
              <a:t> </a:t>
            </a:r>
            <a:r>
              <a:rPr sz="1200" dirty="0">
                <a:latin typeface="Roboto"/>
                <a:cs typeface="Roboto"/>
              </a:rPr>
              <a:t>at</a:t>
            </a:r>
            <a:r>
              <a:rPr sz="1200" spc="-23" dirty="0">
                <a:latin typeface="Roboto"/>
                <a:cs typeface="Roboto"/>
              </a:rPr>
              <a:t> </a:t>
            </a:r>
            <a:r>
              <a:rPr sz="1200" dirty="0">
                <a:latin typeface="Roboto"/>
                <a:cs typeface="Roboto"/>
              </a:rPr>
              <a:t>any</a:t>
            </a:r>
            <a:r>
              <a:rPr sz="1200" spc="-25" dirty="0">
                <a:latin typeface="Roboto"/>
                <a:cs typeface="Roboto"/>
              </a:rPr>
              <a:t> </a:t>
            </a:r>
            <a:r>
              <a:rPr sz="1200" dirty="0">
                <a:latin typeface="Roboto"/>
                <a:cs typeface="Roboto"/>
              </a:rPr>
              <a:t>scale.</a:t>
            </a:r>
            <a:r>
              <a:rPr sz="1200" spc="-23" dirty="0">
                <a:latin typeface="Roboto"/>
                <a:cs typeface="Roboto"/>
              </a:rPr>
              <a:t> </a:t>
            </a:r>
            <a:r>
              <a:rPr sz="1200" dirty="0">
                <a:latin typeface="Roboto"/>
                <a:cs typeface="Roboto"/>
              </a:rPr>
              <a:t>A</a:t>
            </a:r>
            <a:r>
              <a:rPr sz="1200" spc="-23" dirty="0">
                <a:latin typeface="Roboto"/>
                <a:cs typeface="Roboto"/>
              </a:rPr>
              <a:t> </a:t>
            </a:r>
            <a:r>
              <a:rPr sz="1200" dirty="0">
                <a:latin typeface="Roboto"/>
                <a:cs typeface="Roboto"/>
              </a:rPr>
              <a:t>broad</a:t>
            </a:r>
            <a:r>
              <a:rPr sz="1200" spc="-25" dirty="0">
                <a:latin typeface="Roboto"/>
                <a:cs typeface="Roboto"/>
              </a:rPr>
              <a:t> </a:t>
            </a:r>
            <a:r>
              <a:rPr sz="1200" dirty="0">
                <a:latin typeface="Roboto"/>
                <a:cs typeface="Roboto"/>
              </a:rPr>
              <a:t>range</a:t>
            </a:r>
            <a:r>
              <a:rPr sz="1200" spc="-23" dirty="0">
                <a:latin typeface="Roboto"/>
                <a:cs typeface="Roboto"/>
              </a:rPr>
              <a:t> </a:t>
            </a:r>
            <a:r>
              <a:rPr sz="1200" dirty="0">
                <a:latin typeface="Roboto"/>
                <a:cs typeface="Roboto"/>
              </a:rPr>
              <a:t>of</a:t>
            </a:r>
            <a:r>
              <a:rPr sz="1200" spc="-23" dirty="0">
                <a:latin typeface="Roboto"/>
                <a:cs typeface="Roboto"/>
              </a:rPr>
              <a:t> </a:t>
            </a:r>
            <a:r>
              <a:rPr sz="1200" spc="-5" dirty="0">
                <a:latin typeface="Roboto"/>
                <a:cs typeface="Roboto"/>
              </a:rPr>
              <a:t>workloads, </a:t>
            </a:r>
            <a:r>
              <a:rPr sz="1200" dirty="0">
                <a:latin typeface="Roboto"/>
                <a:cs typeface="Roboto"/>
              </a:rPr>
              <a:t>such</a:t>
            </a:r>
            <a:r>
              <a:rPr sz="1200" spc="-35" dirty="0">
                <a:latin typeface="Roboto"/>
                <a:cs typeface="Roboto"/>
              </a:rPr>
              <a:t> </a:t>
            </a:r>
            <a:r>
              <a:rPr sz="1200" dirty="0">
                <a:latin typeface="Roboto"/>
                <a:cs typeface="Roboto"/>
              </a:rPr>
              <a:t>as</a:t>
            </a:r>
            <a:r>
              <a:rPr sz="1200" spc="-33" dirty="0">
                <a:latin typeface="Roboto"/>
                <a:cs typeface="Roboto"/>
              </a:rPr>
              <a:t> </a:t>
            </a:r>
            <a:r>
              <a:rPr sz="1200" dirty="0">
                <a:latin typeface="Roboto"/>
                <a:cs typeface="Roboto"/>
              </a:rPr>
              <a:t>relational</a:t>
            </a:r>
            <a:r>
              <a:rPr sz="1200" spc="-35" dirty="0">
                <a:latin typeface="Roboto"/>
                <a:cs typeface="Roboto"/>
              </a:rPr>
              <a:t> </a:t>
            </a:r>
            <a:r>
              <a:rPr sz="1200" dirty="0">
                <a:latin typeface="Roboto"/>
                <a:cs typeface="Roboto"/>
              </a:rPr>
              <a:t>and</a:t>
            </a:r>
            <a:r>
              <a:rPr sz="1200" spc="-33" dirty="0">
                <a:latin typeface="Roboto"/>
                <a:cs typeface="Roboto"/>
              </a:rPr>
              <a:t> </a:t>
            </a:r>
            <a:r>
              <a:rPr sz="1200" spc="-10" dirty="0">
                <a:latin typeface="Roboto"/>
                <a:cs typeface="Roboto"/>
              </a:rPr>
              <a:t>non-</a:t>
            </a:r>
            <a:r>
              <a:rPr sz="1200" dirty="0">
                <a:latin typeface="Roboto"/>
                <a:cs typeface="Roboto"/>
              </a:rPr>
              <a:t>relational</a:t>
            </a:r>
            <a:r>
              <a:rPr sz="1200" spc="-33" dirty="0">
                <a:latin typeface="Roboto"/>
                <a:cs typeface="Roboto"/>
              </a:rPr>
              <a:t> </a:t>
            </a:r>
            <a:r>
              <a:rPr sz="1200" dirty="0">
                <a:latin typeface="Roboto"/>
                <a:cs typeface="Roboto"/>
              </a:rPr>
              <a:t>databases,</a:t>
            </a:r>
            <a:r>
              <a:rPr sz="1200" spc="-35" dirty="0">
                <a:latin typeface="Roboto"/>
                <a:cs typeface="Roboto"/>
              </a:rPr>
              <a:t> </a:t>
            </a:r>
            <a:r>
              <a:rPr sz="1200" dirty="0">
                <a:latin typeface="Roboto"/>
                <a:cs typeface="Roboto"/>
              </a:rPr>
              <a:t>enterprise</a:t>
            </a:r>
            <a:r>
              <a:rPr sz="1200" spc="-33" dirty="0">
                <a:latin typeface="Roboto"/>
                <a:cs typeface="Roboto"/>
              </a:rPr>
              <a:t> </a:t>
            </a:r>
            <a:r>
              <a:rPr sz="1200" dirty="0">
                <a:latin typeface="Roboto"/>
                <a:cs typeface="Roboto"/>
              </a:rPr>
              <a:t>applications,</a:t>
            </a:r>
            <a:r>
              <a:rPr sz="1200" spc="-33" dirty="0">
                <a:latin typeface="Roboto"/>
                <a:cs typeface="Roboto"/>
              </a:rPr>
              <a:t> </a:t>
            </a:r>
            <a:r>
              <a:rPr sz="1200" dirty="0">
                <a:latin typeface="Roboto"/>
                <a:cs typeface="Roboto"/>
              </a:rPr>
              <a:t>containerized</a:t>
            </a:r>
            <a:r>
              <a:rPr sz="1200" spc="-35" dirty="0">
                <a:latin typeface="Roboto"/>
                <a:cs typeface="Roboto"/>
              </a:rPr>
              <a:t> </a:t>
            </a:r>
            <a:r>
              <a:rPr sz="1200" dirty="0">
                <a:latin typeface="Roboto"/>
                <a:cs typeface="Roboto"/>
              </a:rPr>
              <a:t>applications,</a:t>
            </a:r>
            <a:r>
              <a:rPr sz="1200" spc="-33" dirty="0">
                <a:latin typeface="Roboto"/>
                <a:cs typeface="Roboto"/>
              </a:rPr>
              <a:t> </a:t>
            </a:r>
            <a:r>
              <a:rPr sz="1200" dirty="0">
                <a:latin typeface="Roboto"/>
                <a:cs typeface="Roboto"/>
              </a:rPr>
              <a:t>big</a:t>
            </a:r>
            <a:r>
              <a:rPr sz="1200" spc="-33" dirty="0">
                <a:latin typeface="Roboto"/>
                <a:cs typeface="Roboto"/>
              </a:rPr>
              <a:t> </a:t>
            </a:r>
            <a:r>
              <a:rPr sz="1200" dirty="0">
                <a:latin typeface="Roboto"/>
                <a:cs typeface="Roboto"/>
              </a:rPr>
              <a:t>data</a:t>
            </a:r>
            <a:r>
              <a:rPr sz="1200" spc="-35" dirty="0">
                <a:latin typeface="Roboto"/>
                <a:cs typeface="Roboto"/>
              </a:rPr>
              <a:t> </a:t>
            </a:r>
            <a:r>
              <a:rPr sz="1200" dirty="0">
                <a:latin typeface="Roboto"/>
                <a:cs typeface="Roboto"/>
              </a:rPr>
              <a:t>analytics</a:t>
            </a:r>
            <a:r>
              <a:rPr sz="1200" spc="-33" dirty="0">
                <a:latin typeface="Roboto"/>
                <a:cs typeface="Roboto"/>
              </a:rPr>
              <a:t> </a:t>
            </a:r>
            <a:r>
              <a:rPr sz="1200" spc="-5" dirty="0">
                <a:latin typeface="Roboto"/>
                <a:cs typeface="Roboto"/>
              </a:rPr>
              <a:t>engines,</a:t>
            </a:r>
            <a:endParaRPr sz="1200">
              <a:latin typeface="Roboto"/>
              <a:cs typeface="Roboto"/>
            </a:endParaRPr>
          </a:p>
          <a:p>
            <a:pPr marL="6350">
              <a:spcBef>
                <a:spcPts val="210"/>
              </a:spcBef>
            </a:pPr>
            <a:r>
              <a:rPr sz="1200" dirty="0">
                <a:latin typeface="Roboto"/>
                <a:cs typeface="Roboto"/>
              </a:rPr>
              <a:t>file</a:t>
            </a:r>
            <a:r>
              <a:rPr sz="1200" spc="-23" dirty="0">
                <a:latin typeface="Roboto"/>
                <a:cs typeface="Roboto"/>
              </a:rPr>
              <a:t> </a:t>
            </a:r>
            <a:r>
              <a:rPr sz="1200" dirty="0">
                <a:latin typeface="Roboto"/>
                <a:cs typeface="Roboto"/>
              </a:rPr>
              <a:t>systems,</a:t>
            </a:r>
            <a:r>
              <a:rPr sz="1200" spc="-23" dirty="0">
                <a:latin typeface="Roboto"/>
                <a:cs typeface="Roboto"/>
              </a:rPr>
              <a:t> </a:t>
            </a:r>
            <a:r>
              <a:rPr sz="1200" dirty="0">
                <a:latin typeface="Roboto"/>
                <a:cs typeface="Roboto"/>
              </a:rPr>
              <a:t>and</a:t>
            </a:r>
            <a:r>
              <a:rPr sz="1200" spc="-20" dirty="0">
                <a:latin typeface="Roboto"/>
                <a:cs typeface="Roboto"/>
              </a:rPr>
              <a:t> </a:t>
            </a:r>
            <a:r>
              <a:rPr sz="1200" dirty="0">
                <a:latin typeface="Roboto"/>
                <a:cs typeface="Roboto"/>
              </a:rPr>
              <a:t>media</a:t>
            </a:r>
            <a:r>
              <a:rPr sz="1200" spc="-23" dirty="0">
                <a:latin typeface="Roboto"/>
                <a:cs typeface="Roboto"/>
              </a:rPr>
              <a:t> </a:t>
            </a:r>
            <a:r>
              <a:rPr sz="1200" dirty="0">
                <a:latin typeface="Roboto"/>
                <a:cs typeface="Roboto"/>
              </a:rPr>
              <a:t>workflows</a:t>
            </a:r>
            <a:r>
              <a:rPr sz="1200" spc="-20" dirty="0">
                <a:latin typeface="Roboto"/>
                <a:cs typeface="Roboto"/>
              </a:rPr>
              <a:t> </a:t>
            </a:r>
            <a:r>
              <a:rPr sz="1200" dirty="0">
                <a:latin typeface="Roboto"/>
                <a:cs typeface="Roboto"/>
              </a:rPr>
              <a:t>are</a:t>
            </a:r>
            <a:r>
              <a:rPr sz="1200" spc="-23" dirty="0">
                <a:latin typeface="Roboto"/>
                <a:cs typeface="Roboto"/>
              </a:rPr>
              <a:t> </a:t>
            </a:r>
            <a:r>
              <a:rPr sz="1200" dirty="0">
                <a:latin typeface="Roboto"/>
                <a:cs typeface="Roboto"/>
              </a:rPr>
              <a:t>widely</a:t>
            </a:r>
            <a:r>
              <a:rPr sz="1200" spc="-23" dirty="0">
                <a:latin typeface="Roboto"/>
                <a:cs typeface="Roboto"/>
              </a:rPr>
              <a:t> </a:t>
            </a:r>
            <a:r>
              <a:rPr sz="1200" dirty="0">
                <a:latin typeface="Roboto"/>
                <a:cs typeface="Roboto"/>
              </a:rPr>
              <a:t>deployed</a:t>
            </a:r>
            <a:r>
              <a:rPr sz="1200" spc="-20" dirty="0">
                <a:latin typeface="Roboto"/>
                <a:cs typeface="Roboto"/>
              </a:rPr>
              <a:t> </a:t>
            </a:r>
            <a:r>
              <a:rPr sz="1200" dirty="0">
                <a:latin typeface="Roboto"/>
                <a:cs typeface="Roboto"/>
              </a:rPr>
              <a:t>on</a:t>
            </a:r>
            <a:r>
              <a:rPr sz="1200" spc="-23" dirty="0">
                <a:latin typeface="Roboto"/>
                <a:cs typeface="Roboto"/>
              </a:rPr>
              <a:t> </a:t>
            </a:r>
            <a:r>
              <a:rPr sz="1200" dirty="0">
                <a:latin typeface="Roboto"/>
                <a:cs typeface="Roboto"/>
              </a:rPr>
              <a:t>Amazon</a:t>
            </a:r>
            <a:r>
              <a:rPr sz="1200" spc="-20" dirty="0">
                <a:latin typeface="Roboto"/>
                <a:cs typeface="Roboto"/>
              </a:rPr>
              <a:t> </a:t>
            </a:r>
            <a:r>
              <a:rPr sz="1200" spc="-10" dirty="0">
                <a:latin typeface="Roboto"/>
                <a:cs typeface="Roboto"/>
              </a:rPr>
              <a:t>EBS.</a:t>
            </a:r>
            <a:endParaRPr sz="1200">
              <a:latin typeface="Roboto"/>
              <a:cs typeface="Roboto"/>
            </a:endParaRPr>
          </a:p>
          <a:p>
            <a:pPr marR="938530" algn="ctr">
              <a:spcBef>
                <a:spcPts val="905"/>
              </a:spcBef>
            </a:pPr>
            <a:r>
              <a:rPr sz="1450" b="1" dirty="0">
                <a:latin typeface="Open Sans Extrabold"/>
                <a:cs typeface="Open Sans Extrabold"/>
              </a:rPr>
              <a:t>Points</a:t>
            </a:r>
            <a:r>
              <a:rPr sz="1450" b="1" spc="-35" dirty="0">
                <a:latin typeface="Open Sans Extrabold"/>
                <a:cs typeface="Open Sans Extrabold"/>
              </a:rPr>
              <a:t> </a:t>
            </a:r>
            <a:r>
              <a:rPr sz="1450" b="1" dirty="0">
                <a:latin typeface="Open Sans Extrabold"/>
                <a:cs typeface="Open Sans Extrabold"/>
              </a:rPr>
              <a:t>to</a:t>
            </a:r>
            <a:r>
              <a:rPr sz="1450" b="1" spc="-35" dirty="0">
                <a:latin typeface="Open Sans Extrabold"/>
                <a:cs typeface="Open Sans Extrabold"/>
              </a:rPr>
              <a:t> </a:t>
            </a:r>
            <a:r>
              <a:rPr sz="1450" b="1" spc="-10" dirty="0">
                <a:latin typeface="Open Sans Extrabold"/>
                <a:cs typeface="Open Sans Extrabold"/>
              </a:rPr>
              <a:t>focus</a:t>
            </a:r>
            <a:endParaRPr sz="1450">
              <a:latin typeface="Open Sans Extrabold"/>
              <a:cs typeface="Open Sans Extrabold"/>
            </a:endParaRPr>
          </a:p>
          <a:p>
            <a:pPr marL="499110">
              <a:spcBef>
                <a:spcPts val="638"/>
              </a:spcBef>
              <a:tabLst>
                <a:tab pos="1048703" algn="l"/>
              </a:tabLst>
            </a:pPr>
            <a:r>
              <a:rPr sz="1200" b="1" spc="-5" dirty="0">
                <a:latin typeface="Roboto"/>
                <a:cs typeface="Roboto"/>
              </a:rPr>
              <a:t>Select</a:t>
            </a:r>
            <a:r>
              <a:rPr sz="1200" b="1" dirty="0">
                <a:latin typeface="Roboto"/>
                <a:cs typeface="Roboto"/>
              </a:rPr>
              <a:t>	</a:t>
            </a:r>
            <a:r>
              <a:rPr sz="1200" dirty="0">
                <a:latin typeface="Roboto"/>
                <a:cs typeface="Roboto"/>
              </a:rPr>
              <a:t>Select</a:t>
            </a:r>
            <a:r>
              <a:rPr sz="1200" spc="-28" dirty="0">
                <a:latin typeface="Roboto"/>
                <a:cs typeface="Roboto"/>
              </a:rPr>
              <a:t> </a:t>
            </a:r>
            <a:r>
              <a:rPr sz="1200" dirty="0">
                <a:latin typeface="Roboto"/>
                <a:cs typeface="Roboto"/>
              </a:rPr>
              <a:t>EBS</a:t>
            </a:r>
            <a:r>
              <a:rPr sz="1200" spc="-25" dirty="0">
                <a:latin typeface="Roboto"/>
                <a:cs typeface="Roboto"/>
              </a:rPr>
              <a:t> </a:t>
            </a:r>
            <a:r>
              <a:rPr sz="1200" dirty="0">
                <a:latin typeface="Roboto"/>
                <a:cs typeface="Roboto"/>
              </a:rPr>
              <a:t>Type</a:t>
            </a:r>
            <a:r>
              <a:rPr sz="1200" spc="-28" dirty="0">
                <a:latin typeface="Roboto"/>
                <a:cs typeface="Roboto"/>
              </a:rPr>
              <a:t> </a:t>
            </a:r>
            <a:r>
              <a:rPr sz="1200" dirty="0">
                <a:latin typeface="Roboto"/>
                <a:cs typeface="Roboto"/>
              </a:rPr>
              <a:t>based</a:t>
            </a:r>
            <a:r>
              <a:rPr sz="1200" spc="-25" dirty="0">
                <a:latin typeface="Roboto"/>
                <a:cs typeface="Roboto"/>
              </a:rPr>
              <a:t> </a:t>
            </a:r>
            <a:r>
              <a:rPr sz="1200" dirty="0">
                <a:latin typeface="Roboto"/>
                <a:cs typeface="Roboto"/>
              </a:rPr>
              <a:t>on</a:t>
            </a:r>
            <a:r>
              <a:rPr sz="1200" spc="-28" dirty="0">
                <a:latin typeface="Roboto"/>
                <a:cs typeface="Roboto"/>
              </a:rPr>
              <a:t> </a:t>
            </a:r>
            <a:r>
              <a:rPr sz="1200" dirty="0">
                <a:latin typeface="Roboto"/>
                <a:cs typeface="Roboto"/>
              </a:rPr>
              <a:t>the</a:t>
            </a:r>
            <a:r>
              <a:rPr sz="1200" spc="-25" dirty="0">
                <a:latin typeface="Roboto"/>
                <a:cs typeface="Roboto"/>
              </a:rPr>
              <a:t> </a:t>
            </a:r>
            <a:r>
              <a:rPr sz="1200" dirty="0">
                <a:latin typeface="Roboto"/>
                <a:cs typeface="Roboto"/>
              </a:rPr>
              <a:t>application</a:t>
            </a:r>
            <a:r>
              <a:rPr sz="1200" spc="-25" dirty="0">
                <a:latin typeface="Roboto"/>
                <a:cs typeface="Roboto"/>
              </a:rPr>
              <a:t> </a:t>
            </a:r>
            <a:r>
              <a:rPr sz="1200" dirty="0">
                <a:latin typeface="Roboto"/>
                <a:cs typeface="Roboto"/>
              </a:rPr>
              <a:t>need,</a:t>
            </a:r>
            <a:r>
              <a:rPr sz="1200" spc="-28" dirty="0">
                <a:latin typeface="Roboto"/>
                <a:cs typeface="Roboto"/>
              </a:rPr>
              <a:t> </a:t>
            </a:r>
            <a:r>
              <a:rPr sz="1200" dirty="0">
                <a:latin typeface="Roboto"/>
                <a:cs typeface="Roboto"/>
              </a:rPr>
              <a:t>there</a:t>
            </a:r>
            <a:r>
              <a:rPr sz="1200" spc="-25" dirty="0">
                <a:latin typeface="Roboto"/>
                <a:cs typeface="Roboto"/>
              </a:rPr>
              <a:t> </a:t>
            </a:r>
            <a:r>
              <a:rPr sz="1200" dirty="0">
                <a:latin typeface="Roboto"/>
                <a:cs typeface="Roboto"/>
              </a:rPr>
              <a:t>are</a:t>
            </a:r>
            <a:r>
              <a:rPr sz="1200" spc="-28" dirty="0">
                <a:latin typeface="Roboto"/>
                <a:cs typeface="Roboto"/>
              </a:rPr>
              <a:t> </a:t>
            </a:r>
            <a:r>
              <a:rPr sz="1200" dirty="0">
                <a:latin typeface="Roboto"/>
                <a:cs typeface="Roboto"/>
              </a:rPr>
              <a:t>multiple</a:t>
            </a:r>
            <a:r>
              <a:rPr sz="1200" spc="-25" dirty="0">
                <a:latin typeface="Roboto"/>
                <a:cs typeface="Roboto"/>
              </a:rPr>
              <a:t> </a:t>
            </a:r>
            <a:r>
              <a:rPr sz="1200" dirty="0">
                <a:latin typeface="Roboto"/>
                <a:cs typeface="Roboto"/>
              </a:rPr>
              <a:t>types</a:t>
            </a:r>
            <a:r>
              <a:rPr sz="1200" spc="-25" dirty="0">
                <a:latin typeface="Roboto"/>
                <a:cs typeface="Roboto"/>
              </a:rPr>
              <a:t> </a:t>
            </a:r>
            <a:r>
              <a:rPr sz="1200" dirty="0">
                <a:latin typeface="Roboto"/>
                <a:cs typeface="Roboto"/>
              </a:rPr>
              <a:t>of</a:t>
            </a:r>
            <a:r>
              <a:rPr sz="1200" spc="-28" dirty="0">
                <a:latin typeface="Roboto"/>
                <a:cs typeface="Roboto"/>
              </a:rPr>
              <a:t> </a:t>
            </a:r>
            <a:r>
              <a:rPr sz="1200" dirty="0">
                <a:latin typeface="Roboto"/>
                <a:cs typeface="Roboto"/>
              </a:rPr>
              <a:t>EBS</a:t>
            </a:r>
            <a:r>
              <a:rPr sz="1200" spc="-25" dirty="0">
                <a:latin typeface="Roboto"/>
                <a:cs typeface="Roboto"/>
              </a:rPr>
              <a:t> </a:t>
            </a:r>
            <a:r>
              <a:rPr sz="1200" dirty="0">
                <a:latin typeface="Roboto"/>
                <a:cs typeface="Roboto"/>
              </a:rPr>
              <a:t>volume</a:t>
            </a:r>
            <a:r>
              <a:rPr sz="1200" spc="-28" dirty="0">
                <a:latin typeface="Roboto"/>
                <a:cs typeface="Roboto"/>
              </a:rPr>
              <a:t> </a:t>
            </a:r>
            <a:r>
              <a:rPr sz="1200" dirty="0">
                <a:latin typeface="Roboto"/>
                <a:cs typeface="Roboto"/>
              </a:rPr>
              <a:t>available</a:t>
            </a:r>
            <a:r>
              <a:rPr sz="1200" spc="-25" dirty="0">
                <a:latin typeface="Roboto"/>
                <a:cs typeface="Roboto"/>
              </a:rPr>
              <a:t> </a:t>
            </a:r>
            <a:r>
              <a:rPr sz="1200" dirty="0">
                <a:latin typeface="Roboto"/>
                <a:cs typeface="Roboto"/>
              </a:rPr>
              <a:t>such</a:t>
            </a:r>
            <a:r>
              <a:rPr sz="1200" spc="-25" dirty="0">
                <a:latin typeface="Roboto"/>
                <a:cs typeface="Roboto"/>
              </a:rPr>
              <a:t> </a:t>
            </a:r>
            <a:r>
              <a:rPr sz="1200" spc="-13" dirty="0">
                <a:latin typeface="Roboto"/>
                <a:cs typeface="Roboto"/>
              </a:rPr>
              <a:t>as</a:t>
            </a:r>
            <a:endParaRPr sz="1200">
              <a:latin typeface="Roboto"/>
              <a:cs typeface="Roboto"/>
            </a:endParaRPr>
          </a:p>
          <a:p>
            <a:pPr marL="1048703" marR="158115" indent="-778510">
              <a:lnSpc>
                <a:spcPct val="114599"/>
              </a:lnSpc>
              <a:tabLst>
                <a:tab pos="1048703" algn="l"/>
              </a:tabLst>
            </a:pPr>
            <a:r>
              <a:rPr sz="1200" b="1" dirty="0">
                <a:latin typeface="Roboto"/>
                <a:cs typeface="Roboto"/>
              </a:rPr>
              <a:t>EBS</a:t>
            </a:r>
            <a:r>
              <a:rPr sz="1200" b="1" spc="-23" dirty="0">
                <a:latin typeface="Roboto"/>
                <a:cs typeface="Roboto"/>
              </a:rPr>
              <a:t> </a:t>
            </a:r>
            <a:r>
              <a:rPr sz="1200" b="1" spc="-5" dirty="0">
                <a:latin typeface="Roboto"/>
                <a:cs typeface="Roboto"/>
              </a:rPr>
              <a:t>Type:</a:t>
            </a:r>
            <a:r>
              <a:rPr sz="1200" b="1" dirty="0">
                <a:latin typeface="Roboto"/>
                <a:cs typeface="Roboto"/>
              </a:rPr>
              <a:t>	SSD</a:t>
            </a:r>
            <a:r>
              <a:rPr sz="1200" b="1" spc="-28" dirty="0">
                <a:latin typeface="Roboto"/>
                <a:cs typeface="Roboto"/>
              </a:rPr>
              <a:t> </a:t>
            </a:r>
            <a:r>
              <a:rPr sz="1200" b="1" dirty="0">
                <a:latin typeface="Roboto"/>
                <a:cs typeface="Roboto"/>
              </a:rPr>
              <a:t>Based</a:t>
            </a:r>
            <a:r>
              <a:rPr sz="1200" dirty="0">
                <a:latin typeface="Roboto"/>
                <a:cs typeface="Roboto"/>
              </a:rPr>
              <a:t>:</a:t>
            </a:r>
            <a:r>
              <a:rPr sz="1200" spc="-25" dirty="0">
                <a:latin typeface="Roboto"/>
                <a:cs typeface="Roboto"/>
              </a:rPr>
              <a:t> </a:t>
            </a:r>
            <a:r>
              <a:rPr sz="1200" dirty="0">
                <a:latin typeface="Roboto"/>
                <a:cs typeface="Roboto"/>
              </a:rPr>
              <a:t>gp2,</a:t>
            </a:r>
            <a:r>
              <a:rPr sz="1200" spc="-28" dirty="0">
                <a:latin typeface="Roboto"/>
                <a:cs typeface="Roboto"/>
              </a:rPr>
              <a:t> </a:t>
            </a:r>
            <a:r>
              <a:rPr sz="1200" dirty="0">
                <a:latin typeface="Roboto"/>
                <a:cs typeface="Roboto"/>
              </a:rPr>
              <a:t>gp3,</a:t>
            </a:r>
            <a:r>
              <a:rPr sz="1200" spc="-25" dirty="0">
                <a:latin typeface="Roboto"/>
                <a:cs typeface="Roboto"/>
              </a:rPr>
              <a:t> </a:t>
            </a:r>
            <a:r>
              <a:rPr sz="1200" dirty="0">
                <a:latin typeface="Roboto"/>
                <a:cs typeface="Roboto"/>
              </a:rPr>
              <a:t>io1,io2,</a:t>
            </a:r>
            <a:r>
              <a:rPr sz="1200" spc="-25" dirty="0">
                <a:latin typeface="Roboto"/>
                <a:cs typeface="Roboto"/>
              </a:rPr>
              <a:t> </a:t>
            </a:r>
            <a:r>
              <a:rPr sz="1200" dirty="0">
                <a:latin typeface="Roboto"/>
                <a:cs typeface="Roboto"/>
              </a:rPr>
              <a:t>io2</a:t>
            </a:r>
            <a:r>
              <a:rPr sz="1200" spc="-28" dirty="0">
                <a:latin typeface="Roboto"/>
                <a:cs typeface="Roboto"/>
              </a:rPr>
              <a:t> </a:t>
            </a:r>
            <a:r>
              <a:rPr sz="1200" dirty="0">
                <a:latin typeface="Roboto"/>
                <a:cs typeface="Roboto"/>
              </a:rPr>
              <a:t>Block</a:t>
            </a:r>
            <a:r>
              <a:rPr sz="1200" spc="-25" dirty="0">
                <a:latin typeface="Roboto"/>
                <a:cs typeface="Roboto"/>
              </a:rPr>
              <a:t> </a:t>
            </a:r>
            <a:r>
              <a:rPr sz="1200" dirty="0">
                <a:latin typeface="Roboto"/>
                <a:cs typeface="Roboto"/>
              </a:rPr>
              <a:t>Express.</a:t>
            </a:r>
            <a:r>
              <a:rPr sz="1200" spc="-25" dirty="0">
                <a:latin typeface="Roboto"/>
                <a:cs typeface="Roboto"/>
              </a:rPr>
              <a:t> </a:t>
            </a:r>
            <a:r>
              <a:rPr sz="1200" dirty="0">
                <a:latin typeface="Roboto"/>
                <a:cs typeface="Roboto"/>
              </a:rPr>
              <a:t>"1"</a:t>
            </a:r>
            <a:r>
              <a:rPr sz="1200" spc="-28" dirty="0">
                <a:latin typeface="Roboto"/>
                <a:cs typeface="Roboto"/>
              </a:rPr>
              <a:t> </a:t>
            </a:r>
            <a:r>
              <a:rPr sz="1200" dirty="0">
                <a:latin typeface="Roboto"/>
                <a:cs typeface="Roboto"/>
              </a:rPr>
              <a:t>category</a:t>
            </a:r>
            <a:r>
              <a:rPr sz="1200" spc="-25" dirty="0">
                <a:latin typeface="Roboto"/>
                <a:cs typeface="Roboto"/>
              </a:rPr>
              <a:t> </a:t>
            </a:r>
            <a:r>
              <a:rPr sz="1200" dirty="0">
                <a:latin typeface="Roboto"/>
                <a:cs typeface="Roboto"/>
              </a:rPr>
              <a:t>is</a:t>
            </a:r>
            <a:r>
              <a:rPr sz="1200" spc="-28" dirty="0">
                <a:latin typeface="Roboto"/>
                <a:cs typeface="Roboto"/>
              </a:rPr>
              <a:t> </a:t>
            </a:r>
            <a:r>
              <a:rPr sz="1200" dirty="0">
                <a:latin typeface="Roboto"/>
                <a:cs typeface="Roboto"/>
              </a:rPr>
              <a:t>the</a:t>
            </a:r>
            <a:r>
              <a:rPr sz="1200" spc="-25" dirty="0">
                <a:latin typeface="Roboto"/>
                <a:cs typeface="Roboto"/>
              </a:rPr>
              <a:t> </a:t>
            </a:r>
            <a:r>
              <a:rPr sz="1200" dirty="0">
                <a:latin typeface="Roboto"/>
                <a:cs typeface="Roboto"/>
              </a:rPr>
              <a:t>highest</a:t>
            </a:r>
            <a:r>
              <a:rPr sz="1200" spc="-25" dirty="0">
                <a:latin typeface="Roboto"/>
                <a:cs typeface="Roboto"/>
              </a:rPr>
              <a:t> </a:t>
            </a:r>
            <a:r>
              <a:rPr sz="1200" dirty="0">
                <a:latin typeface="Roboto"/>
                <a:cs typeface="Roboto"/>
              </a:rPr>
              <a:t>performance</a:t>
            </a:r>
            <a:r>
              <a:rPr sz="1200" spc="-28" dirty="0">
                <a:latin typeface="Roboto"/>
                <a:cs typeface="Roboto"/>
              </a:rPr>
              <a:t> </a:t>
            </a:r>
            <a:r>
              <a:rPr sz="1200" dirty="0">
                <a:latin typeface="Roboto"/>
                <a:cs typeface="Roboto"/>
              </a:rPr>
              <a:t>and</a:t>
            </a:r>
            <a:r>
              <a:rPr sz="1200" spc="-25" dirty="0">
                <a:latin typeface="Roboto"/>
                <a:cs typeface="Roboto"/>
              </a:rPr>
              <a:t> </a:t>
            </a:r>
            <a:r>
              <a:rPr sz="1200" dirty="0">
                <a:latin typeface="Roboto"/>
                <a:cs typeface="Roboto"/>
              </a:rPr>
              <a:t>the</a:t>
            </a:r>
            <a:r>
              <a:rPr sz="1200" spc="-25" dirty="0">
                <a:latin typeface="Roboto"/>
                <a:cs typeface="Roboto"/>
              </a:rPr>
              <a:t> </a:t>
            </a:r>
            <a:r>
              <a:rPr sz="1200" dirty="0">
                <a:latin typeface="Roboto"/>
                <a:cs typeface="Roboto"/>
              </a:rPr>
              <a:t>cost</a:t>
            </a:r>
            <a:r>
              <a:rPr sz="1200" spc="-28" dirty="0">
                <a:latin typeface="Roboto"/>
                <a:cs typeface="Roboto"/>
              </a:rPr>
              <a:t> </a:t>
            </a:r>
            <a:r>
              <a:rPr sz="1200" dirty="0">
                <a:latin typeface="Roboto"/>
                <a:cs typeface="Roboto"/>
              </a:rPr>
              <a:t>is</a:t>
            </a:r>
            <a:r>
              <a:rPr sz="1200" spc="-25" dirty="0">
                <a:latin typeface="Roboto"/>
                <a:cs typeface="Roboto"/>
              </a:rPr>
              <a:t> </a:t>
            </a:r>
            <a:r>
              <a:rPr sz="1200" spc="-5" dirty="0">
                <a:latin typeface="Roboto"/>
                <a:cs typeface="Roboto"/>
              </a:rPr>
              <a:t>higher </a:t>
            </a:r>
            <a:r>
              <a:rPr sz="1200" dirty="0">
                <a:latin typeface="Roboto"/>
                <a:cs typeface="Roboto"/>
              </a:rPr>
              <a:t>and</a:t>
            </a:r>
            <a:r>
              <a:rPr sz="1200" spc="-18" dirty="0">
                <a:latin typeface="Roboto"/>
                <a:cs typeface="Roboto"/>
              </a:rPr>
              <a:t> </a:t>
            </a:r>
            <a:r>
              <a:rPr sz="1200" dirty="0">
                <a:latin typeface="Roboto"/>
                <a:cs typeface="Roboto"/>
              </a:rPr>
              <a:t>"g"</a:t>
            </a:r>
            <a:r>
              <a:rPr sz="1200" spc="-15" dirty="0">
                <a:latin typeface="Roboto"/>
                <a:cs typeface="Roboto"/>
              </a:rPr>
              <a:t> </a:t>
            </a:r>
            <a:r>
              <a:rPr sz="1200" dirty="0">
                <a:latin typeface="Roboto"/>
                <a:cs typeface="Roboto"/>
              </a:rPr>
              <a:t>category</a:t>
            </a:r>
            <a:r>
              <a:rPr sz="1200" spc="-18" dirty="0">
                <a:latin typeface="Roboto"/>
                <a:cs typeface="Roboto"/>
              </a:rPr>
              <a:t> </a:t>
            </a:r>
            <a:r>
              <a:rPr sz="1200" dirty="0">
                <a:latin typeface="Roboto"/>
                <a:cs typeface="Roboto"/>
              </a:rPr>
              <a:t>is</a:t>
            </a:r>
            <a:r>
              <a:rPr sz="1200" spc="-15" dirty="0">
                <a:latin typeface="Roboto"/>
                <a:cs typeface="Roboto"/>
              </a:rPr>
              <a:t> </a:t>
            </a:r>
            <a:r>
              <a:rPr sz="1200" dirty="0">
                <a:latin typeface="Roboto"/>
                <a:cs typeface="Roboto"/>
              </a:rPr>
              <a:t>the</a:t>
            </a:r>
            <a:r>
              <a:rPr sz="1200" spc="-15" dirty="0">
                <a:latin typeface="Roboto"/>
                <a:cs typeface="Roboto"/>
              </a:rPr>
              <a:t> </a:t>
            </a:r>
            <a:r>
              <a:rPr sz="1200" spc="-10" dirty="0">
                <a:latin typeface="Roboto"/>
                <a:cs typeface="Roboto"/>
              </a:rPr>
              <a:t>general-</a:t>
            </a:r>
            <a:r>
              <a:rPr sz="1200" dirty="0">
                <a:latin typeface="Roboto"/>
                <a:cs typeface="Roboto"/>
              </a:rPr>
              <a:t>purpose</a:t>
            </a:r>
            <a:r>
              <a:rPr sz="1200" spc="-18" dirty="0">
                <a:latin typeface="Roboto"/>
                <a:cs typeface="Roboto"/>
              </a:rPr>
              <a:t> </a:t>
            </a:r>
            <a:r>
              <a:rPr sz="1200" dirty="0">
                <a:latin typeface="Roboto"/>
                <a:cs typeface="Roboto"/>
              </a:rPr>
              <a:t>and</a:t>
            </a:r>
            <a:r>
              <a:rPr sz="1200" spc="-15" dirty="0">
                <a:latin typeface="Roboto"/>
                <a:cs typeface="Roboto"/>
              </a:rPr>
              <a:t> </a:t>
            </a:r>
            <a:r>
              <a:rPr sz="1200" dirty="0">
                <a:latin typeface="Roboto"/>
                <a:cs typeface="Roboto"/>
              </a:rPr>
              <a:t>cost</a:t>
            </a:r>
            <a:r>
              <a:rPr sz="1200" spc="-15" dirty="0">
                <a:latin typeface="Roboto"/>
                <a:cs typeface="Roboto"/>
              </a:rPr>
              <a:t> </a:t>
            </a:r>
            <a:r>
              <a:rPr sz="1200" dirty="0">
                <a:latin typeface="Roboto"/>
                <a:cs typeface="Roboto"/>
              </a:rPr>
              <a:t>is</a:t>
            </a:r>
            <a:r>
              <a:rPr sz="1200" spc="-18" dirty="0">
                <a:latin typeface="Roboto"/>
                <a:cs typeface="Roboto"/>
              </a:rPr>
              <a:t> </a:t>
            </a:r>
            <a:r>
              <a:rPr sz="1200" dirty="0">
                <a:latin typeface="Roboto"/>
                <a:cs typeface="Roboto"/>
              </a:rPr>
              <a:t>relatively</a:t>
            </a:r>
            <a:r>
              <a:rPr sz="1200" spc="-15" dirty="0">
                <a:latin typeface="Roboto"/>
                <a:cs typeface="Roboto"/>
              </a:rPr>
              <a:t> </a:t>
            </a:r>
            <a:r>
              <a:rPr sz="1200" spc="-10" dirty="0">
                <a:latin typeface="Roboto"/>
                <a:cs typeface="Roboto"/>
              </a:rPr>
              <a:t>less</a:t>
            </a:r>
            <a:endParaRPr sz="1200">
              <a:latin typeface="Roboto"/>
              <a:cs typeface="Roboto"/>
            </a:endParaRPr>
          </a:p>
          <a:p>
            <a:pPr marL="1048703" marR="115888">
              <a:lnSpc>
                <a:spcPct val="114599"/>
              </a:lnSpc>
            </a:pPr>
            <a:r>
              <a:rPr sz="1200" b="1" dirty="0">
                <a:latin typeface="Roboto"/>
                <a:cs typeface="Roboto"/>
              </a:rPr>
              <a:t>HDD</a:t>
            </a:r>
            <a:r>
              <a:rPr sz="1200" b="1" spc="-43" dirty="0">
                <a:latin typeface="Roboto"/>
                <a:cs typeface="Roboto"/>
              </a:rPr>
              <a:t> </a:t>
            </a:r>
            <a:r>
              <a:rPr sz="1200" dirty="0">
                <a:latin typeface="Roboto"/>
                <a:cs typeface="Roboto"/>
              </a:rPr>
              <a:t>Based:</a:t>
            </a:r>
            <a:r>
              <a:rPr sz="1200" spc="-38" dirty="0">
                <a:latin typeface="Roboto"/>
                <a:cs typeface="Roboto"/>
              </a:rPr>
              <a:t> </a:t>
            </a:r>
            <a:r>
              <a:rPr sz="1200" dirty="0">
                <a:latin typeface="Roboto"/>
                <a:cs typeface="Roboto"/>
              </a:rPr>
              <a:t>st1,st2</a:t>
            </a:r>
            <a:r>
              <a:rPr sz="1200" spc="-38" dirty="0">
                <a:latin typeface="Roboto"/>
                <a:cs typeface="Roboto"/>
              </a:rPr>
              <a:t> </a:t>
            </a:r>
            <a:r>
              <a:rPr sz="1200" dirty="0">
                <a:latin typeface="Roboto"/>
                <a:cs typeface="Roboto"/>
              </a:rPr>
              <a:t>.</a:t>
            </a:r>
            <a:r>
              <a:rPr sz="1200" spc="-38" dirty="0">
                <a:latin typeface="Roboto"/>
                <a:cs typeface="Roboto"/>
              </a:rPr>
              <a:t> </a:t>
            </a:r>
            <a:r>
              <a:rPr sz="1200" dirty="0">
                <a:latin typeface="Roboto"/>
                <a:cs typeface="Roboto"/>
              </a:rPr>
              <a:t>Throughput</a:t>
            </a:r>
            <a:r>
              <a:rPr sz="1200" spc="-38" dirty="0">
                <a:latin typeface="Roboto"/>
                <a:cs typeface="Roboto"/>
              </a:rPr>
              <a:t> </a:t>
            </a:r>
            <a:r>
              <a:rPr sz="1200" dirty="0">
                <a:latin typeface="Roboto"/>
                <a:cs typeface="Roboto"/>
              </a:rPr>
              <a:t>Optimized</a:t>
            </a:r>
            <a:r>
              <a:rPr sz="1200" spc="-40" dirty="0">
                <a:latin typeface="Roboto"/>
                <a:cs typeface="Roboto"/>
              </a:rPr>
              <a:t> </a:t>
            </a:r>
            <a:r>
              <a:rPr sz="1200" dirty="0">
                <a:latin typeface="Roboto"/>
                <a:cs typeface="Roboto"/>
              </a:rPr>
              <a:t>HDD</a:t>
            </a:r>
            <a:r>
              <a:rPr sz="1200" spc="-38" dirty="0">
                <a:latin typeface="Roboto"/>
                <a:cs typeface="Roboto"/>
              </a:rPr>
              <a:t> </a:t>
            </a:r>
            <a:r>
              <a:rPr sz="1200" dirty="0">
                <a:latin typeface="Roboto"/>
                <a:cs typeface="Roboto"/>
              </a:rPr>
              <a:t>(st1)</a:t>
            </a:r>
            <a:r>
              <a:rPr sz="1200" spc="-38" dirty="0">
                <a:latin typeface="Roboto"/>
                <a:cs typeface="Roboto"/>
              </a:rPr>
              <a:t> </a:t>
            </a:r>
            <a:r>
              <a:rPr sz="1200" dirty="0">
                <a:latin typeface="Roboto"/>
                <a:cs typeface="Roboto"/>
              </a:rPr>
              <a:t>for</a:t>
            </a:r>
            <a:r>
              <a:rPr sz="1200" spc="-38" dirty="0">
                <a:latin typeface="Roboto"/>
                <a:cs typeface="Roboto"/>
              </a:rPr>
              <a:t> </a:t>
            </a:r>
            <a:r>
              <a:rPr sz="1200" dirty="0">
                <a:latin typeface="Roboto"/>
                <a:cs typeface="Roboto"/>
              </a:rPr>
              <a:t>frequently</a:t>
            </a:r>
            <a:r>
              <a:rPr sz="1200" spc="-40" dirty="0">
                <a:latin typeface="Roboto"/>
                <a:cs typeface="Roboto"/>
              </a:rPr>
              <a:t> </a:t>
            </a:r>
            <a:r>
              <a:rPr sz="1200" dirty="0">
                <a:latin typeface="Roboto"/>
                <a:cs typeface="Roboto"/>
              </a:rPr>
              <a:t>accessed,</a:t>
            </a:r>
            <a:r>
              <a:rPr sz="1200" spc="-38" dirty="0">
                <a:latin typeface="Roboto"/>
                <a:cs typeface="Roboto"/>
              </a:rPr>
              <a:t> </a:t>
            </a:r>
            <a:r>
              <a:rPr sz="1200" dirty="0">
                <a:latin typeface="Roboto"/>
                <a:cs typeface="Roboto"/>
              </a:rPr>
              <a:t>throughput</a:t>
            </a:r>
            <a:r>
              <a:rPr sz="1200" spc="-38" dirty="0">
                <a:latin typeface="Roboto"/>
                <a:cs typeface="Roboto"/>
              </a:rPr>
              <a:t> </a:t>
            </a:r>
            <a:r>
              <a:rPr sz="1200" dirty="0">
                <a:latin typeface="Roboto"/>
                <a:cs typeface="Roboto"/>
              </a:rPr>
              <a:t>intensive</a:t>
            </a:r>
            <a:r>
              <a:rPr sz="1200" spc="-38" dirty="0">
                <a:latin typeface="Roboto"/>
                <a:cs typeface="Roboto"/>
              </a:rPr>
              <a:t> </a:t>
            </a:r>
            <a:r>
              <a:rPr sz="1200" spc="-5" dirty="0">
                <a:latin typeface="Roboto"/>
                <a:cs typeface="Roboto"/>
              </a:rPr>
              <a:t>workloads </a:t>
            </a:r>
            <a:r>
              <a:rPr sz="1200" dirty="0">
                <a:latin typeface="Roboto"/>
                <a:cs typeface="Roboto"/>
              </a:rPr>
              <a:t>and</a:t>
            </a:r>
            <a:r>
              <a:rPr sz="1200" spc="-28" dirty="0">
                <a:latin typeface="Roboto"/>
                <a:cs typeface="Roboto"/>
              </a:rPr>
              <a:t> </a:t>
            </a:r>
            <a:r>
              <a:rPr sz="1200" dirty="0">
                <a:latin typeface="Roboto"/>
                <a:cs typeface="Roboto"/>
              </a:rPr>
              <a:t>the</a:t>
            </a:r>
            <a:r>
              <a:rPr sz="1200" spc="-28" dirty="0">
                <a:latin typeface="Roboto"/>
                <a:cs typeface="Roboto"/>
              </a:rPr>
              <a:t> </a:t>
            </a:r>
            <a:r>
              <a:rPr sz="1200" dirty="0">
                <a:latin typeface="Roboto"/>
                <a:cs typeface="Roboto"/>
              </a:rPr>
              <a:t>lowest</a:t>
            </a:r>
            <a:r>
              <a:rPr sz="1200" spc="-25" dirty="0">
                <a:latin typeface="Roboto"/>
                <a:cs typeface="Roboto"/>
              </a:rPr>
              <a:t> </a:t>
            </a:r>
            <a:r>
              <a:rPr sz="1200" dirty="0">
                <a:latin typeface="Roboto"/>
                <a:cs typeface="Roboto"/>
              </a:rPr>
              <a:t>cost</a:t>
            </a:r>
            <a:r>
              <a:rPr sz="1200" spc="-28" dirty="0">
                <a:latin typeface="Roboto"/>
                <a:cs typeface="Roboto"/>
              </a:rPr>
              <a:t> </a:t>
            </a:r>
            <a:r>
              <a:rPr sz="1200" dirty="0">
                <a:latin typeface="Roboto"/>
                <a:cs typeface="Roboto"/>
              </a:rPr>
              <a:t>Cold</a:t>
            </a:r>
            <a:r>
              <a:rPr sz="1200" spc="-28" dirty="0">
                <a:latin typeface="Roboto"/>
                <a:cs typeface="Roboto"/>
              </a:rPr>
              <a:t> </a:t>
            </a:r>
            <a:r>
              <a:rPr sz="1200" dirty="0">
                <a:latin typeface="Roboto"/>
                <a:cs typeface="Roboto"/>
              </a:rPr>
              <a:t>HDD</a:t>
            </a:r>
            <a:r>
              <a:rPr sz="1200" spc="-25" dirty="0">
                <a:latin typeface="Roboto"/>
                <a:cs typeface="Roboto"/>
              </a:rPr>
              <a:t> </a:t>
            </a:r>
            <a:r>
              <a:rPr sz="1200" dirty="0">
                <a:latin typeface="Roboto"/>
                <a:cs typeface="Roboto"/>
              </a:rPr>
              <a:t>(sc1)</a:t>
            </a:r>
            <a:r>
              <a:rPr sz="1200" spc="-28" dirty="0">
                <a:latin typeface="Roboto"/>
                <a:cs typeface="Roboto"/>
              </a:rPr>
              <a:t> </a:t>
            </a:r>
            <a:r>
              <a:rPr sz="1200" dirty="0">
                <a:latin typeface="Roboto"/>
                <a:cs typeface="Roboto"/>
              </a:rPr>
              <a:t>for</a:t>
            </a:r>
            <a:r>
              <a:rPr sz="1200" spc="-28" dirty="0">
                <a:latin typeface="Roboto"/>
                <a:cs typeface="Roboto"/>
              </a:rPr>
              <a:t> </a:t>
            </a:r>
            <a:r>
              <a:rPr sz="1200" dirty="0">
                <a:latin typeface="Roboto"/>
                <a:cs typeface="Roboto"/>
              </a:rPr>
              <a:t>less</a:t>
            </a:r>
            <a:r>
              <a:rPr sz="1200" spc="-25" dirty="0">
                <a:latin typeface="Roboto"/>
                <a:cs typeface="Roboto"/>
              </a:rPr>
              <a:t> </a:t>
            </a:r>
            <a:r>
              <a:rPr sz="1200" dirty="0">
                <a:latin typeface="Roboto"/>
                <a:cs typeface="Roboto"/>
              </a:rPr>
              <a:t>frequently</a:t>
            </a:r>
            <a:r>
              <a:rPr sz="1200" spc="-28" dirty="0">
                <a:latin typeface="Roboto"/>
                <a:cs typeface="Roboto"/>
              </a:rPr>
              <a:t> </a:t>
            </a:r>
            <a:r>
              <a:rPr sz="1200" dirty="0">
                <a:latin typeface="Roboto"/>
                <a:cs typeface="Roboto"/>
              </a:rPr>
              <a:t>accessed</a:t>
            </a:r>
            <a:r>
              <a:rPr sz="1200" spc="-28" dirty="0">
                <a:latin typeface="Roboto"/>
                <a:cs typeface="Roboto"/>
              </a:rPr>
              <a:t> </a:t>
            </a:r>
            <a:r>
              <a:rPr sz="1200" spc="-5" dirty="0">
                <a:latin typeface="Roboto"/>
                <a:cs typeface="Roboto"/>
              </a:rPr>
              <a:t>data.</a:t>
            </a:r>
            <a:endParaRPr sz="1200">
              <a:latin typeface="Roboto"/>
              <a:cs typeface="Roboto"/>
            </a:endParaRPr>
          </a:p>
          <a:p>
            <a:pPr marL="131763">
              <a:spcBef>
                <a:spcPts val="795"/>
              </a:spcBef>
              <a:tabLst>
                <a:tab pos="1048703" algn="l"/>
              </a:tabLst>
            </a:pPr>
            <a:r>
              <a:rPr sz="1200" b="1" spc="-5" dirty="0">
                <a:latin typeface="Roboto"/>
                <a:cs typeface="Roboto"/>
              </a:rPr>
              <a:t>Ternimation</a:t>
            </a:r>
            <a:r>
              <a:rPr sz="1200" b="1" dirty="0">
                <a:latin typeface="Roboto"/>
                <a:cs typeface="Roboto"/>
              </a:rPr>
              <a:t>	</a:t>
            </a:r>
            <a:r>
              <a:rPr sz="1200" dirty="0">
                <a:latin typeface="Roboto"/>
                <a:cs typeface="Roboto"/>
              </a:rPr>
              <a:t>By</a:t>
            </a:r>
            <a:r>
              <a:rPr sz="1200" spc="-33" dirty="0">
                <a:latin typeface="Roboto"/>
                <a:cs typeface="Roboto"/>
              </a:rPr>
              <a:t> </a:t>
            </a:r>
            <a:r>
              <a:rPr sz="1200" dirty="0">
                <a:latin typeface="Roboto"/>
                <a:cs typeface="Roboto"/>
              </a:rPr>
              <a:t>default</a:t>
            </a:r>
            <a:r>
              <a:rPr sz="1200" spc="-30" dirty="0">
                <a:latin typeface="Roboto"/>
                <a:cs typeface="Roboto"/>
              </a:rPr>
              <a:t> </a:t>
            </a:r>
            <a:r>
              <a:rPr sz="1200" dirty="0">
                <a:latin typeface="Roboto"/>
                <a:cs typeface="Roboto"/>
              </a:rPr>
              <a:t>termination</a:t>
            </a:r>
            <a:r>
              <a:rPr sz="1200" spc="-30" dirty="0">
                <a:latin typeface="Roboto"/>
                <a:cs typeface="Roboto"/>
              </a:rPr>
              <a:t> </a:t>
            </a:r>
            <a:r>
              <a:rPr sz="1200" dirty="0">
                <a:latin typeface="Roboto"/>
                <a:cs typeface="Roboto"/>
              </a:rPr>
              <a:t>protection</a:t>
            </a:r>
            <a:r>
              <a:rPr sz="1200" spc="-33" dirty="0">
                <a:latin typeface="Roboto"/>
                <a:cs typeface="Roboto"/>
              </a:rPr>
              <a:t> </a:t>
            </a:r>
            <a:r>
              <a:rPr sz="1200" dirty="0">
                <a:latin typeface="Roboto"/>
                <a:cs typeface="Roboto"/>
              </a:rPr>
              <a:t>is</a:t>
            </a:r>
            <a:r>
              <a:rPr sz="1200" spc="-30" dirty="0">
                <a:latin typeface="Roboto"/>
                <a:cs typeface="Roboto"/>
              </a:rPr>
              <a:t> </a:t>
            </a:r>
            <a:r>
              <a:rPr sz="1200" dirty="0">
                <a:latin typeface="Roboto"/>
                <a:cs typeface="Roboto"/>
              </a:rPr>
              <a:t>turned</a:t>
            </a:r>
            <a:r>
              <a:rPr sz="1200" spc="-30" dirty="0">
                <a:latin typeface="Roboto"/>
                <a:cs typeface="Roboto"/>
              </a:rPr>
              <a:t> </a:t>
            </a:r>
            <a:r>
              <a:rPr sz="1200" dirty="0">
                <a:latin typeface="Roboto"/>
                <a:cs typeface="Roboto"/>
              </a:rPr>
              <a:t>off,</a:t>
            </a:r>
            <a:r>
              <a:rPr sz="1200" spc="-30" dirty="0">
                <a:latin typeface="Roboto"/>
                <a:cs typeface="Roboto"/>
              </a:rPr>
              <a:t> </a:t>
            </a:r>
            <a:r>
              <a:rPr sz="1200" dirty="0">
                <a:latin typeface="Roboto"/>
                <a:cs typeface="Roboto"/>
              </a:rPr>
              <a:t>so</a:t>
            </a:r>
            <a:r>
              <a:rPr sz="1200" spc="-33" dirty="0">
                <a:latin typeface="Roboto"/>
                <a:cs typeface="Roboto"/>
              </a:rPr>
              <a:t> </a:t>
            </a:r>
            <a:r>
              <a:rPr sz="1200" dirty="0">
                <a:latin typeface="Roboto"/>
                <a:cs typeface="Roboto"/>
              </a:rPr>
              <a:t>if</a:t>
            </a:r>
            <a:r>
              <a:rPr sz="1200" spc="-30" dirty="0">
                <a:latin typeface="Roboto"/>
                <a:cs typeface="Roboto"/>
              </a:rPr>
              <a:t> </a:t>
            </a:r>
            <a:r>
              <a:rPr sz="1200" dirty="0">
                <a:latin typeface="Roboto"/>
                <a:cs typeface="Roboto"/>
              </a:rPr>
              <a:t>instances</a:t>
            </a:r>
            <a:r>
              <a:rPr sz="1200" spc="-30" dirty="0">
                <a:latin typeface="Roboto"/>
                <a:cs typeface="Roboto"/>
              </a:rPr>
              <a:t> </a:t>
            </a:r>
            <a:r>
              <a:rPr sz="1200" dirty="0">
                <a:latin typeface="Roboto"/>
                <a:cs typeface="Roboto"/>
              </a:rPr>
              <a:t>get</a:t>
            </a:r>
            <a:r>
              <a:rPr sz="1200" spc="-30" dirty="0">
                <a:latin typeface="Roboto"/>
                <a:cs typeface="Roboto"/>
              </a:rPr>
              <a:t> </a:t>
            </a:r>
            <a:r>
              <a:rPr sz="1200" dirty="0">
                <a:latin typeface="Roboto"/>
                <a:cs typeface="Roboto"/>
              </a:rPr>
              <a:t>terminated</a:t>
            </a:r>
            <a:r>
              <a:rPr sz="1200" spc="-33" dirty="0">
                <a:latin typeface="Roboto"/>
                <a:cs typeface="Roboto"/>
              </a:rPr>
              <a:t> </a:t>
            </a:r>
            <a:r>
              <a:rPr sz="1200" dirty="0">
                <a:latin typeface="Roboto"/>
                <a:cs typeface="Roboto"/>
              </a:rPr>
              <a:t>the</a:t>
            </a:r>
            <a:r>
              <a:rPr sz="1200" spc="-30" dirty="0">
                <a:latin typeface="Roboto"/>
                <a:cs typeface="Roboto"/>
              </a:rPr>
              <a:t> </a:t>
            </a:r>
            <a:r>
              <a:rPr sz="1200" dirty="0">
                <a:latin typeface="Roboto"/>
                <a:cs typeface="Roboto"/>
              </a:rPr>
              <a:t>attached</a:t>
            </a:r>
            <a:r>
              <a:rPr sz="1200" spc="-30" dirty="0">
                <a:latin typeface="Roboto"/>
                <a:cs typeface="Roboto"/>
              </a:rPr>
              <a:t> </a:t>
            </a:r>
            <a:r>
              <a:rPr sz="1200" dirty="0">
                <a:latin typeface="Roboto"/>
                <a:cs typeface="Roboto"/>
              </a:rPr>
              <a:t>root</a:t>
            </a:r>
            <a:r>
              <a:rPr sz="1200" spc="-30" dirty="0">
                <a:latin typeface="Roboto"/>
                <a:cs typeface="Roboto"/>
              </a:rPr>
              <a:t> </a:t>
            </a:r>
            <a:r>
              <a:rPr sz="1200" dirty="0">
                <a:latin typeface="Roboto"/>
                <a:cs typeface="Roboto"/>
              </a:rPr>
              <a:t>EBS</a:t>
            </a:r>
            <a:r>
              <a:rPr sz="1200" spc="-33" dirty="0">
                <a:latin typeface="Roboto"/>
                <a:cs typeface="Roboto"/>
              </a:rPr>
              <a:t> </a:t>
            </a:r>
            <a:r>
              <a:rPr sz="1200" dirty="0">
                <a:latin typeface="Roboto"/>
                <a:cs typeface="Roboto"/>
              </a:rPr>
              <a:t>volume</a:t>
            </a:r>
            <a:r>
              <a:rPr sz="1200" spc="-30" dirty="0">
                <a:latin typeface="Roboto"/>
                <a:cs typeface="Roboto"/>
              </a:rPr>
              <a:t> </a:t>
            </a:r>
            <a:r>
              <a:rPr sz="1200" spc="-10" dirty="0">
                <a:latin typeface="Roboto"/>
                <a:cs typeface="Roboto"/>
              </a:rPr>
              <a:t>also</a:t>
            </a:r>
            <a:endParaRPr sz="1200">
              <a:latin typeface="Roboto"/>
              <a:cs typeface="Roboto"/>
            </a:endParaRPr>
          </a:p>
          <a:p>
            <a:pPr marL="1048703" marR="394335" indent="-841693">
              <a:lnSpc>
                <a:spcPct val="114599"/>
              </a:lnSpc>
              <a:tabLst>
                <a:tab pos="1048703" algn="l"/>
              </a:tabLst>
            </a:pPr>
            <a:r>
              <a:rPr sz="1200" b="1" spc="-5" dirty="0">
                <a:latin typeface="Roboto"/>
                <a:cs typeface="Roboto"/>
              </a:rPr>
              <a:t>Protection:</a:t>
            </a:r>
            <a:r>
              <a:rPr sz="1200" b="1" dirty="0">
                <a:latin typeface="Roboto"/>
                <a:cs typeface="Roboto"/>
              </a:rPr>
              <a:t>	</a:t>
            </a:r>
            <a:r>
              <a:rPr sz="1200" dirty="0">
                <a:latin typeface="Roboto"/>
                <a:cs typeface="Roboto"/>
              </a:rPr>
              <a:t>gets</a:t>
            </a:r>
            <a:r>
              <a:rPr sz="1200" spc="-25" dirty="0">
                <a:latin typeface="Roboto"/>
                <a:cs typeface="Roboto"/>
              </a:rPr>
              <a:t> </a:t>
            </a:r>
            <a:r>
              <a:rPr sz="1200" dirty="0">
                <a:latin typeface="Roboto"/>
                <a:cs typeface="Roboto"/>
              </a:rPr>
              <a:t>terminated,</a:t>
            </a:r>
            <a:r>
              <a:rPr sz="1200" spc="-23" dirty="0">
                <a:latin typeface="Roboto"/>
                <a:cs typeface="Roboto"/>
              </a:rPr>
              <a:t> </a:t>
            </a:r>
            <a:r>
              <a:rPr sz="1200" dirty="0">
                <a:latin typeface="Roboto"/>
                <a:cs typeface="Roboto"/>
              </a:rPr>
              <a:t>if</a:t>
            </a:r>
            <a:r>
              <a:rPr sz="1200" spc="-23" dirty="0">
                <a:latin typeface="Roboto"/>
                <a:cs typeface="Roboto"/>
              </a:rPr>
              <a:t> </a:t>
            </a:r>
            <a:r>
              <a:rPr sz="1200" dirty="0">
                <a:latin typeface="Roboto"/>
                <a:cs typeface="Roboto"/>
              </a:rPr>
              <a:t>you</a:t>
            </a:r>
            <a:r>
              <a:rPr sz="1200" spc="-25" dirty="0">
                <a:latin typeface="Roboto"/>
                <a:cs typeface="Roboto"/>
              </a:rPr>
              <a:t> </a:t>
            </a:r>
            <a:r>
              <a:rPr sz="1200" dirty="0">
                <a:latin typeface="Roboto"/>
                <a:cs typeface="Roboto"/>
              </a:rPr>
              <a:t>want</a:t>
            </a:r>
            <a:r>
              <a:rPr sz="1200" spc="-23" dirty="0">
                <a:latin typeface="Roboto"/>
                <a:cs typeface="Roboto"/>
              </a:rPr>
              <a:t> </a:t>
            </a:r>
            <a:r>
              <a:rPr sz="1200" dirty="0">
                <a:latin typeface="Roboto"/>
                <a:cs typeface="Roboto"/>
              </a:rPr>
              <a:t>to</a:t>
            </a:r>
            <a:r>
              <a:rPr sz="1200" spc="-23" dirty="0">
                <a:latin typeface="Roboto"/>
                <a:cs typeface="Roboto"/>
              </a:rPr>
              <a:t> </a:t>
            </a:r>
            <a:r>
              <a:rPr sz="1200" dirty="0">
                <a:latin typeface="Roboto"/>
                <a:cs typeface="Roboto"/>
              </a:rPr>
              <a:t>keep</a:t>
            </a:r>
            <a:r>
              <a:rPr sz="1200" spc="-23" dirty="0">
                <a:latin typeface="Roboto"/>
                <a:cs typeface="Roboto"/>
              </a:rPr>
              <a:t> </a:t>
            </a:r>
            <a:r>
              <a:rPr sz="1200" dirty="0">
                <a:latin typeface="Roboto"/>
                <a:cs typeface="Roboto"/>
              </a:rPr>
              <a:t>the</a:t>
            </a:r>
            <a:r>
              <a:rPr sz="1200" spc="-25" dirty="0">
                <a:latin typeface="Roboto"/>
                <a:cs typeface="Roboto"/>
              </a:rPr>
              <a:t> </a:t>
            </a:r>
            <a:r>
              <a:rPr sz="1200" dirty="0">
                <a:latin typeface="Roboto"/>
                <a:cs typeface="Roboto"/>
              </a:rPr>
              <a:t>storage</a:t>
            </a:r>
            <a:r>
              <a:rPr sz="1200" spc="-23" dirty="0">
                <a:latin typeface="Roboto"/>
                <a:cs typeface="Roboto"/>
              </a:rPr>
              <a:t> </a:t>
            </a:r>
            <a:r>
              <a:rPr sz="1200" dirty="0">
                <a:latin typeface="Roboto"/>
                <a:cs typeface="Roboto"/>
              </a:rPr>
              <a:t>volume</a:t>
            </a:r>
            <a:r>
              <a:rPr sz="1200" spc="-23" dirty="0">
                <a:latin typeface="Roboto"/>
                <a:cs typeface="Roboto"/>
              </a:rPr>
              <a:t> </a:t>
            </a:r>
            <a:r>
              <a:rPr sz="1200" dirty="0">
                <a:latin typeface="Roboto"/>
                <a:cs typeface="Roboto"/>
              </a:rPr>
              <a:t>for</a:t>
            </a:r>
            <a:r>
              <a:rPr sz="1200" spc="-25" dirty="0">
                <a:latin typeface="Roboto"/>
                <a:cs typeface="Roboto"/>
              </a:rPr>
              <a:t> </a:t>
            </a:r>
            <a:r>
              <a:rPr sz="1200" dirty="0">
                <a:latin typeface="Roboto"/>
                <a:cs typeface="Roboto"/>
              </a:rPr>
              <a:t>future</a:t>
            </a:r>
            <a:r>
              <a:rPr sz="1200" spc="-23" dirty="0">
                <a:latin typeface="Roboto"/>
                <a:cs typeface="Roboto"/>
              </a:rPr>
              <a:t> </a:t>
            </a:r>
            <a:r>
              <a:rPr sz="1200" dirty="0">
                <a:latin typeface="Roboto"/>
                <a:cs typeface="Roboto"/>
              </a:rPr>
              <a:t>use</a:t>
            </a:r>
            <a:r>
              <a:rPr sz="1200" spc="-23" dirty="0">
                <a:latin typeface="Roboto"/>
                <a:cs typeface="Roboto"/>
              </a:rPr>
              <a:t> </a:t>
            </a:r>
            <a:r>
              <a:rPr sz="1200" dirty="0">
                <a:latin typeface="Roboto"/>
                <a:cs typeface="Roboto"/>
              </a:rPr>
              <a:t>then</a:t>
            </a:r>
            <a:r>
              <a:rPr sz="1200" spc="-23" dirty="0">
                <a:latin typeface="Roboto"/>
                <a:cs typeface="Roboto"/>
              </a:rPr>
              <a:t> </a:t>
            </a:r>
            <a:r>
              <a:rPr sz="1200" dirty="0">
                <a:latin typeface="Roboto"/>
                <a:cs typeface="Roboto"/>
              </a:rPr>
              <a:t>to</a:t>
            </a:r>
            <a:r>
              <a:rPr sz="1200" spc="-25" dirty="0">
                <a:latin typeface="Roboto"/>
                <a:cs typeface="Roboto"/>
              </a:rPr>
              <a:t> </a:t>
            </a:r>
            <a:r>
              <a:rPr sz="1200" dirty="0">
                <a:latin typeface="Roboto"/>
                <a:cs typeface="Roboto"/>
              </a:rPr>
              <a:t>avoid</a:t>
            </a:r>
            <a:r>
              <a:rPr sz="1200" spc="-23" dirty="0">
                <a:latin typeface="Roboto"/>
                <a:cs typeface="Roboto"/>
              </a:rPr>
              <a:t> </a:t>
            </a:r>
            <a:r>
              <a:rPr sz="1200" dirty="0">
                <a:latin typeface="Roboto"/>
                <a:cs typeface="Roboto"/>
              </a:rPr>
              <a:t>this</a:t>
            </a:r>
            <a:r>
              <a:rPr sz="1200" spc="-23" dirty="0">
                <a:latin typeface="Roboto"/>
                <a:cs typeface="Roboto"/>
              </a:rPr>
              <a:t> </a:t>
            </a:r>
            <a:r>
              <a:rPr sz="1200" dirty="0">
                <a:latin typeface="Roboto"/>
                <a:cs typeface="Roboto"/>
              </a:rPr>
              <a:t>have</a:t>
            </a:r>
            <a:r>
              <a:rPr sz="1200" spc="-23" dirty="0">
                <a:latin typeface="Roboto"/>
                <a:cs typeface="Roboto"/>
              </a:rPr>
              <a:t> </a:t>
            </a:r>
            <a:r>
              <a:rPr sz="1200" dirty="0">
                <a:latin typeface="Roboto"/>
                <a:cs typeface="Roboto"/>
              </a:rPr>
              <a:t>to</a:t>
            </a:r>
            <a:r>
              <a:rPr sz="1200" spc="-25" dirty="0">
                <a:latin typeface="Roboto"/>
                <a:cs typeface="Roboto"/>
              </a:rPr>
              <a:t> </a:t>
            </a:r>
            <a:r>
              <a:rPr sz="1200" dirty="0">
                <a:latin typeface="Roboto"/>
                <a:cs typeface="Roboto"/>
              </a:rPr>
              <a:t>enable</a:t>
            </a:r>
            <a:r>
              <a:rPr sz="1200" spc="-23" dirty="0">
                <a:latin typeface="Roboto"/>
                <a:cs typeface="Roboto"/>
              </a:rPr>
              <a:t> </a:t>
            </a:r>
            <a:r>
              <a:rPr sz="1200" spc="-13" dirty="0">
                <a:latin typeface="Roboto"/>
                <a:cs typeface="Roboto"/>
              </a:rPr>
              <a:t>the </a:t>
            </a:r>
            <a:r>
              <a:rPr sz="1200" dirty="0">
                <a:latin typeface="Roboto"/>
                <a:cs typeface="Roboto"/>
              </a:rPr>
              <a:t>termination</a:t>
            </a:r>
            <a:r>
              <a:rPr sz="1200" spc="-60" dirty="0">
                <a:latin typeface="Roboto"/>
                <a:cs typeface="Roboto"/>
              </a:rPr>
              <a:t> </a:t>
            </a:r>
            <a:r>
              <a:rPr sz="1200" dirty="0">
                <a:latin typeface="Roboto"/>
                <a:cs typeface="Roboto"/>
              </a:rPr>
              <a:t>protection</a:t>
            </a:r>
            <a:r>
              <a:rPr sz="1200" spc="-57" dirty="0">
                <a:latin typeface="Roboto"/>
                <a:cs typeface="Roboto"/>
              </a:rPr>
              <a:t> </a:t>
            </a:r>
            <a:r>
              <a:rPr sz="1200" spc="-5" dirty="0">
                <a:latin typeface="Roboto"/>
                <a:cs typeface="Roboto"/>
              </a:rPr>
              <a:t>option.</a:t>
            </a:r>
            <a:endParaRPr sz="1200">
              <a:latin typeface="Roboto"/>
              <a:cs typeface="Roboto"/>
            </a:endParaRPr>
          </a:p>
        </p:txBody>
      </p:sp>
      <p:sp>
        <p:nvSpPr>
          <p:cNvPr id="5" name="object 5"/>
          <p:cNvSpPr txBox="1"/>
          <p:nvPr/>
        </p:nvSpPr>
        <p:spPr>
          <a:xfrm>
            <a:off x="621109" y="3669100"/>
            <a:ext cx="575945" cy="523157"/>
          </a:xfrm>
          <a:prstGeom prst="rect">
            <a:avLst/>
          </a:prstGeom>
        </p:spPr>
        <p:txBody>
          <a:bodyPr vert="horz" wrap="square" lIns="0" tIns="6350" rIns="0" bIns="0" rtlCol="0">
            <a:spAutoFit/>
          </a:bodyPr>
          <a:lstStyle/>
          <a:p>
            <a:pPr marL="6350" marR="2540" indent="61595">
              <a:lnSpc>
                <a:spcPct val="148200"/>
              </a:lnSpc>
              <a:spcBef>
                <a:spcPts val="50"/>
              </a:spcBef>
            </a:pPr>
            <a:r>
              <a:rPr sz="1200" b="1" spc="-5" dirty="0">
                <a:latin typeface="Roboto"/>
                <a:cs typeface="Roboto"/>
              </a:rPr>
              <a:t>Resize: Encrypt:</a:t>
            </a:r>
            <a:endParaRPr sz="1200">
              <a:latin typeface="Roboto"/>
              <a:cs typeface="Roboto"/>
            </a:endParaRPr>
          </a:p>
        </p:txBody>
      </p:sp>
      <p:sp>
        <p:nvSpPr>
          <p:cNvPr id="6" name="object 6"/>
          <p:cNvSpPr txBox="1"/>
          <p:nvPr/>
        </p:nvSpPr>
        <p:spPr>
          <a:xfrm>
            <a:off x="1330521" y="3669100"/>
            <a:ext cx="7311390" cy="754117"/>
          </a:xfrm>
          <a:prstGeom prst="rect">
            <a:avLst/>
          </a:prstGeom>
        </p:spPr>
        <p:txBody>
          <a:bodyPr vert="horz" wrap="square" lIns="0" tIns="94298" rIns="0" bIns="0" rtlCol="0">
            <a:spAutoFit/>
          </a:bodyPr>
          <a:lstStyle/>
          <a:p>
            <a:pPr marL="6350">
              <a:spcBef>
                <a:spcPts val="743"/>
              </a:spcBef>
            </a:pPr>
            <a:r>
              <a:rPr sz="1200" dirty="0">
                <a:latin typeface="Roboto"/>
                <a:cs typeface="Roboto"/>
              </a:rPr>
              <a:t>Volumes</a:t>
            </a:r>
            <a:r>
              <a:rPr sz="1200" spc="-23" dirty="0">
                <a:latin typeface="Roboto"/>
                <a:cs typeface="Roboto"/>
              </a:rPr>
              <a:t> </a:t>
            </a:r>
            <a:r>
              <a:rPr sz="1200" dirty="0">
                <a:latin typeface="Roboto"/>
                <a:cs typeface="Roboto"/>
              </a:rPr>
              <a:t>can</a:t>
            </a:r>
            <a:r>
              <a:rPr sz="1200" spc="-23" dirty="0">
                <a:latin typeface="Roboto"/>
                <a:cs typeface="Roboto"/>
              </a:rPr>
              <a:t> </a:t>
            </a:r>
            <a:r>
              <a:rPr sz="1200" dirty="0">
                <a:latin typeface="Roboto"/>
                <a:cs typeface="Roboto"/>
              </a:rPr>
              <a:t>be</a:t>
            </a:r>
            <a:r>
              <a:rPr sz="1200" spc="-23" dirty="0">
                <a:latin typeface="Roboto"/>
                <a:cs typeface="Roboto"/>
              </a:rPr>
              <a:t> </a:t>
            </a:r>
            <a:r>
              <a:rPr sz="1200" dirty="0">
                <a:latin typeface="Roboto"/>
                <a:cs typeface="Roboto"/>
              </a:rPr>
              <a:t>easily</a:t>
            </a:r>
            <a:r>
              <a:rPr sz="1200" spc="-20" dirty="0">
                <a:latin typeface="Roboto"/>
                <a:cs typeface="Roboto"/>
              </a:rPr>
              <a:t> </a:t>
            </a:r>
            <a:r>
              <a:rPr sz="1200" dirty="0">
                <a:latin typeface="Roboto"/>
                <a:cs typeface="Roboto"/>
              </a:rPr>
              <a:t>resized</a:t>
            </a:r>
            <a:r>
              <a:rPr sz="1200" spc="-23" dirty="0">
                <a:latin typeface="Roboto"/>
                <a:cs typeface="Roboto"/>
              </a:rPr>
              <a:t> </a:t>
            </a:r>
            <a:r>
              <a:rPr sz="1200" dirty="0">
                <a:latin typeface="Roboto"/>
                <a:cs typeface="Roboto"/>
              </a:rPr>
              <a:t>i.e.</a:t>
            </a:r>
            <a:r>
              <a:rPr sz="1200" spc="-23" dirty="0">
                <a:latin typeface="Roboto"/>
                <a:cs typeface="Roboto"/>
              </a:rPr>
              <a:t> </a:t>
            </a:r>
            <a:r>
              <a:rPr sz="1200" spc="-5" dirty="0">
                <a:latin typeface="Roboto"/>
                <a:cs typeface="Roboto"/>
              </a:rPr>
              <a:t>increase/decrease</a:t>
            </a:r>
            <a:r>
              <a:rPr sz="1200" spc="-20" dirty="0">
                <a:latin typeface="Roboto"/>
                <a:cs typeface="Roboto"/>
              </a:rPr>
              <a:t> </a:t>
            </a:r>
            <a:r>
              <a:rPr sz="1200" dirty="0">
                <a:latin typeface="Roboto"/>
                <a:cs typeface="Roboto"/>
              </a:rPr>
              <a:t>as</a:t>
            </a:r>
            <a:r>
              <a:rPr sz="1200" spc="-23" dirty="0">
                <a:latin typeface="Roboto"/>
                <a:cs typeface="Roboto"/>
              </a:rPr>
              <a:t> </a:t>
            </a:r>
            <a:r>
              <a:rPr sz="1200" dirty="0">
                <a:latin typeface="Roboto"/>
                <a:cs typeface="Roboto"/>
              </a:rPr>
              <a:t>per</a:t>
            </a:r>
            <a:r>
              <a:rPr sz="1200" spc="-23" dirty="0">
                <a:latin typeface="Roboto"/>
                <a:cs typeface="Roboto"/>
              </a:rPr>
              <a:t> </a:t>
            </a:r>
            <a:r>
              <a:rPr sz="1200" spc="-10" dirty="0">
                <a:latin typeface="Roboto"/>
                <a:cs typeface="Roboto"/>
              </a:rPr>
              <a:t>need</a:t>
            </a:r>
            <a:endParaRPr sz="1200">
              <a:latin typeface="Roboto"/>
              <a:cs typeface="Roboto"/>
            </a:endParaRPr>
          </a:p>
          <a:p>
            <a:pPr marL="6350" marR="2540">
              <a:lnSpc>
                <a:spcPct val="114599"/>
              </a:lnSpc>
              <a:spcBef>
                <a:spcPts val="485"/>
              </a:spcBef>
            </a:pPr>
            <a:r>
              <a:rPr sz="1200" dirty="0">
                <a:latin typeface="Roboto"/>
                <a:cs typeface="Roboto"/>
              </a:rPr>
              <a:t>It</a:t>
            </a:r>
            <a:r>
              <a:rPr sz="1200" spc="-28" dirty="0">
                <a:latin typeface="Roboto"/>
                <a:cs typeface="Roboto"/>
              </a:rPr>
              <a:t> </a:t>
            </a:r>
            <a:r>
              <a:rPr sz="1200" dirty="0">
                <a:latin typeface="Roboto"/>
                <a:cs typeface="Roboto"/>
              </a:rPr>
              <a:t>fully</a:t>
            </a:r>
            <a:r>
              <a:rPr sz="1200" spc="-28" dirty="0">
                <a:latin typeface="Roboto"/>
                <a:cs typeface="Roboto"/>
              </a:rPr>
              <a:t> </a:t>
            </a:r>
            <a:r>
              <a:rPr sz="1200" dirty="0">
                <a:latin typeface="Roboto"/>
                <a:cs typeface="Roboto"/>
              </a:rPr>
              <a:t>supports</a:t>
            </a:r>
            <a:r>
              <a:rPr sz="1200" spc="-25" dirty="0">
                <a:latin typeface="Roboto"/>
                <a:cs typeface="Roboto"/>
              </a:rPr>
              <a:t> </a:t>
            </a:r>
            <a:r>
              <a:rPr sz="1200" dirty="0">
                <a:latin typeface="Roboto"/>
                <a:cs typeface="Roboto"/>
              </a:rPr>
              <a:t>encryption,</a:t>
            </a:r>
            <a:r>
              <a:rPr sz="1200" spc="-28" dirty="0">
                <a:latin typeface="Roboto"/>
                <a:cs typeface="Roboto"/>
              </a:rPr>
              <a:t> </a:t>
            </a:r>
            <a:r>
              <a:rPr sz="1200" dirty="0">
                <a:latin typeface="Roboto"/>
                <a:cs typeface="Roboto"/>
              </a:rPr>
              <a:t>using</a:t>
            </a:r>
            <a:r>
              <a:rPr sz="1200" spc="-28" dirty="0">
                <a:latin typeface="Roboto"/>
                <a:cs typeface="Roboto"/>
              </a:rPr>
              <a:t> </a:t>
            </a:r>
            <a:r>
              <a:rPr sz="1200" dirty="0">
                <a:latin typeface="Roboto"/>
                <a:cs typeface="Roboto"/>
              </a:rPr>
              <a:t>AWS</a:t>
            </a:r>
            <a:r>
              <a:rPr sz="1200" spc="-25" dirty="0">
                <a:latin typeface="Roboto"/>
                <a:cs typeface="Roboto"/>
              </a:rPr>
              <a:t> </a:t>
            </a:r>
            <a:r>
              <a:rPr sz="1200" dirty="0">
                <a:latin typeface="Roboto"/>
                <a:cs typeface="Roboto"/>
              </a:rPr>
              <a:t>KMS</a:t>
            </a:r>
            <a:r>
              <a:rPr sz="1200" spc="-28" dirty="0">
                <a:latin typeface="Roboto"/>
                <a:cs typeface="Roboto"/>
              </a:rPr>
              <a:t> </a:t>
            </a:r>
            <a:r>
              <a:rPr sz="1200" dirty="0">
                <a:latin typeface="Roboto"/>
                <a:cs typeface="Roboto"/>
              </a:rPr>
              <a:t>you</a:t>
            </a:r>
            <a:r>
              <a:rPr sz="1200" spc="-28" dirty="0">
                <a:latin typeface="Roboto"/>
                <a:cs typeface="Roboto"/>
              </a:rPr>
              <a:t> </a:t>
            </a:r>
            <a:r>
              <a:rPr sz="1200" dirty="0">
                <a:latin typeface="Roboto"/>
                <a:cs typeface="Roboto"/>
              </a:rPr>
              <a:t>can</a:t>
            </a:r>
            <a:r>
              <a:rPr sz="1200" spc="-25" dirty="0">
                <a:latin typeface="Roboto"/>
                <a:cs typeface="Roboto"/>
              </a:rPr>
              <a:t> </a:t>
            </a:r>
            <a:r>
              <a:rPr sz="1200" dirty="0">
                <a:latin typeface="Roboto"/>
                <a:cs typeface="Roboto"/>
              </a:rPr>
              <a:t>easily</a:t>
            </a:r>
            <a:r>
              <a:rPr sz="1200" spc="-28" dirty="0">
                <a:latin typeface="Roboto"/>
                <a:cs typeface="Roboto"/>
              </a:rPr>
              <a:t> </a:t>
            </a:r>
            <a:r>
              <a:rPr sz="1200" dirty="0">
                <a:latin typeface="Roboto"/>
                <a:cs typeface="Roboto"/>
              </a:rPr>
              <a:t>encrypt</a:t>
            </a:r>
            <a:r>
              <a:rPr sz="1200" spc="-25" dirty="0">
                <a:latin typeface="Roboto"/>
                <a:cs typeface="Roboto"/>
              </a:rPr>
              <a:t> </a:t>
            </a:r>
            <a:r>
              <a:rPr sz="1200" dirty="0">
                <a:latin typeface="Roboto"/>
                <a:cs typeface="Roboto"/>
              </a:rPr>
              <a:t>volume,</a:t>
            </a:r>
            <a:r>
              <a:rPr sz="1200" spc="-28" dirty="0">
                <a:latin typeface="Roboto"/>
                <a:cs typeface="Roboto"/>
              </a:rPr>
              <a:t> </a:t>
            </a:r>
            <a:r>
              <a:rPr sz="1200" dirty="0">
                <a:latin typeface="Roboto"/>
                <a:cs typeface="Roboto"/>
              </a:rPr>
              <a:t>and</a:t>
            </a:r>
            <a:r>
              <a:rPr sz="1200" spc="-28" dirty="0">
                <a:latin typeface="Roboto"/>
                <a:cs typeface="Roboto"/>
              </a:rPr>
              <a:t> </a:t>
            </a:r>
            <a:r>
              <a:rPr sz="1200" dirty="0">
                <a:latin typeface="Roboto"/>
                <a:cs typeface="Roboto"/>
              </a:rPr>
              <a:t>you</a:t>
            </a:r>
            <a:r>
              <a:rPr sz="1200" spc="-25" dirty="0">
                <a:latin typeface="Roboto"/>
                <a:cs typeface="Roboto"/>
              </a:rPr>
              <a:t> </a:t>
            </a:r>
            <a:r>
              <a:rPr sz="1200" dirty="0">
                <a:latin typeface="Roboto"/>
                <a:cs typeface="Roboto"/>
              </a:rPr>
              <a:t>can</a:t>
            </a:r>
            <a:r>
              <a:rPr sz="1200" spc="-28" dirty="0">
                <a:latin typeface="Roboto"/>
                <a:cs typeface="Roboto"/>
              </a:rPr>
              <a:t> </a:t>
            </a:r>
            <a:r>
              <a:rPr sz="1200" dirty="0">
                <a:latin typeface="Roboto"/>
                <a:cs typeface="Roboto"/>
              </a:rPr>
              <a:t>enable</a:t>
            </a:r>
            <a:r>
              <a:rPr sz="1200" spc="-28" dirty="0">
                <a:latin typeface="Roboto"/>
                <a:cs typeface="Roboto"/>
              </a:rPr>
              <a:t> </a:t>
            </a:r>
            <a:r>
              <a:rPr sz="1200" dirty="0">
                <a:latin typeface="Roboto"/>
                <a:cs typeface="Roboto"/>
              </a:rPr>
              <a:t>default</a:t>
            </a:r>
            <a:r>
              <a:rPr sz="1200" spc="-25" dirty="0">
                <a:latin typeface="Roboto"/>
                <a:cs typeface="Roboto"/>
              </a:rPr>
              <a:t> </a:t>
            </a:r>
            <a:r>
              <a:rPr sz="1200" spc="-5" dirty="0">
                <a:latin typeface="Roboto"/>
                <a:cs typeface="Roboto"/>
              </a:rPr>
              <a:t>while </a:t>
            </a:r>
            <a:r>
              <a:rPr sz="1200" dirty="0">
                <a:latin typeface="Roboto"/>
                <a:cs typeface="Roboto"/>
              </a:rPr>
              <a:t>creating</a:t>
            </a:r>
            <a:r>
              <a:rPr sz="1200" spc="-45" dirty="0">
                <a:latin typeface="Roboto"/>
                <a:cs typeface="Roboto"/>
              </a:rPr>
              <a:t> </a:t>
            </a:r>
            <a:r>
              <a:rPr sz="1200" spc="-5" dirty="0">
                <a:latin typeface="Roboto"/>
                <a:cs typeface="Roboto"/>
              </a:rPr>
              <a:t>volume</a:t>
            </a:r>
            <a:endParaRPr sz="1200">
              <a:latin typeface="Roboto"/>
              <a:cs typeface="Roboto"/>
            </a:endParaRPr>
          </a:p>
        </p:txBody>
      </p:sp>
      <p:sp>
        <p:nvSpPr>
          <p:cNvPr id="7" name="object 7"/>
          <p:cNvSpPr txBox="1"/>
          <p:nvPr/>
        </p:nvSpPr>
        <p:spPr>
          <a:xfrm>
            <a:off x="457845" y="4612325"/>
            <a:ext cx="739140" cy="191078"/>
          </a:xfrm>
          <a:prstGeom prst="rect">
            <a:avLst/>
          </a:prstGeom>
        </p:spPr>
        <p:txBody>
          <a:bodyPr vert="horz" wrap="square" lIns="0" tIns="6350" rIns="0" bIns="0" rtlCol="0">
            <a:spAutoFit/>
          </a:bodyPr>
          <a:lstStyle/>
          <a:p>
            <a:pPr marL="6350">
              <a:spcBef>
                <a:spcPts val="50"/>
              </a:spcBef>
            </a:pPr>
            <a:r>
              <a:rPr sz="1200" b="1" spc="-5" dirty="0">
                <a:latin typeface="Roboto"/>
                <a:cs typeface="Roboto"/>
              </a:rPr>
              <a:t>Snapshots</a:t>
            </a:r>
            <a:endParaRPr sz="1200">
              <a:latin typeface="Roboto"/>
              <a:cs typeface="Roboto"/>
            </a:endParaRPr>
          </a:p>
        </p:txBody>
      </p:sp>
      <p:sp>
        <p:nvSpPr>
          <p:cNvPr id="8" name="object 8"/>
          <p:cNvSpPr txBox="1"/>
          <p:nvPr/>
        </p:nvSpPr>
        <p:spPr>
          <a:xfrm>
            <a:off x="1330521" y="4585655"/>
            <a:ext cx="7486650" cy="416524"/>
          </a:xfrm>
          <a:prstGeom prst="rect">
            <a:avLst/>
          </a:prstGeom>
        </p:spPr>
        <p:txBody>
          <a:bodyPr vert="horz" wrap="square" lIns="0" tIns="6350" rIns="0" bIns="0" rtlCol="0">
            <a:spAutoFit/>
          </a:bodyPr>
          <a:lstStyle/>
          <a:p>
            <a:pPr marL="6350" marR="2540">
              <a:lnSpc>
                <a:spcPct val="114599"/>
              </a:lnSpc>
              <a:spcBef>
                <a:spcPts val="50"/>
              </a:spcBef>
            </a:pPr>
            <a:r>
              <a:rPr sz="1200" dirty="0">
                <a:latin typeface="Roboto"/>
                <a:cs typeface="Roboto"/>
              </a:rPr>
              <a:t>To</a:t>
            </a:r>
            <a:r>
              <a:rPr sz="1200" spc="-25" dirty="0">
                <a:latin typeface="Roboto"/>
                <a:cs typeface="Roboto"/>
              </a:rPr>
              <a:t> </a:t>
            </a:r>
            <a:r>
              <a:rPr sz="1200" dirty="0">
                <a:latin typeface="Roboto"/>
                <a:cs typeface="Roboto"/>
              </a:rPr>
              <a:t>create</a:t>
            </a:r>
            <a:r>
              <a:rPr sz="1200" spc="-25" dirty="0">
                <a:latin typeface="Roboto"/>
                <a:cs typeface="Roboto"/>
              </a:rPr>
              <a:t> </a:t>
            </a:r>
            <a:r>
              <a:rPr sz="1200" spc="-10" dirty="0">
                <a:latin typeface="Roboto"/>
                <a:cs typeface="Roboto"/>
              </a:rPr>
              <a:t>back-</a:t>
            </a:r>
            <a:r>
              <a:rPr sz="1200" dirty="0">
                <a:latin typeface="Roboto"/>
                <a:cs typeface="Roboto"/>
              </a:rPr>
              <a:t>ups,</a:t>
            </a:r>
            <a:r>
              <a:rPr sz="1200" spc="-25" dirty="0">
                <a:latin typeface="Roboto"/>
                <a:cs typeface="Roboto"/>
              </a:rPr>
              <a:t> </a:t>
            </a:r>
            <a:r>
              <a:rPr sz="1200" dirty="0">
                <a:latin typeface="Roboto"/>
                <a:cs typeface="Roboto"/>
              </a:rPr>
              <a:t>use</a:t>
            </a:r>
            <a:r>
              <a:rPr sz="1200" spc="-25" dirty="0">
                <a:latin typeface="Roboto"/>
                <a:cs typeface="Roboto"/>
              </a:rPr>
              <a:t> </a:t>
            </a:r>
            <a:r>
              <a:rPr sz="1200" dirty="0">
                <a:latin typeface="Roboto"/>
                <a:cs typeface="Roboto"/>
              </a:rPr>
              <a:t>snapshots.</a:t>
            </a:r>
            <a:r>
              <a:rPr sz="1200" spc="-25" dirty="0">
                <a:latin typeface="Roboto"/>
                <a:cs typeface="Roboto"/>
              </a:rPr>
              <a:t> </a:t>
            </a:r>
            <a:r>
              <a:rPr sz="1200" dirty="0">
                <a:latin typeface="Roboto"/>
                <a:cs typeface="Roboto"/>
              </a:rPr>
              <a:t>Snapshots</a:t>
            </a:r>
            <a:r>
              <a:rPr sz="1200" spc="-25" dirty="0">
                <a:latin typeface="Roboto"/>
                <a:cs typeface="Roboto"/>
              </a:rPr>
              <a:t> </a:t>
            </a:r>
            <a:r>
              <a:rPr sz="1200" dirty="0">
                <a:latin typeface="Roboto"/>
                <a:cs typeface="Roboto"/>
              </a:rPr>
              <a:t>get</a:t>
            </a:r>
            <a:r>
              <a:rPr sz="1200" spc="-25" dirty="0">
                <a:latin typeface="Roboto"/>
                <a:cs typeface="Roboto"/>
              </a:rPr>
              <a:t> </a:t>
            </a:r>
            <a:r>
              <a:rPr sz="1200" dirty="0">
                <a:latin typeface="Roboto"/>
                <a:cs typeface="Roboto"/>
              </a:rPr>
              <a:t>stores</a:t>
            </a:r>
            <a:r>
              <a:rPr sz="1200" spc="-25" dirty="0">
                <a:latin typeface="Roboto"/>
                <a:cs typeface="Roboto"/>
              </a:rPr>
              <a:t> </a:t>
            </a:r>
            <a:r>
              <a:rPr sz="1200" dirty="0">
                <a:latin typeface="Roboto"/>
                <a:cs typeface="Roboto"/>
              </a:rPr>
              <a:t>in</a:t>
            </a:r>
            <a:r>
              <a:rPr sz="1200" spc="-25" dirty="0">
                <a:latin typeface="Roboto"/>
                <a:cs typeface="Roboto"/>
              </a:rPr>
              <a:t> </a:t>
            </a:r>
            <a:r>
              <a:rPr sz="1200" dirty="0">
                <a:latin typeface="Roboto"/>
                <a:cs typeface="Roboto"/>
              </a:rPr>
              <a:t>S3</a:t>
            </a:r>
            <a:r>
              <a:rPr sz="1200" spc="-25" dirty="0">
                <a:latin typeface="Roboto"/>
                <a:cs typeface="Roboto"/>
              </a:rPr>
              <a:t> </a:t>
            </a:r>
            <a:r>
              <a:rPr sz="1200" dirty="0">
                <a:latin typeface="Roboto"/>
                <a:cs typeface="Roboto"/>
              </a:rPr>
              <a:t>(internally</a:t>
            </a:r>
            <a:r>
              <a:rPr sz="1200" spc="-25" dirty="0">
                <a:latin typeface="Roboto"/>
                <a:cs typeface="Roboto"/>
              </a:rPr>
              <a:t> </a:t>
            </a:r>
            <a:r>
              <a:rPr sz="1200" dirty="0">
                <a:latin typeface="Roboto"/>
                <a:cs typeface="Roboto"/>
              </a:rPr>
              <a:t>by</a:t>
            </a:r>
            <a:r>
              <a:rPr sz="1200" spc="-25" dirty="0">
                <a:latin typeface="Roboto"/>
                <a:cs typeface="Roboto"/>
              </a:rPr>
              <a:t> </a:t>
            </a:r>
            <a:r>
              <a:rPr sz="1200" dirty="0">
                <a:latin typeface="Roboto"/>
                <a:cs typeface="Roboto"/>
              </a:rPr>
              <a:t>AWS</a:t>
            </a:r>
            <a:r>
              <a:rPr sz="1200" spc="-25" dirty="0">
                <a:latin typeface="Roboto"/>
                <a:cs typeface="Roboto"/>
              </a:rPr>
              <a:t> </a:t>
            </a:r>
            <a:r>
              <a:rPr sz="1200" dirty="0">
                <a:latin typeface="Roboto"/>
                <a:cs typeface="Roboto"/>
              </a:rPr>
              <a:t>),</a:t>
            </a:r>
            <a:r>
              <a:rPr sz="1200" spc="-25" dirty="0">
                <a:latin typeface="Roboto"/>
                <a:cs typeface="Roboto"/>
              </a:rPr>
              <a:t> </a:t>
            </a:r>
            <a:r>
              <a:rPr sz="1200" dirty="0">
                <a:latin typeface="Roboto"/>
                <a:cs typeface="Roboto"/>
              </a:rPr>
              <a:t>you</a:t>
            </a:r>
            <a:r>
              <a:rPr sz="1200" spc="-25" dirty="0">
                <a:latin typeface="Roboto"/>
                <a:cs typeface="Roboto"/>
              </a:rPr>
              <a:t> </a:t>
            </a:r>
            <a:r>
              <a:rPr sz="1200" dirty="0">
                <a:latin typeface="Roboto"/>
                <a:cs typeface="Roboto"/>
              </a:rPr>
              <a:t>can</a:t>
            </a:r>
            <a:r>
              <a:rPr sz="1200" spc="-25" dirty="0">
                <a:latin typeface="Roboto"/>
                <a:cs typeface="Roboto"/>
              </a:rPr>
              <a:t> </a:t>
            </a:r>
            <a:r>
              <a:rPr sz="1200" dirty="0">
                <a:latin typeface="Roboto"/>
                <a:cs typeface="Roboto"/>
              </a:rPr>
              <a:t>copy</a:t>
            </a:r>
            <a:r>
              <a:rPr sz="1200" spc="-25" dirty="0">
                <a:latin typeface="Roboto"/>
                <a:cs typeface="Roboto"/>
              </a:rPr>
              <a:t> </a:t>
            </a:r>
            <a:r>
              <a:rPr sz="1200" dirty="0">
                <a:latin typeface="Roboto"/>
                <a:cs typeface="Roboto"/>
              </a:rPr>
              <a:t>snapshots</a:t>
            </a:r>
            <a:r>
              <a:rPr sz="1200" spc="-25" dirty="0">
                <a:latin typeface="Roboto"/>
                <a:cs typeface="Roboto"/>
              </a:rPr>
              <a:t> </a:t>
            </a:r>
            <a:r>
              <a:rPr sz="1200" spc="-13" dirty="0">
                <a:latin typeface="Roboto"/>
                <a:cs typeface="Roboto"/>
              </a:rPr>
              <a:t>to </a:t>
            </a:r>
            <a:r>
              <a:rPr sz="1200" dirty="0">
                <a:latin typeface="Roboto"/>
                <a:cs typeface="Roboto"/>
              </a:rPr>
              <a:t>any </a:t>
            </a:r>
            <a:r>
              <a:rPr sz="1200" spc="-5" dirty="0">
                <a:latin typeface="Roboto"/>
                <a:cs typeface="Roboto"/>
              </a:rPr>
              <a:t>region</a:t>
            </a:r>
            <a:endParaRPr sz="1200">
              <a:latin typeface="Roboto"/>
              <a:cs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8038" y="28550"/>
            <a:ext cx="6977063" cy="403957"/>
          </a:xfrm>
          <a:prstGeom prst="rect">
            <a:avLst/>
          </a:prstGeom>
        </p:spPr>
        <p:txBody>
          <a:bodyPr spcFirstLastPara="1" vert="horz" wrap="square" lIns="0" tIns="6350" rIns="0" bIns="0" rtlCol="0" anchor="t" anchorCtr="0">
            <a:spAutoFit/>
          </a:bodyPr>
          <a:lstStyle/>
          <a:p>
            <a:pPr marL="6350">
              <a:spcBef>
                <a:spcPts val="50"/>
              </a:spcBef>
            </a:pPr>
            <a:r>
              <a:rPr dirty="0"/>
              <a:t>Amazon</a:t>
            </a:r>
            <a:r>
              <a:rPr spc="-43" dirty="0"/>
              <a:t> </a:t>
            </a:r>
            <a:r>
              <a:rPr dirty="0"/>
              <a:t>Elastic</a:t>
            </a:r>
            <a:r>
              <a:rPr spc="-40" dirty="0"/>
              <a:t> </a:t>
            </a:r>
            <a:r>
              <a:rPr dirty="0"/>
              <a:t>Container</a:t>
            </a:r>
            <a:r>
              <a:rPr spc="-43" dirty="0"/>
              <a:t> </a:t>
            </a:r>
            <a:r>
              <a:rPr dirty="0"/>
              <a:t>Service</a:t>
            </a:r>
            <a:r>
              <a:rPr spc="-40" dirty="0"/>
              <a:t> </a:t>
            </a:r>
            <a:r>
              <a:rPr dirty="0"/>
              <a:t>(Amazon</a:t>
            </a:r>
            <a:r>
              <a:rPr spc="-40" dirty="0"/>
              <a:t> </a:t>
            </a:r>
            <a:r>
              <a:rPr spc="-10" dirty="0"/>
              <a:t>ECS)</a:t>
            </a:r>
          </a:p>
        </p:txBody>
      </p:sp>
      <p:sp>
        <p:nvSpPr>
          <p:cNvPr id="3" name="object 3"/>
          <p:cNvSpPr txBox="1"/>
          <p:nvPr/>
        </p:nvSpPr>
        <p:spPr>
          <a:xfrm>
            <a:off x="8173736" y="56323"/>
            <a:ext cx="911860" cy="138499"/>
          </a:xfrm>
          <a:prstGeom prst="rect">
            <a:avLst/>
          </a:prstGeom>
        </p:spPr>
        <p:txBody>
          <a:bodyPr vert="horz" wrap="square" lIns="0" tIns="7620" rIns="0" bIns="0" rtlCol="0">
            <a:spAutoFit/>
          </a:bodyPr>
          <a:lstStyle/>
          <a:p>
            <a:pPr marL="6350">
              <a:spcBef>
                <a:spcPts val="60"/>
              </a:spcBef>
            </a:pPr>
            <a:r>
              <a:rPr sz="850" dirty="0">
                <a:solidFill>
                  <a:srgbClr val="13110E"/>
                </a:solidFill>
                <a:latin typeface="Open Sans Light"/>
                <a:cs typeface="Open Sans Light"/>
              </a:rPr>
              <a:t>Learn</a:t>
            </a:r>
            <a:r>
              <a:rPr sz="850" spc="15" dirty="0">
                <a:solidFill>
                  <a:srgbClr val="13110E"/>
                </a:solidFill>
                <a:latin typeface="Open Sans Light"/>
                <a:cs typeface="Open Sans Light"/>
              </a:rPr>
              <a:t> </a:t>
            </a:r>
            <a:r>
              <a:rPr sz="850" dirty="0">
                <a:solidFill>
                  <a:srgbClr val="13110E"/>
                </a:solidFill>
                <a:latin typeface="Open Sans Light"/>
                <a:cs typeface="Open Sans Light"/>
              </a:rPr>
              <a:t>With</a:t>
            </a:r>
            <a:r>
              <a:rPr sz="850" spc="15" dirty="0">
                <a:solidFill>
                  <a:srgbClr val="13110E"/>
                </a:solidFill>
                <a:latin typeface="Open Sans Light"/>
                <a:cs typeface="Open Sans Light"/>
              </a:rPr>
              <a:t> </a:t>
            </a:r>
            <a:r>
              <a:rPr sz="850" spc="-5" dirty="0">
                <a:solidFill>
                  <a:srgbClr val="13110E"/>
                </a:solidFill>
                <a:latin typeface="Open Sans Light"/>
                <a:cs typeface="Open Sans Light"/>
              </a:rPr>
              <a:t>Sandip</a:t>
            </a:r>
            <a:endParaRPr sz="850">
              <a:latin typeface="Open Sans Light"/>
              <a:cs typeface="Open Sans Light"/>
            </a:endParaRPr>
          </a:p>
        </p:txBody>
      </p:sp>
      <p:sp>
        <p:nvSpPr>
          <p:cNvPr id="4" name="object 4"/>
          <p:cNvSpPr txBox="1"/>
          <p:nvPr/>
        </p:nvSpPr>
        <p:spPr>
          <a:xfrm>
            <a:off x="219067" y="350049"/>
            <a:ext cx="8729980" cy="4715522"/>
          </a:xfrm>
          <a:prstGeom prst="rect">
            <a:avLst/>
          </a:prstGeom>
        </p:spPr>
        <p:txBody>
          <a:bodyPr vert="horz" wrap="square" lIns="0" tIns="85725" rIns="0" bIns="0" rtlCol="0">
            <a:spAutoFit/>
          </a:bodyPr>
          <a:lstStyle/>
          <a:p>
            <a:pPr marL="75248">
              <a:spcBef>
                <a:spcPts val="675"/>
              </a:spcBef>
            </a:pPr>
            <a:r>
              <a:rPr sz="900" b="1" dirty="0">
                <a:latin typeface="Roboto"/>
                <a:cs typeface="Roboto"/>
              </a:rPr>
              <a:t>Highly</a:t>
            </a:r>
            <a:r>
              <a:rPr sz="900" b="1" spc="-8" dirty="0">
                <a:latin typeface="Roboto"/>
                <a:cs typeface="Roboto"/>
              </a:rPr>
              <a:t> </a:t>
            </a:r>
            <a:r>
              <a:rPr sz="900" b="1" dirty="0">
                <a:latin typeface="Roboto"/>
                <a:cs typeface="Roboto"/>
              </a:rPr>
              <a:t>secure,</a:t>
            </a:r>
            <a:r>
              <a:rPr sz="900" b="1" spc="-5" dirty="0">
                <a:latin typeface="Roboto"/>
                <a:cs typeface="Roboto"/>
              </a:rPr>
              <a:t> </a:t>
            </a:r>
            <a:r>
              <a:rPr sz="900" b="1" dirty="0">
                <a:latin typeface="Roboto"/>
                <a:cs typeface="Roboto"/>
              </a:rPr>
              <a:t>reliable,</a:t>
            </a:r>
            <a:r>
              <a:rPr sz="900" b="1" spc="-5" dirty="0">
                <a:latin typeface="Roboto"/>
                <a:cs typeface="Roboto"/>
              </a:rPr>
              <a:t> </a:t>
            </a:r>
            <a:r>
              <a:rPr sz="900" b="1" dirty="0">
                <a:latin typeface="Roboto"/>
                <a:cs typeface="Roboto"/>
              </a:rPr>
              <a:t>and</a:t>
            </a:r>
            <a:r>
              <a:rPr sz="900" b="1" spc="-5" dirty="0">
                <a:latin typeface="Roboto"/>
                <a:cs typeface="Roboto"/>
              </a:rPr>
              <a:t> </a:t>
            </a:r>
            <a:r>
              <a:rPr sz="900" b="1" dirty="0">
                <a:latin typeface="Roboto"/>
                <a:cs typeface="Roboto"/>
              </a:rPr>
              <a:t>scalable</a:t>
            </a:r>
            <a:r>
              <a:rPr sz="900" b="1" spc="-5" dirty="0">
                <a:latin typeface="Roboto"/>
                <a:cs typeface="Roboto"/>
              </a:rPr>
              <a:t> </a:t>
            </a:r>
            <a:r>
              <a:rPr sz="900" b="1" dirty="0">
                <a:latin typeface="Roboto"/>
                <a:cs typeface="Roboto"/>
              </a:rPr>
              <a:t>way</a:t>
            </a:r>
            <a:r>
              <a:rPr sz="900" b="1" spc="-5" dirty="0">
                <a:latin typeface="Roboto"/>
                <a:cs typeface="Roboto"/>
              </a:rPr>
              <a:t> </a:t>
            </a:r>
            <a:r>
              <a:rPr sz="900" b="1" dirty="0">
                <a:latin typeface="Roboto"/>
                <a:cs typeface="Roboto"/>
              </a:rPr>
              <a:t>to</a:t>
            </a:r>
            <a:r>
              <a:rPr sz="900" b="1" spc="-8" dirty="0">
                <a:latin typeface="Roboto"/>
                <a:cs typeface="Roboto"/>
              </a:rPr>
              <a:t> </a:t>
            </a:r>
            <a:r>
              <a:rPr sz="900" b="1" dirty="0">
                <a:latin typeface="Roboto"/>
                <a:cs typeface="Roboto"/>
              </a:rPr>
              <a:t>run</a:t>
            </a:r>
            <a:r>
              <a:rPr sz="900" b="1" spc="-5" dirty="0">
                <a:latin typeface="Roboto"/>
                <a:cs typeface="Roboto"/>
              </a:rPr>
              <a:t> containers</a:t>
            </a:r>
            <a:endParaRPr sz="900">
              <a:latin typeface="Roboto"/>
              <a:cs typeface="Roboto"/>
            </a:endParaRPr>
          </a:p>
          <a:p>
            <a:pPr marL="75248" marR="67945">
              <a:lnSpc>
                <a:spcPct val="116500"/>
              </a:lnSpc>
              <a:spcBef>
                <a:spcPts val="545"/>
              </a:spcBef>
            </a:pPr>
            <a:r>
              <a:rPr sz="1100" dirty="0">
                <a:latin typeface="Roboto"/>
                <a:cs typeface="Roboto"/>
              </a:rPr>
              <a:t>Amazon</a:t>
            </a:r>
            <a:r>
              <a:rPr sz="1100" spc="-25" dirty="0">
                <a:latin typeface="Roboto"/>
                <a:cs typeface="Roboto"/>
              </a:rPr>
              <a:t> </a:t>
            </a:r>
            <a:r>
              <a:rPr sz="1100" dirty="0">
                <a:latin typeface="Roboto"/>
                <a:cs typeface="Roboto"/>
              </a:rPr>
              <a:t>Elastic</a:t>
            </a:r>
            <a:r>
              <a:rPr sz="1100" spc="-25" dirty="0">
                <a:latin typeface="Roboto"/>
                <a:cs typeface="Roboto"/>
              </a:rPr>
              <a:t> </a:t>
            </a:r>
            <a:r>
              <a:rPr sz="1100" dirty="0">
                <a:latin typeface="Roboto"/>
                <a:cs typeface="Roboto"/>
              </a:rPr>
              <a:t>Container</a:t>
            </a:r>
            <a:r>
              <a:rPr sz="1100" spc="-25" dirty="0">
                <a:latin typeface="Roboto"/>
                <a:cs typeface="Roboto"/>
              </a:rPr>
              <a:t> </a:t>
            </a:r>
            <a:r>
              <a:rPr sz="1100" dirty="0">
                <a:latin typeface="Roboto"/>
                <a:cs typeface="Roboto"/>
              </a:rPr>
              <a:t>Service</a:t>
            </a:r>
            <a:r>
              <a:rPr sz="1100" spc="-23" dirty="0">
                <a:latin typeface="Roboto"/>
                <a:cs typeface="Roboto"/>
              </a:rPr>
              <a:t> </a:t>
            </a:r>
            <a:r>
              <a:rPr sz="1100" dirty="0">
                <a:latin typeface="Roboto"/>
                <a:cs typeface="Roboto"/>
              </a:rPr>
              <a:t>(Amazon</a:t>
            </a:r>
            <a:r>
              <a:rPr sz="1100" spc="-25" dirty="0">
                <a:latin typeface="Roboto"/>
                <a:cs typeface="Roboto"/>
              </a:rPr>
              <a:t> </a:t>
            </a:r>
            <a:r>
              <a:rPr sz="1100" dirty="0">
                <a:latin typeface="Roboto"/>
                <a:cs typeface="Roboto"/>
              </a:rPr>
              <a:t>ECS)</a:t>
            </a:r>
            <a:r>
              <a:rPr sz="1100" spc="-25" dirty="0">
                <a:latin typeface="Roboto"/>
                <a:cs typeface="Roboto"/>
              </a:rPr>
              <a:t> </a:t>
            </a:r>
            <a:r>
              <a:rPr sz="1100" dirty="0">
                <a:latin typeface="Roboto"/>
                <a:cs typeface="Roboto"/>
              </a:rPr>
              <a:t>is</a:t>
            </a:r>
            <a:r>
              <a:rPr sz="1100" spc="-25" dirty="0">
                <a:latin typeface="Roboto"/>
                <a:cs typeface="Roboto"/>
              </a:rPr>
              <a:t> </a:t>
            </a:r>
            <a:r>
              <a:rPr sz="1100" dirty="0">
                <a:latin typeface="Roboto"/>
                <a:cs typeface="Roboto"/>
              </a:rPr>
              <a:t>a</a:t>
            </a:r>
            <a:r>
              <a:rPr sz="1100" spc="-23" dirty="0">
                <a:latin typeface="Roboto"/>
                <a:cs typeface="Roboto"/>
              </a:rPr>
              <a:t> </a:t>
            </a:r>
            <a:r>
              <a:rPr sz="1100" dirty="0">
                <a:latin typeface="Roboto"/>
                <a:cs typeface="Roboto"/>
              </a:rPr>
              <a:t>fully</a:t>
            </a:r>
            <a:r>
              <a:rPr sz="1100" spc="-25" dirty="0">
                <a:latin typeface="Roboto"/>
                <a:cs typeface="Roboto"/>
              </a:rPr>
              <a:t> </a:t>
            </a:r>
            <a:r>
              <a:rPr sz="1100" dirty="0">
                <a:latin typeface="Roboto"/>
                <a:cs typeface="Roboto"/>
              </a:rPr>
              <a:t>managed</a:t>
            </a:r>
            <a:r>
              <a:rPr sz="1100" spc="-25" dirty="0">
                <a:latin typeface="Roboto"/>
                <a:cs typeface="Roboto"/>
              </a:rPr>
              <a:t> </a:t>
            </a:r>
            <a:r>
              <a:rPr sz="1100" dirty="0">
                <a:latin typeface="Roboto"/>
                <a:cs typeface="Roboto"/>
              </a:rPr>
              <a:t>container</a:t>
            </a:r>
            <a:r>
              <a:rPr sz="1100" spc="-23" dirty="0">
                <a:latin typeface="Roboto"/>
                <a:cs typeface="Roboto"/>
              </a:rPr>
              <a:t> </a:t>
            </a:r>
            <a:r>
              <a:rPr sz="1100" dirty="0">
                <a:latin typeface="Roboto"/>
                <a:cs typeface="Roboto"/>
              </a:rPr>
              <a:t>orchestration</a:t>
            </a:r>
            <a:r>
              <a:rPr sz="1100" spc="-25" dirty="0">
                <a:latin typeface="Roboto"/>
                <a:cs typeface="Roboto"/>
              </a:rPr>
              <a:t> </a:t>
            </a:r>
            <a:r>
              <a:rPr sz="1100" dirty="0">
                <a:latin typeface="Roboto"/>
                <a:cs typeface="Roboto"/>
              </a:rPr>
              <a:t>service</a:t>
            </a:r>
            <a:r>
              <a:rPr sz="1100" spc="-25" dirty="0">
                <a:latin typeface="Roboto"/>
                <a:cs typeface="Roboto"/>
              </a:rPr>
              <a:t> </a:t>
            </a:r>
            <a:r>
              <a:rPr sz="1100" dirty="0">
                <a:latin typeface="Roboto"/>
                <a:cs typeface="Roboto"/>
              </a:rPr>
              <a:t>that</a:t>
            </a:r>
            <a:r>
              <a:rPr sz="1100" spc="-25" dirty="0">
                <a:latin typeface="Roboto"/>
                <a:cs typeface="Roboto"/>
              </a:rPr>
              <a:t> </a:t>
            </a:r>
            <a:r>
              <a:rPr sz="1100" dirty="0">
                <a:latin typeface="Roboto"/>
                <a:cs typeface="Roboto"/>
              </a:rPr>
              <a:t>helps</a:t>
            </a:r>
            <a:r>
              <a:rPr sz="1100" spc="-23" dirty="0">
                <a:latin typeface="Roboto"/>
                <a:cs typeface="Roboto"/>
              </a:rPr>
              <a:t> </a:t>
            </a:r>
            <a:r>
              <a:rPr sz="1100" dirty="0">
                <a:latin typeface="Roboto"/>
                <a:cs typeface="Roboto"/>
              </a:rPr>
              <a:t>you</a:t>
            </a:r>
            <a:r>
              <a:rPr sz="1100" spc="-25" dirty="0">
                <a:latin typeface="Roboto"/>
                <a:cs typeface="Roboto"/>
              </a:rPr>
              <a:t> </a:t>
            </a:r>
            <a:r>
              <a:rPr sz="1100" dirty="0">
                <a:latin typeface="Roboto"/>
                <a:cs typeface="Roboto"/>
              </a:rPr>
              <a:t>easily</a:t>
            </a:r>
            <a:r>
              <a:rPr sz="1100" spc="-25" dirty="0">
                <a:latin typeface="Roboto"/>
                <a:cs typeface="Roboto"/>
              </a:rPr>
              <a:t> </a:t>
            </a:r>
            <a:r>
              <a:rPr sz="1100" dirty="0">
                <a:latin typeface="Roboto"/>
                <a:cs typeface="Roboto"/>
              </a:rPr>
              <a:t>deploy,</a:t>
            </a:r>
            <a:r>
              <a:rPr sz="1100" spc="-25" dirty="0">
                <a:latin typeface="Roboto"/>
                <a:cs typeface="Roboto"/>
              </a:rPr>
              <a:t> </a:t>
            </a:r>
            <a:r>
              <a:rPr sz="1100" spc="-5" dirty="0">
                <a:latin typeface="Roboto"/>
                <a:cs typeface="Roboto"/>
              </a:rPr>
              <a:t>manage, </a:t>
            </a:r>
            <a:r>
              <a:rPr sz="1100" dirty="0">
                <a:latin typeface="Roboto"/>
                <a:cs typeface="Roboto"/>
              </a:rPr>
              <a:t>and</a:t>
            </a:r>
            <a:r>
              <a:rPr sz="1100" spc="-20" dirty="0">
                <a:latin typeface="Roboto"/>
                <a:cs typeface="Roboto"/>
              </a:rPr>
              <a:t> </a:t>
            </a:r>
            <a:r>
              <a:rPr sz="1100" dirty="0">
                <a:latin typeface="Roboto"/>
                <a:cs typeface="Roboto"/>
              </a:rPr>
              <a:t>scale</a:t>
            </a:r>
            <a:r>
              <a:rPr sz="1100" spc="-20" dirty="0">
                <a:latin typeface="Roboto"/>
                <a:cs typeface="Roboto"/>
              </a:rPr>
              <a:t> </a:t>
            </a:r>
            <a:r>
              <a:rPr sz="1100" dirty="0">
                <a:latin typeface="Roboto"/>
                <a:cs typeface="Roboto"/>
              </a:rPr>
              <a:t>containerized</a:t>
            </a:r>
            <a:r>
              <a:rPr sz="1100" spc="-20" dirty="0">
                <a:latin typeface="Roboto"/>
                <a:cs typeface="Roboto"/>
              </a:rPr>
              <a:t> </a:t>
            </a:r>
            <a:r>
              <a:rPr sz="1100" dirty="0">
                <a:latin typeface="Roboto"/>
                <a:cs typeface="Roboto"/>
              </a:rPr>
              <a:t>applications.</a:t>
            </a:r>
            <a:r>
              <a:rPr sz="1100" spc="-18" dirty="0">
                <a:latin typeface="Roboto"/>
                <a:cs typeface="Roboto"/>
              </a:rPr>
              <a:t> </a:t>
            </a:r>
            <a:r>
              <a:rPr sz="1100" dirty="0">
                <a:latin typeface="Roboto"/>
                <a:cs typeface="Roboto"/>
              </a:rPr>
              <a:t>It</a:t>
            </a:r>
            <a:r>
              <a:rPr sz="1100" spc="-20" dirty="0">
                <a:latin typeface="Roboto"/>
                <a:cs typeface="Roboto"/>
              </a:rPr>
              <a:t> </a:t>
            </a:r>
            <a:r>
              <a:rPr sz="1100" dirty="0">
                <a:latin typeface="Roboto"/>
                <a:cs typeface="Roboto"/>
              </a:rPr>
              <a:t>deeply</a:t>
            </a:r>
            <a:r>
              <a:rPr sz="1100" spc="-20" dirty="0">
                <a:latin typeface="Roboto"/>
                <a:cs typeface="Roboto"/>
              </a:rPr>
              <a:t> </a:t>
            </a:r>
            <a:r>
              <a:rPr sz="1100" dirty="0">
                <a:latin typeface="Roboto"/>
                <a:cs typeface="Roboto"/>
              </a:rPr>
              <a:t>integrates</a:t>
            </a:r>
            <a:r>
              <a:rPr sz="1100" spc="-18" dirty="0">
                <a:latin typeface="Roboto"/>
                <a:cs typeface="Roboto"/>
              </a:rPr>
              <a:t> </a:t>
            </a:r>
            <a:r>
              <a:rPr sz="1100" dirty="0">
                <a:latin typeface="Roboto"/>
                <a:cs typeface="Roboto"/>
              </a:rPr>
              <a:t>with</a:t>
            </a:r>
            <a:r>
              <a:rPr sz="1100" spc="-20" dirty="0">
                <a:latin typeface="Roboto"/>
                <a:cs typeface="Roboto"/>
              </a:rPr>
              <a:t> </a:t>
            </a:r>
            <a:r>
              <a:rPr sz="1100" dirty="0">
                <a:latin typeface="Roboto"/>
                <a:cs typeface="Roboto"/>
              </a:rPr>
              <a:t>the</a:t>
            </a:r>
            <a:r>
              <a:rPr sz="1100" spc="-20" dirty="0">
                <a:latin typeface="Roboto"/>
                <a:cs typeface="Roboto"/>
              </a:rPr>
              <a:t> </a:t>
            </a:r>
            <a:r>
              <a:rPr sz="1100" dirty="0">
                <a:latin typeface="Roboto"/>
                <a:cs typeface="Roboto"/>
              </a:rPr>
              <a:t>rest</a:t>
            </a:r>
            <a:r>
              <a:rPr sz="1100" spc="-20" dirty="0">
                <a:latin typeface="Roboto"/>
                <a:cs typeface="Roboto"/>
              </a:rPr>
              <a:t> </a:t>
            </a:r>
            <a:r>
              <a:rPr sz="1100" dirty="0">
                <a:latin typeface="Roboto"/>
                <a:cs typeface="Roboto"/>
              </a:rPr>
              <a:t>of</a:t>
            </a:r>
            <a:r>
              <a:rPr sz="1100" spc="-18" dirty="0">
                <a:latin typeface="Roboto"/>
                <a:cs typeface="Roboto"/>
              </a:rPr>
              <a:t> </a:t>
            </a:r>
            <a:r>
              <a:rPr sz="1100" dirty="0">
                <a:latin typeface="Roboto"/>
                <a:cs typeface="Roboto"/>
              </a:rPr>
              <a:t>the</a:t>
            </a:r>
            <a:r>
              <a:rPr sz="1100" spc="-20" dirty="0">
                <a:latin typeface="Roboto"/>
                <a:cs typeface="Roboto"/>
              </a:rPr>
              <a:t> </a:t>
            </a:r>
            <a:r>
              <a:rPr sz="1100" dirty="0">
                <a:latin typeface="Roboto"/>
                <a:cs typeface="Roboto"/>
              </a:rPr>
              <a:t>AWS</a:t>
            </a:r>
            <a:r>
              <a:rPr sz="1100" spc="-20" dirty="0">
                <a:latin typeface="Roboto"/>
                <a:cs typeface="Roboto"/>
              </a:rPr>
              <a:t> </a:t>
            </a:r>
            <a:r>
              <a:rPr sz="1100" dirty="0">
                <a:latin typeface="Roboto"/>
                <a:cs typeface="Roboto"/>
              </a:rPr>
              <a:t>platform</a:t>
            </a:r>
            <a:r>
              <a:rPr sz="1100" spc="-18" dirty="0">
                <a:latin typeface="Roboto"/>
                <a:cs typeface="Roboto"/>
              </a:rPr>
              <a:t> </a:t>
            </a:r>
            <a:r>
              <a:rPr sz="1100" dirty="0">
                <a:latin typeface="Roboto"/>
                <a:cs typeface="Roboto"/>
              </a:rPr>
              <a:t>to</a:t>
            </a:r>
            <a:r>
              <a:rPr sz="1100" spc="-20" dirty="0">
                <a:latin typeface="Roboto"/>
                <a:cs typeface="Roboto"/>
              </a:rPr>
              <a:t> </a:t>
            </a:r>
            <a:r>
              <a:rPr sz="1100" dirty="0">
                <a:latin typeface="Roboto"/>
                <a:cs typeface="Roboto"/>
              </a:rPr>
              <a:t>provide</a:t>
            </a:r>
            <a:r>
              <a:rPr sz="1100" spc="-20" dirty="0">
                <a:latin typeface="Roboto"/>
                <a:cs typeface="Roboto"/>
              </a:rPr>
              <a:t> </a:t>
            </a:r>
            <a:r>
              <a:rPr sz="1100" dirty="0">
                <a:latin typeface="Roboto"/>
                <a:cs typeface="Roboto"/>
              </a:rPr>
              <a:t>a</a:t>
            </a:r>
            <a:r>
              <a:rPr sz="1100" spc="-18" dirty="0">
                <a:latin typeface="Roboto"/>
                <a:cs typeface="Roboto"/>
              </a:rPr>
              <a:t> </a:t>
            </a:r>
            <a:r>
              <a:rPr sz="1100" dirty="0">
                <a:latin typeface="Roboto"/>
                <a:cs typeface="Roboto"/>
              </a:rPr>
              <a:t>secure</a:t>
            </a:r>
            <a:r>
              <a:rPr sz="1100" spc="-20" dirty="0">
                <a:latin typeface="Roboto"/>
                <a:cs typeface="Roboto"/>
              </a:rPr>
              <a:t> </a:t>
            </a:r>
            <a:r>
              <a:rPr sz="1100" dirty="0">
                <a:latin typeface="Roboto"/>
                <a:cs typeface="Roboto"/>
              </a:rPr>
              <a:t>and</a:t>
            </a:r>
            <a:r>
              <a:rPr sz="1100" spc="-20" dirty="0">
                <a:latin typeface="Roboto"/>
                <a:cs typeface="Roboto"/>
              </a:rPr>
              <a:t> </a:t>
            </a:r>
            <a:r>
              <a:rPr sz="1100" spc="-5" dirty="0">
                <a:latin typeface="Roboto"/>
                <a:cs typeface="Roboto"/>
              </a:rPr>
              <a:t>easy-to-</a:t>
            </a:r>
            <a:r>
              <a:rPr sz="1100" dirty="0">
                <a:latin typeface="Roboto"/>
                <a:cs typeface="Roboto"/>
              </a:rPr>
              <a:t>use</a:t>
            </a:r>
            <a:r>
              <a:rPr sz="1100" spc="-20" dirty="0">
                <a:latin typeface="Roboto"/>
                <a:cs typeface="Roboto"/>
              </a:rPr>
              <a:t> </a:t>
            </a:r>
            <a:r>
              <a:rPr sz="1100" dirty="0">
                <a:latin typeface="Roboto"/>
                <a:cs typeface="Roboto"/>
              </a:rPr>
              <a:t>solution</a:t>
            </a:r>
            <a:r>
              <a:rPr sz="1100" spc="-18" dirty="0">
                <a:latin typeface="Roboto"/>
                <a:cs typeface="Roboto"/>
              </a:rPr>
              <a:t> </a:t>
            </a:r>
            <a:r>
              <a:rPr sz="1100" spc="-13" dirty="0">
                <a:latin typeface="Roboto"/>
                <a:cs typeface="Roboto"/>
              </a:rPr>
              <a:t>for </a:t>
            </a:r>
            <a:r>
              <a:rPr sz="1100" dirty="0">
                <a:latin typeface="Roboto"/>
                <a:cs typeface="Roboto"/>
              </a:rPr>
              <a:t>running</a:t>
            </a:r>
            <a:r>
              <a:rPr sz="1100" spc="-20" dirty="0">
                <a:latin typeface="Roboto"/>
                <a:cs typeface="Roboto"/>
              </a:rPr>
              <a:t> </a:t>
            </a:r>
            <a:r>
              <a:rPr sz="1100" dirty="0">
                <a:latin typeface="Roboto"/>
                <a:cs typeface="Roboto"/>
              </a:rPr>
              <a:t>container</a:t>
            </a:r>
            <a:r>
              <a:rPr sz="1100" spc="-18" dirty="0">
                <a:latin typeface="Roboto"/>
                <a:cs typeface="Roboto"/>
              </a:rPr>
              <a:t> </a:t>
            </a:r>
            <a:r>
              <a:rPr sz="1100" dirty="0">
                <a:latin typeface="Roboto"/>
                <a:cs typeface="Roboto"/>
              </a:rPr>
              <a:t>workloads</a:t>
            </a:r>
            <a:r>
              <a:rPr sz="1100" spc="-20" dirty="0">
                <a:latin typeface="Roboto"/>
                <a:cs typeface="Roboto"/>
              </a:rPr>
              <a:t> </a:t>
            </a:r>
            <a:r>
              <a:rPr sz="1100" dirty="0">
                <a:latin typeface="Roboto"/>
                <a:cs typeface="Roboto"/>
              </a:rPr>
              <a:t>in</a:t>
            </a:r>
            <a:r>
              <a:rPr sz="1100" spc="-18" dirty="0">
                <a:latin typeface="Roboto"/>
                <a:cs typeface="Roboto"/>
              </a:rPr>
              <a:t> </a:t>
            </a:r>
            <a:r>
              <a:rPr sz="1100" dirty="0">
                <a:latin typeface="Roboto"/>
                <a:cs typeface="Roboto"/>
              </a:rPr>
              <a:t>the</a:t>
            </a:r>
            <a:r>
              <a:rPr sz="1100" spc="-20" dirty="0">
                <a:latin typeface="Roboto"/>
                <a:cs typeface="Roboto"/>
              </a:rPr>
              <a:t> </a:t>
            </a:r>
            <a:r>
              <a:rPr sz="1100" dirty="0">
                <a:latin typeface="Roboto"/>
                <a:cs typeface="Roboto"/>
              </a:rPr>
              <a:t>cloud</a:t>
            </a:r>
            <a:r>
              <a:rPr sz="1100" spc="-18" dirty="0">
                <a:latin typeface="Roboto"/>
                <a:cs typeface="Roboto"/>
              </a:rPr>
              <a:t> </a:t>
            </a:r>
            <a:r>
              <a:rPr sz="1100" dirty="0">
                <a:latin typeface="Roboto"/>
                <a:cs typeface="Roboto"/>
              </a:rPr>
              <a:t>and</a:t>
            </a:r>
            <a:r>
              <a:rPr sz="1100" spc="-20" dirty="0">
                <a:latin typeface="Roboto"/>
                <a:cs typeface="Roboto"/>
              </a:rPr>
              <a:t> </a:t>
            </a:r>
            <a:r>
              <a:rPr sz="1100" dirty="0">
                <a:latin typeface="Roboto"/>
                <a:cs typeface="Roboto"/>
              </a:rPr>
              <a:t>now</a:t>
            </a:r>
            <a:r>
              <a:rPr sz="1100" spc="-18" dirty="0">
                <a:latin typeface="Roboto"/>
                <a:cs typeface="Roboto"/>
              </a:rPr>
              <a:t> </a:t>
            </a:r>
            <a:r>
              <a:rPr sz="1100" dirty="0">
                <a:latin typeface="Roboto"/>
                <a:cs typeface="Roboto"/>
              </a:rPr>
              <a:t>on</a:t>
            </a:r>
            <a:r>
              <a:rPr sz="1100" spc="-20" dirty="0">
                <a:latin typeface="Roboto"/>
                <a:cs typeface="Roboto"/>
              </a:rPr>
              <a:t> </a:t>
            </a:r>
            <a:r>
              <a:rPr sz="1100" dirty="0">
                <a:latin typeface="Roboto"/>
                <a:cs typeface="Roboto"/>
              </a:rPr>
              <a:t>your</a:t>
            </a:r>
            <a:r>
              <a:rPr sz="1100" spc="-18" dirty="0">
                <a:latin typeface="Roboto"/>
                <a:cs typeface="Roboto"/>
              </a:rPr>
              <a:t> </a:t>
            </a:r>
            <a:r>
              <a:rPr sz="1100" dirty="0">
                <a:latin typeface="Roboto"/>
                <a:cs typeface="Roboto"/>
              </a:rPr>
              <a:t>infrastructure</a:t>
            </a:r>
            <a:r>
              <a:rPr sz="1100" spc="-20" dirty="0">
                <a:latin typeface="Roboto"/>
                <a:cs typeface="Roboto"/>
              </a:rPr>
              <a:t> </a:t>
            </a:r>
            <a:r>
              <a:rPr sz="1100" dirty="0">
                <a:latin typeface="Roboto"/>
                <a:cs typeface="Roboto"/>
              </a:rPr>
              <a:t>with</a:t>
            </a:r>
            <a:r>
              <a:rPr sz="1100" spc="-18" dirty="0">
                <a:latin typeface="Roboto"/>
                <a:cs typeface="Roboto"/>
              </a:rPr>
              <a:t> </a:t>
            </a:r>
            <a:r>
              <a:rPr sz="1100" dirty="0">
                <a:latin typeface="Roboto"/>
                <a:cs typeface="Roboto"/>
              </a:rPr>
              <a:t>Amazon</a:t>
            </a:r>
            <a:r>
              <a:rPr sz="1100" spc="-20" dirty="0">
                <a:latin typeface="Roboto"/>
                <a:cs typeface="Roboto"/>
              </a:rPr>
              <a:t> </a:t>
            </a:r>
            <a:r>
              <a:rPr sz="1100" dirty="0">
                <a:latin typeface="Roboto"/>
                <a:cs typeface="Roboto"/>
              </a:rPr>
              <a:t>ECS</a:t>
            </a:r>
            <a:r>
              <a:rPr sz="1100" spc="-18" dirty="0">
                <a:latin typeface="Roboto"/>
                <a:cs typeface="Roboto"/>
              </a:rPr>
              <a:t> </a:t>
            </a:r>
            <a:r>
              <a:rPr sz="1100" spc="-5" dirty="0">
                <a:latin typeface="Roboto"/>
                <a:cs typeface="Roboto"/>
              </a:rPr>
              <a:t>Anywhere.</a:t>
            </a:r>
            <a:endParaRPr sz="1100">
              <a:latin typeface="Roboto"/>
              <a:cs typeface="Roboto"/>
            </a:endParaRPr>
          </a:p>
          <a:p>
            <a:pPr marR="861060" algn="ctr">
              <a:spcBef>
                <a:spcPts val="835"/>
              </a:spcBef>
            </a:pPr>
            <a:r>
              <a:rPr sz="1200" b="1" dirty="0">
                <a:latin typeface="Open Sans Extrabold"/>
                <a:cs typeface="Open Sans Extrabold"/>
              </a:rPr>
              <a:t>Points to </a:t>
            </a:r>
            <a:r>
              <a:rPr sz="1200" b="1" spc="-5" dirty="0">
                <a:latin typeface="Open Sans Extrabold"/>
                <a:cs typeface="Open Sans Extrabold"/>
              </a:rPr>
              <a:t>focus</a:t>
            </a:r>
            <a:endParaRPr sz="1200">
              <a:latin typeface="Open Sans Extrabold"/>
              <a:cs typeface="Open Sans Extrabold"/>
            </a:endParaRPr>
          </a:p>
          <a:p>
            <a:pPr marL="64453">
              <a:spcBef>
                <a:spcPts val="613"/>
              </a:spcBef>
              <a:tabLst>
                <a:tab pos="859790" algn="l"/>
                <a:tab pos="1176020" algn="l"/>
              </a:tabLst>
            </a:pPr>
            <a:r>
              <a:rPr sz="1100" b="1" spc="-5" dirty="0">
                <a:latin typeface="Roboto"/>
                <a:cs typeface="Roboto"/>
              </a:rPr>
              <a:t>Understand</a:t>
            </a:r>
            <a:r>
              <a:rPr sz="1100" b="1" dirty="0">
                <a:latin typeface="Roboto"/>
                <a:cs typeface="Roboto"/>
              </a:rPr>
              <a:t>	</a:t>
            </a:r>
            <a:r>
              <a:rPr sz="1100" b="1" spc="-13" dirty="0">
                <a:latin typeface="Roboto"/>
                <a:cs typeface="Roboto"/>
              </a:rPr>
              <a:t>Key</a:t>
            </a:r>
            <a:r>
              <a:rPr sz="1100" b="1" dirty="0">
                <a:latin typeface="Roboto"/>
                <a:cs typeface="Roboto"/>
              </a:rPr>
              <a:t>	</a:t>
            </a:r>
            <a:r>
              <a:rPr sz="1100" dirty="0">
                <a:latin typeface="Roboto"/>
                <a:cs typeface="Roboto"/>
              </a:rPr>
              <a:t>Understand</a:t>
            </a:r>
            <a:r>
              <a:rPr sz="1100" spc="-30" dirty="0">
                <a:latin typeface="Roboto"/>
                <a:cs typeface="Roboto"/>
              </a:rPr>
              <a:t> </a:t>
            </a:r>
            <a:r>
              <a:rPr sz="1100" dirty="0">
                <a:latin typeface="Roboto"/>
                <a:cs typeface="Roboto"/>
              </a:rPr>
              <a:t>well</a:t>
            </a:r>
            <a:r>
              <a:rPr sz="1100" spc="-28" dirty="0">
                <a:latin typeface="Roboto"/>
                <a:cs typeface="Roboto"/>
              </a:rPr>
              <a:t> </a:t>
            </a:r>
            <a:r>
              <a:rPr sz="1100" dirty="0">
                <a:latin typeface="Roboto"/>
                <a:cs typeface="Roboto"/>
              </a:rPr>
              <a:t>core</a:t>
            </a:r>
            <a:r>
              <a:rPr sz="1100" spc="-30" dirty="0">
                <a:latin typeface="Roboto"/>
                <a:cs typeface="Roboto"/>
              </a:rPr>
              <a:t> </a:t>
            </a:r>
            <a:r>
              <a:rPr sz="1100" dirty="0">
                <a:latin typeface="Roboto"/>
                <a:cs typeface="Roboto"/>
              </a:rPr>
              <a:t>components</a:t>
            </a:r>
            <a:r>
              <a:rPr sz="1100" spc="-28" dirty="0">
                <a:latin typeface="Roboto"/>
                <a:cs typeface="Roboto"/>
              </a:rPr>
              <a:t> </a:t>
            </a:r>
            <a:r>
              <a:rPr sz="1100" dirty="0">
                <a:latin typeface="Roboto"/>
                <a:cs typeface="Roboto"/>
              </a:rPr>
              <a:t>such</a:t>
            </a:r>
            <a:r>
              <a:rPr sz="1100" spc="-30" dirty="0">
                <a:latin typeface="Roboto"/>
                <a:cs typeface="Roboto"/>
              </a:rPr>
              <a:t> </a:t>
            </a:r>
            <a:r>
              <a:rPr sz="1100" dirty="0">
                <a:latin typeface="Roboto"/>
                <a:cs typeface="Roboto"/>
              </a:rPr>
              <a:t>as</a:t>
            </a:r>
            <a:r>
              <a:rPr sz="1100" spc="-28" dirty="0">
                <a:latin typeface="Roboto"/>
                <a:cs typeface="Roboto"/>
              </a:rPr>
              <a:t> </a:t>
            </a:r>
            <a:r>
              <a:rPr sz="1100" dirty="0">
                <a:latin typeface="Roboto"/>
                <a:cs typeface="Roboto"/>
              </a:rPr>
              <a:t>Containerization,</a:t>
            </a:r>
            <a:r>
              <a:rPr sz="1100" spc="-30" dirty="0">
                <a:latin typeface="Roboto"/>
                <a:cs typeface="Roboto"/>
              </a:rPr>
              <a:t> </a:t>
            </a:r>
            <a:r>
              <a:rPr sz="1100" dirty="0">
                <a:latin typeface="Roboto"/>
                <a:cs typeface="Roboto"/>
              </a:rPr>
              <a:t>Docker,</a:t>
            </a:r>
            <a:r>
              <a:rPr sz="1100" spc="-28" dirty="0">
                <a:latin typeface="Roboto"/>
                <a:cs typeface="Roboto"/>
              </a:rPr>
              <a:t> </a:t>
            </a:r>
            <a:r>
              <a:rPr sz="1100" dirty="0">
                <a:latin typeface="Roboto"/>
                <a:cs typeface="Roboto"/>
              </a:rPr>
              <a:t>Clusters,</a:t>
            </a:r>
            <a:r>
              <a:rPr sz="1100" spc="-30" dirty="0">
                <a:latin typeface="Roboto"/>
                <a:cs typeface="Roboto"/>
              </a:rPr>
              <a:t> </a:t>
            </a:r>
            <a:r>
              <a:rPr sz="1100" dirty="0">
                <a:latin typeface="Roboto"/>
                <a:cs typeface="Roboto"/>
              </a:rPr>
              <a:t>Task</a:t>
            </a:r>
            <a:r>
              <a:rPr sz="1100" spc="-28" dirty="0">
                <a:latin typeface="Roboto"/>
                <a:cs typeface="Roboto"/>
              </a:rPr>
              <a:t> </a:t>
            </a:r>
            <a:r>
              <a:rPr sz="1100" dirty="0">
                <a:latin typeface="Roboto"/>
                <a:cs typeface="Roboto"/>
              </a:rPr>
              <a:t>definition,</a:t>
            </a:r>
            <a:r>
              <a:rPr sz="1100" spc="-30" dirty="0">
                <a:latin typeface="Roboto"/>
                <a:cs typeface="Roboto"/>
              </a:rPr>
              <a:t> </a:t>
            </a:r>
            <a:r>
              <a:rPr sz="1100" dirty="0">
                <a:latin typeface="Roboto"/>
                <a:cs typeface="Roboto"/>
              </a:rPr>
              <a:t>Tasks,</a:t>
            </a:r>
            <a:r>
              <a:rPr sz="1100" spc="-28" dirty="0">
                <a:latin typeface="Roboto"/>
                <a:cs typeface="Roboto"/>
              </a:rPr>
              <a:t> </a:t>
            </a:r>
            <a:r>
              <a:rPr sz="1100" dirty="0">
                <a:latin typeface="Roboto"/>
                <a:cs typeface="Roboto"/>
              </a:rPr>
              <a:t>Task</a:t>
            </a:r>
            <a:r>
              <a:rPr sz="1100" spc="-30" dirty="0">
                <a:latin typeface="Roboto"/>
                <a:cs typeface="Roboto"/>
              </a:rPr>
              <a:t> </a:t>
            </a:r>
            <a:r>
              <a:rPr sz="1100" spc="-5" dirty="0">
                <a:latin typeface="Roboto"/>
                <a:cs typeface="Roboto"/>
              </a:rPr>
              <a:t>LifeCycle,</a:t>
            </a:r>
            <a:endParaRPr sz="1100">
              <a:latin typeface="Roboto"/>
              <a:cs typeface="Roboto"/>
            </a:endParaRPr>
          </a:p>
          <a:p>
            <a:pPr marL="499745">
              <a:spcBef>
                <a:spcPts val="217"/>
              </a:spcBef>
              <a:tabLst>
                <a:tab pos="1176020" algn="l"/>
              </a:tabLst>
            </a:pPr>
            <a:r>
              <a:rPr sz="1100" b="1" spc="-5" dirty="0">
                <a:latin typeface="Roboto"/>
                <a:cs typeface="Roboto"/>
              </a:rPr>
              <a:t>Concepts</a:t>
            </a:r>
            <a:r>
              <a:rPr sz="1100" b="1" dirty="0">
                <a:latin typeface="Roboto"/>
                <a:cs typeface="Roboto"/>
              </a:rPr>
              <a:t>	</a:t>
            </a:r>
            <a:r>
              <a:rPr sz="1100" dirty="0">
                <a:latin typeface="Roboto"/>
                <a:cs typeface="Roboto"/>
              </a:rPr>
              <a:t>Service,</a:t>
            </a:r>
            <a:r>
              <a:rPr sz="1100" spc="-33" dirty="0">
                <a:latin typeface="Roboto"/>
                <a:cs typeface="Roboto"/>
              </a:rPr>
              <a:t> </a:t>
            </a:r>
            <a:r>
              <a:rPr sz="1100" dirty="0">
                <a:latin typeface="Roboto"/>
                <a:cs typeface="Roboto"/>
              </a:rPr>
              <a:t>Task/service</a:t>
            </a:r>
            <a:r>
              <a:rPr sz="1100" spc="-33" dirty="0">
                <a:latin typeface="Roboto"/>
                <a:cs typeface="Roboto"/>
              </a:rPr>
              <a:t> </a:t>
            </a:r>
            <a:r>
              <a:rPr sz="1100" dirty="0">
                <a:latin typeface="Roboto"/>
                <a:cs typeface="Roboto"/>
              </a:rPr>
              <a:t>Autoscaling,</a:t>
            </a:r>
            <a:r>
              <a:rPr sz="1100" spc="-33" dirty="0">
                <a:latin typeface="Roboto"/>
                <a:cs typeface="Roboto"/>
              </a:rPr>
              <a:t> </a:t>
            </a:r>
            <a:r>
              <a:rPr sz="1100" dirty="0">
                <a:latin typeface="Roboto"/>
                <a:cs typeface="Roboto"/>
              </a:rPr>
              <a:t>Cluster</a:t>
            </a:r>
            <a:r>
              <a:rPr sz="1100" spc="-33" dirty="0">
                <a:latin typeface="Roboto"/>
                <a:cs typeface="Roboto"/>
              </a:rPr>
              <a:t> </a:t>
            </a:r>
            <a:r>
              <a:rPr sz="1100" dirty="0">
                <a:latin typeface="Roboto"/>
                <a:cs typeface="Roboto"/>
              </a:rPr>
              <a:t>Autoscaling,</a:t>
            </a:r>
            <a:r>
              <a:rPr sz="1100" spc="-33" dirty="0">
                <a:latin typeface="Roboto"/>
                <a:cs typeface="Roboto"/>
              </a:rPr>
              <a:t> </a:t>
            </a:r>
            <a:r>
              <a:rPr sz="1100" dirty="0">
                <a:latin typeface="Roboto"/>
                <a:cs typeface="Roboto"/>
              </a:rPr>
              <a:t>Capaticty</a:t>
            </a:r>
            <a:r>
              <a:rPr sz="1100" spc="-33" dirty="0">
                <a:latin typeface="Roboto"/>
                <a:cs typeface="Roboto"/>
              </a:rPr>
              <a:t> </a:t>
            </a:r>
            <a:r>
              <a:rPr sz="1100" dirty="0">
                <a:latin typeface="Roboto"/>
                <a:cs typeface="Roboto"/>
              </a:rPr>
              <a:t>Providers,</a:t>
            </a:r>
            <a:r>
              <a:rPr sz="1100" spc="-33" dirty="0">
                <a:latin typeface="Roboto"/>
                <a:cs typeface="Roboto"/>
              </a:rPr>
              <a:t> </a:t>
            </a:r>
            <a:r>
              <a:rPr sz="1100" dirty="0">
                <a:latin typeface="Roboto"/>
                <a:cs typeface="Roboto"/>
              </a:rPr>
              <a:t>Ec2</a:t>
            </a:r>
            <a:r>
              <a:rPr sz="1100" spc="-33" dirty="0">
                <a:latin typeface="Roboto"/>
                <a:cs typeface="Roboto"/>
              </a:rPr>
              <a:t> </a:t>
            </a:r>
            <a:r>
              <a:rPr sz="1100" dirty="0">
                <a:latin typeface="Roboto"/>
                <a:cs typeface="Roboto"/>
              </a:rPr>
              <a:t>based</a:t>
            </a:r>
            <a:r>
              <a:rPr sz="1100" spc="-33" dirty="0">
                <a:latin typeface="Roboto"/>
                <a:cs typeface="Roboto"/>
              </a:rPr>
              <a:t> </a:t>
            </a:r>
            <a:r>
              <a:rPr sz="1100" dirty="0">
                <a:latin typeface="Roboto"/>
                <a:cs typeface="Roboto"/>
              </a:rPr>
              <a:t>vs</a:t>
            </a:r>
            <a:r>
              <a:rPr sz="1100" spc="-33" dirty="0">
                <a:latin typeface="Roboto"/>
                <a:cs typeface="Roboto"/>
              </a:rPr>
              <a:t> </a:t>
            </a:r>
            <a:r>
              <a:rPr sz="1100" dirty="0">
                <a:latin typeface="Roboto"/>
                <a:cs typeface="Roboto"/>
              </a:rPr>
              <a:t>Fargate</a:t>
            </a:r>
            <a:r>
              <a:rPr sz="1100" spc="-33" dirty="0">
                <a:latin typeface="Roboto"/>
                <a:cs typeface="Roboto"/>
              </a:rPr>
              <a:t> </a:t>
            </a:r>
            <a:r>
              <a:rPr sz="1100" dirty="0">
                <a:latin typeface="Roboto"/>
                <a:cs typeface="Roboto"/>
              </a:rPr>
              <a:t>vs</a:t>
            </a:r>
            <a:r>
              <a:rPr sz="1100" spc="-33" dirty="0">
                <a:latin typeface="Roboto"/>
                <a:cs typeface="Roboto"/>
              </a:rPr>
              <a:t> </a:t>
            </a:r>
            <a:r>
              <a:rPr sz="1100" dirty="0">
                <a:latin typeface="Roboto"/>
                <a:cs typeface="Roboto"/>
              </a:rPr>
              <a:t>ECS</a:t>
            </a:r>
            <a:r>
              <a:rPr sz="1100" spc="-33" dirty="0">
                <a:latin typeface="Roboto"/>
                <a:cs typeface="Roboto"/>
              </a:rPr>
              <a:t> </a:t>
            </a:r>
            <a:r>
              <a:rPr sz="1100" spc="-5" dirty="0">
                <a:latin typeface="Roboto"/>
                <a:cs typeface="Roboto"/>
              </a:rPr>
              <a:t>anywhere</a:t>
            </a:r>
            <a:endParaRPr sz="1100">
              <a:latin typeface="Roboto"/>
              <a:cs typeface="Roboto"/>
            </a:endParaRPr>
          </a:p>
          <a:p>
            <a:pPr marL="341313">
              <a:spcBef>
                <a:spcPts val="620"/>
              </a:spcBef>
              <a:tabLst>
                <a:tab pos="1176020" algn="l"/>
              </a:tabLst>
            </a:pPr>
            <a:r>
              <a:rPr sz="1100" b="1" spc="-5" dirty="0">
                <a:latin typeface="Roboto"/>
                <a:cs typeface="Roboto"/>
              </a:rPr>
              <a:t>Deployment</a:t>
            </a:r>
            <a:r>
              <a:rPr sz="1100" b="1" dirty="0">
                <a:latin typeface="Roboto"/>
                <a:cs typeface="Roboto"/>
              </a:rPr>
              <a:t>	</a:t>
            </a:r>
            <a:r>
              <a:rPr sz="1100" dirty="0">
                <a:latin typeface="Roboto"/>
                <a:cs typeface="Roboto"/>
              </a:rPr>
              <a:t>There</a:t>
            </a:r>
            <a:r>
              <a:rPr sz="1100" spc="-25" dirty="0">
                <a:latin typeface="Roboto"/>
                <a:cs typeface="Roboto"/>
              </a:rPr>
              <a:t> </a:t>
            </a:r>
            <a:r>
              <a:rPr sz="1100" dirty="0">
                <a:latin typeface="Roboto"/>
                <a:cs typeface="Roboto"/>
              </a:rPr>
              <a:t>are</a:t>
            </a:r>
            <a:r>
              <a:rPr sz="1100" spc="-23" dirty="0">
                <a:latin typeface="Roboto"/>
                <a:cs typeface="Roboto"/>
              </a:rPr>
              <a:t> </a:t>
            </a:r>
            <a:r>
              <a:rPr sz="1100" dirty="0">
                <a:latin typeface="Roboto"/>
                <a:cs typeface="Roboto"/>
              </a:rPr>
              <a:t>two</a:t>
            </a:r>
            <a:r>
              <a:rPr sz="1100" spc="-23" dirty="0">
                <a:latin typeface="Roboto"/>
                <a:cs typeface="Roboto"/>
              </a:rPr>
              <a:t> </a:t>
            </a:r>
            <a:r>
              <a:rPr sz="1100" dirty="0">
                <a:latin typeface="Roboto"/>
                <a:cs typeface="Roboto"/>
              </a:rPr>
              <a:t>deployment</a:t>
            </a:r>
            <a:r>
              <a:rPr sz="1100" spc="-23" dirty="0">
                <a:latin typeface="Roboto"/>
                <a:cs typeface="Roboto"/>
              </a:rPr>
              <a:t> </a:t>
            </a:r>
            <a:r>
              <a:rPr sz="1100" dirty="0">
                <a:latin typeface="Roboto"/>
                <a:cs typeface="Roboto"/>
              </a:rPr>
              <a:t>methods,</a:t>
            </a:r>
            <a:r>
              <a:rPr sz="1100" spc="-25" dirty="0">
                <a:latin typeface="Roboto"/>
                <a:cs typeface="Roboto"/>
              </a:rPr>
              <a:t> </a:t>
            </a:r>
            <a:r>
              <a:rPr sz="1100" dirty="0">
                <a:latin typeface="Roboto"/>
                <a:cs typeface="Roboto"/>
              </a:rPr>
              <a:t>rolling</a:t>
            </a:r>
            <a:r>
              <a:rPr sz="1100" spc="-23" dirty="0">
                <a:latin typeface="Roboto"/>
                <a:cs typeface="Roboto"/>
              </a:rPr>
              <a:t> </a:t>
            </a:r>
            <a:r>
              <a:rPr sz="1100" dirty="0">
                <a:latin typeface="Roboto"/>
                <a:cs typeface="Roboto"/>
              </a:rPr>
              <a:t>update</a:t>
            </a:r>
            <a:r>
              <a:rPr sz="1100" spc="-23" dirty="0">
                <a:latin typeface="Roboto"/>
                <a:cs typeface="Roboto"/>
              </a:rPr>
              <a:t> </a:t>
            </a:r>
            <a:r>
              <a:rPr sz="1100" dirty="0">
                <a:latin typeface="Roboto"/>
                <a:cs typeface="Roboto"/>
              </a:rPr>
              <a:t>and</a:t>
            </a:r>
            <a:r>
              <a:rPr sz="1100" spc="-23" dirty="0">
                <a:latin typeface="Roboto"/>
                <a:cs typeface="Roboto"/>
              </a:rPr>
              <a:t> </a:t>
            </a:r>
            <a:r>
              <a:rPr sz="1100" dirty="0">
                <a:latin typeface="Roboto"/>
                <a:cs typeface="Roboto"/>
              </a:rPr>
              <a:t>blue/green</a:t>
            </a:r>
            <a:r>
              <a:rPr sz="1100" spc="-25" dirty="0">
                <a:latin typeface="Roboto"/>
                <a:cs typeface="Roboto"/>
              </a:rPr>
              <a:t> </a:t>
            </a:r>
            <a:r>
              <a:rPr sz="1100" dirty="0">
                <a:latin typeface="Roboto"/>
                <a:cs typeface="Roboto"/>
              </a:rPr>
              <a:t>deployment,</a:t>
            </a:r>
            <a:r>
              <a:rPr sz="1100" spc="-23" dirty="0">
                <a:latin typeface="Roboto"/>
                <a:cs typeface="Roboto"/>
              </a:rPr>
              <a:t> </a:t>
            </a:r>
            <a:r>
              <a:rPr sz="1100" dirty="0">
                <a:latin typeface="Roboto"/>
                <a:cs typeface="Roboto"/>
              </a:rPr>
              <a:t>choose</a:t>
            </a:r>
            <a:r>
              <a:rPr sz="1100" spc="-23" dirty="0">
                <a:latin typeface="Roboto"/>
                <a:cs typeface="Roboto"/>
              </a:rPr>
              <a:t> </a:t>
            </a:r>
            <a:r>
              <a:rPr sz="1100" dirty="0">
                <a:latin typeface="Roboto"/>
                <a:cs typeface="Roboto"/>
              </a:rPr>
              <a:t>the</a:t>
            </a:r>
            <a:r>
              <a:rPr sz="1100" spc="-23" dirty="0">
                <a:latin typeface="Roboto"/>
                <a:cs typeface="Roboto"/>
              </a:rPr>
              <a:t> </a:t>
            </a:r>
            <a:r>
              <a:rPr sz="1100" dirty="0">
                <a:latin typeface="Roboto"/>
                <a:cs typeface="Roboto"/>
              </a:rPr>
              <a:t>deployment</a:t>
            </a:r>
            <a:r>
              <a:rPr sz="1100" spc="-23" dirty="0">
                <a:latin typeface="Roboto"/>
                <a:cs typeface="Roboto"/>
              </a:rPr>
              <a:t> </a:t>
            </a:r>
            <a:r>
              <a:rPr sz="1100" dirty="0">
                <a:latin typeface="Roboto"/>
                <a:cs typeface="Roboto"/>
              </a:rPr>
              <a:t>method</a:t>
            </a:r>
            <a:r>
              <a:rPr sz="1100" spc="-25" dirty="0">
                <a:latin typeface="Roboto"/>
                <a:cs typeface="Roboto"/>
              </a:rPr>
              <a:t> </a:t>
            </a:r>
            <a:r>
              <a:rPr sz="1100" dirty="0">
                <a:latin typeface="Roboto"/>
                <a:cs typeface="Roboto"/>
              </a:rPr>
              <a:t>as</a:t>
            </a:r>
            <a:r>
              <a:rPr sz="1100" spc="-23" dirty="0">
                <a:latin typeface="Roboto"/>
                <a:cs typeface="Roboto"/>
              </a:rPr>
              <a:t> </a:t>
            </a:r>
            <a:r>
              <a:rPr sz="1100" dirty="0">
                <a:latin typeface="Roboto"/>
                <a:cs typeface="Roboto"/>
              </a:rPr>
              <a:t>per</a:t>
            </a:r>
            <a:r>
              <a:rPr sz="1100" spc="-23" dirty="0">
                <a:latin typeface="Roboto"/>
                <a:cs typeface="Roboto"/>
              </a:rPr>
              <a:t> </a:t>
            </a:r>
            <a:r>
              <a:rPr sz="1100" spc="-13" dirty="0">
                <a:latin typeface="Roboto"/>
                <a:cs typeface="Roboto"/>
              </a:rPr>
              <a:t>use</a:t>
            </a:r>
            <a:endParaRPr sz="1100">
              <a:latin typeface="Roboto"/>
              <a:cs typeface="Roboto"/>
            </a:endParaRPr>
          </a:p>
          <a:p>
            <a:pPr marL="541655">
              <a:spcBef>
                <a:spcPts val="217"/>
              </a:spcBef>
              <a:tabLst>
                <a:tab pos="1176020" algn="l"/>
              </a:tabLst>
            </a:pPr>
            <a:r>
              <a:rPr sz="1100" b="1" spc="-5" dirty="0">
                <a:latin typeface="Roboto"/>
                <a:cs typeface="Roboto"/>
              </a:rPr>
              <a:t>Methods</a:t>
            </a:r>
            <a:r>
              <a:rPr sz="1100" b="1" dirty="0">
                <a:latin typeface="Roboto"/>
                <a:cs typeface="Roboto"/>
              </a:rPr>
              <a:t>	</a:t>
            </a:r>
            <a:r>
              <a:rPr sz="1100" spc="-10" dirty="0">
                <a:latin typeface="Roboto"/>
                <a:cs typeface="Roboto"/>
              </a:rPr>
              <a:t>case</a:t>
            </a:r>
            <a:endParaRPr sz="1100">
              <a:latin typeface="Roboto"/>
              <a:cs typeface="Roboto"/>
            </a:endParaRPr>
          </a:p>
          <a:p>
            <a:pPr marL="129223">
              <a:spcBef>
                <a:spcPts val="953"/>
              </a:spcBef>
              <a:tabLst>
                <a:tab pos="1176020" algn="l"/>
              </a:tabLst>
            </a:pPr>
            <a:r>
              <a:rPr sz="1100" b="1" dirty="0">
                <a:latin typeface="Roboto"/>
                <a:cs typeface="Roboto"/>
              </a:rPr>
              <a:t>Load</a:t>
            </a:r>
            <a:r>
              <a:rPr sz="1100" b="1" spc="-18" dirty="0">
                <a:latin typeface="Roboto"/>
                <a:cs typeface="Roboto"/>
              </a:rPr>
              <a:t> </a:t>
            </a:r>
            <a:r>
              <a:rPr sz="1100" b="1" spc="-5" dirty="0">
                <a:latin typeface="Roboto"/>
                <a:cs typeface="Roboto"/>
              </a:rPr>
              <a:t>Balancing</a:t>
            </a:r>
            <a:r>
              <a:rPr sz="1100" b="1" dirty="0">
                <a:latin typeface="Roboto"/>
                <a:cs typeface="Roboto"/>
              </a:rPr>
              <a:t>	</a:t>
            </a:r>
            <a:r>
              <a:rPr sz="1100" dirty="0">
                <a:latin typeface="Roboto"/>
                <a:cs typeface="Roboto"/>
              </a:rPr>
              <a:t>Learn</a:t>
            </a:r>
            <a:r>
              <a:rPr sz="1100" spc="-25" dirty="0">
                <a:latin typeface="Roboto"/>
                <a:cs typeface="Roboto"/>
              </a:rPr>
              <a:t> </a:t>
            </a:r>
            <a:r>
              <a:rPr sz="1100" dirty="0">
                <a:latin typeface="Roboto"/>
                <a:cs typeface="Roboto"/>
              </a:rPr>
              <a:t>Service</a:t>
            </a:r>
            <a:r>
              <a:rPr sz="1100" spc="-25" dirty="0">
                <a:latin typeface="Roboto"/>
                <a:cs typeface="Roboto"/>
              </a:rPr>
              <a:t> </a:t>
            </a:r>
            <a:r>
              <a:rPr sz="1100" dirty="0">
                <a:latin typeface="Roboto"/>
                <a:cs typeface="Roboto"/>
              </a:rPr>
              <a:t>Autoscaling,</a:t>
            </a:r>
            <a:r>
              <a:rPr sz="1100" spc="-25" dirty="0">
                <a:latin typeface="Roboto"/>
                <a:cs typeface="Roboto"/>
              </a:rPr>
              <a:t> </a:t>
            </a:r>
            <a:r>
              <a:rPr sz="1100" dirty="0">
                <a:latin typeface="Roboto"/>
                <a:cs typeface="Roboto"/>
              </a:rPr>
              <a:t>learn</a:t>
            </a:r>
            <a:r>
              <a:rPr sz="1100" spc="-23" dirty="0">
                <a:latin typeface="Roboto"/>
                <a:cs typeface="Roboto"/>
              </a:rPr>
              <a:t> </a:t>
            </a:r>
            <a:r>
              <a:rPr sz="1100" dirty="0">
                <a:latin typeface="Roboto"/>
                <a:cs typeface="Roboto"/>
              </a:rPr>
              <a:t>how</a:t>
            </a:r>
            <a:r>
              <a:rPr sz="1100" spc="-25" dirty="0">
                <a:latin typeface="Roboto"/>
                <a:cs typeface="Roboto"/>
              </a:rPr>
              <a:t> </a:t>
            </a:r>
            <a:r>
              <a:rPr sz="1100" dirty="0">
                <a:latin typeface="Roboto"/>
                <a:cs typeface="Roboto"/>
              </a:rPr>
              <a:t>to</a:t>
            </a:r>
            <a:r>
              <a:rPr sz="1100" spc="-25" dirty="0">
                <a:latin typeface="Roboto"/>
                <a:cs typeface="Roboto"/>
              </a:rPr>
              <a:t> </a:t>
            </a:r>
            <a:r>
              <a:rPr sz="1100" dirty="0">
                <a:latin typeface="Roboto"/>
                <a:cs typeface="Roboto"/>
              </a:rPr>
              <a:t>use</a:t>
            </a:r>
            <a:r>
              <a:rPr sz="1100" spc="-23" dirty="0">
                <a:latin typeface="Roboto"/>
                <a:cs typeface="Roboto"/>
              </a:rPr>
              <a:t> </a:t>
            </a:r>
            <a:r>
              <a:rPr sz="1100" dirty="0">
                <a:latin typeface="Roboto"/>
                <a:cs typeface="Roboto"/>
              </a:rPr>
              <a:t>Application</a:t>
            </a:r>
            <a:r>
              <a:rPr sz="1100" spc="-25" dirty="0">
                <a:latin typeface="Roboto"/>
                <a:cs typeface="Roboto"/>
              </a:rPr>
              <a:t> </a:t>
            </a:r>
            <a:r>
              <a:rPr sz="1100" dirty="0">
                <a:latin typeface="Roboto"/>
                <a:cs typeface="Roboto"/>
              </a:rPr>
              <a:t>Load</a:t>
            </a:r>
            <a:r>
              <a:rPr sz="1100" spc="-25" dirty="0">
                <a:latin typeface="Roboto"/>
                <a:cs typeface="Roboto"/>
              </a:rPr>
              <a:t> </a:t>
            </a:r>
            <a:r>
              <a:rPr sz="1100" dirty="0">
                <a:latin typeface="Roboto"/>
                <a:cs typeface="Roboto"/>
              </a:rPr>
              <a:t>Balancer</a:t>
            </a:r>
            <a:r>
              <a:rPr sz="1100" spc="-23" dirty="0">
                <a:latin typeface="Roboto"/>
                <a:cs typeface="Roboto"/>
              </a:rPr>
              <a:t> </a:t>
            </a:r>
            <a:r>
              <a:rPr sz="1100" dirty="0">
                <a:latin typeface="Roboto"/>
                <a:cs typeface="Roboto"/>
              </a:rPr>
              <a:t>with</a:t>
            </a:r>
            <a:r>
              <a:rPr sz="1100" spc="-25" dirty="0">
                <a:latin typeface="Roboto"/>
                <a:cs typeface="Roboto"/>
              </a:rPr>
              <a:t> </a:t>
            </a:r>
            <a:r>
              <a:rPr sz="1100" dirty="0">
                <a:latin typeface="Roboto"/>
                <a:cs typeface="Roboto"/>
              </a:rPr>
              <a:t>Services</a:t>
            </a:r>
            <a:r>
              <a:rPr sz="1100" spc="-25" dirty="0">
                <a:latin typeface="Roboto"/>
                <a:cs typeface="Roboto"/>
              </a:rPr>
              <a:t> </a:t>
            </a:r>
            <a:r>
              <a:rPr sz="1100" dirty="0">
                <a:latin typeface="Roboto"/>
                <a:cs typeface="Roboto"/>
              </a:rPr>
              <a:t>and</a:t>
            </a:r>
            <a:r>
              <a:rPr sz="1100" spc="-23" dirty="0">
                <a:latin typeface="Roboto"/>
                <a:cs typeface="Roboto"/>
              </a:rPr>
              <a:t> </a:t>
            </a:r>
            <a:r>
              <a:rPr sz="1100" dirty="0">
                <a:latin typeface="Roboto"/>
                <a:cs typeface="Roboto"/>
              </a:rPr>
              <a:t>develop</a:t>
            </a:r>
            <a:r>
              <a:rPr sz="1100" spc="-25" dirty="0">
                <a:latin typeface="Roboto"/>
                <a:cs typeface="Roboto"/>
              </a:rPr>
              <a:t> </a:t>
            </a:r>
            <a:r>
              <a:rPr sz="1100" dirty="0">
                <a:latin typeface="Roboto"/>
                <a:cs typeface="Roboto"/>
              </a:rPr>
              <a:t>mircro</a:t>
            </a:r>
            <a:r>
              <a:rPr sz="1100" spc="-25" dirty="0">
                <a:latin typeface="Roboto"/>
                <a:cs typeface="Roboto"/>
              </a:rPr>
              <a:t> </a:t>
            </a:r>
            <a:r>
              <a:rPr sz="1100" spc="-5" dirty="0">
                <a:latin typeface="Roboto"/>
                <a:cs typeface="Roboto"/>
              </a:rPr>
              <a:t>services</a:t>
            </a:r>
            <a:endParaRPr sz="1100">
              <a:latin typeface="Roboto"/>
              <a:cs typeface="Roboto"/>
            </a:endParaRPr>
          </a:p>
          <a:p>
            <a:pPr marL="247333">
              <a:spcBef>
                <a:spcPts val="668"/>
              </a:spcBef>
              <a:tabLst>
                <a:tab pos="1176020" algn="l"/>
              </a:tabLst>
            </a:pPr>
            <a:r>
              <a:rPr sz="1100" b="1" dirty="0">
                <a:latin typeface="Roboto"/>
                <a:cs typeface="Roboto"/>
              </a:rPr>
              <a:t>Dynamic</a:t>
            </a:r>
            <a:r>
              <a:rPr sz="1100" b="1" spc="-30" dirty="0">
                <a:latin typeface="Roboto"/>
                <a:cs typeface="Roboto"/>
              </a:rPr>
              <a:t> </a:t>
            </a:r>
            <a:r>
              <a:rPr sz="1100" b="1" spc="-10" dirty="0">
                <a:latin typeface="Roboto"/>
                <a:cs typeface="Roboto"/>
              </a:rPr>
              <a:t>Port</a:t>
            </a:r>
            <a:r>
              <a:rPr sz="1100" b="1" dirty="0">
                <a:latin typeface="Roboto"/>
                <a:cs typeface="Roboto"/>
              </a:rPr>
              <a:t>	</a:t>
            </a:r>
            <a:r>
              <a:rPr sz="1100" dirty="0">
                <a:latin typeface="Roboto"/>
                <a:cs typeface="Roboto"/>
              </a:rPr>
              <a:t>One</a:t>
            </a:r>
            <a:r>
              <a:rPr sz="1100" spc="-20" dirty="0">
                <a:latin typeface="Roboto"/>
                <a:cs typeface="Roboto"/>
              </a:rPr>
              <a:t> </a:t>
            </a:r>
            <a:r>
              <a:rPr sz="1100" dirty="0">
                <a:latin typeface="Roboto"/>
                <a:cs typeface="Roboto"/>
              </a:rPr>
              <a:t>of</a:t>
            </a:r>
            <a:r>
              <a:rPr sz="1100" spc="-18" dirty="0">
                <a:latin typeface="Roboto"/>
                <a:cs typeface="Roboto"/>
              </a:rPr>
              <a:t> </a:t>
            </a:r>
            <a:r>
              <a:rPr sz="1100" dirty="0">
                <a:latin typeface="Roboto"/>
                <a:cs typeface="Roboto"/>
              </a:rPr>
              <a:t>the</a:t>
            </a:r>
            <a:r>
              <a:rPr sz="1100" spc="-20" dirty="0">
                <a:latin typeface="Roboto"/>
                <a:cs typeface="Roboto"/>
              </a:rPr>
              <a:t> </a:t>
            </a:r>
            <a:r>
              <a:rPr sz="1100" dirty="0">
                <a:latin typeface="Roboto"/>
                <a:cs typeface="Roboto"/>
              </a:rPr>
              <a:t>excellent</a:t>
            </a:r>
            <a:r>
              <a:rPr sz="1100" spc="-18" dirty="0">
                <a:latin typeface="Roboto"/>
                <a:cs typeface="Roboto"/>
              </a:rPr>
              <a:t> </a:t>
            </a:r>
            <a:r>
              <a:rPr sz="1100" dirty="0">
                <a:latin typeface="Roboto"/>
                <a:cs typeface="Roboto"/>
              </a:rPr>
              <a:t>features</a:t>
            </a:r>
            <a:r>
              <a:rPr sz="1100" spc="-20" dirty="0">
                <a:latin typeface="Roboto"/>
                <a:cs typeface="Roboto"/>
              </a:rPr>
              <a:t> </a:t>
            </a:r>
            <a:r>
              <a:rPr sz="1100" dirty="0">
                <a:latin typeface="Roboto"/>
                <a:cs typeface="Roboto"/>
              </a:rPr>
              <a:t>of</a:t>
            </a:r>
            <a:r>
              <a:rPr sz="1100" spc="-18" dirty="0">
                <a:latin typeface="Roboto"/>
                <a:cs typeface="Roboto"/>
              </a:rPr>
              <a:t> </a:t>
            </a:r>
            <a:r>
              <a:rPr sz="1100" dirty="0">
                <a:latin typeface="Roboto"/>
                <a:cs typeface="Roboto"/>
              </a:rPr>
              <a:t>using</a:t>
            </a:r>
            <a:r>
              <a:rPr sz="1100" spc="-20" dirty="0">
                <a:latin typeface="Roboto"/>
                <a:cs typeface="Roboto"/>
              </a:rPr>
              <a:t> </a:t>
            </a:r>
            <a:r>
              <a:rPr sz="1100" dirty="0">
                <a:latin typeface="Roboto"/>
                <a:cs typeface="Roboto"/>
              </a:rPr>
              <a:t>AWS</a:t>
            </a:r>
            <a:r>
              <a:rPr sz="1100" spc="-18" dirty="0">
                <a:latin typeface="Roboto"/>
                <a:cs typeface="Roboto"/>
              </a:rPr>
              <a:t> </a:t>
            </a:r>
            <a:r>
              <a:rPr sz="1100" dirty="0">
                <a:latin typeface="Roboto"/>
                <a:cs typeface="Roboto"/>
              </a:rPr>
              <a:t>ECS</a:t>
            </a:r>
            <a:r>
              <a:rPr sz="1100" spc="-20" dirty="0">
                <a:latin typeface="Roboto"/>
                <a:cs typeface="Roboto"/>
              </a:rPr>
              <a:t> </a:t>
            </a:r>
            <a:r>
              <a:rPr sz="1100" dirty="0">
                <a:latin typeface="Roboto"/>
                <a:cs typeface="Roboto"/>
              </a:rPr>
              <a:t>is</a:t>
            </a:r>
            <a:r>
              <a:rPr sz="1100" spc="-18" dirty="0">
                <a:latin typeface="Roboto"/>
                <a:cs typeface="Roboto"/>
              </a:rPr>
              <a:t> </a:t>
            </a:r>
            <a:r>
              <a:rPr sz="1100" dirty="0">
                <a:latin typeface="Roboto"/>
                <a:cs typeface="Roboto"/>
              </a:rPr>
              <a:t>Dynamic</a:t>
            </a:r>
            <a:r>
              <a:rPr sz="1100" spc="-20" dirty="0">
                <a:latin typeface="Roboto"/>
                <a:cs typeface="Roboto"/>
              </a:rPr>
              <a:t> </a:t>
            </a:r>
            <a:r>
              <a:rPr sz="1100" dirty="0">
                <a:latin typeface="Roboto"/>
                <a:cs typeface="Roboto"/>
              </a:rPr>
              <a:t>port</a:t>
            </a:r>
            <a:r>
              <a:rPr sz="1100" spc="-18" dirty="0">
                <a:latin typeface="Roboto"/>
                <a:cs typeface="Roboto"/>
              </a:rPr>
              <a:t> </a:t>
            </a:r>
            <a:r>
              <a:rPr sz="1100" dirty="0">
                <a:latin typeface="Roboto"/>
                <a:cs typeface="Roboto"/>
              </a:rPr>
              <a:t>mapping,</a:t>
            </a:r>
            <a:r>
              <a:rPr sz="1100" spc="-20" dirty="0">
                <a:latin typeface="Roboto"/>
                <a:cs typeface="Roboto"/>
              </a:rPr>
              <a:t> </a:t>
            </a:r>
            <a:r>
              <a:rPr sz="1100" dirty="0">
                <a:latin typeface="Roboto"/>
                <a:cs typeface="Roboto"/>
              </a:rPr>
              <a:t>This</a:t>
            </a:r>
            <a:r>
              <a:rPr sz="1100" spc="-18" dirty="0">
                <a:latin typeface="Roboto"/>
                <a:cs typeface="Roboto"/>
              </a:rPr>
              <a:t> </a:t>
            </a:r>
            <a:r>
              <a:rPr sz="1100" dirty="0">
                <a:latin typeface="Roboto"/>
                <a:cs typeface="Roboto"/>
              </a:rPr>
              <a:t>allows</a:t>
            </a:r>
            <a:r>
              <a:rPr sz="1100" spc="-20" dirty="0">
                <a:latin typeface="Roboto"/>
                <a:cs typeface="Roboto"/>
              </a:rPr>
              <a:t> </a:t>
            </a:r>
            <a:r>
              <a:rPr sz="1100" dirty="0">
                <a:latin typeface="Roboto"/>
                <a:cs typeface="Roboto"/>
              </a:rPr>
              <a:t>to</a:t>
            </a:r>
            <a:r>
              <a:rPr sz="1100" spc="-18" dirty="0">
                <a:latin typeface="Roboto"/>
                <a:cs typeface="Roboto"/>
              </a:rPr>
              <a:t> </a:t>
            </a:r>
            <a:r>
              <a:rPr sz="1100" dirty="0">
                <a:latin typeface="Roboto"/>
                <a:cs typeface="Roboto"/>
              </a:rPr>
              <a:t>run</a:t>
            </a:r>
            <a:r>
              <a:rPr sz="1100" spc="-20" dirty="0">
                <a:latin typeface="Roboto"/>
                <a:cs typeface="Roboto"/>
              </a:rPr>
              <a:t> </a:t>
            </a:r>
            <a:r>
              <a:rPr sz="1100" dirty="0">
                <a:latin typeface="Roboto"/>
                <a:cs typeface="Roboto"/>
              </a:rPr>
              <a:t>multiple</a:t>
            </a:r>
            <a:r>
              <a:rPr sz="1100" spc="-18" dirty="0">
                <a:latin typeface="Roboto"/>
                <a:cs typeface="Roboto"/>
              </a:rPr>
              <a:t> </a:t>
            </a:r>
            <a:r>
              <a:rPr sz="1100" dirty="0">
                <a:latin typeface="Roboto"/>
                <a:cs typeface="Roboto"/>
              </a:rPr>
              <a:t>container</a:t>
            </a:r>
            <a:r>
              <a:rPr sz="1100" spc="-20" dirty="0">
                <a:latin typeface="Roboto"/>
                <a:cs typeface="Roboto"/>
              </a:rPr>
              <a:t> </a:t>
            </a:r>
            <a:r>
              <a:rPr sz="1100" dirty="0">
                <a:latin typeface="Roboto"/>
                <a:cs typeface="Roboto"/>
              </a:rPr>
              <a:t>app</a:t>
            </a:r>
            <a:r>
              <a:rPr sz="1100" spc="-18" dirty="0">
                <a:latin typeface="Roboto"/>
                <a:cs typeface="Roboto"/>
              </a:rPr>
              <a:t> </a:t>
            </a:r>
            <a:r>
              <a:rPr sz="1100" spc="-13" dirty="0">
                <a:latin typeface="Roboto"/>
                <a:cs typeface="Roboto"/>
              </a:rPr>
              <a:t>in</a:t>
            </a:r>
            <a:endParaRPr sz="1100">
              <a:latin typeface="Roboto"/>
              <a:cs typeface="Roboto"/>
            </a:endParaRPr>
          </a:p>
          <a:p>
            <a:pPr marL="1176020" marR="38735" indent="-631190">
              <a:lnSpc>
                <a:spcPct val="116500"/>
              </a:lnSpc>
              <a:tabLst>
                <a:tab pos="1176020" algn="l"/>
                <a:tab pos="8378508" algn="l"/>
              </a:tabLst>
            </a:pPr>
            <a:r>
              <a:rPr sz="1100" b="1" spc="-5" dirty="0">
                <a:latin typeface="Roboto"/>
                <a:cs typeface="Roboto"/>
              </a:rPr>
              <a:t>Mapping</a:t>
            </a:r>
            <a:r>
              <a:rPr sz="1100" b="1" dirty="0">
                <a:latin typeface="Roboto"/>
                <a:cs typeface="Roboto"/>
              </a:rPr>
              <a:t>	</a:t>
            </a:r>
            <a:r>
              <a:rPr sz="1100" dirty="0">
                <a:latin typeface="Roboto"/>
                <a:cs typeface="Roboto"/>
              </a:rPr>
              <a:t>single</a:t>
            </a:r>
            <a:r>
              <a:rPr sz="1100" spc="-23" dirty="0">
                <a:latin typeface="Roboto"/>
                <a:cs typeface="Roboto"/>
              </a:rPr>
              <a:t> </a:t>
            </a:r>
            <a:r>
              <a:rPr sz="1100" dirty="0">
                <a:latin typeface="Roboto"/>
                <a:cs typeface="Roboto"/>
              </a:rPr>
              <a:t>host</a:t>
            </a:r>
            <a:r>
              <a:rPr sz="1100" spc="-23" dirty="0">
                <a:latin typeface="Roboto"/>
                <a:cs typeface="Roboto"/>
              </a:rPr>
              <a:t> </a:t>
            </a:r>
            <a:r>
              <a:rPr sz="1100" dirty="0">
                <a:latin typeface="Roboto"/>
                <a:cs typeface="Roboto"/>
              </a:rPr>
              <a:t>on</a:t>
            </a:r>
            <a:r>
              <a:rPr sz="1100" spc="-20" dirty="0">
                <a:latin typeface="Roboto"/>
                <a:cs typeface="Roboto"/>
              </a:rPr>
              <a:t> </a:t>
            </a:r>
            <a:r>
              <a:rPr sz="1100" dirty="0">
                <a:latin typeface="Roboto"/>
                <a:cs typeface="Roboto"/>
              </a:rPr>
              <a:t>different</a:t>
            </a:r>
            <a:r>
              <a:rPr sz="1100" spc="-23" dirty="0">
                <a:latin typeface="Roboto"/>
                <a:cs typeface="Roboto"/>
              </a:rPr>
              <a:t> </a:t>
            </a:r>
            <a:r>
              <a:rPr sz="1100" dirty="0">
                <a:latin typeface="Roboto"/>
                <a:cs typeface="Roboto"/>
              </a:rPr>
              <a:t>ports</a:t>
            </a:r>
            <a:r>
              <a:rPr sz="1100" spc="-20" dirty="0">
                <a:latin typeface="Roboto"/>
                <a:cs typeface="Roboto"/>
              </a:rPr>
              <a:t> </a:t>
            </a:r>
            <a:r>
              <a:rPr sz="1100" dirty="0">
                <a:latin typeface="Roboto"/>
                <a:cs typeface="Roboto"/>
              </a:rPr>
              <a:t>automatically</a:t>
            </a:r>
            <a:r>
              <a:rPr sz="1100" spc="-23" dirty="0">
                <a:latin typeface="Roboto"/>
                <a:cs typeface="Roboto"/>
              </a:rPr>
              <a:t> </a:t>
            </a:r>
            <a:r>
              <a:rPr sz="1100" dirty="0">
                <a:latin typeface="Roboto"/>
                <a:cs typeface="Roboto"/>
              </a:rPr>
              <a:t>and</a:t>
            </a:r>
            <a:r>
              <a:rPr sz="1100" spc="-20" dirty="0">
                <a:latin typeface="Roboto"/>
                <a:cs typeface="Roboto"/>
              </a:rPr>
              <a:t> </a:t>
            </a:r>
            <a:r>
              <a:rPr sz="1100" dirty="0">
                <a:latin typeface="Roboto"/>
                <a:cs typeface="Roboto"/>
              </a:rPr>
              <a:t>ECS</a:t>
            </a:r>
            <a:r>
              <a:rPr sz="1100" spc="-23" dirty="0">
                <a:latin typeface="Roboto"/>
                <a:cs typeface="Roboto"/>
              </a:rPr>
              <a:t> </a:t>
            </a:r>
            <a:r>
              <a:rPr sz="1100" dirty="0">
                <a:latin typeface="Roboto"/>
                <a:cs typeface="Roboto"/>
              </a:rPr>
              <a:t>will</a:t>
            </a:r>
            <a:r>
              <a:rPr sz="1100" spc="-20" dirty="0">
                <a:latin typeface="Roboto"/>
                <a:cs typeface="Roboto"/>
              </a:rPr>
              <a:t> </a:t>
            </a:r>
            <a:r>
              <a:rPr sz="1100" dirty="0">
                <a:latin typeface="Roboto"/>
                <a:cs typeface="Roboto"/>
              </a:rPr>
              <a:t>automatically</a:t>
            </a:r>
            <a:r>
              <a:rPr sz="1100" spc="-23" dirty="0">
                <a:latin typeface="Roboto"/>
                <a:cs typeface="Roboto"/>
              </a:rPr>
              <a:t> </a:t>
            </a:r>
            <a:r>
              <a:rPr sz="1100" dirty="0">
                <a:latin typeface="Roboto"/>
                <a:cs typeface="Roboto"/>
              </a:rPr>
              <a:t>do</a:t>
            </a:r>
            <a:r>
              <a:rPr sz="1100" spc="-20" dirty="0">
                <a:latin typeface="Roboto"/>
                <a:cs typeface="Roboto"/>
              </a:rPr>
              <a:t> </a:t>
            </a:r>
            <a:r>
              <a:rPr sz="1100" dirty="0">
                <a:latin typeface="Roboto"/>
                <a:cs typeface="Roboto"/>
              </a:rPr>
              <a:t>the</a:t>
            </a:r>
            <a:r>
              <a:rPr sz="1100" spc="-23" dirty="0">
                <a:latin typeface="Roboto"/>
                <a:cs typeface="Roboto"/>
              </a:rPr>
              <a:t> </a:t>
            </a:r>
            <a:r>
              <a:rPr sz="1100" dirty="0">
                <a:latin typeface="Roboto"/>
                <a:cs typeface="Roboto"/>
              </a:rPr>
              <a:t>traffic</a:t>
            </a:r>
            <a:r>
              <a:rPr sz="1100" spc="-20" dirty="0">
                <a:latin typeface="Roboto"/>
                <a:cs typeface="Roboto"/>
              </a:rPr>
              <a:t> </a:t>
            </a:r>
            <a:r>
              <a:rPr sz="1100" dirty="0">
                <a:latin typeface="Roboto"/>
                <a:cs typeface="Roboto"/>
              </a:rPr>
              <a:t>management</a:t>
            </a:r>
            <a:r>
              <a:rPr sz="1100" spc="-23" dirty="0">
                <a:latin typeface="Roboto"/>
                <a:cs typeface="Roboto"/>
              </a:rPr>
              <a:t> </a:t>
            </a:r>
            <a:r>
              <a:rPr sz="1100" dirty="0">
                <a:latin typeface="Roboto"/>
                <a:cs typeface="Roboto"/>
              </a:rPr>
              <a:t>via</a:t>
            </a:r>
            <a:r>
              <a:rPr sz="1100" spc="-20" dirty="0">
                <a:latin typeface="Roboto"/>
                <a:cs typeface="Roboto"/>
              </a:rPr>
              <a:t> </a:t>
            </a:r>
            <a:r>
              <a:rPr sz="1100" dirty="0">
                <a:latin typeface="Roboto"/>
                <a:cs typeface="Roboto"/>
              </a:rPr>
              <a:t>load</a:t>
            </a:r>
            <a:r>
              <a:rPr sz="1100" spc="-23" dirty="0">
                <a:latin typeface="Roboto"/>
                <a:cs typeface="Roboto"/>
              </a:rPr>
              <a:t> </a:t>
            </a:r>
            <a:r>
              <a:rPr sz="1100" spc="-5" dirty="0">
                <a:latin typeface="Roboto"/>
                <a:cs typeface="Roboto"/>
              </a:rPr>
              <a:t>balancer,</a:t>
            </a:r>
            <a:r>
              <a:rPr sz="1100" dirty="0">
                <a:latin typeface="Roboto"/>
                <a:cs typeface="Roboto"/>
              </a:rPr>
              <a:t>	</a:t>
            </a:r>
            <a:r>
              <a:rPr sz="1100" spc="-10" dirty="0">
                <a:latin typeface="Roboto"/>
                <a:cs typeface="Roboto"/>
              </a:rPr>
              <a:t>learn </a:t>
            </a:r>
            <a:r>
              <a:rPr sz="1100" dirty="0">
                <a:latin typeface="Roboto"/>
                <a:cs typeface="Roboto"/>
              </a:rPr>
              <a:t>how</a:t>
            </a:r>
            <a:r>
              <a:rPr sz="1100" spc="-20" dirty="0">
                <a:latin typeface="Roboto"/>
                <a:cs typeface="Roboto"/>
              </a:rPr>
              <a:t> </a:t>
            </a:r>
            <a:r>
              <a:rPr sz="1100" dirty="0">
                <a:latin typeface="Roboto"/>
                <a:cs typeface="Roboto"/>
              </a:rPr>
              <a:t>to</a:t>
            </a:r>
            <a:r>
              <a:rPr sz="1100" spc="-18" dirty="0">
                <a:latin typeface="Roboto"/>
                <a:cs typeface="Roboto"/>
              </a:rPr>
              <a:t> </a:t>
            </a:r>
            <a:r>
              <a:rPr sz="1100" dirty="0">
                <a:latin typeface="Roboto"/>
                <a:cs typeface="Roboto"/>
              </a:rPr>
              <a:t>achieve</a:t>
            </a:r>
            <a:r>
              <a:rPr sz="1100" spc="-18" dirty="0">
                <a:latin typeface="Roboto"/>
                <a:cs typeface="Roboto"/>
              </a:rPr>
              <a:t> </a:t>
            </a:r>
            <a:r>
              <a:rPr sz="1100" dirty="0">
                <a:latin typeface="Roboto"/>
                <a:cs typeface="Roboto"/>
              </a:rPr>
              <a:t>it</a:t>
            </a:r>
            <a:r>
              <a:rPr sz="1100" spc="-18" dirty="0">
                <a:latin typeface="Roboto"/>
                <a:cs typeface="Roboto"/>
              </a:rPr>
              <a:t> </a:t>
            </a:r>
            <a:r>
              <a:rPr sz="1100" dirty="0">
                <a:latin typeface="Roboto"/>
                <a:cs typeface="Roboto"/>
              </a:rPr>
              <a:t>using</a:t>
            </a:r>
            <a:r>
              <a:rPr sz="1100" spc="-18" dirty="0">
                <a:latin typeface="Roboto"/>
                <a:cs typeface="Roboto"/>
              </a:rPr>
              <a:t> </a:t>
            </a:r>
            <a:r>
              <a:rPr sz="1100" dirty="0">
                <a:latin typeface="Roboto"/>
                <a:cs typeface="Roboto"/>
              </a:rPr>
              <a:t>Task</a:t>
            </a:r>
            <a:r>
              <a:rPr sz="1100" spc="-18" dirty="0">
                <a:latin typeface="Roboto"/>
                <a:cs typeface="Roboto"/>
              </a:rPr>
              <a:t> </a:t>
            </a:r>
            <a:r>
              <a:rPr sz="1100" dirty="0">
                <a:latin typeface="Roboto"/>
                <a:cs typeface="Roboto"/>
              </a:rPr>
              <a:t>definition</a:t>
            </a:r>
            <a:r>
              <a:rPr sz="1100" spc="-18" dirty="0">
                <a:latin typeface="Roboto"/>
                <a:cs typeface="Roboto"/>
              </a:rPr>
              <a:t> </a:t>
            </a:r>
            <a:r>
              <a:rPr sz="1100" dirty="0">
                <a:latin typeface="Roboto"/>
                <a:cs typeface="Roboto"/>
              </a:rPr>
              <a:t>+</a:t>
            </a:r>
            <a:r>
              <a:rPr sz="1100" spc="-18" dirty="0">
                <a:latin typeface="Roboto"/>
                <a:cs typeface="Roboto"/>
              </a:rPr>
              <a:t> </a:t>
            </a:r>
            <a:r>
              <a:rPr sz="1100" dirty="0">
                <a:latin typeface="Roboto"/>
                <a:cs typeface="Roboto"/>
              </a:rPr>
              <a:t>Services,</a:t>
            </a:r>
            <a:r>
              <a:rPr sz="1100" spc="-18" dirty="0">
                <a:latin typeface="Roboto"/>
                <a:cs typeface="Roboto"/>
              </a:rPr>
              <a:t> </a:t>
            </a:r>
            <a:r>
              <a:rPr sz="1100" dirty="0">
                <a:latin typeface="Roboto"/>
                <a:cs typeface="Roboto"/>
              </a:rPr>
              <a:t>make</a:t>
            </a:r>
            <a:r>
              <a:rPr sz="1100" spc="-18" dirty="0">
                <a:latin typeface="Roboto"/>
                <a:cs typeface="Roboto"/>
              </a:rPr>
              <a:t> </a:t>
            </a:r>
            <a:r>
              <a:rPr sz="1100" dirty="0">
                <a:latin typeface="Roboto"/>
                <a:cs typeface="Roboto"/>
              </a:rPr>
              <a:t>sure</a:t>
            </a:r>
            <a:r>
              <a:rPr sz="1100" spc="-18" dirty="0">
                <a:latin typeface="Roboto"/>
                <a:cs typeface="Roboto"/>
              </a:rPr>
              <a:t> </a:t>
            </a:r>
            <a:r>
              <a:rPr sz="1100" dirty="0">
                <a:latin typeface="Roboto"/>
                <a:cs typeface="Roboto"/>
              </a:rPr>
              <a:t>to</a:t>
            </a:r>
            <a:r>
              <a:rPr sz="1100" spc="-18" dirty="0">
                <a:latin typeface="Roboto"/>
                <a:cs typeface="Roboto"/>
              </a:rPr>
              <a:t> </a:t>
            </a:r>
            <a:r>
              <a:rPr sz="1100" dirty="0">
                <a:latin typeface="Roboto"/>
                <a:cs typeface="Roboto"/>
              </a:rPr>
              <a:t>configure</a:t>
            </a:r>
            <a:r>
              <a:rPr sz="1100" spc="-18" dirty="0">
                <a:latin typeface="Roboto"/>
                <a:cs typeface="Roboto"/>
              </a:rPr>
              <a:t> </a:t>
            </a:r>
            <a:r>
              <a:rPr sz="1100" dirty="0">
                <a:latin typeface="Roboto"/>
                <a:cs typeface="Roboto"/>
              </a:rPr>
              <a:t>security</a:t>
            </a:r>
            <a:r>
              <a:rPr sz="1100" spc="-20" dirty="0">
                <a:latin typeface="Roboto"/>
                <a:cs typeface="Roboto"/>
              </a:rPr>
              <a:t> </a:t>
            </a:r>
            <a:r>
              <a:rPr sz="1100" dirty="0">
                <a:latin typeface="Roboto"/>
                <a:cs typeface="Roboto"/>
              </a:rPr>
              <a:t>group</a:t>
            </a:r>
            <a:r>
              <a:rPr sz="1100" spc="-18" dirty="0">
                <a:latin typeface="Roboto"/>
                <a:cs typeface="Roboto"/>
              </a:rPr>
              <a:t> </a:t>
            </a:r>
            <a:r>
              <a:rPr sz="1100" dirty="0">
                <a:latin typeface="Roboto"/>
                <a:cs typeface="Roboto"/>
              </a:rPr>
              <a:t>for</a:t>
            </a:r>
            <a:r>
              <a:rPr sz="1100" spc="-18" dirty="0">
                <a:latin typeface="Roboto"/>
                <a:cs typeface="Roboto"/>
              </a:rPr>
              <a:t> </a:t>
            </a:r>
            <a:r>
              <a:rPr sz="1100" dirty="0">
                <a:latin typeface="Roboto"/>
                <a:cs typeface="Roboto"/>
              </a:rPr>
              <a:t>the</a:t>
            </a:r>
            <a:r>
              <a:rPr sz="1100" spc="-18" dirty="0">
                <a:latin typeface="Roboto"/>
                <a:cs typeface="Roboto"/>
              </a:rPr>
              <a:t> </a:t>
            </a:r>
            <a:r>
              <a:rPr sz="1100" dirty="0">
                <a:latin typeface="Roboto"/>
                <a:cs typeface="Roboto"/>
              </a:rPr>
              <a:t>same</a:t>
            </a:r>
            <a:r>
              <a:rPr sz="1100" spc="-18" dirty="0">
                <a:latin typeface="Roboto"/>
                <a:cs typeface="Roboto"/>
              </a:rPr>
              <a:t> </a:t>
            </a:r>
            <a:r>
              <a:rPr sz="1100" spc="-5" dirty="0">
                <a:latin typeface="Roboto"/>
                <a:cs typeface="Roboto"/>
              </a:rPr>
              <a:t>properly</a:t>
            </a:r>
            <a:endParaRPr sz="1100">
              <a:latin typeface="Roboto"/>
              <a:cs typeface="Roboto"/>
            </a:endParaRPr>
          </a:p>
          <a:p>
            <a:pPr marL="1117600" marR="106045" indent="-1032510">
              <a:lnSpc>
                <a:spcPct val="116500"/>
              </a:lnSpc>
              <a:spcBef>
                <a:spcPts val="363"/>
              </a:spcBef>
              <a:tabLst>
                <a:tab pos="1117600" algn="l"/>
              </a:tabLst>
            </a:pPr>
            <a:r>
              <a:rPr sz="1100" b="1" dirty="0">
                <a:latin typeface="Roboto"/>
                <a:cs typeface="Roboto"/>
              </a:rPr>
              <a:t>AWS</a:t>
            </a:r>
            <a:r>
              <a:rPr sz="1100" b="1" spc="-18" dirty="0">
                <a:latin typeface="Roboto"/>
                <a:cs typeface="Roboto"/>
              </a:rPr>
              <a:t> </a:t>
            </a:r>
            <a:r>
              <a:rPr sz="1100" b="1" spc="-5" dirty="0">
                <a:latin typeface="Roboto"/>
                <a:cs typeface="Roboto"/>
              </a:rPr>
              <a:t>FARGATE</a:t>
            </a:r>
            <a:r>
              <a:rPr sz="1100" b="1" dirty="0">
                <a:latin typeface="Roboto"/>
                <a:cs typeface="Roboto"/>
              </a:rPr>
              <a:t>	</a:t>
            </a:r>
            <a:r>
              <a:rPr sz="1100" dirty="0">
                <a:latin typeface="Roboto"/>
                <a:cs typeface="Roboto"/>
              </a:rPr>
              <a:t>If</a:t>
            </a:r>
            <a:r>
              <a:rPr sz="1100" spc="-18" dirty="0">
                <a:latin typeface="Roboto"/>
                <a:cs typeface="Roboto"/>
              </a:rPr>
              <a:t> </a:t>
            </a:r>
            <a:r>
              <a:rPr sz="1100" dirty="0">
                <a:latin typeface="Roboto"/>
                <a:cs typeface="Roboto"/>
              </a:rPr>
              <a:t>would</a:t>
            </a:r>
            <a:r>
              <a:rPr sz="1100" spc="-18" dirty="0">
                <a:latin typeface="Roboto"/>
                <a:cs typeface="Roboto"/>
              </a:rPr>
              <a:t> </a:t>
            </a:r>
            <a:r>
              <a:rPr sz="1100" dirty="0">
                <a:latin typeface="Roboto"/>
                <a:cs typeface="Roboto"/>
              </a:rPr>
              <a:t>like</a:t>
            </a:r>
            <a:r>
              <a:rPr sz="1100" spc="-18" dirty="0">
                <a:latin typeface="Roboto"/>
                <a:cs typeface="Roboto"/>
              </a:rPr>
              <a:t> </a:t>
            </a:r>
            <a:r>
              <a:rPr sz="1100" dirty="0">
                <a:latin typeface="Roboto"/>
                <a:cs typeface="Roboto"/>
              </a:rPr>
              <a:t>to</a:t>
            </a:r>
            <a:r>
              <a:rPr sz="1100" spc="-18" dirty="0">
                <a:latin typeface="Roboto"/>
                <a:cs typeface="Roboto"/>
              </a:rPr>
              <a:t> </a:t>
            </a:r>
            <a:r>
              <a:rPr sz="1100" dirty="0">
                <a:latin typeface="Roboto"/>
                <a:cs typeface="Roboto"/>
              </a:rPr>
              <a:t>run</a:t>
            </a:r>
            <a:r>
              <a:rPr sz="1100" spc="-18" dirty="0">
                <a:latin typeface="Roboto"/>
                <a:cs typeface="Roboto"/>
              </a:rPr>
              <a:t> </a:t>
            </a:r>
            <a:r>
              <a:rPr sz="1100" dirty="0">
                <a:latin typeface="Roboto"/>
                <a:cs typeface="Roboto"/>
              </a:rPr>
              <a:t>the</a:t>
            </a:r>
            <a:r>
              <a:rPr sz="1100" spc="-18" dirty="0">
                <a:latin typeface="Roboto"/>
                <a:cs typeface="Roboto"/>
              </a:rPr>
              <a:t> </a:t>
            </a:r>
            <a:r>
              <a:rPr sz="1100" dirty="0">
                <a:latin typeface="Roboto"/>
                <a:cs typeface="Roboto"/>
              </a:rPr>
              <a:t>containerized</a:t>
            </a:r>
            <a:r>
              <a:rPr sz="1100" spc="-18" dirty="0">
                <a:latin typeface="Roboto"/>
                <a:cs typeface="Roboto"/>
              </a:rPr>
              <a:t> </a:t>
            </a:r>
            <a:r>
              <a:rPr sz="1100" dirty="0">
                <a:latin typeface="Roboto"/>
                <a:cs typeface="Roboto"/>
              </a:rPr>
              <a:t>application</a:t>
            </a:r>
            <a:r>
              <a:rPr sz="1100" spc="-18" dirty="0">
                <a:latin typeface="Roboto"/>
                <a:cs typeface="Roboto"/>
              </a:rPr>
              <a:t> </a:t>
            </a:r>
            <a:r>
              <a:rPr sz="1100" dirty="0">
                <a:latin typeface="Roboto"/>
                <a:cs typeface="Roboto"/>
              </a:rPr>
              <a:t>without</a:t>
            </a:r>
            <a:r>
              <a:rPr sz="1100" spc="-18" dirty="0">
                <a:latin typeface="Roboto"/>
                <a:cs typeface="Roboto"/>
              </a:rPr>
              <a:t> </a:t>
            </a:r>
            <a:r>
              <a:rPr sz="1100" dirty="0">
                <a:latin typeface="Roboto"/>
                <a:cs typeface="Roboto"/>
              </a:rPr>
              <a:t>managing</a:t>
            </a:r>
            <a:r>
              <a:rPr sz="1100" spc="-18" dirty="0">
                <a:latin typeface="Roboto"/>
                <a:cs typeface="Roboto"/>
              </a:rPr>
              <a:t> </a:t>
            </a:r>
            <a:r>
              <a:rPr sz="1100" dirty="0">
                <a:latin typeface="Roboto"/>
                <a:cs typeface="Roboto"/>
              </a:rPr>
              <a:t>Ec2</a:t>
            </a:r>
            <a:r>
              <a:rPr sz="1100" spc="-18" dirty="0">
                <a:latin typeface="Roboto"/>
                <a:cs typeface="Roboto"/>
              </a:rPr>
              <a:t> </a:t>
            </a:r>
            <a:r>
              <a:rPr sz="1100" dirty="0">
                <a:latin typeface="Roboto"/>
                <a:cs typeface="Roboto"/>
              </a:rPr>
              <a:t>or</a:t>
            </a:r>
            <a:r>
              <a:rPr sz="1100" spc="-18" dirty="0">
                <a:latin typeface="Roboto"/>
                <a:cs typeface="Roboto"/>
              </a:rPr>
              <a:t> </a:t>
            </a:r>
            <a:r>
              <a:rPr sz="1100" dirty="0">
                <a:latin typeface="Roboto"/>
                <a:cs typeface="Roboto"/>
              </a:rPr>
              <a:t>if</a:t>
            </a:r>
            <a:r>
              <a:rPr sz="1100" spc="-18" dirty="0">
                <a:latin typeface="Roboto"/>
                <a:cs typeface="Roboto"/>
              </a:rPr>
              <a:t> </a:t>
            </a:r>
            <a:r>
              <a:rPr sz="1100" dirty="0">
                <a:latin typeface="Roboto"/>
                <a:cs typeface="Roboto"/>
              </a:rPr>
              <a:t>want</a:t>
            </a:r>
            <a:r>
              <a:rPr sz="1100" spc="-18" dirty="0">
                <a:latin typeface="Roboto"/>
                <a:cs typeface="Roboto"/>
              </a:rPr>
              <a:t> </a:t>
            </a:r>
            <a:r>
              <a:rPr sz="1100" dirty="0">
                <a:latin typeface="Roboto"/>
                <a:cs typeface="Roboto"/>
              </a:rPr>
              <a:t>to</a:t>
            </a:r>
            <a:r>
              <a:rPr sz="1100" spc="-18" dirty="0">
                <a:latin typeface="Roboto"/>
                <a:cs typeface="Roboto"/>
              </a:rPr>
              <a:t> </a:t>
            </a:r>
            <a:r>
              <a:rPr sz="1100" dirty="0">
                <a:latin typeface="Roboto"/>
                <a:cs typeface="Roboto"/>
              </a:rPr>
              <a:t>run</a:t>
            </a:r>
            <a:r>
              <a:rPr sz="1100" spc="-18" dirty="0">
                <a:latin typeface="Roboto"/>
                <a:cs typeface="Roboto"/>
              </a:rPr>
              <a:t> </a:t>
            </a:r>
            <a:r>
              <a:rPr sz="1100" dirty="0">
                <a:latin typeface="Roboto"/>
                <a:cs typeface="Roboto"/>
              </a:rPr>
              <a:t>containerized</a:t>
            </a:r>
            <a:r>
              <a:rPr sz="1100" spc="-18" dirty="0">
                <a:latin typeface="Roboto"/>
                <a:cs typeface="Roboto"/>
              </a:rPr>
              <a:t> </a:t>
            </a:r>
            <a:r>
              <a:rPr sz="1100" spc="-5" dirty="0">
                <a:latin typeface="Roboto"/>
                <a:cs typeface="Roboto"/>
              </a:rPr>
              <a:t>application </a:t>
            </a:r>
            <a:r>
              <a:rPr sz="1100" dirty="0">
                <a:latin typeface="Roboto"/>
                <a:cs typeface="Roboto"/>
              </a:rPr>
              <a:t>serverless</a:t>
            </a:r>
            <a:r>
              <a:rPr sz="1100" spc="-25" dirty="0">
                <a:latin typeface="Roboto"/>
                <a:cs typeface="Roboto"/>
              </a:rPr>
              <a:t> </a:t>
            </a:r>
            <a:r>
              <a:rPr sz="1100" dirty="0">
                <a:latin typeface="Roboto"/>
                <a:cs typeface="Roboto"/>
              </a:rPr>
              <a:t>way,</a:t>
            </a:r>
            <a:r>
              <a:rPr sz="1100" spc="-25" dirty="0">
                <a:latin typeface="Roboto"/>
                <a:cs typeface="Roboto"/>
              </a:rPr>
              <a:t> </a:t>
            </a:r>
            <a:r>
              <a:rPr sz="1100" dirty="0">
                <a:latin typeface="Roboto"/>
                <a:cs typeface="Roboto"/>
              </a:rPr>
              <a:t>Use</a:t>
            </a:r>
            <a:r>
              <a:rPr sz="1100" spc="-25" dirty="0">
                <a:latin typeface="Roboto"/>
                <a:cs typeface="Roboto"/>
              </a:rPr>
              <a:t> </a:t>
            </a:r>
            <a:r>
              <a:rPr sz="1100" dirty="0">
                <a:latin typeface="Roboto"/>
                <a:cs typeface="Roboto"/>
              </a:rPr>
              <a:t>AWS</a:t>
            </a:r>
            <a:r>
              <a:rPr sz="1100" spc="-25" dirty="0">
                <a:latin typeface="Roboto"/>
                <a:cs typeface="Roboto"/>
              </a:rPr>
              <a:t> </a:t>
            </a:r>
            <a:r>
              <a:rPr sz="1100" dirty="0">
                <a:latin typeface="Roboto"/>
                <a:cs typeface="Roboto"/>
              </a:rPr>
              <a:t>Fargate,</a:t>
            </a:r>
            <a:r>
              <a:rPr sz="1100" spc="-25" dirty="0">
                <a:latin typeface="Roboto"/>
                <a:cs typeface="Roboto"/>
              </a:rPr>
              <a:t> </a:t>
            </a:r>
            <a:r>
              <a:rPr sz="1100" dirty="0">
                <a:latin typeface="Roboto"/>
                <a:cs typeface="Roboto"/>
              </a:rPr>
              <a:t>but</a:t>
            </a:r>
            <a:r>
              <a:rPr sz="1100" spc="-25" dirty="0">
                <a:latin typeface="Roboto"/>
                <a:cs typeface="Roboto"/>
              </a:rPr>
              <a:t> </a:t>
            </a:r>
            <a:r>
              <a:rPr sz="1100" dirty="0">
                <a:latin typeface="Roboto"/>
                <a:cs typeface="Roboto"/>
              </a:rPr>
              <a:t>remember</a:t>
            </a:r>
            <a:r>
              <a:rPr sz="1100" spc="-25" dirty="0">
                <a:latin typeface="Roboto"/>
                <a:cs typeface="Roboto"/>
              </a:rPr>
              <a:t> </a:t>
            </a:r>
            <a:r>
              <a:rPr sz="1100" dirty="0">
                <a:latin typeface="Roboto"/>
                <a:cs typeface="Roboto"/>
              </a:rPr>
              <a:t>the</a:t>
            </a:r>
            <a:r>
              <a:rPr sz="1100" spc="-25" dirty="0">
                <a:latin typeface="Roboto"/>
                <a:cs typeface="Roboto"/>
              </a:rPr>
              <a:t> </a:t>
            </a:r>
            <a:r>
              <a:rPr sz="1100" dirty="0">
                <a:latin typeface="Roboto"/>
                <a:cs typeface="Roboto"/>
              </a:rPr>
              <a:t>cost</a:t>
            </a:r>
            <a:r>
              <a:rPr sz="1100" spc="-25" dirty="0">
                <a:latin typeface="Roboto"/>
                <a:cs typeface="Roboto"/>
              </a:rPr>
              <a:t> </a:t>
            </a:r>
            <a:r>
              <a:rPr sz="1100" dirty="0">
                <a:latin typeface="Roboto"/>
                <a:cs typeface="Roboto"/>
              </a:rPr>
              <a:t>part,</a:t>
            </a:r>
            <a:r>
              <a:rPr sz="1100" spc="-25" dirty="0">
                <a:latin typeface="Roboto"/>
                <a:cs typeface="Roboto"/>
              </a:rPr>
              <a:t> </a:t>
            </a:r>
            <a:r>
              <a:rPr sz="1100" dirty="0">
                <a:latin typeface="Roboto"/>
                <a:cs typeface="Roboto"/>
              </a:rPr>
              <a:t>use</a:t>
            </a:r>
            <a:r>
              <a:rPr sz="1100" spc="-25" dirty="0">
                <a:latin typeface="Roboto"/>
                <a:cs typeface="Roboto"/>
              </a:rPr>
              <a:t> </a:t>
            </a:r>
            <a:r>
              <a:rPr sz="1100" dirty="0">
                <a:latin typeface="Roboto"/>
                <a:cs typeface="Roboto"/>
              </a:rPr>
              <a:t>AWS</a:t>
            </a:r>
            <a:r>
              <a:rPr sz="1100" spc="-25" dirty="0">
                <a:latin typeface="Roboto"/>
                <a:cs typeface="Roboto"/>
              </a:rPr>
              <a:t> </a:t>
            </a:r>
            <a:r>
              <a:rPr sz="1100" dirty="0">
                <a:latin typeface="Roboto"/>
                <a:cs typeface="Roboto"/>
              </a:rPr>
              <a:t>cost</a:t>
            </a:r>
            <a:r>
              <a:rPr sz="1100" spc="-25" dirty="0">
                <a:latin typeface="Roboto"/>
                <a:cs typeface="Roboto"/>
              </a:rPr>
              <a:t> </a:t>
            </a:r>
            <a:r>
              <a:rPr sz="1100" dirty="0">
                <a:latin typeface="Roboto"/>
                <a:cs typeface="Roboto"/>
              </a:rPr>
              <a:t>calculator</a:t>
            </a:r>
            <a:r>
              <a:rPr sz="1100" spc="-25" dirty="0">
                <a:latin typeface="Roboto"/>
                <a:cs typeface="Roboto"/>
              </a:rPr>
              <a:t> </a:t>
            </a:r>
            <a:r>
              <a:rPr sz="1100" dirty="0">
                <a:latin typeface="Roboto"/>
                <a:cs typeface="Roboto"/>
              </a:rPr>
              <a:t>before</a:t>
            </a:r>
            <a:r>
              <a:rPr sz="1100" spc="-25" dirty="0">
                <a:latin typeface="Roboto"/>
                <a:cs typeface="Roboto"/>
              </a:rPr>
              <a:t> </a:t>
            </a:r>
            <a:r>
              <a:rPr sz="1100" dirty="0">
                <a:latin typeface="Roboto"/>
                <a:cs typeface="Roboto"/>
              </a:rPr>
              <a:t>starting</a:t>
            </a:r>
            <a:r>
              <a:rPr sz="1100" spc="-25" dirty="0">
                <a:latin typeface="Roboto"/>
                <a:cs typeface="Roboto"/>
              </a:rPr>
              <a:t> </a:t>
            </a:r>
            <a:r>
              <a:rPr sz="1100" dirty="0">
                <a:latin typeface="Roboto"/>
                <a:cs typeface="Roboto"/>
              </a:rPr>
              <a:t>task/service</a:t>
            </a:r>
            <a:r>
              <a:rPr sz="1100" spc="-25" dirty="0">
                <a:latin typeface="Roboto"/>
                <a:cs typeface="Roboto"/>
              </a:rPr>
              <a:t> </a:t>
            </a:r>
            <a:r>
              <a:rPr sz="1100" spc="-10" dirty="0">
                <a:latin typeface="Roboto"/>
                <a:cs typeface="Roboto"/>
              </a:rPr>
              <a:t>using </a:t>
            </a:r>
            <a:r>
              <a:rPr sz="1100" dirty="0">
                <a:latin typeface="Roboto"/>
                <a:cs typeface="Roboto"/>
              </a:rPr>
              <a:t>AWS</a:t>
            </a:r>
            <a:r>
              <a:rPr sz="1100" spc="-15" dirty="0">
                <a:latin typeface="Roboto"/>
                <a:cs typeface="Roboto"/>
              </a:rPr>
              <a:t> </a:t>
            </a:r>
            <a:r>
              <a:rPr sz="1100" spc="-5" dirty="0">
                <a:latin typeface="Roboto"/>
                <a:cs typeface="Roboto"/>
              </a:rPr>
              <a:t>Fargate</a:t>
            </a:r>
            <a:endParaRPr sz="1100">
              <a:latin typeface="Roboto"/>
              <a:cs typeface="Roboto"/>
            </a:endParaRPr>
          </a:p>
          <a:p>
            <a:pPr marL="6350">
              <a:spcBef>
                <a:spcPts val="580"/>
              </a:spcBef>
              <a:tabLst>
                <a:tab pos="1117600" algn="l"/>
              </a:tabLst>
            </a:pPr>
            <a:r>
              <a:rPr sz="1100" b="1" dirty="0">
                <a:latin typeface="Roboto"/>
                <a:cs typeface="Roboto"/>
              </a:rPr>
              <a:t>ECS </a:t>
            </a:r>
            <a:r>
              <a:rPr sz="1100" b="1" spc="-10" dirty="0">
                <a:latin typeface="Roboto"/>
                <a:cs typeface="Roboto"/>
              </a:rPr>
              <a:t>On-</a:t>
            </a:r>
            <a:r>
              <a:rPr sz="1100" b="1" spc="-5" dirty="0">
                <a:latin typeface="Roboto"/>
                <a:cs typeface="Roboto"/>
              </a:rPr>
              <a:t>premise</a:t>
            </a:r>
            <a:r>
              <a:rPr sz="1100" b="1" dirty="0">
                <a:latin typeface="Roboto"/>
                <a:cs typeface="Roboto"/>
              </a:rPr>
              <a:t>	</a:t>
            </a:r>
            <a:r>
              <a:rPr sz="1100" dirty="0">
                <a:latin typeface="Roboto"/>
                <a:cs typeface="Roboto"/>
              </a:rPr>
              <a:t>Use</a:t>
            </a:r>
            <a:r>
              <a:rPr sz="1100" spc="-23" dirty="0">
                <a:latin typeface="Roboto"/>
                <a:cs typeface="Roboto"/>
              </a:rPr>
              <a:t> </a:t>
            </a:r>
            <a:r>
              <a:rPr sz="1100" dirty="0">
                <a:latin typeface="Roboto"/>
                <a:cs typeface="Roboto"/>
              </a:rPr>
              <a:t>ECS</a:t>
            </a:r>
            <a:r>
              <a:rPr sz="1100" spc="-20" dirty="0">
                <a:latin typeface="Roboto"/>
                <a:cs typeface="Roboto"/>
              </a:rPr>
              <a:t> </a:t>
            </a:r>
            <a:r>
              <a:rPr sz="1100" dirty="0">
                <a:latin typeface="Roboto"/>
                <a:cs typeface="Roboto"/>
              </a:rPr>
              <a:t>Anywhere</a:t>
            </a:r>
            <a:r>
              <a:rPr sz="1100" spc="-23" dirty="0">
                <a:latin typeface="Roboto"/>
                <a:cs typeface="Roboto"/>
              </a:rPr>
              <a:t> </a:t>
            </a:r>
            <a:r>
              <a:rPr sz="1100" dirty="0">
                <a:latin typeface="Roboto"/>
                <a:cs typeface="Roboto"/>
              </a:rPr>
              <a:t>to</a:t>
            </a:r>
            <a:r>
              <a:rPr sz="1100" spc="-20" dirty="0">
                <a:latin typeface="Roboto"/>
                <a:cs typeface="Roboto"/>
              </a:rPr>
              <a:t> </a:t>
            </a:r>
            <a:r>
              <a:rPr sz="1100" dirty="0">
                <a:latin typeface="Roboto"/>
                <a:cs typeface="Roboto"/>
              </a:rPr>
              <a:t>run</a:t>
            </a:r>
            <a:r>
              <a:rPr sz="1100" spc="-20" dirty="0">
                <a:latin typeface="Roboto"/>
                <a:cs typeface="Roboto"/>
              </a:rPr>
              <a:t> </a:t>
            </a:r>
            <a:r>
              <a:rPr sz="1100" dirty="0">
                <a:latin typeface="Roboto"/>
                <a:cs typeface="Roboto"/>
              </a:rPr>
              <a:t>and</a:t>
            </a:r>
            <a:r>
              <a:rPr sz="1100" spc="-23" dirty="0">
                <a:latin typeface="Roboto"/>
                <a:cs typeface="Roboto"/>
              </a:rPr>
              <a:t> </a:t>
            </a:r>
            <a:r>
              <a:rPr sz="1100" dirty="0">
                <a:latin typeface="Roboto"/>
                <a:cs typeface="Roboto"/>
              </a:rPr>
              <a:t>manage</a:t>
            </a:r>
            <a:r>
              <a:rPr sz="1100" spc="-20" dirty="0">
                <a:latin typeface="Roboto"/>
                <a:cs typeface="Roboto"/>
              </a:rPr>
              <a:t> </a:t>
            </a:r>
            <a:r>
              <a:rPr sz="1100" dirty="0">
                <a:latin typeface="Roboto"/>
                <a:cs typeface="Roboto"/>
              </a:rPr>
              <a:t>the</a:t>
            </a:r>
            <a:r>
              <a:rPr sz="1100" spc="-23" dirty="0">
                <a:latin typeface="Roboto"/>
                <a:cs typeface="Roboto"/>
              </a:rPr>
              <a:t> </a:t>
            </a:r>
            <a:r>
              <a:rPr sz="1100" dirty="0">
                <a:latin typeface="Roboto"/>
                <a:cs typeface="Roboto"/>
              </a:rPr>
              <a:t>containerized</a:t>
            </a:r>
            <a:r>
              <a:rPr sz="1100" spc="-20" dirty="0">
                <a:latin typeface="Roboto"/>
                <a:cs typeface="Roboto"/>
              </a:rPr>
              <a:t> </a:t>
            </a:r>
            <a:r>
              <a:rPr sz="1100" dirty="0">
                <a:latin typeface="Roboto"/>
                <a:cs typeface="Roboto"/>
              </a:rPr>
              <a:t>application</a:t>
            </a:r>
            <a:r>
              <a:rPr sz="1100" spc="-20" dirty="0">
                <a:latin typeface="Roboto"/>
                <a:cs typeface="Roboto"/>
              </a:rPr>
              <a:t> </a:t>
            </a:r>
            <a:r>
              <a:rPr sz="1100" spc="-5" dirty="0">
                <a:latin typeface="Roboto"/>
                <a:cs typeface="Roboto"/>
              </a:rPr>
              <a:t>on-</a:t>
            </a:r>
            <a:r>
              <a:rPr sz="1100" dirty="0">
                <a:latin typeface="Roboto"/>
                <a:cs typeface="Roboto"/>
              </a:rPr>
              <a:t>premise</a:t>
            </a:r>
            <a:r>
              <a:rPr sz="1100" spc="-23" dirty="0">
                <a:latin typeface="Roboto"/>
                <a:cs typeface="Roboto"/>
              </a:rPr>
              <a:t> </a:t>
            </a:r>
            <a:r>
              <a:rPr sz="1100" dirty="0">
                <a:latin typeface="Roboto"/>
                <a:cs typeface="Roboto"/>
              </a:rPr>
              <a:t>or</a:t>
            </a:r>
            <a:r>
              <a:rPr sz="1100" spc="-20" dirty="0">
                <a:latin typeface="Roboto"/>
                <a:cs typeface="Roboto"/>
              </a:rPr>
              <a:t> </a:t>
            </a:r>
            <a:r>
              <a:rPr sz="1100" spc="-5" dirty="0">
                <a:latin typeface="Roboto"/>
                <a:cs typeface="Roboto"/>
              </a:rPr>
              <a:t>anywhere</a:t>
            </a:r>
            <a:endParaRPr sz="1100">
              <a:latin typeface="Roboto"/>
              <a:cs typeface="Roboto"/>
            </a:endParaRPr>
          </a:p>
          <a:p>
            <a:pPr marL="121285">
              <a:spcBef>
                <a:spcPts val="1105"/>
              </a:spcBef>
              <a:tabLst>
                <a:tab pos="1117600" algn="l"/>
              </a:tabLst>
            </a:pPr>
            <a:r>
              <a:rPr sz="1100" b="1" dirty="0">
                <a:latin typeface="Roboto"/>
                <a:cs typeface="Roboto"/>
              </a:rPr>
              <a:t>Auto</a:t>
            </a:r>
            <a:r>
              <a:rPr sz="1100" b="1" spc="-15" dirty="0">
                <a:latin typeface="Roboto"/>
                <a:cs typeface="Roboto"/>
              </a:rPr>
              <a:t> </a:t>
            </a:r>
            <a:r>
              <a:rPr sz="1100" b="1" spc="-5" dirty="0">
                <a:latin typeface="Roboto"/>
                <a:cs typeface="Roboto"/>
              </a:rPr>
              <a:t>Schedule</a:t>
            </a:r>
            <a:r>
              <a:rPr sz="1100" b="1" dirty="0">
                <a:latin typeface="Roboto"/>
                <a:cs typeface="Roboto"/>
              </a:rPr>
              <a:t>	</a:t>
            </a:r>
            <a:r>
              <a:rPr sz="1100" dirty="0">
                <a:latin typeface="Roboto"/>
                <a:cs typeface="Roboto"/>
              </a:rPr>
              <a:t>You</a:t>
            </a:r>
            <a:r>
              <a:rPr sz="1100" spc="-18" dirty="0">
                <a:latin typeface="Roboto"/>
                <a:cs typeface="Roboto"/>
              </a:rPr>
              <a:t> </a:t>
            </a:r>
            <a:r>
              <a:rPr sz="1100" dirty="0">
                <a:latin typeface="Roboto"/>
                <a:cs typeface="Roboto"/>
              </a:rPr>
              <a:t>can</a:t>
            </a:r>
            <a:r>
              <a:rPr sz="1100" spc="-18" dirty="0">
                <a:latin typeface="Roboto"/>
                <a:cs typeface="Roboto"/>
              </a:rPr>
              <a:t> </a:t>
            </a:r>
            <a:r>
              <a:rPr sz="1100" spc="-5" dirty="0">
                <a:latin typeface="Roboto"/>
                <a:cs typeface="Roboto"/>
              </a:rPr>
              <a:t>auto-</a:t>
            </a:r>
            <a:r>
              <a:rPr sz="1100" dirty="0">
                <a:latin typeface="Roboto"/>
                <a:cs typeface="Roboto"/>
              </a:rPr>
              <a:t>schedule</a:t>
            </a:r>
            <a:r>
              <a:rPr sz="1100" spc="-18" dirty="0">
                <a:latin typeface="Roboto"/>
                <a:cs typeface="Roboto"/>
              </a:rPr>
              <a:t> </a:t>
            </a:r>
            <a:r>
              <a:rPr sz="1100" dirty="0">
                <a:latin typeface="Roboto"/>
                <a:cs typeface="Roboto"/>
              </a:rPr>
              <a:t>running</a:t>
            </a:r>
            <a:r>
              <a:rPr sz="1100" spc="-18" dirty="0">
                <a:latin typeface="Roboto"/>
                <a:cs typeface="Roboto"/>
              </a:rPr>
              <a:t> </a:t>
            </a:r>
            <a:r>
              <a:rPr sz="1100" dirty="0">
                <a:latin typeface="Roboto"/>
                <a:cs typeface="Roboto"/>
              </a:rPr>
              <a:t>of</a:t>
            </a:r>
            <a:r>
              <a:rPr sz="1100" spc="-18" dirty="0">
                <a:latin typeface="Roboto"/>
                <a:cs typeface="Roboto"/>
              </a:rPr>
              <a:t> </a:t>
            </a:r>
            <a:r>
              <a:rPr sz="1100" dirty="0">
                <a:latin typeface="Roboto"/>
                <a:cs typeface="Roboto"/>
              </a:rPr>
              <a:t>ECS</a:t>
            </a:r>
            <a:r>
              <a:rPr sz="1100" spc="-18" dirty="0">
                <a:latin typeface="Roboto"/>
                <a:cs typeface="Roboto"/>
              </a:rPr>
              <a:t> </a:t>
            </a:r>
            <a:r>
              <a:rPr sz="1100" dirty="0">
                <a:latin typeface="Roboto"/>
                <a:cs typeface="Roboto"/>
              </a:rPr>
              <a:t>tasks</a:t>
            </a:r>
            <a:r>
              <a:rPr sz="1100" spc="-15" dirty="0">
                <a:latin typeface="Roboto"/>
                <a:cs typeface="Roboto"/>
              </a:rPr>
              <a:t> </a:t>
            </a:r>
            <a:r>
              <a:rPr sz="1100" dirty="0">
                <a:latin typeface="Roboto"/>
                <a:cs typeface="Roboto"/>
              </a:rPr>
              <a:t>using</a:t>
            </a:r>
            <a:r>
              <a:rPr sz="1100" spc="-18" dirty="0">
                <a:latin typeface="Roboto"/>
                <a:cs typeface="Roboto"/>
              </a:rPr>
              <a:t> </a:t>
            </a:r>
            <a:r>
              <a:rPr sz="1100" dirty="0">
                <a:latin typeface="Roboto"/>
                <a:cs typeface="Roboto"/>
              </a:rPr>
              <a:t>AWS</a:t>
            </a:r>
            <a:r>
              <a:rPr sz="1100" spc="-18" dirty="0">
                <a:latin typeface="Roboto"/>
                <a:cs typeface="Roboto"/>
              </a:rPr>
              <a:t> </a:t>
            </a:r>
            <a:r>
              <a:rPr sz="1100" dirty="0">
                <a:latin typeface="Roboto"/>
                <a:cs typeface="Roboto"/>
              </a:rPr>
              <a:t>console</a:t>
            </a:r>
            <a:r>
              <a:rPr sz="1100" spc="-18" dirty="0">
                <a:latin typeface="Roboto"/>
                <a:cs typeface="Roboto"/>
              </a:rPr>
              <a:t> </a:t>
            </a:r>
            <a:r>
              <a:rPr sz="1100" dirty="0">
                <a:latin typeface="Roboto"/>
                <a:cs typeface="Roboto"/>
              </a:rPr>
              <a:t>,</a:t>
            </a:r>
            <a:r>
              <a:rPr sz="1100" spc="-18" dirty="0">
                <a:latin typeface="Roboto"/>
                <a:cs typeface="Roboto"/>
              </a:rPr>
              <a:t> </a:t>
            </a:r>
            <a:r>
              <a:rPr sz="1100" dirty="0">
                <a:latin typeface="Roboto"/>
                <a:cs typeface="Roboto"/>
              </a:rPr>
              <a:t>CLI</a:t>
            </a:r>
            <a:r>
              <a:rPr sz="1100" spc="-18" dirty="0">
                <a:latin typeface="Roboto"/>
                <a:cs typeface="Roboto"/>
              </a:rPr>
              <a:t> </a:t>
            </a:r>
            <a:r>
              <a:rPr sz="1100" dirty="0">
                <a:latin typeface="Roboto"/>
                <a:cs typeface="Roboto"/>
              </a:rPr>
              <a:t>or</a:t>
            </a:r>
            <a:r>
              <a:rPr sz="1100" spc="-18" dirty="0">
                <a:latin typeface="Roboto"/>
                <a:cs typeface="Roboto"/>
              </a:rPr>
              <a:t> </a:t>
            </a:r>
            <a:r>
              <a:rPr sz="1100" dirty="0">
                <a:latin typeface="Roboto"/>
                <a:cs typeface="Roboto"/>
              </a:rPr>
              <a:t>AWS</a:t>
            </a:r>
            <a:r>
              <a:rPr sz="1100" spc="-15" dirty="0">
                <a:latin typeface="Roboto"/>
                <a:cs typeface="Roboto"/>
              </a:rPr>
              <a:t> </a:t>
            </a:r>
            <a:r>
              <a:rPr sz="1100" spc="-13" dirty="0">
                <a:latin typeface="Roboto"/>
                <a:cs typeface="Roboto"/>
              </a:rPr>
              <a:t>SDK</a:t>
            </a:r>
            <a:endParaRPr sz="1100">
              <a:latin typeface="Roboto"/>
              <a:cs typeface="Roboto"/>
            </a:endParaRPr>
          </a:p>
          <a:p>
            <a:pPr>
              <a:spcBef>
                <a:spcPts val="3"/>
              </a:spcBef>
            </a:pPr>
            <a:endParaRPr sz="1100">
              <a:latin typeface="Roboto"/>
              <a:cs typeface="Roboto"/>
            </a:endParaRPr>
          </a:p>
          <a:p>
            <a:pPr marL="477520">
              <a:tabLst>
                <a:tab pos="1176020" algn="l"/>
              </a:tabLst>
            </a:pPr>
            <a:r>
              <a:rPr sz="1100" b="1" spc="-5" dirty="0">
                <a:latin typeface="Roboto"/>
                <a:cs typeface="Roboto"/>
              </a:rPr>
              <a:t>Automate</a:t>
            </a:r>
            <a:r>
              <a:rPr sz="1100" b="1" dirty="0">
                <a:latin typeface="Roboto"/>
                <a:cs typeface="Roboto"/>
              </a:rPr>
              <a:t>	</a:t>
            </a:r>
            <a:r>
              <a:rPr sz="1100" dirty="0">
                <a:latin typeface="Roboto"/>
                <a:cs typeface="Roboto"/>
              </a:rPr>
              <a:t>Automation</a:t>
            </a:r>
            <a:r>
              <a:rPr sz="1100" spc="-23" dirty="0">
                <a:latin typeface="Roboto"/>
                <a:cs typeface="Roboto"/>
              </a:rPr>
              <a:t> </a:t>
            </a:r>
            <a:r>
              <a:rPr sz="1100" dirty="0">
                <a:latin typeface="Roboto"/>
                <a:cs typeface="Roboto"/>
              </a:rPr>
              <a:t>can</a:t>
            </a:r>
            <a:r>
              <a:rPr sz="1100" spc="-23" dirty="0">
                <a:latin typeface="Roboto"/>
                <a:cs typeface="Roboto"/>
              </a:rPr>
              <a:t> </a:t>
            </a:r>
            <a:r>
              <a:rPr sz="1100" dirty="0">
                <a:latin typeface="Roboto"/>
                <a:cs typeface="Roboto"/>
              </a:rPr>
              <a:t>be</a:t>
            </a:r>
            <a:r>
              <a:rPr sz="1100" spc="-23" dirty="0">
                <a:latin typeface="Roboto"/>
                <a:cs typeface="Roboto"/>
              </a:rPr>
              <a:t> </a:t>
            </a:r>
            <a:r>
              <a:rPr sz="1100" dirty="0">
                <a:latin typeface="Roboto"/>
                <a:cs typeface="Roboto"/>
              </a:rPr>
              <a:t>achieved</a:t>
            </a:r>
            <a:r>
              <a:rPr sz="1100" spc="-20" dirty="0">
                <a:latin typeface="Roboto"/>
                <a:cs typeface="Roboto"/>
              </a:rPr>
              <a:t> </a:t>
            </a:r>
            <a:r>
              <a:rPr sz="1100" dirty="0">
                <a:latin typeface="Roboto"/>
                <a:cs typeface="Roboto"/>
              </a:rPr>
              <a:t>using</a:t>
            </a:r>
            <a:r>
              <a:rPr sz="1100" spc="-23" dirty="0">
                <a:latin typeface="Roboto"/>
                <a:cs typeface="Roboto"/>
              </a:rPr>
              <a:t> </a:t>
            </a:r>
            <a:r>
              <a:rPr sz="1100" dirty="0">
                <a:latin typeface="Roboto"/>
                <a:cs typeface="Roboto"/>
              </a:rPr>
              <a:t>AWS</a:t>
            </a:r>
            <a:r>
              <a:rPr sz="1100" spc="-23" dirty="0">
                <a:latin typeface="Roboto"/>
                <a:cs typeface="Roboto"/>
              </a:rPr>
              <a:t> </a:t>
            </a:r>
            <a:r>
              <a:rPr sz="1100" dirty="0">
                <a:latin typeface="Roboto"/>
                <a:cs typeface="Roboto"/>
              </a:rPr>
              <a:t>CLI,</a:t>
            </a:r>
            <a:r>
              <a:rPr sz="1100" spc="-20" dirty="0">
                <a:latin typeface="Roboto"/>
                <a:cs typeface="Roboto"/>
              </a:rPr>
              <a:t> </a:t>
            </a:r>
            <a:r>
              <a:rPr sz="1100" dirty="0">
                <a:latin typeface="Roboto"/>
                <a:cs typeface="Roboto"/>
              </a:rPr>
              <a:t>AWS</a:t>
            </a:r>
            <a:r>
              <a:rPr sz="1100" spc="-23" dirty="0">
                <a:latin typeface="Roboto"/>
                <a:cs typeface="Roboto"/>
              </a:rPr>
              <a:t> </a:t>
            </a:r>
            <a:r>
              <a:rPr sz="1100" dirty="0">
                <a:latin typeface="Roboto"/>
                <a:cs typeface="Roboto"/>
              </a:rPr>
              <a:t>SDK,</a:t>
            </a:r>
            <a:r>
              <a:rPr sz="1100" spc="-23" dirty="0">
                <a:latin typeface="Roboto"/>
                <a:cs typeface="Roboto"/>
              </a:rPr>
              <a:t> </a:t>
            </a:r>
            <a:r>
              <a:rPr sz="1100" dirty="0">
                <a:latin typeface="Roboto"/>
                <a:cs typeface="Roboto"/>
              </a:rPr>
              <a:t>CDK,</a:t>
            </a:r>
            <a:r>
              <a:rPr sz="1100" spc="-23" dirty="0">
                <a:latin typeface="Roboto"/>
                <a:cs typeface="Roboto"/>
              </a:rPr>
              <a:t> </a:t>
            </a:r>
            <a:r>
              <a:rPr sz="1100" dirty="0">
                <a:latin typeface="Roboto"/>
                <a:cs typeface="Roboto"/>
              </a:rPr>
              <a:t>Copilot</a:t>
            </a:r>
            <a:r>
              <a:rPr sz="1100" spc="-20" dirty="0">
                <a:latin typeface="Roboto"/>
                <a:cs typeface="Roboto"/>
              </a:rPr>
              <a:t> </a:t>
            </a:r>
            <a:r>
              <a:rPr sz="1100" spc="-13" dirty="0">
                <a:latin typeface="Roboto"/>
                <a:cs typeface="Roboto"/>
              </a:rPr>
              <a:t>etc</a:t>
            </a:r>
            <a:endParaRPr sz="1100">
              <a:latin typeface="Roboto"/>
              <a:cs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8038" y="28550"/>
            <a:ext cx="1923098" cy="403957"/>
          </a:xfrm>
          <a:prstGeom prst="rect">
            <a:avLst/>
          </a:prstGeom>
        </p:spPr>
        <p:txBody>
          <a:bodyPr spcFirstLastPara="1" vert="horz" wrap="square" lIns="0" tIns="6350" rIns="0" bIns="0" rtlCol="0" anchor="t" anchorCtr="0">
            <a:spAutoFit/>
          </a:bodyPr>
          <a:lstStyle/>
          <a:p>
            <a:pPr marL="6350">
              <a:spcBef>
                <a:spcPts val="50"/>
              </a:spcBef>
            </a:pPr>
            <a:r>
              <a:rPr dirty="0"/>
              <a:t>AWS</a:t>
            </a:r>
            <a:r>
              <a:rPr spc="-45" dirty="0"/>
              <a:t> </a:t>
            </a:r>
            <a:r>
              <a:rPr spc="-5" dirty="0"/>
              <a:t>Lambda</a:t>
            </a:r>
          </a:p>
        </p:txBody>
      </p:sp>
      <p:sp>
        <p:nvSpPr>
          <p:cNvPr id="3" name="object 3"/>
          <p:cNvSpPr txBox="1"/>
          <p:nvPr/>
        </p:nvSpPr>
        <p:spPr>
          <a:xfrm>
            <a:off x="8173736" y="56321"/>
            <a:ext cx="911860" cy="138499"/>
          </a:xfrm>
          <a:prstGeom prst="rect">
            <a:avLst/>
          </a:prstGeom>
        </p:spPr>
        <p:txBody>
          <a:bodyPr vert="horz" wrap="square" lIns="0" tIns="7620" rIns="0" bIns="0" rtlCol="0">
            <a:spAutoFit/>
          </a:bodyPr>
          <a:lstStyle/>
          <a:p>
            <a:pPr marL="6350">
              <a:spcBef>
                <a:spcPts val="60"/>
              </a:spcBef>
            </a:pPr>
            <a:r>
              <a:rPr sz="850" dirty="0">
                <a:solidFill>
                  <a:srgbClr val="13110E"/>
                </a:solidFill>
                <a:latin typeface="Open Sans Light"/>
                <a:cs typeface="Open Sans Light"/>
              </a:rPr>
              <a:t>Learn</a:t>
            </a:r>
            <a:r>
              <a:rPr sz="850" spc="15" dirty="0">
                <a:solidFill>
                  <a:srgbClr val="13110E"/>
                </a:solidFill>
                <a:latin typeface="Open Sans Light"/>
                <a:cs typeface="Open Sans Light"/>
              </a:rPr>
              <a:t> </a:t>
            </a:r>
            <a:r>
              <a:rPr sz="850" dirty="0">
                <a:solidFill>
                  <a:srgbClr val="13110E"/>
                </a:solidFill>
                <a:latin typeface="Open Sans Light"/>
                <a:cs typeface="Open Sans Light"/>
              </a:rPr>
              <a:t>With</a:t>
            </a:r>
            <a:r>
              <a:rPr sz="850" spc="15" dirty="0">
                <a:solidFill>
                  <a:srgbClr val="13110E"/>
                </a:solidFill>
                <a:latin typeface="Open Sans Light"/>
                <a:cs typeface="Open Sans Light"/>
              </a:rPr>
              <a:t> </a:t>
            </a:r>
            <a:r>
              <a:rPr sz="850" spc="-5" dirty="0">
                <a:solidFill>
                  <a:srgbClr val="13110E"/>
                </a:solidFill>
                <a:latin typeface="Open Sans Light"/>
                <a:cs typeface="Open Sans Light"/>
              </a:rPr>
              <a:t>Sandip</a:t>
            </a:r>
            <a:endParaRPr sz="850">
              <a:latin typeface="Open Sans Light"/>
              <a:cs typeface="Open Sans Light"/>
            </a:endParaRPr>
          </a:p>
        </p:txBody>
      </p:sp>
      <p:sp>
        <p:nvSpPr>
          <p:cNvPr id="4" name="object 4"/>
          <p:cNvSpPr txBox="1"/>
          <p:nvPr/>
        </p:nvSpPr>
        <p:spPr>
          <a:xfrm>
            <a:off x="251822" y="377575"/>
            <a:ext cx="8762048" cy="4843250"/>
          </a:xfrm>
          <a:prstGeom prst="rect">
            <a:avLst/>
          </a:prstGeom>
        </p:spPr>
        <p:txBody>
          <a:bodyPr vert="horz" wrap="square" lIns="0" tIns="58103" rIns="0" bIns="0" rtlCol="0">
            <a:spAutoFit/>
          </a:bodyPr>
          <a:lstStyle/>
          <a:p>
            <a:pPr marL="42545">
              <a:spcBef>
                <a:spcPts val="458"/>
              </a:spcBef>
            </a:pPr>
            <a:r>
              <a:rPr sz="900" b="1" dirty="0">
                <a:latin typeface="Roboto"/>
                <a:cs typeface="Roboto"/>
              </a:rPr>
              <a:t>Run</a:t>
            </a:r>
            <a:r>
              <a:rPr sz="900" b="1" spc="-18" dirty="0">
                <a:latin typeface="Roboto"/>
                <a:cs typeface="Roboto"/>
              </a:rPr>
              <a:t> </a:t>
            </a:r>
            <a:r>
              <a:rPr sz="900" b="1" dirty="0">
                <a:latin typeface="Roboto"/>
                <a:cs typeface="Roboto"/>
              </a:rPr>
              <a:t>code</a:t>
            </a:r>
            <a:r>
              <a:rPr sz="900" b="1" spc="-15" dirty="0">
                <a:latin typeface="Roboto"/>
                <a:cs typeface="Roboto"/>
              </a:rPr>
              <a:t> </a:t>
            </a:r>
            <a:r>
              <a:rPr sz="900" b="1" dirty="0">
                <a:latin typeface="Roboto"/>
                <a:cs typeface="Roboto"/>
              </a:rPr>
              <a:t>without</a:t>
            </a:r>
            <a:r>
              <a:rPr sz="900" b="1" spc="-18" dirty="0">
                <a:latin typeface="Roboto"/>
                <a:cs typeface="Roboto"/>
              </a:rPr>
              <a:t> </a:t>
            </a:r>
            <a:r>
              <a:rPr sz="900" b="1" dirty="0">
                <a:latin typeface="Roboto"/>
                <a:cs typeface="Roboto"/>
              </a:rPr>
              <a:t>thinking</a:t>
            </a:r>
            <a:r>
              <a:rPr sz="900" b="1" spc="-15" dirty="0">
                <a:latin typeface="Roboto"/>
                <a:cs typeface="Roboto"/>
              </a:rPr>
              <a:t> </a:t>
            </a:r>
            <a:r>
              <a:rPr sz="900" b="1" dirty="0">
                <a:latin typeface="Roboto"/>
                <a:cs typeface="Roboto"/>
              </a:rPr>
              <a:t>about</a:t>
            </a:r>
            <a:r>
              <a:rPr sz="900" b="1" spc="-15" dirty="0">
                <a:latin typeface="Roboto"/>
                <a:cs typeface="Roboto"/>
              </a:rPr>
              <a:t> </a:t>
            </a:r>
            <a:r>
              <a:rPr sz="900" b="1" dirty="0">
                <a:latin typeface="Roboto"/>
                <a:cs typeface="Roboto"/>
              </a:rPr>
              <a:t>servers</a:t>
            </a:r>
            <a:r>
              <a:rPr sz="900" b="1" spc="-18" dirty="0">
                <a:latin typeface="Roboto"/>
                <a:cs typeface="Roboto"/>
              </a:rPr>
              <a:t> </a:t>
            </a:r>
            <a:r>
              <a:rPr sz="900" b="1" dirty="0">
                <a:latin typeface="Roboto"/>
                <a:cs typeface="Roboto"/>
              </a:rPr>
              <a:t>or</a:t>
            </a:r>
            <a:r>
              <a:rPr sz="900" b="1" spc="-15" dirty="0">
                <a:latin typeface="Roboto"/>
                <a:cs typeface="Roboto"/>
              </a:rPr>
              <a:t> </a:t>
            </a:r>
            <a:r>
              <a:rPr sz="900" b="1" dirty="0">
                <a:latin typeface="Roboto"/>
                <a:cs typeface="Roboto"/>
              </a:rPr>
              <a:t>clusters.</a:t>
            </a:r>
            <a:r>
              <a:rPr sz="900" b="1" spc="-15" dirty="0">
                <a:latin typeface="Roboto"/>
                <a:cs typeface="Roboto"/>
              </a:rPr>
              <a:t> </a:t>
            </a:r>
            <a:r>
              <a:rPr sz="900" b="1" dirty="0">
                <a:latin typeface="Roboto"/>
                <a:cs typeface="Roboto"/>
              </a:rPr>
              <a:t>Only</a:t>
            </a:r>
            <a:r>
              <a:rPr sz="900" b="1" spc="-18" dirty="0">
                <a:latin typeface="Roboto"/>
                <a:cs typeface="Roboto"/>
              </a:rPr>
              <a:t> </a:t>
            </a:r>
            <a:r>
              <a:rPr sz="900" b="1" dirty="0">
                <a:latin typeface="Roboto"/>
                <a:cs typeface="Roboto"/>
              </a:rPr>
              <a:t>pay</a:t>
            </a:r>
            <a:r>
              <a:rPr sz="900" b="1" spc="-15" dirty="0">
                <a:latin typeface="Roboto"/>
                <a:cs typeface="Roboto"/>
              </a:rPr>
              <a:t> </a:t>
            </a:r>
            <a:r>
              <a:rPr sz="900" b="1" dirty="0">
                <a:latin typeface="Roboto"/>
                <a:cs typeface="Roboto"/>
              </a:rPr>
              <a:t>for</a:t>
            </a:r>
            <a:r>
              <a:rPr sz="900" b="1" spc="-18" dirty="0">
                <a:latin typeface="Roboto"/>
                <a:cs typeface="Roboto"/>
              </a:rPr>
              <a:t> </a:t>
            </a:r>
            <a:r>
              <a:rPr sz="900" b="1" dirty="0">
                <a:latin typeface="Roboto"/>
                <a:cs typeface="Roboto"/>
              </a:rPr>
              <a:t>what</a:t>
            </a:r>
            <a:r>
              <a:rPr sz="900" b="1" spc="-15" dirty="0">
                <a:latin typeface="Roboto"/>
                <a:cs typeface="Roboto"/>
              </a:rPr>
              <a:t> </a:t>
            </a:r>
            <a:r>
              <a:rPr sz="900" b="1" dirty="0">
                <a:latin typeface="Roboto"/>
                <a:cs typeface="Roboto"/>
              </a:rPr>
              <a:t>you</a:t>
            </a:r>
            <a:r>
              <a:rPr sz="900" b="1" spc="-15" dirty="0">
                <a:latin typeface="Roboto"/>
                <a:cs typeface="Roboto"/>
              </a:rPr>
              <a:t> </a:t>
            </a:r>
            <a:r>
              <a:rPr sz="900" b="1" spc="-10" dirty="0">
                <a:latin typeface="Roboto"/>
                <a:cs typeface="Roboto"/>
              </a:rPr>
              <a:t>use.</a:t>
            </a:r>
            <a:endParaRPr sz="900">
              <a:latin typeface="Roboto"/>
              <a:cs typeface="Roboto"/>
            </a:endParaRPr>
          </a:p>
          <a:p>
            <a:pPr marL="42545" marR="337820">
              <a:lnSpc>
                <a:spcPct val="116500"/>
              </a:lnSpc>
              <a:spcBef>
                <a:spcPts val="280"/>
              </a:spcBef>
            </a:pPr>
            <a:r>
              <a:rPr sz="1100" dirty="0">
                <a:latin typeface="Roboto"/>
                <a:cs typeface="Roboto"/>
              </a:rPr>
              <a:t>AWS</a:t>
            </a:r>
            <a:r>
              <a:rPr sz="1100" spc="-23" dirty="0">
                <a:latin typeface="Roboto"/>
                <a:cs typeface="Roboto"/>
              </a:rPr>
              <a:t> </a:t>
            </a:r>
            <a:r>
              <a:rPr sz="1100" dirty="0">
                <a:latin typeface="Roboto"/>
                <a:cs typeface="Roboto"/>
              </a:rPr>
              <a:t>Lambda</a:t>
            </a:r>
            <a:r>
              <a:rPr sz="1100" spc="-23" dirty="0">
                <a:latin typeface="Roboto"/>
                <a:cs typeface="Roboto"/>
              </a:rPr>
              <a:t> </a:t>
            </a:r>
            <a:r>
              <a:rPr sz="1100" dirty="0">
                <a:latin typeface="Roboto"/>
                <a:cs typeface="Roboto"/>
              </a:rPr>
              <a:t>is</a:t>
            </a:r>
            <a:r>
              <a:rPr sz="1100" spc="-23" dirty="0">
                <a:latin typeface="Roboto"/>
                <a:cs typeface="Roboto"/>
              </a:rPr>
              <a:t> </a:t>
            </a:r>
            <a:r>
              <a:rPr sz="1100" dirty="0">
                <a:latin typeface="Roboto"/>
                <a:cs typeface="Roboto"/>
              </a:rPr>
              <a:t>a</a:t>
            </a:r>
            <a:r>
              <a:rPr sz="1100" spc="-23" dirty="0">
                <a:latin typeface="Roboto"/>
                <a:cs typeface="Roboto"/>
              </a:rPr>
              <a:t> </a:t>
            </a:r>
            <a:r>
              <a:rPr sz="1100" dirty="0">
                <a:latin typeface="Roboto"/>
                <a:cs typeface="Roboto"/>
              </a:rPr>
              <a:t>serverless</a:t>
            </a:r>
            <a:r>
              <a:rPr sz="1100" spc="-23" dirty="0">
                <a:latin typeface="Roboto"/>
                <a:cs typeface="Roboto"/>
              </a:rPr>
              <a:t> </a:t>
            </a:r>
            <a:r>
              <a:rPr sz="1100" dirty="0">
                <a:latin typeface="Roboto"/>
                <a:cs typeface="Roboto"/>
              </a:rPr>
              <a:t>compute</a:t>
            </a:r>
            <a:r>
              <a:rPr sz="1100" spc="-23" dirty="0">
                <a:latin typeface="Roboto"/>
                <a:cs typeface="Roboto"/>
              </a:rPr>
              <a:t> </a:t>
            </a:r>
            <a:r>
              <a:rPr sz="1100" dirty="0">
                <a:latin typeface="Roboto"/>
                <a:cs typeface="Roboto"/>
              </a:rPr>
              <a:t>service</a:t>
            </a:r>
            <a:r>
              <a:rPr sz="1100" spc="-23" dirty="0">
                <a:latin typeface="Roboto"/>
                <a:cs typeface="Roboto"/>
              </a:rPr>
              <a:t> </a:t>
            </a:r>
            <a:r>
              <a:rPr sz="1100" dirty="0">
                <a:latin typeface="Roboto"/>
                <a:cs typeface="Roboto"/>
              </a:rPr>
              <a:t>that</a:t>
            </a:r>
            <a:r>
              <a:rPr sz="1100" spc="-23" dirty="0">
                <a:latin typeface="Roboto"/>
                <a:cs typeface="Roboto"/>
              </a:rPr>
              <a:t> </a:t>
            </a:r>
            <a:r>
              <a:rPr sz="1100" dirty="0">
                <a:latin typeface="Roboto"/>
                <a:cs typeface="Roboto"/>
              </a:rPr>
              <a:t>lets</a:t>
            </a:r>
            <a:r>
              <a:rPr sz="1100" spc="-23" dirty="0">
                <a:latin typeface="Roboto"/>
                <a:cs typeface="Roboto"/>
              </a:rPr>
              <a:t> </a:t>
            </a:r>
            <a:r>
              <a:rPr sz="1100" dirty="0">
                <a:latin typeface="Roboto"/>
                <a:cs typeface="Roboto"/>
              </a:rPr>
              <a:t>you</a:t>
            </a:r>
            <a:r>
              <a:rPr sz="1100" spc="-23" dirty="0">
                <a:latin typeface="Roboto"/>
                <a:cs typeface="Roboto"/>
              </a:rPr>
              <a:t> </a:t>
            </a:r>
            <a:r>
              <a:rPr sz="1100" dirty="0">
                <a:latin typeface="Roboto"/>
                <a:cs typeface="Roboto"/>
              </a:rPr>
              <a:t>run</a:t>
            </a:r>
            <a:r>
              <a:rPr sz="1100" spc="-23" dirty="0">
                <a:latin typeface="Roboto"/>
                <a:cs typeface="Roboto"/>
              </a:rPr>
              <a:t> </a:t>
            </a:r>
            <a:r>
              <a:rPr sz="1100" dirty="0">
                <a:latin typeface="Roboto"/>
                <a:cs typeface="Roboto"/>
              </a:rPr>
              <a:t>code</a:t>
            </a:r>
            <a:r>
              <a:rPr sz="1100" spc="-23" dirty="0">
                <a:latin typeface="Roboto"/>
                <a:cs typeface="Roboto"/>
              </a:rPr>
              <a:t> </a:t>
            </a:r>
            <a:r>
              <a:rPr sz="1100" dirty="0">
                <a:latin typeface="Roboto"/>
                <a:cs typeface="Roboto"/>
              </a:rPr>
              <a:t>without</a:t>
            </a:r>
            <a:r>
              <a:rPr sz="1100" spc="-23" dirty="0">
                <a:latin typeface="Roboto"/>
                <a:cs typeface="Roboto"/>
              </a:rPr>
              <a:t> </a:t>
            </a:r>
            <a:r>
              <a:rPr sz="1100" dirty="0">
                <a:latin typeface="Roboto"/>
                <a:cs typeface="Roboto"/>
              </a:rPr>
              <a:t>provisioning</a:t>
            </a:r>
            <a:r>
              <a:rPr sz="1100" spc="-23" dirty="0">
                <a:latin typeface="Roboto"/>
                <a:cs typeface="Roboto"/>
              </a:rPr>
              <a:t> </a:t>
            </a:r>
            <a:r>
              <a:rPr sz="1100" dirty="0">
                <a:latin typeface="Roboto"/>
                <a:cs typeface="Roboto"/>
              </a:rPr>
              <a:t>or</a:t>
            </a:r>
            <a:r>
              <a:rPr sz="1100" spc="-23" dirty="0">
                <a:latin typeface="Roboto"/>
                <a:cs typeface="Roboto"/>
              </a:rPr>
              <a:t> </a:t>
            </a:r>
            <a:r>
              <a:rPr sz="1100" dirty="0">
                <a:latin typeface="Roboto"/>
                <a:cs typeface="Roboto"/>
              </a:rPr>
              <a:t>managing</a:t>
            </a:r>
            <a:r>
              <a:rPr sz="1100" spc="-23" dirty="0">
                <a:latin typeface="Roboto"/>
                <a:cs typeface="Roboto"/>
              </a:rPr>
              <a:t> </a:t>
            </a:r>
            <a:r>
              <a:rPr sz="1100" dirty="0">
                <a:latin typeface="Roboto"/>
                <a:cs typeface="Roboto"/>
              </a:rPr>
              <a:t>servers,</a:t>
            </a:r>
            <a:r>
              <a:rPr sz="1100" spc="-20" dirty="0">
                <a:latin typeface="Roboto"/>
                <a:cs typeface="Roboto"/>
              </a:rPr>
              <a:t> </a:t>
            </a:r>
            <a:r>
              <a:rPr sz="1100" dirty="0">
                <a:latin typeface="Roboto"/>
                <a:cs typeface="Roboto"/>
              </a:rPr>
              <a:t>creating</a:t>
            </a:r>
            <a:r>
              <a:rPr sz="1100" spc="-23" dirty="0">
                <a:latin typeface="Roboto"/>
                <a:cs typeface="Roboto"/>
              </a:rPr>
              <a:t> </a:t>
            </a:r>
            <a:r>
              <a:rPr sz="1100" spc="-5" dirty="0">
                <a:latin typeface="Roboto"/>
                <a:cs typeface="Roboto"/>
              </a:rPr>
              <a:t>workload-</a:t>
            </a:r>
            <a:r>
              <a:rPr sz="1100" spc="-10" dirty="0">
                <a:latin typeface="Roboto"/>
                <a:cs typeface="Roboto"/>
              </a:rPr>
              <a:t>aware </a:t>
            </a:r>
            <a:r>
              <a:rPr sz="1100" dirty="0">
                <a:latin typeface="Roboto"/>
                <a:cs typeface="Roboto"/>
              </a:rPr>
              <a:t>cluster</a:t>
            </a:r>
            <a:r>
              <a:rPr sz="1100" spc="-25" dirty="0">
                <a:latin typeface="Roboto"/>
                <a:cs typeface="Roboto"/>
              </a:rPr>
              <a:t> </a:t>
            </a:r>
            <a:r>
              <a:rPr sz="1100" dirty="0">
                <a:latin typeface="Roboto"/>
                <a:cs typeface="Roboto"/>
              </a:rPr>
              <a:t>scaling</a:t>
            </a:r>
            <a:r>
              <a:rPr sz="1100" spc="-23" dirty="0">
                <a:latin typeface="Roboto"/>
                <a:cs typeface="Roboto"/>
              </a:rPr>
              <a:t> </a:t>
            </a:r>
            <a:r>
              <a:rPr sz="1100" dirty="0">
                <a:latin typeface="Roboto"/>
                <a:cs typeface="Roboto"/>
              </a:rPr>
              <a:t>logic,</a:t>
            </a:r>
            <a:r>
              <a:rPr sz="1100" spc="-23" dirty="0">
                <a:latin typeface="Roboto"/>
                <a:cs typeface="Roboto"/>
              </a:rPr>
              <a:t> </a:t>
            </a:r>
            <a:r>
              <a:rPr sz="1100" dirty="0">
                <a:latin typeface="Roboto"/>
                <a:cs typeface="Roboto"/>
              </a:rPr>
              <a:t>maintaining</a:t>
            </a:r>
            <a:r>
              <a:rPr sz="1100" spc="-25" dirty="0">
                <a:latin typeface="Roboto"/>
                <a:cs typeface="Roboto"/>
              </a:rPr>
              <a:t> </a:t>
            </a:r>
            <a:r>
              <a:rPr sz="1100" dirty="0">
                <a:latin typeface="Roboto"/>
                <a:cs typeface="Roboto"/>
              </a:rPr>
              <a:t>event</a:t>
            </a:r>
            <a:r>
              <a:rPr sz="1100" spc="-23" dirty="0">
                <a:latin typeface="Roboto"/>
                <a:cs typeface="Roboto"/>
              </a:rPr>
              <a:t> </a:t>
            </a:r>
            <a:r>
              <a:rPr sz="1100" dirty="0">
                <a:latin typeface="Roboto"/>
                <a:cs typeface="Roboto"/>
              </a:rPr>
              <a:t>integrations,</a:t>
            </a:r>
            <a:r>
              <a:rPr sz="1100" spc="-23" dirty="0">
                <a:latin typeface="Roboto"/>
                <a:cs typeface="Roboto"/>
              </a:rPr>
              <a:t> </a:t>
            </a:r>
            <a:r>
              <a:rPr sz="1100" dirty="0">
                <a:latin typeface="Roboto"/>
                <a:cs typeface="Roboto"/>
              </a:rPr>
              <a:t>or</a:t>
            </a:r>
            <a:r>
              <a:rPr sz="1100" spc="-23" dirty="0">
                <a:latin typeface="Roboto"/>
                <a:cs typeface="Roboto"/>
              </a:rPr>
              <a:t> </a:t>
            </a:r>
            <a:r>
              <a:rPr sz="1100" dirty="0">
                <a:latin typeface="Roboto"/>
                <a:cs typeface="Roboto"/>
              </a:rPr>
              <a:t>managing</a:t>
            </a:r>
            <a:r>
              <a:rPr sz="1100" spc="-25" dirty="0">
                <a:latin typeface="Roboto"/>
                <a:cs typeface="Roboto"/>
              </a:rPr>
              <a:t> </a:t>
            </a:r>
            <a:r>
              <a:rPr sz="1100" dirty="0">
                <a:latin typeface="Roboto"/>
                <a:cs typeface="Roboto"/>
              </a:rPr>
              <a:t>runtimes.</a:t>
            </a:r>
            <a:r>
              <a:rPr sz="1100" spc="-23" dirty="0">
                <a:latin typeface="Roboto"/>
                <a:cs typeface="Roboto"/>
              </a:rPr>
              <a:t> </a:t>
            </a:r>
            <a:r>
              <a:rPr sz="1100" dirty="0">
                <a:latin typeface="Roboto"/>
                <a:cs typeface="Roboto"/>
              </a:rPr>
              <a:t>With</a:t>
            </a:r>
            <a:r>
              <a:rPr sz="1100" spc="-23" dirty="0">
                <a:latin typeface="Roboto"/>
                <a:cs typeface="Roboto"/>
              </a:rPr>
              <a:t> </a:t>
            </a:r>
            <a:r>
              <a:rPr sz="1100" dirty="0">
                <a:latin typeface="Roboto"/>
                <a:cs typeface="Roboto"/>
              </a:rPr>
              <a:t>Lambda,</a:t>
            </a:r>
            <a:r>
              <a:rPr sz="1100" spc="-23" dirty="0">
                <a:latin typeface="Roboto"/>
                <a:cs typeface="Roboto"/>
              </a:rPr>
              <a:t> </a:t>
            </a:r>
            <a:r>
              <a:rPr sz="1100" dirty="0">
                <a:latin typeface="Roboto"/>
                <a:cs typeface="Roboto"/>
              </a:rPr>
              <a:t>you</a:t>
            </a:r>
            <a:r>
              <a:rPr sz="1100" spc="-25" dirty="0">
                <a:latin typeface="Roboto"/>
                <a:cs typeface="Roboto"/>
              </a:rPr>
              <a:t> </a:t>
            </a:r>
            <a:r>
              <a:rPr sz="1100" dirty="0">
                <a:latin typeface="Roboto"/>
                <a:cs typeface="Roboto"/>
              </a:rPr>
              <a:t>can</a:t>
            </a:r>
            <a:r>
              <a:rPr sz="1100" spc="-23" dirty="0">
                <a:latin typeface="Roboto"/>
                <a:cs typeface="Roboto"/>
              </a:rPr>
              <a:t> </a:t>
            </a:r>
            <a:r>
              <a:rPr sz="1100" dirty="0">
                <a:latin typeface="Roboto"/>
                <a:cs typeface="Roboto"/>
              </a:rPr>
              <a:t>run</a:t>
            </a:r>
            <a:r>
              <a:rPr sz="1100" spc="-23" dirty="0">
                <a:latin typeface="Roboto"/>
                <a:cs typeface="Roboto"/>
              </a:rPr>
              <a:t> </a:t>
            </a:r>
            <a:r>
              <a:rPr sz="1100" dirty="0">
                <a:latin typeface="Roboto"/>
                <a:cs typeface="Roboto"/>
              </a:rPr>
              <a:t>code</a:t>
            </a:r>
            <a:r>
              <a:rPr sz="1100" spc="-23" dirty="0">
                <a:latin typeface="Roboto"/>
                <a:cs typeface="Roboto"/>
              </a:rPr>
              <a:t> </a:t>
            </a:r>
            <a:r>
              <a:rPr sz="1100" dirty="0">
                <a:latin typeface="Roboto"/>
                <a:cs typeface="Roboto"/>
              </a:rPr>
              <a:t>for</a:t>
            </a:r>
            <a:r>
              <a:rPr sz="1100" spc="-25" dirty="0">
                <a:latin typeface="Roboto"/>
                <a:cs typeface="Roboto"/>
              </a:rPr>
              <a:t> </a:t>
            </a:r>
            <a:r>
              <a:rPr sz="1100" dirty="0">
                <a:latin typeface="Roboto"/>
                <a:cs typeface="Roboto"/>
              </a:rPr>
              <a:t>virtually</a:t>
            </a:r>
            <a:r>
              <a:rPr sz="1100" spc="-23" dirty="0">
                <a:latin typeface="Roboto"/>
                <a:cs typeface="Roboto"/>
              </a:rPr>
              <a:t> </a:t>
            </a:r>
            <a:r>
              <a:rPr sz="1100" dirty="0">
                <a:latin typeface="Roboto"/>
                <a:cs typeface="Roboto"/>
              </a:rPr>
              <a:t>any</a:t>
            </a:r>
            <a:r>
              <a:rPr sz="1100" spc="-23" dirty="0">
                <a:latin typeface="Roboto"/>
                <a:cs typeface="Roboto"/>
              </a:rPr>
              <a:t> </a:t>
            </a:r>
            <a:r>
              <a:rPr sz="1100" dirty="0">
                <a:latin typeface="Roboto"/>
                <a:cs typeface="Roboto"/>
              </a:rPr>
              <a:t>type</a:t>
            </a:r>
            <a:r>
              <a:rPr sz="1100" spc="-25" dirty="0">
                <a:latin typeface="Roboto"/>
                <a:cs typeface="Roboto"/>
              </a:rPr>
              <a:t> </a:t>
            </a:r>
            <a:r>
              <a:rPr sz="1100" spc="-13" dirty="0">
                <a:latin typeface="Roboto"/>
                <a:cs typeface="Roboto"/>
              </a:rPr>
              <a:t>of </a:t>
            </a:r>
            <a:r>
              <a:rPr sz="1100" dirty="0">
                <a:latin typeface="Roboto"/>
                <a:cs typeface="Roboto"/>
              </a:rPr>
              <a:t>application</a:t>
            </a:r>
            <a:r>
              <a:rPr sz="1100" spc="-20" dirty="0">
                <a:latin typeface="Roboto"/>
                <a:cs typeface="Roboto"/>
              </a:rPr>
              <a:t> </a:t>
            </a:r>
            <a:r>
              <a:rPr sz="1100" dirty="0">
                <a:latin typeface="Roboto"/>
                <a:cs typeface="Roboto"/>
              </a:rPr>
              <a:t>or</a:t>
            </a:r>
            <a:r>
              <a:rPr sz="1100" spc="-20" dirty="0">
                <a:latin typeface="Roboto"/>
                <a:cs typeface="Roboto"/>
              </a:rPr>
              <a:t> </a:t>
            </a:r>
            <a:r>
              <a:rPr sz="1100" dirty="0">
                <a:latin typeface="Roboto"/>
                <a:cs typeface="Roboto"/>
              </a:rPr>
              <a:t>backend</a:t>
            </a:r>
            <a:r>
              <a:rPr sz="1100" spc="-20" dirty="0">
                <a:latin typeface="Roboto"/>
                <a:cs typeface="Roboto"/>
              </a:rPr>
              <a:t> </a:t>
            </a:r>
            <a:r>
              <a:rPr sz="1100" dirty="0">
                <a:latin typeface="Roboto"/>
                <a:cs typeface="Roboto"/>
              </a:rPr>
              <a:t>service</a:t>
            </a:r>
            <a:r>
              <a:rPr sz="1100" spc="-20" dirty="0">
                <a:latin typeface="Roboto"/>
                <a:cs typeface="Roboto"/>
              </a:rPr>
              <a:t> </a:t>
            </a:r>
            <a:r>
              <a:rPr sz="1100" dirty="0">
                <a:latin typeface="Roboto"/>
                <a:cs typeface="Roboto"/>
              </a:rPr>
              <a:t>-</a:t>
            </a:r>
            <a:r>
              <a:rPr sz="1100" spc="-20" dirty="0">
                <a:latin typeface="Roboto"/>
                <a:cs typeface="Roboto"/>
              </a:rPr>
              <a:t> </a:t>
            </a:r>
            <a:r>
              <a:rPr sz="1100" dirty="0">
                <a:latin typeface="Roboto"/>
                <a:cs typeface="Roboto"/>
              </a:rPr>
              <a:t>all</a:t>
            </a:r>
            <a:r>
              <a:rPr sz="1100" spc="-20" dirty="0">
                <a:latin typeface="Roboto"/>
                <a:cs typeface="Roboto"/>
              </a:rPr>
              <a:t> </a:t>
            </a:r>
            <a:r>
              <a:rPr sz="1100" dirty="0">
                <a:latin typeface="Roboto"/>
                <a:cs typeface="Roboto"/>
              </a:rPr>
              <a:t>with</a:t>
            </a:r>
            <a:r>
              <a:rPr sz="1100" spc="-20" dirty="0">
                <a:latin typeface="Roboto"/>
                <a:cs typeface="Roboto"/>
              </a:rPr>
              <a:t> </a:t>
            </a:r>
            <a:r>
              <a:rPr sz="1100" dirty="0">
                <a:latin typeface="Roboto"/>
                <a:cs typeface="Roboto"/>
              </a:rPr>
              <a:t>zero</a:t>
            </a:r>
            <a:r>
              <a:rPr sz="1100" spc="-20" dirty="0">
                <a:latin typeface="Roboto"/>
                <a:cs typeface="Roboto"/>
              </a:rPr>
              <a:t> </a:t>
            </a:r>
            <a:r>
              <a:rPr sz="1100" spc="-5" dirty="0">
                <a:latin typeface="Roboto"/>
                <a:cs typeface="Roboto"/>
              </a:rPr>
              <a:t>administration.</a:t>
            </a:r>
            <a:endParaRPr sz="1100">
              <a:latin typeface="Roboto"/>
              <a:cs typeface="Roboto"/>
            </a:endParaRPr>
          </a:p>
          <a:p>
            <a:pPr>
              <a:spcBef>
                <a:spcPts val="217"/>
              </a:spcBef>
            </a:pPr>
            <a:endParaRPr sz="1100">
              <a:latin typeface="Roboto"/>
              <a:cs typeface="Roboto"/>
            </a:endParaRPr>
          </a:p>
          <a:p>
            <a:pPr marL="42545" marR="2540">
              <a:lnSpc>
                <a:spcPct val="116500"/>
              </a:lnSpc>
            </a:pPr>
            <a:r>
              <a:rPr sz="1100" dirty="0">
                <a:latin typeface="Roboto"/>
                <a:cs typeface="Roboto"/>
              </a:rPr>
              <a:t>Just</a:t>
            </a:r>
            <a:r>
              <a:rPr sz="1100" spc="-23" dirty="0">
                <a:latin typeface="Roboto"/>
                <a:cs typeface="Roboto"/>
              </a:rPr>
              <a:t> </a:t>
            </a:r>
            <a:r>
              <a:rPr sz="1100" dirty="0">
                <a:latin typeface="Roboto"/>
                <a:cs typeface="Roboto"/>
              </a:rPr>
              <a:t>upload</a:t>
            </a:r>
            <a:r>
              <a:rPr sz="1100" spc="-20" dirty="0">
                <a:latin typeface="Roboto"/>
                <a:cs typeface="Roboto"/>
              </a:rPr>
              <a:t> </a:t>
            </a:r>
            <a:r>
              <a:rPr sz="1100" dirty="0">
                <a:latin typeface="Roboto"/>
                <a:cs typeface="Roboto"/>
              </a:rPr>
              <a:t>your</a:t>
            </a:r>
            <a:r>
              <a:rPr sz="1100" spc="-23" dirty="0">
                <a:latin typeface="Roboto"/>
                <a:cs typeface="Roboto"/>
              </a:rPr>
              <a:t> </a:t>
            </a:r>
            <a:r>
              <a:rPr sz="1100" dirty="0">
                <a:latin typeface="Roboto"/>
                <a:cs typeface="Roboto"/>
              </a:rPr>
              <a:t>code</a:t>
            </a:r>
            <a:r>
              <a:rPr sz="1100" spc="-20" dirty="0">
                <a:latin typeface="Roboto"/>
                <a:cs typeface="Roboto"/>
              </a:rPr>
              <a:t> </a:t>
            </a:r>
            <a:r>
              <a:rPr sz="1100" dirty="0">
                <a:latin typeface="Roboto"/>
                <a:cs typeface="Roboto"/>
              </a:rPr>
              <a:t>as</a:t>
            </a:r>
            <a:r>
              <a:rPr sz="1100" spc="-23" dirty="0">
                <a:latin typeface="Roboto"/>
                <a:cs typeface="Roboto"/>
              </a:rPr>
              <a:t> </a:t>
            </a:r>
            <a:r>
              <a:rPr sz="1100" dirty="0">
                <a:latin typeface="Roboto"/>
                <a:cs typeface="Roboto"/>
              </a:rPr>
              <a:t>a</a:t>
            </a:r>
            <a:r>
              <a:rPr sz="1100" spc="-20" dirty="0">
                <a:latin typeface="Roboto"/>
                <a:cs typeface="Roboto"/>
              </a:rPr>
              <a:t> </a:t>
            </a:r>
            <a:r>
              <a:rPr sz="1100" dirty="0">
                <a:latin typeface="Roboto"/>
                <a:cs typeface="Roboto"/>
              </a:rPr>
              <a:t>ZIP</a:t>
            </a:r>
            <a:r>
              <a:rPr sz="1100" spc="-20" dirty="0">
                <a:latin typeface="Roboto"/>
                <a:cs typeface="Roboto"/>
              </a:rPr>
              <a:t> </a:t>
            </a:r>
            <a:r>
              <a:rPr sz="1100" dirty="0">
                <a:latin typeface="Roboto"/>
                <a:cs typeface="Roboto"/>
              </a:rPr>
              <a:t>file</a:t>
            </a:r>
            <a:r>
              <a:rPr sz="1100" spc="-23" dirty="0">
                <a:latin typeface="Roboto"/>
                <a:cs typeface="Roboto"/>
              </a:rPr>
              <a:t> </a:t>
            </a:r>
            <a:r>
              <a:rPr sz="1100" dirty="0">
                <a:latin typeface="Roboto"/>
                <a:cs typeface="Roboto"/>
              </a:rPr>
              <a:t>or</a:t>
            </a:r>
            <a:r>
              <a:rPr sz="1100" spc="-20" dirty="0">
                <a:latin typeface="Roboto"/>
                <a:cs typeface="Roboto"/>
              </a:rPr>
              <a:t> </a:t>
            </a:r>
            <a:r>
              <a:rPr sz="1100" dirty="0">
                <a:latin typeface="Roboto"/>
                <a:cs typeface="Roboto"/>
              </a:rPr>
              <a:t>container</a:t>
            </a:r>
            <a:r>
              <a:rPr sz="1100" spc="-23" dirty="0">
                <a:latin typeface="Roboto"/>
                <a:cs typeface="Roboto"/>
              </a:rPr>
              <a:t> </a:t>
            </a:r>
            <a:r>
              <a:rPr sz="1100" dirty="0">
                <a:latin typeface="Roboto"/>
                <a:cs typeface="Roboto"/>
              </a:rPr>
              <a:t>image,</a:t>
            </a:r>
            <a:r>
              <a:rPr sz="1100" spc="-20" dirty="0">
                <a:latin typeface="Roboto"/>
                <a:cs typeface="Roboto"/>
              </a:rPr>
              <a:t> </a:t>
            </a:r>
            <a:r>
              <a:rPr sz="1100" dirty="0">
                <a:latin typeface="Roboto"/>
                <a:cs typeface="Roboto"/>
              </a:rPr>
              <a:t>and</a:t>
            </a:r>
            <a:r>
              <a:rPr sz="1100" spc="-20" dirty="0">
                <a:latin typeface="Roboto"/>
                <a:cs typeface="Roboto"/>
              </a:rPr>
              <a:t> </a:t>
            </a:r>
            <a:r>
              <a:rPr sz="1100" dirty="0">
                <a:latin typeface="Roboto"/>
                <a:cs typeface="Roboto"/>
              </a:rPr>
              <a:t>Lambda</a:t>
            </a:r>
            <a:r>
              <a:rPr sz="1100" spc="-23" dirty="0">
                <a:latin typeface="Roboto"/>
                <a:cs typeface="Roboto"/>
              </a:rPr>
              <a:t> </a:t>
            </a:r>
            <a:r>
              <a:rPr sz="1100" dirty="0">
                <a:latin typeface="Roboto"/>
                <a:cs typeface="Roboto"/>
              </a:rPr>
              <a:t>automatically</a:t>
            </a:r>
            <a:r>
              <a:rPr sz="1100" spc="-20" dirty="0">
                <a:latin typeface="Roboto"/>
                <a:cs typeface="Roboto"/>
              </a:rPr>
              <a:t> </a:t>
            </a:r>
            <a:r>
              <a:rPr sz="1100" dirty="0">
                <a:latin typeface="Roboto"/>
                <a:cs typeface="Roboto"/>
              </a:rPr>
              <a:t>and</a:t>
            </a:r>
            <a:r>
              <a:rPr sz="1100" spc="-23" dirty="0">
                <a:latin typeface="Roboto"/>
                <a:cs typeface="Roboto"/>
              </a:rPr>
              <a:t> </a:t>
            </a:r>
            <a:r>
              <a:rPr sz="1100" dirty="0">
                <a:latin typeface="Roboto"/>
                <a:cs typeface="Roboto"/>
              </a:rPr>
              <a:t>precisely</a:t>
            </a:r>
            <a:r>
              <a:rPr sz="1100" spc="-20" dirty="0">
                <a:latin typeface="Roboto"/>
                <a:cs typeface="Roboto"/>
              </a:rPr>
              <a:t> </a:t>
            </a:r>
            <a:r>
              <a:rPr sz="1100" dirty="0">
                <a:latin typeface="Roboto"/>
                <a:cs typeface="Roboto"/>
              </a:rPr>
              <a:t>allocates</a:t>
            </a:r>
            <a:r>
              <a:rPr sz="1100" spc="-23" dirty="0">
                <a:latin typeface="Roboto"/>
                <a:cs typeface="Roboto"/>
              </a:rPr>
              <a:t> </a:t>
            </a:r>
            <a:r>
              <a:rPr sz="1100" dirty="0">
                <a:latin typeface="Roboto"/>
                <a:cs typeface="Roboto"/>
              </a:rPr>
              <a:t>compute</a:t>
            </a:r>
            <a:r>
              <a:rPr sz="1100" spc="-20" dirty="0">
                <a:latin typeface="Roboto"/>
                <a:cs typeface="Roboto"/>
              </a:rPr>
              <a:t> </a:t>
            </a:r>
            <a:r>
              <a:rPr sz="1100" dirty="0">
                <a:latin typeface="Roboto"/>
                <a:cs typeface="Roboto"/>
              </a:rPr>
              <a:t>execution</a:t>
            </a:r>
            <a:r>
              <a:rPr sz="1100" spc="-20" dirty="0">
                <a:latin typeface="Roboto"/>
                <a:cs typeface="Roboto"/>
              </a:rPr>
              <a:t> </a:t>
            </a:r>
            <a:r>
              <a:rPr sz="1100" dirty="0">
                <a:latin typeface="Roboto"/>
                <a:cs typeface="Roboto"/>
              </a:rPr>
              <a:t>power</a:t>
            </a:r>
            <a:r>
              <a:rPr sz="1100" spc="-23" dirty="0">
                <a:latin typeface="Roboto"/>
                <a:cs typeface="Roboto"/>
              </a:rPr>
              <a:t> </a:t>
            </a:r>
            <a:r>
              <a:rPr sz="1100" dirty="0">
                <a:latin typeface="Roboto"/>
                <a:cs typeface="Roboto"/>
              </a:rPr>
              <a:t>and</a:t>
            </a:r>
            <a:r>
              <a:rPr sz="1100" spc="-20" dirty="0">
                <a:latin typeface="Roboto"/>
                <a:cs typeface="Roboto"/>
              </a:rPr>
              <a:t> </a:t>
            </a:r>
            <a:r>
              <a:rPr sz="1100" spc="-10" dirty="0">
                <a:latin typeface="Roboto"/>
                <a:cs typeface="Roboto"/>
              </a:rPr>
              <a:t>runs </a:t>
            </a:r>
            <a:r>
              <a:rPr sz="1100" dirty="0">
                <a:latin typeface="Roboto"/>
                <a:cs typeface="Roboto"/>
              </a:rPr>
              <a:t>your</a:t>
            </a:r>
            <a:r>
              <a:rPr sz="1100" spc="-18" dirty="0">
                <a:latin typeface="Roboto"/>
                <a:cs typeface="Roboto"/>
              </a:rPr>
              <a:t> </a:t>
            </a:r>
            <a:r>
              <a:rPr sz="1100" dirty="0">
                <a:latin typeface="Roboto"/>
                <a:cs typeface="Roboto"/>
              </a:rPr>
              <a:t>code</a:t>
            </a:r>
            <a:r>
              <a:rPr sz="1100" spc="-15" dirty="0">
                <a:latin typeface="Roboto"/>
                <a:cs typeface="Roboto"/>
              </a:rPr>
              <a:t> </a:t>
            </a:r>
            <a:r>
              <a:rPr sz="1100" dirty="0">
                <a:latin typeface="Roboto"/>
                <a:cs typeface="Roboto"/>
              </a:rPr>
              <a:t>based</a:t>
            </a:r>
            <a:r>
              <a:rPr sz="1100" spc="-15" dirty="0">
                <a:latin typeface="Roboto"/>
                <a:cs typeface="Roboto"/>
              </a:rPr>
              <a:t> </a:t>
            </a:r>
            <a:r>
              <a:rPr sz="1100" dirty="0">
                <a:latin typeface="Roboto"/>
                <a:cs typeface="Roboto"/>
              </a:rPr>
              <a:t>on</a:t>
            </a:r>
            <a:r>
              <a:rPr sz="1100" spc="-15" dirty="0">
                <a:latin typeface="Roboto"/>
                <a:cs typeface="Roboto"/>
              </a:rPr>
              <a:t> </a:t>
            </a:r>
            <a:r>
              <a:rPr sz="1100" dirty="0">
                <a:latin typeface="Roboto"/>
                <a:cs typeface="Roboto"/>
              </a:rPr>
              <a:t>the</a:t>
            </a:r>
            <a:r>
              <a:rPr sz="1100" spc="-15" dirty="0">
                <a:latin typeface="Roboto"/>
                <a:cs typeface="Roboto"/>
              </a:rPr>
              <a:t> </a:t>
            </a:r>
            <a:r>
              <a:rPr sz="1100" dirty="0">
                <a:latin typeface="Roboto"/>
                <a:cs typeface="Roboto"/>
              </a:rPr>
              <a:t>incoming</a:t>
            </a:r>
            <a:r>
              <a:rPr sz="1100" spc="-18" dirty="0">
                <a:latin typeface="Roboto"/>
                <a:cs typeface="Roboto"/>
              </a:rPr>
              <a:t> </a:t>
            </a:r>
            <a:r>
              <a:rPr sz="1100" dirty="0">
                <a:latin typeface="Roboto"/>
                <a:cs typeface="Roboto"/>
              </a:rPr>
              <a:t>request</a:t>
            </a:r>
            <a:r>
              <a:rPr sz="1100" spc="-15" dirty="0">
                <a:latin typeface="Roboto"/>
                <a:cs typeface="Roboto"/>
              </a:rPr>
              <a:t> </a:t>
            </a:r>
            <a:r>
              <a:rPr sz="1100" dirty="0">
                <a:latin typeface="Roboto"/>
                <a:cs typeface="Roboto"/>
              </a:rPr>
              <a:t>or</a:t>
            </a:r>
            <a:r>
              <a:rPr sz="1100" spc="-15" dirty="0">
                <a:latin typeface="Roboto"/>
                <a:cs typeface="Roboto"/>
              </a:rPr>
              <a:t> </a:t>
            </a:r>
            <a:r>
              <a:rPr sz="1100" dirty="0">
                <a:latin typeface="Roboto"/>
                <a:cs typeface="Roboto"/>
              </a:rPr>
              <a:t>event,</a:t>
            </a:r>
            <a:r>
              <a:rPr sz="1100" spc="-15" dirty="0">
                <a:latin typeface="Roboto"/>
                <a:cs typeface="Roboto"/>
              </a:rPr>
              <a:t> </a:t>
            </a:r>
            <a:r>
              <a:rPr sz="1100" dirty="0">
                <a:latin typeface="Roboto"/>
                <a:cs typeface="Roboto"/>
              </a:rPr>
              <a:t>for</a:t>
            </a:r>
            <a:r>
              <a:rPr sz="1100" spc="-15" dirty="0">
                <a:latin typeface="Roboto"/>
                <a:cs typeface="Roboto"/>
              </a:rPr>
              <a:t> </a:t>
            </a:r>
            <a:r>
              <a:rPr sz="1100" dirty="0">
                <a:latin typeface="Roboto"/>
                <a:cs typeface="Roboto"/>
              </a:rPr>
              <a:t>any</a:t>
            </a:r>
            <a:r>
              <a:rPr sz="1100" spc="-15" dirty="0">
                <a:latin typeface="Roboto"/>
                <a:cs typeface="Roboto"/>
              </a:rPr>
              <a:t> </a:t>
            </a:r>
            <a:r>
              <a:rPr sz="1100" dirty="0">
                <a:latin typeface="Roboto"/>
                <a:cs typeface="Roboto"/>
              </a:rPr>
              <a:t>scale</a:t>
            </a:r>
            <a:r>
              <a:rPr sz="1100" spc="-18" dirty="0">
                <a:latin typeface="Roboto"/>
                <a:cs typeface="Roboto"/>
              </a:rPr>
              <a:t> </a:t>
            </a:r>
            <a:r>
              <a:rPr sz="1100" dirty="0">
                <a:latin typeface="Roboto"/>
                <a:cs typeface="Roboto"/>
              </a:rPr>
              <a:t>of</a:t>
            </a:r>
            <a:r>
              <a:rPr sz="1100" spc="-15" dirty="0">
                <a:latin typeface="Roboto"/>
                <a:cs typeface="Roboto"/>
              </a:rPr>
              <a:t> </a:t>
            </a:r>
            <a:r>
              <a:rPr sz="1100" spc="-5" dirty="0">
                <a:latin typeface="Roboto"/>
                <a:cs typeface="Roboto"/>
              </a:rPr>
              <a:t>traffic.</a:t>
            </a:r>
            <a:endParaRPr sz="1100">
              <a:latin typeface="Roboto"/>
              <a:cs typeface="Roboto"/>
            </a:endParaRPr>
          </a:p>
          <a:p>
            <a:pPr>
              <a:spcBef>
                <a:spcPts val="217"/>
              </a:spcBef>
            </a:pPr>
            <a:endParaRPr sz="1100">
              <a:latin typeface="Roboto"/>
              <a:cs typeface="Roboto"/>
            </a:endParaRPr>
          </a:p>
          <a:p>
            <a:pPr marL="42545" marR="268923">
              <a:lnSpc>
                <a:spcPct val="116500"/>
              </a:lnSpc>
            </a:pPr>
            <a:r>
              <a:rPr sz="1100" dirty="0">
                <a:latin typeface="Roboto"/>
                <a:cs typeface="Roboto"/>
              </a:rPr>
              <a:t>You</a:t>
            </a:r>
            <a:r>
              <a:rPr sz="1100" spc="-20" dirty="0">
                <a:latin typeface="Roboto"/>
                <a:cs typeface="Roboto"/>
              </a:rPr>
              <a:t> </a:t>
            </a:r>
            <a:r>
              <a:rPr sz="1100" dirty="0">
                <a:latin typeface="Roboto"/>
                <a:cs typeface="Roboto"/>
              </a:rPr>
              <a:t>can</a:t>
            </a:r>
            <a:r>
              <a:rPr sz="1100" spc="-18" dirty="0">
                <a:latin typeface="Roboto"/>
                <a:cs typeface="Roboto"/>
              </a:rPr>
              <a:t> </a:t>
            </a:r>
            <a:r>
              <a:rPr sz="1100" dirty="0">
                <a:latin typeface="Roboto"/>
                <a:cs typeface="Roboto"/>
              </a:rPr>
              <a:t>set</a:t>
            </a:r>
            <a:r>
              <a:rPr sz="1100" spc="-18" dirty="0">
                <a:latin typeface="Roboto"/>
                <a:cs typeface="Roboto"/>
              </a:rPr>
              <a:t> </a:t>
            </a:r>
            <a:r>
              <a:rPr sz="1100" dirty="0">
                <a:latin typeface="Roboto"/>
                <a:cs typeface="Roboto"/>
              </a:rPr>
              <a:t>up</a:t>
            </a:r>
            <a:r>
              <a:rPr sz="1100" spc="-20" dirty="0">
                <a:latin typeface="Roboto"/>
                <a:cs typeface="Roboto"/>
              </a:rPr>
              <a:t> </a:t>
            </a:r>
            <a:r>
              <a:rPr sz="1100" dirty="0">
                <a:latin typeface="Roboto"/>
                <a:cs typeface="Roboto"/>
              </a:rPr>
              <a:t>your</a:t>
            </a:r>
            <a:r>
              <a:rPr sz="1100" spc="-18" dirty="0">
                <a:latin typeface="Roboto"/>
                <a:cs typeface="Roboto"/>
              </a:rPr>
              <a:t> </a:t>
            </a:r>
            <a:r>
              <a:rPr sz="1100" dirty="0">
                <a:latin typeface="Roboto"/>
                <a:cs typeface="Roboto"/>
              </a:rPr>
              <a:t>code</a:t>
            </a:r>
            <a:r>
              <a:rPr sz="1100" spc="-18" dirty="0">
                <a:latin typeface="Roboto"/>
                <a:cs typeface="Roboto"/>
              </a:rPr>
              <a:t> </a:t>
            </a:r>
            <a:r>
              <a:rPr sz="1100" dirty="0">
                <a:latin typeface="Roboto"/>
                <a:cs typeface="Roboto"/>
              </a:rPr>
              <a:t>to</a:t>
            </a:r>
            <a:r>
              <a:rPr sz="1100" spc="-18" dirty="0">
                <a:latin typeface="Roboto"/>
                <a:cs typeface="Roboto"/>
              </a:rPr>
              <a:t> </a:t>
            </a:r>
            <a:r>
              <a:rPr sz="1100" dirty="0">
                <a:latin typeface="Roboto"/>
                <a:cs typeface="Roboto"/>
              </a:rPr>
              <a:t>automatically</a:t>
            </a:r>
            <a:r>
              <a:rPr sz="1100" spc="-20" dirty="0">
                <a:latin typeface="Roboto"/>
                <a:cs typeface="Roboto"/>
              </a:rPr>
              <a:t> </a:t>
            </a:r>
            <a:r>
              <a:rPr sz="1100" dirty="0">
                <a:latin typeface="Roboto"/>
                <a:cs typeface="Roboto"/>
              </a:rPr>
              <a:t>trigger</a:t>
            </a:r>
            <a:r>
              <a:rPr sz="1100" spc="-18" dirty="0">
                <a:latin typeface="Roboto"/>
                <a:cs typeface="Roboto"/>
              </a:rPr>
              <a:t> </a:t>
            </a:r>
            <a:r>
              <a:rPr sz="1100" dirty="0">
                <a:latin typeface="Roboto"/>
                <a:cs typeface="Roboto"/>
              </a:rPr>
              <a:t>from</a:t>
            </a:r>
            <a:r>
              <a:rPr sz="1100" spc="-18" dirty="0">
                <a:latin typeface="Roboto"/>
                <a:cs typeface="Roboto"/>
              </a:rPr>
              <a:t> </a:t>
            </a:r>
            <a:r>
              <a:rPr sz="1100" dirty="0">
                <a:latin typeface="Roboto"/>
                <a:cs typeface="Roboto"/>
              </a:rPr>
              <a:t>over</a:t>
            </a:r>
            <a:r>
              <a:rPr sz="1100" spc="-20" dirty="0">
                <a:latin typeface="Roboto"/>
                <a:cs typeface="Roboto"/>
              </a:rPr>
              <a:t> </a:t>
            </a:r>
            <a:r>
              <a:rPr sz="1100" dirty="0">
                <a:latin typeface="Roboto"/>
                <a:cs typeface="Roboto"/>
              </a:rPr>
              <a:t>200</a:t>
            </a:r>
            <a:r>
              <a:rPr sz="1100" spc="-18" dirty="0">
                <a:latin typeface="Roboto"/>
                <a:cs typeface="Roboto"/>
              </a:rPr>
              <a:t> </a:t>
            </a:r>
            <a:r>
              <a:rPr sz="1100" dirty="0">
                <a:latin typeface="Roboto"/>
                <a:cs typeface="Roboto"/>
              </a:rPr>
              <a:t>AWS</a:t>
            </a:r>
            <a:r>
              <a:rPr sz="1100" spc="-18" dirty="0">
                <a:latin typeface="Roboto"/>
                <a:cs typeface="Roboto"/>
              </a:rPr>
              <a:t> </a:t>
            </a:r>
            <a:r>
              <a:rPr sz="1100" dirty="0">
                <a:latin typeface="Roboto"/>
                <a:cs typeface="Roboto"/>
              </a:rPr>
              <a:t>services</a:t>
            </a:r>
            <a:r>
              <a:rPr sz="1100" spc="-18" dirty="0">
                <a:latin typeface="Roboto"/>
                <a:cs typeface="Roboto"/>
              </a:rPr>
              <a:t> </a:t>
            </a:r>
            <a:r>
              <a:rPr sz="1100" dirty="0">
                <a:latin typeface="Roboto"/>
                <a:cs typeface="Roboto"/>
              </a:rPr>
              <a:t>and</a:t>
            </a:r>
            <a:r>
              <a:rPr sz="1100" spc="-20" dirty="0">
                <a:latin typeface="Roboto"/>
                <a:cs typeface="Roboto"/>
              </a:rPr>
              <a:t> </a:t>
            </a:r>
            <a:r>
              <a:rPr sz="1100" dirty="0">
                <a:latin typeface="Roboto"/>
                <a:cs typeface="Roboto"/>
              </a:rPr>
              <a:t>SaaS</a:t>
            </a:r>
            <a:r>
              <a:rPr sz="1100" spc="-18" dirty="0">
                <a:latin typeface="Roboto"/>
                <a:cs typeface="Roboto"/>
              </a:rPr>
              <a:t> </a:t>
            </a:r>
            <a:r>
              <a:rPr sz="1100" dirty="0">
                <a:latin typeface="Roboto"/>
                <a:cs typeface="Roboto"/>
              </a:rPr>
              <a:t>applications</a:t>
            </a:r>
            <a:r>
              <a:rPr sz="1100" spc="-18" dirty="0">
                <a:latin typeface="Roboto"/>
                <a:cs typeface="Roboto"/>
              </a:rPr>
              <a:t> </a:t>
            </a:r>
            <a:r>
              <a:rPr sz="1100" dirty="0">
                <a:latin typeface="Roboto"/>
                <a:cs typeface="Roboto"/>
              </a:rPr>
              <a:t>or</a:t>
            </a:r>
            <a:r>
              <a:rPr sz="1100" spc="-20" dirty="0">
                <a:latin typeface="Roboto"/>
                <a:cs typeface="Roboto"/>
              </a:rPr>
              <a:t> </a:t>
            </a:r>
            <a:r>
              <a:rPr sz="1100" dirty="0">
                <a:latin typeface="Roboto"/>
                <a:cs typeface="Roboto"/>
              </a:rPr>
              <a:t>call</a:t>
            </a:r>
            <a:r>
              <a:rPr sz="1100" spc="-18" dirty="0">
                <a:latin typeface="Roboto"/>
                <a:cs typeface="Roboto"/>
              </a:rPr>
              <a:t> </a:t>
            </a:r>
            <a:r>
              <a:rPr sz="1100" dirty="0">
                <a:latin typeface="Roboto"/>
                <a:cs typeface="Roboto"/>
              </a:rPr>
              <a:t>it</a:t>
            </a:r>
            <a:r>
              <a:rPr sz="1100" spc="-18" dirty="0">
                <a:latin typeface="Roboto"/>
                <a:cs typeface="Roboto"/>
              </a:rPr>
              <a:t> </a:t>
            </a:r>
            <a:r>
              <a:rPr sz="1100" dirty="0">
                <a:latin typeface="Roboto"/>
                <a:cs typeface="Roboto"/>
              </a:rPr>
              <a:t>directly</a:t>
            </a:r>
            <a:r>
              <a:rPr sz="1100" spc="-18" dirty="0">
                <a:latin typeface="Roboto"/>
                <a:cs typeface="Roboto"/>
              </a:rPr>
              <a:t> </a:t>
            </a:r>
            <a:r>
              <a:rPr sz="1100" dirty="0">
                <a:latin typeface="Roboto"/>
                <a:cs typeface="Roboto"/>
              </a:rPr>
              <a:t>from</a:t>
            </a:r>
            <a:r>
              <a:rPr sz="1100" spc="-20" dirty="0">
                <a:latin typeface="Roboto"/>
                <a:cs typeface="Roboto"/>
              </a:rPr>
              <a:t> </a:t>
            </a:r>
            <a:r>
              <a:rPr sz="1100" dirty="0">
                <a:latin typeface="Roboto"/>
                <a:cs typeface="Roboto"/>
              </a:rPr>
              <a:t>any</a:t>
            </a:r>
            <a:r>
              <a:rPr sz="1100" spc="-18" dirty="0">
                <a:latin typeface="Roboto"/>
                <a:cs typeface="Roboto"/>
              </a:rPr>
              <a:t> </a:t>
            </a:r>
            <a:r>
              <a:rPr sz="1100" dirty="0">
                <a:latin typeface="Roboto"/>
                <a:cs typeface="Roboto"/>
              </a:rPr>
              <a:t>web</a:t>
            </a:r>
            <a:r>
              <a:rPr sz="1100" spc="-18" dirty="0">
                <a:latin typeface="Roboto"/>
                <a:cs typeface="Roboto"/>
              </a:rPr>
              <a:t> </a:t>
            </a:r>
            <a:r>
              <a:rPr sz="1100" spc="-13" dirty="0">
                <a:latin typeface="Roboto"/>
                <a:cs typeface="Roboto"/>
              </a:rPr>
              <a:t>or </a:t>
            </a:r>
            <a:r>
              <a:rPr sz="1100" dirty="0">
                <a:latin typeface="Roboto"/>
                <a:cs typeface="Roboto"/>
              </a:rPr>
              <a:t>mobile</a:t>
            </a:r>
            <a:r>
              <a:rPr sz="1100" spc="-23" dirty="0">
                <a:latin typeface="Roboto"/>
                <a:cs typeface="Roboto"/>
              </a:rPr>
              <a:t> </a:t>
            </a:r>
            <a:r>
              <a:rPr sz="1100" dirty="0">
                <a:latin typeface="Roboto"/>
                <a:cs typeface="Roboto"/>
              </a:rPr>
              <a:t>app.</a:t>
            </a:r>
            <a:r>
              <a:rPr sz="1100" spc="-23" dirty="0">
                <a:latin typeface="Roboto"/>
                <a:cs typeface="Roboto"/>
              </a:rPr>
              <a:t> </a:t>
            </a:r>
            <a:r>
              <a:rPr sz="1100" dirty="0">
                <a:latin typeface="Roboto"/>
                <a:cs typeface="Roboto"/>
              </a:rPr>
              <a:t>You</a:t>
            </a:r>
            <a:r>
              <a:rPr sz="1100" spc="-23" dirty="0">
                <a:latin typeface="Roboto"/>
                <a:cs typeface="Roboto"/>
              </a:rPr>
              <a:t> </a:t>
            </a:r>
            <a:r>
              <a:rPr sz="1100" dirty="0">
                <a:latin typeface="Roboto"/>
                <a:cs typeface="Roboto"/>
              </a:rPr>
              <a:t>can</a:t>
            </a:r>
            <a:r>
              <a:rPr sz="1100" spc="-23" dirty="0">
                <a:latin typeface="Roboto"/>
                <a:cs typeface="Roboto"/>
              </a:rPr>
              <a:t> </a:t>
            </a:r>
            <a:r>
              <a:rPr sz="1100" dirty="0">
                <a:latin typeface="Roboto"/>
                <a:cs typeface="Roboto"/>
              </a:rPr>
              <a:t>write</a:t>
            </a:r>
            <a:r>
              <a:rPr sz="1100" spc="-20" dirty="0">
                <a:latin typeface="Roboto"/>
                <a:cs typeface="Roboto"/>
              </a:rPr>
              <a:t> </a:t>
            </a:r>
            <a:r>
              <a:rPr sz="1100" dirty="0">
                <a:latin typeface="Roboto"/>
                <a:cs typeface="Roboto"/>
              </a:rPr>
              <a:t>Lambda</a:t>
            </a:r>
            <a:r>
              <a:rPr sz="1100" spc="-23" dirty="0">
                <a:latin typeface="Roboto"/>
                <a:cs typeface="Roboto"/>
              </a:rPr>
              <a:t> </a:t>
            </a:r>
            <a:r>
              <a:rPr sz="1100" dirty="0">
                <a:latin typeface="Roboto"/>
                <a:cs typeface="Roboto"/>
              </a:rPr>
              <a:t>functions</a:t>
            </a:r>
            <a:r>
              <a:rPr sz="1100" spc="-23" dirty="0">
                <a:latin typeface="Roboto"/>
                <a:cs typeface="Roboto"/>
              </a:rPr>
              <a:t> </a:t>
            </a:r>
            <a:r>
              <a:rPr sz="1100" dirty="0">
                <a:latin typeface="Roboto"/>
                <a:cs typeface="Roboto"/>
              </a:rPr>
              <a:t>in</a:t>
            </a:r>
            <a:r>
              <a:rPr sz="1100" spc="-23" dirty="0">
                <a:latin typeface="Roboto"/>
                <a:cs typeface="Roboto"/>
              </a:rPr>
              <a:t> </a:t>
            </a:r>
            <a:r>
              <a:rPr sz="1100" dirty="0">
                <a:latin typeface="Roboto"/>
                <a:cs typeface="Roboto"/>
              </a:rPr>
              <a:t>your</a:t>
            </a:r>
            <a:r>
              <a:rPr sz="1100" spc="-20" dirty="0">
                <a:latin typeface="Roboto"/>
                <a:cs typeface="Roboto"/>
              </a:rPr>
              <a:t> </a:t>
            </a:r>
            <a:r>
              <a:rPr sz="1100" dirty="0">
                <a:latin typeface="Roboto"/>
                <a:cs typeface="Roboto"/>
              </a:rPr>
              <a:t>favorite</a:t>
            </a:r>
            <a:r>
              <a:rPr sz="1100" spc="-23" dirty="0">
                <a:latin typeface="Roboto"/>
                <a:cs typeface="Roboto"/>
              </a:rPr>
              <a:t> </a:t>
            </a:r>
            <a:r>
              <a:rPr sz="1100" dirty="0">
                <a:latin typeface="Roboto"/>
                <a:cs typeface="Roboto"/>
              </a:rPr>
              <a:t>language</a:t>
            </a:r>
            <a:r>
              <a:rPr sz="1100" spc="-23" dirty="0">
                <a:latin typeface="Roboto"/>
                <a:cs typeface="Roboto"/>
              </a:rPr>
              <a:t> </a:t>
            </a:r>
            <a:r>
              <a:rPr sz="1100" dirty="0">
                <a:latin typeface="Roboto"/>
                <a:cs typeface="Roboto"/>
              </a:rPr>
              <a:t>(Node.js,</a:t>
            </a:r>
            <a:r>
              <a:rPr sz="1100" spc="-23" dirty="0">
                <a:latin typeface="Roboto"/>
                <a:cs typeface="Roboto"/>
              </a:rPr>
              <a:t> </a:t>
            </a:r>
            <a:r>
              <a:rPr sz="1100" dirty="0">
                <a:latin typeface="Roboto"/>
                <a:cs typeface="Roboto"/>
              </a:rPr>
              <a:t>Python,</a:t>
            </a:r>
            <a:r>
              <a:rPr sz="1100" spc="-20" dirty="0">
                <a:latin typeface="Roboto"/>
                <a:cs typeface="Roboto"/>
              </a:rPr>
              <a:t> </a:t>
            </a:r>
            <a:r>
              <a:rPr sz="1100" dirty="0">
                <a:latin typeface="Roboto"/>
                <a:cs typeface="Roboto"/>
              </a:rPr>
              <a:t>Go,</a:t>
            </a:r>
            <a:r>
              <a:rPr sz="1100" spc="-23" dirty="0">
                <a:latin typeface="Roboto"/>
                <a:cs typeface="Roboto"/>
              </a:rPr>
              <a:t> </a:t>
            </a:r>
            <a:r>
              <a:rPr sz="1100" dirty="0">
                <a:latin typeface="Roboto"/>
                <a:cs typeface="Roboto"/>
              </a:rPr>
              <a:t>Java,</a:t>
            </a:r>
            <a:r>
              <a:rPr sz="1100" spc="-23" dirty="0">
                <a:latin typeface="Roboto"/>
                <a:cs typeface="Roboto"/>
              </a:rPr>
              <a:t> </a:t>
            </a:r>
            <a:r>
              <a:rPr sz="1100" dirty="0">
                <a:latin typeface="Roboto"/>
                <a:cs typeface="Roboto"/>
              </a:rPr>
              <a:t>and</a:t>
            </a:r>
            <a:r>
              <a:rPr sz="1100" spc="-23" dirty="0">
                <a:latin typeface="Roboto"/>
                <a:cs typeface="Roboto"/>
              </a:rPr>
              <a:t> </a:t>
            </a:r>
            <a:r>
              <a:rPr sz="1100" dirty="0">
                <a:latin typeface="Roboto"/>
                <a:cs typeface="Roboto"/>
              </a:rPr>
              <a:t>more)</a:t>
            </a:r>
            <a:r>
              <a:rPr sz="1100" spc="-20" dirty="0">
                <a:latin typeface="Roboto"/>
                <a:cs typeface="Roboto"/>
              </a:rPr>
              <a:t> </a:t>
            </a:r>
            <a:r>
              <a:rPr sz="1100" dirty="0">
                <a:latin typeface="Roboto"/>
                <a:cs typeface="Roboto"/>
              </a:rPr>
              <a:t>and</a:t>
            </a:r>
            <a:r>
              <a:rPr sz="1100" spc="-23" dirty="0">
                <a:latin typeface="Roboto"/>
                <a:cs typeface="Roboto"/>
              </a:rPr>
              <a:t> </a:t>
            </a:r>
            <a:r>
              <a:rPr sz="1100" dirty="0">
                <a:latin typeface="Roboto"/>
                <a:cs typeface="Roboto"/>
              </a:rPr>
              <a:t>use</a:t>
            </a:r>
            <a:r>
              <a:rPr sz="1100" spc="-23" dirty="0">
                <a:latin typeface="Roboto"/>
                <a:cs typeface="Roboto"/>
              </a:rPr>
              <a:t> </a:t>
            </a:r>
            <a:r>
              <a:rPr sz="1100" dirty="0">
                <a:latin typeface="Roboto"/>
                <a:cs typeface="Roboto"/>
              </a:rPr>
              <a:t>both</a:t>
            </a:r>
            <a:r>
              <a:rPr sz="1100" spc="-23" dirty="0">
                <a:latin typeface="Roboto"/>
                <a:cs typeface="Roboto"/>
              </a:rPr>
              <a:t> </a:t>
            </a:r>
            <a:r>
              <a:rPr sz="1100" dirty="0">
                <a:latin typeface="Roboto"/>
                <a:cs typeface="Roboto"/>
              </a:rPr>
              <a:t>serverless</a:t>
            </a:r>
            <a:r>
              <a:rPr sz="1100" spc="-20" dirty="0">
                <a:latin typeface="Roboto"/>
                <a:cs typeface="Roboto"/>
              </a:rPr>
              <a:t> </a:t>
            </a:r>
            <a:r>
              <a:rPr sz="1100" spc="-13" dirty="0">
                <a:latin typeface="Roboto"/>
                <a:cs typeface="Roboto"/>
              </a:rPr>
              <a:t>and </a:t>
            </a:r>
            <a:r>
              <a:rPr sz="1100" dirty="0">
                <a:latin typeface="Roboto"/>
                <a:cs typeface="Roboto"/>
              </a:rPr>
              <a:t>container</a:t>
            </a:r>
            <a:r>
              <a:rPr sz="1100" spc="-20" dirty="0">
                <a:latin typeface="Roboto"/>
                <a:cs typeface="Roboto"/>
              </a:rPr>
              <a:t> </a:t>
            </a:r>
            <a:r>
              <a:rPr sz="1100" dirty="0">
                <a:latin typeface="Roboto"/>
                <a:cs typeface="Roboto"/>
              </a:rPr>
              <a:t>tools,</a:t>
            </a:r>
            <a:r>
              <a:rPr sz="1100" spc="-18" dirty="0">
                <a:latin typeface="Roboto"/>
                <a:cs typeface="Roboto"/>
              </a:rPr>
              <a:t> </a:t>
            </a:r>
            <a:r>
              <a:rPr sz="1100" dirty="0">
                <a:latin typeface="Roboto"/>
                <a:cs typeface="Roboto"/>
              </a:rPr>
              <a:t>such</a:t>
            </a:r>
            <a:r>
              <a:rPr sz="1100" spc="-20" dirty="0">
                <a:latin typeface="Roboto"/>
                <a:cs typeface="Roboto"/>
              </a:rPr>
              <a:t> </a:t>
            </a:r>
            <a:r>
              <a:rPr sz="1100" dirty="0">
                <a:latin typeface="Roboto"/>
                <a:cs typeface="Roboto"/>
              </a:rPr>
              <a:t>as</a:t>
            </a:r>
            <a:r>
              <a:rPr sz="1100" spc="-18" dirty="0">
                <a:latin typeface="Roboto"/>
                <a:cs typeface="Roboto"/>
              </a:rPr>
              <a:t> </a:t>
            </a:r>
            <a:r>
              <a:rPr sz="1100" dirty="0">
                <a:latin typeface="Roboto"/>
                <a:cs typeface="Roboto"/>
              </a:rPr>
              <a:t>AWS</a:t>
            </a:r>
            <a:r>
              <a:rPr sz="1100" spc="-20" dirty="0">
                <a:latin typeface="Roboto"/>
                <a:cs typeface="Roboto"/>
              </a:rPr>
              <a:t> </a:t>
            </a:r>
            <a:r>
              <a:rPr sz="1100" dirty="0">
                <a:latin typeface="Roboto"/>
                <a:cs typeface="Roboto"/>
              </a:rPr>
              <a:t>SAM</a:t>
            </a:r>
            <a:r>
              <a:rPr sz="1100" spc="-18" dirty="0">
                <a:latin typeface="Roboto"/>
                <a:cs typeface="Roboto"/>
              </a:rPr>
              <a:t> </a:t>
            </a:r>
            <a:r>
              <a:rPr sz="1100" dirty="0">
                <a:latin typeface="Roboto"/>
                <a:cs typeface="Roboto"/>
              </a:rPr>
              <a:t>or</a:t>
            </a:r>
            <a:r>
              <a:rPr sz="1100" spc="-20" dirty="0">
                <a:latin typeface="Roboto"/>
                <a:cs typeface="Roboto"/>
              </a:rPr>
              <a:t> </a:t>
            </a:r>
            <a:r>
              <a:rPr sz="1100" dirty="0">
                <a:latin typeface="Roboto"/>
                <a:cs typeface="Roboto"/>
              </a:rPr>
              <a:t>Docker</a:t>
            </a:r>
            <a:r>
              <a:rPr sz="1100" spc="-18" dirty="0">
                <a:latin typeface="Roboto"/>
                <a:cs typeface="Roboto"/>
              </a:rPr>
              <a:t> </a:t>
            </a:r>
            <a:r>
              <a:rPr sz="1100" dirty="0">
                <a:latin typeface="Roboto"/>
                <a:cs typeface="Roboto"/>
              </a:rPr>
              <a:t>CLI,</a:t>
            </a:r>
            <a:r>
              <a:rPr sz="1100" spc="-20" dirty="0">
                <a:latin typeface="Roboto"/>
                <a:cs typeface="Roboto"/>
              </a:rPr>
              <a:t> </a:t>
            </a:r>
            <a:r>
              <a:rPr sz="1100" dirty="0">
                <a:latin typeface="Roboto"/>
                <a:cs typeface="Roboto"/>
              </a:rPr>
              <a:t>to</a:t>
            </a:r>
            <a:r>
              <a:rPr sz="1100" spc="-18" dirty="0">
                <a:latin typeface="Roboto"/>
                <a:cs typeface="Roboto"/>
              </a:rPr>
              <a:t> </a:t>
            </a:r>
            <a:r>
              <a:rPr sz="1100" dirty="0">
                <a:latin typeface="Roboto"/>
                <a:cs typeface="Roboto"/>
              </a:rPr>
              <a:t>build,</a:t>
            </a:r>
            <a:r>
              <a:rPr sz="1100" spc="-20" dirty="0">
                <a:latin typeface="Roboto"/>
                <a:cs typeface="Roboto"/>
              </a:rPr>
              <a:t> </a:t>
            </a:r>
            <a:r>
              <a:rPr sz="1100" dirty="0">
                <a:latin typeface="Roboto"/>
                <a:cs typeface="Roboto"/>
              </a:rPr>
              <a:t>test,</a:t>
            </a:r>
            <a:r>
              <a:rPr sz="1100" spc="-18" dirty="0">
                <a:latin typeface="Roboto"/>
                <a:cs typeface="Roboto"/>
              </a:rPr>
              <a:t> </a:t>
            </a:r>
            <a:r>
              <a:rPr sz="1100" dirty="0">
                <a:latin typeface="Roboto"/>
                <a:cs typeface="Roboto"/>
              </a:rPr>
              <a:t>and</a:t>
            </a:r>
            <a:r>
              <a:rPr sz="1100" spc="-20" dirty="0">
                <a:latin typeface="Roboto"/>
                <a:cs typeface="Roboto"/>
              </a:rPr>
              <a:t> </a:t>
            </a:r>
            <a:r>
              <a:rPr sz="1100" dirty="0">
                <a:latin typeface="Roboto"/>
                <a:cs typeface="Roboto"/>
              </a:rPr>
              <a:t>deploy</a:t>
            </a:r>
            <a:r>
              <a:rPr sz="1100" spc="-18" dirty="0">
                <a:latin typeface="Roboto"/>
                <a:cs typeface="Roboto"/>
              </a:rPr>
              <a:t> </a:t>
            </a:r>
            <a:r>
              <a:rPr sz="1100" dirty="0">
                <a:latin typeface="Roboto"/>
                <a:cs typeface="Roboto"/>
              </a:rPr>
              <a:t>your</a:t>
            </a:r>
            <a:r>
              <a:rPr sz="1100" spc="-20" dirty="0">
                <a:latin typeface="Roboto"/>
                <a:cs typeface="Roboto"/>
              </a:rPr>
              <a:t> </a:t>
            </a:r>
            <a:r>
              <a:rPr sz="1100" spc="-5" dirty="0">
                <a:latin typeface="Roboto"/>
                <a:cs typeface="Roboto"/>
              </a:rPr>
              <a:t>functions.</a:t>
            </a:r>
            <a:endParaRPr sz="1100">
              <a:latin typeface="Roboto"/>
              <a:cs typeface="Roboto"/>
            </a:endParaRPr>
          </a:p>
          <a:p>
            <a:pPr>
              <a:spcBef>
                <a:spcPts val="88"/>
              </a:spcBef>
            </a:pPr>
            <a:endParaRPr sz="1100">
              <a:latin typeface="Roboto"/>
              <a:cs typeface="Roboto"/>
            </a:endParaRPr>
          </a:p>
          <a:p>
            <a:pPr marR="958850" algn="ctr"/>
            <a:r>
              <a:rPr sz="1200" b="1" dirty="0">
                <a:latin typeface="Open Sans Extrabold"/>
                <a:cs typeface="Open Sans Extrabold"/>
              </a:rPr>
              <a:t>Points to </a:t>
            </a:r>
            <a:r>
              <a:rPr sz="1200" b="1" spc="-5" dirty="0">
                <a:latin typeface="Open Sans Extrabold"/>
                <a:cs typeface="Open Sans Extrabold"/>
              </a:rPr>
              <a:t>focus</a:t>
            </a:r>
            <a:endParaRPr sz="1200">
              <a:latin typeface="Open Sans Extrabold"/>
              <a:cs typeface="Open Sans Extrabold"/>
            </a:endParaRPr>
          </a:p>
          <a:p>
            <a:pPr marL="6350">
              <a:spcBef>
                <a:spcPts val="615"/>
              </a:spcBef>
              <a:tabLst>
                <a:tab pos="1143000" algn="l"/>
              </a:tabLst>
            </a:pPr>
            <a:r>
              <a:rPr sz="1100" b="1" dirty="0">
                <a:latin typeface="Roboto"/>
                <a:cs typeface="Roboto"/>
              </a:rPr>
              <a:t>Native</a:t>
            </a:r>
            <a:r>
              <a:rPr sz="1100" b="1" spc="-20" dirty="0">
                <a:latin typeface="Roboto"/>
                <a:cs typeface="Roboto"/>
              </a:rPr>
              <a:t> </a:t>
            </a:r>
            <a:r>
              <a:rPr sz="1100" b="1" spc="-5" dirty="0">
                <a:latin typeface="Roboto"/>
                <a:cs typeface="Roboto"/>
              </a:rPr>
              <a:t>Language</a:t>
            </a:r>
            <a:r>
              <a:rPr sz="1100" b="1" dirty="0">
                <a:latin typeface="Roboto"/>
                <a:cs typeface="Roboto"/>
              </a:rPr>
              <a:t>	</a:t>
            </a:r>
            <a:r>
              <a:rPr sz="1100" dirty="0">
                <a:latin typeface="Roboto"/>
                <a:cs typeface="Roboto"/>
              </a:rPr>
              <a:t>Node.js,</a:t>
            </a:r>
            <a:r>
              <a:rPr sz="1100" spc="-23" dirty="0">
                <a:latin typeface="Roboto"/>
                <a:cs typeface="Roboto"/>
              </a:rPr>
              <a:t> </a:t>
            </a:r>
            <a:r>
              <a:rPr sz="1100" dirty="0">
                <a:latin typeface="Roboto"/>
                <a:cs typeface="Roboto"/>
              </a:rPr>
              <a:t>Java,</a:t>
            </a:r>
            <a:r>
              <a:rPr sz="1100" spc="-20" dirty="0">
                <a:latin typeface="Roboto"/>
                <a:cs typeface="Roboto"/>
              </a:rPr>
              <a:t> </a:t>
            </a:r>
            <a:r>
              <a:rPr sz="1100" dirty="0">
                <a:latin typeface="Roboto"/>
                <a:cs typeface="Roboto"/>
              </a:rPr>
              <a:t>C#,</a:t>
            </a:r>
            <a:r>
              <a:rPr sz="1100" spc="-23" dirty="0">
                <a:latin typeface="Roboto"/>
                <a:cs typeface="Roboto"/>
              </a:rPr>
              <a:t> </a:t>
            </a:r>
            <a:r>
              <a:rPr sz="1100" dirty="0">
                <a:latin typeface="Roboto"/>
                <a:cs typeface="Roboto"/>
              </a:rPr>
              <a:t>Go,</a:t>
            </a:r>
            <a:r>
              <a:rPr sz="1100" spc="-20" dirty="0">
                <a:latin typeface="Roboto"/>
                <a:cs typeface="Roboto"/>
              </a:rPr>
              <a:t> </a:t>
            </a:r>
            <a:r>
              <a:rPr sz="1100" dirty="0">
                <a:latin typeface="Roboto"/>
                <a:cs typeface="Roboto"/>
              </a:rPr>
              <a:t>Python,</a:t>
            </a:r>
            <a:r>
              <a:rPr sz="1100" spc="-20" dirty="0">
                <a:latin typeface="Roboto"/>
                <a:cs typeface="Roboto"/>
              </a:rPr>
              <a:t> </a:t>
            </a:r>
            <a:r>
              <a:rPr sz="1100" dirty="0">
                <a:latin typeface="Roboto"/>
                <a:cs typeface="Roboto"/>
              </a:rPr>
              <a:t>Ruby,</a:t>
            </a:r>
            <a:r>
              <a:rPr sz="1100" spc="-23" dirty="0">
                <a:latin typeface="Roboto"/>
                <a:cs typeface="Roboto"/>
              </a:rPr>
              <a:t> </a:t>
            </a:r>
            <a:r>
              <a:rPr sz="1100" dirty="0">
                <a:latin typeface="Roboto"/>
                <a:cs typeface="Roboto"/>
              </a:rPr>
              <a:t>PowerShell</a:t>
            </a:r>
            <a:r>
              <a:rPr sz="1100" spc="-20" dirty="0">
                <a:latin typeface="Roboto"/>
                <a:cs typeface="Roboto"/>
              </a:rPr>
              <a:t> </a:t>
            </a:r>
            <a:r>
              <a:rPr sz="1100" dirty="0">
                <a:latin typeface="Roboto"/>
                <a:cs typeface="Roboto"/>
              </a:rPr>
              <a:t>(You</a:t>
            </a:r>
            <a:r>
              <a:rPr sz="1100" spc="-23" dirty="0">
                <a:latin typeface="Roboto"/>
                <a:cs typeface="Roboto"/>
              </a:rPr>
              <a:t> </a:t>
            </a:r>
            <a:r>
              <a:rPr sz="1100" dirty="0">
                <a:latin typeface="Roboto"/>
                <a:cs typeface="Roboto"/>
              </a:rPr>
              <a:t>can</a:t>
            </a:r>
            <a:r>
              <a:rPr sz="1100" spc="-20" dirty="0">
                <a:latin typeface="Roboto"/>
                <a:cs typeface="Roboto"/>
              </a:rPr>
              <a:t> </a:t>
            </a:r>
            <a:r>
              <a:rPr sz="1100" dirty="0">
                <a:latin typeface="Roboto"/>
                <a:cs typeface="Roboto"/>
              </a:rPr>
              <a:t>provide</a:t>
            </a:r>
            <a:r>
              <a:rPr sz="1100" spc="-20" dirty="0">
                <a:latin typeface="Roboto"/>
                <a:cs typeface="Roboto"/>
              </a:rPr>
              <a:t> </a:t>
            </a:r>
            <a:r>
              <a:rPr sz="1100" dirty="0">
                <a:latin typeface="Roboto"/>
                <a:cs typeface="Roboto"/>
              </a:rPr>
              <a:t>your</a:t>
            </a:r>
            <a:r>
              <a:rPr sz="1100" spc="-23" dirty="0">
                <a:latin typeface="Roboto"/>
                <a:cs typeface="Roboto"/>
              </a:rPr>
              <a:t> </a:t>
            </a:r>
            <a:r>
              <a:rPr sz="1100" dirty="0">
                <a:latin typeface="Roboto"/>
                <a:cs typeface="Roboto"/>
              </a:rPr>
              <a:t>custom</a:t>
            </a:r>
            <a:r>
              <a:rPr sz="1100" spc="-20" dirty="0">
                <a:latin typeface="Roboto"/>
                <a:cs typeface="Roboto"/>
              </a:rPr>
              <a:t> </a:t>
            </a:r>
            <a:r>
              <a:rPr sz="1100" dirty="0">
                <a:latin typeface="Roboto"/>
                <a:cs typeface="Roboto"/>
              </a:rPr>
              <a:t>runtime</a:t>
            </a:r>
            <a:r>
              <a:rPr sz="1100" spc="-23" dirty="0">
                <a:latin typeface="Roboto"/>
                <a:cs typeface="Roboto"/>
              </a:rPr>
              <a:t> </a:t>
            </a:r>
            <a:r>
              <a:rPr sz="1100" dirty="0">
                <a:latin typeface="Roboto"/>
                <a:cs typeface="Roboto"/>
              </a:rPr>
              <a:t>as</a:t>
            </a:r>
            <a:r>
              <a:rPr sz="1100" spc="-20" dirty="0">
                <a:latin typeface="Roboto"/>
                <a:cs typeface="Roboto"/>
              </a:rPr>
              <a:t> </a:t>
            </a:r>
            <a:r>
              <a:rPr sz="1100" spc="-10" dirty="0">
                <a:latin typeface="Roboto"/>
                <a:cs typeface="Roboto"/>
              </a:rPr>
              <a:t>well)</a:t>
            </a:r>
            <a:endParaRPr sz="1100">
              <a:latin typeface="Roboto"/>
              <a:cs typeface="Roboto"/>
            </a:endParaRPr>
          </a:p>
          <a:p>
            <a:pPr marL="563245">
              <a:spcBef>
                <a:spcPts val="217"/>
              </a:spcBef>
            </a:pPr>
            <a:r>
              <a:rPr sz="1100" b="1" spc="-5" dirty="0">
                <a:latin typeface="Roboto"/>
                <a:cs typeface="Roboto"/>
              </a:rPr>
              <a:t>Support</a:t>
            </a:r>
            <a:endParaRPr sz="1100">
              <a:latin typeface="Roboto"/>
              <a:cs typeface="Roboto"/>
            </a:endParaRPr>
          </a:p>
          <a:p>
            <a:pPr marL="87948">
              <a:spcBef>
                <a:spcPts val="618"/>
              </a:spcBef>
              <a:tabLst>
                <a:tab pos="1143000" algn="l"/>
              </a:tabLst>
            </a:pPr>
            <a:r>
              <a:rPr sz="1100" b="1" dirty="0">
                <a:latin typeface="Roboto"/>
                <a:cs typeface="Roboto"/>
              </a:rPr>
              <a:t>Cost</a:t>
            </a:r>
            <a:r>
              <a:rPr sz="1100" b="1" spc="-18" dirty="0">
                <a:latin typeface="Roboto"/>
                <a:cs typeface="Roboto"/>
              </a:rPr>
              <a:t> </a:t>
            </a:r>
            <a:r>
              <a:rPr sz="1100" b="1" spc="-5" dirty="0">
                <a:latin typeface="Roboto"/>
                <a:cs typeface="Roboto"/>
              </a:rPr>
              <a:t>parameter</a:t>
            </a:r>
            <a:r>
              <a:rPr sz="1100" b="1" dirty="0">
                <a:latin typeface="Roboto"/>
                <a:cs typeface="Roboto"/>
              </a:rPr>
              <a:t>	</a:t>
            </a:r>
            <a:r>
              <a:rPr sz="1100" dirty="0">
                <a:latin typeface="Roboto"/>
                <a:cs typeface="Roboto"/>
              </a:rPr>
              <a:t>Cost</a:t>
            </a:r>
            <a:r>
              <a:rPr sz="1100" spc="-15" dirty="0">
                <a:latin typeface="Roboto"/>
                <a:cs typeface="Roboto"/>
              </a:rPr>
              <a:t> </a:t>
            </a:r>
            <a:r>
              <a:rPr sz="1100" dirty="0">
                <a:latin typeface="Roboto"/>
                <a:cs typeface="Roboto"/>
              </a:rPr>
              <a:t>determined</a:t>
            </a:r>
            <a:r>
              <a:rPr sz="1100" spc="-15" dirty="0">
                <a:latin typeface="Roboto"/>
                <a:cs typeface="Roboto"/>
              </a:rPr>
              <a:t> </a:t>
            </a:r>
            <a:r>
              <a:rPr sz="1100" dirty="0">
                <a:latin typeface="Roboto"/>
                <a:cs typeface="Roboto"/>
              </a:rPr>
              <a:t>on</a:t>
            </a:r>
            <a:r>
              <a:rPr sz="1100" spc="-15" dirty="0">
                <a:latin typeface="Roboto"/>
                <a:cs typeface="Roboto"/>
              </a:rPr>
              <a:t> </a:t>
            </a:r>
            <a:r>
              <a:rPr sz="1100" dirty="0">
                <a:latin typeface="Roboto"/>
                <a:cs typeface="Roboto"/>
              </a:rPr>
              <a:t>the</a:t>
            </a:r>
            <a:r>
              <a:rPr sz="1100" spc="-15" dirty="0">
                <a:latin typeface="Roboto"/>
                <a:cs typeface="Roboto"/>
              </a:rPr>
              <a:t> </a:t>
            </a:r>
            <a:r>
              <a:rPr sz="1100" dirty="0">
                <a:latin typeface="Roboto"/>
                <a:cs typeface="Roboto"/>
              </a:rPr>
              <a:t>amount</a:t>
            </a:r>
            <a:r>
              <a:rPr sz="1100" spc="-13" dirty="0">
                <a:latin typeface="Roboto"/>
                <a:cs typeface="Roboto"/>
              </a:rPr>
              <a:t> </a:t>
            </a:r>
            <a:r>
              <a:rPr sz="1100" dirty="0">
                <a:latin typeface="Roboto"/>
                <a:cs typeface="Roboto"/>
              </a:rPr>
              <a:t>of</a:t>
            </a:r>
            <a:r>
              <a:rPr sz="1100" spc="-15" dirty="0">
                <a:latin typeface="Roboto"/>
                <a:cs typeface="Roboto"/>
              </a:rPr>
              <a:t> </a:t>
            </a:r>
            <a:r>
              <a:rPr sz="1100" dirty="0">
                <a:latin typeface="Roboto"/>
                <a:cs typeface="Roboto"/>
              </a:rPr>
              <a:t>memory</a:t>
            </a:r>
            <a:r>
              <a:rPr sz="1100" spc="-15" dirty="0">
                <a:latin typeface="Roboto"/>
                <a:cs typeface="Roboto"/>
              </a:rPr>
              <a:t> </a:t>
            </a:r>
            <a:r>
              <a:rPr sz="1100" dirty="0">
                <a:latin typeface="Roboto"/>
                <a:cs typeface="Roboto"/>
              </a:rPr>
              <a:t>used</a:t>
            </a:r>
            <a:r>
              <a:rPr sz="1100" spc="-15" dirty="0">
                <a:latin typeface="Roboto"/>
                <a:cs typeface="Roboto"/>
              </a:rPr>
              <a:t> </a:t>
            </a:r>
            <a:r>
              <a:rPr sz="1100" dirty="0">
                <a:latin typeface="Roboto"/>
                <a:cs typeface="Roboto"/>
              </a:rPr>
              <a:t>+</a:t>
            </a:r>
            <a:r>
              <a:rPr sz="1100" spc="-13" dirty="0">
                <a:latin typeface="Roboto"/>
                <a:cs typeface="Roboto"/>
              </a:rPr>
              <a:t> </a:t>
            </a:r>
            <a:r>
              <a:rPr sz="1100" dirty="0">
                <a:latin typeface="Roboto"/>
                <a:cs typeface="Roboto"/>
              </a:rPr>
              <a:t>CPU</a:t>
            </a:r>
            <a:r>
              <a:rPr sz="1100" spc="-15" dirty="0">
                <a:latin typeface="Roboto"/>
                <a:cs typeface="Roboto"/>
              </a:rPr>
              <a:t> </a:t>
            </a:r>
            <a:r>
              <a:rPr sz="1100" spc="-5" dirty="0">
                <a:latin typeface="Roboto"/>
                <a:cs typeface="Roboto"/>
              </a:rPr>
              <a:t>power</a:t>
            </a:r>
            <a:endParaRPr sz="1100">
              <a:latin typeface="Roboto"/>
              <a:cs typeface="Roboto"/>
            </a:endParaRPr>
          </a:p>
          <a:p>
            <a:pPr marL="11113">
              <a:spcBef>
                <a:spcPts val="1180"/>
              </a:spcBef>
              <a:tabLst>
                <a:tab pos="1143000" algn="l"/>
              </a:tabLst>
            </a:pPr>
            <a:r>
              <a:rPr sz="1100" b="1" dirty="0">
                <a:latin typeface="Roboto"/>
                <a:cs typeface="Roboto"/>
              </a:rPr>
              <a:t>Key</a:t>
            </a:r>
            <a:r>
              <a:rPr sz="1100" b="1" spc="-15" dirty="0">
                <a:latin typeface="Roboto"/>
                <a:cs typeface="Roboto"/>
              </a:rPr>
              <a:t> </a:t>
            </a:r>
            <a:r>
              <a:rPr sz="1100" b="1" spc="-5" dirty="0">
                <a:latin typeface="Roboto"/>
                <a:cs typeface="Roboto"/>
              </a:rPr>
              <a:t>components</a:t>
            </a:r>
            <a:r>
              <a:rPr sz="1100" b="1" dirty="0">
                <a:latin typeface="Roboto"/>
                <a:cs typeface="Roboto"/>
              </a:rPr>
              <a:t>	</a:t>
            </a:r>
            <a:r>
              <a:rPr sz="1100" dirty="0">
                <a:latin typeface="Roboto"/>
                <a:cs typeface="Roboto"/>
              </a:rPr>
              <a:t>Functions,</a:t>
            </a:r>
            <a:r>
              <a:rPr sz="1100" spc="-30" dirty="0">
                <a:latin typeface="Roboto"/>
                <a:cs typeface="Roboto"/>
              </a:rPr>
              <a:t> </a:t>
            </a:r>
            <a:r>
              <a:rPr sz="1100" dirty="0">
                <a:latin typeface="Roboto"/>
                <a:cs typeface="Roboto"/>
              </a:rPr>
              <a:t>Runtimes,</a:t>
            </a:r>
            <a:r>
              <a:rPr sz="1100" spc="-28" dirty="0">
                <a:latin typeface="Roboto"/>
                <a:cs typeface="Roboto"/>
              </a:rPr>
              <a:t> </a:t>
            </a:r>
            <a:r>
              <a:rPr sz="1100" dirty="0">
                <a:latin typeface="Roboto"/>
                <a:cs typeface="Roboto"/>
              </a:rPr>
              <a:t>Layers,</a:t>
            </a:r>
            <a:r>
              <a:rPr sz="1100" spc="-28" dirty="0">
                <a:latin typeface="Roboto"/>
                <a:cs typeface="Roboto"/>
              </a:rPr>
              <a:t> </a:t>
            </a:r>
            <a:r>
              <a:rPr sz="1100" dirty="0">
                <a:latin typeface="Roboto"/>
                <a:cs typeface="Roboto"/>
              </a:rPr>
              <a:t>Event</a:t>
            </a:r>
            <a:r>
              <a:rPr sz="1100" spc="-28" dirty="0">
                <a:latin typeface="Roboto"/>
                <a:cs typeface="Roboto"/>
              </a:rPr>
              <a:t> </a:t>
            </a:r>
            <a:r>
              <a:rPr sz="1100" dirty="0">
                <a:latin typeface="Roboto"/>
                <a:cs typeface="Roboto"/>
              </a:rPr>
              <a:t>Source,</a:t>
            </a:r>
            <a:r>
              <a:rPr sz="1100" spc="-28" dirty="0">
                <a:latin typeface="Roboto"/>
                <a:cs typeface="Roboto"/>
              </a:rPr>
              <a:t> </a:t>
            </a:r>
            <a:r>
              <a:rPr sz="1100" dirty="0">
                <a:latin typeface="Roboto"/>
                <a:cs typeface="Roboto"/>
              </a:rPr>
              <a:t>downstream</a:t>
            </a:r>
            <a:r>
              <a:rPr sz="1100" spc="-30" dirty="0">
                <a:latin typeface="Roboto"/>
                <a:cs typeface="Roboto"/>
              </a:rPr>
              <a:t> </a:t>
            </a:r>
            <a:r>
              <a:rPr sz="1100" dirty="0">
                <a:latin typeface="Roboto"/>
                <a:cs typeface="Roboto"/>
              </a:rPr>
              <a:t>resources,</a:t>
            </a:r>
            <a:r>
              <a:rPr sz="1100" spc="-28" dirty="0">
                <a:latin typeface="Roboto"/>
                <a:cs typeface="Roboto"/>
              </a:rPr>
              <a:t> </a:t>
            </a:r>
            <a:r>
              <a:rPr sz="1100" dirty="0">
                <a:latin typeface="Roboto"/>
                <a:cs typeface="Roboto"/>
              </a:rPr>
              <a:t>log</a:t>
            </a:r>
            <a:r>
              <a:rPr sz="1100" spc="-28" dirty="0">
                <a:latin typeface="Roboto"/>
                <a:cs typeface="Roboto"/>
              </a:rPr>
              <a:t> </a:t>
            </a:r>
            <a:r>
              <a:rPr sz="1100" dirty="0">
                <a:latin typeface="Roboto"/>
                <a:cs typeface="Roboto"/>
              </a:rPr>
              <a:t>streams,</a:t>
            </a:r>
            <a:r>
              <a:rPr sz="1100" spc="-28" dirty="0">
                <a:latin typeface="Roboto"/>
                <a:cs typeface="Roboto"/>
              </a:rPr>
              <a:t> </a:t>
            </a:r>
            <a:r>
              <a:rPr sz="1100" dirty="0">
                <a:latin typeface="Roboto"/>
                <a:cs typeface="Roboto"/>
              </a:rPr>
              <a:t>env</a:t>
            </a:r>
            <a:r>
              <a:rPr sz="1100" spc="-28" dirty="0">
                <a:latin typeface="Roboto"/>
                <a:cs typeface="Roboto"/>
              </a:rPr>
              <a:t> </a:t>
            </a:r>
            <a:r>
              <a:rPr sz="1100" spc="-5" dirty="0">
                <a:latin typeface="Roboto"/>
                <a:cs typeface="Roboto"/>
              </a:rPr>
              <a:t>variables,</a:t>
            </a:r>
            <a:endParaRPr sz="1100">
              <a:latin typeface="Roboto"/>
              <a:cs typeface="Roboto"/>
            </a:endParaRPr>
          </a:p>
          <a:p>
            <a:pPr marL="583883">
              <a:spcBef>
                <a:spcPts val="217"/>
              </a:spcBef>
            </a:pPr>
            <a:r>
              <a:rPr sz="1100" b="1" dirty="0">
                <a:latin typeface="Roboto"/>
                <a:cs typeface="Roboto"/>
              </a:rPr>
              <a:t>to</a:t>
            </a:r>
            <a:r>
              <a:rPr sz="1100" b="1" spc="-10" dirty="0">
                <a:latin typeface="Roboto"/>
                <a:cs typeface="Roboto"/>
              </a:rPr>
              <a:t> </a:t>
            </a:r>
            <a:r>
              <a:rPr sz="1100" b="1" spc="-5" dirty="0">
                <a:latin typeface="Roboto"/>
                <a:cs typeface="Roboto"/>
              </a:rPr>
              <a:t>learn</a:t>
            </a:r>
            <a:endParaRPr sz="1100">
              <a:latin typeface="Roboto"/>
              <a:cs typeface="Roboto"/>
            </a:endParaRPr>
          </a:p>
          <a:p>
            <a:pPr marL="1143318" marR="208598" indent="-932815">
              <a:lnSpc>
                <a:spcPct val="116500"/>
              </a:lnSpc>
              <a:spcBef>
                <a:spcPts val="298"/>
              </a:spcBef>
              <a:tabLst>
                <a:tab pos="1143000" algn="l"/>
              </a:tabLst>
            </a:pPr>
            <a:r>
              <a:rPr sz="1100" b="1" dirty="0">
                <a:latin typeface="Roboto"/>
                <a:cs typeface="Roboto"/>
              </a:rPr>
              <a:t>Lambda</a:t>
            </a:r>
            <a:r>
              <a:rPr sz="1100" b="1" spc="-20" dirty="0">
                <a:latin typeface="Roboto"/>
                <a:cs typeface="Roboto"/>
              </a:rPr>
              <a:t> </a:t>
            </a:r>
            <a:r>
              <a:rPr sz="1100" b="1" spc="-10" dirty="0">
                <a:latin typeface="Roboto"/>
                <a:cs typeface="Roboto"/>
              </a:rPr>
              <a:t>Edge</a:t>
            </a:r>
            <a:r>
              <a:rPr sz="1100" b="1" dirty="0">
                <a:latin typeface="Roboto"/>
                <a:cs typeface="Roboto"/>
              </a:rPr>
              <a:t>	</a:t>
            </a:r>
            <a:r>
              <a:rPr sz="1100" dirty="0">
                <a:latin typeface="Roboto"/>
                <a:cs typeface="Roboto"/>
              </a:rPr>
              <a:t>Let's</a:t>
            </a:r>
            <a:r>
              <a:rPr sz="1100" spc="-20" dirty="0">
                <a:latin typeface="Roboto"/>
                <a:cs typeface="Roboto"/>
              </a:rPr>
              <a:t> </a:t>
            </a:r>
            <a:r>
              <a:rPr sz="1100" dirty="0">
                <a:latin typeface="Roboto"/>
                <a:cs typeface="Roboto"/>
              </a:rPr>
              <a:t>you</a:t>
            </a:r>
            <a:r>
              <a:rPr sz="1100" spc="-20" dirty="0">
                <a:latin typeface="Roboto"/>
                <a:cs typeface="Roboto"/>
              </a:rPr>
              <a:t> </a:t>
            </a:r>
            <a:r>
              <a:rPr sz="1100" dirty="0">
                <a:latin typeface="Roboto"/>
                <a:cs typeface="Roboto"/>
              </a:rPr>
              <a:t>run</a:t>
            </a:r>
            <a:r>
              <a:rPr sz="1100" spc="-20" dirty="0">
                <a:latin typeface="Roboto"/>
                <a:cs typeface="Roboto"/>
              </a:rPr>
              <a:t> </a:t>
            </a:r>
            <a:r>
              <a:rPr sz="1100" dirty="0">
                <a:latin typeface="Roboto"/>
                <a:cs typeface="Roboto"/>
              </a:rPr>
              <a:t>Lambda</a:t>
            </a:r>
            <a:r>
              <a:rPr sz="1100" spc="-20" dirty="0">
                <a:latin typeface="Roboto"/>
                <a:cs typeface="Roboto"/>
              </a:rPr>
              <a:t> </a:t>
            </a:r>
            <a:r>
              <a:rPr sz="1100" dirty="0">
                <a:latin typeface="Roboto"/>
                <a:cs typeface="Roboto"/>
              </a:rPr>
              <a:t>functions</a:t>
            </a:r>
            <a:r>
              <a:rPr sz="1100" spc="-20" dirty="0">
                <a:latin typeface="Roboto"/>
                <a:cs typeface="Roboto"/>
              </a:rPr>
              <a:t> </a:t>
            </a:r>
            <a:r>
              <a:rPr sz="1100" dirty="0">
                <a:latin typeface="Roboto"/>
                <a:cs typeface="Roboto"/>
              </a:rPr>
              <a:t>to</a:t>
            </a:r>
            <a:r>
              <a:rPr sz="1100" spc="-20" dirty="0">
                <a:latin typeface="Roboto"/>
                <a:cs typeface="Roboto"/>
              </a:rPr>
              <a:t> </a:t>
            </a:r>
            <a:r>
              <a:rPr sz="1100" dirty="0">
                <a:latin typeface="Roboto"/>
                <a:cs typeface="Roboto"/>
              </a:rPr>
              <a:t>customize</a:t>
            </a:r>
            <a:r>
              <a:rPr sz="1100" spc="-20" dirty="0">
                <a:latin typeface="Roboto"/>
                <a:cs typeface="Roboto"/>
              </a:rPr>
              <a:t> </a:t>
            </a:r>
            <a:r>
              <a:rPr sz="1100" dirty="0">
                <a:latin typeface="Roboto"/>
                <a:cs typeface="Roboto"/>
              </a:rPr>
              <a:t>content</a:t>
            </a:r>
            <a:r>
              <a:rPr sz="1100" spc="-20" dirty="0">
                <a:latin typeface="Roboto"/>
                <a:cs typeface="Roboto"/>
              </a:rPr>
              <a:t> </a:t>
            </a:r>
            <a:r>
              <a:rPr sz="1100" dirty="0">
                <a:latin typeface="Roboto"/>
                <a:cs typeface="Roboto"/>
              </a:rPr>
              <a:t>that</a:t>
            </a:r>
            <a:r>
              <a:rPr sz="1100" spc="-20" dirty="0">
                <a:latin typeface="Roboto"/>
                <a:cs typeface="Roboto"/>
              </a:rPr>
              <a:t> </a:t>
            </a:r>
            <a:r>
              <a:rPr sz="1100" dirty="0">
                <a:latin typeface="Roboto"/>
                <a:cs typeface="Roboto"/>
              </a:rPr>
              <a:t>CloudFront</a:t>
            </a:r>
            <a:r>
              <a:rPr sz="1100" spc="-18" dirty="0">
                <a:latin typeface="Roboto"/>
                <a:cs typeface="Roboto"/>
              </a:rPr>
              <a:t> </a:t>
            </a:r>
            <a:r>
              <a:rPr sz="1100" dirty="0">
                <a:latin typeface="Roboto"/>
                <a:cs typeface="Roboto"/>
              </a:rPr>
              <a:t>delivers,</a:t>
            </a:r>
            <a:r>
              <a:rPr sz="1100" spc="-20" dirty="0">
                <a:latin typeface="Roboto"/>
                <a:cs typeface="Roboto"/>
              </a:rPr>
              <a:t> </a:t>
            </a:r>
            <a:r>
              <a:rPr sz="1100" dirty="0">
                <a:latin typeface="Roboto"/>
                <a:cs typeface="Roboto"/>
              </a:rPr>
              <a:t>executing</a:t>
            </a:r>
            <a:r>
              <a:rPr sz="1100" spc="-20" dirty="0">
                <a:latin typeface="Roboto"/>
                <a:cs typeface="Roboto"/>
              </a:rPr>
              <a:t> </a:t>
            </a:r>
            <a:r>
              <a:rPr sz="1100" dirty="0">
                <a:latin typeface="Roboto"/>
                <a:cs typeface="Roboto"/>
              </a:rPr>
              <a:t>the</a:t>
            </a:r>
            <a:r>
              <a:rPr sz="1100" spc="-20" dirty="0">
                <a:latin typeface="Roboto"/>
                <a:cs typeface="Roboto"/>
              </a:rPr>
              <a:t> </a:t>
            </a:r>
            <a:r>
              <a:rPr sz="1100" dirty="0">
                <a:latin typeface="Roboto"/>
                <a:cs typeface="Roboto"/>
              </a:rPr>
              <a:t>functions</a:t>
            </a:r>
            <a:r>
              <a:rPr sz="1100" spc="-20" dirty="0">
                <a:latin typeface="Roboto"/>
                <a:cs typeface="Roboto"/>
              </a:rPr>
              <a:t> </a:t>
            </a:r>
            <a:r>
              <a:rPr sz="1100" dirty="0">
                <a:latin typeface="Roboto"/>
                <a:cs typeface="Roboto"/>
              </a:rPr>
              <a:t>in</a:t>
            </a:r>
            <a:r>
              <a:rPr sz="1100" spc="-20" dirty="0">
                <a:latin typeface="Roboto"/>
                <a:cs typeface="Roboto"/>
              </a:rPr>
              <a:t> </a:t>
            </a:r>
            <a:r>
              <a:rPr sz="1100" dirty="0">
                <a:latin typeface="Roboto"/>
                <a:cs typeface="Roboto"/>
              </a:rPr>
              <a:t>AWS</a:t>
            </a:r>
            <a:r>
              <a:rPr sz="1100" spc="-20" dirty="0">
                <a:latin typeface="Roboto"/>
                <a:cs typeface="Roboto"/>
              </a:rPr>
              <a:t> </a:t>
            </a:r>
            <a:r>
              <a:rPr sz="1100" spc="-5" dirty="0">
                <a:latin typeface="Roboto"/>
                <a:cs typeface="Roboto"/>
              </a:rPr>
              <a:t>locations </a:t>
            </a:r>
            <a:r>
              <a:rPr sz="1100" dirty="0">
                <a:latin typeface="Roboto"/>
                <a:cs typeface="Roboto"/>
              </a:rPr>
              <a:t>closer</a:t>
            </a:r>
            <a:r>
              <a:rPr sz="1100" spc="-23" dirty="0">
                <a:latin typeface="Roboto"/>
                <a:cs typeface="Roboto"/>
              </a:rPr>
              <a:t> </a:t>
            </a:r>
            <a:r>
              <a:rPr sz="1100" dirty="0">
                <a:latin typeface="Roboto"/>
                <a:cs typeface="Roboto"/>
              </a:rPr>
              <a:t>to</a:t>
            </a:r>
            <a:r>
              <a:rPr sz="1100" spc="-20" dirty="0">
                <a:latin typeface="Roboto"/>
                <a:cs typeface="Roboto"/>
              </a:rPr>
              <a:t> </a:t>
            </a:r>
            <a:r>
              <a:rPr sz="1100" dirty="0">
                <a:latin typeface="Roboto"/>
                <a:cs typeface="Roboto"/>
              </a:rPr>
              <a:t>the</a:t>
            </a:r>
            <a:r>
              <a:rPr sz="1100" spc="-20" dirty="0">
                <a:latin typeface="Roboto"/>
                <a:cs typeface="Roboto"/>
              </a:rPr>
              <a:t> </a:t>
            </a:r>
            <a:r>
              <a:rPr sz="1100" dirty="0">
                <a:latin typeface="Roboto"/>
                <a:cs typeface="Roboto"/>
              </a:rPr>
              <a:t>viewer.</a:t>
            </a:r>
            <a:r>
              <a:rPr sz="1100" spc="-23" dirty="0">
                <a:latin typeface="Roboto"/>
                <a:cs typeface="Roboto"/>
              </a:rPr>
              <a:t> </a:t>
            </a:r>
            <a:r>
              <a:rPr sz="1100" dirty="0">
                <a:latin typeface="Roboto"/>
                <a:cs typeface="Roboto"/>
              </a:rPr>
              <a:t>The</a:t>
            </a:r>
            <a:r>
              <a:rPr sz="1100" spc="-20" dirty="0">
                <a:latin typeface="Roboto"/>
                <a:cs typeface="Roboto"/>
              </a:rPr>
              <a:t> </a:t>
            </a:r>
            <a:r>
              <a:rPr sz="1100" dirty="0">
                <a:latin typeface="Roboto"/>
                <a:cs typeface="Roboto"/>
              </a:rPr>
              <a:t>functions</a:t>
            </a:r>
            <a:r>
              <a:rPr sz="1100" spc="-20" dirty="0">
                <a:latin typeface="Roboto"/>
                <a:cs typeface="Roboto"/>
              </a:rPr>
              <a:t> </a:t>
            </a:r>
            <a:r>
              <a:rPr sz="1100" dirty="0">
                <a:latin typeface="Roboto"/>
                <a:cs typeface="Roboto"/>
              </a:rPr>
              <a:t>run</a:t>
            </a:r>
            <a:r>
              <a:rPr sz="1100" spc="-23" dirty="0">
                <a:latin typeface="Roboto"/>
                <a:cs typeface="Roboto"/>
              </a:rPr>
              <a:t> </a:t>
            </a:r>
            <a:r>
              <a:rPr sz="1100" dirty="0">
                <a:latin typeface="Roboto"/>
                <a:cs typeface="Roboto"/>
              </a:rPr>
              <a:t>in</a:t>
            </a:r>
            <a:r>
              <a:rPr sz="1100" spc="-20" dirty="0">
                <a:latin typeface="Roboto"/>
                <a:cs typeface="Roboto"/>
              </a:rPr>
              <a:t> </a:t>
            </a:r>
            <a:r>
              <a:rPr sz="1100" dirty="0">
                <a:latin typeface="Roboto"/>
                <a:cs typeface="Roboto"/>
              </a:rPr>
              <a:t>response</a:t>
            </a:r>
            <a:r>
              <a:rPr sz="1100" spc="-20" dirty="0">
                <a:latin typeface="Roboto"/>
                <a:cs typeface="Roboto"/>
              </a:rPr>
              <a:t> </a:t>
            </a:r>
            <a:r>
              <a:rPr sz="1100" dirty="0">
                <a:latin typeface="Roboto"/>
                <a:cs typeface="Roboto"/>
              </a:rPr>
              <a:t>to</a:t>
            </a:r>
            <a:r>
              <a:rPr sz="1100" spc="-23" dirty="0">
                <a:latin typeface="Roboto"/>
                <a:cs typeface="Roboto"/>
              </a:rPr>
              <a:t> </a:t>
            </a:r>
            <a:r>
              <a:rPr sz="1100" dirty="0">
                <a:latin typeface="Roboto"/>
                <a:cs typeface="Roboto"/>
              </a:rPr>
              <a:t>CloudFront</a:t>
            </a:r>
            <a:r>
              <a:rPr sz="1100" spc="-20" dirty="0">
                <a:latin typeface="Roboto"/>
                <a:cs typeface="Roboto"/>
              </a:rPr>
              <a:t> </a:t>
            </a:r>
            <a:r>
              <a:rPr sz="1100" dirty="0">
                <a:latin typeface="Roboto"/>
                <a:cs typeface="Roboto"/>
              </a:rPr>
              <a:t>events,</a:t>
            </a:r>
            <a:r>
              <a:rPr sz="1100" spc="-20" dirty="0">
                <a:latin typeface="Roboto"/>
                <a:cs typeface="Roboto"/>
              </a:rPr>
              <a:t> </a:t>
            </a:r>
            <a:r>
              <a:rPr sz="1100" dirty="0">
                <a:latin typeface="Roboto"/>
                <a:cs typeface="Roboto"/>
              </a:rPr>
              <a:t>without</a:t>
            </a:r>
            <a:r>
              <a:rPr sz="1100" spc="-23" dirty="0">
                <a:latin typeface="Roboto"/>
                <a:cs typeface="Roboto"/>
              </a:rPr>
              <a:t> </a:t>
            </a:r>
            <a:r>
              <a:rPr sz="1100" dirty="0">
                <a:latin typeface="Roboto"/>
                <a:cs typeface="Roboto"/>
              </a:rPr>
              <a:t>provisioning</a:t>
            </a:r>
            <a:r>
              <a:rPr sz="1100" spc="-20" dirty="0">
                <a:latin typeface="Roboto"/>
                <a:cs typeface="Roboto"/>
              </a:rPr>
              <a:t> </a:t>
            </a:r>
            <a:r>
              <a:rPr sz="1100" dirty="0">
                <a:latin typeface="Roboto"/>
                <a:cs typeface="Roboto"/>
              </a:rPr>
              <a:t>or</a:t>
            </a:r>
            <a:r>
              <a:rPr sz="1100" spc="-20" dirty="0">
                <a:latin typeface="Roboto"/>
                <a:cs typeface="Roboto"/>
              </a:rPr>
              <a:t> </a:t>
            </a:r>
            <a:r>
              <a:rPr sz="1100" dirty="0">
                <a:latin typeface="Roboto"/>
                <a:cs typeface="Roboto"/>
              </a:rPr>
              <a:t>managing</a:t>
            </a:r>
            <a:r>
              <a:rPr sz="1100" spc="-20" dirty="0">
                <a:latin typeface="Roboto"/>
                <a:cs typeface="Roboto"/>
              </a:rPr>
              <a:t> </a:t>
            </a:r>
            <a:r>
              <a:rPr sz="1100" spc="-5" dirty="0">
                <a:latin typeface="Roboto"/>
                <a:cs typeface="Roboto"/>
              </a:rPr>
              <a:t>servers.</a:t>
            </a:r>
            <a:endParaRPr sz="1100">
              <a:latin typeface="Roboto"/>
              <a:cs typeface="Roboto"/>
            </a:endParaRPr>
          </a:p>
          <a:p>
            <a:pPr marL="395923">
              <a:spcBef>
                <a:spcPts val="530"/>
              </a:spcBef>
              <a:tabLst>
                <a:tab pos="1143000" algn="l"/>
              </a:tabLst>
            </a:pPr>
            <a:r>
              <a:rPr sz="1100" b="1" spc="-5" dirty="0">
                <a:latin typeface="Roboto"/>
                <a:cs typeface="Roboto"/>
              </a:rPr>
              <a:t>Serverless</a:t>
            </a:r>
            <a:r>
              <a:rPr sz="1100" b="1" dirty="0">
                <a:latin typeface="Roboto"/>
                <a:cs typeface="Roboto"/>
              </a:rPr>
              <a:t>	</a:t>
            </a:r>
            <a:r>
              <a:rPr sz="1100" dirty="0">
                <a:latin typeface="Roboto"/>
                <a:cs typeface="Roboto"/>
              </a:rPr>
              <a:t>Use</a:t>
            </a:r>
            <a:r>
              <a:rPr sz="1100" spc="-23" dirty="0">
                <a:latin typeface="Roboto"/>
                <a:cs typeface="Roboto"/>
              </a:rPr>
              <a:t> </a:t>
            </a:r>
            <a:r>
              <a:rPr sz="1100" dirty="0">
                <a:latin typeface="Roboto"/>
                <a:cs typeface="Roboto"/>
              </a:rPr>
              <a:t>serverless</a:t>
            </a:r>
            <a:r>
              <a:rPr sz="1100" spc="-20" dirty="0">
                <a:latin typeface="Roboto"/>
                <a:cs typeface="Roboto"/>
              </a:rPr>
              <a:t> </a:t>
            </a:r>
            <a:r>
              <a:rPr sz="1100" dirty="0">
                <a:latin typeface="Roboto"/>
                <a:cs typeface="Roboto"/>
              </a:rPr>
              <a:t>framework</a:t>
            </a:r>
            <a:r>
              <a:rPr sz="1100" spc="-20" dirty="0">
                <a:latin typeface="Roboto"/>
                <a:cs typeface="Roboto"/>
              </a:rPr>
              <a:t> </a:t>
            </a:r>
            <a:r>
              <a:rPr sz="1100" dirty="0">
                <a:latin typeface="Roboto"/>
                <a:cs typeface="Roboto"/>
              </a:rPr>
              <a:t>with</a:t>
            </a:r>
            <a:r>
              <a:rPr sz="1100" spc="-20" dirty="0">
                <a:latin typeface="Roboto"/>
                <a:cs typeface="Roboto"/>
              </a:rPr>
              <a:t> </a:t>
            </a:r>
            <a:r>
              <a:rPr sz="1100" dirty="0">
                <a:latin typeface="Roboto"/>
                <a:cs typeface="Roboto"/>
              </a:rPr>
              <a:t>your</a:t>
            </a:r>
            <a:r>
              <a:rPr sz="1100" spc="-20" dirty="0">
                <a:latin typeface="Roboto"/>
                <a:cs typeface="Roboto"/>
              </a:rPr>
              <a:t> </a:t>
            </a:r>
            <a:r>
              <a:rPr sz="1100" dirty="0">
                <a:latin typeface="Roboto"/>
                <a:cs typeface="Roboto"/>
              </a:rPr>
              <a:t>preferred</a:t>
            </a:r>
            <a:r>
              <a:rPr sz="1100" spc="-20" dirty="0">
                <a:latin typeface="Roboto"/>
                <a:cs typeface="Roboto"/>
              </a:rPr>
              <a:t> </a:t>
            </a:r>
            <a:r>
              <a:rPr sz="1100" dirty="0">
                <a:latin typeface="Roboto"/>
                <a:cs typeface="Roboto"/>
              </a:rPr>
              <a:t>choice</a:t>
            </a:r>
            <a:r>
              <a:rPr sz="1100" spc="-20" dirty="0">
                <a:latin typeface="Roboto"/>
                <a:cs typeface="Roboto"/>
              </a:rPr>
              <a:t> </a:t>
            </a:r>
            <a:r>
              <a:rPr sz="1100" dirty="0">
                <a:latin typeface="Roboto"/>
                <a:cs typeface="Roboto"/>
              </a:rPr>
              <a:t>of</a:t>
            </a:r>
            <a:r>
              <a:rPr sz="1100" spc="-20" dirty="0">
                <a:latin typeface="Roboto"/>
                <a:cs typeface="Roboto"/>
              </a:rPr>
              <a:t> </a:t>
            </a:r>
            <a:r>
              <a:rPr sz="1100" dirty="0">
                <a:latin typeface="Roboto"/>
                <a:cs typeface="Roboto"/>
              </a:rPr>
              <a:t>language</a:t>
            </a:r>
            <a:r>
              <a:rPr sz="1100" spc="-20" dirty="0">
                <a:latin typeface="Roboto"/>
                <a:cs typeface="Roboto"/>
              </a:rPr>
              <a:t> </a:t>
            </a:r>
            <a:r>
              <a:rPr sz="1100" dirty="0">
                <a:latin typeface="Roboto"/>
                <a:cs typeface="Roboto"/>
              </a:rPr>
              <a:t>,</a:t>
            </a:r>
            <a:r>
              <a:rPr sz="1100" spc="-20" dirty="0">
                <a:latin typeface="Roboto"/>
                <a:cs typeface="Roboto"/>
              </a:rPr>
              <a:t> </a:t>
            </a:r>
            <a:r>
              <a:rPr sz="1100" dirty="0">
                <a:latin typeface="Roboto"/>
                <a:cs typeface="Roboto"/>
              </a:rPr>
              <a:t>it</a:t>
            </a:r>
            <a:r>
              <a:rPr sz="1100" spc="-20" dirty="0">
                <a:latin typeface="Roboto"/>
                <a:cs typeface="Roboto"/>
              </a:rPr>
              <a:t> </a:t>
            </a:r>
            <a:r>
              <a:rPr sz="1100" dirty="0">
                <a:latin typeface="Roboto"/>
                <a:cs typeface="Roboto"/>
              </a:rPr>
              <a:t>makes</a:t>
            </a:r>
            <a:r>
              <a:rPr sz="1100" spc="-20" dirty="0">
                <a:latin typeface="Roboto"/>
                <a:cs typeface="Roboto"/>
              </a:rPr>
              <a:t> </a:t>
            </a:r>
            <a:r>
              <a:rPr sz="1100" dirty="0">
                <a:latin typeface="Roboto"/>
                <a:cs typeface="Roboto"/>
              </a:rPr>
              <a:t>life</a:t>
            </a:r>
            <a:r>
              <a:rPr sz="1100" spc="-20" dirty="0">
                <a:latin typeface="Roboto"/>
                <a:cs typeface="Roboto"/>
              </a:rPr>
              <a:t> </a:t>
            </a:r>
            <a:r>
              <a:rPr sz="1100" dirty="0">
                <a:latin typeface="Roboto"/>
                <a:cs typeface="Roboto"/>
              </a:rPr>
              <a:t>a</a:t>
            </a:r>
            <a:r>
              <a:rPr sz="1100" spc="-20" dirty="0">
                <a:latin typeface="Roboto"/>
                <a:cs typeface="Roboto"/>
              </a:rPr>
              <a:t> </a:t>
            </a:r>
            <a:r>
              <a:rPr sz="1100" dirty="0">
                <a:latin typeface="Roboto"/>
                <a:cs typeface="Roboto"/>
              </a:rPr>
              <a:t>lot</a:t>
            </a:r>
            <a:r>
              <a:rPr sz="1100" spc="-20" dirty="0">
                <a:latin typeface="Roboto"/>
                <a:cs typeface="Roboto"/>
              </a:rPr>
              <a:t> </a:t>
            </a:r>
            <a:r>
              <a:rPr sz="1100" dirty="0">
                <a:latin typeface="Roboto"/>
                <a:cs typeface="Roboto"/>
              </a:rPr>
              <a:t>easier</a:t>
            </a:r>
            <a:r>
              <a:rPr sz="1100" spc="-20" dirty="0">
                <a:latin typeface="Roboto"/>
                <a:cs typeface="Roboto"/>
              </a:rPr>
              <a:t> </a:t>
            </a:r>
            <a:r>
              <a:rPr sz="1100" dirty="0">
                <a:latin typeface="Roboto"/>
                <a:cs typeface="Roboto"/>
              </a:rPr>
              <a:t>while</a:t>
            </a:r>
            <a:r>
              <a:rPr sz="1100" spc="-20" dirty="0">
                <a:latin typeface="Roboto"/>
                <a:cs typeface="Roboto"/>
              </a:rPr>
              <a:t> </a:t>
            </a:r>
            <a:r>
              <a:rPr sz="1100" dirty="0">
                <a:latin typeface="Roboto"/>
                <a:cs typeface="Roboto"/>
              </a:rPr>
              <a:t>developing</a:t>
            </a:r>
            <a:r>
              <a:rPr sz="1100" spc="-20" dirty="0">
                <a:latin typeface="Roboto"/>
                <a:cs typeface="Roboto"/>
              </a:rPr>
              <a:t> </a:t>
            </a:r>
            <a:r>
              <a:rPr sz="1100" spc="-5" dirty="0">
                <a:latin typeface="Roboto"/>
                <a:cs typeface="Roboto"/>
              </a:rPr>
              <a:t>Serverless</a:t>
            </a:r>
            <a:endParaRPr sz="1100">
              <a:latin typeface="Roboto"/>
              <a:cs typeface="Roboto"/>
            </a:endParaRPr>
          </a:p>
          <a:p>
            <a:pPr marL="355600">
              <a:spcBef>
                <a:spcPts val="217"/>
              </a:spcBef>
              <a:tabLst>
                <a:tab pos="1143000" algn="l"/>
              </a:tabLst>
            </a:pPr>
            <a:r>
              <a:rPr sz="1100" b="1" spc="-5" dirty="0">
                <a:latin typeface="Roboto"/>
                <a:cs typeface="Roboto"/>
              </a:rPr>
              <a:t>Framework</a:t>
            </a:r>
            <a:r>
              <a:rPr sz="1100" b="1" dirty="0">
                <a:latin typeface="Roboto"/>
                <a:cs typeface="Roboto"/>
              </a:rPr>
              <a:t>	</a:t>
            </a:r>
            <a:r>
              <a:rPr sz="1100" spc="-5" dirty="0">
                <a:latin typeface="Roboto"/>
                <a:cs typeface="Roboto"/>
              </a:rPr>
              <a:t>applications</a:t>
            </a:r>
            <a:endParaRPr sz="1100">
              <a:latin typeface="Roboto"/>
              <a:cs typeface="Roboto"/>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8038" y="28550"/>
            <a:ext cx="2995613" cy="403957"/>
          </a:xfrm>
          <a:prstGeom prst="rect">
            <a:avLst/>
          </a:prstGeom>
        </p:spPr>
        <p:txBody>
          <a:bodyPr spcFirstLastPara="1" vert="horz" wrap="square" lIns="0" tIns="6350" rIns="0" bIns="0" rtlCol="0" anchor="t" anchorCtr="0">
            <a:spAutoFit/>
          </a:bodyPr>
          <a:lstStyle/>
          <a:p>
            <a:pPr marL="6350">
              <a:spcBef>
                <a:spcPts val="50"/>
              </a:spcBef>
            </a:pPr>
            <a:r>
              <a:rPr dirty="0"/>
              <a:t>Amazon</a:t>
            </a:r>
            <a:r>
              <a:rPr spc="-30" dirty="0"/>
              <a:t> </a:t>
            </a:r>
            <a:r>
              <a:rPr spc="-5" dirty="0"/>
              <a:t>CloudWatch</a:t>
            </a:r>
          </a:p>
        </p:txBody>
      </p:sp>
      <p:sp>
        <p:nvSpPr>
          <p:cNvPr id="3" name="object 3"/>
          <p:cNvSpPr txBox="1"/>
          <p:nvPr/>
        </p:nvSpPr>
        <p:spPr>
          <a:xfrm>
            <a:off x="8173736" y="56320"/>
            <a:ext cx="911860" cy="138499"/>
          </a:xfrm>
          <a:prstGeom prst="rect">
            <a:avLst/>
          </a:prstGeom>
        </p:spPr>
        <p:txBody>
          <a:bodyPr vert="horz" wrap="square" lIns="0" tIns="7620" rIns="0" bIns="0" rtlCol="0">
            <a:spAutoFit/>
          </a:bodyPr>
          <a:lstStyle/>
          <a:p>
            <a:pPr marL="6350">
              <a:spcBef>
                <a:spcPts val="60"/>
              </a:spcBef>
            </a:pPr>
            <a:r>
              <a:rPr sz="850" dirty="0">
                <a:solidFill>
                  <a:srgbClr val="13110E"/>
                </a:solidFill>
                <a:latin typeface="Open Sans Light"/>
                <a:cs typeface="Open Sans Light"/>
              </a:rPr>
              <a:t>Learn</a:t>
            </a:r>
            <a:r>
              <a:rPr sz="850" spc="15" dirty="0">
                <a:solidFill>
                  <a:srgbClr val="13110E"/>
                </a:solidFill>
                <a:latin typeface="Open Sans Light"/>
                <a:cs typeface="Open Sans Light"/>
              </a:rPr>
              <a:t> </a:t>
            </a:r>
            <a:r>
              <a:rPr sz="850" dirty="0">
                <a:solidFill>
                  <a:srgbClr val="13110E"/>
                </a:solidFill>
                <a:latin typeface="Open Sans Light"/>
                <a:cs typeface="Open Sans Light"/>
              </a:rPr>
              <a:t>With</a:t>
            </a:r>
            <a:r>
              <a:rPr sz="850" spc="15" dirty="0">
                <a:solidFill>
                  <a:srgbClr val="13110E"/>
                </a:solidFill>
                <a:latin typeface="Open Sans Light"/>
                <a:cs typeface="Open Sans Light"/>
              </a:rPr>
              <a:t> </a:t>
            </a:r>
            <a:r>
              <a:rPr sz="850" spc="-5" dirty="0">
                <a:solidFill>
                  <a:srgbClr val="13110E"/>
                </a:solidFill>
                <a:latin typeface="Open Sans Light"/>
                <a:cs typeface="Open Sans Light"/>
              </a:rPr>
              <a:t>Sandip</a:t>
            </a:r>
            <a:endParaRPr sz="850">
              <a:latin typeface="Open Sans Light"/>
              <a:cs typeface="Open Sans Light"/>
            </a:endParaRPr>
          </a:p>
        </p:txBody>
      </p:sp>
      <p:sp>
        <p:nvSpPr>
          <p:cNvPr id="4" name="object 4"/>
          <p:cNvSpPr txBox="1"/>
          <p:nvPr/>
        </p:nvSpPr>
        <p:spPr>
          <a:xfrm>
            <a:off x="210894" y="377574"/>
            <a:ext cx="8813483" cy="4580806"/>
          </a:xfrm>
          <a:prstGeom prst="rect">
            <a:avLst/>
          </a:prstGeom>
        </p:spPr>
        <p:txBody>
          <a:bodyPr vert="horz" wrap="square" lIns="0" tIns="58103" rIns="0" bIns="0" rtlCol="0">
            <a:spAutoFit/>
          </a:bodyPr>
          <a:lstStyle/>
          <a:p>
            <a:pPr marL="83185">
              <a:spcBef>
                <a:spcPts val="458"/>
              </a:spcBef>
            </a:pPr>
            <a:r>
              <a:rPr sz="900" b="1" dirty="0">
                <a:latin typeface="Roboto"/>
                <a:cs typeface="Roboto"/>
              </a:rPr>
              <a:t>Observability</a:t>
            </a:r>
            <a:r>
              <a:rPr sz="900" b="1" spc="-10" dirty="0">
                <a:latin typeface="Roboto"/>
                <a:cs typeface="Roboto"/>
              </a:rPr>
              <a:t> </a:t>
            </a:r>
            <a:r>
              <a:rPr sz="900" b="1" dirty="0">
                <a:latin typeface="Roboto"/>
                <a:cs typeface="Roboto"/>
              </a:rPr>
              <a:t>of</a:t>
            </a:r>
            <a:r>
              <a:rPr sz="900" b="1" spc="-10" dirty="0">
                <a:latin typeface="Roboto"/>
                <a:cs typeface="Roboto"/>
              </a:rPr>
              <a:t> </a:t>
            </a:r>
            <a:r>
              <a:rPr sz="900" b="1" dirty="0">
                <a:latin typeface="Roboto"/>
                <a:cs typeface="Roboto"/>
              </a:rPr>
              <a:t>your</a:t>
            </a:r>
            <a:r>
              <a:rPr sz="900" b="1" spc="-10" dirty="0">
                <a:latin typeface="Roboto"/>
                <a:cs typeface="Roboto"/>
              </a:rPr>
              <a:t> </a:t>
            </a:r>
            <a:r>
              <a:rPr sz="900" b="1" dirty="0">
                <a:latin typeface="Roboto"/>
                <a:cs typeface="Roboto"/>
              </a:rPr>
              <a:t>AWS</a:t>
            </a:r>
            <a:r>
              <a:rPr sz="900" b="1" spc="-10" dirty="0">
                <a:latin typeface="Roboto"/>
                <a:cs typeface="Roboto"/>
              </a:rPr>
              <a:t> </a:t>
            </a:r>
            <a:r>
              <a:rPr sz="900" b="1" dirty="0">
                <a:latin typeface="Roboto"/>
                <a:cs typeface="Roboto"/>
              </a:rPr>
              <a:t>resources</a:t>
            </a:r>
            <a:r>
              <a:rPr sz="900" b="1" spc="-10" dirty="0">
                <a:latin typeface="Roboto"/>
                <a:cs typeface="Roboto"/>
              </a:rPr>
              <a:t> </a:t>
            </a:r>
            <a:r>
              <a:rPr sz="900" b="1" dirty="0">
                <a:latin typeface="Roboto"/>
                <a:cs typeface="Roboto"/>
              </a:rPr>
              <a:t>and</a:t>
            </a:r>
            <a:r>
              <a:rPr sz="900" b="1" spc="-10" dirty="0">
                <a:latin typeface="Roboto"/>
                <a:cs typeface="Roboto"/>
              </a:rPr>
              <a:t> </a:t>
            </a:r>
            <a:r>
              <a:rPr sz="900" b="1" dirty="0">
                <a:latin typeface="Roboto"/>
                <a:cs typeface="Roboto"/>
              </a:rPr>
              <a:t>applications</a:t>
            </a:r>
            <a:r>
              <a:rPr sz="900" b="1" spc="-8" dirty="0">
                <a:latin typeface="Roboto"/>
                <a:cs typeface="Roboto"/>
              </a:rPr>
              <a:t> </a:t>
            </a:r>
            <a:r>
              <a:rPr sz="900" b="1" dirty="0">
                <a:latin typeface="Roboto"/>
                <a:cs typeface="Roboto"/>
              </a:rPr>
              <a:t>on</a:t>
            </a:r>
            <a:r>
              <a:rPr sz="900" b="1" spc="-10" dirty="0">
                <a:latin typeface="Roboto"/>
                <a:cs typeface="Roboto"/>
              </a:rPr>
              <a:t> </a:t>
            </a:r>
            <a:r>
              <a:rPr sz="900" b="1" dirty="0">
                <a:latin typeface="Roboto"/>
                <a:cs typeface="Roboto"/>
              </a:rPr>
              <a:t>AWS</a:t>
            </a:r>
            <a:r>
              <a:rPr sz="900" b="1" spc="-10" dirty="0">
                <a:latin typeface="Roboto"/>
                <a:cs typeface="Roboto"/>
              </a:rPr>
              <a:t> </a:t>
            </a:r>
            <a:r>
              <a:rPr sz="900" b="1" dirty="0">
                <a:latin typeface="Roboto"/>
                <a:cs typeface="Roboto"/>
              </a:rPr>
              <a:t>and</a:t>
            </a:r>
            <a:r>
              <a:rPr sz="900" b="1" spc="-10" dirty="0">
                <a:latin typeface="Roboto"/>
                <a:cs typeface="Roboto"/>
              </a:rPr>
              <a:t> </a:t>
            </a:r>
            <a:r>
              <a:rPr sz="900" b="1" spc="-5" dirty="0">
                <a:latin typeface="Roboto"/>
                <a:cs typeface="Roboto"/>
              </a:rPr>
              <a:t>on-premises</a:t>
            </a:r>
            <a:endParaRPr sz="900">
              <a:latin typeface="Roboto"/>
              <a:cs typeface="Roboto"/>
            </a:endParaRPr>
          </a:p>
          <a:p>
            <a:pPr marL="83185" marR="49848">
              <a:lnSpc>
                <a:spcPct val="116500"/>
              </a:lnSpc>
              <a:spcBef>
                <a:spcPts val="280"/>
              </a:spcBef>
            </a:pPr>
            <a:r>
              <a:rPr sz="1100" dirty="0">
                <a:latin typeface="Roboto"/>
                <a:cs typeface="Roboto"/>
              </a:rPr>
              <a:t>Amazon</a:t>
            </a:r>
            <a:r>
              <a:rPr sz="1100" spc="-28" dirty="0">
                <a:latin typeface="Roboto"/>
                <a:cs typeface="Roboto"/>
              </a:rPr>
              <a:t> </a:t>
            </a:r>
            <a:r>
              <a:rPr sz="1100" dirty="0">
                <a:latin typeface="Roboto"/>
                <a:cs typeface="Roboto"/>
              </a:rPr>
              <a:t>CloudWatch</a:t>
            </a:r>
            <a:r>
              <a:rPr sz="1100" spc="-28" dirty="0">
                <a:latin typeface="Roboto"/>
                <a:cs typeface="Roboto"/>
              </a:rPr>
              <a:t> </a:t>
            </a:r>
            <a:r>
              <a:rPr sz="1100" dirty="0">
                <a:latin typeface="Roboto"/>
                <a:cs typeface="Roboto"/>
              </a:rPr>
              <a:t>is</a:t>
            </a:r>
            <a:r>
              <a:rPr sz="1100" spc="-28" dirty="0">
                <a:latin typeface="Roboto"/>
                <a:cs typeface="Roboto"/>
              </a:rPr>
              <a:t> </a:t>
            </a:r>
            <a:r>
              <a:rPr sz="1100" dirty="0">
                <a:latin typeface="Roboto"/>
                <a:cs typeface="Roboto"/>
              </a:rPr>
              <a:t>a</a:t>
            </a:r>
            <a:r>
              <a:rPr sz="1100" spc="-25" dirty="0">
                <a:latin typeface="Roboto"/>
                <a:cs typeface="Roboto"/>
              </a:rPr>
              <a:t> </a:t>
            </a:r>
            <a:r>
              <a:rPr sz="1100" dirty="0">
                <a:latin typeface="Roboto"/>
                <a:cs typeface="Roboto"/>
              </a:rPr>
              <a:t>monitoring</a:t>
            </a:r>
            <a:r>
              <a:rPr sz="1100" spc="-28" dirty="0">
                <a:latin typeface="Roboto"/>
                <a:cs typeface="Roboto"/>
              </a:rPr>
              <a:t> </a:t>
            </a:r>
            <a:r>
              <a:rPr sz="1100" dirty="0">
                <a:latin typeface="Roboto"/>
                <a:cs typeface="Roboto"/>
              </a:rPr>
              <a:t>and</a:t>
            </a:r>
            <a:r>
              <a:rPr sz="1100" spc="-28" dirty="0">
                <a:latin typeface="Roboto"/>
                <a:cs typeface="Roboto"/>
              </a:rPr>
              <a:t> </a:t>
            </a:r>
            <a:r>
              <a:rPr sz="1100" dirty="0">
                <a:latin typeface="Roboto"/>
                <a:cs typeface="Roboto"/>
              </a:rPr>
              <a:t>observability</a:t>
            </a:r>
            <a:r>
              <a:rPr sz="1100" spc="-28" dirty="0">
                <a:latin typeface="Roboto"/>
                <a:cs typeface="Roboto"/>
              </a:rPr>
              <a:t> </a:t>
            </a:r>
            <a:r>
              <a:rPr sz="1100" dirty="0">
                <a:latin typeface="Roboto"/>
                <a:cs typeface="Roboto"/>
              </a:rPr>
              <a:t>service</a:t>
            </a:r>
            <a:r>
              <a:rPr sz="1100" spc="-25" dirty="0">
                <a:latin typeface="Roboto"/>
                <a:cs typeface="Roboto"/>
              </a:rPr>
              <a:t> </a:t>
            </a:r>
            <a:r>
              <a:rPr sz="1100" dirty="0">
                <a:latin typeface="Roboto"/>
                <a:cs typeface="Roboto"/>
              </a:rPr>
              <a:t>built</a:t>
            </a:r>
            <a:r>
              <a:rPr sz="1100" spc="-28" dirty="0">
                <a:latin typeface="Roboto"/>
                <a:cs typeface="Roboto"/>
              </a:rPr>
              <a:t> </a:t>
            </a:r>
            <a:r>
              <a:rPr sz="1100" dirty="0">
                <a:latin typeface="Roboto"/>
                <a:cs typeface="Roboto"/>
              </a:rPr>
              <a:t>for</a:t>
            </a:r>
            <a:r>
              <a:rPr sz="1100" spc="-28" dirty="0">
                <a:latin typeface="Roboto"/>
                <a:cs typeface="Roboto"/>
              </a:rPr>
              <a:t> </a:t>
            </a:r>
            <a:r>
              <a:rPr sz="1100" dirty="0">
                <a:latin typeface="Roboto"/>
                <a:cs typeface="Roboto"/>
              </a:rPr>
              <a:t>DevOps</a:t>
            </a:r>
            <a:r>
              <a:rPr sz="1100" spc="-28" dirty="0">
                <a:latin typeface="Roboto"/>
                <a:cs typeface="Roboto"/>
              </a:rPr>
              <a:t> </a:t>
            </a:r>
            <a:r>
              <a:rPr sz="1100" dirty="0">
                <a:latin typeface="Roboto"/>
                <a:cs typeface="Roboto"/>
              </a:rPr>
              <a:t>engineers,</a:t>
            </a:r>
            <a:r>
              <a:rPr sz="1100" spc="-25" dirty="0">
                <a:latin typeface="Roboto"/>
                <a:cs typeface="Roboto"/>
              </a:rPr>
              <a:t> </a:t>
            </a:r>
            <a:r>
              <a:rPr sz="1100" dirty="0">
                <a:latin typeface="Roboto"/>
                <a:cs typeface="Roboto"/>
              </a:rPr>
              <a:t>developers,</a:t>
            </a:r>
            <a:r>
              <a:rPr sz="1100" spc="-28" dirty="0">
                <a:latin typeface="Roboto"/>
                <a:cs typeface="Roboto"/>
              </a:rPr>
              <a:t> </a:t>
            </a:r>
            <a:r>
              <a:rPr sz="1100" dirty="0">
                <a:latin typeface="Roboto"/>
                <a:cs typeface="Roboto"/>
              </a:rPr>
              <a:t>site</a:t>
            </a:r>
            <a:r>
              <a:rPr sz="1100" spc="-28" dirty="0">
                <a:latin typeface="Roboto"/>
                <a:cs typeface="Roboto"/>
              </a:rPr>
              <a:t> </a:t>
            </a:r>
            <a:r>
              <a:rPr sz="1100" dirty="0">
                <a:latin typeface="Roboto"/>
                <a:cs typeface="Roboto"/>
              </a:rPr>
              <a:t>reliability</a:t>
            </a:r>
            <a:r>
              <a:rPr sz="1100" spc="-28" dirty="0">
                <a:latin typeface="Roboto"/>
                <a:cs typeface="Roboto"/>
              </a:rPr>
              <a:t> </a:t>
            </a:r>
            <a:r>
              <a:rPr sz="1100" dirty="0">
                <a:latin typeface="Roboto"/>
                <a:cs typeface="Roboto"/>
              </a:rPr>
              <a:t>engineers</a:t>
            </a:r>
            <a:r>
              <a:rPr sz="1100" spc="-25" dirty="0">
                <a:latin typeface="Roboto"/>
                <a:cs typeface="Roboto"/>
              </a:rPr>
              <a:t> </a:t>
            </a:r>
            <a:r>
              <a:rPr sz="1100" dirty="0">
                <a:latin typeface="Roboto"/>
                <a:cs typeface="Roboto"/>
              </a:rPr>
              <a:t>(SREs),</a:t>
            </a:r>
            <a:r>
              <a:rPr sz="1100" spc="-28" dirty="0">
                <a:latin typeface="Roboto"/>
                <a:cs typeface="Roboto"/>
              </a:rPr>
              <a:t> </a:t>
            </a:r>
            <a:r>
              <a:rPr sz="1100" dirty="0">
                <a:latin typeface="Roboto"/>
                <a:cs typeface="Roboto"/>
              </a:rPr>
              <a:t>and</a:t>
            </a:r>
            <a:r>
              <a:rPr sz="1100" spc="-28" dirty="0">
                <a:latin typeface="Roboto"/>
                <a:cs typeface="Roboto"/>
              </a:rPr>
              <a:t> </a:t>
            </a:r>
            <a:r>
              <a:rPr sz="1100" spc="-13" dirty="0">
                <a:latin typeface="Roboto"/>
                <a:cs typeface="Roboto"/>
              </a:rPr>
              <a:t>IT </a:t>
            </a:r>
            <a:r>
              <a:rPr sz="1100" dirty="0">
                <a:latin typeface="Roboto"/>
                <a:cs typeface="Roboto"/>
              </a:rPr>
              <a:t>managers.</a:t>
            </a:r>
            <a:r>
              <a:rPr sz="1100" spc="-25" dirty="0">
                <a:latin typeface="Roboto"/>
                <a:cs typeface="Roboto"/>
              </a:rPr>
              <a:t> </a:t>
            </a:r>
            <a:r>
              <a:rPr sz="1100" dirty="0">
                <a:latin typeface="Roboto"/>
                <a:cs typeface="Roboto"/>
              </a:rPr>
              <a:t>CloudWatch</a:t>
            </a:r>
            <a:r>
              <a:rPr sz="1100" spc="-25" dirty="0">
                <a:latin typeface="Roboto"/>
                <a:cs typeface="Roboto"/>
              </a:rPr>
              <a:t> </a:t>
            </a:r>
            <a:r>
              <a:rPr sz="1100" dirty="0">
                <a:latin typeface="Roboto"/>
                <a:cs typeface="Roboto"/>
              </a:rPr>
              <a:t>provides</a:t>
            </a:r>
            <a:r>
              <a:rPr sz="1100" spc="-25" dirty="0">
                <a:latin typeface="Roboto"/>
                <a:cs typeface="Roboto"/>
              </a:rPr>
              <a:t> </a:t>
            </a:r>
            <a:r>
              <a:rPr sz="1100" dirty="0">
                <a:latin typeface="Roboto"/>
                <a:cs typeface="Roboto"/>
              </a:rPr>
              <a:t>you</a:t>
            </a:r>
            <a:r>
              <a:rPr sz="1100" spc="-25" dirty="0">
                <a:latin typeface="Roboto"/>
                <a:cs typeface="Roboto"/>
              </a:rPr>
              <a:t> </a:t>
            </a:r>
            <a:r>
              <a:rPr sz="1100" dirty="0">
                <a:latin typeface="Roboto"/>
                <a:cs typeface="Roboto"/>
              </a:rPr>
              <a:t>with</a:t>
            </a:r>
            <a:r>
              <a:rPr sz="1100" spc="-25" dirty="0">
                <a:latin typeface="Roboto"/>
                <a:cs typeface="Roboto"/>
              </a:rPr>
              <a:t> </a:t>
            </a:r>
            <a:r>
              <a:rPr sz="1100" dirty="0">
                <a:latin typeface="Roboto"/>
                <a:cs typeface="Roboto"/>
              </a:rPr>
              <a:t>data</a:t>
            </a:r>
            <a:r>
              <a:rPr sz="1100" spc="-25" dirty="0">
                <a:latin typeface="Roboto"/>
                <a:cs typeface="Roboto"/>
              </a:rPr>
              <a:t> </a:t>
            </a:r>
            <a:r>
              <a:rPr sz="1100" dirty="0">
                <a:latin typeface="Roboto"/>
                <a:cs typeface="Roboto"/>
              </a:rPr>
              <a:t>and</a:t>
            </a:r>
            <a:r>
              <a:rPr sz="1100" spc="-25" dirty="0">
                <a:latin typeface="Roboto"/>
                <a:cs typeface="Roboto"/>
              </a:rPr>
              <a:t> </a:t>
            </a:r>
            <a:r>
              <a:rPr sz="1100" dirty="0">
                <a:latin typeface="Roboto"/>
                <a:cs typeface="Roboto"/>
              </a:rPr>
              <a:t>actionable</a:t>
            </a:r>
            <a:r>
              <a:rPr sz="1100" spc="-25" dirty="0">
                <a:latin typeface="Roboto"/>
                <a:cs typeface="Roboto"/>
              </a:rPr>
              <a:t> </a:t>
            </a:r>
            <a:r>
              <a:rPr sz="1100" dirty="0">
                <a:latin typeface="Roboto"/>
                <a:cs typeface="Roboto"/>
              </a:rPr>
              <a:t>insights</a:t>
            </a:r>
            <a:r>
              <a:rPr sz="1100" spc="-23" dirty="0">
                <a:latin typeface="Roboto"/>
                <a:cs typeface="Roboto"/>
              </a:rPr>
              <a:t> </a:t>
            </a:r>
            <a:r>
              <a:rPr sz="1100" dirty="0">
                <a:latin typeface="Roboto"/>
                <a:cs typeface="Roboto"/>
              </a:rPr>
              <a:t>to</a:t>
            </a:r>
            <a:r>
              <a:rPr sz="1100" spc="-25" dirty="0">
                <a:latin typeface="Roboto"/>
                <a:cs typeface="Roboto"/>
              </a:rPr>
              <a:t> </a:t>
            </a:r>
            <a:r>
              <a:rPr sz="1100" dirty="0">
                <a:latin typeface="Roboto"/>
                <a:cs typeface="Roboto"/>
              </a:rPr>
              <a:t>monitor</a:t>
            </a:r>
            <a:r>
              <a:rPr sz="1100" spc="-25" dirty="0">
                <a:latin typeface="Roboto"/>
                <a:cs typeface="Roboto"/>
              </a:rPr>
              <a:t> </a:t>
            </a:r>
            <a:r>
              <a:rPr sz="1100" dirty="0">
                <a:latin typeface="Roboto"/>
                <a:cs typeface="Roboto"/>
              </a:rPr>
              <a:t>your</a:t>
            </a:r>
            <a:r>
              <a:rPr sz="1100" spc="-25" dirty="0">
                <a:latin typeface="Roboto"/>
                <a:cs typeface="Roboto"/>
              </a:rPr>
              <a:t> </a:t>
            </a:r>
            <a:r>
              <a:rPr sz="1100" dirty="0">
                <a:latin typeface="Roboto"/>
                <a:cs typeface="Roboto"/>
              </a:rPr>
              <a:t>applications,</a:t>
            </a:r>
            <a:r>
              <a:rPr sz="1100" spc="-25" dirty="0">
                <a:latin typeface="Roboto"/>
                <a:cs typeface="Roboto"/>
              </a:rPr>
              <a:t> </a:t>
            </a:r>
            <a:r>
              <a:rPr sz="1100" dirty="0">
                <a:latin typeface="Roboto"/>
                <a:cs typeface="Roboto"/>
              </a:rPr>
              <a:t>respond</a:t>
            </a:r>
            <a:r>
              <a:rPr sz="1100" spc="-25" dirty="0">
                <a:latin typeface="Roboto"/>
                <a:cs typeface="Roboto"/>
              </a:rPr>
              <a:t> </a:t>
            </a:r>
            <a:r>
              <a:rPr sz="1100" dirty="0">
                <a:latin typeface="Roboto"/>
                <a:cs typeface="Roboto"/>
              </a:rPr>
              <a:t>to</a:t>
            </a:r>
            <a:r>
              <a:rPr sz="1100" spc="-25" dirty="0">
                <a:latin typeface="Roboto"/>
                <a:cs typeface="Roboto"/>
              </a:rPr>
              <a:t> </a:t>
            </a:r>
            <a:r>
              <a:rPr sz="1100" spc="-5" dirty="0">
                <a:latin typeface="Roboto"/>
                <a:cs typeface="Roboto"/>
              </a:rPr>
              <a:t>system-</a:t>
            </a:r>
            <a:r>
              <a:rPr sz="1100" dirty="0">
                <a:latin typeface="Roboto"/>
                <a:cs typeface="Roboto"/>
              </a:rPr>
              <a:t>wide</a:t>
            </a:r>
            <a:r>
              <a:rPr sz="1100" spc="-25" dirty="0">
                <a:latin typeface="Roboto"/>
                <a:cs typeface="Roboto"/>
              </a:rPr>
              <a:t> </a:t>
            </a:r>
            <a:r>
              <a:rPr sz="1100" spc="-5" dirty="0">
                <a:latin typeface="Roboto"/>
                <a:cs typeface="Roboto"/>
              </a:rPr>
              <a:t>performance </a:t>
            </a:r>
            <a:r>
              <a:rPr sz="1100" dirty="0">
                <a:latin typeface="Roboto"/>
                <a:cs typeface="Roboto"/>
              </a:rPr>
              <a:t>changes,</a:t>
            </a:r>
            <a:r>
              <a:rPr sz="1100" spc="-28" dirty="0">
                <a:latin typeface="Roboto"/>
                <a:cs typeface="Roboto"/>
              </a:rPr>
              <a:t> </a:t>
            </a:r>
            <a:r>
              <a:rPr sz="1100" dirty="0">
                <a:latin typeface="Roboto"/>
                <a:cs typeface="Roboto"/>
              </a:rPr>
              <a:t>optimize</a:t>
            </a:r>
            <a:r>
              <a:rPr sz="1100" spc="-25" dirty="0">
                <a:latin typeface="Roboto"/>
                <a:cs typeface="Roboto"/>
              </a:rPr>
              <a:t> </a:t>
            </a:r>
            <a:r>
              <a:rPr sz="1100" dirty="0">
                <a:latin typeface="Roboto"/>
                <a:cs typeface="Roboto"/>
              </a:rPr>
              <a:t>resource</a:t>
            </a:r>
            <a:r>
              <a:rPr sz="1100" spc="-25" dirty="0">
                <a:latin typeface="Roboto"/>
                <a:cs typeface="Roboto"/>
              </a:rPr>
              <a:t> </a:t>
            </a:r>
            <a:r>
              <a:rPr sz="1100" dirty="0">
                <a:latin typeface="Roboto"/>
                <a:cs typeface="Roboto"/>
              </a:rPr>
              <a:t>utilization,</a:t>
            </a:r>
            <a:r>
              <a:rPr sz="1100" spc="-28" dirty="0">
                <a:latin typeface="Roboto"/>
                <a:cs typeface="Roboto"/>
              </a:rPr>
              <a:t> </a:t>
            </a:r>
            <a:r>
              <a:rPr sz="1100" dirty="0">
                <a:latin typeface="Roboto"/>
                <a:cs typeface="Roboto"/>
              </a:rPr>
              <a:t>and</a:t>
            </a:r>
            <a:r>
              <a:rPr sz="1100" spc="-25" dirty="0">
                <a:latin typeface="Roboto"/>
                <a:cs typeface="Roboto"/>
              </a:rPr>
              <a:t> </a:t>
            </a:r>
            <a:r>
              <a:rPr sz="1100" dirty="0">
                <a:latin typeface="Roboto"/>
                <a:cs typeface="Roboto"/>
              </a:rPr>
              <a:t>get</a:t>
            </a:r>
            <a:r>
              <a:rPr sz="1100" spc="-25" dirty="0">
                <a:latin typeface="Roboto"/>
                <a:cs typeface="Roboto"/>
              </a:rPr>
              <a:t> </a:t>
            </a:r>
            <a:r>
              <a:rPr sz="1100" dirty="0">
                <a:latin typeface="Roboto"/>
                <a:cs typeface="Roboto"/>
              </a:rPr>
              <a:t>a</a:t>
            </a:r>
            <a:r>
              <a:rPr sz="1100" spc="-25" dirty="0">
                <a:latin typeface="Roboto"/>
                <a:cs typeface="Roboto"/>
              </a:rPr>
              <a:t> </a:t>
            </a:r>
            <a:r>
              <a:rPr sz="1100" dirty="0">
                <a:latin typeface="Roboto"/>
                <a:cs typeface="Roboto"/>
              </a:rPr>
              <a:t>unified</a:t>
            </a:r>
            <a:r>
              <a:rPr sz="1100" spc="-28" dirty="0">
                <a:latin typeface="Roboto"/>
                <a:cs typeface="Roboto"/>
              </a:rPr>
              <a:t> </a:t>
            </a:r>
            <a:r>
              <a:rPr sz="1100" dirty="0">
                <a:latin typeface="Roboto"/>
                <a:cs typeface="Roboto"/>
              </a:rPr>
              <a:t>view</a:t>
            </a:r>
            <a:r>
              <a:rPr sz="1100" spc="-25" dirty="0">
                <a:latin typeface="Roboto"/>
                <a:cs typeface="Roboto"/>
              </a:rPr>
              <a:t> </a:t>
            </a:r>
            <a:r>
              <a:rPr sz="1100" dirty="0">
                <a:latin typeface="Roboto"/>
                <a:cs typeface="Roboto"/>
              </a:rPr>
              <a:t>of</a:t>
            </a:r>
            <a:r>
              <a:rPr sz="1100" spc="-25" dirty="0">
                <a:latin typeface="Roboto"/>
                <a:cs typeface="Roboto"/>
              </a:rPr>
              <a:t> </a:t>
            </a:r>
            <a:r>
              <a:rPr sz="1100" dirty="0">
                <a:latin typeface="Roboto"/>
                <a:cs typeface="Roboto"/>
              </a:rPr>
              <a:t>operational</a:t>
            </a:r>
            <a:r>
              <a:rPr sz="1100" spc="-25" dirty="0">
                <a:latin typeface="Roboto"/>
                <a:cs typeface="Roboto"/>
              </a:rPr>
              <a:t> </a:t>
            </a:r>
            <a:r>
              <a:rPr sz="1100" dirty="0">
                <a:latin typeface="Roboto"/>
                <a:cs typeface="Roboto"/>
              </a:rPr>
              <a:t>health.</a:t>
            </a:r>
            <a:r>
              <a:rPr sz="1100" spc="-28" dirty="0">
                <a:latin typeface="Roboto"/>
                <a:cs typeface="Roboto"/>
              </a:rPr>
              <a:t> </a:t>
            </a:r>
            <a:r>
              <a:rPr sz="1100" dirty="0">
                <a:latin typeface="Roboto"/>
                <a:cs typeface="Roboto"/>
              </a:rPr>
              <a:t>CloudWatch</a:t>
            </a:r>
            <a:r>
              <a:rPr sz="1100" spc="-25" dirty="0">
                <a:latin typeface="Roboto"/>
                <a:cs typeface="Roboto"/>
              </a:rPr>
              <a:t> </a:t>
            </a:r>
            <a:r>
              <a:rPr sz="1100" dirty="0">
                <a:latin typeface="Roboto"/>
                <a:cs typeface="Roboto"/>
              </a:rPr>
              <a:t>collects</a:t>
            </a:r>
            <a:r>
              <a:rPr sz="1100" spc="-25" dirty="0">
                <a:latin typeface="Roboto"/>
                <a:cs typeface="Roboto"/>
              </a:rPr>
              <a:t> </a:t>
            </a:r>
            <a:r>
              <a:rPr sz="1100" dirty="0">
                <a:latin typeface="Roboto"/>
                <a:cs typeface="Roboto"/>
              </a:rPr>
              <a:t>monitoring</a:t>
            </a:r>
            <a:r>
              <a:rPr sz="1100" spc="-28" dirty="0">
                <a:latin typeface="Roboto"/>
                <a:cs typeface="Roboto"/>
              </a:rPr>
              <a:t> </a:t>
            </a:r>
            <a:r>
              <a:rPr sz="1100" dirty="0">
                <a:latin typeface="Roboto"/>
                <a:cs typeface="Roboto"/>
              </a:rPr>
              <a:t>and</a:t>
            </a:r>
            <a:r>
              <a:rPr sz="1100" spc="-25" dirty="0">
                <a:latin typeface="Roboto"/>
                <a:cs typeface="Roboto"/>
              </a:rPr>
              <a:t> </a:t>
            </a:r>
            <a:r>
              <a:rPr sz="1100" dirty="0">
                <a:latin typeface="Roboto"/>
                <a:cs typeface="Roboto"/>
              </a:rPr>
              <a:t>operational</a:t>
            </a:r>
            <a:r>
              <a:rPr sz="1100" spc="-25" dirty="0">
                <a:latin typeface="Roboto"/>
                <a:cs typeface="Roboto"/>
              </a:rPr>
              <a:t> </a:t>
            </a:r>
            <a:r>
              <a:rPr sz="1100" dirty="0">
                <a:latin typeface="Roboto"/>
                <a:cs typeface="Roboto"/>
              </a:rPr>
              <a:t>data</a:t>
            </a:r>
            <a:r>
              <a:rPr sz="1100" spc="-25" dirty="0">
                <a:latin typeface="Roboto"/>
                <a:cs typeface="Roboto"/>
              </a:rPr>
              <a:t> </a:t>
            </a:r>
            <a:r>
              <a:rPr sz="1100" spc="-13" dirty="0">
                <a:latin typeface="Roboto"/>
                <a:cs typeface="Roboto"/>
              </a:rPr>
              <a:t>in </a:t>
            </a:r>
            <a:r>
              <a:rPr sz="1100" dirty="0">
                <a:latin typeface="Roboto"/>
                <a:cs typeface="Roboto"/>
              </a:rPr>
              <a:t>the</a:t>
            </a:r>
            <a:r>
              <a:rPr sz="1100" spc="-20" dirty="0">
                <a:latin typeface="Roboto"/>
                <a:cs typeface="Roboto"/>
              </a:rPr>
              <a:t> </a:t>
            </a:r>
            <a:r>
              <a:rPr sz="1100" dirty="0">
                <a:latin typeface="Roboto"/>
                <a:cs typeface="Roboto"/>
              </a:rPr>
              <a:t>form</a:t>
            </a:r>
            <a:r>
              <a:rPr sz="1100" spc="-18" dirty="0">
                <a:latin typeface="Roboto"/>
                <a:cs typeface="Roboto"/>
              </a:rPr>
              <a:t> </a:t>
            </a:r>
            <a:r>
              <a:rPr sz="1100" dirty="0">
                <a:latin typeface="Roboto"/>
                <a:cs typeface="Roboto"/>
              </a:rPr>
              <a:t>of</a:t>
            </a:r>
            <a:r>
              <a:rPr sz="1100" spc="-20" dirty="0">
                <a:latin typeface="Roboto"/>
                <a:cs typeface="Roboto"/>
              </a:rPr>
              <a:t> </a:t>
            </a:r>
            <a:r>
              <a:rPr sz="1100" dirty="0">
                <a:latin typeface="Roboto"/>
                <a:cs typeface="Roboto"/>
              </a:rPr>
              <a:t>logs,</a:t>
            </a:r>
            <a:r>
              <a:rPr sz="1100" spc="-18" dirty="0">
                <a:latin typeface="Roboto"/>
                <a:cs typeface="Roboto"/>
              </a:rPr>
              <a:t> </a:t>
            </a:r>
            <a:r>
              <a:rPr sz="1100" dirty="0">
                <a:latin typeface="Roboto"/>
                <a:cs typeface="Roboto"/>
              </a:rPr>
              <a:t>metrics,</a:t>
            </a:r>
            <a:r>
              <a:rPr sz="1100" spc="-20" dirty="0">
                <a:latin typeface="Roboto"/>
                <a:cs typeface="Roboto"/>
              </a:rPr>
              <a:t> </a:t>
            </a:r>
            <a:r>
              <a:rPr sz="1100" dirty="0">
                <a:latin typeface="Roboto"/>
                <a:cs typeface="Roboto"/>
              </a:rPr>
              <a:t>and</a:t>
            </a:r>
            <a:r>
              <a:rPr sz="1100" spc="-18" dirty="0">
                <a:latin typeface="Roboto"/>
                <a:cs typeface="Roboto"/>
              </a:rPr>
              <a:t> </a:t>
            </a:r>
            <a:r>
              <a:rPr sz="1100" dirty="0">
                <a:latin typeface="Roboto"/>
                <a:cs typeface="Roboto"/>
              </a:rPr>
              <a:t>events,</a:t>
            </a:r>
            <a:r>
              <a:rPr sz="1100" spc="-20" dirty="0">
                <a:latin typeface="Roboto"/>
                <a:cs typeface="Roboto"/>
              </a:rPr>
              <a:t> </a:t>
            </a:r>
            <a:r>
              <a:rPr sz="1100" dirty="0">
                <a:latin typeface="Roboto"/>
                <a:cs typeface="Roboto"/>
              </a:rPr>
              <a:t>providing</a:t>
            </a:r>
            <a:r>
              <a:rPr sz="1100" spc="-18" dirty="0">
                <a:latin typeface="Roboto"/>
                <a:cs typeface="Roboto"/>
              </a:rPr>
              <a:t> </a:t>
            </a:r>
            <a:r>
              <a:rPr sz="1100" dirty="0">
                <a:latin typeface="Roboto"/>
                <a:cs typeface="Roboto"/>
              </a:rPr>
              <a:t>you</a:t>
            </a:r>
            <a:r>
              <a:rPr sz="1100" spc="-20" dirty="0">
                <a:latin typeface="Roboto"/>
                <a:cs typeface="Roboto"/>
              </a:rPr>
              <a:t> </a:t>
            </a:r>
            <a:r>
              <a:rPr sz="1100" dirty="0">
                <a:latin typeface="Roboto"/>
                <a:cs typeface="Roboto"/>
              </a:rPr>
              <a:t>with</a:t>
            </a:r>
            <a:r>
              <a:rPr sz="1100" spc="-18" dirty="0">
                <a:latin typeface="Roboto"/>
                <a:cs typeface="Roboto"/>
              </a:rPr>
              <a:t> </a:t>
            </a:r>
            <a:r>
              <a:rPr sz="1100" dirty="0">
                <a:latin typeface="Roboto"/>
                <a:cs typeface="Roboto"/>
              </a:rPr>
              <a:t>a</a:t>
            </a:r>
            <a:r>
              <a:rPr sz="1100" spc="-20" dirty="0">
                <a:latin typeface="Roboto"/>
                <a:cs typeface="Roboto"/>
              </a:rPr>
              <a:t> </a:t>
            </a:r>
            <a:r>
              <a:rPr sz="1100" dirty="0">
                <a:latin typeface="Roboto"/>
                <a:cs typeface="Roboto"/>
              </a:rPr>
              <a:t>unified</a:t>
            </a:r>
            <a:r>
              <a:rPr sz="1100" spc="-18" dirty="0">
                <a:latin typeface="Roboto"/>
                <a:cs typeface="Roboto"/>
              </a:rPr>
              <a:t> </a:t>
            </a:r>
            <a:r>
              <a:rPr sz="1100" dirty="0">
                <a:latin typeface="Roboto"/>
                <a:cs typeface="Roboto"/>
              </a:rPr>
              <a:t>view</a:t>
            </a:r>
            <a:r>
              <a:rPr sz="1100" spc="-20" dirty="0">
                <a:latin typeface="Roboto"/>
                <a:cs typeface="Roboto"/>
              </a:rPr>
              <a:t> </a:t>
            </a:r>
            <a:r>
              <a:rPr sz="1100" dirty="0">
                <a:latin typeface="Roboto"/>
                <a:cs typeface="Roboto"/>
              </a:rPr>
              <a:t>of</a:t>
            </a:r>
            <a:r>
              <a:rPr sz="1100" spc="-18" dirty="0">
                <a:latin typeface="Roboto"/>
                <a:cs typeface="Roboto"/>
              </a:rPr>
              <a:t> </a:t>
            </a:r>
            <a:r>
              <a:rPr sz="1100" dirty="0">
                <a:latin typeface="Roboto"/>
                <a:cs typeface="Roboto"/>
              </a:rPr>
              <a:t>AWS</a:t>
            </a:r>
            <a:r>
              <a:rPr sz="1100" spc="-20" dirty="0">
                <a:latin typeface="Roboto"/>
                <a:cs typeface="Roboto"/>
              </a:rPr>
              <a:t> </a:t>
            </a:r>
            <a:r>
              <a:rPr sz="1100" dirty="0">
                <a:latin typeface="Roboto"/>
                <a:cs typeface="Roboto"/>
              </a:rPr>
              <a:t>resources,</a:t>
            </a:r>
            <a:r>
              <a:rPr sz="1100" spc="-18" dirty="0">
                <a:latin typeface="Roboto"/>
                <a:cs typeface="Roboto"/>
              </a:rPr>
              <a:t> </a:t>
            </a:r>
            <a:r>
              <a:rPr sz="1100" dirty="0">
                <a:latin typeface="Roboto"/>
                <a:cs typeface="Roboto"/>
              </a:rPr>
              <a:t>applications,</a:t>
            </a:r>
            <a:r>
              <a:rPr sz="1100" spc="-20" dirty="0">
                <a:latin typeface="Roboto"/>
                <a:cs typeface="Roboto"/>
              </a:rPr>
              <a:t> </a:t>
            </a:r>
            <a:r>
              <a:rPr sz="1100" dirty="0">
                <a:latin typeface="Roboto"/>
                <a:cs typeface="Roboto"/>
              </a:rPr>
              <a:t>and</a:t>
            </a:r>
            <a:r>
              <a:rPr sz="1100" spc="-18" dirty="0">
                <a:latin typeface="Roboto"/>
                <a:cs typeface="Roboto"/>
              </a:rPr>
              <a:t> </a:t>
            </a:r>
            <a:r>
              <a:rPr sz="1100" dirty="0">
                <a:latin typeface="Roboto"/>
                <a:cs typeface="Roboto"/>
              </a:rPr>
              <a:t>services</a:t>
            </a:r>
            <a:r>
              <a:rPr sz="1100" spc="-20" dirty="0">
                <a:latin typeface="Roboto"/>
                <a:cs typeface="Roboto"/>
              </a:rPr>
              <a:t> </a:t>
            </a:r>
            <a:r>
              <a:rPr sz="1100" dirty="0">
                <a:latin typeface="Roboto"/>
                <a:cs typeface="Roboto"/>
              </a:rPr>
              <a:t>that</a:t>
            </a:r>
            <a:r>
              <a:rPr sz="1100" spc="-18" dirty="0">
                <a:latin typeface="Roboto"/>
                <a:cs typeface="Roboto"/>
              </a:rPr>
              <a:t> </a:t>
            </a:r>
            <a:r>
              <a:rPr sz="1100" dirty="0">
                <a:latin typeface="Roboto"/>
                <a:cs typeface="Roboto"/>
              </a:rPr>
              <a:t>run</a:t>
            </a:r>
            <a:r>
              <a:rPr sz="1100" spc="-20" dirty="0">
                <a:latin typeface="Roboto"/>
                <a:cs typeface="Roboto"/>
              </a:rPr>
              <a:t> </a:t>
            </a:r>
            <a:r>
              <a:rPr sz="1100" dirty="0">
                <a:latin typeface="Roboto"/>
                <a:cs typeface="Roboto"/>
              </a:rPr>
              <a:t>on</a:t>
            </a:r>
            <a:r>
              <a:rPr sz="1100" spc="-18" dirty="0">
                <a:latin typeface="Roboto"/>
                <a:cs typeface="Roboto"/>
              </a:rPr>
              <a:t> </a:t>
            </a:r>
            <a:r>
              <a:rPr sz="1100" dirty="0">
                <a:latin typeface="Roboto"/>
                <a:cs typeface="Roboto"/>
              </a:rPr>
              <a:t>AWS</a:t>
            </a:r>
            <a:r>
              <a:rPr sz="1100" spc="-20" dirty="0">
                <a:latin typeface="Roboto"/>
                <a:cs typeface="Roboto"/>
              </a:rPr>
              <a:t> </a:t>
            </a:r>
            <a:r>
              <a:rPr sz="1100" dirty="0">
                <a:latin typeface="Roboto"/>
                <a:cs typeface="Roboto"/>
              </a:rPr>
              <a:t>and</a:t>
            </a:r>
            <a:r>
              <a:rPr sz="1100" spc="-18" dirty="0">
                <a:latin typeface="Roboto"/>
                <a:cs typeface="Roboto"/>
              </a:rPr>
              <a:t> </a:t>
            </a:r>
            <a:r>
              <a:rPr sz="1100" spc="-13" dirty="0">
                <a:latin typeface="Roboto"/>
                <a:cs typeface="Roboto"/>
              </a:rPr>
              <a:t>on- </a:t>
            </a:r>
            <a:r>
              <a:rPr sz="1100" dirty="0">
                <a:latin typeface="Roboto"/>
                <a:cs typeface="Roboto"/>
              </a:rPr>
              <a:t>premises</a:t>
            </a:r>
            <a:r>
              <a:rPr sz="1100" spc="-25" dirty="0">
                <a:latin typeface="Roboto"/>
                <a:cs typeface="Roboto"/>
              </a:rPr>
              <a:t> </a:t>
            </a:r>
            <a:r>
              <a:rPr sz="1100" dirty="0">
                <a:latin typeface="Roboto"/>
                <a:cs typeface="Roboto"/>
              </a:rPr>
              <a:t>servers.</a:t>
            </a:r>
            <a:r>
              <a:rPr sz="1100" spc="-25" dirty="0">
                <a:latin typeface="Roboto"/>
                <a:cs typeface="Roboto"/>
              </a:rPr>
              <a:t> </a:t>
            </a:r>
            <a:r>
              <a:rPr sz="1100" dirty="0">
                <a:latin typeface="Roboto"/>
                <a:cs typeface="Roboto"/>
              </a:rPr>
              <a:t>You</a:t>
            </a:r>
            <a:r>
              <a:rPr sz="1100" spc="-25" dirty="0">
                <a:latin typeface="Roboto"/>
                <a:cs typeface="Roboto"/>
              </a:rPr>
              <a:t> </a:t>
            </a:r>
            <a:r>
              <a:rPr sz="1100" dirty="0">
                <a:latin typeface="Roboto"/>
                <a:cs typeface="Roboto"/>
              </a:rPr>
              <a:t>can</a:t>
            </a:r>
            <a:r>
              <a:rPr sz="1100" spc="-23" dirty="0">
                <a:latin typeface="Roboto"/>
                <a:cs typeface="Roboto"/>
              </a:rPr>
              <a:t> </a:t>
            </a:r>
            <a:r>
              <a:rPr sz="1100" dirty="0">
                <a:latin typeface="Roboto"/>
                <a:cs typeface="Roboto"/>
              </a:rPr>
              <a:t>use</a:t>
            </a:r>
            <a:r>
              <a:rPr sz="1100" spc="-25" dirty="0">
                <a:latin typeface="Roboto"/>
                <a:cs typeface="Roboto"/>
              </a:rPr>
              <a:t> </a:t>
            </a:r>
            <a:r>
              <a:rPr sz="1100" dirty="0">
                <a:latin typeface="Roboto"/>
                <a:cs typeface="Roboto"/>
              </a:rPr>
              <a:t>CloudWatch</a:t>
            </a:r>
            <a:r>
              <a:rPr sz="1100" spc="-25" dirty="0">
                <a:latin typeface="Roboto"/>
                <a:cs typeface="Roboto"/>
              </a:rPr>
              <a:t> </a:t>
            </a:r>
            <a:r>
              <a:rPr sz="1100" dirty="0">
                <a:latin typeface="Roboto"/>
                <a:cs typeface="Roboto"/>
              </a:rPr>
              <a:t>to</a:t>
            </a:r>
            <a:r>
              <a:rPr sz="1100" spc="-23" dirty="0">
                <a:latin typeface="Roboto"/>
                <a:cs typeface="Roboto"/>
              </a:rPr>
              <a:t> </a:t>
            </a:r>
            <a:r>
              <a:rPr sz="1100" dirty="0">
                <a:latin typeface="Roboto"/>
                <a:cs typeface="Roboto"/>
              </a:rPr>
              <a:t>detect</a:t>
            </a:r>
            <a:r>
              <a:rPr sz="1100" spc="-25" dirty="0">
                <a:latin typeface="Roboto"/>
                <a:cs typeface="Roboto"/>
              </a:rPr>
              <a:t> </a:t>
            </a:r>
            <a:r>
              <a:rPr sz="1100" dirty="0">
                <a:latin typeface="Roboto"/>
                <a:cs typeface="Roboto"/>
              </a:rPr>
              <a:t>anomalous</a:t>
            </a:r>
            <a:r>
              <a:rPr sz="1100" spc="-25" dirty="0">
                <a:latin typeface="Roboto"/>
                <a:cs typeface="Roboto"/>
              </a:rPr>
              <a:t> </a:t>
            </a:r>
            <a:r>
              <a:rPr sz="1100" dirty="0">
                <a:latin typeface="Roboto"/>
                <a:cs typeface="Roboto"/>
              </a:rPr>
              <a:t>behavior</a:t>
            </a:r>
            <a:r>
              <a:rPr sz="1100" spc="-23" dirty="0">
                <a:latin typeface="Roboto"/>
                <a:cs typeface="Roboto"/>
              </a:rPr>
              <a:t> </a:t>
            </a:r>
            <a:r>
              <a:rPr sz="1100" dirty="0">
                <a:latin typeface="Roboto"/>
                <a:cs typeface="Roboto"/>
              </a:rPr>
              <a:t>in</a:t>
            </a:r>
            <a:r>
              <a:rPr sz="1100" spc="-25" dirty="0">
                <a:latin typeface="Roboto"/>
                <a:cs typeface="Roboto"/>
              </a:rPr>
              <a:t> </a:t>
            </a:r>
            <a:r>
              <a:rPr sz="1100" dirty="0">
                <a:latin typeface="Roboto"/>
                <a:cs typeface="Roboto"/>
              </a:rPr>
              <a:t>your</a:t>
            </a:r>
            <a:r>
              <a:rPr sz="1100" spc="-25" dirty="0">
                <a:latin typeface="Roboto"/>
                <a:cs typeface="Roboto"/>
              </a:rPr>
              <a:t> </a:t>
            </a:r>
            <a:r>
              <a:rPr sz="1100" dirty="0">
                <a:latin typeface="Roboto"/>
                <a:cs typeface="Roboto"/>
              </a:rPr>
              <a:t>environments,</a:t>
            </a:r>
            <a:r>
              <a:rPr sz="1100" spc="-23" dirty="0">
                <a:latin typeface="Roboto"/>
                <a:cs typeface="Roboto"/>
              </a:rPr>
              <a:t> </a:t>
            </a:r>
            <a:r>
              <a:rPr sz="1100" dirty="0">
                <a:latin typeface="Roboto"/>
                <a:cs typeface="Roboto"/>
              </a:rPr>
              <a:t>set</a:t>
            </a:r>
            <a:r>
              <a:rPr sz="1100" spc="-25" dirty="0">
                <a:latin typeface="Roboto"/>
                <a:cs typeface="Roboto"/>
              </a:rPr>
              <a:t> </a:t>
            </a:r>
            <a:r>
              <a:rPr sz="1100" dirty="0">
                <a:latin typeface="Roboto"/>
                <a:cs typeface="Roboto"/>
              </a:rPr>
              <a:t>alarms,</a:t>
            </a:r>
            <a:r>
              <a:rPr sz="1100" spc="-25" dirty="0">
                <a:latin typeface="Roboto"/>
                <a:cs typeface="Roboto"/>
              </a:rPr>
              <a:t> </a:t>
            </a:r>
            <a:r>
              <a:rPr sz="1100" dirty="0">
                <a:latin typeface="Roboto"/>
                <a:cs typeface="Roboto"/>
              </a:rPr>
              <a:t>visualize</a:t>
            </a:r>
            <a:r>
              <a:rPr sz="1100" spc="-25" dirty="0">
                <a:latin typeface="Roboto"/>
                <a:cs typeface="Roboto"/>
              </a:rPr>
              <a:t> </a:t>
            </a:r>
            <a:r>
              <a:rPr sz="1100" dirty="0">
                <a:latin typeface="Roboto"/>
                <a:cs typeface="Roboto"/>
              </a:rPr>
              <a:t>logs</a:t>
            </a:r>
            <a:r>
              <a:rPr sz="1100" spc="-23" dirty="0">
                <a:latin typeface="Roboto"/>
                <a:cs typeface="Roboto"/>
              </a:rPr>
              <a:t> </a:t>
            </a:r>
            <a:r>
              <a:rPr sz="1100" dirty="0">
                <a:latin typeface="Roboto"/>
                <a:cs typeface="Roboto"/>
              </a:rPr>
              <a:t>and</a:t>
            </a:r>
            <a:r>
              <a:rPr sz="1100" spc="-25" dirty="0">
                <a:latin typeface="Roboto"/>
                <a:cs typeface="Roboto"/>
              </a:rPr>
              <a:t> </a:t>
            </a:r>
            <a:r>
              <a:rPr sz="1100" dirty="0">
                <a:latin typeface="Roboto"/>
                <a:cs typeface="Roboto"/>
              </a:rPr>
              <a:t>metrics</a:t>
            </a:r>
            <a:r>
              <a:rPr sz="1100" spc="-25" dirty="0">
                <a:latin typeface="Roboto"/>
                <a:cs typeface="Roboto"/>
              </a:rPr>
              <a:t> </a:t>
            </a:r>
            <a:r>
              <a:rPr sz="1100" spc="-10" dirty="0">
                <a:latin typeface="Roboto"/>
                <a:cs typeface="Roboto"/>
              </a:rPr>
              <a:t>side </a:t>
            </a:r>
            <a:r>
              <a:rPr sz="1100" dirty="0">
                <a:latin typeface="Roboto"/>
                <a:cs typeface="Roboto"/>
              </a:rPr>
              <a:t>by</a:t>
            </a:r>
            <a:r>
              <a:rPr sz="1100" spc="-25" dirty="0">
                <a:latin typeface="Roboto"/>
                <a:cs typeface="Roboto"/>
              </a:rPr>
              <a:t> </a:t>
            </a:r>
            <a:r>
              <a:rPr sz="1100" dirty="0">
                <a:latin typeface="Roboto"/>
                <a:cs typeface="Roboto"/>
              </a:rPr>
              <a:t>side,</a:t>
            </a:r>
            <a:r>
              <a:rPr sz="1100" spc="-25" dirty="0">
                <a:latin typeface="Roboto"/>
                <a:cs typeface="Roboto"/>
              </a:rPr>
              <a:t> </a:t>
            </a:r>
            <a:r>
              <a:rPr sz="1100" dirty="0">
                <a:latin typeface="Roboto"/>
                <a:cs typeface="Roboto"/>
              </a:rPr>
              <a:t>take</a:t>
            </a:r>
            <a:r>
              <a:rPr sz="1100" spc="-23" dirty="0">
                <a:latin typeface="Roboto"/>
                <a:cs typeface="Roboto"/>
              </a:rPr>
              <a:t> </a:t>
            </a:r>
            <a:r>
              <a:rPr sz="1100" dirty="0">
                <a:latin typeface="Roboto"/>
                <a:cs typeface="Roboto"/>
              </a:rPr>
              <a:t>automated</a:t>
            </a:r>
            <a:r>
              <a:rPr sz="1100" spc="-25" dirty="0">
                <a:latin typeface="Roboto"/>
                <a:cs typeface="Roboto"/>
              </a:rPr>
              <a:t> </a:t>
            </a:r>
            <a:r>
              <a:rPr sz="1100" dirty="0">
                <a:latin typeface="Roboto"/>
                <a:cs typeface="Roboto"/>
              </a:rPr>
              <a:t>actions,</a:t>
            </a:r>
            <a:r>
              <a:rPr sz="1100" spc="-25" dirty="0">
                <a:latin typeface="Roboto"/>
                <a:cs typeface="Roboto"/>
              </a:rPr>
              <a:t> </a:t>
            </a:r>
            <a:r>
              <a:rPr sz="1100" dirty="0">
                <a:latin typeface="Roboto"/>
                <a:cs typeface="Roboto"/>
              </a:rPr>
              <a:t>troubleshoot</a:t>
            </a:r>
            <a:r>
              <a:rPr sz="1100" spc="-23" dirty="0">
                <a:latin typeface="Roboto"/>
                <a:cs typeface="Roboto"/>
              </a:rPr>
              <a:t> </a:t>
            </a:r>
            <a:r>
              <a:rPr sz="1100" dirty="0">
                <a:latin typeface="Roboto"/>
                <a:cs typeface="Roboto"/>
              </a:rPr>
              <a:t>issues,</a:t>
            </a:r>
            <a:r>
              <a:rPr sz="1100" spc="-25" dirty="0">
                <a:latin typeface="Roboto"/>
                <a:cs typeface="Roboto"/>
              </a:rPr>
              <a:t> </a:t>
            </a:r>
            <a:r>
              <a:rPr sz="1100" dirty="0">
                <a:latin typeface="Roboto"/>
                <a:cs typeface="Roboto"/>
              </a:rPr>
              <a:t>and</a:t>
            </a:r>
            <a:r>
              <a:rPr sz="1100" spc="-25" dirty="0">
                <a:latin typeface="Roboto"/>
                <a:cs typeface="Roboto"/>
              </a:rPr>
              <a:t> </a:t>
            </a:r>
            <a:r>
              <a:rPr sz="1100" dirty="0">
                <a:latin typeface="Roboto"/>
                <a:cs typeface="Roboto"/>
              </a:rPr>
              <a:t>discover</a:t>
            </a:r>
            <a:r>
              <a:rPr sz="1100" spc="-23" dirty="0">
                <a:latin typeface="Roboto"/>
                <a:cs typeface="Roboto"/>
              </a:rPr>
              <a:t> </a:t>
            </a:r>
            <a:r>
              <a:rPr sz="1100" dirty="0">
                <a:latin typeface="Roboto"/>
                <a:cs typeface="Roboto"/>
              </a:rPr>
              <a:t>insights</a:t>
            </a:r>
            <a:r>
              <a:rPr sz="1100" spc="-25" dirty="0">
                <a:latin typeface="Roboto"/>
                <a:cs typeface="Roboto"/>
              </a:rPr>
              <a:t> </a:t>
            </a:r>
            <a:r>
              <a:rPr sz="1100" dirty="0">
                <a:latin typeface="Roboto"/>
                <a:cs typeface="Roboto"/>
              </a:rPr>
              <a:t>to</a:t>
            </a:r>
            <a:r>
              <a:rPr sz="1100" spc="-25" dirty="0">
                <a:latin typeface="Roboto"/>
                <a:cs typeface="Roboto"/>
              </a:rPr>
              <a:t> </a:t>
            </a:r>
            <a:r>
              <a:rPr sz="1100" dirty="0">
                <a:latin typeface="Roboto"/>
                <a:cs typeface="Roboto"/>
              </a:rPr>
              <a:t>keep</a:t>
            </a:r>
            <a:r>
              <a:rPr sz="1100" spc="-23" dirty="0">
                <a:latin typeface="Roboto"/>
                <a:cs typeface="Roboto"/>
              </a:rPr>
              <a:t> </a:t>
            </a:r>
            <a:r>
              <a:rPr sz="1100" dirty="0">
                <a:latin typeface="Roboto"/>
                <a:cs typeface="Roboto"/>
              </a:rPr>
              <a:t>your</a:t>
            </a:r>
            <a:r>
              <a:rPr sz="1100" spc="-25" dirty="0">
                <a:latin typeface="Roboto"/>
                <a:cs typeface="Roboto"/>
              </a:rPr>
              <a:t> </a:t>
            </a:r>
            <a:r>
              <a:rPr sz="1100" spc="-5" dirty="0">
                <a:latin typeface="Roboto"/>
                <a:cs typeface="Roboto"/>
              </a:rPr>
              <a:t>applications</a:t>
            </a:r>
            <a:endParaRPr sz="1100">
              <a:latin typeface="Roboto"/>
              <a:cs typeface="Roboto"/>
            </a:endParaRPr>
          </a:p>
          <a:p>
            <a:pPr marL="83185">
              <a:spcBef>
                <a:spcPts val="217"/>
              </a:spcBef>
            </a:pPr>
            <a:r>
              <a:rPr sz="1100" dirty="0">
                <a:latin typeface="Roboto"/>
                <a:cs typeface="Roboto"/>
              </a:rPr>
              <a:t>running</a:t>
            </a:r>
            <a:r>
              <a:rPr sz="1100" spc="-28" dirty="0">
                <a:latin typeface="Roboto"/>
                <a:cs typeface="Roboto"/>
              </a:rPr>
              <a:t> </a:t>
            </a:r>
            <a:r>
              <a:rPr sz="1100" spc="-5" dirty="0">
                <a:latin typeface="Roboto"/>
                <a:cs typeface="Roboto"/>
              </a:rPr>
              <a:t>smoothly.</a:t>
            </a:r>
            <a:endParaRPr sz="1100">
              <a:latin typeface="Roboto"/>
              <a:cs typeface="Roboto"/>
            </a:endParaRPr>
          </a:p>
          <a:p>
            <a:pPr marR="909638" algn="ctr">
              <a:spcBef>
                <a:spcPts val="38"/>
              </a:spcBef>
            </a:pPr>
            <a:r>
              <a:rPr sz="1200" b="1" dirty="0">
                <a:latin typeface="Open Sans Extrabold"/>
                <a:cs typeface="Open Sans Extrabold"/>
              </a:rPr>
              <a:t>Points to </a:t>
            </a:r>
            <a:r>
              <a:rPr sz="1200" b="1" spc="-5" dirty="0">
                <a:latin typeface="Open Sans Extrabold"/>
                <a:cs typeface="Open Sans Extrabold"/>
              </a:rPr>
              <a:t>focus</a:t>
            </a:r>
            <a:endParaRPr sz="1200">
              <a:latin typeface="Open Sans Extrabold"/>
              <a:cs typeface="Open Sans Extrabold"/>
            </a:endParaRPr>
          </a:p>
          <a:p>
            <a:pPr marL="1183958" marR="365443" indent="-1132205">
              <a:lnSpc>
                <a:spcPct val="116500"/>
              </a:lnSpc>
              <a:spcBef>
                <a:spcPts val="1063"/>
              </a:spcBef>
              <a:tabLst>
                <a:tab pos="1183958" algn="l"/>
                <a:tab pos="6854825" algn="l"/>
              </a:tabLst>
            </a:pPr>
            <a:r>
              <a:rPr sz="1100" b="1" dirty="0">
                <a:latin typeface="Roboto"/>
                <a:cs typeface="Roboto"/>
              </a:rPr>
              <a:t>Key</a:t>
            </a:r>
            <a:r>
              <a:rPr sz="1100" b="1" spc="-15" dirty="0">
                <a:latin typeface="Roboto"/>
                <a:cs typeface="Roboto"/>
              </a:rPr>
              <a:t> </a:t>
            </a:r>
            <a:r>
              <a:rPr sz="1100" b="1" spc="-5" dirty="0">
                <a:latin typeface="Roboto"/>
                <a:cs typeface="Roboto"/>
              </a:rPr>
              <a:t>components</a:t>
            </a:r>
            <a:r>
              <a:rPr sz="1100" b="1" dirty="0">
                <a:latin typeface="Roboto"/>
                <a:cs typeface="Roboto"/>
              </a:rPr>
              <a:t>	</a:t>
            </a:r>
            <a:r>
              <a:rPr sz="1100" dirty="0">
                <a:latin typeface="Roboto"/>
                <a:cs typeface="Roboto"/>
              </a:rPr>
              <a:t>Namespaces,</a:t>
            </a:r>
            <a:r>
              <a:rPr sz="1100" spc="-45" dirty="0">
                <a:latin typeface="Roboto"/>
                <a:cs typeface="Roboto"/>
              </a:rPr>
              <a:t> </a:t>
            </a:r>
            <a:r>
              <a:rPr sz="1100" dirty="0">
                <a:latin typeface="Roboto"/>
                <a:cs typeface="Roboto"/>
              </a:rPr>
              <a:t>Metrics,</a:t>
            </a:r>
            <a:r>
              <a:rPr sz="1100" spc="-45" dirty="0">
                <a:latin typeface="Roboto"/>
                <a:cs typeface="Roboto"/>
              </a:rPr>
              <a:t> </a:t>
            </a:r>
            <a:r>
              <a:rPr sz="1100" dirty="0">
                <a:latin typeface="Roboto"/>
                <a:cs typeface="Roboto"/>
              </a:rPr>
              <a:t>Dimensions,</a:t>
            </a:r>
            <a:r>
              <a:rPr sz="1100" spc="-43" dirty="0">
                <a:latin typeface="Roboto"/>
                <a:cs typeface="Roboto"/>
              </a:rPr>
              <a:t> </a:t>
            </a:r>
            <a:r>
              <a:rPr sz="1100" dirty="0">
                <a:latin typeface="Roboto"/>
                <a:cs typeface="Roboto"/>
              </a:rPr>
              <a:t>Statistics,</a:t>
            </a:r>
            <a:r>
              <a:rPr sz="1100" spc="-45" dirty="0">
                <a:latin typeface="Roboto"/>
                <a:cs typeface="Roboto"/>
              </a:rPr>
              <a:t> </a:t>
            </a:r>
            <a:r>
              <a:rPr sz="1100" dirty="0">
                <a:latin typeface="Roboto"/>
                <a:cs typeface="Roboto"/>
              </a:rPr>
              <a:t>Percentiles,</a:t>
            </a:r>
            <a:r>
              <a:rPr sz="1100" spc="-45" dirty="0">
                <a:latin typeface="Roboto"/>
                <a:cs typeface="Roboto"/>
              </a:rPr>
              <a:t> </a:t>
            </a:r>
            <a:r>
              <a:rPr sz="1100" dirty="0">
                <a:latin typeface="Roboto"/>
                <a:cs typeface="Roboto"/>
              </a:rPr>
              <a:t>Alarms,</a:t>
            </a:r>
            <a:r>
              <a:rPr sz="1100" spc="-43" dirty="0">
                <a:latin typeface="Roboto"/>
                <a:cs typeface="Roboto"/>
              </a:rPr>
              <a:t> </a:t>
            </a:r>
            <a:r>
              <a:rPr sz="1100" dirty="0">
                <a:latin typeface="Roboto"/>
                <a:cs typeface="Roboto"/>
              </a:rPr>
              <a:t>CloudWatch</a:t>
            </a:r>
            <a:r>
              <a:rPr sz="1100" spc="-45" dirty="0">
                <a:latin typeface="Roboto"/>
                <a:cs typeface="Roboto"/>
              </a:rPr>
              <a:t> </a:t>
            </a:r>
            <a:r>
              <a:rPr sz="1100" spc="-5" dirty="0">
                <a:latin typeface="Roboto"/>
                <a:cs typeface="Roboto"/>
              </a:rPr>
              <a:t>Dashboard,</a:t>
            </a:r>
            <a:r>
              <a:rPr sz="1100" dirty="0">
                <a:latin typeface="Roboto"/>
                <a:cs typeface="Roboto"/>
              </a:rPr>
              <a:t>	Events,</a:t>
            </a:r>
            <a:r>
              <a:rPr sz="1100" spc="-25" dirty="0">
                <a:latin typeface="Roboto"/>
                <a:cs typeface="Roboto"/>
              </a:rPr>
              <a:t> </a:t>
            </a:r>
            <a:r>
              <a:rPr sz="1100" dirty="0">
                <a:latin typeface="Roboto"/>
                <a:cs typeface="Roboto"/>
              </a:rPr>
              <a:t>Logs,</a:t>
            </a:r>
            <a:r>
              <a:rPr sz="1100" spc="-25" dirty="0">
                <a:latin typeface="Roboto"/>
                <a:cs typeface="Roboto"/>
              </a:rPr>
              <a:t> </a:t>
            </a:r>
            <a:r>
              <a:rPr sz="1100" dirty="0">
                <a:latin typeface="Roboto"/>
                <a:cs typeface="Roboto"/>
              </a:rPr>
              <a:t>log</a:t>
            </a:r>
            <a:r>
              <a:rPr sz="1100" spc="-25" dirty="0">
                <a:latin typeface="Roboto"/>
                <a:cs typeface="Roboto"/>
              </a:rPr>
              <a:t> </a:t>
            </a:r>
            <a:r>
              <a:rPr sz="1100" spc="-5" dirty="0">
                <a:latin typeface="Roboto"/>
                <a:cs typeface="Roboto"/>
              </a:rPr>
              <a:t>insights, </a:t>
            </a:r>
            <a:r>
              <a:rPr sz="1100" dirty="0">
                <a:latin typeface="Roboto"/>
                <a:cs typeface="Roboto"/>
              </a:rPr>
              <a:t>Cloudwatch</a:t>
            </a:r>
            <a:r>
              <a:rPr sz="1100" spc="-43" dirty="0">
                <a:latin typeface="Roboto"/>
                <a:cs typeface="Roboto"/>
              </a:rPr>
              <a:t> </a:t>
            </a:r>
            <a:r>
              <a:rPr sz="1100" spc="-5" dirty="0">
                <a:latin typeface="Roboto"/>
                <a:cs typeface="Roboto"/>
              </a:rPr>
              <a:t>Agent,</a:t>
            </a:r>
            <a:endParaRPr sz="1100">
              <a:latin typeface="Roboto"/>
              <a:cs typeface="Roboto"/>
            </a:endParaRPr>
          </a:p>
          <a:p>
            <a:pPr>
              <a:spcBef>
                <a:spcPts val="288"/>
              </a:spcBef>
            </a:pPr>
            <a:endParaRPr sz="1100">
              <a:latin typeface="Roboto"/>
              <a:cs typeface="Roboto"/>
            </a:endParaRPr>
          </a:p>
          <a:p>
            <a:pPr marL="1183958" marR="12383" indent="-527685">
              <a:lnSpc>
                <a:spcPct val="116500"/>
              </a:lnSpc>
              <a:tabLst>
                <a:tab pos="1183958" algn="l"/>
                <a:tab pos="8769350" algn="l"/>
              </a:tabLst>
            </a:pPr>
            <a:r>
              <a:rPr sz="1100" b="1" spc="-5" dirty="0">
                <a:latin typeface="Roboto"/>
                <a:cs typeface="Roboto"/>
              </a:rPr>
              <a:t>Pricing</a:t>
            </a:r>
            <a:r>
              <a:rPr sz="1100" b="1" dirty="0">
                <a:latin typeface="Roboto"/>
                <a:cs typeface="Roboto"/>
              </a:rPr>
              <a:t>	</a:t>
            </a:r>
            <a:r>
              <a:rPr sz="1100" dirty="0">
                <a:latin typeface="Roboto"/>
                <a:cs typeface="Roboto"/>
              </a:rPr>
              <a:t>charged</a:t>
            </a:r>
            <a:r>
              <a:rPr sz="1100" spc="-23" dirty="0">
                <a:latin typeface="Roboto"/>
                <a:cs typeface="Roboto"/>
              </a:rPr>
              <a:t> </a:t>
            </a:r>
            <a:r>
              <a:rPr sz="1100" dirty="0">
                <a:latin typeface="Roboto"/>
                <a:cs typeface="Roboto"/>
              </a:rPr>
              <a:t>for</a:t>
            </a:r>
            <a:r>
              <a:rPr sz="1100" spc="-23" dirty="0">
                <a:latin typeface="Roboto"/>
                <a:cs typeface="Roboto"/>
              </a:rPr>
              <a:t> </a:t>
            </a:r>
            <a:r>
              <a:rPr sz="1100" dirty="0">
                <a:latin typeface="Roboto"/>
                <a:cs typeface="Roboto"/>
              </a:rPr>
              <a:t>the</a:t>
            </a:r>
            <a:r>
              <a:rPr sz="1100" spc="-23" dirty="0">
                <a:latin typeface="Roboto"/>
                <a:cs typeface="Roboto"/>
              </a:rPr>
              <a:t> </a:t>
            </a:r>
            <a:r>
              <a:rPr sz="1100" dirty="0">
                <a:latin typeface="Roboto"/>
                <a:cs typeface="Roboto"/>
              </a:rPr>
              <a:t>number</a:t>
            </a:r>
            <a:r>
              <a:rPr sz="1100" spc="-23" dirty="0">
                <a:latin typeface="Roboto"/>
                <a:cs typeface="Roboto"/>
              </a:rPr>
              <a:t> </a:t>
            </a:r>
            <a:r>
              <a:rPr sz="1100" dirty="0">
                <a:latin typeface="Roboto"/>
                <a:cs typeface="Roboto"/>
              </a:rPr>
              <a:t>of</a:t>
            </a:r>
            <a:r>
              <a:rPr sz="1100" spc="-23" dirty="0">
                <a:latin typeface="Roboto"/>
                <a:cs typeface="Roboto"/>
              </a:rPr>
              <a:t> </a:t>
            </a:r>
            <a:r>
              <a:rPr sz="1100" dirty="0">
                <a:latin typeface="Roboto"/>
                <a:cs typeface="Roboto"/>
              </a:rPr>
              <a:t>metrics</a:t>
            </a:r>
            <a:r>
              <a:rPr sz="1100" spc="-23" dirty="0">
                <a:latin typeface="Roboto"/>
                <a:cs typeface="Roboto"/>
              </a:rPr>
              <a:t> </a:t>
            </a:r>
            <a:r>
              <a:rPr sz="1100" dirty="0">
                <a:latin typeface="Roboto"/>
                <a:cs typeface="Roboto"/>
              </a:rPr>
              <a:t>you</a:t>
            </a:r>
            <a:r>
              <a:rPr sz="1100" spc="-23" dirty="0">
                <a:latin typeface="Roboto"/>
                <a:cs typeface="Roboto"/>
              </a:rPr>
              <a:t> </a:t>
            </a:r>
            <a:r>
              <a:rPr sz="1100" dirty="0">
                <a:latin typeface="Roboto"/>
                <a:cs typeface="Roboto"/>
              </a:rPr>
              <a:t>have</a:t>
            </a:r>
            <a:r>
              <a:rPr sz="1100" spc="-23" dirty="0">
                <a:latin typeface="Roboto"/>
                <a:cs typeface="Roboto"/>
              </a:rPr>
              <a:t> </a:t>
            </a:r>
            <a:r>
              <a:rPr sz="1100" dirty="0">
                <a:latin typeface="Roboto"/>
                <a:cs typeface="Roboto"/>
              </a:rPr>
              <a:t>per</a:t>
            </a:r>
            <a:r>
              <a:rPr sz="1100" spc="-23" dirty="0">
                <a:latin typeface="Roboto"/>
                <a:cs typeface="Roboto"/>
              </a:rPr>
              <a:t> </a:t>
            </a:r>
            <a:r>
              <a:rPr sz="1100" dirty="0">
                <a:latin typeface="Roboto"/>
                <a:cs typeface="Roboto"/>
              </a:rPr>
              <a:t>month,</a:t>
            </a:r>
            <a:r>
              <a:rPr sz="1100" spc="-23" dirty="0">
                <a:latin typeface="Roboto"/>
                <a:cs typeface="Roboto"/>
              </a:rPr>
              <a:t> </a:t>
            </a:r>
            <a:r>
              <a:rPr sz="1100" dirty="0">
                <a:latin typeface="Roboto"/>
                <a:cs typeface="Roboto"/>
              </a:rPr>
              <a:t>charged</a:t>
            </a:r>
            <a:r>
              <a:rPr sz="1100" spc="-23" dirty="0">
                <a:latin typeface="Roboto"/>
                <a:cs typeface="Roboto"/>
              </a:rPr>
              <a:t> </a:t>
            </a:r>
            <a:r>
              <a:rPr sz="1100" dirty="0">
                <a:latin typeface="Roboto"/>
                <a:cs typeface="Roboto"/>
              </a:rPr>
              <a:t>per</a:t>
            </a:r>
            <a:r>
              <a:rPr sz="1100" spc="-20" dirty="0">
                <a:latin typeface="Roboto"/>
                <a:cs typeface="Roboto"/>
              </a:rPr>
              <a:t> </a:t>
            </a:r>
            <a:r>
              <a:rPr sz="1100" dirty="0">
                <a:latin typeface="Roboto"/>
                <a:cs typeface="Roboto"/>
              </a:rPr>
              <a:t>1000</a:t>
            </a:r>
            <a:r>
              <a:rPr sz="1100" spc="-23" dirty="0">
                <a:latin typeface="Roboto"/>
                <a:cs typeface="Roboto"/>
              </a:rPr>
              <a:t> </a:t>
            </a:r>
            <a:r>
              <a:rPr sz="1100" dirty="0">
                <a:latin typeface="Roboto"/>
                <a:cs typeface="Roboto"/>
              </a:rPr>
              <a:t>metrics</a:t>
            </a:r>
            <a:r>
              <a:rPr sz="1100" spc="-23" dirty="0">
                <a:latin typeface="Roboto"/>
                <a:cs typeface="Roboto"/>
              </a:rPr>
              <a:t> </a:t>
            </a:r>
            <a:r>
              <a:rPr sz="1100" dirty="0">
                <a:latin typeface="Roboto"/>
                <a:cs typeface="Roboto"/>
              </a:rPr>
              <a:t>requested</a:t>
            </a:r>
            <a:r>
              <a:rPr sz="1100" spc="-23" dirty="0">
                <a:latin typeface="Roboto"/>
                <a:cs typeface="Roboto"/>
              </a:rPr>
              <a:t> </a:t>
            </a:r>
            <a:r>
              <a:rPr sz="1100" dirty="0">
                <a:latin typeface="Roboto"/>
                <a:cs typeface="Roboto"/>
              </a:rPr>
              <a:t>using</a:t>
            </a:r>
            <a:r>
              <a:rPr sz="1100" spc="-23" dirty="0">
                <a:latin typeface="Roboto"/>
                <a:cs typeface="Roboto"/>
              </a:rPr>
              <a:t> </a:t>
            </a:r>
            <a:r>
              <a:rPr sz="1100" dirty="0">
                <a:latin typeface="Roboto"/>
                <a:cs typeface="Roboto"/>
              </a:rPr>
              <a:t>CloudWatch</a:t>
            </a:r>
            <a:r>
              <a:rPr sz="1100" spc="-23" dirty="0">
                <a:latin typeface="Roboto"/>
                <a:cs typeface="Roboto"/>
              </a:rPr>
              <a:t> </a:t>
            </a:r>
            <a:r>
              <a:rPr sz="1100" dirty="0">
                <a:latin typeface="Roboto"/>
                <a:cs typeface="Roboto"/>
              </a:rPr>
              <a:t>API</a:t>
            </a:r>
            <a:r>
              <a:rPr sz="1100" spc="-23" dirty="0">
                <a:latin typeface="Roboto"/>
                <a:cs typeface="Roboto"/>
              </a:rPr>
              <a:t> </a:t>
            </a:r>
            <a:r>
              <a:rPr sz="1100" spc="-5" dirty="0">
                <a:latin typeface="Roboto"/>
                <a:cs typeface="Roboto"/>
              </a:rPr>
              <a:t>calls, </a:t>
            </a:r>
            <a:r>
              <a:rPr sz="1100" dirty="0">
                <a:latin typeface="Roboto"/>
                <a:cs typeface="Roboto"/>
              </a:rPr>
              <a:t>charged</a:t>
            </a:r>
            <a:r>
              <a:rPr sz="1100" spc="-25" dirty="0">
                <a:latin typeface="Roboto"/>
                <a:cs typeface="Roboto"/>
              </a:rPr>
              <a:t> </a:t>
            </a:r>
            <a:r>
              <a:rPr sz="1100" dirty="0">
                <a:latin typeface="Roboto"/>
                <a:cs typeface="Roboto"/>
              </a:rPr>
              <a:t>per</a:t>
            </a:r>
            <a:r>
              <a:rPr sz="1100" spc="-25" dirty="0">
                <a:latin typeface="Roboto"/>
                <a:cs typeface="Roboto"/>
              </a:rPr>
              <a:t> </a:t>
            </a:r>
            <a:r>
              <a:rPr sz="1100" dirty="0">
                <a:latin typeface="Roboto"/>
                <a:cs typeface="Roboto"/>
              </a:rPr>
              <a:t>dashboard</a:t>
            </a:r>
            <a:r>
              <a:rPr sz="1100" spc="-25" dirty="0">
                <a:latin typeface="Roboto"/>
                <a:cs typeface="Roboto"/>
              </a:rPr>
              <a:t> </a:t>
            </a:r>
            <a:r>
              <a:rPr sz="1100" dirty="0">
                <a:latin typeface="Roboto"/>
                <a:cs typeface="Roboto"/>
              </a:rPr>
              <a:t>per</a:t>
            </a:r>
            <a:r>
              <a:rPr sz="1100" spc="-25" dirty="0">
                <a:latin typeface="Roboto"/>
                <a:cs typeface="Roboto"/>
              </a:rPr>
              <a:t> </a:t>
            </a:r>
            <a:r>
              <a:rPr sz="1100" dirty="0">
                <a:latin typeface="Roboto"/>
                <a:cs typeface="Roboto"/>
              </a:rPr>
              <a:t>month,</a:t>
            </a:r>
            <a:r>
              <a:rPr sz="1100" spc="-25" dirty="0">
                <a:latin typeface="Roboto"/>
                <a:cs typeface="Roboto"/>
              </a:rPr>
              <a:t> </a:t>
            </a:r>
            <a:r>
              <a:rPr sz="1100" dirty="0">
                <a:latin typeface="Roboto"/>
                <a:cs typeface="Roboto"/>
              </a:rPr>
              <a:t>charged</a:t>
            </a:r>
            <a:r>
              <a:rPr sz="1100" spc="-25" dirty="0">
                <a:latin typeface="Roboto"/>
                <a:cs typeface="Roboto"/>
              </a:rPr>
              <a:t> </a:t>
            </a:r>
            <a:r>
              <a:rPr sz="1100" dirty="0">
                <a:latin typeface="Roboto"/>
                <a:cs typeface="Roboto"/>
              </a:rPr>
              <a:t>per</a:t>
            </a:r>
            <a:r>
              <a:rPr sz="1100" spc="-25" dirty="0">
                <a:latin typeface="Roboto"/>
                <a:cs typeface="Roboto"/>
              </a:rPr>
              <a:t> </a:t>
            </a:r>
            <a:r>
              <a:rPr sz="1100" dirty="0">
                <a:latin typeface="Roboto"/>
                <a:cs typeface="Roboto"/>
              </a:rPr>
              <a:t>alarm</a:t>
            </a:r>
            <a:r>
              <a:rPr sz="1100" spc="-25" dirty="0">
                <a:latin typeface="Roboto"/>
                <a:cs typeface="Roboto"/>
              </a:rPr>
              <a:t> </a:t>
            </a:r>
            <a:r>
              <a:rPr sz="1100" dirty="0">
                <a:latin typeface="Roboto"/>
                <a:cs typeface="Roboto"/>
              </a:rPr>
              <a:t>metric,</a:t>
            </a:r>
            <a:r>
              <a:rPr sz="1100" spc="-25" dirty="0">
                <a:latin typeface="Roboto"/>
                <a:cs typeface="Roboto"/>
              </a:rPr>
              <a:t> </a:t>
            </a:r>
            <a:r>
              <a:rPr sz="1100" dirty="0">
                <a:latin typeface="Roboto"/>
                <a:cs typeface="Roboto"/>
              </a:rPr>
              <a:t>charged</a:t>
            </a:r>
            <a:r>
              <a:rPr sz="1100" spc="-25" dirty="0">
                <a:latin typeface="Roboto"/>
                <a:cs typeface="Roboto"/>
              </a:rPr>
              <a:t> </a:t>
            </a:r>
            <a:r>
              <a:rPr sz="1100" dirty="0">
                <a:latin typeface="Roboto"/>
                <a:cs typeface="Roboto"/>
              </a:rPr>
              <a:t>per</a:t>
            </a:r>
            <a:r>
              <a:rPr sz="1100" spc="-25" dirty="0">
                <a:latin typeface="Roboto"/>
                <a:cs typeface="Roboto"/>
              </a:rPr>
              <a:t> </a:t>
            </a:r>
            <a:r>
              <a:rPr sz="1100" dirty="0">
                <a:latin typeface="Roboto"/>
                <a:cs typeface="Roboto"/>
              </a:rPr>
              <a:t>GB</a:t>
            </a:r>
            <a:r>
              <a:rPr sz="1100" spc="-25" dirty="0">
                <a:latin typeface="Roboto"/>
                <a:cs typeface="Roboto"/>
              </a:rPr>
              <a:t> </a:t>
            </a:r>
            <a:r>
              <a:rPr sz="1100" dirty="0">
                <a:latin typeface="Roboto"/>
                <a:cs typeface="Roboto"/>
              </a:rPr>
              <a:t>of</a:t>
            </a:r>
            <a:r>
              <a:rPr sz="1100" spc="-25" dirty="0">
                <a:latin typeface="Roboto"/>
                <a:cs typeface="Roboto"/>
              </a:rPr>
              <a:t> </a:t>
            </a:r>
            <a:r>
              <a:rPr sz="1100" dirty="0">
                <a:latin typeface="Roboto"/>
                <a:cs typeface="Roboto"/>
              </a:rPr>
              <a:t>collected,</a:t>
            </a:r>
            <a:r>
              <a:rPr sz="1100" spc="-25" dirty="0">
                <a:latin typeface="Roboto"/>
                <a:cs typeface="Roboto"/>
              </a:rPr>
              <a:t> </a:t>
            </a:r>
            <a:r>
              <a:rPr sz="1100" dirty="0">
                <a:latin typeface="Roboto"/>
                <a:cs typeface="Roboto"/>
              </a:rPr>
              <a:t>archived</a:t>
            </a:r>
            <a:r>
              <a:rPr sz="1100" spc="-25" dirty="0">
                <a:latin typeface="Roboto"/>
                <a:cs typeface="Roboto"/>
              </a:rPr>
              <a:t> </a:t>
            </a:r>
            <a:r>
              <a:rPr sz="1100" dirty="0">
                <a:latin typeface="Roboto"/>
                <a:cs typeface="Roboto"/>
              </a:rPr>
              <a:t>and</a:t>
            </a:r>
            <a:r>
              <a:rPr sz="1100" spc="-25" dirty="0">
                <a:latin typeface="Roboto"/>
                <a:cs typeface="Roboto"/>
              </a:rPr>
              <a:t> </a:t>
            </a:r>
            <a:r>
              <a:rPr sz="1100" dirty="0">
                <a:latin typeface="Roboto"/>
                <a:cs typeface="Roboto"/>
              </a:rPr>
              <a:t>analyzed</a:t>
            </a:r>
            <a:r>
              <a:rPr sz="1100" spc="-25" dirty="0">
                <a:latin typeface="Roboto"/>
                <a:cs typeface="Roboto"/>
              </a:rPr>
              <a:t> </a:t>
            </a:r>
            <a:r>
              <a:rPr sz="1100" dirty="0">
                <a:latin typeface="Roboto"/>
                <a:cs typeface="Roboto"/>
              </a:rPr>
              <a:t>log</a:t>
            </a:r>
            <a:r>
              <a:rPr sz="1100" spc="-25" dirty="0">
                <a:latin typeface="Roboto"/>
                <a:cs typeface="Roboto"/>
              </a:rPr>
              <a:t> </a:t>
            </a:r>
            <a:r>
              <a:rPr sz="1100" spc="-10" dirty="0">
                <a:latin typeface="Roboto"/>
                <a:cs typeface="Roboto"/>
              </a:rPr>
              <a:t>data,</a:t>
            </a:r>
            <a:r>
              <a:rPr sz="1100" dirty="0">
                <a:latin typeface="Roboto"/>
                <a:cs typeface="Roboto"/>
              </a:rPr>
              <a:t>	</a:t>
            </a:r>
            <a:r>
              <a:rPr sz="1100" spc="-25" dirty="0">
                <a:latin typeface="Roboto"/>
                <a:cs typeface="Roboto"/>
              </a:rPr>
              <a:t>, </a:t>
            </a:r>
            <a:r>
              <a:rPr sz="1100" dirty="0">
                <a:latin typeface="Roboto"/>
                <a:cs typeface="Roboto"/>
              </a:rPr>
              <a:t>charged</a:t>
            </a:r>
            <a:r>
              <a:rPr sz="1100" spc="-20" dirty="0">
                <a:latin typeface="Roboto"/>
                <a:cs typeface="Roboto"/>
              </a:rPr>
              <a:t> </a:t>
            </a:r>
            <a:r>
              <a:rPr sz="1100" dirty="0">
                <a:latin typeface="Roboto"/>
                <a:cs typeface="Roboto"/>
              </a:rPr>
              <a:t>per</a:t>
            </a:r>
            <a:r>
              <a:rPr sz="1100" spc="-20" dirty="0">
                <a:latin typeface="Roboto"/>
                <a:cs typeface="Roboto"/>
              </a:rPr>
              <a:t> </a:t>
            </a:r>
            <a:r>
              <a:rPr sz="1100" dirty="0">
                <a:latin typeface="Roboto"/>
                <a:cs typeface="Roboto"/>
              </a:rPr>
              <a:t>million</a:t>
            </a:r>
            <a:r>
              <a:rPr sz="1100" spc="-20" dirty="0">
                <a:latin typeface="Roboto"/>
                <a:cs typeface="Roboto"/>
              </a:rPr>
              <a:t> </a:t>
            </a:r>
            <a:r>
              <a:rPr sz="1100" dirty="0">
                <a:latin typeface="Roboto"/>
                <a:cs typeface="Roboto"/>
              </a:rPr>
              <a:t>custom</a:t>
            </a:r>
            <a:r>
              <a:rPr sz="1100" spc="-20" dirty="0">
                <a:latin typeface="Roboto"/>
                <a:cs typeface="Roboto"/>
              </a:rPr>
              <a:t> </a:t>
            </a:r>
            <a:r>
              <a:rPr sz="1100" dirty="0">
                <a:latin typeface="Roboto"/>
                <a:cs typeface="Roboto"/>
              </a:rPr>
              <a:t>events</a:t>
            </a:r>
            <a:r>
              <a:rPr sz="1100" spc="-20" dirty="0">
                <a:latin typeface="Roboto"/>
                <a:cs typeface="Roboto"/>
              </a:rPr>
              <a:t> </a:t>
            </a:r>
            <a:r>
              <a:rPr sz="1100" dirty="0">
                <a:latin typeface="Roboto"/>
                <a:cs typeface="Roboto"/>
              </a:rPr>
              <a:t>and</a:t>
            </a:r>
            <a:r>
              <a:rPr sz="1100" spc="-20" dirty="0">
                <a:latin typeface="Roboto"/>
                <a:cs typeface="Roboto"/>
              </a:rPr>
              <a:t> </a:t>
            </a:r>
            <a:r>
              <a:rPr sz="1100" dirty="0">
                <a:latin typeface="Roboto"/>
                <a:cs typeface="Roboto"/>
              </a:rPr>
              <a:t>per</a:t>
            </a:r>
            <a:r>
              <a:rPr sz="1100" spc="-18" dirty="0">
                <a:latin typeface="Roboto"/>
                <a:cs typeface="Roboto"/>
              </a:rPr>
              <a:t> </a:t>
            </a:r>
            <a:r>
              <a:rPr sz="1100" dirty="0">
                <a:latin typeface="Roboto"/>
                <a:cs typeface="Roboto"/>
              </a:rPr>
              <a:t>million</a:t>
            </a:r>
            <a:r>
              <a:rPr sz="1100" spc="-20" dirty="0">
                <a:latin typeface="Roboto"/>
                <a:cs typeface="Roboto"/>
              </a:rPr>
              <a:t> </a:t>
            </a:r>
            <a:r>
              <a:rPr sz="1100" spc="-5" dirty="0">
                <a:latin typeface="Roboto"/>
                <a:cs typeface="Roboto"/>
              </a:rPr>
              <a:t>cross-</a:t>
            </a:r>
            <a:r>
              <a:rPr sz="1100" dirty="0">
                <a:latin typeface="Roboto"/>
                <a:cs typeface="Roboto"/>
              </a:rPr>
              <a:t>account</a:t>
            </a:r>
            <a:r>
              <a:rPr sz="1100" spc="-20" dirty="0">
                <a:latin typeface="Roboto"/>
                <a:cs typeface="Roboto"/>
              </a:rPr>
              <a:t> </a:t>
            </a:r>
            <a:r>
              <a:rPr sz="1100" dirty="0">
                <a:latin typeface="Roboto"/>
                <a:cs typeface="Roboto"/>
              </a:rPr>
              <a:t>events</a:t>
            </a:r>
            <a:r>
              <a:rPr sz="1100" spc="-20" dirty="0">
                <a:latin typeface="Roboto"/>
                <a:cs typeface="Roboto"/>
              </a:rPr>
              <a:t> </a:t>
            </a:r>
            <a:r>
              <a:rPr sz="1100" dirty="0">
                <a:latin typeface="Roboto"/>
                <a:cs typeface="Roboto"/>
              </a:rPr>
              <a:t>,</a:t>
            </a:r>
            <a:r>
              <a:rPr sz="1100" spc="-20" dirty="0">
                <a:latin typeface="Roboto"/>
                <a:cs typeface="Roboto"/>
              </a:rPr>
              <a:t> </a:t>
            </a:r>
            <a:r>
              <a:rPr sz="1100" dirty="0">
                <a:latin typeface="Roboto"/>
                <a:cs typeface="Roboto"/>
              </a:rPr>
              <a:t>Logs</a:t>
            </a:r>
            <a:r>
              <a:rPr sz="1100" spc="-20" dirty="0">
                <a:latin typeface="Roboto"/>
                <a:cs typeface="Roboto"/>
              </a:rPr>
              <a:t> </a:t>
            </a:r>
            <a:r>
              <a:rPr sz="1100" dirty="0">
                <a:latin typeface="Roboto"/>
                <a:cs typeface="Roboto"/>
              </a:rPr>
              <a:t>Insights</a:t>
            </a:r>
            <a:r>
              <a:rPr sz="1100" spc="-18" dirty="0">
                <a:latin typeface="Roboto"/>
                <a:cs typeface="Roboto"/>
              </a:rPr>
              <a:t> </a:t>
            </a:r>
            <a:r>
              <a:rPr sz="1100" dirty="0">
                <a:latin typeface="Roboto"/>
                <a:cs typeface="Roboto"/>
              </a:rPr>
              <a:t>is</a:t>
            </a:r>
            <a:r>
              <a:rPr sz="1100" spc="-20" dirty="0">
                <a:latin typeface="Roboto"/>
                <a:cs typeface="Roboto"/>
              </a:rPr>
              <a:t> </a:t>
            </a:r>
            <a:r>
              <a:rPr sz="1100" dirty="0">
                <a:latin typeface="Roboto"/>
                <a:cs typeface="Roboto"/>
              </a:rPr>
              <a:t>priced</a:t>
            </a:r>
            <a:r>
              <a:rPr sz="1100" spc="-20" dirty="0">
                <a:latin typeface="Roboto"/>
                <a:cs typeface="Roboto"/>
              </a:rPr>
              <a:t> </a:t>
            </a:r>
            <a:r>
              <a:rPr sz="1100" dirty="0">
                <a:latin typeface="Roboto"/>
                <a:cs typeface="Roboto"/>
              </a:rPr>
              <a:t>per</a:t>
            </a:r>
            <a:r>
              <a:rPr sz="1100" spc="-20" dirty="0">
                <a:latin typeface="Roboto"/>
                <a:cs typeface="Roboto"/>
              </a:rPr>
              <a:t> </a:t>
            </a:r>
            <a:r>
              <a:rPr sz="1100" dirty="0">
                <a:latin typeface="Roboto"/>
                <a:cs typeface="Roboto"/>
              </a:rPr>
              <a:t>query</a:t>
            </a:r>
            <a:r>
              <a:rPr sz="1100" spc="-20" dirty="0">
                <a:latin typeface="Roboto"/>
                <a:cs typeface="Roboto"/>
              </a:rPr>
              <a:t> </a:t>
            </a:r>
            <a:r>
              <a:rPr sz="1100" dirty="0">
                <a:latin typeface="Roboto"/>
                <a:cs typeface="Roboto"/>
              </a:rPr>
              <a:t>and</a:t>
            </a:r>
            <a:r>
              <a:rPr sz="1100" spc="-20" dirty="0">
                <a:latin typeface="Roboto"/>
                <a:cs typeface="Roboto"/>
              </a:rPr>
              <a:t> </a:t>
            </a:r>
            <a:r>
              <a:rPr sz="1100" spc="-5" dirty="0">
                <a:latin typeface="Roboto"/>
                <a:cs typeface="Roboto"/>
              </a:rPr>
              <a:t>charges </a:t>
            </a:r>
            <a:r>
              <a:rPr sz="1100" dirty="0">
                <a:latin typeface="Roboto"/>
                <a:cs typeface="Roboto"/>
              </a:rPr>
              <a:t>based</a:t>
            </a:r>
            <a:r>
              <a:rPr sz="1100" spc="-18" dirty="0">
                <a:latin typeface="Roboto"/>
                <a:cs typeface="Roboto"/>
              </a:rPr>
              <a:t> </a:t>
            </a:r>
            <a:r>
              <a:rPr sz="1100" dirty="0">
                <a:latin typeface="Roboto"/>
                <a:cs typeface="Roboto"/>
              </a:rPr>
              <a:t>on</a:t>
            </a:r>
            <a:r>
              <a:rPr sz="1100" spc="-18" dirty="0">
                <a:latin typeface="Roboto"/>
                <a:cs typeface="Roboto"/>
              </a:rPr>
              <a:t> </a:t>
            </a:r>
            <a:r>
              <a:rPr sz="1100" dirty="0">
                <a:latin typeface="Roboto"/>
                <a:cs typeface="Roboto"/>
              </a:rPr>
              <a:t>the</a:t>
            </a:r>
            <a:r>
              <a:rPr sz="1100" spc="-18" dirty="0">
                <a:latin typeface="Roboto"/>
                <a:cs typeface="Roboto"/>
              </a:rPr>
              <a:t> </a:t>
            </a:r>
            <a:r>
              <a:rPr sz="1100" dirty="0">
                <a:latin typeface="Roboto"/>
                <a:cs typeface="Roboto"/>
              </a:rPr>
              <a:t>amount</a:t>
            </a:r>
            <a:r>
              <a:rPr sz="1100" spc="-18" dirty="0">
                <a:latin typeface="Roboto"/>
                <a:cs typeface="Roboto"/>
              </a:rPr>
              <a:t> </a:t>
            </a:r>
            <a:r>
              <a:rPr sz="1100" dirty="0">
                <a:latin typeface="Roboto"/>
                <a:cs typeface="Roboto"/>
              </a:rPr>
              <a:t>of</a:t>
            </a:r>
            <a:r>
              <a:rPr sz="1100" spc="-15" dirty="0">
                <a:latin typeface="Roboto"/>
                <a:cs typeface="Roboto"/>
              </a:rPr>
              <a:t> </a:t>
            </a:r>
            <a:r>
              <a:rPr sz="1100" dirty="0">
                <a:latin typeface="Roboto"/>
                <a:cs typeface="Roboto"/>
              </a:rPr>
              <a:t>ingested</a:t>
            </a:r>
            <a:r>
              <a:rPr sz="1100" spc="-18" dirty="0">
                <a:latin typeface="Roboto"/>
                <a:cs typeface="Roboto"/>
              </a:rPr>
              <a:t> </a:t>
            </a:r>
            <a:r>
              <a:rPr sz="1100" dirty="0">
                <a:latin typeface="Roboto"/>
                <a:cs typeface="Roboto"/>
              </a:rPr>
              <a:t>log</a:t>
            </a:r>
            <a:r>
              <a:rPr sz="1100" spc="-18" dirty="0">
                <a:latin typeface="Roboto"/>
                <a:cs typeface="Roboto"/>
              </a:rPr>
              <a:t> </a:t>
            </a:r>
            <a:r>
              <a:rPr sz="1100" dirty="0">
                <a:latin typeface="Roboto"/>
                <a:cs typeface="Roboto"/>
              </a:rPr>
              <a:t>data</a:t>
            </a:r>
            <a:r>
              <a:rPr sz="1100" spc="-18" dirty="0">
                <a:latin typeface="Roboto"/>
                <a:cs typeface="Roboto"/>
              </a:rPr>
              <a:t> </a:t>
            </a:r>
            <a:r>
              <a:rPr sz="1100" dirty="0">
                <a:latin typeface="Roboto"/>
                <a:cs typeface="Roboto"/>
              </a:rPr>
              <a:t>scanned</a:t>
            </a:r>
            <a:r>
              <a:rPr sz="1100" spc="-18" dirty="0">
                <a:latin typeface="Roboto"/>
                <a:cs typeface="Roboto"/>
              </a:rPr>
              <a:t> </a:t>
            </a:r>
            <a:r>
              <a:rPr sz="1100" dirty="0">
                <a:latin typeface="Roboto"/>
                <a:cs typeface="Roboto"/>
              </a:rPr>
              <a:t>by</a:t>
            </a:r>
            <a:r>
              <a:rPr sz="1100" spc="-15" dirty="0">
                <a:latin typeface="Roboto"/>
                <a:cs typeface="Roboto"/>
              </a:rPr>
              <a:t> </a:t>
            </a:r>
            <a:r>
              <a:rPr sz="1100" dirty="0">
                <a:latin typeface="Roboto"/>
                <a:cs typeface="Roboto"/>
              </a:rPr>
              <a:t>the</a:t>
            </a:r>
            <a:r>
              <a:rPr sz="1100" spc="-18" dirty="0">
                <a:latin typeface="Roboto"/>
                <a:cs typeface="Roboto"/>
              </a:rPr>
              <a:t> </a:t>
            </a:r>
            <a:r>
              <a:rPr sz="1100" spc="-5" dirty="0">
                <a:latin typeface="Roboto"/>
                <a:cs typeface="Roboto"/>
              </a:rPr>
              <a:t>query</a:t>
            </a:r>
            <a:endParaRPr sz="1100">
              <a:latin typeface="Roboto"/>
              <a:cs typeface="Roboto"/>
            </a:endParaRPr>
          </a:p>
          <a:p>
            <a:pPr>
              <a:spcBef>
                <a:spcPts val="53"/>
              </a:spcBef>
            </a:pPr>
            <a:endParaRPr sz="1100">
              <a:latin typeface="Roboto"/>
              <a:cs typeface="Roboto"/>
            </a:endParaRPr>
          </a:p>
          <a:p>
            <a:pPr marL="308293">
              <a:tabLst>
                <a:tab pos="1183958" algn="l"/>
              </a:tabLst>
            </a:pPr>
            <a:r>
              <a:rPr sz="1100" b="1" dirty="0">
                <a:latin typeface="Roboto"/>
                <a:cs typeface="Roboto"/>
              </a:rPr>
              <a:t>Cloud</a:t>
            </a:r>
            <a:r>
              <a:rPr sz="1100" b="1" spc="-20" dirty="0">
                <a:latin typeface="Roboto"/>
                <a:cs typeface="Roboto"/>
              </a:rPr>
              <a:t> </a:t>
            </a:r>
            <a:r>
              <a:rPr sz="1100" b="1" spc="-10" dirty="0">
                <a:latin typeface="Roboto"/>
                <a:cs typeface="Roboto"/>
              </a:rPr>
              <a:t>Watch</a:t>
            </a:r>
            <a:r>
              <a:rPr sz="1100" b="1" dirty="0">
                <a:latin typeface="Roboto"/>
                <a:cs typeface="Roboto"/>
              </a:rPr>
              <a:t>	</a:t>
            </a:r>
            <a:r>
              <a:rPr sz="1100" dirty="0">
                <a:latin typeface="Roboto"/>
                <a:cs typeface="Roboto"/>
              </a:rPr>
              <a:t>Deliver</a:t>
            </a:r>
            <a:r>
              <a:rPr sz="1100" spc="-20" dirty="0">
                <a:latin typeface="Roboto"/>
                <a:cs typeface="Roboto"/>
              </a:rPr>
              <a:t> </a:t>
            </a:r>
            <a:r>
              <a:rPr sz="1100" dirty="0">
                <a:latin typeface="Roboto"/>
                <a:cs typeface="Roboto"/>
              </a:rPr>
              <a:t>near</a:t>
            </a:r>
            <a:r>
              <a:rPr sz="1100" spc="-20" dirty="0">
                <a:latin typeface="Roboto"/>
                <a:cs typeface="Roboto"/>
              </a:rPr>
              <a:t> </a:t>
            </a:r>
            <a:r>
              <a:rPr sz="1100" spc="-5" dirty="0">
                <a:latin typeface="Roboto"/>
                <a:cs typeface="Roboto"/>
              </a:rPr>
              <a:t>real-</a:t>
            </a:r>
            <a:r>
              <a:rPr sz="1100" dirty="0">
                <a:latin typeface="Roboto"/>
                <a:cs typeface="Roboto"/>
              </a:rPr>
              <a:t>time</a:t>
            </a:r>
            <a:r>
              <a:rPr sz="1100" spc="-20" dirty="0">
                <a:latin typeface="Roboto"/>
                <a:cs typeface="Roboto"/>
              </a:rPr>
              <a:t> </a:t>
            </a:r>
            <a:r>
              <a:rPr sz="1100" dirty="0">
                <a:latin typeface="Roboto"/>
                <a:cs typeface="Roboto"/>
              </a:rPr>
              <a:t>stream</a:t>
            </a:r>
            <a:r>
              <a:rPr sz="1100" spc="-20" dirty="0">
                <a:latin typeface="Roboto"/>
                <a:cs typeface="Roboto"/>
              </a:rPr>
              <a:t> </a:t>
            </a:r>
            <a:r>
              <a:rPr sz="1100" dirty="0">
                <a:latin typeface="Roboto"/>
                <a:cs typeface="Roboto"/>
              </a:rPr>
              <a:t>of</a:t>
            </a:r>
            <a:r>
              <a:rPr sz="1100" spc="-20" dirty="0">
                <a:latin typeface="Roboto"/>
                <a:cs typeface="Roboto"/>
              </a:rPr>
              <a:t> </a:t>
            </a:r>
            <a:r>
              <a:rPr sz="1100" dirty="0">
                <a:latin typeface="Roboto"/>
                <a:cs typeface="Roboto"/>
              </a:rPr>
              <a:t>system</a:t>
            </a:r>
            <a:r>
              <a:rPr sz="1100" spc="-20" dirty="0">
                <a:latin typeface="Roboto"/>
                <a:cs typeface="Roboto"/>
              </a:rPr>
              <a:t> </a:t>
            </a:r>
            <a:r>
              <a:rPr sz="1100" dirty="0">
                <a:latin typeface="Roboto"/>
                <a:cs typeface="Roboto"/>
              </a:rPr>
              <a:t>events</a:t>
            </a:r>
            <a:r>
              <a:rPr sz="1100" spc="-20" dirty="0">
                <a:latin typeface="Roboto"/>
                <a:cs typeface="Roboto"/>
              </a:rPr>
              <a:t> </a:t>
            </a:r>
            <a:r>
              <a:rPr sz="1100" dirty="0">
                <a:latin typeface="Roboto"/>
                <a:cs typeface="Roboto"/>
              </a:rPr>
              <a:t>that</a:t>
            </a:r>
            <a:r>
              <a:rPr sz="1100" spc="-20" dirty="0">
                <a:latin typeface="Roboto"/>
                <a:cs typeface="Roboto"/>
              </a:rPr>
              <a:t> </a:t>
            </a:r>
            <a:r>
              <a:rPr sz="1100" dirty="0">
                <a:latin typeface="Roboto"/>
                <a:cs typeface="Roboto"/>
              </a:rPr>
              <a:t>describe</a:t>
            </a:r>
            <a:r>
              <a:rPr sz="1100" spc="-20" dirty="0">
                <a:latin typeface="Roboto"/>
                <a:cs typeface="Roboto"/>
              </a:rPr>
              <a:t> </a:t>
            </a:r>
            <a:r>
              <a:rPr sz="1100" dirty="0">
                <a:latin typeface="Roboto"/>
                <a:cs typeface="Roboto"/>
              </a:rPr>
              <a:t>changes</a:t>
            </a:r>
            <a:r>
              <a:rPr sz="1100" spc="-18" dirty="0">
                <a:latin typeface="Roboto"/>
                <a:cs typeface="Roboto"/>
              </a:rPr>
              <a:t> </a:t>
            </a:r>
            <a:r>
              <a:rPr sz="1100" dirty="0">
                <a:latin typeface="Roboto"/>
                <a:cs typeface="Roboto"/>
              </a:rPr>
              <a:t>in</a:t>
            </a:r>
            <a:r>
              <a:rPr sz="1100" spc="-20" dirty="0">
                <a:latin typeface="Roboto"/>
                <a:cs typeface="Roboto"/>
              </a:rPr>
              <a:t> </a:t>
            </a:r>
            <a:r>
              <a:rPr sz="1100" dirty="0">
                <a:latin typeface="Roboto"/>
                <a:cs typeface="Roboto"/>
              </a:rPr>
              <a:t>AWS</a:t>
            </a:r>
            <a:r>
              <a:rPr sz="1100" spc="-20" dirty="0">
                <a:latin typeface="Roboto"/>
                <a:cs typeface="Roboto"/>
              </a:rPr>
              <a:t> </a:t>
            </a:r>
            <a:r>
              <a:rPr sz="1100" dirty="0">
                <a:latin typeface="Roboto"/>
                <a:cs typeface="Roboto"/>
              </a:rPr>
              <a:t>resources.</a:t>
            </a:r>
            <a:r>
              <a:rPr sz="1100" spc="-20" dirty="0">
                <a:latin typeface="Roboto"/>
                <a:cs typeface="Roboto"/>
              </a:rPr>
              <a:t> </a:t>
            </a:r>
            <a:r>
              <a:rPr sz="1100" dirty="0">
                <a:latin typeface="Roboto"/>
                <a:cs typeface="Roboto"/>
              </a:rPr>
              <a:t>Concepts</a:t>
            </a:r>
            <a:r>
              <a:rPr sz="1100" spc="-20" dirty="0">
                <a:latin typeface="Roboto"/>
                <a:cs typeface="Roboto"/>
              </a:rPr>
              <a:t> </a:t>
            </a:r>
            <a:r>
              <a:rPr sz="1100" dirty="0">
                <a:latin typeface="Roboto"/>
                <a:cs typeface="Roboto"/>
              </a:rPr>
              <a:t>needed</a:t>
            </a:r>
            <a:r>
              <a:rPr sz="1100" spc="-20" dirty="0">
                <a:latin typeface="Roboto"/>
                <a:cs typeface="Roboto"/>
              </a:rPr>
              <a:t> </a:t>
            </a:r>
            <a:r>
              <a:rPr sz="1100" dirty="0">
                <a:latin typeface="Roboto"/>
                <a:cs typeface="Roboto"/>
              </a:rPr>
              <a:t>to</a:t>
            </a:r>
            <a:r>
              <a:rPr sz="1100" spc="-20" dirty="0">
                <a:latin typeface="Roboto"/>
                <a:cs typeface="Roboto"/>
              </a:rPr>
              <a:t> </a:t>
            </a:r>
            <a:r>
              <a:rPr sz="1100" dirty="0">
                <a:latin typeface="Roboto"/>
                <a:cs typeface="Roboto"/>
              </a:rPr>
              <a:t>be</a:t>
            </a:r>
            <a:r>
              <a:rPr sz="1100" spc="-20" dirty="0">
                <a:latin typeface="Roboto"/>
                <a:cs typeface="Roboto"/>
              </a:rPr>
              <a:t> </a:t>
            </a:r>
            <a:r>
              <a:rPr sz="1100" spc="-10" dirty="0">
                <a:latin typeface="Roboto"/>
                <a:cs typeface="Roboto"/>
              </a:rPr>
              <a:t>noted</a:t>
            </a:r>
            <a:endParaRPr sz="1100">
              <a:latin typeface="Roboto"/>
              <a:cs typeface="Roboto"/>
            </a:endParaRPr>
          </a:p>
          <a:p>
            <a:pPr marL="1183958" marR="2540" indent="-503872">
              <a:lnSpc>
                <a:spcPct val="116500"/>
              </a:lnSpc>
              <a:tabLst>
                <a:tab pos="1183958" algn="l"/>
              </a:tabLst>
            </a:pPr>
            <a:r>
              <a:rPr sz="1100" b="1" spc="-5" dirty="0">
                <a:latin typeface="Roboto"/>
                <a:cs typeface="Roboto"/>
              </a:rPr>
              <a:t>Events</a:t>
            </a:r>
            <a:r>
              <a:rPr sz="1100" b="1" dirty="0">
                <a:latin typeface="Roboto"/>
                <a:cs typeface="Roboto"/>
              </a:rPr>
              <a:t>	</a:t>
            </a:r>
            <a:r>
              <a:rPr sz="1100" dirty="0">
                <a:latin typeface="Roboto"/>
                <a:cs typeface="Roboto"/>
              </a:rPr>
              <a:t>here:</a:t>
            </a:r>
            <a:r>
              <a:rPr sz="1100" spc="-23" dirty="0">
                <a:latin typeface="Roboto"/>
                <a:cs typeface="Roboto"/>
              </a:rPr>
              <a:t> </a:t>
            </a:r>
            <a:r>
              <a:rPr sz="1100" dirty="0">
                <a:latin typeface="Roboto"/>
                <a:cs typeface="Roboto"/>
              </a:rPr>
              <a:t>Events</a:t>
            </a:r>
            <a:r>
              <a:rPr sz="1100" spc="-23" dirty="0">
                <a:latin typeface="Roboto"/>
                <a:cs typeface="Roboto"/>
              </a:rPr>
              <a:t> </a:t>
            </a:r>
            <a:r>
              <a:rPr sz="1100" dirty="0">
                <a:latin typeface="Roboto"/>
                <a:cs typeface="Roboto"/>
              </a:rPr>
              <a:t>–</a:t>
            </a:r>
            <a:r>
              <a:rPr sz="1100" spc="-23" dirty="0">
                <a:latin typeface="Roboto"/>
                <a:cs typeface="Roboto"/>
              </a:rPr>
              <a:t> </a:t>
            </a:r>
            <a:r>
              <a:rPr sz="1100" dirty="0">
                <a:latin typeface="Roboto"/>
                <a:cs typeface="Roboto"/>
              </a:rPr>
              <a:t>indicates</a:t>
            </a:r>
            <a:r>
              <a:rPr sz="1100" spc="-23" dirty="0">
                <a:latin typeface="Roboto"/>
                <a:cs typeface="Roboto"/>
              </a:rPr>
              <a:t> </a:t>
            </a:r>
            <a:r>
              <a:rPr sz="1100" dirty="0">
                <a:latin typeface="Roboto"/>
                <a:cs typeface="Roboto"/>
              </a:rPr>
              <a:t>a</a:t>
            </a:r>
            <a:r>
              <a:rPr sz="1100" spc="-20" dirty="0">
                <a:latin typeface="Roboto"/>
                <a:cs typeface="Roboto"/>
              </a:rPr>
              <a:t> </a:t>
            </a:r>
            <a:r>
              <a:rPr sz="1100" dirty="0">
                <a:latin typeface="Roboto"/>
                <a:cs typeface="Roboto"/>
              </a:rPr>
              <a:t>change</a:t>
            </a:r>
            <a:r>
              <a:rPr sz="1100" spc="-23" dirty="0">
                <a:latin typeface="Roboto"/>
                <a:cs typeface="Roboto"/>
              </a:rPr>
              <a:t> </a:t>
            </a:r>
            <a:r>
              <a:rPr sz="1100" dirty="0">
                <a:latin typeface="Roboto"/>
                <a:cs typeface="Roboto"/>
              </a:rPr>
              <a:t>in</a:t>
            </a:r>
            <a:r>
              <a:rPr sz="1100" spc="-23" dirty="0">
                <a:latin typeface="Roboto"/>
                <a:cs typeface="Roboto"/>
              </a:rPr>
              <a:t> </a:t>
            </a:r>
            <a:r>
              <a:rPr sz="1100" dirty="0">
                <a:latin typeface="Roboto"/>
                <a:cs typeface="Roboto"/>
              </a:rPr>
              <a:t>your</a:t>
            </a:r>
            <a:r>
              <a:rPr sz="1100" spc="-23" dirty="0">
                <a:latin typeface="Roboto"/>
                <a:cs typeface="Roboto"/>
              </a:rPr>
              <a:t> </a:t>
            </a:r>
            <a:r>
              <a:rPr sz="1100" dirty="0">
                <a:latin typeface="Roboto"/>
                <a:cs typeface="Roboto"/>
              </a:rPr>
              <a:t>AWS</a:t>
            </a:r>
            <a:r>
              <a:rPr sz="1100" spc="-20" dirty="0">
                <a:latin typeface="Roboto"/>
                <a:cs typeface="Roboto"/>
              </a:rPr>
              <a:t> </a:t>
            </a:r>
            <a:r>
              <a:rPr sz="1100" dirty="0">
                <a:latin typeface="Roboto"/>
                <a:cs typeface="Roboto"/>
              </a:rPr>
              <a:t>environment,</a:t>
            </a:r>
            <a:r>
              <a:rPr sz="1100" spc="-23" dirty="0">
                <a:latin typeface="Roboto"/>
                <a:cs typeface="Roboto"/>
              </a:rPr>
              <a:t> </a:t>
            </a:r>
            <a:r>
              <a:rPr sz="1100" dirty="0">
                <a:latin typeface="Roboto"/>
                <a:cs typeface="Roboto"/>
              </a:rPr>
              <a:t>Targets</a:t>
            </a:r>
            <a:r>
              <a:rPr sz="1100" spc="-23" dirty="0">
                <a:latin typeface="Roboto"/>
                <a:cs typeface="Roboto"/>
              </a:rPr>
              <a:t> </a:t>
            </a:r>
            <a:r>
              <a:rPr sz="1100" dirty="0">
                <a:latin typeface="Roboto"/>
                <a:cs typeface="Roboto"/>
              </a:rPr>
              <a:t>–</a:t>
            </a:r>
            <a:r>
              <a:rPr sz="1100" spc="-23" dirty="0">
                <a:latin typeface="Roboto"/>
                <a:cs typeface="Roboto"/>
              </a:rPr>
              <a:t> </a:t>
            </a:r>
            <a:r>
              <a:rPr sz="1100" dirty="0">
                <a:latin typeface="Roboto"/>
                <a:cs typeface="Roboto"/>
              </a:rPr>
              <a:t>processes</a:t>
            </a:r>
            <a:r>
              <a:rPr sz="1100" spc="-20" dirty="0">
                <a:latin typeface="Roboto"/>
                <a:cs typeface="Roboto"/>
              </a:rPr>
              <a:t> </a:t>
            </a:r>
            <a:r>
              <a:rPr sz="1100" dirty="0">
                <a:latin typeface="Roboto"/>
                <a:cs typeface="Roboto"/>
              </a:rPr>
              <a:t>events,</a:t>
            </a:r>
            <a:r>
              <a:rPr sz="1100" spc="-23" dirty="0">
                <a:latin typeface="Roboto"/>
                <a:cs typeface="Roboto"/>
              </a:rPr>
              <a:t> </a:t>
            </a:r>
            <a:r>
              <a:rPr sz="1100" dirty="0">
                <a:latin typeface="Roboto"/>
                <a:cs typeface="Roboto"/>
              </a:rPr>
              <a:t>Rules</a:t>
            </a:r>
            <a:r>
              <a:rPr sz="1100" spc="-23" dirty="0">
                <a:latin typeface="Roboto"/>
                <a:cs typeface="Roboto"/>
              </a:rPr>
              <a:t> </a:t>
            </a:r>
            <a:r>
              <a:rPr sz="1100" dirty="0">
                <a:latin typeface="Roboto"/>
                <a:cs typeface="Roboto"/>
              </a:rPr>
              <a:t>–</a:t>
            </a:r>
            <a:r>
              <a:rPr sz="1100" spc="-23" dirty="0">
                <a:latin typeface="Roboto"/>
                <a:cs typeface="Roboto"/>
              </a:rPr>
              <a:t> </a:t>
            </a:r>
            <a:r>
              <a:rPr sz="1100" dirty="0">
                <a:latin typeface="Roboto"/>
                <a:cs typeface="Roboto"/>
              </a:rPr>
              <a:t>matches</a:t>
            </a:r>
            <a:r>
              <a:rPr sz="1100" spc="-23" dirty="0">
                <a:latin typeface="Roboto"/>
                <a:cs typeface="Roboto"/>
              </a:rPr>
              <a:t> </a:t>
            </a:r>
            <a:r>
              <a:rPr sz="1100" dirty="0">
                <a:latin typeface="Roboto"/>
                <a:cs typeface="Roboto"/>
              </a:rPr>
              <a:t>incoming</a:t>
            </a:r>
            <a:r>
              <a:rPr sz="1100" spc="-20" dirty="0">
                <a:latin typeface="Roboto"/>
                <a:cs typeface="Roboto"/>
              </a:rPr>
              <a:t> </a:t>
            </a:r>
            <a:r>
              <a:rPr sz="1100" spc="-5" dirty="0">
                <a:latin typeface="Roboto"/>
                <a:cs typeface="Roboto"/>
              </a:rPr>
              <a:t>events </a:t>
            </a:r>
            <a:r>
              <a:rPr sz="1100" dirty="0">
                <a:latin typeface="Roboto"/>
                <a:cs typeface="Roboto"/>
              </a:rPr>
              <a:t>and</a:t>
            </a:r>
            <a:r>
              <a:rPr sz="1100" spc="-15" dirty="0">
                <a:latin typeface="Roboto"/>
                <a:cs typeface="Roboto"/>
              </a:rPr>
              <a:t> </a:t>
            </a:r>
            <a:r>
              <a:rPr sz="1100" dirty="0">
                <a:latin typeface="Roboto"/>
                <a:cs typeface="Roboto"/>
              </a:rPr>
              <a:t>routes</a:t>
            </a:r>
            <a:r>
              <a:rPr sz="1100" spc="-15" dirty="0">
                <a:latin typeface="Roboto"/>
                <a:cs typeface="Roboto"/>
              </a:rPr>
              <a:t> </a:t>
            </a:r>
            <a:r>
              <a:rPr sz="1100" dirty="0">
                <a:latin typeface="Roboto"/>
                <a:cs typeface="Roboto"/>
              </a:rPr>
              <a:t>them</a:t>
            </a:r>
            <a:r>
              <a:rPr sz="1100" spc="-15" dirty="0">
                <a:latin typeface="Roboto"/>
                <a:cs typeface="Roboto"/>
              </a:rPr>
              <a:t> </a:t>
            </a:r>
            <a:r>
              <a:rPr sz="1100" dirty="0">
                <a:latin typeface="Roboto"/>
                <a:cs typeface="Roboto"/>
              </a:rPr>
              <a:t>to</a:t>
            </a:r>
            <a:r>
              <a:rPr sz="1100" spc="-15" dirty="0">
                <a:latin typeface="Roboto"/>
                <a:cs typeface="Roboto"/>
              </a:rPr>
              <a:t> </a:t>
            </a:r>
            <a:r>
              <a:rPr sz="1100" dirty="0">
                <a:latin typeface="Roboto"/>
                <a:cs typeface="Roboto"/>
              </a:rPr>
              <a:t>targets</a:t>
            </a:r>
            <a:r>
              <a:rPr sz="1100" spc="-15" dirty="0">
                <a:latin typeface="Roboto"/>
                <a:cs typeface="Roboto"/>
              </a:rPr>
              <a:t> </a:t>
            </a:r>
            <a:r>
              <a:rPr sz="1100" dirty="0">
                <a:latin typeface="Roboto"/>
                <a:cs typeface="Roboto"/>
              </a:rPr>
              <a:t>for</a:t>
            </a:r>
            <a:r>
              <a:rPr sz="1100" spc="-15" dirty="0">
                <a:latin typeface="Roboto"/>
                <a:cs typeface="Roboto"/>
              </a:rPr>
              <a:t> </a:t>
            </a:r>
            <a:r>
              <a:rPr sz="1100" spc="-5" dirty="0">
                <a:latin typeface="Roboto"/>
                <a:cs typeface="Roboto"/>
              </a:rPr>
              <a:t>processing</a:t>
            </a:r>
            <a:endParaRPr sz="1100">
              <a:latin typeface="Roboto"/>
              <a:cs typeface="Roboto"/>
            </a:endParaRPr>
          </a:p>
          <a:p>
            <a:pPr marL="6350">
              <a:spcBef>
                <a:spcPts val="1018"/>
              </a:spcBef>
              <a:tabLst>
                <a:tab pos="1183958" algn="l"/>
              </a:tabLst>
            </a:pPr>
            <a:r>
              <a:rPr sz="1100" b="1" dirty="0">
                <a:latin typeface="Roboto"/>
                <a:cs typeface="Roboto"/>
              </a:rPr>
              <a:t>Works</a:t>
            </a:r>
            <a:r>
              <a:rPr sz="1100" b="1" spc="-25" dirty="0">
                <a:latin typeface="Roboto"/>
                <a:cs typeface="Roboto"/>
              </a:rPr>
              <a:t> </a:t>
            </a:r>
            <a:r>
              <a:rPr sz="1100" b="1" dirty="0">
                <a:latin typeface="Roboto"/>
                <a:cs typeface="Roboto"/>
              </a:rPr>
              <a:t>Great</a:t>
            </a:r>
            <a:r>
              <a:rPr sz="1100" b="1" spc="-25" dirty="0">
                <a:latin typeface="Roboto"/>
                <a:cs typeface="Roboto"/>
              </a:rPr>
              <a:t> </a:t>
            </a:r>
            <a:r>
              <a:rPr sz="1100" b="1" spc="-10" dirty="0">
                <a:latin typeface="Roboto"/>
                <a:cs typeface="Roboto"/>
              </a:rPr>
              <a:t>With</a:t>
            </a:r>
            <a:r>
              <a:rPr sz="1100" b="1" dirty="0">
                <a:latin typeface="Roboto"/>
                <a:cs typeface="Roboto"/>
              </a:rPr>
              <a:t>	</a:t>
            </a:r>
            <a:r>
              <a:rPr sz="1100" dirty="0">
                <a:latin typeface="Roboto"/>
                <a:cs typeface="Roboto"/>
              </a:rPr>
              <a:t>Cloud</a:t>
            </a:r>
            <a:r>
              <a:rPr sz="1100" spc="-25" dirty="0">
                <a:latin typeface="Roboto"/>
                <a:cs typeface="Roboto"/>
              </a:rPr>
              <a:t> </a:t>
            </a:r>
            <a:r>
              <a:rPr sz="1100" dirty="0">
                <a:latin typeface="Roboto"/>
                <a:cs typeface="Roboto"/>
              </a:rPr>
              <a:t>watch</a:t>
            </a:r>
            <a:r>
              <a:rPr sz="1100" spc="-23" dirty="0">
                <a:latin typeface="Roboto"/>
                <a:cs typeface="Roboto"/>
              </a:rPr>
              <a:t> </a:t>
            </a:r>
            <a:r>
              <a:rPr sz="1100" dirty="0">
                <a:latin typeface="Roboto"/>
                <a:cs typeface="Roboto"/>
              </a:rPr>
              <a:t>works</a:t>
            </a:r>
            <a:r>
              <a:rPr sz="1100" spc="-25" dirty="0">
                <a:latin typeface="Roboto"/>
                <a:cs typeface="Roboto"/>
              </a:rPr>
              <a:t> </a:t>
            </a:r>
            <a:r>
              <a:rPr sz="1100" dirty="0">
                <a:latin typeface="Roboto"/>
                <a:cs typeface="Roboto"/>
              </a:rPr>
              <a:t>great</a:t>
            </a:r>
            <a:r>
              <a:rPr sz="1100" spc="-23" dirty="0">
                <a:latin typeface="Roboto"/>
                <a:cs typeface="Roboto"/>
              </a:rPr>
              <a:t> </a:t>
            </a:r>
            <a:r>
              <a:rPr sz="1100" dirty="0">
                <a:latin typeface="Roboto"/>
                <a:cs typeface="Roboto"/>
              </a:rPr>
              <a:t>with</a:t>
            </a:r>
            <a:r>
              <a:rPr sz="1100" spc="-25" dirty="0">
                <a:latin typeface="Roboto"/>
                <a:cs typeface="Roboto"/>
              </a:rPr>
              <a:t> </a:t>
            </a:r>
            <a:r>
              <a:rPr sz="1100" dirty="0">
                <a:latin typeface="Roboto"/>
                <a:cs typeface="Roboto"/>
              </a:rPr>
              <a:t>other</a:t>
            </a:r>
            <a:r>
              <a:rPr sz="1100" spc="-23" dirty="0">
                <a:latin typeface="Roboto"/>
                <a:cs typeface="Roboto"/>
              </a:rPr>
              <a:t> </a:t>
            </a:r>
            <a:r>
              <a:rPr sz="1100" dirty="0">
                <a:latin typeface="Roboto"/>
                <a:cs typeface="Roboto"/>
              </a:rPr>
              <a:t>services,</a:t>
            </a:r>
            <a:r>
              <a:rPr sz="1100" spc="-23" dirty="0">
                <a:latin typeface="Roboto"/>
                <a:cs typeface="Roboto"/>
              </a:rPr>
              <a:t> </a:t>
            </a:r>
            <a:r>
              <a:rPr sz="1100" dirty="0">
                <a:latin typeface="Roboto"/>
                <a:cs typeface="Roboto"/>
              </a:rPr>
              <a:t>especially</a:t>
            </a:r>
            <a:r>
              <a:rPr sz="1100" spc="-25" dirty="0">
                <a:latin typeface="Roboto"/>
                <a:cs typeface="Roboto"/>
              </a:rPr>
              <a:t> </a:t>
            </a:r>
            <a:r>
              <a:rPr sz="1100" dirty="0">
                <a:latin typeface="Roboto"/>
                <a:cs typeface="Roboto"/>
              </a:rPr>
              <a:t>easy</a:t>
            </a:r>
            <a:r>
              <a:rPr sz="1100" spc="-23" dirty="0">
                <a:latin typeface="Roboto"/>
                <a:cs typeface="Roboto"/>
              </a:rPr>
              <a:t> </a:t>
            </a:r>
            <a:r>
              <a:rPr sz="1100" dirty="0">
                <a:latin typeface="Roboto"/>
                <a:cs typeface="Roboto"/>
              </a:rPr>
              <a:t>integration</a:t>
            </a:r>
            <a:r>
              <a:rPr sz="1100" spc="-25" dirty="0">
                <a:latin typeface="Roboto"/>
                <a:cs typeface="Roboto"/>
              </a:rPr>
              <a:t> </a:t>
            </a:r>
            <a:r>
              <a:rPr sz="1100" dirty="0">
                <a:latin typeface="Roboto"/>
                <a:cs typeface="Roboto"/>
              </a:rPr>
              <a:t>between</a:t>
            </a:r>
            <a:r>
              <a:rPr sz="1100" spc="-23" dirty="0">
                <a:latin typeface="Roboto"/>
                <a:cs typeface="Roboto"/>
              </a:rPr>
              <a:t> </a:t>
            </a:r>
            <a:r>
              <a:rPr sz="1100" dirty="0">
                <a:latin typeface="Roboto"/>
                <a:cs typeface="Roboto"/>
              </a:rPr>
              <a:t>other</a:t>
            </a:r>
            <a:r>
              <a:rPr sz="1100" spc="-23" dirty="0">
                <a:latin typeface="Roboto"/>
                <a:cs typeface="Roboto"/>
              </a:rPr>
              <a:t> </a:t>
            </a:r>
            <a:r>
              <a:rPr sz="1100" dirty="0">
                <a:latin typeface="Roboto"/>
                <a:cs typeface="Roboto"/>
              </a:rPr>
              <a:t>services</a:t>
            </a:r>
            <a:r>
              <a:rPr sz="1100" spc="-25" dirty="0">
                <a:latin typeface="Roboto"/>
                <a:cs typeface="Roboto"/>
              </a:rPr>
              <a:t> </a:t>
            </a:r>
            <a:r>
              <a:rPr sz="1100" dirty="0">
                <a:latin typeface="Roboto"/>
                <a:cs typeface="Roboto"/>
              </a:rPr>
              <a:t>can</a:t>
            </a:r>
            <a:r>
              <a:rPr sz="1100" spc="-23" dirty="0">
                <a:latin typeface="Roboto"/>
                <a:cs typeface="Roboto"/>
              </a:rPr>
              <a:t> </a:t>
            </a:r>
            <a:r>
              <a:rPr sz="1100" dirty="0">
                <a:latin typeface="Roboto"/>
                <a:cs typeface="Roboto"/>
              </a:rPr>
              <a:t>be</a:t>
            </a:r>
            <a:r>
              <a:rPr sz="1100" spc="-25" dirty="0">
                <a:latin typeface="Roboto"/>
                <a:cs typeface="Roboto"/>
              </a:rPr>
              <a:t> </a:t>
            </a:r>
            <a:r>
              <a:rPr sz="1100" dirty="0">
                <a:latin typeface="Roboto"/>
                <a:cs typeface="Roboto"/>
              </a:rPr>
              <a:t>achieved</a:t>
            </a:r>
            <a:r>
              <a:rPr sz="1100" spc="-23" dirty="0">
                <a:latin typeface="Roboto"/>
                <a:cs typeface="Roboto"/>
              </a:rPr>
              <a:t> </a:t>
            </a:r>
            <a:r>
              <a:rPr sz="1100" dirty="0">
                <a:latin typeface="Roboto"/>
                <a:cs typeface="Roboto"/>
              </a:rPr>
              <a:t>,</a:t>
            </a:r>
            <a:r>
              <a:rPr sz="1100" spc="-23" dirty="0">
                <a:latin typeface="Roboto"/>
                <a:cs typeface="Roboto"/>
              </a:rPr>
              <a:t> </a:t>
            </a:r>
            <a:r>
              <a:rPr sz="1100" spc="-13" dirty="0">
                <a:latin typeface="Roboto"/>
                <a:cs typeface="Roboto"/>
              </a:rPr>
              <a:t>AWS</a:t>
            </a:r>
            <a:endParaRPr sz="1100">
              <a:latin typeface="Roboto"/>
              <a:cs typeface="Roboto"/>
            </a:endParaRPr>
          </a:p>
          <a:p>
            <a:pPr marL="196850">
              <a:spcBef>
                <a:spcPts val="217"/>
              </a:spcBef>
              <a:tabLst>
                <a:tab pos="1183958" algn="l"/>
              </a:tabLst>
            </a:pPr>
            <a:r>
              <a:rPr sz="1100" b="1" dirty="0">
                <a:latin typeface="Roboto"/>
                <a:cs typeface="Roboto"/>
              </a:rPr>
              <a:t>other</a:t>
            </a:r>
            <a:r>
              <a:rPr sz="1100" b="1" spc="-18" dirty="0">
                <a:latin typeface="Roboto"/>
                <a:cs typeface="Roboto"/>
              </a:rPr>
              <a:t> </a:t>
            </a:r>
            <a:r>
              <a:rPr sz="1100" b="1" spc="-5" dirty="0">
                <a:latin typeface="Roboto"/>
                <a:cs typeface="Roboto"/>
              </a:rPr>
              <a:t>Services</a:t>
            </a:r>
            <a:r>
              <a:rPr sz="1100" b="1" dirty="0">
                <a:latin typeface="Roboto"/>
                <a:cs typeface="Roboto"/>
              </a:rPr>
              <a:t>	</a:t>
            </a:r>
            <a:r>
              <a:rPr sz="1100" dirty="0">
                <a:latin typeface="Roboto"/>
                <a:cs typeface="Roboto"/>
              </a:rPr>
              <a:t>Lambda</a:t>
            </a:r>
            <a:r>
              <a:rPr sz="1100" spc="-25" dirty="0">
                <a:latin typeface="Roboto"/>
                <a:cs typeface="Roboto"/>
              </a:rPr>
              <a:t> </a:t>
            </a:r>
            <a:r>
              <a:rPr sz="1100" dirty="0">
                <a:latin typeface="Roboto"/>
                <a:cs typeface="Roboto"/>
              </a:rPr>
              <a:t>integration</a:t>
            </a:r>
            <a:r>
              <a:rPr sz="1100" spc="-23" dirty="0">
                <a:latin typeface="Roboto"/>
                <a:cs typeface="Roboto"/>
              </a:rPr>
              <a:t> </a:t>
            </a:r>
            <a:r>
              <a:rPr sz="1100" dirty="0">
                <a:latin typeface="Roboto"/>
                <a:cs typeface="Roboto"/>
              </a:rPr>
              <a:t>makes</a:t>
            </a:r>
            <a:r>
              <a:rPr sz="1100" spc="-23" dirty="0">
                <a:latin typeface="Roboto"/>
                <a:cs typeface="Roboto"/>
              </a:rPr>
              <a:t> </a:t>
            </a:r>
            <a:r>
              <a:rPr sz="1100" dirty="0">
                <a:latin typeface="Roboto"/>
                <a:cs typeface="Roboto"/>
              </a:rPr>
              <a:t>it</a:t>
            </a:r>
            <a:r>
              <a:rPr sz="1100" spc="-23" dirty="0">
                <a:latin typeface="Roboto"/>
                <a:cs typeface="Roboto"/>
              </a:rPr>
              <a:t> </a:t>
            </a:r>
            <a:r>
              <a:rPr sz="1100" dirty="0">
                <a:latin typeface="Roboto"/>
                <a:cs typeface="Roboto"/>
              </a:rPr>
              <a:t>so</a:t>
            </a:r>
            <a:r>
              <a:rPr sz="1100" spc="-25" dirty="0">
                <a:latin typeface="Roboto"/>
                <a:cs typeface="Roboto"/>
              </a:rPr>
              <a:t> </a:t>
            </a:r>
            <a:r>
              <a:rPr sz="1100" spc="-5" dirty="0">
                <a:latin typeface="Roboto"/>
                <a:cs typeface="Roboto"/>
              </a:rPr>
              <a:t>powerful.</a:t>
            </a:r>
            <a:endParaRPr sz="1100">
              <a:latin typeface="Roboto"/>
              <a:cs typeface="Roboto"/>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8038" y="28550"/>
            <a:ext cx="4272280" cy="403957"/>
          </a:xfrm>
          <a:prstGeom prst="rect">
            <a:avLst/>
          </a:prstGeom>
        </p:spPr>
        <p:txBody>
          <a:bodyPr spcFirstLastPara="1" vert="horz" wrap="square" lIns="0" tIns="6350" rIns="0" bIns="0" rtlCol="0" anchor="t" anchorCtr="0">
            <a:spAutoFit/>
          </a:bodyPr>
          <a:lstStyle/>
          <a:p>
            <a:pPr marL="6350">
              <a:spcBef>
                <a:spcPts val="50"/>
              </a:spcBef>
            </a:pPr>
            <a:r>
              <a:rPr dirty="0"/>
              <a:t>Amazon</a:t>
            </a:r>
            <a:r>
              <a:rPr spc="-25" dirty="0"/>
              <a:t> </a:t>
            </a:r>
            <a:r>
              <a:rPr dirty="0"/>
              <a:t>Simple</a:t>
            </a:r>
            <a:r>
              <a:rPr spc="-23" dirty="0"/>
              <a:t> </a:t>
            </a:r>
            <a:r>
              <a:rPr dirty="0"/>
              <a:t>Email</a:t>
            </a:r>
            <a:r>
              <a:rPr spc="-25" dirty="0"/>
              <a:t> </a:t>
            </a:r>
            <a:r>
              <a:rPr spc="-5" dirty="0"/>
              <a:t>Service</a:t>
            </a:r>
          </a:p>
        </p:txBody>
      </p:sp>
      <p:sp>
        <p:nvSpPr>
          <p:cNvPr id="3" name="object 3"/>
          <p:cNvSpPr txBox="1"/>
          <p:nvPr/>
        </p:nvSpPr>
        <p:spPr>
          <a:xfrm>
            <a:off x="210969" y="377574"/>
            <a:ext cx="8810943" cy="2018502"/>
          </a:xfrm>
          <a:prstGeom prst="rect">
            <a:avLst/>
          </a:prstGeom>
        </p:spPr>
        <p:txBody>
          <a:bodyPr vert="horz" wrap="square" lIns="0" tIns="58103" rIns="0" bIns="0" rtlCol="0">
            <a:spAutoFit/>
          </a:bodyPr>
          <a:lstStyle/>
          <a:p>
            <a:pPr marL="83185">
              <a:spcBef>
                <a:spcPts val="458"/>
              </a:spcBef>
            </a:pPr>
            <a:r>
              <a:rPr sz="900" b="1" spc="-5" dirty="0">
                <a:latin typeface="Roboto"/>
                <a:cs typeface="Roboto"/>
              </a:rPr>
              <a:t>High-</a:t>
            </a:r>
            <a:r>
              <a:rPr sz="900" b="1" dirty="0">
                <a:latin typeface="Roboto"/>
                <a:cs typeface="Roboto"/>
              </a:rPr>
              <a:t>scale</a:t>
            </a:r>
            <a:r>
              <a:rPr sz="900" b="1" spc="-15" dirty="0">
                <a:latin typeface="Roboto"/>
                <a:cs typeface="Roboto"/>
              </a:rPr>
              <a:t> </a:t>
            </a:r>
            <a:r>
              <a:rPr sz="900" b="1" dirty="0">
                <a:latin typeface="Roboto"/>
                <a:cs typeface="Roboto"/>
              </a:rPr>
              <a:t>inbound</a:t>
            </a:r>
            <a:r>
              <a:rPr sz="900" b="1" spc="-15" dirty="0">
                <a:latin typeface="Roboto"/>
                <a:cs typeface="Roboto"/>
              </a:rPr>
              <a:t> </a:t>
            </a:r>
            <a:r>
              <a:rPr sz="900" b="1" dirty="0">
                <a:latin typeface="Roboto"/>
                <a:cs typeface="Roboto"/>
              </a:rPr>
              <a:t>and</a:t>
            </a:r>
            <a:r>
              <a:rPr sz="900" b="1" spc="-18" dirty="0">
                <a:latin typeface="Roboto"/>
                <a:cs typeface="Roboto"/>
              </a:rPr>
              <a:t> </a:t>
            </a:r>
            <a:r>
              <a:rPr sz="900" b="1" dirty="0">
                <a:latin typeface="Roboto"/>
                <a:cs typeface="Roboto"/>
              </a:rPr>
              <a:t>outbound</a:t>
            </a:r>
            <a:r>
              <a:rPr sz="900" b="1" spc="-15" dirty="0">
                <a:latin typeface="Roboto"/>
                <a:cs typeface="Roboto"/>
              </a:rPr>
              <a:t> </a:t>
            </a:r>
            <a:r>
              <a:rPr sz="900" b="1" dirty="0">
                <a:latin typeface="Roboto"/>
                <a:cs typeface="Roboto"/>
              </a:rPr>
              <a:t>cloud</a:t>
            </a:r>
            <a:r>
              <a:rPr sz="900" b="1" spc="-15" dirty="0">
                <a:latin typeface="Roboto"/>
                <a:cs typeface="Roboto"/>
              </a:rPr>
              <a:t> </a:t>
            </a:r>
            <a:r>
              <a:rPr sz="900" b="1" dirty="0">
                <a:latin typeface="Roboto"/>
                <a:cs typeface="Roboto"/>
              </a:rPr>
              <a:t>email</a:t>
            </a:r>
            <a:r>
              <a:rPr sz="900" b="1" spc="-15" dirty="0">
                <a:latin typeface="Roboto"/>
                <a:cs typeface="Roboto"/>
              </a:rPr>
              <a:t> </a:t>
            </a:r>
            <a:r>
              <a:rPr sz="900" b="1" spc="-5" dirty="0">
                <a:latin typeface="Roboto"/>
                <a:cs typeface="Roboto"/>
              </a:rPr>
              <a:t>service</a:t>
            </a:r>
            <a:endParaRPr sz="900">
              <a:latin typeface="Roboto"/>
              <a:cs typeface="Roboto"/>
            </a:endParaRPr>
          </a:p>
          <a:p>
            <a:pPr marL="83185" marR="2540">
              <a:lnSpc>
                <a:spcPct val="116500"/>
              </a:lnSpc>
              <a:spcBef>
                <a:spcPts val="280"/>
              </a:spcBef>
            </a:pPr>
            <a:r>
              <a:rPr sz="1100" dirty="0">
                <a:latin typeface="Roboto"/>
                <a:cs typeface="Roboto"/>
              </a:rPr>
              <a:t>Amazon</a:t>
            </a:r>
            <a:r>
              <a:rPr sz="1100" spc="-23" dirty="0">
                <a:latin typeface="Roboto"/>
                <a:cs typeface="Roboto"/>
              </a:rPr>
              <a:t> </a:t>
            </a:r>
            <a:r>
              <a:rPr sz="1100" dirty="0">
                <a:latin typeface="Roboto"/>
                <a:cs typeface="Roboto"/>
              </a:rPr>
              <a:t>Simple</a:t>
            </a:r>
            <a:r>
              <a:rPr sz="1100" spc="-20" dirty="0">
                <a:latin typeface="Roboto"/>
                <a:cs typeface="Roboto"/>
              </a:rPr>
              <a:t> </a:t>
            </a:r>
            <a:r>
              <a:rPr sz="1100" dirty="0">
                <a:latin typeface="Roboto"/>
                <a:cs typeface="Roboto"/>
              </a:rPr>
              <a:t>Email</a:t>
            </a:r>
            <a:r>
              <a:rPr sz="1100" spc="-20" dirty="0">
                <a:latin typeface="Roboto"/>
                <a:cs typeface="Roboto"/>
              </a:rPr>
              <a:t> </a:t>
            </a:r>
            <a:r>
              <a:rPr sz="1100" dirty="0">
                <a:latin typeface="Roboto"/>
                <a:cs typeface="Roboto"/>
              </a:rPr>
              <a:t>Service</a:t>
            </a:r>
            <a:r>
              <a:rPr sz="1100" spc="-20" dirty="0">
                <a:latin typeface="Roboto"/>
                <a:cs typeface="Roboto"/>
              </a:rPr>
              <a:t> </a:t>
            </a:r>
            <a:r>
              <a:rPr sz="1100" dirty="0">
                <a:latin typeface="Roboto"/>
                <a:cs typeface="Roboto"/>
              </a:rPr>
              <a:t>(SES)</a:t>
            </a:r>
            <a:r>
              <a:rPr sz="1100" spc="-23" dirty="0">
                <a:latin typeface="Roboto"/>
                <a:cs typeface="Roboto"/>
              </a:rPr>
              <a:t> </a:t>
            </a:r>
            <a:r>
              <a:rPr sz="1100" dirty="0">
                <a:latin typeface="Roboto"/>
                <a:cs typeface="Roboto"/>
              </a:rPr>
              <a:t>is</a:t>
            </a:r>
            <a:r>
              <a:rPr sz="1100" spc="-20" dirty="0">
                <a:latin typeface="Roboto"/>
                <a:cs typeface="Roboto"/>
              </a:rPr>
              <a:t> </a:t>
            </a:r>
            <a:r>
              <a:rPr sz="1100" dirty="0">
                <a:latin typeface="Roboto"/>
                <a:cs typeface="Roboto"/>
              </a:rPr>
              <a:t>a</a:t>
            </a:r>
            <a:r>
              <a:rPr sz="1100" spc="-20" dirty="0">
                <a:latin typeface="Roboto"/>
                <a:cs typeface="Roboto"/>
              </a:rPr>
              <a:t> </a:t>
            </a:r>
            <a:r>
              <a:rPr sz="1100" spc="-5" dirty="0">
                <a:latin typeface="Roboto"/>
                <a:cs typeface="Roboto"/>
              </a:rPr>
              <a:t>cost-</a:t>
            </a:r>
            <a:r>
              <a:rPr sz="1100" dirty="0">
                <a:latin typeface="Roboto"/>
                <a:cs typeface="Roboto"/>
              </a:rPr>
              <a:t>effective,</a:t>
            </a:r>
            <a:r>
              <a:rPr sz="1100" spc="-20" dirty="0">
                <a:latin typeface="Roboto"/>
                <a:cs typeface="Roboto"/>
              </a:rPr>
              <a:t> </a:t>
            </a:r>
            <a:r>
              <a:rPr sz="1100" dirty="0">
                <a:latin typeface="Roboto"/>
                <a:cs typeface="Roboto"/>
              </a:rPr>
              <a:t>flexible,</a:t>
            </a:r>
            <a:r>
              <a:rPr sz="1100" spc="-23" dirty="0">
                <a:latin typeface="Roboto"/>
                <a:cs typeface="Roboto"/>
              </a:rPr>
              <a:t> </a:t>
            </a:r>
            <a:r>
              <a:rPr sz="1100" dirty="0">
                <a:latin typeface="Roboto"/>
                <a:cs typeface="Roboto"/>
              </a:rPr>
              <a:t>and</a:t>
            </a:r>
            <a:r>
              <a:rPr sz="1100" spc="-20" dirty="0">
                <a:latin typeface="Roboto"/>
                <a:cs typeface="Roboto"/>
              </a:rPr>
              <a:t> </a:t>
            </a:r>
            <a:r>
              <a:rPr sz="1100" dirty="0">
                <a:latin typeface="Roboto"/>
                <a:cs typeface="Roboto"/>
              </a:rPr>
              <a:t>scalable</a:t>
            </a:r>
            <a:r>
              <a:rPr sz="1100" spc="-20" dirty="0">
                <a:latin typeface="Roboto"/>
                <a:cs typeface="Roboto"/>
              </a:rPr>
              <a:t> </a:t>
            </a:r>
            <a:r>
              <a:rPr sz="1100" dirty="0">
                <a:latin typeface="Roboto"/>
                <a:cs typeface="Roboto"/>
              </a:rPr>
              <a:t>email</a:t>
            </a:r>
            <a:r>
              <a:rPr sz="1100" spc="-20" dirty="0">
                <a:latin typeface="Roboto"/>
                <a:cs typeface="Roboto"/>
              </a:rPr>
              <a:t> </a:t>
            </a:r>
            <a:r>
              <a:rPr sz="1100" dirty="0">
                <a:latin typeface="Roboto"/>
                <a:cs typeface="Roboto"/>
              </a:rPr>
              <a:t>service</a:t>
            </a:r>
            <a:r>
              <a:rPr sz="1100" spc="-23" dirty="0">
                <a:latin typeface="Roboto"/>
                <a:cs typeface="Roboto"/>
              </a:rPr>
              <a:t> </a:t>
            </a:r>
            <a:r>
              <a:rPr sz="1100" dirty="0">
                <a:latin typeface="Roboto"/>
                <a:cs typeface="Roboto"/>
              </a:rPr>
              <a:t>that</a:t>
            </a:r>
            <a:r>
              <a:rPr sz="1100" spc="-20" dirty="0">
                <a:latin typeface="Roboto"/>
                <a:cs typeface="Roboto"/>
              </a:rPr>
              <a:t> </a:t>
            </a:r>
            <a:r>
              <a:rPr sz="1100" dirty="0">
                <a:latin typeface="Roboto"/>
                <a:cs typeface="Roboto"/>
              </a:rPr>
              <a:t>enables</a:t>
            </a:r>
            <a:r>
              <a:rPr sz="1100" spc="-20" dirty="0">
                <a:latin typeface="Roboto"/>
                <a:cs typeface="Roboto"/>
              </a:rPr>
              <a:t> </a:t>
            </a:r>
            <a:r>
              <a:rPr sz="1100" dirty="0">
                <a:latin typeface="Roboto"/>
                <a:cs typeface="Roboto"/>
              </a:rPr>
              <a:t>developers</a:t>
            </a:r>
            <a:r>
              <a:rPr sz="1100" spc="-20" dirty="0">
                <a:latin typeface="Roboto"/>
                <a:cs typeface="Roboto"/>
              </a:rPr>
              <a:t> </a:t>
            </a:r>
            <a:r>
              <a:rPr sz="1100" dirty="0">
                <a:latin typeface="Roboto"/>
                <a:cs typeface="Roboto"/>
              </a:rPr>
              <a:t>to</a:t>
            </a:r>
            <a:r>
              <a:rPr sz="1100" spc="-23" dirty="0">
                <a:latin typeface="Roboto"/>
                <a:cs typeface="Roboto"/>
              </a:rPr>
              <a:t> </a:t>
            </a:r>
            <a:r>
              <a:rPr sz="1100" dirty="0">
                <a:latin typeface="Roboto"/>
                <a:cs typeface="Roboto"/>
              </a:rPr>
              <a:t>send</a:t>
            </a:r>
            <a:r>
              <a:rPr sz="1100" spc="-20" dirty="0">
                <a:latin typeface="Roboto"/>
                <a:cs typeface="Roboto"/>
              </a:rPr>
              <a:t> </a:t>
            </a:r>
            <a:r>
              <a:rPr sz="1100" dirty="0">
                <a:latin typeface="Roboto"/>
                <a:cs typeface="Roboto"/>
              </a:rPr>
              <a:t>mail</a:t>
            </a:r>
            <a:r>
              <a:rPr sz="1100" spc="-20" dirty="0">
                <a:latin typeface="Roboto"/>
                <a:cs typeface="Roboto"/>
              </a:rPr>
              <a:t> </a:t>
            </a:r>
            <a:r>
              <a:rPr sz="1100" dirty="0">
                <a:latin typeface="Roboto"/>
                <a:cs typeface="Roboto"/>
              </a:rPr>
              <a:t>from</a:t>
            </a:r>
            <a:r>
              <a:rPr sz="1100" spc="-20" dirty="0">
                <a:latin typeface="Roboto"/>
                <a:cs typeface="Roboto"/>
              </a:rPr>
              <a:t> </a:t>
            </a:r>
            <a:r>
              <a:rPr sz="1100" spc="-5" dirty="0">
                <a:latin typeface="Roboto"/>
                <a:cs typeface="Roboto"/>
              </a:rPr>
              <a:t>within </a:t>
            </a:r>
            <a:r>
              <a:rPr sz="1100" dirty="0">
                <a:latin typeface="Roboto"/>
                <a:cs typeface="Roboto"/>
              </a:rPr>
              <a:t>any</a:t>
            </a:r>
            <a:r>
              <a:rPr sz="1100" spc="-28" dirty="0">
                <a:latin typeface="Roboto"/>
                <a:cs typeface="Roboto"/>
              </a:rPr>
              <a:t> </a:t>
            </a:r>
            <a:r>
              <a:rPr sz="1100" dirty="0">
                <a:latin typeface="Roboto"/>
                <a:cs typeface="Roboto"/>
              </a:rPr>
              <a:t>application.</a:t>
            </a:r>
            <a:r>
              <a:rPr sz="1100" spc="-25" dirty="0">
                <a:latin typeface="Roboto"/>
                <a:cs typeface="Roboto"/>
              </a:rPr>
              <a:t> </a:t>
            </a:r>
            <a:r>
              <a:rPr sz="1100" dirty="0">
                <a:latin typeface="Roboto"/>
                <a:cs typeface="Roboto"/>
              </a:rPr>
              <a:t>You</a:t>
            </a:r>
            <a:r>
              <a:rPr sz="1100" spc="-25" dirty="0">
                <a:latin typeface="Roboto"/>
                <a:cs typeface="Roboto"/>
              </a:rPr>
              <a:t> </a:t>
            </a:r>
            <a:r>
              <a:rPr sz="1100" dirty="0">
                <a:latin typeface="Roboto"/>
                <a:cs typeface="Roboto"/>
              </a:rPr>
              <a:t>can</a:t>
            </a:r>
            <a:r>
              <a:rPr sz="1100" spc="-25" dirty="0">
                <a:latin typeface="Roboto"/>
                <a:cs typeface="Roboto"/>
              </a:rPr>
              <a:t> </a:t>
            </a:r>
            <a:r>
              <a:rPr sz="1100" dirty="0">
                <a:latin typeface="Roboto"/>
                <a:cs typeface="Roboto"/>
              </a:rPr>
              <a:t>configure</a:t>
            </a:r>
            <a:r>
              <a:rPr sz="1100" spc="-25" dirty="0">
                <a:latin typeface="Roboto"/>
                <a:cs typeface="Roboto"/>
              </a:rPr>
              <a:t> </a:t>
            </a:r>
            <a:r>
              <a:rPr sz="1100" dirty="0">
                <a:latin typeface="Roboto"/>
                <a:cs typeface="Roboto"/>
              </a:rPr>
              <a:t>Amazon</a:t>
            </a:r>
            <a:r>
              <a:rPr sz="1100" spc="-28" dirty="0">
                <a:latin typeface="Roboto"/>
                <a:cs typeface="Roboto"/>
              </a:rPr>
              <a:t> </a:t>
            </a:r>
            <a:r>
              <a:rPr sz="1100" dirty="0">
                <a:latin typeface="Roboto"/>
                <a:cs typeface="Roboto"/>
              </a:rPr>
              <a:t>SES</a:t>
            </a:r>
            <a:r>
              <a:rPr sz="1100" spc="-25" dirty="0">
                <a:latin typeface="Roboto"/>
                <a:cs typeface="Roboto"/>
              </a:rPr>
              <a:t> </a:t>
            </a:r>
            <a:r>
              <a:rPr sz="1100" dirty="0">
                <a:latin typeface="Roboto"/>
                <a:cs typeface="Roboto"/>
              </a:rPr>
              <a:t>quickly</a:t>
            </a:r>
            <a:r>
              <a:rPr sz="1100" spc="-25" dirty="0">
                <a:latin typeface="Roboto"/>
                <a:cs typeface="Roboto"/>
              </a:rPr>
              <a:t> </a:t>
            </a:r>
            <a:r>
              <a:rPr sz="1100" dirty="0">
                <a:latin typeface="Roboto"/>
                <a:cs typeface="Roboto"/>
              </a:rPr>
              <a:t>to</a:t>
            </a:r>
            <a:r>
              <a:rPr sz="1100" spc="-25" dirty="0">
                <a:latin typeface="Roboto"/>
                <a:cs typeface="Roboto"/>
              </a:rPr>
              <a:t> </a:t>
            </a:r>
            <a:r>
              <a:rPr sz="1100" dirty="0">
                <a:latin typeface="Roboto"/>
                <a:cs typeface="Roboto"/>
              </a:rPr>
              <a:t>support</a:t>
            </a:r>
            <a:r>
              <a:rPr sz="1100" spc="-25" dirty="0">
                <a:latin typeface="Roboto"/>
                <a:cs typeface="Roboto"/>
              </a:rPr>
              <a:t> </a:t>
            </a:r>
            <a:r>
              <a:rPr sz="1100" dirty="0">
                <a:latin typeface="Roboto"/>
                <a:cs typeface="Roboto"/>
              </a:rPr>
              <a:t>several</a:t>
            </a:r>
            <a:r>
              <a:rPr sz="1100" spc="-28" dirty="0">
                <a:latin typeface="Roboto"/>
                <a:cs typeface="Roboto"/>
              </a:rPr>
              <a:t> </a:t>
            </a:r>
            <a:r>
              <a:rPr sz="1100" dirty="0">
                <a:latin typeface="Roboto"/>
                <a:cs typeface="Roboto"/>
              </a:rPr>
              <a:t>email</a:t>
            </a:r>
            <a:r>
              <a:rPr sz="1100" spc="-25" dirty="0">
                <a:latin typeface="Roboto"/>
                <a:cs typeface="Roboto"/>
              </a:rPr>
              <a:t> </a:t>
            </a:r>
            <a:r>
              <a:rPr sz="1100" dirty="0">
                <a:latin typeface="Roboto"/>
                <a:cs typeface="Roboto"/>
              </a:rPr>
              <a:t>use</a:t>
            </a:r>
            <a:r>
              <a:rPr sz="1100" spc="-25" dirty="0">
                <a:latin typeface="Roboto"/>
                <a:cs typeface="Roboto"/>
              </a:rPr>
              <a:t> </a:t>
            </a:r>
            <a:r>
              <a:rPr sz="1100" dirty="0">
                <a:latin typeface="Roboto"/>
                <a:cs typeface="Roboto"/>
              </a:rPr>
              <a:t>cases,</a:t>
            </a:r>
            <a:r>
              <a:rPr sz="1100" spc="-25" dirty="0">
                <a:latin typeface="Roboto"/>
                <a:cs typeface="Roboto"/>
              </a:rPr>
              <a:t> </a:t>
            </a:r>
            <a:r>
              <a:rPr sz="1100" dirty="0">
                <a:latin typeface="Roboto"/>
                <a:cs typeface="Roboto"/>
              </a:rPr>
              <a:t>including</a:t>
            </a:r>
            <a:r>
              <a:rPr sz="1100" spc="-25" dirty="0">
                <a:latin typeface="Roboto"/>
                <a:cs typeface="Roboto"/>
              </a:rPr>
              <a:t> </a:t>
            </a:r>
            <a:r>
              <a:rPr sz="1100" dirty="0">
                <a:latin typeface="Roboto"/>
                <a:cs typeface="Roboto"/>
              </a:rPr>
              <a:t>transactional,</a:t>
            </a:r>
            <a:r>
              <a:rPr sz="1100" spc="-28" dirty="0">
                <a:latin typeface="Roboto"/>
                <a:cs typeface="Roboto"/>
              </a:rPr>
              <a:t> </a:t>
            </a:r>
            <a:r>
              <a:rPr sz="1100" dirty="0">
                <a:latin typeface="Roboto"/>
                <a:cs typeface="Roboto"/>
              </a:rPr>
              <a:t>marketing,</a:t>
            </a:r>
            <a:r>
              <a:rPr sz="1100" spc="-25" dirty="0">
                <a:latin typeface="Roboto"/>
                <a:cs typeface="Roboto"/>
              </a:rPr>
              <a:t> </a:t>
            </a:r>
            <a:r>
              <a:rPr sz="1100" dirty="0">
                <a:latin typeface="Roboto"/>
                <a:cs typeface="Roboto"/>
              </a:rPr>
              <a:t>or</a:t>
            </a:r>
            <a:r>
              <a:rPr sz="1100" spc="-25" dirty="0">
                <a:latin typeface="Roboto"/>
                <a:cs typeface="Roboto"/>
              </a:rPr>
              <a:t> </a:t>
            </a:r>
            <a:r>
              <a:rPr sz="1100" dirty="0">
                <a:latin typeface="Roboto"/>
                <a:cs typeface="Roboto"/>
              </a:rPr>
              <a:t>mass</a:t>
            </a:r>
            <a:r>
              <a:rPr sz="1100" spc="-25" dirty="0">
                <a:latin typeface="Roboto"/>
                <a:cs typeface="Roboto"/>
              </a:rPr>
              <a:t> </a:t>
            </a:r>
            <a:r>
              <a:rPr sz="1100" spc="-10" dirty="0">
                <a:latin typeface="Roboto"/>
                <a:cs typeface="Roboto"/>
              </a:rPr>
              <a:t>email </a:t>
            </a:r>
            <a:r>
              <a:rPr sz="1100" dirty="0">
                <a:latin typeface="Roboto"/>
                <a:cs typeface="Roboto"/>
              </a:rPr>
              <a:t>communications.</a:t>
            </a:r>
            <a:r>
              <a:rPr sz="1100" spc="-28" dirty="0">
                <a:latin typeface="Roboto"/>
                <a:cs typeface="Roboto"/>
              </a:rPr>
              <a:t> </a:t>
            </a:r>
            <a:r>
              <a:rPr sz="1100" dirty="0">
                <a:latin typeface="Roboto"/>
                <a:cs typeface="Roboto"/>
              </a:rPr>
              <a:t>Amazon</a:t>
            </a:r>
            <a:r>
              <a:rPr sz="1100" spc="-28" dirty="0">
                <a:latin typeface="Roboto"/>
                <a:cs typeface="Roboto"/>
              </a:rPr>
              <a:t> </a:t>
            </a:r>
            <a:r>
              <a:rPr sz="1100" dirty="0">
                <a:latin typeface="Roboto"/>
                <a:cs typeface="Roboto"/>
              </a:rPr>
              <a:t>SES's</a:t>
            </a:r>
            <a:r>
              <a:rPr sz="1100" spc="-25" dirty="0">
                <a:latin typeface="Roboto"/>
                <a:cs typeface="Roboto"/>
              </a:rPr>
              <a:t> </a:t>
            </a:r>
            <a:r>
              <a:rPr sz="1100" dirty="0">
                <a:latin typeface="Roboto"/>
                <a:cs typeface="Roboto"/>
              </a:rPr>
              <a:t>flexible</a:t>
            </a:r>
            <a:r>
              <a:rPr sz="1100" spc="-28" dirty="0">
                <a:latin typeface="Roboto"/>
                <a:cs typeface="Roboto"/>
              </a:rPr>
              <a:t> </a:t>
            </a:r>
            <a:r>
              <a:rPr sz="1100" dirty="0">
                <a:latin typeface="Roboto"/>
                <a:cs typeface="Roboto"/>
              </a:rPr>
              <a:t>IP</a:t>
            </a:r>
            <a:r>
              <a:rPr sz="1100" spc="-25" dirty="0">
                <a:latin typeface="Roboto"/>
                <a:cs typeface="Roboto"/>
              </a:rPr>
              <a:t> </a:t>
            </a:r>
            <a:r>
              <a:rPr sz="1100" dirty="0">
                <a:latin typeface="Roboto"/>
                <a:cs typeface="Roboto"/>
              </a:rPr>
              <a:t>deployment</a:t>
            </a:r>
            <a:r>
              <a:rPr sz="1100" spc="-28" dirty="0">
                <a:latin typeface="Roboto"/>
                <a:cs typeface="Roboto"/>
              </a:rPr>
              <a:t> </a:t>
            </a:r>
            <a:r>
              <a:rPr sz="1100" dirty="0">
                <a:latin typeface="Roboto"/>
                <a:cs typeface="Roboto"/>
              </a:rPr>
              <a:t>and</a:t>
            </a:r>
            <a:r>
              <a:rPr sz="1100" spc="-25" dirty="0">
                <a:latin typeface="Roboto"/>
                <a:cs typeface="Roboto"/>
              </a:rPr>
              <a:t> </a:t>
            </a:r>
            <a:r>
              <a:rPr sz="1100" dirty="0">
                <a:latin typeface="Roboto"/>
                <a:cs typeface="Roboto"/>
              </a:rPr>
              <a:t>email</a:t>
            </a:r>
            <a:r>
              <a:rPr sz="1100" spc="-28" dirty="0">
                <a:latin typeface="Roboto"/>
                <a:cs typeface="Roboto"/>
              </a:rPr>
              <a:t> </a:t>
            </a:r>
            <a:r>
              <a:rPr sz="1100" dirty="0">
                <a:latin typeface="Roboto"/>
                <a:cs typeface="Roboto"/>
              </a:rPr>
              <a:t>authentication</a:t>
            </a:r>
            <a:r>
              <a:rPr sz="1100" spc="-25" dirty="0">
                <a:latin typeface="Roboto"/>
                <a:cs typeface="Roboto"/>
              </a:rPr>
              <a:t> </a:t>
            </a:r>
            <a:r>
              <a:rPr sz="1100" dirty="0">
                <a:latin typeface="Roboto"/>
                <a:cs typeface="Roboto"/>
              </a:rPr>
              <a:t>options</a:t>
            </a:r>
            <a:r>
              <a:rPr sz="1100" spc="-28" dirty="0">
                <a:latin typeface="Roboto"/>
                <a:cs typeface="Roboto"/>
              </a:rPr>
              <a:t> </a:t>
            </a:r>
            <a:r>
              <a:rPr sz="1100" dirty="0">
                <a:latin typeface="Roboto"/>
                <a:cs typeface="Roboto"/>
              </a:rPr>
              <a:t>help</a:t>
            </a:r>
            <a:r>
              <a:rPr sz="1100" spc="-25" dirty="0">
                <a:latin typeface="Roboto"/>
                <a:cs typeface="Roboto"/>
              </a:rPr>
              <a:t> </a:t>
            </a:r>
            <a:r>
              <a:rPr sz="1100" dirty="0">
                <a:latin typeface="Roboto"/>
                <a:cs typeface="Roboto"/>
              </a:rPr>
              <a:t>drive</a:t>
            </a:r>
            <a:r>
              <a:rPr sz="1100" spc="-28" dirty="0">
                <a:latin typeface="Roboto"/>
                <a:cs typeface="Roboto"/>
              </a:rPr>
              <a:t> </a:t>
            </a:r>
            <a:r>
              <a:rPr sz="1100" dirty="0">
                <a:latin typeface="Roboto"/>
                <a:cs typeface="Roboto"/>
              </a:rPr>
              <a:t>higher</a:t>
            </a:r>
            <a:r>
              <a:rPr sz="1100" spc="-25" dirty="0">
                <a:latin typeface="Roboto"/>
                <a:cs typeface="Roboto"/>
              </a:rPr>
              <a:t> </a:t>
            </a:r>
            <a:r>
              <a:rPr sz="1100" dirty="0">
                <a:latin typeface="Roboto"/>
                <a:cs typeface="Roboto"/>
              </a:rPr>
              <a:t>deliverability</a:t>
            </a:r>
            <a:r>
              <a:rPr sz="1100" spc="-28" dirty="0">
                <a:latin typeface="Roboto"/>
                <a:cs typeface="Roboto"/>
              </a:rPr>
              <a:t> </a:t>
            </a:r>
            <a:r>
              <a:rPr sz="1100" dirty="0">
                <a:latin typeface="Roboto"/>
                <a:cs typeface="Roboto"/>
              </a:rPr>
              <a:t>and</a:t>
            </a:r>
            <a:r>
              <a:rPr sz="1100" spc="-25" dirty="0">
                <a:latin typeface="Roboto"/>
                <a:cs typeface="Roboto"/>
              </a:rPr>
              <a:t> </a:t>
            </a:r>
            <a:r>
              <a:rPr sz="1100" dirty="0">
                <a:latin typeface="Roboto"/>
                <a:cs typeface="Roboto"/>
              </a:rPr>
              <a:t>protect</a:t>
            </a:r>
            <a:r>
              <a:rPr sz="1100" spc="-28" dirty="0">
                <a:latin typeface="Roboto"/>
                <a:cs typeface="Roboto"/>
              </a:rPr>
              <a:t> </a:t>
            </a:r>
            <a:r>
              <a:rPr sz="1100" spc="-5" dirty="0">
                <a:latin typeface="Roboto"/>
                <a:cs typeface="Roboto"/>
              </a:rPr>
              <a:t>sender </a:t>
            </a:r>
            <a:r>
              <a:rPr sz="1100" dirty="0">
                <a:latin typeface="Roboto"/>
                <a:cs typeface="Roboto"/>
              </a:rPr>
              <a:t>reputation,</a:t>
            </a:r>
            <a:r>
              <a:rPr sz="1100" spc="-23" dirty="0">
                <a:latin typeface="Roboto"/>
                <a:cs typeface="Roboto"/>
              </a:rPr>
              <a:t> </a:t>
            </a:r>
            <a:r>
              <a:rPr sz="1100" dirty="0">
                <a:latin typeface="Roboto"/>
                <a:cs typeface="Roboto"/>
              </a:rPr>
              <a:t>while</a:t>
            </a:r>
            <a:r>
              <a:rPr sz="1100" spc="-23" dirty="0">
                <a:latin typeface="Roboto"/>
                <a:cs typeface="Roboto"/>
              </a:rPr>
              <a:t> </a:t>
            </a:r>
            <a:r>
              <a:rPr sz="1100" dirty="0">
                <a:latin typeface="Roboto"/>
                <a:cs typeface="Roboto"/>
              </a:rPr>
              <a:t>sending</a:t>
            </a:r>
            <a:r>
              <a:rPr sz="1100" spc="-23" dirty="0">
                <a:latin typeface="Roboto"/>
                <a:cs typeface="Roboto"/>
              </a:rPr>
              <a:t> </a:t>
            </a:r>
            <a:r>
              <a:rPr sz="1100" dirty="0">
                <a:latin typeface="Roboto"/>
                <a:cs typeface="Roboto"/>
              </a:rPr>
              <a:t>analytics</a:t>
            </a:r>
            <a:r>
              <a:rPr sz="1100" spc="-23" dirty="0">
                <a:latin typeface="Roboto"/>
                <a:cs typeface="Roboto"/>
              </a:rPr>
              <a:t> </a:t>
            </a:r>
            <a:r>
              <a:rPr sz="1100" dirty="0">
                <a:latin typeface="Roboto"/>
                <a:cs typeface="Roboto"/>
              </a:rPr>
              <a:t>measure</a:t>
            </a:r>
            <a:r>
              <a:rPr sz="1100" spc="-23" dirty="0">
                <a:latin typeface="Roboto"/>
                <a:cs typeface="Roboto"/>
              </a:rPr>
              <a:t> </a:t>
            </a:r>
            <a:r>
              <a:rPr sz="1100" dirty="0">
                <a:latin typeface="Roboto"/>
                <a:cs typeface="Roboto"/>
              </a:rPr>
              <a:t>the</a:t>
            </a:r>
            <a:r>
              <a:rPr sz="1100" spc="-20" dirty="0">
                <a:latin typeface="Roboto"/>
                <a:cs typeface="Roboto"/>
              </a:rPr>
              <a:t> </a:t>
            </a:r>
            <a:r>
              <a:rPr sz="1100" dirty="0">
                <a:latin typeface="Roboto"/>
                <a:cs typeface="Roboto"/>
              </a:rPr>
              <a:t>impact</a:t>
            </a:r>
            <a:r>
              <a:rPr sz="1100" spc="-23" dirty="0">
                <a:latin typeface="Roboto"/>
                <a:cs typeface="Roboto"/>
              </a:rPr>
              <a:t> </a:t>
            </a:r>
            <a:r>
              <a:rPr sz="1100" dirty="0">
                <a:latin typeface="Roboto"/>
                <a:cs typeface="Roboto"/>
              </a:rPr>
              <a:t>of</a:t>
            </a:r>
            <a:r>
              <a:rPr sz="1100" spc="-23" dirty="0">
                <a:latin typeface="Roboto"/>
                <a:cs typeface="Roboto"/>
              </a:rPr>
              <a:t> </a:t>
            </a:r>
            <a:r>
              <a:rPr sz="1100" dirty="0">
                <a:latin typeface="Roboto"/>
                <a:cs typeface="Roboto"/>
              </a:rPr>
              <a:t>each</a:t>
            </a:r>
            <a:r>
              <a:rPr sz="1100" spc="-23" dirty="0">
                <a:latin typeface="Roboto"/>
                <a:cs typeface="Roboto"/>
              </a:rPr>
              <a:t> </a:t>
            </a:r>
            <a:r>
              <a:rPr sz="1100" dirty="0">
                <a:latin typeface="Roboto"/>
                <a:cs typeface="Roboto"/>
              </a:rPr>
              <a:t>email.</a:t>
            </a:r>
            <a:r>
              <a:rPr sz="1100" spc="-23" dirty="0">
                <a:latin typeface="Roboto"/>
                <a:cs typeface="Roboto"/>
              </a:rPr>
              <a:t> </a:t>
            </a:r>
            <a:r>
              <a:rPr sz="1100" dirty="0">
                <a:latin typeface="Roboto"/>
                <a:cs typeface="Roboto"/>
              </a:rPr>
              <a:t>With</a:t>
            </a:r>
            <a:r>
              <a:rPr sz="1100" spc="-23" dirty="0">
                <a:latin typeface="Roboto"/>
                <a:cs typeface="Roboto"/>
              </a:rPr>
              <a:t> </a:t>
            </a:r>
            <a:r>
              <a:rPr sz="1100" dirty="0">
                <a:latin typeface="Roboto"/>
                <a:cs typeface="Roboto"/>
              </a:rPr>
              <a:t>Amazon</a:t>
            </a:r>
            <a:r>
              <a:rPr sz="1100" spc="-20" dirty="0">
                <a:latin typeface="Roboto"/>
                <a:cs typeface="Roboto"/>
              </a:rPr>
              <a:t> </a:t>
            </a:r>
            <a:r>
              <a:rPr sz="1100" dirty="0">
                <a:latin typeface="Roboto"/>
                <a:cs typeface="Roboto"/>
              </a:rPr>
              <a:t>SES,</a:t>
            </a:r>
            <a:r>
              <a:rPr sz="1100" spc="-23" dirty="0">
                <a:latin typeface="Roboto"/>
                <a:cs typeface="Roboto"/>
              </a:rPr>
              <a:t> </a:t>
            </a:r>
            <a:r>
              <a:rPr sz="1100" dirty="0">
                <a:latin typeface="Roboto"/>
                <a:cs typeface="Roboto"/>
              </a:rPr>
              <a:t>you</a:t>
            </a:r>
            <a:r>
              <a:rPr sz="1100" spc="-23" dirty="0">
                <a:latin typeface="Roboto"/>
                <a:cs typeface="Roboto"/>
              </a:rPr>
              <a:t> </a:t>
            </a:r>
            <a:r>
              <a:rPr sz="1100" dirty="0">
                <a:latin typeface="Roboto"/>
                <a:cs typeface="Roboto"/>
              </a:rPr>
              <a:t>can</a:t>
            </a:r>
            <a:r>
              <a:rPr sz="1100" spc="-23" dirty="0">
                <a:latin typeface="Roboto"/>
                <a:cs typeface="Roboto"/>
              </a:rPr>
              <a:t> </a:t>
            </a:r>
            <a:r>
              <a:rPr sz="1100" dirty="0">
                <a:latin typeface="Roboto"/>
                <a:cs typeface="Roboto"/>
              </a:rPr>
              <a:t>send</a:t>
            </a:r>
            <a:r>
              <a:rPr sz="1100" spc="-23" dirty="0">
                <a:latin typeface="Roboto"/>
                <a:cs typeface="Roboto"/>
              </a:rPr>
              <a:t> </a:t>
            </a:r>
            <a:r>
              <a:rPr sz="1100" dirty="0">
                <a:latin typeface="Roboto"/>
                <a:cs typeface="Roboto"/>
              </a:rPr>
              <a:t>email</a:t>
            </a:r>
            <a:r>
              <a:rPr sz="1100" spc="-20" dirty="0">
                <a:latin typeface="Roboto"/>
                <a:cs typeface="Roboto"/>
              </a:rPr>
              <a:t> </a:t>
            </a:r>
            <a:r>
              <a:rPr sz="1100" dirty="0">
                <a:latin typeface="Roboto"/>
                <a:cs typeface="Roboto"/>
              </a:rPr>
              <a:t>securely,</a:t>
            </a:r>
            <a:r>
              <a:rPr sz="1100" spc="-23" dirty="0">
                <a:latin typeface="Roboto"/>
                <a:cs typeface="Roboto"/>
              </a:rPr>
              <a:t> </a:t>
            </a:r>
            <a:r>
              <a:rPr sz="1100" dirty="0">
                <a:latin typeface="Roboto"/>
                <a:cs typeface="Roboto"/>
              </a:rPr>
              <a:t>globally,</a:t>
            </a:r>
            <a:r>
              <a:rPr sz="1100" spc="-23" dirty="0">
                <a:latin typeface="Roboto"/>
                <a:cs typeface="Roboto"/>
              </a:rPr>
              <a:t> </a:t>
            </a:r>
            <a:r>
              <a:rPr sz="1100" dirty="0">
                <a:latin typeface="Roboto"/>
                <a:cs typeface="Roboto"/>
              </a:rPr>
              <a:t>and</a:t>
            </a:r>
            <a:r>
              <a:rPr sz="1100" spc="-23" dirty="0">
                <a:latin typeface="Roboto"/>
                <a:cs typeface="Roboto"/>
              </a:rPr>
              <a:t> </a:t>
            </a:r>
            <a:r>
              <a:rPr sz="1100" dirty="0">
                <a:latin typeface="Roboto"/>
                <a:cs typeface="Roboto"/>
              </a:rPr>
              <a:t>at</a:t>
            </a:r>
            <a:r>
              <a:rPr sz="1100" spc="-23" dirty="0">
                <a:latin typeface="Roboto"/>
                <a:cs typeface="Roboto"/>
              </a:rPr>
              <a:t> </a:t>
            </a:r>
            <a:r>
              <a:rPr sz="1100" spc="-5" dirty="0">
                <a:latin typeface="Roboto"/>
                <a:cs typeface="Roboto"/>
              </a:rPr>
              <a:t>scale.</a:t>
            </a:r>
            <a:endParaRPr sz="1100">
              <a:latin typeface="Roboto"/>
              <a:cs typeface="Roboto"/>
            </a:endParaRPr>
          </a:p>
          <a:p>
            <a:pPr marR="907732" algn="ctr">
              <a:spcBef>
                <a:spcPts val="573"/>
              </a:spcBef>
            </a:pPr>
            <a:r>
              <a:rPr sz="1200" b="1" dirty="0">
                <a:latin typeface="Open Sans Extrabold"/>
                <a:cs typeface="Open Sans Extrabold"/>
              </a:rPr>
              <a:t>Points to </a:t>
            </a:r>
            <a:r>
              <a:rPr sz="1200" b="1" spc="-5" dirty="0">
                <a:latin typeface="Open Sans Extrabold"/>
                <a:cs typeface="Open Sans Extrabold"/>
              </a:rPr>
              <a:t>focus</a:t>
            </a:r>
            <a:endParaRPr sz="1200">
              <a:latin typeface="Open Sans Extrabold"/>
              <a:cs typeface="Open Sans Extrabold"/>
            </a:endParaRPr>
          </a:p>
          <a:p>
            <a:pPr marL="6350">
              <a:spcBef>
                <a:spcPts val="1278"/>
              </a:spcBef>
              <a:tabLst>
                <a:tab pos="1183958" algn="l"/>
              </a:tabLst>
            </a:pPr>
            <a:r>
              <a:rPr sz="1100" b="1" dirty="0">
                <a:latin typeface="Roboto"/>
                <a:cs typeface="Roboto"/>
              </a:rPr>
              <a:t>Key</a:t>
            </a:r>
            <a:r>
              <a:rPr sz="1100" b="1" spc="-15" dirty="0">
                <a:latin typeface="Roboto"/>
                <a:cs typeface="Roboto"/>
              </a:rPr>
              <a:t> </a:t>
            </a:r>
            <a:r>
              <a:rPr sz="1100" b="1" dirty="0">
                <a:latin typeface="Roboto"/>
                <a:cs typeface="Roboto"/>
              </a:rPr>
              <a:t>parts</a:t>
            </a:r>
            <a:r>
              <a:rPr sz="1100" b="1" spc="-13" dirty="0">
                <a:latin typeface="Roboto"/>
                <a:cs typeface="Roboto"/>
              </a:rPr>
              <a:t> </a:t>
            </a:r>
            <a:r>
              <a:rPr sz="1100" b="1" dirty="0">
                <a:latin typeface="Roboto"/>
                <a:cs typeface="Roboto"/>
              </a:rPr>
              <a:t>need</a:t>
            </a:r>
            <a:r>
              <a:rPr sz="1100" b="1" spc="-15" dirty="0">
                <a:latin typeface="Roboto"/>
                <a:cs typeface="Roboto"/>
              </a:rPr>
              <a:t> </a:t>
            </a:r>
            <a:r>
              <a:rPr sz="1100" b="1" spc="-13" dirty="0">
                <a:latin typeface="Roboto"/>
                <a:cs typeface="Roboto"/>
              </a:rPr>
              <a:t>to</a:t>
            </a:r>
            <a:r>
              <a:rPr sz="1100" b="1" dirty="0">
                <a:latin typeface="Roboto"/>
                <a:cs typeface="Roboto"/>
              </a:rPr>
              <a:t>	</a:t>
            </a:r>
            <a:r>
              <a:rPr sz="1100" dirty="0">
                <a:latin typeface="Roboto"/>
                <a:cs typeface="Roboto"/>
              </a:rPr>
              <a:t>Domain</a:t>
            </a:r>
            <a:r>
              <a:rPr sz="1100" spc="-20" dirty="0">
                <a:latin typeface="Roboto"/>
                <a:cs typeface="Roboto"/>
              </a:rPr>
              <a:t> </a:t>
            </a:r>
            <a:r>
              <a:rPr sz="1100" dirty="0">
                <a:latin typeface="Roboto"/>
                <a:cs typeface="Roboto"/>
              </a:rPr>
              <a:t>verification</a:t>
            </a:r>
            <a:r>
              <a:rPr sz="1100" spc="-20" dirty="0">
                <a:latin typeface="Roboto"/>
                <a:cs typeface="Roboto"/>
              </a:rPr>
              <a:t> </a:t>
            </a:r>
            <a:r>
              <a:rPr sz="1100" dirty="0">
                <a:latin typeface="Roboto"/>
                <a:cs typeface="Roboto"/>
              </a:rPr>
              <a:t>using</a:t>
            </a:r>
            <a:r>
              <a:rPr sz="1100" spc="-20" dirty="0">
                <a:latin typeface="Roboto"/>
                <a:cs typeface="Roboto"/>
              </a:rPr>
              <a:t> </a:t>
            </a:r>
            <a:r>
              <a:rPr sz="1100" dirty="0">
                <a:latin typeface="Roboto"/>
                <a:cs typeface="Roboto"/>
              </a:rPr>
              <a:t>DNS</a:t>
            </a:r>
            <a:r>
              <a:rPr sz="1100" spc="-18" dirty="0">
                <a:latin typeface="Roboto"/>
                <a:cs typeface="Roboto"/>
              </a:rPr>
              <a:t> </a:t>
            </a:r>
            <a:r>
              <a:rPr sz="1100" dirty="0">
                <a:latin typeface="Roboto"/>
                <a:cs typeface="Roboto"/>
              </a:rPr>
              <a:t>records,</a:t>
            </a:r>
            <a:r>
              <a:rPr sz="1100" spc="-20" dirty="0">
                <a:latin typeface="Roboto"/>
                <a:cs typeface="Roboto"/>
              </a:rPr>
              <a:t> </a:t>
            </a:r>
            <a:r>
              <a:rPr sz="1100" dirty="0">
                <a:latin typeface="Roboto"/>
                <a:cs typeface="Roboto"/>
              </a:rPr>
              <a:t>SES</a:t>
            </a:r>
            <a:r>
              <a:rPr sz="1100" spc="-20" dirty="0">
                <a:latin typeface="Roboto"/>
                <a:cs typeface="Roboto"/>
              </a:rPr>
              <a:t> </a:t>
            </a:r>
            <a:r>
              <a:rPr sz="1100" dirty="0">
                <a:latin typeface="Roboto"/>
                <a:cs typeface="Roboto"/>
              </a:rPr>
              <a:t>can</a:t>
            </a:r>
            <a:r>
              <a:rPr sz="1100" spc="-20" dirty="0">
                <a:latin typeface="Roboto"/>
                <a:cs typeface="Roboto"/>
              </a:rPr>
              <a:t> </a:t>
            </a:r>
            <a:r>
              <a:rPr sz="1100" dirty="0">
                <a:latin typeface="Roboto"/>
                <a:cs typeface="Roboto"/>
              </a:rPr>
              <a:t>be</a:t>
            </a:r>
            <a:r>
              <a:rPr sz="1100" spc="-18" dirty="0">
                <a:latin typeface="Roboto"/>
                <a:cs typeface="Roboto"/>
              </a:rPr>
              <a:t> </a:t>
            </a:r>
            <a:r>
              <a:rPr sz="1100" dirty="0">
                <a:latin typeface="Roboto"/>
                <a:cs typeface="Roboto"/>
              </a:rPr>
              <a:t>used</a:t>
            </a:r>
            <a:r>
              <a:rPr sz="1100" spc="-20" dirty="0">
                <a:latin typeface="Roboto"/>
                <a:cs typeface="Roboto"/>
              </a:rPr>
              <a:t> </a:t>
            </a:r>
            <a:r>
              <a:rPr sz="1100" dirty="0">
                <a:latin typeface="Roboto"/>
                <a:cs typeface="Roboto"/>
              </a:rPr>
              <a:t>for</a:t>
            </a:r>
            <a:r>
              <a:rPr sz="1100" spc="-20" dirty="0">
                <a:latin typeface="Roboto"/>
                <a:cs typeface="Roboto"/>
              </a:rPr>
              <a:t> </a:t>
            </a:r>
            <a:r>
              <a:rPr sz="1100" dirty="0">
                <a:latin typeface="Roboto"/>
                <a:cs typeface="Roboto"/>
              </a:rPr>
              <a:t>both</a:t>
            </a:r>
            <a:r>
              <a:rPr sz="1100" spc="-18" dirty="0">
                <a:latin typeface="Roboto"/>
                <a:cs typeface="Roboto"/>
              </a:rPr>
              <a:t> </a:t>
            </a:r>
            <a:r>
              <a:rPr sz="1100" dirty="0">
                <a:latin typeface="Roboto"/>
                <a:cs typeface="Roboto"/>
              </a:rPr>
              <a:t>sending</a:t>
            </a:r>
            <a:r>
              <a:rPr sz="1100" spc="-20" dirty="0">
                <a:latin typeface="Roboto"/>
                <a:cs typeface="Roboto"/>
              </a:rPr>
              <a:t> </a:t>
            </a:r>
            <a:r>
              <a:rPr sz="1100" dirty="0">
                <a:latin typeface="Roboto"/>
                <a:cs typeface="Roboto"/>
              </a:rPr>
              <a:t>and</a:t>
            </a:r>
            <a:r>
              <a:rPr sz="1100" spc="-20" dirty="0">
                <a:latin typeface="Roboto"/>
                <a:cs typeface="Roboto"/>
              </a:rPr>
              <a:t> </a:t>
            </a:r>
            <a:r>
              <a:rPr sz="1100" dirty="0">
                <a:latin typeface="Roboto"/>
                <a:cs typeface="Roboto"/>
              </a:rPr>
              <a:t>receiving</a:t>
            </a:r>
            <a:r>
              <a:rPr sz="1100" spc="-20" dirty="0">
                <a:latin typeface="Roboto"/>
                <a:cs typeface="Roboto"/>
              </a:rPr>
              <a:t> </a:t>
            </a:r>
            <a:r>
              <a:rPr sz="1100" dirty="0">
                <a:latin typeface="Roboto"/>
                <a:cs typeface="Roboto"/>
              </a:rPr>
              <a:t>emails,</a:t>
            </a:r>
            <a:r>
              <a:rPr sz="1100" spc="-18" dirty="0">
                <a:latin typeface="Roboto"/>
                <a:cs typeface="Roboto"/>
              </a:rPr>
              <a:t> </a:t>
            </a:r>
            <a:r>
              <a:rPr sz="1100" dirty="0">
                <a:latin typeface="Roboto"/>
                <a:cs typeface="Roboto"/>
              </a:rPr>
              <a:t>emails</a:t>
            </a:r>
            <a:r>
              <a:rPr sz="1100" spc="-20" dirty="0">
                <a:latin typeface="Roboto"/>
                <a:cs typeface="Roboto"/>
              </a:rPr>
              <a:t> </a:t>
            </a:r>
            <a:r>
              <a:rPr sz="1100" dirty="0">
                <a:latin typeface="Roboto"/>
                <a:cs typeface="Roboto"/>
              </a:rPr>
              <a:t>can</a:t>
            </a:r>
            <a:r>
              <a:rPr sz="1100" spc="-20" dirty="0">
                <a:latin typeface="Roboto"/>
                <a:cs typeface="Roboto"/>
              </a:rPr>
              <a:t> </a:t>
            </a:r>
            <a:r>
              <a:rPr sz="1100" dirty="0">
                <a:latin typeface="Roboto"/>
                <a:cs typeface="Roboto"/>
              </a:rPr>
              <a:t>be</a:t>
            </a:r>
            <a:r>
              <a:rPr sz="1100" spc="-18" dirty="0">
                <a:latin typeface="Roboto"/>
                <a:cs typeface="Roboto"/>
              </a:rPr>
              <a:t> </a:t>
            </a:r>
            <a:r>
              <a:rPr sz="1100" dirty="0">
                <a:latin typeface="Roboto"/>
                <a:cs typeface="Roboto"/>
              </a:rPr>
              <a:t>sent</a:t>
            </a:r>
            <a:r>
              <a:rPr sz="1100" spc="-20" dirty="0">
                <a:latin typeface="Roboto"/>
                <a:cs typeface="Roboto"/>
              </a:rPr>
              <a:t> </a:t>
            </a:r>
            <a:r>
              <a:rPr sz="1100" dirty="0">
                <a:latin typeface="Roboto"/>
                <a:cs typeface="Roboto"/>
              </a:rPr>
              <a:t>via</a:t>
            </a:r>
            <a:r>
              <a:rPr sz="1100" spc="-20" dirty="0">
                <a:latin typeface="Roboto"/>
                <a:cs typeface="Roboto"/>
              </a:rPr>
              <a:t> </a:t>
            </a:r>
            <a:r>
              <a:rPr sz="1100" spc="-13" dirty="0">
                <a:latin typeface="Roboto"/>
                <a:cs typeface="Roboto"/>
              </a:rPr>
              <a:t>SES</a:t>
            </a:r>
            <a:endParaRPr sz="1100">
              <a:latin typeface="Roboto"/>
              <a:cs typeface="Roboto"/>
            </a:endParaRPr>
          </a:p>
          <a:p>
            <a:pPr marL="410528">
              <a:spcBef>
                <a:spcPts val="217"/>
              </a:spcBef>
              <a:tabLst>
                <a:tab pos="1183958" algn="l"/>
                <a:tab pos="1787843" algn="l"/>
              </a:tabLst>
            </a:pPr>
            <a:r>
              <a:rPr sz="1100" b="1" dirty="0">
                <a:latin typeface="Roboto"/>
                <a:cs typeface="Roboto"/>
              </a:rPr>
              <a:t>be</a:t>
            </a:r>
            <a:r>
              <a:rPr sz="1100" b="1" spc="-5" dirty="0">
                <a:latin typeface="Roboto"/>
                <a:cs typeface="Roboto"/>
              </a:rPr>
              <a:t> covered</a:t>
            </a:r>
            <a:r>
              <a:rPr sz="1100" b="1" dirty="0">
                <a:latin typeface="Roboto"/>
                <a:cs typeface="Roboto"/>
              </a:rPr>
              <a:t>	</a:t>
            </a:r>
            <a:r>
              <a:rPr sz="1100" spc="-5" dirty="0">
                <a:latin typeface="Roboto"/>
                <a:cs typeface="Roboto"/>
              </a:rPr>
              <a:t>Console,</a:t>
            </a:r>
            <a:r>
              <a:rPr sz="1100" dirty="0">
                <a:latin typeface="Roboto"/>
                <a:cs typeface="Roboto"/>
              </a:rPr>
              <a:t>	SMTP</a:t>
            </a:r>
            <a:r>
              <a:rPr sz="1100" spc="-15" dirty="0">
                <a:latin typeface="Roboto"/>
                <a:cs typeface="Roboto"/>
              </a:rPr>
              <a:t> </a:t>
            </a:r>
            <a:r>
              <a:rPr sz="1100" dirty="0">
                <a:latin typeface="Roboto"/>
                <a:cs typeface="Roboto"/>
              </a:rPr>
              <a:t>protocol</a:t>
            </a:r>
            <a:r>
              <a:rPr sz="1100" spc="-15" dirty="0">
                <a:latin typeface="Roboto"/>
                <a:cs typeface="Roboto"/>
              </a:rPr>
              <a:t> </a:t>
            </a:r>
            <a:r>
              <a:rPr sz="1100" dirty="0">
                <a:latin typeface="Roboto"/>
                <a:cs typeface="Roboto"/>
              </a:rPr>
              <a:t>&amp;</a:t>
            </a:r>
            <a:r>
              <a:rPr sz="1100" spc="-15" dirty="0">
                <a:latin typeface="Roboto"/>
                <a:cs typeface="Roboto"/>
              </a:rPr>
              <a:t> </a:t>
            </a:r>
            <a:r>
              <a:rPr sz="1100" dirty="0">
                <a:latin typeface="Roboto"/>
                <a:cs typeface="Roboto"/>
              </a:rPr>
              <a:t>SES</a:t>
            </a:r>
            <a:r>
              <a:rPr sz="1100" spc="-15" dirty="0">
                <a:latin typeface="Roboto"/>
                <a:cs typeface="Roboto"/>
              </a:rPr>
              <a:t> </a:t>
            </a:r>
            <a:r>
              <a:rPr sz="1100" dirty="0">
                <a:latin typeface="Roboto"/>
                <a:cs typeface="Roboto"/>
              </a:rPr>
              <a:t>API</a:t>
            </a:r>
            <a:r>
              <a:rPr sz="1100" spc="-15" dirty="0">
                <a:latin typeface="Roboto"/>
                <a:cs typeface="Roboto"/>
              </a:rPr>
              <a:t> </a:t>
            </a:r>
            <a:r>
              <a:rPr sz="1100" dirty="0">
                <a:latin typeface="Roboto"/>
                <a:cs typeface="Roboto"/>
              </a:rPr>
              <a:t>using</a:t>
            </a:r>
            <a:r>
              <a:rPr sz="1100" spc="-13" dirty="0">
                <a:latin typeface="Roboto"/>
                <a:cs typeface="Roboto"/>
              </a:rPr>
              <a:t> </a:t>
            </a:r>
            <a:r>
              <a:rPr sz="1100" dirty="0">
                <a:latin typeface="Roboto"/>
                <a:cs typeface="Roboto"/>
              </a:rPr>
              <a:t>AWS</a:t>
            </a:r>
            <a:r>
              <a:rPr sz="1100" spc="-15" dirty="0">
                <a:latin typeface="Roboto"/>
                <a:cs typeface="Roboto"/>
              </a:rPr>
              <a:t> </a:t>
            </a:r>
            <a:r>
              <a:rPr sz="1100" dirty="0">
                <a:latin typeface="Roboto"/>
                <a:cs typeface="Roboto"/>
              </a:rPr>
              <a:t>SDK</a:t>
            </a:r>
            <a:r>
              <a:rPr sz="1100" spc="-15" dirty="0">
                <a:latin typeface="Roboto"/>
                <a:cs typeface="Roboto"/>
              </a:rPr>
              <a:t> </a:t>
            </a:r>
            <a:r>
              <a:rPr sz="1100" dirty="0">
                <a:latin typeface="Roboto"/>
                <a:cs typeface="Roboto"/>
              </a:rPr>
              <a:t>or</a:t>
            </a:r>
            <a:r>
              <a:rPr sz="1100" spc="-15" dirty="0">
                <a:latin typeface="Roboto"/>
                <a:cs typeface="Roboto"/>
              </a:rPr>
              <a:t> </a:t>
            </a:r>
            <a:r>
              <a:rPr sz="1100" dirty="0">
                <a:latin typeface="Roboto"/>
                <a:cs typeface="Roboto"/>
              </a:rPr>
              <a:t>AWS</a:t>
            </a:r>
            <a:r>
              <a:rPr sz="1100" spc="-15" dirty="0">
                <a:latin typeface="Roboto"/>
                <a:cs typeface="Roboto"/>
              </a:rPr>
              <a:t> </a:t>
            </a:r>
            <a:r>
              <a:rPr sz="1100" spc="-13" dirty="0">
                <a:latin typeface="Roboto"/>
                <a:cs typeface="Roboto"/>
              </a:rPr>
              <a:t>CLI</a:t>
            </a:r>
            <a:endParaRPr sz="1100">
              <a:latin typeface="Roboto"/>
              <a:cs typeface="Roboto"/>
            </a:endParaRPr>
          </a:p>
        </p:txBody>
      </p:sp>
      <p:sp>
        <p:nvSpPr>
          <p:cNvPr id="4" name="object 4"/>
          <p:cNvSpPr txBox="1"/>
          <p:nvPr/>
        </p:nvSpPr>
        <p:spPr>
          <a:xfrm>
            <a:off x="8173736" y="56320"/>
            <a:ext cx="911860" cy="138499"/>
          </a:xfrm>
          <a:prstGeom prst="rect">
            <a:avLst/>
          </a:prstGeom>
        </p:spPr>
        <p:txBody>
          <a:bodyPr vert="horz" wrap="square" lIns="0" tIns="7620" rIns="0" bIns="0" rtlCol="0">
            <a:spAutoFit/>
          </a:bodyPr>
          <a:lstStyle/>
          <a:p>
            <a:pPr marL="6350">
              <a:spcBef>
                <a:spcPts val="60"/>
              </a:spcBef>
            </a:pPr>
            <a:r>
              <a:rPr sz="850" dirty="0">
                <a:solidFill>
                  <a:srgbClr val="13110E"/>
                </a:solidFill>
                <a:latin typeface="Open Sans Light"/>
                <a:cs typeface="Open Sans Light"/>
              </a:rPr>
              <a:t>Learn</a:t>
            </a:r>
            <a:r>
              <a:rPr sz="850" spc="15" dirty="0">
                <a:solidFill>
                  <a:srgbClr val="13110E"/>
                </a:solidFill>
                <a:latin typeface="Open Sans Light"/>
                <a:cs typeface="Open Sans Light"/>
              </a:rPr>
              <a:t> </a:t>
            </a:r>
            <a:r>
              <a:rPr sz="850" dirty="0">
                <a:solidFill>
                  <a:srgbClr val="13110E"/>
                </a:solidFill>
                <a:latin typeface="Open Sans Light"/>
                <a:cs typeface="Open Sans Light"/>
              </a:rPr>
              <a:t>With</a:t>
            </a:r>
            <a:r>
              <a:rPr sz="850" spc="15" dirty="0">
                <a:solidFill>
                  <a:srgbClr val="13110E"/>
                </a:solidFill>
                <a:latin typeface="Open Sans Light"/>
                <a:cs typeface="Open Sans Light"/>
              </a:rPr>
              <a:t> </a:t>
            </a:r>
            <a:r>
              <a:rPr sz="850" spc="-5" dirty="0">
                <a:solidFill>
                  <a:srgbClr val="13110E"/>
                </a:solidFill>
                <a:latin typeface="Open Sans Light"/>
                <a:cs typeface="Open Sans Light"/>
              </a:rPr>
              <a:t>Sandip</a:t>
            </a:r>
            <a:endParaRPr sz="850">
              <a:latin typeface="Open Sans Light"/>
              <a:cs typeface="Open Sans Light"/>
            </a:endParaRPr>
          </a:p>
        </p:txBody>
      </p:sp>
      <p:sp>
        <p:nvSpPr>
          <p:cNvPr id="7" name="object 7"/>
          <p:cNvSpPr txBox="1"/>
          <p:nvPr/>
        </p:nvSpPr>
        <p:spPr>
          <a:xfrm>
            <a:off x="1006827" y="3018688"/>
            <a:ext cx="7857808" cy="966547"/>
          </a:xfrm>
          <a:prstGeom prst="rect">
            <a:avLst/>
          </a:prstGeom>
        </p:spPr>
        <p:txBody>
          <a:bodyPr vert="horz" wrap="square" lIns="0" tIns="6350" rIns="0" bIns="0" rtlCol="0">
            <a:spAutoFit/>
          </a:bodyPr>
          <a:lstStyle/>
          <a:p>
            <a:pPr marL="388303" marR="53340" indent="-371158">
              <a:lnSpc>
                <a:spcPct val="116500"/>
              </a:lnSpc>
              <a:spcBef>
                <a:spcPts val="50"/>
              </a:spcBef>
              <a:tabLst>
                <a:tab pos="387985" algn="l"/>
              </a:tabLst>
            </a:pPr>
            <a:r>
              <a:rPr sz="1100" b="1" spc="-10" dirty="0">
                <a:latin typeface="Roboto"/>
                <a:cs typeface="Roboto"/>
              </a:rPr>
              <a:t>Cost</a:t>
            </a:r>
            <a:r>
              <a:rPr sz="1100" b="1" dirty="0">
                <a:latin typeface="Roboto"/>
                <a:cs typeface="Roboto"/>
              </a:rPr>
              <a:t>	</a:t>
            </a:r>
            <a:r>
              <a:rPr sz="1100" dirty="0">
                <a:latin typeface="Roboto"/>
                <a:cs typeface="Roboto"/>
              </a:rPr>
              <a:t>62,000</a:t>
            </a:r>
            <a:r>
              <a:rPr sz="1100" spc="-23" dirty="0">
                <a:latin typeface="Roboto"/>
                <a:cs typeface="Roboto"/>
              </a:rPr>
              <a:t> </a:t>
            </a:r>
            <a:r>
              <a:rPr sz="1100" dirty="0">
                <a:latin typeface="Roboto"/>
                <a:cs typeface="Roboto"/>
              </a:rPr>
              <a:t>emails</a:t>
            </a:r>
            <a:r>
              <a:rPr sz="1100" spc="-20" dirty="0">
                <a:latin typeface="Roboto"/>
                <a:cs typeface="Roboto"/>
              </a:rPr>
              <a:t> </a:t>
            </a:r>
            <a:r>
              <a:rPr sz="1100" dirty="0">
                <a:latin typeface="Roboto"/>
                <a:cs typeface="Roboto"/>
              </a:rPr>
              <a:t>free,</a:t>
            </a:r>
            <a:r>
              <a:rPr sz="1100" spc="-20" dirty="0">
                <a:latin typeface="Roboto"/>
                <a:cs typeface="Roboto"/>
              </a:rPr>
              <a:t> </a:t>
            </a:r>
            <a:r>
              <a:rPr sz="1100" dirty="0">
                <a:latin typeface="Roboto"/>
                <a:cs typeface="Roboto"/>
              </a:rPr>
              <a:t>the</a:t>
            </a:r>
            <a:r>
              <a:rPr sz="1100" spc="-23" dirty="0">
                <a:latin typeface="Roboto"/>
                <a:cs typeface="Roboto"/>
              </a:rPr>
              <a:t> </a:t>
            </a:r>
            <a:r>
              <a:rPr sz="1100" dirty="0">
                <a:latin typeface="Roboto"/>
                <a:cs typeface="Roboto"/>
              </a:rPr>
              <a:t>cost</a:t>
            </a:r>
            <a:r>
              <a:rPr sz="1100" spc="-20" dirty="0">
                <a:latin typeface="Roboto"/>
                <a:cs typeface="Roboto"/>
              </a:rPr>
              <a:t> </a:t>
            </a:r>
            <a:r>
              <a:rPr sz="1100" dirty="0">
                <a:latin typeface="Roboto"/>
                <a:cs typeface="Roboto"/>
              </a:rPr>
              <a:t>is</a:t>
            </a:r>
            <a:r>
              <a:rPr sz="1100" spc="-20" dirty="0">
                <a:latin typeface="Roboto"/>
                <a:cs typeface="Roboto"/>
              </a:rPr>
              <a:t> </a:t>
            </a:r>
            <a:r>
              <a:rPr sz="1100" dirty="0">
                <a:latin typeface="Roboto"/>
                <a:cs typeface="Roboto"/>
              </a:rPr>
              <a:t>after</a:t>
            </a:r>
            <a:r>
              <a:rPr sz="1100" spc="-20" dirty="0">
                <a:latin typeface="Roboto"/>
                <a:cs typeface="Roboto"/>
              </a:rPr>
              <a:t> </a:t>
            </a:r>
            <a:r>
              <a:rPr sz="1100" dirty="0">
                <a:latin typeface="Roboto"/>
                <a:cs typeface="Roboto"/>
              </a:rPr>
              <a:t>that</a:t>
            </a:r>
            <a:r>
              <a:rPr sz="1100" spc="-23" dirty="0">
                <a:latin typeface="Roboto"/>
                <a:cs typeface="Roboto"/>
              </a:rPr>
              <a:t> </a:t>
            </a:r>
            <a:r>
              <a:rPr sz="1100" dirty="0">
                <a:latin typeface="Roboto"/>
                <a:cs typeface="Roboto"/>
              </a:rPr>
              <a:t>for</a:t>
            </a:r>
            <a:r>
              <a:rPr sz="1100" spc="-20" dirty="0">
                <a:latin typeface="Roboto"/>
                <a:cs typeface="Roboto"/>
              </a:rPr>
              <a:t> </a:t>
            </a:r>
            <a:r>
              <a:rPr sz="1100" dirty="0">
                <a:latin typeface="Roboto"/>
                <a:cs typeface="Roboto"/>
              </a:rPr>
              <a:t>every</a:t>
            </a:r>
            <a:r>
              <a:rPr sz="1100" spc="-20" dirty="0">
                <a:latin typeface="Roboto"/>
                <a:cs typeface="Roboto"/>
              </a:rPr>
              <a:t> </a:t>
            </a:r>
            <a:r>
              <a:rPr sz="1100" dirty="0">
                <a:latin typeface="Roboto"/>
                <a:cs typeface="Roboto"/>
              </a:rPr>
              <a:t>1,000</a:t>
            </a:r>
            <a:r>
              <a:rPr sz="1100" spc="-23" dirty="0">
                <a:latin typeface="Roboto"/>
                <a:cs typeface="Roboto"/>
              </a:rPr>
              <a:t> </a:t>
            </a:r>
            <a:r>
              <a:rPr sz="1100" dirty="0">
                <a:latin typeface="Roboto"/>
                <a:cs typeface="Roboto"/>
              </a:rPr>
              <a:t>emails</a:t>
            </a:r>
            <a:r>
              <a:rPr sz="1100" spc="-20" dirty="0">
                <a:latin typeface="Roboto"/>
                <a:cs typeface="Roboto"/>
              </a:rPr>
              <a:t> </a:t>
            </a:r>
            <a:r>
              <a:rPr sz="1100" dirty="0">
                <a:latin typeface="Roboto"/>
                <a:cs typeface="Roboto"/>
              </a:rPr>
              <a:t>and</a:t>
            </a:r>
            <a:r>
              <a:rPr sz="1100" spc="-20" dirty="0">
                <a:latin typeface="Roboto"/>
                <a:cs typeface="Roboto"/>
              </a:rPr>
              <a:t> </a:t>
            </a:r>
            <a:r>
              <a:rPr sz="1100" dirty="0">
                <a:latin typeface="Roboto"/>
                <a:cs typeface="Roboto"/>
              </a:rPr>
              <a:t>when</a:t>
            </a:r>
            <a:r>
              <a:rPr sz="1100" spc="-20" dirty="0">
                <a:latin typeface="Roboto"/>
                <a:cs typeface="Roboto"/>
              </a:rPr>
              <a:t> </a:t>
            </a:r>
            <a:r>
              <a:rPr sz="1100" dirty="0">
                <a:latin typeface="Roboto"/>
                <a:cs typeface="Roboto"/>
              </a:rPr>
              <a:t>receiving</a:t>
            </a:r>
            <a:r>
              <a:rPr sz="1100" spc="-23" dirty="0">
                <a:latin typeface="Roboto"/>
                <a:cs typeface="Roboto"/>
              </a:rPr>
              <a:t> </a:t>
            </a:r>
            <a:r>
              <a:rPr sz="1100" dirty="0">
                <a:latin typeface="Roboto"/>
                <a:cs typeface="Roboto"/>
              </a:rPr>
              <a:t>1,000</a:t>
            </a:r>
            <a:r>
              <a:rPr sz="1100" spc="-20" dirty="0">
                <a:latin typeface="Roboto"/>
                <a:cs typeface="Roboto"/>
              </a:rPr>
              <a:t> </a:t>
            </a:r>
            <a:r>
              <a:rPr sz="1100" dirty="0">
                <a:latin typeface="Roboto"/>
                <a:cs typeface="Roboto"/>
              </a:rPr>
              <a:t>emails</a:t>
            </a:r>
            <a:r>
              <a:rPr sz="1100" spc="-20" dirty="0">
                <a:latin typeface="Roboto"/>
                <a:cs typeface="Roboto"/>
              </a:rPr>
              <a:t> </a:t>
            </a:r>
            <a:r>
              <a:rPr sz="1100" dirty="0">
                <a:latin typeface="Roboto"/>
                <a:cs typeface="Roboto"/>
              </a:rPr>
              <a:t>you</a:t>
            </a:r>
            <a:r>
              <a:rPr sz="1100" spc="-23" dirty="0">
                <a:latin typeface="Roboto"/>
                <a:cs typeface="Roboto"/>
              </a:rPr>
              <a:t> </a:t>
            </a:r>
            <a:r>
              <a:rPr sz="1100" dirty="0">
                <a:latin typeface="Roboto"/>
                <a:cs typeface="Roboto"/>
              </a:rPr>
              <a:t>receive</a:t>
            </a:r>
            <a:r>
              <a:rPr sz="1100" spc="-20" dirty="0">
                <a:latin typeface="Roboto"/>
                <a:cs typeface="Roboto"/>
              </a:rPr>
              <a:t> </a:t>
            </a:r>
            <a:r>
              <a:rPr sz="1100" dirty="0">
                <a:latin typeface="Roboto"/>
                <a:cs typeface="Roboto"/>
              </a:rPr>
              <a:t>are</a:t>
            </a:r>
            <a:r>
              <a:rPr sz="1100" spc="-20" dirty="0">
                <a:latin typeface="Roboto"/>
                <a:cs typeface="Roboto"/>
              </a:rPr>
              <a:t> </a:t>
            </a:r>
            <a:r>
              <a:rPr sz="1100" dirty="0">
                <a:latin typeface="Roboto"/>
                <a:cs typeface="Roboto"/>
              </a:rPr>
              <a:t>free</a:t>
            </a:r>
            <a:r>
              <a:rPr sz="1100" spc="-20" dirty="0">
                <a:latin typeface="Roboto"/>
                <a:cs typeface="Roboto"/>
              </a:rPr>
              <a:t> </a:t>
            </a:r>
            <a:r>
              <a:rPr sz="1100" spc="-13" dirty="0">
                <a:latin typeface="Roboto"/>
                <a:cs typeface="Roboto"/>
              </a:rPr>
              <a:t>and </a:t>
            </a:r>
            <a:r>
              <a:rPr sz="1100" dirty="0">
                <a:latin typeface="Roboto"/>
                <a:cs typeface="Roboto"/>
              </a:rPr>
              <a:t>then</a:t>
            </a:r>
            <a:r>
              <a:rPr sz="1100" spc="-18" dirty="0">
                <a:latin typeface="Roboto"/>
                <a:cs typeface="Roboto"/>
              </a:rPr>
              <a:t> </a:t>
            </a:r>
            <a:r>
              <a:rPr sz="1100" dirty="0">
                <a:latin typeface="Roboto"/>
                <a:cs typeface="Roboto"/>
              </a:rPr>
              <a:t>cost</a:t>
            </a:r>
            <a:r>
              <a:rPr sz="1100" spc="-15" dirty="0">
                <a:latin typeface="Roboto"/>
                <a:cs typeface="Roboto"/>
              </a:rPr>
              <a:t> </a:t>
            </a:r>
            <a:r>
              <a:rPr sz="1100" dirty="0">
                <a:latin typeface="Roboto"/>
                <a:cs typeface="Roboto"/>
              </a:rPr>
              <a:t>per</a:t>
            </a:r>
            <a:r>
              <a:rPr sz="1100" spc="-15" dirty="0">
                <a:latin typeface="Roboto"/>
                <a:cs typeface="Roboto"/>
              </a:rPr>
              <a:t> </a:t>
            </a:r>
            <a:r>
              <a:rPr sz="1100" spc="-5" dirty="0">
                <a:latin typeface="Roboto"/>
                <a:cs typeface="Roboto"/>
              </a:rPr>
              <a:t>email.</a:t>
            </a:r>
            <a:endParaRPr sz="1100">
              <a:latin typeface="Roboto"/>
              <a:cs typeface="Roboto"/>
            </a:endParaRPr>
          </a:p>
          <a:p>
            <a:pPr>
              <a:spcBef>
                <a:spcPts val="140"/>
              </a:spcBef>
            </a:pPr>
            <a:endParaRPr sz="1100">
              <a:latin typeface="Roboto"/>
              <a:cs typeface="Roboto"/>
            </a:endParaRPr>
          </a:p>
          <a:p>
            <a:pPr marL="388303" marR="2540" indent="-382270">
              <a:lnSpc>
                <a:spcPct val="116500"/>
              </a:lnSpc>
              <a:tabLst>
                <a:tab pos="387985" algn="l"/>
              </a:tabLst>
            </a:pPr>
            <a:r>
              <a:rPr sz="1100" b="1" spc="-10" dirty="0">
                <a:latin typeface="Roboto"/>
                <a:cs typeface="Roboto"/>
              </a:rPr>
              <a:t>Note</a:t>
            </a:r>
            <a:r>
              <a:rPr sz="1100" b="1" dirty="0">
                <a:latin typeface="Roboto"/>
                <a:cs typeface="Roboto"/>
              </a:rPr>
              <a:t>	</a:t>
            </a:r>
            <a:r>
              <a:rPr sz="1100" dirty="0">
                <a:latin typeface="Roboto"/>
                <a:cs typeface="Roboto"/>
              </a:rPr>
              <a:t>By</a:t>
            </a:r>
            <a:r>
              <a:rPr sz="1100" spc="-15" dirty="0">
                <a:latin typeface="Roboto"/>
                <a:cs typeface="Roboto"/>
              </a:rPr>
              <a:t> </a:t>
            </a:r>
            <a:r>
              <a:rPr sz="1100" dirty="0">
                <a:latin typeface="Roboto"/>
                <a:cs typeface="Roboto"/>
              </a:rPr>
              <a:t>default</a:t>
            </a:r>
            <a:r>
              <a:rPr sz="1100" spc="-15" dirty="0">
                <a:latin typeface="Roboto"/>
                <a:cs typeface="Roboto"/>
              </a:rPr>
              <a:t> </a:t>
            </a:r>
            <a:r>
              <a:rPr sz="1100" dirty="0">
                <a:latin typeface="Roboto"/>
                <a:cs typeface="Roboto"/>
              </a:rPr>
              <a:t>your</a:t>
            </a:r>
            <a:r>
              <a:rPr sz="1100" spc="-15" dirty="0">
                <a:latin typeface="Roboto"/>
                <a:cs typeface="Roboto"/>
              </a:rPr>
              <a:t> </a:t>
            </a:r>
            <a:r>
              <a:rPr sz="1100" dirty="0">
                <a:latin typeface="Roboto"/>
                <a:cs typeface="Roboto"/>
              </a:rPr>
              <a:t>application</a:t>
            </a:r>
            <a:r>
              <a:rPr sz="1100" spc="-15" dirty="0">
                <a:latin typeface="Roboto"/>
                <a:cs typeface="Roboto"/>
              </a:rPr>
              <a:t> </a:t>
            </a:r>
            <a:r>
              <a:rPr sz="1100" dirty="0">
                <a:latin typeface="Roboto"/>
                <a:cs typeface="Roboto"/>
              </a:rPr>
              <a:t>will</a:t>
            </a:r>
            <a:r>
              <a:rPr sz="1100" spc="-15" dirty="0">
                <a:latin typeface="Roboto"/>
                <a:cs typeface="Roboto"/>
              </a:rPr>
              <a:t> </a:t>
            </a:r>
            <a:r>
              <a:rPr sz="1100" dirty="0">
                <a:latin typeface="Roboto"/>
                <a:cs typeface="Roboto"/>
              </a:rPr>
              <a:t>be</a:t>
            </a:r>
            <a:r>
              <a:rPr sz="1100" spc="-15" dirty="0">
                <a:latin typeface="Roboto"/>
                <a:cs typeface="Roboto"/>
              </a:rPr>
              <a:t> </a:t>
            </a:r>
            <a:r>
              <a:rPr sz="1100" dirty="0">
                <a:latin typeface="Roboto"/>
                <a:cs typeface="Roboto"/>
              </a:rPr>
              <a:t>in</a:t>
            </a:r>
            <a:r>
              <a:rPr sz="1100" spc="-15" dirty="0">
                <a:latin typeface="Roboto"/>
                <a:cs typeface="Roboto"/>
              </a:rPr>
              <a:t> </a:t>
            </a:r>
            <a:r>
              <a:rPr sz="1100" dirty="0">
                <a:latin typeface="Roboto"/>
                <a:cs typeface="Roboto"/>
              </a:rPr>
              <a:t>sandbox</a:t>
            </a:r>
            <a:r>
              <a:rPr sz="1100" spc="-15" dirty="0">
                <a:latin typeface="Roboto"/>
                <a:cs typeface="Roboto"/>
              </a:rPr>
              <a:t> </a:t>
            </a:r>
            <a:r>
              <a:rPr sz="1100" dirty="0">
                <a:latin typeface="Roboto"/>
                <a:cs typeface="Roboto"/>
              </a:rPr>
              <a:t>mode,</a:t>
            </a:r>
            <a:r>
              <a:rPr sz="1100" spc="-15" dirty="0">
                <a:latin typeface="Roboto"/>
                <a:cs typeface="Roboto"/>
              </a:rPr>
              <a:t> </a:t>
            </a:r>
            <a:r>
              <a:rPr sz="1100" dirty="0">
                <a:latin typeface="Roboto"/>
                <a:cs typeface="Roboto"/>
              </a:rPr>
              <a:t>have</a:t>
            </a:r>
            <a:r>
              <a:rPr sz="1100" spc="-15" dirty="0">
                <a:latin typeface="Roboto"/>
                <a:cs typeface="Roboto"/>
              </a:rPr>
              <a:t> </a:t>
            </a:r>
            <a:r>
              <a:rPr sz="1100" dirty="0">
                <a:latin typeface="Roboto"/>
                <a:cs typeface="Roboto"/>
              </a:rPr>
              <a:t>to</a:t>
            </a:r>
            <a:r>
              <a:rPr sz="1100" spc="-15" dirty="0">
                <a:latin typeface="Roboto"/>
                <a:cs typeface="Roboto"/>
              </a:rPr>
              <a:t> </a:t>
            </a:r>
            <a:r>
              <a:rPr sz="1100" dirty="0">
                <a:latin typeface="Roboto"/>
                <a:cs typeface="Roboto"/>
              </a:rPr>
              <a:t>apply</a:t>
            </a:r>
            <a:r>
              <a:rPr sz="1100" spc="-13" dirty="0">
                <a:latin typeface="Roboto"/>
                <a:cs typeface="Roboto"/>
              </a:rPr>
              <a:t> </a:t>
            </a:r>
            <a:r>
              <a:rPr sz="1100" dirty="0">
                <a:latin typeface="Roboto"/>
                <a:cs typeface="Roboto"/>
              </a:rPr>
              <a:t>for</a:t>
            </a:r>
            <a:r>
              <a:rPr sz="1100" spc="-15" dirty="0">
                <a:latin typeface="Roboto"/>
                <a:cs typeface="Roboto"/>
              </a:rPr>
              <a:t> </a:t>
            </a:r>
            <a:r>
              <a:rPr sz="1100" dirty="0">
                <a:latin typeface="Roboto"/>
                <a:cs typeface="Roboto"/>
              </a:rPr>
              <a:t>limit</a:t>
            </a:r>
            <a:r>
              <a:rPr sz="1100" spc="-15" dirty="0">
                <a:latin typeface="Roboto"/>
                <a:cs typeface="Roboto"/>
              </a:rPr>
              <a:t> </a:t>
            </a:r>
            <a:r>
              <a:rPr sz="1100" spc="-5" dirty="0">
                <a:latin typeface="Roboto"/>
                <a:cs typeface="Roboto"/>
              </a:rPr>
              <a:t>increase/production</a:t>
            </a:r>
            <a:r>
              <a:rPr sz="1100" spc="-15" dirty="0">
                <a:latin typeface="Roboto"/>
                <a:cs typeface="Roboto"/>
              </a:rPr>
              <a:t> </a:t>
            </a:r>
            <a:r>
              <a:rPr sz="1100" dirty="0">
                <a:latin typeface="Roboto"/>
                <a:cs typeface="Roboto"/>
              </a:rPr>
              <a:t>access</a:t>
            </a:r>
            <a:r>
              <a:rPr sz="1100" spc="-15" dirty="0">
                <a:latin typeface="Roboto"/>
                <a:cs typeface="Roboto"/>
              </a:rPr>
              <a:t> </a:t>
            </a:r>
            <a:r>
              <a:rPr sz="1100" dirty="0">
                <a:latin typeface="Roboto"/>
                <a:cs typeface="Roboto"/>
              </a:rPr>
              <a:t>to</a:t>
            </a:r>
            <a:r>
              <a:rPr sz="1100" spc="-15" dirty="0">
                <a:latin typeface="Roboto"/>
                <a:cs typeface="Roboto"/>
              </a:rPr>
              <a:t> </a:t>
            </a:r>
            <a:r>
              <a:rPr sz="1100" dirty="0">
                <a:latin typeface="Roboto"/>
                <a:cs typeface="Roboto"/>
              </a:rPr>
              <a:t>out</a:t>
            </a:r>
            <a:r>
              <a:rPr sz="1100" spc="-15" dirty="0">
                <a:latin typeface="Roboto"/>
                <a:cs typeface="Roboto"/>
              </a:rPr>
              <a:t> </a:t>
            </a:r>
            <a:r>
              <a:rPr sz="1100" dirty="0">
                <a:latin typeface="Roboto"/>
                <a:cs typeface="Roboto"/>
              </a:rPr>
              <a:t>of</a:t>
            </a:r>
            <a:r>
              <a:rPr sz="1100" spc="-15" dirty="0">
                <a:latin typeface="Roboto"/>
                <a:cs typeface="Roboto"/>
              </a:rPr>
              <a:t> </a:t>
            </a:r>
            <a:r>
              <a:rPr sz="1100" spc="-5" dirty="0">
                <a:latin typeface="Roboto"/>
                <a:cs typeface="Roboto"/>
              </a:rPr>
              <a:t>sandbox </a:t>
            </a:r>
            <a:r>
              <a:rPr sz="1100" dirty="0">
                <a:latin typeface="Roboto"/>
                <a:cs typeface="Roboto"/>
              </a:rPr>
              <a:t>and</a:t>
            </a:r>
            <a:r>
              <a:rPr sz="1100" spc="-15" dirty="0">
                <a:latin typeface="Roboto"/>
                <a:cs typeface="Roboto"/>
              </a:rPr>
              <a:t> </a:t>
            </a:r>
            <a:r>
              <a:rPr sz="1100" dirty="0">
                <a:latin typeface="Roboto"/>
                <a:cs typeface="Roboto"/>
              </a:rPr>
              <a:t>send</a:t>
            </a:r>
            <a:r>
              <a:rPr sz="1100" spc="-15" dirty="0">
                <a:latin typeface="Roboto"/>
                <a:cs typeface="Roboto"/>
              </a:rPr>
              <a:t> </a:t>
            </a:r>
            <a:r>
              <a:rPr sz="1100" dirty="0">
                <a:latin typeface="Roboto"/>
                <a:cs typeface="Roboto"/>
              </a:rPr>
              <a:t>email</a:t>
            </a:r>
            <a:r>
              <a:rPr sz="1100" spc="-15" dirty="0">
                <a:latin typeface="Roboto"/>
                <a:cs typeface="Roboto"/>
              </a:rPr>
              <a:t> </a:t>
            </a:r>
            <a:r>
              <a:rPr sz="1100" dirty="0">
                <a:latin typeface="Roboto"/>
                <a:cs typeface="Roboto"/>
              </a:rPr>
              <a:t>to</a:t>
            </a:r>
            <a:r>
              <a:rPr sz="1100" spc="-15" dirty="0">
                <a:latin typeface="Roboto"/>
                <a:cs typeface="Roboto"/>
              </a:rPr>
              <a:t> </a:t>
            </a:r>
            <a:r>
              <a:rPr sz="1100" dirty="0">
                <a:latin typeface="Roboto"/>
                <a:cs typeface="Roboto"/>
              </a:rPr>
              <a:t>anyone</a:t>
            </a:r>
            <a:r>
              <a:rPr sz="1100" spc="-15" dirty="0">
                <a:latin typeface="Roboto"/>
                <a:cs typeface="Roboto"/>
              </a:rPr>
              <a:t> </a:t>
            </a:r>
            <a:r>
              <a:rPr sz="1100" spc="-10" dirty="0">
                <a:latin typeface="Roboto"/>
                <a:cs typeface="Roboto"/>
              </a:rPr>
              <a:t>else</a:t>
            </a:r>
            <a:endParaRPr sz="1100">
              <a:latin typeface="Roboto"/>
              <a:cs typeface="Roboto"/>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8038" y="28550"/>
            <a:ext cx="2759710" cy="403957"/>
          </a:xfrm>
          <a:prstGeom prst="rect">
            <a:avLst/>
          </a:prstGeom>
        </p:spPr>
        <p:txBody>
          <a:bodyPr spcFirstLastPara="1" vert="horz" wrap="square" lIns="0" tIns="6350" rIns="0" bIns="0" rtlCol="0" anchor="t" anchorCtr="0">
            <a:spAutoFit/>
          </a:bodyPr>
          <a:lstStyle/>
          <a:p>
            <a:pPr marL="6350">
              <a:spcBef>
                <a:spcPts val="50"/>
              </a:spcBef>
            </a:pPr>
            <a:r>
              <a:rPr dirty="0"/>
              <a:t>AWS</a:t>
            </a:r>
            <a:r>
              <a:rPr spc="-45" dirty="0"/>
              <a:t> </a:t>
            </a:r>
            <a:r>
              <a:rPr dirty="0"/>
              <a:t>DevOps</a:t>
            </a:r>
            <a:r>
              <a:rPr spc="-45" dirty="0"/>
              <a:t> </a:t>
            </a:r>
            <a:r>
              <a:rPr spc="-5" dirty="0"/>
              <a:t>Tools</a:t>
            </a:r>
          </a:p>
        </p:txBody>
      </p:sp>
      <p:sp>
        <p:nvSpPr>
          <p:cNvPr id="3" name="object 3"/>
          <p:cNvSpPr txBox="1"/>
          <p:nvPr/>
        </p:nvSpPr>
        <p:spPr>
          <a:xfrm>
            <a:off x="8173736" y="56326"/>
            <a:ext cx="911860" cy="138499"/>
          </a:xfrm>
          <a:prstGeom prst="rect">
            <a:avLst/>
          </a:prstGeom>
        </p:spPr>
        <p:txBody>
          <a:bodyPr vert="horz" wrap="square" lIns="0" tIns="7620" rIns="0" bIns="0" rtlCol="0">
            <a:spAutoFit/>
          </a:bodyPr>
          <a:lstStyle/>
          <a:p>
            <a:pPr marL="6350">
              <a:spcBef>
                <a:spcPts val="60"/>
              </a:spcBef>
            </a:pPr>
            <a:r>
              <a:rPr sz="850" dirty="0">
                <a:solidFill>
                  <a:srgbClr val="13110E"/>
                </a:solidFill>
                <a:latin typeface="Open Sans Light"/>
                <a:cs typeface="Open Sans Light"/>
              </a:rPr>
              <a:t>Learn</a:t>
            </a:r>
            <a:r>
              <a:rPr sz="850" spc="15" dirty="0">
                <a:solidFill>
                  <a:srgbClr val="13110E"/>
                </a:solidFill>
                <a:latin typeface="Open Sans Light"/>
                <a:cs typeface="Open Sans Light"/>
              </a:rPr>
              <a:t> </a:t>
            </a:r>
            <a:r>
              <a:rPr sz="850" dirty="0">
                <a:solidFill>
                  <a:srgbClr val="13110E"/>
                </a:solidFill>
                <a:latin typeface="Open Sans Light"/>
                <a:cs typeface="Open Sans Light"/>
              </a:rPr>
              <a:t>With</a:t>
            </a:r>
            <a:r>
              <a:rPr sz="850" spc="15" dirty="0">
                <a:solidFill>
                  <a:srgbClr val="13110E"/>
                </a:solidFill>
                <a:latin typeface="Open Sans Light"/>
                <a:cs typeface="Open Sans Light"/>
              </a:rPr>
              <a:t> </a:t>
            </a:r>
            <a:r>
              <a:rPr sz="850" spc="-5" dirty="0">
                <a:solidFill>
                  <a:srgbClr val="13110E"/>
                </a:solidFill>
                <a:latin typeface="Open Sans Light"/>
                <a:cs typeface="Open Sans Light"/>
              </a:rPr>
              <a:t>Sandip</a:t>
            </a:r>
            <a:endParaRPr sz="850">
              <a:latin typeface="Open Sans Light"/>
              <a:cs typeface="Open Sans Light"/>
            </a:endParaRPr>
          </a:p>
        </p:txBody>
      </p:sp>
      <p:sp>
        <p:nvSpPr>
          <p:cNvPr id="4" name="object 4"/>
          <p:cNvSpPr txBox="1"/>
          <p:nvPr/>
        </p:nvSpPr>
        <p:spPr>
          <a:xfrm>
            <a:off x="234922" y="502288"/>
            <a:ext cx="994093" cy="191078"/>
          </a:xfrm>
          <a:prstGeom prst="rect">
            <a:avLst/>
          </a:prstGeom>
        </p:spPr>
        <p:txBody>
          <a:bodyPr vert="horz" wrap="square" lIns="0" tIns="6350" rIns="0" bIns="0" rtlCol="0">
            <a:spAutoFit/>
          </a:bodyPr>
          <a:lstStyle/>
          <a:p>
            <a:pPr marL="6350">
              <a:spcBef>
                <a:spcPts val="50"/>
              </a:spcBef>
            </a:pPr>
            <a:r>
              <a:rPr sz="1200" b="1" spc="-5" dirty="0">
                <a:latin typeface="Open Sans"/>
                <a:cs typeface="Open Sans"/>
              </a:rPr>
              <a:t>CodeCommit</a:t>
            </a:r>
            <a:endParaRPr sz="1200">
              <a:latin typeface="Open Sans"/>
              <a:cs typeface="Open Sans"/>
            </a:endParaRPr>
          </a:p>
        </p:txBody>
      </p:sp>
      <p:sp>
        <p:nvSpPr>
          <p:cNvPr id="5" name="object 5"/>
          <p:cNvSpPr txBox="1"/>
          <p:nvPr/>
        </p:nvSpPr>
        <p:spPr>
          <a:xfrm>
            <a:off x="284623" y="1559637"/>
            <a:ext cx="782955" cy="191078"/>
          </a:xfrm>
          <a:prstGeom prst="rect">
            <a:avLst/>
          </a:prstGeom>
        </p:spPr>
        <p:txBody>
          <a:bodyPr vert="horz" wrap="square" lIns="0" tIns="6350" rIns="0" bIns="0" rtlCol="0">
            <a:spAutoFit/>
          </a:bodyPr>
          <a:lstStyle/>
          <a:p>
            <a:pPr marL="6350">
              <a:spcBef>
                <a:spcPts val="50"/>
              </a:spcBef>
            </a:pPr>
            <a:r>
              <a:rPr sz="1200" b="1" spc="-5" dirty="0">
                <a:latin typeface="Open Sans"/>
                <a:cs typeface="Open Sans"/>
              </a:rPr>
              <a:t>CodeBuild</a:t>
            </a:r>
            <a:endParaRPr sz="1200">
              <a:latin typeface="Open Sans"/>
              <a:cs typeface="Open Sans"/>
            </a:endParaRPr>
          </a:p>
        </p:txBody>
      </p:sp>
      <p:sp>
        <p:nvSpPr>
          <p:cNvPr id="6" name="object 6"/>
          <p:cNvSpPr txBox="1"/>
          <p:nvPr/>
        </p:nvSpPr>
        <p:spPr>
          <a:xfrm>
            <a:off x="217204" y="2567992"/>
            <a:ext cx="917575" cy="191078"/>
          </a:xfrm>
          <a:prstGeom prst="rect">
            <a:avLst/>
          </a:prstGeom>
        </p:spPr>
        <p:txBody>
          <a:bodyPr vert="horz" wrap="square" lIns="0" tIns="6350" rIns="0" bIns="0" rtlCol="0">
            <a:spAutoFit/>
          </a:bodyPr>
          <a:lstStyle/>
          <a:p>
            <a:pPr marL="6350">
              <a:spcBef>
                <a:spcPts val="50"/>
              </a:spcBef>
            </a:pPr>
            <a:r>
              <a:rPr sz="1200" b="1" spc="-5" dirty="0">
                <a:latin typeface="Open Sans"/>
                <a:cs typeface="Open Sans"/>
              </a:rPr>
              <a:t>CodeDeploy</a:t>
            </a:r>
            <a:endParaRPr sz="1200">
              <a:latin typeface="Open Sans"/>
              <a:cs typeface="Open Sans"/>
            </a:endParaRPr>
          </a:p>
        </p:txBody>
      </p:sp>
      <p:sp>
        <p:nvSpPr>
          <p:cNvPr id="7" name="object 7"/>
          <p:cNvSpPr txBox="1"/>
          <p:nvPr/>
        </p:nvSpPr>
        <p:spPr>
          <a:xfrm>
            <a:off x="1343544" y="478475"/>
            <a:ext cx="7610158" cy="3006529"/>
          </a:xfrm>
          <a:prstGeom prst="rect">
            <a:avLst/>
          </a:prstGeom>
        </p:spPr>
        <p:txBody>
          <a:bodyPr vert="horz" wrap="square" lIns="0" tIns="32068" rIns="0" bIns="0" rtlCol="0">
            <a:spAutoFit/>
          </a:bodyPr>
          <a:lstStyle/>
          <a:p>
            <a:pPr marL="62230" algn="just">
              <a:spcBef>
                <a:spcPts val="253"/>
              </a:spcBef>
            </a:pPr>
            <a:r>
              <a:rPr sz="1050" dirty="0">
                <a:latin typeface="Open Sans Light"/>
                <a:cs typeface="Open Sans Light"/>
              </a:rPr>
              <a:t>AWS</a:t>
            </a:r>
            <a:r>
              <a:rPr sz="1050" spc="-3" dirty="0">
                <a:latin typeface="Open Sans Light"/>
                <a:cs typeface="Open Sans Light"/>
              </a:rPr>
              <a:t> </a:t>
            </a:r>
            <a:r>
              <a:rPr sz="1050" dirty="0">
                <a:latin typeface="Open Sans Light"/>
                <a:cs typeface="Open Sans Light"/>
              </a:rPr>
              <a:t>CodeCommit is</a:t>
            </a:r>
            <a:r>
              <a:rPr sz="1050" spc="-3" dirty="0">
                <a:latin typeface="Open Sans Light"/>
                <a:cs typeface="Open Sans Light"/>
              </a:rPr>
              <a:t> </a:t>
            </a:r>
            <a:r>
              <a:rPr sz="1050" dirty="0">
                <a:latin typeface="Open Sans Light"/>
                <a:cs typeface="Open Sans Light"/>
              </a:rPr>
              <a:t>a secure,</a:t>
            </a:r>
            <a:r>
              <a:rPr sz="1050" spc="-3" dirty="0">
                <a:latin typeface="Open Sans Light"/>
                <a:cs typeface="Open Sans Light"/>
              </a:rPr>
              <a:t> </a:t>
            </a:r>
            <a:r>
              <a:rPr sz="1050" dirty="0">
                <a:latin typeface="Open Sans Light"/>
                <a:cs typeface="Open Sans Light"/>
              </a:rPr>
              <a:t>highly scalable,</a:t>
            </a:r>
            <a:r>
              <a:rPr sz="1050" spc="-3" dirty="0">
                <a:latin typeface="Open Sans Light"/>
                <a:cs typeface="Open Sans Light"/>
              </a:rPr>
              <a:t> </a:t>
            </a:r>
            <a:r>
              <a:rPr sz="1050" dirty="0">
                <a:latin typeface="Open Sans Light"/>
                <a:cs typeface="Open Sans Light"/>
              </a:rPr>
              <a:t>managed</a:t>
            </a:r>
            <a:r>
              <a:rPr sz="1050" spc="-3" dirty="0">
                <a:latin typeface="Open Sans Light"/>
                <a:cs typeface="Open Sans Light"/>
              </a:rPr>
              <a:t> </a:t>
            </a:r>
            <a:r>
              <a:rPr sz="1050" dirty="0">
                <a:latin typeface="Open Sans Light"/>
                <a:cs typeface="Open Sans Light"/>
              </a:rPr>
              <a:t>source</a:t>
            </a:r>
            <a:r>
              <a:rPr sz="1050" spc="-3" dirty="0">
                <a:latin typeface="Open Sans Light"/>
                <a:cs typeface="Open Sans Light"/>
              </a:rPr>
              <a:t> </a:t>
            </a:r>
            <a:r>
              <a:rPr sz="1050" dirty="0">
                <a:latin typeface="Open Sans Light"/>
                <a:cs typeface="Open Sans Light"/>
              </a:rPr>
              <a:t>control</a:t>
            </a:r>
            <a:r>
              <a:rPr sz="1050" spc="-3" dirty="0">
                <a:latin typeface="Open Sans Light"/>
                <a:cs typeface="Open Sans Light"/>
              </a:rPr>
              <a:t> </a:t>
            </a:r>
            <a:r>
              <a:rPr sz="1050" dirty="0">
                <a:latin typeface="Open Sans Light"/>
                <a:cs typeface="Open Sans Light"/>
              </a:rPr>
              <a:t>service</a:t>
            </a:r>
            <a:r>
              <a:rPr sz="1050" spc="-3" dirty="0">
                <a:latin typeface="Open Sans Light"/>
                <a:cs typeface="Open Sans Light"/>
              </a:rPr>
              <a:t> </a:t>
            </a:r>
            <a:r>
              <a:rPr sz="1050" dirty="0">
                <a:latin typeface="Open Sans Light"/>
                <a:cs typeface="Open Sans Light"/>
              </a:rPr>
              <a:t>that hosts</a:t>
            </a:r>
            <a:r>
              <a:rPr sz="1050" spc="-3" dirty="0">
                <a:latin typeface="Open Sans Light"/>
                <a:cs typeface="Open Sans Light"/>
              </a:rPr>
              <a:t> </a:t>
            </a:r>
            <a:r>
              <a:rPr sz="1050" dirty="0">
                <a:latin typeface="Open Sans Light"/>
                <a:cs typeface="Open Sans Light"/>
              </a:rPr>
              <a:t>private Git</a:t>
            </a:r>
            <a:r>
              <a:rPr sz="1050" spc="-3" dirty="0">
                <a:latin typeface="Open Sans Light"/>
                <a:cs typeface="Open Sans Light"/>
              </a:rPr>
              <a:t> </a:t>
            </a:r>
            <a:r>
              <a:rPr sz="1050" dirty="0">
                <a:latin typeface="Open Sans Light"/>
                <a:cs typeface="Open Sans Light"/>
              </a:rPr>
              <a:t>repositories. It</a:t>
            </a:r>
            <a:r>
              <a:rPr sz="1050" spc="-3" dirty="0">
                <a:latin typeface="Open Sans Light"/>
                <a:cs typeface="Open Sans Light"/>
              </a:rPr>
              <a:t> </a:t>
            </a:r>
            <a:r>
              <a:rPr sz="1050" dirty="0">
                <a:latin typeface="Open Sans Light"/>
                <a:cs typeface="Open Sans Light"/>
              </a:rPr>
              <a:t>makes </a:t>
            </a:r>
            <a:r>
              <a:rPr sz="1050" spc="-13" dirty="0">
                <a:latin typeface="Open Sans Light"/>
                <a:cs typeface="Open Sans Light"/>
              </a:rPr>
              <a:t>it</a:t>
            </a:r>
            <a:endParaRPr sz="1050">
              <a:latin typeface="Open Sans Light"/>
              <a:cs typeface="Open Sans Light"/>
            </a:endParaRPr>
          </a:p>
          <a:p>
            <a:pPr marL="62230" marR="2540" algn="just">
              <a:lnSpc>
                <a:spcPct val="116100"/>
              </a:lnSpc>
            </a:pPr>
            <a:r>
              <a:rPr sz="1050" dirty="0">
                <a:latin typeface="Open Sans Light"/>
                <a:cs typeface="Open Sans Light"/>
              </a:rPr>
              <a:t>easy for teams to securely collaborate on code with contributions encrypted in transit and at rest. CodeCommit eliminates </a:t>
            </a:r>
            <a:r>
              <a:rPr sz="1050" spc="-13" dirty="0">
                <a:latin typeface="Open Sans Light"/>
                <a:cs typeface="Open Sans Light"/>
              </a:rPr>
              <a:t>the </a:t>
            </a:r>
            <a:r>
              <a:rPr sz="1050" dirty="0">
                <a:latin typeface="Open Sans Light"/>
                <a:cs typeface="Open Sans Light"/>
              </a:rPr>
              <a:t>need</a:t>
            </a:r>
            <a:r>
              <a:rPr sz="1050" spc="-3" dirty="0">
                <a:latin typeface="Open Sans Light"/>
                <a:cs typeface="Open Sans Light"/>
              </a:rPr>
              <a:t> </a:t>
            </a:r>
            <a:r>
              <a:rPr sz="1050" dirty="0">
                <a:latin typeface="Open Sans Light"/>
                <a:cs typeface="Open Sans Light"/>
              </a:rPr>
              <a:t>for you to</a:t>
            </a:r>
            <a:r>
              <a:rPr sz="1050" spc="-3" dirty="0">
                <a:latin typeface="Open Sans Light"/>
                <a:cs typeface="Open Sans Light"/>
              </a:rPr>
              <a:t> </a:t>
            </a:r>
            <a:r>
              <a:rPr sz="1050" dirty="0">
                <a:latin typeface="Open Sans Light"/>
                <a:cs typeface="Open Sans Light"/>
              </a:rPr>
              <a:t>manage your</a:t>
            </a:r>
            <a:r>
              <a:rPr sz="1050" spc="-3" dirty="0">
                <a:latin typeface="Open Sans Light"/>
                <a:cs typeface="Open Sans Light"/>
              </a:rPr>
              <a:t> </a:t>
            </a:r>
            <a:r>
              <a:rPr sz="1050" dirty="0">
                <a:latin typeface="Open Sans Light"/>
                <a:cs typeface="Open Sans Light"/>
              </a:rPr>
              <a:t>own source control</a:t>
            </a:r>
            <a:r>
              <a:rPr sz="1050" spc="-3" dirty="0">
                <a:latin typeface="Open Sans Light"/>
                <a:cs typeface="Open Sans Light"/>
              </a:rPr>
              <a:t> </a:t>
            </a:r>
            <a:r>
              <a:rPr sz="1050" dirty="0">
                <a:latin typeface="Open Sans Light"/>
                <a:cs typeface="Open Sans Light"/>
              </a:rPr>
              <a:t>system or worry</a:t>
            </a:r>
            <a:r>
              <a:rPr sz="1050" spc="-3" dirty="0">
                <a:latin typeface="Open Sans Light"/>
                <a:cs typeface="Open Sans Light"/>
              </a:rPr>
              <a:t> </a:t>
            </a:r>
            <a:r>
              <a:rPr sz="1050" dirty="0">
                <a:latin typeface="Open Sans Light"/>
                <a:cs typeface="Open Sans Light"/>
              </a:rPr>
              <a:t>about scaling its</a:t>
            </a:r>
            <a:r>
              <a:rPr sz="1050" spc="-3" dirty="0">
                <a:latin typeface="Open Sans Light"/>
                <a:cs typeface="Open Sans Light"/>
              </a:rPr>
              <a:t> </a:t>
            </a:r>
            <a:r>
              <a:rPr sz="1050" dirty="0">
                <a:latin typeface="Open Sans Light"/>
                <a:cs typeface="Open Sans Light"/>
              </a:rPr>
              <a:t>infrastructure. You can</a:t>
            </a:r>
            <a:r>
              <a:rPr sz="1050" spc="-3" dirty="0">
                <a:latin typeface="Open Sans Light"/>
                <a:cs typeface="Open Sans Light"/>
              </a:rPr>
              <a:t> </a:t>
            </a:r>
            <a:r>
              <a:rPr sz="1050" dirty="0">
                <a:latin typeface="Open Sans Light"/>
                <a:cs typeface="Open Sans Light"/>
              </a:rPr>
              <a:t>use CodeCommit </a:t>
            </a:r>
            <a:r>
              <a:rPr sz="1050" spc="-13" dirty="0">
                <a:latin typeface="Open Sans Light"/>
                <a:cs typeface="Open Sans Light"/>
              </a:rPr>
              <a:t>to </a:t>
            </a:r>
            <a:r>
              <a:rPr sz="1050" dirty="0">
                <a:latin typeface="Open Sans Light"/>
                <a:cs typeface="Open Sans Light"/>
              </a:rPr>
              <a:t>store anything from code to binaries. It supports the standard functionality of Git, so it works seamlessly with your existing </a:t>
            </a:r>
            <a:r>
              <a:rPr sz="1050" spc="-10" dirty="0">
                <a:latin typeface="Open Sans Light"/>
                <a:cs typeface="Open Sans Light"/>
              </a:rPr>
              <a:t>Git- </a:t>
            </a:r>
            <a:r>
              <a:rPr sz="1050" dirty="0">
                <a:latin typeface="Open Sans Light"/>
                <a:cs typeface="Open Sans Light"/>
              </a:rPr>
              <a:t>based </a:t>
            </a:r>
            <a:r>
              <a:rPr sz="1050" spc="-5" dirty="0">
                <a:latin typeface="Open Sans Light"/>
                <a:cs typeface="Open Sans Light"/>
              </a:rPr>
              <a:t>tools.</a:t>
            </a:r>
            <a:endParaRPr sz="1050">
              <a:latin typeface="Open Sans Light"/>
              <a:cs typeface="Open Sans Light"/>
            </a:endParaRPr>
          </a:p>
          <a:p>
            <a:pPr marL="6350">
              <a:spcBef>
                <a:spcPts val="1215"/>
              </a:spcBef>
            </a:pPr>
            <a:r>
              <a:rPr sz="1050" dirty="0">
                <a:latin typeface="Open Sans Light"/>
                <a:cs typeface="Open Sans Light"/>
              </a:rPr>
              <a:t>AWS</a:t>
            </a:r>
            <a:r>
              <a:rPr sz="1050" spc="-3" dirty="0">
                <a:latin typeface="Open Sans Light"/>
                <a:cs typeface="Open Sans Light"/>
              </a:rPr>
              <a:t> </a:t>
            </a:r>
            <a:r>
              <a:rPr sz="1050" dirty="0">
                <a:latin typeface="Open Sans Light"/>
                <a:cs typeface="Open Sans Light"/>
              </a:rPr>
              <a:t>CodeBuild</a:t>
            </a:r>
            <a:r>
              <a:rPr sz="1050" spc="-3" dirty="0">
                <a:latin typeface="Open Sans Light"/>
                <a:cs typeface="Open Sans Light"/>
              </a:rPr>
              <a:t> </a:t>
            </a:r>
            <a:r>
              <a:rPr sz="1050" dirty="0">
                <a:latin typeface="Open Sans Light"/>
                <a:cs typeface="Open Sans Light"/>
              </a:rPr>
              <a:t>is a</a:t>
            </a:r>
            <a:r>
              <a:rPr sz="1050" spc="-3" dirty="0">
                <a:latin typeface="Open Sans Light"/>
                <a:cs typeface="Open Sans Light"/>
              </a:rPr>
              <a:t> </a:t>
            </a:r>
            <a:r>
              <a:rPr sz="1050" dirty="0">
                <a:latin typeface="Open Sans Light"/>
                <a:cs typeface="Open Sans Light"/>
              </a:rPr>
              <a:t>fully managed</a:t>
            </a:r>
            <a:r>
              <a:rPr sz="1050" spc="-3" dirty="0">
                <a:latin typeface="Open Sans Light"/>
                <a:cs typeface="Open Sans Light"/>
              </a:rPr>
              <a:t> </a:t>
            </a:r>
            <a:r>
              <a:rPr sz="1050" dirty="0">
                <a:latin typeface="Open Sans Light"/>
                <a:cs typeface="Open Sans Light"/>
              </a:rPr>
              <a:t>continuous integration</a:t>
            </a:r>
            <a:r>
              <a:rPr sz="1050" spc="-3" dirty="0">
                <a:latin typeface="Open Sans Light"/>
                <a:cs typeface="Open Sans Light"/>
              </a:rPr>
              <a:t> </a:t>
            </a:r>
            <a:r>
              <a:rPr sz="1050" dirty="0">
                <a:latin typeface="Open Sans Light"/>
                <a:cs typeface="Open Sans Light"/>
              </a:rPr>
              <a:t>service that</a:t>
            </a:r>
            <a:r>
              <a:rPr sz="1050" spc="-3" dirty="0">
                <a:latin typeface="Open Sans Light"/>
                <a:cs typeface="Open Sans Light"/>
              </a:rPr>
              <a:t> </a:t>
            </a:r>
            <a:r>
              <a:rPr sz="1050" dirty="0">
                <a:latin typeface="Open Sans Light"/>
                <a:cs typeface="Open Sans Light"/>
              </a:rPr>
              <a:t>compiles source</a:t>
            </a:r>
            <a:r>
              <a:rPr sz="1050" spc="-3" dirty="0">
                <a:latin typeface="Open Sans Light"/>
                <a:cs typeface="Open Sans Light"/>
              </a:rPr>
              <a:t> </a:t>
            </a:r>
            <a:r>
              <a:rPr sz="1050" dirty="0">
                <a:latin typeface="Open Sans Light"/>
                <a:cs typeface="Open Sans Light"/>
              </a:rPr>
              <a:t>code, runs</a:t>
            </a:r>
            <a:r>
              <a:rPr sz="1050" spc="-3" dirty="0">
                <a:latin typeface="Open Sans Light"/>
                <a:cs typeface="Open Sans Light"/>
              </a:rPr>
              <a:t> </a:t>
            </a:r>
            <a:r>
              <a:rPr sz="1050" dirty="0">
                <a:latin typeface="Open Sans Light"/>
                <a:cs typeface="Open Sans Light"/>
              </a:rPr>
              <a:t>tests,</a:t>
            </a:r>
            <a:r>
              <a:rPr sz="1050" spc="-3" dirty="0">
                <a:latin typeface="Open Sans Light"/>
                <a:cs typeface="Open Sans Light"/>
              </a:rPr>
              <a:t> </a:t>
            </a:r>
            <a:r>
              <a:rPr sz="1050" dirty="0">
                <a:latin typeface="Open Sans Light"/>
                <a:cs typeface="Open Sans Light"/>
              </a:rPr>
              <a:t>and </a:t>
            </a:r>
            <a:r>
              <a:rPr sz="1050" spc="-5" dirty="0">
                <a:latin typeface="Open Sans Light"/>
                <a:cs typeface="Open Sans Light"/>
              </a:rPr>
              <a:t>produces</a:t>
            </a:r>
            <a:endParaRPr sz="1050">
              <a:latin typeface="Open Sans Light"/>
              <a:cs typeface="Open Sans Light"/>
            </a:endParaRPr>
          </a:p>
          <a:p>
            <a:pPr marL="6350" marR="245745">
              <a:lnSpc>
                <a:spcPct val="116100"/>
              </a:lnSpc>
            </a:pPr>
            <a:r>
              <a:rPr sz="1050" dirty="0">
                <a:latin typeface="Open Sans Light"/>
                <a:cs typeface="Open Sans Light"/>
              </a:rPr>
              <a:t>software packages that are ready to deploy. With CodeBuild, you don’t need to provision, manage, and scale your own </a:t>
            </a:r>
            <a:r>
              <a:rPr sz="1050" spc="-5" dirty="0">
                <a:latin typeface="Open Sans Light"/>
                <a:cs typeface="Open Sans Light"/>
              </a:rPr>
              <a:t>build </a:t>
            </a:r>
            <a:r>
              <a:rPr sz="1050" dirty="0">
                <a:latin typeface="Open Sans Light"/>
                <a:cs typeface="Open Sans Light"/>
              </a:rPr>
              <a:t>servers. CodeBuild scales continuously and processes multiple builds concurrently, so your builds are not left waiting in </a:t>
            </a:r>
            <a:r>
              <a:rPr sz="1050" spc="-25" dirty="0">
                <a:latin typeface="Open Sans Light"/>
                <a:cs typeface="Open Sans Light"/>
              </a:rPr>
              <a:t>a</a:t>
            </a:r>
            <a:endParaRPr sz="1050">
              <a:latin typeface="Open Sans Light"/>
              <a:cs typeface="Open Sans Light"/>
            </a:endParaRPr>
          </a:p>
          <a:p>
            <a:pPr marL="6350" marR="236855">
              <a:lnSpc>
                <a:spcPct val="116100"/>
              </a:lnSpc>
            </a:pPr>
            <a:r>
              <a:rPr sz="1050" dirty="0">
                <a:latin typeface="Open Sans Light"/>
                <a:cs typeface="Open Sans Light"/>
              </a:rPr>
              <a:t>queue.</a:t>
            </a:r>
            <a:r>
              <a:rPr sz="1050" spc="-3" dirty="0">
                <a:latin typeface="Open Sans Light"/>
                <a:cs typeface="Open Sans Light"/>
              </a:rPr>
              <a:t> </a:t>
            </a:r>
            <a:r>
              <a:rPr sz="1050" dirty="0">
                <a:latin typeface="Open Sans Light"/>
                <a:cs typeface="Open Sans Light"/>
              </a:rPr>
              <a:t>You</a:t>
            </a:r>
            <a:r>
              <a:rPr sz="1050" spc="-3" dirty="0">
                <a:latin typeface="Open Sans Light"/>
                <a:cs typeface="Open Sans Light"/>
              </a:rPr>
              <a:t> </a:t>
            </a:r>
            <a:r>
              <a:rPr sz="1050" dirty="0">
                <a:latin typeface="Open Sans Light"/>
                <a:cs typeface="Open Sans Light"/>
              </a:rPr>
              <a:t>can</a:t>
            </a:r>
            <a:r>
              <a:rPr sz="1050" spc="-3" dirty="0">
                <a:latin typeface="Open Sans Light"/>
                <a:cs typeface="Open Sans Light"/>
              </a:rPr>
              <a:t> </a:t>
            </a:r>
            <a:r>
              <a:rPr sz="1050" dirty="0">
                <a:latin typeface="Open Sans Light"/>
                <a:cs typeface="Open Sans Light"/>
              </a:rPr>
              <a:t>get</a:t>
            </a:r>
            <a:r>
              <a:rPr sz="1050" spc="-3" dirty="0">
                <a:latin typeface="Open Sans Light"/>
                <a:cs typeface="Open Sans Light"/>
              </a:rPr>
              <a:t> </a:t>
            </a:r>
            <a:r>
              <a:rPr sz="1050" dirty="0">
                <a:latin typeface="Open Sans Light"/>
                <a:cs typeface="Open Sans Light"/>
              </a:rPr>
              <a:t>started quickly</a:t>
            </a:r>
            <a:r>
              <a:rPr sz="1050" spc="-3" dirty="0">
                <a:latin typeface="Open Sans Light"/>
                <a:cs typeface="Open Sans Light"/>
              </a:rPr>
              <a:t> </a:t>
            </a:r>
            <a:r>
              <a:rPr sz="1050" dirty="0">
                <a:latin typeface="Open Sans Light"/>
                <a:cs typeface="Open Sans Light"/>
              </a:rPr>
              <a:t>by</a:t>
            </a:r>
            <a:r>
              <a:rPr sz="1050" spc="-3" dirty="0">
                <a:latin typeface="Open Sans Light"/>
                <a:cs typeface="Open Sans Light"/>
              </a:rPr>
              <a:t> </a:t>
            </a:r>
            <a:r>
              <a:rPr sz="1050" dirty="0">
                <a:latin typeface="Open Sans Light"/>
                <a:cs typeface="Open Sans Light"/>
              </a:rPr>
              <a:t>using</a:t>
            </a:r>
            <a:r>
              <a:rPr sz="1050" spc="-3" dirty="0">
                <a:latin typeface="Open Sans Light"/>
                <a:cs typeface="Open Sans Light"/>
              </a:rPr>
              <a:t> </a:t>
            </a:r>
            <a:r>
              <a:rPr sz="1050" dirty="0">
                <a:latin typeface="Open Sans Light"/>
                <a:cs typeface="Open Sans Light"/>
              </a:rPr>
              <a:t>prepackaged</a:t>
            </a:r>
            <a:r>
              <a:rPr sz="1050" spc="-3" dirty="0">
                <a:latin typeface="Open Sans Light"/>
                <a:cs typeface="Open Sans Light"/>
              </a:rPr>
              <a:t> </a:t>
            </a:r>
            <a:r>
              <a:rPr sz="1050" dirty="0">
                <a:latin typeface="Open Sans Light"/>
                <a:cs typeface="Open Sans Light"/>
              </a:rPr>
              <a:t>build environments,</a:t>
            </a:r>
            <a:r>
              <a:rPr sz="1050" spc="-3" dirty="0">
                <a:latin typeface="Open Sans Light"/>
                <a:cs typeface="Open Sans Light"/>
              </a:rPr>
              <a:t> </a:t>
            </a:r>
            <a:r>
              <a:rPr sz="1050" dirty="0">
                <a:latin typeface="Open Sans Light"/>
                <a:cs typeface="Open Sans Light"/>
              </a:rPr>
              <a:t>or</a:t>
            </a:r>
            <a:r>
              <a:rPr sz="1050" spc="-3" dirty="0">
                <a:latin typeface="Open Sans Light"/>
                <a:cs typeface="Open Sans Light"/>
              </a:rPr>
              <a:t> </a:t>
            </a:r>
            <a:r>
              <a:rPr sz="1050" dirty="0">
                <a:latin typeface="Open Sans Light"/>
                <a:cs typeface="Open Sans Light"/>
              </a:rPr>
              <a:t>you</a:t>
            </a:r>
            <a:r>
              <a:rPr sz="1050" spc="-3" dirty="0">
                <a:latin typeface="Open Sans Light"/>
                <a:cs typeface="Open Sans Light"/>
              </a:rPr>
              <a:t> </a:t>
            </a:r>
            <a:r>
              <a:rPr sz="1050" dirty="0">
                <a:latin typeface="Open Sans Light"/>
                <a:cs typeface="Open Sans Light"/>
              </a:rPr>
              <a:t>can</a:t>
            </a:r>
            <a:r>
              <a:rPr sz="1050" spc="-3" dirty="0">
                <a:latin typeface="Open Sans Light"/>
                <a:cs typeface="Open Sans Light"/>
              </a:rPr>
              <a:t> </a:t>
            </a:r>
            <a:r>
              <a:rPr sz="1050" dirty="0">
                <a:latin typeface="Open Sans Light"/>
                <a:cs typeface="Open Sans Light"/>
              </a:rPr>
              <a:t>create custom</a:t>
            </a:r>
            <a:r>
              <a:rPr sz="1050" spc="-3" dirty="0">
                <a:latin typeface="Open Sans Light"/>
                <a:cs typeface="Open Sans Light"/>
              </a:rPr>
              <a:t> </a:t>
            </a:r>
            <a:r>
              <a:rPr sz="1050" dirty="0">
                <a:latin typeface="Open Sans Light"/>
                <a:cs typeface="Open Sans Light"/>
              </a:rPr>
              <a:t>build</a:t>
            </a:r>
            <a:r>
              <a:rPr sz="1050" spc="-3" dirty="0">
                <a:latin typeface="Open Sans Light"/>
                <a:cs typeface="Open Sans Light"/>
              </a:rPr>
              <a:t> </a:t>
            </a:r>
            <a:r>
              <a:rPr sz="1050" spc="-5" dirty="0">
                <a:latin typeface="Open Sans Light"/>
                <a:cs typeface="Open Sans Light"/>
              </a:rPr>
              <a:t>environments </a:t>
            </a:r>
            <a:r>
              <a:rPr sz="1050" dirty="0">
                <a:latin typeface="Open Sans Light"/>
                <a:cs typeface="Open Sans Light"/>
              </a:rPr>
              <a:t>that use your own build tools. With CodeBuild, you are charged by the minute for the compute resources you </a:t>
            </a:r>
            <a:r>
              <a:rPr sz="1050" spc="-10" dirty="0">
                <a:latin typeface="Open Sans Light"/>
                <a:cs typeface="Open Sans Light"/>
              </a:rPr>
              <a:t>use.</a:t>
            </a:r>
            <a:endParaRPr sz="1050">
              <a:latin typeface="Open Sans Light"/>
              <a:cs typeface="Open Sans Light"/>
            </a:endParaRPr>
          </a:p>
          <a:p>
            <a:pPr marL="6350" marR="90170">
              <a:lnSpc>
                <a:spcPct val="116100"/>
              </a:lnSpc>
              <a:spcBef>
                <a:spcPts val="625"/>
              </a:spcBef>
            </a:pPr>
            <a:r>
              <a:rPr sz="1050" dirty="0">
                <a:latin typeface="Open Sans Light"/>
                <a:cs typeface="Open Sans Light"/>
              </a:rPr>
              <a:t>AWS</a:t>
            </a:r>
            <a:r>
              <a:rPr sz="1050" spc="-3" dirty="0">
                <a:latin typeface="Open Sans Light"/>
                <a:cs typeface="Open Sans Light"/>
              </a:rPr>
              <a:t> </a:t>
            </a:r>
            <a:r>
              <a:rPr sz="1050" dirty="0">
                <a:latin typeface="Open Sans Light"/>
                <a:cs typeface="Open Sans Light"/>
              </a:rPr>
              <a:t>CodeDeploy</a:t>
            </a:r>
            <a:r>
              <a:rPr sz="1050" spc="-3" dirty="0">
                <a:latin typeface="Open Sans Light"/>
                <a:cs typeface="Open Sans Light"/>
              </a:rPr>
              <a:t> </a:t>
            </a:r>
            <a:r>
              <a:rPr sz="1050" dirty="0">
                <a:latin typeface="Open Sans Light"/>
                <a:cs typeface="Open Sans Light"/>
              </a:rPr>
              <a:t>is a</a:t>
            </a:r>
            <a:r>
              <a:rPr sz="1050" spc="-3" dirty="0">
                <a:latin typeface="Open Sans Light"/>
                <a:cs typeface="Open Sans Light"/>
              </a:rPr>
              <a:t> </a:t>
            </a:r>
            <a:r>
              <a:rPr sz="1050" dirty="0">
                <a:latin typeface="Open Sans Light"/>
                <a:cs typeface="Open Sans Light"/>
              </a:rPr>
              <a:t>fully managed</a:t>
            </a:r>
            <a:r>
              <a:rPr sz="1050" spc="-3" dirty="0">
                <a:latin typeface="Open Sans Light"/>
                <a:cs typeface="Open Sans Light"/>
              </a:rPr>
              <a:t> </a:t>
            </a:r>
            <a:r>
              <a:rPr sz="1050" dirty="0">
                <a:latin typeface="Open Sans Light"/>
                <a:cs typeface="Open Sans Light"/>
              </a:rPr>
              <a:t>deployment service</a:t>
            </a:r>
            <a:r>
              <a:rPr sz="1050" spc="-3" dirty="0">
                <a:latin typeface="Open Sans Light"/>
                <a:cs typeface="Open Sans Light"/>
              </a:rPr>
              <a:t> </a:t>
            </a:r>
            <a:r>
              <a:rPr sz="1050" dirty="0">
                <a:latin typeface="Open Sans Light"/>
                <a:cs typeface="Open Sans Light"/>
              </a:rPr>
              <a:t>that automates</a:t>
            </a:r>
            <a:r>
              <a:rPr sz="1050" spc="-3" dirty="0">
                <a:latin typeface="Open Sans Light"/>
                <a:cs typeface="Open Sans Light"/>
              </a:rPr>
              <a:t> </a:t>
            </a:r>
            <a:r>
              <a:rPr sz="1050" dirty="0">
                <a:latin typeface="Open Sans Light"/>
                <a:cs typeface="Open Sans Light"/>
              </a:rPr>
              <a:t>software deployments</a:t>
            </a:r>
            <a:r>
              <a:rPr sz="1050" spc="-3" dirty="0">
                <a:latin typeface="Open Sans Light"/>
                <a:cs typeface="Open Sans Light"/>
              </a:rPr>
              <a:t> </a:t>
            </a:r>
            <a:r>
              <a:rPr sz="1050" dirty="0">
                <a:latin typeface="Open Sans Light"/>
                <a:cs typeface="Open Sans Light"/>
              </a:rPr>
              <a:t>to a</a:t>
            </a:r>
            <a:r>
              <a:rPr sz="1050" spc="-3" dirty="0">
                <a:latin typeface="Open Sans Light"/>
                <a:cs typeface="Open Sans Light"/>
              </a:rPr>
              <a:t> </a:t>
            </a:r>
            <a:r>
              <a:rPr sz="1050" dirty="0">
                <a:latin typeface="Open Sans Light"/>
                <a:cs typeface="Open Sans Light"/>
              </a:rPr>
              <a:t>variety</a:t>
            </a:r>
            <a:r>
              <a:rPr sz="1050" spc="-3" dirty="0">
                <a:latin typeface="Open Sans Light"/>
                <a:cs typeface="Open Sans Light"/>
              </a:rPr>
              <a:t> </a:t>
            </a:r>
            <a:r>
              <a:rPr sz="1050" dirty="0">
                <a:latin typeface="Open Sans Light"/>
                <a:cs typeface="Open Sans Light"/>
              </a:rPr>
              <a:t>of </a:t>
            </a:r>
            <a:r>
              <a:rPr sz="1050" spc="-5" dirty="0">
                <a:latin typeface="Open Sans Light"/>
                <a:cs typeface="Open Sans Light"/>
              </a:rPr>
              <a:t>compute </a:t>
            </a:r>
            <a:r>
              <a:rPr sz="1050" dirty="0">
                <a:latin typeface="Open Sans Light"/>
                <a:cs typeface="Open Sans Light"/>
              </a:rPr>
              <a:t>services</a:t>
            </a:r>
            <a:r>
              <a:rPr sz="1050" spc="-5" dirty="0">
                <a:latin typeface="Open Sans Light"/>
                <a:cs typeface="Open Sans Light"/>
              </a:rPr>
              <a:t> </a:t>
            </a:r>
            <a:r>
              <a:rPr sz="1050" dirty="0">
                <a:latin typeface="Open Sans Light"/>
                <a:cs typeface="Open Sans Light"/>
              </a:rPr>
              <a:t>such</a:t>
            </a:r>
            <a:r>
              <a:rPr sz="1050" spc="-3" dirty="0">
                <a:latin typeface="Open Sans Light"/>
                <a:cs typeface="Open Sans Light"/>
              </a:rPr>
              <a:t> </a:t>
            </a:r>
            <a:r>
              <a:rPr sz="1050" dirty="0">
                <a:latin typeface="Open Sans Light"/>
                <a:cs typeface="Open Sans Light"/>
              </a:rPr>
              <a:t>as</a:t>
            </a:r>
            <a:r>
              <a:rPr sz="1050" spc="-5" dirty="0">
                <a:latin typeface="Open Sans Light"/>
                <a:cs typeface="Open Sans Light"/>
              </a:rPr>
              <a:t> </a:t>
            </a:r>
            <a:r>
              <a:rPr sz="1050" dirty="0">
                <a:latin typeface="Open Sans Light"/>
                <a:cs typeface="Open Sans Light"/>
              </a:rPr>
              <a:t>Amazon</a:t>
            </a:r>
            <a:r>
              <a:rPr sz="1050" spc="-3" dirty="0">
                <a:latin typeface="Open Sans Light"/>
                <a:cs typeface="Open Sans Light"/>
              </a:rPr>
              <a:t> </a:t>
            </a:r>
            <a:r>
              <a:rPr sz="1050" dirty="0">
                <a:latin typeface="Open Sans Light"/>
                <a:cs typeface="Open Sans Light"/>
              </a:rPr>
              <a:t>EC2,</a:t>
            </a:r>
            <a:r>
              <a:rPr sz="1050" spc="-5" dirty="0">
                <a:latin typeface="Open Sans Light"/>
                <a:cs typeface="Open Sans Light"/>
              </a:rPr>
              <a:t> </a:t>
            </a:r>
            <a:r>
              <a:rPr sz="1050" dirty="0">
                <a:latin typeface="Open Sans Light"/>
                <a:cs typeface="Open Sans Light"/>
              </a:rPr>
              <a:t>AWS</a:t>
            </a:r>
            <a:r>
              <a:rPr sz="1050" spc="-3" dirty="0">
                <a:latin typeface="Open Sans Light"/>
                <a:cs typeface="Open Sans Light"/>
              </a:rPr>
              <a:t> </a:t>
            </a:r>
            <a:r>
              <a:rPr sz="1050" dirty="0">
                <a:latin typeface="Open Sans Light"/>
                <a:cs typeface="Open Sans Light"/>
              </a:rPr>
              <a:t>Fargate,</a:t>
            </a:r>
            <a:r>
              <a:rPr sz="1050" spc="-3" dirty="0">
                <a:latin typeface="Open Sans Light"/>
                <a:cs typeface="Open Sans Light"/>
              </a:rPr>
              <a:t> </a:t>
            </a:r>
            <a:r>
              <a:rPr sz="1050" dirty="0">
                <a:latin typeface="Open Sans Light"/>
                <a:cs typeface="Open Sans Light"/>
              </a:rPr>
              <a:t>AWS</a:t>
            </a:r>
            <a:r>
              <a:rPr sz="1050" spc="-5" dirty="0">
                <a:latin typeface="Open Sans Light"/>
                <a:cs typeface="Open Sans Light"/>
              </a:rPr>
              <a:t> </a:t>
            </a:r>
            <a:r>
              <a:rPr sz="1050" dirty="0">
                <a:latin typeface="Open Sans Light"/>
                <a:cs typeface="Open Sans Light"/>
              </a:rPr>
              <a:t>Lambda,</a:t>
            </a:r>
            <a:r>
              <a:rPr sz="1050" spc="-3" dirty="0">
                <a:latin typeface="Open Sans Light"/>
                <a:cs typeface="Open Sans Light"/>
              </a:rPr>
              <a:t> </a:t>
            </a:r>
            <a:r>
              <a:rPr sz="1050" dirty="0">
                <a:latin typeface="Open Sans Light"/>
                <a:cs typeface="Open Sans Light"/>
              </a:rPr>
              <a:t>and</a:t>
            </a:r>
            <a:r>
              <a:rPr sz="1050" spc="-5" dirty="0">
                <a:latin typeface="Open Sans Light"/>
                <a:cs typeface="Open Sans Light"/>
              </a:rPr>
              <a:t> </a:t>
            </a:r>
            <a:r>
              <a:rPr sz="1050" dirty="0">
                <a:latin typeface="Open Sans Light"/>
                <a:cs typeface="Open Sans Light"/>
              </a:rPr>
              <a:t>your</a:t>
            </a:r>
            <a:r>
              <a:rPr sz="1050" spc="-3" dirty="0">
                <a:latin typeface="Open Sans Light"/>
                <a:cs typeface="Open Sans Light"/>
              </a:rPr>
              <a:t> </a:t>
            </a:r>
            <a:r>
              <a:rPr sz="1050" dirty="0">
                <a:latin typeface="Open Sans Light"/>
                <a:cs typeface="Open Sans Light"/>
              </a:rPr>
              <a:t>on-premises</a:t>
            </a:r>
            <a:r>
              <a:rPr sz="1050" spc="-5" dirty="0">
                <a:latin typeface="Open Sans Light"/>
                <a:cs typeface="Open Sans Light"/>
              </a:rPr>
              <a:t> </a:t>
            </a:r>
            <a:r>
              <a:rPr sz="1050" dirty="0">
                <a:latin typeface="Open Sans Light"/>
                <a:cs typeface="Open Sans Light"/>
              </a:rPr>
              <a:t>servers.</a:t>
            </a:r>
            <a:r>
              <a:rPr sz="1050" spc="-3" dirty="0">
                <a:latin typeface="Open Sans Light"/>
                <a:cs typeface="Open Sans Light"/>
              </a:rPr>
              <a:t> </a:t>
            </a:r>
            <a:r>
              <a:rPr sz="1050" dirty="0">
                <a:latin typeface="Open Sans Light"/>
                <a:cs typeface="Open Sans Light"/>
              </a:rPr>
              <a:t>AWS</a:t>
            </a:r>
            <a:r>
              <a:rPr sz="1050" spc="-3" dirty="0">
                <a:latin typeface="Open Sans Light"/>
                <a:cs typeface="Open Sans Light"/>
              </a:rPr>
              <a:t> </a:t>
            </a:r>
            <a:r>
              <a:rPr sz="1050" dirty="0">
                <a:latin typeface="Open Sans Light"/>
                <a:cs typeface="Open Sans Light"/>
              </a:rPr>
              <a:t>CodeDeploy</a:t>
            </a:r>
            <a:r>
              <a:rPr sz="1050" spc="-5" dirty="0">
                <a:latin typeface="Open Sans Light"/>
                <a:cs typeface="Open Sans Light"/>
              </a:rPr>
              <a:t> </a:t>
            </a:r>
            <a:r>
              <a:rPr sz="1050" dirty="0">
                <a:latin typeface="Open Sans Light"/>
                <a:cs typeface="Open Sans Light"/>
              </a:rPr>
              <a:t>makes</a:t>
            </a:r>
            <a:r>
              <a:rPr sz="1050" spc="-3" dirty="0">
                <a:latin typeface="Open Sans Light"/>
                <a:cs typeface="Open Sans Light"/>
              </a:rPr>
              <a:t> </a:t>
            </a:r>
            <a:r>
              <a:rPr sz="1050" dirty="0">
                <a:latin typeface="Open Sans Light"/>
                <a:cs typeface="Open Sans Light"/>
              </a:rPr>
              <a:t>it</a:t>
            </a:r>
            <a:r>
              <a:rPr sz="1050" spc="-5" dirty="0">
                <a:latin typeface="Open Sans Light"/>
                <a:cs typeface="Open Sans Light"/>
              </a:rPr>
              <a:t> </a:t>
            </a:r>
            <a:r>
              <a:rPr sz="1050" dirty="0">
                <a:latin typeface="Open Sans Light"/>
                <a:cs typeface="Open Sans Light"/>
              </a:rPr>
              <a:t>easier</a:t>
            </a:r>
            <a:r>
              <a:rPr sz="1050" spc="-3" dirty="0">
                <a:latin typeface="Open Sans Light"/>
                <a:cs typeface="Open Sans Light"/>
              </a:rPr>
              <a:t> </a:t>
            </a:r>
            <a:r>
              <a:rPr sz="1050" spc="-13" dirty="0">
                <a:latin typeface="Open Sans Light"/>
                <a:cs typeface="Open Sans Light"/>
              </a:rPr>
              <a:t>for </a:t>
            </a:r>
            <a:r>
              <a:rPr sz="1050" dirty="0">
                <a:latin typeface="Open Sans Light"/>
                <a:cs typeface="Open Sans Light"/>
              </a:rPr>
              <a:t>you to rapidly release new features, helps you avoid downtime during application deployment, and handles the complexity </a:t>
            </a:r>
            <a:r>
              <a:rPr sz="1050" spc="-13" dirty="0">
                <a:latin typeface="Open Sans Light"/>
                <a:cs typeface="Open Sans Light"/>
              </a:rPr>
              <a:t>of </a:t>
            </a:r>
            <a:r>
              <a:rPr sz="1050" dirty="0">
                <a:latin typeface="Open Sans Light"/>
                <a:cs typeface="Open Sans Light"/>
              </a:rPr>
              <a:t>updating</a:t>
            </a:r>
            <a:r>
              <a:rPr sz="1050" spc="-3" dirty="0">
                <a:latin typeface="Open Sans Light"/>
                <a:cs typeface="Open Sans Light"/>
              </a:rPr>
              <a:t> </a:t>
            </a:r>
            <a:r>
              <a:rPr sz="1050" dirty="0">
                <a:latin typeface="Open Sans Light"/>
                <a:cs typeface="Open Sans Light"/>
              </a:rPr>
              <a:t>your</a:t>
            </a:r>
            <a:r>
              <a:rPr sz="1050" spc="-3" dirty="0">
                <a:latin typeface="Open Sans Light"/>
                <a:cs typeface="Open Sans Light"/>
              </a:rPr>
              <a:t> </a:t>
            </a:r>
            <a:r>
              <a:rPr sz="1050" dirty="0">
                <a:latin typeface="Open Sans Light"/>
                <a:cs typeface="Open Sans Light"/>
              </a:rPr>
              <a:t>applications.</a:t>
            </a:r>
            <a:r>
              <a:rPr sz="1050" spc="-3" dirty="0">
                <a:latin typeface="Open Sans Light"/>
                <a:cs typeface="Open Sans Light"/>
              </a:rPr>
              <a:t> </a:t>
            </a:r>
            <a:r>
              <a:rPr sz="1050" dirty="0">
                <a:latin typeface="Open Sans Light"/>
                <a:cs typeface="Open Sans Light"/>
              </a:rPr>
              <a:t>You</a:t>
            </a:r>
            <a:r>
              <a:rPr sz="1050" spc="-3" dirty="0">
                <a:latin typeface="Open Sans Light"/>
                <a:cs typeface="Open Sans Light"/>
              </a:rPr>
              <a:t> </a:t>
            </a:r>
            <a:r>
              <a:rPr sz="1050" dirty="0">
                <a:latin typeface="Open Sans Light"/>
                <a:cs typeface="Open Sans Light"/>
              </a:rPr>
              <a:t>can</a:t>
            </a:r>
            <a:r>
              <a:rPr sz="1050" spc="-3" dirty="0">
                <a:latin typeface="Open Sans Light"/>
                <a:cs typeface="Open Sans Light"/>
              </a:rPr>
              <a:t> </a:t>
            </a:r>
            <a:r>
              <a:rPr sz="1050" dirty="0">
                <a:latin typeface="Open Sans Light"/>
                <a:cs typeface="Open Sans Light"/>
              </a:rPr>
              <a:t>use</a:t>
            </a:r>
            <a:r>
              <a:rPr sz="1050" spc="-3" dirty="0">
                <a:latin typeface="Open Sans Light"/>
                <a:cs typeface="Open Sans Light"/>
              </a:rPr>
              <a:t> </a:t>
            </a:r>
            <a:r>
              <a:rPr sz="1050" dirty="0">
                <a:latin typeface="Open Sans Light"/>
                <a:cs typeface="Open Sans Light"/>
              </a:rPr>
              <a:t>AWS</a:t>
            </a:r>
            <a:r>
              <a:rPr sz="1050" spc="-3" dirty="0">
                <a:latin typeface="Open Sans Light"/>
                <a:cs typeface="Open Sans Light"/>
              </a:rPr>
              <a:t> </a:t>
            </a:r>
            <a:r>
              <a:rPr sz="1050" dirty="0">
                <a:latin typeface="Open Sans Light"/>
                <a:cs typeface="Open Sans Light"/>
              </a:rPr>
              <a:t>CodeDeploy</a:t>
            </a:r>
            <a:r>
              <a:rPr sz="1050" spc="-3" dirty="0">
                <a:latin typeface="Open Sans Light"/>
                <a:cs typeface="Open Sans Light"/>
              </a:rPr>
              <a:t> </a:t>
            </a:r>
            <a:r>
              <a:rPr sz="1050" dirty="0">
                <a:latin typeface="Open Sans Light"/>
                <a:cs typeface="Open Sans Light"/>
              </a:rPr>
              <a:t>to</a:t>
            </a:r>
            <a:r>
              <a:rPr sz="1050" spc="-3" dirty="0">
                <a:latin typeface="Open Sans Light"/>
                <a:cs typeface="Open Sans Light"/>
              </a:rPr>
              <a:t> </a:t>
            </a:r>
            <a:r>
              <a:rPr sz="1050" dirty="0">
                <a:latin typeface="Open Sans Light"/>
                <a:cs typeface="Open Sans Light"/>
              </a:rPr>
              <a:t>automate</a:t>
            </a:r>
            <a:r>
              <a:rPr sz="1050" spc="-3" dirty="0">
                <a:latin typeface="Open Sans Light"/>
                <a:cs typeface="Open Sans Light"/>
              </a:rPr>
              <a:t> </a:t>
            </a:r>
            <a:r>
              <a:rPr sz="1050" dirty="0">
                <a:latin typeface="Open Sans Light"/>
                <a:cs typeface="Open Sans Light"/>
              </a:rPr>
              <a:t>software</a:t>
            </a:r>
            <a:r>
              <a:rPr sz="1050" spc="-3" dirty="0">
                <a:latin typeface="Open Sans Light"/>
                <a:cs typeface="Open Sans Light"/>
              </a:rPr>
              <a:t> </a:t>
            </a:r>
            <a:r>
              <a:rPr sz="1050" dirty="0">
                <a:latin typeface="Open Sans Light"/>
                <a:cs typeface="Open Sans Light"/>
              </a:rPr>
              <a:t>deployments,</a:t>
            </a:r>
            <a:r>
              <a:rPr sz="1050" spc="-3" dirty="0">
                <a:latin typeface="Open Sans Light"/>
                <a:cs typeface="Open Sans Light"/>
              </a:rPr>
              <a:t> </a:t>
            </a:r>
            <a:r>
              <a:rPr sz="1050" dirty="0">
                <a:latin typeface="Open Sans Light"/>
                <a:cs typeface="Open Sans Light"/>
              </a:rPr>
              <a:t>eliminating</a:t>
            </a:r>
            <a:r>
              <a:rPr sz="1050" spc="-3" dirty="0">
                <a:latin typeface="Open Sans Light"/>
                <a:cs typeface="Open Sans Light"/>
              </a:rPr>
              <a:t> </a:t>
            </a:r>
            <a:r>
              <a:rPr sz="1050" dirty="0">
                <a:latin typeface="Open Sans Light"/>
                <a:cs typeface="Open Sans Light"/>
              </a:rPr>
              <a:t>the</a:t>
            </a:r>
            <a:r>
              <a:rPr sz="1050" spc="-3" dirty="0">
                <a:latin typeface="Open Sans Light"/>
                <a:cs typeface="Open Sans Light"/>
              </a:rPr>
              <a:t> </a:t>
            </a:r>
            <a:r>
              <a:rPr sz="1050" dirty="0">
                <a:latin typeface="Open Sans Light"/>
                <a:cs typeface="Open Sans Light"/>
              </a:rPr>
              <a:t>need</a:t>
            </a:r>
            <a:r>
              <a:rPr sz="1050" spc="-3" dirty="0">
                <a:latin typeface="Open Sans Light"/>
                <a:cs typeface="Open Sans Light"/>
              </a:rPr>
              <a:t> </a:t>
            </a:r>
            <a:r>
              <a:rPr sz="1050" dirty="0">
                <a:latin typeface="Open Sans Light"/>
                <a:cs typeface="Open Sans Light"/>
              </a:rPr>
              <a:t>for</a:t>
            </a:r>
            <a:r>
              <a:rPr sz="1050" spc="-3" dirty="0">
                <a:latin typeface="Open Sans Light"/>
                <a:cs typeface="Open Sans Light"/>
              </a:rPr>
              <a:t> </a:t>
            </a:r>
            <a:r>
              <a:rPr sz="1050" spc="-5" dirty="0">
                <a:latin typeface="Open Sans Light"/>
                <a:cs typeface="Open Sans Light"/>
              </a:rPr>
              <a:t>error- </a:t>
            </a:r>
            <a:r>
              <a:rPr sz="1050" dirty="0">
                <a:latin typeface="Open Sans Light"/>
                <a:cs typeface="Open Sans Light"/>
              </a:rPr>
              <a:t>prone manual operations. The service scales to match your deployment </a:t>
            </a:r>
            <a:r>
              <a:rPr sz="1050" spc="-5" dirty="0">
                <a:latin typeface="Open Sans Light"/>
                <a:cs typeface="Open Sans Light"/>
              </a:rPr>
              <a:t>needs.</a:t>
            </a:r>
            <a:endParaRPr sz="1050">
              <a:latin typeface="Open Sans Light"/>
              <a:cs typeface="Open Sans Light"/>
            </a:endParaRPr>
          </a:p>
        </p:txBody>
      </p:sp>
      <p:sp>
        <p:nvSpPr>
          <p:cNvPr id="8" name="object 8"/>
          <p:cNvSpPr txBox="1"/>
          <p:nvPr/>
        </p:nvSpPr>
        <p:spPr>
          <a:xfrm>
            <a:off x="178918" y="3671595"/>
            <a:ext cx="994093" cy="191078"/>
          </a:xfrm>
          <a:prstGeom prst="rect">
            <a:avLst/>
          </a:prstGeom>
        </p:spPr>
        <p:txBody>
          <a:bodyPr vert="horz" wrap="square" lIns="0" tIns="6350" rIns="0" bIns="0" rtlCol="0">
            <a:spAutoFit/>
          </a:bodyPr>
          <a:lstStyle/>
          <a:p>
            <a:pPr marL="6350">
              <a:spcBef>
                <a:spcPts val="50"/>
              </a:spcBef>
            </a:pPr>
            <a:r>
              <a:rPr sz="1200" b="1" spc="-5" dirty="0">
                <a:latin typeface="Open Sans"/>
                <a:cs typeface="Open Sans"/>
              </a:rPr>
              <a:t>CodeCommit</a:t>
            </a:r>
            <a:endParaRPr sz="1200">
              <a:latin typeface="Open Sans"/>
              <a:cs typeface="Open Sans"/>
            </a:endParaRPr>
          </a:p>
        </p:txBody>
      </p:sp>
      <p:sp>
        <p:nvSpPr>
          <p:cNvPr id="9" name="object 9"/>
          <p:cNvSpPr txBox="1"/>
          <p:nvPr/>
        </p:nvSpPr>
        <p:spPr>
          <a:xfrm>
            <a:off x="1343544" y="3647788"/>
            <a:ext cx="7493318" cy="1366721"/>
          </a:xfrm>
          <a:prstGeom prst="rect">
            <a:avLst/>
          </a:prstGeom>
        </p:spPr>
        <p:txBody>
          <a:bodyPr vert="horz" wrap="square" lIns="0" tIns="6350" rIns="0" bIns="0" rtlCol="0">
            <a:spAutoFit/>
          </a:bodyPr>
          <a:lstStyle/>
          <a:p>
            <a:pPr marL="6350" marR="76835">
              <a:lnSpc>
                <a:spcPct val="116100"/>
              </a:lnSpc>
              <a:spcBef>
                <a:spcPts val="50"/>
              </a:spcBef>
            </a:pPr>
            <a:r>
              <a:rPr sz="1050" dirty="0">
                <a:latin typeface="Open Sans Light"/>
                <a:cs typeface="Open Sans Light"/>
              </a:rPr>
              <a:t>AWS</a:t>
            </a:r>
            <a:r>
              <a:rPr sz="1050" spc="-3" dirty="0">
                <a:latin typeface="Open Sans Light"/>
                <a:cs typeface="Open Sans Light"/>
              </a:rPr>
              <a:t> </a:t>
            </a:r>
            <a:r>
              <a:rPr sz="1050" dirty="0">
                <a:latin typeface="Open Sans Light"/>
                <a:cs typeface="Open Sans Light"/>
              </a:rPr>
              <a:t>CodePipeline is</a:t>
            </a:r>
            <a:r>
              <a:rPr sz="1050" spc="-3" dirty="0">
                <a:latin typeface="Open Sans Light"/>
                <a:cs typeface="Open Sans Light"/>
              </a:rPr>
              <a:t> </a:t>
            </a:r>
            <a:r>
              <a:rPr sz="1050" dirty="0">
                <a:latin typeface="Open Sans Light"/>
                <a:cs typeface="Open Sans Light"/>
              </a:rPr>
              <a:t>a fully</a:t>
            </a:r>
            <a:r>
              <a:rPr sz="1050" spc="-3" dirty="0">
                <a:latin typeface="Open Sans Light"/>
                <a:cs typeface="Open Sans Light"/>
              </a:rPr>
              <a:t> </a:t>
            </a:r>
            <a:r>
              <a:rPr sz="1050" dirty="0">
                <a:latin typeface="Open Sans Light"/>
                <a:cs typeface="Open Sans Light"/>
              </a:rPr>
              <a:t>managed</a:t>
            </a:r>
            <a:r>
              <a:rPr sz="1050" spc="-3" dirty="0">
                <a:latin typeface="Open Sans Light"/>
                <a:cs typeface="Open Sans Light"/>
              </a:rPr>
              <a:t> </a:t>
            </a:r>
            <a:r>
              <a:rPr sz="1050" dirty="0">
                <a:latin typeface="Open Sans Light"/>
                <a:cs typeface="Open Sans Light"/>
              </a:rPr>
              <a:t>continuous</a:t>
            </a:r>
            <a:r>
              <a:rPr sz="1050" spc="-3" dirty="0">
                <a:latin typeface="Open Sans Light"/>
                <a:cs typeface="Open Sans Light"/>
              </a:rPr>
              <a:t> </a:t>
            </a:r>
            <a:r>
              <a:rPr sz="1050" dirty="0">
                <a:latin typeface="Open Sans Light"/>
                <a:cs typeface="Open Sans Light"/>
              </a:rPr>
              <a:t>delivery</a:t>
            </a:r>
            <a:r>
              <a:rPr sz="1050" spc="-3" dirty="0">
                <a:latin typeface="Open Sans Light"/>
                <a:cs typeface="Open Sans Light"/>
              </a:rPr>
              <a:t> </a:t>
            </a:r>
            <a:r>
              <a:rPr sz="1050" dirty="0">
                <a:latin typeface="Open Sans Light"/>
                <a:cs typeface="Open Sans Light"/>
              </a:rPr>
              <a:t>service</a:t>
            </a:r>
            <a:r>
              <a:rPr sz="1050" spc="-3" dirty="0">
                <a:latin typeface="Open Sans Light"/>
                <a:cs typeface="Open Sans Light"/>
              </a:rPr>
              <a:t> </a:t>
            </a:r>
            <a:r>
              <a:rPr sz="1050" dirty="0">
                <a:latin typeface="Open Sans Light"/>
                <a:cs typeface="Open Sans Light"/>
              </a:rPr>
              <a:t>that helps</a:t>
            </a:r>
            <a:r>
              <a:rPr sz="1050" spc="-3" dirty="0">
                <a:latin typeface="Open Sans Light"/>
                <a:cs typeface="Open Sans Light"/>
              </a:rPr>
              <a:t> </a:t>
            </a:r>
            <a:r>
              <a:rPr sz="1050" dirty="0">
                <a:latin typeface="Open Sans Light"/>
                <a:cs typeface="Open Sans Light"/>
              </a:rPr>
              <a:t>you automate</a:t>
            </a:r>
            <a:r>
              <a:rPr sz="1050" spc="-3" dirty="0">
                <a:latin typeface="Open Sans Light"/>
                <a:cs typeface="Open Sans Light"/>
              </a:rPr>
              <a:t> </a:t>
            </a:r>
            <a:r>
              <a:rPr sz="1050" dirty="0">
                <a:latin typeface="Open Sans Light"/>
                <a:cs typeface="Open Sans Light"/>
              </a:rPr>
              <a:t>your release</a:t>
            </a:r>
            <a:r>
              <a:rPr sz="1050" spc="-3" dirty="0">
                <a:latin typeface="Open Sans Light"/>
                <a:cs typeface="Open Sans Light"/>
              </a:rPr>
              <a:t> </a:t>
            </a:r>
            <a:r>
              <a:rPr sz="1050" dirty="0">
                <a:latin typeface="Open Sans Light"/>
                <a:cs typeface="Open Sans Light"/>
              </a:rPr>
              <a:t>pipelines for</a:t>
            </a:r>
            <a:r>
              <a:rPr sz="1050" spc="-3" dirty="0">
                <a:latin typeface="Open Sans Light"/>
                <a:cs typeface="Open Sans Light"/>
              </a:rPr>
              <a:t> </a:t>
            </a:r>
            <a:r>
              <a:rPr sz="1050" dirty="0">
                <a:latin typeface="Open Sans Light"/>
                <a:cs typeface="Open Sans Light"/>
              </a:rPr>
              <a:t>fast </a:t>
            </a:r>
            <a:r>
              <a:rPr sz="1050" spc="-13" dirty="0">
                <a:latin typeface="Open Sans Light"/>
                <a:cs typeface="Open Sans Light"/>
              </a:rPr>
              <a:t>and </a:t>
            </a:r>
            <a:r>
              <a:rPr sz="1050" dirty="0">
                <a:latin typeface="Open Sans Light"/>
                <a:cs typeface="Open Sans Light"/>
              </a:rPr>
              <a:t>reliable application and infrastructure updates. CodePipeline automates the build, test, and deploy phases of your </a:t>
            </a:r>
            <a:r>
              <a:rPr sz="1050" spc="-5" dirty="0">
                <a:latin typeface="Open Sans Light"/>
                <a:cs typeface="Open Sans Light"/>
              </a:rPr>
              <a:t>release </a:t>
            </a:r>
            <a:r>
              <a:rPr sz="1050" dirty="0">
                <a:latin typeface="Open Sans Light"/>
                <a:cs typeface="Open Sans Light"/>
              </a:rPr>
              <a:t>process every time there is a code change, based on the release model you define. This enables you to rapidly and </a:t>
            </a:r>
            <a:r>
              <a:rPr sz="1050" spc="-5" dirty="0">
                <a:latin typeface="Open Sans Light"/>
                <a:cs typeface="Open Sans Light"/>
              </a:rPr>
              <a:t>reliably</a:t>
            </a:r>
            <a:endParaRPr sz="1050" dirty="0">
              <a:latin typeface="Open Sans Light"/>
              <a:cs typeface="Open Sans Light"/>
            </a:endParaRPr>
          </a:p>
          <a:p>
            <a:pPr marL="6350" marR="2540">
              <a:lnSpc>
                <a:spcPct val="116100"/>
              </a:lnSpc>
            </a:pPr>
            <a:r>
              <a:rPr sz="1050" dirty="0">
                <a:latin typeface="Open Sans Light"/>
                <a:cs typeface="Open Sans Light"/>
              </a:rPr>
              <a:t>deliver</a:t>
            </a:r>
            <a:r>
              <a:rPr sz="1050" spc="-3" dirty="0">
                <a:latin typeface="Open Sans Light"/>
                <a:cs typeface="Open Sans Light"/>
              </a:rPr>
              <a:t> </a:t>
            </a:r>
            <a:r>
              <a:rPr sz="1050" dirty="0">
                <a:latin typeface="Open Sans Light"/>
                <a:cs typeface="Open Sans Light"/>
              </a:rPr>
              <a:t>features</a:t>
            </a:r>
            <a:r>
              <a:rPr sz="1050" spc="-3" dirty="0">
                <a:latin typeface="Open Sans Light"/>
                <a:cs typeface="Open Sans Light"/>
              </a:rPr>
              <a:t> </a:t>
            </a:r>
            <a:r>
              <a:rPr sz="1050" dirty="0">
                <a:latin typeface="Open Sans Light"/>
                <a:cs typeface="Open Sans Light"/>
              </a:rPr>
              <a:t>and</a:t>
            </a:r>
            <a:r>
              <a:rPr sz="1050" spc="-3" dirty="0">
                <a:latin typeface="Open Sans Light"/>
                <a:cs typeface="Open Sans Light"/>
              </a:rPr>
              <a:t> </a:t>
            </a:r>
            <a:r>
              <a:rPr sz="1050" dirty="0">
                <a:latin typeface="Open Sans Light"/>
                <a:cs typeface="Open Sans Light"/>
              </a:rPr>
              <a:t>updates.</a:t>
            </a:r>
            <a:r>
              <a:rPr sz="1050" spc="-3" dirty="0">
                <a:latin typeface="Open Sans Light"/>
                <a:cs typeface="Open Sans Light"/>
              </a:rPr>
              <a:t> </a:t>
            </a:r>
            <a:r>
              <a:rPr sz="1050" dirty="0">
                <a:latin typeface="Open Sans Light"/>
                <a:cs typeface="Open Sans Light"/>
              </a:rPr>
              <a:t>You</a:t>
            </a:r>
            <a:r>
              <a:rPr sz="1050" spc="-3" dirty="0">
                <a:latin typeface="Open Sans Light"/>
                <a:cs typeface="Open Sans Light"/>
              </a:rPr>
              <a:t> </a:t>
            </a:r>
            <a:r>
              <a:rPr sz="1050" dirty="0">
                <a:latin typeface="Open Sans Light"/>
                <a:cs typeface="Open Sans Light"/>
              </a:rPr>
              <a:t>can</a:t>
            </a:r>
            <a:r>
              <a:rPr sz="1050" spc="-3" dirty="0">
                <a:latin typeface="Open Sans Light"/>
                <a:cs typeface="Open Sans Light"/>
              </a:rPr>
              <a:t> </a:t>
            </a:r>
            <a:r>
              <a:rPr sz="1050" dirty="0">
                <a:latin typeface="Open Sans Light"/>
                <a:cs typeface="Open Sans Light"/>
              </a:rPr>
              <a:t>easily integrate</a:t>
            </a:r>
            <a:r>
              <a:rPr sz="1050" spc="-3" dirty="0">
                <a:latin typeface="Open Sans Light"/>
                <a:cs typeface="Open Sans Light"/>
              </a:rPr>
              <a:t> </a:t>
            </a:r>
            <a:r>
              <a:rPr sz="1050" dirty="0">
                <a:latin typeface="Open Sans Light"/>
                <a:cs typeface="Open Sans Light"/>
              </a:rPr>
              <a:t>AWS</a:t>
            </a:r>
            <a:r>
              <a:rPr sz="1050" spc="-3" dirty="0">
                <a:latin typeface="Open Sans Light"/>
                <a:cs typeface="Open Sans Light"/>
              </a:rPr>
              <a:t> </a:t>
            </a:r>
            <a:r>
              <a:rPr sz="1050" dirty="0">
                <a:latin typeface="Open Sans Light"/>
                <a:cs typeface="Open Sans Light"/>
              </a:rPr>
              <a:t>CodePipeline</a:t>
            </a:r>
            <a:r>
              <a:rPr sz="1050" spc="-3" dirty="0">
                <a:latin typeface="Open Sans Light"/>
                <a:cs typeface="Open Sans Light"/>
              </a:rPr>
              <a:t> </a:t>
            </a:r>
            <a:r>
              <a:rPr sz="1050" dirty="0">
                <a:latin typeface="Open Sans Light"/>
                <a:cs typeface="Open Sans Light"/>
              </a:rPr>
              <a:t>with</a:t>
            </a:r>
            <a:r>
              <a:rPr sz="1050" spc="-3" dirty="0">
                <a:latin typeface="Open Sans Light"/>
                <a:cs typeface="Open Sans Light"/>
              </a:rPr>
              <a:t> </a:t>
            </a:r>
            <a:r>
              <a:rPr sz="1050" dirty="0">
                <a:latin typeface="Open Sans Light"/>
                <a:cs typeface="Open Sans Light"/>
              </a:rPr>
              <a:t>third-party</a:t>
            </a:r>
            <a:r>
              <a:rPr sz="1050" spc="-3" dirty="0">
                <a:latin typeface="Open Sans Light"/>
                <a:cs typeface="Open Sans Light"/>
              </a:rPr>
              <a:t> </a:t>
            </a:r>
            <a:r>
              <a:rPr sz="1050" dirty="0">
                <a:latin typeface="Open Sans Light"/>
                <a:cs typeface="Open Sans Light"/>
              </a:rPr>
              <a:t>services</a:t>
            </a:r>
            <a:r>
              <a:rPr sz="1050" spc="-3" dirty="0">
                <a:latin typeface="Open Sans Light"/>
                <a:cs typeface="Open Sans Light"/>
              </a:rPr>
              <a:t> </a:t>
            </a:r>
            <a:r>
              <a:rPr sz="1050" dirty="0">
                <a:latin typeface="Open Sans Light"/>
                <a:cs typeface="Open Sans Light"/>
              </a:rPr>
              <a:t>such as</a:t>
            </a:r>
            <a:r>
              <a:rPr sz="1050" spc="-3" dirty="0">
                <a:latin typeface="Open Sans Light"/>
                <a:cs typeface="Open Sans Light"/>
              </a:rPr>
              <a:t> </a:t>
            </a:r>
            <a:r>
              <a:rPr sz="1050" dirty="0">
                <a:latin typeface="Open Sans Light"/>
                <a:cs typeface="Open Sans Light"/>
              </a:rPr>
              <a:t>GitHub</a:t>
            </a:r>
            <a:r>
              <a:rPr sz="1050" spc="-3" dirty="0">
                <a:latin typeface="Open Sans Light"/>
                <a:cs typeface="Open Sans Light"/>
              </a:rPr>
              <a:t> </a:t>
            </a:r>
            <a:r>
              <a:rPr sz="1050" dirty="0">
                <a:latin typeface="Open Sans Light"/>
                <a:cs typeface="Open Sans Light"/>
              </a:rPr>
              <a:t>or</a:t>
            </a:r>
            <a:r>
              <a:rPr sz="1050" spc="-3" dirty="0">
                <a:latin typeface="Open Sans Light"/>
                <a:cs typeface="Open Sans Light"/>
              </a:rPr>
              <a:t> </a:t>
            </a:r>
            <a:r>
              <a:rPr sz="1050" dirty="0">
                <a:latin typeface="Open Sans Light"/>
                <a:cs typeface="Open Sans Light"/>
              </a:rPr>
              <a:t>with</a:t>
            </a:r>
            <a:r>
              <a:rPr sz="1050" spc="-3" dirty="0">
                <a:latin typeface="Open Sans Light"/>
                <a:cs typeface="Open Sans Light"/>
              </a:rPr>
              <a:t> </a:t>
            </a:r>
            <a:r>
              <a:rPr sz="1050" spc="-10" dirty="0">
                <a:latin typeface="Open Sans Light"/>
                <a:cs typeface="Open Sans Light"/>
              </a:rPr>
              <a:t>your </a:t>
            </a:r>
            <a:r>
              <a:rPr sz="1050" dirty="0">
                <a:latin typeface="Open Sans Light"/>
                <a:cs typeface="Open Sans Light"/>
              </a:rPr>
              <a:t>own</a:t>
            </a:r>
            <a:r>
              <a:rPr sz="1050" spc="-5" dirty="0">
                <a:latin typeface="Open Sans Light"/>
                <a:cs typeface="Open Sans Light"/>
              </a:rPr>
              <a:t> </a:t>
            </a:r>
            <a:r>
              <a:rPr sz="1050" dirty="0">
                <a:latin typeface="Open Sans Light"/>
                <a:cs typeface="Open Sans Light"/>
              </a:rPr>
              <a:t>custom</a:t>
            </a:r>
            <a:r>
              <a:rPr sz="1050" spc="-3" dirty="0">
                <a:latin typeface="Open Sans Light"/>
                <a:cs typeface="Open Sans Light"/>
              </a:rPr>
              <a:t> </a:t>
            </a:r>
            <a:r>
              <a:rPr sz="1050" dirty="0">
                <a:latin typeface="Open Sans Light"/>
                <a:cs typeface="Open Sans Light"/>
              </a:rPr>
              <a:t>plugin.</a:t>
            </a:r>
            <a:r>
              <a:rPr sz="1050" spc="-3" dirty="0">
                <a:latin typeface="Open Sans Light"/>
                <a:cs typeface="Open Sans Light"/>
              </a:rPr>
              <a:t> </a:t>
            </a:r>
            <a:r>
              <a:rPr sz="1050" dirty="0">
                <a:latin typeface="Open Sans Light"/>
                <a:cs typeface="Open Sans Light"/>
              </a:rPr>
              <a:t>With</a:t>
            </a:r>
            <a:r>
              <a:rPr sz="1050" spc="-3" dirty="0">
                <a:latin typeface="Open Sans Light"/>
                <a:cs typeface="Open Sans Light"/>
              </a:rPr>
              <a:t> </a:t>
            </a:r>
            <a:r>
              <a:rPr sz="1050" dirty="0">
                <a:latin typeface="Open Sans Light"/>
                <a:cs typeface="Open Sans Light"/>
              </a:rPr>
              <a:t>AWS</a:t>
            </a:r>
            <a:r>
              <a:rPr sz="1050" spc="-3" dirty="0">
                <a:latin typeface="Open Sans Light"/>
                <a:cs typeface="Open Sans Light"/>
              </a:rPr>
              <a:t> </a:t>
            </a:r>
            <a:r>
              <a:rPr sz="1050" dirty="0">
                <a:latin typeface="Open Sans Light"/>
                <a:cs typeface="Open Sans Light"/>
              </a:rPr>
              <a:t>CodePipeline,</a:t>
            </a:r>
            <a:r>
              <a:rPr sz="1050" spc="-3" dirty="0">
                <a:latin typeface="Open Sans Light"/>
                <a:cs typeface="Open Sans Light"/>
              </a:rPr>
              <a:t> </a:t>
            </a:r>
            <a:r>
              <a:rPr sz="1050" dirty="0">
                <a:latin typeface="Open Sans Light"/>
                <a:cs typeface="Open Sans Light"/>
              </a:rPr>
              <a:t>you</a:t>
            </a:r>
            <a:r>
              <a:rPr sz="1050" spc="-3" dirty="0">
                <a:latin typeface="Open Sans Light"/>
                <a:cs typeface="Open Sans Light"/>
              </a:rPr>
              <a:t> </a:t>
            </a:r>
            <a:r>
              <a:rPr sz="1050" dirty="0">
                <a:latin typeface="Open Sans Light"/>
                <a:cs typeface="Open Sans Light"/>
              </a:rPr>
              <a:t>only</a:t>
            </a:r>
            <a:r>
              <a:rPr sz="1050" spc="-3" dirty="0">
                <a:latin typeface="Open Sans Light"/>
                <a:cs typeface="Open Sans Light"/>
              </a:rPr>
              <a:t> </a:t>
            </a:r>
            <a:r>
              <a:rPr sz="1050" dirty="0">
                <a:latin typeface="Open Sans Light"/>
                <a:cs typeface="Open Sans Light"/>
              </a:rPr>
              <a:t>pay</a:t>
            </a:r>
            <a:r>
              <a:rPr sz="1050" spc="-3" dirty="0">
                <a:latin typeface="Open Sans Light"/>
                <a:cs typeface="Open Sans Light"/>
              </a:rPr>
              <a:t> </a:t>
            </a:r>
            <a:r>
              <a:rPr sz="1050" dirty="0">
                <a:latin typeface="Open Sans Light"/>
                <a:cs typeface="Open Sans Light"/>
              </a:rPr>
              <a:t>for</a:t>
            </a:r>
            <a:r>
              <a:rPr sz="1050" spc="-5" dirty="0">
                <a:latin typeface="Open Sans Light"/>
                <a:cs typeface="Open Sans Light"/>
              </a:rPr>
              <a:t> </a:t>
            </a:r>
            <a:r>
              <a:rPr sz="1050" dirty="0">
                <a:latin typeface="Open Sans Light"/>
                <a:cs typeface="Open Sans Light"/>
              </a:rPr>
              <a:t>what</a:t>
            </a:r>
            <a:r>
              <a:rPr sz="1050" spc="-3" dirty="0">
                <a:latin typeface="Open Sans Light"/>
                <a:cs typeface="Open Sans Light"/>
              </a:rPr>
              <a:t> </a:t>
            </a:r>
            <a:r>
              <a:rPr sz="1050" dirty="0">
                <a:latin typeface="Open Sans Light"/>
                <a:cs typeface="Open Sans Light"/>
              </a:rPr>
              <a:t>you</a:t>
            </a:r>
            <a:r>
              <a:rPr sz="1050" spc="-3" dirty="0">
                <a:latin typeface="Open Sans Light"/>
                <a:cs typeface="Open Sans Light"/>
              </a:rPr>
              <a:t> </a:t>
            </a:r>
            <a:r>
              <a:rPr sz="1050" dirty="0">
                <a:latin typeface="Open Sans Light"/>
                <a:cs typeface="Open Sans Light"/>
              </a:rPr>
              <a:t>use.</a:t>
            </a:r>
            <a:r>
              <a:rPr sz="1050" spc="-3" dirty="0">
                <a:latin typeface="Open Sans Light"/>
                <a:cs typeface="Open Sans Light"/>
              </a:rPr>
              <a:t> </a:t>
            </a:r>
            <a:r>
              <a:rPr sz="1050" dirty="0">
                <a:latin typeface="Open Sans Light"/>
                <a:cs typeface="Open Sans Light"/>
              </a:rPr>
              <a:t>There</a:t>
            </a:r>
            <a:r>
              <a:rPr sz="1050" spc="-3" dirty="0">
                <a:latin typeface="Open Sans Light"/>
                <a:cs typeface="Open Sans Light"/>
              </a:rPr>
              <a:t> </a:t>
            </a:r>
            <a:r>
              <a:rPr sz="1050" dirty="0">
                <a:latin typeface="Open Sans Light"/>
                <a:cs typeface="Open Sans Light"/>
              </a:rPr>
              <a:t>are</a:t>
            </a:r>
            <a:r>
              <a:rPr sz="1050" spc="-3" dirty="0">
                <a:latin typeface="Open Sans Light"/>
                <a:cs typeface="Open Sans Light"/>
              </a:rPr>
              <a:t> </a:t>
            </a:r>
            <a:r>
              <a:rPr sz="1050" dirty="0">
                <a:latin typeface="Open Sans Light"/>
                <a:cs typeface="Open Sans Light"/>
              </a:rPr>
              <a:t>no</a:t>
            </a:r>
            <a:r>
              <a:rPr sz="1050" spc="-3" dirty="0">
                <a:latin typeface="Open Sans Light"/>
                <a:cs typeface="Open Sans Light"/>
              </a:rPr>
              <a:t> </a:t>
            </a:r>
            <a:r>
              <a:rPr sz="1050" dirty="0">
                <a:latin typeface="Open Sans Light"/>
                <a:cs typeface="Open Sans Light"/>
              </a:rPr>
              <a:t>upfront</a:t>
            </a:r>
            <a:r>
              <a:rPr sz="1050" spc="-3" dirty="0">
                <a:latin typeface="Open Sans Light"/>
                <a:cs typeface="Open Sans Light"/>
              </a:rPr>
              <a:t> </a:t>
            </a:r>
            <a:r>
              <a:rPr sz="1050" dirty="0">
                <a:latin typeface="Open Sans Light"/>
                <a:cs typeface="Open Sans Light"/>
              </a:rPr>
              <a:t>fees</a:t>
            </a:r>
            <a:r>
              <a:rPr sz="1050" spc="-5" dirty="0">
                <a:latin typeface="Open Sans Light"/>
                <a:cs typeface="Open Sans Light"/>
              </a:rPr>
              <a:t> </a:t>
            </a:r>
            <a:r>
              <a:rPr sz="1050" dirty="0">
                <a:latin typeface="Open Sans Light"/>
                <a:cs typeface="Open Sans Light"/>
              </a:rPr>
              <a:t>or</a:t>
            </a:r>
            <a:r>
              <a:rPr sz="1050" spc="-3" dirty="0">
                <a:latin typeface="Open Sans Light"/>
                <a:cs typeface="Open Sans Light"/>
              </a:rPr>
              <a:t> </a:t>
            </a:r>
            <a:r>
              <a:rPr sz="1050" dirty="0">
                <a:latin typeface="Open Sans Light"/>
                <a:cs typeface="Open Sans Light"/>
              </a:rPr>
              <a:t>long-</a:t>
            </a:r>
            <a:r>
              <a:rPr sz="1050" spc="-10" dirty="0">
                <a:latin typeface="Open Sans Light"/>
                <a:cs typeface="Open Sans Light"/>
              </a:rPr>
              <a:t>term</a:t>
            </a:r>
            <a:endParaRPr sz="1050" dirty="0">
              <a:latin typeface="Open Sans Light"/>
              <a:cs typeface="Open Sans Light"/>
            </a:endParaRPr>
          </a:p>
          <a:p>
            <a:pPr marL="6350">
              <a:lnSpc>
                <a:spcPts val="1258"/>
              </a:lnSpc>
              <a:spcBef>
                <a:spcPts val="200"/>
              </a:spcBef>
            </a:pPr>
            <a:r>
              <a:rPr sz="1050" spc="-5" dirty="0">
                <a:latin typeface="Open Sans Light"/>
                <a:cs typeface="Open Sans Light"/>
              </a:rPr>
              <a:t>commitments.</a:t>
            </a:r>
            <a:endParaRPr sz="1050" dirty="0">
              <a:latin typeface="Open Sans Light"/>
              <a:cs typeface="Open Sans Light"/>
            </a:endParaRPr>
          </a:p>
          <a:p>
            <a:pPr marL="1985645">
              <a:lnSpc>
                <a:spcPts val="1827"/>
              </a:lnSpc>
            </a:pPr>
            <a:endParaRPr sz="1525">
              <a:latin typeface="Open Sans Extrabold"/>
              <a:cs typeface="Open Sans Extrabo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Free Tier</a:t>
            </a:r>
            <a:endParaRPr/>
          </a:p>
        </p:txBody>
      </p:sp>
      <p:sp>
        <p:nvSpPr>
          <p:cNvPr id="245" name="Google Shape;245;p3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n"/>
              <a:t>These free tier offers are only available to new AWS customers, and are available for 12 months following your AWS sign-up date. When your 12 month free usage term expires or if your application use exceeds the tiers, you simply pay standard, pay-as-you-go service rates.</a:t>
            </a:r>
            <a:endParaRPr/>
          </a:p>
          <a:p>
            <a:pPr marL="457200" lvl="0" indent="-311150" algn="l" rtl="0">
              <a:spcBef>
                <a:spcPts val="1200"/>
              </a:spcBef>
              <a:spcAft>
                <a:spcPts val="0"/>
              </a:spcAft>
              <a:buSzPts val="1300"/>
              <a:buChar char="●"/>
            </a:pPr>
            <a:r>
              <a:rPr lang="en"/>
              <a:t>Amazon EC2 - 750 hours per month</a:t>
            </a:r>
            <a:endParaRPr/>
          </a:p>
          <a:p>
            <a:pPr marL="457200" lvl="0" indent="-311150" algn="l" rtl="0">
              <a:spcBef>
                <a:spcPts val="0"/>
              </a:spcBef>
              <a:spcAft>
                <a:spcPts val="0"/>
              </a:spcAft>
              <a:buSzPts val="1300"/>
              <a:buChar char="●"/>
            </a:pPr>
            <a:r>
              <a:rPr lang="en"/>
              <a:t>Amazon S3 - 5 GB of standard storage</a:t>
            </a:r>
            <a:endParaRPr/>
          </a:p>
          <a:p>
            <a:pPr marL="457200" lvl="0" indent="-311150" algn="l" rtl="0">
              <a:spcBef>
                <a:spcPts val="0"/>
              </a:spcBef>
              <a:spcAft>
                <a:spcPts val="0"/>
              </a:spcAft>
              <a:buSzPts val="1300"/>
              <a:buChar char="●"/>
            </a:pPr>
            <a:r>
              <a:rPr lang="en"/>
              <a:t>Amazon RDS - 750 hours per month</a:t>
            </a:r>
            <a:endParaRPr/>
          </a:p>
          <a:p>
            <a:pPr marL="457200" lvl="0" indent="-311150" algn="l" rtl="0">
              <a:spcBef>
                <a:spcPts val="0"/>
              </a:spcBef>
              <a:spcAft>
                <a:spcPts val="0"/>
              </a:spcAft>
              <a:buSzPts val="1300"/>
              <a:buChar char="●"/>
            </a:pPr>
            <a:r>
              <a:rPr lang="en"/>
              <a:t>Amazon Cloudfront - 50 GB of data transfer OUT</a:t>
            </a:r>
            <a:endParaRPr/>
          </a:p>
          <a:p>
            <a:pPr marL="457200" lvl="0" indent="-311150" algn="l" rtl="0">
              <a:spcBef>
                <a:spcPts val="0"/>
              </a:spcBef>
              <a:spcAft>
                <a:spcPts val="0"/>
              </a:spcAft>
              <a:buSzPts val="1300"/>
              <a:buChar char="●"/>
            </a:pPr>
            <a:r>
              <a:rPr lang="en"/>
              <a:t>Amazon Elasticsearch service - 750 hours per month</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pic>
        <p:nvPicPr>
          <p:cNvPr id="250" name="Google Shape;250;p36"/>
          <p:cNvPicPr preferRelativeResize="0"/>
          <p:nvPr/>
        </p:nvPicPr>
        <p:blipFill>
          <a:blip r:embed="rId3">
            <a:alphaModFix/>
          </a:blip>
          <a:stretch>
            <a:fillRect/>
          </a:stretch>
        </p:blipFill>
        <p:spPr>
          <a:xfrm>
            <a:off x="2389580" y="152401"/>
            <a:ext cx="4364840" cy="4838699"/>
          </a:xfrm>
          <a:prstGeom prst="rect">
            <a:avLst/>
          </a:prstGeom>
          <a:noFill/>
          <a:ln>
            <a:noFill/>
          </a:ln>
        </p:spPr>
      </p:pic>
      <p:sp>
        <p:nvSpPr>
          <p:cNvPr id="251" name="Google Shape;251;p36"/>
          <p:cNvSpPr txBox="1"/>
          <p:nvPr/>
        </p:nvSpPr>
        <p:spPr>
          <a:xfrm>
            <a:off x="289400" y="368325"/>
            <a:ext cx="2512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a:latin typeface="Lato"/>
                <a:ea typeface="Lato"/>
                <a:cs typeface="Lato"/>
                <a:sym typeface="Lato"/>
              </a:rPr>
              <a:t>Sample Architecture-1</a:t>
            </a:r>
            <a:endParaRPr u="sng">
              <a:latin typeface="Lato"/>
              <a:ea typeface="Lato"/>
              <a:cs typeface="Lato"/>
              <a:sym typeface="Lato"/>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37"/>
          <p:cNvSpPr txBox="1"/>
          <p:nvPr/>
        </p:nvSpPr>
        <p:spPr>
          <a:xfrm>
            <a:off x="289400" y="368325"/>
            <a:ext cx="2512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a:latin typeface="Lato"/>
                <a:ea typeface="Lato"/>
                <a:cs typeface="Lato"/>
                <a:sym typeface="Lato"/>
              </a:rPr>
              <a:t>Sample Architecture-2</a:t>
            </a:r>
            <a:endParaRPr u="sng">
              <a:latin typeface="Lato"/>
              <a:ea typeface="Lato"/>
              <a:cs typeface="Lato"/>
              <a:sym typeface="Lato"/>
            </a:endParaRPr>
          </a:p>
        </p:txBody>
      </p:sp>
      <p:pic>
        <p:nvPicPr>
          <p:cNvPr id="257" name="Google Shape;257;p37"/>
          <p:cNvPicPr preferRelativeResize="0"/>
          <p:nvPr/>
        </p:nvPicPr>
        <p:blipFill>
          <a:blip r:embed="rId3">
            <a:alphaModFix/>
          </a:blip>
          <a:stretch>
            <a:fillRect/>
          </a:stretch>
        </p:blipFill>
        <p:spPr>
          <a:xfrm>
            <a:off x="2220408" y="152401"/>
            <a:ext cx="4703184" cy="4838699"/>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8"/>
          <p:cNvSpPr txBox="1"/>
          <p:nvPr/>
        </p:nvSpPr>
        <p:spPr>
          <a:xfrm>
            <a:off x="2138400" y="4651300"/>
            <a:ext cx="4867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a:solidFill>
                  <a:schemeClr val="hlink"/>
                </a:solidFill>
                <a:latin typeface="Lato"/>
                <a:ea typeface="Lato"/>
                <a:cs typeface="Lato"/>
                <a:sym typeface="Lato"/>
                <a:hlinkClick r:id="rId3"/>
              </a:rPr>
              <a:t>https://www.youtube.com/watch?v=vg5onp8TU6Q</a:t>
            </a:r>
            <a:endParaRPr>
              <a:latin typeface="Lato"/>
              <a:ea typeface="Lato"/>
              <a:cs typeface="Lato"/>
              <a:sym typeface="Lato"/>
            </a:endParaRPr>
          </a:p>
        </p:txBody>
      </p:sp>
      <p:pic>
        <p:nvPicPr>
          <p:cNvPr id="263" name="Google Shape;263;p38"/>
          <p:cNvPicPr preferRelativeResize="0"/>
          <p:nvPr/>
        </p:nvPicPr>
        <p:blipFill>
          <a:blip r:embed="rId4">
            <a:alphaModFix/>
          </a:blip>
          <a:stretch>
            <a:fillRect/>
          </a:stretch>
        </p:blipFill>
        <p:spPr>
          <a:xfrm>
            <a:off x="1787693" y="418262"/>
            <a:ext cx="5568614" cy="4306975"/>
          </a:xfrm>
          <a:prstGeom prst="rect">
            <a:avLst/>
          </a:prstGeom>
          <a:noFill/>
          <a:ln>
            <a:noFill/>
          </a:ln>
        </p:spPr>
      </p:pic>
      <p:sp>
        <p:nvSpPr>
          <p:cNvPr id="264" name="Google Shape;264;p38"/>
          <p:cNvSpPr txBox="1"/>
          <p:nvPr/>
        </p:nvSpPr>
        <p:spPr>
          <a:xfrm>
            <a:off x="289400" y="368325"/>
            <a:ext cx="2512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a:latin typeface="Lato"/>
                <a:ea typeface="Lato"/>
                <a:cs typeface="Lato"/>
                <a:sym typeface="Lato"/>
              </a:rPr>
              <a:t>Sample Architecture-3</a:t>
            </a:r>
            <a:endParaRPr u="sng">
              <a:latin typeface="Lato"/>
              <a:ea typeface="Lato"/>
              <a:cs typeface="Lato"/>
              <a:sym typeface="Lato"/>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3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Thank You</a:t>
            </a:r>
            <a:endParaRPr/>
          </a:p>
        </p:txBody>
      </p:sp>
      <p:sp>
        <p:nvSpPr>
          <p:cNvPr id="270" name="Google Shape;270;p3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Questions?</a:t>
            </a:r>
            <a:endParaRPr/>
          </a:p>
        </p:txBody>
      </p:sp>
      <p:pic>
        <p:nvPicPr>
          <p:cNvPr id="271" name="Google Shape;271;p39"/>
          <p:cNvPicPr preferRelativeResize="0"/>
          <p:nvPr/>
        </p:nvPicPr>
        <p:blipFill>
          <a:blip r:embed="rId3">
            <a:alphaModFix/>
          </a:blip>
          <a:stretch>
            <a:fillRect/>
          </a:stretch>
        </p:blipFill>
        <p:spPr>
          <a:xfrm>
            <a:off x="5417525" y="1413491"/>
            <a:ext cx="3064925" cy="2316525"/>
          </a:xfrm>
          <a:prstGeom prst="rect">
            <a:avLst/>
          </a:prstGeom>
          <a:noFill/>
          <a:ln>
            <a:noFill/>
          </a:ln>
        </p:spPr>
      </p:pic>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TotalTime>
  <Words>5331</Words>
  <Application>Microsoft Office PowerPoint</Application>
  <PresentationFormat>On-screen Show (16:9)</PresentationFormat>
  <Paragraphs>331</Paragraphs>
  <Slides>41</Slides>
  <Notes>23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41</vt:i4>
      </vt:variant>
    </vt:vector>
  </HeadingPairs>
  <TitlesOfParts>
    <vt:vector size="50" baseType="lpstr">
      <vt:lpstr>Open Sans</vt:lpstr>
      <vt:lpstr>Raleway</vt:lpstr>
      <vt:lpstr>Roboto</vt:lpstr>
      <vt:lpstr>Open Sans Extrabold</vt:lpstr>
      <vt:lpstr>Lato</vt:lpstr>
      <vt:lpstr>Open Sans Light</vt:lpstr>
      <vt:lpstr>Calibri</vt:lpstr>
      <vt:lpstr>Arial</vt:lpstr>
      <vt:lpstr>Streamline</vt:lpstr>
      <vt:lpstr>AWS Architecture </vt:lpstr>
      <vt:lpstr>What is AWS</vt:lpstr>
      <vt:lpstr>AWS Global Architecture</vt:lpstr>
      <vt:lpstr>AWS Global Infrastructure</vt:lpstr>
      <vt:lpstr>What is Region &amp; Avilability Zones?</vt:lpstr>
      <vt:lpstr>What is Edge Locations?</vt:lpstr>
      <vt:lpstr>Shared Responsibility Model</vt:lpstr>
      <vt:lpstr>How to access AWS Resources</vt:lpstr>
      <vt:lpstr>AWS Core Services</vt:lpstr>
      <vt:lpstr>AWS Identity and Access Management (IAM) Securely manage access to AWS services and resources</vt:lpstr>
      <vt:lpstr>Route53</vt:lpstr>
      <vt:lpstr>Virtual Private Cloud (VPC)</vt:lpstr>
      <vt:lpstr>Amazon Virtual Private Cloud (VPC) Build on a logically isolated virtual network in the AWS cloud</vt:lpstr>
      <vt:lpstr>Elastic Compute Cloud (EC2)</vt:lpstr>
      <vt:lpstr>AWS EC2</vt:lpstr>
      <vt:lpstr>Simple Storage Service (S3)</vt:lpstr>
      <vt:lpstr>Amazon Simple Storage Service (Amazon S3)</vt:lpstr>
      <vt:lpstr>Cloudfront</vt:lpstr>
      <vt:lpstr>Amazon CloudFront</vt:lpstr>
      <vt:lpstr>Relational Database Service (RDS)</vt:lpstr>
      <vt:lpstr>Amazon Relational Database Service (RDS)</vt:lpstr>
      <vt:lpstr>Elasticache</vt:lpstr>
      <vt:lpstr>DynamoDB</vt:lpstr>
      <vt:lpstr>Elastic Load Balancing (ELB)</vt:lpstr>
      <vt:lpstr>Simple Queue Service (SQS)</vt:lpstr>
      <vt:lpstr>Amazon Simple Queue Service</vt:lpstr>
      <vt:lpstr>Simple Notification Service (SNS)</vt:lpstr>
      <vt:lpstr>Amazon Simple Notification Service</vt:lpstr>
      <vt:lpstr>Elasticsearch</vt:lpstr>
      <vt:lpstr>Serverless</vt:lpstr>
      <vt:lpstr>Amazon Elastic Block Store (EBS) Easy to use, high performance block storage at any scale</vt:lpstr>
      <vt:lpstr>Amazon Elastic Container Service (Amazon ECS)</vt:lpstr>
      <vt:lpstr>AWS Lambda</vt:lpstr>
      <vt:lpstr>Amazon CloudWatch</vt:lpstr>
      <vt:lpstr>Amazon Simple Email Service</vt:lpstr>
      <vt:lpstr>AWS DevOps Tools</vt:lpstr>
      <vt:lpstr>Free Tier</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Architecture</dc:title>
  <dc:creator>GATHAMS</dc:creator>
  <cp:lastModifiedBy>GATHAMS</cp:lastModifiedBy>
  <cp:revision>12</cp:revision>
  <dcterms:modified xsi:type="dcterms:W3CDTF">2026-05-27T05:10:12Z</dcterms:modified>
</cp:coreProperties>
</file>