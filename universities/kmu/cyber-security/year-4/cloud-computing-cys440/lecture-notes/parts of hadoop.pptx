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76" r:id="rId1"/>
  </p:sldMasterIdLst>
  <p:notesMasterIdLst>
    <p:notesMasterId r:id="rId55"/>
  </p:notesMasterIdLst>
  <p:sldIdLst>
    <p:sldId id="378" r:id="rId2"/>
    <p:sldId id="371" r:id="rId3"/>
    <p:sldId id="256" r:id="rId4"/>
    <p:sldId id="370" r:id="rId5"/>
    <p:sldId id="372" r:id="rId6"/>
    <p:sldId id="373" r:id="rId7"/>
    <p:sldId id="375" r:id="rId8"/>
    <p:sldId id="326" r:id="rId9"/>
    <p:sldId id="309" r:id="rId10"/>
    <p:sldId id="358" r:id="rId11"/>
    <p:sldId id="374" r:id="rId12"/>
    <p:sldId id="377" r:id="rId13"/>
    <p:sldId id="332" r:id="rId14"/>
    <p:sldId id="350" r:id="rId15"/>
    <p:sldId id="349" r:id="rId16"/>
    <p:sldId id="376" r:id="rId17"/>
    <p:sldId id="340" r:id="rId18"/>
    <p:sldId id="342" r:id="rId19"/>
    <p:sldId id="347" r:id="rId20"/>
    <p:sldId id="345" r:id="rId21"/>
    <p:sldId id="346" r:id="rId22"/>
    <p:sldId id="307" r:id="rId23"/>
    <p:sldId id="308" r:id="rId24"/>
    <p:sldId id="311" r:id="rId25"/>
    <p:sldId id="310" r:id="rId26"/>
    <p:sldId id="312" r:id="rId27"/>
    <p:sldId id="325" r:id="rId28"/>
    <p:sldId id="354" r:id="rId29"/>
    <p:sldId id="359" r:id="rId30"/>
    <p:sldId id="360" r:id="rId31"/>
    <p:sldId id="363" r:id="rId32"/>
    <p:sldId id="361" r:id="rId33"/>
    <p:sldId id="367" r:id="rId34"/>
    <p:sldId id="362" r:id="rId35"/>
    <p:sldId id="364" r:id="rId36"/>
    <p:sldId id="337" r:id="rId37"/>
    <p:sldId id="321" r:id="rId38"/>
    <p:sldId id="328" r:id="rId39"/>
    <p:sldId id="329" r:id="rId40"/>
    <p:sldId id="368" r:id="rId41"/>
    <p:sldId id="351" r:id="rId42"/>
    <p:sldId id="322" r:id="rId43"/>
    <p:sldId id="348" r:id="rId44"/>
    <p:sldId id="366" r:id="rId45"/>
    <p:sldId id="365" r:id="rId46"/>
    <p:sldId id="355" r:id="rId47"/>
    <p:sldId id="356" r:id="rId48"/>
    <p:sldId id="357" r:id="rId49"/>
    <p:sldId id="369" r:id="rId50"/>
    <p:sldId id="327" r:id="rId51"/>
    <p:sldId id="339" r:id="rId52"/>
    <p:sldId id="305" r:id="rId53"/>
    <p:sldId id="263"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B9C5"/>
    <a:srgbClr val="6F707F"/>
    <a:srgbClr val="6465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45" autoAdjust="0"/>
    <p:restoredTop sz="94790" autoAdjust="0"/>
  </p:normalViewPr>
  <p:slideViewPr>
    <p:cSldViewPr>
      <p:cViewPr varScale="1">
        <p:scale>
          <a:sx n="92" d="100"/>
          <a:sy n="92" d="100"/>
        </p:scale>
        <p:origin x="2178" y="96"/>
      </p:cViewPr>
      <p:guideLst>
        <p:guide orient="horz" pos="2160"/>
        <p:guide pos="2880"/>
      </p:guideLst>
    </p:cSldViewPr>
  </p:slideViewPr>
  <p:outlineViewPr>
    <p:cViewPr>
      <p:scale>
        <a:sx n="33" d="100"/>
        <a:sy n="33" d="100"/>
      </p:scale>
      <p:origin x="0" y="5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F860DB-4BFE-4A96-A305-24F32D33C216}" type="datetimeFigureOut">
              <a:rPr lang="en-US" smtClean="0"/>
              <a:t>9/8/2026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7F50627-6E62-4FD9-845D-B00B355B6286}" type="slidenum">
              <a:rPr lang="en-US" smtClean="0"/>
              <a:t>‹#›</a:t>
            </a:fld>
            <a:endParaRPr lang="en-US"/>
          </a:p>
        </p:txBody>
      </p:sp>
    </p:spTree>
    <p:extLst>
      <p:ext uri="{BB962C8B-B14F-4D97-AF65-F5344CB8AC3E}">
        <p14:creationId xmlns:p14="http://schemas.microsoft.com/office/powerpoint/2010/main" val="68765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448FE7F9-1253-4DFB-B33F-188580EB204B}" type="datetimeFigureOut">
              <a:rPr lang="en-US" smtClean="0"/>
              <a:pPr/>
              <a:t>9/8/2026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A6B53DC1-865E-4D6E-B100-452E8E0F290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48FE7F9-1253-4DFB-B33F-188580EB204B}"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B53DC1-865E-4D6E-B100-452E8E0F290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48FE7F9-1253-4DFB-B33F-188580EB204B}"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B53DC1-865E-4D6E-B100-452E8E0F290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48FE7F9-1253-4DFB-B33F-188580EB204B}"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B53DC1-865E-4D6E-B100-452E8E0F290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448FE7F9-1253-4DFB-B33F-188580EB204B}" type="datetimeFigureOut">
              <a:rPr lang="en-US" smtClean="0"/>
              <a:pPr/>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B53DC1-865E-4D6E-B100-452E8E0F290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448FE7F9-1253-4DFB-B33F-188580EB204B}" type="datetimeFigureOut">
              <a:rPr lang="en-US" smtClean="0"/>
              <a:pPr/>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B53DC1-865E-4D6E-B100-452E8E0F290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8FE7F9-1253-4DFB-B33F-188580EB204B}" type="datetimeFigureOut">
              <a:rPr lang="en-US" smtClean="0"/>
              <a:pPr/>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B53DC1-865E-4D6E-B100-452E8E0F290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48FE7F9-1253-4DFB-B33F-188580EB204B}"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B53DC1-865E-4D6E-B100-452E8E0F290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48FE7F9-1253-4DFB-B33F-188580EB204B}"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A6B53DC1-865E-4D6E-B100-452E8E0F2900}"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48FE7F9-1253-4DFB-B33F-188580EB204B}"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B53DC1-865E-4D6E-B100-452E8E0F290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48FE7F9-1253-4DFB-B33F-188580EB204B}"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B53DC1-865E-4D6E-B100-452E8E0F290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48FE7F9-1253-4DFB-B33F-188580EB204B}" type="datetimeFigureOut">
              <a:rPr lang="en-US" smtClean="0"/>
              <a:pPr/>
              <a:t>9/8/2026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A6B53DC1-865E-4D6E-B100-452E8E0F2900}"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hbase.apache.or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hive.apache.or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en.wikipedia.org/wiki/Apache_Spark"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pig.apache.or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office.microsoft.com/en-us/office365-sharepoint-online-enterprise-help/power-bi-for-office-365-overview-and-learning-HA104103581.aspx" TargetMode="External"/><Relationship Id="rId7" Type="http://schemas.openxmlformats.org/officeDocument/2006/relationships/image" Target="../media/image8.jpeg"/><Relationship Id="rId2" Type="http://schemas.openxmlformats.org/officeDocument/2006/relationships/hyperlink" Target="https://cwiki.apache.org/confluence/display/Hive/HiveODBC" TargetMode="External"/><Relationship Id="rId1" Type="http://schemas.openxmlformats.org/officeDocument/2006/relationships/slideLayout" Target="../slideLayouts/slideLayout2.xml"/><Relationship Id="rId6" Type="http://schemas.openxmlformats.org/officeDocument/2006/relationships/hyperlink" Target="http://www.sapbigdata.com/platform/hadoop/#sthash.od9ep4EW.dpbs" TargetMode="External"/><Relationship Id="rId5" Type="http://schemas.openxmlformats.org/officeDocument/2006/relationships/hyperlink" Target="http://www.qlik.com/" TargetMode="External"/><Relationship Id="rId4" Type="http://schemas.openxmlformats.org/officeDocument/2006/relationships/hyperlink" Target="http://www.tableausoftware.com/trial/tableau-software?cid=701600000005cS4&amp;ls=Paid%20Search&amp;lsd=Google%20AdWords%20-%20Tableau%20-%20Free%20Trial&amp;adgroup=Tableau%20-%20Exact&amp;kw=tableau&amp;adused=35106603135&amp;distribution=search&amp;gclid=CKejra7Bnr0CFYuXOgodsBcAow"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hbase.apache.org/"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hadoop.apache.org/docs/r1.2.1/streaming.htm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zookeeper.apache.org/"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www.computerworld.com/s/article/9244827/Hadoop_gets_native_R_tools_for_big_data_analysis" TargetMode="External"/><Relationship Id="rId2" Type="http://schemas.openxmlformats.org/officeDocument/2006/relationships/hyperlink" Target="http://www.bloomconsultingbi.com/2014/03/my-understanding-of-mahout-machine.html" TargetMode="Externa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en.wikipedia.org/wiki/MapReduce" TargetMode="External"/><Relationship Id="rId2" Type="http://schemas.openxmlformats.org/officeDocument/2006/relationships/hyperlink" Target="http://en.wikipedia.org/wiki/Cloudera_Impala" TargetMode="Externa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hyperlink" Target="http://hortonworks.com/hadoop/tez/" TargetMode="External"/><Relationship Id="rId4" Type="http://schemas.openxmlformats.org/officeDocument/2006/relationships/hyperlink" Target="http://www.itbusinessedge.com/blogs/integration/stinger-initiative-brings-sql-users-to-hadoop-via-apache-hive.html" TargetMode="External"/></Relationships>
</file>

<file path=ppt/slides/_rels/slide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giraph.apache.org/"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ambari.apache.org/"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aws.amazon.com/big-data/" TargetMode="External"/><Relationship Id="rId2" Type="http://schemas.openxmlformats.org/officeDocument/2006/relationships/hyperlink" Target="http://www.windowsazure.com/en-us/documentation/articles/hdinsight-use-blob-storage/" TargetMode="Externa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7.xml.rels><?xml version="1.0" encoding="UTF-8" standalone="yes"?>
<Relationships xmlns="http://schemas.openxmlformats.org/package/2006/relationships"><Relationship Id="rId3" Type="http://schemas.openxmlformats.org/officeDocument/2006/relationships/hyperlink" Target="http://www.cloudera.com/content/cloudera/en/home.html" TargetMode="External"/><Relationship Id="rId2" Type="http://schemas.openxmlformats.org/officeDocument/2006/relationships/hyperlink" Target="http://www-01.ibm.com/software/data/infosphere/hadoop/" TargetMode="Externa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hyperlink" Target="http://www.mapr.com/" TargetMode="External"/><Relationship Id="rId4" Type="http://schemas.openxmlformats.org/officeDocument/2006/relationships/hyperlink" Target="http://hortonworks.com/" TargetMode="External"/></Relationships>
</file>

<file path=ppt/slides/_rels/slide4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hyperlink" Target="http://www.bloomconsultingbi.com/"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D9E16-6608-4AC6-AF56-EA881E09D52E}"/>
              </a:ext>
            </a:extLst>
          </p:cNvPr>
          <p:cNvSpPr>
            <a:spLocks noGrp="1"/>
          </p:cNvSpPr>
          <p:nvPr>
            <p:ph type="ctrTitle"/>
          </p:nvPr>
        </p:nvSpPr>
        <p:spPr/>
        <p:txBody>
          <a:bodyPr/>
          <a:lstStyle/>
          <a:p>
            <a:r>
              <a:rPr lang="en-US" dirty="0"/>
              <a:t>Components of Hadoop </a:t>
            </a:r>
          </a:p>
        </p:txBody>
      </p:sp>
      <p:sp>
        <p:nvSpPr>
          <p:cNvPr id="3" name="Subtitle 2">
            <a:extLst>
              <a:ext uri="{FF2B5EF4-FFF2-40B4-BE49-F238E27FC236}">
                <a16:creationId xmlns:a16="http://schemas.microsoft.com/office/drawing/2014/main" id="{FB67FF04-4B0C-40FC-AAC6-F018A5CE3BE0}"/>
              </a:ext>
            </a:extLst>
          </p:cNvPr>
          <p:cNvSpPr>
            <a:spLocks noGrp="1"/>
          </p:cNvSpPr>
          <p:nvPr>
            <p:ph type="subTitle" idx="1"/>
          </p:nvPr>
        </p:nvSpPr>
        <p:spPr>
          <a:xfrm>
            <a:off x="644652" y="6019800"/>
            <a:ext cx="7854696" cy="685800"/>
          </a:xfrm>
        </p:spPr>
        <p:txBody>
          <a:bodyPr>
            <a:normAutofit fontScale="77500" lnSpcReduction="20000"/>
          </a:bodyPr>
          <a:lstStyle/>
          <a:p>
            <a:r>
              <a:rPr lang="en-US" dirty="0">
                <a:solidFill>
                  <a:srgbClr val="FF0000"/>
                </a:solidFill>
              </a:rPr>
              <a:t>Presentation by </a:t>
            </a:r>
          </a:p>
          <a:p>
            <a:r>
              <a:rPr lang="en-US" dirty="0" err="1">
                <a:solidFill>
                  <a:srgbClr val="FF0000"/>
                </a:solidFill>
              </a:rPr>
              <a:t>Eng</a:t>
            </a:r>
            <a:r>
              <a:rPr lang="en-US" dirty="0">
                <a:solidFill>
                  <a:srgbClr val="FF0000"/>
                </a:solidFill>
              </a:rPr>
              <a:t> </a:t>
            </a:r>
            <a:r>
              <a:rPr lang="en-US" dirty="0" err="1">
                <a:solidFill>
                  <a:srgbClr val="FF0000"/>
                </a:solidFill>
              </a:rPr>
              <a:t>Ngosa</a:t>
            </a:r>
            <a:r>
              <a:rPr lang="en-US" dirty="0">
                <a:solidFill>
                  <a:srgbClr val="FF0000"/>
                </a:solidFill>
              </a:rPr>
              <a:t> </a:t>
            </a:r>
            <a:r>
              <a:rPr lang="en-US" dirty="0" err="1">
                <a:solidFill>
                  <a:srgbClr val="FF0000"/>
                </a:solidFill>
              </a:rPr>
              <a:t>Gathams</a:t>
            </a:r>
            <a:r>
              <a:rPr lang="en-US" dirty="0">
                <a:solidFill>
                  <a:srgbClr val="FF0000"/>
                </a:solidFill>
              </a:rPr>
              <a:t>  </a:t>
            </a:r>
          </a:p>
        </p:txBody>
      </p:sp>
    </p:spTree>
    <p:extLst>
      <p:ext uri="{BB962C8B-B14F-4D97-AF65-F5344CB8AC3E}">
        <p14:creationId xmlns:p14="http://schemas.microsoft.com/office/powerpoint/2010/main" val="163401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AEC9B8-400C-4070-8240-5245967E3351}"/>
              </a:ext>
            </a:extLst>
          </p:cNvPr>
          <p:cNvPicPr>
            <a:picLocks noChangeAspect="1"/>
          </p:cNvPicPr>
          <p:nvPr/>
        </p:nvPicPr>
        <p:blipFill>
          <a:blip r:embed="rId2"/>
          <a:stretch>
            <a:fillRect/>
          </a:stretch>
        </p:blipFill>
        <p:spPr>
          <a:xfrm>
            <a:off x="8568" y="0"/>
            <a:ext cx="9126866" cy="6858000"/>
          </a:xfrm>
          <a:prstGeom prst="rect">
            <a:avLst/>
          </a:prstGeom>
        </p:spPr>
      </p:pic>
    </p:spTree>
    <p:extLst>
      <p:ext uri="{BB962C8B-B14F-4D97-AF65-F5344CB8AC3E}">
        <p14:creationId xmlns:p14="http://schemas.microsoft.com/office/powerpoint/2010/main" val="2621139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400000"/>
              </a:schemeClr>
            </a:gs>
            <a:gs pos="0">
              <a:schemeClr val="bg2">
                <a:tint val="83000"/>
                <a:satMod val="320000"/>
              </a:schemeClr>
            </a:gs>
            <a:gs pos="100000">
              <a:schemeClr val="bg2">
                <a:shade val="15000"/>
                <a:satMod val="320000"/>
              </a:schemeClr>
            </a:gs>
          </a:gsLst>
          <a:path path="circle">
            <a:fillToRect l="10000" t="110000" r="10000" b="100000"/>
          </a:path>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000" dirty="0"/>
              <a:t>Intro to Hadoop</a:t>
            </a:r>
            <a:br>
              <a:rPr lang="en-US" sz="6000" dirty="0"/>
            </a:br>
            <a:endParaRPr lang="en-US" sz="4000" dirty="0"/>
          </a:p>
        </p:txBody>
      </p:sp>
      <p:sp>
        <p:nvSpPr>
          <p:cNvPr id="3" name="Subtitle 2"/>
          <p:cNvSpPr>
            <a:spLocks noGrp="1"/>
          </p:cNvSpPr>
          <p:nvPr>
            <p:ph type="subTitle" idx="1"/>
          </p:nvPr>
        </p:nvSpPr>
        <p:spPr>
          <a:xfrm>
            <a:off x="990600" y="4876800"/>
            <a:ext cx="7854696" cy="1752600"/>
          </a:xfrm>
        </p:spPr>
        <p:txBody>
          <a:bodyPr>
            <a:normAutofit/>
          </a:bodyPr>
          <a:lstStyle/>
          <a:p>
            <a:r>
              <a:rPr lang="en-US" sz="2400" dirty="0">
                <a:latin typeface="+mj-lt"/>
              </a:rPr>
              <a:t>Presented by:  Jon Bloom</a:t>
            </a:r>
          </a:p>
          <a:p>
            <a:r>
              <a:rPr lang="en-US" sz="2400" dirty="0">
                <a:latin typeface="+mj-lt"/>
              </a:rPr>
              <a:t>Senior Consultant, Agile Bay, Inc.</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5736575"/>
            <a:ext cx="2895600" cy="694944"/>
          </a:xfrm>
          <a:prstGeom prst="roundRect">
            <a:avLst>
              <a:gd name="adj" fmla="val 16667"/>
            </a:avLst>
          </a:prstGeom>
          <a:ln>
            <a:noFill/>
          </a:ln>
          <a:effectLst>
            <a:outerShdw blurRad="50800" dist="38100" dir="8100000" algn="tr" rotWithShape="0">
              <a:prstClr val="black">
                <a:alpha val="40000"/>
              </a:prstClr>
            </a:outerShdw>
            <a:reflection blurRad="6350" stA="50000" endA="300" endPos="55500" dist="50800" dir="5400000" sy="-100000" algn="bl" rotWithShape="0"/>
          </a:effectLst>
          <a:scene3d>
            <a:camera prst="orthographicFront">
              <a:rot lat="0" lon="0" rev="0"/>
            </a:camera>
            <a:lightRig rig="contrasting" dir="t">
              <a:rot lat="0" lon="0" rev="4200000"/>
            </a:lightRig>
          </a:scene3d>
          <a:sp3d prstMaterial="plastic">
            <a:bevelT w="381000" h="114300" prst="relaxedInset"/>
            <a:contourClr>
              <a:srgbClr val="969696"/>
            </a:contourClr>
          </a:sp3d>
        </p:spPr>
      </p:pic>
      <p:pic>
        <p:nvPicPr>
          <p:cNvPr id="5" name="Picture 4">
            <a:extLst>
              <a:ext uri="{FF2B5EF4-FFF2-40B4-BE49-F238E27FC236}">
                <a16:creationId xmlns:a16="http://schemas.microsoft.com/office/drawing/2014/main" id="{2EB6F883-0B53-46E6-B60F-09017480374A}"/>
              </a:ext>
            </a:extLst>
          </p:cNvPr>
          <p:cNvPicPr>
            <a:picLocks noChangeAspect="1"/>
          </p:cNvPicPr>
          <p:nvPr/>
        </p:nvPicPr>
        <p:blipFill>
          <a:blip r:embed="rId3"/>
          <a:stretch>
            <a:fillRect/>
          </a:stretch>
        </p:blipFill>
        <p:spPr>
          <a:xfrm>
            <a:off x="0" y="312135"/>
            <a:ext cx="9144000" cy="62337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F1C090-D303-4B02-8B81-D97F361E1E1C}"/>
              </a:ext>
            </a:extLst>
          </p:cNvPr>
          <p:cNvPicPr>
            <a:picLocks noChangeAspect="1"/>
          </p:cNvPicPr>
          <p:nvPr/>
        </p:nvPicPr>
        <p:blipFill>
          <a:blip r:embed="rId2"/>
          <a:stretch>
            <a:fillRect/>
          </a:stretch>
        </p:blipFill>
        <p:spPr>
          <a:xfrm>
            <a:off x="0" y="76201"/>
            <a:ext cx="9144000" cy="6477000"/>
          </a:xfrm>
          <a:prstGeom prst="rect">
            <a:avLst/>
          </a:prstGeom>
        </p:spPr>
      </p:pic>
    </p:spTree>
    <p:extLst>
      <p:ext uri="{BB962C8B-B14F-4D97-AF65-F5344CB8AC3E}">
        <p14:creationId xmlns:p14="http://schemas.microsoft.com/office/powerpoint/2010/main" val="3833594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36906F-DA5F-49A3-B8E3-34CD09F5A403}"/>
              </a:ext>
            </a:extLst>
          </p:cNvPr>
          <p:cNvPicPr>
            <a:picLocks noChangeAspect="1"/>
          </p:cNvPicPr>
          <p:nvPr/>
        </p:nvPicPr>
        <p:blipFill>
          <a:blip r:embed="rId2"/>
          <a:stretch>
            <a:fillRect/>
          </a:stretch>
        </p:blipFill>
        <p:spPr>
          <a:xfrm>
            <a:off x="-21488" y="76200"/>
            <a:ext cx="9140139" cy="6781800"/>
          </a:xfrm>
          <a:prstGeom prst="rect">
            <a:avLst/>
          </a:prstGeom>
        </p:spPr>
      </p:pic>
    </p:spTree>
    <p:extLst>
      <p:ext uri="{BB962C8B-B14F-4D97-AF65-F5344CB8AC3E}">
        <p14:creationId xmlns:p14="http://schemas.microsoft.com/office/powerpoint/2010/main" val="3372929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61385-D97F-494F-AD33-4A35396FFE63}"/>
              </a:ext>
            </a:extLst>
          </p:cNvPr>
          <p:cNvSpPr>
            <a:spLocks noGrp="1"/>
          </p:cNvSpPr>
          <p:nvPr>
            <p:ph type="title"/>
          </p:nvPr>
        </p:nvSpPr>
        <p:spPr/>
        <p:txBody>
          <a:bodyPr>
            <a:normAutofit/>
          </a:bodyPr>
          <a:lstStyle/>
          <a:p>
            <a:r>
              <a:rPr lang="en-US" dirty="0"/>
              <a:t>Hadoop storage managers</a:t>
            </a:r>
          </a:p>
        </p:txBody>
      </p:sp>
    </p:spTree>
    <p:extLst>
      <p:ext uri="{BB962C8B-B14F-4D97-AF65-F5344CB8AC3E}">
        <p14:creationId xmlns:p14="http://schemas.microsoft.com/office/powerpoint/2010/main" val="308490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0795E3-7A7D-44AE-8A11-64C78FB4B5C1}"/>
              </a:ext>
            </a:extLst>
          </p:cNvPr>
          <p:cNvPicPr>
            <a:picLocks noChangeAspect="1"/>
          </p:cNvPicPr>
          <p:nvPr/>
        </p:nvPicPr>
        <p:blipFill>
          <a:blip r:embed="rId2"/>
          <a:stretch>
            <a:fillRect/>
          </a:stretch>
        </p:blipFill>
        <p:spPr>
          <a:xfrm>
            <a:off x="304800" y="609600"/>
            <a:ext cx="8534400" cy="6096000"/>
          </a:xfrm>
          <a:prstGeom prst="rect">
            <a:avLst/>
          </a:prstGeom>
        </p:spPr>
      </p:pic>
    </p:spTree>
    <p:extLst>
      <p:ext uri="{BB962C8B-B14F-4D97-AF65-F5344CB8AC3E}">
        <p14:creationId xmlns:p14="http://schemas.microsoft.com/office/powerpoint/2010/main" val="3203837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err="1"/>
              <a:t>HCatalog</a:t>
            </a:r>
            <a:r>
              <a:rPr lang="en-US" sz="5400" dirty="0"/>
              <a:t> </a:t>
            </a:r>
            <a:endParaRPr lang="en-US" dirty="0"/>
          </a:p>
        </p:txBody>
      </p:sp>
      <p:sp>
        <p:nvSpPr>
          <p:cNvPr id="3" name="Content Placeholder 2"/>
          <p:cNvSpPr>
            <a:spLocks noGrp="1"/>
          </p:cNvSpPr>
          <p:nvPr>
            <p:ph idx="1"/>
          </p:nvPr>
        </p:nvSpPr>
        <p:spPr>
          <a:xfrm>
            <a:off x="457200" y="1981200"/>
            <a:ext cx="8229600" cy="4389120"/>
          </a:xfrm>
        </p:spPr>
        <p:txBody>
          <a:bodyPr>
            <a:normAutofit fontScale="92500"/>
          </a:bodyPr>
          <a:lstStyle/>
          <a:p>
            <a:r>
              <a:rPr lang="en-US" sz="3200" dirty="0"/>
              <a:t>Sometimes when developing, users don't know where data is stored.  And sometimes the data can be stored in a variety of formats, because HIVE, PIG and Map Reduce can have separate data model types.  So </a:t>
            </a:r>
            <a:r>
              <a:rPr lang="en-US" sz="3200" dirty="0" err="1">
                <a:hlinkClick r:id="rId2"/>
              </a:rPr>
              <a:t>HCatalog</a:t>
            </a:r>
            <a:r>
              <a:rPr lang="en-US" sz="3200" dirty="0">
                <a:hlinkClick r:id="rId2"/>
              </a:rPr>
              <a:t> </a:t>
            </a:r>
            <a:r>
              <a:rPr lang="en-US" sz="3200" dirty="0"/>
              <a:t>was created to alleviate some of the frustration.  It's a table abstraction layer, meta data service and a shared schema for Pig, Hive and M/R.  It exposes info about the data to applications.</a:t>
            </a:r>
          </a:p>
        </p:txBody>
      </p:sp>
      <p:pic>
        <p:nvPicPr>
          <p:cNvPr id="5" name="Picture 2" descr="Had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5027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Hive</a:t>
            </a:r>
            <a:endParaRPr lang="en-US" dirty="0"/>
          </a:p>
        </p:txBody>
      </p:sp>
      <p:sp>
        <p:nvSpPr>
          <p:cNvPr id="3" name="Content Placeholder 2"/>
          <p:cNvSpPr>
            <a:spLocks noGrp="1"/>
          </p:cNvSpPr>
          <p:nvPr>
            <p:ph idx="1"/>
          </p:nvPr>
        </p:nvSpPr>
        <p:spPr/>
        <p:txBody>
          <a:bodyPr>
            <a:normAutofit fontScale="92500" lnSpcReduction="10000"/>
          </a:bodyPr>
          <a:lstStyle/>
          <a:p>
            <a:r>
              <a:rPr lang="en-US" sz="3200" dirty="0"/>
              <a:t>Once data gets moved to Hadoop HDFS, you can add a layer of </a:t>
            </a:r>
            <a:r>
              <a:rPr lang="en-US" sz="3200" dirty="0">
                <a:hlinkClick r:id="rId2"/>
              </a:rPr>
              <a:t>HIVE </a:t>
            </a:r>
            <a:r>
              <a:rPr lang="en-US" sz="3200" dirty="0"/>
              <a:t>on top which structures the data into relational format.  Once applied, the data can be queried by HIVE SQL.  If creating a table, in the HIVE database schema, you can create an External table which is basically a metadata layer pass through which points to the actual data.  So if you drop the External table, the data remains in tact.</a:t>
            </a:r>
          </a:p>
        </p:txBody>
      </p:sp>
      <p:pic>
        <p:nvPicPr>
          <p:cNvPr id="5" name="Picture 2" descr="Had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1989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OOZIE</a:t>
            </a:r>
            <a:endParaRPr lang="en-US" dirty="0"/>
          </a:p>
        </p:txBody>
      </p:sp>
      <p:sp>
        <p:nvSpPr>
          <p:cNvPr id="3" name="Content Placeholder 2"/>
          <p:cNvSpPr>
            <a:spLocks noGrp="1"/>
          </p:cNvSpPr>
          <p:nvPr>
            <p:ph idx="1"/>
          </p:nvPr>
        </p:nvSpPr>
        <p:spPr/>
        <p:txBody>
          <a:bodyPr>
            <a:normAutofit/>
          </a:bodyPr>
          <a:lstStyle/>
          <a:p>
            <a:r>
              <a:rPr lang="en-US" sz="3200" dirty="0"/>
              <a:t>A Java Web application used to schedule Hadoop jobs.  Combines multiple jobs sequentially into one logical unit of work.</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4777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B041D7-6BAF-4937-86A7-52E0AE5B6F14}"/>
              </a:ext>
            </a:extLst>
          </p:cNvPr>
          <p:cNvPicPr>
            <a:picLocks noChangeAspect="1"/>
          </p:cNvPicPr>
          <p:nvPr/>
        </p:nvPicPr>
        <p:blipFill>
          <a:blip r:embed="rId2"/>
          <a:stretch>
            <a:fillRect/>
          </a:stretch>
        </p:blipFill>
        <p:spPr>
          <a:xfrm>
            <a:off x="523310" y="381000"/>
            <a:ext cx="8097380" cy="6096000"/>
          </a:xfrm>
          <a:prstGeom prst="rect">
            <a:avLst/>
          </a:prstGeom>
        </p:spPr>
      </p:pic>
    </p:spTree>
    <p:extLst>
      <p:ext uri="{BB962C8B-B14F-4D97-AF65-F5344CB8AC3E}">
        <p14:creationId xmlns:p14="http://schemas.microsoft.com/office/powerpoint/2010/main" val="1680302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E3359-C329-486A-ADE8-54FF52CC9481}"/>
              </a:ext>
            </a:extLst>
          </p:cNvPr>
          <p:cNvSpPr>
            <a:spLocks noGrp="1"/>
          </p:cNvSpPr>
          <p:nvPr>
            <p:ph type="title"/>
          </p:nvPr>
        </p:nvSpPr>
        <p:spPr/>
        <p:txBody>
          <a:bodyPr>
            <a:normAutofit fontScale="90000"/>
          </a:bodyPr>
          <a:lstStyle/>
          <a:p>
            <a:r>
              <a:rPr lang="en-US" dirty="0"/>
              <a:t>General purpose execution machines</a:t>
            </a:r>
          </a:p>
        </p:txBody>
      </p:sp>
    </p:spTree>
    <p:extLst>
      <p:ext uri="{BB962C8B-B14F-4D97-AF65-F5344CB8AC3E}">
        <p14:creationId xmlns:p14="http://schemas.microsoft.com/office/powerpoint/2010/main" val="4201010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MapReduce</a:t>
            </a:r>
            <a:endParaRPr lang="en-US" dirty="0"/>
          </a:p>
        </p:txBody>
      </p:sp>
      <p:sp>
        <p:nvSpPr>
          <p:cNvPr id="3" name="Content Placeholder 2"/>
          <p:cNvSpPr>
            <a:spLocks noGrp="1"/>
          </p:cNvSpPr>
          <p:nvPr>
            <p:ph idx="1"/>
          </p:nvPr>
        </p:nvSpPr>
        <p:spPr/>
        <p:txBody>
          <a:bodyPr>
            <a:normAutofit/>
          </a:bodyPr>
          <a:lstStyle/>
          <a:p>
            <a:r>
              <a:rPr lang="en-US" sz="3200" dirty="0"/>
              <a:t>HIVE and PIG allow easier access to the data</a:t>
            </a:r>
          </a:p>
          <a:p>
            <a:r>
              <a:rPr lang="en-US" sz="3200" dirty="0"/>
              <a:t>However, they still get translated to M/R</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4532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err="1"/>
              <a:t>Tez</a:t>
            </a:r>
            <a:r>
              <a:rPr lang="en-US" sz="5400" dirty="0"/>
              <a:t>	</a:t>
            </a:r>
            <a:endParaRPr lang="en-US" dirty="0"/>
          </a:p>
        </p:txBody>
      </p:sp>
      <p:sp>
        <p:nvSpPr>
          <p:cNvPr id="3" name="Content Placeholder 2"/>
          <p:cNvSpPr>
            <a:spLocks noGrp="1"/>
          </p:cNvSpPr>
          <p:nvPr>
            <p:ph idx="1"/>
          </p:nvPr>
        </p:nvSpPr>
        <p:spPr/>
        <p:txBody>
          <a:bodyPr>
            <a:normAutofit/>
          </a:bodyPr>
          <a:lstStyle/>
          <a:p>
            <a:r>
              <a:rPr lang="en-US" sz="3200" dirty="0"/>
              <a:t>Generalized data flow programming framework, built on Hadoop YARN for batch and interactive use cases, such as Pig, HIVE and other frameworks.  It has the potential to replace the MapReduce execution engine.</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499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Spark</a:t>
            </a:r>
            <a:endParaRPr lang="en-US" dirty="0"/>
          </a:p>
        </p:txBody>
      </p:sp>
      <p:sp>
        <p:nvSpPr>
          <p:cNvPr id="3" name="Content Placeholder 2"/>
          <p:cNvSpPr>
            <a:spLocks noGrp="1"/>
          </p:cNvSpPr>
          <p:nvPr>
            <p:ph idx="1"/>
          </p:nvPr>
        </p:nvSpPr>
        <p:spPr/>
        <p:txBody>
          <a:bodyPr>
            <a:normAutofit/>
          </a:bodyPr>
          <a:lstStyle/>
          <a:p>
            <a:r>
              <a:rPr lang="en-US" sz="3200" dirty="0"/>
              <a:t>And </a:t>
            </a:r>
            <a:r>
              <a:rPr lang="en-US" sz="3200" dirty="0">
                <a:hlinkClick r:id="rId2"/>
              </a:rPr>
              <a:t>Spark</a:t>
            </a:r>
            <a:r>
              <a:rPr lang="en-US" sz="3200" dirty="0"/>
              <a:t>, provides a simple and expressive programming model that supports ETL, Machine Learning, stream processing and graph computation.</a:t>
            </a:r>
          </a:p>
        </p:txBody>
      </p:sp>
      <p:pic>
        <p:nvPicPr>
          <p:cNvPr id="5" name="Picture 2" descr="Had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432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E3359-C329-486A-ADE8-54FF52CC9481}"/>
              </a:ext>
            </a:extLst>
          </p:cNvPr>
          <p:cNvSpPr>
            <a:spLocks noGrp="1"/>
          </p:cNvSpPr>
          <p:nvPr>
            <p:ph type="title"/>
          </p:nvPr>
        </p:nvSpPr>
        <p:spPr/>
        <p:txBody>
          <a:bodyPr>
            <a:normAutofit/>
          </a:bodyPr>
          <a:lstStyle/>
          <a:p>
            <a:r>
              <a:rPr lang="en-US" dirty="0"/>
              <a:t>Database Management engines</a:t>
            </a:r>
          </a:p>
        </p:txBody>
      </p:sp>
    </p:spTree>
    <p:extLst>
      <p:ext uri="{BB962C8B-B14F-4D97-AF65-F5344CB8AC3E}">
        <p14:creationId xmlns:p14="http://schemas.microsoft.com/office/powerpoint/2010/main" val="1212607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Name Nodes</a:t>
            </a:r>
          </a:p>
        </p:txBody>
      </p:sp>
      <p:sp>
        <p:nvSpPr>
          <p:cNvPr id="3" name="Content Placeholder 2"/>
          <p:cNvSpPr>
            <a:spLocks noGrp="1"/>
          </p:cNvSpPr>
          <p:nvPr>
            <p:ph idx="1"/>
          </p:nvPr>
        </p:nvSpPr>
        <p:spPr/>
        <p:txBody>
          <a:bodyPr>
            <a:normAutofit/>
          </a:bodyPr>
          <a:lstStyle/>
          <a:p>
            <a:r>
              <a:rPr lang="en-US" sz="2800" dirty="0"/>
              <a:t>The “Brains” of Hadoop</a:t>
            </a:r>
          </a:p>
          <a:p>
            <a:r>
              <a:rPr lang="en-US" sz="2800" dirty="0"/>
              <a:t>“Master” Server</a:t>
            </a:r>
          </a:p>
          <a:p>
            <a:r>
              <a:rPr lang="en-US" sz="2800" dirty="0"/>
              <a:t>Single Point of Failure</a:t>
            </a:r>
          </a:p>
          <a:p>
            <a:endParaRPr lang="en-US" sz="2800" dirty="0"/>
          </a:p>
        </p:txBody>
      </p:sp>
      <p:pic>
        <p:nvPicPr>
          <p:cNvPr id="1026"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9240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Nodes</a:t>
            </a:r>
          </a:p>
        </p:txBody>
      </p:sp>
      <p:sp>
        <p:nvSpPr>
          <p:cNvPr id="3" name="Content Placeholder 2"/>
          <p:cNvSpPr>
            <a:spLocks noGrp="1"/>
          </p:cNvSpPr>
          <p:nvPr>
            <p:ph idx="1"/>
          </p:nvPr>
        </p:nvSpPr>
        <p:spPr/>
        <p:txBody>
          <a:bodyPr>
            <a:normAutofit/>
          </a:bodyPr>
          <a:lstStyle/>
          <a:p>
            <a:r>
              <a:rPr lang="en-US" sz="2400" dirty="0"/>
              <a:t>“Slaves”</a:t>
            </a:r>
          </a:p>
          <a:p>
            <a:r>
              <a:rPr lang="en-US" sz="2400" dirty="0"/>
              <a:t>Commodity Hardware</a:t>
            </a:r>
          </a:p>
          <a:p>
            <a:r>
              <a:rPr lang="en-US" sz="2400" dirty="0"/>
              <a:t>Stores the Actual Data</a:t>
            </a:r>
          </a:p>
          <a:p>
            <a:r>
              <a:rPr lang="en-US" sz="2400" dirty="0"/>
              <a:t>Runs Java Jar Files</a:t>
            </a:r>
          </a:p>
          <a:p>
            <a:endParaRPr lang="en-US" sz="2800" dirty="0"/>
          </a:p>
          <a:p>
            <a:endParaRPr lang="en-US" sz="2800" dirty="0"/>
          </a:p>
          <a:p>
            <a:endParaRPr lang="en-US" sz="2800" dirty="0"/>
          </a:p>
        </p:txBody>
      </p:sp>
      <p:pic>
        <p:nvPicPr>
          <p:cNvPr id="1026"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7153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658112"/>
          </a:xfrm>
        </p:spPr>
        <p:txBody>
          <a:bodyPr/>
          <a:lstStyle/>
          <a:p>
            <a:r>
              <a:rPr lang="en-US" dirty="0"/>
              <a:t>Secondary Named </a:t>
            </a:r>
            <a:br>
              <a:rPr lang="en-US" dirty="0"/>
            </a:br>
            <a:r>
              <a:rPr lang="en-US" dirty="0"/>
              <a:t>Nodes</a:t>
            </a:r>
          </a:p>
        </p:txBody>
      </p:sp>
      <p:sp>
        <p:nvSpPr>
          <p:cNvPr id="3" name="Content Placeholder 2"/>
          <p:cNvSpPr>
            <a:spLocks noGrp="1"/>
          </p:cNvSpPr>
          <p:nvPr>
            <p:ph idx="1"/>
          </p:nvPr>
        </p:nvSpPr>
        <p:spPr>
          <a:xfrm>
            <a:off x="457200" y="2514600"/>
            <a:ext cx="8229600" cy="3810000"/>
          </a:xfrm>
        </p:spPr>
        <p:txBody>
          <a:bodyPr>
            <a:normAutofit/>
          </a:bodyPr>
          <a:lstStyle/>
          <a:p>
            <a:r>
              <a:rPr lang="en-US" sz="2400" dirty="0"/>
              <a:t>Redundant Server</a:t>
            </a:r>
          </a:p>
          <a:p>
            <a:pPr lvl="1"/>
            <a:r>
              <a:rPr lang="en-US" sz="2200" dirty="0"/>
              <a:t>Serves as Backup</a:t>
            </a:r>
          </a:p>
          <a:p>
            <a:r>
              <a:rPr lang="en-US" dirty="0"/>
              <a:t>Typically on own Server</a:t>
            </a:r>
          </a:p>
          <a:p>
            <a:endParaRPr lang="en-US" sz="2800" dirty="0"/>
          </a:p>
          <a:p>
            <a:endParaRPr lang="en-US" sz="2800" dirty="0"/>
          </a:p>
          <a:p>
            <a:endParaRPr lang="en-US" sz="2800" dirty="0"/>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488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Job Tracker</a:t>
            </a:r>
          </a:p>
        </p:txBody>
      </p:sp>
      <p:sp>
        <p:nvSpPr>
          <p:cNvPr id="3" name="Content Placeholder 2"/>
          <p:cNvSpPr>
            <a:spLocks noGrp="1"/>
          </p:cNvSpPr>
          <p:nvPr>
            <p:ph idx="1"/>
          </p:nvPr>
        </p:nvSpPr>
        <p:spPr/>
        <p:txBody>
          <a:bodyPr>
            <a:normAutofit/>
          </a:bodyPr>
          <a:lstStyle/>
          <a:p>
            <a:r>
              <a:rPr lang="en-US" sz="2400" dirty="0"/>
              <a:t>Keeps track of “Jobs” Resources</a:t>
            </a:r>
          </a:p>
          <a:p>
            <a:r>
              <a:rPr lang="en-US" sz="2400" dirty="0"/>
              <a:t>Heartbeat</a:t>
            </a:r>
            <a:endParaRPr lang="en-US" sz="2800" dirty="0"/>
          </a:p>
          <a:p>
            <a:endParaRPr lang="en-US" sz="2800" dirty="0"/>
          </a:p>
        </p:txBody>
      </p:sp>
      <p:pic>
        <p:nvPicPr>
          <p:cNvPr id="1026"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834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Tracker</a:t>
            </a:r>
          </a:p>
        </p:txBody>
      </p:sp>
      <p:sp>
        <p:nvSpPr>
          <p:cNvPr id="3" name="Content Placeholder 2"/>
          <p:cNvSpPr>
            <a:spLocks noGrp="1"/>
          </p:cNvSpPr>
          <p:nvPr>
            <p:ph idx="1"/>
          </p:nvPr>
        </p:nvSpPr>
        <p:spPr/>
        <p:txBody>
          <a:bodyPr>
            <a:normAutofit/>
          </a:bodyPr>
          <a:lstStyle/>
          <a:p>
            <a:r>
              <a:rPr lang="en-US" sz="2400" dirty="0"/>
              <a:t>Keeps track of “Task” Resources</a:t>
            </a:r>
          </a:p>
          <a:p>
            <a:r>
              <a:rPr lang="en-US" sz="2400" dirty="0"/>
              <a:t>Communicates with Job Tracker</a:t>
            </a:r>
            <a:endParaRPr lang="en-US" sz="2800" dirty="0"/>
          </a:p>
          <a:p>
            <a:endParaRPr lang="en-US" sz="2800" dirty="0"/>
          </a:p>
        </p:txBody>
      </p:sp>
      <p:pic>
        <p:nvPicPr>
          <p:cNvPr id="1026"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183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Ingest Data</a:t>
            </a:r>
            <a:endParaRPr lang="en-US" dirty="0"/>
          </a:p>
        </p:txBody>
      </p:sp>
      <p:sp>
        <p:nvSpPr>
          <p:cNvPr id="3" name="Content Placeholder 2"/>
          <p:cNvSpPr>
            <a:spLocks noGrp="1"/>
          </p:cNvSpPr>
          <p:nvPr>
            <p:ph idx="1"/>
          </p:nvPr>
        </p:nvSpPr>
        <p:spPr/>
        <p:txBody>
          <a:bodyPr>
            <a:normAutofit/>
          </a:bodyPr>
          <a:lstStyle/>
          <a:p>
            <a:r>
              <a:rPr lang="en-US" sz="3200" dirty="0"/>
              <a:t>When thinking about Hadoop, we think of data.  How to get data into HDFS and how to get data out of HDFS.  Luckily, Hadoop has some popular processes to accomplish this.</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02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SQOOP</a:t>
            </a:r>
            <a:endParaRPr lang="en-US" dirty="0"/>
          </a:p>
        </p:txBody>
      </p:sp>
      <p:sp>
        <p:nvSpPr>
          <p:cNvPr id="3" name="Content Placeholder 2"/>
          <p:cNvSpPr>
            <a:spLocks noGrp="1"/>
          </p:cNvSpPr>
          <p:nvPr>
            <p:ph idx="1"/>
          </p:nvPr>
        </p:nvSpPr>
        <p:spPr/>
        <p:txBody>
          <a:bodyPr>
            <a:normAutofit fontScale="85000" lnSpcReduction="10000"/>
          </a:bodyPr>
          <a:lstStyle/>
          <a:p>
            <a:r>
              <a:rPr lang="en-US" sz="3200" dirty="0"/>
              <a:t>SQOOP was created to move data back and forth easily from an External Database or flat file into HDFS or HIVE.  There are some standard commands for moving data by Importing and Exporting data.  When data is moved to HDFS, it creates files on the HDFS folder system.  Those folders can be partitioned in a variety of ways.  Data can be appended to the files through SQOOP jobs.  And you can add a WHERE clause to pull just certain data, for example, just bring in data from yesterday, run the SQOOP job daily to populate Hadoop.</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4513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PIG</a:t>
            </a:r>
            <a:endParaRPr lang="en-US" dirty="0"/>
          </a:p>
        </p:txBody>
      </p:sp>
      <p:sp>
        <p:nvSpPr>
          <p:cNvPr id="3" name="Content Placeholder 2"/>
          <p:cNvSpPr>
            <a:spLocks noGrp="1"/>
          </p:cNvSpPr>
          <p:nvPr>
            <p:ph idx="1"/>
          </p:nvPr>
        </p:nvSpPr>
        <p:spPr/>
        <p:txBody>
          <a:bodyPr>
            <a:normAutofit/>
          </a:bodyPr>
          <a:lstStyle/>
          <a:p>
            <a:r>
              <a:rPr lang="en-US" sz="3200" dirty="0"/>
              <a:t>In addition, you can use a Hadoop language called </a:t>
            </a:r>
            <a:r>
              <a:rPr lang="en-US" sz="3200" dirty="0">
                <a:hlinkClick r:id="rId2"/>
              </a:rPr>
              <a:t>PIG </a:t>
            </a:r>
            <a:r>
              <a:rPr lang="en-US" sz="3200" dirty="0"/>
              <a:t>(not making this up), to massage the data into a structure series of steps, a form of ETL.</a:t>
            </a:r>
          </a:p>
        </p:txBody>
      </p:sp>
    </p:spTree>
    <p:extLst>
      <p:ext uri="{BB962C8B-B14F-4D97-AF65-F5344CB8AC3E}">
        <p14:creationId xmlns:p14="http://schemas.microsoft.com/office/powerpoint/2010/main" val="675471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ODBC</a:t>
            </a:r>
            <a:endParaRPr lang="en-US" dirty="0"/>
          </a:p>
        </p:txBody>
      </p:sp>
      <p:sp>
        <p:nvSpPr>
          <p:cNvPr id="3" name="Content Placeholder 2"/>
          <p:cNvSpPr>
            <a:spLocks noGrp="1"/>
          </p:cNvSpPr>
          <p:nvPr>
            <p:ph idx="1"/>
          </p:nvPr>
        </p:nvSpPr>
        <p:spPr/>
        <p:txBody>
          <a:bodyPr>
            <a:normAutofit/>
          </a:bodyPr>
          <a:lstStyle/>
          <a:p>
            <a:r>
              <a:rPr lang="en-US" sz="3200" dirty="0"/>
              <a:t>From HIVE SQL, the tables are exposed to ODBC to allow data to be accessed via Reports, Databases, ETL, etc.</a:t>
            </a:r>
            <a:br>
              <a:rPr lang="en-US" sz="3200" dirty="0"/>
            </a:br>
            <a:br>
              <a:rPr lang="en-US" sz="3200" dirty="0"/>
            </a:br>
            <a:r>
              <a:rPr lang="en-US" sz="3200" dirty="0"/>
              <a:t>So as you can see from the basic description above, if you can move data back and forth easily between Hadoop and your Relational Database (or flat files).</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68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Connect to Data</a:t>
            </a:r>
            <a:endParaRPr lang="en-US" dirty="0"/>
          </a:p>
        </p:txBody>
      </p:sp>
      <p:sp>
        <p:nvSpPr>
          <p:cNvPr id="3" name="Content Placeholder 2"/>
          <p:cNvSpPr>
            <a:spLocks noGrp="1"/>
          </p:cNvSpPr>
          <p:nvPr>
            <p:ph idx="1"/>
          </p:nvPr>
        </p:nvSpPr>
        <p:spPr/>
        <p:txBody>
          <a:bodyPr>
            <a:normAutofit/>
          </a:bodyPr>
          <a:lstStyle/>
          <a:p>
            <a:r>
              <a:rPr lang="en-US" sz="3200" dirty="0"/>
              <a:t>Once data is stored in HDW, it can be consumed by users via </a:t>
            </a:r>
            <a:r>
              <a:rPr lang="en-US" sz="3200" dirty="0">
                <a:hlinkClick r:id="rId2"/>
              </a:rPr>
              <a:t>HIVE ODBC</a:t>
            </a:r>
            <a:r>
              <a:rPr lang="en-US" sz="3200" dirty="0"/>
              <a:t> or </a:t>
            </a:r>
            <a:r>
              <a:rPr lang="en-US" sz="3200" dirty="0">
                <a:hlinkClick r:id="rId3"/>
              </a:rPr>
              <a:t>Microsoft </a:t>
            </a:r>
            <a:r>
              <a:rPr lang="en-US" sz="3200" dirty="0" err="1">
                <a:hlinkClick r:id="rId3"/>
              </a:rPr>
              <a:t>PowerBI</a:t>
            </a:r>
            <a:r>
              <a:rPr lang="en-US" sz="3200" dirty="0"/>
              <a:t>, </a:t>
            </a:r>
            <a:r>
              <a:rPr lang="en-US" sz="3200" dirty="0">
                <a:hlinkClick r:id="rId4"/>
              </a:rPr>
              <a:t>Tableau</a:t>
            </a:r>
            <a:r>
              <a:rPr lang="en-US" sz="3200" dirty="0"/>
              <a:t>, </a:t>
            </a:r>
            <a:r>
              <a:rPr lang="en-US" sz="3200" dirty="0" err="1">
                <a:hlinkClick r:id="rId5"/>
              </a:rPr>
              <a:t>Qlikview</a:t>
            </a:r>
            <a:r>
              <a:rPr lang="en-US" sz="3200" dirty="0">
                <a:hlinkClick r:id="rId5"/>
              </a:rPr>
              <a:t> </a:t>
            </a:r>
            <a:r>
              <a:rPr lang="en-US" sz="3200" dirty="0"/>
              <a:t>or </a:t>
            </a:r>
            <a:r>
              <a:rPr lang="en-US" sz="3200" dirty="0">
                <a:hlinkClick r:id="rId6"/>
              </a:rPr>
              <a:t>SAP HANA</a:t>
            </a:r>
            <a:r>
              <a:rPr lang="en-US" sz="3200" dirty="0"/>
              <a:t> or a variety of other tools sitting on top of the data layer, including Self Service tools.</a:t>
            </a:r>
          </a:p>
        </p:txBody>
      </p:sp>
      <p:pic>
        <p:nvPicPr>
          <p:cNvPr id="5" name="Picture 2" descr="Hadoop"/>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211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err="1"/>
              <a:t>HBase</a:t>
            </a:r>
            <a:endParaRPr lang="en-US" dirty="0"/>
          </a:p>
        </p:txBody>
      </p:sp>
      <p:sp>
        <p:nvSpPr>
          <p:cNvPr id="3" name="Content Placeholder 2"/>
          <p:cNvSpPr>
            <a:spLocks noGrp="1"/>
          </p:cNvSpPr>
          <p:nvPr>
            <p:ph idx="1"/>
          </p:nvPr>
        </p:nvSpPr>
        <p:spPr/>
        <p:txBody>
          <a:bodyPr>
            <a:normAutofit/>
          </a:bodyPr>
          <a:lstStyle/>
          <a:p>
            <a:r>
              <a:rPr lang="en-US" sz="3200" dirty="0" err="1">
                <a:hlinkClick r:id="rId2"/>
              </a:rPr>
              <a:t>Hbase</a:t>
            </a:r>
            <a:r>
              <a:rPr lang="en-US" sz="3200" dirty="0">
                <a:hlinkClick r:id="rId2"/>
              </a:rPr>
              <a:t> </a:t>
            </a:r>
            <a:r>
              <a:rPr lang="en-US" sz="3200" dirty="0"/>
              <a:t>allows a separate database to allow random read/write access to the HDFS data, and surprisingly it too sits with the HDFS cluster.  Data can be ingested to HBASE and interpreted On Read, which Relational Databases do not offer.</a:t>
            </a:r>
          </a:p>
        </p:txBody>
      </p:sp>
      <p:pic>
        <p:nvPicPr>
          <p:cNvPr id="5" name="Picture 2" descr="Had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7678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err="1"/>
              <a:t>Accumulo</a:t>
            </a:r>
            <a:endParaRPr lang="en-US" dirty="0"/>
          </a:p>
        </p:txBody>
      </p:sp>
      <p:sp>
        <p:nvSpPr>
          <p:cNvPr id="3" name="Content Placeholder 2"/>
          <p:cNvSpPr>
            <a:spLocks noGrp="1"/>
          </p:cNvSpPr>
          <p:nvPr>
            <p:ph idx="1"/>
          </p:nvPr>
        </p:nvSpPr>
        <p:spPr/>
        <p:txBody>
          <a:bodyPr>
            <a:normAutofit/>
          </a:bodyPr>
          <a:lstStyle/>
          <a:p>
            <a:r>
              <a:rPr lang="en-US" sz="3200" dirty="0"/>
              <a:t>A High performance Data Storage and retrieval system with cell-level access control, similar to Google’s “Big Table” design.</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5664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Flume</a:t>
            </a:r>
            <a:endParaRPr lang="en-US" dirty="0"/>
          </a:p>
        </p:txBody>
      </p:sp>
      <p:sp>
        <p:nvSpPr>
          <p:cNvPr id="3" name="Content Placeholder 2"/>
          <p:cNvSpPr>
            <a:spLocks noGrp="1"/>
          </p:cNvSpPr>
          <p:nvPr>
            <p:ph idx="1"/>
          </p:nvPr>
        </p:nvSpPr>
        <p:spPr/>
        <p:txBody>
          <a:bodyPr>
            <a:normAutofit/>
          </a:bodyPr>
          <a:lstStyle/>
          <a:p>
            <a:r>
              <a:rPr lang="en-US" sz="3200" dirty="0"/>
              <a:t>Distributed, reliable and available service for efficiently collection, aggregating and moving large amounts of streaming data into HDFS (fault tolerant).</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983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err="1"/>
              <a:t>Solr</a:t>
            </a:r>
            <a:endParaRPr lang="en-US" dirty="0"/>
          </a:p>
        </p:txBody>
      </p:sp>
      <p:sp>
        <p:nvSpPr>
          <p:cNvPr id="3" name="Content Placeholder 2"/>
          <p:cNvSpPr>
            <a:spLocks noGrp="1"/>
          </p:cNvSpPr>
          <p:nvPr>
            <p:ph idx="1"/>
          </p:nvPr>
        </p:nvSpPr>
        <p:spPr/>
        <p:txBody>
          <a:bodyPr>
            <a:normAutofit/>
          </a:bodyPr>
          <a:lstStyle/>
          <a:p>
            <a:r>
              <a:rPr lang="en-US" sz="3200" dirty="0"/>
              <a:t>Open Source platform for searches of data stored in HDFS Hadoop including full text search and near real time indexing.</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212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Streaming</a:t>
            </a:r>
            <a:endParaRPr lang="en-US" dirty="0"/>
          </a:p>
        </p:txBody>
      </p:sp>
      <p:sp>
        <p:nvSpPr>
          <p:cNvPr id="3" name="Content Placeholder 2"/>
          <p:cNvSpPr>
            <a:spLocks noGrp="1"/>
          </p:cNvSpPr>
          <p:nvPr>
            <p:ph idx="1"/>
          </p:nvPr>
        </p:nvSpPr>
        <p:spPr/>
        <p:txBody>
          <a:bodyPr>
            <a:normAutofit/>
          </a:bodyPr>
          <a:lstStyle/>
          <a:p>
            <a:r>
              <a:rPr lang="en-US" sz="3200" dirty="0"/>
              <a:t>And you can receive </a:t>
            </a:r>
            <a:r>
              <a:rPr lang="en-US" sz="3200" dirty="0">
                <a:hlinkClick r:id="rId2"/>
              </a:rPr>
              <a:t>Steaming Data</a:t>
            </a:r>
            <a:r>
              <a:rPr lang="en-US" sz="3200" dirty="0"/>
              <a:t>.</a:t>
            </a:r>
          </a:p>
        </p:txBody>
      </p:sp>
      <p:pic>
        <p:nvPicPr>
          <p:cNvPr id="5" name="Picture 2" descr="Had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260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HUE</a:t>
            </a:r>
            <a:endParaRPr lang="en-US" dirty="0"/>
          </a:p>
        </p:txBody>
      </p:sp>
      <p:sp>
        <p:nvSpPr>
          <p:cNvPr id="3" name="Content Placeholder 2"/>
          <p:cNvSpPr>
            <a:spLocks noGrp="1"/>
          </p:cNvSpPr>
          <p:nvPr>
            <p:ph idx="1"/>
          </p:nvPr>
        </p:nvSpPr>
        <p:spPr/>
        <p:txBody>
          <a:bodyPr>
            <a:normAutofit/>
          </a:bodyPr>
          <a:lstStyle/>
          <a:p>
            <a:r>
              <a:rPr lang="en-US" sz="3200" dirty="0"/>
              <a:t>Open Source Web Interface</a:t>
            </a:r>
          </a:p>
          <a:p>
            <a:r>
              <a:rPr lang="en-US" sz="3200" dirty="0"/>
              <a:t>Aggregates most common components into single web interface</a:t>
            </a:r>
          </a:p>
          <a:p>
            <a:r>
              <a:rPr lang="en-US" sz="3200" dirty="0"/>
              <a:t>View HDFS File Structure</a:t>
            </a:r>
          </a:p>
          <a:p>
            <a:r>
              <a:rPr lang="en-US" sz="3200" dirty="0"/>
              <a:t>Simplify user experience</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9520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err="1"/>
              <a:t>WebHDFS</a:t>
            </a:r>
            <a:endParaRPr lang="en-US" dirty="0"/>
          </a:p>
        </p:txBody>
      </p:sp>
      <p:sp>
        <p:nvSpPr>
          <p:cNvPr id="3" name="Content Placeholder 2"/>
          <p:cNvSpPr>
            <a:spLocks noGrp="1"/>
          </p:cNvSpPr>
          <p:nvPr>
            <p:ph idx="1"/>
          </p:nvPr>
        </p:nvSpPr>
        <p:spPr/>
        <p:txBody>
          <a:bodyPr>
            <a:normAutofit/>
          </a:bodyPr>
          <a:lstStyle/>
          <a:p>
            <a:r>
              <a:rPr lang="en-US" sz="3200" dirty="0"/>
              <a:t>A REST API</a:t>
            </a:r>
          </a:p>
          <a:p>
            <a:pPr lvl="1"/>
            <a:r>
              <a:rPr lang="en-US" sz="3000" dirty="0"/>
              <a:t>Interface to expose complete File System </a:t>
            </a:r>
          </a:p>
          <a:p>
            <a:pPr lvl="2"/>
            <a:r>
              <a:rPr lang="en-US" sz="2700" dirty="0"/>
              <a:t>Provides Read &amp; Write access</a:t>
            </a:r>
          </a:p>
          <a:p>
            <a:pPr lvl="2"/>
            <a:r>
              <a:rPr lang="en-US" sz="2700" dirty="0"/>
              <a:t>Supports all HDFS parameters</a:t>
            </a:r>
          </a:p>
          <a:p>
            <a:pPr lvl="2"/>
            <a:r>
              <a:rPr lang="en-US" sz="2700" dirty="0"/>
              <a:t>Allows remote access via many languages</a:t>
            </a:r>
          </a:p>
          <a:p>
            <a:pPr lvl="2"/>
            <a:r>
              <a:rPr lang="en-US" sz="2700" dirty="0"/>
              <a:t>Uses </a:t>
            </a:r>
            <a:r>
              <a:rPr lang="en-US" sz="2700" dirty="0" err="1"/>
              <a:t>Kerbos</a:t>
            </a:r>
            <a:r>
              <a:rPr lang="en-US" sz="2700" dirty="0"/>
              <a:t> for Authentication</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9287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Monitor</a:t>
            </a:r>
            <a:endParaRPr lang="en-US" dirty="0"/>
          </a:p>
        </p:txBody>
      </p:sp>
      <p:sp>
        <p:nvSpPr>
          <p:cNvPr id="3" name="Content Placeholder 2"/>
          <p:cNvSpPr>
            <a:spLocks noGrp="1"/>
          </p:cNvSpPr>
          <p:nvPr>
            <p:ph idx="1"/>
          </p:nvPr>
        </p:nvSpPr>
        <p:spPr/>
        <p:txBody>
          <a:bodyPr>
            <a:normAutofit/>
          </a:bodyPr>
          <a:lstStyle/>
          <a:p>
            <a:r>
              <a:rPr lang="en-US" sz="3200" dirty="0"/>
              <a:t>There's </a:t>
            </a:r>
            <a:r>
              <a:rPr lang="en-US" sz="3200" dirty="0">
                <a:hlinkClick r:id="rId2"/>
              </a:rPr>
              <a:t>Zookeeper </a:t>
            </a:r>
            <a:r>
              <a:rPr lang="en-US" sz="3200" dirty="0"/>
              <a:t>which is a centralized service to keep track of things.  A high performance coordination service for distributed applications.</a:t>
            </a:r>
          </a:p>
        </p:txBody>
      </p:sp>
      <p:pic>
        <p:nvPicPr>
          <p:cNvPr id="5" name="Picture 2" descr="Had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891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Machine Learning</a:t>
            </a:r>
            <a:endParaRPr lang="en-US" dirty="0"/>
          </a:p>
        </p:txBody>
      </p:sp>
      <p:sp>
        <p:nvSpPr>
          <p:cNvPr id="3" name="Content Placeholder 2"/>
          <p:cNvSpPr>
            <a:spLocks noGrp="1"/>
          </p:cNvSpPr>
          <p:nvPr>
            <p:ph idx="1"/>
          </p:nvPr>
        </p:nvSpPr>
        <p:spPr/>
        <p:txBody>
          <a:bodyPr>
            <a:normAutofit/>
          </a:bodyPr>
          <a:lstStyle/>
          <a:p>
            <a:r>
              <a:rPr lang="en-US" sz="3200" dirty="0"/>
              <a:t>In addition, you could apply </a:t>
            </a:r>
            <a:r>
              <a:rPr lang="en-US" sz="3200" dirty="0">
                <a:hlinkClick r:id="rId2"/>
              </a:rPr>
              <a:t>MAHOUT Machine Learning</a:t>
            </a:r>
            <a:r>
              <a:rPr lang="en-US" sz="3200" dirty="0"/>
              <a:t> algorithms to you Hadoop cluster for Clustering, Classification and Collaborative Filtering.  And you can run Statistical language analysis with a language called </a:t>
            </a:r>
            <a:r>
              <a:rPr lang="en-US" sz="3200" dirty="0">
                <a:hlinkClick r:id="rId3"/>
              </a:rPr>
              <a:t>Revolution Analytic</a:t>
            </a:r>
            <a:r>
              <a:rPr lang="en-US" sz="3200" dirty="0"/>
              <a:t> R version of Hadoop R.</a:t>
            </a:r>
          </a:p>
        </p:txBody>
      </p:sp>
      <p:pic>
        <p:nvPicPr>
          <p:cNvPr id="5" name="Picture 2" descr="Hadoo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2435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Machine Learning</a:t>
            </a:r>
            <a:endParaRPr lang="en-US" dirty="0"/>
          </a:p>
        </p:txBody>
      </p:sp>
      <p:sp>
        <p:nvSpPr>
          <p:cNvPr id="3" name="Content Placeholder 2"/>
          <p:cNvSpPr>
            <a:spLocks noGrp="1"/>
          </p:cNvSpPr>
          <p:nvPr>
            <p:ph idx="1"/>
          </p:nvPr>
        </p:nvSpPr>
        <p:spPr/>
        <p:txBody>
          <a:bodyPr>
            <a:normAutofit/>
          </a:bodyPr>
          <a:lstStyle/>
          <a:p>
            <a:r>
              <a:rPr lang="en-US" sz="3200" dirty="0"/>
              <a:t>Clustering</a:t>
            </a:r>
          </a:p>
          <a:p>
            <a:pPr lvl="1"/>
            <a:r>
              <a:rPr lang="en-US" sz="3000" dirty="0"/>
              <a:t>Similarities between data points in Clusters</a:t>
            </a:r>
          </a:p>
          <a:p>
            <a:r>
              <a:rPr lang="en-US" sz="3200" dirty="0"/>
              <a:t>Classification</a:t>
            </a:r>
          </a:p>
          <a:p>
            <a:pPr lvl="1"/>
            <a:r>
              <a:rPr lang="en-US" sz="2800" dirty="0"/>
              <a:t>Learns from existing categories to assign unassigned categories</a:t>
            </a:r>
          </a:p>
          <a:p>
            <a:r>
              <a:rPr lang="en-US" sz="3200" dirty="0"/>
              <a:t>User Based Recommendations</a:t>
            </a:r>
          </a:p>
          <a:p>
            <a:pPr lvl="1"/>
            <a:r>
              <a:rPr lang="en-US" sz="3000" dirty="0"/>
              <a:t>Predict future behavior based on user preferences and behavior</a:t>
            </a:r>
          </a:p>
          <a:p>
            <a:endParaRPr lang="en-US" sz="3200" dirty="0"/>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22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Hadoop 2.0</a:t>
            </a:r>
            <a:endParaRPr lang="en-US" dirty="0"/>
          </a:p>
        </p:txBody>
      </p:sp>
      <p:sp>
        <p:nvSpPr>
          <p:cNvPr id="3" name="Content Placeholder 2"/>
          <p:cNvSpPr>
            <a:spLocks noGrp="1"/>
          </p:cNvSpPr>
          <p:nvPr>
            <p:ph idx="1"/>
          </p:nvPr>
        </p:nvSpPr>
        <p:spPr/>
        <p:txBody>
          <a:bodyPr>
            <a:normAutofit fontScale="85000" lnSpcReduction="10000"/>
          </a:bodyPr>
          <a:lstStyle/>
          <a:p>
            <a:r>
              <a:rPr lang="en-US" sz="3200" dirty="0"/>
              <a:t>And with the latest Hadoop 2.0, there's the addition of YARN which is a new layer that sits between HDFS2 and the application layers.  Although HDFS Map Reduce was originally designed as the sole batch oriented approach to getting data from HDFS, it's no longer the sole way.  HIVE SQL has been sped up through </a:t>
            </a:r>
            <a:r>
              <a:rPr lang="en-US" sz="3200" dirty="0">
                <a:hlinkClick r:id="rId2"/>
              </a:rPr>
              <a:t>Impala</a:t>
            </a:r>
            <a:r>
              <a:rPr lang="en-US" sz="3200" dirty="0"/>
              <a:t> which completely bypasses </a:t>
            </a:r>
            <a:r>
              <a:rPr lang="en-US" sz="3200" dirty="0">
                <a:hlinkClick r:id="rId3"/>
              </a:rPr>
              <a:t>Map Reduce</a:t>
            </a:r>
            <a:r>
              <a:rPr lang="en-US" sz="3200" dirty="0"/>
              <a:t> and the </a:t>
            </a:r>
            <a:r>
              <a:rPr lang="en-US" sz="3200" dirty="0">
                <a:hlinkClick r:id="rId4"/>
              </a:rPr>
              <a:t>Stinger initiative</a:t>
            </a:r>
            <a:r>
              <a:rPr lang="en-US" sz="3200" dirty="0"/>
              <a:t> which sits atop </a:t>
            </a:r>
            <a:r>
              <a:rPr lang="en-US" sz="3200" dirty="0" err="1">
                <a:hlinkClick r:id="rId5"/>
              </a:rPr>
              <a:t>Tez</a:t>
            </a:r>
            <a:r>
              <a:rPr lang="en-US" sz="3200" dirty="0"/>
              <a:t>.  </a:t>
            </a:r>
            <a:r>
              <a:rPr lang="en-US" sz="3200" dirty="0" err="1"/>
              <a:t>Tez</a:t>
            </a:r>
            <a:r>
              <a:rPr lang="en-US" sz="3200" dirty="0"/>
              <a:t> has ability to compress data with column stores which allows the interaction to be sped up.</a:t>
            </a:r>
          </a:p>
        </p:txBody>
      </p:sp>
      <p:pic>
        <p:nvPicPr>
          <p:cNvPr id="5" name="Picture 2" descr="Hadoop"/>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447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YARN</a:t>
            </a:r>
            <a:endParaRPr lang="en-US" dirty="0"/>
          </a:p>
        </p:txBody>
      </p:sp>
      <p:sp>
        <p:nvSpPr>
          <p:cNvPr id="3" name="Content Placeholder 2"/>
          <p:cNvSpPr>
            <a:spLocks noGrp="1"/>
          </p:cNvSpPr>
          <p:nvPr>
            <p:ph idx="1"/>
          </p:nvPr>
        </p:nvSpPr>
        <p:spPr/>
        <p:txBody>
          <a:bodyPr>
            <a:normAutofit/>
          </a:bodyPr>
          <a:lstStyle/>
          <a:p>
            <a:r>
              <a:rPr lang="en-US" sz="3200" dirty="0"/>
              <a:t>Allows the separation of MapReduce layers of Service and Framework</a:t>
            </a:r>
          </a:p>
          <a:p>
            <a:r>
              <a:rPr lang="en-US" sz="3200" dirty="0"/>
              <a:t>Resource Manager</a:t>
            </a:r>
          </a:p>
          <a:p>
            <a:r>
              <a:rPr lang="en-US" sz="3200" dirty="0"/>
              <a:t>Application Manager</a:t>
            </a:r>
          </a:p>
          <a:p>
            <a:r>
              <a:rPr lang="en-US" sz="3200" dirty="0"/>
              <a:t>Node Manager</a:t>
            </a:r>
          </a:p>
          <a:p>
            <a:r>
              <a:rPr lang="en-US" sz="3200" dirty="0"/>
              <a:t>Containers</a:t>
            </a:r>
          </a:p>
          <a:p>
            <a:r>
              <a:rPr lang="en-US" sz="3200" dirty="0"/>
              <a:t>Separates Resources</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3119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YARN</a:t>
            </a:r>
            <a:endParaRPr lang="en-US" dirty="0"/>
          </a:p>
        </p:txBody>
      </p:sp>
      <p:sp>
        <p:nvSpPr>
          <p:cNvPr id="3" name="Content Placeholder 2"/>
          <p:cNvSpPr>
            <a:spLocks noGrp="1"/>
          </p:cNvSpPr>
          <p:nvPr>
            <p:ph idx="1"/>
          </p:nvPr>
        </p:nvSpPr>
        <p:spPr/>
        <p:txBody>
          <a:bodyPr>
            <a:normAutofit fontScale="92500" lnSpcReduction="10000"/>
          </a:bodyPr>
          <a:lstStyle/>
          <a:p>
            <a:r>
              <a:rPr lang="en-US" sz="3200" dirty="0"/>
              <a:t>Traditional MapReduce</a:t>
            </a:r>
          </a:p>
          <a:p>
            <a:pPr lvl="1"/>
            <a:r>
              <a:rPr lang="en-US" sz="3000" dirty="0"/>
              <a:t>Expensive</a:t>
            </a:r>
          </a:p>
          <a:p>
            <a:pPr lvl="2"/>
            <a:r>
              <a:rPr lang="en-US" sz="2700" dirty="0"/>
              <a:t>Original M/R spawned many process</a:t>
            </a:r>
          </a:p>
          <a:p>
            <a:pPr lvl="2"/>
            <a:r>
              <a:rPr lang="en-US" sz="2700" dirty="0"/>
              <a:t>Wrote to Disk intermediate data</a:t>
            </a:r>
          </a:p>
          <a:p>
            <a:pPr lvl="2"/>
            <a:r>
              <a:rPr lang="en-US" sz="2700" dirty="0"/>
              <a:t>Sort / Shuffle</a:t>
            </a:r>
          </a:p>
          <a:p>
            <a:r>
              <a:rPr lang="en-US" sz="3200" dirty="0"/>
              <a:t>Now we have Applications</a:t>
            </a:r>
          </a:p>
          <a:p>
            <a:r>
              <a:rPr lang="en-US" sz="3200" dirty="0"/>
              <a:t>M/R, </a:t>
            </a:r>
            <a:r>
              <a:rPr lang="en-US" sz="3200" dirty="0" err="1"/>
              <a:t>Tez</a:t>
            </a:r>
            <a:r>
              <a:rPr lang="en-US" sz="3200" dirty="0"/>
              <a:t>, </a:t>
            </a:r>
            <a:r>
              <a:rPr lang="en-US" sz="3200" dirty="0" err="1"/>
              <a:t>Giraff</a:t>
            </a:r>
            <a:r>
              <a:rPr lang="en-US" sz="3200" dirty="0"/>
              <a:t>, Spark, Storm, etc.</a:t>
            </a:r>
          </a:p>
          <a:p>
            <a:r>
              <a:rPr lang="en-US" sz="3200" dirty="0"/>
              <a:t>Compiled down to a lower level</a:t>
            </a:r>
          </a:p>
          <a:p>
            <a:pPr lvl="1"/>
            <a:r>
              <a:rPr lang="en-US" sz="3000" dirty="0"/>
              <a:t>Single Strand w/ More Complexity</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391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Impala	</a:t>
            </a:r>
            <a:endParaRPr lang="en-US" dirty="0"/>
          </a:p>
        </p:txBody>
      </p:sp>
      <p:sp>
        <p:nvSpPr>
          <p:cNvPr id="3" name="Content Placeholder 2"/>
          <p:cNvSpPr>
            <a:spLocks noGrp="1"/>
          </p:cNvSpPr>
          <p:nvPr>
            <p:ph idx="1"/>
          </p:nvPr>
        </p:nvSpPr>
        <p:spPr/>
        <p:txBody>
          <a:bodyPr>
            <a:normAutofit/>
          </a:bodyPr>
          <a:lstStyle/>
          <a:p>
            <a:r>
              <a:rPr lang="en-US" sz="3200" dirty="0" err="1"/>
              <a:t>Cloudera</a:t>
            </a:r>
            <a:r>
              <a:rPr lang="en-US" sz="3200" dirty="0"/>
              <a:t> Impala is runs massively parallel processing (MPP) SQL query engine that runs natively in Hadoop.</a:t>
            </a:r>
          </a:p>
          <a:p>
            <a:r>
              <a:rPr lang="en-US" sz="3200" dirty="0"/>
              <a:t>Allows data querying without the </a:t>
            </a:r>
            <a:r>
              <a:rPr lang="en-US" sz="3200"/>
              <a:t>need for data </a:t>
            </a:r>
            <a:r>
              <a:rPr lang="en-US" sz="3200" dirty="0"/>
              <a:t>movement or transformation</a:t>
            </a:r>
          </a:p>
          <a:p>
            <a:r>
              <a:rPr lang="en-US" sz="3200" dirty="0"/>
              <a:t>It by-passes MapReduce</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5943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Graph</a:t>
            </a:r>
            <a:endParaRPr lang="en-US" dirty="0"/>
          </a:p>
        </p:txBody>
      </p:sp>
      <p:sp>
        <p:nvSpPr>
          <p:cNvPr id="3" name="Content Placeholder 2"/>
          <p:cNvSpPr>
            <a:spLocks noGrp="1"/>
          </p:cNvSpPr>
          <p:nvPr>
            <p:ph idx="1"/>
          </p:nvPr>
        </p:nvSpPr>
        <p:spPr/>
        <p:txBody>
          <a:bodyPr>
            <a:normAutofit/>
          </a:bodyPr>
          <a:lstStyle/>
          <a:p>
            <a:r>
              <a:rPr lang="en-US" sz="3200" dirty="0"/>
              <a:t>And </a:t>
            </a:r>
            <a:r>
              <a:rPr lang="en-US" sz="3200" dirty="0" err="1">
                <a:hlinkClick r:id="rId2"/>
              </a:rPr>
              <a:t>Girage</a:t>
            </a:r>
            <a:r>
              <a:rPr lang="en-US" sz="3200" dirty="0"/>
              <a:t>, which allows Hadoop the ability to process Graph connections between nodes.</a:t>
            </a:r>
          </a:p>
        </p:txBody>
      </p:sp>
      <p:pic>
        <p:nvPicPr>
          <p:cNvPr id="5" name="Picture 2" descr="Had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75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err="1"/>
              <a:t>Ambari</a:t>
            </a:r>
            <a:endParaRPr lang="en-US" dirty="0"/>
          </a:p>
        </p:txBody>
      </p:sp>
      <p:sp>
        <p:nvSpPr>
          <p:cNvPr id="3" name="Content Placeholder 2"/>
          <p:cNvSpPr>
            <a:spLocks noGrp="1"/>
          </p:cNvSpPr>
          <p:nvPr>
            <p:ph idx="1"/>
          </p:nvPr>
        </p:nvSpPr>
        <p:spPr/>
        <p:txBody>
          <a:bodyPr>
            <a:normAutofit/>
          </a:bodyPr>
          <a:lstStyle/>
          <a:p>
            <a:r>
              <a:rPr lang="en-US" sz="3200" dirty="0" err="1">
                <a:hlinkClick r:id="rId2"/>
              </a:rPr>
              <a:t>Ambari</a:t>
            </a:r>
            <a:r>
              <a:rPr lang="en-US" sz="3200" dirty="0"/>
              <a:t> allows Hadoop Cluster administration and has an API layer for 3rd party tools to hook into.</a:t>
            </a:r>
            <a:r>
              <a:rPr lang="en-US" sz="3000" dirty="0"/>
              <a:t> </a:t>
            </a:r>
          </a:p>
        </p:txBody>
      </p:sp>
      <p:pic>
        <p:nvPicPr>
          <p:cNvPr id="5" name="Picture 2" descr="Had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0005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Knox</a:t>
            </a:r>
            <a:endParaRPr lang="en-US" dirty="0"/>
          </a:p>
        </p:txBody>
      </p:sp>
      <p:sp>
        <p:nvSpPr>
          <p:cNvPr id="3" name="Content Placeholder 2"/>
          <p:cNvSpPr>
            <a:spLocks noGrp="1"/>
          </p:cNvSpPr>
          <p:nvPr>
            <p:ph idx="1"/>
          </p:nvPr>
        </p:nvSpPr>
        <p:spPr/>
        <p:txBody>
          <a:bodyPr>
            <a:normAutofit/>
          </a:bodyPr>
          <a:lstStyle/>
          <a:p>
            <a:r>
              <a:rPr lang="en-US" sz="3200" dirty="0"/>
              <a:t>Provides a single point of authentication and access to Hadoop services.  Specifically for Hadoop users who access the cluster data and execute jobs, operators who control access and manage the cluster.</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3344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Falcon</a:t>
            </a:r>
            <a:endParaRPr lang="en-US" dirty="0"/>
          </a:p>
        </p:txBody>
      </p:sp>
      <p:sp>
        <p:nvSpPr>
          <p:cNvPr id="3" name="Content Placeholder 2"/>
          <p:cNvSpPr>
            <a:spLocks noGrp="1"/>
          </p:cNvSpPr>
          <p:nvPr>
            <p:ph idx="1"/>
          </p:nvPr>
        </p:nvSpPr>
        <p:spPr/>
        <p:txBody>
          <a:bodyPr>
            <a:normAutofit/>
          </a:bodyPr>
          <a:lstStyle/>
          <a:p>
            <a:r>
              <a:rPr lang="en-US" sz="3000" dirty="0"/>
              <a:t>Framework for simplifying data management and pipeline processing in Hadoop.  Enables users to automate the movement and processing of datasets for ingest, pipelines, disaster recovery and data retention use cases.  It simplifies data management by removing complex coding (out of the box).</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778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400" dirty="0"/>
              <a:t>More Apache</a:t>
            </a:r>
            <a:br>
              <a:rPr lang="en-US" sz="5400" dirty="0"/>
            </a:br>
            <a:r>
              <a:rPr lang="en-US" sz="5400" dirty="0"/>
              <a:t>Projects</a:t>
            </a:r>
            <a:endParaRPr lang="en-US" dirty="0"/>
          </a:p>
        </p:txBody>
      </p:sp>
      <p:sp>
        <p:nvSpPr>
          <p:cNvPr id="3" name="Content Placeholder 2"/>
          <p:cNvSpPr>
            <a:spLocks noGrp="1"/>
          </p:cNvSpPr>
          <p:nvPr>
            <p:ph idx="1"/>
          </p:nvPr>
        </p:nvSpPr>
        <p:spPr/>
        <p:txBody>
          <a:bodyPr>
            <a:normAutofit/>
          </a:bodyPr>
          <a:lstStyle/>
          <a:p>
            <a:r>
              <a:rPr lang="en-US" sz="3200" dirty="0"/>
              <a:t>Apache Kafka</a:t>
            </a:r>
          </a:p>
          <a:p>
            <a:pPr lvl="1"/>
            <a:r>
              <a:rPr lang="en-US" sz="3000" dirty="0"/>
              <a:t>Next Generation Distributed Messaging System</a:t>
            </a:r>
          </a:p>
          <a:p>
            <a:r>
              <a:rPr lang="en-US" sz="3200" dirty="0"/>
              <a:t>Apache Avro</a:t>
            </a:r>
          </a:p>
          <a:p>
            <a:pPr lvl="1"/>
            <a:r>
              <a:rPr lang="en-US" sz="3000" dirty="0"/>
              <a:t>Data Serialization System</a:t>
            </a:r>
          </a:p>
          <a:p>
            <a:r>
              <a:rPr lang="en-US" sz="3200" dirty="0"/>
              <a:t>Apache </a:t>
            </a:r>
            <a:r>
              <a:rPr lang="en-US" sz="3200" dirty="0" err="1"/>
              <a:t>Chukwa</a:t>
            </a:r>
            <a:endParaRPr lang="en-US" sz="3200" dirty="0"/>
          </a:p>
          <a:p>
            <a:pPr lvl="1"/>
            <a:r>
              <a:rPr lang="en-US" sz="3000" dirty="0"/>
              <a:t>Data Collection System for Monitoring large distributed systems</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7501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Cloud</a:t>
            </a:r>
            <a:endParaRPr lang="en-US" dirty="0"/>
          </a:p>
        </p:txBody>
      </p:sp>
      <p:sp>
        <p:nvSpPr>
          <p:cNvPr id="3" name="Content Placeholder 2"/>
          <p:cNvSpPr>
            <a:spLocks noGrp="1"/>
          </p:cNvSpPr>
          <p:nvPr>
            <p:ph idx="1"/>
          </p:nvPr>
        </p:nvSpPr>
        <p:spPr/>
        <p:txBody>
          <a:bodyPr>
            <a:normAutofit/>
          </a:bodyPr>
          <a:lstStyle/>
          <a:p>
            <a:r>
              <a:rPr lang="en-US" sz="3200" dirty="0"/>
              <a:t>You can run your Hybrid Data Warehouse in the Cloud with </a:t>
            </a:r>
            <a:r>
              <a:rPr lang="en-US" sz="3200" dirty="0">
                <a:hlinkClick r:id="rId2"/>
              </a:rPr>
              <a:t>Microsoft Azure </a:t>
            </a:r>
            <a:r>
              <a:rPr lang="en-US" sz="3200" dirty="0" err="1">
                <a:hlinkClick r:id="rId2"/>
              </a:rPr>
              <a:t>Blobstorage</a:t>
            </a:r>
            <a:r>
              <a:rPr lang="en-US" sz="3200" dirty="0">
                <a:hlinkClick r:id="rId2"/>
              </a:rPr>
              <a:t> </a:t>
            </a:r>
            <a:r>
              <a:rPr lang="en-US" sz="3200" dirty="0" err="1">
                <a:hlinkClick r:id="rId2"/>
              </a:rPr>
              <a:t>HDInsight</a:t>
            </a:r>
            <a:r>
              <a:rPr lang="en-US" sz="3200" dirty="0"/>
              <a:t> or </a:t>
            </a:r>
            <a:r>
              <a:rPr lang="en-US" sz="3200" dirty="0">
                <a:hlinkClick r:id="rId3"/>
              </a:rPr>
              <a:t>Amazon Web Services</a:t>
            </a:r>
            <a:r>
              <a:rPr lang="en-US" sz="3200" dirty="0"/>
              <a:t>.</a:t>
            </a:r>
          </a:p>
        </p:txBody>
      </p:sp>
      <p:pic>
        <p:nvPicPr>
          <p:cNvPr id="5" name="Picture 2" descr="Hadoo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9082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On Premise</a:t>
            </a:r>
            <a:endParaRPr lang="en-US" dirty="0"/>
          </a:p>
        </p:txBody>
      </p:sp>
      <p:sp>
        <p:nvSpPr>
          <p:cNvPr id="3" name="Content Placeholder 2"/>
          <p:cNvSpPr>
            <a:spLocks noGrp="1"/>
          </p:cNvSpPr>
          <p:nvPr>
            <p:ph idx="1"/>
          </p:nvPr>
        </p:nvSpPr>
        <p:spPr/>
        <p:txBody>
          <a:bodyPr>
            <a:normAutofit/>
          </a:bodyPr>
          <a:lstStyle/>
          <a:p>
            <a:r>
              <a:rPr lang="en-US" sz="3200" dirty="0"/>
              <a:t>You can run On Premise with </a:t>
            </a:r>
            <a:r>
              <a:rPr lang="en-US" sz="3200" dirty="0">
                <a:hlinkClick r:id="rId2"/>
              </a:rPr>
              <a:t>IBM </a:t>
            </a:r>
            <a:r>
              <a:rPr lang="en-US" sz="3200" dirty="0" err="1">
                <a:hlinkClick r:id="rId2"/>
              </a:rPr>
              <a:t>Infosphere</a:t>
            </a:r>
            <a:r>
              <a:rPr lang="en-US" sz="3200" dirty="0">
                <a:hlinkClick r:id="rId2"/>
              </a:rPr>
              <a:t> </a:t>
            </a:r>
            <a:r>
              <a:rPr lang="en-US" sz="3200" dirty="0" err="1">
                <a:hlinkClick r:id="rId2"/>
              </a:rPr>
              <a:t>BigInsights</a:t>
            </a:r>
            <a:r>
              <a:rPr lang="en-US" sz="3200" dirty="0"/>
              <a:t>, </a:t>
            </a:r>
            <a:r>
              <a:rPr lang="en-US" sz="3200" dirty="0" err="1">
                <a:hlinkClick r:id="rId3"/>
              </a:rPr>
              <a:t>Cloudera</a:t>
            </a:r>
            <a:r>
              <a:rPr lang="en-US" sz="3200" dirty="0"/>
              <a:t>, </a:t>
            </a:r>
            <a:r>
              <a:rPr lang="en-US" sz="3200" dirty="0" err="1">
                <a:hlinkClick r:id="rId4"/>
              </a:rPr>
              <a:t>Hortonworks</a:t>
            </a:r>
            <a:r>
              <a:rPr lang="en-US" sz="3200" dirty="0">
                <a:hlinkClick r:id="rId4"/>
              </a:rPr>
              <a:t> </a:t>
            </a:r>
            <a:r>
              <a:rPr lang="en-US" sz="3200" dirty="0"/>
              <a:t>and </a:t>
            </a:r>
            <a:r>
              <a:rPr lang="en-US" sz="3200" dirty="0" err="1">
                <a:hlinkClick r:id="rId5"/>
              </a:rPr>
              <a:t>MapR</a:t>
            </a:r>
            <a:r>
              <a:rPr lang="en-US" sz="3200" dirty="0"/>
              <a:t>.</a:t>
            </a:r>
            <a:br>
              <a:rPr lang="en-US" sz="3200" dirty="0"/>
            </a:br>
            <a:endParaRPr lang="en-US" sz="3200" dirty="0"/>
          </a:p>
        </p:txBody>
      </p:sp>
      <p:pic>
        <p:nvPicPr>
          <p:cNvPr id="5" name="Picture 2" descr="Hadoop"/>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5025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581912"/>
          </a:xfrm>
        </p:spPr>
        <p:txBody>
          <a:bodyPr>
            <a:normAutofit fontScale="90000"/>
          </a:bodyPr>
          <a:lstStyle/>
          <a:p>
            <a:r>
              <a:rPr lang="en-US" sz="5400" dirty="0"/>
              <a:t>Hybrid Data </a:t>
            </a:r>
            <a:br>
              <a:rPr lang="en-US" sz="5400" dirty="0"/>
            </a:br>
            <a:r>
              <a:rPr lang="en-US" sz="5400" dirty="0"/>
              <a:t>Warehouse</a:t>
            </a:r>
            <a:endParaRPr lang="en-US" dirty="0"/>
          </a:p>
        </p:txBody>
      </p:sp>
      <p:sp>
        <p:nvSpPr>
          <p:cNvPr id="3" name="Content Placeholder 2"/>
          <p:cNvSpPr>
            <a:spLocks noGrp="1"/>
          </p:cNvSpPr>
          <p:nvPr>
            <p:ph idx="1"/>
          </p:nvPr>
        </p:nvSpPr>
        <p:spPr>
          <a:xfrm>
            <a:off x="457200" y="2362200"/>
            <a:ext cx="8229600" cy="3962400"/>
          </a:xfrm>
        </p:spPr>
        <p:txBody>
          <a:bodyPr>
            <a:normAutofit/>
          </a:bodyPr>
          <a:lstStyle/>
          <a:p>
            <a:r>
              <a:rPr lang="en-US" sz="3200" dirty="0"/>
              <a:t>You can build a Hybrid Data Warehouse.  As Data Warehousing is a concept, a documented framework to follow with guidelines and rules.  And storing the data in Hadoop and Relational Databases is typically known as a Hybrid Data Warehouse.</a:t>
            </a:r>
          </a:p>
        </p:txBody>
      </p:sp>
      <p:pic>
        <p:nvPicPr>
          <p:cNvPr id="5"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8748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 vs. </a:t>
            </a:r>
            <a:r>
              <a:rPr lang="en-US" dirty="0" err="1"/>
              <a:t>Hadoop</a:t>
            </a:r>
            <a:endParaRPr lang="en-US" dirty="0"/>
          </a:p>
        </p:txBody>
      </p:sp>
      <p:sp>
        <p:nvSpPr>
          <p:cNvPr id="3" name="Content Placeholder 2"/>
          <p:cNvSpPr>
            <a:spLocks noGrp="1"/>
          </p:cNvSpPr>
          <p:nvPr>
            <p:ph idx="1"/>
          </p:nvPr>
        </p:nvSpPr>
        <p:spPr/>
        <p:txBody>
          <a:bodyPr/>
          <a:lstStyle/>
          <a:p>
            <a:r>
              <a:rPr lang="en-US" dirty="0" err="1"/>
              <a:t>Hadoop</a:t>
            </a:r>
            <a:r>
              <a:rPr lang="en-US" dirty="0"/>
              <a:t> not a replacement of BI</a:t>
            </a:r>
          </a:p>
          <a:p>
            <a:r>
              <a:rPr lang="en-US" dirty="0"/>
              <a:t>Extends BI capabilities</a:t>
            </a:r>
          </a:p>
          <a:p>
            <a:r>
              <a:rPr lang="en-US" dirty="0"/>
              <a:t>BI = Scale up to 100s of Gigabytes</a:t>
            </a:r>
          </a:p>
          <a:p>
            <a:r>
              <a:rPr lang="en-US" dirty="0" err="1"/>
              <a:t>Hadoop</a:t>
            </a:r>
            <a:r>
              <a:rPr lang="en-US" dirty="0"/>
              <a:t> = From 100s of </a:t>
            </a:r>
            <a:r>
              <a:rPr lang="en-US" dirty="0" err="1"/>
              <a:t>Gygabytes</a:t>
            </a:r>
            <a:r>
              <a:rPr lang="en-US" dirty="0"/>
              <a:t> to Terabytes </a:t>
            </a:r>
            <a:br>
              <a:rPr lang="en-US" dirty="0"/>
            </a:br>
            <a:r>
              <a:rPr lang="en-US" dirty="0"/>
              <a:t>(1,000s </a:t>
            </a:r>
            <a:r>
              <a:rPr lang="en-US" dirty="0" err="1"/>
              <a:t>og</a:t>
            </a:r>
            <a:r>
              <a:rPr lang="en-US" dirty="0"/>
              <a:t> </a:t>
            </a:r>
            <a:r>
              <a:rPr lang="en-US" dirty="0" err="1"/>
              <a:t>Gygabytes</a:t>
            </a:r>
            <a:r>
              <a:rPr lang="en-US" dirty="0"/>
              <a:t>) and Terabytes (1,000,000 Gigabytes)</a:t>
            </a:r>
            <a:br>
              <a:rPr lang="en-US" dirty="0"/>
            </a:br>
            <a:endParaRPr lang="en-US" dirty="0"/>
          </a:p>
        </p:txBody>
      </p:sp>
      <p:pic>
        <p:nvPicPr>
          <p:cNvPr id="4"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5863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Hadoop </a:t>
            </a:r>
            <a:endParaRPr lang="en-US" dirty="0"/>
          </a:p>
        </p:txBody>
      </p:sp>
      <p:pic>
        <p:nvPicPr>
          <p:cNvPr id="1026" name="Picture 2" descr="http://1.bp.blogspot.com/-NAEbNJNNkC8/UymJ-H4nCJI/AAAAAAAACFQ/vDzevqNgPIM/s1600/Hadoop+-+Bloom+Consulting.jpe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8109" y="1935163"/>
            <a:ext cx="7847781" cy="43894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ado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7123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734312"/>
          </a:xfrm>
        </p:spPr>
        <p:txBody>
          <a:bodyPr/>
          <a:lstStyle/>
          <a:p>
            <a:r>
              <a:rPr lang="en-US" dirty="0"/>
              <a:t>Where’s Hadoop</a:t>
            </a:r>
            <a:br>
              <a:rPr lang="en-US" dirty="0"/>
            </a:br>
            <a:r>
              <a:rPr lang="en-US" dirty="0"/>
              <a:t>Headed?</a:t>
            </a:r>
          </a:p>
        </p:txBody>
      </p:sp>
      <p:sp>
        <p:nvSpPr>
          <p:cNvPr id="3" name="Content Placeholder 2"/>
          <p:cNvSpPr>
            <a:spLocks noGrp="1"/>
          </p:cNvSpPr>
          <p:nvPr>
            <p:ph idx="1"/>
          </p:nvPr>
        </p:nvSpPr>
        <p:spPr>
          <a:xfrm>
            <a:off x="457200" y="2590800"/>
            <a:ext cx="8229600" cy="3962400"/>
          </a:xfrm>
        </p:spPr>
        <p:txBody>
          <a:bodyPr>
            <a:normAutofit fontScale="92500" lnSpcReduction="20000"/>
          </a:bodyPr>
          <a:lstStyle/>
          <a:p>
            <a:r>
              <a:rPr lang="en-US" sz="3400" dirty="0"/>
              <a:t>Transactional Data?</a:t>
            </a:r>
          </a:p>
          <a:p>
            <a:r>
              <a:rPr lang="en-US" sz="3400" dirty="0"/>
              <a:t>More Real Time?</a:t>
            </a:r>
          </a:p>
          <a:p>
            <a:r>
              <a:rPr lang="en-US" sz="3400" dirty="0"/>
              <a:t>Integrate with Traditional Data Warehouses?</a:t>
            </a:r>
          </a:p>
          <a:p>
            <a:r>
              <a:rPr lang="en-US" sz="3400" dirty="0"/>
              <a:t>Hadoop for the Masses?</a:t>
            </a:r>
          </a:p>
          <a:p>
            <a:r>
              <a:rPr lang="en-US" sz="3400" dirty="0"/>
              <a:t>Artificial Intelligence?</a:t>
            </a:r>
          </a:p>
          <a:p>
            <a:pPr lvl="1"/>
            <a:r>
              <a:rPr lang="en-US" sz="2900"/>
              <a:t>Turing Test</a:t>
            </a:r>
          </a:p>
          <a:p>
            <a:pPr lvl="1"/>
            <a:r>
              <a:rPr lang="en-US" sz="2900"/>
              <a:t>Neural </a:t>
            </a:r>
            <a:r>
              <a:rPr lang="en-US" sz="2900" dirty="0"/>
              <a:t>Networks</a:t>
            </a:r>
          </a:p>
          <a:p>
            <a:r>
              <a:rPr lang="en-US" sz="3400" dirty="0"/>
              <a:t>Internet of Things</a:t>
            </a:r>
            <a:br>
              <a:rPr lang="en-US" dirty="0"/>
            </a:br>
            <a:endParaRPr lang="en-US" dirty="0"/>
          </a:p>
        </p:txBody>
      </p:sp>
      <p:pic>
        <p:nvPicPr>
          <p:cNvPr id="4" name="Picture 2" descr="Hado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153" y="1066800"/>
            <a:ext cx="2857500" cy="676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1463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Demo</a:t>
            </a:r>
          </a:p>
        </p:txBody>
      </p:sp>
      <p:sp>
        <p:nvSpPr>
          <p:cNvPr id="5" name="Subtitle 4"/>
          <p:cNvSpPr>
            <a:spLocks noGrp="1"/>
          </p:cNvSpPr>
          <p:nvPr>
            <p:ph type="subTitle" idx="1"/>
          </p:nvPr>
        </p:nvSpPr>
        <p:spPr/>
        <p:txBody>
          <a:bodyPr/>
          <a:lstStyle/>
          <a:p>
            <a:r>
              <a:rPr lang="en-US"/>
              <a:t>Basic Hadoop</a:t>
            </a:r>
            <a:endParaRPr lang="en-US" dirty="0"/>
          </a:p>
        </p:txBody>
      </p:sp>
    </p:spTree>
    <p:extLst>
      <p:ext uri="{BB962C8B-B14F-4D97-AF65-F5344CB8AC3E}">
        <p14:creationId xmlns:p14="http://schemas.microsoft.com/office/powerpoint/2010/main" val="21016034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8232648" cy="1362456"/>
          </a:xfrm>
        </p:spPr>
        <p:txBody>
          <a:bodyPr/>
          <a:lstStyle/>
          <a:p>
            <a:pPr algn="ctr"/>
            <a:r>
              <a:rPr lang="en-US" dirty="0">
                <a:ln>
                  <a:noFill/>
                </a:ln>
                <a:solidFill>
                  <a:schemeClr val="accent3">
                    <a:tint val="90000"/>
                    <a:satMod val="120000"/>
                  </a:schemeClr>
                </a:solidFill>
              </a:rPr>
              <a:t>Thank you for attending!</a:t>
            </a:r>
            <a:br>
              <a:rPr lang="en-US" dirty="0">
                <a:ln>
                  <a:noFill/>
                </a:ln>
                <a:solidFill>
                  <a:schemeClr val="accent3">
                    <a:tint val="90000"/>
                    <a:satMod val="120000"/>
                  </a:schemeClr>
                </a:solidFill>
              </a:rPr>
            </a:br>
            <a:r>
              <a:rPr lang="en-US" dirty="0">
                <a:ln>
                  <a:noFill/>
                </a:ln>
                <a:solidFill>
                  <a:schemeClr val="accent3">
                    <a:tint val="90000"/>
                    <a:satMod val="120000"/>
                  </a:schemeClr>
                </a:solidFill>
              </a:rPr>
              <a:t>Q &amp; A</a:t>
            </a:r>
          </a:p>
        </p:txBody>
      </p:sp>
      <p:sp>
        <p:nvSpPr>
          <p:cNvPr id="3" name="Content Placeholder 2"/>
          <p:cNvSpPr>
            <a:spLocks noGrp="1"/>
          </p:cNvSpPr>
          <p:nvPr>
            <p:ph type="body" idx="1"/>
          </p:nvPr>
        </p:nvSpPr>
        <p:spPr>
          <a:noFill/>
        </p:spPr>
        <p:txBody>
          <a:bodyPr/>
          <a:lstStyle/>
          <a:p>
            <a:pPr>
              <a:buNone/>
            </a:pPr>
            <a:endParaRPr lang="en-US" b="1" dirty="0"/>
          </a:p>
          <a:p>
            <a:pPr>
              <a:buNone/>
            </a:pPr>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val="1563179509"/>
              </p:ext>
            </p:extLst>
          </p:nvPr>
        </p:nvGraphicFramePr>
        <p:xfrm>
          <a:off x="1143000" y="3200400"/>
          <a:ext cx="6551676" cy="1706880"/>
        </p:xfrm>
        <a:graphic>
          <a:graphicData uri="http://schemas.openxmlformats.org/drawingml/2006/table">
            <a:tbl>
              <a:tblPr firstRow="1" bandRow="1">
                <a:tableStyleId>{2D5ABB26-0587-4C30-8999-92F81FD0307C}</a:tableStyleId>
              </a:tblPr>
              <a:tblGrid>
                <a:gridCol w="1250731">
                  <a:extLst>
                    <a:ext uri="{9D8B030D-6E8A-4147-A177-3AD203B41FA5}">
                      <a16:colId xmlns:a16="http://schemas.microsoft.com/office/drawing/2014/main" val="20000"/>
                    </a:ext>
                  </a:extLst>
                </a:gridCol>
                <a:gridCol w="5300945">
                  <a:extLst>
                    <a:ext uri="{9D8B030D-6E8A-4147-A177-3AD203B41FA5}">
                      <a16:colId xmlns:a16="http://schemas.microsoft.com/office/drawing/2014/main" val="20001"/>
                    </a:ext>
                  </a:extLst>
                </a:gridCol>
              </a:tblGrid>
              <a:tr h="437357">
                <a:tc>
                  <a:txBody>
                    <a:bodyPr/>
                    <a:lstStyle/>
                    <a:p>
                      <a:pPr>
                        <a:buFont typeface="Arial" pitchFamily="34" charset="0"/>
                        <a:buNone/>
                      </a:pPr>
                      <a:r>
                        <a:rPr lang="en-US" sz="2000" b="1" dirty="0">
                          <a:latin typeface="+mj-lt"/>
                        </a:rPr>
                        <a:t>Blog: </a:t>
                      </a:r>
                      <a:endParaRPr lang="en-US" sz="1600" dirty="0">
                        <a:latin typeface="+mj-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800" kern="1200" dirty="0">
                          <a:solidFill>
                            <a:schemeClr val="tx1"/>
                          </a:solidFill>
                          <a:latin typeface="+mj-lt"/>
                          <a:ea typeface="+mn-ea"/>
                          <a:cs typeface="+mn-cs"/>
                          <a:hlinkClick r:id="rId2"/>
                        </a:rPr>
                        <a:t>www.bloomconsultingbi.com</a:t>
                      </a:r>
                      <a:endParaRPr kumimoji="0" lang="en-US" sz="2800" kern="1200" dirty="0">
                        <a:solidFill>
                          <a:schemeClr val="tx1"/>
                        </a:solidFill>
                        <a:latin typeface="+mj-lt"/>
                        <a:ea typeface="+mn-ea"/>
                        <a:cs typeface="+mn-cs"/>
                      </a:endParaRPr>
                    </a:p>
                  </a:txBody>
                  <a:tcPr/>
                </a:tc>
                <a:extLst>
                  <a:ext uri="{0D108BD9-81ED-4DB2-BD59-A6C34878D82A}">
                    <a16:rowId xmlns:a16="http://schemas.microsoft.com/office/drawing/2014/main" val="10000"/>
                  </a:ext>
                </a:extLst>
              </a:tr>
              <a:tr h="370840">
                <a:tc>
                  <a:txBody>
                    <a:bodyPr/>
                    <a:lstStyle/>
                    <a:p>
                      <a:pPr>
                        <a:buFont typeface="Arial" pitchFamily="34" charset="0"/>
                        <a:buNone/>
                      </a:pPr>
                      <a:r>
                        <a:rPr lang="en-US" sz="2000" b="1" dirty="0">
                          <a:latin typeface="+mj-lt"/>
                        </a:rPr>
                        <a:t>Twitter: </a:t>
                      </a:r>
                      <a:endParaRPr lang="en-US" sz="1600" dirty="0">
                        <a:latin typeface="+mj-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800" kern="1200" dirty="0">
                          <a:solidFill>
                            <a:schemeClr val="tx1"/>
                          </a:solidFill>
                          <a:latin typeface="+mj-lt"/>
                          <a:ea typeface="+mn-ea"/>
                          <a:cs typeface="+mn-cs"/>
                        </a:rPr>
                        <a:t>@</a:t>
                      </a:r>
                      <a:r>
                        <a:rPr kumimoji="0" lang="en-US" sz="1800" kern="1200" dirty="0" err="1">
                          <a:solidFill>
                            <a:schemeClr val="tx1"/>
                          </a:solidFill>
                          <a:latin typeface="+mj-lt"/>
                          <a:ea typeface="+mn-ea"/>
                          <a:cs typeface="+mn-cs"/>
                        </a:rPr>
                        <a:t>gathams</a:t>
                      </a:r>
                      <a:endParaRPr kumimoji="0" lang="en-US" sz="1800" kern="1200" dirty="0">
                        <a:solidFill>
                          <a:schemeClr val="tx1"/>
                        </a:solidFill>
                        <a:latin typeface="+mj-lt"/>
                        <a:ea typeface="+mn-ea"/>
                        <a:cs typeface="+mn-cs"/>
                      </a:endParaRPr>
                    </a:p>
                  </a:txBody>
                  <a:tcPr/>
                </a:tc>
                <a:extLst>
                  <a:ext uri="{0D108BD9-81ED-4DB2-BD59-A6C34878D82A}">
                    <a16:rowId xmlns:a16="http://schemas.microsoft.com/office/drawing/2014/main" val="10001"/>
                  </a:ext>
                </a:extLst>
              </a:tr>
              <a:tr h="370840">
                <a:tc>
                  <a:txBody>
                    <a:bodyPr/>
                    <a:lstStyle/>
                    <a:p>
                      <a:pPr>
                        <a:buFont typeface="Arial" pitchFamily="34" charset="0"/>
                        <a:buNone/>
                      </a:pPr>
                      <a:r>
                        <a:rPr lang="en-US" sz="2000" b="1" dirty="0">
                          <a:latin typeface="+mj-lt"/>
                        </a:rPr>
                        <a:t>Linked-in:</a:t>
                      </a:r>
                      <a:endParaRPr lang="en-US" sz="1600" dirty="0">
                        <a:latin typeface="+mj-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800" kern="1200" dirty="0">
                          <a:solidFill>
                            <a:schemeClr val="tx1"/>
                          </a:solidFill>
                          <a:latin typeface="+mj-lt"/>
                          <a:ea typeface="+mn-ea"/>
                          <a:cs typeface="+mn-cs"/>
                        </a:rPr>
                        <a:t>http://www.linkedin.com/in/BloomConsultingBI</a:t>
                      </a:r>
                      <a:endParaRPr lang="en-US" sz="1800" dirty="0">
                        <a:latin typeface="+mj-lt"/>
                      </a:endParaRPr>
                    </a:p>
                  </a:txBody>
                  <a:tcPr/>
                </a:tc>
                <a:extLst>
                  <a:ext uri="{0D108BD9-81ED-4DB2-BD59-A6C34878D82A}">
                    <a16:rowId xmlns:a16="http://schemas.microsoft.com/office/drawing/2014/main" val="10002"/>
                  </a:ext>
                </a:extLst>
              </a:tr>
              <a:tr h="370840">
                <a:tc>
                  <a:txBody>
                    <a:bodyPr/>
                    <a:lstStyle/>
                    <a:p>
                      <a:pPr>
                        <a:buFont typeface="Arial" pitchFamily="34" charset="0"/>
                        <a:buNone/>
                      </a:pPr>
                      <a:r>
                        <a:rPr lang="en-US" sz="2000" b="1" dirty="0">
                          <a:latin typeface="+mj-lt"/>
                        </a:rPr>
                        <a:t>Email:</a:t>
                      </a:r>
                      <a:endParaRPr lang="en-US" sz="1600" dirty="0">
                        <a:latin typeface="+mj-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800" kern="1200" dirty="0">
                          <a:solidFill>
                            <a:schemeClr val="tx1"/>
                          </a:solidFill>
                          <a:latin typeface="+mj-lt"/>
                          <a:ea typeface="+mn-ea"/>
                          <a:cs typeface="+mn-cs"/>
                        </a:rPr>
                        <a:t>gathams@icloud.com</a:t>
                      </a:r>
                    </a:p>
                  </a:txBody>
                  <a:tcPr/>
                </a:tc>
                <a:extLst>
                  <a:ext uri="{0D108BD9-81ED-4DB2-BD59-A6C34878D82A}">
                    <a16:rowId xmlns:a16="http://schemas.microsoft.com/office/drawing/2014/main" val="10003"/>
                  </a:ext>
                </a:extLst>
              </a:tr>
            </a:tbl>
          </a:graphicData>
        </a:graphic>
      </p:graphicFrame>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0" y="5791200"/>
            <a:ext cx="2895600" cy="694944"/>
          </a:xfrm>
          <a:prstGeom prst="roundRect">
            <a:avLst>
              <a:gd name="adj" fmla="val 16667"/>
            </a:avLst>
          </a:prstGeom>
          <a:ln>
            <a:noFill/>
          </a:ln>
          <a:effectLst>
            <a:outerShdw blurRad="50800" dist="38100" dir="8100000" algn="tr" rotWithShape="0">
              <a:prstClr val="black">
                <a:alpha val="40000"/>
              </a:prstClr>
            </a:outerShdw>
            <a:reflection blurRad="6350" stA="50000" endA="300" endPos="55500" dist="50800" dir="5400000" sy="-100000" algn="bl" rotWithShape="0"/>
          </a:effectLst>
          <a:scene3d>
            <a:camera prst="orthographicFront">
              <a:rot lat="0" lon="0" rev="0"/>
            </a:camera>
            <a:lightRig rig="contrasting" dir="t">
              <a:rot lat="0" lon="0" rev="4200000"/>
            </a:lightRig>
          </a:scene3d>
          <a:sp3d prstMaterial="plastic">
            <a:bevelT w="381000" h="114300" prst="relaxedInset"/>
            <a:contourClr>
              <a:srgbClr val="969696"/>
            </a:contourClr>
          </a:sp3d>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1510</TotalTime>
  <Words>1521</Words>
  <Application>Microsoft Office PowerPoint</Application>
  <PresentationFormat>On-screen Show (4:3)</PresentationFormat>
  <Paragraphs>156</Paragraphs>
  <Slides>53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Constantia</vt:lpstr>
      <vt:lpstr>Wingdings 2</vt:lpstr>
      <vt:lpstr>Flow</vt:lpstr>
      <vt:lpstr>Components of Hadoop </vt:lpstr>
      <vt:lpstr>PowerPoint Presentation</vt:lpstr>
      <vt:lpstr>Intro to Hadoop </vt:lpstr>
      <vt:lpstr>PowerPoint Presentation</vt:lpstr>
      <vt:lpstr>PowerPoint Presentation</vt:lpstr>
      <vt:lpstr>Hadoop storage managers</vt:lpstr>
      <vt:lpstr>PowerPoint Presentation</vt:lpstr>
      <vt:lpstr>HCatalog </vt:lpstr>
      <vt:lpstr>Hive</vt:lpstr>
      <vt:lpstr>OOZIE</vt:lpstr>
      <vt:lpstr>PowerPoint Presentation</vt:lpstr>
      <vt:lpstr>General purpose execution machines</vt:lpstr>
      <vt:lpstr>MapReduce</vt:lpstr>
      <vt:lpstr>Tez </vt:lpstr>
      <vt:lpstr>Spark</vt:lpstr>
      <vt:lpstr>Database Management engines</vt:lpstr>
      <vt:lpstr>Name Nodes</vt:lpstr>
      <vt:lpstr>Data Nodes</vt:lpstr>
      <vt:lpstr>Secondary Named  Nodes</vt:lpstr>
      <vt:lpstr>Job Tracker</vt:lpstr>
      <vt:lpstr>Task Tracker</vt:lpstr>
      <vt:lpstr>Ingest Data</vt:lpstr>
      <vt:lpstr>SQOOP</vt:lpstr>
      <vt:lpstr>PIG</vt:lpstr>
      <vt:lpstr>ODBC</vt:lpstr>
      <vt:lpstr>Connect to Data</vt:lpstr>
      <vt:lpstr>HBase</vt:lpstr>
      <vt:lpstr>Accumulo</vt:lpstr>
      <vt:lpstr>Flume</vt:lpstr>
      <vt:lpstr>Solr</vt:lpstr>
      <vt:lpstr>Streaming</vt:lpstr>
      <vt:lpstr>HUE</vt:lpstr>
      <vt:lpstr>WebHDFS</vt:lpstr>
      <vt:lpstr>Monitor</vt:lpstr>
      <vt:lpstr>Machine Learning</vt:lpstr>
      <vt:lpstr>Machine Learning</vt:lpstr>
      <vt:lpstr>Hadoop 2.0</vt:lpstr>
      <vt:lpstr>YARN</vt:lpstr>
      <vt:lpstr>YARN</vt:lpstr>
      <vt:lpstr>Impala </vt:lpstr>
      <vt:lpstr>Graph</vt:lpstr>
      <vt:lpstr>Ambari</vt:lpstr>
      <vt:lpstr>Knox</vt:lpstr>
      <vt:lpstr>Falcon</vt:lpstr>
      <vt:lpstr>More Apache Projects</vt:lpstr>
      <vt:lpstr>Cloud</vt:lpstr>
      <vt:lpstr>On Premise</vt:lpstr>
      <vt:lpstr>Hybrid Data  Warehouse</vt:lpstr>
      <vt:lpstr>BI vs. Hadoop</vt:lpstr>
      <vt:lpstr>Hadoop </vt:lpstr>
      <vt:lpstr>Where’s Hadoop Headed?</vt:lpstr>
      <vt:lpstr>Demo</vt:lpstr>
      <vt:lpstr>Thank you for attending! 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Change Data Capture (CDC)  …as a tool for Disaster Recovery,  Business Intelligence and Auditing</dc:title>
  <dc:creator>Jose R. Chinchilla</dc:creator>
  <cp:lastModifiedBy>MAN OF PEACE</cp:lastModifiedBy>
  <cp:revision>351</cp:revision>
  <dcterms:created xsi:type="dcterms:W3CDTF">2010-05-06T05:45:15Z</dcterms:created>
  <dcterms:modified xsi:type="dcterms:W3CDTF">2026-09-08T09:30:58Z</dcterms:modified>
</cp:coreProperties>
</file>