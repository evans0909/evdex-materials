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8" r:id="rId4"/>
    <p:sldId id="267" r:id="rId5"/>
    <p:sldId id="268" r:id="rId6"/>
    <p:sldId id="259" r:id="rId7"/>
    <p:sldId id="260" r:id="rId8"/>
    <p:sldId id="269" r:id="rId9"/>
    <p:sldId id="263" r:id="rId10"/>
    <p:sldId id="261" r:id="rId11"/>
    <p:sldId id="262" r:id="rId12"/>
    <p:sldId id="264" r:id="rId13"/>
    <p:sldId id="265" r:id="rId14"/>
    <p:sldId id="271" r:id="rId15"/>
    <p:sldId id="272" r:id="rId16"/>
    <p:sldId id="273" r:id="rId17"/>
    <p:sldId id="274" r:id="rId18"/>
    <p:sldId id="275" r:id="rId19"/>
    <p:sldId id="276"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4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4103-6FA5-467D-B408-0D7F3B01A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D99C2D-A149-4FCB-A016-462FC26589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03AC85-AE43-46DB-9140-D0EEB44F2685}"/>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5" name="Footer Placeholder 4">
            <a:extLst>
              <a:ext uri="{FF2B5EF4-FFF2-40B4-BE49-F238E27FC236}">
                <a16:creationId xmlns:a16="http://schemas.microsoft.com/office/drawing/2014/main" id="{11716BC9-3CFF-448E-A679-E5DA770E0E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992159-4BC8-4BC5-BAD1-63091725EC45}"/>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339707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E089-ADC1-47F4-A0E9-0411E6BCC7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CD1389-AAA2-4963-AAAA-D6CB5867B85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AB979F-9C84-4AFF-9523-D95FCF74E818}"/>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5" name="Footer Placeholder 4">
            <a:extLst>
              <a:ext uri="{FF2B5EF4-FFF2-40B4-BE49-F238E27FC236}">
                <a16:creationId xmlns:a16="http://schemas.microsoft.com/office/drawing/2014/main" id="{F31D1BAA-7322-48A1-9553-C4F918201C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5F811-A2EF-4F54-AFAC-FECB78BDF629}"/>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2225789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A3522-E159-46C6-A143-67849BC345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1C2235-ADBB-45FB-9197-49A7A5587A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B83CE47-243D-4267-97F6-48EC1CE4FEC9}"/>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5" name="Footer Placeholder 4">
            <a:extLst>
              <a:ext uri="{FF2B5EF4-FFF2-40B4-BE49-F238E27FC236}">
                <a16:creationId xmlns:a16="http://schemas.microsoft.com/office/drawing/2014/main" id="{8D87B21E-4C6E-43C6-B40E-FD1B52781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6B04AC-4F07-4B19-9A91-2732D3250CAA}"/>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574418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40FD-6601-4A28-A62D-CCA0E567BF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9FA366-513D-40CB-842B-2AA797E4F0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D10EFC-920D-4125-B80D-E2EA884391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6091BB-D3BC-4C0A-8F7E-A113F40D6D8A}"/>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6" name="Footer Placeholder 5">
            <a:extLst>
              <a:ext uri="{FF2B5EF4-FFF2-40B4-BE49-F238E27FC236}">
                <a16:creationId xmlns:a16="http://schemas.microsoft.com/office/drawing/2014/main" id="{80FA48E7-E99B-48B6-B1C2-8C77D489E1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3382B2-7765-4657-B120-CC324AA7202E}"/>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1343895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4B5B-9CF1-4F6C-9206-B3E45E1D90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EFD68E-4A77-4277-B8CF-A313189A45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14702C-55BA-4433-BD35-A6A6D4BA9E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FEB583-1253-4190-9C47-157FCA9173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ED6491E-7C95-4B7A-AFF4-909E7A51885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1AD265-2BFE-436C-88FD-2FCC6012B9C0}"/>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8" name="Footer Placeholder 7">
            <a:extLst>
              <a:ext uri="{FF2B5EF4-FFF2-40B4-BE49-F238E27FC236}">
                <a16:creationId xmlns:a16="http://schemas.microsoft.com/office/drawing/2014/main" id="{824C8C35-D486-47D6-A0BE-084401E759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AAE34A-DE44-405B-8244-F2100AC62962}"/>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1633638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51B1-1B58-46BD-972D-59D1EC74F8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11F127-F061-4868-AC63-0EC2B3BBC76F}"/>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4" name="Footer Placeholder 3">
            <a:extLst>
              <a:ext uri="{FF2B5EF4-FFF2-40B4-BE49-F238E27FC236}">
                <a16:creationId xmlns:a16="http://schemas.microsoft.com/office/drawing/2014/main" id="{2DDC1489-66E8-4EB0-8B4C-D130CFD44C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3351D3-2BB2-432D-801B-9F4EE8830576}"/>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136370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C8A72C-1D97-41D9-8B49-535C6BCC081D}"/>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3" name="Footer Placeholder 2">
            <a:extLst>
              <a:ext uri="{FF2B5EF4-FFF2-40B4-BE49-F238E27FC236}">
                <a16:creationId xmlns:a16="http://schemas.microsoft.com/office/drawing/2014/main" id="{B29285CB-4BDB-4754-8403-70A2590660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587D15-2E92-4EE4-A6A8-F2666C35FDC9}"/>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4219261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8B6DD-D3C3-4BB9-9534-CB24981788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6F67D4-A10A-4B27-8493-225AA8FF4A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ED84EA-A985-41A1-9F29-01C8399F4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C799D42-5A92-40FF-B6C3-9D1DFFF91EAD}"/>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6" name="Footer Placeholder 5">
            <a:extLst>
              <a:ext uri="{FF2B5EF4-FFF2-40B4-BE49-F238E27FC236}">
                <a16:creationId xmlns:a16="http://schemas.microsoft.com/office/drawing/2014/main" id="{50C3A70E-67A1-4F94-AC25-24314357B6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C70A04-2C68-4FA6-924C-1388B49FC1EC}"/>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299259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1AB74-B9EF-4C68-8D55-62D744F85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702463-0A7A-4DFD-BB46-9C328654AE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215E86-D09C-40CE-8267-35344142BF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F2B2882-CDD4-46DB-8C94-22DF13BDF46E}"/>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6" name="Footer Placeholder 5">
            <a:extLst>
              <a:ext uri="{FF2B5EF4-FFF2-40B4-BE49-F238E27FC236}">
                <a16:creationId xmlns:a16="http://schemas.microsoft.com/office/drawing/2014/main" id="{719DBE4D-BDB5-4FB7-84AC-C44ED9D37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F67F6C-8B87-4274-A3B1-2DAC6A401535}"/>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261130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E4DA-FA8E-4592-B65B-A61A5263CA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AA1742-77A3-47AD-9DA7-9A33A442D6D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A31CC5-543A-4620-ACFE-B69AB81C34BB}"/>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5" name="Footer Placeholder 4">
            <a:extLst>
              <a:ext uri="{FF2B5EF4-FFF2-40B4-BE49-F238E27FC236}">
                <a16:creationId xmlns:a16="http://schemas.microsoft.com/office/drawing/2014/main" id="{18323611-08D0-4166-A067-21A825ECDB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675AA-C63A-4680-A434-074CACBF77D3}"/>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2686444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74E356-D69B-41ED-A819-5BEB3F8456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0B6B5B-C5F6-4D52-B7C6-48CA56FC1A8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F8C751-80C4-477D-B62D-40E91D894A26}"/>
              </a:ext>
            </a:extLst>
          </p:cNvPr>
          <p:cNvSpPr>
            <a:spLocks noGrp="1"/>
          </p:cNvSpPr>
          <p:nvPr>
            <p:ph type="dt" sz="half" idx="10"/>
          </p:nvPr>
        </p:nvSpPr>
        <p:spPr/>
        <p:txBody>
          <a:bodyPr/>
          <a:lstStyle/>
          <a:p>
            <a:fld id="{096614A6-7E88-46ED-946A-EE3292725ADF}" type="datetimeFigureOut">
              <a:rPr lang="en-US" smtClean="0"/>
              <a:t>5/18/2026</a:t>
            </a:fld>
            <a:endParaRPr lang="en-US"/>
          </a:p>
        </p:txBody>
      </p:sp>
      <p:sp>
        <p:nvSpPr>
          <p:cNvPr id="5" name="Footer Placeholder 4">
            <a:extLst>
              <a:ext uri="{FF2B5EF4-FFF2-40B4-BE49-F238E27FC236}">
                <a16:creationId xmlns:a16="http://schemas.microsoft.com/office/drawing/2014/main" id="{A5FB6D9A-985D-4839-AB77-1446CA9423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8574D-92AC-44E7-B325-5C9D8BB07AF7}"/>
              </a:ext>
            </a:extLst>
          </p:cNvPr>
          <p:cNvSpPr>
            <a:spLocks noGrp="1"/>
          </p:cNvSpPr>
          <p:nvPr>
            <p:ph type="sldNum" sz="quarter" idx="12"/>
          </p:nvPr>
        </p:nvSpPr>
        <p:spPr/>
        <p:txBody>
          <a:bodyPr/>
          <a:lstStyle/>
          <a:p>
            <a:fld id="{4D78C2D8-F687-4EBF-848A-05D7B9993BF5}" type="slidenum">
              <a:rPr lang="en-US" smtClean="0"/>
              <a:t>‹#›</a:t>
            </a:fld>
            <a:endParaRPr lang="en-US"/>
          </a:p>
        </p:txBody>
      </p:sp>
    </p:spTree>
    <p:extLst>
      <p:ext uri="{BB962C8B-B14F-4D97-AF65-F5344CB8AC3E}">
        <p14:creationId xmlns:p14="http://schemas.microsoft.com/office/powerpoint/2010/main" val="583582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3AB27F-C91F-485C-BF7A-A6BEF95F59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52DEF5-FB70-4EF3-B6E2-4B7F8CDB7D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B7F632-17D9-496F-9F78-F5C8FE50F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614A6-7E88-46ED-946A-EE3292725ADF}" type="datetimeFigureOut">
              <a:rPr lang="en-US" smtClean="0"/>
              <a:t>5/18/2026</a:t>
            </a:fld>
            <a:endParaRPr lang="en-US"/>
          </a:p>
        </p:txBody>
      </p:sp>
      <p:sp>
        <p:nvSpPr>
          <p:cNvPr id="5" name="Footer Placeholder 4">
            <a:extLst>
              <a:ext uri="{FF2B5EF4-FFF2-40B4-BE49-F238E27FC236}">
                <a16:creationId xmlns:a16="http://schemas.microsoft.com/office/drawing/2014/main" id="{8FA39C7A-EBBA-4710-833F-3E0DF1918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A3C464-46BA-452F-A485-E8F83557EA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78C2D8-F687-4EBF-848A-05D7B9993BF5}" type="slidenum">
              <a:rPr lang="en-US" smtClean="0"/>
              <a:t>‹#›</a:t>
            </a:fld>
            <a:endParaRPr lang="en-US"/>
          </a:p>
        </p:txBody>
      </p:sp>
    </p:spTree>
    <p:extLst>
      <p:ext uri="{BB962C8B-B14F-4D97-AF65-F5344CB8AC3E}">
        <p14:creationId xmlns:p14="http://schemas.microsoft.com/office/powerpoint/2010/main" val="1411138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5;p13">
            <a:extLst>
              <a:ext uri="{FF2B5EF4-FFF2-40B4-BE49-F238E27FC236}">
                <a16:creationId xmlns:a16="http://schemas.microsoft.com/office/drawing/2014/main" id="{DDD86EF4-D841-4B05-9E0D-0BA582E10D9B}"/>
              </a:ext>
            </a:extLst>
          </p:cNvPr>
          <p:cNvPicPr preferRelativeResize="0"/>
          <p:nvPr/>
        </p:nvPicPr>
        <p:blipFill>
          <a:blip r:embed="rId2">
            <a:alphaModFix/>
          </a:blip>
          <a:stretch>
            <a:fillRect/>
          </a:stretch>
        </p:blipFill>
        <p:spPr>
          <a:xfrm>
            <a:off x="0" y="0"/>
            <a:ext cx="11847443" cy="6679096"/>
          </a:xfrm>
          <a:prstGeom prst="rect">
            <a:avLst/>
          </a:prstGeom>
          <a:noFill/>
          <a:ln>
            <a:noFill/>
          </a:ln>
        </p:spPr>
      </p:pic>
    </p:spTree>
    <p:extLst>
      <p:ext uri="{BB962C8B-B14F-4D97-AF65-F5344CB8AC3E}">
        <p14:creationId xmlns:p14="http://schemas.microsoft.com/office/powerpoint/2010/main" val="3086302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9328-3220-49EA-A5F2-E16DADBE63A1}"/>
              </a:ext>
            </a:extLst>
          </p:cNvPr>
          <p:cNvSpPr>
            <a:spLocks noGrp="1"/>
          </p:cNvSpPr>
          <p:nvPr>
            <p:ph type="title"/>
          </p:nvPr>
        </p:nvSpPr>
        <p:spPr>
          <a:xfrm>
            <a:off x="838200" y="159027"/>
            <a:ext cx="10515600" cy="914400"/>
          </a:xfrm>
        </p:spPr>
        <p:txBody>
          <a:bodyPr/>
          <a:lstStyle/>
          <a:p>
            <a:pPr algn="ctr"/>
            <a:r>
              <a:rPr lang="en-US"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261F8C85-9A81-42FC-AD53-8419B2B5B1C2}"/>
              </a:ext>
            </a:extLst>
          </p:cNvPr>
          <p:cNvSpPr>
            <a:spLocks noGrp="1"/>
          </p:cNvSpPr>
          <p:nvPr>
            <p:ph idx="1"/>
          </p:nvPr>
        </p:nvSpPr>
        <p:spPr>
          <a:xfrm>
            <a:off x="838200" y="1253330"/>
            <a:ext cx="10515600" cy="4988443"/>
          </a:xfrm>
        </p:spPr>
        <p:txBody>
          <a:bodyPr>
            <a:normAutofit fontScale="92500"/>
          </a:bodyPr>
          <a:lstStyle/>
          <a:p>
            <a:pPr lvl="0"/>
            <a:r>
              <a:rPr lang="en-US" sz="3200" dirty="0">
                <a:latin typeface="Times New Roman" panose="02020603050405020304" pitchFamily="18" charset="0"/>
                <a:cs typeface="Times New Roman" panose="02020603050405020304" pitchFamily="18" charset="0"/>
              </a:rPr>
              <a:t>Virtualization: definition, goals </a:t>
            </a:r>
          </a:p>
          <a:p>
            <a:pPr lvl="0"/>
            <a:r>
              <a:rPr lang="en-US" sz="3200" dirty="0">
                <a:latin typeface="Times New Roman" panose="02020603050405020304" pitchFamily="18" charset="0"/>
                <a:cs typeface="Times New Roman" panose="02020603050405020304" pitchFamily="18" charset="0"/>
              </a:rPr>
              <a:t>The Virtualization Reference Model (guest, host, hypervisor)</a:t>
            </a:r>
          </a:p>
          <a:p>
            <a:pPr lvl="0"/>
            <a:r>
              <a:rPr lang="en-US" sz="3200" dirty="0">
                <a:latin typeface="Times New Roman" panose="02020603050405020304" pitchFamily="18" charset="0"/>
                <a:cs typeface="Times New Roman" panose="02020603050405020304" pitchFamily="18" charset="0"/>
              </a:rPr>
              <a:t>Key advantages: security, managed execution (sharing, aggregation, emulation, isolation), portability, live migration, snapshots</a:t>
            </a:r>
          </a:p>
          <a:p>
            <a:pPr lvl="0"/>
            <a:r>
              <a:rPr lang="en-US" sz="3200" dirty="0">
                <a:latin typeface="Times New Roman" panose="02020603050405020304" pitchFamily="18" charset="0"/>
                <a:cs typeface="Times New Roman" panose="02020603050405020304" pitchFamily="18" charset="0"/>
              </a:rPr>
              <a:t>Taxonomy: execution (process &amp; system), storage, network virtualization</a:t>
            </a:r>
          </a:p>
          <a:p>
            <a:pPr lvl="0"/>
            <a:r>
              <a:rPr lang="en-US" sz="3200" dirty="0">
                <a:latin typeface="Times New Roman" panose="02020603050405020304" pitchFamily="18" charset="0"/>
                <a:cs typeface="Times New Roman" panose="02020603050405020304" pitchFamily="18" charset="0"/>
              </a:rPr>
              <a:t>Machine reference model: ISA, ABI, API, privilege rings</a:t>
            </a:r>
          </a:p>
          <a:p>
            <a:pPr lvl="0"/>
            <a:r>
              <a:rPr lang="en-US" sz="3200" dirty="0">
                <a:latin typeface="Times New Roman" panose="02020603050405020304" pitchFamily="18" charset="0"/>
                <a:cs typeface="Times New Roman" panose="02020603050405020304" pitchFamily="18" charset="0"/>
              </a:rPr>
              <a:t>Hypervisor types: Type 1 (bare metal) vs Type 2 (hosted) –</a:t>
            </a:r>
          </a:p>
          <a:p>
            <a:pPr lvl="0"/>
            <a:r>
              <a:rPr lang="en-US" sz="3200" dirty="0">
                <a:latin typeface="Times New Roman" panose="02020603050405020304" pitchFamily="18" charset="0"/>
                <a:cs typeface="Times New Roman" panose="02020603050405020304" pitchFamily="18" charset="0"/>
              </a:rPr>
              <a:t>Hypervisor internal architecture: dispatcher, allocator, interpreter</a:t>
            </a:r>
          </a:p>
          <a:p>
            <a:endParaRPr lang="en-US" dirty="0"/>
          </a:p>
        </p:txBody>
      </p:sp>
    </p:spTree>
    <p:extLst>
      <p:ext uri="{BB962C8B-B14F-4D97-AF65-F5344CB8AC3E}">
        <p14:creationId xmlns:p14="http://schemas.microsoft.com/office/powerpoint/2010/main" val="350605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487C7-E020-4CC5-A290-D78FECB37F15}"/>
              </a:ext>
            </a:extLst>
          </p:cNvPr>
          <p:cNvSpPr>
            <a:spLocks noGrp="1"/>
          </p:cNvSpPr>
          <p:nvPr>
            <p:ph type="title"/>
          </p:nvPr>
        </p:nvSpPr>
        <p:spPr>
          <a:xfrm>
            <a:off x="838200" y="365125"/>
            <a:ext cx="10515600" cy="608910"/>
          </a:xfrm>
        </p:spPr>
        <p:txBody>
          <a:bodyPr>
            <a:normAutofit fontScale="90000"/>
          </a:bodyPr>
          <a:lstStyle/>
          <a:p>
            <a:pPr algn="ctr"/>
            <a:r>
              <a:rPr lang="en-US" dirty="0">
                <a:latin typeface="Arial Black" panose="020B0A04020102020204" pitchFamily="34" charset="0"/>
              </a:rPr>
              <a:t>VIRTUALIZATION</a:t>
            </a:r>
          </a:p>
        </p:txBody>
      </p:sp>
      <p:sp>
        <p:nvSpPr>
          <p:cNvPr id="3" name="Content Placeholder 2">
            <a:extLst>
              <a:ext uri="{FF2B5EF4-FFF2-40B4-BE49-F238E27FC236}">
                <a16:creationId xmlns:a16="http://schemas.microsoft.com/office/drawing/2014/main" id="{7046E43E-9DF2-4D87-9A6F-191A46C3D034}"/>
              </a:ext>
            </a:extLst>
          </p:cNvPr>
          <p:cNvSpPr>
            <a:spLocks noGrp="1"/>
          </p:cNvSpPr>
          <p:nvPr>
            <p:ph idx="1"/>
          </p:nvPr>
        </p:nvSpPr>
        <p:spPr>
          <a:xfrm>
            <a:off x="477078" y="1253331"/>
            <a:ext cx="10876722" cy="5239544"/>
          </a:xfrm>
        </p:spPr>
        <p:txBody>
          <a:bodyPr>
            <a:normAutofit fontScale="92500" lnSpcReduction="20000"/>
          </a:bodyPr>
          <a:lstStyle/>
          <a:p>
            <a:r>
              <a:rPr lang="en-US" sz="3200" b="1" dirty="0">
                <a:latin typeface="Times New Roman" panose="02020603050405020304" pitchFamily="18" charset="0"/>
                <a:cs typeface="Times New Roman" panose="02020603050405020304" pitchFamily="18" charset="0"/>
              </a:rPr>
              <a:t>Definition:</a:t>
            </a:r>
            <a:r>
              <a:rPr lang="en-US" sz="3200" dirty="0">
                <a:latin typeface="Times New Roman" panose="02020603050405020304" pitchFamily="18" charset="0"/>
                <a:cs typeface="Times New Roman" panose="02020603050405020304" pitchFamily="18" charset="0"/>
              </a:rPr>
              <a:t> A layer of software (hypervisor or VMM) that abstracts physical hardware resources (CPU, memory, storage, network) and presents them as multiple isolated virtual instances.</a:t>
            </a:r>
          </a:p>
          <a:p>
            <a:pPr marL="0" indent="0">
              <a:buNone/>
            </a:pPr>
            <a:r>
              <a:rPr lang="en-US" sz="3200" b="1" dirty="0">
                <a:latin typeface="Times New Roman" panose="02020603050405020304" pitchFamily="18" charset="0"/>
                <a:cs typeface="Times New Roman" panose="02020603050405020304" pitchFamily="18" charset="0"/>
              </a:rPr>
              <a:t>Core goals:</a:t>
            </a:r>
            <a:endParaRPr lang="en-US" sz="3200" dirty="0">
              <a:latin typeface="Times New Roman" panose="02020603050405020304" pitchFamily="18" charset="0"/>
              <a:cs typeface="Times New Roman" panose="02020603050405020304" pitchFamily="18" charset="0"/>
            </a:endParaRPr>
          </a:p>
          <a:p>
            <a:pPr lvl="0"/>
            <a:r>
              <a:rPr lang="en-US" sz="3200" b="1" dirty="0">
                <a:latin typeface="Times New Roman" panose="02020603050405020304" pitchFamily="18" charset="0"/>
                <a:cs typeface="Times New Roman" panose="02020603050405020304" pitchFamily="18" charset="0"/>
              </a:rPr>
              <a:t>Decoupling</a:t>
            </a:r>
            <a:r>
              <a:rPr lang="en-US" sz="3200" dirty="0">
                <a:latin typeface="Times New Roman" panose="02020603050405020304" pitchFamily="18" charset="0"/>
                <a:cs typeface="Times New Roman" panose="02020603050405020304" pitchFamily="18" charset="0"/>
              </a:rPr>
              <a:t> – software no longer tied to specific hardware.</a:t>
            </a:r>
          </a:p>
          <a:p>
            <a:pPr lvl="0"/>
            <a:r>
              <a:rPr lang="en-US" sz="3200" b="1" dirty="0">
                <a:latin typeface="Times New Roman" panose="02020603050405020304" pitchFamily="18" charset="0"/>
                <a:cs typeface="Times New Roman" panose="02020603050405020304" pitchFamily="18" charset="0"/>
              </a:rPr>
              <a:t>Multiplexing</a:t>
            </a:r>
            <a:r>
              <a:rPr lang="en-US" sz="3200" dirty="0">
                <a:latin typeface="Times New Roman" panose="02020603050405020304" pitchFamily="18" charset="0"/>
                <a:cs typeface="Times New Roman" panose="02020603050405020304" pitchFamily="18" charset="0"/>
              </a:rPr>
              <a:t> – many guests share one physical host.</a:t>
            </a:r>
          </a:p>
          <a:p>
            <a:pPr lvl="0"/>
            <a:r>
              <a:rPr lang="en-US" sz="3200" b="1" dirty="0">
                <a:latin typeface="Times New Roman" panose="02020603050405020304" pitchFamily="18" charset="0"/>
                <a:cs typeface="Times New Roman" panose="02020603050405020304" pitchFamily="18" charset="0"/>
              </a:rPr>
              <a:t>Isolation</a:t>
            </a:r>
            <a:r>
              <a:rPr lang="en-US" sz="3200" dirty="0">
                <a:latin typeface="Times New Roman" panose="02020603050405020304" pitchFamily="18" charset="0"/>
                <a:cs typeface="Times New Roman" panose="02020603050405020304" pitchFamily="18" charset="0"/>
              </a:rPr>
              <a:t> – faults/attacks do not cross VM boundaries.</a:t>
            </a:r>
          </a:p>
          <a:p>
            <a:pPr lvl="0"/>
            <a:endParaRPr lang="en-US" sz="3200" dirty="0">
              <a:latin typeface="Times New Roman" panose="02020603050405020304" pitchFamily="18" charset="0"/>
              <a:cs typeface="Times New Roman" panose="02020603050405020304" pitchFamily="18" charset="0"/>
            </a:endParaRPr>
          </a:p>
          <a:p>
            <a:pPr marL="0" indent="0">
              <a:buNone/>
            </a:pPr>
            <a:r>
              <a:rPr lang="en" sz="3200" dirty="0">
                <a:solidFill>
                  <a:srgbClr val="000000"/>
                </a:solidFill>
                <a:latin typeface="Times New Roman" panose="02020603050405020304" pitchFamily="18" charset="0"/>
                <a:cs typeface="Times New Roman" panose="02020603050405020304" pitchFamily="18" charset="0"/>
              </a:rPr>
              <a:t>For example, we can run Windows OS on top of a virtual machine, which itself is running on Linux OS. </a:t>
            </a:r>
          </a:p>
          <a:p>
            <a:pPr marL="0" indent="0">
              <a:buNone/>
            </a:pPr>
            <a:r>
              <a:rPr lang="en" sz="3200" dirty="0">
                <a:solidFill>
                  <a:srgbClr val="000000"/>
                </a:solidFill>
                <a:latin typeface="Times New Roman" panose="02020603050405020304" pitchFamily="18" charset="0"/>
                <a:cs typeface="Times New Roman" panose="02020603050405020304" pitchFamily="18" charset="0"/>
              </a:rPr>
              <a:t>Virtualization provides a great opportunity to build elastically scalable systems that can provision additional capability with minimum costs.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878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heel(1)">
                                      <p:cBhvr>
                                        <p:cTn id="20" dur="20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randombar(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p:cTn id="36"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7"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8"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9" dur="10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 calcmode="lin" valueType="num">
                                      <p:cBhvr>
                                        <p:cTn id="44"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5"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6" dur="500"/>
                                        <p:tgtEl>
                                          <p:spTgt spid="3">
                                            <p:txEl>
                                              <p:pRg st="6" end="6"/>
                                            </p:txEl>
                                          </p:spTgt>
                                        </p:tgtEl>
                                      </p:cBhvr>
                                    </p:animEffect>
                                  </p:childTnLst>
                                </p:cTn>
                              </p:par>
                              <p:par>
                                <p:cTn id="47" presetID="53" presetClass="entr" presetSubtype="16" fill="hold"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p:cTn id="49"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B3B0A-C6A9-4649-AB99-99E3AE056607}"/>
              </a:ext>
            </a:extLst>
          </p:cNvPr>
          <p:cNvSpPr>
            <a:spLocks noGrp="1"/>
          </p:cNvSpPr>
          <p:nvPr>
            <p:ph type="title"/>
          </p:nvPr>
        </p:nvSpPr>
        <p:spPr>
          <a:xfrm>
            <a:off x="838200" y="365125"/>
            <a:ext cx="10515600" cy="1043545"/>
          </a:xfrm>
        </p:spPr>
        <p:txBody>
          <a:bodyPr>
            <a:normAutofit fontScale="90000"/>
          </a:bodyPr>
          <a:lstStyle/>
          <a:p>
            <a:pPr algn="ctr"/>
            <a:r>
              <a:rPr lang="en-US" sz="3600" dirty="0">
                <a:latin typeface="Arial Black" panose="020B0A04020102020204" pitchFamily="34" charset="0"/>
              </a:rPr>
              <a:t>CHARACTERISTICS OF VIRTUALISED ENVIRONMENT</a:t>
            </a:r>
          </a:p>
        </p:txBody>
      </p:sp>
      <p:sp>
        <p:nvSpPr>
          <p:cNvPr id="4" name="Google Shape;93;p19">
            <a:extLst>
              <a:ext uri="{FF2B5EF4-FFF2-40B4-BE49-F238E27FC236}">
                <a16:creationId xmlns:a16="http://schemas.microsoft.com/office/drawing/2014/main" id="{22EAEA7A-968F-4318-B705-DE76A54F4A09}"/>
              </a:ext>
            </a:extLst>
          </p:cNvPr>
          <p:cNvSpPr txBox="1">
            <a:spLocks noGrp="1"/>
          </p:cNvSpPr>
          <p:nvPr>
            <p:ph idx="1"/>
          </p:nvPr>
        </p:nvSpPr>
        <p:spPr>
          <a:xfrm>
            <a:off x="838200" y="1408669"/>
            <a:ext cx="10515600" cy="494270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solidFill>
                  <a:srgbClr val="000000"/>
                </a:solidFill>
                <a:latin typeface="Times New Roman" panose="02020603050405020304" pitchFamily="18" charset="0"/>
                <a:cs typeface="Times New Roman" panose="02020603050405020304" pitchFamily="18" charset="0"/>
              </a:rPr>
              <a:t>Virtualization is a broad concept that refers to the creation of a virtual version of something, whether hardware, a software environment, storage, or a network. In a virtualized environment there are three major components: </a:t>
            </a:r>
            <a:r>
              <a:rPr lang="en" b="1" i="1" dirty="0">
                <a:solidFill>
                  <a:srgbClr val="FF0000"/>
                </a:solidFill>
                <a:latin typeface="Times New Roman" panose="02020603050405020304" pitchFamily="18" charset="0"/>
                <a:cs typeface="Times New Roman" panose="02020603050405020304" pitchFamily="18" charset="0"/>
              </a:rPr>
              <a:t>guest, host, and virtualization layer.</a:t>
            </a:r>
            <a:endParaRPr b="1" i="1" dirty="0">
              <a:solidFill>
                <a:srgbClr val="FF0000"/>
              </a:solidFill>
              <a:latin typeface="Times New Roman" panose="02020603050405020304" pitchFamily="18" charset="0"/>
              <a:cs typeface="Times New Roman" panose="02020603050405020304" pitchFamily="18" charset="0"/>
            </a:endParaRPr>
          </a:p>
          <a:p>
            <a:pPr marL="0" lvl="0" indent="0" algn="just" rtl="0">
              <a:spcBef>
                <a:spcPts val="1600"/>
              </a:spcBef>
              <a:spcAft>
                <a:spcPts val="0"/>
              </a:spcAft>
              <a:buNone/>
            </a:pPr>
            <a:r>
              <a:rPr lang="en" dirty="0">
                <a:solidFill>
                  <a:srgbClr val="000000"/>
                </a:solidFill>
                <a:latin typeface="Times New Roman" panose="02020603050405020304" pitchFamily="18" charset="0"/>
                <a:cs typeface="Times New Roman" panose="02020603050405020304" pitchFamily="18" charset="0"/>
              </a:rPr>
              <a:t>The </a:t>
            </a:r>
            <a:r>
              <a:rPr lang="en" dirty="0">
                <a:solidFill>
                  <a:srgbClr val="FF0000"/>
                </a:solidFill>
                <a:latin typeface="Times New Roman" panose="02020603050405020304" pitchFamily="18" charset="0"/>
                <a:cs typeface="Times New Roman" panose="02020603050405020304" pitchFamily="18" charset="0"/>
              </a:rPr>
              <a:t>guest</a:t>
            </a:r>
            <a:r>
              <a:rPr lang="en" dirty="0">
                <a:solidFill>
                  <a:srgbClr val="000000"/>
                </a:solidFill>
                <a:latin typeface="Times New Roman" panose="02020603050405020304" pitchFamily="18" charset="0"/>
                <a:cs typeface="Times New Roman" panose="02020603050405020304" pitchFamily="18" charset="0"/>
              </a:rPr>
              <a:t> represents the system component that interacts with the virtualization layer rather than with the host, as would normally happen. The </a:t>
            </a:r>
            <a:r>
              <a:rPr lang="en" dirty="0">
                <a:solidFill>
                  <a:srgbClr val="FF0000"/>
                </a:solidFill>
                <a:latin typeface="Times New Roman" panose="02020603050405020304" pitchFamily="18" charset="0"/>
                <a:cs typeface="Times New Roman" panose="02020603050405020304" pitchFamily="18" charset="0"/>
              </a:rPr>
              <a:t>host</a:t>
            </a:r>
            <a:r>
              <a:rPr lang="en" dirty="0">
                <a:solidFill>
                  <a:srgbClr val="000000"/>
                </a:solidFill>
                <a:latin typeface="Times New Roman" panose="02020603050405020304" pitchFamily="18" charset="0"/>
                <a:cs typeface="Times New Roman" panose="02020603050405020304" pitchFamily="18" charset="0"/>
              </a:rPr>
              <a:t> represents the original environment where the guest is supposed to be managed. </a:t>
            </a:r>
          </a:p>
          <a:p>
            <a:pPr marL="0" lvl="0" indent="0" algn="just" rtl="0">
              <a:spcBef>
                <a:spcPts val="1600"/>
              </a:spcBef>
              <a:spcAft>
                <a:spcPts val="0"/>
              </a:spcAft>
              <a:buNone/>
            </a:pPr>
            <a:r>
              <a:rPr lang="en" dirty="0">
                <a:solidFill>
                  <a:srgbClr val="000000"/>
                </a:solidFill>
                <a:latin typeface="Times New Roman" panose="02020603050405020304" pitchFamily="18" charset="0"/>
                <a:cs typeface="Times New Roman" panose="02020603050405020304" pitchFamily="18" charset="0"/>
              </a:rPr>
              <a:t>The </a:t>
            </a:r>
            <a:r>
              <a:rPr lang="en" dirty="0">
                <a:solidFill>
                  <a:srgbClr val="FF0000"/>
                </a:solidFill>
                <a:latin typeface="Times New Roman" panose="02020603050405020304" pitchFamily="18" charset="0"/>
                <a:cs typeface="Times New Roman" panose="02020603050405020304" pitchFamily="18" charset="0"/>
              </a:rPr>
              <a:t>virtualization layer</a:t>
            </a:r>
            <a:r>
              <a:rPr lang="en" dirty="0">
                <a:solidFill>
                  <a:srgbClr val="000000"/>
                </a:solidFill>
                <a:latin typeface="Times New Roman" panose="02020603050405020304" pitchFamily="18" charset="0"/>
                <a:cs typeface="Times New Roman" panose="02020603050405020304" pitchFamily="18" charset="0"/>
              </a:rPr>
              <a:t> is responsible for recreating the same or a different environment where the guest will operate. </a:t>
            </a:r>
            <a:endParaRPr dirty="0">
              <a:solidFill>
                <a:srgbClr val="000000"/>
              </a:solidFill>
              <a:latin typeface="Times New Roman" panose="02020603050405020304" pitchFamily="18" charset="0"/>
              <a:cs typeface="Times New Roman" panose="02020603050405020304" pitchFamily="18" charset="0"/>
            </a:endParaRPr>
          </a:p>
          <a:p>
            <a:pPr marL="0" lvl="0" indent="0" algn="just" rtl="0">
              <a:spcBef>
                <a:spcPts val="1600"/>
              </a:spcBef>
              <a:spcAft>
                <a:spcPts val="1600"/>
              </a:spcAft>
              <a:buNone/>
            </a:pPr>
            <a:endParaRPr dirty="0">
              <a:solidFill>
                <a:srgbClr val="FF0000"/>
              </a:solidFill>
            </a:endParaRPr>
          </a:p>
        </p:txBody>
      </p:sp>
    </p:spTree>
    <p:extLst>
      <p:ext uri="{BB962C8B-B14F-4D97-AF65-F5344CB8AC3E}">
        <p14:creationId xmlns:p14="http://schemas.microsoft.com/office/powerpoint/2010/main" val="23388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1000"/>
                                        <p:tgtEl>
                                          <p:spTgt spid="4">
                                            <p:txEl>
                                              <p:pRg st="1" end="1"/>
                                            </p:txEl>
                                          </p:spTgt>
                                        </p:tgtEl>
                                      </p:cBhvr>
                                    </p:animEffect>
                                    <p:anim calcmode="lin" valueType="num">
                                      <p:cBhvr>
                                        <p:cTn id="1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arn(inVertical)">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E7D0C7E-CB9F-4978-8F48-05054DEC7611}"/>
              </a:ext>
            </a:extLst>
          </p:cNvPr>
          <p:cNvPicPr>
            <a:picLocks noGrp="1" noChangeAspect="1"/>
          </p:cNvPicPr>
          <p:nvPr>
            <p:ph idx="1"/>
          </p:nvPr>
        </p:nvPicPr>
        <p:blipFill>
          <a:blip r:embed="rId2"/>
          <a:stretch>
            <a:fillRect/>
          </a:stretch>
        </p:blipFill>
        <p:spPr>
          <a:xfrm>
            <a:off x="3261397" y="1825625"/>
            <a:ext cx="5669206" cy="4351338"/>
          </a:xfrm>
          <a:prstGeom prst="rect">
            <a:avLst/>
          </a:prstGeom>
        </p:spPr>
      </p:pic>
      <p:pic>
        <p:nvPicPr>
          <p:cNvPr id="7" name="Picture 6">
            <a:extLst>
              <a:ext uri="{FF2B5EF4-FFF2-40B4-BE49-F238E27FC236}">
                <a16:creationId xmlns:a16="http://schemas.microsoft.com/office/drawing/2014/main" id="{A3901B65-561B-4C00-BCFA-79A86BB08589}"/>
              </a:ext>
            </a:extLst>
          </p:cNvPr>
          <p:cNvPicPr/>
          <p:nvPr/>
        </p:nvPicPr>
        <p:blipFill rotWithShape="1">
          <a:blip r:embed="rId3"/>
          <a:srcRect l="23718" t="23185" r="29487" b="14481"/>
          <a:stretch/>
        </p:blipFill>
        <p:spPr bwMode="auto">
          <a:xfrm>
            <a:off x="755374" y="298175"/>
            <a:ext cx="10436087" cy="601372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0551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114A-84B9-4389-848F-7F51FF304D49}"/>
              </a:ext>
            </a:extLst>
          </p:cNvPr>
          <p:cNvSpPr>
            <a:spLocks noGrp="1"/>
          </p:cNvSpPr>
          <p:nvPr>
            <p:ph type="title"/>
          </p:nvPr>
        </p:nvSpPr>
        <p:spPr>
          <a:xfrm>
            <a:off x="838200" y="365126"/>
            <a:ext cx="10515600" cy="796410"/>
          </a:xfrm>
        </p:spPr>
        <p:txBody>
          <a:bodyPr>
            <a:normAutofit/>
          </a:bodyPr>
          <a:lstStyle/>
          <a:p>
            <a:r>
              <a:rPr lang="en-US" sz="3600" dirty="0">
                <a:latin typeface="Arial Black" panose="020B0A04020102020204" pitchFamily="34" charset="0"/>
              </a:rPr>
              <a:t>VIRTUALIZATION REFERENCE MODEL</a:t>
            </a:r>
          </a:p>
        </p:txBody>
      </p:sp>
      <p:sp>
        <p:nvSpPr>
          <p:cNvPr id="3" name="Content Placeholder 2">
            <a:extLst>
              <a:ext uri="{FF2B5EF4-FFF2-40B4-BE49-F238E27FC236}">
                <a16:creationId xmlns:a16="http://schemas.microsoft.com/office/drawing/2014/main" id="{4ED1AD13-8D6E-4E13-BD1A-1BC1257348D0}"/>
              </a:ext>
            </a:extLst>
          </p:cNvPr>
          <p:cNvSpPr>
            <a:spLocks noGrp="1"/>
          </p:cNvSpPr>
          <p:nvPr>
            <p:ph idx="1"/>
          </p:nvPr>
        </p:nvSpPr>
        <p:spPr>
          <a:xfrm>
            <a:off x="506627" y="1161536"/>
            <a:ext cx="11121081" cy="5474042"/>
          </a:xfrm>
        </p:spPr>
        <p:txBody>
          <a:bodyPr>
            <a:normAutofit fontScale="92500" lnSpcReduction="20000"/>
          </a:bodyPr>
          <a:lstStyle/>
          <a:p>
            <a:pPr lvl="0"/>
            <a:r>
              <a:rPr lang="en-US" b="1" dirty="0">
                <a:latin typeface="Times New Roman" panose="02020603050405020304" pitchFamily="18" charset="0"/>
                <a:cs typeface="Times New Roman" panose="02020603050405020304" pitchFamily="18" charset="0"/>
              </a:rPr>
              <a:t>Guest</a:t>
            </a:r>
            <a:r>
              <a:rPr lang="en-US" dirty="0">
                <a:latin typeface="Times New Roman" panose="02020603050405020304" pitchFamily="18" charset="0"/>
                <a:cs typeface="Times New Roman" panose="02020603050405020304" pitchFamily="18" charset="0"/>
              </a:rPr>
              <a:t> – virtual machine consisting of OS + applications. Believes it owns real hardware.</a:t>
            </a:r>
          </a:p>
          <a:p>
            <a:pPr lvl="0"/>
            <a:r>
              <a:rPr lang="en-US" b="1" dirty="0">
                <a:latin typeface="Times New Roman" panose="02020603050405020304" pitchFamily="18" charset="0"/>
                <a:cs typeface="Times New Roman" panose="02020603050405020304" pitchFamily="18" charset="0"/>
              </a:rPr>
              <a:t>Host</a:t>
            </a:r>
            <a:r>
              <a:rPr lang="en-US" dirty="0">
                <a:latin typeface="Times New Roman" panose="02020603050405020304" pitchFamily="18" charset="0"/>
                <a:cs typeface="Times New Roman" panose="02020603050405020304" pitchFamily="18" charset="0"/>
              </a:rPr>
              <a:t> – physical hardware (CPU, RAM, disks, NICs) + possibly a host OS (in Type 2).</a:t>
            </a:r>
          </a:p>
          <a:p>
            <a:pPr lvl="0"/>
            <a:r>
              <a:rPr lang="en-US" b="1" dirty="0">
                <a:latin typeface="Times New Roman" panose="02020603050405020304" pitchFamily="18" charset="0"/>
                <a:cs typeface="Times New Roman" panose="02020603050405020304" pitchFamily="18" charset="0"/>
              </a:rPr>
              <a:t>Hypervisor (VMM)</a:t>
            </a:r>
            <a:r>
              <a:rPr lang="en-US" dirty="0">
                <a:latin typeface="Times New Roman" panose="02020603050405020304" pitchFamily="18" charset="0"/>
                <a:cs typeface="Times New Roman" panose="02020603050405020304" pitchFamily="18" charset="0"/>
              </a:rPr>
              <a:t> – software/firmware that arbitrates all guest access to hardware.</a:t>
            </a:r>
          </a:p>
          <a:p>
            <a:pPr marL="0" indent="0">
              <a:buNone/>
            </a:pPr>
            <a:r>
              <a:rPr lang="en-US" b="1" dirty="0">
                <a:latin typeface="Times New Roman" panose="02020603050405020304" pitchFamily="18" charset="0"/>
                <a:cs typeface="Times New Roman" panose="02020603050405020304" pitchFamily="18" charset="0"/>
              </a:rPr>
              <a:t>Critical functions of hypervisor:</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Traps privileged instructions from guest.</a:t>
            </a:r>
          </a:p>
          <a:p>
            <a:pPr lvl="0"/>
            <a:r>
              <a:rPr lang="en-US" dirty="0">
                <a:latin typeface="Times New Roman" panose="02020603050405020304" pitchFamily="18" charset="0"/>
                <a:cs typeface="Times New Roman" panose="02020603050405020304" pitchFamily="18" charset="0"/>
              </a:rPr>
              <a:t>Emulates sensitive instructions.</a:t>
            </a:r>
          </a:p>
          <a:p>
            <a:pPr lvl="0"/>
            <a:r>
              <a:rPr lang="en-US" dirty="0">
                <a:latin typeface="Times New Roman" panose="02020603050405020304" pitchFamily="18" charset="0"/>
                <a:cs typeface="Times New Roman" panose="02020603050405020304" pitchFamily="18" charset="0"/>
              </a:rPr>
              <a:t>Manages physical memory mapping (Shadow Page Tables or NPT/EPT).</a:t>
            </a:r>
          </a:p>
          <a:p>
            <a:pPr lvl="0"/>
            <a:r>
              <a:rPr lang="en-US" dirty="0">
                <a:latin typeface="Times New Roman" panose="02020603050405020304" pitchFamily="18" charset="0"/>
                <a:cs typeface="Times New Roman" panose="02020603050405020304" pitchFamily="18" charset="0"/>
              </a:rPr>
              <a:t>Schedules guest CPU time.</a:t>
            </a:r>
          </a:p>
          <a:p>
            <a:r>
              <a:rPr lang="en-US" i="1" dirty="0">
                <a:latin typeface="Times New Roman" panose="02020603050405020304" pitchFamily="18" charset="0"/>
                <a:cs typeface="Times New Roman" panose="02020603050405020304" pitchFamily="18" charset="0"/>
              </a:rPr>
              <a:t>Example: When a guest VM tries to disable interrupts (CLI instruction), the hypervisor intercepts it and emulates the effect without actually changing host CPU state.</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1900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wipe(down)">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circle(in)">
                                      <p:cBhvr>
                                        <p:cTn id="48" dur="2000"/>
                                        <p:tgtEl>
                                          <p:spTgt spid="3">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1000"/>
                                        <p:tgtEl>
                                          <p:spTgt spid="3">
                                            <p:txEl>
                                              <p:pRg st="7" end="7"/>
                                            </p:txEl>
                                          </p:spTgt>
                                        </p:tgtEl>
                                      </p:cBhvr>
                                    </p:animEffect>
                                    <p:anim calcmode="lin" valueType="num">
                                      <p:cBhvr>
                                        <p:cTn id="5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Effect transition="in" filter="fade">
                                      <p:cBhvr>
                                        <p:cTn id="60" dur="1000"/>
                                        <p:tgtEl>
                                          <p:spTgt spid="3">
                                            <p:txEl>
                                              <p:pRg st="8" end="8"/>
                                            </p:txEl>
                                          </p:spTgt>
                                        </p:tgtEl>
                                      </p:cBhvr>
                                    </p:animEffect>
                                    <p:anim calcmode="lin" valueType="num">
                                      <p:cBhvr>
                                        <p:cTn id="6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4ED7F-D6BF-4A6D-A1F1-1AF9F08DE40F}"/>
              </a:ext>
            </a:extLst>
          </p:cNvPr>
          <p:cNvSpPr>
            <a:spLocks noGrp="1"/>
          </p:cNvSpPr>
          <p:nvPr>
            <p:ph type="title"/>
          </p:nvPr>
        </p:nvSpPr>
        <p:spPr>
          <a:xfrm>
            <a:off x="838200" y="365125"/>
            <a:ext cx="10515600" cy="870551"/>
          </a:xfrm>
        </p:spPr>
        <p:txBody>
          <a:bodyPr>
            <a:normAutofit/>
          </a:bodyPr>
          <a:lstStyle/>
          <a:p>
            <a:pPr algn="ctr"/>
            <a:r>
              <a:rPr lang="en-US" sz="3600" dirty="0">
                <a:latin typeface="Arial Black" panose="020B0A04020102020204" pitchFamily="34" charset="0"/>
              </a:rPr>
              <a:t>ADVANTAGES OF VIRTUALIZATION</a:t>
            </a:r>
          </a:p>
        </p:txBody>
      </p:sp>
      <p:sp>
        <p:nvSpPr>
          <p:cNvPr id="3" name="Content Placeholder 2">
            <a:extLst>
              <a:ext uri="{FF2B5EF4-FFF2-40B4-BE49-F238E27FC236}">
                <a16:creationId xmlns:a16="http://schemas.microsoft.com/office/drawing/2014/main" id="{57864956-1B00-4445-94FD-61E4C5DF96BC}"/>
              </a:ext>
            </a:extLst>
          </p:cNvPr>
          <p:cNvSpPr>
            <a:spLocks noGrp="1"/>
          </p:cNvSpPr>
          <p:nvPr>
            <p:ph idx="1"/>
          </p:nvPr>
        </p:nvSpPr>
        <p:spPr>
          <a:xfrm>
            <a:off x="506627" y="1235675"/>
            <a:ext cx="11133438" cy="5257199"/>
          </a:xfrm>
        </p:spPr>
        <p:txBody>
          <a:bodyPr>
            <a:normAutofit/>
          </a:bodyPr>
          <a:lstStyle/>
          <a:p>
            <a:pPr marL="0" indent="0">
              <a:buNone/>
            </a:pPr>
            <a:r>
              <a:rPr lang="en-US" b="1" dirty="0"/>
              <a:t> </a:t>
            </a:r>
            <a:r>
              <a:rPr lang="en-US" b="1" dirty="0">
                <a:latin typeface="Times New Roman" panose="02020603050405020304" pitchFamily="18" charset="0"/>
                <a:cs typeface="Times New Roman" panose="02020603050405020304" pitchFamily="18" charset="0"/>
              </a:rPr>
              <a:t>Enhanced Security</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Hypervisor runs at higher privilege level (Ring -1) than guest OS (Ring 0).</a:t>
            </a:r>
          </a:p>
          <a:p>
            <a:pPr lvl="0"/>
            <a:r>
              <a:rPr lang="en-US" dirty="0">
                <a:latin typeface="Times New Roman" panose="02020603050405020304" pitchFamily="18" charset="0"/>
                <a:cs typeface="Times New Roman" panose="02020603050405020304" pitchFamily="18" charset="0"/>
              </a:rPr>
              <a:t>Each VM is a sandbox – malicious code inside VM cannot break out to hypervisor or other VMs without a hypervisor escape (rare, patched quickly).</a:t>
            </a:r>
          </a:p>
          <a:p>
            <a:pPr lvl="0"/>
            <a:r>
              <a:rPr lang="en-US" dirty="0">
                <a:latin typeface="Times New Roman" panose="02020603050405020304" pitchFamily="18" charset="0"/>
                <a:cs typeface="Times New Roman" panose="02020603050405020304" pitchFamily="18" charset="0"/>
              </a:rPr>
              <a:t>Hardware security features encrypt VM memory even from hypervisor.</a:t>
            </a:r>
          </a:p>
          <a:p>
            <a:r>
              <a:rPr lang="en-US" i="1" dirty="0">
                <a:latin typeface="Times New Roman" panose="02020603050405020304" pitchFamily="18" charset="0"/>
                <a:cs typeface="Times New Roman" panose="02020603050405020304" pitchFamily="18" charset="0"/>
              </a:rPr>
              <a:t>Example: A cloud provider runs customer VMs. Even if one customer’s VM is rooted, the attacker cannot access another customer’s VM or the hypervisor’s management interface.</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7853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wipe(down)">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arn(inVertical)">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barn(inVertical)">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5ECFE-51C2-4894-98A2-12D53A85A8B8}"/>
              </a:ext>
            </a:extLst>
          </p:cNvPr>
          <p:cNvSpPr>
            <a:spLocks noGrp="1"/>
          </p:cNvSpPr>
          <p:nvPr>
            <p:ph type="title"/>
          </p:nvPr>
        </p:nvSpPr>
        <p:spPr>
          <a:xfrm>
            <a:off x="838200" y="365125"/>
            <a:ext cx="10515600" cy="771697"/>
          </a:xfrm>
        </p:spPr>
        <p:txBody>
          <a:bodyPr>
            <a:normAutofit/>
          </a:bodyPr>
          <a:lstStyle/>
          <a:p>
            <a:r>
              <a:rPr lang="en-US" sz="3600" dirty="0">
                <a:latin typeface="Arial Black" panose="020B0A04020102020204" pitchFamily="34" charset="0"/>
              </a:rPr>
              <a:t>ADVANTAGES OF VIRTUALIZATION</a:t>
            </a:r>
          </a:p>
        </p:txBody>
      </p:sp>
      <p:pic>
        <p:nvPicPr>
          <p:cNvPr id="4" name="Google Shape;138;p26">
            <a:extLst>
              <a:ext uri="{FF2B5EF4-FFF2-40B4-BE49-F238E27FC236}">
                <a16:creationId xmlns:a16="http://schemas.microsoft.com/office/drawing/2014/main" id="{64547C4A-7B47-4106-8F94-AD0178C137B5}"/>
              </a:ext>
            </a:extLst>
          </p:cNvPr>
          <p:cNvPicPr preferRelativeResize="0">
            <a:picLocks noGrp="1"/>
          </p:cNvPicPr>
          <p:nvPr>
            <p:ph idx="1"/>
          </p:nvPr>
        </p:nvPicPr>
        <p:blipFill>
          <a:blip r:embed="rId2">
            <a:alphaModFix/>
          </a:blip>
          <a:stretch>
            <a:fillRect/>
          </a:stretch>
        </p:blipFill>
        <p:spPr>
          <a:xfrm>
            <a:off x="477077" y="1136822"/>
            <a:ext cx="11496619" cy="5461686"/>
          </a:xfrm>
          <a:prstGeom prst="rect">
            <a:avLst/>
          </a:prstGeom>
          <a:noFill/>
          <a:ln>
            <a:noFill/>
          </a:ln>
        </p:spPr>
      </p:pic>
    </p:spTree>
    <p:extLst>
      <p:ext uri="{BB962C8B-B14F-4D97-AF65-F5344CB8AC3E}">
        <p14:creationId xmlns:p14="http://schemas.microsoft.com/office/powerpoint/2010/main" val="6459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30EB-EE62-468E-A21B-E8356DC8E1F7}"/>
              </a:ext>
            </a:extLst>
          </p:cNvPr>
          <p:cNvSpPr>
            <a:spLocks noGrp="1"/>
          </p:cNvSpPr>
          <p:nvPr>
            <p:ph type="title"/>
          </p:nvPr>
        </p:nvSpPr>
        <p:spPr>
          <a:xfrm>
            <a:off x="838200" y="365125"/>
            <a:ext cx="10515600" cy="907621"/>
          </a:xfrm>
        </p:spPr>
        <p:txBody>
          <a:bodyPr>
            <a:normAutofit/>
          </a:bodyPr>
          <a:lstStyle/>
          <a:p>
            <a:r>
              <a:rPr lang="en-US" sz="4000" dirty="0">
                <a:latin typeface="Arial Black" panose="020B0A04020102020204" pitchFamily="34" charset="0"/>
              </a:rPr>
              <a:t>ADVANTAGES OF VIRTUALIZATION</a:t>
            </a:r>
          </a:p>
        </p:txBody>
      </p:sp>
      <p:sp>
        <p:nvSpPr>
          <p:cNvPr id="3" name="Content Placeholder 2">
            <a:extLst>
              <a:ext uri="{FF2B5EF4-FFF2-40B4-BE49-F238E27FC236}">
                <a16:creationId xmlns:a16="http://schemas.microsoft.com/office/drawing/2014/main" id="{4155EA5C-D21A-42A4-844B-DFD3AD451D74}"/>
              </a:ext>
            </a:extLst>
          </p:cNvPr>
          <p:cNvSpPr>
            <a:spLocks noGrp="1"/>
          </p:cNvSpPr>
          <p:nvPr>
            <p:ph idx="1"/>
          </p:nvPr>
        </p:nvSpPr>
        <p:spPr>
          <a:xfrm>
            <a:off x="407773" y="1253330"/>
            <a:ext cx="11207578" cy="5406961"/>
          </a:xfrm>
        </p:spPr>
        <p:txBody>
          <a:bodyPr/>
          <a:lstStyle/>
          <a:p>
            <a:r>
              <a:rPr lang="en-US" b="1" dirty="0">
                <a:latin typeface="Times New Roman" panose="02020603050405020304" pitchFamily="18" charset="0"/>
                <a:cs typeface="Times New Roman" panose="02020603050405020304" pitchFamily="18" charset="0"/>
              </a:rPr>
              <a:t>Managed Execution: Sharing &amp; Aggregation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Sharing (multi-tenancy):</a:t>
            </a:r>
            <a:r>
              <a:rPr lang="en-US" dirty="0">
                <a:latin typeface="Times New Roman" panose="02020603050405020304" pitchFamily="18" charset="0"/>
                <a:cs typeface="Times New Roman" panose="02020603050405020304" pitchFamily="18" charset="0"/>
              </a:rPr>
              <a:t> One physical host runs dozens of VMs. Hypervisor shares CPU cores via time-slicing, RAM via overcommitment, and I/O via queues.</a:t>
            </a:r>
          </a:p>
          <a:p>
            <a:r>
              <a:rPr lang="en-US" b="1" dirty="0">
                <a:latin typeface="Times New Roman" panose="02020603050405020304" pitchFamily="18" charset="0"/>
                <a:cs typeface="Times New Roman" panose="02020603050405020304" pitchFamily="18" charset="0"/>
              </a:rPr>
              <a:t>Aggregation (clustering):</a:t>
            </a:r>
            <a:r>
              <a:rPr lang="en-US" dirty="0">
                <a:latin typeface="Times New Roman" panose="02020603050405020304" pitchFamily="18" charset="0"/>
                <a:cs typeface="Times New Roman" panose="02020603050405020304" pitchFamily="18" charset="0"/>
              </a:rPr>
              <a:t> Multiple physical hosts appear as one logical resource pool using distributed resource scheduler (DRS) – e.g., VMware vSphere, OpenStack.</a:t>
            </a:r>
          </a:p>
          <a:p>
            <a:r>
              <a:rPr lang="en-US" i="1" dirty="0">
                <a:latin typeface="Times New Roman" panose="02020603050405020304" pitchFamily="18" charset="0"/>
                <a:cs typeface="Times New Roman" panose="02020603050405020304" pitchFamily="18" charset="0"/>
              </a:rPr>
              <a:t>Example: A Hadoop cluster of 20 physical machines is aggregated into a single virtual data lake; users submit jobs without knowing which physical node runs them.</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3332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3E4B5-9EC8-4513-8DF4-B09C4C88EADF}"/>
              </a:ext>
            </a:extLst>
          </p:cNvPr>
          <p:cNvSpPr>
            <a:spLocks noGrp="1"/>
          </p:cNvSpPr>
          <p:nvPr>
            <p:ph type="title"/>
          </p:nvPr>
        </p:nvSpPr>
        <p:spPr>
          <a:xfrm>
            <a:off x="838200" y="365126"/>
            <a:ext cx="10515600" cy="895264"/>
          </a:xfrm>
        </p:spPr>
        <p:txBody>
          <a:bodyPr>
            <a:normAutofit/>
          </a:bodyPr>
          <a:lstStyle/>
          <a:p>
            <a:r>
              <a:rPr lang="en-US" sz="4000" dirty="0">
                <a:latin typeface="Arial Black" panose="020B0A04020102020204" pitchFamily="34" charset="0"/>
              </a:rPr>
              <a:t>ADVANTAGES OF VIRTUALIZATION</a:t>
            </a:r>
          </a:p>
        </p:txBody>
      </p:sp>
      <p:sp>
        <p:nvSpPr>
          <p:cNvPr id="3" name="Content Placeholder 2">
            <a:extLst>
              <a:ext uri="{FF2B5EF4-FFF2-40B4-BE49-F238E27FC236}">
                <a16:creationId xmlns:a16="http://schemas.microsoft.com/office/drawing/2014/main" id="{75F48F17-1797-4E81-87BC-5C7FA9CDCB16}"/>
              </a:ext>
            </a:extLst>
          </p:cNvPr>
          <p:cNvSpPr>
            <a:spLocks noGrp="1"/>
          </p:cNvSpPr>
          <p:nvPr>
            <p:ph idx="1"/>
          </p:nvPr>
        </p:nvSpPr>
        <p:spPr>
          <a:xfrm>
            <a:off x="628135" y="1253330"/>
            <a:ext cx="10515600" cy="5239543"/>
          </a:xfrm>
        </p:spPr>
        <p:txBody>
          <a:bodyPr/>
          <a:lstStyle/>
          <a:p>
            <a:r>
              <a:rPr lang="en-US" b="1" dirty="0">
                <a:latin typeface="Times New Roman" panose="02020603050405020304" pitchFamily="18" charset="0"/>
                <a:cs typeface="Times New Roman" panose="02020603050405020304" pitchFamily="18" charset="0"/>
              </a:rPr>
              <a:t>Managed Execution: Emulation &amp; Isolation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Emulation:</a:t>
            </a:r>
            <a:r>
              <a:rPr lang="en-US" dirty="0">
                <a:latin typeface="Times New Roman" panose="02020603050405020304" pitchFamily="18" charset="0"/>
                <a:cs typeface="Times New Roman" panose="02020603050405020304" pitchFamily="18" charset="0"/>
              </a:rPr>
              <a:t> Simulates hardware that does not exist physically (e.g., ARM on x86, old PCI devices)..</a:t>
            </a:r>
          </a:p>
          <a:p>
            <a:r>
              <a:rPr lang="en-US" b="1" dirty="0">
                <a:latin typeface="Times New Roman" panose="02020603050405020304" pitchFamily="18" charset="0"/>
                <a:cs typeface="Times New Roman" panose="02020603050405020304" pitchFamily="18" charset="0"/>
              </a:rPr>
              <a:t>Isolation:</a:t>
            </a:r>
            <a:r>
              <a:rPr lang="en-US" dirty="0">
                <a:latin typeface="Times New Roman" panose="02020603050405020304" pitchFamily="18" charset="0"/>
                <a:cs typeface="Times New Roman" panose="02020603050405020304" pitchFamily="18" charset="0"/>
              </a:rPr>
              <a:t> Faults in one VM (kernel panic, infinite loop) cannot crash other VMs or host. Hypervisor enforces memory protection and CPU limits.</a:t>
            </a:r>
          </a:p>
          <a:p>
            <a:r>
              <a:rPr lang="en-US" i="1" dirty="0">
                <a:latin typeface="Times New Roman" panose="02020603050405020304" pitchFamily="18" charset="0"/>
                <a:cs typeface="Times New Roman" panose="02020603050405020304" pitchFamily="18" charset="0"/>
              </a:rPr>
              <a:t>Example: A QA team tests a buggy Windows driver inside a VM. The driver causes a BSOD inside the VM, but the hypervisor continues running unaffected.</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857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circle(in)">
                                      <p:cBhvr>
                                        <p:cTn id="25"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BD94B-9196-454F-99C3-8E059506DCC4}"/>
              </a:ext>
            </a:extLst>
          </p:cNvPr>
          <p:cNvSpPr>
            <a:spLocks noGrp="1"/>
          </p:cNvSpPr>
          <p:nvPr>
            <p:ph type="title"/>
          </p:nvPr>
        </p:nvSpPr>
        <p:spPr>
          <a:xfrm>
            <a:off x="838200" y="365125"/>
            <a:ext cx="10515600" cy="808767"/>
          </a:xfrm>
        </p:spPr>
        <p:txBody>
          <a:bodyPr>
            <a:normAutofit/>
          </a:bodyPr>
          <a:lstStyle/>
          <a:p>
            <a:r>
              <a:rPr lang="en-US" sz="4000" dirty="0">
                <a:latin typeface="Arial Black" panose="020B0A04020102020204" pitchFamily="34" charset="0"/>
              </a:rPr>
              <a:t>ADVANTAGES OF VIRTUALIZATION</a:t>
            </a:r>
          </a:p>
        </p:txBody>
      </p:sp>
      <p:sp>
        <p:nvSpPr>
          <p:cNvPr id="3" name="Content Placeholder 2">
            <a:extLst>
              <a:ext uri="{FF2B5EF4-FFF2-40B4-BE49-F238E27FC236}">
                <a16:creationId xmlns:a16="http://schemas.microsoft.com/office/drawing/2014/main" id="{9BD01D7D-A9A7-4A91-8276-451FD00FB023}"/>
              </a:ext>
            </a:extLst>
          </p:cNvPr>
          <p:cNvSpPr>
            <a:spLocks noGrp="1"/>
          </p:cNvSpPr>
          <p:nvPr>
            <p:ph idx="1"/>
          </p:nvPr>
        </p:nvSpPr>
        <p:spPr>
          <a:xfrm>
            <a:off x="677562" y="1173892"/>
            <a:ext cx="10515600" cy="4351338"/>
          </a:xfrm>
        </p:spPr>
        <p:txBody>
          <a:bodyPr/>
          <a:lstStyle/>
          <a:p>
            <a:r>
              <a:rPr lang="en-US" b="1" dirty="0"/>
              <a:t>Advantage: Portability &amp; Live Migration</a:t>
            </a:r>
            <a:endParaRPr lang="en-US" dirty="0"/>
          </a:p>
          <a:p>
            <a:r>
              <a:rPr lang="en-US" b="1" dirty="0"/>
              <a:t>Portability:</a:t>
            </a:r>
            <a:r>
              <a:rPr lang="en-US" dirty="0"/>
              <a:t> VM encapsulated as files (disk image, config, NVRAM). Can be copied, moved, or backed up like any file.</a:t>
            </a:r>
          </a:p>
          <a:p>
            <a:r>
              <a:rPr lang="en-US" b="1" dirty="0"/>
              <a:t>Live migration (</a:t>
            </a:r>
            <a:r>
              <a:rPr lang="en-US" b="1" dirty="0" err="1"/>
              <a:t>vMotion</a:t>
            </a:r>
            <a:r>
              <a:rPr lang="en-US" b="1" dirty="0"/>
              <a:t>, KVM live migration):</a:t>
            </a:r>
            <a:r>
              <a:rPr lang="en-US" dirty="0"/>
              <a:t> Move a running VM from one physical host to another with zero downtime. Memory pages are copied iteratively; CPU state transferred at the end.</a:t>
            </a:r>
          </a:p>
          <a:p>
            <a:r>
              <a:rPr lang="en-US" i="1" dirty="0"/>
              <a:t>Example: A physical server needs firmware update. Administrators live‑migrate all 30 VMs to another host, then update the empty server. No user interruption</a:t>
            </a:r>
            <a:endParaRPr lang="en-US" dirty="0"/>
          </a:p>
        </p:txBody>
      </p:sp>
    </p:spTree>
    <p:extLst>
      <p:ext uri="{BB962C8B-B14F-4D97-AF65-F5344CB8AC3E}">
        <p14:creationId xmlns:p14="http://schemas.microsoft.com/office/powerpoint/2010/main" val="120271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DF379-0A2F-4408-A17B-A1C5E59A9F00}"/>
              </a:ext>
            </a:extLst>
          </p:cNvPr>
          <p:cNvSpPr>
            <a:spLocks noGrp="1"/>
          </p:cNvSpPr>
          <p:nvPr>
            <p:ph type="title"/>
          </p:nvPr>
        </p:nvSpPr>
        <p:spPr>
          <a:xfrm>
            <a:off x="838200" y="178905"/>
            <a:ext cx="10515600" cy="735495"/>
          </a:xfrm>
        </p:spPr>
        <p:txBody>
          <a:bodyPr>
            <a:noAutofit/>
          </a:bodyPr>
          <a:lstStyle/>
          <a:p>
            <a:r>
              <a:rPr lang="en-US" sz="2800" dirty="0">
                <a:latin typeface="Arial Black" panose="020B0A04020102020204" pitchFamily="34" charset="0"/>
              </a:rPr>
              <a:t>TAXONOMY OF VIRTUALIZATION TECHNIQUES</a:t>
            </a:r>
          </a:p>
        </p:txBody>
      </p:sp>
      <p:pic>
        <p:nvPicPr>
          <p:cNvPr id="6" name="Google Shape;181;p33">
            <a:extLst>
              <a:ext uri="{FF2B5EF4-FFF2-40B4-BE49-F238E27FC236}">
                <a16:creationId xmlns:a16="http://schemas.microsoft.com/office/drawing/2014/main" id="{671F6462-E5DD-4B7D-ABF3-6949443CA2F8}"/>
              </a:ext>
            </a:extLst>
          </p:cNvPr>
          <p:cNvPicPr preferRelativeResize="0">
            <a:picLocks noGrp="1"/>
          </p:cNvPicPr>
          <p:nvPr>
            <p:ph idx="1"/>
          </p:nvPr>
        </p:nvPicPr>
        <p:blipFill>
          <a:blip r:embed="rId2">
            <a:alphaModFix/>
          </a:blip>
          <a:stretch>
            <a:fillRect/>
          </a:stretch>
        </p:blipFill>
        <p:spPr>
          <a:xfrm>
            <a:off x="417442" y="914400"/>
            <a:ext cx="10936358" cy="5764695"/>
          </a:xfrm>
          <a:prstGeom prst="rect">
            <a:avLst/>
          </a:prstGeom>
          <a:noFill/>
          <a:ln>
            <a:noFill/>
          </a:ln>
        </p:spPr>
      </p:pic>
    </p:spTree>
    <p:extLst>
      <p:ext uri="{BB962C8B-B14F-4D97-AF65-F5344CB8AC3E}">
        <p14:creationId xmlns:p14="http://schemas.microsoft.com/office/powerpoint/2010/main" val="217799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80">
                                          <p:stCondLst>
                                            <p:cond delay="0"/>
                                          </p:stCondLst>
                                        </p:cTn>
                                        <p:tgtEl>
                                          <p:spTgt spid="6"/>
                                        </p:tgtEl>
                                      </p:cBhvr>
                                    </p:animEffect>
                                    <p:anim calcmode="lin" valueType="num">
                                      <p:cBhvr>
                                        <p:cTn id="15"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0" dur="26">
                                          <p:stCondLst>
                                            <p:cond delay="650"/>
                                          </p:stCondLst>
                                        </p:cTn>
                                        <p:tgtEl>
                                          <p:spTgt spid="6"/>
                                        </p:tgtEl>
                                      </p:cBhvr>
                                      <p:to x="100000" y="60000"/>
                                    </p:animScale>
                                    <p:animScale>
                                      <p:cBhvr>
                                        <p:cTn id="21" dur="166" decel="50000">
                                          <p:stCondLst>
                                            <p:cond delay="676"/>
                                          </p:stCondLst>
                                        </p:cTn>
                                        <p:tgtEl>
                                          <p:spTgt spid="6"/>
                                        </p:tgtEl>
                                      </p:cBhvr>
                                      <p:to x="100000" y="100000"/>
                                    </p:animScale>
                                    <p:animScale>
                                      <p:cBhvr>
                                        <p:cTn id="22" dur="26">
                                          <p:stCondLst>
                                            <p:cond delay="1312"/>
                                          </p:stCondLst>
                                        </p:cTn>
                                        <p:tgtEl>
                                          <p:spTgt spid="6"/>
                                        </p:tgtEl>
                                      </p:cBhvr>
                                      <p:to x="100000" y="80000"/>
                                    </p:animScale>
                                    <p:animScale>
                                      <p:cBhvr>
                                        <p:cTn id="23" dur="166" decel="50000">
                                          <p:stCondLst>
                                            <p:cond delay="1338"/>
                                          </p:stCondLst>
                                        </p:cTn>
                                        <p:tgtEl>
                                          <p:spTgt spid="6"/>
                                        </p:tgtEl>
                                      </p:cBhvr>
                                      <p:to x="100000" y="100000"/>
                                    </p:animScale>
                                    <p:animScale>
                                      <p:cBhvr>
                                        <p:cTn id="24" dur="26">
                                          <p:stCondLst>
                                            <p:cond delay="1642"/>
                                          </p:stCondLst>
                                        </p:cTn>
                                        <p:tgtEl>
                                          <p:spTgt spid="6"/>
                                        </p:tgtEl>
                                      </p:cBhvr>
                                      <p:to x="100000" y="90000"/>
                                    </p:animScale>
                                    <p:animScale>
                                      <p:cBhvr>
                                        <p:cTn id="25" dur="166" decel="50000">
                                          <p:stCondLst>
                                            <p:cond delay="1668"/>
                                          </p:stCondLst>
                                        </p:cTn>
                                        <p:tgtEl>
                                          <p:spTgt spid="6"/>
                                        </p:tgtEl>
                                      </p:cBhvr>
                                      <p:to x="100000" y="100000"/>
                                    </p:animScale>
                                    <p:animScale>
                                      <p:cBhvr>
                                        <p:cTn id="26" dur="26">
                                          <p:stCondLst>
                                            <p:cond delay="1808"/>
                                          </p:stCondLst>
                                        </p:cTn>
                                        <p:tgtEl>
                                          <p:spTgt spid="6"/>
                                        </p:tgtEl>
                                      </p:cBhvr>
                                      <p:to x="100000" y="95000"/>
                                    </p:animScale>
                                    <p:animScale>
                                      <p:cBhvr>
                                        <p:cTn id="27"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6866B-8E0A-4852-B351-584C6FCC6D30}"/>
              </a:ext>
            </a:extLst>
          </p:cNvPr>
          <p:cNvSpPr>
            <a:spLocks noGrp="1"/>
          </p:cNvSpPr>
          <p:nvPr>
            <p:ph type="title"/>
          </p:nvPr>
        </p:nvSpPr>
        <p:spPr>
          <a:xfrm>
            <a:off x="838200" y="365125"/>
            <a:ext cx="10515600" cy="870551"/>
          </a:xfrm>
        </p:spPr>
        <p:txBody>
          <a:bodyPr>
            <a:normAutofit/>
          </a:bodyPr>
          <a:lstStyle/>
          <a:p>
            <a:r>
              <a:rPr lang="en-US" sz="2800" b="1" dirty="0">
                <a:latin typeface="Arial Black" panose="020B0A04020102020204" pitchFamily="34" charset="0"/>
              </a:rPr>
              <a:t>TAXONOMY OF VIRTUALIZATION TECHNIQUES</a:t>
            </a:r>
          </a:p>
        </p:txBody>
      </p:sp>
      <p:sp>
        <p:nvSpPr>
          <p:cNvPr id="5" name="Google Shape;187;p34">
            <a:extLst>
              <a:ext uri="{FF2B5EF4-FFF2-40B4-BE49-F238E27FC236}">
                <a16:creationId xmlns:a16="http://schemas.microsoft.com/office/drawing/2014/main" id="{D20CDDEE-08C1-4C5F-AA8E-708217C406E7}"/>
              </a:ext>
            </a:extLst>
          </p:cNvPr>
          <p:cNvSpPr txBox="1">
            <a:spLocks noGrp="1"/>
          </p:cNvSpPr>
          <p:nvPr>
            <p:ph idx="1"/>
          </p:nvPr>
        </p:nvSpPr>
        <p:spPr>
          <a:xfrm>
            <a:off x="601317" y="1121289"/>
            <a:ext cx="10989365" cy="537158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3200" dirty="0">
                <a:latin typeface="Times New Roman" panose="02020603050405020304" pitchFamily="18" charset="0"/>
                <a:cs typeface="Times New Roman" panose="02020603050405020304" pitchFamily="18" charset="0"/>
              </a:rPr>
              <a:t>Virtualization is mainly used to emulate </a:t>
            </a:r>
            <a:endParaRPr sz="3200" dirty="0">
              <a:latin typeface="Times New Roman" panose="02020603050405020304" pitchFamily="18" charset="0"/>
              <a:cs typeface="Times New Roman" panose="02020603050405020304" pitchFamily="18" charset="0"/>
            </a:endParaRPr>
          </a:p>
          <a:p>
            <a:pPr marL="457200" lvl="0" indent="-330200" algn="just" rtl="0">
              <a:spcBef>
                <a:spcPts val="1600"/>
              </a:spcBef>
              <a:spcAft>
                <a:spcPts val="0"/>
              </a:spcAft>
              <a:buSzPts val="1600"/>
              <a:buChar char="●"/>
            </a:pPr>
            <a:r>
              <a:rPr lang="en" sz="3200" b="1" i="1" dirty="0">
                <a:latin typeface="Times New Roman" panose="02020603050405020304" pitchFamily="18" charset="0"/>
                <a:cs typeface="Times New Roman" panose="02020603050405020304" pitchFamily="18" charset="0"/>
              </a:rPr>
              <a:t>Execution Environments </a:t>
            </a:r>
            <a:r>
              <a:rPr lang="en" sz="3200" i="1" dirty="0">
                <a:latin typeface="Times New Roman" panose="02020603050405020304" pitchFamily="18" charset="0"/>
                <a:cs typeface="Times New Roman" panose="02020603050405020304" pitchFamily="18" charset="0"/>
              </a:rPr>
              <a:t>: To provide support for the execution of the programs for eg. OS, Application. </a:t>
            </a:r>
            <a:endParaRPr sz="3200" i="1" dirty="0">
              <a:latin typeface="Times New Roman" panose="02020603050405020304" pitchFamily="18" charset="0"/>
              <a:cs typeface="Times New Roman" panose="02020603050405020304" pitchFamily="18" charset="0"/>
            </a:endParaRPr>
          </a:p>
          <a:p>
            <a:pPr marL="914400" lvl="1" indent="-304800" algn="just" rtl="0">
              <a:spcBef>
                <a:spcPts val="0"/>
              </a:spcBef>
              <a:spcAft>
                <a:spcPts val="0"/>
              </a:spcAft>
              <a:buSzPts val="1200"/>
              <a:buChar char="○"/>
            </a:pPr>
            <a:r>
              <a:rPr lang="en" i="1" dirty="0">
                <a:latin typeface="Times New Roman" panose="02020603050405020304" pitchFamily="18" charset="0"/>
                <a:cs typeface="Times New Roman" panose="02020603050405020304" pitchFamily="18" charset="0"/>
              </a:rPr>
              <a:t>Process Level : Implemented on the top of an existing OS which has full control of the hardware</a:t>
            </a:r>
            <a:endParaRPr i="1" dirty="0">
              <a:latin typeface="Times New Roman" panose="02020603050405020304" pitchFamily="18" charset="0"/>
              <a:cs typeface="Times New Roman" panose="02020603050405020304" pitchFamily="18" charset="0"/>
            </a:endParaRPr>
          </a:p>
          <a:p>
            <a:pPr marL="914400" lvl="1" indent="-304800" algn="just" rtl="0">
              <a:spcBef>
                <a:spcPts val="0"/>
              </a:spcBef>
              <a:spcAft>
                <a:spcPts val="0"/>
              </a:spcAft>
              <a:buSzPts val="1200"/>
              <a:buChar char="○"/>
            </a:pPr>
            <a:r>
              <a:rPr lang="en" i="1" dirty="0">
                <a:latin typeface="Times New Roman" panose="02020603050405020304" pitchFamily="18" charset="0"/>
                <a:cs typeface="Times New Roman" panose="02020603050405020304" pitchFamily="18" charset="0"/>
              </a:rPr>
              <a:t>System Level : Implemented directly on Hardware and do not require support from existing OS. </a:t>
            </a:r>
            <a:endParaRPr i="1" dirty="0">
              <a:latin typeface="Times New Roman" panose="02020603050405020304" pitchFamily="18" charset="0"/>
              <a:cs typeface="Times New Roman" panose="02020603050405020304" pitchFamily="18" charset="0"/>
            </a:endParaRPr>
          </a:p>
          <a:p>
            <a:pPr marL="457200" lvl="0" indent="-330200" algn="just" rtl="0">
              <a:spcBef>
                <a:spcPts val="0"/>
              </a:spcBef>
              <a:spcAft>
                <a:spcPts val="0"/>
              </a:spcAft>
              <a:buSzPts val="1600"/>
              <a:buChar char="●"/>
            </a:pPr>
            <a:r>
              <a:rPr lang="en" sz="3200" b="1" i="1" dirty="0">
                <a:latin typeface="Times New Roman" panose="02020603050405020304" pitchFamily="18" charset="0"/>
                <a:cs typeface="Times New Roman" panose="02020603050405020304" pitchFamily="18" charset="0"/>
              </a:rPr>
              <a:t>Storage</a:t>
            </a:r>
            <a:r>
              <a:rPr lang="en" sz="3200" i="1" dirty="0">
                <a:latin typeface="Times New Roman" panose="02020603050405020304" pitchFamily="18" charset="0"/>
                <a:cs typeface="Times New Roman" panose="02020603050405020304" pitchFamily="18" charset="0"/>
              </a:rPr>
              <a:t> : Storage virtualization is a system administration practice that allows decoupling the physical orga nization of the hardware from its logical representation.</a:t>
            </a:r>
            <a:endParaRPr sz="3200" i="1" dirty="0">
              <a:latin typeface="Times New Roman" panose="02020603050405020304" pitchFamily="18" charset="0"/>
              <a:cs typeface="Times New Roman" panose="02020603050405020304" pitchFamily="18" charset="0"/>
            </a:endParaRPr>
          </a:p>
          <a:p>
            <a:pPr marL="457200" lvl="0" indent="-330200" algn="just" rtl="0">
              <a:spcBef>
                <a:spcPts val="0"/>
              </a:spcBef>
              <a:spcAft>
                <a:spcPts val="0"/>
              </a:spcAft>
              <a:buSzPts val="1600"/>
              <a:buChar char="●"/>
            </a:pPr>
            <a:r>
              <a:rPr lang="en" sz="3200" b="1" i="1" dirty="0">
                <a:latin typeface="Times New Roman" panose="02020603050405020304" pitchFamily="18" charset="0"/>
                <a:cs typeface="Times New Roman" panose="02020603050405020304" pitchFamily="18" charset="0"/>
              </a:rPr>
              <a:t>Networks</a:t>
            </a:r>
            <a:r>
              <a:rPr lang="en" sz="3200" i="1" dirty="0">
                <a:latin typeface="Times New Roman" panose="02020603050405020304" pitchFamily="18" charset="0"/>
                <a:cs typeface="Times New Roman" panose="02020603050405020304" pitchFamily="18" charset="0"/>
              </a:rPr>
              <a:t> : Network virtualization combines hardware appliances and specific software for the creation and management of a virtual network.</a:t>
            </a:r>
            <a:endParaRPr sz="3200" i="1" dirty="0">
              <a:latin typeface="Times New Roman" panose="02020603050405020304" pitchFamily="18" charset="0"/>
              <a:cs typeface="Times New Roman" panose="02020603050405020304" pitchFamily="18" charset="0"/>
            </a:endParaRPr>
          </a:p>
          <a:p>
            <a:pPr marL="457200" lvl="0" indent="0" algn="just" rtl="0">
              <a:spcBef>
                <a:spcPts val="1600"/>
              </a:spcBef>
              <a:spcAft>
                <a:spcPts val="0"/>
              </a:spcAft>
              <a:buNone/>
            </a:pPr>
            <a:endParaRPr sz="3200" i="1" dirty="0"/>
          </a:p>
          <a:p>
            <a:pPr marL="0" lvl="0" indent="0" algn="just" rtl="0">
              <a:spcBef>
                <a:spcPts val="1600"/>
              </a:spcBef>
              <a:spcAft>
                <a:spcPts val="1600"/>
              </a:spcAft>
              <a:buNone/>
            </a:pPr>
            <a:endParaRPr dirty="0"/>
          </a:p>
        </p:txBody>
      </p:sp>
    </p:spTree>
    <p:extLst>
      <p:ext uri="{BB962C8B-B14F-4D97-AF65-F5344CB8AC3E}">
        <p14:creationId xmlns:p14="http://schemas.microsoft.com/office/powerpoint/2010/main" val="241308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wipe(down)">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1000"/>
                                        <p:tgtEl>
                                          <p:spTgt spid="5">
                                            <p:txEl>
                                              <p:pRg st="5" end="5"/>
                                            </p:txEl>
                                          </p:spTgt>
                                        </p:tgtEl>
                                      </p:cBhvr>
                                    </p:animEffect>
                                    <p:anim calcmode="lin" valueType="num">
                                      <p:cBhvr>
                                        <p:cTn id="31"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2"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6B6D-9361-4F0A-9911-90EA20786EB9}"/>
              </a:ext>
            </a:extLst>
          </p:cNvPr>
          <p:cNvSpPr>
            <a:spLocks noGrp="1"/>
          </p:cNvSpPr>
          <p:nvPr>
            <p:ph type="title"/>
          </p:nvPr>
        </p:nvSpPr>
        <p:spPr/>
        <p:txBody>
          <a:bodyPr>
            <a:normAutofit/>
          </a:bodyPr>
          <a:lstStyle/>
          <a:p>
            <a:pPr algn="ctr"/>
            <a:r>
              <a:rPr lang="en-US" sz="3200" dirty="0">
                <a:latin typeface="Arial Black" panose="020B0A04020102020204" pitchFamily="34" charset="0"/>
              </a:rPr>
              <a:t>VIRTUALIZATION A MACHINE REFERENCE MODEL (PROCESS LEVEL)</a:t>
            </a:r>
          </a:p>
        </p:txBody>
      </p:sp>
      <p:sp>
        <p:nvSpPr>
          <p:cNvPr id="3" name="Content Placeholder 2">
            <a:extLst>
              <a:ext uri="{FF2B5EF4-FFF2-40B4-BE49-F238E27FC236}">
                <a16:creationId xmlns:a16="http://schemas.microsoft.com/office/drawing/2014/main" id="{35303350-CA55-4698-8BA7-9F2A95B0A4ED}"/>
              </a:ext>
            </a:extLst>
          </p:cNvPr>
          <p:cNvSpPr>
            <a:spLocks noGrp="1"/>
          </p:cNvSpPr>
          <p:nvPr>
            <p:ph idx="1"/>
          </p:nvPr>
        </p:nvSpPr>
        <p:spPr/>
        <p:txBody>
          <a:bodyPr/>
          <a:lstStyle/>
          <a:p>
            <a:pPr marL="0" lvl="0" indent="0" algn="just">
              <a:spcBef>
                <a:spcPts val="0"/>
              </a:spcBef>
              <a:buClr>
                <a:schemeClr val="dk1"/>
              </a:buClr>
              <a:buSzPts val="1100"/>
              <a:buNone/>
            </a:pPr>
            <a:r>
              <a:rPr lang="en-US" dirty="0"/>
              <a:t>When an execution environment is virtualized at unlike levels of the stack of computation then it requires a reference model which defines the interfaces within the level of abstractions, and this level of abstraction hides the details of implementations.</a:t>
            </a:r>
          </a:p>
          <a:p>
            <a:pPr marL="0" lvl="0" indent="0" algn="just">
              <a:spcBef>
                <a:spcPts val="1600"/>
              </a:spcBef>
              <a:spcAft>
                <a:spcPts val="1600"/>
              </a:spcAft>
              <a:buNone/>
            </a:pPr>
            <a:r>
              <a:rPr lang="en-US" dirty="0"/>
              <a:t>This projects an idea that, virtualization techniques can substitute any one layer and can intercept the calls which are directed to it. That’s why a clear separation within the layers can simplify their implementations, which only need an emulation of the interfaces and a proper response with the underlying layer</a:t>
            </a:r>
          </a:p>
        </p:txBody>
      </p:sp>
    </p:spTree>
    <p:extLst>
      <p:ext uri="{BB962C8B-B14F-4D97-AF65-F5344CB8AC3E}">
        <p14:creationId xmlns:p14="http://schemas.microsoft.com/office/powerpoint/2010/main" val="2718611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70A3-10F5-43B5-969D-8442EE6781AD}"/>
              </a:ext>
            </a:extLst>
          </p:cNvPr>
          <p:cNvSpPr>
            <a:spLocks noGrp="1"/>
          </p:cNvSpPr>
          <p:nvPr>
            <p:ph type="title"/>
          </p:nvPr>
        </p:nvSpPr>
        <p:spPr/>
        <p:txBody>
          <a:bodyPr/>
          <a:lstStyle/>
          <a:p>
            <a:pPr algn="ctr"/>
            <a:r>
              <a:rPr lang="en-US" dirty="0"/>
              <a:t>VIRTUALIZATION A MACHINE REFERENCE MODEL</a:t>
            </a:r>
          </a:p>
        </p:txBody>
      </p:sp>
      <p:pic>
        <p:nvPicPr>
          <p:cNvPr id="4" name="Google Shape;200;p36">
            <a:extLst>
              <a:ext uri="{FF2B5EF4-FFF2-40B4-BE49-F238E27FC236}">
                <a16:creationId xmlns:a16="http://schemas.microsoft.com/office/drawing/2014/main" id="{FEE9B406-D3B5-474C-A54D-AF9BDA742269}"/>
              </a:ext>
            </a:extLst>
          </p:cNvPr>
          <p:cNvPicPr preferRelativeResize="0">
            <a:picLocks noGrp="1"/>
          </p:cNvPicPr>
          <p:nvPr>
            <p:ph idx="1"/>
          </p:nvPr>
        </p:nvPicPr>
        <p:blipFill>
          <a:blip r:embed="rId2">
            <a:alphaModFix/>
          </a:blip>
          <a:stretch>
            <a:fillRect/>
          </a:stretch>
        </p:blipFill>
        <p:spPr>
          <a:xfrm>
            <a:off x="4035286" y="2012812"/>
            <a:ext cx="6826278" cy="4351338"/>
          </a:xfrm>
          <a:prstGeom prst="rect">
            <a:avLst/>
          </a:prstGeom>
          <a:noFill/>
          <a:ln>
            <a:noFill/>
          </a:ln>
        </p:spPr>
      </p:pic>
      <p:sp>
        <p:nvSpPr>
          <p:cNvPr id="5" name="Google Shape;199;p36">
            <a:extLst>
              <a:ext uri="{FF2B5EF4-FFF2-40B4-BE49-F238E27FC236}">
                <a16:creationId xmlns:a16="http://schemas.microsoft.com/office/drawing/2014/main" id="{561172C9-E96F-4819-B636-A27AAFD9FA81}"/>
              </a:ext>
            </a:extLst>
          </p:cNvPr>
          <p:cNvSpPr txBox="1">
            <a:spLocks/>
          </p:cNvSpPr>
          <p:nvPr/>
        </p:nvSpPr>
        <p:spPr>
          <a:xfrm>
            <a:off x="838200" y="1834962"/>
            <a:ext cx="2371800" cy="35955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spcAft>
                <a:spcPts val="1600"/>
              </a:spcAft>
              <a:buFont typeface="Arial" panose="020B0604020202020204" pitchFamily="34" charset="0"/>
              <a:buNone/>
            </a:pPr>
            <a:r>
              <a:rPr lang="en-US" dirty="0"/>
              <a:t>At the base layer, the model for the hardware is declared or manifested on terms of an architecture i.e. Instruction Set Architecture (ISA).</a:t>
            </a:r>
          </a:p>
        </p:txBody>
      </p:sp>
    </p:spTree>
    <p:extLst>
      <p:ext uri="{BB962C8B-B14F-4D97-AF65-F5344CB8AC3E}">
        <p14:creationId xmlns:p14="http://schemas.microsoft.com/office/powerpoint/2010/main" val="903617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4248-9D56-418D-9A20-43C025F64F5E}"/>
              </a:ext>
            </a:extLst>
          </p:cNvPr>
          <p:cNvSpPr>
            <a:spLocks noGrp="1"/>
          </p:cNvSpPr>
          <p:nvPr>
            <p:ph type="title"/>
          </p:nvPr>
        </p:nvSpPr>
        <p:spPr/>
        <p:txBody>
          <a:bodyPr>
            <a:normAutofit/>
          </a:bodyPr>
          <a:lstStyle/>
          <a:p>
            <a:pPr algn="ctr"/>
            <a:r>
              <a:rPr lang="en-US" sz="3200" dirty="0">
                <a:latin typeface="Arial Black" panose="020B0A04020102020204" pitchFamily="34" charset="0"/>
              </a:rPr>
              <a:t>VIRTUALIZATION - A MACHINE REFERENCE MODEL</a:t>
            </a:r>
          </a:p>
        </p:txBody>
      </p:sp>
      <p:sp>
        <p:nvSpPr>
          <p:cNvPr id="3" name="Content Placeholder 2">
            <a:extLst>
              <a:ext uri="{FF2B5EF4-FFF2-40B4-BE49-F238E27FC236}">
                <a16:creationId xmlns:a16="http://schemas.microsoft.com/office/drawing/2014/main" id="{D0606FB9-08D5-4CFD-8BA6-5BB39BA8BAA0}"/>
              </a:ext>
            </a:extLst>
          </p:cNvPr>
          <p:cNvSpPr>
            <a:spLocks noGrp="1"/>
          </p:cNvSpPr>
          <p:nvPr>
            <p:ph idx="1"/>
          </p:nvPr>
        </p:nvSpPr>
        <p:spPr>
          <a:xfrm>
            <a:off x="739346" y="1393137"/>
            <a:ext cx="10515600" cy="5099737"/>
          </a:xfrm>
        </p:spPr>
        <p:txBody>
          <a:bodyPr/>
          <a:lstStyle/>
          <a:p>
            <a:r>
              <a:rPr lang="en-US" sz="3200" b="1" dirty="0">
                <a:solidFill>
                  <a:schemeClr val="dk1"/>
                </a:solidFill>
                <a:latin typeface="Times New Roman" panose="02020603050405020304" pitchFamily="18" charset="0"/>
                <a:cs typeface="Times New Roman" panose="02020603050405020304" pitchFamily="18" charset="0"/>
              </a:rPr>
              <a:t>Instruction Set Architecture (ISA)</a:t>
            </a:r>
            <a:r>
              <a:rPr lang="en-US" sz="3200" dirty="0">
                <a:solidFill>
                  <a:schemeClr val="dk1"/>
                </a:solidFill>
                <a:latin typeface="Times New Roman" panose="02020603050405020304" pitchFamily="18" charset="0"/>
                <a:cs typeface="Times New Roman" panose="02020603050405020304" pitchFamily="18" charset="0"/>
              </a:rPr>
              <a:t> defines the instruction set for the processor, registers, memory, and interrupt management. </a:t>
            </a:r>
          </a:p>
          <a:p>
            <a:r>
              <a:rPr lang="en-US" sz="3200" dirty="0">
                <a:solidFill>
                  <a:schemeClr val="dk1"/>
                </a:solidFill>
                <a:latin typeface="Times New Roman" panose="02020603050405020304" pitchFamily="18" charset="0"/>
                <a:cs typeface="Times New Roman" panose="02020603050405020304" pitchFamily="18" charset="0"/>
              </a:rPr>
              <a:t>It is an interface between software and hardware and It is mandatory for the operating system (OS) developer (system ISA) developers of applications who directly manages core hardware (user ISA). </a:t>
            </a:r>
          </a:p>
          <a:p>
            <a:r>
              <a:rPr lang="en-US" sz="3200" dirty="0">
                <a:solidFill>
                  <a:schemeClr val="dk1"/>
                </a:solidFill>
                <a:latin typeface="Times New Roman" panose="02020603050405020304" pitchFamily="18" charset="0"/>
                <a:cs typeface="Times New Roman" panose="02020603050405020304" pitchFamily="18" charset="0"/>
              </a:rPr>
              <a:t>The operating system layer is separated by the application binary interface (ABI) from the application and libraries, which are managed by operating system.</a:t>
            </a:r>
            <a:endParaRPr lang="en-US" sz="4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9238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629C-D833-49DD-923C-73A571650D1B}"/>
              </a:ext>
            </a:extLst>
          </p:cNvPr>
          <p:cNvSpPr>
            <a:spLocks noGrp="1"/>
          </p:cNvSpPr>
          <p:nvPr>
            <p:ph type="title"/>
          </p:nvPr>
        </p:nvSpPr>
        <p:spPr>
          <a:xfrm>
            <a:off x="838200" y="196334"/>
            <a:ext cx="10515600" cy="969405"/>
          </a:xfrm>
        </p:spPr>
        <p:txBody>
          <a:bodyPr>
            <a:normAutofit/>
          </a:bodyPr>
          <a:lstStyle/>
          <a:p>
            <a:pPr algn="ctr"/>
            <a:r>
              <a:rPr lang="en-US" sz="3200" dirty="0">
                <a:latin typeface="Arial Black" panose="020B0A04020102020204" pitchFamily="34" charset="0"/>
              </a:rPr>
              <a:t>VIRTUALIZATION - A MACHINE REFERENCE MODEL</a:t>
            </a:r>
            <a:endParaRPr lang="en-US" sz="3200" dirty="0"/>
          </a:p>
        </p:txBody>
      </p:sp>
      <p:sp>
        <p:nvSpPr>
          <p:cNvPr id="3" name="Content Placeholder 2">
            <a:extLst>
              <a:ext uri="{FF2B5EF4-FFF2-40B4-BE49-F238E27FC236}">
                <a16:creationId xmlns:a16="http://schemas.microsoft.com/office/drawing/2014/main" id="{173C0250-6D1D-491F-95DA-77CC8DD45A83}"/>
              </a:ext>
            </a:extLst>
          </p:cNvPr>
          <p:cNvSpPr>
            <a:spLocks noGrp="1"/>
          </p:cNvSpPr>
          <p:nvPr>
            <p:ph idx="1"/>
          </p:nvPr>
        </p:nvSpPr>
        <p:spPr>
          <a:xfrm>
            <a:off x="383059" y="1165739"/>
            <a:ext cx="11430000" cy="5383342"/>
          </a:xfrm>
        </p:spPr>
        <p:txBody>
          <a:bodyPr>
            <a:normAutofit fontScale="92500" lnSpcReduction="10000"/>
          </a:bodyPr>
          <a:lstStyle/>
          <a:p>
            <a:pPr marL="0" lvl="0" indent="0">
              <a:spcBef>
                <a:spcPts val="1200"/>
              </a:spcBef>
              <a:buClr>
                <a:schemeClr val="dk1"/>
              </a:buClr>
              <a:buSzPts val="1100"/>
              <a:buNone/>
            </a:pPr>
            <a:r>
              <a:rPr lang="en-US" b="1" dirty="0">
                <a:solidFill>
                  <a:schemeClr val="dk1"/>
                </a:solidFill>
                <a:latin typeface="Times New Roman" panose="02020603050405020304" pitchFamily="18" charset="0"/>
                <a:cs typeface="Times New Roman" panose="02020603050405020304" pitchFamily="18" charset="0"/>
              </a:rPr>
              <a:t>Application Binary Interface (ABI)</a:t>
            </a:r>
            <a:r>
              <a:rPr lang="en-US" dirty="0">
                <a:solidFill>
                  <a:schemeClr val="dk1"/>
                </a:solidFill>
                <a:latin typeface="Times New Roman" panose="02020603050405020304" pitchFamily="18" charset="0"/>
                <a:cs typeface="Times New Roman" panose="02020603050405020304" pitchFamily="18" charset="0"/>
              </a:rPr>
              <a:t> covers facts such as low-level data types and call conventions and it also defines a format for many programs. Mainly, system calls are defined at this level. Moreover, this type of interface enables portability of various applications and libraries across OS which employ the same ABI. </a:t>
            </a:r>
          </a:p>
          <a:p>
            <a:pPr marL="0" lvl="0" indent="0">
              <a:spcBef>
                <a:spcPts val="1200"/>
              </a:spcBef>
              <a:buClr>
                <a:schemeClr val="dk1"/>
              </a:buClr>
              <a:buSzPts val="1100"/>
              <a:buNone/>
            </a:pPr>
            <a:r>
              <a:rPr lang="en-US" b="1" dirty="0">
                <a:solidFill>
                  <a:schemeClr val="dk1"/>
                </a:solidFill>
                <a:latin typeface="Times New Roman" panose="02020603050405020304" pitchFamily="18" charset="0"/>
                <a:cs typeface="Times New Roman" panose="02020603050405020304" pitchFamily="18" charset="0"/>
              </a:rPr>
              <a:t>Application programming interface (API</a:t>
            </a:r>
            <a:r>
              <a:rPr lang="en-US" dirty="0">
                <a:solidFill>
                  <a:schemeClr val="dk1"/>
                </a:solidFill>
                <a:latin typeface="Times New Roman" panose="02020603050405020304" pitchFamily="18" charset="0"/>
                <a:cs typeface="Times New Roman" panose="02020603050405020304" pitchFamily="18" charset="0"/>
              </a:rPr>
              <a:t>) is represented by the highest level of abstraction. This API interfaces applications to libraries and/or the core OS. For an action is to be performed in the application level API, ABI are the two which are responsible to make it done. Mainly, CPU runs on two privilege levels:</a:t>
            </a:r>
          </a:p>
          <a:p>
            <a:pPr marL="457200" lvl="0" indent="-317500">
              <a:spcBef>
                <a:spcPts val="1200"/>
              </a:spcBef>
              <a:buClr>
                <a:schemeClr val="dk1"/>
              </a:buClr>
              <a:buSzPts val="1400"/>
              <a:buAutoNum type="arabicPeriod"/>
            </a:pPr>
            <a:r>
              <a:rPr lang="en-US" b="1" dirty="0">
                <a:solidFill>
                  <a:schemeClr val="dk1"/>
                </a:solidFill>
                <a:latin typeface="Times New Roman" panose="02020603050405020304" pitchFamily="18" charset="0"/>
                <a:cs typeface="Times New Roman" panose="02020603050405020304" pitchFamily="18" charset="0"/>
              </a:rPr>
              <a:t>User Mode:</a:t>
            </a:r>
            <a:r>
              <a:rPr lang="en-US" dirty="0">
                <a:solidFill>
                  <a:schemeClr val="dk1"/>
                </a:solidFill>
                <a:latin typeface="Times New Roman" panose="02020603050405020304" pitchFamily="18" charset="0"/>
                <a:cs typeface="Times New Roman" panose="02020603050405020304" pitchFamily="18" charset="0"/>
              </a:rPr>
              <a:t> In this mode, memory access is restricted up to some limit whereas access to peripherals is denied.</a:t>
            </a:r>
          </a:p>
          <a:p>
            <a:pPr marL="457200" lvl="0" indent="-317500">
              <a:spcBef>
                <a:spcPts val="0"/>
              </a:spcBef>
              <a:buClr>
                <a:schemeClr val="dk1"/>
              </a:buClr>
              <a:buSzPts val="1400"/>
              <a:buAutoNum type="arabicPeriod"/>
            </a:pPr>
            <a:r>
              <a:rPr lang="en-US" b="1" dirty="0">
                <a:solidFill>
                  <a:schemeClr val="dk1"/>
                </a:solidFill>
                <a:latin typeface="Times New Roman" panose="02020603050405020304" pitchFamily="18" charset="0"/>
                <a:cs typeface="Times New Roman" panose="02020603050405020304" pitchFamily="18" charset="0"/>
              </a:rPr>
              <a:t>Kernel Mode:</a:t>
            </a:r>
            <a:r>
              <a:rPr lang="en-US" dirty="0">
                <a:solidFill>
                  <a:schemeClr val="dk1"/>
                </a:solidFill>
                <a:latin typeface="Times New Roman" panose="02020603050405020304" pitchFamily="18" charset="0"/>
                <a:cs typeface="Times New Roman" panose="02020603050405020304" pitchFamily="18" charset="0"/>
              </a:rPr>
              <a:t> In this mode, CPU has instructions which manage memory and how to be accessed and it also has instructions which enable access of the peripherals like disks and network cards. From one running program to another running program, CPU switches automatically </a:t>
            </a:r>
            <a:endParaRPr lang="en-US" sz="4400" b="1" dirty="0">
              <a:solidFill>
                <a:schemeClr val="dk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3652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B499-B632-4163-B879-C34410E8ED3C}"/>
              </a:ext>
            </a:extLst>
          </p:cNvPr>
          <p:cNvSpPr>
            <a:spLocks noGrp="1"/>
          </p:cNvSpPr>
          <p:nvPr>
            <p:ph type="title"/>
          </p:nvPr>
        </p:nvSpPr>
        <p:spPr>
          <a:xfrm>
            <a:off x="838200" y="264297"/>
            <a:ext cx="10515600" cy="833480"/>
          </a:xfrm>
        </p:spPr>
        <p:txBody>
          <a:bodyPr>
            <a:normAutofit/>
          </a:bodyPr>
          <a:lstStyle/>
          <a:p>
            <a:r>
              <a:rPr lang="en-US" sz="3600" dirty="0">
                <a:solidFill>
                  <a:schemeClr val="dk1"/>
                </a:solidFill>
                <a:latin typeface="Arial Black" panose="020B0A04020102020204" pitchFamily="34" charset="0"/>
              </a:rPr>
              <a:t>Hardware-(system-level) virtualization</a:t>
            </a:r>
            <a:endParaRPr lang="en-US" sz="3600" dirty="0">
              <a:latin typeface="Arial Black" panose="020B0A04020102020204" pitchFamily="34" charset="0"/>
            </a:endParaRPr>
          </a:p>
        </p:txBody>
      </p:sp>
      <p:sp>
        <p:nvSpPr>
          <p:cNvPr id="3" name="Content Placeholder 2">
            <a:extLst>
              <a:ext uri="{FF2B5EF4-FFF2-40B4-BE49-F238E27FC236}">
                <a16:creationId xmlns:a16="http://schemas.microsoft.com/office/drawing/2014/main" id="{0E08AE91-EFB8-4BBF-B069-27AE3BC9129E}"/>
              </a:ext>
            </a:extLst>
          </p:cNvPr>
          <p:cNvSpPr>
            <a:spLocks noGrp="1"/>
          </p:cNvSpPr>
          <p:nvPr>
            <p:ph idx="1"/>
          </p:nvPr>
        </p:nvSpPr>
        <p:spPr>
          <a:xfrm>
            <a:off x="259491" y="900069"/>
            <a:ext cx="11244649" cy="5495926"/>
          </a:xfrm>
        </p:spPr>
        <p:txBody>
          <a:bodyPr>
            <a:noAutofit/>
          </a:bodyPr>
          <a:lstStyle/>
          <a:p>
            <a:pPr marL="0" lvl="0" indent="0" algn="just">
              <a:spcBef>
                <a:spcPts val="1200"/>
              </a:spcBef>
              <a:buNone/>
            </a:pPr>
            <a:r>
              <a:rPr lang="en-US" sz="3200" b="1" dirty="0">
                <a:solidFill>
                  <a:schemeClr val="dk1"/>
                </a:solidFill>
                <a:latin typeface="Times New Roman" panose="02020603050405020304" pitchFamily="18" charset="0"/>
                <a:cs typeface="Times New Roman" panose="02020603050405020304" pitchFamily="18" charset="0"/>
              </a:rPr>
              <a:t>Hardware-level virtualization </a:t>
            </a:r>
            <a:r>
              <a:rPr lang="en-US" sz="3200" dirty="0">
                <a:solidFill>
                  <a:schemeClr val="dk1"/>
                </a:solidFill>
                <a:latin typeface="Times New Roman" panose="02020603050405020304" pitchFamily="18" charset="0"/>
                <a:cs typeface="Times New Roman" panose="02020603050405020304" pitchFamily="18" charset="0"/>
              </a:rPr>
              <a:t>is a virtualization technique that provides an abstract execution environment in terms of computer hardware on top of which a guest operating system can be run. </a:t>
            </a:r>
          </a:p>
          <a:p>
            <a:pPr marL="0" lvl="0" indent="0" algn="just">
              <a:spcBef>
                <a:spcPts val="1200"/>
              </a:spcBef>
              <a:buNone/>
            </a:pPr>
            <a:r>
              <a:rPr lang="en-US" sz="3200" dirty="0">
                <a:solidFill>
                  <a:schemeClr val="dk1"/>
                </a:solidFill>
                <a:latin typeface="Times New Roman" panose="02020603050405020304" pitchFamily="18" charset="0"/>
                <a:cs typeface="Times New Roman" panose="02020603050405020304" pitchFamily="18" charset="0"/>
              </a:rPr>
              <a:t>In this model, the guest is represented by the operating system, the host by the physical computer hardware, the virtual machine by its emulation, and the virtual machine manager by the hypervisor. </a:t>
            </a:r>
          </a:p>
          <a:p>
            <a:pPr marL="0" lvl="0" indent="0" algn="just">
              <a:spcBef>
                <a:spcPts val="1200"/>
              </a:spcBef>
              <a:spcAft>
                <a:spcPts val="1200"/>
              </a:spcAft>
              <a:buNone/>
            </a:pPr>
            <a:r>
              <a:rPr lang="en-US" sz="3200" dirty="0">
                <a:solidFill>
                  <a:schemeClr val="dk1"/>
                </a:solidFill>
                <a:latin typeface="Times New Roman" panose="02020603050405020304" pitchFamily="18" charset="0"/>
                <a:cs typeface="Times New Roman" panose="02020603050405020304" pitchFamily="18" charset="0"/>
              </a:rPr>
              <a:t>The hypervisor is generally a program or a combination of software and hardware that allows the abstraction of the underlying physical hardware. Hardware-level virtualization is also called system virtualization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39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3899-822A-47DA-A9E6-A7E5F2DA602D}"/>
              </a:ext>
            </a:extLst>
          </p:cNvPr>
          <p:cNvSpPr>
            <a:spLocks noGrp="1"/>
          </p:cNvSpPr>
          <p:nvPr>
            <p:ph type="title"/>
          </p:nvPr>
        </p:nvSpPr>
        <p:spPr>
          <a:xfrm>
            <a:off x="838200" y="365126"/>
            <a:ext cx="10515600" cy="833480"/>
          </a:xfrm>
        </p:spPr>
        <p:txBody>
          <a:bodyPr/>
          <a:lstStyle/>
          <a:p>
            <a:pPr algn="ctr"/>
            <a:r>
              <a:rPr lang="en-US" dirty="0">
                <a:latin typeface="Arial Black" panose="020B0A04020102020204" pitchFamily="34" charset="0"/>
              </a:rPr>
              <a:t>TYPES OF HYPERVISORS</a:t>
            </a:r>
          </a:p>
        </p:txBody>
      </p:sp>
      <p:sp>
        <p:nvSpPr>
          <p:cNvPr id="4" name="Google Shape;230;p41">
            <a:extLst>
              <a:ext uri="{FF2B5EF4-FFF2-40B4-BE49-F238E27FC236}">
                <a16:creationId xmlns:a16="http://schemas.microsoft.com/office/drawing/2014/main" id="{40C40339-F636-449B-B2BA-8625196B5185}"/>
              </a:ext>
            </a:extLst>
          </p:cNvPr>
          <p:cNvSpPr txBox="1">
            <a:spLocks noGrp="1"/>
          </p:cNvSpPr>
          <p:nvPr>
            <p:ph idx="1"/>
          </p:nvPr>
        </p:nvSpPr>
        <p:spPr>
          <a:xfrm>
            <a:off x="353510" y="1253330"/>
            <a:ext cx="4373218" cy="5048615"/>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None/>
            </a:pPr>
            <a:r>
              <a:rPr lang="en" sz="1700" b="1" dirty="0">
                <a:solidFill>
                  <a:schemeClr val="dk1"/>
                </a:solidFill>
              </a:rPr>
              <a:t>TYPE-1 Hypervisor:</a:t>
            </a:r>
            <a:endParaRPr sz="1700" b="1" dirty="0">
              <a:solidFill>
                <a:schemeClr val="dk1"/>
              </a:solidFill>
            </a:endParaRPr>
          </a:p>
          <a:p>
            <a:pPr marL="0" lvl="0" indent="0" algn="just" rtl="0">
              <a:spcBef>
                <a:spcPts val="1200"/>
              </a:spcBef>
              <a:spcAft>
                <a:spcPts val="1200"/>
              </a:spcAft>
              <a:buNone/>
            </a:pPr>
            <a:r>
              <a:rPr lang="en" sz="2400" dirty="0">
                <a:solidFill>
                  <a:schemeClr val="dk1"/>
                </a:solidFill>
                <a:latin typeface="Times New Roman" panose="02020603050405020304" pitchFamily="18" charset="0"/>
                <a:cs typeface="Times New Roman" panose="02020603050405020304" pitchFamily="18" charset="0"/>
              </a:rPr>
              <a:t>Hypervisor runs directly on underlying host system.It is also known as “Native Hypervisor” or “Bare metal hypervisor”.It dose not require any base server operating system.</a:t>
            </a:r>
          </a:p>
          <a:p>
            <a:pPr marL="0" lvl="0" indent="0" algn="just" rtl="0">
              <a:spcBef>
                <a:spcPts val="1200"/>
              </a:spcBef>
              <a:spcAft>
                <a:spcPts val="1200"/>
              </a:spcAft>
              <a:buNone/>
            </a:pPr>
            <a:r>
              <a:rPr lang="en" sz="2400" dirty="0">
                <a:solidFill>
                  <a:schemeClr val="dk1"/>
                </a:solidFill>
                <a:latin typeface="Times New Roman" panose="02020603050405020304" pitchFamily="18" charset="0"/>
                <a:cs typeface="Times New Roman" panose="02020603050405020304" pitchFamily="18" charset="0"/>
              </a:rPr>
              <a:t>It has direct access to hardware resources.Examples of Type 1 hypervisors include VMware ESXi, Citrix XenServer and Microsoft Hyper-V hypervisor.</a:t>
            </a:r>
            <a:endParaRPr sz="3600" dirty="0">
              <a:solidFill>
                <a:schemeClr val="dk1"/>
              </a:solidFill>
              <a:latin typeface="Times New Roman" panose="02020603050405020304" pitchFamily="18" charset="0"/>
              <a:cs typeface="Times New Roman" panose="02020603050405020304" pitchFamily="18" charset="0"/>
            </a:endParaRPr>
          </a:p>
        </p:txBody>
      </p:sp>
      <p:pic>
        <p:nvPicPr>
          <p:cNvPr id="5" name="Google Shape;231;p41">
            <a:extLst>
              <a:ext uri="{FF2B5EF4-FFF2-40B4-BE49-F238E27FC236}">
                <a16:creationId xmlns:a16="http://schemas.microsoft.com/office/drawing/2014/main" id="{88535728-A35E-4294-97E5-091030ABFA60}"/>
              </a:ext>
            </a:extLst>
          </p:cNvPr>
          <p:cNvPicPr preferRelativeResize="0"/>
          <p:nvPr/>
        </p:nvPicPr>
        <p:blipFill>
          <a:blip r:embed="rId2">
            <a:alphaModFix/>
          </a:blip>
          <a:stretch>
            <a:fillRect/>
          </a:stretch>
        </p:blipFill>
        <p:spPr>
          <a:xfrm>
            <a:off x="4781709" y="1825624"/>
            <a:ext cx="5367130" cy="4667250"/>
          </a:xfrm>
          <a:prstGeom prst="rect">
            <a:avLst/>
          </a:prstGeom>
          <a:noFill/>
          <a:ln>
            <a:noFill/>
          </a:ln>
        </p:spPr>
      </p:pic>
    </p:spTree>
    <p:extLst>
      <p:ext uri="{BB962C8B-B14F-4D97-AF65-F5344CB8AC3E}">
        <p14:creationId xmlns:p14="http://schemas.microsoft.com/office/powerpoint/2010/main" val="412109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000"/>
                                        <p:tgtEl>
                                          <p:spTgt spid="4">
                                            <p:txEl>
                                              <p:pRg st="1" end="1"/>
                                            </p:txEl>
                                          </p:spTgt>
                                        </p:tgtEl>
                                      </p:cBhvr>
                                    </p:animEffect>
                                    <p:anim calcmode="lin" valueType="num">
                                      <p:cBhvr>
                                        <p:cTn id="1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1000"/>
                                        <p:tgtEl>
                                          <p:spTgt spid="4">
                                            <p:txEl>
                                              <p:pRg st="2" end="2"/>
                                            </p:txEl>
                                          </p:spTgt>
                                        </p:tgtEl>
                                      </p:cBhvr>
                                    </p:animEffect>
                                    <p:anim calcmode="lin" valueType="num">
                                      <p:cBhvr>
                                        <p:cTn id="2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ppt_w</p:attrName>
                                        </p:attrNameLst>
                                      </p:cBhvr>
                                      <p:tavLst>
                                        <p:tav tm="0">
                                          <p:val>
                                            <p:fltVal val="0"/>
                                          </p:val>
                                        </p:tav>
                                        <p:tav tm="100000">
                                          <p:val>
                                            <p:strVal val="#ppt_w"/>
                                          </p:val>
                                        </p:tav>
                                      </p:tavLst>
                                    </p:anim>
                                    <p:anim calcmode="lin" valueType="num">
                                      <p:cBhvr>
                                        <p:cTn id="32" dur="500" fill="hold"/>
                                        <p:tgtEl>
                                          <p:spTgt spid="5"/>
                                        </p:tgtEl>
                                        <p:attrNameLst>
                                          <p:attrName>ppt_h</p:attrName>
                                        </p:attrNameLst>
                                      </p:cBhvr>
                                      <p:tavLst>
                                        <p:tav tm="0">
                                          <p:val>
                                            <p:fltVal val="0"/>
                                          </p:val>
                                        </p:tav>
                                        <p:tav tm="100000">
                                          <p:val>
                                            <p:strVal val="#ppt_h"/>
                                          </p:val>
                                        </p:tav>
                                      </p:tavLst>
                                    </p:anim>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23D15-E64B-42A8-A9DF-54D05F932C8B}"/>
              </a:ext>
            </a:extLst>
          </p:cNvPr>
          <p:cNvSpPr>
            <a:spLocks noGrp="1"/>
          </p:cNvSpPr>
          <p:nvPr>
            <p:ph type="title"/>
          </p:nvPr>
        </p:nvSpPr>
        <p:spPr>
          <a:xfrm>
            <a:off x="838200" y="365125"/>
            <a:ext cx="10515600" cy="784053"/>
          </a:xfrm>
        </p:spPr>
        <p:txBody>
          <a:bodyPr/>
          <a:lstStyle/>
          <a:p>
            <a:r>
              <a:rPr lang="en-US" dirty="0">
                <a:latin typeface="Arial Black" panose="020B0A04020102020204" pitchFamily="34" charset="0"/>
              </a:rPr>
              <a:t>TYPES OF HYPERVISORS</a:t>
            </a:r>
          </a:p>
        </p:txBody>
      </p:sp>
      <p:sp>
        <p:nvSpPr>
          <p:cNvPr id="4" name="Google Shape;237;p42">
            <a:extLst>
              <a:ext uri="{FF2B5EF4-FFF2-40B4-BE49-F238E27FC236}">
                <a16:creationId xmlns:a16="http://schemas.microsoft.com/office/drawing/2014/main" id="{A76DF4CE-309F-41A3-A816-C2FF023BF6F5}"/>
              </a:ext>
            </a:extLst>
          </p:cNvPr>
          <p:cNvSpPr txBox="1">
            <a:spLocks noGrp="1"/>
          </p:cNvSpPr>
          <p:nvPr>
            <p:ph idx="1"/>
          </p:nvPr>
        </p:nvSpPr>
        <p:spPr>
          <a:xfrm>
            <a:off x="726990" y="1253330"/>
            <a:ext cx="3694043" cy="482619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900" b="1" dirty="0">
                <a:solidFill>
                  <a:schemeClr val="dk1"/>
                </a:solidFill>
              </a:rPr>
              <a:t>TYPE-2 Hypervisor:</a:t>
            </a:r>
            <a:endParaRPr sz="1900" b="1" dirty="0">
              <a:solidFill>
                <a:schemeClr val="dk1"/>
              </a:solidFill>
            </a:endParaRPr>
          </a:p>
          <a:p>
            <a:pPr marL="0" lvl="0" indent="0" algn="just" rtl="0">
              <a:spcBef>
                <a:spcPts val="1200"/>
              </a:spcBef>
              <a:spcAft>
                <a:spcPts val="1200"/>
              </a:spcAft>
              <a:buNone/>
            </a:pPr>
            <a:r>
              <a:rPr lang="en" sz="1900" dirty="0">
                <a:solidFill>
                  <a:schemeClr val="dk1"/>
                </a:solidFill>
                <a:latin typeface="Times New Roman" panose="02020603050405020304" pitchFamily="18" charset="0"/>
                <a:cs typeface="Times New Roman" panose="02020603050405020304" pitchFamily="18" charset="0"/>
              </a:rPr>
              <a:t>A Host operating system runs on undrlying host system.It is also known as ‘Hosted Hypervisor”.</a:t>
            </a:r>
          </a:p>
          <a:p>
            <a:pPr marL="0" lvl="0" indent="0" algn="just" rtl="0">
              <a:spcBef>
                <a:spcPts val="1200"/>
              </a:spcBef>
              <a:spcAft>
                <a:spcPts val="1200"/>
              </a:spcAft>
              <a:buNone/>
            </a:pPr>
            <a:r>
              <a:rPr lang="en" sz="1900" dirty="0">
                <a:solidFill>
                  <a:schemeClr val="dk1"/>
                </a:solidFill>
                <a:latin typeface="Times New Roman" panose="02020603050405020304" pitchFamily="18" charset="0"/>
                <a:cs typeface="Times New Roman" panose="02020603050405020304" pitchFamily="18" charset="0"/>
              </a:rPr>
              <a:t>Basically a software installed on an operating system.Hypervisor asks operating system to make hardware calls.</a:t>
            </a:r>
          </a:p>
          <a:p>
            <a:pPr marL="0" lvl="0" indent="0" algn="just" rtl="0">
              <a:spcBef>
                <a:spcPts val="1200"/>
              </a:spcBef>
              <a:spcAft>
                <a:spcPts val="1200"/>
              </a:spcAft>
              <a:buNone/>
            </a:pPr>
            <a:r>
              <a:rPr lang="en" sz="1900" dirty="0">
                <a:solidFill>
                  <a:schemeClr val="dk1"/>
                </a:solidFill>
                <a:latin typeface="Times New Roman" panose="02020603050405020304" pitchFamily="18" charset="0"/>
                <a:cs typeface="Times New Roman" panose="02020603050405020304" pitchFamily="18" charset="0"/>
              </a:rPr>
              <a:t>Example of Type 2 hypervisor include VMware Player or Parallels Desktop. Hosted hypervisors are often found on endpoints like PCs</a:t>
            </a:r>
            <a:r>
              <a:rPr lang="en" sz="1900" dirty="0">
                <a:solidFill>
                  <a:schemeClr val="dk1"/>
                </a:solidFill>
              </a:rPr>
              <a:t>.</a:t>
            </a:r>
            <a:endParaRPr sz="2500" b="1" dirty="0">
              <a:solidFill>
                <a:schemeClr val="dk1"/>
              </a:solidFill>
            </a:endParaRPr>
          </a:p>
        </p:txBody>
      </p:sp>
      <p:pic>
        <p:nvPicPr>
          <p:cNvPr id="5" name="Google Shape;238;p42">
            <a:extLst>
              <a:ext uri="{FF2B5EF4-FFF2-40B4-BE49-F238E27FC236}">
                <a16:creationId xmlns:a16="http://schemas.microsoft.com/office/drawing/2014/main" id="{8F2D45C2-C0EC-4417-9E70-E4EFD8DE6DF2}"/>
              </a:ext>
            </a:extLst>
          </p:cNvPr>
          <p:cNvPicPr preferRelativeResize="0"/>
          <p:nvPr/>
        </p:nvPicPr>
        <p:blipFill>
          <a:blip r:embed="rId2">
            <a:alphaModFix/>
          </a:blip>
          <a:stretch>
            <a:fillRect/>
          </a:stretch>
        </p:blipFill>
        <p:spPr>
          <a:xfrm>
            <a:off x="5711930" y="1253330"/>
            <a:ext cx="5483292" cy="5023901"/>
          </a:xfrm>
          <a:prstGeom prst="rect">
            <a:avLst/>
          </a:prstGeom>
          <a:noFill/>
          <a:ln>
            <a:noFill/>
          </a:ln>
        </p:spPr>
      </p:pic>
    </p:spTree>
    <p:extLst>
      <p:ext uri="{BB962C8B-B14F-4D97-AF65-F5344CB8AC3E}">
        <p14:creationId xmlns:p14="http://schemas.microsoft.com/office/powerpoint/2010/main" val="33862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down)">
                                      <p:cBhvr>
                                        <p:cTn id="29" dur="580">
                                          <p:stCondLst>
                                            <p:cond delay="0"/>
                                          </p:stCondLst>
                                        </p:cTn>
                                        <p:tgtEl>
                                          <p:spTgt spid="5"/>
                                        </p:tgtEl>
                                      </p:cBhvr>
                                    </p:animEffect>
                                    <p:anim calcmode="lin" valueType="num">
                                      <p:cBhvr>
                                        <p:cTn id="3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5" dur="26">
                                          <p:stCondLst>
                                            <p:cond delay="650"/>
                                          </p:stCondLst>
                                        </p:cTn>
                                        <p:tgtEl>
                                          <p:spTgt spid="5"/>
                                        </p:tgtEl>
                                      </p:cBhvr>
                                      <p:to x="100000" y="60000"/>
                                    </p:animScale>
                                    <p:animScale>
                                      <p:cBhvr>
                                        <p:cTn id="36" dur="166" decel="50000">
                                          <p:stCondLst>
                                            <p:cond delay="676"/>
                                          </p:stCondLst>
                                        </p:cTn>
                                        <p:tgtEl>
                                          <p:spTgt spid="5"/>
                                        </p:tgtEl>
                                      </p:cBhvr>
                                      <p:to x="100000" y="100000"/>
                                    </p:animScale>
                                    <p:animScale>
                                      <p:cBhvr>
                                        <p:cTn id="37" dur="26">
                                          <p:stCondLst>
                                            <p:cond delay="1312"/>
                                          </p:stCondLst>
                                        </p:cTn>
                                        <p:tgtEl>
                                          <p:spTgt spid="5"/>
                                        </p:tgtEl>
                                      </p:cBhvr>
                                      <p:to x="100000" y="80000"/>
                                    </p:animScale>
                                    <p:animScale>
                                      <p:cBhvr>
                                        <p:cTn id="38" dur="166" decel="50000">
                                          <p:stCondLst>
                                            <p:cond delay="1338"/>
                                          </p:stCondLst>
                                        </p:cTn>
                                        <p:tgtEl>
                                          <p:spTgt spid="5"/>
                                        </p:tgtEl>
                                      </p:cBhvr>
                                      <p:to x="100000" y="100000"/>
                                    </p:animScale>
                                    <p:animScale>
                                      <p:cBhvr>
                                        <p:cTn id="39" dur="26">
                                          <p:stCondLst>
                                            <p:cond delay="1642"/>
                                          </p:stCondLst>
                                        </p:cTn>
                                        <p:tgtEl>
                                          <p:spTgt spid="5"/>
                                        </p:tgtEl>
                                      </p:cBhvr>
                                      <p:to x="100000" y="90000"/>
                                    </p:animScale>
                                    <p:animScale>
                                      <p:cBhvr>
                                        <p:cTn id="40" dur="166" decel="50000">
                                          <p:stCondLst>
                                            <p:cond delay="1668"/>
                                          </p:stCondLst>
                                        </p:cTn>
                                        <p:tgtEl>
                                          <p:spTgt spid="5"/>
                                        </p:tgtEl>
                                      </p:cBhvr>
                                      <p:to x="100000" y="100000"/>
                                    </p:animScale>
                                    <p:animScale>
                                      <p:cBhvr>
                                        <p:cTn id="41" dur="26">
                                          <p:stCondLst>
                                            <p:cond delay="1808"/>
                                          </p:stCondLst>
                                        </p:cTn>
                                        <p:tgtEl>
                                          <p:spTgt spid="5"/>
                                        </p:tgtEl>
                                      </p:cBhvr>
                                      <p:to x="100000" y="95000"/>
                                    </p:animScale>
                                    <p:animScale>
                                      <p:cBhvr>
                                        <p:cTn id="42"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44;p43">
            <a:extLst>
              <a:ext uri="{FF2B5EF4-FFF2-40B4-BE49-F238E27FC236}">
                <a16:creationId xmlns:a16="http://schemas.microsoft.com/office/drawing/2014/main" id="{CD805AFA-0C13-4E25-BA2C-37626901804C}"/>
              </a:ext>
            </a:extLst>
          </p:cNvPr>
          <p:cNvSpPr txBox="1">
            <a:spLocks noGrp="1"/>
          </p:cNvSpPr>
          <p:nvPr>
            <p:ph idx="1"/>
          </p:nvPr>
        </p:nvSpPr>
        <p:spPr>
          <a:xfrm>
            <a:off x="714632" y="1112107"/>
            <a:ext cx="5093044" cy="5597611"/>
          </a:xfrm>
          <a:prstGeom prst="rect">
            <a:avLst/>
          </a:prstGeom>
        </p:spPr>
        <p:txBody>
          <a:bodyPr spcFirstLastPara="1" wrap="square" lIns="91425" tIns="91425" rIns="91425" bIns="91425" anchor="t" anchorCtr="0">
            <a:noAutofit/>
          </a:bodyPr>
          <a:lstStyle/>
          <a:p>
            <a:pPr marL="0" lvl="0" indent="0" algn="just">
              <a:spcBef>
                <a:spcPts val="0"/>
              </a:spcBef>
              <a:buNone/>
            </a:pPr>
            <a:r>
              <a:rPr lang="en-US" sz="1800" b="1" dirty="0">
                <a:solidFill>
                  <a:schemeClr val="dk1"/>
                </a:solidFill>
                <a:latin typeface="Times New Roman" panose="02020603050405020304" pitchFamily="18" charset="0"/>
                <a:cs typeface="Times New Roman" panose="02020603050405020304" pitchFamily="18" charset="0"/>
              </a:rPr>
              <a:t>DISPATCHER:</a:t>
            </a:r>
          </a:p>
          <a:p>
            <a:pPr marL="0" lvl="0" indent="0" algn="just">
              <a:spcBef>
                <a:spcPts val="1200"/>
              </a:spcBef>
              <a:buNone/>
            </a:pPr>
            <a:r>
              <a:rPr lang="en-US" sz="1800" dirty="0">
                <a:solidFill>
                  <a:schemeClr val="dk1"/>
                </a:solidFill>
                <a:latin typeface="Times New Roman" panose="02020603050405020304" pitchFamily="18" charset="0"/>
                <a:cs typeface="Times New Roman" panose="02020603050405020304" pitchFamily="18" charset="0"/>
              </a:rPr>
              <a:t>The dispatcher behaves like the entry point of the monitor and reroutes the instructions of the virtual machine instance to one of the other two modules.</a:t>
            </a:r>
          </a:p>
          <a:p>
            <a:pPr marL="0" lvl="0" indent="0" algn="just">
              <a:spcBef>
                <a:spcPts val="1200"/>
              </a:spcBef>
              <a:buNone/>
            </a:pPr>
            <a:r>
              <a:rPr lang="en-US" sz="1800" b="1" dirty="0">
                <a:solidFill>
                  <a:schemeClr val="dk1"/>
                </a:solidFill>
                <a:latin typeface="Times New Roman" panose="02020603050405020304" pitchFamily="18" charset="0"/>
                <a:cs typeface="Times New Roman" panose="02020603050405020304" pitchFamily="18" charset="0"/>
              </a:rPr>
              <a:t>ALLOCATOR:</a:t>
            </a:r>
          </a:p>
          <a:p>
            <a:pPr marL="0" lvl="0" indent="0" algn="just">
              <a:spcBef>
                <a:spcPts val="1200"/>
              </a:spcBef>
              <a:buNone/>
            </a:pPr>
            <a:r>
              <a:rPr lang="en-US" sz="1800" dirty="0">
                <a:solidFill>
                  <a:schemeClr val="dk1"/>
                </a:solidFill>
                <a:latin typeface="Times New Roman" panose="02020603050405020304" pitchFamily="18" charset="0"/>
                <a:cs typeface="Times New Roman" panose="02020603050405020304" pitchFamily="18" charset="0"/>
              </a:rPr>
              <a:t>The allocator is responsible for deciding the system resources to be provided to the virtual machine </a:t>
            </a:r>
            <a:r>
              <a:rPr lang="en-US" sz="1800" dirty="0" err="1">
                <a:solidFill>
                  <a:schemeClr val="dk1"/>
                </a:solidFill>
                <a:latin typeface="Times New Roman" panose="02020603050405020304" pitchFamily="18" charset="0"/>
                <a:cs typeface="Times New Roman" panose="02020603050405020304" pitchFamily="18" charset="0"/>
              </a:rPr>
              <a:t>instance.It</a:t>
            </a:r>
            <a:r>
              <a:rPr lang="en-US" sz="1800" dirty="0">
                <a:solidFill>
                  <a:schemeClr val="dk1"/>
                </a:solidFill>
                <a:latin typeface="Times New Roman" panose="02020603050405020304" pitchFamily="18" charset="0"/>
                <a:cs typeface="Times New Roman" panose="02020603050405020304" pitchFamily="18" charset="0"/>
              </a:rPr>
              <a:t> means whenever virtual machine tries to execute an instruction that results in changing the machine resources associated with the virtual machine, the allocator is invoked by the dispatcher.</a:t>
            </a:r>
          </a:p>
          <a:p>
            <a:pPr marL="0" lvl="0" indent="0" algn="just">
              <a:spcBef>
                <a:spcPts val="1200"/>
              </a:spcBef>
              <a:buNone/>
            </a:pPr>
            <a:r>
              <a:rPr lang="en-US" sz="1800" b="1" dirty="0">
                <a:solidFill>
                  <a:schemeClr val="dk1"/>
                </a:solidFill>
                <a:latin typeface="Times New Roman" panose="02020603050405020304" pitchFamily="18" charset="0"/>
                <a:cs typeface="Times New Roman" panose="02020603050405020304" pitchFamily="18" charset="0"/>
              </a:rPr>
              <a:t>INTERPRETER:</a:t>
            </a:r>
          </a:p>
          <a:p>
            <a:pPr marL="0" lvl="0" indent="0" algn="just">
              <a:spcBef>
                <a:spcPts val="1200"/>
              </a:spcBef>
              <a:buNone/>
            </a:pPr>
            <a:r>
              <a:rPr lang="en-US" sz="1800" dirty="0">
                <a:solidFill>
                  <a:schemeClr val="dk1"/>
                </a:solidFill>
                <a:latin typeface="Times New Roman" panose="02020603050405020304" pitchFamily="18" charset="0"/>
                <a:cs typeface="Times New Roman" panose="02020603050405020304" pitchFamily="18" charset="0"/>
              </a:rPr>
              <a:t>The interpreter module consists of interpreter </a:t>
            </a:r>
            <a:r>
              <a:rPr lang="en-US" sz="1800" dirty="0" err="1">
                <a:solidFill>
                  <a:schemeClr val="dk1"/>
                </a:solidFill>
                <a:latin typeface="Times New Roman" panose="02020603050405020304" pitchFamily="18" charset="0"/>
                <a:cs typeface="Times New Roman" panose="02020603050405020304" pitchFamily="18" charset="0"/>
              </a:rPr>
              <a:t>routines.These</a:t>
            </a:r>
            <a:r>
              <a:rPr lang="en-US" sz="1800" dirty="0">
                <a:solidFill>
                  <a:schemeClr val="dk1"/>
                </a:solidFill>
                <a:latin typeface="Times New Roman" panose="02020603050405020304" pitchFamily="18" charset="0"/>
                <a:cs typeface="Times New Roman" panose="02020603050405020304" pitchFamily="18" charset="0"/>
              </a:rPr>
              <a:t> are executed, whenever virtual machine executes a </a:t>
            </a:r>
            <a:r>
              <a:rPr lang="en-US" sz="1800" dirty="0" err="1">
                <a:solidFill>
                  <a:schemeClr val="dk1"/>
                </a:solidFill>
                <a:latin typeface="Times New Roman" panose="02020603050405020304" pitchFamily="18" charset="0"/>
                <a:cs typeface="Times New Roman" panose="02020603050405020304" pitchFamily="18" charset="0"/>
              </a:rPr>
              <a:t>priviliged</a:t>
            </a:r>
            <a:r>
              <a:rPr lang="en-US" sz="1800" dirty="0">
                <a:solidFill>
                  <a:schemeClr val="dk1"/>
                </a:solidFill>
                <a:latin typeface="Times New Roman" panose="02020603050405020304" pitchFamily="18" charset="0"/>
                <a:cs typeface="Times New Roman" panose="02020603050405020304" pitchFamily="18" charset="0"/>
              </a:rPr>
              <a:t> instruction.</a:t>
            </a:r>
          </a:p>
        </p:txBody>
      </p:sp>
      <p:pic>
        <p:nvPicPr>
          <p:cNvPr id="6" name="Google Shape;245;p43">
            <a:extLst>
              <a:ext uri="{FF2B5EF4-FFF2-40B4-BE49-F238E27FC236}">
                <a16:creationId xmlns:a16="http://schemas.microsoft.com/office/drawing/2014/main" id="{AD3E24D7-1389-4BC3-95A3-7964A8CACF88}"/>
              </a:ext>
            </a:extLst>
          </p:cNvPr>
          <p:cNvPicPr preferRelativeResize="0"/>
          <p:nvPr/>
        </p:nvPicPr>
        <p:blipFill>
          <a:blip r:embed="rId2">
            <a:alphaModFix/>
          </a:blip>
          <a:stretch>
            <a:fillRect/>
          </a:stretch>
        </p:blipFill>
        <p:spPr>
          <a:xfrm>
            <a:off x="5882708" y="1112107"/>
            <a:ext cx="5732643" cy="5090985"/>
          </a:xfrm>
          <a:prstGeom prst="rect">
            <a:avLst/>
          </a:prstGeom>
          <a:noFill/>
          <a:ln>
            <a:noFill/>
          </a:ln>
        </p:spPr>
      </p:pic>
      <p:sp>
        <p:nvSpPr>
          <p:cNvPr id="7" name="Google Shape;250;p44">
            <a:extLst>
              <a:ext uri="{FF2B5EF4-FFF2-40B4-BE49-F238E27FC236}">
                <a16:creationId xmlns:a16="http://schemas.microsoft.com/office/drawing/2014/main" id="{B503B096-DA62-4B8F-A640-93BE57502571}"/>
              </a:ext>
            </a:extLst>
          </p:cNvPr>
          <p:cNvSpPr txBox="1">
            <a:spLocks noGrp="1"/>
          </p:cNvSpPr>
          <p:nvPr>
            <p:ph type="title"/>
          </p:nvPr>
        </p:nvSpPr>
        <p:spPr>
          <a:xfrm>
            <a:off x="838200" y="365125"/>
            <a:ext cx="10515600" cy="746983"/>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400" b="1" dirty="0">
                <a:latin typeface="Arial Black" panose="020B0A04020102020204" pitchFamily="34" charset="0"/>
              </a:rPr>
              <a:t>HYPERVISOR REFERENCE MODEL</a:t>
            </a:r>
            <a:endParaRPr sz="6000" dirty="0">
              <a:latin typeface="Arial Black" panose="020B0A04020102020204" pitchFamily="34" charset="0"/>
            </a:endParaRPr>
          </a:p>
        </p:txBody>
      </p:sp>
    </p:spTree>
    <p:extLst>
      <p:ext uri="{BB962C8B-B14F-4D97-AF65-F5344CB8AC3E}">
        <p14:creationId xmlns:p14="http://schemas.microsoft.com/office/powerpoint/2010/main" val="400167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arn(inVertic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inVertic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arn(inVertic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barn(inVertic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barn(inVertical)">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barn(inVertical)">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5"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2000"/>
                                        <p:tgtEl>
                                          <p:spTgt spid="6"/>
                                        </p:tgtEl>
                                      </p:cBhvr>
                                    </p:animEffect>
                                    <p:anim calcmode="lin" valueType="num">
                                      <p:cBhvr>
                                        <p:cTn id="43" dur="2000" fill="hold"/>
                                        <p:tgtEl>
                                          <p:spTgt spid="6"/>
                                        </p:tgtEl>
                                        <p:attrNameLst>
                                          <p:attrName>ppt_w</p:attrName>
                                        </p:attrNameLst>
                                      </p:cBhvr>
                                      <p:tavLst>
                                        <p:tav tm="0" fmla="#ppt_w*sin(2.5*pi*$)">
                                          <p:val>
                                            <p:fltVal val="0"/>
                                          </p:val>
                                        </p:tav>
                                        <p:tav tm="100000">
                                          <p:val>
                                            <p:fltVal val="1"/>
                                          </p:val>
                                        </p:tav>
                                      </p:tavLst>
                                    </p:anim>
                                    <p:anim calcmode="lin" valueType="num">
                                      <p:cBhvr>
                                        <p:cTn id="44"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4973F-B761-4AC1-A801-40D28130EE77}"/>
              </a:ext>
            </a:extLst>
          </p:cNvPr>
          <p:cNvSpPr>
            <a:spLocks noGrp="1"/>
          </p:cNvSpPr>
          <p:nvPr>
            <p:ph type="title"/>
          </p:nvPr>
        </p:nvSpPr>
        <p:spPr>
          <a:xfrm>
            <a:off x="838200" y="2898261"/>
            <a:ext cx="10515600" cy="1325563"/>
          </a:xfrm>
        </p:spPr>
        <p:txBody>
          <a:bodyPr/>
          <a:lstStyle/>
          <a:p>
            <a:pPr algn="ctr"/>
            <a:r>
              <a:rPr lang="en-US" dirty="0">
                <a:latin typeface="Monotype Corsiva" panose="03010101010201010101" pitchFamily="66" charset="0"/>
              </a:rPr>
              <a:t>Thanks so much.</a:t>
            </a:r>
          </a:p>
        </p:txBody>
      </p:sp>
    </p:spTree>
    <p:extLst>
      <p:ext uri="{BB962C8B-B14F-4D97-AF65-F5344CB8AC3E}">
        <p14:creationId xmlns:p14="http://schemas.microsoft.com/office/powerpoint/2010/main" val="2756761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1694</Words>
  <Application>Microsoft Office PowerPoint</Application>
  <PresentationFormat>Widescreen</PresentationFormat>
  <Paragraphs>96</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Calibri</vt:lpstr>
      <vt:lpstr>Calibri Light</vt:lpstr>
      <vt:lpstr>Monotype Corsiva</vt:lpstr>
      <vt:lpstr>Times New Roman</vt:lpstr>
      <vt:lpstr>Office Theme</vt:lpstr>
      <vt:lpstr>PowerPoint Presentation</vt:lpstr>
      <vt:lpstr>OUTLINE</vt:lpstr>
      <vt:lpstr>VIRTUALIZATION</vt:lpstr>
      <vt:lpstr>CHARACTERISTICS OF VIRTUALISED ENVIRONMENT</vt:lpstr>
      <vt:lpstr>PowerPoint Presentation</vt:lpstr>
      <vt:lpstr>VIRTUALIZATION REFERENCE MODEL</vt:lpstr>
      <vt:lpstr>ADVANTAGES OF VIRTUALIZATION</vt:lpstr>
      <vt:lpstr>ADVANTAGES OF VIRTUALIZATION</vt:lpstr>
      <vt:lpstr>ADVANTAGES OF VIRTUALIZATION</vt:lpstr>
      <vt:lpstr>ADVANTAGES OF VIRTUALIZATION</vt:lpstr>
      <vt:lpstr>ADVANTAGES OF VIRTUALIZATION</vt:lpstr>
      <vt:lpstr>TAXONOMY OF VIRTUALIZATION TECHNIQUES</vt:lpstr>
      <vt:lpstr>TAXONOMY OF VIRTUALIZATION TECHNIQUES</vt:lpstr>
      <vt:lpstr>VIRTUALIZATION A MACHINE REFERENCE MODEL (PROCESS LEVEL)</vt:lpstr>
      <vt:lpstr>VIRTUALIZATION A MACHINE REFERENCE MODEL</vt:lpstr>
      <vt:lpstr>VIRTUALIZATION - A MACHINE REFERENCE MODEL</vt:lpstr>
      <vt:lpstr>VIRTUALIZATION - A MACHINE REFERENCE MODEL</vt:lpstr>
      <vt:lpstr>Hardware-(system-level) virtualization</vt:lpstr>
      <vt:lpstr>TYPES OF HYPERVISORS</vt:lpstr>
      <vt:lpstr>TYPES OF HYPERVISORS</vt:lpstr>
      <vt:lpstr>HYPERVISOR REFERENCE MODEL</vt:lpstr>
      <vt:lpstr>Thanks so much.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GATHAMS</dc:creator>
  <cp:lastModifiedBy>GATHAMS</cp:lastModifiedBy>
  <cp:revision>35</cp:revision>
  <dcterms:created xsi:type="dcterms:W3CDTF">2026-05-18T05:37:12Z</dcterms:created>
  <dcterms:modified xsi:type="dcterms:W3CDTF">2026-05-18T07:46:54Z</dcterms:modified>
</cp:coreProperties>
</file>